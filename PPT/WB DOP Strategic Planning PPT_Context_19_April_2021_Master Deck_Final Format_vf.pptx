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b" ContentType="application/vnd.ms-excel.sheet.binary.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3.xml" ContentType="application/vnd.openxmlformats-officedocument.theme+xml"/>
  <Override PartName="/ppt/tags/tag14.xml" ContentType="application/vnd.openxmlformats-officedocument.presentationml.tags+xml"/>
  <Override PartName="/ppt/media/image9.bin" ContentType="image/jpeg"/>
  <Override PartName="/ppt/tags/tag15.xml" ContentType="application/vnd.openxmlformats-officedocument.presentationml.tags+xml"/>
  <Override PartName="/ppt/tags/tag16.xml" ContentType="application/vnd.openxmlformats-officedocument.presentationml.tags+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theme/theme4.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charts/chart4.xml" ContentType="application/vnd.openxmlformats-officedocument.drawingml.chart+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ppt/charts/chart6.xml" ContentType="application/vnd.openxmlformats-officedocument.drawingml.chart+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tags/tag135.xml" ContentType="application/vnd.openxmlformats-officedocument.presentationml.tags+xml"/>
  <Override PartName="/ppt/tags/tag136.xml" ContentType="application/vnd.openxmlformats-officedocument.presentationml.tags+xml"/>
  <Override PartName="/ppt/charts/chart10.xml" ContentType="application/vnd.openxmlformats-officedocument.drawingml.chart+xml"/>
  <Override PartName="/ppt/charts/style3.xml" ContentType="application/vnd.ms-office.chartstyle+xml"/>
  <Override PartName="/ppt/charts/colors3.xml" ContentType="application/vnd.ms-office.chartcolorstyl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4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5.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charts/chart11.xml" ContentType="application/vnd.openxmlformats-officedocument.drawingml.chart+xml"/>
  <Override PartName="/ppt/charts/chart12.xml" ContentType="application/vnd.openxmlformats-officedocument.drawingml.chart+xml"/>
  <Override PartName="/ppt/tags/tag160.xml" ContentType="application/vnd.openxmlformats-officedocument.presentationml.tags+xml"/>
  <Override PartName="/ppt/tags/tag161.xml" ContentType="application/vnd.openxmlformats-officedocument.presentationml.tags+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tags/tag162.xml" ContentType="application/vnd.openxmlformats-officedocument.presentationml.tags+xml"/>
  <Override PartName="/ppt/tags/tag16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64.xml" ContentType="application/vnd.openxmlformats-officedocument.presentationml.tags+xml"/>
  <Override PartName="/ppt/notesSlides/notesSlide8.xml" ContentType="application/vnd.openxmlformats-officedocument.presentationml.notesSlide+xml"/>
  <Override PartName="/ppt/charts/chart16.xml" ContentType="application/vnd.openxmlformats-officedocument.drawingml.chart+xml"/>
  <Override PartName="/ppt/charts/style4.xml" ContentType="application/vnd.ms-office.chartstyle+xml"/>
  <Override PartName="/ppt/charts/colors4.xml" ContentType="application/vnd.ms-office.chartcolorstyle+xml"/>
  <Override PartName="/ppt/charts/chart17.xml" ContentType="application/vnd.openxmlformats-officedocument.drawingml.chart+xml"/>
  <Override PartName="/ppt/charts/style5.xml" ContentType="application/vnd.ms-office.chartstyle+xml"/>
  <Override PartName="/ppt/charts/colors5.xml" ContentType="application/vnd.ms-office.chartcolorstyle+xml"/>
  <Override PartName="/ppt/charts/chart18.xml" ContentType="application/vnd.openxmlformats-officedocument.drawingml.chart+xml"/>
  <Override PartName="/ppt/charts/style6.xml" ContentType="application/vnd.ms-office.chartstyle+xml"/>
  <Override PartName="/ppt/charts/colors6.xml" ContentType="application/vnd.ms-office.chartcolorstyle+xml"/>
  <Override PartName="/ppt/charts/chart19.xml" ContentType="application/vnd.openxmlformats-officedocument.drawingml.chart+xml"/>
  <Override PartName="/ppt/charts/style7.xml" ContentType="application/vnd.ms-office.chartstyle+xml"/>
  <Override PartName="/ppt/charts/colors7.xml" ContentType="application/vnd.ms-office.chartcolorstyle+xml"/>
  <Override PartName="/ppt/charts/chart20.xml" ContentType="application/vnd.openxmlformats-officedocument.drawingml.chart+xml"/>
  <Override PartName="/ppt/charts/style8.xml" ContentType="application/vnd.ms-office.chartstyle+xml"/>
  <Override PartName="/ppt/charts/colors8.xml" ContentType="application/vnd.ms-office.chartcolorstyle+xml"/>
  <Override PartName="/ppt/charts/chart21.xml" ContentType="application/vnd.openxmlformats-officedocument.drawingml.chart+xml"/>
  <Override PartName="/ppt/charts/style9.xml" ContentType="application/vnd.ms-office.chartstyle+xml"/>
  <Override PartName="/ppt/charts/colors9.xml" ContentType="application/vnd.ms-office.chartcolorstyle+xml"/>
  <Override PartName="/ppt/tags/tag165.xml" ContentType="application/vnd.openxmlformats-officedocument.presentationml.tags+xml"/>
  <Override PartName="/ppt/tags/tag166.xml" ContentType="application/vnd.openxmlformats-officedocument.presentationml.tags+xml"/>
  <Override PartName="/ppt/charts/chart22.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23.xml" ContentType="application/vnd.openxmlformats-officedocument.drawingml.chart+xml"/>
  <Override PartName="/ppt/charts/style11.xml" ContentType="application/vnd.ms-office.chartstyle+xml"/>
  <Override PartName="/ppt/charts/colors11.xml" ContentType="application/vnd.ms-office.chartcolorstyl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charts/chart24.xml" ContentType="application/vnd.openxmlformats-officedocument.drawingml.chart+xml"/>
  <Override PartName="/ppt/charts/style12.xml" ContentType="application/vnd.ms-office.chartstyle+xml"/>
  <Override PartName="/ppt/charts/colors12.xml" ContentType="application/vnd.ms-office.chartcolorstyle+xml"/>
  <Override PartName="/ppt/tags/tag171.xml" ContentType="application/vnd.openxmlformats-officedocument.presentationml.tags+xml"/>
  <Override PartName="/ppt/tags/tag172.xml" ContentType="application/vnd.openxmlformats-officedocument.presentationml.tags+xml"/>
  <Override PartName="/ppt/charts/chart25.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26.xml" ContentType="application/vnd.openxmlformats-officedocument.drawingml.chart+xml"/>
  <Override PartName="/ppt/charts/style14.xml" ContentType="application/vnd.ms-office.chartstyle+xml"/>
  <Override PartName="/ppt/charts/colors14.xml" ContentType="application/vnd.ms-office.chartcolorstyle+xml"/>
  <Override PartName="/ppt/tags/tag173.xml" ContentType="application/vnd.openxmlformats-officedocument.presentationml.tags+xml"/>
  <Override PartName="/ppt/tags/tag174.xml" ContentType="application/vnd.openxmlformats-officedocument.presentationml.tags+xml"/>
  <Override PartName="/ppt/charts/chart27.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28.xml" ContentType="application/vnd.openxmlformats-officedocument.drawingml.chart+xml"/>
  <Override PartName="/ppt/charts/style16.xml" ContentType="application/vnd.ms-office.chartstyle+xml"/>
  <Override PartName="/ppt/charts/colors16.xml" ContentType="application/vnd.ms-office.chartcolorstyle+xml"/>
  <Override PartName="/ppt/tags/tag175.xml" ContentType="application/vnd.openxmlformats-officedocument.presentationml.tags+xml"/>
  <Override PartName="/ppt/tags/tag176.xml" ContentType="application/vnd.openxmlformats-officedocument.presentationml.tags+xml"/>
  <Override PartName="/ppt/charts/chart29.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30.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31.xml" ContentType="application/vnd.openxmlformats-officedocument.drawingml.chart+xml"/>
  <Override PartName="/ppt/charts/style19.xml" ContentType="application/vnd.ms-office.chartstyle+xml"/>
  <Override PartName="/ppt/charts/colors19.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7" r:id="rId4"/>
    <p:sldMasterId id="2147484004" r:id="rId5"/>
    <p:sldMasterId id="2147484047" r:id="rId6"/>
    <p:sldMasterId id="2147484064" r:id="rId7"/>
  </p:sldMasterIdLst>
  <p:notesMasterIdLst>
    <p:notesMasterId r:id="rId50"/>
  </p:notesMasterIdLst>
  <p:handoutMasterIdLst>
    <p:handoutMasterId r:id="rId51"/>
  </p:handoutMasterIdLst>
  <p:sldIdLst>
    <p:sldId id="954" r:id="rId8"/>
    <p:sldId id="1249" r:id="rId9"/>
    <p:sldId id="3842" r:id="rId10"/>
    <p:sldId id="3843" r:id="rId11"/>
    <p:sldId id="3848" r:id="rId12"/>
    <p:sldId id="3845" r:id="rId13"/>
    <p:sldId id="3847" r:id="rId14"/>
    <p:sldId id="890" r:id="rId15"/>
    <p:sldId id="3879" r:id="rId16"/>
    <p:sldId id="3866" r:id="rId17"/>
    <p:sldId id="3873" r:id="rId18"/>
    <p:sldId id="3867" r:id="rId19"/>
    <p:sldId id="3868" r:id="rId20"/>
    <p:sldId id="3872" r:id="rId21"/>
    <p:sldId id="3882" r:id="rId22"/>
    <p:sldId id="3880" r:id="rId23"/>
    <p:sldId id="3876" r:id="rId24"/>
    <p:sldId id="3877" r:id="rId25"/>
    <p:sldId id="1127" r:id="rId26"/>
    <p:sldId id="3881" r:id="rId27"/>
    <p:sldId id="3849" r:id="rId28"/>
    <p:sldId id="3850" r:id="rId29"/>
    <p:sldId id="3852" r:id="rId30"/>
    <p:sldId id="3853" r:id="rId31"/>
    <p:sldId id="512" r:id="rId32"/>
    <p:sldId id="3854" r:id="rId33"/>
    <p:sldId id="3863" r:id="rId34"/>
    <p:sldId id="3864" r:id="rId35"/>
    <p:sldId id="3862" r:id="rId36"/>
    <p:sldId id="3860" r:id="rId37"/>
    <p:sldId id="3856" r:id="rId38"/>
    <p:sldId id="3858" r:id="rId39"/>
    <p:sldId id="3859" r:id="rId40"/>
    <p:sldId id="3878" r:id="rId41"/>
    <p:sldId id="3870" r:id="rId42"/>
    <p:sldId id="3871" r:id="rId43"/>
    <p:sldId id="562" r:id="rId44"/>
    <p:sldId id="577" r:id="rId45"/>
    <p:sldId id="565" r:id="rId46"/>
    <p:sldId id="568" r:id="rId47"/>
    <p:sldId id="581" r:id="rId48"/>
    <p:sldId id="584" r:id="rId49"/>
  </p:sldIdLst>
  <p:sldSz cx="12192000" cy="6858000"/>
  <p:notesSz cx="7315200" cy="9601200"/>
  <p:custDataLst>
    <p:tags r:id="rId52"/>
  </p:custDataLst>
  <p:defaultTextStyle>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16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lunkhe, Nikhil" initials="SN" lastIdx="1" clrIdx="0">
    <p:extLst>
      <p:ext uri="{19B8F6BF-5375-455C-9EA6-DF929625EA0E}">
        <p15:presenceInfo xmlns:p15="http://schemas.microsoft.com/office/powerpoint/2012/main" userId="S-1-5-21-776561741-1482476501-682003330-1288395" providerId="AD"/>
      </p:ext>
    </p:extLst>
  </p:cmAuthor>
  <p:cmAuthor id="2" name="Banerjee, Sayantan" initials="BS" lastIdx="22" clrIdx="1">
    <p:extLst>
      <p:ext uri="{19B8F6BF-5375-455C-9EA6-DF929625EA0E}">
        <p15:presenceInfo xmlns:p15="http://schemas.microsoft.com/office/powerpoint/2012/main" userId="S::bsayantan@deloitte.com::29b1bc15-6d12-4f6e-8f06-28f0a453772b" providerId="AD"/>
      </p:ext>
    </p:extLst>
  </p:cmAuthor>
  <p:cmAuthor id="3" name="Thomas, Emil" initials="TE" lastIdx="1" clrIdx="2">
    <p:extLst>
      <p:ext uri="{19B8F6BF-5375-455C-9EA6-DF929625EA0E}">
        <p15:presenceInfo xmlns:p15="http://schemas.microsoft.com/office/powerpoint/2012/main" userId="S::emthomas@deloitte.com::0406af67-e0e6-4502-b2cb-f66bed26e767" providerId="AD"/>
      </p:ext>
    </p:extLst>
  </p:cmAuthor>
  <p:cmAuthor id="4" name="Mani, Siddharth" initials="MS" lastIdx="1" clrIdx="3">
    <p:extLst>
      <p:ext uri="{19B8F6BF-5375-455C-9EA6-DF929625EA0E}">
        <p15:presenceInfo xmlns:p15="http://schemas.microsoft.com/office/powerpoint/2012/main" userId="S::simani@deloitte.com::ea703a10-db50-4df5-bf72-1a564ac3e5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E4E5"/>
    <a:srgbClr val="0097A9"/>
    <a:srgbClr val="62B5E5"/>
    <a:srgbClr val="046A38"/>
    <a:srgbClr val="86BC25"/>
    <a:srgbClr val="75787B"/>
    <a:srgbClr val="7F7F7F"/>
    <a:srgbClr val="BBF8FF"/>
    <a:srgbClr val="E8F6CF"/>
    <a:srgbClr val="88DE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C79D55-ECB2-4A4E-8118-571D3134D233}" v="2" dt="2023-04-18T06:48:57.2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17" autoAdjust="0"/>
    <p:restoredTop sz="93438" autoAdjust="0"/>
  </p:normalViewPr>
  <p:slideViewPr>
    <p:cSldViewPr snapToGrid="0" showGuides="1">
      <p:cViewPr varScale="1">
        <p:scale>
          <a:sx n="45" d="100"/>
          <a:sy n="45" d="100"/>
        </p:scale>
        <p:origin x="1540" y="56"/>
      </p:cViewPr>
      <p:guideLst>
        <p:guide/>
        <p:guide orient="horz" pos="2160"/>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140" d="100"/>
        <a:sy n="140" d="100"/>
      </p:scale>
      <p:origin x="0" y="-14552"/>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notesMaster" Target="notesMasters/notesMaster1.xml"/><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Master" Target="slideMasters/slideMaster2.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microsoft.com/office/2015/10/relationships/revisionInfo" Target="revisionInfo.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tableStyles" Target="tableStyle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iroria, Adit" userId="125b7d01-0557-4756-b3b5-aac8221948e3" providerId="ADAL" clId="{E0C79D55-ECB2-4A4E-8118-571D3134D233}"/>
    <pc:docChg chg="modSld">
      <pc:chgData name="Khiroria, Adit" userId="125b7d01-0557-4756-b3b5-aac8221948e3" providerId="ADAL" clId="{E0C79D55-ECB2-4A4E-8118-571D3134D233}" dt="2023-04-18T06:48:50.622" v="0" actId="1076"/>
      <pc:docMkLst>
        <pc:docMk/>
      </pc:docMkLst>
      <pc:sldChg chg="modSp mod">
        <pc:chgData name="Khiroria, Adit" userId="125b7d01-0557-4756-b3b5-aac8221948e3" providerId="ADAL" clId="{E0C79D55-ECB2-4A4E-8118-571D3134D233}" dt="2023-04-18T06:48:50.622" v="0" actId="1076"/>
        <pc:sldMkLst>
          <pc:docMk/>
          <pc:sldMk cId="289173355" sldId="954"/>
        </pc:sldMkLst>
        <pc:picChg chg="mod">
          <ac:chgData name="Khiroria, Adit" userId="125b7d01-0557-4756-b3b5-aac8221948e3" providerId="ADAL" clId="{E0C79D55-ECB2-4A4E-8118-571D3134D233}" dt="2023-04-18T06:48:50.622" v="0" actId="1076"/>
          <ac:picMkLst>
            <pc:docMk/>
            <pc:sldMk cId="289173355" sldId="954"/>
            <ac:picMk id="12" creationId="{00000000-0000-0000-0000-000000000000}"/>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2.xml"/><Relationship Id="rId1" Type="http://schemas.microsoft.com/office/2011/relationships/chartStyle" Target="style2.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_Worksheet7.xlsb"/></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3.xml"/><Relationship Id="rId1" Type="http://schemas.microsoft.com/office/2011/relationships/chartStyle" Target="style3.xml"/></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4.xml"/><Relationship Id="rId1" Type="http://schemas.microsoft.com/office/2011/relationships/chartStyle" Target="style4.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5.xml"/><Relationship Id="rId1" Type="http://schemas.microsoft.com/office/2011/relationships/chartStyle" Target="style5.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6.xml"/><Relationship Id="rId1" Type="http://schemas.microsoft.com/office/2011/relationships/chartStyle" Target="style6.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7.xml"/><Relationship Id="rId1" Type="http://schemas.microsoft.com/office/2011/relationships/chartStyle" Target="style7.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8.xml"/><Relationship Id="rId1" Type="http://schemas.microsoft.com/office/2011/relationships/chartStyle" Target="style8.xml"/></Relationships>
</file>

<file path=ppt/charts/_rels/chart2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9.xml"/><Relationship Id="rId1" Type="http://schemas.microsoft.com/office/2011/relationships/chartStyle" Target="style9.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10.xml"/><Relationship Id="rId1" Type="http://schemas.microsoft.com/office/2011/relationships/chartStyle" Target="style10.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11.xml"/><Relationship Id="rId1" Type="http://schemas.microsoft.com/office/2011/relationships/chartStyle" Target="style11.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12.xml"/><Relationship Id="rId1" Type="http://schemas.microsoft.com/office/2011/relationships/chartStyle" Target="style12.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13.xml"/><Relationship Id="rId1" Type="http://schemas.microsoft.com/office/2011/relationships/chartStyle" Target="style13.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14.xml"/><Relationship Id="rId1" Type="http://schemas.microsoft.com/office/2011/relationships/chartStyle" Target="style14.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15.xml"/><Relationship Id="rId1" Type="http://schemas.microsoft.com/office/2011/relationships/chartStyle" Target="style15.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16.xml"/><Relationship Id="rId1" Type="http://schemas.microsoft.com/office/2011/relationships/chartStyle" Target="style16.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17.xml"/><Relationship Id="rId1" Type="http://schemas.microsoft.com/office/2011/relationships/chartStyle" Target="style17.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18.xml"/><Relationship Id="rId1" Type="http://schemas.microsoft.com/office/2011/relationships/chartStyle" Target="style18.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19.xml"/><Relationship Id="rId1" Type="http://schemas.microsoft.com/office/2011/relationships/chartStyle" Target="style1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88608176389527E-2"/>
          <c:y val="7.1330589849108367E-2"/>
          <c:w val="0.95222783647220943"/>
          <c:h val="0.85733882030178321"/>
        </c:manualLayout>
      </c:layout>
      <c:barChart>
        <c:barDir val="col"/>
        <c:grouping val="stacked"/>
        <c:varyColors val="0"/>
        <c:ser>
          <c:idx val="0"/>
          <c:order val="0"/>
          <c:spPr>
            <a:solidFill>
              <a:srgbClr val="86BC25"/>
            </a:solidFill>
            <a:ln>
              <a:noFill/>
            </a:ln>
          </c:spPr>
          <c:invertIfNegative val="0"/>
          <c:dPt>
            <c:idx val="1"/>
            <c:invertIfNegative val="0"/>
            <c:bubble3D val="0"/>
            <c:spPr>
              <a:solidFill>
                <a:srgbClr val="00ABAB"/>
              </a:solidFill>
              <a:ln>
                <a:noFill/>
              </a:ln>
            </c:spPr>
            <c:extLst>
              <c:ext xmlns:c16="http://schemas.microsoft.com/office/drawing/2014/chart" uri="{C3380CC4-5D6E-409C-BE32-E72D297353CC}">
                <c16:uniqueId val="{00000000-31D5-422F-83F2-758942290AA7}"/>
              </c:ext>
            </c:extLst>
          </c:dPt>
          <c:dPt>
            <c:idx val="2"/>
            <c:invertIfNegative val="0"/>
            <c:bubble3D val="0"/>
            <c:spPr>
              <a:solidFill>
                <a:srgbClr val="012169"/>
              </a:solidFill>
              <a:ln>
                <a:noFill/>
              </a:ln>
            </c:spPr>
            <c:extLst>
              <c:ext xmlns:c16="http://schemas.microsoft.com/office/drawing/2014/chart" uri="{C3380CC4-5D6E-409C-BE32-E72D297353CC}">
                <c16:uniqueId val="{00000001-31D5-422F-83F2-758942290AA7}"/>
              </c:ext>
            </c:extLst>
          </c:dPt>
          <c:val>
            <c:numRef>
              <c:f>Sheet1!$A$1:$C$1</c:f>
              <c:numCache>
                <c:formatCode>General</c:formatCode>
                <c:ptCount val="3"/>
                <c:pt idx="0">
                  <c:v>52.5</c:v>
                </c:pt>
                <c:pt idx="1">
                  <c:v>93.7</c:v>
                </c:pt>
                <c:pt idx="2">
                  <c:v>100</c:v>
                </c:pt>
              </c:numCache>
            </c:numRef>
          </c:val>
          <c:extLst>
            <c:ext xmlns:c16="http://schemas.microsoft.com/office/drawing/2014/chart" uri="{C3380CC4-5D6E-409C-BE32-E72D297353CC}">
              <c16:uniqueId val="{00000002-31D5-422F-83F2-758942290AA7}"/>
            </c:ext>
          </c:extLst>
        </c:ser>
        <c:dLbls>
          <c:showLegendKey val="0"/>
          <c:showVal val="0"/>
          <c:showCatName val="0"/>
          <c:showSerName val="0"/>
          <c:showPercent val="0"/>
          <c:showBubbleSize val="0"/>
        </c:dLbls>
        <c:gapWidth val="150"/>
        <c:overlap val="100"/>
        <c:axId val="719893920"/>
        <c:axId val="1"/>
      </c:barChart>
      <c:catAx>
        <c:axId val="719893920"/>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000">
                <a:latin typeface="+mn-lt"/>
                <a:ea typeface="+mn-ea"/>
                <a:cs typeface="+mn-cs"/>
              </a:defRPr>
            </a:pPr>
            <a:endParaRPr lang="en-US"/>
          </a:p>
        </c:tx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719893920"/>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State</c:v>
                </c:pt>
              </c:strCache>
            </c:strRef>
          </c:tx>
          <c:spPr>
            <a:solidFill>
              <a:schemeClr val="accent1"/>
            </a:solidFill>
            <a:ln>
              <a:noFill/>
            </a:ln>
            <a:effectLst/>
          </c:spPr>
          <c:invertIfNegative val="0"/>
          <c:cat>
            <c:strRef>
              <c:f>Sheet1!$A$2:$A$4</c:f>
              <c:strCache>
                <c:ptCount val="3"/>
                <c:pt idx="0">
                  <c:v>2007-08</c:v>
                </c:pt>
                <c:pt idx="1">
                  <c:v>2013-14</c:v>
                </c:pt>
                <c:pt idx="2">
                  <c:v>2019-20</c:v>
                </c:pt>
              </c:strCache>
            </c:strRef>
          </c:cat>
          <c:val>
            <c:numRef>
              <c:f>Sheet1!$B$2:$B$4</c:f>
              <c:numCache>
                <c:formatCode>General</c:formatCode>
                <c:ptCount val="3"/>
                <c:pt idx="0">
                  <c:v>5431.5</c:v>
                </c:pt>
                <c:pt idx="1">
                  <c:v>6277</c:v>
                </c:pt>
                <c:pt idx="2">
                  <c:v>6356</c:v>
                </c:pt>
              </c:numCache>
            </c:numRef>
          </c:val>
          <c:extLst>
            <c:ext xmlns:c16="http://schemas.microsoft.com/office/drawing/2014/chart" uri="{C3380CC4-5D6E-409C-BE32-E72D297353CC}">
              <c16:uniqueId val="{00000000-7CBA-49FB-8E71-22212061E5A7}"/>
            </c:ext>
          </c:extLst>
        </c:ser>
        <c:ser>
          <c:idx val="1"/>
          <c:order val="1"/>
          <c:tx>
            <c:strRef>
              <c:f>Sheet1!$C$1</c:f>
              <c:strCache>
                <c:ptCount val="1"/>
                <c:pt idx="0">
                  <c:v>Central</c:v>
                </c:pt>
              </c:strCache>
            </c:strRef>
          </c:tx>
          <c:spPr>
            <a:solidFill>
              <a:schemeClr val="accent2"/>
            </a:solidFill>
            <a:ln>
              <a:noFill/>
            </a:ln>
            <a:effectLst/>
          </c:spPr>
          <c:invertIfNegative val="0"/>
          <c:cat>
            <c:strRef>
              <c:f>Sheet1!$A$2:$A$4</c:f>
              <c:strCache>
                <c:ptCount val="3"/>
                <c:pt idx="0">
                  <c:v>2007-08</c:v>
                </c:pt>
                <c:pt idx="1">
                  <c:v>2013-14</c:v>
                </c:pt>
                <c:pt idx="2">
                  <c:v>2019-20</c:v>
                </c:pt>
              </c:strCache>
            </c:strRef>
          </c:cat>
          <c:val>
            <c:numRef>
              <c:f>Sheet1!$C$2:$C$4</c:f>
              <c:numCache>
                <c:formatCode>General</c:formatCode>
                <c:ptCount val="3"/>
                <c:pt idx="0">
                  <c:v>1770</c:v>
                </c:pt>
                <c:pt idx="1">
                  <c:v>2232</c:v>
                </c:pt>
                <c:pt idx="2">
                  <c:v>7205.2</c:v>
                </c:pt>
              </c:numCache>
            </c:numRef>
          </c:val>
          <c:extLst>
            <c:ext xmlns:c16="http://schemas.microsoft.com/office/drawing/2014/chart" uri="{C3380CC4-5D6E-409C-BE32-E72D297353CC}">
              <c16:uniqueId val="{00000001-7CBA-49FB-8E71-22212061E5A7}"/>
            </c:ext>
          </c:extLst>
        </c:ser>
        <c:ser>
          <c:idx val="2"/>
          <c:order val="2"/>
          <c:tx>
            <c:strRef>
              <c:f>Sheet1!$D$1</c:f>
              <c:strCache>
                <c:ptCount val="1"/>
                <c:pt idx="0">
                  <c:v>Private</c:v>
                </c:pt>
              </c:strCache>
            </c:strRef>
          </c:tx>
          <c:spPr>
            <a:solidFill>
              <a:schemeClr val="accent3"/>
            </a:solidFill>
            <a:ln>
              <a:noFill/>
            </a:ln>
            <a:effectLst/>
          </c:spPr>
          <c:invertIfNegative val="0"/>
          <c:cat>
            <c:strRef>
              <c:f>Sheet1!$A$2:$A$4</c:f>
              <c:strCache>
                <c:ptCount val="3"/>
                <c:pt idx="0">
                  <c:v>2007-08</c:v>
                </c:pt>
                <c:pt idx="1">
                  <c:v>2013-14</c:v>
                </c:pt>
                <c:pt idx="2">
                  <c:v>2019-20</c:v>
                </c:pt>
              </c:strCache>
            </c:strRef>
          </c:cat>
          <c:val>
            <c:numRef>
              <c:f>Sheet1!$D$2:$D$4</c:f>
              <c:numCache>
                <c:formatCode>General</c:formatCode>
                <c:ptCount val="3"/>
                <c:pt idx="0">
                  <c:v>1069.2</c:v>
                </c:pt>
                <c:pt idx="1">
                  <c:v>1315</c:v>
                </c:pt>
                <c:pt idx="2">
                  <c:v>2025</c:v>
                </c:pt>
              </c:numCache>
            </c:numRef>
          </c:val>
          <c:extLst>
            <c:ext xmlns:c16="http://schemas.microsoft.com/office/drawing/2014/chart" uri="{C3380CC4-5D6E-409C-BE32-E72D297353CC}">
              <c16:uniqueId val="{00000002-7CBA-49FB-8E71-22212061E5A7}"/>
            </c:ext>
          </c:extLst>
        </c:ser>
        <c:dLbls>
          <c:showLegendKey val="0"/>
          <c:showVal val="0"/>
          <c:showCatName val="0"/>
          <c:showSerName val="0"/>
          <c:showPercent val="0"/>
          <c:showBubbleSize val="0"/>
        </c:dLbls>
        <c:gapWidth val="150"/>
        <c:overlap val="100"/>
        <c:axId val="480853535"/>
        <c:axId val="231479295"/>
      </c:barChart>
      <c:lineChart>
        <c:grouping val="standard"/>
        <c:varyColors val="0"/>
        <c:ser>
          <c:idx val="3"/>
          <c:order val="3"/>
          <c:tx>
            <c:strRef>
              <c:f>Sheet1!$E$1</c:f>
              <c:strCache>
                <c:ptCount val="1"/>
                <c:pt idx="0">
                  <c:v>Total</c:v>
                </c:pt>
              </c:strCache>
            </c:strRef>
          </c:tx>
          <c:spPr>
            <a:ln w="28575" cap="rnd">
              <a:noFill/>
              <a:round/>
            </a:ln>
            <a:effectLst/>
          </c:spPr>
          <c:marker>
            <c:symbol val="none"/>
          </c:marker>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2007-08</c:v>
                </c:pt>
                <c:pt idx="1">
                  <c:v>2013-14</c:v>
                </c:pt>
                <c:pt idx="2">
                  <c:v>2019-20</c:v>
                </c:pt>
              </c:strCache>
            </c:strRef>
          </c:cat>
          <c:val>
            <c:numRef>
              <c:f>Sheet1!$E$2:$E$4</c:f>
              <c:numCache>
                <c:formatCode>General</c:formatCode>
                <c:ptCount val="3"/>
                <c:pt idx="0">
                  <c:v>8270.7000000000007</c:v>
                </c:pt>
                <c:pt idx="1">
                  <c:v>9824</c:v>
                </c:pt>
                <c:pt idx="2">
                  <c:v>15586.2</c:v>
                </c:pt>
              </c:numCache>
            </c:numRef>
          </c:val>
          <c:smooth val="0"/>
          <c:extLst>
            <c:ext xmlns:c16="http://schemas.microsoft.com/office/drawing/2014/chart" uri="{C3380CC4-5D6E-409C-BE32-E72D297353CC}">
              <c16:uniqueId val="{00000003-7CBA-49FB-8E71-22212061E5A7}"/>
            </c:ext>
          </c:extLst>
        </c:ser>
        <c:dLbls>
          <c:showLegendKey val="0"/>
          <c:showVal val="0"/>
          <c:showCatName val="0"/>
          <c:showSerName val="0"/>
          <c:showPercent val="0"/>
          <c:showBubbleSize val="0"/>
        </c:dLbls>
        <c:marker val="1"/>
        <c:smooth val="0"/>
        <c:axId val="480853535"/>
        <c:axId val="231479295"/>
      </c:lineChart>
      <c:catAx>
        <c:axId val="480853535"/>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31479295"/>
        <c:crosses val="autoZero"/>
        <c:auto val="1"/>
        <c:lblAlgn val="ctr"/>
        <c:lblOffset val="100"/>
        <c:noMultiLvlLbl val="0"/>
      </c:catAx>
      <c:valAx>
        <c:axId val="231479295"/>
        <c:scaling>
          <c:orientation val="minMax"/>
        </c:scaling>
        <c:delete val="1"/>
        <c:axPos val="l"/>
        <c:numFmt formatCode="General" sourceLinked="1"/>
        <c:majorTickMark val="none"/>
        <c:minorTickMark val="none"/>
        <c:tickLblPos val="nextTo"/>
        <c:crossAx val="48085353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Electricity Supplied (MU)</c:v>
                </c:pt>
              </c:strCache>
            </c:strRef>
          </c:tx>
          <c:spPr>
            <a:solidFill>
              <a:schemeClr val="accent1"/>
            </a:solidFill>
            <a:ln>
              <a:noFill/>
            </a:ln>
            <a:effectLst/>
          </c:spPr>
          <c:invertIfNegative val="0"/>
          <c:dLbls>
            <c:dLbl>
              <c:idx val="1"/>
              <c:layout>
                <c:manualLayout>
                  <c:x val="0"/>
                  <c:y val="2.060627891166396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B8A-4F02-B3AC-F657D29D7F6C}"/>
                </c:ext>
              </c:extLst>
            </c:dLbl>
            <c:dLbl>
              <c:idx val="2"/>
              <c:layout>
                <c:manualLayout>
                  <c:x val="-3.6298159368926487E-3"/>
                  <c:y val="2.74750385488852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B8A-4F02-B3AC-F657D29D7F6C}"/>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2007-08</c:v>
                </c:pt>
                <c:pt idx="1">
                  <c:v>2013-14</c:v>
                </c:pt>
                <c:pt idx="2">
                  <c:v>2019-20</c:v>
                </c:pt>
              </c:strCache>
            </c:strRef>
          </c:cat>
          <c:val>
            <c:numRef>
              <c:f>Sheet1!$B$2:$B$4</c:f>
              <c:numCache>
                <c:formatCode>General</c:formatCode>
                <c:ptCount val="3"/>
                <c:pt idx="0">
                  <c:v>27902</c:v>
                </c:pt>
                <c:pt idx="1">
                  <c:v>42762</c:v>
                </c:pt>
                <c:pt idx="2">
                  <c:v>52824</c:v>
                </c:pt>
              </c:numCache>
            </c:numRef>
          </c:val>
          <c:extLst>
            <c:ext xmlns:c16="http://schemas.microsoft.com/office/drawing/2014/chart" uri="{C3380CC4-5D6E-409C-BE32-E72D297353CC}">
              <c16:uniqueId val="{00000000-2B8A-4F02-B3AC-F657D29D7F6C}"/>
            </c:ext>
          </c:extLst>
        </c:ser>
        <c:dLbls>
          <c:showLegendKey val="0"/>
          <c:showVal val="0"/>
          <c:showCatName val="0"/>
          <c:showSerName val="0"/>
          <c:showPercent val="0"/>
          <c:showBubbleSize val="0"/>
        </c:dLbls>
        <c:gapWidth val="219"/>
        <c:overlap val="-27"/>
        <c:axId val="445784575"/>
        <c:axId val="444406159"/>
      </c:barChart>
      <c:lineChart>
        <c:grouping val="standard"/>
        <c:varyColors val="0"/>
        <c:ser>
          <c:idx val="1"/>
          <c:order val="1"/>
          <c:tx>
            <c:strRef>
              <c:f>Sheet1!$C$1</c:f>
              <c:strCache>
                <c:ptCount val="1"/>
                <c:pt idx="0">
                  <c:v>Energy Deficit (%)</c:v>
                </c:pt>
              </c:strCache>
            </c:strRef>
          </c:tx>
          <c:spPr>
            <a:ln w="28575" cap="rnd">
              <a:solidFill>
                <a:schemeClr val="accent4"/>
              </a:solidFill>
              <a:round/>
            </a:ln>
            <a:effectLst/>
          </c:spPr>
          <c:marker>
            <c:symbol val="circle"/>
            <c:size val="5"/>
            <c:spPr>
              <a:solidFill>
                <a:schemeClr val="accent4"/>
              </a:solidFill>
              <a:ln w="9525">
                <a:solidFill>
                  <a:schemeClr val="accent2"/>
                </a:solidFill>
              </a:ln>
              <a:effectLst/>
            </c:spPr>
          </c:marker>
          <c:dLbls>
            <c:numFmt formatCode="0.0%" sourceLinked="0"/>
            <c:spPr>
              <a:solidFill>
                <a:schemeClr val="bg1"/>
              </a:solidFill>
              <a:ln>
                <a:noFill/>
              </a:ln>
              <a:effectLst/>
            </c:spPr>
            <c:txPr>
              <a:bodyPr rot="0" spcFirstLastPara="1" vertOverflow="ellipsis" vert="horz" wrap="square" lIns="0" tIns="0" rIns="0" bIns="0" anchor="ctr" anchorCtr="1">
                <a:spAutoFit/>
              </a:bodyPr>
              <a:lstStyle/>
              <a:p>
                <a:pPr>
                  <a:defRPr sz="1000" b="0" i="0" u="none" strike="noStrike" kern="1200" baseline="0">
                    <a:solidFill>
                      <a:schemeClr val="tx1"/>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2007-08</c:v>
                </c:pt>
                <c:pt idx="1">
                  <c:v>2013-14</c:v>
                </c:pt>
                <c:pt idx="2">
                  <c:v>2019-20</c:v>
                </c:pt>
              </c:strCache>
            </c:strRef>
          </c:cat>
          <c:val>
            <c:numRef>
              <c:f>Sheet1!$C$2:$C$4</c:f>
              <c:numCache>
                <c:formatCode>0.00%</c:formatCode>
                <c:ptCount val="3"/>
                <c:pt idx="0">
                  <c:v>3.9E-2</c:v>
                </c:pt>
                <c:pt idx="1">
                  <c:v>3.0000000000000001E-3</c:v>
                </c:pt>
                <c:pt idx="2">
                  <c:v>2E-3</c:v>
                </c:pt>
              </c:numCache>
            </c:numRef>
          </c:val>
          <c:smooth val="1"/>
          <c:extLst>
            <c:ext xmlns:c16="http://schemas.microsoft.com/office/drawing/2014/chart" uri="{C3380CC4-5D6E-409C-BE32-E72D297353CC}">
              <c16:uniqueId val="{00000001-2B8A-4F02-B3AC-F657D29D7F6C}"/>
            </c:ext>
          </c:extLst>
        </c:ser>
        <c:dLbls>
          <c:showLegendKey val="0"/>
          <c:showVal val="0"/>
          <c:showCatName val="0"/>
          <c:showSerName val="0"/>
          <c:showPercent val="0"/>
          <c:showBubbleSize val="0"/>
        </c:dLbls>
        <c:marker val="1"/>
        <c:smooth val="0"/>
        <c:axId val="335733951"/>
        <c:axId val="148986351"/>
      </c:lineChart>
      <c:catAx>
        <c:axId val="445784575"/>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444406159"/>
        <c:crosses val="autoZero"/>
        <c:auto val="1"/>
        <c:lblAlgn val="ctr"/>
        <c:lblOffset val="100"/>
        <c:noMultiLvlLbl val="0"/>
      </c:catAx>
      <c:valAx>
        <c:axId val="44440615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en-US"/>
          </a:p>
        </c:txPr>
        <c:crossAx val="445784575"/>
        <c:crosses val="autoZero"/>
        <c:crossBetween val="between"/>
      </c:valAx>
      <c:valAx>
        <c:axId val="148986351"/>
        <c:scaling>
          <c:orientation val="minMax"/>
          <c:max val="0.15000000000000002"/>
          <c:min val="-5.000000000000001E-2"/>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en-US"/>
          </a:p>
        </c:txPr>
        <c:crossAx val="335733951"/>
        <c:crosses val="max"/>
        <c:crossBetween val="between"/>
      </c:valAx>
      <c:catAx>
        <c:axId val="335733951"/>
        <c:scaling>
          <c:orientation val="minMax"/>
        </c:scaling>
        <c:delete val="1"/>
        <c:axPos val="b"/>
        <c:numFmt formatCode="General" sourceLinked="1"/>
        <c:majorTickMark val="out"/>
        <c:minorTickMark val="none"/>
        <c:tickLblPos val="nextTo"/>
        <c:crossAx val="148986351"/>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146807645384302E-2"/>
          <c:y val="0.14246575342465753"/>
          <c:w val="0.95770638470923142"/>
          <c:h val="0.71506849315068488"/>
        </c:manualLayout>
      </c:layout>
      <c:barChart>
        <c:barDir val="col"/>
        <c:grouping val="stacked"/>
        <c:varyColors val="0"/>
        <c:ser>
          <c:idx val="0"/>
          <c:order val="0"/>
          <c:spPr>
            <a:solidFill>
              <a:srgbClr val="012169"/>
            </a:solidFill>
            <a:ln>
              <a:noFill/>
            </a:ln>
          </c:spPr>
          <c:invertIfNegative val="0"/>
          <c:val>
            <c:numRef>
              <c:f>Sheet1!$A$1:$D$1</c:f>
              <c:numCache>
                <c:formatCode>General</c:formatCode>
                <c:ptCount val="4"/>
                <c:pt idx="0">
                  <c:v>27.83</c:v>
                </c:pt>
                <c:pt idx="1">
                  <c:v>26.69</c:v>
                </c:pt>
                <c:pt idx="2">
                  <c:v>23</c:v>
                </c:pt>
                <c:pt idx="3">
                  <c:v>20.100000000000001</c:v>
                </c:pt>
              </c:numCache>
            </c:numRef>
          </c:val>
          <c:extLst>
            <c:ext xmlns:c16="http://schemas.microsoft.com/office/drawing/2014/chart" uri="{C3380CC4-5D6E-409C-BE32-E72D297353CC}">
              <c16:uniqueId val="{00000000-7710-430C-827A-AF8D999E9C7A}"/>
            </c:ext>
          </c:extLst>
        </c:ser>
        <c:dLbls>
          <c:showLegendKey val="0"/>
          <c:showVal val="0"/>
          <c:showCatName val="0"/>
          <c:showSerName val="0"/>
          <c:showPercent val="0"/>
          <c:showBubbleSize val="0"/>
        </c:dLbls>
        <c:gapWidth val="150"/>
        <c:overlap val="100"/>
        <c:axId val="931054847"/>
        <c:axId val="1"/>
      </c:barChart>
      <c:catAx>
        <c:axId val="931054847"/>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000">
                <a:latin typeface="+mn-lt"/>
                <a:ea typeface="+mn-ea"/>
                <a:cs typeface="+mn-cs"/>
              </a:defRPr>
            </a:pPr>
            <a:endParaRPr lang="en-US"/>
          </a:p>
        </c:txPr>
        <c:crossAx val="1"/>
        <c:crosses val="min"/>
        <c:auto val="0"/>
        <c:lblAlgn val="ctr"/>
        <c:lblOffset val="100"/>
        <c:noMultiLvlLbl val="0"/>
      </c:catAx>
      <c:valAx>
        <c:axId val="1"/>
        <c:scaling>
          <c:orientation val="minMax"/>
          <c:max val="27.83"/>
          <c:min val="0"/>
        </c:scaling>
        <c:delete val="0"/>
        <c:axPos val="l"/>
        <c:majorGridlines>
          <c:spPr>
            <a:ln>
              <a:noFill/>
            </a:ln>
          </c:spPr>
        </c:majorGridlines>
        <c:numFmt formatCode="General" sourceLinked="1"/>
        <c:majorTickMark val="none"/>
        <c:minorTickMark val="none"/>
        <c:tickLblPos val="none"/>
        <c:spPr>
          <a:ln w="9525" algn="ctr">
            <a:solidFill>
              <a:schemeClr val="bg1"/>
            </a:solidFill>
            <a:prstDash val="solid"/>
          </a:ln>
        </c:spPr>
        <c:crossAx val="931054847"/>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Column3</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FY14</c:v>
                </c:pt>
                <c:pt idx="1">
                  <c:v>FY15</c:v>
                </c:pt>
                <c:pt idx="2">
                  <c:v>FY16</c:v>
                </c:pt>
                <c:pt idx="3">
                  <c:v>FY17</c:v>
                </c:pt>
                <c:pt idx="4">
                  <c:v>FY18</c:v>
                </c:pt>
                <c:pt idx="5">
                  <c:v>FY19</c:v>
                </c:pt>
                <c:pt idx="6">
                  <c:v>FY20</c:v>
                </c:pt>
              </c:strCache>
            </c:strRef>
          </c:cat>
          <c:val>
            <c:numRef>
              <c:f>Sheet1!$B$2:$B$8</c:f>
              <c:numCache>
                <c:formatCode>General</c:formatCode>
                <c:ptCount val="7"/>
                <c:pt idx="0">
                  <c:v>6.09</c:v>
                </c:pt>
                <c:pt idx="1">
                  <c:v>6.56</c:v>
                </c:pt>
                <c:pt idx="2">
                  <c:v>6.55</c:v>
                </c:pt>
                <c:pt idx="3">
                  <c:v>6.89</c:v>
                </c:pt>
                <c:pt idx="4">
                  <c:v>6.89</c:v>
                </c:pt>
                <c:pt idx="5">
                  <c:v>6.89</c:v>
                </c:pt>
                <c:pt idx="6">
                  <c:v>6.89</c:v>
                </c:pt>
              </c:numCache>
            </c:numRef>
          </c:val>
          <c:extLst>
            <c:ext xmlns:c16="http://schemas.microsoft.com/office/drawing/2014/chart" uri="{C3380CC4-5D6E-409C-BE32-E72D297353CC}">
              <c16:uniqueId val="{00000000-3271-4915-8159-766A34FF5206}"/>
            </c:ext>
          </c:extLst>
        </c:ser>
        <c:dLbls>
          <c:showLegendKey val="0"/>
          <c:showVal val="0"/>
          <c:showCatName val="0"/>
          <c:showSerName val="0"/>
          <c:showPercent val="0"/>
          <c:showBubbleSize val="0"/>
        </c:dLbls>
        <c:gapWidth val="219"/>
        <c:overlap val="-27"/>
        <c:axId val="434252303"/>
        <c:axId val="1176455872"/>
      </c:barChart>
      <c:catAx>
        <c:axId val="434252303"/>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176455872"/>
        <c:crosses val="autoZero"/>
        <c:auto val="1"/>
        <c:lblAlgn val="ctr"/>
        <c:lblOffset val="100"/>
        <c:noMultiLvlLbl val="0"/>
      </c:catAx>
      <c:valAx>
        <c:axId val="1176455872"/>
        <c:scaling>
          <c:orientation val="minMax"/>
        </c:scaling>
        <c:delete val="1"/>
        <c:axPos val="l"/>
        <c:numFmt formatCode="General" sourceLinked="1"/>
        <c:majorTickMark val="none"/>
        <c:minorTickMark val="none"/>
        <c:tickLblPos val="nextTo"/>
        <c:crossAx val="43425230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146807645384302E-2"/>
          <c:y val="0.22340425531914893"/>
          <c:w val="0.95770638470923142"/>
          <c:h val="0.68439716312056742"/>
        </c:manualLayout>
      </c:layout>
      <c:barChart>
        <c:barDir val="col"/>
        <c:grouping val="stacked"/>
        <c:varyColors val="0"/>
        <c:ser>
          <c:idx val="0"/>
          <c:order val="0"/>
          <c:spPr>
            <a:solidFill>
              <a:schemeClr val="accent5"/>
            </a:solidFill>
            <a:ln>
              <a:noFill/>
            </a:ln>
          </c:spPr>
          <c:invertIfNegative val="0"/>
          <c:dLbls>
            <c:dLbl>
              <c:idx val="0"/>
              <c:layout>
                <c:manualLayout>
                  <c:x val="0"/>
                  <c:y val="-0.23226950354609929"/>
                </c:manualLayout>
              </c:layout>
              <c:numFmt formatCode="#,##0;&quot;-&quot;#,##0" sourceLinked="0"/>
              <c:spPr>
                <a:noFill/>
                <a:ln>
                  <a:noFill/>
                </a:ln>
              </c:spPr>
              <c:txPr>
                <a:bodyPr wrap="none"/>
                <a:lstStyle/>
                <a:p>
                  <a:pPr>
                    <a:defRPr sz="10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923-4A11-86A0-373FA437865B}"/>
                </c:ext>
              </c:extLst>
            </c:dLbl>
            <c:dLbl>
              <c:idx val="1"/>
              <c:layout>
                <c:manualLayout>
                  <c:x val="0"/>
                  <c:y val="-0.34042553191489361"/>
                </c:manualLayout>
              </c:layout>
              <c:numFmt formatCode="#,##0;&quot;-&quot;#,##0" sourceLinked="0"/>
              <c:spPr>
                <a:noFill/>
                <a:ln>
                  <a:noFill/>
                </a:ln>
              </c:spPr>
              <c:txPr>
                <a:bodyPr wrap="none"/>
                <a:lstStyle/>
                <a:p>
                  <a:pPr>
                    <a:defRPr sz="10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923-4A11-86A0-373FA437865B}"/>
                </c:ext>
              </c:extLst>
            </c:dLbl>
            <c:dLbl>
              <c:idx val="2"/>
              <c:layout>
                <c:manualLayout>
                  <c:x val="0"/>
                  <c:y val="-0.45567375886524825"/>
                </c:manualLayout>
              </c:layout>
              <c:numFmt formatCode="#,##0;&quot;-&quot;#,##0" sourceLinked="0"/>
              <c:spPr>
                <a:noFill/>
                <a:ln>
                  <a:noFill/>
                </a:ln>
              </c:spPr>
              <c:txPr>
                <a:bodyPr wrap="none"/>
                <a:lstStyle/>
                <a:p>
                  <a:pPr>
                    <a:defRPr sz="10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2923-4A11-86A0-373FA437865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5396</c:v>
                </c:pt>
                <c:pt idx="1">
                  <c:v>10235</c:v>
                </c:pt>
                <c:pt idx="2">
                  <c:v>15519</c:v>
                </c:pt>
              </c:numCache>
            </c:numRef>
          </c:val>
          <c:extLst>
            <c:ext xmlns:c16="http://schemas.microsoft.com/office/drawing/2014/chart" uri="{C3380CC4-5D6E-409C-BE32-E72D297353CC}">
              <c16:uniqueId val="{00000003-2923-4A11-86A0-373FA437865B}"/>
            </c:ext>
          </c:extLst>
        </c:ser>
        <c:dLbls>
          <c:showLegendKey val="0"/>
          <c:showVal val="0"/>
          <c:showCatName val="0"/>
          <c:showSerName val="0"/>
          <c:showPercent val="0"/>
          <c:showBubbleSize val="0"/>
        </c:dLbls>
        <c:gapWidth val="150"/>
        <c:overlap val="100"/>
        <c:axId val="755807471"/>
        <c:axId val="1"/>
      </c:barChart>
      <c:catAx>
        <c:axId val="755807471"/>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000">
                <a:latin typeface="+mn-lt"/>
                <a:ea typeface="+mn-ea"/>
                <a:cs typeface="+mn-cs"/>
              </a:defRPr>
            </a:pPr>
            <a:endParaRPr lang="en-US"/>
          </a:p>
        </c:txPr>
        <c:crossAx val="1"/>
        <c:crosses val="min"/>
        <c:auto val="0"/>
        <c:lblAlgn val="ctr"/>
        <c:lblOffset val="100"/>
        <c:noMultiLvlLbl val="0"/>
      </c:catAx>
      <c:valAx>
        <c:axId val="1"/>
        <c:scaling>
          <c:orientation val="minMax"/>
          <c:max val="15519"/>
          <c:min val="0"/>
        </c:scaling>
        <c:delete val="1"/>
        <c:axPos val="l"/>
        <c:numFmt formatCode="General" sourceLinked="1"/>
        <c:majorTickMark val="out"/>
        <c:minorTickMark val="none"/>
        <c:tickLblPos val="nextTo"/>
        <c:crossAx val="755807471"/>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091713596138375E-2"/>
          <c:y val="0.21140939597315436"/>
          <c:w val="0.95816572807723255"/>
          <c:h val="0.70134228187919467"/>
        </c:manualLayout>
      </c:layout>
      <c:barChart>
        <c:barDir val="col"/>
        <c:grouping val="clustered"/>
        <c:varyColors val="0"/>
        <c:ser>
          <c:idx val="0"/>
          <c:order val="0"/>
          <c:spPr>
            <a:solidFill>
              <a:srgbClr val="39C1F3"/>
            </a:solidFill>
            <a:ln>
              <a:noFill/>
            </a:ln>
          </c:spPr>
          <c:invertIfNegative val="0"/>
          <c:dLbls>
            <c:dLbl>
              <c:idx val="0"/>
              <c:layout>
                <c:manualLayout>
                  <c:x val="-7.642799678197908E-3"/>
                  <c:y val="-0.10570469798657718"/>
                </c:manualLayout>
              </c:layout>
              <c:numFmt formatCode="#,##0;&quot;-&quot;#,##0" sourceLinked="0"/>
              <c:spPr>
                <a:noFill/>
                <a:ln>
                  <a:noFill/>
                </a:ln>
              </c:spPr>
              <c:txPr>
                <a:bodyPr wrap="none"/>
                <a:lstStyle/>
                <a:p>
                  <a:pPr>
                    <a:defRPr sz="10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F16-497E-9F76-5A6DE863F4D8}"/>
                </c:ext>
              </c:extLst>
            </c:dLbl>
            <c:dLbl>
              <c:idx val="1"/>
              <c:layout>
                <c:manualLayout>
                  <c:x val="-7.642799678197908E-3"/>
                  <c:y val="-0.25838926174496646"/>
                </c:manualLayout>
              </c:layout>
              <c:numFmt formatCode="#,##0;&quot;-&quot;#,##0" sourceLinked="0"/>
              <c:spPr>
                <a:noFill/>
                <a:ln>
                  <a:noFill/>
                </a:ln>
              </c:spPr>
              <c:txPr>
                <a:bodyPr wrap="none"/>
                <a:lstStyle/>
                <a:p>
                  <a:pPr>
                    <a:defRPr sz="10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F16-497E-9F76-5A6DE863F4D8}"/>
                </c:ext>
              </c:extLst>
            </c:dLbl>
            <c:dLbl>
              <c:idx val="2"/>
              <c:layout>
                <c:manualLayout>
                  <c:x val="-7.642799678197908E-3"/>
                  <c:y val="-0.36577181208053694"/>
                </c:manualLayout>
              </c:layout>
              <c:numFmt formatCode="#,##0;&quot;-&quot;#,##0" sourceLinked="0"/>
              <c:spPr>
                <a:noFill/>
                <a:ln>
                  <a:noFill/>
                </a:ln>
              </c:spPr>
              <c:txPr>
                <a:bodyPr wrap="none"/>
                <a:lstStyle/>
                <a:p>
                  <a:pPr>
                    <a:defRPr sz="10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F16-497E-9F76-5A6DE863F4D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1620.43</c:v>
                </c:pt>
                <c:pt idx="1">
                  <c:v>3420.19</c:v>
                </c:pt>
                <c:pt idx="2">
                  <c:v>5860.36</c:v>
                </c:pt>
              </c:numCache>
            </c:numRef>
          </c:val>
          <c:extLst>
            <c:ext xmlns:c16="http://schemas.microsoft.com/office/drawing/2014/chart" uri="{C3380CC4-5D6E-409C-BE32-E72D297353CC}">
              <c16:uniqueId val="{00000003-1F16-497E-9F76-5A6DE863F4D8}"/>
            </c:ext>
          </c:extLst>
        </c:ser>
        <c:ser>
          <c:idx val="1"/>
          <c:order val="1"/>
          <c:spPr>
            <a:solidFill>
              <a:srgbClr val="9DD4CF"/>
            </a:solidFill>
            <a:ln>
              <a:noFill/>
            </a:ln>
          </c:spPr>
          <c:invertIfNegative val="0"/>
          <c:dLbls>
            <c:dLbl>
              <c:idx val="0"/>
              <c:layout>
                <c:manualLayout>
                  <c:x val="0"/>
                  <c:y val="-0.2348993288590604"/>
                </c:manualLayout>
              </c:layout>
              <c:numFmt formatCode="#,##0;&quot;-&quot;#,##0" sourceLinked="0"/>
              <c:spPr>
                <a:noFill/>
                <a:ln>
                  <a:noFill/>
                </a:ln>
              </c:spPr>
              <c:txPr>
                <a:bodyPr wrap="none"/>
                <a:lstStyle/>
                <a:p>
                  <a:pPr>
                    <a:defRPr sz="10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F16-497E-9F76-5A6DE863F4D8}"/>
                </c:ext>
              </c:extLst>
            </c:dLbl>
            <c:dLbl>
              <c:idx val="1"/>
              <c:layout>
                <c:manualLayout>
                  <c:x val="0"/>
                  <c:y val="-0.27852348993288589"/>
                </c:manualLayout>
              </c:layout>
              <c:numFmt formatCode="#,##0;&quot;-&quot;#,##0" sourceLinked="0"/>
              <c:spPr>
                <a:noFill/>
                <a:ln>
                  <a:noFill/>
                </a:ln>
              </c:spPr>
              <c:txPr>
                <a:bodyPr wrap="none"/>
                <a:lstStyle/>
                <a:p>
                  <a:pPr>
                    <a:defRPr sz="10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F16-497E-9F76-5A6DE863F4D8}"/>
                </c:ext>
              </c:extLst>
            </c:dLbl>
            <c:dLbl>
              <c:idx val="2"/>
              <c:layout>
                <c:manualLayout>
                  <c:x val="0"/>
                  <c:y val="-0.45805369127516776"/>
                </c:manualLayout>
              </c:layout>
              <c:numFmt formatCode="#,##0;&quot;-&quot;#,##0" sourceLinked="0"/>
              <c:spPr>
                <a:noFill/>
                <a:ln>
                  <a:noFill/>
                </a:ln>
              </c:spPr>
              <c:txPr>
                <a:bodyPr wrap="none"/>
                <a:lstStyle/>
                <a:p>
                  <a:pPr>
                    <a:defRPr sz="10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F16-497E-9F76-5A6DE863F4D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3076.74</c:v>
                </c:pt>
                <c:pt idx="1">
                  <c:v>3882.86</c:v>
                </c:pt>
                <c:pt idx="2">
                  <c:v>7944.9</c:v>
                </c:pt>
              </c:numCache>
            </c:numRef>
          </c:val>
          <c:extLst>
            <c:ext xmlns:c16="http://schemas.microsoft.com/office/drawing/2014/chart" uri="{C3380CC4-5D6E-409C-BE32-E72D297353CC}">
              <c16:uniqueId val="{00000007-1F16-497E-9F76-5A6DE863F4D8}"/>
            </c:ext>
          </c:extLst>
        </c:ser>
        <c:dLbls>
          <c:showLegendKey val="0"/>
          <c:showVal val="0"/>
          <c:showCatName val="0"/>
          <c:showSerName val="0"/>
          <c:showPercent val="0"/>
          <c:showBubbleSize val="0"/>
        </c:dLbls>
        <c:gapWidth val="150"/>
        <c:axId val="2007203055"/>
        <c:axId val="1"/>
      </c:barChart>
      <c:catAx>
        <c:axId val="2007203055"/>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000">
                <a:latin typeface="+mn-lt"/>
                <a:ea typeface="+mn-ea"/>
                <a:cs typeface="+mn-cs"/>
              </a:defRPr>
            </a:pPr>
            <a:endParaRPr lang="en-US"/>
          </a:p>
        </c:txPr>
        <c:crossAx val="1"/>
        <c:crosses val="min"/>
        <c:auto val="0"/>
        <c:lblAlgn val="ctr"/>
        <c:lblOffset val="100"/>
        <c:noMultiLvlLbl val="0"/>
      </c:catAx>
      <c:valAx>
        <c:axId val="1"/>
        <c:scaling>
          <c:orientation val="minMax"/>
          <c:max val="7944.9"/>
          <c:min val="0"/>
        </c:scaling>
        <c:delete val="1"/>
        <c:axPos val="l"/>
        <c:numFmt formatCode="General" sourceLinked="1"/>
        <c:majorTickMark val="out"/>
        <c:minorTickMark val="none"/>
        <c:tickLblPos val="nextTo"/>
        <c:crossAx val="2007203055"/>
        <c:crosses val="min"/>
        <c:crossBetween val="between"/>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0833333333333332E-2"/>
          <c:y val="0.23247232472324722"/>
          <c:w val="0.95833333333333337"/>
          <c:h val="0.67158671586715868"/>
        </c:manualLayout>
      </c:layout>
      <c:barChart>
        <c:barDir val="col"/>
        <c:grouping val="stacked"/>
        <c:varyColors val="0"/>
        <c:ser>
          <c:idx val="0"/>
          <c:order val="0"/>
          <c:spPr>
            <a:noFill/>
            <a:ln>
              <a:noFill/>
            </a:ln>
          </c:spPr>
          <c:invertIfNegative val="0"/>
          <c:dPt>
            <c:idx val="0"/>
            <c:invertIfNegative val="0"/>
            <c:bubble3D val="0"/>
            <c:spPr>
              <a:solidFill>
                <a:schemeClr val="accent2"/>
              </a:solidFill>
              <a:ln>
                <a:noFill/>
              </a:ln>
            </c:spPr>
            <c:extLst>
              <c:ext xmlns:c16="http://schemas.microsoft.com/office/drawing/2014/chart" uri="{C3380CC4-5D6E-409C-BE32-E72D297353CC}">
                <c16:uniqueId val="{00000000-5367-4E14-98F7-210B3491E030}"/>
              </c:ext>
            </c:extLst>
          </c:dPt>
          <c:dPt>
            <c:idx val="5"/>
            <c:invertIfNegative val="0"/>
            <c:bubble3D val="0"/>
            <c:spPr>
              <a:solidFill>
                <a:schemeClr val="accent2"/>
              </a:solidFill>
              <a:ln>
                <a:noFill/>
              </a:ln>
            </c:spPr>
            <c:extLst>
              <c:ext xmlns:c16="http://schemas.microsoft.com/office/drawing/2014/chart" uri="{C3380CC4-5D6E-409C-BE32-E72D297353CC}">
                <c16:uniqueId val="{00000001-5367-4E14-98F7-210B3491E030}"/>
              </c:ext>
            </c:extLst>
          </c:dPt>
          <c:dLbls>
            <c:dLbl>
              <c:idx val="0"/>
              <c:layout>
                <c:manualLayout>
                  <c:x val="0"/>
                  <c:y val="-0.20664206642066421"/>
                </c:manualLayout>
              </c:layout>
              <c:numFmt formatCode="#,##0;&quot;-&quot;#,##0" sourceLinked="0"/>
              <c:spPr>
                <a:noFill/>
                <a:ln>
                  <a:noFill/>
                </a:ln>
              </c:spPr>
              <c:txPr>
                <a:bodyPr wrap="none"/>
                <a:lstStyle/>
                <a:p>
                  <a:pPr>
                    <a:defRPr sz="10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5367-4E14-98F7-210B3491E030}"/>
                </c:ext>
              </c:extLst>
            </c:dLbl>
            <c:dLbl>
              <c:idx val="5"/>
              <c:layout>
                <c:manualLayout>
                  <c:x val="0"/>
                  <c:y val="-0.45387453874538747"/>
                </c:manualLayout>
              </c:layout>
              <c:numFmt formatCode="#,##0;&quot;-&quot;#,##0" sourceLinked="0"/>
              <c:spPr>
                <a:noFill/>
                <a:ln>
                  <a:noFill/>
                </a:ln>
              </c:spPr>
              <c:txPr>
                <a:bodyPr wrap="none"/>
                <a:lstStyle/>
                <a:p>
                  <a:pPr>
                    <a:defRPr sz="10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5367-4E14-98F7-210B3491E03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Sheet1!$A$1:$F$1</c:f>
              <c:numCache>
                <c:formatCode>General</c:formatCode>
                <c:ptCount val="6"/>
                <c:pt idx="0">
                  <c:v>1250</c:v>
                </c:pt>
                <c:pt idx="1">
                  <c:v>1250</c:v>
                </c:pt>
                <c:pt idx="2">
                  <c:v>2520</c:v>
                </c:pt>
                <c:pt idx="3">
                  <c:v>2940</c:v>
                </c:pt>
                <c:pt idx="4">
                  <c:v>3150</c:v>
                </c:pt>
                <c:pt idx="5">
                  <c:v>4745</c:v>
                </c:pt>
              </c:numCache>
            </c:numRef>
          </c:val>
          <c:extLst>
            <c:ext xmlns:c16="http://schemas.microsoft.com/office/drawing/2014/chart" uri="{C3380CC4-5D6E-409C-BE32-E72D297353CC}">
              <c16:uniqueId val="{00000002-5367-4E14-98F7-210B3491E030}"/>
            </c:ext>
          </c:extLst>
        </c:ser>
        <c:ser>
          <c:idx val="1"/>
          <c:order val="1"/>
          <c:spPr>
            <a:solidFill>
              <a:schemeClr val="accent2"/>
            </a:solidFill>
            <a:ln>
              <a:noFill/>
            </a:ln>
          </c:spPr>
          <c:invertIfNegative val="0"/>
          <c:dPt>
            <c:idx val="3"/>
            <c:invertIfNegative val="0"/>
            <c:bubble3D val="0"/>
            <c:spPr>
              <a:solidFill>
                <a:schemeClr val="accent6"/>
              </a:solidFill>
              <a:ln>
                <a:noFill/>
              </a:ln>
            </c:spPr>
            <c:extLst>
              <c:ext xmlns:c16="http://schemas.microsoft.com/office/drawing/2014/chart" uri="{C3380CC4-5D6E-409C-BE32-E72D297353CC}">
                <c16:uniqueId val="{00000003-5367-4E14-98F7-210B3491E030}"/>
              </c:ext>
            </c:extLst>
          </c:dPt>
          <c:dPt>
            <c:idx val="4"/>
            <c:invertIfNegative val="0"/>
            <c:bubble3D val="0"/>
            <c:spPr>
              <a:solidFill>
                <a:schemeClr val="accent6"/>
              </a:solidFill>
              <a:ln>
                <a:noFill/>
              </a:ln>
            </c:spPr>
            <c:extLst>
              <c:ext xmlns:c16="http://schemas.microsoft.com/office/drawing/2014/chart" uri="{C3380CC4-5D6E-409C-BE32-E72D297353CC}">
                <c16:uniqueId val="{00000004-5367-4E14-98F7-210B3491E030}"/>
              </c:ext>
            </c:extLst>
          </c:dPt>
          <c:val>
            <c:numRef>
              <c:f>Sheet1!$A$2:$F$2</c:f>
              <c:numCache>
                <c:formatCode>General</c:formatCode>
                <c:ptCount val="6"/>
                <c:pt idx="1">
                  <c:v>1270</c:v>
                </c:pt>
                <c:pt idx="2">
                  <c:v>420</c:v>
                </c:pt>
                <c:pt idx="3">
                  <c:v>210</c:v>
                </c:pt>
                <c:pt idx="4">
                  <c:v>1595</c:v>
                </c:pt>
              </c:numCache>
            </c:numRef>
          </c:val>
          <c:extLst>
            <c:ext xmlns:c16="http://schemas.microsoft.com/office/drawing/2014/chart" uri="{C3380CC4-5D6E-409C-BE32-E72D297353CC}">
              <c16:uniqueId val="{00000005-5367-4E14-98F7-210B3491E030}"/>
            </c:ext>
          </c:extLst>
        </c:ser>
        <c:dLbls>
          <c:showLegendKey val="0"/>
          <c:showVal val="0"/>
          <c:showCatName val="0"/>
          <c:showSerName val="0"/>
          <c:showPercent val="0"/>
          <c:showBubbleSize val="0"/>
        </c:dLbls>
        <c:gapWidth val="80"/>
        <c:overlap val="100"/>
        <c:axId val="1908964784"/>
        <c:axId val="1"/>
      </c:barChart>
      <c:catAx>
        <c:axId val="1908964784"/>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000">
                <a:latin typeface="+mn-lt"/>
                <a:ea typeface="+mn-ea"/>
                <a:cs typeface="+mn-cs"/>
              </a:defRPr>
            </a:pPr>
            <a:endParaRPr lang="en-US"/>
          </a:p>
        </c:txPr>
        <c:crossAx val="1"/>
        <c:crosses val="min"/>
        <c:auto val="0"/>
        <c:lblAlgn val="ctr"/>
        <c:lblOffset val="100"/>
        <c:noMultiLvlLbl val="0"/>
      </c:catAx>
      <c:valAx>
        <c:axId val="1"/>
        <c:scaling>
          <c:orientation val="minMax"/>
          <c:max val="4745"/>
          <c:min val="0"/>
        </c:scaling>
        <c:delete val="1"/>
        <c:axPos val="l"/>
        <c:numFmt formatCode="General" sourceLinked="1"/>
        <c:majorTickMark val="out"/>
        <c:minorTickMark val="none"/>
        <c:tickLblPos val="nextTo"/>
        <c:crossAx val="1908964784"/>
        <c:crosses val="min"/>
        <c:crossBetween val="between"/>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146807645384302E-2"/>
          <c:y val="0.1090146750524109"/>
          <c:w val="0.95770638470923142"/>
          <c:h val="0.78197064989517817"/>
        </c:manualLayout>
      </c:layout>
      <c:barChart>
        <c:barDir val="col"/>
        <c:grouping val="clustered"/>
        <c:varyColors val="0"/>
        <c:ser>
          <c:idx val="0"/>
          <c:order val="0"/>
          <c:spPr>
            <a:solidFill>
              <a:srgbClr val="86BC25"/>
            </a:solidFill>
            <a:ln>
              <a:noFill/>
            </a:ln>
          </c:spPr>
          <c:invertIfNegative val="0"/>
          <c:val>
            <c:numRef>
              <c:f>Sheet1!$A$1:$E$1</c:f>
              <c:numCache>
                <c:formatCode>General</c:formatCode>
                <c:ptCount val="5"/>
                <c:pt idx="0">
                  <c:v>71.850000000000009</c:v>
                </c:pt>
                <c:pt idx="1">
                  <c:v>60.62</c:v>
                </c:pt>
                <c:pt idx="2">
                  <c:v>67.540000000000006</c:v>
                </c:pt>
                <c:pt idx="3">
                  <c:v>56.399999999999991</c:v>
                </c:pt>
                <c:pt idx="4">
                  <c:v>55.720000000000006</c:v>
                </c:pt>
              </c:numCache>
            </c:numRef>
          </c:val>
          <c:extLst>
            <c:ext xmlns:c16="http://schemas.microsoft.com/office/drawing/2014/chart" uri="{C3380CC4-5D6E-409C-BE32-E72D297353CC}">
              <c16:uniqueId val="{00000000-7316-4AC8-B764-BA2EF8FB680F}"/>
            </c:ext>
          </c:extLst>
        </c:ser>
        <c:ser>
          <c:idx val="1"/>
          <c:order val="1"/>
          <c:spPr>
            <a:solidFill>
              <a:srgbClr val="046A38"/>
            </a:solidFill>
            <a:ln>
              <a:noFill/>
            </a:ln>
          </c:spPr>
          <c:invertIfNegative val="0"/>
          <c:val>
            <c:numRef>
              <c:f>Sheet1!$A$2:$E$2</c:f>
              <c:numCache>
                <c:formatCode>General</c:formatCode>
                <c:ptCount val="5"/>
                <c:pt idx="0">
                  <c:v>70.540000000000006</c:v>
                </c:pt>
                <c:pt idx="1">
                  <c:v>58.85</c:v>
                </c:pt>
                <c:pt idx="2">
                  <c:v>61.050000000000004</c:v>
                </c:pt>
                <c:pt idx="3">
                  <c:v>55.010000000000005</c:v>
                </c:pt>
                <c:pt idx="4">
                  <c:v>54.190000000000005</c:v>
                </c:pt>
              </c:numCache>
            </c:numRef>
          </c:val>
          <c:extLst>
            <c:ext xmlns:c16="http://schemas.microsoft.com/office/drawing/2014/chart" uri="{C3380CC4-5D6E-409C-BE32-E72D297353CC}">
              <c16:uniqueId val="{00000001-7316-4AC8-B764-BA2EF8FB680F}"/>
            </c:ext>
          </c:extLst>
        </c:ser>
        <c:dLbls>
          <c:showLegendKey val="0"/>
          <c:showVal val="0"/>
          <c:showCatName val="0"/>
          <c:showSerName val="0"/>
          <c:showPercent val="0"/>
          <c:showBubbleSize val="0"/>
        </c:dLbls>
        <c:gapWidth val="150"/>
        <c:axId val="1968166784"/>
        <c:axId val="1"/>
      </c:barChart>
      <c:catAx>
        <c:axId val="1968166784"/>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000">
                <a:latin typeface="+mn-lt"/>
                <a:ea typeface="+mn-ea"/>
                <a:cs typeface="+mn-cs"/>
              </a:defRPr>
            </a:pPr>
            <a:endParaRPr lang="en-US"/>
          </a:p>
        </c:txPr>
        <c:crossAx val="1"/>
        <c:crosses val="min"/>
        <c:auto val="0"/>
        <c:lblAlgn val="ctr"/>
        <c:lblOffset val="100"/>
        <c:noMultiLvlLbl val="0"/>
      </c:catAx>
      <c:valAx>
        <c:axId val="1"/>
        <c:scaling>
          <c:orientation val="minMax"/>
          <c:max val="71.850000000000009"/>
          <c:min val="40"/>
        </c:scaling>
        <c:delete val="0"/>
        <c:axPos val="l"/>
        <c:majorGridlines>
          <c:spPr>
            <a:ln>
              <a:noFill/>
            </a:ln>
          </c:spPr>
        </c:majorGridlines>
        <c:numFmt formatCode="General" sourceLinked="1"/>
        <c:majorTickMark val="none"/>
        <c:minorTickMark val="none"/>
        <c:tickLblPos val="none"/>
        <c:spPr>
          <a:ln w="9525" algn="ctr">
            <a:solidFill>
              <a:schemeClr val="bg1"/>
            </a:solidFill>
            <a:prstDash val="solid"/>
          </a:ln>
        </c:spPr>
        <c:crossAx val="1968166784"/>
        <c:crosses val="min"/>
        <c:crossBetween val="between"/>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Avoided PPC</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Sheet1!$A$2:$A$3</c:f>
              <c:strCache>
                <c:ptCount val="2"/>
                <c:pt idx="0">
                  <c:v>Benefit</c:v>
                </c:pt>
                <c:pt idx="1">
                  <c:v>Cost</c:v>
                </c:pt>
              </c:strCache>
            </c:strRef>
          </c:cat>
          <c:val>
            <c:numRef>
              <c:f>Sheet1!$B$2:$B$3</c:f>
              <c:numCache>
                <c:formatCode>General</c:formatCode>
                <c:ptCount val="2"/>
                <c:pt idx="0" formatCode="0.00">
                  <c:v>4.6399999999999997</c:v>
                </c:pt>
              </c:numCache>
            </c:numRef>
          </c:val>
          <c:extLst>
            <c:ext xmlns:c16="http://schemas.microsoft.com/office/drawing/2014/chart" uri="{C3380CC4-5D6E-409C-BE32-E72D297353CC}">
              <c16:uniqueId val="{00000000-52A1-4D40-A83A-8095BD9D91B5}"/>
            </c:ext>
          </c:extLst>
        </c:ser>
        <c:ser>
          <c:idx val="1"/>
          <c:order val="1"/>
          <c:tx>
            <c:strRef>
              <c:f>Sheet1!$C$1</c:f>
              <c:strCache>
                <c:ptCount val="1"/>
                <c:pt idx="0">
                  <c:v>Avoided REC</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Sheet1!$A$2:$A$3</c:f>
              <c:strCache>
                <c:ptCount val="2"/>
                <c:pt idx="0">
                  <c:v>Benefit</c:v>
                </c:pt>
                <c:pt idx="1">
                  <c:v>Cost</c:v>
                </c:pt>
              </c:strCache>
            </c:strRef>
          </c:cat>
          <c:val>
            <c:numRef>
              <c:f>Sheet1!$C$2:$C$3</c:f>
              <c:numCache>
                <c:formatCode>General</c:formatCode>
                <c:ptCount val="2"/>
                <c:pt idx="0" formatCode="0.00">
                  <c:v>1</c:v>
                </c:pt>
              </c:numCache>
            </c:numRef>
          </c:val>
          <c:extLst>
            <c:ext xmlns:c16="http://schemas.microsoft.com/office/drawing/2014/chart" uri="{C3380CC4-5D6E-409C-BE32-E72D297353CC}">
              <c16:uniqueId val="{00000001-52A1-4D40-A83A-8095BD9D91B5}"/>
            </c:ext>
          </c:extLst>
        </c:ser>
        <c:ser>
          <c:idx val="2"/>
          <c:order val="2"/>
          <c:tx>
            <c:strRef>
              <c:f>Sheet1!$D$1</c:f>
              <c:strCache>
                <c:ptCount val="1"/>
                <c:pt idx="0">
                  <c:v>PBI</c:v>
                </c:pt>
              </c:strCache>
            </c:strRef>
          </c:tx>
          <c:spPr>
            <a:solidFill>
              <a:schemeClr val="accent3"/>
            </a:solidFill>
            <a:ln>
              <a:noFill/>
            </a:ln>
            <a:effectLst/>
          </c:spPr>
          <c:invertIfNegative val="0"/>
          <c:dLbls>
            <c:dLbl>
              <c:idx val="0"/>
              <c:layout>
                <c:manualLayout>
                  <c:x val="-3.6625222845510606E-17"/>
                  <c:y val="6.0414050582049657E-4"/>
                </c:manualLayout>
              </c:layout>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2A1-4D40-A83A-8095BD9D91B5}"/>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dk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Sheet1!$A$2:$A$3</c:f>
              <c:strCache>
                <c:ptCount val="2"/>
                <c:pt idx="0">
                  <c:v>Benefit</c:v>
                </c:pt>
                <c:pt idx="1">
                  <c:v>Cost</c:v>
                </c:pt>
              </c:strCache>
            </c:strRef>
          </c:cat>
          <c:val>
            <c:numRef>
              <c:f>Sheet1!$D$2:$D$3</c:f>
              <c:numCache>
                <c:formatCode>General</c:formatCode>
                <c:ptCount val="2"/>
                <c:pt idx="0" formatCode="0.00">
                  <c:v>0.4</c:v>
                </c:pt>
              </c:numCache>
            </c:numRef>
          </c:val>
          <c:extLst>
            <c:ext xmlns:c16="http://schemas.microsoft.com/office/drawing/2014/chart" uri="{C3380CC4-5D6E-409C-BE32-E72D297353CC}">
              <c16:uniqueId val="{00000003-52A1-4D40-A83A-8095BD9D91B5}"/>
            </c:ext>
          </c:extLst>
        </c:ser>
        <c:ser>
          <c:idx val="3"/>
          <c:order val="3"/>
          <c:tx>
            <c:strRef>
              <c:f>Sheet1!$E$1</c:f>
              <c:strCache>
                <c:ptCount val="1"/>
                <c:pt idx="0">
                  <c:v>Solar Tariff</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Sheet1!$A$2:$A$3</c:f>
              <c:strCache>
                <c:ptCount val="2"/>
                <c:pt idx="0">
                  <c:v>Benefit</c:v>
                </c:pt>
                <c:pt idx="1">
                  <c:v>Cost</c:v>
                </c:pt>
              </c:strCache>
            </c:strRef>
          </c:cat>
          <c:val>
            <c:numRef>
              <c:f>Sheet1!$E$2:$E$3</c:f>
              <c:numCache>
                <c:formatCode>0.00</c:formatCode>
                <c:ptCount val="2"/>
                <c:pt idx="1">
                  <c:v>3</c:v>
                </c:pt>
              </c:numCache>
            </c:numRef>
          </c:val>
          <c:extLst>
            <c:ext xmlns:c16="http://schemas.microsoft.com/office/drawing/2014/chart" uri="{C3380CC4-5D6E-409C-BE32-E72D297353CC}">
              <c16:uniqueId val="{00000004-52A1-4D40-A83A-8095BD9D91B5}"/>
            </c:ext>
          </c:extLst>
        </c:ser>
        <c:dLbls>
          <c:dLblPos val="inEnd"/>
          <c:showLegendKey val="0"/>
          <c:showVal val="1"/>
          <c:showCatName val="0"/>
          <c:showSerName val="0"/>
          <c:showPercent val="0"/>
          <c:showBubbleSize val="0"/>
        </c:dLbls>
        <c:gapWidth val="150"/>
        <c:overlap val="100"/>
        <c:axId val="714356872"/>
        <c:axId val="714359168"/>
      </c:barChart>
      <c:catAx>
        <c:axId val="714356872"/>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000" b="0" i="0" u="none" strike="noStrike" kern="1200" cap="none" spc="0" normalizeH="0" baseline="0">
                <a:solidFill>
                  <a:schemeClr val="dk1">
                    <a:lumMod val="65000"/>
                    <a:lumOff val="35000"/>
                  </a:schemeClr>
                </a:solidFill>
                <a:latin typeface="+mn-lt"/>
                <a:ea typeface="+mn-ea"/>
                <a:cs typeface="+mn-cs"/>
              </a:defRPr>
            </a:pPr>
            <a:endParaRPr lang="en-US"/>
          </a:p>
        </c:txPr>
        <c:crossAx val="714359168"/>
        <c:crosses val="autoZero"/>
        <c:auto val="1"/>
        <c:lblAlgn val="ctr"/>
        <c:lblOffset val="100"/>
        <c:noMultiLvlLbl val="0"/>
      </c:catAx>
      <c:valAx>
        <c:axId val="714359168"/>
        <c:scaling>
          <c:orientation val="minMax"/>
        </c:scaling>
        <c:delete val="1"/>
        <c:axPos val="l"/>
        <c:numFmt formatCode="0.00" sourceLinked="1"/>
        <c:majorTickMark val="none"/>
        <c:minorTickMark val="none"/>
        <c:tickLblPos val="nextTo"/>
        <c:crossAx val="714356872"/>
        <c:crosses val="autoZero"/>
        <c:crossBetween val="between"/>
      </c:valAx>
      <c:spPr>
        <a:pattFill prst="ltDnDiag">
          <a:fgClr>
            <a:schemeClr val="dk1">
              <a:lumMod val="15000"/>
              <a:lumOff val="85000"/>
            </a:schemeClr>
          </a:fgClr>
          <a:bgClr>
            <a:schemeClr val="lt1"/>
          </a:bgClr>
        </a:pattFill>
        <a:ln>
          <a:noFill/>
        </a:ln>
        <a:effectLst/>
      </c:spPr>
    </c:plotArea>
    <c:legend>
      <c:legendPos val="b"/>
      <c:layout>
        <c:manualLayout>
          <c:xMode val="edge"/>
          <c:yMode val="edge"/>
          <c:x val="6.1880300362806276E-3"/>
          <c:y val="0.80010147714093882"/>
          <c:w val="0.9876239399274388"/>
          <c:h val="0.15144891045596046"/>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solidFill>
      <a:schemeClr val="lt1"/>
    </a:solidFill>
    <a:ln w="9525" cap="flat" cmpd="sng" algn="ctr">
      <a:noFill/>
      <a:round/>
    </a:ln>
    <a:effectLst/>
  </c:spPr>
  <c:txPr>
    <a:bodyPr/>
    <a:lstStyle/>
    <a:p>
      <a:pPr>
        <a:defRPr sz="800"/>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33891621404184"/>
          <c:y val="9.4163713402336327E-2"/>
          <c:w val="0.25807197500929802"/>
          <c:h val="0.6123775174682502"/>
        </c:manualLayout>
      </c:layout>
      <c:barChart>
        <c:barDir val="bar"/>
        <c:grouping val="stacked"/>
        <c:varyColors val="0"/>
        <c:ser>
          <c:idx val="1"/>
          <c:order val="0"/>
          <c:tx>
            <c:strRef>
              <c:f>Sheet1!$C$1</c:f>
              <c:strCache>
                <c:ptCount val="1"/>
                <c:pt idx="0">
                  <c:v>Reforms &amp; Restructuring</c:v>
                </c:pt>
              </c:strCache>
            </c:strRef>
          </c:tx>
          <c:spPr>
            <a:solidFill>
              <a:srgbClr val="6FC2B4"/>
            </a:solidFill>
            <a:ln>
              <a:noFill/>
            </a:ln>
            <a:effectLst/>
          </c:spPr>
          <c:invertIfNegative val="0"/>
          <c:dLbls>
            <c:numFmt formatCode="#,##0" sourceLinked="0"/>
            <c:spPr>
              <a:noFill/>
              <a:ln>
                <a:noFill/>
              </a:ln>
              <a:effectLst/>
            </c:spPr>
            <c:txPr>
              <a:bodyPr rot="0" vert="horz"/>
              <a:lstStyle/>
              <a:p>
                <a:pPr>
                  <a:defRPr sz="1000"/>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International</c:v>
                </c:pt>
                <c:pt idx="1">
                  <c:v>Other Indian State</c:v>
                </c:pt>
                <c:pt idx="2">
                  <c:v>West Bengal</c:v>
                </c:pt>
              </c:strCache>
            </c:strRef>
          </c:cat>
          <c:val>
            <c:numRef>
              <c:f>Sheet1!$C$2:$C$4</c:f>
              <c:numCache>
                <c:formatCode>General</c:formatCode>
                <c:ptCount val="3"/>
                <c:pt idx="0">
                  <c:v>1</c:v>
                </c:pt>
                <c:pt idx="1">
                  <c:v>1</c:v>
                </c:pt>
                <c:pt idx="2">
                  <c:v>3</c:v>
                </c:pt>
              </c:numCache>
            </c:numRef>
          </c:val>
          <c:extLst>
            <c:ext xmlns:c16="http://schemas.microsoft.com/office/drawing/2014/chart" uri="{C3380CC4-5D6E-409C-BE32-E72D297353CC}">
              <c16:uniqueId val="{00000000-724A-47A5-9EFA-7DA49454991B}"/>
            </c:ext>
          </c:extLst>
        </c:ser>
        <c:ser>
          <c:idx val="2"/>
          <c:order val="1"/>
          <c:tx>
            <c:strRef>
              <c:f>Sheet1!$D$1</c:f>
              <c:strCache>
                <c:ptCount val="1"/>
                <c:pt idx="0">
                  <c:v>EV/RE/BESS/RE Integration</c:v>
                </c:pt>
              </c:strCache>
            </c:strRef>
          </c:tx>
          <c:spPr>
            <a:solidFill>
              <a:schemeClr val="accent3"/>
            </a:solidFill>
            <a:ln>
              <a:noFill/>
            </a:ln>
            <a:effectLst/>
          </c:spPr>
          <c:invertIfNegative val="0"/>
          <c:dLbls>
            <c:numFmt formatCode="#,##0" sourceLinked="0"/>
            <c:spPr>
              <a:noFill/>
              <a:ln>
                <a:noFill/>
              </a:ln>
              <a:effectLst/>
            </c:spPr>
            <c:txPr>
              <a:bodyPr rot="0" vert="horz"/>
              <a:lstStyle/>
              <a:p>
                <a:pPr>
                  <a:defRPr sz="1000"/>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International</c:v>
                </c:pt>
                <c:pt idx="1">
                  <c:v>Other Indian State</c:v>
                </c:pt>
                <c:pt idx="2">
                  <c:v>West Bengal</c:v>
                </c:pt>
              </c:strCache>
            </c:strRef>
          </c:cat>
          <c:val>
            <c:numRef>
              <c:f>Sheet1!$D$2:$D$4</c:f>
              <c:numCache>
                <c:formatCode>General</c:formatCode>
                <c:ptCount val="3"/>
                <c:pt idx="0">
                  <c:v>1</c:v>
                </c:pt>
                <c:pt idx="1">
                  <c:v>4</c:v>
                </c:pt>
                <c:pt idx="2">
                  <c:v>2</c:v>
                </c:pt>
              </c:numCache>
            </c:numRef>
          </c:val>
          <c:extLst>
            <c:ext xmlns:c16="http://schemas.microsoft.com/office/drawing/2014/chart" uri="{C3380CC4-5D6E-409C-BE32-E72D297353CC}">
              <c16:uniqueId val="{00000001-724A-47A5-9EFA-7DA49454991B}"/>
            </c:ext>
          </c:extLst>
        </c:ser>
        <c:ser>
          <c:idx val="3"/>
          <c:order val="2"/>
          <c:tx>
            <c:strRef>
              <c:f>Sheet1!$E$1</c:f>
              <c:strCache>
                <c:ptCount val="1"/>
                <c:pt idx="0">
                  <c:v>Roadmap &amp; Strategies</c:v>
                </c:pt>
              </c:strCache>
            </c:strRef>
          </c:tx>
          <c:invertIfNegative val="0"/>
          <c:dLbls>
            <c:spPr>
              <a:noFill/>
              <a:ln>
                <a:noFill/>
              </a:ln>
              <a:effectLst/>
            </c:spPr>
            <c:txPr>
              <a:bodyPr wrap="square" lIns="38100" tIns="19050" rIns="38100" bIns="19050" anchor="ctr">
                <a:spAutoFit/>
              </a:bodyPr>
              <a:lstStyle/>
              <a:p>
                <a:pPr>
                  <a:defRPr sz="1000">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International</c:v>
                </c:pt>
                <c:pt idx="1">
                  <c:v>Other Indian State</c:v>
                </c:pt>
                <c:pt idx="2">
                  <c:v>West Bengal</c:v>
                </c:pt>
              </c:strCache>
            </c:strRef>
          </c:cat>
          <c:val>
            <c:numRef>
              <c:f>Sheet1!$E$2:$E$4</c:f>
              <c:numCache>
                <c:formatCode>General</c:formatCode>
                <c:ptCount val="3"/>
                <c:pt idx="0">
                  <c:v>1</c:v>
                </c:pt>
                <c:pt idx="1">
                  <c:v>2</c:v>
                </c:pt>
              </c:numCache>
            </c:numRef>
          </c:val>
          <c:extLst>
            <c:ext xmlns:c16="http://schemas.microsoft.com/office/drawing/2014/chart" uri="{C3380CC4-5D6E-409C-BE32-E72D297353CC}">
              <c16:uniqueId val="{00000002-724A-47A5-9EFA-7DA49454991B}"/>
            </c:ext>
          </c:extLst>
        </c:ser>
        <c:dLbls>
          <c:dLblPos val="ctr"/>
          <c:showLegendKey val="0"/>
          <c:showVal val="1"/>
          <c:showCatName val="0"/>
          <c:showSerName val="0"/>
          <c:showPercent val="0"/>
          <c:showBubbleSize val="0"/>
        </c:dLbls>
        <c:gapWidth val="104"/>
        <c:overlap val="100"/>
        <c:axId val="2125930984"/>
        <c:axId val="2125933728"/>
      </c:barChart>
      <c:catAx>
        <c:axId val="21259309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sz="1000" b="0"/>
            </a:pPr>
            <a:endParaRPr lang="en-US"/>
          </a:p>
        </c:txPr>
        <c:crossAx val="2125933728"/>
        <c:crosses val="autoZero"/>
        <c:auto val="1"/>
        <c:lblAlgn val="ctr"/>
        <c:lblOffset val="100"/>
        <c:noMultiLvlLbl val="0"/>
      </c:catAx>
      <c:valAx>
        <c:axId val="2125933728"/>
        <c:scaling>
          <c:orientation val="minMax"/>
          <c:max val="7.5"/>
          <c:min val="0"/>
        </c:scaling>
        <c:delete val="1"/>
        <c:axPos val="b"/>
        <c:numFmt formatCode="General" sourceLinked="1"/>
        <c:majorTickMark val="none"/>
        <c:minorTickMark val="none"/>
        <c:tickLblPos val="nextTo"/>
        <c:crossAx val="2125930984"/>
        <c:crosses val="autoZero"/>
        <c:crossBetween val="between"/>
      </c:valAx>
      <c:spPr>
        <a:noFill/>
        <a:ln>
          <a:noFill/>
        </a:ln>
        <a:effectLst/>
      </c:spPr>
    </c:plotArea>
    <c:legend>
      <c:legendPos val="b"/>
      <c:layout>
        <c:manualLayout>
          <c:xMode val="edge"/>
          <c:yMode val="edge"/>
          <c:x val="3.0250392867544818E-2"/>
          <c:y val="0.82380102626655072"/>
          <c:w val="0.96974960713245517"/>
          <c:h val="0.17619897373344928"/>
        </c:manualLayout>
      </c:layout>
      <c:overlay val="0"/>
      <c:spPr>
        <a:noFill/>
        <a:ln>
          <a:noFill/>
        </a:ln>
        <a:effectLst/>
      </c:spPr>
      <c:txPr>
        <a:bodyPr rot="0" vert="horz"/>
        <a:lstStyle/>
        <a:p>
          <a:pPr>
            <a:defRPr sz="1000" b="0"/>
          </a:pPr>
          <a:endParaRPr lang="en-US"/>
        </a:p>
      </c:txPr>
    </c:legend>
    <c:plotVisOnly val="1"/>
    <c:dispBlanksAs val="gap"/>
    <c:showDLblsOverMax val="0"/>
  </c:chart>
  <c:spPr>
    <a:noFill/>
    <a:ln>
      <a:noFill/>
    </a:ln>
    <a:effectLst/>
  </c:spPr>
  <c:txPr>
    <a:bodyPr/>
    <a:lstStyle/>
    <a:p>
      <a:pPr>
        <a:defRPr sz="11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929547884133491"/>
          <c:y val="0.10054326668290857"/>
          <c:w val="0.5941977757230007"/>
          <c:h val="0.6123775174682502"/>
        </c:manualLayout>
      </c:layout>
      <c:barChart>
        <c:barDir val="bar"/>
        <c:grouping val="stacked"/>
        <c:varyColors val="0"/>
        <c:ser>
          <c:idx val="1"/>
          <c:order val="0"/>
          <c:tx>
            <c:strRef>
              <c:f>Sheet1!$C$1</c:f>
              <c:strCache>
                <c:ptCount val="1"/>
                <c:pt idx="0">
                  <c:v>Reforms &amp; Restructuring</c:v>
                </c:pt>
              </c:strCache>
            </c:strRef>
          </c:tx>
          <c:spPr>
            <a:solidFill>
              <a:srgbClr val="6FC2B4"/>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International</c:v>
                </c:pt>
                <c:pt idx="1">
                  <c:v>Other Indian State</c:v>
                </c:pt>
                <c:pt idx="2">
                  <c:v>West Bengal</c:v>
                </c:pt>
              </c:strCache>
            </c:strRef>
          </c:cat>
          <c:val>
            <c:numRef>
              <c:f>Sheet1!$C$2:$C$4</c:f>
              <c:numCache>
                <c:formatCode>General</c:formatCode>
                <c:ptCount val="3"/>
                <c:pt idx="0">
                  <c:v>2</c:v>
                </c:pt>
                <c:pt idx="1">
                  <c:v>2</c:v>
                </c:pt>
                <c:pt idx="2">
                  <c:v>3</c:v>
                </c:pt>
              </c:numCache>
            </c:numRef>
          </c:val>
          <c:extLst>
            <c:ext xmlns:c16="http://schemas.microsoft.com/office/drawing/2014/chart" uri="{C3380CC4-5D6E-409C-BE32-E72D297353CC}">
              <c16:uniqueId val="{00000000-450F-463D-8EAE-2281B9E7C8D1}"/>
            </c:ext>
          </c:extLst>
        </c:ser>
        <c:ser>
          <c:idx val="2"/>
          <c:order val="1"/>
          <c:tx>
            <c:strRef>
              <c:f>Sheet1!$D$1</c:f>
              <c:strCache>
                <c:ptCount val="1"/>
                <c:pt idx="0">
                  <c:v>EV/RE/BESS/RE Integration</c:v>
                </c:pt>
              </c:strCache>
            </c:strRef>
          </c:tx>
          <c:spPr>
            <a:solidFill>
              <a:schemeClr val="accent3"/>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International</c:v>
                </c:pt>
                <c:pt idx="1">
                  <c:v>Other Indian State</c:v>
                </c:pt>
                <c:pt idx="2">
                  <c:v>West Bengal</c:v>
                </c:pt>
              </c:strCache>
            </c:strRef>
          </c:cat>
          <c:val>
            <c:numRef>
              <c:f>Sheet1!$D$2:$D$4</c:f>
              <c:numCache>
                <c:formatCode>General</c:formatCode>
                <c:ptCount val="3"/>
                <c:pt idx="0">
                  <c:v>3</c:v>
                </c:pt>
                <c:pt idx="1">
                  <c:v>7</c:v>
                </c:pt>
                <c:pt idx="2">
                  <c:v>2</c:v>
                </c:pt>
              </c:numCache>
            </c:numRef>
          </c:val>
          <c:extLst>
            <c:ext xmlns:c16="http://schemas.microsoft.com/office/drawing/2014/chart" uri="{C3380CC4-5D6E-409C-BE32-E72D297353CC}">
              <c16:uniqueId val="{00000001-450F-463D-8EAE-2281B9E7C8D1}"/>
            </c:ext>
          </c:extLst>
        </c:ser>
        <c:ser>
          <c:idx val="3"/>
          <c:order val="2"/>
          <c:tx>
            <c:strRef>
              <c:f>Sheet1!$E$1</c:f>
              <c:strCache>
                <c:ptCount val="1"/>
                <c:pt idx="0">
                  <c:v>Roadmap &amp; Strategies</c:v>
                </c:pt>
              </c:strCache>
            </c:strRef>
          </c:tx>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International</c:v>
                </c:pt>
                <c:pt idx="1">
                  <c:v>Other Indian State</c:v>
                </c:pt>
                <c:pt idx="2">
                  <c:v>West Bengal</c:v>
                </c:pt>
              </c:strCache>
            </c:strRef>
          </c:cat>
          <c:val>
            <c:numRef>
              <c:f>Sheet1!$E$2:$E$4</c:f>
              <c:numCache>
                <c:formatCode>General</c:formatCode>
                <c:ptCount val="3"/>
                <c:pt idx="0">
                  <c:v>1</c:v>
                </c:pt>
                <c:pt idx="1">
                  <c:v>1</c:v>
                </c:pt>
                <c:pt idx="2">
                  <c:v>1</c:v>
                </c:pt>
              </c:numCache>
            </c:numRef>
          </c:val>
          <c:extLst>
            <c:ext xmlns:c16="http://schemas.microsoft.com/office/drawing/2014/chart" uri="{C3380CC4-5D6E-409C-BE32-E72D297353CC}">
              <c16:uniqueId val="{00000002-450F-463D-8EAE-2281B9E7C8D1}"/>
            </c:ext>
          </c:extLst>
        </c:ser>
        <c:dLbls>
          <c:dLblPos val="ctr"/>
          <c:showLegendKey val="0"/>
          <c:showVal val="1"/>
          <c:showCatName val="0"/>
          <c:showSerName val="0"/>
          <c:showPercent val="0"/>
          <c:showBubbleSize val="0"/>
        </c:dLbls>
        <c:gapWidth val="104"/>
        <c:overlap val="100"/>
        <c:axId val="2125930984"/>
        <c:axId val="2125933728"/>
      </c:barChart>
      <c:catAx>
        <c:axId val="21259309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125933728"/>
        <c:crosses val="autoZero"/>
        <c:auto val="1"/>
        <c:lblAlgn val="ctr"/>
        <c:lblOffset val="100"/>
        <c:noMultiLvlLbl val="0"/>
      </c:catAx>
      <c:valAx>
        <c:axId val="2125933728"/>
        <c:scaling>
          <c:orientation val="minMax"/>
          <c:max val="10.5"/>
          <c:min val="0"/>
        </c:scaling>
        <c:delete val="1"/>
        <c:axPos val="b"/>
        <c:numFmt formatCode="General" sourceLinked="1"/>
        <c:majorTickMark val="none"/>
        <c:minorTickMark val="none"/>
        <c:tickLblPos val="nextTo"/>
        <c:crossAx val="21259309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2200553831050386E-2"/>
          <c:y val="4.2020256948100361E-2"/>
          <c:w val="0.21304217128539599"/>
          <c:h val="0.7340451994191014"/>
        </c:manualLayout>
      </c:layout>
      <c:barChart>
        <c:barDir val="bar"/>
        <c:grouping val="stacked"/>
        <c:varyColors val="0"/>
        <c:ser>
          <c:idx val="1"/>
          <c:order val="0"/>
          <c:tx>
            <c:strRef>
              <c:f>Sheet1!$C$1</c:f>
              <c:strCache>
                <c:ptCount val="1"/>
                <c:pt idx="0">
                  <c:v>Reforms &amp; Restructuring</c:v>
                </c:pt>
              </c:strCache>
            </c:strRef>
          </c:tx>
          <c:spPr>
            <a:solidFill>
              <a:srgbClr val="6FC2B4"/>
            </a:solidFill>
            <a:ln>
              <a:noFill/>
            </a:ln>
            <a:effectLst/>
          </c:spPr>
          <c:invertIfNegative val="0"/>
          <c:dLbls>
            <c:numFmt formatCode="#,##0" sourceLinked="0"/>
            <c:spPr>
              <a:noFill/>
              <a:ln>
                <a:noFill/>
              </a:ln>
              <a:effectLst/>
            </c:spPr>
            <c:txPr>
              <a:bodyPr rot="0" vert="horz"/>
              <a:lstStyle/>
              <a:p>
                <a:pPr>
                  <a:defRPr sz="1000"/>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International</c:v>
                </c:pt>
                <c:pt idx="1">
                  <c:v>Other Indian State</c:v>
                </c:pt>
                <c:pt idx="2">
                  <c:v>West Bengal</c:v>
                </c:pt>
              </c:strCache>
            </c:strRef>
          </c:cat>
          <c:val>
            <c:numRef>
              <c:f>Sheet1!$C$2:$C$4</c:f>
              <c:numCache>
                <c:formatCode>General</c:formatCode>
                <c:ptCount val="3"/>
                <c:pt idx="0">
                  <c:v>3</c:v>
                </c:pt>
                <c:pt idx="1">
                  <c:v>3</c:v>
                </c:pt>
                <c:pt idx="2">
                  <c:v>1</c:v>
                </c:pt>
              </c:numCache>
            </c:numRef>
          </c:val>
          <c:extLst>
            <c:ext xmlns:c16="http://schemas.microsoft.com/office/drawing/2014/chart" uri="{C3380CC4-5D6E-409C-BE32-E72D297353CC}">
              <c16:uniqueId val="{00000000-B265-406A-9ADB-E08BED4A343F}"/>
            </c:ext>
          </c:extLst>
        </c:ser>
        <c:ser>
          <c:idx val="2"/>
          <c:order val="1"/>
          <c:tx>
            <c:strRef>
              <c:f>Sheet1!$D$1</c:f>
              <c:strCache>
                <c:ptCount val="1"/>
                <c:pt idx="0">
                  <c:v>EV/RE/BESS/RE Integration</c:v>
                </c:pt>
              </c:strCache>
            </c:strRef>
          </c:tx>
          <c:spPr>
            <a:solidFill>
              <a:schemeClr val="accent3"/>
            </a:solidFill>
            <a:ln>
              <a:noFill/>
            </a:ln>
            <a:effectLst/>
          </c:spPr>
          <c:invertIfNegative val="0"/>
          <c:dLbls>
            <c:numFmt formatCode="#,##0" sourceLinked="0"/>
            <c:spPr>
              <a:noFill/>
              <a:ln>
                <a:noFill/>
              </a:ln>
              <a:effectLst/>
            </c:spPr>
            <c:txPr>
              <a:bodyPr rot="0" vert="horz"/>
              <a:lstStyle/>
              <a:p>
                <a:pPr>
                  <a:defRPr sz="1000"/>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International</c:v>
                </c:pt>
                <c:pt idx="1">
                  <c:v>Other Indian State</c:v>
                </c:pt>
                <c:pt idx="2">
                  <c:v>West Bengal</c:v>
                </c:pt>
              </c:strCache>
            </c:strRef>
          </c:cat>
          <c:val>
            <c:numRef>
              <c:f>Sheet1!$D$2:$D$4</c:f>
              <c:numCache>
                <c:formatCode>General</c:formatCode>
                <c:ptCount val="3"/>
                <c:pt idx="0">
                  <c:v>2</c:v>
                </c:pt>
                <c:pt idx="1">
                  <c:v>3</c:v>
                </c:pt>
              </c:numCache>
            </c:numRef>
          </c:val>
          <c:extLst>
            <c:ext xmlns:c16="http://schemas.microsoft.com/office/drawing/2014/chart" uri="{C3380CC4-5D6E-409C-BE32-E72D297353CC}">
              <c16:uniqueId val="{00000001-B265-406A-9ADB-E08BED4A343F}"/>
            </c:ext>
          </c:extLst>
        </c:ser>
        <c:ser>
          <c:idx val="3"/>
          <c:order val="2"/>
          <c:tx>
            <c:strRef>
              <c:f>Sheet1!$E$1</c:f>
              <c:strCache>
                <c:ptCount val="1"/>
                <c:pt idx="0">
                  <c:v>Roadmap &amp; Strategies</c:v>
                </c:pt>
              </c:strCache>
            </c:strRef>
          </c:tx>
          <c:invertIfNegative val="0"/>
          <c:dLbls>
            <c:spPr>
              <a:noFill/>
              <a:ln>
                <a:noFill/>
              </a:ln>
              <a:effectLst/>
            </c:spPr>
            <c:txPr>
              <a:bodyPr wrap="square" lIns="38100" tIns="19050" rIns="38100" bIns="19050" anchor="ctr">
                <a:spAutoFit/>
              </a:bodyPr>
              <a:lstStyle/>
              <a:p>
                <a:pPr>
                  <a:defRPr sz="1000">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International</c:v>
                </c:pt>
                <c:pt idx="1">
                  <c:v>Other Indian State</c:v>
                </c:pt>
                <c:pt idx="2">
                  <c:v>West Bengal</c:v>
                </c:pt>
              </c:strCache>
            </c:strRef>
          </c:cat>
          <c:val>
            <c:numRef>
              <c:f>Sheet1!$E$2:$E$4</c:f>
              <c:numCache>
                <c:formatCode>General</c:formatCode>
                <c:ptCount val="3"/>
                <c:pt idx="0">
                  <c:v>1</c:v>
                </c:pt>
                <c:pt idx="1">
                  <c:v>2</c:v>
                </c:pt>
                <c:pt idx="2">
                  <c:v>2</c:v>
                </c:pt>
              </c:numCache>
            </c:numRef>
          </c:val>
          <c:extLst>
            <c:ext xmlns:c16="http://schemas.microsoft.com/office/drawing/2014/chart" uri="{C3380CC4-5D6E-409C-BE32-E72D297353CC}">
              <c16:uniqueId val="{00000002-B265-406A-9ADB-E08BED4A343F}"/>
            </c:ext>
          </c:extLst>
        </c:ser>
        <c:dLbls>
          <c:dLblPos val="ctr"/>
          <c:showLegendKey val="0"/>
          <c:showVal val="1"/>
          <c:showCatName val="0"/>
          <c:showSerName val="0"/>
          <c:showPercent val="0"/>
          <c:showBubbleSize val="0"/>
        </c:dLbls>
        <c:gapWidth val="104"/>
        <c:overlap val="100"/>
        <c:axId val="2125930984"/>
        <c:axId val="2125933728"/>
      </c:barChart>
      <c:catAx>
        <c:axId val="21259309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sz="700" b="1"/>
            </a:pPr>
            <a:endParaRPr lang="en-US"/>
          </a:p>
        </c:txPr>
        <c:crossAx val="2125933728"/>
        <c:crosses val="autoZero"/>
        <c:auto val="1"/>
        <c:lblAlgn val="ctr"/>
        <c:lblOffset val="100"/>
        <c:noMultiLvlLbl val="0"/>
      </c:catAx>
      <c:valAx>
        <c:axId val="2125933728"/>
        <c:scaling>
          <c:orientation val="minMax"/>
          <c:max val="11"/>
          <c:min val="0"/>
        </c:scaling>
        <c:delete val="1"/>
        <c:axPos val="b"/>
        <c:numFmt formatCode="General" sourceLinked="1"/>
        <c:majorTickMark val="none"/>
        <c:minorTickMark val="none"/>
        <c:tickLblPos val="nextTo"/>
        <c:crossAx val="2125930984"/>
        <c:crosses val="autoZero"/>
        <c:crossBetween val="between"/>
        <c:majorUnit val="2"/>
      </c:valAx>
      <c:spPr>
        <a:noFill/>
        <a:ln>
          <a:noFill/>
        </a:ln>
        <a:effectLst/>
      </c:spPr>
    </c:plotArea>
    <c:legend>
      <c:legendPos val="b"/>
      <c:layout>
        <c:manualLayout>
          <c:xMode val="edge"/>
          <c:yMode val="edge"/>
          <c:x val="0"/>
          <c:y val="0.87724254780254718"/>
          <c:w val="1"/>
          <c:h val="0.12275745219745275"/>
        </c:manualLayout>
      </c:layout>
      <c:overlay val="0"/>
      <c:spPr>
        <a:noFill/>
        <a:ln>
          <a:noFill/>
        </a:ln>
        <a:effectLst/>
      </c:spPr>
      <c:txPr>
        <a:bodyPr rot="0" vert="horz"/>
        <a:lstStyle/>
        <a:p>
          <a:pPr>
            <a:defRPr sz="1000" b="0"/>
          </a:pPr>
          <a:endParaRPr lang="en-US"/>
        </a:p>
      </c:txPr>
    </c:legend>
    <c:plotVisOnly val="1"/>
    <c:dispBlanksAs val="gap"/>
    <c:showDLblsOverMax val="0"/>
  </c:chart>
  <c:spPr>
    <a:noFill/>
    <a:ln>
      <a:noFill/>
    </a:ln>
    <a:effectLst/>
  </c:spPr>
  <c:txPr>
    <a:bodyPr/>
    <a:lstStyle/>
    <a:p>
      <a:pPr>
        <a:defRPr sz="11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31232430423064"/>
          <c:y val="9.4163713402336327E-2"/>
          <c:w val="0.7529342588829333"/>
          <c:h val="0.68014612771808858"/>
        </c:manualLayout>
      </c:layout>
      <c:barChart>
        <c:barDir val="bar"/>
        <c:grouping val="stacked"/>
        <c:varyColors val="0"/>
        <c:ser>
          <c:idx val="1"/>
          <c:order val="0"/>
          <c:tx>
            <c:strRef>
              <c:f>Sheet1!$C$1</c:f>
              <c:strCache>
                <c:ptCount val="1"/>
                <c:pt idx="0">
                  <c:v>Reforms &amp; Restructuring</c:v>
                </c:pt>
              </c:strCache>
            </c:strRef>
          </c:tx>
          <c:spPr>
            <a:solidFill>
              <a:srgbClr val="6FC2B4"/>
            </a:solidFill>
            <a:ln>
              <a:noFill/>
            </a:ln>
            <a:effectLst/>
          </c:spPr>
          <c:invertIfNegative val="0"/>
          <c:dLbls>
            <c:numFmt formatCode="#,##0" sourceLinked="0"/>
            <c:spPr>
              <a:noFill/>
              <a:ln>
                <a:noFill/>
              </a:ln>
              <a:effectLst/>
            </c:spPr>
            <c:txPr>
              <a:bodyPr rot="0" vert="horz"/>
              <a:lstStyle/>
              <a:p>
                <a:pPr>
                  <a:defRPr sz="1000"/>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International</c:v>
                </c:pt>
                <c:pt idx="1">
                  <c:v>Other Indian State</c:v>
                </c:pt>
                <c:pt idx="2">
                  <c:v>West Bengal</c:v>
                </c:pt>
              </c:strCache>
            </c:strRef>
          </c:cat>
          <c:val>
            <c:numRef>
              <c:f>Sheet1!$C$2:$C$4</c:f>
              <c:numCache>
                <c:formatCode>General</c:formatCode>
                <c:ptCount val="3"/>
                <c:pt idx="0">
                  <c:v>3</c:v>
                </c:pt>
                <c:pt idx="1">
                  <c:v>4</c:v>
                </c:pt>
                <c:pt idx="2">
                  <c:v>1</c:v>
                </c:pt>
              </c:numCache>
            </c:numRef>
          </c:val>
          <c:extLst>
            <c:ext xmlns:c16="http://schemas.microsoft.com/office/drawing/2014/chart" uri="{C3380CC4-5D6E-409C-BE32-E72D297353CC}">
              <c16:uniqueId val="{00000000-E01E-40D5-A526-49073F3D7779}"/>
            </c:ext>
          </c:extLst>
        </c:ser>
        <c:ser>
          <c:idx val="2"/>
          <c:order val="1"/>
          <c:tx>
            <c:strRef>
              <c:f>Sheet1!$D$1</c:f>
              <c:strCache>
                <c:ptCount val="1"/>
                <c:pt idx="0">
                  <c:v>EV/RE/BESS/RE Integration</c:v>
                </c:pt>
              </c:strCache>
            </c:strRef>
          </c:tx>
          <c:spPr>
            <a:solidFill>
              <a:schemeClr val="accent3"/>
            </a:solidFill>
            <a:ln>
              <a:noFill/>
            </a:ln>
            <a:effectLst/>
          </c:spPr>
          <c:invertIfNegative val="0"/>
          <c:dLbls>
            <c:numFmt formatCode="#,##0" sourceLinked="0"/>
            <c:spPr>
              <a:noFill/>
              <a:ln>
                <a:noFill/>
              </a:ln>
              <a:effectLst/>
            </c:spPr>
            <c:txPr>
              <a:bodyPr rot="0" vert="horz"/>
              <a:lstStyle/>
              <a:p>
                <a:pPr>
                  <a:defRPr sz="1000"/>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International</c:v>
                </c:pt>
                <c:pt idx="1">
                  <c:v>Other Indian State</c:v>
                </c:pt>
                <c:pt idx="2">
                  <c:v>West Bengal</c:v>
                </c:pt>
              </c:strCache>
            </c:strRef>
          </c:cat>
          <c:val>
            <c:numRef>
              <c:f>Sheet1!$D$2:$D$4</c:f>
              <c:numCache>
                <c:formatCode>General</c:formatCode>
                <c:ptCount val="3"/>
                <c:pt idx="1">
                  <c:v>2</c:v>
                </c:pt>
                <c:pt idx="2">
                  <c:v>1</c:v>
                </c:pt>
              </c:numCache>
            </c:numRef>
          </c:val>
          <c:extLst>
            <c:ext xmlns:c16="http://schemas.microsoft.com/office/drawing/2014/chart" uri="{C3380CC4-5D6E-409C-BE32-E72D297353CC}">
              <c16:uniqueId val="{00000001-E01E-40D5-A526-49073F3D7779}"/>
            </c:ext>
          </c:extLst>
        </c:ser>
        <c:ser>
          <c:idx val="3"/>
          <c:order val="2"/>
          <c:tx>
            <c:strRef>
              <c:f>Sheet1!$E$1</c:f>
              <c:strCache>
                <c:ptCount val="1"/>
                <c:pt idx="0">
                  <c:v>Roadmap &amp; Strategies</c:v>
                </c:pt>
              </c:strCache>
            </c:strRef>
          </c:tx>
          <c:invertIfNegative val="0"/>
          <c:dLbls>
            <c:spPr>
              <a:noFill/>
              <a:ln>
                <a:noFill/>
              </a:ln>
              <a:effectLst/>
            </c:spPr>
            <c:txPr>
              <a:bodyPr wrap="square" lIns="38100" tIns="19050" rIns="38100" bIns="19050" anchor="ctr">
                <a:spAutoFit/>
              </a:bodyPr>
              <a:lstStyle/>
              <a:p>
                <a:pPr>
                  <a:defRPr sz="1000">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International</c:v>
                </c:pt>
                <c:pt idx="1">
                  <c:v>Other Indian State</c:v>
                </c:pt>
                <c:pt idx="2">
                  <c:v>West Bengal</c:v>
                </c:pt>
              </c:strCache>
            </c:strRef>
          </c:cat>
          <c:val>
            <c:numRef>
              <c:f>Sheet1!$E$2:$E$4</c:f>
              <c:numCache>
                <c:formatCode>General</c:formatCode>
                <c:ptCount val="3"/>
                <c:pt idx="1">
                  <c:v>2</c:v>
                </c:pt>
                <c:pt idx="2">
                  <c:v>1</c:v>
                </c:pt>
              </c:numCache>
            </c:numRef>
          </c:val>
          <c:extLst>
            <c:ext xmlns:c16="http://schemas.microsoft.com/office/drawing/2014/chart" uri="{C3380CC4-5D6E-409C-BE32-E72D297353CC}">
              <c16:uniqueId val="{00000002-E01E-40D5-A526-49073F3D7779}"/>
            </c:ext>
          </c:extLst>
        </c:ser>
        <c:dLbls>
          <c:dLblPos val="ctr"/>
          <c:showLegendKey val="0"/>
          <c:showVal val="1"/>
          <c:showCatName val="0"/>
          <c:showSerName val="0"/>
          <c:showPercent val="0"/>
          <c:showBubbleSize val="0"/>
        </c:dLbls>
        <c:gapWidth val="104"/>
        <c:overlap val="100"/>
        <c:axId val="2125930984"/>
        <c:axId val="2125933728"/>
      </c:barChart>
      <c:catAx>
        <c:axId val="21259309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sz="700" b="1"/>
            </a:pPr>
            <a:endParaRPr lang="en-US"/>
          </a:p>
        </c:txPr>
        <c:crossAx val="2125933728"/>
        <c:crosses val="autoZero"/>
        <c:auto val="1"/>
        <c:lblAlgn val="ctr"/>
        <c:lblOffset val="100"/>
        <c:noMultiLvlLbl val="0"/>
      </c:catAx>
      <c:valAx>
        <c:axId val="2125933728"/>
        <c:scaling>
          <c:orientation val="minMax"/>
          <c:max val="9"/>
          <c:min val="0"/>
        </c:scaling>
        <c:delete val="1"/>
        <c:axPos val="b"/>
        <c:numFmt formatCode="General" sourceLinked="1"/>
        <c:majorTickMark val="none"/>
        <c:minorTickMark val="none"/>
        <c:tickLblPos val="nextTo"/>
        <c:crossAx val="2125930984"/>
        <c:crosses val="autoZero"/>
        <c:crossBetween val="between"/>
        <c:majorUnit val="2"/>
      </c:valAx>
      <c:spPr>
        <a:noFill/>
        <a:ln>
          <a:noFill/>
        </a:ln>
        <a:effectLst/>
      </c:spPr>
    </c:plotArea>
    <c:plotVisOnly val="1"/>
    <c:dispBlanksAs val="gap"/>
    <c:showDLblsOverMax val="0"/>
  </c:chart>
  <c:spPr>
    <a:noFill/>
    <a:ln>
      <a:noFill/>
    </a:ln>
    <a:effectLst/>
  </c:spPr>
  <c:txPr>
    <a:bodyPr/>
    <a:lstStyle/>
    <a:p>
      <a:pPr>
        <a:defRPr sz="11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785865866583468"/>
          <c:y val="9.4163713402336327E-2"/>
          <c:w val="0.7425512889339293"/>
          <c:h val="0.66716895349676353"/>
        </c:manualLayout>
      </c:layout>
      <c:barChart>
        <c:barDir val="bar"/>
        <c:grouping val="stacked"/>
        <c:varyColors val="0"/>
        <c:ser>
          <c:idx val="1"/>
          <c:order val="0"/>
          <c:tx>
            <c:strRef>
              <c:f>Sheet1!$C$1</c:f>
              <c:strCache>
                <c:ptCount val="1"/>
                <c:pt idx="0">
                  <c:v>Reforms &amp; Restructuring</c:v>
                </c:pt>
              </c:strCache>
            </c:strRef>
          </c:tx>
          <c:spPr>
            <a:solidFill>
              <a:srgbClr val="6FC2B4"/>
            </a:solidFill>
            <a:ln>
              <a:noFill/>
            </a:ln>
            <a:effectLst/>
          </c:spPr>
          <c:invertIfNegative val="0"/>
          <c:dLbls>
            <c:numFmt formatCode="#,##0" sourceLinked="0"/>
            <c:spPr>
              <a:noFill/>
              <a:ln>
                <a:noFill/>
              </a:ln>
              <a:effectLst/>
            </c:spPr>
            <c:txPr>
              <a:bodyPr rot="0" vert="horz"/>
              <a:lstStyle/>
              <a:p>
                <a:pPr>
                  <a:defRPr sz="1000"/>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International</c:v>
                </c:pt>
                <c:pt idx="1">
                  <c:v>Other Indian State</c:v>
                </c:pt>
                <c:pt idx="2">
                  <c:v>West Bengal</c:v>
                </c:pt>
              </c:strCache>
            </c:strRef>
          </c:cat>
          <c:val>
            <c:numRef>
              <c:f>Sheet1!$C$2:$C$4</c:f>
              <c:numCache>
                <c:formatCode>General</c:formatCode>
                <c:ptCount val="3"/>
                <c:pt idx="1">
                  <c:v>1</c:v>
                </c:pt>
              </c:numCache>
            </c:numRef>
          </c:val>
          <c:extLst>
            <c:ext xmlns:c16="http://schemas.microsoft.com/office/drawing/2014/chart" uri="{C3380CC4-5D6E-409C-BE32-E72D297353CC}">
              <c16:uniqueId val="{00000000-CAD2-4DDA-8E4A-CEF11FCC60DC}"/>
            </c:ext>
          </c:extLst>
        </c:ser>
        <c:ser>
          <c:idx val="2"/>
          <c:order val="1"/>
          <c:tx>
            <c:strRef>
              <c:f>Sheet1!$D$1</c:f>
              <c:strCache>
                <c:ptCount val="1"/>
                <c:pt idx="0">
                  <c:v>EV/RE/BESS/RE Integration</c:v>
                </c:pt>
              </c:strCache>
            </c:strRef>
          </c:tx>
          <c:spPr>
            <a:solidFill>
              <a:schemeClr val="accent3"/>
            </a:solidFill>
            <a:ln>
              <a:noFill/>
            </a:ln>
            <a:effectLst/>
          </c:spPr>
          <c:invertIfNegative val="0"/>
          <c:dLbls>
            <c:numFmt formatCode="#,##0" sourceLinked="0"/>
            <c:spPr>
              <a:noFill/>
              <a:ln>
                <a:noFill/>
              </a:ln>
              <a:effectLst/>
            </c:spPr>
            <c:txPr>
              <a:bodyPr rot="0" vert="horz"/>
              <a:lstStyle/>
              <a:p>
                <a:pPr>
                  <a:defRPr sz="1000"/>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International</c:v>
                </c:pt>
                <c:pt idx="1">
                  <c:v>Other Indian State</c:v>
                </c:pt>
                <c:pt idx="2">
                  <c:v>West Bengal</c:v>
                </c:pt>
              </c:strCache>
            </c:strRef>
          </c:cat>
          <c:val>
            <c:numRef>
              <c:f>Sheet1!$D$2:$D$4</c:f>
              <c:numCache>
                <c:formatCode>General</c:formatCode>
                <c:ptCount val="3"/>
                <c:pt idx="0">
                  <c:v>1</c:v>
                </c:pt>
                <c:pt idx="1">
                  <c:v>3</c:v>
                </c:pt>
              </c:numCache>
            </c:numRef>
          </c:val>
          <c:extLst>
            <c:ext xmlns:c16="http://schemas.microsoft.com/office/drawing/2014/chart" uri="{C3380CC4-5D6E-409C-BE32-E72D297353CC}">
              <c16:uniqueId val="{00000001-CAD2-4DDA-8E4A-CEF11FCC60DC}"/>
            </c:ext>
          </c:extLst>
        </c:ser>
        <c:ser>
          <c:idx val="3"/>
          <c:order val="2"/>
          <c:tx>
            <c:strRef>
              <c:f>Sheet1!$E$1</c:f>
              <c:strCache>
                <c:ptCount val="1"/>
                <c:pt idx="0">
                  <c:v>Roadmap &amp; Strategies</c:v>
                </c:pt>
              </c:strCache>
            </c:strRef>
          </c:tx>
          <c:invertIfNegative val="0"/>
          <c:dLbls>
            <c:spPr>
              <a:noFill/>
              <a:ln>
                <a:noFill/>
              </a:ln>
              <a:effectLst/>
            </c:spPr>
            <c:txPr>
              <a:bodyPr wrap="square" lIns="38100" tIns="19050" rIns="38100" bIns="19050" anchor="ctr">
                <a:spAutoFit/>
              </a:bodyPr>
              <a:lstStyle/>
              <a:p>
                <a:pPr>
                  <a:defRPr sz="1000">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International</c:v>
                </c:pt>
                <c:pt idx="1">
                  <c:v>Other Indian State</c:v>
                </c:pt>
                <c:pt idx="2">
                  <c:v>West Bengal</c:v>
                </c:pt>
              </c:strCache>
            </c:strRef>
          </c:cat>
          <c:val>
            <c:numRef>
              <c:f>Sheet1!$E$2:$E$4</c:f>
              <c:numCache>
                <c:formatCode>General</c:formatCode>
                <c:ptCount val="3"/>
                <c:pt idx="0">
                  <c:v>1</c:v>
                </c:pt>
                <c:pt idx="1">
                  <c:v>2</c:v>
                </c:pt>
                <c:pt idx="2">
                  <c:v>1</c:v>
                </c:pt>
              </c:numCache>
            </c:numRef>
          </c:val>
          <c:extLst>
            <c:ext xmlns:c16="http://schemas.microsoft.com/office/drawing/2014/chart" uri="{C3380CC4-5D6E-409C-BE32-E72D297353CC}">
              <c16:uniqueId val="{00000002-CAD2-4DDA-8E4A-CEF11FCC60DC}"/>
            </c:ext>
          </c:extLst>
        </c:ser>
        <c:dLbls>
          <c:dLblPos val="ctr"/>
          <c:showLegendKey val="0"/>
          <c:showVal val="1"/>
          <c:showCatName val="0"/>
          <c:showSerName val="0"/>
          <c:showPercent val="0"/>
          <c:showBubbleSize val="0"/>
        </c:dLbls>
        <c:gapWidth val="104"/>
        <c:overlap val="100"/>
        <c:axId val="2125930984"/>
        <c:axId val="2125933728"/>
      </c:barChart>
      <c:catAx>
        <c:axId val="21259309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sz="700" b="1"/>
            </a:pPr>
            <a:endParaRPr lang="en-US"/>
          </a:p>
        </c:txPr>
        <c:crossAx val="2125933728"/>
        <c:crosses val="autoZero"/>
        <c:auto val="1"/>
        <c:lblAlgn val="ctr"/>
        <c:lblOffset val="100"/>
        <c:noMultiLvlLbl val="0"/>
      </c:catAx>
      <c:valAx>
        <c:axId val="2125933728"/>
        <c:scaling>
          <c:orientation val="minMax"/>
          <c:max val="8"/>
          <c:min val="0"/>
        </c:scaling>
        <c:delete val="1"/>
        <c:axPos val="b"/>
        <c:numFmt formatCode="General" sourceLinked="1"/>
        <c:majorTickMark val="none"/>
        <c:minorTickMark val="none"/>
        <c:tickLblPos val="nextTo"/>
        <c:crossAx val="2125930984"/>
        <c:crosses val="autoZero"/>
        <c:crossBetween val="between"/>
      </c:valAx>
      <c:spPr>
        <a:noFill/>
        <a:ln>
          <a:noFill/>
        </a:ln>
        <a:effectLst/>
      </c:spPr>
    </c:plotArea>
    <c:plotVisOnly val="1"/>
    <c:dispBlanksAs val="gap"/>
    <c:showDLblsOverMax val="0"/>
  </c:chart>
  <c:spPr>
    <a:noFill/>
    <a:ln>
      <a:noFill/>
    </a:ln>
    <a:effectLst/>
  </c:spPr>
  <c:txPr>
    <a:bodyPr/>
    <a:lstStyle/>
    <a:p>
      <a:pPr>
        <a:defRPr sz="11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IN" sz="1200" b="1" i="0" baseline="0" dirty="0">
                <a:effectLst/>
              </a:rPr>
              <a:t>Cost Structure (Rs/kWh) in FY 2017-18</a:t>
            </a:r>
            <a:endParaRPr lang="en-IN" sz="1200" dirty="0">
              <a:effectLst/>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070028915207052E-2"/>
          <c:y val="0.10823976066323694"/>
          <c:w val="0.95859942169585899"/>
          <c:h val="0.72264044088090906"/>
        </c:manualLayout>
      </c:layout>
      <c:barChart>
        <c:barDir val="col"/>
        <c:grouping val="stacked"/>
        <c:varyColors val="0"/>
        <c:ser>
          <c:idx val="0"/>
          <c:order val="0"/>
          <c:tx>
            <c:strRef>
              <c:f>Sheet1!$B$1</c:f>
              <c:strCache>
                <c:ptCount val="1"/>
                <c:pt idx="0">
                  <c:v>Cost of Power
(including own
generation)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DGVCL</c:v>
                </c:pt>
                <c:pt idx="1">
                  <c:v>DHBVNL</c:v>
                </c:pt>
                <c:pt idx="2">
                  <c:v>BESCOM</c:v>
                </c:pt>
                <c:pt idx="3">
                  <c:v>MSEDCL</c:v>
                </c:pt>
                <c:pt idx="4">
                  <c:v>UPCL</c:v>
                </c:pt>
                <c:pt idx="5">
                  <c:v>PSPCL</c:v>
                </c:pt>
                <c:pt idx="6">
                  <c:v>WBSEDCL</c:v>
                </c:pt>
              </c:strCache>
            </c:strRef>
          </c:cat>
          <c:val>
            <c:numRef>
              <c:f>Sheet1!$B$2:$B$8</c:f>
              <c:numCache>
                <c:formatCode>0.00</c:formatCode>
                <c:ptCount val="7"/>
                <c:pt idx="0">
                  <c:v>5.96</c:v>
                </c:pt>
                <c:pt idx="1">
                  <c:v>5.66</c:v>
                </c:pt>
                <c:pt idx="2">
                  <c:v>5.82</c:v>
                </c:pt>
                <c:pt idx="3">
                  <c:v>5.19</c:v>
                </c:pt>
                <c:pt idx="4">
                  <c:v>4.4800000000000004</c:v>
                </c:pt>
                <c:pt idx="5">
                  <c:v>4.32</c:v>
                </c:pt>
                <c:pt idx="6">
                  <c:v>5.5</c:v>
                </c:pt>
              </c:numCache>
            </c:numRef>
          </c:val>
          <c:extLst>
            <c:ext xmlns:c16="http://schemas.microsoft.com/office/drawing/2014/chart" uri="{C3380CC4-5D6E-409C-BE32-E72D297353CC}">
              <c16:uniqueId val="{00000000-C6A6-4171-B3AF-286F4815543B}"/>
            </c:ext>
          </c:extLst>
        </c:ser>
        <c:ser>
          <c:idx val="1"/>
          <c:order val="1"/>
          <c:tx>
            <c:strRef>
              <c:f>Sheet1!$C$1</c:f>
              <c:strCache>
                <c:ptCount val="1"/>
                <c:pt idx="0">
                  <c:v>Other Costs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DGVCL</c:v>
                </c:pt>
                <c:pt idx="1">
                  <c:v>DHBVNL</c:v>
                </c:pt>
                <c:pt idx="2">
                  <c:v>BESCOM</c:v>
                </c:pt>
                <c:pt idx="3">
                  <c:v>MSEDCL</c:v>
                </c:pt>
                <c:pt idx="4">
                  <c:v>UPCL</c:v>
                </c:pt>
                <c:pt idx="5">
                  <c:v>PSPCL</c:v>
                </c:pt>
                <c:pt idx="6">
                  <c:v>WBSEDCL</c:v>
                </c:pt>
              </c:strCache>
            </c:strRef>
          </c:cat>
          <c:val>
            <c:numRef>
              <c:f>Sheet1!$C$2:$C$8</c:f>
              <c:numCache>
                <c:formatCode>0.00</c:formatCode>
                <c:ptCount val="7"/>
                <c:pt idx="0">
                  <c:v>0.73</c:v>
                </c:pt>
                <c:pt idx="1">
                  <c:v>1.02</c:v>
                </c:pt>
                <c:pt idx="2">
                  <c:v>0.99999999999999989</c:v>
                </c:pt>
                <c:pt idx="3">
                  <c:v>1.54</c:v>
                </c:pt>
                <c:pt idx="4">
                  <c:v>0.81</c:v>
                </c:pt>
                <c:pt idx="5">
                  <c:v>2.0999999999999996</c:v>
                </c:pt>
                <c:pt idx="6">
                  <c:v>1.6099999999999999</c:v>
                </c:pt>
              </c:numCache>
            </c:numRef>
          </c:val>
          <c:extLst>
            <c:ext xmlns:c16="http://schemas.microsoft.com/office/drawing/2014/chart" uri="{C3380CC4-5D6E-409C-BE32-E72D297353CC}">
              <c16:uniqueId val="{00000001-C6A6-4171-B3AF-286F4815543B}"/>
            </c:ext>
          </c:extLst>
        </c:ser>
        <c:dLbls>
          <c:showLegendKey val="0"/>
          <c:showVal val="0"/>
          <c:showCatName val="0"/>
          <c:showSerName val="0"/>
          <c:showPercent val="0"/>
          <c:showBubbleSize val="0"/>
        </c:dLbls>
        <c:gapWidth val="150"/>
        <c:overlap val="100"/>
        <c:axId val="448582543"/>
        <c:axId val="592830943"/>
      </c:barChart>
      <c:lineChart>
        <c:grouping val="standard"/>
        <c:varyColors val="0"/>
        <c:ser>
          <c:idx val="2"/>
          <c:order val="2"/>
          <c:tx>
            <c:strRef>
              <c:f>Sheet1!$D$1</c:f>
              <c:strCache>
                <c:ptCount val="1"/>
                <c:pt idx="0">
                  <c:v>ACS on energy sold basis</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DGVCL</c:v>
                </c:pt>
                <c:pt idx="1">
                  <c:v>DHBVNL</c:v>
                </c:pt>
                <c:pt idx="2">
                  <c:v>BESCOM</c:v>
                </c:pt>
                <c:pt idx="3">
                  <c:v>MSEDCL</c:v>
                </c:pt>
                <c:pt idx="4">
                  <c:v>UPCL</c:v>
                </c:pt>
                <c:pt idx="5">
                  <c:v>PSPCL</c:v>
                </c:pt>
                <c:pt idx="6">
                  <c:v>WBSEDCL</c:v>
                </c:pt>
              </c:strCache>
            </c:strRef>
          </c:cat>
          <c:val>
            <c:numRef>
              <c:f>Sheet1!$D$2:$D$8</c:f>
              <c:numCache>
                <c:formatCode>0.00</c:formatCode>
                <c:ptCount val="7"/>
                <c:pt idx="0">
                  <c:v>6.68</c:v>
                </c:pt>
                <c:pt idx="1">
                  <c:v>6.6899999999999995</c:v>
                </c:pt>
                <c:pt idx="2">
                  <c:v>6.82</c:v>
                </c:pt>
                <c:pt idx="3">
                  <c:v>6.7200000000000006</c:v>
                </c:pt>
                <c:pt idx="4">
                  <c:v>5.3000000000000007</c:v>
                </c:pt>
                <c:pt idx="5">
                  <c:v>6.42</c:v>
                </c:pt>
                <c:pt idx="6">
                  <c:v>7.09</c:v>
                </c:pt>
              </c:numCache>
            </c:numRef>
          </c:val>
          <c:smooth val="0"/>
          <c:extLst>
            <c:ext xmlns:c16="http://schemas.microsoft.com/office/drawing/2014/chart" uri="{C3380CC4-5D6E-409C-BE32-E72D297353CC}">
              <c16:uniqueId val="{00000002-C6A6-4171-B3AF-286F4815543B}"/>
            </c:ext>
          </c:extLst>
        </c:ser>
        <c:dLbls>
          <c:showLegendKey val="0"/>
          <c:showVal val="0"/>
          <c:showCatName val="0"/>
          <c:showSerName val="0"/>
          <c:showPercent val="0"/>
          <c:showBubbleSize val="0"/>
        </c:dLbls>
        <c:marker val="1"/>
        <c:smooth val="0"/>
        <c:axId val="571862031"/>
        <c:axId val="460425903"/>
      </c:lineChart>
      <c:catAx>
        <c:axId val="448582543"/>
        <c:scaling>
          <c:orientation val="minMax"/>
        </c:scaling>
        <c:delete val="1"/>
        <c:axPos val="b"/>
        <c:numFmt formatCode="General" sourceLinked="1"/>
        <c:majorTickMark val="out"/>
        <c:minorTickMark val="none"/>
        <c:tickLblPos val="nextTo"/>
        <c:crossAx val="592830943"/>
        <c:crosses val="autoZero"/>
        <c:auto val="1"/>
        <c:lblAlgn val="ctr"/>
        <c:lblOffset val="100"/>
        <c:noMultiLvlLbl val="0"/>
      </c:catAx>
      <c:valAx>
        <c:axId val="592830943"/>
        <c:scaling>
          <c:orientation val="minMax"/>
        </c:scaling>
        <c:delete val="1"/>
        <c:axPos val="l"/>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crossAx val="448582543"/>
        <c:crosses val="autoZero"/>
        <c:crossBetween val="between"/>
      </c:valAx>
      <c:valAx>
        <c:axId val="460425903"/>
        <c:scaling>
          <c:orientation val="minMax"/>
        </c:scaling>
        <c:delete val="1"/>
        <c:axPos val="r"/>
        <c:numFmt formatCode="0.00" sourceLinked="1"/>
        <c:majorTickMark val="out"/>
        <c:minorTickMark val="none"/>
        <c:tickLblPos val="nextTo"/>
        <c:crossAx val="571862031"/>
        <c:crosses val="max"/>
        <c:crossBetween val="between"/>
      </c:valAx>
      <c:catAx>
        <c:axId val="571862031"/>
        <c:scaling>
          <c:orientation val="minMax"/>
        </c:scaling>
        <c:delete val="1"/>
        <c:axPos val="t"/>
        <c:numFmt formatCode="General" sourceLinked="1"/>
        <c:majorTickMark val="out"/>
        <c:minorTickMark val="none"/>
        <c:tickLblPos val="nextTo"/>
        <c:crossAx val="460425903"/>
        <c:crosses val="max"/>
        <c:auto val="1"/>
        <c:lblAlgn val="ctr"/>
        <c:lblOffset val="100"/>
        <c:noMultiLvlLbl val="0"/>
      </c:catAx>
      <c:spPr>
        <a:noFill/>
        <a:ln>
          <a:noFill/>
        </a:ln>
        <a:effectLst/>
      </c:spPr>
    </c:plotArea>
    <c:legend>
      <c:legendPos val="b"/>
      <c:layout>
        <c:manualLayout>
          <c:xMode val="edge"/>
          <c:yMode val="edge"/>
          <c:x val="8.9618542666309621E-3"/>
          <c:y val="0.81910862936571616"/>
          <c:w val="0.96404036857512532"/>
          <c:h val="0.16127208367023407"/>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IN" sz="1200" b="1" i="0" baseline="0" dirty="0">
                <a:effectLst/>
              </a:rPr>
              <a:t>Cost Structure (Rs/kWh) in FY 2018-19</a:t>
            </a:r>
            <a:endParaRPr lang="en-IN" sz="1200" dirty="0">
              <a:effectLst/>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3481456569094917E-2"/>
          <c:y val="0.11260090239067129"/>
          <c:w val="0.94769805486280456"/>
          <c:h val="0.71564070053846229"/>
        </c:manualLayout>
      </c:layout>
      <c:barChart>
        <c:barDir val="col"/>
        <c:grouping val="stacked"/>
        <c:varyColors val="0"/>
        <c:ser>
          <c:idx val="0"/>
          <c:order val="0"/>
          <c:tx>
            <c:strRef>
              <c:f>Sheet1!$B$1</c:f>
              <c:strCache>
                <c:ptCount val="1"/>
                <c:pt idx="0">
                  <c:v>Cost of Power
(including own
generation)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DGVCL</c:v>
                </c:pt>
                <c:pt idx="1">
                  <c:v>DHBVNL</c:v>
                </c:pt>
                <c:pt idx="2">
                  <c:v>BESCOM</c:v>
                </c:pt>
                <c:pt idx="3">
                  <c:v>MSEDCL</c:v>
                </c:pt>
                <c:pt idx="4">
                  <c:v>UPCL</c:v>
                </c:pt>
                <c:pt idx="5">
                  <c:v>PSPCL</c:v>
                </c:pt>
                <c:pt idx="6">
                  <c:v>WBSEDCL</c:v>
                </c:pt>
              </c:strCache>
            </c:strRef>
          </c:cat>
          <c:val>
            <c:numRef>
              <c:f>Sheet1!$B$2:$B$8</c:f>
              <c:numCache>
                <c:formatCode>0.00</c:formatCode>
                <c:ptCount val="7"/>
                <c:pt idx="0">
                  <c:v>6.35</c:v>
                </c:pt>
                <c:pt idx="1">
                  <c:v>5.72</c:v>
                </c:pt>
                <c:pt idx="2">
                  <c:v>6.75</c:v>
                </c:pt>
                <c:pt idx="3">
                  <c:v>5.68</c:v>
                </c:pt>
                <c:pt idx="4">
                  <c:v>4.8099999999999996</c:v>
                </c:pt>
                <c:pt idx="5">
                  <c:v>4.8899999999999997</c:v>
                </c:pt>
                <c:pt idx="6">
                  <c:v>5.76</c:v>
                </c:pt>
              </c:numCache>
            </c:numRef>
          </c:val>
          <c:extLst>
            <c:ext xmlns:c16="http://schemas.microsoft.com/office/drawing/2014/chart" uri="{C3380CC4-5D6E-409C-BE32-E72D297353CC}">
              <c16:uniqueId val="{00000000-CF92-4173-89A5-CFBB68272825}"/>
            </c:ext>
          </c:extLst>
        </c:ser>
        <c:ser>
          <c:idx val="1"/>
          <c:order val="1"/>
          <c:tx>
            <c:strRef>
              <c:f>Sheet1!$C$1</c:f>
              <c:strCache>
                <c:ptCount val="1"/>
                <c:pt idx="0">
                  <c:v>Other Costs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DGVCL</c:v>
                </c:pt>
                <c:pt idx="1">
                  <c:v>DHBVNL</c:v>
                </c:pt>
                <c:pt idx="2">
                  <c:v>BESCOM</c:v>
                </c:pt>
                <c:pt idx="3">
                  <c:v>MSEDCL</c:v>
                </c:pt>
                <c:pt idx="4">
                  <c:v>UPCL</c:v>
                </c:pt>
                <c:pt idx="5">
                  <c:v>PSPCL</c:v>
                </c:pt>
                <c:pt idx="6">
                  <c:v>WBSEDCL</c:v>
                </c:pt>
              </c:strCache>
            </c:strRef>
          </c:cat>
          <c:val>
            <c:numRef>
              <c:f>Sheet1!$C$2:$C$8</c:f>
              <c:numCache>
                <c:formatCode>0.00</c:formatCode>
                <c:ptCount val="7"/>
                <c:pt idx="0">
                  <c:v>0.46</c:v>
                </c:pt>
                <c:pt idx="1">
                  <c:v>0.79999999999999993</c:v>
                </c:pt>
                <c:pt idx="2">
                  <c:v>1.1399999999999999</c:v>
                </c:pt>
                <c:pt idx="3">
                  <c:v>1.81</c:v>
                </c:pt>
                <c:pt idx="4">
                  <c:v>0.83000000000000007</c:v>
                </c:pt>
                <c:pt idx="5">
                  <c:v>2.02</c:v>
                </c:pt>
                <c:pt idx="6">
                  <c:v>1.46</c:v>
                </c:pt>
              </c:numCache>
            </c:numRef>
          </c:val>
          <c:extLst>
            <c:ext xmlns:c16="http://schemas.microsoft.com/office/drawing/2014/chart" uri="{C3380CC4-5D6E-409C-BE32-E72D297353CC}">
              <c16:uniqueId val="{00000001-CF92-4173-89A5-CFBB68272825}"/>
            </c:ext>
          </c:extLst>
        </c:ser>
        <c:dLbls>
          <c:showLegendKey val="0"/>
          <c:showVal val="0"/>
          <c:showCatName val="0"/>
          <c:showSerName val="0"/>
          <c:showPercent val="0"/>
          <c:showBubbleSize val="0"/>
        </c:dLbls>
        <c:gapWidth val="150"/>
        <c:overlap val="100"/>
        <c:axId val="448582543"/>
        <c:axId val="592830943"/>
      </c:barChart>
      <c:lineChart>
        <c:grouping val="standard"/>
        <c:varyColors val="0"/>
        <c:ser>
          <c:idx val="2"/>
          <c:order val="2"/>
          <c:tx>
            <c:strRef>
              <c:f>Sheet1!$D$1</c:f>
              <c:strCache>
                <c:ptCount val="1"/>
                <c:pt idx="0">
                  <c:v>ACS on energy sold basis</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DGVCL</c:v>
                </c:pt>
                <c:pt idx="1">
                  <c:v>DHBVNL</c:v>
                </c:pt>
                <c:pt idx="2">
                  <c:v>BESCOM</c:v>
                </c:pt>
                <c:pt idx="3">
                  <c:v>MSEDCL</c:v>
                </c:pt>
                <c:pt idx="4">
                  <c:v>UPCL</c:v>
                </c:pt>
                <c:pt idx="5">
                  <c:v>PSPCL</c:v>
                </c:pt>
                <c:pt idx="6">
                  <c:v>WBSEDCL</c:v>
                </c:pt>
              </c:strCache>
            </c:strRef>
          </c:cat>
          <c:val>
            <c:numRef>
              <c:f>Sheet1!$D$2:$D$8</c:f>
              <c:numCache>
                <c:formatCode>0.00</c:formatCode>
                <c:ptCount val="7"/>
                <c:pt idx="0">
                  <c:v>6.81</c:v>
                </c:pt>
                <c:pt idx="1">
                  <c:v>6.51</c:v>
                </c:pt>
                <c:pt idx="2">
                  <c:v>7.89</c:v>
                </c:pt>
                <c:pt idx="3">
                  <c:v>7.51</c:v>
                </c:pt>
                <c:pt idx="4">
                  <c:v>5.64</c:v>
                </c:pt>
                <c:pt idx="5">
                  <c:v>6.91</c:v>
                </c:pt>
                <c:pt idx="6">
                  <c:v>7.22</c:v>
                </c:pt>
              </c:numCache>
            </c:numRef>
          </c:val>
          <c:smooth val="0"/>
          <c:extLst>
            <c:ext xmlns:c16="http://schemas.microsoft.com/office/drawing/2014/chart" uri="{C3380CC4-5D6E-409C-BE32-E72D297353CC}">
              <c16:uniqueId val="{00000002-CF92-4173-89A5-CFBB68272825}"/>
            </c:ext>
          </c:extLst>
        </c:ser>
        <c:dLbls>
          <c:showLegendKey val="0"/>
          <c:showVal val="0"/>
          <c:showCatName val="0"/>
          <c:showSerName val="0"/>
          <c:showPercent val="0"/>
          <c:showBubbleSize val="0"/>
        </c:dLbls>
        <c:marker val="1"/>
        <c:smooth val="0"/>
        <c:axId val="571862031"/>
        <c:axId val="460425903"/>
      </c:lineChart>
      <c:catAx>
        <c:axId val="448582543"/>
        <c:scaling>
          <c:orientation val="minMax"/>
        </c:scaling>
        <c:delete val="1"/>
        <c:axPos val="b"/>
        <c:numFmt formatCode="General" sourceLinked="1"/>
        <c:majorTickMark val="out"/>
        <c:minorTickMark val="none"/>
        <c:tickLblPos val="nextTo"/>
        <c:crossAx val="592830943"/>
        <c:crosses val="autoZero"/>
        <c:auto val="1"/>
        <c:lblAlgn val="ctr"/>
        <c:lblOffset val="100"/>
        <c:noMultiLvlLbl val="0"/>
      </c:catAx>
      <c:valAx>
        <c:axId val="592830943"/>
        <c:scaling>
          <c:orientation val="minMax"/>
        </c:scaling>
        <c:delete val="1"/>
        <c:axPos val="l"/>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crossAx val="448582543"/>
        <c:crosses val="autoZero"/>
        <c:crossBetween val="between"/>
        <c:majorUnit val="1"/>
      </c:valAx>
      <c:valAx>
        <c:axId val="460425903"/>
        <c:scaling>
          <c:orientation val="minMax"/>
        </c:scaling>
        <c:delete val="1"/>
        <c:axPos val="r"/>
        <c:numFmt formatCode="0.00" sourceLinked="1"/>
        <c:majorTickMark val="out"/>
        <c:minorTickMark val="none"/>
        <c:tickLblPos val="nextTo"/>
        <c:crossAx val="571862031"/>
        <c:crosses val="max"/>
        <c:crossBetween val="between"/>
        <c:majorUnit val="1"/>
      </c:valAx>
      <c:catAx>
        <c:axId val="571862031"/>
        <c:scaling>
          <c:orientation val="minMax"/>
        </c:scaling>
        <c:delete val="1"/>
        <c:axPos val="t"/>
        <c:numFmt formatCode="General" sourceLinked="1"/>
        <c:majorTickMark val="out"/>
        <c:minorTickMark val="none"/>
        <c:tickLblPos val="nextTo"/>
        <c:crossAx val="460425903"/>
        <c:crosses val="max"/>
        <c:auto val="1"/>
        <c:lblAlgn val="ctr"/>
        <c:lblOffset val="100"/>
        <c:noMultiLvlLbl val="0"/>
      </c:catAx>
      <c:spPr>
        <a:noFill/>
        <a:ln>
          <a:noFill/>
        </a:ln>
        <a:effectLst/>
      </c:spPr>
    </c:plotArea>
    <c:legend>
      <c:legendPos val="b"/>
      <c:layout>
        <c:manualLayout>
          <c:xMode val="edge"/>
          <c:yMode val="edge"/>
          <c:x val="3.4717069514582808E-3"/>
          <c:y val="0.83467248024637097"/>
          <c:w val="0.9893396775147083"/>
          <c:h val="0.16499426125063632"/>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1" i="0" u="none" strike="noStrike" kern="1200" spc="0" baseline="0">
                <a:solidFill>
                  <a:schemeClr val="tx1"/>
                </a:solidFill>
                <a:latin typeface="+mn-lt"/>
                <a:ea typeface="+mn-ea"/>
                <a:cs typeface="+mn-cs"/>
              </a:defRPr>
            </a:pPr>
            <a:r>
              <a:rPr lang="en-US" sz="1100" b="1"/>
              <a:t>Consumer mix of WBSEDCL as on FY 2017-18</a:t>
            </a:r>
          </a:p>
        </c:rich>
      </c:tx>
      <c:layout>
        <c:manualLayout>
          <c:xMode val="edge"/>
          <c:yMode val="edge"/>
          <c:x val="0.10866569347370902"/>
          <c:y val="0"/>
        </c:manualLayout>
      </c:layout>
      <c:overlay val="0"/>
      <c:spPr>
        <a:noFill/>
        <a:ln>
          <a:noFill/>
        </a:ln>
        <a:effectLst/>
      </c:spPr>
      <c:txPr>
        <a:bodyPr rot="0" spcFirstLastPara="1" vertOverflow="ellipsis" vert="horz" wrap="square" anchor="ctr" anchorCtr="1"/>
        <a:lstStyle/>
        <a:p>
          <a:pPr>
            <a:defRPr sz="11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31846397711522023"/>
          <c:y val="0.1424178926647327"/>
          <c:w val="0.42112448022648852"/>
          <c:h val="0.73973839618731874"/>
        </c:manualLayout>
      </c:layout>
      <c:pieChart>
        <c:varyColors val="1"/>
        <c:ser>
          <c:idx val="0"/>
          <c:order val="0"/>
          <c:tx>
            <c:strRef>
              <c:f>Sheet1!$B$1</c:f>
              <c:strCache>
                <c:ptCount val="1"/>
                <c:pt idx="0">
                  <c:v>Consumer mix of WBSEDCL as on FY 2017-18</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063-4460-B78A-FBC2F3B237C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063-4460-B78A-FBC2F3B237C7}"/>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063-4460-B78A-FBC2F3B237C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2063-4460-B78A-FBC2F3B237C7}"/>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2063-4460-B78A-FBC2F3B237C7}"/>
              </c:ext>
            </c:extLst>
          </c:dPt>
          <c:dLbls>
            <c:dLbl>
              <c:idx val="0"/>
              <c:layout>
                <c:manualLayout>
                  <c:x val="0.16050227088012767"/>
                  <c:y val="6.119962890237543E-2"/>
                </c:manualLayout>
              </c:layout>
              <c:showLegendKey val="0"/>
              <c:showVal val="1"/>
              <c:showCatName val="1"/>
              <c:showSerName val="0"/>
              <c:showPercent val="0"/>
              <c:showBubbleSize val="0"/>
              <c:extLst>
                <c:ext xmlns:c15="http://schemas.microsoft.com/office/drawing/2012/chart" uri="{CE6537A1-D6FC-4f65-9D91-7224C49458BB}">
                  <c15:layout>
                    <c:manualLayout>
                      <c:w val="0.25643332936737134"/>
                      <c:h val="6.6118421052631562E-2"/>
                    </c:manualLayout>
                  </c15:layout>
                </c:ext>
                <c:ext xmlns:c16="http://schemas.microsoft.com/office/drawing/2014/chart" uri="{C3380CC4-5D6E-409C-BE32-E72D297353CC}">
                  <c16:uniqueId val="{00000001-2063-4460-B78A-FBC2F3B237C7}"/>
                </c:ext>
              </c:extLst>
            </c:dLbl>
            <c:dLbl>
              <c:idx val="1"/>
              <c:layout>
                <c:manualLayout>
                  <c:x val="6.019262966317953E-2"/>
                  <c:y val="0.10272993540636417"/>
                </c:manualLayout>
              </c:layout>
              <c:showLegendKey val="0"/>
              <c:showVal val="1"/>
              <c:showCatName val="1"/>
              <c:showSerName val="0"/>
              <c:showPercent val="0"/>
              <c:showBubbleSize val="0"/>
              <c:extLst>
                <c:ext xmlns:c15="http://schemas.microsoft.com/office/drawing/2012/chart" uri="{CE6537A1-D6FC-4f65-9D91-7224C49458BB}">
                  <c15:layout>
                    <c:manualLayout>
                      <c:w val="0.25009047189739408"/>
                      <c:h val="6.6118421052631576E-2"/>
                    </c:manualLayout>
                  </c15:layout>
                </c:ext>
                <c:ext xmlns:c16="http://schemas.microsoft.com/office/drawing/2014/chart" uri="{C3380CC4-5D6E-409C-BE32-E72D297353CC}">
                  <c16:uniqueId val="{00000003-2063-4460-B78A-FBC2F3B237C7}"/>
                </c:ext>
              </c:extLst>
            </c:dLbl>
            <c:dLbl>
              <c:idx val="2"/>
              <c:layout>
                <c:manualLayout>
                  <c:x val="0.10466160178424587"/>
                  <c:y val="0.25480215452026761"/>
                </c:manualLayout>
              </c:layout>
              <c:showLegendKey val="0"/>
              <c:showVal val="1"/>
              <c:showCatName val="1"/>
              <c:showSerName val="0"/>
              <c:showPercent val="0"/>
              <c:showBubbleSize val="0"/>
              <c:extLst>
                <c:ext xmlns:c15="http://schemas.microsoft.com/office/drawing/2012/chart" uri="{CE6537A1-D6FC-4f65-9D91-7224C49458BB}">
                  <c15:layout>
                    <c:manualLayout>
                      <c:w val="0.23419864694810749"/>
                      <c:h val="9.3132357756799608E-2"/>
                    </c:manualLayout>
                  </c15:layout>
                </c:ext>
                <c:ext xmlns:c16="http://schemas.microsoft.com/office/drawing/2014/chart" uri="{C3380CC4-5D6E-409C-BE32-E72D297353CC}">
                  <c16:uniqueId val="{00000005-2063-4460-B78A-FBC2F3B237C7}"/>
                </c:ext>
              </c:extLst>
            </c:dLbl>
            <c:dLbl>
              <c:idx val="3"/>
              <c:layout>
                <c:manualLayout>
                  <c:x val="-9.3997949458716326E-2"/>
                  <c:y val="-0.24750499398092762"/>
                </c:manualLayout>
              </c:layout>
              <c:showLegendKey val="0"/>
              <c:showVal val="1"/>
              <c:showCatName val="1"/>
              <c:showSerName val="0"/>
              <c:showPercent val="0"/>
              <c:showBubbleSize val="0"/>
              <c:extLst>
                <c:ext xmlns:c15="http://schemas.microsoft.com/office/drawing/2012/chart" uri="{CE6537A1-D6FC-4f65-9D91-7224C49458BB}">
                  <c15:layout>
                    <c:manualLayout>
                      <c:w val="0.30080242119264866"/>
                      <c:h val="7.4436513282024289E-2"/>
                    </c:manualLayout>
                  </c15:layout>
                </c:ext>
                <c:ext xmlns:c16="http://schemas.microsoft.com/office/drawing/2014/chart" uri="{C3380CC4-5D6E-409C-BE32-E72D297353CC}">
                  <c16:uniqueId val="{00000007-2063-4460-B78A-FBC2F3B237C7}"/>
                </c:ext>
              </c:extLst>
            </c:dLbl>
            <c:dLbl>
              <c:idx val="4"/>
              <c:layout>
                <c:manualLayout>
                  <c:x val="-0.27472120238240472"/>
                  <c:y val="0.11314676293347682"/>
                </c:manualLayout>
              </c:layout>
              <c:showLegendKey val="0"/>
              <c:showVal val="1"/>
              <c:showCatName val="1"/>
              <c:showSerName val="0"/>
              <c:showPercent val="0"/>
              <c:showBubbleSize val="0"/>
              <c:extLst>
                <c:ext xmlns:c15="http://schemas.microsoft.com/office/drawing/2012/chart" uri="{CE6537A1-D6FC-4f65-9D91-7224C49458BB}">
                  <c15:layout>
                    <c:manualLayout>
                      <c:w val="0.22608979337686491"/>
                      <c:h val="8.5991539829442409E-2"/>
                    </c:manualLayout>
                  </c15:layout>
                </c:ext>
                <c:ext xmlns:c16="http://schemas.microsoft.com/office/drawing/2014/chart" uri="{C3380CC4-5D6E-409C-BE32-E72D297353CC}">
                  <c16:uniqueId val="{00000009-2063-4460-B78A-FBC2F3B237C7}"/>
                </c:ext>
              </c:extLst>
            </c:dLbl>
            <c:spPr>
              <a:solidFill>
                <a:schemeClr val="accent1">
                  <a:lumMod val="40000"/>
                  <a:lumOff val="60000"/>
                </a:schemeClr>
              </a:solid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Commercial</c:v>
                </c:pt>
                <c:pt idx="1">
                  <c:v>Agriculture</c:v>
                </c:pt>
                <c:pt idx="2">
                  <c:v>Industrial</c:v>
                </c:pt>
                <c:pt idx="3">
                  <c:v>Domestic </c:v>
                </c:pt>
                <c:pt idx="4">
                  <c:v>Others </c:v>
                </c:pt>
              </c:strCache>
            </c:strRef>
          </c:cat>
          <c:val>
            <c:numRef>
              <c:f>Sheet1!$B$2:$B$6</c:f>
              <c:numCache>
                <c:formatCode>0.0%</c:formatCode>
                <c:ptCount val="5"/>
                <c:pt idx="0">
                  <c:v>0.09</c:v>
                </c:pt>
                <c:pt idx="1">
                  <c:v>0.02</c:v>
                </c:pt>
                <c:pt idx="2">
                  <c:v>0.01</c:v>
                </c:pt>
                <c:pt idx="3">
                  <c:v>0.89</c:v>
                </c:pt>
                <c:pt idx="4">
                  <c:v>2E-3</c:v>
                </c:pt>
              </c:numCache>
            </c:numRef>
          </c:val>
          <c:extLst>
            <c:ext xmlns:c16="http://schemas.microsoft.com/office/drawing/2014/chart" uri="{C3380CC4-5D6E-409C-BE32-E72D297353CC}">
              <c16:uniqueId val="{0000000A-2063-4460-B78A-FBC2F3B237C7}"/>
            </c:ext>
          </c:extLst>
        </c:ser>
        <c:dLbls>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1" i="0" u="none" strike="noStrike" kern="1200" spc="0" baseline="0">
                <a:solidFill>
                  <a:schemeClr val="tx1"/>
                </a:solidFill>
                <a:latin typeface="+mn-lt"/>
                <a:ea typeface="+mn-ea"/>
                <a:cs typeface="+mn-cs"/>
              </a:defRPr>
            </a:pPr>
            <a:r>
              <a:rPr lang="en-US" sz="1100" b="1"/>
              <a:t>Consumer mix of WBSEDCL as on FY 2017-18</a:t>
            </a:r>
          </a:p>
        </c:rich>
      </c:tx>
      <c:layout>
        <c:manualLayout>
          <c:xMode val="edge"/>
          <c:yMode val="edge"/>
          <c:x val="0.10866569347370902"/>
          <c:y val="0"/>
        </c:manualLayout>
      </c:layout>
      <c:overlay val="0"/>
      <c:spPr>
        <a:noFill/>
        <a:ln>
          <a:noFill/>
        </a:ln>
        <a:effectLst/>
      </c:spPr>
      <c:txPr>
        <a:bodyPr rot="0" spcFirstLastPara="1" vertOverflow="ellipsis" vert="horz" wrap="square" anchor="ctr" anchorCtr="1"/>
        <a:lstStyle/>
        <a:p>
          <a:pPr>
            <a:defRPr sz="11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31846397711522023"/>
          <c:y val="0.1424178926647327"/>
          <c:w val="0.42112448022648852"/>
          <c:h val="0.73973839618731874"/>
        </c:manualLayout>
      </c:layout>
      <c:pieChart>
        <c:varyColors val="1"/>
        <c:ser>
          <c:idx val="0"/>
          <c:order val="0"/>
          <c:tx>
            <c:strRef>
              <c:f>Sheet1!$B$1</c:f>
              <c:strCache>
                <c:ptCount val="1"/>
                <c:pt idx="0">
                  <c:v>Sales mix of WBSEDCL during FY 2017-18 </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308-440A-AA5B-7987D086D42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308-440A-AA5B-7987D086D427}"/>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308-440A-AA5B-7987D086D42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308-440A-AA5B-7987D086D427}"/>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308-440A-AA5B-7987D086D427}"/>
              </c:ext>
            </c:extLst>
          </c:dPt>
          <c:dLbls>
            <c:dLbl>
              <c:idx val="0"/>
              <c:layout>
                <c:manualLayout>
                  <c:x val="3.4170015991750749E-2"/>
                  <c:y val="5.8834336904534223E-3"/>
                </c:manualLayout>
              </c:layout>
              <c:spPr>
                <a:solidFill>
                  <a:schemeClr val="accent1">
                    <a:lumMod val="40000"/>
                    <a:lumOff val="60000"/>
                  </a:schemeClr>
                </a:solid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0.25643332936737134"/>
                      <c:h val="6.6118421052631562E-2"/>
                    </c:manualLayout>
                  </c15:layout>
                </c:ext>
                <c:ext xmlns:c16="http://schemas.microsoft.com/office/drawing/2014/chart" uri="{C3380CC4-5D6E-409C-BE32-E72D297353CC}">
                  <c16:uniqueId val="{00000001-C308-440A-AA5B-7987D086D427}"/>
                </c:ext>
              </c:extLst>
            </c:dLbl>
            <c:dLbl>
              <c:idx val="1"/>
              <c:layout>
                <c:manualLayout>
                  <c:x val="6.0192550809311546E-2"/>
                  <c:y val="6.25E-2"/>
                </c:manualLayout>
              </c:layout>
              <c:spPr>
                <a:solidFill>
                  <a:schemeClr val="accent1">
                    <a:lumMod val="40000"/>
                    <a:lumOff val="60000"/>
                  </a:schemeClr>
                </a:solid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0.25009047189739408"/>
                      <c:h val="6.6118421052631576E-2"/>
                    </c:manualLayout>
                  </c15:layout>
                </c:ext>
                <c:ext xmlns:c16="http://schemas.microsoft.com/office/drawing/2014/chart" uri="{C3380CC4-5D6E-409C-BE32-E72D297353CC}">
                  <c16:uniqueId val="{00000003-C308-440A-AA5B-7987D086D427}"/>
                </c:ext>
              </c:extLst>
            </c:dLbl>
            <c:dLbl>
              <c:idx val="2"/>
              <c:layout>
                <c:manualLayout>
                  <c:x val="-2.4802992511758254E-3"/>
                  <c:y val="-1.3157894736842105E-2"/>
                </c:manualLayout>
              </c:layout>
              <c:spPr>
                <a:solidFill>
                  <a:schemeClr val="accent1">
                    <a:lumMod val="40000"/>
                    <a:lumOff val="60000"/>
                  </a:schemeClr>
                </a:solid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0.2312262109967102"/>
                      <c:h val="5.2960526315789472E-2"/>
                    </c:manualLayout>
                  </c15:layout>
                </c:ext>
                <c:ext xmlns:c16="http://schemas.microsoft.com/office/drawing/2014/chart" uri="{C3380CC4-5D6E-409C-BE32-E72D297353CC}">
                  <c16:uniqueId val="{00000005-C308-440A-AA5B-7987D086D427}"/>
                </c:ext>
              </c:extLst>
            </c:dLbl>
            <c:dLbl>
              <c:idx val="3"/>
              <c:layout>
                <c:manualLayout>
                  <c:x val="4.8164778141556374E-3"/>
                  <c:y val="-1.3157894736842105E-2"/>
                </c:manualLayout>
              </c:layout>
              <c:spPr>
                <a:solidFill>
                  <a:schemeClr val="accent1">
                    <a:lumMod val="40000"/>
                    <a:lumOff val="60000"/>
                  </a:schemeClr>
                </a:solid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0.25406551078213047"/>
                      <c:h val="6.6118421052631576E-2"/>
                    </c:manualLayout>
                  </c15:layout>
                </c:ext>
                <c:ext xmlns:c16="http://schemas.microsoft.com/office/drawing/2014/chart" uri="{C3380CC4-5D6E-409C-BE32-E72D297353CC}">
                  <c16:uniqueId val="{00000007-C308-440A-AA5B-7987D086D427}"/>
                </c:ext>
              </c:extLst>
            </c:dLbl>
            <c:dLbl>
              <c:idx val="4"/>
              <c:layout>
                <c:manualLayout>
                  <c:x val="-0.14689539047122768"/>
                  <c:y val="7.2727927867998213E-2"/>
                </c:manualLayout>
              </c:layout>
              <c:spPr>
                <a:solidFill>
                  <a:schemeClr val="accent1">
                    <a:lumMod val="40000"/>
                    <a:lumOff val="60000"/>
                  </a:schemeClr>
                </a:solidFill>
                <a:ln>
                  <a:noFill/>
                </a:ln>
                <a:effectLst/>
              </c:spPr>
              <c:txPr>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0.21674241173854492"/>
                      <c:h val="6.5876559752379854E-2"/>
                    </c:manualLayout>
                  </c15:layout>
                </c:ext>
                <c:ext xmlns:c16="http://schemas.microsoft.com/office/drawing/2014/chart" uri="{C3380CC4-5D6E-409C-BE32-E72D297353CC}">
                  <c16:uniqueId val="{00000009-C308-440A-AA5B-7987D086D427}"/>
                </c:ext>
              </c:extLst>
            </c:dLbl>
            <c:spPr>
              <a:solidFill>
                <a:schemeClr val="accent1">
                  <a:lumMod val="40000"/>
                  <a:lumOff val="60000"/>
                </a:schemeClr>
              </a:solid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Commercial</c:v>
                </c:pt>
                <c:pt idx="1">
                  <c:v>Agriculture</c:v>
                </c:pt>
                <c:pt idx="2">
                  <c:v>Industrial</c:v>
                </c:pt>
                <c:pt idx="3">
                  <c:v>Domestic </c:v>
                </c:pt>
                <c:pt idx="4">
                  <c:v>Others </c:v>
                </c:pt>
              </c:strCache>
            </c:strRef>
          </c:cat>
          <c:val>
            <c:numRef>
              <c:f>Sheet1!$B$2:$B$6</c:f>
              <c:numCache>
                <c:formatCode>0.0%</c:formatCode>
                <c:ptCount val="5"/>
                <c:pt idx="0">
                  <c:v>0.15</c:v>
                </c:pt>
                <c:pt idx="1">
                  <c:v>0.05</c:v>
                </c:pt>
                <c:pt idx="2">
                  <c:v>0.3</c:v>
                </c:pt>
                <c:pt idx="3">
                  <c:v>0.4</c:v>
                </c:pt>
                <c:pt idx="4">
                  <c:v>0.1</c:v>
                </c:pt>
              </c:numCache>
            </c:numRef>
          </c:val>
          <c:extLst>
            <c:ext xmlns:c16="http://schemas.microsoft.com/office/drawing/2014/chart" uri="{C3380CC4-5D6E-409C-BE32-E72D297353CC}">
              <c16:uniqueId val="{0000000A-C308-440A-AA5B-7987D086D427}"/>
            </c:ext>
          </c:extLst>
        </c:ser>
        <c:dLbls>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1" i="0" u="none" strike="noStrike" kern="1200" spc="0" baseline="0">
                <a:solidFill>
                  <a:schemeClr val="tx1"/>
                </a:solidFill>
                <a:latin typeface="+mn-lt"/>
                <a:ea typeface="+mn-ea"/>
                <a:cs typeface="+mn-cs"/>
              </a:defRPr>
            </a:pPr>
            <a:r>
              <a:rPr lang="en-US" sz="1100" b="1"/>
              <a:t>Historical T&amp;D loss (%) of WBSEDCL</a:t>
            </a:r>
          </a:p>
        </c:rich>
      </c:tx>
      <c:overlay val="0"/>
      <c:spPr>
        <a:noFill/>
        <a:ln>
          <a:noFill/>
        </a:ln>
        <a:effectLst/>
      </c:spPr>
      <c:txPr>
        <a:bodyPr rot="0" spcFirstLastPara="1" vertOverflow="ellipsis" vert="horz" wrap="square" anchor="ctr" anchorCtr="1"/>
        <a:lstStyle/>
        <a:p>
          <a:pPr>
            <a:defRPr sz="1100" b="1"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14</c:v>
                </c:pt>
                <c:pt idx="1">
                  <c:v>FY 15</c:v>
                </c:pt>
                <c:pt idx="2">
                  <c:v>FY 16</c:v>
                </c:pt>
                <c:pt idx="3">
                  <c:v>FY 17</c:v>
                </c:pt>
                <c:pt idx="4">
                  <c:v>FY 18</c:v>
                </c:pt>
                <c:pt idx="5">
                  <c:v>FY 19</c:v>
                </c:pt>
              </c:strCache>
            </c:strRef>
          </c:cat>
          <c:val>
            <c:numRef>
              <c:f>Sheet1!$B$2:$B$7</c:f>
              <c:numCache>
                <c:formatCode>0.00%</c:formatCode>
                <c:ptCount val="6"/>
                <c:pt idx="0">
                  <c:v>0.27960000000000002</c:v>
                </c:pt>
                <c:pt idx="1">
                  <c:v>0.27600000000000002</c:v>
                </c:pt>
                <c:pt idx="2">
                  <c:v>0.27739999999999998</c:v>
                </c:pt>
                <c:pt idx="3">
                  <c:v>0.2802</c:v>
                </c:pt>
                <c:pt idx="4">
                  <c:v>0.2666</c:v>
                </c:pt>
                <c:pt idx="5">
                  <c:v>0.22969999999999999</c:v>
                </c:pt>
              </c:numCache>
            </c:numRef>
          </c:val>
          <c:extLst>
            <c:ext xmlns:c16="http://schemas.microsoft.com/office/drawing/2014/chart" uri="{C3380CC4-5D6E-409C-BE32-E72D297353CC}">
              <c16:uniqueId val="{00000000-094C-40C6-BCC3-FAC334FA36BC}"/>
            </c:ext>
          </c:extLst>
        </c:ser>
        <c:dLbls>
          <c:dLblPos val="outEnd"/>
          <c:showLegendKey val="0"/>
          <c:showVal val="1"/>
          <c:showCatName val="0"/>
          <c:showSerName val="0"/>
          <c:showPercent val="0"/>
          <c:showBubbleSize val="0"/>
        </c:dLbls>
        <c:gapWidth val="219"/>
        <c:overlap val="-27"/>
        <c:axId val="284832911"/>
        <c:axId val="324599727"/>
      </c:barChart>
      <c:catAx>
        <c:axId val="2848329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599727"/>
        <c:crosses val="autoZero"/>
        <c:auto val="1"/>
        <c:lblAlgn val="ctr"/>
        <c:lblOffset val="100"/>
        <c:noMultiLvlLbl val="0"/>
      </c:catAx>
      <c:valAx>
        <c:axId val="324599727"/>
        <c:scaling>
          <c:orientation val="minMax"/>
        </c:scaling>
        <c:delete val="1"/>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284832911"/>
        <c:crosses val="autoZero"/>
        <c:crossBetween val="between"/>
        <c:majorUnit val="0.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1" i="0" u="none" strike="noStrike" kern="1200" cap="none" spc="0" normalizeH="0" baseline="0">
                <a:solidFill>
                  <a:schemeClr val="tx1">
                    <a:lumMod val="65000"/>
                    <a:lumOff val="35000"/>
                  </a:schemeClr>
                </a:solidFill>
                <a:latin typeface="+mj-lt"/>
                <a:ea typeface="+mj-ea"/>
                <a:cs typeface="+mj-cs"/>
              </a:defRPr>
            </a:pPr>
            <a:r>
              <a:rPr lang="en-IN" sz="1100" b="1"/>
              <a:t>AT&amp;C loss trajectory last 5 years</a:t>
            </a:r>
          </a:p>
        </c:rich>
      </c:tx>
      <c:overlay val="0"/>
      <c:spPr>
        <a:noFill/>
        <a:ln>
          <a:noFill/>
        </a:ln>
        <a:effectLst/>
      </c:spPr>
      <c:txPr>
        <a:bodyPr rot="0" spcFirstLastPara="1" vertOverflow="ellipsis" vert="horz" wrap="square" anchor="ctr" anchorCtr="1"/>
        <a:lstStyle/>
        <a:p>
          <a:pPr>
            <a:defRPr sz="1100" b="1"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lotArea>
      <c:layout>
        <c:manualLayout>
          <c:layoutTarget val="inner"/>
          <c:xMode val="edge"/>
          <c:yMode val="edge"/>
          <c:x val="4.2956277820569627E-2"/>
          <c:y val="0.20075055421932142"/>
          <c:w val="0.93916329856826064"/>
          <c:h val="0.72728298943156588"/>
        </c:manualLayout>
      </c:layout>
      <c:lineChart>
        <c:grouping val="standard"/>
        <c:varyColors val="0"/>
        <c:ser>
          <c:idx val="0"/>
          <c:order val="0"/>
          <c:tx>
            <c:strRef>
              <c:f>Sheet1!$B$5</c:f>
              <c:strCache>
                <c:ptCount val="1"/>
                <c:pt idx="0">
                  <c:v>DGVCL, Guj</c:v>
                </c:pt>
              </c:strCache>
            </c:strRef>
          </c:tx>
          <c:spPr>
            <a:ln w="38100" cap="rnd">
              <a:solidFill>
                <a:schemeClr val="accent1"/>
              </a:solidFill>
              <a:round/>
            </a:ln>
            <a:effectLst/>
          </c:spPr>
          <c:marker>
            <c:symbol val="none"/>
          </c:marker>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Sheet1!$C$4:$F$4</c:f>
              <c:strCache>
                <c:ptCount val="4"/>
                <c:pt idx="0">
                  <c:v>2014-15</c:v>
                </c:pt>
                <c:pt idx="3">
                  <c:v>2018-19</c:v>
                </c:pt>
              </c:strCache>
            </c:strRef>
          </c:cat>
          <c:val>
            <c:numRef>
              <c:f>Sheet1!$C$5:$F$5</c:f>
              <c:numCache>
                <c:formatCode>General</c:formatCode>
                <c:ptCount val="4"/>
                <c:pt idx="0">
                  <c:v>10.81</c:v>
                </c:pt>
                <c:pt idx="1">
                  <c:v>10.41</c:v>
                </c:pt>
                <c:pt idx="2">
                  <c:v>6.6</c:v>
                </c:pt>
                <c:pt idx="3">
                  <c:v>5.9</c:v>
                </c:pt>
              </c:numCache>
            </c:numRef>
          </c:val>
          <c:smooth val="0"/>
          <c:extLst>
            <c:ext xmlns:c16="http://schemas.microsoft.com/office/drawing/2014/chart" uri="{C3380CC4-5D6E-409C-BE32-E72D297353CC}">
              <c16:uniqueId val="{00000000-BE03-41E6-A6CE-770FA46185C2}"/>
            </c:ext>
          </c:extLst>
        </c:ser>
        <c:ser>
          <c:idx val="1"/>
          <c:order val="1"/>
          <c:tx>
            <c:strRef>
              <c:f>Sheet1!$B$6</c:f>
              <c:strCache>
                <c:ptCount val="1"/>
                <c:pt idx="0">
                  <c:v>BESCOM, Karnataka</c:v>
                </c:pt>
              </c:strCache>
            </c:strRef>
          </c:tx>
          <c:spPr>
            <a:ln w="38100" cap="rnd">
              <a:solidFill>
                <a:schemeClr val="accent2"/>
              </a:solidFill>
              <a:round/>
            </a:ln>
            <a:effectLst/>
          </c:spPr>
          <c:marker>
            <c:symbol val="none"/>
          </c:marker>
          <c:dLbls>
            <c:delete val="1"/>
          </c:dLbls>
          <c:cat>
            <c:strRef>
              <c:f>Sheet1!$C$4:$F$4</c:f>
              <c:strCache>
                <c:ptCount val="4"/>
                <c:pt idx="0">
                  <c:v>2014-15</c:v>
                </c:pt>
                <c:pt idx="3">
                  <c:v>2018-19</c:v>
                </c:pt>
              </c:strCache>
            </c:strRef>
          </c:cat>
          <c:val>
            <c:numRef>
              <c:f>Sheet1!$C$6:$F$6</c:f>
              <c:numCache>
                <c:formatCode>General</c:formatCode>
                <c:ptCount val="4"/>
                <c:pt idx="0">
                  <c:v>17.59</c:v>
                </c:pt>
                <c:pt idx="1">
                  <c:v>12.37</c:v>
                </c:pt>
                <c:pt idx="2">
                  <c:v>13.17</c:v>
                </c:pt>
                <c:pt idx="3">
                  <c:v>15.79</c:v>
                </c:pt>
              </c:numCache>
            </c:numRef>
          </c:val>
          <c:smooth val="0"/>
          <c:extLst>
            <c:ext xmlns:c16="http://schemas.microsoft.com/office/drawing/2014/chart" uri="{C3380CC4-5D6E-409C-BE32-E72D297353CC}">
              <c16:uniqueId val="{00000001-BE03-41E6-A6CE-770FA46185C2}"/>
            </c:ext>
          </c:extLst>
        </c:ser>
        <c:ser>
          <c:idx val="2"/>
          <c:order val="2"/>
          <c:tx>
            <c:strRef>
              <c:f>Sheet1!$B$7</c:f>
              <c:strCache>
                <c:ptCount val="1"/>
                <c:pt idx="0">
                  <c:v>UPCL, Uttarakhand</c:v>
                </c:pt>
              </c:strCache>
            </c:strRef>
          </c:tx>
          <c:spPr>
            <a:ln w="38100" cap="rnd">
              <a:solidFill>
                <a:schemeClr val="accent3"/>
              </a:solidFill>
              <a:round/>
            </a:ln>
            <a:effectLst/>
          </c:spPr>
          <c:marker>
            <c:symbol val="none"/>
          </c:marker>
          <c:dLbls>
            <c:delete val="1"/>
          </c:dLbls>
          <c:cat>
            <c:strRef>
              <c:f>Sheet1!$C$4:$F$4</c:f>
              <c:strCache>
                <c:ptCount val="4"/>
                <c:pt idx="0">
                  <c:v>2014-15</c:v>
                </c:pt>
                <c:pt idx="3">
                  <c:v>2018-19</c:v>
                </c:pt>
              </c:strCache>
            </c:strRef>
          </c:cat>
          <c:val>
            <c:numRef>
              <c:f>Sheet1!$C$7:$F$7</c:f>
              <c:numCache>
                <c:formatCode>General</c:formatCode>
                <c:ptCount val="4"/>
                <c:pt idx="0">
                  <c:v>18.82</c:v>
                </c:pt>
                <c:pt idx="1">
                  <c:v>12.25</c:v>
                </c:pt>
                <c:pt idx="2">
                  <c:v>15.79</c:v>
                </c:pt>
                <c:pt idx="3">
                  <c:v>15.79</c:v>
                </c:pt>
              </c:numCache>
            </c:numRef>
          </c:val>
          <c:smooth val="0"/>
          <c:extLst>
            <c:ext xmlns:c16="http://schemas.microsoft.com/office/drawing/2014/chart" uri="{C3380CC4-5D6E-409C-BE32-E72D297353CC}">
              <c16:uniqueId val="{00000002-BE03-41E6-A6CE-770FA46185C2}"/>
            </c:ext>
          </c:extLst>
        </c:ser>
        <c:ser>
          <c:idx val="3"/>
          <c:order val="3"/>
          <c:tx>
            <c:strRef>
              <c:f>Sheet1!$B$8</c:f>
              <c:strCache>
                <c:ptCount val="1"/>
                <c:pt idx="0">
                  <c:v>PSPCL, Punjab</c:v>
                </c:pt>
              </c:strCache>
            </c:strRef>
          </c:tx>
          <c:spPr>
            <a:ln w="38100" cap="rnd">
              <a:solidFill>
                <a:schemeClr val="accent4"/>
              </a:solidFill>
              <a:round/>
            </a:ln>
            <a:effectLst/>
          </c:spPr>
          <c:marker>
            <c:symbol val="circle"/>
            <c:size val="8"/>
            <c:spPr>
              <a:solidFill>
                <a:schemeClr val="accent4"/>
              </a:solidFill>
              <a:ln>
                <a:no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Sheet1!$C$4:$F$4</c:f>
              <c:strCache>
                <c:ptCount val="4"/>
                <c:pt idx="0">
                  <c:v>2014-15</c:v>
                </c:pt>
                <c:pt idx="3">
                  <c:v>2018-19</c:v>
                </c:pt>
              </c:strCache>
            </c:strRef>
          </c:cat>
          <c:val>
            <c:numRef>
              <c:f>Sheet1!$C$8:$F$8</c:f>
            </c:numRef>
          </c:val>
          <c:smooth val="0"/>
          <c:extLst>
            <c:ext xmlns:c16="http://schemas.microsoft.com/office/drawing/2014/chart" uri="{C3380CC4-5D6E-409C-BE32-E72D297353CC}">
              <c16:uniqueId val="{00000003-BE03-41E6-A6CE-770FA46185C2}"/>
            </c:ext>
          </c:extLst>
        </c:ser>
        <c:ser>
          <c:idx val="5"/>
          <c:order val="4"/>
          <c:tx>
            <c:strRef>
              <c:f>Sheet1!$B$10</c:f>
              <c:strCache>
                <c:ptCount val="1"/>
                <c:pt idx="0">
                  <c:v>MSEDCL, Maharashtra</c:v>
                </c:pt>
              </c:strCache>
            </c:strRef>
          </c:tx>
          <c:spPr>
            <a:ln w="38100" cap="rnd">
              <a:solidFill>
                <a:schemeClr val="accent6"/>
              </a:solidFill>
              <a:round/>
            </a:ln>
            <a:effectLst/>
          </c:spPr>
          <c:marker>
            <c:symbol val="none"/>
          </c:marker>
          <c:dLbls>
            <c:delete val="1"/>
          </c:dLbls>
          <c:cat>
            <c:strRef>
              <c:f>Sheet1!$C$4:$F$4</c:f>
              <c:strCache>
                <c:ptCount val="4"/>
                <c:pt idx="0">
                  <c:v>2014-15</c:v>
                </c:pt>
                <c:pt idx="3">
                  <c:v>2018-19</c:v>
                </c:pt>
              </c:strCache>
            </c:strRef>
          </c:cat>
          <c:val>
            <c:numRef>
              <c:f>Sheet1!$C$10:$F$10</c:f>
              <c:numCache>
                <c:formatCode>General</c:formatCode>
                <c:ptCount val="4"/>
                <c:pt idx="0">
                  <c:v>19.25</c:v>
                </c:pt>
                <c:pt idx="1">
                  <c:v>23.12</c:v>
                </c:pt>
                <c:pt idx="2">
                  <c:v>18.97</c:v>
                </c:pt>
                <c:pt idx="3">
                  <c:v>14.73</c:v>
                </c:pt>
              </c:numCache>
            </c:numRef>
          </c:val>
          <c:smooth val="0"/>
          <c:extLst>
            <c:ext xmlns:c16="http://schemas.microsoft.com/office/drawing/2014/chart" uri="{C3380CC4-5D6E-409C-BE32-E72D297353CC}">
              <c16:uniqueId val="{00000004-BE03-41E6-A6CE-770FA46185C2}"/>
            </c:ext>
          </c:extLst>
        </c:ser>
        <c:ser>
          <c:idx val="6"/>
          <c:order val="5"/>
          <c:tx>
            <c:strRef>
              <c:f>Sheet1!$B$11</c:f>
              <c:strCache>
                <c:ptCount val="1"/>
                <c:pt idx="0">
                  <c:v>WBSEDCL, West Bengal</c:v>
                </c:pt>
              </c:strCache>
            </c:strRef>
          </c:tx>
          <c:spPr>
            <a:ln w="38100" cap="rnd">
              <a:solidFill>
                <a:schemeClr val="accent1">
                  <a:lumMod val="60000"/>
                </a:schemeClr>
              </a:solidFill>
              <a:round/>
            </a:ln>
            <a:effectLst/>
          </c:spPr>
          <c:marker>
            <c:symbol val="none"/>
          </c:marker>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Sheet1!$C$4:$F$4</c:f>
              <c:strCache>
                <c:ptCount val="4"/>
                <c:pt idx="0">
                  <c:v>2014-15</c:v>
                </c:pt>
                <c:pt idx="3">
                  <c:v>2018-19</c:v>
                </c:pt>
              </c:strCache>
            </c:strRef>
          </c:cat>
          <c:val>
            <c:numRef>
              <c:f>Sheet1!$C$11:$F$11</c:f>
              <c:numCache>
                <c:formatCode>General</c:formatCode>
                <c:ptCount val="4"/>
                <c:pt idx="0">
                  <c:v>35.35</c:v>
                </c:pt>
                <c:pt idx="1">
                  <c:v>31.1</c:v>
                </c:pt>
                <c:pt idx="2">
                  <c:v>26.74</c:v>
                </c:pt>
                <c:pt idx="3">
                  <c:v>23</c:v>
                </c:pt>
              </c:numCache>
            </c:numRef>
          </c:val>
          <c:smooth val="0"/>
          <c:extLst>
            <c:ext xmlns:c16="http://schemas.microsoft.com/office/drawing/2014/chart" uri="{C3380CC4-5D6E-409C-BE32-E72D297353CC}">
              <c16:uniqueId val="{00000005-BE03-41E6-A6CE-770FA46185C2}"/>
            </c:ext>
          </c:extLst>
        </c:ser>
        <c:dLbls>
          <c:dLblPos val="t"/>
          <c:showLegendKey val="0"/>
          <c:showVal val="1"/>
          <c:showCatName val="0"/>
          <c:showSerName val="0"/>
          <c:showPercent val="0"/>
          <c:showBubbleSize val="0"/>
        </c:dLbls>
        <c:smooth val="0"/>
        <c:axId val="861570159"/>
        <c:axId val="861107663"/>
      </c:lineChart>
      <c:catAx>
        <c:axId val="861570159"/>
        <c:scaling>
          <c:orientation val="minMax"/>
        </c:scaling>
        <c:delete val="1"/>
        <c:axPos val="b"/>
        <c:numFmt formatCode="General" sourceLinked="1"/>
        <c:majorTickMark val="none"/>
        <c:minorTickMark val="none"/>
        <c:tickLblPos val="nextTo"/>
        <c:crossAx val="861107663"/>
        <c:crosses val="autoZero"/>
        <c:auto val="1"/>
        <c:lblAlgn val="ctr"/>
        <c:lblOffset val="100"/>
        <c:tickMarkSkip val="1"/>
        <c:noMultiLvlLbl val="0"/>
      </c:catAx>
      <c:valAx>
        <c:axId val="861107663"/>
        <c:scaling>
          <c:orientation val="minMax"/>
        </c:scaling>
        <c:delete val="1"/>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crossAx val="861570159"/>
        <c:crosses val="autoZero"/>
        <c:crossBetween val="between"/>
      </c:valAx>
      <c:spPr>
        <a:noFill/>
        <a:ln>
          <a:noFill/>
        </a:ln>
        <a:effectLst/>
      </c:spPr>
    </c:plotArea>
    <c:legend>
      <c:legendPos val="t"/>
      <c:layout>
        <c:manualLayout>
          <c:xMode val="edge"/>
          <c:yMode val="edge"/>
          <c:x val="1.2485322565657752E-2"/>
          <c:y val="0.11052147076479658"/>
          <c:w val="0.96690188959088008"/>
          <c:h val="0.1252905299431808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GB" sz="1400" b="1" dirty="0"/>
              <a:t>Trend of Gross Profit (</a:t>
            </a:r>
            <a:r>
              <a:rPr lang="en-GB" sz="1400" b="1" dirty="0" err="1"/>
              <a:t>Rs</a:t>
            </a:r>
            <a:r>
              <a:rPr lang="en-GB" sz="1400" b="1" dirty="0"/>
              <a:t>. Lakh) and Net Profit (</a:t>
            </a:r>
            <a:r>
              <a:rPr lang="en-GB" sz="1400" b="1" dirty="0" err="1"/>
              <a:t>Rs</a:t>
            </a:r>
            <a:r>
              <a:rPr lang="en-GB" sz="1400" b="1" dirty="0"/>
              <a:t>. Lakh) of WBSEDCL</a:t>
            </a:r>
          </a:p>
        </c:rich>
      </c:tx>
      <c:layout>
        <c:manualLayout>
          <c:xMode val="edge"/>
          <c:yMode val="edge"/>
          <c:x val="0.23878175653522907"/>
          <c:y val="5.0230784747244232E-3"/>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9.4038461025858396E-3"/>
          <c:y val="0.21438996650860767"/>
          <c:w val="0.98114474462827772"/>
          <c:h val="0.661447033856844"/>
        </c:manualLayout>
      </c:layout>
      <c:barChart>
        <c:barDir val="col"/>
        <c:grouping val="clustered"/>
        <c:varyColors val="0"/>
        <c:ser>
          <c:idx val="0"/>
          <c:order val="0"/>
          <c:tx>
            <c:strRef>
              <c:f>Sheet1!$B$1</c:f>
              <c:strCache>
                <c:ptCount val="1"/>
                <c:pt idx="0">
                  <c:v>Gross Profit (Rs. Lakh)</c:v>
                </c:pt>
              </c:strCache>
            </c:strRef>
          </c:tx>
          <c:spPr>
            <a:solidFill>
              <a:srgbClr val="92D050"/>
            </a:solidFill>
            <a:ln>
              <a:noFill/>
            </a:ln>
            <a:effectLst/>
          </c:spPr>
          <c:invertIfNegative val="0"/>
          <c:dLbls>
            <c:dLbl>
              <c:idx val="6"/>
              <c:tx>
                <c:rich>
                  <a:bodyPr rot="0" spcFirstLastPara="1" vertOverflow="ellipsis" vert="horz" wrap="square" lIns="38100" tIns="19050" rIns="38100" bIns="19050" anchor="ctr" anchorCtr="1">
                    <a:spAutoFit/>
                  </a:bodyPr>
                  <a:lstStyle/>
                  <a:p>
                    <a:pPr>
                      <a:defRPr sz="1100" b="0" i="0" u="none" strike="noStrike" kern="1200" baseline="0">
                        <a:solidFill>
                          <a:srgbClr val="FF0000"/>
                        </a:solidFill>
                        <a:latin typeface="+mn-lt"/>
                        <a:ea typeface="+mn-ea"/>
                        <a:cs typeface="+mn-cs"/>
                      </a:defRPr>
                    </a:pPr>
                    <a:fld id="{464DDF30-F6CB-4464-A945-1E8F0AE2A40F}" type="VALUE">
                      <a:rPr lang="en-US">
                        <a:solidFill>
                          <a:schemeClr val="tx1"/>
                        </a:solidFill>
                      </a:rPr>
                      <a:pPr>
                        <a:defRPr sz="1100">
                          <a:solidFill>
                            <a:srgbClr val="FF0000"/>
                          </a:solidFill>
                        </a:defRPr>
                      </a:pPr>
                      <a:t>[VALUE]</a:t>
                    </a:fld>
                    <a:endParaRPr lang="en-US"/>
                  </a:p>
                </c:rich>
              </c:tx>
              <c:numFmt formatCode="#,##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F7F5-454C-B337-A6CFAE1C5084}"/>
                </c:ext>
              </c:extLst>
            </c:dLbl>
            <c:dLbl>
              <c:idx val="7"/>
              <c:layout>
                <c:manualLayout>
                  <c:x val="-4.1270256241984086E-3"/>
                  <c:y val="-2.5114996855631979E-2"/>
                </c:manualLayout>
              </c:layout>
              <c:tx>
                <c:rich>
                  <a:bodyPr rot="0" spcFirstLastPara="1" vertOverflow="ellipsis" vert="horz" wrap="square" lIns="38100" tIns="19050" rIns="38100" bIns="19050" anchor="ctr" anchorCtr="1">
                    <a:spAutoFit/>
                  </a:bodyPr>
                  <a:lstStyle/>
                  <a:p>
                    <a:pPr>
                      <a:defRPr sz="1100" b="0" i="0" u="none" strike="noStrike" kern="1200" baseline="0">
                        <a:solidFill>
                          <a:srgbClr val="FF0000"/>
                        </a:solidFill>
                        <a:latin typeface="+mn-lt"/>
                        <a:ea typeface="+mn-ea"/>
                        <a:cs typeface="+mn-cs"/>
                      </a:defRPr>
                    </a:pPr>
                    <a:fld id="{20C5B5CF-A62E-4B34-AEA4-3D1C09395B6A}" type="VALUE">
                      <a:rPr lang="en-US">
                        <a:solidFill>
                          <a:schemeClr val="tx1"/>
                        </a:solidFill>
                      </a:rPr>
                      <a:pPr>
                        <a:defRPr sz="1100">
                          <a:solidFill>
                            <a:srgbClr val="FF0000"/>
                          </a:solidFill>
                        </a:defRPr>
                      </a:pPr>
                      <a:t>[VALUE]</a:t>
                    </a:fld>
                    <a:endParaRPr lang="en-US"/>
                  </a:p>
                </c:rich>
              </c:tx>
              <c:numFmt formatCode="#,##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F7F5-454C-B337-A6CFAE1C5084}"/>
                </c:ext>
              </c:extLst>
            </c:dLbl>
            <c:dLbl>
              <c:idx val="8"/>
              <c:tx>
                <c:rich>
                  <a:bodyPr/>
                  <a:lstStyle/>
                  <a:p>
                    <a:fld id="{E4470980-2820-44A8-A7E6-A7330CE5587D}" type="VALUE">
                      <a:rPr lang="en-US">
                        <a:solidFill>
                          <a:srgbClr val="FF0000"/>
                        </a:solidFill>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104A-47FD-B88A-C436B09AB6F6}"/>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FY12</c:v>
                </c:pt>
                <c:pt idx="1">
                  <c:v>FY13</c:v>
                </c:pt>
                <c:pt idx="2">
                  <c:v>FY14</c:v>
                </c:pt>
                <c:pt idx="3">
                  <c:v>FY15</c:v>
                </c:pt>
                <c:pt idx="4">
                  <c:v>FY16</c:v>
                </c:pt>
                <c:pt idx="5">
                  <c:v>FY17</c:v>
                </c:pt>
                <c:pt idx="6">
                  <c:v>FY18</c:v>
                </c:pt>
                <c:pt idx="7">
                  <c:v>FY19</c:v>
                </c:pt>
              </c:strCache>
            </c:strRef>
          </c:cat>
          <c:val>
            <c:numRef>
              <c:f>Sheet1!$B$2:$B$9</c:f>
              <c:numCache>
                <c:formatCode>General</c:formatCode>
                <c:ptCount val="8"/>
                <c:pt idx="0">
                  <c:v>84122</c:v>
                </c:pt>
                <c:pt idx="1">
                  <c:v>265634</c:v>
                </c:pt>
                <c:pt idx="2">
                  <c:v>121614</c:v>
                </c:pt>
                <c:pt idx="3">
                  <c:v>246699</c:v>
                </c:pt>
                <c:pt idx="4">
                  <c:v>272068</c:v>
                </c:pt>
                <c:pt idx="5">
                  <c:v>371861</c:v>
                </c:pt>
                <c:pt idx="6">
                  <c:v>371367</c:v>
                </c:pt>
                <c:pt idx="7">
                  <c:v>338094</c:v>
                </c:pt>
              </c:numCache>
            </c:numRef>
          </c:val>
          <c:extLst>
            <c:ext xmlns:c16="http://schemas.microsoft.com/office/drawing/2014/chart" uri="{C3380CC4-5D6E-409C-BE32-E72D297353CC}">
              <c16:uniqueId val="{00000000-EEE5-4D86-9E86-158D9A4EE4AC}"/>
            </c:ext>
          </c:extLst>
        </c:ser>
        <c:ser>
          <c:idx val="1"/>
          <c:order val="1"/>
          <c:tx>
            <c:strRef>
              <c:f>Sheet1!$C$1</c:f>
              <c:strCache>
                <c:ptCount val="1"/>
                <c:pt idx="0">
                  <c:v>Net Profit (Rs. Lakh)</c:v>
                </c:pt>
              </c:strCache>
            </c:strRef>
          </c:tx>
          <c:spPr>
            <a:solidFill>
              <a:schemeClr val="accent3">
                <a:lumMod val="75000"/>
              </a:schemeClr>
            </a:solidFill>
            <a:ln>
              <a:noFill/>
            </a:ln>
            <a:effectLst/>
          </c:spPr>
          <c:invertIfNegative val="0"/>
          <c:dLbls>
            <c:dLbl>
              <c:idx val="5"/>
              <c:layout>
                <c:manualLayout>
                  <c:x val="1.0579158991793638E-3"/>
                  <c:y val="0.12557775290409084"/>
                </c:manualLayout>
              </c:layout>
              <c:numFmt formatCode="#,##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7F5-454C-B337-A6CFAE1C5084}"/>
                </c:ext>
              </c:extLst>
            </c:dLbl>
            <c:dLbl>
              <c:idx val="6"/>
              <c:layout>
                <c:manualLayout>
                  <c:x val="5.1587820302480105E-3"/>
                  <c:y val="0.15069274975972283"/>
                </c:manualLayout>
              </c:layout>
              <c:numFmt formatCode="#,##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7F5-454C-B337-A6CFAE1C5084}"/>
                </c:ext>
              </c:extLst>
            </c:dLbl>
            <c:dLbl>
              <c:idx val="7"/>
              <c:layout>
                <c:manualLayout>
                  <c:x val="2.0635128120992043E-3"/>
                  <c:y val="0.15069274975972283"/>
                </c:manualLayout>
              </c:layout>
              <c:numFmt formatCode="#,##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7F5-454C-B337-A6CFAE1C5084}"/>
                </c:ext>
              </c:extLst>
            </c:dLbl>
            <c:dLbl>
              <c:idx val="8"/>
              <c:layout>
                <c:manualLayout>
                  <c:x val="1.0317564060496021E-3"/>
                  <c:y val="-7.0323098646141821E-2"/>
                </c:manualLayout>
              </c:layout>
              <c:tx>
                <c:rich>
                  <a:bodyPr/>
                  <a:lstStyle/>
                  <a:p>
                    <a:fld id="{1BABC3FA-BC1D-4043-BEA8-170DB2AB3769}" type="VALUE">
                      <a:rPr lang="en-US">
                        <a:solidFill>
                          <a:srgbClr val="FF0000"/>
                        </a:solidFill>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104A-47FD-B88A-C436B09AB6F6}"/>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FY12</c:v>
                </c:pt>
                <c:pt idx="1">
                  <c:v>FY13</c:v>
                </c:pt>
                <c:pt idx="2">
                  <c:v>FY14</c:v>
                </c:pt>
                <c:pt idx="3">
                  <c:v>FY15</c:v>
                </c:pt>
                <c:pt idx="4">
                  <c:v>FY16</c:v>
                </c:pt>
                <c:pt idx="5">
                  <c:v>FY17</c:v>
                </c:pt>
                <c:pt idx="6">
                  <c:v>FY18</c:v>
                </c:pt>
                <c:pt idx="7">
                  <c:v>FY19</c:v>
                </c:pt>
              </c:strCache>
            </c:strRef>
          </c:cat>
          <c:val>
            <c:numRef>
              <c:f>Sheet1!$C$2:$C$9</c:f>
              <c:numCache>
                <c:formatCode>General</c:formatCode>
                <c:ptCount val="8"/>
                <c:pt idx="0">
                  <c:v>7348</c:v>
                </c:pt>
                <c:pt idx="1">
                  <c:v>8172</c:v>
                </c:pt>
                <c:pt idx="2">
                  <c:v>1907</c:v>
                </c:pt>
                <c:pt idx="3">
                  <c:v>1982</c:v>
                </c:pt>
                <c:pt idx="4">
                  <c:v>2248</c:v>
                </c:pt>
                <c:pt idx="5">
                  <c:v>-2435</c:v>
                </c:pt>
                <c:pt idx="6">
                  <c:v>-3738</c:v>
                </c:pt>
                <c:pt idx="7">
                  <c:v>-4483</c:v>
                </c:pt>
              </c:numCache>
            </c:numRef>
          </c:val>
          <c:extLst>
            <c:ext xmlns:c16="http://schemas.microsoft.com/office/drawing/2014/chart" uri="{C3380CC4-5D6E-409C-BE32-E72D297353CC}">
              <c16:uniqueId val="{00000001-EEE5-4D86-9E86-158D9A4EE4AC}"/>
            </c:ext>
          </c:extLst>
        </c:ser>
        <c:dLbls>
          <c:showLegendKey val="0"/>
          <c:showVal val="1"/>
          <c:showCatName val="0"/>
          <c:showSerName val="0"/>
          <c:showPercent val="0"/>
          <c:showBubbleSize val="0"/>
        </c:dLbls>
        <c:gapWidth val="117"/>
        <c:axId val="555341120"/>
        <c:axId val="555345712"/>
      </c:barChart>
      <c:catAx>
        <c:axId val="55534112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555345712"/>
        <c:crosses val="autoZero"/>
        <c:auto val="1"/>
        <c:lblAlgn val="ctr"/>
        <c:lblOffset val="100"/>
        <c:noMultiLvlLbl val="0"/>
      </c:catAx>
      <c:valAx>
        <c:axId val="555345712"/>
        <c:scaling>
          <c:orientation val="minMax"/>
        </c:scaling>
        <c:delete val="0"/>
        <c:axPos val="l"/>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553411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solidFill>
      <a:schemeClr val="accent3">
        <a:lumMod val="20000"/>
        <a:lumOff val="80000"/>
      </a:schemeClr>
    </a:solidFill>
    <a:ln>
      <a:noFill/>
    </a:ln>
    <a:effectLst/>
  </c:spPr>
  <c:txPr>
    <a:bodyPr/>
    <a:lstStyle/>
    <a:p>
      <a:pPr>
        <a:defRPr>
          <a:solidFill>
            <a:schemeClr val="tx1"/>
          </a:solidFill>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GB" sz="1400" b="1" dirty="0"/>
              <a:t>Trend of Gross Profit Margin (%) and Net Profit Margin (%) of WBSEDCL</a:t>
            </a:r>
          </a:p>
        </c:rich>
      </c:tx>
      <c:layout>
        <c:manualLayout>
          <c:xMode val="edge"/>
          <c:yMode val="edge"/>
          <c:x val="0.23878175653522907"/>
          <c:y val="5.0230784747244232E-3"/>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9.4038461025858396E-3"/>
          <c:y val="0.21438996650860767"/>
          <c:w val="0.98114474462827772"/>
          <c:h val="0.661447033856844"/>
        </c:manualLayout>
      </c:layout>
      <c:lineChart>
        <c:grouping val="standard"/>
        <c:varyColors val="0"/>
        <c:ser>
          <c:idx val="0"/>
          <c:order val="0"/>
          <c:tx>
            <c:strRef>
              <c:f>Sheet1!$B$1</c:f>
              <c:strCache>
                <c:ptCount val="1"/>
                <c:pt idx="0">
                  <c:v>Gross Profit Margin (%)</c:v>
                </c:pt>
              </c:strCache>
            </c:strRef>
          </c:tx>
          <c:spPr>
            <a:ln w="28575" cap="rnd">
              <a:solidFill>
                <a:schemeClr val="accent1"/>
              </a:solidFill>
              <a:round/>
            </a:ln>
            <a:effectLst/>
          </c:spPr>
          <c:marker>
            <c:symbol val="none"/>
          </c:marker>
          <c:dLbls>
            <c:dLbl>
              <c:idx val="6"/>
              <c:layout>
                <c:manualLayout>
                  <c:x val="-2.8280443089819595E-2"/>
                  <c:y val="-8.3809866591781926E-2"/>
                </c:manualLayout>
              </c:layout>
              <c:tx>
                <c:rich>
                  <a:bodyPr rot="0" spcFirstLastPara="1" vertOverflow="ellipsis" vert="horz" wrap="square" lIns="38100" tIns="19050" rIns="38100" bIns="19050" anchor="ctr" anchorCtr="1">
                    <a:spAutoFit/>
                  </a:bodyPr>
                  <a:lstStyle/>
                  <a:p>
                    <a:pPr>
                      <a:defRPr sz="1100" b="0" i="0" u="none" strike="noStrike" kern="1200" baseline="0">
                        <a:solidFill>
                          <a:srgbClr val="FF0000"/>
                        </a:solidFill>
                        <a:latin typeface="+mn-lt"/>
                        <a:ea typeface="+mn-ea"/>
                        <a:cs typeface="+mn-cs"/>
                      </a:defRPr>
                    </a:pPr>
                    <a:fld id="{AE98EB3C-E69A-4F2F-9813-CA244B017540}" type="VALUE">
                      <a:rPr lang="en-US">
                        <a:solidFill>
                          <a:schemeClr val="tx1"/>
                        </a:solidFill>
                      </a:rPr>
                      <a:pPr>
                        <a:defRPr sz="1100">
                          <a:solidFill>
                            <a:srgbClr val="FF0000"/>
                          </a:solidFill>
                        </a:defRPr>
                      </a:pPr>
                      <a:t>[VALUE]</a:t>
                    </a:fld>
                    <a:endParaRPr lang="en-US"/>
                  </a:p>
                </c:rich>
              </c:tx>
              <c:numFmt formatCode="0.0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000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7C24-44B8-8FD9-69A63BFEE27D}"/>
                </c:ext>
              </c:extLst>
            </c:dLbl>
            <c:dLbl>
              <c:idx val="7"/>
              <c:layout>
                <c:manualLayout>
                  <c:x val="-3.0343955901918799E-2"/>
                  <c:y val="-0.10390218049067972"/>
                </c:manualLayout>
              </c:layout>
              <c:tx>
                <c:rich>
                  <a:bodyPr rot="0" spcFirstLastPara="1" vertOverflow="ellipsis" vert="horz" wrap="square" lIns="38100" tIns="19050" rIns="38100" bIns="19050" anchor="ctr" anchorCtr="1">
                    <a:spAutoFit/>
                  </a:bodyPr>
                  <a:lstStyle/>
                  <a:p>
                    <a:pPr>
                      <a:defRPr sz="1100" b="0" i="0" u="none" strike="noStrike" kern="1200" baseline="0">
                        <a:solidFill>
                          <a:srgbClr val="FF0000"/>
                        </a:solidFill>
                        <a:latin typeface="+mn-lt"/>
                        <a:ea typeface="+mn-ea"/>
                        <a:cs typeface="+mn-cs"/>
                      </a:defRPr>
                    </a:pPr>
                    <a:fld id="{1F4E783A-1DDE-4B32-8F86-8350494C8900}" type="VALUE">
                      <a:rPr lang="en-US">
                        <a:solidFill>
                          <a:schemeClr val="tx1"/>
                        </a:solidFill>
                      </a:rPr>
                      <a:pPr>
                        <a:defRPr sz="1100">
                          <a:solidFill>
                            <a:srgbClr val="FF0000"/>
                          </a:solidFill>
                        </a:defRPr>
                      </a:pPr>
                      <a:t>[VALUE]</a:t>
                    </a:fld>
                    <a:endParaRPr lang="en-US"/>
                  </a:p>
                </c:rich>
              </c:tx>
              <c:numFmt formatCode="0.0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000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7C24-44B8-8FD9-69A63BFEE27D}"/>
                </c:ext>
              </c:extLst>
            </c:dLbl>
            <c:dLbl>
              <c:idx val="8"/>
              <c:layout>
                <c:manualLayout>
                  <c:x val="-3.3439225120067605E-2"/>
                  <c:y val="-0.144086808288475"/>
                </c:manualLayout>
              </c:layout>
              <c:tx>
                <c:rich>
                  <a:bodyPr/>
                  <a:lstStyle/>
                  <a:p>
                    <a:fld id="{A81C3F4A-ADE4-46ED-AE6E-C3F024AF88AA}" type="VALUE">
                      <a:rPr lang="en-US">
                        <a:solidFill>
                          <a:srgbClr val="FF0000"/>
                        </a:solidFill>
                      </a:rPr>
                      <a:pPr/>
                      <a:t>[VALUE]</a:t>
                    </a:fld>
                    <a:endParaRPr lang="en-US"/>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37D-41B4-95E0-A581C822A66A}"/>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FY12</c:v>
                </c:pt>
                <c:pt idx="1">
                  <c:v>FY13</c:v>
                </c:pt>
                <c:pt idx="2">
                  <c:v>FY14</c:v>
                </c:pt>
                <c:pt idx="3">
                  <c:v>FY15</c:v>
                </c:pt>
                <c:pt idx="4">
                  <c:v>FY16</c:v>
                </c:pt>
                <c:pt idx="5">
                  <c:v>FY17</c:v>
                </c:pt>
                <c:pt idx="6">
                  <c:v>FY18</c:v>
                </c:pt>
                <c:pt idx="7">
                  <c:v>FY19</c:v>
                </c:pt>
              </c:strCache>
            </c:strRef>
          </c:cat>
          <c:val>
            <c:numRef>
              <c:f>Sheet1!$B$2:$B$9</c:f>
              <c:numCache>
                <c:formatCode>0.00%</c:formatCode>
                <c:ptCount val="8"/>
                <c:pt idx="0">
                  <c:v>6.9544096870011354E-2</c:v>
                </c:pt>
                <c:pt idx="1">
                  <c:v>0.1584560624055634</c:v>
                </c:pt>
                <c:pt idx="2">
                  <c:v>8.0447171277844842E-2</c:v>
                </c:pt>
                <c:pt idx="3">
                  <c:v>0.14028290975342633</c:v>
                </c:pt>
                <c:pt idx="4">
                  <c:v>0.16428522690150363</c:v>
                </c:pt>
                <c:pt idx="5">
                  <c:v>0.19898522410526187</c:v>
                </c:pt>
                <c:pt idx="6">
                  <c:v>0.18705300860248308</c:v>
                </c:pt>
                <c:pt idx="7">
                  <c:v>0.15661570659673726</c:v>
                </c:pt>
              </c:numCache>
            </c:numRef>
          </c:val>
          <c:smooth val="0"/>
          <c:extLst>
            <c:ext xmlns:c16="http://schemas.microsoft.com/office/drawing/2014/chart" uri="{C3380CC4-5D6E-409C-BE32-E72D297353CC}">
              <c16:uniqueId val="{00000000-7C24-44B8-8FD9-69A63BFEE27D}"/>
            </c:ext>
          </c:extLst>
        </c:ser>
        <c:ser>
          <c:idx val="1"/>
          <c:order val="1"/>
          <c:tx>
            <c:strRef>
              <c:f>Sheet1!$C$1</c:f>
              <c:strCache>
                <c:ptCount val="1"/>
                <c:pt idx="0">
                  <c:v>Net Profit Margin (%)</c:v>
                </c:pt>
              </c:strCache>
            </c:strRef>
          </c:tx>
          <c:spPr>
            <a:ln w="28575" cap="rnd">
              <a:solidFill>
                <a:schemeClr val="accent2"/>
              </a:solidFill>
              <a:round/>
            </a:ln>
            <a:effectLst/>
          </c:spPr>
          <c:marker>
            <c:symbol val="none"/>
          </c:marker>
          <c:dLbls>
            <c:dLbl>
              <c:idx val="3"/>
              <c:layout>
                <c:manualLayout>
                  <c:x val="-2.7767164587975391E-2"/>
                  <c:y val="5.367179126142543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C24-44B8-8FD9-69A63BFEE27D}"/>
                </c:ext>
              </c:extLst>
            </c:dLbl>
            <c:dLbl>
              <c:idx val="4"/>
              <c:layout>
                <c:manualLayout>
                  <c:x val="-2.7767164587975391E-2"/>
                  <c:y val="4.864871278670110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C24-44B8-8FD9-69A63BFEE27D}"/>
                </c:ext>
              </c:extLst>
            </c:dLbl>
            <c:dLbl>
              <c:idx val="5"/>
              <c:layout>
                <c:manualLayout>
                  <c:x val="-2.9361187614991156E-2"/>
                  <c:y val="0.10739341778960798"/>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000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C24-44B8-8FD9-69A63BFEE27D}"/>
                </c:ext>
              </c:extLst>
            </c:dLbl>
            <c:dLbl>
              <c:idx val="6"/>
              <c:layout>
                <c:manualLayout>
                  <c:x val="-2.7297674802891875E-2"/>
                  <c:y val="8.7301103890710371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000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C24-44B8-8FD9-69A63BFEE27D}"/>
                </c:ext>
              </c:extLst>
            </c:dLbl>
            <c:dLbl>
              <c:idx val="7"/>
              <c:layout>
                <c:manualLayout>
                  <c:x val="-2.9361187614991079E-2"/>
                  <c:y val="0.10237033931488355"/>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000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C24-44B8-8FD9-69A63BFEE27D}"/>
                </c:ext>
              </c:extLst>
            </c:dLbl>
            <c:dLbl>
              <c:idx val="8"/>
              <c:tx>
                <c:rich>
                  <a:bodyPr/>
                  <a:lstStyle/>
                  <a:p>
                    <a:fld id="{A9654F15-FB18-453C-9217-FD3DFD6222E2}" type="VALUE">
                      <a:rPr lang="en-US">
                        <a:solidFill>
                          <a:srgbClr val="FF0000"/>
                        </a:solidFill>
                      </a:rPr>
                      <a:pPr/>
                      <a:t>[VALUE]</a:t>
                    </a:fld>
                    <a:endParaRPr lang="en-US"/>
                  </a:p>
                </c:rich>
              </c:tx>
              <c:dLblPos val="b"/>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337D-41B4-95E0-A581C822A66A}"/>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FY12</c:v>
                </c:pt>
                <c:pt idx="1">
                  <c:v>FY13</c:v>
                </c:pt>
                <c:pt idx="2">
                  <c:v>FY14</c:v>
                </c:pt>
                <c:pt idx="3">
                  <c:v>FY15</c:v>
                </c:pt>
                <c:pt idx="4">
                  <c:v>FY16</c:v>
                </c:pt>
                <c:pt idx="5">
                  <c:v>FY17</c:v>
                </c:pt>
                <c:pt idx="6">
                  <c:v>FY18</c:v>
                </c:pt>
                <c:pt idx="7">
                  <c:v>FY19</c:v>
                </c:pt>
              </c:strCache>
            </c:strRef>
          </c:cat>
          <c:val>
            <c:numRef>
              <c:f>Sheet1!$C$2:$C$9</c:f>
              <c:numCache>
                <c:formatCode>0.00%</c:formatCode>
                <c:ptCount val="8"/>
                <c:pt idx="0">
                  <c:v>6.0746299874092791E-3</c:v>
                </c:pt>
                <c:pt idx="1">
                  <c:v>4.8747635542824488E-3</c:v>
                </c:pt>
                <c:pt idx="2">
                  <c:v>1.2614728207842034E-3</c:v>
                </c:pt>
                <c:pt idx="3">
                  <c:v>1.1270444028199994E-3</c:v>
                </c:pt>
                <c:pt idx="4">
                  <c:v>1.3574297237256131E-3</c:v>
                </c:pt>
                <c:pt idx="5">
                  <c:v>-1.3029842352285199E-3</c:v>
                </c:pt>
                <c:pt idx="6">
                  <c:v>-1.8827848089789394E-3</c:v>
                </c:pt>
                <c:pt idx="7">
                  <c:v>-2.0766656985133519E-3</c:v>
                </c:pt>
              </c:numCache>
            </c:numRef>
          </c:val>
          <c:smooth val="0"/>
          <c:extLst>
            <c:ext xmlns:c16="http://schemas.microsoft.com/office/drawing/2014/chart" uri="{C3380CC4-5D6E-409C-BE32-E72D297353CC}">
              <c16:uniqueId val="{00000002-7C24-44B8-8FD9-69A63BFEE27D}"/>
            </c:ext>
          </c:extLst>
        </c:ser>
        <c:dLbls>
          <c:showLegendKey val="0"/>
          <c:showVal val="1"/>
          <c:showCatName val="0"/>
          <c:showSerName val="0"/>
          <c:showPercent val="0"/>
          <c:showBubbleSize val="0"/>
        </c:dLbls>
        <c:smooth val="0"/>
        <c:axId val="555341120"/>
        <c:axId val="555345712"/>
      </c:lineChart>
      <c:catAx>
        <c:axId val="55534112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555345712"/>
        <c:crosses val="autoZero"/>
        <c:auto val="1"/>
        <c:lblAlgn val="ctr"/>
        <c:lblOffset val="100"/>
        <c:noMultiLvlLbl val="0"/>
      </c:catAx>
      <c:valAx>
        <c:axId val="555345712"/>
        <c:scaling>
          <c:orientation val="minMax"/>
        </c:scaling>
        <c:delete val="0"/>
        <c:axPos val="l"/>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553411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solidFill>
      <a:schemeClr val="accent3">
        <a:lumMod val="20000"/>
        <a:lumOff val="80000"/>
      </a:schemeClr>
    </a:solidFill>
    <a:ln>
      <a:noFill/>
    </a:ln>
    <a:effectLst/>
  </c:spPr>
  <c:txPr>
    <a:bodyPr/>
    <a:lstStyle/>
    <a:p>
      <a:pPr>
        <a:defRPr>
          <a:solidFill>
            <a:schemeClr val="tx1"/>
          </a:solidFill>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GB" sz="1400" b="1" dirty="0"/>
              <a:t>Trend of Short-term Loan</a:t>
            </a:r>
            <a:r>
              <a:rPr lang="en-GB" sz="1400" b="1" baseline="0" dirty="0"/>
              <a:t> (</a:t>
            </a:r>
            <a:r>
              <a:rPr lang="en-GB" sz="1400" b="1" baseline="0" dirty="0" err="1"/>
              <a:t>Rs</a:t>
            </a:r>
            <a:r>
              <a:rPr lang="en-GB" sz="1400" b="1" baseline="0" dirty="0"/>
              <a:t>. Lakh)</a:t>
            </a:r>
            <a:r>
              <a:rPr lang="en-GB" sz="1400" b="1" dirty="0"/>
              <a:t> and Interest (</a:t>
            </a:r>
            <a:r>
              <a:rPr lang="en-GB" sz="1400" b="1" dirty="0" err="1"/>
              <a:t>Rs</a:t>
            </a:r>
            <a:r>
              <a:rPr lang="en-GB" sz="1400" b="1" dirty="0"/>
              <a:t>. Lakh) of WBSEDCL</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Short-term Loan (Rs. Lakh)</c:v>
                </c:pt>
              </c:strCache>
            </c:strRef>
          </c:tx>
          <c:spPr>
            <a:solidFill>
              <a:schemeClr val="accent1"/>
            </a:solidFill>
            <a:ln>
              <a:noFill/>
            </a:ln>
            <a:effectLst/>
          </c:spPr>
          <c:invertIfNegative val="0"/>
          <c:dLbls>
            <c:dLbl>
              <c:idx val="0"/>
              <c:layout>
                <c:manualLayout>
                  <c:x val="-9.622519702651598E-18"/>
                  <c:y val="5.907051688261670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E49-44BB-A102-E35F44614531}"/>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FY11</c:v>
                </c:pt>
                <c:pt idx="1">
                  <c:v>FY12</c:v>
                </c:pt>
                <c:pt idx="2">
                  <c:v>FY13</c:v>
                </c:pt>
                <c:pt idx="3">
                  <c:v>FY14</c:v>
                </c:pt>
                <c:pt idx="4">
                  <c:v>FY15</c:v>
                </c:pt>
                <c:pt idx="5">
                  <c:v>FY16</c:v>
                </c:pt>
                <c:pt idx="6">
                  <c:v>FY17</c:v>
                </c:pt>
                <c:pt idx="7">
                  <c:v>FY18</c:v>
                </c:pt>
                <c:pt idx="8">
                  <c:v>FY19</c:v>
                </c:pt>
              </c:strCache>
            </c:strRef>
          </c:cat>
          <c:val>
            <c:numRef>
              <c:f>Sheet1!$B$2:$B$10</c:f>
              <c:numCache>
                <c:formatCode>General</c:formatCode>
                <c:ptCount val="9"/>
                <c:pt idx="0">
                  <c:v>31982</c:v>
                </c:pt>
                <c:pt idx="1">
                  <c:v>140698</c:v>
                </c:pt>
                <c:pt idx="2">
                  <c:v>206977</c:v>
                </c:pt>
                <c:pt idx="3">
                  <c:v>289508</c:v>
                </c:pt>
                <c:pt idx="4">
                  <c:v>342019</c:v>
                </c:pt>
                <c:pt idx="5">
                  <c:v>430597</c:v>
                </c:pt>
                <c:pt idx="6">
                  <c:v>471359</c:v>
                </c:pt>
                <c:pt idx="7">
                  <c:v>575261</c:v>
                </c:pt>
                <c:pt idx="8">
                  <c:v>510393</c:v>
                </c:pt>
              </c:numCache>
            </c:numRef>
          </c:val>
          <c:extLst>
            <c:ext xmlns:c16="http://schemas.microsoft.com/office/drawing/2014/chart" uri="{C3380CC4-5D6E-409C-BE32-E72D297353CC}">
              <c16:uniqueId val="{00000000-1427-4624-9946-ADB243DDA831}"/>
            </c:ext>
          </c:extLst>
        </c:ser>
        <c:dLbls>
          <c:showLegendKey val="0"/>
          <c:showVal val="1"/>
          <c:showCatName val="0"/>
          <c:showSerName val="0"/>
          <c:showPercent val="0"/>
          <c:showBubbleSize val="0"/>
        </c:dLbls>
        <c:gapWidth val="135"/>
        <c:axId val="555341120"/>
        <c:axId val="555345712"/>
      </c:barChart>
      <c:lineChart>
        <c:grouping val="standard"/>
        <c:varyColors val="0"/>
        <c:ser>
          <c:idx val="1"/>
          <c:order val="1"/>
          <c:tx>
            <c:strRef>
              <c:f>Sheet1!$C$1</c:f>
              <c:strCache>
                <c:ptCount val="1"/>
                <c:pt idx="0">
                  <c:v>Interest on Short-term loan (Rs. Lakh)</c:v>
                </c:pt>
              </c:strCache>
            </c:strRef>
          </c:tx>
          <c:spPr>
            <a:ln w="28575" cap="rnd">
              <a:solidFill>
                <a:srgbClr val="00B0F0"/>
              </a:solidFill>
              <a:round/>
            </a:ln>
            <a:effectLst/>
          </c:spPr>
          <c:marker>
            <c:symbol val="square"/>
            <c:size val="5"/>
            <c:spPr>
              <a:solidFill>
                <a:schemeClr val="accent2"/>
              </a:solidFill>
              <a:ln w="9525">
                <a:solidFill>
                  <a:schemeClr val="accent2"/>
                </a:solidFill>
              </a:ln>
              <a:effectLst/>
            </c:spPr>
          </c:marker>
          <c:dLbls>
            <c:dLbl>
              <c:idx val="0"/>
              <c:layout>
                <c:manualLayout>
                  <c:x val="-2.7185661092511491E-2"/>
                  <c:y val="-7.6607377832139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E49-44BB-A102-E35F44614531}"/>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FY11</c:v>
                </c:pt>
                <c:pt idx="1">
                  <c:v>FY12</c:v>
                </c:pt>
                <c:pt idx="2">
                  <c:v>FY13</c:v>
                </c:pt>
                <c:pt idx="3">
                  <c:v>FY14</c:v>
                </c:pt>
                <c:pt idx="4">
                  <c:v>FY15</c:v>
                </c:pt>
                <c:pt idx="5">
                  <c:v>FY16</c:v>
                </c:pt>
                <c:pt idx="6">
                  <c:v>FY17</c:v>
                </c:pt>
                <c:pt idx="7">
                  <c:v>FY18</c:v>
                </c:pt>
                <c:pt idx="8">
                  <c:v>FY19</c:v>
                </c:pt>
              </c:strCache>
            </c:strRef>
          </c:cat>
          <c:val>
            <c:numRef>
              <c:f>Sheet1!$C$2:$C$10</c:f>
              <c:numCache>
                <c:formatCode>General</c:formatCode>
                <c:ptCount val="9"/>
                <c:pt idx="0">
                  <c:v>1532</c:v>
                </c:pt>
                <c:pt idx="1">
                  <c:v>10586</c:v>
                </c:pt>
                <c:pt idx="2">
                  <c:v>22066</c:v>
                </c:pt>
                <c:pt idx="3">
                  <c:v>36478</c:v>
                </c:pt>
                <c:pt idx="4">
                  <c:v>60400</c:v>
                </c:pt>
                <c:pt idx="5">
                  <c:v>67851</c:v>
                </c:pt>
                <c:pt idx="6">
                  <c:v>77293</c:v>
                </c:pt>
                <c:pt idx="7">
                  <c:v>78351</c:v>
                </c:pt>
                <c:pt idx="8">
                  <c:v>71161</c:v>
                </c:pt>
              </c:numCache>
            </c:numRef>
          </c:val>
          <c:smooth val="0"/>
          <c:extLst>
            <c:ext xmlns:c16="http://schemas.microsoft.com/office/drawing/2014/chart" uri="{C3380CC4-5D6E-409C-BE32-E72D297353CC}">
              <c16:uniqueId val="{00000001-1427-4624-9946-ADB243DDA831}"/>
            </c:ext>
          </c:extLst>
        </c:ser>
        <c:dLbls>
          <c:showLegendKey val="0"/>
          <c:showVal val="1"/>
          <c:showCatName val="0"/>
          <c:showSerName val="0"/>
          <c:showPercent val="0"/>
          <c:showBubbleSize val="0"/>
        </c:dLbls>
        <c:marker val="1"/>
        <c:smooth val="0"/>
        <c:axId val="721062200"/>
        <c:axId val="721065152"/>
      </c:lineChart>
      <c:catAx>
        <c:axId val="55534112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555345712"/>
        <c:crosses val="autoZero"/>
        <c:auto val="1"/>
        <c:lblAlgn val="ctr"/>
        <c:lblOffset val="100"/>
        <c:noMultiLvlLbl val="0"/>
      </c:catAx>
      <c:valAx>
        <c:axId val="555345712"/>
        <c:scaling>
          <c:orientation val="minMax"/>
        </c:scaling>
        <c:delete val="0"/>
        <c:axPos val="l"/>
        <c:numFmt formatCode="General" sourceLinked="1"/>
        <c:majorTickMark val="out"/>
        <c:minorTickMark val="none"/>
        <c:tickLblPos val="none"/>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55341120"/>
        <c:crosses val="autoZero"/>
        <c:crossBetween val="between"/>
        <c:majorUnit val="200000"/>
      </c:valAx>
      <c:valAx>
        <c:axId val="721065152"/>
        <c:scaling>
          <c:orientation val="minMax"/>
        </c:scaling>
        <c:delete val="0"/>
        <c:axPos val="r"/>
        <c:numFmt formatCode="General" sourceLinked="1"/>
        <c:majorTickMark val="out"/>
        <c:minorTickMark val="none"/>
        <c:tickLblPos val="none"/>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721062200"/>
        <c:crosses val="max"/>
        <c:crossBetween val="between"/>
        <c:majorUnit val="15000"/>
      </c:valAx>
      <c:catAx>
        <c:axId val="721062200"/>
        <c:scaling>
          <c:orientation val="minMax"/>
        </c:scaling>
        <c:delete val="1"/>
        <c:axPos val="b"/>
        <c:numFmt formatCode="General" sourceLinked="1"/>
        <c:majorTickMark val="out"/>
        <c:minorTickMark val="none"/>
        <c:tickLblPos val="nextTo"/>
        <c:crossAx val="72106515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solidFill>
      <a:schemeClr val="accent1">
        <a:lumMod val="20000"/>
        <a:lumOff val="80000"/>
      </a:schemeClr>
    </a:solidFill>
    <a:ln>
      <a:noFill/>
    </a:ln>
    <a:effectLst/>
  </c:spPr>
  <c:txPr>
    <a:bodyPr/>
    <a:lstStyle/>
    <a:p>
      <a:pPr>
        <a:defRPr>
          <a:solidFill>
            <a:schemeClr val="tx1"/>
          </a:solidFill>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none" spc="0" normalizeH="0" baseline="0">
                <a:solidFill>
                  <a:schemeClr val="tx1"/>
                </a:solidFill>
                <a:latin typeface="+mj-lt"/>
                <a:ea typeface="+mj-ea"/>
                <a:cs typeface="+mj-cs"/>
              </a:defRPr>
            </a:pPr>
            <a:r>
              <a:rPr lang="en-GB" sz="1400" b="1" dirty="0"/>
              <a:t>Source-wise fresh </a:t>
            </a:r>
            <a:r>
              <a:rPr lang="en-GB" sz="1400" b="1" dirty="0" err="1"/>
              <a:t>drawal</a:t>
            </a:r>
            <a:r>
              <a:rPr lang="en-GB" sz="1400" b="1" dirty="0"/>
              <a:t> of funds (</a:t>
            </a:r>
            <a:r>
              <a:rPr lang="en-GB" sz="1400" b="1" dirty="0" err="1"/>
              <a:t>Rs</a:t>
            </a:r>
            <a:r>
              <a:rPr lang="en-GB" sz="1400" b="1" dirty="0"/>
              <a:t>. Lakh) by WBSEDCL in last five years</a:t>
            </a:r>
          </a:p>
        </c:rich>
      </c:tx>
      <c:layout>
        <c:manualLayout>
          <c:xMode val="edge"/>
          <c:yMode val="edge"/>
          <c:x val="0.11500308838771819"/>
          <c:y val="0"/>
        </c:manualLayout>
      </c:layout>
      <c:overlay val="0"/>
      <c:spPr>
        <a:noFill/>
        <a:ln>
          <a:noFill/>
        </a:ln>
        <a:effectLst/>
      </c:spPr>
      <c:txPr>
        <a:bodyPr rot="0" spcFirstLastPara="1" vertOverflow="ellipsis" vert="horz" wrap="square" anchor="ctr" anchorCtr="1"/>
        <a:lstStyle/>
        <a:p>
          <a:pPr>
            <a:defRPr sz="1400" b="1" i="0" u="none" strike="noStrike" kern="1200" cap="none" spc="0" normalizeH="0" baseline="0">
              <a:solidFill>
                <a:schemeClr val="tx1"/>
              </a:solidFill>
              <a:latin typeface="+mj-lt"/>
              <a:ea typeface="+mj-ea"/>
              <a:cs typeface="+mj-cs"/>
            </a:defRPr>
          </a:pPr>
          <a:endParaRPr lang="en-US"/>
        </a:p>
      </c:txPr>
    </c:title>
    <c:autoTitleDeleted val="0"/>
    <c:plotArea>
      <c:layout>
        <c:manualLayout>
          <c:layoutTarget val="inner"/>
          <c:xMode val="edge"/>
          <c:yMode val="edge"/>
          <c:x val="0.19471393322654504"/>
          <c:y val="0.11715094751467395"/>
          <c:w val="0.78673641409105377"/>
          <c:h val="0.56358230614895322"/>
        </c:manualLayout>
      </c:layout>
      <c:barChart>
        <c:barDir val="col"/>
        <c:grouping val="stacked"/>
        <c:varyColors val="0"/>
        <c:ser>
          <c:idx val="0"/>
          <c:order val="0"/>
          <c:tx>
            <c:strRef>
              <c:f>Sheet1!$B$1</c:f>
              <c:strCache>
                <c:ptCount val="1"/>
                <c:pt idx="0">
                  <c:v>Equity</c:v>
                </c:pt>
              </c:strCache>
            </c:strRef>
          </c:tx>
          <c:spPr>
            <a:solidFill>
              <a:schemeClr val="accent1"/>
            </a:solidFill>
            <a:ln>
              <a:noFill/>
            </a:ln>
            <a:effectLst/>
          </c:spPr>
          <c:invertIfNegative val="0"/>
          <c:dLbls>
            <c:delete val="1"/>
          </c:dLbls>
          <c:cat>
            <c:strRef>
              <c:f>Sheet1!$A$2:$A$7</c:f>
              <c:strCache>
                <c:ptCount val="6"/>
                <c:pt idx="0">
                  <c:v>FY 2013-14</c:v>
                </c:pt>
                <c:pt idx="1">
                  <c:v>FY 2014-15</c:v>
                </c:pt>
                <c:pt idx="2">
                  <c:v>FY 2015-16</c:v>
                </c:pt>
                <c:pt idx="3">
                  <c:v>FY 2016-17</c:v>
                </c:pt>
                <c:pt idx="4">
                  <c:v>FY 2017-18</c:v>
                </c:pt>
                <c:pt idx="5">
                  <c:v>FY 2018-19</c:v>
                </c:pt>
              </c:strCache>
            </c:strRef>
          </c:cat>
          <c:val>
            <c:numRef>
              <c:f>Sheet1!$B$2:$B$7</c:f>
              <c:numCache>
                <c:formatCode>#,##0</c:formatCode>
                <c:ptCount val="6"/>
                <c:pt idx="0">
                  <c:v>0</c:v>
                </c:pt>
                <c:pt idx="1">
                  <c:v>0</c:v>
                </c:pt>
                <c:pt idx="2">
                  <c:v>0</c:v>
                </c:pt>
                <c:pt idx="3">
                  <c:v>0</c:v>
                </c:pt>
                <c:pt idx="4">
                  <c:v>3950</c:v>
                </c:pt>
                <c:pt idx="5">
                  <c:v>2062</c:v>
                </c:pt>
              </c:numCache>
            </c:numRef>
          </c:val>
          <c:extLst>
            <c:ext xmlns:c16="http://schemas.microsoft.com/office/drawing/2014/chart" uri="{C3380CC4-5D6E-409C-BE32-E72D297353CC}">
              <c16:uniqueId val="{00000000-3FF5-4651-BB06-00F13B02E78E}"/>
            </c:ext>
          </c:extLst>
        </c:ser>
        <c:ser>
          <c:idx val="1"/>
          <c:order val="1"/>
          <c:tx>
            <c:strRef>
              <c:f>Sheet1!$C$1</c:f>
              <c:strCache>
                <c:ptCount val="1"/>
                <c:pt idx="0">
                  <c:v>Grant</c:v>
                </c:pt>
              </c:strCache>
            </c:strRef>
          </c:tx>
          <c:spPr>
            <a:solidFill>
              <a:schemeClr val="accent2"/>
            </a:solidFill>
            <a:ln>
              <a:noFill/>
            </a:ln>
            <a:effectLst/>
          </c:spPr>
          <c:invertIfNegative val="0"/>
          <c:dLbls>
            <c:delete val="1"/>
          </c:dLbls>
          <c:cat>
            <c:strRef>
              <c:f>Sheet1!$A$2:$A$7</c:f>
              <c:strCache>
                <c:ptCount val="6"/>
                <c:pt idx="0">
                  <c:v>FY 2013-14</c:v>
                </c:pt>
                <c:pt idx="1">
                  <c:v>FY 2014-15</c:v>
                </c:pt>
                <c:pt idx="2">
                  <c:v>FY 2015-16</c:v>
                </c:pt>
                <c:pt idx="3">
                  <c:v>FY 2016-17</c:v>
                </c:pt>
                <c:pt idx="4">
                  <c:v>FY 2017-18</c:v>
                </c:pt>
                <c:pt idx="5">
                  <c:v>FY 2018-19</c:v>
                </c:pt>
              </c:strCache>
            </c:strRef>
          </c:cat>
          <c:val>
            <c:numRef>
              <c:f>Sheet1!$C$2:$C$7</c:f>
              <c:numCache>
                <c:formatCode>#,##0</c:formatCode>
                <c:ptCount val="6"/>
                <c:pt idx="0">
                  <c:v>7593</c:v>
                </c:pt>
                <c:pt idx="1">
                  <c:v>116069</c:v>
                </c:pt>
                <c:pt idx="2">
                  <c:v>123398</c:v>
                </c:pt>
                <c:pt idx="3">
                  <c:v>106928</c:v>
                </c:pt>
                <c:pt idx="4">
                  <c:v>96974</c:v>
                </c:pt>
                <c:pt idx="5">
                  <c:v>258847</c:v>
                </c:pt>
              </c:numCache>
            </c:numRef>
          </c:val>
          <c:extLst>
            <c:ext xmlns:c16="http://schemas.microsoft.com/office/drawing/2014/chart" uri="{C3380CC4-5D6E-409C-BE32-E72D297353CC}">
              <c16:uniqueId val="{00000001-3FF5-4651-BB06-00F13B02E78E}"/>
            </c:ext>
          </c:extLst>
        </c:ser>
        <c:ser>
          <c:idx val="2"/>
          <c:order val="2"/>
          <c:tx>
            <c:strRef>
              <c:f>Sheet1!$D$1</c:f>
              <c:strCache>
                <c:ptCount val="1"/>
                <c:pt idx="0">
                  <c:v>Consumer Contribution</c:v>
                </c:pt>
              </c:strCache>
            </c:strRef>
          </c:tx>
          <c:spPr>
            <a:solidFill>
              <a:schemeClr val="accent3"/>
            </a:solidFill>
            <a:ln>
              <a:noFill/>
            </a:ln>
            <a:effectLst/>
          </c:spPr>
          <c:invertIfNegative val="0"/>
          <c:dLbls>
            <c:delete val="1"/>
          </c:dLbls>
          <c:cat>
            <c:strRef>
              <c:f>Sheet1!$A$2:$A$7</c:f>
              <c:strCache>
                <c:ptCount val="6"/>
                <c:pt idx="0">
                  <c:v>FY 2013-14</c:v>
                </c:pt>
                <c:pt idx="1">
                  <c:v>FY 2014-15</c:v>
                </c:pt>
                <c:pt idx="2">
                  <c:v>FY 2015-16</c:v>
                </c:pt>
                <c:pt idx="3">
                  <c:v>FY 2016-17</c:v>
                </c:pt>
                <c:pt idx="4">
                  <c:v>FY 2017-18</c:v>
                </c:pt>
                <c:pt idx="5">
                  <c:v>FY 2018-19</c:v>
                </c:pt>
              </c:strCache>
            </c:strRef>
          </c:cat>
          <c:val>
            <c:numRef>
              <c:f>Sheet1!$D$2:$D$7</c:f>
              <c:numCache>
                <c:formatCode>#,##0</c:formatCode>
                <c:ptCount val="6"/>
                <c:pt idx="0">
                  <c:v>12263</c:v>
                </c:pt>
                <c:pt idx="1">
                  <c:v>12434</c:v>
                </c:pt>
                <c:pt idx="2">
                  <c:v>67804</c:v>
                </c:pt>
                <c:pt idx="3">
                  <c:v>36116</c:v>
                </c:pt>
                <c:pt idx="4" formatCode="_ * #,##0_ ;_ * \-#,##0_ ;_ * &quot;-&quot;??_ ;_ @_ ">
                  <c:v>40069</c:v>
                </c:pt>
                <c:pt idx="5" formatCode="_ * #,##0_ ;_ * \-#,##0_ ;_ * &quot;-&quot;??_ ;_ @_ ">
                  <c:v>37492</c:v>
                </c:pt>
              </c:numCache>
            </c:numRef>
          </c:val>
          <c:extLst>
            <c:ext xmlns:c16="http://schemas.microsoft.com/office/drawing/2014/chart" uri="{C3380CC4-5D6E-409C-BE32-E72D297353CC}">
              <c16:uniqueId val="{00000002-3FF5-4651-BB06-00F13B02E78E}"/>
            </c:ext>
          </c:extLst>
        </c:ser>
        <c:ser>
          <c:idx val="3"/>
          <c:order val="3"/>
          <c:tx>
            <c:strRef>
              <c:f>Sheet1!$E$1</c:f>
              <c:strCache>
                <c:ptCount val="1"/>
                <c:pt idx="0">
                  <c:v>Bonds</c:v>
                </c:pt>
              </c:strCache>
            </c:strRef>
          </c:tx>
          <c:spPr>
            <a:solidFill>
              <a:schemeClr val="accent4"/>
            </a:solidFill>
            <a:ln>
              <a:noFill/>
            </a:ln>
            <a:effectLst/>
          </c:spPr>
          <c:invertIfNegative val="0"/>
          <c:dLbls>
            <c:delete val="1"/>
          </c:dLbls>
          <c:cat>
            <c:strRef>
              <c:f>Sheet1!$A$2:$A$7</c:f>
              <c:strCache>
                <c:ptCount val="6"/>
                <c:pt idx="0">
                  <c:v>FY 2013-14</c:v>
                </c:pt>
                <c:pt idx="1">
                  <c:v>FY 2014-15</c:v>
                </c:pt>
                <c:pt idx="2">
                  <c:v>FY 2015-16</c:v>
                </c:pt>
                <c:pt idx="3">
                  <c:v>FY 2016-17</c:v>
                </c:pt>
                <c:pt idx="4">
                  <c:v>FY 2017-18</c:v>
                </c:pt>
                <c:pt idx="5">
                  <c:v>FY 2018-19</c:v>
                </c:pt>
              </c:strCache>
            </c:strRef>
          </c:cat>
          <c:val>
            <c:numRef>
              <c:f>Sheet1!$E$2:$E$7</c:f>
              <c:numCache>
                <c:formatCode>#,##0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3-3FF5-4651-BB06-00F13B02E78E}"/>
            </c:ext>
          </c:extLst>
        </c:ser>
        <c:ser>
          <c:idx val="4"/>
          <c:order val="4"/>
          <c:tx>
            <c:strRef>
              <c:f>Sheet1!$F$1</c:f>
              <c:strCache>
                <c:ptCount val="1"/>
                <c:pt idx="0">
                  <c:v>Loan from FI-s</c:v>
                </c:pt>
              </c:strCache>
            </c:strRef>
          </c:tx>
          <c:spPr>
            <a:solidFill>
              <a:schemeClr val="accent5"/>
            </a:solidFill>
            <a:ln>
              <a:noFill/>
            </a:ln>
            <a:effectLst/>
          </c:spPr>
          <c:invertIfNegative val="0"/>
          <c:dLbls>
            <c:delete val="1"/>
          </c:dLbls>
          <c:cat>
            <c:strRef>
              <c:f>Sheet1!$A$2:$A$7</c:f>
              <c:strCache>
                <c:ptCount val="6"/>
                <c:pt idx="0">
                  <c:v>FY 2013-14</c:v>
                </c:pt>
                <c:pt idx="1">
                  <c:v>FY 2014-15</c:v>
                </c:pt>
                <c:pt idx="2">
                  <c:v>FY 2015-16</c:v>
                </c:pt>
                <c:pt idx="3">
                  <c:v>FY 2016-17</c:v>
                </c:pt>
                <c:pt idx="4">
                  <c:v>FY 2017-18</c:v>
                </c:pt>
                <c:pt idx="5">
                  <c:v>FY 2018-19</c:v>
                </c:pt>
              </c:strCache>
            </c:strRef>
          </c:cat>
          <c:val>
            <c:numRef>
              <c:f>Sheet1!$F$2:$F$7</c:f>
              <c:numCache>
                <c:formatCode>#,##0</c:formatCode>
                <c:ptCount val="6"/>
                <c:pt idx="0">
                  <c:v>196912</c:v>
                </c:pt>
                <c:pt idx="1">
                  <c:v>33079</c:v>
                </c:pt>
                <c:pt idx="2">
                  <c:v>31077</c:v>
                </c:pt>
                <c:pt idx="3">
                  <c:v>23903</c:v>
                </c:pt>
                <c:pt idx="4">
                  <c:v>18532</c:v>
                </c:pt>
                <c:pt idx="5">
                  <c:v>9254</c:v>
                </c:pt>
              </c:numCache>
            </c:numRef>
          </c:val>
          <c:extLst>
            <c:ext xmlns:c16="http://schemas.microsoft.com/office/drawing/2014/chart" uri="{C3380CC4-5D6E-409C-BE32-E72D297353CC}">
              <c16:uniqueId val="{00000004-3FF5-4651-BB06-00F13B02E78E}"/>
            </c:ext>
          </c:extLst>
        </c:ser>
        <c:ser>
          <c:idx val="5"/>
          <c:order val="5"/>
          <c:tx>
            <c:strRef>
              <c:f>Sheet1!$G$1</c:f>
              <c:strCache>
                <c:ptCount val="1"/>
                <c:pt idx="0">
                  <c:v>Loan from State Govt.</c:v>
                </c:pt>
              </c:strCache>
            </c:strRef>
          </c:tx>
          <c:spPr>
            <a:solidFill>
              <a:schemeClr val="accent6"/>
            </a:solidFill>
            <a:ln>
              <a:noFill/>
            </a:ln>
            <a:effectLst/>
          </c:spPr>
          <c:invertIfNegative val="0"/>
          <c:dLbls>
            <c:delete val="1"/>
          </c:dLbls>
          <c:cat>
            <c:strRef>
              <c:f>Sheet1!$A$2:$A$7</c:f>
              <c:strCache>
                <c:ptCount val="6"/>
                <c:pt idx="0">
                  <c:v>FY 2013-14</c:v>
                </c:pt>
                <c:pt idx="1">
                  <c:v>FY 2014-15</c:v>
                </c:pt>
                <c:pt idx="2">
                  <c:v>FY 2015-16</c:v>
                </c:pt>
                <c:pt idx="3">
                  <c:v>FY 2016-17</c:v>
                </c:pt>
                <c:pt idx="4">
                  <c:v>FY 2017-18</c:v>
                </c:pt>
                <c:pt idx="5">
                  <c:v>FY 2018-19</c:v>
                </c:pt>
              </c:strCache>
            </c:strRef>
          </c:cat>
          <c:val>
            <c:numRef>
              <c:f>Sheet1!$G$2:$G$7</c:f>
              <c:numCache>
                <c:formatCode>#,##0</c:formatCode>
                <c:ptCount val="6"/>
                <c:pt idx="0">
                  <c:v>0</c:v>
                </c:pt>
                <c:pt idx="1">
                  <c:v>0</c:v>
                </c:pt>
                <c:pt idx="2">
                  <c:v>3057</c:v>
                </c:pt>
                <c:pt idx="3">
                  <c:v>11457</c:v>
                </c:pt>
                <c:pt idx="4">
                  <c:v>0</c:v>
                </c:pt>
                <c:pt idx="5">
                  <c:v>0</c:v>
                </c:pt>
              </c:numCache>
            </c:numRef>
          </c:val>
          <c:extLst>
            <c:ext xmlns:c16="http://schemas.microsoft.com/office/drawing/2014/chart" uri="{C3380CC4-5D6E-409C-BE32-E72D297353CC}">
              <c16:uniqueId val="{00000005-3FF5-4651-BB06-00F13B02E78E}"/>
            </c:ext>
          </c:extLst>
        </c:ser>
        <c:dLbls>
          <c:dLblPos val="ctr"/>
          <c:showLegendKey val="0"/>
          <c:showVal val="1"/>
          <c:showCatName val="0"/>
          <c:showSerName val="0"/>
          <c:showPercent val="0"/>
          <c:showBubbleSize val="0"/>
        </c:dLbls>
        <c:gapWidth val="150"/>
        <c:overlap val="100"/>
        <c:axId val="471571320"/>
        <c:axId val="471572632"/>
      </c:barChart>
      <c:catAx>
        <c:axId val="471571320"/>
        <c:scaling>
          <c:orientation val="minMax"/>
        </c:scaling>
        <c:delete val="0"/>
        <c:axPos val="b"/>
        <c:numFmt formatCode="#,##0" sourceLinked="0"/>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97" b="0" i="0" u="none" strike="noStrike" kern="1200" cap="none" spc="0" normalizeH="0" baseline="0">
                <a:solidFill>
                  <a:schemeClr val="tx1"/>
                </a:solidFill>
                <a:latin typeface="+mn-lt"/>
                <a:ea typeface="+mn-ea"/>
                <a:cs typeface="+mn-cs"/>
              </a:defRPr>
            </a:pPr>
            <a:endParaRPr lang="en-US"/>
          </a:p>
        </c:txPr>
        <c:crossAx val="471572632"/>
        <c:crosses val="autoZero"/>
        <c:auto val="1"/>
        <c:lblAlgn val="ctr"/>
        <c:lblOffset val="100"/>
        <c:noMultiLvlLbl val="0"/>
      </c:catAx>
      <c:valAx>
        <c:axId val="47157263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471571320"/>
        <c:crosses val="autoZero"/>
        <c:crossBetween val="between"/>
      </c:valAx>
      <c:dTable>
        <c:showHorzBorder val="1"/>
        <c:showVertBorder val="1"/>
        <c:showOutline val="1"/>
        <c:showKeys val="1"/>
        <c:spPr>
          <a:noFill/>
          <a:ln w="9525">
            <a:solidFill>
              <a:schemeClr val="tx1"/>
            </a:solidFill>
          </a:ln>
          <a:effectLst/>
        </c:spPr>
        <c:txPr>
          <a:bodyPr rot="0" spcFirstLastPara="1" vertOverflow="ellipsis" vert="horz" wrap="square" anchor="ctr" anchorCtr="1"/>
          <a:lstStyle/>
          <a:p>
            <a:pPr rtl="0">
              <a:defRPr sz="1197" b="0" i="0" u="none" strike="noStrike" kern="1200" baseline="0">
                <a:solidFill>
                  <a:schemeClr val="tx1"/>
                </a:solidFill>
                <a:latin typeface="+mn-lt"/>
                <a:ea typeface="+mn-ea"/>
                <a:cs typeface="+mn-cs"/>
              </a:defRPr>
            </a:pPr>
            <a:endParaRPr lang="en-US"/>
          </a:p>
        </c:txPr>
      </c:dTable>
      <c:spPr>
        <a:noFill/>
        <a:ln>
          <a:noFill/>
        </a:ln>
        <a:effectLst/>
      </c:spPr>
    </c:plotArea>
    <c:plotVisOnly val="1"/>
    <c:dispBlanksAs val="gap"/>
    <c:showDLblsOverMax val="0"/>
  </c:chart>
  <c:spPr>
    <a:solidFill>
      <a:schemeClr val="bg1">
        <a:lumMod val="95000"/>
      </a:schemeClr>
    </a:solidFill>
    <a:ln w="19050">
      <a:noFill/>
    </a:ln>
    <a:effectLst/>
  </c:spPr>
  <c:txPr>
    <a:bodyPr/>
    <a:lstStyle/>
    <a:p>
      <a:pPr>
        <a:defRPr>
          <a:solidFill>
            <a:schemeClr val="tx1"/>
          </a:solidFill>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FY19 Closing Balance (Rs. Lakh)</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2-3031-4FEA-AF59-836339730E7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031-4FEA-AF59-836339730E74}"/>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4-3031-4FEA-AF59-836339730E74}"/>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1-3031-4FEA-AF59-836339730E74}"/>
              </c:ext>
            </c:extLst>
          </c:dPt>
          <c:dLbls>
            <c:dLbl>
              <c:idx val="0"/>
              <c:layout>
                <c:manualLayout>
                  <c:x val="0.12447882502846201"/>
                  <c:y val="-8.871218353975574E-2"/>
                </c:manualLayout>
              </c:layout>
              <c:showLegendKey val="0"/>
              <c:showVal val="1"/>
              <c:showCatName val="1"/>
              <c:showSerName val="0"/>
              <c:showPercent val="0"/>
              <c:showBubbleSize val="0"/>
              <c:extLst>
                <c:ext xmlns:c15="http://schemas.microsoft.com/office/drawing/2012/chart" uri="{CE6537A1-D6FC-4f65-9D91-7224C49458BB}">
                  <c15:layout>
                    <c:manualLayout>
                      <c:w val="0.24912985456108211"/>
                      <c:h val="0.16065504511427847"/>
                    </c:manualLayout>
                  </c15:layout>
                </c:ext>
                <c:ext xmlns:c16="http://schemas.microsoft.com/office/drawing/2014/chart" uri="{C3380CC4-5D6E-409C-BE32-E72D297353CC}">
                  <c16:uniqueId val="{00000002-3031-4FEA-AF59-836339730E74}"/>
                </c:ext>
              </c:extLst>
            </c:dLbl>
            <c:dLbl>
              <c:idx val="1"/>
              <c:layout>
                <c:manualLayout>
                  <c:x val="0.11711338807084209"/>
                  <c:y val="0.12438852220885471"/>
                </c:manualLayout>
              </c:layout>
              <c:showLegendKey val="0"/>
              <c:showVal val="1"/>
              <c:showCatName val="1"/>
              <c:showSerName val="0"/>
              <c:showPercent val="0"/>
              <c:showBubbleSize val="0"/>
              <c:extLst>
                <c:ext xmlns:c15="http://schemas.microsoft.com/office/drawing/2012/chart" uri="{CE6537A1-D6FC-4f65-9D91-7224C49458BB}">
                  <c15:layout>
                    <c:manualLayout>
                      <c:w val="0.24608114119412214"/>
                      <c:h val="0.16065504511427847"/>
                    </c:manualLayout>
                  </c15:layout>
                </c:ext>
                <c:ext xmlns:c16="http://schemas.microsoft.com/office/drawing/2014/chart" uri="{C3380CC4-5D6E-409C-BE32-E72D297353CC}">
                  <c16:uniqueId val="{00000003-3031-4FEA-AF59-836339730E74}"/>
                </c:ext>
              </c:extLst>
            </c:dLbl>
            <c:dLbl>
              <c:idx val="2"/>
              <c:layout>
                <c:manualLayout>
                  <c:x val="-2.872588269887584E-2"/>
                  <c:y val="0.18954441479444517"/>
                </c:manualLayout>
              </c:layout>
              <c:showLegendKey val="0"/>
              <c:showVal val="1"/>
              <c:showCatName val="1"/>
              <c:showSerName val="0"/>
              <c:showPercent val="0"/>
              <c:showBubbleSize val="0"/>
              <c:extLst>
                <c:ext xmlns:c15="http://schemas.microsoft.com/office/drawing/2012/chart" uri="{CE6537A1-D6FC-4f65-9D91-7224C49458BB}">
                  <c15:layout>
                    <c:manualLayout>
                      <c:w val="0.25387920050062956"/>
                      <c:h val="0.21076288876728494"/>
                    </c:manualLayout>
                  </c15:layout>
                </c:ext>
                <c:ext xmlns:c16="http://schemas.microsoft.com/office/drawing/2014/chart" uri="{C3380CC4-5D6E-409C-BE32-E72D297353CC}">
                  <c16:uniqueId val="{00000004-3031-4FEA-AF59-836339730E74}"/>
                </c:ext>
              </c:extLst>
            </c:dLbl>
            <c:dLbl>
              <c:idx val="3"/>
              <c:layout>
                <c:manualLayout>
                  <c:x val="-0.24321247351714884"/>
                  <c:y val="-0.11131894658688532"/>
                </c:manualLayout>
              </c:layout>
              <c:showLegendKey val="0"/>
              <c:showVal val="1"/>
              <c:showCatName val="1"/>
              <c:showSerName val="0"/>
              <c:showPercent val="0"/>
              <c:showBubbleSize val="0"/>
              <c:extLst>
                <c:ext xmlns:c15="http://schemas.microsoft.com/office/drawing/2012/chart" uri="{CE6537A1-D6FC-4f65-9D91-7224C49458BB}">
                  <c15:layout>
                    <c:manualLayout>
                      <c:w val="0.37644296668249982"/>
                      <c:h val="0.13499845162871846"/>
                    </c:manualLayout>
                  </c15:layout>
                </c:ext>
                <c:ext xmlns:c16="http://schemas.microsoft.com/office/drawing/2014/chart" uri="{C3380CC4-5D6E-409C-BE32-E72D297353CC}">
                  <c16:uniqueId val="{00000001-3031-4FEA-AF59-836339730E74}"/>
                </c:ext>
              </c:extLst>
            </c:dLbl>
            <c:numFmt formatCode="#,##0" sourceLinked="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Equity</c:v>
                </c:pt>
                <c:pt idx="1">
                  <c:v>Bonds</c:v>
                </c:pt>
                <c:pt idx="2">
                  <c:v>FI Loans</c:v>
                </c:pt>
                <c:pt idx="3">
                  <c:v>State Govt. Loans</c:v>
                </c:pt>
              </c:strCache>
            </c:strRef>
          </c:cat>
          <c:val>
            <c:numRef>
              <c:f>Sheet1!$B$2:$B$5</c:f>
              <c:numCache>
                <c:formatCode>General</c:formatCode>
                <c:ptCount val="4"/>
                <c:pt idx="0">
                  <c:v>259169</c:v>
                </c:pt>
                <c:pt idx="1">
                  <c:v>217048</c:v>
                </c:pt>
                <c:pt idx="2">
                  <c:v>513240</c:v>
                </c:pt>
                <c:pt idx="3">
                  <c:v>11457</c:v>
                </c:pt>
              </c:numCache>
            </c:numRef>
          </c:val>
          <c:extLst>
            <c:ext xmlns:c16="http://schemas.microsoft.com/office/drawing/2014/chart" uri="{C3380CC4-5D6E-409C-BE32-E72D297353CC}">
              <c16:uniqueId val="{00000000-3031-4FEA-AF59-836339730E7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solidFill>
      <a:schemeClr val="accent3">
        <a:lumMod val="20000"/>
        <a:lumOff val="80000"/>
      </a:schemeClr>
    </a:solidFill>
    <a:ln>
      <a:noFill/>
    </a:ln>
    <a:effectLst/>
  </c:spPr>
  <c:txPr>
    <a:bodyPr/>
    <a:lstStyle/>
    <a:p>
      <a:pPr>
        <a:defRPr>
          <a:solidFill>
            <a:schemeClr val="tx1"/>
          </a:solidFill>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GB" sz="1400"/>
              <a:t>Power purchase cost and Fixed costs of WBSEDCL as % of total cost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Power purchase cost (%)</c:v>
                </c:pt>
              </c:strCache>
            </c:strRef>
          </c:tx>
          <c:spPr>
            <a:solidFill>
              <a:schemeClr val="accent3">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FY14</c:v>
                </c:pt>
                <c:pt idx="1">
                  <c:v>FY15</c:v>
                </c:pt>
                <c:pt idx="2">
                  <c:v>FY16</c:v>
                </c:pt>
                <c:pt idx="3">
                  <c:v>FY17</c:v>
                </c:pt>
                <c:pt idx="4">
                  <c:v>FY18</c:v>
                </c:pt>
                <c:pt idx="5">
                  <c:v>FY19</c:v>
                </c:pt>
              </c:strCache>
            </c:strRef>
          </c:cat>
          <c:val>
            <c:numRef>
              <c:f>Sheet1!$B$2:$B$7</c:f>
              <c:numCache>
                <c:formatCode>0%</c:formatCode>
                <c:ptCount val="6"/>
                <c:pt idx="0">
                  <c:v>0.72</c:v>
                </c:pt>
                <c:pt idx="1">
                  <c:v>0.72</c:v>
                </c:pt>
                <c:pt idx="2">
                  <c:v>0.67</c:v>
                </c:pt>
                <c:pt idx="3">
                  <c:v>0.66</c:v>
                </c:pt>
                <c:pt idx="4">
                  <c:v>0.77</c:v>
                </c:pt>
                <c:pt idx="5">
                  <c:v>0.8</c:v>
                </c:pt>
              </c:numCache>
            </c:numRef>
          </c:val>
          <c:extLst>
            <c:ext xmlns:c16="http://schemas.microsoft.com/office/drawing/2014/chart" uri="{C3380CC4-5D6E-409C-BE32-E72D297353CC}">
              <c16:uniqueId val="{00000000-C7AF-400F-89A3-CE35D9FF59E4}"/>
            </c:ext>
          </c:extLst>
        </c:ser>
        <c:ser>
          <c:idx val="1"/>
          <c:order val="1"/>
          <c:tx>
            <c:strRef>
              <c:f>Sheet1!$C$1</c:f>
              <c:strCache>
                <c:ptCount val="1"/>
                <c:pt idx="0">
                  <c:v>Fixed costs (%)</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FY14</c:v>
                </c:pt>
                <c:pt idx="1">
                  <c:v>FY15</c:v>
                </c:pt>
                <c:pt idx="2">
                  <c:v>FY16</c:v>
                </c:pt>
                <c:pt idx="3">
                  <c:v>FY17</c:v>
                </c:pt>
                <c:pt idx="4">
                  <c:v>FY18</c:v>
                </c:pt>
                <c:pt idx="5">
                  <c:v>FY19</c:v>
                </c:pt>
              </c:strCache>
            </c:strRef>
          </c:cat>
          <c:val>
            <c:numRef>
              <c:f>Sheet1!$C$2:$C$7</c:f>
              <c:numCache>
                <c:formatCode>0%</c:formatCode>
                <c:ptCount val="6"/>
                <c:pt idx="0">
                  <c:v>0.28000000000000003</c:v>
                </c:pt>
                <c:pt idx="1">
                  <c:v>0.28000000000000003</c:v>
                </c:pt>
                <c:pt idx="2">
                  <c:v>0.33</c:v>
                </c:pt>
                <c:pt idx="3">
                  <c:v>0.34</c:v>
                </c:pt>
                <c:pt idx="4">
                  <c:v>0.22999999999999998</c:v>
                </c:pt>
                <c:pt idx="5">
                  <c:v>0.19999999999999996</c:v>
                </c:pt>
              </c:numCache>
            </c:numRef>
          </c:val>
          <c:extLst>
            <c:ext xmlns:c16="http://schemas.microsoft.com/office/drawing/2014/chart" uri="{C3380CC4-5D6E-409C-BE32-E72D297353CC}">
              <c16:uniqueId val="{00000001-C7AF-400F-89A3-CE35D9FF59E4}"/>
            </c:ext>
          </c:extLst>
        </c:ser>
        <c:dLbls>
          <c:showLegendKey val="0"/>
          <c:showVal val="0"/>
          <c:showCatName val="0"/>
          <c:showSerName val="0"/>
          <c:showPercent val="0"/>
          <c:showBubbleSize val="0"/>
        </c:dLbls>
        <c:gapWidth val="219"/>
        <c:overlap val="100"/>
        <c:axId val="557877784"/>
        <c:axId val="557872536"/>
      </c:barChart>
      <c:catAx>
        <c:axId val="55787778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crossAx val="557872536"/>
        <c:crosses val="autoZero"/>
        <c:auto val="1"/>
        <c:lblAlgn val="ctr"/>
        <c:lblOffset val="100"/>
        <c:noMultiLvlLbl val="0"/>
      </c:catAx>
      <c:valAx>
        <c:axId val="557872536"/>
        <c:scaling>
          <c:orientation val="minMax"/>
        </c:scaling>
        <c:delete val="1"/>
        <c:axPos val="l"/>
        <c:numFmt formatCode="0%" sourceLinked="1"/>
        <c:majorTickMark val="none"/>
        <c:minorTickMark val="none"/>
        <c:tickLblPos val="nextTo"/>
        <c:crossAx val="5578777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solidFill>
      <a:schemeClr val="accent1">
        <a:lumMod val="20000"/>
        <a:lumOff val="80000"/>
      </a:schemeClr>
    </a:solidFill>
    <a:ln>
      <a:noFill/>
    </a:ln>
    <a:effectLst/>
  </c:spPr>
  <c:txPr>
    <a:bodyPr/>
    <a:lstStyle/>
    <a:p>
      <a:pPr>
        <a:defRPr sz="1200">
          <a:solidFill>
            <a:schemeClr val="tx1"/>
          </a:solidFill>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GB" sz="1400" dirty="0"/>
              <a:t>Trend</a:t>
            </a:r>
            <a:r>
              <a:rPr lang="en-GB" sz="1400" baseline="0" dirty="0"/>
              <a:t> of Power Purchase Cost (</a:t>
            </a:r>
            <a:r>
              <a:rPr lang="en-GB" sz="1400" baseline="0" dirty="0" err="1"/>
              <a:t>Rs</a:t>
            </a:r>
            <a:r>
              <a:rPr lang="en-GB" sz="1400" baseline="0" dirty="0"/>
              <a:t>/KWh) of WBSEDCL</a:t>
            </a:r>
            <a:endParaRPr lang="en-GB" sz="14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Power purchase cost (Rs/KWh)</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FY14</c:v>
                </c:pt>
                <c:pt idx="1">
                  <c:v>FY15</c:v>
                </c:pt>
                <c:pt idx="2">
                  <c:v>FY16</c:v>
                </c:pt>
                <c:pt idx="3">
                  <c:v>FY17</c:v>
                </c:pt>
                <c:pt idx="4">
                  <c:v>FY18</c:v>
                </c:pt>
              </c:strCache>
            </c:strRef>
          </c:cat>
          <c:val>
            <c:numRef>
              <c:f>Sheet1!$B$2:$B$6</c:f>
              <c:numCache>
                <c:formatCode>0.00</c:formatCode>
                <c:ptCount val="5"/>
                <c:pt idx="0">
                  <c:v>3.66</c:v>
                </c:pt>
                <c:pt idx="1">
                  <c:v>3.72</c:v>
                </c:pt>
                <c:pt idx="2">
                  <c:v>3.4</c:v>
                </c:pt>
                <c:pt idx="3">
                  <c:v>3.5</c:v>
                </c:pt>
                <c:pt idx="4">
                  <c:v>3.7</c:v>
                </c:pt>
              </c:numCache>
            </c:numRef>
          </c:val>
          <c:smooth val="0"/>
          <c:extLst>
            <c:ext xmlns:c16="http://schemas.microsoft.com/office/drawing/2014/chart" uri="{C3380CC4-5D6E-409C-BE32-E72D297353CC}">
              <c16:uniqueId val="{00000000-4569-478B-A3BE-C6AC33B4BE24}"/>
            </c:ext>
          </c:extLst>
        </c:ser>
        <c:ser>
          <c:idx val="1"/>
          <c:order val="1"/>
          <c:tx>
            <c:strRef>
              <c:f>Sheet1!$C$1</c:f>
              <c:strCache>
                <c:ptCount val="1"/>
                <c:pt idx="0">
                  <c:v>Column1</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FY14</c:v>
                </c:pt>
                <c:pt idx="1">
                  <c:v>FY15</c:v>
                </c:pt>
                <c:pt idx="2">
                  <c:v>FY16</c:v>
                </c:pt>
                <c:pt idx="3">
                  <c:v>FY17</c:v>
                </c:pt>
                <c:pt idx="4">
                  <c:v>FY18</c:v>
                </c:pt>
              </c:strCache>
            </c:strRef>
          </c:cat>
          <c:val>
            <c:numRef>
              <c:f>Sheet1!$C$2:$C$6</c:f>
              <c:numCache>
                <c:formatCode>General</c:formatCode>
                <c:ptCount val="5"/>
              </c:numCache>
            </c:numRef>
          </c:val>
          <c:smooth val="0"/>
          <c:extLst>
            <c:ext xmlns:c16="http://schemas.microsoft.com/office/drawing/2014/chart" uri="{C3380CC4-5D6E-409C-BE32-E72D297353CC}">
              <c16:uniqueId val="{00000001-4569-478B-A3BE-C6AC33B4BE24}"/>
            </c:ext>
          </c:extLst>
        </c:ser>
        <c:dLbls>
          <c:showLegendKey val="0"/>
          <c:showVal val="0"/>
          <c:showCatName val="0"/>
          <c:showSerName val="0"/>
          <c:showPercent val="0"/>
          <c:showBubbleSize val="0"/>
        </c:dLbls>
        <c:smooth val="0"/>
        <c:axId val="557877784"/>
        <c:axId val="557872536"/>
      </c:lineChart>
      <c:catAx>
        <c:axId val="55787778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crossAx val="557872536"/>
        <c:crosses val="autoZero"/>
        <c:auto val="1"/>
        <c:lblAlgn val="ctr"/>
        <c:lblOffset val="100"/>
        <c:noMultiLvlLbl val="0"/>
      </c:catAx>
      <c:valAx>
        <c:axId val="557872536"/>
        <c:scaling>
          <c:orientation val="minMax"/>
        </c:scaling>
        <c:delete val="1"/>
        <c:axPos val="l"/>
        <c:numFmt formatCode="0.00" sourceLinked="1"/>
        <c:majorTickMark val="none"/>
        <c:minorTickMark val="none"/>
        <c:tickLblPos val="nextTo"/>
        <c:crossAx val="557877784"/>
        <c:crosses val="autoZero"/>
        <c:crossBetween val="between"/>
      </c:valAx>
      <c:spPr>
        <a:noFill/>
        <a:ln>
          <a:noFill/>
        </a:ln>
        <a:effectLst/>
      </c:spPr>
    </c:plotArea>
    <c:plotVisOnly val="1"/>
    <c:dispBlanksAs val="gap"/>
    <c:showDLblsOverMax val="0"/>
  </c:chart>
  <c:spPr>
    <a:solidFill>
      <a:schemeClr val="accent1">
        <a:lumMod val="20000"/>
        <a:lumOff val="80000"/>
      </a:schemeClr>
    </a:solidFill>
    <a:ln>
      <a:noFill/>
    </a:ln>
    <a:effectLst/>
  </c:spPr>
  <c:txPr>
    <a:bodyPr/>
    <a:lstStyle/>
    <a:p>
      <a:pPr>
        <a:defRPr sz="1200">
          <a:solidFill>
            <a:schemeClr val="tx1"/>
          </a:solidFill>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GB" sz="1400" dirty="0"/>
              <a:t>WBSEDCL’s power purchase mix (%) – source-wise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areaChart>
        <c:grouping val="percentStacked"/>
        <c:varyColors val="0"/>
        <c:ser>
          <c:idx val="0"/>
          <c:order val="0"/>
          <c:tx>
            <c:strRef>
              <c:f>Sheet1!$B$1</c:f>
              <c:strCache>
                <c:ptCount val="1"/>
                <c:pt idx="0">
                  <c:v>Central</c:v>
                </c:pt>
              </c:strCache>
            </c:strRef>
          </c:tx>
          <c:spPr>
            <a:solidFill>
              <a:schemeClr val="accent3">
                <a:lumMod val="75000"/>
              </a:schemeClr>
            </a:solidFill>
            <a:ln>
              <a:noFill/>
            </a:ln>
            <a:effectLst/>
          </c:spP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FY14</c:v>
                </c:pt>
                <c:pt idx="1">
                  <c:v>FY15</c:v>
                </c:pt>
                <c:pt idx="2">
                  <c:v>FY16</c:v>
                </c:pt>
                <c:pt idx="3">
                  <c:v>FY17</c:v>
                </c:pt>
                <c:pt idx="4">
                  <c:v>FY18</c:v>
                </c:pt>
                <c:pt idx="5">
                  <c:v>FY19</c:v>
                </c:pt>
              </c:strCache>
            </c:strRef>
          </c:cat>
          <c:val>
            <c:numRef>
              <c:f>Sheet1!$B$2:$B$7</c:f>
              <c:numCache>
                <c:formatCode>0%</c:formatCode>
                <c:ptCount val="6"/>
                <c:pt idx="0">
                  <c:v>0.24787604075773734</c:v>
                </c:pt>
                <c:pt idx="1">
                  <c:v>0.24808274168276556</c:v>
                </c:pt>
                <c:pt idx="2">
                  <c:v>0.23831428151608169</c:v>
                </c:pt>
                <c:pt idx="3">
                  <c:v>0.24193312095071279</c:v>
                </c:pt>
                <c:pt idx="4">
                  <c:v>0.22682360062651541</c:v>
                </c:pt>
                <c:pt idx="5">
                  <c:v>0.25740107231873111</c:v>
                </c:pt>
              </c:numCache>
            </c:numRef>
          </c:val>
          <c:extLst>
            <c:ext xmlns:c16="http://schemas.microsoft.com/office/drawing/2014/chart" uri="{C3380CC4-5D6E-409C-BE32-E72D297353CC}">
              <c16:uniqueId val="{00000000-C7AF-400F-89A3-CE35D9FF59E4}"/>
            </c:ext>
          </c:extLst>
        </c:ser>
        <c:ser>
          <c:idx val="1"/>
          <c:order val="1"/>
          <c:tx>
            <c:strRef>
              <c:f>Sheet1!$C$1</c:f>
              <c:strCache>
                <c:ptCount val="1"/>
                <c:pt idx="0">
                  <c:v>State</c:v>
                </c:pt>
              </c:strCache>
            </c:strRef>
          </c:tx>
          <c:spPr>
            <a:solidFill>
              <a:srgbClr val="92D050"/>
            </a:solidFill>
            <a:ln>
              <a:noFill/>
            </a:ln>
            <a:effectLst/>
          </c:spP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FY14</c:v>
                </c:pt>
                <c:pt idx="1">
                  <c:v>FY15</c:v>
                </c:pt>
                <c:pt idx="2">
                  <c:v>FY16</c:v>
                </c:pt>
                <c:pt idx="3">
                  <c:v>FY17</c:v>
                </c:pt>
                <c:pt idx="4">
                  <c:v>FY18</c:v>
                </c:pt>
                <c:pt idx="5">
                  <c:v>FY19</c:v>
                </c:pt>
              </c:strCache>
            </c:strRef>
          </c:cat>
          <c:val>
            <c:numRef>
              <c:f>Sheet1!$C$2:$C$7</c:f>
              <c:numCache>
                <c:formatCode>0%</c:formatCode>
                <c:ptCount val="6"/>
                <c:pt idx="0">
                  <c:v>0.52700500361383651</c:v>
                </c:pt>
                <c:pt idx="1">
                  <c:v>0.57107831891168692</c:v>
                </c:pt>
                <c:pt idx="2">
                  <c:v>0.48447847131932847</c:v>
                </c:pt>
                <c:pt idx="3">
                  <c:v>0.56396253394506635</c:v>
                </c:pt>
                <c:pt idx="4">
                  <c:v>0.55623783222880419</c:v>
                </c:pt>
                <c:pt idx="5">
                  <c:v>0.52792406748855369</c:v>
                </c:pt>
              </c:numCache>
            </c:numRef>
          </c:val>
          <c:extLst>
            <c:ext xmlns:c16="http://schemas.microsoft.com/office/drawing/2014/chart" uri="{C3380CC4-5D6E-409C-BE32-E72D297353CC}">
              <c16:uniqueId val="{00000001-C7AF-400F-89A3-CE35D9FF59E4}"/>
            </c:ext>
          </c:extLst>
        </c:ser>
        <c:ser>
          <c:idx val="2"/>
          <c:order val="2"/>
          <c:tx>
            <c:strRef>
              <c:f>Sheet1!$D$1</c:f>
              <c:strCache>
                <c:ptCount val="1"/>
                <c:pt idx="0">
                  <c:v>Private</c:v>
                </c:pt>
              </c:strCache>
            </c:strRef>
          </c:tx>
          <c:spPr>
            <a:solidFill>
              <a:srgbClr val="00ABAB"/>
            </a:solidFill>
            <a:ln w="25400">
              <a:noFill/>
            </a:ln>
            <a:effectLst/>
          </c:spP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FY14</c:v>
                </c:pt>
                <c:pt idx="1">
                  <c:v>FY15</c:v>
                </c:pt>
                <c:pt idx="2">
                  <c:v>FY16</c:v>
                </c:pt>
                <c:pt idx="3">
                  <c:v>FY17</c:v>
                </c:pt>
                <c:pt idx="4">
                  <c:v>FY18</c:v>
                </c:pt>
                <c:pt idx="5">
                  <c:v>FY19</c:v>
                </c:pt>
              </c:strCache>
            </c:strRef>
          </c:cat>
          <c:val>
            <c:numRef>
              <c:f>Sheet1!$D$2:$D$7</c:f>
              <c:numCache>
                <c:formatCode>0%</c:formatCode>
                <c:ptCount val="6"/>
                <c:pt idx="0">
                  <c:v>0.11969677284843738</c:v>
                </c:pt>
                <c:pt idx="1">
                  <c:v>8.0250774878156739E-2</c:v>
                </c:pt>
                <c:pt idx="2">
                  <c:v>9.0877566114856284E-2</c:v>
                </c:pt>
                <c:pt idx="3">
                  <c:v>8.683770911096321E-2</c:v>
                </c:pt>
                <c:pt idx="4">
                  <c:v>7.8191122196444612E-2</c:v>
                </c:pt>
                <c:pt idx="5">
                  <c:v>6.9001336754631826E-2</c:v>
                </c:pt>
              </c:numCache>
            </c:numRef>
          </c:val>
          <c:extLst>
            <c:ext xmlns:c16="http://schemas.microsoft.com/office/drawing/2014/chart" uri="{C3380CC4-5D6E-409C-BE32-E72D297353CC}">
              <c16:uniqueId val="{00000000-973A-4C19-89FE-C8870CBE0D65}"/>
            </c:ext>
          </c:extLst>
        </c:ser>
        <c:ser>
          <c:idx val="3"/>
          <c:order val="3"/>
          <c:tx>
            <c:strRef>
              <c:f>Sheet1!$E$1</c:f>
              <c:strCache>
                <c:ptCount val="1"/>
                <c:pt idx="0">
                  <c:v>Other licensees, Short-term and UI</c:v>
                </c:pt>
              </c:strCache>
            </c:strRef>
          </c:tx>
          <c:spPr>
            <a:solidFill>
              <a:schemeClr val="bg1">
                <a:lumMod val="65000"/>
              </a:schemeClr>
            </a:solidFill>
            <a:ln w="25400">
              <a:noFill/>
            </a:ln>
            <a:effectLst/>
          </c:spP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FY14</c:v>
                </c:pt>
                <c:pt idx="1">
                  <c:v>FY15</c:v>
                </c:pt>
                <c:pt idx="2">
                  <c:v>FY16</c:v>
                </c:pt>
                <c:pt idx="3">
                  <c:v>FY17</c:v>
                </c:pt>
                <c:pt idx="4">
                  <c:v>FY18</c:v>
                </c:pt>
                <c:pt idx="5">
                  <c:v>FY19</c:v>
                </c:pt>
              </c:strCache>
            </c:strRef>
          </c:cat>
          <c:val>
            <c:numRef>
              <c:f>Sheet1!$E$2:$E$7</c:f>
              <c:numCache>
                <c:formatCode>0%</c:formatCode>
                <c:ptCount val="6"/>
                <c:pt idx="0">
                  <c:v>0.10542218277998884</c:v>
                </c:pt>
                <c:pt idx="1">
                  <c:v>0.10058816452739092</c:v>
                </c:pt>
                <c:pt idx="2">
                  <c:v>0.18632968104973349</c:v>
                </c:pt>
                <c:pt idx="3">
                  <c:v>0.10726663599325761</c:v>
                </c:pt>
                <c:pt idx="4">
                  <c:v>0.13874744494823588</c:v>
                </c:pt>
                <c:pt idx="5">
                  <c:v>0.14567352343808337</c:v>
                </c:pt>
              </c:numCache>
            </c:numRef>
          </c:val>
          <c:extLst>
            <c:ext xmlns:c16="http://schemas.microsoft.com/office/drawing/2014/chart" uri="{C3380CC4-5D6E-409C-BE32-E72D297353CC}">
              <c16:uniqueId val="{00000001-973A-4C19-89FE-C8870CBE0D65}"/>
            </c:ext>
          </c:extLst>
        </c:ser>
        <c:dLbls>
          <c:showLegendKey val="0"/>
          <c:showVal val="0"/>
          <c:showCatName val="0"/>
          <c:showSerName val="0"/>
          <c:showPercent val="0"/>
          <c:showBubbleSize val="0"/>
        </c:dLbls>
        <c:axId val="557877784"/>
        <c:axId val="557872536"/>
      </c:areaChart>
      <c:catAx>
        <c:axId val="55787778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crossAx val="557872536"/>
        <c:crosses val="autoZero"/>
        <c:auto val="1"/>
        <c:lblAlgn val="ctr"/>
        <c:lblOffset val="100"/>
        <c:noMultiLvlLbl val="0"/>
      </c:catAx>
      <c:valAx>
        <c:axId val="557872536"/>
        <c:scaling>
          <c:orientation val="minMax"/>
        </c:scaling>
        <c:delete val="1"/>
        <c:axPos val="l"/>
        <c:numFmt formatCode="0%" sourceLinked="1"/>
        <c:majorTickMark val="none"/>
        <c:minorTickMark val="none"/>
        <c:tickLblPos val="nextTo"/>
        <c:crossAx val="5578777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solidFill>
      <a:schemeClr val="accent1">
        <a:lumMod val="20000"/>
        <a:lumOff val="80000"/>
      </a:schemeClr>
    </a:solidFill>
    <a:ln>
      <a:noFill/>
    </a:ln>
    <a:effectLst/>
  </c:spPr>
  <c:txPr>
    <a:bodyPr/>
    <a:lstStyle/>
    <a:p>
      <a:pPr>
        <a:defRPr sz="1200">
          <a:solidFill>
            <a:schemeClr val="tx1"/>
          </a:solidFill>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GB" sz="1400" dirty="0"/>
              <a:t>Trend</a:t>
            </a:r>
            <a:r>
              <a:rPr lang="en-GB" sz="1400" baseline="0" dirty="0"/>
              <a:t> of WBPDCL power cost (</a:t>
            </a:r>
            <a:r>
              <a:rPr lang="en-GB" sz="1400" baseline="0" dirty="0" err="1"/>
              <a:t>Rs</a:t>
            </a:r>
            <a:r>
              <a:rPr lang="en-GB" sz="1400" baseline="0" dirty="0"/>
              <a:t>/KWh) and WBSEDCL’s overall power purchase cost (</a:t>
            </a:r>
            <a:r>
              <a:rPr lang="en-GB" sz="1400" baseline="0" dirty="0" err="1"/>
              <a:t>Rs</a:t>
            </a:r>
            <a:r>
              <a:rPr lang="en-GB" sz="1400" baseline="0" dirty="0"/>
              <a:t>/KWh)</a:t>
            </a:r>
            <a:endParaRPr lang="en-GB" sz="14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1.1349320466545623E-2"/>
          <c:y val="0.20542744610281924"/>
          <c:w val="0.66033498612043917"/>
          <c:h val="0.64120190713101166"/>
        </c:manualLayout>
      </c:layout>
      <c:lineChart>
        <c:grouping val="standard"/>
        <c:varyColors val="0"/>
        <c:ser>
          <c:idx val="0"/>
          <c:order val="0"/>
          <c:tx>
            <c:strRef>
              <c:f>Sheet1!$B$1</c:f>
              <c:strCache>
                <c:ptCount val="1"/>
                <c:pt idx="0">
                  <c:v>WBPDCL power cost (Rs/KWh)</c:v>
                </c:pt>
              </c:strCache>
            </c:strRef>
          </c:tx>
          <c:spPr>
            <a:ln w="28575" cap="rnd">
              <a:solidFill>
                <a:srgbClr val="2392D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2392D2"/>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FY14</c:v>
                </c:pt>
                <c:pt idx="1">
                  <c:v>FY15</c:v>
                </c:pt>
                <c:pt idx="2">
                  <c:v>FY16</c:v>
                </c:pt>
                <c:pt idx="3">
                  <c:v>FY17</c:v>
                </c:pt>
                <c:pt idx="4">
                  <c:v>FY18</c:v>
                </c:pt>
              </c:strCache>
            </c:strRef>
          </c:cat>
          <c:val>
            <c:numRef>
              <c:f>Sheet1!$B$2:$B$6</c:f>
              <c:numCache>
                <c:formatCode>0.00</c:formatCode>
                <c:ptCount val="5"/>
                <c:pt idx="0">
                  <c:v>3.5717259143123989</c:v>
                </c:pt>
                <c:pt idx="1">
                  <c:v>3.7354375206644455</c:v>
                </c:pt>
                <c:pt idx="2">
                  <c:v>3.3416683298451537</c:v>
                </c:pt>
                <c:pt idx="3">
                  <c:v>3.6494426911723399</c:v>
                </c:pt>
                <c:pt idx="4">
                  <c:v>3.9462418380129578</c:v>
                </c:pt>
              </c:numCache>
            </c:numRef>
          </c:val>
          <c:smooth val="0"/>
          <c:extLst>
            <c:ext xmlns:c16="http://schemas.microsoft.com/office/drawing/2014/chart" uri="{C3380CC4-5D6E-409C-BE32-E72D297353CC}">
              <c16:uniqueId val="{00000000-4569-478B-A3BE-C6AC33B4BE24}"/>
            </c:ext>
          </c:extLst>
        </c:ser>
        <c:ser>
          <c:idx val="1"/>
          <c:order val="1"/>
          <c:tx>
            <c:strRef>
              <c:f>Sheet1!$C$1</c:f>
              <c:strCache>
                <c:ptCount val="1"/>
                <c:pt idx="0">
                  <c:v>WBSEDCL's overall power purchase cost (Rs/KWh)</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009A44"/>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FY14</c:v>
                </c:pt>
                <c:pt idx="1">
                  <c:v>FY15</c:v>
                </c:pt>
                <c:pt idx="2">
                  <c:v>FY16</c:v>
                </c:pt>
                <c:pt idx="3">
                  <c:v>FY17</c:v>
                </c:pt>
                <c:pt idx="4">
                  <c:v>FY18</c:v>
                </c:pt>
              </c:strCache>
            </c:strRef>
          </c:cat>
          <c:val>
            <c:numRef>
              <c:f>Sheet1!$C$2:$C$6</c:f>
              <c:numCache>
                <c:formatCode>0.00</c:formatCode>
                <c:ptCount val="5"/>
                <c:pt idx="0">
                  <c:v>3.66</c:v>
                </c:pt>
                <c:pt idx="1">
                  <c:v>3.72</c:v>
                </c:pt>
                <c:pt idx="2">
                  <c:v>3.4</c:v>
                </c:pt>
                <c:pt idx="3">
                  <c:v>3.5</c:v>
                </c:pt>
                <c:pt idx="4">
                  <c:v>3.7</c:v>
                </c:pt>
              </c:numCache>
            </c:numRef>
          </c:val>
          <c:smooth val="0"/>
          <c:extLst>
            <c:ext xmlns:c16="http://schemas.microsoft.com/office/drawing/2014/chart" uri="{C3380CC4-5D6E-409C-BE32-E72D297353CC}">
              <c16:uniqueId val="{00000001-4569-478B-A3BE-C6AC33B4BE24}"/>
            </c:ext>
          </c:extLst>
        </c:ser>
        <c:dLbls>
          <c:showLegendKey val="0"/>
          <c:showVal val="0"/>
          <c:showCatName val="0"/>
          <c:showSerName val="0"/>
          <c:showPercent val="0"/>
          <c:showBubbleSize val="0"/>
        </c:dLbls>
        <c:smooth val="0"/>
        <c:axId val="557877784"/>
        <c:axId val="557872536"/>
      </c:lineChart>
      <c:catAx>
        <c:axId val="55787778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crossAx val="557872536"/>
        <c:crosses val="autoZero"/>
        <c:auto val="1"/>
        <c:lblAlgn val="ctr"/>
        <c:lblOffset val="100"/>
        <c:noMultiLvlLbl val="0"/>
      </c:catAx>
      <c:valAx>
        <c:axId val="557872536"/>
        <c:scaling>
          <c:orientation val="minMax"/>
        </c:scaling>
        <c:delete val="1"/>
        <c:axPos val="l"/>
        <c:numFmt formatCode="0.00" sourceLinked="1"/>
        <c:majorTickMark val="none"/>
        <c:minorTickMark val="none"/>
        <c:tickLblPos val="nextTo"/>
        <c:crossAx val="557877784"/>
        <c:crosses val="autoZero"/>
        <c:crossBetween val="between"/>
      </c:valAx>
      <c:spPr>
        <a:noFill/>
        <a:ln>
          <a:noFill/>
        </a:ln>
        <a:effectLst/>
      </c:spPr>
    </c:plotArea>
    <c:legend>
      <c:legendPos val="r"/>
      <c:legendEntry>
        <c:idx val="0"/>
        <c:txPr>
          <a:bodyPr rot="0" spcFirstLastPara="1" vertOverflow="ellipsis" vert="horz" wrap="square" anchor="ctr" anchorCtr="1"/>
          <a:lstStyle/>
          <a:p>
            <a:pPr>
              <a:defRPr sz="1200" b="1" i="0" u="none" strike="noStrike" kern="1200" baseline="0">
                <a:solidFill>
                  <a:srgbClr val="2392D2"/>
                </a:solidFill>
                <a:latin typeface="+mn-lt"/>
                <a:ea typeface="+mn-ea"/>
                <a:cs typeface="+mn-cs"/>
              </a:defRPr>
            </a:pPr>
            <a:endParaRPr lang="en-US"/>
          </a:p>
        </c:txPr>
      </c:legendEntry>
      <c:legendEntry>
        <c:idx val="1"/>
        <c:txPr>
          <a:bodyPr rot="0" spcFirstLastPara="1" vertOverflow="ellipsis" vert="horz" wrap="square" anchor="ctr" anchorCtr="1"/>
          <a:lstStyle/>
          <a:p>
            <a:pPr>
              <a:defRPr sz="1200" b="1" i="0" u="none" strike="noStrike" kern="1200" baseline="0">
                <a:solidFill>
                  <a:srgbClr val="009A44"/>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solidFill>
      <a:schemeClr val="accent1">
        <a:lumMod val="20000"/>
        <a:lumOff val="80000"/>
      </a:schemeClr>
    </a:solidFill>
    <a:ln>
      <a:noFill/>
    </a:ln>
    <a:effectLst/>
  </c:spPr>
  <c:txPr>
    <a:bodyPr/>
    <a:lstStyle/>
    <a:p>
      <a:pPr>
        <a:defRPr sz="1200">
          <a:solidFill>
            <a:schemeClr val="tx1"/>
          </a:solidFill>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GB" sz="1400" dirty="0"/>
              <a:t>WBSEDCL’s power purchase mix (%) – fuel-wise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areaChart>
        <c:grouping val="percentStacked"/>
        <c:varyColors val="0"/>
        <c:ser>
          <c:idx val="0"/>
          <c:order val="0"/>
          <c:tx>
            <c:strRef>
              <c:f>Sheet1!$B$1</c:f>
              <c:strCache>
                <c:ptCount val="1"/>
                <c:pt idx="0">
                  <c:v>Coal</c:v>
                </c:pt>
              </c:strCache>
            </c:strRef>
          </c:tx>
          <c:spPr>
            <a:solidFill>
              <a:schemeClr val="accent3">
                <a:lumMod val="75000"/>
              </a:schemeClr>
            </a:solidFill>
            <a:ln>
              <a:noFill/>
            </a:ln>
            <a:effectLst/>
          </c:spP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FY14</c:v>
                </c:pt>
                <c:pt idx="1">
                  <c:v>FY15</c:v>
                </c:pt>
                <c:pt idx="2">
                  <c:v>FY16</c:v>
                </c:pt>
                <c:pt idx="3">
                  <c:v>FY17</c:v>
                </c:pt>
                <c:pt idx="4">
                  <c:v>FY18</c:v>
                </c:pt>
              </c:strCache>
            </c:strRef>
          </c:cat>
          <c:val>
            <c:numRef>
              <c:f>Sheet1!$B$2:$B$6</c:f>
              <c:numCache>
                <c:formatCode>0%</c:formatCode>
                <c:ptCount val="5"/>
                <c:pt idx="0">
                  <c:v>0.73275981524216582</c:v>
                </c:pt>
                <c:pt idx="1">
                  <c:v>0.79292465056532957</c:v>
                </c:pt>
                <c:pt idx="2">
                  <c:v>0.69866953592819447</c:v>
                </c:pt>
                <c:pt idx="3">
                  <c:v>0.76589578369961386</c:v>
                </c:pt>
                <c:pt idx="4">
                  <c:v>0.75095905821708342</c:v>
                </c:pt>
              </c:numCache>
            </c:numRef>
          </c:val>
          <c:extLst>
            <c:ext xmlns:c16="http://schemas.microsoft.com/office/drawing/2014/chart" uri="{C3380CC4-5D6E-409C-BE32-E72D297353CC}">
              <c16:uniqueId val="{00000000-D192-4128-B034-53752633063B}"/>
            </c:ext>
          </c:extLst>
        </c:ser>
        <c:ser>
          <c:idx val="1"/>
          <c:order val="1"/>
          <c:tx>
            <c:strRef>
              <c:f>Sheet1!$C$1</c:f>
              <c:strCache>
                <c:ptCount val="1"/>
                <c:pt idx="0">
                  <c:v>Hydro</c:v>
                </c:pt>
              </c:strCache>
            </c:strRef>
          </c:tx>
          <c:spPr>
            <a:solidFill>
              <a:srgbClr val="92D050"/>
            </a:solidFill>
            <a:ln>
              <a:noFill/>
            </a:ln>
            <a:effectLst/>
          </c:spPr>
          <c:cat>
            <c:strRef>
              <c:f>Sheet1!$A$2:$A$6</c:f>
              <c:strCache>
                <c:ptCount val="5"/>
                <c:pt idx="0">
                  <c:v>FY14</c:v>
                </c:pt>
                <c:pt idx="1">
                  <c:v>FY15</c:v>
                </c:pt>
                <c:pt idx="2">
                  <c:v>FY16</c:v>
                </c:pt>
                <c:pt idx="3">
                  <c:v>FY17</c:v>
                </c:pt>
                <c:pt idx="4">
                  <c:v>FY18</c:v>
                </c:pt>
              </c:strCache>
            </c:strRef>
          </c:cat>
          <c:val>
            <c:numRef>
              <c:f>Sheet1!$C$2:$C$6</c:f>
              <c:numCache>
                <c:formatCode>0%</c:formatCode>
                <c:ptCount val="5"/>
                <c:pt idx="0">
                  <c:v>0.14712349739603789</c:v>
                </c:pt>
                <c:pt idx="1">
                  <c:v>9.3273350694511023E-2</c:v>
                </c:pt>
                <c:pt idx="2">
                  <c:v>0.10115151630520247</c:v>
                </c:pt>
                <c:pt idx="3">
                  <c:v>0.1143630353645565</c:v>
                </c:pt>
                <c:pt idx="4">
                  <c:v>9.9169729159364797E-2</c:v>
                </c:pt>
              </c:numCache>
            </c:numRef>
          </c:val>
          <c:extLst>
            <c:ext xmlns:c16="http://schemas.microsoft.com/office/drawing/2014/chart" uri="{C3380CC4-5D6E-409C-BE32-E72D297353CC}">
              <c16:uniqueId val="{00000001-D192-4128-B034-53752633063B}"/>
            </c:ext>
          </c:extLst>
        </c:ser>
        <c:ser>
          <c:idx val="2"/>
          <c:order val="2"/>
          <c:tx>
            <c:strRef>
              <c:f>Sheet1!$D$1</c:f>
              <c:strCache>
                <c:ptCount val="1"/>
                <c:pt idx="0">
                  <c:v>RE / Cogen</c:v>
                </c:pt>
              </c:strCache>
            </c:strRef>
          </c:tx>
          <c:spPr>
            <a:solidFill>
              <a:srgbClr val="00ABAB"/>
            </a:solidFill>
            <a:ln w="25400">
              <a:noFill/>
            </a:ln>
            <a:effectLst/>
          </c:spPr>
          <c:cat>
            <c:strRef>
              <c:f>Sheet1!$A$2:$A$6</c:f>
              <c:strCache>
                <c:ptCount val="5"/>
                <c:pt idx="0">
                  <c:v>FY14</c:v>
                </c:pt>
                <c:pt idx="1">
                  <c:v>FY15</c:v>
                </c:pt>
                <c:pt idx="2">
                  <c:v>FY16</c:v>
                </c:pt>
                <c:pt idx="3">
                  <c:v>FY17</c:v>
                </c:pt>
                <c:pt idx="4">
                  <c:v>FY18</c:v>
                </c:pt>
              </c:strCache>
            </c:strRef>
          </c:cat>
          <c:val>
            <c:numRef>
              <c:f>Sheet1!$D$2:$D$6</c:f>
              <c:numCache>
                <c:formatCode>0%</c:formatCode>
                <c:ptCount val="5"/>
                <c:pt idx="0">
                  <c:v>1.4694504581807563E-2</c:v>
                </c:pt>
                <c:pt idx="1">
                  <c:v>1.3213834212768456E-2</c:v>
                </c:pt>
                <c:pt idx="2">
                  <c:v>1.3849266716869514E-2</c:v>
                </c:pt>
                <c:pt idx="3">
                  <c:v>1.2474544942571985E-2</c:v>
                </c:pt>
                <c:pt idx="4">
                  <c:v>1.1123767675315777E-2</c:v>
                </c:pt>
              </c:numCache>
            </c:numRef>
          </c:val>
          <c:extLst>
            <c:ext xmlns:c16="http://schemas.microsoft.com/office/drawing/2014/chart" uri="{C3380CC4-5D6E-409C-BE32-E72D297353CC}">
              <c16:uniqueId val="{00000002-D192-4128-B034-53752633063B}"/>
            </c:ext>
          </c:extLst>
        </c:ser>
        <c:ser>
          <c:idx val="3"/>
          <c:order val="3"/>
          <c:tx>
            <c:strRef>
              <c:f>Sheet1!$E$1</c:f>
              <c:strCache>
                <c:ptCount val="1"/>
                <c:pt idx="0">
                  <c:v>Other licensees, Short-term and UI</c:v>
                </c:pt>
              </c:strCache>
            </c:strRef>
          </c:tx>
          <c:spPr>
            <a:solidFill>
              <a:schemeClr val="bg1">
                <a:lumMod val="65000"/>
              </a:schemeClr>
            </a:solidFill>
            <a:ln w="25400">
              <a:noFill/>
            </a:ln>
            <a:effectLst/>
          </c:spPr>
          <c:cat>
            <c:strRef>
              <c:f>Sheet1!$A$2:$A$6</c:f>
              <c:strCache>
                <c:ptCount val="5"/>
                <c:pt idx="0">
                  <c:v>FY14</c:v>
                </c:pt>
                <c:pt idx="1">
                  <c:v>FY15</c:v>
                </c:pt>
                <c:pt idx="2">
                  <c:v>FY16</c:v>
                </c:pt>
                <c:pt idx="3">
                  <c:v>FY17</c:v>
                </c:pt>
                <c:pt idx="4">
                  <c:v>FY18</c:v>
                </c:pt>
              </c:strCache>
            </c:strRef>
          </c:cat>
          <c:val>
            <c:numRef>
              <c:f>Sheet1!$E$2:$E$6</c:f>
              <c:numCache>
                <c:formatCode>0%</c:formatCode>
                <c:ptCount val="5"/>
                <c:pt idx="0">
                  <c:v>0.10542218277998884</c:v>
                </c:pt>
                <c:pt idx="1">
                  <c:v>0.10058816452739092</c:v>
                </c:pt>
                <c:pt idx="2">
                  <c:v>0.18632968104973349</c:v>
                </c:pt>
                <c:pt idx="3">
                  <c:v>0.10726663599325761</c:v>
                </c:pt>
                <c:pt idx="4">
                  <c:v>0.13874744494823588</c:v>
                </c:pt>
              </c:numCache>
            </c:numRef>
          </c:val>
          <c:extLst>
            <c:ext xmlns:c16="http://schemas.microsoft.com/office/drawing/2014/chart" uri="{C3380CC4-5D6E-409C-BE32-E72D297353CC}">
              <c16:uniqueId val="{00000003-D192-4128-B034-53752633063B}"/>
            </c:ext>
          </c:extLst>
        </c:ser>
        <c:dLbls>
          <c:showLegendKey val="0"/>
          <c:showVal val="0"/>
          <c:showCatName val="0"/>
          <c:showSerName val="0"/>
          <c:showPercent val="0"/>
          <c:showBubbleSize val="0"/>
        </c:dLbls>
        <c:axId val="557877784"/>
        <c:axId val="557872536"/>
      </c:areaChart>
      <c:catAx>
        <c:axId val="55787778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crossAx val="557872536"/>
        <c:crosses val="autoZero"/>
        <c:auto val="1"/>
        <c:lblAlgn val="ctr"/>
        <c:lblOffset val="100"/>
        <c:noMultiLvlLbl val="0"/>
      </c:catAx>
      <c:valAx>
        <c:axId val="557872536"/>
        <c:scaling>
          <c:orientation val="minMax"/>
        </c:scaling>
        <c:delete val="1"/>
        <c:axPos val="l"/>
        <c:numFmt formatCode="0%" sourceLinked="1"/>
        <c:majorTickMark val="none"/>
        <c:minorTickMark val="none"/>
        <c:tickLblPos val="nextTo"/>
        <c:crossAx val="5578777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solidFill>
      <a:schemeClr val="accent1">
        <a:lumMod val="20000"/>
        <a:lumOff val="80000"/>
      </a:schemeClr>
    </a:solidFill>
    <a:ln>
      <a:noFill/>
    </a:ln>
    <a:effectLst/>
  </c:spPr>
  <c:txPr>
    <a:bodyPr/>
    <a:lstStyle/>
    <a:p>
      <a:pPr>
        <a:defRPr sz="1200">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03">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3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306">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F48228-69DC-4794-9516-B27B66765D7F}" type="doc">
      <dgm:prSet loTypeId="urn:microsoft.com/office/officeart/2011/layout/HexagonRadial" loCatId="cycle" qsTypeId="urn:microsoft.com/office/officeart/2005/8/quickstyle/simple1" qsCatId="simple" csTypeId="urn:microsoft.com/office/officeart/2005/8/colors/colorful4" csCatId="colorful" phldr="1"/>
      <dgm:spPr/>
      <dgm:t>
        <a:bodyPr/>
        <a:lstStyle/>
        <a:p>
          <a:endParaRPr lang="en-IN"/>
        </a:p>
      </dgm:t>
    </dgm:pt>
    <dgm:pt modelId="{94AED9DC-E903-44A6-B4C5-78ECF2F8052A}">
      <dgm:prSet phldrT="[Text]" custT="1"/>
      <dgm:spPr/>
      <dgm:t>
        <a:bodyPr/>
        <a:lstStyle/>
        <a:p>
          <a:r>
            <a:rPr lang="en-US" sz="900" b="1" dirty="0"/>
            <a:t>Financial Performance</a:t>
          </a:r>
          <a:endParaRPr lang="en-IN" sz="900" b="1" dirty="0"/>
        </a:p>
      </dgm:t>
    </dgm:pt>
    <dgm:pt modelId="{0251AD08-CBF5-48AD-A74C-7D66FFD12856}" type="parTrans" cxnId="{E95C5BFB-43A3-4F4A-812E-BBD8B46C99D8}">
      <dgm:prSet/>
      <dgm:spPr/>
      <dgm:t>
        <a:bodyPr/>
        <a:lstStyle/>
        <a:p>
          <a:endParaRPr lang="en-IN" sz="800"/>
        </a:p>
      </dgm:t>
    </dgm:pt>
    <dgm:pt modelId="{F1CE12F5-4D4C-4A1B-B0FB-24C3C359B5A5}" type="sibTrans" cxnId="{E95C5BFB-43A3-4F4A-812E-BBD8B46C99D8}">
      <dgm:prSet/>
      <dgm:spPr/>
      <dgm:t>
        <a:bodyPr/>
        <a:lstStyle/>
        <a:p>
          <a:endParaRPr lang="en-IN" sz="800"/>
        </a:p>
      </dgm:t>
    </dgm:pt>
    <dgm:pt modelId="{C553C0CE-3579-443C-8FE3-B715BCC5809B}">
      <dgm:prSet phldrT="[Text]" custT="1"/>
      <dgm:spPr>
        <a:solidFill>
          <a:schemeClr val="accent5"/>
        </a:solidFill>
      </dgm:spPr>
      <dgm:t>
        <a:bodyPr/>
        <a:lstStyle/>
        <a:p>
          <a:r>
            <a:rPr lang="en-US" sz="900" dirty="0"/>
            <a:t>Cost of Supply</a:t>
          </a:r>
          <a:endParaRPr lang="en-IN" sz="900" dirty="0"/>
        </a:p>
      </dgm:t>
    </dgm:pt>
    <dgm:pt modelId="{24A5998F-419A-4562-BE0C-8415ADCA6343}" type="parTrans" cxnId="{A53F1843-5C68-4A25-84E6-E70466A8A15C}">
      <dgm:prSet/>
      <dgm:spPr/>
      <dgm:t>
        <a:bodyPr/>
        <a:lstStyle/>
        <a:p>
          <a:endParaRPr lang="en-IN" sz="800"/>
        </a:p>
      </dgm:t>
    </dgm:pt>
    <dgm:pt modelId="{6E8FDDDB-8C09-4DB4-BD2E-C14383CD62DD}" type="sibTrans" cxnId="{A53F1843-5C68-4A25-84E6-E70466A8A15C}">
      <dgm:prSet/>
      <dgm:spPr/>
      <dgm:t>
        <a:bodyPr/>
        <a:lstStyle/>
        <a:p>
          <a:endParaRPr lang="en-IN" sz="800"/>
        </a:p>
      </dgm:t>
    </dgm:pt>
    <dgm:pt modelId="{2CB5E62A-1702-474D-8208-05B9CC9FC9C5}">
      <dgm:prSet phldrT="[Text]" custT="1"/>
      <dgm:spPr>
        <a:solidFill>
          <a:schemeClr val="accent5">
            <a:lumMod val="50000"/>
          </a:schemeClr>
        </a:solidFill>
      </dgm:spPr>
      <dgm:t>
        <a:bodyPr/>
        <a:lstStyle/>
        <a:p>
          <a:r>
            <a:rPr lang="en-US" sz="900" dirty="0"/>
            <a:t>Working Capital management</a:t>
          </a:r>
          <a:endParaRPr lang="en-IN" sz="900" dirty="0"/>
        </a:p>
      </dgm:t>
    </dgm:pt>
    <dgm:pt modelId="{5201E451-D810-4C21-AE0C-E2DAD9BD5A7A}" type="parTrans" cxnId="{AC2BA9F7-A296-49C5-A5BC-E0C4F8564055}">
      <dgm:prSet/>
      <dgm:spPr/>
      <dgm:t>
        <a:bodyPr/>
        <a:lstStyle/>
        <a:p>
          <a:endParaRPr lang="en-IN" sz="800"/>
        </a:p>
      </dgm:t>
    </dgm:pt>
    <dgm:pt modelId="{02ADF50D-5AEB-4E8F-B3DE-E0FA700B5DB3}" type="sibTrans" cxnId="{AC2BA9F7-A296-49C5-A5BC-E0C4F8564055}">
      <dgm:prSet/>
      <dgm:spPr/>
      <dgm:t>
        <a:bodyPr/>
        <a:lstStyle/>
        <a:p>
          <a:endParaRPr lang="en-IN" sz="800"/>
        </a:p>
      </dgm:t>
    </dgm:pt>
    <dgm:pt modelId="{D1CD4361-628E-441F-BFD6-800F228FBB14}">
      <dgm:prSet phldrT="[Text]" custT="1"/>
      <dgm:spPr>
        <a:solidFill>
          <a:schemeClr val="accent5">
            <a:lumMod val="75000"/>
          </a:schemeClr>
        </a:solidFill>
      </dgm:spPr>
      <dgm:t>
        <a:bodyPr/>
        <a:lstStyle/>
        <a:p>
          <a:r>
            <a:rPr lang="en-US" sz="900" dirty="0"/>
            <a:t>Govt. Subsidies</a:t>
          </a:r>
          <a:endParaRPr lang="en-IN" sz="900" dirty="0"/>
        </a:p>
      </dgm:t>
    </dgm:pt>
    <dgm:pt modelId="{8B164C96-AD41-4A01-BFE3-64DD22DED41F}" type="parTrans" cxnId="{05FB27ED-7275-4FDA-A709-C9CC28C64AB7}">
      <dgm:prSet/>
      <dgm:spPr/>
      <dgm:t>
        <a:bodyPr/>
        <a:lstStyle/>
        <a:p>
          <a:endParaRPr lang="en-IN" sz="800"/>
        </a:p>
      </dgm:t>
    </dgm:pt>
    <dgm:pt modelId="{DB529A2D-CFFE-48B5-842C-6EB775FAFE2D}" type="sibTrans" cxnId="{05FB27ED-7275-4FDA-A709-C9CC28C64AB7}">
      <dgm:prSet/>
      <dgm:spPr/>
      <dgm:t>
        <a:bodyPr/>
        <a:lstStyle/>
        <a:p>
          <a:endParaRPr lang="en-IN" sz="800"/>
        </a:p>
      </dgm:t>
    </dgm:pt>
    <dgm:pt modelId="{E9DA6251-C8E0-4C67-9C4F-4CBF2D8848A8}">
      <dgm:prSet phldrT="[Text]" custT="1"/>
      <dgm:spPr>
        <a:solidFill>
          <a:srgbClr val="009A44"/>
        </a:solidFill>
      </dgm:spPr>
      <dgm:t>
        <a:bodyPr/>
        <a:lstStyle/>
        <a:p>
          <a:r>
            <a:rPr lang="en-US" sz="900" dirty="0"/>
            <a:t>Financial Structure/</a:t>
          </a:r>
        </a:p>
        <a:p>
          <a:r>
            <a:rPr lang="en-US" sz="900" dirty="0"/>
            <a:t>Funding</a:t>
          </a:r>
          <a:endParaRPr lang="en-IN" sz="900" dirty="0"/>
        </a:p>
      </dgm:t>
    </dgm:pt>
    <dgm:pt modelId="{8EC4FB96-F270-4A12-A09A-52868D4482A5}" type="parTrans" cxnId="{54C35BA1-04F2-4C4A-BC77-C3B03DA4FFA6}">
      <dgm:prSet/>
      <dgm:spPr/>
      <dgm:t>
        <a:bodyPr/>
        <a:lstStyle/>
        <a:p>
          <a:endParaRPr lang="en-IN" sz="800"/>
        </a:p>
      </dgm:t>
    </dgm:pt>
    <dgm:pt modelId="{4FD9E4D1-93E8-492F-9BB3-AD0DC83DAF30}" type="sibTrans" cxnId="{54C35BA1-04F2-4C4A-BC77-C3B03DA4FFA6}">
      <dgm:prSet/>
      <dgm:spPr/>
      <dgm:t>
        <a:bodyPr/>
        <a:lstStyle/>
        <a:p>
          <a:endParaRPr lang="en-IN" sz="800"/>
        </a:p>
      </dgm:t>
    </dgm:pt>
    <dgm:pt modelId="{11BEBC40-2CC2-4D11-84E1-534EA42ECF48}">
      <dgm:prSet phldrT="[Text]" custT="1"/>
      <dgm:spPr>
        <a:solidFill>
          <a:srgbClr val="0076A8"/>
        </a:solidFill>
      </dgm:spPr>
      <dgm:t>
        <a:bodyPr/>
        <a:lstStyle/>
        <a:p>
          <a:r>
            <a:rPr lang="en-US" sz="900" dirty="0"/>
            <a:t>Capital Assets/Investments</a:t>
          </a:r>
          <a:endParaRPr lang="en-IN" sz="900" dirty="0"/>
        </a:p>
      </dgm:t>
    </dgm:pt>
    <dgm:pt modelId="{448E5CF4-EBD6-4552-9624-38E7CCC2B7A9}" type="parTrans" cxnId="{A46CB980-CE04-4912-A710-B9A9C7FBE4A0}">
      <dgm:prSet/>
      <dgm:spPr/>
      <dgm:t>
        <a:bodyPr/>
        <a:lstStyle/>
        <a:p>
          <a:endParaRPr lang="en-IN" sz="800"/>
        </a:p>
      </dgm:t>
    </dgm:pt>
    <dgm:pt modelId="{FDFE9E23-D489-439B-9B9D-14D3EBC0DBE4}" type="sibTrans" cxnId="{A46CB980-CE04-4912-A710-B9A9C7FBE4A0}">
      <dgm:prSet/>
      <dgm:spPr/>
      <dgm:t>
        <a:bodyPr/>
        <a:lstStyle/>
        <a:p>
          <a:endParaRPr lang="en-IN" sz="800"/>
        </a:p>
      </dgm:t>
    </dgm:pt>
    <dgm:pt modelId="{2C0EA2DD-8AE6-4CE6-B674-70FB6C1C57ED}">
      <dgm:prSet phldrT="[Text]" custT="1"/>
      <dgm:spPr>
        <a:solidFill>
          <a:srgbClr val="6FC2B4"/>
        </a:solidFill>
      </dgm:spPr>
      <dgm:t>
        <a:bodyPr/>
        <a:lstStyle/>
        <a:p>
          <a:r>
            <a:rPr lang="en-US" sz="900" dirty="0"/>
            <a:t>Revenue &amp; Tariffs</a:t>
          </a:r>
          <a:endParaRPr lang="en-IN" sz="900" dirty="0"/>
        </a:p>
      </dgm:t>
    </dgm:pt>
    <dgm:pt modelId="{FBC3D818-04B8-4483-8D3F-47D04B208ABA}" type="parTrans" cxnId="{14C283FE-13AA-4370-85DB-93D347669D4A}">
      <dgm:prSet/>
      <dgm:spPr/>
      <dgm:t>
        <a:bodyPr/>
        <a:lstStyle/>
        <a:p>
          <a:endParaRPr lang="en-IN" sz="800"/>
        </a:p>
      </dgm:t>
    </dgm:pt>
    <dgm:pt modelId="{DE69D93C-68C4-4F32-8F4B-7E5747F7686C}" type="sibTrans" cxnId="{14C283FE-13AA-4370-85DB-93D347669D4A}">
      <dgm:prSet/>
      <dgm:spPr/>
      <dgm:t>
        <a:bodyPr/>
        <a:lstStyle/>
        <a:p>
          <a:endParaRPr lang="en-IN" sz="800"/>
        </a:p>
      </dgm:t>
    </dgm:pt>
    <dgm:pt modelId="{32CEB1CC-4796-47BF-9CB2-ECBFC4E85050}" type="pres">
      <dgm:prSet presAssocID="{11F48228-69DC-4794-9516-B27B66765D7F}" presName="Name0" presStyleCnt="0">
        <dgm:presLayoutVars>
          <dgm:chMax val="1"/>
          <dgm:chPref val="1"/>
          <dgm:dir/>
          <dgm:animOne val="branch"/>
          <dgm:animLvl val="lvl"/>
        </dgm:presLayoutVars>
      </dgm:prSet>
      <dgm:spPr/>
    </dgm:pt>
    <dgm:pt modelId="{E5D6024C-19D6-4494-992A-30D8F9DF977A}" type="pres">
      <dgm:prSet presAssocID="{94AED9DC-E903-44A6-B4C5-78ECF2F8052A}" presName="Parent" presStyleLbl="node0" presStyleIdx="0" presStyleCnt="1">
        <dgm:presLayoutVars>
          <dgm:chMax val="6"/>
          <dgm:chPref val="6"/>
        </dgm:presLayoutVars>
      </dgm:prSet>
      <dgm:spPr/>
    </dgm:pt>
    <dgm:pt modelId="{28DA6140-1FE0-4911-987C-D054D669BBEE}" type="pres">
      <dgm:prSet presAssocID="{C553C0CE-3579-443C-8FE3-B715BCC5809B}" presName="Accent1" presStyleCnt="0"/>
      <dgm:spPr/>
    </dgm:pt>
    <dgm:pt modelId="{F0A10925-AEE5-4859-968B-4585EC7614FE}" type="pres">
      <dgm:prSet presAssocID="{C553C0CE-3579-443C-8FE3-B715BCC5809B}" presName="Accent" presStyleLbl="bgShp" presStyleIdx="0" presStyleCnt="6"/>
      <dgm:spPr/>
    </dgm:pt>
    <dgm:pt modelId="{D686099F-8847-4764-93C4-86D0C5F95506}" type="pres">
      <dgm:prSet presAssocID="{C553C0CE-3579-443C-8FE3-B715BCC5809B}" presName="Child1" presStyleLbl="node1" presStyleIdx="0" presStyleCnt="6">
        <dgm:presLayoutVars>
          <dgm:chMax val="0"/>
          <dgm:chPref val="0"/>
          <dgm:bulletEnabled val="1"/>
        </dgm:presLayoutVars>
      </dgm:prSet>
      <dgm:spPr/>
    </dgm:pt>
    <dgm:pt modelId="{D3B81673-4D9D-4B31-82A7-2EC84B1B8DA2}" type="pres">
      <dgm:prSet presAssocID="{2CB5E62A-1702-474D-8208-05B9CC9FC9C5}" presName="Accent2" presStyleCnt="0"/>
      <dgm:spPr/>
    </dgm:pt>
    <dgm:pt modelId="{55179F8F-CBD0-484D-8916-1D04D08E4578}" type="pres">
      <dgm:prSet presAssocID="{2CB5E62A-1702-474D-8208-05B9CC9FC9C5}" presName="Accent" presStyleLbl="bgShp" presStyleIdx="1" presStyleCnt="6"/>
      <dgm:spPr/>
    </dgm:pt>
    <dgm:pt modelId="{EC29CCFC-D83D-406E-A330-8D44AB58C850}" type="pres">
      <dgm:prSet presAssocID="{2CB5E62A-1702-474D-8208-05B9CC9FC9C5}" presName="Child2" presStyleLbl="node1" presStyleIdx="1" presStyleCnt="6">
        <dgm:presLayoutVars>
          <dgm:chMax val="0"/>
          <dgm:chPref val="0"/>
          <dgm:bulletEnabled val="1"/>
        </dgm:presLayoutVars>
      </dgm:prSet>
      <dgm:spPr/>
    </dgm:pt>
    <dgm:pt modelId="{0348ACBE-57B9-468F-AE00-D8B2B2363F8A}" type="pres">
      <dgm:prSet presAssocID="{D1CD4361-628E-441F-BFD6-800F228FBB14}" presName="Accent3" presStyleCnt="0"/>
      <dgm:spPr/>
    </dgm:pt>
    <dgm:pt modelId="{AF8D3B7F-8924-47AC-AABD-FD4FAB338B69}" type="pres">
      <dgm:prSet presAssocID="{D1CD4361-628E-441F-BFD6-800F228FBB14}" presName="Accent" presStyleLbl="bgShp" presStyleIdx="2" presStyleCnt="6"/>
      <dgm:spPr/>
    </dgm:pt>
    <dgm:pt modelId="{909E1D0A-F66A-4082-B04A-99FE9A1272C8}" type="pres">
      <dgm:prSet presAssocID="{D1CD4361-628E-441F-BFD6-800F228FBB14}" presName="Child3" presStyleLbl="node1" presStyleIdx="2" presStyleCnt="6">
        <dgm:presLayoutVars>
          <dgm:chMax val="0"/>
          <dgm:chPref val="0"/>
          <dgm:bulletEnabled val="1"/>
        </dgm:presLayoutVars>
      </dgm:prSet>
      <dgm:spPr/>
    </dgm:pt>
    <dgm:pt modelId="{D903CE69-E629-4E04-A7A6-F103C8D43731}" type="pres">
      <dgm:prSet presAssocID="{E9DA6251-C8E0-4C67-9C4F-4CBF2D8848A8}" presName="Accent4" presStyleCnt="0"/>
      <dgm:spPr/>
    </dgm:pt>
    <dgm:pt modelId="{A87E2162-2A1C-4D6F-8FD4-E94D8745C140}" type="pres">
      <dgm:prSet presAssocID="{E9DA6251-C8E0-4C67-9C4F-4CBF2D8848A8}" presName="Accent" presStyleLbl="bgShp" presStyleIdx="3" presStyleCnt="6"/>
      <dgm:spPr/>
    </dgm:pt>
    <dgm:pt modelId="{BE7CC750-86AC-48B3-98E6-C4FD8A0FAB4B}" type="pres">
      <dgm:prSet presAssocID="{E9DA6251-C8E0-4C67-9C4F-4CBF2D8848A8}" presName="Child4" presStyleLbl="node1" presStyleIdx="3" presStyleCnt="6">
        <dgm:presLayoutVars>
          <dgm:chMax val="0"/>
          <dgm:chPref val="0"/>
          <dgm:bulletEnabled val="1"/>
        </dgm:presLayoutVars>
      </dgm:prSet>
      <dgm:spPr/>
    </dgm:pt>
    <dgm:pt modelId="{1DE26359-6D05-4C8E-AEF5-636EDFB4B0BC}" type="pres">
      <dgm:prSet presAssocID="{11BEBC40-2CC2-4D11-84E1-534EA42ECF48}" presName="Accent5" presStyleCnt="0"/>
      <dgm:spPr/>
    </dgm:pt>
    <dgm:pt modelId="{617F5907-719F-4969-B680-4A25CCF0B5CD}" type="pres">
      <dgm:prSet presAssocID="{11BEBC40-2CC2-4D11-84E1-534EA42ECF48}" presName="Accent" presStyleLbl="bgShp" presStyleIdx="4" presStyleCnt="6"/>
      <dgm:spPr/>
    </dgm:pt>
    <dgm:pt modelId="{E0207328-7385-4EA1-943A-C5579CB1C07B}" type="pres">
      <dgm:prSet presAssocID="{11BEBC40-2CC2-4D11-84E1-534EA42ECF48}" presName="Child5" presStyleLbl="node1" presStyleIdx="4" presStyleCnt="6">
        <dgm:presLayoutVars>
          <dgm:chMax val="0"/>
          <dgm:chPref val="0"/>
          <dgm:bulletEnabled val="1"/>
        </dgm:presLayoutVars>
      </dgm:prSet>
      <dgm:spPr/>
    </dgm:pt>
    <dgm:pt modelId="{0479D838-0D44-4AFE-B9B1-6FD85BCBBFB0}" type="pres">
      <dgm:prSet presAssocID="{2C0EA2DD-8AE6-4CE6-B674-70FB6C1C57ED}" presName="Accent6" presStyleCnt="0"/>
      <dgm:spPr/>
    </dgm:pt>
    <dgm:pt modelId="{AAD35469-746F-4F36-B7B4-6FC32E27D023}" type="pres">
      <dgm:prSet presAssocID="{2C0EA2DD-8AE6-4CE6-B674-70FB6C1C57ED}" presName="Accent" presStyleLbl="bgShp" presStyleIdx="5" presStyleCnt="6"/>
      <dgm:spPr/>
    </dgm:pt>
    <dgm:pt modelId="{8479AA7A-EE66-4A4F-9BC4-09FDB074B582}" type="pres">
      <dgm:prSet presAssocID="{2C0EA2DD-8AE6-4CE6-B674-70FB6C1C57ED}" presName="Child6" presStyleLbl="node1" presStyleIdx="5" presStyleCnt="6">
        <dgm:presLayoutVars>
          <dgm:chMax val="0"/>
          <dgm:chPref val="0"/>
          <dgm:bulletEnabled val="1"/>
        </dgm:presLayoutVars>
      </dgm:prSet>
      <dgm:spPr/>
    </dgm:pt>
  </dgm:ptLst>
  <dgm:cxnLst>
    <dgm:cxn modelId="{B0D0215C-8008-4DEE-99E2-6DB9AB17FFF3}" type="presOf" srcId="{94AED9DC-E903-44A6-B4C5-78ECF2F8052A}" destId="{E5D6024C-19D6-4494-992A-30D8F9DF977A}" srcOrd="0" destOrd="0" presId="urn:microsoft.com/office/officeart/2011/layout/HexagonRadial"/>
    <dgm:cxn modelId="{A53F1843-5C68-4A25-84E6-E70466A8A15C}" srcId="{94AED9DC-E903-44A6-B4C5-78ECF2F8052A}" destId="{C553C0CE-3579-443C-8FE3-B715BCC5809B}" srcOrd="0" destOrd="0" parTransId="{24A5998F-419A-4562-BE0C-8415ADCA6343}" sibTransId="{6E8FDDDB-8C09-4DB4-BD2E-C14383CD62DD}"/>
    <dgm:cxn modelId="{EDADAC44-00E4-4D99-8E14-CE726D0E0B35}" type="presOf" srcId="{11F48228-69DC-4794-9516-B27B66765D7F}" destId="{32CEB1CC-4796-47BF-9CB2-ECBFC4E85050}" srcOrd="0" destOrd="0" presId="urn:microsoft.com/office/officeart/2011/layout/HexagonRadial"/>
    <dgm:cxn modelId="{FEB4297A-9597-4362-9E47-62108A649219}" type="presOf" srcId="{D1CD4361-628E-441F-BFD6-800F228FBB14}" destId="{909E1D0A-F66A-4082-B04A-99FE9A1272C8}" srcOrd="0" destOrd="0" presId="urn:microsoft.com/office/officeart/2011/layout/HexagonRadial"/>
    <dgm:cxn modelId="{A46CB980-CE04-4912-A710-B9A9C7FBE4A0}" srcId="{94AED9DC-E903-44A6-B4C5-78ECF2F8052A}" destId="{11BEBC40-2CC2-4D11-84E1-534EA42ECF48}" srcOrd="4" destOrd="0" parTransId="{448E5CF4-EBD6-4552-9624-38E7CCC2B7A9}" sibTransId="{FDFE9E23-D489-439B-9B9D-14D3EBC0DBE4}"/>
    <dgm:cxn modelId="{54C35BA1-04F2-4C4A-BC77-C3B03DA4FFA6}" srcId="{94AED9DC-E903-44A6-B4C5-78ECF2F8052A}" destId="{E9DA6251-C8E0-4C67-9C4F-4CBF2D8848A8}" srcOrd="3" destOrd="0" parTransId="{8EC4FB96-F270-4A12-A09A-52868D4482A5}" sibTransId="{4FD9E4D1-93E8-492F-9BB3-AD0DC83DAF30}"/>
    <dgm:cxn modelId="{A561DBA4-FD69-4F78-8F93-2CDD75054C66}" type="presOf" srcId="{2CB5E62A-1702-474D-8208-05B9CC9FC9C5}" destId="{EC29CCFC-D83D-406E-A330-8D44AB58C850}" srcOrd="0" destOrd="0" presId="urn:microsoft.com/office/officeart/2011/layout/HexagonRadial"/>
    <dgm:cxn modelId="{A3F11EAC-BC50-4C83-98C7-222A8CF38496}" type="presOf" srcId="{E9DA6251-C8E0-4C67-9C4F-4CBF2D8848A8}" destId="{BE7CC750-86AC-48B3-98E6-C4FD8A0FAB4B}" srcOrd="0" destOrd="0" presId="urn:microsoft.com/office/officeart/2011/layout/HexagonRadial"/>
    <dgm:cxn modelId="{2F95BBAE-85E4-4C65-8B75-B9E69D7A8AC1}" type="presOf" srcId="{C553C0CE-3579-443C-8FE3-B715BCC5809B}" destId="{D686099F-8847-4764-93C4-86D0C5F95506}" srcOrd="0" destOrd="0" presId="urn:microsoft.com/office/officeart/2011/layout/HexagonRadial"/>
    <dgm:cxn modelId="{4EB0D9BA-43EC-4AB7-9AA7-974EFBD796D6}" type="presOf" srcId="{2C0EA2DD-8AE6-4CE6-B674-70FB6C1C57ED}" destId="{8479AA7A-EE66-4A4F-9BC4-09FDB074B582}" srcOrd="0" destOrd="0" presId="urn:microsoft.com/office/officeart/2011/layout/HexagonRadial"/>
    <dgm:cxn modelId="{EEFAD1BF-FD82-41E2-8ED2-328EDAE86C4E}" type="presOf" srcId="{11BEBC40-2CC2-4D11-84E1-534EA42ECF48}" destId="{E0207328-7385-4EA1-943A-C5579CB1C07B}" srcOrd="0" destOrd="0" presId="urn:microsoft.com/office/officeart/2011/layout/HexagonRadial"/>
    <dgm:cxn modelId="{05FB27ED-7275-4FDA-A709-C9CC28C64AB7}" srcId="{94AED9DC-E903-44A6-B4C5-78ECF2F8052A}" destId="{D1CD4361-628E-441F-BFD6-800F228FBB14}" srcOrd="2" destOrd="0" parTransId="{8B164C96-AD41-4A01-BFE3-64DD22DED41F}" sibTransId="{DB529A2D-CFFE-48B5-842C-6EB775FAFE2D}"/>
    <dgm:cxn modelId="{AC2BA9F7-A296-49C5-A5BC-E0C4F8564055}" srcId="{94AED9DC-E903-44A6-B4C5-78ECF2F8052A}" destId="{2CB5E62A-1702-474D-8208-05B9CC9FC9C5}" srcOrd="1" destOrd="0" parTransId="{5201E451-D810-4C21-AE0C-E2DAD9BD5A7A}" sibTransId="{02ADF50D-5AEB-4E8F-B3DE-E0FA700B5DB3}"/>
    <dgm:cxn modelId="{E95C5BFB-43A3-4F4A-812E-BBD8B46C99D8}" srcId="{11F48228-69DC-4794-9516-B27B66765D7F}" destId="{94AED9DC-E903-44A6-B4C5-78ECF2F8052A}" srcOrd="0" destOrd="0" parTransId="{0251AD08-CBF5-48AD-A74C-7D66FFD12856}" sibTransId="{F1CE12F5-4D4C-4A1B-B0FB-24C3C359B5A5}"/>
    <dgm:cxn modelId="{14C283FE-13AA-4370-85DB-93D347669D4A}" srcId="{94AED9DC-E903-44A6-B4C5-78ECF2F8052A}" destId="{2C0EA2DD-8AE6-4CE6-B674-70FB6C1C57ED}" srcOrd="5" destOrd="0" parTransId="{FBC3D818-04B8-4483-8D3F-47D04B208ABA}" sibTransId="{DE69D93C-68C4-4F32-8F4B-7E5747F7686C}"/>
    <dgm:cxn modelId="{89A95663-15D4-4769-BA51-AAC769AF0BAB}" type="presParOf" srcId="{32CEB1CC-4796-47BF-9CB2-ECBFC4E85050}" destId="{E5D6024C-19D6-4494-992A-30D8F9DF977A}" srcOrd="0" destOrd="0" presId="urn:microsoft.com/office/officeart/2011/layout/HexagonRadial"/>
    <dgm:cxn modelId="{99170D42-7D4A-4053-BAB6-893E1F0BE18D}" type="presParOf" srcId="{32CEB1CC-4796-47BF-9CB2-ECBFC4E85050}" destId="{28DA6140-1FE0-4911-987C-D054D669BBEE}" srcOrd="1" destOrd="0" presId="urn:microsoft.com/office/officeart/2011/layout/HexagonRadial"/>
    <dgm:cxn modelId="{A90D1BA0-AF63-4234-B666-A56C3F77282A}" type="presParOf" srcId="{28DA6140-1FE0-4911-987C-D054D669BBEE}" destId="{F0A10925-AEE5-4859-968B-4585EC7614FE}" srcOrd="0" destOrd="0" presId="urn:microsoft.com/office/officeart/2011/layout/HexagonRadial"/>
    <dgm:cxn modelId="{F1659CF6-BEA5-42C4-9D4B-607DE6091C51}" type="presParOf" srcId="{32CEB1CC-4796-47BF-9CB2-ECBFC4E85050}" destId="{D686099F-8847-4764-93C4-86D0C5F95506}" srcOrd="2" destOrd="0" presId="urn:microsoft.com/office/officeart/2011/layout/HexagonRadial"/>
    <dgm:cxn modelId="{8FF74285-6BFB-4DA1-82B9-45A80F6A1904}" type="presParOf" srcId="{32CEB1CC-4796-47BF-9CB2-ECBFC4E85050}" destId="{D3B81673-4D9D-4B31-82A7-2EC84B1B8DA2}" srcOrd="3" destOrd="0" presId="urn:microsoft.com/office/officeart/2011/layout/HexagonRadial"/>
    <dgm:cxn modelId="{58EB1D8B-05B4-46C9-8EB7-390FA387FBAB}" type="presParOf" srcId="{D3B81673-4D9D-4B31-82A7-2EC84B1B8DA2}" destId="{55179F8F-CBD0-484D-8916-1D04D08E4578}" srcOrd="0" destOrd="0" presId="urn:microsoft.com/office/officeart/2011/layout/HexagonRadial"/>
    <dgm:cxn modelId="{80DAB80D-214F-4566-8284-89605CB1F8B5}" type="presParOf" srcId="{32CEB1CC-4796-47BF-9CB2-ECBFC4E85050}" destId="{EC29CCFC-D83D-406E-A330-8D44AB58C850}" srcOrd="4" destOrd="0" presId="urn:microsoft.com/office/officeart/2011/layout/HexagonRadial"/>
    <dgm:cxn modelId="{695F7CC2-6F7A-4C01-8E3C-2CFF690F322B}" type="presParOf" srcId="{32CEB1CC-4796-47BF-9CB2-ECBFC4E85050}" destId="{0348ACBE-57B9-468F-AE00-D8B2B2363F8A}" srcOrd="5" destOrd="0" presId="urn:microsoft.com/office/officeart/2011/layout/HexagonRadial"/>
    <dgm:cxn modelId="{0710902F-2C36-46ED-A31D-2DA601E0C438}" type="presParOf" srcId="{0348ACBE-57B9-468F-AE00-D8B2B2363F8A}" destId="{AF8D3B7F-8924-47AC-AABD-FD4FAB338B69}" srcOrd="0" destOrd="0" presId="urn:microsoft.com/office/officeart/2011/layout/HexagonRadial"/>
    <dgm:cxn modelId="{26FD1DF3-ECB8-4BA6-998C-1751B74F36B0}" type="presParOf" srcId="{32CEB1CC-4796-47BF-9CB2-ECBFC4E85050}" destId="{909E1D0A-F66A-4082-B04A-99FE9A1272C8}" srcOrd="6" destOrd="0" presId="urn:microsoft.com/office/officeart/2011/layout/HexagonRadial"/>
    <dgm:cxn modelId="{F4BBB221-D550-4B8C-909F-4E606A584889}" type="presParOf" srcId="{32CEB1CC-4796-47BF-9CB2-ECBFC4E85050}" destId="{D903CE69-E629-4E04-A7A6-F103C8D43731}" srcOrd="7" destOrd="0" presId="urn:microsoft.com/office/officeart/2011/layout/HexagonRadial"/>
    <dgm:cxn modelId="{0B8198E3-E378-4986-823E-418BA6BE9F36}" type="presParOf" srcId="{D903CE69-E629-4E04-A7A6-F103C8D43731}" destId="{A87E2162-2A1C-4D6F-8FD4-E94D8745C140}" srcOrd="0" destOrd="0" presId="urn:microsoft.com/office/officeart/2011/layout/HexagonRadial"/>
    <dgm:cxn modelId="{1E4C42E3-AF53-44AD-B245-068A1721F3BA}" type="presParOf" srcId="{32CEB1CC-4796-47BF-9CB2-ECBFC4E85050}" destId="{BE7CC750-86AC-48B3-98E6-C4FD8A0FAB4B}" srcOrd="8" destOrd="0" presId="urn:microsoft.com/office/officeart/2011/layout/HexagonRadial"/>
    <dgm:cxn modelId="{65117B7B-D09F-4843-B516-172120C11817}" type="presParOf" srcId="{32CEB1CC-4796-47BF-9CB2-ECBFC4E85050}" destId="{1DE26359-6D05-4C8E-AEF5-636EDFB4B0BC}" srcOrd="9" destOrd="0" presId="urn:microsoft.com/office/officeart/2011/layout/HexagonRadial"/>
    <dgm:cxn modelId="{F4009929-B605-49F4-8506-78752591E74D}" type="presParOf" srcId="{1DE26359-6D05-4C8E-AEF5-636EDFB4B0BC}" destId="{617F5907-719F-4969-B680-4A25CCF0B5CD}" srcOrd="0" destOrd="0" presId="urn:microsoft.com/office/officeart/2011/layout/HexagonRadial"/>
    <dgm:cxn modelId="{A97840B7-B77B-4DD2-8636-5E96F3483D10}" type="presParOf" srcId="{32CEB1CC-4796-47BF-9CB2-ECBFC4E85050}" destId="{E0207328-7385-4EA1-943A-C5579CB1C07B}" srcOrd="10" destOrd="0" presId="urn:microsoft.com/office/officeart/2011/layout/HexagonRadial"/>
    <dgm:cxn modelId="{35037538-90D4-49E8-8985-7534C601FE6D}" type="presParOf" srcId="{32CEB1CC-4796-47BF-9CB2-ECBFC4E85050}" destId="{0479D838-0D44-4AFE-B9B1-6FD85BCBBFB0}" srcOrd="11" destOrd="0" presId="urn:microsoft.com/office/officeart/2011/layout/HexagonRadial"/>
    <dgm:cxn modelId="{F44A2E5A-78BC-4719-8F64-E4579A0FE8B3}" type="presParOf" srcId="{0479D838-0D44-4AFE-B9B1-6FD85BCBBFB0}" destId="{AAD35469-746F-4F36-B7B4-6FC32E27D023}" srcOrd="0" destOrd="0" presId="urn:microsoft.com/office/officeart/2011/layout/HexagonRadial"/>
    <dgm:cxn modelId="{141D4270-E673-4FB0-9613-9A55A677FF85}" type="presParOf" srcId="{32CEB1CC-4796-47BF-9CB2-ECBFC4E85050}" destId="{8479AA7A-EE66-4A4F-9BC4-09FDB074B582}" srcOrd="12" destOrd="0" presId="urn:microsoft.com/office/officeart/2011/layout/HexagonRadial"/>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A7CB56-AFC0-4DFD-9F5A-B2DC4D71525A}" type="doc">
      <dgm:prSet loTypeId="urn:microsoft.com/office/officeart/2005/8/layout/chart3" loCatId="relationship" qsTypeId="urn:microsoft.com/office/officeart/2005/8/quickstyle/simple1" qsCatId="simple" csTypeId="urn:microsoft.com/office/officeart/2005/8/colors/colorful5" csCatId="colorful" phldr="1"/>
      <dgm:spPr/>
    </dgm:pt>
    <dgm:pt modelId="{24A876E3-4666-43D2-823E-D89066ED9333}">
      <dgm:prSet phldrT="[Text]" custT="1"/>
      <dgm:spPr/>
      <dgm:t>
        <a:bodyPr/>
        <a:lstStyle/>
        <a:p>
          <a:r>
            <a:rPr lang="en-US" sz="1100" b="1" dirty="0"/>
            <a:t>DVF Framework</a:t>
          </a:r>
          <a:endParaRPr lang="en-IN" sz="1100" b="1" dirty="0"/>
        </a:p>
      </dgm:t>
    </dgm:pt>
    <dgm:pt modelId="{004E34FF-3DC3-4F1E-86D2-96EFEC6E3388}" type="parTrans" cxnId="{D2B1D4A2-A29D-461B-9ED8-C51E53918CBD}">
      <dgm:prSet/>
      <dgm:spPr/>
      <dgm:t>
        <a:bodyPr/>
        <a:lstStyle/>
        <a:p>
          <a:endParaRPr lang="en-IN" sz="1300" b="1"/>
        </a:p>
      </dgm:t>
    </dgm:pt>
    <dgm:pt modelId="{D76E350B-811D-475C-B418-0760A10AA72A}" type="sibTrans" cxnId="{D2B1D4A2-A29D-461B-9ED8-C51E53918CBD}">
      <dgm:prSet/>
      <dgm:spPr/>
      <dgm:t>
        <a:bodyPr/>
        <a:lstStyle/>
        <a:p>
          <a:endParaRPr lang="en-IN" sz="1300" b="1"/>
        </a:p>
      </dgm:t>
    </dgm:pt>
    <dgm:pt modelId="{42B6F432-BAAF-4632-926E-851F379FA29B}">
      <dgm:prSet phldrT="[Text]" custT="1"/>
      <dgm:spPr/>
      <dgm:t>
        <a:bodyPr/>
        <a:lstStyle/>
        <a:p>
          <a:r>
            <a:rPr lang="en-US" sz="1100" b="1" dirty="0"/>
            <a:t>Opportunity Prioritization and Framework</a:t>
          </a:r>
          <a:endParaRPr lang="en-IN" sz="1100" b="1" dirty="0"/>
        </a:p>
      </dgm:t>
    </dgm:pt>
    <dgm:pt modelId="{810FFA1D-A275-487D-9F35-49F53A0B9843}" type="sibTrans" cxnId="{2420247F-E682-4E33-86B1-8547C915363F}">
      <dgm:prSet/>
      <dgm:spPr/>
      <dgm:t>
        <a:bodyPr/>
        <a:lstStyle/>
        <a:p>
          <a:endParaRPr lang="en-IN" sz="1300" b="1"/>
        </a:p>
      </dgm:t>
    </dgm:pt>
    <dgm:pt modelId="{E1419B0F-886A-4BF2-B8BA-DAA22FCE7DC6}" type="parTrans" cxnId="{2420247F-E682-4E33-86B1-8547C915363F}">
      <dgm:prSet/>
      <dgm:spPr/>
      <dgm:t>
        <a:bodyPr/>
        <a:lstStyle/>
        <a:p>
          <a:endParaRPr lang="en-IN" sz="1300" b="1"/>
        </a:p>
      </dgm:t>
    </dgm:pt>
    <dgm:pt modelId="{E7FE3FBB-4FAD-4B02-8AF0-5236BA924623}">
      <dgm:prSet phldrT="[Text]" custT="1"/>
      <dgm:spPr/>
      <dgm:t>
        <a:bodyPr/>
        <a:lstStyle/>
        <a:p>
          <a:r>
            <a:rPr lang="en-US" sz="1100" b="1" dirty="0"/>
            <a:t>Goals and Aspirations</a:t>
          </a:r>
          <a:endParaRPr lang="en-IN" sz="1100" b="1" dirty="0"/>
        </a:p>
      </dgm:t>
    </dgm:pt>
    <dgm:pt modelId="{5C07884C-DD37-446F-A737-5BDDF3308F5B}" type="parTrans" cxnId="{6099C707-1BD0-44D4-BDBC-9D11F6DE1262}">
      <dgm:prSet/>
      <dgm:spPr/>
      <dgm:t>
        <a:bodyPr/>
        <a:lstStyle/>
        <a:p>
          <a:endParaRPr lang="en-IN" sz="1300"/>
        </a:p>
      </dgm:t>
    </dgm:pt>
    <dgm:pt modelId="{7796AB1E-6C48-4654-9E70-77F2C10483D1}" type="sibTrans" cxnId="{6099C707-1BD0-44D4-BDBC-9D11F6DE1262}">
      <dgm:prSet/>
      <dgm:spPr/>
      <dgm:t>
        <a:bodyPr/>
        <a:lstStyle/>
        <a:p>
          <a:endParaRPr lang="en-IN" sz="1300"/>
        </a:p>
      </dgm:t>
    </dgm:pt>
    <dgm:pt modelId="{818AD2B4-BB4B-4C8E-A272-36ED308A2C7B}" type="pres">
      <dgm:prSet presAssocID="{FFA7CB56-AFC0-4DFD-9F5A-B2DC4D71525A}" presName="compositeShape" presStyleCnt="0">
        <dgm:presLayoutVars>
          <dgm:chMax val="7"/>
          <dgm:dir/>
          <dgm:resizeHandles val="exact"/>
        </dgm:presLayoutVars>
      </dgm:prSet>
      <dgm:spPr/>
    </dgm:pt>
    <dgm:pt modelId="{0258AAD2-20E3-4001-949B-01F0D3F143DE}" type="pres">
      <dgm:prSet presAssocID="{FFA7CB56-AFC0-4DFD-9F5A-B2DC4D71525A}" presName="wedge1" presStyleLbl="node1" presStyleIdx="0" presStyleCnt="3" custLinFactNeighborX="-5477" custLinFactNeighborY="3579"/>
      <dgm:spPr/>
    </dgm:pt>
    <dgm:pt modelId="{FB647B4B-4141-4D2F-A3D6-4D2937B121DE}" type="pres">
      <dgm:prSet presAssocID="{FFA7CB56-AFC0-4DFD-9F5A-B2DC4D71525A}" presName="wedge1Tx" presStyleLbl="node1" presStyleIdx="0" presStyleCnt="3">
        <dgm:presLayoutVars>
          <dgm:chMax val="0"/>
          <dgm:chPref val="0"/>
          <dgm:bulletEnabled val="1"/>
        </dgm:presLayoutVars>
      </dgm:prSet>
      <dgm:spPr/>
    </dgm:pt>
    <dgm:pt modelId="{9F1BF466-C963-4C4C-A70A-4BED1B3EE813}" type="pres">
      <dgm:prSet presAssocID="{FFA7CB56-AFC0-4DFD-9F5A-B2DC4D71525A}" presName="wedge2" presStyleLbl="node1" presStyleIdx="1" presStyleCnt="3"/>
      <dgm:spPr/>
    </dgm:pt>
    <dgm:pt modelId="{EFFC74A9-D263-41D6-AE96-335EF4C4C06A}" type="pres">
      <dgm:prSet presAssocID="{FFA7CB56-AFC0-4DFD-9F5A-B2DC4D71525A}" presName="wedge2Tx" presStyleLbl="node1" presStyleIdx="1" presStyleCnt="3">
        <dgm:presLayoutVars>
          <dgm:chMax val="0"/>
          <dgm:chPref val="0"/>
          <dgm:bulletEnabled val="1"/>
        </dgm:presLayoutVars>
      </dgm:prSet>
      <dgm:spPr/>
    </dgm:pt>
    <dgm:pt modelId="{22F58AC2-310D-48B0-BDBB-FA764F90A6B3}" type="pres">
      <dgm:prSet presAssocID="{FFA7CB56-AFC0-4DFD-9F5A-B2DC4D71525A}" presName="wedge3" presStyleLbl="node1" presStyleIdx="2" presStyleCnt="3" custLinFactNeighborX="-387" custLinFactNeighborY="1005"/>
      <dgm:spPr/>
    </dgm:pt>
    <dgm:pt modelId="{B38180F5-D639-4F3B-9531-F41247B4C584}" type="pres">
      <dgm:prSet presAssocID="{FFA7CB56-AFC0-4DFD-9F5A-B2DC4D71525A}" presName="wedge3Tx" presStyleLbl="node1" presStyleIdx="2" presStyleCnt="3">
        <dgm:presLayoutVars>
          <dgm:chMax val="0"/>
          <dgm:chPref val="0"/>
          <dgm:bulletEnabled val="1"/>
        </dgm:presLayoutVars>
      </dgm:prSet>
      <dgm:spPr/>
    </dgm:pt>
  </dgm:ptLst>
  <dgm:cxnLst>
    <dgm:cxn modelId="{6099C707-1BD0-44D4-BDBC-9D11F6DE1262}" srcId="{FFA7CB56-AFC0-4DFD-9F5A-B2DC4D71525A}" destId="{E7FE3FBB-4FAD-4B02-8AF0-5236BA924623}" srcOrd="2" destOrd="0" parTransId="{5C07884C-DD37-446F-A737-5BDDF3308F5B}" sibTransId="{7796AB1E-6C48-4654-9E70-77F2C10483D1}"/>
    <dgm:cxn modelId="{55C56D08-77CE-49F5-B1EC-9521A1C47B0D}" type="presOf" srcId="{42B6F432-BAAF-4632-926E-851F379FA29B}" destId="{9F1BF466-C963-4C4C-A70A-4BED1B3EE813}" srcOrd="0" destOrd="0" presId="urn:microsoft.com/office/officeart/2005/8/layout/chart3"/>
    <dgm:cxn modelId="{84EEFF0B-1B62-4121-8662-3D9845272458}" type="presOf" srcId="{E7FE3FBB-4FAD-4B02-8AF0-5236BA924623}" destId="{B38180F5-D639-4F3B-9531-F41247B4C584}" srcOrd="1" destOrd="0" presId="urn:microsoft.com/office/officeart/2005/8/layout/chart3"/>
    <dgm:cxn modelId="{B268C55D-40A2-499F-81AA-B946A877347F}" type="presOf" srcId="{E7FE3FBB-4FAD-4B02-8AF0-5236BA924623}" destId="{22F58AC2-310D-48B0-BDBB-FA764F90A6B3}" srcOrd="0" destOrd="0" presId="urn:microsoft.com/office/officeart/2005/8/layout/chart3"/>
    <dgm:cxn modelId="{4A18DA58-8E62-4A6A-897A-EE83E2F35CE1}" type="presOf" srcId="{24A876E3-4666-43D2-823E-D89066ED9333}" destId="{FB647B4B-4141-4D2F-A3D6-4D2937B121DE}" srcOrd="1" destOrd="0" presId="urn:microsoft.com/office/officeart/2005/8/layout/chart3"/>
    <dgm:cxn modelId="{2420247F-E682-4E33-86B1-8547C915363F}" srcId="{FFA7CB56-AFC0-4DFD-9F5A-B2DC4D71525A}" destId="{42B6F432-BAAF-4632-926E-851F379FA29B}" srcOrd="1" destOrd="0" parTransId="{E1419B0F-886A-4BF2-B8BA-DAA22FCE7DC6}" sibTransId="{810FFA1D-A275-487D-9F35-49F53A0B9843}"/>
    <dgm:cxn modelId="{D2B1D4A2-A29D-461B-9ED8-C51E53918CBD}" srcId="{FFA7CB56-AFC0-4DFD-9F5A-B2DC4D71525A}" destId="{24A876E3-4666-43D2-823E-D89066ED9333}" srcOrd="0" destOrd="0" parTransId="{004E34FF-3DC3-4F1E-86D2-96EFEC6E3388}" sibTransId="{D76E350B-811D-475C-B418-0760A10AA72A}"/>
    <dgm:cxn modelId="{0609C7AE-25C0-43E7-A1AA-3822E5B1E05F}" type="presOf" srcId="{42B6F432-BAAF-4632-926E-851F379FA29B}" destId="{EFFC74A9-D263-41D6-AE96-335EF4C4C06A}" srcOrd="1" destOrd="0" presId="urn:microsoft.com/office/officeart/2005/8/layout/chart3"/>
    <dgm:cxn modelId="{026BFBDA-A3E4-4568-B472-FDF0DA4E4E29}" type="presOf" srcId="{FFA7CB56-AFC0-4DFD-9F5A-B2DC4D71525A}" destId="{818AD2B4-BB4B-4C8E-A272-36ED308A2C7B}" srcOrd="0" destOrd="0" presId="urn:microsoft.com/office/officeart/2005/8/layout/chart3"/>
    <dgm:cxn modelId="{12D524FD-B403-4CCC-B8E1-F062BE37F912}" type="presOf" srcId="{24A876E3-4666-43D2-823E-D89066ED9333}" destId="{0258AAD2-20E3-4001-949B-01F0D3F143DE}" srcOrd="0" destOrd="0" presId="urn:microsoft.com/office/officeart/2005/8/layout/chart3"/>
    <dgm:cxn modelId="{3E2D2BB6-0C7A-4709-BB20-F5E506F0A9A5}" type="presParOf" srcId="{818AD2B4-BB4B-4C8E-A272-36ED308A2C7B}" destId="{0258AAD2-20E3-4001-949B-01F0D3F143DE}" srcOrd="0" destOrd="0" presId="urn:microsoft.com/office/officeart/2005/8/layout/chart3"/>
    <dgm:cxn modelId="{CE365ECB-9225-4354-990C-BEB0472BB4FB}" type="presParOf" srcId="{818AD2B4-BB4B-4C8E-A272-36ED308A2C7B}" destId="{FB647B4B-4141-4D2F-A3D6-4D2937B121DE}" srcOrd="1" destOrd="0" presId="urn:microsoft.com/office/officeart/2005/8/layout/chart3"/>
    <dgm:cxn modelId="{EEA3A233-9C7C-4DA4-BAA6-6A87A73A0B16}" type="presParOf" srcId="{818AD2B4-BB4B-4C8E-A272-36ED308A2C7B}" destId="{9F1BF466-C963-4C4C-A70A-4BED1B3EE813}" srcOrd="2" destOrd="0" presId="urn:microsoft.com/office/officeart/2005/8/layout/chart3"/>
    <dgm:cxn modelId="{3002EB2D-CB09-474D-8134-3D35C15C714A}" type="presParOf" srcId="{818AD2B4-BB4B-4C8E-A272-36ED308A2C7B}" destId="{EFFC74A9-D263-41D6-AE96-335EF4C4C06A}" srcOrd="3" destOrd="0" presId="urn:microsoft.com/office/officeart/2005/8/layout/chart3"/>
    <dgm:cxn modelId="{BD11F429-2AEE-46FB-8210-8A01C0D5D547}" type="presParOf" srcId="{818AD2B4-BB4B-4C8E-A272-36ED308A2C7B}" destId="{22F58AC2-310D-48B0-BDBB-FA764F90A6B3}" srcOrd="4" destOrd="0" presId="urn:microsoft.com/office/officeart/2005/8/layout/chart3"/>
    <dgm:cxn modelId="{06B63C3D-0439-405E-A586-D4A07CEDF0AA}" type="presParOf" srcId="{818AD2B4-BB4B-4C8E-A272-36ED308A2C7B}" destId="{B38180F5-D639-4F3B-9531-F41247B4C584}" srcOrd="5" destOrd="0" presId="urn:microsoft.com/office/officeart/2005/8/layout/char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D6024C-19D6-4494-992A-30D8F9DF977A}">
      <dsp:nvSpPr>
        <dsp:cNvPr id="0" name=""/>
        <dsp:cNvSpPr/>
      </dsp:nvSpPr>
      <dsp:spPr>
        <a:xfrm>
          <a:off x="891925" y="771619"/>
          <a:ext cx="980761" cy="848398"/>
        </a:xfrm>
        <a:prstGeom prst="hexagon">
          <a:avLst>
            <a:gd name="adj" fmla="val 28570"/>
            <a:gd name="vf" fmla="val 11547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1" kern="1200" dirty="0"/>
            <a:t>Financial Performance</a:t>
          </a:r>
          <a:endParaRPr lang="en-IN" sz="900" b="1" kern="1200" dirty="0"/>
        </a:p>
      </dsp:txBody>
      <dsp:txXfrm>
        <a:off x="1054451" y="912210"/>
        <a:ext cx="655709" cy="567216"/>
      </dsp:txXfrm>
    </dsp:sp>
    <dsp:sp modelId="{55179F8F-CBD0-484D-8916-1D04D08E4578}">
      <dsp:nvSpPr>
        <dsp:cNvPr id="0" name=""/>
        <dsp:cNvSpPr/>
      </dsp:nvSpPr>
      <dsp:spPr>
        <a:xfrm>
          <a:off x="1506071" y="365717"/>
          <a:ext cx="370038" cy="318837"/>
        </a:xfrm>
        <a:prstGeom prst="hexagon">
          <a:avLst>
            <a:gd name="adj" fmla="val 28900"/>
            <a:gd name="vf" fmla="val 11547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86099F-8847-4764-93C4-86D0C5F95506}">
      <dsp:nvSpPr>
        <dsp:cNvPr id="0" name=""/>
        <dsp:cNvSpPr/>
      </dsp:nvSpPr>
      <dsp:spPr>
        <a:xfrm>
          <a:off x="982268" y="0"/>
          <a:ext cx="803727" cy="695318"/>
        </a:xfrm>
        <a:prstGeom prst="hexagon">
          <a:avLst>
            <a:gd name="adj" fmla="val 28570"/>
            <a:gd name="vf" fmla="val 115470"/>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Cost of Supply</a:t>
          </a:r>
          <a:endParaRPr lang="en-IN" sz="900" kern="1200" dirty="0"/>
        </a:p>
      </dsp:txBody>
      <dsp:txXfrm>
        <a:off x="1115463" y="115229"/>
        <a:ext cx="537337" cy="464860"/>
      </dsp:txXfrm>
    </dsp:sp>
    <dsp:sp modelId="{AF8D3B7F-8924-47AC-AABD-FD4FAB338B69}">
      <dsp:nvSpPr>
        <dsp:cNvPr id="0" name=""/>
        <dsp:cNvSpPr/>
      </dsp:nvSpPr>
      <dsp:spPr>
        <a:xfrm>
          <a:off x="1937935" y="961773"/>
          <a:ext cx="370038" cy="318837"/>
        </a:xfrm>
        <a:prstGeom prst="hexagon">
          <a:avLst>
            <a:gd name="adj" fmla="val 28900"/>
            <a:gd name="vf" fmla="val 11547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29CCFC-D83D-406E-A330-8D44AB58C850}">
      <dsp:nvSpPr>
        <dsp:cNvPr id="0" name=""/>
        <dsp:cNvSpPr/>
      </dsp:nvSpPr>
      <dsp:spPr>
        <a:xfrm>
          <a:off x="1719379" y="427667"/>
          <a:ext cx="803727" cy="695318"/>
        </a:xfrm>
        <a:prstGeom prst="hexagon">
          <a:avLst>
            <a:gd name="adj" fmla="val 28570"/>
            <a:gd name="vf" fmla="val 115470"/>
          </a:avLst>
        </a:prstGeom>
        <a:solidFill>
          <a:schemeClr val="accent5">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Working Capital management</a:t>
          </a:r>
          <a:endParaRPr lang="en-IN" sz="900" kern="1200" dirty="0"/>
        </a:p>
      </dsp:txBody>
      <dsp:txXfrm>
        <a:off x="1852574" y="542896"/>
        <a:ext cx="537337" cy="464860"/>
      </dsp:txXfrm>
    </dsp:sp>
    <dsp:sp modelId="{A87E2162-2A1C-4D6F-8FD4-E94D8745C140}">
      <dsp:nvSpPr>
        <dsp:cNvPr id="0" name=""/>
        <dsp:cNvSpPr/>
      </dsp:nvSpPr>
      <dsp:spPr>
        <a:xfrm>
          <a:off x="1637934" y="1634608"/>
          <a:ext cx="370038" cy="318837"/>
        </a:xfrm>
        <a:prstGeom prst="hexagon">
          <a:avLst>
            <a:gd name="adj" fmla="val 28900"/>
            <a:gd name="vf" fmla="val 11547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9E1D0A-F66A-4082-B04A-99FE9A1272C8}">
      <dsp:nvSpPr>
        <dsp:cNvPr id="0" name=""/>
        <dsp:cNvSpPr/>
      </dsp:nvSpPr>
      <dsp:spPr>
        <a:xfrm>
          <a:off x="1719379" y="1268412"/>
          <a:ext cx="803727" cy="695318"/>
        </a:xfrm>
        <a:prstGeom prst="hexagon">
          <a:avLst>
            <a:gd name="adj" fmla="val 28570"/>
            <a:gd name="vf" fmla="val 115470"/>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Govt. Subsidies</a:t>
          </a:r>
          <a:endParaRPr lang="en-IN" sz="900" kern="1200" dirty="0"/>
        </a:p>
      </dsp:txBody>
      <dsp:txXfrm>
        <a:off x="1852574" y="1383641"/>
        <a:ext cx="537337" cy="464860"/>
      </dsp:txXfrm>
    </dsp:sp>
    <dsp:sp modelId="{617F5907-719F-4969-B680-4A25CCF0B5CD}">
      <dsp:nvSpPr>
        <dsp:cNvPr id="0" name=""/>
        <dsp:cNvSpPr/>
      </dsp:nvSpPr>
      <dsp:spPr>
        <a:xfrm>
          <a:off x="893751" y="1704451"/>
          <a:ext cx="370038" cy="318837"/>
        </a:xfrm>
        <a:prstGeom prst="hexagon">
          <a:avLst>
            <a:gd name="adj" fmla="val 28900"/>
            <a:gd name="vf" fmla="val 11547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7CC750-86AC-48B3-98E6-C4FD8A0FAB4B}">
      <dsp:nvSpPr>
        <dsp:cNvPr id="0" name=""/>
        <dsp:cNvSpPr/>
      </dsp:nvSpPr>
      <dsp:spPr>
        <a:xfrm>
          <a:off x="982268" y="1696558"/>
          <a:ext cx="803727" cy="695318"/>
        </a:xfrm>
        <a:prstGeom prst="hexagon">
          <a:avLst>
            <a:gd name="adj" fmla="val 28570"/>
            <a:gd name="vf" fmla="val 115470"/>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Financial Structure/</a:t>
          </a:r>
        </a:p>
        <a:p>
          <a:pPr marL="0" lvl="0" indent="0" algn="ctr" defTabSz="400050">
            <a:lnSpc>
              <a:spcPct val="90000"/>
            </a:lnSpc>
            <a:spcBef>
              <a:spcPct val="0"/>
            </a:spcBef>
            <a:spcAft>
              <a:spcPct val="35000"/>
            </a:spcAft>
            <a:buNone/>
          </a:pPr>
          <a:r>
            <a:rPr lang="en-US" sz="900" kern="1200" dirty="0"/>
            <a:t>Funding</a:t>
          </a:r>
          <a:endParaRPr lang="en-IN" sz="900" kern="1200" dirty="0"/>
        </a:p>
      </dsp:txBody>
      <dsp:txXfrm>
        <a:off x="1115463" y="1811787"/>
        <a:ext cx="537337" cy="464860"/>
      </dsp:txXfrm>
    </dsp:sp>
    <dsp:sp modelId="{AAD35469-746F-4F36-B7B4-6FC32E27D023}">
      <dsp:nvSpPr>
        <dsp:cNvPr id="0" name=""/>
        <dsp:cNvSpPr/>
      </dsp:nvSpPr>
      <dsp:spPr>
        <a:xfrm>
          <a:off x="454815" y="1108634"/>
          <a:ext cx="370038" cy="318837"/>
        </a:xfrm>
        <a:prstGeom prst="hexagon">
          <a:avLst>
            <a:gd name="adj" fmla="val 28900"/>
            <a:gd name="vf" fmla="val 11547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207328-7385-4EA1-943A-C5579CB1C07B}">
      <dsp:nvSpPr>
        <dsp:cNvPr id="0" name=""/>
        <dsp:cNvSpPr/>
      </dsp:nvSpPr>
      <dsp:spPr>
        <a:xfrm>
          <a:off x="241734" y="1268890"/>
          <a:ext cx="803727" cy="695318"/>
        </a:xfrm>
        <a:prstGeom prst="hexagon">
          <a:avLst>
            <a:gd name="adj" fmla="val 28570"/>
            <a:gd name="vf" fmla="val 115470"/>
          </a:avLst>
        </a:prstGeom>
        <a:solidFill>
          <a:srgbClr val="0076A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Capital Assets/Investments</a:t>
          </a:r>
          <a:endParaRPr lang="en-IN" sz="900" kern="1200" dirty="0"/>
        </a:p>
      </dsp:txBody>
      <dsp:txXfrm>
        <a:off x="374929" y="1384119"/>
        <a:ext cx="537337" cy="464860"/>
      </dsp:txXfrm>
    </dsp:sp>
    <dsp:sp modelId="{8479AA7A-EE66-4A4F-9BC4-09FDB074B582}">
      <dsp:nvSpPr>
        <dsp:cNvPr id="0" name=""/>
        <dsp:cNvSpPr/>
      </dsp:nvSpPr>
      <dsp:spPr>
        <a:xfrm>
          <a:off x="241734" y="426710"/>
          <a:ext cx="803727" cy="695318"/>
        </a:xfrm>
        <a:prstGeom prst="hexagon">
          <a:avLst>
            <a:gd name="adj" fmla="val 28570"/>
            <a:gd name="vf" fmla="val 115470"/>
          </a:avLst>
        </a:prstGeom>
        <a:solidFill>
          <a:srgbClr val="6FC2B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Revenue &amp; Tariffs</a:t>
          </a:r>
          <a:endParaRPr lang="en-IN" sz="900" kern="1200" dirty="0"/>
        </a:p>
      </dsp:txBody>
      <dsp:txXfrm>
        <a:off x="374929" y="541939"/>
        <a:ext cx="537337" cy="4648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58AAD2-20E3-4001-949B-01F0D3F143DE}">
      <dsp:nvSpPr>
        <dsp:cNvPr id="0" name=""/>
        <dsp:cNvSpPr/>
      </dsp:nvSpPr>
      <dsp:spPr>
        <a:xfrm>
          <a:off x="1070400" y="259894"/>
          <a:ext cx="2237634" cy="2237634"/>
        </a:xfrm>
        <a:prstGeom prst="pie">
          <a:avLst>
            <a:gd name="adj1" fmla="val 16200000"/>
            <a:gd name="adj2" fmla="val 180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DVF Framework</a:t>
          </a:r>
          <a:endParaRPr lang="en-IN" sz="1100" b="1" kern="1200" dirty="0"/>
        </a:p>
      </dsp:txBody>
      <dsp:txXfrm>
        <a:off x="2286980" y="672791"/>
        <a:ext cx="759197" cy="745878"/>
      </dsp:txXfrm>
    </dsp:sp>
    <dsp:sp modelId="{9F1BF466-C963-4C4C-A70A-4BED1B3EE813}">
      <dsp:nvSpPr>
        <dsp:cNvPr id="0" name=""/>
        <dsp:cNvSpPr/>
      </dsp:nvSpPr>
      <dsp:spPr>
        <a:xfrm>
          <a:off x="1077610" y="246406"/>
          <a:ext cx="2237634" cy="2237634"/>
        </a:xfrm>
        <a:prstGeom prst="pie">
          <a:avLst>
            <a:gd name="adj1" fmla="val 1800000"/>
            <a:gd name="adj2" fmla="val 9000000"/>
          </a:avLst>
        </a:prstGeom>
        <a:solidFill>
          <a:schemeClr val="accent5">
            <a:hueOff val="708449"/>
            <a:satOff val="-48750"/>
            <a:lumOff val="69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Opportunity Prioritization and Framework</a:t>
          </a:r>
          <a:endParaRPr lang="en-IN" sz="1100" b="1" kern="1200" dirty="0"/>
        </a:p>
      </dsp:txBody>
      <dsp:txXfrm>
        <a:off x="1690296" y="1658247"/>
        <a:ext cx="1012263" cy="692601"/>
      </dsp:txXfrm>
    </dsp:sp>
    <dsp:sp modelId="{22F58AC2-310D-48B0-BDBB-FA764F90A6B3}">
      <dsp:nvSpPr>
        <dsp:cNvPr id="0" name=""/>
        <dsp:cNvSpPr/>
      </dsp:nvSpPr>
      <dsp:spPr>
        <a:xfrm>
          <a:off x="1068951" y="268894"/>
          <a:ext cx="2237634" cy="2237634"/>
        </a:xfrm>
        <a:prstGeom prst="pie">
          <a:avLst>
            <a:gd name="adj1" fmla="val 9000000"/>
            <a:gd name="adj2" fmla="val 16200000"/>
          </a:avLst>
        </a:prstGeom>
        <a:solidFill>
          <a:schemeClr val="accent5">
            <a:hueOff val="1416898"/>
            <a:satOff val="-97500"/>
            <a:lumOff val="1392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Goals and Aspirations</a:t>
          </a:r>
          <a:endParaRPr lang="en-IN" sz="1100" b="1" kern="1200" dirty="0"/>
        </a:p>
      </dsp:txBody>
      <dsp:txXfrm>
        <a:off x="1308697" y="708429"/>
        <a:ext cx="759197" cy="745878"/>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18-Apr-23</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18-Apr-23</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342" rtl="0" eaLnBrk="1" latinLnBrk="0" hangingPunct="1">
      <a:defRPr sz="1200" kern="1200">
        <a:solidFill>
          <a:schemeClr val="tx1"/>
        </a:solidFill>
        <a:latin typeface="Arial" panose="020B0604020202020204" pitchFamily="34" charset="0"/>
        <a:ea typeface="+mn-ea"/>
        <a:cs typeface="+mn-cs"/>
      </a:defRPr>
    </a:lvl1pPr>
    <a:lvl2pPr marL="457171" algn="l" defTabSz="914342" rtl="0" eaLnBrk="1" latinLnBrk="0" hangingPunct="1">
      <a:defRPr sz="1200" kern="1200">
        <a:solidFill>
          <a:schemeClr val="tx1"/>
        </a:solidFill>
        <a:latin typeface="Arial" panose="020B0604020202020204" pitchFamily="34" charset="0"/>
        <a:ea typeface="+mn-ea"/>
        <a:cs typeface="+mn-cs"/>
      </a:defRPr>
    </a:lvl2pPr>
    <a:lvl3pPr marL="914342" algn="l" defTabSz="914342" rtl="0" eaLnBrk="1" latinLnBrk="0" hangingPunct="1">
      <a:defRPr sz="1200" kern="1200">
        <a:solidFill>
          <a:schemeClr val="tx1"/>
        </a:solidFill>
        <a:latin typeface="Arial" panose="020B0604020202020204" pitchFamily="34" charset="0"/>
        <a:ea typeface="+mn-ea"/>
        <a:cs typeface="+mn-cs"/>
      </a:defRPr>
    </a:lvl3pPr>
    <a:lvl4pPr marL="1371512" algn="l" defTabSz="914342" rtl="0" eaLnBrk="1" latinLnBrk="0" hangingPunct="1">
      <a:defRPr sz="1200" kern="1200">
        <a:solidFill>
          <a:schemeClr val="tx1"/>
        </a:solidFill>
        <a:latin typeface="Arial" panose="020B0604020202020204" pitchFamily="34" charset="0"/>
        <a:ea typeface="+mn-ea"/>
        <a:cs typeface="+mn-cs"/>
      </a:defRPr>
    </a:lvl4pPr>
    <a:lvl5pPr marL="1828683" algn="l" defTabSz="914342" rtl="0" eaLnBrk="1" latinLnBrk="0" hangingPunct="1">
      <a:defRPr sz="1200" kern="1200">
        <a:solidFill>
          <a:schemeClr val="tx1"/>
        </a:solidFill>
        <a:latin typeface="Arial" panose="020B0604020202020204" pitchFamily="34" charset="0"/>
        <a:ea typeface="+mn-ea"/>
        <a:cs typeface="+mn-cs"/>
      </a:defRPr>
    </a:lvl5pPr>
    <a:lvl6pPr marL="2285854" algn="l" defTabSz="914342" rtl="0" eaLnBrk="1" latinLnBrk="0" hangingPunct="1">
      <a:defRPr sz="1200" kern="1200">
        <a:solidFill>
          <a:schemeClr val="tx1"/>
        </a:solidFill>
        <a:latin typeface="+mn-lt"/>
        <a:ea typeface="+mn-ea"/>
        <a:cs typeface="+mn-cs"/>
      </a:defRPr>
    </a:lvl6pPr>
    <a:lvl7pPr marL="2743025" algn="l" defTabSz="914342" rtl="0" eaLnBrk="1" latinLnBrk="0" hangingPunct="1">
      <a:defRPr sz="1200" kern="1200">
        <a:solidFill>
          <a:schemeClr val="tx1"/>
        </a:solidFill>
        <a:latin typeface="+mn-lt"/>
        <a:ea typeface="+mn-ea"/>
        <a:cs typeface="+mn-cs"/>
      </a:defRPr>
    </a:lvl7pPr>
    <a:lvl8pPr marL="3200195" algn="l" defTabSz="914342" rtl="0" eaLnBrk="1" latinLnBrk="0" hangingPunct="1">
      <a:defRPr sz="1200" kern="1200">
        <a:solidFill>
          <a:schemeClr val="tx1"/>
        </a:solidFill>
        <a:latin typeface="+mn-lt"/>
        <a:ea typeface="+mn-ea"/>
        <a:cs typeface="+mn-cs"/>
      </a:defRPr>
    </a:lvl8pPr>
    <a:lvl9pPr marL="3657366"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r>
              <a:rPr lang="en-GB" dirty="0"/>
              <a:t>To be picked from</a:t>
            </a:r>
            <a:r>
              <a:rPr lang="en-GB" baseline="0" dirty="0"/>
              <a:t> https://consulting.deloitteresources.com/brand/Pages/Imagery.aspx</a:t>
            </a:r>
          </a:p>
          <a:p>
            <a:r>
              <a:rPr lang="en-GB" dirty="0"/>
              <a:t>https://brandspace.deloitte.com/content/index/guid/image_library?search_term=&amp;list_size=25&amp;assettag%5B16%5D%5B%5D=43&amp;assettag%5B19%5D%5B%5D=50</a:t>
            </a:r>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3860582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a:t>
            </a:fld>
            <a:endParaRPr lang="en-US" dirty="0"/>
          </a:p>
        </p:txBody>
      </p:sp>
    </p:spTree>
    <p:extLst>
      <p:ext uri="{BB962C8B-B14F-4D97-AF65-F5344CB8AC3E}">
        <p14:creationId xmlns:p14="http://schemas.microsoft.com/office/powerpoint/2010/main" val="2259105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8</a:t>
            </a:fld>
            <a:endParaRPr lang="en-US" dirty="0"/>
          </a:p>
        </p:txBody>
      </p:sp>
    </p:spTree>
    <p:extLst>
      <p:ext uri="{BB962C8B-B14F-4D97-AF65-F5344CB8AC3E}">
        <p14:creationId xmlns:p14="http://schemas.microsoft.com/office/powerpoint/2010/main" val="2515065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9</a:t>
            </a:fld>
            <a:endParaRPr lang="en-US" dirty="0"/>
          </a:p>
        </p:txBody>
      </p:sp>
    </p:spTree>
    <p:extLst>
      <p:ext uri="{BB962C8B-B14F-4D97-AF65-F5344CB8AC3E}">
        <p14:creationId xmlns:p14="http://schemas.microsoft.com/office/powerpoint/2010/main" val="4074086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16</a:t>
            </a:fld>
            <a:endParaRPr lang="en-US" dirty="0"/>
          </a:p>
        </p:txBody>
      </p:sp>
    </p:spTree>
    <p:extLst>
      <p:ext uri="{BB962C8B-B14F-4D97-AF65-F5344CB8AC3E}">
        <p14:creationId xmlns:p14="http://schemas.microsoft.com/office/powerpoint/2010/main" val="4218495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1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94098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20</a:t>
            </a:fld>
            <a:endParaRPr lang="en-US" dirty="0"/>
          </a:p>
        </p:txBody>
      </p:sp>
    </p:spTree>
    <p:extLst>
      <p:ext uri="{BB962C8B-B14F-4D97-AF65-F5344CB8AC3E}">
        <p14:creationId xmlns:p14="http://schemas.microsoft.com/office/powerpoint/2010/main" val="472617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1228876"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1228876"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5994409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6.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8.emf"/><Relationship Id="rId4" Type="http://schemas.openxmlformats.org/officeDocument/2006/relationships/oleObject" Target="../embeddings/oleObject3.bin"/></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6.emf"/><Relationship Id="rId4" Type="http://schemas.openxmlformats.org/officeDocument/2006/relationships/oleObject" Target="../embeddings/oleObject5.bin"/></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8.emf"/><Relationship Id="rId4" Type="http://schemas.openxmlformats.org/officeDocument/2006/relationships/oleObject" Target="../embeddings/oleObject6.bin"/></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bin"/><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8.emf"/></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8.emf"/></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6.emf"/><Relationship Id="rId4" Type="http://schemas.openxmlformats.org/officeDocument/2006/relationships/oleObject" Target="../embeddings/oleObject11.bin"/></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601788" y="1066768"/>
            <a:ext cx="4988426" cy="4724464"/>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grpSp>
        <p:nvGrpSpPr>
          <p:cNvPr id="33" name="Group 32"/>
          <p:cNvGrpSpPr>
            <a:grpSpLocks noChangeAspect="1"/>
          </p:cNvGrpSpPr>
          <p:nvPr userDrawn="1"/>
        </p:nvGrpSpPr>
        <p:grpSpPr>
          <a:xfrm>
            <a:off x="501652" y="403413"/>
            <a:ext cx="1762941" cy="330353"/>
            <a:chOff x="398463" y="404813"/>
            <a:chExt cx="1627187" cy="307976"/>
          </a:xfrm>
          <a:solidFill>
            <a:schemeClr val="tx1"/>
          </a:solidFill>
        </p:grpSpPr>
        <p:sp>
          <p:nvSpPr>
            <p:cNvPr id="34"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5"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6"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7"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8"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39"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40"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41"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42"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43"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23722059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882068736"/>
      </p:ext>
    </p:extLst>
  </p:cSld>
  <p:clrMapOvr>
    <a:masterClrMapping/>
  </p:clrMapOvr>
  <p:transition>
    <p:fade/>
  </p:transition>
  <p:extLst>
    <p:ext uri="{DCECCB84-F9BA-43D5-87BE-67443E8EF086}">
      <p15:sldGuideLst xmlns:p15="http://schemas.microsoft.com/office/powerpoint/2012/main">
        <p15:guide id="1" orient="horz" pos="463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3519907682"/>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3256207203"/>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800188973"/>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33939154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122323089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dirty="0"/>
              <a:t>Click to edit Master text styles</a:t>
            </a:r>
          </a:p>
        </p:txBody>
      </p:sp>
      <p:sp>
        <p:nvSpPr>
          <p:cNvPr id="2" name="Footer Placeholder 1"/>
          <p:cNvSpPr>
            <a:spLocks noGrp="1"/>
          </p:cNvSpPr>
          <p:nvPr>
            <p:ph type="ftr" sz="quarter" idx="11"/>
          </p:nvPr>
        </p:nvSpPr>
        <p:spPr/>
        <p:txBody>
          <a:bodyPr/>
          <a:lstStyle/>
          <a:p>
            <a:endParaRPr lang="en-GB" dirty="0">
              <a:solidFill>
                <a:prstClr val="black"/>
              </a:solidFill>
            </a:endParaRPr>
          </a:p>
        </p:txBody>
      </p:sp>
    </p:spTree>
    <p:extLst>
      <p:ext uri="{BB962C8B-B14F-4D97-AF65-F5344CB8AC3E}">
        <p14:creationId xmlns:p14="http://schemas.microsoft.com/office/powerpoint/2010/main" val="79016010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484114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8063039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3022416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604519466"/>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9590943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44703947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5320815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44761870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354835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7647450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4062041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459137549"/>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39475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354264943"/>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490382625"/>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191498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7953415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745282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3606413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25673568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21366493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091273807"/>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dirty="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6514415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Tree>
    <p:extLst>
      <p:ext uri="{BB962C8B-B14F-4D97-AF65-F5344CB8AC3E}">
        <p14:creationId xmlns:p14="http://schemas.microsoft.com/office/powerpoint/2010/main" val="2226598454"/>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dirty="0"/>
              <a:t>Click to edit Master title style</a:t>
            </a:r>
          </a:p>
        </p:txBody>
      </p:sp>
    </p:spTree>
    <p:extLst>
      <p:ext uri="{BB962C8B-B14F-4D97-AF65-F5344CB8AC3E}">
        <p14:creationId xmlns:p14="http://schemas.microsoft.com/office/powerpoint/2010/main" val="4142106097"/>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604650941"/>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dirty="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05721097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678503751"/>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216339411"/>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278652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2743589401"/>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940952472"/>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16">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5" lvl="0" indent="-228605">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5" lvl="0" indent="-228605"/>
            <a:r>
              <a:rPr lang="en-US" dirty="0"/>
              <a:t>BREADCRUMBS</a:t>
            </a:r>
          </a:p>
        </p:txBody>
      </p:sp>
    </p:spTree>
    <p:extLst>
      <p:ext uri="{BB962C8B-B14F-4D97-AF65-F5344CB8AC3E}">
        <p14:creationId xmlns:p14="http://schemas.microsoft.com/office/powerpoint/2010/main" val="23428849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 content with quote ">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02355904"/>
              </p:ex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2"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448132" algn="r"/>
              </a:tabLst>
              <a:defRPr sz="2600">
                <a:solidFill>
                  <a:schemeClr val="accent3"/>
                </a:solidFill>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2" y="1665288"/>
            <a:ext cx="6506348" cy="4716462"/>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3" y="651601"/>
            <a:ext cx="11188699"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76206815"/>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bg1"/>
                </a:solidFill>
                <a:latin typeface="Verdana"/>
                <a:cs typeface="Verdana"/>
              </a:defRPr>
            </a:lvl1pPr>
          </a:lstStyle>
          <a:p>
            <a:endParaRPr lang="en-GB" dirty="0"/>
          </a:p>
        </p:txBody>
      </p:sp>
      <p:sp>
        <p:nvSpPr>
          <p:cNvPr id="3" name="Holder 3"/>
          <p:cNvSpPr>
            <a:spLocks noGrp="1"/>
          </p:cNvSpPr>
          <p:nvPr>
            <p:ph type="body" idx="1"/>
          </p:nvPr>
        </p:nvSpPr>
        <p:spPr/>
        <p:txBody>
          <a:bodyPr lIns="0" tIns="0" rIns="0" bIns="0"/>
          <a:lstStyle>
            <a:lvl1pPr>
              <a:defRPr sz="2000" b="0" i="0">
                <a:solidFill>
                  <a:srgbClr val="2C5234"/>
                </a:solidFill>
                <a:latin typeface="Verdana"/>
                <a:cs typeface="Verdana"/>
              </a:defRPr>
            </a:lvl1pPr>
          </a:lstStyle>
          <a:p>
            <a:endParaRPr lang="en-GB" dirty="0"/>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lang="en-GB"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GB" smtClean="0"/>
              <a:t>18/04/2023</a:t>
            </a:fld>
            <a:endParaRPr lang="en-GB" dirty="0"/>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lang="en-GB" smtClean="0"/>
              <a:t>‹#›</a:t>
            </a:fld>
            <a:endParaRPr lang="en-GB" dirty="0"/>
          </a:p>
        </p:txBody>
      </p:sp>
    </p:spTree>
    <p:extLst>
      <p:ext uri="{BB962C8B-B14F-4D97-AF65-F5344CB8AC3E}">
        <p14:creationId xmlns:p14="http://schemas.microsoft.com/office/powerpoint/2010/main" val="12186418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601790" y="1066768"/>
            <a:ext cx="4988427" cy="4724464"/>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5" y="5791240"/>
            <a:ext cx="5592011" cy="505645"/>
          </a:xfrm>
          <a:prstGeom prst="rect">
            <a:avLst/>
          </a:prstGeom>
        </p:spPr>
        <p:txBody>
          <a:bodyPr lIns="0" tIns="0" rIns="0" bIns="0" anchor="b" anchorCtr="0">
            <a:noAutofit/>
          </a:bodyPr>
          <a:lstStyle>
            <a:lvl1pPr marL="0" indent="0" algn="l">
              <a:lnSpc>
                <a:spcPct val="100000"/>
              </a:lnSpc>
              <a:spcAft>
                <a:spcPts val="0"/>
              </a:spcAft>
              <a:buNone/>
              <a:defRPr sz="1687" b="1">
                <a:solidFill>
                  <a:schemeClr val="bg1"/>
                </a:solidFill>
              </a:defRPr>
            </a:lvl1pPr>
            <a:lvl2pPr marL="0" marR="0" indent="0" algn="l" defTabSz="1059853" rtl="0" eaLnBrk="1" fontAlgn="auto" latinLnBrk="0" hangingPunct="1">
              <a:lnSpc>
                <a:spcPct val="100000"/>
              </a:lnSpc>
              <a:spcBef>
                <a:spcPts val="0"/>
              </a:spcBef>
              <a:spcAft>
                <a:spcPts val="0"/>
              </a:spcAft>
              <a:buClrTx/>
              <a:buSzPct val="100000"/>
              <a:buFont typeface="Arial"/>
              <a:buNone/>
              <a:tabLst/>
              <a:defRPr sz="1687" b="0">
                <a:solidFill>
                  <a:schemeClr val="bg1"/>
                </a:solidFill>
              </a:defRPr>
            </a:lvl2pPr>
            <a:lvl3pPr marL="0" indent="0" algn="l">
              <a:spcAft>
                <a:spcPts val="0"/>
              </a:spcAft>
              <a:buNone/>
              <a:defRPr sz="1855">
                <a:solidFill>
                  <a:schemeClr val="bg1"/>
                </a:solidFill>
              </a:defRPr>
            </a:lvl3pPr>
            <a:lvl4pPr marL="1589780" indent="0" algn="ctr">
              <a:buNone/>
              <a:defRPr sz="1855"/>
            </a:lvl4pPr>
            <a:lvl5pPr marL="2119708" indent="0" algn="ctr">
              <a:buNone/>
              <a:defRPr sz="1855"/>
            </a:lvl5pPr>
            <a:lvl6pPr marL="2649634" indent="0" algn="ctr">
              <a:buNone/>
              <a:defRPr sz="1855"/>
            </a:lvl6pPr>
            <a:lvl7pPr marL="3179561" indent="0" algn="ctr">
              <a:buNone/>
              <a:defRPr sz="1855"/>
            </a:lvl7pPr>
            <a:lvl8pPr marL="3709488" indent="0" algn="ctr">
              <a:buNone/>
              <a:defRPr sz="1855"/>
            </a:lvl8pPr>
            <a:lvl9pPr marL="4239415" indent="0" algn="ctr">
              <a:buNone/>
              <a:defRPr sz="1855"/>
            </a:lvl9pPr>
          </a:lstStyle>
          <a:p>
            <a:r>
              <a:rPr lang="en-US" noProof="0" dirty="0"/>
              <a:t>Click to edit Master title style</a:t>
            </a:r>
          </a:p>
          <a:p>
            <a:pPr marL="0" marR="0" lvl="1" indent="0" algn="l" defTabSz="1059853"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5" y="6340385"/>
            <a:ext cx="5594352" cy="298450"/>
          </a:xfrm>
          <a:prstGeom prst="rect">
            <a:avLst/>
          </a:prstGeom>
        </p:spPr>
        <p:txBody>
          <a:bodyPr/>
          <a:lstStyle>
            <a:lvl1pPr>
              <a:spcAft>
                <a:spcPts val="0"/>
              </a:spcAft>
              <a:defRPr sz="92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grpSp>
        <p:nvGrpSpPr>
          <p:cNvPr id="33" name="Group 32"/>
          <p:cNvGrpSpPr>
            <a:grpSpLocks noChangeAspect="1"/>
          </p:cNvGrpSpPr>
          <p:nvPr userDrawn="1"/>
        </p:nvGrpSpPr>
        <p:grpSpPr>
          <a:xfrm>
            <a:off x="501654" y="403416"/>
            <a:ext cx="1762941" cy="330353"/>
            <a:chOff x="398463" y="404813"/>
            <a:chExt cx="1627187" cy="307976"/>
          </a:xfrm>
          <a:solidFill>
            <a:schemeClr val="tx1"/>
          </a:solidFill>
        </p:grpSpPr>
        <p:sp>
          <p:nvSpPr>
            <p:cNvPr id="34"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35"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36"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37"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38"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39"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40"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41"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42"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43"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grpSp>
    </p:spTree>
    <p:extLst>
      <p:ext uri="{BB962C8B-B14F-4D97-AF65-F5344CB8AC3E}">
        <p14:creationId xmlns:p14="http://schemas.microsoft.com/office/powerpoint/2010/main" val="11162059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6795"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90" y="1066768"/>
            <a:ext cx="4988427"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5" y="5864239"/>
            <a:ext cx="5594348" cy="505645"/>
          </a:xfrm>
          <a:prstGeom prst="rect">
            <a:avLst/>
          </a:prstGeom>
        </p:spPr>
        <p:txBody>
          <a:bodyPr lIns="0" tIns="0" rIns="0" bIns="0" anchor="b" anchorCtr="0">
            <a:noAutofit/>
          </a:bodyPr>
          <a:lstStyle>
            <a:lvl1pPr marL="0" indent="0" algn="l">
              <a:lnSpc>
                <a:spcPct val="100000"/>
              </a:lnSpc>
              <a:spcAft>
                <a:spcPts val="0"/>
              </a:spcAft>
              <a:buNone/>
              <a:defRPr sz="2086" b="1">
                <a:solidFill>
                  <a:schemeClr val="tx1"/>
                </a:solidFill>
              </a:defRPr>
            </a:lvl1pPr>
            <a:lvl2pPr marL="0" indent="0" algn="l">
              <a:buNone/>
              <a:defRPr sz="1855" b="0"/>
            </a:lvl2pPr>
            <a:lvl3pPr marL="1059853" indent="0" algn="ctr">
              <a:buNone/>
              <a:defRPr sz="2086"/>
            </a:lvl3pPr>
            <a:lvl4pPr marL="1589780" indent="0" algn="ctr">
              <a:buNone/>
              <a:defRPr sz="1855"/>
            </a:lvl4pPr>
            <a:lvl5pPr marL="2119708" indent="0" algn="ctr">
              <a:buNone/>
              <a:defRPr sz="1855"/>
            </a:lvl5pPr>
            <a:lvl6pPr marL="2649634" indent="0" algn="ctr">
              <a:buNone/>
              <a:defRPr sz="1855"/>
            </a:lvl6pPr>
            <a:lvl7pPr marL="3179561" indent="0" algn="ctr">
              <a:buNone/>
              <a:defRPr sz="1855"/>
            </a:lvl7pPr>
            <a:lvl8pPr marL="3709488" indent="0" algn="ctr">
              <a:buNone/>
              <a:defRPr sz="1855"/>
            </a:lvl8pPr>
            <a:lvl9pPr marL="4239415" indent="0" algn="ctr">
              <a:buNone/>
              <a:defRPr sz="1855"/>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5" y="6381755"/>
            <a:ext cx="5594352" cy="298450"/>
          </a:xfrm>
          <a:prstGeom prst="rect">
            <a:avLst/>
          </a:prstGeom>
        </p:spPr>
        <p:txBody>
          <a:bodyPr/>
          <a:lstStyle>
            <a:lvl1pPr>
              <a:spcAft>
                <a:spcPts val="0"/>
              </a:spcAft>
              <a:defRPr sz="1159">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4" y="403416"/>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grpSp>
    </p:spTree>
    <p:extLst>
      <p:ext uri="{BB962C8B-B14F-4D97-AF65-F5344CB8AC3E}">
        <p14:creationId xmlns:p14="http://schemas.microsoft.com/office/powerpoint/2010/main" val="2524135887"/>
      </p:ext>
    </p:extLst>
  </p:cSld>
  <p:clrMapOvr>
    <a:masterClrMapping/>
  </p:clrMapOvr>
  <p:transition>
    <p:fade/>
  </p:transition>
  <p:extLst>
    <p:ext uri="{DCECCB84-F9BA-43D5-87BE-67443E8EF086}">
      <p15:sldGuideLst xmlns:p15="http://schemas.microsoft.com/office/powerpoint/2012/main">
        <p15:guide id="1" orient="horz" pos="6795"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4005"/>
            <a:ext cx="12192000" cy="6007753"/>
          </a:xfrm>
        </p:spPr>
        <p:txBody>
          <a:bodyPr/>
          <a:lstStyle/>
          <a:p>
            <a:endParaRPr lang="en-US" dirty="0"/>
          </a:p>
        </p:txBody>
      </p:sp>
      <p:grpSp>
        <p:nvGrpSpPr>
          <p:cNvPr id="9" name="Group 8"/>
          <p:cNvGrpSpPr/>
          <p:nvPr userDrawn="1"/>
        </p:nvGrpSpPr>
        <p:grpSpPr>
          <a:xfrm>
            <a:off x="5" y="4629693"/>
            <a:ext cx="12191999"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27"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27" b="1" dirty="0">
                <a:solidFill>
                  <a:prstClr val="white"/>
                </a:solidFill>
              </a:endParaRPr>
            </a:p>
          </p:txBody>
        </p:sp>
      </p:grpSp>
      <p:sp>
        <p:nvSpPr>
          <p:cNvPr id="14" name="TextBox 13"/>
          <p:cNvSpPr txBox="1"/>
          <p:nvPr userDrawn="1"/>
        </p:nvSpPr>
        <p:spPr>
          <a:xfrm>
            <a:off x="501656" y="6477003"/>
            <a:ext cx="5355168" cy="115866"/>
          </a:xfrm>
          <a:prstGeom prst="rect">
            <a:avLst/>
          </a:prstGeom>
          <a:noFill/>
        </p:spPr>
        <p:txBody>
          <a:bodyPr wrap="square" lIns="0" tIns="0" rIns="0" bIns="0" rtlCol="0">
            <a:spAutoFit/>
          </a:bodyPr>
          <a:lstStyle/>
          <a:p>
            <a:pPr>
              <a:spcBef>
                <a:spcPts val="695"/>
              </a:spcBef>
              <a:buSzPct val="100000"/>
              <a:buFont typeface="Arial"/>
              <a:buNone/>
            </a:pPr>
            <a:r>
              <a:rPr lang="fr-FR" sz="753" dirty="0">
                <a:solidFill>
                  <a:prstClr val="white"/>
                </a:solidFill>
              </a:rPr>
              <a:t>© 2017 Deloitte Touche Tohmatsu India LLP</a:t>
            </a:r>
          </a:p>
        </p:txBody>
      </p:sp>
      <p:sp>
        <p:nvSpPr>
          <p:cNvPr id="15" name="TextBox 14"/>
          <p:cNvSpPr txBox="1"/>
          <p:nvPr userDrawn="1"/>
        </p:nvSpPr>
        <p:spPr>
          <a:xfrm>
            <a:off x="11382381" y="6477003"/>
            <a:ext cx="307976" cy="115866"/>
          </a:xfrm>
          <a:prstGeom prst="rect">
            <a:avLst/>
          </a:prstGeom>
          <a:noFill/>
        </p:spPr>
        <p:txBody>
          <a:bodyPr wrap="square" lIns="0" tIns="0" rIns="0" bIns="0" rtlCol="0">
            <a:spAutoFit/>
          </a:bodyPr>
          <a:lstStyle/>
          <a:p>
            <a:pPr algn="r">
              <a:spcBef>
                <a:spcPts val="695"/>
              </a:spcBef>
              <a:buSzPct val="100000"/>
              <a:buFont typeface="Arial"/>
              <a:buNone/>
            </a:pPr>
            <a:fld id="{C58DF478-B544-4ED8-9ED4-6A2648E2D233}" type="slidenum">
              <a:rPr lang="en-US" sz="753" smtClean="0">
                <a:solidFill>
                  <a:prstClr val="white"/>
                </a:solidFill>
              </a:rPr>
              <a:pPr algn="r">
                <a:spcBef>
                  <a:spcPts val="695"/>
                </a:spcBef>
                <a:buSzPct val="100000"/>
                <a:buFont typeface="Arial"/>
                <a:buNone/>
              </a:pPr>
              <a:t>‹#›</a:t>
            </a:fld>
            <a:endParaRPr lang="en-US" sz="753"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2608">
                <a:solidFill>
                  <a:schemeClr val="bg1"/>
                </a:solidFill>
              </a:defRPr>
            </a:lvl1pPr>
            <a:lvl2pPr marL="529926" indent="0">
              <a:buNone/>
              <a:defRPr sz="2318">
                <a:solidFill>
                  <a:schemeClr val="tx1">
                    <a:tint val="75000"/>
                  </a:schemeClr>
                </a:solidFill>
              </a:defRPr>
            </a:lvl2pPr>
            <a:lvl3pPr marL="1059853" indent="0">
              <a:buNone/>
              <a:defRPr sz="2086">
                <a:solidFill>
                  <a:schemeClr val="tx1">
                    <a:tint val="75000"/>
                  </a:schemeClr>
                </a:solidFill>
              </a:defRPr>
            </a:lvl3pPr>
            <a:lvl4pPr marL="1589780" indent="0">
              <a:buNone/>
              <a:defRPr sz="1855">
                <a:solidFill>
                  <a:schemeClr val="tx1">
                    <a:tint val="75000"/>
                  </a:schemeClr>
                </a:solidFill>
              </a:defRPr>
            </a:lvl4pPr>
            <a:lvl5pPr marL="2119708" indent="0">
              <a:buNone/>
              <a:defRPr sz="1855">
                <a:solidFill>
                  <a:schemeClr val="tx1">
                    <a:tint val="75000"/>
                  </a:schemeClr>
                </a:solidFill>
              </a:defRPr>
            </a:lvl5pPr>
            <a:lvl6pPr marL="2649634" indent="0">
              <a:buNone/>
              <a:defRPr sz="1855">
                <a:solidFill>
                  <a:schemeClr val="tx1">
                    <a:tint val="75000"/>
                  </a:schemeClr>
                </a:solidFill>
              </a:defRPr>
            </a:lvl6pPr>
            <a:lvl7pPr marL="3179561" indent="0">
              <a:buNone/>
              <a:defRPr sz="1855">
                <a:solidFill>
                  <a:schemeClr val="tx1">
                    <a:tint val="75000"/>
                  </a:schemeClr>
                </a:solidFill>
              </a:defRPr>
            </a:lvl7pPr>
            <a:lvl8pPr marL="3709488" indent="0">
              <a:buNone/>
              <a:defRPr sz="1855">
                <a:solidFill>
                  <a:schemeClr val="tx1">
                    <a:tint val="75000"/>
                  </a:schemeClr>
                </a:solidFill>
              </a:defRPr>
            </a:lvl8pPr>
            <a:lvl9pPr marL="4239415" indent="0">
              <a:buNone/>
              <a:defRPr sz="1855">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7" y="6501541"/>
            <a:ext cx="5833532" cy="170741"/>
          </a:xfrm>
          <a:prstGeom prst="rect">
            <a:avLst/>
          </a:prstGeom>
          <a:noFill/>
        </p:spPr>
        <p:txBody>
          <a:bodyPr wrap="square" lIns="0" tIns="0" rIns="0" bIns="0" rtlCol="0">
            <a:noAutofit/>
          </a:bodyPr>
          <a:lstStyle/>
          <a:p>
            <a:pPr>
              <a:spcBef>
                <a:spcPts val="695"/>
              </a:spcBef>
              <a:buSzPct val="100000"/>
              <a:buFont typeface="Arial"/>
              <a:buNone/>
            </a:pPr>
            <a:r>
              <a:rPr lang="en-US" sz="753" dirty="0">
                <a:solidFill>
                  <a:prstClr val="white"/>
                </a:solidFill>
              </a:rPr>
              <a:t>Presentation on Supply, Implementation and Maintenance of an ERP solution to Hirdaramani Group</a:t>
            </a:r>
            <a:endParaRPr lang="fr-FR" sz="753" dirty="0">
              <a:solidFill>
                <a:prstClr val="white"/>
              </a:solidFill>
            </a:endParaRPr>
          </a:p>
        </p:txBody>
      </p:sp>
    </p:spTree>
    <p:extLst>
      <p:ext uri="{BB962C8B-B14F-4D97-AF65-F5344CB8AC3E}">
        <p14:creationId xmlns:p14="http://schemas.microsoft.com/office/powerpoint/2010/main" val="1565863163"/>
      </p:ext>
    </p:extLst>
  </p:cSld>
  <p:clrMapOvr>
    <a:masterClrMapping/>
  </p:clrMapOvr>
  <p:transition>
    <p:fade/>
  </p:transition>
  <p:extLst>
    <p:ext uri="{DCECCB84-F9BA-43D5-87BE-67443E8EF086}">
      <p15:sldGuideLst xmlns:p15="http://schemas.microsoft.com/office/powerpoint/2012/main">
        <p15:guide id="1" orient="horz" pos="3590"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6" y="6477003"/>
            <a:ext cx="5355168" cy="115866"/>
          </a:xfrm>
          <a:prstGeom prst="rect">
            <a:avLst/>
          </a:prstGeom>
          <a:noFill/>
        </p:spPr>
        <p:txBody>
          <a:bodyPr wrap="square" lIns="0" tIns="0" rIns="0" bIns="0" rtlCol="0">
            <a:spAutoFit/>
          </a:bodyPr>
          <a:lstStyle/>
          <a:p>
            <a:pPr>
              <a:spcBef>
                <a:spcPts val="695"/>
              </a:spcBef>
              <a:buSzPct val="100000"/>
              <a:buFont typeface="Arial"/>
              <a:buNone/>
            </a:pPr>
            <a:r>
              <a:rPr lang="fr-FR" sz="753" dirty="0">
                <a:solidFill>
                  <a:prstClr val="white"/>
                </a:solidFill>
              </a:rPr>
              <a:t>© 2017 Deloitte Touche Tohmatsu India LLP</a:t>
            </a:r>
          </a:p>
        </p:txBody>
      </p:sp>
      <p:sp>
        <p:nvSpPr>
          <p:cNvPr id="15" name="TextBox 14"/>
          <p:cNvSpPr txBox="1"/>
          <p:nvPr userDrawn="1"/>
        </p:nvSpPr>
        <p:spPr>
          <a:xfrm>
            <a:off x="11382381" y="6477003"/>
            <a:ext cx="307976" cy="115866"/>
          </a:xfrm>
          <a:prstGeom prst="rect">
            <a:avLst/>
          </a:prstGeom>
          <a:noFill/>
        </p:spPr>
        <p:txBody>
          <a:bodyPr wrap="square" lIns="0" tIns="0" rIns="0" bIns="0" rtlCol="0">
            <a:spAutoFit/>
          </a:bodyPr>
          <a:lstStyle/>
          <a:p>
            <a:pPr algn="r">
              <a:spcBef>
                <a:spcPts val="695"/>
              </a:spcBef>
              <a:buSzPct val="100000"/>
              <a:buFont typeface="Arial"/>
              <a:buNone/>
            </a:pPr>
            <a:fld id="{C58DF478-B544-4ED8-9ED4-6A2648E2D233}" type="slidenum">
              <a:rPr lang="en-US" sz="753" smtClean="0">
                <a:solidFill>
                  <a:prstClr val="white"/>
                </a:solidFill>
              </a:rPr>
              <a:pPr algn="r">
                <a:spcBef>
                  <a:spcPts val="695"/>
                </a:spcBef>
                <a:buSzPct val="100000"/>
                <a:buFont typeface="Arial"/>
                <a:buNone/>
              </a:pPr>
              <a:t>‹#›</a:t>
            </a:fld>
            <a:endParaRPr lang="en-US" sz="753" dirty="0">
              <a:solidFill>
                <a:prstClr val="white"/>
              </a:solidFill>
            </a:endParaRPr>
          </a:p>
        </p:txBody>
      </p:sp>
      <p:sp>
        <p:nvSpPr>
          <p:cNvPr id="8" name="Rectangle 3"/>
          <p:cNvSpPr/>
          <p:nvPr userDrawn="1"/>
        </p:nvSpPr>
        <p:spPr bwMode="gray">
          <a:xfrm>
            <a:off x="-44821" y="2636892"/>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68190" tIns="68190" rIns="68190" bIns="68190" rtlCol="0" anchor="ctr"/>
          <a:lstStyle/>
          <a:p>
            <a:pPr algn="ctr">
              <a:lnSpc>
                <a:spcPct val="106000"/>
              </a:lnSpc>
              <a:buFont typeface="Wingdings 2" pitchFamily="18" charset="2"/>
              <a:buNone/>
            </a:pPr>
            <a:endParaRPr lang="en-US" sz="1227" b="1" dirty="0">
              <a:solidFill>
                <a:prstClr val="white"/>
              </a:solidFill>
            </a:endParaRPr>
          </a:p>
        </p:txBody>
      </p:sp>
      <p:sp>
        <p:nvSpPr>
          <p:cNvPr id="3" name="Text Placeholder 2"/>
          <p:cNvSpPr>
            <a:spLocks noGrp="1"/>
          </p:cNvSpPr>
          <p:nvPr>
            <p:ph type="body" idx="1"/>
          </p:nvPr>
        </p:nvSpPr>
        <p:spPr bwMode="gray">
          <a:xfrm>
            <a:off x="-42580" y="2645735"/>
            <a:ext cx="6200215" cy="1566532"/>
          </a:xfrm>
          <a:prstGeom prst="rect">
            <a:avLst/>
          </a:prstGeom>
          <a:noFill/>
        </p:spPr>
        <p:txBody>
          <a:bodyPr lIns="640080" tIns="0" rIns="0" bIns="0" anchor="ctr">
            <a:noAutofit/>
          </a:bodyPr>
          <a:lstStyle>
            <a:lvl1pPr marL="0" indent="0">
              <a:lnSpc>
                <a:spcPct val="95000"/>
              </a:lnSpc>
              <a:spcAft>
                <a:spcPts val="0"/>
              </a:spcAft>
              <a:buNone/>
              <a:defRPr sz="2608">
                <a:solidFill>
                  <a:schemeClr val="bg1"/>
                </a:solidFill>
              </a:defRPr>
            </a:lvl1pPr>
            <a:lvl2pPr marL="529926" indent="0">
              <a:buNone/>
              <a:defRPr sz="2318">
                <a:solidFill>
                  <a:schemeClr val="tx1">
                    <a:tint val="75000"/>
                  </a:schemeClr>
                </a:solidFill>
              </a:defRPr>
            </a:lvl2pPr>
            <a:lvl3pPr marL="1059853" indent="0">
              <a:buNone/>
              <a:defRPr sz="2086">
                <a:solidFill>
                  <a:schemeClr val="tx1">
                    <a:tint val="75000"/>
                  </a:schemeClr>
                </a:solidFill>
              </a:defRPr>
            </a:lvl3pPr>
            <a:lvl4pPr marL="1589780" indent="0">
              <a:buNone/>
              <a:defRPr sz="1855">
                <a:solidFill>
                  <a:schemeClr val="tx1">
                    <a:tint val="75000"/>
                  </a:schemeClr>
                </a:solidFill>
              </a:defRPr>
            </a:lvl4pPr>
            <a:lvl5pPr marL="2119708" indent="0">
              <a:buNone/>
              <a:defRPr sz="1855">
                <a:solidFill>
                  <a:schemeClr val="tx1">
                    <a:tint val="75000"/>
                  </a:schemeClr>
                </a:solidFill>
              </a:defRPr>
            </a:lvl5pPr>
            <a:lvl6pPr marL="2649634" indent="0">
              <a:buNone/>
              <a:defRPr sz="1855">
                <a:solidFill>
                  <a:schemeClr val="tx1">
                    <a:tint val="75000"/>
                  </a:schemeClr>
                </a:solidFill>
              </a:defRPr>
            </a:lvl6pPr>
            <a:lvl7pPr marL="3179561" indent="0">
              <a:buNone/>
              <a:defRPr sz="1855">
                <a:solidFill>
                  <a:schemeClr val="tx1">
                    <a:tint val="75000"/>
                  </a:schemeClr>
                </a:solidFill>
              </a:defRPr>
            </a:lvl7pPr>
            <a:lvl8pPr marL="3709488" indent="0">
              <a:buNone/>
              <a:defRPr sz="1855">
                <a:solidFill>
                  <a:schemeClr val="tx1">
                    <a:tint val="75000"/>
                  </a:schemeClr>
                </a:solidFill>
              </a:defRPr>
            </a:lvl8pPr>
            <a:lvl9pPr marL="4239415" indent="0">
              <a:buNone/>
              <a:defRPr sz="1855">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994364005"/>
      </p:ext>
    </p:extLst>
  </p:cSld>
  <p:clrMapOvr>
    <a:masterClrMapping/>
  </p:clrMapOvr>
  <p:transition>
    <p:fade/>
  </p:transition>
  <p:extLst>
    <p:ext uri="{DCECCB84-F9BA-43D5-87BE-67443E8EF086}">
      <p15:sldGuideLst xmlns:p15="http://schemas.microsoft.com/office/powerpoint/2012/main">
        <p15:guide id="1" orient="horz" pos="3590"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6" y="6477003"/>
            <a:ext cx="5355168" cy="115866"/>
          </a:xfrm>
          <a:prstGeom prst="rect">
            <a:avLst/>
          </a:prstGeom>
          <a:noFill/>
        </p:spPr>
        <p:txBody>
          <a:bodyPr wrap="square" lIns="0" tIns="0" rIns="0" bIns="0" rtlCol="0">
            <a:spAutoFit/>
          </a:bodyPr>
          <a:lstStyle/>
          <a:p>
            <a:pPr>
              <a:spcBef>
                <a:spcPts val="695"/>
              </a:spcBef>
              <a:buSzPct val="100000"/>
              <a:buFont typeface="Arial"/>
              <a:buNone/>
            </a:pPr>
            <a:r>
              <a:rPr lang="fr-FR" sz="753" dirty="0">
                <a:solidFill>
                  <a:prstClr val="white"/>
                </a:solidFill>
              </a:rPr>
              <a:t>© 2017 Deloitte Touche Tohmatsu India LLP</a:t>
            </a:r>
          </a:p>
        </p:txBody>
      </p:sp>
      <p:sp>
        <p:nvSpPr>
          <p:cNvPr id="15" name="TextBox 14"/>
          <p:cNvSpPr txBox="1"/>
          <p:nvPr userDrawn="1"/>
        </p:nvSpPr>
        <p:spPr>
          <a:xfrm>
            <a:off x="11382381" y="6477003"/>
            <a:ext cx="307976" cy="115866"/>
          </a:xfrm>
          <a:prstGeom prst="rect">
            <a:avLst/>
          </a:prstGeom>
          <a:noFill/>
        </p:spPr>
        <p:txBody>
          <a:bodyPr wrap="square" lIns="0" tIns="0" rIns="0" bIns="0" rtlCol="0">
            <a:spAutoFit/>
          </a:bodyPr>
          <a:lstStyle/>
          <a:p>
            <a:pPr algn="r">
              <a:spcBef>
                <a:spcPts val="695"/>
              </a:spcBef>
              <a:buSzPct val="100000"/>
              <a:buFont typeface="Arial"/>
              <a:buNone/>
            </a:pPr>
            <a:fld id="{C58DF478-B544-4ED8-9ED4-6A2648E2D233}" type="slidenum">
              <a:rPr lang="en-US" sz="753" smtClean="0">
                <a:solidFill>
                  <a:prstClr val="white"/>
                </a:solidFill>
              </a:rPr>
              <a:pPr algn="r">
                <a:spcBef>
                  <a:spcPts val="695"/>
                </a:spcBef>
                <a:buSzPct val="100000"/>
                <a:buFont typeface="Arial"/>
                <a:buNone/>
              </a:pPr>
              <a:t>‹#›</a:t>
            </a:fld>
            <a:endParaRPr lang="en-US" sz="753" dirty="0">
              <a:solidFill>
                <a:prstClr val="white"/>
              </a:solidFill>
            </a:endParaRPr>
          </a:p>
        </p:txBody>
      </p:sp>
      <p:sp>
        <p:nvSpPr>
          <p:cNvPr id="8" name="Rectangle 3"/>
          <p:cNvSpPr/>
          <p:nvPr userDrawn="1"/>
        </p:nvSpPr>
        <p:spPr bwMode="gray">
          <a:xfrm>
            <a:off x="-44821" y="2636892"/>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68190" tIns="68190" rIns="68190" bIns="68190" rtlCol="0" anchor="ctr"/>
          <a:lstStyle/>
          <a:p>
            <a:pPr algn="ctr">
              <a:lnSpc>
                <a:spcPct val="106000"/>
              </a:lnSpc>
              <a:buFont typeface="Wingdings 2" pitchFamily="18" charset="2"/>
              <a:buNone/>
            </a:pPr>
            <a:endParaRPr lang="en-US" sz="1227" b="1" dirty="0">
              <a:solidFill>
                <a:prstClr val="white"/>
              </a:solidFill>
            </a:endParaRPr>
          </a:p>
        </p:txBody>
      </p:sp>
      <p:sp>
        <p:nvSpPr>
          <p:cNvPr id="3" name="Text Placeholder 2"/>
          <p:cNvSpPr>
            <a:spLocks noGrp="1"/>
          </p:cNvSpPr>
          <p:nvPr>
            <p:ph type="body" idx="1"/>
          </p:nvPr>
        </p:nvSpPr>
        <p:spPr bwMode="gray">
          <a:xfrm>
            <a:off x="-42580" y="2645735"/>
            <a:ext cx="6200215" cy="1566532"/>
          </a:xfrm>
          <a:prstGeom prst="rect">
            <a:avLst/>
          </a:prstGeom>
          <a:noFill/>
        </p:spPr>
        <p:txBody>
          <a:bodyPr lIns="640080" tIns="0" rIns="0" bIns="0" anchor="ctr">
            <a:noAutofit/>
          </a:bodyPr>
          <a:lstStyle>
            <a:lvl1pPr marL="0" indent="0">
              <a:lnSpc>
                <a:spcPct val="95000"/>
              </a:lnSpc>
              <a:spcAft>
                <a:spcPts val="0"/>
              </a:spcAft>
              <a:buNone/>
              <a:defRPr sz="2608">
                <a:solidFill>
                  <a:schemeClr val="bg1"/>
                </a:solidFill>
              </a:defRPr>
            </a:lvl1pPr>
            <a:lvl2pPr marL="529926" indent="0">
              <a:buNone/>
              <a:defRPr sz="2318">
                <a:solidFill>
                  <a:schemeClr val="tx1">
                    <a:tint val="75000"/>
                  </a:schemeClr>
                </a:solidFill>
              </a:defRPr>
            </a:lvl2pPr>
            <a:lvl3pPr marL="1059853" indent="0">
              <a:buNone/>
              <a:defRPr sz="2086">
                <a:solidFill>
                  <a:schemeClr val="tx1">
                    <a:tint val="75000"/>
                  </a:schemeClr>
                </a:solidFill>
              </a:defRPr>
            </a:lvl3pPr>
            <a:lvl4pPr marL="1589780" indent="0">
              <a:buNone/>
              <a:defRPr sz="1855">
                <a:solidFill>
                  <a:schemeClr val="tx1">
                    <a:tint val="75000"/>
                  </a:schemeClr>
                </a:solidFill>
              </a:defRPr>
            </a:lvl4pPr>
            <a:lvl5pPr marL="2119708" indent="0">
              <a:buNone/>
              <a:defRPr sz="1855">
                <a:solidFill>
                  <a:schemeClr val="tx1">
                    <a:tint val="75000"/>
                  </a:schemeClr>
                </a:solidFill>
              </a:defRPr>
            </a:lvl5pPr>
            <a:lvl6pPr marL="2649634" indent="0">
              <a:buNone/>
              <a:defRPr sz="1855">
                <a:solidFill>
                  <a:schemeClr val="tx1">
                    <a:tint val="75000"/>
                  </a:schemeClr>
                </a:solidFill>
              </a:defRPr>
            </a:lvl6pPr>
            <a:lvl7pPr marL="3179561" indent="0">
              <a:buNone/>
              <a:defRPr sz="1855">
                <a:solidFill>
                  <a:schemeClr val="tx1">
                    <a:tint val="75000"/>
                  </a:schemeClr>
                </a:solidFill>
              </a:defRPr>
            </a:lvl7pPr>
            <a:lvl8pPr marL="3709488" indent="0">
              <a:buNone/>
              <a:defRPr sz="1855">
                <a:solidFill>
                  <a:schemeClr val="tx1">
                    <a:tint val="75000"/>
                  </a:schemeClr>
                </a:solidFill>
              </a:defRPr>
            </a:lvl8pPr>
            <a:lvl9pPr marL="4239415" indent="0">
              <a:buNone/>
              <a:defRPr sz="1855">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153242690"/>
      </p:ext>
    </p:extLst>
  </p:cSld>
  <p:clrMapOvr>
    <a:masterClrMapping/>
  </p:clrMapOvr>
  <p:transition>
    <p:fade/>
  </p:transition>
  <p:extLst>
    <p:ext uri="{DCECCB84-F9BA-43D5-87BE-67443E8EF086}">
      <p15:sldGuideLst xmlns:p15="http://schemas.microsoft.com/office/powerpoint/2012/main">
        <p15:guide id="1" orient="horz" pos="3590"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5" y="651609"/>
            <a:ext cx="11162352" cy="757255"/>
          </a:xfrm>
          <a:prstGeom prst="rect">
            <a:avLst/>
          </a:prstGeom>
        </p:spPr>
        <p:txBody>
          <a:bodyPr lIns="0" tIns="0" rIns="0" bIns="0">
            <a:noAutofit/>
          </a:bodyPr>
          <a:lstStyle>
            <a:lvl1pPr marL="0" indent="0">
              <a:buNone/>
              <a:defRPr sz="1381"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5" y="317507"/>
            <a:ext cx="11162352" cy="334101"/>
          </a:xfrm>
          <a:prstGeom prst="rect">
            <a:avLst/>
          </a:prstGeom>
        </p:spPr>
        <p:txBody>
          <a:bodyPr vert="horz" lIns="0" tIns="0" rIns="0" bIns="0" rtlCol="0" anchor="t" anchorCtr="0">
            <a:noAutofit/>
          </a:bodyPr>
          <a:lstStyle>
            <a:lvl1pPr>
              <a:defRPr sz="1687">
                <a:latin typeface="+mj-lt"/>
              </a:defRPr>
            </a:lvl1pPr>
          </a:lstStyle>
          <a:p>
            <a:r>
              <a:rPr lang="en-US" noProof="0" dirty="0"/>
              <a:t>Click to edit Master title style</a:t>
            </a:r>
          </a:p>
        </p:txBody>
      </p:sp>
      <p:sp>
        <p:nvSpPr>
          <p:cNvPr id="8" name="Text Placeholder 18"/>
          <p:cNvSpPr>
            <a:spLocks noGrp="1"/>
          </p:cNvSpPr>
          <p:nvPr>
            <p:ph idx="1"/>
          </p:nvPr>
        </p:nvSpPr>
        <p:spPr>
          <a:xfrm>
            <a:off x="501658" y="1665292"/>
            <a:ext cx="11165417" cy="4713911"/>
          </a:xfrm>
          <a:prstGeom prst="rect">
            <a:avLst/>
          </a:prstGeom>
        </p:spPr>
        <p:txBody>
          <a:bodyPr vert="horz" lIns="0" tIns="0" rIns="0" bIns="0" rtlCol="0">
            <a:noAutofit/>
          </a:bodyPr>
          <a:lstStyle>
            <a:lvl1pPr>
              <a:spcAft>
                <a:spcPts val="1053"/>
              </a:spcAft>
              <a:defRPr sz="1074"/>
            </a:lvl1pPr>
            <a:lvl2pPr>
              <a:spcAft>
                <a:spcPts val="1053"/>
              </a:spcAft>
              <a:defRPr sz="1074"/>
            </a:lvl2pPr>
            <a:lvl3pPr>
              <a:spcAft>
                <a:spcPts val="1053"/>
              </a:spcAft>
              <a:defRPr sz="1074"/>
            </a:lvl3pPr>
            <a:lvl4pPr>
              <a:spcAft>
                <a:spcPts val="1053"/>
              </a:spcAft>
              <a:defRPr sz="1074"/>
            </a:lvl4pPr>
            <a:lvl5pPr>
              <a:spcAft>
                <a:spcPts val="1053"/>
              </a:spcAft>
              <a:defRPr sz="1074"/>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445917030"/>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3" y="402592"/>
            <a:ext cx="11252200" cy="698501"/>
          </a:xfrm>
          <a:prstGeom prst="rect">
            <a:avLst/>
          </a:prstGeom>
        </p:spPr>
        <p:txBody>
          <a:bodyPr vert="horz" lIns="0" tIns="0" rIns="0" bIns="0" rtlCol="0" anchor="t" anchorCtr="0">
            <a:noAutofit/>
          </a:bodyPr>
          <a:lstStyle>
            <a:lvl1pPr>
              <a:defRPr sz="1304"/>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3" y="736699"/>
            <a:ext cx="11252200" cy="757255"/>
          </a:xfrm>
          <a:prstGeom prst="rect">
            <a:avLst/>
          </a:prstGeom>
        </p:spPr>
        <p:txBody>
          <a:bodyPr lIns="0" tIns="0" rIns="0" bIns="0">
            <a:noAutofit/>
          </a:bodyPr>
          <a:lstStyle>
            <a:lvl1pPr marL="0" indent="0">
              <a:buNone/>
              <a:defRPr sz="1304"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8" y="1665293"/>
            <a:ext cx="9348787" cy="4633910"/>
          </a:xfrm>
          <a:prstGeom prst="rect">
            <a:avLst/>
          </a:prstGeom>
        </p:spPr>
        <p:txBody>
          <a:bodyPr/>
          <a:lstStyle>
            <a:lvl1pPr>
              <a:tabLst>
                <a:tab pos="5849737" algn="r"/>
              </a:tabLst>
              <a:defRPr/>
            </a:lvl1pPr>
            <a:lvl2pPr>
              <a:tabLst>
                <a:tab pos="5849737" algn="r"/>
              </a:tabLst>
              <a:defRPr/>
            </a:lvl2pPr>
            <a:lvl3pPr>
              <a:tabLst>
                <a:tab pos="5849737" algn="r"/>
              </a:tabLst>
              <a:defRPr/>
            </a:lvl3pPr>
            <a:lvl4pPr>
              <a:tabLst>
                <a:tab pos="5849737" algn="r"/>
              </a:tabLst>
              <a:defRPr/>
            </a:lvl4pPr>
            <a:lvl5pPr>
              <a:tabLst>
                <a:tab pos="4371777" algn="r"/>
              </a:tabLst>
              <a:defRPr baseline="0"/>
            </a:lvl5pPr>
            <a:lvl6pPr marL="309811" indent="0">
              <a:buNone/>
              <a:tabLst>
                <a:tab pos="5849737" algn="r"/>
              </a:tabLst>
              <a:defRPr/>
            </a:lvl6pPr>
            <a:lvl7pPr>
              <a:tabLst>
                <a:tab pos="5849737" algn="r"/>
              </a:tabLst>
              <a:defRPr/>
            </a:lvl7pPr>
            <a:lvl8pPr>
              <a:tabLst>
                <a:tab pos="5849737" algn="r"/>
              </a:tabLst>
              <a:defRPr/>
            </a:lvl8pPr>
            <a:lvl9pPr>
              <a:tabLst>
                <a:tab pos="5849737"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19658503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80"/>
            <a:ext cx="9277349" cy="4752975"/>
          </a:xfrm>
          <a:prstGeom prst="rect">
            <a:avLst/>
          </a:prstGeom>
        </p:spPr>
        <p:txBody>
          <a:bodyPr>
            <a:normAutofit/>
          </a:bodyPr>
          <a:lstStyle>
            <a:lvl1pPr marL="0" indent="0">
              <a:spcBef>
                <a:spcPts val="3129"/>
              </a:spcBef>
              <a:buFont typeface="Arial" panose="020B0604020202020204" pitchFamily="34" charset="0"/>
              <a:buChar char="​"/>
              <a:defRPr sz="2434">
                <a:solidFill>
                  <a:schemeClr val="tx1"/>
                </a:solidFill>
              </a:defRPr>
            </a:lvl1pPr>
            <a:lvl2pPr marL="0" indent="0">
              <a:defRPr sz="2608">
                <a:solidFill>
                  <a:schemeClr val="bg2"/>
                </a:solidFill>
              </a:defRPr>
            </a:lvl2pPr>
            <a:lvl3pPr marL="0" indent="0">
              <a:buNone/>
              <a:defRPr sz="2608">
                <a:solidFill>
                  <a:schemeClr val="bg2"/>
                </a:solidFill>
              </a:defRPr>
            </a:lvl3pPr>
            <a:lvl4pPr>
              <a:defRPr sz="2608">
                <a:solidFill>
                  <a:schemeClr val="bg2"/>
                </a:solidFill>
              </a:defRPr>
            </a:lvl4pPr>
            <a:lvl5pPr>
              <a:defRPr sz="2608">
                <a:solidFill>
                  <a:schemeClr val="bg2"/>
                </a:solidFill>
              </a:defRPr>
            </a:lvl5pPr>
          </a:lstStyle>
          <a:p>
            <a:pPr lvl="0"/>
            <a:r>
              <a:rPr lang="en-GB" noProof="0" dirty="0"/>
              <a:t>Click to edit Master text styles</a:t>
            </a:r>
          </a:p>
        </p:txBody>
      </p:sp>
      <p:sp>
        <p:nvSpPr>
          <p:cNvPr id="2" name="Footer Placeholder 1"/>
          <p:cNvSpPr>
            <a:spLocks noGrp="1"/>
          </p:cNvSpPr>
          <p:nvPr>
            <p:ph type="ftr" sz="quarter" idx="11"/>
          </p:nvPr>
        </p:nvSpPr>
        <p:spPr/>
        <p:txBody>
          <a:bodyPr/>
          <a:lstStyle/>
          <a:p>
            <a:endParaRPr lang="en-GB" dirty="0">
              <a:solidFill>
                <a:prstClr val="black"/>
              </a:solidFill>
            </a:endParaRPr>
          </a:p>
        </p:txBody>
      </p:sp>
    </p:spTree>
    <p:extLst>
      <p:ext uri="{BB962C8B-B14F-4D97-AF65-F5344CB8AC3E}">
        <p14:creationId xmlns:p14="http://schemas.microsoft.com/office/powerpoint/2010/main" val="350054719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4" y="4211957"/>
            <a:ext cx="8528936" cy="2169796"/>
          </a:xfrm>
        </p:spPr>
        <p:txBody>
          <a:bodyPr anchor="b" anchorCtr="0"/>
          <a:lstStyle>
            <a:lvl1pPr>
              <a:lnSpc>
                <a:spcPct val="100000"/>
              </a:lnSpc>
              <a:spcAft>
                <a:spcPts val="522"/>
              </a:spcAft>
              <a:defRPr sz="788"/>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grpSp>
    </p:spTree>
    <p:extLst>
      <p:ext uri="{BB962C8B-B14F-4D97-AF65-F5344CB8AC3E}">
        <p14:creationId xmlns:p14="http://schemas.microsoft.com/office/powerpoint/2010/main" val="58824913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9"/>
            <a:ext cx="5592011" cy="505645"/>
          </a:xfrm>
          <a:prstGeom prst="rect">
            <a:avLst/>
          </a:prstGeom>
        </p:spPr>
        <p:txBody>
          <a:bodyPr lIns="0" tIns="0" rIns="0" bIns="0" anchor="b" anchorCtr="0">
            <a:noAutofit/>
          </a:bodyPr>
          <a:lstStyle>
            <a:lvl1pPr marL="0" indent="0" algn="l">
              <a:lnSpc>
                <a:spcPct val="100000"/>
              </a:lnSpc>
              <a:spcAft>
                <a:spcPts val="0"/>
              </a:spcAft>
              <a:buNone/>
              <a:defRPr sz="1565" b="1">
                <a:solidFill>
                  <a:schemeClr val="bg1"/>
                </a:solidFill>
              </a:defRPr>
            </a:lvl1pPr>
            <a:lvl2pPr marL="0" indent="0" algn="l">
              <a:buNone/>
              <a:defRPr sz="1391" b="0">
                <a:solidFill>
                  <a:schemeClr val="bg1"/>
                </a:solidFill>
              </a:defRPr>
            </a:lvl2pPr>
            <a:lvl3pPr marL="1059825" indent="0" algn="ctr">
              <a:buNone/>
              <a:defRPr sz="2086"/>
            </a:lvl3pPr>
            <a:lvl4pPr marL="1589737" indent="0" algn="ctr">
              <a:buNone/>
              <a:defRPr sz="1854"/>
            </a:lvl4pPr>
            <a:lvl5pPr marL="2119650" indent="0" algn="ctr">
              <a:buNone/>
              <a:defRPr sz="1854"/>
            </a:lvl5pPr>
            <a:lvl6pPr marL="2649563" indent="0" algn="ctr">
              <a:buNone/>
              <a:defRPr sz="1854"/>
            </a:lvl6pPr>
            <a:lvl7pPr marL="3179475" indent="0" algn="ctr">
              <a:buNone/>
              <a:defRPr sz="1854"/>
            </a:lvl7pPr>
            <a:lvl8pPr marL="3709387" indent="0" algn="ctr">
              <a:buNone/>
              <a:defRPr sz="1854"/>
            </a:lvl8pPr>
            <a:lvl9pPr marL="4239298" indent="0" algn="ctr">
              <a:buNone/>
              <a:defRPr sz="185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7" y="6362705"/>
            <a:ext cx="5594349" cy="298451"/>
          </a:xfrm>
          <a:prstGeom prst="rect">
            <a:avLst/>
          </a:prstGeom>
        </p:spPr>
        <p:txBody>
          <a:bodyPr/>
          <a:lstStyle>
            <a:lvl1pPr>
              <a:spcAft>
                <a:spcPts val="0"/>
              </a:spcAft>
              <a:defRPr sz="91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143391889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5996"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49"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303"/>
              </a:lnSpc>
              <a:defRPr sz="2782"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9"/>
            <a:ext cx="5592011" cy="505645"/>
          </a:xfrm>
          <a:prstGeom prst="rect">
            <a:avLst/>
          </a:prstGeom>
        </p:spPr>
        <p:txBody>
          <a:bodyPr lIns="0" tIns="0" rIns="0" bIns="0" anchor="b" anchorCtr="0">
            <a:noAutofit/>
          </a:bodyPr>
          <a:lstStyle>
            <a:lvl1pPr marL="0" indent="0" algn="l">
              <a:lnSpc>
                <a:spcPct val="100000"/>
              </a:lnSpc>
              <a:spcAft>
                <a:spcPts val="0"/>
              </a:spcAft>
              <a:buNone/>
              <a:defRPr sz="1391">
                <a:solidFill>
                  <a:schemeClr val="bg1"/>
                </a:solidFill>
              </a:defRPr>
            </a:lvl1pPr>
            <a:lvl2pPr marL="529913" indent="0" algn="ctr">
              <a:buNone/>
              <a:defRPr sz="2318"/>
            </a:lvl2pPr>
            <a:lvl3pPr marL="1059825" indent="0" algn="ctr">
              <a:buNone/>
              <a:defRPr sz="2086"/>
            </a:lvl3pPr>
            <a:lvl4pPr marL="1589737" indent="0" algn="ctr">
              <a:buNone/>
              <a:defRPr sz="1854"/>
            </a:lvl4pPr>
            <a:lvl5pPr marL="2119650" indent="0" algn="ctr">
              <a:buNone/>
              <a:defRPr sz="1854"/>
            </a:lvl5pPr>
            <a:lvl6pPr marL="2649563" indent="0" algn="ctr">
              <a:buNone/>
              <a:defRPr sz="1854"/>
            </a:lvl6pPr>
            <a:lvl7pPr marL="3179475" indent="0" algn="ctr">
              <a:buNone/>
              <a:defRPr sz="1854"/>
            </a:lvl7pPr>
            <a:lvl8pPr marL="3709387" indent="0" algn="ctr">
              <a:buNone/>
              <a:defRPr sz="1854"/>
            </a:lvl8pPr>
            <a:lvl9pPr marL="4239298" indent="0" algn="ctr">
              <a:buNone/>
              <a:defRPr sz="1854"/>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7" y="6362705"/>
            <a:ext cx="5594349" cy="298451"/>
          </a:xfrm>
          <a:prstGeom prst="rect">
            <a:avLst/>
          </a:prstGeom>
        </p:spPr>
        <p:txBody>
          <a:bodyPr/>
          <a:lstStyle>
            <a:lvl1pPr>
              <a:spcAft>
                <a:spcPts val="0"/>
              </a:spcAft>
              <a:defRPr sz="91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grpSp>
    </p:spTree>
    <p:extLst>
      <p:ext uri="{BB962C8B-B14F-4D97-AF65-F5344CB8AC3E}">
        <p14:creationId xmlns:p14="http://schemas.microsoft.com/office/powerpoint/2010/main" val="280334782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5996"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303"/>
              </a:lnSpc>
              <a:defRPr sz="2782"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8" y="5845189"/>
            <a:ext cx="5594348" cy="505645"/>
          </a:xfrm>
          <a:prstGeom prst="rect">
            <a:avLst/>
          </a:prstGeom>
        </p:spPr>
        <p:txBody>
          <a:bodyPr lIns="0" tIns="0" rIns="0" bIns="0" anchor="b" anchorCtr="0">
            <a:noAutofit/>
          </a:bodyPr>
          <a:lstStyle>
            <a:lvl1pPr marL="0" indent="0" algn="l">
              <a:lnSpc>
                <a:spcPct val="100000"/>
              </a:lnSpc>
              <a:spcAft>
                <a:spcPts val="0"/>
              </a:spcAft>
              <a:buNone/>
              <a:defRPr sz="1391">
                <a:solidFill>
                  <a:schemeClr val="tx1"/>
                </a:solidFill>
              </a:defRPr>
            </a:lvl1pPr>
            <a:lvl2pPr marL="529913" indent="0" algn="ctr">
              <a:buNone/>
              <a:defRPr sz="2318"/>
            </a:lvl2pPr>
            <a:lvl3pPr marL="1059825" indent="0" algn="ctr">
              <a:buNone/>
              <a:defRPr sz="2086"/>
            </a:lvl3pPr>
            <a:lvl4pPr marL="1589737" indent="0" algn="ctr">
              <a:buNone/>
              <a:defRPr sz="1854"/>
            </a:lvl4pPr>
            <a:lvl5pPr marL="2119650" indent="0" algn="ctr">
              <a:buNone/>
              <a:defRPr sz="1854"/>
            </a:lvl5pPr>
            <a:lvl6pPr marL="2649563" indent="0" algn="ctr">
              <a:buNone/>
              <a:defRPr sz="1854"/>
            </a:lvl6pPr>
            <a:lvl7pPr marL="3179475" indent="0" algn="ctr">
              <a:buNone/>
              <a:defRPr sz="1854"/>
            </a:lvl7pPr>
            <a:lvl8pPr marL="3709387" indent="0" algn="ctr">
              <a:buNone/>
              <a:defRPr sz="1854"/>
            </a:lvl8pPr>
            <a:lvl9pPr marL="4239298" indent="0" algn="ctr">
              <a:buNone/>
              <a:defRPr sz="1854"/>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8" y="6362705"/>
            <a:ext cx="5594349" cy="298451"/>
          </a:xfrm>
          <a:prstGeom prst="rect">
            <a:avLst/>
          </a:prstGeom>
        </p:spPr>
        <p:txBody>
          <a:bodyPr>
            <a:noAutofit/>
          </a:bodyPr>
          <a:lstStyle>
            <a:lvl1pPr>
              <a:spcAft>
                <a:spcPts val="0"/>
              </a:spcAft>
              <a:defRPr sz="91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grpSp>
    </p:spTree>
    <p:extLst>
      <p:ext uri="{BB962C8B-B14F-4D97-AF65-F5344CB8AC3E}">
        <p14:creationId xmlns:p14="http://schemas.microsoft.com/office/powerpoint/2010/main" val="354044732"/>
      </p:ext>
    </p:extLst>
  </p:cSld>
  <p:clrMapOvr>
    <a:masterClrMapping/>
  </p:clrMapOvr>
  <p:transition>
    <p:fade/>
  </p:transition>
  <p:extLst>
    <p:ext uri="{DCECCB84-F9BA-43D5-87BE-67443E8EF086}">
      <p15:sldGuideLst xmlns:p15="http://schemas.microsoft.com/office/powerpoint/2012/main">
        <p15:guide id="1" orient="horz" pos="5996"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7" y="1700219"/>
            <a:ext cx="10418233" cy="1592403"/>
          </a:xfrm>
        </p:spPr>
        <p:txBody>
          <a:bodyPr anchor="b"/>
          <a:lstStyle>
            <a:lvl1pPr>
              <a:lnSpc>
                <a:spcPct val="95000"/>
              </a:lnSpc>
              <a:defRPr sz="334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347">
                <a:solidFill>
                  <a:schemeClr val="bg1"/>
                </a:solidFill>
              </a:defRPr>
            </a:lvl1pPr>
            <a:lvl2pPr marL="529913" indent="0">
              <a:buNone/>
              <a:defRPr sz="2318">
                <a:solidFill>
                  <a:schemeClr val="tx1">
                    <a:tint val="75000"/>
                  </a:schemeClr>
                </a:solidFill>
              </a:defRPr>
            </a:lvl2pPr>
            <a:lvl3pPr marL="1059825" indent="0">
              <a:buNone/>
              <a:defRPr sz="2086">
                <a:solidFill>
                  <a:schemeClr val="tx1">
                    <a:tint val="75000"/>
                  </a:schemeClr>
                </a:solidFill>
              </a:defRPr>
            </a:lvl3pPr>
            <a:lvl4pPr marL="1589737" indent="0">
              <a:buNone/>
              <a:defRPr sz="1854">
                <a:solidFill>
                  <a:schemeClr val="tx1">
                    <a:tint val="75000"/>
                  </a:schemeClr>
                </a:solidFill>
              </a:defRPr>
            </a:lvl4pPr>
            <a:lvl5pPr marL="2119650" indent="0">
              <a:buNone/>
              <a:defRPr sz="1854">
                <a:solidFill>
                  <a:schemeClr val="tx1">
                    <a:tint val="75000"/>
                  </a:schemeClr>
                </a:solidFill>
              </a:defRPr>
            </a:lvl5pPr>
            <a:lvl6pPr marL="2649563" indent="0">
              <a:buNone/>
              <a:defRPr sz="1854">
                <a:solidFill>
                  <a:schemeClr val="tx1">
                    <a:tint val="75000"/>
                  </a:schemeClr>
                </a:solidFill>
              </a:defRPr>
            </a:lvl6pPr>
            <a:lvl7pPr marL="3179475" indent="0">
              <a:buNone/>
              <a:defRPr sz="1854">
                <a:solidFill>
                  <a:schemeClr val="tx1">
                    <a:tint val="75000"/>
                  </a:schemeClr>
                </a:solidFill>
              </a:defRPr>
            </a:lvl7pPr>
            <a:lvl8pPr marL="3709387" indent="0">
              <a:buNone/>
              <a:defRPr sz="1854">
                <a:solidFill>
                  <a:schemeClr val="tx1">
                    <a:tint val="75000"/>
                  </a:schemeClr>
                </a:solidFill>
              </a:defRPr>
            </a:lvl8pPr>
            <a:lvl9pPr marL="4239298" indent="0">
              <a:buNone/>
              <a:defRPr sz="1854">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702269959"/>
      </p:ext>
    </p:extLst>
  </p:cSld>
  <p:clrMapOvr>
    <a:masterClrMapping/>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7" y="1705674"/>
            <a:ext cx="10418233" cy="1592403"/>
          </a:xfrm>
        </p:spPr>
        <p:txBody>
          <a:bodyPr anchor="b"/>
          <a:lstStyle>
            <a:lvl1pPr>
              <a:lnSpc>
                <a:spcPct val="95000"/>
              </a:lnSpc>
              <a:defRPr sz="334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7" y="3429000"/>
            <a:ext cx="10418233" cy="1566532"/>
          </a:xfrm>
        </p:spPr>
        <p:txBody>
          <a:bodyPr lIns="0" tIns="0" rIns="0" bIns="0">
            <a:noAutofit/>
          </a:bodyPr>
          <a:lstStyle>
            <a:lvl1pPr marL="0" indent="0">
              <a:lnSpc>
                <a:spcPct val="95000"/>
              </a:lnSpc>
              <a:spcAft>
                <a:spcPts val="0"/>
              </a:spcAft>
              <a:buNone/>
              <a:defRPr sz="3347">
                <a:solidFill>
                  <a:schemeClr val="bg1"/>
                </a:solidFill>
              </a:defRPr>
            </a:lvl1pPr>
            <a:lvl2pPr marL="529913" indent="0">
              <a:buNone/>
              <a:defRPr sz="2318">
                <a:solidFill>
                  <a:schemeClr val="tx1">
                    <a:tint val="75000"/>
                  </a:schemeClr>
                </a:solidFill>
              </a:defRPr>
            </a:lvl2pPr>
            <a:lvl3pPr marL="1059825" indent="0">
              <a:buNone/>
              <a:defRPr sz="2086">
                <a:solidFill>
                  <a:schemeClr val="tx1">
                    <a:tint val="75000"/>
                  </a:schemeClr>
                </a:solidFill>
              </a:defRPr>
            </a:lvl3pPr>
            <a:lvl4pPr marL="1589737" indent="0">
              <a:buNone/>
              <a:defRPr sz="1854">
                <a:solidFill>
                  <a:schemeClr val="tx1">
                    <a:tint val="75000"/>
                  </a:schemeClr>
                </a:solidFill>
              </a:defRPr>
            </a:lvl4pPr>
            <a:lvl5pPr marL="2119650" indent="0">
              <a:buNone/>
              <a:defRPr sz="1854">
                <a:solidFill>
                  <a:schemeClr val="tx1">
                    <a:tint val="75000"/>
                  </a:schemeClr>
                </a:solidFill>
              </a:defRPr>
            </a:lvl5pPr>
            <a:lvl6pPr marL="2649563" indent="0">
              <a:buNone/>
              <a:defRPr sz="1854">
                <a:solidFill>
                  <a:schemeClr val="tx1">
                    <a:tint val="75000"/>
                  </a:schemeClr>
                </a:solidFill>
              </a:defRPr>
            </a:lvl6pPr>
            <a:lvl7pPr marL="3179475" indent="0">
              <a:buNone/>
              <a:defRPr sz="1854">
                <a:solidFill>
                  <a:schemeClr val="tx1">
                    <a:tint val="75000"/>
                  </a:schemeClr>
                </a:solidFill>
              </a:defRPr>
            </a:lvl7pPr>
            <a:lvl8pPr marL="3709387" indent="0">
              <a:buNone/>
              <a:defRPr sz="1854">
                <a:solidFill>
                  <a:schemeClr val="tx1">
                    <a:tint val="75000"/>
                  </a:schemeClr>
                </a:solidFill>
              </a:defRPr>
            </a:lvl8pPr>
            <a:lvl9pPr marL="4239298" indent="0">
              <a:buNone/>
              <a:defRPr sz="1854">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059392262"/>
      </p:ext>
    </p:extLst>
  </p:cSld>
  <p:clrMapOvr>
    <a:masterClrMapping/>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7" y="1705674"/>
            <a:ext cx="10418233" cy="1592403"/>
          </a:xfrm>
        </p:spPr>
        <p:txBody>
          <a:bodyPr anchor="b"/>
          <a:lstStyle>
            <a:lvl1pPr>
              <a:lnSpc>
                <a:spcPct val="95000"/>
              </a:lnSpc>
              <a:defRPr sz="334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7" y="3429000"/>
            <a:ext cx="10418233" cy="1566532"/>
          </a:xfrm>
        </p:spPr>
        <p:txBody>
          <a:bodyPr lIns="0" tIns="0" rIns="0" bIns="0">
            <a:noAutofit/>
          </a:bodyPr>
          <a:lstStyle>
            <a:lvl1pPr marL="0" indent="0">
              <a:lnSpc>
                <a:spcPct val="95000"/>
              </a:lnSpc>
              <a:spcAft>
                <a:spcPts val="0"/>
              </a:spcAft>
              <a:buNone/>
              <a:defRPr sz="3347">
                <a:solidFill>
                  <a:schemeClr val="bg1"/>
                </a:solidFill>
              </a:defRPr>
            </a:lvl1pPr>
            <a:lvl2pPr marL="529913" indent="0">
              <a:buNone/>
              <a:defRPr sz="2318">
                <a:solidFill>
                  <a:schemeClr val="tx1">
                    <a:tint val="75000"/>
                  </a:schemeClr>
                </a:solidFill>
              </a:defRPr>
            </a:lvl2pPr>
            <a:lvl3pPr marL="1059825" indent="0">
              <a:buNone/>
              <a:defRPr sz="2086">
                <a:solidFill>
                  <a:schemeClr val="tx1">
                    <a:tint val="75000"/>
                  </a:schemeClr>
                </a:solidFill>
              </a:defRPr>
            </a:lvl3pPr>
            <a:lvl4pPr marL="1589737" indent="0">
              <a:buNone/>
              <a:defRPr sz="1854">
                <a:solidFill>
                  <a:schemeClr val="tx1">
                    <a:tint val="75000"/>
                  </a:schemeClr>
                </a:solidFill>
              </a:defRPr>
            </a:lvl4pPr>
            <a:lvl5pPr marL="2119650" indent="0">
              <a:buNone/>
              <a:defRPr sz="1854">
                <a:solidFill>
                  <a:schemeClr val="tx1">
                    <a:tint val="75000"/>
                  </a:schemeClr>
                </a:solidFill>
              </a:defRPr>
            </a:lvl5pPr>
            <a:lvl6pPr marL="2649563" indent="0">
              <a:buNone/>
              <a:defRPr sz="1854">
                <a:solidFill>
                  <a:schemeClr val="tx1">
                    <a:tint val="75000"/>
                  </a:schemeClr>
                </a:solidFill>
              </a:defRPr>
            </a:lvl6pPr>
            <a:lvl7pPr marL="3179475" indent="0">
              <a:buNone/>
              <a:defRPr sz="1854">
                <a:solidFill>
                  <a:schemeClr val="tx1">
                    <a:tint val="75000"/>
                  </a:schemeClr>
                </a:solidFill>
              </a:defRPr>
            </a:lvl7pPr>
            <a:lvl8pPr marL="3709387" indent="0">
              <a:buNone/>
              <a:defRPr sz="1854">
                <a:solidFill>
                  <a:schemeClr val="tx1">
                    <a:tint val="75000"/>
                  </a:schemeClr>
                </a:solidFill>
              </a:defRPr>
            </a:lvl8pPr>
            <a:lvl9pPr marL="4239298" indent="0">
              <a:buNone/>
              <a:defRPr sz="1854">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6"/>
            <a:ext cx="4896560" cy="173894"/>
          </a:xfrm>
          <a:prstGeom prst="rect">
            <a:avLst/>
          </a:prstGeom>
          <a:noFill/>
        </p:spPr>
        <p:txBody>
          <a:bodyPr wrap="square" lIns="0" tIns="0" rIns="0" bIns="0" rtlCol="0">
            <a:spAutoFit/>
          </a:bodyPr>
          <a:lstStyle/>
          <a:p>
            <a:pPr marL="0" indent="0" algn="r">
              <a:spcBef>
                <a:spcPts val="0"/>
              </a:spcBef>
              <a:buSzPct val="100000"/>
              <a:buFont typeface="Arial"/>
              <a:buNone/>
            </a:pPr>
            <a:r>
              <a:rPr lang="en-US" sz="565" noProof="0" dirty="0">
                <a:solidFill>
                  <a:schemeClr val="bg1"/>
                </a:solidFill>
              </a:rPr>
              <a:t>Presentation title</a:t>
            </a:r>
            <a:br>
              <a:rPr lang="en-US" sz="565" noProof="0" dirty="0">
                <a:solidFill>
                  <a:schemeClr val="bg1"/>
                </a:solidFill>
              </a:rPr>
            </a:br>
            <a:r>
              <a:rPr lang="en-US" sz="565" noProof="0" dirty="0">
                <a:solidFill>
                  <a:schemeClr val="bg1"/>
                </a:solidFill>
              </a:rPr>
              <a:t>[To edit, click View &gt; Slide Master &gt; Slide Master]</a:t>
            </a:r>
          </a:p>
        </p:txBody>
      </p:sp>
      <p:sp>
        <p:nvSpPr>
          <p:cNvPr id="8" name="TextBox 7"/>
          <p:cNvSpPr txBox="1"/>
          <p:nvPr userDrawn="1"/>
        </p:nvSpPr>
        <p:spPr>
          <a:xfrm>
            <a:off x="469904" y="6477006"/>
            <a:ext cx="5355167" cy="173894"/>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bg1"/>
                </a:solidFill>
              </a:rPr>
              <a:t>Member firms and DTTL: Insert appropriate copyright</a:t>
            </a:r>
            <a:br>
              <a:rPr lang="en-US" sz="565" noProof="0" dirty="0">
                <a:solidFill>
                  <a:schemeClr val="bg1"/>
                </a:solidFill>
              </a:rPr>
            </a:br>
            <a:r>
              <a:rPr lang="en-US" sz="565" noProof="0" dirty="0">
                <a:solidFill>
                  <a:schemeClr val="bg1"/>
                </a:solidFill>
              </a:rPr>
              <a:t>[To edit, click View &gt; Slide Master &gt; Slide Master]</a:t>
            </a:r>
          </a:p>
        </p:txBody>
      </p:sp>
      <p:sp>
        <p:nvSpPr>
          <p:cNvPr id="9" name="TextBox 8"/>
          <p:cNvSpPr txBox="1"/>
          <p:nvPr userDrawn="1"/>
        </p:nvSpPr>
        <p:spPr>
          <a:xfrm>
            <a:off x="11414129" y="6477010"/>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bg1"/>
                </a:solidFill>
              </a:rPr>
              <a:pPr marL="0" indent="0" algn="r">
                <a:spcBef>
                  <a:spcPts val="695"/>
                </a:spcBef>
                <a:buSzPct val="100000"/>
                <a:buFont typeface="Arial"/>
                <a:buNone/>
              </a:pPr>
              <a:t>‹#›</a:t>
            </a:fld>
            <a:endParaRPr lang="en-US" sz="565" noProof="0" dirty="0">
              <a:solidFill>
                <a:schemeClr val="bg1"/>
              </a:solidFill>
            </a:endParaRPr>
          </a:p>
        </p:txBody>
      </p:sp>
    </p:spTree>
    <p:extLst>
      <p:ext uri="{BB962C8B-B14F-4D97-AF65-F5344CB8AC3E}">
        <p14:creationId xmlns:p14="http://schemas.microsoft.com/office/powerpoint/2010/main" val="575093241"/>
      </p:ext>
    </p:extLst>
  </p:cSld>
  <p:clrMapOvr>
    <a:masterClrMapping/>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7" y="1705674"/>
            <a:ext cx="10418233" cy="1592403"/>
          </a:xfrm>
        </p:spPr>
        <p:txBody>
          <a:bodyPr anchor="b"/>
          <a:lstStyle>
            <a:lvl1pPr>
              <a:lnSpc>
                <a:spcPct val="95000"/>
              </a:lnSpc>
              <a:defRPr sz="334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7" y="3429000"/>
            <a:ext cx="10418233" cy="1566532"/>
          </a:xfrm>
        </p:spPr>
        <p:txBody>
          <a:bodyPr lIns="0" tIns="0" rIns="0" bIns="0">
            <a:noAutofit/>
          </a:bodyPr>
          <a:lstStyle>
            <a:lvl1pPr marL="0" indent="0">
              <a:lnSpc>
                <a:spcPct val="95000"/>
              </a:lnSpc>
              <a:spcAft>
                <a:spcPts val="0"/>
              </a:spcAft>
              <a:buNone/>
              <a:defRPr sz="3347">
                <a:solidFill>
                  <a:schemeClr val="bg1"/>
                </a:solidFill>
              </a:defRPr>
            </a:lvl1pPr>
            <a:lvl2pPr marL="529913" indent="0">
              <a:buNone/>
              <a:defRPr sz="2318">
                <a:solidFill>
                  <a:schemeClr val="tx1">
                    <a:tint val="75000"/>
                  </a:schemeClr>
                </a:solidFill>
              </a:defRPr>
            </a:lvl2pPr>
            <a:lvl3pPr marL="1059825" indent="0">
              <a:buNone/>
              <a:defRPr sz="2086">
                <a:solidFill>
                  <a:schemeClr val="tx1">
                    <a:tint val="75000"/>
                  </a:schemeClr>
                </a:solidFill>
              </a:defRPr>
            </a:lvl3pPr>
            <a:lvl4pPr marL="1589737" indent="0">
              <a:buNone/>
              <a:defRPr sz="1854">
                <a:solidFill>
                  <a:schemeClr val="tx1">
                    <a:tint val="75000"/>
                  </a:schemeClr>
                </a:solidFill>
              </a:defRPr>
            </a:lvl4pPr>
            <a:lvl5pPr marL="2119650" indent="0">
              <a:buNone/>
              <a:defRPr sz="1854">
                <a:solidFill>
                  <a:schemeClr val="tx1">
                    <a:tint val="75000"/>
                  </a:schemeClr>
                </a:solidFill>
              </a:defRPr>
            </a:lvl5pPr>
            <a:lvl6pPr marL="2649563" indent="0">
              <a:buNone/>
              <a:defRPr sz="1854">
                <a:solidFill>
                  <a:schemeClr val="tx1">
                    <a:tint val="75000"/>
                  </a:schemeClr>
                </a:solidFill>
              </a:defRPr>
            </a:lvl6pPr>
            <a:lvl7pPr marL="3179475" indent="0">
              <a:buNone/>
              <a:defRPr sz="1854">
                <a:solidFill>
                  <a:schemeClr val="tx1">
                    <a:tint val="75000"/>
                  </a:schemeClr>
                </a:solidFill>
              </a:defRPr>
            </a:lvl7pPr>
            <a:lvl8pPr marL="3709387" indent="0">
              <a:buNone/>
              <a:defRPr sz="1854">
                <a:solidFill>
                  <a:schemeClr val="tx1">
                    <a:tint val="75000"/>
                  </a:schemeClr>
                </a:solidFill>
              </a:defRPr>
            </a:lvl8pPr>
            <a:lvl9pPr marL="4239298" indent="0">
              <a:buNone/>
              <a:defRPr sz="1854">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193813145"/>
      </p:ext>
    </p:extLst>
  </p:cSld>
  <p:clrMapOvr>
    <a:masterClrMapping/>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7" y="1705674"/>
            <a:ext cx="10418233" cy="1592403"/>
          </a:xfrm>
        </p:spPr>
        <p:txBody>
          <a:bodyPr anchor="b"/>
          <a:lstStyle>
            <a:lvl1pPr>
              <a:lnSpc>
                <a:spcPct val="95000"/>
              </a:lnSpc>
              <a:defRPr sz="334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7" y="3429000"/>
            <a:ext cx="10418233" cy="1566532"/>
          </a:xfrm>
        </p:spPr>
        <p:txBody>
          <a:bodyPr lIns="0" tIns="0" rIns="0" bIns="0">
            <a:noAutofit/>
          </a:bodyPr>
          <a:lstStyle>
            <a:lvl1pPr marL="0" indent="0">
              <a:lnSpc>
                <a:spcPct val="95000"/>
              </a:lnSpc>
              <a:spcAft>
                <a:spcPts val="0"/>
              </a:spcAft>
              <a:buNone/>
              <a:defRPr sz="3347">
                <a:solidFill>
                  <a:schemeClr val="bg1"/>
                </a:solidFill>
              </a:defRPr>
            </a:lvl1pPr>
            <a:lvl2pPr marL="529913" indent="0">
              <a:buNone/>
              <a:defRPr sz="2318">
                <a:solidFill>
                  <a:schemeClr val="tx1">
                    <a:tint val="75000"/>
                  </a:schemeClr>
                </a:solidFill>
              </a:defRPr>
            </a:lvl2pPr>
            <a:lvl3pPr marL="1059825" indent="0">
              <a:buNone/>
              <a:defRPr sz="2086">
                <a:solidFill>
                  <a:schemeClr val="tx1">
                    <a:tint val="75000"/>
                  </a:schemeClr>
                </a:solidFill>
              </a:defRPr>
            </a:lvl3pPr>
            <a:lvl4pPr marL="1589737" indent="0">
              <a:buNone/>
              <a:defRPr sz="1854">
                <a:solidFill>
                  <a:schemeClr val="tx1">
                    <a:tint val="75000"/>
                  </a:schemeClr>
                </a:solidFill>
              </a:defRPr>
            </a:lvl4pPr>
            <a:lvl5pPr marL="2119650" indent="0">
              <a:buNone/>
              <a:defRPr sz="1854">
                <a:solidFill>
                  <a:schemeClr val="tx1">
                    <a:tint val="75000"/>
                  </a:schemeClr>
                </a:solidFill>
              </a:defRPr>
            </a:lvl5pPr>
            <a:lvl6pPr marL="2649563" indent="0">
              <a:buNone/>
              <a:defRPr sz="1854">
                <a:solidFill>
                  <a:schemeClr val="tx1">
                    <a:tint val="75000"/>
                  </a:schemeClr>
                </a:solidFill>
              </a:defRPr>
            </a:lvl6pPr>
            <a:lvl7pPr marL="3179475" indent="0">
              <a:buNone/>
              <a:defRPr sz="1854">
                <a:solidFill>
                  <a:schemeClr val="tx1">
                    <a:tint val="75000"/>
                  </a:schemeClr>
                </a:solidFill>
              </a:defRPr>
            </a:lvl7pPr>
            <a:lvl8pPr marL="3709387" indent="0">
              <a:buNone/>
              <a:defRPr sz="1854">
                <a:solidFill>
                  <a:schemeClr val="tx1">
                    <a:tint val="75000"/>
                  </a:schemeClr>
                </a:solidFill>
              </a:defRPr>
            </a:lvl8pPr>
            <a:lvl9pPr marL="4239298" indent="0">
              <a:buNone/>
              <a:defRPr sz="1854">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6"/>
            <a:ext cx="4896560" cy="173894"/>
          </a:xfrm>
          <a:prstGeom prst="rect">
            <a:avLst/>
          </a:prstGeom>
          <a:noFill/>
        </p:spPr>
        <p:txBody>
          <a:bodyPr wrap="square" lIns="0" tIns="0" rIns="0" bIns="0" rtlCol="0">
            <a:spAutoFit/>
          </a:bodyPr>
          <a:lstStyle/>
          <a:p>
            <a:pPr marL="0" indent="0" algn="r">
              <a:spcBef>
                <a:spcPts val="0"/>
              </a:spcBef>
              <a:buSzPct val="100000"/>
              <a:buFont typeface="Arial"/>
              <a:buNone/>
            </a:pPr>
            <a:r>
              <a:rPr lang="en-US" sz="565" noProof="0" dirty="0">
                <a:solidFill>
                  <a:schemeClr val="bg1"/>
                </a:solidFill>
              </a:rPr>
              <a:t>Presentation title</a:t>
            </a:r>
            <a:br>
              <a:rPr lang="en-US" sz="565" noProof="0" dirty="0">
                <a:solidFill>
                  <a:schemeClr val="bg1"/>
                </a:solidFill>
              </a:rPr>
            </a:br>
            <a:r>
              <a:rPr lang="en-US" sz="565" noProof="0" dirty="0">
                <a:solidFill>
                  <a:schemeClr val="bg1"/>
                </a:solidFill>
              </a:rPr>
              <a:t>[To edit, click View &gt; Slide Master &gt; Slide Master]</a:t>
            </a:r>
          </a:p>
        </p:txBody>
      </p:sp>
      <p:sp>
        <p:nvSpPr>
          <p:cNvPr id="21" name="TextBox 20"/>
          <p:cNvSpPr txBox="1"/>
          <p:nvPr userDrawn="1"/>
        </p:nvSpPr>
        <p:spPr>
          <a:xfrm>
            <a:off x="469904" y="6477006"/>
            <a:ext cx="5355167" cy="173894"/>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bg1"/>
                </a:solidFill>
              </a:rPr>
              <a:t>Member firms and DTTL: Insert appropriate copyright</a:t>
            </a:r>
            <a:br>
              <a:rPr lang="en-US" sz="565" noProof="0" dirty="0">
                <a:solidFill>
                  <a:schemeClr val="bg1"/>
                </a:solidFill>
              </a:rPr>
            </a:br>
            <a:r>
              <a:rPr lang="en-US" sz="565" noProof="0" dirty="0">
                <a:solidFill>
                  <a:schemeClr val="bg1"/>
                </a:solidFill>
              </a:rPr>
              <a:t>[To edit, click View &gt; Slide Master &gt; Slide Master]</a:t>
            </a:r>
          </a:p>
        </p:txBody>
      </p:sp>
      <p:sp>
        <p:nvSpPr>
          <p:cNvPr id="22" name="TextBox 21"/>
          <p:cNvSpPr txBox="1"/>
          <p:nvPr userDrawn="1"/>
        </p:nvSpPr>
        <p:spPr>
          <a:xfrm>
            <a:off x="11414129" y="6477010"/>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bg1"/>
                </a:solidFill>
              </a:rPr>
              <a:pPr marL="0" indent="0" algn="r">
                <a:spcBef>
                  <a:spcPts val="695"/>
                </a:spcBef>
                <a:buSzPct val="100000"/>
                <a:buFont typeface="Arial"/>
                <a:buNone/>
              </a:pPr>
              <a:t>‹#›</a:t>
            </a:fld>
            <a:endParaRPr lang="en-US" sz="565" noProof="0" dirty="0">
              <a:solidFill>
                <a:schemeClr val="bg1"/>
              </a:solidFill>
            </a:endParaRPr>
          </a:p>
        </p:txBody>
      </p:sp>
    </p:spTree>
    <p:extLst>
      <p:ext uri="{BB962C8B-B14F-4D97-AF65-F5344CB8AC3E}">
        <p14:creationId xmlns:p14="http://schemas.microsoft.com/office/powerpoint/2010/main" val="2969200154"/>
      </p:ext>
    </p:extLst>
  </p:cSld>
  <p:clrMapOvr>
    <a:masterClrMapping/>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9" y="1705674"/>
            <a:ext cx="10418233" cy="1592403"/>
          </a:xfrm>
        </p:spPr>
        <p:txBody>
          <a:bodyPr anchor="b"/>
          <a:lstStyle>
            <a:lvl1pPr>
              <a:lnSpc>
                <a:spcPct val="95000"/>
              </a:lnSpc>
              <a:defRPr sz="3347"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541000" cy="1566532"/>
          </a:xfrm>
        </p:spPr>
        <p:txBody>
          <a:bodyPr lIns="0" tIns="0" rIns="0" bIns="0">
            <a:noAutofit/>
          </a:bodyPr>
          <a:lstStyle>
            <a:lvl1pPr marL="0" indent="0">
              <a:lnSpc>
                <a:spcPct val="95000"/>
              </a:lnSpc>
              <a:spcAft>
                <a:spcPts val="0"/>
              </a:spcAft>
              <a:buNone/>
              <a:defRPr sz="3347">
                <a:solidFill>
                  <a:schemeClr val="tx1"/>
                </a:solidFill>
              </a:defRPr>
            </a:lvl1pPr>
            <a:lvl2pPr marL="529913" indent="0">
              <a:buNone/>
              <a:defRPr sz="2318">
                <a:solidFill>
                  <a:schemeClr val="tx1">
                    <a:tint val="75000"/>
                  </a:schemeClr>
                </a:solidFill>
              </a:defRPr>
            </a:lvl2pPr>
            <a:lvl3pPr marL="1059825" indent="0">
              <a:buNone/>
              <a:defRPr sz="2086">
                <a:solidFill>
                  <a:schemeClr val="tx1">
                    <a:tint val="75000"/>
                  </a:schemeClr>
                </a:solidFill>
              </a:defRPr>
            </a:lvl3pPr>
            <a:lvl4pPr marL="1589737" indent="0">
              <a:buNone/>
              <a:defRPr sz="1854">
                <a:solidFill>
                  <a:schemeClr val="tx1">
                    <a:tint val="75000"/>
                  </a:schemeClr>
                </a:solidFill>
              </a:defRPr>
            </a:lvl4pPr>
            <a:lvl5pPr marL="2119650" indent="0">
              <a:buNone/>
              <a:defRPr sz="1854">
                <a:solidFill>
                  <a:schemeClr val="tx1">
                    <a:tint val="75000"/>
                  </a:schemeClr>
                </a:solidFill>
              </a:defRPr>
            </a:lvl5pPr>
            <a:lvl6pPr marL="2649563" indent="0">
              <a:buNone/>
              <a:defRPr sz="1854">
                <a:solidFill>
                  <a:schemeClr val="tx1">
                    <a:tint val="75000"/>
                  </a:schemeClr>
                </a:solidFill>
              </a:defRPr>
            </a:lvl6pPr>
            <a:lvl7pPr marL="3179475" indent="0">
              <a:buNone/>
              <a:defRPr sz="1854">
                <a:solidFill>
                  <a:schemeClr val="tx1">
                    <a:tint val="75000"/>
                  </a:schemeClr>
                </a:solidFill>
              </a:defRPr>
            </a:lvl7pPr>
            <a:lvl8pPr marL="3709387" indent="0">
              <a:buNone/>
              <a:defRPr sz="1854">
                <a:solidFill>
                  <a:schemeClr val="tx1">
                    <a:tint val="75000"/>
                  </a:schemeClr>
                </a:solidFill>
              </a:defRPr>
            </a:lvl8pPr>
            <a:lvl9pPr marL="4239298" indent="0">
              <a:buNone/>
              <a:defRPr sz="1854">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548990769"/>
      </p:ext>
    </p:extLst>
  </p:cSld>
  <p:clrMapOvr>
    <a:masterClrMapping/>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3" y="736697"/>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3" y="402587"/>
            <a:ext cx="11252200" cy="334102"/>
          </a:xfrm>
          <a:prstGeom prst="rect">
            <a:avLst/>
          </a:prstGeom>
        </p:spPr>
        <p:txBody>
          <a:bodyPr vert="horz" lIns="0" tIns="0" rIns="0" bIns="0" rtlCol="0" anchor="t" anchorCtr="0">
            <a:noAutofit/>
          </a:bodyPr>
          <a:lstStyle>
            <a:lvl1pPr>
              <a:defRPr sz="1739"/>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3" y="6484171"/>
            <a:ext cx="4572000" cy="199285"/>
          </a:xfrm>
          <a:prstGeom prst="rect">
            <a:avLst/>
          </a:prstGeom>
        </p:spPr>
        <p:txBody>
          <a:bodyPr>
            <a:spAutoFit/>
          </a:bodyPr>
          <a:lstStyle/>
          <a:p>
            <a:pPr defTabSz="794889">
              <a:defRPr/>
            </a:pPr>
            <a:r>
              <a:rPr lang="en-GB" sz="695" dirty="0">
                <a:latin typeface="Verdana"/>
                <a:ea typeface="Verdana" panose="020B0604030504040204" pitchFamily="34" charset="0"/>
                <a:cs typeface="Times New Roman" panose="02020603050405020304" pitchFamily="18" charset="0"/>
              </a:rPr>
              <a:t>© 2021. For information, contact Deloitte Touche Tohmatsu Limited.</a:t>
            </a:r>
            <a:endParaRPr lang="en-US" sz="695"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929056473"/>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5" y="1665289"/>
            <a:ext cx="4431857" cy="4633913"/>
          </a:xfrm>
          <a:prstGeom prst="rect">
            <a:avLst/>
          </a:prstGeom>
        </p:spPr>
        <p:txBody>
          <a:bodyPr/>
          <a:lstStyle>
            <a:lvl1pPr>
              <a:tabLst>
                <a:tab pos="5829036" algn="r"/>
              </a:tabLst>
              <a:defRPr/>
            </a:lvl1pPr>
            <a:lvl2pPr>
              <a:tabLst>
                <a:tab pos="5829036" algn="r"/>
              </a:tabLst>
              <a:defRPr/>
            </a:lvl2pPr>
            <a:lvl3pPr>
              <a:tabLst>
                <a:tab pos="5829036" algn="r"/>
              </a:tabLst>
              <a:defRPr/>
            </a:lvl3pPr>
            <a:lvl4pPr>
              <a:tabLst>
                <a:tab pos="5829036" algn="r"/>
              </a:tabLst>
              <a:defRPr/>
            </a:lvl4pPr>
            <a:lvl5pPr>
              <a:tabLst>
                <a:tab pos="582903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5"/>
            <a:ext cx="6240000" cy="4598989"/>
          </a:xfrm>
          <a:prstGeom prst="rect">
            <a:avLst/>
          </a:prstGeom>
        </p:spPr>
        <p:txBody>
          <a:bodyPr/>
          <a:lstStyle>
            <a:lvl1pPr>
              <a:tabLst>
                <a:tab pos="5829036" algn="r"/>
              </a:tabLst>
              <a:defRPr/>
            </a:lvl1pPr>
            <a:lvl2pPr>
              <a:tabLst>
                <a:tab pos="5829036" algn="r"/>
              </a:tabLst>
              <a:defRPr/>
            </a:lvl2pPr>
            <a:lvl3pPr>
              <a:tabLst>
                <a:tab pos="5829036" algn="r"/>
              </a:tabLst>
              <a:defRPr/>
            </a:lvl3pPr>
            <a:lvl4pPr>
              <a:tabLst>
                <a:tab pos="5829036" algn="r"/>
              </a:tabLst>
              <a:defRPr/>
            </a:lvl4pPr>
            <a:lvl5pPr>
              <a:tabLst>
                <a:tab pos="582903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3" y="736697"/>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3" y="402587"/>
            <a:ext cx="11252200" cy="334102"/>
          </a:xfrm>
          <a:prstGeom prst="rect">
            <a:avLst/>
          </a:prstGeom>
        </p:spPr>
        <p:txBody>
          <a:bodyPr vert="horz" lIns="0" tIns="0" rIns="0" bIns="0" rtlCol="0" anchor="t" anchorCtr="0">
            <a:noAutofit/>
          </a:bodyPr>
          <a:lstStyle>
            <a:lvl1pPr>
              <a:defRPr sz="1739"/>
            </a:lvl1pPr>
          </a:lstStyle>
          <a:p>
            <a:r>
              <a:rPr lang="en-US" noProof="0"/>
              <a:t>Click to edit Master title style</a:t>
            </a:r>
            <a:endParaRPr lang="en-US" noProof="0" dirty="0"/>
          </a:p>
        </p:txBody>
      </p:sp>
    </p:spTree>
    <p:extLst>
      <p:ext uri="{BB962C8B-B14F-4D97-AF65-F5344CB8AC3E}">
        <p14:creationId xmlns:p14="http://schemas.microsoft.com/office/powerpoint/2010/main" val="3718736410"/>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773121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8" y="5845189"/>
            <a:ext cx="5594348" cy="505645"/>
          </a:xfrm>
          <a:prstGeom prst="rect">
            <a:avLst/>
          </a:prstGeom>
        </p:spPr>
        <p:txBody>
          <a:bodyPr lIns="0" tIns="0" rIns="0" bIns="0" anchor="b" anchorCtr="0">
            <a:noAutofit/>
          </a:bodyPr>
          <a:lstStyle>
            <a:lvl1pPr marL="0" indent="0" algn="l">
              <a:lnSpc>
                <a:spcPct val="100000"/>
              </a:lnSpc>
              <a:spcAft>
                <a:spcPts val="0"/>
              </a:spcAft>
              <a:buNone/>
              <a:defRPr sz="1565" b="1">
                <a:solidFill>
                  <a:schemeClr val="tx1"/>
                </a:solidFill>
              </a:defRPr>
            </a:lvl1pPr>
            <a:lvl2pPr marL="0" indent="0" algn="l">
              <a:buNone/>
              <a:defRPr sz="1391" b="0"/>
            </a:lvl2pPr>
            <a:lvl3pPr marL="1059825" indent="0" algn="ctr">
              <a:buNone/>
              <a:defRPr sz="2086"/>
            </a:lvl3pPr>
            <a:lvl4pPr marL="1589737" indent="0" algn="ctr">
              <a:buNone/>
              <a:defRPr sz="1854"/>
            </a:lvl4pPr>
            <a:lvl5pPr marL="2119650" indent="0" algn="ctr">
              <a:buNone/>
              <a:defRPr sz="1854"/>
            </a:lvl5pPr>
            <a:lvl6pPr marL="2649563" indent="0" algn="ctr">
              <a:buNone/>
              <a:defRPr sz="1854"/>
            </a:lvl6pPr>
            <a:lvl7pPr marL="3179475" indent="0" algn="ctr">
              <a:buNone/>
              <a:defRPr sz="1854"/>
            </a:lvl7pPr>
            <a:lvl8pPr marL="3709387" indent="0" algn="ctr">
              <a:buNone/>
              <a:defRPr sz="1854"/>
            </a:lvl8pPr>
            <a:lvl9pPr marL="4239298" indent="0" algn="ctr">
              <a:buNone/>
              <a:defRPr sz="185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8" y="6362705"/>
            <a:ext cx="5594349" cy="298451"/>
          </a:xfrm>
          <a:prstGeom prst="rect">
            <a:avLst/>
          </a:prstGeom>
        </p:spPr>
        <p:txBody>
          <a:bodyPr>
            <a:noAutofit/>
          </a:bodyPr>
          <a:lstStyle>
            <a:lvl1pPr>
              <a:spcAft>
                <a:spcPts val="0"/>
              </a:spcAft>
              <a:defRPr sz="91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2441432031"/>
      </p:ext>
    </p:extLst>
  </p:cSld>
  <p:clrMapOvr>
    <a:masterClrMapping/>
  </p:clrMapOvr>
  <p:transition>
    <p:fade/>
  </p:transition>
  <p:extLst>
    <p:ext uri="{DCECCB84-F9BA-43D5-87BE-67443E8EF086}">
      <p15:sldGuideLst xmlns:p15="http://schemas.microsoft.com/office/powerpoint/2012/main">
        <p15:guide id="1" orient="horz" pos="5996"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7" y="1590684"/>
            <a:ext cx="9029604" cy="4708525"/>
          </a:xfrm>
          <a:prstGeom prst="rect">
            <a:avLst/>
          </a:prstGeom>
        </p:spPr>
        <p:txBody>
          <a:bodyPr>
            <a:noAutofit/>
          </a:bodyPr>
          <a:lstStyle>
            <a:lvl1pPr>
              <a:spcBef>
                <a:spcPts val="4173"/>
              </a:spcBef>
              <a:defRPr sz="2434">
                <a:solidFill>
                  <a:schemeClr val="bg1"/>
                </a:solidFill>
              </a:defRPr>
            </a:lvl1pPr>
            <a:lvl2pPr marL="529913" indent="-529913">
              <a:defRPr sz="3477">
                <a:solidFill>
                  <a:schemeClr val="bg2"/>
                </a:solidFill>
              </a:defRPr>
            </a:lvl2pPr>
            <a:lvl3pPr>
              <a:defRPr sz="3477">
                <a:solidFill>
                  <a:schemeClr val="bg2"/>
                </a:solidFill>
              </a:defRPr>
            </a:lvl3pPr>
            <a:lvl4pPr>
              <a:defRPr sz="3477">
                <a:solidFill>
                  <a:schemeClr val="bg2"/>
                </a:solidFill>
              </a:defRPr>
            </a:lvl4pPr>
            <a:lvl5pPr>
              <a:defRPr sz="3477">
                <a:solidFill>
                  <a:schemeClr val="bg2"/>
                </a:solidFill>
              </a:defRPr>
            </a:lvl5pPr>
          </a:lstStyle>
          <a:p>
            <a:pPr lvl="0"/>
            <a:r>
              <a:rPr lang="en-US" noProof="0"/>
              <a:t>Edit Master text styles</a:t>
            </a:r>
          </a:p>
        </p:txBody>
      </p:sp>
      <p:sp>
        <p:nvSpPr>
          <p:cNvPr id="9" name="TextBox 8"/>
          <p:cNvSpPr txBox="1"/>
          <p:nvPr userDrawn="1"/>
        </p:nvSpPr>
        <p:spPr>
          <a:xfrm>
            <a:off x="5825067" y="6477006"/>
            <a:ext cx="4896560" cy="173894"/>
          </a:xfrm>
          <a:prstGeom prst="rect">
            <a:avLst/>
          </a:prstGeom>
          <a:noFill/>
        </p:spPr>
        <p:txBody>
          <a:bodyPr wrap="square" lIns="0" tIns="0" rIns="0" bIns="0" rtlCol="0">
            <a:spAutoFit/>
          </a:bodyPr>
          <a:lstStyle/>
          <a:p>
            <a:pPr marL="0" indent="0" algn="r">
              <a:spcBef>
                <a:spcPts val="0"/>
              </a:spcBef>
              <a:buSzPct val="100000"/>
              <a:buFont typeface="Arial"/>
              <a:buNone/>
            </a:pPr>
            <a:r>
              <a:rPr lang="en-US" sz="565" noProof="0" dirty="0">
                <a:solidFill>
                  <a:schemeClr val="bg1"/>
                </a:solidFill>
              </a:rPr>
              <a:t>Presentation title</a:t>
            </a:r>
            <a:br>
              <a:rPr lang="en-US" sz="565" noProof="0" dirty="0">
                <a:solidFill>
                  <a:schemeClr val="bg1"/>
                </a:solidFill>
              </a:rPr>
            </a:br>
            <a:r>
              <a:rPr lang="en-US" sz="565" noProof="0" dirty="0">
                <a:solidFill>
                  <a:schemeClr val="bg1"/>
                </a:solidFill>
              </a:rPr>
              <a:t>[To edit, click View &gt; Slide Master &gt; Slide Master]</a:t>
            </a:r>
          </a:p>
        </p:txBody>
      </p:sp>
      <p:sp>
        <p:nvSpPr>
          <p:cNvPr id="13" name="TextBox 12"/>
          <p:cNvSpPr txBox="1"/>
          <p:nvPr userDrawn="1"/>
        </p:nvSpPr>
        <p:spPr>
          <a:xfrm>
            <a:off x="469904" y="6477006"/>
            <a:ext cx="5355167" cy="173894"/>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bg1"/>
                </a:solidFill>
              </a:rPr>
              <a:t>Member firms and DTTL: Insert appropriate copyright</a:t>
            </a:r>
            <a:br>
              <a:rPr lang="en-US" sz="565" noProof="0" dirty="0">
                <a:solidFill>
                  <a:schemeClr val="bg1"/>
                </a:solidFill>
              </a:rPr>
            </a:br>
            <a:r>
              <a:rPr lang="en-US" sz="565" noProof="0" dirty="0">
                <a:solidFill>
                  <a:schemeClr val="bg1"/>
                </a:solidFill>
              </a:rPr>
              <a:t>[To edit, click View &gt; Slide Master &gt; Slide Master]</a:t>
            </a:r>
          </a:p>
        </p:txBody>
      </p:sp>
      <p:sp>
        <p:nvSpPr>
          <p:cNvPr id="14" name="TextBox 13"/>
          <p:cNvSpPr txBox="1"/>
          <p:nvPr userDrawn="1"/>
        </p:nvSpPr>
        <p:spPr>
          <a:xfrm>
            <a:off x="11414129" y="6477010"/>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bg1"/>
                </a:solidFill>
              </a:rPr>
              <a:pPr marL="0" indent="0" algn="r">
                <a:spcBef>
                  <a:spcPts val="695"/>
                </a:spcBef>
                <a:buSzPct val="100000"/>
                <a:buFont typeface="Arial"/>
                <a:buNone/>
              </a:pPr>
              <a:t>‹#›</a:t>
            </a:fld>
            <a:endParaRPr lang="en-US" sz="565" noProof="0" dirty="0">
              <a:solidFill>
                <a:schemeClr val="bg1"/>
              </a:solidFill>
            </a:endParaRPr>
          </a:p>
        </p:txBody>
      </p:sp>
    </p:spTree>
    <p:extLst>
      <p:ext uri="{BB962C8B-B14F-4D97-AF65-F5344CB8AC3E}">
        <p14:creationId xmlns:p14="http://schemas.microsoft.com/office/powerpoint/2010/main" val="3740401145"/>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7" y="1590684"/>
            <a:ext cx="9029604" cy="4708525"/>
          </a:xfrm>
          <a:prstGeom prst="rect">
            <a:avLst/>
          </a:prstGeom>
        </p:spPr>
        <p:txBody>
          <a:bodyPr>
            <a:noAutofit/>
          </a:bodyPr>
          <a:lstStyle>
            <a:lvl1pPr>
              <a:spcBef>
                <a:spcPts val="4173"/>
              </a:spcBef>
              <a:defRPr sz="2434">
                <a:solidFill>
                  <a:schemeClr val="bg1"/>
                </a:solidFill>
              </a:defRPr>
            </a:lvl1pPr>
            <a:lvl2pPr marL="529913" indent="-529913">
              <a:defRPr sz="3477">
                <a:solidFill>
                  <a:schemeClr val="bg2"/>
                </a:solidFill>
              </a:defRPr>
            </a:lvl2pPr>
            <a:lvl3pPr>
              <a:defRPr sz="3477">
                <a:solidFill>
                  <a:schemeClr val="bg2"/>
                </a:solidFill>
              </a:defRPr>
            </a:lvl3pPr>
            <a:lvl4pPr>
              <a:defRPr sz="3477">
                <a:solidFill>
                  <a:schemeClr val="bg2"/>
                </a:solidFill>
              </a:defRPr>
            </a:lvl4pPr>
            <a:lvl5pPr>
              <a:defRPr sz="3477">
                <a:solidFill>
                  <a:schemeClr val="bg2"/>
                </a:solidFill>
              </a:defRPr>
            </a:lvl5pPr>
          </a:lstStyle>
          <a:p>
            <a:pPr lvl="0"/>
            <a:r>
              <a:rPr lang="en-US" noProof="0"/>
              <a:t>Edit Master text styles</a:t>
            </a:r>
          </a:p>
        </p:txBody>
      </p:sp>
      <p:sp>
        <p:nvSpPr>
          <p:cNvPr id="14" name="TextBox 13"/>
          <p:cNvSpPr txBox="1"/>
          <p:nvPr userDrawn="1"/>
        </p:nvSpPr>
        <p:spPr>
          <a:xfrm>
            <a:off x="5825067" y="6477006"/>
            <a:ext cx="4896560" cy="173894"/>
          </a:xfrm>
          <a:prstGeom prst="rect">
            <a:avLst/>
          </a:prstGeom>
          <a:noFill/>
        </p:spPr>
        <p:txBody>
          <a:bodyPr wrap="square" lIns="0" tIns="0" rIns="0" bIns="0" rtlCol="0">
            <a:spAutoFit/>
          </a:bodyPr>
          <a:lstStyle/>
          <a:p>
            <a:pPr marL="0" indent="0" algn="r">
              <a:spcBef>
                <a:spcPts val="0"/>
              </a:spcBef>
              <a:buSzPct val="100000"/>
              <a:buFont typeface="Arial"/>
              <a:buNone/>
            </a:pPr>
            <a:r>
              <a:rPr lang="en-US" sz="565" noProof="0" dirty="0">
                <a:solidFill>
                  <a:schemeClr val="bg1"/>
                </a:solidFill>
              </a:rPr>
              <a:t>Presentation title</a:t>
            </a:r>
            <a:br>
              <a:rPr lang="en-US" sz="565" noProof="0" dirty="0">
                <a:solidFill>
                  <a:schemeClr val="bg1"/>
                </a:solidFill>
              </a:rPr>
            </a:br>
            <a:r>
              <a:rPr lang="en-US" sz="565" noProof="0" dirty="0">
                <a:solidFill>
                  <a:schemeClr val="bg1"/>
                </a:solidFill>
              </a:rPr>
              <a:t>[To edit, click View &gt; Slide Master &gt; Slide Master]</a:t>
            </a:r>
          </a:p>
        </p:txBody>
      </p:sp>
      <p:sp>
        <p:nvSpPr>
          <p:cNvPr id="15" name="TextBox 14"/>
          <p:cNvSpPr txBox="1"/>
          <p:nvPr userDrawn="1"/>
        </p:nvSpPr>
        <p:spPr>
          <a:xfrm>
            <a:off x="469904" y="6477006"/>
            <a:ext cx="5355167" cy="173894"/>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bg1"/>
                </a:solidFill>
              </a:rPr>
              <a:t>Member firms and DTTL: Insert appropriate copyright</a:t>
            </a:r>
            <a:br>
              <a:rPr lang="en-US" sz="565" noProof="0" dirty="0">
                <a:solidFill>
                  <a:schemeClr val="bg1"/>
                </a:solidFill>
              </a:rPr>
            </a:br>
            <a:r>
              <a:rPr lang="en-US" sz="565" noProof="0" dirty="0">
                <a:solidFill>
                  <a:schemeClr val="bg1"/>
                </a:solidFill>
              </a:rPr>
              <a:t>[To edit, click View &gt; Slide Master &gt; Slide Master]</a:t>
            </a:r>
          </a:p>
        </p:txBody>
      </p:sp>
      <p:sp>
        <p:nvSpPr>
          <p:cNvPr id="16" name="TextBox 15"/>
          <p:cNvSpPr txBox="1"/>
          <p:nvPr userDrawn="1"/>
        </p:nvSpPr>
        <p:spPr>
          <a:xfrm>
            <a:off x="11414129" y="6477010"/>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bg1"/>
                </a:solidFill>
              </a:rPr>
              <a:pPr marL="0" indent="0" algn="r">
                <a:spcBef>
                  <a:spcPts val="695"/>
                </a:spcBef>
                <a:buSzPct val="100000"/>
                <a:buFont typeface="Arial"/>
                <a:buNone/>
              </a:pPr>
              <a:t>‹#›</a:t>
            </a:fld>
            <a:endParaRPr lang="en-US" sz="565" noProof="0" dirty="0">
              <a:solidFill>
                <a:schemeClr val="bg1"/>
              </a:solidFill>
            </a:endParaRPr>
          </a:p>
        </p:txBody>
      </p:sp>
    </p:spTree>
    <p:extLst>
      <p:ext uri="{BB962C8B-B14F-4D97-AF65-F5344CB8AC3E}">
        <p14:creationId xmlns:p14="http://schemas.microsoft.com/office/powerpoint/2010/main" val="376456929"/>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7" y="1590684"/>
            <a:ext cx="9029604" cy="4708525"/>
          </a:xfrm>
          <a:prstGeom prst="rect">
            <a:avLst/>
          </a:prstGeom>
        </p:spPr>
        <p:txBody>
          <a:bodyPr>
            <a:noAutofit/>
          </a:bodyPr>
          <a:lstStyle>
            <a:lvl1pPr>
              <a:spcBef>
                <a:spcPts val="4173"/>
              </a:spcBef>
              <a:defRPr sz="2434">
                <a:solidFill>
                  <a:schemeClr val="bg1"/>
                </a:solidFill>
              </a:defRPr>
            </a:lvl1pPr>
            <a:lvl2pPr marL="529913" indent="-529913">
              <a:defRPr sz="3477">
                <a:solidFill>
                  <a:schemeClr val="bg2"/>
                </a:solidFill>
              </a:defRPr>
            </a:lvl2pPr>
            <a:lvl3pPr>
              <a:defRPr sz="3477">
                <a:solidFill>
                  <a:schemeClr val="bg2"/>
                </a:solidFill>
              </a:defRPr>
            </a:lvl3pPr>
            <a:lvl4pPr>
              <a:defRPr sz="3477">
                <a:solidFill>
                  <a:schemeClr val="bg2"/>
                </a:solidFill>
              </a:defRPr>
            </a:lvl4pPr>
            <a:lvl5pPr>
              <a:defRPr sz="3477">
                <a:solidFill>
                  <a:schemeClr val="bg2"/>
                </a:solidFill>
              </a:defRPr>
            </a:lvl5pPr>
          </a:lstStyle>
          <a:p>
            <a:pPr lvl="0"/>
            <a:r>
              <a:rPr lang="en-US" noProof="0"/>
              <a:t>Edit Master text styles</a:t>
            </a:r>
          </a:p>
        </p:txBody>
      </p:sp>
      <p:sp>
        <p:nvSpPr>
          <p:cNvPr id="18" name="TextBox 17"/>
          <p:cNvSpPr txBox="1"/>
          <p:nvPr userDrawn="1"/>
        </p:nvSpPr>
        <p:spPr>
          <a:xfrm>
            <a:off x="5825067" y="6477006"/>
            <a:ext cx="4896560" cy="173894"/>
          </a:xfrm>
          <a:prstGeom prst="rect">
            <a:avLst/>
          </a:prstGeom>
          <a:noFill/>
        </p:spPr>
        <p:txBody>
          <a:bodyPr wrap="square" lIns="0" tIns="0" rIns="0" bIns="0" rtlCol="0">
            <a:spAutoFit/>
          </a:bodyPr>
          <a:lstStyle/>
          <a:p>
            <a:pPr marL="0" indent="0" algn="r">
              <a:spcBef>
                <a:spcPts val="0"/>
              </a:spcBef>
              <a:buSzPct val="100000"/>
              <a:buFont typeface="Arial"/>
              <a:buNone/>
            </a:pPr>
            <a:r>
              <a:rPr lang="en-US" sz="565" noProof="0" dirty="0">
                <a:solidFill>
                  <a:schemeClr val="bg1"/>
                </a:solidFill>
              </a:rPr>
              <a:t>Presentation title</a:t>
            </a:r>
            <a:br>
              <a:rPr lang="en-US" sz="565" noProof="0" dirty="0">
                <a:solidFill>
                  <a:schemeClr val="bg1"/>
                </a:solidFill>
              </a:rPr>
            </a:br>
            <a:r>
              <a:rPr lang="en-US" sz="565" noProof="0" dirty="0">
                <a:solidFill>
                  <a:schemeClr val="bg1"/>
                </a:solidFill>
              </a:rPr>
              <a:t>[To edit, click View &gt; Slide Master &gt; Slide Master]</a:t>
            </a:r>
          </a:p>
        </p:txBody>
      </p:sp>
      <p:sp>
        <p:nvSpPr>
          <p:cNvPr id="19" name="TextBox 18"/>
          <p:cNvSpPr txBox="1"/>
          <p:nvPr userDrawn="1"/>
        </p:nvSpPr>
        <p:spPr>
          <a:xfrm>
            <a:off x="469904" y="6477006"/>
            <a:ext cx="5355167" cy="173894"/>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bg1"/>
                </a:solidFill>
              </a:rPr>
              <a:t>Member firms and DTTL: Insert appropriate copyright</a:t>
            </a:r>
            <a:br>
              <a:rPr lang="en-US" sz="565" noProof="0" dirty="0">
                <a:solidFill>
                  <a:schemeClr val="bg1"/>
                </a:solidFill>
              </a:rPr>
            </a:br>
            <a:r>
              <a:rPr lang="en-US" sz="565" noProof="0" dirty="0">
                <a:solidFill>
                  <a:schemeClr val="bg1"/>
                </a:solidFill>
              </a:rPr>
              <a:t>[To edit, click View &gt; Slide Master &gt; Slide Master]</a:t>
            </a:r>
          </a:p>
        </p:txBody>
      </p:sp>
      <p:sp>
        <p:nvSpPr>
          <p:cNvPr id="20" name="TextBox 19"/>
          <p:cNvSpPr txBox="1"/>
          <p:nvPr userDrawn="1"/>
        </p:nvSpPr>
        <p:spPr>
          <a:xfrm>
            <a:off x="11414129" y="6477010"/>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bg1"/>
                </a:solidFill>
              </a:rPr>
              <a:pPr marL="0" indent="0" algn="r">
                <a:spcBef>
                  <a:spcPts val="695"/>
                </a:spcBef>
                <a:buSzPct val="100000"/>
                <a:buFont typeface="Arial"/>
                <a:buNone/>
              </a:pPr>
              <a:t>‹#›</a:t>
            </a:fld>
            <a:endParaRPr lang="en-US" sz="565" noProof="0" dirty="0">
              <a:solidFill>
                <a:schemeClr val="bg1"/>
              </a:solidFill>
            </a:endParaRPr>
          </a:p>
        </p:txBody>
      </p:sp>
    </p:spTree>
    <p:extLst>
      <p:ext uri="{BB962C8B-B14F-4D97-AF65-F5344CB8AC3E}">
        <p14:creationId xmlns:p14="http://schemas.microsoft.com/office/powerpoint/2010/main" val="3378338495"/>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7" y="1590684"/>
            <a:ext cx="9029604" cy="4708525"/>
          </a:xfrm>
          <a:prstGeom prst="rect">
            <a:avLst/>
          </a:prstGeom>
        </p:spPr>
        <p:txBody>
          <a:bodyPr>
            <a:noAutofit/>
          </a:bodyPr>
          <a:lstStyle>
            <a:lvl1pPr>
              <a:spcBef>
                <a:spcPts val="4173"/>
              </a:spcBef>
              <a:defRPr sz="2434">
                <a:solidFill>
                  <a:schemeClr val="bg1"/>
                </a:solidFill>
              </a:defRPr>
            </a:lvl1pPr>
            <a:lvl2pPr marL="529913" indent="-529913">
              <a:defRPr sz="3477">
                <a:solidFill>
                  <a:schemeClr val="bg2"/>
                </a:solidFill>
              </a:defRPr>
            </a:lvl2pPr>
            <a:lvl3pPr>
              <a:defRPr sz="3477">
                <a:solidFill>
                  <a:schemeClr val="bg2"/>
                </a:solidFill>
              </a:defRPr>
            </a:lvl3pPr>
            <a:lvl4pPr>
              <a:defRPr sz="3477">
                <a:solidFill>
                  <a:schemeClr val="bg2"/>
                </a:solidFill>
              </a:defRPr>
            </a:lvl4pPr>
            <a:lvl5pPr>
              <a:defRPr sz="3477">
                <a:solidFill>
                  <a:schemeClr val="bg2"/>
                </a:solidFill>
              </a:defRPr>
            </a:lvl5pPr>
          </a:lstStyle>
          <a:p>
            <a:pPr lvl="0"/>
            <a:r>
              <a:rPr lang="en-US" noProof="0"/>
              <a:t>Edit Master text styles</a:t>
            </a:r>
          </a:p>
        </p:txBody>
      </p:sp>
      <p:sp>
        <p:nvSpPr>
          <p:cNvPr id="14" name="TextBox 13"/>
          <p:cNvSpPr txBox="1"/>
          <p:nvPr userDrawn="1"/>
        </p:nvSpPr>
        <p:spPr>
          <a:xfrm>
            <a:off x="5825067" y="6477006"/>
            <a:ext cx="4896560" cy="173894"/>
          </a:xfrm>
          <a:prstGeom prst="rect">
            <a:avLst/>
          </a:prstGeom>
          <a:noFill/>
        </p:spPr>
        <p:txBody>
          <a:bodyPr wrap="square" lIns="0" tIns="0" rIns="0" bIns="0" rtlCol="0">
            <a:spAutoFit/>
          </a:bodyPr>
          <a:lstStyle/>
          <a:p>
            <a:pPr marL="0" indent="0" algn="r">
              <a:spcBef>
                <a:spcPts val="0"/>
              </a:spcBef>
              <a:buSzPct val="100000"/>
              <a:buFont typeface="Arial"/>
              <a:buNone/>
            </a:pPr>
            <a:r>
              <a:rPr lang="en-US" sz="565" noProof="0" dirty="0">
                <a:solidFill>
                  <a:schemeClr val="bg1"/>
                </a:solidFill>
              </a:rPr>
              <a:t>Presentation title</a:t>
            </a:r>
            <a:br>
              <a:rPr lang="en-US" sz="565" noProof="0" dirty="0">
                <a:solidFill>
                  <a:schemeClr val="bg1"/>
                </a:solidFill>
              </a:rPr>
            </a:br>
            <a:r>
              <a:rPr lang="en-US" sz="565" noProof="0" dirty="0">
                <a:solidFill>
                  <a:schemeClr val="bg1"/>
                </a:solidFill>
              </a:rPr>
              <a:t>[To edit, click View &gt; Slide Master &gt; Slide Master]</a:t>
            </a:r>
          </a:p>
        </p:txBody>
      </p:sp>
      <p:sp>
        <p:nvSpPr>
          <p:cNvPr id="15" name="TextBox 14"/>
          <p:cNvSpPr txBox="1"/>
          <p:nvPr userDrawn="1"/>
        </p:nvSpPr>
        <p:spPr>
          <a:xfrm>
            <a:off x="469904" y="6477006"/>
            <a:ext cx="5355167" cy="173894"/>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bg1"/>
                </a:solidFill>
              </a:rPr>
              <a:t>Member firms and DTTL: Insert appropriate copyright</a:t>
            </a:r>
            <a:br>
              <a:rPr lang="en-US" sz="565" noProof="0" dirty="0">
                <a:solidFill>
                  <a:schemeClr val="bg1"/>
                </a:solidFill>
              </a:rPr>
            </a:br>
            <a:r>
              <a:rPr lang="en-US" sz="565" noProof="0" dirty="0">
                <a:solidFill>
                  <a:schemeClr val="bg1"/>
                </a:solidFill>
              </a:rPr>
              <a:t>[To edit, click View &gt; Slide Master &gt; Slide Master]</a:t>
            </a:r>
          </a:p>
        </p:txBody>
      </p:sp>
      <p:sp>
        <p:nvSpPr>
          <p:cNvPr id="16" name="TextBox 15"/>
          <p:cNvSpPr txBox="1"/>
          <p:nvPr userDrawn="1"/>
        </p:nvSpPr>
        <p:spPr>
          <a:xfrm>
            <a:off x="11414129" y="6477010"/>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bg1"/>
                </a:solidFill>
              </a:rPr>
              <a:pPr marL="0" indent="0" algn="r">
                <a:spcBef>
                  <a:spcPts val="695"/>
                </a:spcBef>
                <a:buSzPct val="100000"/>
                <a:buFont typeface="Arial"/>
                <a:buNone/>
              </a:pPr>
              <a:t>‹#›</a:t>
            </a:fld>
            <a:endParaRPr lang="en-US" sz="565" noProof="0" dirty="0">
              <a:solidFill>
                <a:schemeClr val="bg1"/>
              </a:solidFill>
            </a:endParaRPr>
          </a:p>
        </p:txBody>
      </p:sp>
    </p:spTree>
    <p:extLst>
      <p:ext uri="{BB962C8B-B14F-4D97-AF65-F5344CB8AC3E}">
        <p14:creationId xmlns:p14="http://schemas.microsoft.com/office/powerpoint/2010/main" val="1777759611"/>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7"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75" noProof="0" dirty="0">
              <a:solidFill>
                <a:schemeClr val="bg1"/>
              </a:solidFill>
            </a:endParaRPr>
          </a:p>
        </p:txBody>
      </p:sp>
      <p:sp>
        <p:nvSpPr>
          <p:cNvPr id="5" name="Rectangle 4"/>
          <p:cNvSpPr/>
          <p:nvPr userDrawn="1"/>
        </p:nvSpPr>
        <p:spPr>
          <a:xfrm>
            <a:off x="469906" y="1705968"/>
            <a:ext cx="3627439"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75" noProof="0" dirty="0">
              <a:solidFill>
                <a:schemeClr val="bg1"/>
              </a:solidFill>
            </a:endParaRPr>
          </a:p>
        </p:txBody>
      </p:sp>
      <p:sp>
        <p:nvSpPr>
          <p:cNvPr id="6" name="Rectangle 5"/>
          <p:cNvSpPr/>
          <p:nvPr userDrawn="1"/>
        </p:nvSpPr>
        <p:spPr>
          <a:xfrm>
            <a:off x="8104183"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75" noProof="0" dirty="0">
              <a:solidFill>
                <a:schemeClr val="bg1"/>
              </a:solidFill>
            </a:endParaRPr>
          </a:p>
        </p:txBody>
      </p:sp>
      <p:sp>
        <p:nvSpPr>
          <p:cNvPr id="7" name="Text Placeholder 8"/>
          <p:cNvSpPr>
            <a:spLocks noGrp="1"/>
          </p:cNvSpPr>
          <p:nvPr>
            <p:ph type="body" sz="quarter" idx="17"/>
          </p:nvPr>
        </p:nvSpPr>
        <p:spPr>
          <a:xfrm>
            <a:off x="4278317" y="1851450"/>
            <a:ext cx="3636962" cy="3845755"/>
          </a:xfrm>
        </p:spPr>
        <p:txBody>
          <a:bodyPr/>
          <a:lstStyle>
            <a:lvl1pPr>
              <a:defRPr b="1">
                <a:solidFill>
                  <a:schemeClr val="accent1"/>
                </a:solidFill>
              </a:defRPr>
            </a:lvl1pPr>
            <a:lvl2pPr>
              <a:spcAft>
                <a:spcPts val="1159"/>
              </a:spcAft>
              <a:defRPr/>
            </a:lvl2pPr>
            <a:lvl3pPr marL="0" indent="0">
              <a:spcAft>
                <a:spcPts val="1159"/>
              </a:spcAft>
              <a:buNone/>
              <a:defRPr/>
            </a:lvl3pPr>
            <a:lvl4pPr marL="204454" indent="-204454">
              <a:spcAft>
                <a:spcPts val="1159"/>
              </a:spcAft>
              <a:buFont typeface="Arial" panose="020B0604020202020204" pitchFamily="34" charset="0"/>
              <a:buChar char="•"/>
              <a:defRPr/>
            </a:lvl4pPr>
            <a:lvl5pPr marL="413082" indent="-204454">
              <a:spcAft>
                <a:spcPts val="1159"/>
              </a:spcAft>
              <a:defRPr baseline="0"/>
            </a:lvl5pPr>
            <a:lvl6pPr marL="413082" indent="-204454">
              <a:spcAft>
                <a:spcPts val="1159"/>
              </a:spcAft>
              <a:buFont typeface="Verdana" panose="020B0604030504040204" pitchFamily="34" charset="0"/>
              <a:buChar char="−"/>
              <a:defRPr/>
            </a:lvl6pPr>
            <a:lvl7pPr marL="413082" indent="-204454">
              <a:spcAft>
                <a:spcPts val="1159"/>
              </a:spcAft>
              <a:defRPr/>
            </a:lvl7pPr>
            <a:lvl8pPr marL="413082" indent="-204454">
              <a:spcAft>
                <a:spcPts val="1159"/>
              </a:spcAft>
              <a:defRPr/>
            </a:lvl8pPr>
            <a:lvl9pPr marL="413082" indent="-204454">
              <a:spcAft>
                <a:spcPts val="1159"/>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6" y="1851450"/>
            <a:ext cx="3627439" cy="3845755"/>
          </a:xfrm>
        </p:spPr>
        <p:txBody>
          <a:bodyPr/>
          <a:lstStyle>
            <a:lvl1pPr>
              <a:defRPr b="1">
                <a:solidFill>
                  <a:schemeClr val="accent1"/>
                </a:solidFill>
              </a:defRPr>
            </a:lvl1pPr>
            <a:lvl2pPr>
              <a:spcAft>
                <a:spcPts val="1159"/>
              </a:spcAft>
              <a:defRPr/>
            </a:lvl2pPr>
            <a:lvl3pPr marL="0" indent="0">
              <a:spcAft>
                <a:spcPts val="1159"/>
              </a:spcAft>
              <a:buNone/>
              <a:defRPr/>
            </a:lvl3pPr>
            <a:lvl4pPr marL="204454" indent="-204454">
              <a:spcAft>
                <a:spcPts val="1159"/>
              </a:spcAft>
              <a:buFont typeface="Arial" panose="020B0604020202020204" pitchFamily="34" charset="0"/>
              <a:buChar char="•"/>
              <a:defRPr/>
            </a:lvl4pPr>
            <a:lvl5pPr marL="413082" indent="-204454">
              <a:spcAft>
                <a:spcPts val="1159"/>
              </a:spcAft>
              <a:defRPr baseline="0"/>
            </a:lvl5pPr>
            <a:lvl6pPr marL="413082" indent="-204454">
              <a:spcAft>
                <a:spcPts val="1159"/>
              </a:spcAft>
              <a:buFont typeface="Verdana" panose="020B0604030504040204" pitchFamily="34" charset="0"/>
              <a:buChar char="−"/>
              <a:defRPr/>
            </a:lvl6pPr>
            <a:lvl7pPr marL="413082" indent="-204454">
              <a:spcAft>
                <a:spcPts val="1159"/>
              </a:spcAft>
              <a:defRPr/>
            </a:lvl7pPr>
            <a:lvl8pPr marL="413082" indent="-204454">
              <a:spcAft>
                <a:spcPts val="1159"/>
              </a:spcAft>
              <a:defRPr/>
            </a:lvl8pPr>
            <a:lvl9pPr marL="413082" indent="-204454">
              <a:spcAft>
                <a:spcPts val="1159"/>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81" y="1851450"/>
            <a:ext cx="3629025" cy="3845755"/>
          </a:xfrm>
        </p:spPr>
        <p:txBody>
          <a:bodyPr/>
          <a:lstStyle>
            <a:lvl1pPr>
              <a:defRPr b="1">
                <a:solidFill>
                  <a:schemeClr val="accent1"/>
                </a:solidFill>
              </a:defRPr>
            </a:lvl1pPr>
            <a:lvl2pPr>
              <a:spcAft>
                <a:spcPts val="1159"/>
              </a:spcAft>
              <a:defRPr/>
            </a:lvl2pPr>
            <a:lvl3pPr marL="0" indent="0">
              <a:spcAft>
                <a:spcPts val="1159"/>
              </a:spcAft>
              <a:buNone/>
              <a:defRPr/>
            </a:lvl3pPr>
            <a:lvl4pPr marL="204454" indent="-204454">
              <a:spcAft>
                <a:spcPts val="1159"/>
              </a:spcAft>
              <a:buFont typeface="Arial" panose="020B0604020202020204" pitchFamily="34" charset="0"/>
              <a:buChar char="•"/>
              <a:defRPr/>
            </a:lvl4pPr>
            <a:lvl5pPr marL="413082" indent="-204454">
              <a:spcAft>
                <a:spcPts val="1159"/>
              </a:spcAft>
              <a:defRPr baseline="0"/>
            </a:lvl5pPr>
            <a:lvl6pPr marL="413082" indent="-204454">
              <a:spcAft>
                <a:spcPts val="1159"/>
              </a:spcAft>
              <a:buFont typeface="Verdana" panose="020B0604030504040204" pitchFamily="34" charset="0"/>
              <a:buChar char="−"/>
              <a:defRPr/>
            </a:lvl6pPr>
            <a:lvl7pPr marL="413082" indent="-204454">
              <a:spcAft>
                <a:spcPts val="1159"/>
              </a:spcAft>
              <a:defRPr/>
            </a:lvl7pPr>
            <a:lvl8pPr marL="413082" indent="-204454">
              <a:spcAft>
                <a:spcPts val="1159"/>
              </a:spcAft>
              <a:defRPr/>
            </a:lvl8pPr>
            <a:lvl9pPr marL="413082" indent="-204454">
              <a:spcAft>
                <a:spcPts val="1159"/>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3" y="736697"/>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3" y="402587"/>
            <a:ext cx="11252200" cy="334102"/>
          </a:xfrm>
          <a:prstGeom prst="rect">
            <a:avLst/>
          </a:prstGeom>
        </p:spPr>
        <p:txBody>
          <a:bodyPr vert="horz" lIns="0" tIns="0" rIns="0" bIns="0" rtlCol="0" anchor="t" anchorCtr="0">
            <a:noAutofit/>
          </a:bodyPr>
          <a:lstStyle>
            <a:lvl1pPr>
              <a:defRPr sz="1739"/>
            </a:lvl1pPr>
          </a:lstStyle>
          <a:p>
            <a:r>
              <a:rPr lang="en-US" noProof="0"/>
              <a:t>Click to edit Master title style</a:t>
            </a:r>
            <a:endParaRPr lang="en-US" noProof="0" dirty="0"/>
          </a:p>
        </p:txBody>
      </p:sp>
    </p:spTree>
    <p:extLst>
      <p:ext uri="{BB962C8B-B14F-4D97-AF65-F5344CB8AC3E}">
        <p14:creationId xmlns:p14="http://schemas.microsoft.com/office/powerpoint/2010/main" val="927149021"/>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159"/>
              </a:spcAft>
              <a:defRPr/>
            </a:lvl2pPr>
            <a:lvl3pPr marL="0" indent="0">
              <a:spcAft>
                <a:spcPts val="1159"/>
              </a:spcAft>
              <a:buNone/>
              <a:defRPr/>
            </a:lvl3pPr>
            <a:lvl4pPr marL="204454" indent="-204454">
              <a:spcAft>
                <a:spcPts val="1159"/>
              </a:spcAft>
              <a:buFont typeface="Arial" panose="020B0604020202020204" pitchFamily="34" charset="0"/>
              <a:buChar char="•"/>
              <a:defRPr/>
            </a:lvl4pPr>
            <a:lvl5pPr marL="413082" indent="-204454">
              <a:spcAft>
                <a:spcPts val="1159"/>
              </a:spcAft>
              <a:defRPr baseline="0"/>
            </a:lvl5pPr>
            <a:lvl6pPr marL="413082" indent="-204454">
              <a:spcAft>
                <a:spcPts val="1159"/>
              </a:spcAft>
              <a:buFont typeface="Verdana" panose="020B0604030504040204" pitchFamily="34" charset="0"/>
              <a:buChar char="−"/>
              <a:defRPr/>
            </a:lvl6pPr>
            <a:lvl7pPr marL="413082" indent="-204454">
              <a:spcAft>
                <a:spcPts val="1159"/>
              </a:spcAft>
              <a:defRPr/>
            </a:lvl7pPr>
            <a:lvl8pPr marL="413082" indent="-204454">
              <a:spcAft>
                <a:spcPts val="1159"/>
              </a:spcAft>
              <a:defRPr/>
            </a:lvl8pPr>
            <a:lvl9pPr marL="413082" indent="-204454">
              <a:spcAft>
                <a:spcPts val="1159"/>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159"/>
              </a:spcAft>
              <a:defRPr/>
            </a:lvl2pPr>
            <a:lvl3pPr marL="0" indent="0">
              <a:spcAft>
                <a:spcPts val="1159"/>
              </a:spcAft>
              <a:buNone/>
              <a:defRPr/>
            </a:lvl3pPr>
            <a:lvl4pPr marL="204454" indent="-204454">
              <a:spcAft>
                <a:spcPts val="1159"/>
              </a:spcAft>
              <a:buFont typeface="Arial" panose="020B0604020202020204" pitchFamily="34" charset="0"/>
              <a:buChar char="•"/>
              <a:defRPr/>
            </a:lvl4pPr>
            <a:lvl5pPr marL="413082" indent="-204454">
              <a:spcAft>
                <a:spcPts val="1159"/>
              </a:spcAft>
              <a:defRPr baseline="0"/>
            </a:lvl5pPr>
            <a:lvl6pPr marL="413082" indent="-204454">
              <a:spcAft>
                <a:spcPts val="1159"/>
              </a:spcAft>
              <a:buFont typeface="Verdana" panose="020B0604030504040204" pitchFamily="34" charset="0"/>
              <a:buChar char="−"/>
              <a:defRPr/>
            </a:lvl6pPr>
            <a:lvl7pPr marL="413082" indent="-204454">
              <a:spcAft>
                <a:spcPts val="1159"/>
              </a:spcAft>
              <a:defRPr/>
            </a:lvl7pPr>
            <a:lvl8pPr marL="413082" indent="-204454">
              <a:spcAft>
                <a:spcPts val="1159"/>
              </a:spcAft>
              <a:defRPr/>
            </a:lvl8pPr>
            <a:lvl9pPr marL="413082" indent="-204454">
              <a:spcAft>
                <a:spcPts val="1159"/>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159"/>
              </a:spcAft>
              <a:defRPr/>
            </a:lvl2pPr>
            <a:lvl3pPr marL="0" indent="0">
              <a:spcAft>
                <a:spcPts val="1159"/>
              </a:spcAft>
              <a:buNone/>
              <a:defRPr/>
            </a:lvl3pPr>
            <a:lvl4pPr marL="204454" indent="-204454">
              <a:spcAft>
                <a:spcPts val="1159"/>
              </a:spcAft>
              <a:buFont typeface="Arial" panose="020B0604020202020204" pitchFamily="34" charset="0"/>
              <a:buChar char="•"/>
              <a:defRPr/>
            </a:lvl4pPr>
            <a:lvl5pPr marL="413082" indent="-204454">
              <a:spcAft>
                <a:spcPts val="1159"/>
              </a:spcAft>
              <a:defRPr baseline="0"/>
            </a:lvl5pPr>
            <a:lvl6pPr marL="413082" indent="-204454">
              <a:spcAft>
                <a:spcPts val="1159"/>
              </a:spcAft>
              <a:buFont typeface="Verdana" panose="020B0604030504040204" pitchFamily="34" charset="0"/>
              <a:buChar char="−"/>
              <a:defRPr/>
            </a:lvl6pPr>
            <a:lvl7pPr marL="413082" indent="-204454">
              <a:spcAft>
                <a:spcPts val="1159"/>
              </a:spcAft>
              <a:defRPr/>
            </a:lvl7pPr>
            <a:lvl8pPr marL="413082" indent="-204454">
              <a:spcAft>
                <a:spcPts val="1159"/>
              </a:spcAft>
              <a:defRPr/>
            </a:lvl8pPr>
            <a:lvl9pPr marL="413082" indent="-204454">
              <a:spcAft>
                <a:spcPts val="1159"/>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accent1"/>
                </a:solidFill>
              </a:defRPr>
            </a:lvl1pPr>
            <a:lvl2pPr>
              <a:spcAft>
                <a:spcPts val="1159"/>
              </a:spcAft>
              <a:defRPr/>
            </a:lvl2pPr>
            <a:lvl3pPr marL="0" indent="0">
              <a:spcAft>
                <a:spcPts val="1159"/>
              </a:spcAft>
              <a:buNone/>
              <a:defRPr/>
            </a:lvl3pPr>
            <a:lvl4pPr marL="204454" indent="-204454">
              <a:spcAft>
                <a:spcPts val="1159"/>
              </a:spcAft>
              <a:buFont typeface="Arial" panose="020B0604020202020204" pitchFamily="34" charset="0"/>
              <a:buChar char="•"/>
              <a:defRPr/>
            </a:lvl4pPr>
            <a:lvl5pPr marL="413082" indent="-204454">
              <a:spcAft>
                <a:spcPts val="1159"/>
              </a:spcAft>
              <a:defRPr baseline="0"/>
            </a:lvl5pPr>
            <a:lvl6pPr marL="413082" indent="-204454">
              <a:spcAft>
                <a:spcPts val="1159"/>
              </a:spcAft>
              <a:buFont typeface="Verdana" panose="020B0604030504040204" pitchFamily="34" charset="0"/>
              <a:buChar char="−"/>
              <a:defRPr/>
            </a:lvl6pPr>
            <a:lvl7pPr marL="413082" indent="-204454">
              <a:spcAft>
                <a:spcPts val="1159"/>
              </a:spcAft>
              <a:defRPr/>
            </a:lvl7pPr>
            <a:lvl8pPr marL="413082" indent="-204454">
              <a:spcAft>
                <a:spcPts val="1159"/>
              </a:spcAft>
              <a:defRPr/>
            </a:lvl8pPr>
            <a:lvl9pPr marL="413082" indent="-204454">
              <a:spcAft>
                <a:spcPts val="1159"/>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3" y="736697"/>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3" y="402587"/>
            <a:ext cx="11252200" cy="334102"/>
          </a:xfrm>
          <a:prstGeom prst="rect">
            <a:avLst/>
          </a:prstGeom>
        </p:spPr>
        <p:txBody>
          <a:bodyPr vert="horz" lIns="0" tIns="0" rIns="0" bIns="0" rtlCol="0" anchor="t" anchorCtr="0">
            <a:noAutofit/>
          </a:bodyPr>
          <a:lstStyle>
            <a:lvl1pPr>
              <a:defRPr sz="1739"/>
            </a:lvl1pPr>
          </a:lstStyle>
          <a:p>
            <a:r>
              <a:rPr lang="en-US" noProof="0"/>
              <a:t>Click to edit Master title style</a:t>
            </a:r>
            <a:endParaRPr lang="en-US" noProof="0" dirty="0"/>
          </a:p>
        </p:txBody>
      </p:sp>
    </p:spTree>
    <p:extLst>
      <p:ext uri="{BB962C8B-B14F-4D97-AF65-F5344CB8AC3E}">
        <p14:creationId xmlns:p14="http://schemas.microsoft.com/office/powerpoint/2010/main" val="511817792"/>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159"/>
              </a:spcAft>
              <a:defRPr>
                <a:solidFill>
                  <a:schemeClr val="bg1"/>
                </a:solidFill>
              </a:defRPr>
            </a:lvl2pPr>
            <a:lvl3pPr marL="0" indent="0">
              <a:spcAft>
                <a:spcPts val="1159"/>
              </a:spcAft>
              <a:buNone/>
              <a:defRPr>
                <a:solidFill>
                  <a:schemeClr val="bg1"/>
                </a:solidFill>
              </a:defRPr>
            </a:lvl3pPr>
            <a:lvl4pPr marL="204454" indent="-204454">
              <a:spcAft>
                <a:spcPts val="1159"/>
              </a:spcAft>
              <a:buFont typeface="Arial" panose="020B0604020202020204" pitchFamily="34" charset="0"/>
              <a:buChar char="•"/>
              <a:defRPr>
                <a:solidFill>
                  <a:schemeClr val="bg1"/>
                </a:solidFill>
              </a:defRPr>
            </a:lvl4pPr>
            <a:lvl5pPr marL="413082" indent="-204454">
              <a:spcAft>
                <a:spcPts val="1159"/>
              </a:spcAft>
              <a:defRPr baseline="0">
                <a:solidFill>
                  <a:schemeClr val="bg1"/>
                </a:solidFill>
              </a:defRPr>
            </a:lvl5pPr>
            <a:lvl6pPr marL="413082" indent="-204454">
              <a:spcAft>
                <a:spcPts val="1159"/>
              </a:spcAft>
              <a:buFont typeface="Verdana" panose="020B0604030504040204" pitchFamily="34" charset="0"/>
              <a:buChar char="−"/>
              <a:defRPr>
                <a:solidFill>
                  <a:schemeClr val="bg1"/>
                </a:solidFill>
              </a:defRPr>
            </a:lvl6pPr>
            <a:lvl7pPr marL="413082" indent="-204454">
              <a:spcAft>
                <a:spcPts val="1159"/>
              </a:spcAft>
              <a:defRPr>
                <a:solidFill>
                  <a:schemeClr val="bg1"/>
                </a:solidFill>
              </a:defRPr>
            </a:lvl7pPr>
            <a:lvl8pPr marL="413082" indent="-204454">
              <a:spcAft>
                <a:spcPts val="1159"/>
              </a:spcAft>
              <a:defRPr>
                <a:solidFill>
                  <a:schemeClr val="bg1"/>
                </a:solidFill>
              </a:defRPr>
            </a:lvl8pPr>
            <a:lvl9pPr marL="413082" indent="-204454">
              <a:spcAft>
                <a:spcPts val="1159"/>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159"/>
              </a:spcAft>
              <a:defRPr>
                <a:solidFill>
                  <a:schemeClr val="bg1"/>
                </a:solidFill>
              </a:defRPr>
            </a:lvl2pPr>
            <a:lvl3pPr marL="0" indent="0">
              <a:spcAft>
                <a:spcPts val="1159"/>
              </a:spcAft>
              <a:buNone/>
              <a:defRPr>
                <a:solidFill>
                  <a:schemeClr val="bg1"/>
                </a:solidFill>
              </a:defRPr>
            </a:lvl3pPr>
            <a:lvl4pPr marL="204454" indent="-204454">
              <a:spcAft>
                <a:spcPts val="1159"/>
              </a:spcAft>
              <a:buFont typeface="Arial" panose="020B0604020202020204" pitchFamily="34" charset="0"/>
              <a:buChar char="•"/>
              <a:defRPr>
                <a:solidFill>
                  <a:schemeClr val="bg1"/>
                </a:solidFill>
              </a:defRPr>
            </a:lvl4pPr>
            <a:lvl5pPr marL="413082" indent="-204454">
              <a:spcAft>
                <a:spcPts val="1159"/>
              </a:spcAft>
              <a:defRPr baseline="0">
                <a:solidFill>
                  <a:schemeClr val="bg1"/>
                </a:solidFill>
              </a:defRPr>
            </a:lvl5pPr>
            <a:lvl6pPr marL="413082" indent="-204454">
              <a:spcAft>
                <a:spcPts val="1159"/>
              </a:spcAft>
              <a:buFont typeface="Verdana" panose="020B0604030504040204" pitchFamily="34" charset="0"/>
              <a:buChar char="−"/>
              <a:defRPr>
                <a:solidFill>
                  <a:schemeClr val="bg1"/>
                </a:solidFill>
              </a:defRPr>
            </a:lvl6pPr>
            <a:lvl7pPr marL="413082" indent="-204454">
              <a:spcAft>
                <a:spcPts val="1159"/>
              </a:spcAft>
              <a:defRPr>
                <a:solidFill>
                  <a:schemeClr val="bg1"/>
                </a:solidFill>
              </a:defRPr>
            </a:lvl7pPr>
            <a:lvl8pPr marL="413082" indent="-204454">
              <a:spcAft>
                <a:spcPts val="1159"/>
              </a:spcAft>
              <a:defRPr>
                <a:solidFill>
                  <a:schemeClr val="bg1"/>
                </a:solidFill>
              </a:defRPr>
            </a:lvl8pPr>
            <a:lvl9pPr marL="413082" indent="-204454">
              <a:spcAft>
                <a:spcPts val="1159"/>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159"/>
              </a:spcAft>
              <a:defRPr>
                <a:solidFill>
                  <a:schemeClr val="bg1"/>
                </a:solidFill>
              </a:defRPr>
            </a:lvl2pPr>
            <a:lvl3pPr marL="0" indent="0">
              <a:spcAft>
                <a:spcPts val="1159"/>
              </a:spcAft>
              <a:buNone/>
              <a:defRPr>
                <a:solidFill>
                  <a:schemeClr val="bg1"/>
                </a:solidFill>
              </a:defRPr>
            </a:lvl3pPr>
            <a:lvl4pPr marL="204454" indent="-204454">
              <a:spcAft>
                <a:spcPts val="1159"/>
              </a:spcAft>
              <a:buFont typeface="Arial" panose="020B0604020202020204" pitchFamily="34" charset="0"/>
              <a:buChar char="•"/>
              <a:defRPr>
                <a:solidFill>
                  <a:schemeClr val="bg1"/>
                </a:solidFill>
              </a:defRPr>
            </a:lvl4pPr>
            <a:lvl5pPr marL="413082" indent="-204454">
              <a:spcAft>
                <a:spcPts val="1159"/>
              </a:spcAft>
              <a:defRPr baseline="0">
                <a:solidFill>
                  <a:schemeClr val="bg1"/>
                </a:solidFill>
              </a:defRPr>
            </a:lvl5pPr>
            <a:lvl6pPr marL="413082" indent="-204454">
              <a:spcAft>
                <a:spcPts val="1159"/>
              </a:spcAft>
              <a:buFont typeface="Verdana" panose="020B0604030504040204" pitchFamily="34" charset="0"/>
              <a:buChar char="−"/>
              <a:defRPr>
                <a:solidFill>
                  <a:schemeClr val="bg1"/>
                </a:solidFill>
              </a:defRPr>
            </a:lvl6pPr>
            <a:lvl7pPr marL="413082" indent="-204454">
              <a:spcAft>
                <a:spcPts val="1159"/>
              </a:spcAft>
              <a:defRPr>
                <a:solidFill>
                  <a:schemeClr val="bg1"/>
                </a:solidFill>
              </a:defRPr>
            </a:lvl7pPr>
            <a:lvl8pPr marL="413082" indent="-204454">
              <a:spcAft>
                <a:spcPts val="1159"/>
              </a:spcAft>
              <a:defRPr>
                <a:solidFill>
                  <a:schemeClr val="bg1"/>
                </a:solidFill>
              </a:defRPr>
            </a:lvl8pPr>
            <a:lvl9pPr marL="413082" indent="-204454">
              <a:spcAft>
                <a:spcPts val="1159"/>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159"/>
              </a:spcAft>
              <a:defRPr>
                <a:solidFill>
                  <a:schemeClr val="bg1"/>
                </a:solidFill>
              </a:defRPr>
            </a:lvl2pPr>
            <a:lvl3pPr marL="0" indent="0">
              <a:spcAft>
                <a:spcPts val="1159"/>
              </a:spcAft>
              <a:buNone/>
              <a:defRPr>
                <a:solidFill>
                  <a:schemeClr val="bg1"/>
                </a:solidFill>
              </a:defRPr>
            </a:lvl3pPr>
            <a:lvl4pPr marL="204454" indent="-204454">
              <a:spcAft>
                <a:spcPts val="1159"/>
              </a:spcAft>
              <a:buFont typeface="Arial" panose="020B0604020202020204" pitchFamily="34" charset="0"/>
              <a:buChar char="•"/>
              <a:defRPr>
                <a:solidFill>
                  <a:schemeClr val="bg1"/>
                </a:solidFill>
              </a:defRPr>
            </a:lvl4pPr>
            <a:lvl5pPr marL="413082" indent="-204454">
              <a:spcAft>
                <a:spcPts val="1159"/>
              </a:spcAft>
              <a:defRPr baseline="0">
                <a:solidFill>
                  <a:schemeClr val="bg1"/>
                </a:solidFill>
              </a:defRPr>
            </a:lvl5pPr>
            <a:lvl6pPr marL="413082" indent="-204454">
              <a:spcAft>
                <a:spcPts val="1159"/>
              </a:spcAft>
              <a:buFont typeface="Verdana" panose="020B0604030504040204" pitchFamily="34" charset="0"/>
              <a:buChar char="−"/>
              <a:defRPr>
                <a:solidFill>
                  <a:schemeClr val="bg1"/>
                </a:solidFill>
              </a:defRPr>
            </a:lvl6pPr>
            <a:lvl7pPr marL="413082" indent="-204454">
              <a:spcAft>
                <a:spcPts val="1159"/>
              </a:spcAft>
              <a:defRPr>
                <a:solidFill>
                  <a:schemeClr val="bg1"/>
                </a:solidFill>
              </a:defRPr>
            </a:lvl7pPr>
            <a:lvl8pPr marL="413082" indent="-204454">
              <a:spcAft>
                <a:spcPts val="1159"/>
              </a:spcAft>
              <a:defRPr>
                <a:solidFill>
                  <a:schemeClr val="bg1"/>
                </a:solidFill>
              </a:defRPr>
            </a:lvl8pPr>
            <a:lvl9pPr marL="413082" indent="-204454">
              <a:spcAft>
                <a:spcPts val="1159"/>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7"/>
            <a:ext cx="4896560" cy="173894"/>
          </a:xfrm>
          <a:prstGeom prst="rect">
            <a:avLst/>
          </a:prstGeom>
          <a:noFill/>
        </p:spPr>
        <p:txBody>
          <a:bodyPr wrap="square" lIns="0" tIns="0" rIns="0" bIns="0" rtlCol="0">
            <a:spAutoFit/>
          </a:bodyPr>
          <a:lstStyle/>
          <a:p>
            <a:pPr marL="0" indent="0" algn="r">
              <a:spcBef>
                <a:spcPts val="0"/>
              </a:spcBef>
              <a:buSzPct val="100000"/>
              <a:buFont typeface="Arial"/>
              <a:buNone/>
            </a:pPr>
            <a:r>
              <a:rPr lang="en-US" sz="565" noProof="0" dirty="0">
                <a:solidFill>
                  <a:schemeClr val="bg1"/>
                </a:solidFill>
              </a:rPr>
              <a:t>Presentation title</a:t>
            </a:r>
            <a:br>
              <a:rPr lang="en-US" sz="565" noProof="0" dirty="0">
                <a:solidFill>
                  <a:schemeClr val="bg1"/>
                </a:solidFill>
              </a:rPr>
            </a:br>
            <a:r>
              <a:rPr lang="en-US" sz="565" noProof="0" dirty="0">
                <a:solidFill>
                  <a:schemeClr val="bg1"/>
                </a:solidFill>
              </a:rPr>
              <a:t>[To edit, click View &gt; Slide Master &gt; Slide Master]</a:t>
            </a:r>
          </a:p>
        </p:txBody>
      </p:sp>
      <p:sp>
        <p:nvSpPr>
          <p:cNvPr id="14" name="TextBox 13"/>
          <p:cNvSpPr txBox="1"/>
          <p:nvPr userDrawn="1"/>
        </p:nvSpPr>
        <p:spPr>
          <a:xfrm>
            <a:off x="501656" y="6477006"/>
            <a:ext cx="5355167" cy="173894"/>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bg1"/>
                </a:solidFill>
              </a:rPr>
              <a:t>Member firms and DTTL: Insert appropriate copyright</a:t>
            </a:r>
            <a:br>
              <a:rPr lang="en-US" sz="565" noProof="0" dirty="0">
                <a:solidFill>
                  <a:schemeClr val="bg1"/>
                </a:solidFill>
              </a:rPr>
            </a:br>
            <a:r>
              <a:rPr lang="en-US" sz="565" noProof="0" dirty="0">
                <a:solidFill>
                  <a:schemeClr val="bg1"/>
                </a:solidFill>
              </a:rPr>
              <a:t>[To edit, click View &gt; Slide Master &gt; Slide Master]</a:t>
            </a:r>
          </a:p>
        </p:txBody>
      </p:sp>
      <p:sp>
        <p:nvSpPr>
          <p:cNvPr id="15" name="TextBox 14"/>
          <p:cNvSpPr txBox="1"/>
          <p:nvPr userDrawn="1"/>
        </p:nvSpPr>
        <p:spPr>
          <a:xfrm>
            <a:off x="11382380" y="6477010"/>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bg1"/>
                </a:solidFill>
              </a:rPr>
              <a:pPr marL="0" indent="0" algn="r">
                <a:spcBef>
                  <a:spcPts val="695"/>
                </a:spcBef>
                <a:buSzPct val="100000"/>
                <a:buFont typeface="Arial"/>
                <a:buNone/>
              </a:pPr>
              <a:t>‹#›</a:t>
            </a:fld>
            <a:endParaRPr lang="en-US" sz="565" noProof="0" dirty="0">
              <a:solidFill>
                <a:schemeClr val="bg1"/>
              </a:solidFill>
            </a:endParaRPr>
          </a:p>
        </p:txBody>
      </p:sp>
      <p:sp>
        <p:nvSpPr>
          <p:cNvPr id="16" name="Text Placeholder 8"/>
          <p:cNvSpPr>
            <a:spLocks noGrp="1"/>
          </p:cNvSpPr>
          <p:nvPr>
            <p:ph type="body" sz="quarter" idx="13" hasCustomPrompt="1"/>
          </p:nvPr>
        </p:nvSpPr>
        <p:spPr>
          <a:xfrm>
            <a:off x="469903" y="736697"/>
            <a:ext cx="11252200" cy="757255"/>
          </a:xfrm>
          <a:prstGeom prst="rect">
            <a:avLst/>
          </a:prstGeom>
        </p:spPr>
        <p:txBody>
          <a:bodyPr lIns="0" tIns="0" rIns="0" bIns="0">
            <a:noAutofit/>
          </a:bodyPr>
          <a:lstStyle>
            <a:lvl1pPr marL="0" indent="0">
              <a:buNone/>
              <a:defRPr sz="1739"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3" y="402587"/>
            <a:ext cx="11252200" cy="334102"/>
          </a:xfrm>
          <a:prstGeom prst="rect">
            <a:avLst/>
          </a:prstGeom>
        </p:spPr>
        <p:txBody>
          <a:bodyPr vert="horz" lIns="0" tIns="0" rIns="0" bIns="0" rtlCol="0" anchor="t" anchorCtr="0">
            <a:noAutofit/>
          </a:bodyPr>
          <a:lstStyle>
            <a:lvl1pPr>
              <a:defRPr sz="1739">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2034099905"/>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434">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7"/>
            <a:ext cx="3696000" cy="1048554"/>
          </a:xfrm>
        </p:spPr>
        <p:txBody>
          <a:bodyPr>
            <a:normAutofit/>
          </a:bodyPr>
          <a:lstStyle>
            <a:lvl1pPr marL="0" indent="0" algn="l">
              <a:lnSpc>
                <a:spcPct val="120000"/>
              </a:lnSpc>
              <a:spcBef>
                <a:spcPts val="0"/>
              </a:spcBef>
              <a:buNone/>
              <a:defRPr sz="1217" b="0">
                <a:solidFill>
                  <a:schemeClr val="accent5"/>
                </a:solidFill>
              </a:defRPr>
            </a:lvl1pPr>
            <a:lvl2pPr marL="397444" indent="0" algn="ctr">
              <a:buNone/>
              <a:defRPr>
                <a:solidFill>
                  <a:schemeClr val="tx1">
                    <a:tint val="75000"/>
                  </a:schemeClr>
                </a:solidFill>
              </a:defRPr>
            </a:lvl2pPr>
            <a:lvl3pPr marL="794889" indent="0" algn="ctr">
              <a:buNone/>
              <a:defRPr>
                <a:solidFill>
                  <a:schemeClr val="tx1">
                    <a:tint val="75000"/>
                  </a:schemeClr>
                </a:solidFill>
              </a:defRPr>
            </a:lvl3pPr>
            <a:lvl4pPr marL="1192333" indent="0" algn="ctr">
              <a:buNone/>
              <a:defRPr>
                <a:solidFill>
                  <a:schemeClr val="tx1">
                    <a:tint val="75000"/>
                  </a:schemeClr>
                </a:solidFill>
              </a:defRPr>
            </a:lvl4pPr>
            <a:lvl5pPr marL="1589777" indent="0" algn="ctr">
              <a:buNone/>
              <a:defRPr>
                <a:solidFill>
                  <a:schemeClr val="tx1">
                    <a:tint val="75000"/>
                  </a:schemeClr>
                </a:solidFill>
              </a:defRPr>
            </a:lvl5pPr>
            <a:lvl6pPr marL="1987221" indent="0" algn="ctr">
              <a:buNone/>
              <a:defRPr>
                <a:solidFill>
                  <a:schemeClr val="tx1">
                    <a:tint val="75000"/>
                  </a:schemeClr>
                </a:solidFill>
              </a:defRPr>
            </a:lvl6pPr>
            <a:lvl7pPr marL="2384666" indent="0" algn="ctr">
              <a:buNone/>
              <a:defRPr>
                <a:solidFill>
                  <a:schemeClr val="tx1">
                    <a:tint val="75000"/>
                  </a:schemeClr>
                </a:solidFill>
              </a:defRPr>
            </a:lvl7pPr>
            <a:lvl8pPr marL="2782109" indent="0" algn="ctr">
              <a:buNone/>
              <a:defRPr>
                <a:solidFill>
                  <a:schemeClr val="tx1">
                    <a:tint val="75000"/>
                  </a:schemeClr>
                </a:solidFill>
              </a:defRPr>
            </a:lvl8pPr>
            <a:lvl9pPr marL="3179553"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3" y="6407835"/>
            <a:ext cx="1056118" cy="252000"/>
          </a:xfrm>
          <a:prstGeom prst="rect">
            <a:avLst/>
          </a:prstGeom>
        </p:spPr>
        <p:txBody>
          <a:bodyPr vert="horz" lIns="0" tIns="0" rIns="0" bIns="0" rtlCol="0" anchor="ctr" anchorCtr="0"/>
          <a:lstStyle>
            <a:lvl1pPr algn="r">
              <a:defRPr sz="695"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434">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3" y="6484171"/>
            <a:ext cx="4572000" cy="199285"/>
          </a:xfrm>
          <a:prstGeom prst="rect">
            <a:avLst/>
          </a:prstGeom>
        </p:spPr>
        <p:txBody>
          <a:bodyPr>
            <a:spAutoFit/>
          </a:bodyPr>
          <a:lstStyle/>
          <a:p>
            <a:pPr defTabSz="794889">
              <a:defRPr/>
            </a:pPr>
            <a:r>
              <a:rPr lang="en-GB" sz="695" dirty="0">
                <a:latin typeface="Verdana"/>
                <a:ea typeface="Verdana" panose="020B0604030504040204" pitchFamily="34" charset="0"/>
                <a:cs typeface="Times New Roman" panose="02020603050405020304" pitchFamily="18" charset="0"/>
              </a:rPr>
              <a:t>© 2019. For information, contact Deloitte Touche Tohmatsu Limited.</a:t>
            </a:r>
            <a:endParaRPr lang="en-US" sz="695"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955960404"/>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864239"/>
            <a:ext cx="5592011" cy="505645"/>
          </a:xfrm>
          <a:prstGeom prst="rect">
            <a:avLst/>
          </a:prstGeom>
        </p:spPr>
        <p:txBody>
          <a:bodyPr lIns="0" tIns="0" rIns="0" bIns="0" anchor="b" anchorCtr="0">
            <a:noAutofit/>
          </a:bodyPr>
          <a:lstStyle>
            <a:lvl1pPr marL="0" indent="0" algn="l">
              <a:lnSpc>
                <a:spcPct val="100000"/>
              </a:lnSpc>
              <a:spcAft>
                <a:spcPts val="0"/>
              </a:spcAft>
              <a:buNone/>
              <a:defRPr sz="1565" b="1">
                <a:solidFill>
                  <a:schemeClr val="bg1"/>
                </a:solidFill>
              </a:defRPr>
            </a:lvl1pPr>
            <a:lvl2pPr marL="0" marR="0" indent="0" algn="l" defTabSz="794889" rtl="0" eaLnBrk="1" fontAlgn="auto" latinLnBrk="0" hangingPunct="1">
              <a:lnSpc>
                <a:spcPct val="100000"/>
              </a:lnSpc>
              <a:spcBef>
                <a:spcPts val="0"/>
              </a:spcBef>
              <a:spcAft>
                <a:spcPts val="0"/>
              </a:spcAft>
              <a:buClrTx/>
              <a:buSzPct val="100000"/>
              <a:buFont typeface="Arial"/>
              <a:buNone/>
              <a:tabLst/>
              <a:defRPr sz="1391" b="0">
                <a:solidFill>
                  <a:schemeClr val="bg1"/>
                </a:solidFill>
              </a:defRPr>
            </a:lvl2pPr>
            <a:lvl3pPr marL="0" indent="0" algn="l">
              <a:spcAft>
                <a:spcPts val="0"/>
              </a:spcAft>
              <a:buNone/>
              <a:defRPr sz="1391">
                <a:solidFill>
                  <a:schemeClr val="bg1"/>
                </a:solidFill>
              </a:defRPr>
            </a:lvl3pPr>
            <a:lvl4pPr marL="1192333" indent="0" algn="ctr">
              <a:buNone/>
              <a:defRPr sz="1391"/>
            </a:lvl4pPr>
            <a:lvl5pPr marL="1589777" indent="0" algn="ctr">
              <a:buNone/>
              <a:defRPr sz="1391"/>
            </a:lvl5pPr>
            <a:lvl6pPr marL="1987221" indent="0" algn="ctr">
              <a:buNone/>
              <a:defRPr sz="1391"/>
            </a:lvl6pPr>
            <a:lvl7pPr marL="2384666" indent="0" algn="ctr">
              <a:buNone/>
              <a:defRPr sz="1391"/>
            </a:lvl7pPr>
            <a:lvl8pPr marL="2782109" indent="0" algn="ctr">
              <a:buNone/>
              <a:defRPr sz="1391"/>
            </a:lvl8pPr>
            <a:lvl9pPr marL="3179553" indent="0" algn="ctr">
              <a:buNone/>
              <a:defRPr sz="1391"/>
            </a:lvl9pPr>
          </a:lstStyle>
          <a:p>
            <a:r>
              <a:rPr lang="en-US" noProof="0" dirty="0"/>
              <a:t>Click to edit Master title style</a:t>
            </a:r>
          </a:p>
          <a:p>
            <a:pPr marL="0" marR="0" lvl="1" indent="0" algn="l" defTabSz="794889"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5" y="6381753"/>
            <a:ext cx="5594349" cy="298450"/>
          </a:xfrm>
          <a:prstGeom prst="rect">
            <a:avLst/>
          </a:prstGeom>
        </p:spPr>
        <p:txBody>
          <a:bodyPr/>
          <a:lstStyle>
            <a:lvl1pPr>
              <a:spcAft>
                <a:spcPts val="0"/>
              </a:spcAft>
              <a:defRPr sz="86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grpSp>
    </p:spTree>
    <p:extLst>
      <p:ext uri="{BB962C8B-B14F-4D97-AF65-F5344CB8AC3E}">
        <p14:creationId xmlns:p14="http://schemas.microsoft.com/office/powerpoint/2010/main" val="35857279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5996"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Tree>
    <p:extLst>
      <p:ext uri="{BB962C8B-B14F-4D97-AF65-F5344CB8AC3E}">
        <p14:creationId xmlns:p14="http://schemas.microsoft.com/office/powerpoint/2010/main" val="4077945381"/>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1"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91"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4" y="4"/>
            <a:ext cx="158752"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565"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71"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4" y="1665294"/>
            <a:ext cx="4333663" cy="4633911"/>
          </a:xfrm>
          <a:prstGeom prst="rect">
            <a:avLst/>
          </a:prstGeom>
        </p:spPr>
        <p:txBody>
          <a:bodyPr/>
          <a:lstStyle>
            <a:lvl1pPr>
              <a:tabLst>
                <a:tab pos="5829036" algn="r"/>
              </a:tabLst>
              <a:defRPr/>
            </a:lvl1pPr>
            <a:lvl2pPr>
              <a:tabLst>
                <a:tab pos="5829036" algn="r"/>
              </a:tabLst>
              <a:defRPr/>
            </a:lvl2pPr>
            <a:lvl3pPr>
              <a:tabLst>
                <a:tab pos="5829036" algn="r"/>
              </a:tabLst>
              <a:defRPr/>
            </a:lvl3pPr>
            <a:lvl4pPr>
              <a:tabLst>
                <a:tab pos="5829036" algn="r"/>
              </a:tabLst>
              <a:defRPr/>
            </a:lvl4pPr>
            <a:lvl5pPr>
              <a:tabLst>
                <a:tab pos="582903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3" y="736697"/>
            <a:ext cx="11252200" cy="757255"/>
          </a:xfrm>
          <a:prstGeom prst="rect">
            <a:avLst/>
          </a:prstGeom>
        </p:spPr>
        <p:txBody>
          <a:bodyPr lIns="0" tIns="0" rIns="0" bIns="0">
            <a:noAutofit/>
          </a:bodyPr>
          <a:lstStyle>
            <a:lvl1pPr marL="0" indent="0">
              <a:buNone/>
              <a:defRPr sz="1565"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3" y="402587"/>
            <a:ext cx="11252200" cy="334102"/>
          </a:xfrm>
          <a:prstGeom prst="rect">
            <a:avLst/>
          </a:prstGeom>
        </p:spPr>
        <p:txBody>
          <a:bodyPr vert="horz" lIns="0" tIns="0" rIns="0" bIns="0" rtlCol="0" anchor="t" anchorCtr="0">
            <a:noAutofit/>
          </a:bodyPr>
          <a:lstStyle>
            <a:lvl1pPr>
              <a:defRPr sz="1565"/>
            </a:lvl1pPr>
          </a:lstStyle>
          <a:p>
            <a:r>
              <a:rPr lang="en-US" noProof="0" dirty="0"/>
              <a:t>Click to edit Master title style</a:t>
            </a:r>
          </a:p>
        </p:txBody>
      </p:sp>
    </p:spTree>
    <p:extLst>
      <p:ext uri="{BB962C8B-B14F-4D97-AF65-F5344CB8AC3E}">
        <p14:creationId xmlns:p14="http://schemas.microsoft.com/office/powerpoint/2010/main" val="566579439"/>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5" y="317503"/>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2"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5" y="1665295"/>
            <a:ext cx="4456429" cy="4716463"/>
          </a:xfrm>
          <a:prstGeom prst="rect">
            <a:avLst/>
          </a:prstGeom>
        </p:spPr>
        <p:txBody>
          <a:bodyPr/>
          <a:lstStyle>
            <a:lvl1pPr>
              <a:tabLst>
                <a:tab pos="4371886" algn="r"/>
              </a:tabLst>
              <a:defRPr/>
            </a:lvl1pPr>
            <a:lvl2pPr>
              <a:tabLst>
                <a:tab pos="4371886" algn="r"/>
              </a:tabLst>
              <a:defRPr/>
            </a:lvl2pPr>
            <a:lvl3pPr>
              <a:tabLst>
                <a:tab pos="4371886" algn="r"/>
              </a:tabLst>
              <a:defRPr/>
            </a:lvl3pPr>
            <a:lvl4pPr>
              <a:tabLst>
                <a:tab pos="4371886" algn="r"/>
              </a:tabLst>
              <a:defRPr/>
            </a:lvl4pPr>
            <a:lvl5pPr>
              <a:tabLst>
                <a:tab pos="437188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51378997"/>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3" y="402592"/>
            <a:ext cx="11252200" cy="698501"/>
          </a:xfrm>
          <a:prstGeom prst="rect">
            <a:avLst/>
          </a:prstGeom>
        </p:spPr>
        <p:txBody>
          <a:bodyPr vert="horz" lIns="0" tIns="0" rIns="0" bIns="0" rtlCol="0" anchor="t" anchorCtr="0">
            <a:noAutofit/>
          </a:bodyPr>
          <a:lstStyle>
            <a:lvl1pPr>
              <a:defRPr sz="2086"/>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3" y="736697"/>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6" y="1665293"/>
            <a:ext cx="9348787" cy="4633910"/>
          </a:xfrm>
          <a:prstGeom prst="rect">
            <a:avLst/>
          </a:prstGeom>
        </p:spPr>
        <p:txBody>
          <a:bodyPr/>
          <a:lstStyle>
            <a:lvl1pPr>
              <a:tabLst>
                <a:tab pos="7799649" algn="r"/>
              </a:tabLst>
              <a:defRPr/>
            </a:lvl1pPr>
            <a:lvl2pPr>
              <a:tabLst>
                <a:tab pos="7799649" algn="r"/>
              </a:tabLst>
              <a:defRPr/>
            </a:lvl2pPr>
            <a:lvl3pPr>
              <a:tabLst>
                <a:tab pos="7799649" algn="r"/>
              </a:tabLst>
              <a:defRPr/>
            </a:lvl3pPr>
            <a:lvl4pPr>
              <a:tabLst>
                <a:tab pos="7799649" algn="r"/>
              </a:tabLst>
              <a:defRPr/>
            </a:lvl4pPr>
            <a:lvl5pPr>
              <a:tabLst>
                <a:tab pos="5829036" algn="r"/>
              </a:tabLst>
              <a:defRPr baseline="0"/>
            </a:lvl5pPr>
            <a:lvl6pPr marL="413082" indent="0">
              <a:buNone/>
              <a:tabLst>
                <a:tab pos="7799649" algn="r"/>
              </a:tabLst>
              <a:defRPr/>
            </a:lvl6pPr>
            <a:lvl7pPr>
              <a:tabLst>
                <a:tab pos="7799649" algn="r"/>
              </a:tabLst>
              <a:defRPr/>
            </a:lvl7pPr>
            <a:lvl8pPr>
              <a:tabLst>
                <a:tab pos="7799649" algn="r"/>
              </a:tabLst>
              <a:defRPr/>
            </a:lvl8pPr>
            <a:lvl9pPr>
              <a:tabLst>
                <a:tab pos="7799649"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542308925"/>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3" y="402592"/>
            <a:ext cx="11252200" cy="698501"/>
          </a:xfrm>
          <a:prstGeom prst="rect">
            <a:avLst/>
          </a:prstGeom>
        </p:spPr>
        <p:txBody>
          <a:bodyPr vert="horz" lIns="0" tIns="0" rIns="0" bIns="0" rtlCol="0" anchor="t" anchorCtr="0">
            <a:noAutofit/>
          </a:bodyPr>
          <a:lstStyle>
            <a:lvl1pPr>
              <a:defRPr sz="2086"/>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3" y="736697"/>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3" y="1676408"/>
            <a:ext cx="11252200" cy="4622799"/>
          </a:xfrm>
          <a:prstGeom prst="rect">
            <a:avLst/>
          </a:prstGeom>
        </p:spPr>
        <p:txBody>
          <a:bodyPr vert="horz" lIns="0" tIns="0" rIns="0" bIns="0" rtlCol="0">
            <a:noAutofit/>
          </a:bodyPr>
          <a:lstStyle>
            <a:lvl1pPr>
              <a:defRPr sz="1391"/>
            </a:lvl1pPr>
            <a:lvl2pPr>
              <a:defRPr sz="1391"/>
            </a:lvl2pPr>
            <a:lvl3pPr>
              <a:defRPr sz="1391"/>
            </a:lvl3pPr>
            <a:lvl4pPr>
              <a:defRPr sz="1391"/>
            </a:lvl4pPr>
            <a:lvl5pPr>
              <a:defRPr sz="1391"/>
            </a:lvl5pPr>
            <a:lvl6pPr>
              <a:defRPr sz="1391"/>
            </a:lvl6pPr>
            <a:lvl7pPr>
              <a:defRPr sz="1391"/>
            </a:lvl7pPr>
            <a:lvl8pPr>
              <a:defRPr sz="1391"/>
            </a:lvl8pPr>
            <a:lvl9pPr>
              <a:defRPr sz="1391"/>
            </a:lvl9p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566736923"/>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402593"/>
            <a:ext cx="11252200" cy="356701"/>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2" y="779470"/>
            <a:ext cx="11106912" cy="192617"/>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391"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2"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0131091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6"/>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1675939462"/>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3" y="402592"/>
            <a:ext cx="11252200" cy="698501"/>
          </a:xfrm>
          <a:prstGeom prst="rect">
            <a:avLst/>
          </a:prstGeom>
        </p:spPr>
        <p:txBody>
          <a:bodyPr vert="horz" lIns="0" tIns="0" rIns="0" bIns="0" rtlCol="0" anchor="t" anchorCtr="0">
            <a:noAutofit/>
          </a:bodyPr>
          <a:lstStyle>
            <a:lvl1pPr>
              <a:defRPr sz="2086"/>
            </a:lvl1pPr>
          </a:lstStyle>
          <a:p>
            <a:r>
              <a:rPr lang="en-GB" noProof="0" dirty="0"/>
              <a:t>Click to edit Master title style</a:t>
            </a:r>
            <a:endParaRPr lang="en-GB" dirty="0"/>
          </a:p>
        </p:txBody>
      </p:sp>
      <p:sp>
        <p:nvSpPr>
          <p:cNvPr id="4" name="Text Placeholder 8"/>
          <p:cNvSpPr>
            <a:spLocks noGrp="1"/>
          </p:cNvSpPr>
          <p:nvPr>
            <p:ph type="body" sz="quarter" idx="13" hasCustomPrompt="1"/>
          </p:nvPr>
        </p:nvSpPr>
        <p:spPr>
          <a:xfrm>
            <a:off x="469903" y="736697"/>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3" y="1665294"/>
            <a:ext cx="11252200" cy="463391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991637728"/>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129" spc="-65" dirty="0">
                <a:latin typeface="+mj-lt"/>
              </a:defRPr>
            </a:lvl1pPr>
          </a:lstStyle>
          <a:p>
            <a:pPr lvl="0" defTabSz="596166">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043"/>
            </a:lvl1pPr>
          </a:lstStyle>
          <a:p>
            <a:pPr marL="198722" lvl="0" indent="-198722">
              <a:lnSpc>
                <a:spcPct val="130000"/>
              </a:lnSpc>
            </a:pPr>
            <a:r>
              <a:rPr lang="en-US"/>
              <a:t>Edit Master text styles</a:t>
            </a:r>
          </a:p>
        </p:txBody>
      </p:sp>
      <p:sp>
        <p:nvSpPr>
          <p:cNvPr id="8" name="Text Placeholder 5"/>
          <p:cNvSpPr>
            <a:spLocks noGrp="1"/>
          </p:cNvSpPr>
          <p:nvPr>
            <p:ph type="body" sz="quarter" idx="15" hasCustomPrompt="1"/>
          </p:nvPr>
        </p:nvSpPr>
        <p:spPr>
          <a:xfrm>
            <a:off x="914972" y="466346"/>
            <a:ext cx="3355848" cy="203200"/>
          </a:xfrm>
        </p:spPr>
        <p:txBody>
          <a:bodyPr vert="horz" lIns="0" tIns="0" rIns="0" bIns="0" rtlCol="0">
            <a:noAutofit/>
          </a:bodyPr>
          <a:lstStyle>
            <a:lvl1pPr marL="0" indent="0">
              <a:buNone/>
              <a:defRPr lang="en-US" sz="783" b="1" kern="0" cap="all" spc="217" baseline="0" dirty="0">
                <a:solidFill>
                  <a:schemeClr val="accent5">
                    <a:lumMod val="60000"/>
                    <a:lumOff val="40000"/>
                  </a:schemeClr>
                </a:solidFill>
                <a:ea typeface="Nexa Black" charset="0"/>
                <a:cs typeface="Nexa Black" charset="0"/>
              </a:defRPr>
            </a:lvl1pPr>
          </a:lstStyle>
          <a:p>
            <a:pPr marL="198722" lvl="0" indent="-198722"/>
            <a:r>
              <a:rPr lang="en-US" dirty="0"/>
              <a:t>BREADCRUMBS</a:t>
            </a:r>
          </a:p>
        </p:txBody>
      </p:sp>
    </p:spTree>
    <p:extLst>
      <p:ext uri="{BB962C8B-B14F-4D97-AF65-F5344CB8AC3E}">
        <p14:creationId xmlns:p14="http://schemas.microsoft.com/office/powerpoint/2010/main" val="270129811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3" y="736714"/>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3" y="402587"/>
            <a:ext cx="11252200" cy="334102"/>
          </a:xfrm>
          <a:prstGeom prst="rect">
            <a:avLst/>
          </a:prstGeom>
        </p:spPr>
        <p:txBody>
          <a:bodyPr vert="horz" lIns="0" tIns="0" rIns="0" bIns="0" rtlCol="0" anchor="t" anchorCtr="0">
            <a:noAutofit/>
          </a:bodyPr>
          <a:lstStyle>
            <a:lvl1pPr>
              <a:defRPr sz="1739"/>
            </a:lvl1pPr>
          </a:lstStyle>
          <a:p>
            <a:r>
              <a:rPr lang="en-US" noProof="0" dirty="0"/>
              <a:t>Click to edit Master title style</a:t>
            </a:r>
          </a:p>
        </p:txBody>
      </p:sp>
      <p:sp>
        <p:nvSpPr>
          <p:cNvPr id="8" name="Text Placeholder 18"/>
          <p:cNvSpPr>
            <a:spLocks noGrp="1"/>
          </p:cNvSpPr>
          <p:nvPr>
            <p:ph idx="1"/>
          </p:nvPr>
        </p:nvSpPr>
        <p:spPr>
          <a:xfrm>
            <a:off x="469903" y="1665819"/>
            <a:ext cx="11252200" cy="4633383"/>
          </a:xfrm>
          <a:prstGeom prst="rect">
            <a:avLst/>
          </a:prstGeom>
        </p:spPr>
        <p:txBody>
          <a:bodyPr vert="horz" lIns="0" tIns="0" rIns="0" bIns="0" rtlCol="0">
            <a:noAutofit/>
          </a:bodyPr>
          <a:lstStyle>
            <a:lvl1pPr marL="0" indent="0" algn="l">
              <a:buFontTx/>
              <a:buNone/>
              <a:defRPr/>
            </a:lvl1pPr>
            <a:lvl2pPr marL="110396" indent="-110396" algn="l">
              <a:buClrTx/>
              <a:buSzPct val="100000"/>
              <a:buFont typeface="Arial" panose="020B0604020202020204" pitchFamily="34" charset="0"/>
              <a:buChar char="•"/>
              <a:defRPr/>
            </a:lvl2pPr>
            <a:lvl3pPr marL="242871" indent="-110396" algn="l">
              <a:buClrTx/>
              <a:buSzPct val="100000"/>
              <a:buFont typeface="Arial" panose="020B0604020202020204" pitchFamily="34" charset="0"/>
              <a:buChar char="−"/>
              <a:defRPr/>
            </a:lvl3pPr>
            <a:lvl4pPr marL="375345" indent="-110396" algn="l">
              <a:buClrTx/>
              <a:buSzPct val="100000"/>
              <a:buFont typeface="Arial" panose="020B0604020202020204" pitchFamily="34" charset="0"/>
              <a:buChar char="◦"/>
              <a:defRPr/>
            </a:lvl4pPr>
            <a:lvl5pPr marL="507820" indent="-110396"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398172528"/>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2_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739"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3" y="317503"/>
            <a:ext cx="11188700" cy="698500"/>
          </a:xfrm>
        </p:spPr>
        <p:txBody>
          <a:bodyPr/>
          <a:lstStyle/>
          <a:p>
            <a:r>
              <a:rPr lang="en-US" noProof="0" dirty="0"/>
              <a:t>Click to edit Master title style</a:t>
            </a:r>
          </a:p>
        </p:txBody>
      </p:sp>
      <p:sp>
        <p:nvSpPr>
          <p:cNvPr id="14" name="Text Placeholder 18"/>
          <p:cNvSpPr>
            <a:spLocks noGrp="1"/>
          </p:cNvSpPr>
          <p:nvPr>
            <p:ph idx="1"/>
          </p:nvPr>
        </p:nvSpPr>
        <p:spPr>
          <a:xfrm>
            <a:off x="501654" y="1665292"/>
            <a:ext cx="11165417"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219396466"/>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endParaRPr lang="en-GB" noProof="0" dirty="0"/>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565" b="1">
                <a:solidFill>
                  <a:schemeClr val="tx1"/>
                </a:solidFill>
                <a:latin typeface="+mj-lt"/>
                <a:ea typeface="Open Sans" panose="020B0606030504020204" pitchFamily="34" charset="0"/>
                <a:cs typeface="Open Sans" panose="020B0606030504020204" pitchFamily="34" charset="0"/>
              </a:defRPr>
            </a:lvl1pPr>
          </a:lstStyle>
          <a:p>
            <a:r>
              <a:rPr lang="en-GB" dirty="0"/>
              <a:t>Presentation  title runs here</a:t>
            </a:r>
            <a:endParaRPr lang="en-GB" noProof="0" dirty="0"/>
          </a:p>
        </p:txBody>
      </p:sp>
      <p:sp>
        <p:nvSpPr>
          <p:cNvPr id="3" name="Subtitle"/>
          <p:cNvSpPr>
            <a:spLocks noGrp="1"/>
          </p:cNvSpPr>
          <p:nvPr>
            <p:ph type="subTitle" idx="1" hasCustomPrompt="1"/>
          </p:nvPr>
        </p:nvSpPr>
        <p:spPr bwMode="gray">
          <a:xfrm>
            <a:off x="475200" y="5845189"/>
            <a:ext cx="5620800" cy="505645"/>
          </a:xfrm>
          <a:prstGeom prst="rect">
            <a:avLst/>
          </a:prstGeom>
        </p:spPr>
        <p:txBody>
          <a:bodyPr lIns="0" tIns="0" rIns="0" bIns="0">
            <a:noAutofit/>
          </a:bodyPr>
          <a:lstStyle>
            <a:lvl1pPr marL="0" indent="0" algn="l">
              <a:lnSpc>
                <a:spcPct val="100000"/>
              </a:lnSpc>
              <a:spcAft>
                <a:spcPts val="0"/>
              </a:spcAft>
              <a:buNone/>
              <a:defRPr sz="1391">
                <a:solidFill>
                  <a:schemeClr val="tx1"/>
                </a:solidFill>
              </a:defRPr>
            </a:lvl1pPr>
            <a:lvl2pPr marL="529900" indent="0" algn="ctr">
              <a:buNone/>
              <a:defRPr sz="2318"/>
            </a:lvl2pPr>
            <a:lvl3pPr marL="1059800" indent="0" algn="ctr">
              <a:buNone/>
              <a:defRPr sz="2086"/>
            </a:lvl3pPr>
            <a:lvl4pPr marL="1589699" indent="0" algn="ctr">
              <a:buNone/>
              <a:defRPr sz="1854"/>
            </a:lvl4pPr>
            <a:lvl5pPr marL="2119598" indent="0" algn="ctr">
              <a:buNone/>
              <a:defRPr sz="1854"/>
            </a:lvl5pPr>
            <a:lvl6pPr marL="2649499" indent="0" algn="ctr">
              <a:buNone/>
              <a:defRPr sz="1854"/>
            </a:lvl6pPr>
            <a:lvl7pPr marL="3179398" indent="0" algn="ctr">
              <a:buNone/>
              <a:defRPr sz="1854"/>
            </a:lvl7pPr>
            <a:lvl8pPr marL="3709298" indent="0" algn="ctr">
              <a:buNone/>
              <a:defRPr sz="1854"/>
            </a:lvl8pPr>
            <a:lvl9pPr marL="4239197" indent="0" algn="ctr">
              <a:buNone/>
              <a:defRPr sz="1854"/>
            </a:lvl9pPr>
          </a:lstStyle>
          <a:p>
            <a:pPr lvl="0"/>
            <a:r>
              <a:rPr lang="en-GB" dirty="0"/>
              <a:t>Subtitle here two lines max</a:t>
            </a:r>
            <a:endParaRPr lang="en-GB"/>
          </a:p>
        </p:txBody>
      </p:sp>
      <p:sp>
        <p:nvSpPr>
          <p:cNvPr id="18" name="SD_ART_Logo_White"/>
          <p:cNvSpPr/>
          <p:nvPr userDrawn="1"/>
        </p:nvSpPr>
        <p:spPr>
          <a:xfrm>
            <a:off x="475439"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65" dirty="0"/>
          </a:p>
        </p:txBody>
      </p:sp>
      <p:pic>
        <p:nvPicPr>
          <p:cNvPr id="678483047" name="LogoFrontSlid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14005" y="504003"/>
            <a:ext cx="1655999" cy="725867"/>
          </a:xfrm>
          <a:prstGeom prst="rect">
            <a:avLst/>
          </a:prstGeom>
        </p:spPr>
      </p:pic>
      <p:sp>
        <p:nvSpPr>
          <p:cNvPr id="4" name="Footer Placeholder 3" hidden="1"/>
          <p:cNvSpPr>
            <a:spLocks noGrp="1"/>
          </p:cNvSpPr>
          <p:nvPr>
            <p:ph type="ftr" sz="quarter" idx="12"/>
          </p:nvPr>
        </p:nvSpPr>
        <p:spPr>
          <a:xfrm>
            <a:off x="6184905" y="6477000"/>
            <a:ext cx="4536727"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32459515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5996" userDrawn="1">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77282" tIns="77282" rIns="77282" bIns="77282" rtlCol="0" anchor="ctr"/>
          <a:lstStyle/>
          <a:p>
            <a:pPr algn="ctr">
              <a:lnSpc>
                <a:spcPct val="106000"/>
              </a:lnSpc>
              <a:buFont typeface="Wingdings 2" pitchFamily="18" charset="2"/>
              <a:buNone/>
            </a:pPr>
            <a:endParaRPr lang="en-GB" sz="1391" b="1" dirty="0">
              <a:solidFill>
                <a:schemeClr val="tx1"/>
              </a:solidFill>
            </a:endParaRPr>
          </a:p>
        </p:txBody>
      </p:sp>
      <p:sp>
        <p:nvSpPr>
          <p:cNvPr id="18" name="Title 1"/>
          <p:cNvSpPr>
            <a:spLocks noGrp="1"/>
          </p:cNvSpPr>
          <p:nvPr>
            <p:ph type="title"/>
          </p:nvPr>
        </p:nvSpPr>
        <p:spPr bwMode="gray">
          <a:xfrm>
            <a:off x="469905" y="1705672"/>
            <a:ext cx="10418233" cy="1592403"/>
          </a:xfrm>
        </p:spPr>
        <p:txBody>
          <a:bodyPr anchor="b"/>
          <a:lstStyle>
            <a:lvl1pPr>
              <a:lnSpc>
                <a:spcPct val="95000"/>
              </a:lnSpc>
              <a:defRPr sz="3347"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5" y="3429000"/>
            <a:ext cx="10418233" cy="1566532"/>
          </a:xfrm>
        </p:spPr>
        <p:txBody>
          <a:bodyPr lIns="0" tIns="0" rIns="0" bIns="0">
            <a:noAutofit/>
          </a:bodyPr>
          <a:lstStyle>
            <a:lvl1pPr marL="0" indent="0">
              <a:lnSpc>
                <a:spcPct val="95000"/>
              </a:lnSpc>
              <a:spcAft>
                <a:spcPts val="0"/>
              </a:spcAft>
              <a:buNone/>
              <a:defRPr sz="3347">
                <a:solidFill>
                  <a:schemeClr val="tx1"/>
                </a:solidFill>
              </a:defRPr>
            </a:lvl1pPr>
            <a:lvl2pPr marL="529900" indent="0">
              <a:buNone/>
              <a:defRPr sz="2318">
                <a:solidFill>
                  <a:schemeClr val="tx1">
                    <a:tint val="75000"/>
                  </a:schemeClr>
                </a:solidFill>
              </a:defRPr>
            </a:lvl2pPr>
            <a:lvl3pPr marL="1059800" indent="0">
              <a:buNone/>
              <a:defRPr sz="2086">
                <a:solidFill>
                  <a:schemeClr val="tx1">
                    <a:tint val="75000"/>
                  </a:schemeClr>
                </a:solidFill>
              </a:defRPr>
            </a:lvl3pPr>
            <a:lvl4pPr marL="1589699" indent="0">
              <a:buNone/>
              <a:defRPr sz="1854">
                <a:solidFill>
                  <a:schemeClr val="tx1">
                    <a:tint val="75000"/>
                  </a:schemeClr>
                </a:solidFill>
              </a:defRPr>
            </a:lvl4pPr>
            <a:lvl5pPr marL="2119598" indent="0">
              <a:buNone/>
              <a:defRPr sz="1854">
                <a:solidFill>
                  <a:schemeClr val="tx1">
                    <a:tint val="75000"/>
                  </a:schemeClr>
                </a:solidFill>
              </a:defRPr>
            </a:lvl5pPr>
            <a:lvl6pPr marL="2649499" indent="0">
              <a:buNone/>
              <a:defRPr sz="1854">
                <a:solidFill>
                  <a:schemeClr val="tx1">
                    <a:tint val="75000"/>
                  </a:schemeClr>
                </a:solidFill>
              </a:defRPr>
            </a:lvl6pPr>
            <a:lvl7pPr marL="3179398" indent="0">
              <a:buNone/>
              <a:defRPr sz="1854">
                <a:solidFill>
                  <a:schemeClr val="tx1">
                    <a:tint val="75000"/>
                  </a:schemeClr>
                </a:solidFill>
              </a:defRPr>
            </a:lvl7pPr>
            <a:lvl8pPr marL="3709298" indent="0">
              <a:buNone/>
              <a:defRPr sz="1854">
                <a:solidFill>
                  <a:schemeClr val="tx1">
                    <a:tint val="75000"/>
                  </a:schemeClr>
                </a:solidFill>
              </a:defRPr>
            </a:lvl8pPr>
            <a:lvl9pPr marL="4239197" indent="0">
              <a:buNone/>
              <a:defRPr sz="1854">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9" y="6659888"/>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GB" sz="565" noProof="0">
                <a:solidFill>
                  <a:schemeClr val="tx1"/>
                </a:solidFill>
              </a:rPr>
              <a:pPr marL="0" indent="0" algn="r">
                <a:spcBef>
                  <a:spcPts val="695"/>
                </a:spcBef>
                <a:buSzPct val="100000"/>
                <a:buFont typeface="Arial"/>
                <a:buNone/>
              </a:pPr>
              <a:t>‹#›</a:t>
            </a:fld>
            <a:endParaRPr lang="en-GB" sz="565" noProof="0" dirty="0">
              <a:solidFill>
                <a:schemeClr val="tx1"/>
              </a:solidFill>
            </a:endParaRPr>
          </a:p>
        </p:txBody>
      </p:sp>
      <p:sp>
        <p:nvSpPr>
          <p:cNvPr id="2" name="Footer Placeholder 1"/>
          <p:cNvSpPr>
            <a:spLocks noGrp="1"/>
          </p:cNvSpPr>
          <p:nvPr>
            <p:ph type="ftr" sz="quarter" idx="10"/>
          </p:nvPr>
        </p:nvSpPr>
        <p:spPr>
          <a:xfrm>
            <a:off x="6184905" y="6477000"/>
            <a:ext cx="4536727" cy="244476"/>
          </a:xfrm>
          <a:prstGeom prst="rect">
            <a:avLst/>
          </a:prstGeom>
        </p:spPr>
        <p:txBody>
          <a:bodyPr/>
          <a:lstStyle/>
          <a:p>
            <a:endParaRPr lang="en-GB" dirty="0"/>
          </a:p>
        </p:txBody>
      </p:sp>
      <p:sp>
        <p:nvSpPr>
          <p:cNvPr id="8" name="TextBox 7"/>
          <p:cNvSpPr txBox="1"/>
          <p:nvPr userDrawn="1"/>
        </p:nvSpPr>
        <p:spPr>
          <a:xfrm>
            <a:off x="501651" y="6654810"/>
            <a:ext cx="5355168" cy="201260"/>
          </a:xfrm>
          <a:prstGeom prst="rect">
            <a:avLst/>
          </a:prstGeom>
          <a:noFill/>
        </p:spPr>
        <p:txBody>
          <a:bodyPr wrap="square" lIns="0" tIns="0" rIns="0" bIns="0" rtlCol="0">
            <a:noAutofit/>
          </a:bodyPr>
          <a:lstStyle/>
          <a:p>
            <a:pPr marL="0" indent="0">
              <a:spcBef>
                <a:spcPts val="623"/>
              </a:spcBef>
              <a:buSzPct val="100000"/>
              <a:buFont typeface="Arial"/>
              <a:buNone/>
            </a:pPr>
            <a:r>
              <a:rPr lang="fr-FR" sz="565" noProof="0" dirty="0">
                <a:solidFill>
                  <a:schemeClr val="tx1"/>
                </a:solidFill>
              </a:rPr>
              <a:t>© 2020 Deloitte Touche Tohmatsu India LLP</a:t>
            </a:r>
          </a:p>
        </p:txBody>
      </p:sp>
    </p:spTree>
    <p:extLst>
      <p:ext uri="{BB962C8B-B14F-4D97-AF65-F5344CB8AC3E}">
        <p14:creationId xmlns:p14="http://schemas.microsoft.com/office/powerpoint/2010/main" val="217538313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4"/>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917897474"/>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3250471497"/>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8"/>
            <a:ext cx="11252200" cy="4622799"/>
          </a:xfrm>
          <a:prstGeom prst="rect">
            <a:avLst/>
          </a:prstGeom>
        </p:spPr>
        <p:txBody>
          <a:bodyPr vert="horz" lIns="0" tIns="0" rIns="0" bIns="0" rtlCol="0">
            <a:noAutofit/>
          </a:bodyPr>
          <a:lstStyle>
            <a:lvl1pPr>
              <a:defRPr sz="1391"/>
            </a:lvl1pPr>
            <a:lvl2pPr>
              <a:defRPr sz="1391"/>
            </a:lvl2pPr>
            <a:lvl3pPr>
              <a:defRPr sz="1391"/>
            </a:lvl3pPr>
            <a:lvl4pPr>
              <a:defRPr sz="1391"/>
            </a:lvl4pPr>
            <a:lvl5pPr>
              <a:defRPr sz="1391"/>
            </a:lvl5pPr>
            <a:lvl6pPr>
              <a:defRPr sz="1391"/>
            </a:lvl6pPr>
            <a:lvl7pPr>
              <a:defRPr sz="1391"/>
            </a:lvl7pPr>
            <a:lvl8pPr>
              <a:defRPr sz="1391"/>
            </a:lvl8pPr>
            <a:lvl9pPr>
              <a:defRPr sz="1391"/>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2261506538"/>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8"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18" name="Text Placeholder 8"/>
          <p:cNvSpPr>
            <a:spLocks noGrp="1"/>
          </p:cNvSpPr>
          <p:nvPr>
            <p:ph type="body" sz="quarter" idx="18"/>
          </p:nvPr>
        </p:nvSpPr>
        <p:spPr>
          <a:xfrm>
            <a:off x="468000" y="1684872"/>
            <a:ext cx="11252200" cy="357187"/>
          </a:xfrm>
        </p:spPr>
        <p:txBody>
          <a:bodyPr/>
          <a:lstStyle/>
          <a:p>
            <a:pPr lvl="0"/>
            <a:r>
              <a:rPr lang="en-GB" noProof="0"/>
              <a:t>Edit Master text styles</a:t>
            </a:r>
            <a:endParaRPr lang="en-GB"/>
          </a:p>
        </p:txBody>
      </p:sp>
      <p:sp>
        <p:nvSpPr>
          <p:cNvPr id="19" name="Text Placeholder 7"/>
          <p:cNvSpPr>
            <a:spLocks noGrp="1"/>
          </p:cNvSpPr>
          <p:nvPr>
            <p:ph type="body" sz="quarter" idx="23"/>
          </p:nvPr>
        </p:nvSpPr>
        <p:spPr>
          <a:xfrm>
            <a:off x="468004" y="5982798"/>
            <a:ext cx="11252201" cy="316411"/>
          </a:xfrm>
        </p:spPr>
        <p:txBody>
          <a:bodyPr>
            <a:noAutofit/>
          </a:bodyPr>
          <a:lstStyle>
            <a:lvl1pPr>
              <a:spcAft>
                <a:spcPts val="0"/>
              </a:spcAft>
              <a:defRPr sz="783"/>
            </a:lvl1pPr>
          </a:lstStyle>
          <a:p>
            <a:pPr lvl="0"/>
            <a:r>
              <a:rPr lang="en-GB" noProof="0"/>
              <a:t>Edit Master text styles</a:t>
            </a:r>
            <a:endParaRPr lang="en-GB"/>
          </a:p>
        </p:txBody>
      </p:sp>
      <p:sp>
        <p:nvSpPr>
          <p:cNvPr id="17" name="Chart Placeholder 3"/>
          <p:cNvSpPr>
            <a:spLocks noGrp="1"/>
          </p:cNvSpPr>
          <p:nvPr>
            <p:ph type="chart" sz="quarter" idx="15"/>
          </p:nvPr>
        </p:nvSpPr>
        <p:spPr>
          <a:xfrm>
            <a:off x="468000" y="2036659"/>
            <a:ext cx="11252200" cy="3946134"/>
          </a:xfrm>
          <a:prstGeom prst="rect">
            <a:avLst/>
          </a:prstGeom>
        </p:spPr>
        <p:txBody>
          <a:bodyPr/>
          <a:lstStyle/>
          <a:p>
            <a:r>
              <a:rPr lang="en-GB" noProof="0"/>
              <a:t>Click icon to add chart</a:t>
            </a:r>
            <a:endParaRPr lang="en-GB" noProof="0" dirty="0"/>
          </a:p>
        </p:txBody>
      </p:sp>
      <p:sp>
        <p:nvSpPr>
          <p:cNvPr id="2" name="Footer Placeholder 1"/>
          <p:cNvSpPr>
            <a:spLocks noGrp="1"/>
          </p:cNvSpPr>
          <p:nvPr>
            <p:ph type="ftr" sz="quarter" idx="2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4096492078"/>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95"/>
            <a:ext cx="5328000" cy="4622507"/>
          </a:xfrm>
          <a:prstGeom prst="rect">
            <a:avLst/>
          </a:prstGeom>
        </p:spPr>
        <p:txBody>
          <a:bodyPr/>
          <a:lstStyle>
            <a:lvl1pPr>
              <a:spcAft>
                <a:spcPts val="435"/>
              </a:spcAft>
              <a:tabLst>
                <a:tab pos="5828897" algn="r"/>
              </a:tabLst>
              <a:defRPr sz="957"/>
            </a:lvl1pPr>
            <a:lvl2pPr>
              <a:spcAft>
                <a:spcPts val="435"/>
              </a:spcAft>
              <a:tabLst>
                <a:tab pos="5828897" algn="r"/>
              </a:tabLst>
              <a:defRPr sz="957"/>
            </a:lvl2pPr>
            <a:lvl3pPr>
              <a:spcAft>
                <a:spcPts val="435"/>
              </a:spcAft>
              <a:tabLst>
                <a:tab pos="5828897" algn="r"/>
              </a:tabLst>
              <a:defRPr sz="957"/>
            </a:lvl3pPr>
            <a:lvl4pPr>
              <a:spcAft>
                <a:spcPts val="435"/>
              </a:spcAft>
              <a:tabLst>
                <a:tab pos="5828897" algn="r"/>
              </a:tabLst>
              <a:defRPr sz="957"/>
            </a:lvl4pPr>
            <a:lvl5pPr>
              <a:spcAft>
                <a:spcPts val="435"/>
              </a:spcAft>
              <a:tabLst>
                <a:tab pos="5828897" algn="r"/>
              </a:tabLst>
              <a:defRPr sz="957"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15" name="Content Placeholder 3"/>
          <p:cNvSpPr>
            <a:spLocks noGrp="1"/>
          </p:cNvSpPr>
          <p:nvPr>
            <p:ph sz="quarter" idx="20"/>
          </p:nvPr>
        </p:nvSpPr>
        <p:spPr>
          <a:xfrm>
            <a:off x="6394100" y="1656008"/>
            <a:ext cx="5328000" cy="4631795"/>
          </a:xfrm>
          <a:prstGeom prst="rect">
            <a:avLst/>
          </a:prstGeom>
        </p:spPr>
        <p:txBody>
          <a:bodyPr/>
          <a:lstStyle>
            <a:lvl1pPr>
              <a:spcAft>
                <a:spcPts val="435"/>
              </a:spcAft>
              <a:tabLst>
                <a:tab pos="5828897" algn="r"/>
              </a:tabLst>
              <a:defRPr sz="957"/>
            </a:lvl1pPr>
            <a:lvl2pPr>
              <a:spcAft>
                <a:spcPts val="435"/>
              </a:spcAft>
              <a:tabLst>
                <a:tab pos="5828897" algn="r"/>
              </a:tabLst>
              <a:defRPr sz="957"/>
            </a:lvl2pPr>
            <a:lvl3pPr>
              <a:spcAft>
                <a:spcPts val="435"/>
              </a:spcAft>
              <a:tabLst>
                <a:tab pos="5828897" algn="r"/>
              </a:tabLst>
              <a:defRPr sz="957"/>
            </a:lvl3pPr>
            <a:lvl4pPr>
              <a:spcAft>
                <a:spcPts val="435"/>
              </a:spcAft>
              <a:tabLst>
                <a:tab pos="5828897" algn="r"/>
              </a:tabLst>
              <a:defRPr sz="957"/>
            </a:lvl4pPr>
            <a:lvl5pPr>
              <a:spcAft>
                <a:spcPts val="435"/>
              </a:spcAft>
              <a:tabLst>
                <a:tab pos="5828897" algn="r"/>
              </a:tabLst>
              <a:defRPr sz="957"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7"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1750961354"/>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6" y="2125020"/>
            <a:ext cx="5482516" cy="3857777"/>
          </a:xfrm>
        </p:spPr>
        <p:txBody>
          <a:bodyPr>
            <a:noAutofit/>
          </a:bodyPr>
          <a:lstStyle/>
          <a:p>
            <a:r>
              <a:rPr lang="en-GB" noProof="0"/>
              <a:t>Click icon to add chart</a:t>
            </a:r>
            <a:endParaRPr lang="en-GB" noProof="0" dirty="0"/>
          </a:p>
        </p:txBody>
      </p:sp>
      <p:sp>
        <p:nvSpPr>
          <p:cNvPr id="6" name="Text Placeholder 5"/>
          <p:cNvSpPr>
            <a:spLocks noGrp="1"/>
          </p:cNvSpPr>
          <p:nvPr>
            <p:ph type="body" sz="quarter" idx="22"/>
          </p:nvPr>
        </p:nvSpPr>
        <p:spPr>
          <a:xfrm>
            <a:off x="6239587" y="1654032"/>
            <a:ext cx="5482516" cy="420687"/>
          </a:xfrm>
        </p:spPr>
        <p:txBody>
          <a:bodyPr>
            <a:noAutofit/>
          </a:bodyPr>
          <a:lstStyle/>
          <a:p>
            <a:pPr lvl="0"/>
            <a:r>
              <a:rPr lang="en-GB" noProof="0"/>
              <a:t>Edit Master text styles</a:t>
            </a:r>
            <a:endParaRPr lang="en-GB"/>
          </a:p>
        </p:txBody>
      </p:sp>
      <p:sp>
        <p:nvSpPr>
          <p:cNvPr id="9" name="Chart Placeholder 2"/>
          <p:cNvSpPr>
            <a:spLocks noGrp="1"/>
          </p:cNvSpPr>
          <p:nvPr>
            <p:ph type="chart" sz="quarter" idx="24"/>
          </p:nvPr>
        </p:nvSpPr>
        <p:spPr>
          <a:xfrm>
            <a:off x="469902" y="2125020"/>
            <a:ext cx="5482518" cy="3857777"/>
          </a:xfrm>
        </p:spPr>
        <p:txBody>
          <a:bodyPr>
            <a:noAutofit/>
          </a:bodyPr>
          <a:lstStyle/>
          <a:p>
            <a:r>
              <a:rPr lang="en-GB" noProof="0"/>
              <a:t>Click icon to add chart</a:t>
            </a:r>
            <a:endParaRPr lang="en-GB" noProof="0" dirty="0"/>
          </a:p>
        </p:txBody>
      </p:sp>
      <p:sp>
        <p:nvSpPr>
          <p:cNvPr id="12" name="Text Placeholder 5"/>
          <p:cNvSpPr>
            <a:spLocks noGrp="1"/>
          </p:cNvSpPr>
          <p:nvPr>
            <p:ph type="body" sz="quarter" idx="25"/>
          </p:nvPr>
        </p:nvSpPr>
        <p:spPr>
          <a:xfrm>
            <a:off x="469902" y="1665295"/>
            <a:ext cx="5482518" cy="409427"/>
          </a:xfrm>
        </p:spPr>
        <p:txBody>
          <a:bodyPr>
            <a:noAutofit/>
          </a:bodyPr>
          <a:lstStyle/>
          <a:p>
            <a:pPr lvl="0"/>
            <a:r>
              <a:rPr lang="en-GB" noProof="0"/>
              <a:t>Edit Master text styles</a:t>
            </a:r>
            <a:endParaRPr lang="en-GB"/>
          </a:p>
        </p:txBody>
      </p:sp>
      <p:sp>
        <p:nvSpPr>
          <p:cNvPr id="14" name="Text Placeholder 7"/>
          <p:cNvSpPr>
            <a:spLocks noGrp="1"/>
          </p:cNvSpPr>
          <p:nvPr>
            <p:ph type="body" sz="quarter" idx="23"/>
          </p:nvPr>
        </p:nvSpPr>
        <p:spPr>
          <a:xfrm>
            <a:off x="468004" y="5982798"/>
            <a:ext cx="11252201" cy="316411"/>
          </a:xfrm>
        </p:spPr>
        <p:txBody>
          <a:bodyPr>
            <a:noAutofit/>
          </a:bodyPr>
          <a:lstStyle>
            <a:lvl1pPr>
              <a:spcAft>
                <a:spcPts val="0"/>
              </a:spcAft>
              <a:defRPr sz="783"/>
            </a:lvl1pPr>
          </a:lstStyle>
          <a:p>
            <a:pPr lvl="0"/>
            <a:r>
              <a:rPr lang="en-GB" noProof="0"/>
              <a:t>Edit Master text styles</a:t>
            </a:r>
            <a:endParaRPr lang="en-GB"/>
          </a:p>
        </p:txBody>
      </p:sp>
      <p:sp>
        <p:nvSpPr>
          <p:cNvPr id="17"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6"/>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2432114390"/>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23" y="1626108"/>
            <a:ext cx="4266983" cy="4673101"/>
          </a:xfrm>
          <a:prstGeom prst="rect">
            <a:avLst/>
          </a:prstGeom>
        </p:spPr>
        <p:txBody>
          <a:bodyPr>
            <a:noAutofit/>
          </a:bodyPr>
          <a:lstStyle>
            <a:lvl1pPr>
              <a:tabLst>
                <a:tab pos="5828897" algn="r"/>
              </a:tabLst>
              <a:defRPr sz="2086">
                <a:solidFill>
                  <a:schemeClr val="accent3"/>
                </a:solidFill>
              </a:defRPr>
            </a:lvl1pPr>
            <a:lvl2pPr>
              <a:tabLst>
                <a:tab pos="5828897" algn="r"/>
              </a:tabLst>
              <a:defRPr/>
            </a:lvl2pPr>
            <a:lvl3pPr>
              <a:tabLst>
                <a:tab pos="5828897" algn="r"/>
              </a:tabLst>
              <a:defRPr/>
            </a:lvl3pPr>
            <a:lvl4pPr>
              <a:tabLst>
                <a:tab pos="5828897" algn="r"/>
              </a:tabLst>
              <a:defRPr/>
            </a:lvl4pPr>
            <a:lvl5pPr>
              <a:tabLst>
                <a:tab pos="5828897" algn="r"/>
              </a:tabLst>
              <a:defRPr baseline="0"/>
            </a:lvl5pPr>
          </a:lstStyle>
          <a:p>
            <a:pPr lvl="0"/>
            <a:r>
              <a:rPr lang="en-GB" noProof="0"/>
              <a:t>Edit Master text styles</a:t>
            </a:r>
            <a:endParaRPr lang="en-GB"/>
          </a:p>
        </p:txBody>
      </p:sp>
      <p:sp>
        <p:nvSpPr>
          <p:cNvPr id="8" name="Content Placeholder 3"/>
          <p:cNvSpPr>
            <a:spLocks noGrp="1"/>
          </p:cNvSpPr>
          <p:nvPr>
            <p:ph sz="quarter" idx="16"/>
          </p:nvPr>
        </p:nvSpPr>
        <p:spPr>
          <a:xfrm>
            <a:off x="469906" y="1665288"/>
            <a:ext cx="6660867" cy="4633913"/>
          </a:xfrm>
          <a:prstGeom prst="rect">
            <a:avLst/>
          </a:prstGeom>
        </p:spPr>
        <p:txBody>
          <a:bodyPr>
            <a:noAutofit/>
          </a:bodyPr>
          <a:lstStyle>
            <a:lvl1pPr>
              <a:tabLst>
                <a:tab pos="5828897" algn="r"/>
              </a:tabLst>
              <a:defRPr/>
            </a:lvl1pPr>
            <a:lvl2pPr>
              <a:tabLst>
                <a:tab pos="5828897" algn="r"/>
              </a:tabLst>
              <a:defRPr/>
            </a:lvl2pPr>
            <a:lvl3pPr>
              <a:tabLst>
                <a:tab pos="5828897" algn="r"/>
              </a:tabLst>
              <a:defRPr/>
            </a:lvl3pPr>
            <a:lvl4pPr>
              <a:tabLst>
                <a:tab pos="5828897" algn="r"/>
              </a:tabLst>
              <a:defRPr/>
            </a:lvl4pPr>
            <a:lvl5pPr>
              <a:tabLst>
                <a:tab pos="5828897"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523878823"/>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3179902242"/>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2" name="Footer Placeholder 1"/>
          <p:cNvSpPr>
            <a:spLocks noGrp="1"/>
          </p:cNvSpPr>
          <p:nvPr>
            <p:ph type="ftr" sz="quarter" idx="10"/>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2364071659"/>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601" y="4102100"/>
            <a:ext cx="2319503" cy="1725448"/>
          </a:xfrm>
        </p:spPr>
        <p:txBody>
          <a:bodyPr anchor="ctr" anchorCtr="0"/>
          <a:lstStyle>
            <a:lvl1pPr algn="ctr">
              <a:defRPr sz="1043"/>
            </a:lvl1pPr>
          </a:lstStyle>
          <a:p>
            <a:r>
              <a:rPr lang="en-GB" sz="1043" noProof="0" dirty="0"/>
              <a:t>Insert sponsorship mark here</a:t>
            </a:r>
            <a:endParaRPr lang="en-GB" noProof="0" dirty="0"/>
          </a:p>
        </p:txBody>
      </p:sp>
      <p:sp>
        <p:nvSpPr>
          <p:cNvPr id="8" name="Text Placeholder 7"/>
          <p:cNvSpPr>
            <a:spLocks noGrp="1"/>
          </p:cNvSpPr>
          <p:nvPr>
            <p:ph type="body" sz="quarter" idx="15"/>
          </p:nvPr>
        </p:nvSpPr>
        <p:spPr>
          <a:xfrm>
            <a:off x="9402602" y="5935484"/>
            <a:ext cx="2319501" cy="363723"/>
          </a:xfrm>
        </p:spPr>
        <p:txBody>
          <a:bodyPr anchor="b" anchorCtr="0"/>
          <a:lstStyle>
            <a:lvl1pPr>
              <a:lnSpc>
                <a:spcPct val="100000"/>
              </a:lnSpc>
              <a:defRPr sz="1101"/>
            </a:lvl1pPr>
          </a:lstStyle>
          <a:p>
            <a:pPr lvl="0"/>
            <a:r>
              <a:rPr lang="en-GB" noProof="0"/>
              <a:t>Edit Master text styles</a:t>
            </a:r>
            <a:endParaRPr lang="en-GB"/>
          </a:p>
        </p:txBody>
      </p:sp>
      <p:sp>
        <p:nvSpPr>
          <p:cNvPr id="20" name="SD_ART_Logo"/>
          <p:cNvSpPr/>
          <p:nvPr userDrawn="1"/>
        </p:nvSpPr>
        <p:spPr>
          <a:xfrm>
            <a:off x="475439"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65" dirty="0"/>
          </a:p>
        </p:txBody>
      </p:sp>
      <p:pic>
        <p:nvPicPr>
          <p:cNvPr id="1037916276" name="LogoDisclaimerPage"/>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205" y="464408"/>
            <a:ext cx="1655999" cy="725867"/>
          </a:xfrm>
          <a:prstGeom prst="rect">
            <a:avLst/>
          </a:prstGeom>
        </p:spPr>
      </p:pic>
      <p:sp>
        <p:nvSpPr>
          <p:cNvPr id="2" name="Footer Placeholder 1"/>
          <p:cNvSpPr>
            <a:spLocks noGrp="1"/>
          </p:cNvSpPr>
          <p:nvPr>
            <p:ph type="ftr" sz="quarter" idx="16"/>
          </p:nvPr>
        </p:nvSpPr>
        <p:spPr>
          <a:xfrm>
            <a:off x="6184905" y="6477000"/>
            <a:ext cx="4536727"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15495130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04802" y="266701"/>
            <a:ext cx="11560811" cy="334017"/>
          </a:xfrm>
          <a:prstGeom prst="rect">
            <a:avLst/>
          </a:prstGeom>
        </p:spPr>
        <p:txBody>
          <a:bodyPr vert="horz" lIns="0" tIns="0" rIns="0" bIns="0" rtlCol="0" anchor="t" anchorCtr="0">
            <a:noAutofit/>
          </a:bodyPr>
          <a:lstStyle>
            <a:lvl1pPr>
              <a:defRPr sz="1565">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dirty="0"/>
              <a:t>Click to edit Master title style</a:t>
            </a:r>
          </a:p>
        </p:txBody>
      </p:sp>
      <p:sp>
        <p:nvSpPr>
          <p:cNvPr id="17" name="TextBox 16"/>
          <p:cNvSpPr txBox="1"/>
          <p:nvPr userDrawn="1"/>
        </p:nvSpPr>
        <p:spPr>
          <a:xfrm>
            <a:off x="304803" y="6577035"/>
            <a:ext cx="5355167" cy="86947"/>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tx1"/>
                </a:solidFill>
              </a:rPr>
              <a:t>©2018 Deloitte </a:t>
            </a:r>
            <a:r>
              <a:rPr lang="en-US" sz="565" noProof="0" dirty="0" err="1">
                <a:solidFill>
                  <a:schemeClr val="tx1"/>
                </a:solidFill>
              </a:rPr>
              <a:t>Touche</a:t>
            </a:r>
            <a:r>
              <a:rPr lang="en-US" sz="565" noProof="0" dirty="0">
                <a:solidFill>
                  <a:schemeClr val="tx1"/>
                </a:solidFill>
              </a:rPr>
              <a:t> Tohmatsu India LLP. All Rights Reserved</a:t>
            </a:r>
          </a:p>
        </p:txBody>
      </p:sp>
      <p:sp>
        <p:nvSpPr>
          <p:cNvPr id="18" name="TextBox 17"/>
          <p:cNvSpPr txBox="1"/>
          <p:nvPr userDrawn="1"/>
        </p:nvSpPr>
        <p:spPr>
          <a:xfrm>
            <a:off x="11568115" y="6577035"/>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tx1"/>
                </a:solidFill>
              </a:rPr>
              <a:pPr marL="0" indent="0" algn="r">
                <a:spcBef>
                  <a:spcPts val="695"/>
                </a:spcBef>
                <a:buSzPct val="100000"/>
                <a:buFont typeface="Arial"/>
                <a:buNone/>
              </a:pPr>
              <a:t>‹#›</a:t>
            </a:fld>
            <a:endParaRPr lang="en-US" sz="565" noProof="0" dirty="0">
              <a:solidFill>
                <a:schemeClr val="tx1"/>
              </a:solidFill>
            </a:endParaRPr>
          </a:p>
        </p:txBody>
      </p:sp>
    </p:spTree>
    <p:extLst>
      <p:ext uri="{BB962C8B-B14F-4D97-AF65-F5344CB8AC3E}">
        <p14:creationId xmlns:p14="http://schemas.microsoft.com/office/powerpoint/2010/main" val="985454780"/>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MAIN CONTENT LAYOU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88"/>
            <a:ext cx="11226800" cy="4633913"/>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Text Placeholder 8"/>
          <p:cNvSpPr>
            <a:spLocks noGrp="1"/>
          </p:cNvSpPr>
          <p:nvPr>
            <p:ph type="body" sz="quarter" idx="13" hasCustomPrompt="1"/>
          </p:nvPr>
        </p:nvSpPr>
        <p:spPr>
          <a:xfrm>
            <a:off x="469900" y="736691"/>
            <a:ext cx="11226800" cy="453483"/>
          </a:xfrm>
          <a:prstGeom prst="rect">
            <a:avLst/>
          </a:prstGeom>
        </p:spPr>
        <p:txBody>
          <a:bodyPr lIns="0" tIns="0" rIns="0" bIns="0">
            <a:noAutofit/>
          </a:bodyPr>
          <a:lstStyle>
            <a:lvl1pPr marL="0" indent="0">
              <a:buNone/>
              <a:defRPr sz="1565"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26800" cy="334102"/>
          </a:xfrm>
          <a:prstGeom prst="rect">
            <a:avLst/>
          </a:prstGeom>
        </p:spPr>
        <p:txBody>
          <a:bodyPr vert="horz" lIns="0" tIns="0" rIns="0" bIns="0" rtlCol="0" anchor="t" anchorCtr="0">
            <a:noAutofit/>
          </a:bodyPr>
          <a:lstStyle>
            <a:lvl1pPr>
              <a:defRPr sz="1739"/>
            </a:lvl1pPr>
          </a:lstStyle>
          <a:p>
            <a:r>
              <a:rPr lang="en-US" noProof="0" dirty="0"/>
              <a:t>Click to edit Master title style</a:t>
            </a:r>
          </a:p>
        </p:txBody>
      </p:sp>
    </p:spTree>
    <p:extLst>
      <p:ext uri="{BB962C8B-B14F-4D97-AF65-F5344CB8AC3E}">
        <p14:creationId xmlns:p14="http://schemas.microsoft.com/office/powerpoint/2010/main" val="3410255586"/>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3" y="1592"/>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593" y="1592"/>
                        <a:ext cx="1587" cy="1587"/>
                      </a:xfrm>
                      <a:prstGeom prst="rect">
                        <a:avLst/>
                      </a:prstGeom>
                    </p:spPr>
                  </p:pic>
                </p:oleObj>
              </mc:Fallback>
            </mc:AlternateContent>
          </a:graphicData>
        </a:graphic>
      </p:graphicFrame>
      <p:sp>
        <p:nvSpPr>
          <p:cNvPr id="13" name="Text Placeholder 8"/>
          <p:cNvSpPr>
            <a:spLocks noGrp="1"/>
          </p:cNvSpPr>
          <p:nvPr>
            <p:ph type="body" sz="quarter" idx="13" hasCustomPrompt="1"/>
          </p:nvPr>
        </p:nvSpPr>
        <p:spPr>
          <a:xfrm>
            <a:off x="501651" y="725142"/>
            <a:ext cx="11185627" cy="858222"/>
          </a:xfrm>
          <a:prstGeom prst="rect">
            <a:avLst/>
          </a:prstGeom>
        </p:spPr>
        <p:txBody>
          <a:bodyPr lIns="0" tIns="0" rIns="0" bIns="0">
            <a:noAutofit/>
          </a:bodyPr>
          <a:lstStyle>
            <a:lvl1pPr marL="0" indent="0">
              <a:buNone/>
              <a:defRPr sz="1391"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501651" y="346493"/>
            <a:ext cx="11185627" cy="378648"/>
          </a:xfrm>
          <a:prstGeom prst="rect">
            <a:avLst/>
          </a:prstGeom>
        </p:spPr>
        <p:txBody>
          <a:bodyPr vert="horz" lIns="0" tIns="0" rIns="0" bIns="0" rtlCol="0" anchor="t" anchorCtr="0">
            <a:noAutofit/>
          </a:bodyPr>
          <a:lstStyle>
            <a:lvl1pPr>
              <a:defRPr/>
            </a:lvl1pPr>
          </a:lstStyle>
          <a:p>
            <a:r>
              <a:rPr lang="en-US" noProof="0" dirty="0"/>
              <a:t>Click to edit Master title style</a:t>
            </a:r>
          </a:p>
        </p:txBody>
      </p:sp>
      <p:sp>
        <p:nvSpPr>
          <p:cNvPr id="16" name="Text Placeholder 18"/>
          <p:cNvSpPr>
            <a:spLocks noGrp="1"/>
          </p:cNvSpPr>
          <p:nvPr>
            <p:ph idx="1"/>
          </p:nvPr>
        </p:nvSpPr>
        <p:spPr>
          <a:xfrm>
            <a:off x="501653" y="1665288"/>
            <a:ext cx="11188700" cy="4716462"/>
          </a:xfrm>
          <a:prstGeom prst="rect">
            <a:avLst/>
          </a:prstGeom>
        </p:spPr>
        <p:txBody>
          <a:bodyPr vert="horz" lIns="0" tIns="0" rIns="0" bIns="0" rtlCol="0">
            <a:noAutofit/>
          </a:bodyPr>
          <a:lstStyle>
            <a:lvl3pPr marL="158974" indent="-158974">
              <a:defRPr/>
            </a:lvl3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591941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8" y="1594"/>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8" y="1594"/>
                        <a:ext cx="1953" cy="1587"/>
                      </a:xfrm>
                      <a:prstGeom prst="rect">
                        <a:avLst/>
                      </a:prstGeom>
                    </p:spPr>
                  </p:pic>
                </p:oleObj>
              </mc:Fallback>
            </mc:AlternateContent>
          </a:graphicData>
        </a:graphic>
      </p:graphicFrame>
    </p:spTree>
    <p:extLst>
      <p:ext uri="{BB962C8B-B14F-4D97-AF65-F5344CB8AC3E}">
        <p14:creationId xmlns:p14="http://schemas.microsoft.com/office/powerpoint/2010/main" val="147648105"/>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601790" y="1066768"/>
            <a:ext cx="4988427" cy="4724464"/>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5" y="5791239"/>
            <a:ext cx="5592011" cy="505645"/>
          </a:xfrm>
          <a:prstGeom prst="rect">
            <a:avLst/>
          </a:prstGeom>
        </p:spPr>
        <p:txBody>
          <a:bodyPr lIns="0" tIns="0" rIns="0" bIns="0" anchor="b" anchorCtr="0">
            <a:noAutofit/>
          </a:bodyPr>
          <a:lstStyle>
            <a:lvl1pPr marL="0" indent="0" algn="l">
              <a:lnSpc>
                <a:spcPct val="100000"/>
              </a:lnSpc>
              <a:spcAft>
                <a:spcPts val="0"/>
              </a:spcAft>
              <a:buNone/>
              <a:defRPr sz="1687" b="1">
                <a:solidFill>
                  <a:schemeClr val="bg1"/>
                </a:solidFill>
              </a:defRPr>
            </a:lvl1pPr>
            <a:lvl2pPr marL="0" marR="0" indent="0" algn="l" defTabSz="1059853" rtl="0" eaLnBrk="1" fontAlgn="auto" latinLnBrk="0" hangingPunct="1">
              <a:lnSpc>
                <a:spcPct val="100000"/>
              </a:lnSpc>
              <a:spcBef>
                <a:spcPts val="0"/>
              </a:spcBef>
              <a:spcAft>
                <a:spcPts val="0"/>
              </a:spcAft>
              <a:buClrTx/>
              <a:buSzPct val="100000"/>
              <a:buFont typeface="Arial"/>
              <a:buNone/>
              <a:tabLst/>
              <a:defRPr sz="1687" b="0">
                <a:solidFill>
                  <a:schemeClr val="bg1"/>
                </a:solidFill>
              </a:defRPr>
            </a:lvl2pPr>
            <a:lvl3pPr marL="0" indent="0" algn="l">
              <a:spcAft>
                <a:spcPts val="0"/>
              </a:spcAft>
              <a:buNone/>
              <a:defRPr sz="1855">
                <a:solidFill>
                  <a:schemeClr val="bg1"/>
                </a:solidFill>
              </a:defRPr>
            </a:lvl3pPr>
            <a:lvl4pPr marL="1589780" indent="0" algn="ctr">
              <a:buNone/>
              <a:defRPr sz="1855"/>
            </a:lvl4pPr>
            <a:lvl5pPr marL="2119708" indent="0" algn="ctr">
              <a:buNone/>
              <a:defRPr sz="1855"/>
            </a:lvl5pPr>
            <a:lvl6pPr marL="2649634" indent="0" algn="ctr">
              <a:buNone/>
              <a:defRPr sz="1855"/>
            </a:lvl6pPr>
            <a:lvl7pPr marL="3179561" indent="0" algn="ctr">
              <a:buNone/>
              <a:defRPr sz="1855"/>
            </a:lvl7pPr>
            <a:lvl8pPr marL="3709488" indent="0" algn="ctr">
              <a:buNone/>
              <a:defRPr sz="1855"/>
            </a:lvl8pPr>
            <a:lvl9pPr marL="4239415" indent="0" algn="ctr">
              <a:buNone/>
              <a:defRPr sz="1855"/>
            </a:lvl9pPr>
          </a:lstStyle>
          <a:p>
            <a:r>
              <a:rPr lang="en-US" noProof="0" dirty="0"/>
              <a:t>Click to edit Master title style</a:t>
            </a:r>
          </a:p>
          <a:p>
            <a:pPr marL="0" marR="0" lvl="1" indent="0" algn="l" defTabSz="1059853"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4" y="6340383"/>
            <a:ext cx="5594351" cy="298450"/>
          </a:xfrm>
          <a:prstGeom prst="rect">
            <a:avLst/>
          </a:prstGeom>
        </p:spPr>
        <p:txBody>
          <a:bodyPr/>
          <a:lstStyle>
            <a:lvl1pPr>
              <a:spcAft>
                <a:spcPts val="0"/>
              </a:spcAft>
              <a:defRPr sz="92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grpSp>
        <p:nvGrpSpPr>
          <p:cNvPr id="33" name="Group 32"/>
          <p:cNvGrpSpPr>
            <a:grpSpLocks noChangeAspect="1"/>
          </p:cNvGrpSpPr>
          <p:nvPr userDrawn="1"/>
        </p:nvGrpSpPr>
        <p:grpSpPr>
          <a:xfrm>
            <a:off x="501653" y="403416"/>
            <a:ext cx="1762941" cy="330353"/>
            <a:chOff x="398463" y="404813"/>
            <a:chExt cx="1627187" cy="307976"/>
          </a:xfrm>
          <a:solidFill>
            <a:schemeClr val="tx1"/>
          </a:solidFill>
        </p:grpSpPr>
        <p:sp>
          <p:nvSpPr>
            <p:cNvPr id="34"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35"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36"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37"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38"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39"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40"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41"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42"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43"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grpSp>
    </p:spTree>
    <p:extLst>
      <p:ext uri="{BB962C8B-B14F-4D97-AF65-F5344CB8AC3E}">
        <p14:creationId xmlns:p14="http://schemas.microsoft.com/office/powerpoint/2010/main" val="6378964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6795" userDrawn="1">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90" y="1066768"/>
            <a:ext cx="4988427"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4" y="5864237"/>
            <a:ext cx="5594348" cy="505645"/>
          </a:xfrm>
          <a:prstGeom prst="rect">
            <a:avLst/>
          </a:prstGeom>
        </p:spPr>
        <p:txBody>
          <a:bodyPr lIns="0" tIns="0" rIns="0" bIns="0" anchor="b" anchorCtr="0">
            <a:noAutofit/>
          </a:bodyPr>
          <a:lstStyle>
            <a:lvl1pPr marL="0" indent="0" algn="l">
              <a:lnSpc>
                <a:spcPct val="100000"/>
              </a:lnSpc>
              <a:spcAft>
                <a:spcPts val="0"/>
              </a:spcAft>
              <a:buNone/>
              <a:defRPr sz="2086" b="1">
                <a:solidFill>
                  <a:schemeClr val="tx1"/>
                </a:solidFill>
              </a:defRPr>
            </a:lvl1pPr>
            <a:lvl2pPr marL="0" indent="0" algn="l">
              <a:buNone/>
              <a:defRPr sz="1855" b="0"/>
            </a:lvl2pPr>
            <a:lvl3pPr marL="1059853" indent="0" algn="ctr">
              <a:buNone/>
              <a:defRPr sz="2086"/>
            </a:lvl3pPr>
            <a:lvl4pPr marL="1589780" indent="0" algn="ctr">
              <a:buNone/>
              <a:defRPr sz="1855"/>
            </a:lvl4pPr>
            <a:lvl5pPr marL="2119708" indent="0" algn="ctr">
              <a:buNone/>
              <a:defRPr sz="1855"/>
            </a:lvl5pPr>
            <a:lvl6pPr marL="2649634" indent="0" algn="ctr">
              <a:buNone/>
              <a:defRPr sz="1855"/>
            </a:lvl6pPr>
            <a:lvl7pPr marL="3179561" indent="0" algn="ctr">
              <a:buNone/>
              <a:defRPr sz="1855"/>
            </a:lvl7pPr>
            <a:lvl8pPr marL="3709488" indent="0" algn="ctr">
              <a:buNone/>
              <a:defRPr sz="1855"/>
            </a:lvl8pPr>
            <a:lvl9pPr marL="4239415" indent="0" algn="ctr">
              <a:buNone/>
              <a:defRPr sz="1855"/>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4" y="6381753"/>
            <a:ext cx="5594351" cy="298450"/>
          </a:xfrm>
          <a:prstGeom prst="rect">
            <a:avLst/>
          </a:prstGeom>
        </p:spPr>
        <p:txBody>
          <a:bodyPr/>
          <a:lstStyle>
            <a:lvl1pPr>
              <a:spcAft>
                <a:spcPts val="0"/>
              </a:spcAft>
              <a:defRPr sz="1159">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3" y="403416"/>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994" dirty="0">
                <a:solidFill>
                  <a:prstClr val="white"/>
                </a:solidFill>
              </a:endParaRPr>
            </a:p>
          </p:txBody>
        </p:sp>
      </p:grpSp>
    </p:spTree>
    <p:extLst>
      <p:ext uri="{BB962C8B-B14F-4D97-AF65-F5344CB8AC3E}">
        <p14:creationId xmlns:p14="http://schemas.microsoft.com/office/powerpoint/2010/main" val="4171938303"/>
      </p:ext>
    </p:extLst>
  </p:cSld>
  <p:clrMapOvr>
    <a:masterClrMapping/>
  </p:clrMapOvr>
  <p:transition>
    <p:fade/>
  </p:transition>
  <p:extLst>
    <p:ext uri="{DCECCB84-F9BA-43D5-87BE-67443E8EF086}">
      <p15:sldGuideLst xmlns:p15="http://schemas.microsoft.com/office/powerpoint/2012/main">
        <p15:guide id="1" orient="horz" pos="6795" userDrawn="1">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4003"/>
            <a:ext cx="12192000" cy="6007753"/>
          </a:xfrm>
        </p:spPr>
        <p:txBody>
          <a:bodyPr/>
          <a:lstStyle/>
          <a:p>
            <a:endParaRPr lang="en-US" dirty="0"/>
          </a:p>
        </p:txBody>
      </p:sp>
      <p:grpSp>
        <p:nvGrpSpPr>
          <p:cNvPr id="9" name="Group 8"/>
          <p:cNvGrpSpPr/>
          <p:nvPr userDrawn="1"/>
        </p:nvGrpSpPr>
        <p:grpSpPr>
          <a:xfrm>
            <a:off x="5" y="4629691"/>
            <a:ext cx="12191999"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27"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27" b="1" dirty="0">
                <a:solidFill>
                  <a:prstClr val="white"/>
                </a:solidFill>
              </a:endParaRPr>
            </a:p>
          </p:txBody>
        </p:sp>
      </p:grpSp>
      <p:sp>
        <p:nvSpPr>
          <p:cNvPr id="14" name="TextBox 13"/>
          <p:cNvSpPr txBox="1"/>
          <p:nvPr userDrawn="1"/>
        </p:nvSpPr>
        <p:spPr>
          <a:xfrm>
            <a:off x="501655" y="6477000"/>
            <a:ext cx="5355169" cy="115866"/>
          </a:xfrm>
          <a:prstGeom prst="rect">
            <a:avLst/>
          </a:prstGeom>
          <a:noFill/>
        </p:spPr>
        <p:txBody>
          <a:bodyPr wrap="square" lIns="0" tIns="0" rIns="0" bIns="0" rtlCol="0">
            <a:spAutoFit/>
          </a:bodyPr>
          <a:lstStyle/>
          <a:p>
            <a:pPr>
              <a:spcBef>
                <a:spcPts val="695"/>
              </a:spcBef>
              <a:buSzPct val="100000"/>
              <a:buFont typeface="Arial"/>
              <a:buNone/>
            </a:pPr>
            <a:r>
              <a:rPr lang="fr-FR" sz="753" dirty="0">
                <a:solidFill>
                  <a:prstClr val="white"/>
                </a:solidFill>
              </a:rPr>
              <a:t>© 2017 Deloitte Touche Tohmatsu India LLP</a:t>
            </a:r>
          </a:p>
        </p:txBody>
      </p:sp>
      <p:sp>
        <p:nvSpPr>
          <p:cNvPr id="15" name="TextBox 14"/>
          <p:cNvSpPr txBox="1"/>
          <p:nvPr userDrawn="1"/>
        </p:nvSpPr>
        <p:spPr>
          <a:xfrm>
            <a:off x="11382379" y="6477000"/>
            <a:ext cx="307976" cy="115866"/>
          </a:xfrm>
          <a:prstGeom prst="rect">
            <a:avLst/>
          </a:prstGeom>
          <a:noFill/>
        </p:spPr>
        <p:txBody>
          <a:bodyPr wrap="square" lIns="0" tIns="0" rIns="0" bIns="0" rtlCol="0">
            <a:spAutoFit/>
          </a:bodyPr>
          <a:lstStyle/>
          <a:p>
            <a:pPr algn="r">
              <a:spcBef>
                <a:spcPts val="695"/>
              </a:spcBef>
              <a:buSzPct val="100000"/>
              <a:buFont typeface="Arial"/>
              <a:buNone/>
            </a:pPr>
            <a:fld id="{C58DF478-B544-4ED8-9ED4-6A2648E2D233}" type="slidenum">
              <a:rPr lang="en-US" sz="753" smtClean="0">
                <a:solidFill>
                  <a:prstClr val="white"/>
                </a:solidFill>
              </a:rPr>
              <a:pPr algn="r">
                <a:spcBef>
                  <a:spcPts val="695"/>
                </a:spcBef>
                <a:buSzPct val="100000"/>
                <a:buFont typeface="Arial"/>
                <a:buNone/>
              </a:pPr>
              <a:t>‹#›</a:t>
            </a:fld>
            <a:endParaRPr lang="en-US" sz="753"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2608">
                <a:solidFill>
                  <a:schemeClr val="bg1"/>
                </a:solidFill>
              </a:defRPr>
            </a:lvl1pPr>
            <a:lvl2pPr marL="529926" indent="0">
              <a:buNone/>
              <a:defRPr sz="2318">
                <a:solidFill>
                  <a:schemeClr val="tx1">
                    <a:tint val="75000"/>
                  </a:schemeClr>
                </a:solidFill>
              </a:defRPr>
            </a:lvl2pPr>
            <a:lvl3pPr marL="1059853" indent="0">
              <a:buNone/>
              <a:defRPr sz="2086">
                <a:solidFill>
                  <a:schemeClr val="tx1">
                    <a:tint val="75000"/>
                  </a:schemeClr>
                </a:solidFill>
              </a:defRPr>
            </a:lvl3pPr>
            <a:lvl4pPr marL="1589780" indent="0">
              <a:buNone/>
              <a:defRPr sz="1855">
                <a:solidFill>
                  <a:schemeClr val="tx1">
                    <a:tint val="75000"/>
                  </a:schemeClr>
                </a:solidFill>
              </a:defRPr>
            </a:lvl4pPr>
            <a:lvl5pPr marL="2119708" indent="0">
              <a:buNone/>
              <a:defRPr sz="1855">
                <a:solidFill>
                  <a:schemeClr val="tx1">
                    <a:tint val="75000"/>
                  </a:schemeClr>
                </a:solidFill>
              </a:defRPr>
            </a:lvl5pPr>
            <a:lvl6pPr marL="2649634" indent="0">
              <a:buNone/>
              <a:defRPr sz="1855">
                <a:solidFill>
                  <a:schemeClr val="tx1">
                    <a:tint val="75000"/>
                  </a:schemeClr>
                </a:solidFill>
              </a:defRPr>
            </a:lvl6pPr>
            <a:lvl7pPr marL="3179561" indent="0">
              <a:buNone/>
              <a:defRPr sz="1855">
                <a:solidFill>
                  <a:schemeClr val="tx1">
                    <a:tint val="75000"/>
                  </a:schemeClr>
                </a:solidFill>
              </a:defRPr>
            </a:lvl7pPr>
            <a:lvl8pPr marL="3709488" indent="0">
              <a:buNone/>
              <a:defRPr sz="1855">
                <a:solidFill>
                  <a:schemeClr val="tx1">
                    <a:tint val="75000"/>
                  </a:schemeClr>
                </a:solidFill>
              </a:defRPr>
            </a:lvl8pPr>
            <a:lvl9pPr marL="4239415" indent="0">
              <a:buNone/>
              <a:defRPr sz="1855">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5" y="6501541"/>
            <a:ext cx="5833532" cy="170741"/>
          </a:xfrm>
          <a:prstGeom prst="rect">
            <a:avLst/>
          </a:prstGeom>
          <a:noFill/>
        </p:spPr>
        <p:txBody>
          <a:bodyPr wrap="square" lIns="0" tIns="0" rIns="0" bIns="0" rtlCol="0">
            <a:noAutofit/>
          </a:bodyPr>
          <a:lstStyle/>
          <a:p>
            <a:pPr>
              <a:spcBef>
                <a:spcPts val="695"/>
              </a:spcBef>
              <a:buSzPct val="100000"/>
              <a:buFont typeface="Arial"/>
              <a:buNone/>
            </a:pPr>
            <a:r>
              <a:rPr lang="en-US" sz="753" dirty="0">
                <a:solidFill>
                  <a:prstClr val="white"/>
                </a:solidFill>
              </a:rPr>
              <a:t>Presentation on Supply, Implementation and Maintenance of an ERP solution to Hirdaramani Group</a:t>
            </a:r>
            <a:endParaRPr lang="fr-FR" sz="753" dirty="0">
              <a:solidFill>
                <a:prstClr val="white"/>
              </a:solidFill>
            </a:endParaRPr>
          </a:p>
        </p:txBody>
      </p:sp>
    </p:spTree>
    <p:extLst>
      <p:ext uri="{BB962C8B-B14F-4D97-AF65-F5344CB8AC3E}">
        <p14:creationId xmlns:p14="http://schemas.microsoft.com/office/powerpoint/2010/main" val="353157190"/>
      </p:ext>
    </p:extLst>
  </p:cSld>
  <p:clrMapOvr>
    <a:masterClrMapping/>
  </p:clrMapOvr>
  <p:transition>
    <p:fade/>
  </p:transition>
  <p:extLst>
    <p:ext uri="{DCECCB84-F9BA-43D5-87BE-67443E8EF086}">
      <p15:sldGuideLst xmlns:p15="http://schemas.microsoft.com/office/powerpoint/2012/main">
        <p15:guide id="1" orient="horz" pos="3590" userDrawn="1">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5" y="6477000"/>
            <a:ext cx="5355169" cy="115866"/>
          </a:xfrm>
          <a:prstGeom prst="rect">
            <a:avLst/>
          </a:prstGeom>
          <a:noFill/>
        </p:spPr>
        <p:txBody>
          <a:bodyPr wrap="square" lIns="0" tIns="0" rIns="0" bIns="0" rtlCol="0">
            <a:spAutoFit/>
          </a:bodyPr>
          <a:lstStyle/>
          <a:p>
            <a:pPr>
              <a:spcBef>
                <a:spcPts val="695"/>
              </a:spcBef>
              <a:buSzPct val="100000"/>
              <a:buFont typeface="Arial"/>
              <a:buNone/>
            </a:pPr>
            <a:r>
              <a:rPr lang="fr-FR" sz="753" dirty="0">
                <a:solidFill>
                  <a:prstClr val="white"/>
                </a:solidFill>
              </a:rPr>
              <a:t>© 2017 Deloitte Touche Tohmatsu India LLP</a:t>
            </a:r>
          </a:p>
        </p:txBody>
      </p:sp>
      <p:sp>
        <p:nvSpPr>
          <p:cNvPr id="15" name="TextBox 14"/>
          <p:cNvSpPr txBox="1"/>
          <p:nvPr userDrawn="1"/>
        </p:nvSpPr>
        <p:spPr>
          <a:xfrm>
            <a:off x="11382379" y="6477000"/>
            <a:ext cx="307976" cy="115866"/>
          </a:xfrm>
          <a:prstGeom prst="rect">
            <a:avLst/>
          </a:prstGeom>
          <a:noFill/>
        </p:spPr>
        <p:txBody>
          <a:bodyPr wrap="square" lIns="0" tIns="0" rIns="0" bIns="0" rtlCol="0">
            <a:spAutoFit/>
          </a:bodyPr>
          <a:lstStyle/>
          <a:p>
            <a:pPr algn="r">
              <a:spcBef>
                <a:spcPts val="695"/>
              </a:spcBef>
              <a:buSzPct val="100000"/>
              <a:buFont typeface="Arial"/>
              <a:buNone/>
            </a:pPr>
            <a:fld id="{C58DF478-B544-4ED8-9ED4-6A2648E2D233}" type="slidenum">
              <a:rPr lang="en-US" sz="753" smtClean="0">
                <a:solidFill>
                  <a:prstClr val="white"/>
                </a:solidFill>
              </a:rPr>
              <a:pPr algn="r">
                <a:spcBef>
                  <a:spcPts val="695"/>
                </a:spcBef>
                <a:buSzPct val="100000"/>
                <a:buFont typeface="Arial"/>
                <a:buNone/>
              </a:pPr>
              <a:t>‹#›</a:t>
            </a:fld>
            <a:endParaRPr lang="en-US" sz="753" dirty="0">
              <a:solidFill>
                <a:prstClr val="white"/>
              </a:solidFill>
            </a:endParaRPr>
          </a:p>
        </p:txBody>
      </p:sp>
      <p:sp>
        <p:nvSpPr>
          <p:cNvPr id="8" name="Rectangle 3"/>
          <p:cNvSpPr/>
          <p:nvPr userDrawn="1"/>
        </p:nvSpPr>
        <p:spPr bwMode="gray">
          <a:xfrm>
            <a:off x="-44822" y="2636891"/>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68190" tIns="68190" rIns="68190" bIns="68190" rtlCol="0" anchor="ctr"/>
          <a:lstStyle/>
          <a:p>
            <a:pPr algn="ctr">
              <a:lnSpc>
                <a:spcPct val="106000"/>
              </a:lnSpc>
              <a:buFont typeface="Wingdings 2" pitchFamily="18" charset="2"/>
              <a:buNone/>
            </a:pPr>
            <a:endParaRPr lang="en-US" sz="1227" b="1" dirty="0">
              <a:solidFill>
                <a:prstClr val="white"/>
              </a:solidFill>
            </a:endParaRPr>
          </a:p>
        </p:txBody>
      </p:sp>
      <p:sp>
        <p:nvSpPr>
          <p:cNvPr id="3" name="Text Placeholder 2"/>
          <p:cNvSpPr>
            <a:spLocks noGrp="1"/>
          </p:cNvSpPr>
          <p:nvPr>
            <p:ph type="body" idx="1"/>
          </p:nvPr>
        </p:nvSpPr>
        <p:spPr bwMode="gray">
          <a:xfrm>
            <a:off x="-42580" y="2645735"/>
            <a:ext cx="6200215" cy="1566532"/>
          </a:xfrm>
          <a:prstGeom prst="rect">
            <a:avLst/>
          </a:prstGeom>
          <a:noFill/>
        </p:spPr>
        <p:txBody>
          <a:bodyPr lIns="640080" tIns="0" rIns="0" bIns="0" anchor="ctr">
            <a:noAutofit/>
          </a:bodyPr>
          <a:lstStyle>
            <a:lvl1pPr marL="0" indent="0">
              <a:lnSpc>
                <a:spcPct val="95000"/>
              </a:lnSpc>
              <a:spcAft>
                <a:spcPts val="0"/>
              </a:spcAft>
              <a:buNone/>
              <a:defRPr sz="2608">
                <a:solidFill>
                  <a:schemeClr val="bg1"/>
                </a:solidFill>
              </a:defRPr>
            </a:lvl1pPr>
            <a:lvl2pPr marL="529926" indent="0">
              <a:buNone/>
              <a:defRPr sz="2318">
                <a:solidFill>
                  <a:schemeClr val="tx1">
                    <a:tint val="75000"/>
                  </a:schemeClr>
                </a:solidFill>
              </a:defRPr>
            </a:lvl2pPr>
            <a:lvl3pPr marL="1059853" indent="0">
              <a:buNone/>
              <a:defRPr sz="2086">
                <a:solidFill>
                  <a:schemeClr val="tx1">
                    <a:tint val="75000"/>
                  </a:schemeClr>
                </a:solidFill>
              </a:defRPr>
            </a:lvl3pPr>
            <a:lvl4pPr marL="1589780" indent="0">
              <a:buNone/>
              <a:defRPr sz="1855">
                <a:solidFill>
                  <a:schemeClr val="tx1">
                    <a:tint val="75000"/>
                  </a:schemeClr>
                </a:solidFill>
              </a:defRPr>
            </a:lvl4pPr>
            <a:lvl5pPr marL="2119708" indent="0">
              <a:buNone/>
              <a:defRPr sz="1855">
                <a:solidFill>
                  <a:schemeClr val="tx1">
                    <a:tint val="75000"/>
                  </a:schemeClr>
                </a:solidFill>
              </a:defRPr>
            </a:lvl5pPr>
            <a:lvl6pPr marL="2649634" indent="0">
              <a:buNone/>
              <a:defRPr sz="1855">
                <a:solidFill>
                  <a:schemeClr val="tx1">
                    <a:tint val="75000"/>
                  </a:schemeClr>
                </a:solidFill>
              </a:defRPr>
            </a:lvl6pPr>
            <a:lvl7pPr marL="3179561" indent="0">
              <a:buNone/>
              <a:defRPr sz="1855">
                <a:solidFill>
                  <a:schemeClr val="tx1">
                    <a:tint val="75000"/>
                  </a:schemeClr>
                </a:solidFill>
              </a:defRPr>
            </a:lvl7pPr>
            <a:lvl8pPr marL="3709488" indent="0">
              <a:buNone/>
              <a:defRPr sz="1855">
                <a:solidFill>
                  <a:schemeClr val="tx1">
                    <a:tint val="75000"/>
                  </a:schemeClr>
                </a:solidFill>
              </a:defRPr>
            </a:lvl8pPr>
            <a:lvl9pPr marL="4239415" indent="0">
              <a:buNone/>
              <a:defRPr sz="1855">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1124000028"/>
      </p:ext>
    </p:extLst>
  </p:cSld>
  <p:clrMapOvr>
    <a:masterClrMapping/>
  </p:clrMapOvr>
  <p:transition>
    <p:fade/>
  </p:transition>
  <p:extLst>
    <p:ext uri="{DCECCB84-F9BA-43D5-87BE-67443E8EF086}">
      <p15:sldGuideLst xmlns:p15="http://schemas.microsoft.com/office/powerpoint/2012/main">
        <p15:guide id="1" orient="horz" pos="3590" userDrawn="1">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5" y="6477000"/>
            <a:ext cx="5355169" cy="115866"/>
          </a:xfrm>
          <a:prstGeom prst="rect">
            <a:avLst/>
          </a:prstGeom>
          <a:noFill/>
        </p:spPr>
        <p:txBody>
          <a:bodyPr wrap="square" lIns="0" tIns="0" rIns="0" bIns="0" rtlCol="0">
            <a:spAutoFit/>
          </a:bodyPr>
          <a:lstStyle/>
          <a:p>
            <a:pPr>
              <a:spcBef>
                <a:spcPts val="695"/>
              </a:spcBef>
              <a:buSzPct val="100000"/>
              <a:buFont typeface="Arial"/>
              <a:buNone/>
            </a:pPr>
            <a:r>
              <a:rPr lang="fr-FR" sz="753" dirty="0">
                <a:solidFill>
                  <a:prstClr val="white"/>
                </a:solidFill>
              </a:rPr>
              <a:t>© 2017 Deloitte Touche Tohmatsu India LLP</a:t>
            </a:r>
          </a:p>
        </p:txBody>
      </p:sp>
      <p:sp>
        <p:nvSpPr>
          <p:cNvPr id="15" name="TextBox 14"/>
          <p:cNvSpPr txBox="1"/>
          <p:nvPr userDrawn="1"/>
        </p:nvSpPr>
        <p:spPr>
          <a:xfrm>
            <a:off x="11382379" y="6477000"/>
            <a:ext cx="307976" cy="115866"/>
          </a:xfrm>
          <a:prstGeom prst="rect">
            <a:avLst/>
          </a:prstGeom>
          <a:noFill/>
        </p:spPr>
        <p:txBody>
          <a:bodyPr wrap="square" lIns="0" tIns="0" rIns="0" bIns="0" rtlCol="0">
            <a:spAutoFit/>
          </a:bodyPr>
          <a:lstStyle/>
          <a:p>
            <a:pPr algn="r">
              <a:spcBef>
                <a:spcPts val="695"/>
              </a:spcBef>
              <a:buSzPct val="100000"/>
              <a:buFont typeface="Arial"/>
              <a:buNone/>
            </a:pPr>
            <a:fld id="{C58DF478-B544-4ED8-9ED4-6A2648E2D233}" type="slidenum">
              <a:rPr lang="en-US" sz="753" smtClean="0">
                <a:solidFill>
                  <a:prstClr val="white"/>
                </a:solidFill>
              </a:rPr>
              <a:pPr algn="r">
                <a:spcBef>
                  <a:spcPts val="695"/>
                </a:spcBef>
                <a:buSzPct val="100000"/>
                <a:buFont typeface="Arial"/>
                <a:buNone/>
              </a:pPr>
              <a:t>‹#›</a:t>
            </a:fld>
            <a:endParaRPr lang="en-US" sz="753" dirty="0">
              <a:solidFill>
                <a:prstClr val="white"/>
              </a:solidFill>
            </a:endParaRPr>
          </a:p>
        </p:txBody>
      </p:sp>
      <p:sp>
        <p:nvSpPr>
          <p:cNvPr id="8" name="Rectangle 3"/>
          <p:cNvSpPr/>
          <p:nvPr userDrawn="1"/>
        </p:nvSpPr>
        <p:spPr bwMode="gray">
          <a:xfrm>
            <a:off x="-44822" y="2636891"/>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68190" tIns="68190" rIns="68190" bIns="68190" rtlCol="0" anchor="ctr"/>
          <a:lstStyle/>
          <a:p>
            <a:pPr algn="ctr">
              <a:lnSpc>
                <a:spcPct val="106000"/>
              </a:lnSpc>
              <a:buFont typeface="Wingdings 2" pitchFamily="18" charset="2"/>
              <a:buNone/>
            </a:pPr>
            <a:endParaRPr lang="en-US" sz="1227" b="1" dirty="0">
              <a:solidFill>
                <a:prstClr val="white"/>
              </a:solidFill>
            </a:endParaRPr>
          </a:p>
        </p:txBody>
      </p:sp>
      <p:sp>
        <p:nvSpPr>
          <p:cNvPr id="3" name="Text Placeholder 2"/>
          <p:cNvSpPr>
            <a:spLocks noGrp="1"/>
          </p:cNvSpPr>
          <p:nvPr>
            <p:ph type="body" idx="1"/>
          </p:nvPr>
        </p:nvSpPr>
        <p:spPr bwMode="gray">
          <a:xfrm>
            <a:off x="-42580" y="2645735"/>
            <a:ext cx="6200215" cy="1566532"/>
          </a:xfrm>
          <a:prstGeom prst="rect">
            <a:avLst/>
          </a:prstGeom>
          <a:noFill/>
        </p:spPr>
        <p:txBody>
          <a:bodyPr lIns="640080" tIns="0" rIns="0" bIns="0" anchor="ctr">
            <a:noAutofit/>
          </a:bodyPr>
          <a:lstStyle>
            <a:lvl1pPr marL="0" indent="0">
              <a:lnSpc>
                <a:spcPct val="95000"/>
              </a:lnSpc>
              <a:spcAft>
                <a:spcPts val="0"/>
              </a:spcAft>
              <a:buNone/>
              <a:defRPr sz="2608">
                <a:solidFill>
                  <a:schemeClr val="bg1"/>
                </a:solidFill>
              </a:defRPr>
            </a:lvl1pPr>
            <a:lvl2pPr marL="529926" indent="0">
              <a:buNone/>
              <a:defRPr sz="2318">
                <a:solidFill>
                  <a:schemeClr val="tx1">
                    <a:tint val="75000"/>
                  </a:schemeClr>
                </a:solidFill>
              </a:defRPr>
            </a:lvl2pPr>
            <a:lvl3pPr marL="1059853" indent="0">
              <a:buNone/>
              <a:defRPr sz="2086">
                <a:solidFill>
                  <a:schemeClr val="tx1">
                    <a:tint val="75000"/>
                  </a:schemeClr>
                </a:solidFill>
              </a:defRPr>
            </a:lvl3pPr>
            <a:lvl4pPr marL="1589780" indent="0">
              <a:buNone/>
              <a:defRPr sz="1855">
                <a:solidFill>
                  <a:schemeClr val="tx1">
                    <a:tint val="75000"/>
                  </a:schemeClr>
                </a:solidFill>
              </a:defRPr>
            </a:lvl4pPr>
            <a:lvl5pPr marL="2119708" indent="0">
              <a:buNone/>
              <a:defRPr sz="1855">
                <a:solidFill>
                  <a:schemeClr val="tx1">
                    <a:tint val="75000"/>
                  </a:schemeClr>
                </a:solidFill>
              </a:defRPr>
            </a:lvl5pPr>
            <a:lvl6pPr marL="2649634" indent="0">
              <a:buNone/>
              <a:defRPr sz="1855">
                <a:solidFill>
                  <a:schemeClr val="tx1">
                    <a:tint val="75000"/>
                  </a:schemeClr>
                </a:solidFill>
              </a:defRPr>
            </a:lvl6pPr>
            <a:lvl7pPr marL="3179561" indent="0">
              <a:buNone/>
              <a:defRPr sz="1855">
                <a:solidFill>
                  <a:schemeClr val="tx1">
                    <a:tint val="75000"/>
                  </a:schemeClr>
                </a:solidFill>
              </a:defRPr>
            </a:lvl7pPr>
            <a:lvl8pPr marL="3709488" indent="0">
              <a:buNone/>
              <a:defRPr sz="1855">
                <a:solidFill>
                  <a:schemeClr val="tx1">
                    <a:tint val="75000"/>
                  </a:schemeClr>
                </a:solidFill>
              </a:defRPr>
            </a:lvl8pPr>
            <a:lvl9pPr marL="4239415" indent="0">
              <a:buNone/>
              <a:defRPr sz="1855">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1063045652"/>
      </p:ext>
    </p:extLst>
  </p:cSld>
  <p:clrMapOvr>
    <a:masterClrMapping/>
  </p:clrMapOvr>
  <p:transition>
    <p:fade/>
  </p:transition>
  <p:extLst>
    <p:ext uri="{DCECCB84-F9BA-43D5-87BE-67443E8EF086}">
      <p15:sldGuideLst xmlns:p15="http://schemas.microsoft.com/office/powerpoint/2012/main">
        <p15:guide id="1" orient="horz" pos="3590" userDrawn="1">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4" y="651608"/>
            <a:ext cx="11162351" cy="757255"/>
          </a:xfrm>
          <a:prstGeom prst="rect">
            <a:avLst/>
          </a:prstGeom>
        </p:spPr>
        <p:txBody>
          <a:bodyPr lIns="0" tIns="0" rIns="0" bIns="0">
            <a:noAutofit/>
          </a:bodyPr>
          <a:lstStyle>
            <a:lvl1pPr marL="0" indent="0">
              <a:buNone/>
              <a:defRPr sz="1381"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4" y="317506"/>
            <a:ext cx="11162351" cy="334101"/>
          </a:xfrm>
          <a:prstGeom prst="rect">
            <a:avLst/>
          </a:prstGeom>
        </p:spPr>
        <p:txBody>
          <a:bodyPr vert="horz" lIns="0" tIns="0" rIns="0" bIns="0" rtlCol="0" anchor="t" anchorCtr="0">
            <a:noAutofit/>
          </a:bodyPr>
          <a:lstStyle>
            <a:lvl1pPr>
              <a:defRPr sz="1687">
                <a:latin typeface="+mj-lt"/>
              </a:defRPr>
            </a:lvl1pPr>
          </a:lstStyle>
          <a:p>
            <a:r>
              <a:rPr lang="en-US" noProof="0" dirty="0"/>
              <a:t>Click to edit Master title style</a:t>
            </a:r>
          </a:p>
        </p:txBody>
      </p:sp>
      <p:sp>
        <p:nvSpPr>
          <p:cNvPr id="8" name="Text Placeholder 18"/>
          <p:cNvSpPr>
            <a:spLocks noGrp="1"/>
          </p:cNvSpPr>
          <p:nvPr>
            <p:ph idx="1"/>
          </p:nvPr>
        </p:nvSpPr>
        <p:spPr>
          <a:xfrm>
            <a:off x="501657" y="1665292"/>
            <a:ext cx="11165417" cy="4713911"/>
          </a:xfrm>
          <a:prstGeom prst="rect">
            <a:avLst/>
          </a:prstGeom>
        </p:spPr>
        <p:txBody>
          <a:bodyPr vert="horz" lIns="0" tIns="0" rIns="0" bIns="0" rtlCol="0">
            <a:noAutofit/>
          </a:bodyPr>
          <a:lstStyle>
            <a:lvl1pPr>
              <a:spcAft>
                <a:spcPts val="1053"/>
              </a:spcAft>
              <a:defRPr sz="1074"/>
            </a:lvl1pPr>
            <a:lvl2pPr>
              <a:spcAft>
                <a:spcPts val="1053"/>
              </a:spcAft>
              <a:defRPr sz="1074"/>
            </a:lvl2pPr>
            <a:lvl3pPr>
              <a:spcAft>
                <a:spcPts val="1053"/>
              </a:spcAft>
              <a:defRPr sz="1074"/>
            </a:lvl3pPr>
            <a:lvl4pPr>
              <a:spcAft>
                <a:spcPts val="1053"/>
              </a:spcAft>
              <a:defRPr sz="1074"/>
            </a:lvl4pPr>
            <a:lvl5pPr>
              <a:spcAft>
                <a:spcPts val="1053"/>
              </a:spcAft>
              <a:defRPr sz="1074"/>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094780870"/>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92"/>
            <a:ext cx="11252200" cy="698501"/>
          </a:xfrm>
          <a:prstGeom prst="rect">
            <a:avLst/>
          </a:prstGeom>
        </p:spPr>
        <p:txBody>
          <a:bodyPr vert="horz" lIns="0" tIns="0" rIns="0" bIns="0" rtlCol="0" anchor="t" anchorCtr="0">
            <a:noAutofit/>
          </a:bodyPr>
          <a:lstStyle>
            <a:lvl1pPr>
              <a:defRPr sz="1304"/>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2" y="736697"/>
            <a:ext cx="11252200" cy="757255"/>
          </a:xfrm>
          <a:prstGeom prst="rect">
            <a:avLst/>
          </a:prstGeom>
        </p:spPr>
        <p:txBody>
          <a:bodyPr lIns="0" tIns="0" rIns="0" bIns="0">
            <a:noAutofit/>
          </a:bodyPr>
          <a:lstStyle>
            <a:lvl1pPr marL="0" indent="0">
              <a:buNone/>
              <a:defRPr sz="1304"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7" y="1665292"/>
            <a:ext cx="9348787" cy="4633910"/>
          </a:xfrm>
          <a:prstGeom prst="rect">
            <a:avLst/>
          </a:prstGeom>
        </p:spPr>
        <p:txBody>
          <a:bodyPr/>
          <a:lstStyle>
            <a:lvl1pPr>
              <a:tabLst>
                <a:tab pos="5849737" algn="r"/>
              </a:tabLst>
              <a:defRPr/>
            </a:lvl1pPr>
            <a:lvl2pPr>
              <a:tabLst>
                <a:tab pos="5849737" algn="r"/>
              </a:tabLst>
              <a:defRPr/>
            </a:lvl2pPr>
            <a:lvl3pPr>
              <a:tabLst>
                <a:tab pos="5849737" algn="r"/>
              </a:tabLst>
              <a:defRPr/>
            </a:lvl3pPr>
            <a:lvl4pPr>
              <a:tabLst>
                <a:tab pos="5849737" algn="r"/>
              </a:tabLst>
              <a:defRPr/>
            </a:lvl4pPr>
            <a:lvl5pPr>
              <a:tabLst>
                <a:tab pos="4371777" algn="r"/>
              </a:tabLst>
              <a:defRPr baseline="0"/>
            </a:lvl5pPr>
            <a:lvl6pPr marL="309811" indent="0">
              <a:buNone/>
              <a:tabLst>
                <a:tab pos="5849737" algn="r"/>
              </a:tabLst>
              <a:defRPr/>
            </a:lvl6pPr>
            <a:lvl7pPr>
              <a:tabLst>
                <a:tab pos="5849737" algn="r"/>
              </a:tabLst>
              <a:defRPr/>
            </a:lvl7pPr>
            <a:lvl8pPr>
              <a:tabLst>
                <a:tab pos="5849737" algn="r"/>
              </a:tabLst>
              <a:defRPr/>
            </a:lvl8pPr>
            <a:lvl9pPr>
              <a:tabLst>
                <a:tab pos="5849737"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444765020"/>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80"/>
            <a:ext cx="9277349" cy="4752975"/>
          </a:xfrm>
          <a:prstGeom prst="rect">
            <a:avLst/>
          </a:prstGeom>
        </p:spPr>
        <p:txBody>
          <a:bodyPr>
            <a:normAutofit/>
          </a:bodyPr>
          <a:lstStyle>
            <a:lvl1pPr marL="0" indent="0">
              <a:spcBef>
                <a:spcPts val="3129"/>
              </a:spcBef>
              <a:buFont typeface="Arial" panose="020B0604020202020204" pitchFamily="34" charset="0"/>
              <a:buChar char="​"/>
              <a:defRPr sz="2434">
                <a:solidFill>
                  <a:schemeClr val="tx1"/>
                </a:solidFill>
              </a:defRPr>
            </a:lvl1pPr>
            <a:lvl2pPr marL="0" indent="0">
              <a:defRPr sz="2608">
                <a:solidFill>
                  <a:schemeClr val="bg2"/>
                </a:solidFill>
              </a:defRPr>
            </a:lvl2pPr>
            <a:lvl3pPr marL="0" indent="0">
              <a:buNone/>
              <a:defRPr sz="2608">
                <a:solidFill>
                  <a:schemeClr val="bg2"/>
                </a:solidFill>
              </a:defRPr>
            </a:lvl3pPr>
            <a:lvl4pPr>
              <a:defRPr sz="2608">
                <a:solidFill>
                  <a:schemeClr val="bg2"/>
                </a:solidFill>
              </a:defRPr>
            </a:lvl4pPr>
            <a:lvl5pPr>
              <a:defRPr sz="2608">
                <a:solidFill>
                  <a:schemeClr val="bg2"/>
                </a:solidFill>
              </a:defRPr>
            </a:lvl5pPr>
          </a:lstStyle>
          <a:p>
            <a:pPr lvl="0"/>
            <a:r>
              <a:rPr lang="en-GB" noProof="0" dirty="0"/>
              <a:t>Click to edit Master text styles</a:t>
            </a:r>
          </a:p>
        </p:txBody>
      </p:sp>
      <p:sp>
        <p:nvSpPr>
          <p:cNvPr id="2" name="Footer Placeholder 1"/>
          <p:cNvSpPr>
            <a:spLocks noGrp="1"/>
          </p:cNvSpPr>
          <p:nvPr>
            <p:ph type="ftr" sz="quarter" idx="11"/>
          </p:nvPr>
        </p:nvSpPr>
        <p:spPr/>
        <p:txBody>
          <a:bodyPr/>
          <a:lstStyle/>
          <a:p>
            <a:endParaRPr lang="en-GB" dirty="0">
              <a:solidFill>
                <a:prstClr val="black"/>
              </a:solidFill>
            </a:endParaRPr>
          </a:p>
        </p:txBody>
      </p:sp>
    </p:spTree>
    <p:extLst>
      <p:ext uri="{BB962C8B-B14F-4D97-AF65-F5344CB8AC3E}">
        <p14:creationId xmlns:p14="http://schemas.microsoft.com/office/powerpoint/2010/main" val="287148184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4" y="4211955"/>
            <a:ext cx="8528936" cy="2169796"/>
          </a:xfrm>
        </p:spPr>
        <p:txBody>
          <a:bodyPr anchor="b" anchorCtr="0"/>
          <a:lstStyle>
            <a:lvl1pPr>
              <a:lnSpc>
                <a:spcPct val="100000"/>
              </a:lnSpc>
              <a:spcAft>
                <a:spcPts val="522"/>
              </a:spcAft>
              <a:defRPr sz="788"/>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grpSp>
    </p:spTree>
    <p:extLst>
      <p:ext uri="{BB962C8B-B14F-4D97-AF65-F5344CB8AC3E}">
        <p14:creationId xmlns:p14="http://schemas.microsoft.com/office/powerpoint/2010/main" val="391734562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7"/>
            <a:ext cx="5592011" cy="505645"/>
          </a:xfrm>
          <a:prstGeom prst="rect">
            <a:avLst/>
          </a:prstGeom>
        </p:spPr>
        <p:txBody>
          <a:bodyPr lIns="0" tIns="0" rIns="0" bIns="0" anchor="b" anchorCtr="0">
            <a:noAutofit/>
          </a:bodyPr>
          <a:lstStyle>
            <a:lvl1pPr marL="0" indent="0" algn="l">
              <a:lnSpc>
                <a:spcPct val="100000"/>
              </a:lnSpc>
              <a:spcAft>
                <a:spcPts val="0"/>
              </a:spcAft>
              <a:buNone/>
              <a:defRPr sz="1565" b="1">
                <a:solidFill>
                  <a:schemeClr val="bg1"/>
                </a:solidFill>
              </a:defRPr>
            </a:lvl1pPr>
            <a:lvl2pPr marL="0" indent="0" algn="l">
              <a:buNone/>
              <a:defRPr sz="1391" b="0">
                <a:solidFill>
                  <a:schemeClr val="bg1"/>
                </a:solidFill>
              </a:defRPr>
            </a:lvl2pPr>
            <a:lvl3pPr marL="1059825" indent="0" algn="ctr">
              <a:buNone/>
              <a:defRPr sz="2086"/>
            </a:lvl3pPr>
            <a:lvl4pPr marL="1589737" indent="0" algn="ctr">
              <a:buNone/>
              <a:defRPr sz="1854"/>
            </a:lvl4pPr>
            <a:lvl5pPr marL="2119650" indent="0" algn="ctr">
              <a:buNone/>
              <a:defRPr sz="1854"/>
            </a:lvl5pPr>
            <a:lvl6pPr marL="2649563" indent="0" algn="ctr">
              <a:buNone/>
              <a:defRPr sz="1854"/>
            </a:lvl6pPr>
            <a:lvl7pPr marL="3179475" indent="0" algn="ctr">
              <a:buNone/>
              <a:defRPr sz="1854"/>
            </a:lvl7pPr>
            <a:lvl8pPr marL="3709387" indent="0" algn="ctr">
              <a:buNone/>
              <a:defRPr sz="1854"/>
            </a:lvl8pPr>
            <a:lvl9pPr marL="4239298" indent="0" algn="ctr">
              <a:buNone/>
              <a:defRPr sz="185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6" y="6362705"/>
            <a:ext cx="5594349" cy="298451"/>
          </a:xfrm>
          <a:prstGeom prst="rect">
            <a:avLst/>
          </a:prstGeom>
        </p:spPr>
        <p:txBody>
          <a:bodyPr/>
          <a:lstStyle>
            <a:lvl1pPr>
              <a:spcAft>
                <a:spcPts val="0"/>
              </a:spcAft>
              <a:defRPr sz="91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6756004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5996" userDrawn="1">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49"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303"/>
              </a:lnSpc>
              <a:defRPr sz="2782"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7"/>
            <a:ext cx="5592011" cy="505645"/>
          </a:xfrm>
          <a:prstGeom prst="rect">
            <a:avLst/>
          </a:prstGeom>
        </p:spPr>
        <p:txBody>
          <a:bodyPr lIns="0" tIns="0" rIns="0" bIns="0" anchor="b" anchorCtr="0">
            <a:noAutofit/>
          </a:bodyPr>
          <a:lstStyle>
            <a:lvl1pPr marL="0" indent="0" algn="l">
              <a:lnSpc>
                <a:spcPct val="100000"/>
              </a:lnSpc>
              <a:spcAft>
                <a:spcPts val="0"/>
              </a:spcAft>
              <a:buNone/>
              <a:defRPr sz="1391">
                <a:solidFill>
                  <a:schemeClr val="bg1"/>
                </a:solidFill>
              </a:defRPr>
            </a:lvl1pPr>
            <a:lvl2pPr marL="529913" indent="0" algn="ctr">
              <a:buNone/>
              <a:defRPr sz="2318"/>
            </a:lvl2pPr>
            <a:lvl3pPr marL="1059825" indent="0" algn="ctr">
              <a:buNone/>
              <a:defRPr sz="2086"/>
            </a:lvl3pPr>
            <a:lvl4pPr marL="1589737" indent="0" algn="ctr">
              <a:buNone/>
              <a:defRPr sz="1854"/>
            </a:lvl4pPr>
            <a:lvl5pPr marL="2119650" indent="0" algn="ctr">
              <a:buNone/>
              <a:defRPr sz="1854"/>
            </a:lvl5pPr>
            <a:lvl6pPr marL="2649563" indent="0" algn="ctr">
              <a:buNone/>
              <a:defRPr sz="1854"/>
            </a:lvl6pPr>
            <a:lvl7pPr marL="3179475" indent="0" algn="ctr">
              <a:buNone/>
              <a:defRPr sz="1854"/>
            </a:lvl7pPr>
            <a:lvl8pPr marL="3709387" indent="0" algn="ctr">
              <a:buNone/>
              <a:defRPr sz="1854"/>
            </a:lvl8pPr>
            <a:lvl9pPr marL="4239298" indent="0" algn="ctr">
              <a:buNone/>
              <a:defRPr sz="1854"/>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6" y="6362705"/>
            <a:ext cx="5594349" cy="298451"/>
          </a:xfrm>
          <a:prstGeom prst="rect">
            <a:avLst/>
          </a:prstGeom>
        </p:spPr>
        <p:txBody>
          <a:bodyPr/>
          <a:lstStyle>
            <a:lvl1pPr>
              <a:spcAft>
                <a:spcPts val="0"/>
              </a:spcAft>
              <a:defRPr sz="91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grpSp>
    </p:spTree>
    <p:extLst>
      <p:ext uri="{BB962C8B-B14F-4D97-AF65-F5344CB8AC3E}">
        <p14:creationId xmlns:p14="http://schemas.microsoft.com/office/powerpoint/2010/main" val="220419369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5996" userDrawn="1">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303"/>
              </a:lnSpc>
              <a:defRPr sz="2782"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7"/>
            <a:ext cx="5594348" cy="505645"/>
          </a:xfrm>
          <a:prstGeom prst="rect">
            <a:avLst/>
          </a:prstGeom>
        </p:spPr>
        <p:txBody>
          <a:bodyPr lIns="0" tIns="0" rIns="0" bIns="0" anchor="b" anchorCtr="0">
            <a:noAutofit/>
          </a:bodyPr>
          <a:lstStyle>
            <a:lvl1pPr marL="0" indent="0" algn="l">
              <a:lnSpc>
                <a:spcPct val="100000"/>
              </a:lnSpc>
              <a:spcAft>
                <a:spcPts val="0"/>
              </a:spcAft>
              <a:buNone/>
              <a:defRPr sz="1391">
                <a:solidFill>
                  <a:schemeClr val="tx1"/>
                </a:solidFill>
              </a:defRPr>
            </a:lvl1pPr>
            <a:lvl2pPr marL="529913" indent="0" algn="ctr">
              <a:buNone/>
              <a:defRPr sz="2318"/>
            </a:lvl2pPr>
            <a:lvl3pPr marL="1059825" indent="0" algn="ctr">
              <a:buNone/>
              <a:defRPr sz="2086"/>
            </a:lvl3pPr>
            <a:lvl4pPr marL="1589737" indent="0" algn="ctr">
              <a:buNone/>
              <a:defRPr sz="1854"/>
            </a:lvl4pPr>
            <a:lvl5pPr marL="2119650" indent="0" algn="ctr">
              <a:buNone/>
              <a:defRPr sz="1854"/>
            </a:lvl5pPr>
            <a:lvl6pPr marL="2649563" indent="0" algn="ctr">
              <a:buNone/>
              <a:defRPr sz="1854"/>
            </a:lvl6pPr>
            <a:lvl7pPr marL="3179475" indent="0" algn="ctr">
              <a:buNone/>
              <a:defRPr sz="1854"/>
            </a:lvl7pPr>
            <a:lvl8pPr marL="3709387" indent="0" algn="ctr">
              <a:buNone/>
              <a:defRPr sz="1854"/>
            </a:lvl8pPr>
            <a:lvl9pPr marL="4239298" indent="0" algn="ctr">
              <a:buNone/>
              <a:defRPr sz="1854"/>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8" y="6362705"/>
            <a:ext cx="5594349" cy="298451"/>
          </a:xfrm>
          <a:prstGeom prst="rect">
            <a:avLst/>
          </a:prstGeom>
        </p:spPr>
        <p:txBody>
          <a:bodyPr>
            <a:noAutofit/>
          </a:bodyPr>
          <a:lstStyle>
            <a:lvl1pPr>
              <a:spcAft>
                <a:spcPts val="0"/>
              </a:spcAft>
              <a:defRPr sz="91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grpSp>
    </p:spTree>
    <p:extLst>
      <p:ext uri="{BB962C8B-B14F-4D97-AF65-F5344CB8AC3E}">
        <p14:creationId xmlns:p14="http://schemas.microsoft.com/office/powerpoint/2010/main" val="891520729"/>
      </p:ext>
    </p:extLst>
  </p:cSld>
  <p:clrMapOvr>
    <a:masterClrMapping/>
  </p:clrMapOvr>
  <p:transition>
    <p:fade/>
  </p:transition>
  <p:extLst>
    <p:ext uri="{DCECCB84-F9BA-43D5-87BE-67443E8EF086}">
      <p15:sldGuideLst xmlns:p15="http://schemas.microsoft.com/office/powerpoint/2012/main">
        <p15:guide id="1" orient="horz" pos="5996" userDrawn="1">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7" y="1700219"/>
            <a:ext cx="10418233" cy="1592403"/>
          </a:xfrm>
        </p:spPr>
        <p:txBody>
          <a:bodyPr anchor="b"/>
          <a:lstStyle>
            <a:lvl1pPr>
              <a:lnSpc>
                <a:spcPct val="95000"/>
              </a:lnSpc>
              <a:defRPr sz="334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347">
                <a:solidFill>
                  <a:schemeClr val="bg1"/>
                </a:solidFill>
              </a:defRPr>
            </a:lvl1pPr>
            <a:lvl2pPr marL="529913" indent="0">
              <a:buNone/>
              <a:defRPr sz="2318">
                <a:solidFill>
                  <a:schemeClr val="tx1">
                    <a:tint val="75000"/>
                  </a:schemeClr>
                </a:solidFill>
              </a:defRPr>
            </a:lvl2pPr>
            <a:lvl3pPr marL="1059825" indent="0">
              <a:buNone/>
              <a:defRPr sz="2086">
                <a:solidFill>
                  <a:schemeClr val="tx1">
                    <a:tint val="75000"/>
                  </a:schemeClr>
                </a:solidFill>
              </a:defRPr>
            </a:lvl3pPr>
            <a:lvl4pPr marL="1589737" indent="0">
              <a:buNone/>
              <a:defRPr sz="1854">
                <a:solidFill>
                  <a:schemeClr val="tx1">
                    <a:tint val="75000"/>
                  </a:schemeClr>
                </a:solidFill>
              </a:defRPr>
            </a:lvl4pPr>
            <a:lvl5pPr marL="2119650" indent="0">
              <a:buNone/>
              <a:defRPr sz="1854">
                <a:solidFill>
                  <a:schemeClr val="tx1">
                    <a:tint val="75000"/>
                  </a:schemeClr>
                </a:solidFill>
              </a:defRPr>
            </a:lvl5pPr>
            <a:lvl6pPr marL="2649563" indent="0">
              <a:buNone/>
              <a:defRPr sz="1854">
                <a:solidFill>
                  <a:schemeClr val="tx1">
                    <a:tint val="75000"/>
                  </a:schemeClr>
                </a:solidFill>
              </a:defRPr>
            </a:lvl6pPr>
            <a:lvl7pPr marL="3179475" indent="0">
              <a:buNone/>
              <a:defRPr sz="1854">
                <a:solidFill>
                  <a:schemeClr val="tx1">
                    <a:tint val="75000"/>
                  </a:schemeClr>
                </a:solidFill>
              </a:defRPr>
            </a:lvl7pPr>
            <a:lvl8pPr marL="3709387" indent="0">
              <a:buNone/>
              <a:defRPr sz="1854">
                <a:solidFill>
                  <a:schemeClr val="tx1">
                    <a:tint val="75000"/>
                  </a:schemeClr>
                </a:solidFill>
              </a:defRPr>
            </a:lvl8pPr>
            <a:lvl9pPr marL="4239298" indent="0">
              <a:buNone/>
              <a:defRPr sz="1854">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371494930"/>
      </p:ext>
    </p:extLst>
  </p:cSld>
  <p:clrMapOvr>
    <a:masterClrMapping/>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7" y="1705674"/>
            <a:ext cx="10418233" cy="1592403"/>
          </a:xfrm>
        </p:spPr>
        <p:txBody>
          <a:bodyPr anchor="b"/>
          <a:lstStyle>
            <a:lvl1pPr>
              <a:lnSpc>
                <a:spcPct val="95000"/>
              </a:lnSpc>
              <a:defRPr sz="334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7" y="3429000"/>
            <a:ext cx="10418233" cy="1566532"/>
          </a:xfrm>
        </p:spPr>
        <p:txBody>
          <a:bodyPr lIns="0" tIns="0" rIns="0" bIns="0">
            <a:noAutofit/>
          </a:bodyPr>
          <a:lstStyle>
            <a:lvl1pPr marL="0" indent="0">
              <a:lnSpc>
                <a:spcPct val="95000"/>
              </a:lnSpc>
              <a:spcAft>
                <a:spcPts val="0"/>
              </a:spcAft>
              <a:buNone/>
              <a:defRPr sz="3347">
                <a:solidFill>
                  <a:schemeClr val="bg1"/>
                </a:solidFill>
              </a:defRPr>
            </a:lvl1pPr>
            <a:lvl2pPr marL="529913" indent="0">
              <a:buNone/>
              <a:defRPr sz="2318">
                <a:solidFill>
                  <a:schemeClr val="tx1">
                    <a:tint val="75000"/>
                  </a:schemeClr>
                </a:solidFill>
              </a:defRPr>
            </a:lvl2pPr>
            <a:lvl3pPr marL="1059825" indent="0">
              <a:buNone/>
              <a:defRPr sz="2086">
                <a:solidFill>
                  <a:schemeClr val="tx1">
                    <a:tint val="75000"/>
                  </a:schemeClr>
                </a:solidFill>
              </a:defRPr>
            </a:lvl3pPr>
            <a:lvl4pPr marL="1589737" indent="0">
              <a:buNone/>
              <a:defRPr sz="1854">
                <a:solidFill>
                  <a:schemeClr val="tx1">
                    <a:tint val="75000"/>
                  </a:schemeClr>
                </a:solidFill>
              </a:defRPr>
            </a:lvl4pPr>
            <a:lvl5pPr marL="2119650" indent="0">
              <a:buNone/>
              <a:defRPr sz="1854">
                <a:solidFill>
                  <a:schemeClr val="tx1">
                    <a:tint val="75000"/>
                  </a:schemeClr>
                </a:solidFill>
              </a:defRPr>
            </a:lvl5pPr>
            <a:lvl6pPr marL="2649563" indent="0">
              <a:buNone/>
              <a:defRPr sz="1854">
                <a:solidFill>
                  <a:schemeClr val="tx1">
                    <a:tint val="75000"/>
                  </a:schemeClr>
                </a:solidFill>
              </a:defRPr>
            </a:lvl6pPr>
            <a:lvl7pPr marL="3179475" indent="0">
              <a:buNone/>
              <a:defRPr sz="1854">
                <a:solidFill>
                  <a:schemeClr val="tx1">
                    <a:tint val="75000"/>
                  </a:schemeClr>
                </a:solidFill>
              </a:defRPr>
            </a:lvl7pPr>
            <a:lvl8pPr marL="3709387" indent="0">
              <a:buNone/>
              <a:defRPr sz="1854">
                <a:solidFill>
                  <a:schemeClr val="tx1">
                    <a:tint val="75000"/>
                  </a:schemeClr>
                </a:solidFill>
              </a:defRPr>
            </a:lvl8pPr>
            <a:lvl9pPr marL="4239298" indent="0">
              <a:buNone/>
              <a:defRPr sz="1854">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74285004"/>
      </p:ext>
    </p:extLst>
  </p:cSld>
  <p:clrMapOvr>
    <a:masterClrMapping/>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7" y="1705674"/>
            <a:ext cx="10418233" cy="1592403"/>
          </a:xfrm>
        </p:spPr>
        <p:txBody>
          <a:bodyPr anchor="b"/>
          <a:lstStyle>
            <a:lvl1pPr>
              <a:lnSpc>
                <a:spcPct val="95000"/>
              </a:lnSpc>
              <a:defRPr sz="334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7" y="3429000"/>
            <a:ext cx="10418233" cy="1566532"/>
          </a:xfrm>
        </p:spPr>
        <p:txBody>
          <a:bodyPr lIns="0" tIns="0" rIns="0" bIns="0">
            <a:noAutofit/>
          </a:bodyPr>
          <a:lstStyle>
            <a:lvl1pPr marL="0" indent="0">
              <a:lnSpc>
                <a:spcPct val="95000"/>
              </a:lnSpc>
              <a:spcAft>
                <a:spcPts val="0"/>
              </a:spcAft>
              <a:buNone/>
              <a:defRPr sz="3347">
                <a:solidFill>
                  <a:schemeClr val="bg1"/>
                </a:solidFill>
              </a:defRPr>
            </a:lvl1pPr>
            <a:lvl2pPr marL="529913" indent="0">
              <a:buNone/>
              <a:defRPr sz="2318">
                <a:solidFill>
                  <a:schemeClr val="tx1">
                    <a:tint val="75000"/>
                  </a:schemeClr>
                </a:solidFill>
              </a:defRPr>
            </a:lvl2pPr>
            <a:lvl3pPr marL="1059825" indent="0">
              <a:buNone/>
              <a:defRPr sz="2086">
                <a:solidFill>
                  <a:schemeClr val="tx1">
                    <a:tint val="75000"/>
                  </a:schemeClr>
                </a:solidFill>
              </a:defRPr>
            </a:lvl3pPr>
            <a:lvl4pPr marL="1589737" indent="0">
              <a:buNone/>
              <a:defRPr sz="1854">
                <a:solidFill>
                  <a:schemeClr val="tx1">
                    <a:tint val="75000"/>
                  </a:schemeClr>
                </a:solidFill>
              </a:defRPr>
            </a:lvl4pPr>
            <a:lvl5pPr marL="2119650" indent="0">
              <a:buNone/>
              <a:defRPr sz="1854">
                <a:solidFill>
                  <a:schemeClr val="tx1">
                    <a:tint val="75000"/>
                  </a:schemeClr>
                </a:solidFill>
              </a:defRPr>
            </a:lvl5pPr>
            <a:lvl6pPr marL="2649563" indent="0">
              <a:buNone/>
              <a:defRPr sz="1854">
                <a:solidFill>
                  <a:schemeClr val="tx1">
                    <a:tint val="75000"/>
                  </a:schemeClr>
                </a:solidFill>
              </a:defRPr>
            </a:lvl6pPr>
            <a:lvl7pPr marL="3179475" indent="0">
              <a:buNone/>
              <a:defRPr sz="1854">
                <a:solidFill>
                  <a:schemeClr val="tx1">
                    <a:tint val="75000"/>
                  </a:schemeClr>
                </a:solidFill>
              </a:defRPr>
            </a:lvl7pPr>
            <a:lvl8pPr marL="3709387" indent="0">
              <a:buNone/>
              <a:defRPr sz="1854">
                <a:solidFill>
                  <a:schemeClr val="tx1">
                    <a:tint val="75000"/>
                  </a:schemeClr>
                </a:solidFill>
              </a:defRPr>
            </a:lvl8pPr>
            <a:lvl9pPr marL="4239298" indent="0">
              <a:buNone/>
              <a:defRPr sz="1854">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6"/>
            <a:ext cx="4896560" cy="173894"/>
          </a:xfrm>
          <a:prstGeom prst="rect">
            <a:avLst/>
          </a:prstGeom>
          <a:noFill/>
        </p:spPr>
        <p:txBody>
          <a:bodyPr wrap="square" lIns="0" tIns="0" rIns="0" bIns="0" rtlCol="0">
            <a:spAutoFit/>
          </a:bodyPr>
          <a:lstStyle/>
          <a:p>
            <a:pPr marL="0" indent="0" algn="r">
              <a:spcBef>
                <a:spcPts val="0"/>
              </a:spcBef>
              <a:buSzPct val="100000"/>
              <a:buFont typeface="Arial"/>
              <a:buNone/>
            </a:pPr>
            <a:r>
              <a:rPr lang="en-US" sz="565" noProof="0" dirty="0">
                <a:solidFill>
                  <a:schemeClr val="bg1"/>
                </a:solidFill>
              </a:rPr>
              <a:t>Presentation title</a:t>
            </a:r>
            <a:br>
              <a:rPr lang="en-US" sz="565" noProof="0" dirty="0">
                <a:solidFill>
                  <a:schemeClr val="bg1"/>
                </a:solidFill>
              </a:rPr>
            </a:br>
            <a:r>
              <a:rPr lang="en-US" sz="565" noProof="0" dirty="0">
                <a:solidFill>
                  <a:schemeClr val="bg1"/>
                </a:solidFill>
              </a:rPr>
              <a:t>[To edit, click View &gt; Slide Master &gt; Slide Master]</a:t>
            </a:r>
          </a:p>
        </p:txBody>
      </p:sp>
      <p:sp>
        <p:nvSpPr>
          <p:cNvPr id="8" name="TextBox 7"/>
          <p:cNvSpPr txBox="1"/>
          <p:nvPr userDrawn="1"/>
        </p:nvSpPr>
        <p:spPr>
          <a:xfrm>
            <a:off x="469904" y="6477006"/>
            <a:ext cx="5355167" cy="173894"/>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bg1"/>
                </a:solidFill>
              </a:rPr>
              <a:t>Member firms and DTTL: Insert appropriate copyright</a:t>
            </a:r>
            <a:br>
              <a:rPr lang="en-US" sz="565" noProof="0" dirty="0">
                <a:solidFill>
                  <a:schemeClr val="bg1"/>
                </a:solidFill>
              </a:rPr>
            </a:br>
            <a:r>
              <a:rPr lang="en-US" sz="565" noProof="0" dirty="0">
                <a:solidFill>
                  <a:schemeClr val="bg1"/>
                </a:solidFill>
              </a:rPr>
              <a:t>[To edit, click View &gt; Slide Master &gt; Slide Master]</a:t>
            </a:r>
          </a:p>
        </p:txBody>
      </p:sp>
      <p:sp>
        <p:nvSpPr>
          <p:cNvPr id="9" name="TextBox 8"/>
          <p:cNvSpPr txBox="1"/>
          <p:nvPr userDrawn="1"/>
        </p:nvSpPr>
        <p:spPr>
          <a:xfrm>
            <a:off x="11414129" y="6477008"/>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bg1"/>
                </a:solidFill>
              </a:rPr>
              <a:pPr marL="0" indent="0" algn="r">
                <a:spcBef>
                  <a:spcPts val="695"/>
                </a:spcBef>
                <a:buSzPct val="100000"/>
                <a:buFont typeface="Arial"/>
                <a:buNone/>
              </a:pPr>
              <a:t>‹#›</a:t>
            </a:fld>
            <a:endParaRPr lang="en-US" sz="565" noProof="0" dirty="0">
              <a:solidFill>
                <a:schemeClr val="bg1"/>
              </a:solidFill>
            </a:endParaRPr>
          </a:p>
        </p:txBody>
      </p:sp>
    </p:spTree>
    <p:extLst>
      <p:ext uri="{BB962C8B-B14F-4D97-AF65-F5344CB8AC3E}">
        <p14:creationId xmlns:p14="http://schemas.microsoft.com/office/powerpoint/2010/main" val="3854001447"/>
      </p:ext>
    </p:extLst>
  </p:cSld>
  <p:clrMapOvr>
    <a:masterClrMapping/>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7" y="1705674"/>
            <a:ext cx="10418233" cy="1592403"/>
          </a:xfrm>
        </p:spPr>
        <p:txBody>
          <a:bodyPr anchor="b"/>
          <a:lstStyle>
            <a:lvl1pPr>
              <a:lnSpc>
                <a:spcPct val="95000"/>
              </a:lnSpc>
              <a:defRPr sz="334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7" y="3429000"/>
            <a:ext cx="10418233" cy="1566532"/>
          </a:xfrm>
        </p:spPr>
        <p:txBody>
          <a:bodyPr lIns="0" tIns="0" rIns="0" bIns="0">
            <a:noAutofit/>
          </a:bodyPr>
          <a:lstStyle>
            <a:lvl1pPr marL="0" indent="0">
              <a:lnSpc>
                <a:spcPct val="95000"/>
              </a:lnSpc>
              <a:spcAft>
                <a:spcPts val="0"/>
              </a:spcAft>
              <a:buNone/>
              <a:defRPr sz="3347">
                <a:solidFill>
                  <a:schemeClr val="bg1"/>
                </a:solidFill>
              </a:defRPr>
            </a:lvl1pPr>
            <a:lvl2pPr marL="529913" indent="0">
              <a:buNone/>
              <a:defRPr sz="2318">
                <a:solidFill>
                  <a:schemeClr val="tx1">
                    <a:tint val="75000"/>
                  </a:schemeClr>
                </a:solidFill>
              </a:defRPr>
            </a:lvl2pPr>
            <a:lvl3pPr marL="1059825" indent="0">
              <a:buNone/>
              <a:defRPr sz="2086">
                <a:solidFill>
                  <a:schemeClr val="tx1">
                    <a:tint val="75000"/>
                  </a:schemeClr>
                </a:solidFill>
              </a:defRPr>
            </a:lvl3pPr>
            <a:lvl4pPr marL="1589737" indent="0">
              <a:buNone/>
              <a:defRPr sz="1854">
                <a:solidFill>
                  <a:schemeClr val="tx1">
                    <a:tint val="75000"/>
                  </a:schemeClr>
                </a:solidFill>
              </a:defRPr>
            </a:lvl4pPr>
            <a:lvl5pPr marL="2119650" indent="0">
              <a:buNone/>
              <a:defRPr sz="1854">
                <a:solidFill>
                  <a:schemeClr val="tx1">
                    <a:tint val="75000"/>
                  </a:schemeClr>
                </a:solidFill>
              </a:defRPr>
            </a:lvl5pPr>
            <a:lvl6pPr marL="2649563" indent="0">
              <a:buNone/>
              <a:defRPr sz="1854">
                <a:solidFill>
                  <a:schemeClr val="tx1">
                    <a:tint val="75000"/>
                  </a:schemeClr>
                </a:solidFill>
              </a:defRPr>
            </a:lvl6pPr>
            <a:lvl7pPr marL="3179475" indent="0">
              <a:buNone/>
              <a:defRPr sz="1854">
                <a:solidFill>
                  <a:schemeClr val="tx1">
                    <a:tint val="75000"/>
                  </a:schemeClr>
                </a:solidFill>
              </a:defRPr>
            </a:lvl7pPr>
            <a:lvl8pPr marL="3709387" indent="0">
              <a:buNone/>
              <a:defRPr sz="1854">
                <a:solidFill>
                  <a:schemeClr val="tx1">
                    <a:tint val="75000"/>
                  </a:schemeClr>
                </a:solidFill>
              </a:defRPr>
            </a:lvl8pPr>
            <a:lvl9pPr marL="4239298" indent="0">
              <a:buNone/>
              <a:defRPr sz="1854">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075017595"/>
      </p:ext>
    </p:extLst>
  </p:cSld>
  <p:clrMapOvr>
    <a:masterClrMapping/>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7" y="1705674"/>
            <a:ext cx="10418233" cy="1592403"/>
          </a:xfrm>
        </p:spPr>
        <p:txBody>
          <a:bodyPr anchor="b"/>
          <a:lstStyle>
            <a:lvl1pPr>
              <a:lnSpc>
                <a:spcPct val="95000"/>
              </a:lnSpc>
              <a:defRPr sz="334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7" y="3429000"/>
            <a:ext cx="10418233" cy="1566532"/>
          </a:xfrm>
        </p:spPr>
        <p:txBody>
          <a:bodyPr lIns="0" tIns="0" rIns="0" bIns="0">
            <a:noAutofit/>
          </a:bodyPr>
          <a:lstStyle>
            <a:lvl1pPr marL="0" indent="0">
              <a:lnSpc>
                <a:spcPct val="95000"/>
              </a:lnSpc>
              <a:spcAft>
                <a:spcPts val="0"/>
              </a:spcAft>
              <a:buNone/>
              <a:defRPr sz="3347">
                <a:solidFill>
                  <a:schemeClr val="bg1"/>
                </a:solidFill>
              </a:defRPr>
            </a:lvl1pPr>
            <a:lvl2pPr marL="529913" indent="0">
              <a:buNone/>
              <a:defRPr sz="2318">
                <a:solidFill>
                  <a:schemeClr val="tx1">
                    <a:tint val="75000"/>
                  </a:schemeClr>
                </a:solidFill>
              </a:defRPr>
            </a:lvl2pPr>
            <a:lvl3pPr marL="1059825" indent="0">
              <a:buNone/>
              <a:defRPr sz="2086">
                <a:solidFill>
                  <a:schemeClr val="tx1">
                    <a:tint val="75000"/>
                  </a:schemeClr>
                </a:solidFill>
              </a:defRPr>
            </a:lvl3pPr>
            <a:lvl4pPr marL="1589737" indent="0">
              <a:buNone/>
              <a:defRPr sz="1854">
                <a:solidFill>
                  <a:schemeClr val="tx1">
                    <a:tint val="75000"/>
                  </a:schemeClr>
                </a:solidFill>
              </a:defRPr>
            </a:lvl4pPr>
            <a:lvl5pPr marL="2119650" indent="0">
              <a:buNone/>
              <a:defRPr sz="1854">
                <a:solidFill>
                  <a:schemeClr val="tx1">
                    <a:tint val="75000"/>
                  </a:schemeClr>
                </a:solidFill>
              </a:defRPr>
            </a:lvl5pPr>
            <a:lvl6pPr marL="2649563" indent="0">
              <a:buNone/>
              <a:defRPr sz="1854">
                <a:solidFill>
                  <a:schemeClr val="tx1">
                    <a:tint val="75000"/>
                  </a:schemeClr>
                </a:solidFill>
              </a:defRPr>
            </a:lvl6pPr>
            <a:lvl7pPr marL="3179475" indent="0">
              <a:buNone/>
              <a:defRPr sz="1854">
                <a:solidFill>
                  <a:schemeClr val="tx1">
                    <a:tint val="75000"/>
                  </a:schemeClr>
                </a:solidFill>
              </a:defRPr>
            </a:lvl7pPr>
            <a:lvl8pPr marL="3709387" indent="0">
              <a:buNone/>
              <a:defRPr sz="1854">
                <a:solidFill>
                  <a:schemeClr val="tx1">
                    <a:tint val="75000"/>
                  </a:schemeClr>
                </a:solidFill>
              </a:defRPr>
            </a:lvl8pPr>
            <a:lvl9pPr marL="4239298" indent="0">
              <a:buNone/>
              <a:defRPr sz="1854">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6"/>
            <a:ext cx="4896560" cy="173894"/>
          </a:xfrm>
          <a:prstGeom prst="rect">
            <a:avLst/>
          </a:prstGeom>
          <a:noFill/>
        </p:spPr>
        <p:txBody>
          <a:bodyPr wrap="square" lIns="0" tIns="0" rIns="0" bIns="0" rtlCol="0">
            <a:spAutoFit/>
          </a:bodyPr>
          <a:lstStyle/>
          <a:p>
            <a:pPr marL="0" indent="0" algn="r">
              <a:spcBef>
                <a:spcPts val="0"/>
              </a:spcBef>
              <a:buSzPct val="100000"/>
              <a:buFont typeface="Arial"/>
              <a:buNone/>
            </a:pPr>
            <a:r>
              <a:rPr lang="en-US" sz="565" noProof="0" dirty="0">
                <a:solidFill>
                  <a:schemeClr val="bg1"/>
                </a:solidFill>
              </a:rPr>
              <a:t>Presentation title</a:t>
            </a:r>
            <a:br>
              <a:rPr lang="en-US" sz="565" noProof="0" dirty="0">
                <a:solidFill>
                  <a:schemeClr val="bg1"/>
                </a:solidFill>
              </a:rPr>
            </a:br>
            <a:r>
              <a:rPr lang="en-US" sz="565" noProof="0" dirty="0">
                <a:solidFill>
                  <a:schemeClr val="bg1"/>
                </a:solidFill>
              </a:rPr>
              <a:t>[To edit, click View &gt; Slide Master &gt; Slide Master]</a:t>
            </a:r>
          </a:p>
        </p:txBody>
      </p:sp>
      <p:sp>
        <p:nvSpPr>
          <p:cNvPr id="21" name="TextBox 20"/>
          <p:cNvSpPr txBox="1"/>
          <p:nvPr userDrawn="1"/>
        </p:nvSpPr>
        <p:spPr>
          <a:xfrm>
            <a:off x="469904" y="6477006"/>
            <a:ext cx="5355167" cy="173894"/>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bg1"/>
                </a:solidFill>
              </a:rPr>
              <a:t>Member firms and DTTL: Insert appropriate copyright</a:t>
            </a:r>
            <a:br>
              <a:rPr lang="en-US" sz="565" noProof="0" dirty="0">
                <a:solidFill>
                  <a:schemeClr val="bg1"/>
                </a:solidFill>
              </a:rPr>
            </a:br>
            <a:r>
              <a:rPr lang="en-US" sz="565" noProof="0" dirty="0">
                <a:solidFill>
                  <a:schemeClr val="bg1"/>
                </a:solidFill>
              </a:rPr>
              <a:t>[To edit, click View &gt; Slide Master &gt; Slide Master]</a:t>
            </a:r>
          </a:p>
        </p:txBody>
      </p:sp>
      <p:sp>
        <p:nvSpPr>
          <p:cNvPr id="22" name="TextBox 21"/>
          <p:cNvSpPr txBox="1"/>
          <p:nvPr userDrawn="1"/>
        </p:nvSpPr>
        <p:spPr>
          <a:xfrm>
            <a:off x="11414129" y="6477008"/>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bg1"/>
                </a:solidFill>
              </a:rPr>
              <a:pPr marL="0" indent="0" algn="r">
                <a:spcBef>
                  <a:spcPts val="695"/>
                </a:spcBef>
                <a:buSzPct val="100000"/>
                <a:buFont typeface="Arial"/>
                <a:buNone/>
              </a:pPr>
              <a:t>‹#›</a:t>
            </a:fld>
            <a:endParaRPr lang="en-US" sz="565" noProof="0" dirty="0">
              <a:solidFill>
                <a:schemeClr val="bg1"/>
              </a:solidFill>
            </a:endParaRPr>
          </a:p>
        </p:txBody>
      </p:sp>
    </p:spTree>
    <p:extLst>
      <p:ext uri="{BB962C8B-B14F-4D97-AF65-F5344CB8AC3E}">
        <p14:creationId xmlns:p14="http://schemas.microsoft.com/office/powerpoint/2010/main" val="3413572515"/>
      </p:ext>
    </p:extLst>
  </p:cSld>
  <p:clrMapOvr>
    <a:masterClrMapping/>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8" y="1705674"/>
            <a:ext cx="10418233" cy="1592403"/>
          </a:xfrm>
        </p:spPr>
        <p:txBody>
          <a:bodyPr anchor="b"/>
          <a:lstStyle>
            <a:lvl1pPr>
              <a:lnSpc>
                <a:spcPct val="95000"/>
              </a:lnSpc>
              <a:defRPr sz="3347"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541000" cy="1566532"/>
          </a:xfrm>
        </p:spPr>
        <p:txBody>
          <a:bodyPr lIns="0" tIns="0" rIns="0" bIns="0">
            <a:noAutofit/>
          </a:bodyPr>
          <a:lstStyle>
            <a:lvl1pPr marL="0" indent="0">
              <a:lnSpc>
                <a:spcPct val="95000"/>
              </a:lnSpc>
              <a:spcAft>
                <a:spcPts val="0"/>
              </a:spcAft>
              <a:buNone/>
              <a:defRPr sz="3347">
                <a:solidFill>
                  <a:schemeClr val="tx1"/>
                </a:solidFill>
              </a:defRPr>
            </a:lvl1pPr>
            <a:lvl2pPr marL="529913" indent="0">
              <a:buNone/>
              <a:defRPr sz="2318">
                <a:solidFill>
                  <a:schemeClr val="tx1">
                    <a:tint val="75000"/>
                  </a:schemeClr>
                </a:solidFill>
              </a:defRPr>
            </a:lvl2pPr>
            <a:lvl3pPr marL="1059825" indent="0">
              <a:buNone/>
              <a:defRPr sz="2086">
                <a:solidFill>
                  <a:schemeClr val="tx1">
                    <a:tint val="75000"/>
                  </a:schemeClr>
                </a:solidFill>
              </a:defRPr>
            </a:lvl3pPr>
            <a:lvl4pPr marL="1589737" indent="0">
              <a:buNone/>
              <a:defRPr sz="1854">
                <a:solidFill>
                  <a:schemeClr val="tx1">
                    <a:tint val="75000"/>
                  </a:schemeClr>
                </a:solidFill>
              </a:defRPr>
            </a:lvl4pPr>
            <a:lvl5pPr marL="2119650" indent="0">
              <a:buNone/>
              <a:defRPr sz="1854">
                <a:solidFill>
                  <a:schemeClr val="tx1">
                    <a:tint val="75000"/>
                  </a:schemeClr>
                </a:solidFill>
              </a:defRPr>
            </a:lvl5pPr>
            <a:lvl6pPr marL="2649563" indent="0">
              <a:buNone/>
              <a:defRPr sz="1854">
                <a:solidFill>
                  <a:schemeClr val="tx1">
                    <a:tint val="75000"/>
                  </a:schemeClr>
                </a:solidFill>
              </a:defRPr>
            </a:lvl6pPr>
            <a:lvl7pPr marL="3179475" indent="0">
              <a:buNone/>
              <a:defRPr sz="1854">
                <a:solidFill>
                  <a:schemeClr val="tx1">
                    <a:tint val="75000"/>
                  </a:schemeClr>
                </a:solidFill>
              </a:defRPr>
            </a:lvl7pPr>
            <a:lvl8pPr marL="3709387" indent="0">
              <a:buNone/>
              <a:defRPr sz="1854">
                <a:solidFill>
                  <a:schemeClr val="tx1">
                    <a:tint val="75000"/>
                  </a:schemeClr>
                </a:solidFill>
              </a:defRPr>
            </a:lvl8pPr>
            <a:lvl9pPr marL="4239298" indent="0">
              <a:buNone/>
              <a:defRPr sz="1854">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178255107"/>
      </p:ext>
    </p:extLst>
  </p:cSld>
  <p:clrMapOvr>
    <a:masterClrMapping/>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739"/>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3" y="6484170"/>
            <a:ext cx="4572000" cy="199285"/>
          </a:xfrm>
          <a:prstGeom prst="rect">
            <a:avLst/>
          </a:prstGeom>
        </p:spPr>
        <p:txBody>
          <a:bodyPr>
            <a:spAutoFit/>
          </a:bodyPr>
          <a:lstStyle/>
          <a:p>
            <a:pPr defTabSz="794889">
              <a:defRPr/>
            </a:pPr>
            <a:r>
              <a:rPr lang="en-GB" sz="695" dirty="0">
                <a:latin typeface="Verdana"/>
                <a:ea typeface="Verdana" panose="020B0604030504040204" pitchFamily="34" charset="0"/>
                <a:cs typeface="Times New Roman" panose="02020603050405020304" pitchFamily="18" charset="0"/>
              </a:rPr>
              <a:t>© 2021. For information, contact Deloitte Touche Tohmatsu Limited.</a:t>
            </a:r>
            <a:endParaRPr lang="en-US" sz="695"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991950966"/>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4" y="1665289"/>
            <a:ext cx="4431857" cy="4633913"/>
          </a:xfrm>
          <a:prstGeom prst="rect">
            <a:avLst/>
          </a:prstGeom>
        </p:spPr>
        <p:txBody>
          <a:bodyPr/>
          <a:lstStyle>
            <a:lvl1pPr>
              <a:tabLst>
                <a:tab pos="5829036" algn="r"/>
              </a:tabLst>
              <a:defRPr/>
            </a:lvl1pPr>
            <a:lvl2pPr>
              <a:tabLst>
                <a:tab pos="5829036" algn="r"/>
              </a:tabLst>
              <a:defRPr/>
            </a:lvl2pPr>
            <a:lvl3pPr>
              <a:tabLst>
                <a:tab pos="5829036" algn="r"/>
              </a:tabLst>
              <a:defRPr/>
            </a:lvl3pPr>
            <a:lvl4pPr>
              <a:tabLst>
                <a:tab pos="5829036" algn="r"/>
              </a:tabLst>
              <a:defRPr/>
            </a:lvl4pPr>
            <a:lvl5pPr>
              <a:tabLst>
                <a:tab pos="582903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5"/>
            <a:ext cx="6240000" cy="4598989"/>
          </a:xfrm>
          <a:prstGeom prst="rect">
            <a:avLst/>
          </a:prstGeom>
        </p:spPr>
        <p:txBody>
          <a:bodyPr/>
          <a:lstStyle>
            <a:lvl1pPr>
              <a:tabLst>
                <a:tab pos="5829036" algn="r"/>
              </a:tabLst>
              <a:defRPr/>
            </a:lvl1pPr>
            <a:lvl2pPr>
              <a:tabLst>
                <a:tab pos="5829036" algn="r"/>
              </a:tabLst>
              <a:defRPr/>
            </a:lvl2pPr>
            <a:lvl3pPr>
              <a:tabLst>
                <a:tab pos="5829036" algn="r"/>
              </a:tabLst>
              <a:defRPr/>
            </a:lvl3pPr>
            <a:lvl4pPr>
              <a:tabLst>
                <a:tab pos="5829036" algn="r"/>
              </a:tabLst>
              <a:defRPr/>
            </a:lvl4pPr>
            <a:lvl5pPr>
              <a:tabLst>
                <a:tab pos="582903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739"/>
            </a:lvl1pPr>
          </a:lstStyle>
          <a:p>
            <a:r>
              <a:rPr lang="en-US" noProof="0"/>
              <a:t>Click to edit Master title style</a:t>
            </a:r>
            <a:endParaRPr lang="en-US" noProof="0" dirty="0"/>
          </a:p>
        </p:txBody>
      </p:sp>
    </p:spTree>
    <p:extLst>
      <p:ext uri="{BB962C8B-B14F-4D97-AF65-F5344CB8AC3E}">
        <p14:creationId xmlns:p14="http://schemas.microsoft.com/office/powerpoint/2010/main" val="956700468"/>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40597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7"/>
            <a:ext cx="5594348" cy="505645"/>
          </a:xfrm>
          <a:prstGeom prst="rect">
            <a:avLst/>
          </a:prstGeom>
        </p:spPr>
        <p:txBody>
          <a:bodyPr lIns="0" tIns="0" rIns="0" bIns="0" anchor="b" anchorCtr="0">
            <a:noAutofit/>
          </a:bodyPr>
          <a:lstStyle>
            <a:lvl1pPr marL="0" indent="0" algn="l">
              <a:lnSpc>
                <a:spcPct val="100000"/>
              </a:lnSpc>
              <a:spcAft>
                <a:spcPts val="0"/>
              </a:spcAft>
              <a:buNone/>
              <a:defRPr sz="1565" b="1">
                <a:solidFill>
                  <a:schemeClr val="tx1"/>
                </a:solidFill>
              </a:defRPr>
            </a:lvl1pPr>
            <a:lvl2pPr marL="0" indent="0" algn="l">
              <a:buNone/>
              <a:defRPr sz="1391" b="0"/>
            </a:lvl2pPr>
            <a:lvl3pPr marL="1059825" indent="0" algn="ctr">
              <a:buNone/>
              <a:defRPr sz="2086"/>
            </a:lvl3pPr>
            <a:lvl4pPr marL="1589737" indent="0" algn="ctr">
              <a:buNone/>
              <a:defRPr sz="1854"/>
            </a:lvl4pPr>
            <a:lvl5pPr marL="2119650" indent="0" algn="ctr">
              <a:buNone/>
              <a:defRPr sz="1854"/>
            </a:lvl5pPr>
            <a:lvl6pPr marL="2649563" indent="0" algn="ctr">
              <a:buNone/>
              <a:defRPr sz="1854"/>
            </a:lvl6pPr>
            <a:lvl7pPr marL="3179475" indent="0" algn="ctr">
              <a:buNone/>
              <a:defRPr sz="1854"/>
            </a:lvl7pPr>
            <a:lvl8pPr marL="3709387" indent="0" algn="ctr">
              <a:buNone/>
              <a:defRPr sz="1854"/>
            </a:lvl8pPr>
            <a:lvl9pPr marL="4239298" indent="0" algn="ctr">
              <a:buNone/>
              <a:defRPr sz="185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8" y="6362705"/>
            <a:ext cx="5594349" cy="298451"/>
          </a:xfrm>
          <a:prstGeom prst="rect">
            <a:avLst/>
          </a:prstGeom>
        </p:spPr>
        <p:txBody>
          <a:bodyPr>
            <a:noAutofit/>
          </a:bodyPr>
          <a:lstStyle>
            <a:lvl1pPr>
              <a:spcAft>
                <a:spcPts val="0"/>
              </a:spcAft>
              <a:defRPr sz="91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6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218791772"/>
      </p:ext>
    </p:extLst>
  </p:cSld>
  <p:clrMapOvr>
    <a:masterClrMapping/>
  </p:clrMapOvr>
  <p:transition>
    <p:fade/>
  </p:transition>
  <p:extLst>
    <p:ext uri="{DCECCB84-F9BA-43D5-87BE-67443E8EF086}">
      <p15:sldGuideLst xmlns:p15="http://schemas.microsoft.com/office/powerpoint/2012/main">
        <p15:guide id="1" orient="horz" pos="5996" userDrawn="1">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7" y="1590683"/>
            <a:ext cx="9029604" cy="4708525"/>
          </a:xfrm>
          <a:prstGeom prst="rect">
            <a:avLst/>
          </a:prstGeom>
        </p:spPr>
        <p:txBody>
          <a:bodyPr>
            <a:noAutofit/>
          </a:bodyPr>
          <a:lstStyle>
            <a:lvl1pPr>
              <a:spcBef>
                <a:spcPts val="4173"/>
              </a:spcBef>
              <a:defRPr sz="2434">
                <a:solidFill>
                  <a:schemeClr val="bg1"/>
                </a:solidFill>
              </a:defRPr>
            </a:lvl1pPr>
            <a:lvl2pPr marL="529913" indent="-529913">
              <a:defRPr sz="3477">
                <a:solidFill>
                  <a:schemeClr val="bg2"/>
                </a:solidFill>
              </a:defRPr>
            </a:lvl2pPr>
            <a:lvl3pPr>
              <a:defRPr sz="3477">
                <a:solidFill>
                  <a:schemeClr val="bg2"/>
                </a:solidFill>
              </a:defRPr>
            </a:lvl3pPr>
            <a:lvl4pPr>
              <a:defRPr sz="3477">
                <a:solidFill>
                  <a:schemeClr val="bg2"/>
                </a:solidFill>
              </a:defRPr>
            </a:lvl4pPr>
            <a:lvl5pPr>
              <a:defRPr sz="3477">
                <a:solidFill>
                  <a:schemeClr val="bg2"/>
                </a:solidFill>
              </a:defRPr>
            </a:lvl5pPr>
          </a:lstStyle>
          <a:p>
            <a:pPr lvl="0"/>
            <a:r>
              <a:rPr lang="en-US" noProof="0"/>
              <a:t>Edit Master text styles</a:t>
            </a:r>
          </a:p>
        </p:txBody>
      </p:sp>
      <p:sp>
        <p:nvSpPr>
          <p:cNvPr id="9" name="TextBox 8"/>
          <p:cNvSpPr txBox="1"/>
          <p:nvPr userDrawn="1"/>
        </p:nvSpPr>
        <p:spPr>
          <a:xfrm>
            <a:off x="5825067" y="6477006"/>
            <a:ext cx="4896560" cy="173894"/>
          </a:xfrm>
          <a:prstGeom prst="rect">
            <a:avLst/>
          </a:prstGeom>
          <a:noFill/>
        </p:spPr>
        <p:txBody>
          <a:bodyPr wrap="square" lIns="0" tIns="0" rIns="0" bIns="0" rtlCol="0">
            <a:spAutoFit/>
          </a:bodyPr>
          <a:lstStyle/>
          <a:p>
            <a:pPr marL="0" indent="0" algn="r">
              <a:spcBef>
                <a:spcPts val="0"/>
              </a:spcBef>
              <a:buSzPct val="100000"/>
              <a:buFont typeface="Arial"/>
              <a:buNone/>
            </a:pPr>
            <a:r>
              <a:rPr lang="en-US" sz="565" noProof="0" dirty="0">
                <a:solidFill>
                  <a:schemeClr val="bg1"/>
                </a:solidFill>
              </a:rPr>
              <a:t>Presentation title</a:t>
            </a:r>
            <a:br>
              <a:rPr lang="en-US" sz="565" noProof="0" dirty="0">
                <a:solidFill>
                  <a:schemeClr val="bg1"/>
                </a:solidFill>
              </a:rPr>
            </a:br>
            <a:r>
              <a:rPr lang="en-US" sz="565" noProof="0" dirty="0">
                <a:solidFill>
                  <a:schemeClr val="bg1"/>
                </a:solidFill>
              </a:rPr>
              <a:t>[To edit, click View &gt; Slide Master &gt; Slide Master]</a:t>
            </a:r>
          </a:p>
        </p:txBody>
      </p:sp>
      <p:sp>
        <p:nvSpPr>
          <p:cNvPr id="13" name="TextBox 12"/>
          <p:cNvSpPr txBox="1"/>
          <p:nvPr userDrawn="1"/>
        </p:nvSpPr>
        <p:spPr>
          <a:xfrm>
            <a:off x="469904" y="6477006"/>
            <a:ext cx="5355167" cy="173894"/>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bg1"/>
                </a:solidFill>
              </a:rPr>
              <a:t>Member firms and DTTL: Insert appropriate copyright</a:t>
            </a:r>
            <a:br>
              <a:rPr lang="en-US" sz="565" noProof="0" dirty="0">
                <a:solidFill>
                  <a:schemeClr val="bg1"/>
                </a:solidFill>
              </a:rPr>
            </a:br>
            <a:r>
              <a:rPr lang="en-US" sz="565" noProof="0" dirty="0">
                <a:solidFill>
                  <a:schemeClr val="bg1"/>
                </a:solidFill>
              </a:rPr>
              <a:t>[To edit, click View &gt; Slide Master &gt; Slide Master]</a:t>
            </a:r>
          </a:p>
        </p:txBody>
      </p:sp>
      <p:sp>
        <p:nvSpPr>
          <p:cNvPr id="14" name="TextBox 13"/>
          <p:cNvSpPr txBox="1"/>
          <p:nvPr userDrawn="1"/>
        </p:nvSpPr>
        <p:spPr>
          <a:xfrm>
            <a:off x="11414129" y="6477008"/>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bg1"/>
                </a:solidFill>
              </a:rPr>
              <a:pPr marL="0" indent="0" algn="r">
                <a:spcBef>
                  <a:spcPts val="695"/>
                </a:spcBef>
                <a:buSzPct val="100000"/>
                <a:buFont typeface="Arial"/>
                <a:buNone/>
              </a:pPr>
              <a:t>‹#›</a:t>
            </a:fld>
            <a:endParaRPr lang="en-US" sz="565" noProof="0" dirty="0">
              <a:solidFill>
                <a:schemeClr val="bg1"/>
              </a:solidFill>
            </a:endParaRPr>
          </a:p>
        </p:txBody>
      </p:sp>
    </p:spTree>
    <p:extLst>
      <p:ext uri="{BB962C8B-B14F-4D97-AF65-F5344CB8AC3E}">
        <p14:creationId xmlns:p14="http://schemas.microsoft.com/office/powerpoint/2010/main" val="1310936996"/>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7" y="1590683"/>
            <a:ext cx="9029604" cy="4708525"/>
          </a:xfrm>
          <a:prstGeom prst="rect">
            <a:avLst/>
          </a:prstGeom>
        </p:spPr>
        <p:txBody>
          <a:bodyPr>
            <a:noAutofit/>
          </a:bodyPr>
          <a:lstStyle>
            <a:lvl1pPr>
              <a:spcBef>
                <a:spcPts val="4173"/>
              </a:spcBef>
              <a:defRPr sz="2434">
                <a:solidFill>
                  <a:schemeClr val="bg1"/>
                </a:solidFill>
              </a:defRPr>
            </a:lvl1pPr>
            <a:lvl2pPr marL="529913" indent="-529913">
              <a:defRPr sz="3477">
                <a:solidFill>
                  <a:schemeClr val="bg2"/>
                </a:solidFill>
              </a:defRPr>
            </a:lvl2pPr>
            <a:lvl3pPr>
              <a:defRPr sz="3477">
                <a:solidFill>
                  <a:schemeClr val="bg2"/>
                </a:solidFill>
              </a:defRPr>
            </a:lvl3pPr>
            <a:lvl4pPr>
              <a:defRPr sz="3477">
                <a:solidFill>
                  <a:schemeClr val="bg2"/>
                </a:solidFill>
              </a:defRPr>
            </a:lvl4pPr>
            <a:lvl5pPr>
              <a:defRPr sz="3477">
                <a:solidFill>
                  <a:schemeClr val="bg2"/>
                </a:solidFill>
              </a:defRPr>
            </a:lvl5pPr>
          </a:lstStyle>
          <a:p>
            <a:pPr lvl="0"/>
            <a:r>
              <a:rPr lang="en-US" noProof="0"/>
              <a:t>Edit Master text styles</a:t>
            </a:r>
          </a:p>
        </p:txBody>
      </p:sp>
      <p:sp>
        <p:nvSpPr>
          <p:cNvPr id="14" name="TextBox 13"/>
          <p:cNvSpPr txBox="1"/>
          <p:nvPr userDrawn="1"/>
        </p:nvSpPr>
        <p:spPr>
          <a:xfrm>
            <a:off x="5825067" y="6477006"/>
            <a:ext cx="4896560" cy="173894"/>
          </a:xfrm>
          <a:prstGeom prst="rect">
            <a:avLst/>
          </a:prstGeom>
          <a:noFill/>
        </p:spPr>
        <p:txBody>
          <a:bodyPr wrap="square" lIns="0" tIns="0" rIns="0" bIns="0" rtlCol="0">
            <a:spAutoFit/>
          </a:bodyPr>
          <a:lstStyle/>
          <a:p>
            <a:pPr marL="0" indent="0" algn="r">
              <a:spcBef>
                <a:spcPts val="0"/>
              </a:spcBef>
              <a:buSzPct val="100000"/>
              <a:buFont typeface="Arial"/>
              <a:buNone/>
            </a:pPr>
            <a:r>
              <a:rPr lang="en-US" sz="565" noProof="0" dirty="0">
                <a:solidFill>
                  <a:schemeClr val="bg1"/>
                </a:solidFill>
              </a:rPr>
              <a:t>Presentation title</a:t>
            </a:r>
            <a:br>
              <a:rPr lang="en-US" sz="565" noProof="0" dirty="0">
                <a:solidFill>
                  <a:schemeClr val="bg1"/>
                </a:solidFill>
              </a:rPr>
            </a:br>
            <a:r>
              <a:rPr lang="en-US" sz="565" noProof="0" dirty="0">
                <a:solidFill>
                  <a:schemeClr val="bg1"/>
                </a:solidFill>
              </a:rPr>
              <a:t>[To edit, click View &gt; Slide Master &gt; Slide Master]</a:t>
            </a:r>
          </a:p>
        </p:txBody>
      </p:sp>
      <p:sp>
        <p:nvSpPr>
          <p:cNvPr id="15" name="TextBox 14"/>
          <p:cNvSpPr txBox="1"/>
          <p:nvPr userDrawn="1"/>
        </p:nvSpPr>
        <p:spPr>
          <a:xfrm>
            <a:off x="469904" y="6477006"/>
            <a:ext cx="5355167" cy="173894"/>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bg1"/>
                </a:solidFill>
              </a:rPr>
              <a:t>Member firms and DTTL: Insert appropriate copyright</a:t>
            </a:r>
            <a:br>
              <a:rPr lang="en-US" sz="565" noProof="0" dirty="0">
                <a:solidFill>
                  <a:schemeClr val="bg1"/>
                </a:solidFill>
              </a:rPr>
            </a:br>
            <a:r>
              <a:rPr lang="en-US" sz="565" noProof="0" dirty="0">
                <a:solidFill>
                  <a:schemeClr val="bg1"/>
                </a:solidFill>
              </a:rPr>
              <a:t>[To edit, click View &gt; Slide Master &gt; Slide Master]</a:t>
            </a:r>
          </a:p>
        </p:txBody>
      </p:sp>
      <p:sp>
        <p:nvSpPr>
          <p:cNvPr id="16" name="TextBox 15"/>
          <p:cNvSpPr txBox="1"/>
          <p:nvPr userDrawn="1"/>
        </p:nvSpPr>
        <p:spPr>
          <a:xfrm>
            <a:off x="11414129" y="6477008"/>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bg1"/>
                </a:solidFill>
              </a:rPr>
              <a:pPr marL="0" indent="0" algn="r">
                <a:spcBef>
                  <a:spcPts val="695"/>
                </a:spcBef>
                <a:buSzPct val="100000"/>
                <a:buFont typeface="Arial"/>
                <a:buNone/>
              </a:pPr>
              <a:t>‹#›</a:t>
            </a:fld>
            <a:endParaRPr lang="en-US" sz="565" noProof="0" dirty="0">
              <a:solidFill>
                <a:schemeClr val="bg1"/>
              </a:solidFill>
            </a:endParaRPr>
          </a:p>
        </p:txBody>
      </p:sp>
    </p:spTree>
    <p:extLst>
      <p:ext uri="{BB962C8B-B14F-4D97-AF65-F5344CB8AC3E}">
        <p14:creationId xmlns:p14="http://schemas.microsoft.com/office/powerpoint/2010/main" val="2623978820"/>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7" y="1590683"/>
            <a:ext cx="9029604" cy="4708525"/>
          </a:xfrm>
          <a:prstGeom prst="rect">
            <a:avLst/>
          </a:prstGeom>
        </p:spPr>
        <p:txBody>
          <a:bodyPr>
            <a:noAutofit/>
          </a:bodyPr>
          <a:lstStyle>
            <a:lvl1pPr>
              <a:spcBef>
                <a:spcPts val="4173"/>
              </a:spcBef>
              <a:defRPr sz="2434">
                <a:solidFill>
                  <a:schemeClr val="bg1"/>
                </a:solidFill>
              </a:defRPr>
            </a:lvl1pPr>
            <a:lvl2pPr marL="529913" indent="-529913">
              <a:defRPr sz="3477">
                <a:solidFill>
                  <a:schemeClr val="bg2"/>
                </a:solidFill>
              </a:defRPr>
            </a:lvl2pPr>
            <a:lvl3pPr>
              <a:defRPr sz="3477">
                <a:solidFill>
                  <a:schemeClr val="bg2"/>
                </a:solidFill>
              </a:defRPr>
            </a:lvl3pPr>
            <a:lvl4pPr>
              <a:defRPr sz="3477">
                <a:solidFill>
                  <a:schemeClr val="bg2"/>
                </a:solidFill>
              </a:defRPr>
            </a:lvl4pPr>
            <a:lvl5pPr>
              <a:defRPr sz="3477">
                <a:solidFill>
                  <a:schemeClr val="bg2"/>
                </a:solidFill>
              </a:defRPr>
            </a:lvl5pPr>
          </a:lstStyle>
          <a:p>
            <a:pPr lvl="0"/>
            <a:r>
              <a:rPr lang="en-US" noProof="0"/>
              <a:t>Edit Master text styles</a:t>
            </a:r>
          </a:p>
        </p:txBody>
      </p:sp>
      <p:sp>
        <p:nvSpPr>
          <p:cNvPr id="18" name="TextBox 17"/>
          <p:cNvSpPr txBox="1"/>
          <p:nvPr userDrawn="1"/>
        </p:nvSpPr>
        <p:spPr>
          <a:xfrm>
            <a:off x="5825067" y="6477006"/>
            <a:ext cx="4896560" cy="173894"/>
          </a:xfrm>
          <a:prstGeom prst="rect">
            <a:avLst/>
          </a:prstGeom>
          <a:noFill/>
        </p:spPr>
        <p:txBody>
          <a:bodyPr wrap="square" lIns="0" tIns="0" rIns="0" bIns="0" rtlCol="0">
            <a:spAutoFit/>
          </a:bodyPr>
          <a:lstStyle/>
          <a:p>
            <a:pPr marL="0" indent="0" algn="r">
              <a:spcBef>
                <a:spcPts val="0"/>
              </a:spcBef>
              <a:buSzPct val="100000"/>
              <a:buFont typeface="Arial"/>
              <a:buNone/>
            </a:pPr>
            <a:r>
              <a:rPr lang="en-US" sz="565" noProof="0" dirty="0">
                <a:solidFill>
                  <a:schemeClr val="bg1"/>
                </a:solidFill>
              </a:rPr>
              <a:t>Presentation title</a:t>
            </a:r>
            <a:br>
              <a:rPr lang="en-US" sz="565" noProof="0" dirty="0">
                <a:solidFill>
                  <a:schemeClr val="bg1"/>
                </a:solidFill>
              </a:rPr>
            </a:br>
            <a:r>
              <a:rPr lang="en-US" sz="565" noProof="0" dirty="0">
                <a:solidFill>
                  <a:schemeClr val="bg1"/>
                </a:solidFill>
              </a:rPr>
              <a:t>[To edit, click View &gt; Slide Master &gt; Slide Master]</a:t>
            </a:r>
          </a:p>
        </p:txBody>
      </p:sp>
      <p:sp>
        <p:nvSpPr>
          <p:cNvPr id="19" name="TextBox 18"/>
          <p:cNvSpPr txBox="1"/>
          <p:nvPr userDrawn="1"/>
        </p:nvSpPr>
        <p:spPr>
          <a:xfrm>
            <a:off x="469904" y="6477006"/>
            <a:ext cx="5355167" cy="173894"/>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bg1"/>
                </a:solidFill>
              </a:rPr>
              <a:t>Member firms and DTTL: Insert appropriate copyright</a:t>
            </a:r>
            <a:br>
              <a:rPr lang="en-US" sz="565" noProof="0" dirty="0">
                <a:solidFill>
                  <a:schemeClr val="bg1"/>
                </a:solidFill>
              </a:rPr>
            </a:br>
            <a:r>
              <a:rPr lang="en-US" sz="565" noProof="0" dirty="0">
                <a:solidFill>
                  <a:schemeClr val="bg1"/>
                </a:solidFill>
              </a:rPr>
              <a:t>[To edit, click View &gt; Slide Master &gt; Slide Master]</a:t>
            </a:r>
          </a:p>
        </p:txBody>
      </p:sp>
      <p:sp>
        <p:nvSpPr>
          <p:cNvPr id="20" name="TextBox 19"/>
          <p:cNvSpPr txBox="1"/>
          <p:nvPr userDrawn="1"/>
        </p:nvSpPr>
        <p:spPr>
          <a:xfrm>
            <a:off x="11414129" y="6477008"/>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bg1"/>
                </a:solidFill>
              </a:rPr>
              <a:pPr marL="0" indent="0" algn="r">
                <a:spcBef>
                  <a:spcPts val="695"/>
                </a:spcBef>
                <a:buSzPct val="100000"/>
                <a:buFont typeface="Arial"/>
                <a:buNone/>
              </a:pPr>
              <a:t>‹#›</a:t>
            </a:fld>
            <a:endParaRPr lang="en-US" sz="565" noProof="0" dirty="0">
              <a:solidFill>
                <a:schemeClr val="bg1"/>
              </a:solidFill>
            </a:endParaRPr>
          </a:p>
        </p:txBody>
      </p:sp>
    </p:spTree>
    <p:extLst>
      <p:ext uri="{BB962C8B-B14F-4D97-AF65-F5344CB8AC3E}">
        <p14:creationId xmlns:p14="http://schemas.microsoft.com/office/powerpoint/2010/main" val="1246741745"/>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7" y="1590683"/>
            <a:ext cx="9029604" cy="4708525"/>
          </a:xfrm>
          <a:prstGeom prst="rect">
            <a:avLst/>
          </a:prstGeom>
        </p:spPr>
        <p:txBody>
          <a:bodyPr>
            <a:noAutofit/>
          </a:bodyPr>
          <a:lstStyle>
            <a:lvl1pPr>
              <a:spcBef>
                <a:spcPts val="4173"/>
              </a:spcBef>
              <a:defRPr sz="2434">
                <a:solidFill>
                  <a:schemeClr val="bg1"/>
                </a:solidFill>
              </a:defRPr>
            </a:lvl1pPr>
            <a:lvl2pPr marL="529913" indent="-529913">
              <a:defRPr sz="3477">
                <a:solidFill>
                  <a:schemeClr val="bg2"/>
                </a:solidFill>
              </a:defRPr>
            </a:lvl2pPr>
            <a:lvl3pPr>
              <a:defRPr sz="3477">
                <a:solidFill>
                  <a:schemeClr val="bg2"/>
                </a:solidFill>
              </a:defRPr>
            </a:lvl3pPr>
            <a:lvl4pPr>
              <a:defRPr sz="3477">
                <a:solidFill>
                  <a:schemeClr val="bg2"/>
                </a:solidFill>
              </a:defRPr>
            </a:lvl4pPr>
            <a:lvl5pPr>
              <a:defRPr sz="3477">
                <a:solidFill>
                  <a:schemeClr val="bg2"/>
                </a:solidFill>
              </a:defRPr>
            </a:lvl5pPr>
          </a:lstStyle>
          <a:p>
            <a:pPr lvl="0"/>
            <a:r>
              <a:rPr lang="en-US" noProof="0"/>
              <a:t>Edit Master text styles</a:t>
            </a:r>
          </a:p>
        </p:txBody>
      </p:sp>
      <p:sp>
        <p:nvSpPr>
          <p:cNvPr id="14" name="TextBox 13"/>
          <p:cNvSpPr txBox="1"/>
          <p:nvPr userDrawn="1"/>
        </p:nvSpPr>
        <p:spPr>
          <a:xfrm>
            <a:off x="5825067" y="6477006"/>
            <a:ext cx="4896560" cy="173894"/>
          </a:xfrm>
          <a:prstGeom prst="rect">
            <a:avLst/>
          </a:prstGeom>
          <a:noFill/>
        </p:spPr>
        <p:txBody>
          <a:bodyPr wrap="square" lIns="0" tIns="0" rIns="0" bIns="0" rtlCol="0">
            <a:spAutoFit/>
          </a:bodyPr>
          <a:lstStyle/>
          <a:p>
            <a:pPr marL="0" indent="0" algn="r">
              <a:spcBef>
                <a:spcPts val="0"/>
              </a:spcBef>
              <a:buSzPct val="100000"/>
              <a:buFont typeface="Arial"/>
              <a:buNone/>
            </a:pPr>
            <a:r>
              <a:rPr lang="en-US" sz="565" noProof="0" dirty="0">
                <a:solidFill>
                  <a:schemeClr val="bg1"/>
                </a:solidFill>
              </a:rPr>
              <a:t>Presentation title</a:t>
            </a:r>
            <a:br>
              <a:rPr lang="en-US" sz="565" noProof="0" dirty="0">
                <a:solidFill>
                  <a:schemeClr val="bg1"/>
                </a:solidFill>
              </a:rPr>
            </a:br>
            <a:r>
              <a:rPr lang="en-US" sz="565" noProof="0" dirty="0">
                <a:solidFill>
                  <a:schemeClr val="bg1"/>
                </a:solidFill>
              </a:rPr>
              <a:t>[To edit, click View &gt; Slide Master &gt; Slide Master]</a:t>
            </a:r>
          </a:p>
        </p:txBody>
      </p:sp>
      <p:sp>
        <p:nvSpPr>
          <p:cNvPr id="15" name="TextBox 14"/>
          <p:cNvSpPr txBox="1"/>
          <p:nvPr userDrawn="1"/>
        </p:nvSpPr>
        <p:spPr>
          <a:xfrm>
            <a:off x="469904" y="6477006"/>
            <a:ext cx="5355167" cy="173894"/>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bg1"/>
                </a:solidFill>
              </a:rPr>
              <a:t>Member firms and DTTL: Insert appropriate copyright</a:t>
            </a:r>
            <a:br>
              <a:rPr lang="en-US" sz="565" noProof="0" dirty="0">
                <a:solidFill>
                  <a:schemeClr val="bg1"/>
                </a:solidFill>
              </a:rPr>
            </a:br>
            <a:r>
              <a:rPr lang="en-US" sz="565" noProof="0" dirty="0">
                <a:solidFill>
                  <a:schemeClr val="bg1"/>
                </a:solidFill>
              </a:rPr>
              <a:t>[To edit, click View &gt; Slide Master &gt; Slide Master]</a:t>
            </a:r>
          </a:p>
        </p:txBody>
      </p:sp>
      <p:sp>
        <p:nvSpPr>
          <p:cNvPr id="16" name="TextBox 15"/>
          <p:cNvSpPr txBox="1"/>
          <p:nvPr userDrawn="1"/>
        </p:nvSpPr>
        <p:spPr>
          <a:xfrm>
            <a:off x="11414129" y="6477008"/>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bg1"/>
                </a:solidFill>
              </a:rPr>
              <a:pPr marL="0" indent="0" algn="r">
                <a:spcBef>
                  <a:spcPts val="695"/>
                </a:spcBef>
                <a:buSzPct val="100000"/>
                <a:buFont typeface="Arial"/>
                <a:buNone/>
              </a:pPr>
              <a:t>‹#›</a:t>
            </a:fld>
            <a:endParaRPr lang="en-US" sz="565" noProof="0" dirty="0">
              <a:solidFill>
                <a:schemeClr val="bg1"/>
              </a:solidFill>
            </a:endParaRPr>
          </a:p>
        </p:txBody>
      </p:sp>
    </p:spTree>
    <p:extLst>
      <p:ext uri="{BB962C8B-B14F-4D97-AF65-F5344CB8AC3E}">
        <p14:creationId xmlns:p14="http://schemas.microsoft.com/office/powerpoint/2010/main" val="2401468123"/>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5" y="1705968"/>
            <a:ext cx="363696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75" noProof="0" dirty="0">
              <a:solidFill>
                <a:schemeClr val="bg1"/>
              </a:solidFill>
            </a:endParaRPr>
          </a:p>
        </p:txBody>
      </p:sp>
      <p:sp>
        <p:nvSpPr>
          <p:cNvPr id="5" name="Rectangle 4"/>
          <p:cNvSpPr/>
          <p:nvPr userDrawn="1"/>
        </p:nvSpPr>
        <p:spPr>
          <a:xfrm>
            <a:off x="469905" y="1705968"/>
            <a:ext cx="3627439"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75" noProof="0" dirty="0">
              <a:solidFill>
                <a:schemeClr val="bg1"/>
              </a:solidFill>
            </a:endParaRPr>
          </a:p>
        </p:txBody>
      </p:sp>
      <p:sp>
        <p:nvSpPr>
          <p:cNvPr id="6" name="Rectangle 5"/>
          <p:cNvSpPr/>
          <p:nvPr userDrawn="1"/>
        </p:nvSpPr>
        <p:spPr>
          <a:xfrm>
            <a:off x="8104183"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75" noProof="0" dirty="0">
              <a:solidFill>
                <a:schemeClr val="bg1"/>
              </a:solidFill>
            </a:endParaRPr>
          </a:p>
        </p:txBody>
      </p:sp>
      <p:sp>
        <p:nvSpPr>
          <p:cNvPr id="7" name="Text Placeholder 8"/>
          <p:cNvSpPr>
            <a:spLocks noGrp="1"/>
          </p:cNvSpPr>
          <p:nvPr>
            <p:ph type="body" sz="quarter" idx="17"/>
          </p:nvPr>
        </p:nvSpPr>
        <p:spPr>
          <a:xfrm>
            <a:off x="4278315" y="1851449"/>
            <a:ext cx="3636963" cy="3845755"/>
          </a:xfrm>
        </p:spPr>
        <p:txBody>
          <a:bodyPr/>
          <a:lstStyle>
            <a:lvl1pPr>
              <a:defRPr b="1">
                <a:solidFill>
                  <a:schemeClr val="accent1"/>
                </a:solidFill>
              </a:defRPr>
            </a:lvl1pPr>
            <a:lvl2pPr>
              <a:spcAft>
                <a:spcPts val="1159"/>
              </a:spcAft>
              <a:defRPr/>
            </a:lvl2pPr>
            <a:lvl3pPr marL="0" indent="0">
              <a:spcAft>
                <a:spcPts val="1159"/>
              </a:spcAft>
              <a:buNone/>
              <a:defRPr/>
            </a:lvl3pPr>
            <a:lvl4pPr marL="204454" indent="-204454">
              <a:spcAft>
                <a:spcPts val="1159"/>
              </a:spcAft>
              <a:buFont typeface="Arial" panose="020B0604020202020204" pitchFamily="34" charset="0"/>
              <a:buChar char="•"/>
              <a:defRPr/>
            </a:lvl4pPr>
            <a:lvl5pPr marL="413082" indent="-204454">
              <a:spcAft>
                <a:spcPts val="1159"/>
              </a:spcAft>
              <a:defRPr baseline="0"/>
            </a:lvl5pPr>
            <a:lvl6pPr marL="413082" indent="-204454">
              <a:spcAft>
                <a:spcPts val="1159"/>
              </a:spcAft>
              <a:buFont typeface="Verdana" panose="020B0604030504040204" pitchFamily="34" charset="0"/>
              <a:buChar char="−"/>
              <a:defRPr/>
            </a:lvl6pPr>
            <a:lvl7pPr marL="413082" indent="-204454">
              <a:spcAft>
                <a:spcPts val="1159"/>
              </a:spcAft>
              <a:defRPr/>
            </a:lvl7pPr>
            <a:lvl8pPr marL="413082" indent="-204454">
              <a:spcAft>
                <a:spcPts val="1159"/>
              </a:spcAft>
              <a:defRPr/>
            </a:lvl8pPr>
            <a:lvl9pPr marL="413082" indent="-204454">
              <a:spcAft>
                <a:spcPts val="1159"/>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5" y="1851449"/>
            <a:ext cx="3627439" cy="3845755"/>
          </a:xfrm>
        </p:spPr>
        <p:txBody>
          <a:bodyPr/>
          <a:lstStyle>
            <a:lvl1pPr>
              <a:defRPr b="1">
                <a:solidFill>
                  <a:schemeClr val="accent1"/>
                </a:solidFill>
              </a:defRPr>
            </a:lvl1pPr>
            <a:lvl2pPr>
              <a:spcAft>
                <a:spcPts val="1159"/>
              </a:spcAft>
              <a:defRPr/>
            </a:lvl2pPr>
            <a:lvl3pPr marL="0" indent="0">
              <a:spcAft>
                <a:spcPts val="1159"/>
              </a:spcAft>
              <a:buNone/>
              <a:defRPr/>
            </a:lvl3pPr>
            <a:lvl4pPr marL="204454" indent="-204454">
              <a:spcAft>
                <a:spcPts val="1159"/>
              </a:spcAft>
              <a:buFont typeface="Arial" panose="020B0604020202020204" pitchFamily="34" charset="0"/>
              <a:buChar char="•"/>
              <a:defRPr/>
            </a:lvl4pPr>
            <a:lvl5pPr marL="413082" indent="-204454">
              <a:spcAft>
                <a:spcPts val="1159"/>
              </a:spcAft>
              <a:defRPr baseline="0"/>
            </a:lvl5pPr>
            <a:lvl6pPr marL="413082" indent="-204454">
              <a:spcAft>
                <a:spcPts val="1159"/>
              </a:spcAft>
              <a:buFont typeface="Verdana" panose="020B0604030504040204" pitchFamily="34" charset="0"/>
              <a:buChar char="−"/>
              <a:defRPr/>
            </a:lvl6pPr>
            <a:lvl7pPr marL="413082" indent="-204454">
              <a:spcAft>
                <a:spcPts val="1159"/>
              </a:spcAft>
              <a:defRPr/>
            </a:lvl7pPr>
            <a:lvl8pPr marL="413082" indent="-204454">
              <a:spcAft>
                <a:spcPts val="1159"/>
              </a:spcAft>
              <a:defRPr/>
            </a:lvl8pPr>
            <a:lvl9pPr marL="413082" indent="-204454">
              <a:spcAft>
                <a:spcPts val="1159"/>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81" y="1851449"/>
            <a:ext cx="3629025" cy="3845755"/>
          </a:xfrm>
        </p:spPr>
        <p:txBody>
          <a:bodyPr/>
          <a:lstStyle>
            <a:lvl1pPr>
              <a:defRPr b="1">
                <a:solidFill>
                  <a:schemeClr val="accent1"/>
                </a:solidFill>
              </a:defRPr>
            </a:lvl1pPr>
            <a:lvl2pPr>
              <a:spcAft>
                <a:spcPts val="1159"/>
              </a:spcAft>
              <a:defRPr/>
            </a:lvl2pPr>
            <a:lvl3pPr marL="0" indent="0">
              <a:spcAft>
                <a:spcPts val="1159"/>
              </a:spcAft>
              <a:buNone/>
              <a:defRPr/>
            </a:lvl3pPr>
            <a:lvl4pPr marL="204454" indent="-204454">
              <a:spcAft>
                <a:spcPts val="1159"/>
              </a:spcAft>
              <a:buFont typeface="Arial" panose="020B0604020202020204" pitchFamily="34" charset="0"/>
              <a:buChar char="•"/>
              <a:defRPr/>
            </a:lvl4pPr>
            <a:lvl5pPr marL="413082" indent="-204454">
              <a:spcAft>
                <a:spcPts val="1159"/>
              </a:spcAft>
              <a:defRPr baseline="0"/>
            </a:lvl5pPr>
            <a:lvl6pPr marL="413082" indent="-204454">
              <a:spcAft>
                <a:spcPts val="1159"/>
              </a:spcAft>
              <a:buFont typeface="Verdana" panose="020B0604030504040204" pitchFamily="34" charset="0"/>
              <a:buChar char="−"/>
              <a:defRPr/>
            </a:lvl6pPr>
            <a:lvl7pPr marL="413082" indent="-204454">
              <a:spcAft>
                <a:spcPts val="1159"/>
              </a:spcAft>
              <a:defRPr/>
            </a:lvl7pPr>
            <a:lvl8pPr marL="413082" indent="-204454">
              <a:spcAft>
                <a:spcPts val="1159"/>
              </a:spcAft>
              <a:defRPr/>
            </a:lvl8pPr>
            <a:lvl9pPr marL="413082" indent="-204454">
              <a:spcAft>
                <a:spcPts val="1159"/>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739"/>
            </a:lvl1pPr>
          </a:lstStyle>
          <a:p>
            <a:r>
              <a:rPr lang="en-US" noProof="0"/>
              <a:t>Click to edit Master title style</a:t>
            </a:r>
            <a:endParaRPr lang="en-US" noProof="0" dirty="0"/>
          </a:p>
        </p:txBody>
      </p:sp>
    </p:spTree>
    <p:extLst>
      <p:ext uri="{BB962C8B-B14F-4D97-AF65-F5344CB8AC3E}">
        <p14:creationId xmlns:p14="http://schemas.microsoft.com/office/powerpoint/2010/main" val="2889217154"/>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159"/>
              </a:spcAft>
              <a:defRPr/>
            </a:lvl2pPr>
            <a:lvl3pPr marL="0" indent="0">
              <a:spcAft>
                <a:spcPts val="1159"/>
              </a:spcAft>
              <a:buNone/>
              <a:defRPr/>
            </a:lvl3pPr>
            <a:lvl4pPr marL="204454" indent="-204454">
              <a:spcAft>
                <a:spcPts val="1159"/>
              </a:spcAft>
              <a:buFont typeface="Arial" panose="020B0604020202020204" pitchFamily="34" charset="0"/>
              <a:buChar char="•"/>
              <a:defRPr/>
            </a:lvl4pPr>
            <a:lvl5pPr marL="413082" indent="-204454">
              <a:spcAft>
                <a:spcPts val="1159"/>
              </a:spcAft>
              <a:defRPr baseline="0"/>
            </a:lvl5pPr>
            <a:lvl6pPr marL="413082" indent="-204454">
              <a:spcAft>
                <a:spcPts val="1159"/>
              </a:spcAft>
              <a:buFont typeface="Verdana" panose="020B0604030504040204" pitchFamily="34" charset="0"/>
              <a:buChar char="−"/>
              <a:defRPr/>
            </a:lvl6pPr>
            <a:lvl7pPr marL="413082" indent="-204454">
              <a:spcAft>
                <a:spcPts val="1159"/>
              </a:spcAft>
              <a:defRPr/>
            </a:lvl7pPr>
            <a:lvl8pPr marL="413082" indent="-204454">
              <a:spcAft>
                <a:spcPts val="1159"/>
              </a:spcAft>
              <a:defRPr/>
            </a:lvl8pPr>
            <a:lvl9pPr marL="413082" indent="-204454">
              <a:spcAft>
                <a:spcPts val="1159"/>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159"/>
              </a:spcAft>
              <a:defRPr/>
            </a:lvl2pPr>
            <a:lvl3pPr marL="0" indent="0">
              <a:spcAft>
                <a:spcPts val="1159"/>
              </a:spcAft>
              <a:buNone/>
              <a:defRPr/>
            </a:lvl3pPr>
            <a:lvl4pPr marL="204454" indent="-204454">
              <a:spcAft>
                <a:spcPts val="1159"/>
              </a:spcAft>
              <a:buFont typeface="Arial" panose="020B0604020202020204" pitchFamily="34" charset="0"/>
              <a:buChar char="•"/>
              <a:defRPr/>
            </a:lvl4pPr>
            <a:lvl5pPr marL="413082" indent="-204454">
              <a:spcAft>
                <a:spcPts val="1159"/>
              </a:spcAft>
              <a:defRPr baseline="0"/>
            </a:lvl5pPr>
            <a:lvl6pPr marL="413082" indent="-204454">
              <a:spcAft>
                <a:spcPts val="1159"/>
              </a:spcAft>
              <a:buFont typeface="Verdana" panose="020B0604030504040204" pitchFamily="34" charset="0"/>
              <a:buChar char="−"/>
              <a:defRPr/>
            </a:lvl6pPr>
            <a:lvl7pPr marL="413082" indent="-204454">
              <a:spcAft>
                <a:spcPts val="1159"/>
              </a:spcAft>
              <a:defRPr/>
            </a:lvl7pPr>
            <a:lvl8pPr marL="413082" indent="-204454">
              <a:spcAft>
                <a:spcPts val="1159"/>
              </a:spcAft>
              <a:defRPr/>
            </a:lvl8pPr>
            <a:lvl9pPr marL="413082" indent="-204454">
              <a:spcAft>
                <a:spcPts val="1159"/>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159"/>
              </a:spcAft>
              <a:defRPr/>
            </a:lvl2pPr>
            <a:lvl3pPr marL="0" indent="0">
              <a:spcAft>
                <a:spcPts val="1159"/>
              </a:spcAft>
              <a:buNone/>
              <a:defRPr/>
            </a:lvl3pPr>
            <a:lvl4pPr marL="204454" indent="-204454">
              <a:spcAft>
                <a:spcPts val="1159"/>
              </a:spcAft>
              <a:buFont typeface="Arial" panose="020B0604020202020204" pitchFamily="34" charset="0"/>
              <a:buChar char="•"/>
              <a:defRPr/>
            </a:lvl4pPr>
            <a:lvl5pPr marL="413082" indent="-204454">
              <a:spcAft>
                <a:spcPts val="1159"/>
              </a:spcAft>
              <a:defRPr baseline="0"/>
            </a:lvl5pPr>
            <a:lvl6pPr marL="413082" indent="-204454">
              <a:spcAft>
                <a:spcPts val="1159"/>
              </a:spcAft>
              <a:buFont typeface="Verdana" panose="020B0604030504040204" pitchFamily="34" charset="0"/>
              <a:buChar char="−"/>
              <a:defRPr/>
            </a:lvl6pPr>
            <a:lvl7pPr marL="413082" indent="-204454">
              <a:spcAft>
                <a:spcPts val="1159"/>
              </a:spcAft>
              <a:defRPr/>
            </a:lvl7pPr>
            <a:lvl8pPr marL="413082" indent="-204454">
              <a:spcAft>
                <a:spcPts val="1159"/>
              </a:spcAft>
              <a:defRPr/>
            </a:lvl8pPr>
            <a:lvl9pPr marL="413082" indent="-204454">
              <a:spcAft>
                <a:spcPts val="1159"/>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accent1"/>
                </a:solidFill>
              </a:defRPr>
            </a:lvl1pPr>
            <a:lvl2pPr>
              <a:spcAft>
                <a:spcPts val="1159"/>
              </a:spcAft>
              <a:defRPr/>
            </a:lvl2pPr>
            <a:lvl3pPr marL="0" indent="0">
              <a:spcAft>
                <a:spcPts val="1159"/>
              </a:spcAft>
              <a:buNone/>
              <a:defRPr/>
            </a:lvl3pPr>
            <a:lvl4pPr marL="204454" indent="-204454">
              <a:spcAft>
                <a:spcPts val="1159"/>
              </a:spcAft>
              <a:buFont typeface="Arial" panose="020B0604020202020204" pitchFamily="34" charset="0"/>
              <a:buChar char="•"/>
              <a:defRPr/>
            </a:lvl4pPr>
            <a:lvl5pPr marL="413082" indent="-204454">
              <a:spcAft>
                <a:spcPts val="1159"/>
              </a:spcAft>
              <a:defRPr baseline="0"/>
            </a:lvl5pPr>
            <a:lvl6pPr marL="413082" indent="-204454">
              <a:spcAft>
                <a:spcPts val="1159"/>
              </a:spcAft>
              <a:buFont typeface="Verdana" panose="020B0604030504040204" pitchFamily="34" charset="0"/>
              <a:buChar char="−"/>
              <a:defRPr/>
            </a:lvl6pPr>
            <a:lvl7pPr marL="413082" indent="-204454">
              <a:spcAft>
                <a:spcPts val="1159"/>
              </a:spcAft>
              <a:defRPr/>
            </a:lvl7pPr>
            <a:lvl8pPr marL="413082" indent="-204454">
              <a:spcAft>
                <a:spcPts val="1159"/>
              </a:spcAft>
              <a:defRPr/>
            </a:lvl8pPr>
            <a:lvl9pPr marL="413082" indent="-204454">
              <a:spcAft>
                <a:spcPts val="1159"/>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739"/>
            </a:lvl1pPr>
          </a:lstStyle>
          <a:p>
            <a:r>
              <a:rPr lang="en-US" noProof="0"/>
              <a:t>Click to edit Master title style</a:t>
            </a:r>
            <a:endParaRPr lang="en-US" noProof="0" dirty="0"/>
          </a:p>
        </p:txBody>
      </p:sp>
    </p:spTree>
    <p:extLst>
      <p:ext uri="{BB962C8B-B14F-4D97-AF65-F5344CB8AC3E}">
        <p14:creationId xmlns:p14="http://schemas.microsoft.com/office/powerpoint/2010/main" val="1755944283"/>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159"/>
              </a:spcAft>
              <a:defRPr>
                <a:solidFill>
                  <a:schemeClr val="bg1"/>
                </a:solidFill>
              </a:defRPr>
            </a:lvl2pPr>
            <a:lvl3pPr marL="0" indent="0">
              <a:spcAft>
                <a:spcPts val="1159"/>
              </a:spcAft>
              <a:buNone/>
              <a:defRPr>
                <a:solidFill>
                  <a:schemeClr val="bg1"/>
                </a:solidFill>
              </a:defRPr>
            </a:lvl3pPr>
            <a:lvl4pPr marL="204454" indent="-204454">
              <a:spcAft>
                <a:spcPts val="1159"/>
              </a:spcAft>
              <a:buFont typeface="Arial" panose="020B0604020202020204" pitchFamily="34" charset="0"/>
              <a:buChar char="•"/>
              <a:defRPr>
                <a:solidFill>
                  <a:schemeClr val="bg1"/>
                </a:solidFill>
              </a:defRPr>
            </a:lvl4pPr>
            <a:lvl5pPr marL="413082" indent="-204454">
              <a:spcAft>
                <a:spcPts val="1159"/>
              </a:spcAft>
              <a:defRPr baseline="0">
                <a:solidFill>
                  <a:schemeClr val="bg1"/>
                </a:solidFill>
              </a:defRPr>
            </a:lvl5pPr>
            <a:lvl6pPr marL="413082" indent="-204454">
              <a:spcAft>
                <a:spcPts val="1159"/>
              </a:spcAft>
              <a:buFont typeface="Verdana" panose="020B0604030504040204" pitchFamily="34" charset="0"/>
              <a:buChar char="−"/>
              <a:defRPr>
                <a:solidFill>
                  <a:schemeClr val="bg1"/>
                </a:solidFill>
              </a:defRPr>
            </a:lvl6pPr>
            <a:lvl7pPr marL="413082" indent="-204454">
              <a:spcAft>
                <a:spcPts val="1159"/>
              </a:spcAft>
              <a:defRPr>
                <a:solidFill>
                  <a:schemeClr val="bg1"/>
                </a:solidFill>
              </a:defRPr>
            </a:lvl7pPr>
            <a:lvl8pPr marL="413082" indent="-204454">
              <a:spcAft>
                <a:spcPts val="1159"/>
              </a:spcAft>
              <a:defRPr>
                <a:solidFill>
                  <a:schemeClr val="bg1"/>
                </a:solidFill>
              </a:defRPr>
            </a:lvl8pPr>
            <a:lvl9pPr marL="413082" indent="-204454">
              <a:spcAft>
                <a:spcPts val="1159"/>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159"/>
              </a:spcAft>
              <a:defRPr>
                <a:solidFill>
                  <a:schemeClr val="bg1"/>
                </a:solidFill>
              </a:defRPr>
            </a:lvl2pPr>
            <a:lvl3pPr marL="0" indent="0">
              <a:spcAft>
                <a:spcPts val="1159"/>
              </a:spcAft>
              <a:buNone/>
              <a:defRPr>
                <a:solidFill>
                  <a:schemeClr val="bg1"/>
                </a:solidFill>
              </a:defRPr>
            </a:lvl3pPr>
            <a:lvl4pPr marL="204454" indent="-204454">
              <a:spcAft>
                <a:spcPts val="1159"/>
              </a:spcAft>
              <a:buFont typeface="Arial" panose="020B0604020202020204" pitchFamily="34" charset="0"/>
              <a:buChar char="•"/>
              <a:defRPr>
                <a:solidFill>
                  <a:schemeClr val="bg1"/>
                </a:solidFill>
              </a:defRPr>
            </a:lvl4pPr>
            <a:lvl5pPr marL="413082" indent="-204454">
              <a:spcAft>
                <a:spcPts val="1159"/>
              </a:spcAft>
              <a:defRPr baseline="0">
                <a:solidFill>
                  <a:schemeClr val="bg1"/>
                </a:solidFill>
              </a:defRPr>
            </a:lvl5pPr>
            <a:lvl6pPr marL="413082" indent="-204454">
              <a:spcAft>
                <a:spcPts val="1159"/>
              </a:spcAft>
              <a:buFont typeface="Verdana" panose="020B0604030504040204" pitchFamily="34" charset="0"/>
              <a:buChar char="−"/>
              <a:defRPr>
                <a:solidFill>
                  <a:schemeClr val="bg1"/>
                </a:solidFill>
              </a:defRPr>
            </a:lvl6pPr>
            <a:lvl7pPr marL="413082" indent="-204454">
              <a:spcAft>
                <a:spcPts val="1159"/>
              </a:spcAft>
              <a:defRPr>
                <a:solidFill>
                  <a:schemeClr val="bg1"/>
                </a:solidFill>
              </a:defRPr>
            </a:lvl7pPr>
            <a:lvl8pPr marL="413082" indent="-204454">
              <a:spcAft>
                <a:spcPts val="1159"/>
              </a:spcAft>
              <a:defRPr>
                <a:solidFill>
                  <a:schemeClr val="bg1"/>
                </a:solidFill>
              </a:defRPr>
            </a:lvl8pPr>
            <a:lvl9pPr marL="413082" indent="-204454">
              <a:spcAft>
                <a:spcPts val="1159"/>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159"/>
              </a:spcAft>
              <a:defRPr>
                <a:solidFill>
                  <a:schemeClr val="bg1"/>
                </a:solidFill>
              </a:defRPr>
            </a:lvl2pPr>
            <a:lvl3pPr marL="0" indent="0">
              <a:spcAft>
                <a:spcPts val="1159"/>
              </a:spcAft>
              <a:buNone/>
              <a:defRPr>
                <a:solidFill>
                  <a:schemeClr val="bg1"/>
                </a:solidFill>
              </a:defRPr>
            </a:lvl3pPr>
            <a:lvl4pPr marL="204454" indent="-204454">
              <a:spcAft>
                <a:spcPts val="1159"/>
              </a:spcAft>
              <a:buFont typeface="Arial" panose="020B0604020202020204" pitchFamily="34" charset="0"/>
              <a:buChar char="•"/>
              <a:defRPr>
                <a:solidFill>
                  <a:schemeClr val="bg1"/>
                </a:solidFill>
              </a:defRPr>
            </a:lvl4pPr>
            <a:lvl5pPr marL="413082" indent="-204454">
              <a:spcAft>
                <a:spcPts val="1159"/>
              </a:spcAft>
              <a:defRPr baseline="0">
                <a:solidFill>
                  <a:schemeClr val="bg1"/>
                </a:solidFill>
              </a:defRPr>
            </a:lvl5pPr>
            <a:lvl6pPr marL="413082" indent="-204454">
              <a:spcAft>
                <a:spcPts val="1159"/>
              </a:spcAft>
              <a:buFont typeface="Verdana" panose="020B0604030504040204" pitchFamily="34" charset="0"/>
              <a:buChar char="−"/>
              <a:defRPr>
                <a:solidFill>
                  <a:schemeClr val="bg1"/>
                </a:solidFill>
              </a:defRPr>
            </a:lvl6pPr>
            <a:lvl7pPr marL="413082" indent="-204454">
              <a:spcAft>
                <a:spcPts val="1159"/>
              </a:spcAft>
              <a:defRPr>
                <a:solidFill>
                  <a:schemeClr val="bg1"/>
                </a:solidFill>
              </a:defRPr>
            </a:lvl7pPr>
            <a:lvl8pPr marL="413082" indent="-204454">
              <a:spcAft>
                <a:spcPts val="1159"/>
              </a:spcAft>
              <a:defRPr>
                <a:solidFill>
                  <a:schemeClr val="bg1"/>
                </a:solidFill>
              </a:defRPr>
            </a:lvl8pPr>
            <a:lvl9pPr marL="413082" indent="-204454">
              <a:spcAft>
                <a:spcPts val="1159"/>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159"/>
              </a:spcAft>
              <a:defRPr>
                <a:solidFill>
                  <a:schemeClr val="bg1"/>
                </a:solidFill>
              </a:defRPr>
            </a:lvl2pPr>
            <a:lvl3pPr marL="0" indent="0">
              <a:spcAft>
                <a:spcPts val="1159"/>
              </a:spcAft>
              <a:buNone/>
              <a:defRPr>
                <a:solidFill>
                  <a:schemeClr val="bg1"/>
                </a:solidFill>
              </a:defRPr>
            </a:lvl3pPr>
            <a:lvl4pPr marL="204454" indent="-204454">
              <a:spcAft>
                <a:spcPts val="1159"/>
              </a:spcAft>
              <a:buFont typeface="Arial" panose="020B0604020202020204" pitchFamily="34" charset="0"/>
              <a:buChar char="•"/>
              <a:defRPr>
                <a:solidFill>
                  <a:schemeClr val="bg1"/>
                </a:solidFill>
              </a:defRPr>
            </a:lvl4pPr>
            <a:lvl5pPr marL="413082" indent="-204454">
              <a:spcAft>
                <a:spcPts val="1159"/>
              </a:spcAft>
              <a:defRPr baseline="0">
                <a:solidFill>
                  <a:schemeClr val="bg1"/>
                </a:solidFill>
              </a:defRPr>
            </a:lvl5pPr>
            <a:lvl6pPr marL="413082" indent="-204454">
              <a:spcAft>
                <a:spcPts val="1159"/>
              </a:spcAft>
              <a:buFont typeface="Verdana" panose="020B0604030504040204" pitchFamily="34" charset="0"/>
              <a:buChar char="−"/>
              <a:defRPr>
                <a:solidFill>
                  <a:schemeClr val="bg1"/>
                </a:solidFill>
              </a:defRPr>
            </a:lvl6pPr>
            <a:lvl7pPr marL="413082" indent="-204454">
              <a:spcAft>
                <a:spcPts val="1159"/>
              </a:spcAft>
              <a:defRPr>
                <a:solidFill>
                  <a:schemeClr val="bg1"/>
                </a:solidFill>
              </a:defRPr>
            </a:lvl7pPr>
            <a:lvl8pPr marL="413082" indent="-204454">
              <a:spcAft>
                <a:spcPts val="1159"/>
              </a:spcAft>
              <a:defRPr>
                <a:solidFill>
                  <a:schemeClr val="bg1"/>
                </a:solidFill>
              </a:defRPr>
            </a:lvl8pPr>
            <a:lvl9pPr marL="413082" indent="-204454">
              <a:spcAft>
                <a:spcPts val="1159"/>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7"/>
            <a:ext cx="4896560" cy="173894"/>
          </a:xfrm>
          <a:prstGeom prst="rect">
            <a:avLst/>
          </a:prstGeom>
          <a:noFill/>
        </p:spPr>
        <p:txBody>
          <a:bodyPr wrap="square" lIns="0" tIns="0" rIns="0" bIns="0" rtlCol="0">
            <a:spAutoFit/>
          </a:bodyPr>
          <a:lstStyle/>
          <a:p>
            <a:pPr marL="0" indent="0" algn="r">
              <a:spcBef>
                <a:spcPts val="0"/>
              </a:spcBef>
              <a:buSzPct val="100000"/>
              <a:buFont typeface="Arial"/>
              <a:buNone/>
            </a:pPr>
            <a:r>
              <a:rPr lang="en-US" sz="565" noProof="0" dirty="0">
                <a:solidFill>
                  <a:schemeClr val="bg1"/>
                </a:solidFill>
              </a:rPr>
              <a:t>Presentation title</a:t>
            </a:r>
            <a:br>
              <a:rPr lang="en-US" sz="565" noProof="0" dirty="0">
                <a:solidFill>
                  <a:schemeClr val="bg1"/>
                </a:solidFill>
              </a:rPr>
            </a:br>
            <a:r>
              <a:rPr lang="en-US" sz="565" noProof="0" dirty="0">
                <a:solidFill>
                  <a:schemeClr val="bg1"/>
                </a:solidFill>
              </a:rPr>
              <a:t>[To edit, click View &gt; Slide Master &gt; Slide Master]</a:t>
            </a:r>
          </a:p>
        </p:txBody>
      </p:sp>
      <p:sp>
        <p:nvSpPr>
          <p:cNvPr id="14" name="TextBox 13"/>
          <p:cNvSpPr txBox="1"/>
          <p:nvPr userDrawn="1"/>
        </p:nvSpPr>
        <p:spPr>
          <a:xfrm>
            <a:off x="501656" y="6477006"/>
            <a:ext cx="5355167" cy="173894"/>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bg1"/>
                </a:solidFill>
              </a:rPr>
              <a:t>Member firms and DTTL: Insert appropriate copyright</a:t>
            </a:r>
            <a:br>
              <a:rPr lang="en-US" sz="565" noProof="0" dirty="0">
                <a:solidFill>
                  <a:schemeClr val="bg1"/>
                </a:solidFill>
              </a:rPr>
            </a:br>
            <a:r>
              <a:rPr lang="en-US" sz="565" noProof="0" dirty="0">
                <a:solidFill>
                  <a:schemeClr val="bg1"/>
                </a:solidFill>
              </a:rPr>
              <a:t>[To edit, click View &gt; Slide Master &gt; Slide Master]</a:t>
            </a:r>
          </a:p>
        </p:txBody>
      </p:sp>
      <p:sp>
        <p:nvSpPr>
          <p:cNvPr id="15" name="TextBox 14"/>
          <p:cNvSpPr txBox="1"/>
          <p:nvPr userDrawn="1"/>
        </p:nvSpPr>
        <p:spPr>
          <a:xfrm>
            <a:off x="11382381" y="6477009"/>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bg1"/>
                </a:solidFill>
              </a:rPr>
              <a:pPr marL="0" indent="0" algn="r">
                <a:spcBef>
                  <a:spcPts val="695"/>
                </a:spcBef>
                <a:buSzPct val="100000"/>
                <a:buFont typeface="Arial"/>
                <a:buNone/>
              </a:pPr>
              <a:t>‹#›</a:t>
            </a:fld>
            <a:endParaRPr lang="en-US" sz="565" noProof="0" dirty="0">
              <a:solidFill>
                <a:schemeClr val="bg1"/>
              </a:solidFill>
            </a:endParaRPr>
          </a:p>
        </p:txBody>
      </p:sp>
      <p:sp>
        <p:nvSpPr>
          <p:cNvPr id="16"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739">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2436444203"/>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434">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217" b="0">
                <a:solidFill>
                  <a:schemeClr val="accent5"/>
                </a:solidFill>
              </a:defRPr>
            </a:lvl1pPr>
            <a:lvl2pPr marL="397444" indent="0" algn="ctr">
              <a:buNone/>
              <a:defRPr>
                <a:solidFill>
                  <a:schemeClr val="tx1">
                    <a:tint val="75000"/>
                  </a:schemeClr>
                </a:solidFill>
              </a:defRPr>
            </a:lvl2pPr>
            <a:lvl3pPr marL="794889" indent="0" algn="ctr">
              <a:buNone/>
              <a:defRPr>
                <a:solidFill>
                  <a:schemeClr val="tx1">
                    <a:tint val="75000"/>
                  </a:schemeClr>
                </a:solidFill>
              </a:defRPr>
            </a:lvl3pPr>
            <a:lvl4pPr marL="1192333" indent="0" algn="ctr">
              <a:buNone/>
              <a:defRPr>
                <a:solidFill>
                  <a:schemeClr val="tx1">
                    <a:tint val="75000"/>
                  </a:schemeClr>
                </a:solidFill>
              </a:defRPr>
            </a:lvl4pPr>
            <a:lvl5pPr marL="1589777" indent="0" algn="ctr">
              <a:buNone/>
              <a:defRPr>
                <a:solidFill>
                  <a:schemeClr val="tx1">
                    <a:tint val="75000"/>
                  </a:schemeClr>
                </a:solidFill>
              </a:defRPr>
            </a:lvl5pPr>
            <a:lvl6pPr marL="1987221" indent="0" algn="ctr">
              <a:buNone/>
              <a:defRPr>
                <a:solidFill>
                  <a:schemeClr val="tx1">
                    <a:tint val="75000"/>
                  </a:schemeClr>
                </a:solidFill>
              </a:defRPr>
            </a:lvl6pPr>
            <a:lvl7pPr marL="2384666" indent="0" algn="ctr">
              <a:buNone/>
              <a:defRPr>
                <a:solidFill>
                  <a:schemeClr val="tx1">
                    <a:tint val="75000"/>
                  </a:schemeClr>
                </a:solidFill>
              </a:defRPr>
            </a:lvl7pPr>
            <a:lvl8pPr marL="2782109" indent="0" algn="ctr">
              <a:buNone/>
              <a:defRPr>
                <a:solidFill>
                  <a:schemeClr val="tx1">
                    <a:tint val="75000"/>
                  </a:schemeClr>
                </a:solidFill>
              </a:defRPr>
            </a:lvl8pPr>
            <a:lvl9pPr marL="3179553"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4" y="6407835"/>
            <a:ext cx="1056117" cy="252000"/>
          </a:xfrm>
          <a:prstGeom prst="rect">
            <a:avLst/>
          </a:prstGeom>
        </p:spPr>
        <p:txBody>
          <a:bodyPr vert="horz" lIns="0" tIns="0" rIns="0" bIns="0" rtlCol="0" anchor="ctr" anchorCtr="0"/>
          <a:lstStyle>
            <a:lvl1pPr algn="r">
              <a:defRPr sz="695"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434">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3" y="6484170"/>
            <a:ext cx="4572000" cy="199285"/>
          </a:xfrm>
          <a:prstGeom prst="rect">
            <a:avLst/>
          </a:prstGeom>
        </p:spPr>
        <p:txBody>
          <a:bodyPr>
            <a:spAutoFit/>
          </a:bodyPr>
          <a:lstStyle/>
          <a:p>
            <a:pPr defTabSz="794889">
              <a:defRPr/>
            </a:pPr>
            <a:r>
              <a:rPr lang="en-GB" sz="695" dirty="0">
                <a:latin typeface="Verdana"/>
                <a:ea typeface="Verdana" panose="020B0604030504040204" pitchFamily="34" charset="0"/>
                <a:cs typeface="Times New Roman" panose="02020603050405020304" pitchFamily="18" charset="0"/>
              </a:rPr>
              <a:t>© 2019. For information, contact Deloitte Touche Tohmatsu Limited.</a:t>
            </a:r>
            <a:endParaRPr lang="en-US" sz="695"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523210122"/>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864237"/>
            <a:ext cx="5592011" cy="505645"/>
          </a:xfrm>
          <a:prstGeom prst="rect">
            <a:avLst/>
          </a:prstGeom>
        </p:spPr>
        <p:txBody>
          <a:bodyPr lIns="0" tIns="0" rIns="0" bIns="0" anchor="b" anchorCtr="0">
            <a:noAutofit/>
          </a:bodyPr>
          <a:lstStyle>
            <a:lvl1pPr marL="0" indent="0" algn="l">
              <a:lnSpc>
                <a:spcPct val="100000"/>
              </a:lnSpc>
              <a:spcAft>
                <a:spcPts val="0"/>
              </a:spcAft>
              <a:buNone/>
              <a:defRPr sz="1565" b="1">
                <a:solidFill>
                  <a:schemeClr val="bg1"/>
                </a:solidFill>
              </a:defRPr>
            </a:lvl1pPr>
            <a:lvl2pPr marL="0" marR="0" indent="0" algn="l" defTabSz="794889" rtl="0" eaLnBrk="1" fontAlgn="auto" latinLnBrk="0" hangingPunct="1">
              <a:lnSpc>
                <a:spcPct val="100000"/>
              </a:lnSpc>
              <a:spcBef>
                <a:spcPts val="0"/>
              </a:spcBef>
              <a:spcAft>
                <a:spcPts val="0"/>
              </a:spcAft>
              <a:buClrTx/>
              <a:buSzPct val="100000"/>
              <a:buFont typeface="Arial"/>
              <a:buNone/>
              <a:tabLst/>
              <a:defRPr sz="1391" b="0">
                <a:solidFill>
                  <a:schemeClr val="bg1"/>
                </a:solidFill>
              </a:defRPr>
            </a:lvl2pPr>
            <a:lvl3pPr marL="0" indent="0" algn="l">
              <a:spcAft>
                <a:spcPts val="0"/>
              </a:spcAft>
              <a:buNone/>
              <a:defRPr sz="1391">
                <a:solidFill>
                  <a:schemeClr val="bg1"/>
                </a:solidFill>
              </a:defRPr>
            </a:lvl3pPr>
            <a:lvl4pPr marL="1192333" indent="0" algn="ctr">
              <a:buNone/>
              <a:defRPr sz="1391"/>
            </a:lvl4pPr>
            <a:lvl5pPr marL="1589777" indent="0" algn="ctr">
              <a:buNone/>
              <a:defRPr sz="1391"/>
            </a:lvl5pPr>
            <a:lvl6pPr marL="1987221" indent="0" algn="ctr">
              <a:buNone/>
              <a:defRPr sz="1391"/>
            </a:lvl6pPr>
            <a:lvl7pPr marL="2384666" indent="0" algn="ctr">
              <a:buNone/>
              <a:defRPr sz="1391"/>
            </a:lvl7pPr>
            <a:lvl8pPr marL="2782109" indent="0" algn="ctr">
              <a:buNone/>
              <a:defRPr sz="1391"/>
            </a:lvl8pPr>
            <a:lvl9pPr marL="3179553" indent="0" algn="ctr">
              <a:buNone/>
              <a:defRPr sz="1391"/>
            </a:lvl9pPr>
          </a:lstStyle>
          <a:p>
            <a:r>
              <a:rPr lang="en-US" noProof="0" dirty="0"/>
              <a:t>Click to edit Master title style</a:t>
            </a:r>
          </a:p>
          <a:p>
            <a:pPr marL="0" marR="0" lvl="1" indent="0" algn="l" defTabSz="794889"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5" y="6381750"/>
            <a:ext cx="5594349" cy="298450"/>
          </a:xfrm>
          <a:prstGeom prst="rect">
            <a:avLst/>
          </a:prstGeom>
        </p:spPr>
        <p:txBody>
          <a:bodyPr/>
          <a:lstStyle>
            <a:lvl1pPr>
              <a:spcAft>
                <a:spcPts val="0"/>
              </a:spcAft>
              <a:defRPr sz="86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86" noProof="0" dirty="0">
                <a:solidFill>
                  <a:schemeClr val="bg1"/>
                </a:solidFill>
              </a:endParaRPr>
            </a:p>
          </p:txBody>
        </p:sp>
      </p:grpSp>
    </p:spTree>
    <p:extLst>
      <p:ext uri="{BB962C8B-B14F-4D97-AF65-F5344CB8AC3E}">
        <p14:creationId xmlns:p14="http://schemas.microsoft.com/office/powerpoint/2010/main" val="371193488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5996" userDrawn="1">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Tree>
    <p:extLst>
      <p:ext uri="{BB962C8B-B14F-4D97-AF65-F5344CB8AC3E}">
        <p14:creationId xmlns:p14="http://schemas.microsoft.com/office/powerpoint/2010/main" val="1135277173"/>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90"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3" y="2"/>
            <a:ext cx="158751"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565"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71"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3" y="1665293"/>
            <a:ext cx="4333663" cy="4633911"/>
          </a:xfrm>
          <a:prstGeom prst="rect">
            <a:avLst/>
          </a:prstGeom>
        </p:spPr>
        <p:txBody>
          <a:bodyPr/>
          <a:lstStyle>
            <a:lvl1pPr>
              <a:tabLst>
                <a:tab pos="5829036" algn="r"/>
              </a:tabLst>
              <a:defRPr/>
            </a:lvl1pPr>
            <a:lvl2pPr>
              <a:tabLst>
                <a:tab pos="5829036" algn="r"/>
              </a:tabLst>
              <a:defRPr/>
            </a:lvl2pPr>
            <a:lvl3pPr>
              <a:tabLst>
                <a:tab pos="5829036" algn="r"/>
              </a:tabLst>
              <a:defRPr/>
            </a:lvl3pPr>
            <a:lvl4pPr>
              <a:tabLst>
                <a:tab pos="5829036" algn="r"/>
              </a:tabLst>
              <a:defRPr/>
            </a:lvl4pPr>
            <a:lvl5pPr>
              <a:tabLst>
                <a:tab pos="582903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565"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565"/>
            </a:lvl1pPr>
          </a:lstStyle>
          <a:p>
            <a:r>
              <a:rPr lang="en-US" noProof="0" dirty="0"/>
              <a:t>Click to edit Master title style</a:t>
            </a:r>
          </a:p>
        </p:txBody>
      </p:sp>
    </p:spTree>
    <p:extLst>
      <p:ext uri="{BB962C8B-B14F-4D97-AF65-F5344CB8AC3E}">
        <p14:creationId xmlns:p14="http://schemas.microsoft.com/office/powerpoint/2010/main" val="1338194868"/>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5" y="317502"/>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5" y="1665293"/>
            <a:ext cx="4456429" cy="4716463"/>
          </a:xfrm>
          <a:prstGeom prst="rect">
            <a:avLst/>
          </a:prstGeom>
        </p:spPr>
        <p:txBody>
          <a:bodyPr/>
          <a:lstStyle>
            <a:lvl1pPr>
              <a:tabLst>
                <a:tab pos="4371886" algn="r"/>
              </a:tabLst>
              <a:defRPr/>
            </a:lvl1pPr>
            <a:lvl2pPr>
              <a:tabLst>
                <a:tab pos="4371886" algn="r"/>
              </a:tabLst>
              <a:defRPr/>
            </a:lvl2pPr>
            <a:lvl3pPr>
              <a:tabLst>
                <a:tab pos="4371886" algn="r"/>
              </a:tabLst>
              <a:defRPr/>
            </a:lvl3pPr>
            <a:lvl4pPr>
              <a:tabLst>
                <a:tab pos="4371886" algn="r"/>
              </a:tabLst>
              <a:defRPr/>
            </a:lvl4pPr>
            <a:lvl5pPr>
              <a:tabLst>
                <a:tab pos="437188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68296621"/>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92"/>
            <a:ext cx="11252200" cy="698501"/>
          </a:xfrm>
          <a:prstGeom prst="rect">
            <a:avLst/>
          </a:prstGeom>
        </p:spPr>
        <p:txBody>
          <a:bodyPr vert="horz" lIns="0" tIns="0" rIns="0" bIns="0" rtlCol="0" anchor="t" anchorCtr="0">
            <a:noAutofit/>
          </a:bodyPr>
          <a:lstStyle>
            <a:lvl1pPr>
              <a:defRPr sz="2086"/>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4" y="1665292"/>
            <a:ext cx="9348787" cy="4633910"/>
          </a:xfrm>
          <a:prstGeom prst="rect">
            <a:avLst/>
          </a:prstGeom>
        </p:spPr>
        <p:txBody>
          <a:bodyPr/>
          <a:lstStyle>
            <a:lvl1pPr>
              <a:tabLst>
                <a:tab pos="7799649" algn="r"/>
              </a:tabLst>
              <a:defRPr/>
            </a:lvl1pPr>
            <a:lvl2pPr>
              <a:tabLst>
                <a:tab pos="7799649" algn="r"/>
              </a:tabLst>
              <a:defRPr/>
            </a:lvl2pPr>
            <a:lvl3pPr>
              <a:tabLst>
                <a:tab pos="7799649" algn="r"/>
              </a:tabLst>
              <a:defRPr/>
            </a:lvl3pPr>
            <a:lvl4pPr>
              <a:tabLst>
                <a:tab pos="7799649" algn="r"/>
              </a:tabLst>
              <a:defRPr/>
            </a:lvl4pPr>
            <a:lvl5pPr>
              <a:tabLst>
                <a:tab pos="5829036" algn="r"/>
              </a:tabLst>
              <a:defRPr baseline="0"/>
            </a:lvl5pPr>
            <a:lvl6pPr marL="413082" indent="0">
              <a:buNone/>
              <a:tabLst>
                <a:tab pos="7799649" algn="r"/>
              </a:tabLst>
              <a:defRPr/>
            </a:lvl6pPr>
            <a:lvl7pPr>
              <a:tabLst>
                <a:tab pos="7799649" algn="r"/>
              </a:tabLst>
              <a:defRPr/>
            </a:lvl7pPr>
            <a:lvl8pPr>
              <a:tabLst>
                <a:tab pos="7799649" algn="r"/>
              </a:tabLst>
              <a:defRPr/>
            </a:lvl8pPr>
            <a:lvl9pPr>
              <a:tabLst>
                <a:tab pos="7799649"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498086518"/>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92"/>
            <a:ext cx="11252200" cy="698501"/>
          </a:xfrm>
          <a:prstGeom prst="rect">
            <a:avLst/>
          </a:prstGeom>
        </p:spPr>
        <p:txBody>
          <a:bodyPr vert="horz" lIns="0" tIns="0" rIns="0" bIns="0" rtlCol="0" anchor="t" anchorCtr="0">
            <a:noAutofit/>
          </a:bodyPr>
          <a:lstStyle>
            <a:lvl1pPr>
              <a:defRPr sz="2086"/>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7"/>
            <a:ext cx="11252200" cy="4622799"/>
          </a:xfrm>
          <a:prstGeom prst="rect">
            <a:avLst/>
          </a:prstGeom>
        </p:spPr>
        <p:txBody>
          <a:bodyPr vert="horz" lIns="0" tIns="0" rIns="0" bIns="0" rtlCol="0">
            <a:noAutofit/>
          </a:bodyPr>
          <a:lstStyle>
            <a:lvl1pPr>
              <a:defRPr sz="1391"/>
            </a:lvl1pPr>
            <a:lvl2pPr>
              <a:defRPr sz="1391"/>
            </a:lvl2pPr>
            <a:lvl3pPr>
              <a:defRPr sz="1391"/>
            </a:lvl3pPr>
            <a:lvl4pPr>
              <a:defRPr sz="1391"/>
            </a:lvl4pPr>
            <a:lvl5pPr>
              <a:defRPr sz="1391"/>
            </a:lvl5pPr>
            <a:lvl6pPr>
              <a:defRPr sz="1391"/>
            </a:lvl6pPr>
            <a:lvl7pPr>
              <a:defRPr sz="1391"/>
            </a:lvl7pPr>
            <a:lvl8pPr>
              <a:defRPr sz="1391"/>
            </a:lvl8pPr>
            <a:lvl9pPr>
              <a:defRPr sz="1391"/>
            </a:lvl9p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2441007621"/>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93"/>
            <a:ext cx="11252200" cy="356701"/>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1" y="779468"/>
            <a:ext cx="11106912" cy="192617"/>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391"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3488654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6"/>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3289842753"/>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92"/>
            <a:ext cx="11252200" cy="698501"/>
          </a:xfrm>
          <a:prstGeom prst="rect">
            <a:avLst/>
          </a:prstGeom>
        </p:spPr>
        <p:txBody>
          <a:bodyPr vert="horz" lIns="0" tIns="0" rIns="0" bIns="0" rtlCol="0" anchor="t" anchorCtr="0">
            <a:noAutofit/>
          </a:bodyPr>
          <a:lstStyle>
            <a:lvl1pPr>
              <a:defRPr sz="2086"/>
            </a:lvl1pPr>
          </a:lstStyle>
          <a:p>
            <a:r>
              <a:rPr lang="en-GB" noProof="0" dirty="0"/>
              <a:t>Click to edit Master title style</a:t>
            </a:r>
            <a:endParaRPr lang="en-GB" dirty="0"/>
          </a:p>
        </p:txBody>
      </p:sp>
      <p:sp>
        <p:nvSpPr>
          <p:cNvPr id="4"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3"/>
            <a:ext cx="11252200" cy="463391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006475008"/>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129" spc="-65" dirty="0">
                <a:latin typeface="+mj-lt"/>
              </a:defRPr>
            </a:lvl1pPr>
          </a:lstStyle>
          <a:p>
            <a:pPr lvl="0" defTabSz="596166">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043"/>
            </a:lvl1pPr>
          </a:lstStyle>
          <a:p>
            <a:pPr marL="198722" lvl="0" indent="-198722">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783" b="1" kern="0" cap="all" spc="217" baseline="0" dirty="0">
                <a:solidFill>
                  <a:schemeClr val="accent5">
                    <a:lumMod val="60000"/>
                    <a:lumOff val="40000"/>
                  </a:schemeClr>
                </a:solidFill>
                <a:ea typeface="Nexa Black" charset="0"/>
                <a:cs typeface="Nexa Black" charset="0"/>
              </a:defRPr>
            </a:lvl1pPr>
          </a:lstStyle>
          <a:p>
            <a:pPr marL="198722" lvl="0" indent="-198722"/>
            <a:r>
              <a:rPr lang="en-US" dirty="0"/>
              <a:t>BREADCRUMBS</a:t>
            </a:r>
          </a:p>
        </p:txBody>
      </p:sp>
    </p:spTree>
    <p:extLst>
      <p:ext uri="{BB962C8B-B14F-4D97-AF65-F5344CB8AC3E}">
        <p14:creationId xmlns:p14="http://schemas.microsoft.com/office/powerpoint/2010/main" val="66467044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emf"/><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3.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9" Type="http://schemas.openxmlformats.org/officeDocument/2006/relationships/slideLayout" Target="../slideLayouts/slideLayout82.xml"/><Relationship Id="rId21" Type="http://schemas.openxmlformats.org/officeDocument/2006/relationships/slideLayout" Target="../slideLayouts/slideLayout64.xml"/><Relationship Id="rId34" Type="http://schemas.openxmlformats.org/officeDocument/2006/relationships/slideLayout" Target="../slideLayouts/slideLayout77.xml"/><Relationship Id="rId42" Type="http://schemas.openxmlformats.org/officeDocument/2006/relationships/slideLayout" Target="../slideLayouts/slideLayout85.xml"/><Relationship Id="rId47" Type="http://schemas.openxmlformats.org/officeDocument/2006/relationships/image" Target="../media/image1.emf"/><Relationship Id="rId7" Type="http://schemas.openxmlformats.org/officeDocument/2006/relationships/slideLayout" Target="../slideLayouts/slideLayout5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9" Type="http://schemas.openxmlformats.org/officeDocument/2006/relationships/slideLayout" Target="../slideLayouts/slideLayout72.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37" Type="http://schemas.openxmlformats.org/officeDocument/2006/relationships/slideLayout" Target="../slideLayouts/slideLayout80.xml"/><Relationship Id="rId40" Type="http://schemas.openxmlformats.org/officeDocument/2006/relationships/slideLayout" Target="../slideLayouts/slideLayout83.xml"/><Relationship Id="rId45" Type="http://schemas.openxmlformats.org/officeDocument/2006/relationships/tags" Target="../tags/tag9.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36" Type="http://schemas.openxmlformats.org/officeDocument/2006/relationships/slideLayout" Target="../slideLayouts/slideLayout79.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31" Type="http://schemas.openxmlformats.org/officeDocument/2006/relationships/slideLayout" Target="../slideLayouts/slideLayout74.xml"/><Relationship Id="rId44" Type="http://schemas.openxmlformats.org/officeDocument/2006/relationships/tags" Target="../tags/tag8.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35" Type="http://schemas.openxmlformats.org/officeDocument/2006/relationships/slideLayout" Target="../slideLayouts/slideLayout78.xml"/><Relationship Id="rId43" Type="http://schemas.openxmlformats.org/officeDocument/2006/relationships/theme" Target="../theme/theme2.xml"/><Relationship Id="rId8" Type="http://schemas.openxmlformats.org/officeDocument/2006/relationships/slideLayout" Target="../slideLayouts/slideLayout51.xml"/><Relationship Id="rId3" Type="http://schemas.openxmlformats.org/officeDocument/2006/relationships/slideLayout" Target="../slideLayouts/slideLayout46.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slideLayout" Target="../slideLayouts/slideLayout76.xml"/><Relationship Id="rId38" Type="http://schemas.openxmlformats.org/officeDocument/2006/relationships/slideLayout" Target="../slideLayouts/slideLayout81.xml"/><Relationship Id="rId46" Type="http://schemas.openxmlformats.org/officeDocument/2006/relationships/oleObject" Target="../embeddings/oleObject4.bin"/><Relationship Id="rId20" Type="http://schemas.openxmlformats.org/officeDocument/2006/relationships/slideLayout" Target="../slideLayouts/slideLayout63.xml"/><Relationship Id="rId41" Type="http://schemas.openxmlformats.org/officeDocument/2006/relationships/slideLayout" Target="../slideLayouts/slideLayout8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3.xml"/><Relationship Id="rId13" Type="http://schemas.openxmlformats.org/officeDocument/2006/relationships/slideLayout" Target="../slideLayouts/slideLayout98.xml"/><Relationship Id="rId18" Type="http://schemas.openxmlformats.org/officeDocument/2006/relationships/tags" Target="../tags/tag14.xml"/><Relationship Id="rId3" Type="http://schemas.openxmlformats.org/officeDocument/2006/relationships/slideLayout" Target="../slideLayouts/slideLayout88.xml"/><Relationship Id="rId7" Type="http://schemas.openxmlformats.org/officeDocument/2006/relationships/slideLayout" Target="../slideLayouts/slideLayout92.xml"/><Relationship Id="rId12" Type="http://schemas.openxmlformats.org/officeDocument/2006/relationships/slideLayout" Target="../slideLayouts/slideLayout97.xml"/><Relationship Id="rId17" Type="http://schemas.openxmlformats.org/officeDocument/2006/relationships/theme" Target="../theme/theme3.xml"/><Relationship Id="rId2" Type="http://schemas.openxmlformats.org/officeDocument/2006/relationships/slideLayout" Target="../slideLayouts/slideLayout87.xml"/><Relationship Id="rId16" Type="http://schemas.openxmlformats.org/officeDocument/2006/relationships/slideLayout" Target="../slideLayouts/slideLayout101.xml"/><Relationship Id="rId20" Type="http://schemas.openxmlformats.org/officeDocument/2006/relationships/image" Target="../media/image1.emf"/><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5" Type="http://schemas.openxmlformats.org/officeDocument/2006/relationships/slideLayout" Target="../slideLayouts/slideLayout90.xml"/><Relationship Id="rId15" Type="http://schemas.openxmlformats.org/officeDocument/2006/relationships/slideLayout" Target="../slideLayouts/slideLayout100.xml"/><Relationship Id="rId10" Type="http://schemas.openxmlformats.org/officeDocument/2006/relationships/slideLayout" Target="../slideLayouts/slideLayout95.xml"/><Relationship Id="rId19" Type="http://schemas.openxmlformats.org/officeDocument/2006/relationships/oleObject" Target="../embeddings/oleObject7.bin"/><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14.xml"/><Relationship Id="rId18" Type="http://schemas.openxmlformats.org/officeDocument/2006/relationships/slideLayout" Target="../slideLayouts/slideLayout119.xml"/><Relationship Id="rId26" Type="http://schemas.openxmlformats.org/officeDocument/2006/relationships/slideLayout" Target="../slideLayouts/slideLayout127.xml"/><Relationship Id="rId39" Type="http://schemas.openxmlformats.org/officeDocument/2006/relationships/slideLayout" Target="../slideLayouts/slideLayout140.xml"/><Relationship Id="rId21" Type="http://schemas.openxmlformats.org/officeDocument/2006/relationships/slideLayout" Target="../slideLayouts/slideLayout122.xml"/><Relationship Id="rId34" Type="http://schemas.openxmlformats.org/officeDocument/2006/relationships/slideLayout" Target="../slideLayouts/slideLayout135.xml"/><Relationship Id="rId42" Type="http://schemas.openxmlformats.org/officeDocument/2006/relationships/tags" Target="../tags/tag17.xml"/><Relationship Id="rId7" Type="http://schemas.openxmlformats.org/officeDocument/2006/relationships/slideLayout" Target="../slideLayouts/slideLayout108.xml"/><Relationship Id="rId2" Type="http://schemas.openxmlformats.org/officeDocument/2006/relationships/slideLayout" Target="../slideLayouts/slideLayout103.xml"/><Relationship Id="rId16" Type="http://schemas.openxmlformats.org/officeDocument/2006/relationships/slideLayout" Target="../slideLayouts/slideLayout117.xml"/><Relationship Id="rId29" Type="http://schemas.openxmlformats.org/officeDocument/2006/relationships/slideLayout" Target="../slideLayouts/slideLayout130.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24" Type="http://schemas.openxmlformats.org/officeDocument/2006/relationships/slideLayout" Target="../slideLayouts/slideLayout125.xml"/><Relationship Id="rId32" Type="http://schemas.openxmlformats.org/officeDocument/2006/relationships/slideLayout" Target="../slideLayouts/slideLayout133.xml"/><Relationship Id="rId37" Type="http://schemas.openxmlformats.org/officeDocument/2006/relationships/slideLayout" Target="../slideLayouts/slideLayout138.xml"/><Relationship Id="rId40" Type="http://schemas.openxmlformats.org/officeDocument/2006/relationships/slideLayout" Target="../slideLayouts/slideLayout141.xml"/><Relationship Id="rId45" Type="http://schemas.openxmlformats.org/officeDocument/2006/relationships/image" Target="../media/image1.emf"/><Relationship Id="rId5" Type="http://schemas.openxmlformats.org/officeDocument/2006/relationships/slideLayout" Target="../slideLayouts/slideLayout106.xml"/><Relationship Id="rId15" Type="http://schemas.openxmlformats.org/officeDocument/2006/relationships/slideLayout" Target="../slideLayouts/slideLayout116.xml"/><Relationship Id="rId23" Type="http://schemas.openxmlformats.org/officeDocument/2006/relationships/slideLayout" Target="../slideLayouts/slideLayout124.xml"/><Relationship Id="rId28" Type="http://schemas.openxmlformats.org/officeDocument/2006/relationships/slideLayout" Target="../slideLayouts/slideLayout129.xml"/><Relationship Id="rId36" Type="http://schemas.openxmlformats.org/officeDocument/2006/relationships/slideLayout" Target="../slideLayouts/slideLayout137.xml"/><Relationship Id="rId10" Type="http://schemas.openxmlformats.org/officeDocument/2006/relationships/slideLayout" Target="../slideLayouts/slideLayout111.xml"/><Relationship Id="rId19" Type="http://schemas.openxmlformats.org/officeDocument/2006/relationships/slideLayout" Target="../slideLayouts/slideLayout120.xml"/><Relationship Id="rId31" Type="http://schemas.openxmlformats.org/officeDocument/2006/relationships/slideLayout" Target="../slideLayouts/slideLayout132.xml"/><Relationship Id="rId44" Type="http://schemas.openxmlformats.org/officeDocument/2006/relationships/oleObject" Target="../embeddings/oleObject10.bin"/><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slideLayout" Target="../slideLayouts/slideLayout115.xml"/><Relationship Id="rId22" Type="http://schemas.openxmlformats.org/officeDocument/2006/relationships/slideLayout" Target="../slideLayouts/slideLayout123.xml"/><Relationship Id="rId27" Type="http://schemas.openxmlformats.org/officeDocument/2006/relationships/slideLayout" Target="../slideLayouts/slideLayout128.xml"/><Relationship Id="rId30" Type="http://schemas.openxmlformats.org/officeDocument/2006/relationships/slideLayout" Target="../slideLayouts/slideLayout131.xml"/><Relationship Id="rId35" Type="http://schemas.openxmlformats.org/officeDocument/2006/relationships/slideLayout" Target="../slideLayouts/slideLayout136.xml"/><Relationship Id="rId43" Type="http://schemas.openxmlformats.org/officeDocument/2006/relationships/tags" Target="../tags/tag18.xml"/><Relationship Id="rId8" Type="http://schemas.openxmlformats.org/officeDocument/2006/relationships/slideLayout" Target="../slideLayouts/slideLayout109.xml"/><Relationship Id="rId3" Type="http://schemas.openxmlformats.org/officeDocument/2006/relationships/slideLayout" Target="../slideLayouts/slideLayout104.xml"/><Relationship Id="rId12" Type="http://schemas.openxmlformats.org/officeDocument/2006/relationships/slideLayout" Target="../slideLayouts/slideLayout113.xml"/><Relationship Id="rId17" Type="http://schemas.openxmlformats.org/officeDocument/2006/relationships/slideLayout" Target="../slideLayouts/slideLayout118.xml"/><Relationship Id="rId25" Type="http://schemas.openxmlformats.org/officeDocument/2006/relationships/slideLayout" Target="../slideLayouts/slideLayout126.xml"/><Relationship Id="rId33" Type="http://schemas.openxmlformats.org/officeDocument/2006/relationships/slideLayout" Target="../slideLayouts/slideLayout134.xml"/><Relationship Id="rId38" Type="http://schemas.openxmlformats.org/officeDocument/2006/relationships/slideLayout" Target="../slideLayouts/slideLayout139.xml"/><Relationship Id="rId20" Type="http://schemas.openxmlformats.org/officeDocument/2006/relationships/slideLayout" Target="../slideLayouts/slideLayout121.xml"/><Relationship Id="rId41"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47" imgW="270" imgH="270" progId="TCLayout.ActiveDocument.1">
                  <p:embed/>
                </p:oleObj>
              </mc:Choice>
              <mc:Fallback>
                <p:oleObj name="think-cell Slide" r:id="rId47" imgW="270" imgH="270" progId="TCLayout.ActiveDocument.1">
                  <p:embed/>
                  <p:pic>
                    <p:nvPicPr>
                      <p:cNvPr id="4" name="Object 3" hidden="1"/>
                      <p:cNvPicPr/>
                      <p:nvPr/>
                    </p:nvPicPr>
                    <p:blipFill>
                      <a:blip r:embed="rId48"/>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46"/>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userDrawn="1"/>
        </p:nvSpPr>
        <p:spPr>
          <a:xfrm>
            <a:off x="501652" y="6477004"/>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2021 Deloitte Touche Tohmatsu India LLP</a:t>
            </a:r>
          </a:p>
        </p:txBody>
      </p:sp>
      <p:sp>
        <p:nvSpPr>
          <p:cNvPr id="19" name="Text Placeholder 18"/>
          <p:cNvSpPr>
            <a:spLocks noGrp="1"/>
          </p:cNvSpPr>
          <p:nvPr>
            <p:ph type="body" idx="1"/>
          </p:nvPr>
        </p:nvSpPr>
        <p:spPr>
          <a:xfrm>
            <a:off x="501652"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1382379" y="6477001"/>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3197474883"/>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 id="2147483778" r:id="rId21"/>
    <p:sldLayoutId id="2147483779" r:id="rId22"/>
    <p:sldLayoutId id="2147483780" r:id="rId23"/>
    <p:sldLayoutId id="2147483781" r:id="rId24"/>
    <p:sldLayoutId id="2147483782" r:id="rId25"/>
    <p:sldLayoutId id="2147483783" r:id="rId26"/>
    <p:sldLayoutId id="2147483784" r:id="rId27"/>
    <p:sldLayoutId id="2147483785" r:id="rId28"/>
    <p:sldLayoutId id="2147483786" r:id="rId29"/>
    <p:sldLayoutId id="2147483787" r:id="rId30"/>
    <p:sldLayoutId id="2147483788" r:id="rId31"/>
    <p:sldLayoutId id="2147483789" r:id="rId32"/>
    <p:sldLayoutId id="2147483790" r:id="rId33"/>
    <p:sldLayoutId id="2147483791" r:id="rId34"/>
    <p:sldLayoutId id="2147483793" r:id="rId35"/>
    <p:sldLayoutId id="2147483794" r:id="rId36"/>
    <p:sldLayoutId id="2147483795" r:id="rId37"/>
    <p:sldLayoutId id="2147483796" r:id="rId38"/>
    <p:sldLayoutId id="2147483797" r:id="rId39"/>
    <p:sldLayoutId id="2147483826" r:id="rId40"/>
    <p:sldLayoutId id="2147483830" r:id="rId41"/>
    <p:sldLayoutId id="2147483905" r:id="rId42"/>
    <p:sldLayoutId id="2147484003" r:id="rId43"/>
  </p:sldLayoutIdLst>
  <p:transition>
    <p:fade/>
  </p:transition>
  <p:hf hdr="0" dt="0"/>
  <p:txStyles>
    <p:titleStyle>
      <a:lvl1pPr algn="l" defTabSz="1219231" rtl="0" eaLnBrk="1" latinLnBrk="0" hangingPunct="1">
        <a:spcBef>
          <a:spcPct val="0"/>
        </a:spcBef>
        <a:buNone/>
        <a:defRPr sz="2667" kern="1200">
          <a:solidFill>
            <a:schemeClr val="tx1"/>
          </a:solidFill>
          <a:latin typeface="+mj-lt"/>
          <a:ea typeface="+mj-ea"/>
          <a:cs typeface="+mj-cs"/>
        </a:defRPr>
      </a:lvl1pPr>
    </p:titleStyle>
    <p:body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userDrawn="1">
          <p15:clr>
            <a:srgbClr val="F26B43"/>
          </p15:clr>
        </p15:guide>
        <p15:guide id="2" pos="359" userDrawn="1">
          <p15:clr>
            <a:srgbClr val="F26B43"/>
          </p15:clr>
        </p15:guide>
        <p15:guide id="3" pos="8345" userDrawn="1">
          <p15:clr>
            <a:srgbClr val="F26B43"/>
          </p15:clr>
        </p15:guide>
        <p15:guide id="4" orient="horz" pos="227" userDrawn="1">
          <p15:clr>
            <a:srgbClr val="F26B43"/>
          </p15:clr>
        </p15:guide>
        <p15:guide id="5" orient="horz" pos="1189" userDrawn="1">
          <p15:clr>
            <a:srgbClr val="F26B43"/>
          </p15:clr>
        </p15:guide>
        <p15:guide id="6" orient="horz" pos="72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4"/>
            </p:custDataLst>
            <p:extLst>
              <p:ext uri="{D42A27DB-BD31-4B8C-83A1-F6EECF244321}">
                <p14:modId xmlns:p14="http://schemas.microsoft.com/office/powerpoint/2010/main" val="173361740"/>
              </p:ext>
            </p:extLst>
          </p:nvPr>
        </p:nvGraphicFramePr>
        <p:xfrm>
          <a:off x="2122" y="1596"/>
          <a:ext cx="2118" cy="1587"/>
        </p:xfrm>
        <a:graphic>
          <a:graphicData uri="http://schemas.openxmlformats.org/presentationml/2006/ole">
            <mc:AlternateContent xmlns:mc="http://schemas.openxmlformats.org/markup-compatibility/2006">
              <mc:Choice xmlns:v="urn:schemas-microsoft-com:vml" Requires="v">
                <p:oleObj name="think-cell Slide" r:id="rId46" imgW="270" imgH="270" progId="TCLayout.ActiveDocument.1">
                  <p:embed/>
                </p:oleObj>
              </mc:Choice>
              <mc:Fallback>
                <p:oleObj name="think-cell Slide" r:id="rId46" imgW="270" imgH="270" progId="TCLayout.ActiveDocument.1">
                  <p:embed/>
                  <p:pic>
                    <p:nvPicPr>
                      <p:cNvPr id="4" name="Object 3" hidden="1"/>
                      <p:cNvPicPr/>
                      <p:nvPr/>
                    </p:nvPicPr>
                    <p:blipFill>
                      <a:blip r:embed="rId47"/>
                      <a:stretch>
                        <a:fillRect/>
                      </a:stretch>
                    </p:blipFill>
                    <p:spPr>
                      <a:xfrm>
                        <a:off x="2122" y="1596"/>
                        <a:ext cx="2118" cy="1587"/>
                      </a:xfrm>
                      <a:prstGeom prst="rect">
                        <a:avLst/>
                      </a:prstGeom>
                    </p:spPr>
                  </p:pic>
                </p:oleObj>
              </mc:Fallback>
            </mc:AlternateContent>
          </a:graphicData>
        </a:graphic>
      </p:graphicFrame>
      <p:sp>
        <p:nvSpPr>
          <p:cNvPr id="5" name="Rectangle 4" hidden="1"/>
          <p:cNvSpPr/>
          <p:nvPr userDrawn="1">
            <p:custDataLst>
              <p:tags r:id="rId45"/>
            </p:custDataLst>
          </p:nvPr>
        </p:nvSpPr>
        <p:spPr bwMode="gray">
          <a:xfrm>
            <a:off x="3" y="0"/>
            <a:ext cx="140075"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318"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5" y="317507"/>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userDrawn="1"/>
        </p:nvSpPr>
        <p:spPr>
          <a:xfrm>
            <a:off x="501656" y="6477006"/>
            <a:ext cx="5355168" cy="201260"/>
          </a:xfrm>
          <a:prstGeom prst="rect">
            <a:avLst/>
          </a:prstGeom>
          <a:noFill/>
        </p:spPr>
        <p:txBody>
          <a:bodyPr wrap="square" lIns="0" tIns="0" rIns="0" bIns="0" rtlCol="0">
            <a:noAutofit/>
          </a:bodyPr>
          <a:lstStyle/>
          <a:p>
            <a:pPr>
              <a:spcBef>
                <a:spcPts val="695"/>
              </a:spcBef>
              <a:buSzPct val="100000"/>
              <a:buFont typeface="Arial"/>
              <a:buNone/>
            </a:pPr>
            <a:r>
              <a:rPr lang="fr-FR" sz="753" dirty="0">
                <a:solidFill>
                  <a:prstClr val="black"/>
                </a:solidFill>
              </a:rPr>
              <a:t>© 2021 Deloitte Touche Tohmatsu India LLP</a:t>
            </a:r>
          </a:p>
        </p:txBody>
      </p:sp>
      <p:sp>
        <p:nvSpPr>
          <p:cNvPr id="19" name="Text Placeholder 18"/>
          <p:cNvSpPr>
            <a:spLocks noGrp="1"/>
          </p:cNvSpPr>
          <p:nvPr>
            <p:ph type="body" idx="1"/>
          </p:nvPr>
        </p:nvSpPr>
        <p:spPr>
          <a:xfrm>
            <a:off x="501655"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1382381" y="6477005"/>
            <a:ext cx="307976" cy="100027"/>
          </a:xfrm>
          <a:prstGeom prst="rect">
            <a:avLst/>
          </a:prstGeom>
          <a:noFill/>
        </p:spPr>
        <p:txBody>
          <a:bodyPr wrap="square" lIns="0" tIns="0" rIns="0" bIns="0" rtlCol="0">
            <a:noAutofit/>
          </a:bodyPr>
          <a:lstStyle/>
          <a:p>
            <a:pPr algn="r">
              <a:spcBef>
                <a:spcPts val="695"/>
              </a:spcBef>
              <a:buSzPct val="100000"/>
              <a:buFont typeface="Arial"/>
              <a:buNone/>
            </a:pPr>
            <a:fld id="{C58DF478-B544-4ED8-9ED4-6A2648E2D233}" type="slidenum">
              <a:rPr lang="en-US" sz="753" smtClean="0">
                <a:solidFill>
                  <a:prstClr val="black"/>
                </a:solidFill>
              </a:rPr>
              <a:pPr algn="r">
                <a:spcBef>
                  <a:spcPts val="695"/>
                </a:spcBef>
                <a:buSzPct val="100000"/>
                <a:buFont typeface="Arial"/>
                <a:buNone/>
              </a:pPr>
              <a:t>‹#›</a:t>
            </a:fld>
            <a:endParaRPr lang="en-US" sz="753" dirty="0">
              <a:solidFill>
                <a:prstClr val="black"/>
              </a:solidFill>
            </a:endParaRPr>
          </a:p>
        </p:txBody>
      </p:sp>
    </p:spTree>
    <p:extLst>
      <p:ext uri="{BB962C8B-B14F-4D97-AF65-F5344CB8AC3E}">
        <p14:creationId xmlns:p14="http://schemas.microsoft.com/office/powerpoint/2010/main" val="335193913"/>
      </p:ext>
    </p:extLst>
  </p:cSld>
  <p:clrMap bg1="lt1" tx1="dk1" bg2="lt2" tx2="dk2" accent1="accent1" accent2="accent2" accent3="accent3" accent4="accent4" accent5="accent5" accent6="accent6" hlink="hlink" folHlink="folHlink"/>
  <p:sldLayoutIdLst>
    <p:sldLayoutId id="2147484005" r:id="rId1"/>
    <p:sldLayoutId id="2147484006" r:id="rId2"/>
    <p:sldLayoutId id="2147484007" r:id="rId3"/>
    <p:sldLayoutId id="2147484008" r:id="rId4"/>
    <p:sldLayoutId id="2147484009" r:id="rId5"/>
    <p:sldLayoutId id="2147484010" r:id="rId6"/>
    <p:sldLayoutId id="2147484011" r:id="rId7"/>
    <p:sldLayoutId id="2147484012" r:id="rId8"/>
    <p:sldLayoutId id="2147484013" r:id="rId9"/>
    <p:sldLayoutId id="2147484014" r:id="rId10"/>
    <p:sldLayoutId id="2147484015" r:id="rId11"/>
    <p:sldLayoutId id="2147484016" r:id="rId12"/>
    <p:sldLayoutId id="2147484017" r:id="rId13"/>
    <p:sldLayoutId id="2147484018" r:id="rId14"/>
    <p:sldLayoutId id="2147484019" r:id="rId15"/>
    <p:sldLayoutId id="2147484020" r:id="rId16"/>
    <p:sldLayoutId id="2147484021" r:id="rId17"/>
    <p:sldLayoutId id="2147484022" r:id="rId18"/>
    <p:sldLayoutId id="2147484023" r:id="rId19"/>
    <p:sldLayoutId id="2147484024" r:id="rId20"/>
    <p:sldLayoutId id="2147484025" r:id="rId21"/>
    <p:sldLayoutId id="2147484026" r:id="rId22"/>
    <p:sldLayoutId id="2147484027" r:id="rId23"/>
    <p:sldLayoutId id="2147484028" r:id="rId24"/>
    <p:sldLayoutId id="2147484029" r:id="rId25"/>
    <p:sldLayoutId id="2147484030" r:id="rId26"/>
    <p:sldLayoutId id="2147484031" r:id="rId27"/>
    <p:sldLayoutId id="2147484032" r:id="rId28"/>
    <p:sldLayoutId id="2147484033" r:id="rId29"/>
    <p:sldLayoutId id="2147484034" r:id="rId30"/>
    <p:sldLayoutId id="2147484035" r:id="rId31"/>
    <p:sldLayoutId id="2147484036" r:id="rId32"/>
    <p:sldLayoutId id="2147484037" r:id="rId33"/>
    <p:sldLayoutId id="2147484038" r:id="rId34"/>
    <p:sldLayoutId id="2147484039" r:id="rId35"/>
    <p:sldLayoutId id="2147484040" r:id="rId36"/>
    <p:sldLayoutId id="2147484041" r:id="rId37"/>
    <p:sldLayoutId id="2147484042" r:id="rId38"/>
    <p:sldLayoutId id="2147484043" r:id="rId39"/>
    <p:sldLayoutId id="2147484044" r:id="rId40"/>
    <p:sldLayoutId id="2147484045" r:id="rId41"/>
    <p:sldLayoutId id="2147484046" r:id="rId42"/>
  </p:sldLayoutIdLst>
  <p:transition>
    <p:fade/>
  </p:transition>
  <p:hf hdr="0" dt="0"/>
  <p:txStyles>
    <p:titleStyle>
      <a:lvl1pPr algn="l" defTabSz="1059853" rtl="0" eaLnBrk="1" latinLnBrk="0" hangingPunct="1">
        <a:spcBef>
          <a:spcPct val="0"/>
        </a:spcBef>
        <a:buNone/>
        <a:defRPr sz="2318" kern="1200">
          <a:solidFill>
            <a:schemeClr val="tx1"/>
          </a:solidFill>
          <a:latin typeface="+mj-lt"/>
          <a:ea typeface="+mj-ea"/>
          <a:cs typeface="+mj-cs"/>
        </a:defRPr>
      </a:lvl1pPr>
    </p:titleStyle>
    <p:bodyStyle>
      <a:lvl1pPr marL="0" indent="0" algn="l" defTabSz="1059853" rtl="0" eaLnBrk="1" latinLnBrk="0" hangingPunct="1">
        <a:spcBef>
          <a:spcPts val="0"/>
        </a:spcBef>
        <a:spcAft>
          <a:spcPts val="1159"/>
        </a:spcAft>
        <a:buSzPct val="100000"/>
        <a:buFont typeface="Arial" panose="020B0604020202020204" pitchFamily="34" charset="0"/>
        <a:buNone/>
        <a:defRPr sz="1391" b="0" kern="1200">
          <a:solidFill>
            <a:schemeClr val="tx1"/>
          </a:solidFill>
          <a:latin typeface="+mn-lt"/>
          <a:ea typeface="+mn-ea"/>
          <a:cs typeface="+mn-cs"/>
        </a:defRPr>
      </a:lvl1pPr>
      <a:lvl2pPr marL="0" indent="0" algn="l" defTabSz="1059853" rtl="0" eaLnBrk="1" latinLnBrk="0" hangingPunct="1">
        <a:spcBef>
          <a:spcPts val="0"/>
        </a:spcBef>
        <a:spcAft>
          <a:spcPts val="1159"/>
        </a:spcAft>
        <a:buClrTx/>
        <a:buSzPct val="100000"/>
        <a:buFont typeface="Arial"/>
        <a:buNone/>
        <a:defRPr lang="en-US" sz="1391" b="1" kern="1200" dirty="0" smtClean="0">
          <a:solidFill>
            <a:schemeClr val="tx1"/>
          </a:solidFill>
          <a:latin typeface="+mn-lt"/>
          <a:ea typeface="+mn-ea"/>
          <a:cs typeface="+mn-cs"/>
        </a:defRPr>
      </a:lvl2pPr>
      <a:lvl3pPr marL="204460" indent="-204460" algn="l" defTabSz="1059853" rtl="0" eaLnBrk="1" latinLnBrk="0" hangingPunct="1">
        <a:spcBef>
          <a:spcPts val="0"/>
        </a:spcBef>
        <a:spcAft>
          <a:spcPts val="1159"/>
        </a:spcAft>
        <a:buClrTx/>
        <a:buSzPct val="100000"/>
        <a:buFont typeface="Arial" panose="020B0604020202020204" pitchFamily="34" charset="0"/>
        <a:buChar char="•"/>
        <a:defRPr lang="en-US" sz="1391" kern="1200" dirty="0" smtClean="0">
          <a:solidFill>
            <a:schemeClr val="tx1"/>
          </a:solidFill>
          <a:latin typeface="+mn-lt"/>
          <a:ea typeface="+mn-ea"/>
          <a:cs typeface="+mn-cs"/>
        </a:defRPr>
      </a:lvl3pPr>
      <a:lvl4pPr marL="413092" indent="-204460" algn="l" defTabSz="1059853" rtl="0" eaLnBrk="1" latinLnBrk="0" hangingPunct="1">
        <a:spcBef>
          <a:spcPts val="0"/>
        </a:spcBef>
        <a:spcAft>
          <a:spcPts val="1159"/>
        </a:spcAft>
        <a:buClrTx/>
        <a:buSzPct val="100000"/>
        <a:buFont typeface="Verdana" panose="020B0604030504040204" pitchFamily="34" charset="0"/>
        <a:buChar char="−"/>
        <a:defRPr lang="en-US" sz="1391" kern="1200" baseline="0" dirty="0" smtClean="0">
          <a:solidFill>
            <a:schemeClr val="tx1"/>
          </a:solidFill>
          <a:latin typeface="+mn-lt"/>
          <a:ea typeface="+mn-ea"/>
          <a:cs typeface="+mn-cs"/>
        </a:defRPr>
      </a:lvl4pPr>
      <a:lvl5pPr marL="617553" indent="-204460" algn="l" defTabSz="925533" rtl="0" eaLnBrk="1" latinLnBrk="0" hangingPunct="1">
        <a:spcBef>
          <a:spcPts val="0"/>
        </a:spcBef>
        <a:spcAft>
          <a:spcPts val="1159"/>
        </a:spcAft>
        <a:buClrTx/>
        <a:buSzPct val="100000"/>
        <a:buFont typeface="Verdana" panose="020B0604030504040204" pitchFamily="34" charset="0"/>
        <a:buChar char="−"/>
        <a:tabLst/>
        <a:defRPr lang="en-US" sz="1391" kern="1200" baseline="0" dirty="0" smtClean="0">
          <a:solidFill>
            <a:schemeClr val="tx1"/>
          </a:solidFill>
          <a:latin typeface="+mn-lt"/>
          <a:ea typeface="+mn-ea"/>
          <a:cs typeface="+mn-cs"/>
        </a:defRPr>
      </a:lvl5pPr>
      <a:lvl6pPr marL="617553" indent="-204460" algn="l" defTabSz="1059853" rtl="0" eaLnBrk="1" latinLnBrk="0" hangingPunct="1">
        <a:spcBef>
          <a:spcPts val="0"/>
        </a:spcBef>
        <a:spcAft>
          <a:spcPts val="1159"/>
        </a:spcAft>
        <a:buFont typeface="Verdana" panose="020B0604030504040204" pitchFamily="34" charset="0"/>
        <a:buChar char="−"/>
        <a:defRPr sz="1391" kern="1200" baseline="0">
          <a:solidFill>
            <a:schemeClr val="tx1"/>
          </a:solidFill>
          <a:latin typeface="+mn-lt"/>
          <a:ea typeface="+mn-ea"/>
          <a:cs typeface="+mn-cs"/>
        </a:defRPr>
      </a:lvl6pPr>
      <a:lvl7pPr marL="617553" indent="-204460" algn="l" defTabSz="1059853" rtl="0" eaLnBrk="1" latinLnBrk="0" hangingPunct="1">
        <a:spcBef>
          <a:spcPts val="0"/>
        </a:spcBef>
        <a:spcAft>
          <a:spcPts val="1159"/>
        </a:spcAft>
        <a:buFont typeface="Verdana" panose="020B0604030504040204" pitchFamily="34" charset="0"/>
        <a:buChar char="−"/>
        <a:defRPr sz="1391" kern="1200">
          <a:solidFill>
            <a:schemeClr val="tx1"/>
          </a:solidFill>
          <a:latin typeface="+mn-lt"/>
          <a:ea typeface="+mn-ea"/>
          <a:cs typeface="+mn-cs"/>
        </a:defRPr>
      </a:lvl7pPr>
      <a:lvl8pPr marL="617553" indent="-204460" algn="l" defTabSz="1059853" rtl="0" eaLnBrk="1" latinLnBrk="0" hangingPunct="1">
        <a:spcBef>
          <a:spcPts val="0"/>
        </a:spcBef>
        <a:spcAft>
          <a:spcPts val="1159"/>
        </a:spcAft>
        <a:buFont typeface="Verdana" panose="020B0604030504040204" pitchFamily="34" charset="0"/>
        <a:buChar char="−"/>
        <a:defRPr sz="1391" kern="1200" baseline="0">
          <a:solidFill>
            <a:schemeClr val="tx1"/>
          </a:solidFill>
          <a:latin typeface="+mn-lt"/>
          <a:ea typeface="+mn-ea"/>
          <a:cs typeface="+mn-cs"/>
        </a:defRPr>
      </a:lvl8pPr>
      <a:lvl9pPr marL="617553" indent="-204460" algn="l" defTabSz="1059853" rtl="0" eaLnBrk="1" latinLnBrk="0" hangingPunct="1">
        <a:spcBef>
          <a:spcPts val="0"/>
        </a:spcBef>
        <a:spcAft>
          <a:spcPts val="1159"/>
        </a:spcAft>
        <a:buFont typeface="Verdana" panose="020B0604030504040204" pitchFamily="34" charset="0"/>
        <a:buChar char="−"/>
        <a:defRPr sz="1391" kern="1200" baseline="0">
          <a:solidFill>
            <a:schemeClr val="tx1"/>
          </a:solidFill>
          <a:latin typeface="+mn-lt"/>
          <a:ea typeface="+mn-ea"/>
          <a:cs typeface="+mn-cs"/>
        </a:defRPr>
      </a:lvl9pPr>
    </p:bodyStyle>
    <p:otherStyle>
      <a:defPPr>
        <a:defRPr lang="en-US"/>
      </a:defPPr>
      <a:lvl1pPr marL="0" algn="l" defTabSz="1059853" rtl="0" eaLnBrk="1" latinLnBrk="0" hangingPunct="1">
        <a:defRPr sz="2086" kern="1200">
          <a:solidFill>
            <a:schemeClr val="tx1"/>
          </a:solidFill>
          <a:latin typeface="+mn-lt"/>
          <a:ea typeface="+mn-ea"/>
          <a:cs typeface="+mn-cs"/>
        </a:defRPr>
      </a:lvl1pPr>
      <a:lvl2pPr marL="529926" algn="l" defTabSz="1059853" rtl="0" eaLnBrk="1" latinLnBrk="0" hangingPunct="1">
        <a:defRPr sz="2086" kern="1200">
          <a:solidFill>
            <a:schemeClr val="tx1"/>
          </a:solidFill>
          <a:latin typeface="+mn-lt"/>
          <a:ea typeface="+mn-ea"/>
          <a:cs typeface="+mn-cs"/>
        </a:defRPr>
      </a:lvl2pPr>
      <a:lvl3pPr marL="1059853" algn="l" defTabSz="1059853" rtl="0" eaLnBrk="1" latinLnBrk="0" hangingPunct="1">
        <a:defRPr sz="2086" kern="1200">
          <a:solidFill>
            <a:schemeClr val="tx1"/>
          </a:solidFill>
          <a:latin typeface="+mn-lt"/>
          <a:ea typeface="+mn-ea"/>
          <a:cs typeface="+mn-cs"/>
        </a:defRPr>
      </a:lvl3pPr>
      <a:lvl4pPr marL="1589780" algn="l" defTabSz="1059853" rtl="0" eaLnBrk="1" latinLnBrk="0" hangingPunct="1">
        <a:defRPr sz="2086" kern="1200">
          <a:solidFill>
            <a:schemeClr val="tx1"/>
          </a:solidFill>
          <a:latin typeface="+mn-lt"/>
          <a:ea typeface="+mn-ea"/>
          <a:cs typeface="+mn-cs"/>
        </a:defRPr>
      </a:lvl4pPr>
      <a:lvl5pPr marL="2119708" algn="l" defTabSz="1059853" rtl="0" eaLnBrk="1" latinLnBrk="0" hangingPunct="1">
        <a:defRPr sz="2086" kern="1200">
          <a:solidFill>
            <a:schemeClr val="tx1"/>
          </a:solidFill>
          <a:latin typeface="+mn-lt"/>
          <a:ea typeface="+mn-ea"/>
          <a:cs typeface="+mn-cs"/>
        </a:defRPr>
      </a:lvl5pPr>
      <a:lvl6pPr marL="2649634" algn="l" defTabSz="1059853" rtl="0" eaLnBrk="1" latinLnBrk="0" hangingPunct="1">
        <a:defRPr sz="2086" kern="1200">
          <a:solidFill>
            <a:schemeClr val="tx1"/>
          </a:solidFill>
          <a:latin typeface="+mn-lt"/>
          <a:ea typeface="+mn-ea"/>
          <a:cs typeface="+mn-cs"/>
        </a:defRPr>
      </a:lvl6pPr>
      <a:lvl7pPr marL="3179561" algn="l" defTabSz="1059853" rtl="0" eaLnBrk="1" latinLnBrk="0" hangingPunct="1">
        <a:defRPr sz="2086" kern="1200">
          <a:solidFill>
            <a:schemeClr val="tx1"/>
          </a:solidFill>
          <a:latin typeface="+mn-lt"/>
          <a:ea typeface="+mn-ea"/>
          <a:cs typeface="+mn-cs"/>
        </a:defRPr>
      </a:lvl7pPr>
      <a:lvl8pPr marL="3709488" algn="l" defTabSz="1059853" rtl="0" eaLnBrk="1" latinLnBrk="0" hangingPunct="1">
        <a:defRPr sz="2086" kern="1200">
          <a:solidFill>
            <a:schemeClr val="tx1"/>
          </a:solidFill>
          <a:latin typeface="+mn-lt"/>
          <a:ea typeface="+mn-ea"/>
          <a:cs typeface="+mn-cs"/>
        </a:defRPr>
      </a:lvl8pPr>
      <a:lvl9pPr marL="4239415" algn="l" defTabSz="1059853" rtl="0" eaLnBrk="1" latinLnBrk="0" hangingPunct="1">
        <a:defRPr sz="208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682" userDrawn="1">
          <p15:clr>
            <a:srgbClr val="F26B43"/>
          </p15:clr>
        </p15:guide>
        <p15:guide id="2" pos="458" userDrawn="1">
          <p15:clr>
            <a:srgbClr val="F26B43"/>
          </p15:clr>
        </p15:guide>
        <p15:guide id="3" pos="10640" userDrawn="1">
          <p15:clr>
            <a:srgbClr val="F26B43"/>
          </p15:clr>
        </p15:guide>
        <p15:guide id="4" orient="horz" pos="333" userDrawn="1">
          <p15:clr>
            <a:srgbClr val="F26B43"/>
          </p15:clr>
        </p15:guide>
        <p15:guide id="5" orient="horz" pos="1744" userDrawn="1">
          <p15:clr>
            <a:srgbClr val="F26B43"/>
          </p15:clr>
        </p15:guide>
        <p15:guide id="6" orient="horz" pos="106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8"/>
            </p:custDataLst>
            <p:extLst>
              <p:ext uri="{D42A27DB-BD31-4B8C-83A1-F6EECF244321}">
                <p14:modId xmlns:p14="http://schemas.microsoft.com/office/powerpoint/2010/main" val="1994941365"/>
              </p:ext>
            </p:extLst>
          </p:nvPr>
        </p:nvGraphicFramePr>
        <p:xfrm>
          <a:off x="2119" y="1594"/>
          <a:ext cx="2116" cy="1587"/>
        </p:xfrm>
        <a:graphic>
          <a:graphicData uri="http://schemas.openxmlformats.org/presentationml/2006/ole">
            <mc:AlternateContent xmlns:mc="http://schemas.openxmlformats.org/markup-compatibility/2006">
              <mc:Choice xmlns:v="urn:schemas-microsoft-com:vml" Requires="v">
                <p:oleObj name="think-cell Slide" r:id="rId19" imgW="270" imgH="270" progId="TCLayout.ActiveDocument.1">
                  <p:embed/>
                </p:oleObj>
              </mc:Choice>
              <mc:Fallback>
                <p:oleObj name="think-cell Slide" r:id="rId19" imgW="270" imgH="270" progId="TCLayout.ActiveDocument.1">
                  <p:embed/>
                  <p:pic>
                    <p:nvPicPr>
                      <p:cNvPr id="4" name="Object 3" hidden="1"/>
                      <p:cNvPicPr/>
                      <p:nvPr/>
                    </p:nvPicPr>
                    <p:blipFill>
                      <a:blip r:embed="rId20"/>
                      <a:stretch>
                        <a:fillRect/>
                      </a:stretch>
                    </p:blipFill>
                    <p:spPr>
                      <a:xfrm>
                        <a:off x="2119" y="1594"/>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2" y="402594"/>
            <a:ext cx="11252200" cy="692151"/>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Text Placeholder 18"/>
          <p:cNvSpPr>
            <a:spLocks noGrp="1"/>
          </p:cNvSpPr>
          <p:nvPr>
            <p:ph type="body" idx="1"/>
          </p:nvPr>
        </p:nvSpPr>
        <p:spPr>
          <a:xfrm>
            <a:off x="469902" y="1665294"/>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Box 11"/>
          <p:cNvSpPr txBox="1"/>
          <p:nvPr userDrawn="1"/>
        </p:nvSpPr>
        <p:spPr>
          <a:xfrm>
            <a:off x="11410955" y="6656303"/>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GB" sz="565" noProof="0">
                <a:solidFill>
                  <a:schemeClr val="tx1"/>
                </a:solidFill>
              </a:rPr>
              <a:pPr marL="0" indent="0" algn="r">
                <a:spcBef>
                  <a:spcPts val="695"/>
                </a:spcBef>
                <a:buSzPct val="100000"/>
                <a:buFont typeface="Arial"/>
                <a:buNone/>
              </a:pPr>
              <a:t>‹#›</a:t>
            </a:fld>
            <a:endParaRPr lang="en-GB" sz="565" noProof="0" dirty="0">
              <a:solidFill>
                <a:schemeClr val="tx1"/>
              </a:solidFill>
            </a:endParaRPr>
          </a:p>
        </p:txBody>
      </p:sp>
      <p:sp>
        <p:nvSpPr>
          <p:cNvPr id="8" name="TextBox 7"/>
          <p:cNvSpPr txBox="1"/>
          <p:nvPr userDrawn="1"/>
        </p:nvSpPr>
        <p:spPr>
          <a:xfrm>
            <a:off x="501651" y="6654810"/>
            <a:ext cx="5355168" cy="201260"/>
          </a:xfrm>
          <a:prstGeom prst="rect">
            <a:avLst/>
          </a:prstGeom>
          <a:noFill/>
        </p:spPr>
        <p:txBody>
          <a:bodyPr wrap="square" lIns="0" tIns="0" rIns="0" bIns="0" rtlCol="0">
            <a:noAutofit/>
          </a:bodyPr>
          <a:lstStyle/>
          <a:p>
            <a:pPr marL="0" indent="0">
              <a:spcBef>
                <a:spcPts val="623"/>
              </a:spcBef>
              <a:buSzPct val="100000"/>
              <a:buFont typeface="Arial"/>
              <a:buNone/>
            </a:pPr>
            <a:r>
              <a:rPr lang="fr-FR" sz="565" noProof="0" dirty="0">
                <a:solidFill>
                  <a:schemeClr val="tx1"/>
                </a:solidFill>
              </a:rPr>
              <a:t>© 2020 Deloitte Touche Tohmatsu India LLP</a:t>
            </a:r>
          </a:p>
        </p:txBody>
      </p:sp>
    </p:spTree>
    <p:extLst>
      <p:ext uri="{BB962C8B-B14F-4D97-AF65-F5344CB8AC3E}">
        <p14:creationId xmlns:p14="http://schemas.microsoft.com/office/powerpoint/2010/main" val="1114690223"/>
      </p:ext>
    </p:extLst>
  </p:cSld>
  <p:clrMap bg1="lt1" tx1="dk1" bg2="lt2" tx2="dk2" accent1="accent1" accent2="accent2" accent3="accent3" accent4="accent4" accent5="accent5" accent6="accent6" hlink="hlink" folHlink="folHlink"/>
  <p:sldLayoutIdLst>
    <p:sldLayoutId id="2147484048" r:id="rId1"/>
    <p:sldLayoutId id="2147484049" r:id="rId2"/>
    <p:sldLayoutId id="2147484050" r:id="rId3"/>
    <p:sldLayoutId id="2147484051" r:id="rId4"/>
    <p:sldLayoutId id="2147484052" r:id="rId5"/>
    <p:sldLayoutId id="2147484053" r:id="rId6"/>
    <p:sldLayoutId id="2147484054" r:id="rId7"/>
    <p:sldLayoutId id="2147484055" r:id="rId8"/>
    <p:sldLayoutId id="2147484056" r:id="rId9"/>
    <p:sldLayoutId id="2147484057" r:id="rId10"/>
    <p:sldLayoutId id="2147484058" r:id="rId11"/>
    <p:sldLayoutId id="2147484059" r:id="rId12"/>
    <p:sldLayoutId id="2147484060" r:id="rId13"/>
    <p:sldLayoutId id="2147484061" r:id="rId14"/>
    <p:sldLayoutId id="2147484062" r:id="rId15"/>
    <p:sldLayoutId id="2147484063" r:id="rId16"/>
  </p:sldLayoutIdLst>
  <p:transition>
    <p:fade/>
  </p:transition>
  <p:hf sldNum="0" hdr="0" dt="0"/>
  <p:txStyles>
    <p:titleStyle>
      <a:lvl1pPr algn="l" defTabSz="1059800" rtl="0" eaLnBrk="1" latinLnBrk="0" hangingPunct="1">
        <a:spcBef>
          <a:spcPct val="0"/>
        </a:spcBef>
        <a:buNone/>
        <a:defRPr sz="1739" kern="1200">
          <a:solidFill>
            <a:schemeClr val="tx1"/>
          </a:solidFill>
          <a:latin typeface="+mj-lt"/>
          <a:ea typeface="+mj-ea"/>
          <a:cs typeface="+mj-cs"/>
        </a:defRPr>
      </a:lvl1pPr>
    </p:titleStyle>
    <p:bodyStyle>
      <a:lvl1pPr marL="0" indent="0" algn="l" defTabSz="1059800" rtl="0" eaLnBrk="1" latinLnBrk="0" hangingPunct="1">
        <a:spcBef>
          <a:spcPts val="0"/>
        </a:spcBef>
        <a:spcAft>
          <a:spcPts val="1159"/>
        </a:spcAft>
        <a:buClrTx/>
        <a:buSzPct val="100000"/>
        <a:buFont typeface="Arial" panose="020B0604020202020204" pitchFamily="34" charset="0"/>
        <a:buChar char="​"/>
        <a:defRPr sz="1043" b="0" kern="1200">
          <a:solidFill>
            <a:schemeClr val="tx1"/>
          </a:solidFill>
          <a:latin typeface="+mn-lt"/>
          <a:ea typeface="+mn-ea"/>
          <a:cs typeface="+mn-cs"/>
        </a:defRPr>
      </a:lvl1pPr>
      <a:lvl2pPr marL="0" indent="0" algn="l" defTabSz="1059800" rtl="0" eaLnBrk="1" latinLnBrk="0" hangingPunct="1">
        <a:spcBef>
          <a:spcPts val="0"/>
        </a:spcBef>
        <a:spcAft>
          <a:spcPts val="1159"/>
        </a:spcAft>
        <a:buClrTx/>
        <a:buSzPct val="100000"/>
        <a:buFont typeface="Arial" panose="020B0604020202020204" pitchFamily="34" charset="0"/>
        <a:buChar char="​"/>
        <a:defRPr lang="en-US" sz="1043" b="1" kern="1200" dirty="0">
          <a:solidFill>
            <a:schemeClr val="tx1"/>
          </a:solidFill>
          <a:latin typeface="+mn-lt"/>
          <a:ea typeface="+mn-ea"/>
          <a:cs typeface="+mn-cs"/>
        </a:defRPr>
      </a:lvl2pPr>
      <a:lvl3pPr marL="204449" indent="-204449" algn="l" defTabSz="1059800" rtl="0" eaLnBrk="1" latinLnBrk="0" hangingPunct="1">
        <a:spcBef>
          <a:spcPts val="0"/>
        </a:spcBef>
        <a:spcAft>
          <a:spcPts val="1159"/>
        </a:spcAft>
        <a:buClrTx/>
        <a:buSzPct val="100000"/>
        <a:buFont typeface="Arial" panose="020B0604020202020204" pitchFamily="34" charset="0"/>
        <a:buChar char="•"/>
        <a:defRPr lang="en-US" sz="1043" kern="1200" dirty="0">
          <a:solidFill>
            <a:schemeClr val="tx1"/>
          </a:solidFill>
          <a:latin typeface="+mn-lt"/>
          <a:ea typeface="+mn-ea"/>
          <a:cs typeface="+mn-cs"/>
        </a:defRPr>
      </a:lvl3pPr>
      <a:lvl4pPr marL="413072" indent="-204449" algn="l" defTabSz="1059800" rtl="0" eaLnBrk="1" latinLnBrk="0" hangingPunct="1">
        <a:spcBef>
          <a:spcPts val="0"/>
        </a:spcBef>
        <a:spcAft>
          <a:spcPts val="1159"/>
        </a:spcAft>
        <a:buClrTx/>
        <a:buSzPct val="100000"/>
        <a:buFont typeface="Verdana" panose="020B0604030504040204" pitchFamily="34" charset="0"/>
        <a:buChar char="−"/>
        <a:defRPr lang="en-US" sz="1043" kern="1200" baseline="0" dirty="0">
          <a:solidFill>
            <a:schemeClr val="tx1"/>
          </a:solidFill>
          <a:latin typeface="+mn-lt"/>
          <a:ea typeface="+mn-ea"/>
          <a:cs typeface="+mn-cs"/>
        </a:defRPr>
      </a:lvl4pPr>
      <a:lvl5pPr marL="617521" indent="-204449" algn="l" defTabSz="925486" rtl="0" eaLnBrk="1" latinLnBrk="0" hangingPunct="1">
        <a:spcBef>
          <a:spcPts val="0"/>
        </a:spcBef>
        <a:spcAft>
          <a:spcPts val="1159"/>
        </a:spcAft>
        <a:buClrTx/>
        <a:buSzPct val="100000"/>
        <a:buFont typeface="Verdana" panose="020B0604030504040204" pitchFamily="34" charset="0"/>
        <a:buChar char="−"/>
        <a:tabLst/>
        <a:defRPr lang="en-US" sz="1043" kern="1200" baseline="0" dirty="0">
          <a:solidFill>
            <a:schemeClr val="tx1"/>
          </a:solidFill>
          <a:latin typeface="+mn-lt"/>
          <a:ea typeface="+mn-ea"/>
          <a:cs typeface="+mn-cs"/>
        </a:defRPr>
      </a:lvl5pPr>
      <a:lvl6pPr marL="617521" indent="-204449" algn="l" defTabSz="1059800" rtl="0" eaLnBrk="1" latinLnBrk="0" hangingPunct="1">
        <a:spcBef>
          <a:spcPts val="0"/>
        </a:spcBef>
        <a:spcAft>
          <a:spcPts val="1159"/>
        </a:spcAft>
        <a:buFont typeface="Verdana" panose="020B0604030504040204" pitchFamily="34" charset="0"/>
        <a:buChar char="−"/>
        <a:defRPr sz="1043" kern="1200" baseline="0">
          <a:solidFill>
            <a:schemeClr val="tx1"/>
          </a:solidFill>
          <a:latin typeface="+mn-lt"/>
          <a:ea typeface="+mn-ea"/>
          <a:cs typeface="+mn-cs"/>
        </a:defRPr>
      </a:lvl6pPr>
      <a:lvl7pPr marL="617521" indent="-204449" algn="l" defTabSz="1059800" rtl="0" eaLnBrk="1" latinLnBrk="0" hangingPunct="1">
        <a:spcBef>
          <a:spcPts val="0"/>
        </a:spcBef>
        <a:spcAft>
          <a:spcPts val="1159"/>
        </a:spcAft>
        <a:buFont typeface="Verdana" panose="020B0604030504040204" pitchFamily="34" charset="0"/>
        <a:buChar char="−"/>
        <a:defRPr sz="1043" kern="1200">
          <a:solidFill>
            <a:schemeClr val="tx1"/>
          </a:solidFill>
          <a:latin typeface="+mn-lt"/>
          <a:ea typeface="+mn-ea"/>
          <a:cs typeface="+mn-cs"/>
        </a:defRPr>
      </a:lvl7pPr>
      <a:lvl8pPr marL="617521" indent="-204449" algn="l" defTabSz="1059800" rtl="0" eaLnBrk="1" latinLnBrk="0" hangingPunct="1">
        <a:spcBef>
          <a:spcPts val="0"/>
        </a:spcBef>
        <a:spcAft>
          <a:spcPts val="1159"/>
        </a:spcAft>
        <a:buFont typeface="Verdana" panose="020B0604030504040204" pitchFamily="34" charset="0"/>
        <a:buChar char="−"/>
        <a:defRPr sz="1043" kern="1200" baseline="0">
          <a:solidFill>
            <a:schemeClr val="tx1"/>
          </a:solidFill>
          <a:latin typeface="+mn-lt"/>
          <a:ea typeface="+mn-ea"/>
          <a:cs typeface="+mn-cs"/>
        </a:defRPr>
      </a:lvl8pPr>
      <a:lvl9pPr marL="617521" indent="-204449" algn="l" defTabSz="1059800" rtl="0" eaLnBrk="1" latinLnBrk="0" hangingPunct="1">
        <a:spcBef>
          <a:spcPts val="0"/>
        </a:spcBef>
        <a:spcAft>
          <a:spcPts val="1159"/>
        </a:spcAft>
        <a:buFont typeface="Verdana" panose="020B0604030504040204" pitchFamily="34" charset="0"/>
        <a:buChar char="−"/>
        <a:defRPr sz="1043" kern="1200" baseline="0">
          <a:solidFill>
            <a:schemeClr val="tx1"/>
          </a:solidFill>
          <a:latin typeface="+mn-lt"/>
          <a:ea typeface="+mn-ea"/>
          <a:cs typeface="+mn-cs"/>
        </a:defRPr>
      </a:lvl9pPr>
    </p:bodyStyle>
    <p:otherStyle>
      <a:defPPr>
        <a:defRPr lang="en-US"/>
      </a:defPPr>
      <a:lvl1pPr marL="0" algn="l" defTabSz="1059800" rtl="0" eaLnBrk="1" latinLnBrk="0" hangingPunct="1">
        <a:defRPr sz="2086" kern="1200">
          <a:solidFill>
            <a:schemeClr val="tx1"/>
          </a:solidFill>
          <a:latin typeface="+mn-lt"/>
          <a:ea typeface="+mn-ea"/>
          <a:cs typeface="+mn-cs"/>
        </a:defRPr>
      </a:lvl1pPr>
      <a:lvl2pPr marL="529900" algn="l" defTabSz="1059800" rtl="0" eaLnBrk="1" latinLnBrk="0" hangingPunct="1">
        <a:defRPr sz="2086" kern="1200">
          <a:solidFill>
            <a:schemeClr val="tx1"/>
          </a:solidFill>
          <a:latin typeface="+mn-lt"/>
          <a:ea typeface="+mn-ea"/>
          <a:cs typeface="+mn-cs"/>
        </a:defRPr>
      </a:lvl2pPr>
      <a:lvl3pPr marL="1059800" algn="l" defTabSz="1059800" rtl="0" eaLnBrk="1" latinLnBrk="0" hangingPunct="1">
        <a:defRPr sz="2086" kern="1200">
          <a:solidFill>
            <a:schemeClr val="tx1"/>
          </a:solidFill>
          <a:latin typeface="+mn-lt"/>
          <a:ea typeface="+mn-ea"/>
          <a:cs typeface="+mn-cs"/>
        </a:defRPr>
      </a:lvl3pPr>
      <a:lvl4pPr marL="1589699" algn="l" defTabSz="1059800" rtl="0" eaLnBrk="1" latinLnBrk="0" hangingPunct="1">
        <a:defRPr sz="2086" kern="1200">
          <a:solidFill>
            <a:schemeClr val="tx1"/>
          </a:solidFill>
          <a:latin typeface="+mn-lt"/>
          <a:ea typeface="+mn-ea"/>
          <a:cs typeface="+mn-cs"/>
        </a:defRPr>
      </a:lvl4pPr>
      <a:lvl5pPr marL="2119598" algn="l" defTabSz="1059800" rtl="0" eaLnBrk="1" latinLnBrk="0" hangingPunct="1">
        <a:defRPr sz="2086" kern="1200">
          <a:solidFill>
            <a:schemeClr val="tx1"/>
          </a:solidFill>
          <a:latin typeface="+mn-lt"/>
          <a:ea typeface="+mn-ea"/>
          <a:cs typeface="+mn-cs"/>
        </a:defRPr>
      </a:lvl5pPr>
      <a:lvl6pPr marL="2649499" algn="l" defTabSz="1059800" rtl="0" eaLnBrk="1" latinLnBrk="0" hangingPunct="1">
        <a:defRPr sz="2086" kern="1200">
          <a:solidFill>
            <a:schemeClr val="tx1"/>
          </a:solidFill>
          <a:latin typeface="+mn-lt"/>
          <a:ea typeface="+mn-ea"/>
          <a:cs typeface="+mn-cs"/>
        </a:defRPr>
      </a:lvl6pPr>
      <a:lvl7pPr marL="3179398" algn="l" defTabSz="1059800" rtl="0" eaLnBrk="1" latinLnBrk="0" hangingPunct="1">
        <a:defRPr sz="2086" kern="1200">
          <a:solidFill>
            <a:schemeClr val="tx1"/>
          </a:solidFill>
          <a:latin typeface="+mn-lt"/>
          <a:ea typeface="+mn-ea"/>
          <a:cs typeface="+mn-cs"/>
        </a:defRPr>
      </a:lvl7pPr>
      <a:lvl8pPr marL="3709298" algn="l" defTabSz="1059800" rtl="0" eaLnBrk="1" latinLnBrk="0" hangingPunct="1">
        <a:defRPr sz="2086" kern="1200">
          <a:solidFill>
            <a:schemeClr val="tx1"/>
          </a:solidFill>
          <a:latin typeface="+mn-lt"/>
          <a:ea typeface="+mn-ea"/>
          <a:cs typeface="+mn-cs"/>
        </a:defRPr>
      </a:lvl8pPr>
      <a:lvl9pPr marL="4239197" algn="l" defTabSz="1059800" rtl="0" eaLnBrk="1" latinLnBrk="0" hangingPunct="1">
        <a:defRPr sz="208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501" userDrawn="1">
          <p15:clr>
            <a:srgbClr val="F26B43"/>
          </p15:clr>
        </p15:guide>
        <p15:guide id="2" orient="horz" pos="3168" userDrawn="1">
          <p15:clr>
            <a:srgbClr val="F26B43"/>
          </p15:clr>
        </p15:guide>
        <p15:guide id="3" orient="horz" pos="5820" userDrawn="1">
          <p15:clr>
            <a:srgbClr val="F26B43"/>
          </p15:clr>
        </p15:guide>
        <p15:guide id="4" pos="377" userDrawn="1">
          <p15:clr>
            <a:srgbClr val="F26B43"/>
          </p15:clr>
        </p15:guide>
        <p15:guide id="5" pos="9415" userDrawn="1">
          <p15:clr>
            <a:srgbClr val="F26B43"/>
          </p15:clr>
        </p15:guide>
        <p15:guide id="6" orient="horz" pos="1571" userDrawn="1">
          <p15:clr>
            <a:srgbClr val="F26B43"/>
          </p15:clr>
        </p15:guide>
        <p15:guide id="7" orient="horz" pos="359" userDrawn="1">
          <p15:clr>
            <a:srgbClr val="F26B43"/>
          </p15:clr>
        </p15:guide>
        <p15:guide id="8" orient="horz" pos="5985" userDrawn="1">
          <p15:clr>
            <a:srgbClr val="F26B43"/>
          </p15:clr>
        </p15:guide>
        <p15:guide id="10" pos="6358" userDrawn="1">
          <p15:clr>
            <a:srgbClr val="F26B43"/>
          </p15:clr>
        </p15:guide>
        <p15:guide id="12" pos="1763" userDrawn="1">
          <p15:clr>
            <a:srgbClr val="F26B43"/>
          </p15:clr>
        </p15:guide>
        <p15:guide id="13" pos="1907" userDrawn="1">
          <p15:clr>
            <a:srgbClr val="F26B43"/>
          </p15:clr>
        </p15:guide>
        <p15:guide id="14" pos="3291" userDrawn="1">
          <p15:clr>
            <a:srgbClr val="F26B43"/>
          </p15:clr>
        </p15:guide>
        <p15:guide id="15" pos="3436" userDrawn="1">
          <p15:clr>
            <a:srgbClr val="F26B43"/>
          </p15:clr>
        </p15:guide>
        <p15:guide id="16" pos="7886" userDrawn="1">
          <p15:clr>
            <a:srgbClr val="F26B43"/>
          </p15:clr>
        </p15:guide>
        <p15:guide id="17" pos="4823" userDrawn="1">
          <p15:clr>
            <a:srgbClr val="F26B43"/>
          </p15:clr>
        </p15:guide>
        <p15:guide id="18" pos="4967" userDrawn="1">
          <p15:clr>
            <a:srgbClr val="F26B43"/>
          </p15:clr>
        </p15:guide>
        <p15:guide id="19" pos="4896" userDrawn="1">
          <p15:clr>
            <a:srgbClr val="F26B43"/>
          </p15:clr>
        </p15:guide>
        <p15:guide id="20" pos="8031" userDrawn="1">
          <p15:clr>
            <a:srgbClr val="F26B43"/>
          </p15:clr>
        </p15:guide>
        <p15:guide id="21" orient="horz" pos="1539" userDrawn="1">
          <p15:clr>
            <a:srgbClr val="F26B43"/>
          </p15:clr>
        </p15:guide>
        <p15:guide id="22" orient="horz" pos="940" userDrawn="1">
          <p15:clr>
            <a:srgbClr val="F26B43"/>
          </p15:clr>
        </p15:guide>
        <p15:guide id="23" orient="horz" pos="422"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2"/>
            </p:custDataLst>
            <p:extLst>
              <p:ext uri="{D42A27DB-BD31-4B8C-83A1-F6EECF244321}">
                <p14:modId xmlns:p14="http://schemas.microsoft.com/office/powerpoint/2010/main" val="3166449385"/>
              </p:ext>
            </p:extLst>
          </p:nvPr>
        </p:nvGraphicFramePr>
        <p:xfrm>
          <a:off x="2123" y="1596"/>
          <a:ext cx="2117" cy="1587"/>
        </p:xfrm>
        <a:graphic>
          <a:graphicData uri="http://schemas.openxmlformats.org/presentationml/2006/ole">
            <mc:AlternateContent xmlns:mc="http://schemas.openxmlformats.org/markup-compatibility/2006">
              <mc:Choice xmlns:v="urn:schemas-microsoft-com:vml" Requires="v">
                <p:oleObj name="think-cell Slide" r:id="rId44" imgW="270" imgH="270" progId="TCLayout.ActiveDocument.1">
                  <p:embed/>
                </p:oleObj>
              </mc:Choice>
              <mc:Fallback>
                <p:oleObj name="think-cell Slide" r:id="rId44" imgW="270" imgH="270" progId="TCLayout.ActiveDocument.1">
                  <p:embed/>
                  <p:pic>
                    <p:nvPicPr>
                      <p:cNvPr id="4" name="Object 3" hidden="1"/>
                      <p:cNvPicPr/>
                      <p:nvPr/>
                    </p:nvPicPr>
                    <p:blipFill>
                      <a:blip r:embed="rId45"/>
                      <a:stretch>
                        <a:fillRect/>
                      </a:stretch>
                    </p:blipFill>
                    <p:spPr>
                      <a:xfrm>
                        <a:off x="2123" y="1596"/>
                        <a:ext cx="2117" cy="1587"/>
                      </a:xfrm>
                      <a:prstGeom prst="rect">
                        <a:avLst/>
                      </a:prstGeom>
                    </p:spPr>
                  </p:pic>
                </p:oleObj>
              </mc:Fallback>
            </mc:AlternateContent>
          </a:graphicData>
        </a:graphic>
      </p:graphicFrame>
      <p:sp>
        <p:nvSpPr>
          <p:cNvPr id="5" name="Rectangle 4" hidden="1"/>
          <p:cNvSpPr/>
          <p:nvPr userDrawn="1">
            <p:custDataLst>
              <p:tags r:id="rId43"/>
            </p:custDataLst>
          </p:nvPr>
        </p:nvSpPr>
        <p:spPr bwMode="gray">
          <a:xfrm>
            <a:off x="3" y="0"/>
            <a:ext cx="140075"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318"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5" y="317505"/>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userDrawn="1"/>
        </p:nvSpPr>
        <p:spPr>
          <a:xfrm>
            <a:off x="501655" y="6477004"/>
            <a:ext cx="5355169" cy="201260"/>
          </a:xfrm>
          <a:prstGeom prst="rect">
            <a:avLst/>
          </a:prstGeom>
          <a:noFill/>
        </p:spPr>
        <p:txBody>
          <a:bodyPr wrap="square" lIns="0" tIns="0" rIns="0" bIns="0" rtlCol="0">
            <a:noAutofit/>
          </a:bodyPr>
          <a:lstStyle/>
          <a:p>
            <a:pPr>
              <a:spcBef>
                <a:spcPts val="695"/>
              </a:spcBef>
              <a:buSzPct val="100000"/>
              <a:buFont typeface="Arial"/>
              <a:buNone/>
            </a:pPr>
            <a:r>
              <a:rPr lang="fr-FR" sz="753" dirty="0">
                <a:solidFill>
                  <a:prstClr val="black"/>
                </a:solidFill>
              </a:rPr>
              <a:t>© 2021 Deloitte Touche Tohmatsu India LLP</a:t>
            </a:r>
          </a:p>
        </p:txBody>
      </p:sp>
      <p:sp>
        <p:nvSpPr>
          <p:cNvPr id="19" name="Text Placeholder 18"/>
          <p:cNvSpPr>
            <a:spLocks noGrp="1"/>
          </p:cNvSpPr>
          <p:nvPr>
            <p:ph type="body" idx="1"/>
          </p:nvPr>
        </p:nvSpPr>
        <p:spPr>
          <a:xfrm>
            <a:off x="501655"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1382379" y="6477005"/>
            <a:ext cx="307976" cy="100027"/>
          </a:xfrm>
          <a:prstGeom prst="rect">
            <a:avLst/>
          </a:prstGeom>
          <a:noFill/>
        </p:spPr>
        <p:txBody>
          <a:bodyPr wrap="square" lIns="0" tIns="0" rIns="0" bIns="0" rtlCol="0">
            <a:noAutofit/>
          </a:bodyPr>
          <a:lstStyle/>
          <a:p>
            <a:pPr algn="r">
              <a:spcBef>
                <a:spcPts val="695"/>
              </a:spcBef>
              <a:buSzPct val="100000"/>
              <a:buFont typeface="Arial"/>
              <a:buNone/>
            </a:pPr>
            <a:fld id="{C58DF478-B544-4ED8-9ED4-6A2648E2D233}" type="slidenum">
              <a:rPr lang="en-US" sz="753" smtClean="0">
                <a:solidFill>
                  <a:prstClr val="black"/>
                </a:solidFill>
              </a:rPr>
              <a:pPr algn="r">
                <a:spcBef>
                  <a:spcPts val="695"/>
                </a:spcBef>
                <a:buSzPct val="100000"/>
                <a:buFont typeface="Arial"/>
                <a:buNone/>
              </a:pPr>
              <a:t>‹#›</a:t>
            </a:fld>
            <a:endParaRPr lang="en-US" sz="753" dirty="0">
              <a:solidFill>
                <a:prstClr val="black"/>
              </a:solidFill>
            </a:endParaRPr>
          </a:p>
        </p:txBody>
      </p:sp>
    </p:spTree>
    <p:extLst>
      <p:ext uri="{BB962C8B-B14F-4D97-AF65-F5344CB8AC3E}">
        <p14:creationId xmlns:p14="http://schemas.microsoft.com/office/powerpoint/2010/main" val="3828871737"/>
      </p:ext>
    </p:extLst>
  </p:cSld>
  <p:clrMap bg1="lt1" tx1="dk1" bg2="lt2" tx2="dk2" accent1="accent1" accent2="accent2" accent3="accent3" accent4="accent4" accent5="accent5" accent6="accent6" hlink="hlink" folHlink="folHlink"/>
  <p:sldLayoutIdLst>
    <p:sldLayoutId id="2147484065" r:id="rId1"/>
    <p:sldLayoutId id="2147484066" r:id="rId2"/>
    <p:sldLayoutId id="2147484067" r:id="rId3"/>
    <p:sldLayoutId id="2147484068" r:id="rId4"/>
    <p:sldLayoutId id="2147484069" r:id="rId5"/>
    <p:sldLayoutId id="2147484070" r:id="rId6"/>
    <p:sldLayoutId id="2147484071" r:id="rId7"/>
    <p:sldLayoutId id="2147484072" r:id="rId8"/>
    <p:sldLayoutId id="2147484073" r:id="rId9"/>
    <p:sldLayoutId id="2147484074" r:id="rId10"/>
    <p:sldLayoutId id="2147484075" r:id="rId11"/>
    <p:sldLayoutId id="2147484076" r:id="rId12"/>
    <p:sldLayoutId id="2147484077" r:id="rId13"/>
    <p:sldLayoutId id="2147484078" r:id="rId14"/>
    <p:sldLayoutId id="2147484079" r:id="rId15"/>
    <p:sldLayoutId id="2147484080" r:id="rId16"/>
    <p:sldLayoutId id="2147484081" r:id="rId17"/>
    <p:sldLayoutId id="2147484082" r:id="rId18"/>
    <p:sldLayoutId id="2147484083" r:id="rId19"/>
    <p:sldLayoutId id="2147484084" r:id="rId20"/>
    <p:sldLayoutId id="2147484085" r:id="rId21"/>
    <p:sldLayoutId id="2147484086" r:id="rId22"/>
    <p:sldLayoutId id="2147484087" r:id="rId23"/>
    <p:sldLayoutId id="2147484088" r:id="rId24"/>
    <p:sldLayoutId id="2147484089" r:id="rId25"/>
    <p:sldLayoutId id="2147484090" r:id="rId26"/>
    <p:sldLayoutId id="2147484091" r:id="rId27"/>
    <p:sldLayoutId id="2147484092" r:id="rId28"/>
    <p:sldLayoutId id="2147484093" r:id="rId29"/>
    <p:sldLayoutId id="2147484094" r:id="rId30"/>
    <p:sldLayoutId id="2147484095" r:id="rId31"/>
    <p:sldLayoutId id="2147484096" r:id="rId32"/>
    <p:sldLayoutId id="2147484097" r:id="rId33"/>
    <p:sldLayoutId id="2147484098" r:id="rId34"/>
    <p:sldLayoutId id="2147484099" r:id="rId35"/>
    <p:sldLayoutId id="2147484100" r:id="rId36"/>
    <p:sldLayoutId id="2147484101" r:id="rId37"/>
    <p:sldLayoutId id="2147484102" r:id="rId38"/>
    <p:sldLayoutId id="2147484103" r:id="rId39"/>
    <p:sldLayoutId id="2147484104" r:id="rId40"/>
  </p:sldLayoutIdLst>
  <p:transition>
    <p:fade/>
  </p:transition>
  <p:hf hdr="0" dt="0"/>
  <p:txStyles>
    <p:titleStyle>
      <a:lvl1pPr algn="l" defTabSz="1059853" rtl="0" eaLnBrk="1" latinLnBrk="0" hangingPunct="1">
        <a:spcBef>
          <a:spcPct val="0"/>
        </a:spcBef>
        <a:buNone/>
        <a:defRPr sz="2318" kern="1200">
          <a:solidFill>
            <a:schemeClr val="tx1"/>
          </a:solidFill>
          <a:latin typeface="+mj-lt"/>
          <a:ea typeface="+mj-ea"/>
          <a:cs typeface="+mj-cs"/>
        </a:defRPr>
      </a:lvl1pPr>
    </p:titleStyle>
    <p:bodyStyle>
      <a:lvl1pPr marL="0" indent="0" algn="l" defTabSz="1059853" rtl="0" eaLnBrk="1" latinLnBrk="0" hangingPunct="1">
        <a:spcBef>
          <a:spcPts val="0"/>
        </a:spcBef>
        <a:spcAft>
          <a:spcPts val="1159"/>
        </a:spcAft>
        <a:buSzPct val="100000"/>
        <a:buFont typeface="Arial" panose="020B0604020202020204" pitchFamily="34" charset="0"/>
        <a:buNone/>
        <a:defRPr sz="1391" b="0" kern="1200">
          <a:solidFill>
            <a:schemeClr val="tx1"/>
          </a:solidFill>
          <a:latin typeface="+mn-lt"/>
          <a:ea typeface="+mn-ea"/>
          <a:cs typeface="+mn-cs"/>
        </a:defRPr>
      </a:lvl1pPr>
      <a:lvl2pPr marL="0" indent="0" algn="l" defTabSz="1059853" rtl="0" eaLnBrk="1" latinLnBrk="0" hangingPunct="1">
        <a:spcBef>
          <a:spcPts val="0"/>
        </a:spcBef>
        <a:spcAft>
          <a:spcPts val="1159"/>
        </a:spcAft>
        <a:buClrTx/>
        <a:buSzPct val="100000"/>
        <a:buFont typeface="Arial"/>
        <a:buNone/>
        <a:defRPr lang="en-US" sz="1391" b="1" kern="1200" dirty="0" smtClean="0">
          <a:solidFill>
            <a:schemeClr val="tx1"/>
          </a:solidFill>
          <a:latin typeface="+mn-lt"/>
          <a:ea typeface="+mn-ea"/>
          <a:cs typeface="+mn-cs"/>
        </a:defRPr>
      </a:lvl2pPr>
      <a:lvl3pPr marL="204460" indent="-204460" algn="l" defTabSz="1059853" rtl="0" eaLnBrk="1" latinLnBrk="0" hangingPunct="1">
        <a:spcBef>
          <a:spcPts val="0"/>
        </a:spcBef>
        <a:spcAft>
          <a:spcPts val="1159"/>
        </a:spcAft>
        <a:buClrTx/>
        <a:buSzPct val="100000"/>
        <a:buFont typeface="Arial" panose="020B0604020202020204" pitchFamily="34" charset="0"/>
        <a:buChar char="•"/>
        <a:defRPr lang="en-US" sz="1391" kern="1200" dirty="0" smtClean="0">
          <a:solidFill>
            <a:schemeClr val="tx1"/>
          </a:solidFill>
          <a:latin typeface="+mn-lt"/>
          <a:ea typeface="+mn-ea"/>
          <a:cs typeface="+mn-cs"/>
        </a:defRPr>
      </a:lvl3pPr>
      <a:lvl4pPr marL="413092" indent="-204460" algn="l" defTabSz="1059853" rtl="0" eaLnBrk="1" latinLnBrk="0" hangingPunct="1">
        <a:spcBef>
          <a:spcPts val="0"/>
        </a:spcBef>
        <a:spcAft>
          <a:spcPts val="1159"/>
        </a:spcAft>
        <a:buClrTx/>
        <a:buSzPct val="100000"/>
        <a:buFont typeface="Verdana" panose="020B0604030504040204" pitchFamily="34" charset="0"/>
        <a:buChar char="−"/>
        <a:defRPr lang="en-US" sz="1391" kern="1200" baseline="0" dirty="0" smtClean="0">
          <a:solidFill>
            <a:schemeClr val="tx1"/>
          </a:solidFill>
          <a:latin typeface="+mn-lt"/>
          <a:ea typeface="+mn-ea"/>
          <a:cs typeface="+mn-cs"/>
        </a:defRPr>
      </a:lvl4pPr>
      <a:lvl5pPr marL="617553" indent="-204460" algn="l" defTabSz="925533" rtl="0" eaLnBrk="1" latinLnBrk="0" hangingPunct="1">
        <a:spcBef>
          <a:spcPts val="0"/>
        </a:spcBef>
        <a:spcAft>
          <a:spcPts val="1159"/>
        </a:spcAft>
        <a:buClrTx/>
        <a:buSzPct val="100000"/>
        <a:buFont typeface="Verdana" panose="020B0604030504040204" pitchFamily="34" charset="0"/>
        <a:buChar char="−"/>
        <a:tabLst/>
        <a:defRPr lang="en-US" sz="1391" kern="1200" baseline="0" dirty="0" smtClean="0">
          <a:solidFill>
            <a:schemeClr val="tx1"/>
          </a:solidFill>
          <a:latin typeface="+mn-lt"/>
          <a:ea typeface="+mn-ea"/>
          <a:cs typeface="+mn-cs"/>
        </a:defRPr>
      </a:lvl5pPr>
      <a:lvl6pPr marL="617553" indent="-204460" algn="l" defTabSz="1059853" rtl="0" eaLnBrk="1" latinLnBrk="0" hangingPunct="1">
        <a:spcBef>
          <a:spcPts val="0"/>
        </a:spcBef>
        <a:spcAft>
          <a:spcPts val="1159"/>
        </a:spcAft>
        <a:buFont typeface="Verdana" panose="020B0604030504040204" pitchFamily="34" charset="0"/>
        <a:buChar char="−"/>
        <a:defRPr sz="1391" kern="1200" baseline="0">
          <a:solidFill>
            <a:schemeClr val="tx1"/>
          </a:solidFill>
          <a:latin typeface="+mn-lt"/>
          <a:ea typeface="+mn-ea"/>
          <a:cs typeface="+mn-cs"/>
        </a:defRPr>
      </a:lvl6pPr>
      <a:lvl7pPr marL="617553" indent="-204460" algn="l" defTabSz="1059853" rtl="0" eaLnBrk="1" latinLnBrk="0" hangingPunct="1">
        <a:spcBef>
          <a:spcPts val="0"/>
        </a:spcBef>
        <a:spcAft>
          <a:spcPts val="1159"/>
        </a:spcAft>
        <a:buFont typeface="Verdana" panose="020B0604030504040204" pitchFamily="34" charset="0"/>
        <a:buChar char="−"/>
        <a:defRPr sz="1391" kern="1200">
          <a:solidFill>
            <a:schemeClr val="tx1"/>
          </a:solidFill>
          <a:latin typeface="+mn-lt"/>
          <a:ea typeface="+mn-ea"/>
          <a:cs typeface="+mn-cs"/>
        </a:defRPr>
      </a:lvl7pPr>
      <a:lvl8pPr marL="617553" indent="-204460" algn="l" defTabSz="1059853" rtl="0" eaLnBrk="1" latinLnBrk="0" hangingPunct="1">
        <a:spcBef>
          <a:spcPts val="0"/>
        </a:spcBef>
        <a:spcAft>
          <a:spcPts val="1159"/>
        </a:spcAft>
        <a:buFont typeface="Verdana" panose="020B0604030504040204" pitchFamily="34" charset="0"/>
        <a:buChar char="−"/>
        <a:defRPr sz="1391" kern="1200" baseline="0">
          <a:solidFill>
            <a:schemeClr val="tx1"/>
          </a:solidFill>
          <a:latin typeface="+mn-lt"/>
          <a:ea typeface="+mn-ea"/>
          <a:cs typeface="+mn-cs"/>
        </a:defRPr>
      </a:lvl8pPr>
      <a:lvl9pPr marL="617553" indent="-204460" algn="l" defTabSz="1059853" rtl="0" eaLnBrk="1" latinLnBrk="0" hangingPunct="1">
        <a:spcBef>
          <a:spcPts val="0"/>
        </a:spcBef>
        <a:spcAft>
          <a:spcPts val="1159"/>
        </a:spcAft>
        <a:buFont typeface="Verdana" panose="020B0604030504040204" pitchFamily="34" charset="0"/>
        <a:buChar char="−"/>
        <a:defRPr sz="1391" kern="1200" baseline="0">
          <a:solidFill>
            <a:schemeClr val="tx1"/>
          </a:solidFill>
          <a:latin typeface="+mn-lt"/>
          <a:ea typeface="+mn-ea"/>
          <a:cs typeface="+mn-cs"/>
        </a:defRPr>
      </a:lvl9pPr>
    </p:bodyStyle>
    <p:otherStyle>
      <a:defPPr>
        <a:defRPr lang="en-US"/>
      </a:defPPr>
      <a:lvl1pPr marL="0" algn="l" defTabSz="1059853" rtl="0" eaLnBrk="1" latinLnBrk="0" hangingPunct="1">
        <a:defRPr sz="2086" kern="1200">
          <a:solidFill>
            <a:schemeClr val="tx1"/>
          </a:solidFill>
          <a:latin typeface="+mn-lt"/>
          <a:ea typeface="+mn-ea"/>
          <a:cs typeface="+mn-cs"/>
        </a:defRPr>
      </a:lvl1pPr>
      <a:lvl2pPr marL="529926" algn="l" defTabSz="1059853" rtl="0" eaLnBrk="1" latinLnBrk="0" hangingPunct="1">
        <a:defRPr sz="2086" kern="1200">
          <a:solidFill>
            <a:schemeClr val="tx1"/>
          </a:solidFill>
          <a:latin typeface="+mn-lt"/>
          <a:ea typeface="+mn-ea"/>
          <a:cs typeface="+mn-cs"/>
        </a:defRPr>
      </a:lvl2pPr>
      <a:lvl3pPr marL="1059853" algn="l" defTabSz="1059853" rtl="0" eaLnBrk="1" latinLnBrk="0" hangingPunct="1">
        <a:defRPr sz="2086" kern="1200">
          <a:solidFill>
            <a:schemeClr val="tx1"/>
          </a:solidFill>
          <a:latin typeface="+mn-lt"/>
          <a:ea typeface="+mn-ea"/>
          <a:cs typeface="+mn-cs"/>
        </a:defRPr>
      </a:lvl3pPr>
      <a:lvl4pPr marL="1589780" algn="l" defTabSz="1059853" rtl="0" eaLnBrk="1" latinLnBrk="0" hangingPunct="1">
        <a:defRPr sz="2086" kern="1200">
          <a:solidFill>
            <a:schemeClr val="tx1"/>
          </a:solidFill>
          <a:latin typeface="+mn-lt"/>
          <a:ea typeface="+mn-ea"/>
          <a:cs typeface="+mn-cs"/>
        </a:defRPr>
      </a:lvl4pPr>
      <a:lvl5pPr marL="2119708" algn="l" defTabSz="1059853" rtl="0" eaLnBrk="1" latinLnBrk="0" hangingPunct="1">
        <a:defRPr sz="2086" kern="1200">
          <a:solidFill>
            <a:schemeClr val="tx1"/>
          </a:solidFill>
          <a:latin typeface="+mn-lt"/>
          <a:ea typeface="+mn-ea"/>
          <a:cs typeface="+mn-cs"/>
        </a:defRPr>
      </a:lvl5pPr>
      <a:lvl6pPr marL="2649634" algn="l" defTabSz="1059853" rtl="0" eaLnBrk="1" latinLnBrk="0" hangingPunct="1">
        <a:defRPr sz="2086" kern="1200">
          <a:solidFill>
            <a:schemeClr val="tx1"/>
          </a:solidFill>
          <a:latin typeface="+mn-lt"/>
          <a:ea typeface="+mn-ea"/>
          <a:cs typeface="+mn-cs"/>
        </a:defRPr>
      </a:lvl6pPr>
      <a:lvl7pPr marL="3179561" algn="l" defTabSz="1059853" rtl="0" eaLnBrk="1" latinLnBrk="0" hangingPunct="1">
        <a:defRPr sz="2086" kern="1200">
          <a:solidFill>
            <a:schemeClr val="tx1"/>
          </a:solidFill>
          <a:latin typeface="+mn-lt"/>
          <a:ea typeface="+mn-ea"/>
          <a:cs typeface="+mn-cs"/>
        </a:defRPr>
      </a:lvl7pPr>
      <a:lvl8pPr marL="3709488" algn="l" defTabSz="1059853" rtl="0" eaLnBrk="1" latinLnBrk="0" hangingPunct="1">
        <a:defRPr sz="2086" kern="1200">
          <a:solidFill>
            <a:schemeClr val="tx1"/>
          </a:solidFill>
          <a:latin typeface="+mn-lt"/>
          <a:ea typeface="+mn-ea"/>
          <a:cs typeface="+mn-cs"/>
        </a:defRPr>
      </a:lvl8pPr>
      <a:lvl9pPr marL="4239415" algn="l" defTabSz="1059853" rtl="0" eaLnBrk="1" latinLnBrk="0" hangingPunct="1">
        <a:defRPr sz="208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682" userDrawn="1">
          <p15:clr>
            <a:srgbClr val="F26B43"/>
          </p15:clr>
        </p15:guide>
        <p15:guide id="2" pos="458" userDrawn="1">
          <p15:clr>
            <a:srgbClr val="F26B43"/>
          </p15:clr>
        </p15:guide>
        <p15:guide id="3" pos="10640" userDrawn="1">
          <p15:clr>
            <a:srgbClr val="F26B43"/>
          </p15:clr>
        </p15:guide>
        <p15:guide id="4" orient="horz" pos="333" userDrawn="1">
          <p15:clr>
            <a:srgbClr val="F26B43"/>
          </p15:clr>
        </p15:guide>
        <p15:guide id="5" orient="horz" pos="1744" userDrawn="1">
          <p15:clr>
            <a:srgbClr val="F26B43"/>
          </p15:clr>
        </p15:guide>
        <p15:guide id="6" orient="horz" pos="106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2.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8.emf"/><Relationship Id="rId5" Type="http://schemas.openxmlformats.org/officeDocument/2006/relationships/oleObject" Target="../embeddings/oleObject12.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3" Type="http://schemas.openxmlformats.org/officeDocument/2006/relationships/tags" Target="../tags/tag35.xml"/><Relationship Id="rId18" Type="http://schemas.openxmlformats.org/officeDocument/2006/relationships/tags" Target="../tags/tag40.xml"/><Relationship Id="rId26" Type="http://schemas.openxmlformats.org/officeDocument/2006/relationships/tags" Target="../tags/tag48.xml"/><Relationship Id="rId39" Type="http://schemas.openxmlformats.org/officeDocument/2006/relationships/oleObject" Target="../embeddings/oleObject13.bin"/><Relationship Id="rId21" Type="http://schemas.openxmlformats.org/officeDocument/2006/relationships/tags" Target="../tags/tag43.xml"/><Relationship Id="rId34" Type="http://schemas.openxmlformats.org/officeDocument/2006/relationships/tags" Target="../tags/tag56.xml"/><Relationship Id="rId42" Type="http://schemas.openxmlformats.org/officeDocument/2006/relationships/chart" Target="../charts/chart2.xml"/><Relationship Id="rId7" Type="http://schemas.openxmlformats.org/officeDocument/2006/relationships/tags" Target="../tags/tag29.xml"/><Relationship Id="rId2" Type="http://schemas.openxmlformats.org/officeDocument/2006/relationships/tags" Target="../tags/tag24.xml"/><Relationship Id="rId16" Type="http://schemas.openxmlformats.org/officeDocument/2006/relationships/tags" Target="../tags/tag38.xml"/><Relationship Id="rId20" Type="http://schemas.openxmlformats.org/officeDocument/2006/relationships/tags" Target="../tags/tag42.xml"/><Relationship Id="rId29" Type="http://schemas.openxmlformats.org/officeDocument/2006/relationships/tags" Target="../tags/tag51.xml"/><Relationship Id="rId41" Type="http://schemas.openxmlformats.org/officeDocument/2006/relationships/chart" Target="../charts/chart1.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tags" Target="../tags/tag33.xml"/><Relationship Id="rId24" Type="http://schemas.openxmlformats.org/officeDocument/2006/relationships/tags" Target="../tags/tag46.xml"/><Relationship Id="rId32" Type="http://schemas.openxmlformats.org/officeDocument/2006/relationships/tags" Target="../tags/tag54.xml"/><Relationship Id="rId37" Type="http://schemas.openxmlformats.org/officeDocument/2006/relationships/tags" Target="../tags/tag59.xml"/><Relationship Id="rId40" Type="http://schemas.openxmlformats.org/officeDocument/2006/relationships/image" Target="../media/image6.emf"/><Relationship Id="rId5" Type="http://schemas.openxmlformats.org/officeDocument/2006/relationships/tags" Target="../tags/tag27.xml"/><Relationship Id="rId15" Type="http://schemas.openxmlformats.org/officeDocument/2006/relationships/tags" Target="../tags/tag37.xml"/><Relationship Id="rId23" Type="http://schemas.openxmlformats.org/officeDocument/2006/relationships/tags" Target="../tags/tag45.xml"/><Relationship Id="rId28" Type="http://schemas.openxmlformats.org/officeDocument/2006/relationships/tags" Target="../tags/tag50.xml"/><Relationship Id="rId36" Type="http://schemas.openxmlformats.org/officeDocument/2006/relationships/tags" Target="../tags/tag58.xml"/><Relationship Id="rId10" Type="http://schemas.openxmlformats.org/officeDocument/2006/relationships/tags" Target="../tags/tag32.xml"/><Relationship Id="rId19" Type="http://schemas.openxmlformats.org/officeDocument/2006/relationships/tags" Target="../tags/tag41.xml"/><Relationship Id="rId31" Type="http://schemas.openxmlformats.org/officeDocument/2006/relationships/tags" Target="../tags/tag53.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tags" Target="../tags/tag36.xml"/><Relationship Id="rId22" Type="http://schemas.openxmlformats.org/officeDocument/2006/relationships/tags" Target="../tags/tag44.xml"/><Relationship Id="rId27" Type="http://schemas.openxmlformats.org/officeDocument/2006/relationships/tags" Target="../tags/tag49.xml"/><Relationship Id="rId30" Type="http://schemas.openxmlformats.org/officeDocument/2006/relationships/tags" Target="../tags/tag52.xml"/><Relationship Id="rId35" Type="http://schemas.openxmlformats.org/officeDocument/2006/relationships/tags" Target="../tags/tag57.xml"/><Relationship Id="rId43" Type="http://schemas.openxmlformats.org/officeDocument/2006/relationships/chart" Target="../charts/chart3.xml"/><Relationship Id="rId8" Type="http://schemas.openxmlformats.org/officeDocument/2006/relationships/tags" Target="../tags/tag30.xml"/><Relationship Id="rId3" Type="http://schemas.openxmlformats.org/officeDocument/2006/relationships/tags" Target="../tags/tag25.xml"/><Relationship Id="rId12" Type="http://schemas.openxmlformats.org/officeDocument/2006/relationships/tags" Target="../tags/tag34.xml"/><Relationship Id="rId17" Type="http://schemas.openxmlformats.org/officeDocument/2006/relationships/tags" Target="../tags/tag39.xml"/><Relationship Id="rId25" Type="http://schemas.openxmlformats.org/officeDocument/2006/relationships/tags" Target="../tags/tag47.xml"/><Relationship Id="rId33" Type="http://schemas.openxmlformats.org/officeDocument/2006/relationships/tags" Target="../tags/tag55.xml"/><Relationship Id="rId38"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8" Type="http://schemas.openxmlformats.org/officeDocument/2006/relationships/tags" Target="../tags/tag67.xml"/><Relationship Id="rId13" Type="http://schemas.openxmlformats.org/officeDocument/2006/relationships/tags" Target="../tags/tag72.xml"/><Relationship Id="rId18" Type="http://schemas.openxmlformats.org/officeDocument/2006/relationships/tags" Target="../tags/tag77.xml"/><Relationship Id="rId26" Type="http://schemas.openxmlformats.org/officeDocument/2006/relationships/image" Target="../media/image6.emf"/><Relationship Id="rId3" Type="http://schemas.openxmlformats.org/officeDocument/2006/relationships/tags" Target="../tags/tag62.xml"/><Relationship Id="rId21" Type="http://schemas.openxmlformats.org/officeDocument/2006/relationships/tags" Target="../tags/tag80.xml"/><Relationship Id="rId7" Type="http://schemas.openxmlformats.org/officeDocument/2006/relationships/tags" Target="../tags/tag66.xml"/><Relationship Id="rId12" Type="http://schemas.openxmlformats.org/officeDocument/2006/relationships/tags" Target="../tags/tag71.xml"/><Relationship Id="rId17" Type="http://schemas.openxmlformats.org/officeDocument/2006/relationships/tags" Target="../tags/tag76.xml"/><Relationship Id="rId25" Type="http://schemas.openxmlformats.org/officeDocument/2006/relationships/oleObject" Target="../embeddings/oleObject14.bin"/><Relationship Id="rId2" Type="http://schemas.openxmlformats.org/officeDocument/2006/relationships/tags" Target="../tags/tag61.xml"/><Relationship Id="rId16" Type="http://schemas.openxmlformats.org/officeDocument/2006/relationships/tags" Target="../tags/tag75.xml"/><Relationship Id="rId20" Type="http://schemas.openxmlformats.org/officeDocument/2006/relationships/tags" Target="../tags/tag79.xml"/><Relationship Id="rId29" Type="http://schemas.openxmlformats.org/officeDocument/2006/relationships/chart" Target="../charts/chart6.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tags" Target="../tags/tag70.xml"/><Relationship Id="rId24" Type="http://schemas.openxmlformats.org/officeDocument/2006/relationships/slideLayout" Target="../slideLayouts/slideLayout43.xml"/><Relationship Id="rId5" Type="http://schemas.openxmlformats.org/officeDocument/2006/relationships/tags" Target="../tags/tag64.xml"/><Relationship Id="rId15" Type="http://schemas.openxmlformats.org/officeDocument/2006/relationships/tags" Target="../tags/tag74.xml"/><Relationship Id="rId23" Type="http://schemas.openxmlformats.org/officeDocument/2006/relationships/tags" Target="../tags/tag82.xml"/><Relationship Id="rId28" Type="http://schemas.openxmlformats.org/officeDocument/2006/relationships/chart" Target="../charts/chart5.xml"/><Relationship Id="rId10" Type="http://schemas.openxmlformats.org/officeDocument/2006/relationships/tags" Target="../tags/tag69.xml"/><Relationship Id="rId19" Type="http://schemas.openxmlformats.org/officeDocument/2006/relationships/tags" Target="../tags/tag78.xml"/><Relationship Id="rId4" Type="http://schemas.openxmlformats.org/officeDocument/2006/relationships/tags" Target="../tags/tag63.xml"/><Relationship Id="rId9" Type="http://schemas.openxmlformats.org/officeDocument/2006/relationships/tags" Target="../tags/tag68.xml"/><Relationship Id="rId14" Type="http://schemas.openxmlformats.org/officeDocument/2006/relationships/tags" Target="../tags/tag73.xml"/><Relationship Id="rId22" Type="http://schemas.openxmlformats.org/officeDocument/2006/relationships/tags" Target="../tags/tag81.xml"/><Relationship Id="rId27" Type="http://schemas.openxmlformats.org/officeDocument/2006/relationships/chart" Target="../charts/chart4.xml"/></Relationships>
</file>

<file path=ppt/slides/_rels/slide5.xml.rels><?xml version="1.0" encoding="UTF-8" standalone="yes"?>
<Relationships xmlns="http://schemas.openxmlformats.org/package/2006/relationships"><Relationship Id="rId13" Type="http://schemas.openxmlformats.org/officeDocument/2006/relationships/tags" Target="../tags/tag95.xml"/><Relationship Id="rId18" Type="http://schemas.openxmlformats.org/officeDocument/2006/relationships/tags" Target="../tags/tag100.xml"/><Relationship Id="rId26" Type="http://schemas.openxmlformats.org/officeDocument/2006/relationships/tags" Target="../tags/tag108.xml"/><Relationship Id="rId39" Type="http://schemas.openxmlformats.org/officeDocument/2006/relationships/tags" Target="../tags/tag121.xml"/><Relationship Id="rId21" Type="http://schemas.openxmlformats.org/officeDocument/2006/relationships/tags" Target="../tags/tag103.xml"/><Relationship Id="rId34" Type="http://schemas.openxmlformats.org/officeDocument/2006/relationships/tags" Target="../tags/tag116.xml"/><Relationship Id="rId42" Type="http://schemas.openxmlformats.org/officeDocument/2006/relationships/tags" Target="../tags/tag124.xml"/><Relationship Id="rId47" Type="http://schemas.openxmlformats.org/officeDocument/2006/relationships/tags" Target="../tags/tag129.xml"/><Relationship Id="rId50" Type="http://schemas.openxmlformats.org/officeDocument/2006/relationships/tags" Target="../tags/tag132.xml"/><Relationship Id="rId55" Type="http://schemas.openxmlformats.org/officeDocument/2006/relationships/image" Target="../media/image6.emf"/><Relationship Id="rId7" Type="http://schemas.openxmlformats.org/officeDocument/2006/relationships/tags" Target="../tags/tag89.xml"/><Relationship Id="rId2" Type="http://schemas.openxmlformats.org/officeDocument/2006/relationships/tags" Target="../tags/tag84.xml"/><Relationship Id="rId16" Type="http://schemas.openxmlformats.org/officeDocument/2006/relationships/tags" Target="../tags/tag98.xml"/><Relationship Id="rId29" Type="http://schemas.openxmlformats.org/officeDocument/2006/relationships/tags" Target="../tags/tag111.xml"/><Relationship Id="rId11" Type="http://schemas.openxmlformats.org/officeDocument/2006/relationships/tags" Target="../tags/tag93.xml"/><Relationship Id="rId24" Type="http://schemas.openxmlformats.org/officeDocument/2006/relationships/tags" Target="../tags/tag106.xml"/><Relationship Id="rId32" Type="http://schemas.openxmlformats.org/officeDocument/2006/relationships/tags" Target="../tags/tag114.xml"/><Relationship Id="rId37" Type="http://schemas.openxmlformats.org/officeDocument/2006/relationships/tags" Target="../tags/tag119.xml"/><Relationship Id="rId40" Type="http://schemas.openxmlformats.org/officeDocument/2006/relationships/tags" Target="../tags/tag122.xml"/><Relationship Id="rId45" Type="http://schemas.openxmlformats.org/officeDocument/2006/relationships/tags" Target="../tags/tag127.xml"/><Relationship Id="rId53" Type="http://schemas.openxmlformats.org/officeDocument/2006/relationships/slideLayout" Target="../slideLayouts/slideLayout43.xml"/><Relationship Id="rId58" Type="http://schemas.openxmlformats.org/officeDocument/2006/relationships/chart" Target="../charts/chart9.xml"/><Relationship Id="rId5" Type="http://schemas.openxmlformats.org/officeDocument/2006/relationships/tags" Target="../tags/tag87.xml"/><Relationship Id="rId19" Type="http://schemas.openxmlformats.org/officeDocument/2006/relationships/tags" Target="../tags/tag101.xml"/><Relationship Id="rId4" Type="http://schemas.openxmlformats.org/officeDocument/2006/relationships/tags" Target="../tags/tag86.xml"/><Relationship Id="rId9" Type="http://schemas.openxmlformats.org/officeDocument/2006/relationships/tags" Target="../tags/tag91.xml"/><Relationship Id="rId14" Type="http://schemas.openxmlformats.org/officeDocument/2006/relationships/tags" Target="../tags/tag96.xml"/><Relationship Id="rId22" Type="http://schemas.openxmlformats.org/officeDocument/2006/relationships/tags" Target="../tags/tag104.xml"/><Relationship Id="rId27" Type="http://schemas.openxmlformats.org/officeDocument/2006/relationships/tags" Target="../tags/tag109.xml"/><Relationship Id="rId30" Type="http://schemas.openxmlformats.org/officeDocument/2006/relationships/tags" Target="../tags/tag112.xml"/><Relationship Id="rId35" Type="http://schemas.openxmlformats.org/officeDocument/2006/relationships/tags" Target="../tags/tag117.xml"/><Relationship Id="rId43" Type="http://schemas.openxmlformats.org/officeDocument/2006/relationships/tags" Target="../tags/tag125.xml"/><Relationship Id="rId48" Type="http://schemas.openxmlformats.org/officeDocument/2006/relationships/tags" Target="../tags/tag130.xml"/><Relationship Id="rId56" Type="http://schemas.openxmlformats.org/officeDocument/2006/relationships/chart" Target="../charts/chart7.xml"/><Relationship Id="rId8" Type="http://schemas.openxmlformats.org/officeDocument/2006/relationships/tags" Target="../tags/tag90.xml"/><Relationship Id="rId51" Type="http://schemas.openxmlformats.org/officeDocument/2006/relationships/tags" Target="../tags/tag133.xml"/><Relationship Id="rId3" Type="http://schemas.openxmlformats.org/officeDocument/2006/relationships/tags" Target="../tags/tag85.xml"/><Relationship Id="rId12" Type="http://schemas.openxmlformats.org/officeDocument/2006/relationships/tags" Target="../tags/tag94.xml"/><Relationship Id="rId17" Type="http://schemas.openxmlformats.org/officeDocument/2006/relationships/tags" Target="../tags/tag99.xml"/><Relationship Id="rId25" Type="http://schemas.openxmlformats.org/officeDocument/2006/relationships/tags" Target="../tags/tag107.xml"/><Relationship Id="rId33" Type="http://schemas.openxmlformats.org/officeDocument/2006/relationships/tags" Target="../tags/tag115.xml"/><Relationship Id="rId38" Type="http://schemas.openxmlformats.org/officeDocument/2006/relationships/tags" Target="../tags/tag120.xml"/><Relationship Id="rId46" Type="http://schemas.openxmlformats.org/officeDocument/2006/relationships/tags" Target="../tags/tag128.xml"/><Relationship Id="rId20" Type="http://schemas.openxmlformats.org/officeDocument/2006/relationships/tags" Target="../tags/tag102.xml"/><Relationship Id="rId41" Type="http://schemas.openxmlformats.org/officeDocument/2006/relationships/tags" Target="../tags/tag123.xml"/><Relationship Id="rId54" Type="http://schemas.openxmlformats.org/officeDocument/2006/relationships/oleObject" Target="../embeddings/oleObject15.bin"/><Relationship Id="rId1" Type="http://schemas.openxmlformats.org/officeDocument/2006/relationships/tags" Target="../tags/tag83.xml"/><Relationship Id="rId6" Type="http://schemas.openxmlformats.org/officeDocument/2006/relationships/tags" Target="../tags/tag88.xml"/><Relationship Id="rId15" Type="http://schemas.openxmlformats.org/officeDocument/2006/relationships/tags" Target="../tags/tag97.xml"/><Relationship Id="rId23" Type="http://schemas.openxmlformats.org/officeDocument/2006/relationships/tags" Target="../tags/tag105.xml"/><Relationship Id="rId28" Type="http://schemas.openxmlformats.org/officeDocument/2006/relationships/tags" Target="../tags/tag110.xml"/><Relationship Id="rId36" Type="http://schemas.openxmlformats.org/officeDocument/2006/relationships/tags" Target="../tags/tag118.xml"/><Relationship Id="rId49" Type="http://schemas.openxmlformats.org/officeDocument/2006/relationships/tags" Target="../tags/tag131.xml"/><Relationship Id="rId57" Type="http://schemas.openxmlformats.org/officeDocument/2006/relationships/chart" Target="../charts/chart8.xml"/><Relationship Id="rId10" Type="http://schemas.openxmlformats.org/officeDocument/2006/relationships/tags" Target="../tags/tag92.xml"/><Relationship Id="rId31" Type="http://schemas.openxmlformats.org/officeDocument/2006/relationships/tags" Target="../tags/tag113.xml"/><Relationship Id="rId44" Type="http://schemas.openxmlformats.org/officeDocument/2006/relationships/tags" Target="../tags/tag126.xml"/><Relationship Id="rId52" Type="http://schemas.openxmlformats.org/officeDocument/2006/relationships/tags" Target="../tags/tag134.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chart" Target="../charts/chart10.xml"/><Relationship Id="rId3" Type="http://schemas.openxmlformats.org/officeDocument/2006/relationships/slideLayout" Target="../slideLayouts/slideLayout43.xml"/><Relationship Id="rId7" Type="http://schemas.microsoft.com/office/2007/relationships/hdphoto" Target="../media/hdphoto1.wdp"/><Relationship Id="rId12" Type="http://schemas.openxmlformats.org/officeDocument/2006/relationships/image" Target="../media/image17.emf"/><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image" Target="../media/image14.png"/><Relationship Id="rId11" Type="http://schemas.microsoft.com/office/2007/relationships/hdphoto" Target="../media/hdphoto3.wdp"/><Relationship Id="rId5" Type="http://schemas.openxmlformats.org/officeDocument/2006/relationships/image" Target="../media/image6.emf"/><Relationship Id="rId10" Type="http://schemas.openxmlformats.org/officeDocument/2006/relationships/image" Target="../media/image16.png"/><Relationship Id="rId4" Type="http://schemas.openxmlformats.org/officeDocument/2006/relationships/oleObject" Target="../embeddings/oleObject16.bin"/><Relationship Id="rId9" Type="http://schemas.microsoft.com/office/2007/relationships/hdphoto" Target="../media/hdphoto2.wdp"/></Relationships>
</file>

<file path=ppt/slides/_rels/slide7.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slideLayout" Target="../slideLayouts/slideLayout43.xml"/><Relationship Id="rId7" Type="http://schemas.openxmlformats.org/officeDocument/2006/relationships/image" Target="../media/image19.emf"/><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image" Target="../media/image18.emf"/><Relationship Id="rId5" Type="http://schemas.openxmlformats.org/officeDocument/2006/relationships/image" Target="../media/image6.emf"/><Relationship Id="rId10" Type="http://schemas.openxmlformats.org/officeDocument/2006/relationships/image" Target="../media/image22.emf"/><Relationship Id="rId4" Type="http://schemas.openxmlformats.org/officeDocument/2006/relationships/oleObject" Target="../embeddings/oleObject17.bin"/><Relationship Id="rId9" Type="http://schemas.openxmlformats.org/officeDocument/2006/relationships/image" Target="../media/image21.emf"/></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2.xml"/><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image" Target="../media/image8.emf"/><Relationship Id="rId5" Type="http://schemas.openxmlformats.org/officeDocument/2006/relationships/oleObject" Target="../embeddings/oleObject18.bin"/><Relationship Id="rId4"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84.xml"/><Relationship Id="rId1" Type="http://schemas.openxmlformats.org/officeDocument/2006/relationships/tags" Target="../tags/tag141.xml"/><Relationship Id="rId4" Type="http://schemas.openxmlformats.org/officeDocument/2006/relationships/image" Target="../media/image23.emf"/></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oleObject" Target="../embeddings/oleObject20.bin"/><Relationship Id="rId7" Type="http://schemas.openxmlformats.org/officeDocument/2006/relationships/diagramQuickStyle" Target="../diagrams/quickStyle1.xml"/><Relationship Id="rId2" Type="http://schemas.openxmlformats.org/officeDocument/2006/relationships/slideLayout" Target="../slideLayouts/slideLayout84.xml"/><Relationship Id="rId1" Type="http://schemas.openxmlformats.org/officeDocument/2006/relationships/tags" Target="../tags/tag14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3.emf"/><Relationship Id="rId9" Type="http://schemas.microsoft.com/office/2007/relationships/diagramDrawing" Target="../diagrams/drawing1.xml"/></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oleObject" Target="../embeddings/oleObject21.bin"/><Relationship Id="rId7" Type="http://schemas.openxmlformats.org/officeDocument/2006/relationships/diagramQuickStyle" Target="../diagrams/quickStyle2.xml"/><Relationship Id="rId2" Type="http://schemas.openxmlformats.org/officeDocument/2006/relationships/slideLayout" Target="../slideLayouts/slideLayout84.xml"/><Relationship Id="rId1" Type="http://schemas.openxmlformats.org/officeDocument/2006/relationships/tags" Target="../tags/tag143.xml"/><Relationship Id="rId6" Type="http://schemas.openxmlformats.org/officeDocument/2006/relationships/diagramLayout" Target="../diagrams/layout2.xml"/><Relationship Id="rId11" Type="http://schemas.openxmlformats.org/officeDocument/2006/relationships/image" Target="../media/image25.png"/><Relationship Id="rId5" Type="http://schemas.openxmlformats.org/officeDocument/2006/relationships/diagramData" Target="../diagrams/data2.xml"/><Relationship Id="rId10" Type="http://schemas.openxmlformats.org/officeDocument/2006/relationships/image" Target="../media/image24.png"/><Relationship Id="rId4" Type="http://schemas.openxmlformats.org/officeDocument/2006/relationships/image" Target="../media/image23.emf"/><Relationship Id="rId9" Type="http://schemas.microsoft.com/office/2007/relationships/diagramDrawing" Target="../diagrams/drawing2.xml"/></Relationships>
</file>

<file path=ppt/slides/_rels/slide13.xml.rels><?xml version="1.0" encoding="UTF-8" standalone="yes"?>
<Relationships xmlns="http://schemas.openxmlformats.org/package/2006/relationships"><Relationship Id="rId8" Type="http://schemas.openxmlformats.org/officeDocument/2006/relationships/tags" Target="../tags/tag151.xml"/><Relationship Id="rId13" Type="http://schemas.openxmlformats.org/officeDocument/2006/relationships/slideLayout" Target="../slideLayouts/slideLayout84.xml"/><Relationship Id="rId18" Type="http://schemas.openxmlformats.org/officeDocument/2006/relationships/image" Target="../media/image28.png"/><Relationship Id="rId26" Type="http://schemas.openxmlformats.org/officeDocument/2006/relationships/image" Target="../media/image36.png"/><Relationship Id="rId3" Type="http://schemas.openxmlformats.org/officeDocument/2006/relationships/tags" Target="../tags/tag146.xml"/><Relationship Id="rId21" Type="http://schemas.openxmlformats.org/officeDocument/2006/relationships/image" Target="../media/image31.png"/><Relationship Id="rId7" Type="http://schemas.openxmlformats.org/officeDocument/2006/relationships/tags" Target="../tags/tag150.xml"/><Relationship Id="rId12" Type="http://schemas.openxmlformats.org/officeDocument/2006/relationships/tags" Target="../tags/tag155.xml"/><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tags" Target="../tags/tag145.xml"/><Relationship Id="rId16" Type="http://schemas.openxmlformats.org/officeDocument/2006/relationships/image" Target="../media/image26.png"/><Relationship Id="rId20" Type="http://schemas.openxmlformats.org/officeDocument/2006/relationships/image" Target="../media/image30.png"/><Relationship Id="rId29" Type="http://schemas.openxmlformats.org/officeDocument/2006/relationships/image" Target="../media/image39.emf"/><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tags" Target="../tags/tag154.xml"/><Relationship Id="rId24" Type="http://schemas.openxmlformats.org/officeDocument/2006/relationships/image" Target="../media/image34.png"/><Relationship Id="rId5" Type="http://schemas.openxmlformats.org/officeDocument/2006/relationships/tags" Target="../tags/tag148.xml"/><Relationship Id="rId15" Type="http://schemas.openxmlformats.org/officeDocument/2006/relationships/image" Target="../media/image23.emf"/><Relationship Id="rId23" Type="http://schemas.openxmlformats.org/officeDocument/2006/relationships/image" Target="../media/image33.png"/><Relationship Id="rId28" Type="http://schemas.openxmlformats.org/officeDocument/2006/relationships/image" Target="../media/image38.jpeg"/><Relationship Id="rId10" Type="http://schemas.openxmlformats.org/officeDocument/2006/relationships/tags" Target="../tags/tag153.xml"/><Relationship Id="rId19" Type="http://schemas.openxmlformats.org/officeDocument/2006/relationships/image" Target="../media/image29.png"/><Relationship Id="rId4" Type="http://schemas.openxmlformats.org/officeDocument/2006/relationships/tags" Target="../tags/tag147.xml"/><Relationship Id="rId9" Type="http://schemas.openxmlformats.org/officeDocument/2006/relationships/tags" Target="../tags/tag152.xml"/><Relationship Id="rId14" Type="http://schemas.openxmlformats.org/officeDocument/2006/relationships/oleObject" Target="../embeddings/oleObject22.bin"/><Relationship Id="rId22" Type="http://schemas.openxmlformats.org/officeDocument/2006/relationships/image" Target="../media/image32.jpeg"/><Relationship Id="rId27" Type="http://schemas.openxmlformats.org/officeDocument/2006/relationships/image" Target="../media/image37.png"/><Relationship Id="rId30" Type="http://schemas.openxmlformats.org/officeDocument/2006/relationships/image" Target="../media/image40.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84.xml"/><Relationship Id="rId1" Type="http://schemas.openxmlformats.org/officeDocument/2006/relationships/tags" Target="../tags/tag156.xml"/><Relationship Id="rId4" Type="http://schemas.openxmlformats.org/officeDocument/2006/relationships/image" Target="../media/image23.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4.bin"/><Relationship Id="rId7" Type="http://schemas.openxmlformats.org/officeDocument/2006/relationships/image" Target="../media/image42.png"/><Relationship Id="rId2" Type="http://schemas.openxmlformats.org/officeDocument/2006/relationships/slideLayout" Target="../slideLayouts/slideLayout84.xml"/><Relationship Id="rId1" Type="http://schemas.openxmlformats.org/officeDocument/2006/relationships/tags" Target="../tags/tag157.xml"/><Relationship Id="rId6" Type="http://schemas.openxmlformats.org/officeDocument/2006/relationships/image" Target="../media/image41.png"/><Relationship Id="rId5" Type="http://schemas.openxmlformats.org/officeDocument/2006/relationships/slide" Target="slide35.xml"/><Relationship Id="rId4" Type="http://schemas.openxmlformats.org/officeDocument/2006/relationships/image" Target="../media/image23.emf"/></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slideLayout" Target="../slideLayouts/slideLayout140.xml"/><Relationship Id="rId7" Type="http://schemas.openxmlformats.org/officeDocument/2006/relationships/image" Target="../media/image43.png"/><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chart" Target="../charts/chart11.xml"/><Relationship Id="rId11" Type="http://schemas.openxmlformats.org/officeDocument/2006/relationships/chart" Target="../charts/chart12.xml"/><Relationship Id="rId5" Type="http://schemas.openxmlformats.org/officeDocument/2006/relationships/image" Target="../media/image8.emf"/><Relationship Id="rId10" Type="http://schemas.openxmlformats.org/officeDocument/2006/relationships/image" Target="../media/image46.jpeg"/><Relationship Id="rId4" Type="http://schemas.openxmlformats.org/officeDocument/2006/relationships/oleObject" Target="../embeddings/oleObject25.bin"/><Relationship Id="rId9" Type="http://schemas.openxmlformats.org/officeDocument/2006/relationships/image" Target="../media/image45.jpeg"/></Relationships>
</file>

<file path=ppt/slides/_rels/slide18.xml.rels><?xml version="1.0" encoding="UTF-8" standalone="yes"?>
<Relationships xmlns="http://schemas.openxmlformats.org/package/2006/relationships"><Relationship Id="rId8" Type="http://schemas.openxmlformats.org/officeDocument/2006/relationships/image" Target="../media/image49.jpeg"/><Relationship Id="rId3" Type="http://schemas.openxmlformats.org/officeDocument/2006/relationships/slideLayout" Target="../slideLayouts/slideLayout140.xml"/><Relationship Id="rId7" Type="http://schemas.openxmlformats.org/officeDocument/2006/relationships/image" Target="../media/image48.jpeg"/><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image" Target="../media/image47.jpeg"/><Relationship Id="rId11" Type="http://schemas.openxmlformats.org/officeDocument/2006/relationships/chart" Target="../charts/chart15.xml"/><Relationship Id="rId5" Type="http://schemas.openxmlformats.org/officeDocument/2006/relationships/image" Target="../media/image8.emf"/><Relationship Id="rId10" Type="http://schemas.openxmlformats.org/officeDocument/2006/relationships/chart" Target="../charts/chart14.xml"/><Relationship Id="rId4" Type="http://schemas.openxmlformats.org/officeDocument/2006/relationships/oleObject" Target="../embeddings/oleObject26.bin"/><Relationship Id="rId9" Type="http://schemas.openxmlformats.org/officeDocument/2006/relationships/chart" Target="../charts/chart13.xml"/></Relationships>
</file>

<file path=ppt/slides/_rels/slide19.xml.rels><?xml version="1.0" encoding="UTF-8" standalone="yes"?>
<Relationships xmlns="http://schemas.openxmlformats.org/package/2006/relationships"><Relationship Id="rId8" Type="http://schemas.openxmlformats.org/officeDocument/2006/relationships/image" Target="../media/image51.jpeg"/><Relationship Id="rId13" Type="http://schemas.openxmlformats.org/officeDocument/2006/relationships/image" Target="../media/image55.jpeg"/><Relationship Id="rId3" Type="http://schemas.openxmlformats.org/officeDocument/2006/relationships/slideLayout" Target="../slideLayouts/slideLayout85.xml"/><Relationship Id="rId7" Type="http://schemas.openxmlformats.org/officeDocument/2006/relationships/image" Target="../media/image50.jpeg"/><Relationship Id="rId12" Type="http://schemas.openxmlformats.org/officeDocument/2006/relationships/image" Target="../media/image54.jpeg"/><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image" Target="../media/image8.emf"/><Relationship Id="rId11" Type="http://schemas.openxmlformats.org/officeDocument/2006/relationships/image" Target="../media/image53.jpeg"/><Relationship Id="rId5" Type="http://schemas.openxmlformats.org/officeDocument/2006/relationships/oleObject" Target="../embeddings/oleObject27.bin"/><Relationship Id="rId10" Type="http://schemas.openxmlformats.org/officeDocument/2006/relationships/image" Target="../media/image52.jpeg"/><Relationship Id="rId4" Type="http://schemas.openxmlformats.org/officeDocument/2006/relationships/notesSlide" Target="../notesSlides/notesSlide6.xml"/><Relationship Id="rId9" Type="http://schemas.openxmlformats.org/officeDocument/2006/relationships/image" Target="cid:9c1ab789-98db-4e49-be9b-5d2dc57ce557@APCP150.PROD.OUTLOOK.CO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jpeg"/><Relationship Id="rId1" Type="http://schemas.openxmlformats.org/officeDocument/2006/relationships/slideLayout" Target="../slideLayouts/slideLayout82.xml"/><Relationship Id="rId4" Type="http://schemas.openxmlformats.org/officeDocument/2006/relationships/image" Target="../media/image58.png"/></Relationships>
</file>

<file path=ppt/slides/_rels/slide22.xml.rels><?xml version="1.0" encoding="UTF-8" standalone="yes"?>
<Relationships xmlns="http://schemas.openxmlformats.org/package/2006/relationships"><Relationship Id="rId8" Type="http://schemas.openxmlformats.org/officeDocument/2006/relationships/image" Target="../media/image65.jpe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82.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s>
</file>

<file path=ppt/slides/_rels/slide2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82.xml"/><Relationship Id="rId5" Type="http://schemas.openxmlformats.org/officeDocument/2006/relationships/image" Target="../media/image72.png"/><Relationship Id="rId4" Type="http://schemas.openxmlformats.org/officeDocument/2006/relationships/image" Target="../media/image71.png"/></Relationships>
</file>

<file path=ppt/slides/_rels/slide24.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3.png"/><Relationship Id="rId2" Type="http://schemas.openxmlformats.org/officeDocument/2006/relationships/image" Target="../media/image73.jpeg"/><Relationship Id="rId1" Type="http://schemas.openxmlformats.org/officeDocument/2006/relationships/slideLayout" Target="../slideLayouts/slideLayout82.xml"/><Relationship Id="rId6" Type="http://schemas.openxmlformats.org/officeDocument/2006/relationships/image" Target="../media/image77.png"/><Relationship Id="rId11" Type="http://schemas.openxmlformats.org/officeDocument/2006/relationships/image" Target="../media/image82.jpeg"/><Relationship Id="rId5" Type="http://schemas.openxmlformats.org/officeDocument/2006/relationships/image" Target="../media/image76.png"/><Relationship Id="rId10" Type="http://schemas.openxmlformats.org/officeDocument/2006/relationships/image" Target="../media/image81.jpeg"/><Relationship Id="rId4" Type="http://schemas.openxmlformats.org/officeDocument/2006/relationships/image" Target="../media/image75.png"/><Relationship Id="rId9" Type="http://schemas.openxmlformats.org/officeDocument/2006/relationships/image" Target="../media/image8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7.xml"/><Relationship Id="rId1" Type="http://schemas.openxmlformats.org/officeDocument/2006/relationships/tags" Target="../tags/tag164.xml"/><Relationship Id="rId4" Type="http://schemas.openxmlformats.org/officeDocument/2006/relationships/image" Target="../media/image84.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7.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82.xml"/></Relationships>
</file>

<file path=ppt/slides/_rels/slide28.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chart" Target="../charts/chart18.xml"/><Relationship Id="rId1" Type="http://schemas.openxmlformats.org/officeDocument/2006/relationships/slideLayout" Target="../slideLayouts/slideLayout82.xml"/><Relationship Id="rId4" Type="http://schemas.openxmlformats.org/officeDocument/2006/relationships/chart" Target="../charts/chart20.xml"/></Relationships>
</file>

<file path=ppt/slides/_rels/slide29.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8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6.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90.jpeg"/><Relationship Id="rId2" Type="http://schemas.openxmlformats.org/officeDocument/2006/relationships/image" Target="../media/image85.png"/><Relationship Id="rId1" Type="http://schemas.openxmlformats.org/officeDocument/2006/relationships/slideLayout" Target="../slideLayouts/slideLayout84.xml"/><Relationship Id="rId6" Type="http://schemas.openxmlformats.org/officeDocument/2006/relationships/image" Target="../media/image89.png"/><Relationship Id="rId5" Type="http://schemas.openxmlformats.org/officeDocument/2006/relationships/image" Target="../media/image88.png"/><Relationship Id="rId10" Type="http://schemas.openxmlformats.org/officeDocument/2006/relationships/image" Target="../media/image93.png"/><Relationship Id="rId4" Type="http://schemas.openxmlformats.org/officeDocument/2006/relationships/image" Target="../media/image87.png"/><Relationship Id="rId9" Type="http://schemas.openxmlformats.org/officeDocument/2006/relationships/image" Target="../media/image92.jpe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84.xml"/><Relationship Id="rId7" Type="http://schemas.openxmlformats.org/officeDocument/2006/relationships/chart" Target="../charts/chart23.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chart" Target="../charts/chart22.xml"/><Relationship Id="rId5" Type="http://schemas.openxmlformats.org/officeDocument/2006/relationships/image" Target="../media/image8.emf"/><Relationship Id="rId4" Type="http://schemas.openxmlformats.org/officeDocument/2006/relationships/oleObject" Target="../embeddings/oleObject28.bin"/></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84.xml"/><Relationship Id="rId2" Type="http://schemas.openxmlformats.org/officeDocument/2006/relationships/tags" Target="../tags/tag168.xml"/><Relationship Id="rId1" Type="http://schemas.openxmlformats.org/officeDocument/2006/relationships/tags" Target="../tags/tag167.xml"/><Relationship Id="rId5" Type="http://schemas.openxmlformats.org/officeDocument/2006/relationships/image" Target="../media/image8.emf"/><Relationship Id="rId4" Type="http://schemas.openxmlformats.org/officeDocument/2006/relationships/oleObject" Target="../embeddings/oleObject29.bin"/></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84.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chart" Target="../charts/chart24.xml"/><Relationship Id="rId5" Type="http://schemas.openxmlformats.org/officeDocument/2006/relationships/image" Target="../media/image8.emf"/><Relationship Id="rId4" Type="http://schemas.openxmlformats.org/officeDocument/2006/relationships/oleObject" Target="../embeddings/oleObject30.bin"/></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84.xml"/><Relationship Id="rId7" Type="http://schemas.openxmlformats.org/officeDocument/2006/relationships/chart" Target="../charts/chart26.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chart" Target="../charts/chart25.xml"/><Relationship Id="rId5" Type="http://schemas.openxmlformats.org/officeDocument/2006/relationships/image" Target="../media/image8.emf"/><Relationship Id="rId4" Type="http://schemas.openxmlformats.org/officeDocument/2006/relationships/oleObject" Target="../embeddings/oleObject31.bin"/></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84.xml"/><Relationship Id="rId7" Type="http://schemas.openxmlformats.org/officeDocument/2006/relationships/chart" Target="../charts/chart28.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chart" Target="../charts/chart27.xml"/><Relationship Id="rId5" Type="http://schemas.openxmlformats.org/officeDocument/2006/relationships/image" Target="../media/image8.emf"/><Relationship Id="rId4" Type="http://schemas.openxmlformats.org/officeDocument/2006/relationships/oleObject" Target="../embeddings/oleObject32.bin"/></Relationships>
</file>

<file path=ppt/slides/_rels/slide42.xml.rels><?xml version="1.0" encoding="UTF-8" standalone="yes"?>
<Relationships xmlns="http://schemas.openxmlformats.org/package/2006/relationships"><Relationship Id="rId8" Type="http://schemas.openxmlformats.org/officeDocument/2006/relationships/chart" Target="../charts/chart31.xml"/><Relationship Id="rId3" Type="http://schemas.openxmlformats.org/officeDocument/2006/relationships/slideLayout" Target="../slideLayouts/slideLayout84.xml"/><Relationship Id="rId7" Type="http://schemas.openxmlformats.org/officeDocument/2006/relationships/chart" Target="../charts/chart30.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chart" Target="../charts/chart29.xml"/><Relationship Id="rId5" Type="http://schemas.openxmlformats.org/officeDocument/2006/relationships/image" Target="../media/image8.emf"/><Relationship Id="rId4" Type="http://schemas.openxmlformats.org/officeDocument/2006/relationships/oleObject" Target="../embeddings/oleObject3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1791764" y="-246912"/>
          <a:ext cx="1495" cy="1495"/>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8" name="Object 7" hidden="1"/>
                      <p:cNvPicPr/>
                      <p:nvPr/>
                    </p:nvPicPr>
                    <p:blipFill>
                      <a:blip r:embed="rId6"/>
                      <a:stretch>
                        <a:fillRect/>
                      </a:stretch>
                    </p:blipFill>
                    <p:spPr>
                      <a:xfrm>
                        <a:off x="1791764" y="-246912"/>
                        <a:ext cx="1495" cy="1495"/>
                      </a:xfrm>
                      <a:prstGeom prst="rect">
                        <a:avLst/>
                      </a:prstGeom>
                    </p:spPr>
                  </p:pic>
                </p:oleObj>
              </mc:Fallback>
            </mc:AlternateContent>
          </a:graphicData>
        </a:graphic>
      </p:graphicFrame>
      <p:sp>
        <p:nvSpPr>
          <p:cNvPr id="2" name="Rectangle 1" hidden="1"/>
          <p:cNvSpPr/>
          <p:nvPr>
            <p:custDataLst>
              <p:tags r:id="rId2"/>
            </p:custDataLst>
          </p:nvPr>
        </p:nvSpPr>
        <p:spPr bwMode="gray">
          <a:xfrm>
            <a:off x="796636" y="448108"/>
            <a:ext cx="138004" cy="138004"/>
          </a:xfrm>
          <a:prstGeom prst="rect">
            <a:avLst/>
          </a:prstGeom>
          <a:solidFill>
            <a:schemeClr val="accent3"/>
          </a:solidFill>
          <a:ln w="19050" algn="ctr">
            <a:noFill/>
            <a:miter lim="800000"/>
            <a:headEnd/>
            <a:tailEnd/>
          </a:ln>
        </p:spPr>
        <p:txBody>
          <a:bodyPr wrap="none" lIns="0" tIns="0" rIns="0" bIns="0" rtlCol="0" anchor="ctr"/>
          <a:lstStyle/>
          <a:p>
            <a:pPr algn="ctr">
              <a:spcBef>
                <a:spcPct val="0"/>
              </a:spcBef>
              <a:spcAft>
                <a:spcPct val="0"/>
              </a:spcAft>
              <a:buFont typeface="Wingdings 2" pitchFamily="18" charset="2"/>
              <a:buNone/>
            </a:pPr>
            <a:endParaRPr lang="en-US" sz="1739" dirty="0">
              <a:solidFill>
                <a:schemeClr val="bg1"/>
              </a:solidFill>
              <a:latin typeface="Verdana" panose="020B0604030504040204" pitchFamily="34" charset="0"/>
              <a:ea typeface="+mj-ea"/>
              <a:cs typeface="+mj-cs"/>
              <a:sym typeface="Verdana" panose="020B0604030504040204" pitchFamily="34" charset="0"/>
            </a:endParaRPr>
          </a:p>
        </p:txBody>
      </p:sp>
      <p:sp>
        <p:nvSpPr>
          <p:cNvPr id="3" name="Title 2"/>
          <p:cNvSpPr>
            <a:spLocks noGrp="1"/>
          </p:cNvSpPr>
          <p:nvPr>
            <p:ph type="ctrTitle" idx="4294967295"/>
          </p:nvPr>
        </p:nvSpPr>
        <p:spPr>
          <a:xfrm>
            <a:off x="2146247" y="5425952"/>
            <a:ext cx="3949756" cy="305131"/>
          </a:xfrm>
        </p:spPr>
        <p:txBody>
          <a:bodyPr/>
          <a:lstStyle/>
          <a:p>
            <a:r>
              <a:rPr lang="en-US" noProof="0" dirty="0"/>
              <a:t>Headline Verdana Bold</a:t>
            </a:r>
          </a:p>
        </p:txBody>
      </p:sp>
      <p:sp>
        <p:nvSpPr>
          <p:cNvPr id="5" name="Text Placeholder 4"/>
          <p:cNvSpPr>
            <a:spLocks noGrp="1"/>
          </p:cNvSpPr>
          <p:nvPr>
            <p:ph type="body" sz="quarter" idx="10"/>
          </p:nvPr>
        </p:nvSpPr>
        <p:spPr/>
        <p:txBody>
          <a:bodyPr/>
          <a:lstStyle/>
          <a:p>
            <a:r>
              <a:rPr lang="en-US" dirty="0"/>
              <a:t>Deloitte </a:t>
            </a:r>
            <a:r>
              <a:rPr lang="en-US" dirty="0" err="1"/>
              <a:t>Touche</a:t>
            </a:r>
            <a:r>
              <a:rPr lang="en-US" dirty="0"/>
              <a:t> Tohmatsu India LLP, April 2021</a:t>
            </a:r>
          </a:p>
        </p:txBody>
      </p:sp>
      <p:pic>
        <p:nvPicPr>
          <p:cNvPr id="12" name="Picture 11"/>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662670" y="219167"/>
            <a:ext cx="6866659" cy="5961784"/>
          </a:xfrm>
          <a:prstGeom prst="rect">
            <a:avLst/>
          </a:prstGeom>
        </p:spPr>
      </p:pic>
      <p:sp>
        <p:nvSpPr>
          <p:cNvPr id="4" name="Subtitle 3"/>
          <p:cNvSpPr>
            <a:spLocks noGrp="1"/>
          </p:cNvSpPr>
          <p:nvPr>
            <p:ph type="subTitle" idx="1"/>
          </p:nvPr>
        </p:nvSpPr>
        <p:spPr>
          <a:xfrm>
            <a:off x="501651" y="4770292"/>
            <a:ext cx="11021565" cy="1341150"/>
          </a:xfrm>
        </p:spPr>
        <p:txBody>
          <a:bodyPr/>
          <a:lstStyle/>
          <a:p>
            <a:endParaRPr lang="en-US" b="0" dirty="0"/>
          </a:p>
          <a:p>
            <a:r>
              <a:rPr lang="en-US" sz="1391" b="0" dirty="0"/>
              <a:t>Selection of Consultant for a Strategic Planning Unit for the Department of Power, Government of West Bengal in the strategic planning and transformation of the West Bengal Power Sector</a:t>
            </a:r>
            <a:endParaRPr lang="en-IN" sz="1391" b="0" dirty="0"/>
          </a:p>
          <a:p>
            <a:endParaRPr lang="en-IN" sz="1043" b="0" dirty="0"/>
          </a:p>
          <a:p>
            <a:r>
              <a:rPr lang="en-IN" sz="1043" b="0" dirty="0"/>
              <a:t>RFP No. : STRATEGIC PLANNING-01/DOP/2020-21 dated 14.01.2021</a:t>
            </a:r>
          </a:p>
          <a:p>
            <a:endParaRPr lang="en-IN" sz="1043" b="0" dirty="0"/>
          </a:p>
          <a:p>
            <a:r>
              <a:rPr lang="en-US" sz="1043" dirty="0"/>
              <a:t>For The Department of Power, Government of West Bengal</a:t>
            </a:r>
          </a:p>
        </p:txBody>
      </p:sp>
    </p:spTree>
    <p:extLst>
      <p:ext uri="{BB962C8B-B14F-4D97-AF65-F5344CB8AC3E}">
        <p14:creationId xmlns:p14="http://schemas.microsoft.com/office/powerpoint/2010/main" val="28917335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68" y="0"/>
            <a:ext cx="12189864" cy="6858000"/>
          </a:xfrm>
          <a:prstGeom prst="rect">
            <a:avLst/>
          </a:prstGeom>
        </p:spPr>
      </p:pic>
      <p:sp>
        <p:nvSpPr>
          <p:cNvPr id="6" name="Rectangle 5"/>
          <p:cNvSpPr/>
          <p:nvPr/>
        </p:nvSpPr>
        <p:spPr bwMode="gray">
          <a:xfrm>
            <a:off x="1" y="135"/>
            <a:ext cx="12250994" cy="6857867"/>
          </a:xfrm>
          <a:prstGeom prst="rect">
            <a:avLst/>
          </a:prstGeom>
          <a:solidFill>
            <a:schemeClr val="tx1">
              <a:alpha val="65000"/>
            </a:schemeClr>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endParaRPr lang="en-IN" sz="1451" b="1" dirty="0">
              <a:solidFill>
                <a:schemeClr val="bg1"/>
              </a:solidFill>
            </a:endParaRPr>
          </a:p>
        </p:txBody>
      </p:sp>
      <p:sp>
        <p:nvSpPr>
          <p:cNvPr id="7" name="Shape 59"/>
          <p:cNvSpPr/>
          <p:nvPr/>
        </p:nvSpPr>
        <p:spPr>
          <a:xfrm flipH="1">
            <a:off x="1" y="2"/>
            <a:ext cx="9692468" cy="6857867"/>
          </a:xfrm>
          <a:custGeom>
            <a:avLst/>
            <a:gdLst/>
            <a:ahLst/>
            <a:cxnLst/>
            <a:rect l="0" t="0" r="0" b="0"/>
            <a:pathLst>
              <a:path w="120000" h="120000" extrusionOk="0">
                <a:moveTo>
                  <a:pt x="85134" y="0"/>
                </a:moveTo>
                <a:lnTo>
                  <a:pt x="0" y="0"/>
                </a:lnTo>
                <a:lnTo>
                  <a:pt x="76533" y="120000"/>
                </a:lnTo>
                <a:lnTo>
                  <a:pt x="120000" y="120000"/>
                </a:lnTo>
                <a:lnTo>
                  <a:pt x="120000" y="54666"/>
                </a:lnTo>
                <a:lnTo>
                  <a:pt x="85134" y="0"/>
                </a:lnTo>
                <a:close/>
              </a:path>
            </a:pathLst>
          </a:custGeom>
          <a:gradFill>
            <a:gsLst>
              <a:gs pos="0">
                <a:srgbClr val="0C4068">
                  <a:alpha val="87000"/>
                </a:srgbClr>
              </a:gs>
              <a:gs pos="50000">
                <a:srgbClr val="46B688">
                  <a:alpha val="53000"/>
                </a:srgbClr>
              </a:gs>
              <a:gs pos="100000">
                <a:srgbClr val="016AA3">
                  <a:alpha val="93000"/>
                </a:srgbClr>
              </a:gs>
            </a:gsLst>
            <a:lin ang="2700000" scaled="0"/>
          </a:gradFill>
          <a:ln>
            <a:noFill/>
          </a:ln>
        </p:spPr>
        <p:txBody>
          <a:bodyPr spcFirstLastPara="1" wrap="square" lIns="91421" tIns="45698" rIns="91421" bIns="45698" anchor="ctr" anchorCtr="0">
            <a:noAutofit/>
          </a:bodyPr>
          <a:lstStyle/>
          <a:p>
            <a:pPr algn="ctr"/>
            <a:endParaRPr dirty="0">
              <a:solidFill>
                <a:schemeClr val="lt1"/>
              </a:solidFill>
              <a:latin typeface="Calibri"/>
              <a:ea typeface="Calibri"/>
              <a:cs typeface="Calibri"/>
              <a:sym typeface="Calibri"/>
            </a:endParaRPr>
          </a:p>
        </p:txBody>
      </p:sp>
      <p:grpSp>
        <p:nvGrpSpPr>
          <p:cNvPr id="8" name="Group 7"/>
          <p:cNvGrpSpPr/>
          <p:nvPr/>
        </p:nvGrpSpPr>
        <p:grpSpPr>
          <a:xfrm rot="21407744">
            <a:off x="2108239" y="1441058"/>
            <a:ext cx="7961979" cy="2891780"/>
            <a:chOff x="2284385" y="2051025"/>
            <a:chExt cx="8817247" cy="3248124"/>
          </a:xfrm>
        </p:grpSpPr>
        <p:sp>
          <p:nvSpPr>
            <p:cNvPr id="9" name="Shape 62"/>
            <p:cNvSpPr/>
            <p:nvPr/>
          </p:nvSpPr>
          <p:spPr>
            <a:xfrm rot="18900000">
              <a:off x="2284385" y="4760213"/>
              <a:ext cx="7663083"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sp>
          <p:nvSpPr>
            <p:cNvPr id="10" name="Shape 63"/>
            <p:cNvSpPr/>
            <p:nvPr/>
          </p:nvSpPr>
          <p:spPr>
            <a:xfrm rot="18900000" flipH="1" flipV="1">
              <a:off x="4645068" y="2051025"/>
              <a:ext cx="6456564"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grpSp>
      <p:grpSp>
        <p:nvGrpSpPr>
          <p:cNvPr id="11" name="Group 10"/>
          <p:cNvGrpSpPr/>
          <p:nvPr/>
        </p:nvGrpSpPr>
        <p:grpSpPr>
          <a:xfrm rot="21407744">
            <a:off x="-582962" y="763175"/>
            <a:ext cx="4456634" cy="1618644"/>
            <a:chOff x="2284385" y="2051025"/>
            <a:chExt cx="8817246" cy="3248124"/>
          </a:xfrm>
        </p:grpSpPr>
        <p:sp>
          <p:nvSpPr>
            <p:cNvPr id="12" name="Shape 62"/>
            <p:cNvSpPr/>
            <p:nvPr/>
          </p:nvSpPr>
          <p:spPr>
            <a:xfrm rot="18900000">
              <a:off x="2284385" y="4760213"/>
              <a:ext cx="7663083"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sp>
          <p:nvSpPr>
            <p:cNvPr id="13" name="Shape 63"/>
            <p:cNvSpPr/>
            <p:nvPr/>
          </p:nvSpPr>
          <p:spPr>
            <a:xfrm rot="18900000" flipH="1" flipV="1">
              <a:off x="4645067" y="2051025"/>
              <a:ext cx="6456564"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grpSp>
      <p:sp>
        <p:nvSpPr>
          <p:cNvPr id="14" name="Title 4"/>
          <p:cNvSpPr>
            <a:spLocks noGrp="1"/>
          </p:cNvSpPr>
          <p:nvPr>
            <p:ph type="title"/>
          </p:nvPr>
        </p:nvSpPr>
        <p:spPr>
          <a:xfrm>
            <a:off x="1251890" y="2252162"/>
            <a:ext cx="3939237" cy="1257846"/>
          </a:xfrm>
        </p:spPr>
        <p:txBody>
          <a:bodyPr anchor="ctr"/>
          <a:lstStyle/>
          <a:p>
            <a:pPr algn="ctr"/>
            <a:r>
              <a:rPr lang="en-US" b="1" dirty="0">
                <a:solidFill>
                  <a:schemeClr val="bg1"/>
                </a:solidFill>
              </a:rPr>
              <a:t>Our understanding of the West Bengal Power Sector Context and Scope of Work </a:t>
            </a:r>
          </a:p>
        </p:txBody>
      </p:sp>
    </p:spTree>
    <p:extLst>
      <p:ext uri="{BB962C8B-B14F-4D97-AF65-F5344CB8AC3E}">
        <p14:creationId xmlns:p14="http://schemas.microsoft.com/office/powerpoint/2010/main" val="113051315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extLst>
              <p:ext uri="{D42A27DB-BD31-4B8C-83A1-F6EECF244321}">
                <p14:modId xmlns:p14="http://schemas.microsoft.com/office/powerpoint/2010/main" val="15101365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9" imgW="470" imgH="469" progId="TCLayout.ActiveDocument.1">
                  <p:embed/>
                </p:oleObj>
              </mc:Choice>
              <mc:Fallback>
                <p:oleObj name="think-cell Slide" r:id="rId39" imgW="470" imgH="469" progId="TCLayout.ActiveDocument.1">
                  <p:embed/>
                  <p:pic>
                    <p:nvPicPr>
                      <p:cNvPr id="7" name="Object 6" hidden="1"/>
                      <p:cNvPicPr/>
                      <p:nvPr/>
                    </p:nvPicPr>
                    <p:blipFill>
                      <a:blip r:embed="rId40"/>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bwMode="gray">
          <a:xfrm>
            <a:off x="1" y="1"/>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defTabSz="899010">
              <a:spcBef>
                <a:spcPct val="0"/>
              </a:spcBef>
              <a:spcAft>
                <a:spcPct val="0"/>
              </a:spcAft>
              <a:defRPr/>
            </a:pPr>
            <a:endParaRPr lang="en-IN" sz="1000" dirty="0">
              <a:solidFill>
                <a:prstClr val="white"/>
              </a:solidFill>
              <a:latin typeface="Verdana" panose="020B0604030504040204" pitchFamily="34" charset="0"/>
              <a:sym typeface="Verdana" panose="020B0604030504040204" pitchFamily="34" charset="0"/>
            </a:endParaRPr>
          </a:p>
        </p:txBody>
      </p:sp>
      <p:sp>
        <p:nvSpPr>
          <p:cNvPr id="77" name="Title 3"/>
          <p:cNvSpPr>
            <a:spLocks noGrp="1"/>
          </p:cNvSpPr>
          <p:nvPr>
            <p:ph type="title"/>
          </p:nvPr>
        </p:nvSpPr>
        <p:spPr>
          <a:xfrm>
            <a:off x="501652" y="317504"/>
            <a:ext cx="11188700" cy="368299"/>
          </a:xfrm>
        </p:spPr>
        <p:txBody>
          <a:bodyPr vert="horz"/>
          <a:lstStyle/>
          <a:p>
            <a:pPr algn="just"/>
            <a:r>
              <a:rPr lang="en-US" sz="1800" b="0" i="0" dirty="0">
                <a:solidFill>
                  <a:schemeClr val="tx1"/>
                </a:solidFill>
              </a:rPr>
              <a:t>Since unbundling of WBSEB in 2007, the West Bengal power sector has doubled the Installed Capacity and Electricity Supply, and achieved 100% electrification rate</a:t>
            </a:r>
          </a:p>
        </p:txBody>
      </p:sp>
      <p:grpSp>
        <p:nvGrpSpPr>
          <p:cNvPr id="116" name="Group 115">
            <a:extLst>
              <a:ext uri="{FF2B5EF4-FFF2-40B4-BE49-F238E27FC236}">
                <a16:creationId xmlns:a16="http://schemas.microsoft.com/office/drawing/2014/main" id="{F5AE5A4B-4FFE-413E-A7CB-F51954311FA8}"/>
              </a:ext>
            </a:extLst>
          </p:cNvPr>
          <p:cNvGrpSpPr/>
          <p:nvPr/>
        </p:nvGrpSpPr>
        <p:grpSpPr>
          <a:xfrm>
            <a:off x="473036" y="1456958"/>
            <a:ext cx="11476756" cy="2641343"/>
            <a:chOff x="464971" y="1084817"/>
            <a:chExt cx="11476756" cy="2641343"/>
          </a:xfrm>
        </p:grpSpPr>
        <p:cxnSp>
          <p:nvCxnSpPr>
            <p:cNvPr id="39" name="Straight Connector 38">
              <a:extLst>
                <a:ext uri="{FF2B5EF4-FFF2-40B4-BE49-F238E27FC236}">
                  <a16:creationId xmlns:a16="http://schemas.microsoft.com/office/drawing/2014/main" id="{E11E1DD7-3D39-490C-8C8F-4B37D73C379A}"/>
                </a:ext>
              </a:extLst>
            </p:cNvPr>
            <p:cNvCxnSpPr>
              <a:cxnSpLocks/>
            </p:cNvCxnSpPr>
            <p:nvPr/>
          </p:nvCxnSpPr>
          <p:spPr>
            <a:xfrm>
              <a:off x="501652" y="2405414"/>
              <a:ext cx="11188700"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3C216A5B-2E49-4BCC-B418-0FEE19644396}"/>
                </a:ext>
              </a:extLst>
            </p:cNvPr>
            <p:cNvGrpSpPr/>
            <p:nvPr/>
          </p:nvGrpSpPr>
          <p:grpSpPr>
            <a:xfrm>
              <a:off x="1540603" y="2134311"/>
              <a:ext cx="1717011" cy="1572047"/>
              <a:chOff x="496346" y="3484646"/>
              <a:chExt cx="1717011" cy="1572047"/>
            </a:xfrm>
          </p:grpSpPr>
          <p:sp>
            <p:nvSpPr>
              <p:cNvPr id="40" name="Oval 39">
                <a:extLst>
                  <a:ext uri="{FF2B5EF4-FFF2-40B4-BE49-F238E27FC236}">
                    <a16:creationId xmlns:a16="http://schemas.microsoft.com/office/drawing/2014/main" id="{35522A66-7056-4B92-BA3F-6DBCC75A5E0E}"/>
                  </a:ext>
                </a:extLst>
              </p:cNvPr>
              <p:cNvSpPr/>
              <p:nvPr/>
            </p:nvSpPr>
            <p:spPr bwMode="gray">
              <a:xfrm>
                <a:off x="496346" y="3484646"/>
                <a:ext cx="542207" cy="542207"/>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41" name="Oval 40">
                <a:extLst>
                  <a:ext uri="{FF2B5EF4-FFF2-40B4-BE49-F238E27FC236}">
                    <a16:creationId xmlns:a16="http://schemas.microsoft.com/office/drawing/2014/main" id="{1E6ADC68-6E68-47A7-B2E4-9ECCAF27CA01}"/>
                  </a:ext>
                </a:extLst>
              </p:cNvPr>
              <p:cNvSpPr/>
              <p:nvPr/>
            </p:nvSpPr>
            <p:spPr bwMode="gray">
              <a:xfrm>
                <a:off x="1170224" y="3682985"/>
                <a:ext cx="145529" cy="145529"/>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cxnSp>
            <p:nvCxnSpPr>
              <p:cNvPr id="42" name="Straight Connector 41">
                <a:extLst>
                  <a:ext uri="{FF2B5EF4-FFF2-40B4-BE49-F238E27FC236}">
                    <a16:creationId xmlns:a16="http://schemas.microsoft.com/office/drawing/2014/main" id="{B23FEFC1-1383-4BCC-A20B-BEBC897CFC10}"/>
                  </a:ext>
                </a:extLst>
              </p:cNvPr>
              <p:cNvCxnSpPr>
                <a:cxnSpLocks/>
              </p:cNvCxnSpPr>
              <p:nvPr/>
            </p:nvCxnSpPr>
            <p:spPr>
              <a:xfrm>
                <a:off x="1242988" y="3828514"/>
                <a:ext cx="0" cy="100358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81146FEE-1AC6-476C-8D27-130881736AF9}"/>
                  </a:ext>
                </a:extLst>
              </p:cNvPr>
              <p:cNvSpPr txBox="1"/>
              <p:nvPr/>
            </p:nvSpPr>
            <p:spPr>
              <a:xfrm>
                <a:off x="1315753" y="4269198"/>
                <a:ext cx="897604" cy="692497"/>
              </a:xfrm>
              <a:prstGeom prst="rect">
                <a:avLst/>
              </a:prstGeom>
              <a:noFill/>
            </p:spPr>
            <p:txBody>
              <a:bodyPr wrap="square" lIns="0" tIns="0" rIns="0" bIns="0" rtlCol="0">
                <a:spAutoFit/>
              </a:bodyPr>
              <a:lstStyle/>
              <a:p>
                <a:pPr>
                  <a:spcAft>
                    <a:spcPts val="600"/>
                  </a:spcAft>
                </a:pPr>
                <a:r>
                  <a:rPr lang="en-US" sz="1100" b="1" dirty="0">
                    <a:solidFill>
                      <a:schemeClr val="accent3"/>
                    </a:solidFill>
                  </a:rPr>
                  <a:t>September</a:t>
                </a:r>
              </a:p>
              <a:p>
                <a:pPr>
                  <a:spcAft>
                    <a:spcPts val="600"/>
                  </a:spcAft>
                </a:pPr>
                <a:r>
                  <a:rPr lang="en-US" sz="800" b="1" dirty="0">
                    <a:solidFill>
                      <a:schemeClr val="accent3"/>
                    </a:solidFill>
                  </a:rPr>
                  <a:t>Department of Power is setup </a:t>
                </a:r>
              </a:p>
              <a:p>
                <a:endParaRPr lang="en-GB" sz="800" b="1" dirty="0">
                  <a:solidFill>
                    <a:schemeClr val="accent3"/>
                  </a:solidFill>
                </a:endParaRPr>
              </a:p>
            </p:txBody>
          </p:sp>
          <p:sp>
            <p:nvSpPr>
              <p:cNvPr id="69" name="TextBox 68">
                <a:extLst>
                  <a:ext uri="{FF2B5EF4-FFF2-40B4-BE49-F238E27FC236}">
                    <a16:creationId xmlns:a16="http://schemas.microsoft.com/office/drawing/2014/main" id="{2225DDCE-07E3-4D39-B451-0D35559179AF}"/>
                  </a:ext>
                </a:extLst>
              </p:cNvPr>
              <p:cNvSpPr txBox="1"/>
              <p:nvPr/>
            </p:nvSpPr>
            <p:spPr>
              <a:xfrm rot="16200000">
                <a:off x="286730" y="4464370"/>
                <a:ext cx="969202" cy="215444"/>
              </a:xfrm>
              <a:prstGeom prst="rect">
                <a:avLst/>
              </a:prstGeom>
              <a:noFill/>
            </p:spPr>
            <p:txBody>
              <a:bodyPr wrap="square" lIns="0" tIns="0" rIns="0" bIns="0" rtlCol="0">
                <a:spAutoFit/>
              </a:bodyPr>
              <a:lstStyle/>
              <a:p>
                <a:pPr algn="r">
                  <a:spcBef>
                    <a:spcPts val="600"/>
                  </a:spcBef>
                  <a:buSzPct val="100000"/>
                </a:pPr>
                <a:r>
                  <a:rPr lang="en-GB" sz="1400" b="1" dirty="0">
                    <a:solidFill>
                      <a:schemeClr val="accent3"/>
                    </a:solidFill>
                  </a:rPr>
                  <a:t>1972</a:t>
                </a:r>
                <a:endParaRPr lang="en-GB" sz="800" dirty="0">
                  <a:solidFill>
                    <a:schemeClr val="accent3"/>
                  </a:solidFill>
                </a:endParaRPr>
              </a:p>
            </p:txBody>
          </p:sp>
        </p:grpSp>
        <p:grpSp>
          <p:nvGrpSpPr>
            <p:cNvPr id="81" name="Group 80">
              <a:extLst>
                <a:ext uri="{FF2B5EF4-FFF2-40B4-BE49-F238E27FC236}">
                  <a16:creationId xmlns:a16="http://schemas.microsoft.com/office/drawing/2014/main" id="{12F44D05-354E-4F6E-872A-F4773C75A5EA}"/>
                </a:ext>
              </a:extLst>
            </p:cNvPr>
            <p:cNvGrpSpPr/>
            <p:nvPr/>
          </p:nvGrpSpPr>
          <p:grpSpPr>
            <a:xfrm>
              <a:off x="464971" y="1084817"/>
              <a:ext cx="1845099" cy="2621541"/>
              <a:chOff x="464971" y="2435152"/>
              <a:chExt cx="1845099" cy="2621541"/>
            </a:xfrm>
          </p:grpSpPr>
          <p:sp>
            <p:nvSpPr>
              <p:cNvPr id="43" name="Oval 42">
                <a:extLst>
                  <a:ext uri="{FF2B5EF4-FFF2-40B4-BE49-F238E27FC236}">
                    <a16:creationId xmlns:a16="http://schemas.microsoft.com/office/drawing/2014/main" id="{D30196A6-BC62-4EFA-94A7-B4307F0178A6}"/>
                  </a:ext>
                </a:extLst>
              </p:cNvPr>
              <p:cNvSpPr/>
              <p:nvPr/>
            </p:nvSpPr>
            <p:spPr bwMode="gray">
              <a:xfrm>
                <a:off x="464971" y="3484646"/>
                <a:ext cx="542207" cy="542207"/>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57" name="Oval 56">
                <a:extLst>
                  <a:ext uri="{FF2B5EF4-FFF2-40B4-BE49-F238E27FC236}">
                    <a16:creationId xmlns:a16="http://schemas.microsoft.com/office/drawing/2014/main" id="{42A0DEE3-2B67-468C-8507-3A44EB36B62F}"/>
                  </a:ext>
                </a:extLst>
              </p:cNvPr>
              <p:cNvSpPr/>
              <p:nvPr/>
            </p:nvSpPr>
            <p:spPr bwMode="gray">
              <a:xfrm>
                <a:off x="1201709" y="3682985"/>
                <a:ext cx="145529" cy="145529"/>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cxnSp>
            <p:nvCxnSpPr>
              <p:cNvPr id="58" name="Straight Connector 57">
                <a:extLst>
                  <a:ext uri="{FF2B5EF4-FFF2-40B4-BE49-F238E27FC236}">
                    <a16:creationId xmlns:a16="http://schemas.microsoft.com/office/drawing/2014/main" id="{CFC56669-392A-4156-A78E-8919FF410944}"/>
                  </a:ext>
                </a:extLst>
              </p:cNvPr>
              <p:cNvCxnSpPr>
                <a:stCxn id="57" idx="0"/>
              </p:cNvCxnSpPr>
              <p:nvPr/>
            </p:nvCxnSpPr>
            <p:spPr>
              <a:xfrm flipV="1">
                <a:off x="1274474" y="2475348"/>
                <a:ext cx="0" cy="120763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49EFCD3-A102-4845-A3E1-BE56D492DDD1}"/>
                  </a:ext>
                </a:extLst>
              </p:cNvPr>
              <p:cNvSpPr txBox="1"/>
              <p:nvPr/>
            </p:nvSpPr>
            <p:spPr>
              <a:xfrm>
                <a:off x="1340868" y="2435152"/>
                <a:ext cx="969202" cy="615553"/>
              </a:xfrm>
              <a:prstGeom prst="rect">
                <a:avLst/>
              </a:prstGeom>
              <a:noFill/>
            </p:spPr>
            <p:txBody>
              <a:bodyPr wrap="square" lIns="0" tIns="0" rIns="0" bIns="0" rtlCol="0">
                <a:spAutoFit/>
              </a:bodyPr>
              <a:lstStyle/>
              <a:p>
                <a:pPr>
                  <a:spcBef>
                    <a:spcPts val="600"/>
                  </a:spcBef>
                  <a:spcAft>
                    <a:spcPts val="600"/>
                  </a:spcAft>
                  <a:buSzPct val="100000"/>
                </a:pPr>
                <a:r>
                  <a:rPr lang="en-GB" sz="1100" b="1" dirty="0">
                    <a:solidFill>
                      <a:schemeClr val="accent1"/>
                    </a:solidFill>
                  </a:rPr>
                  <a:t>May</a:t>
                </a:r>
              </a:p>
              <a:p>
                <a:pPr>
                  <a:spcAft>
                    <a:spcPts val="600"/>
                  </a:spcAft>
                </a:pPr>
                <a:r>
                  <a:rPr lang="en-GB" sz="800" b="1" dirty="0">
                    <a:solidFill>
                      <a:schemeClr val="accent1"/>
                    </a:solidFill>
                  </a:rPr>
                  <a:t>West Bengal State Electricity Board is formed</a:t>
                </a:r>
              </a:p>
            </p:txBody>
          </p:sp>
          <p:sp>
            <p:nvSpPr>
              <p:cNvPr id="70" name="TextBox 69">
                <a:extLst>
                  <a:ext uri="{FF2B5EF4-FFF2-40B4-BE49-F238E27FC236}">
                    <a16:creationId xmlns:a16="http://schemas.microsoft.com/office/drawing/2014/main" id="{4E3988FD-CE3D-4C09-BB67-4838D14700AA}"/>
                  </a:ext>
                </a:extLst>
              </p:cNvPr>
              <p:cNvSpPr txBox="1"/>
              <p:nvPr/>
            </p:nvSpPr>
            <p:spPr>
              <a:xfrm rot="16200000">
                <a:off x="251474" y="4464370"/>
                <a:ext cx="969202" cy="215444"/>
              </a:xfrm>
              <a:prstGeom prst="rect">
                <a:avLst/>
              </a:prstGeom>
              <a:noFill/>
            </p:spPr>
            <p:txBody>
              <a:bodyPr wrap="square" lIns="0" tIns="0" rIns="0" bIns="0" rtlCol="0">
                <a:spAutoFit/>
              </a:bodyPr>
              <a:lstStyle/>
              <a:p>
                <a:pPr algn="r">
                  <a:spcBef>
                    <a:spcPts val="600"/>
                  </a:spcBef>
                  <a:buSzPct val="100000"/>
                </a:pPr>
                <a:r>
                  <a:rPr lang="en-GB" sz="1400" b="1" dirty="0">
                    <a:solidFill>
                      <a:schemeClr val="accent1"/>
                    </a:solidFill>
                  </a:rPr>
                  <a:t>1955</a:t>
                </a:r>
                <a:endParaRPr lang="en-GB" sz="800" dirty="0">
                  <a:solidFill>
                    <a:schemeClr val="accent1"/>
                  </a:solidFill>
                </a:endParaRPr>
              </a:p>
            </p:txBody>
          </p:sp>
        </p:grpSp>
        <p:grpSp>
          <p:nvGrpSpPr>
            <p:cNvPr id="93" name="Group 92">
              <a:extLst>
                <a:ext uri="{FF2B5EF4-FFF2-40B4-BE49-F238E27FC236}">
                  <a16:creationId xmlns:a16="http://schemas.microsoft.com/office/drawing/2014/main" id="{40743993-7532-4E4D-92E9-6778AA1A20E2}"/>
                </a:ext>
              </a:extLst>
            </p:cNvPr>
            <p:cNvGrpSpPr/>
            <p:nvPr/>
          </p:nvGrpSpPr>
          <p:grpSpPr>
            <a:xfrm>
              <a:off x="3121362" y="1144815"/>
              <a:ext cx="2071860" cy="2581345"/>
              <a:chOff x="3334016" y="2495150"/>
              <a:chExt cx="2071860" cy="2581345"/>
            </a:xfrm>
          </p:grpSpPr>
          <p:cxnSp>
            <p:nvCxnSpPr>
              <p:cNvPr id="76" name="Straight Connector 75">
                <a:extLst>
                  <a:ext uri="{FF2B5EF4-FFF2-40B4-BE49-F238E27FC236}">
                    <a16:creationId xmlns:a16="http://schemas.microsoft.com/office/drawing/2014/main" id="{B50E8F1F-5E3D-4E19-A7BC-FACC62DFCF5E}"/>
                  </a:ext>
                </a:extLst>
              </p:cNvPr>
              <p:cNvCxnSpPr>
                <a:cxnSpLocks/>
                <a:stCxn id="75" idx="0"/>
              </p:cNvCxnSpPr>
              <p:nvPr/>
            </p:nvCxnSpPr>
            <p:spPr>
              <a:xfrm flipV="1">
                <a:off x="4143519" y="2495150"/>
                <a:ext cx="0" cy="120763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5AF0D606-30F6-4452-AD5F-458CE88B8224}"/>
                  </a:ext>
                </a:extLst>
              </p:cNvPr>
              <p:cNvSpPr/>
              <p:nvPr/>
            </p:nvSpPr>
            <p:spPr bwMode="gray">
              <a:xfrm>
                <a:off x="3334016" y="3504448"/>
                <a:ext cx="596300" cy="542207"/>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75" name="Oval 74">
                <a:extLst>
                  <a:ext uri="{FF2B5EF4-FFF2-40B4-BE49-F238E27FC236}">
                    <a16:creationId xmlns:a16="http://schemas.microsoft.com/office/drawing/2014/main" id="{9CCBC70F-DD99-481A-8ED1-69D770BCDEAA}"/>
                  </a:ext>
                </a:extLst>
              </p:cNvPr>
              <p:cNvSpPr/>
              <p:nvPr/>
            </p:nvSpPr>
            <p:spPr bwMode="gray">
              <a:xfrm>
                <a:off x="4070754" y="3702787"/>
                <a:ext cx="145529" cy="145529"/>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78" name="TextBox 77">
                <a:extLst>
                  <a:ext uri="{FF2B5EF4-FFF2-40B4-BE49-F238E27FC236}">
                    <a16:creationId xmlns:a16="http://schemas.microsoft.com/office/drawing/2014/main" id="{2A91FAA0-8CF1-4BC4-9136-B52106274012}"/>
                  </a:ext>
                </a:extLst>
              </p:cNvPr>
              <p:cNvSpPr txBox="1"/>
              <p:nvPr/>
            </p:nvSpPr>
            <p:spPr>
              <a:xfrm>
                <a:off x="4227997" y="2498207"/>
                <a:ext cx="1177879" cy="784830"/>
              </a:xfrm>
              <a:prstGeom prst="rect">
                <a:avLst/>
              </a:prstGeom>
              <a:noFill/>
            </p:spPr>
            <p:txBody>
              <a:bodyPr wrap="square" lIns="0" tIns="0" rIns="0" bIns="0" rtlCol="0">
                <a:spAutoFit/>
              </a:bodyPr>
              <a:lstStyle/>
              <a:p>
                <a:pPr>
                  <a:spcBef>
                    <a:spcPts val="600"/>
                  </a:spcBef>
                  <a:buSzPct val="100000"/>
                </a:pPr>
                <a:r>
                  <a:rPr lang="en-GB" sz="1100" b="1" dirty="0">
                    <a:solidFill>
                      <a:schemeClr val="accent1"/>
                    </a:solidFill>
                  </a:rPr>
                  <a:t>July</a:t>
                </a:r>
              </a:p>
              <a:p>
                <a:r>
                  <a:rPr lang="en-GB" sz="800" b="1" dirty="0">
                    <a:solidFill>
                      <a:schemeClr val="accent1"/>
                    </a:solidFill>
                  </a:rPr>
                  <a:t>West Bengal Power Development Corporation Limited is formed with one unit of </a:t>
                </a:r>
                <a:r>
                  <a:rPr lang="en-GB" sz="800" b="1" dirty="0" err="1">
                    <a:solidFill>
                      <a:schemeClr val="accent1"/>
                    </a:solidFill>
                  </a:rPr>
                  <a:t>Kolaghat</a:t>
                </a:r>
                <a:r>
                  <a:rPr lang="en-GB" sz="800" b="1" dirty="0">
                    <a:solidFill>
                      <a:schemeClr val="accent1"/>
                    </a:solidFill>
                  </a:rPr>
                  <a:t> TPS</a:t>
                </a:r>
              </a:p>
            </p:txBody>
          </p:sp>
          <p:sp>
            <p:nvSpPr>
              <p:cNvPr id="79" name="TextBox 78">
                <a:extLst>
                  <a:ext uri="{FF2B5EF4-FFF2-40B4-BE49-F238E27FC236}">
                    <a16:creationId xmlns:a16="http://schemas.microsoft.com/office/drawing/2014/main" id="{8200C200-DE03-4A89-A32C-D9B3A80CC717}"/>
                  </a:ext>
                </a:extLst>
              </p:cNvPr>
              <p:cNvSpPr txBox="1"/>
              <p:nvPr/>
            </p:nvSpPr>
            <p:spPr>
              <a:xfrm rot="16200000">
                <a:off x="3120519" y="4484172"/>
                <a:ext cx="969202" cy="215444"/>
              </a:xfrm>
              <a:prstGeom prst="rect">
                <a:avLst/>
              </a:prstGeom>
              <a:noFill/>
            </p:spPr>
            <p:txBody>
              <a:bodyPr wrap="square" lIns="0" tIns="0" rIns="0" bIns="0" rtlCol="0">
                <a:spAutoFit/>
              </a:bodyPr>
              <a:lstStyle/>
              <a:p>
                <a:pPr algn="r">
                  <a:spcBef>
                    <a:spcPts val="600"/>
                  </a:spcBef>
                  <a:buSzPct val="100000"/>
                </a:pPr>
                <a:r>
                  <a:rPr lang="en-GB" sz="1400" b="1" dirty="0">
                    <a:solidFill>
                      <a:schemeClr val="accent1"/>
                    </a:solidFill>
                  </a:rPr>
                  <a:t>1985</a:t>
                </a:r>
                <a:endParaRPr lang="en-GB" sz="800" dirty="0">
                  <a:solidFill>
                    <a:schemeClr val="accent1"/>
                  </a:solidFill>
                </a:endParaRPr>
              </a:p>
            </p:txBody>
          </p:sp>
        </p:grpSp>
        <p:grpSp>
          <p:nvGrpSpPr>
            <p:cNvPr id="82" name="Group 81">
              <a:extLst>
                <a:ext uri="{FF2B5EF4-FFF2-40B4-BE49-F238E27FC236}">
                  <a16:creationId xmlns:a16="http://schemas.microsoft.com/office/drawing/2014/main" id="{84993BE4-F26C-4754-B547-4A77FC015504}"/>
                </a:ext>
              </a:extLst>
            </p:cNvPr>
            <p:cNvGrpSpPr/>
            <p:nvPr/>
          </p:nvGrpSpPr>
          <p:grpSpPr>
            <a:xfrm>
              <a:off x="4340614" y="2139184"/>
              <a:ext cx="1600521" cy="1572047"/>
              <a:chOff x="496346" y="3484646"/>
              <a:chExt cx="1600521" cy="1572047"/>
            </a:xfrm>
          </p:grpSpPr>
          <p:sp>
            <p:nvSpPr>
              <p:cNvPr id="83" name="Oval 82">
                <a:extLst>
                  <a:ext uri="{FF2B5EF4-FFF2-40B4-BE49-F238E27FC236}">
                    <a16:creationId xmlns:a16="http://schemas.microsoft.com/office/drawing/2014/main" id="{D720C046-AC8A-4F29-AD33-25B89A927296}"/>
                  </a:ext>
                </a:extLst>
              </p:cNvPr>
              <p:cNvSpPr/>
              <p:nvPr/>
            </p:nvSpPr>
            <p:spPr bwMode="gray">
              <a:xfrm>
                <a:off x="496346" y="3484646"/>
                <a:ext cx="542207" cy="542207"/>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84" name="Oval 83">
                <a:extLst>
                  <a:ext uri="{FF2B5EF4-FFF2-40B4-BE49-F238E27FC236}">
                    <a16:creationId xmlns:a16="http://schemas.microsoft.com/office/drawing/2014/main" id="{A544E65A-C022-4BD9-B26F-35C2CED62778}"/>
                  </a:ext>
                </a:extLst>
              </p:cNvPr>
              <p:cNvSpPr/>
              <p:nvPr/>
            </p:nvSpPr>
            <p:spPr bwMode="gray">
              <a:xfrm>
                <a:off x="1170224" y="3682985"/>
                <a:ext cx="145529" cy="145529"/>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cxnSp>
            <p:nvCxnSpPr>
              <p:cNvPr id="85" name="Straight Connector 84">
                <a:extLst>
                  <a:ext uri="{FF2B5EF4-FFF2-40B4-BE49-F238E27FC236}">
                    <a16:creationId xmlns:a16="http://schemas.microsoft.com/office/drawing/2014/main" id="{8784BCEC-C3E2-4721-A083-34B297F1AA44}"/>
                  </a:ext>
                </a:extLst>
              </p:cNvPr>
              <p:cNvCxnSpPr>
                <a:cxnSpLocks/>
              </p:cNvCxnSpPr>
              <p:nvPr/>
            </p:nvCxnSpPr>
            <p:spPr>
              <a:xfrm>
                <a:off x="1242988" y="3828514"/>
                <a:ext cx="0" cy="100358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79B058D6-0F2C-47C6-BF70-C5F15F071B7C}"/>
                  </a:ext>
                </a:extLst>
              </p:cNvPr>
              <p:cNvSpPr txBox="1"/>
              <p:nvPr/>
            </p:nvSpPr>
            <p:spPr>
              <a:xfrm>
                <a:off x="1313763" y="4192744"/>
                <a:ext cx="783104" cy="615553"/>
              </a:xfrm>
              <a:prstGeom prst="rect">
                <a:avLst/>
              </a:prstGeom>
              <a:noFill/>
            </p:spPr>
            <p:txBody>
              <a:bodyPr wrap="square" lIns="0" tIns="0" rIns="0" bIns="0" rtlCol="0">
                <a:spAutoFit/>
              </a:bodyPr>
              <a:lstStyle/>
              <a:p>
                <a:pPr>
                  <a:spcAft>
                    <a:spcPts val="600"/>
                  </a:spcAft>
                </a:pPr>
                <a:r>
                  <a:rPr lang="en-US" sz="800" b="1" dirty="0">
                    <a:solidFill>
                      <a:schemeClr val="accent3"/>
                    </a:solidFill>
                  </a:rPr>
                  <a:t>West Bengal Renewable Energy Development Agency</a:t>
                </a:r>
                <a:endParaRPr lang="en-GB" sz="800" b="1" dirty="0">
                  <a:solidFill>
                    <a:schemeClr val="accent3"/>
                  </a:solidFill>
                </a:endParaRPr>
              </a:p>
            </p:txBody>
          </p:sp>
          <p:sp>
            <p:nvSpPr>
              <p:cNvPr id="87" name="TextBox 86">
                <a:extLst>
                  <a:ext uri="{FF2B5EF4-FFF2-40B4-BE49-F238E27FC236}">
                    <a16:creationId xmlns:a16="http://schemas.microsoft.com/office/drawing/2014/main" id="{49AD10F2-5FC2-4A2C-8DB3-65B84114EABF}"/>
                  </a:ext>
                </a:extLst>
              </p:cNvPr>
              <p:cNvSpPr txBox="1"/>
              <p:nvPr/>
            </p:nvSpPr>
            <p:spPr>
              <a:xfrm rot="16200000">
                <a:off x="286730" y="4464370"/>
                <a:ext cx="969202" cy="215444"/>
              </a:xfrm>
              <a:prstGeom prst="rect">
                <a:avLst/>
              </a:prstGeom>
              <a:noFill/>
            </p:spPr>
            <p:txBody>
              <a:bodyPr wrap="square" lIns="0" tIns="0" rIns="0" bIns="0" rtlCol="0">
                <a:spAutoFit/>
              </a:bodyPr>
              <a:lstStyle/>
              <a:p>
                <a:pPr algn="r">
                  <a:spcBef>
                    <a:spcPts val="600"/>
                  </a:spcBef>
                  <a:buSzPct val="100000"/>
                </a:pPr>
                <a:r>
                  <a:rPr lang="en-GB" sz="1400" b="1" dirty="0">
                    <a:solidFill>
                      <a:schemeClr val="accent3"/>
                    </a:solidFill>
                  </a:rPr>
                  <a:t>1993</a:t>
                </a:r>
                <a:endParaRPr lang="en-GB" sz="800" dirty="0">
                  <a:solidFill>
                    <a:schemeClr val="accent3"/>
                  </a:solidFill>
                </a:endParaRPr>
              </a:p>
            </p:txBody>
          </p:sp>
        </p:grpSp>
        <p:grpSp>
          <p:nvGrpSpPr>
            <p:cNvPr id="107" name="Group 106">
              <a:extLst>
                <a:ext uri="{FF2B5EF4-FFF2-40B4-BE49-F238E27FC236}">
                  <a16:creationId xmlns:a16="http://schemas.microsoft.com/office/drawing/2014/main" id="{6E47162B-F33C-4093-9A69-5D9E268350F0}"/>
                </a:ext>
              </a:extLst>
            </p:cNvPr>
            <p:cNvGrpSpPr/>
            <p:nvPr/>
          </p:nvGrpSpPr>
          <p:grpSpPr>
            <a:xfrm>
              <a:off x="5712637" y="1144815"/>
              <a:ext cx="1579296" cy="2573927"/>
              <a:chOff x="6807795" y="2495150"/>
              <a:chExt cx="1579296" cy="2573927"/>
            </a:xfrm>
          </p:grpSpPr>
          <p:grpSp>
            <p:nvGrpSpPr>
              <p:cNvPr id="88" name="Group 87">
                <a:extLst>
                  <a:ext uri="{FF2B5EF4-FFF2-40B4-BE49-F238E27FC236}">
                    <a16:creationId xmlns:a16="http://schemas.microsoft.com/office/drawing/2014/main" id="{4E4A0C70-1730-4784-8F67-227E9A64CA14}"/>
                  </a:ext>
                </a:extLst>
              </p:cNvPr>
              <p:cNvGrpSpPr/>
              <p:nvPr/>
            </p:nvGrpSpPr>
            <p:grpSpPr>
              <a:xfrm>
                <a:off x="6807795" y="2498207"/>
                <a:ext cx="1579296" cy="2570870"/>
                <a:chOff x="3334016" y="2505625"/>
                <a:chExt cx="1579296" cy="2570870"/>
              </a:xfrm>
            </p:grpSpPr>
            <p:sp>
              <p:nvSpPr>
                <p:cNvPr id="89" name="Oval 88">
                  <a:extLst>
                    <a:ext uri="{FF2B5EF4-FFF2-40B4-BE49-F238E27FC236}">
                      <a16:creationId xmlns:a16="http://schemas.microsoft.com/office/drawing/2014/main" id="{BA178A13-BBEC-4433-AAC1-28FB869FE263}"/>
                    </a:ext>
                  </a:extLst>
                </p:cNvPr>
                <p:cNvSpPr/>
                <p:nvPr/>
              </p:nvSpPr>
              <p:spPr bwMode="gray">
                <a:xfrm>
                  <a:off x="3334016" y="3504448"/>
                  <a:ext cx="542207" cy="542207"/>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90" name="Oval 89">
                  <a:extLst>
                    <a:ext uri="{FF2B5EF4-FFF2-40B4-BE49-F238E27FC236}">
                      <a16:creationId xmlns:a16="http://schemas.microsoft.com/office/drawing/2014/main" id="{0C27487E-AD97-4CFB-9F19-F2D0AF5424B6}"/>
                    </a:ext>
                  </a:extLst>
                </p:cNvPr>
                <p:cNvSpPr/>
                <p:nvPr/>
              </p:nvSpPr>
              <p:spPr bwMode="gray">
                <a:xfrm>
                  <a:off x="4070754" y="3702787"/>
                  <a:ext cx="145529" cy="145529"/>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91" name="TextBox 90">
                  <a:extLst>
                    <a:ext uri="{FF2B5EF4-FFF2-40B4-BE49-F238E27FC236}">
                      <a16:creationId xmlns:a16="http://schemas.microsoft.com/office/drawing/2014/main" id="{2BA29153-93FB-48FB-9184-13E81BD84BA9}"/>
                    </a:ext>
                  </a:extLst>
                </p:cNvPr>
                <p:cNvSpPr txBox="1"/>
                <p:nvPr/>
              </p:nvSpPr>
              <p:spPr>
                <a:xfrm>
                  <a:off x="4216283" y="2505625"/>
                  <a:ext cx="697029" cy="615553"/>
                </a:xfrm>
                <a:prstGeom prst="rect">
                  <a:avLst/>
                </a:prstGeom>
                <a:noFill/>
              </p:spPr>
              <p:txBody>
                <a:bodyPr wrap="square" lIns="0" tIns="0" rIns="0" bIns="0" rtlCol="0">
                  <a:spAutoFit/>
                </a:bodyPr>
                <a:lstStyle/>
                <a:p>
                  <a:r>
                    <a:rPr lang="en-US" sz="800" b="1" dirty="0">
                      <a:solidFill>
                        <a:schemeClr val="accent1"/>
                      </a:solidFill>
                    </a:rPr>
                    <a:t>WBERC is constituted under ERC Act 1998</a:t>
                  </a:r>
                </a:p>
                <a:p>
                  <a:endParaRPr lang="en-US" sz="800" b="1" dirty="0">
                    <a:solidFill>
                      <a:schemeClr val="accent1"/>
                    </a:solidFill>
                  </a:endParaRPr>
                </a:p>
              </p:txBody>
            </p:sp>
            <p:sp>
              <p:nvSpPr>
                <p:cNvPr id="92" name="TextBox 91">
                  <a:extLst>
                    <a:ext uri="{FF2B5EF4-FFF2-40B4-BE49-F238E27FC236}">
                      <a16:creationId xmlns:a16="http://schemas.microsoft.com/office/drawing/2014/main" id="{A9DD0D27-B1C4-4B6C-8E93-3C8839A32928}"/>
                    </a:ext>
                  </a:extLst>
                </p:cNvPr>
                <p:cNvSpPr txBox="1"/>
                <p:nvPr/>
              </p:nvSpPr>
              <p:spPr>
                <a:xfrm rot="16200000">
                  <a:off x="3120519" y="4484172"/>
                  <a:ext cx="969202" cy="215444"/>
                </a:xfrm>
                <a:prstGeom prst="rect">
                  <a:avLst/>
                </a:prstGeom>
                <a:noFill/>
              </p:spPr>
              <p:txBody>
                <a:bodyPr wrap="square" lIns="0" tIns="0" rIns="0" bIns="0" rtlCol="0">
                  <a:spAutoFit/>
                </a:bodyPr>
                <a:lstStyle/>
                <a:p>
                  <a:pPr algn="r">
                    <a:spcBef>
                      <a:spcPts val="600"/>
                    </a:spcBef>
                    <a:buSzPct val="100000"/>
                  </a:pPr>
                  <a:r>
                    <a:rPr lang="en-GB" sz="1400" b="1" dirty="0">
                      <a:solidFill>
                        <a:schemeClr val="accent1"/>
                      </a:solidFill>
                    </a:rPr>
                    <a:t>1999</a:t>
                  </a:r>
                  <a:endParaRPr lang="en-GB" sz="800" dirty="0">
                    <a:solidFill>
                      <a:schemeClr val="accent1"/>
                    </a:solidFill>
                  </a:endParaRPr>
                </a:p>
              </p:txBody>
            </p:sp>
          </p:grpSp>
          <p:cxnSp>
            <p:nvCxnSpPr>
              <p:cNvPr id="95" name="Straight Connector 94">
                <a:extLst>
                  <a:ext uri="{FF2B5EF4-FFF2-40B4-BE49-F238E27FC236}">
                    <a16:creationId xmlns:a16="http://schemas.microsoft.com/office/drawing/2014/main" id="{F7BCFB7F-0D4C-422F-949E-241ED3F02ECD}"/>
                  </a:ext>
                </a:extLst>
              </p:cNvPr>
              <p:cNvCxnSpPr>
                <a:cxnSpLocks/>
              </p:cNvCxnSpPr>
              <p:nvPr/>
            </p:nvCxnSpPr>
            <p:spPr>
              <a:xfrm flipV="1">
                <a:off x="7617297" y="2495150"/>
                <a:ext cx="0" cy="120763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96" name="Group 95">
              <a:extLst>
                <a:ext uri="{FF2B5EF4-FFF2-40B4-BE49-F238E27FC236}">
                  <a16:creationId xmlns:a16="http://schemas.microsoft.com/office/drawing/2014/main" id="{73B20767-5A5D-477F-AB2D-490624C96560}"/>
                </a:ext>
              </a:extLst>
            </p:cNvPr>
            <p:cNvGrpSpPr/>
            <p:nvPr/>
          </p:nvGrpSpPr>
          <p:grpSpPr>
            <a:xfrm>
              <a:off x="6749740" y="2146695"/>
              <a:ext cx="2031707" cy="1572047"/>
              <a:chOff x="496346" y="3484646"/>
              <a:chExt cx="2031707" cy="1572047"/>
            </a:xfrm>
          </p:grpSpPr>
          <p:sp>
            <p:nvSpPr>
              <p:cNvPr id="97" name="Oval 96">
                <a:extLst>
                  <a:ext uri="{FF2B5EF4-FFF2-40B4-BE49-F238E27FC236}">
                    <a16:creationId xmlns:a16="http://schemas.microsoft.com/office/drawing/2014/main" id="{BE20AC3A-FE85-4E2C-B472-A1A49BCF17B3}"/>
                  </a:ext>
                </a:extLst>
              </p:cNvPr>
              <p:cNvSpPr/>
              <p:nvPr/>
            </p:nvSpPr>
            <p:spPr bwMode="gray">
              <a:xfrm>
                <a:off x="496346" y="3484646"/>
                <a:ext cx="542207" cy="542207"/>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98" name="Oval 97">
                <a:extLst>
                  <a:ext uri="{FF2B5EF4-FFF2-40B4-BE49-F238E27FC236}">
                    <a16:creationId xmlns:a16="http://schemas.microsoft.com/office/drawing/2014/main" id="{B76D7A4B-F86B-495F-97CE-CAE61995EB24}"/>
                  </a:ext>
                </a:extLst>
              </p:cNvPr>
              <p:cNvSpPr/>
              <p:nvPr/>
            </p:nvSpPr>
            <p:spPr bwMode="gray">
              <a:xfrm>
                <a:off x="1170224" y="3682985"/>
                <a:ext cx="145529" cy="145529"/>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cxnSp>
            <p:nvCxnSpPr>
              <p:cNvPr id="99" name="Straight Connector 98">
                <a:extLst>
                  <a:ext uri="{FF2B5EF4-FFF2-40B4-BE49-F238E27FC236}">
                    <a16:creationId xmlns:a16="http://schemas.microsoft.com/office/drawing/2014/main" id="{C2540BB9-5408-4649-8BBF-19858557FFBC}"/>
                  </a:ext>
                </a:extLst>
              </p:cNvPr>
              <p:cNvCxnSpPr>
                <a:cxnSpLocks/>
              </p:cNvCxnSpPr>
              <p:nvPr/>
            </p:nvCxnSpPr>
            <p:spPr>
              <a:xfrm>
                <a:off x="1242988" y="3828514"/>
                <a:ext cx="0" cy="100358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1E0A8A17-9D9C-4133-88CF-EBC6F502EAD3}"/>
                  </a:ext>
                </a:extLst>
              </p:cNvPr>
              <p:cNvSpPr txBox="1"/>
              <p:nvPr/>
            </p:nvSpPr>
            <p:spPr>
              <a:xfrm>
                <a:off x="1313605" y="3918005"/>
                <a:ext cx="1214448" cy="1107996"/>
              </a:xfrm>
              <a:prstGeom prst="rect">
                <a:avLst/>
              </a:prstGeom>
              <a:noFill/>
            </p:spPr>
            <p:txBody>
              <a:bodyPr wrap="square" lIns="0" tIns="0" rIns="0" bIns="0" rtlCol="0">
                <a:spAutoFit/>
              </a:bodyPr>
              <a:lstStyle/>
              <a:p>
                <a:pPr>
                  <a:spcBef>
                    <a:spcPts val="600"/>
                  </a:spcBef>
                  <a:spcAft>
                    <a:spcPts val="600"/>
                  </a:spcAft>
                  <a:buSzPct val="100000"/>
                </a:pPr>
                <a:r>
                  <a:rPr lang="en-US" sz="1100" b="1" dirty="0">
                    <a:solidFill>
                      <a:schemeClr val="accent3"/>
                    </a:solidFill>
                  </a:rPr>
                  <a:t>April</a:t>
                </a:r>
              </a:p>
              <a:p>
                <a:pPr>
                  <a:spcAft>
                    <a:spcPts val="600"/>
                  </a:spcAft>
                </a:pPr>
                <a:r>
                  <a:rPr lang="en-US" sz="800" b="1" dirty="0">
                    <a:solidFill>
                      <a:schemeClr val="accent3"/>
                    </a:solidFill>
                  </a:rPr>
                  <a:t>Non-conventional Energy Sources wing was transferred to </a:t>
                </a:r>
                <a:r>
                  <a:rPr lang="en-US" sz="800" b="1" dirty="0" err="1">
                    <a:solidFill>
                      <a:schemeClr val="accent3"/>
                    </a:solidFill>
                  </a:rPr>
                  <a:t>DoP</a:t>
                </a:r>
                <a:r>
                  <a:rPr lang="en-US" sz="800" b="1" dirty="0">
                    <a:solidFill>
                      <a:schemeClr val="accent3"/>
                    </a:solidFill>
                  </a:rPr>
                  <a:t> from the Department of Science &amp; Technology </a:t>
                </a:r>
              </a:p>
            </p:txBody>
          </p:sp>
          <p:sp>
            <p:nvSpPr>
              <p:cNvPr id="101" name="TextBox 100">
                <a:extLst>
                  <a:ext uri="{FF2B5EF4-FFF2-40B4-BE49-F238E27FC236}">
                    <a16:creationId xmlns:a16="http://schemas.microsoft.com/office/drawing/2014/main" id="{D6758610-E433-4A71-A473-C9AA30575D05}"/>
                  </a:ext>
                </a:extLst>
              </p:cNvPr>
              <p:cNvSpPr txBox="1"/>
              <p:nvPr/>
            </p:nvSpPr>
            <p:spPr>
              <a:xfrm rot="16200000">
                <a:off x="286730" y="4464370"/>
                <a:ext cx="969202" cy="215444"/>
              </a:xfrm>
              <a:prstGeom prst="rect">
                <a:avLst/>
              </a:prstGeom>
              <a:noFill/>
            </p:spPr>
            <p:txBody>
              <a:bodyPr wrap="square" lIns="0" tIns="0" rIns="0" bIns="0" rtlCol="0">
                <a:spAutoFit/>
              </a:bodyPr>
              <a:lstStyle/>
              <a:p>
                <a:pPr algn="r">
                  <a:spcBef>
                    <a:spcPts val="600"/>
                  </a:spcBef>
                  <a:buSzPct val="100000"/>
                </a:pPr>
                <a:r>
                  <a:rPr lang="en-GB" sz="1400" b="1" dirty="0">
                    <a:solidFill>
                      <a:schemeClr val="accent3"/>
                    </a:solidFill>
                  </a:rPr>
                  <a:t>2001</a:t>
                </a:r>
                <a:endParaRPr lang="en-GB" sz="800" dirty="0">
                  <a:solidFill>
                    <a:schemeClr val="accent3"/>
                  </a:solidFill>
                </a:endParaRPr>
              </a:p>
            </p:txBody>
          </p:sp>
        </p:grpSp>
        <p:grpSp>
          <p:nvGrpSpPr>
            <p:cNvPr id="109" name="Group 108">
              <a:extLst>
                <a:ext uri="{FF2B5EF4-FFF2-40B4-BE49-F238E27FC236}">
                  <a16:creationId xmlns:a16="http://schemas.microsoft.com/office/drawing/2014/main" id="{29DDBC24-BC9A-4CA5-8B89-C19D3928320F}"/>
                </a:ext>
              </a:extLst>
            </p:cNvPr>
            <p:cNvGrpSpPr/>
            <p:nvPr/>
          </p:nvGrpSpPr>
          <p:grpSpPr>
            <a:xfrm>
              <a:off x="8554307" y="1204408"/>
              <a:ext cx="1877255" cy="2506243"/>
              <a:chOff x="9064672" y="2554743"/>
              <a:chExt cx="1877255" cy="2506243"/>
            </a:xfrm>
          </p:grpSpPr>
          <p:grpSp>
            <p:nvGrpSpPr>
              <p:cNvPr id="102" name="Group 101">
                <a:extLst>
                  <a:ext uri="{FF2B5EF4-FFF2-40B4-BE49-F238E27FC236}">
                    <a16:creationId xmlns:a16="http://schemas.microsoft.com/office/drawing/2014/main" id="{79487374-C546-45C2-8D90-3D7D6C5E79C1}"/>
                  </a:ext>
                </a:extLst>
              </p:cNvPr>
              <p:cNvGrpSpPr/>
              <p:nvPr/>
            </p:nvGrpSpPr>
            <p:grpSpPr>
              <a:xfrm>
                <a:off x="9064672" y="2554743"/>
                <a:ext cx="1877255" cy="2506243"/>
                <a:chOff x="3334016" y="2570252"/>
                <a:chExt cx="1877255" cy="2506243"/>
              </a:xfrm>
            </p:grpSpPr>
            <p:sp>
              <p:nvSpPr>
                <p:cNvPr id="103" name="Oval 102">
                  <a:extLst>
                    <a:ext uri="{FF2B5EF4-FFF2-40B4-BE49-F238E27FC236}">
                      <a16:creationId xmlns:a16="http://schemas.microsoft.com/office/drawing/2014/main" id="{490838DE-6B7B-40B0-88AA-552F81CD6433}"/>
                    </a:ext>
                  </a:extLst>
                </p:cNvPr>
                <p:cNvSpPr/>
                <p:nvPr/>
              </p:nvSpPr>
              <p:spPr bwMode="gray">
                <a:xfrm>
                  <a:off x="3334016" y="3504448"/>
                  <a:ext cx="542207" cy="542207"/>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104" name="Oval 103">
                  <a:extLst>
                    <a:ext uri="{FF2B5EF4-FFF2-40B4-BE49-F238E27FC236}">
                      <a16:creationId xmlns:a16="http://schemas.microsoft.com/office/drawing/2014/main" id="{64E5FAFF-8133-4D65-8D4D-A71DD2CE8F2F}"/>
                    </a:ext>
                  </a:extLst>
                </p:cNvPr>
                <p:cNvSpPr/>
                <p:nvPr/>
              </p:nvSpPr>
              <p:spPr bwMode="gray">
                <a:xfrm>
                  <a:off x="4070754" y="3702787"/>
                  <a:ext cx="145529" cy="145529"/>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105" name="TextBox 104">
                  <a:extLst>
                    <a:ext uri="{FF2B5EF4-FFF2-40B4-BE49-F238E27FC236}">
                      <a16:creationId xmlns:a16="http://schemas.microsoft.com/office/drawing/2014/main" id="{A55919AB-F83B-40A8-A7AC-31488072B8EC}"/>
                    </a:ext>
                  </a:extLst>
                </p:cNvPr>
                <p:cNvSpPr txBox="1"/>
                <p:nvPr/>
              </p:nvSpPr>
              <p:spPr>
                <a:xfrm>
                  <a:off x="4195917" y="2570252"/>
                  <a:ext cx="1015354" cy="738664"/>
                </a:xfrm>
                <a:prstGeom prst="rect">
                  <a:avLst/>
                </a:prstGeom>
                <a:noFill/>
              </p:spPr>
              <p:txBody>
                <a:bodyPr wrap="square" lIns="0" tIns="0" rIns="0" bIns="0" rtlCol="0">
                  <a:spAutoFit/>
                </a:bodyPr>
                <a:lstStyle/>
                <a:p>
                  <a:pPr>
                    <a:spcBef>
                      <a:spcPts val="600"/>
                    </a:spcBef>
                    <a:buSzPct val="100000"/>
                  </a:pPr>
                  <a:r>
                    <a:rPr lang="en-US" sz="800" b="1" dirty="0">
                      <a:solidFill>
                        <a:schemeClr val="accent1"/>
                      </a:solidFill>
                    </a:rPr>
                    <a:t>Reforms initiated in WB with unbundling of WBSEB into WBSEDCL and WBSETCL</a:t>
                  </a:r>
                </a:p>
              </p:txBody>
            </p:sp>
            <p:sp>
              <p:nvSpPr>
                <p:cNvPr id="106" name="TextBox 105">
                  <a:extLst>
                    <a:ext uri="{FF2B5EF4-FFF2-40B4-BE49-F238E27FC236}">
                      <a16:creationId xmlns:a16="http://schemas.microsoft.com/office/drawing/2014/main" id="{2C5BD36F-1DBF-4A6C-8735-0B9A493B01BB}"/>
                    </a:ext>
                  </a:extLst>
                </p:cNvPr>
                <p:cNvSpPr txBox="1"/>
                <p:nvPr/>
              </p:nvSpPr>
              <p:spPr>
                <a:xfrm rot="16200000">
                  <a:off x="3150336" y="4484172"/>
                  <a:ext cx="969202" cy="215444"/>
                </a:xfrm>
                <a:prstGeom prst="rect">
                  <a:avLst/>
                </a:prstGeom>
                <a:noFill/>
              </p:spPr>
              <p:txBody>
                <a:bodyPr wrap="square" lIns="0" tIns="0" rIns="0" bIns="0" rtlCol="0">
                  <a:spAutoFit/>
                </a:bodyPr>
                <a:lstStyle/>
                <a:p>
                  <a:pPr algn="r">
                    <a:spcBef>
                      <a:spcPts val="600"/>
                    </a:spcBef>
                    <a:buSzPct val="100000"/>
                  </a:pPr>
                  <a:r>
                    <a:rPr lang="en-GB" sz="1400" b="1" dirty="0">
                      <a:solidFill>
                        <a:schemeClr val="accent1"/>
                      </a:solidFill>
                    </a:rPr>
                    <a:t>2007</a:t>
                  </a:r>
                </a:p>
              </p:txBody>
            </p:sp>
          </p:grpSp>
          <p:cxnSp>
            <p:nvCxnSpPr>
              <p:cNvPr id="108" name="Straight Connector 107">
                <a:extLst>
                  <a:ext uri="{FF2B5EF4-FFF2-40B4-BE49-F238E27FC236}">
                    <a16:creationId xmlns:a16="http://schemas.microsoft.com/office/drawing/2014/main" id="{45B12594-FA29-4536-8C11-F0D48E77CA76}"/>
                  </a:ext>
                </a:extLst>
              </p:cNvPr>
              <p:cNvCxnSpPr>
                <a:cxnSpLocks/>
              </p:cNvCxnSpPr>
              <p:nvPr/>
            </p:nvCxnSpPr>
            <p:spPr>
              <a:xfrm flipV="1">
                <a:off x="9874174" y="2567914"/>
                <a:ext cx="0" cy="120763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10" name="Group 109">
              <a:extLst>
                <a:ext uri="{FF2B5EF4-FFF2-40B4-BE49-F238E27FC236}">
                  <a16:creationId xmlns:a16="http://schemas.microsoft.com/office/drawing/2014/main" id="{53A38DB2-880E-465E-A1F0-3C7D3341DED9}"/>
                </a:ext>
              </a:extLst>
            </p:cNvPr>
            <p:cNvGrpSpPr/>
            <p:nvPr/>
          </p:nvGrpSpPr>
          <p:grpSpPr>
            <a:xfrm>
              <a:off x="9973769" y="2127771"/>
              <a:ext cx="1967958" cy="1572047"/>
              <a:chOff x="496346" y="3484646"/>
              <a:chExt cx="1967958" cy="1572047"/>
            </a:xfrm>
          </p:grpSpPr>
          <p:sp>
            <p:nvSpPr>
              <p:cNvPr id="111" name="Oval 110">
                <a:extLst>
                  <a:ext uri="{FF2B5EF4-FFF2-40B4-BE49-F238E27FC236}">
                    <a16:creationId xmlns:a16="http://schemas.microsoft.com/office/drawing/2014/main" id="{06A04700-D337-48C5-BDF3-6E8E6DC7EEB1}"/>
                  </a:ext>
                </a:extLst>
              </p:cNvPr>
              <p:cNvSpPr/>
              <p:nvPr/>
            </p:nvSpPr>
            <p:spPr bwMode="gray">
              <a:xfrm>
                <a:off x="496346" y="3484646"/>
                <a:ext cx="542207" cy="542207"/>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112" name="Oval 111">
                <a:extLst>
                  <a:ext uri="{FF2B5EF4-FFF2-40B4-BE49-F238E27FC236}">
                    <a16:creationId xmlns:a16="http://schemas.microsoft.com/office/drawing/2014/main" id="{822759F8-BA01-4FA4-A9F8-8DE5C2AC624D}"/>
                  </a:ext>
                </a:extLst>
              </p:cNvPr>
              <p:cNvSpPr/>
              <p:nvPr/>
            </p:nvSpPr>
            <p:spPr bwMode="gray">
              <a:xfrm>
                <a:off x="1170224" y="3682985"/>
                <a:ext cx="145529" cy="145529"/>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cxnSp>
            <p:nvCxnSpPr>
              <p:cNvPr id="113" name="Straight Connector 112">
                <a:extLst>
                  <a:ext uri="{FF2B5EF4-FFF2-40B4-BE49-F238E27FC236}">
                    <a16:creationId xmlns:a16="http://schemas.microsoft.com/office/drawing/2014/main" id="{319DF801-EFB5-4B01-BF23-EBF784379035}"/>
                  </a:ext>
                </a:extLst>
              </p:cNvPr>
              <p:cNvCxnSpPr>
                <a:cxnSpLocks/>
              </p:cNvCxnSpPr>
              <p:nvPr/>
            </p:nvCxnSpPr>
            <p:spPr>
              <a:xfrm>
                <a:off x="1242988" y="3828514"/>
                <a:ext cx="0" cy="100358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E8E09FD4-E0EE-4EBA-89F8-A867C7E15024}"/>
                  </a:ext>
                </a:extLst>
              </p:cNvPr>
              <p:cNvSpPr txBox="1"/>
              <p:nvPr/>
            </p:nvSpPr>
            <p:spPr>
              <a:xfrm>
                <a:off x="1334437" y="3957936"/>
                <a:ext cx="1129867" cy="861774"/>
              </a:xfrm>
              <a:prstGeom prst="rect">
                <a:avLst/>
              </a:prstGeom>
              <a:noFill/>
            </p:spPr>
            <p:txBody>
              <a:bodyPr wrap="square" lIns="0" tIns="0" rIns="0" bIns="0" rtlCol="0">
                <a:spAutoFit/>
              </a:bodyPr>
              <a:lstStyle/>
              <a:p>
                <a:pPr>
                  <a:spcBef>
                    <a:spcPts val="600"/>
                  </a:spcBef>
                  <a:spcAft>
                    <a:spcPts val="600"/>
                  </a:spcAft>
                  <a:buSzPct val="100000"/>
                </a:pPr>
                <a:r>
                  <a:rPr lang="en-US" sz="800" b="1" dirty="0">
                    <a:solidFill>
                      <a:schemeClr val="accent3"/>
                    </a:solidFill>
                  </a:rPr>
                  <a:t>Merger of DPL announced with WBSEDCL and WBSETCL for distribution and transmission assets respectively</a:t>
                </a:r>
              </a:p>
            </p:txBody>
          </p:sp>
          <p:sp>
            <p:nvSpPr>
              <p:cNvPr id="115" name="TextBox 114">
                <a:extLst>
                  <a:ext uri="{FF2B5EF4-FFF2-40B4-BE49-F238E27FC236}">
                    <a16:creationId xmlns:a16="http://schemas.microsoft.com/office/drawing/2014/main" id="{18E0C2D0-A03D-44C5-BA16-7D5B02830B99}"/>
                  </a:ext>
                </a:extLst>
              </p:cNvPr>
              <p:cNvSpPr txBox="1"/>
              <p:nvPr/>
            </p:nvSpPr>
            <p:spPr>
              <a:xfrm rot="16200000">
                <a:off x="286730" y="4464370"/>
                <a:ext cx="969202" cy="215444"/>
              </a:xfrm>
              <a:prstGeom prst="rect">
                <a:avLst/>
              </a:prstGeom>
              <a:noFill/>
            </p:spPr>
            <p:txBody>
              <a:bodyPr wrap="square" lIns="0" tIns="0" rIns="0" bIns="0" rtlCol="0">
                <a:spAutoFit/>
              </a:bodyPr>
              <a:lstStyle/>
              <a:p>
                <a:pPr algn="r">
                  <a:spcBef>
                    <a:spcPts val="600"/>
                  </a:spcBef>
                  <a:buSzPct val="100000"/>
                </a:pPr>
                <a:r>
                  <a:rPr lang="en-GB" sz="1400" b="1" dirty="0">
                    <a:solidFill>
                      <a:schemeClr val="accent3"/>
                    </a:solidFill>
                  </a:rPr>
                  <a:t>2017</a:t>
                </a:r>
                <a:endParaRPr lang="en-GB" sz="800" dirty="0">
                  <a:solidFill>
                    <a:schemeClr val="accent3"/>
                  </a:solidFill>
                </a:endParaRPr>
              </a:p>
            </p:txBody>
          </p:sp>
        </p:grpSp>
      </p:grpSp>
      <p:sp>
        <p:nvSpPr>
          <p:cNvPr id="117" name="Rectangle 116">
            <a:extLst>
              <a:ext uri="{FF2B5EF4-FFF2-40B4-BE49-F238E27FC236}">
                <a16:creationId xmlns:a16="http://schemas.microsoft.com/office/drawing/2014/main" id="{326CFE87-25B8-45A9-BE9F-112629DE16D1}"/>
              </a:ext>
            </a:extLst>
          </p:cNvPr>
          <p:cNvSpPr/>
          <p:nvPr/>
        </p:nvSpPr>
        <p:spPr bwMode="gray">
          <a:xfrm>
            <a:off x="501651" y="1036639"/>
            <a:ext cx="11332721" cy="299533"/>
          </a:xfrm>
          <a:prstGeom prst="rect">
            <a:avLst/>
          </a:prstGeom>
          <a:solidFill>
            <a:schemeClr val="accent5"/>
          </a:solidFill>
          <a:ln w="19050" algn="ctr">
            <a:noFill/>
            <a:miter lim="800000"/>
            <a:headEnd/>
            <a:tailEnd/>
          </a:ln>
        </p:spPr>
        <p:txBody>
          <a:bodyPr wrap="square" lIns="88900" tIns="88900" rIns="88900" bIns="88900" rtlCol="0" anchor="ctr"/>
          <a:lstStyle/>
          <a:p>
            <a:pPr algn="ctr" defTabSz="914400" eaLnBrk="0" fontAlgn="base" hangingPunct="0">
              <a:lnSpc>
                <a:spcPct val="106000"/>
              </a:lnSpc>
              <a:spcBef>
                <a:spcPct val="0"/>
              </a:spcBef>
              <a:spcAft>
                <a:spcPct val="0"/>
              </a:spcAft>
              <a:defRPr/>
            </a:pPr>
            <a:r>
              <a:rPr lang="en-US" sz="1200" b="1" dirty="0">
                <a:solidFill>
                  <a:prstClr val="white"/>
                </a:solidFill>
                <a:latin typeface="Verdana"/>
                <a:cs typeface="Arial" panose="020B0604020202020204" pitchFamily="34" charset="0"/>
              </a:rPr>
              <a:t>Evolution of Power Sector in West Bengal</a:t>
            </a:r>
            <a:endParaRPr lang="en-IN" sz="1200" b="1" dirty="0">
              <a:solidFill>
                <a:prstClr val="white"/>
              </a:solidFill>
              <a:latin typeface="Verdana"/>
              <a:cs typeface="Arial" panose="020B0604020202020204" pitchFamily="34" charset="0"/>
            </a:endParaRPr>
          </a:p>
        </p:txBody>
      </p:sp>
      <p:sp>
        <p:nvSpPr>
          <p:cNvPr id="118" name="Rectangle 117">
            <a:extLst>
              <a:ext uri="{FF2B5EF4-FFF2-40B4-BE49-F238E27FC236}">
                <a16:creationId xmlns:a16="http://schemas.microsoft.com/office/drawing/2014/main" id="{27937D48-5DCD-4B01-BECE-4459FE8C46C5}"/>
              </a:ext>
            </a:extLst>
          </p:cNvPr>
          <p:cNvSpPr/>
          <p:nvPr/>
        </p:nvSpPr>
        <p:spPr bwMode="gray">
          <a:xfrm>
            <a:off x="494745" y="4100664"/>
            <a:ext cx="11332720" cy="299533"/>
          </a:xfrm>
          <a:prstGeom prst="rect">
            <a:avLst/>
          </a:prstGeom>
          <a:solidFill>
            <a:schemeClr val="accent5"/>
          </a:solidFill>
          <a:ln w="19050" algn="ctr">
            <a:noFill/>
            <a:miter lim="800000"/>
            <a:headEnd/>
            <a:tailEnd/>
          </a:ln>
        </p:spPr>
        <p:txBody>
          <a:bodyPr wrap="square" lIns="88900" tIns="88900" rIns="88900" bIns="88900" rtlCol="0" anchor="ctr"/>
          <a:lstStyle/>
          <a:p>
            <a:pPr algn="ctr" defTabSz="914400" eaLnBrk="0" fontAlgn="base" hangingPunct="0">
              <a:lnSpc>
                <a:spcPct val="106000"/>
              </a:lnSpc>
              <a:spcBef>
                <a:spcPct val="0"/>
              </a:spcBef>
              <a:spcAft>
                <a:spcPct val="0"/>
              </a:spcAft>
              <a:defRPr/>
            </a:pPr>
            <a:r>
              <a:rPr lang="en-US" sz="1200" b="1" dirty="0">
                <a:solidFill>
                  <a:prstClr val="white"/>
                </a:solidFill>
                <a:latin typeface="Verdana"/>
                <a:cs typeface="Arial" panose="020B0604020202020204" pitchFamily="34" charset="0"/>
              </a:rPr>
              <a:t>Key Achievements of the Power Sector of West Bengal</a:t>
            </a:r>
            <a:endParaRPr lang="en-IN" sz="1200" b="1" dirty="0">
              <a:solidFill>
                <a:prstClr val="white"/>
              </a:solidFill>
              <a:latin typeface="Verdana"/>
              <a:cs typeface="Arial" panose="020B0604020202020204" pitchFamily="34" charset="0"/>
            </a:endParaRPr>
          </a:p>
        </p:txBody>
      </p:sp>
      <p:graphicFrame>
        <p:nvGraphicFramePr>
          <p:cNvPr id="220" name="Chart 219">
            <a:extLst>
              <a:ext uri="{FF2B5EF4-FFF2-40B4-BE49-F238E27FC236}">
                <a16:creationId xmlns:a16="http://schemas.microsoft.com/office/drawing/2014/main" id="{58D609A8-A5B4-4BB7-8B94-11BBFF505EB1}"/>
              </a:ext>
            </a:extLst>
          </p:cNvPr>
          <p:cNvGraphicFramePr/>
          <p:nvPr>
            <p:custDataLst>
              <p:tags r:id="rId3"/>
            </p:custDataLst>
            <p:extLst>
              <p:ext uri="{D42A27DB-BD31-4B8C-83A1-F6EECF244321}">
                <p14:modId xmlns:p14="http://schemas.microsoft.com/office/powerpoint/2010/main" val="133092437"/>
              </p:ext>
            </p:extLst>
          </p:nvPr>
        </p:nvGraphicFramePr>
        <p:xfrm>
          <a:off x="8174219" y="5063953"/>
          <a:ext cx="3455987" cy="1157287"/>
        </p:xfrm>
        <a:graphic>
          <a:graphicData uri="http://schemas.openxmlformats.org/drawingml/2006/chart">
            <c:chart xmlns:c="http://schemas.openxmlformats.org/drawingml/2006/chart" xmlns:r="http://schemas.openxmlformats.org/officeDocument/2006/relationships" r:id="rId41"/>
          </a:graphicData>
        </a:graphic>
      </p:graphicFrame>
      <p:sp useBgFill="1">
        <p:nvSpPr>
          <p:cNvPr id="213" name="Freeform: Shape 212">
            <a:extLst>
              <a:ext uri="{FF2B5EF4-FFF2-40B4-BE49-F238E27FC236}">
                <a16:creationId xmlns:a16="http://schemas.microsoft.com/office/drawing/2014/main" id="{37FC626C-0210-4F2C-8CF9-59F46F61C939}"/>
              </a:ext>
            </a:extLst>
          </p:cNvPr>
          <p:cNvSpPr/>
          <p:nvPr>
            <p:custDataLst>
              <p:tags r:id="rId4"/>
            </p:custDataLst>
          </p:nvPr>
        </p:nvSpPr>
        <p:spPr bwMode="auto">
          <a:xfrm>
            <a:off x="9306106" y="6065663"/>
            <a:ext cx="96839" cy="146050"/>
          </a:xfrm>
          <a:custGeom>
            <a:avLst/>
            <a:gdLst/>
            <a:ahLst/>
            <a:cxnLst/>
            <a:rect l="0" t="0" r="0" b="0"/>
            <a:pathLst>
              <a:path w="96839" h="146051">
                <a:moveTo>
                  <a:pt x="96838" y="0"/>
                </a:moveTo>
                <a:lnTo>
                  <a:pt x="57150" y="146050"/>
                </a:lnTo>
                <a:lnTo>
                  <a:pt x="0" y="146050"/>
                </a:lnTo>
                <a:lnTo>
                  <a:pt x="39688" y="0"/>
                </a:lnTo>
                <a:close/>
              </a:path>
            </a:pathLst>
          </a:custGeom>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useBgFill="1">
        <p:nvSpPr>
          <p:cNvPr id="216" name="Freeform: Shape 215">
            <a:extLst>
              <a:ext uri="{FF2B5EF4-FFF2-40B4-BE49-F238E27FC236}">
                <a16:creationId xmlns:a16="http://schemas.microsoft.com/office/drawing/2014/main" id="{DD137FC0-BCE5-4BF1-9204-3B9722CD7C2C}"/>
              </a:ext>
            </a:extLst>
          </p:cNvPr>
          <p:cNvSpPr/>
          <p:nvPr>
            <p:custDataLst>
              <p:tags r:id="rId5"/>
            </p:custDataLst>
          </p:nvPr>
        </p:nvSpPr>
        <p:spPr bwMode="auto">
          <a:xfrm>
            <a:off x="10403067" y="6065663"/>
            <a:ext cx="96838" cy="146050"/>
          </a:xfrm>
          <a:custGeom>
            <a:avLst/>
            <a:gdLst/>
            <a:ahLst/>
            <a:cxnLst/>
            <a:rect l="0" t="0" r="0" b="0"/>
            <a:pathLst>
              <a:path w="96838" h="146051">
                <a:moveTo>
                  <a:pt x="96837" y="0"/>
                </a:moveTo>
                <a:lnTo>
                  <a:pt x="57150" y="146050"/>
                </a:lnTo>
                <a:lnTo>
                  <a:pt x="0" y="146050"/>
                </a:lnTo>
                <a:lnTo>
                  <a:pt x="39687" y="0"/>
                </a:lnTo>
                <a:close/>
              </a:path>
            </a:pathLst>
          </a:custGeom>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11" name="Freeform: Shape 210">
            <a:extLst>
              <a:ext uri="{FF2B5EF4-FFF2-40B4-BE49-F238E27FC236}">
                <a16:creationId xmlns:a16="http://schemas.microsoft.com/office/drawing/2014/main" id="{90269886-1CAF-41AF-8BA2-0B2689BE7B48}"/>
              </a:ext>
            </a:extLst>
          </p:cNvPr>
          <p:cNvSpPr/>
          <p:nvPr>
            <p:custDataLst>
              <p:tags r:id="rId6"/>
            </p:custDataLst>
          </p:nvPr>
        </p:nvSpPr>
        <p:spPr bwMode="auto">
          <a:xfrm>
            <a:off x="9306106" y="6065663"/>
            <a:ext cx="39689" cy="146050"/>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2" name="Freeform: Shape 211">
            <a:extLst>
              <a:ext uri="{FF2B5EF4-FFF2-40B4-BE49-F238E27FC236}">
                <a16:creationId xmlns:a16="http://schemas.microsoft.com/office/drawing/2014/main" id="{B891D9F3-3C07-4581-95F9-76A5EAB0D791}"/>
              </a:ext>
            </a:extLst>
          </p:cNvPr>
          <p:cNvSpPr/>
          <p:nvPr>
            <p:custDataLst>
              <p:tags r:id="rId7"/>
            </p:custDataLst>
          </p:nvPr>
        </p:nvSpPr>
        <p:spPr bwMode="auto">
          <a:xfrm>
            <a:off x="9363256" y="6065663"/>
            <a:ext cx="39689" cy="146050"/>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4" name="Freeform: Shape 213">
            <a:extLst>
              <a:ext uri="{FF2B5EF4-FFF2-40B4-BE49-F238E27FC236}">
                <a16:creationId xmlns:a16="http://schemas.microsoft.com/office/drawing/2014/main" id="{F9B8C21E-D028-4C23-9C83-8241976E8FF3}"/>
              </a:ext>
            </a:extLst>
          </p:cNvPr>
          <p:cNvSpPr/>
          <p:nvPr>
            <p:custDataLst>
              <p:tags r:id="rId8"/>
            </p:custDataLst>
          </p:nvPr>
        </p:nvSpPr>
        <p:spPr bwMode="auto">
          <a:xfrm>
            <a:off x="10403067" y="6065663"/>
            <a:ext cx="39688" cy="146050"/>
          </a:xfrm>
          <a:custGeom>
            <a:avLst/>
            <a:gdLst/>
            <a:ahLst/>
            <a:cxnLst/>
            <a:rect l="0" t="0" r="0" b="0"/>
            <a:pathLst>
              <a:path w="39688" h="146051">
                <a:moveTo>
                  <a:pt x="39687"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5" name="Freeform: Shape 214">
            <a:extLst>
              <a:ext uri="{FF2B5EF4-FFF2-40B4-BE49-F238E27FC236}">
                <a16:creationId xmlns:a16="http://schemas.microsoft.com/office/drawing/2014/main" id="{FE980F96-B56F-4776-8E4E-7D80627318ED}"/>
              </a:ext>
            </a:extLst>
          </p:cNvPr>
          <p:cNvSpPr/>
          <p:nvPr>
            <p:custDataLst>
              <p:tags r:id="rId9"/>
            </p:custDataLst>
          </p:nvPr>
        </p:nvSpPr>
        <p:spPr bwMode="auto">
          <a:xfrm>
            <a:off x="10460217" y="6065663"/>
            <a:ext cx="39688" cy="146050"/>
          </a:xfrm>
          <a:custGeom>
            <a:avLst/>
            <a:gdLst/>
            <a:ahLst/>
            <a:cxnLst/>
            <a:rect l="0" t="0" r="0" b="0"/>
            <a:pathLst>
              <a:path w="39688" h="146051">
                <a:moveTo>
                  <a:pt x="39687"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2" name="Text Placeholder 18">
            <a:extLst>
              <a:ext uri="{FF2B5EF4-FFF2-40B4-BE49-F238E27FC236}">
                <a16:creationId xmlns:a16="http://schemas.microsoft.com/office/drawing/2014/main" id="{A4D43E33-A2D1-4703-903D-2B68FFE9737F}"/>
              </a:ext>
            </a:extLst>
          </p:cNvPr>
          <p:cNvSpPr>
            <a:spLocks noGrp="1"/>
          </p:cNvSpPr>
          <p:nvPr>
            <p:custDataLst>
              <p:tags r:id="rId10"/>
            </p:custDataLst>
          </p:nvPr>
        </p:nvSpPr>
        <p:spPr bwMode="auto">
          <a:xfrm>
            <a:off x="9739492" y="6224413"/>
            <a:ext cx="3254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r>
              <a:rPr lang="en-US" altLang="en-US" sz="1000" dirty="0"/>
              <a:t>2015-16</a:t>
            </a:r>
            <a:endParaRPr lang="en-US" sz="1000" dirty="0"/>
          </a:p>
        </p:txBody>
      </p:sp>
      <p:sp>
        <p:nvSpPr>
          <p:cNvPr id="124" name="Text Placeholder 18">
            <a:extLst>
              <a:ext uri="{FF2B5EF4-FFF2-40B4-BE49-F238E27FC236}">
                <a16:creationId xmlns:a16="http://schemas.microsoft.com/office/drawing/2014/main" id="{DA639842-5AF6-44B1-9C9E-5EBB35E47391}"/>
              </a:ext>
            </a:extLst>
          </p:cNvPr>
          <p:cNvSpPr>
            <a:spLocks noGrp="1"/>
          </p:cNvSpPr>
          <p:nvPr>
            <p:custDataLst>
              <p:tags r:id="rId11"/>
            </p:custDataLst>
          </p:nvPr>
        </p:nvSpPr>
        <p:spPr bwMode="auto">
          <a:xfrm>
            <a:off x="8642529" y="6224413"/>
            <a:ext cx="3254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r>
              <a:rPr lang="en-US" sz="1000" dirty="0"/>
              <a:t>2005-06</a:t>
            </a:r>
          </a:p>
        </p:txBody>
      </p:sp>
      <p:sp>
        <p:nvSpPr>
          <p:cNvPr id="135" name="Text Placeholder 18">
            <a:extLst>
              <a:ext uri="{FF2B5EF4-FFF2-40B4-BE49-F238E27FC236}">
                <a16:creationId xmlns:a16="http://schemas.microsoft.com/office/drawing/2014/main" id="{1814BF03-3883-4DB5-B5DB-7E6FF2A2EFAF}"/>
              </a:ext>
            </a:extLst>
          </p:cNvPr>
          <p:cNvSpPr>
            <a:spLocks noGrp="1"/>
          </p:cNvSpPr>
          <p:nvPr>
            <p:custDataLst>
              <p:tags r:id="rId12"/>
            </p:custDataLst>
          </p:nvPr>
        </p:nvSpPr>
        <p:spPr bwMode="auto">
          <a:xfrm>
            <a:off x="10836454" y="6224413"/>
            <a:ext cx="3254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r>
              <a:rPr lang="en-US" altLang="en-US" sz="1000" dirty="0"/>
              <a:t>2019-20</a:t>
            </a:r>
            <a:endParaRPr lang="en-US" sz="1000" dirty="0"/>
          </a:p>
        </p:txBody>
      </p:sp>
      <p:sp>
        <p:nvSpPr>
          <p:cNvPr id="177" name="Text Placeholder 18">
            <a:extLst>
              <a:ext uri="{FF2B5EF4-FFF2-40B4-BE49-F238E27FC236}">
                <a16:creationId xmlns:a16="http://schemas.microsoft.com/office/drawing/2014/main" id="{81C395A5-37CF-496C-B149-3E1D739D6F2B}"/>
              </a:ext>
            </a:extLst>
          </p:cNvPr>
          <p:cNvSpPr>
            <a:spLocks noGrp="1"/>
          </p:cNvSpPr>
          <p:nvPr>
            <p:custDataLst>
              <p:tags r:id="rId13"/>
            </p:custDataLst>
          </p:nvPr>
        </p:nvSpPr>
        <p:spPr bwMode="gray">
          <a:xfrm>
            <a:off x="8571094" y="5440188"/>
            <a:ext cx="466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8EDF2C36-AEAB-4C96-90F2-128EB6BE904D}" type="datetime'5''2''''''''''''''''''''''''''''.''5''''''''''''''''''''%'''''">
              <a:rPr lang="en-US" altLang="en-US" sz="1000"/>
              <a:pPr/>
              <a:t>52.5%</a:t>
            </a:fld>
            <a:endParaRPr lang="en-US" sz="1000" dirty="0"/>
          </a:p>
        </p:txBody>
      </p:sp>
      <p:sp>
        <p:nvSpPr>
          <p:cNvPr id="187" name="Text Placeholder 18">
            <a:extLst>
              <a:ext uri="{FF2B5EF4-FFF2-40B4-BE49-F238E27FC236}">
                <a16:creationId xmlns:a16="http://schemas.microsoft.com/office/drawing/2014/main" id="{025A79D3-03CE-48D3-B852-4FF9BC21F330}"/>
              </a:ext>
            </a:extLst>
          </p:cNvPr>
          <p:cNvSpPr>
            <a:spLocks noGrp="1"/>
          </p:cNvSpPr>
          <p:nvPr>
            <p:custDataLst>
              <p:tags r:id="rId14"/>
            </p:custDataLst>
          </p:nvPr>
        </p:nvSpPr>
        <p:spPr bwMode="gray">
          <a:xfrm>
            <a:off x="9668056" y="5030613"/>
            <a:ext cx="466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9C1EB73F-030A-492D-82FC-189BFE7FC3EC}" type="datetime'''''''''''''9''3''''''''''''''''.''''''''''''''''7''%'">
              <a:rPr lang="en-US" altLang="en-US" sz="1000"/>
              <a:pPr algn="ctr">
                <a:spcBef>
                  <a:spcPct val="0"/>
                </a:spcBef>
                <a:spcAft>
                  <a:spcPct val="0"/>
                </a:spcAft>
              </a:pPr>
              <a:t>93.7%</a:t>
            </a:fld>
            <a:endParaRPr lang="en-US" sz="1000" dirty="0"/>
          </a:p>
        </p:txBody>
      </p:sp>
      <p:sp>
        <p:nvSpPr>
          <p:cNvPr id="188" name="Text Placeholder 18">
            <a:extLst>
              <a:ext uri="{FF2B5EF4-FFF2-40B4-BE49-F238E27FC236}">
                <a16:creationId xmlns:a16="http://schemas.microsoft.com/office/drawing/2014/main" id="{572C1449-A500-4F0E-BA8A-A591AD7525B5}"/>
              </a:ext>
            </a:extLst>
          </p:cNvPr>
          <p:cNvSpPr>
            <a:spLocks noGrp="1"/>
          </p:cNvSpPr>
          <p:nvPr>
            <p:custDataLst>
              <p:tags r:id="rId15"/>
            </p:custDataLst>
          </p:nvPr>
        </p:nvSpPr>
        <p:spPr bwMode="gray">
          <a:xfrm>
            <a:off x="10725329" y="4968701"/>
            <a:ext cx="54768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1D70E792-E41C-4CB2-A033-C7CF47021E39}" type="datetime'''''''''''''1''0''''''''''0''''''''''''.''''0''''''''''''%'">
              <a:rPr lang="en-US" altLang="en-US" sz="1000"/>
              <a:pPr algn="ctr">
                <a:spcBef>
                  <a:spcPct val="0"/>
                </a:spcBef>
                <a:spcAft>
                  <a:spcPct val="0"/>
                </a:spcAft>
              </a:pPr>
              <a:t>100.0%</a:t>
            </a:fld>
            <a:endParaRPr lang="en-US" sz="1000" dirty="0"/>
          </a:p>
        </p:txBody>
      </p:sp>
      <p:sp>
        <p:nvSpPr>
          <p:cNvPr id="200" name="Rectangle 199" hidden="1">
            <a:extLst>
              <a:ext uri="{FF2B5EF4-FFF2-40B4-BE49-F238E27FC236}">
                <a16:creationId xmlns:a16="http://schemas.microsoft.com/office/drawing/2014/main" id="{117E3909-F763-409E-85FD-869E37F971E3}"/>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1000" dirty="0">
              <a:solidFill>
                <a:schemeClr val="bg1"/>
              </a:solidFill>
              <a:latin typeface="Verdana" panose="020B0604030504040204" pitchFamily="34" charset="0"/>
            </a:endParaRPr>
          </a:p>
        </p:txBody>
      </p:sp>
      <p:sp>
        <p:nvSpPr>
          <p:cNvPr id="219" name="Rectangle 218">
            <a:extLst>
              <a:ext uri="{FF2B5EF4-FFF2-40B4-BE49-F238E27FC236}">
                <a16:creationId xmlns:a16="http://schemas.microsoft.com/office/drawing/2014/main" id="{0B840B44-06AC-4E7B-97CB-28E4A60D4AB8}"/>
              </a:ext>
            </a:extLst>
          </p:cNvPr>
          <p:cNvSpPr/>
          <p:nvPr/>
        </p:nvSpPr>
        <p:spPr bwMode="gray">
          <a:xfrm>
            <a:off x="8654220" y="4476340"/>
            <a:ext cx="2484855" cy="300737"/>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i="1" dirty="0">
                <a:solidFill>
                  <a:srgbClr val="009A44"/>
                </a:solidFill>
              </a:rPr>
              <a:t>West Bengal Electrification Ratio (%)</a:t>
            </a:r>
          </a:p>
        </p:txBody>
      </p:sp>
      <p:sp>
        <p:nvSpPr>
          <p:cNvPr id="257" name="Rectangle 256">
            <a:extLst>
              <a:ext uri="{FF2B5EF4-FFF2-40B4-BE49-F238E27FC236}">
                <a16:creationId xmlns:a16="http://schemas.microsoft.com/office/drawing/2014/main" id="{FA1DDBE0-15BD-4AF9-84F0-DE068B3FDC5D}"/>
              </a:ext>
            </a:extLst>
          </p:cNvPr>
          <p:cNvSpPr/>
          <p:nvPr>
            <p:custDataLst>
              <p:tags r:id="rId16"/>
            </p:custDataLst>
          </p:nvPr>
        </p:nvSpPr>
        <p:spPr bwMode="auto">
          <a:xfrm>
            <a:off x="1910477" y="6289225"/>
            <a:ext cx="179388" cy="13335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900" b="1" dirty="0">
              <a:solidFill>
                <a:schemeClr val="bg1"/>
              </a:solidFill>
            </a:endParaRPr>
          </a:p>
        </p:txBody>
      </p:sp>
      <p:sp>
        <p:nvSpPr>
          <p:cNvPr id="255" name="Rectangle 254">
            <a:extLst>
              <a:ext uri="{FF2B5EF4-FFF2-40B4-BE49-F238E27FC236}">
                <a16:creationId xmlns:a16="http://schemas.microsoft.com/office/drawing/2014/main" id="{A62BEBEE-1711-4DE2-BD60-45CDCDF0BD6B}"/>
              </a:ext>
            </a:extLst>
          </p:cNvPr>
          <p:cNvSpPr/>
          <p:nvPr>
            <p:custDataLst>
              <p:tags r:id="rId17"/>
            </p:custDataLst>
          </p:nvPr>
        </p:nvSpPr>
        <p:spPr bwMode="auto">
          <a:xfrm>
            <a:off x="1183112" y="6289225"/>
            <a:ext cx="179388" cy="133350"/>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900" b="1" dirty="0">
              <a:solidFill>
                <a:schemeClr val="bg1"/>
              </a:solidFill>
            </a:endParaRPr>
          </a:p>
        </p:txBody>
      </p:sp>
      <p:sp>
        <p:nvSpPr>
          <p:cNvPr id="256" name="Rectangle 255">
            <a:extLst>
              <a:ext uri="{FF2B5EF4-FFF2-40B4-BE49-F238E27FC236}">
                <a16:creationId xmlns:a16="http://schemas.microsoft.com/office/drawing/2014/main" id="{CE16EE5F-66B6-4B4D-B715-9E7926FC3C05}"/>
              </a:ext>
            </a:extLst>
          </p:cNvPr>
          <p:cNvSpPr/>
          <p:nvPr>
            <p:custDataLst>
              <p:tags r:id="rId18"/>
            </p:custDataLst>
          </p:nvPr>
        </p:nvSpPr>
        <p:spPr bwMode="auto">
          <a:xfrm>
            <a:off x="2770615" y="6289225"/>
            <a:ext cx="179388" cy="133350"/>
          </a:xfrm>
          <a:prstGeom prst="rect">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900" b="1" dirty="0">
              <a:solidFill>
                <a:schemeClr val="bg1"/>
              </a:solidFill>
            </a:endParaRPr>
          </a:p>
        </p:txBody>
      </p:sp>
      <p:sp>
        <p:nvSpPr>
          <p:cNvPr id="242" name="Text Placeholder 18">
            <a:extLst>
              <a:ext uri="{FF2B5EF4-FFF2-40B4-BE49-F238E27FC236}">
                <a16:creationId xmlns:a16="http://schemas.microsoft.com/office/drawing/2014/main" id="{74372FCB-E9D2-44AC-862E-8678B3D1C5CD}"/>
              </a:ext>
            </a:extLst>
          </p:cNvPr>
          <p:cNvSpPr>
            <a:spLocks noGrp="1"/>
          </p:cNvSpPr>
          <p:nvPr>
            <p:custDataLst>
              <p:tags r:id="rId19"/>
            </p:custDataLst>
          </p:nvPr>
        </p:nvSpPr>
        <p:spPr bwMode="auto">
          <a:xfrm>
            <a:off x="1413302" y="6284463"/>
            <a:ext cx="341313"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spcBef>
                <a:spcPct val="0"/>
              </a:spcBef>
              <a:spcAft>
                <a:spcPct val="0"/>
              </a:spcAft>
            </a:pPr>
            <a:fld id="{25A95A4A-1709-4615-BFA6-30ADD8D1779B}" type="datetime'''''''''''''S''''''''''t''''''''a''''''te'''''''''">
              <a:rPr lang="en-US" altLang="en-US" sz="900"/>
              <a:pPr/>
              <a:t>State</a:t>
            </a:fld>
            <a:endParaRPr lang="en-US" sz="900" dirty="0"/>
          </a:p>
        </p:txBody>
      </p:sp>
      <p:sp>
        <p:nvSpPr>
          <p:cNvPr id="243" name="Text Placeholder 18">
            <a:extLst>
              <a:ext uri="{FF2B5EF4-FFF2-40B4-BE49-F238E27FC236}">
                <a16:creationId xmlns:a16="http://schemas.microsoft.com/office/drawing/2014/main" id="{C4F3AB02-7E8B-4FE2-9C31-D3A5390181A6}"/>
              </a:ext>
            </a:extLst>
          </p:cNvPr>
          <p:cNvSpPr>
            <a:spLocks noGrp="1"/>
          </p:cNvSpPr>
          <p:nvPr>
            <p:custDataLst>
              <p:tags r:id="rId20"/>
            </p:custDataLst>
          </p:nvPr>
        </p:nvSpPr>
        <p:spPr bwMode="auto">
          <a:xfrm>
            <a:off x="3000805" y="6284463"/>
            <a:ext cx="442913"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spcBef>
                <a:spcPct val="0"/>
              </a:spcBef>
              <a:spcAft>
                <a:spcPct val="0"/>
              </a:spcAft>
            </a:pPr>
            <a:fld id="{1CDA6F52-67DB-4DBC-B2B8-9040C8041954}" type="datetime'''''P''r''i''''''''''''''''''''va''''''''''''t''''''e'''''''''">
              <a:rPr lang="en-US" altLang="en-US" sz="900"/>
              <a:pPr>
                <a:spcBef>
                  <a:spcPct val="0"/>
                </a:spcBef>
                <a:spcAft>
                  <a:spcPct val="0"/>
                </a:spcAft>
              </a:pPr>
              <a:t>Private</a:t>
            </a:fld>
            <a:endParaRPr lang="en-US" sz="900" dirty="0"/>
          </a:p>
        </p:txBody>
      </p:sp>
      <p:sp>
        <p:nvSpPr>
          <p:cNvPr id="244" name="Text Placeholder 18">
            <a:extLst>
              <a:ext uri="{FF2B5EF4-FFF2-40B4-BE49-F238E27FC236}">
                <a16:creationId xmlns:a16="http://schemas.microsoft.com/office/drawing/2014/main" id="{DA0F3E56-BBC3-4AA8-B1DE-1F380D7938EC}"/>
              </a:ext>
            </a:extLst>
          </p:cNvPr>
          <p:cNvSpPr>
            <a:spLocks noGrp="1"/>
          </p:cNvSpPr>
          <p:nvPr>
            <p:custDataLst>
              <p:tags r:id="rId21"/>
            </p:custDataLst>
          </p:nvPr>
        </p:nvSpPr>
        <p:spPr bwMode="auto">
          <a:xfrm>
            <a:off x="2140667" y="6284463"/>
            <a:ext cx="461963"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spcBef>
                <a:spcPct val="0"/>
              </a:spcBef>
              <a:spcAft>
                <a:spcPct val="0"/>
              </a:spcAft>
            </a:pPr>
            <a:fld id="{9EFF3B5D-3D6D-43FE-B7E2-FAADC3F499FA}" type="datetime'''''''''''''''''''''''C''e''''''nt''''''''r''al'''''''">
              <a:rPr lang="en-US" altLang="en-US" sz="900"/>
              <a:pPr>
                <a:spcBef>
                  <a:spcPct val="0"/>
                </a:spcBef>
                <a:spcAft>
                  <a:spcPct val="0"/>
                </a:spcAft>
              </a:pPr>
              <a:t>Central</a:t>
            </a:fld>
            <a:endParaRPr lang="en-US" sz="900" dirty="0"/>
          </a:p>
        </p:txBody>
      </p:sp>
      <p:sp>
        <p:nvSpPr>
          <p:cNvPr id="18" name="Rectangle 17" hidden="1">
            <a:extLst>
              <a:ext uri="{FF2B5EF4-FFF2-40B4-BE49-F238E27FC236}">
                <a16:creationId xmlns:a16="http://schemas.microsoft.com/office/drawing/2014/main" id="{77F3B2C9-702B-4817-BA0A-36D86E847CB1}"/>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1200" dirty="0">
              <a:solidFill>
                <a:schemeClr val="bg1"/>
              </a:solidFill>
            </a:endParaRPr>
          </a:p>
        </p:txBody>
      </p:sp>
      <p:sp>
        <p:nvSpPr>
          <p:cNvPr id="248" name="Rectangle 247">
            <a:extLst>
              <a:ext uri="{FF2B5EF4-FFF2-40B4-BE49-F238E27FC236}">
                <a16:creationId xmlns:a16="http://schemas.microsoft.com/office/drawing/2014/main" id="{4E34F48B-1013-4ADE-8159-5B642BE7E3B2}"/>
              </a:ext>
            </a:extLst>
          </p:cNvPr>
          <p:cNvSpPr/>
          <p:nvPr/>
        </p:nvSpPr>
        <p:spPr bwMode="gray">
          <a:xfrm>
            <a:off x="543893" y="4391320"/>
            <a:ext cx="3591501" cy="348104"/>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i="1" dirty="0">
                <a:solidFill>
                  <a:srgbClr val="009A44"/>
                </a:solidFill>
              </a:rPr>
              <a:t>West Bengal Installed Capacity Trend (MW)</a:t>
            </a:r>
          </a:p>
        </p:txBody>
      </p:sp>
      <p:sp>
        <p:nvSpPr>
          <p:cNvPr id="312" name="Rectangle 311">
            <a:extLst>
              <a:ext uri="{FF2B5EF4-FFF2-40B4-BE49-F238E27FC236}">
                <a16:creationId xmlns:a16="http://schemas.microsoft.com/office/drawing/2014/main" id="{51A59239-8E13-44D5-8504-400336E78681}"/>
              </a:ext>
            </a:extLst>
          </p:cNvPr>
          <p:cNvSpPr/>
          <p:nvPr/>
        </p:nvSpPr>
        <p:spPr bwMode="gray">
          <a:xfrm>
            <a:off x="4790513" y="4468626"/>
            <a:ext cx="2700177" cy="32504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i="1" dirty="0">
                <a:solidFill>
                  <a:srgbClr val="009A44"/>
                </a:solidFill>
              </a:rPr>
              <a:t>West Bengal Electricity Supply and % Deficit Trend</a:t>
            </a:r>
          </a:p>
        </p:txBody>
      </p:sp>
      <p:sp>
        <p:nvSpPr>
          <p:cNvPr id="119" name="TextBox 118">
            <a:extLst>
              <a:ext uri="{FF2B5EF4-FFF2-40B4-BE49-F238E27FC236}">
                <a16:creationId xmlns:a16="http://schemas.microsoft.com/office/drawing/2014/main" id="{107F46E2-475B-4AE5-BD9C-7CE01A08DAD7}"/>
              </a:ext>
            </a:extLst>
          </p:cNvPr>
          <p:cNvSpPr txBox="1"/>
          <p:nvPr/>
        </p:nvSpPr>
        <p:spPr>
          <a:xfrm>
            <a:off x="5400339" y="6667760"/>
            <a:ext cx="6108111" cy="123111"/>
          </a:xfrm>
          <a:prstGeom prst="rect">
            <a:avLst/>
          </a:prstGeom>
          <a:noFill/>
        </p:spPr>
        <p:txBody>
          <a:bodyPr wrap="square" lIns="0" tIns="0" rIns="0" bIns="0" rtlCol="0">
            <a:spAutoFit/>
          </a:bodyPr>
          <a:lstStyle/>
          <a:p>
            <a:pPr algn="r">
              <a:spcBef>
                <a:spcPts val="600"/>
              </a:spcBef>
              <a:buSzPct val="100000"/>
            </a:pPr>
            <a:r>
              <a:rPr lang="en-US" sz="800" i="1" dirty="0">
                <a:solidFill>
                  <a:srgbClr val="313131"/>
                </a:solidFill>
              </a:rPr>
              <a:t>Source: CEA, WBSEDCL Annual Reports, Deloitte research</a:t>
            </a:r>
          </a:p>
        </p:txBody>
      </p:sp>
      <p:graphicFrame>
        <p:nvGraphicFramePr>
          <p:cNvPr id="5" name="Chart 4">
            <a:extLst>
              <a:ext uri="{FF2B5EF4-FFF2-40B4-BE49-F238E27FC236}">
                <a16:creationId xmlns:a16="http://schemas.microsoft.com/office/drawing/2014/main" id="{66E75072-A350-4927-B0EC-BB38656824BE}"/>
              </a:ext>
            </a:extLst>
          </p:cNvPr>
          <p:cNvGraphicFramePr/>
          <p:nvPr>
            <p:extLst>
              <p:ext uri="{D42A27DB-BD31-4B8C-83A1-F6EECF244321}">
                <p14:modId xmlns:p14="http://schemas.microsoft.com/office/powerpoint/2010/main" val="1599292857"/>
              </p:ext>
            </p:extLst>
          </p:nvPr>
        </p:nvGraphicFramePr>
        <p:xfrm>
          <a:off x="652924" y="4624334"/>
          <a:ext cx="3373438" cy="1705568"/>
        </p:xfrm>
        <a:graphic>
          <a:graphicData uri="http://schemas.openxmlformats.org/drawingml/2006/chart">
            <c:chart xmlns:c="http://schemas.openxmlformats.org/drawingml/2006/chart" xmlns:r="http://schemas.openxmlformats.org/officeDocument/2006/relationships" r:id="rId42"/>
          </a:graphicData>
        </a:graphic>
      </p:graphicFrame>
      <p:grpSp>
        <p:nvGrpSpPr>
          <p:cNvPr id="10" name="Group 9">
            <a:extLst>
              <a:ext uri="{FF2B5EF4-FFF2-40B4-BE49-F238E27FC236}">
                <a16:creationId xmlns:a16="http://schemas.microsoft.com/office/drawing/2014/main" id="{D24849FF-5559-4761-B46A-72DC1A9A34B3}"/>
              </a:ext>
            </a:extLst>
          </p:cNvPr>
          <p:cNvGrpSpPr/>
          <p:nvPr/>
        </p:nvGrpSpPr>
        <p:grpSpPr>
          <a:xfrm>
            <a:off x="1759302" y="6066159"/>
            <a:ext cx="96839" cy="146050"/>
            <a:chOff x="1558925" y="6216650"/>
            <a:chExt cx="96839" cy="146050"/>
          </a:xfrm>
        </p:grpSpPr>
        <p:sp useBgFill="1">
          <p:nvSpPr>
            <p:cNvPr id="126" name="Freeform: Shape 125">
              <a:extLst>
                <a:ext uri="{FF2B5EF4-FFF2-40B4-BE49-F238E27FC236}">
                  <a16:creationId xmlns:a16="http://schemas.microsoft.com/office/drawing/2014/main" id="{77520AEC-0C95-4D1B-B3CC-EC2BD4BF0F80}"/>
                </a:ext>
              </a:extLst>
            </p:cNvPr>
            <p:cNvSpPr/>
            <p:nvPr>
              <p:custDataLst>
                <p:tags r:id="rId35"/>
              </p:custDataLst>
            </p:nvPr>
          </p:nvSpPr>
          <p:spPr bwMode="auto">
            <a:xfrm>
              <a:off x="1558925" y="6216650"/>
              <a:ext cx="96839" cy="146050"/>
            </a:xfrm>
            <a:custGeom>
              <a:avLst/>
              <a:gdLst/>
              <a:ahLst/>
              <a:cxnLst/>
              <a:rect l="0" t="0" r="0" b="0"/>
              <a:pathLst>
                <a:path w="96839" h="146051">
                  <a:moveTo>
                    <a:pt x="96838" y="0"/>
                  </a:moveTo>
                  <a:lnTo>
                    <a:pt x="57150" y="146050"/>
                  </a:lnTo>
                  <a:lnTo>
                    <a:pt x="0" y="146050"/>
                  </a:lnTo>
                  <a:lnTo>
                    <a:pt x="39688" y="0"/>
                  </a:lnTo>
                  <a:close/>
                </a:path>
              </a:pathLst>
            </a:custGeom>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27" name="Freeform: Shape 126">
              <a:extLst>
                <a:ext uri="{FF2B5EF4-FFF2-40B4-BE49-F238E27FC236}">
                  <a16:creationId xmlns:a16="http://schemas.microsoft.com/office/drawing/2014/main" id="{881CE108-7868-4F93-82EA-0DE22BA800BD}"/>
                </a:ext>
              </a:extLst>
            </p:cNvPr>
            <p:cNvSpPr/>
            <p:nvPr>
              <p:custDataLst>
                <p:tags r:id="rId36"/>
              </p:custDataLst>
            </p:nvPr>
          </p:nvSpPr>
          <p:spPr bwMode="auto">
            <a:xfrm>
              <a:off x="1558925" y="6216650"/>
              <a:ext cx="39689" cy="146050"/>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1" name="Freeform: Shape 130">
              <a:extLst>
                <a:ext uri="{FF2B5EF4-FFF2-40B4-BE49-F238E27FC236}">
                  <a16:creationId xmlns:a16="http://schemas.microsoft.com/office/drawing/2014/main" id="{985400F5-4920-44EB-8EA7-84D30ED20FFA}"/>
                </a:ext>
              </a:extLst>
            </p:cNvPr>
            <p:cNvSpPr/>
            <p:nvPr>
              <p:custDataLst>
                <p:tags r:id="rId37"/>
              </p:custDataLst>
            </p:nvPr>
          </p:nvSpPr>
          <p:spPr bwMode="auto">
            <a:xfrm>
              <a:off x="1616075" y="6216650"/>
              <a:ext cx="39689" cy="146050"/>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4" name="Group 133">
            <a:extLst>
              <a:ext uri="{FF2B5EF4-FFF2-40B4-BE49-F238E27FC236}">
                <a16:creationId xmlns:a16="http://schemas.microsoft.com/office/drawing/2014/main" id="{6E5E5E25-6AA5-4660-B884-18EB375544BB}"/>
              </a:ext>
            </a:extLst>
          </p:cNvPr>
          <p:cNvGrpSpPr/>
          <p:nvPr/>
        </p:nvGrpSpPr>
        <p:grpSpPr>
          <a:xfrm>
            <a:off x="2796285" y="6059535"/>
            <a:ext cx="96839" cy="146050"/>
            <a:chOff x="1558925" y="6216650"/>
            <a:chExt cx="96839" cy="146050"/>
          </a:xfrm>
        </p:grpSpPr>
        <p:sp useBgFill="1">
          <p:nvSpPr>
            <p:cNvPr id="137" name="Freeform: Shape 136">
              <a:extLst>
                <a:ext uri="{FF2B5EF4-FFF2-40B4-BE49-F238E27FC236}">
                  <a16:creationId xmlns:a16="http://schemas.microsoft.com/office/drawing/2014/main" id="{F766A340-09AB-4704-B785-11198C929AD6}"/>
                </a:ext>
              </a:extLst>
            </p:cNvPr>
            <p:cNvSpPr/>
            <p:nvPr>
              <p:custDataLst>
                <p:tags r:id="rId32"/>
              </p:custDataLst>
            </p:nvPr>
          </p:nvSpPr>
          <p:spPr bwMode="auto">
            <a:xfrm>
              <a:off x="1558925" y="6216650"/>
              <a:ext cx="96839" cy="146050"/>
            </a:xfrm>
            <a:custGeom>
              <a:avLst/>
              <a:gdLst/>
              <a:ahLst/>
              <a:cxnLst/>
              <a:rect l="0" t="0" r="0" b="0"/>
              <a:pathLst>
                <a:path w="96839" h="146051">
                  <a:moveTo>
                    <a:pt x="96838" y="0"/>
                  </a:moveTo>
                  <a:lnTo>
                    <a:pt x="57150" y="146050"/>
                  </a:lnTo>
                  <a:lnTo>
                    <a:pt x="0" y="146050"/>
                  </a:lnTo>
                  <a:lnTo>
                    <a:pt x="39688" y="0"/>
                  </a:lnTo>
                  <a:close/>
                </a:path>
              </a:pathLst>
            </a:custGeom>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8" name="Freeform: Shape 137">
              <a:extLst>
                <a:ext uri="{FF2B5EF4-FFF2-40B4-BE49-F238E27FC236}">
                  <a16:creationId xmlns:a16="http://schemas.microsoft.com/office/drawing/2014/main" id="{AA091330-9F53-4CC7-8F7D-5F204D024A86}"/>
                </a:ext>
              </a:extLst>
            </p:cNvPr>
            <p:cNvSpPr/>
            <p:nvPr>
              <p:custDataLst>
                <p:tags r:id="rId33"/>
              </p:custDataLst>
            </p:nvPr>
          </p:nvSpPr>
          <p:spPr bwMode="auto">
            <a:xfrm>
              <a:off x="1558925" y="6216650"/>
              <a:ext cx="39689" cy="146050"/>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9" name="Freeform: Shape 138">
              <a:extLst>
                <a:ext uri="{FF2B5EF4-FFF2-40B4-BE49-F238E27FC236}">
                  <a16:creationId xmlns:a16="http://schemas.microsoft.com/office/drawing/2014/main" id="{BB0EFEDB-57EB-4029-8105-70A631CA159E}"/>
                </a:ext>
              </a:extLst>
            </p:cNvPr>
            <p:cNvSpPr/>
            <p:nvPr>
              <p:custDataLst>
                <p:tags r:id="rId34"/>
              </p:custDataLst>
            </p:nvPr>
          </p:nvSpPr>
          <p:spPr bwMode="auto">
            <a:xfrm>
              <a:off x="1616075" y="6216650"/>
              <a:ext cx="39689" cy="146050"/>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140" name="Straight Connector 139">
            <a:extLst>
              <a:ext uri="{FF2B5EF4-FFF2-40B4-BE49-F238E27FC236}">
                <a16:creationId xmlns:a16="http://schemas.microsoft.com/office/drawing/2014/main" id="{CF4C322C-8D6F-4DFA-A1F0-814236156316}"/>
              </a:ext>
            </a:extLst>
          </p:cNvPr>
          <p:cNvCxnSpPr>
            <a:cxnSpLocks/>
          </p:cNvCxnSpPr>
          <p:nvPr>
            <p:custDataLst>
              <p:tags r:id="rId22"/>
            </p:custDataLst>
          </p:nvPr>
        </p:nvCxnSpPr>
        <p:spPr bwMode="auto">
          <a:xfrm flipV="1">
            <a:off x="1233287" y="4748305"/>
            <a:ext cx="2074337" cy="470303"/>
          </a:xfrm>
          <a:prstGeom prst="line">
            <a:avLst/>
          </a:prstGeom>
          <a:ln w="6350" cap="flat" cmpd="sng" algn="ctr">
            <a:solidFill>
              <a:schemeClr val="tx1"/>
            </a:solidFill>
            <a:prstDash val="solid"/>
            <a:round/>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41" name="Text Placeholder 18">
            <a:extLst>
              <a:ext uri="{FF2B5EF4-FFF2-40B4-BE49-F238E27FC236}">
                <a16:creationId xmlns:a16="http://schemas.microsoft.com/office/drawing/2014/main" id="{830D808E-3FE5-4A00-AA40-C6699DD2EA18}"/>
              </a:ext>
            </a:extLst>
          </p:cNvPr>
          <p:cNvSpPr>
            <a:spLocks noGrp="1"/>
          </p:cNvSpPr>
          <p:nvPr>
            <p:custDataLst>
              <p:tags r:id="rId23"/>
            </p:custDataLst>
          </p:nvPr>
        </p:nvSpPr>
        <p:spPr bwMode="auto">
          <a:xfrm rot="20826913">
            <a:off x="1579892" y="4882567"/>
            <a:ext cx="1381125" cy="215900"/>
          </a:xfrm>
          <a:prstGeom prst="ellipse">
            <a:avLst/>
          </a:prstGeom>
          <a:solidFill>
            <a:srgbClr val="FFFFFF"/>
          </a:solidFill>
          <a:ln w="9525" algn="ctr">
            <a:solidFill>
              <a:schemeClr val="tx1"/>
            </a:solidFill>
          </a:ln>
        </p:spPr>
        <p:txBody>
          <a:bodyPr vert="horz" wrap="none" lIns="0" tIns="0" rIns="0" bIns="0" numCol="1" spcCol="0" rtlCol="0" anchor="ctr"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r>
              <a:rPr lang="en-US" altLang="en-US" sz="1000" b="1" dirty="0"/>
              <a:t>5.4% CAGR</a:t>
            </a:r>
            <a:endParaRPr lang="en-US" sz="1000" b="1" dirty="0"/>
          </a:p>
        </p:txBody>
      </p:sp>
      <p:graphicFrame>
        <p:nvGraphicFramePr>
          <p:cNvPr id="17" name="Chart 16">
            <a:extLst>
              <a:ext uri="{FF2B5EF4-FFF2-40B4-BE49-F238E27FC236}">
                <a16:creationId xmlns:a16="http://schemas.microsoft.com/office/drawing/2014/main" id="{6419DB5F-3690-4AD1-B03E-28EF4763B9AE}"/>
              </a:ext>
            </a:extLst>
          </p:cNvPr>
          <p:cNvGraphicFramePr/>
          <p:nvPr>
            <p:extLst>
              <p:ext uri="{D42A27DB-BD31-4B8C-83A1-F6EECF244321}">
                <p14:modId xmlns:p14="http://schemas.microsoft.com/office/powerpoint/2010/main" val="3626578874"/>
              </p:ext>
            </p:extLst>
          </p:nvPr>
        </p:nvGraphicFramePr>
        <p:xfrm>
          <a:off x="4364195" y="4896101"/>
          <a:ext cx="3498800" cy="1848951"/>
        </p:xfrm>
        <a:graphic>
          <a:graphicData uri="http://schemas.openxmlformats.org/drawingml/2006/chart">
            <c:chart xmlns:c="http://schemas.openxmlformats.org/drawingml/2006/chart" xmlns:r="http://schemas.openxmlformats.org/officeDocument/2006/relationships" r:id="rId43"/>
          </a:graphicData>
        </a:graphic>
      </p:graphicFrame>
      <p:grpSp>
        <p:nvGrpSpPr>
          <p:cNvPr id="142" name="Group 141">
            <a:extLst>
              <a:ext uri="{FF2B5EF4-FFF2-40B4-BE49-F238E27FC236}">
                <a16:creationId xmlns:a16="http://schemas.microsoft.com/office/drawing/2014/main" id="{D6F270EC-D452-4E0C-ADFF-AC6CD0348CE8}"/>
              </a:ext>
            </a:extLst>
          </p:cNvPr>
          <p:cNvGrpSpPr/>
          <p:nvPr/>
        </p:nvGrpSpPr>
        <p:grpSpPr>
          <a:xfrm>
            <a:off x="5550843" y="6070779"/>
            <a:ext cx="96839" cy="146050"/>
            <a:chOff x="1558925" y="6216650"/>
            <a:chExt cx="96839" cy="146050"/>
          </a:xfrm>
        </p:grpSpPr>
        <p:sp useBgFill="1">
          <p:nvSpPr>
            <p:cNvPr id="143" name="Freeform: Shape 142">
              <a:extLst>
                <a:ext uri="{FF2B5EF4-FFF2-40B4-BE49-F238E27FC236}">
                  <a16:creationId xmlns:a16="http://schemas.microsoft.com/office/drawing/2014/main" id="{66992280-B6D5-4C6E-9F52-1148C871E311}"/>
                </a:ext>
              </a:extLst>
            </p:cNvPr>
            <p:cNvSpPr/>
            <p:nvPr>
              <p:custDataLst>
                <p:tags r:id="rId29"/>
              </p:custDataLst>
            </p:nvPr>
          </p:nvSpPr>
          <p:spPr bwMode="auto">
            <a:xfrm>
              <a:off x="1558925" y="6216650"/>
              <a:ext cx="96839" cy="146050"/>
            </a:xfrm>
            <a:custGeom>
              <a:avLst/>
              <a:gdLst/>
              <a:ahLst/>
              <a:cxnLst/>
              <a:rect l="0" t="0" r="0" b="0"/>
              <a:pathLst>
                <a:path w="96839" h="146051">
                  <a:moveTo>
                    <a:pt x="96838" y="0"/>
                  </a:moveTo>
                  <a:lnTo>
                    <a:pt x="57150" y="146050"/>
                  </a:lnTo>
                  <a:lnTo>
                    <a:pt x="0" y="146050"/>
                  </a:lnTo>
                  <a:lnTo>
                    <a:pt x="39688" y="0"/>
                  </a:lnTo>
                  <a:close/>
                </a:path>
              </a:pathLst>
            </a:custGeom>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4" name="Freeform: Shape 143">
              <a:extLst>
                <a:ext uri="{FF2B5EF4-FFF2-40B4-BE49-F238E27FC236}">
                  <a16:creationId xmlns:a16="http://schemas.microsoft.com/office/drawing/2014/main" id="{3AFB9755-77B0-4B7E-9A74-69CC8318A694}"/>
                </a:ext>
              </a:extLst>
            </p:cNvPr>
            <p:cNvSpPr/>
            <p:nvPr>
              <p:custDataLst>
                <p:tags r:id="rId30"/>
              </p:custDataLst>
            </p:nvPr>
          </p:nvSpPr>
          <p:spPr bwMode="auto">
            <a:xfrm>
              <a:off x="1558925" y="6216650"/>
              <a:ext cx="39689" cy="146050"/>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5" name="Freeform: Shape 144">
              <a:extLst>
                <a:ext uri="{FF2B5EF4-FFF2-40B4-BE49-F238E27FC236}">
                  <a16:creationId xmlns:a16="http://schemas.microsoft.com/office/drawing/2014/main" id="{B20274F2-9091-405B-8E4C-BADC6DA6EE35}"/>
                </a:ext>
              </a:extLst>
            </p:cNvPr>
            <p:cNvSpPr/>
            <p:nvPr>
              <p:custDataLst>
                <p:tags r:id="rId31"/>
              </p:custDataLst>
            </p:nvPr>
          </p:nvSpPr>
          <p:spPr bwMode="auto">
            <a:xfrm>
              <a:off x="1616075" y="6216650"/>
              <a:ext cx="39689" cy="146050"/>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6" name="Group 145">
            <a:extLst>
              <a:ext uri="{FF2B5EF4-FFF2-40B4-BE49-F238E27FC236}">
                <a16:creationId xmlns:a16="http://schemas.microsoft.com/office/drawing/2014/main" id="{F56B829A-C3A1-4A18-8907-211847F63516}"/>
              </a:ext>
            </a:extLst>
          </p:cNvPr>
          <p:cNvGrpSpPr/>
          <p:nvPr/>
        </p:nvGrpSpPr>
        <p:grpSpPr>
          <a:xfrm>
            <a:off x="6587826" y="6064155"/>
            <a:ext cx="96839" cy="146050"/>
            <a:chOff x="1558925" y="6216650"/>
            <a:chExt cx="96839" cy="146050"/>
          </a:xfrm>
        </p:grpSpPr>
        <p:sp useBgFill="1">
          <p:nvSpPr>
            <p:cNvPr id="147" name="Freeform: Shape 146">
              <a:extLst>
                <a:ext uri="{FF2B5EF4-FFF2-40B4-BE49-F238E27FC236}">
                  <a16:creationId xmlns:a16="http://schemas.microsoft.com/office/drawing/2014/main" id="{C1E4655E-E464-4C1F-9161-EE8AF2967EF7}"/>
                </a:ext>
              </a:extLst>
            </p:cNvPr>
            <p:cNvSpPr/>
            <p:nvPr>
              <p:custDataLst>
                <p:tags r:id="rId26"/>
              </p:custDataLst>
            </p:nvPr>
          </p:nvSpPr>
          <p:spPr bwMode="auto">
            <a:xfrm>
              <a:off x="1558925" y="6216650"/>
              <a:ext cx="96839" cy="146050"/>
            </a:xfrm>
            <a:custGeom>
              <a:avLst/>
              <a:gdLst/>
              <a:ahLst/>
              <a:cxnLst/>
              <a:rect l="0" t="0" r="0" b="0"/>
              <a:pathLst>
                <a:path w="96839" h="146051">
                  <a:moveTo>
                    <a:pt x="96838" y="0"/>
                  </a:moveTo>
                  <a:lnTo>
                    <a:pt x="57150" y="146050"/>
                  </a:lnTo>
                  <a:lnTo>
                    <a:pt x="0" y="146050"/>
                  </a:lnTo>
                  <a:lnTo>
                    <a:pt x="39688" y="0"/>
                  </a:lnTo>
                  <a:close/>
                </a:path>
              </a:pathLst>
            </a:custGeom>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8" name="Freeform: Shape 147">
              <a:extLst>
                <a:ext uri="{FF2B5EF4-FFF2-40B4-BE49-F238E27FC236}">
                  <a16:creationId xmlns:a16="http://schemas.microsoft.com/office/drawing/2014/main" id="{75355575-9606-4771-AFA1-5F81F67B9519}"/>
                </a:ext>
              </a:extLst>
            </p:cNvPr>
            <p:cNvSpPr/>
            <p:nvPr>
              <p:custDataLst>
                <p:tags r:id="rId27"/>
              </p:custDataLst>
            </p:nvPr>
          </p:nvSpPr>
          <p:spPr bwMode="auto">
            <a:xfrm>
              <a:off x="1558925" y="6216650"/>
              <a:ext cx="39689" cy="146050"/>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9" name="Freeform: Shape 148">
              <a:extLst>
                <a:ext uri="{FF2B5EF4-FFF2-40B4-BE49-F238E27FC236}">
                  <a16:creationId xmlns:a16="http://schemas.microsoft.com/office/drawing/2014/main" id="{979AE428-4B16-4AE9-950E-CF18C8D0D841}"/>
                </a:ext>
              </a:extLst>
            </p:cNvPr>
            <p:cNvSpPr/>
            <p:nvPr>
              <p:custDataLst>
                <p:tags r:id="rId28"/>
              </p:custDataLst>
            </p:nvPr>
          </p:nvSpPr>
          <p:spPr bwMode="auto">
            <a:xfrm>
              <a:off x="1616075" y="6216650"/>
              <a:ext cx="39689" cy="146050"/>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150" name="Straight Connector 149">
            <a:extLst>
              <a:ext uri="{FF2B5EF4-FFF2-40B4-BE49-F238E27FC236}">
                <a16:creationId xmlns:a16="http://schemas.microsoft.com/office/drawing/2014/main" id="{C03CDE67-F4E8-463C-8FFF-AB563143CB22}"/>
              </a:ext>
            </a:extLst>
          </p:cNvPr>
          <p:cNvCxnSpPr>
            <a:cxnSpLocks/>
          </p:cNvCxnSpPr>
          <p:nvPr>
            <p:custDataLst>
              <p:tags r:id="rId24"/>
            </p:custDataLst>
          </p:nvPr>
        </p:nvCxnSpPr>
        <p:spPr bwMode="auto">
          <a:xfrm flipV="1">
            <a:off x="4984139" y="4797070"/>
            <a:ext cx="2074337" cy="470303"/>
          </a:xfrm>
          <a:prstGeom prst="line">
            <a:avLst/>
          </a:prstGeom>
          <a:ln w="6350" cap="flat" cmpd="sng" algn="ctr">
            <a:solidFill>
              <a:schemeClr val="tx1"/>
            </a:solidFill>
            <a:prstDash val="solid"/>
            <a:round/>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51" name="Text Placeholder 18">
            <a:extLst>
              <a:ext uri="{FF2B5EF4-FFF2-40B4-BE49-F238E27FC236}">
                <a16:creationId xmlns:a16="http://schemas.microsoft.com/office/drawing/2014/main" id="{66C70543-1995-42CE-B951-0B9E63A4F515}"/>
              </a:ext>
            </a:extLst>
          </p:cNvPr>
          <p:cNvSpPr>
            <a:spLocks noGrp="1"/>
          </p:cNvSpPr>
          <p:nvPr>
            <p:custDataLst>
              <p:tags r:id="rId25"/>
            </p:custDataLst>
          </p:nvPr>
        </p:nvSpPr>
        <p:spPr bwMode="auto">
          <a:xfrm rot="20826913">
            <a:off x="5330744" y="4931332"/>
            <a:ext cx="1381125" cy="215900"/>
          </a:xfrm>
          <a:prstGeom prst="ellipse">
            <a:avLst/>
          </a:prstGeom>
          <a:solidFill>
            <a:srgbClr val="FFFFFF"/>
          </a:solidFill>
          <a:ln w="9525" algn="ctr">
            <a:solidFill>
              <a:schemeClr val="tx1"/>
            </a:solidFill>
          </a:ln>
        </p:spPr>
        <p:txBody>
          <a:bodyPr vert="horz" wrap="none" lIns="0" tIns="0" rIns="0" bIns="0" numCol="1" spcCol="0" rtlCol="0" anchor="ctr"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r>
              <a:rPr lang="en-US" altLang="en-US" sz="1000" b="1" dirty="0"/>
              <a:t>5.5% CAGR</a:t>
            </a:r>
            <a:endParaRPr lang="en-US" sz="1000" b="1" dirty="0"/>
          </a:p>
        </p:txBody>
      </p:sp>
    </p:spTree>
    <p:extLst>
      <p:ext uri="{BB962C8B-B14F-4D97-AF65-F5344CB8AC3E}">
        <p14:creationId xmlns:p14="http://schemas.microsoft.com/office/powerpoint/2010/main" val="2892276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extLst>
              <p:ext uri="{D42A27DB-BD31-4B8C-83A1-F6EECF244321}">
                <p14:modId xmlns:p14="http://schemas.microsoft.com/office/powerpoint/2010/main" val="1274838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70" imgH="469" progId="TCLayout.ActiveDocument.1">
                  <p:embed/>
                </p:oleObj>
              </mc:Choice>
              <mc:Fallback>
                <p:oleObj name="think-cell Slide" r:id="rId25" imgW="470" imgH="469" progId="TCLayout.ActiveDocument.1">
                  <p:embed/>
                  <p:pic>
                    <p:nvPicPr>
                      <p:cNvPr id="7" name="Object 6" hidden="1"/>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bwMode="gray">
          <a:xfrm>
            <a:off x="1" y="1"/>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defTabSz="899010">
              <a:spcBef>
                <a:spcPct val="0"/>
              </a:spcBef>
              <a:spcAft>
                <a:spcPct val="0"/>
              </a:spcAft>
              <a:defRPr/>
            </a:pPr>
            <a:endParaRPr lang="en-IN" sz="1000" dirty="0">
              <a:solidFill>
                <a:prstClr val="white"/>
              </a:solidFill>
              <a:latin typeface="Verdana" panose="020B0604030504040204" pitchFamily="34" charset="0"/>
              <a:sym typeface="Verdana" panose="020B0604030504040204" pitchFamily="34" charset="0"/>
            </a:endParaRPr>
          </a:p>
        </p:txBody>
      </p:sp>
      <p:sp>
        <p:nvSpPr>
          <p:cNvPr id="77" name="Title 3"/>
          <p:cNvSpPr>
            <a:spLocks noGrp="1"/>
          </p:cNvSpPr>
          <p:nvPr>
            <p:ph type="title"/>
          </p:nvPr>
        </p:nvSpPr>
        <p:spPr>
          <a:xfrm>
            <a:off x="501652" y="317504"/>
            <a:ext cx="11188700" cy="368299"/>
          </a:xfrm>
        </p:spPr>
        <p:txBody>
          <a:bodyPr vert="horz"/>
          <a:lstStyle/>
          <a:p>
            <a:pPr algn="just"/>
            <a:r>
              <a:rPr lang="en-US" sz="1800" b="0" i="0" dirty="0">
                <a:solidFill>
                  <a:schemeClr val="tx1"/>
                </a:solidFill>
              </a:rPr>
              <a:t>The growth in the sector has come amidst some challenges like high AT&amp;C losses, and regulatory asset build-up</a:t>
            </a:r>
          </a:p>
        </p:txBody>
      </p:sp>
      <p:sp>
        <p:nvSpPr>
          <p:cNvPr id="11" name="Rectangle 10">
            <a:extLst>
              <a:ext uri="{FF2B5EF4-FFF2-40B4-BE49-F238E27FC236}">
                <a16:creationId xmlns:a16="http://schemas.microsoft.com/office/drawing/2014/main" id="{6FFFF2FC-1AFC-40CB-8E4F-7015207357C7}"/>
              </a:ext>
            </a:extLst>
          </p:cNvPr>
          <p:cNvSpPr/>
          <p:nvPr/>
        </p:nvSpPr>
        <p:spPr bwMode="gray">
          <a:xfrm>
            <a:off x="501651" y="1036639"/>
            <a:ext cx="11332722" cy="299533"/>
          </a:xfrm>
          <a:prstGeom prst="rect">
            <a:avLst/>
          </a:prstGeom>
          <a:solidFill>
            <a:schemeClr val="accent5"/>
          </a:solidFill>
          <a:ln w="19050" algn="ctr">
            <a:noFill/>
            <a:miter lim="800000"/>
            <a:headEnd/>
            <a:tailEnd/>
          </a:ln>
        </p:spPr>
        <p:txBody>
          <a:bodyPr wrap="square" lIns="88900" tIns="88900" rIns="88900" bIns="88900" rtlCol="0" anchor="ctr"/>
          <a:lstStyle/>
          <a:p>
            <a:pPr algn="ctr" defTabSz="914400" eaLnBrk="0" fontAlgn="base" hangingPunct="0">
              <a:lnSpc>
                <a:spcPct val="106000"/>
              </a:lnSpc>
              <a:spcBef>
                <a:spcPct val="0"/>
              </a:spcBef>
              <a:spcAft>
                <a:spcPct val="0"/>
              </a:spcAft>
              <a:defRPr/>
            </a:pPr>
            <a:r>
              <a:rPr lang="en-US" sz="1200" b="1" dirty="0">
                <a:solidFill>
                  <a:prstClr val="white"/>
                </a:solidFill>
                <a:latin typeface="Verdana"/>
                <a:cs typeface="Arial" panose="020B0604020202020204" pitchFamily="34" charset="0"/>
              </a:rPr>
              <a:t>Key Sectoral Challenges</a:t>
            </a:r>
            <a:endParaRPr lang="en-IN" sz="1200" b="1" dirty="0">
              <a:solidFill>
                <a:prstClr val="white"/>
              </a:solidFill>
              <a:latin typeface="Verdana"/>
              <a:cs typeface="Arial" panose="020B0604020202020204" pitchFamily="34" charset="0"/>
            </a:endParaRPr>
          </a:p>
        </p:txBody>
      </p:sp>
      <p:sp>
        <p:nvSpPr>
          <p:cNvPr id="78" name="TextBox 77">
            <a:extLst>
              <a:ext uri="{FF2B5EF4-FFF2-40B4-BE49-F238E27FC236}">
                <a16:creationId xmlns:a16="http://schemas.microsoft.com/office/drawing/2014/main" id="{AD21EA53-5CC0-40F7-8F4E-A8F9E172E380}"/>
              </a:ext>
            </a:extLst>
          </p:cNvPr>
          <p:cNvSpPr txBox="1"/>
          <p:nvPr/>
        </p:nvSpPr>
        <p:spPr>
          <a:xfrm>
            <a:off x="5400339" y="6667760"/>
            <a:ext cx="6108111" cy="123111"/>
          </a:xfrm>
          <a:prstGeom prst="rect">
            <a:avLst/>
          </a:prstGeom>
          <a:noFill/>
        </p:spPr>
        <p:txBody>
          <a:bodyPr wrap="square" lIns="0" tIns="0" rIns="0" bIns="0" rtlCol="0">
            <a:spAutoFit/>
          </a:bodyPr>
          <a:lstStyle/>
          <a:p>
            <a:pPr algn="r">
              <a:spcBef>
                <a:spcPts val="600"/>
              </a:spcBef>
              <a:buSzPct val="100000"/>
            </a:pPr>
            <a:r>
              <a:rPr lang="en-US" sz="800" i="1" dirty="0">
                <a:solidFill>
                  <a:srgbClr val="313131"/>
                </a:solidFill>
              </a:rPr>
              <a:t>Source: PFC, WBSEDCL Annual Reports, Tariff Orders, Deloitte research</a:t>
            </a:r>
          </a:p>
        </p:txBody>
      </p:sp>
      <p:sp>
        <p:nvSpPr>
          <p:cNvPr id="79" name="Rectangle 78">
            <a:extLst>
              <a:ext uri="{FF2B5EF4-FFF2-40B4-BE49-F238E27FC236}">
                <a16:creationId xmlns:a16="http://schemas.microsoft.com/office/drawing/2014/main" id="{902295CC-26F5-44EB-845F-FB9EC412CF4A}"/>
              </a:ext>
            </a:extLst>
          </p:cNvPr>
          <p:cNvSpPr/>
          <p:nvPr/>
        </p:nvSpPr>
        <p:spPr bwMode="gray">
          <a:xfrm>
            <a:off x="501652" y="1336172"/>
            <a:ext cx="11332722" cy="1577151"/>
          </a:xfrm>
          <a:prstGeom prst="rect">
            <a:avLst/>
          </a:prstGeom>
          <a:solidFill>
            <a:schemeClr val="accent4">
              <a:alpha val="9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80" name="Group 376">
            <a:extLst>
              <a:ext uri="{FF2B5EF4-FFF2-40B4-BE49-F238E27FC236}">
                <a16:creationId xmlns:a16="http://schemas.microsoft.com/office/drawing/2014/main" id="{FCA645A8-3A9C-49A4-A86F-39FF8DA05A21}"/>
              </a:ext>
            </a:extLst>
          </p:cNvPr>
          <p:cNvGrpSpPr>
            <a:grpSpLocks noChangeAspect="1"/>
          </p:cNvGrpSpPr>
          <p:nvPr/>
        </p:nvGrpSpPr>
        <p:grpSpPr bwMode="auto">
          <a:xfrm>
            <a:off x="881329" y="1513634"/>
            <a:ext cx="750042" cy="750042"/>
            <a:chOff x="3466" y="2823"/>
            <a:chExt cx="340" cy="340"/>
          </a:xfrm>
          <a:solidFill>
            <a:schemeClr val="accent4"/>
          </a:solidFill>
        </p:grpSpPr>
        <p:sp>
          <p:nvSpPr>
            <p:cNvPr id="81" name="Freeform 377">
              <a:extLst>
                <a:ext uri="{FF2B5EF4-FFF2-40B4-BE49-F238E27FC236}">
                  <a16:creationId xmlns:a16="http://schemas.microsoft.com/office/drawing/2014/main" id="{7EEEE986-C748-4896-9DB5-6F1B00BDC5DC}"/>
                </a:ext>
              </a:extLst>
            </p:cNvPr>
            <p:cNvSpPr>
              <a:spLocks noEditPoints="1"/>
            </p:cNvSpPr>
            <p:nvPr/>
          </p:nvSpPr>
          <p:spPr bwMode="auto">
            <a:xfrm>
              <a:off x="3530" y="2915"/>
              <a:ext cx="212" cy="156"/>
            </a:xfrm>
            <a:custGeom>
              <a:avLst/>
              <a:gdLst>
                <a:gd name="T0" fmla="*/ 320 w 320"/>
                <a:gd name="T1" fmla="*/ 224 h 235"/>
                <a:gd name="T2" fmla="*/ 309 w 320"/>
                <a:gd name="T3" fmla="*/ 235 h 235"/>
                <a:gd name="T4" fmla="*/ 10 w 320"/>
                <a:gd name="T5" fmla="*/ 235 h 235"/>
                <a:gd name="T6" fmla="*/ 0 w 320"/>
                <a:gd name="T7" fmla="*/ 224 h 235"/>
                <a:gd name="T8" fmla="*/ 0 w 320"/>
                <a:gd name="T9" fmla="*/ 11 h 235"/>
                <a:gd name="T10" fmla="*/ 10 w 320"/>
                <a:gd name="T11" fmla="*/ 0 h 235"/>
                <a:gd name="T12" fmla="*/ 21 w 320"/>
                <a:gd name="T13" fmla="*/ 11 h 235"/>
                <a:gd name="T14" fmla="*/ 21 w 320"/>
                <a:gd name="T15" fmla="*/ 214 h 235"/>
                <a:gd name="T16" fmla="*/ 309 w 320"/>
                <a:gd name="T17" fmla="*/ 214 h 235"/>
                <a:gd name="T18" fmla="*/ 320 w 320"/>
                <a:gd name="T19" fmla="*/ 224 h 235"/>
                <a:gd name="T20" fmla="*/ 53 w 320"/>
                <a:gd name="T21" fmla="*/ 192 h 235"/>
                <a:gd name="T22" fmla="*/ 64 w 320"/>
                <a:gd name="T23" fmla="*/ 182 h 235"/>
                <a:gd name="T24" fmla="*/ 64 w 320"/>
                <a:gd name="T25" fmla="*/ 139 h 235"/>
                <a:gd name="T26" fmla="*/ 53 w 320"/>
                <a:gd name="T27" fmla="*/ 128 h 235"/>
                <a:gd name="T28" fmla="*/ 42 w 320"/>
                <a:gd name="T29" fmla="*/ 139 h 235"/>
                <a:gd name="T30" fmla="*/ 42 w 320"/>
                <a:gd name="T31" fmla="*/ 182 h 235"/>
                <a:gd name="T32" fmla="*/ 53 w 320"/>
                <a:gd name="T33" fmla="*/ 192 h 235"/>
                <a:gd name="T34" fmla="*/ 96 w 320"/>
                <a:gd name="T35" fmla="*/ 192 h 235"/>
                <a:gd name="T36" fmla="*/ 106 w 320"/>
                <a:gd name="T37" fmla="*/ 182 h 235"/>
                <a:gd name="T38" fmla="*/ 106 w 320"/>
                <a:gd name="T39" fmla="*/ 107 h 235"/>
                <a:gd name="T40" fmla="*/ 96 w 320"/>
                <a:gd name="T41" fmla="*/ 96 h 235"/>
                <a:gd name="T42" fmla="*/ 85 w 320"/>
                <a:gd name="T43" fmla="*/ 107 h 235"/>
                <a:gd name="T44" fmla="*/ 85 w 320"/>
                <a:gd name="T45" fmla="*/ 182 h 235"/>
                <a:gd name="T46" fmla="*/ 96 w 320"/>
                <a:gd name="T47" fmla="*/ 192 h 235"/>
                <a:gd name="T48" fmla="*/ 138 w 320"/>
                <a:gd name="T49" fmla="*/ 192 h 235"/>
                <a:gd name="T50" fmla="*/ 149 w 320"/>
                <a:gd name="T51" fmla="*/ 182 h 235"/>
                <a:gd name="T52" fmla="*/ 149 w 320"/>
                <a:gd name="T53" fmla="*/ 11 h 235"/>
                <a:gd name="T54" fmla="*/ 138 w 320"/>
                <a:gd name="T55" fmla="*/ 0 h 235"/>
                <a:gd name="T56" fmla="*/ 128 w 320"/>
                <a:gd name="T57" fmla="*/ 11 h 235"/>
                <a:gd name="T58" fmla="*/ 128 w 320"/>
                <a:gd name="T59" fmla="*/ 182 h 235"/>
                <a:gd name="T60" fmla="*/ 138 w 320"/>
                <a:gd name="T61" fmla="*/ 192 h 235"/>
                <a:gd name="T62" fmla="*/ 181 w 320"/>
                <a:gd name="T63" fmla="*/ 192 h 235"/>
                <a:gd name="T64" fmla="*/ 192 w 320"/>
                <a:gd name="T65" fmla="*/ 182 h 235"/>
                <a:gd name="T66" fmla="*/ 192 w 320"/>
                <a:gd name="T67" fmla="*/ 64 h 235"/>
                <a:gd name="T68" fmla="*/ 181 w 320"/>
                <a:gd name="T69" fmla="*/ 54 h 235"/>
                <a:gd name="T70" fmla="*/ 170 w 320"/>
                <a:gd name="T71" fmla="*/ 64 h 235"/>
                <a:gd name="T72" fmla="*/ 170 w 320"/>
                <a:gd name="T73" fmla="*/ 182 h 235"/>
                <a:gd name="T74" fmla="*/ 181 w 320"/>
                <a:gd name="T75" fmla="*/ 192 h 235"/>
                <a:gd name="T76" fmla="*/ 224 w 320"/>
                <a:gd name="T77" fmla="*/ 192 h 235"/>
                <a:gd name="T78" fmla="*/ 234 w 320"/>
                <a:gd name="T79" fmla="*/ 182 h 235"/>
                <a:gd name="T80" fmla="*/ 234 w 320"/>
                <a:gd name="T81" fmla="*/ 32 h 235"/>
                <a:gd name="T82" fmla="*/ 224 w 320"/>
                <a:gd name="T83" fmla="*/ 22 h 235"/>
                <a:gd name="T84" fmla="*/ 213 w 320"/>
                <a:gd name="T85" fmla="*/ 32 h 235"/>
                <a:gd name="T86" fmla="*/ 213 w 320"/>
                <a:gd name="T87" fmla="*/ 182 h 235"/>
                <a:gd name="T88" fmla="*/ 224 w 320"/>
                <a:gd name="T89" fmla="*/ 192 h 235"/>
                <a:gd name="T90" fmla="*/ 266 w 320"/>
                <a:gd name="T91" fmla="*/ 192 h 235"/>
                <a:gd name="T92" fmla="*/ 277 w 320"/>
                <a:gd name="T93" fmla="*/ 182 h 235"/>
                <a:gd name="T94" fmla="*/ 277 w 320"/>
                <a:gd name="T95" fmla="*/ 118 h 235"/>
                <a:gd name="T96" fmla="*/ 266 w 320"/>
                <a:gd name="T97" fmla="*/ 107 h 235"/>
                <a:gd name="T98" fmla="*/ 256 w 320"/>
                <a:gd name="T99" fmla="*/ 118 h 235"/>
                <a:gd name="T100" fmla="*/ 256 w 320"/>
                <a:gd name="T101" fmla="*/ 182 h 235"/>
                <a:gd name="T102" fmla="*/ 266 w 320"/>
                <a:gd name="T103" fmla="*/ 192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0" h="235">
                  <a:moveTo>
                    <a:pt x="320" y="224"/>
                  </a:moveTo>
                  <a:cubicBezTo>
                    <a:pt x="320" y="230"/>
                    <a:pt x="315" y="235"/>
                    <a:pt x="309" y="235"/>
                  </a:cubicBezTo>
                  <a:cubicBezTo>
                    <a:pt x="10" y="235"/>
                    <a:pt x="10" y="235"/>
                    <a:pt x="10" y="235"/>
                  </a:cubicBezTo>
                  <a:cubicBezTo>
                    <a:pt x="4" y="235"/>
                    <a:pt x="0" y="230"/>
                    <a:pt x="0" y="224"/>
                  </a:cubicBezTo>
                  <a:cubicBezTo>
                    <a:pt x="0" y="11"/>
                    <a:pt x="0" y="11"/>
                    <a:pt x="0" y="11"/>
                  </a:cubicBezTo>
                  <a:cubicBezTo>
                    <a:pt x="0" y="5"/>
                    <a:pt x="4" y="0"/>
                    <a:pt x="10" y="0"/>
                  </a:cubicBezTo>
                  <a:cubicBezTo>
                    <a:pt x="16" y="0"/>
                    <a:pt x="21" y="5"/>
                    <a:pt x="21" y="11"/>
                  </a:cubicBezTo>
                  <a:cubicBezTo>
                    <a:pt x="21" y="214"/>
                    <a:pt x="21" y="214"/>
                    <a:pt x="21" y="214"/>
                  </a:cubicBezTo>
                  <a:cubicBezTo>
                    <a:pt x="309" y="214"/>
                    <a:pt x="309" y="214"/>
                    <a:pt x="309" y="214"/>
                  </a:cubicBezTo>
                  <a:cubicBezTo>
                    <a:pt x="315" y="214"/>
                    <a:pt x="320" y="218"/>
                    <a:pt x="320" y="224"/>
                  </a:cubicBezTo>
                  <a:close/>
                  <a:moveTo>
                    <a:pt x="53" y="192"/>
                  </a:moveTo>
                  <a:cubicBezTo>
                    <a:pt x="59" y="192"/>
                    <a:pt x="64" y="188"/>
                    <a:pt x="64" y="182"/>
                  </a:cubicBezTo>
                  <a:cubicBezTo>
                    <a:pt x="64" y="139"/>
                    <a:pt x="64" y="139"/>
                    <a:pt x="64" y="139"/>
                  </a:cubicBezTo>
                  <a:cubicBezTo>
                    <a:pt x="64" y="133"/>
                    <a:pt x="59" y="128"/>
                    <a:pt x="53" y="128"/>
                  </a:cubicBezTo>
                  <a:cubicBezTo>
                    <a:pt x="47" y="128"/>
                    <a:pt x="42" y="133"/>
                    <a:pt x="42" y="139"/>
                  </a:cubicBezTo>
                  <a:cubicBezTo>
                    <a:pt x="42" y="182"/>
                    <a:pt x="42" y="182"/>
                    <a:pt x="42" y="182"/>
                  </a:cubicBezTo>
                  <a:cubicBezTo>
                    <a:pt x="42" y="188"/>
                    <a:pt x="47" y="192"/>
                    <a:pt x="53" y="192"/>
                  </a:cubicBezTo>
                  <a:close/>
                  <a:moveTo>
                    <a:pt x="96" y="192"/>
                  </a:moveTo>
                  <a:cubicBezTo>
                    <a:pt x="102" y="192"/>
                    <a:pt x="106" y="188"/>
                    <a:pt x="106" y="182"/>
                  </a:cubicBezTo>
                  <a:cubicBezTo>
                    <a:pt x="106" y="107"/>
                    <a:pt x="106" y="107"/>
                    <a:pt x="106" y="107"/>
                  </a:cubicBezTo>
                  <a:cubicBezTo>
                    <a:pt x="106" y="101"/>
                    <a:pt x="102" y="96"/>
                    <a:pt x="96" y="96"/>
                  </a:cubicBezTo>
                  <a:cubicBezTo>
                    <a:pt x="90" y="96"/>
                    <a:pt x="85" y="101"/>
                    <a:pt x="85" y="107"/>
                  </a:cubicBezTo>
                  <a:cubicBezTo>
                    <a:pt x="85" y="182"/>
                    <a:pt x="85" y="182"/>
                    <a:pt x="85" y="182"/>
                  </a:cubicBezTo>
                  <a:cubicBezTo>
                    <a:pt x="85" y="188"/>
                    <a:pt x="90" y="192"/>
                    <a:pt x="96" y="192"/>
                  </a:cubicBezTo>
                  <a:close/>
                  <a:moveTo>
                    <a:pt x="138" y="192"/>
                  </a:moveTo>
                  <a:cubicBezTo>
                    <a:pt x="144" y="192"/>
                    <a:pt x="149" y="188"/>
                    <a:pt x="149" y="182"/>
                  </a:cubicBezTo>
                  <a:cubicBezTo>
                    <a:pt x="149" y="11"/>
                    <a:pt x="149" y="11"/>
                    <a:pt x="149" y="11"/>
                  </a:cubicBezTo>
                  <a:cubicBezTo>
                    <a:pt x="149" y="5"/>
                    <a:pt x="144" y="0"/>
                    <a:pt x="138" y="0"/>
                  </a:cubicBezTo>
                  <a:cubicBezTo>
                    <a:pt x="132" y="0"/>
                    <a:pt x="128" y="5"/>
                    <a:pt x="128" y="11"/>
                  </a:cubicBezTo>
                  <a:cubicBezTo>
                    <a:pt x="128" y="182"/>
                    <a:pt x="128" y="182"/>
                    <a:pt x="128" y="182"/>
                  </a:cubicBezTo>
                  <a:cubicBezTo>
                    <a:pt x="128" y="188"/>
                    <a:pt x="132" y="192"/>
                    <a:pt x="138" y="192"/>
                  </a:cubicBezTo>
                  <a:close/>
                  <a:moveTo>
                    <a:pt x="181" y="192"/>
                  </a:moveTo>
                  <a:cubicBezTo>
                    <a:pt x="187" y="192"/>
                    <a:pt x="192" y="188"/>
                    <a:pt x="192" y="182"/>
                  </a:cubicBezTo>
                  <a:cubicBezTo>
                    <a:pt x="192" y="64"/>
                    <a:pt x="192" y="64"/>
                    <a:pt x="192" y="64"/>
                  </a:cubicBezTo>
                  <a:cubicBezTo>
                    <a:pt x="192" y="58"/>
                    <a:pt x="187" y="54"/>
                    <a:pt x="181" y="54"/>
                  </a:cubicBezTo>
                  <a:cubicBezTo>
                    <a:pt x="175" y="54"/>
                    <a:pt x="170" y="58"/>
                    <a:pt x="170" y="64"/>
                  </a:cubicBezTo>
                  <a:cubicBezTo>
                    <a:pt x="170" y="182"/>
                    <a:pt x="170" y="182"/>
                    <a:pt x="170" y="182"/>
                  </a:cubicBezTo>
                  <a:cubicBezTo>
                    <a:pt x="170" y="188"/>
                    <a:pt x="175" y="192"/>
                    <a:pt x="181" y="192"/>
                  </a:cubicBezTo>
                  <a:close/>
                  <a:moveTo>
                    <a:pt x="224" y="192"/>
                  </a:moveTo>
                  <a:cubicBezTo>
                    <a:pt x="230" y="192"/>
                    <a:pt x="234" y="188"/>
                    <a:pt x="234" y="182"/>
                  </a:cubicBezTo>
                  <a:cubicBezTo>
                    <a:pt x="234" y="32"/>
                    <a:pt x="234" y="32"/>
                    <a:pt x="234" y="32"/>
                  </a:cubicBezTo>
                  <a:cubicBezTo>
                    <a:pt x="234" y="26"/>
                    <a:pt x="230" y="22"/>
                    <a:pt x="224" y="22"/>
                  </a:cubicBezTo>
                  <a:cubicBezTo>
                    <a:pt x="218" y="22"/>
                    <a:pt x="213" y="26"/>
                    <a:pt x="213" y="32"/>
                  </a:cubicBezTo>
                  <a:cubicBezTo>
                    <a:pt x="213" y="182"/>
                    <a:pt x="213" y="182"/>
                    <a:pt x="213" y="182"/>
                  </a:cubicBezTo>
                  <a:cubicBezTo>
                    <a:pt x="213" y="188"/>
                    <a:pt x="218" y="192"/>
                    <a:pt x="224" y="192"/>
                  </a:cubicBezTo>
                  <a:close/>
                  <a:moveTo>
                    <a:pt x="266" y="192"/>
                  </a:moveTo>
                  <a:cubicBezTo>
                    <a:pt x="272" y="192"/>
                    <a:pt x="277" y="188"/>
                    <a:pt x="277" y="182"/>
                  </a:cubicBezTo>
                  <a:cubicBezTo>
                    <a:pt x="277" y="118"/>
                    <a:pt x="277" y="118"/>
                    <a:pt x="277" y="118"/>
                  </a:cubicBezTo>
                  <a:cubicBezTo>
                    <a:pt x="277" y="112"/>
                    <a:pt x="272" y="107"/>
                    <a:pt x="266" y="107"/>
                  </a:cubicBezTo>
                  <a:cubicBezTo>
                    <a:pt x="260" y="107"/>
                    <a:pt x="256" y="112"/>
                    <a:pt x="256" y="118"/>
                  </a:cubicBezTo>
                  <a:cubicBezTo>
                    <a:pt x="256" y="182"/>
                    <a:pt x="256" y="182"/>
                    <a:pt x="256" y="182"/>
                  </a:cubicBezTo>
                  <a:cubicBezTo>
                    <a:pt x="256" y="188"/>
                    <a:pt x="260" y="192"/>
                    <a:pt x="266" y="19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2" name="Freeform 378">
              <a:extLst>
                <a:ext uri="{FF2B5EF4-FFF2-40B4-BE49-F238E27FC236}">
                  <a16:creationId xmlns:a16="http://schemas.microsoft.com/office/drawing/2014/main" id="{E871B2A4-5AC1-4AB1-8369-2A791205093B}"/>
                </a:ext>
              </a:extLst>
            </p:cNvPr>
            <p:cNvSpPr>
              <a:spLocks noEditPoints="1"/>
            </p:cNvSpPr>
            <p:nvPr/>
          </p:nvSpPr>
          <p:spPr bwMode="auto">
            <a:xfrm>
              <a:off x="3466" y="282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87" name="Rectangle 86">
            <a:extLst>
              <a:ext uri="{FF2B5EF4-FFF2-40B4-BE49-F238E27FC236}">
                <a16:creationId xmlns:a16="http://schemas.microsoft.com/office/drawing/2014/main" id="{F7A57C8D-08E6-40A2-A696-F52E7B34526A}"/>
              </a:ext>
            </a:extLst>
          </p:cNvPr>
          <p:cNvSpPr/>
          <p:nvPr/>
        </p:nvSpPr>
        <p:spPr bwMode="gray">
          <a:xfrm>
            <a:off x="2017093" y="1589122"/>
            <a:ext cx="5784110" cy="1146395"/>
          </a:xfrm>
          <a:prstGeom prst="rect">
            <a:avLst/>
          </a:prstGeom>
          <a:noFill/>
          <a:ln w="19050" algn="ctr">
            <a:solidFill>
              <a:schemeClr val="accent4"/>
            </a:solidFill>
            <a:miter lim="800000"/>
            <a:headEnd/>
            <a:tailEnd/>
          </a:ln>
        </p:spPr>
        <p:txBody>
          <a:bodyPr wrap="square" lIns="88900" tIns="88900" rIns="88900" bIns="88900" rtlCol="0" anchor="ctr"/>
          <a:lstStyle/>
          <a:p>
            <a:pPr marL="171450" indent="-171450">
              <a:lnSpc>
                <a:spcPct val="106000"/>
              </a:lnSpc>
              <a:spcAft>
                <a:spcPts val="600"/>
              </a:spcAft>
              <a:buFont typeface="Arial" panose="020B0604020202020204" pitchFamily="34" charset="0"/>
              <a:buChar char="•"/>
            </a:pPr>
            <a:r>
              <a:rPr lang="en-US" sz="1100" dirty="0"/>
              <a:t>Though the AT&amp;C loss trajectory of the State has been improving since the last few years, it is still around 20% signifying scope for further improvement. </a:t>
            </a:r>
          </a:p>
          <a:p>
            <a:pPr marL="171450" indent="-171450">
              <a:lnSpc>
                <a:spcPct val="106000"/>
              </a:lnSpc>
              <a:spcAft>
                <a:spcPts val="600"/>
              </a:spcAft>
              <a:buFont typeface="Arial" panose="020B0604020202020204" pitchFamily="34" charset="0"/>
              <a:buChar char="•"/>
            </a:pPr>
            <a:r>
              <a:rPr lang="en-US" sz="1100" dirty="0"/>
              <a:t>As per the PFC’s </a:t>
            </a:r>
            <a:r>
              <a:rPr lang="en-US" sz="1100" i="1" dirty="0"/>
              <a:t>Report on Performance of State Power Utilities in FY18-19</a:t>
            </a:r>
            <a:r>
              <a:rPr lang="en-US" sz="1100" dirty="0"/>
              <a:t>, </a:t>
            </a:r>
            <a:r>
              <a:rPr lang="en-US" sz="1100" b="1" i="1" dirty="0"/>
              <a:t>West Bengal was ranked 16</a:t>
            </a:r>
            <a:r>
              <a:rPr lang="en-US" sz="1100" b="1" i="1" baseline="30000" dirty="0"/>
              <a:t>th</a:t>
            </a:r>
            <a:r>
              <a:rPr lang="en-US" sz="1100" b="1" i="1" dirty="0"/>
              <a:t> in terms of AT&amp;C Loss Performance</a:t>
            </a:r>
            <a:r>
              <a:rPr lang="en-US" sz="1100" dirty="0"/>
              <a:t>.</a:t>
            </a:r>
          </a:p>
        </p:txBody>
      </p:sp>
      <p:sp>
        <p:nvSpPr>
          <p:cNvPr id="88" name="Rectangle 87">
            <a:extLst>
              <a:ext uri="{FF2B5EF4-FFF2-40B4-BE49-F238E27FC236}">
                <a16:creationId xmlns:a16="http://schemas.microsoft.com/office/drawing/2014/main" id="{FE0FF199-A66F-4A4F-ADC9-7ED2F1A19293}"/>
              </a:ext>
            </a:extLst>
          </p:cNvPr>
          <p:cNvSpPr/>
          <p:nvPr/>
        </p:nvSpPr>
        <p:spPr bwMode="gray">
          <a:xfrm>
            <a:off x="518218" y="2441142"/>
            <a:ext cx="1476265" cy="21272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solidFill>
                  <a:schemeClr val="accent4"/>
                </a:solidFill>
              </a:rPr>
              <a:t>High AT&amp;C Loss</a:t>
            </a:r>
          </a:p>
        </p:txBody>
      </p:sp>
      <p:graphicFrame>
        <p:nvGraphicFramePr>
          <p:cNvPr id="89" name="Chart 88">
            <a:extLst>
              <a:ext uri="{FF2B5EF4-FFF2-40B4-BE49-F238E27FC236}">
                <a16:creationId xmlns:a16="http://schemas.microsoft.com/office/drawing/2014/main" id="{7A92A488-2B44-41DC-B96B-FE3D9A230848}"/>
              </a:ext>
            </a:extLst>
          </p:cNvPr>
          <p:cNvGraphicFramePr/>
          <p:nvPr>
            <p:custDataLst>
              <p:tags r:id="rId3"/>
            </p:custDataLst>
            <p:extLst>
              <p:ext uri="{D42A27DB-BD31-4B8C-83A1-F6EECF244321}">
                <p14:modId xmlns:p14="http://schemas.microsoft.com/office/powerpoint/2010/main" val="2860919032"/>
              </p:ext>
            </p:extLst>
          </p:nvPr>
        </p:nvGraphicFramePr>
        <p:xfrm>
          <a:off x="7869238" y="1677607"/>
          <a:ext cx="3903662" cy="927482"/>
        </p:xfrm>
        <a:graphic>
          <a:graphicData uri="http://schemas.openxmlformats.org/drawingml/2006/chart">
            <c:chart xmlns:c="http://schemas.openxmlformats.org/drawingml/2006/chart" xmlns:r="http://schemas.openxmlformats.org/officeDocument/2006/relationships" r:id="rId27"/>
          </a:graphicData>
        </a:graphic>
      </p:graphicFrame>
      <p:sp>
        <p:nvSpPr>
          <p:cNvPr id="91" name="Text Placeholder 18">
            <a:extLst>
              <a:ext uri="{FF2B5EF4-FFF2-40B4-BE49-F238E27FC236}">
                <a16:creationId xmlns:a16="http://schemas.microsoft.com/office/drawing/2014/main" id="{76E87864-800E-453C-B620-093D07463A3C}"/>
              </a:ext>
            </a:extLst>
          </p:cNvPr>
          <p:cNvSpPr>
            <a:spLocks noGrp="1"/>
          </p:cNvSpPr>
          <p:nvPr>
            <p:custDataLst>
              <p:tags r:id="rId4"/>
            </p:custDataLst>
          </p:nvPr>
        </p:nvSpPr>
        <p:spPr bwMode="auto">
          <a:xfrm>
            <a:off x="8147052" y="2608263"/>
            <a:ext cx="544513"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03E462AC-AD70-4159-98D2-C3508DF8BB2A}" type="datetime'''F''''''Y''''1''6''''''''''''-1''''''7'''''''''''''''''''''''">
              <a:rPr lang="en-US" altLang="en-US" sz="1000"/>
              <a:pPr/>
              <a:t>FY16-17</a:t>
            </a:fld>
            <a:endParaRPr lang="en-US" sz="1000" dirty="0"/>
          </a:p>
        </p:txBody>
      </p:sp>
      <p:sp>
        <p:nvSpPr>
          <p:cNvPr id="93" name="Text Placeholder 18">
            <a:extLst>
              <a:ext uri="{FF2B5EF4-FFF2-40B4-BE49-F238E27FC236}">
                <a16:creationId xmlns:a16="http://schemas.microsoft.com/office/drawing/2014/main" id="{8A3C2974-B54A-4D84-AFE7-3E2D10075093}"/>
              </a:ext>
            </a:extLst>
          </p:cNvPr>
          <p:cNvSpPr>
            <a:spLocks noGrp="1"/>
          </p:cNvSpPr>
          <p:nvPr>
            <p:custDataLst>
              <p:tags r:id="rId5"/>
            </p:custDataLst>
          </p:nvPr>
        </p:nvSpPr>
        <p:spPr bwMode="auto">
          <a:xfrm>
            <a:off x="9082090" y="2608263"/>
            <a:ext cx="544513"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DC8A73A5-1EF6-4E76-979E-EC30F1B1E103}" type="datetime'F''Y''''''''''''''''''1''7''''''''''-''''1''''''8'''''">
              <a:rPr lang="en-US" altLang="en-US" sz="1000"/>
              <a:pPr/>
              <a:t>FY17-18</a:t>
            </a:fld>
            <a:endParaRPr lang="en-US" sz="1000" dirty="0"/>
          </a:p>
        </p:txBody>
      </p:sp>
      <p:sp>
        <p:nvSpPr>
          <p:cNvPr id="94" name="Text Placeholder 18">
            <a:extLst>
              <a:ext uri="{FF2B5EF4-FFF2-40B4-BE49-F238E27FC236}">
                <a16:creationId xmlns:a16="http://schemas.microsoft.com/office/drawing/2014/main" id="{55F17B92-528C-4A9C-B45B-75A8FB200C31}"/>
              </a:ext>
            </a:extLst>
          </p:cNvPr>
          <p:cNvSpPr>
            <a:spLocks noGrp="1"/>
          </p:cNvSpPr>
          <p:nvPr>
            <p:custDataLst>
              <p:tags r:id="rId6"/>
            </p:custDataLst>
          </p:nvPr>
        </p:nvSpPr>
        <p:spPr bwMode="auto">
          <a:xfrm>
            <a:off x="10017127" y="2608263"/>
            <a:ext cx="544513"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17339B9C-4B1E-44F4-B3DC-6F1D48881A81}" type="datetime'''''''''''''''F''Y18''''-''''1''9'''''''">
              <a:rPr lang="en-US" altLang="en-US" sz="1000"/>
              <a:pPr/>
              <a:t>FY18-19</a:t>
            </a:fld>
            <a:endParaRPr lang="en-US" sz="1000" dirty="0"/>
          </a:p>
        </p:txBody>
      </p:sp>
      <p:sp>
        <p:nvSpPr>
          <p:cNvPr id="95" name="Text Placeholder 18">
            <a:extLst>
              <a:ext uri="{FF2B5EF4-FFF2-40B4-BE49-F238E27FC236}">
                <a16:creationId xmlns:a16="http://schemas.microsoft.com/office/drawing/2014/main" id="{0D38346B-7CBC-403C-993C-7B31E844E1A3}"/>
              </a:ext>
            </a:extLst>
          </p:cNvPr>
          <p:cNvSpPr>
            <a:spLocks noGrp="1"/>
          </p:cNvSpPr>
          <p:nvPr>
            <p:custDataLst>
              <p:tags r:id="rId7"/>
            </p:custDataLst>
          </p:nvPr>
        </p:nvSpPr>
        <p:spPr bwMode="auto">
          <a:xfrm>
            <a:off x="10950577" y="2608263"/>
            <a:ext cx="544513"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2924BC41-5C3E-42AB-A8CF-85A6FB43E7BB}" type="datetime'''''F''''''Y''''''''''1''''''9-''''''''''''''20'''''''''''">
              <a:rPr lang="en-US" altLang="en-US" sz="1000"/>
              <a:pPr/>
              <a:t>FY19-20</a:t>
            </a:fld>
            <a:endParaRPr lang="en-US" sz="1000" dirty="0"/>
          </a:p>
        </p:txBody>
      </p:sp>
      <p:sp>
        <p:nvSpPr>
          <p:cNvPr id="96" name="Text Placeholder 18">
            <a:extLst>
              <a:ext uri="{FF2B5EF4-FFF2-40B4-BE49-F238E27FC236}">
                <a16:creationId xmlns:a16="http://schemas.microsoft.com/office/drawing/2014/main" id="{BDAF154E-9BFA-4505-820F-F6F3DD513BC8}"/>
              </a:ext>
            </a:extLst>
          </p:cNvPr>
          <p:cNvSpPr>
            <a:spLocks noGrp="1"/>
          </p:cNvSpPr>
          <p:nvPr>
            <p:custDataLst>
              <p:tags r:id="rId8"/>
            </p:custDataLst>
          </p:nvPr>
        </p:nvSpPr>
        <p:spPr bwMode="gray">
          <a:xfrm>
            <a:off x="8185152" y="1632229"/>
            <a:ext cx="466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3D14E37E-A95A-449E-B557-00E881D87FD4}" type="datetime'''''''''''2''''''''''''7''''''.''''''''8%'''''''''''''''''''''">
              <a:rPr lang="en-US" altLang="en-US" sz="1000"/>
              <a:pPr algn="ctr">
                <a:spcBef>
                  <a:spcPct val="0"/>
                </a:spcBef>
                <a:spcAft>
                  <a:spcPct val="0"/>
                </a:spcAft>
              </a:pPr>
              <a:t>27.8%</a:t>
            </a:fld>
            <a:endParaRPr lang="en-US" sz="1000" dirty="0"/>
          </a:p>
        </p:txBody>
      </p:sp>
      <p:sp>
        <p:nvSpPr>
          <p:cNvPr id="97" name="Text Placeholder 18">
            <a:extLst>
              <a:ext uri="{FF2B5EF4-FFF2-40B4-BE49-F238E27FC236}">
                <a16:creationId xmlns:a16="http://schemas.microsoft.com/office/drawing/2014/main" id="{E045DA92-60BC-41E5-8D97-B25C7F5BB24D}"/>
              </a:ext>
            </a:extLst>
          </p:cNvPr>
          <p:cNvSpPr>
            <a:spLocks noGrp="1"/>
          </p:cNvSpPr>
          <p:nvPr>
            <p:custDataLst>
              <p:tags r:id="rId9"/>
            </p:custDataLst>
          </p:nvPr>
        </p:nvSpPr>
        <p:spPr bwMode="gray">
          <a:xfrm>
            <a:off x="9120190" y="1649692"/>
            <a:ext cx="466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97BB5355-306C-4C12-BE45-80C64277F27A}" type="datetime'''''''''''''''2''''''6''''''''''''''''.''''7''%'''''''''''''">
              <a:rPr lang="en-US" altLang="en-US" sz="1000"/>
              <a:pPr algn="ctr">
                <a:spcBef>
                  <a:spcPct val="0"/>
                </a:spcBef>
                <a:spcAft>
                  <a:spcPct val="0"/>
                </a:spcAft>
              </a:pPr>
              <a:t>26.7%</a:t>
            </a:fld>
            <a:endParaRPr lang="en-US" sz="1000" dirty="0"/>
          </a:p>
        </p:txBody>
      </p:sp>
      <p:sp>
        <p:nvSpPr>
          <p:cNvPr id="98" name="Text Placeholder 18">
            <a:extLst>
              <a:ext uri="{FF2B5EF4-FFF2-40B4-BE49-F238E27FC236}">
                <a16:creationId xmlns:a16="http://schemas.microsoft.com/office/drawing/2014/main" id="{67FC1AE9-2F31-488C-AB62-A6CCBE4EDCFB}"/>
              </a:ext>
            </a:extLst>
          </p:cNvPr>
          <p:cNvSpPr>
            <a:spLocks noGrp="1"/>
          </p:cNvSpPr>
          <p:nvPr>
            <p:custDataLst>
              <p:tags r:id="rId10"/>
            </p:custDataLst>
          </p:nvPr>
        </p:nvSpPr>
        <p:spPr bwMode="gray">
          <a:xfrm>
            <a:off x="10055227" y="1703667"/>
            <a:ext cx="466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C64F587E-DE89-4C16-9890-598096F6E4F0}" type="datetime'''''''''2''''3''''.''''''''''''0%'''''''''''''''''''">
              <a:rPr lang="en-US" altLang="en-US" sz="1000"/>
              <a:pPr algn="ctr">
                <a:spcBef>
                  <a:spcPct val="0"/>
                </a:spcBef>
                <a:spcAft>
                  <a:spcPct val="0"/>
                </a:spcAft>
              </a:pPr>
              <a:t>23.0%</a:t>
            </a:fld>
            <a:endParaRPr lang="en-US" sz="1000" dirty="0"/>
          </a:p>
        </p:txBody>
      </p:sp>
      <p:sp>
        <p:nvSpPr>
          <p:cNvPr id="101" name="Text Placeholder 18">
            <a:extLst>
              <a:ext uri="{FF2B5EF4-FFF2-40B4-BE49-F238E27FC236}">
                <a16:creationId xmlns:a16="http://schemas.microsoft.com/office/drawing/2014/main" id="{B52F96E0-6D00-4362-933A-96399CCD0899}"/>
              </a:ext>
            </a:extLst>
          </p:cNvPr>
          <p:cNvSpPr>
            <a:spLocks noGrp="1"/>
          </p:cNvSpPr>
          <p:nvPr>
            <p:custDataLst>
              <p:tags r:id="rId11"/>
            </p:custDataLst>
          </p:nvPr>
        </p:nvSpPr>
        <p:spPr bwMode="gray">
          <a:xfrm>
            <a:off x="10988677" y="1746529"/>
            <a:ext cx="466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470EF087-CA5D-43F1-B731-2AA8DA1C9416}" type="datetime'''''''''''''''''''2''''''''0''''.''1%'''''''''''''''''''''''''">
              <a:rPr lang="en-US" altLang="en-US" sz="1000"/>
              <a:pPr algn="ctr">
                <a:spcBef>
                  <a:spcPct val="0"/>
                </a:spcBef>
                <a:spcAft>
                  <a:spcPct val="0"/>
                </a:spcAft>
              </a:pPr>
              <a:t>20.1%</a:t>
            </a:fld>
            <a:endParaRPr lang="en-US" sz="1000" dirty="0"/>
          </a:p>
        </p:txBody>
      </p:sp>
      <p:sp>
        <p:nvSpPr>
          <p:cNvPr id="102" name="Rectangle 101">
            <a:extLst>
              <a:ext uri="{FF2B5EF4-FFF2-40B4-BE49-F238E27FC236}">
                <a16:creationId xmlns:a16="http://schemas.microsoft.com/office/drawing/2014/main" id="{8185DFD6-BDBB-4811-9B69-B03CA720948A}"/>
              </a:ext>
            </a:extLst>
          </p:cNvPr>
          <p:cNvSpPr/>
          <p:nvPr/>
        </p:nvSpPr>
        <p:spPr bwMode="gray">
          <a:xfrm>
            <a:off x="8415340" y="1326327"/>
            <a:ext cx="2968183" cy="348104"/>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solidFill>
                  <a:schemeClr val="accent4"/>
                </a:solidFill>
              </a:rPr>
              <a:t>WBSEDCL AT&amp;C Loss trajectory</a:t>
            </a:r>
          </a:p>
        </p:txBody>
      </p:sp>
      <p:sp>
        <p:nvSpPr>
          <p:cNvPr id="103" name="Rectangle 102">
            <a:extLst>
              <a:ext uri="{FF2B5EF4-FFF2-40B4-BE49-F238E27FC236}">
                <a16:creationId xmlns:a16="http://schemas.microsoft.com/office/drawing/2014/main" id="{A3FDA1AE-0586-43EC-9DDB-F754A0156866}"/>
              </a:ext>
            </a:extLst>
          </p:cNvPr>
          <p:cNvSpPr/>
          <p:nvPr/>
        </p:nvSpPr>
        <p:spPr bwMode="gray">
          <a:xfrm>
            <a:off x="501651" y="2916998"/>
            <a:ext cx="11332722" cy="1758950"/>
          </a:xfrm>
          <a:prstGeom prst="rect">
            <a:avLst/>
          </a:prstGeom>
          <a:solidFill>
            <a:schemeClr val="accent5">
              <a:alpha val="6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4" name="Rectangle 103">
            <a:extLst>
              <a:ext uri="{FF2B5EF4-FFF2-40B4-BE49-F238E27FC236}">
                <a16:creationId xmlns:a16="http://schemas.microsoft.com/office/drawing/2014/main" id="{E6A13A2A-B30A-40C8-A562-CD9074B019E4}"/>
              </a:ext>
            </a:extLst>
          </p:cNvPr>
          <p:cNvSpPr/>
          <p:nvPr/>
        </p:nvSpPr>
        <p:spPr bwMode="gray">
          <a:xfrm>
            <a:off x="2017093" y="3029388"/>
            <a:ext cx="5784110" cy="1534652"/>
          </a:xfrm>
          <a:prstGeom prst="rect">
            <a:avLst/>
          </a:prstGeom>
          <a:noFill/>
          <a:ln w="19050" algn="ctr">
            <a:solidFill>
              <a:schemeClr val="accent5"/>
            </a:solidFill>
            <a:miter lim="800000"/>
            <a:headEnd/>
            <a:tailEnd/>
          </a:ln>
        </p:spPr>
        <p:txBody>
          <a:bodyPr wrap="square" lIns="88900" tIns="88900" rIns="88900" bIns="88900" rtlCol="0" anchor="ctr"/>
          <a:lstStyle/>
          <a:p>
            <a:pPr marL="171450" indent="-171450">
              <a:lnSpc>
                <a:spcPct val="106000"/>
              </a:lnSpc>
              <a:spcAft>
                <a:spcPts val="600"/>
              </a:spcAft>
              <a:buFont typeface="Arial" panose="020B0604020202020204" pitchFamily="34" charset="0"/>
              <a:buChar char="•"/>
            </a:pPr>
            <a:r>
              <a:rPr lang="en-US" sz="1100" dirty="0"/>
              <a:t>The </a:t>
            </a:r>
            <a:r>
              <a:rPr lang="en-US" sz="1100" b="1" dirty="0"/>
              <a:t>Regulator is yet to issue WBSEDCL’s true up orders for FY2013-14 onwards and tariff orders for FY2018-19 onwards</a:t>
            </a:r>
            <a:r>
              <a:rPr lang="en-US" sz="1100" dirty="0"/>
              <a:t>.</a:t>
            </a:r>
          </a:p>
          <a:p>
            <a:pPr marL="171450" indent="-171450">
              <a:lnSpc>
                <a:spcPct val="106000"/>
              </a:lnSpc>
              <a:spcAft>
                <a:spcPts val="600"/>
              </a:spcAft>
              <a:buFont typeface="Arial" panose="020B0604020202020204" pitchFamily="34" charset="0"/>
              <a:buChar char="•"/>
            </a:pPr>
            <a:r>
              <a:rPr lang="en-US" sz="1100" dirty="0"/>
              <a:t>Historically there has been </a:t>
            </a:r>
            <a:r>
              <a:rPr lang="en-US" sz="1100" b="1" dirty="0"/>
              <a:t>delay to the tune of ~200 – 450 days in issuance of WBSEDCL Tariff Orders</a:t>
            </a:r>
            <a:r>
              <a:rPr lang="en-US" sz="1100" dirty="0"/>
              <a:t> (e.g. WBSEDCL Tariff Order for FY18 was issued on 04.07.18 with a delay of 460 days).</a:t>
            </a:r>
          </a:p>
          <a:p>
            <a:pPr marL="171450" indent="-171450">
              <a:lnSpc>
                <a:spcPct val="106000"/>
              </a:lnSpc>
              <a:spcAft>
                <a:spcPts val="600"/>
              </a:spcAft>
              <a:buFont typeface="Arial" panose="020B0604020202020204" pitchFamily="34" charset="0"/>
              <a:buChar char="•"/>
            </a:pPr>
            <a:r>
              <a:rPr lang="en-US" sz="1100" dirty="0"/>
              <a:t>There has been </a:t>
            </a:r>
            <a:r>
              <a:rPr lang="en-US" sz="1100" b="1" dirty="0"/>
              <a:t>no tariff revision for WBSEDCL since 28 Oct 2016</a:t>
            </a:r>
            <a:r>
              <a:rPr lang="en-US" sz="1100" dirty="0"/>
              <a:t>, resulting in cost-recovery challenges for the discom.</a:t>
            </a:r>
            <a:endParaRPr lang="en-US" sz="1100" b="1" dirty="0"/>
          </a:p>
        </p:txBody>
      </p:sp>
      <p:sp>
        <p:nvSpPr>
          <p:cNvPr id="117" name="Rectangle 116">
            <a:extLst>
              <a:ext uri="{FF2B5EF4-FFF2-40B4-BE49-F238E27FC236}">
                <a16:creationId xmlns:a16="http://schemas.microsoft.com/office/drawing/2014/main" id="{066ECDE6-97BB-4907-91EE-CCEA8B0625D3}"/>
              </a:ext>
            </a:extLst>
          </p:cNvPr>
          <p:cNvSpPr/>
          <p:nvPr/>
        </p:nvSpPr>
        <p:spPr bwMode="gray">
          <a:xfrm>
            <a:off x="8232904" y="2955445"/>
            <a:ext cx="3245216" cy="384104"/>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solidFill>
                  <a:schemeClr val="accent5"/>
                </a:solidFill>
              </a:rPr>
              <a:t>Approved Avg. Tariff for WBSEDCL as per Tariff Orders (Rs/unit)</a:t>
            </a:r>
          </a:p>
        </p:txBody>
      </p:sp>
      <p:grpSp>
        <p:nvGrpSpPr>
          <p:cNvPr id="118" name="Group 367">
            <a:extLst>
              <a:ext uri="{FF2B5EF4-FFF2-40B4-BE49-F238E27FC236}">
                <a16:creationId xmlns:a16="http://schemas.microsoft.com/office/drawing/2014/main" id="{12FABCFA-DA93-42F8-9D5C-84DF186B3C4C}"/>
              </a:ext>
            </a:extLst>
          </p:cNvPr>
          <p:cNvGrpSpPr>
            <a:grpSpLocks noChangeAspect="1"/>
          </p:cNvGrpSpPr>
          <p:nvPr/>
        </p:nvGrpSpPr>
        <p:grpSpPr bwMode="auto">
          <a:xfrm>
            <a:off x="881329" y="3220205"/>
            <a:ext cx="747102" cy="749299"/>
            <a:chOff x="4383" y="2091"/>
            <a:chExt cx="340" cy="341"/>
          </a:xfrm>
          <a:solidFill>
            <a:schemeClr val="accent5"/>
          </a:solidFill>
        </p:grpSpPr>
        <p:sp>
          <p:nvSpPr>
            <p:cNvPr id="119" name="Freeform 262">
              <a:extLst>
                <a:ext uri="{FF2B5EF4-FFF2-40B4-BE49-F238E27FC236}">
                  <a16:creationId xmlns:a16="http://schemas.microsoft.com/office/drawing/2014/main" id="{FBB1C0D9-C522-4BCE-B66F-1A7E5DA5F805}"/>
                </a:ext>
              </a:extLst>
            </p:cNvPr>
            <p:cNvSpPr>
              <a:spLocks noEditPoints="1"/>
            </p:cNvSpPr>
            <p:nvPr/>
          </p:nvSpPr>
          <p:spPr bwMode="auto">
            <a:xfrm>
              <a:off x="4445" y="2169"/>
              <a:ext cx="200" cy="170"/>
            </a:xfrm>
            <a:custGeom>
              <a:avLst/>
              <a:gdLst>
                <a:gd name="T0" fmla="*/ 23 w 300"/>
                <a:gd name="T1" fmla="*/ 245 h 256"/>
                <a:gd name="T2" fmla="*/ 2 w 300"/>
                <a:gd name="T3" fmla="*/ 245 h 256"/>
                <a:gd name="T4" fmla="*/ 12 w 300"/>
                <a:gd name="T5" fmla="*/ 213 h 256"/>
                <a:gd name="T6" fmla="*/ 55 w 300"/>
                <a:gd name="T7" fmla="*/ 192 h 256"/>
                <a:gd name="T8" fmla="*/ 44 w 300"/>
                <a:gd name="T9" fmla="*/ 245 h 256"/>
                <a:gd name="T10" fmla="*/ 66 w 300"/>
                <a:gd name="T11" fmla="*/ 245 h 256"/>
                <a:gd name="T12" fmla="*/ 55 w 300"/>
                <a:gd name="T13" fmla="*/ 192 h 256"/>
                <a:gd name="T14" fmla="*/ 87 w 300"/>
                <a:gd name="T15" fmla="*/ 171 h 256"/>
                <a:gd name="T16" fmla="*/ 98 w 300"/>
                <a:gd name="T17" fmla="*/ 256 h 256"/>
                <a:gd name="T18" fmla="*/ 108 w 300"/>
                <a:gd name="T19" fmla="*/ 171 h 256"/>
                <a:gd name="T20" fmla="*/ 140 w 300"/>
                <a:gd name="T21" fmla="*/ 149 h 256"/>
                <a:gd name="T22" fmla="*/ 130 w 300"/>
                <a:gd name="T23" fmla="*/ 245 h 256"/>
                <a:gd name="T24" fmla="*/ 151 w 300"/>
                <a:gd name="T25" fmla="*/ 245 h 256"/>
                <a:gd name="T26" fmla="*/ 140 w 300"/>
                <a:gd name="T27" fmla="*/ 149 h 256"/>
                <a:gd name="T28" fmla="*/ 172 w 300"/>
                <a:gd name="T29" fmla="*/ 160 h 256"/>
                <a:gd name="T30" fmla="*/ 183 w 300"/>
                <a:gd name="T31" fmla="*/ 256 h 256"/>
                <a:gd name="T32" fmla="*/ 194 w 300"/>
                <a:gd name="T33" fmla="*/ 160 h 256"/>
                <a:gd name="T34" fmla="*/ 226 w 300"/>
                <a:gd name="T35" fmla="*/ 117 h 256"/>
                <a:gd name="T36" fmla="*/ 215 w 300"/>
                <a:gd name="T37" fmla="*/ 245 h 256"/>
                <a:gd name="T38" fmla="*/ 236 w 300"/>
                <a:gd name="T39" fmla="*/ 245 h 256"/>
                <a:gd name="T40" fmla="*/ 226 w 300"/>
                <a:gd name="T41" fmla="*/ 117 h 256"/>
                <a:gd name="T42" fmla="*/ 258 w 300"/>
                <a:gd name="T43" fmla="*/ 96 h 256"/>
                <a:gd name="T44" fmla="*/ 268 w 300"/>
                <a:gd name="T45" fmla="*/ 256 h 256"/>
                <a:gd name="T46" fmla="*/ 279 w 300"/>
                <a:gd name="T47" fmla="*/ 96 h 256"/>
                <a:gd name="T48" fmla="*/ 300 w 300"/>
                <a:gd name="T49" fmla="*/ 7 h 256"/>
                <a:gd name="T50" fmla="*/ 290 w 300"/>
                <a:gd name="T51" fmla="*/ 0 h 256"/>
                <a:gd name="T52" fmla="*/ 236 w 300"/>
                <a:gd name="T53" fmla="*/ 11 h 256"/>
                <a:gd name="T54" fmla="*/ 264 w 300"/>
                <a:gd name="T55" fmla="*/ 21 h 256"/>
                <a:gd name="T56" fmla="*/ 98 w 300"/>
                <a:gd name="T57" fmla="*/ 107 h 256"/>
                <a:gd name="T58" fmla="*/ 6 w 300"/>
                <a:gd name="T59" fmla="*/ 173 h 256"/>
                <a:gd name="T60" fmla="*/ 12 w 300"/>
                <a:gd name="T61" fmla="*/ 192 h 256"/>
                <a:gd name="T62" fmla="*/ 101 w 300"/>
                <a:gd name="T63" fmla="*/ 128 h 256"/>
                <a:gd name="T64" fmla="*/ 191 w 300"/>
                <a:gd name="T65" fmla="*/ 125 h 256"/>
                <a:gd name="T66" fmla="*/ 279 w 300"/>
                <a:gd name="T67" fmla="*/ 53 h 256"/>
                <a:gd name="T68" fmla="*/ 300 w 300"/>
                <a:gd name="T69" fmla="*/ 53 h 256"/>
                <a:gd name="T70" fmla="*/ 300 w 300"/>
                <a:gd name="T71" fmla="*/ 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0" h="256">
                  <a:moveTo>
                    <a:pt x="23" y="224"/>
                  </a:moveTo>
                  <a:cubicBezTo>
                    <a:pt x="23" y="245"/>
                    <a:pt x="23" y="245"/>
                    <a:pt x="23" y="245"/>
                  </a:cubicBezTo>
                  <a:cubicBezTo>
                    <a:pt x="23" y="251"/>
                    <a:pt x="18" y="256"/>
                    <a:pt x="12" y="256"/>
                  </a:cubicBezTo>
                  <a:cubicBezTo>
                    <a:pt x="6" y="256"/>
                    <a:pt x="2" y="251"/>
                    <a:pt x="2" y="245"/>
                  </a:cubicBezTo>
                  <a:cubicBezTo>
                    <a:pt x="2" y="224"/>
                    <a:pt x="2" y="224"/>
                    <a:pt x="2" y="224"/>
                  </a:cubicBezTo>
                  <a:cubicBezTo>
                    <a:pt x="2" y="218"/>
                    <a:pt x="6" y="213"/>
                    <a:pt x="12" y="213"/>
                  </a:cubicBezTo>
                  <a:cubicBezTo>
                    <a:pt x="18" y="213"/>
                    <a:pt x="23" y="218"/>
                    <a:pt x="23" y="224"/>
                  </a:cubicBezTo>
                  <a:close/>
                  <a:moveTo>
                    <a:pt x="55" y="192"/>
                  </a:moveTo>
                  <a:cubicBezTo>
                    <a:pt x="49" y="192"/>
                    <a:pt x="44" y="197"/>
                    <a:pt x="44" y="203"/>
                  </a:cubicBezTo>
                  <a:cubicBezTo>
                    <a:pt x="44" y="245"/>
                    <a:pt x="44" y="245"/>
                    <a:pt x="44" y="245"/>
                  </a:cubicBezTo>
                  <a:cubicBezTo>
                    <a:pt x="44" y="251"/>
                    <a:pt x="49" y="256"/>
                    <a:pt x="55" y="256"/>
                  </a:cubicBezTo>
                  <a:cubicBezTo>
                    <a:pt x="61" y="256"/>
                    <a:pt x="66" y="251"/>
                    <a:pt x="66" y="245"/>
                  </a:cubicBezTo>
                  <a:cubicBezTo>
                    <a:pt x="66" y="203"/>
                    <a:pt x="66" y="203"/>
                    <a:pt x="66" y="203"/>
                  </a:cubicBezTo>
                  <a:cubicBezTo>
                    <a:pt x="66" y="197"/>
                    <a:pt x="61" y="192"/>
                    <a:pt x="55" y="192"/>
                  </a:cubicBezTo>
                  <a:close/>
                  <a:moveTo>
                    <a:pt x="98" y="160"/>
                  </a:moveTo>
                  <a:cubicBezTo>
                    <a:pt x="92" y="160"/>
                    <a:pt x="87" y="165"/>
                    <a:pt x="87" y="171"/>
                  </a:cubicBezTo>
                  <a:cubicBezTo>
                    <a:pt x="87" y="245"/>
                    <a:pt x="87" y="245"/>
                    <a:pt x="87" y="245"/>
                  </a:cubicBezTo>
                  <a:cubicBezTo>
                    <a:pt x="87" y="251"/>
                    <a:pt x="92" y="256"/>
                    <a:pt x="98" y="256"/>
                  </a:cubicBezTo>
                  <a:cubicBezTo>
                    <a:pt x="104" y="256"/>
                    <a:pt x="108" y="251"/>
                    <a:pt x="108" y="245"/>
                  </a:cubicBezTo>
                  <a:cubicBezTo>
                    <a:pt x="108" y="171"/>
                    <a:pt x="108" y="171"/>
                    <a:pt x="108" y="171"/>
                  </a:cubicBezTo>
                  <a:cubicBezTo>
                    <a:pt x="108" y="165"/>
                    <a:pt x="104" y="160"/>
                    <a:pt x="98" y="160"/>
                  </a:cubicBezTo>
                  <a:close/>
                  <a:moveTo>
                    <a:pt x="140" y="149"/>
                  </a:moveTo>
                  <a:cubicBezTo>
                    <a:pt x="134" y="149"/>
                    <a:pt x="130" y="154"/>
                    <a:pt x="130" y="160"/>
                  </a:cubicBezTo>
                  <a:cubicBezTo>
                    <a:pt x="130" y="245"/>
                    <a:pt x="130" y="245"/>
                    <a:pt x="130" y="245"/>
                  </a:cubicBezTo>
                  <a:cubicBezTo>
                    <a:pt x="130" y="251"/>
                    <a:pt x="134" y="256"/>
                    <a:pt x="140" y="256"/>
                  </a:cubicBezTo>
                  <a:cubicBezTo>
                    <a:pt x="146" y="256"/>
                    <a:pt x="151" y="251"/>
                    <a:pt x="151" y="245"/>
                  </a:cubicBezTo>
                  <a:cubicBezTo>
                    <a:pt x="151" y="160"/>
                    <a:pt x="151" y="160"/>
                    <a:pt x="151" y="160"/>
                  </a:cubicBezTo>
                  <a:cubicBezTo>
                    <a:pt x="151" y="154"/>
                    <a:pt x="146" y="149"/>
                    <a:pt x="140" y="149"/>
                  </a:cubicBezTo>
                  <a:close/>
                  <a:moveTo>
                    <a:pt x="183" y="149"/>
                  </a:moveTo>
                  <a:cubicBezTo>
                    <a:pt x="177" y="149"/>
                    <a:pt x="172" y="154"/>
                    <a:pt x="172" y="160"/>
                  </a:cubicBezTo>
                  <a:cubicBezTo>
                    <a:pt x="172" y="245"/>
                    <a:pt x="172" y="245"/>
                    <a:pt x="172" y="245"/>
                  </a:cubicBezTo>
                  <a:cubicBezTo>
                    <a:pt x="172" y="251"/>
                    <a:pt x="177" y="256"/>
                    <a:pt x="183" y="256"/>
                  </a:cubicBezTo>
                  <a:cubicBezTo>
                    <a:pt x="189" y="256"/>
                    <a:pt x="194" y="251"/>
                    <a:pt x="194" y="245"/>
                  </a:cubicBezTo>
                  <a:cubicBezTo>
                    <a:pt x="194" y="160"/>
                    <a:pt x="194" y="160"/>
                    <a:pt x="194" y="160"/>
                  </a:cubicBezTo>
                  <a:cubicBezTo>
                    <a:pt x="194" y="154"/>
                    <a:pt x="189" y="149"/>
                    <a:pt x="183" y="149"/>
                  </a:cubicBezTo>
                  <a:close/>
                  <a:moveTo>
                    <a:pt x="226" y="117"/>
                  </a:moveTo>
                  <a:cubicBezTo>
                    <a:pt x="220" y="117"/>
                    <a:pt x="215" y="122"/>
                    <a:pt x="215" y="128"/>
                  </a:cubicBezTo>
                  <a:cubicBezTo>
                    <a:pt x="215" y="245"/>
                    <a:pt x="215" y="245"/>
                    <a:pt x="215" y="245"/>
                  </a:cubicBezTo>
                  <a:cubicBezTo>
                    <a:pt x="215" y="251"/>
                    <a:pt x="220" y="256"/>
                    <a:pt x="226" y="256"/>
                  </a:cubicBezTo>
                  <a:cubicBezTo>
                    <a:pt x="232" y="256"/>
                    <a:pt x="236" y="251"/>
                    <a:pt x="236" y="245"/>
                  </a:cubicBezTo>
                  <a:cubicBezTo>
                    <a:pt x="236" y="128"/>
                    <a:pt x="236" y="128"/>
                    <a:pt x="236" y="128"/>
                  </a:cubicBezTo>
                  <a:cubicBezTo>
                    <a:pt x="236" y="122"/>
                    <a:pt x="232" y="117"/>
                    <a:pt x="226" y="117"/>
                  </a:cubicBezTo>
                  <a:close/>
                  <a:moveTo>
                    <a:pt x="268" y="85"/>
                  </a:moveTo>
                  <a:cubicBezTo>
                    <a:pt x="262" y="85"/>
                    <a:pt x="258" y="90"/>
                    <a:pt x="258" y="96"/>
                  </a:cubicBezTo>
                  <a:cubicBezTo>
                    <a:pt x="258" y="245"/>
                    <a:pt x="258" y="245"/>
                    <a:pt x="258" y="245"/>
                  </a:cubicBezTo>
                  <a:cubicBezTo>
                    <a:pt x="258" y="251"/>
                    <a:pt x="262" y="256"/>
                    <a:pt x="268" y="256"/>
                  </a:cubicBezTo>
                  <a:cubicBezTo>
                    <a:pt x="274" y="256"/>
                    <a:pt x="279" y="251"/>
                    <a:pt x="279" y="245"/>
                  </a:cubicBezTo>
                  <a:cubicBezTo>
                    <a:pt x="279" y="96"/>
                    <a:pt x="279" y="96"/>
                    <a:pt x="279" y="96"/>
                  </a:cubicBezTo>
                  <a:cubicBezTo>
                    <a:pt x="279" y="90"/>
                    <a:pt x="274" y="85"/>
                    <a:pt x="268" y="85"/>
                  </a:cubicBezTo>
                  <a:close/>
                  <a:moveTo>
                    <a:pt x="300" y="7"/>
                  </a:moveTo>
                  <a:cubicBezTo>
                    <a:pt x="298" y="4"/>
                    <a:pt x="296" y="2"/>
                    <a:pt x="294" y="1"/>
                  </a:cubicBezTo>
                  <a:cubicBezTo>
                    <a:pt x="292" y="0"/>
                    <a:pt x="291" y="0"/>
                    <a:pt x="290" y="0"/>
                  </a:cubicBezTo>
                  <a:cubicBezTo>
                    <a:pt x="247" y="0"/>
                    <a:pt x="247" y="0"/>
                    <a:pt x="247" y="0"/>
                  </a:cubicBezTo>
                  <a:cubicBezTo>
                    <a:pt x="241" y="0"/>
                    <a:pt x="236" y="5"/>
                    <a:pt x="236" y="11"/>
                  </a:cubicBezTo>
                  <a:cubicBezTo>
                    <a:pt x="236" y="17"/>
                    <a:pt x="241" y="21"/>
                    <a:pt x="247" y="21"/>
                  </a:cubicBezTo>
                  <a:cubicBezTo>
                    <a:pt x="264" y="21"/>
                    <a:pt x="264" y="21"/>
                    <a:pt x="264" y="21"/>
                  </a:cubicBezTo>
                  <a:cubicBezTo>
                    <a:pt x="179" y="107"/>
                    <a:pt x="179" y="107"/>
                    <a:pt x="179" y="107"/>
                  </a:cubicBezTo>
                  <a:cubicBezTo>
                    <a:pt x="98" y="107"/>
                    <a:pt x="98" y="107"/>
                    <a:pt x="98" y="107"/>
                  </a:cubicBezTo>
                  <a:cubicBezTo>
                    <a:pt x="95" y="107"/>
                    <a:pt x="93" y="107"/>
                    <a:pt x="91" y="109"/>
                  </a:cubicBezTo>
                  <a:cubicBezTo>
                    <a:pt x="6" y="173"/>
                    <a:pt x="6" y="173"/>
                    <a:pt x="6" y="173"/>
                  </a:cubicBezTo>
                  <a:cubicBezTo>
                    <a:pt x="1" y="176"/>
                    <a:pt x="0" y="183"/>
                    <a:pt x="4" y="188"/>
                  </a:cubicBezTo>
                  <a:cubicBezTo>
                    <a:pt x="6" y="191"/>
                    <a:pt x="9" y="192"/>
                    <a:pt x="12" y="192"/>
                  </a:cubicBezTo>
                  <a:cubicBezTo>
                    <a:pt x="15" y="192"/>
                    <a:pt x="17" y="191"/>
                    <a:pt x="19" y="190"/>
                  </a:cubicBezTo>
                  <a:cubicBezTo>
                    <a:pt x="101" y="128"/>
                    <a:pt x="101" y="128"/>
                    <a:pt x="101" y="128"/>
                  </a:cubicBezTo>
                  <a:cubicBezTo>
                    <a:pt x="183" y="128"/>
                    <a:pt x="183" y="128"/>
                    <a:pt x="183" y="128"/>
                  </a:cubicBezTo>
                  <a:cubicBezTo>
                    <a:pt x="186" y="128"/>
                    <a:pt x="189" y="127"/>
                    <a:pt x="191" y="125"/>
                  </a:cubicBezTo>
                  <a:cubicBezTo>
                    <a:pt x="279" y="36"/>
                    <a:pt x="279" y="36"/>
                    <a:pt x="279" y="36"/>
                  </a:cubicBezTo>
                  <a:cubicBezTo>
                    <a:pt x="279" y="53"/>
                    <a:pt x="279" y="53"/>
                    <a:pt x="279" y="53"/>
                  </a:cubicBezTo>
                  <a:cubicBezTo>
                    <a:pt x="279" y="59"/>
                    <a:pt x="284" y="64"/>
                    <a:pt x="290" y="64"/>
                  </a:cubicBezTo>
                  <a:cubicBezTo>
                    <a:pt x="296" y="64"/>
                    <a:pt x="300" y="59"/>
                    <a:pt x="300" y="53"/>
                  </a:cubicBezTo>
                  <a:cubicBezTo>
                    <a:pt x="300" y="11"/>
                    <a:pt x="300" y="11"/>
                    <a:pt x="300" y="11"/>
                  </a:cubicBezTo>
                  <a:cubicBezTo>
                    <a:pt x="300" y="9"/>
                    <a:pt x="300" y="8"/>
                    <a:pt x="300" y="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0" name="Freeform 263">
              <a:extLst>
                <a:ext uri="{FF2B5EF4-FFF2-40B4-BE49-F238E27FC236}">
                  <a16:creationId xmlns:a16="http://schemas.microsoft.com/office/drawing/2014/main" id="{59EA8F03-D8C3-42DB-BFC0-D51FF64DC54B}"/>
                </a:ext>
              </a:extLst>
            </p:cNvPr>
            <p:cNvSpPr>
              <a:spLocks noEditPoints="1"/>
            </p:cNvSpPr>
            <p:nvPr/>
          </p:nvSpPr>
          <p:spPr bwMode="auto">
            <a:xfrm>
              <a:off x="4383" y="2091"/>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21" name="Rectangle 120">
            <a:extLst>
              <a:ext uri="{FF2B5EF4-FFF2-40B4-BE49-F238E27FC236}">
                <a16:creationId xmlns:a16="http://schemas.microsoft.com/office/drawing/2014/main" id="{46D71D40-AF8A-4289-82C7-3317891CD005}"/>
              </a:ext>
            </a:extLst>
          </p:cNvPr>
          <p:cNvSpPr/>
          <p:nvPr/>
        </p:nvSpPr>
        <p:spPr bwMode="gray">
          <a:xfrm>
            <a:off x="516749" y="4162440"/>
            <a:ext cx="1476265" cy="212729"/>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solidFill>
                  <a:schemeClr val="accent5"/>
                </a:solidFill>
              </a:rPr>
              <a:t>Regulatory Challenges</a:t>
            </a:r>
          </a:p>
        </p:txBody>
      </p:sp>
      <p:graphicFrame>
        <p:nvGraphicFramePr>
          <p:cNvPr id="6" name="Chart 5">
            <a:extLst>
              <a:ext uri="{FF2B5EF4-FFF2-40B4-BE49-F238E27FC236}">
                <a16:creationId xmlns:a16="http://schemas.microsoft.com/office/drawing/2014/main" id="{4D7AA2B1-C54D-4B7A-A120-3EFA7349DA2C}"/>
              </a:ext>
            </a:extLst>
          </p:cNvPr>
          <p:cNvGraphicFramePr/>
          <p:nvPr>
            <p:extLst>
              <p:ext uri="{D42A27DB-BD31-4B8C-83A1-F6EECF244321}">
                <p14:modId xmlns:p14="http://schemas.microsoft.com/office/powerpoint/2010/main" val="212241971"/>
              </p:ext>
            </p:extLst>
          </p:nvPr>
        </p:nvGraphicFramePr>
        <p:xfrm>
          <a:off x="7959044" y="3337919"/>
          <a:ext cx="3771064" cy="1327244"/>
        </p:xfrm>
        <a:graphic>
          <a:graphicData uri="http://schemas.openxmlformats.org/drawingml/2006/chart">
            <c:chart xmlns:c="http://schemas.openxmlformats.org/drawingml/2006/chart" xmlns:r="http://schemas.openxmlformats.org/officeDocument/2006/relationships" r:id="rId28"/>
          </a:graphicData>
        </a:graphic>
      </p:graphicFrame>
      <p:sp>
        <p:nvSpPr>
          <p:cNvPr id="122" name="Rectangle 121">
            <a:extLst>
              <a:ext uri="{FF2B5EF4-FFF2-40B4-BE49-F238E27FC236}">
                <a16:creationId xmlns:a16="http://schemas.microsoft.com/office/drawing/2014/main" id="{87B80202-95F9-46F6-962F-CA439CE62870}"/>
              </a:ext>
            </a:extLst>
          </p:cNvPr>
          <p:cNvSpPr/>
          <p:nvPr/>
        </p:nvSpPr>
        <p:spPr bwMode="gray">
          <a:xfrm>
            <a:off x="495026" y="4669599"/>
            <a:ext cx="11332722" cy="1758950"/>
          </a:xfrm>
          <a:prstGeom prst="rect">
            <a:avLst/>
          </a:prstGeom>
          <a:solidFill>
            <a:srgbClr val="00A3E0">
              <a:alpha val="12000"/>
            </a:srgbClr>
          </a:solidFill>
          <a:ln w="19050" algn="ctr">
            <a:noFill/>
            <a:miter lim="800000"/>
            <a:headEnd/>
            <a:tailEnd/>
          </a:ln>
        </p:spPr>
        <p:txBody>
          <a:bodyPr wrap="square" lIns="88900" tIns="88900" rIns="88900" bIns="88900" rtlCol="0" anchor="ctr"/>
          <a:lstStyle/>
          <a:p>
            <a:pPr algn="ctr">
              <a:lnSpc>
                <a:spcPct val="106000"/>
              </a:lnSpc>
            </a:pPr>
            <a:endParaRPr lang="en-US" sz="1600" b="1" dirty="0">
              <a:solidFill>
                <a:schemeClr val="bg1"/>
              </a:solidFill>
            </a:endParaRPr>
          </a:p>
        </p:txBody>
      </p:sp>
      <p:sp>
        <p:nvSpPr>
          <p:cNvPr id="123" name="Rectangle 122">
            <a:extLst>
              <a:ext uri="{FF2B5EF4-FFF2-40B4-BE49-F238E27FC236}">
                <a16:creationId xmlns:a16="http://schemas.microsoft.com/office/drawing/2014/main" id="{E9D66565-5BBA-4057-9F6C-21851C13A576}"/>
              </a:ext>
            </a:extLst>
          </p:cNvPr>
          <p:cNvSpPr/>
          <p:nvPr/>
        </p:nvSpPr>
        <p:spPr bwMode="gray">
          <a:xfrm>
            <a:off x="2010468" y="4781989"/>
            <a:ext cx="5784110" cy="1534652"/>
          </a:xfrm>
          <a:prstGeom prst="rect">
            <a:avLst/>
          </a:prstGeom>
          <a:noFill/>
          <a:ln w="19050" algn="ctr">
            <a:solidFill>
              <a:schemeClr val="accent5"/>
            </a:solidFill>
            <a:miter lim="800000"/>
            <a:headEnd/>
            <a:tailEnd/>
          </a:ln>
        </p:spPr>
        <p:txBody>
          <a:bodyPr wrap="square" lIns="88900" tIns="88900" rIns="88900" bIns="88900" rtlCol="0" anchor="ctr"/>
          <a:lstStyle/>
          <a:p>
            <a:pPr marL="171450" indent="-171450">
              <a:lnSpc>
                <a:spcPct val="106000"/>
              </a:lnSpc>
              <a:spcAft>
                <a:spcPts val="600"/>
              </a:spcAft>
              <a:buFont typeface="Arial" panose="020B0604020202020204" pitchFamily="34" charset="0"/>
              <a:buChar char="•"/>
            </a:pPr>
            <a:r>
              <a:rPr lang="en-US" sz="1100" dirty="0"/>
              <a:t>Delayed tariff revisions and the resultant ACS / ABR gap for WBSEDCL has led to a substantial increase in its </a:t>
            </a:r>
            <a:r>
              <a:rPr lang="en-US" sz="1100" b="1" dirty="0"/>
              <a:t>regulatory asset balance which has now reach over Rs 15,000 Crore.</a:t>
            </a:r>
          </a:p>
          <a:p>
            <a:pPr marL="171450" indent="-171450">
              <a:lnSpc>
                <a:spcPct val="106000"/>
              </a:lnSpc>
              <a:spcAft>
                <a:spcPts val="600"/>
              </a:spcAft>
              <a:buFont typeface="Arial" panose="020B0604020202020204" pitchFamily="34" charset="0"/>
              <a:buChar char="•"/>
            </a:pPr>
            <a:r>
              <a:rPr lang="en-US" sz="1100" dirty="0"/>
              <a:t>The current </a:t>
            </a:r>
            <a:r>
              <a:rPr lang="en-US" sz="1100" b="1" dirty="0"/>
              <a:t>RA balance of WBSEDCL </a:t>
            </a:r>
            <a:r>
              <a:rPr lang="en-US" sz="1100" dirty="0"/>
              <a:t>has already </a:t>
            </a:r>
            <a:r>
              <a:rPr lang="en-US" sz="1100" b="1" dirty="0"/>
              <a:t>reached ~6 times the equity capital of WBSEDCL </a:t>
            </a:r>
            <a:r>
              <a:rPr lang="en-US" sz="1100" dirty="0"/>
              <a:t>affecting its financial solvency position</a:t>
            </a:r>
            <a:endParaRPr lang="en-US" sz="1100" b="1" dirty="0"/>
          </a:p>
        </p:txBody>
      </p:sp>
      <p:graphicFrame>
        <p:nvGraphicFramePr>
          <p:cNvPr id="124" name="Chart 123">
            <a:extLst>
              <a:ext uri="{FF2B5EF4-FFF2-40B4-BE49-F238E27FC236}">
                <a16:creationId xmlns:a16="http://schemas.microsoft.com/office/drawing/2014/main" id="{1B30C009-1437-498D-ACDA-BF4F27569EA4}"/>
              </a:ext>
            </a:extLst>
          </p:cNvPr>
          <p:cNvGraphicFramePr/>
          <p:nvPr>
            <p:custDataLst>
              <p:tags r:id="rId12"/>
            </p:custDataLst>
            <p:extLst>
              <p:ext uri="{D42A27DB-BD31-4B8C-83A1-F6EECF244321}">
                <p14:modId xmlns:p14="http://schemas.microsoft.com/office/powerpoint/2010/main" val="1535496264"/>
              </p:ext>
            </p:extLst>
          </p:nvPr>
        </p:nvGraphicFramePr>
        <p:xfrm>
          <a:off x="7862613" y="5306187"/>
          <a:ext cx="3903662" cy="895350"/>
        </p:xfrm>
        <a:graphic>
          <a:graphicData uri="http://schemas.openxmlformats.org/drawingml/2006/chart">
            <c:chart xmlns:c="http://schemas.openxmlformats.org/drawingml/2006/chart" xmlns:r="http://schemas.openxmlformats.org/officeDocument/2006/relationships" r:id="rId29"/>
          </a:graphicData>
        </a:graphic>
      </p:graphicFrame>
      <p:sp useBgFill="1">
        <p:nvSpPr>
          <p:cNvPr id="125" name="Freeform: Shape 124">
            <a:extLst>
              <a:ext uri="{FF2B5EF4-FFF2-40B4-BE49-F238E27FC236}">
                <a16:creationId xmlns:a16="http://schemas.microsoft.com/office/drawing/2014/main" id="{D29DF5DC-51D7-44F7-AC91-C41F90F7ABC6}"/>
              </a:ext>
            </a:extLst>
          </p:cNvPr>
          <p:cNvSpPr/>
          <p:nvPr>
            <p:custDataLst>
              <p:tags r:id="rId13"/>
            </p:custDataLst>
          </p:nvPr>
        </p:nvSpPr>
        <p:spPr bwMode="auto">
          <a:xfrm>
            <a:off x="9142138" y="6045964"/>
            <a:ext cx="96838" cy="146051"/>
          </a:xfrm>
          <a:custGeom>
            <a:avLst/>
            <a:gdLst/>
            <a:ahLst/>
            <a:cxnLst/>
            <a:rect l="0" t="0" r="0" b="0"/>
            <a:pathLst>
              <a:path w="96838" h="146051">
                <a:moveTo>
                  <a:pt x="96837" y="0"/>
                </a:moveTo>
                <a:lnTo>
                  <a:pt x="57150" y="146050"/>
                </a:lnTo>
                <a:lnTo>
                  <a:pt x="0" y="146050"/>
                </a:lnTo>
                <a:lnTo>
                  <a:pt x="39687" y="0"/>
                </a:lnTo>
                <a:close/>
              </a:path>
            </a:pathLst>
          </a:custGeom>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useBgFill="1">
        <p:nvSpPr>
          <p:cNvPr id="126" name="Freeform: Shape 125">
            <a:extLst>
              <a:ext uri="{FF2B5EF4-FFF2-40B4-BE49-F238E27FC236}">
                <a16:creationId xmlns:a16="http://schemas.microsoft.com/office/drawing/2014/main" id="{C36F5F59-5383-44AD-B5E6-481BF8705CFC}"/>
              </a:ext>
            </a:extLst>
          </p:cNvPr>
          <p:cNvSpPr/>
          <p:nvPr>
            <p:custDataLst>
              <p:tags r:id="rId14"/>
            </p:custDataLst>
          </p:nvPr>
        </p:nvSpPr>
        <p:spPr bwMode="auto">
          <a:xfrm>
            <a:off x="10388327" y="6045964"/>
            <a:ext cx="96839" cy="146051"/>
          </a:xfrm>
          <a:custGeom>
            <a:avLst/>
            <a:gdLst/>
            <a:ahLst/>
            <a:cxnLst/>
            <a:rect l="0" t="0" r="0" b="0"/>
            <a:pathLst>
              <a:path w="96839" h="146051">
                <a:moveTo>
                  <a:pt x="96838" y="0"/>
                </a:moveTo>
                <a:lnTo>
                  <a:pt x="57150" y="146050"/>
                </a:lnTo>
                <a:lnTo>
                  <a:pt x="0" y="146050"/>
                </a:lnTo>
                <a:lnTo>
                  <a:pt x="39688" y="0"/>
                </a:lnTo>
                <a:close/>
              </a:path>
            </a:pathLst>
          </a:custGeom>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27" name="Freeform: Shape 126">
            <a:extLst>
              <a:ext uri="{FF2B5EF4-FFF2-40B4-BE49-F238E27FC236}">
                <a16:creationId xmlns:a16="http://schemas.microsoft.com/office/drawing/2014/main" id="{11D88397-BA81-42B8-BBF6-4B0922F055E3}"/>
              </a:ext>
            </a:extLst>
          </p:cNvPr>
          <p:cNvSpPr/>
          <p:nvPr>
            <p:custDataLst>
              <p:tags r:id="rId15"/>
            </p:custDataLst>
          </p:nvPr>
        </p:nvSpPr>
        <p:spPr bwMode="auto">
          <a:xfrm>
            <a:off x="9199288" y="6045964"/>
            <a:ext cx="39688" cy="146051"/>
          </a:xfrm>
          <a:custGeom>
            <a:avLst/>
            <a:gdLst/>
            <a:ahLst/>
            <a:cxnLst/>
            <a:rect l="0" t="0" r="0" b="0"/>
            <a:pathLst>
              <a:path w="39688" h="146051">
                <a:moveTo>
                  <a:pt x="39687"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8" name="Freeform: Shape 127">
            <a:extLst>
              <a:ext uri="{FF2B5EF4-FFF2-40B4-BE49-F238E27FC236}">
                <a16:creationId xmlns:a16="http://schemas.microsoft.com/office/drawing/2014/main" id="{4D7BD080-7774-46FD-AE77-839443062039}"/>
              </a:ext>
            </a:extLst>
          </p:cNvPr>
          <p:cNvSpPr/>
          <p:nvPr>
            <p:custDataLst>
              <p:tags r:id="rId16"/>
            </p:custDataLst>
          </p:nvPr>
        </p:nvSpPr>
        <p:spPr bwMode="auto">
          <a:xfrm>
            <a:off x="9142138" y="6045964"/>
            <a:ext cx="39688" cy="146051"/>
          </a:xfrm>
          <a:custGeom>
            <a:avLst/>
            <a:gdLst/>
            <a:ahLst/>
            <a:cxnLst/>
            <a:rect l="0" t="0" r="0" b="0"/>
            <a:pathLst>
              <a:path w="39688" h="146051">
                <a:moveTo>
                  <a:pt x="39687"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9" name="Freeform: Shape 128">
            <a:extLst>
              <a:ext uri="{FF2B5EF4-FFF2-40B4-BE49-F238E27FC236}">
                <a16:creationId xmlns:a16="http://schemas.microsoft.com/office/drawing/2014/main" id="{A07EBA7E-08DB-461E-B1DA-06E4ADF9B2BA}"/>
              </a:ext>
            </a:extLst>
          </p:cNvPr>
          <p:cNvSpPr/>
          <p:nvPr>
            <p:custDataLst>
              <p:tags r:id="rId17"/>
            </p:custDataLst>
          </p:nvPr>
        </p:nvSpPr>
        <p:spPr bwMode="auto">
          <a:xfrm>
            <a:off x="10388327" y="6045964"/>
            <a:ext cx="39689" cy="146051"/>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0" name="Freeform: Shape 129">
            <a:extLst>
              <a:ext uri="{FF2B5EF4-FFF2-40B4-BE49-F238E27FC236}">
                <a16:creationId xmlns:a16="http://schemas.microsoft.com/office/drawing/2014/main" id="{149BB0CD-D81D-4072-8CF0-6443EAE240E2}"/>
              </a:ext>
            </a:extLst>
          </p:cNvPr>
          <p:cNvSpPr/>
          <p:nvPr>
            <p:custDataLst>
              <p:tags r:id="rId18"/>
            </p:custDataLst>
          </p:nvPr>
        </p:nvSpPr>
        <p:spPr bwMode="auto">
          <a:xfrm>
            <a:off x="10445477" y="6045964"/>
            <a:ext cx="39689" cy="146051"/>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1" name="Straight Connector 130">
            <a:extLst>
              <a:ext uri="{FF2B5EF4-FFF2-40B4-BE49-F238E27FC236}">
                <a16:creationId xmlns:a16="http://schemas.microsoft.com/office/drawing/2014/main" id="{F2BC4F0E-FDE6-4E95-A887-BEF9BF4478F7}"/>
              </a:ext>
            </a:extLst>
          </p:cNvPr>
          <p:cNvCxnSpPr/>
          <p:nvPr>
            <p:custDataLst>
              <p:tags r:id="rId19"/>
            </p:custDataLst>
          </p:nvPr>
        </p:nvCxnSpPr>
        <p:spPr bwMode="auto">
          <a:xfrm flipV="1">
            <a:off x="8567465" y="5126799"/>
            <a:ext cx="2492375" cy="400050"/>
          </a:xfrm>
          <a:prstGeom prst="line">
            <a:avLst/>
          </a:prstGeom>
          <a:ln w="6350" cap="flat" cmpd="sng" algn="ctr">
            <a:solidFill>
              <a:schemeClr val="tx1"/>
            </a:solidFill>
            <a:prstDash val="solid"/>
            <a:round/>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32" name="Text Placeholder 18">
            <a:extLst>
              <a:ext uri="{FF2B5EF4-FFF2-40B4-BE49-F238E27FC236}">
                <a16:creationId xmlns:a16="http://schemas.microsoft.com/office/drawing/2014/main" id="{7A6601C3-A241-440B-8395-843D2816B248}"/>
              </a:ext>
            </a:extLst>
          </p:cNvPr>
          <p:cNvSpPr>
            <a:spLocks noGrp="1"/>
          </p:cNvSpPr>
          <p:nvPr>
            <p:custDataLst>
              <p:tags r:id="rId20"/>
            </p:custDataLst>
          </p:nvPr>
        </p:nvSpPr>
        <p:spPr bwMode="auto">
          <a:xfrm>
            <a:off x="10897913" y="6204712"/>
            <a:ext cx="3254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DF2C1C31-DB23-4A5F-A32D-F939CE400604}" type="datetime'''''''''''F''''''''''Y''''''''''2''''''''''''''''''''''0'">
              <a:rPr lang="en-US" altLang="en-US" sz="1000"/>
              <a:pPr/>
              <a:t>FY20</a:t>
            </a:fld>
            <a:endParaRPr lang="en-US" sz="1000" dirty="0"/>
          </a:p>
        </p:txBody>
      </p:sp>
      <p:sp>
        <p:nvSpPr>
          <p:cNvPr id="133" name="Text Placeholder 18">
            <a:extLst>
              <a:ext uri="{FF2B5EF4-FFF2-40B4-BE49-F238E27FC236}">
                <a16:creationId xmlns:a16="http://schemas.microsoft.com/office/drawing/2014/main" id="{8FFC99DD-1306-486C-BB33-4774D3F58E1E}"/>
              </a:ext>
            </a:extLst>
          </p:cNvPr>
          <p:cNvSpPr>
            <a:spLocks noGrp="1"/>
          </p:cNvSpPr>
          <p:nvPr>
            <p:custDataLst>
              <p:tags r:id="rId21"/>
            </p:custDataLst>
          </p:nvPr>
        </p:nvSpPr>
        <p:spPr bwMode="auto">
          <a:xfrm>
            <a:off x="8405538" y="6204712"/>
            <a:ext cx="3254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11838638-F197-4DCC-8A62-0B42BAA0E8C1}" type="datetime'''''''''''''F''''''''Y1''''''''''2'''''''''''''''''''''''''''">
              <a:rPr lang="en-US" altLang="en-US" sz="1000"/>
              <a:pPr/>
              <a:t>FY12</a:t>
            </a:fld>
            <a:endParaRPr lang="en-US" sz="1000" dirty="0"/>
          </a:p>
        </p:txBody>
      </p:sp>
      <p:sp>
        <p:nvSpPr>
          <p:cNvPr id="134" name="Text Placeholder 18">
            <a:extLst>
              <a:ext uri="{FF2B5EF4-FFF2-40B4-BE49-F238E27FC236}">
                <a16:creationId xmlns:a16="http://schemas.microsoft.com/office/drawing/2014/main" id="{312C6231-87AD-45FB-AE8B-701B67755793}"/>
              </a:ext>
            </a:extLst>
          </p:cNvPr>
          <p:cNvSpPr>
            <a:spLocks noGrp="1"/>
          </p:cNvSpPr>
          <p:nvPr>
            <p:custDataLst>
              <p:tags r:id="rId22"/>
            </p:custDataLst>
          </p:nvPr>
        </p:nvSpPr>
        <p:spPr bwMode="auto">
          <a:xfrm>
            <a:off x="9651725" y="6204712"/>
            <a:ext cx="3254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044157EE-5AF8-42B2-80F5-FF7BC2590444}" type="datetime'''''''''''''''F''Y''''''''1''''''''5'''">
              <a:rPr lang="en-US" altLang="en-US" sz="1000"/>
              <a:pPr/>
              <a:t>FY15</a:t>
            </a:fld>
            <a:endParaRPr lang="en-US" sz="1000" dirty="0"/>
          </a:p>
        </p:txBody>
      </p:sp>
      <p:sp>
        <p:nvSpPr>
          <p:cNvPr id="135" name="Text Placeholder 18">
            <a:extLst>
              <a:ext uri="{FF2B5EF4-FFF2-40B4-BE49-F238E27FC236}">
                <a16:creationId xmlns:a16="http://schemas.microsoft.com/office/drawing/2014/main" id="{30B13C8B-9A43-47AC-999F-E8B584B5A317}"/>
              </a:ext>
            </a:extLst>
          </p:cNvPr>
          <p:cNvSpPr>
            <a:spLocks noGrp="1"/>
          </p:cNvSpPr>
          <p:nvPr>
            <p:custDataLst>
              <p:tags r:id="rId23"/>
            </p:custDataLst>
          </p:nvPr>
        </p:nvSpPr>
        <p:spPr bwMode="auto">
          <a:xfrm rot="21069566">
            <a:off x="9088165" y="5218874"/>
            <a:ext cx="1450975" cy="215900"/>
          </a:xfrm>
          <a:prstGeom prst="ellipse">
            <a:avLst/>
          </a:prstGeom>
          <a:solidFill>
            <a:srgbClr val="FFFFFF"/>
          </a:solidFill>
          <a:ln w="9525" algn="ctr">
            <a:solidFill>
              <a:schemeClr val="tx1"/>
            </a:solidFill>
          </a:ln>
        </p:spPr>
        <p:txBody>
          <a:bodyPr vert="horz" wrap="none" lIns="0" tIns="0" rIns="0" bIns="0" numCol="1" spcCol="0" rtlCol="0" anchor="ctr"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4F476176-18D3-4403-B924-82BD4D7788B0}" type="datetime'+''1''''''''''''4''''.''''1''''''''''''%'''''''''''''''''">
              <a:rPr lang="en-US" altLang="en-US" sz="1000" b="1"/>
              <a:pPr/>
              <a:t>+14.1%</a:t>
            </a:fld>
            <a:r>
              <a:rPr lang="en-US" altLang="en-US" sz="1000" b="1" dirty="0"/>
              <a:t> CAGR</a:t>
            </a:r>
            <a:endParaRPr lang="en-US" sz="1000" b="1" dirty="0"/>
          </a:p>
        </p:txBody>
      </p:sp>
      <p:sp>
        <p:nvSpPr>
          <p:cNvPr id="136" name="Rectangle 135">
            <a:extLst>
              <a:ext uri="{FF2B5EF4-FFF2-40B4-BE49-F238E27FC236}">
                <a16:creationId xmlns:a16="http://schemas.microsoft.com/office/drawing/2014/main" id="{4E04F234-A417-427A-A587-983B3B9C8A57}"/>
              </a:ext>
            </a:extLst>
          </p:cNvPr>
          <p:cNvSpPr/>
          <p:nvPr/>
        </p:nvSpPr>
        <p:spPr bwMode="gray">
          <a:xfrm>
            <a:off x="8226279" y="4737863"/>
            <a:ext cx="3245216" cy="384104"/>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solidFill>
                  <a:srgbClr val="00B0F0"/>
                </a:solidFill>
              </a:rPr>
              <a:t>WBSEDCL RA Balance (Rs. Crore)</a:t>
            </a:r>
          </a:p>
        </p:txBody>
      </p:sp>
      <p:grpSp>
        <p:nvGrpSpPr>
          <p:cNvPr id="137" name="Group 367">
            <a:extLst>
              <a:ext uri="{FF2B5EF4-FFF2-40B4-BE49-F238E27FC236}">
                <a16:creationId xmlns:a16="http://schemas.microsoft.com/office/drawing/2014/main" id="{684CB75A-05AD-44D6-9BFD-3BA675405036}"/>
              </a:ext>
            </a:extLst>
          </p:cNvPr>
          <p:cNvGrpSpPr>
            <a:grpSpLocks noChangeAspect="1"/>
          </p:cNvGrpSpPr>
          <p:nvPr/>
        </p:nvGrpSpPr>
        <p:grpSpPr bwMode="auto">
          <a:xfrm>
            <a:off x="874704" y="4972806"/>
            <a:ext cx="747102" cy="749299"/>
            <a:chOff x="4383" y="2091"/>
            <a:chExt cx="340" cy="341"/>
          </a:xfrm>
          <a:solidFill>
            <a:schemeClr val="accent5"/>
          </a:solidFill>
        </p:grpSpPr>
        <p:sp>
          <p:nvSpPr>
            <p:cNvPr id="138" name="Freeform 262">
              <a:extLst>
                <a:ext uri="{FF2B5EF4-FFF2-40B4-BE49-F238E27FC236}">
                  <a16:creationId xmlns:a16="http://schemas.microsoft.com/office/drawing/2014/main" id="{6A938ED3-2059-4FEB-BFB3-0E816B9A31A0}"/>
                </a:ext>
              </a:extLst>
            </p:cNvPr>
            <p:cNvSpPr>
              <a:spLocks noEditPoints="1"/>
            </p:cNvSpPr>
            <p:nvPr/>
          </p:nvSpPr>
          <p:spPr bwMode="auto">
            <a:xfrm>
              <a:off x="4445" y="2169"/>
              <a:ext cx="200" cy="170"/>
            </a:xfrm>
            <a:custGeom>
              <a:avLst/>
              <a:gdLst>
                <a:gd name="T0" fmla="*/ 23 w 300"/>
                <a:gd name="T1" fmla="*/ 245 h 256"/>
                <a:gd name="T2" fmla="*/ 2 w 300"/>
                <a:gd name="T3" fmla="*/ 245 h 256"/>
                <a:gd name="T4" fmla="*/ 12 w 300"/>
                <a:gd name="T5" fmla="*/ 213 h 256"/>
                <a:gd name="T6" fmla="*/ 55 w 300"/>
                <a:gd name="T7" fmla="*/ 192 h 256"/>
                <a:gd name="T8" fmla="*/ 44 w 300"/>
                <a:gd name="T9" fmla="*/ 245 h 256"/>
                <a:gd name="T10" fmla="*/ 66 w 300"/>
                <a:gd name="T11" fmla="*/ 245 h 256"/>
                <a:gd name="T12" fmla="*/ 55 w 300"/>
                <a:gd name="T13" fmla="*/ 192 h 256"/>
                <a:gd name="T14" fmla="*/ 87 w 300"/>
                <a:gd name="T15" fmla="*/ 171 h 256"/>
                <a:gd name="T16" fmla="*/ 98 w 300"/>
                <a:gd name="T17" fmla="*/ 256 h 256"/>
                <a:gd name="T18" fmla="*/ 108 w 300"/>
                <a:gd name="T19" fmla="*/ 171 h 256"/>
                <a:gd name="T20" fmla="*/ 140 w 300"/>
                <a:gd name="T21" fmla="*/ 149 h 256"/>
                <a:gd name="T22" fmla="*/ 130 w 300"/>
                <a:gd name="T23" fmla="*/ 245 h 256"/>
                <a:gd name="T24" fmla="*/ 151 w 300"/>
                <a:gd name="T25" fmla="*/ 245 h 256"/>
                <a:gd name="T26" fmla="*/ 140 w 300"/>
                <a:gd name="T27" fmla="*/ 149 h 256"/>
                <a:gd name="T28" fmla="*/ 172 w 300"/>
                <a:gd name="T29" fmla="*/ 160 h 256"/>
                <a:gd name="T30" fmla="*/ 183 w 300"/>
                <a:gd name="T31" fmla="*/ 256 h 256"/>
                <a:gd name="T32" fmla="*/ 194 w 300"/>
                <a:gd name="T33" fmla="*/ 160 h 256"/>
                <a:gd name="T34" fmla="*/ 226 w 300"/>
                <a:gd name="T35" fmla="*/ 117 h 256"/>
                <a:gd name="T36" fmla="*/ 215 w 300"/>
                <a:gd name="T37" fmla="*/ 245 h 256"/>
                <a:gd name="T38" fmla="*/ 236 w 300"/>
                <a:gd name="T39" fmla="*/ 245 h 256"/>
                <a:gd name="T40" fmla="*/ 226 w 300"/>
                <a:gd name="T41" fmla="*/ 117 h 256"/>
                <a:gd name="T42" fmla="*/ 258 w 300"/>
                <a:gd name="T43" fmla="*/ 96 h 256"/>
                <a:gd name="T44" fmla="*/ 268 w 300"/>
                <a:gd name="T45" fmla="*/ 256 h 256"/>
                <a:gd name="T46" fmla="*/ 279 w 300"/>
                <a:gd name="T47" fmla="*/ 96 h 256"/>
                <a:gd name="T48" fmla="*/ 300 w 300"/>
                <a:gd name="T49" fmla="*/ 7 h 256"/>
                <a:gd name="T50" fmla="*/ 290 w 300"/>
                <a:gd name="T51" fmla="*/ 0 h 256"/>
                <a:gd name="T52" fmla="*/ 236 w 300"/>
                <a:gd name="T53" fmla="*/ 11 h 256"/>
                <a:gd name="T54" fmla="*/ 264 w 300"/>
                <a:gd name="T55" fmla="*/ 21 h 256"/>
                <a:gd name="T56" fmla="*/ 98 w 300"/>
                <a:gd name="T57" fmla="*/ 107 h 256"/>
                <a:gd name="T58" fmla="*/ 6 w 300"/>
                <a:gd name="T59" fmla="*/ 173 h 256"/>
                <a:gd name="T60" fmla="*/ 12 w 300"/>
                <a:gd name="T61" fmla="*/ 192 h 256"/>
                <a:gd name="T62" fmla="*/ 101 w 300"/>
                <a:gd name="T63" fmla="*/ 128 h 256"/>
                <a:gd name="T64" fmla="*/ 191 w 300"/>
                <a:gd name="T65" fmla="*/ 125 h 256"/>
                <a:gd name="T66" fmla="*/ 279 w 300"/>
                <a:gd name="T67" fmla="*/ 53 h 256"/>
                <a:gd name="T68" fmla="*/ 300 w 300"/>
                <a:gd name="T69" fmla="*/ 53 h 256"/>
                <a:gd name="T70" fmla="*/ 300 w 300"/>
                <a:gd name="T71" fmla="*/ 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0" h="256">
                  <a:moveTo>
                    <a:pt x="23" y="224"/>
                  </a:moveTo>
                  <a:cubicBezTo>
                    <a:pt x="23" y="245"/>
                    <a:pt x="23" y="245"/>
                    <a:pt x="23" y="245"/>
                  </a:cubicBezTo>
                  <a:cubicBezTo>
                    <a:pt x="23" y="251"/>
                    <a:pt x="18" y="256"/>
                    <a:pt x="12" y="256"/>
                  </a:cubicBezTo>
                  <a:cubicBezTo>
                    <a:pt x="6" y="256"/>
                    <a:pt x="2" y="251"/>
                    <a:pt x="2" y="245"/>
                  </a:cubicBezTo>
                  <a:cubicBezTo>
                    <a:pt x="2" y="224"/>
                    <a:pt x="2" y="224"/>
                    <a:pt x="2" y="224"/>
                  </a:cubicBezTo>
                  <a:cubicBezTo>
                    <a:pt x="2" y="218"/>
                    <a:pt x="6" y="213"/>
                    <a:pt x="12" y="213"/>
                  </a:cubicBezTo>
                  <a:cubicBezTo>
                    <a:pt x="18" y="213"/>
                    <a:pt x="23" y="218"/>
                    <a:pt x="23" y="224"/>
                  </a:cubicBezTo>
                  <a:close/>
                  <a:moveTo>
                    <a:pt x="55" y="192"/>
                  </a:moveTo>
                  <a:cubicBezTo>
                    <a:pt x="49" y="192"/>
                    <a:pt x="44" y="197"/>
                    <a:pt x="44" y="203"/>
                  </a:cubicBezTo>
                  <a:cubicBezTo>
                    <a:pt x="44" y="245"/>
                    <a:pt x="44" y="245"/>
                    <a:pt x="44" y="245"/>
                  </a:cubicBezTo>
                  <a:cubicBezTo>
                    <a:pt x="44" y="251"/>
                    <a:pt x="49" y="256"/>
                    <a:pt x="55" y="256"/>
                  </a:cubicBezTo>
                  <a:cubicBezTo>
                    <a:pt x="61" y="256"/>
                    <a:pt x="66" y="251"/>
                    <a:pt x="66" y="245"/>
                  </a:cubicBezTo>
                  <a:cubicBezTo>
                    <a:pt x="66" y="203"/>
                    <a:pt x="66" y="203"/>
                    <a:pt x="66" y="203"/>
                  </a:cubicBezTo>
                  <a:cubicBezTo>
                    <a:pt x="66" y="197"/>
                    <a:pt x="61" y="192"/>
                    <a:pt x="55" y="192"/>
                  </a:cubicBezTo>
                  <a:close/>
                  <a:moveTo>
                    <a:pt x="98" y="160"/>
                  </a:moveTo>
                  <a:cubicBezTo>
                    <a:pt x="92" y="160"/>
                    <a:pt x="87" y="165"/>
                    <a:pt x="87" y="171"/>
                  </a:cubicBezTo>
                  <a:cubicBezTo>
                    <a:pt x="87" y="245"/>
                    <a:pt x="87" y="245"/>
                    <a:pt x="87" y="245"/>
                  </a:cubicBezTo>
                  <a:cubicBezTo>
                    <a:pt x="87" y="251"/>
                    <a:pt x="92" y="256"/>
                    <a:pt x="98" y="256"/>
                  </a:cubicBezTo>
                  <a:cubicBezTo>
                    <a:pt x="104" y="256"/>
                    <a:pt x="108" y="251"/>
                    <a:pt x="108" y="245"/>
                  </a:cubicBezTo>
                  <a:cubicBezTo>
                    <a:pt x="108" y="171"/>
                    <a:pt x="108" y="171"/>
                    <a:pt x="108" y="171"/>
                  </a:cubicBezTo>
                  <a:cubicBezTo>
                    <a:pt x="108" y="165"/>
                    <a:pt x="104" y="160"/>
                    <a:pt x="98" y="160"/>
                  </a:cubicBezTo>
                  <a:close/>
                  <a:moveTo>
                    <a:pt x="140" y="149"/>
                  </a:moveTo>
                  <a:cubicBezTo>
                    <a:pt x="134" y="149"/>
                    <a:pt x="130" y="154"/>
                    <a:pt x="130" y="160"/>
                  </a:cubicBezTo>
                  <a:cubicBezTo>
                    <a:pt x="130" y="245"/>
                    <a:pt x="130" y="245"/>
                    <a:pt x="130" y="245"/>
                  </a:cubicBezTo>
                  <a:cubicBezTo>
                    <a:pt x="130" y="251"/>
                    <a:pt x="134" y="256"/>
                    <a:pt x="140" y="256"/>
                  </a:cubicBezTo>
                  <a:cubicBezTo>
                    <a:pt x="146" y="256"/>
                    <a:pt x="151" y="251"/>
                    <a:pt x="151" y="245"/>
                  </a:cubicBezTo>
                  <a:cubicBezTo>
                    <a:pt x="151" y="160"/>
                    <a:pt x="151" y="160"/>
                    <a:pt x="151" y="160"/>
                  </a:cubicBezTo>
                  <a:cubicBezTo>
                    <a:pt x="151" y="154"/>
                    <a:pt x="146" y="149"/>
                    <a:pt x="140" y="149"/>
                  </a:cubicBezTo>
                  <a:close/>
                  <a:moveTo>
                    <a:pt x="183" y="149"/>
                  </a:moveTo>
                  <a:cubicBezTo>
                    <a:pt x="177" y="149"/>
                    <a:pt x="172" y="154"/>
                    <a:pt x="172" y="160"/>
                  </a:cubicBezTo>
                  <a:cubicBezTo>
                    <a:pt x="172" y="245"/>
                    <a:pt x="172" y="245"/>
                    <a:pt x="172" y="245"/>
                  </a:cubicBezTo>
                  <a:cubicBezTo>
                    <a:pt x="172" y="251"/>
                    <a:pt x="177" y="256"/>
                    <a:pt x="183" y="256"/>
                  </a:cubicBezTo>
                  <a:cubicBezTo>
                    <a:pt x="189" y="256"/>
                    <a:pt x="194" y="251"/>
                    <a:pt x="194" y="245"/>
                  </a:cubicBezTo>
                  <a:cubicBezTo>
                    <a:pt x="194" y="160"/>
                    <a:pt x="194" y="160"/>
                    <a:pt x="194" y="160"/>
                  </a:cubicBezTo>
                  <a:cubicBezTo>
                    <a:pt x="194" y="154"/>
                    <a:pt x="189" y="149"/>
                    <a:pt x="183" y="149"/>
                  </a:cubicBezTo>
                  <a:close/>
                  <a:moveTo>
                    <a:pt x="226" y="117"/>
                  </a:moveTo>
                  <a:cubicBezTo>
                    <a:pt x="220" y="117"/>
                    <a:pt x="215" y="122"/>
                    <a:pt x="215" y="128"/>
                  </a:cubicBezTo>
                  <a:cubicBezTo>
                    <a:pt x="215" y="245"/>
                    <a:pt x="215" y="245"/>
                    <a:pt x="215" y="245"/>
                  </a:cubicBezTo>
                  <a:cubicBezTo>
                    <a:pt x="215" y="251"/>
                    <a:pt x="220" y="256"/>
                    <a:pt x="226" y="256"/>
                  </a:cubicBezTo>
                  <a:cubicBezTo>
                    <a:pt x="232" y="256"/>
                    <a:pt x="236" y="251"/>
                    <a:pt x="236" y="245"/>
                  </a:cubicBezTo>
                  <a:cubicBezTo>
                    <a:pt x="236" y="128"/>
                    <a:pt x="236" y="128"/>
                    <a:pt x="236" y="128"/>
                  </a:cubicBezTo>
                  <a:cubicBezTo>
                    <a:pt x="236" y="122"/>
                    <a:pt x="232" y="117"/>
                    <a:pt x="226" y="117"/>
                  </a:cubicBezTo>
                  <a:close/>
                  <a:moveTo>
                    <a:pt x="268" y="85"/>
                  </a:moveTo>
                  <a:cubicBezTo>
                    <a:pt x="262" y="85"/>
                    <a:pt x="258" y="90"/>
                    <a:pt x="258" y="96"/>
                  </a:cubicBezTo>
                  <a:cubicBezTo>
                    <a:pt x="258" y="245"/>
                    <a:pt x="258" y="245"/>
                    <a:pt x="258" y="245"/>
                  </a:cubicBezTo>
                  <a:cubicBezTo>
                    <a:pt x="258" y="251"/>
                    <a:pt x="262" y="256"/>
                    <a:pt x="268" y="256"/>
                  </a:cubicBezTo>
                  <a:cubicBezTo>
                    <a:pt x="274" y="256"/>
                    <a:pt x="279" y="251"/>
                    <a:pt x="279" y="245"/>
                  </a:cubicBezTo>
                  <a:cubicBezTo>
                    <a:pt x="279" y="96"/>
                    <a:pt x="279" y="96"/>
                    <a:pt x="279" y="96"/>
                  </a:cubicBezTo>
                  <a:cubicBezTo>
                    <a:pt x="279" y="90"/>
                    <a:pt x="274" y="85"/>
                    <a:pt x="268" y="85"/>
                  </a:cubicBezTo>
                  <a:close/>
                  <a:moveTo>
                    <a:pt x="300" y="7"/>
                  </a:moveTo>
                  <a:cubicBezTo>
                    <a:pt x="298" y="4"/>
                    <a:pt x="296" y="2"/>
                    <a:pt x="294" y="1"/>
                  </a:cubicBezTo>
                  <a:cubicBezTo>
                    <a:pt x="292" y="0"/>
                    <a:pt x="291" y="0"/>
                    <a:pt x="290" y="0"/>
                  </a:cubicBezTo>
                  <a:cubicBezTo>
                    <a:pt x="247" y="0"/>
                    <a:pt x="247" y="0"/>
                    <a:pt x="247" y="0"/>
                  </a:cubicBezTo>
                  <a:cubicBezTo>
                    <a:pt x="241" y="0"/>
                    <a:pt x="236" y="5"/>
                    <a:pt x="236" y="11"/>
                  </a:cubicBezTo>
                  <a:cubicBezTo>
                    <a:pt x="236" y="17"/>
                    <a:pt x="241" y="21"/>
                    <a:pt x="247" y="21"/>
                  </a:cubicBezTo>
                  <a:cubicBezTo>
                    <a:pt x="264" y="21"/>
                    <a:pt x="264" y="21"/>
                    <a:pt x="264" y="21"/>
                  </a:cubicBezTo>
                  <a:cubicBezTo>
                    <a:pt x="179" y="107"/>
                    <a:pt x="179" y="107"/>
                    <a:pt x="179" y="107"/>
                  </a:cubicBezTo>
                  <a:cubicBezTo>
                    <a:pt x="98" y="107"/>
                    <a:pt x="98" y="107"/>
                    <a:pt x="98" y="107"/>
                  </a:cubicBezTo>
                  <a:cubicBezTo>
                    <a:pt x="95" y="107"/>
                    <a:pt x="93" y="107"/>
                    <a:pt x="91" y="109"/>
                  </a:cubicBezTo>
                  <a:cubicBezTo>
                    <a:pt x="6" y="173"/>
                    <a:pt x="6" y="173"/>
                    <a:pt x="6" y="173"/>
                  </a:cubicBezTo>
                  <a:cubicBezTo>
                    <a:pt x="1" y="176"/>
                    <a:pt x="0" y="183"/>
                    <a:pt x="4" y="188"/>
                  </a:cubicBezTo>
                  <a:cubicBezTo>
                    <a:pt x="6" y="191"/>
                    <a:pt x="9" y="192"/>
                    <a:pt x="12" y="192"/>
                  </a:cubicBezTo>
                  <a:cubicBezTo>
                    <a:pt x="15" y="192"/>
                    <a:pt x="17" y="191"/>
                    <a:pt x="19" y="190"/>
                  </a:cubicBezTo>
                  <a:cubicBezTo>
                    <a:pt x="101" y="128"/>
                    <a:pt x="101" y="128"/>
                    <a:pt x="101" y="128"/>
                  </a:cubicBezTo>
                  <a:cubicBezTo>
                    <a:pt x="183" y="128"/>
                    <a:pt x="183" y="128"/>
                    <a:pt x="183" y="128"/>
                  </a:cubicBezTo>
                  <a:cubicBezTo>
                    <a:pt x="186" y="128"/>
                    <a:pt x="189" y="127"/>
                    <a:pt x="191" y="125"/>
                  </a:cubicBezTo>
                  <a:cubicBezTo>
                    <a:pt x="279" y="36"/>
                    <a:pt x="279" y="36"/>
                    <a:pt x="279" y="36"/>
                  </a:cubicBezTo>
                  <a:cubicBezTo>
                    <a:pt x="279" y="53"/>
                    <a:pt x="279" y="53"/>
                    <a:pt x="279" y="53"/>
                  </a:cubicBezTo>
                  <a:cubicBezTo>
                    <a:pt x="279" y="59"/>
                    <a:pt x="284" y="64"/>
                    <a:pt x="290" y="64"/>
                  </a:cubicBezTo>
                  <a:cubicBezTo>
                    <a:pt x="296" y="64"/>
                    <a:pt x="300" y="59"/>
                    <a:pt x="300" y="53"/>
                  </a:cubicBezTo>
                  <a:cubicBezTo>
                    <a:pt x="300" y="11"/>
                    <a:pt x="300" y="11"/>
                    <a:pt x="300" y="11"/>
                  </a:cubicBezTo>
                  <a:cubicBezTo>
                    <a:pt x="300" y="9"/>
                    <a:pt x="300" y="8"/>
                    <a:pt x="300" y="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9" name="Freeform 263">
              <a:extLst>
                <a:ext uri="{FF2B5EF4-FFF2-40B4-BE49-F238E27FC236}">
                  <a16:creationId xmlns:a16="http://schemas.microsoft.com/office/drawing/2014/main" id="{6581D525-67CA-4CB4-A0BA-9776931F5C87}"/>
                </a:ext>
              </a:extLst>
            </p:cNvPr>
            <p:cNvSpPr>
              <a:spLocks noEditPoints="1"/>
            </p:cNvSpPr>
            <p:nvPr/>
          </p:nvSpPr>
          <p:spPr bwMode="auto">
            <a:xfrm>
              <a:off x="4383" y="2091"/>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40" name="Rectangle 139">
            <a:extLst>
              <a:ext uri="{FF2B5EF4-FFF2-40B4-BE49-F238E27FC236}">
                <a16:creationId xmlns:a16="http://schemas.microsoft.com/office/drawing/2014/main" id="{F18B79D7-8253-41B2-943A-4F3193C9BDE5}"/>
              </a:ext>
            </a:extLst>
          </p:cNvPr>
          <p:cNvSpPr/>
          <p:nvPr/>
        </p:nvSpPr>
        <p:spPr bwMode="gray">
          <a:xfrm>
            <a:off x="510124" y="5893905"/>
            <a:ext cx="1476265" cy="233864"/>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solidFill>
                  <a:srgbClr val="00B0F0"/>
                </a:solidFill>
              </a:rPr>
              <a:t>Regulatory Asset Build-up</a:t>
            </a:r>
          </a:p>
        </p:txBody>
      </p:sp>
    </p:spTree>
    <p:extLst>
      <p:ext uri="{BB962C8B-B14F-4D97-AF65-F5344CB8AC3E}">
        <p14:creationId xmlns:p14="http://schemas.microsoft.com/office/powerpoint/2010/main" val="1310759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extLst>
              <p:ext uri="{D42A27DB-BD31-4B8C-83A1-F6EECF244321}">
                <p14:modId xmlns:p14="http://schemas.microsoft.com/office/powerpoint/2010/main" val="24257075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4" imgW="470" imgH="469" progId="TCLayout.ActiveDocument.1">
                  <p:embed/>
                </p:oleObj>
              </mc:Choice>
              <mc:Fallback>
                <p:oleObj name="think-cell Slide" r:id="rId54" imgW="470" imgH="469" progId="TCLayout.ActiveDocument.1">
                  <p:embed/>
                  <p:pic>
                    <p:nvPicPr>
                      <p:cNvPr id="7" name="Object 6" hidden="1"/>
                      <p:cNvPicPr/>
                      <p:nvPr/>
                    </p:nvPicPr>
                    <p:blipFill>
                      <a:blip r:embed="rId5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bwMode="gray">
          <a:xfrm>
            <a:off x="1" y="1"/>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defTabSz="899010">
              <a:spcBef>
                <a:spcPct val="0"/>
              </a:spcBef>
              <a:spcAft>
                <a:spcPct val="0"/>
              </a:spcAft>
              <a:defRPr/>
            </a:pPr>
            <a:endParaRPr lang="en-IN" sz="1000" dirty="0">
              <a:solidFill>
                <a:prstClr val="white"/>
              </a:solidFill>
              <a:latin typeface="Verdana" panose="020B0604030504040204" pitchFamily="34" charset="0"/>
              <a:sym typeface="Verdana" panose="020B0604030504040204" pitchFamily="34" charset="0"/>
            </a:endParaRPr>
          </a:p>
        </p:txBody>
      </p:sp>
      <p:sp>
        <p:nvSpPr>
          <p:cNvPr id="77" name="Title 3"/>
          <p:cNvSpPr>
            <a:spLocks noGrp="1"/>
          </p:cNvSpPr>
          <p:nvPr>
            <p:ph type="title"/>
          </p:nvPr>
        </p:nvSpPr>
        <p:spPr>
          <a:xfrm>
            <a:off x="501652" y="317504"/>
            <a:ext cx="11188700" cy="368299"/>
          </a:xfrm>
        </p:spPr>
        <p:txBody>
          <a:bodyPr vert="horz"/>
          <a:lstStyle/>
          <a:p>
            <a:pPr algn="just"/>
            <a:r>
              <a:rPr lang="en-US" sz="1800" b="0" i="0" dirty="0">
                <a:solidFill>
                  <a:schemeClr val="tx1"/>
                </a:solidFill>
              </a:rPr>
              <a:t>This has led to decline in profitability of WBSEDCL and liquidity issues; WBPDCL is facing operational challenges </a:t>
            </a:r>
          </a:p>
        </p:txBody>
      </p:sp>
      <p:sp>
        <p:nvSpPr>
          <p:cNvPr id="11" name="Rectangle 10">
            <a:extLst>
              <a:ext uri="{FF2B5EF4-FFF2-40B4-BE49-F238E27FC236}">
                <a16:creationId xmlns:a16="http://schemas.microsoft.com/office/drawing/2014/main" id="{6FFFF2FC-1AFC-40CB-8E4F-7015207357C7}"/>
              </a:ext>
            </a:extLst>
          </p:cNvPr>
          <p:cNvSpPr/>
          <p:nvPr/>
        </p:nvSpPr>
        <p:spPr bwMode="gray">
          <a:xfrm>
            <a:off x="501635" y="1036639"/>
            <a:ext cx="11332738" cy="299533"/>
          </a:xfrm>
          <a:prstGeom prst="rect">
            <a:avLst/>
          </a:prstGeom>
          <a:solidFill>
            <a:schemeClr val="accent5"/>
          </a:solidFill>
          <a:ln w="19050" algn="ctr">
            <a:noFill/>
            <a:miter lim="800000"/>
            <a:headEnd/>
            <a:tailEnd/>
          </a:ln>
        </p:spPr>
        <p:txBody>
          <a:bodyPr wrap="square" lIns="88900" tIns="88900" rIns="88900" bIns="88900" rtlCol="0" anchor="ctr"/>
          <a:lstStyle/>
          <a:p>
            <a:pPr algn="ctr" defTabSz="914400" eaLnBrk="0" fontAlgn="base" hangingPunct="0">
              <a:lnSpc>
                <a:spcPct val="106000"/>
              </a:lnSpc>
              <a:spcBef>
                <a:spcPct val="0"/>
              </a:spcBef>
              <a:spcAft>
                <a:spcPct val="0"/>
              </a:spcAft>
              <a:defRPr/>
            </a:pPr>
            <a:r>
              <a:rPr lang="en-US" sz="1200" b="1" dirty="0">
                <a:solidFill>
                  <a:prstClr val="white"/>
                </a:solidFill>
                <a:latin typeface="Verdana"/>
                <a:cs typeface="Arial" panose="020B0604020202020204" pitchFamily="34" charset="0"/>
              </a:rPr>
              <a:t>Key Sectoral Challenges</a:t>
            </a:r>
            <a:endParaRPr lang="en-IN" sz="1200" b="1" dirty="0">
              <a:solidFill>
                <a:prstClr val="white"/>
              </a:solidFill>
              <a:latin typeface="Verdana"/>
              <a:cs typeface="Arial" panose="020B0604020202020204" pitchFamily="34" charset="0"/>
            </a:endParaRPr>
          </a:p>
        </p:txBody>
      </p:sp>
      <p:sp>
        <p:nvSpPr>
          <p:cNvPr id="78" name="TextBox 77">
            <a:extLst>
              <a:ext uri="{FF2B5EF4-FFF2-40B4-BE49-F238E27FC236}">
                <a16:creationId xmlns:a16="http://schemas.microsoft.com/office/drawing/2014/main" id="{AD21EA53-5CC0-40F7-8F4E-A8F9E172E380}"/>
              </a:ext>
            </a:extLst>
          </p:cNvPr>
          <p:cNvSpPr txBox="1"/>
          <p:nvPr/>
        </p:nvSpPr>
        <p:spPr>
          <a:xfrm>
            <a:off x="5400339" y="6667760"/>
            <a:ext cx="6108111" cy="123111"/>
          </a:xfrm>
          <a:prstGeom prst="rect">
            <a:avLst/>
          </a:prstGeom>
          <a:noFill/>
        </p:spPr>
        <p:txBody>
          <a:bodyPr wrap="square" lIns="0" tIns="0" rIns="0" bIns="0" rtlCol="0">
            <a:spAutoFit/>
          </a:bodyPr>
          <a:lstStyle/>
          <a:p>
            <a:pPr algn="r">
              <a:spcBef>
                <a:spcPts val="600"/>
              </a:spcBef>
              <a:buSzPct val="100000"/>
            </a:pPr>
            <a:r>
              <a:rPr lang="en-US" sz="800" i="1" dirty="0">
                <a:solidFill>
                  <a:srgbClr val="313131"/>
                </a:solidFill>
              </a:rPr>
              <a:t>Source: WBPDCL and WBSEDCL Annual Reports, Deloitte research</a:t>
            </a:r>
          </a:p>
        </p:txBody>
      </p:sp>
      <p:sp>
        <p:nvSpPr>
          <p:cNvPr id="79" name="Rectangle 78">
            <a:extLst>
              <a:ext uri="{FF2B5EF4-FFF2-40B4-BE49-F238E27FC236}">
                <a16:creationId xmlns:a16="http://schemas.microsoft.com/office/drawing/2014/main" id="{D901952D-D6B1-4F1F-9DCF-F11F98AF3C71}"/>
              </a:ext>
            </a:extLst>
          </p:cNvPr>
          <p:cNvSpPr/>
          <p:nvPr/>
        </p:nvSpPr>
        <p:spPr bwMode="gray">
          <a:xfrm>
            <a:off x="501648" y="1346347"/>
            <a:ext cx="11333602" cy="1758950"/>
          </a:xfrm>
          <a:prstGeom prst="rect">
            <a:avLst/>
          </a:prstGeom>
          <a:solidFill>
            <a:srgbClr val="00A3E0">
              <a:alpha val="12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7" name="Rectangle 106">
            <a:extLst>
              <a:ext uri="{FF2B5EF4-FFF2-40B4-BE49-F238E27FC236}">
                <a16:creationId xmlns:a16="http://schemas.microsoft.com/office/drawing/2014/main" id="{B27AEB11-63DC-4E38-AE50-945C86F04CC6}"/>
              </a:ext>
            </a:extLst>
          </p:cNvPr>
          <p:cNvSpPr/>
          <p:nvPr/>
        </p:nvSpPr>
        <p:spPr bwMode="gray">
          <a:xfrm>
            <a:off x="1948850" y="1459870"/>
            <a:ext cx="5784850" cy="1525559"/>
          </a:xfrm>
          <a:prstGeom prst="rect">
            <a:avLst/>
          </a:prstGeom>
          <a:noFill/>
          <a:ln w="19050" algn="ctr">
            <a:solidFill>
              <a:srgbClr val="00A3E0"/>
            </a:solidFill>
            <a:miter lim="800000"/>
            <a:headEnd/>
            <a:tailEnd/>
          </a:ln>
        </p:spPr>
        <p:txBody>
          <a:bodyPr wrap="square" lIns="88900" tIns="88900" rIns="88900" bIns="88900" rtlCol="0" anchor="ctr"/>
          <a:lstStyle/>
          <a:p>
            <a:pPr marL="171450" indent="-171450">
              <a:lnSpc>
                <a:spcPct val="106000"/>
              </a:lnSpc>
              <a:spcAft>
                <a:spcPts val="600"/>
              </a:spcAft>
              <a:buFont typeface="Arial" panose="020B0604020202020204" pitchFamily="34" charset="0"/>
              <a:buChar char="•"/>
            </a:pPr>
            <a:r>
              <a:rPr lang="en-US" sz="1100" dirty="0"/>
              <a:t>The build up of Regulatory Assets has led to </a:t>
            </a:r>
            <a:r>
              <a:rPr lang="en-US" sz="1100" b="1" dirty="0"/>
              <a:t>liquidity challenges </a:t>
            </a:r>
            <a:r>
              <a:rPr lang="en-US" sz="1100" dirty="0"/>
              <a:t>for WBSEDCL which has led to substantial increase in its short-term borrowings and due payments to </a:t>
            </a:r>
            <a:r>
              <a:rPr lang="en-US" sz="1100" dirty="0" err="1"/>
              <a:t>Gencos</a:t>
            </a:r>
            <a:r>
              <a:rPr lang="en-US" sz="1100" dirty="0"/>
              <a:t> / </a:t>
            </a:r>
            <a:r>
              <a:rPr lang="en-US" sz="1100" dirty="0" err="1"/>
              <a:t>Transcos</a:t>
            </a:r>
            <a:r>
              <a:rPr lang="en-US" sz="1100" dirty="0"/>
              <a:t> etc.</a:t>
            </a:r>
          </a:p>
          <a:p>
            <a:pPr marL="171450" indent="-171450">
              <a:lnSpc>
                <a:spcPct val="106000"/>
              </a:lnSpc>
              <a:spcAft>
                <a:spcPts val="600"/>
              </a:spcAft>
              <a:buFont typeface="Arial" panose="020B0604020202020204" pitchFamily="34" charset="0"/>
              <a:buChar char="•"/>
            </a:pPr>
            <a:r>
              <a:rPr lang="en-US" sz="1100" dirty="0"/>
              <a:t>The short-term borrowings and trade payables have increased at a </a:t>
            </a:r>
            <a:r>
              <a:rPr lang="en-US" sz="1100" b="1" dirty="0"/>
              <a:t>CAGR of ~17% and ~13% respectively between FY12 and FY20</a:t>
            </a:r>
          </a:p>
          <a:p>
            <a:pPr marL="171450" indent="-171450">
              <a:lnSpc>
                <a:spcPct val="106000"/>
              </a:lnSpc>
              <a:spcAft>
                <a:spcPts val="600"/>
              </a:spcAft>
              <a:buFont typeface="Arial" panose="020B0604020202020204" pitchFamily="34" charset="0"/>
              <a:buChar char="•"/>
            </a:pPr>
            <a:r>
              <a:rPr lang="en-US" sz="1100" b="1" dirty="0"/>
              <a:t>WBSEDCL’s profitability has declined</a:t>
            </a:r>
            <a:r>
              <a:rPr lang="en-US" sz="1100" dirty="0"/>
              <a:t> over the years with Net Profit Margin falling from 0.61% in FY12 to -0.21 in FY19</a:t>
            </a:r>
          </a:p>
        </p:txBody>
      </p:sp>
      <p:graphicFrame>
        <p:nvGraphicFramePr>
          <p:cNvPr id="108" name="Chart 107">
            <a:extLst>
              <a:ext uri="{FF2B5EF4-FFF2-40B4-BE49-F238E27FC236}">
                <a16:creationId xmlns:a16="http://schemas.microsoft.com/office/drawing/2014/main" id="{296306D3-23BF-468F-8AD7-42E27879E50F}"/>
              </a:ext>
            </a:extLst>
          </p:cNvPr>
          <p:cNvGraphicFramePr/>
          <p:nvPr>
            <p:custDataLst>
              <p:tags r:id="rId3"/>
            </p:custDataLst>
            <p:extLst>
              <p:ext uri="{D42A27DB-BD31-4B8C-83A1-F6EECF244321}">
                <p14:modId xmlns:p14="http://schemas.microsoft.com/office/powerpoint/2010/main" val="3959087876"/>
              </p:ext>
            </p:extLst>
          </p:nvPr>
        </p:nvGraphicFramePr>
        <p:xfrm>
          <a:off x="7826377" y="1728935"/>
          <a:ext cx="3946525" cy="946150"/>
        </p:xfrm>
        <a:graphic>
          <a:graphicData uri="http://schemas.openxmlformats.org/drawingml/2006/chart">
            <c:chart xmlns:c="http://schemas.openxmlformats.org/drawingml/2006/chart" xmlns:r="http://schemas.openxmlformats.org/officeDocument/2006/relationships" r:id="rId56"/>
          </a:graphicData>
        </a:graphic>
      </p:graphicFrame>
      <p:sp useBgFill="1">
        <p:nvSpPr>
          <p:cNvPr id="109" name="Freeform: Shape 108">
            <a:extLst>
              <a:ext uri="{FF2B5EF4-FFF2-40B4-BE49-F238E27FC236}">
                <a16:creationId xmlns:a16="http://schemas.microsoft.com/office/drawing/2014/main" id="{4C313AC3-220D-41FF-947F-10F940935741}"/>
              </a:ext>
            </a:extLst>
          </p:cNvPr>
          <p:cNvSpPr/>
          <p:nvPr>
            <p:custDataLst>
              <p:tags r:id="rId4"/>
            </p:custDataLst>
          </p:nvPr>
        </p:nvSpPr>
        <p:spPr bwMode="auto">
          <a:xfrm>
            <a:off x="9121777" y="2519512"/>
            <a:ext cx="96839" cy="146051"/>
          </a:xfrm>
          <a:custGeom>
            <a:avLst/>
            <a:gdLst/>
            <a:ahLst/>
            <a:cxnLst/>
            <a:rect l="0" t="0" r="0" b="0"/>
            <a:pathLst>
              <a:path w="96839" h="146051">
                <a:moveTo>
                  <a:pt x="96838" y="0"/>
                </a:moveTo>
                <a:lnTo>
                  <a:pt x="57150" y="146050"/>
                </a:lnTo>
                <a:lnTo>
                  <a:pt x="0" y="146050"/>
                </a:lnTo>
                <a:lnTo>
                  <a:pt x="39688" y="0"/>
                </a:lnTo>
                <a:close/>
              </a:path>
            </a:pathLst>
          </a:custGeom>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useBgFill="1">
        <p:nvSpPr>
          <p:cNvPr id="110" name="Freeform: Shape 109">
            <a:extLst>
              <a:ext uri="{FF2B5EF4-FFF2-40B4-BE49-F238E27FC236}">
                <a16:creationId xmlns:a16="http://schemas.microsoft.com/office/drawing/2014/main" id="{2C508B6A-287B-4E6A-8A33-C890BF1D32BC}"/>
              </a:ext>
            </a:extLst>
          </p:cNvPr>
          <p:cNvSpPr/>
          <p:nvPr>
            <p:custDataLst>
              <p:tags r:id="rId5"/>
            </p:custDataLst>
          </p:nvPr>
        </p:nvSpPr>
        <p:spPr bwMode="auto">
          <a:xfrm>
            <a:off x="10382252" y="2519512"/>
            <a:ext cx="96839" cy="146051"/>
          </a:xfrm>
          <a:custGeom>
            <a:avLst/>
            <a:gdLst/>
            <a:ahLst/>
            <a:cxnLst/>
            <a:rect l="0" t="0" r="0" b="0"/>
            <a:pathLst>
              <a:path w="96839" h="146051">
                <a:moveTo>
                  <a:pt x="96838" y="0"/>
                </a:moveTo>
                <a:lnTo>
                  <a:pt x="57150" y="146050"/>
                </a:lnTo>
                <a:lnTo>
                  <a:pt x="0" y="146050"/>
                </a:lnTo>
                <a:lnTo>
                  <a:pt x="39688" y="0"/>
                </a:lnTo>
                <a:close/>
              </a:path>
            </a:pathLst>
          </a:custGeom>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11" name="Freeform: Shape 110">
            <a:extLst>
              <a:ext uri="{FF2B5EF4-FFF2-40B4-BE49-F238E27FC236}">
                <a16:creationId xmlns:a16="http://schemas.microsoft.com/office/drawing/2014/main" id="{1AE3F89F-DAC0-40D7-B8B1-E8D530A3C4DB}"/>
              </a:ext>
            </a:extLst>
          </p:cNvPr>
          <p:cNvSpPr/>
          <p:nvPr>
            <p:custDataLst>
              <p:tags r:id="rId6"/>
            </p:custDataLst>
          </p:nvPr>
        </p:nvSpPr>
        <p:spPr bwMode="auto">
          <a:xfrm>
            <a:off x="9121777" y="2519512"/>
            <a:ext cx="39689" cy="146051"/>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2" name="Freeform: Shape 111">
            <a:extLst>
              <a:ext uri="{FF2B5EF4-FFF2-40B4-BE49-F238E27FC236}">
                <a16:creationId xmlns:a16="http://schemas.microsoft.com/office/drawing/2014/main" id="{E9BA39F6-0DF0-4785-91B5-430F3AB00934}"/>
              </a:ext>
            </a:extLst>
          </p:cNvPr>
          <p:cNvSpPr/>
          <p:nvPr>
            <p:custDataLst>
              <p:tags r:id="rId7"/>
            </p:custDataLst>
          </p:nvPr>
        </p:nvSpPr>
        <p:spPr bwMode="auto">
          <a:xfrm>
            <a:off x="9178927" y="2519512"/>
            <a:ext cx="39689" cy="146051"/>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3" name="Freeform: Shape 112">
            <a:extLst>
              <a:ext uri="{FF2B5EF4-FFF2-40B4-BE49-F238E27FC236}">
                <a16:creationId xmlns:a16="http://schemas.microsoft.com/office/drawing/2014/main" id="{11FEC73B-A6E8-4E59-A646-106FC88AE4FF}"/>
              </a:ext>
            </a:extLst>
          </p:cNvPr>
          <p:cNvSpPr/>
          <p:nvPr>
            <p:custDataLst>
              <p:tags r:id="rId8"/>
            </p:custDataLst>
          </p:nvPr>
        </p:nvSpPr>
        <p:spPr bwMode="auto">
          <a:xfrm>
            <a:off x="10382252" y="2519512"/>
            <a:ext cx="39689" cy="146051"/>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4" name="Freeform: Shape 113">
            <a:extLst>
              <a:ext uri="{FF2B5EF4-FFF2-40B4-BE49-F238E27FC236}">
                <a16:creationId xmlns:a16="http://schemas.microsoft.com/office/drawing/2014/main" id="{A373E7C6-4C13-49E1-A6FF-46791AB79E8C}"/>
              </a:ext>
            </a:extLst>
          </p:cNvPr>
          <p:cNvSpPr/>
          <p:nvPr>
            <p:custDataLst>
              <p:tags r:id="rId9"/>
            </p:custDataLst>
          </p:nvPr>
        </p:nvSpPr>
        <p:spPr bwMode="auto">
          <a:xfrm>
            <a:off x="10439402" y="2519512"/>
            <a:ext cx="39689" cy="146051"/>
          </a:xfrm>
          <a:custGeom>
            <a:avLst/>
            <a:gdLst/>
            <a:ahLst/>
            <a:cxnLst/>
            <a:rect l="0" t="0" r="0" b="0"/>
            <a:pathLst>
              <a:path w="39689" h="146051">
                <a:moveTo>
                  <a:pt x="39688" y="0"/>
                </a:moveTo>
                <a:lnTo>
                  <a:pt x="0" y="146050"/>
                </a:lnTo>
              </a:path>
            </a:pathLst>
          </a:custGeom>
          <a:ln w="9525"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5" name="Text Placeholder 18">
            <a:extLst>
              <a:ext uri="{FF2B5EF4-FFF2-40B4-BE49-F238E27FC236}">
                <a16:creationId xmlns:a16="http://schemas.microsoft.com/office/drawing/2014/main" id="{2FC9ED86-10FE-4A55-AB1E-D3100CA46E71}"/>
              </a:ext>
            </a:extLst>
          </p:cNvPr>
          <p:cNvSpPr>
            <a:spLocks noGrp="1"/>
          </p:cNvSpPr>
          <p:nvPr>
            <p:custDataLst>
              <p:tags r:id="rId10"/>
            </p:custDataLst>
          </p:nvPr>
        </p:nvSpPr>
        <p:spPr bwMode="auto">
          <a:xfrm>
            <a:off x="9637713" y="2678260"/>
            <a:ext cx="3254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E2E84B90-73A5-4228-91AB-EFBCA0C71918}" type="datetime'''''''''''F''''Y''''''''''''''1''''''''''''5'''''''''">
              <a:rPr lang="en-US" altLang="en-US" sz="1000"/>
              <a:pPr/>
              <a:t>FY15</a:t>
            </a:fld>
            <a:endParaRPr lang="en-US" sz="1000" dirty="0"/>
          </a:p>
        </p:txBody>
      </p:sp>
      <p:sp>
        <p:nvSpPr>
          <p:cNvPr id="116" name="Text Placeholder 18">
            <a:extLst>
              <a:ext uri="{FF2B5EF4-FFF2-40B4-BE49-F238E27FC236}">
                <a16:creationId xmlns:a16="http://schemas.microsoft.com/office/drawing/2014/main" id="{F36928F5-C0B6-4435-A474-9A4E2B37C6C9}"/>
              </a:ext>
            </a:extLst>
          </p:cNvPr>
          <p:cNvSpPr>
            <a:spLocks noGrp="1"/>
          </p:cNvSpPr>
          <p:nvPr>
            <p:custDataLst>
              <p:tags r:id="rId11"/>
            </p:custDataLst>
          </p:nvPr>
        </p:nvSpPr>
        <p:spPr bwMode="auto">
          <a:xfrm>
            <a:off x="8377238" y="2678260"/>
            <a:ext cx="3254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8DADAE14-B7C7-484C-9E2C-17CEAA5623D2}" type="datetime'FY''''''''''''''''''''''''''12'''''''''''''">
              <a:rPr lang="en-US" altLang="en-US" sz="1000"/>
              <a:pPr/>
              <a:t>FY12</a:t>
            </a:fld>
            <a:endParaRPr lang="en-US" sz="1000" dirty="0"/>
          </a:p>
        </p:txBody>
      </p:sp>
      <p:sp>
        <p:nvSpPr>
          <p:cNvPr id="117" name="Text Placeholder 18">
            <a:extLst>
              <a:ext uri="{FF2B5EF4-FFF2-40B4-BE49-F238E27FC236}">
                <a16:creationId xmlns:a16="http://schemas.microsoft.com/office/drawing/2014/main" id="{C424C44D-C8AE-4659-9A59-1CF07CCED65E}"/>
              </a:ext>
            </a:extLst>
          </p:cNvPr>
          <p:cNvSpPr>
            <a:spLocks noGrp="1"/>
          </p:cNvSpPr>
          <p:nvPr>
            <p:custDataLst>
              <p:tags r:id="rId12"/>
            </p:custDataLst>
          </p:nvPr>
        </p:nvSpPr>
        <p:spPr bwMode="auto">
          <a:xfrm>
            <a:off x="10898188" y="2678260"/>
            <a:ext cx="3254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105D7F6B-8313-433B-871C-E84A205631C4}" type="datetime'F''Y''''''''''''''''''''''''''''''2''''''''''''''0'''">
              <a:rPr lang="en-US" altLang="en-US" sz="1000"/>
              <a:pPr/>
              <a:t>FY20</a:t>
            </a:fld>
            <a:endParaRPr lang="en-US" sz="1000" dirty="0"/>
          </a:p>
        </p:txBody>
      </p:sp>
      <p:sp>
        <p:nvSpPr>
          <p:cNvPr id="118" name="Rectangle 117">
            <a:extLst>
              <a:ext uri="{FF2B5EF4-FFF2-40B4-BE49-F238E27FC236}">
                <a16:creationId xmlns:a16="http://schemas.microsoft.com/office/drawing/2014/main" id="{F48E9440-BF00-4927-83D9-F4A1FA6BDE81}"/>
              </a:ext>
            </a:extLst>
          </p:cNvPr>
          <p:cNvSpPr/>
          <p:nvPr/>
        </p:nvSpPr>
        <p:spPr bwMode="gray">
          <a:xfrm>
            <a:off x="7824160" y="1414612"/>
            <a:ext cx="3866192" cy="347663"/>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solidFill>
                  <a:srgbClr val="00B0F0"/>
                </a:solidFill>
              </a:rPr>
              <a:t>Short Term Borrowings and Trade Payables of </a:t>
            </a:r>
            <a:r>
              <a:rPr lang="en-US" sz="1200" b="1" i="1" dirty="0" err="1">
                <a:solidFill>
                  <a:srgbClr val="00B0F0"/>
                </a:solidFill>
              </a:rPr>
              <a:t>Discom</a:t>
            </a:r>
            <a:r>
              <a:rPr lang="en-US" sz="1200" b="1" i="1" dirty="0">
                <a:solidFill>
                  <a:srgbClr val="00B0F0"/>
                </a:solidFill>
              </a:rPr>
              <a:t> (Rs. Crore)</a:t>
            </a:r>
          </a:p>
        </p:txBody>
      </p:sp>
      <p:sp>
        <p:nvSpPr>
          <p:cNvPr id="119" name="Rectangle 118">
            <a:extLst>
              <a:ext uri="{FF2B5EF4-FFF2-40B4-BE49-F238E27FC236}">
                <a16:creationId xmlns:a16="http://schemas.microsoft.com/office/drawing/2014/main" id="{2133B6AC-17A3-4BF5-86C2-155D5FE52174}"/>
              </a:ext>
            </a:extLst>
          </p:cNvPr>
          <p:cNvSpPr/>
          <p:nvPr/>
        </p:nvSpPr>
        <p:spPr bwMode="gray">
          <a:xfrm>
            <a:off x="362089" y="2562717"/>
            <a:ext cx="1576322" cy="211981"/>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solidFill>
                  <a:srgbClr val="00B0F0"/>
                </a:solidFill>
              </a:rPr>
              <a:t>Discom Financial Challenge</a:t>
            </a:r>
          </a:p>
        </p:txBody>
      </p:sp>
      <p:sp>
        <p:nvSpPr>
          <p:cNvPr id="120" name="Rectangle 119">
            <a:extLst>
              <a:ext uri="{FF2B5EF4-FFF2-40B4-BE49-F238E27FC236}">
                <a16:creationId xmlns:a16="http://schemas.microsoft.com/office/drawing/2014/main" id="{E52837C2-350C-430C-9F6C-71A83F53E8CE}"/>
              </a:ext>
            </a:extLst>
          </p:cNvPr>
          <p:cNvSpPr/>
          <p:nvPr>
            <p:custDataLst>
              <p:tags r:id="rId13"/>
            </p:custDataLst>
          </p:nvPr>
        </p:nvSpPr>
        <p:spPr bwMode="auto">
          <a:xfrm>
            <a:off x="10179050" y="2849710"/>
            <a:ext cx="179388" cy="133350"/>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21" name="Rectangle 120">
            <a:extLst>
              <a:ext uri="{FF2B5EF4-FFF2-40B4-BE49-F238E27FC236}">
                <a16:creationId xmlns:a16="http://schemas.microsoft.com/office/drawing/2014/main" id="{5B7C5F57-790A-47F5-96AE-4C9E6FA91A08}"/>
              </a:ext>
            </a:extLst>
          </p:cNvPr>
          <p:cNvSpPr/>
          <p:nvPr>
            <p:custDataLst>
              <p:tags r:id="rId14"/>
            </p:custDataLst>
          </p:nvPr>
        </p:nvSpPr>
        <p:spPr bwMode="auto">
          <a:xfrm>
            <a:off x="8359775" y="2849710"/>
            <a:ext cx="179388" cy="133350"/>
          </a:xfrm>
          <a:prstGeom prst="rect">
            <a:avLst/>
          </a:prstGeom>
          <a:solidFill>
            <a:srgbClr val="39C1F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22" name="Text Placeholder 18">
            <a:extLst>
              <a:ext uri="{FF2B5EF4-FFF2-40B4-BE49-F238E27FC236}">
                <a16:creationId xmlns:a16="http://schemas.microsoft.com/office/drawing/2014/main" id="{0CC716C0-E326-420A-B7B0-3F71085B94B5}"/>
              </a:ext>
            </a:extLst>
          </p:cNvPr>
          <p:cNvSpPr>
            <a:spLocks noGrp="1"/>
          </p:cNvSpPr>
          <p:nvPr>
            <p:custDataLst>
              <p:tags r:id="rId15"/>
            </p:custDataLst>
          </p:nvPr>
        </p:nvSpPr>
        <p:spPr bwMode="auto">
          <a:xfrm>
            <a:off x="10409240" y="2844947"/>
            <a:ext cx="96837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spcBef>
                <a:spcPct val="0"/>
              </a:spcBef>
              <a:spcAft>
                <a:spcPct val="0"/>
              </a:spcAft>
            </a:pPr>
            <a:fld id="{6A520BF7-AF68-489F-A3D9-9327D80BFFDF}" type="datetime'''T''''''''''ra''''''''''''de'''' ''Pa''y''a''bl''''e''''s'''">
              <a:rPr lang="en-US" altLang="en-US" sz="1000"/>
              <a:pPr>
                <a:spcBef>
                  <a:spcPct val="0"/>
                </a:spcBef>
                <a:spcAft>
                  <a:spcPct val="0"/>
                </a:spcAft>
              </a:pPr>
              <a:t>Trade Payables</a:t>
            </a:fld>
            <a:endParaRPr lang="en-US" sz="1000" dirty="0"/>
          </a:p>
        </p:txBody>
      </p:sp>
      <p:sp>
        <p:nvSpPr>
          <p:cNvPr id="123" name="Text Placeholder 18">
            <a:extLst>
              <a:ext uri="{FF2B5EF4-FFF2-40B4-BE49-F238E27FC236}">
                <a16:creationId xmlns:a16="http://schemas.microsoft.com/office/drawing/2014/main" id="{9FDB6361-0EB4-48CF-80E0-9C868D97BB38}"/>
              </a:ext>
            </a:extLst>
          </p:cNvPr>
          <p:cNvSpPr>
            <a:spLocks noGrp="1"/>
          </p:cNvSpPr>
          <p:nvPr>
            <p:custDataLst>
              <p:tags r:id="rId16"/>
            </p:custDataLst>
          </p:nvPr>
        </p:nvSpPr>
        <p:spPr bwMode="auto">
          <a:xfrm>
            <a:off x="8589963" y="2844947"/>
            <a:ext cx="148748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spcBef>
                <a:spcPct val="0"/>
              </a:spcBef>
              <a:spcAft>
                <a:spcPct val="0"/>
              </a:spcAft>
            </a:pPr>
            <a:fld id="{2AB5521E-AAD6-44B4-B5D7-B623BDD6527F}" type="datetime'S''h''o''''r''''''''''t ''''T''''erm'''' ''Bor''r''o''wi''ngs'">
              <a:rPr lang="en-US" altLang="en-US" sz="1000"/>
              <a:pPr>
                <a:spcBef>
                  <a:spcPct val="0"/>
                </a:spcBef>
                <a:spcAft>
                  <a:spcPct val="0"/>
                </a:spcAft>
              </a:pPr>
              <a:t>Short Term Borrowings</a:t>
            </a:fld>
            <a:endParaRPr lang="en-US" sz="1000" dirty="0"/>
          </a:p>
        </p:txBody>
      </p:sp>
      <p:grpSp>
        <p:nvGrpSpPr>
          <p:cNvPr id="124" name="Group 609">
            <a:extLst>
              <a:ext uri="{FF2B5EF4-FFF2-40B4-BE49-F238E27FC236}">
                <a16:creationId xmlns:a16="http://schemas.microsoft.com/office/drawing/2014/main" id="{A24B65E4-D3FC-4B0D-8A77-8C5DBEC2E351}"/>
              </a:ext>
            </a:extLst>
          </p:cNvPr>
          <p:cNvGrpSpPr>
            <a:grpSpLocks noChangeAspect="1"/>
          </p:cNvGrpSpPr>
          <p:nvPr/>
        </p:nvGrpSpPr>
        <p:grpSpPr bwMode="auto">
          <a:xfrm>
            <a:off x="792564" y="1602142"/>
            <a:ext cx="749809" cy="749808"/>
            <a:chOff x="2715" y="2414"/>
            <a:chExt cx="340" cy="340"/>
          </a:xfrm>
          <a:solidFill>
            <a:srgbClr val="00B0F0"/>
          </a:solidFill>
        </p:grpSpPr>
        <p:sp>
          <p:nvSpPr>
            <p:cNvPr id="125" name="Freeform 610">
              <a:extLst>
                <a:ext uri="{FF2B5EF4-FFF2-40B4-BE49-F238E27FC236}">
                  <a16:creationId xmlns:a16="http://schemas.microsoft.com/office/drawing/2014/main" id="{FF5D3175-D7FF-4EA2-8D13-3DE8D5D74380}"/>
                </a:ext>
              </a:extLst>
            </p:cNvPr>
            <p:cNvSpPr>
              <a:spLocks noEditPoints="1"/>
            </p:cNvSpPr>
            <p:nvPr/>
          </p:nvSpPr>
          <p:spPr bwMode="auto">
            <a:xfrm>
              <a:off x="2779" y="2492"/>
              <a:ext cx="191" cy="198"/>
            </a:xfrm>
            <a:custGeom>
              <a:avLst/>
              <a:gdLst>
                <a:gd name="T0" fmla="*/ 277 w 288"/>
                <a:gd name="T1" fmla="*/ 192 h 299"/>
                <a:gd name="T2" fmla="*/ 224 w 288"/>
                <a:gd name="T3" fmla="*/ 192 h 299"/>
                <a:gd name="T4" fmla="*/ 202 w 288"/>
                <a:gd name="T5" fmla="*/ 181 h 299"/>
                <a:gd name="T6" fmla="*/ 213 w 288"/>
                <a:gd name="T7" fmla="*/ 160 h 299"/>
                <a:gd name="T8" fmla="*/ 180 w 288"/>
                <a:gd name="T9" fmla="*/ 149 h 299"/>
                <a:gd name="T10" fmla="*/ 75 w 288"/>
                <a:gd name="T11" fmla="*/ 149 h 299"/>
                <a:gd name="T12" fmla="*/ 0 w 288"/>
                <a:gd name="T13" fmla="*/ 139 h 299"/>
                <a:gd name="T14" fmla="*/ 85 w 288"/>
                <a:gd name="T15" fmla="*/ 128 h 299"/>
                <a:gd name="T16" fmla="*/ 128 w 288"/>
                <a:gd name="T17" fmla="*/ 171 h 299"/>
                <a:gd name="T18" fmla="*/ 170 w 288"/>
                <a:gd name="T19" fmla="*/ 128 h 299"/>
                <a:gd name="T20" fmla="*/ 234 w 288"/>
                <a:gd name="T21" fmla="*/ 160 h 299"/>
                <a:gd name="T22" fmla="*/ 256 w 288"/>
                <a:gd name="T23" fmla="*/ 171 h 299"/>
                <a:gd name="T24" fmla="*/ 202 w 288"/>
                <a:gd name="T25" fmla="*/ 107 h 299"/>
                <a:gd name="T26" fmla="*/ 149 w 288"/>
                <a:gd name="T27" fmla="*/ 96 h 299"/>
                <a:gd name="T28" fmla="*/ 106 w 288"/>
                <a:gd name="T29" fmla="*/ 75 h 299"/>
                <a:gd name="T30" fmla="*/ 96 w 288"/>
                <a:gd name="T31" fmla="*/ 107 h 299"/>
                <a:gd name="T32" fmla="*/ 0 w 288"/>
                <a:gd name="T33" fmla="*/ 96 h 299"/>
                <a:gd name="T34" fmla="*/ 85 w 288"/>
                <a:gd name="T35" fmla="*/ 85 h 299"/>
                <a:gd name="T36" fmla="*/ 96 w 288"/>
                <a:gd name="T37" fmla="*/ 53 h 299"/>
                <a:gd name="T38" fmla="*/ 117 w 288"/>
                <a:gd name="T39" fmla="*/ 21 h 299"/>
                <a:gd name="T40" fmla="*/ 85 w 288"/>
                <a:gd name="T41" fmla="*/ 11 h 299"/>
                <a:gd name="T42" fmla="*/ 160 w 288"/>
                <a:gd name="T43" fmla="*/ 0 h 299"/>
                <a:gd name="T44" fmla="*/ 160 w 288"/>
                <a:gd name="T45" fmla="*/ 21 h 299"/>
                <a:gd name="T46" fmla="*/ 138 w 288"/>
                <a:gd name="T47" fmla="*/ 53 h 299"/>
                <a:gd name="T48" fmla="*/ 170 w 288"/>
                <a:gd name="T49" fmla="*/ 64 h 299"/>
                <a:gd name="T50" fmla="*/ 202 w 288"/>
                <a:gd name="T51" fmla="*/ 85 h 299"/>
                <a:gd name="T52" fmla="*/ 277 w 288"/>
                <a:gd name="T53" fmla="*/ 171 h 299"/>
                <a:gd name="T54" fmla="*/ 275 w 288"/>
                <a:gd name="T55" fmla="*/ 254 h 299"/>
                <a:gd name="T56" fmla="*/ 245 w 288"/>
                <a:gd name="T57" fmla="*/ 299 h 299"/>
                <a:gd name="T58" fmla="*/ 215 w 288"/>
                <a:gd name="T59" fmla="*/ 254 h 299"/>
                <a:gd name="T60" fmla="*/ 236 w 288"/>
                <a:gd name="T61" fmla="*/ 219 h 299"/>
                <a:gd name="T62" fmla="*/ 274 w 288"/>
                <a:gd name="T63" fmla="*/ 253 h 299"/>
                <a:gd name="T64" fmla="*/ 256 w 288"/>
                <a:gd name="T65" fmla="*/ 267 h 299"/>
                <a:gd name="T66" fmla="*/ 245 w 288"/>
                <a:gd name="T67" fmla="*/ 246 h 299"/>
                <a:gd name="T68" fmla="*/ 234 w 288"/>
                <a:gd name="T69" fmla="*/ 267 h 299"/>
                <a:gd name="T70" fmla="*/ 256 w 288"/>
                <a:gd name="T71" fmla="*/ 267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88" h="299">
                  <a:moveTo>
                    <a:pt x="288" y="181"/>
                  </a:moveTo>
                  <a:cubicBezTo>
                    <a:pt x="288" y="187"/>
                    <a:pt x="283" y="192"/>
                    <a:pt x="277" y="192"/>
                  </a:cubicBezTo>
                  <a:cubicBezTo>
                    <a:pt x="266" y="192"/>
                    <a:pt x="266" y="192"/>
                    <a:pt x="266" y="192"/>
                  </a:cubicBezTo>
                  <a:cubicBezTo>
                    <a:pt x="224" y="192"/>
                    <a:pt x="224" y="192"/>
                    <a:pt x="224" y="192"/>
                  </a:cubicBezTo>
                  <a:cubicBezTo>
                    <a:pt x="213" y="192"/>
                    <a:pt x="213" y="192"/>
                    <a:pt x="213" y="192"/>
                  </a:cubicBezTo>
                  <a:cubicBezTo>
                    <a:pt x="207" y="192"/>
                    <a:pt x="202" y="187"/>
                    <a:pt x="202" y="181"/>
                  </a:cubicBezTo>
                  <a:cubicBezTo>
                    <a:pt x="202" y="175"/>
                    <a:pt x="207" y="171"/>
                    <a:pt x="213" y="171"/>
                  </a:cubicBezTo>
                  <a:cubicBezTo>
                    <a:pt x="213" y="160"/>
                    <a:pt x="213" y="160"/>
                    <a:pt x="213" y="160"/>
                  </a:cubicBezTo>
                  <a:cubicBezTo>
                    <a:pt x="213" y="151"/>
                    <a:pt x="207" y="149"/>
                    <a:pt x="202" y="149"/>
                  </a:cubicBezTo>
                  <a:cubicBezTo>
                    <a:pt x="180" y="149"/>
                    <a:pt x="180" y="149"/>
                    <a:pt x="180" y="149"/>
                  </a:cubicBezTo>
                  <a:cubicBezTo>
                    <a:pt x="175" y="174"/>
                    <a:pt x="153" y="192"/>
                    <a:pt x="128" y="192"/>
                  </a:cubicBezTo>
                  <a:cubicBezTo>
                    <a:pt x="102" y="192"/>
                    <a:pt x="80" y="174"/>
                    <a:pt x="75" y="149"/>
                  </a:cubicBezTo>
                  <a:cubicBezTo>
                    <a:pt x="10" y="149"/>
                    <a:pt x="10" y="149"/>
                    <a:pt x="10" y="149"/>
                  </a:cubicBezTo>
                  <a:cubicBezTo>
                    <a:pt x="4" y="149"/>
                    <a:pt x="0" y="145"/>
                    <a:pt x="0" y="139"/>
                  </a:cubicBezTo>
                  <a:cubicBezTo>
                    <a:pt x="0" y="133"/>
                    <a:pt x="4" y="128"/>
                    <a:pt x="10" y="128"/>
                  </a:cubicBezTo>
                  <a:cubicBezTo>
                    <a:pt x="85" y="128"/>
                    <a:pt x="85" y="128"/>
                    <a:pt x="85" y="128"/>
                  </a:cubicBezTo>
                  <a:cubicBezTo>
                    <a:pt x="91" y="128"/>
                    <a:pt x="96" y="133"/>
                    <a:pt x="96" y="139"/>
                  </a:cubicBezTo>
                  <a:cubicBezTo>
                    <a:pt x="96" y="156"/>
                    <a:pt x="110" y="171"/>
                    <a:pt x="128" y="171"/>
                  </a:cubicBezTo>
                  <a:cubicBezTo>
                    <a:pt x="145" y="171"/>
                    <a:pt x="160" y="156"/>
                    <a:pt x="160" y="139"/>
                  </a:cubicBezTo>
                  <a:cubicBezTo>
                    <a:pt x="160" y="133"/>
                    <a:pt x="164" y="128"/>
                    <a:pt x="170" y="128"/>
                  </a:cubicBezTo>
                  <a:cubicBezTo>
                    <a:pt x="202" y="128"/>
                    <a:pt x="202" y="128"/>
                    <a:pt x="202" y="128"/>
                  </a:cubicBezTo>
                  <a:cubicBezTo>
                    <a:pt x="215" y="128"/>
                    <a:pt x="234" y="137"/>
                    <a:pt x="234" y="160"/>
                  </a:cubicBezTo>
                  <a:cubicBezTo>
                    <a:pt x="234" y="171"/>
                    <a:pt x="234" y="171"/>
                    <a:pt x="234" y="171"/>
                  </a:cubicBezTo>
                  <a:cubicBezTo>
                    <a:pt x="256" y="171"/>
                    <a:pt x="256" y="171"/>
                    <a:pt x="256" y="171"/>
                  </a:cubicBezTo>
                  <a:cubicBezTo>
                    <a:pt x="256" y="160"/>
                    <a:pt x="256" y="160"/>
                    <a:pt x="256" y="160"/>
                  </a:cubicBezTo>
                  <a:cubicBezTo>
                    <a:pt x="256" y="155"/>
                    <a:pt x="254" y="107"/>
                    <a:pt x="202" y="107"/>
                  </a:cubicBezTo>
                  <a:cubicBezTo>
                    <a:pt x="160" y="107"/>
                    <a:pt x="160" y="107"/>
                    <a:pt x="160" y="107"/>
                  </a:cubicBezTo>
                  <a:cubicBezTo>
                    <a:pt x="154" y="107"/>
                    <a:pt x="149" y="102"/>
                    <a:pt x="149" y="96"/>
                  </a:cubicBezTo>
                  <a:cubicBezTo>
                    <a:pt x="149" y="75"/>
                    <a:pt x="149" y="75"/>
                    <a:pt x="149" y="75"/>
                  </a:cubicBezTo>
                  <a:cubicBezTo>
                    <a:pt x="106" y="75"/>
                    <a:pt x="106" y="75"/>
                    <a:pt x="106" y="75"/>
                  </a:cubicBezTo>
                  <a:cubicBezTo>
                    <a:pt x="106" y="96"/>
                    <a:pt x="106" y="96"/>
                    <a:pt x="106" y="96"/>
                  </a:cubicBezTo>
                  <a:cubicBezTo>
                    <a:pt x="106" y="102"/>
                    <a:pt x="102" y="107"/>
                    <a:pt x="96" y="107"/>
                  </a:cubicBezTo>
                  <a:cubicBezTo>
                    <a:pt x="10" y="107"/>
                    <a:pt x="10" y="107"/>
                    <a:pt x="10" y="107"/>
                  </a:cubicBezTo>
                  <a:cubicBezTo>
                    <a:pt x="4" y="107"/>
                    <a:pt x="0" y="102"/>
                    <a:pt x="0" y="96"/>
                  </a:cubicBezTo>
                  <a:cubicBezTo>
                    <a:pt x="0" y="90"/>
                    <a:pt x="4" y="85"/>
                    <a:pt x="10" y="85"/>
                  </a:cubicBezTo>
                  <a:cubicBezTo>
                    <a:pt x="85" y="85"/>
                    <a:pt x="85" y="85"/>
                    <a:pt x="85" y="85"/>
                  </a:cubicBezTo>
                  <a:cubicBezTo>
                    <a:pt x="85" y="64"/>
                    <a:pt x="85" y="64"/>
                    <a:pt x="85" y="64"/>
                  </a:cubicBezTo>
                  <a:cubicBezTo>
                    <a:pt x="85" y="58"/>
                    <a:pt x="90" y="53"/>
                    <a:pt x="96" y="53"/>
                  </a:cubicBezTo>
                  <a:cubicBezTo>
                    <a:pt x="117" y="53"/>
                    <a:pt x="117" y="53"/>
                    <a:pt x="117" y="53"/>
                  </a:cubicBezTo>
                  <a:cubicBezTo>
                    <a:pt x="117" y="21"/>
                    <a:pt x="117" y="21"/>
                    <a:pt x="117" y="21"/>
                  </a:cubicBezTo>
                  <a:cubicBezTo>
                    <a:pt x="96" y="21"/>
                    <a:pt x="96" y="21"/>
                    <a:pt x="96" y="21"/>
                  </a:cubicBezTo>
                  <a:cubicBezTo>
                    <a:pt x="90" y="21"/>
                    <a:pt x="85" y="17"/>
                    <a:pt x="85" y="11"/>
                  </a:cubicBezTo>
                  <a:cubicBezTo>
                    <a:pt x="85" y="5"/>
                    <a:pt x="90" y="0"/>
                    <a:pt x="96" y="0"/>
                  </a:cubicBezTo>
                  <a:cubicBezTo>
                    <a:pt x="160" y="0"/>
                    <a:pt x="160" y="0"/>
                    <a:pt x="160" y="0"/>
                  </a:cubicBezTo>
                  <a:cubicBezTo>
                    <a:pt x="166" y="0"/>
                    <a:pt x="170" y="5"/>
                    <a:pt x="170" y="11"/>
                  </a:cubicBezTo>
                  <a:cubicBezTo>
                    <a:pt x="170" y="17"/>
                    <a:pt x="166" y="21"/>
                    <a:pt x="160" y="21"/>
                  </a:cubicBezTo>
                  <a:cubicBezTo>
                    <a:pt x="138" y="21"/>
                    <a:pt x="138" y="21"/>
                    <a:pt x="138" y="21"/>
                  </a:cubicBezTo>
                  <a:cubicBezTo>
                    <a:pt x="138" y="53"/>
                    <a:pt x="138" y="53"/>
                    <a:pt x="138" y="53"/>
                  </a:cubicBezTo>
                  <a:cubicBezTo>
                    <a:pt x="160" y="53"/>
                    <a:pt x="160" y="53"/>
                    <a:pt x="160" y="53"/>
                  </a:cubicBezTo>
                  <a:cubicBezTo>
                    <a:pt x="166" y="53"/>
                    <a:pt x="170" y="58"/>
                    <a:pt x="170" y="64"/>
                  </a:cubicBezTo>
                  <a:cubicBezTo>
                    <a:pt x="170" y="85"/>
                    <a:pt x="170" y="85"/>
                    <a:pt x="170" y="85"/>
                  </a:cubicBezTo>
                  <a:cubicBezTo>
                    <a:pt x="202" y="85"/>
                    <a:pt x="202" y="85"/>
                    <a:pt x="202" y="85"/>
                  </a:cubicBezTo>
                  <a:cubicBezTo>
                    <a:pt x="261" y="85"/>
                    <a:pt x="277" y="134"/>
                    <a:pt x="277" y="160"/>
                  </a:cubicBezTo>
                  <a:cubicBezTo>
                    <a:pt x="277" y="171"/>
                    <a:pt x="277" y="171"/>
                    <a:pt x="277" y="171"/>
                  </a:cubicBezTo>
                  <a:cubicBezTo>
                    <a:pt x="283" y="171"/>
                    <a:pt x="288" y="175"/>
                    <a:pt x="288" y="181"/>
                  </a:cubicBezTo>
                  <a:close/>
                  <a:moveTo>
                    <a:pt x="275" y="254"/>
                  </a:moveTo>
                  <a:cubicBezTo>
                    <a:pt x="276" y="258"/>
                    <a:pt x="277" y="262"/>
                    <a:pt x="277" y="267"/>
                  </a:cubicBezTo>
                  <a:cubicBezTo>
                    <a:pt x="277" y="284"/>
                    <a:pt x="263" y="299"/>
                    <a:pt x="245" y="299"/>
                  </a:cubicBezTo>
                  <a:cubicBezTo>
                    <a:pt x="227" y="299"/>
                    <a:pt x="213" y="284"/>
                    <a:pt x="213" y="267"/>
                  </a:cubicBezTo>
                  <a:cubicBezTo>
                    <a:pt x="213" y="262"/>
                    <a:pt x="214" y="258"/>
                    <a:pt x="215" y="254"/>
                  </a:cubicBezTo>
                  <a:cubicBezTo>
                    <a:pt x="216" y="254"/>
                    <a:pt x="216" y="254"/>
                    <a:pt x="216" y="253"/>
                  </a:cubicBezTo>
                  <a:cubicBezTo>
                    <a:pt x="236" y="219"/>
                    <a:pt x="236" y="219"/>
                    <a:pt x="236" y="219"/>
                  </a:cubicBezTo>
                  <a:cubicBezTo>
                    <a:pt x="240" y="212"/>
                    <a:pt x="250" y="212"/>
                    <a:pt x="254" y="219"/>
                  </a:cubicBezTo>
                  <a:cubicBezTo>
                    <a:pt x="274" y="253"/>
                    <a:pt x="274" y="253"/>
                    <a:pt x="274" y="253"/>
                  </a:cubicBezTo>
                  <a:cubicBezTo>
                    <a:pt x="274" y="254"/>
                    <a:pt x="274" y="254"/>
                    <a:pt x="275" y="254"/>
                  </a:cubicBezTo>
                  <a:close/>
                  <a:moveTo>
                    <a:pt x="256" y="267"/>
                  </a:moveTo>
                  <a:cubicBezTo>
                    <a:pt x="256" y="265"/>
                    <a:pt x="255" y="264"/>
                    <a:pt x="255" y="263"/>
                  </a:cubicBezTo>
                  <a:cubicBezTo>
                    <a:pt x="245" y="246"/>
                    <a:pt x="245" y="246"/>
                    <a:pt x="245" y="246"/>
                  </a:cubicBezTo>
                  <a:cubicBezTo>
                    <a:pt x="235" y="263"/>
                    <a:pt x="235" y="263"/>
                    <a:pt x="235" y="263"/>
                  </a:cubicBezTo>
                  <a:cubicBezTo>
                    <a:pt x="235" y="264"/>
                    <a:pt x="234" y="265"/>
                    <a:pt x="234" y="267"/>
                  </a:cubicBezTo>
                  <a:cubicBezTo>
                    <a:pt x="234" y="273"/>
                    <a:pt x="239" y="277"/>
                    <a:pt x="245" y="277"/>
                  </a:cubicBezTo>
                  <a:cubicBezTo>
                    <a:pt x="251" y="277"/>
                    <a:pt x="256" y="273"/>
                    <a:pt x="256" y="26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6" name="Freeform 611">
              <a:extLst>
                <a:ext uri="{FF2B5EF4-FFF2-40B4-BE49-F238E27FC236}">
                  <a16:creationId xmlns:a16="http://schemas.microsoft.com/office/drawing/2014/main" id="{3993C99F-23A6-4BF8-84C2-50122D401006}"/>
                </a:ext>
              </a:extLst>
            </p:cNvPr>
            <p:cNvSpPr>
              <a:spLocks noEditPoints="1"/>
            </p:cNvSpPr>
            <p:nvPr/>
          </p:nvSpPr>
          <p:spPr bwMode="auto">
            <a:xfrm>
              <a:off x="2715" y="241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cxnSp>
        <p:nvCxnSpPr>
          <p:cNvPr id="127" name="Straight Connector 126">
            <a:extLst>
              <a:ext uri="{FF2B5EF4-FFF2-40B4-BE49-F238E27FC236}">
                <a16:creationId xmlns:a16="http://schemas.microsoft.com/office/drawing/2014/main" id="{3A05B7D1-ECA0-4CFB-A650-C21EBC3FA076}"/>
              </a:ext>
            </a:extLst>
          </p:cNvPr>
          <p:cNvCxnSpPr/>
          <p:nvPr>
            <p:custDataLst>
              <p:tags r:id="rId17"/>
            </p:custDataLst>
          </p:nvPr>
        </p:nvCxnSpPr>
        <p:spPr bwMode="auto">
          <a:xfrm>
            <a:off x="8443913" y="4111554"/>
            <a:ext cx="280988" cy="0"/>
          </a:xfrm>
          <a:prstGeom prst="line">
            <a:avLst/>
          </a:prstGeom>
          <a:ln w="3175" cap="flat" cmpd="sng" algn="ctr">
            <a:solidFill>
              <a:schemeClr val="tx1"/>
            </a:solidFill>
            <a:prstDash val="lgDash"/>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0" name="Straight Connector 129">
            <a:extLst>
              <a:ext uri="{FF2B5EF4-FFF2-40B4-BE49-F238E27FC236}">
                <a16:creationId xmlns:a16="http://schemas.microsoft.com/office/drawing/2014/main" id="{7A8CEA6D-8993-4477-A6D5-354501AE15DB}"/>
              </a:ext>
            </a:extLst>
          </p:cNvPr>
          <p:cNvCxnSpPr/>
          <p:nvPr>
            <p:custDataLst>
              <p:tags r:id="rId18"/>
            </p:custDataLst>
          </p:nvPr>
        </p:nvCxnSpPr>
        <p:spPr bwMode="auto">
          <a:xfrm>
            <a:off x="9077325" y="3957566"/>
            <a:ext cx="279400" cy="0"/>
          </a:xfrm>
          <a:prstGeom prst="line">
            <a:avLst/>
          </a:prstGeom>
          <a:ln w="3175" cap="flat" cmpd="sng" algn="ctr">
            <a:solidFill>
              <a:schemeClr val="tx1"/>
            </a:solidFill>
            <a:prstDash val="lgDash"/>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8" name="Straight Connector 127">
            <a:extLst>
              <a:ext uri="{FF2B5EF4-FFF2-40B4-BE49-F238E27FC236}">
                <a16:creationId xmlns:a16="http://schemas.microsoft.com/office/drawing/2014/main" id="{90717596-2B1F-4436-9682-310CA63B8D28}"/>
              </a:ext>
            </a:extLst>
          </p:cNvPr>
          <p:cNvCxnSpPr/>
          <p:nvPr>
            <p:custDataLst>
              <p:tags r:id="rId19"/>
            </p:custDataLst>
          </p:nvPr>
        </p:nvCxnSpPr>
        <p:spPr bwMode="auto">
          <a:xfrm>
            <a:off x="9709150" y="3905179"/>
            <a:ext cx="280988" cy="0"/>
          </a:xfrm>
          <a:prstGeom prst="line">
            <a:avLst/>
          </a:prstGeom>
          <a:ln w="3175" cap="flat" cmpd="sng" algn="ctr">
            <a:solidFill>
              <a:schemeClr val="tx1"/>
            </a:solidFill>
            <a:prstDash val="lgDash"/>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1" name="Straight Connector 130">
            <a:extLst>
              <a:ext uri="{FF2B5EF4-FFF2-40B4-BE49-F238E27FC236}">
                <a16:creationId xmlns:a16="http://schemas.microsoft.com/office/drawing/2014/main" id="{6F3238D6-F0CB-4C4F-8BFA-CF914E016E41}"/>
              </a:ext>
            </a:extLst>
          </p:cNvPr>
          <p:cNvCxnSpPr/>
          <p:nvPr>
            <p:custDataLst>
              <p:tags r:id="rId20"/>
            </p:custDataLst>
          </p:nvPr>
        </p:nvCxnSpPr>
        <p:spPr bwMode="auto">
          <a:xfrm>
            <a:off x="10342563" y="3879779"/>
            <a:ext cx="280988" cy="0"/>
          </a:xfrm>
          <a:prstGeom prst="line">
            <a:avLst/>
          </a:prstGeom>
          <a:ln w="3175" cap="flat" cmpd="sng" algn="ctr">
            <a:solidFill>
              <a:schemeClr val="tx1"/>
            </a:solidFill>
            <a:prstDash val="lgDash"/>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9" name="Straight Connector 128">
            <a:extLst>
              <a:ext uri="{FF2B5EF4-FFF2-40B4-BE49-F238E27FC236}">
                <a16:creationId xmlns:a16="http://schemas.microsoft.com/office/drawing/2014/main" id="{C4EB5DB8-4BE8-4DDD-938E-0E7C8ECD246E}"/>
              </a:ext>
            </a:extLst>
          </p:cNvPr>
          <p:cNvCxnSpPr/>
          <p:nvPr>
            <p:custDataLst>
              <p:tags r:id="rId21"/>
            </p:custDataLst>
          </p:nvPr>
        </p:nvCxnSpPr>
        <p:spPr bwMode="auto">
          <a:xfrm>
            <a:off x="10975975" y="3686104"/>
            <a:ext cx="279400" cy="0"/>
          </a:xfrm>
          <a:prstGeom prst="line">
            <a:avLst/>
          </a:prstGeom>
          <a:ln w="3175" cap="flat" cmpd="sng" algn="ctr">
            <a:solidFill>
              <a:schemeClr val="tx1"/>
            </a:solidFill>
            <a:prstDash val="lgDash"/>
            <a:round/>
            <a:headEnd type="none" w="med" len="med"/>
            <a:tailEnd type="none" w="med" len="med"/>
          </a:ln>
        </p:spPr>
        <p:style>
          <a:lnRef idx="1">
            <a:schemeClr val="dk1"/>
          </a:lnRef>
          <a:fillRef idx="0">
            <a:schemeClr val="dk1"/>
          </a:fillRef>
          <a:effectRef idx="0">
            <a:schemeClr val="dk1"/>
          </a:effectRef>
          <a:fontRef idx="minor">
            <a:schemeClr val="tx1"/>
          </a:fontRef>
        </p:style>
      </p:cxnSp>
      <p:graphicFrame>
        <p:nvGraphicFramePr>
          <p:cNvPr id="81" name="Chart 80">
            <a:extLst>
              <a:ext uri="{FF2B5EF4-FFF2-40B4-BE49-F238E27FC236}">
                <a16:creationId xmlns:a16="http://schemas.microsoft.com/office/drawing/2014/main" id="{2F9DB5F3-9B4A-466F-A39F-894521DE3D9E}"/>
              </a:ext>
            </a:extLst>
          </p:cNvPr>
          <p:cNvGraphicFramePr/>
          <p:nvPr>
            <p:custDataLst>
              <p:tags r:id="rId22"/>
            </p:custDataLst>
            <p:extLst>
              <p:ext uri="{D42A27DB-BD31-4B8C-83A1-F6EECF244321}">
                <p14:modId xmlns:p14="http://schemas.microsoft.com/office/powerpoint/2010/main" val="758826112"/>
              </p:ext>
            </p:extLst>
          </p:nvPr>
        </p:nvGraphicFramePr>
        <p:xfrm>
          <a:off x="7869238" y="3486150"/>
          <a:ext cx="3962400" cy="860425"/>
        </p:xfrm>
        <a:graphic>
          <a:graphicData uri="http://schemas.openxmlformats.org/drawingml/2006/chart">
            <c:chart xmlns:c="http://schemas.openxmlformats.org/drawingml/2006/chart" xmlns:r="http://schemas.openxmlformats.org/officeDocument/2006/relationships" r:id="rId57"/>
          </a:graphicData>
        </a:graphic>
      </p:graphicFrame>
      <p:sp>
        <p:nvSpPr>
          <p:cNvPr id="136" name="Text Placeholder 18">
            <a:extLst>
              <a:ext uri="{FF2B5EF4-FFF2-40B4-BE49-F238E27FC236}">
                <a16:creationId xmlns:a16="http://schemas.microsoft.com/office/drawing/2014/main" id="{66C1F047-D2E5-474D-B532-EE93CC722962}"/>
              </a:ext>
            </a:extLst>
          </p:cNvPr>
          <p:cNvSpPr>
            <a:spLocks noGrp="1"/>
          </p:cNvSpPr>
          <p:nvPr>
            <p:custDataLst>
              <p:tags r:id="rId23"/>
            </p:custDataLst>
          </p:nvPr>
        </p:nvSpPr>
        <p:spPr bwMode="auto">
          <a:xfrm>
            <a:off x="9304338" y="4349679"/>
            <a:ext cx="458788" cy="3048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FE824A91-34D5-4F1D-AF02-9ABC70587AED}" type="datetime'''''''''A''''g''e'''''''''''''''' &lt;=2''''0''''''''''''''''Y'">
              <a:rPr lang="en-US" altLang="en-US" sz="1000"/>
              <a:pPr/>
              <a:t>Age &lt;=20Y</a:t>
            </a:fld>
            <a:endParaRPr lang="en-US" sz="1000" dirty="0"/>
          </a:p>
        </p:txBody>
      </p:sp>
      <p:sp>
        <p:nvSpPr>
          <p:cNvPr id="142" name="Text Placeholder 18">
            <a:extLst>
              <a:ext uri="{FF2B5EF4-FFF2-40B4-BE49-F238E27FC236}">
                <a16:creationId xmlns:a16="http://schemas.microsoft.com/office/drawing/2014/main" id="{7BD31809-26E1-4A28-8975-C94D7D4CD567}"/>
              </a:ext>
            </a:extLst>
          </p:cNvPr>
          <p:cNvSpPr>
            <a:spLocks noGrp="1"/>
          </p:cNvSpPr>
          <p:nvPr>
            <p:custDataLst>
              <p:tags r:id="rId24"/>
            </p:custDataLst>
          </p:nvPr>
        </p:nvSpPr>
        <p:spPr bwMode="gray">
          <a:xfrm>
            <a:off x="8696327" y="3957566"/>
            <a:ext cx="411163" cy="152400"/>
          </a:xfrm>
          <a:prstGeom prst="rect">
            <a:avLst/>
          </a:prstGeom>
          <a:solidFill>
            <a:schemeClr val="accent2"/>
          </a:solidFill>
          <a:ln>
            <a:noFill/>
          </a:ln>
        </p:spPr>
        <p:txBody>
          <a:bodyPr vert="horz" wrap="none" lIns="20638" tIns="0" rIns="20638" bIns="0" numCol="1" spcCol="0" rtlCol="0" anchor="ctr"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1C092D95-6692-4442-8C8A-F342D3009104}" type="datetime'1'''''''''''''''''''''''''''''''',27''''''''''''''''0'">
              <a:rPr lang="en-US" altLang="en-US" sz="1000">
                <a:solidFill>
                  <a:schemeClr val="bg1"/>
                </a:solidFill>
              </a:rPr>
              <a:pPr algn="ctr">
                <a:spcBef>
                  <a:spcPct val="0"/>
                </a:spcBef>
                <a:spcAft>
                  <a:spcPct val="0"/>
                </a:spcAft>
              </a:pPr>
              <a:t>1,270</a:t>
            </a:fld>
            <a:endParaRPr lang="en-US" sz="1000" dirty="0">
              <a:solidFill>
                <a:schemeClr val="bg1"/>
              </a:solidFill>
            </a:endParaRPr>
          </a:p>
        </p:txBody>
      </p:sp>
      <p:sp>
        <p:nvSpPr>
          <p:cNvPr id="133" name="Text Placeholder 18">
            <a:extLst>
              <a:ext uri="{FF2B5EF4-FFF2-40B4-BE49-F238E27FC236}">
                <a16:creationId xmlns:a16="http://schemas.microsoft.com/office/drawing/2014/main" id="{8B040041-38A7-4890-954C-68A115E4E99C}"/>
              </a:ext>
            </a:extLst>
          </p:cNvPr>
          <p:cNvSpPr>
            <a:spLocks noGrp="1"/>
          </p:cNvSpPr>
          <p:nvPr>
            <p:custDataLst>
              <p:tags r:id="rId25"/>
            </p:custDataLst>
          </p:nvPr>
        </p:nvSpPr>
        <p:spPr bwMode="auto">
          <a:xfrm>
            <a:off x="8039100" y="4349679"/>
            <a:ext cx="458788" cy="3048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19AEA060-D578-4012-ABD4-44DEE2A4BD20}" type="datetime'''''Ag''''''''''e ''''''''''''''''''''&lt;''''''=''''''''''10Y'''">
              <a:rPr lang="en-US" altLang="en-US" sz="1000"/>
              <a:pPr/>
              <a:t>Age &lt;=10Y</a:t>
            </a:fld>
            <a:endParaRPr lang="en-US" sz="1000" dirty="0"/>
          </a:p>
        </p:txBody>
      </p:sp>
      <p:sp>
        <p:nvSpPr>
          <p:cNvPr id="135" name="Text Placeholder 18">
            <a:extLst>
              <a:ext uri="{FF2B5EF4-FFF2-40B4-BE49-F238E27FC236}">
                <a16:creationId xmlns:a16="http://schemas.microsoft.com/office/drawing/2014/main" id="{167E7F00-2279-4427-834F-EBB7500989DE}"/>
              </a:ext>
            </a:extLst>
          </p:cNvPr>
          <p:cNvSpPr>
            <a:spLocks noGrp="1"/>
          </p:cNvSpPr>
          <p:nvPr>
            <p:custDataLst>
              <p:tags r:id="rId26"/>
            </p:custDataLst>
          </p:nvPr>
        </p:nvSpPr>
        <p:spPr bwMode="auto">
          <a:xfrm>
            <a:off x="8672513" y="4349679"/>
            <a:ext cx="458788" cy="3048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0E3C954B-DE19-489C-BCFD-0B0A611356D1}" type="datetime'''''''''A''''g''''''''''''''''e'' &lt;=''''''''''''''''''''15''Y'">
              <a:rPr lang="en-US" altLang="en-US" sz="1000"/>
              <a:pPr/>
              <a:t>Age &lt;=15Y</a:t>
            </a:fld>
            <a:endParaRPr lang="en-US" sz="1000" dirty="0"/>
          </a:p>
        </p:txBody>
      </p:sp>
      <p:sp>
        <p:nvSpPr>
          <p:cNvPr id="141" name="Text Placeholder 18">
            <a:extLst>
              <a:ext uri="{FF2B5EF4-FFF2-40B4-BE49-F238E27FC236}">
                <a16:creationId xmlns:a16="http://schemas.microsoft.com/office/drawing/2014/main" id="{92E6F5A2-CD48-4775-B124-E4E56C3E0278}"/>
              </a:ext>
            </a:extLst>
          </p:cNvPr>
          <p:cNvSpPr>
            <a:spLocks noGrp="1"/>
          </p:cNvSpPr>
          <p:nvPr>
            <p:custDataLst>
              <p:tags r:id="rId27"/>
            </p:custDataLst>
          </p:nvPr>
        </p:nvSpPr>
        <p:spPr bwMode="gray">
          <a:xfrm>
            <a:off x="9391653" y="3854379"/>
            <a:ext cx="284163" cy="152400"/>
          </a:xfrm>
          <a:prstGeom prst="rect">
            <a:avLst/>
          </a:prstGeom>
          <a:solidFill>
            <a:schemeClr val="accent2"/>
          </a:solidFill>
          <a:ln>
            <a:noFill/>
          </a:ln>
        </p:spPr>
        <p:txBody>
          <a:bodyPr vert="horz" wrap="none" lIns="20638" tIns="0" rIns="20638" bIns="0" numCol="1" spcCol="0" rtlCol="0" anchor="ctr"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1B377BA0-3D34-443C-8351-FB1ACD2D5D9F}" type="datetime'''''''''''''''''''''''''''''''''''''''''''''4''2''''''''0'''''">
              <a:rPr lang="en-US" altLang="en-US" sz="1000">
                <a:solidFill>
                  <a:schemeClr val="bg1"/>
                </a:solidFill>
              </a:rPr>
              <a:pPr algn="ctr">
                <a:spcBef>
                  <a:spcPct val="0"/>
                </a:spcBef>
                <a:spcAft>
                  <a:spcPct val="0"/>
                </a:spcAft>
              </a:pPr>
              <a:t>420</a:t>
            </a:fld>
            <a:endParaRPr lang="en-US" sz="1000" dirty="0">
              <a:solidFill>
                <a:schemeClr val="bg1"/>
              </a:solidFill>
            </a:endParaRPr>
          </a:p>
        </p:txBody>
      </p:sp>
      <p:sp>
        <p:nvSpPr>
          <p:cNvPr id="138" name="Text Placeholder 18">
            <a:extLst>
              <a:ext uri="{FF2B5EF4-FFF2-40B4-BE49-F238E27FC236}">
                <a16:creationId xmlns:a16="http://schemas.microsoft.com/office/drawing/2014/main" id="{F15D8026-D653-45C9-A1D2-9D969686875C}"/>
              </a:ext>
            </a:extLst>
          </p:cNvPr>
          <p:cNvSpPr>
            <a:spLocks noGrp="1"/>
          </p:cNvSpPr>
          <p:nvPr>
            <p:custDataLst>
              <p:tags r:id="rId28"/>
            </p:custDataLst>
          </p:nvPr>
        </p:nvSpPr>
        <p:spPr bwMode="gray">
          <a:xfrm>
            <a:off x="10025066" y="3816279"/>
            <a:ext cx="284163" cy="152400"/>
          </a:xfrm>
          <a:prstGeom prst="rect">
            <a:avLst/>
          </a:prstGeom>
          <a:solidFill>
            <a:schemeClr val="accent6"/>
          </a:solidFill>
          <a:ln>
            <a:noFill/>
          </a:ln>
        </p:spPr>
        <p:txBody>
          <a:bodyPr vert="horz" wrap="none" lIns="20638" tIns="0" rIns="20638" bIns="0" numCol="1" spcCol="0" rtlCol="0" anchor="ctr"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9D1AA861-4428-4AD4-8FDE-3CA92030C652}" type="datetime'2''''''''''''''''''''''''''1''''''''''''0'">
              <a:rPr lang="en-US" altLang="en-US" sz="1000">
                <a:solidFill>
                  <a:schemeClr val="bg1"/>
                </a:solidFill>
              </a:rPr>
              <a:pPr algn="ctr">
                <a:spcBef>
                  <a:spcPct val="0"/>
                </a:spcBef>
                <a:spcAft>
                  <a:spcPct val="0"/>
                </a:spcAft>
              </a:pPr>
              <a:t>210</a:t>
            </a:fld>
            <a:endParaRPr lang="en-US" sz="1000" dirty="0">
              <a:solidFill>
                <a:schemeClr val="bg1"/>
              </a:solidFill>
            </a:endParaRPr>
          </a:p>
        </p:txBody>
      </p:sp>
      <p:sp>
        <p:nvSpPr>
          <p:cNvPr id="134" name="Text Placeholder 18">
            <a:extLst>
              <a:ext uri="{FF2B5EF4-FFF2-40B4-BE49-F238E27FC236}">
                <a16:creationId xmlns:a16="http://schemas.microsoft.com/office/drawing/2014/main" id="{29F84DDC-513A-4247-96AD-11EF58E4AFD0}"/>
              </a:ext>
            </a:extLst>
          </p:cNvPr>
          <p:cNvSpPr>
            <a:spLocks noGrp="1"/>
          </p:cNvSpPr>
          <p:nvPr>
            <p:custDataLst>
              <p:tags r:id="rId29"/>
            </p:custDataLst>
          </p:nvPr>
        </p:nvSpPr>
        <p:spPr bwMode="auto">
          <a:xfrm>
            <a:off x="9937750" y="4349679"/>
            <a:ext cx="458788" cy="3048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A6579988-ABF6-4D3D-82A0-EB97A10EC20B}" type="datetime'''''A''''g''e ''''''''''&lt;''''=2''5''''''''''''''Y'''''''''''''">
              <a:rPr lang="en-US" altLang="en-US" sz="1000"/>
              <a:pPr/>
              <a:t>Age &lt;=25Y</a:t>
            </a:fld>
            <a:endParaRPr lang="en-US" sz="1000" dirty="0"/>
          </a:p>
        </p:txBody>
      </p:sp>
      <p:sp>
        <p:nvSpPr>
          <p:cNvPr id="139" name="Text Placeholder 18">
            <a:extLst>
              <a:ext uri="{FF2B5EF4-FFF2-40B4-BE49-F238E27FC236}">
                <a16:creationId xmlns:a16="http://schemas.microsoft.com/office/drawing/2014/main" id="{C444E632-887E-4C16-9572-3EE6F0F46F1A}"/>
              </a:ext>
            </a:extLst>
          </p:cNvPr>
          <p:cNvSpPr>
            <a:spLocks noGrp="1"/>
          </p:cNvSpPr>
          <p:nvPr>
            <p:custDataLst>
              <p:tags r:id="rId30"/>
            </p:custDataLst>
          </p:nvPr>
        </p:nvSpPr>
        <p:spPr bwMode="gray">
          <a:xfrm>
            <a:off x="10594977" y="3706741"/>
            <a:ext cx="411163" cy="152400"/>
          </a:xfrm>
          <a:prstGeom prst="rect">
            <a:avLst/>
          </a:prstGeom>
          <a:solidFill>
            <a:schemeClr val="accent6"/>
          </a:solidFill>
          <a:ln>
            <a:noFill/>
          </a:ln>
        </p:spPr>
        <p:txBody>
          <a:bodyPr vert="horz" wrap="none" lIns="20638" tIns="0" rIns="20638" bIns="0" numCol="1" spcCol="0" rtlCol="0" anchor="ctr"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58794386-7565-4639-8CD9-2FD0A5845665}" type="datetime'''''''''1'''',''''''5''''''9''''''''5'''">
              <a:rPr lang="en-US" altLang="en-US" sz="1000">
                <a:solidFill>
                  <a:schemeClr val="bg1"/>
                </a:solidFill>
              </a:rPr>
              <a:pPr algn="ctr">
                <a:spcBef>
                  <a:spcPct val="0"/>
                </a:spcBef>
                <a:spcAft>
                  <a:spcPct val="0"/>
                </a:spcAft>
              </a:pPr>
              <a:t>1,595</a:t>
            </a:fld>
            <a:endParaRPr lang="en-US" sz="1000" dirty="0">
              <a:solidFill>
                <a:schemeClr val="bg1"/>
              </a:solidFill>
            </a:endParaRPr>
          </a:p>
        </p:txBody>
      </p:sp>
      <p:sp>
        <p:nvSpPr>
          <p:cNvPr id="137" name="Text Placeholder 18">
            <a:extLst>
              <a:ext uri="{FF2B5EF4-FFF2-40B4-BE49-F238E27FC236}">
                <a16:creationId xmlns:a16="http://schemas.microsoft.com/office/drawing/2014/main" id="{13E1DEC1-1E78-4FCE-A4A2-B9E29DC97311}"/>
              </a:ext>
            </a:extLst>
          </p:cNvPr>
          <p:cNvSpPr>
            <a:spLocks noGrp="1"/>
          </p:cNvSpPr>
          <p:nvPr>
            <p:custDataLst>
              <p:tags r:id="rId31"/>
            </p:custDataLst>
          </p:nvPr>
        </p:nvSpPr>
        <p:spPr bwMode="auto">
          <a:xfrm>
            <a:off x="10621963" y="4349679"/>
            <a:ext cx="355600" cy="3048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06CED4F3-1D36-4E2B-B0D5-68470A34B0C6}" type="datetime'A''g''e'''''' ''''''''''''''''''''''''''''''''&gt;25''''''Y'''''">
              <a:rPr lang="en-US" altLang="en-US" sz="1000"/>
              <a:pPr/>
              <a:t>Age &gt;25Y</a:t>
            </a:fld>
            <a:endParaRPr lang="en-US" sz="1000" dirty="0"/>
          </a:p>
        </p:txBody>
      </p:sp>
      <p:sp>
        <p:nvSpPr>
          <p:cNvPr id="140" name="Text Placeholder 18">
            <a:extLst>
              <a:ext uri="{FF2B5EF4-FFF2-40B4-BE49-F238E27FC236}">
                <a16:creationId xmlns:a16="http://schemas.microsoft.com/office/drawing/2014/main" id="{6506C706-A698-4542-B39A-399001B1FD04}"/>
              </a:ext>
            </a:extLst>
          </p:cNvPr>
          <p:cNvSpPr>
            <a:spLocks noGrp="1"/>
          </p:cNvSpPr>
          <p:nvPr>
            <p:custDataLst>
              <p:tags r:id="rId32"/>
            </p:custDataLst>
          </p:nvPr>
        </p:nvSpPr>
        <p:spPr bwMode="auto">
          <a:xfrm>
            <a:off x="11266488" y="4349679"/>
            <a:ext cx="330200"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EBF6B638-B4F7-4510-A751-3A61DEC408B5}" type="datetime'''''''''T''o''''''''''''''''''''''''''''''''''''ta''''''''l'''">
              <a:rPr lang="en-US" altLang="en-US" sz="1000"/>
              <a:pPr/>
              <a:t>Total</a:t>
            </a:fld>
            <a:endParaRPr lang="en-US" sz="1000" dirty="0"/>
          </a:p>
        </p:txBody>
      </p:sp>
      <p:sp>
        <p:nvSpPr>
          <p:cNvPr id="144" name="Rectangle 143">
            <a:extLst>
              <a:ext uri="{FF2B5EF4-FFF2-40B4-BE49-F238E27FC236}">
                <a16:creationId xmlns:a16="http://schemas.microsoft.com/office/drawing/2014/main" id="{AC3C0DE8-1CA2-4AF3-892D-ABC443CBBD05}"/>
              </a:ext>
            </a:extLst>
          </p:cNvPr>
          <p:cNvSpPr/>
          <p:nvPr/>
        </p:nvSpPr>
        <p:spPr bwMode="gray">
          <a:xfrm>
            <a:off x="501646" y="3100316"/>
            <a:ext cx="11333602" cy="1758950"/>
          </a:xfrm>
          <a:prstGeom prst="rect">
            <a:avLst/>
          </a:prstGeom>
          <a:solidFill>
            <a:schemeClr val="accent2">
              <a:alpha val="1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5" name="Rectangle 144">
            <a:extLst>
              <a:ext uri="{FF2B5EF4-FFF2-40B4-BE49-F238E27FC236}">
                <a16:creationId xmlns:a16="http://schemas.microsoft.com/office/drawing/2014/main" id="{897A4C69-412C-4056-9E71-6A1ADD7348BB}"/>
              </a:ext>
            </a:extLst>
          </p:cNvPr>
          <p:cNvSpPr/>
          <p:nvPr/>
        </p:nvSpPr>
        <p:spPr bwMode="gray">
          <a:xfrm>
            <a:off x="421448" y="4350426"/>
            <a:ext cx="1476375" cy="212725"/>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solidFill>
                  <a:schemeClr val="accent2"/>
                </a:solidFill>
              </a:rPr>
              <a:t>Ageing Generation Assets</a:t>
            </a:r>
          </a:p>
        </p:txBody>
      </p:sp>
      <p:sp>
        <p:nvSpPr>
          <p:cNvPr id="146" name="Rectangle 145">
            <a:extLst>
              <a:ext uri="{FF2B5EF4-FFF2-40B4-BE49-F238E27FC236}">
                <a16:creationId xmlns:a16="http://schemas.microsoft.com/office/drawing/2014/main" id="{9895C4B2-3F06-4783-A839-61D60313A9AC}"/>
              </a:ext>
            </a:extLst>
          </p:cNvPr>
          <p:cNvSpPr/>
          <p:nvPr/>
        </p:nvSpPr>
        <p:spPr bwMode="gray">
          <a:xfrm>
            <a:off x="2001237" y="3416976"/>
            <a:ext cx="5784850" cy="1146175"/>
          </a:xfrm>
          <a:prstGeom prst="rect">
            <a:avLst/>
          </a:prstGeom>
          <a:noFill/>
          <a:ln w="19050" algn="ctr">
            <a:solidFill>
              <a:schemeClr val="accent2"/>
            </a:solidFill>
            <a:miter lim="800000"/>
            <a:headEnd/>
            <a:tailEnd/>
          </a:ln>
        </p:spPr>
        <p:txBody>
          <a:bodyPr wrap="square" lIns="88900" tIns="88900" rIns="88900" bIns="88900" rtlCol="0" anchor="ctr"/>
          <a:lstStyle/>
          <a:p>
            <a:pPr marL="171450" indent="-171450">
              <a:lnSpc>
                <a:spcPct val="106000"/>
              </a:lnSpc>
              <a:spcAft>
                <a:spcPts val="600"/>
              </a:spcAft>
              <a:buFont typeface="Arial" panose="020B0604020202020204" pitchFamily="34" charset="0"/>
              <a:buChar char="•"/>
            </a:pPr>
            <a:r>
              <a:rPr lang="en-US" sz="1100" dirty="0"/>
              <a:t>The generating units of WBPDCL which contributes ~43% to the State’s installed capacity is facing </a:t>
            </a:r>
            <a:r>
              <a:rPr lang="en-US" sz="1100" b="1" dirty="0"/>
              <a:t>operating challenges due to ageing assets</a:t>
            </a:r>
          </a:p>
          <a:p>
            <a:pPr marL="171450" indent="-171450">
              <a:lnSpc>
                <a:spcPct val="106000"/>
              </a:lnSpc>
              <a:spcAft>
                <a:spcPts val="600"/>
              </a:spcAft>
              <a:buFont typeface="Arial" panose="020B0604020202020204" pitchFamily="34" charset="0"/>
              <a:buChar char="•"/>
            </a:pPr>
            <a:r>
              <a:rPr lang="en-US" sz="1100" dirty="0"/>
              <a:t>Roughly </a:t>
            </a:r>
            <a:r>
              <a:rPr lang="en-US" sz="1100" b="1" dirty="0"/>
              <a:t>~1,800 MW</a:t>
            </a:r>
            <a:r>
              <a:rPr lang="en-US" sz="1100" dirty="0"/>
              <a:t> are on the </a:t>
            </a:r>
            <a:r>
              <a:rPr lang="en-US" sz="1100" b="1" dirty="0"/>
              <a:t>verge of retirement </a:t>
            </a:r>
            <a:r>
              <a:rPr lang="en-US" sz="1100" dirty="0"/>
              <a:t>or have already </a:t>
            </a:r>
            <a:r>
              <a:rPr lang="en-US" sz="1100" b="1" dirty="0"/>
              <a:t>exceeded their useful life </a:t>
            </a:r>
            <a:r>
              <a:rPr lang="en-US" sz="1100" dirty="0"/>
              <a:t>and are still being run to meet the State’s power demand</a:t>
            </a:r>
          </a:p>
        </p:txBody>
      </p:sp>
      <p:grpSp>
        <p:nvGrpSpPr>
          <p:cNvPr id="147" name="Group 118">
            <a:extLst>
              <a:ext uri="{FF2B5EF4-FFF2-40B4-BE49-F238E27FC236}">
                <a16:creationId xmlns:a16="http://schemas.microsoft.com/office/drawing/2014/main" id="{E386B41E-C468-4720-9624-9A0416147A6B}"/>
              </a:ext>
            </a:extLst>
          </p:cNvPr>
          <p:cNvGrpSpPr>
            <a:grpSpLocks noChangeAspect="1"/>
          </p:cNvGrpSpPr>
          <p:nvPr/>
        </p:nvGrpSpPr>
        <p:grpSpPr bwMode="auto">
          <a:xfrm flipV="1">
            <a:off x="790353" y="3414388"/>
            <a:ext cx="752013" cy="749808"/>
            <a:chOff x="5806" y="368"/>
            <a:chExt cx="341" cy="340"/>
          </a:xfrm>
          <a:solidFill>
            <a:schemeClr val="accent2"/>
          </a:solidFill>
        </p:grpSpPr>
        <p:sp>
          <p:nvSpPr>
            <p:cNvPr id="149" name="Freeform 119">
              <a:extLst>
                <a:ext uri="{FF2B5EF4-FFF2-40B4-BE49-F238E27FC236}">
                  <a16:creationId xmlns:a16="http://schemas.microsoft.com/office/drawing/2014/main" id="{95BDC1A4-1293-4CCC-9FBB-903FE10235F8}"/>
                </a:ext>
              </a:extLst>
            </p:cNvPr>
            <p:cNvSpPr>
              <a:spLocks noEditPoints="1"/>
            </p:cNvSpPr>
            <p:nvPr/>
          </p:nvSpPr>
          <p:spPr bwMode="auto">
            <a:xfrm>
              <a:off x="5806" y="36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0" name="Freeform 120">
              <a:extLst>
                <a:ext uri="{FF2B5EF4-FFF2-40B4-BE49-F238E27FC236}">
                  <a16:creationId xmlns:a16="http://schemas.microsoft.com/office/drawing/2014/main" id="{321AA81D-D193-4FF5-956E-5ACDA933320E}"/>
                </a:ext>
              </a:extLst>
            </p:cNvPr>
            <p:cNvSpPr>
              <a:spLocks noEditPoints="1"/>
            </p:cNvSpPr>
            <p:nvPr/>
          </p:nvSpPr>
          <p:spPr bwMode="auto">
            <a:xfrm>
              <a:off x="5915" y="460"/>
              <a:ext cx="150" cy="156"/>
            </a:xfrm>
            <a:custGeom>
              <a:avLst/>
              <a:gdLst>
                <a:gd name="T0" fmla="*/ 74 w 226"/>
                <a:gd name="T1" fmla="*/ 189 h 235"/>
                <a:gd name="T2" fmla="*/ 74 w 226"/>
                <a:gd name="T3" fmla="*/ 204 h 235"/>
                <a:gd name="T4" fmla="*/ 47 w 226"/>
                <a:gd name="T5" fmla="*/ 232 h 235"/>
                <a:gd name="T6" fmla="*/ 43 w 226"/>
                <a:gd name="T7" fmla="*/ 234 h 235"/>
                <a:gd name="T8" fmla="*/ 39 w 226"/>
                <a:gd name="T9" fmla="*/ 235 h 235"/>
                <a:gd name="T10" fmla="*/ 35 w 226"/>
                <a:gd name="T11" fmla="*/ 234 h 235"/>
                <a:gd name="T12" fmla="*/ 32 w 226"/>
                <a:gd name="T13" fmla="*/ 232 h 235"/>
                <a:gd name="T14" fmla="*/ 4 w 226"/>
                <a:gd name="T15" fmla="*/ 204 h 235"/>
                <a:gd name="T16" fmla="*/ 4 w 226"/>
                <a:gd name="T17" fmla="*/ 189 h 235"/>
                <a:gd name="T18" fmla="*/ 19 w 226"/>
                <a:gd name="T19" fmla="*/ 189 h 235"/>
                <a:gd name="T20" fmla="*/ 29 w 226"/>
                <a:gd name="T21" fmla="*/ 199 h 235"/>
                <a:gd name="T22" fmla="*/ 29 w 226"/>
                <a:gd name="T23" fmla="*/ 11 h 235"/>
                <a:gd name="T24" fmla="*/ 39 w 226"/>
                <a:gd name="T25" fmla="*/ 0 h 235"/>
                <a:gd name="T26" fmla="*/ 50 w 226"/>
                <a:gd name="T27" fmla="*/ 11 h 235"/>
                <a:gd name="T28" fmla="*/ 50 w 226"/>
                <a:gd name="T29" fmla="*/ 199 h 235"/>
                <a:gd name="T30" fmla="*/ 59 w 226"/>
                <a:gd name="T31" fmla="*/ 189 h 235"/>
                <a:gd name="T32" fmla="*/ 74 w 226"/>
                <a:gd name="T33" fmla="*/ 189 h 235"/>
                <a:gd name="T34" fmla="*/ 215 w 226"/>
                <a:gd name="T35" fmla="*/ 0 h 235"/>
                <a:gd name="T36" fmla="*/ 103 w 226"/>
                <a:gd name="T37" fmla="*/ 0 h 235"/>
                <a:gd name="T38" fmla="*/ 93 w 226"/>
                <a:gd name="T39" fmla="*/ 11 h 235"/>
                <a:gd name="T40" fmla="*/ 103 w 226"/>
                <a:gd name="T41" fmla="*/ 22 h 235"/>
                <a:gd name="T42" fmla="*/ 215 w 226"/>
                <a:gd name="T43" fmla="*/ 22 h 235"/>
                <a:gd name="T44" fmla="*/ 226 w 226"/>
                <a:gd name="T45" fmla="*/ 11 h 235"/>
                <a:gd name="T46" fmla="*/ 215 w 226"/>
                <a:gd name="T47" fmla="*/ 0 h 235"/>
                <a:gd name="T48" fmla="*/ 199 w 226"/>
                <a:gd name="T49" fmla="*/ 43 h 235"/>
                <a:gd name="T50" fmla="*/ 103 w 226"/>
                <a:gd name="T51" fmla="*/ 43 h 235"/>
                <a:gd name="T52" fmla="*/ 93 w 226"/>
                <a:gd name="T53" fmla="*/ 54 h 235"/>
                <a:gd name="T54" fmla="*/ 103 w 226"/>
                <a:gd name="T55" fmla="*/ 64 h 235"/>
                <a:gd name="T56" fmla="*/ 199 w 226"/>
                <a:gd name="T57" fmla="*/ 64 h 235"/>
                <a:gd name="T58" fmla="*/ 210 w 226"/>
                <a:gd name="T59" fmla="*/ 54 h 235"/>
                <a:gd name="T60" fmla="*/ 199 w 226"/>
                <a:gd name="T61" fmla="*/ 43 h 235"/>
                <a:gd name="T62" fmla="*/ 178 w 226"/>
                <a:gd name="T63" fmla="*/ 86 h 235"/>
                <a:gd name="T64" fmla="*/ 103 w 226"/>
                <a:gd name="T65" fmla="*/ 86 h 235"/>
                <a:gd name="T66" fmla="*/ 93 w 226"/>
                <a:gd name="T67" fmla="*/ 96 h 235"/>
                <a:gd name="T68" fmla="*/ 103 w 226"/>
                <a:gd name="T69" fmla="*/ 107 h 235"/>
                <a:gd name="T70" fmla="*/ 178 w 226"/>
                <a:gd name="T71" fmla="*/ 107 h 235"/>
                <a:gd name="T72" fmla="*/ 189 w 226"/>
                <a:gd name="T73" fmla="*/ 96 h 235"/>
                <a:gd name="T74" fmla="*/ 178 w 226"/>
                <a:gd name="T75" fmla="*/ 86 h 235"/>
                <a:gd name="T76" fmla="*/ 157 w 226"/>
                <a:gd name="T77" fmla="*/ 128 h 235"/>
                <a:gd name="T78" fmla="*/ 103 w 226"/>
                <a:gd name="T79" fmla="*/ 128 h 235"/>
                <a:gd name="T80" fmla="*/ 93 w 226"/>
                <a:gd name="T81" fmla="*/ 139 h 235"/>
                <a:gd name="T82" fmla="*/ 103 w 226"/>
                <a:gd name="T83" fmla="*/ 150 h 235"/>
                <a:gd name="T84" fmla="*/ 157 w 226"/>
                <a:gd name="T85" fmla="*/ 150 h 235"/>
                <a:gd name="T86" fmla="*/ 167 w 226"/>
                <a:gd name="T87" fmla="*/ 139 h 235"/>
                <a:gd name="T88" fmla="*/ 157 w 226"/>
                <a:gd name="T89" fmla="*/ 128 h 235"/>
                <a:gd name="T90" fmla="*/ 135 w 226"/>
                <a:gd name="T91" fmla="*/ 171 h 235"/>
                <a:gd name="T92" fmla="*/ 103 w 226"/>
                <a:gd name="T93" fmla="*/ 171 h 235"/>
                <a:gd name="T94" fmla="*/ 93 w 226"/>
                <a:gd name="T95" fmla="*/ 182 h 235"/>
                <a:gd name="T96" fmla="*/ 103 w 226"/>
                <a:gd name="T97" fmla="*/ 192 h 235"/>
                <a:gd name="T98" fmla="*/ 135 w 226"/>
                <a:gd name="T99" fmla="*/ 192 h 235"/>
                <a:gd name="T100" fmla="*/ 146 w 226"/>
                <a:gd name="T101" fmla="*/ 182 h 235"/>
                <a:gd name="T102" fmla="*/ 135 w 226"/>
                <a:gd name="T103" fmla="*/ 171 h 235"/>
                <a:gd name="T104" fmla="*/ 114 w 226"/>
                <a:gd name="T105" fmla="*/ 214 h 235"/>
                <a:gd name="T106" fmla="*/ 103 w 226"/>
                <a:gd name="T107" fmla="*/ 214 h 235"/>
                <a:gd name="T108" fmla="*/ 93 w 226"/>
                <a:gd name="T109" fmla="*/ 224 h 235"/>
                <a:gd name="T110" fmla="*/ 103 w 226"/>
                <a:gd name="T111" fmla="*/ 235 h 235"/>
                <a:gd name="T112" fmla="*/ 114 w 226"/>
                <a:gd name="T113" fmla="*/ 235 h 235"/>
                <a:gd name="T114" fmla="*/ 125 w 226"/>
                <a:gd name="T115" fmla="*/ 224 h 235"/>
                <a:gd name="T116" fmla="*/ 114 w 226"/>
                <a:gd name="T117" fmla="*/ 214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6" h="235">
                  <a:moveTo>
                    <a:pt x="74" y="189"/>
                  </a:moveTo>
                  <a:cubicBezTo>
                    <a:pt x="79" y="193"/>
                    <a:pt x="79" y="200"/>
                    <a:pt x="74" y="204"/>
                  </a:cubicBezTo>
                  <a:cubicBezTo>
                    <a:pt x="47" y="232"/>
                    <a:pt x="47" y="232"/>
                    <a:pt x="47" y="232"/>
                  </a:cubicBezTo>
                  <a:cubicBezTo>
                    <a:pt x="46" y="233"/>
                    <a:pt x="45" y="234"/>
                    <a:pt x="43" y="234"/>
                  </a:cubicBezTo>
                  <a:cubicBezTo>
                    <a:pt x="42" y="235"/>
                    <a:pt x="41" y="235"/>
                    <a:pt x="39" y="235"/>
                  </a:cubicBezTo>
                  <a:cubicBezTo>
                    <a:pt x="38" y="235"/>
                    <a:pt x="37" y="235"/>
                    <a:pt x="35" y="234"/>
                  </a:cubicBezTo>
                  <a:cubicBezTo>
                    <a:pt x="34" y="234"/>
                    <a:pt x="33" y="233"/>
                    <a:pt x="32" y="232"/>
                  </a:cubicBezTo>
                  <a:cubicBezTo>
                    <a:pt x="4" y="204"/>
                    <a:pt x="4" y="204"/>
                    <a:pt x="4" y="204"/>
                  </a:cubicBezTo>
                  <a:cubicBezTo>
                    <a:pt x="0" y="200"/>
                    <a:pt x="0" y="193"/>
                    <a:pt x="4" y="189"/>
                  </a:cubicBezTo>
                  <a:cubicBezTo>
                    <a:pt x="8" y="185"/>
                    <a:pt x="15" y="185"/>
                    <a:pt x="19" y="189"/>
                  </a:cubicBezTo>
                  <a:cubicBezTo>
                    <a:pt x="29" y="199"/>
                    <a:pt x="29" y="199"/>
                    <a:pt x="29" y="199"/>
                  </a:cubicBezTo>
                  <a:cubicBezTo>
                    <a:pt x="29" y="11"/>
                    <a:pt x="29" y="11"/>
                    <a:pt x="29" y="11"/>
                  </a:cubicBezTo>
                  <a:cubicBezTo>
                    <a:pt x="29" y="5"/>
                    <a:pt x="33" y="0"/>
                    <a:pt x="39" y="0"/>
                  </a:cubicBezTo>
                  <a:cubicBezTo>
                    <a:pt x="45" y="0"/>
                    <a:pt x="50" y="5"/>
                    <a:pt x="50" y="11"/>
                  </a:cubicBezTo>
                  <a:cubicBezTo>
                    <a:pt x="50" y="199"/>
                    <a:pt x="50" y="199"/>
                    <a:pt x="50" y="199"/>
                  </a:cubicBezTo>
                  <a:cubicBezTo>
                    <a:pt x="59" y="189"/>
                    <a:pt x="59" y="189"/>
                    <a:pt x="59" y="189"/>
                  </a:cubicBezTo>
                  <a:cubicBezTo>
                    <a:pt x="64" y="185"/>
                    <a:pt x="70" y="185"/>
                    <a:pt x="74" y="189"/>
                  </a:cubicBezTo>
                  <a:close/>
                  <a:moveTo>
                    <a:pt x="215" y="0"/>
                  </a:moveTo>
                  <a:cubicBezTo>
                    <a:pt x="103" y="0"/>
                    <a:pt x="103" y="0"/>
                    <a:pt x="103" y="0"/>
                  </a:cubicBezTo>
                  <a:cubicBezTo>
                    <a:pt x="97" y="0"/>
                    <a:pt x="93" y="5"/>
                    <a:pt x="93" y="11"/>
                  </a:cubicBezTo>
                  <a:cubicBezTo>
                    <a:pt x="93" y="17"/>
                    <a:pt x="97" y="22"/>
                    <a:pt x="103" y="22"/>
                  </a:cubicBezTo>
                  <a:cubicBezTo>
                    <a:pt x="215" y="22"/>
                    <a:pt x="215" y="22"/>
                    <a:pt x="215" y="22"/>
                  </a:cubicBezTo>
                  <a:cubicBezTo>
                    <a:pt x="221" y="22"/>
                    <a:pt x="226" y="17"/>
                    <a:pt x="226" y="11"/>
                  </a:cubicBezTo>
                  <a:cubicBezTo>
                    <a:pt x="226" y="5"/>
                    <a:pt x="221" y="0"/>
                    <a:pt x="215" y="0"/>
                  </a:cubicBezTo>
                  <a:close/>
                  <a:moveTo>
                    <a:pt x="199" y="43"/>
                  </a:moveTo>
                  <a:cubicBezTo>
                    <a:pt x="103" y="43"/>
                    <a:pt x="103" y="43"/>
                    <a:pt x="103" y="43"/>
                  </a:cubicBezTo>
                  <a:cubicBezTo>
                    <a:pt x="97" y="43"/>
                    <a:pt x="93" y="48"/>
                    <a:pt x="93" y="54"/>
                  </a:cubicBezTo>
                  <a:cubicBezTo>
                    <a:pt x="93" y="60"/>
                    <a:pt x="97" y="64"/>
                    <a:pt x="103" y="64"/>
                  </a:cubicBezTo>
                  <a:cubicBezTo>
                    <a:pt x="199" y="64"/>
                    <a:pt x="199" y="64"/>
                    <a:pt x="199" y="64"/>
                  </a:cubicBezTo>
                  <a:cubicBezTo>
                    <a:pt x="205" y="64"/>
                    <a:pt x="210" y="60"/>
                    <a:pt x="210" y="54"/>
                  </a:cubicBezTo>
                  <a:cubicBezTo>
                    <a:pt x="210" y="48"/>
                    <a:pt x="205" y="43"/>
                    <a:pt x="199" y="43"/>
                  </a:cubicBezTo>
                  <a:close/>
                  <a:moveTo>
                    <a:pt x="178" y="86"/>
                  </a:moveTo>
                  <a:cubicBezTo>
                    <a:pt x="103" y="86"/>
                    <a:pt x="103" y="86"/>
                    <a:pt x="103" y="86"/>
                  </a:cubicBezTo>
                  <a:cubicBezTo>
                    <a:pt x="97" y="86"/>
                    <a:pt x="93" y="90"/>
                    <a:pt x="93" y="96"/>
                  </a:cubicBezTo>
                  <a:cubicBezTo>
                    <a:pt x="93" y="102"/>
                    <a:pt x="97" y="107"/>
                    <a:pt x="103" y="107"/>
                  </a:cubicBezTo>
                  <a:cubicBezTo>
                    <a:pt x="178" y="107"/>
                    <a:pt x="178" y="107"/>
                    <a:pt x="178" y="107"/>
                  </a:cubicBezTo>
                  <a:cubicBezTo>
                    <a:pt x="184" y="107"/>
                    <a:pt x="189" y="102"/>
                    <a:pt x="189" y="96"/>
                  </a:cubicBezTo>
                  <a:cubicBezTo>
                    <a:pt x="189" y="90"/>
                    <a:pt x="184" y="86"/>
                    <a:pt x="178" y="86"/>
                  </a:cubicBezTo>
                  <a:close/>
                  <a:moveTo>
                    <a:pt x="157" y="128"/>
                  </a:moveTo>
                  <a:cubicBezTo>
                    <a:pt x="103" y="128"/>
                    <a:pt x="103" y="128"/>
                    <a:pt x="103" y="128"/>
                  </a:cubicBezTo>
                  <a:cubicBezTo>
                    <a:pt x="97" y="128"/>
                    <a:pt x="93" y="133"/>
                    <a:pt x="93" y="139"/>
                  </a:cubicBezTo>
                  <a:cubicBezTo>
                    <a:pt x="93" y="145"/>
                    <a:pt x="97" y="150"/>
                    <a:pt x="103" y="150"/>
                  </a:cubicBezTo>
                  <a:cubicBezTo>
                    <a:pt x="157" y="150"/>
                    <a:pt x="157" y="150"/>
                    <a:pt x="157" y="150"/>
                  </a:cubicBezTo>
                  <a:cubicBezTo>
                    <a:pt x="163" y="150"/>
                    <a:pt x="167" y="145"/>
                    <a:pt x="167" y="139"/>
                  </a:cubicBezTo>
                  <a:cubicBezTo>
                    <a:pt x="167" y="133"/>
                    <a:pt x="163" y="128"/>
                    <a:pt x="157" y="128"/>
                  </a:cubicBezTo>
                  <a:close/>
                  <a:moveTo>
                    <a:pt x="135" y="171"/>
                  </a:moveTo>
                  <a:cubicBezTo>
                    <a:pt x="103" y="171"/>
                    <a:pt x="103" y="171"/>
                    <a:pt x="103" y="171"/>
                  </a:cubicBezTo>
                  <a:cubicBezTo>
                    <a:pt x="97" y="171"/>
                    <a:pt x="93" y="176"/>
                    <a:pt x="93" y="182"/>
                  </a:cubicBezTo>
                  <a:cubicBezTo>
                    <a:pt x="93" y="188"/>
                    <a:pt x="97" y="192"/>
                    <a:pt x="103" y="192"/>
                  </a:cubicBezTo>
                  <a:cubicBezTo>
                    <a:pt x="135" y="192"/>
                    <a:pt x="135" y="192"/>
                    <a:pt x="135" y="192"/>
                  </a:cubicBezTo>
                  <a:cubicBezTo>
                    <a:pt x="141" y="192"/>
                    <a:pt x="146" y="188"/>
                    <a:pt x="146" y="182"/>
                  </a:cubicBezTo>
                  <a:cubicBezTo>
                    <a:pt x="146" y="176"/>
                    <a:pt x="141" y="171"/>
                    <a:pt x="135" y="171"/>
                  </a:cubicBezTo>
                  <a:close/>
                  <a:moveTo>
                    <a:pt x="114" y="214"/>
                  </a:moveTo>
                  <a:cubicBezTo>
                    <a:pt x="103" y="214"/>
                    <a:pt x="103" y="214"/>
                    <a:pt x="103" y="214"/>
                  </a:cubicBezTo>
                  <a:cubicBezTo>
                    <a:pt x="97" y="214"/>
                    <a:pt x="93" y="218"/>
                    <a:pt x="93" y="224"/>
                  </a:cubicBezTo>
                  <a:cubicBezTo>
                    <a:pt x="93" y="230"/>
                    <a:pt x="97" y="235"/>
                    <a:pt x="103" y="235"/>
                  </a:cubicBezTo>
                  <a:cubicBezTo>
                    <a:pt x="114" y="235"/>
                    <a:pt x="114" y="235"/>
                    <a:pt x="114" y="235"/>
                  </a:cubicBezTo>
                  <a:cubicBezTo>
                    <a:pt x="120" y="235"/>
                    <a:pt x="125" y="230"/>
                    <a:pt x="125" y="224"/>
                  </a:cubicBezTo>
                  <a:cubicBezTo>
                    <a:pt x="125" y="218"/>
                    <a:pt x="120" y="214"/>
                    <a:pt x="114" y="21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48" name="Rectangle 147">
            <a:extLst>
              <a:ext uri="{FF2B5EF4-FFF2-40B4-BE49-F238E27FC236}">
                <a16:creationId xmlns:a16="http://schemas.microsoft.com/office/drawing/2014/main" id="{DBAC31B3-5226-4FDC-AD76-423E562A652B}"/>
              </a:ext>
            </a:extLst>
          </p:cNvPr>
          <p:cNvSpPr/>
          <p:nvPr/>
        </p:nvSpPr>
        <p:spPr bwMode="gray">
          <a:xfrm>
            <a:off x="9864504" y="3587680"/>
            <a:ext cx="1271028" cy="523031"/>
          </a:xfrm>
          <a:prstGeom prst="rect">
            <a:avLst/>
          </a:prstGeom>
          <a:noFill/>
          <a:ln w="19050" algn="ctr">
            <a:solidFill>
              <a:srgbClr val="FF0000"/>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1" name="Rectangle 150">
            <a:extLst>
              <a:ext uri="{FF2B5EF4-FFF2-40B4-BE49-F238E27FC236}">
                <a16:creationId xmlns:a16="http://schemas.microsoft.com/office/drawing/2014/main" id="{05BCEB8A-72A7-43C7-8D52-885251EFEC3B}"/>
              </a:ext>
            </a:extLst>
          </p:cNvPr>
          <p:cNvSpPr/>
          <p:nvPr/>
        </p:nvSpPr>
        <p:spPr bwMode="gray">
          <a:xfrm>
            <a:off x="8335964" y="3118777"/>
            <a:ext cx="2968625" cy="347663"/>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solidFill>
                  <a:schemeClr val="accent2"/>
                </a:solidFill>
              </a:rPr>
              <a:t>WBPDCL Unit Wise Portfolio</a:t>
            </a:r>
          </a:p>
        </p:txBody>
      </p:sp>
      <p:sp>
        <p:nvSpPr>
          <p:cNvPr id="152" name="Rectangle 151">
            <a:extLst>
              <a:ext uri="{FF2B5EF4-FFF2-40B4-BE49-F238E27FC236}">
                <a16:creationId xmlns:a16="http://schemas.microsoft.com/office/drawing/2014/main" id="{395E2111-ECE3-4FA0-9372-9F3EAA77966A}"/>
              </a:ext>
            </a:extLst>
          </p:cNvPr>
          <p:cNvSpPr/>
          <p:nvPr/>
        </p:nvSpPr>
        <p:spPr bwMode="gray">
          <a:xfrm>
            <a:off x="501636" y="4870379"/>
            <a:ext cx="11332738" cy="1576388"/>
          </a:xfrm>
          <a:prstGeom prst="rect">
            <a:avLst/>
          </a:prstGeom>
          <a:solidFill>
            <a:schemeClr val="accent1">
              <a:alpha val="9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3" name="Rectangle 152">
            <a:extLst>
              <a:ext uri="{FF2B5EF4-FFF2-40B4-BE49-F238E27FC236}">
                <a16:creationId xmlns:a16="http://schemas.microsoft.com/office/drawing/2014/main" id="{72C7147F-66D8-4F1B-A8ED-5B7DD6D10A3D}"/>
              </a:ext>
            </a:extLst>
          </p:cNvPr>
          <p:cNvSpPr/>
          <p:nvPr/>
        </p:nvSpPr>
        <p:spPr bwMode="gray">
          <a:xfrm>
            <a:off x="1990459" y="5122793"/>
            <a:ext cx="5784110" cy="1146175"/>
          </a:xfrm>
          <a:prstGeom prst="rect">
            <a:avLst/>
          </a:prstGeom>
          <a:noFill/>
          <a:ln w="19050" algn="ctr">
            <a:solidFill>
              <a:schemeClr val="accent1"/>
            </a:solidFill>
            <a:miter lim="800000"/>
            <a:headEnd/>
            <a:tailEnd/>
          </a:ln>
        </p:spPr>
        <p:txBody>
          <a:bodyPr wrap="square" lIns="88900" tIns="88900" rIns="88900" bIns="88900" rtlCol="0" anchor="ctr"/>
          <a:lstStyle/>
          <a:p>
            <a:pPr marL="171450" indent="-171450">
              <a:lnSpc>
                <a:spcPct val="106000"/>
              </a:lnSpc>
              <a:spcAft>
                <a:spcPts val="600"/>
              </a:spcAft>
              <a:buFont typeface="Arial" panose="020B0604020202020204" pitchFamily="34" charset="0"/>
              <a:buChar char="•"/>
            </a:pPr>
            <a:r>
              <a:rPr lang="en-US" sz="1100" dirty="0"/>
              <a:t>The ageing assets of WBPDCL is also reflecting on its operational performance with the average plant availability / load factors showing a negative trend since FY15. </a:t>
            </a:r>
          </a:p>
          <a:p>
            <a:pPr marL="171450" indent="-171450">
              <a:lnSpc>
                <a:spcPct val="106000"/>
              </a:lnSpc>
              <a:spcAft>
                <a:spcPts val="600"/>
              </a:spcAft>
              <a:buFont typeface="Arial" panose="020B0604020202020204" pitchFamily="34" charset="0"/>
              <a:buChar char="•"/>
            </a:pPr>
            <a:r>
              <a:rPr lang="en-US" sz="1100" dirty="0"/>
              <a:t>The </a:t>
            </a:r>
            <a:r>
              <a:rPr lang="en-US" sz="1100" b="1" dirty="0"/>
              <a:t>overall availability has reduced by a 6.2% CAGR </a:t>
            </a:r>
            <a:r>
              <a:rPr lang="en-US" sz="1100" dirty="0"/>
              <a:t>between FY15-19 </a:t>
            </a:r>
          </a:p>
        </p:txBody>
      </p:sp>
      <p:sp>
        <p:nvSpPr>
          <p:cNvPr id="154" name="Rectangle 153">
            <a:extLst>
              <a:ext uri="{FF2B5EF4-FFF2-40B4-BE49-F238E27FC236}">
                <a16:creationId xmlns:a16="http://schemas.microsoft.com/office/drawing/2014/main" id="{2076EC5A-87A6-4139-A965-2BA6D2E0E454}"/>
              </a:ext>
            </a:extLst>
          </p:cNvPr>
          <p:cNvSpPr/>
          <p:nvPr/>
        </p:nvSpPr>
        <p:spPr bwMode="gray">
          <a:xfrm>
            <a:off x="429445" y="5975281"/>
            <a:ext cx="1476265" cy="212725"/>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solidFill>
                  <a:schemeClr val="accent1"/>
                </a:solidFill>
              </a:rPr>
              <a:t>Falling PLF/PAF of Assets</a:t>
            </a:r>
          </a:p>
        </p:txBody>
      </p:sp>
      <p:graphicFrame>
        <p:nvGraphicFramePr>
          <p:cNvPr id="82" name="Chart 81">
            <a:extLst>
              <a:ext uri="{FF2B5EF4-FFF2-40B4-BE49-F238E27FC236}">
                <a16:creationId xmlns:a16="http://schemas.microsoft.com/office/drawing/2014/main" id="{7E47094E-F96F-4FBA-92F8-31CDF38EC604}"/>
              </a:ext>
            </a:extLst>
          </p:cNvPr>
          <p:cNvGraphicFramePr/>
          <p:nvPr>
            <p:custDataLst>
              <p:tags r:id="rId33"/>
            </p:custDataLst>
            <p:extLst>
              <p:ext uri="{D42A27DB-BD31-4B8C-83A1-F6EECF244321}">
                <p14:modId xmlns:p14="http://schemas.microsoft.com/office/powerpoint/2010/main" val="1367964775"/>
              </p:ext>
            </p:extLst>
          </p:nvPr>
        </p:nvGraphicFramePr>
        <p:xfrm>
          <a:off x="7869238" y="5300663"/>
          <a:ext cx="3903662" cy="757237"/>
        </p:xfrm>
        <a:graphic>
          <a:graphicData uri="http://schemas.openxmlformats.org/drawingml/2006/chart">
            <c:chart xmlns:c="http://schemas.openxmlformats.org/drawingml/2006/chart" xmlns:r="http://schemas.openxmlformats.org/officeDocument/2006/relationships" r:id="rId58"/>
          </a:graphicData>
        </a:graphic>
      </p:graphicFrame>
      <p:sp>
        <p:nvSpPr>
          <p:cNvPr id="159" name="Text Placeholder 18">
            <a:extLst>
              <a:ext uri="{FF2B5EF4-FFF2-40B4-BE49-F238E27FC236}">
                <a16:creationId xmlns:a16="http://schemas.microsoft.com/office/drawing/2014/main" id="{BF7E3478-AEC0-41D1-8BAA-BBB3A280C81E}"/>
              </a:ext>
            </a:extLst>
          </p:cNvPr>
          <p:cNvSpPr>
            <a:spLocks noGrp="1"/>
          </p:cNvSpPr>
          <p:nvPr>
            <p:custDataLst>
              <p:tags r:id="rId34"/>
            </p:custDataLst>
          </p:nvPr>
        </p:nvSpPr>
        <p:spPr bwMode="auto">
          <a:xfrm>
            <a:off x="8162925" y="6061004"/>
            <a:ext cx="3254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82B3EA9E-EC87-45C1-AFD8-73DF64C09A91}" type="datetime'''''''''''''''''''F''''''''''Y''''''''1''''''''''''''''5'''''">
              <a:rPr lang="en-US" altLang="en-US" sz="1000"/>
              <a:pPr/>
              <a:t>FY15</a:t>
            </a:fld>
            <a:endParaRPr lang="en-US" sz="1000" dirty="0"/>
          </a:p>
        </p:txBody>
      </p:sp>
      <p:sp>
        <p:nvSpPr>
          <p:cNvPr id="165" name="Text Placeholder 18">
            <a:extLst>
              <a:ext uri="{FF2B5EF4-FFF2-40B4-BE49-F238E27FC236}">
                <a16:creationId xmlns:a16="http://schemas.microsoft.com/office/drawing/2014/main" id="{0C9AC97B-B80B-4405-ABD3-1561BD44C907}"/>
              </a:ext>
            </a:extLst>
          </p:cNvPr>
          <p:cNvSpPr>
            <a:spLocks noGrp="1"/>
          </p:cNvSpPr>
          <p:nvPr>
            <p:custDataLst>
              <p:tags r:id="rId35"/>
            </p:custDataLst>
          </p:nvPr>
        </p:nvSpPr>
        <p:spPr bwMode="gray">
          <a:xfrm>
            <a:off x="11320465" y="5533954"/>
            <a:ext cx="339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C5F71A25-D031-47C7-AFE2-875428D0B45E}" type="datetime'''''''''''''''''''5''''''''4''''''''%'''''''''''''''''''">
              <a:rPr lang="en-US" altLang="en-US" sz="1000"/>
              <a:pPr/>
              <a:t>54%</a:t>
            </a:fld>
            <a:endParaRPr lang="en-US" sz="1000" dirty="0"/>
          </a:p>
        </p:txBody>
      </p:sp>
      <p:sp>
        <p:nvSpPr>
          <p:cNvPr id="162" name="Text Placeholder 18">
            <a:extLst>
              <a:ext uri="{FF2B5EF4-FFF2-40B4-BE49-F238E27FC236}">
                <a16:creationId xmlns:a16="http://schemas.microsoft.com/office/drawing/2014/main" id="{D41B3414-C4C2-4CA3-969C-83E194EB4524}"/>
              </a:ext>
            </a:extLst>
          </p:cNvPr>
          <p:cNvSpPr>
            <a:spLocks noGrp="1"/>
          </p:cNvSpPr>
          <p:nvPr>
            <p:custDataLst>
              <p:tags r:id="rId36"/>
            </p:custDataLst>
          </p:nvPr>
        </p:nvSpPr>
        <p:spPr bwMode="auto">
          <a:xfrm>
            <a:off x="9658350" y="6061004"/>
            <a:ext cx="3254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4A67F834-697A-4A55-9FFF-221B7E32225D}" type="datetime'''''''''''''''''''''''F''''''Y''''''1''''''''''7'''">
              <a:rPr lang="en-US" altLang="en-US" sz="1000"/>
              <a:pPr/>
              <a:t>FY17</a:t>
            </a:fld>
            <a:endParaRPr lang="en-US" sz="1000" dirty="0"/>
          </a:p>
        </p:txBody>
      </p:sp>
      <p:sp>
        <p:nvSpPr>
          <p:cNvPr id="161" name="Text Placeholder 18">
            <a:extLst>
              <a:ext uri="{FF2B5EF4-FFF2-40B4-BE49-F238E27FC236}">
                <a16:creationId xmlns:a16="http://schemas.microsoft.com/office/drawing/2014/main" id="{B9C9AD77-DB8B-4441-A6BF-5226A672A9E4}"/>
              </a:ext>
            </a:extLst>
          </p:cNvPr>
          <p:cNvSpPr>
            <a:spLocks noGrp="1"/>
          </p:cNvSpPr>
          <p:nvPr>
            <p:custDataLst>
              <p:tags r:id="rId37"/>
            </p:custDataLst>
          </p:nvPr>
        </p:nvSpPr>
        <p:spPr bwMode="auto">
          <a:xfrm>
            <a:off x="8910638" y="6061004"/>
            <a:ext cx="3254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B172516B-9C9D-49A6-A3EC-6C309A56ED4C}" type="datetime'F''''''''''''''Y''''''1''''''''6'''''''''''''''''''''''''">
              <a:rPr lang="en-US" altLang="en-US" sz="1000"/>
              <a:pPr/>
              <a:t>FY16</a:t>
            </a:fld>
            <a:endParaRPr lang="en-US" sz="1000" dirty="0"/>
          </a:p>
        </p:txBody>
      </p:sp>
      <p:sp>
        <p:nvSpPr>
          <p:cNvPr id="156" name="Text Placeholder 18">
            <a:extLst>
              <a:ext uri="{FF2B5EF4-FFF2-40B4-BE49-F238E27FC236}">
                <a16:creationId xmlns:a16="http://schemas.microsoft.com/office/drawing/2014/main" id="{5E894F3D-1807-41CA-B4E1-638DF6D44279}"/>
              </a:ext>
            </a:extLst>
          </p:cNvPr>
          <p:cNvSpPr>
            <a:spLocks noGrp="1"/>
          </p:cNvSpPr>
          <p:nvPr>
            <p:custDataLst>
              <p:tags r:id="rId38"/>
            </p:custDataLst>
          </p:nvPr>
        </p:nvSpPr>
        <p:spPr bwMode="gray">
          <a:xfrm>
            <a:off x="7986715" y="5205341"/>
            <a:ext cx="339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473A0116-B3DB-4518-8561-BD9B2CB2EAAA}" type="datetime'7''''''''''''''''''''''''2''''%'''''''''''''''">
              <a:rPr lang="en-US" altLang="en-US" sz="1000"/>
              <a:pPr/>
              <a:t>72%</a:t>
            </a:fld>
            <a:endParaRPr lang="en-US" sz="1000" dirty="0"/>
          </a:p>
        </p:txBody>
      </p:sp>
      <p:sp>
        <p:nvSpPr>
          <p:cNvPr id="163" name="Text Placeholder 18">
            <a:extLst>
              <a:ext uri="{FF2B5EF4-FFF2-40B4-BE49-F238E27FC236}">
                <a16:creationId xmlns:a16="http://schemas.microsoft.com/office/drawing/2014/main" id="{C239C028-F705-4AE5-BEB9-EED4A4E1B46D}"/>
              </a:ext>
            </a:extLst>
          </p:cNvPr>
          <p:cNvSpPr>
            <a:spLocks noGrp="1"/>
          </p:cNvSpPr>
          <p:nvPr>
            <p:custDataLst>
              <p:tags r:id="rId39"/>
            </p:custDataLst>
          </p:nvPr>
        </p:nvSpPr>
        <p:spPr bwMode="auto">
          <a:xfrm>
            <a:off x="11153775" y="6061004"/>
            <a:ext cx="3254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5252F6B2-1803-40D0-88EF-1076B961E429}" type="datetime'''F''''''''''''''Y''''''''''1''''''''''9'''''''''''''">
              <a:rPr lang="en-US" altLang="en-US" sz="1000"/>
              <a:pPr/>
              <a:t>FY19</a:t>
            </a:fld>
            <a:endParaRPr lang="en-US" sz="1000" dirty="0"/>
          </a:p>
        </p:txBody>
      </p:sp>
      <p:sp>
        <p:nvSpPr>
          <p:cNvPr id="158" name="Text Placeholder 18">
            <a:extLst>
              <a:ext uri="{FF2B5EF4-FFF2-40B4-BE49-F238E27FC236}">
                <a16:creationId xmlns:a16="http://schemas.microsoft.com/office/drawing/2014/main" id="{D8DF816F-CAED-4A55-8E23-BFD4646D2A6C}"/>
              </a:ext>
            </a:extLst>
          </p:cNvPr>
          <p:cNvSpPr>
            <a:spLocks noGrp="1"/>
          </p:cNvSpPr>
          <p:nvPr>
            <p:custDataLst>
              <p:tags r:id="rId40"/>
            </p:custDataLst>
          </p:nvPr>
        </p:nvSpPr>
        <p:spPr bwMode="auto">
          <a:xfrm>
            <a:off x="10406063" y="6061004"/>
            <a:ext cx="3254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47CF278D-5B03-4CF4-B844-5960FA5C8E22}" type="datetime'''F''''''''Y1''''''8'''''''''''''''''''''''''''''''''''''">
              <a:rPr lang="en-US" altLang="en-US" sz="1000"/>
              <a:pPr/>
              <a:t>FY18</a:t>
            </a:fld>
            <a:endParaRPr lang="en-US" sz="1000" dirty="0"/>
          </a:p>
        </p:txBody>
      </p:sp>
      <p:sp>
        <p:nvSpPr>
          <p:cNvPr id="160" name="Text Placeholder 18">
            <a:extLst>
              <a:ext uri="{FF2B5EF4-FFF2-40B4-BE49-F238E27FC236}">
                <a16:creationId xmlns:a16="http://schemas.microsoft.com/office/drawing/2014/main" id="{1DA4A625-DF34-4558-905B-B2BEA07C1625}"/>
              </a:ext>
            </a:extLst>
          </p:cNvPr>
          <p:cNvSpPr>
            <a:spLocks noGrp="1"/>
          </p:cNvSpPr>
          <p:nvPr>
            <p:custDataLst>
              <p:tags r:id="rId41"/>
            </p:custDataLst>
          </p:nvPr>
        </p:nvSpPr>
        <p:spPr bwMode="gray">
          <a:xfrm>
            <a:off x="8329615" y="5229154"/>
            <a:ext cx="339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29906B9E-CD84-42DB-84FC-DFC1A18F627E}" type="datetime'''''7''1''''%'">
              <a:rPr lang="en-US" altLang="en-US" sz="1000"/>
              <a:pPr/>
              <a:t>71%</a:t>
            </a:fld>
            <a:endParaRPr lang="en-US" sz="1000" dirty="0"/>
          </a:p>
        </p:txBody>
      </p:sp>
      <p:sp>
        <p:nvSpPr>
          <p:cNvPr id="164" name="Text Placeholder 18">
            <a:extLst>
              <a:ext uri="{FF2B5EF4-FFF2-40B4-BE49-F238E27FC236}">
                <a16:creationId xmlns:a16="http://schemas.microsoft.com/office/drawing/2014/main" id="{1AED478E-1849-414F-9C6E-3A1EBF80AE64}"/>
              </a:ext>
            </a:extLst>
          </p:cNvPr>
          <p:cNvSpPr>
            <a:spLocks noGrp="1"/>
          </p:cNvSpPr>
          <p:nvPr>
            <p:custDataLst>
              <p:tags r:id="rId42"/>
            </p:custDataLst>
          </p:nvPr>
        </p:nvSpPr>
        <p:spPr bwMode="gray">
          <a:xfrm>
            <a:off x="8734427" y="5414891"/>
            <a:ext cx="339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6BFC6346-2E7D-42C0-BE42-B6C65A18DF16}" type="datetime'6''''''''''''''''''''''''''''''''''''''''''''1''''%'''''''">
              <a:rPr lang="en-US" altLang="en-US" sz="1000"/>
              <a:pPr/>
              <a:t>61%</a:t>
            </a:fld>
            <a:endParaRPr lang="en-US" sz="1000" dirty="0"/>
          </a:p>
        </p:txBody>
      </p:sp>
      <p:sp>
        <p:nvSpPr>
          <p:cNvPr id="166" name="Text Placeholder 18">
            <a:extLst>
              <a:ext uri="{FF2B5EF4-FFF2-40B4-BE49-F238E27FC236}">
                <a16:creationId xmlns:a16="http://schemas.microsoft.com/office/drawing/2014/main" id="{DF214059-5DBE-44AE-A615-2C401F53FFB8}"/>
              </a:ext>
            </a:extLst>
          </p:cNvPr>
          <p:cNvSpPr>
            <a:spLocks noGrp="1"/>
          </p:cNvSpPr>
          <p:nvPr>
            <p:custDataLst>
              <p:tags r:id="rId43"/>
            </p:custDataLst>
          </p:nvPr>
        </p:nvSpPr>
        <p:spPr bwMode="gray">
          <a:xfrm>
            <a:off x="10977565" y="5505379"/>
            <a:ext cx="339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80CD4B48-A24F-4B3F-B0FC-4983005B90B9}" type="datetime'''''5''''''''6''''''''%'''''''''''''''">
              <a:rPr lang="en-US" altLang="en-US" sz="1000"/>
              <a:pPr/>
              <a:t>56%</a:t>
            </a:fld>
            <a:endParaRPr lang="en-US" sz="1000" dirty="0"/>
          </a:p>
        </p:txBody>
      </p:sp>
      <p:sp>
        <p:nvSpPr>
          <p:cNvPr id="167" name="Text Placeholder 18">
            <a:extLst>
              <a:ext uri="{FF2B5EF4-FFF2-40B4-BE49-F238E27FC236}">
                <a16:creationId xmlns:a16="http://schemas.microsoft.com/office/drawing/2014/main" id="{F2631D87-28DD-4E4E-8111-45E4437815A8}"/>
              </a:ext>
            </a:extLst>
          </p:cNvPr>
          <p:cNvSpPr>
            <a:spLocks noGrp="1"/>
          </p:cNvSpPr>
          <p:nvPr>
            <p:custDataLst>
              <p:tags r:id="rId44"/>
            </p:custDataLst>
          </p:nvPr>
        </p:nvSpPr>
        <p:spPr bwMode="gray">
          <a:xfrm>
            <a:off x="9077327" y="5446641"/>
            <a:ext cx="339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6C1A0FBA-EE03-4399-9B30-562896129476}" type="datetime'''''''''''''5''''''''''''9''''''''''''%'''''''''''''''''''''">
              <a:rPr lang="en-US" altLang="en-US" sz="1000"/>
              <a:pPr/>
              <a:t>59%</a:t>
            </a:fld>
            <a:endParaRPr lang="en-US" sz="1000" dirty="0"/>
          </a:p>
        </p:txBody>
      </p:sp>
      <p:sp>
        <p:nvSpPr>
          <p:cNvPr id="157" name="Text Placeholder 18">
            <a:extLst>
              <a:ext uri="{FF2B5EF4-FFF2-40B4-BE49-F238E27FC236}">
                <a16:creationId xmlns:a16="http://schemas.microsoft.com/office/drawing/2014/main" id="{1060C569-19F6-42A5-A29F-3627C40EDADA}"/>
              </a:ext>
            </a:extLst>
          </p:cNvPr>
          <p:cNvSpPr>
            <a:spLocks noGrp="1"/>
          </p:cNvSpPr>
          <p:nvPr>
            <p:custDataLst>
              <p:tags r:id="rId45"/>
            </p:custDataLst>
          </p:nvPr>
        </p:nvSpPr>
        <p:spPr bwMode="gray">
          <a:xfrm>
            <a:off x="9542465" y="5252966"/>
            <a:ext cx="339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EF33D651-8776-44A1-AD6F-10EB9E722A3D}" type="datetime'''''''''''''''6''8%'''''''''''''''''''''''''''''''''''''">
              <a:rPr lang="en-US" altLang="en-US" sz="1000"/>
              <a:pPr/>
              <a:t>68%</a:t>
            </a:fld>
            <a:endParaRPr lang="en-US" sz="1000" dirty="0"/>
          </a:p>
        </p:txBody>
      </p:sp>
      <p:sp>
        <p:nvSpPr>
          <p:cNvPr id="168" name="Text Placeholder 18">
            <a:extLst>
              <a:ext uri="{FF2B5EF4-FFF2-40B4-BE49-F238E27FC236}">
                <a16:creationId xmlns:a16="http://schemas.microsoft.com/office/drawing/2014/main" id="{E59497AA-8209-4F67-A888-144C36017019}"/>
              </a:ext>
            </a:extLst>
          </p:cNvPr>
          <p:cNvSpPr>
            <a:spLocks noGrp="1"/>
          </p:cNvSpPr>
          <p:nvPr>
            <p:custDataLst>
              <p:tags r:id="rId46"/>
            </p:custDataLst>
          </p:nvPr>
        </p:nvSpPr>
        <p:spPr bwMode="gray">
          <a:xfrm>
            <a:off x="9825040" y="5405366"/>
            <a:ext cx="339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A408281C-7A6A-4E9F-9AAC-FB0D29316AFC}" type="datetime'''''''''''6''''''''''''1''''''%'''''''''''''''''''''''''''''">
              <a:rPr lang="en-US" altLang="en-US" sz="1000"/>
              <a:pPr/>
              <a:t>61%</a:t>
            </a:fld>
            <a:endParaRPr lang="en-US" sz="1000" dirty="0"/>
          </a:p>
        </p:txBody>
      </p:sp>
      <p:sp>
        <p:nvSpPr>
          <p:cNvPr id="169" name="Text Placeholder 18">
            <a:extLst>
              <a:ext uri="{FF2B5EF4-FFF2-40B4-BE49-F238E27FC236}">
                <a16:creationId xmlns:a16="http://schemas.microsoft.com/office/drawing/2014/main" id="{28ECA3BD-38DB-489A-AE7E-D0EB190A5086}"/>
              </a:ext>
            </a:extLst>
          </p:cNvPr>
          <p:cNvSpPr>
            <a:spLocks noGrp="1"/>
          </p:cNvSpPr>
          <p:nvPr>
            <p:custDataLst>
              <p:tags r:id="rId47"/>
            </p:custDataLst>
          </p:nvPr>
        </p:nvSpPr>
        <p:spPr bwMode="gray">
          <a:xfrm>
            <a:off x="10229852" y="5492679"/>
            <a:ext cx="339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05714EEE-736A-4DE7-8E7B-0E60C56A30DB}" type="datetime'''''''''''''''''''''''''''''5''6''''''''''''''%'''''''">
              <a:rPr lang="en-US" altLang="en-US" sz="1000"/>
              <a:pPr/>
              <a:t>56%</a:t>
            </a:fld>
            <a:endParaRPr lang="en-US" sz="1000" dirty="0"/>
          </a:p>
        </p:txBody>
      </p:sp>
      <p:sp>
        <p:nvSpPr>
          <p:cNvPr id="170" name="Text Placeholder 18">
            <a:extLst>
              <a:ext uri="{FF2B5EF4-FFF2-40B4-BE49-F238E27FC236}">
                <a16:creationId xmlns:a16="http://schemas.microsoft.com/office/drawing/2014/main" id="{A4AE22A0-632F-4102-BCFB-D42A37172D92}"/>
              </a:ext>
            </a:extLst>
          </p:cNvPr>
          <p:cNvSpPr>
            <a:spLocks noGrp="1"/>
          </p:cNvSpPr>
          <p:nvPr>
            <p:custDataLst>
              <p:tags r:id="rId48"/>
            </p:custDataLst>
          </p:nvPr>
        </p:nvSpPr>
        <p:spPr bwMode="gray">
          <a:xfrm>
            <a:off x="10572752" y="5518079"/>
            <a:ext cx="33972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spcBef>
                <a:spcPct val="0"/>
              </a:spcBef>
              <a:spcAft>
                <a:spcPct val="0"/>
              </a:spcAft>
            </a:pPr>
            <a:fld id="{8B443BFE-1A55-4CAB-9624-9548DF2122A2}" type="datetime'''''''''5''''''''''''''''''''''''''''''''5''''''''%'''''''">
              <a:rPr lang="en-US" altLang="en-US" sz="1000"/>
              <a:pPr/>
              <a:t>55%</a:t>
            </a:fld>
            <a:endParaRPr lang="en-US" sz="1000" dirty="0"/>
          </a:p>
        </p:txBody>
      </p:sp>
      <p:sp>
        <p:nvSpPr>
          <p:cNvPr id="171" name="Rectangle 170">
            <a:extLst>
              <a:ext uri="{FF2B5EF4-FFF2-40B4-BE49-F238E27FC236}">
                <a16:creationId xmlns:a16="http://schemas.microsoft.com/office/drawing/2014/main" id="{5473BED5-E14E-4A0C-9133-8819C5F3C9EE}"/>
              </a:ext>
            </a:extLst>
          </p:cNvPr>
          <p:cNvSpPr/>
          <p:nvPr/>
        </p:nvSpPr>
        <p:spPr bwMode="gray">
          <a:xfrm>
            <a:off x="8415340" y="4859266"/>
            <a:ext cx="2968183" cy="349250"/>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solidFill>
                  <a:schemeClr val="accent1"/>
                </a:solidFill>
              </a:rPr>
              <a:t>PAF / PLF of WBPDCL</a:t>
            </a:r>
          </a:p>
        </p:txBody>
      </p:sp>
      <p:sp>
        <p:nvSpPr>
          <p:cNvPr id="172" name="Rectangle 171">
            <a:extLst>
              <a:ext uri="{FF2B5EF4-FFF2-40B4-BE49-F238E27FC236}">
                <a16:creationId xmlns:a16="http://schemas.microsoft.com/office/drawing/2014/main" id="{0D423C94-3682-4D65-9611-5759FBC0472D}"/>
              </a:ext>
            </a:extLst>
          </p:cNvPr>
          <p:cNvSpPr/>
          <p:nvPr>
            <p:custDataLst>
              <p:tags r:id="rId49"/>
            </p:custDataLst>
          </p:nvPr>
        </p:nvSpPr>
        <p:spPr bwMode="auto">
          <a:xfrm>
            <a:off x="9353550" y="6241979"/>
            <a:ext cx="179388" cy="133350"/>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3" name="Rectangle 172">
            <a:extLst>
              <a:ext uri="{FF2B5EF4-FFF2-40B4-BE49-F238E27FC236}">
                <a16:creationId xmlns:a16="http://schemas.microsoft.com/office/drawing/2014/main" id="{5BC368EF-36D7-4B9B-9A33-E52C3D414909}"/>
              </a:ext>
            </a:extLst>
          </p:cNvPr>
          <p:cNvSpPr/>
          <p:nvPr>
            <p:custDataLst>
              <p:tags r:id="rId50"/>
            </p:custDataLst>
          </p:nvPr>
        </p:nvSpPr>
        <p:spPr bwMode="auto">
          <a:xfrm>
            <a:off x="9921875" y="6241979"/>
            <a:ext cx="179388" cy="13335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4" name="Text Placeholder 18">
            <a:extLst>
              <a:ext uri="{FF2B5EF4-FFF2-40B4-BE49-F238E27FC236}">
                <a16:creationId xmlns:a16="http://schemas.microsoft.com/office/drawing/2014/main" id="{C45D7C9F-DAAA-49DE-8F02-701E8D077E6E}"/>
              </a:ext>
            </a:extLst>
          </p:cNvPr>
          <p:cNvSpPr>
            <a:spLocks noGrp="1"/>
          </p:cNvSpPr>
          <p:nvPr>
            <p:custDataLst>
              <p:tags r:id="rId51"/>
            </p:custDataLst>
          </p:nvPr>
        </p:nvSpPr>
        <p:spPr bwMode="auto">
          <a:xfrm>
            <a:off x="9583738" y="6237216"/>
            <a:ext cx="2365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spcBef>
                <a:spcPct val="0"/>
              </a:spcBef>
              <a:spcAft>
                <a:spcPct val="0"/>
              </a:spcAft>
            </a:pPr>
            <a:fld id="{F388AAFB-8FA2-451A-976A-95C795D85DFE}" type="datetime'''''''''P''''''''''''''''''A''''''''''''''''F'''">
              <a:rPr lang="en-US" altLang="en-US" sz="1000"/>
              <a:pPr/>
              <a:t>PAF</a:t>
            </a:fld>
            <a:endParaRPr lang="en-US" sz="1000" dirty="0"/>
          </a:p>
        </p:txBody>
      </p:sp>
      <p:sp>
        <p:nvSpPr>
          <p:cNvPr id="175" name="Text Placeholder 18">
            <a:extLst>
              <a:ext uri="{FF2B5EF4-FFF2-40B4-BE49-F238E27FC236}">
                <a16:creationId xmlns:a16="http://schemas.microsoft.com/office/drawing/2014/main" id="{9C370D53-A73A-417A-BE00-78C26426237D}"/>
              </a:ext>
            </a:extLst>
          </p:cNvPr>
          <p:cNvSpPr>
            <a:spLocks noGrp="1"/>
          </p:cNvSpPr>
          <p:nvPr>
            <p:custDataLst>
              <p:tags r:id="rId52"/>
            </p:custDataLst>
          </p:nvPr>
        </p:nvSpPr>
        <p:spPr bwMode="auto">
          <a:xfrm>
            <a:off x="10152065" y="6237216"/>
            <a:ext cx="220663"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spcBef>
                <a:spcPct val="0"/>
              </a:spcBef>
              <a:spcAft>
                <a:spcPct val="0"/>
              </a:spcAft>
            </a:pPr>
            <a:fld id="{3BFF8D1D-3BB9-41D0-974E-73C5B8ABE4D9}" type="datetime'''''''''''''''''''''''''''''''P''LF'''''''">
              <a:rPr lang="en-US" altLang="en-US" sz="1000"/>
              <a:pPr/>
              <a:t>PLF</a:t>
            </a:fld>
            <a:endParaRPr lang="en-US" sz="1000" dirty="0"/>
          </a:p>
        </p:txBody>
      </p:sp>
      <p:grpSp>
        <p:nvGrpSpPr>
          <p:cNvPr id="176" name="Group 141">
            <a:extLst>
              <a:ext uri="{FF2B5EF4-FFF2-40B4-BE49-F238E27FC236}">
                <a16:creationId xmlns:a16="http://schemas.microsoft.com/office/drawing/2014/main" id="{F57BD67D-5C66-44E3-AD16-9FBE5A3B89DB}"/>
              </a:ext>
            </a:extLst>
          </p:cNvPr>
          <p:cNvGrpSpPr>
            <a:grpSpLocks noChangeAspect="1"/>
          </p:cNvGrpSpPr>
          <p:nvPr/>
        </p:nvGrpSpPr>
        <p:grpSpPr bwMode="auto">
          <a:xfrm>
            <a:off x="820117" y="5030721"/>
            <a:ext cx="751506" cy="749301"/>
            <a:chOff x="3478" y="1502"/>
            <a:chExt cx="341" cy="340"/>
          </a:xfrm>
          <a:solidFill>
            <a:schemeClr val="accent1"/>
          </a:solidFill>
        </p:grpSpPr>
        <p:sp>
          <p:nvSpPr>
            <p:cNvPr id="177" name="Freeform 142">
              <a:extLst>
                <a:ext uri="{FF2B5EF4-FFF2-40B4-BE49-F238E27FC236}">
                  <a16:creationId xmlns:a16="http://schemas.microsoft.com/office/drawing/2014/main" id="{9C5FC4BB-9B9D-479C-ADC6-E678B4E1A215}"/>
                </a:ext>
              </a:extLst>
            </p:cNvPr>
            <p:cNvSpPr>
              <a:spLocks/>
            </p:cNvSpPr>
            <p:nvPr/>
          </p:nvSpPr>
          <p:spPr bwMode="auto">
            <a:xfrm>
              <a:off x="3584" y="1566"/>
              <a:ext cx="129" cy="212"/>
            </a:xfrm>
            <a:custGeom>
              <a:avLst/>
              <a:gdLst>
                <a:gd name="T0" fmla="*/ 190 w 194"/>
                <a:gd name="T1" fmla="*/ 216 h 320"/>
                <a:gd name="T2" fmla="*/ 174 w 194"/>
                <a:gd name="T3" fmla="*/ 216 h 320"/>
                <a:gd name="T4" fmla="*/ 107 w 194"/>
                <a:gd name="T5" fmla="*/ 283 h 320"/>
                <a:gd name="T6" fmla="*/ 107 w 194"/>
                <a:gd name="T7" fmla="*/ 10 h 320"/>
                <a:gd name="T8" fmla="*/ 97 w 194"/>
                <a:gd name="T9" fmla="*/ 0 h 320"/>
                <a:gd name="T10" fmla="*/ 86 w 194"/>
                <a:gd name="T11" fmla="*/ 10 h 320"/>
                <a:gd name="T12" fmla="*/ 86 w 194"/>
                <a:gd name="T13" fmla="*/ 283 h 320"/>
                <a:gd name="T14" fmla="*/ 19 w 194"/>
                <a:gd name="T15" fmla="*/ 216 h 320"/>
                <a:gd name="T16" fmla="*/ 4 w 194"/>
                <a:gd name="T17" fmla="*/ 216 h 320"/>
                <a:gd name="T18" fmla="*/ 4 w 194"/>
                <a:gd name="T19" fmla="*/ 231 h 320"/>
                <a:gd name="T20" fmla="*/ 89 w 194"/>
                <a:gd name="T21" fmla="*/ 317 h 320"/>
                <a:gd name="T22" fmla="*/ 93 w 194"/>
                <a:gd name="T23" fmla="*/ 319 h 320"/>
                <a:gd name="T24" fmla="*/ 97 w 194"/>
                <a:gd name="T25" fmla="*/ 320 h 320"/>
                <a:gd name="T26" fmla="*/ 101 w 194"/>
                <a:gd name="T27" fmla="*/ 319 h 320"/>
                <a:gd name="T28" fmla="*/ 104 w 194"/>
                <a:gd name="T29" fmla="*/ 317 h 320"/>
                <a:gd name="T30" fmla="*/ 190 w 194"/>
                <a:gd name="T31" fmla="*/ 231 h 320"/>
                <a:gd name="T32" fmla="*/ 190 w 194"/>
                <a:gd name="T33" fmla="*/ 21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4" h="320">
                  <a:moveTo>
                    <a:pt x="190" y="216"/>
                  </a:moveTo>
                  <a:cubicBezTo>
                    <a:pt x="185" y="212"/>
                    <a:pt x="179" y="212"/>
                    <a:pt x="174" y="216"/>
                  </a:cubicBezTo>
                  <a:cubicBezTo>
                    <a:pt x="107" y="283"/>
                    <a:pt x="107" y="283"/>
                    <a:pt x="107" y="283"/>
                  </a:cubicBezTo>
                  <a:cubicBezTo>
                    <a:pt x="107" y="10"/>
                    <a:pt x="107" y="10"/>
                    <a:pt x="107" y="10"/>
                  </a:cubicBezTo>
                  <a:cubicBezTo>
                    <a:pt x="107" y="4"/>
                    <a:pt x="103" y="0"/>
                    <a:pt x="97" y="0"/>
                  </a:cubicBezTo>
                  <a:cubicBezTo>
                    <a:pt x="91" y="0"/>
                    <a:pt x="86" y="4"/>
                    <a:pt x="86" y="10"/>
                  </a:cubicBezTo>
                  <a:cubicBezTo>
                    <a:pt x="86" y="283"/>
                    <a:pt x="86" y="283"/>
                    <a:pt x="86" y="283"/>
                  </a:cubicBezTo>
                  <a:cubicBezTo>
                    <a:pt x="19" y="216"/>
                    <a:pt x="19" y="216"/>
                    <a:pt x="19" y="216"/>
                  </a:cubicBezTo>
                  <a:cubicBezTo>
                    <a:pt x="15" y="212"/>
                    <a:pt x="8" y="212"/>
                    <a:pt x="4" y="216"/>
                  </a:cubicBezTo>
                  <a:cubicBezTo>
                    <a:pt x="0" y="220"/>
                    <a:pt x="0" y="227"/>
                    <a:pt x="4" y="231"/>
                  </a:cubicBezTo>
                  <a:cubicBezTo>
                    <a:pt x="89" y="317"/>
                    <a:pt x="89" y="317"/>
                    <a:pt x="89" y="317"/>
                  </a:cubicBezTo>
                  <a:cubicBezTo>
                    <a:pt x="90" y="318"/>
                    <a:pt x="91" y="318"/>
                    <a:pt x="93" y="319"/>
                  </a:cubicBezTo>
                  <a:cubicBezTo>
                    <a:pt x="94" y="319"/>
                    <a:pt x="95" y="320"/>
                    <a:pt x="97" y="320"/>
                  </a:cubicBezTo>
                  <a:cubicBezTo>
                    <a:pt x="98" y="320"/>
                    <a:pt x="99" y="319"/>
                    <a:pt x="101" y="319"/>
                  </a:cubicBezTo>
                  <a:cubicBezTo>
                    <a:pt x="102" y="318"/>
                    <a:pt x="103" y="318"/>
                    <a:pt x="104" y="317"/>
                  </a:cubicBezTo>
                  <a:cubicBezTo>
                    <a:pt x="190" y="231"/>
                    <a:pt x="190" y="231"/>
                    <a:pt x="190" y="231"/>
                  </a:cubicBezTo>
                  <a:cubicBezTo>
                    <a:pt x="194" y="227"/>
                    <a:pt x="194" y="220"/>
                    <a:pt x="190" y="21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accent1"/>
                </a:solidFill>
              </a:endParaRPr>
            </a:p>
          </p:txBody>
        </p:sp>
        <p:sp>
          <p:nvSpPr>
            <p:cNvPr id="178" name="Freeform 143">
              <a:extLst>
                <a:ext uri="{FF2B5EF4-FFF2-40B4-BE49-F238E27FC236}">
                  <a16:creationId xmlns:a16="http://schemas.microsoft.com/office/drawing/2014/main" id="{795CD284-3180-40FA-8A0A-DEF1112B5BE1}"/>
                </a:ext>
              </a:extLst>
            </p:cNvPr>
            <p:cNvSpPr>
              <a:spLocks noEditPoints="1"/>
            </p:cNvSpPr>
            <p:nvPr/>
          </p:nvSpPr>
          <p:spPr bwMode="auto">
            <a:xfrm>
              <a:off x="3478" y="1502"/>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accent1"/>
                </a:solidFill>
              </a:endParaRPr>
            </a:p>
          </p:txBody>
        </p:sp>
      </p:grpSp>
    </p:spTree>
    <p:extLst>
      <p:ext uri="{BB962C8B-B14F-4D97-AF65-F5344CB8AC3E}">
        <p14:creationId xmlns:p14="http://schemas.microsoft.com/office/powerpoint/2010/main" val="3528619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Oval 64">
            <a:extLst>
              <a:ext uri="{FF2B5EF4-FFF2-40B4-BE49-F238E27FC236}">
                <a16:creationId xmlns:a16="http://schemas.microsoft.com/office/drawing/2014/main" id="{D87F556A-8B86-43E3-B590-EEDF56B2749E}"/>
              </a:ext>
            </a:extLst>
          </p:cNvPr>
          <p:cNvSpPr/>
          <p:nvPr/>
        </p:nvSpPr>
        <p:spPr bwMode="gray">
          <a:xfrm>
            <a:off x="6410037" y="3968987"/>
            <a:ext cx="1343840" cy="2281061"/>
          </a:xfrm>
          <a:prstGeom prst="ellipse">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6" name="Rectangle 65">
            <a:extLst>
              <a:ext uri="{FF2B5EF4-FFF2-40B4-BE49-F238E27FC236}">
                <a16:creationId xmlns:a16="http://schemas.microsoft.com/office/drawing/2014/main" id="{7EEEECB2-14EE-4C33-9EC0-F1CDB6009F28}"/>
              </a:ext>
            </a:extLst>
          </p:cNvPr>
          <p:cNvSpPr/>
          <p:nvPr/>
        </p:nvSpPr>
        <p:spPr bwMode="gray">
          <a:xfrm>
            <a:off x="5337300" y="3848355"/>
            <a:ext cx="1815759" cy="2513390"/>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 name="Oval 1">
            <a:extLst>
              <a:ext uri="{FF2B5EF4-FFF2-40B4-BE49-F238E27FC236}">
                <a16:creationId xmlns:a16="http://schemas.microsoft.com/office/drawing/2014/main" id="{19E6FCD7-4555-47AC-8662-0230E2BB4C65}"/>
              </a:ext>
            </a:extLst>
          </p:cNvPr>
          <p:cNvSpPr/>
          <p:nvPr/>
        </p:nvSpPr>
        <p:spPr bwMode="gray">
          <a:xfrm>
            <a:off x="6379190" y="1230197"/>
            <a:ext cx="1343840" cy="2281061"/>
          </a:xfrm>
          <a:prstGeom prst="ellipse">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 name="Rectangle 3">
            <a:extLst>
              <a:ext uri="{FF2B5EF4-FFF2-40B4-BE49-F238E27FC236}">
                <a16:creationId xmlns:a16="http://schemas.microsoft.com/office/drawing/2014/main" id="{01A2F731-D7AD-42F4-B9E5-BC98B09E8A41}"/>
              </a:ext>
            </a:extLst>
          </p:cNvPr>
          <p:cNvSpPr/>
          <p:nvPr/>
        </p:nvSpPr>
        <p:spPr bwMode="gray">
          <a:xfrm>
            <a:off x="5306453" y="1109565"/>
            <a:ext cx="1815759" cy="2513390"/>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42" name="Group 41">
            <a:extLst>
              <a:ext uri="{FF2B5EF4-FFF2-40B4-BE49-F238E27FC236}">
                <a16:creationId xmlns:a16="http://schemas.microsoft.com/office/drawing/2014/main" id="{0EDD9E75-2E13-49AA-98E7-A4ED20CAB0F8}"/>
              </a:ext>
            </a:extLst>
          </p:cNvPr>
          <p:cNvGrpSpPr/>
          <p:nvPr/>
        </p:nvGrpSpPr>
        <p:grpSpPr>
          <a:xfrm>
            <a:off x="5120749" y="1203205"/>
            <a:ext cx="2037560" cy="400109"/>
            <a:chOff x="2691705" y="4163033"/>
            <a:chExt cx="3720121" cy="501682"/>
          </a:xfrm>
        </p:grpSpPr>
        <p:pic>
          <p:nvPicPr>
            <p:cNvPr id="43" name="Picture 2" descr="C:\Users\gtalukder\Desktop\Gyanprakash\old_parchment_parchment.jpg">
              <a:extLst>
                <a:ext uri="{FF2B5EF4-FFF2-40B4-BE49-F238E27FC236}">
                  <a16:creationId xmlns:a16="http://schemas.microsoft.com/office/drawing/2014/main" id="{AEF0D810-7D6A-49C1-841E-98971EAD5CC0}"/>
                </a:ext>
              </a:extLst>
            </p:cNvPr>
            <p:cNvPicPr>
              <a:picLocks noChangeAspect="1" noChangeArrowheads="1"/>
            </p:cNvPicPr>
            <p:nvPr/>
          </p:nvPicPr>
          <p:blipFill rotWithShape="1">
            <a:blip r:embed="rId6" cstate="email">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a:ext>
              </a:extLst>
            </a:blip>
            <a:srcRect/>
            <a:stretch/>
          </p:blipFill>
          <p:spPr bwMode="auto">
            <a:xfrm>
              <a:off x="2691705" y="4163033"/>
              <a:ext cx="3638003" cy="501682"/>
            </a:xfrm>
            <a:prstGeom prst="rect">
              <a:avLst/>
            </a:prstGeom>
            <a:noFill/>
            <a:extLst>
              <a:ext uri="{909E8E84-426E-40DD-AFC4-6F175D3DCCD1}">
                <a14:hiddenFill xmlns:a14="http://schemas.microsoft.com/office/drawing/2010/main">
                  <a:solidFill>
                    <a:srgbClr val="FFFFFF"/>
                  </a:solidFill>
                </a14:hiddenFill>
              </a:ext>
            </a:extLst>
          </p:spPr>
        </p:pic>
        <p:sp>
          <p:nvSpPr>
            <p:cNvPr id="44" name="Rectangle 43">
              <a:extLst>
                <a:ext uri="{FF2B5EF4-FFF2-40B4-BE49-F238E27FC236}">
                  <a16:creationId xmlns:a16="http://schemas.microsoft.com/office/drawing/2014/main" id="{DC242C16-9A9A-4829-9373-38A72F02113B}"/>
                </a:ext>
              </a:extLst>
            </p:cNvPr>
            <p:cNvSpPr/>
            <p:nvPr/>
          </p:nvSpPr>
          <p:spPr>
            <a:xfrm>
              <a:off x="2702117" y="4266524"/>
              <a:ext cx="3709709" cy="308727"/>
            </a:xfrm>
            <a:prstGeom prst="rect">
              <a:avLst/>
            </a:prstGeom>
          </p:spPr>
          <p:txBody>
            <a:bodyPr wrap="square" lIns="18288" rIns="45720" anchor="ctr">
              <a:spAutoFit/>
            </a:bodyPr>
            <a:lstStyle/>
            <a:p>
              <a:pPr algn="ctr" fontAlgn="base">
                <a:spcBef>
                  <a:spcPct val="0"/>
                </a:spcBef>
                <a:spcAft>
                  <a:spcPct val="0"/>
                </a:spcAft>
              </a:pPr>
              <a:r>
                <a:rPr lang="en-GB" sz="1000" b="1" dirty="0">
                  <a:cs typeface="Arial" pitchFamily="34" charset="0"/>
                </a:rPr>
                <a:t>Real Time Markets (RTM)</a:t>
              </a:r>
            </a:p>
          </p:txBody>
        </p:sp>
      </p:grpSp>
      <p:grpSp>
        <p:nvGrpSpPr>
          <p:cNvPr id="30" name="Group 29">
            <a:extLst>
              <a:ext uri="{FF2B5EF4-FFF2-40B4-BE49-F238E27FC236}">
                <a16:creationId xmlns:a16="http://schemas.microsoft.com/office/drawing/2014/main" id="{8C545909-DF6A-4F97-AD76-BD648B22CCDD}"/>
              </a:ext>
            </a:extLst>
          </p:cNvPr>
          <p:cNvGrpSpPr/>
          <p:nvPr/>
        </p:nvGrpSpPr>
        <p:grpSpPr>
          <a:xfrm>
            <a:off x="580413" y="1208276"/>
            <a:ext cx="2175251" cy="405704"/>
            <a:chOff x="2691705" y="4163033"/>
            <a:chExt cx="3720121" cy="508697"/>
          </a:xfrm>
        </p:grpSpPr>
        <p:pic>
          <p:nvPicPr>
            <p:cNvPr id="37" name="Picture 2" descr="C:\Users\gtalukder\Desktop\Gyanprakash\old_parchment_parchment.jpg">
              <a:extLst>
                <a:ext uri="{FF2B5EF4-FFF2-40B4-BE49-F238E27FC236}">
                  <a16:creationId xmlns:a16="http://schemas.microsoft.com/office/drawing/2014/main" id="{D94FEECC-3380-4DD6-8870-90DB8F22B099}"/>
                </a:ext>
              </a:extLst>
            </p:cNvPr>
            <p:cNvPicPr>
              <a:picLocks noChangeAspect="1" noChangeArrowheads="1"/>
            </p:cNvPicPr>
            <p:nvPr/>
          </p:nvPicPr>
          <p:blipFill rotWithShape="1">
            <a:blip r:embed="rId8" cstate="email">
              <a:extLst>
                <a:ext uri="{BEBA8EAE-BF5A-486C-A8C5-ECC9F3942E4B}">
                  <a14:imgProps xmlns:a14="http://schemas.microsoft.com/office/drawing/2010/main">
                    <a14:imgLayer r:embed="rId9">
                      <a14:imgEffect>
                        <a14:brightnessContrast contrast="-20000"/>
                      </a14:imgEffect>
                    </a14:imgLayer>
                  </a14:imgProps>
                </a:ext>
                <a:ext uri="{28A0092B-C50C-407E-A947-70E740481C1C}">
                  <a14:useLocalDpi xmlns:a14="http://schemas.microsoft.com/office/drawing/2010/main"/>
                </a:ext>
              </a:extLst>
            </a:blip>
            <a:srcRect/>
            <a:stretch/>
          </p:blipFill>
          <p:spPr bwMode="auto">
            <a:xfrm>
              <a:off x="2691705" y="4163033"/>
              <a:ext cx="3638003" cy="501682"/>
            </a:xfrm>
            <a:prstGeom prst="rect">
              <a:avLst/>
            </a:prstGeom>
            <a:noFill/>
            <a:extLst>
              <a:ext uri="{909E8E84-426E-40DD-AFC4-6F175D3DCCD1}">
                <a14:hiddenFill xmlns:a14="http://schemas.microsoft.com/office/drawing/2010/main">
                  <a:solidFill>
                    <a:srgbClr val="FFFFFF"/>
                  </a:solidFill>
                </a14:hiddenFill>
              </a:ext>
            </a:extLst>
          </p:spPr>
        </p:pic>
        <p:sp>
          <p:nvSpPr>
            <p:cNvPr id="38" name="Rectangle 37">
              <a:extLst>
                <a:ext uri="{FF2B5EF4-FFF2-40B4-BE49-F238E27FC236}">
                  <a16:creationId xmlns:a16="http://schemas.microsoft.com/office/drawing/2014/main" id="{34206FEA-E044-45F2-859C-D3796D306B68}"/>
                </a:ext>
              </a:extLst>
            </p:cNvPr>
            <p:cNvSpPr/>
            <p:nvPr/>
          </p:nvSpPr>
          <p:spPr>
            <a:xfrm>
              <a:off x="2702117" y="4170047"/>
              <a:ext cx="3709709" cy="501683"/>
            </a:xfrm>
            <a:prstGeom prst="rect">
              <a:avLst/>
            </a:prstGeom>
          </p:spPr>
          <p:txBody>
            <a:bodyPr wrap="square" lIns="18288" rIns="45720" anchor="ctr">
              <a:spAutoFit/>
            </a:bodyPr>
            <a:lstStyle/>
            <a:p>
              <a:pPr algn="ctr"/>
              <a:r>
                <a:rPr lang="en-US" sz="1000" b="1" i="1" dirty="0"/>
                <a:t>Security Constrained Economic Dispatch (SCED)</a:t>
              </a:r>
            </a:p>
          </p:txBody>
        </p:sp>
      </p:grpSp>
      <p:sp>
        <p:nvSpPr>
          <p:cNvPr id="3" name="Rectangle 2" hidden="1"/>
          <p:cNvSpPr/>
          <p:nvPr>
            <p:custDataLst>
              <p:tags r:id="rId2"/>
            </p:custDataLst>
          </p:nvPr>
        </p:nvSpPr>
        <p:spPr bwMode="gray">
          <a:xfrm>
            <a:off x="1" y="1"/>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defTabSz="899010">
              <a:spcBef>
                <a:spcPct val="0"/>
              </a:spcBef>
              <a:spcAft>
                <a:spcPct val="0"/>
              </a:spcAft>
              <a:defRPr/>
            </a:pPr>
            <a:endParaRPr lang="en-IN" sz="1000" dirty="0">
              <a:solidFill>
                <a:prstClr val="white"/>
              </a:solidFill>
              <a:latin typeface="Verdana" panose="020B0604030504040204" pitchFamily="34" charset="0"/>
              <a:sym typeface="Verdana" panose="020B0604030504040204" pitchFamily="34" charset="0"/>
            </a:endParaRPr>
          </a:p>
        </p:txBody>
      </p:sp>
      <p:sp>
        <p:nvSpPr>
          <p:cNvPr id="12" name="Title 3">
            <a:extLst>
              <a:ext uri="{FF2B5EF4-FFF2-40B4-BE49-F238E27FC236}">
                <a16:creationId xmlns:a16="http://schemas.microsoft.com/office/drawing/2014/main" id="{42A67D54-A80F-4E35-A343-9F46A8BDE9A1}"/>
              </a:ext>
            </a:extLst>
          </p:cNvPr>
          <p:cNvSpPr txBox="1">
            <a:spLocks/>
          </p:cNvSpPr>
          <p:nvPr/>
        </p:nvSpPr>
        <p:spPr bwMode="gray">
          <a:xfrm>
            <a:off x="501652" y="317504"/>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algn="just"/>
            <a:r>
              <a:rPr lang="en-US" sz="1800" b="0" i="0" dirty="0">
                <a:solidFill>
                  <a:schemeClr val="tx1"/>
                </a:solidFill>
              </a:rPr>
              <a:t>Structural reforms coupled with central government’s result-based schemes will put further pressure on the utilities to perform   </a:t>
            </a:r>
          </a:p>
        </p:txBody>
      </p:sp>
      <p:sp>
        <p:nvSpPr>
          <p:cNvPr id="18" name="Oval 17">
            <a:extLst>
              <a:ext uri="{FF2B5EF4-FFF2-40B4-BE49-F238E27FC236}">
                <a16:creationId xmlns:a16="http://schemas.microsoft.com/office/drawing/2014/main" id="{FA010344-1C87-4BA2-B420-3ED299B34503}"/>
              </a:ext>
            </a:extLst>
          </p:cNvPr>
          <p:cNvSpPr/>
          <p:nvPr/>
        </p:nvSpPr>
        <p:spPr bwMode="auto">
          <a:xfrm>
            <a:off x="501652" y="1290884"/>
            <a:ext cx="237744" cy="237744"/>
          </a:xfrm>
          <a:prstGeom prst="ellipse">
            <a:avLst/>
          </a:prstGeom>
          <a:solidFill>
            <a:schemeClr val="accent2"/>
          </a:solidFill>
          <a:ln w="9525">
            <a:noFill/>
            <a:miter lim="800000"/>
            <a:headEnd/>
            <a:tailEn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r>
              <a:rPr lang="en-US" sz="1200" b="1" dirty="0">
                <a:solidFill>
                  <a:schemeClr val="bg1"/>
                </a:solidFill>
                <a:cs typeface="Arial" pitchFamily="34" charset="0"/>
              </a:rPr>
              <a:t>1</a:t>
            </a:r>
          </a:p>
        </p:txBody>
      </p:sp>
      <p:sp>
        <p:nvSpPr>
          <p:cNvPr id="22" name="Oval 21">
            <a:extLst>
              <a:ext uri="{FF2B5EF4-FFF2-40B4-BE49-F238E27FC236}">
                <a16:creationId xmlns:a16="http://schemas.microsoft.com/office/drawing/2014/main" id="{471A463E-4CFF-4853-92A7-8A241747A1FD}"/>
              </a:ext>
            </a:extLst>
          </p:cNvPr>
          <p:cNvSpPr/>
          <p:nvPr/>
        </p:nvSpPr>
        <p:spPr bwMode="auto">
          <a:xfrm>
            <a:off x="5012872" y="1278883"/>
            <a:ext cx="237744" cy="237744"/>
          </a:xfrm>
          <a:prstGeom prst="ellipse">
            <a:avLst/>
          </a:prstGeom>
          <a:solidFill>
            <a:schemeClr val="accent2"/>
          </a:solidFill>
          <a:ln w="9525">
            <a:noFill/>
            <a:miter lim="800000"/>
            <a:headEnd/>
            <a:tailEn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r>
              <a:rPr lang="en-US" sz="1200" b="1" dirty="0">
                <a:solidFill>
                  <a:schemeClr val="bg1"/>
                </a:solidFill>
                <a:cs typeface="Arial" pitchFamily="34" charset="0"/>
              </a:rPr>
              <a:t>3</a:t>
            </a:r>
          </a:p>
        </p:txBody>
      </p:sp>
      <p:cxnSp>
        <p:nvCxnSpPr>
          <p:cNvPr id="25" name="Straight Connector 24">
            <a:extLst>
              <a:ext uri="{FF2B5EF4-FFF2-40B4-BE49-F238E27FC236}">
                <a16:creationId xmlns:a16="http://schemas.microsoft.com/office/drawing/2014/main" id="{3869D246-788D-44AB-84BD-4885228F6DAA}"/>
              </a:ext>
            </a:extLst>
          </p:cNvPr>
          <p:cNvCxnSpPr/>
          <p:nvPr/>
        </p:nvCxnSpPr>
        <p:spPr>
          <a:xfrm>
            <a:off x="601500" y="1767537"/>
            <a:ext cx="649224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320269E-F63A-4EC9-9507-005A3373D12B}"/>
              </a:ext>
            </a:extLst>
          </p:cNvPr>
          <p:cNvSpPr/>
          <p:nvPr/>
        </p:nvSpPr>
        <p:spPr bwMode="gray">
          <a:xfrm>
            <a:off x="1531828" y="1696950"/>
            <a:ext cx="4769784" cy="179562"/>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i="1" dirty="0"/>
              <a:t>Power market reforms pushing for economic dispatch of power</a:t>
            </a:r>
          </a:p>
        </p:txBody>
      </p:sp>
      <p:sp>
        <p:nvSpPr>
          <p:cNvPr id="27" name="Rectangle 26">
            <a:extLst>
              <a:ext uri="{FF2B5EF4-FFF2-40B4-BE49-F238E27FC236}">
                <a16:creationId xmlns:a16="http://schemas.microsoft.com/office/drawing/2014/main" id="{2E2D846F-CA6D-41E5-A9BF-6DC43B3D355B}"/>
              </a:ext>
            </a:extLst>
          </p:cNvPr>
          <p:cNvSpPr/>
          <p:nvPr/>
        </p:nvSpPr>
        <p:spPr bwMode="gray">
          <a:xfrm>
            <a:off x="601501" y="1936213"/>
            <a:ext cx="1990780" cy="1564506"/>
          </a:xfrm>
          <a:prstGeom prst="rect">
            <a:avLst/>
          </a:prstGeom>
          <a:solidFill>
            <a:schemeClr val="bg1">
              <a:lumMod val="95000"/>
            </a:schemeClr>
          </a:solidFill>
          <a:ln w="6350" algn="ctr">
            <a:solidFill>
              <a:schemeClr val="tx1"/>
            </a:solidFill>
            <a:prstDash val="dash"/>
            <a:miter lim="800000"/>
            <a:headEnd/>
            <a:tailEnd/>
          </a:ln>
        </p:spPr>
        <p:txBody>
          <a:bodyPr wrap="square" lIns="88900" tIns="88900" rIns="88900" bIns="88900" rtlCol="0" anchor="ctr"/>
          <a:lstStyle/>
          <a:p>
            <a:pPr algn="ctr">
              <a:lnSpc>
                <a:spcPct val="106000"/>
              </a:lnSpc>
            </a:pPr>
            <a:r>
              <a:rPr lang="en-US" sz="1000" dirty="0"/>
              <a:t>Further optimizing </a:t>
            </a:r>
            <a:r>
              <a:rPr lang="en-US" sz="1000" b="1" i="1" dirty="0">
                <a:solidFill>
                  <a:schemeClr val="accent2"/>
                </a:solidFill>
              </a:rPr>
              <a:t>scheduling</a:t>
            </a:r>
            <a:r>
              <a:rPr lang="en-US" sz="1000" dirty="0"/>
              <a:t> and </a:t>
            </a:r>
            <a:r>
              <a:rPr lang="en-US" sz="1000" b="1" i="1" dirty="0">
                <a:solidFill>
                  <a:schemeClr val="accent2"/>
                </a:solidFill>
              </a:rPr>
              <a:t>dispatch</a:t>
            </a:r>
            <a:r>
              <a:rPr lang="en-US" sz="1000" dirty="0"/>
              <a:t> of generating stations, particularly ISGSs, with the overall objective of </a:t>
            </a:r>
            <a:r>
              <a:rPr lang="en-US" sz="1000" b="1" i="1" dirty="0">
                <a:solidFill>
                  <a:schemeClr val="accent2"/>
                </a:solidFill>
              </a:rPr>
              <a:t>minimizing the production cost</a:t>
            </a:r>
            <a:r>
              <a:rPr lang="en-US" sz="1000" dirty="0"/>
              <a:t> of the system</a:t>
            </a:r>
          </a:p>
        </p:txBody>
      </p:sp>
      <p:sp>
        <p:nvSpPr>
          <p:cNvPr id="31" name="Rectangle 30">
            <a:extLst>
              <a:ext uri="{FF2B5EF4-FFF2-40B4-BE49-F238E27FC236}">
                <a16:creationId xmlns:a16="http://schemas.microsoft.com/office/drawing/2014/main" id="{6EBC44ED-C839-427D-BE6E-E69CCF46C6AC}"/>
              </a:ext>
            </a:extLst>
          </p:cNvPr>
          <p:cNvSpPr/>
          <p:nvPr/>
        </p:nvSpPr>
        <p:spPr bwMode="gray">
          <a:xfrm>
            <a:off x="2866759" y="1936213"/>
            <a:ext cx="1990780" cy="1564506"/>
          </a:xfrm>
          <a:prstGeom prst="rect">
            <a:avLst/>
          </a:prstGeom>
          <a:solidFill>
            <a:schemeClr val="bg1">
              <a:lumMod val="95000"/>
            </a:schemeClr>
          </a:solidFill>
          <a:ln w="6350" algn="ctr">
            <a:solidFill>
              <a:schemeClr val="tx1"/>
            </a:solidFill>
            <a:prstDash val="dash"/>
            <a:miter lim="800000"/>
            <a:headEnd/>
            <a:tailEnd/>
          </a:ln>
        </p:spPr>
        <p:txBody>
          <a:bodyPr wrap="square" lIns="88900" tIns="88900" rIns="88900" bIns="88900" rtlCol="0" anchor="ctr"/>
          <a:lstStyle/>
          <a:p>
            <a:pPr algn="ctr">
              <a:lnSpc>
                <a:spcPct val="106000"/>
              </a:lnSpc>
            </a:pPr>
            <a:r>
              <a:rPr lang="en-US" sz="1000" dirty="0"/>
              <a:t>MBED extends the concept of economic dispatch (adopted in SCED) </a:t>
            </a:r>
            <a:r>
              <a:rPr lang="en-US" sz="1000" b="1" i="1" dirty="0">
                <a:solidFill>
                  <a:schemeClr val="accent2"/>
                </a:solidFill>
              </a:rPr>
              <a:t>to all generating stations</a:t>
            </a:r>
            <a:r>
              <a:rPr lang="en-US" sz="1000" dirty="0"/>
              <a:t>, with parallel </a:t>
            </a:r>
            <a:r>
              <a:rPr lang="en-US" sz="1000" b="1" i="1" dirty="0">
                <a:solidFill>
                  <a:schemeClr val="accent2"/>
                </a:solidFill>
              </a:rPr>
              <a:t>Bilateral contract Settlement (BCS) </a:t>
            </a:r>
            <a:r>
              <a:rPr lang="en-US" sz="1000" dirty="0"/>
              <a:t>for existing PPAs</a:t>
            </a:r>
          </a:p>
        </p:txBody>
      </p:sp>
      <p:sp>
        <p:nvSpPr>
          <p:cNvPr id="32" name="Rectangle 31">
            <a:extLst>
              <a:ext uri="{FF2B5EF4-FFF2-40B4-BE49-F238E27FC236}">
                <a16:creationId xmlns:a16="http://schemas.microsoft.com/office/drawing/2014/main" id="{8B8FDBE3-4567-4DAE-B5C7-ABF55431B4C4}"/>
              </a:ext>
            </a:extLst>
          </p:cNvPr>
          <p:cNvSpPr/>
          <p:nvPr/>
        </p:nvSpPr>
        <p:spPr bwMode="gray">
          <a:xfrm>
            <a:off x="5132017" y="1930546"/>
            <a:ext cx="1990780" cy="1564506"/>
          </a:xfrm>
          <a:prstGeom prst="rect">
            <a:avLst/>
          </a:prstGeom>
          <a:solidFill>
            <a:schemeClr val="bg1">
              <a:lumMod val="95000"/>
            </a:schemeClr>
          </a:solidFill>
          <a:ln w="6350" algn="ctr">
            <a:solidFill>
              <a:schemeClr val="tx1"/>
            </a:solidFill>
            <a:prstDash val="dash"/>
            <a:miter lim="800000"/>
            <a:headEnd/>
            <a:tailEnd/>
          </a:ln>
        </p:spPr>
        <p:txBody>
          <a:bodyPr wrap="square" lIns="88900" tIns="88900" rIns="88900" bIns="88900" rtlCol="0" anchor="ctr"/>
          <a:lstStyle/>
          <a:p>
            <a:pPr algn="ctr">
              <a:lnSpc>
                <a:spcPct val="106000"/>
              </a:lnSpc>
            </a:pPr>
            <a:r>
              <a:rPr lang="en-US" sz="1000" dirty="0"/>
              <a:t>RTM provides an organized platform for energy trade </a:t>
            </a:r>
            <a:r>
              <a:rPr lang="en-US" sz="1000" b="1" i="1" dirty="0">
                <a:solidFill>
                  <a:schemeClr val="accent2"/>
                </a:solidFill>
              </a:rPr>
              <a:t>closer to real time</a:t>
            </a:r>
            <a:r>
              <a:rPr lang="en-US" sz="1000" dirty="0"/>
              <a:t>, with trading sessions for each half hour, delivery commencing one hour from close of trading sessions</a:t>
            </a:r>
          </a:p>
        </p:txBody>
      </p:sp>
      <p:grpSp>
        <p:nvGrpSpPr>
          <p:cNvPr id="39" name="Group 38">
            <a:extLst>
              <a:ext uri="{FF2B5EF4-FFF2-40B4-BE49-F238E27FC236}">
                <a16:creationId xmlns:a16="http://schemas.microsoft.com/office/drawing/2014/main" id="{2084667F-98CC-4653-A441-53B72546148D}"/>
              </a:ext>
            </a:extLst>
          </p:cNvPr>
          <p:cNvGrpSpPr/>
          <p:nvPr/>
        </p:nvGrpSpPr>
        <p:grpSpPr>
          <a:xfrm>
            <a:off x="2850126" y="1202681"/>
            <a:ext cx="2127234" cy="405704"/>
            <a:chOff x="2691705" y="4163033"/>
            <a:chExt cx="3720121" cy="508697"/>
          </a:xfrm>
        </p:grpSpPr>
        <p:pic>
          <p:nvPicPr>
            <p:cNvPr id="40" name="Picture 2" descr="C:\Users\gtalukder\Desktop\Gyanprakash\old_parchment_parchment.jpg">
              <a:extLst>
                <a:ext uri="{FF2B5EF4-FFF2-40B4-BE49-F238E27FC236}">
                  <a16:creationId xmlns:a16="http://schemas.microsoft.com/office/drawing/2014/main" id="{EB727E6E-17C5-420E-BCEB-7A7CDBD4D5FE}"/>
                </a:ext>
              </a:extLst>
            </p:cNvPr>
            <p:cNvPicPr>
              <a:picLocks noChangeAspect="1" noChangeArrowheads="1"/>
            </p:cNvPicPr>
            <p:nvPr/>
          </p:nvPicPr>
          <p:blipFill rotWithShape="1">
            <a:blip r:embed="rId10" cstate="email">
              <a:extLst>
                <a:ext uri="{BEBA8EAE-BF5A-486C-A8C5-ECC9F3942E4B}">
                  <a14:imgProps xmlns:a14="http://schemas.microsoft.com/office/drawing/2010/main">
                    <a14:imgLayer r:embed="rId11">
                      <a14:imgEffect>
                        <a14:brightnessContrast contrast="-20000"/>
                      </a14:imgEffect>
                    </a14:imgLayer>
                  </a14:imgProps>
                </a:ext>
                <a:ext uri="{28A0092B-C50C-407E-A947-70E740481C1C}">
                  <a14:useLocalDpi xmlns:a14="http://schemas.microsoft.com/office/drawing/2010/main"/>
                </a:ext>
              </a:extLst>
            </a:blip>
            <a:srcRect/>
            <a:stretch/>
          </p:blipFill>
          <p:spPr bwMode="auto">
            <a:xfrm>
              <a:off x="2691705" y="4163033"/>
              <a:ext cx="3638003" cy="501682"/>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40">
              <a:extLst>
                <a:ext uri="{FF2B5EF4-FFF2-40B4-BE49-F238E27FC236}">
                  <a16:creationId xmlns:a16="http://schemas.microsoft.com/office/drawing/2014/main" id="{C4DBD1D9-97EE-441B-A8E4-7E95232C6D00}"/>
                </a:ext>
              </a:extLst>
            </p:cNvPr>
            <p:cNvSpPr/>
            <p:nvPr/>
          </p:nvSpPr>
          <p:spPr>
            <a:xfrm>
              <a:off x="2702117" y="4170047"/>
              <a:ext cx="3709709" cy="501683"/>
            </a:xfrm>
            <a:prstGeom prst="rect">
              <a:avLst/>
            </a:prstGeom>
          </p:spPr>
          <p:txBody>
            <a:bodyPr wrap="square" lIns="18288" rIns="45720" anchor="ctr">
              <a:spAutoFit/>
            </a:bodyPr>
            <a:lstStyle/>
            <a:p>
              <a:pPr algn="ctr" fontAlgn="base">
                <a:spcBef>
                  <a:spcPct val="0"/>
                </a:spcBef>
                <a:spcAft>
                  <a:spcPct val="0"/>
                </a:spcAft>
              </a:pPr>
              <a:r>
                <a:rPr lang="en-GB" sz="1000" b="1" dirty="0">
                  <a:cs typeface="Arial" pitchFamily="34" charset="0"/>
                </a:rPr>
                <a:t>Market Based Economic Dispatch (MBED)</a:t>
              </a:r>
            </a:p>
          </p:txBody>
        </p:sp>
      </p:grpSp>
      <p:sp>
        <p:nvSpPr>
          <p:cNvPr id="20" name="Oval 19">
            <a:extLst>
              <a:ext uri="{FF2B5EF4-FFF2-40B4-BE49-F238E27FC236}">
                <a16:creationId xmlns:a16="http://schemas.microsoft.com/office/drawing/2014/main" id="{B5102BFE-E7D9-4C52-AA63-F39F58160BE3}"/>
              </a:ext>
            </a:extLst>
          </p:cNvPr>
          <p:cNvSpPr/>
          <p:nvPr/>
        </p:nvSpPr>
        <p:spPr bwMode="auto">
          <a:xfrm>
            <a:off x="2747887" y="1289458"/>
            <a:ext cx="237744" cy="237744"/>
          </a:xfrm>
          <a:prstGeom prst="ellipse">
            <a:avLst/>
          </a:prstGeom>
          <a:solidFill>
            <a:schemeClr val="accent2"/>
          </a:solidFill>
          <a:ln w="9525">
            <a:noFill/>
            <a:miter lim="800000"/>
            <a:headEnd/>
            <a:tailEn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r>
              <a:rPr lang="en-US" sz="1200" b="1" dirty="0">
                <a:solidFill>
                  <a:schemeClr val="bg1"/>
                </a:solidFill>
                <a:cs typeface="Arial" pitchFamily="34" charset="0"/>
              </a:rPr>
              <a:t>2</a:t>
            </a:r>
          </a:p>
        </p:txBody>
      </p:sp>
      <p:grpSp>
        <p:nvGrpSpPr>
          <p:cNvPr id="48" name="Group 47">
            <a:extLst>
              <a:ext uri="{FF2B5EF4-FFF2-40B4-BE49-F238E27FC236}">
                <a16:creationId xmlns:a16="http://schemas.microsoft.com/office/drawing/2014/main" id="{56F051E6-D42C-457E-853B-3DA21893ED3E}"/>
              </a:ext>
            </a:extLst>
          </p:cNvPr>
          <p:cNvGrpSpPr/>
          <p:nvPr/>
        </p:nvGrpSpPr>
        <p:grpSpPr>
          <a:xfrm>
            <a:off x="5108076" y="3939007"/>
            <a:ext cx="2037560" cy="400109"/>
            <a:chOff x="2691705" y="4163033"/>
            <a:chExt cx="3720121" cy="501682"/>
          </a:xfrm>
        </p:grpSpPr>
        <p:pic>
          <p:nvPicPr>
            <p:cNvPr id="49" name="Picture 2" descr="C:\Users\gtalukder\Desktop\Gyanprakash\old_parchment_parchment.jpg">
              <a:extLst>
                <a:ext uri="{FF2B5EF4-FFF2-40B4-BE49-F238E27FC236}">
                  <a16:creationId xmlns:a16="http://schemas.microsoft.com/office/drawing/2014/main" id="{97AF7848-A1BD-421A-A433-535E8F0A4A86}"/>
                </a:ext>
              </a:extLst>
            </p:cNvPr>
            <p:cNvPicPr>
              <a:picLocks noChangeAspect="1" noChangeArrowheads="1"/>
            </p:cNvPicPr>
            <p:nvPr/>
          </p:nvPicPr>
          <p:blipFill rotWithShape="1">
            <a:blip r:embed="rId6" cstate="email">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a:ext>
              </a:extLst>
            </a:blip>
            <a:srcRect/>
            <a:stretch/>
          </p:blipFill>
          <p:spPr bwMode="auto">
            <a:xfrm>
              <a:off x="2691705" y="4163033"/>
              <a:ext cx="3638003" cy="501682"/>
            </a:xfrm>
            <a:prstGeom prst="rect">
              <a:avLst/>
            </a:prstGeom>
            <a:noFill/>
            <a:extLst>
              <a:ext uri="{909E8E84-426E-40DD-AFC4-6F175D3DCCD1}">
                <a14:hiddenFill xmlns:a14="http://schemas.microsoft.com/office/drawing/2010/main">
                  <a:solidFill>
                    <a:srgbClr val="FFFFFF"/>
                  </a:solidFill>
                </a14:hiddenFill>
              </a:ext>
            </a:extLst>
          </p:spPr>
        </p:pic>
        <p:sp>
          <p:nvSpPr>
            <p:cNvPr id="50" name="Rectangle 49">
              <a:extLst>
                <a:ext uri="{FF2B5EF4-FFF2-40B4-BE49-F238E27FC236}">
                  <a16:creationId xmlns:a16="http://schemas.microsoft.com/office/drawing/2014/main" id="{91FF7C53-9420-40E4-9CBA-47B87A5FE27F}"/>
                </a:ext>
              </a:extLst>
            </p:cNvPr>
            <p:cNvSpPr/>
            <p:nvPr/>
          </p:nvSpPr>
          <p:spPr>
            <a:xfrm>
              <a:off x="2702117" y="4266524"/>
              <a:ext cx="3709709" cy="308727"/>
            </a:xfrm>
            <a:prstGeom prst="rect">
              <a:avLst/>
            </a:prstGeom>
          </p:spPr>
          <p:txBody>
            <a:bodyPr wrap="square" lIns="18288" rIns="45720" anchor="ctr">
              <a:spAutoFit/>
            </a:bodyPr>
            <a:lstStyle/>
            <a:p>
              <a:pPr algn="ctr" fontAlgn="base">
                <a:spcBef>
                  <a:spcPct val="0"/>
                </a:spcBef>
                <a:spcAft>
                  <a:spcPct val="0"/>
                </a:spcAft>
              </a:pPr>
              <a:r>
                <a:rPr lang="en-GB" sz="1000" b="1" dirty="0">
                  <a:cs typeface="Arial" pitchFamily="34" charset="0"/>
                </a:rPr>
                <a:t>PM KUSUM Scheme</a:t>
              </a:r>
            </a:p>
          </p:txBody>
        </p:sp>
      </p:grpSp>
      <p:grpSp>
        <p:nvGrpSpPr>
          <p:cNvPr id="51" name="Group 50">
            <a:extLst>
              <a:ext uri="{FF2B5EF4-FFF2-40B4-BE49-F238E27FC236}">
                <a16:creationId xmlns:a16="http://schemas.microsoft.com/office/drawing/2014/main" id="{4271CC13-7CB1-48D0-82BA-B8D99FBCF343}"/>
              </a:ext>
            </a:extLst>
          </p:cNvPr>
          <p:cNvGrpSpPr/>
          <p:nvPr/>
        </p:nvGrpSpPr>
        <p:grpSpPr>
          <a:xfrm>
            <a:off x="603252" y="3944078"/>
            <a:ext cx="2175251" cy="405704"/>
            <a:chOff x="2691705" y="4163033"/>
            <a:chExt cx="3720121" cy="508697"/>
          </a:xfrm>
        </p:grpSpPr>
        <p:pic>
          <p:nvPicPr>
            <p:cNvPr id="52" name="Picture 2" descr="C:\Users\gtalukder\Desktop\Gyanprakash\old_parchment_parchment.jpg">
              <a:extLst>
                <a:ext uri="{FF2B5EF4-FFF2-40B4-BE49-F238E27FC236}">
                  <a16:creationId xmlns:a16="http://schemas.microsoft.com/office/drawing/2014/main" id="{B16D560E-2816-4A52-8409-13ECCE951886}"/>
                </a:ext>
              </a:extLst>
            </p:cNvPr>
            <p:cNvPicPr>
              <a:picLocks noChangeAspect="1" noChangeArrowheads="1"/>
            </p:cNvPicPr>
            <p:nvPr/>
          </p:nvPicPr>
          <p:blipFill rotWithShape="1">
            <a:blip r:embed="rId8" cstate="email">
              <a:extLst>
                <a:ext uri="{BEBA8EAE-BF5A-486C-A8C5-ECC9F3942E4B}">
                  <a14:imgProps xmlns:a14="http://schemas.microsoft.com/office/drawing/2010/main">
                    <a14:imgLayer r:embed="rId9">
                      <a14:imgEffect>
                        <a14:brightnessContrast contrast="-20000"/>
                      </a14:imgEffect>
                    </a14:imgLayer>
                  </a14:imgProps>
                </a:ext>
                <a:ext uri="{28A0092B-C50C-407E-A947-70E740481C1C}">
                  <a14:useLocalDpi xmlns:a14="http://schemas.microsoft.com/office/drawing/2010/main"/>
                </a:ext>
              </a:extLst>
            </a:blip>
            <a:srcRect/>
            <a:stretch/>
          </p:blipFill>
          <p:spPr bwMode="auto">
            <a:xfrm>
              <a:off x="2691705" y="4163033"/>
              <a:ext cx="3638003" cy="501682"/>
            </a:xfrm>
            <a:prstGeom prst="rect">
              <a:avLst/>
            </a:prstGeom>
            <a:noFill/>
            <a:extLst>
              <a:ext uri="{909E8E84-426E-40DD-AFC4-6F175D3DCCD1}">
                <a14:hiddenFill xmlns:a14="http://schemas.microsoft.com/office/drawing/2010/main">
                  <a:solidFill>
                    <a:srgbClr val="FFFFFF"/>
                  </a:solidFill>
                </a14:hiddenFill>
              </a:ext>
            </a:extLst>
          </p:spPr>
        </p:pic>
        <p:sp>
          <p:nvSpPr>
            <p:cNvPr id="53" name="Rectangle 52">
              <a:extLst>
                <a:ext uri="{FF2B5EF4-FFF2-40B4-BE49-F238E27FC236}">
                  <a16:creationId xmlns:a16="http://schemas.microsoft.com/office/drawing/2014/main" id="{11666546-85F7-4ACD-AE13-A459D2F7FC7B}"/>
                </a:ext>
              </a:extLst>
            </p:cNvPr>
            <p:cNvSpPr/>
            <p:nvPr/>
          </p:nvSpPr>
          <p:spPr>
            <a:xfrm>
              <a:off x="2702117" y="4170047"/>
              <a:ext cx="3709709" cy="501683"/>
            </a:xfrm>
            <a:prstGeom prst="rect">
              <a:avLst/>
            </a:prstGeom>
          </p:spPr>
          <p:txBody>
            <a:bodyPr wrap="square" lIns="18288" rIns="45720" anchor="ctr">
              <a:spAutoFit/>
            </a:bodyPr>
            <a:lstStyle/>
            <a:p>
              <a:pPr algn="ctr" fontAlgn="base">
                <a:spcBef>
                  <a:spcPct val="0"/>
                </a:spcBef>
                <a:spcAft>
                  <a:spcPct val="0"/>
                </a:spcAft>
              </a:pPr>
              <a:r>
                <a:rPr lang="en-GB" sz="1000" b="1" dirty="0">
                  <a:cs typeface="Arial" pitchFamily="34" charset="0"/>
                </a:rPr>
                <a:t>Carriage and Content Separation</a:t>
              </a:r>
            </a:p>
          </p:txBody>
        </p:sp>
      </p:grpSp>
      <p:sp>
        <p:nvSpPr>
          <p:cNvPr id="54" name="Oval 53">
            <a:extLst>
              <a:ext uri="{FF2B5EF4-FFF2-40B4-BE49-F238E27FC236}">
                <a16:creationId xmlns:a16="http://schemas.microsoft.com/office/drawing/2014/main" id="{19639B9B-276D-4EA0-ACA8-C14996CA233C}"/>
              </a:ext>
            </a:extLst>
          </p:cNvPr>
          <p:cNvSpPr/>
          <p:nvPr/>
        </p:nvSpPr>
        <p:spPr bwMode="auto">
          <a:xfrm>
            <a:off x="524491" y="4026686"/>
            <a:ext cx="237744" cy="237744"/>
          </a:xfrm>
          <a:prstGeom prst="ellipse">
            <a:avLst/>
          </a:prstGeom>
          <a:solidFill>
            <a:schemeClr val="accent2"/>
          </a:solidFill>
          <a:ln w="9525">
            <a:noFill/>
            <a:miter lim="800000"/>
            <a:headEnd/>
            <a:tailEn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r>
              <a:rPr lang="en-US" sz="1200" b="1" dirty="0">
                <a:solidFill>
                  <a:schemeClr val="bg1"/>
                </a:solidFill>
                <a:cs typeface="Arial" pitchFamily="34" charset="0"/>
              </a:rPr>
              <a:t>1</a:t>
            </a:r>
          </a:p>
        </p:txBody>
      </p:sp>
      <p:sp>
        <p:nvSpPr>
          <p:cNvPr id="55" name="Oval 54">
            <a:extLst>
              <a:ext uri="{FF2B5EF4-FFF2-40B4-BE49-F238E27FC236}">
                <a16:creationId xmlns:a16="http://schemas.microsoft.com/office/drawing/2014/main" id="{F54B9081-F121-4A67-9781-6FCA66955A2F}"/>
              </a:ext>
            </a:extLst>
          </p:cNvPr>
          <p:cNvSpPr/>
          <p:nvPr/>
        </p:nvSpPr>
        <p:spPr bwMode="auto">
          <a:xfrm>
            <a:off x="5000199" y="4014685"/>
            <a:ext cx="237744" cy="237744"/>
          </a:xfrm>
          <a:prstGeom prst="ellipse">
            <a:avLst/>
          </a:prstGeom>
          <a:solidFill>
            <a:schemeClr val="accent2"/>
          </a:solidFill>
          <a:ln w="9525">
            <a:noFill/>
            <a:miter lim="800000"/>
            <a:headEnd/>
            <a:tailEn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r>
              <a:rPr lang="en-US" sz="1200" b="1" dirty="0">
                <a:solidFill>
                  <a:schemeClr val="bg1"/>
                </a:solidFill>
                <a:cs typeface="Arial" pitchFamily="34" charset="0"/>
              </a:rPr>
              <a:t>3</a:t>
            </a:r>
          </a:p>
        </p:txBody>
      </p:sp>
      <p:cxnSp>
        <p:nvCxnSpPr>
          <p:cNvPr id="56" name="Straight Connector 55">
            <a:extLst>
              <a:ext uri="{FF2B5EF4-FFF2-40B4-BE49-F238E27FC236}">
                <a16:creationId xmlns:a16="http://schemas.microsoft.com/office/drawing/2014/main" id="{62AA67FB-3378-4AD3-96EE-7D393C25F13C}"/>
              </a:ext>
            </a:extLst>
          </p:cNvPr>
          <p:cNvCxnSpPr/>
          <p:nvPr/>
        </p:nvCxnSpPr>
        <p:spPr>
          <a:xfrm>
            <a:off x="624339" y="4503339"/>
            <a:ext cx="649224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877517D3-A4CF-4594-BB25-AD9279097452}"/>
              </a:ext>
            </a:extLst>
          </p:cNvPr>
          <p:cNvSpPr/>
          <p:nvPr/>
        </p:nvSpPr>
        <p:spPr bwMode="gray">
          <a:xfrm>
            <a:off x="1554667" y="4432752"/>
            <a:ext cx="4769784" cy="179562"/>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i="1" dirty="0"/>
              <a:t>Structural reforms and result-based schemes</a:t>
            </a:r>
          </a:p>
        </p:txBody>
      </p:sp>
      <p:sp>
        <p:nvSpPr>
          <p:cNvPr id="58" name="Rectangle 57">
            <a:extLst>
              <a:ext uri="{FF2B5EF4-FFF2-40B4-BE49-F238E27FC236}">
                <a16:creationId xmlns:a16="http://schemas.microsoft.com/office/drawing/2014/main" id="{33B2C0E0-B99F-47D6-BF92-8453CDC2E4C2}"/>
              </a:ext>
            </a:extLst>
          </p:cNvPr>
          <p:cNvSpPr/>
          <p:nvPr/>
        </p:nvSpPr>
        <p:spPr bwMode="gray">
          <a:xfrm>
            <a:off x="624340" y="4672015"/>
            <a:ext cx="1990780" cy="1564506"/>
          </a:xfrm>
          <a:prstGeom prst="rect">
            <a:avLst/>
          </a:prstGeom>
          <a:solidFill>
            <a:schemeClr val="bg1">
              <a:lumMod val="95000"/>
            </a:schemeClr>
          </a:solidFill>
          <a:ln w="6350" algn="ctr">
            <a:solidFill>
              <a:schemeClr val="tx1"/>
            </a:solidFill>
            <a:prstDash val="dash"/>
            <a:miter lim="800000"/>
            <a:headEnd/>
            <a:tailEnd/>
          </a:ln>
        </p:spPr>
        <p:txBody>
          <a:bodyPr wrap="square" lIns="88900" tIns="88900" rIns="88900" bIns="88900" rtlCol="0" anchor="ctr"/>
          <a:lstStyle/>
          <a:p>
            <a:pPr algn="ctr">
              <a:lnSpc>
                <a:spcPct val="106000"/>
              </a:lnSpc>
            </a:pPr>
            <a:r>
              <a:rPr lang="en-US" sz="1000" dirty="0"/>
              <a:t>Consumers would have the option to </a:t>
            </a:r>
            <a:r>
              <a:rPr lang="en-US" sz="1000" b="1" i="1" dirty="0">
                <a:solidFill>
                  <a:schemeClr val="accent2"/>
                </a:solidFill>
              </a:rPr>
              <a:t>get supply from the retailer of their choice</a:t>
            </a:r>
            <a:r>
              <a:rPr lang="en-US" sz="1000" dirty="0"/>
              <a:t>, inducing utilities to innovate to differentiate</a:t>
            </a:r>
          </a:p>
        </p:txBody>
      </p:sp>
      <p:sp>
        <p:nvSpPr>
          <p:cNvPr id="59" name="Rectangle 58">
            <a:extLst>
              <a:ext uri="{FF2B5EF4-FFF2-40B4-BE49-F238E27FC236}">
                <a16:creationId xmlns:a16="http://schemas.microsoft.com/office/drawing/2014/main" id="{CDC2147A-A79E-4780-BA46-9C292584A8EF}"/>
              </a:ext>
            </a:extLst>
          </p:cNvPr>
          <p:cNvSpPr/>
          <p:nvPr/>
        </p:nvSpPr>
        <p:spPr bwMode="gray">
          <a:xfrm>
            <a:off x="2889598" y="4672015"/>
            <a:ext cx="1990780" cy="1564506"/>
          </a:xfrm>
          <a:prstGeom prst="rect">
            <a:avLst/>
          </a:prstGeom>
          <a:solidFill>
            <a:schemeClr val="bg1">
              <a:lumMod val="95000"/>
            </a:schemeClr>
          </a:solidFill>
          <a:ln w="6350" algn="ctr">
            <a:solidFill>
              <a:schemeClr val="tx1"/>
            </a:solidFill>
            <a:prstDash val="dash"/>
            <a:miter lim="800000"/>
            <a:headEnd/>
            <a:tailEnd/>
          </a:ln>
        </p:spPr>
        <p:txBody>
          <a:bodyPr wrap="square" lIns="88900" tIns="88900" rIns="88900" bIns="88900" rtlCol="0" anchor="ctr"/>
          <a:lstStyle/>
          <a:p>
            <a:pPr algn="ctr">
              <a:lnSpc>
                <a:spcPct val="106000"/>
              </a:lnSpc>
            </a:pPr>
            <a:r>
              <a:rPr lang="en-US" sz="1000" dirty="0"/>
              <a:t>Assist discoms in </a:t>
            </a:r>
            <a:r>
              <a:rPr lang="en-US" sz="1000" b="1" i="1" dirty="0">
                <a:solidFill>
                  <a:schemeClr val="accent2"/>
                </a:solidFill>
              </a:rPr>
              <a:t>undertaking reforms </a:t>
            </a:r>
            <a:r>
              <a:rPr lang="en-US" sz="1000" dirty="0"/>
              <a:t>and improve performance both operationally and financially, </a:t>
            </a:r>
            <a:r>
              <a:rPr lang="en-US" sz="1000" b="1" i="1" dirty="0">
                <a:solidFill>
                  <a:schemeClr val="accent2"/>
                </a:solidFill>
              </a:rPr>
              <a:t>merging all existing schemes</a:t>
            </a:r>
          </a:p>
        </p:txBody>
      </p:sp>
      <p:sp>
        <p:nvSpPr>
          <p:cNvPr id="60" name="Rectangle 59">
            <a:extLst>
              <a:ext uri="{FF2B5EF4-FFF2-40B4-BE49-F238E27FC236}">
                <a16:creationId xmlns:a16="http://schemas.microsoft.com/office/drawing/2014/main" id="{9A9A988B-5825-476E-BF1D-9EE27E8AA5BC}"/>
              </a:ext>
            </a:extLst>
          </p:cNvPr>
          <p:cNvSpPr/>
          <p:nvPr/>
        </p:nvSpPr>
        <p:spPr bwMode="gray">
          <a:xfrm>
            <a:off x="5154856" y="4666348"/>
            <a:ext cx="1990780" cy="1564506"/>
          </a:xfrm>
          <a:prstGeom prst="rect">
            <a:avLst/>
          </a:prstGeom>
          <a:solidFill>
            <a:schemeClr val="bg1">
              <a:lumMod val="95000"/>
            </a:schemeClr>
          </a:solidFill>
          <a:ln w="6350" algn="ctr">
            <a:solidFill>
              <a:schemeClr val="tx1"/>
            </a:solidFill>
            <a:prstDash val="dash"/>
            <a:miter lim="800000"/>
            <a:headEnd/>
            <a:tailEnd/>
          </a:ln>
        </p:spPr>
        <p:txBody>
          <a:bodyPr wrap="square" lIns="88900" tIns="88900" rIns="88900" bIns="88900" rtlCol="0" anchor="ctr"/>
          <a:lstStyle/>
          <a:p>
            <a:pPr algn="ctr">
              <a:lnSpc>
                <a:spcPct val="106000"/>
              </a:lnSpc>
            </a:pPr>
            <a:r>
              <a:rPr lang="en-US" sz="1000" dirty="0"/>
              <a:t>PM Kusum scheme to play a major role to </a:t>
            </a:r>
            <a:r>
              <a:rPr lang="en-US" sz="1000" b="1" i="1" dirty="0">
                <a:solidFill>
                  <a:schemeClr val="accent2"/>
                </a:solidFill>
              </a:rPr>
              <a:t>push the RE plans</a:t>
            </a:r>
            <a:r>
              <a:rPr lang="en-US" sz="1000" dirty="0"/>
              <a:t> of the state including </a:t>
            </a:r>
            <a:r>
              <a:rPr lang="en-US" sz="1000" b="1" i="1" dirty="0">
                <a:solidFill>
                  <a:schemeClr val="accent2"/>
                </a:solidFill>
              </a:rPr>
              <a:t>decentralized generation</a:t>
            </a:r>
          </a:p>
        </p:txBody>
      </p:sp>
      <p:grpSp>
        <p:nvGrpSpPr>
          <p:cNvPr id="61" name="Group 60">
            <a:extLst>
              <a:ext uri="{FF2B5EF4-FFF2-40B4-BE49-F238E27FC236}">
                <a16:creationId xmlns:a16="http://schemas.microsoft.com/office/drawing/2014/main" id="{32FA8D79-57A3-4C6D-B105-A9888E008143}"/>
              </a:ext>
            </a:extLst>
          </p:cNvPr>
          <p:cNvGrpSpPr/>
          <p:nvPr/>
        </p:nvGrpSpPr>
        <p:grpSpPr>
          <a:xfrm>
            <a:off x="2872965" y="3938483"/>
            <a:ext cx="2127234" cy="405704"/>
            <a:chOff x="2691705" y="4163033"/>
            <a:chExt cx="3720121" cy="508697"/>
          </a:xfrm>
        </p:grpSpPr>
        <p:pic>
          <p:nvPicPr>
            <p:cNvPr id="62" name="Picture 2" descr="C:\Users\gtalukder\Desktop\Gyanprakash\old_parchment_parchment.jpg">
              <a:extLst>
                <a:ext uri="{FF2B5EF4-FFF2-40B4-BE49-F238E27FC236}">
                  <a16:creationId xmlns:a16="http://schemas.microsoft.com/office/drawing/2014/main" id="{F6BAE243-BCA0-4601-B5A0-E6C852F2F230}"/>
                </a:ext>
              </a:extLst>
            </p:cNvPr>
            <p:cNvPicPr>
              <a:picLocks noChangeAspect="1" noChangeArrowheads="1"/>
            </p:cNvPicPr>
            <p:nvPr/>
          </p:nvPicPr>
          <p:blipFill rotWithShape="1">
            <a:blip r:embed="rId10" cstate="email">
              <a:extLst>
                <a:ext uri="{BEBA8EAE-BF5A-486C-A8C5-ECC9F3942E4B}">
                  <a14:imgProps xmlns:a14="http://schemas.microsoft.com/office/drawing/2010/main">
                    <a14:imgLayer r:embed="rId11">
                      <a14:imgEffect>
                        <a14:brightnessContrast contrast="-20000"/>
                      </a14:imgEffect>
                    </a14:imgLayer>
                  </a14:imgProps>
                </a:ext>
                <a:ext uri="{28A0092B-C50C-407E-A947-70E740481C1C}">
                  <a14:useLocalDpi xmlns:a14="http://schemas.microsoft.com/office/drawing/2010/main"/>
                </a:ext>
              </a:extLst>
            </a:blip>
            <a:srcRect/>
            <a:stretch/>
          </p:blipFill>
          <p:spPr bwMode="auto">
            <a:xfrm>
              <a:off x="2691705" y="4163033"/>
              <a:ext cx="3638003" cy="501682"/>
            </a:xfrm>
            <a:prstGeom prst="rect">
              <a:avLst/>
            </a:prstGeom>
            <a:noFill/>
            <a:extLst>
              <a:ext uri="{909E8E84-426E-40DD-AFC4-6F175D3DCCD1}">
                <a14:hiddenFill xmlns:a14="http://schemas.microsoft.com/office/drawing/2010/main">
                  <a:solidFill>
                    <a:srgbClr val="FFFFFF"/>
                  </a:solidFill>
                </a14:hiddenFill>
              </a:ext>
            </a:extLst>
          </p:spPr>
        </p:pic>
        <p:sp>
          <p:nvSpPr>
            <p:cNvPr id="63" name="Rectangle 62">
              <a:extLst>
                <a:ext uri="{FF2B5EF4-FFF2-40B4-BE49-F238E27FC236}">
                  <a16:creationId xmlns:a16="http://schemas.microsoft.com/office/drawing/2014/main" id="{1D73D2EA-546F-46BC-BD83-3DB84528380F}"/>
                </a:ext>
              </a:extLst>
            </p:cNvPr>
            <p:cNvSpPr/>
            <p:nvPr/>
          </p:nvSpPr>
          <p:spPr>
            <a:xfrm>
              <a:off x="2702117" y="4170047"/>
              <a:ext cx="3709709" cy="501683"/>
            </a:xfrm>
            <a:prstGeom prst="rect">
              <a:avLst/>
            </a:prstGeom>
          </p:spPr>
          <p:txBody>
            <a:bodyPr wrap="square" lIns="18288" rIns="45720" anchor="ctr">
              <a:spAutoFit/>
            </a:bodyPr>
            <a:lstStyle/>
            <a:p>
              <a:pPr algn="ctr" fontAlgn="base">
                <a:spcBef>
                  <a:spcPct val="0"/>
                </a:spcBef>
                <a:spcAft>
                  <a:spcPct val="0"/>
                </a:spcAft>
              </a:pPr>
              <a:r>
                <a:rPr lang="en-GB" sz="1000" b="1" dirty="0">
                  <a:cs typeface="Arial" pitchFamily="34" charset="0"/>
                </a:rPr>
                <a:t>Reforms linked Results-based Distribution Scheme</a:t>
              </a:r>
            </a:p>
          </p:txBody>
        </p:sp>
      </p:grpSp>
      <p:sp>
        <p:nvSpPr>
          <p:cNvPr id="64" name="Oval 63">
            <a:extLst>
              <a:ext uri="{FF2B5EF4-FFF2-40B4-BE49-F238E27FC236}">
                <a16:creationId xmlns:a16="http://schemas.microsoft.com/office/drawing/2014/main" id="{EBE1916E-7CD9-44C5-B7BE-52A707EB48D7}"/>
              </a:ext>
            </a:extLst>
          </p:cNvPr>
          <p:cNvSpPr/>
          <p:nvPr/>
        </p:nvSpPr>
        <p:spPr bwMode="auto">
          <a:xfrm>
            <a:off x="2770726" y="4025260"/>
            <a:ext cx="237744" cy="237744"/>
          </a:xfrm>
          <a:prstGeom prst="ellipse">
            <a:avLst/>
          </a:prstGeom>
          <a:solidFill>
            <a:schemeClr val="accent2"/>
          </a:solidFill>
          <a:ln w="9525">
            <a:noFill/>
            <a:miter lim="800000"/>
            <a:headEnd/>
            <a:tailEn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r>
              <a:rPr lang="en-US" sz="1200" b="1" dirty="0">
                <a:solidFill>
                  <a:schemeClr val="bg1"/>
                </a:solidFill>
                <a:cs typeface="Arial" pitchFamily="34" charset="0"/>
              </a:rPr>
              <a:t>2</a:t>
            </a:r>
          </a:p>
        </p:txBody>
      </p:sp>
      <p:pic>
        <p:nvPicPr>
          <p:cNvPr id="5" name="Picture 4">
            <a:extLst>
              <a:ext uri="{FF2B5EF4-FFF2-40B4-BE49-F238E27FC236}">
                <a16:creationId xmlns:a16="http://schemas.microsoft.com/office/drawing/2014/main" id="{FF1AE8F9-A704-4DA0-B950-69899203727C}"/>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8025478" y="1302919"/>
            <a:ext cx="3479754" cy="1980770"/>
          </a:xfrm>
          <a:prstGeom prst="rect">
            <a:avLst/>
          </a:prstGeom>
        </p:spPr>
      </p:pic>
      <p:sp>
        <p:nvSpPr>
          <p:cNvPr id="6" name="TextBox 5">
            <a:extLst>
              <a:ext uri="{FF2B5EF4-FFF2-40B4-BE49-F238E27FC236}">
                <a16:creationId xmlns:a16="http://schemas.microsoft.com/office/drawing/2014/main" id="{3AB05936-093C-4A86-8524-E33CB329FAD5}"/>
              </a:ext>
            </a:extLst>
          </p:cNvPr>
          <p:cNvSpPr txBox="1"/>
          <p:nvPr/>
        </p:nvSpPr>
        <p:spPr>
          <a:xfrm>
            <a:off x="7949146" y="1130186"/>
            <a:ext cx="3632421" cy="153888"/>
          </a:xfrm>
          <a:prstGeom prst="rect">
            <a:avLst/>
          </a:prstGeom>
          <a:noFill/>
        </p:spPr>
        <p:txBody>
          <a:bodyPr wrap="square" lIns="0" tIns="0" rIns="0" bIns="0" rtlCol="0">
            <a:spAutoFit/>
          </a:bodyPr>
          <a:lstStyle/>
          <a:p>
            <a:pPr algn="ctr">
              <a:spcBef>
                <a:spcPts val="600"/>
              </a:spcBef>
              <a:buSzPct val="100000"/>
            </a:pPr>
            <a:r>
              <a:rPr lang="en-US" sz="1000" b="1" dirty="0">
                <a:solidFill>
                  <a:srgbClr val="313131"/>
                </a:solidFill>
              </a:rPr>
              <a:t>Sample illustration of Actual v/s Pooled Dispatch</a:t>
            </a:r>
          </a:p>
        </p:txBody>
      </p:sp>
      <p:sp>
        <p:nvSpPr>
          <p:cNvPr id="78" name="TextBox 77">
            <a:extLst>
              <a:ext uri="{FF2B5EF4-FFF2-40B4-BE49-F238E27FC236}">
                <a16:creationId xmlns:a16="http://schemas.microsoft.com/office/drawing/2014/main" id="{ED2FC83C-C903-4C20-822B-01976D097161}"/>
              </a:ext>
            </a:extLst>
          </p:cNvPr>
          <p:cNvSpPr txBox="1"/>
          <p:nvPr/>
        </p:nvSpPr>
        <p:spPr>
          <a:xfrm>
            <a:off x="3124663" y="6405417"/>
            <a:ext cx="6108111" cy="123111"/>
          </a:xfrm>
          <a:prstGeom prst="rect">
            <a:avLst/>
          </a:prstGeom>
          <a:noFill/>
        </p:spPr>
        <p:txBody>
          <a:bodyPr wrap="square" lIns="0" tIns="0" rIns="0" bIns="0" rtlCol="0">
            <a:spAutoFit/>
          </a:bodyPr>
          <a:lstStyle/>
          <a:p>
            <a:pPr algn="just">
              <a:spcBef>
                <a:spcPts val="600"/>
              </a:spcBef>
              <a:buSzPct val="100000"/>
            </a:pPr>
            <a:r>
              <a:rPr lang="en-US" sz="800" i="1" dirty="0">
                <a:solidFill>
                  <a:srgbClr val="313131"/>
                </a:solidFill>
              </a:rPr>
              <a:t>*Data presented for 5 states only - July 2016; *VC-variable cost, AG: Actual generation, DC: Declared capacity</a:t>
            </a:r>
          </a:p>
        </p:txBody>
      </p:sp>
      <p:sp>
        <p:nvSpPr>
          <p:cNvPr id="79" name="TextBox 78">
            <a:extLst>
              <a:ext uri="{FF2B5EF4-FFF2-40B4-BE49-F238E27FC236}">
                <a16:creationId xmlns:a16="http://schemas.microsoft.com/office/drawing/2014/main" id="{477362C6-7703-4E6E-808E-AD3E7EA860CE}"/>
              </a:ext>
            </a:extLst>
          </p:cNvPr>
          <p:cNvSpPr txBox="1"/>
          <p:nvPr/>
        </p:nvSpPr>
        <p:spPr>
          <a:xfrm>
            <a:off x="3124663" y="6556591"/>
            <a:ext cx="8500469" cy="123111"/>
          </a:xfrm>
          <a:prstGeom prst="rect">
            <a:avLst/>
          </a:prstGeom>
          <a:noFill/>
        </p:spPr>
        <p:txBody>
          <a:bodyPr wrap="square" lIns="0" tIns="0" rIns="0" bIns="0" rtlCol="0">
            <a:spAutoFit/>
          </a:bodyPr>
          <a:lstStyle/>
          <a:p>
            <a:pPr algn="just">
              <a:spcBef>
                <a:spcPts val="600"/>
              </a:spcBef>
              <a:buSzPct val="100000"/>
            </a:pPr>
            <a:r>
              <a:rPr lang="en-US" sz="800" i="1" dirty="0">
                <a:solidFill>
                  <a:srgbClr val="313131"/>
                </a:solidFill>
              </a:rPr>
              <a:t>#In FY 20: Avoidable Procurement = 5,556 MUs (14% of total power purchase), </a:t>
            </a:r>
            <a:r>
              <a:rPr lang="en-IN" sz="800" i="1" dirty="0">
                <a:solidFill>
                  <a:srgbClr val="313131"/>
                </a:solidFill>
              </a:rPr>
              <a:t>ST Power Market Rate of Rs. 3.00/ </a:t>
            </a:r>
            <a:r>
              <a:rPr lang="en-IN" sz="800" i="1" dirty="0" err="1">
                <a:solidFill>
                  <a:srgbClr val="313131"/>
                </a:solidFill>
              </a:rPr>
              <a:t>Kwh</a:t>
            </a:r>
            <a:r>
              <a:rPr lang="en-IN" sz="800" i="1" dirty="0">
                <a:solidFill>
                  <a:srgbClr val="313131"/>
                </a:solidFill>
              </a:rPr>
              <a:t> (Average MCP of IEX for FY2019-20)</a:t>
            </a:r>
          </a:p>
        </p:txBody>
      </p:sp>
      <p:sp>
        <p:nvSpPr>
          <p:cNvPr id="80" name="Rectangle 79">
            <a:extLst>
              <a:ext uri="{FF2B5EF4-FFF2-40B4-BE49-F238E27FC236}">
                <a16:creationId xmlns:a16="http://schemas.microsoft.com/office/drawing/2014/main" id="{558F6096-5744-4A62-BDC3-B86152356577}"/>
              </a:ext>
            </a:extLst>
          </p:cNvPr>
          <p:cNvSpPr/>
          <p:nvPr/>
        </p:nvSpPr>
        <p:spPr>
          <a:xfrm>
            <a:off x="7484406" y="3228796"/>
            <a:ext cx="4478081" cy="553998"/>
          </a:xfrm>
          <a:prstGeom prst="rect">
            <a:avLst/>
          </a:prstGeom>
        </p:spPr>
        <p:txBody>
          <a:bodyPr wrap="square">
            <a:spAutoFit/>
          </a:bodyPr>
          <a:lstStyle/>
          <a:p>
            <a:pPr algn="ctr"/>
            <a:r>
              <a:rPr lang="en-US" sz="1000" b="1" i="1" dirty="0"/>
              <a:t>System marginal cost in the actual dispatch scenario is much higher than that of the pooled dispatch. Approximate impact on </a:t>
            </a:r>
            <a:r>
              <a:rPr lang="en-US" sz="1000" b="1" i="1" dirty="0">
                <a:solidFill>
                  <a:schemeClr val="accent2"/>
                </a:solidFill>
              </a:rPr>
              <a:t>WBSEDCL’s Power Purchase Cost ~500-700 </a:t>
            </a:r>
            <a:r>
              <a:rPr lang="en-US" sz="1000" b="1" i="1" dirty="0" err="1">
                <a:solidFill>
                  <a:schemeClr val="accent2"/>
                </a:solidFill>
              </a:rPr>
              <a:t>Crs</a:t>
            </a:r>
            <a:r>
              <a:rPr lang="en-US" sz="1000" b="1" i="1" baseline="30000" dirty="0">
                <a:solidFill>
                  <a:schemeClr val="accent2"/>
                </a:solidFill>
              </a:rPr>
              <a:t>#</a:t>
            </a:r>
            <a:endParaRPr lang="en-IN" sz="1000" b="1" i="1" baseline="30000" dirty="0">
              <a:solidFill>
                <a:schemeClr val="accent2"/>
              </a:solidFill>
            </a:endParaRPr>
          </a:p>
        </p:txBody>
      </p:sp>
      <p:sp>
        <p:nvSpPr>
          <p:cNvPr id="81" name="TextBox 80">
            <a:extLst>
              <a:ext uri="{FF2B5EF4-FFF2-40B4-BE49-F238E27FC236}">
                <a16:creationId xmlns:a16="http://schemas.microsoft.com/office/drawing/2014/main" id="{7C864264-B5CB-4145-AF39-1D91C6197B38}"/>
              </a:ext>
            </a:extLst>
          </p:cNvPr>
          <p:cNvSpPr txBox="1"/>
          <p:nvPr/>
        </p:nvSpPr>
        <p:spPr>
          <a:xfrm>
            <a:off x="7944921" y="4066156"/>
            <a:ext cx="3643831" cy="384721"/>
          </a:xfrm>
          <a:prstGeom prst="rect">
            <a:avLst/>
          </a:prstGeom>
          <a:noFill/>
        </p:spPr>
        <p:txBody>
          <a:bodyPr wrap="square" lIns="0" tIns="0" rIns="0" bIns="0" rtlCol="0">
            <a:spAutoFit/>
          </a:bodyPr>
          <a:lstStyle/>
          <a:p>
            <a:pPr algn="ctr">
              <a:spcBef>
                <a:spcPts val="600"/>
              </a:spcBef>
              <a:buSzPct val="100000"/>
            </a:pPr>
            <a:r>
              <a:rPr lang="en-IN" sz="1000" b="1" dirty="0">
                <a:solidFill>
                  <a:srgbClr val="313131"/>
                </a:solidFill>
              </a:rPr>
              <a:t>Illustrative impact of PM Kusum – Component A</a:t>
            </a:r>
          </a:p>
          <a:p>
            <a:pPr algn="ctr">
              <a:spcBef>
                <a:spcPts val="600"/>
              </a:spcBef>
              <a:buSzPct val="100000"/>
            </a:pPr>
            <a:r>
              <a:rPr lang="en-IN" sz="1000" b="1" i="1" dirty="0">
                <a:solidFill>
                  <a:srgbClr val="313131"/>
                </a:solidFill>
              </a:rPr>
              <a:t>Impact on Power Purchase Cost</a:t>
            </a:r>
          </a:p>
        </p:txBody>
      </p:sp>
      <p:graphicFrame>
        <p:nvGraphicFramePr>
          <p:cNvPr id="82" name="Chart 81">
            <a:extLst>
              <a:ext uri="{FF2B5EF4-FFF2-40B4-BE49-F238E27FC236}">
                <a16:creationId xmlns:a16="http://schemas.microsoft.com/office/drawing/2014/main" id="{22E753A7-546A-4F84-BB04-B1958EC616D6}"/>
              </a:ext>
            </a:extLst>
          </p:cNvPr>
          <p:cNvGraphicFramePr/>
          <p:nvPr/>
        </p:nvGraphicFramePr>
        <p:xfrm>
          <a:off x="7730932" y="4444972"/>
          <a:ext cx="3178556" cy="1749593"/>
        </p:xfrm>
        <a:graphic>
          <a:graphicData uri="http://schemas.openxmlformats.org/drawingml/2006/chart">
            <c:chart xmlns:c="http://schemas.openxmlformats.org/drawingml/2006/chart" xmlns:r="http://schemas.openxmlformats.org/officeDocument/2006/relationships" r:id="rId13"/>
          </a:graphicData>
        </a:graphic>
      </p:graphicFrame>
      <p:cxnSp>
        <p:nvCxnSpPr>
          <p:cNvPr id="83" name="Straight Connector 82">
            <a:extLst>
              <a:ext uri="{FF2B5EF4-FFF2-40B4-BE49-F238E27FC236}">
                <a16:creationId xmlns:a16="http://schemas.microsoft.com/office/drawing/2014/main" id="{8C603595-37B4-4D48-BCAE-B0E7543563F0}"/>
              </a:ext>
            </a:extLst>
          </p:cNvPr>
          <p:cNvCxnSpPr/>
          <p:nvPr/>
        </p:nvCxnSpPr>
        <p:spPr>
          <a:xfrm>
            <a:off x="8294304" y="4704091"/>
            <a:ext cx="225856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758C49A3-A3A8-4987-B3A7-FE82CA993FBB}"/>
              </a:ext>
            </a:extLst>
          </p:cNvPr>
          <p:cNvCxnSpPr/>
          <p:nvPr/>
        </p:nvCxnSpPr>
        <p:spPr>
          <a:xfrm>
            <a:off x="9128186" y="5158243"/>
            <a:ext cx="142468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2897E126-C682-4706-A378-9E26567E05EA}"/>
              </a:ext>
            </a:extLst>
          </p:cNvPr>
          <p:cNvSpPr txBox="1"/>
          <p:nvPr/>
        </p:nvSpPr>
        <p:spPr>
          <a:xfrm>
            <a:off x="9318432" y="4792670"/>
            <a:ext cx="1280160" cy="276999"/>
          </a:xfrm>
          <a:prstGeom prst="rect">
            <a:avLst/>
          </a:prstGeom>
          <a:noFill/>
        </p:spPr>
        <p:txBody>
          <a:bodyPr wrap="square" lIns="0" tIns="0" rIns="0" bIns="0" rtlCol="0">
            <a:spAutoFit/>
          </a:bodyPr>
          <a:lstStyle/>
          <a:p>
            <a:pPr algn="ctr">
              <a:spcBef>
                <a:spcPts val="600"/>
              </a:spcBef>
              <a:buSzPct val="100000"/>
            </a:pPr>
            <a:r>
              <a:rPr lang="en-IN" sz="900" dirty="0">
                <a:solidFill>
                  <a:srgbClr val="00B050"/>
                </a:solidFill>
              </a:rPr>
              <a:t>Net benefit of </a:t>
            </a:r>
            <a:r>
              <a:rPr lang="en-IN" sz="900" dirty="0" err="1">
                <a:solidFill>
                  <a:srgbClr val="00B050"/>
                </a:solidFill>
              </a:rPr>
              <a:t>Rs</a:t>
            </a:r>
            <a:r>
              <a:rPr lang="en-IN" sz="900" dirty="0">
                <a:solidFill>
                  <a:srgbClr val="00B050"/>
                </a:solidFill>
              </a:rPr>
              <a:t>. 3.04 / unit to </a:t>
            </a:r>
            <a:r>
              <a:rPr lang="en-IN" sz="900" dirty="0" err="1">
                <a:solidFill>
                  <a:srgbClr val="00B050"/>
                </a:solidFill>
              </a:rPr>
              <a:t>Discom</a:t>
            </a:r>
            <a:endParaRPr lang="en-IN" sz="900" dirty="0">
              <a:solidFill>
                <a:srgbClr val="00B050"/>
              </a:solidFill>
            </a:endParaRPr>
          </a:p>
        </p:txBody>
      </p:sp>
      <p:sp>
        <p:nvSpPr>
          <p:cNvPr id="86" name="TextBox 85">
            <a:extLst>
              <a:ext uri="{FF2B5EF4-FFF2-40B4-BE49-F238E27FC236}">
                <a16:creationId xmlns:a16="http://schemas.microsoft.com/office/drawing/2014/main" id="{C591B209-4B2E-4E8E-85F0-3300FEB4C767}"/>
              </a:ext>
            </a:extLst>
          </p:cNvPr>
          <p:cNvSpPr txBox="1"/>
          <p:nvPr/>
        </p:nvSpPr>
        <p:spPr>
          <a:xfrm>
            <a:off x="7867616" y="4580982"/>
            <a:ext cx="408766" cy="123111"/>
          </a:xfrm>
          <a:prstGeom prst="rect">
            <a:avLst/>
          </a:prstGeom>
          <a:noFill/>
        </p:spPr>
        <p:txBody>
          <a:bodyPr wrap="none" lIns="0" tIns="0" rIns="0" bIns="0" rtlCol="0">
            <a:spAutoFit/>
          </a:bodyPr>
          <a:lstStyle/>
          <a:p>
            <a:pPr>
              <a:spcBef>
                <a:spcPts val="600"/>
              </a:spcBef>
              <a:buSzPct val="100000"/>
            </a:pPr>
            <a:r>
              <a:rPr lang="en-IN" sz="800" i="1" dirty="0" err="1">
                <a:solidFill>
                  <a:srgbClr val="313131"/>
                </a:solidFill>
              </a:rPr>
              <a:t>Rs</a:t>
            </a:r>
            <a:r>
              <a:rPr lang="en-IN" sz="800" i="1" dirty="0">
                <a:solidFill>
                  <a:srgbClr val="313131"/>
                </a:solidFill>
              </a:rPr>
              <a:t>./unit</a:t>
            </a:r>
          </a:p>
        </p:txBody>
      </p:sp>
      <p:sp>
        <p:nvSpPr>
          <p:cNvPr id="87" name="TextBox 86">
            <a:extLst>
              <a:ext uri="{FF2B5EF4-FFF2-40B4-BE49-F238E27FC236}">
                <a16:creationId xmlns:a16="http://schemas.microsoft.com/office/drawing/2014/main" id="{8258EEFC-7DCC-4817-8DD5-6F3A1289052F}"/>
              </a:ext>
            </a:extLst>
          </p:cNvPr>
          <p:cNvSpPr txBox="1"/>
          <p:nvPr/>
        </p:nvSpPr>
        <p:spPr>
          <a:xfrm>
            <a:off x="7996260" y="6012605"/>
            <a:ext cx="694101" cy="123111"/>
          </a:xfrm>
          <a:prstGeom prst="rect">
            <a:avLst/>
          </a:prstGeom>
          <a:noFill/>
        </p:spPr>
        <p:txBody>
          <a:bodyPr wrap="none" lIns="0" tIns="0" rIns="0" bIns="0" rtlCol="0">
            <a:spAutoFit/>
          </a:bodyPr>
          <a:lstStyle/>
          <a:p>
            <a:pPr>
              <a:spcBef>
                <a:spcPts val="600"/>
              </a:spcBef>
              <a:buSzPct val="100000"/>
            </a:pPr>
            <a:r>
              <a:rPr lang="en-IN" sz="800" dirty="0">
                <a:solidFill>
                  <a:srgbClr val="595959"/>
                </a:solidFill>
              </a:rPr>
              <a:t>(as per MOD)</a:t>
            </a:r>
          </a:p>
        </p:txBody>
      </p:sp>
      <p:sp>
        <p:nvSpPr>
          <p:cNvPr id="88" name="Multiply 23">
            <a:extLst>
              <a:ext uri="{FF2B5EF4-FFF2-40B4-BE49-F238E27FC236}">
                <a16:creationId xmlns:a16="http://schemas.microsoft.com/office/drawing/2014/main" id="{81D37798-583D-4EEB-A3AF-20BE45E81407}"/>
              </a:ext>
            </a:extLst>
          </p:cNvPr>
          <p:cNvSpPr/>
          <p:nvPr/>
        </p:nvSpPr>
        <p:spPr bwMode="gray">
          <a:xfrm>
            <a:off x="10780049" y="4721378"/>
            <a:ext cx="324000" cy="324000"/>
          </a:xfrm>
          <a:prstGeom prst="mathMultiply">
            <a:avLst/>
          </a:prstGeom>
          <a:solidFill>
            <a:schemeClr val="bg1">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89" name="TextBox 88">
            <a:extLst>
              <a:ext uri="{FF2B5EF4-FFF2-40B4-BE49-F238E27FC236}">
                <a16:creationId xmlns:a16="http://schemas.microsoft.com/office/drawing/2014/main" id="{C7608CFD-EFC0-40E8-AB49-A17217E9B91B}"/>
              </a:ext>
            </a:extLst>
          </p:cNvPr>
          <p:cNvSpPr txBox="1"/>
          <p:nvPr/>
        </p:nvSpPr>
        <p:spPr>
          <a:xfrm>
            <a:off x="11210580" y="4635644"/>
            <a:ext cx="714163" cy="461665"/>
          </a:xfrm>
          <a:prstGeom prst="rect">
            <a:avLst/>
          </a:prstGeom>
          <a:noFill/>
        </p:spPr>
        <p:txBody>
          <a:bodyPr wrap="square" lIns="0" tIns="0" rIns="0" bIns="0" rtlCol="0">
            <a:spAutoFit/>
          </a:bodyPr>
          <a:lstStyle/>
          <a:p>
            <a:pPr>
              <a:spcBef>
                <a:spcPts val="600"/>
              </a:spcBef>
              <a:buSzPct val="100000"/>
            </a:pPr>
            <a:r>
              <a:rPr lang="en-IN" sz="1000" dirty="0">
                <a:solidFill>
                  <a:srgbClr val="313131"/>
                </a:solidFill>
              </a:rPr>
              <a:t>Solar Energy Potential</a:t>
            </a:r>
            <a:r>
              <a:rPr lang="en-IN" sz="1000" baseline="30000" dirty="0">
                <a:solidFill>
                  <a:srgbClr val="313131"/>
                </a:solidFill>
              </a:rPr>
              <a:t>##</a:t>
            </a:r>
          </a:p>
        </p:txBody>
      </p:sp>
      <p:sp>
        <p:nvSpPr>
          <p:cNvPr id="90" name="Equal 25">
            <a:extLst>
              <a:ext uri="{FF2B5EF4-FFF2-40B4-BE49-F238E27FC236}">
                <a16:creationId xmlns:a16="http://schemas.microsoft.com/office/drawing/2014/main" id="{4FAD59F9-9A14-4D2F-8F0A-F8087B702CD3}"/>
              </a:ext>
            </a:extLst>
          </p:cNvPr>
          <p:cNvSpPr/>
          <p:nvPr/>
        </p:nvSpPr>
        <p:spPr bwMode="gray">
          <a:xfrm>
            <a:off x="10787008" y="5268229"/>
            <a:ext cx="324000" cy="324000"/>
          </a:xfrm>
          <a:prstGeom prst="mathEqual">
            <a:avLst/>
          </a:prstGeom>
          <a:solidFill>
            <a:schemeClr val="bg1">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91" name="TextBox 90">
            <a:extLst>
              <a:ext uri="{FF2B5EF4-FFF2-40B4-BE49-F238E27FC236}">
                <a16:creationId xmlns:a16="http://schemas.microsoft.com/office/drawing/2014/main" id="{E544C52C-8535-4ED0-923E-E5D32CF9F1F5}"/>
              </a:ext>
            </a:extLst>
          </p:cNvPr>
          <p:cNvSpPr txBox="1"/>
          <p:nvPr/>
        </p:nvSpPr>
        <p:spPr>
          <a:xfrm>
            <a:off x="11210578" y="5305960"/>
            <a:ext cx="632234" cy="307777"/>
          </a:xfrm>
          <a:prstGeom prst="rect">
            <a:avLst/>
          </a:prstGeom>
          <a:noFill/>
        </p:spPr>
        <p:txBody>
          <a:bodyPr wrap="square" lIns="0" tIns="0" rIns="0" bIns="0" rtlCol="0">
            <a:spAutoFit/>
          </a:bodyPr>
          <a:lstStyle/>
          <a:p>
            <a:pPr algn="ctr">
              <a:spcBef>
                <a:spcPts val="600"/>
              </a:spcBef>
              <a:buSzPct val="100000"/>
            </a:pPr>
            <a:r>
              <a:rPr lang="en-IN" sz="1000" b="1" dirty="0">
                <a:solidFill>
                  <a:srgbClr val="313131"/>
                </a:solidFill>
              </a:rPr>
              <a:t>~Rs. 600 Cr.</a:t>
            </a:r>
          </a:p>
        </p:txBody>
      </p:sp>
      <p:sp>
        <p:nvSpPr>
          <p:cNvPr id="92" name="TextBox 91">
            <a:extLst>
              <a:ext uri="{FF2B5EF4-FFF2-40B4-BE49-F238E27FC236}">
                <a16:creationId xmlns:a16="http://schemas.microsoft.com/office/drawing/2014/main" id="{AB42A18E-8C29-401E-9562-8A7675B1258E}"/>
              </a:ext>
            </a:extLst>
          </p:cNvPr>
          <p:cNvSpPr txBox="1"/>
          <p:nvPr/>
        </p:nvSpPr>
        <p:spPr>
          <a:xfrm>
            <a:off x="3124662" y="6708405"/>
            <a:ext cx="8500469" cy="123111"/>
          </a:xfrm>
          <a:prstGeom prst="rect">
            <a:avLst/>
          </a:prstGeom>
          <a:noFill/>
        </p:spPr>
        <p:txBody>
          <a:bodyPr wrap="square" lIns="0" tIns="0" rIns="0" bIns="0" rtlCol="0">
            <a:spAutoFit/>
          </a:bodyPr>
          <a:lstStyle/>
          <a:p>
            <a:pPr algn="just">
              <a:spcBef>
                <a:spcPts val="600"/>
              </a:spcBef>
              <a:buSzPct val="100000"/>
            </a:pPr>
            <a:r>
              <a:rPr lang="en-US" sz="800" i="1" dirty="0">
                <a:solidFill>
                  <a:srgbClr val="313131"/>
                </a:solidFill>
              </a:rPr>
              <a:t>## Assuming solar potential in barren land in 4 zones, Bankura, Birbhum, Medinipur (West) and Medinipur (East) </a:t>
            </a:r>
            <a:endParaRPr lang="en-IN" sz="800" i="1" dirty="0">
              <a:solidFill>
                <a:srgbClr val="313131"/>
              </a:solidFill>
            </a:endParaRPr>
          </a:p>
        </p:txBody>
      </p:sp>
      <p:sp>
        <p:nvSpPr>
          <p:cNvPr id="8" name="TextBox 7">
            <a:extLst>
              <a:ext uri="{FF2B5EF4-FFF2-40B4-BE49-F238E27FC236}">
                <a16:creationId xmlns:a16="http://schemas.microsoft.com/office/drawing/2014/main" id="{459EEC6D-26AF-41ED-9612-0A32B81FA5CD}"/>
              </a:ext>
            </a:extLst>
          </p:cNvPr>
          <p:cNvSpPr txBox="1"/>
          <p:nvPr/>
        </p:nvSpPr>
        <p:spPr>
          <a:xfrm rot="19766624">
            <a:off x="8413924" y="2261635"/>
            <a:ext cx="1645273" cy="161583"/>
          </a:xfrm>
          <a:prstGeom prst="rect">
            <a:avLst/>
          </a:prstGeom>
          <a:solidFill>
            <a:srgbClr val="0070C0"/>
          </a:solidFill>
        </p:spPr>
        <p:txBody>
          <a:bodyPr wrap="square" lIns="0" tIns="0" rIns="0" bIns="0" rtlCol="0">
            <a:spAutoFit/>
          </a:bodyPr>
          <a:lstStyle/>
          <a:p>
            <a:pPr algn="ctr">
              <a:spcBef>
                <a:spcPts val="600"/>
              </a:spcBef>
              <a:buSzPct val="100000"/>
            </a:pPr>
            <a:r>
              <a:rPr lang="en-US" sz="1050" b="1" dirty="0">
                <a:solidFill>
                  <a:schemeClr val="bg1"/>
                </a:solidFill>
              </a:rPr>
              <a:t>ILLUSTRATIVE</a:t>
            </a:r>
          </a:p>
        </p:txBody>
      </p:sp>
      <p:sp>
        <p:nvSpPr>
          <p:cNvPr id="67" name="TextBox 66">
            <a:extLst>
              <a:ext uri="{FF2B5EF4-FFF2-40B4-BE49-F238E27FC236}">
                <a16:creationId xmlns:a16="http://schemas.microsoft.com/office/drawing/2014/main" id="{603B4F0E-8A33-4704-8D17-FB372FD34C25}"/>
              </a:ext>
            </a:extLst>
          </p:cNvPr>
          <p:cNvSpPr txBox="1"/>
          <p:nvPr/>
        </p:nvSpPr>
        <p:spPr>
          <a:xfrm rot="19766624">
            <a:off x="7900807" y="5077453"/>
            <a:ext cx="1645273" cy="161583"/>
          </a:xfrm>
          <a:prstGeom prst="rect">
            <a:avLst/>
          </a:prstGeom>
          <a:solidFill>
            <a:srgbClr val="0070C0"/>
          </a:solidFill>
        </p:spPr>
        <p:txBody>
          <a:bodyPr wrap="square" lIns="0" tIns="0" rIns="0" bIns="0" rtlCol="0">
            <a:spAutoFit/>
          </a:bodyPr>
          <a:lstStyle/>
          <a:p>
            <a:pPr algn="ctr">
              <a:spcBef>
                <a:spcPts val="600"/>
              </a:spcBef>
              <a:buSzPct val="100000"/>
            </a:pPr>
            <a:r>
              <a:rPr lang="en-US" sz="1050" b="1" dirty="0">
                <a:solidFill>
                  <a:schemeClr val="bg1"/>
                </a:solidFill>
              </a:rPr>
              <a:t>ILLUSTRATIVE</a:t>
            </a:r>
          </a:p>
        </p:txBody>
      </p:sp>
    </p:spTree>
    <p:extLst>
      <p:ext uri="{BB962C8B-B14F-4D97-AF65-F5344CB8AC3E}">
        <p14:creationId xmlns:p14="http://schemas.microsoft.com/office/powerpoint/2010/main" val="1657144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26" name="Rectangle 525">
            <a:extLst>
              <a:ext uri="{FF2B5EF4-FFF2-40B4-BE49-F238E27FC236}">
                <a16:creationId xmlns:a16="http://schemas.microsoft.com/office/drawing/2014/main" id="{8BDEBE48-0450-4562-931E-285CEB129510}"/>
              </a:ext>
            </a:extLst>
          </p:cNvPr>
          <p:cNvSpPr/>
          <p:nvPr/>
        </p:nvSpPr>
        <p:spPr bwMode="gray">
          <a:xfrm>
            <a:off x="379332" y="3737572"/>
            <a:ext cx="11481236" cy="2521187"/>
          </a:xfrm>
          <a:prstGeom prst="rect">
            <a:avLst/>
          </a:prstGeom>
          <a:solidFill>
            <a:schemeClr val="bg1">
              <a:lumMod val="95000"/>
            </a:schemeClr>
          </a:solidFill>
          <a:ln w="6350" algn="ctr">
            <a:solidFill>
              <a:schemeClr val="tx1"/>
            </a:solidFill>
            <a:prstDash val="dash"/>
            <a:miter lim="800000"/>
            <a:headEnd/>
            <a:tailEnd/>
          </a:ln>
        </p:spPr>
        <p:txBody>
          <a:bodyPr wrap="square" lIns="88900" tIns="88900" rIns="88900" bIns="88900" rtlCol="0" anchor="t"/>
          <a:lstStyle/>
          <a:p>
            <a:pPr algn="ctr">
              <a:lnSpc>
                <a:spcPct val="106000"/>
              </a:lnSpc>
            </a:pPr>
            <a:endParaRPr lang="en-US" sz="1000" kern="0" dirty="0"/>
          </a:p>
        </p:txBody>
      </p:sp>
      <p:sp>
        <p:nvSpPr>
          <p:cNvPr id="3" name="Rectangle 2" hidden="1"/>
          <p:cNvSpPr/>
          <p:nvPr>
            <p:custDataLst>
              <p:tags r:id="rId2"/>
            </p:custDataLst>
          </p:nvPr>
        </p:nvSpPr>
        <p:spPr bwMode="gray">
          <a:xfrm>
            <a:off x="1" y="1"/>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defTabSz="899010">
              <a:spcBef>
                <a:spcPct val="0"/>
              </a:spcBef>
              <a:spcAft>
                <a:spcPct val="0"/>
              </a:spcAft>
              <a:defRPr/>
            </a:pPr>
            <a:endParaRPr lang="en-IN" sz="1000" dirty="0">
              <a:solidFill>
                <a:prstClr val="white"/>
              </a:solidFill>
              <a:latin typeface="Verdana" panose="020B0604030504040204" pitchFamily="34" charset="0"/>
              <a:sym typeface="Verdana" panose="020B0604030504040204" pitchFamily="34" charset="0"/>
            </a:endParaRPr>
          </a:p>
        </p:txBody>
      </p:sp>
      <p:sp>
        <p:nvSpPr>
          <p:cNvPr id="12" name="Title 3">
            <a:extLst>
              <a:ext uri="{FF2B5EF4-FFF2-40B4-BE49-F238E27FC236}">
                <a16:creationId xmlns:a16="http://schemas.microsoft.com/office/drawing/2014/main" id="{42A67D54-A80F-4E35-A343-9F46A8BDE9A1}"/>
              </a:ext>
            </a:extLst>
          </p:cNvPr>
          <p:cNvSpPr txBox="1">
            <a:spLocks/>
          </p:cNvSpPr>
          <p:nvPr/>
        </p:nvSpPr>
        <p:spPr bwMode="gray">
          <a:xfrm>
            <a:off x="501652" y="317504"/>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algn="just"/>
            <a:r>
              <a:rPr lang="en-US" sz="1800" b="0" i="0" dirty="0">
                <a:solidFill>
                  <a:schemeClr val="tx1"/>
                </a:solidFill>
              </a:rPr>
              <a:t>Emerging energy transitions will shape the future of the utilities, those prepared better will emerge winners </a:t>
            </a:r>
          </a:p>
        </p:txBody>
      </p:sp>
      <p:grpSp>
        <p:nvGrpSpPr>
          <p:cNvPr id="67" name="Group 66">
            <a:extLst>
              <a:ext uri="{FF2B5EF4-FFF2-40B4-BE49-F238E27FC236}">
                <a16:creationId xmlns:a16="http://schemas.microsoft.com/office/drawing/2014/main" id="{1F14D918-31EA-4E9B-BBAF-9DBB4779B5FC}"/>
              </a:ext>
            </a:extLst>
          </p:cNvPr>
          <p:cNvGrpSpPr/>
          <p:nvPr/>
        </p:nvGrpSpPr>
        <p:grpSpPr>
          <a:xfrm>
            <a:off x="864581" y="1946078"/>
            <a:ext cx="10761716" cy="171292"/>
            <a:chOff x="773555" y="2843191"/>
            <a:chExt cx="7941294" cy="187209"/>
          </a:xfrm>
        </p:grpSpPr>
        <p:sp>
          <p:nvSpPr>
            <p:cNvPr id="68" name="object 8">
              <a:extLst>
                <a:ext uri="{FF2B5EF4-FFF2-40B4-BE49-F238E27FC236}">
                  <a16:creationId xmlns:a16="http://schemas.microsoft.com/office/drawing/2014/main" id="{251D345C-C0A5-4A56-B17C-8EA1543E4572}"/>
                </a:ext>
              </a:extLst>
            </p:cNvPr>
            <p:cNvSpPr/>
            <p:nvPr/>
          </p:nvSpPr>
          <p:spPr>
            <a:xfrm>
              <a:off x="773555" y="2848211"/>
              <a:ext cx="182880" cy="182189"/>
            </a:xfrm>
            <a:custGeom>
              <a:avLst/>
              <a:gdLst/>
              <a:ahLst/>
              <a:cxnLst/>
              <a:rect l="l" t="t" r="r" b="b"/>
              <a:pathLst>
                <a:path w="66675" h="65405">
                  <a:moveTo>
                    <a:pt x="66527" y="33459"/>
                  </a:moveTo>
                  <a:lnTo>
                    <a:pt x="63511" y="47358"/>
                  </a:lnTo>
                  <a:lnTo>
                    <a:pt x="55353" y="58416"/>
                  </a:lnTo>
                  <a:lnTo>
                    <a:pt x="43386" y="65300"/>
                  </a:lnTo>
                  <a:lnTo>
                    <a:pt x="25966" y="64002"/>
                  </a:lnTo>
                  <a:lnTo>
                    <a:pt x="12874" y="58511"/>
                  </a:lnTo>
                  <a:lnTo>
                    <a:pt x="4191" y="49740"/>
                  </a:lnTo>
                  <a:lnTo>
                    <a:pt x="0" y="38602"/>
                  </a:lnTo>
                  <a:lnTo>
                    <a:pt x="2345" y="22758"/>
                  </a:lnTo>
                  <a:lnTo>
                    <a:pt x="9256" y="10659"/>
                  </a:lnTo>
                  <a:lnTo>
                    <a:pt x="19656" y="2880"/>
                  </a:lnTo>
                  <a:lnTo>
                    <a:pt x="32463" y="0"/>
                  </a:lnTo>
                  <a:lnTo>
                    <a:pt x="46610" y="2960"/>
                  </a:lnTo>
                  <a:lnTo>
                    <a:pt x="57792" y="10984"/>
                  </a:lnTo>
                  <a:lnTo>
                    <a:pt x="64779" y="22774"/>
                  </a:lnTo>
                  <a:lnTo>
                    <a:pt x="66527" y="33459"/>
                  </a:lnTo>
                  <a:close/>
                </a:path>
              </a:pathLst>
            </a:custGeom>
            <a:noFill/>
            <a:ln w="19050" cap="flat" cmpd="sng" algn="ctr">
              <a:solidFill>
                <a:schemeClr val="accent6"/>
              </a:solidFill>
              <a:prstDash val="solid"/>
              <a:miter lim="800000"/>
            </a:ln>
            <a:effectLst/>
          </p:spPr>
          <p:txBody>
            <a:bodyPr wrap="square" lIns="0" tIns="0" rIns="0" bIns="0" rtlCol="0"/>
            <a:lstStyle/>
            <a:p>
              <a:pPr defTabSz="914403">
                <a:defRPr/>
              </a:pPr>
              <a:endParaRPr sz="1799" kern="0" dirty="0">
                <a:solidFill>
                  <a:prstClr val="white"/>
                </a:solidFill>
                <a:latin typeface="+mj-lt"/>
              </a:endParaRPr>
            </a:p>
          </p:txBody>
        </p:sp>
        <p:cxnSp>
          <p:nvCxnSpPr>
            <p:cNvPr id="69" name="Straight Connector 68">
              <a:extLst>
                <a:ext uri="{FF2B5EF4-FFF2-40B4-BE49-F238E27FC236}">
                  <a16:creationId xmlns:a16="http://schemas.microsoft.com/office/drawing/2014/main" id="{3CCC9213-78E0-479E-A622-2DC0043883A7}"/>
                </a:ext>
              </a:extLst>
            </p:cNvPr>
            <p:cNvCxnSpPr/>
            <p:nvPr/>
          </p:nvCxnSpPr>
          <p:spPr>
            <a:xfrm>
              <a:off x="943602" y="2936643"/>
              <a:ext cx="7593790" cy="0"/>
            </a:xfrm>
            <a:prstGeom prst="line">
              <a:avLst/>
            </a:prstGeom>
            <a:noFill/>
            <a:ln w="19050" cap="flat" cmpd="sng" algn="ctr">
              <a:solidFill>
                <a:schemeClr val="accent6"/>
              </a:solidFill>
              <a:prstDash val="lgDashDot"/>
              <a:miter lim="800000"/>
            </a:ln>
            <a:effectLst/>
          </p:spPr>
        </p:cxnSp>
        <p:sp>
          <p:nvSpPr>
            <p:cNvPr id="70" name="object 8">
              <a:extLst>
                <a:ext uri="{FF2B5EF4-FFF2-40B4-BE49-F238E27FC236}">
                  <a16:creationId xmlns:a16="http://schemas.microsoft.com/office/drawing/2014/main" id="{BF67D27F-136B-4CA3-B8D4-973B44BDE63C}"/>
                </a:ext>
              </a:extLst>
            </p:cNvPr>
            <p:cNvSpPr/>
            <p:nvPr/>
          </p:nvSpPr>
          <p:spPr>
            <a:xfrm>
              <a:off x="8531969" y="2843191"/>
              <a:ext cx="182880" cy="182189"/>
            </a:xfrm>
            <a:custGeom>
              <a:avLst/>
              <a:gdLst/>
              <a:ahLst/>
              <a:cxnLst/>
              <a:rect l="l" t="t" r="r" b="b"/>
              <a:pathLst>
                <a:path w="66675" h="65405">
                  <a:moveTo>
                    <a:pt x="66527" y="33459"/>
                  </a:moveTo>
                  <a:lnTo>
                    <a:pt x="63511" y="47358"/>
                  </a:lnTo>
                  <a:lnTo>
                    <a:pt x="55353" y="58416"/>
                  </a:lnTo>
                  <a:lnTo>
                    <a:pt x="43386" y="65300"/>
                  </a:lnTo>
                  <a:lnTo>
                    <a:pt x="25966" y="64002"/>
                  </a:lnTo>
                  <a:lnTo>
                    <a:pt x="12874" y="58511"/>
                  </a:lnTo>
                  <a:lnTo>
                    <a:pt x="4191" y="49740"/>
                  </a:lnTo>
                  <a:lnTo>
                    <a:pt x="0" y="38602"/>
                  </a:lnTo>
                  <a:lnTo>
                    <a:pt x="2345" y="22758"/>
                  </a:lnTo>
                  <a:lnTo>
                    <a:pt x="9256" y="10659"/>
                  </a:lnTo>
                  <a:lnTo>
                    <a:pt x="19656" y="2880"/>
                  </a:lnTo>
                  <a:lnTo>
                    <a:pt x="32463" y="0"/>
                  </a:lnTo>
                  <a:lnTo>
                    <a:pt x="46610" y="2960"/>
                  </a:lnTo>
                  <a:lnTo>
                    <a:pt x="57792" y="10984"/>
                  </a:lnTo>
                  <a:lnTo>
                    <a:pt x="64779" y="22774"/>
                  </a:lnTo>
                  <a:lnTo>
                    <a:pt x="66527" y="33459"/>
                  </a:lnTo>
                  <a:close/>
                </a:path>
              </a:pathLst>
            </a:custGeom>
            <a:noFill/>
            <a:ln w="19050" cap="flat" cmpd="sng" algn="ctr">
              <a:solidFill>
                <a:schemeClr val="accent6"/>
              </a:solidFill>
              <a:prstDash val="solid"/>
              <a:miter lim="800000"/>
            </a:ln>
            <a:effectLst/>
          </p:spPr>
          <p:txBody>
            <a:bodyPr wrap="square" lIns="0" tIns="0" rIns="0" bIns="0" rtlCol="0"/>
            <a:lstStyle/>
            <a:p>
              <a:pPr defTabSz="914403">
                <a:defRPr/>
              </a:pPr>
              <a:endParaRPr sz="1799" kern="0" dirty="0">
                <a:solidFill>
                  <a:prstClr val="white"/>
                </a:solidFill>
                <a:latin typeface="+mj-lt"/>
              </a:endParaRPr>
            </a:p>
          </p:txBody>
        </p:sp>
      </p:grpSp>
      <p:sp>
        <p:nvSpPr>
          <p:cNvPr id="71" name="object 24">
            <a:extLst>
              <a:ext uri="{FF2B5EF4-FFF2-40B4-BE49-F238E27FC236}">
                <a16:creationId xmlns:a16="http://schemas.microsoft.com/office/drawing/2014/main" id="{BE0B1142-3EA0-46F4-825B-81128089EE51}"/>
              </a:ext>
            </a:extLst>
          </p:cNvPr>
          <p:cNvSpPr txBox="1"/>
          <p:nvPr/>
        </p:nvSpPr>
        <p:spPr>
          <a:xfrm>
            <a:off x="383236" y="1565446"/>
            <a:ext cx="622833" cy="169405"/>
          </a:xfrm>
          <a:prstGeom prst="rect">
            <a:avLst/>
          </a:prstGeom>
          <a:solidFill>
            <a:schemeClr val="bg1"/>
          </a:solidFill>
        </p:spPr>
        <p:txBody>
          <a:bodyPr vert="horz" wrap="square" lIns="0" tIns="0" rIns="0" bIns="0" rtlCol="0">
            <a:spAutoFit/>
          </a:bodyPr>
          <a:lstStyle/>
          <a:p>
            <a:pPr defTabSz="914403">
              <a:defRPr/>
            </a:pPr>
            <a:r>
              <a:rPr lang="en-US" sz="1101" b="1" kern="0" dirty="0">
                <a:solidFill>
                  <a:schemeClr val="accent6"/>
                </a:solidFill>
                <a:latin typeface="+mj-lt"/>
              </a:rPr>
              <a:t>Legacy</a:t>
            </a:r>
          </a:p>
        </p:txBody>
      </p:sp>
      <p:sp>
        <p:nvSpPr>
          <p:cNvPr id="72" name="object 147">
            <a:extLst>
              <a:ext uri="{FF2B5EF4-FFF2-40B4-BE49-F238E27FC236}">
                <a16:creationId xmlns:a16="http://schemas.microsoft.com/office/drawing/2014/main" id="{C0303A56-947B-4E40-8135-ABEEC27DB6A6}"/>
              </a:ext>
            </a:extLst>
          </p:cNvPr>
          <p:cNvSpPr txBox="1"/>
          <p:nvPr/>
        </p:nvSpPr>
        <p:spPr>
          <a:xfrm>
            <a:off x="9923796" y="2139257"/>
            <a:ext cx="1679182" cy="585288"/>
          </a:xfrm>
          <a:prstGeom prst="rect">
            <a:avLst/>
          </a:prstGeom>
          <a:solidFill>
            <a:schemeClr val="bg1"/>
          </a:solidFill>
        </p:spPr>
        <p:txBody>
          <a:bodyPr wrap="square" rtlCol="0">
            <a:spAutoFit/>
          </a:bodyPr>
          <a:lstStyle>
            <a:defPPr>
              <a:defRPr lang="en-US"/>
            </a:defPPr>
            <a:lvl1pPr algn="ctr">
              <a:defRPr sz="1200" b="1">
                <a:solidFill>
                  <a:schemeClr val="accent5"/>
                </a:solidFill>
              </a:defRPr>
            </a:lvl1pPr>
          </a:lstStyle>
          <a:p>
            <a:pPr algn="l" defTabSz="914403">
              <a:defRPr/>
            </a:pPr>
            <a:r>
              <a:rPr lang="en-US" sz="801" b="0" kern="0" dirty="0">
                <a:solidFill>
                  <a:schemeClr val="tx1"/>
                </a:solidFill>
                <a:latin typeface="+mj-lt"/>
              </a:rPr>
              <a:t>Automation of manual functions and activities and enhanced user experience and productivity</a:t>
            </a:r>
            <a:endParaRPr sz="801" b="0" kern="0" dirty="0">
              <a:solidFill>
                <a:schemeClr val="tx1"/>
              </a:solidFill>
              <a:latin typeface="+mj-lt"/>
            </a:endParaRPr>
          </a:p>
        </p:txBody>
      </p:sp>
      <p:sp>
        <p:nvSpPr>
          <p:cNvPr id="73" name="object 16">
            <a:extLst>
              <a:ext uri="{FF2B5EF4-FFF2-40B4-BE49-F238E27FC236}">
                <a16:creationId xmlns:a16="http://schemas.microsoft.com/office/drawing/2014/main" id="{094F946D-782F-4B56-A6E4-C907C333FF4F}"/>
              </a:ext>
            </a:extLst>
          </p:cNvPr>
          <p:cNvSpPr/>
          <p:nvPr/>
        </p:nvSpPr>
        <p:spPr>
          <a:xfrm>
            <a:off x="9022242" y="2257181"/>
            <a:ext cx="0" cy="0"/>
          </a:xfrm>
          <a:custGeom>
            <a:avLst/>
            <a:gdLst/>
            <a:ahLst/>
            <a:cxnLst/>
            <a:rect l="l" t="t" r="r" b="b"/>
            <a:pathLst>
              <a:path>
                <a:moveTo>
                  <a:pt x="0" y="0"/>
                </a:moveTo>
                <a:lnTo>
                  <a:pt x="0" y="0"/>
                </a:lnTo>
              </a:path>
            </a:pathLst>
          </a:custGeom>
          <a:ln w="12700">
            <a:solidFill>
              <a:srgbClr val="68CEF3"/>
            </a:solidFill>
          </a:ln>
        </p:spPr>
        <p:txBody>
          <a:bodyPr wrap="square" lIns="0" tIns="0" rIns="0" bIns="0" rtlCol="0"/>
          <a:lstStyle/>
          <a:p>
            <a:pPr defTabSz="914403">
              <a:defRPr/>
            </a:pPr>
            <a:endParaRPr sz="1799" kern="0" dirty="0">
              <a:solidFill>
                <a:prstClr val="white"/>
              </a:solidFill>
              <a:latin typeface="+mj-lt"/>
            </a:endParaRPr>
          </a:p>
        </p:txBody>
      </p:sp>
      <p:sp>
        <p:nvSpPr>
          <p:cNvPr id="74" name="object 145">
            <a:extLst>
              <a:ext uri="{FF2B5EF4-FFF2-40B4-BE49-F238E27FC236}">
                <a16:creationId xmlns:a16="http://schemas.microsoft.com/office/drawing/2014/main" id="{F37591C6-5D8D-4EAF-9050-9C0160A1542B}"/>
              </a:ext>
            </a:extLst>
          </p:cNvPr>
          <p:cNvSpPr txBox="1"/>
          <p:nvPr/>
        </p:nvSpPr>
        <p:spPr>
          <a:xfrm>
            <a:off x="2001767" y="2170182"/>
            <a:ext cx="985612" cy="708527"/>
          </a:xfrm>
          <a:prstGeom prst="rect">
            <a:avLst/>
          </a:prstGeom>
          <a:solidFill>
            <a:schemeClr val="bg1"/>
          </a:solidFill>
        </p:spPr>
        <p:txBody>
          <a:bodyPr wrap="square" rtlCol="0">
            <a:spAutoFit/>
          </a:bodyPr>
          <a:lstStyle>
            <a:defPPr>
              <a:defRPr lang="en-US"/>
            </a:defPPr>
            <a:lvl1pPr algn="ctr">
              <a:defRPr sz="750" b="1">
                <a:solidFill>
                  <a:schemeClr val="accent5"/>
                </a:solidFill>
                <a:latin typeface="Trebuchet MS" panose="020B0603020202020204" pitchFamily="34" charset="0"/>
              </a:defRPr>
            </a:lvl1pPr>
          </a:lstStyle>
          <a:p>
            <a:pPr algn="l" defTabSz="914403">
              <a:defRPr/>
            </a:pPr>
            <a:r>
              <a:rPr lang="en-US" sz="801" b="0" kern="0" dirty="0">
                <a:solidFill>
                  <a:schemeClr val="tx1"/>
                </a:solidFill>
                <a:latin typeface="+mj-lt"/>
              </a:rPr>
              <a:t>Smart generation with advanced monitoring and controls</a:t>
            </a:r>
            <a:endParaRPr sz="801" b="0" kern="0" dirty="0">
              <a:solidFill>
                <a:schemeClr val="tx1"/>
              </a:solidFill>
              <a:latin typeface="+mj-lt"/>
            </a:endParaRPr>
          </a:p>
        </p:txBody>
      </p:sp>
      <p:sp>
        <p:nvSpPr>
          <p:cNvPr id="75" name="object 147">
            <a:extLst>
              <a:ext uri="{FF2B5EF4-FFF2-40B4-BE49-F238E27FC236}">
                <a16:creationId xmlns:a16="http://schemas.microsoft.com/office/drawing/2014/main" id="{58A114AF-5F74-4347-9DB3-32287A83A355}"/>
              </a:ext>
            </a:extLst>
          </p:cNvPr>
          <p:cNvSpPr txBox="1"/>
          <p:nvPr/>
        </p:nvSpPr>
        <p:spPr>
          <a:xfrm>
            <a:off x="6885554" y="2187980"/>
            <a:ext cx="1012846" cy="585288"/>
          </a:xfrm>
          <a:prstGeom prst="rect">
            <a:avLst/>
          </a:prstGeom>
          <a:solidFill>
            <a:schemeClr val="bg1"/>
          </a:solidFill>
        </p:spPr>
        <p:txBody>
          <a:bodyPr wrap="square" rtlCol="0">
            <a:spAutoFit/>
          </a:bodyPr>
          <a:lstStyle>
            <a:defPPr>
              <a:defRPr lang="en-US"/>
            </a:defPPr>
            <a:lvl1pPr algn="ctr">
              <a:defRPr sz="1200" b="1">
                <a:solidFill>
                  <a:schemeClr val="accent5"/>
                </a:solidFill>
              </a:defRPr>
            </a:lvl1pPr>
          </a:lstStyle>
          <a:p>
            <a:pPr algn="l" defTabSz="914403">
              <a:defRPr/>
            </a:pPr>
            <a:r>
              <a:rPr lang="en-US" sz="801" b="0" kern="0" dirty="0">
                <a:solidFill>
                  <a:schemeClr val="tx1"/>
                </a:solidFill>
                <a:latin typeface="+mj-lt"/>
              </a:rPr>
              <a:t>Advanced inter-connected solutions and self-service</a:t>
            </a:r>
            <a:endParaRPr sz="801" b="0" kern="0" dirty="0">
              <a:solidFill>
                <a:schemeClr val="tx1"/>
              </a:solidFill>
              <a:latin typeface="+mj-lt"/>
            </a:endParaRPr>
          </a:p>
        </p:txBody>
      </p:sp>
      <p:sp>
        <p:nvSpPr>
          <p:cNvPr id="76" name="object 24">
            <a:extLst>
              <a:ext uri="{FF2B5EF4-FFF2-40B4-BE49-F238E27FC236}">
                <a16:creationId xmlns:a16="http://schemas.microsoft.com/office/drawing/2014/main" id="{701E4C23-97B4-4424-8899-CD2624C90DAB}"/>
              </a:ext>
            </a:extLst>
          </p:cNvPr>
          <p:cNvSpPr txBox="1"/>
          <p:nvPr/>
        </p:nvSpPr>
        <p:spPr>
          <a:xfrm>
            <a:off x="379333" y="2239587"/>
            <a:ext cx="821439" cy="169405"/>
          </a:xfrm>
          <a:prstGeom prst="rect">
            <a:avLst/>
          </a:prstGeom>
          <a:solidFill>
            <a:schemeClr val="bg1"/>
          </a:solidFill>
        </p:spPr>
        <p:txBody>
          <a:bodyPr vert="horz" wrap="square" lIns="0" tIns="0" rIns="0" bIns="0" rtlCol="0">
            <a:spAutoFit/>
          </a:bodyPr>
          <a:lstStyle/>
          <a:p>
            <a:pPr defTabSz="914403">
              <a:defRPr/>
            </a:pPr>
            <a:r>
              <a:rPr lang="en-US" sz="1101" b="1" kern="0" dirty="0">
                <a:solidFill>
                  <a:srgbClr val="92D400"/>
                </a:solidFill>
                <a:latin typeface="+mj-lt"/>
              </a:rPr>
              <a:t>Evolving</a:t>
            </a:r>
          </a:p>
        </p:txBody>
      </p:sp>
      <p:sp>
        <p:nvSpPr>
          <p:cNvPr id="77" name="Freeform 74">
            <a:extLst>
              <a:ext uri="{FF2B5EF4-FFF2-40B4-BE49-F238E27FC236}">
                <a16:creationId xmlns:a16="http://schemas.microsoft.com/office/drawing/2014/main" id="{DE33617E-F78D-43E6-9252-32E40AB3C40E}"/>
              </a:ext>
            </a:extLst>
          </p:cNvPr>
          <p:cNvSpPr/>
          <p:nvPr/>
        </p:nvSpPr>
        <p:spPr>
          <a:xfrm>
            <a:off x="9510817" y="2453113"/>
            <a:ext cx="268154" cy="248806"/>
          </a:xfrm>
          <a:custGeom>
            <a:avLst/>
            <a:gdLst>
              <a:gd name="connsiteX0" fmla="*/ 3661287 w 3709219"/>
              <a:gd name="connsiteY0" fmla="*/ 4022623 h 4203291"/>
              <a:gd name="connsiteX1" fmla="*/ 3661287 w 3709219"/>
              <a:gd name="connsiteY1" fmla="*/ 4203291 h 4203291"/>
              <a:gd name="connsiteX2" fmla="*/ 3185651 w 3709219"/>
              <a:gd name="connsiteY2" fmla="*/ 4203291 h 4203291"/>
              <a:gd name="connsiteX3" fmla="*/ 3185651 w 3709219"/>
              <a:gd name="connsiteY3" fmla="*/ 3897262 h 4203291"/>
              <a:gd name="connsiteX4" fmla="*/ 3406877 w 3709219"/>
              <a:gd name="connsiteY4" fmla="*/ 3808771 h 4203291"/>
              <a:gd name="connsiteX5" fmla="*/ 3709219 w 3709219"/>
              <a:gd name="connsiteY5" fmla="*/ 3808771 h 4203291"/>
              <a:gd name="connsiteX6" fmla="*/ 0 w 3709219"/>
              <a:gd name="connsiteY6" fmla="*/ 0 h 4203291"/>
              <a:gd name="connsiteX0" fmla="*/ 475636 w 741107"/>
              <a:gd name="connsiteY0" fmla="*/ 213852 h 394520"/>
              <a:gd name="connsiteX1" fmla="*/ 475636 w 741107"/>
              <a:gd name="connsiteY1" fmla="*/ 394520 h 394520"/>
              <a:gd name="connsiteX2" fmla="*/ 0 w 741107"/>
              <a:gd name="connsiteY2" fmla="*/ 394520 h 394520"/>
              <a:gd name="connsiteX3" fmla="*/ 0 w 741107"/>
              <a:gd name="connsiteY3" fmla="*/ 88491 h 394520"/>
              <a:gd name="connsiteX4" fmla="*/ 221226 w 741107"/>
              <a:gd name="connsiteY4" fmla="*/ 0 h 394520"/>
              <a:gd name="connsiteX5" fmla="*/ 523568 w 741107"/>
              <a:gd name="connsiteY5" fmla="*/ 0 h 394520"/>
              <a:gd name="connsiteX6" fmla="*/ 741107 w 741107"/>
              <a:gd name="connsiteY6" fmla="*/ 243348 h 394520"/>
              <a:gd name="connsiteX0" fmla="*/ 475636 w 523568"/>
              <a:gd name="connsiteY0" fmla="*/ 213852 h 394520"/>
              <a:gd name="connsiteX1" fmla="*/ 475636 w 523568"/>
              <a:gd name="connsiteY1" fmla="*/ 394520 h 394520"/>
              <a:gd name="connsiteX2" fmla="*/ 0 w 523568"/>
              <a:gd name="connsiteY2" fmla="*/ 394520 h 394520"/>
              <a:gd name="connsiteX3" fmla="*/ 0 w 523568"/>
              <a:gd name="connsiteY3" fmla="*/ 88491 h 394520"/>
              <a:gd name="connsiteX4" fmla="*/ 221226 w 523568"/>
              <a:gd name="connsiteY4" fmla="*/ 0 h 394520"/>
              <a:gd name="connsiteX5" fmla="*/ 523568 w 523568"/>
              <a:gd name="connsiteY5" fmla="*/ 0 h 394520"/>
              <a:gd name="connsiteX6" fmla="*/ 401894 w 523568"/>
              <a:gd name="connsiteY6" fmla="*/ 140109 h 394520"/>
              <a:gd name="connsiteX0" fmla="*/ 475636 w 475636"/>
              <a:gd name="connsiteY0" fmla="*/ 213852 h 394520"/>
              <a:gd name="connsiteX1" fmla="*/ 475636 w 475636"/>
              <a:gd name="connsiteY1" fmla="*/ 394520 h 394520"/>
              <a:gd name="connsiteX2" fmla="*/ 0 w 475636"/>
              <a:gd name="connsiteY2" fmla="*/ 394520 h 394520"/>
              <a:gd name="connsiteX3" fmla="*/ 0 w 475636"/>
              <a:gd name="connsiteY3" fmla="*/ 88491 h 394520"/>
              <a:gd name="connsiteX4" fmla="*/ 221226 w 475636"/>
              <a:gd name="connsiteY4" fmla="*/ 0 h 394520"/>
              <a:gd name="connsiteX5" fmla="*/ 247035 w 475636"/>
              <a:gd name="connsiteY5" fmla="*/ 110613 h 394520"/>
              <a:gd name="connsiteX6" fmla="*/ 401894 w 475636"/>
              <a:gd name="connsiteY6" fmla="*/ 140109 h 394520"/>
              <a:gd name="connsiteX0" fmla="*/ 475636 w 475636"/>
              <a:gd name="connsiteY0" fmla="*/ 213852 h 394520"/>
              <a:gd name="connsiteX1" fmla="*/ 475636 w 475636"/>
              <a:gd name="connsiteY1" fmla="*/ 394520 h 394520"/>
              <a:gd name="connsiteX2" fmla="*/ 0 w 475636"/>
              <a:gd name="connsiteY2" fmla="*/ 394520 h 394520"/>
              <a:gd name="connsiteX3" fmla="*/ 0 w 475636"/>
              <a:gd name="connsiteY3" fmla="*/ 88491 h 394520"/>
              <a:gd name="connsiteX4" fmla="*/ 221226 w 475636"/>
              <a:gd name="connsiteY4" fmla="*/ 0 h 394520"/>
              <a:gd name="connsiteX5" fmla="*/ 235973 w 475636"/>
              <a:gd name="connsiteY5" fmla="*/ 154858 h 394520"/>
              <a:gd name="connsiteX6" fmla="*/ 401894 w 475636"/>
              <a:gd name="connsiteY6" fmla="*/ 140109 h 394520"/>
              <a:gd name="connsiteX0" fmla="*/ 475636 w 475636"/>
              <a:gd name="connsiteY0" fmla="*/ 213852 h 394520"/>
              <a:gd name="connsiteX1" fmla="*/ 475636 w 475636"/>
              <a:gd name="connsiteY1" fmla="*/ 394520 h 394520"/>
              <a:gd name="connsiteX2" fmla="*/ 0 w 475636"/>
              <a:gd name="connsiteY2" fmla="*/ 394520 h 394520"/>
              <a:gd name="connsiteX3" fmla="*/ 0 w 475636"/>
              <a:gd name="connsiteY3" fmla="*/ 88491 h 394520"/>
              <a:gd name="connsiteX4" fmla="*/ 221226 w 475636"/>
              <a:gd name="connsiteY4" fmla="*/ 0 h 394520"/>
              <a:gd name="connsiteX5" fmla="*/ 235204 w 475636"/>
              <a:gd name="connsiteY5" fmla="*/ 62586 h 394520"/>
              <a:gd name="connsiteX6" fmla="*/ 235973 w 475636"/>
              <a:gd name="connsiteY6" fmla="*/ 154858 h 394520"/>
              <a:gd name="connsiteX7" fmla="*/ 401894 w 475636"/>
              <a:gd name="connsiteY7" fmla="*/ 140109 h 394520"/>
              <a:gd name="connsiteX0" fmla="*/ 475636 w 475636"/>
              <a:gd name="connsiteY0" fmla="*/ 192309 h 372977"/>
              <a:gd name="connsiteX1" fmla="*/ 475636 w 475636"/>
              <a:gd name="connsiteY1" fmla="*/ 372977 h 372977"/>
              <a:gd name="connsiteX2" fmla="*/ 0 w 475636"/>
              <a:gd name="connsiteY2" fmla="*/ 372977 h 372977"/>
              <a:gd name="connsiteX3" fmla="*/ 0 w 475636"/>
              <a:gd name="connsiteY3" fmla="*/ 66948 h 372977"/>
              <a:gd name="connsiteX4" fmla="*/ 239179 w 475636"/>
              <a:gd name="connsiteY4" fmla="*/ 0 h 372977"/>
              <a:gd name="connsiteX5" fmla="*/ 235204 w 475636"/>
              <a:gd name="connsiteY5" fmla="*/ 41043 h 372977"/>
              <a:gd name="connsiteX6" fmla="*/ 235973 w 475636"/>
              <a:gd name="connsiteY6" fmla="*/ 133315 h 372977"/>
              <a:gd name="connsiteX7" fmla="*/ 401894 w 475636"/>
              <a:gd name="connsiteY7" fmla="*/ 118566 h 372977"/>
              <a:gd name="connsiteX0" fmla="*/ 475636 w 475636"/>
              <a:gd name="connsiteY0" fmla="*/ 192309 h 372977"/>
              <a:gd name="connsiteX1" fmla="*/ 475636 w 475636"/>
              <a:gd name="connsiteY1" fmla="*/ 372977 h 372977"/>
              <a:gd name="connsiteX2" fmla="*/ 0 w 475636"/>
              <a:gd name="connsiteY2" fmla="*/ 372977 h 372977"/>
              <a:gd name="connsiteX3" fmla="*/ 0 w 475636"/>
              <a:gd name="connsiteY3" fmla="*/ 66948 h 372977"/>
              <a:gd name="connsiteX4" fmla="*/ 239179 w 475636"/>
              <a:gd name="connsiteY4" fmla="*/ 0 h 372977"/>
              <a:gd name="connsiteX5" fmla="*/ 307015 w 475636"/>
              <a:gd name="connsiteY5" fmla="*/ 76948 h 372977"/>
              <a:gd name="connsiteX6" fmla="*/ 235973 w 475636"/>
              <a:gd name="connsiteY6" fmla="*/ 133315 h 372977"/>
              <a:gd name="connsiteX7" fmla="*/ 401894 w 475636"/>
              <a:gd name="connsiteY7" fmla="*/ 118566 h 372977"/>
              <a:gd name="connsiteX0" fmla="*/ 475636 w 475636"/>
              <a:gd name="connsiteY0" fmla="*/ 192309 h 372977"/>
              <a:gd name="connsiteX1" fmla="*/ 475636 w 475636"/>
              <a:gd name="connsiteY1" fmla="*/ 372977 h 372977"/>
              <a:gd name="connsiteX2" fmla="*/ 0 w 475636"/>
              <a:gd name="connsiteY2" fmla="*/ 372977 h 372977"/>
              <a:gd name="connsiteX3" fmla="*/ 0 w 475636"/>
              <a:gd name="connsiteY3" fmla="*/ 66948 h 372977"/>
              <a:gd name="connsiteX4" fmla="*/ 239179 w 475636"/>
              <a:gd name="connsiteY4" fmla="*/ 0 h 372977"/>
              <a:gd name="connsiteX5" fmla="*/ 307015 w 475636"/>
              <a:gd name="connsiteY5" fmla="*/ 76948 h 372977"/>
              <a:gd name="connsiteX6" fmla="*/ 235973 w 475636"/>
              <a:gd name="connsiteY6" fmla="*/ 133315 h 372977"/>
              <a:gd name="connsiteX7" fmla="*/ 329755 w 475636"/>
              <a:gd name="connsiteY7" fmla="*/ 98492 h 372977"/>
              <a:gd name="connsiteX8" fmla="*/ 401894 w 475636"/>
              <a:gd name="connsiteY8" fmla="*/ 118566 h 372977"/>
              <a:gd name="connsiteX0" fmla="*/ 475636 w 475636"/>
              <a:gd name="connsiteY0" fmla="*/ 192309 h 372977"/>
              <a:gd name="connsiteX1" fmla="*/ 475636 w 475636"/>
              <a:gd name="connsiteY1" fmla="*/ 372977 h 372977"/>
              <a:gd name="connsiteX2" fmla="*/ 0 w 475636"/>
              <a:gd name="connsiteY2" fmla="*/ 372977 h 372977"/>
              <a:gd name="connsiteX3" fmla="*/ 0 w 475636"/>
              <a:gd name="connsiteY3" fmla="*/ 66948 h 372977"/>
              <a:gd name="connsiteX4" fmla="*/ 239179 w 475636"/>
              <a:gd name="connsiteY4" fmla="*/ 0 h 372977"/>
              <a:gd name="connsiteX5" fmla="*/ 307015 w 475636"/>
              <a:gd name="connsiteY5" fmla="*/ 76948 h 372977"/>
              <a:gd name="connsiteX6" fmla="*/ 235973 w 475636"/>
              <a:gd name="connsiteY6" fmla="*/ 133315 h 372977"/>
              <a:gd name="connsiteX7" fmla="*/ 329755 w 475636"/>
              <a:gd name="connsiteY7" fmla="*/ 98492 h 372977"/>
              <a:gd name="connsiteX8" fmla="*/ 365989 w 475636"/>
              <a:gd name="connsiteY8" fmla="*/ 141307 h 372977"/>
              <a:gd name="connsiteX0" fmla="*/ 475636 w 475636"/>
              <a:gd name="connsiteY0" fmla="*/ 192309 h 376567"/>
              <a:gd name="connsiteX1" fmla="*/ 397841 w 475636"/>
              <a:gd name="connsiteY1" fmla="*/ 376567 h 376567"/>
              <a:gd name="connsiteX2" fmla="*/ 0 w 475636"/>
              <a:gd name="connsiteY2" fmla="*/ 372977 h 376567"/>
              <a:gd name="connsiteX3" fmla="*/ 0 w 475636"/>
              <a:gd name="connsiteY3" fmla="*/ 66948 h 376567"/>
              <a:gd name="connsiteX4" fmla="*/ 239179 w 475636"/>
              <a:gd name="connsiteY4" fmla="*/ 0 h 376567"/>
              <a:gd name="connsiteX5" fmla="*/ 307015 w 475636"/>
              <a:gd name="connsiteY5" fmla="*/ 76948 h 376567"/>
              <a:gd name="connsiteX6" fmla="*/ 235973 w 475636"/>
              <a:gd name="connsiteY6" fmla="*/ 133315 h 376567"/>
              <a:gd name="connsiteX7" fmla="*/ 329755 w 475636"/>
              <a:gd name="connsiteY7" fmla="*/ 98492 h 376567"/>
              <a:gd name="connsiteX8" fmla="*/ 365989 w 475636"/>
              <a:gd name="connsiteY8" fmla="*/ 141307 h 376567"/>
              <a:gd name="connsiteX0" fmla="*/ 475636 w 475636"/>
              <a:gd name="connsiteY0" fmla="*/ 192309 h 376567"/>
              <a:gd name="connsiteX1" fmla="*/ 397976 w 475636"/>
              <a:gd name="connsiteY1" fmla="*/ 201422 h 376567"/>
              <a:gd name="connsiteX2" fmla="*/ 397841 w 475636"/>
              <a:gd name="connsiteY2" fmla="*/ 376567 h 376567"/>
              <a:gd name="connsiteX3" fmla="*/ 0 w 475636"/>
              <a:gd name="connsiteY3" fmla="*/ 372977 h 376567"/>
              <a:gd name="connsiteX4" fmla="*/ 0 w 475636"/>
              <a:gd name="connsiteY4" fmla="*/ 66948 h 376567"/>
              <a:gd name="connsiteX5" fmla="*/ 239179 w 475636"/>
              <a:gd name="connsiteY5" fmla="*/ 0 h 376567"/>
              <a:gd name="connsiteX6" fmla="*/ 307015 w 475636"/>
              <a:gd name="connsiteY6" fmla="*/ 76948 h 376567"/>
              <a:gd name="connsiteX7" fmla="*/ 235973 w 475636"/>
              <a:gd name="connsiteY7" fmla="*/ 133315 h 376567"/>
              <a:gd name="connsiteX8" fmla="*/ 329755 w 475636"/>
              <a:gd name="connsiteY8" fmla="*/ 98492 h 376567"/>
              <a:gd name="connsiteX9" fmla="*/ 365989 w 475636"/>
              <a:gd name="connsiteY9" fmla="*/ 141307 h 376567"/>
              <a:gd name="connsiteX0" fmla="*/ 397976 w 397976"/>
              <a:gd name="connsiteY0" fmla="*/ 201422 h 376567"/>
              <a:gd name="connsiteX1" fmla="*/ 397841 w 397976"/>
              <a:gd name="connsiteY1" fmla="*/ 376567 h 376567"/>
              <a:gd name="connsiteX2" fmla="*/ 0 w 397976"/>
              <a:gd name="connsiteY2" fmla="*/ 372977 h 376567"/>
              <a:gd name="connsiteX3" fmla="*/ 0 w 397976"/>
              <a:gd name="connsiteY3" fmla="*/ 66948 h 376567"/>
              <a:gd name="connsiteX4" fmla="*/ 239179 w 397976"/>
              <a:gd name="connsiteY4" fmla="*/ 0 h 376567"/>
              <a:gd name="connsiteX5" fmla="*/ 307015 w 397976"/>
              <a:gd name="connsiteY5" fmla="*/ 76948 h 376567"/>
              <a:gd name="connsiteX6" fmla="*/ 235973 w 397976"/>
              <a:gd name="connsiteY6" fmla="*/ 133315 h 376567"/>
              <a:gd name="connsiteX7" fmla="*/ 329755 w 397976"/>
              <a:gd name="connsiteY7" fmla="*/ 98492 h 376567"/>
              <a:gd name="connsiteX8" fmla="*/ 365989 w 397976"/>
              <a:gd name="connsiteY8" fmla="*/ 141307 h 376567"/>
              <a:gd name="connsiteX0" fmla="*/ 397976 w 397976"/>
              <a:gd name="connsiteY0" fmla="*/ 201422 h 376567"/>
              <a:gd name="connsiteX1" fmla="*/ 397841 w 397976"/>
              <a:gd name="connsiteY1" fmla="*/ 376567 h 376567"/>
              <a:gd name="connsiteX2" fmla="*/ 0 w 397976"/>
              <a:gd name="connsiteY2" fmla="*/ 372977 h 376567"/>
              <a:gd name="connsiteX3" fmla="*/ 0 w 397976"/>
              <a:gd name="connsiteY3" fmla="*/ 66948 h 376567"/>
              <a:gd name="connsiteX4" fmla="*/ 239179 w 397976"/>
              <a:gd name="connsiteY4" fmla="*/ 0 h 376567"/>
              <a:gd name="connsiteX5" fmla="*/ 307015 w 397976"/>
              <a:gd name="connsiteY5" fmla="*/ 76948 h 376567"/>
              <a:gd name="connsiteX6" fmla="*/ 235973 w 397976"/>
              <a:gd name="connsiteY6" fmla="*/ 133315 h 376567"/>
              <a:gd name="connsiteX7" fmla="*/ 365989 w 397976"/>
              <a:gd name="connsiteY7" fmla="*/ 141307 h 376567"/>
              <a:gd name="connsiteX0" fmla="*/ 397976 w 397976"/>
              <a:gd name="connsiteY0" fmla="*/ 201422 h 376567"/>
              <a:gd name="connsiteX1" fmla="*/ 397841 w 397976"/>
              <a:gd name="connsiteY1" fmla="*/ 376567 h 376567"/>
              <a:gd name="connsiteX2" fmla="*/ 0 w 397976"/>
              <a:gd name="connsiteY2" fmla="*/ 372977 h 376567"/>
              <a:gd name="connsiteX3" fmla="*/ 0 w 397976"/>
              <a:gd name="connsiteY3" fmla="*/ 66948 h 376567"/>
              <a:gd name="connsiteX4" fmla="*/ 239179 w 397976"/>
              <a:gd name="connsiteY4" fmla="*/ 0 h 376567"/>
              <a:gd name="connsiteX5" fmla="*/ 307015 w 397976"/>
              <a:gd name="connsiteY5" fmla="*/ 76948 h 376567"/>
              <a:gd name="connsiteX6" fmla="*/ 365989 w 397976"/>
              <a:gd name="connsiteY6" fmla="*/ 141307 h 376567"/>
              <a:gd name="connsiteX0" fmla="*/ 397976 w 397976"/>
              <a:gd name="connsiteY0" fmla="*/ 201422 h 376567"/>
              <a:gd name="connsiteX1" fmla="*/ 397841 w 397976"/>
              <a:gd name="connsiteY1" fmla="*/ 376567 h 376567"/>
              <a:gd name="connsiteX2" fmla="*/ 0 w 397976"/>
              <a:gd name="connsiteY2" fmla="*/ 372977 h 376567"/>
              <a:gd name="connsiteX3" fmla="*/ 0 w 397976"/>
              <a:gd name="connsiteY3" fmla="*/ 66948 h 376567"/>
              <a:gd name="connsiteX4" fmla="*/ 239179 w 397976"/>
              <a:gd name="connsiteY4" fmla="*/ 0 h 376567"/>
              <a:gd name="connsiteX5" fmla="*/ 307015 w 397976"/>
              <a:gd name="connsiteY5" fmla="*/ 76948 h 376567"/>
              <a:gd name="connsiteX0" fmla="*/ 397976 w 397976"/>
              <a:gd name="connsiteY0" fmla="*/ 201422 h 376567"/>
              <a:gd name="connsiteX1" fmla="*/ 397841 w 397976"/>
              <a:gd name="connsiteY1" fmla="*/ 376567 h 376567"/>
              <a:gd name="connsiteX2" fmla="*/ 0 w 397976"/>
              <a:gd name="connsiteY2" fmla="*/ 372977 h 376567"/>
              <a:gd name="connsiteX3" fmla="*/ 0 w 397976"/>
              <a:gd name="connsiteY3" fmla="*/ 66948 h 376567"/>
              <a:gd name="connsiteX4" fmla="*/ 239179 w 397976"/>
              <a:gd name="connsiteY4" fmla="*/ 0 h 376567"/>
              <a:gd name="connsiteX0" fmla="*/ 397976 w 397976"/>
              <a:gd name="connsiteY0" fmla="*/ 201422 h 376567"/>
              <a:gd name="connsiteX1" fmla="*/ 397841 w 397976"/>
              <a:gd name="connsiteY1" fmla="*/ 376567 h 376567"/>
              <a:gd name="connsiteX2" fmla="*/ 0 w 397976"/>
              <a:gd name="connsiteY2" fmla="*/ 372977 h 376567"/>
              <a:gd name="connsiteX3" fmla="*/ 0 w 397976"/>
              <a:gd name="connsiteY3" fmla="*/ 66948 h 376567"/>
              <a:gd name="connsiteX4" fmla="*/ 239179 w 397976"/>
              <a:gd name="connsiteY4" fmla="*/ 0 h 376567"/>
              <a:gd name="connsiteX5" fmla="*/ 397976 w 397976"/>
              <a:gd name="connsiteY5" fmla="*/ 201422 h 376567"/>
              <a:gd name="connsiteX0" fmla="*/ 397976 w 397976"/>
              <a:gd name="connsiteY0" fmla="*/ 134474 h 309619"/>
              <a:gd name="connsiteX1" fmla="*/ 397841 w 397976"/>
              <a:gd name="connsiteY1" fmla="*/ 309619 h 309619"/>
              <a:gd name="connsiteX2" fmla="*/ 0 w 397976"/>
              <a:gd name="connsiteY2" fmla="*/ 306029 h 309619"/>
              <a:gd name="connsiteX3" fmla="*/ 0 w 397976"/>
              <a:gd name="connsiteY3" fmla="*/ 0 h 309619"/>
              <a:gd name="connsiteX4" fmla="*/ 233195 w 397976"/>
              <a:gd name="connsiteY4" fmla="*/ 14439 h 309619"/>
              <a:gd name="connsiteX5" fmla="*/ 397976 w 397976"/>
              <a:gd name="connsiteY5" fmla="*/ 134474 h 309619"/>
              <a:gd name="connsiteX0" fmla="*/ 397976 w 397976"/>
              <a:gd name="connsiteY0" fmla="*/ 120035 h 295180"/>
              <a:gd name="connsiteX1" fmla="*/ 397841 w 397976"/>
              <a:gd name="connsiteY1" fmla="*/ 295180 h 295180"/>
              <a:gd name="connsiteX2" fmla="*/ 0 w 397976"/>
              <a:gd name="connsiteY2" fmla="*/ 291590 h 295180"/>
              <a:gd name="connsiteX3" fmla="*/ 5984 w 397976"/>
              <a:gd name="connsiteY3" fmla="*/ 51389 h 295180"/>
              <a:gd name="connsiteX4" fmla="*/ 233195 w 397976"/>
              <a:gd name="connsiteY4" fmla="*/ 0 h 295180"/>
              <a:gd name="connsiteX5" fmla="*/ 397976 w 397976"/>
              <a:gd name="connsiteY5" fmla="*/ 120035 h 295180"/>
              <a:gd name="connsiteX0" fmla="*/ 400370 w 400370"/>
              <a:gd name="connsiteY0" fmla="*/ 120035 h 295180"/>
              <a:gd name="connsiteX1" fmla="*/ 400235 w 400370"/>
              <a:gd name="connsiteY1" fmla="*/ 295180 h 295180"/>
              <a:gd name="connsiteX2" fmla="*/ 2394 w 400370"/>
              <a:gd name="connsiteY2" fmla="*/ 291590 h 295180"/>
              <a:gd name="connsiteX3" fmla="*/ 0 w 400370"/>
              <a:gd name="connsiteY3" fmla="*/ 53783 h 295180"/>
              <a:gd name="connsiteX4" fmla="*/ 235589 w 400370"/>
              <a:gd name="connsiteY4" fmla="*/ 0 h 295180"/>
              <a:gd name="connsiteX5" fmla="*/ 400370 w 400370"/>
              <a:gd name="connsiteY5" fmla="*/ 120035 h 295180"/>
              <a:gd name="connsiteX0" fmla="*/ 400370 w 400370"/>
              <a:gd name="connsiteY0" fmla="*/ 88917 h 264062"/>
              <a:gd name="connsiteX1" fmla="*/ 400235 w 400370"/>
              <a:gd name="connsiteY1" fmla="*/ 264062 h 264062"/>
              <a:gd name="connsiteX2" fmla="*/ 2394 w 400370"/>
              <a:gd name="connsiteY2" fmla="*/ 260472 h 264062"/>
              <a:gd name="connsiteX3" fmla="*/ 0 w 400370"/>
              <a:gd name="connsiteY3" fmla="*/ 22665 h 264062"/>
              <a:gd name="connsiteX4" fmla="*/ 243967 w 400370"/>
              <a:gd name="connsiteY4" fmla="*/ 0 h 264062"/>
              <a:gd name="connsiteX5" fmla="*/ 400370 w 400370"/>
              <a:gd name="connsiteY5" fmla="*/ 88917 h 264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370" h="264062">
                <a:moveTo>
                  <a:pt x="400370" y="88917"/>
                </a:moveTo>
                <a:lnTo>
                  <a:pt x="400235" y="264062"/>
                </a:lnTo>
                <a:lnTo>
                  <a:pt x="2394" y="260472"/>
                </a:lnTo>
                <a:lnTo>
                  <a:pt x="0" y="22665"/>
                </a:lnTo>
                <a:lnTo>
                  <a:pt x="243967" y="0"/>
                </a:lnTo>
                <a:lnTo>
                  <a:pt x="400370" y="88917"/>
                </a:lnTo>
                <a:close/>
              </a:path>
            </a:pathLst>
          </a:custGeom>
          <a:solidFill>
            <a:srgbClr val="92D400"/>
          </a:solidFill>
          <a:ln w="12700" cap="flat" cmpd="sng" algn="ctr">
            <a:noFill/>
            <a:prstDash val="solid"/>
            <a:miter lim="800000"/>
          </a:ln>
          <a:effectLst/>
        </p:spPr>
        <p:txBody>
          <a:bodyPr rtlCol="0" anchor="ctr"/>
          <a:lstStyle/>
          <a:p>
            <a:pPr algn="ctr" defTabSz="914403">
              <a:defRPr/>
            </a:pPr>
            <a:endParaRPr lang="en-US" sz="600" kern="0" dirty="0">
              <a:solidFill>
                <a:prstClr val="white"/>
              </a:solidFill>
              <a:latin typeface="+mj-lt"/>
            </a:endParaRPr>
          </a:p>
        </p:txBody>
      </p:sp>
      <p:sp>
        <p:nvSpPr>
          <p:cNvPr id="93" name="Freeform 35">
            <a:extLst>
              <a:ext uri="{FF2B5EF4-FFF2-40B4-BE49-F238E27FC236}">
                <a16:creationId xmlns:a16="http://schemas.microsoft.com/office/drawing/2014/main" id="{2AF95590-24E3-4F5C-9281-30F99A5E130D}"/>
              </a:ext>
            </a:extLst>
          </p:cNvPr>
          <p:cNvSpPr>
            <a:spLocks noEditPoints="1"/>
          </p:cNvSpPr>
          <p:nvPr/>
        </p:nvSpPr>
        <p:spPr bwMode="auto">
          <a:xfrm>
            <a:off x="8918355" y="2149686"/>
            <a:ext cx="583349" cy="552234"/>
          </a:xfrm>
          <a:custGeom>
            <a:avLst/>
            <a:gdLst>
              <a:gd name="T0" fmla="*/ 548 w 548"/>
              <a:gd name="T1" fmla="*/ 34 h 298"/>
              <a:gd name="T2" fmla="*/ 463 w 548"/>
              <a:gd name="T3" fmla="*/ 298 h 298"/>
              <a:gd name="T4" fmla="*/ 364 w 548"/>
              <a:gd name="T5" fmla="*/ 298 h 298"/>
              <a:gd name="T6" fmla="*/ 323 w 548"/>
              <a:gd name="T7" fmla="*/ 190 h 298"/>
              <a:gd name="T8" fmla="*/ 227 w 548"/>
              <a:gd name="T9" fmla="*/ 174 h 298"/>
              <a:gd name="T10" fmla="*/ 0 w 548"/>
              <a:gd name="T11" fmla="*/ 183 h 298"/>
              <a:gd name="T12" fmla="*/ 227 w 548"/>
              <a:gd name="T13" fmla="*/ 133 h 298"/>
              <a:gd name="T14" fmla="*/ 0 w 548"/>
              <a:gd name="T15" fmla="*/ 148 h 298"/>
              <a:gd name="T16" fmla="*/ 364 w 548"/>
              <a:gd name="T17" fmla="*/ 142 h 298"/>
              <a:gd name="T18" fmla="*/ 463 w 548"/>
              <a:gd name="T19" fmla="*/ 131 h 298"/>
              <a:gd name="T20" fmla="*/ 323 w 548"/>
              <a:gd name="T21" fmla="*/ 130 h 298"/>
              <a:gd name="T22" fmla="*/ 463 w 548"/>
              <a:gd name="T23" fmla="*/ 104 h 298"/>
              <a:gd name="T24" fmla="*/ 323 w 548"/>
              <a:gd name="T25" fmla="*/ 106 h 298"/>
              <a:gd name="T26" fmla="*/ 463 w 548"/>
              <a:gd name="T27" fmla="*/ 78 h 298"/>
              <a:gd name="T28" fmla="*/ 323 w 548"/>
              <a:gd name="T29" fmla="*/ 83 h 298"/>
              <a:gd name="T30" fmla="*/ 463 w 548"/>
              <a:gd name="T31" fmla="*/ 52 h 298"/>
              <a:gd name="T32" fmla="*/ 323 w 548"/>
              <a:gd name="T33" fmla="*/ 59 h 298"/>
              <a:gd name="T34" fmla="*/ 463 w 548"/>
              <a:gd name="T35" fmla="*/ 26 h 298"/>
              <a:gd name="T36" fmla="*/ 323 w 548"/>
              <a:gd name="T37" fmla="*/ 35 h 298"/>
              <a:gd name="T38" fmla="*/ 463 w 548"/>
              <a:gd name="T39" fmla="*/ 0 h 298"/>
              <a:gd name="T40" fmla="*/ 0 w 548"/>
              <a:gd name="T41" fmla="*/ 218 h 298"/>
              <a:gd name="T42" fmla="*/ 159 w 548"/>
              <a:gd name="T43" fmla="*/ 219 h 298"/>
              <a:gd name="T44" fmla="*/ 159 w 548"/>
              <a:gd name="T45" fmla="*/ 243 h 298"/>
              <a:gd name="T46" fmla="*/ 0 w 548"/>
              <a:gd name="T47" fmla="*/ 263 h 298"/>
              <a:gd name="T48" fmla="*/ 159 w 548"/>
              <a:gd name="T49" fmla="*/ 243 h 298"/>
              <a:gd name="T50" fmla="*/ 0 w 548"/>
              <a:gd name="T51" fmla="*/ 287 h 298"/>
              <a:gd name="T52" fmla="*/ 159 w 548"/>
              <a:gd name="T53" fmla="*/ 298 h 298"/>
              <a:gd name="T54" fmla="*/ 387 w 548"/>
              <a:gd name="T55" fmla="*/ 198 h 298"/>
              <a:gd name="T56" fmla="*/ 411 w 548"/>
              <a:gd name="T57" fmla="*/ 213 h 298"/>
              <a:gd name="T58" fmla="*/ 463 w 548"/>
              <a:gd name="T59" fmla="*/ 193 h 298"/>
              <a:gd name="T60" fmla="*/ 411 w 548"/>
              <a:gd name="T61" fmla="*/ 222 h 298"/>
              <a:gd name="T62" fmla="*/ 463 w 548"/>
              <a:gd name="T63" fmla="*/ 235 h 298"/>
              <a:gd name="T64" fmla="*/ 411 w 548"/>
              <a:gd name="T65" fmla="*/ 222 h 298"/>
              <a:gd name="T66" fmla="*/ 411 w 548"/>
              <a:gd name="T67" fmla="*/ 263 h 298"/>
              <a:gd name="T68" fmla="*/ 463 w 548"/>
              <a:gd name="T69" fmla="*/ 245 h 298"/>
              <a:gd name="T70" fmla="*/ 411 w 548"/>
              <a:gd name="T71" fmla="*/ 272 h 298"/>
              <a:gd name="T72" fmla="*/ 463 w 548"/>
              <a:gd name="T73" fmla="*/ 288 h 298"/>
              <a:gd name="T74" fmla="*/ 411 w 548"/>
              <a:gd name="T75" fmla="*/ 272 h 298"/>
              <a:gd name="T76" fmla="*/ 463 w 548"/>
              <a:gd name="T77" fmla="*/ 183 h 298"/>
              <a:gd name="T78" fmla="*/ 364 w 548"/>
              <a:gd name="T79" fmla="*/ 175 h 298"/>
              <a:gd name="T80" fmla="*/ 364 w 548"/>
              <a:gd name="T81" fmla="*/ 167 h 298"/>
              <a:gd name="T82" fmla="*/ 463 w 548"/>
              <a:gd name="T83" fmla="*/ 140 h 298"/>
              <a:gd name="T84" fmla="*/ 364 w 548"/>
              <a:gd name="T85" fmla="*/ 167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48" h="298">
                <a:moveTo>
                  <a:pt x="463" y="0"/>
                </a:moveTo>
                <a:cubicBezTo>
                  <a:pt x="548" y="34"/>
                  <a:pt x="548" y="34"/>
                  <a:pt x="548" y="34"/>
                </a:cubicBezTo>
                <a:cubicBezTo>
                  <a:pt x="548" y="298"/>
                  <a:pt x="548" y="298"/>
                  <a:pt x="548" y="298"/>
                </a:cubicBezTo>
                <a:cubicBezTo>
                  <a:pt x="463" y="298"/>
                  <a:pt x="463" y="298"/>
                  <a:pt x="463" y="298"/>
                </a:cubicBezTo>
                <a:cubicBezTo>
                  <a:pt x="411" y="298"/>
                  <a:pt x="411" y="298"/>
                  <a:pt x="411" y="298"/>
                </a:cubicBezTo>
                <a:cubicBezTo>
                  <a:pt x="364" y="298"/>
                  <a:pt x="364" y="298"/>
                  <a:pt x="364" y="298"/>
                </a:cubicBezTo>
                <a:cubicBezTo>
                  <a:pt x="323" y="298"/>
                  <a:pt x="323" y="298"/>
                  <a:pt x="323" y="298"/>
                </a:cubicBezTo>
                <a:cubicBezTo>
                  <a:pt x="323" y="190"/>
                  <a:pt x="323" y="190"/>
                  <a:pt x="323" y="190"/>
                </a:cubicBezTo>
                <a:cubicBezTo>
                  <a:pt x="227" y="197"/>
                  <a:pt x="227" y="197"/>
                  <a:pt x="227" y="197"/>
                </a:cubicBezTo>
                <a:cubicBezTo>
                  <a:pt x="227" y="174"/>
                  <a:pt x="227" y="174"/>
                  <a:pt x="227" y="174"/>
                </a:cubicBezTo>
                <a:cubicBezTo>
                  <a:pt x="152" y="181"/>
                  <a:pt x="76" y="187"/>
                  <a:pt x="0" y="194"/>
                </a:cubicBezTo>
                <a:cubicBezTo>
                  <a:pt x="0" y="190"/>
                  <a:pt x="0" y="187"/>
                  <a:pt x="0" y="183"/>
                </a:cubicBezTo>
                <a:cubicBezTo>
                  <a:pt x="76" y="174"/>
                  <a:pt x="152" y="166"/>
                  <a:pt x="227" y="157"/>
                </a:cubicBezTo>
                <a:cubicBezTo>
                  <a:pt x="227" y="133"/>
                  <a:pt x="227" y="133"/>
                  <a:pt x="227" y="133"/>
                </a:cubicBezTo>
                <a:cubicBezTo>
                  <a:pt x="0" y="159"/>
                  <a:pt x="0" y="159"/>
                  <a:pt x="0" y="159"/>
                </a:cubicBezTo>
                <a:cubicBezTo>
                  <a:pt x="0" y="148"/>
                  <a:pt x="0" y="148"/>
                  <a:pt x="0" y="148"/>
                </a:cubicBezTo>
                <a:cubicBezTo>
                  <a:pt x="227" y="116"/>
                  <a:pt x="227" y="116"/>
                  <a:pt x="227" y="116"/>
                </a:cubicBezTo>
                <a:cubicBezTo>
                  <a:pt x="364" y="142"/>
                  <a:pt x="364" y="142"/>
                  <a:pt x="364" y="142"/>
                </a:cubicBezTo>
                <a:cubicBezTo>
                  <a:pt x="364" y="142"/>
                  <a:pt x="364" y="142"/>
                  <a:pt x="364" y="142"/>
                </a:cubicBezTo>
                <a:cubicBezTo>
                  <a:pt x="463" y="131"/>
                  <a:pt x="463" y="131"/>
                  <a:pt x="463" y="131"/>
                </a:cubicBezTo>
                <a:cubicBezTo>
                  <a:pt x="463" y="114"/>
                  <a:pt x="463" y="114"/>
                  <a:pt x="463" y="114"/>
                </a:cubicBezTo>
                <a:cubicBezTo>
                  <a:pt x="417" y="120"/>
                  <a:pt x="370" y="125"/>
                  <a:pt x="323" y="130"/>
                </a:cubicBezTo>
                <a:cubicBezTo>
                  <a:pt x="323" y="128"/>
                  <a:pt x="323" y="125"/>
                  <a:pt x="323" y="123"/>
                </a:cubicBezTo>
                <a:cubicBezTo>
                  <a:pt x="370" y="117"/>
                  <a:pt x="417" y="111"/>
                  <a:pt x="463" y="104"/>
                </a:cubicBezTo>
                <a:cubicBezTo>
                  <a:pt x="463" y="88"/>
                  <a:pt x="463" y="88"/>
                  <a:pt x="463" y="88"/>
                </a:cubicBezTo>
                <a:cubicBezTo>
                  <a:pt x="417" y="94"/>
                  <a:pt x="370" y="100"/>
                  <a:pt x="323" y="106"/>
                </a:cubicBezTo>
                <a:cubicBezTo>
                  <a:pt x="323" y="104"/>
                  <a:pt x="323" y="102"/>
                  <a:pt x="323" y="99"/>
                </a:cubicBezTo>
                <a:cubicBezTo>
                  <a:pt x="370" y="92"/>
                  <a:pt x="417" y="85"/>
                  <a:pt x="463" y="78"/>
                </a:cubicBezTo>
                <a:cubicBezTo>
                  <a:pt x="463" y="62"/>
                  <a:pt x="463" y="62"/>
                  <a:pt x="463" y="62"/>
                </a:cubicBezTo>
                <a:cubicBezTo>
                  <a:pt x="417" y="69"/>
                  <a:pt x="370" y="76"/>
                  <a:pt x="323" y="83"/>
                </a:cubicBezTo>
                <a:cubicBezTo>
                  <a:pt x="323" y="80"/>
                  <a:pt x="323" y="78"/>
                  <a:pt x="323" y="75"/>
                </a:cubicBezTo>
                <a:cubicBezTo>
                  <a:pt x="370" y="67"/>
                  <a:pt x="417" y="60"/>
                  <a:pt x="463" y="52"/>
                </a:cubicBezTo>
                <a:cubicBezTo>
                  <a:pt x="463" y="36"/>
                  <a:pt x="463" y="36"/>
                  <a:pt x="463" y="36"/>
                </a:cubicBezTo>
                <a:cubicBezTo>
                  <a:pt x="417" y="43"/>
                  <a:pt x="370" y="51"/>
                  <a:pt x="323" y="59"/>
                </a:cubicBezTo>
                <a:cubicBezTo>
                  <a:pt x="323" y="56"/>
                  <a:pt x="323" y="54"/>
                  <a:pt x="323" y="51"/>
                </a:cubicBezTo>
                <a:cubicBezTo>
                  <a:pt x="370" y="43"/>
                  <a:pt x="417" y="34"/>
                  <a:pt x="463" y="26"/>
                </a:cubicBezTo>
                <a:cubicBezTo>
                  <a:pt x="463" y="9"/>
                  <a:pt x="463" y="9"/>
                  <a:pt x="463" y="9"/>
                </a:cubicBezTo>
                <a:cubicBezTo>
                  <a:pt x="323" y="35"/>
                  <a:pt x="323" y="35"/>
                  <a:pt x="323" y="35"/>
                </a:cubicBezTo>
                <a:cubicBezTo>
                  <a:pt x="323" y="27"/>
                  <a:pt x="323" y="27"/>
                  <a:pt x="323" y="27"/>
                </a:cubicBezTo>
                <a:cubicBezTo>
                  <a:pt x="463" y="0"/>
                  <a:pt x="463" y="0"/>
                  <a:pt x="463" y="0"/>
                </a:cubicBezTo>
                <a:close/>
                <a:moveTo>
                  <a:pt x="159" y="204"/>
                </a:moveTo>
                <a:cubicBezTo>
                  <a:pt x="0" y="218"/>
                  <a:pt x="0" y="218"/>
                  <a:pt x="0" y="218"/>
                </a:cubicBezTo>
                <a:cubicBezTo>
                  <a:pt x="0" y="221"/>
                  <a:pt x="0" y="225"/>
                  <a:pt x="0" y="228"/>
                </a:cubicBezTo>
                <a:cubicBezTo>
                  <a:pt x="159" y="219"/>
                  <a:pt x="159" y="219"/>
                  <a:pt x="159" y="219"/>
                </a:cubicBezTo>
                <a:cubicBezTo>
                  <a:pt x="159" y="204"/>
                  <a:pt x="159" y="204"/>
                  <a:pt x="159" y="204"/>
                </a:cubicBezTo>
                <a:close/>
                <a:moveTo>
                  <a:pt x="159" y="243"/>
                </a:moveTo>
                <a:cubicBezTo>
                  <a:pt x="0" y="252"/>
                  <a:pt x="0" y="252"/>
                  <a:pt x="0" y="252"/>
                </a:cubicBezTo>
                <a:cubicBezTo>
                  <a:pt x="0" y="256"/>
                  <a:pt x="0" y="259"/>
                  <a:pt x="0" y="263"/>
                </a:cubicBezTo>
                <a:cubicBezTo>
                  <a:pt x="159" y="259"/>
                  <a:pt x="159" y="259"/>
                  <a:pt x="159" y="259"/>
                </a:cubicBezTo>
                <a:cubicBezTo>
                  <a:pt x="159" y="243"/>
                  <a:pt x="159" y="243"/>
                  <a:pt x="159" y="243"/>
                </a:cubicBezTo>
                <a:close/>
                <a:moveTo>
                  <a:pt x="159" y="282"/>
                </a:moveTo>
                <a:cubicBezTo>
                  <a:pt x="0" y="287"/>
                  <a:pt x="0" y="287"/>
                  <a:pt x="0" y="287"/>
                </a:cubicBezTo>
                <a:cubicBezTo>
                  <a:pt x="0" y="298"/>
                  <a:pt x="0" y="298"/>
                  <a:pt x="0" y="298"/>
                </a:cubicBezTo>
                <a:cubicBezTo>
                  <a:pt x="159" y="298"/>
                  <a:pt x="159" y="298"/>
                  <a:pt x="159" y="298"/>
                </a:cubicBezTo>
                <a:cubicBezTo>
                  <a:pt x="159" y="282"/>
                  <a:pt x="159" y="282"/>
                  <a:pt x="159" y="282"/>
                </a:cubicBezTo>
                <a:close/>
                <a:moveTo>
                  <a:pt x="387" y="198"/>
                </a:moveTo>
                <a:cubicBezTo>
                  <a:pt x="411" y="201"/>
                  <a:pt x="411" y="201"/>
                  <a:pt x="411" y="201"/>
                </a:cubicBezTo>
                <a:cubicBezTo>
                  <a:pt x="411" y="213"/>
                  <a:pt x="411" y="213"/>
                  <a:pt x="411" y="213"/>
                </a:cubicBezTo>
                <a:cubicBezTo>
                  <a:pt x="463" y="209"/>
                  <a:pt x="463" y="209"/>
                  <a:pt x="463" y="209"/>
                </a:cubicBezTo>
                <a:cubicBezTo>
                  <a:pt x="463" y="193"/>
                  <a:pt x="463" y="193"/>
                  <a:pt x="463" y="193"/>
                </a:cubicBezTo>
                <a:cubicBezTo>
                  <a:pt x="387" y="198"/>
                  <a:pt x="387" y="198"/>
                  <a:pt x="387" y="198"/>
                </a:cubicBezTo>
                <a:close/>
                <a:moveTo>
                  <a:pt x="411" y="222"/>
                </a:moveTo>
                <a:cubicBezTo>
                  <a:pt x="411" y="238"/>
                  <a:pt x="411" y="238"/>
                  <a:pt x="411" y="238"/>
                </a:cubicBezTo>
                <a:cubicBezTo>
                  <a:pt x="463" y="235"/>
                  <a:pt x="463" y="235"/>
                  <a:pt x="463" y="235"/>
                </a:cubicBezTo>
                <a:cubicBezTo>
                  <a:pt x="463" y="219"/>
                  <a:pt x="463" y="219"/>
                  <a:pt x="463" y="219"/>
                </a:cubicBezTo>
                <a:cubicBezTo>
                  <a:pt x="411" y="222"/>
                  <a:pt x="411" y="222"/>
                  <a:pt x="411" y="222"/>
                </a:cubicBezTo>
                <a:close/>
                <a:moveTo>
                  <a:pt x="411" y="247"/>
                </a:moveTo>
                <a:cubicBezTo>
                  <a:pt x="411" y="263"/>
                  <a:pt x="411" y="263"/>
                  <a:pt x="411" y="263"/>
                </a:cubicBezTo>
                <a:cubicBezTo>
                  <a:pt x="463" y="262"/>
                  <a:pt x="463" y="262"/>
                  <a:pt x="463" y="262"/>
                </a:cubicBezTo>
                <a:cubicBezTo>
                  <a:pt x="463" y="245"/>
                  <a:pt x="463" y="245"/>
                  <a:pt x="463" y="245"/>
                </a:cubicBezTo>
                <a:cubicBezTo>
                  <a:pt x="411" y="247"/>
                  <a:pt x="411" y="247"/>
                  <a:pt x="411" y="247"/>
                </a:cubicBezTo>
                <a:close/>
                <a:moveTo>
                  <a:pt x="411" y="272"/>
                </a:moveTo>
                <a:cubicBezTo>
                  <a:pt x="411" y="289"/>
                  <a:pt x="411" y="289"/>
                  <a:pt x="411" y="289"/>
                </a:cubicBezTo>
                <a:cubicBezTo>
                  <a:pt x="463" y="288"/>
                  <a:pt x="463" y="288"/>
                  <a:pt x="463" y="288"/>
                </a:cubicBezTo>
                <a:cubicBezTo>
                  <a:pt x="463" y="271"/>
                  <a:pt x="463" y="271"/>
                  <a:pt x="463" y="271"/>
                </a:cubicBezTo>
                <a:cubicBezTo>
                  <a:pt x="411" y="272"/>
                  <a:pt x="411" y="272"/>
                  <a:pt x="411" y="272"/>
                </a:cubicBezTo>
                <a:close/>
                <a:moveTo>
                  <a:pt x="364" y="191"/>
                </a:moveTo>
                <a:cubicBezTo>
                  <a:pt x="463" y="183"/>
                  <a:pt x="463" y="183"/>
                  <a:pt x="463" y="183"/>
                </a:cubicBezTo>
                <a:cubicBezTo>
                  <a:pt x="463" y="167"/>
                  <a:pt x="463" y="167"/>
                  <a:pt x="463" y="167"/>
                </a:cubicBezTo>
                <a:cubicBezTo>
                  <a:pt x="364" y="175"/>
                  <a:pt x="364" y="175"/>
                  <a:pt x="364" y="175"/>
                </a:cubicBezTo>
                <a:cubicBezTo>
                  <a:pt x="364" y="191"/>
                  <a:pt x="364" y="191"/>
                  <a:pt x="364" y="191"/>
                </a:cubicBezTo>
                <a:close/>
                <a:moveTo>
                  <a:pt x="364" y="167"/>
                </a:moveTo>
                <a:cubicBezTo>
                  <a:pt x="463" y="157"/>
                  <a:pt x="463" y="157"/>
                  <a:pt x="463" y="157"/>
                </a:cubicBezTo>
                <a:cubicBezTo>
                  <a:pt x="463" y="140"/>
                  <a:pt x="463" y="140"/>
                  <a:pt x="463" y="140"/>
                </a:cubicBezTo>
                <a:cubicBezTo>
                  <a:pt x="364" y="150"/>
                  <a:pt x="364" y="150"/>
                  <a:pt x="364" y="150"/>
                </a:cubicBezTo>
                <a:lnTo>
                  <a:pt x="364" y="167"/>
                </a:lnTo>
                <a:close/>
              </a:path>
            </a:pathLst>
          </a:custGeom>
          <a:solidFill>
            <a:srgbClr val="92D400"/>
          </a:solidFill>
          <a:ln>
            <a:noFill/>
          </a:ln>
        </p:spPr>
        <p:txBody>
          <a:bodyPr vert="horz" wrap="square" lIns="91439" tIns="45720" rIns="91439" bIns="45720" numCol="1" anchor="t" anchorCtr="0" compatLnSpc="1">
            <a:prstTxWarp prst="textNoShape">
              <a:avLst/>
            </a:prstTxWarp>
          </a:bodyPr>
          <a:lstStyle/>
          <a:p>
            <a:pPr defTabSz="914403">
              <a:defRPr/>
            </a:pPr>
            <a:endParaRPr lang="en-US" sz="600" kern="0">
              <a:solidFill>
                <a:srgbClr val="FFC000"/>
              </a:solidFill>
              <a:latin typeface="+mj-lt"/>
            </a:endParaRPr>
          </a:p>
        </p:txBody>
      </p:sp>
      <p:sp>
        <p:nvSpPr>
          <p:cNvPr id="94" name="TextBox 93">
            <a:extLst>
              <a:ext uri="{FF2B5EF4-FFF2-40B4-BE49-F238E27FC236}">
                <a16:creationId xmlns:a16="http://schemas.microsoft.com/office/drawing/2014/main" id="{D2762730-4BD6-4EE8-807A-903A377F3D36}"/>
              </a:ext>
            </a:extLst>
          </p:cNvPr>
          <p:cNvSpPr txBox="1"/>
          <p:nvPr/>
        </p:nvSpPr>
        <p:spPr>
          <a:xfrm>
            <a:off x="8967681" y="2526523"/>
            <a:ext cx="293872" cy="181711"/>
          </a:xfrm>
          <a:prstGeom prst="rect">
            <a:avLst/>
          </a:prstGeom>
          <a:solidFill>
            <a:schemeClr val="bg1"/>
          </a:solidFill>
        </p:spPr>
        <p:txBody>
          <a:bodyPr wrap="none" lIns="0" tIns="0" rIns="0" bIns="0" rtlCol="0" anchor="ctr" anchorCtr="0">
            <a:noAutofit/>
          </a:bodyPr>
          <a:lstStyle/>
          <a:p>
            <a:pPr algn="ctr" defTabSz="914403">
              <a:buClr>
                <a:srgbClr val="0097A9"/>
              </a:buClr>
              <a:buSzPct val="120000"/>
              <a:defRPr/>
            </a:pPr>
            <a:r>
              <a:rPr lang="en-US" sz="400" kern="0" dirty="0">
                <a:solidFill>
                  <a:schemeClr val="accent1"/>
                </a:solidFill>
                <a:latin typeface="+mj-lt"/>
              </a:rPr>
              <a:t>FINANCE</a:t>
            </a:r>
          </a:p>
        </p:txBody>
      </p:sp>
      <p:sp>
        <p:nvSpPr>
          <p:cNvPr id="95" name="TextBox 94">
            <a:extLst>
              <a:ext uri="{FF2B5EF4-FFF2-40B4-BE49-F238E27FC236}">
                <a16:creationId xmlns:a16="http://schemas.microsoft.com/office/drawing/2014/main" id="{8225BFA1-E672-439F-810F-F4938F7D2C09}"/>
              </a:ext>
            </a:extLst>
          </p:cNvPr>
          <p:cNvSpPr txBox="1"/>
          <p:nvPr/>
        </p:nvSpPr>
        <p:spPr>
          <a:xfrm>
            <a:off x="9543395" y="2515577"/>
            <a:ext cx="122486" cy="189545"/>
          </a:xfrm>
          <a:prstGeom prst="rect">
            <a:avLst/>
          </a:prstGeom>
          <a:solidFill>
            <a:schemeClr val="bg1"/>
          </a:solidFill>
        </p:spPr>
        <p:txBody>
          <a:bodyPr wrap="none" lIns="0" tIns="0" rIns="0" bIns="0" rtlCol="0" anchor="ctr" anchorCtr="0">
            <a:noAutofit/>
          </a:bodyPr>
          <a:lstStyle/>
          <a:p>
            <a:pPr algn="ctr" defTabSz="914403">
              <a:buClr>
                <a:srgbClr val="0097A9"/>
              </a:buClr>
              <a:buSzPct val="120000"/>
              <a:defRPr/>
            </a:pPr>
            <a:r>
              <a:rPr lang="en-US" sz="499" kern="0" dirty="0">
                <a:solidFill>
                  <a:schemeClr val="accent1"/>
                </a:solidFill>
                <a:latin typeface="+mj-lt"/>
              </a:rPr>
              <a:t>IT</a:t>
            </a:r>
          </a:p>
        </p:txBody>
      </p:sp>
      <p:sp>
        <p:nvSpPr>
          <p:cNvPr id="96" name="TextBox 95">
            <a:extLst>
              <a:ext uri="{FF2B5EF4-FFF2-40B4-BE49-F238E27FC236}">
                <a16:creationId xmlns:a16="http://schemas.microsoft.com/office/drawing/2014/main" id="{B2CCD71A-3D40-440C-8A6A-D224A3010D32}"/>
              </a:ext>
            </a:extLst>
          </p:cNvPr>
          <p:cNvSpPr txBox="1"/>
          <p:nvPr/>
        </p:nvSpPr>
        <p:spPr>
          <a:xfrm>
            <a:off x="9320023" y="2206157"/>
            <a:ext cx="134736" cy="189545"/>
          </a:xfrm>
          <a:prstGeom prst="rect">
            <a:avLst/>
          </a:prstGeom>
          <a:solidFill>
            <a:schemeClr val="bg1"/>
          </a:solidFill>
        </p:spPr>
        <p:txBody>
          <a:bodyPr wrap="none" lIns="0" tIns="0" rIns="0" bIns="0" rtlCol="0" anchor="ctr" anchorCtr="0">
            <a:noAutofit/>
          </a:bodyPr>
          <a:lstStyle/>
          <a:p>
            <a:pPr algn="ctr" defTabSz="914403">
              <a:buClr>
                <a:srgbClr val="0097A9"/>
              </a:buClr>
              <a:buSzPct val="120000"/>
              <a:defRPr/>
            </a:pPr>
            <a:r>
              <a:rPr lang="en-US" sz="499" kern="0" dirty="0">
                <a:solidFill>
                  <a:schemeClr val="accent1"/>
                </a:solidFill>
                <a:latin typeface="+mj-lt"/>
              </a:rPr>
              <a:t>HR</a:t>
            </a:r>
          </a:p>
        </p:txBody>
      </p:sp>
      <p:cxnSp>
        <p:nvCxnSpPr>
          <p:cNvPr id="97" name="Straight Connector 96">
            <a:extLst>
              <a:ext uri="{FF2B5EF4-FFF2-40B4-BE49-F238E27FC236}">
                <a16:creationId xmlns:a16="http://schemas.microsoft.com/office/drawing/2014/main" id="{3ADD326A-3677-47C0-AE72-70B8002A452F}"/>
              </a:ext>
            </a:extLst>
          </p:cNvPr>
          <p:cNvCxnSpPr/>
          <p:nvPr/>
        </p:nvCxnSpPr>
        <p:spPr>
          <a:xfrm>
            <a:off x="9411221" y="2529091"/>
            <a:ext cx="132177" cy="100590"/>
          </a:xfrm>
          <a:prstGeom prst="line">
            <a:avLst/>
          </a:prstGeom>
          <a:noFill/>
          <a:ln w="19050" cap="flat" cmpd="sng" algn="ctr">
            <a:solidFill>
              <a:sysClr val="window" lastClr="FFFFFF"/>
            </a:solidFill>
            <a:prstDash val="sysDot"/>
            <a:miter lim="800000"/>
          </a:ln>
          <a:effectLst/>
        </p:spPr>
      </p:cxnSp>
      <p:cxnSp>
        <p:nvCxnSpPr>
          <p:cNvPr id="98" name="Straight Connector 97">
            <a:extLst>
              <a:ext uri="{FF2B5EF4-FFF2-40B4-BE49-F238E27FC236}">
                <a16:creationId xmlns:a16="http://schemas.microsoft.com/office/drawing/2014/main" id="{8EBCA584-BE08-411B-9DE7-7CCBA4430037}"/>
              </a:ext>
            </a:extLst>
          </p:cNvPr>
          <p:cNvCxnSpPr/>
          <p:nvPr/>
        </p:nvCxnSpPr>
        <p:spPr>
          <a:xfrm flipH="1">
            <a:off x="9242061" y="2529091"/>
            <a:ext cx="132177" cy="100590"/>
          </a:xfrm>
          <a:prstGeom prst="line">
            <a:avLst/>
          </a:prstGeom>
          <a:noFill/>
          <a:ln w="19050" cap="flat" cmpd="sng" algn="ctr">
            <a:solidFill>
              <a:sysClr val="window" lastClr="FFFFFF"/>
            </a:solidFill>
            <a:prstDash val="sysDot"/>
            <a:miter lim="800000"/>
          </a:ln>
          <a:effectLst/>
        </p:spPr>
      </p:cxnSp>
      <p:cxnSp>
        <p:nvCxnSpPr>
          <p:cNvPr id="99" name="Straight Connector 98">
            <a:extLst>
              <a:ext uri="{FF2B5EF4-FFF2-40B4-BE49-F238E27FC236}">
                <a16:creationId xmlns:a16="http://schemas.microsoft.com/office/drawing/2014/main" id="{241B2366-9BA1-4BB1-8A9A-05E3E5CB42D8}"/>
              </a:ext>
            </a:extLst>
          </p:cNvPr>
          <p:cNvCxnSpPr/>
          <p:nvPr/>
        </p:nvCxnSpPr>
        <p:spPr>
          <a:xfrm flipH="1">
            <a:off x="9387390" y="2396060"/>
            <a:ext cx="0" cy="100590"/>
          </a:xfrm>
          <a:prstGeom prst="line">
            <a:avLst/>
          </a:prstGeom>
          <a:noFill/>
          <a:ln w="19050" cap="flat" cmpd="sng" algn="ctr">
            <a:solidFill>
              <a:sysClr val="window" lastClr="FFFFFF"/>
            </a:solidFill>
            <a:prstDash val="sysDot"/>
            <a:miter lim="800000"/>
          </a:ln>
          <a:effectLst/>
        </p:spPr>
      </p:cxnSp>
      <p:sp>
        <p:nvSpPr>
          <p:cNvPr id="100" name="Oval 99">
            <a:extLst>
              <a:ext uri="{FF2B5EF4-FFF2-40B4-BE49-F238E27FC236}">
                <a16:creationId xmlns:a16="http://schemas.microsoft.com/office/drawing/2014/main" id="{3261DB91-71A7-4EFD-9316-EEEFDE58DF34}"/>
              </a:ext>
            </a:extLst>
          </p:cNvPr>
          <p:cNvSpPr/>
          <p:nvPr/>
        </p:nvSpPr>
        <p:spPr>
          <a:xfrm>
            <a:off x="9369085" y="2496652"/>
            <a:ext cx="36985" cy="52030"/>
          </a:xfrm>
          <a:prstGeom prst="ellipse">
            <a:avLst/>
          </a:prstGeom>
          <a:solidFill>
            <a:sysClr val="window" lastClr="FFFFFF"/>
          </a:solidFill>
          <a:ln w="12700" cap="flat" cmpd="sng" algn="ctr">
            <a:noFill/>
            <a:prstDash val="solid"/>
            <a:miter lim="800000"/>
          </a:ln>
          <a:effectLst/>
        </p:spPr>
        <p:txBody>
          <a:bodyPr rtlCol="0" anchor="ctr"/>
          <a:lstStyle/>
          <a:p>
            <a:pPr algn="ctr" defTabSz="914403">
              <a:defRPr/>
            </a:pPr>
            <a:endParaRPr lang="en-US" sz="600" kern="0">
              <a:solidFill>
                <a:prstClr val="white"/>
              </a:solidFill>
              <a:latin typeface="+mj-lt"/>
            </a:endParaRPr>
          </a:p>
        </p:txBody>
      </p:sp>
      <p:sp>
        <p:nvSpPr>
          <p:cNvPr id="101" name="Oval 100">
            <a:extLst>
              <a:ext uri="{FF2B5EF4-FFF2-40B4-BE49-F238E27FC236}">
                <a16:creationId xmlns:a16="http://schemas.microsoft.com/office/drawing/2014/main" id="{8D578E16-B213-47CF-B602-B8C8A1921836}"/>
              </a:ext>
            </a:extLst>
          </p:cNvPr>
          <p:cNvSpPr/>
          <p:nvPr/>
        </p:nvSpPr>
        <p:spPr>
          <a:xfrm>
            <a:off x="5575772" y="2359855"/>
            <a:ext cx="1235385" cy="356557"/>
          </a:xfrm>
          <a:prstGeom prst="ellipse">
            <a:avLst/>
          </a:prstGeom>
          <a:noFill/>
          <a:ln w="25400" cap="flat" cmpd="sng" algn="ctr">
            <a:solidFill>
              <a:schemeClr val="tx1"/>
            </a:solidFill>
            <a:prstDash val="sysDot"/>
            <a:miter lim="800000"/>
          </a:ln>
          <a:effectLst/>
        </p:spPr>
        <p:txBody>
          <a:bodyPr rtlCol="0" anchor="ctr"/>
          <a:lstStyle/>
          <a:p>
            <a:pPr algn="ctr" defTabSz="914403">
              <a:defRPr/>
            </a:pPr>
            <a:endParaRPr lang="en-US" sz="1799" kern="0" dirty="0">
              <a:solidFill>
                <a:prstClr val="white"/>
              </a:solidFill>
              <a:latin typeface="+mj-lt"/>
            </a:endParaRPr>
          </a:p>
        </p:txBody>
      </p:sp>
      <p:sp>
        <p:nvSpPr>
          <p:cNvPr id="102" name="Oval 101">
            <a:extLst>
              <a:ext uri="{FF2B5EF4-FFF2-40B4-BE49-F238E27FC236}">
                <a16:creationId xmlns:a16="http://schemas.microsoft.com/office/drawing/2014/main" id="{91D3A314-1EE3-46C0-80DE-12D9987FFA25}"/>
              </a:ext>
            </a:extLst>
          </p:cNvPr>
          <p:cNvSpPr/>
          <p:nvPr/>
        </p:nvSpPr>
        <p:spPr>
          <a:xfrm>
            <a:off x="5828757" y="2411535"/>
            <a:ext cx="743188" cy="195388"/>
          </a:xfrm>
          <a:prstGeom prst="ellipse">
            <a:avLst/>
          </a:prstGeom>
          <a:noFill/>
          <a:ln w="25400" cap="flat" cmpd="sng" algn="ctr">
            <a:solidFill>
              <a:schemeClr val="tx1"/>
            </a:solidFill>
            <a:prstDash val="sysDot"/>
            <a:miter lim="800000"/>
          </a:ln>
          <a:effectLst/>
        </p:spPr>
        <p:txBody>
          <a:bodyPr rtlCol="0" anchor="ctr"/>
          <a:lstStyle/>
          <a:p>
            <a:pPr algn="ctr" defTabSz="914403">
              <a:defRPr/>
            </a:pPr>
            <a:endParaRPr lang="en-US" sz="1799" kern="0" dirty="0">
              <a:solidFill>
                <a:prstClr val="white"/>
              </a:solidFill>
              <a:latin typeface="+mj-lt"/>
            </a:endParaRPr>
          </a:p>
        </p:txBody>
      </p:sp>
      <p:sp>
        <p:nvSpPr>
          <p:cNvPr id="103" name="Freeform 50">
            <a:extLst>
              <a:ext uri="{FF2B5EF4-FFF2-40B4-BE49-F238E27FC236}">
                <a16:creationId xmlns:a16="http://schemas.microsoft.com/office/drawing/2014/main" id="{096616DB-1360-4EDE-AF29-9F0D60F1B84E}"/>
              </a:ext>
            </a:extLst>
          </p:cNvPr>
          <p:cNvSpPr>
            <a:spLocks noEditPoints="1"/>
          </p:cNvSpPr>
          <p:nvPr/>
        </p:nvSpPr>
        <p:spPr bwMode="auto">
          <a:xfrm flipH="1">
            <a:off x="5786340" y="2707632"/>
            <a:ext cx="72505" cy="85154"/>
          </a:xfrm>
          <a:custGeom>
            <a:avLst/>
            <a:gdLst>
              <a:gd name="T0" fmla="*/ 5 w 111"/>
              <a:gd name="T1" fmla="*/ 57 h 151"/>
              <a:gd name="T2" fmla="*/ 0 w 111"/>
              <a:gd name="T3" fmla="*/ 80 h 151"/>
              <a:gd name="T4" fmla="*/ 99 w 111"/>
              <a:gd name="T5" fmla="*/ 90 h 151"/>
              <a:gd name="T6" fmla="*/ 5 w 111"/>
              <a:gd name="T7" fmla="*/ 57 h 151"/>
              <a:gd name="T8" fmla="*/ 25 w 111"/>
              <a:gd name="T9" fmla="*/ 81 h 151"/>
              <a:gd name="T10" fmla="*/ 75 w 111"/>
              <a:gd name="T11" fmla="*/ 75 h 151"/>
              <a:gd name="T12" fmla="*/ 25 w 111"/>
              <a:gd name="T13" fmla="*/ 81 h 151"/>
            </a:gdLst>
            <a:ahLst/>
            <a:cxnLst>
              <a:cxn ang="0">
                <a:pos x="T0" y="T1"/>
              </a:cxn>
              <a:cxn ang="0">
                <a:pos x="T2" y="T3"/>
              </a:cxn>
              <a:cxn ang="0">
                <a:pos x="T4" y="T5"/>
              </a:cxn>
              <a:cxn ang="0">
                <a:pos x="T6" y="T7"/>
              </a:cxn>
              <a:cxn ang="0">
                <a:pos x="T8" y="T9"/>
              </a:cxn>
              <a:cxn ang="0">
                <a:pos x="T10" y="T11"/>
              </a:cxn>
              <a:cxn ang="0">
                <a:pos x="T12" y="T13"/>
              </a:cxn>
            </a:cxnLst>
            <a:rect l="0" t="0" r="r" b="b"/>
            <a:pathLst>
              <a:path w="111" h="151">
                <a:moveTo>
                  <a:pt x="5" y="57"/>
                </a:moveTo>
                <a:cubicBezTo>
                  <a:pt x="2" y="64"/>
                  <a:pt x="0" y="71"/>
                  <a:pt x="0" y="80"/>
                </a:cubicBezTo>
                <a:cubicBezTo>
                  <a:pt x="2" y="145"/>
                  <a:pt x="88" y="151"/>
                  <a:pt x="99" y="90"/>
                </a:cubicBezTo>
                <a:cubicBezTo>
                  <a:pt x="111" y="30"/>
                  <a:pt x="31" y="0"/>
                  <a:pt x="5" y="57"/>
                </a:cubicBezTo>
                <a:close/>
                <a:moveTo>
                  <a:pt x="25" y="81"/>
                </a:moveTo>
                <a:cubicBezTo>
                  <a:pt x="25" y="48"/>
                  <a:pt x="69" y="45"/>
                  <a:pt x="75" y="75"/>
                </a:cubicBezTo>
                <a:cubicBezTo>
                  <a:pt x="82" y="113"/>
                  <a:pt x="25" y="120"/>
                  <a:pt x="25" y="81"/>
                </a:cubicBezTo>
                <a:close/>
              </a:path>
            </a:pathLst>
          </a:custGeom>
          <a:solidFill>
            <a:schemeClr val="bg1"/>
          </a:solidFill>
          <a:ln>
            <a:solidFill>
              <a:srgbClr val="92D400"/>
            </a:solid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104" name="Freeform 51">
            <a:extLst>
              <a:ext uri="{FF2B5EF4-FFF2-40B4-BE49-F238E27FC236}">
                <a16:creationId xmlns:a16="http://schemas.microsoft.com/office/drawing/2014/main" id="{689803CA-B437-49A9-8CEE-53B064D3CB49}"/>
              </a:ext>
            </a:extLst>
          </p:cNvPr>
          <p:cNvSpPr>
            <a:spLocks noEditPoints="1"/>
          </p:cNvSpPr>
          <p:nvPr/>
        </p:nvSpPr>
        <p:spPr bwMode="auto">
          <a:xfrm flipH="1">
            <a:off x="6002605" y="2706914"/>
            <a:ext cx="70837" cy="84793"/>
          </a:xfrm>
          <a:custGeom>
            <a:avLst/>
            <a:gdLst>
              <a:gd name="T0" fmla="*/ 5 w 109"/>
              <a:gd name="T1" fmla="*/ 56 h 150"/>
              <a:gd name="T2" fmla="*/ 0 w 109"/>
              <a:gd name="T3" fmla="*/ 79 h 150"/>
              <a:gd name="T4" fmla="*/ 100 w 109"/>
              <a:gd name="T5" fmla="*/ 87 h 150"/>
              <a:gd name="T6" fmla="*/ 5 w 109"/>
              <a:gd name="T7" fmla="*/ 56 h 150"/>
              <a:gd name="T8" fmla="*/ 25 w 109"/>
              <a:gd name="T9" fmla="*/ 80 h 150"/>
              <a:gd name="T10" fmla="*/ 76 w 109"/>
              <a:gd name="T11" fmla="*/ 76 h 150"/>
              <a:gd name="T12" fmla="*/ 25 w 109"/>
              <a:gd name="T13" fmla="*/ 80 h 150"/>
            </a:gdLst>
            <a:ahLst/>
            <a:cxnLst>
              <a:cxn ang="0">
                <a:pos x="T0" y="T1"/>
              </a:cxn>
              <a:cxn ang="0">
                <a:pos x="T2" y="T3"/>
              </a:cxn>
              <a:cxn ang="0">
                <a:pos x="T4" y="T5"/>
              </a:cxn>
              <a:cxn ang="0">
                <a:pos x="T6" y="T7"/>
              </a:cxn>
              <a:cxn ang="0">
                <a:pos x="T8" y="T9"/>
              </a:cxn>
              <a:cxn ang="0">
                <a:pos x="T10" y="T11"/>
              </a:cxn>
              <a:cxn ang="0">
                <a:pos x="T12" y="T13"/>
              </a:cxn>
            </a:cxnLst>
            <a:rect l="0" t="0" r="r" b="b"/>
            <a:pathLst>
              <a:path w="109" h="150">
                <a:moveTo>
                  <a:pt x="5" y="56"/>
                </a:moveTo>
                <a:cubicBezTo>
                  <a:pt x="2" y="63"/>
                  <a:pt x="1" y="71"/>
                  <a:pt x="0" y="79"/>
                </a:cubicBezTo>
                <a:cubicBezTo>
                  <a:pt x="2" y="146"/>
                  <a:pt x="91" y="150"/>
                  <a:pt x="100" y="87"/>
                </a:cubicBezTo>
                <a:cubicBezTo>
                  <a:pt x="109" y="28"/>
                  <a:pt x="31" y="0"/>
                  <a:pt x="5" y="56"/>
                </a:cubicBezTo>
                <a:close/>
                <a:moveTo>
                  <a:pt x="25" y="80"/>
                </a:moveTo>
                <a:cubicBezTo>
                  <a:pt x="26" y="46"/>
                  <a:pt x="71" y="44"/>
                  <a:pt x="76" y="76"/>
                </a:cubicBezTo>
                <a:cubicBezTo>
                  <a:pt x="81" y="113"/>
                  <a:pt x="26" y="119"/>
                  <a:pt x="25" y="80"/>
                </a:cubicBezTo>
                <a:close/>
              </a:path>
            </a:pathLst>
          </a:custGeom>
          <a:solidFill>
            <a:schemeClr val="bg1"/>
          </a:solidFill>
          <a:ln>
            <a:solidFill>
              <a:srgbClr val="92D400"/>
            </a:solid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105" name="Freeform 52">
            <a:extLst>
              <a:ext uri="{FF2B5EF4-FFF2-40B4-BE49-F238E27FC236}">
                <a16:creationId xmlns:a16="http://schemas.microsoft.com/office/drawing/2014/main" id="{268AC928-1DEF-4105-A20D-297AD95C83B1}"/>
              </a:ext>
            </a:extLst>
          </p:cNvPr>
          <p:cNvSpPr>
            <a:spLocks noEditPoints="1"/>
          </p:cNvSpPr>
          <p:nvPr/>
        </p:nvSpPr>
        <p:spPr bwMode="auto">
          <a:xfrm flipH="1">
            <a:off x="5758641" y="2635469"/>
            <a:ext cx="342939" cy="119072"/>
          </a:xfrm>
          <a:custGeom>
            <a:avLst/>
            <a:gdLst>
              <a:gd name="T0" fmla="*/ 526 w 526"/>
              <a:gd name="T1" fmla="*/ 89 h 211"/>
              <a:gd name="T2" fmla="*/ 468 w 526"/>
              <a:gd name="T3" fmla="*/ 79 h 211"/>
              <a:gd name="T4" fmla="*/ 390 w 526"/>
              <a:gd name="T5" fmla="*/ 2 h 211"/>
              <a:gd name="T6" fmla="*/ 383 w 526"/>
              <a:gd name="T7" fmla="*/ 0 h 211"/>
              <a:gd name="T8" fmla="*/ 216 w 526"/>
              <a:gd name="T9" fmla="*/ 0 h 211"/>
              <a:gd name="T10" fmla="*/ 133 w 526"/>
              <a:gd name="T11" fmla="*/ 77 h 211"/>
              <a:gd name="T12" fmla="*/ 3 w 526"/>
              <a:gd name="T13" fmla="*/ 101 h 211"/>
              <a:gd name="T14" fmla="*/ 1 w 526"/>
              <a:gd name="T15" fmla="*/ 107 h 211"/>
              <a:gd name="T16" fmla="*/ 2 w 526"/>
              <a:gd name="T17" fmla="*/ 204 h 211"/>
              <a:gd name="T18" fmla="*/ 33 w 526"/>
              <a:gd name="T19" fmla="*/ 208 h 211"/>
              <a:gd name="T20" fmla="*/ 53 w 526"/>
              <a:gd name="T21" fmla="*/ 157 h 211"/>
              <a:gd name="T22" fmla="*/ 152 w 526"/>
              <a:gd name="T23" fmla="*/ 207 h 211"/>
              <a:gd name="T24" fmla="*/ 361 w 526"/>
              <a:gd name="T25" fmla="*/ 207 h 211"/>
              <a:gd name="T26" fmla="*/ 380 w 526"/>
              <a:gd name="T27" fmla="*/ 159 h 211"/>
              <a:gd name="T28" fmla="*/ 481 w 526"/>
              <a:gd name="T29" fmla="*/ 207 h 211"/>
              <a:gd name="T30" fmla="*/ 526 w 526"/>
              <a:gd name="T31" fmla="*/ 196 h 211"/>
              <a:gd name="T32" fmla="*/ 526 w 526"/>
              <a:gd name="T33" fmla="*/ 89 h 211"/>
              <a:gd name="T34" fmla="*/ 290 w 526"/>
              <a:gd name="T35" fmla="*/ 78 h 211"/>
              <a:gd name="T36" fmla="*/ 148 w 526"/>
              <a:gd name="T37" fmla="*/ 78 h 211"/>
              <a:gd name="T38" fmla="*/ 221 w 526"/>
              <a:gd name="T39" fmla="*/ 9 h 211"/>
              <a:gd name="T40" fmla="*/ 290 w 526"/>
              <a:gd name="T41" fmla="*/ 9 h 211"/>
              <a:gd name="T42" fmla="*/ 290 w 526"/>
              <a:gd name="T43" fmla="*/ 78 h 211"/>
              <a:gd name="T44" fmla="*/ 393 w 526"/>
              <a:gd name="T45" fmla="*/ 79 h 211"/>
              <a:gd name="T46" fmla="*/ 381 w 526"/>
              <a:gd name="T47" fmla="*/ 79 h 211"/>
              <a:gd name="T48" fmla="*/ 300 w 526"/>
              <a:gd name="T49" fmla="*/ 78 h 211"/>
              <a:gd name="T50" fmla="*/ 381 w 526"/>
              <a:gd name="T51" fmla="*/ 79 h 211"/>
              <a:gd name="T52" fmla="*/ 300 w 526"/>
              <a:gd name="T53" fmla="*/ 78 h 211"/>
              <a:gd name="T54" fmla="*/ 300 w 526"/>
              <a:gd name="T55" fmla="*/ 9 h 211"/>
              <a:gd name="T56" fmla="*/ 375 w 526"/>
              <a:gd name="T57" fmla="*/ 10 h 211"/>
              <a:gd name="T58" fmla="*/ 382 w 526"/>
              <a:gd name="T59" fmla="*/ 16 h 211"/>
              <a:gd name="T60" fmla="*/ 411 w 526"/>
              <a:gd name="T61" fmla="*/ 79 h 211"/>
              <a:gd name="T62" fmla="*/ 393 w 526"/>
              <a:gd name="T63" fmla="*/ 7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26" h="211">
                <a:moveTo>
                  <a:pt x="526" y="89"/>
                </a:moveTo>
                <a:cubicBezTo>
                  <a:pt x="524" y="74"/>
                  <a:pt x="481" y="88"/>
                  <a:pt x="468" y="79"/>
                </a:cubicBezTo>
                <a:cubicBezTo>
                  <a:pt x="460" y="74"/>
                  <a:pt x="398" y="5"/>
                  <a:pt x="390" y="2"/>
                </a:cubicBezTo>
                <a:cubicBezTo>
                  <a:pt x="383" y="0"/>
                  <a:pt x="383" y="0"/>
                  <a:pt x="383" y="0"/>
                </a:cubicBezTo>
                <a:cubicBezTo>
                  <a:pt x="216" y="0"/>
                  <a:pt x="216" y="0"/>
                  <a:pt x="216" y="0"/>
                </a:cubicBezTo>
                <a:cubicBezTo>
                  <a:pt x="133" y="77"/>
                  <a:pt x="133" y="77"/>
                  <a:pt x="133" y="77"/>
                </a:cubicBezTo>
                <a:cubicBezTo>
                  <a:pt x="128" y="79"/>
                  <a:pt x="7" y="97"/>
                  <a:pt x="3" y="101"/>
                </a:cubicBezTo>
                <a:cubicBezTo>
                  <a:pt x="1" y="107"/>
                  <a:pt x="1" y="107"/>
                  <a:pt x="1" y="107"/>
                </a:cubicBezTo>
                <a:cubicBezTo>
                  <a:pt x="1" y="117"/>
                  <a:pt x="0" y="200"/>
                  <a:pt x="2" y="204"/>
                </a:cubicBezTo>
                <a:cubicBezTo>
                  <a:pt x="6" y="210"/>
                  <a:pt x="22" y="208"/>
                  <a:pt x="33" y="208"/>
                </a:cubicBezTo>
                <a:cubicBezTo>
                  <a:pt x="33" y="187"/>
                  <a:pt x="37" y="172"/>
                  <a:pt x="53" y="157"/>
                </a:cubicBezTo>
                <a:cubicBezTo>
                  <a:pt x="90" y="123"/>
                  <a:pt x="154" y="146"/>
                  <a:pt x="152" y="207"/>
                </a:cubicBezTo>
                <a:cubicBezTo>
                  <a:pt x="361" y="207"/>
                  <a:pt x="361" y="207"/>
                  <a:pt x="361" y="207"/>
                </a:cubicBezTo>
                <a:cubicBezTo>
                  <a:pt x="363" y="189"/>
                  <a:pt x="366" y="174"/>
                  <a:pt x="380" y="159"/>
                </a:cubicBezTo>
                <a:cubicBezTo>
                  <a:pt x="410" y="127"/>
                  <a:pt x="481" y="145"/>
                  <a:pt x="481" y="207"/>
                </a:cubicBezTo>
                <a:cubicBezTo>
                  <a:pt x="510" y="207"/>
                  <a:pt x="526" y="211"/>
                  <a:pt x="526" y="196"/>
                </a:cubicBezTo>
                <a:lnTo>
                  <a:pt x="526" y="89"/>
                </a:lnTo>
                <a:close/>
                <a:moveTo>
                  <a:pt x="290" y="78"/>
                </a:moveTo>
                <a:cubicBezTo>
                  <a:pt x="148" y="78"/>
                  <a:pt x="148" y="78"/>
                  <a:pt x="148" y="78"/>
                </a:cubicBezTo>
                <a:cubicBezTo>
                  <a:pt x="221" y="9"/>
                  <a:pt x="221" y="9"/>
                  <a:pt x="221" y="9"/>
                </a:cubicBezTo>
                <a:cubicBezTo>
                  <a:pt x="290" y="9"/>
                  <a:pt x="290" y="9"/>
                  <a:pt x="290" y="9"/>
                </a:cubicBezTo>
                <a:lnTo>
                  <a:pt x="290" y="78"/>
                </a:lnTo>
                <a:close/>
                <a:moveTo>
                  <a:pt x="393" y="79"/>
                </a:moveTo>
                <a:cubicBezTo>
                  <a:pt x="389" y="79"/>
                  <a:pt x="385" y="79"/>
                  <a:pt x="381" y="79"/>
                </a:cubicBezTo>
                <a:cubicBezTo>
                  <a:pt x="348" y="79"/>
                  <a:pt x="302" y="79"/>
                  <a:pt x="300" y="78"/>
                </a:cubicBezTo>
                <a:cubicBezTo>
                  <a:pt x="302" y="79"/>
                  <a:pt x="348" y="79"/>
                  <a:pt x="381" y="79"/>
                </a:cubicBezTo>
                <a:cubicBezTo>
                  <a:pt x="348" y="79"/>
                  <a:pt x="302" y="79"/>
                  <a:pt x="300" y="78"/>
                </a:cubicBezTo>
                <a:cubicBezTo>
                  <a:pt x="300" y="9"/>
                  <a:pt x="300" y="9"/>
                  <a:pt x="300" y="9"/>
                </a:cubicBezTo>
                <a:cubicBezTo>
                  <a:pt x="311" y="9"/>
                  <a:pt x="370" y="8"/>
                  <a:pt x="375" y="10"/>
                </a:cubicBezTo>
                <a:cubicBezTo>
                  <a:pt x="382" y="16"/>
                  <a:pt x="382" y="16"/>
                  <a:pt x="382" y="16"/>
                </a:cubicBezTo>
                <a:cubicBezTo>
                  <a:pt x="411" y="79"/>
                  <a:pt x="411" y="79"/>
                  <a:pt x="411" y="79"/>
                </a:cubicBezTo>
                <a:cubicBezTo>
                  <a:pt x="411" y="79"/>
                  <a:pt x="404" y="79"/>
                  <a:pt x="393" y="79"/>
                </a:cubicBezTo>
                <a:close/>
              </a:path>
            </a:pathLst>
          </a:custGeom>
          <a:solidFill>
            <a:srgbClr val="92D400"/>
          </a:solidFill>
          <a:ln>
            <a:solidFill>
              <a:srgbClr val="92D400"/>
            </a:solid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106" name="Freeform 81">
            <a:extLst>
              <a:ext uri="{FF2B5EF4-FFF2-40B4-BE49-F238E27FC236}">
                <a16:creationId xmlns:a16="http://schemas.microsoft.com/office/drawing/2014/main" id="{AE71CF7C-4B22-4894-B012-292D22427D0B}"/>
              </a:ext>
            </a:extLst>
          </p:cNvPr>
          <p:cNvSpPr>
            <a:spLocks/>
          </p:cNvSpPr>
          <p:nvPr/>
        </p:nvSpPr>
        <p:spPr bwMode="auto">
          <a:xfrm flipH="1">
            <a:off x="6546429" y="2611766"/>
            <a:ext cx="210916" cy="179535"/>
          </a:xfrm>
          <a:custGeom>
            <a:avLst/>
            <a:gdLst>
              <a:gd name="T0" fmla="*/ 230 w 369"/>
              <a:gd name="T1" fmla="*/ 363 h 363"/>
              <a:gd name="T2" fmla="*/ 230 w 369"/>
              <a:gd name="T3" fmla="*/ 213 h 363"/>
              <a:gd name="T4" fmla="*/ 126 w 369"/>
              <a:gd name="T5" fmla="*/ 213 h 363"/>
              <a:gd name="T6" fmla="*/ 126 w 369"/>
              <a:gd name="T7" fmla="*/ 363 h 363"/>
              <a:gd name="T8" fmla="*/ 58 w 369"/>
              <a:gd name="T9" fmla="*/ 363 h 363"/>
              <a:gd name="T10" fmla="*/ 0 w 369"/>
              <a:gd name="T11" fmla="*/ 306 h 363"/>
              <a:gd name="T12" fmla="*/ 0 w 369"/>
              <a:gd name="T13" fmla="*/ 139 h 363"/>
              <a:gd name="T14" fmla="*/ 181 w 369"/>
              <a:gd name="T15" fmla="*/ 0 h 363"/>
              <a:gd name="T16" fmla="*/ 369 w 369"/>
              <a:gd name="T17" fmla="*/ 139 h 363"/>
              <a:gd name="T18" fmla="*/ 369 w 369"/>
              <a:gd name="T19" fmla="*/ 306 h 363"/>
              <a:gd name="T20" fmla="*/ 311 w 369"/>
              <a:gd name="T21" fmla="*/ 363 h 363"/>
              <a:gd name="T22" fmla="*/ 230 w 369"/>
              <a:gd name="T23" fmla="*/ 363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9" h="363">
                <a:moveTo>
                  <a:pt x="230" y="363"/>
                </a:moveTo>
                <a:cubicBezTo>
                  <a:pt x="230" y="213"/>
                  <a:pt x="230" y="213"/>
                  <a:pt x="230" y="213"/>
                </a:cubicBezTo>
                <a:cubicBezTo>
                  <a:pt x="126" y="213"/>
                  <a:pt x="126" y="213"/>
                  <a:pt x="126" y="213"/>
                </a:cubicBezTo>
                <a:cubicBezTo>
                  <a:pt x="126" y="363"/>
                  <a:pt x="126" y="363"/>
                  <a:pt x="126" y="363"/>
                </a:cubicBezTo>
                <a:cubicBezTo>
                  <a:pt x="58" y="363"/>
                  <a:pt x="58" y="363"/>
                  <a:pt x="58" y="363"/>
                </a:cubicBezTo>
                <a:cubicBezTo>
                  <a:pt x="26" y="363"/>
                  <a:pt x="0" y="337"/>
                  <a:pt x="0" y="306"/>
                </a:cubicBezTo>
                <a:cubicBezTo>
                  <a:pt x="0" y="139"/>
                  <a:pt x="0" y="139"/>
                  <a:pt x="0" y="139"/>
                </a:cubicBezTo>
                <a:cubicBezTo>
                  <a:pt x="181" y="0"/>
                  <a:pt x="181" y="0"/>
                  <a:pt x="181" y="0"/>
                </a:cubicBezTo>
                <a:cubicBezTo>
                  <a:pt x="369" y="139"/>
                  <a:pt x="369" y="139"/>
                  <a:pt x="369" y="139"/>
                </a:cubicBezTo>
                <a:cubicBezTo>
                  <a:pt x="369" y="306"/>
                  <a:pt x="369" y="306"/>
                  <a:pt x="369" y="306"/>
                </a:cubicBezTo>
                <a:cubicBezTo>
                  <a:pt x="369" y="337"/>
                  <a:pt x="343" y="363"/>
                  <a:pt x="311" y="363"/>
                </a:cubicBezTo>
                <a:lnTo>
                  <a:pt x="230" y="363"/>
                </a:lnTo>
                <a:close/>
              </a:path>
            </a:pathLst>
          </a:custGeom>
          <a:solidFill>
            <a:srgbClr val="92D400"/>
          </a:solidFill>
          <a:ln>
            <a:solidFill>
              <a:srgbClr val="92D400"/>
            </a:solid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107" name="Rectangle 82">
            <a:extLst>
              <a:ext uri="{FF2B5EF4-FFF2-40B4-BE49-F238E27FC236}">
                <a16:creationId xmlns:a16="http://schemas.microsoft.com/office/drawing/2014/main" id="{198708B0-95EA-4620-AD9B-9E971FAB907E}"/>
              </a:ext>
            </a:extLst>
          </p:cNvPr>
          <p:cNvSpPr>
            <a:spLocks noChangeArrowheads="1"/>
          </p:cNvSpPr>
          <p:nvPr/>
        </p:nvSpPr>
        <p:spPr bwMode="auto">
          <a:xfrm flipH="1">
            <a:off x="6572298" y="2600075"/>
            <a:ext cx="18306" cy="28600"/>
          </a:xfrm>
          <a:prstGeom prst="rect">
            <a:avLst/>
          </a:prstGeom>
          <a:solidFill>
            <a:srgbClr val="046A38"/>
          </a:solidFill>
          <a:ln>
            <a:solidFill>
              <a:srgbClr val="92D400"/>
            </a:solid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108" name="Freeform 83">
            <a:extLst>
              <a:ext uri="{FF2B5EF4-FFF2-40B4-BE49-F238E27FC236}">
                <a16:creationId xmlns:a16="http://schemas.microsoft.com/office/drawing/2014/main" id="{2647426C-6EC6-4952-ABD1-D8D304F0877E}"/>
              </a:ext>
            </a:extLst>
          </p:cNvPr>
          <p:cNvSpPr>
            <a:spLocks/>
          </p:cNvSpPr>
          <p:nvPr/>
        </p:nvSpPr>
        <p:spPr bwMode="auto">
          <a:xfrm flipH="1">
            <a:off x="6642736" y="2572505"/>
            <a:ext cx="144459" cy="103380"/>
          </a:xfrm>
          <a:custGeom>
            <a:avLst/>
            <a:gdLst>
              <a:gd name="T0" fmla="*/ 36 w 253"/>
              <a:gd name="T1" fmla="*/ 202 h 209"/>
              <a:gd name="T2" fmla="*/ 7 w 253"/>
              <a:gd name="T3" fmla="*/ 198 h 209"/>
              <a:gd name="T4" fmla="*/ 7 w 253"/>
              <a:gd name="T5" fmla="*/ 198 h 209"/>
              <a:gd name="T6" fmla="*/ 11 w 253"/>
              <a:gd name="T7" fmla="*/ 169 h 209"/>
              <a:gd name="T8" fmla="*/ 217 w 253"/>
              <a:gd name="T9" fmla="*/ 7 h 209"/>
              <a:gd name="T10" fmla="*/ 246 w 253"/>
              <a:gd name="T11" fmla="*/ 10 h 209"/>
              <a:gd name="T12" fmla="*/ 246 w 253"/>
              <a:gd name="T13" fmla="*/ 10 h 209"/>
              <a:gd name="T14" fmla="*/ 242 w 253"/>
              <a:gd name="T15" fmla="*/ 39 h 209"/>
              <a:gd name="T16" fmla="*/ 36 w 253"/>
              <a:gd name="T17" fmla="*/ 202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3" h="209">
                <a:moveTo>
                  <a:pt x="36" y="202"/>
                </a:moveTo>
                <a:cubicBezTo>
                  <a:pt x="27" y="209"/>
                  <a:pt x="14" y="207"/>
                  <a:pt x="7" y="198"/>
                </a:cubicBezTo>
                <a:cubicBezTo>
                  <a:pt x="7" y="198"/>
                  <a:pt x="7" y="198"/>
                  <a:pt x="7" y="198"/>
                </a:cubicBezTo>
                <a:cubicBezTo>
                  <a:pt x="0" y="190"/>
                  <a:pt x="2" y="176"/>
                  <a:pt x="11" y="169"/>
                </a:cubicBezTo>
                <a:cubicBezTo>
                  <a:pt x="217" y="7"/>
                  <a:pt x="217" y="7"/>
                  <a:pt x="217" y="7"/>
                </a:cubicBezTo>
                <a:cubicBezTo>
                  <a:pt x="226" y="0"/>
                  <a:pt x="239" y="1"/>
                  <a:pt x="246" y="10"/>
                </a:cubicBezTo>
                <a:cubicBezTo>
                  <a:pt x="246" y="10"/>
                  <a:pt x="246" y="10"/>
                  <a:pt x="246" y="10"/>
                </a:cubicBezTo>
                <a:cubicBezTo>
                  <a:pt x="253" y="19"/>
                  <a:pt x="251" y="32"/>
                  <a:pt x="242" y="39"/>
                </a:cubicBezTo>
                <a:lnTo>
                  <a:pt x="36" y="202"/>
                </a:lnTo>
                <a:close/>
              </a:path>
            </a:pathLst>
          </a:custGeom>
          <a:solidFill>
            <a:srgbClr val="92D400"/>
          </a:solidFill>
          <a:ln>
            <a:solidFill>
              <a:srgbClr val="92D400"/>
            </a:solid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109" name="Freeform 84">
            <a:extLst>
              <a:ext uri="{FF2B5EF4-FFF2-40B4-BE49-F238E27FC236}">
                <a16:creationId xmlns:a16="http://schemas.microsoft.com/office/drawing/2014/main" id="{56E13C8E-33CE-4FC4-A5C6-92B4C3D0B532}"/>
              </a:ext>
            </a:extLst>
          </p:cNvPr>
          <p:cNvSpPr>
            <a:spLocks/>
          </p:cNvSpPr>
          <p:nvPr/>
        </p:nvSpPr>
        <p:spPr bwMode="auto">
          <a:xfrm flipH="1">
            <a:off x="6517382" y="2572505"/>
            <a:ext cx="144459" cy="103380"/>
          </a:xfrm>
          <a:custGeom>
            <a:avLst/>
            <a:gdLst>
              <a:gd name="T0" fmla="*/ 217 w 253"/>
              <a:gd name="T1" fmla="*/ 202 h 209"/>
              <a:gd name="T2" fmla="*/ 246 w 253"/>
              <a:gd name="T3" fmla="*/ 198 h 209"/>
              <a:gd name="T4" fmla="*/ 246 w 253"/>
              <a:gd name="T5" fmla="*/ 198 h 209"/>
              <a:gd name="T6" fmla="*/ 242 w 253"/>
              <a:gd name="T7" fmla="*/ 169 h 209"/>
              <a:gd name="T8" fmla="*/ 36 w 253"/>
              <a:gd name="T9" fmla="*/ 7 h 209"/>
              <a:gd name="T10" fmla="*/ 7 w 253"/>
              <a:gd name="T11" fmla="*/ 10 h 209"/>
              <a:gd name="T12" fmla="*/ 7 w 253"/>
              <a:gd name="T13" fmla="*/ 10 h 209"/>
              <a:gd name="T14" fmla="*/ 10 w 253"/>
              <a:gd name="T15" fmla="*/ 39 h 209"/>
              <a:gd name="T16" fmla="*/ 217 w 253"/>
              <a:gd name="T17" fmla="*/ 202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3" h="209">
                <a:moveTo>
                  <a:pt x="217" y="202"/>
                </a:moveTo>
                <a:cubicBezTo>
                  <a:pt x="226" y="209"/>
                  <a:pt x="239" y="207"/>
                  <a:pt x="246" y="198"/>
                </a:cubicBezTo>
                <a:cubicBezTo>
                  <a:pt x="246" y="198"/>
                  <a:pt x="246" y="198"/>
                  <a:pt x="246" y="198"/>
                </a:cubicBezTo>
                <a:cubicBezTo>
                  <a:pt x="253" y="190"/>
                  <a:pt x="251" y="176"/>
                  <a:pt x="242" y="169"/>
                </a:cubicBezTo>
                <a:cubicBezTo>
                  <a:pt x="36" y="7"/>
                  <a:pt x="36" y="7"/>
                  <a:pt x="36" y="7"/>
                </a:cubicBezTo>
                <a:cubicBezTo>
                  <a:pt x="27" y="0"/>
                  <a:pt x="14" y="1"/>
                  <a:pt x="7" y="10"/>
                </a:cubicBezTo>
                <a:cubicBezTo>
                  <a:pt x="7" y="10"/>
                  <a:pt x="7" y="10"/>
                  <a:pt x="7" y="10"/>
                </a:cubicBezTo>
                <a:cubicBezTo>
                  <a:pt x="0" y="19"/>
                  <a:pt x="1" y="32"/>
                  <a:pt x="10" y="39"/>
                </a:cubicBezTo>
                <a:lnTo>
                  <a:pt x="217" y="202"/>
                </a:lnTo>
                <a:close/>
              </a:path>
            </a:pathLst>
          </a:custGeom>
          <a:solidFill>
            <a:srgbClr val="92D400"/>
          </a:solidFill>
          <a:ln>
            <a:solidFill>
              <a:srgbClr val="92D400"/>
            </a:solid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110" name="Rectangle 109">
            <a:extLst>
              <a:ext uri="{FF2B5EF4-FFF2-40B4-BE49-F238E27FC236}">
                <a16:creationId xmlns:a16="http://schemas.microsoft.com/office/drawing/2014/main" id="{3B85DF50-47E7-4C14-9F57-F494EE862167}"/>
              </a:ext>
            </a:extLst>
          </p:cNvPr>
          <p:cNvSpPr/>
          <p:nvPr/>
        </p:nvSpPr>
        <p:spPr>
          <a:xfrm flipH="1">
            <a:off x="6709915" y="2733255"/>
            <a:ext cx="46400" cy="58045"/>
          </a:xfrm>
          <a:prstGeom prst="rect">
            <a:avLst/>
          </a:prstGeom>
          <a:solidFill>
            <a:srgbClr val="92D400"/>
          </a:solid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11" name="Rectangle 110">
            <a:extLst>
              <a:ext uri="{FF2B5EF4-FFF2-40B4-BE49-F238E27FC236}">
                <a16:creationId xmlns:a16="http://schemas.microsoft.com/office/drawing/2014/main" id="{B7A8CF80-015F-41F9-8AB9-752224DC538F}"/>
              </a:ext>
            </a:extLst>
          </p:cNvPr>
          <p:cNvSpPr/>
          <p:nvPr/>
        </p:nvSpPr>
        <p:spPr>
          <a:xfrm flipH="1">
            <a:off x="6546433" y="2733255"/>
            <a:ext cx="46400" cy="58045"/>
          </a:xfrm>
          <a:prstGeom prst="rect">
            <a:avLst/>
          </a:prstGeom>
          <a:solidFill>
            <a:srgbClr val="92D400"/>
          </a:solid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12" name="Rectangle 111">
            <a:extLst>
              <a:ext uri="{FF2B5EF4-FFF2-40B4-BE49-F238E27FC236}">
                <a16:creationId xmlns:a16="http://schemas.microsoft.com/office/drawing/2014/main" id="{D39F8D74-83C2-42CC-8CF6-A732CF8317FE}"/>
              </a:ext>
            </a:extLst>
          </p:cNvPr>
          <p:cNvSpPr>
            <a:spLocks noChangeAspect="1"/>
          </p:cNvSpPr>
          <p:nvPr/>
        </p:nvSpPr>
        <p:spPr>
          <a:xfrm flipH="1">
            <a:off x="6261444" y="2572003"/>
            <a:ext cx="127620" cy="171186"/>
          </a:xfrm>
          <a:prstGeom prst="rect">
            <a:avLst/>
          </a:prstGeom>
          <a:solidFill>
            <a:srgbClr val="92D400"/>
          </a:solid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13" name="Lightning Bolt 112">
            <a:extLst>
              <a:ext uri="{FF2B5EF4-FFF2-40B4-BE49-F238E27FC236}">
                <a16:creationId xmlns:a16="http://schemas.microsoft.com/office/drawing/2014/main" id="{91970937-A294-4C67-81B7-7FEC177DA3F0}"/>
              </a:ext>
            </a:extLst>
          </p:cNvPr>
          <p:cNvSpPr>
            <a:spLocks noChangeAspect="1"/>
          </p:cNvSpPr>
          <p:nvPr/>
        </p:nvSpPr>
        <p:spPr>
          <a:xfrm flipH="1">
            <a:off x="6272262" y="2579487"/>
            <a:ext cx="103508" cy="145058"/>
          </a:xfrm>
          <a:prstGeom prst="lightningBolt">
            <a:avLst/>
          </a:prstGeom>
          <a:solidFill>
            <a:sysClr val="window" lastClr="FFFFFF"/>
          </a:solid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14" name="object 47">
            <a:extLst>
              <a:ext uri="{FF2B5EF4-FFF2-40B4-BE49-F238E27FC236}">
                <a16:creationId xmlns:a16="http://schemas.microsoft.com/office/drawing/2014/main" id="{F1B7CF89-E667-4488-A865-56944F56CAD9}"/>
              </a:ext>
            </a:extLst>
          </p:cNvPr>
          <p:cNvSpPr>
            <a:spLocks noChangeAspect="1"/>
          </p:cNvSpPr>
          <p:nvPr/>
        </p:nvSpPr>
        <p:spPr>
          <a:xfrm flipH="1">
            <a:off x="5670858" y="2200508"/>
            <a:ext cx="339635" cy="286332"/>
          </a:xfrm>
          <a:custGeom>
            <a:avLst/>
            <a:gdLst/>
            <a:ahLst/>
            <a:cxnLst/>
            <a:rect l="l" t="t" r="r" b="b"/>
            <a:pathLst>
              <a:path w="179705" h="189230">
                <a:moveTo>
                  <a:pt x="89687" y="0"/>
                </a:moveTo>
                <a:lnTo>
                  <a:pt x="0" y="46774"/>
                </a:lnTo>
                <a:lnTo>
                  <a:pt x="0" y="189026"/>
                </a:lnTo>
                <a:lnTo>
                  <a:pt x="179374" y="189026"/>
                </a:lnTo>
                <a:lnTo>
                  <a:pt x="179374" y="46774"/>
                </a:lnTo>
                <a:lnTo>
                  <a:pt x="89687" y="0"/>
                </a:lnTo>
                <a:close/>
              </a:path>
            </a:pathLst>
          </a:custGeom>
          <a:solidFill>
            <a:srgbClr val="92D400"/>
          </a:solid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15" name="Rectangle 114">
            <a:extLst>
              <a:ext uri="{FF2B5EF4-FFF2-40B4-BE49-F238E27FC236}">
                <a16:creationId xmlns:a16="http://schemas.microsoft.com/office/drawing/2014/main" id="{4066D306-0DA9-4D3A-94D8-F10FE67E10BB}"/>
              </a:ext>
            </a:extLst>
          </p:cNvPr>
          <p:cNvSpPr>
            <a:spLocks noChangeAspect="1"/>
          </p:cNvSpPr>
          <p:nvPr/>
        </p:nvSpPr>
        <p:spPr>
          <a:xfrm flipH="1">
            <a:off x="5700491" y="2236258"/>
            <a:ext cx="276508" cy="22137"/>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16" name="object 48">
            <a:extLst>
              <a:ext uri="{FF2B5EF4-FFF2-40B4-BE49-F238E27FC236}">
                <a16:creationId xmlns:a16="http://schemas.microsoft.com/office/drawing/2014/main" id="{4DF217B7-7921-4666-A770-F6E39B131165}"/>
              </a:ext>
            </a:extLst>
          </p:cNvPr>
          <p:cNvSpPr>
            <a:spLocks noChangeAspect="1"/>
          </p:cNvSpPr>
          <p:nvPr/>
        </p:nvSpPr>
        <p:spPr>
          <a:xfrm flipH="1">
            <a:off x="5670865" y="2173854"/>
            <a:ext cx="339635" cy="87438"/>
          </a:xfrm>
          <a:custGeom>
            <a:avLst/>
            <a:gdLst/>
            <a:ahLst/>
            <a:cxnLst/>
            <a:rect l="l" t="t" r="r" b="b"/>
            <a:pathLst>
              <a:path w="179705" h="57785">
                <a:moveTo>
                  <a:pt x="89687" y="0"/>
                </a:moveTo>
                <a:lnTo>
                  <a:pt x="0" y="46774"/>
                </a:lnTo>
                <a:lnTo>
                  <a:pt x="0" y="57492"/>
                </a:lnTo>
                <a:lnTo>
                  <a:pt x="89687" y="10718"/>
                </a:lnTo>
                <a:lnTo>
                  <a:pt x="110240" y="10718"/>
                </a:lnTo>
                <a:lnTo>
                  <a:pt x="89687" y="0"/>
                </a:lnTo>
                <a:close/>
              </a:path>
              <a:path w="179705" h="57785">
                <a:moveTo>
                  <a:pt x="110240" y="10718"/>
                </a:moveTo>
                <a:lnTo>
                  <a:pt x="89687" y="10718"/>
                </a:lnTo>
                <a:lnTo>
                  <a:pt x="179374" y="57492"/>
                </a:lnTo>
                <a:lnTo>
                  <a:pt x="179374" y="46774"/>
                </a:lnTo>
                <a:lnTo>
                  <a:pt x="110240" y="10718"/>
                </a:lnTo>
                <a:close/>
              </a:path>
            </a:pathLst>
          </a:custGeom>
          <a:solidFill>
            <a:schemeClr val="bg1"/>
          </a:solidFill>
          <a:ln>
            <a:solidFill>
              <a:srgbClr val="92D400"/>
            </a:solidFill>
          </a:ln>
        </p:spPr>
        <p:txBody>
          <a:bodyPr wrap="square" lIns="0" tIns="0" rIns="0" bIns="0" rtlCol="0"/>
          <a:lstStyle/>
          <a:p>
            <a:pPr defTabSz="914403">
              <a:defRPr/>
            </a:pPr>
            <a:endParaRPr sz="1799" kern="0" dirty="0">
              <a:solidFill>
                <a:prstClr val="white"/>
              </a:solidFill>
              <a:latin typeface="+mj-lt"/>
            </a:endParaRPr>
          </a:p>
        </p:txBody>
      </p:sp>
      <p:grpSp>
        <p:nvGrpSpPr>
          <p:cNvPr id="117" name="Group 116">
            <a:extLst>
              <a:ext uri="{FF2B5EF4-FFF2-40B4-BE49-F238E27FC236}">
                <a16:creationId xmlns:a16="http://schemas.microsoft.com/office/drawing/2014/main" id="{DAF12A31-64FB-41A8-9D4A-3E976B268B9C}"/>
              </a:ext>
            </a:extLst>
          </p:cNvPr>
          <p:cNvGrpSpPr/>
          <p:nvPr/>
        </p:nvGrpSpPr>
        <p:grpSpPr>
          <a:xfrm flipH="1">
            <a:off x="5700491" y="2278710"/>
            <a:ext cx="276508" cy="132827"/>
            <a:chOff x="11040795" y="1580306"/>
            <a:chExt cx="507849" cy="206099"/>
          </a:xfrm>
          <a:solidFill>
            <a:schemeClr val="bg1"/>
          </a:solidFill>
        </p:grpSpPr>
        <p:sp>
          <p:nvSpPr>
            <p:cNvPr id="118" name="Rectangle 117">
              <a:extLst>
                <a:ext uri="{FF2B5EF4-FFF2-40B4-BE49-F238E27FC236}">
                  <a16:creationId xmlns:a16="http://schemas.microsoft.com/office/drawing/2014/main" id="{8AB3CD92-A84A-46F9-B32F-704AAFCFA393}"/>
                </a:ext>
              </a:extLst>
            </p:cNvPr>
            <p:cNvSpPr>
              <a:spLocks noChangeAspect="1"/>
            </p:cNvSpPr>
            <p:nvPr/>
          </p:nvSpPr>
          <p:spPr>
            <a:xfrm>
              <a:off x="11502924" y="1580306"/>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19" name="Rectangle 118">
              <a:extLst>
                <a:ext uri="{FF2B5EF4-FFF2-40B4-BE49-F238E27FC236}">
                  <a16:creationId xmlns:a16="http://schemas.microsoft.com/office/drawing/2014/main" id="{7359C06A-3DFA-4898-A8AB-A37360F490A6}"/>
                </a:ext>
              </a:extLst>
            </p:cNvPr>
            <p:cNvSpPr>
              <a:spLocks noChangeAspect="1"/>
            </p:cNvSpPr>
            <p:nvPr/>
          </p:nvSpPr>
          <p:spPr>
            <a:xfrm>
              <a:off x="11387391" y="1580306"/>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20" name="Rectangle 119">
              <a:extLst>
                <a:ext uri="{FF2B5EF4-FFF2-40B4-BE49-F238E27FC236}">
                  <a16:creationId xmlns:a16="http://schemas.microsoft.com/office/drawing/2014/main" id="{63A4DF1B-D767-4DA4-8C99-20BEE2BD6AD6}"/>
                </a:ext>
              </a:extLst>
            </p:cNvPr>
            <p:cNvSpPr>
              <a:spLocks noChangeAspect="1"/>
            </p:cNvSpPr>
            <p:nvPr/>
          </p:nvSpPr>
          <p:spPr>
            <a:xfrm>
              <a:off x="11156327" y="1580306"/>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21" name="Rectangle 120">
              <a:extLst>
                <a:ext uri="{FF2B5EF4-FFF2-40B4-BE49-F238E27FC236}">
                  <a16:creationId xmlns:a16="http://schemas.microsoft.com/office/drawing/2014/main" id="{AD5D3887-0C99-406F-BB98-9DDFFE0617AE}"/>
                </a:ext>
              </a:extLst>
            </p:cNvPr>
            <p:cNvSpPr>
              <a:spLocks noChangeAspect="1"/>
            </p:cNvSpPr>
            <p:nvPr/>
          </p:nvSpPr>
          <p:spPr>
            <a:xfrm>
              <a:off x="11040795" y="1580306"/>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22" name="Rectangle 121">
              <a:extLst>
                <a:ext uri="{FF2B5EF4-FFF2-40B4-BE49-F238E27FC236}">
                  <a16:creationId xmlns:a16="http://schemas.microsoft.com/office/drawing/2014/main" id="{C7A07D21-C16F-4D3E-9BD1-70AF407F50EF}"/>
                </a:ext>
              </a:extLst>
            </p:cNvPr>
            <p:cNvSpPr>
              <a:spLocks noChangeAspect="1"/>
            </p:cNvSpPr>
            <p:nvPr/>
          </p:nvSpPr>
          <p:spPr>
            <a:xfrm>
              <a:off x="11271859" y="1580306"/>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23" name="Rectangle 122">
              <a:extLst>
                <a:ext uri="{FF2B5EF4-FFF2-40B4-BE49-F238E27FC236}">
                  <a16:creationId xmlns:a16="http://schemas.microsoft.com/office/drawing/2014/main" id="{89DDA15F-A04D-4FC7-B21D-6FB334A5C5E8}"/>
                </a:ext>
              </a:extLst>
            </p:cNvPr>
            <p:cNvSpPr>
              <a:spLocks noChangeAspect="1"/>
            </p:cNvSpPr>
            <p:nvPr/>
          </p:nvSpPr>
          <p:spPr>
            <a:xfrm>
              <a:off x="11502924" y="166049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24" name="Rectangle 123">
              <a:extLst>
                <a:ext uri="{FF2B5EF4-FFF2-40B4-BE49-F238E27FC236}">
                  <a16:creationId xmlns:a16="http://schemas.microsoft.com/office/drawing/2014/main" id="{6B40FDA1-24AC-46FB-96C5-EB5A842F10AE}"/>
                </a:ext>
              </a:extLst>
            </p:cNvPr>
            <p:cNvSpPr>
              <a:spLocks noChangeAspect="1"/>
            </p:cNvSpPr>
            <p:nvPr/>
          </p:nvSpPr>
          <p:spPr>
            <a:xfrm>
              <a:off x="11387391" y="166049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25" name="Rectangle 124">
              <a:extLst>
                <a:ext uri="{FF2B5EF4-FFF2-40B4-BE49-F238E27FC236}">
                  <a16:creationId xmlns:a16="http://schemas.microsoft.com/office/drawing/2014/main" id="{648D8CB7-BC10-4198-A445-B1A8B70CD9B7}"/>
                </a:ext>
              </a:extLst>
            </p:cNvPr>
            <p:cNvSpPr>
              <a:spLocks noChangeAspect="1"/>
            </p:cNvSpPr>
            <p:nvPr/>
          </p:nvSpPr>
          <p:spPr>
            <a:xfrm>
              <a:off x="11156327" y="166049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26" name="Rectangle 125">
              <a:extLst>
                <a:ext uri="{FF2B5EF4-FFF2-40B4-BE49-F238E27FC236}">
                  <a16:creationId xmlns:a16="http://schemas.microsoft.com/office/drawing/2014/main" id="{31E51956-37FB-4C9B-A116-51EE5855A660}"/>
                </a:ext>
              </a:extLst>
            </p:cNvPr>
            <p:cNvSpPr>
              <a:spLocks noChangeAspect="1"/>
            </p:cNvSpPr>
            <p:nvPr/>
          </p:nvSpPr>
          <p:spPr>
            <a:xfrm>
              <a:off x="11040795" y="166049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27" name="Rectangle 126">
              <a:extLst>
                <a:ext uri="{FF2B5EF4-FFF2-40B4-BE49-F238E27FC236}">
                  <a16:creationId xmlns:a16="http://schemas.microsoft.com/office/drawing/2014/main" id="{A4063817-5FB1-4F1D-AAA9-F3F262B2A785}"/>
                </a:ext>
              </a:extLst>
            </p:cNvPr>
            <p:cNvSpPr>
              <a:spLocks noChangeAspect="1"/>
            </p:cNvSpPr>
            <p:nvPr/>
          </p:nvSpPr>
          <p:spPr>
            <a:xfrm>
              <a:off x="11271859" y="166049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28" name="Rectangle 127">
              <a:extLst>
                <a:ext uri="{FF2B5EF4-FFF2-40B4-BE49-F238E27FC236}">
                  <a16:creationId xmlns:a16="http://schemas.microsoft.com/office/drawing/2014/main" id="{C52E7066-9C8D-4BF9-97E8-2218772D6318}"/>
                </a:ext>
              </a:extLst>
            </p:cNvPr>
            <p:cNvSpPr>
              <a:spLocks noChangeAspect="1"/>
            </p:cNvSpPr>
            <p:nvPr/>
          </p:nvSpPr>
          <p:spPr>
            <a:xfrm>
              <a:off x="11502924" y="174068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29" name="Rectangle 128">
              <a:extLst>
                <a:ext uri="{FF2B5EF4-FFF2-40B4-BE49-F238E27FC236}">
                  <a16:creationId xmlns:a16="http://schemas.microsoft.com/office/drawing/2014/main" id="{7E3DE5E2-4699-44EA-B109-6C2EFE3809D3}"/>
                </a:ext>
              </a:extLst>
            </p:cNvPr>
            <p:cNvSpPr>
              <a:spLocks noChangeAspect="1"/>
            </p:cNvSpPr>
            <p:nvPr/>
          </p:nvSpPr>
          <p:spPr>
            <a:xfrm>
              <a:off x="11387391" y="174068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30" name="Rectangle 129">
              <a:extLst>
                <a:ext uri="{FF2B5EF4-FFF2-40B4-BE49-F238E27FC236}">
                  <a16:creationId xmlns:a16="http://schemas.microsoft.com/office/drawing/2014/main" id="{CE184983-41B7-44DE-B5A5-C49E59C3A942}"/>
                </a:ext>
              </a:extLst>
            </p:cNvPr>
            <p:cNvSpPr>
              <a:spLocks noChangeAspect="1"/>
            </p:cNvSpPr>
            <p:nvPr/>
          </p:nvSpPr>
          <p:spPr>
            <a:xfrm>
              <a:off x="11156327" y="174068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31" name="Rectangle 130">
              <a:extLst>
                <a:ext uri="{FF2B5EF4-FFF2-40B4-BE49-F238E27FC236}">
                  <a16:creationId xmlns:a16="http://schemas.microsoft.com/office/drawing/2014/main" id="{C2669B80-9B64-494A-A495-C5FF826379B0}"/>
                </a:ext>
              </a:extLst>
            </p:cNvPr>
            <p:cNvSpPr>
              <a:spLocks noChangeAspect="1"/>
            </p:cNvSpPr>
            <p:nvPr/>
          </p:nvSpPr>
          <p:spPr>
            <a:xfrm>
              <a:off x="11040795" y="174068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32" name="Rectangle 131">
              <a:extLst>
                <a:ext uri="{FF2B5EF4-FFF2-40B4-BE49-F238E27FC236}">
                  <a16:creationId xmlns:a16="http://schemas.microsoft.com/office/drawing/2014/main" id="{7C28C2BE-15D7-4D97-89DC-C896A44BC27B}"/>
                </a:ext>
              </a:extLst>
            </p:cNvPr>
            <p:cNvSpPr>
              <a:spLocks noChangeAspect="1"/>
            </p:cNvSpPr>
            <p:nvPr/>
          </p:nvSpPr>
          <p:spPr>
            <a:xfrm>
              <a:off x="11271859" y="174068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grpSp>
      <p:sp>
        <p:nvSpPr>
          <p:cNvPr id="133" name="Rectangle 132">
            <a:extLst>
              <a:ext uri="{FF2B5EF4-FFF2-40B4-BE49-F238E27FC236}">
                <a16:creationId xmlns:a16="http://schemas.microsoft.com/office/drawing/2014/main" id="{F28CADE4-409A-4252-B08D-8A78841BAEA4}"/>
              </a:ext>
            </a:extLst>
          </p:cNvPr>
          <p:cNvSpPr>
            <a:spLocks noChangeAspect="1"/>
          </p:cNvSpPr>
          <p:nvPr/>
        </p:nvSpPr>
        <p:spPr>
          <a:xfrm flipH="1">
            <a:off x="5700493" y="2434186"/>
            <a:ext cx="24893" cy="29467"/>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34" name="Rectangle 133">
            <a:extLst>
              <a:ext uri="{FF2B5EF4-FFF2-40B4-BE49-F238E27FC236}">
                <a16:creationId xmlns:a16="http://schemas.microsoft.com/office/drawing/2014/main" id="{85F2D48D-07C5-4764-B6F8-0E26B43E94EB}"/>
              </a:ext>
            </a:extLst>
          </p:cNvPr>
          <p:cNvSpPr>
            <a:spLocks noChangeAspect="1"/>
          </p:cNvSpPr>
          <p:nvPr/>
        </p:nvSpPr>
        <p:spPr>
          <a:xfrm flipH="1">
            <a:off x="5763398" y="2434186"/>
            <a:ext cx="24893" cy="29467"/>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35" name="Rectangle 134">
            <a:extLst>
              <a:ext uri="{FF2B5EF4-FFF2-40B4-BE49-F238E27FC236}">
                <a16:creationId xmlns:a16="http://schemas.microsoft.com/office/drawing/2014/main" id="{A0872B8F-7EE6-4724-A2B1-948BD851AF45}"/>
              </a:ext>
            </a:extLst>
          </p:cNvPr>
          <p:cNvSpPr>
            <a:spLocks noChangeAspect="1"/>
          </p:cNvSpPr>
          <p:nvPr/>
        </p:nvSpPr>
        <p:spPr>
          <a:xfrm flipH="1">
            <a:off x="5889204" y="2434186"/>
            <a:ext cx="24893" cy="29467"/>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36" name="Rectangle 135">
            <a:extLst>
              <a:ext uri="{FF2B5EF4-FFF2-40B4-BE49-F238E27FC236}">
                <a16:creationId xmlns:a16="http://schemas.microsoft.com/office/drawing/2014/main" id="{D272E509-8717-465A-8EFC-E719A1E4CE2C}"/>
              </a:ext>
            </a:extLst>
          </p:cNvPr>
          <p:cNvSpPr>
            <a:spLocks noChangeAspect="1"/>
          </p:cNvSpPr>
          <p:nvPr/>
        </p:nvSpPr>
        <p:spPr>
          <a:xfrm flipH="1">
            <a:off x="5952110" y="2434186"/>
            <a:ext cx="24893" cy="29467"/>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37" name="Rectangle 136">
            <a:extLst>
              <a:ext uri="{FF2B5EF4-FFF2-40B4-BE49-F238E27FC236}">
                <a16:creationId xmlns:a16="http://schemas.microsoft.com/office/drawing/2014/main" id="{4E6EB571-B08D-4EBF-BC99-223FF1111E34}"/>
              </a:ext>
            </a:extLst>
          </p:cNvPr>
          <p:cNvSpPr>
            <a:spLocks noChangeAspect="1"/>
          </p:cNvSpPr>
          <p:nvPr/>
        </p:nvSpPr>
        <p:spPr>
          <a:xfrm flipH="1">
            <a:off x="5811094" y="2434187"/>
            <a:ext cx="55302" cy="51921"/>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138" name="object 46">
            <a:extLst>
              <a:ext uri="{FF2B5EF4-FFF2-40B4-BE49-F238E27FC236}">
                <a16:creationId xmlns:a16="http://schemas.microsoft.com/office/drawing/2014/main" id="{2BB51CDF-4A3A-41B1-9B1C-8C3018F8FCA4}"/>
              </a:ext>
            </a:extLst>
          </p:cNvPr>
          <p:cNvSpPr>
            <a:spLocks noChangeAspect="1"/>
          </p:cNvSpPr>
          <p:nvPr/>
        </p:nvSpPr>
        <p:spPr>
          <a:xfrm flipH="1">
            <a:off x="6051015" y="2347221"/>
            <a:ext cx="400339" cy="139618"/>
          </a:xfrm>
          <a:custGeom>
            <a:avLst/>
            <a:gdLst/>
            <a:ahLst/>
            <a:cxnLst/>
            <a:rect l="l" t="t" r="r" b="b"/>
            <a:pathLst>
              <a:path w="120650" h="104139">
                <a:moveTo>
                  <a:pt x="0" y="104025"/>
                </a:moveTo>
                <a:lnTo>
                  <a:pt x="120459" y="104025"/>
                </a:lnTo>
                <a:lnTo>
                  <a:pt x="120459" y="0"/>
                </a:lnTo>
                <a:lnTo>
                  <a:pt x="0" y="0"/>
                </a:lnTo>
                <a:lnTo>
                  <a:pt x="0" y="104025"/>
                </a:lnTo>
                <a:close/>
              </a:path>
            </a:pathLst>
          </a:custGeom>
          <a:solidFill>
            <a:srgbClr val="92D400"/>
          </a:solidFill>
          <a:ln>
            <a:solidFill>
              <a:srgbClr val="92D400"/>
            </a:solidFill>
          </a:ln>
        </p:spPr>
        <p:txBody>
          <a:bodyPr wrap="square" lIns="0" tIns="0" rIns="0" bIns="0" rtlCol="0"/>
          <a:lstStyle/>
          <a:p>
            <a:pPr defTabSz="914403">
              <a:defRPr/>
            </a:pPr>
            <a:endParaRPr sz="1799" kern="0">
              <a:solidFill>
                <a:prstClr val="white"/>
              </a:solidFill>
              <a:latin typeface="+mj-lt"/>
            </a:endParaRPr>
          </a:p>
        </p:txBody>
      </p:sp>
      <p:grpSp>
        <p:nvGrpSpPr>
          <p:cNvPr id="139" name="Group 138">
            <a:extLst>
              <a:ext uri="{FF2B5EF4-FFF2-40B4-BE49-F238E27FC236}">
                <a16:creationId xmlns:a16="http://schemas.microsoft.com/office/drawing/2014/main" id="{3789DED9-E903-462E-BCDF-C9F036E756CC}"/>
              </a:ext>
            </a:extLst>
          </p:cNvPr>
          <p:cNvGrpSpPr>
            <a:grpSpLocks noChangeAspect="1"/>
          </p:cNvGrpSpPr>
          <p:nvPr/>
        </p:nvGrpSpPr>
        <p:grpSpPr>
          <a:xfrm flipH="1">
            <a:off x="6050422" y="2291143"/>
            <a:ext cx="196450" cy="47737"/>
            <a:chOff x="9839670" y="852034"/>
            <a:chExt cx="162412" cy="49293"/>
          </a:xfrm>
          <a:solidFill>
            <a:sysClr val="window" lastClr="FFFFFF"/>
          </a:solidFill>
        </p:grpSpPr>
        <p:sp>
          <p:nvSpPr>
            <p:cNvPr id="140" name="object 58">
              <a:extLst>
                <a:ext uri="{FF2B5EF4-FFF2-40B4-BE49-F238E27FC236}">
                  <a16:creationId xmlns:a16="http://schemas.microsoft.com/office/drawing/2014/main" id="{8E8C1EDC-FB04-4103-856A-B086BCF710BB}"/>
                </a:ext>
              </a:extLst>
            </p:cNvPr>
            <p:cNvSpPr/>
            <p:nvPr/>
          </p:nvSpPr>
          <p:spPr>
            <a:xfrm>
              <a:off x="9859619" y="852034"/>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41" name="object 60">
              <a:extLst>
                <a:ext uri="{FF2B5EF4-FFF2-40B4-BE49-F238E27FC236}">
                  <a16:creationId xmlns:a16="http://schemas.microsoft.com/office/drawing/2014/main" id="{57185FE9-F93E-4C02-B9DB-2905A02EEC3A}"/>
                </a:ext>
              </a:extLst>
            </p:cNvPr>
            <p:cNvSpPr/>
            <p:nvPr/>
          </p:nvSpPr>
          <p:spPr>
            <a:xfrm>
              <a:off x="9896481" y="852034"/>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42" name="object 61">
              <a:extLst>
                <a:ext uri="{FF2B5EF4-FFF2-40B4-BE49-F238E27FC236}">
                  <a16:creationId xmlns:a16="http://schemas.microsoft.com/office/drawing/2014/main" id="{E59555E1-2F24-45CA-B5E1-37ACC4BE4D42}"/>
                </a:ext>
              </a:extLst>
            </p:cNvPr>
            <p:cNvSpPr/>
            <p:nvPr/>
          </p:nvSpPr>
          <p:spPr>
            <a:xfrm>
              <a:off x="9878158" y="852034"/>
              <a:ext cx="20836" cy="8930"/>
            </a:xfrm>
            <a:custGeom>
              <a:avLst/>
              <a:gdLst/>
              <a:ahLst/>
              <a:cxnLst/>
              <a:rect l="l" t="t" r="r" b="b"/>
              <a:pathLst>
                <a:path w="13334" h="5714">
                  <a:moveTo>
                    <a:pt x="12865" y="0"/>
                  </a:moveTo>
                  <a:lnTo>
                    <a:pt x="2806" y="0"/>
                  </a:lnTo>
                  <a:lnTo>
                    <a:pt x="0" y="5664"/>
                  </a:lnTo>
                  <a:lnTo>
                    <a:pt x="10058" y="5664"/>
                  </a:lnTo>
                  <a:lnTo>
                    <a:pt x="12865"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43" name="object 62">
              <a:extLst>
                <a:ext uri="{FF2B5EF4-FFF2-40B4-BE49-F238E27FC236}">
                  <a16:creationId xmlns:a16="http://schemas.microsoft.com/office/drawing/2014/main" id="{DC118686-4440-4668-8271-913C5200D128}"/>
                </a:ext>
              </a:extLst>
            </p:cNvPr>
            <p:cNvSpPr/>
            <p:nvPr/>
          </p:nvSpPr>
          <p:spPr>
            <a:xfrm>
              <a:off x="9988191" y="852034"/>
              <a:ext cx="13891" cy="8930"/>
            </a:xfrm>
            <a:custGeom>
              <a:avLst/>
              <a:gdLst/>
              <a:ahLst/>
              <a:cxnLst/>
              <a:rect l="l" t="t" r="r" b="b"/>
              <a:pathLst>
                <a:path w="8890" h="5714">
                  <a:moveTo>
                    <a:pt x="8394" y="0"/>
                  </a:moveTo>
                  <a:lnTo>
                    <a:pt x="2793" y="0"/>
                  </a:lnTo>
                  <a:lnTo>
                    <a:pt x="0" y="5664"/>
                  </a:lnTo>
                  <a:lnTo>
                    <a:pt x="8394" y="5664"/>
                  </a:lnTo>
                  <a:lnTo>
                    <a:pt x="8394"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44" name="object 63">
              <a:extLst>
                <a:ext uri="{FF2B5EF4-FFF2-40B4-BE49-F238E27FC236}">
                  <a16:creationId xmlns:a16="http://schemas.microsoft.com/office/drawing/2014/main" id="{1F90390E-E943-4873-BDDD-F0ABE45C7C31}"/>
                </a:ext>
              </a:extLst>
            </p:cNvPr>
            <p:cNvSpPr/>
            <p:nvPr/>
          </p:nvSpPr>
          <p:spPr>
            <a:xfrm>
              <a:off x="9969850" y="852034"/>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45" name="object 64">
              <a:extLst>
                <a:ext uri="{FF2B5EF4-FFF2-40B4-BE49-F238E27FC236}">
                  <a16:creationId xmlns:a16="http://schemas.microsoft.com/office/drawing/2014/main" id="{7C5A07E4-0C1F-4069-8D00-D96898FDE35A}"/>
                </a:ext>
              </a:extLst>
            </p:cNvPr>
            <p:cNvSpPr/>
            <p:nvPr/>
          </p:nvSpPr>
          <p:spPr>
            <a:xfrm>
              <a:off x="9951508" y="852034"/>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46" name="object 65">
              <a:extLst>
                <a:ext uri="{FF2B5EF4-FFF2-40B4-BE49-F238E27FC236}">
                  <a16:creationId xmlns:a16="http://schemas.microsoft.com/office/drawing/2014/main" id="{3648196B-11AF-49C3-804C-040F8669B01D}"/>
                </a:ext>
              </a:extLst>
            </p:cNvPr>
            <p:cNvSpPr/>
            <p:nvPr/>
          </p:nvSpPr>
          <p:spPr>
            <a:xfrm>
              <a:off x="9933185" y="852034"/>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47" name="object 66">
              <a:extLst>
                <a:ext uri="{FF2B5EF4-FFF2-40B4-BE49-F238E27FC236}">
                  <a16:creationId xmlns:a16="http://schemas.microsoft.com/office/drawing/2014/main" id="{AC700D56-44A8-4C96-A1C3-308BBEDD4FEB}"/>
                </a:ext>
              </a:extLst>
            </p:cNvPr>
            <p:cNvSpPr/>
            <p:nvPr/>
          </p:nvSpPr>
          <p:spPr>
            <a:xfrm>
              <a:off x="9914824" y="852034"/>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48" name="object 68">
              <a:extLst>
                <a:ext uri="{FF2B5EF4-FFF2-40B4-BE49-F238E27FC236}">
                  <a16:creationId xmlns:a16="http://schemas.microsoft.com/office/drawing/2014/main" id="{C6E5B6D9-B649-4BD7-B75A-63FC29544841}"/>
                </a:ext>
              </a:extLst>
            </p:cNvPr>
            <p:cNvSpPr/>
            <p:nvPr/>
          </p:nvSpPr>
          <p:spPr>
            <a:xfrm>
              <a:off x="9928183" y="862161"/>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49" name="object 69">
              <a:extLst>
                <a:ext uri="{FF2B5EF4-FFF2-40B4-BE49-F238E27FC236}">
                  <a16:creationId xmlns:a16="http://schemas.microsoft.com/office/drawing/2014/main" id="{62172013-16DE-4729-A0BC-328F9B0E60BB}"/>
                </a:ext>
              </a:extLst>
            </p:cNvPr>
            <p:cNvSpPr/>
            <p:nvPr/>
          </p:nvSpPr>
          <p:spPr>
            <a:xfrm>
              <a:off x="9909842" y="862161"/>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50" name="object 70">
              <a:extLst>
                <a:ext uri="{FF2B5EF4-FFF2-40B4-BE49-F238E27FC236}">
                  <a16:creationId xmlns:a16="http://schemas.microsoft.com/office/drawing/2014/main" id="{E111FD04-535C-4EA2-93B5-5CC2D8C01E9D}"/>
                </a:ext>
              </a:extLst>
            </p:cNvPr>
            <p:cNvSpPr/>
            <p:nvPr/>
          </p:nvSpPr>
          <p:spPr>
            <a:xfrm>
              <a:off x="9891481" y="862161"/>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51" name="object 71">
              <a:extLst>
                <a:ext uri="{FF2B5EF4-FFF2-40B4-BE49-F238E27FC236}">
                  <a16:creationId xmlns:a16="http://schemas.microsoft.com/office/drawing/2014/main" id="{955488C7-9EFA-4FE1-A4F5-7F12FBA35D2A}"/>
                </a:ext>
              </a:extLst>
            </p:cNvPr>
            <p:cNvSpPr/>
            <p:nvPr/>
          </p:nvSpPr>
          <p:spPr>
            <a:xfrm>
              <a:off x="9873156" y="862161"/>
              <a:ext cx="20836" cy="8930"/>
            </a:xfrm>
            <a:custGeom>
              <a:avLst/>
              <a:gdLst/>
              <a:ahLst/>
              <a:cxnLst/>
              <a:rect l="l" t="t" r="r" b="b"/>
              <a:pathLst>
                <a:path w="13334" h="5714">
                  <a:moveTo>
                    <a:pt x="12865" y="0"/>
                  </a:moveTo>
                  <a:lnTo>
                    <a:pt x="2806" y="0"/>
                  </a:lnTo>
                  <a:lnTo>
                    <a:pt x="0" y="5651"/>
                  </a:lnTo>
                  <a:lnTo>
                    <a:pt x="10058" y="5651"/>
                  </a:lnTo>
                  <a:lnTo>
                    <a:pt x="12865"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52" name="object 72">
              <a:extLst>
                <a:ext uri="{FF2B5EF4-FFF2-40B4-BE49-F238E27FC236}">
                  <a16:creationId xmlns:a16="http://schemas.microsoft.com/office/drawing/2014/main" id="{5217BB9F-0DC5-403D-BE4A-CD045395794B}"/>
                </a:ext>
              </a:extLst>
            </p:cNvPr>
            <p:cNvSpPr/>
            <p:nvPr/>
          </p:nvSpPr>
          <p:spPr>
            <a:xfrm>
              <a:off x="9854619" y="862161"/>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53" name="object 73">
              <a:extLst>
                <a:ext uri="{FF2B5EF4-FFF2-40B4-BE49-F238E27FC236}">
                  <a16:creationId xmlns:a16="http://schemas.microsoft.com/office/drawing/2014/main" id="{CF4DF933-906D-4C01-B08D-CFBA65F04C4B}"/>
                </a:ext>
              </a:extLst>
            </p:cNvPr>
            <p:cNvSpPr/>
            <p:nvPr/>
          </p:nvSpPr>
          <p:spPr>
            <a:xfrm>
              <a:off x="9946508" y="862161"/>
              <a:ext cx="20836" cy="8930"/>
            </a:xfrm>
            <a:custGeom>
              <a:avLst/>
              <a:gdLst/>
              <a:ahLst/>
              <a:cxnLst/>
              <a:rect l="l" t="t" r="r" b="b"/>
              <a:pathLst>
                <a:path w="13334" h="5714">
                  <a:moveTo>
                    <a:pt x="12979" y="0"/>
                  </a:moveTo>
                  <a:lnTo>
                    <a:pt x="2793" y="0"/>
                  </a:lnTo>
                  <a:lnTo>
                    <a:pt x="0" y="5651"/>
                  </a:lnTo>
                  <a:lnTo>
                    <a:pt x="10185" y="5651"/>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54" name="object 74">
              <a:extLst>
                <a:ext uri="{FF2B5EF4-FFF2-40B4-BE49-F238E27FC236}">
                  <a16:creationId xmlns:a16="http://schemas.microsoft.com/office/drawing/2014/main" id="{485EB812-1C79-434F-B22A-2C96361AE200}"/>
                </a:ext>
              </a:extLst>
            </p:cNvPr>
            <p:cNvSpPr/>
            <p:nvPr/>
          </p:nvSpPr>
          <p:spPr>
            <a:xfrm>
              <a:off x="9983191" y="862161"/>
              <a:ext cx="18852" cy="8930"/>
            </a:xfrm>
            <a:custGeom>
              <a:avLst/>
              <a:gdLst/>
              <a:ahLst/>
              <a:cxnLst/>
              <a:rect l="l" t="t" r="r" b="b"/>
              <a:pathLst>
                <a:path w="12065" h="5714">
                  <a:moveTo>
                    <a:pt x="11595" y="0"/>
                  </a:moveTo>
                  <a:lnTo>
                    <a:pt x="2793" y="0"/>
                  </a:lnTo>
                  <a:lnTo>
                    <a:pt x="0" y="5651"/>
                  </a:lnTo>
                  <a:lnTo>
                    <a:pt x="10172" y="5651"/>
                  </a:lnTo>
                  <a:lnTo>
                    <a:pt x="11595" y="2794"/>
                  </a:lnTo>
                  <a:lnTo>
                    <a:pt x="11595"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55" name="object 75">
              <a:extLst>
                <a:ext uri="{FF2B5EF4-FFF2-40B4-BE49-F238E27FC236}">
                  <a16:creationId xmlns:a16="http://schemas.microsoft.com/office/drawing/2014/main" id="{15BB4334-7FF4-49BC-92C9-7FDAF955E68C}"/>
                </a:ext>
              </a:extLst>
            </p:cNvPr>
            <p:cNvSpPr/>
            <p:nvPr/>
          </p:nvSpPr>
          <p:spPr>
            <a:xfrm>
              <a:off x="9964849" y="862161"/>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56" name="object 76">
              <a:extLst>
                <a:ext uri="{FF2B5EF4-FFF2-40B4-BE49-F238E27FC236}">
                  <a16:creationId xmlns:a16="http://schemas.microsoft.com/office/drawing/2014/main" id="{75E12868-F1F1-4083-A3E8-3E3E75E2242F}"/>
                </a:ext>
              </a:extLst>
            </p:cNvPr>
            <p:cNvSpPr/>
            <p:nvPr/>
          </p:nvSpPr>
          <p:spPr>
            <a:xfrm>
              <a:off x="9849672" y="872162"/>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57" name="object 78">
              <a:extLst>
                <a:ext uri="{FF2B5EF4-FFF2-40B4-BE49-F238E27FC236}">
                  <a16:creationId xmlns:a16="http://schemas.microsoft.com/office/drawing/2014/main" id="{71A4D3B9-F411-44FA-96F9-7AF6A8589965}"/>
                </a:ext>
              </a:extLst>
            </p:cNvPr>
            <p:cNvSpPr/>
            <p:nvPr/>
          </p:nvSpPr>
          <p:spPr>
            <a:xfrm>
              <a:off x="9868211" y="872162"/>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58" name="object 79">
              <a:extLst>
                <a:ext uri="{FF2B5EF4-FFF2-40B4-BE49-F238E27FC236}">
                  <a16:creationId xmlns:a16="http://schemas.microsoft.com/office/drawing/2014/main" id="{7D5885D0-EF6E-4DF4-926C-6E128B357E10}"/>
                </a:ext>
              </a:extLst>
            </p:cNvPr>
            <p:cNvSpPr/>
            <p:nvPr/>
          </p:nvSpPr>
          <p:spPr>
            <a:xfrm>
              <a:off x="9886553" y="872162"/>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59" name="object 80">
              <a:extLst>
                <a:ext uri="{FF2B5EF4-FFF2-40B4-BE49-F238E27FC236}">
                  <a16:creationId xmlns:a16="http://schemas.microsoft.com/office/drawing/2014/main" id="{10C22E32-E6C3-4B4E-9CC4-94491280E368}"/>
                </a:ext>
              </a:extLst>
            </p:cNvPr>
            <p:cNvSpPr/>
            <p:nvPr/>
          </p:nvSpPr>
          <p:spPr>
            <a:xfrm>
              <a:off x="9904895" y="872162"/>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60" name="object 81">
              <a:extLst>
                <a:ext uri="{FF2B5EF4-FFF2-40B4-BE49-F238E27FC236}">
                  <a16:creationId xmlns:a16="http://schemas.microsoft.com/office/drawing/2014/main" id="{869CC916-2C16-49F2-BC2E-AB181266E1F1}"/>
                </a:ext>
              </a:extLst>
            </p:cNvPr>
            <p:cNvSpPr/>
            <p:nvPr/>
          </p:nvSpPr>
          <p:spPr>
            <a:xfrm>
              <a:off x="9941560" y="872162"/>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61" name="object 82">
              <a:extLst>
                <a:ext uri="{FF2B5EF4-FFF2-40B4-BE49-F238E27FC236}">
                  <a16:creationId xmlns:a16="http://schemas.microsoft.com/office/drawing/2014/main" id="{6058EFC3-5BE6-47D4-A7E4-FF1745344A4B}"/>
                </a:ext>
              </a:extLst>
            </p:cNvPr>
            <p:cNvSpPr/>
            <p:nvPr/>
          </p:nvSpPr>
          <p:spPr>
            <a:xfrm>
              <a:off x="9923219" y="872162"/>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62" name="object 83">
              <a:extLst>
                <a:ext uri="{FF2B5EF4-FFF2-40B4-BE49-F238E27FC236}">
                  <a16:creationId xmlns:a16="http://schemas.microsoft.com/office/drawing/2014/main" id="{7F4438BD-5932-4C16-81DD-A084796C52C4}"/>
                </a:ext>
              </a:extLst>
            </p:cNvPr>
            <p:cNvSpPr/>
            <p:nvPr/>
          </p:nvSpPr>
          <p:spPr>
            <a:xfrm>
              <a:off x="9959881" y="872162"/>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63" name="object 84">
              <a:extLst>
                <a:ext uri="{FF2B5EF4-FFF2-40B4-BE49-F238E27FC236}">
                  <a16:creationId xmlns:a16="http://schemas.microsoft.com/office/drawing/2014/main" id="{F0334D46-235F-482F-A177-3D26A92BC411}"/>
                </a:ext>
              </a:extLst>
            </p:cNvPr>
            <p:cNvSpPr/>
            <p:nvPr/>
          </p:nvSpPr>
          <p:spPr>
            <a:xfrm>
              <a:off x="9978224" y="872162"/>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64" name="object 85">
              <a:extLst>
                <a:ext uri="{FF2B5EF4-FFF2-40B4-BE49-F238E27FC236}">
                  <a16:creationId xmlns:a16="http://schemas.microsoft.com/office/drawing/2014/main" id="{EB719058-5A77-4C93-9336-73752766C816}"/>
                </a:ext>
              </a:extLst>
            </p:cNvPr>
            <p:cNvSpPr/>
            <p:nvPr/>
          </p:nvSpPr>
          <p:spPr>
            <a:xfrm>
              <a:off x="9996567" y="872162"/>
              <a:ext cx="4961" cy="8930"/>
            </a:xfrm>
            <a:custGeom>
              <a:avLst/>
              <a:gdLst/>
              <a:ahLst/>
              <a:cxnLst/>
              <a:rect l="l" t="t" r="r" b="b"/>
              <a:pathLst>
                <a:path w="3175" h="5714">
                  <a:moveTo>
                    <a:pt x="3039" y="0"/>
                  </a:moveTo>
                  <a:lnTo>
                    <a:pt x="2793" y="0"/>
                  </a:lnTo>
                  <a:lnTo>
                    <a:pt x="0" y="5664"/>
                  </a:lnTo>
                  <a:lnTo>
                    <a:pt x="3039" y="5664"/>
                  </a:lnTo>
                  <a:lnTo>
                    <a:pt x="303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65" name="object 86">
              <a:extLst>
                <a:ext uri="{FF2B5EF4-FFF2-40B4-BE49-F238E27FC236}">
                  <a16:creationId xmlns:a16="http://schemas.microsoft.com/office/drawing/2014/main" id="{881B0F87-8A14-4C14-8865-0564840EEAF1}"/>
                </a:ext>
              </a:extLst>
            </p:cNvPr>
            <p:cNvSpPr/>
            <p:nvPr/>
          </p:nvSpPr>
          <p:spPr>
            <a:xfrm>
              <a:off x="9844670"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66" name="object 88">
              <a:extLst>
                <a:ext uri="{FF2B5EF4-FFF2-40B4-BE49-F238E27FC236}">
                  <a16:creationId xmlns:a16="http://schemas.microsoft.com/office/drawing/2014/main" id="{A1D30285-EB12-4F72-B979-EC1497E36280}"/>
                </a:ext>
              </a:extLst>
            </p:cNvPr>
            <p:cNvSpPr/>
            <p:nvPr/>
          </p:nvSpPr>
          <p:spPr>
            <a:xfrm>
              <a:off x="9863230" y="882270"/>
              <a:ext cx="20836" cy="8930"/>
            </a:xfrm>
            <a:custGeom>
              <a:avLst/>
              <a:gdLst/>
              <a:ahLst/>
              <a:cxnLst/>
              <a:rect l="l" t="t" r="r" b="b"/>
              <a:pathLst>
                <a:path w="13334" h="5714">
                  <a:moveTo>
                    <a:pt x="12852" y="0"/>
                  </a:moveTo>
                  <a:lnTo>
                    <a:pt x="2793" y="0"/>
                  </a:lnTo>
                  <a:lnTo>
                    <a:pt x="0" y="5664"/>
                  </a:lnTo>
                  <a:lnTo>
                    <a:pt x="10058" y="5664"/>
                  </a:lnTo>
                  <a:lnTo>
                    <a:pt x="1285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67" name="object 89">
              <a:extLst>
                <a:ext uri="{FF2B5EF4-FFF2-40B4-BE49-F238E27FC236}">
                  <a16:creationId xmlns:a16="http://schemas.microsoft.com/office/drawing/2014/main" id="{7189218D-2B30-44E4-8D82-F9E6DA78D0C6}"/>
                </a:ext>
              </a:extLst>
            </p:cNvPr>
            <p:cNvSpPr/>
            <p:nvPr/>
          </p:nvSpPr>
          <p:spPr>
            <a:xfrm>
              <a:off x="9899894" y="882270"/>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68" name="object 90">
              <a:extLst>
                <a:ext uri="{FF2B5EF4-FFF2-40B4-BE49-F238E27FC236}">
                  <a16:creationId xmlns:a16="http://schemas.microsoft.com/office/drawing/2014/main" id="{4C0B449E-A24B-415E-B946-DB47C8AB1C7B}"/>
                </a:ext>
              </a:extLst>
            </p:cNvPr>
            <p:cNvSpPr/>
            <p:nvPr/>
          </p:nvSpPr>
          <p:spPr>
            <a:xfrm>
              <a:off x="9881553" y="882270"/>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69" name="object 91">
              <a:extLst>
                <a:ext uri="{FF2B5EF4-FFF2-40B4-BE49-F238E27FC236}">
                  <a16:creationId xmlns:a16="http://schemas.microsoft.com/office/drawing/2014/main" id="{35F008F4-F9E2-46E9-B918-8EAAF439C9FF}"/>
                </a:ext>
              </a:extLst>
            </p:cNvPr>
            <p:cNvSpPr/>
            <p:nvPr/>
          </p:nvSpPr>
          <p:spPr>
            <a:xfrm>
              <a:off x="9954881"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70" name="object 92">
              <a:extLst>
                <a:ext uri="{FF2B5EF4-FFF2-40B4-BE49-F238E27FC236}">
                  <a16:creationId xmlns:a16="http://schemas.microsoft.com/office/drawing/2014/main" id="{821273A5-B368-4C45-A039-2D4CBF92B824}"/>
                </a:ext>
              </a:extLst>
            </p:cNvPr>
            <p:cNvSpPr/>
            <p:nvPr/>
          </p:nvSpPr>
          <p:spPr>
            <a:xfrm>
              <a:off x="9936539"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71" name="object 93">
              <a:extLst>
                <a:ext uri="{FF2B5EF4-FFF2-40B4-BE49-F238E27FC236}">
                  <a16:creationId xmlns:a16="http://schemas.microsoft.com/office/drawing/2014/main" id="{FBDE3E52-2F66-415F-BD0C-51B502F08BCD}"/>
                </a:ext>
              </a:extLst>
            </p:cNvPr>
            <p:cNvSpPr/>
            <p:nvPr/>
          </p:nvSpPr>
          <p:spPr>
            <a:xfrm>
              <a:off x="9918217" y="882270"/>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72" name="object 94">
              <a:extLst>
                <a:ext uri="{FF2B5EF4-FFF2-40B4-BE49-F238E27FC236}">
                  <a16:creationId xmlns:a16="http://schemas.microsoft.com/office/drawing/2014/main" id="{2B77F77C-75AC-4627-95D5-0AC8B4E4D4E3}"/>
                </a:ext>
              </a:extLst>
            </p:cNvPr>
            <p:cNvSpPr/>
            <p:nvPr/>
          </p:nvSpPr>
          <p:spPr>
            <a:xfrm>
              <a:off x="9991564" y="882270"/>
              <a:ext cx="9922" cy="8930"/>
            </a:xfrm>
            <a:custGeom>
              <a:avLst/>
              <a:gdLst/>
              <a:ahLst/>
              <a:cxnLst/>
              <a:rect l="l" t="t" r="r" b="b"/>
              <a:pathLst>
                <a:path w="6350" h="5714">
                  <a:moveTo>
                    <a:pt x="6235" y="0"/>
                  </a:moveTo>
                  <a:lnTo>
                    <a:pt x="2806" y="0"/>
                  </a:lnTo>
                  <a:lnTo>
                    <a:pt x="0" y="5664"/>
                  </a:lnTo>
                  <a:lnTo>
                    <a:pt x="6235" y="5664"/>
                  </a:lnTo>
                  <a:lnTo>
                    <a:pt x="6235"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73" name="object 95">
              <a:extLst>
                <a:ext uri="{FF2B5EF4-FFF2-40B4-BE49-F238E27FC236}">
                  <a16:creationId xmlns:a16="http://schemas.microsoft.com/office/drawing/2014/main" id="{F4CDA594-EB91-41CB-9FDC-08B4DED8DAE7}"/>
                </a:ext>
              </a:extLst>
            </p:cNvPr>
            <p:cNvSpPr/>
            <p:nvPr/>
          </p:nvSpPr>
          <p:spPr>
            <a:xfrm>
              <a:off x="9973224"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74" name="object 97">
              <a:extLst>
                <a:ext uri="{FF2B5EF4-FFF2-40B4-BE49-F238E27FC236}">
                  <a16:creationId xmlns:a16="http://schemas.microsoft.com/office/drawing/2014/main" id="{4719BAD6-6698-44D5-8EC3-FB6017AA7CE6}"/>
                </a:ext>
              </a:extLst>
            </p:cNvPr>
            <p:cNvSpPr/>
            <p:nvPr/>
          </p:nvSpPr>
          <p:spPr>
            <a:xfrm>
              <a:off x="9839670"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75" name="object 98">
              <a:extLst>
                <a:ext uri="{FF2B5EF4-FFF2-40B4-BE49-F238E27FC236}">
                  <a16:creationId xmlns:a16="http://schemas.microsoft.com/office/drawing/2014/main" id="{56ED729E-E675-43EA-9FE4-B5892D1F1B60}"/>
                </a:ext>
              </a:extLst>
            </p:cNvPr>
            <p:cNvSpPr/>
            <p:nvPr/>
          </p:nvSpPr>
          <p:spPr>
            <a:xfrm>
              <a:off x="9894875" y="892397"/>
              <a:ext cx="20836" cy="8930"/>
            </a:xfrm>
            <a:custGeom>
              <a:avLst/>
              <a:gdLst/>
              <a:ahLst/>
              <a:cxnLst/>
              <a:rect l="l" t="t" r="r" b="b"/>
              <a:pathLst>
                <a:path w="13334" h="5714">
                  <a:moveTo>
                    <a:pt x="12992" y="0"/>
                  </a:moveTo>
                  <a:lnTo>
                    <a:pt x="2793"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76" name="object 99">
              <a:extLst>
                <a:ext uri="{FF2B5EF4-FFF2-40B4-BE49-F238E27FC236}">
                  <a16:creationId xmlns:a16="http://schemas.microsoft.com/office/drawing/2014/main" id="{A1B4E321-4D81-41C2-AE98-3FADCDF1E2BE}"/>
                </a:ext>
              </a:extLst>
            </p:cNvPr>
            <p:cNvSpPr/>
            <p:nvPr/>
          </p:nvSpPr>
          <p:spPr>
            <a:xfrm>
              <a:off x="9858211" y="892397"/>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77" name="object 100">
              <a:extLst>
                <a:ext uri="{FF2B5EF4-FFF2-40B4-BE49-F238E27FC236}">
                  <a16:creationId xmlns:a16="http://schemas.microsoft.com/office/drawing/2014/main" id="{7718F415-7488-4711-BDB3-B878F32E57A9}"/>
                </a:ext>
              </a:extLst>
            </p:cNvPr>
            <p:cNvSpPr/>
            <p:nvPr/>
          </p:nvSpPr>
          <p:spPr>
            <a:xfrm>
              <a:off x="9876552" y="892397"/>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78" name="object 101">
              <a:extLst>
                <a:ext uri="{FF2B5EF4-FFF2-40B4-BE49-F238E27FC236}">
                  <a16:creationId xmlns:a16="http://schemas.microsoft.com/office/drawing/2014/main" id="{D46215AE-8B9E-4C18-A078-AEE7ACD05ED9}"/>
                </a:ext>
              </a:extLst>
            </p:cNvPr>
            <p:cNvSpPr/>
            <p:nvPr/>
          </p:nvSpPr>
          <p:spPr>
            <a:xfrm>
              <a:off x="9949881"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79" name="object 102">
              <a:extLst>
                <a:ext uri="{FF2B5EF4-FFF2-40B4-BE49-F238E27FC236}">
                  <a16:creationId xmlns:a16="http://schemas.microsoft.com/office/drawing/2014/main" id="{A715FEBD-8D02-41B5-BE4D-95574C19A7B0}"/>
                </a:ext>
              </a:extLst>
            </p:cNvPr>
            <p:cNvSpPr/>
            <p:nvPr/>
          </p:nvSpPr>
          <p:spPr>
            <a:xfrm>
              <a:off x="9931539"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80" name="object 103">
              <a:extLst>
                <a:ext uri="{FF2B5EF4-FFF2-40B4-BE49-F238E27FC236}">
                  <a16:creationId xmlns:a16="http://schemas.microsoft.com/office/drawing/2014/main" id="{0BFBA7A3-CB5E-46D6-AB5B-354E91D0CE18}"/>
                </a:ext>
              </a:extLst>
            </p:cNvPr>
            <p:cNvSpPr/>
            <p:nvPr/>
          </p:nvSpPr>
          <p:spPr>
            <a:xfrm>
              <a:off x="9913197" y="892397"/>
              <a:ext cx="20836" cy="8930"/>
            </a:xfrm>
            <a:custGeom>
              <a:avLst/>
              <a:gdLst/>
              <a:ahLst/>
              <a:cxnLst/>
              <a:rect l="l" t="t" r="r" b="b"/>
              <a:pathLst>
                <a:path w="13334" h="5714">
                  <a:moveTo>
                    <a:pt x="12992" y="0"/>
                  </a:moveTo>
                  <a:lnTo>
                    <a:pt x="2806" y="0"/>
                  </a:lnTo>
                  <a:lnTo>
                    <a:pt x="0" y="5664"/>
                  </a:lnTo>
                  <a:lnTo>
                    <a:pt x="10198"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81" name="object 104">
              <a:extLst>
                <a:ext uri="{FF2B5EF4-FFF2-40B4-BE49-F238E27FC236}">
                  <a16:creationId xmlns:a16="http://schemas.microsoft.com/office/drawing/2014/main" id="{06E491FA-D058-47F7-96D9-4BB87FCC8698}"/>
                </a:ext>
              </a:extLst>
            </p:cNvPr>
            <p:cNvSpPr/>
            <p:nvPr/>
          </p:nvSpPr>
          <p:spPr>
            <a:xfrm>
              <a:off x="9986566" y="892397"/>
              <a:ext cx="14883" cy="8930"/>
            </a:xfrm>
            <a:custGeom>
              <a:avLst/>
              <a:gdLst/>
              <a:ahLst/>
              <a:cxnLst/>
              <a:rect l="l" t="t" r="r" b="b"/>
              <a:pathLst>
                <a:path w="9525" h="5714">
                  <a:moveTo>
                    <a:pt x="9436" y="0"/>
                  </a:moveTo>
                  <a:lnTo>
                    <a:pt x="2793" y="0"/>
                  </a:lnTo>
                  <a:lnTo>
                    <a:pt x="0" y="5664"/>
                  </a:lnTo>
                  <a:lnTo>
                    <a:pt x="9436" y="5664"/>
                  </a:lnTo>
                  <a:lnTo>
                    <a:pt x="9436"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82" name="object 105">
              <a:extLst>
                <a:ext uri="{FF2B5EF4-FFF2-40B4-BE49-F238E27FC236}">
                  <a16:creationId xmlns:a16="http://schemas.microsoft.com/office/drawing/2014/main" id="{FFE0B399-398D-413D-AF91-46479AB1CDAB}"/>
                </a:ext>
              </a:extLst>
            </p:cNvPr>
            <p:cNvSpPr/>
            <p:nvPr/>
          </p:nvSpPr>
          <p:spPr>
            <a:xfrm>
              <a:off x="9968222"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grpSp>
      <p:grpSp>
        <p:nvGrpSpPr>
          <p:cNvPr id="183" name="Group 182">
            <a:extLst>
              <a:ext uri="{FF2B5EF4-FFF2-40B4-BE49-F238E27FC236}">
                <a16:creationId xmlns:a16="http://schemas.microsoft.com/office/drawing/2014/main" id="{05767FC9-2AED-4F7B-A8FD-238364A45D19}"/>
              </a:ext>
            </a:extLst>
          </p:cNvPr>
          <p:cNvGrpSpPr>
            <a:grpSpLocks noChangeAspect="1"/>
          </p:cNvGrpSpPr>
          <p:nvPr/>
        </p:nvGrpSpPr>
        <p:grpSpPr>
          <a:xfrm flipH="1">
            <a:off x="6233577" y="2291143"/>
            <a:ext cx="204851" cy="47737"/>
            <a:chOff x="9616665" y="835833"/>
            <a:chExt cx="169358" cy="49293"/>
          </a:xfrm>
          <a:solidFill>
            <a:sysClr val="window" lastClr="FFFFFF"/>
          </a:solidFill>
        </p:grpSpPr>
        <p:sp>
          <p:nvSpPr>
            <p:cNvPr id="184" name="object 58">
              <a:extLst>
                <a:ext uri="{FF2B5EF4-FFF2-40B4-BE49-F238E27FC236}">
                  <a16:creationId xmlns:a16="http://schemas.microsoft.com/office/drawing/2014/main" id="{C9AC9857-EB3D-44EE-8E65-515E6B67EF59}"/>
                </a:ext>
              </a:extLst>
            </p:cNvPr>
            <p:cNvSpPr/>
            <p:nvPr/>
          </p:nvSpPr>
          <p:spPr>
            <a:xfrm>
              <a:off x="9654956"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85" name="object 59">
              <a:extLst>
                <a:ext uri="{FF2B5EF4-FFF2-40B4-BE49-F238E27FC236}">
                  <a16:creationId xmlns:a16="http://schemas.microsoft.com/office/drawing/2014/main" id="{F8645620-27F5-449E-B882-9C08A11E7FF4}"/>
                </a:ext>
              </a:extLst>
            </p:cNvPr>
            <p:cNvSpPr/>
            <p:nvPr/>
          </p:nvSpPr>
          <p:spPr>
            <a:xfrm>
              <a:off x="9636615"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86" name="object 60">
              <a:extLst>
                <a:ext uri="{FF2B5EF4-FFF2-40B4-BE49-F238E27FC236}">
                  <a16:creationId xmlns:a16="http://schemas.microsoft.com/office/drawing/2014/main" id="{9A61968C-02A5-4EA2-9392-9D9C822A980B}"/>
                </a:ext>
              </a:extLst>
            </p:cNvPr>
            <p:cNvSpPr/>
            <p:nvPr/>
          </p:nvSpPr>
          <p:spPr>
            <a:xfrm>
              <a:off x="9691818"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87" name="object 61">
              <a:extLst>
                <a:ext uri="{FF2B5EF4-FFF2-40B4-BE49-F238E27FC236}">
                  <a16:creationId xmlns:a16="http://schemas.microsoft.com/office/drawing/2014/main" id="{B602EE96-024C-4ACB-9210-330E6E48177A}"/>
                </a:ext>
              </a:extLst>
            </p:cNvPr>
            <p:cNvSpPr/>
            <p:nvPr/>
          </p:nvSpPr>
          <p:spPr>
            <a:xfrm>
              <a:off x="9673495" y="835833"/>
              <a:ext cx="20836" cy="8930"/>
            </a:xfrm>
            <a:custGeom>
              <a:avLst/>
              <a:gdLst/>
              <a:ahLst/>
              <a:cxnLst/>
              <a:rect l="l" t="t" r="r" b="b"/>
              <a:pathLst>
                <a:path w="13334" h="5714">
                  <a:moveTo>
                    <a:pt x="12865" y="0"/>
                  </a:moveTo>
                  <a:lnTo>
                    <a:pt x="2806" y="0"/>
                  </a:lnTo>
                  <a:lnTo>
                    <a:pt x="0" y="5664"/>
                  </a:lnTo>
                  <a:lnTo>
                    <a:pt x="10058" y="5664"/>
                  </a:lnTo>
                  <a:lnTo>
                    <a:pt x="12865"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88" name="object 63">
              <a:extLst>
                <a:ext uri="{FF2B5EF4-FFF2-40B4-BE49-F238E27FC236}">
                  <a16:creationId xmlns:a16="http://schemas.microsoft.com/office/drawing/2014/main" id="{BEAF3B84-F9F8-411B-A524-97CE0675516C}"/>
                </a:ext>
              </a:extLst>
            </p:cNvPr>
            <p:cNvSpPr/>
            <p:nvPr/>
          </p:nvSpPr>
          <p:spPr>
            <a:xfrm>
              <a:off x="9765187" y="835833"/>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89" name="object 64">
              <a:extLst>
                <a:ext uri="{FF2B5EF4-FFF2-40B4-BE49-F238E27FC236}">
                  <a16:creationId xmlns:a16="http://schemas.microsoft.com/office/drawing/2014/main" id="{DF7F38D9-7035-412F-9CB3-E4C8E8285F13}"/>
                </a:ext>
              </a:extLst>
            </p:cNvPr>
            <p:cNvSpPr/>
            <p:nvPr/>
          </p:nvSpPr>
          <p:spPr>
            <a:xfrm>
              <a:off x="9746845" y="835833"/>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90" name="object 65">
              <a:extLst>
                <a:ext uri="{FF2B5EF4-FFF2-40B4-BE49-F238E27FC236}">
                  <a16:creationId xmlns:a16="http://schemas.microsoft.com/office/drawing/2014/main" id="{238283AF-2F8F-4D96-8DDC-FDA04827B24F}"/>
                </a:ext>
              </a:extLst>
            </p:cNvPr>
            <p:cNvSpPr/>
            <p:nvPr/>
          </p:nvSpPr>
          <p:spPr>
            <a:xfrm>
              <a:off x="9728522" y="835833"/>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91" name="object 66">
              <a:extLst>
                <a:ext uri="{FF2B5EF4-FFF2-40B4-BE49-F238E27FC236}">
                  <a16:creationId xmlns:a16="http://schemas.microsoft.com/office/drawing/2014/main" id="{7CA21CEF-38C4-407A-92F6-87ED3959EEFC}"/>
                </a:ext>
              </a:extLst>
            </p:cNvPr>
            <p:cNvSpPr/>
            <p:nvPr/>
          </p:nvSpPr>
          <p:spPr>
            <a:xfrm>
              <a:off x="9710161"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92" name="object 67">
              <a:extLst>
                <a:ext uri="{FF2B5EF4-FFF2-40B4-BE49-F238E27FC236}">
                  <a16:creationId xmlns:a16="http://schemas.microsoft.com/office/drawing/2014/main" id="{D8D413A8-26C1-407F-95F5-315EF2F22D0E}"/>
                </a:ext>
              </a:extLst>
            </p:cNvPr>
            <p:cNvSpPr/>
            <p:nvPr/>
          </p:nvSpPr>
          <p:spPr>
            <a:xfrm>
              <a:off x="9631614" y="845960"/>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93" name="object 68">
              <a:extLst>
                <a:ext uri="{FF2B5EF4-FFF2-40B4-BE49-F238E27FC236}">
                  <a16:creationId xmlns:a16="http://schemas.microsoft.com/office/drawing/2014/main" id="{6852089B-6B44-449C-885D-B1B3CC9D987C}"/>
                </a:ext>
              </a:extLst>
            </p:cNvPr>
            <p:cNvSpPr/>
            <p:nvPr/>
          </p:nvSpPr>
          <p:spPr>
            <a:xfrm>
              <a:off x="9723520" y="845960"/>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94" name="object 69">
              <a:extLst>
                <a:ext uri="{FF2B5EF4-FFF2-40B4-BE49-F238E27FC236}">
                  <a16:creationId xmlns:a16="http://schemas.microsoft.com/office/drawing/2014/main" id="{613AE756-146B-4CBB-9243-261322EF3CBC}"/>
                </a:ext>
              </a:extLst>
            </p:cNvPr>
            <p:cNvSpPr/>
            <p:nvPr/>
          </p:nvSpPr>
          <p:spPr>
            <a:xfrm>
              <a:off x="9705179" y="845960"/>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95" name="object 70">
              <a:extLst>
                <a:ext uri="{FF2B5EF4-FFF2-40B4-BE49-F238E27FC236}">
                  <a16:creationId xmlns:a16="http://schemas.microsoft.com/office/drawing/2014/main" id="{9E9CEFB1-B095-4D49-9BCC-D1FFBD06E9C6}"/>
                </a:ext>
              </a:extLst>
            </p:cNvPr>
            <p:cNvSpPr/>
            <p:nvPr/>
          </p:nvSpPr>
          <p:spPr>
            <a:xfrm>
              <a:off x="9686818" y="845960"/>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96" name="object 71">
              <a:extLst>
                <a:ext uri="{FF2B5EF4-FFF2-40B4-BE49-F238E27FC236}">
                  <a16:creationId xmlns:a16="http://schemas.microsoft.com/office/drawing/2014/main" id="{4B55D292-E226-480F-A8CC-815F78634AD8}"/>
                </a:ext>
              </a:extLst>
            </p:cNvPr>
            <p:cNvSpPr/>
            <p:nvPr/>
          </p:nvSpPr>
          <p:spPr>
            <a:xfrm>
              <a:off x="9668493" y="845960"/>
              <a:ext cx="20836" cy="8930"/>
            </a:xfrm>
            <a:custGeom>
              <a:avLst/>
              <a:gdLst/>
              <a:ahLst/>
              <a:cxnLst/>
              <a:rect l="l" t="t" r="r" b="b"/>
              <a:pathLst>
                <a:path w="13334" h="5714">
                  <a:moveTo>
                    <a:pt x="12865" y="0"/>
                  </a:moveTo>
                  <a:lnTo>
                    <a:pt x="2806" y="0"/>
                  </a:lnTo>
                  <a:lnTo>
                    <a:pt x="0" y="5651"/>
                  </a:lnTo>
                  <a:lnTo>
                    <a:pt x="10058" y="5651"/>
                  </a:lnTo>
                  <a:lnTo>
                    <a:pt x="12865"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97" name="object 72">
              <a:extLst>
                <a:ext uri="{FF2B5EF4-FFF2-40B4-BE49-F238E27FC236}">
                  <a16:creationId xmlns:a16="http://schemas.microsoft.com/office/drawing/2014/main" id="{E52A22B6-F3D8-4B10-B133-A94F4133FB1E}"/>
                </a:ext>
              </a:extLst>
            </p:cNvPr>
            <p:cNvSpPr/>
            <p:nvPr/>
          </p:nvSpPr>
          <p:spPr>
            <a:xfrm>
              <a:off x="9649956" y="845960"/>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98" name="object 73">
              <a:extLst>
                <a:ext uri="{FF2B5EF4-FFF2-40B4-BE49-F238E27FC236}">
                  <a16:creationId xmlns:a16="http://schemas.microsoft.com/office/drawing/2014/main" id="{3912E1B2-F143-45C5-807C-F5785826B17C}"/>
                </a:ext>
              </a:extLst>
            </p:cNvPr>
            <p:cNvSpPr/>
            <p:nvPr/>
          </p:nvSpPr>
          <p:spPr>
            <a:xfrm>
              <a:off x="9741845" y="845960"/>
              <a:ext cx="20836" cy="8930"/>
            </a:xfrm>
            <a:custGeom>
              <a:avLst/>
              <a:gdLst/>
              <a:ahLst/>
              <a:cxnLst/>
              <a:rect l="l" t="t" r="r" b="b"/>
              <a:pathLst>
                <a:path w="13334" h="5714">
                  <a:moveTo>
                    <a:pt x="12979" y="0"/>
                  </a:moveTo>
                  <a:lnTo>
                    <a:pt x="2793" y="0"/>
                  </a:lnTo>
                  <a:lnTo>
                    <a:pt x="0" y="5651"/>
                  </a:lnTo>
                  <a:lnTo>
                    <a:pt x="10185" y="5651"/>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199" name="object 75">
              <a:extLst>
                <a:ext uri="{FF2B5EF4-FFF2-40B4-BE49-F238E27FC236}">
                  <a16:creationId xmlns:a16="http://schemas.microsoft.com/office/drawing/2014/main" id="{BF18F4C2-71FE-4D9D-B308-37C16056765D}"/>
                </a:ext>
              </a:extLst>
            </p:cNvPr>
            <p:cNvSpPr/>
            <p:nvPr/>
          </p:nvSpPr>
          <p:spPr>
            <a:xfrm>
              <a:off x="9760186" y="845960"/>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00" name="object 76">
              <a:extLst>
                <a:ext uri="{FF2B5EF4-FFF2-40B4-BE49-F238E27FC236}">
                  <a16:creationId xmlns:a16="http://schemas.microsoft.com/office/drawing/2014/main" id="{E7439272-4466-4000-AB16-991E93F8D8BA}"/>
                </a:ext>
              </a:extLst>
            </p:cNvPr>
            <p:cNvSpPr/>
            <p:nvPr/>
          </p:nvSpPr>
          <p:spPr>
            <a:xfrm>
              <a:off x="9645009" y="855961"/>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01" name="object 77">
              <a:extLst>
                <a:ext uri="{FF2B5EF4-FFF2-40B4-BE49-F238E27FC236}">
                  <a16:creationId xmlns:a16="http://schemas.microsoft.com/office/drawing/2014/main" id="{1D7EDD14-736D-452E-A15A-8CE394D83A0D}"/>
                </a:ext>
              </a:extLst>
            </p:cNvPr>
            <p:cNvSpPr/>
            <p:nvPr/>
          </p:nvSpPr>
          <p:spPr>
            <a:xfrm>
              <a:off x="9626667" y="855961"/>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02" name="object 78">
              <a:extLst>
                <a:ext uri="{FF2B5EF4-FFF2-40B4-BE49-F238E27FC236}">
                  <a16:creationId xmlns:a16="http://schemas.microsoft.com/office/drawing/2014/main" id="{D80B7455-79A1-48AB-B811-9CD5E313E4C5}"/>
                </a:ext>
              </a:extLst>
            </p:cNvPr>
            <p:cNvSpPr/>
            <p:nvPr/>
          </p:nvSpPr>
          <p:spPr>
            <a:xfrm>
              <a:off x="9663548" y="855961"/>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03" name="object 79">
              <a:extLst>
                <a:ext uri="{FF2B5EF4-FFF2-40B4-BE49-F238E27FC236}">
                  <a16:creationId xmlns:a16="http://schemas.microsoft.com/office/drawing/2014/main" id="{316E3669-7863-4C46-AE86-FA4B4B77AB23}"/>
                </a:ext>
              </a:extLst>
            </p:cNvPr>
            <p:cNvSpPr/>
            <p:nvPr/>
          </p:nvSpPr>
          <p:spPr>
            <a:xfrm>
              <a:off x="9681890" y="855961"/>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04" name="object 80">
              <a:extLst>
                <a:ext uri="{FF2B5EF4-FFF2-40B4-BE49-F238E27FC236}">
                  <a16:creationId xmlns:a16="http://schemas.microsoft.com/office/drawing/2014/main" id="{4B8DB14F-A2DE-4434-9178-FB74DB23B9B9}"/>
                </a:ext>
              </a:extLst>
            </p:cNvPr>
            <p:cNvSpPr/>
            <p:nvPr/>
          </p:nvSpPr>
          <p:spPr>
            <a:xfrm>
              <a:off x="9700232" y="855961"/>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05" name="object 81">
              <a:extLst>
                <a:ext uri="{FF2B5EF4-FFF2-40B4-BE49-F238E27FC236}">
                  <a16:creationId xmlns:a16="http://schemas.microsoft.com/office/drawing/2014/main" id="{635232E1-4200-4003-9B7E-97B94962F446}"/>
                </a:ext>
              </a:extLst>
            </p:cNvPr>
            <p:cNvSpPr/>
            <p:nvPr/>
          </p:nvSpPr>
          <p:spPr>
            <a:xfrm>
              <a:off x="9736897" y="855961"/>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06" name="object 82">
              <a:extLst>
                <a:ext uri="{FF2B5EF4-FFF2-40B4-BE49-F238E27FC236}">
                  <a16:creationId xmlns:a16="http://schemas.microsoft.com/office/drawing/2014/main" id="{AA8505B6-4C5F-4BF5-9588-7FA39E56F7D3}"/>
                </a:ext>
              </a:extLst>
            </p:cNvPr>
            <p:cNvSpPr/>
            <p:nvPr/>
          </p:nvSpPr>
          <p:spPr>
            <a:xfrm>
              <a:off x="9718556" y="855961"/>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07" name="object 83">
              <a:extLst>
                <a:ext uri="{FF2B5EF4-FFF2-40B4-BE49-F238E27FC236}">
                  <a16:creationId xmlns:a16="http://schemas.microsoft.com/office/drawing/2014/main" id="{F1AA50EE-587D-4751-94BE-C35B350B0D54}"/>
                </a:ext>
              </a:extLst>
            </p:cNvPr>
            <p:cNvSpPr/>
            <p:nvPr/>
          </p:nvSpPr>
          <p:spPr>
            <a:xfrm>
              <a:off x="9755218" y="855961"/>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08" name="object 86">
              <a:extLst>
                <a:ext uri="{FF2B5EF4-FFF2-40B4-BE49-F238E27FC236}">
                  <a16:creationId xmlns:a16="http://schemas.microsoft.com/office/drawing/2014/main" id="{3DF52409-1DEC-42E0-B3AB-AB42E9275D28}"/>
                </a:ext>
              </a:extLst>
            </p:cNvPr>
            <p:cNvSpPr/>
            <p:nvPr/>
          </p:nvSpPr>
          <p:spPr>
            <a:xfrm>
              <a:off x="9640007"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09" name="object 87">
              <a:extLst>
                <a:ext uri="{FF2B5EF4-FFF2-40B4-BE49-F238E27FC236}">
                  <a16:creationId xmlns:a16="http://schemas.microsoft.com/office/drawing/2014/main" id="{E4AFA956-E693-40AE-B11B-0789242C3BF6}"/>
                </a:ext>
              </a:extLst>
            </p:cNvPr>
            <p:cNvSpPr/>
            <p:nvPr/>
          </p:nvSpPr>
          <p:spPr>
            <a:xfrm>
              <a:off x="9621667"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10" name="object 88">
              <a:extLst>
                <a:ext uri="{FF2B5EF4-FFF2-40B4-BE49-F238E27FC236}">
                  <a16:creationId xmlns:a16="http://schemas.microsoft.com/office/drawing/2014/main" id="{320690D4-586A-4A9C-85DE-695F74BC88E3}"/>
                </a:ext>
              </a:extLst>
            </p:cNvPr>
            <p:cNvSpPr/>
            <p:nvPr/>
          </p:nvSpPr>
          <p:spPr>
            <a:xfrm>
              <a:off x="9658567" y="866069"/>
              <a:ext cx="20836" cy="8930"/>
            </a:xfrm>
            <a:custGeom>
              <a:avLst/>
              <a:gdLst/>
              <a:ahLst/>
              <a:cxnLst/>
              <a:rect l="l" t="t" r="r" b="b"/>
              <a:pathLst>
                <a:path w="13334" h="5714">
                  <a:moveTo>
                    <a:pt x="12852" y="0"/>
                  </a:moveTo>
                  <a:lnTo>
                    <a:pt x="2793" y="0"/>
                  </a:lnTo>
                  <a:lnTo>
                    <a:pt x="0" y="5664"/>
                  </a:lnTo>
                  <a:lnTo>
                    <a:pt x="10058" y="5664"/>
                  </a:lnTo>
                  <a:lnTo>
                    <a:pt x="1285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11" name="object 89">
              <a:extLst>
                <a:ext uri="{FF2B5EF4-FFF2-40B4-BE49-F238E27FC236}">
                  <a16:creationId xmlns:a16="http://schemas.microsoft.com/office/drawing/2014/main" id="{46673FD6-A983-4569-8417-B53ACC54FD4A}"/>
                </a:ext>
              </a:extLst>
            </p:cNvPr>
            <p:cNvSpPr/>
            <p:nvPr/>
          </p:nvSpPr>
          <p:spPr>
            <a:xfrm>
              <a:off x="9695231" y="866069"/>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12" name="object 90">
              <a:extLst>
                <a:ext uri="{FF2B5EF4-FFF2-40B4-BE49-F238E27FC236}">
                  <a16:creationId xmlns:a16="http://schemas.microsoft.com/office/drawing/2014/main" id="{5478139A-F3CE-4E45-9E3E-343261443116}"/>
                </a:ext>
              </a:extLst>
            </p:cNvPr>
            <p:cNvSpPr/>
            <p:nvPr/>
          </p:nvSpPr>
          <p:spPr>
            <a:xfrm>
              <a:off x="9676890" y="866069"/>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13" name="object 91">
              <a:extLst>
                <a:ext uri="{FF2B5EF4-FFF2-40B4-BE49-F238E27FC236}">
                  <a16:creationId xmlns:a16="http://schemas.microsoft.com/office/drawing/2014/main" id="{45E500AA-B056-49D9-A9E7-AA67F6B25E54}"/>
                </a:ext>
              </a:extLst>
            </p:cNvPr>
            <p:cNvSpPr/>
            <p:nvPr/>
          </p:nvSpPr>
          <p:spPr>
            <a:xfrm>
              <a:off x="9750218"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14" name="object 92">
              <a:extLst>
                <a:ext uri="{FF2B5EF4-FFF2-40B4-BE49-F238E27FC236}">
                  <a16:creationId xmlns:a16="http://schemas.microsoft.com/office/drawing/2014/main" id="{CF5B1B1A-AC3C-4B2A-A13C-C2F863350C31}"/>
                </a:ext>
              </a:extLst>
            </p:cNvPr>
            <p:cNvSpPr/>
            <p:nvPr/>
          </p:nvSpPr>
          <p:spPr>
            <a:xfrm>
              <a:off x="9731876"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15" name="object 93">
              <a:extLst>
                <a:ext uri="{FF2B5EF4-FFF2-40B4-BE49-F238E27FC236}">
                  <a16:creationId xmlns:a16="http://schemas.microsoft.com/office/drawing/2014/main" id="{7BD0ABDA-B295-4EC7-B78B-BB05CA484C80}"/>
                </a:ext>
              </a:extLst>
            </p:cNvPr>
            <p:cNvSpPr/>
            <p:nvPr/>
          </p:nvSpPr>
          <p:spPr>
            <a:xfrm>
              <a:off x="9713554" y="866069"/>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16" name="object 96">
              <a:extLst>
                <a:ext uri="{FF2B5EF4-FFF2-40B4-BE49-F238E27FC236}">
                  <a16:creationId xmlns:a16="http://schemas.microsoft.com/office/drawing/2014/main" id="{4F7265AA-8C00-47AB-943F-5024E4D2180A}"/>
                </a:ext>
              </a:extLst>
            </p:cNvPr>
            <p:cNvSpPr/>
            <p:nvPr/>
          </p:nvSpPr>
          <p:spPr>
            <a:xfrm>
              <a:off x="9616665"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17" name="object 97">
              <a:extLst>
                <a:ext uri="{FF2B5EF4-FFF2-40B4-BE49-F238E27FC236}">
                  <a16:creationId xmlns:a16="http://schemas.microsoft.com/office/drawing/2014/main" id="{84C9833E-3450-4100-A6A1-2C61719F36B7}"/>
                </a:ext>
              </a:extLst>
            </p:cNvPr>
            <p:cNvSpPr/>
            <p:nvPr/>
          </p:nvSpPr>
          <p:spPr>
            <a:xfrm>
              <a:off x="9635007"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18" name="object 98">
              <a:extLst>
                <a:ext uri="{FF2B5EF4-FFF2-40B4-BE49-F238E27FC236}">
                  <a16:creationId xmlns:a16="http://schemas.microsoft.com/office/drawing/2014/main" id="{6B7E20A8-538B-4EF4-8787-081E027B1C7B}"/>
                </a:ext>
              </a:extLst>
            </p:cNvPr>
            <p:cNvSpPr/>
            <p:nvPr/>
          </p:nvSpPr>
          <p:spPr>
            <a:xfrm>
              <a:off x="9690212" y="876196"/>
              <a:ext cx="20836" cy="8930"/>
            </a:xfrm>
            <a:custGeom>
              <a:avLst/>
              <a:gdLst/>
              <a:ahLst/>
              <a:cxnLst/>
              <a:rect l="l" t="t" r="r" b="b"/>
              <a:pathLst>
                <a:path w="13334" h="5714">
                  <a:moveTo>
                    <a:pt x="12992" y="0"/>
                  </a:moveTo>
                  <a:lnTo>
                    <a:pt x="2793"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19" name="object 99">
              <a:extLst>
                <a:ext uri="{FF2B5EF4-FFF2-40B4-BE49-F238E27FC236}">
                  <a16:creationId xmlns:a16="http://schemas.microsoft.com/office/drawing/2014/main" id="{44A72D0D-321A-41E4-8296-DF063C77A91D}"/>
                </a:ext>
              </a:extLst>
            </p:cNvPr>
            <p:cNvSpPr/>
            <p:nvPr/>
          </p:nvSpPr>
          <p:spPr>
            <a:xfrm>
              <a:off x="9653548" y="876196"/>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20" name="object 100">
              <a:extLst>
                <a:ext uri="{FF2B5EF4-FFF2-40B4-BE49-F238E27FC236}">
                  <a16:creationId xmlns:a16="http://schemas.microsoft.com/office/drawing/2014/main" id="{BDC274A5-5180-41BB-8EF0-EAFE3CA52477}"/>
                </a:ext>
              </a:extLst>
            </p:cNvPr>
            <p:cNvSpPr/>
            <p:nvPr/>
          </p:nvSpPr>
          <p:spPr>
            <a:xfrm>
              <a:off x="9671889" y="876196"/>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21" name="object 101">
              <a:extLst>
                <a:ext uri="{FF2B5EF4-FFF2-40B4-BE49-F238E27FC236}">
                  <a16:creationId xmlns:a16="http://schemas.microsoft.com/office/drawing/2014/main" id="{0A5339BE-CACA-4FC3-BF12-E5C1DD313791}"/>
                </a:ext>
              </a:extLst>
            </p:cNvPr>
            <p:cNvSpPr/>
            <p:nvPr/>
          </p:nvSpPr>
          <p:spPr>
            <a:xfrm>
              <a:off x="9745218"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22" name="object 102">
              <a:extLst>
                <a:ext uri="{FF2B5EF4-FFF2-40B4-BE49-F238E27FC236}">
                  <a16:creationId xmlns:a16="http://schemas.microsoft.com/office/drawing/2014/main" id="{2DC0C201-1D95-4E36-9D3E-523D47E63CB4}"/>
                </a:ext>
              </a:extLst>
            </p:cNvPr>
            <p:cNvSpPr/>
            <p:nvPr/>
          </p:nvSpPr>
          <p:spPr>
            <a:xfrm>
              <a:off x="9726876"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223" name="object 103">
              <a:extLst>
                <a:ext uri="{FF2B5EF4-FFF2-40B4-BE49-F238E27FC236}">
                  <a16:creationId xmlns:a16="http://schemas.microsoft.com/office/drawing/2014/main" id="{0D872BD6-86B8-4C2B-871A-09A3F7525BFA}"/>
                </a:ext>
              </a:extLst>
            </p:cNvPr>
            <p:cNvSpPr/>
            <p:nvPr/>
          </p:nvSpPr>
          <p:spPr>
            <a:xfrm>
              <a:off x="9708534" y="876196"/>
              <a:ext cx="20836" cy="8930"/>
            </a:xfrm>
            <a:custGeom>
              <a:avLst/>
              <a:gdLst/>
              <a:ahLst/>
              <a:cxnLst/>
              <a:rect l="l" t="t" r="r" b="b"/>
              <a:pathLst>
                <a:path w="13334" h="5714">
                  <a:moveTo>
                    <a:pt x="12992" y="0"/>
                  </a:moveTo>
                  <a:lnTo>
                    <a:pt x="2806" y="0"/>
                  </a:lnTo>
                  <a:lnTo>
                    <a:pt x="0" y="5664"/>
                  </a:lnTo>
                  <a:lnTo>
                    <a:pt x="10198" y="5664"/>
                  </a:lnTo>
                  <a:lnTo>
                    <a:pt x="12992" y="0"/>
                  </a:lnTo>
                  <a:close/>
                </a:path>
              </a:pathLst>
            </a:custGeom>
            <a:grpFill/>
            <a:ln>
              <a:solidFill>
                <a:srgbClr val="92D400"/>
              </a:solidFill>
            </a:ln>
          </p:spPr>
          <p:txBody>
            <a:bodyPr wrap="square" lIns="0" tIns="0" rIns="0" bIns="0" rtlCol="0"/>
            <a:lstStyle/>
            <a:p>
              <a:pPr defTabSz="914403">
                <a:defRPr/>
              </a:pPr>
              <a:endParaRPr sz="1799" kern="0">
                <a:solidFill>
                  <a:prstClr val="white"/>
                </a:solidFill>
                <a:latin typeface="+mj-lt"/>
              </a:endParaRPr>
            </a:p>
          </p:txBody>
        </p:sp>
      </p:grpSp>
      <p:grpSp>
        <p:nvGrpSpPr>
          <p:cNvPr id="224" name="Group 223">
            <a:extLst>
              <a:ext uri="{FF2B5EF4-FFF2-40B4-BE49-F238E27FC236}">
                <a16:creationId xmlns:a16="http://schemas.microsoft.com/office/drawing/2014/main" id="{31378DA6-23E3-4C9A-BCFC-BEE4B3ACE786}"/>
              </a:ext>
            </a:extLst>
          </p:cNvPr>
          <p:cNvGrpSpPr/>
          <p:nvPr/>
        </p:nvGrpSpPr>
        <p:grpSpPr>
          <a:xfrm flipH="1">
            <a:off x="6100881" y="2364910"/>
            <a:ext cx="307140" cy="99793"/>
            <a:chOff x="10349010" y="1574415"/>
            <a:chExt cx="507849" cy="206099"/>
          </a:xfrm>
          <a:solidFill>
            <a:schemeClr val="bg1"/>
          </a:solidFill>
        </p:grpSpPr>
        <p:sp>
          <p:nvSpPr>
            <p:cNvPr id="225" name="Rectangle 224">
              <a:extLst>
                <a:ext uri="{FF2B5EF4-FFF2-40B4-BE49-F238E27FC236}">
                  <a16:creationId xmlns:a16="http://schemas.microsoft.com/office/drawing/2014/main" id="{C079E413-338A-47E3-AE32-2AEF2FA44BEC}"/>
                </a:ext>
              </a:extLst>
            </p:cNvPr>
            <p:cNvSpPr>
              <a:spLocks noChangeAspect="1"/>
            </p:cNvSpPr>
            <p:nvPr/>
          </p:nvSpPr>
          <p:spPr>
            <a:xfrm>
              <a:off x="10811139" y="157441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26" name="Rectangle 225">
              <a:extLst>
                <a:ext uri="{FF2B5EF4-FFF2-40B4-BE49-F238E27FC236}">
                  <a16:creationId xmlns:a16="http://schemas.microsoft.com/office/drawing/2014/main" id="{7935FC1B-34C5-4EC5-BF0E-7D51DB746647}"/>
                </a:ext>
              </a:extLst>
            </p:cNvPr>
            <p:cNvSpPr>
              <a:spLocks noChangeAspect="1"/>
            </p:cNvSpPr>
            <p:nvPr/>
          </p:nvSpPr>
          <p:spPr>
            <a:xfrm>
              <a:off x="10695606" y="157441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27" name="Rectangle 226">
              <a:extLst>
                <a:ext uri="{FF2B5EF4-FFF2-40B4-BE49-F238E27FC236}">
                  <a16:creationId xmlns:a16="http://schemas.microsoft.com/office/drawing/2014/main" id="{01382A20-53AC-46E0-A5D0-2A5AA31AE348}"/>
                </a:ext>
              </a:extLst>
            </p:cNvPr>
            <p:cNvSpPr>
              <a:spLocks noChangeAspect="1"/>
            </p:cNvSpPr>
            <p:nvPr/>
          </p:nvSpPr>
          <p:spPr>
            <a:xfrm>
              <a:off x="10464542" y="157441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28" name="Rectangle 227">
              <a:extLst>
                <a:ext uri="{FF2B5EF4-FFF2-40B4-BE49-F238E27FC236}">
                  <a16:creationId xmlns:a16="http://schemas.microsoft.com/office/drawing/2014/main" id="{CF5EE4B8-3E99-4A02-B25F-CA65AC35E1DE}"/>
                </a:ext>
              </a:extLst>
            </p:cNvPr>
            <p:cNvSpPr>
              <a:spLocks noChangeAspect="1"/>
            </p:cNvSpPr>
            <p:nvPr/>
          </p:nvSpPr>
          <p:spPr>
            <a:xfrm>
              <a:off x="10349010" y="157441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29" name="Rectangle 228">
              <a:extLst>
                <a:ext uri="{FF2B5EF4-FFF2-40B4-BE49-F238E27FC236}">
                  <a16:creationId xmlns:a16="http://schemas.microsoft.com/office/drawing/2014/main" id="{A73DB3BC-FA09-4FB7-969A-DA17BD5BF213}"/>
                </a:ext>
              </a:extLst>
            </p:cNvPr>
            <p:cNvSpPr>
              <a:spLocks noChangeAspect="1"/>
            </p:cNvSpPr>
            <p:nvPr/>
          </p:nvSpPr>
          <p:spPr>
            <a:xfrm>
              <a:off x="10580074" y="1574415"/>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30" name="Rectangle 229">
              <a:extLst>
                <a:ext uri="{FF2B5EF4-FFF2-40B4-BE49-F238E27FC236}">
                  <a16:creationId xmlns:a16="http://schemas.microsoft.com/office/drawing/2014/main" id="{44D7D73E-0546-4AE6-81AC-4E8DBD57C7D7}"/>
                </a:ext>
              </a:extLst>
            </p:cNvPr>
            <p:cNvSpPr>
              <a:spLocks noChangeAspect="1"/>
            </p:cNvSpPr>
            <p:nvPr/>
          </p:nvSpPr>
          <p:spPr>
            <a:xfrm>
              <a:off x="10811139" y="1654604"/>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31" name="Rectangle 230">
              <a:extLst>
                <a:ext uri="{FF2B5EF4-FFF2-40B4-BE49-F238E27FC236}">
                  <a16:creationId xmlns:a16="http://schemas.microsoft.com/office/drawing/2014/main" id="{A1EC495E-3013-46AF-ACE6-C6472CEC19F4}"/>
                </a:ext>
              </a:extLst>
            </p:cNvPr>
            <p:cNvSpPr>
              <a:spLocks noChangeAspect="1"/>
            </p:cNvSpPr>
            <p:nvPr/>
          </p:nvSpPr>
          <p:spPr>
            <a:xfrm>
              <a:off x="10695606" y="1654604"/>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32" name="Rectangle 231">
              <a:extLst>
                <a:ext uri="{FF2B5EF4-FFF2-40B4-BE49-F238E27FC236}">
                  <a16:creationId xmlns:a16="http://schemas.microsoft.com/office/drawing/2014/main" id="{ED5E90C8-4D24-4F69-B84F-57D6E44FBB52}"/>
                </a:ext>
              </a:extLst>
            </p:cNvPr>
            <p:cNvSpPr>
              <a:spLocks noChangeAspect="1"/>
            </p:cNvSpPr>
            <p:nvPr/>
          </p:nvSpPr>
          <p:spPr>
            <a:xfrm>
              <a:off x="10464542" y="1654604"/>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33" name="Rectangle 232">
              <a:extLst>
                <a:ext uri="{FF2B5EF4-FFF2-40B4-BE49-F238E27FC236}">
                  <a16:creationId xmlns:a16="http://schemas.microsoft.com/office/drawing/2014/main" id="{62976D01-ACB1-4A30-9A45-DC99BBC393D2}"/>
                </a:ext>
              </a:extLst>
            </p:cNvPr>
            <p:cNvSpPr>
              <a:spLocks noChangeAspect="1"/>
            </p:cNvSpPr>
            <p:nvPr/>
          </p:nvSpPr>
          <p:spPr>
            <a:xfrm>
              <a:off x="10349010" y="1654604"/>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34" name="Rectangle 233">
              <a:extLst>
                <a:ext uri="{FF2B5EF4-FFF2-40B4-BE49-F238E27FC236}">
                  <a16:creationId xmlns:a16="http://schemas.microsoft.com/office/drawing/2014/main" id="{B91E7D86-796D-47FE-9A03-528B97AED336}"/>
                </a:ext>
              </a:extLst>
            </p:cNvPr>
            <p:cNvSpPr>
              <a:spLocks noChangeAspect="1"/>
            </p:cNvSpPr>
            <p:nvPr/>
          </p:nvSpPr>
          <p:spPr>
            <a:xfrm>
              <a:off x="10580074" y="1654604"/>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35" name="Rectangle 234">
              <a:extLst>
                <a:ext uri="{FF2B5EF4-FFF2-40B4-BE49-F238E27FC236}">
                  <a16:creationId xmlns:a16="http://schemas.microsoft.com/office/drawing/2014/main" id="{2B761430-C4F7-4B1B-A0A9-C7855BADD6E7}"/>
                </a:ext>
              </a:extLst>
            </p:cNvPr>
            <p:cNvSpPr>
              <a:spLocks noChangeAspect="1"/>
            </p:cNvSpPr>
            <p:nvPr/>
          </p:nvSpPr>
          <p:spPr>
            <a:xfrm>
              <a:off x="10811139" y="1734794"/>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36" name="Rectangle 235">
              <a:extLst>
                <a:ext uri="{FF2B5EF4-FFF2-40B4-BE49-F238E27FC236}">
                  <a16:creationId xmlns:a16="http://schemas.microsoft.com/office/drawing/2014/main" id="{174A17B0-49E6-461D-B2B4-7187628B2D5E}"/>
                </a:ext>
              </a:extLst>
            </p:cNvPr>
            <p:cNvSpPr>
              <a:spLocks noChangeAspect="1"/>
            </p:cNvSpPr>
            <p:nvPr/>
          </p:nvSpPr>
          <p:spPr>
            <a:xfrm>
              <a:off x="10695606" y="1734794"/>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37" name="Rectangle 236">
              <a:extLst>
                <a:ext uri="{FF2B5EF4-FFF2-40B4-BE49-F238E27FC236}">
                  <a16:creationId xmlns:a16="http://schemas.microsoft.com/office/drawing/2014/main" id="{61300658-97C4-4B5C-A7DC-A30BF76CFDED}"/>
                </a:ext>
              </a:extLst>
            </p:cNvPr>
            <p:cNvSpPr>
              <a:spLocks noChangeAspect="1"/>
            </p:cNvSpPr>
            <p:nvPr/>
          </p:nvSpPr>
          <p:spPr>
            <a:xfrm>
              <a:off x="10464542" y="1734794"/>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38" name="Rectangle 237">
              <a:extLst>
                <a:ext uri="{FF2B5EF4-FFF2-40B4-BE49-F238E27FC236}">
                  <a16:creationId xmlns:a16="http://schemas.microsoft.com/office/drawing/2014/main" id="{C2E34029-D9BD-4F28-B127-C08A87B55ECB}"/>
                </a:ext>
              </a:extLst>
            </p:cNvPr>
            <p:cNvSpPr>
              <a:spLocks noChangeAspect="1"/>
            </p:cNvSpPr>
            <p:nvPr/>
          </p:nvSpPr>
          <p:spPr>
            <a:xfrm>
              <a:off x="10349010" y="1734794"/>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39" name="Rectangle 238">
              <a:extLst>
                <a:ext uri="{FF2B5EF4-FFF2-40B4-BE49-F238E27FC236}">
                  <a16:creationId xmlns:a16="http://schemas.microsoft.com/office/drawing/2014/main" id="{5BD00CD7-AF0C-4558-A9C1-7DB485DD7E82}"/>
                </a:ext>
              </a:extLst>
            </p:cNvPr>
            <p:cNvSpPr>
              <a:spLocks noChangeAspect="1"/>
            </p:cNvSpPr>
            <p:nvPr/>
          </p:nvSpPr>
          <p:spPr>
            <a:xfrm>
              <a:off x="10580074" y="1734794"/>
              <a:ext cx="45720" cy="45720"/>
            </a:xfrm>
            <a:prstGeom prst="rect">
              <a:avLst/>
            </a:prstGeom>
            <a:grp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grpSp>
      <p:sp>
        <p:nvSpPr>
          <p:cNvPr id="240" name="Rectangle 239">
            <a:extLst>
              <a:ext uri="{FF2B5EF4-FFF2-40B4-BE49-F238E27FC236}">
                <a16:creationId xmlns:a16="http://schemas.microsoft.com/office/drawing/2014/main" id="{C030AE35-E442-430E-97B7-BAA184BC2A03}"/>
              </a:ext>
            </a:extLst>
          </p:cNvPr>
          <p:cNvSpPr>
            <a:spLocks noChangeAspect="1"/>
          </p:cNvSpPr>
          <p:nvPr/>
        </p:nvSpPr>
        <p:spPr>
          <a:xfrm flipH="1">
            <a:off x="6156551" y="2442562"/>
            <a:ext cx="55302" cy="44276"/>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41" name="Rectangle 240">
            <a:extLst>
              <a:ext uri="{FF2B5EF4-FFF2-40B4-BE49-F238E27FC236}">
                <a16:creationId xmlns:a16="http://schemas.microsoft.com/office/drawing/2014/main" id="{51495FF5-178E-43F1-B463-09EFC706A572}"/>
              </a:ext>
            </a:extLst>
          </p:cNvPr>
          <p:cNvSpPr>
            <a:spLocks noChangeAspect="1"/>
          </p:cNvSpPr>
          <p:nvPr/>
        </p:nvSpPr>
        <p:spPr>
          <a:xfrm flipH="1">
            <a:off x="6297094" y="2442562"/>
            <a:ext cx="55302" cy="44276"/>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914403">
              <a:defRPr/>
            </a:pPr>
            <a:endParaRPr lang="en-US" sz="1799" kern="0">
              <a:solidFill>
                <a:prstClr val="white"/>
              </a:solidFill>
              <a:latin typeface="+mj-lt"/>
            </a:endParaRPr>
          </a:p>
        </p:txBody>
      </p:sp>
      <p:grpSp>
        <p:nvGrpSpPr>
          <p:cNvPr id="10" name="Group 9">
            <a:extLst>
              <a:ext uri="{FF2B5EF4-FFF2-40B4-BE49-F238E27FC236}">
                <a16:creationId xmlns:a16="http://schemas.microsoft.com/office/drawing/2014/main" id="{ADDAAE45-71BD-43F4-A76A-15976A01FFE5}"/>
              </a:ext>
            </a:extLst>
          </p:cNvPr>
          <p:cNvGrpSpPr/>
          <p:nvPr/>
        </p:nvGrpSpPr>
        <p:grpSpPr>
          <a:xfrm>
            <a:off x="3199323" y="1789251"/>
            <a:ext cx="1043473" cy="1209928"/>
            <a:chOff x="3651620" y="1743556"/>
            <a:chExt cx="1043473" cy="1209928"/>
          </a:xfrm>
        </p:grpSpPr>
        <p:sp>
          <p:nvSpPr>
            <p:cNvPr id="255" name="Arc 254">
              <a:extLst>
                <a:ext uri="{FF2B5EF4-FFF2-40B4-BE49-F238E27FC236}">
                  <a16:creationId xmlns:a16="http://schemas.microsoft.com/office/drawing/2014/main" id="{76CBDCCF-503F-4B75-A087-C4D48FFAE7A9}"/>
                </a:ext>
              </a:extLst>
            </p:cNvPr>
            <p:cNvSpPr/>
            <p:nvPr/>
          </p:nvSpPr>
          <p:spPr>
            <a:xfrm>
              <a:off x="3691056" y="2057976"/>
              <a:ext cx="162157" cy="618242"/>
            </a:xfrm>
            <a:prstGeom prst="arc">
              <a:avLst>
                <a:gd name="adj1" fmla="val 18765026"/>
                <a:gd name="adj2" fmla="val 5394058"/>
              </a:avLst>
            </a:prstGeom>
            <a:noFill/>
            <a:ln w="25400" cap="flat" cmpd="sng" algn="ctr">
              <a:solidFill>
                <a:schemeClr val="tx1"/>
              </a:solidFill>
              <a:prstDash val="sysDot"/>
              <a:miter lim="800000"/>
            </a:ln>
            <a:effectLst/>
          </p:spPr>
          <p:txBody>
            <a:bodyPr rtlCol="0" anchor="ctr"/>
            <a:lstStyle/>
            <a:p>
              <a:pPr algn="ctr" defTabSz="914403">
                <a:defRPr/>
              </a:pPr>
              <a:endParaRPr lang="en-US" sz="1799" kern="0">
                <a:solidFill>
                  <a:prstClr val="white"/>
                </a:solidFill>
                <a:latin typeface="+mj-lt"/>
              </a:endParaRPr>
            </a:p>
          </p:txBody>
        </p:sp>
        <p:sp>
          <p:nvSpPr>
            <p:cNvPr id="256" name="Arc 255">
              <a:extLst>
                <a:ext uri="{FF2B5EF4-FFF2-40B4-BE49-F238E27FC236}">
                  <a16:creationId xmlns:a16="http://schemas.microsoft.com/office/drawing/2014/main" id="{0A1F1464-515D-4C29-8829-395C1284D91B}"/>
                </a:ext>
              </a:extLst>
            </p:cNvPr>
            <p:cNvSpPr/>
            <p:nvPr/>
          </p:nvSpPr>
          <p:spPr>
            <a:xfrm>
              <a:off x="4166392" y="1743556"/>
              <a:ext cx="422887" cy="1089161"/>
            </a:xfrm>
            <a:prstGeom prst="arc">
              <a:avLst>
                <a:gd name="adj1" fmla="val 5400006"/>
                <a:gd name="adj2" fmla="val 11174386"/>
              </a:avLst>
            </a:prstGeom>
            <a:noFill/>
            <a:ln w="25400" cap="flat" cmpd="sng" algn="ctr">
              <a:solidFill>
                <a:schemeClr val="tx1"/>
              </a:solidFill>
              <a:prstDash val="sysDot"/>
              <a:miter lim="800000"/>
            </a:ln>
            <a:effectLst/>
          </p:spPr>
          <p:txBody>
            <a:bodyPr rtlCol="0" anchor="ctr"/>
            <a:lstStyle/>
            <a:p>
              <a:pPr algn="ctr" defTabSz="914403">
                <a:defRPr/>
              </a:pPr>
              <a:endParaRPr lang="en-US" sz="1799" kern="0">
                <a:solidFill>
                  <a:prstClr val="white"/>
                </a:solidFill>
                <a:latin typeface="+mj-lt"/>
              </a:endParaRPr>
            </a:p>
          </p:txBody>
        </p:sp>
        <p:grpSp>
          <p:nvGrpSpPr>
            <p:cNvPr id="9" name="Group 8">
              <a:extLst>
                <a:ext uri="{FF2B5EF4-FFF2-40B4-BE49-F238E27FC236}">
                  <a16:creationId xmlns:a16="http://schemas.microsoft.com/office/drawing/2014/main" id="{D43434FB-1A2D-407E-B1DD-A12CE25254BA}"/>
                </a:ext>
              </a:extLst>
            </p:cNvPr>
            <p:cNvGrpSpPr/>
            <p:nvPr/>
          </p:nvGrpSpPr>
          <p:grpSpPr>
            <a:xfrm>
              <a:off x="3651620" y="2115474"/>
              <a:ext cx="1043473" cy="838010"/>
              <a:chOff x="3651620" y="2115474"/>
              <a:chExt cx="1043473" cy="838010"/>
            </a:xfrm>
          </p:grpSpPr>
          <p:grpSp>
            <p:nvGrpSpPr>
              <p:cNvPr id="242" name="Group 241">
                <a:extLst>
                  <a:ext uri="{FF2B5EF4-FFF2-40B4-BE49-F238E27FC236}">
                    <a16:creationId xmlns:a16="http://schemas.microsoft.com/office/drawing/2014/main" id="{82424EC2-1154-42E4-AB19-F62B12E9DFBA}"/>
                  </a:ext>
                </a:extLst>
              </p:cNvPr>
              <p:cNvGrpSpPr>
                <a:grpSpLocks noChangeAspect="1"/>
              </p:cNvGrpSpPr>
              <p:nvPr/>
            </p:nvGrpSpPr>
            <p:grpSpPr>
              <a:xfrm>
                <a:off x="3751343" y="2115474"/>
                <a:ext cx="541117" cy="556857"/>
                <a:chOff x="9131304" y="3548423"/>
                <a:chExt cx="2303463" cy="2162175"/>
              </a:xfrm>
            </p:grpSpPr>
            <p:sp>
              <p:nvSpPr>
                <p:cNvPr id="243" name="Freeform 183">
                  <a:extLst>
                    <a:ext uri="{FF2B5EF4-FFF2-40B4-BE49-F238E27FC236}">
                      <a16:creationId xmlns:a16="http://schemas.microsoft.com/office/drawing/2014/main" id="{FE67EE29-52BF-4101-97D5-5B43AB7F3A35}"/>
                    </a:ext>
                  </a:extLst>
                </p:cNvPr>
                <p:cNvSpPr>
                  <a:spLocks/>
                </p:cNvSpPr>
                <p:nvPr/>
              </p:nvSpPr>
              <p:spPr bwMode="auto">
                <a:xfrm>
                  <a:off x="10080630" y="3942123"/>
                  <a:ext cx="403225" cy="212725"/>
                </a:xfrm>
                <a:custGeom>
                  <a:avLst/>
                  <a:gdLst>
                    <a:gd name="T0" fmla="*/ 42 w 42"/>
                    <a:gd name="T1" fmla="*/ 3 h 22"/>
                    <a:gd name="T2" fmla="*/ 42 w 42"/>
                    <a:gd name="T3" fmla="*/ 1 h 22"/>
                    <a:gd name="T4" fmla="*/ 40 w 42"/>
                    <a:gd name="T5" fmla="*/ 1 h 22"/>
                    <a:gd name="T6" fmla="*/ 25 w 42"/>
                    <a:gd name="T7" fmla="*/ 16 h 22"/>
                    <a:gd name="T8" fmla="*/ 24 w 42"/>
                    <a:gd name="T9" fmla="*/ 16 h 22"/>
                    <a:gd name="T10" fmla="*/ 19 w 42"/>
                    <a:gd name="T11" fmla="*/ 16 h 22"/>
                    <a:gd name="T12" fmla="*/ 18 w 42"/>
                    <a:gd name="T13" fmla="*/ 16 h 22"/>
                    <a:gd name="T14" fmla="*/ 3 w 42"/>
                    <a:gd name="T15" fmla="*/ 1 h 22"/>
                    <a:gd name="T16" fmla="*/ 1 w 42"/>
                    <a:gd name="T17" fmla="*/ 1 h 22"/>
                    <a:gd name="T18" fmla="*/ 1 w 42"/>
                    <a:gd name="T19" fmla="*/ 3 h 22"/>
                    <a:gd name="T20" fmla="*/ 16 w 42"/>
                    <a:gd name="T21" fmla="*/ 18 h 22"/>
                    <a:gd name="T22" fmla="*/ 15 w 42"/>
                    <a:gd name="T23" fmla="*/ 19 h 22"/>
                    <a:gd name="T24" fmla="*/ 19 w 42"/>
                    <a:gd name="T25" fmla="*/ 22 h 22"/>
                    <a:gd name="T26" fmla="*/ 24 w 42"/>
                    <a:gd name="T27" fmla="*/ 22 h 22"/>
                    <a:gd name="T28" fmla="*/ 27 w 42"/>
                    <a:gd name="T29" fmla="*/ 19 h 22"/>
                    <a:gd name="T30" fmla="*/ 27 w 42"/>
                    <a:gd name="T31" fmla="*/ 18 h 22"/>
                    <a:gd name="T32" fmla="*/ 42 w 42"/>
                    <a:gd name="T3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2" y="3"/>
                      </a:moveTo>
                      <a:cubicBezTo>
                        <a:pt x="42" y="2"/>
                        <a:pt x="42" y="1"/>
                        <a:pt x="42" y="1"/>
                      </a:cubicBezTo>
                      <a:cubicBezTo>
                        <a:pt x="41" y="0"/>
                        <a:pt x="40" y="0"/>
                        <a:pt x="40" y="1"/>
                      </a:cubicBezTo>
                      <a:cubicBezTo>
                        <a:pt x="25" y="16"/>
                        <a:pt x="25" y="16"/>
                        <a:pt x="25" y="16"/>
                      </a:cubicBezTo>
                      <a:cubicBezTo>
                        <a:pt x="24"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lnTo>
                        <a:pt x="42" y="3"/>
                      </a:lnTo>
                      <a:close/>
                    </a:path>
                  </a:pathLst>
                </a:custGeom>
                <a:solidFill>
                  <a:srgbClr val="43B0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244" name="Freeform 184">
                  <a:extLst>
                    <a:ext uri="{FF2B5EF4-FFF2-40B4-BE49-F238E27FC236}">
                      <a16:creationId xmlns:a16="http://schemas.microsoft.com/office/drawing/2014/main" id="{719130A0-9401-4F80-91E8-835D2633370E}"/>
                    </a:ext>
                  </a:extLst>
                </p:cNvPr>
                <p:cNvSpPr>
                  <a:spLocks/>
                </p:cNvSpPr>
                <p:nvPr/>
              </p:nvSpPr>
              <p:spPr bwMode="auto">
                <a:xfrm>
                  <a:off x="9342442" y="3942123"/>
                  <a:ext cx="403225" cy="212725"/>
                </a:xfrm>
                <a:custGeom>
                  <a:avLst/>
                  <a:gdLst>
                    <a:gd name="T0" fmla="*/ 40 w 42"/>
                    <a:gd name="T1" fmla="*/ 1 h 22"/>
                    <a:gd name="T2" fmla="*/ 25 w 42"/>
                    <a:gd name="T3" fmla="*/ 16 h 22"/>
                    <a:gd name="T4" fmla="*/ 24 w 42"/>
                    <a:gd name="T5" fmla="*/ 16 h 22"/>
                    <a:gd name="T6" fmla="*/ 18 w 42"/>
                    <a:gd name="T7" fmla="*/ 16 h 22"/>
                    <a:gd name="T8" fmla="*/ 17 w 42"/>
                    <a:gd name="T9" fmla="*/ 16 h 22"/>
                    <a:gd name="T10" fmla="*/ 2 w 42"/>
                    <a:gd name="T11" fmla="*/ 1 h 22"/>
                    <a:gd name="T12" fmla="*/ 1 w 42"/>
                    <a:gd name="T13" fmla="*/ 1 h 22"/>
                    <a:gd name="T14" fmla="*/ 1 w 42"/>
                    <a:gd name="T15" fmla="*/ 3 h 22"/>
                    <a:gd name="T16" fmla="*/ 15 w 42"/>
                    <a:gd name="T17" fmla="*/ 18 h 22"/>
                    <a:gd name="T18" fmla="*/ 15 w 42"/>
                    <a:gd name="T19" fmla="*/ 19 h 22"/>
                    <a:gd name="T20" fmla="*/ 18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4" y="16"/>
                        <a:pt x="24" y="16"/>
                        <a:pt x="24" y="16"/>
                      </a:cubicBezTo>
                      <a:cubicBezTo>
                        <a:pt x="18" y="16"/>
                        <a:pt x="18" y="16"/>
                        <a:pt x="18" y="16"/>
                      </a:cubicBezTo>
                      <a:cubicBezTo>
                        <a:pt x="18" y="16"/>
                        <a:pt x="18" y="16"/>
                        <a:pt x="17" y="16"/>
                      </a:cubicBezTo>
                      <a:cubicBezTo>
                        <a:pt x="2" y="1"/>
                        <a:pt x="2" y="1"/>
                        <a:pt x="2" y="1"/>
                      </a:cubicBezTo>
                      <a:cubicBezTo>
                        <a:pt x="2" y="0"/>
                        <a:pt x="1" y="0"/>
                        <a:pt x="1" y="1"/>
                      </a:cubicBezTo>
                      <a:cubicBezTo>
                        <a:pt x="0" y="1"/>
                        <a:pt x="0" y="2"/>
                        <a:pt x="1" y="3"/>
                      </a:cubicBezTo>
                      <a:cubicBezTo>
                        <a:pt x="15" y="18"/>
                        <a:pt x="15" y="18"/>
                        <a:pt x="15" y="18"/>
                      </a:cubicBezTo>
                      <a:cubicBezTo>
                        <a:pt x="15" y="18"/>
                        <a:pt x="15" y="19"/>
                        <a:pt x="15" y="19"/>
                      </a:cubicBezTo>
                      <a:cubicBezTo>
                        <a:pt x="15" y="21"/>
                        <a:pt x="17" y="22"/>
                        <a:pt x="18" y="22"/>
                      </a:cubicBezTo>
                      <a:cubicBezTo>
                        <a:pt x="24" y="22"/>
                        <a:pt x="24" y="22"/>
                        <a:pt x="24" y="22"/>
                      </a:cubicBezTo>
                      <a:cubicBezTo>
                        <a:pt x="25"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solidFill>
                  <a:srgbClr val="43B0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245" name="Freeform 185">
                  <a:extLst>
                    <a:ext uri="{FF2B5EF4-FFF2-40B4-BE49-F238E27FC236}">
                      <a16:creationId xmlns:a16="http://schemas.microsoft.com/office/drawing/2014/main" id="{CAEE7D9A-8A03-456A-85BD-E4A1FEBAD6C8}"/>
                    </a:ext>
                  </a:extLst>
                </p:cNvPr>
                <p:cNvSpPr>
                  <a:spLocks noEditPoints="1"/>
                </p:cNvSpPr>
                <p:nvPr/>
              </p:nvSpPr>
              <p:spPr bwMode="auto">
                <a:xfrm>
                  <a:off x="9131304" y="3548423"/>
                  <a:ext cx="2303463" cy="2162175"/>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solidFill>
                  <a:srgbClr val="43B0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246" name="Freeform 186">
                  <a:extLst>
                    <a:ext uri="{FF2B5EF4-FFF2-40B4-BE49-F238E27FC236}">
                      <a16:creationId xmlns:a16="http://schemas.microsoft.com/office/drawing/2014/main" id="{C5F40B02-B7D8-43D6-AC27-69DDC14C09AC}"/>
                    </a:ext>
                  </a:extLst>
                </p:cNvPr>
                <p:cNvSpPr>
                  <a:spLocks/>
                </p:cNvSpPr>
                <p:nvPr/>
              </p:nvSpPr>
              <p:spPr bwMode="auto">
                <a:xfrm>
                  <a:off x="10820405" y="3942123"/>
                  <a:ext cx="403225" cy="212725"/>
                </a:xfrm>
                <a:custGeom>
                  <a:avLst/>
                  <a:gdLst>
                    <a:gd name="T0" fmla="*/ 40 w 42"/>
                    <a:gd name="T1" fmla="*/ 1 h 22"/>
                    <a:gd name="T2" fmla="*/ 25 w 42"/>
                    <a:gd name="T3" fmla="*/ 16 h 22"/>
                    <a:gd name="T4" fmla="*/ 24 w 42"/>
                    <a:gd name="T5" fmla="*/ 16 h 22"/>
                    <a:gd name="T6" fmla="*/ 19 w 42"/>
                    <a:gd name="T7" fmla="*/ 16 h 22"/>
                    <a:gd name="T8" fmla="*/ 18 w 42"/>
                    <a:gd name="T9" fmla="*/ 16 h 22"/>
                    <a:gd name="T10" fmla="*/ 3 w 42"/>
                    <a:gd name="T11" fmla="*/ 1 h 22"/>
                    <a:gd name="T12" fmla="*/ 1 w 42"/>
                    <a:gd name="T13" fmla="*/ 1 h 22"/>
                    <a:gd name="T14" fmla="*/ 1 w 42"/>
                    <a:gd name="T15" fmla="*/ 3 h 22"/>
                    <a:gd name="T16" fmla="*/ 16 w 42"/>
                    <a:gd name="T17" fmla="*/ 18 h 22"/>
                    <a:gd name="T18" fmla="*/ 15 w 42"/>
                    <a:gd name="T19" fmla="*/ 19 h 22"/>
                    <a:gd name="T20" fmla="*/ 19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5"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solidFill>
                  <a:srgbClr val="43B0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grpSp>
          <p:sp>
            <p:nvSpPr>
              <p:cNvPr id="247" name="object 112">
                <a:extLst>
                  <a:ext uri="{FF2B5EF4-FFF2-40B4-BE49-F238E27FC236}">
                    <a16:creationId xmlns:a16="http://schemas.microsoft.com/office/drawing/2014/main" id="{01AC8CBD-458B-4397-B9B5-4D227294A3A6}"/>
                  </a:ext>
                </a:extLst>
              </p:cNvPr>
              <p:cNvSpPr/>
              <p:nvPr/>
            </p:nvSpPr>
            <p:spPr>
              <a:xfrm>
                <a:off x="4415071" y="2787007"/>
                <a:ext cx="72199" cy="55588"/>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solidFill>
                <a:schemeClr val="accent1"/>
              </a:solidFill>
            </p:spPr>
            <p:txBody>
              <a:bodyPr wrap="square" lIns="0" tIns="0" rIns="0" bIns="0" rtlCol="0"/>
              <a:lstStyle/>
              <a:p>
                <a:pPr defTabSz="914403">
                  <a:defRPr/>
                </a:pPr>
                <a:endParaRPr sz="1799" kern="0">
                  <a:solidFill>
                    <a:prstClr val="black"/>
                  </a:solidFill>
                  <a:latin typeface="+mj-lt"/>
                </a:endParaRPr>
              </a:p>
            </p:txBody>
          </p:sp>
          <p:sp>
            <p:nvSpPr>
              <p:cNvPr id="248" name="object 113">
                <a:extLst>
                  <a:ext uri="{FF2B5EF4-FFF2-40B4-BE49-F238E27FC236}">
                    <a16:creationId xmlns:a16="http://schemas.microsoft.com/office/drawing/2014/main" id="{471ACCFB-5A89-46AA-9E8A-31F295F9EC79}"/>
                  </a:ext>
                </a:extLst>
              </p:cNvPr>
              <p:cNvSpPr/>
              <p:nvPr/>
            </p:nvSpPr>
            <p:spPr>
              <a:xfrm>
                <a:off x="4378837" y="2763152"/>
                <a:ext cx="144949" cy="190332"/>
              </a:xfrm>
              <a:custGeom>
                <a:avLst/>
                <a:gdLst/>
                <a:ahLst/>
                <a:cxnLst/>
                <a:rect l="l" t="t" r="r" b="b"/>
                <a:pathLst>
                  <a:path w="167005" h="200025">
                    <a:moveTo>
                      <a:pt x="5194" y="182727"/>
                    </a:moveTo>
                    <a:lnTo>
                      <a:pt x="1651" y="184416"/>
                    </a:lnTo>
                    <a:lnTo>
                      <a:pt x="0" y="189191"/>
                    </a:lnTo>
                    <a:lnTo>
                      <a:pt x="0" y="199732"/>
                    </a:lnTo>
                    <a:lnTo>
                      <a:pt x="166573" y="199732"/>
                    </a:lnTo>
                    <a:lnTo>
                      <a:pt x="166408" y="186283"/>
                    </a:lnTo>
                    <a:lnTo>
                      <a:pt x="163195" y="183083"/>
                    </a:lnTo>
                    <a:lnTo>
                      <a:pt x="157911" y="183019"/>
                    </a:lnTo>
                    <a:lnTo>
                      <a:pt x="9994" y="182994"/>
                    </a:lnTo>
                    <a:lnTo>
                      <a:pt x="5194" y="182727"/>
                    </a:lnTo>
                    <a:close/>
                  </a:path>
                  <a:path w="167005" h="200025">
                    <a:moveTo>
                      <a:pt x="146786" y="0"/>
                    </a:moveTo>
                    <a:lnTo>
                      <a:pt x="19735" y="0"/>
                    </a:lnTo>
                    <a:lnTo>
                      <a:pt x="16764" y="2933"/>
                    </a:lnTo>
                    <a:lnTo>
                      <a:pt x="16611" y="8712"/>
                    </a:lnTo>
                    <a:lnTo>
                      <a:pt x="16611" y="183007"/>
                    </a:lnTo>
                    <a:lnTo>
                      <a:pt x="149885" y="183007"/>
                    </a:lnTo>
                    <a:lnTo>
                      <a:pt x="33451" y="182880"/>
                    </a:lnTo>
                    <a:lnTo>
                      <a:pt x="33451" y="16852"/>
                    </a:lnTo>
                    <a:lnTo>
                      <a:pt x="149791" y="16852"/>
                    </a:lnTo>
                    <a:lnTo>
                      <a:pt x="149683" y="2933"/>
                    </a:lnTo>
                    <a:lnTo>
                      <a:pt x="146786" y="0"/>
                    </a:lnTo>
                    <a:close/>
                  </a:path>
                  <a:path w="167005" h="200025">
                    <a:moveTo>
                      <a:pt x="149791" y="16852"/>
                    </a:moveTo>
                    <a:lnTo>
                      <a:pt x="132956" y="16852"/>
                    </a:lnTo>
                    <a:lnTo>
                      <a:pt x="132956" y="182880"/>
                    </a:lnTo>
                    <a:lnTo>
                      <a:pt x="149885" y="182880"/>
                    </a:lnTo>
                    <a:lnTo>
                      <a:pt x="149791" y="16852"/>
                    </a:lnTo>
                    <a:close/>
                  </a:path>
                </a:pathLst>
              </a:custGeom>
              <a:solidFill>
                <a:srgbClr val="43B02A"/>
              </a:solidFill>
            </p:spPr>
            <p:txBody>
              <a:bodyPr wrap="square" lIns="0" tIns="0" rIns="0" bIns="0" rtlCol="0"/>
              <a:lstStyle/>
              <a:p>
                <a:pPr defTabSz="914403">
                  <a:defRPr/>
                </a:pPr>
                <a:endParaRPr sz="1799" kern="0">
                  <a:solidFill>
                    <a:prstClr val="black"/>
                  </a:solidFill>
                  <a:latin typeface="+mj-lt"/>
                </a:endParaRPr>
              </a:p>
            </p:txBody>
          </p:sp>
          <p:sp>
            <p:nvSpPr>
              <p:cNvPr id="250" name="object 112">
                <a:extLst>
                  <a:ext uri="{FF2B5EF4-FFF2-40B4-BE49-F238E27FC236}">
                    <a16:creationId xmlns:a16="http://schemas.microsoft.com/office/drawing/2014/main" id="{4331A4CE-721F-4A6C-AC90-F003F1BAC5BC}"/>
                  </a:ext>
                </a:extLst>
              </p:cNvPr>
              <p:cNvSpPr/>
              <p:nvPr/>
            </p:nvSpPr>
            <p:spPr>
              <a:xfrm>
                <a:off x="4622894" y="2475547"/>
                <a:ext cx="72199" cy="55588"/>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solidFill>
                <a:sysClr val="window" lastClr="FFFFFF"/>
              </a:solidFill>
            </p:spPr>
            <p:txBody>
              <a:bodyPr wrap="square" lIns="0" tIns="0" rIns="0" bIns="0" rtlCol="0"/>
              <a:lstStyle/>
              <a:p>
                <a:pPr defTabSz="914403">
                  <a:defRPr/>
                </a:pPr>
                <a:endParaRPr sz="1799" kern="0">
                  <a:solidFill>
                    <a:prstClr val="black"/>
                  </a:solidFill>
                  <a:latin typeface="+mj-lt"/>
                </a:endParaRPr>
              </a:p>
            </p:txBody>
          </p:sp>
          <p:sp>
            <p:nvSpPr>
              <p:cNvPr id="253" name="object 112">
                <a:extLst>
                  <a:ext uri="{FF2B5EF4-FFF2-40B4-BE49-F238E27FC236}">
                    <a16:creationId xmlns:a16="http://schemas.microsoft.com/office/drawing/2014/main" id="{2E79FE38-C72C-4CC7-8049-B859FA63FAC0}"/>
                  </a:ext>
                </a:extLst>
              </p:cNvPr>
              <p:cNvSpPr/>
              <p:nvPr/>
            </p:nvSpPr>
            <p:spPr>
              <a:xfrm>
                <a:off x="4450289" y="2475547"/>
                <a:ext cx="72199" cy="55588"/>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solidFill>
                <a:sysClr val="window" lastClr="FFFFFF"/>
              </a:solidFill>
            </p:spPr>
            <p:txBody>
              <a:bodyPr wrap="square" lIns="0" tIns="0" rIns="0" bIns="0" rtlCol="0"/>
              <a:lstStyle/>
              <a:p>
                <a:pPr defTabSz="914403">
                  <a:defRPr/>
                </a:pPr>
                <a:endParaRPr sz="1799" kern="0">
                  <a:solidFill>
                    <a:prstClr val="black"/>
                  </a:solidFill>
                  <a:latin typeface="+mj-lt"/>
                </a:endParaRPr>
              </a:p>
            </p:txBody>
          </p:sp>
          <p:sp>
            <p:nvSpPr>
              <p:cNvPr id="257" name="object 112">
                <a:extLst>
                  <a:ext uri="{FF2B5EF4-FFF2-40B4-BE49-F238E27FC236}">
                    <a16:creationId xmlns:a16="http://schemas.microsoft.com/office/drawing/2014/main" id="{7374CE1F-81D4-4253-A4D6-B5F3CCCF69C9}"/>
                  </a:ext>
                </a:extLst>
              </p:cNvPr>
              <p:cNvSpPr/>
              <p:nvPr/>
            </p:nvSpPr>
            <p:spPr>
              <a:xfrm>
                <a:off x="4242464" y="2787007"/>
                <a:ext cx="72199" cy="55588"/>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solidFill>
                <a:schemeClr val="accent1"/>
              </a:solidFill>
            </p:spPr>
            <p:txBody>
              <a:bodyPr wrap="square" lIns="0" tIns="0" rIns="0" bIns="0" rtlCol="0"/>
              <a:lstStyle/>
              <a:p>
                <a:pPr defTabSz="914403">
                  <a:defRPr/>
                </a:pPr>
                <a:endParaRPr sz="1799" kern="0">
                  <a:solidFill>
                    <a:prstClr val="black"/>
                  </a:solidFill>
                  <a:latin typeface="+mj-lt"/>
                </a:endParaRPr>
              </a:p>
            </p:txBody>
          </p:sp>
          <p:sp>
            <p:nvSpPr>
              <p:cNvPr id="258" name="object 113">
                <a:extLst>
                  <a:ext uri="{FF2B5EF4-FFF2-40B4-BE49-F238E27FC236}">
                    <a16:creationId xmlns:a16="http://schemas.microsoft.com/office/drawing/2014/main" id="{A68556EB-58AA-461B-9959-FCB830D8BFEC}"/>
                  </a:ext>
                </a:extLst>
              </p:cNvPr>
              <p:cNvSpPr/>
              <p:nvPr/>
            </p:nvSpPr>
            <p:spPr>
              <a:xfrm>
                <a:off x="4206231" y="2763152"/>
                <a:ext cx="144949" cy="190332"/>
              </a:xfrm>
              <a:custGeom>
                <a:avLst/>
                <a:gdLst/>
                <a:ahLst/>
                <a:cxnLst/>
                <a:rect l="l" t="t" r="r" b="b"/>
                <a:pathLst>
                  <a:path w="167005" h="200025">
                    <a:moveTo>
                      <a:pt x="5194" y="182727"/>
                    </a:moveTo>
                    <a:lnTo>
                      <a:pt x="1651" y="184416"/>
                    </a:lnTo>
                    <a:lnTo>
                      <a:pt x="0" y="189191"/>
                    </a:lnTo>
                    <a:lnTo>
                      <a:pt x="0" y="199732"/>
                    </a:lnTo>
                    <a:lnTo>
                      <a:pt x="166573" y="199732"/>
                    </a:lnTo>
                    <a:lnTo>
                      <a:pt x="166408" y="186283"/>
                    </a:lnTo>
                    <a:lnTo>
                      <a:pt x="163195" y="183083"/>
                    </a:lnTo>
                    <a:lnTo>
                      <a:pt x="157911" y="183019"/>
                    </a:lnTo>
                    <a:lnTo>
                      <a:pt x="9994" y="182994"/>
                    </a:lnTo>
                    <a:lnTo>
                      <a:pt x="5194" y="182727"/>
                    </a:lnTo>
                    <a:close/>
                  </a:path>
                  <a:path w="167005" h="200025">
                    <a:moveTo>
                      <a:pt x="146786" y="0"/>
                    </a:moveTo>
                    <a:lnTo>
                      <a:pt x="19735" y="0"/>
                    </a:lnTo>
                    <a:lnTo>
                      <a:pt x="16764" y="2933"/>
                    </a:lnTo>
                    <a:lnTo>
                      <a:pt x="16611" y="8712"/>
                    </a:lnTo>
                    <a:lnTo>
                      <a:pt x="16611" y="183007"/>
                    </a:lnTo>
                    <a:lnTo>
                      <a:pt x="149885" y="183007"/>
                    </a:lnTo>
                    <a:lnTo>
                      <a:pt x="33451" y="182880"/>
                    </a:lnTo>
                    <a:lnTo>
                      <a:pt x="33451" y="16852"/>
                    </a:lnTo>
                    <a:lnTo>
                      <a:pt x="149791" y="16852"/>
                    </a:lnTo>
                    <a:lnTo>
                      <a:pt x="149683" y="2933"/>
                    </a:lnTo>
                    <a:lnTo>
                      <a:pt x="146786" y="0"/>
                    </a:lnTo>
                    <a:close/>
                  </a:path>
                  <a:path w="167005" h="200025">
                    <a:moveTo>
                      <a:pt x="149791" y="16852"/>
                    </a:moveTo>
                    <a:lnTo>
                      <a:pt x="132956" y="16852"/>
                    </a:lnTo>
                    <a:lnTo>
                      <a:pt x="132956" y="182880"/>
                    </a:lnTo>
                    <a:lnTo>
                      <a:pt x="149885" y="182880"/>
                    </a:lnTo>
                    <a:lnTo>
                      <a:pt x="149791" y="16852"/>
                    </a:lnTo>
                    <a:close/>
                  </a:path>
                </a:pathLst>
              </a:custGeom>
              <a:solidFill>
                <a:srgbClr val="43B02A"/>
              </a:solidFill>
            </p:spPr>
            <p:txBody>
              <a:bodyPr wrap="square" lIns="0" tIns="0" rIns="0" bIns="0" rtlCol="0"/>
              <a:lstStyle/>
              <a:p>
                <a:pPr defTabSz="914403">
                  <a:defRPr/>
                </a:pPr>
                <a:endParaRPr sz="1799" kern="0">
                  <a:solidFill>
                    <a:prstClr val="black"/>
                  </a:solidFill>
                  <a:latin typeface="+mj-lt"/>
                </a:endParaRPr>
              </a:p>
            </p:txBody>
          </p:sp>
          <p:sp>
            <p:nvSpPr>
              <p:cNvPr id="259" name="object 112">
                <a:extLst>
                  <a:ext uri="{FF2B5EF4-FFF2-40B4-BE49-F238E27FC236}">
                    <a16:creationId xmlns:a16="http://schemas.microsoft.com/office/drawing/2014/main" id="{D85DAF76-5881-4038-B0FB-1CF856B47665}"/>
                  </a:ext>
                </a:extLst>
              </p:cNvPr>
              <p:cNvSpPr/>
              <p:nvPr/>
            </p:nvSpPr>
            <p:spPr>
              <a:xfrm>
                <a:off x="3687854" y="2629194"/>
                <a:ext cx="72199" cy="55588"/>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solidFill>
                <a:schemeClr val="accent1"/>
              </a:solidFill>
            </p:spPr>
            <p:txBody>
              <a:bodyPr wrap="square" lIns="0" tIns="0" rIns="0" bIns="0" rtlCol="0"/>
              <a:lstStyle/>
              <a:p>
                <a:pPr defTabSz="914403">
                  <a:defRPr/>
                </a:pPr>
                <a:endParaRPr sz="1799" kern="0">
                  <a:solidFill>
                    <a:prstClr val="black"/>
                  </a:solidFill>
                  <a:latin typeface="+mj-lt"/>
                </a:endParaRPr>
              </a:p>
            </p:txBody>
          </p:sp>
          <p:sp>
            <p:nvSpPr>
              <p:cNvPr id="260" name="object 113">
                <a:extLst>
                  <a:ext uri="{FF2B5EF4-FFF2-40B4-BE49-F238E27FC236}">
                    <a16:creationId xmlns:a16="http://schemas.microsoft.com/office/drawing/2014/main" id="{DE6E1C3A-4A72-49AD-97BB-9F50E1CA51D0}"/>
                  </a:ext>
                </a:extLst>
              </p:cNvPr>
              <p:cNvSpPr/>
              <p:nvPr/>
            </p:nvSpPr>
            <p:spPr>
              <a:xfrm>
                <a:off x="3651620" y="2605339"/>
                <a:ext cx="144949" cy="190332"/>
              </a:xfrm>
              <a:custGeom>
                <a:avLst/>
                <a:gdLst/>
                <a:ahLst/>
                <a:cxnLst/>
                <a:rect l="l" t="t" r="r" b="b"/>
                <a:pathLst>
                  <a:path w="167005" h="200025">
                    <a:moveTo>
                      <a:pt x="5194" y="182727"/>
                    </a:moveTo>
                    <a:lnTo>
                      <a:pt x="1651" y="184416"/>
                    </a:lnTo>
                    <a:lnTo>
                      <a:pt x="0" y="189191"/>
                    </a:lnTo>
                    <a:lnTo>
                      <a:pt x="0" y="199732"/>
                    </a:lnTo>
                    <a:lnTo>
                      <a:pt x="166573" y="199732"/>
                    </a:lnTo>
                    <a:lnTo>
                      <a:pt x="166408" y="186283"/>
                    </a:lnTo>
                    <a:lnTo>
                      <a:pt x="163195" y="183083"/>
                    </a:lnTo>
                    <a:lnTo>
                      <a:pt x="157911" y="183019"/>
                    </a:lnTo>
                    <a:lnTo>
                      <a:pt x="9994" y="182994"/>
                    </a:lnTo>
                    <a:lnTo>
                      <a:pt x="5194" y="182727"/>
                    </a:lnTo>
                    <a:close/>
                  </a:path>
                  <a:path w="167005" h="200025">
                    <a:moveTo>
                      <a:pt x="146786" y="0"/>
                    </a:moveTo>
                    <a:lnTo>
                      <a:pt x="19735" y="0"/>
                    </a:lnTo>
                    <a:lnTo>
                      <a:pt x="16764" y="2933"/>
                    </a:lnTo>
                    <a:lnTo>
                      <a:pt x="16611" y="8712"/>
                    </a:lnTo>
                    <a:lnTo>
                      <a:pt x="16611" y="183007"/>
                    </a:lnTo>
                    <a:lnTo>
                      <a:pt x="149885" y="183007"/>
                    </a:lnTo>
                    <a:lnTo>
                      <a:pt x="33451" y="182880"/>
                    </a:lnTo>
                    <a:lnTo>
                      <a:pt x="33451" y="16852"/>
                    </a:lnTo>
                    <a:lnTo>
                      <a:pt x="149791" y="16852"/>
                    </a:lnTo>
                    <a:lnTo>
                      <a:pt x="149683" y="2933"/>
                    </a:lnTo>
                    <a:lnTo>
                      <a:pt x="146786" y="0"/>
                    </a:lnTo>
                    <a:close/>
                  </a:path>
                  <a:path w="167005" h="200025">
                    <a:moveTo>
                      <a:pt x="149791" y="16852"/>
                    </a:moveTo>
                    <a:lnTo>
                      <a:pt x="132956" y="16852"/>
                    </a:lnTo>
                    <a:lnTo>
                      <a:pt x="132956" y="182880"/>
                    </a:lnTo>
                    <a:lnTo>
                      <a:pt x="149885" y="182880"/>
                    </a:lnTo>
                    <a:lnTo>
                      <a:pt x="149791" y="16852"/>
                    </a:lnTo>
                    <a:close/>
                  </a:path>
                </a:pathLst>
              </a:custGeom>
              <a:solidFill>
                <a:srgbClr val="43B02A"/>
              </a:solidFill>
            </p:spPr>
            <p:txBody>
              <a:bodyPr wrap="square" lIns="0" tIns="0" rIns="0" bIns="0" rtlCol="0"/>
              <a:lstStyle/>
              <a:p>
                <a:pPr defTabSz="914403">
                  <a:defRPr/>
                </a:pPr>
                <a:endParaRPr sz="1799" kern="0">
                  <a:solidFill>
                    <a:prstClr val="black"/>
                  </a:solidFill>
                  <a:latin typeface="+mj-lt"/>
                </a:endParaRPr>
              </a:p>
            </p:txBody>
          </p:sp>
          <p:cxnSp>
            <p:nvCxnSpPr>
              <p:cNvPr id="261" name="Straight Connector 260">
                <a:extLst>
                  <a:ext uri="{FF2B5EF4-FFF2-40B4-BE49-F238E27FC236}">
                    <a16:creationId xmlns:a16="http://schemas.microsoft.com/office/drawing/2014/main" id="{30C8407B-0B94-4D70-9E67-AC1C0752C9BB}"/>
                  </a:ext>
                </a:extLst>
              </p:cNvPr>
              <p:cNvCxnSpPr/>
              <p:nvPr/>
            </p:nvCxnSpPr>
            <p:spPr>
              <a:xfrm>
                <a:off x="4335496" y="2834962"/>
                <a:ext cx="53831" cy="0"/>
              </a:xfrm>
              <a:prstGeom prst="line">
                <a:avLst/>
              </a:prstGeom>
              <a:noFill/>
              <a:ln w="19050" cap="flat" cmpd="sng" algn="ctr">
                <a:solidFill>
                  <a:sysClr val="window" lastClr="FFFFFF"/>
                </a:solidFill>
                <a:prstDash val="sysDot"/>
                <a:miter lim="800000"/>
              </a:ln>
              <a:effectLst/>
            </p:spPr>
          </p:cxnSp>
          <p:cxnSp>
            <p:nvCxnSpPr>
              <p:cNvPr id="262" name="Straight Connector 261">
                <a:extLst>
                  <a:ext uri="{FF2B5EF4-FFF2-40B4-BE49-F238E27FC236}">
                    <a16:creationId xmlns:a16="http://schemas.microsoft.com/office/drawing/2014/main" id="{7C8A680F-D748-4FEC-8034-F3F89239185D}"/>
                  </a:ext>
                </a:extLst>
              </p:cNvPr>
              <p:cNvCxnSpPr/>
              <p:nvPr/>
            </p:nvCxnSpPr>
            <p:spPr>
              <a:xfrm>
                <a:off x="4549055" y="2520742"/>
                <a:ext cx="53831" cy="0"/>
              </a:xfrm>
              <a:prstGeom prst="line">
                <a:avLst/>
              </a:prstGeom>
              <a:noFill/>
              <a:ln w="19050" cap="flat" cmpd="sng" algn="ctr">
                <a:solidFill>
                  <a:sysClr val="window" lastClr="FFFFFF"/>
                </a:solidFill>
                <a:prstDash val="sysDot"/>
                <a:miter lim="800000"/>
              </a:ln>
              <a:effectLst/>
            </p:spPr>
          </p:cxnSp>
        </p:grpSp>
      </p:grpSp>
      <p:sp>
        <p:nvSpPr>
          <p:cNvPr id="263" name="object 147">
            <a:extLst>
              <a:ext uri="{FF2B5EF4-FFF2-40B4-BE49-F238E27FC236}">
                <a16:creationId xmlns:a16="http://schemas.microsoft.com/office/drawing/2014/main" id="{6B22709B-D2ED-458B-8A48-7FBC44263D9C}"/>
              </a:ext>
            </a:extLst>
          </p:cNvPr>
          <p:cNvSpPr txBox="1"/>
          <p:nvPr/>
        </p:nvSpPr>
        <p:spPr>
          <a:xfrm>
            <a:off x="3811195" y="2181631"/>
            <a:ext cx="911112" cy="585288"/>
          </a:xfrm>
          <a:prstGeom prst="rect">
            <a:avLst/>
          </a:prstGeom>
          <a:noFill/>
        </p:spPr>
        <p:txBody>
          <a:bodyPr wrap="square" rtlCol="0">
            <a:spAutoFit/>
          </a:bodyPr>
          <a:lstStyle>
            <a:defPPr>
              <a:defRPr lang="en-US"/>
            </a:defPPr>
            <a:lvl1pPr algn="ctr">
              <a:defRPr sz="1200" b="1">
                <a:solidFill>
                  <a:schemeClr val="accent5"/>
                </a:solidFill>
              </a:defRPr>
            </a:lvl1pPr>
          </a:lstStyle>
          <a:p>
            <a:pPr algn="l" defTabSz="914403">
              <a:defRPr/>
            </a:pPr>
            <a:r>
              <a:rPr sz="801" b="0" kern="0" dirty="0">
                <a:solidFill>
                  <a:schemeClr val="tx1"/>
                </a:solidFill>
                <a:latin typeface="+mj-lt"/>
              </a:rPr>
              <a:t>Smart transmission</a:t>
            </a:r>
            <a:br>
              <a:rPr lang="en-US" sz="801" b="0" kern="0" dirty="0">
                <a:solidFill>
                  <a:schemeClr val="tx1"/>
                </a:solidFill>
                <a:latin typeface="+mj-lt"/>
              </a:rPr>
            </a:br>
            <a:r>
              <a:rPr sz="801" b="0" kern="0" dirty="0">
                <a:solidFill>
                  <a:schemeClr val="tx1"/>
                </a:solidFill>
                <a:latin typeface="+mj-lt"/>
              </a:rPr>
              <a:t>and distribution</a:t>
            </a:r>
          </a:p>
        </p:txBody>
      </p:sp>
      <p:grpSp>
        <p:nvGrpSpPr>
          <p:cNvPr id="264" name="Group 263">
            <a:extLst>
              <a:ext uri="{FF2B5EF4-FFF2-40B4-BE49-F238E27FC236}">
                <a16:creationId xmlns:a16="http://schemas.microsoft.com/office/drawing/2014/main" id="{35AD53EC-7BB0-4729-B254-CDD9CB9CDFA6}"/>
              </a:ext>
            </a:extLst>
          </p:cNvPr>
          <p:cNvGrpSpPr/>
          <p:nvPr/>
        </p:nvGrpSpPr>
        <p:grpSpPr>
          <a:xfrm>
            <a:off x="9440261" y="1469418"/>
            <a:ext cx="736840" cy="508449"/>
            <a:chOff x="9618345" y="2192885"/>
            <a:chExt cx="1284947" cy="586096"/>
          </a:xfrm>
          <a:solidFill>
            <a:srgbClr val="8C8C8C">
              <a:lumMod val="75000"/>
            </a:srgbClr>
          </a:solidFill>
        </p:grpSpPr>
        <p:sp>
          <p:nvSpPr>
            <p:cNvPr id="265" name="Freeform 35">
              <a:extLst>
                <a:ext uri="{FF2B5EF4-FFF2-40B4-BE49-F238E27FC236}">
                  <a16:creationId xmlns:a16="http://schemas.microsoft.com/office/drawing/2014/main" id="{CF9C2E22-6B82-49BE-AC91-043DF28FE4CB}"/>
                </a:ext>
              </a:extLst>
            </p:cNvPr>
            <p:cNvSpPr>
              <a:spLocks noEditPoints="1"/>
            </p:cNvSpPr>
            <p:nvPr/>
          </p:nvSpPr>
          <p:spPr bwMode="auto">
            <a:xfrm>
              <a:off x="9618345" y="2192885"/>
              <a:ext cx="870971" cy="586096"/>
            </a:xfrm>
            <a:custGeom>
              <a:avLst/>
              <a:gdLst>
                <a:gd name="T0" fmla="*/ 548 w 548"/>
                <a:gd name="T1" fmla="*/ 34 h 298"/>
                <a:gd name="T2" fmla="*/ 463 w 548"/>
                <a:gd name="T3" fmla="*/ 298 h 298"/>
                <a:gd name="T4" fmla="*/ 364 w 548"/>
                <a:gd name="T5" fmla="*/ 298 h 298"/>
                <a:gd name="T6" fmla="*/ 323 w 548"/>
                <a:gd name="T7" fmla="*/ 190 h 298"/>
                <a:gd name="T8" fmla="*/ 227 w 548"/>
                <a:gd name="T9" fmla="*/ 174 h 298"/>
                <a:gd name="T10" fmla="*/ 0 w 548"/>
                <a:gd name="T11" fmla="*/ 183 h 298"/>
                <a:gd name="T12" fmla="*/ 227 w 548"/>
                <a:gd name="T13" fmla="*/ 133 h 298"/>
                <a:gd name="T14" fmla="*/ 0 w 548"/>
                <a:gd name="T15" fmla="*/ 148 h 298"/>
                <a:gd name="T16" fmla="*/ 364 w 548"/>
                <a:gd name="T17" fmla="*/ 142 h 298"/>
                <a:gd name="T18" fmla="*/ 463 w 548"/>
                <a:gd name="T19" fmla="*/ 131 h 298"/>
                <a:gd name="T20" fmla="*/ 323 w 548"/>
                <a:gd name="T21" fmla="*/ 130 h 298"/>
                <a:gd name="T22" fmla="*/ 463 w 548"/>
                <a:gd name="T23" fmla="*/ 104 h 298"/>
                <a:gd name="T24" fmla="*/ 323 w 548"/>
                <a:gd name="T25" fmla="*/ 106 h 298"/>
                <a:gd name="T26" fmla="*/ 463 w 548"/>
                <a:gd name="T27" fmla="*/ 78 h 298"/>
                <a:gd name="T28" fmla="*/ 323 w 548"/>
                <a:gd name="T29" fmla="*/ 83 h 298"/>
                <a:gd name="T30" fmla="*/ 463 w 548"/>
                <a:gd name="T31" fmla="*/ 52 h 298"/>
                <a:gd name="T32" fmla="*/ 323 w 548"/>
                <a:gd name="T33" fmla="*/ 59 h 298"/>
                <a:gd name="T34" fmla="*/ 463 w 548"/>
                <a:gd name="T35" fmla="*/ 26 h 298"/>
                <a:gd name="T36" fmla="*/ 323 w 548"/>
                <a:gd name="T37" fmla="*/ 35 h 298"/>
                <a:gd name="T38" fmla="*/ 463 w 548"/>
                <a:gd name="T39" fmla="*/ 0 h 298"/>
                <a:gd name="T40" fmla="*/ 0 w 548"/>
                <a:gd name="T41" fmla="*/ 218 h 298"/>
                <a:gd name="T42" fmla="*/ 159 w 548"/>
                <a:gd name="T43" fmla="*/ 219 h 298"/>
                <a:gd name="T44" fmla="*/ 159 w 548"/>
                <a:gd name="T45" fmla="*/ 243 h 298"/>
                <a:gd name="T46" fmla="*/ 0 w 548"/>
                <a:gd name="T47" fmla="*/ 263 h 298"/>
                <a:gd name="T48" fmla="*/ 159 w 548"/>
                <a:gd name="T49" fmla="*/ 243 h 298"/>
                <a:gd name="T50" fmla="*/ 0 w 548"/>
                <a:gd name="T51" fmla="*/ 287 h 298"/>
                <a:gd name="T52" fmla="*/ 159 w 548"/>
                <a:gd name="T53" fmla="*/ 298 h 298"/>
                <a:gd name="T54" fmla="*/ 387 w 548"/>
                <a:gd name="T55" fmla="*/ 198 h 298"/>
                <a:gd name="T56" fmla="*/ 411 w 548"/>
                <a:gd name="T57" fmla="*/ 213 h 298"/>
                <a:gd name="T58" fmla="*/ 463 w 548"/>
                <a:gd name="T59" fmla="*/ 193 h 298"/>
                <a:gd name="T60" fmla="*/ 411 w 548"/>
                <a:gd name="T61" fmla="*/ 222 h 298"/>
                <a:gd name="T62" fmla="*/ 463 w 548"/>
                <a:gd name="T63" fmla="*/ 235 h 298"/>
                <a:gd name="T64" fmla="*/ 411 w 548"/>
                <a:gd name="T65" fmla="*/ 222 h 298"/>
                <a:gd name="T66" fmla="*/ 411 w 548"/>
                <a:gd name="T67" fmla="*/ 263 h 298"/>
                <a:gd name="T68" fmla="*/ 463 w 548"/>
                <a:gd name="T69" fmla="*/ 245 h 298"/>
                <a:gd name="T70" fmla="*/ 411 w 548"/>
                <a:gd name="T71" fmla="*/ 272 h 298"/>
                <a:gd name="T72" fmla="*/ 463 w 548"/>
                <a:gd name="T73" fmla="*/ 288 h 298"/>
                <a:gd name="T74" fmla="*/ 411 w 548"/>
                <a:gd name="T75" fmla="*/ 272 h 298"/>
                <a:gd name="T76" fmla="*/ 463 w 548"/>
                <a:gd name="T77" fmla="*/ 183 h 298"/>
                <a:gd name="T78" fmla="*/ 364 w 548"/>
                <a:gd name="T79" fmla="*/ 175 h 298"/>
                <a:gd name="T80" fmla="*/ 364 w 548"/>
                <a:gd name="T81" fmla="*/ 167 h 298"/>
                <a:gd name="T82" fmla="*/ 463 w 548"/>
                <a:gd name="T83" fmla="*/ 140 h 298"/>
                <a:gd name="T84" fmla="*/ 364 w 548"/>
                <a:gd name="T85" fmla="*/ 167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48" h="298">
                  <a:moveTo>
                    <a:pt x="463" y="0"/>
                  </a:moveTo>
                  <a:cubicBezTo>
                    <a:pt x="548" y="34"/>
                    <a:pt x="548" y="34"/>
                    <a:pt x="548" y="34"/>
                  </a:cubicBezTo>
                  <a:cubicBezTo>
                    <a:pt x="548" y="298"/>
                    <a:pt x="548" y="298"/>
                    <a:pt x="548" y="298"/>
                  </a:cubicBezTo>
                  <a:cubicBezTo>
                    <a:pt x="463" y="298"/>
                    <a:pt x="463" y="298"/>
                    <a:pt x="463" y="298"/>
                  </a:cubicBezTo>
                  <a:cubicBezTo>
                    <a:pt x="411" y="298"/>
                    <a:pt x="411" y="298"/>
                    <a:pt x="411" y="298"/>
                  </a:cubicBezTo>
                  <a:cubicBezTo>
                    <a:pt x="364" y="298"/>
                    <a:pt x="364" y="298"/>
                    <a:pt x="364" y="298"/>
                  </a:cubicBezTo>
                  <a:cubicBezTo>
                    <a:pt x="323" y="298"/>
                    <a:pt x="323" y="298"/>
                    <a:pt x="323" y="298"/>
                  </a:cubicBezTo>
                  <a:cubicBezTo>
                    <a:pt x="323" y="190"/>
                    <a:pt x="323" y="190"/>
                    <a:pt x="323" y="190"/>
                  </a:cubicBezTo>
                  <a:cubicBezTo>
                    <a:pt x="227" y="197"/>
                    <a:pt x="227" y="197"/>
                    <a:pt x="227" y="197"/>
                  </a:cubicBezTo>
                  <a:cubicBezTo>
                    <a:pt x="227" y="174"/>
                    <a:pt x="227" y="174"/>
                    <a:pt x="227" y="174"/>
                  </a:cubicBezTo>
                  <a:cubicBezTo>
                    <a:pt x="152" y="181"/>
                    <a:pt x="76" y="187"/>
                    <a:pt x="0" y="194"/>
                  </a:cubicBezTo>
                  <a:cubicBezTo>
                    <a:pt x="0" y="190"/>
                    <a:pt x="0" y="187"/>
                    <a:pt x="0" y="183"/>
                  </a:cubicBezTo>
                  <a:cubicBezTo>
                    <a:pt x="76" y="174"/>
                    <a:pt x="152" y="166"/>
                    <a:pt x="227" y="157"/>
                  </a:cubicBezTo>
                  <a:cubicBezTo>
                    <a:pt x="227" y="133"/>
                    <a:pt x="227" y="133"/>
                    <a:pt x="227" y="133"/>
                  </a:cubicBezTo>
                  <a:cubicBezTo>
                    <a:pt x="0" y="159"/>
                    <a:pt x="0" y="159"/>
                    <a:pt x="0" y="159"/>
                  </a:cubicBezTo>
                  <a:cubicBezTo>
                    <a:pt x="0" y="148"/>
                    <a:pt x="0" y="148"/>
                    <a:pt x="0" y="148"/>
                  </a:cubicBezTo>
                  <a:cubicBezTo>
                    <a:pt x="227" y="116"/>
                    <a:pt x="227" y="116"/>
                    <a:pt x="227" y="116"/>
                  </a:cubicBezTo>
                  <a:cubicBezTo>
                    <a:pt x="364" y="142"/>
                    <a:pt x="364" y="142"/>
                    <a:pt x="364" y="142"/>
                  </a:cubicBezTo>
                  <a:cubicBezTo>
                    <a:pt x="364" y="142"/>
                    <a:pt x="364" y="142"/>
                    <a:pt x="364" y="142"/>
                  </a:cubicBezTo>
                  <a:cubicBezTo>
                    <a:pt x="463" y="131"/>
                    <a:pt x="463" y="131"/>
                    <a:pt x="463" y="131"/>
                  </a:cubicBezTo>
                  <a:cubicBezTo>
                    <a:pt x="463" y="114"/>
                    <a:pt x="463" y="114"/>
                    <a:pt x="463" y="114"/>
                  </a:cubicBezTo>
                  <a:cubicBezTo>
                    <a:pt x="417" y="120"/>
                    <a:pt x="370" y="125"/>
                    <a:pt x="323" y="130"/>
                  </a:cubicBezTo>
                  <a:cubicBezTo>
                    <a:pt x="323" y="128"/>
                    <a:pt x="323" y="125"/>
                    <a:pt x="323" y="123"/>
                  </a:cubicBezTo>
                  <a:cubicBezTo>
                    <a:pt x="370" y="117"/>
                    <a:pt x="417" y="111"/>
                    <a:pt x="463" y="104"/>
                  </a:cubicBezTo>
                  <a:cubicBezTo>
                    <a:pt x="463" y="88"/>
                    <a:pt x="463" y="88"/>
                    <a:pt x="463" y="88"/>
                  </a:cubicBezTo>
                  <a:cubicBezTo>
                    <a:pt x="417" y="94"/>
                    <a:pt x="370" y="100"/>
                    <a:pt x="323" y="106"/>
                  </a:cubicBezTo>
                  <a:cubicBezTo>
                    <a:pt x="323" y="104"/>
                    <a:pt x="323" y="102"/>
                    <a:pt x="323" y="99"/>
                  </a:cubicBezTo>
                  <a:cubicBezTo>
                    <a:pt x="370" y="92"/>
                    <a:pt x="417" y="85"/>
                    <a:pt x="463" y="78"/>
                  </a:cubicBezTo>
                  <a:cubicBezTo>
                    <a:pt x="463" y="62"/>
                    <a:pt x="463" y="62"/>
                    <a:pt x="463" y="62"/>
                  </a:cubicBezTo>
                  <a:cubicBezTo>
                    <a:pt x="417" y="69"/>
                    <a:pt x="370" y="76"/>
                    <a:pt x="323" y="83"/>
                  </a:cubicBezTo>
                  <a:cubicBezTo>
                    <a:pt x="323" y="80"/>
                    <a:pt x="323" y="78"/>
                    <a:pt x="323" y="75"/>
                  </a:cubicBezTo>
                  <a:cubicBezTo>
                    <a:pt x="370" y="67"/>
                    <a:pt x="417" y="60"/>
                    <a:pt x="463" y="52"/>
                  </a:cubicBezTo>
                  <a:cubicBezTo>
                    <a:pt x="463" y="36"/>
                    <a:pt x="463" y="36"/>
                    <a:pt x="463" y="36"/>
                  </a:cubicBezTo>
                  <a:cubicBezTo>
                    <a:pt x="417" y="43"/>
                    <a:pt x="370" y="51"/>
                    <a:pt x="323" y="59"/>
                  </a:cubicBezTo>
                  <a:cubicBezTo>
                    <a:pt x="323" y="56"/>
                    <a:pt x="323" y="54"/>
                    <a:pt x="323" y="51"/>
                  </a:cubicBezTo>
                  <a:cubicBezTo>
                    <a:pt x="370" y="43"/>
                    <a:pt x="417" y="34"/>
                    <a:pt x="463" y="26"/>
                  </a:cubicBezTo>
                  <a:cubicBezTo>
                    <a:pt x="463" y="9"/>
                    <a:pt x="463" y="9"/>
                    <a:pt x="463" y="9"/>
                  </a:cubicBezTo>
                  <a:cubicBezTo>
                    <a:pt x="323" y="35"/>
                    <a:pt x="323" y="35"/>
                    <a:pt x="323" y="35"/>
                  </a:cubicBezTo>
                  <a:cubicBezTo>
                    <a:pt x="323" y="27"/>
                    <a:pt x="323" y="27"/>
                    <a:pt x="323" y="27"/>
                  </a:cubicBezTo>
                  <a:cubicBezTo>
                    <a:pt x="463" y="0"/>
                    <a:pt x="463" y="0"/>
                    <a:pt x="463" y="0"/>
                  </a:cubicBezTo>
                  <a:close/>
                  <a:moveTo>
                    <a:pt x="159" y="204"/>
                  </a:moveTo>
                  <a:cubicBezTo>
                    <a:pt x="0" y="218"/>
                    <a:pt x="0" y="218"/>
                    <a:pt x="0" y="218"/>
                  </a:cubicBezTo>
                  <a:cubicBezTo>
                    <a:pt x="0" y="221"/>
                    <a:pt x="0" y="225"/>
                    <a:pt x="0" y="228"/>
                  </a:cubicBezTo>
                  <a:cubicBezTo>
                    <a:pt x="159" y="219"/>
                    <a:pt x="159" y="219"/>
                    <a:pt x="159" y="219"/>
                  </a:cubicBezTo>
                  <a:cubicBezTo>
                    <a:pt x="159" y="204"/>
                    <a:pt x="159" y="204"/>
                    <a:pt x="159" y="204"/>
                  </a:cubicBezTo>
                  <a:close/>
                  <a:moveTo>
                    <a:pt x="159" y="243"/>
                  </a:moveTo>
                  <a:cubicBezTo>
                    <a:pt x="0" y="252"/>
                    <a:pt x="0" y="252"/>
                    <a:pt x="0" y="252"/>
                  </a:cubicBezTo>
                  <a:cubicBezTo>
                    <a:pt x="0" y="256"/>
                    <a:pt x="0" y="259"/>
                    <a:pt x="0" y="263"/>
                  </a:cubicBezTo>
                  <a:cubicBezTo>
                    <a:pt x="159" y="259"/>
                    <a:pt x="159" y="259"/>
                    <a:pt x="159" y="259"/>
                  </a:cubicBezTo>
                  <a:cubicBezTo>
                    <a:pt x="159" y="243"/>
                    <a:pt x="159" y="243"/>
                    <a:pt x="159" y="243"/>
                  </a:cubicBezTo>
                  <a:close/>
                  <a:moveTo>
                    <a:pt x="159" y="282"/>
                  </a:moveTo>
                  <a:cubicBezTo>
                    <a:pt x="0" y="287"/>
                    <a:pt x="0" y="287"/>
                    <a:pt x="0" y="287"/>
                  </a:cubicBezTo>
                  <a:cubicBezTo>
                    <a:pt x="0" y="298"/>
                    <a:pt x="0" y="298"/>
                    <a:pt x="0" y="298"/>
                  </a:cubicBezTo>
                  <a:cubicBezTo>
                    <a:pt x="159" y="298"/>
                    <a:pt x="159" y="298"/>
                    <a:pt x="159" y="298"/>
                  </a:cubicBezTo>
                  <a:cubicBezTo>
                    <a:pt x="159" y="282"/>
                    <a:pt x="159" y="282"/>
                    <a:pt x="159" y="282"/>
                  </a:cubicBezTo>
                  <a:close/>
                  <a:moveTo>
                    <a:pt x="387" y="198"/>
                  </a:moveTo>
                  <a:cubicBezTo>
                    <a:pt x="411" y="201"/>
                    <a:pt x="411" y="201"/>
                    <a:pt x="411" y="201"/>
                  </a:cubicBezTo>
                  <a:cubicBezTo>
                    <a:pt x="411" y="213"/>
                    <a:pt x="411" y="213"/>
                    <a:pt x="411" y="213"/>
                  </a:cubicBezTo>
                  <a:cubicBezTo>
                    <a:pt x="463" y="209"/>
                    <a:pt x="463" y="209"/>
                    <a:pt x="463" y="209"/>
                  </a:cubicBezTo>
                  <a:cubicBezTo>
                    <a:pt x="463" y="193"/>
                    <a:pt x="463" y="193"/>
                    <a:pt x="463" y="193"/>
                  </a:cubicBezTo>
                  <a:cubicBezTo>
                    <a:pt x="387" y="198"/>
                    <a:pt x="387" y="198"/>
                    <a:pt x="387" y="198"/>
                  </a:cubicBezTo>
                  <a:close/>
                  <a:moveTo>
                    <a:pt x="411" y="222"/>
                  </a:moveTo>
                  <a:cubicBezTo>
                    <a:pt x="411" y="238"/>
                    <a:pt x="411" y="238"/>
                    <a:pt x="411" y="238"/>
                  </a:cubicBezTo>
                  <a:cubicBezTo>
                    <a:pt x="463" y="235"/>
                    <a:pt x="463" y="235"/>
                    <a:pt x="463" y="235"/>
                  </a:cubicBezTo>
                  <a:cubicBezTo>
                    <a:pt x="463" y="219"/>
                    <a:pt x="463" y="219"/>
                    <a:pt x="463" y="219"/>
                  </a:cubicBezTo>
                  <a:cubicBezTo>
                    <a:pt x="411" y="222"/>
                    <a:pt x="411" y="222"/>
                    <a:pt x="411" y="222"/>
                  </a:cubicBezTo>
                  <a:close/>
                  <a:moveTo>
                    <a:pt x="411" y="247"/>
                  </a:moveTo>
                  <a:cubicBezTo>
                    <a:pt x="411" y="263"/>
                    <a:pt x="411" y="263"/>
                    <a:pt x="411" y="263"/>
                  </a:cubicBezTo>
                  <a:cubicBezTo>
                    <a:pt x="463" y="262"/>
                    <a:pt x="463" y="262"/>
                    <a:pt x="463" y="262"/>
                  </a:cubicBezTo>
                  <a:cubicBezTo>
                    <a:pt x="463" y="245"/>
                    <a:pt x="463" y="245"/>
                    <a:pt x="463" y="245"/>
                  </a:cubicBezTo>
                  <a:cubicBezTo>
                    <a:pt x="411" y="247"/>
                    <a:pt x="411" y="247"/>
                    <a:pt x="411" y="247"/>
                  </a:cubicBezTo>
                  <a:close/>
                  <a:moveTo>
                    <a:pt x="411" y="272"/>
                  </a:moveTo>
                  <a:cubicBezTo>
                    <a:pt x="411" y="289"/>
                    <a:pt x="411" y="289"/>
                    <a:pt x="411" y="289"/>
                  </a:cubicBezTo>
                  <a:cubicBezTo>
                    <a:pt x="463" y="288"/>
                    <a:pt x="463" y="288"/>
                    <a:pt x="463" y="288"/>
                  </a:cubicBezTo>
                  <a:cubicBezTo>
                    <a:pt x="463" y="271"/>
                    <a:pt x="463" y="271"/>
                    <a:pt x="463" y="271"/>
                  </a:cubicBezTo>
                  <a:cubicBezTo>
                    <a:pt x="411" y="272"/>
                    <a:pt x="411" y="272"/>
                    <a:pt x="411" y="272"/>
                  </a:cubicBezTo>
                  <a:close/>
                  <a:moveTo>
                    <a:pt x="364" y="191"/>
                  </a:moveTo>
                  <a:cubicBezTo>
                    <a:pt x="463" y="183"/>
                    <a:pt x="463" y="183"/>
                    <a:pt x="463" y="183"/>
                  </a:cubicBezTo>
                  <a:cubicBezTo>
                    <a:pt x="463" y="167"/>
                    <a:pt x="463" y="167"/>
                    <a:pt x="463" y="167"/>
                  </a:cubicBezTo>
                  <a:cubicBezTo>
                    <a:pt x="364" y="175"/>
                    <a:pt x="364" y="175"/>
                    <a:pt x="364" y="175"/>
                  </a:cubicBezTo>
                  <a:cubicBezTo>
                    <a:pt x="364" y="191"/>
                    <a:pt x="364" y="191"/>
                    <a:pt x="364" y="191"/>
                  </a:cubicBezTo>
                  <a:close/>
                  <a:moveTo>
                    <a:pt x="364" y="167"/>
                  </a:moveTo>
                  <a:cubicBezTo>
                    <a:pt x="463" y="157"/>
                    <a:pt x="463" y="157"/>
                    <a:pt x="463" y="157"/>
                  </a:cubicBezTo>
                  <a:cubicBezTo>
                    <a:pt x="463" y="140"/>
                    <a:pt x="463" y="140"/>
                    <a:pt x="463" y="140"/>
                  </a:cubicBezTo>
                  <a:cubicBezTo>
                    <a:pt x="364" y="150"/>
                    <a:pt x="364" y="150"/>
                    <a:pt x="364" y="150"/>
                  </a:cubicBezTo>
                  <a:lnTo>
                    <a:pt x="364" y="167"/>
                  </a:lnTo>
                  <a:close/>
                </a:path>
              </a:pathLst>
            </a:custGeom>
            <a:grpFill/>
            <a:ln>
              <a:no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FFC000"/>
                </a:solidFill>
                <a:latin typeface="+mj-lt"/>
              </a:endParaRPr>
            </a:p>
          </p:txBody>
        </p:sp>
        <p:grpSp>
          <p:nvGrpSpPr>
            <p:cNvPr id="266" name="Group 265">
              <a:extLst>
                <a:ext uri="{FF2B5EF4-FFF2-40B4-BE49-F238E27FC236}">
                  <a16:creationId xmlns:a16="http://schemas.microsoft.com/office/drawing/2014/main" id="{0A856E15-F633-4F97-9947-20AF1D2FF1B3}"/>
                </a:ext>
              </a:extLst>
            </p:cNvPr>
            <p:cNvGrpSpPr/>
            <p:nvPr/>
          </p:nvGrpSpPr>
          <p:grpSpPr>
            <a:xfrm>
              <a:off x="10502922" y="2514919"/>
              <a:ext cx="400370" cy="264062"/>
              <a:chOff x="10502922" y="2531065"/>
              <a:chExt cx="400370" cy="264062"/>
            </a:xfrm>
            <a:grpFill/>
          </p:grpSpPr>
          <p:sp>
            <p:nvSpPr>
              <p:cNvPr id="267" name="Freeform 250">
                <a:extLst>
                  <a:ext uri="{FF2B5EF4-FFF2-40B4-BE49-F238E27FC236}">
                    <a16:creationId xmlns:a16="http://schemas.microsoft.com/office/drawing/2014/main" id="{BD081F13-CE54-41B8-BD67-43C370D44BBD}"/>
                  </a:ext>
                </a:extLst>
              </p:cNvPr>
              <p:cNvSpPr/>
              <p:nvPr/>
            </p:nvSpPr>
            <p:spPr>
              <a:xfrm>
                <a:off x="10502922" y="2531065"/>
                <a:ext cx="400370" cy="264062"/>
              </a:xfrm>
              <a:custGeom>
                <a:avLst/>
                <a:gdLst>
                  <a:gd name="connsiteX0" fmla="*/ 3661287 w 3709219"/>
                  <a:gd name="connsiteY0" fmla="*/ 4022623 h 4203291"/>
                  <a:gd name="connsiteX1" fmla="*/ 3661287 w 3709219"/>
                  <a:gd name="connsiteY1" fmla="*/ 4203291 h 4203291"/>
                  <a:gd name="connsiteX2" fmla="*/ 3185651 w 3709219"/>
                  <a:gd name="connsiteY2" fmla="*/ 4203291 h 4203291"/>
                  <a:gd name="connsiteX3" fmla="*/ 3185651 w 3709219"/>
                  <a:gd name="connsiteY3" fmla="*/ 3897262 h 4203291"/>
                  <a:gd name="connsiteX4" fmla="*/ 3406877 w 3709219"/>
                  <a:gd name="connsiteY4" fmla="*/ 3808771 h 4203291"/>
                  <a:gd name="connsiteX5" fmla="*/ 3709219 w 3709219"/>
                  <a:gd name="connsiteY5" fmla="*/ 3808771 h 4203291"/>
                  <a:gd name="connsiteX6" fmla="*/ 0 w 3709219"/>
                  <a:gd name="connsiteY6" fmla="*/ 0 h 4203291"/>
                  <a:gd name="connsiteX0" fmla="*/ 475636 w 741107"/>
                  <a:gd name="connsiteY0" fmla="*/ 213852 h 394520"/>
                  <a:gd name="connsiteX1" fmla="*/ 475636 w 741107"/>
                  <a:gd name="connsiteY1" fmla="*/ 394520 h 394520"/>
                  <a:gd name="connsiteX2" fmla="*/ 0 w 741107"/>
                  <a:gd name="connsiteY2" fmla="*/ 394520 h 394520"/>
                  <a:gd name="connsiteX3" fmla="*/ 0 w 741107"/>
                  <a:gd name="connsiteY3" fmla="*/ 88491 h 394520"/>
                  <a:gd name="connsiteX4" fmla="*/ 221226 w 741107"/>
                  <a:gd name="connsiteY4" fmla="*/ 0 h 394520"/>
                  <a:gd name="connsiteX5" fmla="*/ 523568 w 741107"/>
                  <a:gd name="connsiteY5" fmla="*/ 0 h 394520"/>
                  <a:gd name="connsiteX6" fmla="*/ 741107 w 741107"/>
                  <a:gd name="connsiteY6" fmla="*/ 243348 h 394520"/>
                  <a:gd name="connsiteX0" fmla="*/ 475636 w 523568"/>
                  <a:gd name="connsiteY0" fmla="*/ 213852 h 394520"/>
                  <a:gd name="connsiteX1" fmla="*/ 475636 w 523568"/>
                  <a:gd name="connsiteY1" fmla="*/ 394520 h 394520"/>
                  <a:gd name="connsiteX2" fmla="*/ 0 w 523568"/>
                  <a:gd name="connsiteY2" fmla="*/ 394520 h 394520"/>
                  <a:gd name="connsiteX3" fmla="*/ 0 w 523568"/>
                  <a:gd name="connsiteY3" fmla="*/ 88491 h 394520"/>
                  <a:gd name="connsiteX4" fmla="*/ 221226 w 523568"/>
                  <a:gd name="connsiteY4" fmla="*/ 0 h 394520"/>
                  <a:gd name="connsiteX5" fmla="*/ 523568 w 523568"/>
                  <a:gd name="connsiteY5" fmla="*/ 0 h 394520"/>
                  <a:gd name="connsiteX6" fmla="*/ 401894 w 523568"/>
                  <a:gd name="connsiteY6" fmla="*/ 140109 h 394520"/>
                  <a:gd name="connsiteX0" fmla="*/ 475636 w 475636"/>
                  <a:gd name="connsiteY0" fmla="*/ 213852 h 394520"/>
                  <a:gd name="connsiteX1" fmla="*/ 475636 w 475636"/>
                  <a:gd name="connsiteY1" fmla="*/ 394520 h 394520"/>
                  <a:gd name="connsiteX2" fmla="*/ 0 w 475636"/>
                  <a:gd name="connsiteY2" fmla="*/ 394520 h 394520"/>
                  <a:gd name="connsiteX3" fmla="*/ 0 w 475636"/>
                  <a:gd name="connsiteY3" fmla="*/ 88491 h 394520"/>
                  <a:gd name="connsiteX4" fmla="*/ 221226 w 475636"/>
                  <a:gd name="connsiteY4" fmla="*/ 0 h 394520"/>
                  <a:gd name="connsiteX5" fmla="*/ 247035 w 475636"/>
                  <a:gd name="connsiteY5" fmla="*/ 110613 h 394520"/>
                  <a:gd name="connsiteX6" fmla="*/ 401894 w 475636"/>
                  <a:gd name="connsiteY6" fmla="*/ 140109 h 394520"/>
                  <a:gd name="connsiteX0" fmla="*/ 475636 w 475636"/>
                  <a:gd name="connsiteY0" fmla="*/ 213852 h 394520"/>
                  <a:gd name="connsiteX1" fmla="*/ 475636 w 475636"/>
                  <a:gd name="connsiteY1" fmla="*/ 394520 h 394520"/>
                  <a:gd name="connsiteX2" fmla="*/ 0 w 475636"/>
                  <a:gd name="connsiteY2" fmla="*/ 394520 h 394520"/>
                  <a:gd name="connsiteX3" fmla="*/ 0 w 475636"/>
                  <a:gd name="connsiteY3" fmla="*/ 88491 h 394520"/>
                  <a:gd name="connsiteX4" fmla="*/ 221226 w 475636"/>
                  <a:gd name="connsiteY4" fmla="*/ 0 h 394520"/>
                  <a:gd name="connsiteX5" fmla="*/ 235973 w 475636"/>
                  <a:gd name="connsiteY5" fmla="*/ 154858 h 394520"/>
                  <a:gd name="connsiteX6" fmla="*/ 401894 w 475636"/>
                  <a:gd name="connsiteY6" fmla="*/ 140109 h 394520"/>
                  <a:gd name="connsiteX0" fmla="*/ 475636 w 475636"/>
                  <a:gd name="connsiteY0" fmla="*/ 213852 h 394520"/>
                  <a:gd name="connsiteX1" fmla="*/ 475636 w 475636"/>
                  <a:gd name="connsiteY1" fmla="*/ 394520 h 394520"/>
                  <a:gd name="connsiteX2" fmla="*/ 0 w 475636"/>
                  <a:gd name="connsiteY2" fmla="*/ 394520 h 394520"/>
                  <a:gd name="connsiteX3" fmla="*/ 0 w 475636"/>
                  <a:gd name="connsiteY3" fmla="*/ 88491 h 394520"/>
                  <a:gd name="connsiteX4" fmla="*/ 221226 w 475636"/>
                  <a:gd name="connsiteY4" fmla="*/ 0 h 394520"/>
                  <a:gd name="connsiteX5" fmla="*/ 235204 w 475636"/>
                  <a:gd name="connsiteY5" fmla="*/ 62586 h 394520"/>
                  <a:gd name="connsiteX6" fmla="*/ 235973 w 475636"/>
                  <a:gd name="connsiteY6" fmla="*/ 154858 h 394520"/>
                  <a:gd name="connsiteX7" fmla="*/ 401894 w 475636"/>
                  <a:gd name="connsiteY7" fmla="*/ 140109 h 394520"/>
                  <a:gd name="connsiteX0" fmla="*/ 475636 w 475636"/>
                  <a:gd name="connsiteY0" fmla="*/ 192309 h 372977"/>
                  <a:gd name="connsiteX1" fmla="*/ 475636 w 475636"/>
                  <a:gd name="connsiteY1" fmla="*/ 372977 h 372977"/>
                  <a:gd name="connsiteX2" fmla="*/ 0 w 475636"/>
                  <a:gd name="connsiteY2" fmla="*/ 372977 h 372977"/>
                  <a:gd name="connsiteX3" fmla="*/ 0 w 475636"/>
                  <a:gd name="connsiteY3" fmla="*/ 66948 h 372977"/>
                  <a:gd name="connsiteX4" fmla="*/ 239179 w 475636"/>
                  <a:gd name="connsiteY4" fmla="*/ 0 h 372977"/>
                  <a:gd name="connsiteX5" fmla="*/ 235204 w 475636"/>
                  <a:gd name="connsiteY5" fmla="*/ 41043 h 372977"/>
                  <a:gd name="connsiteX6" fmla="*/ 235973 w 475636"/>
                  <a:gd name="connsiteY6" fmla="*/ 133315 h 372977"/>
                  <a:gd name="connsiteX7" fmla="*/ 401894 w 475636"/>
                  <a:gd name="connsiteY7" fmla="*/ 118566 h 372977"/>
                  <a:gd name="connsiteX0" fmla="*/ 475636 w 475636"/>
                  <a:gd name="connsiteY0" fmla="*/ 192309 h 372977"/>
                  <a:gd name="connsiteX1" fmla="*/ 475636 w 475636"/>
                  <a:gd name="connsiteY1" fmla="*/ 372977 h 372977"/>
                  <a:gd name="connsiteX2" fmla="*/ 0 w 475636"/>
                  <a:gd name="connsiteY2" fmla="*/ 372977 h 372977"/>
                  <a:gd name="connsiteX3" fmla="*/ 0 w 475636"/>
                  <a:gd name="connsiteY3" fmla="*/ 66948 h 372977"/>
                  <a:gd name="connsiteX4" fmla="*/ 239179 w 475636"/>
                  <a:gd name="connsiteY4" fmla="*/ 0 h 372977"/>
                  <a:gd name="connsiteX5" fmla="*/ 307015 w 475636"/>
                  <a:gd name="connsiteY5" fmla="*/ 76948 h 372977"/>
                  <a:gd name="connsiteX6" fmla="*/ 235973 w 475636"/>
                  <a:gd name="connsiteY6" fmla="*/ 133315 h 372977"/>
                  <a:gd name="connsiteX7" fmla="*/ 401894 w 475636"/>
                  <a:gd name="connsiteY7" fmla="*/ 118566 h 372977"/>
                  <a:gd name="connsiteX0" fmla="*/ 475636 w 475636"/>
                  <a:gd name="connsiteY0" fmla="*/ 192309 h 372977"/>
                  <a:gd name="connsiteX1" fmla="*/ 475636 w 475636"/>
                  <a:gd name="connsiteY1" fmla="*/ 372977 h 372977"/>
                  <a:gd name="connsiteX2" fmla="*/ 0 w 475636"/>
                  <a:gd name="connsiteY2" fmla="*/ 372977 h 372977"/>
                  <a:gd name="connsiteX3" fmla="*/ 0 w 475636"/>
                  <a:gd name="connsiteY3" fmla="*/ 66948 h 372977"/>
                  <a:gd name="connsiteX4" fmla="*/ 239179 w 475636"/>
                  <a:gd name="connsiteY4" fmla="*/ 0 h 372977"/>
                  <a:gd name="connsiteX5" fmla="*/ 307015 w 475636"/>
                  <a:gd name="connsiteY5" fmla="*/ 76948 h 372977"/>
                  <a:gd name="connsiteX6" fmla="*/ 235973 w 475636"/>
                  <a:gd name="connsiteY6" fmla="*/ 133315 h 372977"/>
                  <a:gd name="connsiteX7" fmla="*/ 329755 w 475636"/>
                  <a:gd name="connsiteY7" fmla="*/ 98492 h 372977"/>
                  <a:gd name="connsiteX8" fmla="*/ 401894 w 475636"/>
                  <a:gd name="connsiteY8" fmla="*/ 118566 h 372977"/>
                  <a:gd name="connsiteX0" fmla="*/ 475636 w 475636"/>
                  <a:gd name="connsiteY0" fmla="*/ 192309 h 372977"/>
                  <a:gd name="connsiteX1" fmla="*/ 475636 w 475636"/>
                  <a:gd name="connsiteY1" fmla="*/ 372977 h 372977"/>
                  <a:gd name="connsiteX2" fmla="*/ 0 w 475636"/>
                  <a:gd name="connsiteY2" fmla="*/ 372977 h 372977"/>
                  <a:gd name="connsiteX3" fmla="*/ 0 w 475636"/>
                  <a:gd name="connsiteY3" fmla="*/ 66948 h 372977"/>
                  <a:gd name="connsiteX4" fmla="*/ 239179 w 475636"/>
                  <a:gd name="connsiteY4" fmla="*/ 0 h 372977"/>
                  <a:gd name="connsiteX5" fmla="*/ 307015 w 475636"/>
                  <a:gd name="connsiteY5" fmla="*/ 76948 h 372977"/>
                  <a:gd name="connsiteX6" fmla="*/ 235973 w 475636"/>
                  <a:gd name="connsiteY6" fmla="*/ 133315 h 372977"/>
                  <a:gd name="connsiteX7" fmla="*/ 329755 w 475636"/>
                  <a:gd name="connsiteY7" fmla="*/ 98492 h 372977"/>
                  <a:gd name="connsiteX8" fmla="*/ 365989 w 475636"/>
                  <a:gd name="connsiteY8" fmla="*/ 141307 h 372977"/>
                  <a:gd name="connsiteX0" fmla="*/ 475636 w 475636"/>
                  <a:gd name="connsiteY0" fmla="*/ 192309 h 376567"/>
                  <a:gd name="connsiteX1" fmla="*/ 397841 w 475636"/>
                  <a:gd name="connsiteY1" fmla="*/ 376567 h 376567"/>
                  <a:gd name="connsiteX2" fmla="*/ 0 w 475636"/>
                  <a:gd name="connsiteY2" fmla="*/ 372977 h 376567"/>
                  <a:gd name="connsiteX3" fmla="*/ 0 w 475636"/>
                  <a:gd name="connsiteY3" fmla="*/ 66948 h 376567"/>
                  <a:gd name="connsiteX4" fmla="*/ 239179 w 475636"/>
                  <a:gd name="connsiteY4" fmla="*/ 0 h 376567"/>
                  <a:gd name="connsiteX5" fmla="*/ 307015 w 475636"/>
                  <a:gd name="connsiteY5" fmla="*/ 76948 h 376567"/>
                  <a:gd name="connsiteX6" fmla="*/ 235973 w 475636"/>
                  <a:gd name="connsiteY6" fmla="*/ 133315 h 376567"/>
                  <a:gd name="connsiteX7" fmla="*/ 329755 w 475636"/>
                  <a:gd name="connsiteY7" fmla="*/ 98492 h 376567"/>
                  <a:gd name="connsiteX8" fmla="*/ 365989 w 475636"/>
                  <a:gd name="connsiteY8" fmla="*/ 141307 h 376567"/>
                  <a:gd name="connsiteX0" fmla="*/ 475636 w 475636"/>
                  <a:gd name="connsiteY0" fmla="*/ 192309 h 376567"/>
                  <a:gd name="connsiteX1" fmla="*/ 397976 w 475636"/>
                  <a:gd name="connsiteY1" fmla="*/ 201422 h 376567"/>
                  <a:gd name="connsiteX2" fmla="*/ 397841 w 475636"/>
                  <a:gd name="connsiteY2" fmla="*/ 376567 h 376567"/>
                  <a:gd name="connsiteX3" fmla="*/ 0 w 475636"/>
                  <a:gd name="connsiteY3" fmla="*/ 372977 h 376567"/>
                  <a:gd name="connsiteX4" fmla="*/ 0 w 475636"/>
                  <a:gd name="connsiteY4" fmla="*/ 66948 h 376567"/>
                  <a:gd name="connsiteX5" fmla="*/ 239179 w 475636"/>
                  <a:gd name="connsiteY5" fmla="*/ 0 h 376567"/>
                  <a:gd name="connsiteX6" fmla="*/ 307015 w 475636"/>
                  <a:gd name="connsiteY6" fmla="*/ 76948 h 376567"/>
                  <a:gd name="connsiteX7" fmla="*/ 235973 w 475636"/>
                  <a:gd name="connsiteY7" fmla="*/ 133315 h 376567"/>
                  <a:gd name="connsiteX8" fmla="*/ 329755 w 475636"/>
                  <a:gd name="connsiteY8" fmla="*/ 98492 h 376567"/>
                  <a:gd name="connsiteX9" fmla="*/ 365989 w 475636"/>
                  <a:gd name="connsiteY9" fmla="*/ 141307 h 376567"/>
                  <a:gd name="connsiteX0" fmla="*/ 397976 w 397976"/>
                  <a:gd name="connsiteY0" fmla="*/ 201422 h 376567"/>
                  <a:gd name="connsiteX1" fmla="*/ 397841 w 397976"/>
                  <a:gd name="connsiteY1" fmla="*/ 376567 h 376567"/>
                  <a:gd name="connsiteX2" fmla="*/ 0 w 397976"/>
                  <a:gd name="connsiteY2" fmla="*/ 372977 h 376567"/>
                  <a:gd name="connsiteX3" fmla="*/ 0 w 397976"/>
                  <a:gd name="connsiteY3" fmla="*/ 66948 h 376567"/>
                  <a:gd name="connsiteX4" fmla="*/ 239179 w 397976"/>
                  <a:gd name="connsiteY4" fmla="*/ 0 h 376567"/>
                  <a:gd name="connsiteX5" fmla="*/ 307015 w 397976"/>
                  <a:gd name="connsiteY5" fmla="*/ 76948 h 376567"/>
                  <a:gd name="connsiteX6" fmla="*/ 235973 w 397976"/>
                  <a:gd name="connsiteY6" fmla="*/ 133315 h 376567"/>
                  <a:gd name="connsiteX7" fmla="*/ 329755 w 397976"/>
                  <a:gd name="connsiteY7" fmla="*/ 98492 h 376567"/>
                  <a:gd name="connsiteX8" fmla="*/ 365989 w 397976"/>
                  <a:gd name="connsiteY8" fmla="*/ 141307 h 376567"/>
                  <a:gd name="connsiteX0" fmla="*/ 397976 w 397976"/>
                  <a:gd name="connsiteY0" fmla="*/ 201422 h 376567"/>
                  <a:gd name="connsiteX1" fmla="*/ 397841 w 397976"/>
                  <a:gd name="connsiteY1" fmla="*/ 376567 h 376567"/>
                  <a:gd name="connsiteX2" fmla="*/ 0 w 397976"/>
                  <a:gd name="connsiteY2" fmla="*/ 372977 h 376567"/>
                  <a:gd name="connsiteX3" fmla="*/ 0 w 397976"/>
                  <a:gd name="connsiteY3" fmla="*/ 66948 h 376567"/>
                  <a:gd name="connsiteX4" fmla="*/ 239179 w 397976"/>
                  <a:gd name="connsiteY4" fmla="*/ 0 h 376567"/>
                  <a:gd name="connsiteX5" fmla="*/ 307015 w 397976"/>
                  <a:gd name="connsiteY5" fmla="*/ 76948 h 376567"/>
                  <a:gd name="connsiteX6" fmla="*/ 235973 w 397976"/>
                  <a:gd name="connsiteY6" fmla="*/ 133315 h 376567"/>
                  <a:gd name="connsiteX7" fmla="*/ 365989 w 397976"/>
                  <a:gd name="connsiteY7" fmla="*/ 141307 h 376567"/>
                  <a:gd name="connsiteX0" fmla="*/ 397976 w 397976"/>
                  <a:gd name="connsiteY0" fmla="*/ 201422 h 376567"/>
                  <a:gd name="connsiteX1" fmla="*/ 397841 w 397976"/>
                  <a:gd name="connsiteY1" fmla="*/ 376567 h 376567"/>
                  <a:gd name="connsiteX2" fmla="*/ 0 w 397976"/>
                  <a:gd name="connsiteY2" fmla="*/ 372977 h 376567"/>
                  <a:gd name="connsiteX3" fmla="*/ 0 w 397976"/>
                  <a:gd name="connsiteY3" fmla="*/ 66948 h 376567"/>
                  <a:gd name="connsiteX4" fmla="*/ 239179 w 397976"/>
                  <a:gd name="connsiteY4" fmla="*/ 0 h 376567"/>
                  <a:gd name="connsiteX5" fmla="*/ 307015 w 397976"/>
                  <a:gd name="connsiteY5" fmla="*/ 76948 h 376567"/>
                  <a:gd name="connsiteX6" fmla="*/ 365989 w 397976"/>
                  <a:gd name="connsiteY6" fmla="*/ 141307 h 376567"/>
                  <a:gd name="connsiteX0" fmla="*/ 397976 w 397976"/>
                  <a:gd name="connsiteY0" fmla="*/ 201422 h 376567"/>
                  <a:gd name="connsiteX1" fmla="*/ 397841 w 397976"/>
                  <a:gd name="connsiteY1" fmla="*/ 376567 h 376567"/>
                  <a:gd name="connsiteX2" fmla="*/ 0 w 397976"/>
                  <a:gd name="connsiteY2" fmla="*/ 372977 h 376567"/>
                  <a:gd name="connsiteX3" fmla="*/ 0 w 397976"/>
                  <a:gd name="connsiteY3" fmla="*/ 66948 h 376567"/>
                  <a:gd name="connsiteX4" fmla="*/ 239179 w 397976"/>
                  <a:gd name="connsiteY4" fmla="*/ 0 h 376567"/>
                  <a:gd name="connsiteX5" fmla="*/ 307015 w 397976"/>
                  <a:gd name="connsiteY5" fmla="*/ 76948 h 376567"/>
                  <a:gd name="connsiteX0" fmla="*/ 397976 w 397976"/>
                  <a:gd name="connsiteY0" fmla="*/ 201422 h 376567"/>
                  <a:gd name="connsiteX1" fmla="*/ 397841 w 397976"/>
                  <a:gd name="connsiteY1" fmla="*/ 376567 h 376567"/>
                  <a:gd name="connsiteX2" fmla="*/ 0 w 397976"/>
                  <a:gd name="connsiteY2" fmla="*/ 372977 h 376567"/>
                  <a:gd name="connsiteX3" fmla="*/ 0 w 397976"/>
                  <a:gd name="connsiteY3" fmla="*/ 66948 h 376567"/>
                  <a:gd name="connsiteX4" fmla="*/ 239179 w 397976"/>
                  <a:gd name="connsiteY4" fmla="*/ 0 h 376567"/>
                  <a:gd name="connsiteX0" fmla="*/ 397976 w 397976"/>
                  <a:gd name="connsiteY0" fmla="*/ 201422 h 376567"/>
                  <a:gd name="connsiteX1" fmla="*/ 397841 w 397976"/>
                  <a:gd name="connsiteY1" fmla="*/ 376567 h 376567"/>
                  <a:gd name="connsiteX2" fmla="*/ 0 w 397976"/>
                  <a:gd name="connsiteY2" fmla="*/ 372977 h 376567"/>
                  <a:gd name="connsiteX3" fmla="*/ 0 w 397976"/>
                  <a:gd name="connsiteY3" fmla="*/ 66948 h 376567"/>
                  <a:gd name="connsiteX4" fmla="*/ 239179 w 397976"/>
                  <a:gd name="connsiteY4" fmla="*/ 0 h 376567"/>
                  <a:gd name="connsiteX5" fmla="*/ 397976 w 397976"/>
                  <a:gd name="connsiteY5" fmla="*/ 201422 h 376567"/>
                  <a:gd name="connsiteX0" fmla="*/ 397976 w 397976"/>
                  <a:gd name="connsiteY0" fmla="*/ 134474 h 309619"/>
                  <a:gd name="connsiteX1" fmla="*/ 397841 w 397976"/>
                  <a:gd name="connsiteY1" fmla="*/ 309619 h 309619"/>
                  <a:gd name="connsiteX2" fmla="*/ 0 w 397976"/>
                  <a:gd name="connsiteY2" fmla="*/ 306029 h 309619"/>
                  <a:gd name="connsiteX3" fmla="*/ 0 w 397976"/>
                  <a:gd name="connsiteY3" fmla="*/ 0 h 309619"/>
                  <a:gd name="connsiteX4" fmla="*/ 233195 w 397976"/>
                  <a:gd name="connsiteY4" fmla="*/ 14439 h 309619"/>
                  <a:gd name="connsiteX5" fmla="*/ 397976 w 397976"/>
                  <a:gd name="connsiteY5" fmla="*/ 134474 h 309619"/>
                  <a:gd name="connsiteX0" fmla="*/ 397976 w 397976"/>
                  <a:gd name="connsiteY0" fmla="*/ 120035 h 295180"/>
                  <a:gd name="connsiteX1" fmla="*/ 397841 w 397976"/>
                  <a:gd name="connsiteY1" fmla="*/ 295180 h 295180"/>
                  <a:gd name="connsiteX2" fmla="*/ 0 w 397976"/>
                  <a:gd name="connsiteY2" fmla="*/ 291590 h 295180"/>
                  <a:gd name="connsiteX3" fmla="*/ 5984 w 397976"/>
                  <a:gd name="connsiteY3" fmla="*/ 51389 h 295180"/>
                  <a:gd name="connsiteX4" fmla="*/ 233195 w 397976"/>
                  <a:gd name="connsiteY4" fmla="*/ 0 h 295180"/>
                  <a:gd name="connsiteX5" fmla="*/ 397976 w 397976"/>
                  <a:gd name="connsiteY5" fmla="*/ 120035 h 295180"/>
                  <a:gd name="connsiteX0" fmla="*/ 400370 w 400370"/>
                  <a:gd name="connsiteY0" fmla="*/ 120035 h 295180"/>
                  <a:gd name="connsiteX1" fmla="*/ 400235 w 400370"/>
                  <a:gd name="connsiteY1" fmla="*/ 295180 h 295180"/>
                  <a:gd name="connsiteX2" fmla="*/ 2394 w 400370"/>
                  <a:gd name="connsiteY2" fmla="*/ 291590 h 295180"/>
                  <a:gd name="connsiteX3" fmla="*/ 0 w 400370"/>
                  <a:gd name="connsiteY3" fmla="*/ 53783 h 295180"/>
                  <a:gd name="connsiteX4" fmla="*/ 235589 w 400370"/>
                  <a:gd name="connsiteY4" fmla="*/ 0 h 295180"/>
                  <a:gd name="connsiteX5" fmla="*/ 400370 w 400370"/>
                  <a:gd name="connsiteY5" fmla="*/ 120035 h 295180"/>
                  <a:gd name="connsiteX0" fmla="*/ 400370 w 400370"/>
                  <a:gd name="connsiteY0" fmla="*/ 88917 h 264062"/>
                  <a:gd name="connsiteX1" fmla="*/ 400235 w 400370"/>
                  <a:gd name="connsiteY1" fmla="*/ 264062 h 264062"/>
                  <a:gd name="connsiteX2" fmla="*/ 2394 w 400370"/>
                  <a:gd name="connsiteY2" fmla="*/ 260472 h 264062"/>
                  <a:gd name="connsiteX3" fmla="*/ 0 w 400370"/>
                  <a:gd name="connsiteY3" fmla="*/ 22665 h 264062"/>
                  <a:gd name="connsiteX4" fmla="*/ 243967 w 400370"/>
                  <a:gd name="connsiteY4" fmla="*/ 0 h 264062"/>
                  <a:gd name="connsiteX5" fmla="*/ 400370 w 400370"/>
                  <a:gd name="connsiteY5" fmla="*/ 88917 h 264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370" h="264062">
                    <a:moveTo>
                      <a:pt x="400370" y="88917"/>
                    </a:moveTo>
                    <a:lnTo>
                      <a:pt x="400235" y="264062"/>
                    </a:lnTo>
                    <a:lnTo>
                      <a:pt x="2394" y="260472"/>
                    </a:lnTo>
                    <a:lnTo>
                      <a:pt x="0" y="22665"/>
                    </a:lnTo>
                    <a:lnTo>
                      <a:pt x="243967" y="0"/>
                    </a:lnTo>
                    <a:lnTo>
                      <a:pt x="400370" y="88917"/>
                    </a:lnTo>
                    <a:close/>
                  </a:path>
                </a:pathLst>
              </a:custGeom>
              <a:grpFill/>
              <a:ln w="12700" cap="flat" cmpd="sng" algn="ctr">
                <a:noFill/>
                <a:prstDash val="solid"/>
                <a:miter lim="800000"/>
              </a:ln>
              <a:effectLst/>
            </p:spPr>
            <p:txBody>
              <a:bodyPr rtlCol="0" anchor="ctr"/>
              <a:lstStyle/>
              <a:p>
                <a:pPr algn="ctr" defTabSz="914403">
                  <a:defRPr/>
                </a:pPr>
                <a:endParaRPr lang="en-US" sz="1799" kern="0" dirty="0">
                  <a:solidFill>
                    <a:prstClr val="white"/>
                  </a:solidFill>
                  <a:latin typeface="+mj-lt"/>
                </a:endParaRPr>
              </a:p>
            </p:txBody>
          </p:sp>
          <p:sp>
            <p:nvSpPr>
              <p:cNvPr id="268" name="Rectangle 267">
                <a:extLst>
                  <a:ext uri="{FF2B5EF4-FFF2-40B4-BE49-F238E27FC236}">
                    <a16:creationId xmlns:a16="http://schemas.microsoft.com/office/drawing/2014/main" id="{9EA55B9A-E40C-4A3D-AB3F-E62DC27AB11E}"/>
                  </a:ext>
                </a:extLst>
              </p:cNvPr>
              <p:cNvSpPr/>
              <p:nvPr/>
            </p:nvSpPr>
            <p:spPr>
              <a:xfrm>
                <a:off x="10570445" y="2623392"/>
                <a:ext cx="155448" cy="171735"/>
              </a:xfrm>
              <a:prstGeom prst="rect">
                <a:avLst/>
              </a:prstGeom>
              <a:solidFill>
                <a:schemeClr val="bg1"/>
              </a:solid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grpSp>
      </p:grpSp>
      <p:sp>
        <p:nvSpPr>
          <p:cNvPr id="269" name="Left-Right Arrow 277">
            <a:extLst>
              <a:ext uri="{FF2B5EF4-FFF2-40B4-BE49-F238E27FC236}">
                <a16:creationId xmlns:a16="http://schemas.microsoft.com/office/drawing/2014/main" id="{570ADF51-DCC7-4344-BFA0-4CA419348042}"/>
              </a:ext>
            </a:extLst>
          </p:cNvPr>
          <p:cNvSpPr/>
          <p:nvPr/>
        </p:nvSpPr>
        <p:spPr>
          <a:xfrm>
            <a:off x="2979638" y="2351339"/>
            <a:ext cx="316505" cy="185895"/>
          </a:xfrm>
          <a:prstGeom prst="leftRightArrow">
            <a:avLst/>
          </a:prstGeom>
          <a:solidFill>
            <a:srgbClr val="92D400"/>
          </a:solid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270" name="Left-Right Arrow 278">
            <a:extLst>
              <a:ext uri="{FF2B5EF4-FFF2-40B4-BE49-F238E27FC236}">
                <a16:creationId xmlns:a16="http://schemas.microsoft.com/office/drawing/2014/main" id="{014089B4-572E-473B-B607-8605131C55AF}"/>
              </a:ext>
            </a:extLst>
          </p:cNvPr>
          <p:cNvSpPr/>
          <p:nvPr/>
        </p:nvSpPr>
        <p:spPr>
          <a:xfrm>
            <a:off x="4983656" y="2355458"/>
            <a:ext cx="294689" cy="178775"/>
          </a:xfrm>
          <a:prstGeom prst="leftRightArrow">
            <a:avLst/>
          </a:prstGeom>
          <a:solidFill>
            <a:srgbClr val="92D400"/>
          </a:solid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grpSp>
        <p:nvGrpSpPr>
          <p:cNvPr id="271" name="Group 270">
            <a:extLst>
              <a:ext uri="{FF2B5EF4-FFF2-40B4-BE49-F238E27FC236}">
                <a16:creationId xmlns:a16="http://schemas.microsoft.com/office/drawing/2014/main" id="{12E1B9AD-D5AC-4F41-AE3C-98D37F55C002}"/>
              </a:ext>
            </a:extLst>
          </p:cNvPr>
          <p:cNvGrpSpPr/>
          <p:nvPr/>
        </p:nvGrpSpPr>
        <p:grpSpPr>
          <a:xfrm>
            <a:off x="2871967" y="1225648"/>
            <a:ext cx="1139920" cy="676101"/>
            <a:chOff x="3765288" y="1828650"/>
            <a:chExt cx="1904837" cy="890588"/>
          </a:xfrm>
        </p:grpSpPr>
        <p:sp>
          <p:nvSpPr>
            <p:cNvPr id="272" name="Arc 271">
              <a:extLst>
                <a:ext uri="{FF2B5EF4-FFF2-40B4-BE49-F238E27FC236}">
                  <a16:creationId xmlns:a16="http://schemas.microsoft.com/office/drawing/2014/main" id="{E0D04250-D5C3-425B-8F6B-7514A783C03D}"/>
                </a:ext>
              </a:extLst>
            </p:cNvPr>
            <p:cNvSpPr>
              <a:spLocks noChangeAspect="1"/>
            </p:cNvSpPr>
            <p:nvPr/>
          </p:nvSpPr>
          <p:spPr>
            <a:xfrm flipH="1" flipV="1">
              <a:off x="4454939" y="1828650"/>
              <a:ext cx="1215186" cy="727370"/>
            </a:xfrm>
            <a:prstGeom prst="arc">
              <a:avLst>
                <a:gd name="adj1" fmla="val 15230594"/>
                <a:gd name="adj2" fmla="val 21235661"/>
              </a:avLst>
            </a:prstGeom>
            <a:noFill/>
            <a:ln w="9525" cap="flat" cmpd="sng" algn="ctr">
              <a:solidFill>
                <a:srgbClr val="8C8C8C">
                  <a:lumMod val="75000"/>
                </a:srgbClr>
              </a:solidFill>
              <a:prstDash val="solid"/>
              <a:miter lim="800000"/>
            </a:ln>
            <a:effectLst/>
          </p:spPr>
          <p:txBody>
            <a:bodyPr rtlCol="0" anchor="ctr"/>
            <a:lstStyle/>
            <a:p>
              <a:pPr algn="ctr" defTabSz="914403">
                <a:defRPr/>
              </a:pPr>
              <a:endParaRPr lang="en-US" sz="1799" kern="0">
                <a:solidFill>
                  <a:srgbClr val="5C5C5C"/>
                </a:solidFill>
                <a:latin typeface="+mj-lt"/>
              </a:endParaRPr>
            </a:p>
          </p:txBody>
        </p:sp>
        <p:grpSp>
          <p:nvGrpSpPr>
            <p:cNvPr id="273" name="Group 272">
              <a:extLst>
                <a:ext uri="{FF2B5EF4-FFF2-40B4-BE49-F238E27FC236}">
                  <a16:creationId xmlns:a16="http://schemas.microsoft.com/office/drawing/2014/main" id="{B6DA992A-D58F-456F-8D9B-EF72295FC914}"/>
                </a:ext>
              </a:extLst>
            </p:cNvPr>
            <p:cNvGrpSpPr/>
            <p:nvPr/>
          </p:nvGrpSpPr>
          <p:grpSpPr>
            <a:xfrm>
              <a:off x="5138332" y="2450201"/>
              <a:ext cx="223108" cy="267221"/>
              <a:chOff x="5080869" y="2514246"/>
              <a:chExt cx="260945" cy="312539"/>
            </a:xfrm>
          </p:grpSpPr>
          <p:sp>
            <p:nvSpPr>
              <p:cNvPr id="289" name="object 112">
                <a:extLst>
                  <a:ext uri="{FF2B5EF4-FFF2-40B4-BE49-F238E27FC236}">
                    <a16:creationId xmlns:a16="http://schemas.microsoft.com/office/drawing/2014/main" id="{4E479DB9-BFFF-4C3E-825F-C5AB0823BE83}"/>
                  </a:ext>
                </a:extLst>
              </p:cNvPr>
              <p:cNvSpPr/>
              <p:nvPr/>
            </p:nvSpPr>
            <p:spPr>
              <a:xfrm>
                <a:off x="5146100" y="2553419"/>
                <a:ext cx="129976" cy="91280"/>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solidFill>
                <a:srgbClr val="8C8C8C">
                  <a:lumMod val="75000"/>
                </a:srgbClr>
              </a:solidFill>
            </p:spPr>
            <p:txBody>
              <a:bodyPr wrap="square" lIns="0" tIns="0" rIns="0" bIns="0" rtlCol="0"/>
              <a:lstStyle/>
              <a:p>
                <a:pPr defTabSz="914403">
                  <a:defRPr/>
                </a:pPr>
                <a:endParaRPr sz="1799" kern="0">
                  <a:solidFill>
                    <a:prstClr val="black"/>
                  </a:solidFill>
                  <a:latin typeface="+mj-lt"/>
                </a:endParaRPr>
              </a:p>
            </p:txBody>
          </p:sp>
          <p:sp>
            <p:nvSpPr>
              <p:cNvPr id="290" name="object 113">
                <a:extLst>
                  <a:ext uri="{FF2B5EF4-FFF2-40B4-BE49-F238E27FC236}">
                    <a16:creationId xmlns:a16="http://schemas.microsoft.com/office/drawing/2014/main" id="{D81E91C8-1FC2-4F1B-BCEC-CCE1406D1185}"/>
                  </a:ext>
                </a:extLst>
              </p:cNvPr>
              <p:cNvSpPr/>
              <p:nvPr/>
            </p:nvSpPr>
            <p:spPr>
              <a:xfrm>
                <a:off x="5080869" y="2514246"/>
                <a:ext cx="260945" cy="312539"/>
              </a:xfrm>
              <a:custGeom>
                <a:avLst/>
                <a:gdLst/>
                <a:ahLst/>
                <a:cxnLst/>
                <a:rect l="l" t="t" r="r" b="b"/>
                <a:pathLst>
                  <a:path w="167005" h="200025">
                    <a:moveTo>
                      <a:pt x="5194" y="182727"/>
                    </a:moveTo>
                    <a:lnTo>
                      <a:pt x="1651" y="184416"/>
                    </a:lnTo>
                    <a:lnTo>
                      <a:pt x="0" y="189191"/>
                    </a:lnTo>
                    <a:lnTo>
                      <a:pt x="0" y="199732"/>
                    </a:lnTo>
                    <a:lnTo>
                      <a:pt x="166573" y="199732"/>
                    </a:lnTo>
                    <a:lnTo>
                      <a:pt x="166408" y="186283"/>
                    </a:lnTo>
                    <a:lnTo>
                      <a:pt x="163195" y="183083"/>
                    </a:lnTo>
                    <a:lnTo>
                      <a:pt x="157911" y="183019"/>
                    </a:lnTo>
                    <a:lnTo>
                      <a:pt x="9994" y="182994"/>
                    </a:lnTo>
                    <a:lnTo>
                      <a:pt x="5194" y="182727"/>
                    </a:lnTo>
                    <a:close/>
                  </a:path>
                  <a:path w="167005" h="200025">
                    <a:moveTo>
                      <a:pt x="146786" y="0"/>
                    </a:moveTo>
                    <a:lnTo>
                      <a:pt x="19735" y="0"/>
                    </a:lnTo>
                    <a:lnTo>
                      <a:pt x="16764" y="2933"/>
                    </a:lnTo>
                    <a:lnTo>
                      <a:pt x="16611" y="8712"/>
                    </a:lnTo>
                    <a:lnTo>
                      <a:pt x="16611" y="183007"/>
                    </a:lnTo>
                    <a:lnTo>
                      <a:pt x="149885" y="183007"/>
                    </a:lnTo>
                    <a:lnTo>
                      <a:pt x="33451" y="182880"/>
                    </a:lnTo>
                    <a:lnTo>
                      <a:pt x="33451" y="16852"/>
                    </a:lnTo>
                    <a:lnTo>
                      <a:pt x="149791" y="16852"/>
                    </a:lnTo>
                    <a:lnTo>
                      <a:pt x="149683" y="2933"/>
                    </a:lnTo>
                    <a:lnTo>
                      <a:pt x="146786" y="0"/>
                    </a:lnTo>
                    <a:close/>
                  </a:path>
                  <a:path w="167005" h="200025">
                    <a:moveTo>
                      <a:pt x="149791" y="16852"/>
                    </a:moveTo>
                    <a:lnTo>
                      <a:pt x="132956" y="16852"/>
                    </a:lnTo>
                    <a:lnTo>
                      <a:pt x="132956" y="182880"/>
                    </a:lnTo>
                    <a:lnTo>
                      <a:pt x="149885" y="182880"/>
                    </a:lnTo>
                    <a:lnTo>
                      <a:pt x="149791" y="16852"/>
                    </a:lnTo>
                    <a:close/>
                  </a:path>
                </a:pathLst>
              </a:custGeom>
              <a:solidFill>
                <a:srgbClr val="8C8C8C">
                  <a:lumMod val="75000"/>
                </a:srgbClr>
              </a:solidFill>
            </p:spPr>
            <p:txBody>
              <a:bodyPr wrap="square" lIns="0" tIns="0" rIns="0" bIns="0" rtlCol="0"/>
              <a:lstStyle/>
              <a:p>
                <a:pPr defTabSz="914403">
                  <a:defRPr/>
                </a:pPr>
                <a:endParaRPr sz="1799" kern="0">
                  <a:solidFill>
                    <a:prstClr val="black"/>
                  </a:solidFill>
                  <a:latin typeface="+mj-lt"/>
                </a:endParaRPr>
              </a:p>
            </p:txBody>
          </p:sp>
        </p:grpSp>
        <p:grpSp>
          <p:nvGrpSpPr>
            <p:cNvPr id="274" name="Group 273">
              <a:extLst>
                <a:ext uri="{FF2B5EF4-FFF2-40B4-BE49-F238E27FC236}">
                  <a16:creationId xmlns:a16="http://schemas.microsoft.com/office/drawing/2014/main" id="{4BC58937-ADEC-4BC8-B99D-5B4C84ACC24E}"/>
                </a:ext>
              </a:extLst>
            </p:cNvPr>
            <p:cNvGrpSpPr/>
            <p:nvPr/>
          </p:nvGrpSpPr>
          <p:grpSpPr>
            <a:xfrm>
              <a:off x="5382284" y="2450201"/>
              <a:ext cx="223108" cy="267221"/>
              <a:chOff x="5080869" y="2514246"/>
              <a:chExt cx="260945" cy="312539"/>
            </a:xfrm>
          </p:grpSpPr>
          <p:sp>
            <p:nvSpPr>
              <p:cNvPr id="287" name="object 112">
                <a:extLst>
                  <a:ext uri="{FF2B5EF4-FFF2-40B4-BE49-F238E27FC236}">
                    <a16:creationId xmlns:a16="http://schemas.microsoft.com/office/drawing/2014/main" id="{2FAA6A4B-48F2-407F-90D4-79473694B693}"/>
                  </a:ext>
                </a:extLst>
              </p:cNvPr>
              <p:cNvSpPr/>
              <p:nvPr/>
            </p:nvSpPr>
            <p:spPr>
              <a:xfrm>
                <a:off x="5146100" y="2553419"/>
                <a:ext cx="129976" cy="91280"/>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solidFill>
                <a:srgbClr val="8C8C8C">
                  <a:lumMod val="75000"/>
                </a:srgbClr>
              </a:solidFill>
            </p:spPr>
            <p:txBody>
              <a:bodyPr wrap="square" lIns="0" tIns="0" rIns="0" bIns="0" rtlCol="0"/>
              <a:lstStyle/>
              <a:p>
                <a:pPr defTabSz="914403">
                  <a:defRPr/>
                </a:pPr>
                <a:endParaRPr sz="1799" kern="0">
                  <a:solidFill>
                    <a:prstClr val="black"/>
                  </a:solidFill>
                  <a:latin typeface="+mj-lt"/>
                </a:endParaRPr>
              </a:p>
            </p:txBody>
          </p:sp>
          <p:sp>
            <p:nvSpPr>
              <p:cNvPr id="288" name="object 113">
                <a:extLst>
                  <a:ext uri="{FF2B5EF4-FFF2-40B4-BE49-F238E27FC236}">
                    <a16:creationId xmlns:a16="http://schemas.microsoft.com/office/drawing/2014/main" id="{6AD5D135-1198-4DAF-822F-3336D5F0DC2F}"/>
                  </a:ext>
                </a:extLst>
              </p:cNvPr>
              <p:cNvSpPr/>
              <p:nvPr/>
            </p:nvSpPr>
            <p:spPr>
              <a:xfrm>
                <a:off x="5080869" y="2514246"/>
                <a:ext cx="260945" cy="312539"/>
              </a:xfrm>
              <a:custGeom>
                <a:avLst/>
                <a:gdLst/>
                <a:ahLst/>
                <a:cxnLst/>
                <a:rect l="l" t="t" r="r" b="b"/>
                <a:pathLst>
                  <a:path w="167005" h="200025">
                    <a:moveTo>
                      <a:pt x="5194" y="182727"/>
                    </a:moveTo>
                    <a:lnTo>
                      <a:pt x="1651" y="184416"/>
                    </a:lnTo>
                    <a:lnTo>
                      <a:pt x="0" y="189191"/>
                    </a:lnTo>
                    <a:lnTo>
                      <a:pt x="0" y="199732"/>
                    </a:lnTo>
                    <a:lnTo>
                      <a:pt x="166573" y="199732"/>
                    </a:lnTo>
                    <a:lnTo>
                      <a:pt x="166408" y="186283"/>
                    </a:lnTo>
                    <a:lnTo>
                      <a:pt x="163195" y="183083"/>
                    </a:lnTo>
                    <a:lnTo>
                      <a:pt x="157911" y="183019"/>
                    </a:lnTo>
                    <a:lnTo>
                      <a:pt x="9994" y="182994"/>
                    </a:lnTo>
                    <a:lnTo>
                      <a:pt x="5194" y="182727"/>
                    </a:lnTo>
                    <a:close/>
                  </a:path>
                  <a:path w="167005" h="200025">
                    <a:moveTo>
                      <a:pt x="146786" y="0"/>
                    </a:moveTo>
                    <a:lnTo>
                      <a:pt x="19735" y="0"/>
                    </a:lnTo>
                    <a:lnTo>
                      <a:pt x="16764" y="2933"/>
                    </a:lnTo>
                    <a:lnTo>
                      <a:pt x="16611" y="8712"/>
                    </a:lnTo>
                    <a:lnTo>
                      <a:pt x="16611" y="183007"/>
                    </a:lnTo>
                    <a:lnTo>
                      <a:pt x="149885" y="183007"/>
                    </a:lnTo>
                    <a:lnTo>
                      <a:pt x="33451" y="182880"/>
                    </a:lnTo>
                    <a:lnTo>
                      <a:pt x="33451" y="16852"/>
                    </a:lnTo>
                    <a:lnTo>
                      <a:pt x="149791" y="16852"/>
                    </a:lnTo>
                    <a:lnTo>
                      <a:pt x="149683" y="2933"/>
                    </a:lnTo>
                    <a:lnTo>
                      <a:pt x="146786" y="0"/>
                    </a:lnTo>
                    <a:close/>
                  </a:path>
                  <a:path w="167005" h="200025">
                    <a:moveTo>
                      <a:pt x="149791" y="16852"/>
                    </a:moveTo>
                    <a:lnTo>
                      <a:pt x="132956" y="16852"/>
                    </a:lnTo>
                    <a:lnTo>
                      <a:pt x="132956" y="182880"/>
                    </a:lnTo>
                    <a:lnTo>
                      <a:pt x="149885" y="182880"/>
                    </a:lnTo>
                    <a:lnTo>
                      <a:pt x="149791" y="16852"/>
                    </a:lnTo>
                    <a:close/>
                  </a:path>
                </a:pathLst>
              </a:custGeom>
              <a:solidFill>
                <a:srgbClr val="8C8C8C">
                  <a:lumMod val="75000"/>
                </a:srgbClr>
              </a:solidFill>
            </p:spPr>
            <p:txBody>
              <a:bodyPr wrap="square" lIns="0" tIns="0" rIns="0" bIns="0" rtlCol="0"/>
              <a:lstStyle/>
              <a:p>
                <a:pPr defTabSz="914403">
                  <a:defRPr/>
                </a:pPr>
                <a:endParaRPr sz="1799" kern="0">
                  <a:solidFill>
                    <a:prstClr val="black"/>
                  </a:solidFill>
                  <a:latin typeface="+mj-lt"/>
                </a:endParaRPr>
              </a:p>
            </p:txBody>
          </p:sp>
        </p:grpSp>
        <p:grpSp>
          <p:nvGrpSpPr>
            <p:cNvPr id="275" name="Group 274">
              <a:extLst>
                <a:ext uri="{FF2B5EF4-FFF2-40B4-BE49-F238E27FC236}">
                  <a16:creationId xmlns:a16="http://schemas.microsoft.com/office/drawing/2014/main" id="{29E0658B-8FB1-4BA6-8B8C-25F900DAE571}"/>
                </a:ext>
              </a:extLst>
            </p:cNvPr>
            <p:cNvGrpSpPr>
              <a:grpSpLocks noChangeAspect="1"/>
            </p:cNvGrpSpPr>
            <p:nvPr/>
          </p:nvGrpSpPr>
          <p:grpSpPr>
            <a:xfrm>
              <a:off x="3807088" y="2262038"/>
              <a:ext cx="487075" cy="457200"/>
              <a:chOff x="9131304" y="3548423"/>
              <a:chExt cx="2303463" cy="2162175"/>
            </a:xfrm>
            <a:solidFill>
              <a:srgbClr val="8C8C8C">
                <a:lumMod val="75000"/>
              </a:srgbClr>
            </a:solidFill>
          </p:grpSpPr>
          <p:sp>
            <p:nvSpPr>
              <p:cNvPr id="283" name="Freeform 183">
                <a:extLst>
                  <a:ext uri="{FF2B5EF4-FFF2-40B4-BE49-F238E27FC236}">
                    <a16:creationId xmlns:a16="http://schemas.microsoft.com/office/drawing/2014/main" id="{D4DB23A3-E404-4F11-BD92-06119D2B8F91}"/>
                  </a:ext>
                </a:extLst>
              </p:cNvPr>
              <p:cNvSpPr>
                <a:spLocks/>
              </p:cNvSpPr>
              <p:nvPr/>
            </p:nvSpPr>
            <p:spPr bwMode="auto">
              <a:xfrm>
                <a:off x="10080630" y="3942123"/>
                <a:ext cx="403225" cy="212725"/>
              </a:xfrm>
              <a:custGeom>
                <a:avLst/>
                <a:gdLst>
                  <a:gd name="T0" fmla="*/ 42 w 42"/>
                  <a:gd name="T1" fmla="*/ 3 h 22"/>
                  <a:gd name="T2" fmla="*/ 42 w 42"/>
                  <a:gd name="T3" fmla="*/ 1 h 22"/>
                  <a:gd name="T4" fmla="*/ 40 w 42"/>
                  <a:gd name="T5" fmla="*/ 1 h 22"/>
                  <a:gd name="T6" fmla="*/ 25 w 42"/>
                  <a:gd name="T7" fmla="*/ 16 h 22"/>
                  <a:gd name="T8" fmla="*/ 24 w 42"/>
                  <a:gd name="T9" fmla="*/ 16 h 22"/>
                  <a:gd name="T10" fmla="*/ 19 w 42"/>
                  <a:gd name="T11" fmla="*/ 16 h 22"/>
                  <a:gd name="T12" fmla="*/ 18 w 42"/>
                  <a:gd name="T13" fmla="*/ 16 h 22"/>
                  <a:gd name="T14" fmla="*/ 3 w 42"/>
                  <a:gd name="T15" fmla="*/ 1 h 22"/>
                  <a:gd name="T16" fmla="*/ 1 w 42"/>
                  <a:gd name="T17" fmla="*/ 1 h 22"/>
                  <a:gd name="T18" fmla="*/ 1 w 42"/>
                  <a:gd name="T19" fmla="*/ 3 h 22"/>
                  <a:gd name="T20" fmla="*/ 16 w 42"/>
                  <a:gd name="T21" fmla="*/ 18 h 22"/>
                  <a:gd name="T22" fmla="*/ 15 w 42"/>
                  <a:gd name="T23" fmla="*/ 19 h 22"/>
                  <a:gd name="T24" fmla="*/ 19 w 42"/>
                  <a:gd name="T25" fmla="*/ 22 h 22"/>
                  <a:gd name="T26" fmla="*/ 24 w 42"/>
                  <a:gd name="T27" fmla="*/ 22 h 22"/>
                  <a:gd name="T28" fmla="*/ 27 w 42"/>
                  <a:gd name="T29" fmla="*/ 19 h 22"/>
                  <a:gd name="T30" fmla="*/ 27 w 42"/>
                  <a:gd name="T31" fmla="*/ 18 h 22"/>
                  <a:gd name="T32" fmla="*/ 42 w 42"/>
                  <a:gd name="T3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2" y="3"/>
                    </a:moveTo>
                    <a:cubicBezTo>
                      <a:pt x="42" y="2"/>
                      <a:pt x="42" y="1"/>
                      <a:pt x="42" y="1"/>
                    </a:cubicBezTo>
                    <a:cubicBezTo>
                      <a:pt x="41" y="0"/>
                      <a:pt x="40" y="0"/>
                      <a:pt x="40" y="1"/>
                    </a:cubicBezTo>
                    <a:cubicBezTo>
                      <a:pt x="25" y="16"/>
                      <a:pt x="25" y="16"/>
                      <a:pt x="25" y="16"/>
                    </a:cubicBezTo>
                    <a:cubicBezTo>
                      <a:pt x="24"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lnTo>
                      <a:pt x="4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284" name="Freeform 184">
                <a:extLst>
                  <a:ext uri="{FF2B5EF4-FFF2-40B4-BE49-F238E27FC236}">
                    <a16:creationId xmlns:a16="http://schemas.microsoft.com/office/drawing/2014/main" id="{9A1AE255-CE98-4CB4-A5F1-1307AE1C78B7}"/>
                  </a:ext>
                </a:extLst>
              </p:cNvPr>
              <p:cNvSpPr>
                <a:spLocks/>
              </p:cNvSpPr>
              <p:nvPr/>
            </p:nvSpPr>
            <p:spPr bwMode="auto">
              <a:xfrm>
                <a:off x="9342442" y="3942123"/>
                <a:ext cx="403225" cy="212725"/>
              </a:xfrm>
              <a:custGeom>
                <a:avLst/>
                <a:gdLst>
                  <a:gd name="T0" fmla="*/ 40 w 42"/>
                  <a:gd name="T1" fmla="*/ 1 h 22"/>
                  <a:gd name="T2" fmla="*/ 25 w 42"/>
                  <a:gd name="T3" fmla="*/ 16 h 22"/>
                  <a:gd name="T4" fmla="*/ 24 w 42"/>
                  <a:gd name="T5" fmla="*/ 16 h 22"/>
                  <a:gd name="T6" fmla="*/ 18 w 42"/>
                  <a:gd name="T7" fmla="*/ 16 h 22"/>
                  <a:gd name="T8" fmla="*/ 17 w 42"/>
                  <a:gd name="T9" fmla="*/ 16 h 22"/>
                  <a:gd name="T10" fmla="*/ 2 w 42"/>
                  <a:gd name="T11" fmla="*/ 1 h 22"/>
                  <a:gd name="T12" fmla="*/ 1 w 42"/>
                  <a:gd name="T13" fmla="*/ 1 h 22"/>
                  <a:gd name="T14" fmla="*/ 1 w 42"/>
                  <a:gd name="T15" fmla="*/ 3 h 22"/>
                  <a:gd name="T16" fmla="*/ 15 w 42"/>
                  <a:gd name="T17" fmla="*/ 18 h 22"/>
                  <a:gd name="T18" fmla="*/ 15 w 42"/>
                  <a:gd name="T19" fmla="*/ 19 h 22"/>
                  <a:gd name="T20" fmla="*/ 18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4" y="16"/>
                      <a:pt x="24" y="16"/>
                      <a:pt x="24" y="16"/>
                    </a:cubicBezTo>
                    <a:cubicBezTo>
                      <a:pt x="18" y="16"/>
                      <a:pt x="18" y="16"/>
                      <a:pt x="18" y="16"/>
                    </a:cubicBezTo>
                    <a:cubicBezTo>
                      <a:pt x="18" y="16"/>
                      <a:pt x="18" y="16"/>
                      <a:pt x="17" y="16"/>
                    </a:cubicBezTo>
                    <a:cubicBezTo>
                      <a:pt x="2" y="1"/>
                      <a:pt x="2" y="1"/>
                      <a:pt x="2" y="1"/>
                    </a:cubicBezTo>
                    <a:cubicBezTo>
                      <a:pt x="2" y="0"/>
                      <a:pt x="1" y="0"/>
                      <a:pt x="1" y="1"/>
                    </a:cubicBezTo>
                    <a:cubicBezTo>
                      <a:pt x="0" y="1"/>
                      <a:pt x="0" y="2"/>
                      <a:pt x="1" y="3"/>
                    </a:cubicBezTo>
                    <a:cubicBezTo>
                      <a:pt x="15" y="18"/>
                      <a:pt x="15" y="18"/>
                      <a:pt x="15" y="18"/>
                    </a:cubicBezTo>
                    <a:cubicBezTo>
                      <a:pt x="15" y="18"/>
                      <a:pt x="15" y="19"/>
                      <a:pt x="15" y="19"/>
                    </a:cubicBezTo>
                    <a:cubicBezTo>
                      <a:pt x="15" y="21"/>
                      <a:pt x="17" y="22"/>
                      <a:pt x="18" y="22"/>
                    </a:cubicBezTo>
                    <a:cubicBezTo>
                      <a:pt x="24" y="22"/>
                      <a:pt x="24" y="22"/>
                      <a:pt x="24" y="22"/>
                    </a:cubicBezTo>
                    <a:cubicBezTo>
                      <a:pt x="25"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285" name="Freeform 185">
                <a:extLst>
                  <a:ext uri="{FF2B5EF4-FFF2-40B4-BE49-F238E27FC236}">
                    <a16:creationId xmlns:a16="http://schemas.microsoft.com/office/drawing/2014/main" id="{664C0841-D7E4-4D22-82DF-4F9A25979B57}"/>
                  </a:ext>
                </a:extLst>
              </p:cNvPr>
              <p:cNvSpPr>
                <a:spLocks noEditPoints="1"/>
              </p:cNvSpPr>
              <p:nvPr/>
            </p:nvSpPr>
            <p:spPr bwMode="auto">
              <a:xfrm>
                <a:off x="9131304" y="3548423"/>
                <a:ext cx="2303463" cy="2162175"/>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286" name="Freeform 186">
                <a:extLst>
                  <a:ext uri="{FF2B5EF4-FFF2-40B4-BE49-F238E27FC236}">
                    <a16:creationId xmlns:a16="http://schemas.microsoft.com/office/drawing/2014/main" id="{41950114-E635-4126-858D-032898C1BFB1}"/>
                  </a:ext>
                </a:extLst>
              </p:cNvPr>
              <p:cNvSpPr>
                <a:spLocks/>
              </p:cNvSpPr>
              <p:nvPr/>
            </p:nvSpPr>
            <p:spPr bwMode="auto">
              <a:xfrm>
                <a:off x="10820405" y="3942123"/>
                <a:ext cx="403225" cy="212725"/>
              </a:xfrm>
              <a:custGeom>
                <a:avLst/>
                <a:gdLst>
                  <a:gd name="T0" fmla="*/ 40 w 42"/>
                  <a:gd name="T1" fmla="*/ 1 h 22"/>
                  <a:gd name="T2" fmla="*/ 25 w 42"/>
                  <a:gd name="T3" fmla="*/ 16 h 22"/>
                  <a:gd name="T4" fmla="*/ 24 w 42"/>
                  <a:gd name="T5" fmla="*/ 16 h 22"/>
                  <a:gd name="T6" fmla="*/ 19 w 42"/>
                  <a:gd name="T7" fmla="*/ 16 h 22"/>
                  <a:gd name="T8" fmla="*/ 18 w 42"/>
                  <a:gd name="T9" fmla="*/ 16 h 22"/>
                  <a:gd name="T10" fmla="*/ 3 w 42"/>
                  <a:gd name="T11" fmla="*/ 1 h 22"/>
                  <a:gd name="T12" fmla="*/ 1 w 42"/>
                  <a:gd name="T13" fmla="*/ 1 h 22"/>
                  <a:gd name="T14" fmla="*/ 1 w 42"/>
                  <a:gd name="T15" fmla="*/ 3 h 22"/>
                  <a:gd name="T16" fmla="*/ 16 w 42"/>
                  <a:gd name="T17" fmla="*/ 18 h 22"/>
                  <a:gd name="T18" fmla="*/ 15 w 42"/>
                  <a:gd name="T19" fmla="*/ 19 h 22"/>
                  <a:gd name="T20" fmla="*/ 19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5"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grpSp>
        <p:grpSp>
          <p:nvGrpSpPr>
            <p:cNvPr id="276" name="Group 275">
              <a:extLst>
                <a:ext uri="{FF2B5EF4-FFF2-40B4-BE49-F238E27FC236}">
                  <a16:creationId xmlns:a16="http://schemas.microsoft.com/office/drawing/2014/main" id="{1D90E207-4D28-4585-AE5B-BCD2F91DEF5C}"/>
                </a:ext>
              </a:extLst>
            </p:cNvPr>
            <p:cNvGrpSpPr>
              <a:grpSpLocks noChangeAspect="1"/>
            </p:cNvGrpSpPr>
            <p:nvPr/>
          </p:nvGrpSpPr>
          <p:grpSpPr>
            <a:xfrm>
              <a:off x="4340288" y="2079158"/>
              <a:ext cx="681905" cy="640080"/>
              <a:chOff x="9131304" y="3548423"/>
              <a:chExt cx="2303463" cy="2162175"/>
            </a:xfrm>
            <a:solidFill>
              <a:srgbClr val="8C8C8C">
                <a:lumMod val="75000"/>
              </a:srgbClr>
            </a:solidFill>
          </p:grpSpPr>
          <p:sp>
            <p:nvSpPr>
              <p:cNvPr id="279" name="Freeform 183">
                <a:extLst>
                  <a:ext uri="{FF2B5EF4-FFF2-40B4-BE49-F238E27FC236}">
                    <a16:creationId xmlns:a16="http://schemas.microsoft.com/office/drawing/2014/main" id="{6EB908B4-8F2A-4294-A3F5-B14D531DA770}"/>
                  </a:ext>
                </a:extLst>
              </p:cNvPr>
              <p:cNvSpPr>
                <a:spLocks/>
              </p:cNvSpPr>
              <p:nvPr/>
            </p:nvSpPr>
            <p:spPr bwMode="auto">
              <a:xfrm>
                <a:off x="10080630" y="3942123"/>
                <a:ext cx="403225" cy="212725"/>
              </a:xfrm>
              <a:custGeom>
                <a:avLst/>
                <a:gdLst>
                  <a:gd name="T0" fmla="*/ 42 w 42"/>
                  <a:gd name="T1" fmla="*/ 3 h 22"/>
                  <a:gd name="T2" fmla="*/ 42 w 42"/>
                  <a:gd name="T3" fmla="*/ 1 h 22"/>
                  <a:gd name="T4" fmla="*/ 40 w 42"/>
                  <a:gd name="T5" fmla="*/ 1 h 22"/>
                  <a:gd name="T6" fmla="*/ 25 w 42"/>
                  <a:gd name="T7" fmla="*/ 16 h 22"/>
                  <a:gd name="T8" fmla="*/ 24 w 42"/>
                  <a:gd name="T9" fmla="*/ 16 h 22"/>
                  <a:gd name="T10" fmla="*/ 19 w 42"/>
                  <a:gd name="T11" fmla="*/ 16 h 22"/>
                  <a:gd name="T12" fmla="*/ 18 w 42"/>
                  <a:gd name="T13" fmla="*/ 16 h 22"/>
                  <a:gd name="T14" fmla="*/ 3 w 42"/>
                  <a:gd name="T15" fmla="*/ 1 h 22"/>
                  <a:gd name="T16" fmla="*/ 1 w 42"/>
                  <a:gd name="T17" fmla="*/ 1 h 22"/>
                  <a:gd name="T18" fmla="*/ 1 w 42"/>
                  <a:gd name="T19" fmla="*/ 3 h 22"/>
                  <a:gd name="T20" fmla="*/ 16 w 42"/>
                  <a:gd name="T21" fmla="*/ 18 h 22"/>
                  <a:gd name="T22" fmla="*/ 15 w 42"/>
                  <a:gd name="T23" fmla="*/ 19 h 22"/>
                  <a:gd name="T24" fmla="*/ 19 w 42"/>
                  <a:gd name="T25" fmla="*/ 22 h 22"/>
                  <a:gd name="T26" fmla="*/ 24 w 42"/>
                  <a:gd name="T27" fmla="*/ 22 h 22"/>
                  <a:gd name="T28" fmla="*/ 27 w 42"/>
                  <a:gd name="T29" fmla="*/ 19 h 22"/>
                  <a:gd name="T30" fmla="*/ 27 w 42"/>
                  <a:gd name="T31" fmla="*/ 18 h 22"/>
                  <a:gd name="T32" fmla="*/ 42 w 42"/>
                  <a:gd name="T3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2" y="3"/>
                    </a:moveTo>
                    <a:cubicBezTo>
                      <a:pt x="42" y="2"/>
                      <a:pt x="42" y="1"/>
                      <a:pt x="42" y="1"/>
                    </a:cubicBezTo>
                    <a:cubicBezTo>
                      <a:pt x="41" y="0"/>
                      <a:pt x="40" y="0"/>
                      <a:pt x="40" y="1"/>
                    </a:cubicBezTo>
                    <a:cubicBezTo>
                      <a:pt x="25" y="16"/>
                      <a:pt x="25" y="16"/>
                      <a:pt x="25" y="16"/>
                    </a:cubicBezTo>
                    <a:cubicBezTo>
                      <a:pt x="24"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lnTo>
                      <a:pt x="4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280" name="Freeform 184">
                <a:extLst>
                  <a:ext uri="{FF2B5EF4-FFF2-40B4-BE49-F238E27FC236}">
                    <a16:creationId xmlns:a16="http://schemas.microsoft.com/office/drawing/2014/main" id="{19F830EF-1CD1-42F2-8473-69C1D45961FB}"/>
                  </a:ext>
                </a:extLst>
              </p:cNvPr>
              <p:cNvSpPr>
                <a:spLocks/>
              </p:cNvSpPr>
              <p:nvPr/>
            </p:nvSpPr>
            <p:spPr bwMode="auto">
              <a:xfrm>
                <a:off x="9342442" y="3942123"/>
                <a:ext cx="403225" cy="212725"/>
              </a:xfrm>
              <a:custGeom>
                <a:avLst/>
                <a:gdLst>
                  <a:gd name="T0" fmla="*/ 40 w 42"/>
                  <a:gd name="T1" fmla="*/ 1 h 22"/>
                  <a:gd name="T2" fmla="*/ 25 w 42"/>
                  <a:gd name="T3" fmla="*/ 16 h 22"/>
                  <a:gd name="T4" fmla="*/ 24 w 42"/>
                  <a:gd name="T5" fmla="*/ 16 h 22"/>
                  <a:gd name="T6" fmla="*/ 18 w 42"/>
                  <a:gd name="T7" fmla="*/ 16 h 22"/>
                  <a:gd name="T8" fmla="*/ 17 w 42"/>
                  <a:gd name="T9" fmla="*/ 16 h 22"/>
                  <a:gd name="T10" fmla="*/ 2 w 42"/>
                  <a:gd name="T11" fmla="*/ 1 h 22"/>
                  <a:gd name="T12" fmla="*/ 1 w 42"/>
                  <a:gd name="T13" fmla="*/ 1 h 22"/>
                  <a:gd name="T14" fmla="*/ 1 w 42"/>
                  <a:gd name="T15" fmla="*/ 3 h 22"/>
                  <a:gd name="T16" fmla="*/ 15 w 42"/>
                  <a:gd name="T17" fmla="*/ 18 h 22"/>
                  <a:gd name="T18" fmla="*/ 15 w 42"/>
                  <a:gd name="T19" fmla="*/ 19 h 22"/>
                  <a:gd name="T20" fmla="*/ 18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4" y="16"/>
                      <a:pt x="24" y="16"/>
                      <a:pt x="24" y="16"/>
                    </a:cubicBezTo>
                    <a:cubicBezTo>
                      <a:pt x="18" y="16"/>
                      <a:pt x="18" y="16"/>
                      <a:pt x="18" y="16"/>
                    </a:cubicBezTo>
                    <a:cubicBezTo>
                      <a:pt x="18" y="16"/>
                      <a:pt x="18" y="16"/>
                      <a:pt x="17" y="16"/>
                    </a:cubicBezTo>
                    <a:cubicBezTo>
                      <a:pt x="2" y="1"/>
                      <a:pt x="2" y="1"/>
                      <a:pt x="2" y="1"/>
                    </a:cubicBezTo>
                    <a:cubicBezTo>
                      <a:pt x="2" y="0"/>
                      <a:pt x="1" y="0"/>
                      <a:pt x="1" y="1"/>
                    </a:cubicBezTo>
                    <a:cubicBezTo>
                      <a:pt x="0" y="1"/>
                      <a:pt x="0" y="2"/>
                      <a:pt x="1" y="3"/>
                    </a:cubicBezTo>
                    <a:cubicBezTo>
                      <a:pt x="15" y="18"/>
                      <a:pt x="15" y="18"/>
                      <a:pt x="15" y="18"/>
                    </a:cubicBezTo>
                    <a:cubicBezTo>
                      <a:pt x="15" y="18"/>
                      <a:pt x="15" y="19"/>
                      <a:pt x="15" y="19"/>
                    </a:cubicBezTo>
                    <a:cubicBezTo>
                      <a:pt x="15" y="21"/>
                      <a:pt x="17" y="22"/>
                      <a:pt x="18" y="22"/>
                    </a:cubicBezTo>
                    <a:cubicBezTo>
                      <a:pt x="24" y="22"/>
                      <a:pt x="24" y="22"/>
                      <a:pt x="24" y="22"/>
                    </a:cubicBezTo>
                    <a:cubicBezTo>
                      <a:pt x="25"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281" name="Freeform 185">
                <a:extLst>
                  <a:ext uri="{FF2B5EF4-FFF2-40B4-BE49-F238E27FC236}">
                    <a16:creationId xmlns:a16="http://schemas.microsoft.com/office/drawing/2014/main" id="{9AC8E9F6-CC30-44C5-951D-355A3D1407AF}"/>
                  </a:ext>
                </a:extLst>
              </p:cNvPr>
              <p:cNvSpPr>
                <a:spLocks noEditPoints="1"/>
              </p:cNvSpPr>
              <p:nvPr/>
            </p:nvSpPr>
            <p:spPr bwMode="auto">
              <a:xfrm>
                <a:off x="9131304" y="3548423"/>
                <a:ext cx="2303463" cy="2162175"/>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282" name="Freeform 186">
                <a:extLst>
                  <a:ext uri="{FF2B5EF4-FFF2-40B4-BE49-F238E27FC236}">
                    <a16:creationId xmlns:a16="http://schemas.microsoft.com/office/drawing/2014/main" id="{EDF7202D-84FC-473E-8A04-67CF2A58D14B}"/>
                  </a:ext>
                </a:extLst>
              </p:cNvPr>
              <p:cNvSpPr>
                <a:spLocks/>
              </p:cNvSpPr>
              <p:nvPr/>
            </p:nvSpPr>
            <p:spPr bwMode="auto">
              <a:xfrm>
                <a:off x="10820405" y="3942123"/>
                <a:ext cx="403225" cy="212725"/>
              </a:xfrm>
              <a:custGeom>
                <a:avLst/>
                <a:gdLst>
                  <a:gd name="T0" fmla="*/ 40 w 42"/>
                  <a:gd name="T1" fmla="*/ 1 h 22"/>
                  <a:gd name="T2" fmla="*/ 25 w 42"/>
                  <a:gd name="T3" fmla="*/ 16 h 22"/>
                  <a:gd name="T4" fmla="*/ 24 w 42"/>
                  <a:gd name="T5" fmla="*/ 16 h 22"/>
                  <a:gd name="T6" fmla="*/ 19 w 42"/>
                  <a:gd name="T7" fmla="*/ 16 h 22"/>
                  <a:gd name="T8" fmla="*/ 18 w 42"/>
                  <a:gd name="T9" fmla="*/ 16 h 22"/>
                  <a:gd name="T10" fmla="*/ 3 w 42"/>
                  <a:gd name="T11" fmla="*/ 1 h 22"/>
                  <a:gd name="T12" fmla="*/ 1 w 42"/>
                  <a:gd name="T13" fmla="*/ 1 h 22"/>
                  <a:gd name="T14" fmla="*/ 1 w 42"/>
                  <a:gd name="T15" fmla="*/ 3 h 22"/>
                  <a:gd name="T16" fmla="*/ 16 w 42"/>
                  <a:gd name="T17" fmla="*/ 18 h 22"/>
                  <a:gd name="T18" fmla="*/ 15 w 42"/>
                  <a:gd name="T19" fmla="*/ 19 h 22"/>
                  <a:gd name="T20" fmla="*/ 19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5"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grpSp>
        <p:sp>
          <p:nvSpPr>
            <p:cNvPr id="277" name="Arc 276">
              <a:extLst>
                <a:ext uri="{FF2B5EF4-FFF2-40B4-BE49-F238E27FC236}">
                  <a16:creationId xmlns:a16="http://schemas.microsoft.com/office/drawing/2014/main" id="{6AAEA4EA-2F7F-459C-B54D-CFB2CEF96799}"/>
                </a:ext>
              </a:extLst>
            </p:cNvPr>
            <p:cNvSpPr>
              <a:spLocks noChangeAspect="1"/>
            </p:cNvSpPr>
            <p:nvPr/>
          </p:nvSpPr>
          <p:spPr>
            <a:xfrm flipH="1" flipV="1">
              <a:off x="4045668" y="1874940"/>
              <a:ext cx="876318" cy="576352"/>
            </a:xfrm>
            <a:prstGeom prst="arc">
              <a:avLst>
                <a:gd name="adj1" fmla="val 11577148"/>
                <a:gd name="adj2" fmla="val 19257702"/>
              </a:avLst>
            </a:prstGeom>
            <a:noFill/>
            <a:ln w="9525" cap="flat" cmpd="sng" algn="ctr">
              <a:solidFill>
                <a:srgbClr val="8C8C8C">
                  <a:lumMod val="75000"/>
                </a:srgbClr>
              </a:solidFill>
              <a:prstDash val="solid"/>
              <a:miter lim="800000"/>
            </a:ln>
            <a:effectLst/>
          </p:spPr>
          <p:txBody>
            <a:bodyPr rtlCol="0" anchor="ctr"/>
            <a:lstStyle/>
            <a:p>
              <a:pPr algn="ctr" defTabSz="914403">
                <a:defRPr/>
              </a:pPr>
              <a:endParaRPr lang="en-US" sz="1799" kern="0">
                <a:solidFill>
                  <a:srgbClr val="5C5C5C"/>
                </a:solidFill>
                <a:latin typeface="+mj-lt"/>
              </a:endParaRPr>
            </a:p>
          </p:txBody>
        </p:sp>
        <p:sp>
          <p:nvSpPr>
            <p:cNvPr id="278" name="Arc 277">
              <a:extLst>
                <a:ext uri="{FF2B5EF4-FFF2-40B4-BE49-F238E27FC236}">
                  <a16:creationId xmlns:a16="http://schemas.microsoft.com/office/drawing/2014/main" id="{59172FC8-C2B7-4B41-9A24-E8F6599495C3}"/>
                </a:ext>
              </a:extLst>
            </p:cNvPr>
            <p:cNvSpPr>
              <a:spLocks noChangeAspect="1"/>
            </p:cNvSpPr>
            <p:nvPr/>
          </p:nvSpPr>
          <p:spPr>
            <a:xfrm flipH="1" flipV="1">
              <a:off x="3765288" y="1879029"/>
              <a:ext cx="718539" cy="576352"/>
            </a:xfrm>
            <a:prstGeom prst="arc">
              <a:avLst>
                <a:gd name="adj1" fmla="val 11577148"/>
                <a:gd name="adj2" fmla="val 19058909"/>
              </a:avLst>
            </a:prstGeom>
            <a:noFill/>
            <a:ln w="9525" cap="flat" cmpd="sng" algn="ctr">
              <a:solidFill>
                <a:srgbClr val="8C8C8C">
                  <a:lumMod val="75000"/>
                </a:srgbClr>
              </a:solidFill>
              <a:prstDash val="solid"/>
              <a:miter lim="800000"/>
            </a:ln>
            <a:effectLst/>
          </p:spPr>
          <p:txBody>
            <a:bodyPr rtlCol="0" anchor="ctr"/>
            <a:lstStyle/>
            <a:p>
              <a:pPr algn="ctr" defTabSz="914403">
                <a:defRPr/>
              </a:pPr>
              <a:endParaRPr lang="en-US" sz="1799" kern="0">
                <a:solidFill>
                  <a:srgbClr val="5C5C5C"/>
                </a:solidFill>
                <a:latin typeface="+mj-lt"/>
              </a:endParaRPr>
            </a:p>
          </p:txBody>
        </p:sp>
      </p:grpSp>
      <p:grpSp>
        <p:nvGrpSpPr>
          <p:cNvPr id="291" name="Group 290">
            <a:extLst>
              <a:ext uri="{FF2B5EF4-FFF2-40B4-BE49-F238E27FC236}">
                <a16:creationId xmlns:a16="http://schemas.microsoft.com/office/drawing/2014/main" id="{427C7CFA-7ED6-49AF-B7CF-4EB6A67AE7A7}"/>
              </a:ext>
            </a:extLst>
          </p:cNvPr>
          <p:cNvGrpSpPr/>
          <p:nvPr/>
        </p:nvGrpSpPr>
        <p:grpSpPr>
          <a:xfrm>
            <a:off x="1273770" y="1499256"/>
            <a:ext cx="1355079" cy="385550"/>
            <a:chOff x="1185546" y="2245760"/>
            <a:chExt cx="1818430" cy="477165"/>
          </a:xfrm>
        </p:grpSpPr>
        <p:grpSp>
          <p:nvGrpSpPr>
            <p:cNvPr id="292" name="Group 291">
              <a:extLst>
                <a:ext uri="{FF2B5EF4-FFF2-40B4-BE49-F238E27FC236}">
                  <a16:creationId xmlns:a16="http://schemas.microsoft.com/office/drawing/2014/main" id="{230FA53F-7F62-4FB0-96DA-31955B218306}"/>
                </a:ext>
              </a:extLst>
            </p:cNvPr>
            <p:cNvGrpSpPr>
              <a:grpSpLocks noChangeAspect="1"/>
            </p:cNvGrpSpPr>
            <p:nvPr/>
          </p:nvGrpSpPr>
          <p:grpSpPr>
            <a:xfrm>
              <a:off x="2200288" y="2382154"/>
              <a:ext cx="456909" cy="337084"/>
              <a:chOff x="1880434" y="2382352"/>
              <a:chExt cx="793247" cy="585216"/>
            </a:xfrm>
            <a:solidFill>
              <a:srgbClr val="8C8C8C">
                <a:lumMod val="75000"/>
              </a:srgbClr>
            </a:solidFill>
          </p:grpSpPr>
          <p:sp>
            <p:nvSpPr>
              <p:cNvPr id="314" name="object 12">
                <a:extLst>
                  <a:ext uri="{FF2B5EF4-FFF2-40B4-BE49-F238E27FC236}">
                    <a16:creationId xmlns:a16="http://schemas.microsoft.com/office/drawing/2014/main" id="{48A1399C-10C1-4A48-A063-1477850EAC20}"/>
                  </a:ext>
                </a:extLst>
              </p:cNvPr>
              <p:cNvSpPr/>
              <p:nvPr/>
            </p:nvSpPr>
            <p:spPr>
              <a:xfrm>
                <a:off x="2141094" y="2659462"/>
                <a:ext cx="532587" cy="307050"/>
              </a:xfrm>
              <a:custGeom>
                <a:avLst/>
                <a:gdLst/>
                <a:ahLst/>
                <a:cxnLst/>
                <a:rect l="l" t="t" r="r" b="b"/>
                <a:pathLst>
                  <a:path w="181610" h="135255">
                    <a:moveTo>
                      <a:pt x="177343" y="0"/>
                    </a:moveTo>
                    <a:lnTo>
                      <a:pt x="140" y="165"/>
                    </a:lnTo>
                    <a:lnTo>
                      <a:pt x="0" y="8108"/>
                    </a:lnTo>
                    <a:lnTo>
                      <a:pt x="6728" y="71785"/>
                    </a:lnTo>
                    <a:lnTo>
                      <a:pt x="8020" y="83661"/>
                    </a:lnTo>
                    <a:lnTo>
                      <a:pt x="9351" y="96189"/>
                    </a:lnTo>
                    <a:lnTo>
                      <a:pt x="10659" y="109897"/>
                    </a:lnTo>
                    <a:lnTo>
                      <a:pt x="12204" y="122336"/>
                    </a:lnTo>
                    <a:lnTo>
                      <a:pt x="12040" y="134975"/>
                    </a:lnTo>
                    <a:lnTo>
                      <a:pt x="177635" y="135127"/>
                    </a:lnTo>
                    <a:lnTo>
                      <a:pt x="179858" y="133870"/>
                    </a:lnTo>
                    <a:lnTo>
                      <a:pt x="181267" y="131102"/>
                    </a:lnTo>
                    <a:lnTo>
                      <a:pt x="181267" y="78752"/>
                    </a:lnTo>
                    <a:lnTo>
                      <a:pt x="14885" y="78739"/>
                    </a:lnTo>
                    <a:lnTo>
                      <a:pt x="12787" y="76555"/>
                    </a:lnTo>
                    <a:lnTo>
                      <a:pt x="12824" y="24803"/>
                    </a:lnTo>
                    <a:lnTo>
                      <a:pt x="14935" y="22631"/>
                    </a:lnTo>
                    <a:lnTo>
                      <a:pt x="181267" y="22631"/>
                    </a:lnTo>
                    <a:lnTo>
                      <a:pt x="181267" y="3632"/>
                    </a:lnTo>
                    <a:lnTo>
                      <a:pt x="179489" y="1320"/>
                    </a:lnTo>
                    <a:lnTo>
                      <a:pt x="177343" y="0"/>
                    </a:lnTo>
                    <a:close/>
                  </a:path>
                  <a:path w="181610" h="135255">
                    <a:moveTo>
                      <a:pt x="181267" y="22631"/>
                    </a:moveTo>
                    <a:lnTo>
                      <a:pt x="66650" y="22631"/>
                    </a:lnTo>
                    <a:lnTo>
                      <a:pt x="68656" y="24637"/>
                    </a:lnTo>
                    <a:lnTo>
                      <a:pt x="68771" y="76873"/>
                    </a:lnTo>
                    <a:lnTo>
                      <a:pt x="66942" y="78739"/>
                    </a:lnTo>
                    <a:lnTo>
                      <a:pt x="14897" y="78752"/>
                    </a:lnTo>
                    <a:lnTo>
                      <a:pt x="93498" y="78752"/>
                    </a:lnTo>
                    <a:lnTo>
                      <a:pt x="91478" y="76555"/>
                    </a:lnTo>
                    <a:lnTo>
                      <a:pt x="91491" y="24637"/>
                    </a:lnTo>
                    <a:lnTo>
                      <a:pt x="93434" y="22669"/>
                    </a:lnTo>
                    <a:lnTo>
                      <a:pt x="181267" y="22656"/>
                    </a:lnTo>
                    <a:close/>
                  </a:path>
                  <a:path w="181610" h="135255">
                    <a:moveTo>
                      <a:pt x="181267" y="22656"/>
                    </a:moveTo>
                    <a:lnTo>
                      <a:pt x="145199" y="22656"/>
                    </a:lnTo>
                    <a:lnTo>
                      <a:pt x="147405" y="24803"/>
                    </a:lnTo>
                    <a:lnTo>
                      <a:pt x="147487" y="76555"/>
                    </a:lnTo>
                    <a:lnTo>
                      <a:pt x="145352" y="78752"/>
                    </a:lnTo>
                    <a:lnTo>
                      <a:pt x="181267" y="78752"/>
                    </a:lnTo>
                    <a:lnTo>
                      <a:pt x="181267" y="22656"/>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15" name="object 13">
                <a:extLst>
                  <a:ext uri="{FF2B5EF4-FFF2-40B4-BE49-F238E27FC236}">
                    <a16:creationId xmlns:a16="http://schemas.microsoft.com/office/drawing/2014/main" id="{BA4B47FF-9C78-4E41-BE51-3397E5ADCE9C}"/>
                  </a:ext>
                </a:extLst>
              </p:cNvPr>
              <p:cNvSpPr/>
              <p:nvPr/>
            </p:nvSpPr>
            <p:spPr>
              <a:xfrm>
                <a:off x="1880434" y="2455817"/>
                <a:ext cx="268156" cy="511751"/>
              </a:xfrm>
              <a:custGeom>
                <a:avLst/>
                <a:gdLst/>
                <a:ahLst/>
                <a:cxnLst/>
                <a:rect l="l" t="t" r="r" b="b"/>
                <a:pathLst>
                  <a:path w="91440" h="225425">
                    <a:moveTo>
                      <a:pt x="65747" y="0"/>
                    </a:moveTo>
                    <a:lnTo>
                      <a:pt x="25095" y="0"/>
                    </a:lnTo>
                    <a:lnTo>
                      <a:pt x="23304" y="1523"/>
                    </a:lnTo>
                    <a:lnTo>
                      <a:pt x="22378" y="9688"/>
                    </a:lnTo>
                    <a:lnTo>
                      <a:pt x="21264" y="20167"/>
                    </a:lnTo>
                    <a:lnTo>
                      <a:pt x="14171" y="88694"/>
                    </a:lnTo>
                    <a:lnTo>
                      <a:pt x="7244" y="153518"/>
                    </a:lnTo>
                    <a:lnTo>
                      <a:pt x="0" y="222427"/>
                    </a:lnTo>
                    <a:lnTo>
                      <a:pt x="2120" y="224815"/>
                    </a:lnTo>
                    <a:lnTo>
                      <a:pt x="45326" y="224828"/>
                    </a:lnTo>
                    <a:lnTo>
                      <a:pt x="88125" y="224815"/>
                    </a:lnTo>
                    <a:lnTo>
                      <a:pt x="90830" y="222084"/>
                    </a:lnTo>
                    <a:lnTo>
                      <a:pt x="82838" y="147188"/>
                    </a:lnTo>
                    <a:lnTo>
                      <a:pt x="77552" y="96175"/>
                    </a:lnTo>
                    <a:lnTo>
                      <a:pt x="73681" y="60067"/>
                    </a:lnTo>
                    <a:lnTo>
                      <a:pt x="69313" y="18804"/>
                    </a:lnTo>
                    <a:lnTo>
                      <a:pt x="67449" y="1435"/>
                    </a:lnTo>
                    <a:lnTo>
                      <a:pt x="65747"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16" name="object 14">
                <a:extLst>
                  <a:ext uri="{FF2B5EF4-FFF2-40B4-BE49-F238E27FC236}">
                    <a16:creationId xmlns:a16="http://schemas.microsoft.com/office/drawing/2014/main" id="{17BC3C50-C3BD-4953-B01E-6828794F76BB}"/>
                  </a:ext>
                </a:extLst>
              </p:cNvPr>
              <p:cNvSpPr/>
              <p:nvPr/>
            </p:nvSpPr>
            <p:spPr>
              <a:xfrm>
                <a:off x="2094405" y="2382352"/>
                <a:ext cx="465549" cy="102350"/>
              </a:xfrm>
              <a:custGeom>
                <a:avLst/>
                <a:gdLst/>
                <a:ahLst/>
                <a:cxnLst/>
                <a:rect l="l" t="t" r="r" b="b"/>
                <a:pathLst>
                  <a:path w="158750" h="45084">
                    <a:moveTo>
                      <a:pt x="154156" y="25436"/>
                    </a:moveTo>
                    <a:lnTo>
                      <a:pt x="10080" y="25436"/>
                    </a:lnTo>
                    <a:lnTo>
                      <a:pt x="22075" y="25825"/>
                    </a:lnTo>
                    <a:lnTo>
                      <a:pt x="35143" y="28848"/>
                    </a:lnTo>
                    <a:lnTo>
                      <a:pt x="71637" y="41109"/>
                    </a:lnTo>
                    <a:lnTo>
                      <a:pt x="83796" y="43810"/>
                    </a:lnTo>
                    <a:lnTo>
                      <a:pt x="95976" y="44904"/>
                    </a:lnTo>
                    <a:lnTo>
                      <a:pt x="108200" y="44250"/>
                    </a:lnTo>
                    <a:lnTo>
                      <a:pt x="120490" y="41712"/>
                    </a:lnTo>
                    <a:lnTo>
                      <a:pt x="132869" y="37149"/>
                    </a:lnTo>
                    <a:lnTo>
                      <a:pt x="144103" y="31261"/>
                    </a:lnTo>
                    <a:lnTo>
                      <a:pt x="154156" y="25436"/>
                    </a:lnTo>
                    <a:close/>
                  </a:path>
                  <a:path w="158750" h="45084">
                    <a:moveTo>
                      <a:pt x="52031" y="0"/>
                    </a:moveTo>
                    <a:lnTo>
                      <a:pt x="14908" y="9205"/>
                    </a:lnTo>
                    <a:lnTo>
                      <a:pt x="0" y="19100"/>
                    </a:lnTo>
                    <a:lnTo>
                      <a:pt x="1536" y="24206"/>
                    </a:lnTo>
                    <a:lnTo>
                      <a:pt x="3619" y="25628"/>
                    </a:lnTo>
                    <a:lnTo>
                      <a:pt x="7848" y="25615"/>
                    </a:lnTo>
                    <a:lnTo>
                      <a:pt x="10080" y="25436"/>
                    </a:lnTo>
                    <a:lnTo>
                      <a:pt x="154156" y="25436"/>
                    </a:lnTo>
                    <a:lnTo>
                      <a:pt x="157759" y="23368"/>
                    </a:lnTo>
                    <a:lnTo>
                      <a:pt x="158508" y="20383"/>
                    </a:lnTo>
                    <a:lnTo>
                      <a:pt x="157629" y="18287"/>
                    </a:lnTo>
                    <a:lnTo>
                      <a:pt x="127095" y="18287"/>
                    </a:lnTo>
                    <a:lnTo>
                      <a:pt x="114025" y="16263"/>
                    </a:lnTo>
                    <a:lnTo>
                      <a:pt x="104713" y="13521"/>
                    </a:lnTo>
                    <a:lnTo>
                      <a:pt x="77089" y="4445"/>
                    </a:lnTo>
                    <a:lnTo>
                      <a:pt x="64758" y="1476"/>
                    </a:lnTo>
                    <a:lnTo>
                      <a:pt x="52031" y="0"/>
                    </a:lnTo>
                    <a:close/>
                  </a:path>
                  <a:path w="158750" h="45084">
                    <a:moveTo>
                      <a:pt x="153644" y="13957"/>
                    </a:moveTo>
                    <a:lnTo>
                      <a:pt x="149771" y="14808"/>
                    </a:lnTo>
                    <a:lnTo>
                      <a:pt x="148958" y="15125"/>
                    </a:lnTo>
                    <a:lnTo>
                      <a:pt x="139295" y="17482"/>
                    </a:lnTo>
                    <a:lnTo>
                      <a:pt x="127095" y="18287"/>
                    </a:lnTo>
                    <a:lnTo>
                      <a:pt x="157629" y="18287"/>
                    </a:lnTo>
                    <a:lnTo>
                      <a:pt x="156349" y="15240"/>
                    </a:lnTo>
                    <a:lnTo>
                      <a:pt x="153644" y="13957"/>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17" name="object 16">
                <a:extLst>
                  <a:ext uri="{FF2B5EF4-FFF2-40B4-BE49-F238E27FC236}">
                    <a16:creationId xmlns:a16="http://schemas.microsoft.com/office/drawing/2014/main" id="{E3D83699-3736-4CBE-9887-0C764EA289D5}"/>
                  </a:ext>
                </a:extLst>
              </p:cNvPr>
              <p:cNvSpPr/>
              <p:nvPr/>
            </p:nvSpPr>
            <p:spPr>
              <a:xfrm>
                <a:off x="2211426" y="2736450"/>
                <a:ext cx="98696" cy="76402"/>
              </a:xfrm>
              <a:custGeom>
                <a:avLst/>
                <a:gdLst/>
                <a:ahLst/>
                <a:cxnLst/>
                <a:rect l="l" t="t" r="r" b="b"/>
                <a:pathLst>
                  <a:path w="33655" h="33655">
                    <a:moveTo>
                      <a:pt x="0" y="16802"/>
                    </a:moveTo>
                    <a:lnTo>
                      <a:pt x="33566" y="16802"/>
                    </a:lnTo>
                  </a:path>
                </a:pathLst>
              </a:custGeom>
              <a:grpFill/>
              <a:ln w="34874">
                <a:solidFill>
                  <a:srgbClr val="8C8C8C">
                    <a:lumMod val="75000"/>
                  </a:srgbClr>
                </a:solidFill>
              </a:ln>
            </p:spPr>
            <p:txBody>
              <a:bodyPr wrap="square" lIns="0" tIns="0" rIns="0" bIns="0" rtlCol="0"/>
              <a:lstStyle/>
              <a:p>
                <a:pPr defTabSz="914403">
                  <a:defRPr/>
                </a:pPr>
                <a:endParaRPr sz="1799" kern="0">
                  <a:solidFill>
                    <a:prstClr val="white"/>
                  </a:solidFill>
                  <a:latin typeface="+mj-lt"/>
                </a:endParaRPr>
              </a:p>
            </p:txBody>
          </p:sp>
          <p:sp>
            <p:nvSpPr>
              <p:cNvPr id="318" name="object 16">
                <a:extLst>
                  <a:ext uri="{FF2B5EF4-FFF2-40B4-BE49-F238E27FC236}">
                    <a16:creationId xmlns:a16="http://schemas.microsoft.com/office/drawing/2014/main" id="{440B189C-AB62-44E2-A9C8-22D04A935473}"/>
                  </a:ext>
                </a:extLst>
              </p:cNvPr>
              <p:cNvSpPr/>
              <p:nvPr/>
            </p:nvSpPr>
            <p:spPr>
              <a:xfrm>
                <a:off x="2438134" y="2736450"/>
                <a:ext cx="98696" cy="76402"/>
              </a:xfrm>
              <a:custGeom>
                <a:avLst/>
                <a:gdLst/>
                <a:ahLst/>
                <a:cxnLst/>
                <a:rect l="l" t="t" r="r" b="b"/>
                <a:pathLst>
                  <a:path w="33655" h="33655">
                    <a:moveTo>
                      <a:pt x="0" y="16802"/>
                    </a:moveTo>
                    <a:lnTo>
                      <a:pt x="33566" y="16802"/>
                    </a:lnTo>
                  </a:path>
                </a:pathLst>
              </a:custGeom>
              <a:grpFill/>
              <a:ln w="34874">
                <a:solidFill>
                  <a:srgbClr val="8C8C8C">
                    <a:lumMod val="75000"/>
                  </a:srgbClr>
                </a:solidFill>
              </a:ln>
            </p:spPr>
            <p:txBody>
              <a:bodyPr wrap="square" lIns="0" tIns="0" rIns="0" bIns="0" rtlCol="0"/>
              <a:lstStyle/>
              <a:p>
                <a:pPr defTabSz="914403">
                  <a:defRPr/>
                </a:pPr>
                <a:endParaRPr sz="1799" kern="0">
                  <a:solidFill>
                    <a:prstClr val="white"/>
                  </a:solidFill>
                  <a:latin typeface="+mj-lt"/>
                </a:endParaRPr>
              </a:p>
            </p:txBody>
          </p:sp>
        </p:grpSp>
        <p:grpSp>
          <p:nvGrpSpPr>
            <p:cNvPr id="293" name="Group 292">
              <a:extLst>
                <a:ext uri="{FF2B5EF4-FFF2-40B4-BE49-F238E27FC236}">
                  <a16:creationId xmlns:a16="http://schemas.microsoft.com/office/drawing/2014/main" id="{85F7B9F8-27FB-4E68-9B51-2B2CEF54ED0E}"/>
                </a:ext>
              </a:extLst>
            </p:cNvPr>
            <p:cNvGrpSpPr>
              <a:grpSpLocks noChangeAspect="1"/>
            </p:cNvGrpSpPr>
            <p:nvPr/>
          </p:nvGrpSpPr>
          <p:grpSpPr>
            <a:xfrm>
              <a:off x="1185546" y="2405172"/>
              <a:ext cx="480251" cy="314066"/>
              <a:chOff x="1148676" y="2548966"/>
              <a:chExt cx="417610" cy="273101"/>
            </a:xfrm>
          </p:grpSpPr>
          <p:sp>
            <p:nvSpPr>
              <p:cNvPr id="311" name="Freeform 27">
                <a:extLst>
                  <a:ext uri="{FF2B5EF4-FFF2-40B4-BE49-F238E27FC236}">
                    <a16:creationId xmlns:a16="http://schemas.microsoft.com/office/drawing/2014/main" id="{9E677539-8F8F-4AC2-AF19-FAC2288B02DF}"/>
                  </a:ext>
                </a:extLst>
              </p:cNvPr>
              <p:cNvSpPr>
                <a:spLocks/>
              </p:cNvSpPr>
              <p:nvPr/>
            </p:nvSpPr>
            <p:spPr bwMode="auto">
              <a:xfrm>
                <a:off x="1148676" y="2548966"/>
                <a:ext cx="89889" cy="273101"/>
              </a:xfrm>
              <a:custGeom>
                <a:avLst/>
                <a:gdLst>
                  <a:gd name="T0" fmla="*/ 144 w 144"/>
                  <a:gd name="T1" fmla="*/ 525 h 525"/>
                  <a:gd name="T2" fmla="*/ 0 w 144"/>
                  <a:gd name="T3" fmla="*/ 525 h 525"/>
                  <a:gd name="T4" fmla="*/ 0 w 144"/>
                  <a:gd name="T5" fmla="*/ 0 h 525"/>
                  <a:gd name="T6" fmla="*/ 78 w 144"/>
                  <a:gd name="T7" fmla="*/ 0 h 525"/>
                  <a:gd name="T8" fmla="*/ 144 w 144"/>
                  <a:gd name="T9" fmla="*/ 525 h 525"/>
                </a:gdLst>
                <a:ahLst/>
                <a:cxnLst>
                  <a:cxn ang="0">
                    <a:pos x="T0" y="T1"/>
                  </a:cxn>
                  <a:cxn ang="0">
                    <a:pos x="T2" y="T3"/>
                  </a:cxn>
                  <a:cxn ang="0">
                    <a:pos x="T4" y="T5"/>
                  </a:cxn>
                  <a:cxn ang="0">
                    <a:pos x="T6" y="T7"/>
                  </a:cxn>
                  <a:cxn ang="0">
                    <a:pos x="T8" y="T9"/>
                  </a:cxn>
                </a:cxnLst>
                <a:rect l="0" t="0" r="r" b="b"/>
                <a:pathLst>
                  <a:path w="144" h="525">
                    <a:moveTo>
                      <a:pt x="144" y="525"/>
                    </a:moveTo>
                    <a:lnTo>
                      <a:pt x="0" y="525"/>
                    </a:lnTo>
                    <a:lnTo>
                      <a:pt x="0" y="0"/>
                    </a:lnTo>
                    <a:lnTo>
                      <a:pt x="78" y="0"/>
                    </a:lnTo>
                    <a:lnTo>
                      <a:pt x="144" y="525"/>
                    </a:lnTo>
                    <a:close/>
                  </a:path>
                </a:pathLst>
              </a:custGeom>
              <a:solidFill>
                <a:srgbClr val="8C8C8C">
                  <a:lumMod val="75000"/>
                </a:srgbClr>
              </a:solidFill>
              <a:ln>
                <a:no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312" name="Freeform 28">
                <a:extLst>
                  <a:ext uri="{FF2B5EF4-FFF2-40B4-BE49-F238E27FC236}">
                    <a16:creationId xmlns:a16="http://schemas.microsoft.com/office/drawing/2014/main" id="{1F297786-DF05-4A8F-B3E3-5711F997AC0A}"/>
                  </a:ext>
                </a:extLst>
              </p:cNvPr>
              <p:cNvSpPr>
                <a:spLocks/>
              </p:cNvSpPr>
              <p:nvPr/>
            </p:nvSpPr>
            <p:spPr bwMode="auto">
              <a:xfrm>
                <a:off x="1216093" y="2548966"/>
                <a:ext cx="319606" cy="84791"/>
              </a:xfrm>
              <a:custGeom>
                <a:avLst/>
                <a:gdLst>
                  <a:gd name="T0" fmla="*/ 69 w 85"/>
                  <a:gd name="T1" fmla="*/ 0 h 27"/>
                  <a:gd name="T2" fmla="*/ 69 w 85"/>
                  <a:gd name="T3" fmla="*/ 4 h 27"/>
                  <a:gd name="T4" fmla="*/ 0 w 85"/>
                  <a:gd name="T5" fmla="*/ 4 h 27"/>
                  <a:gd name="T6" fmla="*/ 2 w 85"/>
                  <a:gd name="T7" fmla="*/ 27 h 27"/>
                  <a:gd name="T8" fmla="*/ 7 w 85"/>
                  <a:gd name="T9" fmla="*/ 27 h 27"/>
                  <a:gd name="T10" fmla="*/ 7 w 85"/>
                  <a:gd name="T11" fmla="*/ 16 h 27"/>
                  <a:gd name="T12" fmla="*/ 7 w 85"/>
                  <a:gd name="T13" fmla="*/ 12 h 27"/>
                  <a:gd name="T14" fmla="*/ 11 w 85"/>
                  <a:gd name="T15" fmla="*/ 12 h 27"/>
                  <a:gd name="T16" fmla="*/ 22 w 85"/>
                  <a:gd name="T17" fmla="*/ 12 h 27"/>
                  <a:gd name="T18" fmla="*/ 22 w 85"/>
                  <a:gd name="T19" fmla="*/ 16 h 27"/>
                  <a:gd name="T20" fmla="*/ 11 w 85"/>
                  <a:gd name="T21" fmla="*/ 16 h 27"/>
                  <a:gd name="T22" fmla="*/ 11 w 85"/>
                  <a:gd name="T23" fmla="*/ 27 h 27"/>
                  <a:gd name="T24" fmla="*/ 16 w 85"/>
                  <a:gd name="T25" fmla="*/ 27 h 27"/>
                  <a:gd name="T26" fmla="*/ 14 w 85"/>
                  <a:gd name="T27" fmla="*/ 19 h 27"/>
                  <a:gd name="T28" fmla="*/ 22 w 85"/>
                  <a:gd name="T29" fmla="*/ 19 h 27"/>
                  <a:gd name="T30" fmla="*/ 27 w 85"/>
                  <a:gd name="T31" fmla="*/ 27 h 27"/>
                  <a:gd name="T32" fmla="*/ 30 w 85"/>
                  <a:gd name="T33" fmla="*/ 27 h 27"/>
                  <a:gd name="T34" fmla="*/ 30 w 85"/>
                  <a:gd name="T35" fmla="*/ 16 h 27"/>
                  <a:gd name="T36" fmla="*/ 30 w 85"/>
                  <a:gd name="T37" fmla="*/ 12 h 27"/>
                  <a:gd name="T38" fmla="*/ 34 w 85"/>
                  <a:gd name="T39" fmla="*/ 12 h 27"/>
                  <a:gd name="T40" fmla="*/ 45 w 85"/>
                  <a:gd name="T41" fmla="*/ 12 h 27"/>
                  <a:gd name="T42" fmla="*/ 45 w 85"/>
                  <a:gd name="T43" fmla="*/ 16 h 27"/>
                  <a:gd name="T44" fmla="*/ 34 w 85"/>
                  <a:gd name="T45" fmla="*/ 16 h 27"/>
                  <a:gd name="T46" fmla="*/ 34 w 85"/>
                  <a:gd name="T47" fmla="*/ 27 h 27"/>
                  <a:gd name="T48" fmla="*/ 39 w 85"/>
                  <a:gd name="T49" fmla="*/ 27 h 27"/>
                  <a:gd name="T50" fmla="*/ 37 w 85"/>
                  <a:gd name="T51" fmla="*/ 19 h 27"/>
                  <a:gd name="T52" fmla="*/ 45 w 85"/>
                  <a:gd name="T53" fmla="*/ 19 h 27"/>
                  <a:gd name="T54" fmla="*/ 50 w 85"/>
                  <a:gd name="T55" fmla="*/ 27 h 27"/>
                  <a:gd name="T56" fmla="*/ 53 w 85"/>
                  <a:gd name="T57" fmla="*/ 27 h 27"/>
                  <a:gd name="T58" fmla="*/ 53 w 85"/>
                  <a:gd name="T59" fmla="*/ 16 h 27"/>
                  <a:gd name="T60" fmla="*/ 53 w 85"/>
                  <a:gd name="T61" fmla="*/ 12 h 27"/>
                  <a:gd name="T62" fmla="*/ 57 w 85"/>
                  <a:gd name="T63" fmla="*/ 12 h 27"/>
                  <a:gd name="T64" fmla="*/ 67 w 85"/>
                  <a:gd name="T65" fmla="*/ 12 h 27"/>
                  <a:gd name="T66" fmla="*/ 67 w 85"/>
                  <a:gd name="T67" fmla="*/ 16 h 27"/>
                  <a:gd name="T68" fmla="*/ 57 w 85"/>
                  <a:gd name="T69" fmla="*/ 16 h 27"/>
                  <a:gd name="T70" fmla="*/ 57 w 85"/>
                  <a:gd name="T71" fmla="*/ 27 h 27"/>
                  <a:gd name="T72" fmla="*/ 62 w 85"/>
                  <a:gd name="T73" fmla="*/ 27 h 27"/>
                  <a:gd name="T74" fmla="*/ 59 w 85"/>
                  <a:gd name="T75" fmla="*/ 19 h 27"/>
                  <a:gd name="T76" fmla="*/ 67 w 85"/>
                  <a:gd name="T77" fmla="*/ 19 h 27"/>
                  <a:gd name="T78" fmla="*/ 72 w 85"/>
                  <a:gd name="T79" fmla="*/ 27 h 27"/>
                  <a:gd name="T80" fmla="*/ 85 w 85"/>
                  <a:gd name="T81" fmla="*/ 27 h 27"/>
                  <a:gd name="T82" fmla="*/ 82 w 85"/>
                  <a:gd name="T83" fmla="*/ 0 h 27"/>
                  <a:gd name="T84" fmla="*/ 69 w 85"/>
                  <a:gd name="T85"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5" h="27">
                    <a:moveTo>
                      <a:pt x="69" y="0"/>
                    </a:moveTo>
                    <a:cubicBezTo>
                      <a:pt x="69" y="4"/>
                      <a:pt x="69" y="4"/>
                      <a:pt x="69" y="4"/>
                    </a:cubicBezTo>
                    <a:cubicBezTo>
                      <a:pt x="0" y="4"/>
                      <a:pt x="0" y="4"/>
                      <a:pt x="0" y="4"/>
                    </a:cubicBezTo>
                    <a:cubicBezTo>
                      <a:pt x="2" y="27"/>
                      <a:pt x="2" y="27"/>
                      <a:pt x="2" y="27"/>
                    </a:cubicBezTo>
                    <a:cubicBezTo>
                      <a:pt x="7" y="27"/>
                      <a:pt x="7" y="27"/>
                      <a:pt x="7" y="27"/>
                    </a:cubicBezTo>
                    <a:cubicBezTo>
                      <a:pt x="7" y="16"/>
                      <a:pt x="7" y="16"/>
                      <a:pt x="7" y="16"/>
                    </a:cubicBezTo>
                    <a:cubicBezTo>
                      <a:pt x="7" y="12"/>
                      <a:pt x="7" y="12"/>
                      <a:pt x="7" y="12"/>
                    </a:cubicBezTo>
                    <a:cubicBezTo>
                      <a:pt x="11" y="12"/>
                      <a:pt x="11" y="12"/>
                      <a:pt x="11" y="12"/>
                    </a:cubicBezTo>
                    <a:cubicBezTo>
                      <a:pt x="22" y="12"/>
                      <a:pt x="22" y="12"/>
                      <a:pt x="22" y="12"/>
                    </a:cubicBezTo>
                    <a:cubicBezTo>
                      <a:pt x="22" y="16"/>
                      <a:pt x="22" y="16"/>
                      <a:pt x="22" y="16"/>
                    </a:cubicBezTo>
                    <a:cubicBezTo>
                      <a:pt x="11" y="16"/>
                      <a:pt x="11" y="16"/>
                      <a:pt x="11" y="16"/>
                    </a:cubicBezTo>
                    <a:cubicBezTo>
                      <a:pt x="11" y="27"/>
                      <a:pt x="11" y="27"/>
                      <a:pt x="11" y="27"/>
                    </a:cubicBezTo>
                    <a:cubicBezTo>
                      <a:pt x="16" y="27"/>
                      <a:pt x="16" y="27"/>
                      <a:pt x="16" y="27"/>
                    </a:cubicBezTo>
                    <a:cubicBezTo>
                      <a:pt x="15" y="21"/>
                      <a:pt x="14" y="19"/>
                      <a:pt x="14" y="19"/>
                    </a:cubicBezTo>
                    <a:cubicBezTo>
                      <a:pt x="22" y="19"/>
                      <a:pt x="22" y="19"/>
                      <a:pt x="22" y="19"/>
                    </a:cubicBezTo>
                    <a:cubicBezTo>
                      <a:pt x="22" y="19"/>
                      <a:pt x="24" y="21"/>
                      <a:pt x="27" y="27"/>
                    </a:cubicBezTo>
                    <a:cubicBezTo>
                      <a:pt x="30" y="27"/>
                      <a:pt x="30" y="27"/>
                      <a:pt x="30" y="27"/>
                    </a:cubicBezTo>
                    <a:cubicBezTo>
                      <a:pt x="30" y="16"/>
                      <a:pt x="30" y="16"/>
                      <a:pt x="30" y="16"/>
                    </a:cubicBezTo>
                    <a:cubicBezTo>
                      <a:pt x="30" y="12"/>
                      <a:pt x="30" y="12"/>
                      <a:pt x="30" y="12"/>
                    </a:cubicBezTo>
                    <a:cubicBezTo>
                      <a:pt x="34" y="12"/>
                      <a:pt x="34" y="12"/>
                      <a:pt x="34" y="12"/>
                    </a:cubicBezTo>
                    <a:cubicBezTo>
                      <a:pt x="45" y="12"/>
                      <a:pt x="45" y="12"/>
                      <a:pt x="45" y="12"/>
                    </a:cubicBezTo>
                    <a:cubicBezTo>
                      <a:pt x="45" y="16"/>
                      <a:pt x="45" y="16"/>
                      <a:pt x="45" y="16"/>
                    </a:cubicBezTo>
                    <a:cubicBezTo>
                      <a:pt x="34" y="16"/>
                      <a:pt x="34" y="16"/>
                      <a:pt x="34" y="16"/>
                    </a:cubicBezTo>
                    <a:cubicBezTo>
                      <a:pt x="34" y="27"/>
                      <a:pt x="34" y="27"/>
                      <a:pt x="34" y="27"/>
                    </a:cubicBezTo>
                    <a:cubicBezTo>
                      <a:pt x="39" y="27"/>
                      <a:pt x="39" y="27"/>
                      <a:pt x="39" y="27"/>
                    </a:cubicBezTo>
                    <a:cubicBezTo>
                      <a:pt x="38" y="21"/>
                      <a:pt x="37" y="19"/>
                      <a:pt x="37" y="19"/>
                    </a:cubicBezTo>
                    <a:cubicBezTo>
                      <a:pt x="45" y="19"/>
                      <a:pt x="45" y="19"/>
                      <a:pt x="45" y="19"/>
                    </a:cubicBezTo>
                    <a:cubicBezTo>
                      <a:pt x="45" y="19"/>
                      <a:pt x="47" y="21"/>
                      <a:pt x="50" y="27"/>
                    </a:cubicBezTo>
                    <a:cubicBezTo>
                      <a:pt x="53" y="27"/>
                      <a:pt x="53" y="27"/>
                      <a:pt x="53" y="27"/>
                    </a:cubicBezTo>
                    <a:cubicBezTo>
                      <a:pt x="53" y="16"/>
                      <a:pt x="53" y="16"/>
                      <a:pt x="53" y="16"/>
                    </a:cubicBezTo>
                    <a:cubicBezTo>
                      <a:pt x="53" y="12"/>
                      <a:pt x="53" y="12"/>
                      <a:pt x="53" y="12"/>
                    </a:cubicBezTo>
                    <a:cubicBezTo>
                      <a:pt x="57" y="12"/>
                      <a:pt x="57" y="12"/>
                      <a:pt x="57" y="12"/>
                    </a:cubicBezTo>
                    <a:cubicBezTo>
                      <a:pt x="67" y="12"/>
                      <a:pt x="67" y="12"/>
                      <a:pt x="67" y="12"/>
                    </a:cubicBezTo>
                    <a:cubicBezTo>
                      <a:pt x="67" y="16"/>
                      <a:pt x="67" y="16"/>
                      <a:pt x="67" y="16"/>
                    </a:cubicBezTo>
                    <a:cubicBezTo>
                      <a:pt x="57" y="16"/>
                      <a:pt x="57" y="16"/>
                      <a:pt x="57" y="16"/>
                    </a:cubicBezTo>
                    <a:cubicBezTo>
                      <a:pt x="57" y="27"/>
                      <a:pt x="57" y="27"/>
                      <a:pt x="57" y="27"/>
                    </a:cubicBezTo>
                    <a:cubicBezTo>
                      <a:pt x="62" y="27"/>
                      <a:pt x="62" y="27"/>
                      <a:pt x="62" y="27"/>
                    </a:cubicBezTo>
                    <a:cubicBezTo>
                      <a:pt x="60" y="21"/>
                      <a:pt x="59" y="19"/>
                      <a:pt x="59" y="19"/>
                    </a:cubicBezTo>
                    <a:cubicBezTo>
                      <a:pt x="67" y="19"/>
                      <a:pt x="67" y="19"/>
                      <a:pt x="67" y="19"/>
                    </a:cubicBezTo>
                    <a:cubicBezTo>
                      <a:pt x="67" y="19"/>
                      <a:pt x="69" y="21"/>
                      <a:pt x="72" y="27"/>
                    </a:cubicBezTo>
                    <a:cubicBezTo>
                      <a:pt x="85" y="27"/>
                      <a:pt x="85" y="27"/>
                      <a:pt x="85" y="27"/>
                    </a:cubicBezTo>
                    <a:cubicBezTo>
                      <a:pt x="82" y="0"/>
                      <a:pt x="82" y="0"/>
                      <a:pt x="82" y="0"/>
                    </a:cubicBezTo>
                    <a:lnTo>
                      <a:pt x="69" y="0"/>
                    </a:lnTo>
                    <a:close/>
                  </a:path>
                </a:pathLst>
              </a:custGeom>
              <a:solidFill>
                <a:srgbClr val="8C8C8C">
                  <a:lumMod val="75000"/>
                </a:srgbClr>
              </a:solidFill>
              <a:ln>
                <a:no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313" name="Freeform 29">
                <a:extLst>
                  <a:ext uri="{FF2B5EF4-FFF2-40B4-BE49-F238E27FC236}">
                    <a16:creationId xmlns:a16="http://schemas.microsoft.com/office/drawing/2014/main" id="{37F76BFA-F4E6-4D3E-A24B-04C2ABA9107E}"/>
                  </a:ext>
                </a:extLst>
              </p:cNvPr>
              <p:cNvSpPr>
                <a:spLocks/>
              </p:cNvSpPr>
              <p:nvPr/>
            </p:nvSpPr>
            <p:spPr bwMode="auto">
              <a:xfrm>
                <a:off x="1223584" y="2633757"/>
                <a:ext cx="342702" cy="188310"/>
              </a:xfrm>
              <a:custGeom>
                <a:avLst/>
                <a:gdLst>
                  <a:gd name="T0" fmla="*/ 84 w 91"/>
                  <a:gd name="T1" fmla="*/ 56 h 60"/>
                  <a:gd name="T2" fmla="*/ 65 w 91"/>
                  <a:gd name="T3" fmla="*/ 56 h 60"/>
                  <a:gd name="T4" fmla="*/ 60 w 91"/>
                  <a:gd name="T5" fmla="*/ 0 h 60"/>
                  <a:gd name="T6" fmla="*/ 55 w 91"/>
                  <a:gd name="T7" fmla="*/ 0 h 60"/>
                  <a:gd name="T8" fmla="*/ 51 w 91"/>
                  <a:gd name="T9" fmla="*/ 0 h 60"/>
                  <a:gd name="T10" fmla="*/ 48 w 91"/>
                  <a:gd name="T11" fmla="*/ 0 h 60"/>
                  <a:gd name="T12" fmla="*/ 61 w 91"/>
                  <a:gd name="T13" fmla="*/ 56 h 60"/>
                  <a:gd name="T14" fmla="*/ 43 w 91"/>
                  <a:gd name="T15" fmla="*/ 56 h 60"/>
                  <a:gd name="T16" fmla="*/ 37 w 91"/>
                  <a:gd name="T17" fmla="*/ 0 h 60"/>
                  <a:gd name="T18" fmla="*/ 32 w 91"/>
                  <a:gd name="T19" fmla="*/ 0 h 60"/>
                  <a:gd name="T20" fmla="*/ 28 w 91"/>
                  <a:gd name="T21" fmla="*/ 0 h 60"/>
                  <a:gd name="T22" fmla="*/ 25 w 91"/>
                  <a:gd name="T23" fmla="*/ 0 h 60"/>
                  <a:gd name="T24" fmla="*/ 39 w 91"/>
                  <a:gd name="T25" fmla="*/ 56 h 60"/>
                  <a:gd name="T26" fmla="*/ 20 w 91"/>
                  <a:gd name="T27" fmla="*/ 56 h 60"/>
                  <a:gd name="T28" fmla="*/ 14 w 91"/>
                  <a:gd name="T29" fmla="*/ 0 h 60"/>
                  <a:gd name="T30" fmla="*/ 9 w 91"/>
                  <a:gd name="T31" fmla="*/ 0 h 60"/>
                  <a:gd name="T32" fmla="*/ 5 w 91"/>
                  <a:gd name="T33" fmla="*/ 0 h 60"/>
                  <a:gd name="T34" fmla="*/ 0 w 91"/>
                  <a:gd name="T35" fmla="*/ 0 h 60"/>
                  <a:gd name="T36" fmla="*/ 8 w 91"/>
                  <a:gd name="T37" fmla="*/ 60 h 60"/>
                  <a:gd name="T38" fmla="*/ 67 w 91"/>
                  <a:gd name="T39" fmla="*/ 60 h 60"/>
                  <a:gd name="T40" fmla="*/ 71 w 91"/>
                  <a:gd name="T41" fmla="*/ 60 h 60"/>
                  <a:gd name="T42" fmla="*/ 91 w 91"/>
                  <a:gd name="T43" fmla="*/ 60 h 60"/>
                  <a:gd name="T44" fmla="*/ 83 w 91"/>
                  <a:gd name="T45" fmla="*/ 0 h 60"/>
                  <a:gd name="T46" fmla="*/ 70 w 91"/>
                  <a:gd name="T47" fmla="*/ 0 h 60"/>
                  <a:gd name="T48" fmla="*/ 84 w 91"/>
                  <a:gd name="T49" fmla="*/ 5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1" h="60">
                    <a:moveTo>
                      <a:pt x="84" y="56"/>
                    </a:moveTo>
                    <a:cubicBezTo>
                      <a:pt x="65" y="56"/>
                      <a:pt x="65" y="56"/>
                      <a:pt x="65" y="56"/>
                    </a:cubicBezTo>
                    <a:cubicBezTo>
                      <a:pt x="65" y="27"/>
                      <a:pt x="62" y="9"/>
                      <a:pt x="60" y="0"/>
                    </a:cubicBezTo>
                    <a:cubicBezTo>
                      <a:pt x="55" y="0"/>
                      <a:pt x="55" y="0"/>
                      <a:pt x="55" y="0"/>
                    </a:cubicBezTo>
                    <a:cubicBezTo>
                      <a:pt x="51" y="0"/>
                      <a:pt x="51" y="0"/>
                      <a:pt x="51" y="0"/>
                    </a:cubicBezTo>
                    <a:cubicBezTo>
                      <a:pt x="48" y="0"/>
                      <a:pt x="48" y="0"/>
                      <a:pt x="48" y="0"/>
                    </a:cubicBezTo>
                    <a:cubicBezTo>
                      <a:pt x="53" y="10"/>
                      <a:pt x="61" y="30"/>
                      <a:pt x="61" y="56"/>
                    </a:cubicBezTo>
                    <a:cubicBezTo>
                      <a:pt x="43" y="56"/>
                      <a:pt x="43" y="56"/>
                      <a:pt x="43" y="56"/>
                    </a:cubicBezTo>
                    <a:cubicBezTo>
                      <a:pt x="43" y="27"/>
                      <a:pt x="39" y="9"/>
                      <a:pt x="37" y="0"/>
                    </a:cubicBezTo>
                    <a:cubicBezTo>
                      <a:pt x="32" y="0"/>
                      <a:pt x="32" y="0"/>
                      <a:pt x="32" y="0"/>
                    </a:cubicBezTo>
                    <a:cubicBezTo>
                      <a:pt x="28" y="0"/>
                      <a:pt x="28" y="0"/>
                      <a:pt x="28" y="0"/>
                    </a:cubicBezTo>
                    <a:cubicBezTo>
                      <a:pt x="25" y="0"/>
                      <a:pt x="25" y="0"/>
                      <a:pt x="25" y="0"/>
                    </a:cubicBezTo>
                    <a:cubicBezTo>
                      <a:pt x="30" y="10"/>
                      <a:pt x="39" y="30"/>
                      <a:pt x="39" y="56"/>
                    </a:cubicBezTo>
                    <a:cubicBezTo>
                      <a:pt x="20" y="56"/>
                      <a:pt x="20" y="56"/>
                      <a:pt x="20" y="56"/>
                    </a:cubicBezTo>
                    <a:cubicBezTo>
                      <a:pt x="20" y="27"/>
                      <a:pt x="17" y="9"/>
                      <a:pt x="14" y="0"/>
                    </a:cubicBezTo>
                    <a:cubicBezTo>
                      <a:pt x="9" y="0"/>
                      <a:pt x="9" y="0"/>
                      <a:pt x="9" y="0"/>
                    </a:cubicBezTo>
                    <a:cubicBezTo>
                      <a:pt x="5" y="0"/>
                      <a:pt x="5" y="0"/>
                      <a:pt x="5" y="0"/>
                    </a:cubicBezTo>
                    <a:cubicBezTo>
                      <a:pt x="0" y="0"/>
                      <a:pt x="0" y="0"/>
                      <a:pt x="0" y="0"/>
                    </a:cubicBezTo>
                    <a:cubicBezTo>
                      <a:pt x="8" y="60"/>
                      <a:pt x="8" y="60"/>
                      <a:pt x="8" y="60"/>
                    </a:cubicBezTo>
                    <a:cubicBezTo>
                      <a:pt x="67" y="60"/>
                      <a:pt x="67" y="60"/>
                      <a:pt x="67" y="60"/>
                    </a:cubicBezTo>
                    <a:cubicBezTo>
                      <a:pt x="71" y="60"/>
                      <a:pt x="71" y="60"/>
                      <a:pt x="71" y="60"/>
                    </a:cubicBezTo>
                    <a:cubicBezTo>
                      <a:pt x="91" y="60"/>
                      <a:pt x="91" y="60"/>
                      <a:pt x="91" y="60"/>
                    </a:cubicBezTo>
                    <a:cubicBezTo>
                      <a:pt x="83" y="0"/>
                      <a:pt x="83" y="0"/>
                      <a:pt x="83" y="0"/>
                    </a:cubicBezTo>
                    <a:cubicBezTo>
                      <a:pt x="70" y="0"/>
                      <a:pt x="70" y="0"/>
                      <a:pt x="70" y="0"/>
                    </a:cubicBezTo>
                    <a:cubicBezTo>
                      <a:pt x="76" y="10"/>
                      <a:pt x="84" y="30"/>
                      <a:pt x="84" y="56"/>
                    </a:cubicBezTo>
                    <a:close/>
                  </a:path>
                </a:pathLst>
              </a:custGeom>
              <a:solidFill>
                <a:srgbClr val="8C8C8C">
                  <a:lumMod val="75000"/>
                </a:srgbClr>
              </a:solidFill>
              <a:ln>
                <a:no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grpSp>
        <p:grpSp>
          <p:nvGrpSpPr>
            <p:cNvPr id="294" name="Group 293">
              <a:extLst>
                <a:ext uri="{FF2B5EF4-FFF2-40B4-BE49-F238E27FC236}">
                  <a16:creationId xmlns:a16="http://schemas.microsoft.com/office/drawing/2014/main" id="{D62EE4E7-0C45-4E76-9851-DBCE3D5B621B}"/>
                </a:ext>
              </a:extLst>
            </p:cNvPr>
            <p:cNvGrpSpPr>
              <a:grpSpLocks noChangeAspect="1"/>
            </p:cNvGrpSpPr>
            <p:nvPr/>
          </p:nvGrpSpPr>
          <p:grpSpPr>
            <a:xfrm>
              <a:off x="1716756" y="2245760"/>
              <a:ext cx="455076" cy="473478"/>
              <a:chOff x="610539" y="3494734"/>
              <a:chExt cx="888821" cy="924761"/>
            </a:xfrm>
            <a:solidFill>
              <a:srgbClr val="8C8C8C">
                <a:lumMod val="75000"/>
              </a:srgbClr>
            </a:solidFill>
          </p:grpSpPr>
          <p:grpSp>
            <p:nvGrpSpPr>
              <p:cNvPr id="305" name="Group 304">
                <a:extLst>
                  <a:ext uri="{FF2B5EF4-FFF2-40B4-BE49-F238E27FC236}">
                    <a16:creationId xmlns:a16="http://schemas.microsoft.com/office/drawing/2014/main" id="{DFB95376-EB22-4BA1-8D4E-245FC35E83DD}"/>
                  </a:ext>
                </a:extLst>
              </p:cNvPr>
              <p:cNvGrpSpPr/>
              <p:nvPr/>
            </p:nvGrpSpPr>
            <p:grpSpPr>
              <a:xfrm>
                <a:off x="902885" y="3494734"/>
                <a:ext cx="596475" cy="924761"/>
                <a:chOff x="9962062" y="2023153"/>
                <a:chExt cx="339328" cy="526086"/>
              </a:xfrm>
              <a:grpFill/>
            </p:grpSpPr>
            <p:sp>
              <p:nvSpPr>
                <p:cNvPr id="309" name="object 127">
                  <a:extLst>
                    <a:ext uri="{FF2B5EF4-FFF2-40B4-BE49-F238E27FC236}">
                      <a16:creationId xmlns:a16="http://schemas.microsoft.com/office/drawing/2014/main" id="{F245D93F-2B38-4696-8D29-3E1FE1D769EA}"/>
                    </a:ext>
                  </a:extLst>
                </p:cNvPr>
                <p:cNvSpPr/>
                <p:nvPr/>
              </p:nvSpPr>
              <p:spPr>
                <a:xfrm>
                  <a:off x="9962062" y="2023153"/>
                  <a:ext cx="339328" cy="315516"/>
                </a:xfrm>
                <a:custGeom>
                  <a:avLst/>
                  <a:gdLst/>
                  <a:ahLst/>
                  <a:cxnLst/>
                  <a:rect l="l" t="t" r="r" b="b"/>
                  <a:pathLst>
                    <a:path w="217169" h="201929">
                      <a:moveTo>
                        <a:pt x="50926" y="126568"/>
                      </a:moveTo>
                      <a:lnTo>
                        <a:pt x="49999" y="126898"/>
                      </a:lnTo>
                      <a:lnTo>
                        <a:pt x="33319" y="147053"/>
                      </a:lnTo>
                      <a:lnTo>
                        <a:pt x="0" y="187134"/>
                      </a:lnTo>
                      <a:lnTo>
                        <a:pt x="8635" y="201333"/>
                      </a:lnTo>
                      <a:lnTo>
                        <a:pt x="9829" y="200621"/>
                      </a:lnTo>
                      <a:lnTo>
                        <a:pt x="88582" y="147053"/>
                      </a:lnTo>
                      <a:lnTo>
                        <a:pt x="89877" y="147015"/>
                      </a:lnTo>
                      <a:lnTo>
                        <a:pt x="118959" y="147015"/>
                      </a:lnTo>
                      <a:lnTo>
                        <a:pt x="123024" y="144894"/>
                      </a:lnTo>
                      <a:lnTo>
                        <a:pt x="123977" y="144106"/>
                      </a:lnTo>
                      <a:lnTo>
                        <a:pt x="124790" y="142468"/>
                      </a:lnTo>
                      <a:lnTo>
                        <a:pt x="158476" y="142468"/>
                      </a:lnTo>
                      <a:lnTo>
                        <a:pt x="150022" y="137591"/>
                      </a:lnTo>
                      <a:lnTo>
                        <a:pt x="74040" y="137591"/>
                      </a:lnTo>
                      <a:lnTo>
                        <a:pt x="64922" y="132994"/>
                      </a:lnTo>
                      <a:lnTo>
                        <a:pt x="58762" y="130416"/>
                      </a:lnTo>
                      <a:lnTo>
                        <a:pt x="50926" y="126568"/>
                      </a:lnTo>
                      <a:close/>
                    </a:path>
                    <a:path w="217169" h="201929">
                      <a:moveTo>
                        <a:pt x="163099" y="145135"/>
                      </a:moveTo>
                      <a:lnTo>
                        <a:pt x="131241" y="145135"/>
                      </a:lnTo>
                      <a:lnTo>
                        <a:pt x="131013" y="155409"/>
                      </a:lnTo>
                      <a:lnTo>
                        <a:pt x="131394" y="162090"/>
                      </a:lnTo>
                      <a:lnTo>
                        <a:pt x="131381" y="170827"/>
                      </a:lnTo>
                      <a:lnTo>
                        <a:pt x="132168" y="171538"/>
                      </a:lnTo>
                      <a:lnTo>
                        <a:pt x="141439" y="173672"/>
                      </a:lnTo>
                      <a:lnTo>
                        <a:pt x="148729" y="175564"/>
                      </a:lnTo>
                      <a:lnTo>
                        <a:pt x="206705" y="189928"/>
                      </a:lnTo>
                      <a:lnTo>
                        <a:pt x="208368" y="189534"/>
                      </a:lnTo>
                      <a:lnTo>
                        <a:pt x="211696" y="184835"/>
                      </a:lnTo>
                      <a:lnTo>
                        <a:pt x="214287" y="180644"/>
                      </a:lnTo>
                      <a:lnTo>
                        <a:pt x="217068" y="176364"/>
                      </a:lnTo>
                      <a:lnTo>
                        <a:pt x="216115" y="175780"/>
                      </a:lnTo>
                      <a:lnTo>
                        <a:pt x="215315" y="175259"/>
                      </a:lnTo>
                      <a:lnTo>
                        <a:pt x="163099" y="145135"/>
                      </a:lnTo>
                      <a:close/>
                    </a:path>
                    <a:path w="217169" h="201929">
                      <a:moveTo>
                        <a:pt x="118959" y="147015"/>
                      </a:moveTo>
                      <a:lnTo>
                        <a:pt x="89877" y="147015"/>
                      </a:lnTo>
                      <a:lnTo>
                        <a:pt x="100076" y="151042"/>
                      </a:lnTo>
                      <a:lnTo>
                        <a:pt x="112111" y="150587"/>
                      </a:lnTo>
                      <a:lnTo>
                        <a:pt x="118959" y="147015"/>
                      </a:lnTo>
                      <a:close/>
                    </a:path>
                    <a:path w="217169" h="201929">
                      <a:moveTo>
                        <a:pt x="158476" y="142468"/>
                      </a:moveTo>
                      <a:lnTo>
                        <a:pt x="124790" y="142468"/>
                      </a:lnTo>
                      <a:lnTo>
                        <a:pt x="128155" y="145237"/>
                      </a:lnTo>
                      <a:lnTo>
                        <a:pt x="131241" y="145135"/>
                      </a:lnTo>
                      <a:lnTo>
                        <a:pt x="163099" y="145135"/>
                      </a:lnTo>
                      <a:lnTo>
                        <a:pt x="158476" y="142468"/>
                      </a:lnTo>
                      <a:close/>
                    </a:path>
                    <a:path w="217169" h="201929">
                      <a:moveTo>
                        <a:pt x="94627" y="0"/>
                      </a:moveTo>
                      <a:lnTo>
                        <a:pt x="94640" y="96583"/>
                      </a:lnTo>
                      <a:lnTo>
                        <a:pt x="94322" y="97574"/>
                      </a:lnTo>
                      <a:lnTo>
                        <a:pt x="82778" y="106445"/>
                      </a:lnTo>
                      <a:lnTo>
                        <a:pt x="77754" y="117297"/>
                      </a:lnTo>
                      <a:lnTo>
                        <a:pt x="77684" y="123443"/>
                      </a:lnTo>
                      <a:lnTo>
                        <a:pt x="77788" y="130416"/>
                      </a:lnTo>
                      <a:lnTo>
                        <a:pt x="78016" y="131419"/>
                      </a:lnTo>
                      <a:lnTo>
                        <a:pt x="78028" y="133324"/>
                      </a:lnTo>
                      <a:lnTo>
                        <a:pt x="75514" y="135051"/>
                      </a:lnTo>
                      <a:lnTo>
                        <a:pt x="74040" y="137591"/>
                      </a:lnTo>
                      <a:lnTo>
                        <a:pt x="150022" y="137591"/>
                      </a:lnTo>
                      <a:lnTo>
                        <a:pt x="145091" y="134746"/>
                      </a:lnTo>
                      <a:lnTo>
                        <a:pt x="111023" y="134746"/>
                      </a:lnTo>
                      <a:lnTo>
                        <a:pt x="98844" y="134531"/>
                      </a:lnTo>
                      <a:lnTo>
                        <a:pt x="93878" y="129527"/>
                      </a:lnTo>
                      <a:lnTo>
                        <a:pt x="93891" y="117297"/>
                      </a:lnTo>
                      <a:lnTo>
                        <a:pt x="98996" y="112229"/>
                      </a:lnTo>
                      <a:lnTo>
                        <a:pt x="131106" y="112229"/>
                      </a:lnTo>
                      <a:lnTo>
                        <a:pt x="124523" y="102158"/>
                      </a:lnTo>
                      <a:lnTo>
                        <a:pt x="118897" y="98272"/>
                      </a:lnTo>
                      <a:lnTo>
                        <a:pt x="111861" y="96227"/>
                      </a:lnTo>
                      <a:lnTo>
                        <a:pt x="111975" y="94373"/>
                      </a:lnTo>
                      <a:lnTo>
                        <a:pt x="111366" y="90589"/>
                      </a:lnTo>
                      <a:lnTo>
                        <a:pt x="112547" y="88823"/>
                      </a:lnTo>
                      <a:lnTo>
                        <a:pt x="120535" y="84454"/>
                      </a:lnTo>
                      <a:lnTo>
                        <a:pt x="125615" y="81064"/>
                      </a:lnTo>
                      <a:lnTo>
                        <a:pt x="132867" y="76987"/>
                      </a:lnTo>
                      <a:lnTo>
                        <a:pt x="133083" y="75933"/>
                      </a:lnTo>
                      <a:lnTo>
                        <a:pt x="130873" y="68986"/>
                      </a:lnTo>
                      <a:lnTo>
                        <a:pt x="129539" y="63944"/>
                      </a:lnTo>
                      <a:lnTo>
                        <a:pt x="111747" y="2362"/>
                      </a:lnTo>
                      <a:lnTo>
                        <a:pt x="100063" y="266"/>
                      </a:lnTo>
                      <a:lnTo>
                        <a:pt x="94627" y="0"/>
                      </a:lnTo>
                      <a:close/>
                    </a:path>
                    <a:path w="217169" h="201929">
                      <a:moveTo>
                        <a:pt x="131106" y="112229"/>
                      </a:moveTo>
                      <a:lnTo>
                        <a:pt x="98996" y="112229"/>
                      </a:lnTo>
                      <a:lnTo>
                        <a:pt x="111264" y="112420"/>
                      </a:lnTo>
                      <a:lnTo>
                        <a:pt x="116065" y="117297"/>
                      </a:lnTo>
                      <a:lnTo>
                        <a:pt x="116090" y="129666"/>
                      </a:lnTo>
                      <a:lnTo>
                        <a:pt x="111023" y="134746"/>
                      </a:lnTo>
                      <a:lnTo>
                        <a:pt x="145091" y="134746"/>
                      </a:lnTo>
                      <a:lnTo>
                        <a:pt x="133578" y="128104"/>
                      </a:lnTo>
                      <a:lnTo>
                        <a:pt x="132664" y="127139"/>
                      </a:lnTo>
                      <a:lnTo>
                        <a:pt x="133349" y="118783"/>
                      </a:lnTo>
                      <a:lnTo>
                        <a:pt x="131762" y="113233"/>
                      </a:lnTo>
                      <a:lnTo>
                        <a:pt x="131106" y="112229"/>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10" name="object 128">
                  <a:extLst>
                    <a:ext uri="{FF2B5EF4-FFF2-40B4-BE49-F238E27FC236}">
                      <a16:creationId xmlns:a16="http://schemas.microsoft.com/office/drawing/2014/main" id="{7B83B622-FCAC-4EC4-9B43-BDF94517C171}"/>
                    </a:ext>
                  </a:extLst>
                </p:cNvPr>
                <p:cNvSpPr/>
                <p:nvPr/>
              </p:nvSpPr>
              <p:spPr>
                <a:xfrm>
                  <a:off x="10090585" y="2270434"/>
                  <a:ext cx="70445" cy="278805"/>
                </a:xfrm>
                <a:custGeom>
                  <a:avLst/>
                  <a:gdLst/>
                  <a:ahLst/>
                  <a:cxnLst/>
                  <a:rect l="l" t="t" r="r" b="b"/>
                  <a:pathLst>
                    <a:path w="45085" h="178435">
                      <a:moveTo>
                        <a:pt x="13690" y="0"/>
                      </a:moveTo>
                      <a:lnTo>
                        <a:pt x="12941" y="825"/>
                      </a:lnTo>
                      <a:lnTo>
                        <a:pt x="12246" y="16155"/>
                      </a:lnTo>
                      <a:lnTo>
                        <a:pt x="11008" y="41525"/>
                      </a:lnTo>
                      <a:lnTo>
                        <a:pt x="9660" y="96743"/>
                      </a:lnTo>
                      <a:lnTo>
                        <a:pt x="9180" y="148497"/>
                      </a:lnTo>
                      <a:lnTo>
                        <a:pt x="0" y="150863"/>
                      </a:lnTo>
                      <a:lnTo>
                        <a:pt x="0" y="178384"/>
                      </a:lnTo>
                      <a:lnTo>
                        <a:pt x="44602" y="178384"/>
                      </a:lnTo>
                      <a:lnTo>
                        <a:pt x="44602" y="150863"/>
                      </a:lnTo>
                      <a:lnTo>
                        <a:pt x="40322" y="150863"/>
                      </a:lnTo>
                      <a:lnTo>
                        <a:pt x="38658" y="145662"/>
                      </a:lnTo>
                      <a:lnTo>
                        <a:pt x="37519" y="132485"/>
                      </a:lnTo>
                      <a:lnTo>
                        <a:pt x="36797" y="114966"/>
                      </a:lnTo>
                      <a:lnTo>
                        <a:pt x="36388" y="96743"/>
                      </a:lnTo>
                      <a:lnTo>
                        <a:pt x="36075" y="72725"/>
                      </a:lnTo>
                      <a:lnTo>
                        <a:pt x="34203" y="34510"/>
                      </a:lnTo>
                      <a:lnTo>
                        <a:pt x="33197" y="14414"/>
                      </a:lnTo>
                      <a:lnTo>
                        <a:pt x="32753" y="7480"/>
                      </a:lnTo>
                      <a:lnTo>
                        <a:pt x="32341" y="292"/>
                      </a:lnTo>
                      <a:lnTo>
                        <a:pt x="21602" y="292"/>
                      </a:lnTo>
                      <a:lnTo>
                        <a:pt x="13690" y="0"/>
                      </a:lnTo>
                      <a:close/>
                    </a:path>
                    <a:path w="45085" h="178435">
                      <a:moveTo>
                        <a:pt x="32334" y="165"/>
                      </a:moveTo>
                      <a:lnTo>
                        <a:pt x="21602" y="292"/>
                      </a:lnTo>
                      <a:lnTo>
                        <a:pt x="32341" y="292"/>
                      </a:lnTo>
                      <a:close/>
                    </a:path>
                  </a:pathLst>
                </a:custGeom>
                <a:grpFill/>
              </p:spPr>
              <p:txBody>
                <a:bodyPr wrap="square" lIns="0" tIns="0" rIns="0" bIns="0" rtlCol="0"/>
                <a:lstStyle/>
                <a:p>
                  <a:pPr defTabSz="914403">
                    <a:defRPr/>
                  </a:pPr>
                  <a:endParaRPr sz="1799" kern="0">
                    <a:solidFill>
                      <a:prstClr val="white"/>
                    </a:solidFill>
                    <a:latin typeface="+mj-lt"/>
                  </a:endParaRPr>
                </a:p>
              </p:txBody>
            </p:sp>
          </p:grpSp>
          <p:grpSp>
            <p:nvGrpSpPr>
              <p:cNvPr id="306" name="Group 305">
                <a:extLst>
                  <a:ext uri="{FF2B5EF4-FFF2-40B4-BE49-F238E27FC236}">
                    <a16:creationId xmlns:a16="http://schemas.microsoft.com/office/drawing/2014/main" id="{687B6B83-6E33-4041-8C03-B5578B7A2A9B}"/>
                  </a:ext>
                </a:extLst>
              </p:cNvPr>
              <p:cNvGrpSpPr/>
              <p:nvPr/>
            </p:nvGrpSpPr>
            <p:grpSpPr>
              <a:xfrm>
                <a:off x="610539" y="3834672"/>
                <a:ext cx="376720" cy="584823"/>
                <a:chOff x="10249790" y="2217153"/>
                <a:chExt cx="214312" cy="332699"/>
              </a:xfrm>
              <a:grpFill/>
            </p:grpSpPr>
            <p:sp>
              <p:nvSpPr>
                <p:cNvPr id="307" name="object 129">
                  <a:extLst>
                    <a:ext uri="{FF2B5EF4-FFF2-40B4-BE49-F238E27FC236}">
                      <a16:creationId xmlns:a16="http://schemas.microsoft.com/office/drawing/2014/main" id="{49D847B8-07D1-4CAF-90D5-612DF732594C}"/>
                    </a:ext>
                  </a:extLst>
                </p:cNvPr>
                <p:cNvSpPr/>
                <p:nvPr/>
              </p:nvSpPr>
              <p:spPr>
                <a:xfrm>
                  <a:off x="10249790" y="2217153"/>
                  <a:ext cx="214312" cy="199430"/>
                </a:xfrm>
                <a:custGeom>
                  <a:avLst/>
                  <a:gdLst/>
                  <a:ahLst/>
                  <a:cxnLst/>
                  <a:rect l="l" t="t" r="r" b="b"/>
                  <a:pathLst>
                    <a:path w="137160" h="127635">
                      <a:moveTo>
                        <a:pt x="32143" y="79882"/>
                      </a:moveTo>
                      <a:lnTo>
                        <a:pt x="31559" y="80086"/>
                      </a:lnTo>
                      <a:lnTo>
                        <a:pt x="21034" y="92811"/>
                      </a:lnTo>
                      <a:lnTo>
                        <a:pt x="0" y="118122"/>
                      </a:lnTo>
                      <a:lnTo>
                        <a:pt x="5448" y="127076"/>
                      </a:lnTo>
                      <a:lnTo>
                        <a:pt x="6197" y="126631"/>
                      </a:lnTo>
                      <a:lnTo>
                        <a:pt x="55905" y="92811"/>
                      </a:lnTo>
                      <a:lnTo>
                        <a:pt x="56730" y="92786"/>
                      </a:lnTo>
                      <a:lnTo>
                        <a:pt x="76065" y="92786"/>
                      </a:lnTo>
                      <a:lnTo>
                        <a:pt x="78244" y="90957"/>
                      </a:lnTo>
                      <a:lnTo>
                        <a:pt x="78765" y="89928"/>
                      </a:lnTo>
                      <a:lnTo>
                        <a:pt x="100042" y="89928"/>
                      </a:lnTo>
                      <a:lnTo>
                        <a:pt x="94693" y="86842"/>
                      </a:lnTo>
                      <a:lnTo>
                        <a:pt x="46736" y="86842"/>
                      </a:lnTo>
                      <a:lnTo>
                        <a:pt x="40982" y="83934"/>
                      </a:lnTo>
                      <a:lnTo>
                        <a:pt x="37084" y="82321"/>
                      </a:lnTo>
                      <a:lnTo>
                        <a:pt x="32143" y="79882"/>
                      </a:lnTo>
                      <a:close/>
                    </a:path>
                    <a:path w="137160" h="127635">
                      <a:moveTo>
                        <a:pt x="102948" y="91605"/>
                      </a:moveTo>
                      <a:lnTo>
                        <a:pt x="82842" y="91605"/>
                      </a:lnTo>
                      <a:lnTo>
                        <a:pt x="82702" y="98082"/>
                      </a:lnTo>
                      <a:lnTo>
                        <a:pt x="82931" y="102311"/>
                      </a:lnTo>
                      <a:lnTo>
                        <a:pt x="83042" y="107923"/>
                      </a:lnTo>
                      <a:lnTo>
                        <a:pt x="83426" y="108267"/>
                      </a:lnTo>
                      <a:lnTo>
                        <a:pt x="89281" y="109613"/>
                      </a:lnTo>
                      <a:lnTo>
                        <a:pt x="93878" y="110807"/>
                      </a:lnTo>
                      <a:lnTo>
                        <a:pt x="130467" y="119887"/>
                      </a:lnTo>
                      <a:lnTo>
                        <a:pt x="131521" y="119633"/>
                      </a:lnTo>
                      <a:lnTo>
                        <a:pt x="133629" y="116662"/>
                      </a:lnTo>
                      <a:lnTo>
                        <a:pt x="135255" y="114020"/>
                      </a:lnTo>
                      <a:lnTo>
                        <a:pt x="137007" y="111315"/>
                      </a:lnTo>
                      <a:lnTo>
                        <a:pt x="135902" y="110616"/>
                      </a:lnTo>
                      <a:lnTo>
                        <a:pt x="102948" y="91605"/>
                      </a:lnTo>
                      <a:close/>
                    </a:path>
                    <a:path w="137160" h="127635">
                      <a:moveTo>
                        <a:pt x="76065" y="92786"/>
                      </a:moveTo>
                      <a:lnTo>
                        <a:pt x="56730" y="92786"/>
                      </a:lnTo>
                      <a:lnTo>
                        <a:pt x="64389" y="96977"/>
                      </a:lnTo>
                      <a:lnTo>
                        <a:pt x="72085" y="96126"/>
                      </a:lnTo>
                      <a:lnTo>
                        <a:pt x="76065" y="92786"/>
                      </a:lnTo>
                      <a:close/>
                    </a:path>
                    <a:path w="137160" h="127635">
                      <a:moveTo>
                        <a:pt x="100042" y="89928"/>
                      </a:moveTo>
                      <a:lnTo>
                        <a:pt x="78765" y="89928"/>
                      </a:lnTo>
                      <a:lnTo>
                        <a:pt x="80899" y="91668"/>
                      </a:lnTo>
                      <a:lnTo>
                        <a:pt x="82842" y="91605"/>
                      </a:lnTo>
                      <a:lnTo>
                        <a:pt x="102948" y="91605"/>
                      </a:lnTo>
                      <a:lnTo>
                        <a:pt x="100042" y="89928"/>
                      </a:lnTo>
                      <a:close/>
                    </a:path>
                    <a:path w="137160" h="127635">
                      <a:moveTo>
                        <a:pt x="59728" y="0"/>
                      </a:moveTo>
                      <a:lnTo>
                        <a:pt x="59740" y="60959"/>
                      </a:lnTo>
                      <a:lnTo>
                        <a:pt x="59537" y="61582"/>
                      </a:lnTo>
                      <a:lnTo>
                        <a:pt x="50914" y="65874"/>
                      </a:lnTo>
                      <a:lnTo>
                        <a:pt x="47180" y="74066"/>
                      </a:lnTo>
                      <a:lnTo>
                        <a:pt x="49250" y="82943"/>
                      </a:lnTo>
                      <a:lnTo>
                        <a:pt x="49250" y="84150"/>
                      </a:lnTo>
                      <a:lnTo>
                        <a:pt x="47663" y="85242"/>
                      </a:lnTo>
                      <a:lnTo>
                        <a:pt x="46736" y="86842"/>
                      </a:lnTo>
                      <a:lnTo>
                        <a:pt x="94693" y="86842"/>
                      </a:lnTo>
                      <a:lnTo>
                        <a:pt x="91589" y="85051"/>
                      </a:lnTo>
                      <a:lnTo>
                        <a:pt x="70078" y="85051"/>
                      </a:lnTo>
                      <a:lnTo>
                        <a:pt x="62382" y="84912"/>
                      </a:lnTo>
                      <a:lnTo>
                        <a:pt x="59358" y="81851"/>
                      </a:lnTo>
                      <a:lnTo>
                        <a:pt x="59271" y="74028"/>
                      </a:lnTo>
                      <a:lnTo>
                        <a:pt x="62484" y="70840"/>
                      </a:lnTo>
                      <a:lnTo>
                        <a:pt x="82760" y="70840"/>
                      </a:lnTo>
                      <a:lnTo>
                        <a:pt x="78587" y="64477"/>
                      </a:lnTo>
                      <a:lnTo>
                        <a:pt x="75057" y="62026"/>
                      </a:lnTo>
                      <a:lnTo>
                        <a:pt x="70599" y="60744"/>
                      </a:lnTo>
                      <a:lnTo>
                        <a:pt x="70586" y="59042"/>
                      </a:lnTo>
                      <a:lnTo>
                        <a:pt x="70294" y="57175"/>
                      </a:lnTo>
                      <a:lnTo>
                        <a:pt x="71043" y="56070"/>
                      </a:lnTo>
                      <a:lnTo>
                        <a:pt x="76085" y="53301"/>
                      </a:lnTo>
                      <a:lnTo>
                        <a:pt x="79286" y="51155"/>
                      </a:lnTo>
                      <a:lnTo>
                        <a:pt x="83870" y="48590"/>
                      </a:lnTo>
                      <a:lnTo>
                        <a:pt x="83997" y="47929"/>
                      </a:lnTo>
                      <a:lnTo>
                        <a:pt x="82600" y="43535"/>
                      </a:lnTo>
                      <a:lnTo>
                        <a:pt x="81762" y="40360"/>
                      </a:lnTo>
                      <a:lnTo>
                        <a:pt x="70523" y="1498"/>
                      </a:lnTo>
                      <a:lnTo>
                        <a:pt x="63157" y="165"/>
                      </a:lnTo>
                      <a:lnTo>
                        <a:pt x="59728" y="0"/>
                      </a:lnTo>
                      <a:close/>
                    </a:path>
                    <a:path w="137160" h="127635">
                      <a:moveTo>
                        <a:pt x="82760" y="70840"/>
                      </a:moveTo>
                      <a:lnTo>
                        <a:pt x="62484" y="70840"/>
                      </a:lnTo>
                      <a:lnTo>
                        <a:pt x="70231" y="70954"/>
                      </a:lnTo>
                      <a:lnTo>
                        <a:pt x="73253" y="74028"/>
                      </a:lnTo>
                      <a:lnTo>
                        <a:pt x="73279" y="81851"/>
                      </a:lnTo>
                      <a:lnTo>
                        <a:pt x="70078" y="85051"/>
                      </a:lnTo>
                      <a:lnTo>
                        <a:pt x="91589" y="85051"/>
                      </a:lnTo>
                      <a:lnTo>
                        <a:pt x="84302" y="80848"/>
                      </a:lnTo>
                      <a:lnTo>
                        <a:pt x="83731" y="80238"/>
                      </a:lnTo>
                      <a:lnTo>
                        <a:pt x="84162" y="74980"/>
                      </a:lnTo>
                      <a:lnTo>
                        <a:pt x="83172" y="71462"/>
                      </a:lnTo>
                      <a:lnTo>
                        <a:pt x="82760" y="7084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08" name="object 130">
                  <a:extLst>
                    <a:ext uri="{FF2B5EF4-FFF2-40B4-BE49-F238E27FC236}">
                      <a16:creationId xmlns:a16="http://schemas.microsoft.com/office/drawing/2014/main" id="{AC8185E4-CC8A-439A-8B7A-49C22D98A4AC}"/>
                    </a:ext>
                  </a:extLst>
                </p:cNvPr>
                <p:cNvSpPr/>
                <p:nvPr/>
              </p:nvSpPr>
              <p:spPr>
                <a:xfrm>
                  <a:off x="10330927" y="2373243"/>
                  <a:ext cx="44648" cy="176609"/>
                </a:xfrm>
                <a:custGeom>
                  <a:avLst/>
                  <a:gdLst/>
                  <a:ahLst/>
                  <a:cxnLst/>
                  <a:rect l="l" t="t" r="r" b="b"/>
                  <a:pathLst>
                    <a:path w="28575" h="113029">
                      <a:moveTo>
                        <a:pt x="8623" y="0"/>
                      </a:moveTo>
                      <a:lnTo>
                        <a:pt x="8153" y="508"/>
                      </a:lnTo>
                      <a:lnTo>
                        <a:pt x="7490" y="15025"/>
                      </a:lnTo>
                      <a:lnTo>
                        <a:pt x="6228" y="40239"/>
                      </a:lnTo>
                      <a:lnTo>
                        <a:pt x="5778" y="93846"/>
                      </a:lnTo>
                      <a:lnTo>
                        <a:pt x="0" y="95211"/>
                      </a:lnTo>
                      <a:lnTo>
                        <a:pt x="0" y="112585"/>
                      </a:lnTo>
                      <a:lnTo>
                        <a:pt x="28143" y="112585"/>
                      </a:lnTo>
                      <a:lnTo>
                        <a:pt x="28143" y="95211"/>
                      </a:lnTo>
                      <a:lnTo>
                        <a:pt x="25450" y="95211"/>
                      </a:lnTo>
                      <a:lnTo>
                        <a:pt x="23936" y="87531"/>
                      </a:lnTo>
                      <a:lnTo>
                        <a:pt x="23159" y="70577"/>
                      </a:lnTo>
                      <a:lnTo>
                        <a:pt x="22849" y="53482"/>
                      </a:lnTo>
                      <a:lnTo>
                        <a:pt x="22283" y="37878"/>
                      </a:lnTo>
                      <a:lnTo>
                        <a:pt x="21756" y="25567"/>
                      </a:lnTo>
                      <a:lnTo>
                        <a:pt x="20942" y="9080"/>
                      </a:lnTo>
                      <a:lnTo>
                        <a:pt x="20400" y="177"/>
                      </a:lnTo>
                      <a:lnTo>
                        <a:pt x="13627" y="177"/>
                      </a:lnTo>
                      <a:lnTo>
                        <a:pt x="8623" y="0"/>
                      </a:lnTo>
                      <a:close/>
                    </a:path>
                    <a:path w="28575" h="113029">
                      <a:moveTo>
                        <a:pt x="20396" y="101"/>
                      </a:moveTo>
                      <a:lnTo>
                        <a:pt x="13627" y="177"/>
                      </a:lnTo>
                      <a:lnTo>
                        <a:pt x="20400" y="177"/>
                      </a:lnTo>
                      <a:close/>
                    </a:path>
                  </a:pathLst>
                </a:custGeom>
                <a:grpFill/>
              </p:spPr>
              <p:txBody>
                <a:bodyPr wrap="square" lIns="0" tIns="0" rIns="0" bIns="0" rtlCol="0"/>
                <a:lstStyle/>
                <a:p>
                  <a:pPr defTabSz="914403">
                    <a:defRPr/>
                  </a:pPr>
                  <a:endParaRPr sz="1799" kern="0">
                    <a:solidFill>
                      <a:prstClr val="white"/>
                    </a:solidFill>
                    <a:latin typeface="+mj-lt"/>
                  </a:endParaRPr>
                </a:p>
              </p:txBody>
            </p:sp>
          </p:grpSp>
        </p:grpSp>
        <p:grpSp>
          <p:nvGrpSpPr>
            <p:cNvPr id="295" name="Group 294">
              <a:extLst>
                <a:ext uri="{FF2B5EF4-FFF2-40B4-BE49-F238E27FC236}">
                  <a16:creationId xmlns:a16="http://schemas.microsoft.com/office/drawing/2014/main" id="{8F7C3034-EB06-4339-B363-3F9E51BC101D}"/>
                </a:ext>
              </a:extLst>
            </p:cNvPr>
            <p:cNvGrpSpPr/>
            <p:nvPr/>
          </p:nvGrpSpPr>
          <p:grpSpPr>
            <a:xfrm>
              <a:off x="2720210" y="2412440"/>
              <a:ext cx="283766" cy="310485"/>
              <a:chOff x="2131557" y="3941199"/>
              <a:chExt cx="443385" cy="485133"/>
            </a:xfrm>
            <a:solidFill>
              <a:srgbClr val="8C8C8C">
                <a:lumMod val="75000"/>
              </a:srgbClr>
            </a:solidFill>
          </p:grpSpPr>
          <p:sp>
            <p:nvSpPr>
              <p:cNvPr id="296" name="object 134">
                <a:extLst>
                  <a:ext uri="{FF2B5EF4-FFF2-40B4-BE49-F238E27FC236}">
                    <a16:creationId xmlns:a16="http://schemas.microsoft.com/office/drawing/2014/main" id="{E1150DBE-450E-4A07-AE8A-21AEDEC329D4}"/>
                  </a:ext>
                </a:extLst>
              </p:cNvPr>
              <p:cNvSpPr/>
              <p:nvPr/>
            </p:nvSpPr>
            <p:spPr>
              <a:xfrm>
                <a:off x="2131557" y="4119709"/>
                <a:ext cx="443385" cy="238748"/>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297" name="object 135">
                <a:extLst>
                  <a:ext uri="{FF2B5EF4-FFF2-40B4-BE49-F238E27FC236}">
                    <a16:creationId xmlns:a16="http://schemas.microsoft.com/office/drawing/2014/main" id="{0CA21821-45E5-4B67-9D1D-8EF32FAA0366}"/>
                  </a:ext>
                </a:extLst>
              </p:cNvPr>
              <p:cNvSpPr/>
              <p:nvPr/>
            </p:nvSpPr>
            <p:spPr>
              <a:xfrm>
                <a:off x="2267529" y="4375172"/>
                <a:ext cx="170533" cy="51160"/>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298" name="object 136">
                <a:extLst>
                  <a:ext uri="{FF2B5EF4-FFF2-40B4-BE49-F238E27FC236}">
                    <a16:creationId xmlns:a16="http://schemas.microsoft.com/office/drawing/2014/main" id="{718FF9C0-DA14-4404-AFAE-C75EE327E663}"/>
                  </a:ext>
                </a:extLst>
              </p:cNvPr>
              <p:cNvSpPr>
                <a:spLocks noChangeAspect="1"/>
              </p:cNvSpPr>
              <p:nvPr/>
            </p:nvSpPr>
            <p:spPr>
              <a:xfrm>
                <a:off x="2213785" y="3941199"/>
                <a:ext cx="277114" cy="166272"/>
              </a:xfrm>
              <a:custGeom>
                <a:avLst/>
                <a:gdLst/>
                <a:ahLst/>
                <a:cxnLst/>
                <a:rect l="l" t="t" r="r" b="b"/>
                <a:pathLst>
                  <a:path w="82550" h="49529">
                    <a:moveTo>
                      <a:pt x="67477" y="20414"/>
                    </a:moveTo>
                    <a:lnTo>
                      <a:pt x="43105" y="20414"/>
                    </a:lnTo>
                    <a:lnTo>
                      <a:pt x="55363" y="25656"/>
                    </a:lnTo>
                    <a:lnTo>
                      <a:pt x="61798" y="35798"/>
                    </a:lnTo>
                    <a:lnTo>
                      <a:pt x="61417" y="48386"/>
                    </a:lnTo>
                    <a:lnTo>
                      <a:pt x="65379" y="48640"/>
                    </a:lnTo>
                    <a:lnTo>
                      <a:pt x="69265" y="49060"/>
                    </a:lnTo>
                    <a:lnTo>
                      <a:pt x="72948" y="45821"/>
                    </a:lnTo>
                    <a:lnTo>
                      <a:pt x="73545" y="45618"/>
                    </a:lnTo>
                    <a:lnTo>
                      <a:pt x="82550" y="41541"/>
                    </a:lnTo>
                    <a:lnTo>
                      <a:pt x="81876" y="41274"/>
                    </a:lnTo>
                    <a:lnTo>
                      <a:pt x="81330" y="41084"/>
                    </a:lnTo>
                    <a:lnTo>
                      <a:pt x="77330" y="39281"/>
                    </a:lnTo>
                    <a:lnTo>
                      <a:pt x="73787" y="37845"/>
                    </a:lnTo>
                    <a:lnTo>
                      <a:pt x="67106" y="34289"/>
                    </a:lnTo>
                    <a:lnTo>
                      <a:pt x="65138" y="31508"/>
                    </a:lnTo>
                    <a:lnTo>
                      <a:pt x="66433" y="24637"/>
                    </a:lnTo>
                    <a:lnTo>
                      <a:pt x="67081" y="21767"/>
                    </a:lnTo>
                    <a:lnTo>
                      <a:pt x="67477" y="20414"/>
                    </a:lnTo>
                    <a:close/>
                  </a:path>
                  <a:path w="82550" h="49529">
                    <a:moveTo>
                      <a:pt x="11760" y="12191"/>
                    </a:moveTo>
                    <a:lnTo>
                      <a:pt x="12357" y="13563"/>
                    </a:lnTo>
                    <a:lnTo>
                      <a:pt x="14439" y="18999"/>
                    </a:lnTo>
                    <a:lnTo>
                      <a:pt x="16535" y="23812"/>
                    </a:lnTo>
                    <a:lnTo>
                      <a:pt x="17030" y="31191"/>
                    </a:lnTo>
                    <a:lnTo>
                      <a:pt x="16408" y="32880"/>
                    </a:lnTo>
                    <a:lnTo>
                      <a:pt x="12890" y="35255"/>
                    </a:lnTo>
                    <a:lnTo>
                      <a:pt x="11112" y="36537"/>
                    </a:lnTo>
                    <a:lnTo>
                      <a:pt x="6197" y="38950"/>
                    </a:lnTo>
                    <a:lnTo>
                      <a:pt x="3073" y="40157"/>
                    </a:lnTo>
                    <a:lnTo>
                      <a:pt x="0" y="41478"/>
                    </a:lnTo>
                    <a:lnTo>
                      <a:pt x="241" y="41770"/>
                    </a:lnTo>
                    <a:lnTo>
                      <a:pt x="13741" y="48183"/>
                    </a:lnTo>
                    <a:lnTo>
                      <a:pt x="14401" y="48475"/>
                    </a:lnTo>
                    <a:lnTo>
                      <a:pt x="18808" y="48488"/>
                    </a:lnTo>
                    <a:lnTo>
                      <a:pt x="22279" y="31940"/>
                    </a:lnTo>
                    <a:lnTo>
                      <a:pt x="31873" y="22276"/>
                    </a:lnTo>
                    <a:lnTo>
                      <a:pt x="43105" y="20414"/>
                    </a:lnTo>
                    <a:lnTo>
                      <a:pt x="67477" y="20414"/>
                    </a:lnTo>
                    <a:lnTo>
                      <a:pt x="68134" y="18173"/>
                    </a:lnTo>
                    <a:lnTo>
                      <a:pt x="54102" y="18173"/>
                    </a:lnTo>
                    <a:lnTo>
                      <a:pt x="51274" y="17513"/>
                    </a:lnTo>
                    <a:lnTo>
                      <a:pt x="30365" y="17513"/>
                    </a:lnTo>
                    <a:lnTo>
                      <a:pt x="22860" y="16776"/>
                    </a:lnTo>
                    <a:lnTo>
                      <a:pt x="17929" y="14592"/>
                    </a:lnTo>
                    <a:lnTo>
                      <a:pt x="13322" y="12776"/>
                    </a:lnTo>
                    <a:lnTo>
                      <a:pt x="11760" y="12191"/>
                    </a:lnTo>
                    <a:close/>
                  </a:path>
                  <a:path w="82550" h="49529">
                    <a:moveTo>
                      <a:pt x="70472" y="12204"/>
                    </a:moveTo>
                    <a:lnTo>
                      <a:pt x="69456" y="12687"/>
                    </a:lnTo>
                    <a:lnTo>
                      <a:pt x="65087" y="14325"/>
                    </a:lnTo>
                    <a:lnTo>
                      <a:pt x="61175" y="15963"/>
                    </a:lnTo>
                    <a:lnTo>
                      <a:pt x="54102" y="18173"/>
                    </a:lnTo>
                    <a:lnTo>
                      <a:pt x="68134" y="18173"/>
                    </a:lnTo>
                    <a:lnTo>
                      <a:pt x="68554" y="16738"/>
                    </a:lnTo>
                    <a:lnTo>
                      <a:pt x="69550" y="14592"/>
                    </a:lnTo>
                    <a:lnTo>
                      <a:pt x="70472" y="12204"/>
                    </a:lnTo>
                    <a:close/>
                  </a:path>
                  <a:path w="82550" h="49529">
                    <a:moveTo>
                      <a:pt x="41173" y="0"/>
                    </a:moveTo>
                    <a:lnTo>
                      <a:pt x="40843" y="800"/>
                    </a:lnTo>
                    <a:lnTo>
                      <a:pt x="40652" y="1320"/>
                    </a:lnTo>
                    <a:lnTo>
                      <a:pt x="38481" y="6438"/>
                    </a:lnTo>
                    <a:lnTo>
                      <a:pt x="36753" y="11150"/>
                    </a:lnTo>
                    <a:lnTo>
                      <a:pt x="32092" y="16840"/>
                    </a:lnTo>
                    <a:lnTo>
                      <a:pt x="30365" y="17513"/>
                    </a:lnTo>
                    <a:lnTo>
                      <a:pt x="51274" y="17513"/>
                    </a:lnTo>
                    <a:lnTo>
                      <a:pt x="45948" y="9143"/>
                    </a:lnTo>
                    <a:lnTo>
                      <a:pt x="43205" y="4381"/>
                    </a:lnTo>
                    <a:lnTo>
                      <a:pt x="42303" y="2298"/>
                    </a:lnTo>
                    <a:lnTo>
                      <a:pt x="41173"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299" name="object 137">
                <a:extLst>
                  <a:ext uri="{FF2B5EF4-FFF2-40B4-BE49-F238E27FC236}">
                    <a16:creationId xmlns:a16="http://schemas.microsoft.com/office/drawing/2014/main" id="{988E2BCA-A972-4727-8CC2-AB9443D510A1}"/>
                  </a:ext>
                </a:extLst>
              </p:cNvPr>
              <p:cNvSpPr/>
              <p:nvPr/>
            </p:nvSpPr>
            <p:spPr>
              <a:xfrm>
                <a:off x="2316342" y="4238622"/>
                <a:ext cx="72864" cy="51160"/>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00" name="object 138">
                <a:extLst>
                  <a:ext uri="{FF2B5EF4-FFF2-40B4-BE49-F238E27FC236}">
                    <a16:creationId xmlns:a16="http://schemas.microsoft.com/office/drawing/2014/main" id="{5C0D11EB-6C22-4F0D-8882-DB0F1D68AB34}"/>
                  </a:ext>
                </a:extLst>
              </p:cNvPr>
              <p:cNvSpPr/>
              <p:nvPr/>
            </p:nvSpPr>
            <p:spPr>
              <a:xfrm>
                <a:off x="2418881" y="4238544"/>
                <a:ext cx="79063" cy="52710"/>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01" name="object 139">
                <a:extLst>
                  <a:ext uri="{FF2B5EF4-FFF2-40B4-BE49-F238E27FC236}">
                    <a16:creationId xmlns:a16="http://schemas.microsoft.com/office/drawing/2014/main" id="{BEB9DC46-0CBE-4455-8B12-68CCE034E26B}"/>
                  </a:ext>
                </a:extLst>
              </p:cNvPr>
              <p:cNvSpPr/>
              <p:nvPr/>
            </p:nvSpPr>
            <p:spPr>
              <a:xfrm>
                <a:off x="2207888" y="4238569"/>
                <a:ext cx="79063" cy="51160"/>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02" name="object 140">
                <a:extLst>
                  <a:ext uri="{FF2B5EF4-FFF2-40B4-BE49-F238E27FC236}">
                    <a16:creationId xmlns:a16="http://schemas.microsoft.com/office/drawing/2014/main" id="{2CFF747B-FB8E-486A-885C-41B64BA7ECBD}"/>
                  </a:ext>
                </a:extLst>
              </p:cNvPr>
              <p:cNvSpPr/>
              <p:nvPr/>
            </p:nvSpPr>
            <p:spPr>
              <a:xfrm>
                <a:off x="2410200" y="4170953"/>
                <a:ext cx="68213" cy="41858"/>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03" name="object 142">
                <a:extLst>
                  <a:ext uri="{FF2B5EF4-FFF2-40B4-BE49-F238E27FC236}">
                    <a16:creationId xmlns:a16="http://schemas.microsoft.com/office/drawing/2014/main" id="{D7A2B4D2-E5A9-4C70-B75C-545B33504D80}"/>
                  </a:ext>
                </a:extLst>
              </p:cNvPr>
              <p:cNvSpPr/>
              <p:nvPr/>
            </p:nvSpPr>
            <p:spPr>
              <a:xfrm>
                <a:off x="2227668" y="4170929"/>
                <a:ext cx="68213" cy="41858"/>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04" name="object 137">
                <a:extLst>
                  <a:ext uri="{FF2B5EF4-FFF2-40B4-BE49-F238E27FC236}">
                    <a16:creationId xmlns:a16="http://schemas.microsoft.com/office/drawing/2014/main" id="{EDF318CE-16FB-4FFF-B9B6-BF6A4A1D3F78}"/>
                  </a:ext>
                </a:extLst>
              </p:cNvPr>
              <p:cNvSpPr/>
              <p:nvPr/>
            </p:nvSpPr>
            <p:spPr>
              <a:xfrm>
                <a:off x="2316339" y="4169018"/>
                <a:ext cx="72864" cy="42863"/>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defTabSz="914403">
                  <a:defRPr/>
                </a:pPr>
                <a:endParaRPr sz="1799" kern="0">
                  <a:solidFill>
                    <a:prstClr val="white"/>
                  </a:solidFill>
                  <a:latin typeface="+mj-lt"/>
                </a:endParaRPr>
              </a:p>
            </p:txBody>
          </p:sp>
        </p:grpSp>
      </p:grpSp>
      <p:sp>
        <p:nvSpPr>
          <p:cNvPr id="319" name="object 107">
            <a:extLst>
              <a:ext uri="{FF2B5EF4-FFF2-40B4-BE49-F238E27FC236}">
                <a16:creationId xmlns:a16="http://schemas.microsoft.com/office/drawing/2014/main" id="{F552F623-4733-4D0E-BF4A-71C9DB779DB8}"/>
              </a:ext>
            </a:extLst>
          </p:cNvPr>
          <p:cNvSpPr txBox="1"/>
          <p:nvPr/>
        </p:nvSpPr>
        <p:spPr>
          <a:xfrm>
            <a:off x="7148452" y="1668676"/>
            <a:ext cx="1010419" cy="146939"/>
          </a:xfrm>
          <a:prstGeom prst="rect">
            <a:avLst/>
          </a:prstGeom>
          <a:noFill/>
        </p:spPr>
        <p:txBody>
          <a:bodyPr vert="horz" wrap="square" lIns="0" tIns="0" rIns="0" bIns="0" rtlCol="0">
            <a:noAutofit/>
          </a:bodyPr>
          <a:lstStyle/>
          <a:p>
            <a:pPr marL="12701" marR="5080" defTabSz="914403">
              <a:lnSpc>
                <a:spcPct val="102800"/>
              </a:lnSpc>
              <a:defRPr/>
            </a:pPr>
            <a:r>
              <a:rPr sz="801" kern="0" spc="-10" dirty="0">
                <a:solidFill>
                  <a:srgbClr val="8C8C8C">
                    <a:lumMod val="75000"/>
                  </a:srgbClr>
                </a:solidFill>
                <a:latin typeface="+mj-lt"/>
                <a:cs typeface="Trebuchet MS"/>
              </a:rPr>
              <a:t>Residential </a:t>
            </a:r>
            <a:r>
              <a:rPr sz="801" kern="0" spc="6" dirty="0">
                <a:solidFill>
                  <a:srgbClr val="8C8C8C">
                    <a:lumMod val="75000"/>
                  </a:srgbClr>
                </a:solidFill>
                <a:latin typeface="+mj-lt"/>
                <a:cs typeface="Trebuchet MS"/>
              </a:rPr>
              <a:t>consumers</a:t>
            </a:r>
            <a:endParaRPr sz="801" kern="0" dirty="0">
              <a:solidFill>
                <a:srgbClr val="8C8C8C">
                  <a:lumMod val="75000"/>
                </a:srgbClr>
              </a:solidFill>
              <a:latin typeface="+mj-lt"/>
              <a:cs typeface="Trebuchet MS"/>
            </a:endParaRPr>
          </a:p>
        </p:txBody>
      </p:sp>
      <p:grpSp>
        <p:nvGrpSpPr>
          <p:cNvPr id="11" name="Group 10">
            <a:extLst>
              <a:ext uri="{FF2B5EF4-FFF2-40B4-BE49-F238E27FC236}">
                <a16:creationId xmlns:a16="http://schemas.microsoft.com/office/drawing/2014/main" id="{0EBC5017-AD63-4B6C-8D43-CB5591322385}"/>
              </a:ext>
            </a:extLst>
          </p:cNvPr>
          <p:cNvGrpSpPr/>
          <p:nvPr/>
        </p:nvGrpSpPr>
        <p:grpSpPr>
          <a:xfrm>
            <a:off x="5551093" y="1463650"/>
            <a:ext cx="1531136" cy="431453"/>
            <a:chOff x="6165098" y="1543949"/>
            <a:chExt cx="1531136" cy="431453"/>
          </a:xfrm>
        </p:grpSpPr>
        <p:grpSp>
          <p:nvGrpSpPr>
            <p:cNvPr id="320" name="Group 319">
              <a:extLst>
                <a:ext uri="{FF2B5EF4-FFF2-40B4-BE49-F238E27FC236}">
                  <a16:creationId xmlns:a16="http://schemas.microsoft.com/office/drawing/2014/main" id="{607E858E-449C-4A72-B37F-98E49E9E016D}"/>
                </a:ext>
              </a:extLst>
            </p:cNvPr>
            <p:cNvGrpSpPr/>
            <p:nvPr/>
          </p:nvGrpSpPr>
          <p:grpSpPr>
            <a:xfrm>
              <a:off x="7404513" y="1809921"/>
              <a:ext cx="291721" cy="165481"/>
              <a:chOff x="6585383" y="2702434"/>
              <a:chExt cx="291721" cy="165481"/>
            </a:xfrm>
          </p:grpSpPr>
          <p:sp>
            <p:nvSpPr>
              <p:cNvPr id="321" name="Freeform 50">
                <a:extLst>
                  <a:ext uri="{FF2B5EF4-FFF2-40B4-BE49-F238E27FC236}">
                    <a16:creationId xmlns:a16="http://schemas.microsoft.com/office/drawing/2014/main" id="{68C50909-D91E-4288-9959-0C53C5C5CBA2}"/>
                  </a:ext>
                </a:extLst>
              </p:cNvPr>
              <p:cNvSpPr>
                <a:spLocks noEditPoints="1"/>
              </p:cNvSpPr>
              <p:nvPr/>
            </p:nvSpPr>
            <p:spPr bwMode="auto">
              <a:xfrm>
                <a:off x="6791864" y="2778343"/>
                <a:ext cx="61676" cy="89572"/>
              </a:xfrm>
              <a:custGeom>
                <a:avLst/>
                <a:gdLst>
                  <a:gd name="T0" fmla="*/ 5 w 111"/>
                  <a:gd name="T1" fmla="*/ 57 h 151"/>
                  <a:gd name="T2" fmla="*/ 0 w 111"/>
                  <a:gd name="T3" fmla="*/ 80 h 151"/>
                  <a:gd name="T4" fmla="*/ 99 w 111"/>
                  <a:gd name="T5" fmla="*/ 90 h 151"/>
                  <a:gd name="T6" fmla="*/ 5 w 111"/>
                  <a:gd name="T7" fmla="*/ 57 h 151"/>
                  <a:gd name="T8" fmla="*/ 25 w 111"/>
                  <a:gd name="T9" fmla="*/ 81 h 151"/>
                  <a:gd name="T10" fmla="*/ 75 w 111"/>
                  <a:gd name="T11" fmla="*/ 75 h 151"/>
                  <a:gd name="T12" fmla="*/ 25 w 111"/>
                  <a:gd name="T13" fmla="*/ 81 h 151"/>
                </a:gdLst>
                <a:ahLst/>
                <a:cxnLst>
                  <a:cxn ang="0">
                    <a:pos x="T0" y="T1"/>
                  </a:cxn>
                  <a:cxn ang="0">
                    <a:pos x="T2" y="T3"/>
                  </a:cxn>
                  <a:cxn ang="0">
                    <a:pos x="T4" y="T5"/>
                  </a:cxn>
                  <a:cxn ang="0">
                    <a:pos x="T6" y="T7"/>
                  </a:cxn>
                  <a:cxn ang="0">
                    <a:pos x="T8" y="T9"/>
                  </a:cxn>
                  <a:cxn ang="0">
                    <a:pos x="T10" y="T11"/>
                  </a:cxn>
                  <a:cxn ang="0">
                    <a:pos x="T12" y="T13"/>
                  </a:cxn>
                </a:cxnLst>
                <a:rect l="0" t="0" r="r" b="b"/>
                <a:pathLst>
                  <a:path w="111" h="151">
                    <a:moveTo>
                      <a:pt x="5" y="57"/>
                    </a:moveTo>
                    <a:cubicBezTo>
                      <a:pt x="2" y="64"/>
                      <a:pt x="0" y="71"/>
                      <a:pt x="0" y="80"/>
                    </a:cubicBezTo>
                    <a:cubicBezTo>
                      <a:pt x="2" y="145"/>
                      <a:pt x="88" y="151"/>
                      <a:pt x="99" y="90"/>
                    </a:cubicBezTo>
                    <a:cubicBezTo>
                      <a:pt x="111" y="30"/>
                      <a:pt x="31" y="0"/>
                      <a:pt x="5" y="57"/>
                    </a:cubicBezTo>
                    <a:close/>
                    <a:moveTo>
                      <a:pt x="25" y="81"/>
                    </a:moveTo>
                    <a:cubicBezTo>
                      <a:pt x="25" y="48"/>
                      <a:pt x="69" y="45"/>
                      <a:pt x="75" y="75"/>
                    </a:cubicBezTo>
                    <a:cubicBezTo>
                      <a:pt x="82" y="113"/>
                      <a:pt x="25" y="120"/>
                      <a:pt x="25" y="81"/>
                    </a:cubicBezTo>
                    <a:close/>
                  </a:path>
                </a:pathLst>
              </a:custGeom>
              <a:solidFill>
                <a:srgbClr val="8C8C8C">
                  <a:lumMod val="75000"/>
                </a:srgbClr>
              </a:solidFill>
              <a:ln>
                <a:no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322" name="Freeform 51">
                <a:extLst>
                  <a:ext uri="{FF2B5EF4-FFF2-40B4-BE49-F238E27FC236}">
                    <a16:creationId xmlns:a16="http://schemas.microsoft.com/office/drawing/2014/main" id="{E673ADA2-EE40-4D0D-B5BE-AA1926A90183}"/>
                  </a:ext>
                </a:extLst>
              </p:cNvPr>
              <p:cNvSpPr>
                <a:spLocks noEditPoints="1"/>
              </p:cNvSpPr>
              <p:nvPr/>
            </p:nvSpPr>
            <p:spPr bwMode="auto">
              <a:xfrm>
                <a:off x="6609317" y="2777584"/>
                <a:ext cx="60258" cy="89193"/>
              </a:xfrm>
              <a:custGeom>
                <a:avLst/>
                <a:gdLst>
                  <a:gd name="T0" fmla="*/ 5 w 109"/>
                  <a:gd name="T1" fmla="*/ 56 h 150"/>
                  <a:gd name="T2" fmla="*/ 0 w 109"/>
                  <a:gd name="T3" fmla="*/ 79 h 150"/>
                  <a:gd name="T4" fmla="*/ 100 w 109"/>
                  <a:gd name="T5" fmla="*/ 87 h 150"/>
                  <a:gd name="T6" fmla="*/ 5 w 109"/>
                  <a:gd name="T7" fmla="*/ 56 h 150"/>
                  <a:gd name="T8" fmla="*/ 25 w 109"/>
                  <a:gd name="T9" fmla="*/ 80 h 150"/>
                  <a:gd name="T10" fmla="*/ 76 w 109"/>
                  <a:gd name="T11" fmla="*/ 76 h 150"/>
                  <a:gd name="T12" fmla="*/ 25 w 109"/>
                  <a:gd name="T13" fmla="*/ 80 h 150"/>
                </a:gdLst>
                <a:ahLst/>
                <a:cxnLst>
                  <a:cxn ang="0">
                    <a:pos x="T0" y="T1"/>
                  </a:cxn>
                  <a:cxn ang="0">
                    <a:pos x="T2" y="T3"/>
                  </a:cxn>
                  <a:cxn ang="0">
                    <a:pos x="T4" y="T5"/>
                  </a:cxn>
                  <a:cxn ang="0">
                    <a:pos x="T6" y="T7"/>
                  </a:cxn>
                  <a:cxn ang="0">
                    <a:pos x="T8" y="T9"/>
                  </a:cxn>
                  <a:cxn ang="0">
                    <a:pos x="T10" y="T11"/>
                  </a:cxn>
                  <a:cxn ang="0">
                    <a:pos x="T12" y="T13"/>
                  </a:cxn>
                </a:cxnLst>
                <a:rect l="0" t="0" r="r" b="b"/>
                <a:pathLst>
                  <a:path w="109" h="150">
                    <a:moveTo>
                      <a:pt x="5" y="56"/>
                    </a:moveTo>
                    <a:cubicBezTo>
                      <a:pt x="2" y="63"/>
                      <a:pt x="1" y="71"/>
                      <a:pt x="0" y="79"/>
                    </a:cubicBezTo>
                    <a:cubicBezTo>
                      <a:pt x="2" y="146"/>
                      <a:pt x="91" y="150"/>
                      <a:pt x="100" y="87"/>
                    </a:cubicBezTo>
                    <a:cubicBezTo>
                      <a:pt x="109" y="28"/>
                      <a:pt x="31" y="0"/>
                      <a:pt x="5" y="56"/>
                    </a:cubicBezTo>
                    <a:close/>
                    <a:moveTo>
                      <a:pt x="25" y="80"/>
                    </a:moveTo>
                    <a:cubicBezTo>
                      <a:pt x="26" y="46"/>
                      <a:pt x="71" y="44"/>
                      <a:pt x="76" y="76"/>
                    </a:cubicBezTo>
                    <a:cubicBezTo>
                      <a:pt x="81" y="113"/>
                      <a:pt x="26" y="119"/>
                      <a:pt x="25" y="80"/>
                    </a:cubicBezTo>
                    <a:close/>
                  </a:path>
                </a:pathLst>
              </a:custGeom>
              <a:solidFill>
                <a:srgbClr val="8C8C8C">
                  <a:lumMod val="75000"/>
                </a:srgbClr>
              </a:solidFill>
              <a:ln>
                <a:no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323" name="Freeform 52">
                <a:extLst>
                  <a:ext uri="{FF2B5EF4-FFF2-40B4-BE49-F238E27FC236}">
                    <a16:creationId xmlns:a16="http://schemas.microsoft.com/office/drawing/2014/main" id="{90D4FCAF-AC26-4C8E-A64B-DA11A726C657}"/>
                  </a:ext>
                </a:extLst>
              </p:cNvPr>
              <p:cNvSpPr>
                <a:spLocks noEditPoints="1"/>
              </p:cNvSpPr>
              <p:nvPr/>
            </p:nvSpPr>
            <p:spPr bwMode="auto">
              <a:xfrm>
                <a:off x="6585383" y="2702434"/>
                <a:ext cx="291721" cy="125250"/>
              </a:xfrm>
              <a:custGeom>
                <a:avLst/>
                <a:gdLst>
                  <a:gd name="T0" fmla="*/ 526 w 526"/>
                  <a:gd name="T1" fmla="*/ 89 h 211"/>
                  <a:gd name="T2" fmla="*/ 468 w 526"/>
                  <a:gd name="T3" fmla="*/ 79 h 211"/>
                  <a:gd name="T4" fmla="*/ 390 w 526"/>
                  <a:gd name="T5" fmla="*/ 2 h 211"/>
                  <a:gd name="T6" fmla="*/ 383 w 526"/>
                  <a:gd name="T7" fmla="*/ 0 h 211"/>
                  <a:gd name="T8" fmla="*/ 216 w 526"/>
                  <a:gd name="T9" fmla="*/ 0 h 211"/>
                  <a:gd name="T10" fmla="*/ 133 w 526"/>
                  <a:gd name="T11" fmla="*/ 77 h 211"/>
                  <a:gd name="T12" fmla="*/ 3 w 526"/>
                  <a:gd name="T13" fmla="*/ 101 h 211"/>
                  <a:gd name="T14" fmla="*/ 1 w 526"/>
                  <a:gd name="T15" fmla="*/ 107 h 211"/>
                  <a:gd name="T16" fmla="*/ 2 w 526"/>
                  <a:gd name="T17" fmla="*/ 204 h 211"/>
                  <a:gd name="T18" fmla="*/ 33 w 526"/>
                  <a:gd name="T19" fmla="*/ 208 h 211"/>
                  <a:gd name="T20" fmla="*/ 53 w 526"/>
                  <a:gd name="T21" fmla="*/ 157 h 211"/>
                  <a:gd name="T22" fmla="*/ 152 w 526"/>
                  <a:gd name="T23" fmla="*/ 207 h 211"/>
                  <a:gd name="T24" fmla="*/ 361 w 526"/>
                  <a:gd name="T25" fmla="*/ 207 h 211"/>
                  <a:gd name="T26" fmla="*/ 380 w 526"/>
                  <a:gd name="T27" fmla="*/ 159 h 211"/>
                  <a:gd name="T28" fmla="*/ 481 w 526"/>
                  <a:gd name="T29" fmla="*/ 207 h 211"/>
                  <a:gd name="T30" fmla="*/ 526 w 526"/>
                  <a:gd name="T31" fmla="*/ 196 h 211"/>
                  <a:gd name="T32" fmla="*/ 526 w 526"/>
                  <a:gd name="T33" fmla="*/ 89 h 211"/>
                  <a:gd name="T34" fmla="*/ 290 w 526"/>
                  <a:gd name="T35" fmla="*/ 78 h 211"/>
                  <a:gd name="T36" fmla="*/ 148 w 526"/>
                  <a:gd name="T37" fmla="*/ 78 h 211"/>
                  <a:gd name="T38" fmla="*/ 221 w 526"/>
                  <a:gd name="T39" fmla="*/ 9 h 211"/>
                  <a:gd name="T40" fmla="*/ 290 w 526"/>
                  <a:gd name="T41" fmla="*/ 9 h 211"/>
                  <a:gd name="T42" fmla="*/ 290 w 526"/>
                  <a:gd name="T43" fmla="*/ 78 h 211"/>
                  <a:gd name="T44" fmla="*/ 393 w 526"/>
                  <a:gd name="T45" fmla="*/ 79 h 211"/>
                  <a:gd name="T46" fmla="*/ 381 w 526"/>
                  <a:gd name="T47" fmla="*/ 79 h 211"/>
                  <a:gd name="T48" fmla="*/ 300 w 526"/>
                  <a:gd name="T49" fmla="*/ 78 h 211"/>
                  <a:gd name="T50" fmla="*/ 381 w 526"/>
                  <a:gd name="T51" fmla="*/ 79 h 211"/>
                  <a:gd name="T52" fmla="*/ 300 w 526"/>
                  <a:gd name="T53" fmla="*/ 78 h 211"/>
                  <a:gd name="T54" fmla="*/ 300 w 526"/>
                  <a:gd name="T55" fmla="*/ 9 h 211"/>
                  <a:gd name="T56" fmla="*/ 375 w 526"/>
                  <a:gd name="T57" fmla="*/ 10 h 211"/>
                  <a:gd name="T58" fmla="*/ 382 w 526"/>
                  <a:gd name="T59" fmla="*/ 16 h 211"/>
                  <a:gd name="T60" fmla="*/ 411 w 526"/>
                  <a:gd name="T61" fmla="*/ 79 h 211"/>
                  <a:gd name="T62" fmla="*/ 393 w 526"/>
                  <a:gd name="T63" fmla="*/ 7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26" h="211">
                    <a:moveTo>
                      <a:pt x="526" y="89"/>
                    </a:moveTo>
                    <a:cubicBezTo>
                      <a:pt x="524" y="74"/>
                      <a:pt x="481" y="88"/>
                      <a:pt x="468" y="79"/>
                    </a:cubicBezTo>
                    <a:cubicBezTo>
                      <a:pt x="460" y="74"/>
                      <a:pt x="398" y="5"/>
                      <a:pt x="390" y="2"/>
                    </a:cubicBezTo>
                    <a:cubicBezTo>
                      <a:pt x="383" y="0"/>
                      <a:pt x="383" y="0"/>
                      <a:pt x="383" y="0"/>
                    </a:cubicBezTo>
                    <a:cubicBezTo>
                      <a:pt x="216" y="0"/>
                      <a:pt x="216" y="0"/>
                      <a:pt x="216" y="0"/>
                    </a:cubicBezTo>
                    <a:cubicBezTo>
                      <a:pt x="133" y="77"/>
                      <a:pt x="133" y="77"/>
                      <a:pt x="133" y="77"/>
                    </a:cubicBezTo>
                    <a:cubicBezTo>
                      <a:pt x="128" y="79"/>
                      <a:pt x="7" y="97"/>
                      <a:pt x="3" y="101"/>
                    </a:cubicBezTo>
                    <a:cubicBezTo>
                      <a:pt x="1" y="107"/>
                      <a:pt x="1" y="107"/>
                      <a:pt x="1" y="107"/>
                    </a:cubicBezTo>
                    <a:cubicBezTo>
                      <a:pt x="1" y="117"/>
                      <a:pt x="0" y="200"/>
                      <a:pt x="2" y="204"/>
                    </a:cubicBezTo>
                    <a:cubicBezTo>
                      <a:pt x="6" y="210"/>
                      <a:pt x="22" y="208"/>
                      <a:pt x="33" y="208"/>
                    </a:cubicBezTo>
                    <a:cubicBezTo>
                      <a:pt x="33" y="187"/>
                      <a:pt x="37" y="172"/>
                      <a:pt x="53" y="157"/>
                    </a:cubicBezTo>
                    <a:cubicBezTo>
                      <a:pt x="90" y="123"/>
                      <a:pt x="154" y="146"/>
                      <a:pt x="152" y="207"/>
                    </a:cubicBezTo>
                    <a:cubicBezTo>
                      <a:pt x="361" y="207"/>
                      <a:pt x="361" y="207"/>
                      <a:pt x="361" y="207"/>
                    </a:cubicBezTo>
                    <a:cubicBezTo>
                      <a:pt x="363" y="189"/>
                      <a:pt x="366" y="174"/>
                      <a:pt x="380" y="159"/>
                    </a:cubicBezTo>
                    <a:cubicBezTo>
                      <a:pt x="410" y="127"/>
                      <a:pt x="481" y="145"/>
                      <a:pt x="481" y="207"/>
                    </a:cubicBezTo>
                    <a:cubicBezTo>
                      <a:pt x="510" y="207"/>
                      <a:pt x="526" y="211"/>
                      <a:pt x="526" y="196"/>
                    </a:cubicBezTo>
                    <a:lnTo>
                      <a:pt x="526" y="89"/>
                    </a:lnTo>
                    <a:close/>
                    <a:moveTo>
                      <a:pt x="290" y="78"/>
                    </a:moveTo>
                    <a:cubicBezTo>
                      <a:pt x="148" y="78"/>
                      <a:pt x="148" y="78"/>
                      <a:pt x="148" y="78"/>
                    </a:cubicBezTo>
                    <a:cubicBezTo>
                      <a:pt x="221" y="9"/>
                      <a:pt x="221" y="9"/>
                      <a:pt x="221" y="9"/>
                    </a:cubicBezTo>
                    <a:cubicBezTo>
                      <a:pt x="290" y="9"/>
                      <a:pt x="290" y="9"/>
                      <a:pt x="290" y="9"/>
                    </a:cubicBezTo>
                    <a:lnTo>
                      <a:pt x="290" y="78"/>
                    </a:lnTo>
                    <a:close/>
                    <a:moveTo>
                      <a:pt x="393" y="79"/>
                    </a:moveTo>
                    <a:cubicBezTo>
                      <a:pt x="389" y="79"/>
                      <a:pt x="385" y="79"/>
                      <a:pt x="381" y="79"/>
                    </a:cubicBezTo>
                    <a:cubicBezTo>
                      <a:pt x="348" y="79"/>
                      <a:pt x="302" y="79"/>
                      <a:pt x="300" y="78"/>
                    </a:cubicBezTo>
                    <a:cubicBezTo>
                      <a:pt x="302" y="79"/>
                      <a:pt x="348" y="79"/>
                      <a:pt x="381" y="79"/>
                    </a:cubicBezTo>
                    <a:cubicBezTo>
                      <a:pt x="348" y="79"/>
                      <a:pt x="302" y="79"/>
                      <a:pt x="300" y="78"/>
                    </a:cubicBezTo>
                    <a:cubicBezTo>
                      <a:pt x="300" y="9"/>
                      <a:pt x="300" y="9"/>
                      <a:pt x="300" y="9"/>
                    </a:cubicBezTo>
                    <a:cubicBezTo>
                      <a:pt x="311" y="9"/>
                      <a:pt x="370" y="8"/>
                      <a:pt x="375" y="10"/>
                    </a:cubicBezTo>
                    <a:cubicBezTo>
                      <a:pt x="382" y="16"/>
                      <a:pt x="382" y="16"/>
                      <a:pt x="382" y="16"/>
                    </a:cubicBezTo>
                    <a:cubicBezTo>
                      <a:pt x="411" y="79"/>
                      <a:pt x="411" y="79"/>
                      <a:pt x="411" y="79"/>
                    </a:cubicBezTo>
                    <a:cubicBezTo>
                      <a:pt x="411" y="79"/>
                      <a:pt x="404" y="79"/>
                      <a:pt x="393" y="79"/>
                    </a:cubicBezTo>
                    <a:close/>
                  </a:path>
                </a:pathLst>
              </a:custGeom>
              <a:solidFill>
                <a:srgbClr val="8C8C8C">
                  <a:lumMod val="75000"/>
                </a:srgbClr>
              </a:solidFill>
              <a:ln>
                <a:no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324" name="Freeform 53">
                <a:extLst>
                  <a:ext uri="{FF2B5EF4-FFF2-40B4-BE49-F238E27FC236}">
                    <a16:creationId xmlns:a16="http://schemas.microsoft.com/office/drawing/2014/main" id="{88672D56-25D5-449A-92F7-681BB45C86DB}"/>
                  </a:ext>
                </a:extLst>
              </p:cNvPr>
              <p:cNvSpPr>
                <a:spLocks/>
              </p:cNvSpPr>
              <p:nvPr/>
            </p:nvSpPr>
            <p:spPr bwMode="auto">
              <a:xfrm>
                <a:off x="6797181" y="2749118"/>
                <a:ext cx="6734" cy="0"/>
              </a:xfrm>
              <a:custGeom>
                <a:avLst/>
                <a:gdLst>
                  <a:gd name="T0" fmla="*/ 0 w 12"/>
                  <a:gd name="T1" fmla="*/ 12 w 12"/>
                  <a:gd name="T2" fmla="*/ 0 w 12"/>
                </a:gdLst>
                <a:ahLst/>
                <a:cxnLst>
                  <a:cxn ang="0">
                    <a:pos x="T0" y="0"/>
                  </a:cxn>
                  <a:cxn ang="0">
                    <a:pos x="T1" y="0"/>
                  </a:cxn>
                  <a:cxn ang="0">
                    <a:pos x="T2" y="0"/>
                  </a:cxn>
                </a:cxnLst>
                <a:rect l="0" t="0" r="r" b="b"/>
                <a:pathLst>
                  <a:path w="12">
                    <a:moveTo>
                      <a:pt x="0" y="0"/>
                    </a:moveTo>
                    <a:cubicBezTo>
                      <a:pt x="4" y="0"/>
                      <a:pt x="8" y="0"/>
                      <a:pt x="12" y="0"/>
                    </a:cubicBezTo>
                    <a:cubicBezTo>
                      <a:pt x="8" y="0"/>
                      <a:pt x="4" y="0"/>
                      <a:pt x="0" y="0"/>
                    </a:cubicBezTo>
                    <a:close/>
                  </a:path>
                </a:pathLst>
              </a:custGeom>
              <a:solidFill>
                <a:srgbClr val="8C8C8C">
                  <a:lumMod val="75000"/>
                </a:srgbClr>
              </a:solidFill>
              <a:ln>
                <a:no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grpSp>
        <p:grpSp>
          <p:nvGrpSpPr>
            <p:cNvPr id="325" name="Group 324">
              <a:extLst>
                <a:ext uri="{FF2B5EF4-FFF2-40B4-BE49-F238E27FC236}">
                  <a16:creationId xmlns:a16="http://schemas.microsoft.com/office/drawing/2014/main" id="{DA46B741-8BD0-42B0-AC65-0398DA343F92}"/>
                </a:ext>
              </a:extLst>
            </p:cNvPr>
            <p:cNvGrpSpPr/>
            <p:nvPr/>
          </p:nvGrpSpPr>
          <p:grpSpPr>
            <a:xfrm>
              <a:off x="7093643" y="1667809"/>
              <a:ext cx="286896" cy="287678"/>
              <a:chOff x="6274512" y="2560324"/>
              <a:chExt cx="286896" cy="287678"/>
            </a:xfrm>
          </p:grpSpPr>
          <p:sp>
            <p:nvSpPr>
              <p:cNvPr id="326" name="Freeform 81">
                <a:extLst>
                  <a:ext uri="{FF2B5EF4-FFF2-40B4-BE49-F238E27FC236}">
                    <a16:creationId xmlns:a16="http://schemas.microsoft.com/office/drawing/2014/main" id="{F541F047-D248-447C-8F16-EE57FE48016C}"/>
                  </a:ext>
                </a:extLst>
              </p:cNvPr>
              <p:cNvSpPr>
                <a:spLocks/>
              </p:cNvSpPr>
              <p:nvPr/>
            </p:nvSpPr>
            <p:spPr bwMode="auto">
              <a:xfrm>
                <a:off x="6306249" y="2611940"/>
                <a:ext cx="224270" cy="236062"/>
              </a:xfrm>
              <a:custGeom>
                <a:avLst/>
                <a:gdLst>
                  <a:gd name="T0" fmla="*/ 230 w 369"/>
                  <a:gd name="T1" fmla="*/ 363 h 363"/>
                  <a:gd name="T2" fmla="*/ 230 w 369"/>
                  <a:gd name="T3" fmla="*/ 213 h 363"/>
                  <a:gd name="T4" fmla="*/ 126 w 369"/>
                  <a:gd name="T5" fmla="*/ 213 h 363"/>
                  <a:gd name="T6" fmla="*/ 126 w 369"/>
                  <a:gd name="T7" fmla="*/ 363 h 363"/>
                  <a:gd name="T8" fmla="*/ 58 w 369"/>
                  <a:gd name="T9" fmla="*/ 363 h 363"/>
                  <a:gd name="T10" fmla="*/ 0 w 369"/>
                  <a:gd name="T11" fmla="*/ 306 h 363"/>
                  <a:gd name="T12" fmla="*/ 0 w 369"/>
                  <a:gd name="T13" fmla="*/ 139 h 363"/>
                  <a:gd name="T14" fmla="*/ 181 w 369"/>
                  <a:gd name="T15" fmla="*/ 0 h 363"/>
                  <a:gd name="T16" fmla="*/ 369 w 369"/>
                  <a:gd name="T17" fmla="*/ 139 h 363"/>
                  <a:gd name="T18" fmla="*/ 369 w 369"/>
                  <a:gd name="T19" fmla="*/ 306 h 363"/>
                  <a:gd name="T20" fmla="*/ 311 w 369"/>
                  <a:gd name="T21" fmla="*/ 363 h 363"/>
                  <a:gd name="T22" fmla="*/ 230 w 369"/>
                  <a:gd name="T23" fmla="*/ 363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9" h="363">
                    <a:moveTo>
                      <a:pt x="230" y="363"/>
                    </a:moveTo>
                    <a:cubicBezTo>
                      <a:pt x="230" y="213"/>
                      <a:pt x="230" y="213"/>
                      <a:pt x="230" y="213"/>
                    </a:cubicBezTo>
                    <a:cubicBezTo>
                      <a:pt x="126" y="213"/>
                      <a:pt x="126" y="213"/>
                      <a:pt x="126" y="213"/>
                    </a:cubicBezTo>
                    <a:cubicBezTo>
                      <a:pt x="126" y="363"/>
                      <a:pt x="126" y="363"/>
                      <a:pt x="126" y="363"/>
                    </a:cubicBezTo>
                    <a:cubicBezTo>
                      <a:pt x="58" y="363"/>
                      <a:pt x="58" y="363"/>
                      <a:pt x="58" y="363"/>
                    </a:cubicBezTo>
                    <a:cubicBezTo>
                      <a:pt x="26" y="363"/>
                      <a:pt x="0" y="337"/>
                      <a:pt x="0" y="306"/>
                    </a:cubicBezTo>
                    <a:cubicBezTo>
                      <a:pt x="0" y="139"/>
                      <a:pt x="0" y="139"/>
                      <a:pt x="0" y="139"/>
                    </a:cubicBezTo>
                    <a:cubicBezTo>
                      <a:pt x="181" y="0"/>
                      <a:pt x="181" y="0"/>
                      <a:pt x="181" y="0"/>
                    </a:cubicBezTo>
                    <a:cubicBezTo>
                      <a:pt x="369" y="139"/>
                      <a:pt x="369" y="139"/>
                      <a:pt x="369" y="139"/>
                    </a:cubicBezTo>
                    <a:cubicBezTo>
                      <a:pt x="369" y="306"/>
                      <a:pt x="369" y="306"/>
                      <a:pt x="369" y="306"/>
                    </a:cubicBezTo>
                    <a:cubicBezTo>
                      <a:pt x="369" y="337"/>
                      <a:pt x="343" y="363"/>
                      <a:pt x="311" y="363"/>
                    </a:cubicBezTo>
                    <a:lnTo>
                      <a:pt x="230" y="363"/>
                    </a:lnTo>
                    <a:close/>
                  </a:path>
                </a:pathLst>
              </a:custGeom>
              <a:solidFill>
                <a:srgbClr val="8C8C8C">
                  <a:lumMod val="75000"/>
                </a:srgbClr>
              </a:solidFill>
              <a:ln>
                <a:no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327" name="Rectangle 82">
                <a:extLst>
                  <a:ext uri="{FF2B5EF4-FFF2-40B4-BE49-F238E27FC236}">
                    <a16:creationId xmlns:a16="http://schemas.microsoft.com/office/drawing/2014/main" id="{E486E86C-9D0A-48F3-B35A-6B7DF10CA7BF}"/>
                  </a:ext>
                </a:extLst>
              </p:cNvPr>
              <p:cNvSpPr>
                <a:spLocks noChangeArrowheads="1"/>
              </p:cNvSpPr>
              <p:nvPr/>
            </p:nvSpPr>
            <p:spPr bwMode="auto">
              <a:xfrm>
                <a:off x="6483549" y="2596571"/>
                <a:ext cx="19465" cy="37607"/>
              </a:xfrm>
              <a:prstGeom prst="rect">
                <a:avLst/>
              </a:prstGeom>
              <a:solidFill>
                <a:srgbClr val="8C8C8C">
                  <a:lumMod val="75000"/>
                </a:srgbClr>
              </a:solidFill>
              <a:ln>
                <a:no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328" name="Freeform 83">
                <a:extLst>
                  <a:ext uri="{FF2B5EF4-FFF2-40B4-BE49-F238E27FC236}">
                    <a16:creationId xmlns:a16="http://schemas.microsoft.com/office/drawing/2014/main" id="{806163BA-3CCE-431F-885D-767C235B48F5}"/>
                  </a:ext>
                </a:extLst>
              </p:cNvPr>
              <p:cNvSpPr>
                <a:spLocks/>
              </p:cNvSpPr>
              <p:nvPr/>
            </p:nvSpPr>
            <p:spPr bwMode="auto">
              <a:xfrm>
                <a:off x="6274512" y="2560324"/>
                <a:ext cx="153604" cy="135929"/>
              </a:xfrm>
              <a:custGeom>
                <a:avLst/>
                <a:gdLst>
                  <a:gd name="T0" fmla="*/ 36 w 253"/>
                  <a:gd name="T1" fmla="*/ 202 h 209"/>
                  <a:gd name="T2" fmla="*/ 7 w 253"/>
                  <a:gd name="T3" fmla="*/ 198 h 209"/>
                  <a:gd name="T4" fmla="*/ 7 w 253"/>
                  <a:gd name="T5" fmla="*/ 198 h 209"/>
                  <a:gd name="T6" fmla="*/ 11 w 253"/>
                  <a:gd name="T7" fmla="*/ 169 h 209"/>
                  <a:gd name="T8" fmla="*/ 217 w 253"/>
                  <a:gd name="T9" fmla="*/ 7 h 209"/>
                  <a:gd name="T10" fmla="*/ 246 w 253"/>
                  <a:gd name="T11" fmla="*/ 10 h 209"/>
                  <a:gd name="T12" fmla="*/ 246 w 253"/>
                  <a:gd name="T13" fmla="*/ 10 h 209"/>
                  <a:gd name="T14" fmla="*/ 242 w 253"/>
                  <a:gd name="T15" fmla="*/ 39 h 209"/>
                  <a:gd name="T16" fmla="*/ 36 w 253"/>
                  <a:gd name="T17" fmla="*/ 202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3" h="209">
                    <a:moveTo>
                      <a:pt x="36" y="202"/>
                    </a:moveTo>
                    <a:cubicBezTo>
                      <a:pt x="27" y="209"/>
                      <a:pt x="14" y="207"/>
                      <a:pt x="7" y="198"/>
                    </a:cubicBezTo>
                    <a:cubicBezTo>
                      <a:pt x="7" y="198"/>
                      <a:pt x="7" y="198"/>
                      <a:pt x="7" y="198"/>
                    </a:cubicBezTo>
                    <a:cubicBezTo>
                      <a:pt x="0" y="190"/>
                      <a:pt x="2" y="176"/>
                      <a:pt x="11" y="169"/>
                    </a:cubicBezTo>
                    <a:cubicBezTo>
                      <a:pt x="217" y="7"/>
                      <a:pt x="217" y="7"/>
                      <a:pt x="217" y="7"/>
                    </a:cubicBezTo>
                    <a:cubicBezTo>
                      <a:pt x="226" y="0"/>
                      <a:pt x="239" y="1"/>
                      <a:pt x="246" y="10"/>
                    </a:cubicBezTo>
                    <a:cubicBezTo>
                      <a:pt x="246" y="10"/>
                      <a:pt x="246" y="10"/>
                      <a:pt x="246" y="10"/>
                    </a:cubicBezTo>
                    <a:cubicBezTo>
                      <a:pt x="253" y="19"/>
                      <a:pt x="251" y="32"/>
                      <a:pt x="242" y="39"/>
                    </a:cubicBezTo>
                    <a:lnTo>
                      <a:pt x="36" y="202"/>
                    </a:lnTo>
                    <a:close/>
                  </a:path>
                </a:pathLst>
              </a:custGeom>
              <a:solidFill>
                <a:srgbClr val="8C8C8C">
                  <a:lumMod val="75000"/>
                </a:srgbClr>
              </a:solidFill>
              <a:ln>
                <a:no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329" name="Freeform 84">
                <a:extLst>
                  <a:ext uri="{FF2B5EF4-FFF2-40B4-BE49-F238E27FC236}">
                    <a16:creationId xmlns:a16="http://schemas.microsoft.com/office/drawing/2014/main" id="{B3CAA321-F9D3-4E2F-B10F-5C0A1CC1037E}"/>
                  </a:ext>
                </a:extLst>
              </p:cNvPr>
              <p:cNvSpPr>
                <a:spLocks/>
              </p:cNvSpPr>
              <p:nvPr/>
            </p:nvSpPr>
            <p:spPr bwMode="auto">
              <a:xfrm>
                <a:off x="6407804" y="2560324"/>
                <a:ext cx="153604" cy="135929"/>
              </a:xfrm>
              <a:custGeom>
                <a:avLst/>
                <a:gdLst>
                  <a:gd name="T0" fmla="*/ 217 w 253"/>
                  <a:gd name="T1" fmla="*/ 202 h 209"/>
                  <a:gd name="T2" fmla="*/ 246 w 253"/>
                  <a:gd name="T3" fmla="*/ 198 h 209"/>
                  <a:gd name="T4" fmla="*/ 246 w 253"/>
                  <a:gd name="T5" fmla="*/ 198 h 209"/>
                  <a:gd name="T6" fmla="*/ 242 w 253"/>
                  <a:gd name="T7" fmla="*/ 169 h 209"/>
                  <a:gd name="T8" fmla="*/ 36 w 253"/>
                  <a:gd name="T9" fmla="*/ 7 h 209"/>
                  <a:gd name="T10" fmla="*/ 7 w 253"/>
                  <a:gd name="T11" fmla="*/ 10 h 209"/>
                  <a:gd name="T12" fmla="*/ 7 w 253"/>
                  <a:gd name="T13" fmla="*/ 10 h 209"/>
                  <a:gd name="T14" fmla="*/ 10 w 253"/>
                  <a:gd name="T15" fmla="*/ 39 h 209"/>
                  <a:gd name="T16" fmla="*/ 217 w 253"/>
                  <a:gd name="T17" fmla="*/ 202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3" h="209">
                    <a:moveTo>
                      <a:pt x="217" y="202"/>
                    </a:moveTo>
                    <a:cubicBezTo>
                      <a:pt x="226" y="209"/>
                      <a:pt x="239" y="207"/>
                      <a:pt x="246" y="198"/>
                    </a:cubicBezTo>
                    <a:cubicBezTo>
                      <a:pt x="246" y="198"/>
                      <a:pt x="246" y="198"/>
                      <a:pt x="246" y="198"/>
                    </a:cubicBezTo>
                    <a:cubicBezTo>
                      <a:pt x="253" y="190"/>
                      <a:pt x="251" y="176"/>
                      <a:pt x="242" y="169"/>
                    </a:cubicBezTo>
                    <a:cubicBezTo>
                      <a:pt x="36" y="7"/>
                      <a:pt x="36" y="7"/>
                      <a:pt x="36" y="7"/>
                    </a:cubicBezTo>
                    <a:cubicBezTo>
                      <a:pt x="27" y="0"/>
                      <a:pt x="14" y="1"/>
                      <a:pt x="7" y="10"/>
                    </a:cubicBezTo>
                    <a:cubicBezTo>
                      <a:pt x="7" y="10"/>
                      <a:pt x="7" y="10"/>
                      <a:pt x="7" y="10"/>
                    </a:cubicBezTo>
                    <a:cubicBezTo>
                      <a:pt x="0" y="19"/>
                      <a:pt x="1" y="32"/>
                      <a:pt x="10" y="39"/>
                    </a:cubicBezTo>
                    <a:lnTo>
                      <a:pt x="217" y="202"/>
                    </a:lnTo>
                    <a:close/>
                  </a:path>
                </a:pathLst>
              </a:custGeom>
              <a:solidFill>
                <a:srgbClr val="8C8C8C">
                  <a:lumMod val="75000"/>
                </a:srgbClr>
              </a:solidFill>
              <a:ln>
                <a:no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330" name="Rectangle 329">
                <a:extLst>
                  <a:ext uri="{FF2B5EF4-FFF2-40B4-BE49-F238E27FC236}">
                    <a16:creationId xmlns:a16="http://schemas.microsoft.com/office/drawing/2014/main" id="{EC1996AF-1170-41B9-B970-73CFA14A9511}"/>
                  </a:ext>
                </a:extLst>
              </p:cNvPr>
              <p:cNvSpPr/>
              <p:nvPr/>
            </p:nvSpPr>
            <p:spPr>
              <a:xfrm>
                <a:off x="6304057" y="2771682"/>
                <a:ext cx="49339" cy="76320"/>
              </a:xfrm>
              <a:prstGeom prst="rect">
                <a:avLst/>
              </a:prstGeom>
              <a:solidFill>
                <a:srgbClr val="8C8C8C">
                  <a:lumMod val="75000"/>
                </a:srgbClr>
              </a:solid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31" name="Rectangle 330">
                <a:extLst>
                  <a:ext uri="{FF2B5EF4-FFF2-40B4-BE49-F238E27FC236}">
                    <a16:creationId xmlns:a16="http://schemas.microsoft.com/office/drawing/2014/main" id="{D399BBE3-7A81-4983-A6A4-87A0A141237E}"/>
                  </a:ext>
                </a:extLst>
              </p:cNvPr>
              <p:cNvSpPr/>
              <p:nvPr/>
            </p:nvSpPr>
            <p:spPr>
              <a:xfrm>
                <a:off x="6481178" y="2771682"/>
                <a:ext cx="49339" cy="76320"/>
              </a:xfrm>
              <a:prstGeom prst="rect">
                <a:avLst/>
              </a:prstGeom>
              <a:solidFill>
                <a:srgbClr val="8C8C8C">
                  <a:lumMod val="75000"/>
                </a:srgbClr>
              </a:solid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grpSp>
        <p:grpSp>
          <p:nvGrpSpPr>
            <p:cNvPr id="332" name="Group 331">
              <a:extLst>
                <a:ext uri="{FF2B5EF4-FFF2-40B4-BE49-F238E27FC236}">
                  <a16:creationId xmlns:a16="http://schemas.microsoft.com/office/drawing/2014/main" id="{034985D7-EB96-4A21-83A7-31EB1934E1DC}"/>
                </a:ext>
              </a:extLst>
            </p:cNvPr>
            <p:cNvGrpSpPr/>
            <p:nvPr/>
          </p:nvGrpSpPr>
          <p:grpSpPr>
            <a:xfrm>
              <a:off x="6165098" y="1543949"/>
              <a:ext cx="361145" cy="411529"/>
              <a:chOff x="5345967" y="2436463"/>
              <a:chExt cx="361145" cy="411529"/>
            </a:xfrm>
          </p:grpSpPr>
          <p:sp>
            <p:nvSpPr>
              <p:cNvPr id="333" name="object 47">
                <a:extLst>
                  <a:ext uri="{FF2B5EF4-FFF2-40B4-BE49-F238E27FC236}">
                    <a16:creationId xmlns:a16="http://schemas.microsoft.com/office/drawing/2014/main" id="{24560C8E-7C9A-48EF-B033-61129B2BC3D9}"/>
                  </a:ext>
                </a:extLst>
              </p:cNvPr>
              <p:cNvSpPr>
                <a:spLocks noChangeAspect="1"/>
              </p:cNvSpPr>
              <p:nvPr/>
            </p:nvSpPr>
            <p:spPr>
              <a:xfrm flipH="1">
                <a:off x="5345967" y="2471507"/>
                <a:ext cx="361137" cy="376485"/>
              </a:xfrm>
              <a:custGeom>
                <a:avLst/>
                <a:gdLst/>
                <a:ahLst/>
                <a:cxnLst/>
                <a:rect l="l" t="t" r="r" b="b"/>
                <a:pathLst>
                  <a:path w="179705" h="189230">
                    <a:moveTo>
                      <a:pt x="89687" y="0"/>
                    </a:moveTo>
                    <a:lnTo>
                      <a:pt x="0" y="46774"/>
                    </a:lnTo>
                    <a:lnTo>
                      <a:pt x="0" y="189026"/>
                    </a:lnTo>
                    <a:lnTo>
                      <a:pt x="179374" y="189026"/>
                    </a:lnTo>
                    <a:lnTo>
                      <a:pt x="179374" y="46774"/>
                    </a:lnTo>
                    <a:lnTo>
                      <a:pt x="89687" y="0"/>
                    </a:lnTo>
                    <a:close/>
                  </a:path>
                </a:pathLst>
              </a:custGeom>
              <a:solidFill>
                <a:srgbClr val="8C8C8C">
                  <a:lumMod val="75000"/>
                </a:srgbClr>
              </a:solidFill>
            </p:spPr>
            <p:txBody>
              <a:bodyPr wrap="square" lIns="0" tIns="0" rIns="0" bIns="0" rtlCol="0"/>
              <a:lstStyle/>
              <a:p>
                <a:pPr defTabSz="914403">
                  <a:defRPr/>
                </a:pPr>
                <a:endParaRPr sz="1799" kern="0">
                  <a:solidFill>
                    <a:prstClr val="white"/>
                  </a:solidFill>
                  <a:latin typeface="+mj-lt"/>
                </a:endParaRPr>
              </a:p>
            </p:txBody>
          </p:sp>
          <p:sp>
            <p:nvSpPr>
              <p:cNvPr id="334" name="Rectangle 333">
                <a:extLst>
                  <a:ext uri="{FF2B5EF4-FFF2-40B4-BE49-F238E27FC236}">
                    <a16:creationId xmlns:a16="http://schemas.microsoft.com/office/drawing/2014/main" id="{122E74A3-BAD4-4052-99AA-1FB7FAF1F063}"/>
                  </a:ext>
                </a:extLst>
              </p:cNvPr>
              <p:cNvSpPr>
                <a:spLocks noChangeAspect="1"/>
              </p:cNvSpPr>
              <p:nvPr/>
            </p:nvSpPr>
            <p:spPr>
              <a:xfrm flipH="1">
                <a:off x="5377479" y="2518511"/>
                <a:ext cx="294015" cy="29107"/>
              </a:xfrm>
              <a:prstGeom prst="rect">
                <a:avLst/>
              </a:prstGeom>
              <a:solidFill>
                <a:schemeClr val="bg1"/>
              </a:solid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35" name="object 48">
                <a:extLst>
                  <a:ext uri="{FF2B5EF4-FFF2-40B4-BE49-F238E27FC236}">
                    <a16:creationId xmlns:a16="http://schemas.microsoft.com/office/drawing/2014/main" id="{429BC755-A596-4A6D-B8B7-C525D12E3A99}"/>
                  </a:ext>
                </a:extLst>
              </p:cNvPr>
              <p:cNvSpPr>
                <a:spLocks noChangeAspect="1"/>
              </p:cNvSpPr>
              <p:nvPr/>
            </p:nvSpPr>
            <p:spPr>
              <a:xfrm flipH="1">
                <a:off x="5345975" y="2436463"/>
                <a:ext cx="361137" cy="114966"/>
              </a:xfrm>
              <a:custGeom>
                <a:avLst/>
                <a:gdLst/>
                <a:ahLst/>
                <a:cxnLst/>
                <a:rect l="l" t="t" r="r" b="b"/>
                <a:pathLst>
                  <a:path w="179705" h="57785">
                    <a:moveTo>
                      <a:pt x="89687" y="0"/>
                    </a:moveTo>
                    <a:lnTo>
                      <a:pt x="0" y="46774"/>
                    </a:lnTo>
                    <a:lnTo>
                      <a:pt x="0" y="57492"/>
                    </a:lnTo>
                    <a:lnTo>
                      <a:pt x="89687" y="10718"/>
                    </a:lnTo>
                    <a:lnTo>
                      <a:pt x="110240" y="10718"/>
                    </a:lnTo>
                    <a:lnTo>
                      <a:pt x="89687" y="0"/>
                    </a:lnTo>
                    <a:close/>
                  </a:path>
                  <a:path w="179705" h="57785">
                    <a:moveTo>
                      <a:pt x="110240" y="10718"/>
                    </a:moveTo>
                    <a:lnTo>
                      <a:pt x="89687" y="10718"/>
                    </a:lnTo>
                    <a:lnTo>
                      <a:pt x="179374" y="57492"/>
                    </a:lnTo>
                    <a:lnTo>
                      <a:pt x="179374" y="46774"/>
                    </a:lnTo>
                    <a:lnTo>
                      <a:pt x="110240" y="10718"/>
                    </a:lnTo>
                    <a:close/>
                  </a:path>
                </a:pathLst>
              </a:custGeom>
              <a:solidFill>
                <a:srgbClr val="8C8C8C">
                  <a:lumMod val="75000"/>
                </a:srgbClr>
              </a:solidFill>
            </p:spPr>
            <p:txBody>
              <a:bodyPr wrap="square" lIns="0" tIns="0" rIns="0" bIns="0" rtlCol="0"/>
              <a:lstStyle/>
              <a:p>
                <a:pPr defTabSz="914403">
                  <a:defRPr/>
                </a:pPr>
                <a:endParaRPr sz="1799" kern="0" dirty="0">
                  <a:solidFill>
                    <a:prstClr val="white"/>
                  </a:solidFill>
                  <a:latin typeface="+mj-lt"/>
                </a:endParaRPr>
              </a:p>
            </p:txBody>
          </p:sp>
          <p:grpSp>
            <p:nvGrpSpPr>
              <p:cNvPr id="336" name="Group 335">
                <a:extLst>
                  <a:ext uri="{FF2B5EF4-FFF2-40B4-BE49-F238E27FC236}">
                    <a16:creationId xmlns:a16="http://schemas.microsoft.com/office/drawing/2014/main" id="{4F6CA7D5-6B87-4080-92FD-B5FB00398507}"/>
                  </a:ext>
                </a:extLst>
              </p:cNvPr>
              <p:cNvGrpSpPr/>
              <p:nvPr/>
            </p:nvGrpSpPr>
            <p:grpSpPr>
              <a:xfrm flipH="1">
                <a:off x="5377479" y="2574332"/>
                <a:ext cx="294015" cy="174648"/>
                <a:chOff x="11040795" y="1580306"/>
                <a:chExt cx="507849" cy="206099"/>
              </a:xfrm>
              <a:solidFill>
                <a:schemeClr val="bg1"/>
              </a:solidFill>
            </p:grpSpPr>
            <p:sp>
              <p:nvSpPr>
                <p:cNvPr id="342" name="Rectangle 341">
                  <a:extLst>
                    <a:ext uri="{FF2B5EF4-FFF2-40B4-BE49-F238E27FC236}">
                      <a16:creationId xmlns:a16="http://schemas.microsoft.com/office/drawing/2014/main" id="{06139348-1022-4002-9EBE-AB3A96CED947}"/>
                    </a:ext>
                  </a:extLst>
                </p:cNvPr>
                <p:cNvSpPr>
                  <a:spLocks noChangeAspect="1"/>
                </p:cNvSpPr>
                <p:nvPr/>
              </p:nvSpPr>
              <p:spPr>
                <a:xfrm>
                  <a:off x="11502924" y="1580306"/>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43" name="Rectangle 342">
                  <a:extLst>
                    <a:ext uri="{FF2B5EF4-FFF2-40B4-BE49-F238E27FC236}">
                      <a16:creationId xmlns:a16="http://schemas.microsoft.com/office/drawing/2014/main" id="{56975F34-CB44-4D1C-AFBC-A3FB31AC630E}"/>
                    </a:ext>
                  </a:extLst>
                </p:cNvPr>
                <p:cNvSpPr>
                  <a:spLocks noChangeAspect="1"/>
                </p:cNvSpPr>
                <p:nvPr/>
              </p:nvSpPr>
              <p:spPr>
                <a:xfrm>
                  <a:off x="11387391" y="1580306"/>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44" name="Rectangle 343">
                  <a:extLst>
                    <a:ext uri="{FF2B5EF4-FFF2-40B4-BE49-F238E27FC236}">
                      <a16:creationId xmlns:a16="http://schemas.microsoft.com/office/drawing/2014/main" id="{A616549A-EC91-44F2-9BEC-2B5A53BC9FDD}"/>
                    </a:ext>
                  </a:extLst>
                </p:cNvPr>
                <p:cNvSpPr>
                  <a:spLocks noChangeAspect="1"/>
                </p:cNvSpPr>
                <p:nvPr/>
              </p:nvSpPr>
              <p:spPr>
                <a:xfrm>
                  <a:off x="11156327" y="1580306"/>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45" name="Rectangle 344">
                  <a:extLst>
                    <a:ext uri="{FF2B5EF4-FFF2-40B4-BE49-F238E27FC236}">
                      <a16:creationId xmlns:a16="http://schemas.microsoft.com/office/drawing/2014/main" id="{39E017BE-5078-4A36-947D-BB66361D8041}"/>
                    </a:ext>
                  </a:extLst>
                </p:cNvPr>
                <p:cNvSpPr>
                  <a:spLocks noChangeAspect="1"/>
                </p:cNvSpPr>
                <p:nvPr/>
              </p:nvSpPr>
              <p:spPr>
                <a:xfrm>
                  <a:off x="11040795" y="1580306"/>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46" name="Rectangle 345">
                  <a:extLst>
                    <a:ext uri="{FF2B5EF4-FFF2-40B4-BE49-F238E27FC236}">
                      <a16:creationId xmlns:a16="http://schemas.microsoft.com/office/drawing/2014/main" id="{279780C7-75CE-4D42-B99E-1F2B6CCEE94C}"/>
                    </a:ext>
                  </a:extLst>
                </p:cNvPr>
                <p:cNvSpPr>
                  <a:spLocks noChangeAspect="1"/>
                </p:cNvSpPr>
                <p:nvPr/>
              </p:nvSpPr>
              <p:spPr>
                <a:xfrm>
                  <a:off x="11271859" y="1580306"/>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47" name="Rectangle 346">
                  <a:extLst>
                    <a:ext uri="{FF2B5EF4-FFF2-40B4-BE49-F238E27FC236}">
                      <a16:creationId xmlns:a16="http://schemas.microsoft.com/office/drawing/2014/main" id="{B7CD5EE3-FBCF-4416-9409-B3B4881E897D}"/>
                    </a:ext>
                  </a:extLst>
                </p:cNvPr>
                <p:cNvSpPr>
                  <a:spLocks noChangeAspect="1"/>
                </p:cNvSpPr>
                <p:nvPr/>
              </p:nvSpPr>
              <p:spPr>
                <a:xfrm>
                  <a:off x="11502924" y="166049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48" name="Rectangle 347">
                  <a:extLst>
                    <a:ext uri="{FF2B5EF4-FFF2-40B4-BE49-F238E27FC236}">
                      <a16:creationId xmlns:a16="http://schemas.microsoft.com/office/drawing/2014/main" id="{4885D276-DFD3-45DC-8F22-1631505F6AB1}"/>
                    </a:ext>
                  </a:extLst>
                </p:cNvPr>
                <p:cNvSpPr>
                  <a:spLocks noChangeAspect="1"/>
                </p:cNvSpPr>
                <p:nvPr/>
              </p:nvSpPr>
              <p:spPr>
                <a:xfrm>
                  <a:off x="11387391" y="166049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49" name="Rectangle 348">
                  <a:extLst>
                    <a:ext uri="{FF2B5EF4-FFF2-40B4-BE49-F238E27FC236}">
                      <a16:creationId xmlns:a16="http://schemas.microsoft.com/office/drawing/2014/main" id="{1B25C701-1957-4E1B-B86D-1BF78CC1C2D1}"/>
                    </a:ext>
                  </a:extLst>
                </p:cNvPr>
                <p:cNvSpPr>
                  <a:spLocks noChangeAspect="1"/>
                </p:cNvSpPr>
                <p:nvPr/>
              </p:nvSpPr>
              <p:spPr>
                <a:xfrm>
                  <a:off x="11156327" y="166049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50" name="Rectangle 349">
                  <a:extLst>
                    <a:ext uri="{FF2B5EF4-FFF2-40B4-BE49-F238E27FC236}">
                      <a16:creationId xmlns:a16="http://schemas.microsoft.com/office/drawing/2014/main" id="{D049491C-26FB-4181-A4F9-9B6813A462A2}"/>
                    </a:ext>
                  </a:extLst>
                </p:cNvPr>
                <p:cNvSpPr>
                  <a:spLocks noChangeAspect="1"/>
                </p:cNvSpPr>
                <p:nvPr/>
              </p:nvSpPr>
              <p:spPr>
                <a:xfrm>
                  <a:off x="11040795" y="166049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51" name="Rectangle 350">
                  <a:extLst>
                    <a:ext uri="{FF2B5EF4-FFF2-40B4-BE49-F238E27FC236}">
                      <a16:creationId xmlns:a16="http://schemas.microsoft.com/office/drawing/2014/main" id="{E147BC26-5102-4879-97FD-A92F1DDAE821}"/>
                    </a:ext>
                  </a:extLst>
                </p:cNvPr>
                <p:cNvSpPr>
                  <a:spLocks noChangeAspect="1"/>
                </p:cNvSpPr>
                <p:nvPr/>
              </p:nvSpPr>
              <p:spPr>
                <a:xfrm>
                  <a:off x="11271859" y="166049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52" name="Rectangle 351">
                  <a:extLst>
                    <a:ext uri="{FF2B5EF4-FFF2-40B4-BE49-F238E27FC236}">
                      <a16:creationId xmlns:a16="http://schemas.microsoft.com/office/drawing/2014/main" id="{A428EE45-CD8C-4C51-8683-E488F5684332}"/>
                    </a:ext>
                  </a:extLst>
                </p:cNvPr>
                <p:cNvSpPr>
                  <a:spLocks noChangeAspect="1"/>
                </p:cNvSpPr>
                <p:nvPr/>
              </p:nvSpPr>
              <p:spPr>
                <a:xfrm>
                  <a:off x="11502924" y="174068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53" name="Rectangle 352">
                  <a:extLst>
                    <a:ext uri="{FF2B5EF4-FFF2-40B4-BE49-F238E27FC236}">
                      <a16:creationId xmlns:a16="http://schemas.microsoft.com/office/drawing/2014/main" id="{BCE40CBA-41C9-408E-8700-22F8717FFB80}"/>
                    </a:ext>
                  </a:extLst>
                </p:cNvPr>
                <p:cNvSpPr>
                  <a:spLocks noChangeAspect="1"/>
                </p:cNvSpPr>
                <p:nvPr/>
              </p:nvSpPr>
              <p:spPr>
                <a:xfrm>
                  <a:off x="11387391" y="174068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54" name="Rectangle 353">
                  <a:extLst>
                    <a:ext uri="{FF2B5EF4-FFF2-40B4-BE49-F238E27FC236}">
                      <a16:creationId xmlns:a16="http://schemas.microsoft.com/office/drawing/2014/main" id="{14D99FFB-DFF0-4B3C-A3DA-9F2768581B6D}"/>
                    </a:ext>
                  </a:extLst>
                </p:cNvPr>
                <p:cNvSpPr>
                  <a:spLocks noChangeAspect="1"/>
                </p:cNvSpPr>
                <p:nvPr/>
              </p:nvSpPr>
              <p:spPr>
                <a:xfrm>
                  <a:off x="11156327" y="174068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55" name="Rectangle 354">
                  <a:extLst>
                    <a:ext uri="{FF2B5EF4-FFF2-40B4-BE49-F238E27FC236}">
                      <a16:creationId xmlns:a16="http://schemas.microsoft.com/office/drawing/2014/main" id="{C811CDB7-11F2-479A-BD6A-719A7DC63B01}"/>
                    </a:ext>
                  </a:extLst>
                </p:cNvPr>
                <p:cNvSpPr>
                  <a:spLocks noChangeAspect="1"/>
                </p:cNvSpPr>
                <p:nvPr/>
              </p:nvSpPr>
              <p:spPr>
                <a:xfrm>
                  <a:off x="11040795" y="174068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56" name="Rectangle 355">
                  <a:extLst>
                    <a:ext uri="{FF2B5EF4-FFF2-40B4-BE49-F238E27FC236}">
                      <a16:creationId xmlns:a16="http://schemas.microsoft.com/office/drawing/2014/main" id="{39018654-E321-4CC1-A95D-1E14C11C1304}"/>
                    </a:ext>
                  </a:extLst>
                </p:cNvPr>
                <p:cNvSpPr>
                  <a:spLocks noChangeAspect="1"/>
                </p:cNvSpPr>
                <p:nvPr/>
              </p:nvSpPr>
              <p:spPr>
                <a:xfrm>
                  <a:off x="11271859" y="174068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grpSp>
          <p:sp>
            <p:nvSpPr>
              <p:cNvPr id="337" name="Rectangle 336">
                <a:extLst>
                  <a:ext uri="{FF2B5EF4-FFF2-40B4-BE49-F238E27FC236}">
                    <a16:creationId xmlns:a16="http://schemas.microsoft.com/office/drawing/2014/main" id="{7374D1F8-0C79-4E40-AC3E-003928645665}"/>
                  </a:ext>
                </a:extLst>
              </p:cNvPr>
              <p:cNvSpPr>
                <a:spLocks noChangeAspect="1"/>
              </p:cNvSpPr>
              <p:nvPr/>
            </p:nvSpPr>
            <p:spPr>
              <a:xfrm flipH="1">
                <a:off x="5377479" y="2778762"/>
                <a:ext cx="26469" cy="38743"/>
              </a:xfrm>
              <a:prstGeom prst="rect">
                <a:avLst/>
              </a:prstGeom>
              <a:solidFill>
                <a:schemeClr val="bg1"/>
              </a:solid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38" name="Rectangle 337">
                <a:extLst>
                  <a:ext uri="{FF2B5EF4-FFF2-40B4-BE49-F238E27FC236}">
                    <a16:creationId xmlns:a16="http://schemas.microsoft.com/office/drawing/2014/main" id="{9960F006-6DFF-44A7-8DFF-BE4719132461}"/>
                  </a:ext>
                </a:extLst>
              </p:cNvPr>
              <p:cNvSpPr>
                <a:spLocks noChangeAspect="1"/>
              </p:cNvSpPr>
              <p:nvPr/>
            </p:nvSpPr>
            <p:spPr>
              <a:xfrm flipH="1">
                <a:off x="5444367" y="2778762"/>
                <a:ext cx="26469" cy="38743"/>
              </a:xfrm>
              <a:prstGeom prst="rect">
                <a:avLst/>
              </a:prstGeom>
              <a:solidFill>
                <a:schemeClr val="bg1"/>
              </a:solid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39" name="Rectangle 338">
                <a:extLst>
                  <a:ext uri="{FF2B5EF4-FFF2-40B4-BE49-F238E27FC236}">
                    <a16:creationId xmlns:a16="http://schemas.microsoft.com/office/drawing/2014/main" id="{48B29E9E-D675-4846-A3D1-CE610A1CB70E}"/>
                  </a:ext>
                </a:extLst>
              </p:cNvPr>
              <p:cNvSpPr>
                <a:spLocks noChangeAspect="1"/>
              </p:cNvSpPr>
              <p:nvPr/>
            </p:nvSpPr>
            <p:spPr>
              <a:xfrm flipH="1">
                <a:off x="5578139" y="2778762"/>
                <a:ext cx="26469" cy="38743"/>
              </a:xfrm>
              <a:prstGeom prst="rect">
                <a:avLst/>
              </a:prstGeom>
              <a:solidFill>
                <a:schemeClr val="bg1"/>
              </a:solid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40" name="Rectangle 339">
                <a:extLst>
                  <a:ext uri="{FF2B5EF4-FFF2-40B4-BE49-F238E27FC236}">
                    <a16:creationId xmlns:a16="http://schemas.microsoft.com/office/drawing/2014/main" id="{0762B018-324B-472B-BDF6-4D03517B6EF6}"/>
                  </a:ext>
                </a:extLst>
              </p:cNvPr>
              <p:cNvSpPr>
                <a:spLocks noChangeAspect="1"/>
              </p:cNvSpPr>
              <p:nvPr/>
            </p:nvSpPr>
            <p:spPr>
              <a:xfrm flipH="1">
                <a:off x="5645025" y="2778759"/>
                <a:ext cx="26469" cy="38743"/>
              </a:xfrm>
              <a:prstGeom prst="rect">
                <a:avLst/>
              </a:prstGeom>
              <a:solidFill>
                <a:schemeClr val="bg1"/>
              </a:solid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41" name="Rectangle 340">
                <a:extLst>
                  <a:ext uri="{FF2B5EF4-FFF2-40B4-BE49-F238E27FC236}">
                    <a16:creationId xmlns:a16="http://schemas.microsoft.com/office/drawing/2014/main" id="{B9CA2F34-C947-4301-AD3E-A2420CEC4444}"/>
                  </a:ext>
                </a:extLst>
              </p:cNvPr>
              <p:cNvSpPr>
                <a:spLocks noChangeAspect="1"/>
              </p:cNvSpPr>
              <p:nvPr/>
            </p:nvSpPr>
            <p:spPr>
              <a:xfrm flipH="1">
                <a:off x="5495085" y="2778765"/>
                <a:ext cx="58803" cy="68271"/>
              </a:xfrm>
              <a:prstGeom prst="rect">
                <a:avLst/>
              </a:prstGeom>
              <a:solidFill>
                <a:schemeClr val="bg1"/>
              </a:solid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grpSp>
        <p:grpSp>
          <p:nvGrpSpPr>
            <p:cNvPr id="357" name="Group 356">
              <a:extLst>
                <a:ext uri="{FF2B5EF4-FFF2-40B4-BE49-F238E27FC236}">
                  <a16:creationId xmlns:a16="http://schemas.microsoft.com/office/drawing/2014/main" id="{9931962A-36E0-4B5C-9EF2-E4E67A077213}"/>
                </a:ext>
              </a:extLst>
            </p:cNvPr>
            <p:cNvGrpSpPr/>
            <p:nvPr/>
          </p:nvGrpSpPr>
          <p:grpSpPr>
            <a:xfrm>
              <a:off x="6549912" y="1698165"/>
              <a:ext cx="426313" cy="257325"/>
              <a:chOff x="5730781" y="2590678"/>
              <a:chExt cx="426313" cy="257325"/>
            </a:xfrm>
          </p:grpSpPr>
          <p:sp>
            <p:nvSpPr>
              <p:cNvPr id="358" name="object 46">
                <a:extLst>
                  <a:ext uri="{FF2B5EF4-FFF2-40B4-BE49-F238E27FC236}">
                    <a16:creationId xmlns:a16="http://schemas.microsoft.com/office/drawing/2014/main" id="{85F00867-62B0-42DC-A101-7BDB18483A77}"/>
                  </a:ext>
                </a:extLst>
              </p:cNvPr>
              <p:cNvSpPr>
                <a:spLocks noChangeAspect="1"/>
              </p:cNvSpPr>
              <p:nvPr/>
            </p:nvSpPr>
            <p:spPr>
              <a:xfrm flipH="1">
                <a:off x="5731409" y="2664414"/>
                <a:ext cx="425685" cy="183577"/>
              </a:xfrm>
              <a:custGeom>
                <a:avLst/>
                <a:gdLst/>
                <a:ahLst/>
                <a:cxnLst/>
                <a:rect l="l" t="t" r="r" b="b"/>
                <a:pathLst>
                  <a:path w="120650" h="104139">
                    <a:moveTo>
                      <a:pt x="0" y="104025"/>
                    </a:moveTo>
                    <a:lnTo>
                      <a:pt x="120459" y="104025"/>
                    </a:lnTo>
                    <a:lnTo>
                      <a:pt x="120459" y="0"/>
                    </a:lnTo>
                    <a:lnTo>
                      <a:pt x="0" y="0"/>
                    </a:lnTo>
                    <a:lnTo>
                      <a:pt x="0" y="104025"/>
                    </a:lnTo>
                    <a:close/>
                  </a:path>
                </a:pathLst>
              </a:custGeom>
              <a:solidFill>
                <a:srgbClr val="8C8C8C">
                  <a:lumMod val="75000"/>
                </a:srgbClr>
              </a:solidFill>
            </p:spPr>
            <p:txBody>
              <a:bodyPr wrap="square" lIns="0" tIns="0" rIns="0" bIns="0" rtlCol="0"/>
              <a:lstStyle/>
              <a:p>
                <a:pPr defTabSz="914403">
                  <a:defRPr/>
                </a:pPr>
                <a:endParaRPr sz="1799" kern="0">
                  <a:solidFill>
                    <a:prstClr val="white"/>
                  </a:solidFill>
                  <a:latin typeface="+mj-lt"/>
                </a:endParaRPr>
              </a:p>
            </p:txBody>
          </p:sp>
          <p:grpSp>
            <p:nvGrpSpPr>
              <p:cNvPr id="359" name="Group 358">
                <a:extLst>
                  <a:ext uri="{FF2B5EF4-FFF2-40B4-BE49-F238E27FC236}">
                    <a16:creationId xmlns:a16="http://schemas.microsoft.com/office/drawing/2014/main" id="{6411C3B0-1DED-499C-9A80-BEA7D1E6CB07}"/>
                  </a:ext>
                </a:extLst>
              </p:cNvPr>
              <p:cNvGrpSpPr>
                <a:grpSpLocks noChangeAspect="1"/>
              </p:cNvGrpSpPr>
              <p:nvPr/>
            </p:nvGrpSpPr>
            <p:grpSpPr>
              <a:xfrm flipH="1">
                <a:off x="5730781" y="2590678"/>
                <a:ext cx="208886" cy="62766"/>
                <a:chOff x="9839670" y="852034"/>
                <a:chExt cx="162412" cy="49293"/>
              </a:xfrm>
              <a:solidFill>
                <a:srgbClr val="8C8C8C">
                  <a:lumMod val="75000"/>
                </a:srgbClr>
              </a:solidFill>
            </p:grpSpPr>
            <p:sp>
              <p:nvSpPr>
                <p:cNvPr id="419" name="object 58">
                  <a:extLst>
                    <a:ext uri="{FF2B5EF4-FFF2-40B4-BE49-F238E27FC236}">
                      <a16:creationId xmlns:a16="http://schemas.microsoft.com/office/drawing/2014/main" id="{A7B485D0-AA4F-45D6-AD47-ACE5667466BC}"/>
                    </a:ext>
                  </a:extLst>
                </p:cNvPr>
                <p:cNvSpPr/>
                <p:nvPr/>
              </p:nvSpPr>
              <p:spPr>
                <a:xfrm>
                  <a:off x="9859619" y="852034"/>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20" name="object 60">
                  <a:extLst>
                    <a:ext uri="{FF2B5EF4-FFF2-40B4-BE49-F238E27FC236}">
                      <a16:creationId xmlns:a16="http://schemas.microsoft.com/office/drawing/2014/main" id="{BF537BBB-39CD-4A84-9AF1-AAC27524E30F}"/>
                    </a:ext>
                  </a:extLst>
                </p:cNvPr>
                <p:cNvSpPr/>
                <p:nvPr/>
              </p:nvSpPr>
              <p:spPr>
                <a:xfrm>
                  <a:off x="9896481" y="852034"/>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21" name="object 61">
                  <a:extLst>
                    <a:ext uri="{FF2B5EF4-FFF2-40B4-BE49-F238E27FC236}">
                      <a16:creationId xmlns:a16="http://schemas.microsoft.com/office/drawing/2014/main" id="{F55099FD-F3EE-4CBF-8BC6-4147F2472FD6}"/>
                    </a:ext>
                  </a:extLst>
                </p:cNvPr>
                <p:cNvSpPr/>
                <p:nvPr/>
              </p:nvSpPr>
              <p:spPr>
                <a:xfrm>
                  <a:off x="9878158" y="852034"/>
                  <a:ext cx="20836" cy="8930"/>
                </a:xfrm>
                <a:custGeom>
                  <a:avLst/>
                  <a:gdLst/>
                  <a:ahLst/>
                  <a:cxnLst/>
                  <a:rect l="l" t="t" r="r" b="b"/>
                  <a:pathLst>
                    <a:path w="13334" h="5714">
                      <a:moveTo>
                        <a:pt x="12865" y="0"/>
                      </a:moveTo>
                      <a:lnTo>
                        <a:pt x="2806" y="0"/>
                      </a:lnTo>
                      <a:lnTo>
                        <a:pt x="0" y="5664"/>
                      </a:lnTo>
                      <a:lnTo>
                        <a:pt x="10058" y="5664"/>
                      </a:lnTo>
                      <a:lnTo>
                        <a:pt x="12865"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22" name="object 62">
                  <a:extLst>
                    <a:ext uri="{FF2B5EF4-FFF2-40B4-BE49-F238E27FC236}">
                      <a16:creationId xmlns:a16="http://schemas.microsoft.com/office/drawing/2014/main" id="{84DE6507-1282-4062-881F-28497D6CD121}"/>
                    </a:ext>
                  </a:extLst>
                </p:cNvPr>
                <p:cNvSpPr/>
                <p:nvPr/>
              </p:nvSpPr>
              <p:spPr>
                <a:xfrm>
                  <a:off x="9988191" y="852034"/>
                  <a:ext cx="13891" cy="8930"/>
                </a:xfrm>
                <a:custGeom>
                  <a:avLst/>
                  <a:gdLst/>
                  <a:ahLst/>
                  <a:cxnLst/>
                  <a:rect l="l" t="t" r="r" b="b"/>
                  <a:pathLst>
                    <a:path w="8890" h="5714">
                      <a:moveTo>
                        <a:pt x="8394" y="0"/>
                      </a:moveTo>
                      <a:lnTo>
                        <a:pt x="2793" y="0"/>
                      </a:lnTo>
                      <a:lnTo>
                        <a:pt x="0" y="5664"/>
                      </a:lnTo>
                      <a:lnTo>
                        <a:pt x="8394" y="5664"/>
                      </a:lnTo>
                      <a:lnTo>
                        <a:pt x="8394"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23" name="object 63">
                  <a:extLst>
                    <a:ext uri="{FF2B5EF4-FFF2-40B4-BE49-F238E27FC236}">
                      <a16:creationId xmlns:a16="http://schemas.microsoft.com/office/drawing/2014/main" id="{0E00A71E-52DF-40A9-9289-A7BC8584E1EC}"/>
                    </a:ext>
                  </a:extLst>
                </p:cNvPr>
                <p:cNvSpPr/>
                <p:nvPr/>
              </p:nvSpPr>
              <p:spPr>
                <a:xfrm>
                  <a:off x="9969850" y="852034"/>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24" name="object 64">
                  <a:extLst>
                    <a:ext uri="{FF2B5EF4-FFF2-40B4-BE49-F238E27FC236}">
                      <a16:creationId xmlns:a16="http://schemas.microsoft.com/office/drawing/2014/main" id="{159B7154-F609-4CA6-979E-7F746B4C8E1B}"/>
                    </a:ext>
                  </a:extLst>
                </p:cNvPr>
                <p:cNvSpPr/>
                <p:nvPr/>
              </p:nvSpPr>
              <p:spPr>
                <a:xfrm>
                  <a:off x="9951508" y="852034"/>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25" name="object 65">
                  <a:extLst>
                    <a:ext uri="{FF2B5EF4-FFF2-40B4-BE49-F238E27FC236}">
                      <a16:creationId xmlns:a16="http://schemas.microsoft.com/office/drawing/2014/main" id="{B01923E9-FD13-4670-B954-8CD6D80AFA4C}"/>
                    </a:ext>
                  </a:extLst>
                </p:cNvPr>
                <p:cNvSpPr/>
                <p:nvPr/>
              </p:nvSpPr>
              <p:spPr>
                <a:xfrm>
                  <a:off x="9933185" y="852034"/>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26" name="object 66">
                  <a:extLst>
                    <a:ext uri="{FF2B5EF4-FFF2-40B4-BE49-F238E27FC236}">
                      <a16:creationId xmlns:a16="http://schemas.microsoft.com/office/drawing/2014/main" id="{7B9F59A7-3380-491E-83C3-1A32D26452F6}"/>
                    </a:ext>
                  </a:extLst>
                </p:cNvPr>
                <p:cNvSpPr/>
                <p:nvPr/>
              </p:nvSpPr>
              <p:spPr>
                <a:xfrm>
                  <a:off x="9914824" y="852034"/>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27" name="object 68">
                  <a:extLst>
                    <a:ext uri="{FF2B5EF4-FFF2-40B4-BE49-F238E27FC236}">
                      <a16:creationId xmlns:a16="http://schemas.microsoft.com/office/drawing/2014/main" id="{FD0B5F40-26F8-44A8-B182-9F5179150C4D}"/>
                    </a:ext>
                  </a:extLst>
                </p:cNvPr>
                <p:cNvSpPr/>
                <p:nvPr/>
              </p:nvSpPr>
              <p:spPr>
                <a:xfrm>
                  <a:off x="9928183" y="862161"/>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28" name="object 69">
                  <a:extLst>
                    <a:ext uri="{FF2B5EF4-FFF2-40B4-BE49-F238E27FC236}">
                      <a16:creationId xmlns:a16="http://schemas.microsoft.com/office/drawing/2014/main" id="{A6B9E94E-E12C-4908-9015-C4DC95EBBB47}"/>
                    </a:ext>
                  </a:extLst>
                </p:cNvPr>
                <p:cNvSpPr/>
                <p:nvPr/>
              </p:nvSpPr>
              <p:spPr>
                <a:xfrm>
                  <a:off x="9909842" y="862161"/>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29" name="object 70">
                  <a:extLst>
                    <a:ext uri="{FF2B5EF4-FFF2-40B4-BE49-F238E27FC236}">
                      <a16:creationId xmlns:a16="http://schemas.microsoft.com/office/drawing/2014/main" id="{52982D1D-0B5C-4FF1-8B3E-56760AE95192}"/>
                    </a:ext>
                  </a:extLst>
                </p:cNvPr>
                <p:cNvSpPr/>
                <p:nvPr/>
              </p:nvSpPr>
              <p:spPr>
                <a:xfrm>
                  <a:off x="9891481" y="862161"/>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30" name="object 71">
                  <a:extLst>
                    <a:ext uri="{FF2B5EF4-FFF2-40B4-BE49-F238E27FC236}">
                      <a16:creationId xmlns:a16="http://schemas.microsoft.com/office/drawing/2014/main" id="{3C03C76A-D70C-4A15-AE50-7A8395A86BCB}"/>
                    </a:ext>
                  </a:extLst>
                </p:cNvPr>
                <p:cNvSpPr/>
                <p:nvPr/>
              </p:nvSpPr>
              <p:spPr>
                <a:xfrm>
                  <a:off x="9873156" y="862161"/>
                  <a:ext cx="20836" cy="8930"/>
                </a:xfrm>
                <a:custGeom>
                  <a:avLst/>
                  <a:gdLst/>
                  <a:ahLst/>
                  <a:cxnLst/>
                  <a:rect l="l" t="t" r="r" b="b"/>
                  <a:pathLst>
                    <a:path w="13334" h="5714">
                      <a:moveTo>
                        <a:pt x="12865" y="0"/>
                      </a:moveTo>
                      <a:lnTo>
                        <a:pt x="2806" y="0"/>
                      </a:lnTo>
                      <a:lnTo>
                        <a:pt x="0" y="5651"/>
                      </a:lnTo>
                      <a:lnTo>
                        <a:pt x="10058" y="5651"/>
                      </a:lnTo>
                      <a:lnTo>
                        <a:pt x="12865"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31" name="object 72">
                  <a:extLst>
                    <a:ext uri="{FF2B5EF4-FFF2-40B4-BE49-F238E27FC236}">
                      <a16:creationId xmlns:a16="http://schemas.microsoft.com/office/drawing/2014/main" id="{D1A66F9B-86AC-447A-BC34-FE66224ABEC3}"/>
                    </a:ext>
                  </a:extLst>
                </p:cNvPr>
                <p:cNvSpPr/>
                <p:nvPr/>
              </p:nvSpPr>
              <p:spPr>
                <a:xfrm>
                  <a:off x="9854619" y="862161"/>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32" name="object 73">
                  <a:extLst>
                    <a:ext uri="{FF2B5EF4-FFF2-40B4-BE49-F238E27FC236}">
                      <a16:creationId xmlns:a16="http://schemas.microsoft.com/office/drawing/2014/main" id="{C63A877D-20EC-4D29-9115-7B2FCE0420A9}"/>
                    </a:ext>
                  </a:extLst>
                </p:cNvPr>
                <p:cNvSpPr/>
                <p:nvPr/>
              </p:nvSpPr>
              <p:spPr>
                <a:xfrm>
                  <a:off x="9946508" y="862161"/>
                  <a:ext cx="20836" cy="8930"/>
                </a:xfrm>
                <a:custGeom>
                  <a:avLst/>
                  <a:gdLst/>
                  <a:ahLst/>
                  <a:cxnLst/>
                  <a:rect l="l" t="t" r="r" b="b"/>
                  <a:pathLst>
                    <a:path w="13334" h="5714">
                      <a:moveTo>
                        <a:pt x="12979" y="0"/>
                      </a:moveTo>
                      <a:lnTo>
                        <a:pt x="2793" y="0"/>
                      </a:lnTo>
                      <a:lnTo>
                        <a:pt x="0" y="5651"/>
                      </a:lnTo>
                      <a:lnTo>
                        <a:pt x="10185" y="5651"/>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33" name="object 74">
                  <a:extLst>
                    <a:ext uri="{FF2B5EF4-FFF2-40B4-BE49-F238E27FC236}">
                      <a16:creationId xmlns:a16="http://schemas.microsoft.com/office/drawing/2014/main" id="{4D3E7565-6983-4593-A063-F165E77FD8B4}"/>
                    </a:ext>
                  </a:extLst>
                </p:cNvPr>
                <p:cNvSpPr/>
                <p:nvPr/>
              </p:nvSpPr>
              <p:spPr>
                <a:xfrm>
                  <a:off x="9983191" y="862161"/>
                  <a:ext cx="18852" cy="8930"/>
                </a:xfrm>
                <a:custGeom>
                  <a:avLst/>
                  <a:gdLst/>
                  <a:ahLst/>
                  <a:cxnLst/>
                  <a:rect l="l" t="t" r="r" b="b"/>
                  <a:pathLst>
                    <a:path w="12065" h="5714">
                      <a:moveTo>
                        <a:pt x="11595" y="0"/>
                      </a:moveTo>
                      <a:lnTo>
                        <a:pt x="2793" y="0"/>
                      </a:lnTo>
                      <a:lnTo>
                        <a:pt x="0" y="5651"/>
                      </a:lnTo>
                      <a:lnTo>
                        <a:pt x="10172" y="5651"/>
                      </a:lnTo>
                      <a:lnTo>
                        <a:pt x="11595" y="2794"/>
                      </a:lnTo>
                      <a:lnTo>
                        <a:pt x="11595"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34" name="object 75">
                  <a:extLst>
                    <a:ext uri="{FF2B5EF4-FFF2-40B4-BE49-F238E27FC236}">
                      <a16:creationId xmlns:a16="http://schemas.microsoft.com/office/drawing/2014/main" id="{F98AAF0F-FD05-4A77-838A-2D6CDA65B8BE}"/>
                    </a:ext>
                  </a:extLst>
                </p:cNvPr>
                <p:cNvSpPr/>
                <p:nvPr/>
              </p:nvSpPr>
              <p:spPr>
                <a:xfrm>
                  <a:off x="9964849" y="862161"/>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35" name="object 76">
                  <a:extLst>
                    <a:ext uri="{FF2B5EF4-FFF2-40B4-BE49-F238E27FC236}">
                      <a16:creationId xmlns:a16="http://schemas.microsoft.com/office/drawing/2014/main" id="{43770F2A-9502-4EB3-9C0E-8D8F14F7D565}"/>
                    </a:ext>
                  </a:extLst>
                </p:cNvPr>
                <p:cNvSpPr/>
                <p:nvPr/>
              </p:nvSpPr>
              <p:spPr>
                <a:xfrm>
                  <a:off x="9849672" y="872162"/>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36" name="object 78">
                  <a:extLst>
                    <a:ext uri="{FF2B5EF4-FFF2-40B4-BE49-F238E27FC236}">
                      <a16:creationId xmlns:a16="http://schemas.microsoft.com/office/drawing/2014/main" id="{F3CD401E-DE0B-4003-AF38-03B41B3866A1}"/>
                    </a:ext>
                  </a:extLst>
                </p:cNvPr>
                <p:cNvSpPr/>
                <p:nvPr/>
              </p:nvSpPr>
              <p:spPr>
                <a:xfrm>
                  <a:off x="9868211" y="872162"/>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37" name="object 79">
                  <a:extLst>
                    <a:ext uri="{FF2B5EF4-FFF2-40B4-BE49-F238E27FC236}">
                      <a16:creationId xmlns:a16="http://schemas.microsoft.com/office/drawing/2014/main" id="{226B9AEB-66B0-4769-8EEB-56D7A524F6B0}"/>
                    </a:ext>
                  </a:extLst>
                </p:cNvPr>
                <p:cNvSpPr/>
                <p:nvPr/>
              </p:nvSpPr>
              <p:spPr>
                <a:xfrm>
                  <a:off x="9886553" y="872162"/>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38" name="object 80">
                  <a:extLst>
                    <a:ext uri="{FF2B5EF4-FFF2-40B4-BE49-F238E27FC236}">
                      <a16:creationId xmlns:a16="http://schemas.microsoft.com/office/drawing/2014/main" id="{86D14262-0B79-484F-AA19-A02E1CE4344E}"/>
                    </a:ext>
                  </a:extLst>
                </p:cNvPr>
                <p:cNvSpPr/>
                <p:nvPr/>
              </p:nvSpPr>
              <p:spPr>
                <a:xfrm>
                  <a:off x="9904895" y="872162"/>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39" name="object 81">
                  <a:extLst>
                    <a:ext uri="{FF2B5EF4-FFF2-40B4-BE49-F238E27FC236}">
                      <a16:creationId xmlns:a16="http://schemas.microsoft.com/office/drawing/2014/main" id="{7FBE192D-B1F7-459C-ACFF-21731113F945}"/>
                    </a:ext>
                  </a:extLst>
                </p:cNvPr>
                <p:cNvSpPr/>
                <p:nvPr/>
              </p:nvSpPr>
              <p:spPr>
                <a:xfrm>
                  <a:off x="9941560" y="872162"/>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40" name="object 82">
                  <a:extLst>
                    <a:ext uri="{FF2B5EF4-FFF2-40B4-BE49-F238E27FC236}">
                      <a16:creationId xmlns:a16="http://schemas.microsoft.com/office/drawing/2014/main" id="{75854462-A31E-482A-A050-5E3A9795770A}"/>
                    </a:ext>
                  </a:extLst>
                </p:cNvPr>
                <p:cNvSpPr/>
                <p:nvPr/>
              </p:nvSpPr>
              <p:spPr>
                <a:xfrm>
                  <a:off x="9923219" y="872162"/>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41" name="object 83">
                  <a:extLst>
                    <a:ext uri="{FF2B5EF4-FFF2-40B4-BE49-F238E27FC236}">
                      <a16:creationId xmlns:a16="http://schemas.microsoft.com/office/drawing/2014/main" id="{959F22B3-FD40-49F5-AA9A-58B637A068E4}"/>
                    </a:ext>
                  </a:extLst>
                </p:cNvPr>
                <p:cNvSpPr/>
                <p:nvPr/>
              </p:nvSpPr>
              <p:spPr>
                <a:xfrm>
                  <a:off x="9959881" y="872162"/>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42" name="object 84">
                  <a:extLst>
                    <a:ext uri="{FF2B5EF4-FFF2-40B4-BE49-F238E27FC236}">
                      <a16:creationId xmlns:a16="http://schemas.microsoft.com/office/drawing/2014/main" id="{501E6E47-7CF6-44DE-9CC5-34BB5B4A23D3}"/>
                    </a:ext>
                  </a:extLst>
                </p:cNvPr>
                <p:cNvSpPr/>
                <p:nvPr/>
              </p:nvSpPr>
              <p:spPr>
                <a:xfrm>
                  <a:off x="9978224" y="872162"/>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43" name="object 85">
                  <a:extLst>
                    <a:ext uri="{FF2B5EF4-FFF2-40B4-BE49-F238E27FC236}">
                      <a16:creationId xmlns:a16="http://schemas.microsoft.com/office/drawing/2014/main" id="{A18B14CF-6D0A-4731-A8A1-A7C6E72662E3}"/>
                    </a:ext>
                  </a:extLst>
                </p:cNvPr>
                <p:cNvSpPr/>
                <p:nvPr/>
              </p:nvSpPr>
              <p:spPr>
                <a:xfrm>
                  <a:off x="9996567" y="872162"/>
                  <a:ext cx="4961" cy="8930"/>
                </a:xfrm>
                <a:custGeom>
                  <a:avLst/>
                  <a:gdLst/>
                  <a:ahLst/>
                  <a:cxnLst/>
                  <a:rect l="l" t="t" r="r" b="b"/>
                  <a:pathLst>
                    <a:path w="3175" h="5714">
                      <a:moveTo>
                        <a:pt x="3039" y="0"/>
                      </a:moveTo>
                      <a:lnTo>
                        <a:pt x="2793" y="0"/>
                      </a:lnTo>
                      <a:lnTo>
                        <a:pt x="0" y="5664"/>
                      </a:lnTo>
                      <a:lnTo>
                        <a:pt x="3039" y="5664"/>
                      </a:lnTo>
                      <a:lnTo>
                        <a:pt x="303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44" name="object 86">
                  <a:extLst>
                    <a:ext uri="{FF2B5EF4-FFF2-40B4-BE49-F238E27FC236}">
                      <a16:creationId xmlns:a16="http://schemas.microsoft.com/office/drawing/2014/main" id="{48175F6E-5352-44CE-9753-2C3C437EB0C3}"/>
                    </a:ext>
                  </a:extLst>
                </p:cNvPr>
                <p:cNvSpPr/>
                <p:nvPr/>
              </p:nvSpPr>
              <p:spPr>
                <a:xfrm>
                  <a:off x="9844670"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45" name="object 88">
                  <a:extLst>
                    <a:ext uri="{FF2B5EF4-FFF2-40B4-BE49-F238E27FC236}">
                      <a16:creationId xmlns:a16="http://schemas.microsoft.com/office/drawing/2014/main" id="{15448CA5-308C-4478-B03D-6403339A97CD}"/>
                    </a:ext>
                  </a:extLst>
                </p:cNvPr>
                <p:cNvSpPr/>
                <p:nvPr/>
              </p:nvSpPr>
              <p:spPr>
                <a:xfrm>
                  <a:off x="9863230" y="882270"/>
                  <a:ext cx="20836" cy="8930"/>
                </a:xfrm>
                <a:custGeom>
                  <a:avLst/>
                  <a:gdLst/>
                  <a:ahLst/>
                  <a:cxnLst/>
                  <a:rect l="l" t="t" r="r" b="b"/>
                  <a:pathLst>
                    <a:path w="13334" h="5714">
                      <a:moveTo>
                        <a:pt x="12852" y="0"/>
                      </a:moveTo>
                      <a:lnTo>
                        <a:pt x="2793" y="0"/>
                      </a:lnTo>
                      <a:lnTo>
                        <a:pt x="0" y="5664"/>
                      </a:lnTo>
                      <a:lnTo>
                        <a:pt x="10058" y="5664"/>
                      </a:lnTo>
                      <a:lnTo>
                        <a:pt x="1285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46" name="object 89">
                  <a:extLst>
                    <a:ext uri="{FF2B5EF4-FFF2-40B4-BE49-F238E27FC236}">
                      <a16:creationId xmlns:a16="http://schemas.microsoft.com/office/drawing/2014/main" id="{8C80AF26-B0C8-45FF-8F1F-F1A2EBE77680}"/>
                    </a:ext>
                  </a:extLst>
                </p:cNvPr>
                <p:cNvSpPr/>
                <p:nvPr/>
              </p:nvSpPr>
              <p:spPr>
                <a:xfrm>
                  <a:off x="9899894" y="882270"/>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47" name="object 90">
                  <a:extLst>
                    <a:ext uri="{FF2B5EF4-FFF2-40B4-BE49-F238E27FC236}">
                      <a16:creationId xmlns:a16="http://schemas.microsoft.com/office/drawing/2014/main" id="{042DA2B6-3252-4211-B17E-B4E62E194B9E}"/>
                    </a:ext>
                  </a:extLst>
                </p:cNvPr>
                <p:cNvSpPr/>
                <p:nvPr/>
              </p:nvSpPr>
              <p:spPr>
                <a:xfrm>
                  <a:off x="9881553" y="882270"/>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48" name="object 91">
                  <a:extLst>
                    <a:ext uri="{FF2B5EF4-FFF2-40B4-BE49-F238E27FC236}">
                      <a16:creationId xmlns:a16="http://schemas.microsoft.com/office/drawing/2014/main" id="{58FCB3F9-B1AD-4F40-BF49-A10715A611ED}"/>
                    </a:ext>
                  </a:extLst>
                </p:cNvPr>
                <p:cNvSpPr/>
                <p:nvPr/>
              </p:nvSpPr>
              <p:spPr>
                <a:xfrm>
                  <a:off x="9954881"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49" name="object 92">
                  <a:extLst>
                    <a:ext uri="{FF2B5EF4-FFF2-40B4-BE49-F238E27FC236}">
                      <a16:creationId xmlns:a16="http://schemas.microsoft.com/office/drawing/2014/main" id="{1C9C6D3A-0C24-4EF0-8FDB-9A10CB7E247B}"/>
                    </a:ext>
                  </a:extLst>
                </p:cNvPr>
                <p:cNvSpPr/>
                <p:nvPr/>
              </p:nvSpPr>
              <p:spPr>
                <a:xfrm>
                  <a:off x="9936539"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50" name="object 93">
                  <a:extLst>
                    <a:ext uri="{FF2B5EF4-FFF2-40B4-BE49-F238E27FC236}">
                      <a16:creationId xmlns:a16="http://schemas.microsoft.com/office/drawing/2014/main" id="{7DC22678-BD13-43FF-9147-EEC72C602496}"/>
                    </a:ext>
                  </a:extLst>
                </p:cNvPr>
                <p:cNvSpPr/>
                <p:nvPr/>
              </p:nvSpPr>
              <p:spPr>
                <a:xfrm>
                  <a:off x="9918217" y="882270"/>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51" name="object 94">
                  <a:extLst>
                    <a:ext uri="{FF2B5EF4-FFF2-40B4-BE49-F238E27FC236}">
                      <a16:creationId xmlns:a16="http://schemas.microsoft.com/office/drawing/2014/main" id="{79431EA6-9879-48F2-BC83-31A935E51F9E}"/>
                    </a:ext>
                  </a:extLst>
                </p:cNvPr>
                <p:cNvSpPr/>
                <p:nvPr/>
              </p:nvSpPr>
              <p:spPr>
                <a:xfrm>
                  <a:off x="9991564" y="882270"/>
                  <a:ext cx="9922" cy="8930"/>
                </a:xfrm>
                <a:custGeom>
                  <a:avLst/>
                  <a:gdLst/>
                  <a:ahLst/>
                  <a:cxnLst/>
                  <a:rect l="l" t="t" r="r" b="b"/>
                  <a:pathLst>
                    <a:path w="6350" h="5714">
                      <a:moveTo>
                        <a:pt x="6235" y="0"/>
                      </a:moveTo>
                      <a:lnTo>
                        <a:pt x="2806" y="0"/>
                      </a:lnTo>
                      <a:lnTo>
                        <a:pt x="0" y="5664"/>
                      </a:lnTo>
                      <a:lnTo>
                        <a:pt x="6235" y="5664"/>
                      </a:lnTo>
                      <a:lnTo>
                        <a:pt x="6235"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52" name="object 95">
                  <a:extLst>
                    <a:ext uri="{FF2B5EF4-FFF2-40B4-BE49-F238E27FC236}">
                      <a16:creationId xmlns:a16="http://schemas.microsoft.com/office/drawing/2014/main" id="{29D11B9A-1ECB-4CCA-8C1E-19B2FA207B01}"/>
                    </a:ext>
                  </a:extLst>
                </p:cNvPr>
                <p:cNvSpPr/>
                <p:nvPr/>
              </p:nvSpPr>
              <p:spPr>
                <a:xfrm>
                  <a:off x="9973224"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53" name="object 97">
                  <a:extLst>
                    <a:ext uri="{FF2B5EF4-FFF2-40B4-BE49-F238E27FC236}">
                      <a16:creationId xmlns:a16="http://schemas.microsoft.com/office/drawing/2014/main" id="{C3B4F70B-FC4E-4CBE-AFA7-5EC40FE383EF}"/>
                    </a:ext>
                  </a:extLst>
                </p:cNvPr>
                <p:cNvSpPr/>
                <p:nvPr/>
              </p:nvSpPr>
              <p:spPr>
                <a:xfrm>
                  <a:off x="9839670"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54" name="object 98">
                  <a:extLst>
                    <a:ext uri="{FF2B5EF4-FFF2-40B4-BE49-F238E27FC236}">
                      <a16:creationId xmlns:a16="http://schemas.microsoft.com/office/drawing/2014/main" id="{C9CFD36B-3FE5-463D-ABA5-2D305D526A2A}"/>
                    </a:ext>
                  </a:extLst>
                </p:cNvPr>
                <p:cNvSpPr/>
                <p:nvPr/>
              </p:nvSpPr>
              <p:spPr>
                <a:xfrm>
                  <a:off x="9894875" y="892397"/>
                  <a:ext cx="20836" cy="8930"/>
                </a:xfrm>
                <a:custGeom>
                  <a:avLst/>
                  <a:gdLst/>
                  <a:ahLst/>
                  <a:cxnLst/>
                  <a:rect l="l" t="t" r="r" b="b"/>
                  <a:pathLst>
                    <a:path w="13334" h="5714">
                      <a:moveTo>
                        <a:pt x="12992" y="0"/>
                      </a:moveTo>
                      <a:lnTo>
                        <a:pt x="2793"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55" name="object 99">
                  <a:extLst>
                    <a:ext uri="{FF2B5EF4-FFF2-40B4-BE49-F238E27FC236}">
                      <a16:creationId xmlns:a16="http://schemas.microsoft.com/office/drawing/2014/main" id="{CAF20502-4BC9-4A15-AC40-2CDE9CB3B05E}"/>
                    </a:ext>
                  </a:extLst>
                </p:cNvPr>
                <p:cNvSpPr/>
                <p:nvPr/>
              </p:nvSpPr>
              <p:spPr>
                <a:xfrm>
                  <a:off x="9858211" y="892397"/>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56" name="object 100">
                  <a:extLst>
                    <a:ext uri="{FF2B5EF4-FFF2-40B4-BE49-F238E27FC236}">
                      <a16:creationId xmlns:a16="http://schemas.microsoft.com/office/drawing/2014/main" id="{50041DFE-5095-472F-9610-361CB393E4FA}"/>
                    </a:ext>
                  </a:extLst>
                </p:cNvPr>
                <p:cNvSpPr/>
                <p:nvPr/>
              </p:nvSpPr>
              <p:spPr>
                <a:xfrm>
                  <a:off x="9876552" y="892397"/>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57" name="object 101">
                  <a:extLst>
                    <a:ext uri="{FF2B5EF4-FFF2-40B4-BE49-F238E27FC236}">
                      <a16:creationId xmlns:a16="http://schemas.microsoft.com/office/drawing/2014/main" id="{4109CD04-B2F4-43AF-8D01-3D4FD487B44A}"/>
                    </a:ext>
                  </a:extLst>
                </p:cNvPr>
                <p:cNvSpPr/>
                <p:nvPr/>
              </p:nvSpPr>
              <p:spPr>
                <a:xfrm>
                  <a:off x="9949881"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58" name="object 102">
                  <a:extLst>
                    <a:ext uri="{FF2B5EF4-FFF2-40B4-BE49-F238E27FC236}">
                      <a16:creationId xmlns:a16="http://schemas.microsoft.com/office/drawing/2014/main" id="{BD1A880D-A0BC-4D85-857E-0A66F3CFC394}"/>
                    </a:ext>
                  </a:extLst>
                </p:cNvPr>
                <p:cNvSpPr/>
                <p:nvPr/>
              </p:nvSpPr>
              <p:spPr>
                <a:xfrm>
                  <a:off x="9931539"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59" name="object 103">
                  <a:extLst>
                    <a:ext uri="{FF2B5EF4-FFF2-40B4-BE49-F238E27FC236}">
                      <a16:creationId xmlns:a16="http://schemas.microsoft.com/office/drawing/2014/main" id="{53E0291D-2CFF-4A6A-BC19-33C53B554CF5}"/>
                    </a:ext>
                  </a:extLst>
                </p:cNvPr>
                <p:cNvSpPr/>
                <p:nvPr/>
              </p:nvSpPr>
              <p:spPr>
                <a:xfrm>
                  <a:off x="9913197" y="892397"/>
                  <a:ext cx="20836" cy="8930"/>
                </a:xfrm>
                <a:custGeom>
                  <a:avLst/>
                  <a:gdLst/>
                  <a:ahLst/>
                  <a:cxnLst/>
                  <a:rect l="l" t="t" r="r" b="b"/>
                  <a:pathLst>
                    <a:path w="13334" h="5714">
                      <a:moveTo>
                        <a:pt x="12992" y="0"/>
                      </a:moveTo>
                      <a:lnTo>
                        <a:pt x="2806" y="0"/>
                      </a:lnTo>
                      <a:lnTo>
                        <a:pt x="0" y="5664"/>
                      </a:lnTo>
                      <a:lnTo>
                        <a:pt x="10198"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60" name="object 104">
                  <a:extLst>
                    <a:ext uri="{FF2B5EF4-FFF2-40B4-BE49-F238E27FC236}">
                      <a16:creationId xmlns:a16="http://schemas.microsoft.com/office/drawing/2014/main" id="{09ED1AF1-5198-4A00-9D36-6175E2A5F137}"/>
                    </a:ext>
                  </a:extLst>
                </p:cNvPr>
                <p:cNvSpPr/>
                <p:nvPr/>
              </p:nvSpPr>
              <p:spPr>
                <a:xfrm>
                  <a:off x="9986566" y="892397"/>
                  <a:ext cx="14883" cy="8930"/>
                </a:xfrm>
                <a:custGeom>
                  <a:avLst/>
                  <a:gdLst/>
                  <a:ahLst/>
                  <a:cxnLst/>
                  <a:rect l="l" t="t" r="r" b="b"/>
                  <a:pathLst>
                    <a:path w="9525" h="5714">
                      <a:moveTo>
                        <a:pt x="9436" y="0"/>
                      </a:moveTo>
                      <a:lnTo>
                        <a:pt x="2793" y="0"/>
                      </a:lnTo>
                      <a:lnTo>
                        <a:pt x="0" y="5664"/>
                      </a:lnTo>
                      <a:lnTo>
                        <a:pt x="9436" y="5664"/>
                      </a:lnTo>
                      <a:lnTo>
                        <a:pt x="9436"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61" name="object 105">
                  <a:extLst>
                    <a:ext uri="{FF2B5EF4-FFF2-40B4-BE49-F238E27FC236}">
                      <a16:creationId xmlns:a16="http://schemas.microsoft.com/office/drawing/2014/main" id="{FCDCF9C9-EF41-4657-B2D5-64E0405B45B8}"/>
                    </a:ext>
                  </a:extLst>
                </p:cNvPr>
                <p:cNvSpPr/>
                <p:nvPr/>
              </p:nvSpPr>
              <p:spPr>
                <a:xfrm>
                  <a:off x="9968222"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grpSp>
          <p:grpSp>
            <p:nvGrpSpPr>
              <p:cNvPr id="360" name="Group 359">
                <a:extLst>
                  <a:ext uri="{FF2B5EF4-FFF2-40B4-BE49-F238E27FC236}">
                    <a16:creationId xmlns:a16="http://schemas.microsoft.com/office/drawing/2014/main" id="{D7779C8A-6E8A-4C61-98F3-B2A644C39F7B}"/>
                  </a:ext>
                </a:extLst>
              </p:cNvPr>
              <p:cNvGrpSpPr>
                <a:grpSpLocks noChangeAspect="1"/>
              </p:cNvGrpSpPr>
              <p:nvPr/>
            </p:nvGrpSpPr>
            <p:grpSpPr>
              <a:xfrm flipH="1">
                <a:off x="5925531" y="2590679"/>
                <a:ext cx="217820" cy="62766"/>
                <a:chOff x="9616665" y="835833"/>
                <a:chExt cx="169358" cy="49293"/>
              </a:xfrm>
              <a:solidFill>
                <a:srgbClr val="8C8C8C">
                  <a:lumMod val="75000"/>
                </a:srgbClr>
              </a:solidFill>
            </p:grpSpPr>
            <p:sp>
              <p:nvSpPr>
                <p:cNvPr id="379" name="object 58">
                  <a:extLst>
                    <a:ext uri="{FF2B5EF4-FFF2-40B4-BE49-F238E27FC236}">
                      <a16:creationId xmlns:a16="http://schemas.microsoft.com/office/drawing/2014/main" id="{41BB4425-E488-4345-998B-45440FC5D2BE}"/>
                    </a:ext>
                  </a:extLst>
                </p:cNvPr>
                <p:cNvSpPr/>
                <p:nvPr/>
              </p:nvSpPr>
              <p:spPr>
                <a:xfrm>
                  <a:off x="9654956"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80" name="object 59">
                  <a:extLst>
                    <a:ext uri="{FF2B5EF4-FFF2-40B4-BE49-F238E27FC236}">
                      <a16:creationId xmlns:a16="http://schemas.microsoft.com/office/drawing/2014/main" id="{D5641F00-2E30-46F2-9670-5626472EDD60}"/>
                    </a:ext>
                  </a:extLst>
                </p:cNvPr>
                <p:cNvSpPr/>
                <p:nvPr/>
              </p:nvSpPr>
              <p:spPr>
                <a:xfrm>
                  <a:off x="9636615"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81" name="object 60">
                  <a:extLst>
                    <a:ext uri="{FF2B5EF4-FFF2-40B4-BE49-F238E27FC236}">
                      <a16:creationId xmlns:a16="http://schemas.microsoft.com/office/drawing/2014/main" id="{73610070-9379-4C77-9DF4-F1DB5976694A}"/>
                    </a:ext>
                  </a:extLst>
                </p:cNvPr>
                <p:cNvSpPr/>
                <p:nvPr/>
              </p:nvSpPr>
              <p:spPr>
                <a:xfrm>
                  <a:off x="9691818"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82" name="object 61">
                  <a:extLst>
                    <a:ext uri="{FF2B5EF4-FFF2-40B4-BE49-F238E27FC236}">
                      <a16:creationId xmlns:a16="http://schemas.microsoft.com/office/drawing/2014/main" id="{3572FCA5-83C7-415E-8183-59F89F19AB87}"/>
                    </a:ext>
                  </a:extLst>
                </p:cNvPr>
                <p:cNvSpPr/>
                <p:nvPr/>
              </p:nvSpPr>
              <p:spPr>
                <a:xfrm>
                  <a:off x="9673495" y="835833"/>
                  <a:ext cx="20836" cy="8930"/>
                </a:xfrm>
                <a:custGeom>
                  <a:avLst/>
                  <a:gdLst/>
                  <a:ahLst/>
                  <a:cxnLst/>
                  <a:rect l="l" t="t" r="r" b="b"/>
                  <a:pathLst>
                    <a:path w="13334" h="5714">
                      <a:moveTo>
                        <a:pt x="12865" y="0"/>
                      </a:moveTo>
                      <a:lnTo>
                        <a:pt x="2806" y="0"/>
                      </a:lnTo>
                      <a:lnTo>
                        <a:pt x="0" y="5664"/>
                      </a:lnTo>
                      <a:lnTo>
                        <a:pt x="10058" y="5664"/>
                      </a:lnTo>
                      <a:lnTo>
                        <a:pt x="12865"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83" name="object 63">
                  <a:extLst>
                    <a:ext uri="{FF2B5EF4-FFF2-40B4-BE49-F238E27FC236}">
                      <a16:creationId xmlns:a16="http://schemas.microsoft.com/office/drawing/2014/main" id="{5A74FC2D-77AB-49BB-ADA2-E9C24203629F}"/>
                    </a:ext>
                  </a:extLst>
                </p:cNvPr>
                <p:cNvSpPr/>
                <p:nvPr/>
              </p:nvSpPr>
              <p:spPr>
                <a:xfrm>
                  <a:off x="9765187" y="835833"/>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84" name="object 64">
                  <a:extLst>
                    <a:ext uri="{FF2B5EF4-FFF2-40B4-BE49-F238E27FC236}">
                      <a16:creationId xmlns:a16="http://schemas.microsoft.com/office/drawing/2014/main" id="{2705F4C0-E4CF-47E0-BD33-C6435023661C}"/>
                    </a:ext>
                  </a:extLst>
                </p:cNvPr>
                <p:cNvSpPr/>
                <p:nvPr/>
              </p:nvSpPr>
              <p:spPr>
                <a:xfrm>
                  <a:off x="9746845" y="835833"/>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85" name="object 65">
                  <a:extLst>
                    <a:ext uri="{FF2B5EF4-FFF2-40B4-BE49-F238E27FC236}">
                      <a16:creationId xmlns:a16="http://schemas.microsoft.com/office/drawing/2014/main" id="{2E35F011-CB11-41FB-B351-3F1EFCD074DA}"/>
                    </a:ext>
                  </a:extLst>
                </p:cNvPr>
                <p:cNvSpPr/>
                <p:nvPr/>
              </p:nvSpPr>
              <p:spPr>
                <a:xfrm>
                  <a:off x="9728522" y="835833"/>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86" name="object 66">
                  <a:extLst>
                    <a:ext uri="{FF2B5EF4-FFF2-40B4-BE49-F238E27FC236}">
                      <a16:creationId xmlns:a16="http://schemas.microsoft.com/office/drawing/2014/main" id="{4F90BCFD-903D-496E-A2C9-99CD278612F7}"/>
                    </a:ext>
                  </a:extLst>
                </p:cNvPr>
                <p:cNvSpPr/>
                <p:nvPr/>
              </p:nvSpPr>
              <p:spPr>
                <a:xfrm>
                  <a:off x="9710161"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87" name="object 67">
                  <a:extLst>
                    <a:ext uri="{FF2B5EF4-FFF2-40B4-BE49-F238E27FC236}">
                      <a16:creationId xmlns:a16="http://schemas.microsoft.com/office/drawing/2014/main" id="{8FF05534-CB99-423A-8AEB-8E5E966AD637}"/>
                    </a:ext>
                  </a:extLst>
                </p:cNvPr>
                <p:cNvSpPr/>
                <p:nvPr/>
              </p:nvSpPr>
              <p:spPr>
                <a:xfrm>
                  <a:off x="9631614" y="845960"/>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88" name="object 68">
                  <a:extLst>
                    <a:ext uri="{FF2B5EF4-FFF2-40B4-BE49-F238E27FC236}">
                      <a16:creationId xmlns:a16="http://schemas.microsoft.com/office/drawing/2014/main" id="{B2F00078-EEA3-48CC-BB48-A46B4AC10C93}"/>
                    </a:ext>
                  </a:extLst>
                </p:cNvPr>
                <p:cNvSpPr/>
                <p:nvPr/>
              </p:nvSpPr>
              <p:spPr>
                <a:xfrm>
                  <a:off x="9723520" y="845960"/>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89" name="object 69">
                  <a:extLst>
                    <a:ext uri="{FF2B5EF4-FFF2-40B4-BE49-F238E27FC236}">
                      <a16:creationId xmlns:a16="http://schemas.microsoft.com/office/drawing/2014/main" id="{ECC7E1CF-CCFC-4F27-9A8F-0292DB9818B8}"/>
                    </a:ext>
                  </a:extLst>
                </p:cNvPr>
                <p:cNvSpPr/>
                <p:nvPr/>
              </p:nvSpPr>
              <p:spPr>
                <a:xfrm>
                  <a:off x="9705179" y="845960"/>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90" name="object 70">
                  <a:extLst>
                    <a:ext uri="{FF2B5EF4-FFF2-40B4-BE49-F238E27FC236}">
                      <a16:creationId xmlns:a16="http://schemas.microsoft.com/office/drawing/2014/main" id="{AB788FB9-AE5F-4C9E-91AB-D85B5D97C8A4}"/>
                    </a:ext>
                  </a:extLst>
                </p:cNvPr>
                <p:cNvSpPr/>
                <p:nvPr/>
              </p:nvSpPr>
              <p:spPr>
                <a:xfrm>
                  <a:off x="9686818" y="845960"/>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91" name="object 71">
                  <a:extLst>
                    <a:ext uri="{FF2B5EF4-FFF2-40B4-BE49-F238E27FC236}">
                      <a16:creationId xmlns:a16="http://schemas.microsoft.com/office/drawing/2014/main" id="{4BFBF084-C001-4790-90C8-1A425A1C2FCC}"/>
                    </a:ext>
                  </a:extLst>
                </p:cNvPr>
                <p:cNvSpPr/>
                <p:nvPr/>
              </p:nvSpPr>
              <p:spPr>
                <a:xfrm>
                  <a:off x="9668493" y="845960"/>
                  <a:ext cx="20836" cy="8930"/>
                </a:xfrm>
                <a:custGeom>
                  <a:avLst/>
                  <a:gdLst/>
                  <a:ahLst/>
                  <a:cxnLst/>
                  <a:rect l="l" t="t" r="r" b="b"/>
                  <a:pathLst>
                    <a:path w="13334" h="5714">
                      <a:moveTo>
                        <a:pt x="12865" y="0"/>
                      </a:moveTo>
                      <a:lnTo>
                        <a:pt x="2806" y="0"/>
                      </a:lnTo>
                      <a:lnTo>
                        <a:pt x="0" y="5651"/>
                      </a:lnTo>
                      <a:lnTo>
                        <a:pt x="10058" y="5651"/>
                      </a:lnTo>
                      <a:lnTo>
                        <a:pt x="12865"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92" name="object 72">
                  <a:extLst>
                    <a:ext uri="{FF2B5EF4-FFF2-40B4-BE49-F238E27FC236}">
                      <a16:creationId xmlns:a16="http://schemas.microsoft.com/office/drawing/2014/main" id="{4971D9CA-0665-4A51-B661-F6F94A967C5B}"/>
                    </a:ext>
                  </a:extLst>
                </p:cNvPr>
                <p:cNvSpPr/>
                <p:nvPr/>
              </p:nvSpPr>
              <p:spPr>
                <a:xfrm>
                  <a:off x="9649956" y="845960"/>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93" name="object 73">
                  <a:extLst>
                    <a:ext uri="{FF2B5EF4-FFF2-40B4-BE49-F238E27FC236}">
                      <a16:creationId xmlns:a16="http://schemas.microsoft.com/office/drawing/2014/main" id="{DE23087C-A285-4949-8666-5F41FE3DA775}"/>
                    </a:ext>
                  </a:extLst>
                </p:cNvPr>
                <p:cNvSpPr/>
                <p:nvPr/>
              </p:nvSpPr>
              <p:spPr>
                <a:xfrm>
                  <a:off x="9741845" y="845960"/>
                  <a:ext cx="20836" cy="8930"/>
                </a:xfrm>
                <a:custGeom>
                  <a:avLst/>
                  <a:gdLst/>
                  <a:ahLst/>
                  <a:cxnLst/>
                  <a:rect l="l" t="t" r="r" b="b"/>
                  <a:pathLst>
                    <a:path w="13334" h="5714">
                      <a:moveTo>
                        <a:pt x="12979" y="0"/>
                      </a:moveTo>
                      <a:lnTo>
                        <a:pt x="2793" y="0"/>
                      </a:lnTo>
                      <a:lnTo>
                        <a:pt x="0" y="5651"/>
                      </a:lnTo>
                      <a:lnTo>
                        <a:pt x="10185" y="5651"/>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94" name="object 75">
                  <a:extLst>
                    <a:ext uri="{FF2B5EF4-FFF2-40B4-BE49-F238E27FC236}">
                      <a16:creationId xmlns:a16="http://schemas.microsoft.com/office/drawing/2014/main" id="{B6337C85-577F-4E88-B1C0-95881571BF98}"/>
                    </a:ext>
                  </a:extLst>
                </p:cNvPr>
                <p:cNvSpPr/>
                <p:nvPr/>
              </p:nvSpPr>
              <p:spPr>
                <a:xfrm>
                  <a:off x="9760186" y="845960"/>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95" name="object 76">
                  <a:extLst>
                    <a:ext uri="{FF2B5EF4-FFF2-40B4-BE49-F238E27FC236}">
                      <a16:creationId xmlns:a16="http://schemas.microsoft.com/office/drawing/2014/main" id="{DDCFABA6-BC91-4922-B35B-0C899754498E}"/>
                    </a:ext>
                  </a:extLst>
                </p:cNvPr>
                <p:cNvSpPr/>
                <p:nvPr/>
              </p:nvSpPr>
              <p:spPr>
                <a:xfrm>
                  <a:off x="9645009" y="855961"/>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96" name="object 77">
                  <a:extLst>
                    <a:ext uri="{FF2B5EF4-FFF2-40B4-BE49-F238E27FC236}">
                      <a16:creationId xmlns:a16="http://schemas.microsoft.com/office/drawing/2014/main" id="{6153BF81-A8F1-4058-A46A-5740A3192293}"/>
                    </a:ext>
                  </a:extLst>
                </p:cNvPr>
                <p:cNvSpPr/>
                <p:nvPr/>
              </p:nvSpPr>
              <p:spPr>
                <a:xfrm>
                  <a:off x="9626667" y="855961"/>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97" name="object 78">
                  <a:extLst>
                    <a:ext uri="{FF2B5EF4-FFF2-40B4-BE49-F238E27FC236}">
                      <a16:creationId xmlns:a16="http://schemas.microsoft.com/office/drawing/2014/main" id="{8236EAF5-F816-4A70-9607-F86752A257B8}"/>
                    </a:ext>
                  </a:extLst>
                </p:cNvPr>
                <p:cNvSpPr/>
                <p:nvPr/>
              </p:nvSpPr>
              <p:spPr>
                <a:xfrm>
                  <a:off x="9663548" y="855961"/>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98" name="object 79">
                  <a:extLst>
                    <a:ext uri="{FF2B5EF4-FFF2-40B4-BE49-F238E27FC236}">
                      <a16:creationId xmlns:a16="http://schemas.microsoft.com/office/drawing/2014/main" id="{E87A086F-41B9-4FFE-9D9D-A30DFF0644D1}"/>
                    </a:ext>
                  </a:extLst>
                </p:cNvPr>
                <p:cNvSpPr/>
                <p:nvPr/>
              </p:nvSpPr>
              <p:spPr>
                <a:xfrm>
                  <a:off x="9681890" y="855961"/>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399" name="object 80">
                  <a:extLst>
                    <a:ext uri="{FF2B5EF4-FFF2-40B4-BE49-F238E27FC236}">
                      <a16:creationId xmlns:a16="http://schemas.microsoft.com/office/drawing/2014/main" id="{1C7FA877-1154-4464-84FC-57DED0FFE1BA}"/>
                    </a:ext>
                  </a:extLst>
                </p:cNvPr>
                <p:cNvSpPr/>
                <p:nvPr/>
              </p:nvSpPr>
              <p:spPr>
                <a:xfrm>
                  <a:off x="9700232" y="855961"/>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00" name="object 81">
                  <a:extLst>
                    <a:ext uri="{FF2B5EF4-FFF2-40B4-BE49-F238E27FC236}">
                      <a16:creationId xmlns:a16="http://schemas.microsoft.com/office/drawing/2014/main" id="{39F7FF6A-0C00-4983-BC5F-0BEB1DE44746}"/>
                    </a:ext>
                  </a:extLst>
                </p:cNvPr>
                <p:cNvSpPr/>
                <p:nvPr/>
              </p:nvSpPr>
              <p:spPr>
                <a:xfrm>
                  <a:off x="9736897" y="855961"/>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01" name="object 82">
                  <a:extLst>
                    <a:ext uri="{FF2B5EF4-FFF2-40B4-BE49-F238E27FC236}">
                      <a16:creationId xmlns:a16="http://schemas.microsoft.com/office/drawing/2014/main" id="{53C90100-9116-4432-AA87-A4C624BA8EA4}"/>
                    </a:ext>
                  </a:extLst>
                </p:cNvPr>
                <p:cNvSpPr/>
                <p:nvPr/>
              </p:nvSpPr>
              <p:spPr>
                <a:xfrm>
                  <a:off x="9718556" y="855961"/>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02" name="object 83">
                  <a:extLst>
                    <a:ext uri="{FF2B5EF4-FFF2-40B4-BE49-F238E27FC236}">
                      <a16:creationId xmlns:a16="http://schemas.microsoft.com/office/drawing/2014/main" id="{18A577AD-49BF-4F15-91B7-2D1841476341}"/>
                    </a:ext>
                  </a:extLst>
                </p:cNvPr>
                <p:cNvSpPr/>
                <p:nvPr/>
              </p:nvSpPr>
              <p:spPr>
                <a:xfrm>
                  <a:off x="9755218" y="855961"/>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03" name="object 86">
                  <a:extLst>
                    <a:ext uri="{FF2B5EF4-FFF2-40B4-BE49-F238E27FC236}">
                      <a16:creationId xmlns:a16="http://schemas.microsoft.com/office/drawing/2014/main" id="{2C0AE542-7780-4D71-B904-2D47EEFBB058}"/>
                    </a:ext>
                  </a:extLst>
                </p:cNvPr>
                <p:cNvSpPr/>
                <p:nvPr/>
              </p:nvSpPr>
              <p:spPr>
                <a:xfrm>
                  <a:off x="9640007"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04" name="object 87">
                  <a:extLst>
                    <a:ext uri="{FF2B5EF4-FFF2-40B4-BE49-F238E27FC236}">
                      <a16:creationId xmlns:a16="http://schemas.microsoft.com/office/drawing/2014/main" id="{073E72CC-95B4-49FC-9A08-F204443E08DF}"/>
                    </a:ext>
                  </a:extLst>
                </p:cNvPr>
                <p:cNvSpPr/>
                <p:nvPr/>
              </p:nvSpPr>
              <p:spPr>
                <a:xfrm>
                  <a:off x="9621667"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05" name="object 88">
                  <a:extLst>
                    <a:ext uri="{FF2B5EF4-FFF2-40B4-BE49-F238E27FC236}">
                      <a16:creationId xmlns:a16="http://schemas.microsoft.com/office/drawing/2014/main" id="{8C2BB2E6-7202-431E-89A0-845212D456AC}"/>
                    </a:ext>
                  </a:extLst>
                </p:cNvPr>
                <p:cNvSpPr/>
                <p:nvPr/>
              </p:nvSpPr>
              <p:spPr>
                <a:xfrm>
                  <a:off x="9658567" y="866069"/>
                  <a:ext cx="20836" cy="8930"/>
                </a:xfrm>
                <a:custGeom>
                  <a:avLst/>
                  <a:gdLst/>
                  <a:ahLst/>
                  <a:cxnLst/>
                  <a:rect l="l" t="t" r="r" b="b"/>
                  <a:pathLst>
                    <a:path w="13334" h="5714">
                      <a:moveTo>
                        <a:pt x="12852" y="0"/>
                      </a:moveTo>
                      <a:lnTo>
                        <a:pt x="2793" y="0"/>
                      </a:lnTo>
                      <a:lnTo>
                        <a:pt x="0" y="5664"/>
                      </a:lnTo>
                      <a:lnTo>
                        <a:pt x="10058" y="5664"/>
                      </a:lnTo>
                      <a:lnTo>
                        <a:pt x="1285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06" name="object 89">
                  <a:extLst>
                    <a:ext uri="{FF2B5EF4-FFF2-40B4-BE49-F238E27FC236}">
                      <a16:creationId xmlns:a16="http://schemas.microsoft.com/office/drawing/2014/main" id="{4C7D8062-F12F-4EA4-BA3C-CA75DAC34C90}"/>
                    </a:ext>
                  </a:extLst>
                </p:cNvPr>
                <p:cNvSpPr/>
                <p:nvPr/>
              </p:nvSpPr>
              <p:spPr>
                <a:xfrm>
                  <a:off x="9695231" y="866069"/>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07" name="object 90">
                  <a:extLst>
                    <a:ext uri="{FF2B5EF4-FFF2-40B4-BE49-F238E27FC236}">
                      <a16:creationId xmlns:a16="http://schemas.microsoft.com/office/drawing/2014/main" id="{1903DC65-4DEB-45EF-B5F7-60ED20793639}"/>
                    </a:ext>
                  </a:extLst>
                </p:cNvPr>
                <p:cNvSpPr/>
                <p:nvPr/>
              </p:nvSpPr>
              <p:spPr>
                <a:xfrm>
                  <a:off x="9676890" y="866069"/>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08" name="object 91">
                  <a:extLst>
                    <a:ext uri="{FF2B5EF4-FFF2-40B4-BE49-F238E27FC236}">
                      <a16:creationId xmlns:a16="http://schemas.microsoft.com/office/drawing/2014/main" id="{70536CAA-9F45-4809-85FA-BB93BC415FA2}"/>
                    </a:ext>
                  </a:extLst>
                </p:cNvPr>
                <p:cNvSpPr/>
                <p:nvPr/>
              </p:nvSpPr>
              <p:spPr>
                <a:xfrm>
                  <a:off x="9750218"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09" name="object 92">
                  <a:extLst>
                    <a:ext uri="{FF2B5EF4-FFF2-40B4-BE49-F238E27FC236}">
                      <a16:creationId xmlns:a16="http://schemas.microsoft.com/office/drawing/2014/main" id="{7202809B-7B4A-4515-BC47-D34893A9D2C7}"/>
                    </a:ext>
                  </a:extLst>
                </p:cNvPr>
                <p:cNvSpPr/>
                <p:nvPr/>
              </p:nvSpPr>
              <p:spPr>
                <a:xfrm>
                  <a:off x="9731876"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10" name="object 93">
                  <a:extLst>
                    <a:ext uri="{FF2B5EF4-FFF2-40B4-BE49-F238E27FC236}">
                      <a16:creationId xmlns:a16="http://schemas.microsoft.com/office/drawing/2014/main" id="{31988A2C-D61D-41A0-AC41-B56EA070B114}"/>
                    </a:ext>
                  </a:extLst>
                </p:cNvPr>
                <p:cNvSpPr/>
                <p:nvPr/>
              </p:nvSpPr>
              <p:spPr>
                <a:xfrm>
                  <a:off x="9713554" y="866069"/>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11" name="object 96">
                  <a:extLst>
                    <a:ext uri="{FF2B5EF4-FFF2-40B4-BE49-F238E27FC236}">
                      <a16:creationId xmlns:a16="http://schemas.microsoft.com/office/drawing/2014/main" id="{CC074104-6F41-40A2-8204-A25FBBBE9BE6}"/>
                    </a:ext>
                  </a:extLst>
                </p:cNvPr>
                <p:cNvSpPr/>
                <p:nvPr/>
              </p:nvSpPr>
              <p:spPr>
                <a:xfrm>
                  <a:off x="9616665"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12" name="object 97">
                  <a:extLst>
                    <a:ext uri="{FF2B5EF4-FFF2-40B4-BE49-F238E27FC236}">
                      <a16:creationId xmlns:a16="http://schemas.microsoft.com/office/drawing/2014/main" id="{D3A11EED-67CA-4950-B189-F8C0D2829463}"/>
                    </a:ext>
                  </a:extLst>
                </p:cNvPr>
                <p:cNvSpPr/>
                <p:nvPr/>
              </p:nvSpPr>
              <p:spPr>
                <a:xfrm>
                  <a:off x="9635007"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13" name="object 98">
                  <a:extLst>
                    <a:ext uri="{FF2B5EF4-FFF2-40B4-BE49-F238E27FC236}">
                      <a16:creationId xmlns:a16="http://schemas.microsoft.com/office/drawing/2014/main" id="{63EF56C1-3B55-4E33-93D0-04FCCD9CA4BB}"/>
                    </a:ext>
                  </a:extLst>
                </p:cNvPr>
                <p:cNvSpPr/>
                <p:nvPr/>
              </p:nvSpPr>
              <p:spPr>
                <a:xfrm>
                  <a:off x="9690212" y="876196"/>
                  <a:ext cx="20836" cy="8930"/>
                </a:xfrm>
                <a:custGeom>
                  <a:avLst/>
                  <a:gdLst/>
                  <a:ahLst/>
                  <a:cxnLst/>
                  <a:rect l="l" t="t" r="r" b="b"/>
                  <a:pathLst>
                    <a:path w="13334" h="5714">
                      <a:moveTo>
                        <a:pt x="12992" y="0"/>
                      </a:moveTo>
                      <a:lnTo>
                        <a:pt x="2793"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14" name="object 99">
                  <a:extLst>
                    <a:ext uri="{FF2B5EF4-FFF2-40B4-BE49-F238E27FC236}">
                      <a16:creationId xmlns:a16="http://schemas.microsoft.com/office/drawing/2014/main" id="{8D3B9B2F-991C-4DEC-A6B1-69FDDC505CCD}"/>
                    </a:ext>
                  </a:extLst>
                </p:cNvPr>
                <p:cNvSpPr/>
                <p:nvPr/>
              </p:nvSpPr>
              <p:spPr>
                <a:xfrm>
                  <a:off x="9653548" y="876196"/>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15" name="object 100">
                  <a:extLst>
                    <a:ext uri="{FF2B5EF4-FFF2-40B4-BE49-F238E27FC236}">
                      <a16:creationId xmlns:a16="http://schemas.microsoft.com/office/drawing/2014/main" id="{1E08EA75-AF39-4B00-9418-79B505D948AE}"/>
                    </a:ext>
                  </a:extLst>
                </p:cNvPr>
                <p:cNvSpPr/>
                <p:nvPr/>
              </p:nvSpPr>
              <p:spPr>
                <a:xfrm>
                  <a:off x="9671889" y="876196"/>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16" name="object 101">
                  <a:extLst>
                    <a:ext uri="{FF2B5EF4-FFF2-40B4-BE49-F238E27FC236}">
                      <a16:creationId xmlns:a16="http://schemas.microsoft.com/office/drawing/2014/main" id="{B47D3D36-CCDB-4C46-9B4E-956561179023}"/>
                    </a:ext>
                  </a:extLst>
                </p:cNvPr>
                <p:cNvSpPr/>
                <p:nvPr/>
              </p:nvSpPr>
              <p:spPr>
                <a:xfrm>
                  <a:off x="9745218"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17" name="object 102">
                  <a:extLst>
                    <a:ext uri="{FF2B5EF4-FFF2-40B4-BE49-F238E27FC236}">
                      <a16:creationId xmlns:a16="http://schemas.microsoft.com/office/drawing/2014/main" id="{42D4C379-1BD9-4F46-8108-A4C400A8EE3C}"/>
                    </a:ext>
                  </a:extLst>
                </p:cNvPr>
                <p:cNvSpPr/>
                <p:nvPr/>
              </p:nvSpPr>
              <p:spPr>
                <a:xfrm>
                  <a:off x="9726876"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sp>
              <p:nvSpPr>
                <p:cNvPr id="418" name="object 103">
                  <a:extLst>
                    <a:ext uri="{FF2B5EF4-FFF2-40B4-BE49-F238E27FC236}">
                      <a16:creationId xmlns:a16="http://schemas.microsoft.com/office/drawing/2014/main" id="{264F7F01-CEE0-48B2-9AA2-2278D662D7B0}"/>
                    </a:ext>
                  </a:extLst>
                </p:cNvPr>
                <p:cNvSpPr/>
                <p:nvPr/>
              </p:nvSpPr>
              <p:spPr>
                <a:xfrm>
                  <a:off x="9708534" y="876196"/>
                  <a:ext cx="20836" cy="8930"/>
                </a:xfrm>
                <a:custGeom>
                  <a:avLst/>
                  <a:gdLst/>
                  <a:ahLst/>
                  <a:cxnLst/>
                  <a:rect l="l" t="t" r="r" b="b"/>
                  <a:pathLst>
                    <a:path w="13334" h="5714">
                      <a:moveTo>
                        <a:pt x="12992" y="0"/>
                      </a:moveTo>
                      <a:lnTo>
                        <a:pt x="2806" y="0"/>
                      </a:lnTo>
                      <a:lnTo>
                        <a:pt x="0" y="5664"/>
                      </a:lnTo>
                      <a:lnTo>
                        <a:pt x="10198" y="5664"/>
                      </a:lnTo>
                      <a:lnTo>
                        <a:pt x="12992" y="0"/>
                      </a:lnTo>
                      <a:close/>
                    </a:path>
                  </a:pathLst>
                </a:custGeom>
                <a:grpFill/>
              </p:spPr>
              <p:txBody>
                <a:bodyPr wrap="square" lIns="0" tIns="0" rIns="0" bIns="0" rtlCol="0"/>
                <a:lstStyle/>
                <a:p>
                  <a:pPr defTabSz="914403">
                    <a:defRPr/>
                  </a:pPr>
                  <a:endParaRPr sz="1799" kern="0">
                    <a:solidFill>
                      <a:prstClr val="white"/>
                    </a:solidFill>
                    <a:latin typeface="+mj-lt"/>
                  </a:endParaRPr>
                </a:p>
              </p:txBody>
            </p:sp>
          </p:grpSp>
          <p:grpSp>
            <p:nvGrpSpPr>
              <p:cNvPr id="361" name="Group 360">
                <a:extLst>
                  <a:ext uri="{FF2B5EF4-FFF2-40B4-BE49-F238E27FC236}">
                    <a16:creationId xmlns:a16="http://schemas.microsoft.com/office/drawing/2014/main" id="{692E34CC-155F-4BBB-A4B5-B1473748E494}"/>
                  </a:ext>
                </a:extLst>
              </p:cNvPr>
              <p:cNvGrpSpPr/>
              <p:nvPr/>
            </p:nvGrpSpPr>
            <p:grpSpPr>
              <a:xfrm flipH="1">
                <a:off x="5784435" y="2687668"/>
                <a:ext cx="326585" cy="131214"/>
                <a:chOff x="10349010" y="1574415"/>
                <a:chExt cx="507849" cy="206099"/>
              </a:xfrm>
              <a:solidFill>
                <a:schemeClr val="bg1"/>
              </a:solidFill>
            </p:grpSpPr>
            <p:sp>
              <p:nvSpPr>
                <p:cNvPr id="364" name="Rectangle 363">
                  <a:extLst>
                    <a:ext uri="{FF2B5EF4-FFF2-40B4-BE49-F238E27FC236}">
                      <a16:creationId xmlns:a16="http://schemas.microsoft.com/office/drawing/2014/main" id="{E00935C3-EF4D-4C84-98ED-FDB506B9310F}"/>
                    </a:ext>
                  </a:extLst>
                </p:cNvPr>
                <p:cNvSpPr>
                  <a:spLocks noChangeAspect="1"/>
                </p:cNvSpPr>
                <p:nvPr/>
              </p:nvSpPr>
              <p:spPr>
                <a:xfrm>
                  <a:off x="10811139" y="157441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65" name="Rectangle 364">
                  <a:extLst>
                    <a:ext uri="{FF2B5EF4-FFF2-40B4-BE49-F238E27FC236}">
                      <a16:creationId xmlns:a16="http://schemas.microsoft.com/office/drawing/2014/main" id="{DD5D2E0D-76BE-4A17-9006-C61C9828B74A}"/>
                    </a:ext>
                  </a:extLst>
                </p:cNvPr>
                <p:cNvSpPr>
                  <a:spLocks noChangeAspect="1"/>
                </p:cNvSpPr>
                <p:nvPr/>
              </p:nvSpPr>
              <p:spPr>
                <a:xfrm>
                  <a:off x="10695606" y="157441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66" name="Rectangle 365">
                  <a:extLst>
                    <a:ext uri="{FF2B5EF4-FFF2-40B4-BE49-F238E27FC236}">
                      <a16:creationId xmlns:a16="http://schemas.microsoft.com/office/drawing/2014/main" id="{631A2228-E215-4540-896A-54E20E402D85}"/>
                    </a:ext>
                  </a:extLst>
                </p:cNvPr>
                <p:cNvSpPr>
                  <a:spLocks noChangeAspect="1"/>
                </p:cNvSpPr>
                <p:nvPr/>
              </p:nvSpPr>
              <p:spPr>
                <a:xfrm>
                  <a:off x="10464542" y="157441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67" name="Rectangle 366">
                  <a:extLst>
                    <a:ext uri="{FF2B5EF4-FFF2-40B4-BE49-F238E27FC236}">
                      <a16:creationId xmlns:a16="http://schemas.microsoft.com/office/drawing/2014/main" id="{A8D8ED5F-D9E1-48DE-990D-BF15B432E459}"/>
                    </a:ext>
                  </a:extLst>
                </p:cNvPr>
                <p:cNvSpPr>
                  <a:spLocks noChangeAspect="1"/>
                </p:cNvSpPr>
                <p:nvPr/>
              </p:nvSpPr>
              <p:spPr>
                <a:xfrm>
                  <a:off x="10349010" y="157441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68" name="Rectangle 367">
                  <a:extLst>
                    <a:ext uri="{FF2B5EF4-FFF2-40B4-BE49-F238E27FC236}">
                      <a16:creationId xmlns:a16="http://schemas.microsoft.com/office/drawing/2014/main" id="{506913A5-5BBC-4B72-8165-BCB221DB4CAC}"/>
                    </a:ext>
                  </a:extLst>
                </p:cNvPr>
                <p:cNvSpPr>
                  <a:spLocks noChangeAspect="1"/>
                </p:cNvSpPr>
                <p:nvPr/>
              </p:nvSpPr>
              <p:spPr>
                <a:xfrm>
                  <a:off x="10580074" y="1574415"/>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69" name="Rectangle 368">
                  <a:extLst>
                    <a:ext uri="{FF2B5EF4-FFF2-40B4-BE49-F238E27FC236}">
                      <a16:creationId xmlns:a16="http://schemas.microsoft.com/office/drawing/2014/main" id="{D2577613-043A-4A74-A3EB-B9A1CDD601BF}"/>
                    </a:ext>
                  </a:extLst>
                </p:cNvPr>
                <p:cNvSpPr>
                  <a:spLocks noChangeAspect="1"/>
                </p:cNvSpPr>
                <p:nvPr/>
              </p:nvSpPr>
              <p:spPr>
                <a:xfrm>
                  <a:off x="10811139" y="1654604"/>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70" name="Rectangle 369">
                  <a:extLst>
                    <a:ext uri="{FF2B5EF4-FFF2-40B4-BE49-F238E27FC236}">
                      <a16:creationId xmlns:a16="http://schemas.microsoft.com/office/drawing/2014/main" id="{32796142-1F31-4D0A-9BCA-C7A0CD6C1808}"/>
                    </a:ext>
                  </a:extLst>
                </p:cNvPr>
                <p:cNvSpPr>
                  <a:spLocks noChangeAspect="1"/>
                </p:cNvSpPr>
                <p:nvPr/>
              </p:nvSpPr>
              <p:spPr>
                <a:xfrm>
                  <a:off x="10695606" y="1654604"/>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71" name="Rectangle 370">
                  <a:extLst>
                    <a:ext uri="{FF2B5EF4-FFF2-40B4-BE49-F238E27FC236}">
                      <a16:creationId xmlns:a16="http://schemas.microsoft.com/office/drawing/2014/main" id="{6D0C2DB7-9D76-491E-BB5A-4B36BA9E23F8}"/>
                    </a:ext>
                  </a:extLst>
                </p:cNvPr>
                <p:cNvSpPr>
                  <a:spLocks noChangeAspect="1"/>
                </p:cNvSpPr>
                <p:nvPr/>
              </p:nvSpPr>
              <p:spPr>
                <a:xfrm>
                  <a:off x="10464542" y="1654604"/>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72" name="Rectangle 371">
                  <a:extLst>
                    <a:ext uri="{FF2B5EF4-FFF2-40B4-BE49-F238E27FC236}">
                      <a16:creationId xmlns:a16="http://schemas.microsoft.com/office/drawing/2014/main" id="{591EA9A3-9EDE-46E2-99CE-5B738FB635A8}"/>
                    </a:ext>
                  </a:extLst>
                </p:cNvPr>
                <p:cNvSpPr>
                  <a:spLocks noChangeAspect="1"/>
                </p:cNvSpPr>
                <p:nvPr/>
              </p:nvSpPr>
              <p:spPr>
                <a:xfrm>
                  <a:off x="10349010" y="1654604"/>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73" name="Rectangle 372">
                  <a:extLst>
                    <a:ext uri="{FF2B5EF4-FFF2-40B4-BE49-F238E27FC236}">
                      <a16:creationId xmlns:a16="http://schemas.microsoft.com/office/drawing/2014/main" id="{D86B7897-E917-4AE8-B159-B20D542F0E57}"/>
                    </a:ext>
                  </a:extLst>
                </p:cNvPr>
                <p:cNvSpPr>
                  <a:spLocks noChangeAspect="1"/>
                </p:cNvSpPr>
                <p:nvPr/>
              </p:nvSpPr>
              <p:spPr>
                <a:xfrm>
                  <a:off x="10580074" y="1654604"/>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74" name="Rectangle 373">
                  <a:extLst>
                    <a:ext uri="{FF2B5EF4-FFF2-40B4-BE49-F238E27FC236}">
                      <a16:creationId xmlns:a16="http://schemas.microsoft.com/office/drawing/2014/main" id="{E334F6C5-D27B-4C12-B77E-29A1A09C3712}"/>
                    </a:ext>
                  </a:extLst>
                </p:cNvPr>
                <p:cNvSpPr>
                  <a:spLocks noChangeAspect="1"/>
                </p:cNvSpPr>
                <p:nvPr/>
              </p:nvSpPr>
              <p:spPr>
                <a:xfrm>
                  <a:off x="10811139" y="1734794"/>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75" name="Rectangle 374">
                  <a:extLst>
                    <a:ext uri="{FF2B5EF4-FFF2-40B4-BE49-F238E27FC236}">
                      <a16:creationId xmlns:a16="http://schemas.microsoft.com/office/drawing/2014/main" id="{54000FD8-9786-4585-A385-7159054F9533}"/>
                    </a:ext>
                  </a:extLst>
                </p:cNvPr>
                <p:cNvSpPr>
                  <a:spLocks noChangeAspect="1"/>
                </p:cNvSpPr>
                <p:nvPr/>
              </p:nvSpPr>
              <p:spPr>
                <a:xfrm>
                  <a:off x="10695606" y="1734794"/>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76" name="Rectangle 375">
                  <a:extLst>
                    <a:ext uri="{FF2B5EF4-FFF2-40B4-BE49-F238E27FC236}">
                      <a16:creationId xmlns:a16="http://schemas.microsoft.com/office/drawing/2014/main" id="{7003084B-65AB-4CA1-A8E6-601B67EBD187}"/>
                    </a:ext>
                  </a:extLst>
                </p:cNvPr>
                <p:cNvSpPr>
                  <a:spLocks noChangeAspect="1"/>
                </p:cNvSpPr>
                <p:nvPr/>
              </p:nvSpPr>
              <p:spPr>
                <a:xfrm>
                  <a:off x="10464542" y="1734794"/>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77" name="Rectangle 376">
                  <a:extLst>
                    <a:ext uri="{FF2B5EF4-FFF2-40B4-BE49-F238E27FC236}">
                      <a16:creationId xmlns:a16="http://schemas.microsoft.com/office/drawing/2014/main" id="{46D586BD-128D-4976-BD4B-C9120AE78FF9}"/>
                    </a:ext>
                  </a:extLst>
                </p:cNvPr>
                <p:cNvSpPr>
                  <a:spLocks noChangeAspect="1"/>
                </p:cNvSpPr>
                <p:nvPr/>
              </p:nvSpPr>
              <p:spPr>
                <a:xfrm>
                  <a:off x="10349010" y="1734794"/>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78" name="Rectangle 377">
                  <a:extLst>
                    <a:ext uri="{FF2B5EF4-FFF2-40B4-BE49-F238E27FC236}">
                      <a16:creationId xmlns:a16="http://schemas.microsoft.com/office/drawing/2014/main" id="{ED7AD77A-D963-4DD2-8F44-6C98E062FBF2}"/>
                    </a:ext>
                  </a:extLst>
                </p:cNvPr>
                <p:cNvSpPr>
                  <a:spLocks noChangeAspect="1"/>
                </p:cNvSpPr>
                <p:nvPr/>
              </p:nvSpPr>
              <p:spPr>
                <a:xfrm>
                  <a:off x="10580074" y="1734794"/>
                  <a:ext cx="45720" cy="45720"/>
                </a:xfrm>
                <a:prstGeom prst="rect">
                  <a:avLst/>
                </a:prstGeom>
                <a:grp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grpSp>
          <p:sp>
            <p:nvSpPr>
              <p:cNvPr id="362" name="Rectangle 361">
                <a:extLst>
                  <a:ext uri="{FF2B5EF4-FFF2-40B4-BE49-F238E27FC236}">
                    <a16:creationId xmlns:a16="http://schemas.microsoft.com/office/drawing/2014/main" id="{623A75B3-5DB0-4986-AC0E-8E1EE0A4AB9F}"/>
                  </a:ext>
                </a:extLst>
              </p:cNvPr>
              <p:cNvSpPr>
                <a:spLocks noChangeAspect="1"/>
              </p:cNvSpPr>
              <p:nvPr/>
            </p:nvSpPr>
            <p:spPr>
              <a:xfrm flipH="1">
                <a:off x="5843629" y="2789787"/>
                <a:ext cx="58803" cy="58216"/>
              </a:xfrm>
              <a:prstGeom prst="rect">
                <a:avLst/>
              </a:prstGeom>
              <a:solidFill>
                <a:schemeClr val="bg1"/>
              </a:solid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363" name="Rectangle 362">
                <a:extLst>
                  <a:ext uri="{FF2B5EF4-FFF2-40B4-BE49-F238E27FC236}">
                    <a16:creationId xmlns:a16="http://schemas.microsoft.com/office/drawing/2014/main" id="{C6BAD36C-A46B-493C-A5C5-B0D72B3DEDDC}"/>
                  </a:ext>
                </a:extLst>
              </p:cNvPr>
              <p:cNvSpPr>
                <a:spLocks noChangeAspect="1"/>
              </p:cNvSpPr>
              <p:nvPr/>
            </p:nvSpPr>
            <p:spPr>
              <a:xfrm flipH="1">
                <a:off x="5993071" y="2789778"/>
                <a:ext cx="58803" cy="58216"/>
              </a:xfrm>
              <a:prstGeom prst="rect">
                <a:avLst/>
              </a:prstGeom>
              <a:solidFill>
                <a:schemeClr val="bg1"/>
              </a:solid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grpSp>
      </p:grpSp>
      <p:sp>
        <p:nvSpPr>
          <p:cNvPr id="463" name="Trapezoid 462">
            <a:extLst>
              <a:ext uri="{FF2B5EF4-FFF2-40B4-BE49-F238E27FC236}">
                <a16:creationId xmlns:a16="http://schemas.microsoft.com/office/drawing/2014/main" id="{1E7A3DFB-6402-4C7C-A14D-895CB7467F62}"/>
              </a:ext>
            </a:extLst>
          </p:cNvPr>
          <p:cNvSpPr/>
          <p:nvPr/>
        </p:nvSpPr>
        <p:spPr>
          <a:xfrm>
            <a:off x="1221016" y="2289753"/>
            <a:ext cx="642297" cy="364781"/>
          </a:xfrm>
          <a:prstGeom prst="trapezoid">
            <a:avLst>
              <a:gd name="adj" fmla="val 35197"/>
            </a:avLst>
          </a:prstGeom>
          <a:noFill/>
          <a:ln w="19050" cap="flat" cmpd="sng" algn="ctr">
            <a:solidFill>
              <a:schemeClr val="tx1"/>
            </a:solidFill>
            <a:prstDash val="sysDot"/>
            <a:miter lim="800000"/>
          </a:ln>
          <a:effectLst/>
        </p:spPr>
        <p:txBody>
          <a:bodyPr rtlCol="0" anchor="ctr"/>
          <a:lstStyle/>
          <a:p>
            <a:pPr algn="ctr" defTabSz="914403">
              <a:defRPr/>
            </a:pPr>
            <a:endParaRPr lang="en-US" sz="1799" kern="0">
              <a:solidFill>
                <a:prstClr val="white"/>
              </a:solidFill>
              <a:latin typeface="+mj-lt"/>
            </a:endParaRPr>
          </a:p>
        </p:txBody>
      </p:sp>
      <p:cxnSp>
        <p:nvCxnSpPr>
          <p:cNvPr id="464" name="Straight Connector 463">
            <a:extLst>
              <a:ext uri="{FF2B5EF4-FFF2-40B4-BE49-F238E27FC236}">
                <a16:creationId xmlns:a16="http://schemas.microsoft.com/office/drawing/2014/main" id="{7C901817-5944-4665-B38D-62A525116A9E}"/>
              </a:ext>
            </a:extLst>
          </p:cNvPr>
          <p:cNvCxnSpPr>
            <a:stCxn id="463" idx="1"/>
            <a:endCxn id="463" idx="3"/>
          </p:cNvCxnSpPr>
          <p:nvPr/>
        </p:nvCxnSpPr>
        <p:spPr>
          <a:xfrm>
            <a:off x="1268115" y="2472141"/>
            <a:ext cx="548096" cy="0"/>
          </a:xfrm>
          <a:prstGeom prst="line">
            <a:avLst/>
          </a:prstGeom>
          <a:noFill/>
          <a:ln w="19050" cap="flat" cmpd="sng" algn="ctr">
            <a:solidFill>
              <a:schemeClr val="tx1"/>
            </a:solidFill>
            <a:prstDash val="sysDot"/>
            <a:miter lim="800000"/>
          </a:ln>
          <a:effectLst/>
        </p:spPr>
      </p:cxnSp>
      <p:sp>
        <p:nvSpPr>
          <p:cNvPr id="465" name="object 127">
            <a:extLst>
              <a:ext uri="{FF2B5EF4-FFF2-40B4-BE49-F238E27FC236}">
                <a16:creationId xmlns:a16="http://schemas.microsoft.com/office/drawing/2014/main" id="{CCAF51ED-1ACE-4E2A-A49E-6F2581C621D8}"/>
              </a:ext>
            </a:extLst>
          </p:cNvPr>
          <p:cNvSpPr/>
          <p:nvPr/>
        </p:nvSpPr>
        <p:spPr>
          <a:xfrm>
            <a:off x="1109588" y="2473647"/>
            <a:ext cx="213086" cy="190434"/>
          </a:xfrm>
          <a:custGeom>
            <a:avLst/>
            <a:gdLst/>
            <a:ahLst/>
            <a:cxnLst/>
            <a:rect l="l" t="t" r="r" b="b"/>
            <a:pathLst>
              <a:path w="217169" h="201929">
                <a:moveTo>
                  <a:pt x="50926" y="126568"/>
                </a:moveTo>
                <a:lnTo>
                  <a:pt x="49999" y="126898"/>
                </a:lnTo>
                <a:lnTo>
                  <a:pt x="33319" y="147053"/>
                </a:lnTo>
                <a:lnTo>
                  <a:pt x="0" y="187134"/>
                </a:lnTo>
                <a:lnTo>
                  <a:pt x="8635" y="201333"/>
                </a:lnTo>
                <a:lnTo>
                  <a:pt x="9829" y="200621"/>
                </a:lnTo>
                <a:lnTo>
                  <a:pt x="88582" y="147053"/>
                </a:lnTo>
                <a:lnTo>
                  <a:pt x="89877" y="147015"/>
                </a:lnTo>
                <a:lnTo>
                  <a:pt x="118959" y="147015"/>
                </a:lnTo>
                <a:lnTo>
                  <a:pt x="123024" y="144894"/>
                </a:lnTo>
                <a:lnTo>
                  <a:pt x="123977" y="144106"/>
                </a:lnTo>
                <a:lnTo>
                  <a:pt x="124790" y="142468"/>
                </a:lnTo>
                <a:lnTo>
                  <a:pt x="158476" y="142468"/>
                </a:lnTo>
                <a:lnTo>
                  <a:pt x="150022" y="137591"/>
                </a:lnTo>
                <a:lnTo>
                  <a:pt x="74040" y="137591"/>
                </a:lnTo>
                <a:lnTo>
                  <a:pt x="64922" y="132994"/>
                </a:lnTo>
                <a:lnTo>
                  <a:pt x="58762" y="130416"/>
                </a:lnTo>
                <a:lnTo>
                  <a:pt x="50926" y="126568"/>
                </a:lnTo>
                <a:close/>
              </a:path>
              <a:path w="217169" h="201929">
                <a:moveTo>
                  <a:pt x="163099" y="145135"/>
                </a:moveTo>
                <a:lnTo>
                  <a:pt x="131241" y="145135"/>
                </a:lnTo>
                <a:lnTo>
                  <a:pt x="131013" y="155409"/>
                </a:lnTo>
                <a:lnTo>
                  <a:pt x="131394" y="162090"/>
                </a:lnTo>
                <a:lnTo>
                  <a:pt x="131381" y="170827"/>
                </a:lnTo>
                <a:lnTo>
                  <a:pt x="132168" y="171538"/>
                </a:lnTo>
                <a:lnTo>
                  <a:pt x="141439" y="173672"/>
                </a:lnTo>
                <a:lnTo>
                  <a:pt x="148729" y="175564"/>
                </a:lnTo>
                <a:lnTo>
                  <a:pt x="206705" y="189928"/>
                </a:lnTo>
                <a:lnTo>
                  <a:pt x="208368" y="189534"/>
                </a:lnTo>
                <a:lnTo>
                  <a:pt x="211696" y="184835"/>
                </a:lnTo>
                <a:lnTo>
                  <a:pt x="214287" y="180644"/>
                </a:lnTo>
                <a:lnTo>
                  <a:pt x="217068" y="176364"/>
                </a:lnTo>
                <a:lnTo>
                  <a:pt x="216115" y="175780"/>
                </a:lnTo>
                <a:lnTo>
                  <a:pt x="215315" y="175259"/>
                </a:lnTo>
                <a:lnTo>
                  <a:pt x="163099" y="145135"/>
                </a:lnTo>
                <a:close/>
              </a:path>
              <a:path w="217169" h="201929">
                <a:moveTo>
                  <a:pt x="118959" y="147015"/>
                </a:moveTo>
                <a:lnTo>
                  <a:pt x="89877" y="147015"/>
                </a:lnTo>
                <a:lnTo>
                  <a:pt x="100076" y="151042"/>
                </a:lnTo>
                <a:lnTo>
                  <a:pt x="112111" y="150587"/>
                </a:lnTo>
                <a:lnTo>
                  <a:pt x="118959" y="147015"/>
                </a:lnTo>
                <a:close/>
              </a:path>
              <a:path w="217169" h="201929">
                <a:moveTo>
                  <a:pt x="158476" y="142468"/>
                </a:moveTo>
                <a:lnTo>
                  <a:pt x="124790" y="142468"/>
                </a:lnTo>
                <a:lnTo>
                  <a:pt x="128155" y="145237"/>
                </a:lnTo>
                <a:lnTo>
                  <a:pt x="131241" y="145135"/>
                </a:lnTo>
                <a:lnTo>
                  <a:pt x="163099" y="145135"/>
                </a:lnTo>
                <a:lnTo>
                  <a:pt x="158476" y="142468"/>
                </a:lnTo>
                <a:close/>
              </a:path>
              <a:path w="217169" h="201929">
                <a:moveTo>
                  <a:pt x="94627" y="0"/>
                </a:moveTo>
                <a:lnTo>
                  <a:pt x="94640" y="96583"/>
                </a:lnTo>
                <a:lnTo>
                  <a:pt x="94322" y="97574"/>
                </a:lnTo>
                <a:lnTo>
                  <a:pt x="82778" y="106445"/>
                </a:lnTo>
                <a:lnTo>
                  <a:pt x="77754" y="117297"/>
                </a:lnTo>
                <a:lnTo>
                  <a:pt x="77684" y="123443"/>
                </a:lnTo>
                <a:lnTo>
                  <a:pt x="77788" y="130416"/>
                </a:lnTo>
                <a:lnTo>
                  <a:pt x="78016" y="131419"/>
                </a:lnTo>
                <a:lnTo>
                  <a:pt x="78028" y="133324"/>
                </a:lnTo>
                <a:lnTo>
                  <a:pt x="75514" y="135051"/>
                </a:lnTo>
                <a:lnTo>
                  <a:pt x="74040" y="137591"/>
                </a:lnTo>
                <a:lnTo>
                  <a:pt x="150022" y="137591"/>
                </a:lnTo>
                <a:lnTo>
                  <a:pt x="145091" y="134746"/>
                </a:lnTo>
                <a:lnTo>
                  <a:pt x="111023" y="134746"/>
                </a:lnTo>
                <a:lnTo>
                  <a:pt x="98844" y="134531"/>
                </a:lnTo>
                <a:lnTo>
                  <a:pt x="93878" y="129527"/>
                </a:lnTo>
                <a:lnTo>
                  <a:pt x="93891" y="117297"/>
                </a:lnTo>
                <a:lnTo>
                  <a:pt x="98996" y="112229"/>
                </a:lnTo>
                <a:lnTo>
                  <a:pt x="131106" y="112229"/>
                </a:lnTo>
                <a:lnTo>
                  <a:pt x="124523" y="102158"/>
                </a:lnTo>
                <a:lnTo>
                  <a:pt x="118897" y="98272"/>
                </a:lnTo>
                <a:lnTo>
                  <a:pt x="111861" y="96227"/>
                </a:lnTo>
                <a:lnTo>
                  <a:pt x="111975" y="94373"/>
                </a:lnTo>
                <a:lnTo>
                  <a:pt x="111366" y="90589"/>
                </a:lnTo>
                <a:lnTo>
                  <a:pt x="112547" y="88823"/>
                </a:lnTo>
                <a:lnTo>
                  <a:pt x="120535" y="84454"/>
                </a:lnTo>
                <a:lnTo>
                  <a:pt x="125615" y="81064"/>
                </a:lnTo>
                <a:lnTo>
                  <a:pt x="132867" y="76987"/>
                </a:lnTo>
                <a:lnTo>
                  <a:pt x="133083" y="75933"/>
                </a:lnTo>
                <a:lnTo>
                  <a:pt x="130873" y="68986"/>
                </a:lnTo>
                <a:lnTo>
                  <a:pt x="129539" y="63944"/>
                </a:lnTo>
                <a:lnTo>
                  <a:pt x="111747" y="2362"/>
                </a:lnTo>
                <a:lnTo>
                  <a:pt x="100063" y="266"/>
                </a:lnTo>
                <a:lnTo>
                  <a:pt x="94627" y="0"/>
                </a:lnTo>
                <a:close/>
              </a:path>
              <a:path w="217169" h="201929">
                <a:moveTo>
                  <a:pt x="131106" y="112229"/>
                </a:moveTo>
                <a:lnTo>
                  <a:pt x="98996" y="112229"/>
                </a:lnTo>
                <a:lnTo>
                  <a:pt x="111264" y="112420"/>
                </a:lnTo>
                <a:lnTo>
                  <a:pt x="116065" y="117297"/>
                </a:lnTo>
                <a:lnTo>
                  <a:pt x="116090" y="129666"/>
                </a:lnTo>
                <a:lnTo>
                  <a:pt x="111023" y="134746"/>
                </a:lnTo>
                <a:lnTo>
                  <a:pt x="145091" y="134746"/>
                </a:lnTo>
                <a:lnTo>
                  <a:pt x="133578" y="128104"/>
                </a:lnTo>
                <a:lnTo>
                  <a:pt x="132664" y="127139"/>
                </a:lnTo>
                <a:lnTo>
                  <a:pt x="133349" y="118783"/>
                </a:lnTo>
                <a:lnTo>
                  <a:pt x="131762" y="113233"/>
                </a:lnTo>
                <a:lnTo>
                  <a:pt x="131106" y="112229"/>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66" name="object 128">
            <a:extLst>
              <a:ext uri="{FF2B5EF4-FFF2-40B4-BE49-F238E27FC236}">
                <a16:creationId xmlns:a16="http://schemas.microsoft.com/office/drawing/2014/main" id="{7F3797A3-5E93-408E-A282-4E965E3135D4}"/>
              </a:ext>
            </a:extLst>
          </p:cNvPr>
          <p:cNvSpPr/>
          <p:nvPr/>
        </p:nvSpPr>
        <p:spPr>
          <a:xfrm>
            <a:off x="1190293" y="2622897"/>
            <a:ext cx="44238" cy="168276"/>
          </a:xfrm>
          <a:custGeom>
            <a:avLst/>
            <a:gdLst/>
            <a:ahLst/>
            <a:cxnLst/>
            <a:rect l="l" t="t" r="r" b="b"/>
            <a:pathLst>
              <a:path w="45085" h="178435">
                <a:moveTo>
                  <a:pt x="13690" y="0"/>
                </a:moveTo>
                <a:lnTo>
                  <a:pt x="12941" y="825"/>
                </a:lnTo>
                <a:lnTo>
                  <a:pt x="12246" y="16155"/>
                </a:lnTo>
                <a:lnTo>
                  <a:pt x="11008" y="41525"/>
                </a:lnTo>
                <a:lnTo>
                  <a:pt x="9660" y="96743"/>
                </a:lnTo>
                <a:lnTo>
                  <a:pt x="9180" y="148497"/>
                </a:lnTo>
                <a:lnTo>
                  <a:pt x="0" y="150863"/>
                </a:lnTo>
                <a:lnTo>
                  <a:pt x="0" y="178384"/>
                </a:lnTo>
                <a:lnTo>
                  <a:pt x="44602" y="178384"/>
                </a:lnTo>
                <a:lnTo>
                  <a:pt x="44602" y="150863"/>
                </a:lnTo>
                <a:lnTo>
                  <a:pt x="40322" y="150863"/>
                </a:lnTo>
                <a:lnTo>
                  <a:pt x="38658" y="145662"/>
                </a:lnTo>
                <a:lnTo>
                  <a:pt x="37519" y="132485"/>
                </a:lnTo>
                <a:lnTo>
                  <a:pt x="36797" y="114966"/>
                </a:lnTo>
                <a:lnTo>
                  <a:pt x="36388" y="96743"/>
                </a:lnTo>
                <a:lnTo>
                  <a:pt x="36075" y="72725"/>
                </a:lnTo>
                <a:lnTo>
                  <a:pt x="34203" y="34510"/>
                </a:lnTo>
                <a:lnTo>
                  <a:pt x="33197" y="14414"/>
                </a:lnTo>
                <a:lnTo>
                  <a:pt x="32753" y="7480"/>
                </a:lnTo>
                <a:lnTo>
                  <a:pt x="32341" y="292"/>
                </a:lnTo>
                <a:lnTo>
                  <a:pt x="21602" y="292"/>
                </a:lnTo>
                <a:lnTo>
                  <a:pt x="13690" y="0"/>
                </a:lnTo>
                <a:close/>
              </a:path>
              <a:path w="45085" h="178435">
                <a:moveTo>
                  <a:pt x="32334" y="165"/>
                </a:moveTo>
                <a:lnTo>
                  <a:pt x="21602" y="292"/>
                </a:lnTo>
                <a:lnTo>
                  <a:pt x="32341" y="292"/>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67" name="object 129">
            <a:extLst>
              <a:ext uri="{FF2B5EF4-FFF2-40B4-BE49-F238E27FC236}">
                <a16:creationId xmlns:a16="http://schemas.microsoft.com/office/drawing/2014/main" id="{024096D2-F84E-48B9-8542-745F250989DB}"/>
              </a:ext>
            </a:extLst>
          </p:cNvPr>
          <p:cNvSpPr/>
          <p:nvPr/>
        </p:nvSpPr>
        <p:spPr>
          <a:xfrm>
            <a:off x="1005157" y="2590369"/>
            <a:ext cx="134581" cy="120370"/>
          </a:xfrm>
          <a:custGeom>
            <a:avLst/>
            <a:gdLst/>
            <a:ahLst/>
            <a:cxnLst/>
            <a:rect l="l" t="t" r="r" b="b"/>
            <a:pathLst>
              <a:path w="137160" h="127635">
                <a:moveTo>
                  <a:pt x="32143" y="79882"/>
                </a:moveTo>
                <a:lnTo>
                  <a:pt x="31559" y="80086"/>
                </a:lnTo>
                <a:lnTo>
                  <a:pt x="21034" y="92811"/>
                </a:lnTo>
                <a:lnTo>
                  <a:pt x="0" y="118122"/>
                </a:lnTo>
                <a:lnTo>
                  <a:pt x="5448" y="127076"/>
                </a:lnTo>
                <a:lnTo>
                  <a:pt x="6197" y="126631"/>
                </a:lnTo>
                <a:lnTo>
                  <a:pt x="55905" y="92811"/>
                </a:lnTo>
                <a:lnTo>
                  <a:pt x="56730" y="92786"/>
                </a:lnTo>
                <a:lnTo>
                  <a:pt x="76065" y="92786"/>
                </a:lnTo>
                <a:lnTo>
                  <a:pt x="78244" y="90957"/>
                </a:lnTo>
                <a:lnTo>
                  <a:pt x="78765" y="89928"/>
                </a:lnTo>
                <a:lnTo>
                  <a:pt x="100042" y="89928"/>
                </a:lnTo>
                <a:lnTo>
                  <a:pt x="94693" y="86842"/>
                </a:lnTo>
                <a:lnTo>
                  <a:pt x="46736" y="86842"/>
                </a:lnTo>
                <a:lnTo>
                  <a:pt x="40982" y="83934"/>
                </a:lnTo>
                <a:lnTo>
                  <a:pt x="37084" y="82321"/>
                </a:lnTo>
                <a:lnTo>
                  <a:pt x="32143" y="79882"/>
                </a:lnTo>
                <a:close/>
              </a:path>
              <a:path w="137160" h="127635">
                <a:moveTo>
                  <a:pt x="102948" y="91605"/>
                </a:moveTo>
                <a:lnTo>
                  <a:pt x="82842" y="91605"/>
                </a:lnTo>
                <a:lnTo>
                  <a:pt x="82702" y="98082"/>
                </a:lnTo>
                <a:lnTo>
                  <a:pt x="82931" y="102311"/>
                </a:lnTo>
                <a:lnTo>
                  <a:pt x="83042" y="107923"/>
                </a:lnTo>
                <a:lnTo>
                  <a:pt x="83426" y="108267"/>
                </a:lnTo>
                <a:lnTo>
                  <a:pt x="89281" y="109613"/>
                </a:lnTo>
                <a:lnTo>
                  <a:pt x="93878" y="110807"/>
                </a:lnTo>
                <a:lnTo>
                  <a:pt x="130467" y="119887"/>
                </a:lnTo>
                <a:lnTo>
                  <a:pt x="131521" y="119633"/>
                </a:lnTo>
                <a:lnTo>
                  <a:pt x="133629" y="116662"/>
                </a:lnTo>
                <a:lnTo>
                  <a:pt x="135255" y="114020"/>
                </a:lnTo>
                <a:lnTo>
                  <a:pt x="137007" y="111315"/>
                </a:lnTo>
                <a:lnTo>
                  <a:pt x="135902" y="110616"/>
                </a:lnTo>
                <a:lnTo>
                  <a:pt x="102948" y="91605"/>
                </a:lnTo>
                <a:close/>
              </a:path>
              <a:path w="137160" h="127635">
                <a:moveTo>
                  <a:pt x="76065" y="92786"/>
                </a:moveTo>
                <a:lnTo>
                  <a:pt x="56730" y="92786"/>
                </a:lnTo>
                <a:lnTo>
                  <a:pt x="64389" y="96977"/>
                </a:lnTo>
                <a:lnTo>
                  <a:pt x="72085" y="96126"/>
                </a:lnTo>
                <a:lnTo>
                  <a:pt x="76065" y="92786"/>
                </a:lnTo>
                <a:close/>
              </a:path>
              <a:path w="137160" h="127635">
                <a:moveTo>
                  <a:pt x="100042" y="89928"/>
                </a:moveTo>
                <a:lnTo>
                  <a:pt x="78765" y="89928"/>
                </a:lnTo>
                <a:lnTo>
                  <a:pt x="80899" y="91668"/>
                </a:lnTo>
                <a:lnTo>
                  <a:pt x="82842" y="91605"/>
                </a:lnTo>
                <a:lnTo>
                  <a:pt x="102948" y="91605"/>
                </a:lnTo>
                <a:lnTo>
                  <a:pt x="100042" y="89928"/>
                </a:lnTo>
                <a:close/>
              </a:path>
              <a:path w="137160" h="127635">
                <a:moveTo>
                  <a:pt x="59728" y="0"/>
                </a:moveTo>
                <a:lnTo>
                  <a:pt x="59740" y="60959"/>
                </a:lnTo>
                <a:lnTo>
                  <a:pt x="59537" y="61582"/>
                </a:lnTo>
                <a:lnTo>
                  <a:pt x="50914" y="65874"/>
                </a:lnTo>
                <a:lnTo>
                  <a:pt x="47180" y="74066"/>
                </a:lnTo>
                <a:lnTo>
                  <a:pt x="49250" y="82943"/>
                </a:lnTo>
                <a:lnTo>
                  <a:pt x="49250" y="84150"/>
                </a:lnTo>
                <a:lnTo>
                  <a:pt x="47663" y="85242"/>
                </a:lnTo>
                <a:lnTo>
                  <a:pt x="46736" y="86842"/>
                </a:lnTo>
                <a:lnTo>
                  <a:pt x="94693" y="86842"/>
                </a:lnTo>
                <a:lnTo>
                  <a:pt x="91589" y="85051"/>
                </a:lnTo>
                <a:lnTo>
                  <a:pt x="70078" y="85051"/>
                </a:lnTo>
                <a:lnTo>
                  <a:pt x="62382" y="84912"/>
                </a:lnTo>
                <a:lnTo>
                  <a:pt x="59358" y="81851"/>
                </a:lnTo>
                <a:lnTo>
                  <a:pt x="59271" y="74028"/>
                </a:lnTo>
                <a:lnTo>
                  <a:pt x="62484" y="70840"/>
                </a:lnTo>
                <a:lnTo>
                  <a:pt x="82760" y="70840"/>
                </a:lnTo>
                <a:lnTo>
                  <a:pt x="78587" y="64477"/>
                </a:lnTo>
                <a:lnTo>
                  <a:pt x="75057" y="62026"/>
                </a:lnTo>
                <a:lnTo>
                  <a:pt x="70599" y="60744"/>
                </a:lnTo>
                <a:lnTo>
                  <a:pt x="70586" y="59042"/>
                </a:lnTo>
                <a:lnTo>
                  <a:pt x="70294" y="57175"/>
                </a:lnTo>
                <a:lnTo>
                  <a:pt x="71043" y="56070"/>
                </a:lnTo>
                <a:lnTo>
                  <a:pt x="76085" y="53301"/>
                </a:lnTo>
                <a:lnTo>
                  <a:pt x="79286" y="51155"/>
                </a:lnTo>
                <a:lnTo>
                  <a:pt x="83870" y="48590"/>
                </a:lnTo>
                <a:lnTo>
                  <a:pt x="83997" y="47929"/>
                </a:lnTo>
                <a:lnTo>
                  <a:pt x="82600" y="43535"/>
                </a:lnTo>
                <a:lnTo>
                  <a:pt x="81762" y="40360"/>
                </a:lnTo>
                <a:lnTo>
                  <a:pt x="70523" y="1498"/>
                </a:lnTo>
                <a:lnTo>
                  <a:pt x="63157" y="165"/>
                </a:lnTo>
                <a:lnTo>
                  <a:pt x="59728" y="0"/>
                </a:lnTo>
                <a:close/>
              </a:path>
              <a:path w="137160" h="127635">
                <a:moveTo>
                  <a:pt x="82760" y="70840"/>
                </a:moveTo>
                <a:lnTo>
                  <a:pt x="62484" y="70840"/>
                </a:lnTo>
                <a:lnTo>
                  <a:pt x="70231" y="70954"/>
                </a:lnTo>
                <a:lnTo>
                  <a:pt x="73253" y="74028"/>
                </a:lnTo>
                <a:lnTo>
                  <a:pt x="73279" y="81851"/>
                </a:lnTo>
                <a:lnTo>
                  <a:pt x="70078" y="85051"/>
                </a:lnTo>
                <a:lnTo>
                  <a:pt x="91589" y="85051"/>
                </a:lnTo>
                <a:lnTo>
                  <a:pt x="84302" y="80848"/>
                </a:lnTo>
                <a:lnTo>
                  <a:pt x="83731" y="80238"/>
                </a:lnTo>
                <a:lnTo>
                  <a:pt x="84162" y="74980"/>
                </a:lnTo>
                <a:lnTo>
                  <a:pt x="83172" y="71462"/>
                </a:lnTo>
                <a:lnTo>
                  <a:pt x="82760" y="7084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68" name="object 130">
            <a:extLst>
              <a:ext uri="{FF2B5EF4-FFF2-40B4-BE49-F238E27FC236}">
                <a16:creationId xmlns:a16="http://schemas.microsoft.com/office/drawing/2014/main" id="{E74F3BD3-02B5-4429-8BDA-E1F33911D87C}"/>
              </a:ext>
            </a:extLst>
          </p:cNvPr>
          <p:cNvSpPr/>
          <p:nvPr/>
        </p:nvSpPr>
        <p:spPr>
          <a:xfrm>
            <a:off x="1056104" y="2684581"/>
            <a:ext cx="28038" cy="106595"/>
          </a:xfrm>
          <a:custGeom>
            <a:avLst/>
            <a:gdLst/>
            <a:ahLst/>
            <a:cxnLst/>
            <a:rect l="l" t="t" r="r" b="b"/>
            <a:pathLst>
              <a:path w="28575" h="113029">
                <a:moveTo>
                  <a:pt x="8623" y="0"/>
                </a:moveTo>
                <a:lnTo>
                  <a:pt x="8153" y="508"/>
                </a:lnTo>
                <a:lnTo>
                  <a:pt x="7490" y="15025"/>
                </a:lnTo>
                <a:lnTo>
                  <a:pt x="6228" y="40239"/>
                </a:lnTo>
                <a:lnTo>
                  <a:pt x="5778" y="93846"/>
                </a:lnTo>
                <a:lnTo>
                  <a:pt x="0" y="95211"/>
                </a:lnTo>
                <a:lnTo>
                  <a:pt x="0" y="112585"/>
                </a:lnTo>
                <a:lnTo>
                  <a:pt x="28143" y="112585"/>
                </a:lnTo>
                <a:lnTo>
                  <a:pt x="28143" y="95211"/>
                </a:lnTo>
                <a:lnTo>
                  <a:pt x="25450" y="95211"/>
                </a:lnTo>
                <a:lnTo>
                  <a:pt x="23936" y="87531"/>
                </a:lnTo>
                <a:lnTo>
                  <a:pt x="23159" y="70577"/>
                </a:lnTo>
                <a:lnTo>
                  <a:pt x="22849" y="53482"/>
                </a:lnTo>
                <a:lnTo>
                  <a:pt x="22283" y="37878"/>
                </a:lnTo>
                <a:lnTo>
                  <a:pt x="21756" y="25567"/>
                </a:lnTo>
                <a:lnTo>
                  <a:pt x="20942" y="9080"/>
                </a:lnTo>
                <a:lnTo>
                  <a:pt x="20400" y="177"/>
                </a:lnTo>
                <a:lnTo>
                  <a:pt x="13627" y="177"/>
                </a:lnTo>
                <a:lnTo>
                  <a:pt x="8623" y="0"/>
                </a:lnTo>
                <a:close/>
              </a:path>
              <a:path w="28575" h="113029">
                <a:moveTo>
                  <a:pt x="20396" y="101"/>
                </a:moveTo>
                <a:lnTo>
                  <a:pt x="13627" y="177"/>
                </a:lnTo>
                <a:lnTo>
                  <a:pt x="20400" y="177"/>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69" name="object 134">
            <a:extLst>
              <a:ext uri="{FF2B5EF4-FFF2-40B4-BE49-F238E27FC236}">
                <a16:creationId xmlns:a16="http://schemas.microsoft.com/office/drawing/2014/main" id="{F2685874-4297-48D6-B69E-F2E72A5BBA9F}"/>
              </a:ext>
            </a:extLst>
          </p:cNvPr>
          <p:cNvSpPr/>
          <p:nvPr/>
        </p:nvSpPr>
        <p:spPr>
          <a:xfrm>
            <a:off x="1690428" y="2216462"/>
            <a:ext cx="183782" cy="134877"/>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70" name="object 135">
            <a:extLst>
              <a:ext uri="{FF2B5EF4-FFF2-40B4-BE49-F238E27FC236}">
                <a16:creationId xmlns:a16="http://schemas.microsoft.com/office/drawing/2014/main" id="{1BA43235-29CC-4251-A159-320975B7140E}"/>
              </a:ext>
            </a:extLst>
          </p:cNvPr>
          <p:cNvSpPr/>
          <p:nvPr/>
        </p:nvSpPr>
        <p:spPr>
          <a:xfrm>
            <a:off x="1746787" y="2360780"/>
            <a:ext cx="70686" cy="28902"/>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71" name="object 137">
            <a:extLst>
              <a:ext uri="{FF2B5EF4-FFF2-40B4-BE49-F238E27FC236}">
                <a16:creationId xmlns:a16="http://schemas.microsoft.com/office/drawing/2014/main" id="{87162795-230D-41E3-B644-F4604ADBA01C}"/>
              </a:ext>
            </a:extLst>
          </p:cNvPr>
          <p:cNvSpPr/>
          <p:nvPr/>
        </p:nvSpPr>
        <p:spPr>
          <a:xfrm>
            <a:off x="1767021" y="2283638"/>
            <a:ext cx="30202" cy="28902"/>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72" name="object 138">
            <a:extLst>
              <a:ext uri="{FF2B5EF4-FFF2-40B4-BE49-F238E27FC236}">
                <a16:creationId xmlns:a16="http://schemas.microsoft.com/office/drawing/2014/main" id="{389C9330-71B5-4260-9338-F366B26C3712}"/>
              </a:ext>
            </a:extLst>
          </p:cNvPr>
          <p:cNvSpPr/>
          <p:nvPr/>
        </p:nvSpPr>
        <p:spPr>
          <a:xfrm>
            <a:off x="1809525" y="2283596"/>
            <a:ext cx="32771" cy="29777"/>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73" name="object 139">
            <a:extLst>
              <a:ext uri="{FF2B5EF4-FFF2-40B4-BE49-F238E27FC236}">
                <a16:creationId xmlns:a16="http://schemas.microsoft.com/office/drawing/2014/main" id="{58C6A03A-D086-42C9-8209-09EEB14F74C3}"/>
              </a:ext>
            </a:extLst>
          </p:cNvPr>
          <p:cNvSpPr/>
          <p:nvPr/>
        </p:nvSpPr>
        <p:spPr>
          <a:xfrm>
            <a:off x="1722068" y="2283608"/>
            <a:ext cx="32771" cy="28902"/>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74" name="object 140">
            <a:extLst>
              <a:ext uri="{FF2B5EF4-FFF2-40B4-BE49-F238E27FC236}">
                <a16:creationId xmlns:a16="http://schemas.microsoft.com/office/drawing/2014/main" id="{A638E169-EF66-407D-8095-237E9B5B79C2}"/>
              </a:ext>
            </a:extLst>
          </p:cNvPr>
          <p:cNvSpPr/>
          <p:nvPr/>
        </p:nvSpPr>
        <p:spPr>
          <a:xfrm>
            <a:off x="1805924" y="2245411"/>
            <a:ext cx="28274" cy="23647"/>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75" name="object 142">
            <a:extLst>
              <a:ext uri="{FF2B5EF4-FFF2-40B4-BE49-F238E27FC236}">
                <a16:creationId xmlns:a16="http://schemas.microsoft.com/office/drawing/2014/main" id="{320F94F6-6BBA-4EAA-A071-6C08C627CA93}"/>
              </a:ext>
            </a:extLst>
          </p:cNvPr>
          <p:cNvSpPr/>
          <p:nvPr/>
        </p:nvSpPr>
        <p:spPr>
          <a:xfrm>
            <a:off x="1730266" y="2245398"/>
            <a:ext cx="28274" cy="23647"/>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76" name="object 137">
            <a:extLst>
              <a:ext uri="{FF2B5EF4-FFF2-40B4-BE49-F238E27FC236}">
                <a16:creationId xmlns:a16="http://schemas.microsoft.com/office/drawing/2014/main" id="{41821011-DC12-40C0-ACD2-2AEA9B690F76}"/>
              </a:ext>
            </a:extLst>
          </p:cNvPr>
          <p:cNvSpPr/>
          <p:nvPr/>
        </p:nvSpPr>
        <p:spPr>
          <a:xfrm>
            <a:off x="1767019" y="2244317"/>
            <a:ext cx="30202" cy="24214"/>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77" name="object 12">
            <a:extLst>
              <a:ext uri="{FF2B5EF4-FFF2-40B4-BE49-F238E27FC236}">
                <a16:creationId xmlns:a16="http://schemas.microsoft.com/office/drawing/2014/main" id="{399565FB-8CD1-4362-B858-FD77FF367BA2}"/>
              </a:ext>
            </a:extLst>
          </p:cNvPr>
          <p:cNvSpPr/>
          <p:nvPr/>
        </p:nvSpPr>
        <p:spPr>
          <a:xfrm>
            <a:off x="1800551" y="2646910"/>
            <a:ext cx="176604" cy="138772"/>
          </a:xfrm>
          <a:custGeom>
            <a:avLst/>
            <a:gdLst/>
            <a:ahLst/>
            <a:cxnLst/>
            <a:rect l="l" t="t" r="r" b="b"/>
            <a:pathLst>
              <a:path w="181610" h="135255">
                <a:moveTo>
                  <a:pt x="177343" y="0"/>
                </a:moveTo>
                <a:lnTo>
                  <a:pt x="140" y="165"/>
                </a:lnTo>
                <a:lnTo>
                  <a:pt x="0" y="8108"/>
                </a:lnTo>
                <a:lnTo>
                  <a:pt x="6728" y="71785"/>
                </a:lnTo>
                <a:lnTo>
                  <a:pt x="8020" y="83661"/>
                </a:lnTo>
                <a:lnTo>
                  <a:pt x="9351" y="96189"/>
                </a:lnTo>
                <a:lnTo>
                  <a:pt x="10659" y="109897"/>
                </a:lnTo>
                <a:lnTo>
                  <a:pt x="12204" y="122336"/>
                </a:lnTo>
                <a:lnTo>
                  <a:pt x="12040" y="134975"/>
                </a:lnTo>
                <a:lnTo>
                  <a:pt x="177635" y="135127"/>
                </a:lnTo>
                <a:lnTo>
                  <a:pt x="179858" y="133870"/>
                </a:lnTo>
                <a:lnTo>
                  <a:pt x="181267" y="131102"/>
                </a:lnTo>
                <a:lnTo>
                  <a:pt x="181267" y="78752"/>
                </a:lnTo>
                <a:lnTo>
                  <a:pt x="14885" y="78739"/>
                </a:lnTo>
                <a:lnTo>
                  <a:pt x="12787" y="76555"/>
                </a:lnTo>
                <a:lnTo>
                  <a:pt x="12824" y="24803"/>
                </a:lnTo>
                <a:lnTo>
                  <a:pt x="14935" y="22631"/>
                </a:lnTo>
                <a:lnTo>
                  <a:pt x="181267" y="22631"/>
                </a:lnTo>
                <a:lnTo>
                  <a:pt x="181267" y="3632"/>
                </a:lnTo>
                <a:lnTo>
                  <a:pt x="179489" y="1320"/>
                </a:lnTo>
                <a:lnTo>
                  <a:pt x="177343" y="0"/>
                </a:lnTo>
                <a:close/>
              </a:path>
              <a:path w="181610" h="135255">
                <a:moveTo>
                  <a:pt x="181267" y="22631"/>
                </a:moveTo>
                <a:lnTo>
                  <a:pt x="66650" y="22631"/>
                </a:lnTo>
                <a:lnTo>
                  <a:pt x="68656" y="24637"/>
                </a:lnTo>
                <a:lnTo>
                  <a:pt x="68771" y="76873"/>
                </a:lnTo>
                <a:lnTo>
                  <a:pt x="66942" y="78739"/>
                </a:lnTo>
                <a:lnTo>
                  <a:pt x="14897" y="78752"/>
                </a:lnTo>
                <a:lnTo>
                  <a:pt x="93498" y="78752"/>
                </a:lnTo>
                <a:lnTo>
                  <a:pt x="91478" y="76555"/>
                </a:lnTo>
                <a:lnTo>
                  <a:pt x="91491" y="24637"/>
                </a:lnTo>
                <a:lnTo>
                  <a:pt x="93434" y="22669"/>
                </a:lnTo>
                <a:lnTo>
                  <a:pt x="181267" y="22656"/>
                </a:lnTo>
                <a:close/>
              </a:path>
              <a:path w="181610" h="135255">
                <a:moveTo>
                  <a:pt x="181267" y="22656"/>
                </a:moveTo>
                <a:lnTo>
                  <a:pt x="145199" y="22656"/>
                </a:lnTo>
                <a:lnTo>
                  <a:pt x="147405" y="24803"/>
                </a:lnTo>
                <a:lnTo>
                  <a:pt x="147487" y="76555"/>
                </a:lnTo>
                <a:lnTo>
                  <a:pt x="145352" y="78752"/>
                </a:lnTo>
                <a:lnTo>
                  <a:pt x="181267" y="78752"/>
                </a:lnTo>
                <a:lnTo>
                  <a:pt x="181267" y="22656"/>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78" name="object 13">
            <a:extLst>
              <a:ext uri="{FF2B5EF4-FFF2-40B4-BE49-F238E27FC236}">
                <a16:creationId xmlns:a16="http://schemas.microsoft.com/office/drawing/2014/main" id="{DED9D396-2CA8-41DB-ACAC-6D36556C2FBC}"/>
              </a:ext>
            </a:extLst>
          </p:cNvPr>
          <p:cNvSpPr/>
          <p:nvPr/>
        </p:nvSpPr>
        <p:spPr>
          <a:xfrm>
            <a:off x="1714116" y="2554874"/>
            <a:ext cx="88920" cy="231287"/>
          </a:xfrm>
          <a:custGeom>
            <a:avLst/>
            <a:gdLst/>
            <a:ahLst/>
            <a:cxnLst/>
            <a:rect l="l" t="t" r="r" b="b"/>
            <a:pathLst>
              <a:path w="91440" h="225425">
                <a:moveTo>
                  <a:pt x="65747" y="0"/>
                </a:moveTo>
                <a:lnTo>
                  <a:pt x="25095" y="0"/>
                </a:lnTo>
                <a:lnTo>
                  <a:pt x="23304" y="1523"/>
                </a:lnTo>
                <a:lnTo>
                  <a:pt x="22378" y="9688"/>
                </a:lnTo>
                <a:lnTo>
                  <a:pt x="21264" y="20167"/>
                </a:lnTo>
                <a:lnTo>
                  <a:pt x="14171" y="88694"/>
                </a:lnTo>
                <a:lnTo>
                  <a:pt x="7244" y="153518"/>
                </a:lnTo>
                <a:lnTo>
                  <a:pt x="0" y="222427"/>
                </a:lnTo>
                <a:lnTo>
                  <a:pt x="2120" y="224815"/>
                </a:lnTo>
                <a:lnTo>
                  <a:pt x="45326" y="224828"/>
                </a:lnTo>
                <a:lnTo>
                  <a:pt x="88125" y="224815"/>
                </a:lnTo>
                <a:lnTo>
                  <a:pt x="90830" y="222084"/>
                </a:lnTo>
                <a:lnTo>
                  <a:pt x="82838" y="147188"/>
                </a:lnTo>
                <a:lnTo>
                  <a:pt x="77552" y="96175"/>
                </a:lnTo>
                <a:lnTo>
                  <a:pt x="73681" y="60067"/>
                </a:lnTo>
                <a:lnTo>
                  <a:pt x="69313" y="18804"/>
                </a:lnTo>
                <a:lnTo>
                  <a:pt x="67449" y="1435"/>
                </a:lnTo>
                <a:lnTo>
                  <a:pt x="65747"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79" name="object 14">
            <a:extLst>
              <a:ext uri="{FF2B5EF4-FFF2-40B4-BE49-F238E27FC236}">
                <a16:creationId xmlns:a16="http://schemas.microsoft.com/office/drawing/2014/main" id="{B51007D6-57E0-42BB-9650-21B1D11BA588}"/>
              </a:ext>
            </a:extLst>
          </p:cNvPr>
          <p:cNvSpPr/>
          <p:nvPr/>
        </p:nvSpPr>
        <p:spPr>
          <a:xfrm>
            <a:off x="1785071" y="2521671"/>
            <a:ext cx="154375" cy="46257"/>
          </a:xfrm>
          <a:custGeom>
            <a:avLst/>
            <a:gdLst/>
            <a:ahLst/>
            <a:cxnLst/>
            <a:rect l="l" t="t" r="r" b="b"/>
            <a:pathLst>
              <a:path w="158750" h="45084">
                <a:moveTo>
                  <a:pt x="154156" y="25436"/>
                </a:moveTo>
                <a:lnTo>
                  <a:pt x="10080" y="25436"/>
                </a:lnTo>
                <a:lnTo>
                  <a:pt x="22075" y="25825"/>
                </a:lnTo>
                <a:lnTo>
                  <a:pt x="35143" y="28848"/>
                </a:lnTo>
                <a:lnTo>
                  <a:pt x="71637" y="41109"/>
                </a:lnTo>
                <a:lnTo>
                  <a:pt x="83796" y="43810"/>
                </a:lnTo>
                <a:lnTo>
                  <a:pt x="95976" y="44904"/>
                </a:lnTo>
                <a:lnTo>
                  <a:pt x="108200" y="44250"/>
                </a:lnTo>
                <a:lnTo>
                  <a:pt x="120490" y="41712"/>
                </a:lnTo>
                <a:lnTo>
                  <a:pt x="132869" y="37149"/>
                </a:lnTo>
                <a:lnTo>
                  <a:pt x="144103" y="31261"/>
                </a:lnTo>
                <a:lnTo>
                  <a:pt x="154156" y="25436"/>
                </a:lnTo>
                <a:close/>
              </a:path>
              <a:path w="158750" h="45084">
                <a:moveTo>
                  <a:pt x="52031" y="0"/>
                </a:moveTo>
                <a:lnTo>
                  <a:pt x="14908" y="9205"/>
                </a:lnTo>
                <a:lnTo>
                  <a:pt x="0" y="19100"/>
                </a:lnTo>
                <a:lnTo>
                  <a:pt x="1536" y="24206"/>
                </a:lnTo>
                <a:lnTo>
                  <a:pt x="3619" y="25628"/>
                </a:lnTo>
                <a:lnTo>
                  <a:pt x="7848" y="25615"/>
                </a:lnTo>
                <a:lnTo>
                  <a:pt x="10080" y="25436"/>
                </a:lnTo>
                <a:lnTo>
                  <a:pt x="154156" y="25436"/>
                </a:lnTo>
                <a:lnTo>
                  <a:pt x="157759" y="23368"/>
                </a:lnTo>
                <a:lnTo>
                  <a:pt x="158508" y="20383"/>
                </a:lnTo>
                <a:lnTo>
                  <a:pt x="157629" y="18287"/>
                </a:lnTo>
                <a:lnTo>
                  <a:pt x="127095" y="18287"/>
                </a:lnTo>
                <a:lnTo>
                  <a:pt x="114025" y="16263"/>
                </a:lnTo>
                <a:lnTo>
                  <a:pt x="104713" y="13521"/>
                </a:lnTo>
                <a:lnTo>
                  <a:pt x="77089" y="4445"/>
                </a:lnTo>
                <a:lnTo>
                  <a:pt x="64758" y="1476"/>
                </a:lnTo>
                <a:lnTo>
                  <a:pt x="52031" y="0"/>
                </a:lnTo>
                <a:close/>
              </a:path>
              <a:path w="158750" h="45084">
                <a:moveTo>
                  <a:pt x="153644" y="13957"/>
                </a:moveTo>
                <a:lnTo>
                  <a:pt x="149771" y="14808"/>
                </a:lnTo>
                <a:lnTo>
                  <a:pt x="148958" y="15125"/>
                </a:lnTo>
                <a:lnTo>
                  <a:pt x="139295" y="17482"/>
                </a:lnTo>
                <a:lnTo>
                  <a:pt x="127095" y="18287"/>
                </a:lnTo>
                <a:lnTo>
                  <a:pt x="157629" y="18287"/>
                </a:lnTo>
                <a:lnTo>
                  <a:pt x="156349" y="15240"/>
                </a:lnTo>
                <a:lnTo>
                  <a:pt x="153644" y="13957"/>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80" name="object 16">
            <a:extLst>
              <a:ext uri="{FF2B5EF4-FFF2-40B4-BE49-F238E27FC236}">
                <a16:creationId xmlns:a16="http://schemas.microsoft.com/office/drawing/2014/main" id="{CDBAB86E-66CC-4373-B40B-37FCF659F065}"/>
              </a:ext>
            </a:extLst>
          </p:cNvPr>
          <p:cNvSpPr/>
          <p:nvPr/>
        </p:nvSpPr>
        <p:spPr>
          <a:xfrm>
            <a:off x="1823872" y="2681705"/>
            <a:ext cx="32728" cy="34530"/>
          </a:xfrm>
          <a:custGeom>
            <a:avLst/>
            <a:gdLst/>
            <a:ahLst/>
            <a:cxnLst/>
            <a:rect l="l" t="t" r="r" b="b"/>
            <a:pathLst>
              <a:path w="33655" h="33655">
                <a:moveTo>
                  <a:pt x="0" y="16802"/>
                </a:moveTo>
                <a:lnTo>
                  <a:pt x="33566" y="16802"/>
                </a:lnTo>
              </a:path>
            </a:pathLst>
          </a:custGeom>
          <a:solidFill>
            <a:srgbClr val="92D400"/>
          </a:solidFill>
          <a:ln w="34874">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481" name="object 16">
            <a:extLst>
              <a:ext uri="{FF2B5EF4-FFF2-40B4-BE49-F238E27FC236}">
                <a16:creationId xmlns:a16="http://schemas.microsoft.com/office/drawing/2014/main" id="{144F7E8D-E58B-4C00-B790-CE6EA4CD40E5}"/>
              </a:ext>
            </a:extLst>
          </p:cNvPr>
          <p:cNvSpPr/>
          <p:nvPr/>
        </p:nvSpPr>
        <p:spPr>
          <a:xfrm>
            <a:off x="1899048" y="2681705"/>
            <a:ext cx="32728" cy="34530"/>
          </a:xfrm>
          <a:custGeom>
            <a:avLst/>
            <a:gdLst/>
            <a:ahLst/>
            <a:cxnLst/>
            <a:rect l="l" t="t" r="r" b="b"/>
            <a:pathLst>
              <a:path w="33655" h="33655">
                <a:moveTo>
                  <a:pt x="0" y="16802"/>
                </a:moveTo>
                <a:lnTo>
                  <a:pt x="33566" y="16802"/>
                </a:lnTo>
              </a:path>
            </a:pathLst>
          </a:custGeom>
          <a:solidFill>
            <a:srgbClr val="92D400"/>
          </a:solidFill>
          <a:ln w="34874">
            <a:solidFill>
              <a:srgbClr val="92D400"/>
            </a:solidFill>
          </a:ln>
        </p:spPr>
        <p:txBody>
          <a:bodyPr wrap="square" lIns="0" tIns="0" rIns="0" bIns="0" rtlCol="0"/>
          <a:lstStyle/>
          <a:p>
            <a:pPr defTabSz="914403">
              <a:defRPr/>
            </a:pPr>
            <a:endParaRPr sz="1799" kern="0">
              <a:solidFill>
                <a:prstClr val="white"/>
              </a:solidFill>
              <a:latin typeface="+mj-lt"/>
            </a:endParaRPr>
          </a:p>
        </p:txBody>
      </p:sp>
      <p:sp>
        <p:nvSpPr>
          <p:cNvPr id="482" name="object 134">
            <a:extLst>
              <a:ext uri="{FF2B5EF4-FFF2-40B4-BE49-F238E27FC236}">
                <a16:creationId xmlns:a16="http://schemas.microsoft.com/office/drawing/2014/main" id="{A38185FC-C2A7-471F-A5A6-51309115B7CD}"/>
              </a:ext>
            </a:extLst>
          </p:cNvPr>
          <p:cNvSpPr/>
          <p:nvPr/>
        </p:nvSpPr>
        <p:spPr>
          <a:xfrm>
            <a:off x="1248740" y="2230671"/>
            <a:ext cx="183782" cy="134879"/>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83" name="object 135">
            <a:extLst>
              <a:ext uri="{FF2B5EF4-FFF2-40B4-BE49-F238E27FC236}">
                <a16:creationId xmlns:a16="http://schemas.microsoft.com/office/drawing/2014/main" id="{FED649EF-7E29-47CC-B200-B6375D5EABD4}"/>
              </a:ext>
            </a:extLst>
          </p:cNvPr>
          <p:cNvSpPr/>
          <p:nvPr/>
        </p:nvSpPr>
        <p:spPr>
          <a:xfrm>
            <a:off x="1305100" y="2374991"/>
            <a:ext cx="70686" cy="28902"/>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84" name="object 136">
            <a:extLst>
              <a:ext uri="{FF2B5EF4-FFF2-40B4-BE49-F238E27FC236}">
                <a16:creationId xmlns:a16="http://schemas.microsoft.com/office/drawing/2014/main" id="{A76DD611-B5EE-441A-A316-84DB7C9DC3E4}"/>
              </a:ext>
            </a:extLst>
          </p:cNvPr>
          <p:cNvSpPr>
            <a:spLocks noChangeAspect="1"/>
          </p:cNvSpPr>
          <p:nvPr/>
        </p:nvSpPr>
        <p:spPr>
          <a:xfrm>
            <a:off x="1282826" y="2129821"/>
            <a:ext cx="114863" cy="93934"/>
          </a:xfrm>
          <a:custGeom>
            <a:avLst/>
            <a:gdLst/>
            <a:ahLst/>
            <a:cxnLst/>
            <a:rect l="l" t="t" r="r" b="b"/>
            <a:pathLst>
              <a:path w="82550" h="49529">
                <a:moveTo>
                  <a:pt x="67477" y="20414"/>
                </a:moveTo>
                <a:lnTo>
                  <a:pt x="43105" y="20414"/>
                </a:lnTo>
                <a:lnTo>
                  <a:pt x="55363" y="25656"/>
                </a:lnTo>
                <a:lnTo>
                  <a:pt x="61798" y="35798"/>
                </a:lnTo>
                <a:lnTo>
                  <a:pt x="61417" y="48386"/>
                </a:lnTo>
                <a:lnTo>
                  <a:pt x="65379" y="48640"/>
                </a:lnTo>
                <a:lnTo>
                  <a:pt x="69265" y="49060"/>
                </a:lnTo>
                <a:lnTo>
                  <a:pt x="72948" y="45821"/>
                </a:lnTo>
                <a:lnTo>
                  <a:pt x="73545" y="45618"/>
                </a:lnTo>
                <a:lnTo>
                  <a:pt x="82550" y="41541"/>
                </a:lnTo>
                <a:lnTo>
                  <a:pt x="81876" y="41274"/>
                </a:lnTo>
                <a:lnTo>
                  <a:pt x="81330" y="41084"/>
                </a:lnTo>
                <a:lnTo>
                  <a:pt x="77330" y="39281"/>
                </a:lnTo>
                <a:lnTo>
                  <a:pt x="73787" y="37845"/>
                </a:lnTo>
                <a:lnTo>
                  <a:pt x="67106" y="34289"/>
                </a:lnTo>
                <a:lnTo>
                  <a:pt x="65138" y="31508"/>
                </a:lnTo>
                <a:lnTo>
                  <a:pt x="66433" y="24637"/>
                </a:lnTo>
                <a:lnTo>
                  <a:pt x="67081" y="21767"/>
                </a:lnTo>
                <a:lnTo>
                  <a:pt x="67477" y="20414"/>
                </a:lnTo>
                <a:close/>
              </a:path>
              <a:path w="82550" h="49529">
                <a:moveTo>
                  <a:pt x="11760" y="12191"/>
                </a:moveTo>
                <a:lnTo>
                  <a:pt x="12357" y="13563"/>
                </a:lnTo>
                <a:lnTo>
                  <a:pt x="14439" y="18999"/>
                </a:lnTo>
                <a:lnTo>
                  <a:pt x="16535" y="23812"/>
                </a:lnTo>
                <a:lnTo>
                  <a:pt x="17030" y="31191"/>
                </a:lnTo>
                <a:lnTo>
                  <a:pt x="16408" y="32880"/>
                </a:lnTo>
                <a:lnTo>
                  <a:pt x="12890" y="35255"/>
                </a:lnTo>
                <a:lnTo>
                  <a:pt x="11112" y="36537"/>
                </a:lnTo>
                <a:lnTo>
                  <a:pt x="6197" y="38950"/>
                </a:lnTo>
                <a:lnTo>
                  <a:pt x="3073" y="40157"/>
                </a:lnTo>
                <a:lnTo>
                  <a:pt x="0" y="41478"/>
                </a:lnTo>
                <a:lnTo>
                  <a:pt x="241" y="41770"/>
                </a:lnTo>
                <a:lnTo>
                  <a:pt x="13741" y="48183"/>
                </a:lnTo>
                <a:lnTo>
                  <a:pt x="14401" y="48475"/>
                </a:lnTo>
                <a:lnTo>
                  <a:pt x="18808" y="48488"/>
                </a:lnTo>
                <a:lnTo>
                  <a:pt x="22279" y="31940"/>
                </a:lnTo>
                <a:lnTo>
                  <a:pt x="31873" y="22276"/>
                </a:lnTo>
                <a:lnTo>
                  <a:pt x="43105" y="20414"/>
                </a:lnTo>
                <a:lnTo>
                  <a:pt x="67477" y="20414"/>
                </a:lnTo>
                <a:lnTo>
                  <a:pt x="68134" y="18173"/>
                </a:lnTo>
                <a:lnTo>
                  <a:pt x="54102" y="18173"/>
                </a:lnTo>
                <a:lnTo>
                  <a:pt x="51274" y="17513"/>
                </a:lnTo>
                <a:lnTo>
                  <a:pt x="30365" y="17513"/>
                </a:lnTo>
                <a:lnTo>
                  <a:pt x="22860" y="16776"/>
                </a:lnTo>
                <a:lnTo>
                  <a:pt x="17929" y="14592"/>
                </a:lnTo>
                <a:lnTo>
                  <a:pt x="13322" y="12776"/>
                </a:lnTo>
                <a:lnTo>
                  <a:pt x="11760" y="12191"/>
                </a:lnTo>
                <a:close/>
              </a:path>
              <a:path w="82550" h="49529">
                <a:moveTo>
                  <a:pt x="70472" y="12204"/>
                </a:moveTo>
                <a:lnTo>
                  <a:pt x="69456" y="12687"/>
                </a:lnTo>
                <a:lnTo>
                  <a:pt x="65087" y="14325"/>
                </a:lnTo>
                <a:lnTo>
                  <a:pt x="61175" y="15963"/>
                </a:lnTo>
                <a:lnTo>
                  <a:pt x="54102" y="18173"/>
                </a:lnTo>
                <a:lnTo>
                  <a:pt x="68134" y="18173"/>
                </a:lnTo>
                <a:lnTo>
                  <a:pt x="68554" y="16738"/>
                </a:lnTo>
                <a:lnTo>
                  <a:pt x="69550" y="14592"/>
                </a:lnTo>
                <a:lnTo>
                  <a:pt x="70472" y="12204"/>
                </a:lnTo>
                <a:close/>
              </a:path>
              <a:path w="82550" h="49529">
                <a:moveTo>
                  <a:pt x="41173" y="0"/>
                </a:moveTo>
                <a:lnTo>
                  <a:pt x="40843" y="800"/>
                </a:lnTo>
                <a:lnTo>
                  <a:pt x="40652" y="1320"/>
                </a:lnTo>
                <a:lnTo>
                  <a:pt x="38481" y="6438"/>
                </a:lnTo>
                <a:lnTo>
                  <a:pt x="36753" y="11150"/>
                </a:lnTo>
                <a:lnTo>
                  <a:pt x="32092" y="16840"/>
                </a:lnTo>
                <a:lnTo>
                  <a:pt x="30365" y="17513"/>
                </a:lnTo>
                <a:lnTo>
                  <a:pt x="51274" y="17513"/>
                </a:lnTo>
                <a:lnTo>
                  <a:pt x="45948" y="9143"/>
                </a:lnTo>
                <a:lnTo>
                  <a:pt x="43205" y="4381"/>
                </a:lnTo>
                <a:lnTo>
                  <a:pt x="42303" y="2298"/>
                </a:lnTo>
                <a:lnTo>
                  <a:pt x="41173"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85" name="object 137">
            <a:extLst>
              <a:ext uri="{FF2B5EF4-FFF2-40B4-BE49-F238E27FC236}">
                <a16:creationId xmlns:a16="http://schemas.microsoft.com/office/drawing/2014/main" id="{9950749F-F088-4961-842D-FF3547459E2C}"/>
              </a:ext>
            </a:extLst>
          </p:cNvPr>
          <p:cNvSpPr/>
          <p:nvPr/>
        </p:nvSpPr>
        <p:spPr>
          <a:xfrm>
            <a:off x="1325333" y="2297848"/>
            <a:ext cx="30202" cy="28902"/>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86" name="object 138">
            <a:extLst>
              <a:ext uri="{FF2B5EF4-FFF2-40B4-BE49-F238E27FC236}">
                <a16:creationId xmlns:a16="http://schemas.microsoft.com/office/drawing/2014/main" id="{2257A944-7D1D-4820-87D0-ADEC6140D242}"/>
              </a:ext>
            </a:extLst>
          </p:cNvPr>
          <p:cNvSpPr>
            <a:spLocks noChangeAspect="1"/>
          </p:cNvSpPr>
          <p:nvPr/>
        </p:nvSpPr>
        <p:spPr>
          <a:xfrm>
            <a:off x="1367837" y="2297804"/>
            <a:ext cx="32771" cy="29778"/>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87" name="object 139">
            <a:extLst>
              <a:ext uri="{FF2B5EF4-FFF2-40B4-BE49-F238E27FC236}">
                <a16:creationId xmlns:a16="http://schemas.microsoft.com/office/drawing/2014/main" id="{A396ABC1-12D6-4F78-9E81-EF0671419E63}"/>
              </a:ext>
            </a:extLst>
          </p:cNvPr>
          <p:cNvSpPr/>
          <p:nvPr/>
        </p:nvSpPr>
        <p:spPr>
          <a:xfrm>
            <a:off x="1280380" y="2297818"/>
            <a:ext cx="32771" cy="28902"/>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88" name="object 140">
            <a:extLst>
              <a:ext uri="{FF2B5EF4-FFF2-40B4-BE49-F238E27FC236}">
                <a16:creationId xmlns:a16="http://schemas.microsoft.com/office/drawing/2014/main" id="{82F892D6-2F34-4B82-8E02-F43CA5A17666}"/>
              </a:ext>
            </a:extLst>
          </p:cNvPr>
          <p:cNvSpPr/>
          <p:nvPr/>
        </p:nvSpPr>
        <p:spPr>
          <a:xfrm>
            <a:off x="1364237" y="2259621"/>
            <a:ext cx="28274" cy="23647"/>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89" name="object 142">
            <a:extLst>
              <a:ext uri="{FF2B5EF4-FFF2-40B4-BE49-F238E27FC236}">
                <a16:creationId xmlns:a16="http://schemas.microsoft.com/office/drawing/2014/main" id="{BF061B10-024B-41F7-AA81-D1CCD1B2829C}"/>
              </a:ext>
            </a:extLst>
          </p:cNvPr>
          <p:cNvSpPr/>
          <p:nvPr/>
        </p:nvSpPr>
        <p:spPr>
          <a:xfrm>
            <a:off x="1288578" y="2259607"/>
            <a:ext cx="28274" cy="23647"/>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90" name="object 137">
            <a:extLst>
              <a:ext uri="{FF2B5EF4-FFF2-40B4-BE49-F238E27FC236}">
                <a16:creationId xmlns:a16="http://schemas.microsoft.com/office/drawing/2014/main" id="{63C129E5-4252-475F-8C0C-2ED2E2F48A7C}"/>
              </a:ext>
            </a:extLst>
          </p:cNvPr>
          <p:cNvSpPr/>
          <p:nvPr/>
        </p:nvSpPr>
        <p:spPr>
          <a:xfrm>
            <a:off x="1325331" y="2258528"/>
            <a:ext cx="30202" cy="24215"/>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491" name="Left-Right Arrow 516">
            <a:extLst>
              <a:ext uri="{FF2B5EF4-FFF2-40B4-BE49-F238E27FC236}">
                <a16:creationId xmlns:a16="http://schemas.microsoft.com/office/drawing/2014/main" id="{7F80F33B-48AB-413F-B875-92609FA712C2}"/>
              </a:ext>
            </a:extLst>
          </p:cNvPr>
          <p:cNvSpPr/>
          <p:nvPr/>
        </p:nvSpPr>
        <p:spPr>
          <a:xfrm>
            <a:off x="8390658" y="2381512"/>
            <a:ext cx="294689" cy="178775"/>
          </a:xfrm>
          <a:prstGeom prst="leftRightArrow">
            <a:avLst/>
          </a:prstGeom>
          <a:solidFill>
            <a:srgbClr val="92D400"/>
          </a:solidFill>
          <a:ln w="12700" cap="flat" cmpd="sng" algn="ctr">
            <a:noFill/>
            <a:prstDash val="solid"/>
            <a:miter lim="800000"/>
          </a:ln>
          <a:effectLst/>
        </p:spPr>
        <p:txBody>
          <a:bodyPr rtlCol="0" anchor="ctr"/>
          <a:lstStyle/>
          <a:p>
            <a:pPr algn="ctr" defTabSz="914403">
              <a:defRPr/>
            </a:pPr>
            <a:endParaRPr lang="en-US" sz="1799" kern="0">
              <a:solidFill>
                <a:prstClr val="white"/>
              </a:solidFill>
              <a:latin typeface="+mj-lt"/>
            </a:endParaRPr>
          </a:p>
        </p:txBody>
      </p:sp>
      <p:sp>
        <p:nvSpPr>
          <p:cNvPr id="492" name="TextBox 491">
            <a:extLst>
              <a:ext uri="{FF2B5EF4-FFF2-40B4-BE49-F238E27FC236}">
                <a16:creationId xmlns:a16="http://schemas.microsoft.com/office/drawing/2014/main" id="{7D039D24-A555-4365-97ED-339471B58377}"/>
              </a:ext>
            </a:extLst>
          </p:cNvPr>
          <p:cNvSpPr txBox="1"/>
          <p:nvPr/>
        </p:nvSpPr>
        <p:spPr>
          <a:xfrm>
            <a:off x="5875513" y="1167811"/>
            <a:ext cx="1080164" cy="184666"/>
          </a:xfrm>
          <a:prstGeom prst="rect">
            <a:avLst/>
          </a:prstGeom>
          <a:noFill/>
        </p:spPr>
        <p:txBody>
          <a:bodyPr wrap="square" lIns="0" tIns="0" rIns="0" bIns="0" rtlCol="0">
            <a:spAutoFit/>
          </a:bodyPr>
          <a:lstStyle/>
          <a:p>
            <a:pPr algn="ctr">
              <a:spcBef>
                <a:spcPts val="600"/>
              </a:spcBef>
              <a:buSzPct val="100000"/>
            </a:pPr>
            <a:r>
              <a:rPr lang="en-US" sz="1200" b="1" dirty="0">
                <a:solidFill>
                  <a:srgbClr val="313131"/>
                </a:solidFill>
              </a:rPr>
              <a:t>Customers</a:t>
            </a:r>
          </a:p>
        </p:txBody>
      </p:sp>
      <p:sp>
        <p:nvSpPr>
          <p:cNvPr id="493" name="TextBox 492">
            <a:extLst>
              <a:ext uri="{FF2B5EF4-FFF2-40B4-BE49-F238E27FC236}">
                <a16:creationId xmlns:a16="http://schemas.microsoft.com/office/drawing/2014/main" id="{5A58B324-DBB2-4FBD-82E5-B3F31EC5BDEC}"/>
              </a:ext>
            </a:extLst>
          </p:cNvPr>
          <p:cNvSpPr txBox="1"/>
          <p:nvPr/>
        </p:nvSpPr>
        <p:spPr>
          <a:xfrm>
            <a:off x="8655665" y="1175911"/>
            <a:ext cx="2315429" cy="184666"/>
          </a:xfrm>
          <a:prstGeom prst="rect">
            <a:avLst/>
          </a:prstGeom>
          <a:noFill/>
        </p:spPr>
        <p:txBody>
          <a:bodyPr wrap="square" lIns="0" tIns="0" rIns="0" bIns="0" rtlCol="0">
            <a:spAutoFit/>
          </a:bodyPr>
          <a:lstStyle/>
          <a:p>
            <a:pPr algn="ctr">
              <a:spcBef>
                <a:spcPts val="600"/>
              </a:spcBef>
              <a:buSzPct val="100000"/>
            </a:pPr>
            <a:r>
              <a:rPr lang="en-US" sz="1200" b="1" dirty="0">
                <a:solidFill>
                  <a:srgbClr val="313131"/>
                </a:solidFill>
              </a:rPr>
              <a:t>Traditional Workplaces</a:t>
            </a:r>
          </a:p>
        </p:txBody>
      </p:sp>
      <p:sp>
        <p:nvSpPr>
          <p:cNvPr id="494" name="TextBox 493">
            <a:extLst>
              <a:ext uri="{FF2B5EF4-FFF2-40B4-BE49-F238E27FC236}">
                <a16:creationId xmlns:a16="http://schemas.microsoft.com/office/drawing/2014/main" id="{E6BFF279-2A8A-460C-8E80-09BCD1E66C83}"/>
              </a:ext>
            </a:extLst>
          </p:cNvPr>
          <p:cNvSpPr txBox="1"/>
          <p:nvPr/>
        </p:nvSpPr>
        <p:spPr>
          <a:xfrm>
            <a:off x="1952249" y="1118698"/>
            <a:ext cx="1080164" cy="184666"/>
          </a:xfrm>
          <a:prstGeom prst="rect">
            <a:avLst/>
          </a:prstGeom>
          <a:noFill/>
        </p:spPr>
        <p:txBody>
          <a:bodyPr wrap="square" lIns="0" tIns="0" rIns="0" bIns="0" rtlCol="0">
            <a:spAutoFit/>
          </a:bodyPr>
          <a:lstStyle/>
          <a:p>
            <a:pPr algn="ctr">
              <a:spcBef>
                <a:spcPts val="600"/>
              </a:spcBef>
              <a:buSzPct val="100000"/>
            </a:pPr>
            <a:r>
              <a:rPr lang="en-US" sz="1200" b="1" dirty="0">
                <a:solidFill>
                  <a:srgbClr val="313131"/>
                </a:solidFill>
              </a:rPr>
              <a:t>Assets</a:t>
            </a:r>
          </a:p>
        </p:txBody>
      </p:sp>
      <p:sp>
        <p:nvSpPr>
          <p:cNvPr id="495" name="TextBox 494">
            <a:extLst>
              <a:ext uri="{FF2B5EF4-FFF2-40B4-BE49-F238E27FC236}">
                <a16:creationId xmlns:a16="http://schemas.microsoft.com/office/drawing/2014/main" id="{42690084-2826-473C-B25A-42ACA048496D}"/>
              </a:ext>
            </a:extLst>
          </p:cNvPr>
          <p:cNvSpPr txBox="1"/>
          <p:nvPr/>
        </p:nvSpPr>
        <p:spPr>
          <a:xfrm>
            <a:off x="1969651" y="3000936"/>
            <a:ext cx="1188180" cy="184666"/>
          </a:xfrm>
          <a:prstGeom prst="rect">
            <a:avLst/>
          </a:prstGeom>
          <a:noFill/>
        </p:spPr>
        <p:txBody>
          <a:bodyPr wrap="square" lIns="0" tIns="0" rIns="0" bIns="0" rtlCol="0">
            <a:spAutoFit/>
          </a:bodyPr>
          <a:lstStyle/>
          <a:p>
            <a:pPr algn="ctr">
              <a:spcBef>
                <a:spcPts val="600"/>
              </a:spcBef>
              <a:buSzPct val="100000"/>
            </a:pPr>
            <a:r>
              <a:rPr lang="en-US" sz="1200" b="1" dirty="0">
                <a:solidFill>
                  <a:srgbClr val="313131"/>
                </a:solidFill>
              </a:rPr>
              <a:t>Smart Assets</a:t>
            </a:r>
          </a:p>
        </p:txBody>
      </p:sp>
      <p:sp>
        <p:nvSpPr>
          <p:cNvPr id="496" name="TextBox 495">
            <a:extLst>
              <a:ext uri="{FF2B5EF4-FFF2-40B4-BE49-F238E27FC236}">
                <a16:creationId xmlns:a16="http://schemas.microsoft.com/office/drawing/2014/main" id="{24507769-902C-490A-9F10-C8D534DA876C}"/>
              </a:ext>
            </a:extLst>
          </p:cNvPr>
          <p:cNvSpPr txBox="1"/>
          <p:nvPr/>
        </p:nvSpPr>
        <p:spPr>
          <a:xfrm>
            <a:off x="4720585" y="2988709"/>
            <a:ext cx="3390020" cy="184666"/>
          </a:xfrm>
          <a:prstGeom prst="rect">
            <a:avLst/>
          </a:prstGeom>
          <a:noFill/>
        </p:spPr>
        <p:txBody>
          <a:bodyPr wrap="square" lIns="0" tIns="0" rIns="0" bIns="0" rtlCol="0">
            <a:spAutoFit/>
          </a:bodyPr>
          <a:lstStyle/>
          <a:p>
            <a:pPr algn="ctr">
              <a:spcBef>
                <a:spcPts val="600"/>
              </a:spcBef>
              <a:buSzPct val="100000"/>
            </a:pPr>
            <a:r>
              <a:rPr lang="en-US" sz="1200" b="1" dirty="0">
                <a:solidFill>
                  <a:srgbClr val="313131"/>
                </a:solidFill>
              </a:rPr>
              <a:t>Connected Consumers and Prosumers</a:t>
            </a:r>
          </a:p>
        </p:txBody>
      </p:sp>
      <p:sp>
        <p:nvSpPr>
          <p:cNvPr id="497" name="TextBox 496">
            <a:extLst>
              <a:ext uri="{FF2B5EF4-FFF2-40B4-BE49-F238E27FC236}">
                <a16:creationId xmlns:a16="http://schemas.microsoft.com/office/drawing/2014/main" id="{C637BF82-67C6-447B-9973-38301D82A68C}"/>
              </a:ext>
            </a:extLst>
          </p:cNvPr>
          <p:cNvSpPr txBox="1"/>
          <p:nvPr/>
        </p:nvSpPr>
        <p:spPr>
          <a:xfrm>
            <a:off x="8978337" y="2988914"/>
            <a:ext cx="2104935" cy="184666"/>
          </a:xfrm>
          <a:prstGeom prst="rect">
            <a:avLst/>
          </a:prstGeom>
          <a:noFill/>
        </p:spPr>
        <p:txBody>
          <a:bodyPr wrap="square" lIns="0" tIns="0" rIns="0" bIns="0" rtlCol="0">
            <a:spAutoFit/>
          </a:bodyPr>
          <a:lstStyle/>
          <a:p>
            <a:pPr algn="ctr">
              <a:spcBef>
                <a:spcPts val="600"/>
              </a:spcBef>
              <a:buSzPct val="100000"/>
            </a:pPr>
            <a:r>
              <a:rPr lang="en-US" sz="1200" b="1" dirty="0">
                <a:solidFill>
                  <a:srgbClr val="313131"/>
                </a:solidFill>
              </a:rPr>
              <a:t>Man-machine Connected</a:t>
            </a:r>
          </a:p>
        </p:txBody>
      </p:sp>
      <p:sp>
        <p:nvSpPr>
          <p:cNvPr id="499" name="Isosceles Triangle 498">
            <a:extLst>
              <a:ext uri="{FF2B5EF4-FFF2-40B4-BE49-F238E27FC236}">
                <a16:creationId xmlns:a16="http://schemas.microsoft.com/office/drawing/2014/main" id="{B4E9CA80-E0E7-47C1-A3C6-1E54C860ABBF}"/>
              </a:ext>
            </a:extLst>
          </p:cNvPr>
          <p:cNvSpPr/>
          <p:nvPr/>
        </p:nvSpPr>
        <p:spPr bwMode="gray">
          <a:xfrm rot="10800000">
            <a:off x="456548" y="3246185"/>
            <a:ext cx="11247120" cy="347495"/>
          </a:xfrm>
          <a:prstGeom prst="triangle">
            <a:avLst/>
          </a:prstGeom>
          <a:solidFill>
            <a:schemeClr val="accent6">
              <a:lumMod val="40000"/>
              <a:lumOff val="6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885" dirty="0"/>
          </a:p>
        </p:txBody>
      </p:sp>
      <p:sp>
        <p:nvSpPr>
          <p:cNvPr id="511" name="Freeform 846">
            <a:extLst>
              <a:ext uri="{FF2B5EF4-FFF2-40B4-BE49-F238E27FC236}">
                <a16:creationId xmlns:a16="http://schemas.microsoft.com/office/drawing/2014/main" id="{1A83A8E4-03FB-45F7-A92E-3EE829BBF9E9}"/>
              </a:ext>
            </a:extLst>
          </p:cNvPr>
          <p:cNvSpPr>
            <a:spLocks noEditPoints="1"/>
          </p:cNvSpPr>
          <p:nvPr/>
        </p:nvSpPr>
        <p:spPr bwMode="auto">
          <a:xfrm>
            <a:off x="696487" y="3860643"/>
            <a:ext cx="466565" cy="347496"/>
          </a:xfrm>
          <a:custGeom>
            <a:avLst/>
            <a:gdLst>
              <a:gd name="T0" fmla="*/ 64 w 320"/>
              <a:gd name="T1" fmla="*/ 171 h 256"/>
              <a:gd name="T2" fmla="*/ 64 w 320"/>
              <a:gd name="T3" fmla="*/ 128 h 256"/>
              <a:gd name="T4" fmla="*/ 256 w 320"/>
              <a:gd name="T5" fmla="*/ 128 h 256"/>
              <a:gd name="T6" fmla="*/ 256 w 320"/>
              <a:gd name="T7" fmla="*/ 171 h 256"/>
              <a:gd name="T8" fmla="*/ 256 w 320"/>
              <a:gd name="T9" fmla="*/ 128 h 256"/>
              <a:gd name="T10" fmla="*/ 309 w 320"/>
              <a:gd name="T11" fmla="*/ 202 h 256"/>
              <a:gd name="T12" fmla="*/ 298 w 320"/>
              <a:gd name="T13" fmla="*/ 256 h 256"/>
              <a:gd name="T14" fmla="*/ 234 w 320"/>
              <a:gd name="T15" fmla="*/ 245 h 256"/>
              <a:gd name="T16" fmla="*/ 165 w 320"/>
              <a:gd name="T17" fmla="*/ 224 h 256"/>
              <a:gd name="T18" fmla="*/ 85 w 320"/>
              <a:gd name="T19" fmla="*/ 245 h 256"/>
              <a:gd name="T20" fmla="*/ 21 w 320"/>
              <a:gd name="T21" fmla="*/ 256 h 256"/>
              <a:gd name="T22" fmla="*/ 10 w 320"/>
              <a:gd name="T23" fmla="*/ 203 h 256"/>
              <a:gd name="T24" fmla="*/ 10 w 320"/>
              <a:gd name="T25" fmla="*/ 203 h 256"/>
              <a:gd name="T26" fmla="*/ 10 w 320"/>
              <a:gd name="T27" fmla="*/ 203 h 256"/>
              <a:gd name="T28" fmla="*/ 10 w 320"/>
              <a:gd name="T29" fmla="*/ 199 h 256"/>
              <a:gd name="T30" fmla="*/ 0 w 320"/>
              <a:gd name="T31" fmla="*/ 181 h 256"/>
              <a:gd name="T32" fmla="*/ 44 w 320"/>
              <a:gd name="T33" fmla="*/ 88 h 256"/>
              <a:gd name="T34" fmla="*/ 32 w 320"/>
              <a:gd name="T35" fmla="*/ 85 h 256"/>
              <a:gd name="T36" fmla="*/ 32 w 320"/>
              <a:gd name="T37" fmla="*/ 64 h 256"/>
              <a:gd name="T38" fmla="*/ 64 w 320"/>
              <a:gd name="T39" fmla="*/ 29 h 256"/>
              <a:gd name="T40" fmla="*/ 106 w 320"/>
              <a:gd name="T41" fmla="*/ 0 h 256"/>
              <a:gd name="T42" fmla="*/ 254 w 320"/>
              <a:gd name="T43" fmla="*/ 27 h 256"/>
              <a:gd name="T44" fmla="*/ 267 w 320"/>
              <a:gd name="T45" fmla="*/ 64 h 256"/>
              <a:gd name="T46" fmla="*/ 298 w 320"/>
              <a:gd name="T47" fmla="*/ 75 h 256"/>
              <a:gd name="T48" fmla="*/ 274 w 320"/>
              <a:gd name="T49" fmla="*/ 85 h 256"/>
              <a:gd name="T50" fmla="*/ 320 w 320"/>
              <a:gd name="T51" fmla="*/ 149 h 256"/>
              <a:gd name="T52" fmla="*/ 316 w 320"/>
              <a:gd name="T53" fmla="*/ 194 h 256"/>
              <a:gd name="T54" fmla="*/ 252 w 320"/>
              <a:gd name="T55" fmla="*/ 85 h 256"/>
              <a:gd name="T56" fmla="*/ 213 w 320"/>
              <a:gd name="T57" fmla="*/ 21 h 256"/>
              <a:gd name="T58" fmla="*/ 84 w 320"/>
              <a:gd name="T59" fmla="*/ 36 h 256"/>
              <a:gd name="T60" fmla="*/ 64 w 320"/>
              <a:gd name="T61" fmla="*/ 217 h 256"/>
              <a:gd name="T62" fmla="*/ 32 w 320"/>
              <a:gd name="T63" fmla="*/ 235 h 256"/>
              <a:gd name="T64" fmla="*/ 64 w 320"/>
              <a:gd name="T65" fmla="*/ 217 h 256"/>
              <a:gd name="T66" fmla="*/ 298 w 320"/>
              <a:gd name="T67" fmla="*/ 183 h 256"/>
              <a:gd name="T68" fmla="*/ 298 w 320"/>
              <a:gd name="T69" fmla="*/ 149 h 256"/>
              <a:gd name="T70" fmla="*/ 62 w 320"/>
              <a:gd name="T71" fmla="*/ 107 h 256"/>
              <a:gd name="T72" fmla="*/ 21 w 320"/>
              <a:gd name="T73" fmla="*/ 180 h 256"/>
              <a:gd name="T74" fmla="*/ 288 w 320"/>
              <a:gd name="T75" fmla="*/ 212 h 256"/>
              <a:gd name="T76" fmla="*/ 256 w 320"/>
              <a:gd name="T77" fmla="*/ 235 h 256"/>
              <a:gd name="T78" fmla="*/ 288 w 320"/>
              <a:gd name="T79" fmla="*/ 212 h 256"/>
              <a:gd name="T80" fmla="*/ 128 w 320"/>
              <a:gd name="T81" fmla="*/ 139 h 256"/>
              <a:gd name="T82" fmla="*/ 128 w 320"/>
              <a:gd name="T83" fmla="*/ 160 h 256"/>
              <a:gd name="T84" fmla="*/ 202 w 320"/>
              <a:gd name="T85" fmla="*/ 14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0" h="256">
                <a:moveTo>
                  <a:pt x="85" y="149"/>
                </a:moveTo>
                <a:cubicBezTo>
                  <a:pt x="85" y="161"/>
                  <a:pt x="75" y="171"/>
                  <a:pt x="64" y="171"/>
                </a:cubicBezTo>
                <a:cubicBezTo>
                  <a:pt x="52" y="171"/>
                  <a:pt x="42" y="161"/>
                  <a:pt x="42" y="149"/>
                </a:cubicBezTo>
                <a:cubicBezTo>
                  <a:pt x="42" y="138"/>
                  <a:pt x="52" y="128"/>
                  <a:pt x="64" y="128"/>
                </a:cubicBezTo>
                <a:cubicBezTo>
                  <a:pt x="75" y="128"/>
                  <a:pt x="85" y="138"/>
                  <a:pt x="85" y="149"/>
                </a:cubicBezTo>
                <a:close/>
                <a:moveTo>
                  <a:pt x="256" y="128"/>
                </a:moveTo>
                <a:cubicBezTo>
                  <a:pt x="244" y="128"/>
                  <a:pt x="234" y="138"/>
                  <a:pt x="234" y="149"/>
                </a:cubicBezTo>
                <a:cubicBezTo>
                  <a:pt x="234" y="161"/>
                  <a:pt x="244" y="171"/>
                  <a:pt x="256" y="171"/>
                </a:cubicBezTo>
                <a:cubicBezTo>
                  <a:pt x="267" y="171"/>
                  <a:pt x="277" y="161"/>
                  <a:pt x="277" y="149"/>
                </a:cubicBezTo>
                <a:cubicBezTo>
                  <a:pt x="277" y="138"/>
                  <a:pt x="267" y="128"/>
                  <a:pt x="256" y="128"/>
                </a:cubicBezTo>
                <a:close/>
                <a:moveTo>
                  <a:pt x="316" y="194"/>
                </a:moveTo>
                <a:cubicBezTo>
                  <a:pt x="314" y="197"/>
                  <a:pt x="312" y="199"/>
                  <a:pt x="309" y="202"/>
                </a:cubicBezTo>
                <a:cubicBezTo>
                  <a:pt x="309" y="202"/>
                  <a:pt x="309" y="245"/>
                  <a:pt x="309" y="245"/>
                </a:cubicBezTo>
                <a:cubicBezTo>
                  <a:pt x="309" y="251"/>
                  <a:pt x="304" y="256"/>
                  <a:pt x="298" y="256"/>
                </a:cubicBezTo>
                <a:cubicBezTo>
                  <a:pt x="245" y="256"/>
                  <a:pt x="245" y="256"/>
                  <a:pt x="245" y="256"/>
                </a:cubicBezTo>
                <a:cubicBezTo>
                  <a:pt x="239" y="256"/>
                  <a:pt x="234" y="251"/>
                  <a:pt x="234" y="245"/>
                </a:cubicBezTo>
                <a:cubicBezTo>
                  <a:pt x="234" y="221"/>
                  <a:pt x="234" y="221"/>
                  <a:pt x="234" y="221"/>
                </a:cubicBezTo>
                <a:cubicBezTo>
                  <a:pt x="215" y="223"/>
                  <a:pt x="192" y="224"/>
                  <a:pt x="165" y="224"/>
                </a:cubicBezTo>
                <a:cubicBezTo>
                  <a:pt x="134" y="224"/>
                  <a:pt x="107" y="223"/>
                  <a:pt x="85" y="220"/>
                </a:cubicBezTo>
                <a:cubicBezTo>
                  <a:pt x="85" y="245"/>
                  <a:pt x="85" y="245"/>
                  <a:pt x="85" y="245"/>
                </a:cubicBezTo>
                <a:cubicBezTo>
                  <a:pt x="85" y="251"/>
                  <a:pt x="80" y="256"/>
                  <a:pt x="74" y="256"/>
                </a:cubicBezTo>
                <a:cubicBezTo>
                  <a:pt x="21" y="256"/>
                  <a:pt x="21" y="256"/>
                  <a:pt x="21" y="256"/>
                </a:cubicBezTo>
                <a:cubicBezTo>
                  <a:pt x="15" y="256"/>
                  <a:pt x="10" y="251"/>
                  <a:pt x="10" y="245"/>
                </a:cubicBezTo>
                <a:cubicBezTo>
                  <a:pt x="10" y="203"/>
                  <a:pt x="10" y="203"/>
                  <a:pt x="10" y="203"/>
                </a:cubicBezTo>
                <a:cubicBezTo>
                  <a:pt x="10" y="203"/>
                  <a:pt x="10" y="203"/>
                  <a:pt x="10" y="203"/>
                </a:cubicBezTo>
                <a:cubicBezTo>
                  <a:pt x="10" y="203"/>
                  <a:pt x="10" y="203"/>
                  <a:pt x="10" y="203"/>
                </a:cubicBezTo>
                <a:cubicBezTo>
                  <a:pt x="10" y="203"/>
                  <a:pt x="10" y="203"/>
                  <a:pt x="10" y="203"/>
                </a:cubicBezTo>
                <a:cubicBezTo>
                  <a:pt x="10" y="203"/>
                  <a:pt x="10" y="203"/>
                  <a:pt x="10" y="203"/>
                </a:cubicBezTo>
                <a:cubicBezTo>
                  <a:pt x="10" y="203"/>
                  <a:pt x="10" y="203"/>
                  <a:pt x="10" y="203"/>
                </a:cubicBezTo>
                <a:cubicBezTo>
                  <a:pt x="10" y="199"/>
                  <a:pt x="10" y="199"/>
                  <a:pt x="10" y="199"/>
                </a:cubicBezTo>
                <a:cubicBezTo>
                  <a:pt x="10" y="199"/>
                  <a:pt x="7" y="197"/>
                  <a:pt x="6" y="195"/>
                </a:cubicBezTo>
                <a:cubicBezTo>
                  <a:pt x="0" y="189"/>
                  <a:pt x="0" y="183"/>
                  <a:pt x="0" y="181"/>
                </a:cubicBezTo>
                <a:cubicBezTo>
                  <a:pt x="0" y="149"/>
                  <a:pt x="0" y="149"/>
                  <a:pt x="0" y="149"/>
                </a:cubicBezTo>
                <a:cubicBezTo>
                  <a:pt x="0" y="120"/>
                  <a:pt x="19" y="96"/>
                  <a:pt x="44" y="88"/>
                </a:cubicBezTo>
                <a:cubicBezTo>
                  <a:pt x="45" y="85"/>
                  <a:pt x="45" y="85"/>
                  <a:pt x="45" y="85"/>
                </a:cubicBezTo>
                <a:cubicBezTo>
                  <a:pt x="32" y="85"/>
                  <a:pt x="32" y="85"/>
                  <a:pt x="32" y="85"/>
                </a:cubicBezTo>
                <a:cubicBezTo>
                  <a:pt x="26" y="85"/>
                  <a:pt x="21" y="81"/>
                  <a:pt x="21" y="75"/>
                </a:cubicBezTo>
                <a:cubicBezTo>
                  <a:pt x="21" y="69"/>
                  <a:pt x="26" y="64"/>
                  <a:pt x="32" y="64"/>
                </a:cubicBezTo>
                <a:cubicBezTo>
                  <a:pt x="52" y="64"/>
                  <a:pt x="52" y="64"/>
                  <a:pt x="52" y="64"/>
                </a:cubicBezTo>
                <a:cubicBezTo>
                  <a:pt x="64" y="29"/>
                  <a:pt x="64" y="29"/>
                  <a:pt x="64" y="29"/>
                </a:cubicBezTo>
                <a:cubicBezTo>
                  <a:pt x="64" y="28"/>
                  <a:pt x="65" y="28"/>
                  <a:pt x="65" y="27"/>
                </a:cubicBezTo>
                <a:cubicBezTo>
                  <a:pt x="65" y="26"/>
                  <a:pt x="80" y="0"/>
                  <a:pt x="106" y="0"/>
                </a:cubicBezTo>
                <a:cubicBezTo>
                  <a:pt x="213" y="0"/>
                  <a:pt x="213" y="0"/>
                  <a:pt x="213" y="0"/>
                </a:cubicBezTo>
                <a:cubicBezTo>
                  <a:pt x="240" y="0"/>
                  <a:pt x="254" y="26"/>
                  <a:pt x="254" y="27"/>
                </a:cubicBezTo>
                <a:cubicBezTo>
                  <a:pt x="255" y="28"/>
                  <a:pt x="255" y="28"/>
                  <a:pt x="255" y="29"/>
                </a:cubicBezTo>
                <a:cubicBezTo>
                  <a:pt x="267" y="64"/>
                  <a:pt x="267" y="64"/>
                  <a:pt x="267" y="64"/>
                </a:cubicBezTo>
                <a:cubicBezTo>
                  <a:pt x="288" y="64"/>
                  <a:pt x="288" y="64"/>
                  <a:pt x="288" y="64"/>
                </a:cubicBezTo>
                <a:cubicBezTo>
                  <a:pt x="294" y="64"/>
                  <a:pt x="298" y="69"/>
                  <a:pt x="298" y="75"/>
                </a:cubicBezTo>
                <a:cubicBezTo>
                  <a:pt x="298" y="81"/>
                  <a:pt x="294" y="85"/>
                  <a:pt x="288" y="85"/>
                </a:cubicBezTo>
                <a:cubicBezTo>
                  <a:pt x="274" y="85"/>
                  <a:pt x="274" y="85"/>
                  <a:pt x="274" y="85"/>
                </a:cubicBezTo>
                <a:cubicBezTo>
                  <a:pt x="275" y="88"/>
                  <a:pt x="275" y="88"/>
                  <a:pt x="275" y="88"/>
                </a:cubicBezTo>
                <a:cubicBezTo>
                  <a:pt x="301" y="96"/>
                  <a:pt x="320" y="120"/>
                  <a:pt x="320" y="149"/>
                </a:cubicBezTo>
                <a:cubicBezTo>
                  <a:pt x="320" y="180"/>
                  <a:pt x="320" y="180"/>
                  <a:pt x="320" y="180"/>
                </a:cubicBezTo>
                <a:cubicBezTo>
                  <a:pt x="320" y="184"/>
                  <a:pt x="320" y="189"/>
                  <a:pt x="316" y="194"/>
                </a:cubicBezTo>
                <a:close/>
                <a:moveTo>
                  <a:pt x="68" y="85"/>
                </a:moveTo>
                <a:cubicBezTo>
                  <a:pt x="252" y="85"/>
                  <a:pt x="252" y="85"/>
                  <a:pt x="252" y="85"/>
                </a:cubicBezTo>
                <a:cubicBezTo>
                  <a:pt x="235" y="36"/>
                  <a:pt x="235" y="36"/>
                  <a:pt x="235" y="36"/>
                </a:cubicBezTo>
                <a:cubicBezTo>
                  <a:pt x="233" y="34"/>
                  <a:pt x="225" y="21"/>
                  <a:pt x="213" y="21"/>
                </a:cubicBezTo>
                <a:cubicBezTo>
                  <a:pt x="106" y="21"/>
                  <a:pt x="106" y="21"/>
                  <a:pt x="106" y="21"/>
                </a:cubicBezTo>
                <a:cubicBezTo>
                  <a:pt x="94" y="21"/>
                  <a:pt x="86" y="33"/>
                  <a:pt x="84" y="36"/>
                </a:cubicBezTo>
                <a:lnTo>
                  <a:pt x="68" y="85"/>
                </a:lnTo>
                <a:close/>
                <a:moveTo>
                  <a:pt x="64" y="217"/>
                </a:moveTo>
                <a:cubicBezTo>
                  <a:pt x="51" y="215"/>
                  <a:pt x="41" y="213"/>
                  <a:pt x="32" y="210"/>
                </a:cubicBezTo>
                <a:cubicBezTo>
                  <a:pt x="32" y="235"/>
                  <a:pt x="32" y="235"/>
                  <a:pt x="32" y="235"/>
                </a:cubicBezTo>
                <a:cubicBezTo>
                  <a:pt x="64" y="235"/>
                  <a:pt x="64" y="235"/>
                  <a:pt x="64" y="235"/>
                </a:cubicBezTo>
                <a:lnTo>
                  <a:pt x="64" y="217"/>
                </a:lnTo>
                <a:close/>
                <a:moveTo>
                  <a:pt x="165" y="203"/>
                </a:moveTo>
                <a:cubicBezTo>
                  <a:pt x="278" y="203"/>
                  <a:pt x="296" y="185"/>
                  <a:pt x="298" y="183"/>
                </a:cubicBezTo>
                <a:cubicBezTo>
                  <a:pt x="298" y="182"/>
                  <a:pt x="298" y="182"/>
                  <a:pt x="298" y="181"/>
                </a:cubicBezTo>
                <a:cubicBezTo>
                  <a:pt x="298" y="149"/>
                  <a:pt x="298" y="149"/>
                  <a:pt x="298" y="149"/>
                </a:cubicBezTo>
                <a:cubicBezTo>
                  <a:pt x="298" y="126"/>
                  <a:pt x="280" y="107"/>
                  <a:pt x="258" y="107"/>
                </a:cubicBezTo>
                <a:cubicBezTo>
                  <a:pt x="62" y="107"/>
                  <a:pt x="62" y="107"/>
                  <a:pt x="62" y="107"/>
                </a:cubicBezTo>
                <a:cubicBezTo>
                  <a:pt x="39" y="107"/>
                  <a:pt x="21" y="126"/>
                  <a:pt x="21" y="149"/>
                </a:cubicBezTo>
                <a:cubicBezTo>
                  <a:pt x="21" y="180"/>
                  <a:pt x="21" y="180"/>
                  <a:pt x="21" y="180"/>
                </a:cubicBezTo>
                <a:cubicBezTo>
                  <a:pt x="23" y="183"/>
                  <a:pt x="43" y="203"/>
                  <a:pt x="165" y="203"/>
                </a:cubicBezTo>
                <a:close/>
                <a:moveTo>
                  <a:pt x="288" y="212"/>
                </a:moveTo>
                <a:cubicBezTo>
                  <a:pt x="279" y="215"/>
                  <a:pt x="268" y="217"/>
                  <a:pt x="256" y="219"/>
                </a:cubicBezTo>
                <a:cubicBezTo>
                  <a:pt x="256" y="235"/>
                  <a:pt x="256" y="235"/>
                  <a:pt x="256" y="235"/>
                </a:cubicBezTo>
                <a:cubicBezTo>
                  <a:pt x="288" y="235"/>
                  <a:pt x="288" y="235"/>
                  <a:pt x="288" y="235"/>
                </a:cubicBezTo>
                <a:lnTo>
                  <a:pt x="288" y="212"/>
                </a:lnTo>
                <a:close/>
                <a:moveTo>
                  <a:pt x="192" y="139"/>
                </a:moveTo>
                <a:cubicBezTo>
                  <a:pt x="128" y="139"/>
                  <a:pt x="128" y="139"/>
                  <a:pt x="128" y="139"/>
                </a:cubicBezTo>
                <a:cubicBezTo>
                  <a:pt x="122" y="139"/>
                  <a:pt x="117" y="143"/>
                  <a:pt x="117" y="149"/>
                </a:cubicBezTo>
                <a:cubicBezTo>
                  <a:pt x="117" y="155"/>
                  <a:pt x="122" y="160"/>
                  <a:pt x="128" y="160"/>
                </a:cubicBezTo>
                <a:cubicBezTo>
                  <a:pt x="192" y="160"/>
                  <a:pt x="192" y="160"/>
                  <a:pt x="192" y="160"/>
                </a:cubicBezTo>
                <a:cubicBezTo>
                  <a:pt x="198" y="160"/>
                  <a:pt x="202" y="155"/>
                  <a:pt x="202" y="149"/>
                </a:cubicBezTo>
                <a:cubicBezTo>
                  <a:pt x="202" y="143"/>
                  <a:pt x="198" y="139"/>
                  <a:pt x="192" y="139"/>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400" kern="0" dirty="0">
              <a:solidFill>
                <a:prstClr val="black"/>
              </a:solidFill>
            </a:endParaRPr>
          </a:p>
        </p:txBody>
      </p:sp>
      <p:sp>
        <p:nvSpPr>
          <p:cNvPr id="512" name="TextBox 511">
            <a:extLst>
              <a:ext uri="{FF2B5EF4-FFF2-40B4-BE49-F238E27FC236}">
                <a16:creationId xmlns:a16="http://schemas.microsoft.com/office/drawing/2014/main" id="{2ECD8328-ACA5-48AA-8E2B-0D449DC4FCB0}"/>
              </a:ext>
            </a:extLst>
          </p:cNvPr>
          <p:cNvSpPr txBox="1"/>
          <p:nvPr/>
        </p:nvSpPr>
        <p:spPr>
          <a:xfrm>
            <a:off x="1285504" y="3877240"/>
            <a:ext cx="965978" cy="276999"/>
          </a:xfrm>
          <a:prstGeom prst="rect">
            <a:avLst/>
          </a:prstGeom>
          <a:noFill/>
        </p:spPr>
        <p:txBody>
          <a:bodyPr wrap="square" lIns="0" tIns="0" rIns="0" bIns="0" rtlCol="0">
            <a:spAutoFit/>
          </a:bodyPr>
          <a:lstStyle/>
          <a:p>
            <a:pPr>
              <a:spcBef>
                <a:spcPts val="600"/>
              </a:spcBef>
              <a:buSzPct val="100000"/>
            </a:pPr>
            <a:r>
              <a:rPr lang="en-IN" sz="900" i="1" dirty="0">
                <a:solidFill>
                  <a:srgbClr val="313131"/>
                </a:solidFill>
              </a:rPr>
              <a:t>EV Penetration in sales in WB</a:t>
            </a:r>
          </a:p>
        </p:txBody>
      </p:sp>
      <p:grpSp>
        <p:nvGrpSpPr>
          <p:cNvPr id="16" name="Group 15">
            <a:extLst>
              <a:ext uri="{FF2B5EF4-FFF2-40B4-BE49-F238E27FC236}">
                <a16:creationId xmlns:a16="http://schemas.microsoft.com/office/drawing/2014/main" id="{C3E87C6B-4A6A-4C59-A213-3297B8FC4A7C}"/>
              </a:ext>
            </a:extLst>
          </p:cNvPr>
          <p:cNvGrpSpPr/>
          <p:nvPr/>
        </p:nvGrpSpPr>
        <p:grpSpPr>
          <a:xfrm>
            <a:off x="728661" y="4655106"/>
            <a:ext cx="658369" cy="747077"/>
            <a:chOff x="5467197" y="4504395"/>
            <a:chExt cx="658369" cy="747077"/>
          </a:xfrm>
        </p:grpSpPr>
        <p:pic>
          <p:nvPicPr>
            <p:cNvPr id="513" name="Picture 512">
              <a:extLst>
                <a:ext uri="{FF2B5EF4-FFF2-40B4-BE49-F238E27FC236}">
                  <a16:creationId xmlns:a16="http://schemas.microsoft.com/office/drawing/2014/main" id="{9B461B11-3338-4525-9E5D-82B843B2489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467197" y="5039977"/>
              <a:ext cx="287633" cy="211495"/>
            </a:xfrm>
            <a:prstGeom prst="rect">
              <a:avLst/>
            </a:prstGeom>
          </p:spPr>
        </p:pic>
        <p:pic>
          <p:nvPicPr>
            <p:cNvPr id="514" name="Picture 513">
              <a:extLst>
                <a:ext uri="{FF2B5EF4-FFF2-40B4-BE49-F238E27FC236}">
                  <a16:creationId xmlns:a16="http://schemas.microsoft.com/office/drawing/2014/main" id="{21737E65-CEE9-4782-B423-C26399B521B1}"/>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467197" y="4775214"/>
              <a:ext cx="270081" cy="238917"/>
            </a:xfrm>
            <a:prstGeom prst="rect">
              <a:avLst/>
            </a:prstGeom>
          </p:spPr>
        </p:pic>
        <p:pic>
          <p:nvPicPr>
            <p:cNvPr id="515" name="Picture 514">
              <a:extLst>
                <a:ext uri="{FF2B5EF4-FFF2-40B4-BE49-F238E27FC236}">
                  <a16:creationId xmlns:a16="http://schemas.microsoft.com/office/drawing/2014/main" id="{ACA52F2E-8EE1-45C5-A66E-17AC7AF539F8}"/>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5518122" y="4504395"/>
              <a:ext cx="142238" cy="214838"/>
            </a:xfrm>
            <a:prstGeom prst="rect">
              <a:avLst/>
            </a:prstGeom>
          </p:spPr>
        </p:pic>
        <p:sp>
          <p:nvSpPr>
            <p:cNvPr id="516" name="TextBox 515">
              <a:extLst>
                <a:ext uri="{FF2B5EF4-FFF2-40B4-BE49-F238E27FC236}">
                  <a16:creationId xmlns:a16="http://schemas.microsoft.com/office/drawing/2014/main" id="{47FFE12E-F02D-48B9-A9B5-4934D92A2A37}"/>
                </a:ext>
              </a:extLst>
            </p:cNvPr>
            <p:cNvSpPr txBox="1"/>
            <p:nvPr/>
          </p:nvSpPr>
          <p:spPr>
            <a:xfrm>
              <a:off x="5749307" y="4525287"/>
              <a:ext cx="368577" cy="153888"/>
            </a:xfrm>
            <a:prstGeom prst="rect">
              <a:avLst/>
            </a:prstGeom>
            <a:noFill/>
          </p:spPr>
          <p:txBody>
            <a:bodyPr wrap="square" lIns="0" tIns="0" rIns="0" bIns="0" rtlCol="0">
              <a:spAutoFit/>
            </a:bodyPr>
            <a:lstStyle/>
            <a:p>
              <a:pPr>
                <a:spcBef>
                  <a:spcPts val="600"/>
                </a:spcBef>
                <a:buSzPct val="100000"/>
              </a:pPr>
              <a:r>
                <a:rPr lang="en-IN" sz="1000" dirty="0">
                  <a:solidFill>
                    <a:srgbClr val="313131"/>
                  </a:solidFill>
                </a:rPr>
                <a:t>30%</a:t>
              </a:r>
            </a:p>
          </p:txBody>
        </p:sp>
        <p:sp>
          <p:nvSpPr>
            <p:cNvPr id="517" name="TextBox 516">
              <a:extLst>
                <a:ext uri="{FF2B5EF4-FFF2-40B4-BE49-F238E27FC236}">
                  <a16:creationId xmlns:a16="http://schemas.microsoft.com/office/drawing/2014/main" id="{13A23B71-D163-410F-ACD6-EE9C88F11704}"/>
                </a:ext>
              </a:extLst>
            </p:cNvPr>
            <p:cNvSpPr txBox="1"/>
            <p:nvPr/>
          </p:nvSpPr>
          <p:spPr>
            <a:xfrm>
              <a:off x="5756989" y="4809369"/>
              <a:ext cx="368577" cy="153888"/>
            </a:xfrm>
            <a:prstGeom prst="rect">
              <a:avLst/>
            </a:prstGeom>
            <a:noFill/>
          </p:spPr>
          <p:txBody>
            <a:bodyPr wrap="square" lIns="0" tIns="0" rIns="0" bIns="0" rtlCol="0">
              <a:spAutoFit/>
            </a:bodyPr>
            <a:lstStyle/>
            <a:p>
              <a:pPr>
                <a:spcBef>
                  <a:spcPts val="600"/>
                </a:spcBef>
                <a:buSzPct val="100000"/>
              </a:pPr>
              <a:r>
                <a:rPr lang="en-IN" sz="1000" dirty="0">
                  <a:solidFill>
                    <a:srgbClr val="313131"/>
                  </a:solidFill>
                </a:rPr>
                <a:t>5%</a:t>
              </a:r>
            </a:p>
          </p:txBody>
        </p:sp>
        <p:sp>
          <p:nvSpPr>
            <p:cNvPr id="518" name="TextBox 517">
              <a:extLst>
                <a:ext uri="{FF2B5EF4-FFF2-40B4-BE49-F238E27FC236}">
                  <a16:creationId xmlns:a16="http://schemas.microsoft.com/office/drawing/2014/main" id="{DF0D3AFF-A6BD-4BDF-89AB-5359663EC820}"/>
                </a:ext>
              </a:extLst>
            </p:cNvPr>
            <p:cNvSpPr txBox="1"/>
            <p:nvPr/>
          </p:nvSpPr>
          <p:spPr>
            <a:xfrm>
              <a:off x="5756989" y="5073353"/>
              <a:ext cx="368577" cy="153888"/>
            </a:xfrm>
            <a:prstGeom prst="rect">
              <a:avLst/>
            </a:prstGeom>
            <a:noFill/>
          </p:spPr>
          <p:txBody>
            <a:bodyPr wrap="square" lIns="0" tIns="0" rIns="0" bIns="0" rtlCol="0">
              <a:spAutoFit/>
            </a:bodyPr>
            <a:lstStyle/>
            <a:p>
              <a:pPr>
                <a:spcBef>
                  <a:spcPts val="600"/>
                </a:spcBef>
                <a:buSzPct val="100000"/>
              </a:pPr>
              <a:r>
                <a:rPr lang="en-IN" sz="1000" dirty="0">
                  <a:solidFill>
                    <a:srgbClr val="313131"/>
                  </a:solidFill>
                </a:rPr>
                <a:t>1%</a:t>
              </a:r>
            </a:p>
          </p:txBody>
        </p:sp>
      </p:grpSp>
      <p:grpSp>
        <p:nvGrpSpPr>
          <p:cNvPr id="17" name="Group 16">
            <a:extLst>
              <a:ext uri="{FF2B5EF4-FFF2-40B4-BE49-F238E27FC236}">
                <a16:creationId xmlns:a16="http://schemas.microsoft.com/office/drawing/2014/main" id="{4CD55746-5DC2-4200-82D8-CC04329DD0C2}"/>
              </a:ext>
            </a:extLst>
          </p:cNvPr>
          <p:cNvGrpSpPr/>
          <p:nvPr/>
        </p:nvGrpSpPr>
        <p:grpSpPr>
          <a:xfrm>
            <a:off x="1521263" y="4653618"/>
            <a:ext cx="890740" cy="747077"/>
            <a:chOff x="5412578" y="4678924"/>
            <a:chExt cx="890740" cy="747077"/>
          </a:xfrm>
        </p:grpSpPr>
        <p:pic>
          <p:nvPicPr>
            <p:cNvPr id="519" name="Picture 518">
              <a:extLst>
                <a:ext uri="{FF2B5EF4-FFF2-40B4-BE49-F238E27FC236}">
                  <a16:creationId xmlns:a16="http://schemas.microsoft.com/office/drawing/2014/main" id="{BF3F582D-05A8-4BB2-8E9D-EEE08ACA295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412578" y="5214506"/>
              <a:ext cx="287633" cy="211495"/>
            </a:xfrm>
            <a:prstGeom prst="rect">
              <a:avLst/>
            </a:prstGeom>
          </p:spPr>
        </p:pic>
        <p:pic>
          <p:nvPicPr>
            <p:cNvPr id="520" name="Picture 519">
              <a:extLst>
                <a:ext uri="{FF2B5EF4-FFF2-40B4-BE49-F238E27FC236}">
                  <a16:creationId xmlns:a16="http://schemas.microsoft.com/office/drawing/2014/main" id="{1800ACB7-1DD0-4034-BE21-F83AD6EA7B51}"/>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412578" y="4949743"/>
              <a:ext cx="270081" cy="238917"/>
            </a:xfrm>
            <a:prstGeom prst="rect">
              <a:avLst/>
            </a:prstGeom>
          </p:spPr>
        </p:pic>
        <p:pic>
          <p:nvPicPr>
            <p:cNvPr id="521" name="Picture 520">
              <a:extLst>
                <a:ext uri="{FF2B5EF4-FFF2-40B4-BE49-F238E27FC236}">
                  <a16:creationId xmlns:a16="http://schemas.microsoft.com/office/drawing/2014/main" id="{5FFE931D-A9DC-4D94-8233-D8122D0F3F0F}"/>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5463503" y="4678924"/>
              <a:ext cx="142238" cy="214838"/>
            </a:xfrm>
            <a:prstGeom prst="rect">
              <a:avLst/>
            </a:prstGeom>
          </p:spPr>
        </p:pic>
        <p:sp>
          <p:nvSpPr>
            <p:cNvPr id="522" name="TextBox 521">
              <a:extLst>
                <a:ext uri="{FF2B5EF4-FFF2-40B4-BE49-F238E27FC236}">
                  <a16:creationId xmlns:a16="http://schemas.microsoft.com/office/drawing/2014/main" id="{BF3E5A0F-4291-4D9E-9CE2-9232DFA5C50C}"/>
                </a:ext>
              </a:extLst>
            </p:cNvPr>
            <p:cNvSpPr txBox="1"/>
            <p:nvPr/>
          </p:nvSpPr>
          <p:spPr>
            <a:xfrm>
              <a:off x="5694688" y="4699816"/>
              <a:ext cx="608630" cy="153888"/>
            </a:xfrm>
            <a:prstGeom prst="rect">
              <a:avLst/>
            </a:prstGeom>
            <a:noFill/>
          </p:spPr>
          <p:txBody>
            <a:bodyPr wrap="square" lIns="0" tIns="0" rIns="0" bIns="0" rtlCol="0">
              <a:spAutoFit/>
            </a:bodyPr>
            <a:lstStyle/>
            <a:p>
              <a:pPr>
                <a:spcBef>
                  <a:spcPts val="600"/>
                </a:spcBef>
                <a:buSzPct val="100000"/>
              </a:pPr>
              <a:r>
                <a:rPr lang="en-IN" sz="1000" dirty="0">
                  <a:solidFill>
                    <a:srgbClr val="313131"/>
                  </a:solidFill>
                </a:rPr>
                <a:t>100%</a:t>
              </a:r>
            </a:p>
          </p:txBody>
        </p:sp>
        <p:sp>
          <p:nvSpPr>
            <p:cNvPr id="523" name="TextBox 522">
              <a:extLst>
                <a:ext uri="{FF2B5EF4-FFF2-40B4-BE49-F238E27FC236}">
                  <a16:creationId xmlns:a16="http://schemas.microsoft.com/office/drawing/2014/main" id="{86A83554-AD2B-4413-86E3-F5932EF82B50}"/>
                </a:ext>
              </a:extLst>
            </p:cNvPr>
            <p:cNvSpPr txBox="1"/>
            <p:nvPr/>
          </p:nvSpPr>
          <p:spPr>
            <a:xfrm>
              <a:off x="5702370" y="4983898"/>
              <a:ext cx="368577" cy="153888"/>
            </a:xfrm>
            <a:prstGeom prst="rect">
              <a:avLst/>
            </a:prstGeom>
            <a:noFill/>
          </p:spPr>
          <p:txBody>
            <a:bodyPr wrap="square" lIns="0" tIns="0" rIns="0" bIns="0" rtlCol="0">
              <a:spAutoFit/>
            </a:bodyPr>
            <a:lstStyle/>
            <a:p>
              <a:pPr>
                <a:spcBef>
                  <a:spcPts val="600"/>
                </a:spcBef>
                <a:buSzPct val="100000"/>
              </a:pPr>
              <a:r>
                <a:rPr lang="en-IN" sz="1000" dirty="0">
                  <a:solidFill>
                    <a:srgbClr val="313131"/>
                  </a:solidFill>
                </a:rPr>
                <a:t>45%</a:t>
              </a:r>
            </a:p>
          </p:txBody>
        </p:sp>
        <p:sp>
          <p:nvSpPr>
            <p:cNvPr id="524" name="TextBox 523">
              <a:extLst>
                <a:ext uri="{FF2B5EF4-FFF2-40B4-BE49-F238E27FC236}">
                  <a16:creationId xmlns:a16="http://schemas.microsoft.com/office/drawing/2014/main" id="{EFC9DC64-6366-4267-BA69-28CE8B345A20}"/>
                </a:ext>
              </a:extLst>
            </p:cNvPr>
            <p:cNvSpPr txBox="1"/>
            <p:nvPr/>
          </p:nvSpPr>
          <p:spPr>
            <a:xfrm>
              <a:off x="5702370" y="5247882"/>
              <a:ext cx="368577" cy="153888"/>
            </a:xfrm>
            <a:prstGeom prst="rect">
              <a:avLst/>
            </a:prstGeom>
            <a:noFill/>
          </p:spPr>
          <p:txBody>
            <a:bodyPr wrap="square" lIns="0" tIns="0" rIns="0" bIns="0" rtlCol="0">
              <a:spAutoFit/>
            </a:bodyPr>
            <a:lstStyle/>
            <a:p>
              <a:pPr>
                <a:spcBef>
                  <a:spcPts val="600"/>
                </a:spcBef>
                <a:buSzPct val="100000"/>
              </a:pPr>
              <a:r>
                <a:rPr lang="en-IN" sz="1000" dirty="0">
                  <a:solidFill>
                    <a:srgbClr val="313131"/>
                  </a:solidFill>
                </a:rPr>
                <a:t>30%</a:t>
              </a:r>
            </a:p>
          </p:txBody>
        </p:sp>
      </p:grpSp>
      <p:sp>
        <p:nvSpPr>
          <p:cNvPr id="19" name="TextBox 18">
            <a:extLst>
              <a:ext uri="{FF2B5EF4-FFF2-40B4-BE49-F238E27FC236}">
                <a16:creationId xmlns:a16="http://schemas.microsoft.com/office/drawing/2014/main" id="{9AB7F9A4-7D4C-4081-8206-05EA7C8669CB}"/>
              </a:ext>
            </a:extLst>
          </p:cNvPr>
          <p:cNvSpPr txBox="1"/>
          <p:nvPr/>
        </p:nvSpPr>
        <p:spPr>
          <a:xfrm>
            <a:off x="661186" y="5488046"/>
            <a:ext cx="589019" cy="153888"/>
          </a:xfrm>
          <a:prstGeom prst="rect">
            <a:avLst/>
          </a:prstGeom>
          <a:solidFill>
            <a:schemeClr val="accent6">
              <a:lumMod val="20000"/>
              <a:lumOff val="80000"/>
            </a:schemeClr>
          </a:solidFill>
        </p:spPr>
        <p:txBody>
          <a:bodyPr wrap="square" lIns="0" tIns="0" rIns="0" bIns="0" rtlCol="0">
            <a:spAutoFit/>
          </a:bodyPr>
          <a:lstStyle/>
          <a:p>
            <a:pPr algn="ctr">
              <a:spcBef>
                <a:spcPts val="600"/>
              </a:spcBef>
              <a:buSzPct val="100000"/>
            </a:pPr>
            <a:r>
              <a:rPr lang="en-US" sz="1000" dirty="0">
                <a:solidFill>
                  <a:srgbClr val="313131"/>
                </a:solidFill>
              </a:rPr>
              <a:t>2022</a:t>
            </a:r>
          </a:p>
        </p:txBody>
      </p:sp>
      <p:sp>
        <p:nvSpPr>
          <p:cNvPr id="525" name="TextBox 524">
            <a:extLst>
              <a:ext uri="{FF2B5EF4-FFF2-40B4-BE49-F238E27FC236}">
                <a16:creationId xmlns:a16="http://schemas.microsoft.com/office/drawing/2014/main" id="{610B9429-B73F-422B-826F-28D8C65E2AC4}"/>
              </a:ext>
            </a:extLst>
          </p:cNvPr>
          <p:cNvSpPr txBox="1"/>
          <p:nvPr/>
        </p:nvSpPr>
        <p:spPr>
          <a:xfrm>
            <a:off x="1485127" y="5483447"/>
            <a:ext cx="589019" cy="153888"/>
          </a:xfrm>
          <a:prstGeom prst="rect">
            <a:avLst/>
          </a:prstGeom>
          <a:solidFill>
            <a:schemeClr val="accent6">
              <a:lumMod val="20000"/>
              <a:lumOff val="80000"/>
            </a:schemeClr>
          </a:solidFill>
        </p:spPr>
        <p:txBody>
          <a:bodyPr wrap="square" lIns="0" tIns="0" rIns="0" bIns="0" rtlCol="0">
            <a:spAutoFit/>
          </a:bodyPr>
          <a:lstStyle/>
          <a:p>
            <a:pPr algn="ctr">
              <a:spcBef>
                <a:spcPts val="600"/>
              </a:spcBef>
              <a:buSzPct val="100000"/>
            </a:pPr>
            <a:r>
              <a:rPr lang="en-US" sz="1000" dirty="0">
                <a:solidFill>
                  <a:srgbClr val="313131"/>
                </a:solidFill>
              </a:rPr>
              <a:t>2030</a:t>
            </a:r>
          </a:p>
        </p:txBody>
      </p:sp>
      <p:sp>
        <p:nvSpPr>
          <p:cNvPr id="21" name="TextBox 20">
            <a:extLst>
              <a:ext uri="{FF2B5EF4-FFF2-40B4-BE49-F238E27FC236}">
                <a16:creationId xmlns:a16="http://schemas.microsoft.com/office/drawing/2014/main" id="{451536CA-BC49-448C-B090-49B529A380D9}"/>
              </a:ext>
            </a:extLst>
          </p:cNvPr>
          <p:cNvSpPr txBox="1"/>
          <p:nvPr/>
        </p:nvSpPr>
        <p:spPr>
          <a:xfrm>
            <a:off x="479839" y="5836961"/>
            <a:ext cx="1960904" cy="307777"/>
          </a:xfrm>
          <a:prstGeom prst="rect">
            <a:avLst/>
          </a:prstGeom>
          <a:noFill/>
        </p:spPr>
        <p:txBody>
          <a:bodyPr wrap="square" lIns="0" tIns="0" rIns="0" bIns="0" rtlCol="0">
            <a:spAutoFit/>
          </a:bodyPr>
          <a:lstStyle/>
          <a:p>
            <a:pPr algn="ctr">
              <a:spcBef>
                <a:spcPts val="600"/>
              </a:spcBef>
              <a:buSzPct val="100000"/>
            </a:pPr>
            <a:r>
              <a:rPr lang="en-US" sz="1000" i="1" dirty="0">
                <a:solidFill>
                  <a:srgbClr val="313131"/>
                </a:solidFill>
              </a:rPr>
              <a:t>Power Supply, Charging Stations, Aggregators</a:t>
            </a:r>
          </a:p>
        </p:txBody>
      </p:sp>
      <p:cxnSp>
        <p:nvCxnSpPr>
          <p:cNvPr id="24" name="Straight Connector 23">
            <a:extLst>
              <a:ext uri="{FF2B5EF4-FFF2-40B4-BE49-F238E27FC236}">
                <a16:creationId xmlns:a16="http://schemas.microsoft.com/office/drawing/2014/main" id="{895B725B-D6C9-40A4-9D28-B08ADFF89353}"/>
              </a:ext>
            </a:extLst>
          </p:cNvPr>
          <p:cNvCxnSpPr/>
          <p:nvPr/>
        </p:nvCxnSpPr>
        <p:spPr>
          <a:xfrm>
            <a:off x="2560858" y="3769870"/>
            <a:ext cx="0" cy="2468880"/>
          </a:xfrm>
          <a:prstGeom prst="line">
            <a:avLst/>
          </a:prstGeom>
          <a:ln w="635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527" name="Freeform 439">
            <a:extLst>
              <a:ext uri="{FF2B5EF4-FFF2-40B4-BE49-F238E27FC236}">
                <a16:creationId xmlns:a16="http://schemas.microsoft.com/office/drawing/2014/main" id="{42D31513-31F9-4246-AB3F-2AAFD20CCF5E}"/>
              </a:ext>
            </a:extLst>
          </p:cNvPr>
          <p:cNvSpPr>
            <a:spLocks noEditPoints="1"/>
          </p:cNvSpPr>
          <p:nvPr/>
        </p:nvSpPr>
        <p:spPr bwMode="auto">
          <a:xfrm>
            <a:off x="2995195" y="3870291"/>
            <a:ext cx="466344" cy="347472"/>
          </a:xfrm>
          <a:custGeom>
            <a:avLst/>
            <a:gdLst>
              <a:gd name="T0" fmla="*/ 309 w 320"/>
              <a:gd name="T1" fmla="*/ 43 h 171"/>
              <a:gd name="T2" fmla="*/ 277 w 320"/>
              <a:gd name="T3" fmla="*/ 43 h 171"/>
              <a:gd name="T4" fmla="*/ 277 w 320"/>
              <a:gd name="T5" fmla="*/ 11 h 171"/>
              <a:gd name="T6" fmla="*/ 266 w 320"/>
              <a:gd name="T7" fmla="*/ 0 h 171"/>
              <a:gd name="T8" fmla="*/ 10 w 320"/>
              <a:gd name="T9" fmla="*/ 0 h 171"/>
              <a:gd name="T10" fmla="*/ 0 w 320"/>
              <a:gd name="T11" fmla="*/ 11 h 171"/>
              <a:gd name="T12" fmla="*/ 0 w 320"/>
              <a:gd name="T13" fmla="*/ 160 h 171"/>
              <a:gd name="T14" fmla="*/ 10 w 320"/>
              <a:gd name="T15" fmla="*/ 171 h 171"/>
              <a:gd name="T16" fmla="*/ 266 w 320"/>
              <a:gd name="T17" fmla="*/ 171 h 171"/>
              <a:gd name="T18" fmla="*/ 277 w 320"/>
              <a:gd name="T19" fmla="*/ 160 h 171"/>
              <a:gd name="T20" fmla="*/ 277 w 320"/>
              <a:gd name="T21" fmla="*/ 128 h 171"/>
              <a:gd name="T22" fmla="*/ 309 w 320"/>
              <a:gd name="T23" fmla="*/ 128 h 171"/>
              <a:gd name="T24" fmla="*/ 320 w 320"/>
              <a:gd name="T25" fmla="*/ 118 h 171"/>
              <a:gd name="T26" fmla="*/ 320 w 320"/>
              <a:gd name="T27" fmla="*/ 54 h 171"/>
              <a:gd name="T28" fmla="*/ 309 w 320"/>
              <a:gd name="T29" fmla="*/ 43 h 171"/>
              <a:gd name="T30" fmla="*/ 256 w 320"/>
              <a:gd name="T31" fmla="*/ 150 h 171"/>
              <a:gd name="T32" fmla="*/ 21 w 320"/>
              <a:gd name="T33" fmla="*/ 150 h 171"/>
              <a:gd name="T34" fmla="*/ 21 w 320"/>
              <a:gd name="T35" fmla="*/ 22 h 171"/>
              <a:gd name="T36" fmla="*/ 256 w 320"/>
              <a:gd name="T37" fmla="*/ 22 h 171"/>
              <a:gd name="T38" fmla="*/ 256 w 320"/>
              <a:gd name="T39" fmla="*/ 150 h 171"/>
              <a:gd name="T40" fmla="*/ 298 w 320"/>
              <a:gd name="T41" fmla="*/ 107 h 171"/>
              <a:gd name="T42" fmla="*/ 277 w 320"/>
              <a:gd name="T43" fmla="*/ 107 h 171"/>
              <a:gd name="T44" fmla="*/ 277 w 320"/>
              <a:gd name="T45" fmla="*/ 64 h 171"/>
              <a:gd name="T46" fmla="*/ 298 w 320"/>
              <a:gd name="T47" fmla="*/ 64 h 171"/>
              <a:gd name="T48" fmla="*/ 298 w 320"/>
              <a:gd name="T49" fmla="*/ 107 h 171"/>
              <a:gd name="T50" fmla="*/ 42 w 320"/>
              <a:gd name="T51" fmla="*/ 118 h 171"/>
              <a:gd name="T52" fmla="*/ 42 w 320"/>
              <a:gd name="T53" fmla="*/ 54 h 171"/>
              <a:gd name="T54" fmla="*/ 53 w 320"/>
              <a:gd name="T55" fmla="*/ 43 h 171"/>
              <a:gd name="T56" fmla="*/ 64 w 320"/>
              <a:gd name="T57" fmla="*/ 54 h 171"/>
              <a:gd name="T58" fmla="*/ 64 w 320"/>
              <a:gd name="T59" fmla="*/ 118 h 171"/>
              <a:gd name="T60" fmla="*/ 53 w 320"/>
              <a:gd name="T61" fmla="*/ 128 h 171"/>
              <a:gd name="T62" fmla="*/ 42 w 320"/>
              <a:gd name="T63" fmla="*/ 118 h 171"/>
              <a:gd name="T64" fmla="*/ 85 w 320"/>
              <a:gd name="T65" fmla="*/ 118 h 171"/>
              <a:gd name="T66" fmla="*/ 85 w 320"/>
              <a:gd name="T67" fmla="*/ 54 h 171"/>
              <a:gd name="T68" fmla="*/ 96 w 320"/>
              <a:gd name="T69" fmla="*/ 43 h 171"/>
              <a:gd name="T70" fmla="*/ 106 w 320"/>
              <a:gd name="T71" fmla="*/ 54 h 171"/>
              <a:gd name="T72" fmla="*/ 106 w 320"/>
              <a:gd name="T73" fmla="*/ 118 h 171"/>
              <a:gd name="T74" fmla="*/ 96 w 320"/>
              <a:gd name="T75" fmla="*/ 128 h 171"/>
              <a:gd name="T76" fmla="*/ 85 w 320"/>
              <a:gd name="T77" fmla="*/ 118 h 171"/>
              <a:gd name="T78" fmla="*/ 128 w 320"/>
              <a:gd name="T79" fmla="*/ 118 h 171"/>
              <a:gd name="T80" fmla="*/ 128 w 320"/>
              <a:gd name="T81" fmla="*/ 54 h 171"/>
              <a:gd name="T82" fmla="*/ 138 w 320"/>
              <a:gd name="T83" fmla="*/ 43 h 171"/>
              <a:gd name="T84" fmla="*/ 149 w 320"/>
              <a:gd name="T85" fmla="*/ 54 h 171"/>
              <a:gd name="T86" fmla="*/ 149 w 320"/>
              <a:gd name="T87" fmla="*/ 118 h 171"/>
              <a:gd name="T88" fmla="*/ 138 w 320"/>
              <a:gd name="T89" fmla="*/ 128 h 171"/>
              <a:gd name="T90" fmla="*/ 128 w 320"/>
              <a:gd name="T91" fmla="*/ 118 h 171"/>
              <a:gd name="T92" fmla="*/ 170 w 320"/>
              <a:gd name="T93" fmla="*/ 118 h 171"/>
              <a:gd name="T94" fmla="*/ 170 w 320"/>
              <a:gd name="T95" fmla="*/ 54 h 171"/>
              <a:gd name="T96" fmla="*/ 181 w 320"/>
              <a:gd name="T97" fmla="*/ 43 h 171"/>
              <a:gd name="T98" fmla="*/ 192 w 320"/>
              <a:gd name="T99" fmla="*/ 54 h 171"/>
              <a:gd name="T100" fmla="*/ 192 w 320"/>
              <a:gd name="T101" fmla="*/ 118 h 171"/>
              <a:gd name="T102" fmla="*/ 181 w 320"/>
              <a:gd name="T103" fmla="*/ 128 h 171"/>
              <a:gd name="T104" fmla="*/ 170 w 320"/>
              <a:gd name="T105" fmla="*/ 118 h 171"/>
              <a:gd name="T106" fmla="*/ 213 w 320"/>
              <a:gd name="T107" fmla="*/ 118 h 171"/>
              <a:gd name="T108" fmla="*/ 213 w 320"/>
              <a:gd name="T109" fmla="*/ 54 h 171"/>
              <a:gd name="T110" fmla="*/ 224 w 320"/>
              <a:gd name="T111" fmla="*/ 43 h 171"/>
              <a:gd name="T112" fmla="*/ 234 w 320"/>
              <a:gd name="T113" fmla="*/ 54 h 171"/>
              <a:gd name="T114" fmla="*/ 234 w 320"/>
              <a:gd name="T115" fmla="*/ 118 h 171"/>
              <a:gd name="T116" fmla="*/ 224 w 320"/>
              <a:gd name="T117" fmla="*/ 128 h 171"/>
              <a:gd name="T118" fmla="*/ 213 w 320"/>
              <a:gd name="T119" fmla="*/ 11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171">
                <a:moveTo>
                  <a:pt x="309" y="43"/>
                </a:moveTo>
                <a:cubicBezTo>
                  <a:pt x="277" y="43"/>
                  <a:pt x="277" y="43"/>
                  <a:pt x="277" y="43"/>
                </a:cubicBezTo>
                <a:cubicBezTo>
                  <a:pt x="277" y="11"/>
                  <a:pt x="277" y="11"/>
                  <a:pt x="277" y="11"/>
                </a:cubicBezTo>
                <a:cubicBezTo>
                  <a:pt x="277" y="5"/>
                  <a:pt x="272" y="0"/>
                  <a:pt x="266" y="0"/>
                </a:cubicBezTo>
                <a:cubicBezTo>
                  <a:pt x="10" y="0"/>
                  <a:pt x="10" y="0"/>
                  <a:pt x="10" y="0"/>
                </a:cubicBezTo>
                <a:cubicBezTo>
                  <a:pt x="4" y="0"/>
                  <a:pt x="0" y="5"/>
                  <a:pt x="0" y="11"/>
                </a:cubicBezTo>
                <a:cubicBezTo>
                  <a:pt x="0" y="160"/>
                  <a:pt x="0" y="160"/>
                  <a:pt x="0" y="160"/>
                </a:cubicBezTo>
                <a:cubicBezTo>
                  <a:pt x="0" y="166"/>
                  <a:pt x="4" y="171"/>
                  <a:pt x="10" y="171"/>
                </a:cubicBezTo>
                <a:cubicBezTo>
                  <a:pt x="266" y="171"/>
                  <a:pt x="266" y="171"/>
                  <a:pt x="266" y="171"/>
                </a:cubicBezTo>
                <a:cubicBezTo>
                  <a:pt x="272" y="171"/>
                  <a:pt x="277" y="166"/>
                  <a:pt x="277" y="160"/>
                </a:cubicBezTo>
                <a:cubicBezTo>
                  <a:pt x="277" y="128"/>
                  <a:pt x="277" y="128"/>
                  <a:pt x="277" y="128"/>
                </a:cubicBezTo>
                <a:cubicBezTo>
                  <a:pt x="309" y="128"/>
                  <a:pt x="309" y="128"/>
                  <a:pt x="309" y="128"/>
                </a:cubicBezTo>
                <a:cubicBezTo>
                  <a:pt x="315" y="128"/>
                  <a:pt x="320" y="124"/>
                  <a:pt x="320" y="118"/>
                </a:cubicBezTo>
                <a:cubicBezTo>
                  <a:pt x="320" y="54"/>
                  <a:pt x="320" y="54"/>
                  <a:pt x="320" y="54"/>
                </a:cubicBezTo>
                <a:cubicBezTo>
                  <a:pt x="320" y="48"/>
                  <a:pt x="315" y="43"/>
                  <a:pt x="309" y="43"/>
                </a:cubicBezTo>
                <a:close/>
                <a:moveTo>
                  <a:pt x="256" y="150"/>
                </a:moveTo>
                <a:cubicBezTo>
                  <a:pt x="21" y="150"/>
                  <a:pt x="21" y="150"/>
                  <a:pt x="21" y="150"/>
                </a:cubicBezTo>
                <a:cubicBezTo>
                  <a:pt x="21" y="22"/>
                  <a:pt x="21" y="22"/>
                  <a:pt x="21" y="22"/>
                </a:cubicBezTo>
                <a:cubicBezTo>
                  <a:pt x="256" y="22"/>
                  <a:pt x="256" y="22"/>
                  <a:pt x="256" y="22"/>
                </a:cubicBezTo>
                <a:lnTo>
                  <a:pt x="256" y="150"/>
                </a:lnTo>
                <a:close/>
                <a:moveTo>
                  <a:pt x="298" y="107"/>
                </a:moveTo>
                <a:cubicBezTo>
                  <a:pt x="277" y="107"/>
                  <a:pt x="277" y="107"/>
                  <a:pt x="277" y="107"/>
                </a:cubicBezTo>
                <a:cubicBezTo>
                  <a:pt x="277" y="64"/>
                  <a:pt x="277" y="64"/>
                  <a:pt x="277" y="64"/>
                </a:cubicBezTo>
                <a:cubicBezTo>
                  <a:pt x="298" y="64"/>
                  <a:pt x="298" y="64"/>
                  <a:pt x="298" y="64"/>
                </a:cubicBezTo>
                <a:lnTo>
                  <a:pt x="298" y="107"/>
                </a:lnTo>
                <a:close/>
                <a:moveTo>
                  <a:pt x="42" y="118"/>
                </a:moveTo>
                <a:cubicBezTo>
                  <a:pt x="42" y="54"/>
                  <a:pt x="42" y="54"/>
                  <a:pt x="42" y="54"/>
                </a:cubicBezTo>
                <a:cubicBezTo>
                  <a:pt x="42" y="48"/>
                  <a:pt x="47" y="43"/>
                  <a:pt x="53" y="43"/>
                </a:cubicBezTo>
                <a:cubicBezTo>
                  <a:pt x="59" y="43"/>
                  <a:pt x="64" y="48"/>
                  <a:pt x="64" y="54"/>
                </a:cubicBezTo>
                <a:cubicBezTo>
                  <a:pt x="64" y="118"/>
                  <a:pt x="64" y="118"/>
                  <a:pt x="64" y="118"/>
                </a:cubicBezTo>
                <a:cubicBezTo>
                  <a:pt x="64" y="124"/>
                  <a:pt x="59" y="128"/>
                  <a:pt x="53" y="128"/>
                </a:cubicBezTo>
                <a:cubicBezTo>
                  <a:pt x="47" y="128"/>
                  <a:pt x="42" y="124"/>
                  <a:pt x="42" y="118"/>
                </a:cubicBezTo>
                <a:close/>
                <a:moveTo>
                  <a:pt x="85" y="118"/>
                </a:moveTo>
                <a:cubicBezTo>
                  <a:pt x="85" y="54"/>
                  <a:pt x="85" y="54"/>
                  <a:pt x="85" y="54"/>
                </a:cubicBezTo>
                <a:cubicBezTo>
                  <a:pt x="85" y="48"/>
                  <a:pt x="90" y="43"/>
                  <a:pt x="96" y="43"/>
                </a:cubicBezTo>
                <a:cubicBezTo>
                  <a:pt x="102" y="43"/>
                  <a:pt x="106" y="48"/>
                  <a:pt x="106" y="54"/>
                </a:cubicBezTo>
                <a:cubicBezTo>
                  <a:pt x="106" y="118"/>
                  <a:pt x="106" y="118"/>
                  <a:pt x="106" y="118"/>
                </a:cubicBezTo>
                <a:cubicBezTo>
                  <a:pt x="106" y="124"/>
                  <a:pt x="102" y="128"/>
                  <a:pt x="96" y="128"/>
                </a:cubicBezTo>
                <a:cubicBezTo>
                  <a:pt x="90" y="128"/>
                  <a:pt x="85" y="124"/>
                  <a:pt x="85" y="118"/>
                </a:cubicBezTo>
                <a:close/>
                <a:moveTo>
                  <a:pt x="128" y="118"/>
                </a:moveTo>
                <a:cubicBezTo>
                  <a:pt x="128" y="54"/>
                  <a:pt x="128" y="54"/>
                  <a:pt x="128" y="54"/>
                </a:cubicBezTo>
                <a:cubicBezTo>
                  <a:pt x="128" y="48"/>
                  <a:pt x="132" y="43"/>
                  <a:pt x="138" y="43"/>
                </a:cubicBezTo>
                <a:cubicBezTo>
                  <a:pt x="144" y="43"/>
                  <a:pt x="149" y="48"/>
                  <a:pt x="149" y="54"/>
                </a:cubicBezTo>
                <a:cubicBezTo>
                  <a:pt x="149" y="118"/>
                  <a:pt x="149" y="118"/>
                  <a:pt x="149" y="118"/>
                </a:cubicBezTo>
                <a:cubicBezTo>
                  <a:pt x="149" y="124"/>
                  <a:pt x="144" y="128"/>
                  <a:pt x="138" y="128"/>
                </a:cubicBezTo>
                <a:cubicBezTo>
                  <a:pt x="132" y="128"/>
                  <a:pt x="128" y="124"/>
                  <a:pt x="128" y="118"/>
                </a:cubicBezTo>
                <a:close/>
                <a:moveTo>
                  <a:pt x="170" y="118"/>
                </a:moveTo>
                <a:cubicBezTo>
                  <a:pt x="170" y="54"/>
                  <a:pt x="170" y="54"/>
                  <a:pt x="170" y="54"/>
                </a:cubicBezTo>
                <a:cubicBezTo>
                  <a:pt x="170" y="48"/>
                  <a:pt x="175" y="43"/>
                  <a:pt x="181" y="43"/>
                </a:cubicBezTo>
                <a:cubicBezTo>
                  <a:pt x="187" y="43"/>
                  <a:pt x="192" y="48"/>
                  <a:pt x="192" y="54"/>
                </a:cubicBezTo>
                <a:cubicBezTo>
                  <a:pt x="192" y="118"/>
                  <a:pt x="192" y="118"/>
                  <a:pt x="192" y="118"/>
                </a:cubicBezTo>
                <a:cubicBezTo>
                  <a:pt x="192" y="124"/>
                  <a:pt x="187" y="128"/>
                  <a:pt x="181" y="128"/>
                </a:cubicBezTo>
                <a:cubicBezTo>
                  <a:pt x="175" y="128"/>
                  <a:pt x="170" y="124"/>
                  <a:pt x="170" y="118"/>
                </a:cubicBezTo>
                <a:close/>
                <a:moveTo>
                  <a:pt x="213" y="118"/>
                </a:moveTo>
                <a:cubicBezTo>
                  <a:pt x="213" y="54"/>
                  <a:pt x="213" y="54"/>
                  <a:pt x="213" y="54"/>
                </a:cubicBezTo>
                <a:cubicBezTo>
                  <a:pt x="213" y="48"/>
                  <a:pt x="218" y="43"/>
                  <a:pt x="224" y="43"/>
                </a:cubicBezTo>
                <a:cubicBezTo>
                  <a:pt x="230" y="43"/>
                  <a:pt x="234" y="48"/>
                  <a:pt x="234" y="54"/>
                </a:cubicBezTo>
                <a:cubicBezTo>
                  <a:pt x="234" y="118"/>
                  <a:pt x="234" y="118"/>
                  <a:pt x="234" y="118"/>
                </a:cubicBezTo>
                <a:cubicBezTo>
                  <a:pt x="234" y="124"/>
                  <a:pt x="230" y="128"/>
                  <a:pt x="224" y="128"/>
                </a:cubicBezTo>
                <a:cubicBezTo>
                  <a:pt x="218" y="128"/>
                  <a:pt x="213" y="124"/>
                  <a:pt x="213" y="118"/>
                </a:cubicBezTo>
                <a:close/>
              </a:path>
            </a:pathLst>
          </a:cu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28" name="TextBox 527">
            <a:extLst>
              <a:ext uri="{FF2B5EF4-FFF2-40B4-BE49-F238E27FC236}">
                <a16:creationId xmlns:a16="http://schemas.microsoft.com/office/drawing/2014/main" id="{45EC75DF-81F9-4CD4-9ED2-823249B1993C}"/>
              </a:ext>
            </a:extLst>
          </p:cNvPr>
          <p:cNvSpPr txBox="1"/>
          <p:nvPr/>
        </p:nvSpPr>
        <p:spPr>
          <a:xfrm>
            <a:off x="3721036" y="3907260"/>
            <a:ext cx="686260" cy="276999"/>
          </a:xfrm>
          <a:prstGeom prst="rect">
            <a:avLst/>
          </a:prstGeom>
          <a:noFill/>
        </p:spPr>
        <p:txBody>
          <a:bodyPr wrap="square" lIns="0" tIns="0" rIns="0" bIns="0" rtlCol="0">
            <a:spAutoFit/>
          </a:bodyPr>
          <a:lstStyle/>
          <a:p>
            <a:pPr>
              <a:spcBef>
                <a:spcPts val="600"/>
              </a:spcBef>
              <a:buSzPct val="100000"/>
            </a:pPr>
            <a:r>
              <a:rPr lang="en-IN" sz="900" i="1" dirty="0">
                <a:solidFill>
                  <a:srgbClr val="313131"/>
                </a:solidFill>
              </a:rPr>
              <a:t>Battery Storage</a:t>
            </a:r>
          </a:p>
        </p:txBody>
      </p:sp>
      <p:cxnSp>
        <p:nvCxnSpPr>
          <p:cNvPr id="529" name="Straight Connector 528">
            <a:extLst>
              <a:ext uri="{FF2B5EF4-FFF2-40B4-BE49-F238E27FC236}">
                <a16:creationId xmlns:a16="http://schemas.microsoft.com/office/drawing/2014/main" id="{3422A976-048D-4797-853D-1BAF3F5ABB3E}"/>
              </a:ext>
            </a:extLst>
          </p:cNvPr>
          <p:cNvCxnSpPr/>
          <p:nvPr/>
        </p:nvCxnSpPr>
        <p:spPr>
          <a:xfrm>
            <a:off x="4845823" y="3769870"/>
            <a:ext cx="0" cy="2468880"/>
          </a:xfrm>
          <a:prstGeom prst="line">
            <a:avLst/>
          </a:prstGeom>
          <a:ln w="6350">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892C2E36-7015-4BC5-B13D-3E9698C7B433}"/>
              </a:ext>
            </a:extLst>
          </p:cNvPr>
          <p:cNvCxnSpPr/>
          <p:nvPr/>
        </p:nvCxnSpPr>
        <p:spPr>
          <a:xfrm>
            <a:off x="7263958" y="3769870"/>
            <a:ext cx="0" cy="2468880"/>
          </a:xfrm>
          <a:prstGeom prst="line">
            <a:avLst/>
          </a:prstGeom>
          <a:ln w="6350">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504" name="Straight Connector 503">
            <a:extLst>
              <a:ext uri="{FF2B5EF4-FFF2-40B4-BE49-F238E27FC236}">
                <a16:creationId xmlns:a16="http://schemas.microsoft.com/office/drawing/2014/main" id="{21BBF90D-77C6-4A46-8EFA-63B96AF3E121}"/>
              </a:ext>
            </a:extLst>
          </p:cNvPr>
          <p:cNvCxnSpPr/>
          <p:nvPr/>
        </p:nvCxnSpPr>
        <p:spPr>
          <a:xfrm>
            <a:off x="9522290" y="3769870"/>
            <a:ext cx="0" cy="2468880"/>
          </a:xfrm>
          <a:prstGeom prst="line">
            <a:avLst/>
          </a:prstGeom>
          <a:ln w="635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510" name="TextBox 509">
            <a:extLst>
              <a:ext uri="{FF2B5EF4-FFF2-40B4-BE49-F238E27FC236}">
                <a16:creationId xmlns:a16="http://schemas.microsoft.com/office/drawing/2014/main" id="{E9145E92-D0A3-4856-907B-46EB846D68CC}"/>
              </a:ext>
            </a:extLst>
          </p:cNvPr>
          <p:cNvSpPr txBox="1"/>
          <p:nvPr/>
        </p:nvSpPr>
        <p:spPr>
          <a:xfrm>
            <a:off x="6013508" y="3951018"/>
            <a:ext cx="902867" cy="276999"/>
          </a:xfrm>
          <a:prstGeom prst="rect">
            <a:avLst/>
          </a:prstGeom>
          <a:noFill/>
        </p:spPr>
        <p:txBody>
          <a:bodyPr wrap="square" lIns="0" tIns="0" rIns="0" bIns="0" rtlCol="0">
            <a:spAutoFit/>
          </a:bodyPr>
          <a:lstStyle/>
          <a:p>
            <a:pPr>
              <a:spcBef>
                <a:spcPts val="600"/>
              </a:spcBef>
              <a:buSzPct val="100000"/>
            </a:pPr>
            <a:r>
              <a:rPr lang="en-IN" sz="900" dirty="0"/>
              <a:t>Solar Rooftop/ DERs</a:t>
            </a:r>
            <a:endParaRPr lang="en-IN" sz="900" i="1" dirty="0">
              <a:solidFill>
                <a:srgbClr val="313131"/>
              </a:solidFill>
            </a:endParaRPr>
          </a:p>
        </p:txBody>
      </p:sp>
      <p:sp>
        <p:nvSpPr>
          <p:cNvPr id="532" name="TextBox 531">
            <a:extLst>
              <a:ext uri="{FF2B5EF4-FFF2-40B4-BE49-F238E27FC236}">
                <a16:creationId xmlns:a16="http://schemas.microsoft.com/office/drawing/2014/main" id="{9E28ED4C-C408-4911-962A-ACE939BC4BB4}"/>
              </a:ext>
            </a:extLst>
          </p:cNvPr>
          <p:cNvSpPr txBox="1"/>
          <p:nvPr/>
        </p:nvSpPr>
        <p:spPr>
          <a:xfrm>
            <a:off x="8233440" y="3912625"/>
            <a:ext cx="903813" cy="276999"/>
          </a:xfrm>
          <a:prstGeom prst="rect">
            <a:avLst/>
          </a:prstGeom>
          <a:noFill/>
        </p:spPr>
        <p:txBody>
          <a:bodyPr wrap="square" lIns="0" tIns="0" rIns="0" bIns="0" rtlCol="0">
            <a:spAutoFit/>
          </a:bodyPr>
          <a:lstStyle/>
          <a:p>
            <a:pPr>
              <a:spcBef>
                <a:spcPts val="600"/>
              </a:spcBef>
              <a:buSzPct val="100000"/>
            </a:pPr>
            <a:r>
              <a:rPr lang="en-IN" sz="900" i="1" dirty="0">
                <a:solidFill>
                  <a:srgbClr val="313131"/>
                </a:solidFill>
              </a:rPr>
              <a:t>Consumer Interactions</a:t>
            </a:r>
          </a:p>
        </p:txBody>
      </p:sp>
      <p:sp>
        <p:nvSpPr>
          <p:cNvPr id="536" name="TextBox 535">
            <a:extLst>
              <a:ext uri="{FF2B5EF4-FFF2-40B4-BE49-F238E27FC236}">
                <a16:creationId xmlns:a16="http://schemas.microsoft.com/office/drawing/2014/main" id="{763A163E-BD2C-4B4D-97B9-3081D9FFC365}"/>
              </a:ext>
            </a:extLst>
          </p:cNvPr>
          <p:cNvSpPr txBox="1"/>
          <p:nvPr/>
        </p:nvSpPr>
        <p:spPr>
          <a:xfrm>
            <a:off x="10627962" y="3886057"/>
            <a:ext cx="686260" cy="276999"/>
          </a:xfrm>
          <a:prstGeom prst="rect">
            <a:avLst/>
          </a:prstGeom>
          <a:noFill/>
        </p:spPr>
        <p:txBody>
          <a:bodyPr wrap="square" lIns="0" tIns="0" rIns="0" bIns="0" rtlCol="0">
            <a:spAutoFit/>
          </a:bodyPr>
          <a:lstStyle/>
          <a:p>
            <a:pPr>
              <a:spcBef>
                <a:spcPts val="600"/>
              </a:spcBef>
              <a:buSzPct val="100000"/>
            </a:pPr>
            <a:r>
              <a:rPr lang="en-IN" sz="900" i="1" dirty="0">
                <a:solidFill>
                  <a:srgbClr val="313131"/>
                </a:solidFill>
              </a:rPr>
              <a:t>Impact of Covid-19</a:t>
            </a:r>
          </a:p>
        </p:txBody>
      </p:sp>
      <p:sp>
        <p:nvSpPr>
          <p:cNvPr id="537" name="TextBox 536">
            <a:extLst>
              <a:ext uri="{FF2B5EF4-FFF2-40B4-BE49-F238E27FC236}">
                <a16:creationId xmlns:a16="http://schemas.microsoft.com/office/drawing/2014/main" id="{64D554FE-A646-476A-A914-2BC294FF1B49}"/>
              </a:ext>
            </a:extLst>
          </p:cNvPr>
          <p:cNvSpPr txBox="1"/>
          <p:nvPr/>
        </p:nvSpPr>
        <p:spPr>
          <a:xfrm>
            <a:off x="2740872" y="5836961"/>
            <a:ext cx="1960904" cy="307777"/>
          </a:xfrm>
          <a:prstGeom prst="rect">
            <a:avLst/>
          </a:prstGeom>
          <a:noFill/>
        </p:spPr>
        <p:txBody>
          <a:bodyPr wrap="square" lIns="0" tIns="0" rIns="0" bIns="0" rtlCol="0">
            <a:spAutoFit/>
          </a:bodyPr>
          <a:lstStyle/>
          <a:p>
            <a:pPr algn="ctr">
              <a:spcBef>
                <a:spcPts val="600"/>
              </a:spcBef>
              <a:buSzPct val="100000"/>
            </a:pPr>
            <a:r>
              <a:rPr lang="en-US" sz="1000" i="1" dirty="0">
                <a:solidFill>
                  <a:srgbClr val="313131"/>
                </a:solidFill>
              </a:rPr>
              <a:t>Manage RE variability and distribution capex</a:t>
            </a:r>
          </a:p>
        </p:txBody>
      </p:sp>
      <p:grpSp>
        <p:nvGrpSpPr>
          <p:cNvPr id="2" name="Group 1">
            <a:extLst>
              <a:ext uri="{FF2B5EF4-FFF2-40B4-BE49-F238E27FC236}">
                <a16:creationId xmlns:a16="http://schemas.microsoft.com/office/drawing/2014/main" id="{CA1FB860-A429-499C-B6AB-E1E00EED40E3}"/>
              </a:ext>
            </a:extLst>
          </p:cNvPr>
          <p:cNvGrpSpPr/>
          <p:nvPr/>
        </p:nvGrpSpPr>
        <p:grpSpPr>
          <a:xfrm>
            <a:off x="2685964" y="4990268"/>
            <a:ext cx="183782" cy="173222"/>
            <a:chOff x="2792897" y="4687120"/>
            <a:chExt cx="183782" cy="173222"/>
          </a:xfrm>
        </p:grpSpPr>
        <p:sp>
          <p:nvSpPr>
            <p:cNvPr id="538" name="object 134">
              <a:extLst>
                <a:ext uri="{FF2B5EF4-FFF2-40B4-BE49-F238E27FC236}">
                  <a16:creationId xmlns:a16="http://schemas.microsoft.com/office/drawing/2014/main" id="{0D1590C5-EB48-4652-A213-98C31D876AAF}"/>
                </a:ext>
              </a:extLst>
            </p:cNvPr>
            <p:cNvSpPr/>
            <p:nvPr/>
          </p:nvSpPr>
          <p:spPr>
            <a:xfrm>
              <a:off x="2792897" y="4687120"/>
              <a:ext cx="183782" cy="134877"/>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539" name="object 135">
              <a:extLst>
                <a:ext uri="{FF2B5EF4-FFF2-40B4-BE49-F238E27FC236}">
                  <a16:creationId xmlns:a16="http://schemas.microsoft.com/office/drawing/2014/main" id="{A3E017B0-23DE-4F3E-806C-4C2A42820CF8}"/>
                </a:ext>
              </a:extLst>
            </p:cNvPr>
            <p:cNvSpPr/>
            <p:nvPr/>
          </p:nvSpPr>
          <p:spPr>
            <a:xfrm>
              <a:off x="2849256" y="4831440"/>
              <a:ext cx="70686" cy="28902"/>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540" name="object 137">
              <a:extLst>
                <a:ext uri="{FF2B5EF4-FFF2-40B4-BE49-F238E27FC236}">
                  <a16:creationId xmlns:a16="http://schemas.microsoft.com/office/drawing/2014/main" id="{A09BA233-DA13-40E3-A88B-936C002681F9}"/>
                </a:ext>
              </a:extLst>
            </p:cNvPr>
            <p:cNvSpPr/>
            <p:nvPr/>
          </p:nvSpPr>
          <p:spPr>
            <a:xfrm>
              <a:off x="2869490" y="4754298"/>
              <a:ext cx="30202" cy="28902"/>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541" name="object 138">
              <a:extLst>
                <a:ext uri="{FF2B5EF4-FFF2-40B4-BE49-F238E27FC236}">
                  <a16:creationId xmlns:a16="http://schemas.microsoft.com/office/drawing/2014/main" id="{94E290A3-8E66-445F-9749-6968B25651A2}"/>
                </a:ext>
              </a:extLst>
            </p:cNvPr>
            <p:cNvSpPr/>
            <p:nvPr/>
          </p:nvSpPr>
          <p:spPr>
            <a:xfrm>
              <a:off x="2911992" y="4754254"/>
              <a:ext cx="32771" cy="29777"/>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542" name="object 139">
              <a:extLst>
                <a:ext uri="{FF2B5EF4-FFF2-40B4-BE49-F238E27FC236}">
                  <a16:creationId xmlns:a16="http://schemas.microsoft.com/office/drawing/2014/main" id="{C85F976B-FEF2-4CC7-98E0-AC331B5257AA}"/>
                </a:ext>
              </a:extLst>
            </p:cNvPr>
            <p:cNvSpPr/>
            <p:nvPr/>
          </p:nvSpPr>
          <p:spPr>
            <a:xfrm>
              <a:off x="2824535" y="4754268"/>
              <a:ext cx="32771" cy="28902"/>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543" name="object 140">
              <a:extLst>
                <a:ext uri="{FF2B5EF4-FFF2-40B4-BE49-F238E27FC236}">
                  <a16:creationId xmlns:a16="http://schemas.microsoft.com/office/drawing/2014/main" id="{D2A00602-2490-427F-80DD-6FA9B95DDD3A}"/>
                </a:ext>
              </a:extLst>
            </p:cNvPr>
            <p:cNvSpPr/>
            <p:nvPr/>
          </p:nvSpPr>
          <p:spPr>
            <a:xfrm>
              <a:off x="2908393" y="4716069"/>
              <a:ext cx="28274" cy="23647"/>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544" name="object 142">
              <a:extLst>
                <a:ext uri="{FF2B5EF4-FFF2-40B4-BE49-F238E27FC236}">
                  <a16:creationId xmlns:a16="http://schemas.microsoft.com/office/drawing/2014/main" id="{B1B8F96F-3286-4C5A-89AD-C2C70F0227D9}"/>
                </a:ext>
              </a:extLst>
            </p:cNvPr>
            <p:cNvSpPr/>
            <p:nvPr/>
          </p:nvSpPr>
          <p:spPr>
            <a:xfrm>
              <a:off x="2832735" y="4716056"/>
              <a:ext cx="28274" cy="23647"/>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sp>
          <p:nvSpPr>
            <p:cNvPr id="545" name="object 137">
              <a:extLst>
                <a:ext uri="{FF2B5EF4-FFF2-40B4-BE49-F238E27FC236}">
                  <a16:creationId xmlns:a16="http://schemas.microsoft.com/office/drawing/2014/main" id="{28E85233-1411-49B5-A972-8992DE7D3128}"/>
                </a:ext>
              </a:extLst>
            </p:cNvPr>
            <p:cNvSpPr/>
            <p:nvPr/>
          </p:nvSpPr>
          <p:spPr>
            <a:xfrm>
              <a:off x="2869488" y="4714977"/>
              <a:ext cx="30202" cy="24214"/>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solidFill>
              <a:srgbClr val="92D400"/>
            </a:solidFill>
          </p:spPr>
          <p:txBody>
            <a:bodyPr wrap="square" lIns="0" tIns="0" rIns="0" bIns="0" rtlCol="0"/>
            <a:lstStyle/>
            <a:p>
              <a:pPr defTabSz="914403">
                <a:defRPr/>
              </a:pPr>
              <a:endParaRPr sz="1799" kern="0">
                <a:solidFill>
                  <a:prstClr val="white"/>
                </a:solidFill>
                <a:latin typeface="+mj-lt"/>
              </a:endParaRPr>
            </a:p>
          </p:txBody>
        </p:sp>
      </p:grpSp>
      <p:sp>
        <p:nvSpPr>
          <p:cNvPr id="4" name="TextBox 3">
            <a:extLst>
              <a:ext uri="{FF2B5EF4-FFF2-40B4-BE49-F238E27FC236}">
                <a16:creationId xmlns:a16="http://schemas.microsoft.com/office/drawing/2014/main" id="{B66E7764-947C-4BAF-B14B-3EB6AE3CB4CE}"/>
              </a:ext>
            </a:extLst>
          </p:cNvPr>
          <p:cNvSpPr txBox="1"/>
          <p:nvPr/>
        </p:nvSpPr>
        <p:spPr>
          <a:xfrm>
            <a:off x="3056531" y="4822352"/>
            <a:ext cx="1678842" cy="615553"/>
          </a:xfrm>
          <a:prstGeom prst="rect">
            <a:avLst/>
          </a:prstGeom>
          <a:noFill/>
        </p:spPr>
        <p:txBody>
          <a:bodyPr wrap="square" lIns="0" tIns="0" rIns="0" bIns="0" rtlCol="0">
            <a:spAutoFit/>
          </a:bodyPr>
          <a:lstStyle/>
          <a:p>
            <a:pPr>
              <a:spcBef>
                <a:spcPts val="600"/>
              </a:spcBef>
              <a:buSzPct val="100000"/>
            </a:pPr>
            <a:r>
              <a:rPr lang="en-US" sz="1000" b="1" i="1" dirty="0">
                <a:solidFill>
                  <a:srgbClr val="313131"/>
                </a:solidFill>
              </a:rPr>
              <a:t>199 MW BESS </a:t>
            </a:r>
            <a:r>
              <a:rPr lang="en-US" sz="1000" dirty="0">
                <a:solidFill>
                  <a:srgbClr val="313131"/>
                </a:solidFill>
              </a:rPr>
              <a:t>capacity needed by 2030 to meet MNRE targets of 175 GW RE</a:t>
            </a:r>
          </a:p>
        </p:txBody>
      </p:sp>
      <p:grpSp>
        <p:nvGrpSpPr>
          <p:cNvPr id="546" name="Group 545">
            <a:extLst>
              <a:ext uri="{FF2B5EF4-FFF2-40B4-BE49-F238E27FC236}">
                <a16:creationId xmlns:a16="http://schemas.microsoft.com/office/drawing/2014/main" id="{A3A6F6A8-E65B-4290-B348-BC94874E75B3}"/>
              </a:ext>
            </a:extLst>
          </p:cNvPr>
          <p:cNvGrpSpPr/>
          <p:nvPr/>
        </p:nvGrpSpPr>
        <p:grpSpPr>
          <a:xfrm>
            <a:off x="5364467" y="3844364"/>
            <a:ext cx="512675" cy="472016"/>
            <a:chOff x="433702" y="5529960"/>
            <a:chExt cx="230504" cy="230504"/>
          </a:xfrm>
          <a:solidFill>
            <a:schemeClr val="accent1"/>
          </a:solidFill>
        </p:grpSpPr>
        <p:sp>
          <p:nvSpPr>
            <p:cNvPr id="547" name="Freeform 4">
              <a:extLst>
                <a:ext uri="{FF2B5EF4-FFF2-40B4-BE49-F238E27FC236}">
                  <a16:creationId xmlns:a16="http://schemas.microsoft.com/office/drawing/2014/main" id="{5B4E04C6-4F60-4011-87AC-32852D3EC6BC}"/>
                </a:ext>
              </a:extLst>
            </p:cNvPr>
            <p:cNvSpPr>
              <a:spLocks noEditPoints="1"/>
            </p:cNvSpPr>
            <p:nvPr/>
          </p:nvSpPr>
          <p:spPr bwMode="auto">
            <a:xfrm>
              <a:off x="479368" y="5575626"/>
              <a:ext cx="139172" cy="139172"/>
            </a:xfrm>
            <a:custGeom>
              <a:avLst/>
              <a:gdLst>
                <a:gd name="T0" fmla="*/ 96 w 192"/>
                <a:gd name="T1" fmla="*/ 0 h 192"/>
                <a:gd name="T2" fmla="*/ 0 w 192"/>
                <a:gd name="T3" fmla="*/ 96 h 192"/>
                <a:gd name="T4" fmla="*/ 96 w 192"/>
                <a:gd name="T5" fmla="*/ 192 h 192"/>
                <a:gd name="T6" fmla="*/ 192 w 192"/>
                <a:gd name="T7" fmla="*/ 96 h 192"/>
                <a:gd name="T8" fmla="*/ 96 w 192"/>
                <a:gd name="T9" fmla="*/ 0 h 192"/>
                <a:gd name="T10" fmla="*/ 96 w 192"/>
                <a:gd name="T11" fmla="*/ 170 h 192"/>
                <a:gd name="T12" fmla="*/ 21 w 192"/>
                <a:gd name="T13" fmla="*/ 96 h 192"/>
                <a:gd name="T14" fmla="*/ 96 w 192"/>
                <a:gd name="T15" fmla="*/ 21 h 192"/>
                <a:gd name="T16" fmla="*/ 170 w 192"/>
                <a:gd name="T17" fmla="*/ 96 h 192"/>
                <a:gd name="T18" fmla="*/ 96 w 192"/>
                <a:gd name="T19" fmla="*/ 17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0"/>
                  </a:moveTo>
                  <a:cubicBezTo>
                    <a:pt x="43" y="0"/>
                    <a:pt x="0" y="43"/>
                    <a:pt x="0" y="96"/>
                  </a:cubicBezTo>
                  <a:cubicBezTo>
                    <a:pt x="0" y="149"/>
                    <a:pt x="43" y="192"/>
                    <a:pt x="96" y="192"/>
                  </a:cubicBezTo>
                  <a:cubicBezTo>
                    <a:pt x="149" y="192"/>
                    <a:pt x="192" y="149"/>
                    <a:pt x="192" y="96"/>
                  </a:cubicBezTo>
                  <a:cubicBezTo>
                    <a:pt x="192" y="43"/>
                    <a:pt x="149" y="0"/>
                    <a:pt x="96" y="0"/>
                  </a:cubicBezTo>
                  <a:close/>
                  <a:moveTo>
                    <a:pt x="96" y="170"/>
                  </a:moveTo>
                  <a:cubicBezTo>
                    <a:pt x="54" y="170"/>
                    <a:pt x="21" y="137"/>
                    <a:pt x="21" y="96"/>
                  </a:cubicBezTo>
                  <a:cubicBezTo>
                    <a:pt x="21" y="54"/>
                    <a:pt x="54" y="21"/>
                    <a:pt x="96" y="21"/>
                  </a:cubicBezTo>
                  <a:cubicBezTo>
                    <a:pt x="137" y="21"/>
                    <a:pt x="170" y="54"/>
                    <a:pt x="170" y="96"/>
                  </a:cubicBezTo>
                  <a:cubicBezTo>
                    <a:pt x="170" y="137"/>
                    <a:pt x="137" y="170"/>
                    <a:pt x="96" y="17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48" name="Freeform 5">
              <a:extLst>
                <a:ext uri="{FF2B5EF4-FFF2-40B4-BE49-F238E27FC236}">
                  <a16:creationId xmlns:a16="http://schemas.microsoft.com/office/drawing/2014/main" id="{FEADF201-A28F-4053-841E-89C4D7E8DFA4}"/>
                </a:ext>
              </a:extLst>
            </p:cNvPr>
            <p:cNvSpPr>
              <a:spLocks/>
            </p:cNvSpPr>
            <p:nvPr/>
          </p:nvSpPr>
          <p:spPr bwMode="auto">
            <a:xfrm>
              <a:off x="633762" y="5637601"/>
              <a:ext cx="30444" cy="15222"/>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49" name="Freeform 6">
              <a:extLst>
                <a:ext uri="{FF2B5EF4-FFF2-40B4-BE49-F238E27FC236}">
                  <a16:creationId xmlns:a16="http://schemas.microsoft.com/office/drawing/2014/main" id="{1D6B2BA3-87E8-4528-806A-6B6B81837C08}"/>
                </a:ext>
              </a:extLst>
            </p:cNvPr>
            <p:cNvSpPr>
              <a:spLocks/>
            </p:cNvSpPr>
            <p:nvPr/>
          </p:nvSpPr>
          <p:spPr bwMode="auto">
            <a:xfrm>
              <a:off x="433702" y="5637601"/>
              <a:ext cx="30444" cy="15222"/>
            </a:xfrm>
            <a:custGeom>
              <a:avLst/>
              <a:gdLst>
                <a:gd name="T0" fmla="*/ 32 w 42"/>
                <a:gd name="T1" fmla="*/ 0 h 21"/>
                <a:gd name="T2" fmla="*/ 10 w 42"/>
                <a:gd name="T3" fmla="*/ 0 h 21"/>
                <a:gd name="T4" fmla="*/ 0 w 42"/>
                <a:gd name="T5" fmla="*/ 11 h 21"/>
                <a:gd name="T6" fmla="*/ 10 w 42"/>
                <a:gd name="T7" fmla="*/ 21 h 21"/>
                <a:gd name="T8" fmla="*/ 32 w 42"/>
                <a:gd name="T9" fmla="*/ 21 h 21"/>
                <a:gd name="T10" fmla="*/ 42 w 42"/>
                <a:gd name="T11" fmla="*/ 11 h 21"/>
                <a:gd name="T12" fmla="*/ 32 w 4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2" h="21">
                  <a:moveTo>
                    <a:pt x="32" y="0"/>
                  </a:moveTo>
                  <a:cubicBezTo>
                    <a:pt x="10" y="0"/>
                    <a:pt x="10" y="0"/>
                    <a:pt x="10" y="0"/>
                  </a:cubicBezTo>
                  <a:cubicBezTo>
                    <a:pt x="4" y="0"/>
                    <a:pt x="0" y="5"/>
                    <a:pt x="0" y="11"/>
                  </a:cubicBezTo>
                  <a:cubicBezTo>
                    <a:pt x="0" y="17"/>
                    <a:pt x="4" y="21"/>
                    <a:pt x="10" y="21"/>
                  </a:cubicBezTo>
                  <a:cubicBezTo>
                    <a:pt x="32" y="21"/>
                    <a:pt x="32" y="21"/>
                    <a:pt x="32" y="21"/>
                  </a:cubicBezTo>
                  <a:cubicBezTo>
                    <a:pt x="38" y="21"/>
                    <a:pt x="42" y="17"/>
                    <a:pt x="42" y="11"/>
                  </a:cubicBezTo>
                  <a:cubicBezTo>
                    <a:pt x="42" y="5"/>
                    <a:pt x="38" y="0"/>
                    <a:pt x="32"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50" name="Freeform 7">
              <a:extLst>
                <a:ext uri="{FF2B5EF4-FFF2-40B4-BE49-F238E27FC236}">
                  <a16:creationId xmlns:a16="http://schemas.microsoft.com/office/drawing/2014/main" id="{FD7FF1B2-E6DC-4599-89FD-9E3BEDF80722}"/>
                </a:ext>
              </a:extLst>
            </p:cNvPr>
            <p:cNvSpPr>
              <a:spLocks/>
            </p:cNvSpPr>
            <p:nvPr/>
          </p:nvSpPr>
          <p:spPr bwMode="auto">
            <a:xfrm>
              <a:off x="541343" y="5529960"/>
              <a:ext cx="15222" cy="30444"/>
            </a:xfrm>
            <a:custGeom>
              <a:avLst/>
              <a:gdLst>
                <a:gd name="T0" fmla="*/ 11 w 21"/>
                <a:gd name="T1" fmla="*/ 42 h 42"/>
                <a:gd name="T2" fmla="*/ 21 w 21"/>
                <a:gd name="T3" fmla="*/ 32 h 42"/>
                <a:gd name="T4" fmla="*/ 21 w 21"/>
                <a:gd name="T5" fmla="*/ 10 h 42"/>
                <a:gd name="T6" fmla="*/ 11 w 21"/>
                <a:gd name="T7" fmla="*/ 0 h 42"/>
                <a:gd name="T8" fmla="*/ 0 w 21"/>
                <a:gd name="T9" fmla="*/ 10 h 42"/>
                <a:gd name="T10" fmla="*/ 0 w 21"/>
                <a:gd name="T11" fmla="*/ 32 h 42"/>
                <a:gd name="T12" fmla="*/ 11 w 21"/>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1" h="42">
                  <a:moveTo>
                    <a:pt x="11" y="42"/>
                  </a:moveTo>
                  <a:cubicBezTo>
                    <a:pt x="17" y="42"/>
                    <a:pt x="21" y="38"/>
                    <a:pt x="21" y="32"/>
                  </a:cubicBezTo>
                  <a:cubicBezTo>
                    <a:pt x="21" y="10"/>
                    <a:pt x="21" y="10"/>
                    <a:pt x="21" y="10"/>
                  </a:cubicBezTo>
                  <a:cubicBezTo>
                    <a:pt x="21" y="4"/>
                    <a:pt x="17" y="0"/>
                    <a:pt x="11" y="0"/>
                  </a:cubicBezTo>
                  <a:cubicBezTo>
                    <a:pt x="5" y="0"/>
                    <a:pt x="0" y="4"/>
                    <a:pt x="0" y="10"/>
                  </a:cubicBezTo>
                  <a:cubicBezTo>
                    <a:pt x="0" y="32"/>
                    <a:pt x="0" y="32"/>
                    <a:pt x="0" y="32"/>
                  </a:cubicBezTo>
                  <a:cubicBezTo>
                    <a:pt x="0" y="38"/>
                    <a:pt x="5" y="42"/>
                    <a:pt x="11" y="4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51" name="Freeform 8">
              <a:extLst>
                <a:ext uri="{FF2B5EF4-FFF2-40B4-BE49-F238E27FC236}">
                  <a16:creationId xmlns:a16="http://schemas.microsoft.com/office/drawing/2014/main" id="{EAAF7CB1-9694-450F-B9F2-4BBA062DBB1E}"/>
                </a:ext>
              </a:extLst>
            </p:cNvPr>
            <p:cNvSpPr>
              <a:spLocks/>
            </p:cNvSpPr>
            <p:nvPr/>
          </p:nvSpPr>
          <p:spPr bwMode="auto">
            <a:xfrm>
              <a:off x="541343" y="5730020"/>
              <a:ext cx="15222" cy="30444"/>
            </a:xfrm>
            <a:custGeom>
              <a:avLst/>
              <a:gdLst>
                <a:gd name="T0" fmla="*/ 11 w 21"/>
                <a:gd name="T1" fmla="*/ 0 h 43"/>
                <a:gd name="T2" fmla="*/ 0 w 21"/>
                <a:gd name="T3" fmla="*/ 11 h 43"/>
                <a:gd name="T4" fmla="*/ 0 w 21"/>
                <a:gd name="T5" fmla="*/ 32 h 43"/>
                <a:gd name="T6" fmla="*/ 11 w 21"/>
                <a:gd name="T7" fmla="*/ 43 h 43"/>
                <a:gd name="T8" fmla="*/ 21 w 21"/>
                <a:gd name="T9" fmla="*/ 32 h 43"/>
                <a:gd name="T10" fmla="*/ 21 w 21"/>
                <a:gd name="T11" fmla="*/ 11 h 43"/>
                <a:gd name="T12" fmla="*/ 11 w 21"/>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21" h="43">
                  <a:moveTo>
                    <a:pt x="11" y="0"/>
                  </a:moveTo>
                  <a:cubicBezTo>
                    <a:pt x="5" y="0"/>
                    <a:pt x="0" y="5"/>
                    <a:pt x="0" y="11"/>
                  </a:cubicBezTo>
                  <a:cubicBezTo>
                    <a:pt x="0" y="32"/>
                    <a:pt x="0" y="32"/>
                    <a:pt x="0" y="32"/>
                  </a:cubicBezTo>
                  <a:cubicBezTo>
                    <a:pt x="0" y="38"/>
                    <a:pt x="5" y="43"/>
                    <a:pt x="11" y="43"/>
                  </a:cubicBezTo>
                  <a:cubicBezTo>
                    <a:pt x="17" y="43"/>
                    <a:pt x="21" y="38"/>
                    <a:pt x="21" y="32"/>
                  </a:cubicBezTo>
                  <a:cubicBezTo>
                    <a:pt x="21" y="11"/>
                    <a:pt x="21" y="11"/>
                    <a:pt x="21" y="11"/>
                  </a:cubicBezTo>
                  <a:cubicBezTo>
                    <a:pt x="21" y="5"/>
                    <a:pt x="17" y="0"/>
                    <a:pt x="11"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52" name="Freeform 9">
              <a:extLst>
                <a:ext uri="{FF2B5EF4-FFF2-40B4-BE49-F238E27FC236}">
                  <a16:creationId xmlns:a16="http://schemas.microsoft.com/office/drawing/2014/main" id="{9F45A80F-04C7-4165-B155-423B5DB9E32D}"/>
                </a:ext>
              </a:extLst>
            </p:cNvPr>
            <p:cNvSpPr>
              <a:spLocks/>
            </p:cNvSpPr>
            <p:nvPr/>
          </p:nvSpPr>
          <p:spPr bwMode="auto">
            <a:xfrm>
              <a:off x="605493" y="5560404"/>
              <a:ext cx="28269" cy="27182"/>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5"/>
                    <a:pt x="39" y="9"/>
                    <a:pt x="35" y="5"/>
                  </a:cubicBezTo>
                  <a:cubicBezTo>
                    <a:pt x="31" y="0"/>
                    <a:pt x="24" y="0"/>
                    <a:pt x="20" y="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53" name="Freeform 10">
              <a:extLst>
                <a:ext uri="{FF2B5EF4-FFF2-40B4-BE49-F238E27FC236}">
                  <a16:creationId xmlns:a16="http://schemas.microsoft.com/office/drawing/2014/main" id="{1A0A760D-F9E4-4DCD-908E-F73C37C36A85}"/>
                </a:ext>
              </a:extLst>
            </p:cNvPr>
            <p:cNvSpPr>
              <a:spLocks/>
            </p:cNvSpPr>
            <p:nvPr/>
          </p:nvSpPr>
          <p:spPr bwMode="auto">
            <a:xfrm>
              <a:off x="464146" y="5701751"/>
              <a:ext cx="28269" cy="27182"/>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6"/>
                    <a:pt x="39" y="9"/>
                    <a:pt x="35" y="5"/>
                  </a:cubicBezTo>
                  <a:cubicBezTo>
                    <a:pt x="31" y="0"/>
                    <a:pt x="24" y="0"/>
                    <a:pt x="20" y="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54" name="Freeform 11">
              <a:extLst>
                <a:ext uri="{FF2B5EF4-FFF2-40B4-BE49-F238E27FC236}">
                  <a16:creationId xmlns:a16="http://schemas.microsoft.com/office/drawing/2014/main" id="{53E701FD-79AA-4281-A787-F21DC37B2C93}"/>
                </a:ext>
              </a:extLst>
            </p:cNvPr>
            <p:cNvSpPr>
              <a:spLocks/>
            </p:cNvSpPr>
            <p:nvPr/>
          </p:nvSpPr>
          <p:spPr bwMode="auto">
            <a:xfrm>
              <a:off x="464146" y="5560404"/>
              <a:ext cx="28269" cy="27182"/>
            </a:xfrm>
            <a:custGeom>
              <a:avLst/>
              <a:gdLst>
                <a:gd name="T0" fmla="*/ 20 w 39"/>
                <a:gd name="T1" fmla="*/ 35 h 38"/>
                <a:gd name="T2" fmla="*/ 27 w 39"/>
                <a:gd name="T3" fmla="*/ 38 h 38"/>
                <a:gd name="T4" fmla="*/ 35 w 39"/>
                <a:gd name="T5" fmla="*/ 35 h 38"/>
                <a:gd name="T6" fmla="*/ 35 w 39"/>
                <a:gd name="T7" fmla="*/ 20 h 38"/>
                <a:gd name="T8" fmla="*/ 20 w 39"/>
                <a:gd name="T9" fmla="*/ 5 h 38"/>
                <a:gd name="T10" fmla="*/ 5 w 39"/>
                <a:gd name="T11" fmla="*/ 5 h 38"/>
                <a:gd name="T12" fmla="*/ 5 w 39"/>
                <a:gd name="T13" fmla="*/ 20 h 38"/>
                <a:gd name="T14" fmla="*/ 20 w 39"/>
                <a:gd name="T15" fmla="*/ 3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35"/>
                  </a:moveTo>
                  <a:cubicBezTo>
                    <a:pt x="22" y="37"/>
                    <a:pt x="24" y="38"/>
                    <a:pt x="27" y="38"/>
                  </a:cubicBezTo>
                  <a:cubicBezTo>
                    <a:pt x="30" y="38"/>
                    <a:pt x="33" y="37"/>
                    <a:pt x="35" y="35"/>
                  </a:cubicBezTo>
                  <a:cubicBezTo>
                    <a:pt x="39" y="31"/>
                    <a:pt x="39" y="24"/>
                    <a:pt x="35" y="20"/>
                  </a:cubicBezTo>
                  <a:cubicBezTo>
                    <a:pt x="20" y="5"/>
                    <a:pt x="20" y="5"/>
                    <a:pt x="20" y="5"/>
                  </a:cubicBezTo>
                  <a:cubicBezTo>
                    <a:pt x="15" y="0"/>
                    <a:pt x="9" y="0"/>
                    <a:pt x="5" y="5"/>
                  </a:cubicBezTo>
                  <a:cubicBezTo>
                    <a:pt x="0" y="9"/>
                    <a:pt x="0" y="15"/>
                    <a:pt x="5" y="20"/>
                  </a:cubicBezTo>
                  <a:lnTo>
                    <a:pt x="20" y="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55" name="Freeform 12">
              <a:extLst>
                <a:ext uri="{FF2B5EF4-FFF2-40B4-BE49-F238E27FC236}">
                  <a16:creationId xmlns:a16="http://schemas.microsoft.com/office/drawing/2014/main" id="{EA2FA37C-81FE-4FA7-8D01-EFEB4FA561E4}"/>
                </a:ext>
              </a:extLst>
            </p:cNvPr>
            <p:cNvSpPr>
              <a:spLocks/>
            </p:cNvSpPr>
            <p:nvPr/>
          </p:nvSpPr>
          <p:spPr bwMode="auto">
            <a:xfrm>
              <a:off x="605493" y="5701751"/>
              <a:ext cx="28269" cy="27182"/>
            </a:xfrm>
            <a:custGeom>
              <a:avLst/>
              <a:gdLst>
                <a:gd name="T0" fmla="*/ 20 w 39"/>
                <a:gd name="T1" fmla="*/ 5 h 38"/>
                <a:gd name="T2" fmla="*/ 5 w 39"/>
                <a:gd name="T3" fmla="*/ 5 h 38"/>
                <a:gd name="T4" fmla="*/ 5 w 39"/>
                <a:gd name="T5" fmla="*/ 20 h 38"/>
                <a:gd name="T6" fmla="*/ 20 w 39"/>
                <a:gd name="T7" fmla="*/ 35 h 38"/>
                <a:gd name="T8" fmla="*/ 27 w 39"/>
                <a:gd name="T9" fmla="*/ 38 h 38"/>
                <a:gd name="T10" fmla="*/ 35 w 39"/>
                <a:gd name="T11" fmla="*/ 35 h 38"/>
                <a:gd name="T12" fmla="*/ 35 w 39"/>
                <a:gd name="T13" fmla="*/ 20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16" y="0"/>
                    <a:pt x="9" y="0"/>
                    <a:pt x="5" y="5"/>
                  </a:cubicBezTo>
                  <a:cubicBezTo>
                    <a:pt x="0" y="9"/>
                    <a:pt x="0" y="16"/>
                    <a:pt x="5" y="20"/>
                  </a:cubicBezTo>
                  <a:cubicBezTo>
                    <a:pt x="20" y="35"/>
                    <a:pt x="20" y="35"/>
                    <a:pt x="20" y="35"/>
                  </a:cubicBezTo>
                  <a:cubicBezTo>
                    <a:pt x="22" y="37"/>
                    <a:pt x="25" y="38"/>
                    <a:pt x="27" y="38"/>
                  </a:cubicBezTo>
                  <a:cubicBezTo>
                    <a:pt x="30" y="38"/>
                    <a:pt x="33" y="37"/>
                    <a:pt x="35" y="35"/>
                  </a:cubicBezTo>
                  <a:cubicBezTo>
                    <a:pt x="39" y="31"/>
                    <a:pt x="39" y="24"/>
                    <a:pt x="35" y="20"/>
                  </a:cubicBezTo>
                  <a:lnTo>
                    <a:pt x="20" y="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6" name="Picture 5">
            <a:extLst>
              <a:ext uri="{FF2B5EF4-FFF2-40B4-BE49-F238E27FC236}">
                <a16:creationId xmlns:a16="http://schemas.microsoft.com/office/drawing/2014/main" id="{4BAA5635-FE46-4D7B-B6DC-9BD510E5D3E2}"/>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4909194" y="4514524"/>
            <a:ext cx="2335229" cy="1285149"/>
          </a:xfrm>
          <a:prstGeom prst="rect">
            <a:avLst/>
          </a:prstGeom>
        </p:spPr>
      </p:pic>
      <p:sp>
        <p:nvSpPr>
          <p:cNvPr id="556" name="TextBox 555">
            <a:extLst>
              <a:ext uri="{FF2B5EF4-FFF2-40B4-BE49-F238E27FC236}">
                <a16:creationId xmlns:a16="http://schemas.microsoft.com/office/drawing/2014/main" id="{78CBEC88-E4AD-4B9E-829F-C287FECAE23D}"/>
              </a:ext>
            </a:extLst>
          </p:cNvPr>
          <p:cNvSpPr txBox="1"/>
          <p:nvPr/>
        </p:nvSpPr>
        <p:spPr>
          <a:xfrm>
            <a:off x="5096354" y="5853133"/>
            <a:ext cx="1960904" cy="307777"/>
          </a:xfrm>
          <a:prstGeom prst="rect">
            <a:avLst/>
          </a:prstGeom>
          <a:noFill/>
        </p:spPr>
        <p:txBody>
          <a:bodyPr wrap="square" lIns="0" tIns="0" rIns="0" bIns="0" rtlCol="0">
            <a:spAutoFit/>
          </a:bodyPr>
          <a:lstStyle/>
          <a:p>
            <a:pPr algn="ctr">
              <a:spcBef>
                <a:spcPts val="600"/>
              </a:spcBef>
              <a:buSzPct val="100000"/>
            </a:pPr>
            <a:r>
              <a:rPr lang="en-US" sz="1000" i="1" dirty="0">
                <a:solidFill>
                  <a:srgbClr val="313131"/>
                </a:solidFill>
              </a:rPr>
              <a:t>Short term negative impact but long-term positive</a:t>
            </a:r>
          </a:p>
        </p:txBody>
      </p:sp>
      <p:sp>
        <p:nvSpPr>
          <p:cNvPr id="557" name="Freeform 233">
            <a:extLst>
              <a:ext uri="{FF2B5EF4-FFF2-40B4-BE49-F238E27FC236}">
                <a16:creationId xmlns:a16="http://schemas.microsoft.com/office/drawing/2014/main" id="{A4F27CA2-73F7-4284-BD1A-A763E70BB96C}"/>
              </a:ext>
            </a:extLst>
          </p:cNvPr>
          <p:cNvSpPr>
            <a:spLocks noChangeAspect="1" noEditPoints="1"/>
          </p:cNvSpPr>
          <p:nvPr/>
        </p:nvSpPr>
        <p:spPr bwMode="auto">
          <a:xfrm>
            <a:off x="7652164" y="3870291"/>
            <a:ext cx="415388" cy="381130"/>
          </a:xfrm>
          <a:custGeom>
            <a:avLst/>
            <a:gdLst>
              <a:gd name="T0" fmla="*/ 172 w 406"/>
              <a:gd name="T1" fmla="*/ 52 h 378"/>
              <a:gd name="T2" fmla="*/ 180 w 406"/>
              <a:gd name="T3" fmla="*/ 24 h 378"/>
              <a:gd name="T4" fmla="*/ 150 w 406"/>
              <a:gd name="T5" fmla="*/ 0 h 378"/>
              <a:gd name="T6" fmla="*/ 122 w 406"/>
              <a:gd name="T7" fmla="*/ 18 h 378"/>
              <a:gd name="T8" fmla="*/ 122 w 406"/>
              <a:gd name="T9" fmla="*/ 42 h 378"/>
              <a:gd name="T10" fmla="*/ 150 w 406"/>
              <a:gd name="T11" fmla="*/ 60 h 378"/>
              <a:gd name="T12" fmla="*/ 276 w 406"/>
              <a:gd name="T13" fmla="*/ 60 h 378"/>
              <a:gd name="T14" fmla="*/ 284 w 406"/>
              <a:gd name="T15" fmla="*/ 34 h 378"/>
              <a:gd name="T16" fmla="*/ 254 w 406"/>
              <a:gd name="T17" fmla="*/ 10 h 378"/>
              <a:gd name="T18" fmla="*/ 226 w 406"/>
              <a:gd name="T19" fmla="*/ 28 h 378"/>
              <a:gd name="T20" fmla="*/ 226 w 406"/>
              <a:gd name="T21" fmla="*/ 52 h 378"/>
              <a:gd name="T22" fmla="*/ 254 w 406"/>
              <a:gd name="T23" fmla="*/ 70 h 378"/>
              <a:gd name="T24" fmla="*/ 76 w 406"/>
              <a:gd name="T25" fmla="*/ 74 h 378"/>
              <a:gd name="T26" fmla="*/ 64 w 406"/>
              <a:gd name="T27" fmla="*/ 40 h 378"/>
              <a:gd name="T28" fmla="*/ 30 w 406"/>
              <a:gd name="T29" fmla="*/ 54 h 378"/>
              <a:gd name="T30" fmla="*/ 44 w 406"/>
              <a:gd name="T31" fmla="*/ 86 h 378"/>
              <a:gd name="T32" fmla="*/ 360 w 406"/>
              <a:gd name="T33" fmla="*/ 80 h 378"/>
              <a:gd name="T34" fmla="*/ 374 w 406"/>
              <a:gd name="T35" fmla="*/ 48 h 378"/>
              <a:gd name="T36" fmla="*/ 342 w 406"/>
              <a:gd name="T37" fmla="*/ 34 h 378"/>
              <a:gd name="T38" fmla="*/ 328 w 406"/>
              <a:gd name="T39" fmla="*/ 66 h 378"/>
              <a:gd name="T40" fmla="*/ 378 w 406"/>
              <a:gd name="T41" fmla="*/ 94 h 378"/>
              <a:gd name="T42" fmla="*/ 312 w 406"/>
              <a:gd name="T43" fmla="*/ 96 h 378"/>
              <a:gd name="T44" fmla="*/ 228 w 406"/>
              <a:gd name="T45" fmla="*/ 82 h 378"/>
              <a:gd name="T46" fmla="*/ 204 w 406"/>
              <a:gd name="T47" fmla="*/ 90 h 378"/>
              <a:gd name="T48" fmla="*/ 124 w 406"/>
              <a:gd name="T49" fmla="*/ 78 h 378"/>
              <a:gd name="T50" fmla="*/ 92 w 406"/>
              <a:gd name="T51" fmla="*/ 104 h 378"/>
              <a:gd name="T52" fmla="*/ 28 w 406"/>
              <a:gd name="T53" fmla="*/ 100 h 378"/>
              <a:gd name="T54" fmla="*/ 0 w 406"/>
              <a:gd name="T55" fmla="*/ 132 h 378"/>
              <a:gd name="T56" fmla="*/ 4 w 406"/>
              <a:gd name="T57" fmla="*/ 222 h 378"/>
              <a:gd name="T58" fmla="*/ 18 w 406"/>
              <a:gd name="T59" fmla="*/ 214 h 378"/>
              <a:gd name="T60" fmla="*/ 30 w 406"/>
              <a:gd name="T61" fmla="*/ 128 h 378"/>
              <a:gd name="T62" fmla="*/ 34 w 406"/>
              <a:gd name="T63" fmla="*/ 344 h 378"/>
              <a:gd name="T64" fmla="*/ 60 w 406"/>
              <a:gd name="T65" fmla="*/ 350 h 378"/>
              <a:gd name="T66" fmla="*/ 78 w 406"/>
              <a:gd name="T67" fmla="*/ 326 h 378"/>
              <a:gd name="T68" fmla="*/ 92 w 406"/>
              <a:gd name="T69" fmla="*/ 218 h 378"/>
              <a:gd name="T70" fmla="*/ 104 w 406"/>
              <a:gd name="T71" fmla="*/ 222 h 378"/>
              <a:gd name="T72" fmla="*/ 108 w 406"/>
              <a:gd name="T73" fmla="*/ 112 h 378"/>
              <a:gd name="T74" fmla="*/ 120 w 406"/>
              <a:gd name="T75" fmla="*/ 356 h 378"/>
              <a:gd name="T76" fmla="*/ 142 w 406"/>
              <a:gd name="T77" fmla="*/ 378 h 378"/>
              <a:gd name="T78" fmla="*/ 180 w 406"/>
              <a:gd name="T79" fmla="*/ 362 h 378"/>
              <a:gd name="T80" fmla="*/ 194 w 406"/>
              <a:gd name="T81" fmla="*/ 112 h 378"/>
              <a:gd name="T82" fmla="*/ 198 w 406"/>
              <a:gd name="T83" fmla="*/ 222 h 378"/>
              <a:gd name="T84" fmla="*/ 210 w 406"/>
              <a:gd name="T85" fmla="*/ 210 h 378"/>
              <a:gd name="T86" fmla="*/ 222 w 406"/>
              <a:gd name="T87" fmla="*/ 346 h 378"/>
              <a:gd name="T88" fmla="*/ 232 w 406"/>
              <a:gd name="T89" fmla="*/ 370 h 378"/>
              <a:gd name="T90" fmla="*/ 274 w 406"/>
              <a:gd name="T91" fmla="*/ 374 h 378"/>
              <a:gd name="T92" fmla="*/ 288 w 406"/>
              <a:gd name="T93" fmla="*/ 118 h 378"/>
              <a:gd name="T94" fmla="*/ 300 w 406"/>
              <a:gd name="T95" fmla="*/ 218 h 378"/>
              <a:gd name="T96" fmla="*/ 314 w 406"/>
              <a:gd name="T97" fmla="*/ 220 h 378"/>
              <a:gd name="T98" fmla="*/ 328 w 406"/>
              <a:gd name="T99" fmla="*/ 128 h 378"/>
              <a:gd name="T100" fmla="*/ 332 w 406"/>
              <a:gd name="T101" fmla="*/ 338 h 378"/>
              <a:gd name="T102" fmla="*/ 368 w 406"/>
              <a:gd name="T103" fmla="*/ 342 h 378"/>
              <a:gd name="T104" fmla="*/ 378 w 406"/>
              <a:gd name="T105" fmla="*/ 128 h 378"/>
              <a:gd name="T106" fmla="*/ 390 w 406"/>
              <a:gd name="T107" fmla="*/ 216 h 378"/>
              <a:gd name="T108" fmla="*/ 402 w 406"/>
              <a:gd name="T109" fmla="*/ 222 h 378"/>
              <a:gd name="T110" fmla="*/ 406 w 406"/>
              <a:gd name="T111" fmla="*/ 130 h 378"/>
              <a:gd name="T112" fmla="*/ 384 w 406"/>
              <a:gd name="T113" fmla="*/ 94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06" h="378">
                <a:moveTo>
                  <a:pt x="150" y="60"/>
                </a:moveTo>
                <a:lnTo>
                  <a:pt x="150" y="60"/>
                </a:lnTo>
                <a:lnTo>
                  <a:pt x="156" y="60"/>
                </a:lnTo>
                <a:lnTo>
                  <a:pt x="162" y="58"/>
                </a:lnTo>
                <a:lnTo>
                  <a:pt x="172" y="52"/>
                </a:lnTo>
                <a:lnTo>
                  <a:pt x="178" y="42"/>
                </a:lnTo>
                <a:lnTo>
                  <a:pt x="180" y="36"/>
                </a:lnTo>
                <a:lnTo>
                  <a:pt x="180" y="30"/>
                </a:lnTo>
                <a:lnTo>
                  <a:pt x="180" y="30"/>
                </a:lnTo>
                <a:lnTo>
                  <a:pt x="180" y="24"/>
                </a:lnTo>
                <a:lnTo>
                  <a:pt x="178" y="18"/>
                </a:lnTo>
                <a:lnTo>
                  <a:pt x="172" y="10"/>
                </a:lnTo>
                <a:lnTo>
                  <a:pt x="162" y="2"/>
                </a:lnTo>
                <a:lnTo>
                  <a:pt x="156" y="0"/>
                </a:lnTo>
                <a:lnTo>
                  <a:pt x="150" y="0"/>
                </a:lnTo>
                <a:lnTo>
                  <a:pt x="150" y="0"/>
                </a:lnTo>
                <a:lnTo>
                  <a:pt x="144" y="0"/>
                </a:lnTo>
                <a:lnTo>
                  <a:pt x="138" y="2"/>
                </a:lnTo>
                <a:lnTo>
                  <a:pt x="130" y="10"/>
                </a:lnTo>
                <a:lnTo>
                  <a:pt x="122" y="18"/>
                </a:lnTo>
                <a:lnTo>
                  <a:pt x="120" y="24"/>
                </a:lnTo>
                <a:lnTo>
                  <a:pt x="120" y="30"/>
                </a:lnTo>
                <a:lnTo>
                  <a:pt x="120" y="30"/>
                </a:lnTo>
                <a:lnTo>
                  <a:pt x="120" y="36"/>
                </a:lnTo>
                <a:lnTo>
                  <a:pt x="122" y="42"/>
                </a:lnTo>
                <a:lnTo>
                  <a:pt x="130" y="52"/>
                </a:lnTo>
                <a:lnTo>
                  <a:pt x="138" y="58"/>
                </a:lnTo>
                <a:lnTo>
                  <a:pt x="144" y="60"/>
                </a:lnTo>
                <a:lnTo>
                  <a:pt x="150" y="60"/>
                </a:lnTo>
                <a:lnTo>
                  <a:pt x="150" y="60"/>
                </a:lnTo>
                <a:close/>
                <a:moveTo>
                  <a:pt x="254" y="70"/>
                </a:moveTo>
                <a:lnTo>
                  <a:pt x="254" y="70"/>
                </a:lnTo>
                <a:lnTo>
                  <a:pt x="260" y="70"/>
                </a:lnTo>
                <a:lnTo>
                  <a:pt x="266" y="68"/>
                </a:lnTo>
                <a:lnTo>
                  <a:pt x="276" y="60"/>
                </a:lnTo>
                <a:lnTo>
                  <a:pt x="282" y="52"/>
                </a:lnTo>
                <a:lnTo>
                  <a:pt x="284" y="46"/>
                </a:lnTo>
                <a:lnTo>
                  <a:pt x="284" y="40"/>
                </a:lnTo>
                <a:lnTo>
                  <a:pt x="284" y="40"/>
                </a:lnTo>
                <a:lnTo>
                  <a:pt x="284" y="34"/>
                </a:lnTo>
                <a:lnTo>
                  <a:pt x="282" y="28"/>
                </a:lnTo>
                <a:lnTo>
                  <a:pt x="276" y="18"/>
                </a:lnTo>
                <a:lnTo>
                  <a:pt x="266" y="12"/>
                </a:lnTo>
                <a:lnTo>
                  <a:pt x="260" y="10"/>
                </a:lnTo>
                <a:lnTo>
                  <a:pt x="254" y="10"/>
                </a:lnTo>
                <a:lnTo>
                  <a:pt x="254" y="10"/>
                </a:lnTo>
                <a:lnTo>
                  <a:pt x="248" y="10"/>
                </a:lnTo>
                <a:lnTo>
                  <a:pt x="242" y="12"/>
                </a:lnTo>
                <a:lnTo>
                  <a:pt x="234" y="18"/>
                </a:lnTo>
                <a:lnTo>
                  <a:pt x="226" y="28"/>
                </a:lnTo>
                <a:lnTo>
                  <a:pt x="226" y="34"/>
                </a:lnTo>
                <a:lnTo>
                  <a:pt x="224" y="40"/>
                </a:lnTo>
                <a:lnTo>
                  <a:pt x="224" y="40"/>
                </a:lnTo>
                <a:lnTo>
                  <a:pt x="226" y="46"/>
                </a:lnTo>
                <a:lnTo>
                  <a:pt x="226" y="52"/>
                </a:lnTo>
                <a:lnTo>
                  <a:pt x="234" y="60"/>
                </a:lnTo>
                <a:lnTo>
                  <a:pt x="242" y="68"/>
                </a:lnTo>
                <a:lnTo>
                  <a:pt x="248" y="70"/>
                </a:lnTo>
                <a:lnTo>
                  <a:pt x="254" y="70"/>
                </a:lnTo>
                <a:lnTo>
                  <a:pt x="254" y="70"/>
                </a:lnTo>
                <a:close/>
                <a:moveTo>
                  <a:pt x="54" y="88"/>
                </a:moveTo>
                <a:lnTo>
                  <a:pt x="54" y="88"/>
                </a:lnTo>
                <a:lnTo>
                  <a:pt x="64" y="86"/>
                </a:lnTo>
                <a:lnTo>
                  <a:pt x="72" y="82"/>
                </a:lnTo>
                <a:lnTo>
                  <a:pt x="76" y="74"/>
                </a:lnTo>
                <a:lnTo>
                  <a:pt x="78" y="64"/>
                </a:lnTo>
                <a:lnTo>
                  <a:pt x="78" y="64"/>
                </a:lnTo>
                <a:lnTo>
                  <a:pt x="76" y="54"/>
                </a:lnTo>
                <a:lnTo>
                  <a:pt x="72" y="46"/>
                </a:lnTo>
                <a:lnTo>
                  <a:pt x="64" y="40"/>
                </a:lnTo>
                <a:lnTo>
                  <a:pt x="54" y="38"/>
                </a:lnTo>
                <a:lnTo>
                  <a:pt x="54" y="38"/>
                </a:lnTo>
                <a:lnTo>
                  <a:pt x="44" y="40"/>
                </a:lnTo>
                <a:lnTo>
                  <a:pt x="36" y="46"/>
                </a:lnTo>
                <a:lnTo>
                  <a:pt x="30" y="54"/>
                </a:lnTo>
                <a:lnTo>
                  <a:pt x="28" y="64"/>
                </a:lnTo>
                <a:lnTo>
                  <a:pt x="28" y="64"/>
                </a:lnTo>
                <a:lnTo>
                  <a:pt x="30" y="74"/>
                </a:lnTo>
                <a:lnTo>
                  <a:pt x="36" y="82"/>
                </a:lnTo>
                <a:lnTo>
                  <a:pt x="44" y="86"/>
                </a:lnTo>
                <a:lnTo>
                  <a:pt x="54" y="88"/>
                </a:lnTo>
                <a:lnTo>
                  <a:pt x="54" y="88"/>
                </a:lnTo>
                <a:close/>
                <a:moveTo>
                  <a:pt x="352" y="82"/>
                </a:moveTo>
                <a:lnTo>
                  <a:pt x="352" y="82"/>
                </a:lnTo>
                <a:lnTo>
                  <a:pt x="360" y="80"/>
                </a:lnTo>
                <a:lnTo>
                  <a:pt x="368" y="74"/>
                </a:lnTo>
                <a:lnTo>
                  <a:pt x="374" y="66"/>
                </a:lnTo>
                <a:lnTo>
                  <a:pt x="376" y="56"/>
                </a:lnTo>
                <a:lnTo>
                  <a:pt x="376" y="56"/>
                </a:lnTo>
                <a:lnTo>
                  <a:pt x="374" y="48"/>
                </a:lnTo>
                <a:lnTo>
                  <a:pt x="368" y="40"/>
                </a:lnTo>
                <a:lnTo>
                  <a:pt x="360" y="34"/>
                </a:lnTo>
                <a:lnTo>
                  <a:pt x="352" y="32"/>
                </a:lnTo>
                <a:lnTo>
                  <a:pt x="352" y="32"/>
                </a:lnTo>
                <a:lnTo>
                  <a:pt x="342" y="34"/>
                </a:lnTo>
                <a:lnTo>
                  <a:pt x="334" y="40"/>
                </a:lnTo>
                <a:lnTo>
                  <a:pt x="328" y="48"/>
                </a:lnTo>
                <a:lnTo>
                  <a:pt x="326" y="56"/>
                </a:lnTo>
                <a:lnTo>
                  <a:pt x="326" y="56"/>
                </a:lnTo>
                <a:lnTo>
                  <a:pt x="328" y="66"/>
                </a:lnTo>
                <a:lnTo>
                  <a:pt x="334" y="74"/>
                </a:lnTo>
                <a:lnTo>
                  <a:pt x="342" y="80"/>
                </a:lnTo>
                <a:lnTo>
                  <a:pt x="352" y="82"/>
                </a:lnTo>
                <a:lnTo>
                  <a:pt x="352" y="82"/>
                </a:lnTo>
                <a:close/>
                <a:moveTo>
                  <a:pt x="378" y="94"/>
                </a:moveTo>
                <a:lnTo>
                  <a:pt x="324" y="94"/>
                </a:lnTo>
                <a:lnTo>
                  <a:pt x="324" y="94"/>
                </a:lnTo>
                <a:lnTo>
                  <a:pt x="318" y="94"/>
                </a:lnTo>
                <a:lnTo>
                  <a:pt x="312" y="96"/>
                </a:lnTo>
                <a:lnTo>
                  <a:pt x="312" y="96"/>
                </a:lnTo>
                <a:lnTo>
                  <a:pt x="308" y="90"/>
                </a:lnTo>
                <a:lnTo>
                  <a:pt x="300" y="84"/>
                </a:lnTo>
                <a:lnTo>
                  <a:pt x="292" y="82"/>
                </a:lnTo>
                <a:lnTo>
                  <a:pt x="284" y="82"/>
                </a:lnTo>
                <a:lnTo>
                  <a:pt x="228" y="82"/>
                </a:lnTo>
                <a:lnTo>
                  <a:pt x="228" y="82"/>
                </a:lnTo>
                <a:lnTo>
                  <a:pt x="214" y="82"/>
                </a:lnTo>
                <a:lnTo>
                  <a:pt x="208" y="86"/>
                </a:lnTo>
                <a:lnTo>
                  <a:pt x="204" y="90"/>
                </a:lnTo>
                <a:lnTo>
                  <a:pt x="204" y="90"/>
                </a:lnTo>
                <a:lnTo>
                  <a:pt x="198" y="84"/>
                </a:lnTo>
                <a:lnTo>
                  <a:pt x="192" y="80"/>
                </a:lnTo>
                <a:lnTo>
                  <a:pt x="186" y="78"/>
                </a:lnTo>
                <a:lnTo>
                  <a:pt x="180" y="78"/>
                </a:lnTo>
                <a:lnTo>
                  <a:pt x="124" y="78"/>
                </a:lnTo>
                <a:lnTo>
                  <a:pt x="124" y="78"/>
                </a:lnTo>
                <a:lnTo>
                  <a:pt x="112" y="80"/>
                </a:lnTo>
                <a:lnTo>
                  <a:pt x="104" y="84"/>
                </a:lnTo>
                <a:lnTo>
                  <a:pt x="96" y="92"/>
                </a:lnTo>
                <a:lnTo>
                  <a:pt x="92" y="104"/>
                </a:lnTo>
                <a:lnTo>
                  <a:pt x="92" y="104"/>
                </a:lnTo>
                <a:lnTo>
                  <a:pt x="84" y="102"/>
                </a:lnTo>
                <a:lnTo>
                  <a:pt x="74" y="100"/>
                </a:lnTo>
                <a:lnTo>
                  <a:pt x="28" y="100"/>
                </a:lnTo>
                <a:lnTo>
                  <a:pt x="28" y="100"/>
                </a:lnTo>
                <a:lnTo>
                  <a:pt x="22" y="102"/>
                </a:lnTo>
                <a:lnTo>
                  <a:pt x="18" y="104"/>
                </a:lnTo>
                <a:lnTo>
                  <a:pt x="8" y="110"/>
                </a:lnTo>
                <a:lnTo>
                  <a:pt x="2" y="120"/>
                </a:lnTo>
                <a:lnTo>
                  <a:pt x="0" y="132"/>
                </a:lnTo>
                <a:lnTo>
                  <a:pt x="0" y="210"/>
                </a:lnTo>
                <a:lnTo>
                  <a:pt x="0" y="210"/>
                </a:lnTo>
                <a:lnTo>
                  <a:pt x="0" y="214"/>
                </a:lnTo>
                <a:lnTo>
                  <a:pt x="2" y="218"/>
                </a:lnTo>
                <a:lnTo>
                  <a:pt x="4" y="222"/>
                </a:lnTo>
                <a:lnTo>
                  <a:pt x="10" y="222"/>
                </a:lnTo>
                <a:lnTo>
                  <a:pt x="10" y="222"/>
                </a:lnTo>
                <a:lnTo>
                  <a:pt x="14" y="222"/>
                </a:lnTo>
                <a:lnTo>
                  <a:pt x="18" y="218"/>
                </a:lnTo>
                <a:lnTo>
                  <a:pt x="18" y="214"/>
                </a:lnTo>
                <a:lnTo>
                  <a:pt x="18" y="210"/>
                </a:lnTo>
                <a:lnTo>
                  <a:pt x="18" y="210"/>
                </a:lnTo>
                <a:lnTo>
                  <a:pt x="20" y="128"/>
                </a:lnTo>
                <a:lnTo>
                  <a:pt x="30" y="128"/>
                </a:lnTo>
                <a:lnTo>
                  <a:pt x="30" y="128"/>
                </a:lnTo>
                <a:lnTo>
                  <a:pt x="30" y="328"/>
                </a:lnTo>
                <a:lnTo>
                  <a:pt x="30" y="328"/>
                </a:lnTo>
                <a:lnTo>
                  <a:pt x="30" y="336"/>
                </a:lnTo>
                <a:lnTo>
                  <a:pt x="32" y="340"/>
                </a:lnTo>
                <a:lnTo>
                  <a:pt x="34" y="344"/>
                </a:lnTo>
                <a:lnTo>
                  <a:pt x="38" y="346"/>
                </a:lnTo>
                <a:lnTo>
                  <a:pt x="44" y="350"/>
                </a:lnTo>
                <a:lnTo>
                  <a:pt x="50" y="350"/>
                </a:lnTo>
                <a:lnTo>
                  <a:pt x="60" y="350"/>
                </a:lnTo>
                <a:lnTo>
                  <a:pt x="60" y="350"/>
                </a:lnTo>
                <a:lnTo>
                  <a:pt x="66" y="350"/>
                </a:lnTo>
                <a:lnTo>
                  <a:pt x="72" y="346"/>
                </a:lnTo>
                <a:lnTo>
                  <a:pt x="76" y="338"/>
                </a:lnTo>
                <a:lnTo>
                  <a:pt x="78" y="326"/>
                </a:lnTo>
                <a:lnTo>
                  <a:pt x="78" y="326"/>
                </a:lnTo>
                <a:lnTo>
                  <a:pt x="80" y="128"/>
                </a:lnTo>
                <a:lnTo>
                  <a:pt x="90" y="128"/>
                </a:lnTo>
                <a:lnTo>
                  <a:pt x="90" y="212"/>
                </a:lnTo>
                <a:lnTo>
                  <a:pt x="90" y="212"/>
                </a:lnTo>
                <a:lnTo>
                  <a:pt x="92" y="218"/>
                </a:lnTo>
                <a:lnTo>
                  <a:pt x="92" y="220"/>
                </a:lnTo>
                <a:lnTo>
                  <a:pt x="96" y="222"/>
                </a:lnTo>
                <a:lnTo>
                  <a:pt x="100" y="222"/>
                </a:lnTo>
                <a:lnTo>
                  <a:pt x="100" y="222"/>
                </a:lnTo>
                <a:lnTo>
                  <a:pt x="104" y="222"/>
                </a:lnTo>
                <a:lnTo>
                  <a:pt x="106" y="220"/>
                </a:lnTo>
                <a:lnTo>
                  <a:pt x="108" y="216"/>
                </a:lnTo>
                <a:lnTo>
                  <a:pt x="108" y="212"/>
                </a:lnTo>
                <a:lnTo>
                  <a:pt x="108" y="212"/>
                </a:lnTo>
                <a:lnTo>
                  <a:pt x="108" y="112"/>
                </a:lnTo>
                <a:lnTo>
                  <a:pt x="120" y="112"/>
                </a:lnTo>
                <a:lnTo>
                  <a:pt x="120" y="112"/>
                </a:lnTo>
                <a:lnTo>
                  <a:pt x="120" y="348"/>
                </a:lnTo>
                <a:lnTo>
                  <a:pt x="120" y="348"/>
                </a:lnTo>
                <a:lnTo>
                  <a:pt x="120" y="356"/>
                </a:lnTo>
                <a:lnTo>
                  <a:pt x="122" y="362"/>
                </a:lnTo>
                <a:lnTo>
                  <a:pt x="124" y="368"/>
                </a:lnTo>
                <a:lnTo>
                  <a:pt x="128" y="372"/>
                </a:lnTo>
                <a:lnTo>
                  <a:pt x="134" y="376"/>
                </a:lnTo>
                <a:lnTo>
                  <a:pt x="142" y="378"/>
                </a:lnTo>
                <a:lnTo>
                  <a:pt x="164" y="378"/>
                </a:lnTo>
                <a:lnTo>
                  <a:pt x="164" y="378"/>
                </a:lnTo>
                <a:lnTo>
                  <a:pt x="170" y="376"/>
                </a:lnTo>
                <a:lnTo>
                  <a:pt x="176" y="372"/>
                </a:lnTo>
                <a:lnTo>
                  <a:pt x="180" y="362"/>
                </a:lnTo>
                <a:lnTo>
                  <a:pt x="184" y="344"/>
                </a:lnTo>
                <a:lnTo>
                  <a:pt x="184" y="344"/>
                </a:lnTo>
                <a:lnTo>
                  <a:pt x="184" y="112"/>
                </a:lnTo>
                <a:lnTo>
                  <a:pt x="194" y="112"/>
                </a:lnTo>
                <a:lnTo>
                  <a:pt x="194" y="112"/>
                </a:lnTo>
                <a:lnTo>
                  <a:pt x="194" y="208"/>
                </a:lnTo>
                <a:lnTo>
                  <a:pt x="194" y="208"/>
                </a:lnTo>
                <a:lnTo>
                  <a:pt x="194" y="216"/>
                </a:lnTo>
                <a:lnTo>
                  <a:pt x="196" y="220"/>
                </a:lnTo>
                <a:lnTo>
                  <a:pt x="198" y="222"/>
                </a:lnTo>
                <a:lnTo>
                  <a:pt x="204" y="222"/>
                </a:lnTo>
                <a:lnTo>
                  <a:pt x="204" y="222"/>
                </a:lnTo>
                <a:lnTo>
                  <a:pt x="208" y="222"/>
                </a:lnTo>
                <a:lnTo>
                  <a:pt x="210" y="220"/>
                </a:lnTo>
                <a:lnTo>
                  <a:pt x="210" y="210"/>
                </a:lnTo>
                <a:lnTo>
                  <a:pt x="210" y="210"/>
                </a:lnTo>
                <a:lnTo>
                  <a:pt x="212" y="118"/>
                </a:lnTo>
                <a:lnTo>
                  <a:pt x="222" y="118"/>
                </a:lnTo>
                <a:lnTo>
                  <a:pt x="222" y="118"/>
                </a:lnTo>
                <a:lnTo>
                  <a:pt x="222" y="346"/>
                </a:lnTo>
                <a:lnTo>
                  <a:pt x="222" y="346"/>
                </a:lnTo>
                <a:lnTo>
                  <a:pt x="224" y="354"/>
                </a:lnTo>
                <a:lnTo>
                  <a:pt x="226" y="360"/>
                </a:lnTo>
                <a:lnTo>
                  <a:pt x="228" y="366"/>
                </a:lnTo>
                <a:lnTo>
                  <a:pt x="232" y="370"/>
                </a:lnTo>
                <a:lnTo>
                  <a:pt x="238" y="374"/>
                </a:lnTo>
                <a:lnTo>
                  <a:pt x="246" y="374"/>
                </a:lnTo>
                <a:lnTo>
                  <a:pt x="268" y="374"/>
                </a:lnTo>
                <a:lnTo>
                  <a:pt x="268" y="374"/>
                </a:lnTo>
                <a:lnTo>
                  <a:pt x="274" y="374"/>
                </a:lnTo>
                <a:lnTo>
                  <a:pt x="280" y="368"/>
                </a:lnTo>
                <a:lnTo>
                  <a:pt x="286" y="358"/>
                </a:lnTo>
                <a:lnTo>
                  <a:pt x="288" y="342"/>
                </a:lnTo>
                <a:lnTo>
                  <a:pt x="288" y="342"/>
                </a:lnTo>
                <a:lnTo>
                  <a:pt x="288" y="118"/>
                </a:lnTo>
                <a:lnTo>
                  <a:pt x="300" y="118"/>
                </a:lnTo>
                <a:lnTo>
                  <a:pt x="300" y="118"/>
                </a:lnTo>
                <a:lnTo>
                  <a:pt x="300" y="210"/>
                </a:lnTo>
                <a:lnTo>
                  <a:pt x="300" y="210"/>
                </a:lnTo>
                <a:lnTo>
                  <a:pt x="300" y="218"/>
                </a:lnTo>
                <a:lnTo>
                  <a:pt x="304" y="222"/>
                </a:lnTo>
                <a:lnTo>
                  <a:pt x="308" y="222"/>
                </a:lnTo>
                <a:lnTo>
                  <a:pt x="308" y="222"/>
                </a:lnTo>
                <a:lnTo>
                  <a:pt x="312" y="222"/>
                </a:lnTo>
                <a:lnTo>
                  <a:pt x="314" y="220"/>
                </a:lnTo>
                <a:lnTo>
                  <a:pt x="316" y="218"/>
                </a:lnTo>
                <a:lnTo>
                  <a:pt x="316" y="214"/>
                </a:lnTo>
                <a:lnTo>
                  <a:pt x="316" y="214"/>
                </a:lnTo>
                <a:lnTo>
                  <a:pt x="318" y="128"/>
                </a:lnTo>
                <a:lnTo>
                  <a:pt x="328" y="128"/>
                </a:lnTo>
                <a:lnTo>
                  <a:pt x="328" y="128"/>
                </a:lnTo>
                <a:lnTo>
                  <a:pt x="328" y="318"/>
                </a:lnTo>
                <a:lnTo>
                  <a:pt x="328" y="318"/>
                </a:lnTo>
                <a:lnTo>
                  <a:pt x="330" y="330"/>
                </a:lnTo>
                <a:lnTo>
                  <a:pt x="332" y="338"/>
                </a:lnTo>
                <a:lnTo>
                  <a:pt x="338" y="342"/>
                </a:lnTo>
                <a:lnTo>
                  <a:pt x="342" y="342"/>
                </a:lnTo>
                <a:lnTo>
                  <a:pt x="362" y="342"/>
                </a:lnTo>
                <a:lnTo>
                  <a:pt x="362" y="342"/>
                </a:lnTo>
                <a:lnTo>
                  <a:pt x="368" y="342"/>
                </a:lnTo>
                <a:lnTo>
                  <a:pt x="372" y="338"/>
                </a:lnTo>
                <a:lnTo>
                  <a:pt x="376" y="330"/>
                </a:lnTo>
                <a:lnTo>
                  <a:pt x="378" y="316"/>
                </a:lnTo>
                <a:lnTo>
                  <a:pt x="378" y="316"/>
                </a:lnTo>
                <a:lnTo>
                  <a:pt x="378" y="128"/>
                </a:lnTo>
                <a:lnTo>
                  <a:pt x="388" y="128"/>
                </a:lnTo>
                <a:lnTo>
                  <a:pt x="388" y="128"/>
                </a:lnTo>
                <a:lnTo>
                  <a:pt x="388" y="212"/>
                </a:lnTo>
                <a:lnTo>
                  <a:pt x="388" y="212"/>
                </a:lnTo>
                <a:lnTo>
                  <a:pt x="390" y="216"/>
                </a:lnTo>
                <a:lnTo>
                  <a:pt x="392" y="220"/>
                </a:lnTo>
                <a:lnTo>
                  <a:pt x="394" y="222"/>
                </a:lnTo>
                <a:lnTo>
                  <a:pt x="398" y="222"/>
                </a:lnTo>
                <a:lnTo>
                  <a:pt x="398" y="222"/>
                </a:lnTo>
                <a:lnTo>
                  <a:pt x="402" y="222"/>
                </a:lnTo>
                <a:lnTo>
                  <a:pt x="404" y="220"/>
                </a:lnTo>
                <a:lnTo>
                  <a:pt x="406" y="216"/>
                </a:lnTo>
                <a:lnTo>
                  <a:pt x="406" y="212"/>
                </a:lnTo>
                <a:lnTo>
                  <a:pt x="406" y="130"/>
                </a:lnTo>
                <a:lnTo>
                  <a:pt x="406" y="130"/>
                </a:lnTo>
                <a:lnTo>
                  <a:pt x="404" y="116"/>
                </a:lnTo>
                <a:lnTo>
                  <a:pt x="398" y="106"/>
                </a:lnTo>
                <a:lnTo>
                  <a:pt x="394" y="100"/>
                </a:lnTo>
                <a:lnTo>
                  <a:pt x="390" y="96"/>
                </a:lnTo>
                <a:lnTo>
                  <a:pt x="384" y="94"/>
                </a:lnTo>
                <a:lnTo>
                  <a:pt x="378" y="94"/>
                </a:lnTo>
                <a:lnTo>
                  <a:pt x="378" y="9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58" name="Freeform 81">
            <a:extLst>
              <a:ext uri="{FF2B5EF4-FFF2-40B4-BE49-F238E27FC236}">
                <a16:creationId xmlns:a16="http://schemas.microsoft.com/office/drawing/2014/main" id="{F3CFC2D8-1FE4-4802-9687-7A18E898B00D}"/>
              </a:ext>
            </a:extLst>
          </p:cNvPr>
          <p:cNvSpPr>
            <a:spLocks/>
          </p:cNvSpPr>
          <p:nvPr/>
        </p:nvSpPr>
        <p:spPr bwMode="auto">
          <a:xfrm flipH="1">
            <a:off x="7467364" y="4653784"/>
            <a:ext cx="210916" cy="179535"/>
          </a:xfrm>
          <a:custGeom>
            <a:avLst/>
            <a:gdLst>
              <a:gd name="T0" fmla="*/ 230 w 369"/>
              <a:gd name="T1" fmla="*/ 363 h 363"/>
              <a:gd name="T2" fmla="*/ 230 w 369"/>
              <a:gd name="T3" fmla="*/ 213 h 363"/>
              <a:gd name="T4" fmla="*/ 126 w 369"/>
              <a:gd name="T5" fmla="*/ 213 h 363"/>
              <a:gd name="T6" fmla="*/ 126 w 369"/>
              <a:gd name="T7" fmla="*/ 363 h 363"/>
              <a:gd name="T8" fmla="*/ 58 w 369"/>
              <a:gd name="T9" fmla="*/ 363 h 363"/>
              <a:gd name="T10" fmla="*/ 0 w 369"/>
              <a:gd name="T11" fmla="*/ 306 h 363"/>
              <a:gd name="T12" fmla="*/ 0 w 369"/>
              <a:gd name="T13" fmla="*/ 139 h 363"/>
              <a:gd name="T14" fmla="*/ 181 w 369"/>
              <a:gd name="T15" fmla="*/ 0 h 363"/>
              <a:gd name="T16" fmla="*/ 369 w 369"/>
              <a:gd name="T17" fmla="*/ 139 h 363"/>
              <a:gd name="T18" fmla="*/ 369 w 369"/>
              <a:gd name="T19" fmla="*/ 306 h 363"/>
              <a:gd name="T20" fmla="*/ 311 w 369"/>
              <a:gd name="T21" fmla="*/ 363 h 363"/>
              <a:gd name="T22" fmla="*/ 230 w 369"/>
              <a:gd name="T23" fmla="*/ 363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9" h="363">
                <a:moveTo>
                  <a:pt x="230" y="363"/>
                </a:moveTo>
                <a:cubicBezTo>
                  <a:pt x="230" y="213"/>
                  <a:pt x="230" y="213"/>
                  <a:pt x="230" y="213"/>
                </a:cubicBezTo>
                <a:cubicBezTo>
                  <a:pt x="126" y="213"/>
                  <a:pt x="126" y="213"/>
                  <a:pt x="126" y="213"/>
                </a:cubicBezTo>
                <a:cubicBezTo>
                  <a:pt x="126" y="363"/>
                  <a:pt x="126" y="363"/>
                  <a:pt x="126" y="363"/>
                </a:cubicBezTo>
                <a:cubicBezTo>
                  <a:pt x="58" y="363"/>
                  <a:pt x="58" y="363"/>
                  <a:pt x="58" y="363"/>
                </a:cubicBezTo>
                <a:cubicBezTo>
                  <a:pt x="26" y="363"/>
                  <a:pt x="0" y="337"/>
                  <a:pt x="0" y="306"/>
                </a:cubicBezTo>
                <a:cubicBezTo>
                  <a:pt x="0" y="139"/>
                  <a:pt x="0" y="139"/>
                  <a:pt x="0" y="139"/>
                </a:cubicBezTo>
                <a:cubicBezTo>
                  <a:pt x="181" y="0"/>
                  <a:pt x="181" y="0"/>
                  <a:pt x="181" y="0"/>
                </a:cubicBezTo>
                <a:cubicBezTo>
                  <a:pt x="369" y="139"/>
                  <a:pt x="369" y="139"/>
                  <a:pt x="369" y="139"/>
                </a:cubicBezTo>
                <a:cubicBezTo>
                  <a:pt x="369" y="306"/>
                  <a:pt x="369" y="306"/>
                  <a:pt x="369" y="306"/>
                </a:cubicBezTo>
                <a:cubicBezTo>
                  <a:pt x="369" y="337"/>
                  <a:pt x="343" y="363"/>
                  <a:pt x="311" y="363"/>
                </a:cubicBezTo>
                <a:lnTo>
                  <a:pt x="230" y="363"/>
                </a:lnTo>
                <a:close/>
              </a:path>
            </a:pathLst>
          </a:custGeom>
          <a:solidFill>
            <a:schemeClr val="accent2"/>
          </a:solidFill>
          <a:ln>
            <a:solidFill>
              <a:srgbClr val="92D400"/>
            </a:solidFill>
          </a:ln>
        </p:spPr>
        <p:txBody>
          <a:bodyPr vert="horz" wrap="square" lIns="91439" tIns="45720" rIns="91439" bIns="45720" numCol="1" anchor="t" anchorCtr="0" compatLnSpc="1">
            <a:prstTxWarp prst="textNoShape">
              <a:avLst/>
            </a:prstTxWarp>
          </a:bodyPr>
          <a:lstStyle/>
          <a:p>
            <a:pPr defTabSz="914403">
              <a:defRPr/>
            </a:pPr>
            <a:endParaRPr lang="en-US" sz="1799" kern="0">
              <a:solidFill>
                <a:srgbClr val="5C5C5C"/>
              </a:solidFill>
              <a:latin typeface="+mj-lt"/>
            </a:endParaRPr>
          </a:p>
        </p:txBody>
      </p:sp>
      <p:sp>
        <p:nvSpPr>
          <p:cNvPr id="559" name="TextBox 558">
            <a:extLst>
              <a:ext uri="{FF2B5EF4-FFF2-40B4-BE49-F238E27FC236}">
                <a16:creationId xmlns:a16="http://schemas.microsoft.com/office/drawing/2014/main" id="{17EC9034-19AB-4CF2-880F-9AE3BAEF2F31}"/>
              </a:ext>
            </a:extLst>
          </p:cNvPr>
          <p:cNvSpPr txBox="1"/>
          <p:nvPr/>
        </p:nvSpPr>
        <p:spPr>
          <a:xfrm>
            <a:off x="7816242" y="4491252"/>
            <a:ext cx="1678842" cy="538609"/>
          </a:xfrm>
          <a:prstGeom prst="rect">
            <a:avLst/>
          </a:prstGeom>
          <a:noFill/>
        </p:spPr>
        <p:txBody>
          <a:bodyPr wrap="square" lIns="0" tIns="0" rIns="0" bIns="0" rtlCol="0">
            <a:spAutoFit/>
          </a:bodyPr>
          <a:lstStyle/>
          <a:p>
            <a:pPr>
              <a:spcBef>
                <a:spcPts val="600"/>
              </a:spcBef>
              <a:buSzPct val="100000"/>
            </a:pPr>
            <a:r>
              <a:rPr lang="en-US" sz="1000" b="1" i="1" dirty="0">
                <a:solidFill>
                  <a:srgbClr val="313131"/>
                </a:solidFill>
              </a:rPr>
              <a:t>100% </a:t>
            </a:r>
            <a:r>
              <a:rPr lang="en-US" sz="1000" dirty="0">
                <a:solidFill>
                  <a:srgbClr val="313131"/>
                </a:solidFill>
              </a:rPr>
              <a:t>smart pre-paid metering</a:t>
            </a:r>
          </a:p>
          <a:p>
            <a:pPr>
              <a:spcBef>
                <a:spcPts val="600"/>
              </a:spcBef>
              <a:buSzPct val="100000"/>
            </a:pPr>
            <a:r>
              <a:rPr lang="en-US" sz="1000" b="1" i="1" dirty="0">
                <a:solidFill>
                  <a:srgbClr val="313131"/>
                </a:solidFill>
              </a:rPr>
              <a:t>100% </a:t>
            </a:r>
            <a:r>
              <a:rPr lang="en-US" sz="1000" dirty="0">
                <a:solidFill>
                  <a:srgbClr val="313131"/>
                </a:solidFill>
              </a:rPr>
              <a:t>DTR metering</a:t>
            </a:r>
          </a:p>
        </p:txBody>
      </p:sp>
      <p:sp>
        <p:nvSpPr>
          <p:cNvPr id="560" name="TextBox 559">
            <a:extLst>
              <a:ext uri="{FF2B5EF4-FFF2-40B4-BE49-F238E27FC236}">
                <a16:creationId xmlns:a16="http://schemas.microsoft.com/office/drawing/2014/main" id="{B668EA90-4C19-4994-A77F-14AD067F7F2C}"/>
              </a:ext>
            </a:extLst>
          </p:cNvPr>
          <p:cNvSpPr txBox="1"/>
          <p:nvPr/>
        </p:nvSpPr>
        <p:spPr>
          <a:xfrm>
            <a:off x="7387071" y="5105836"/>
            <a:ext cx="2053190" cy="461665"/>
          </a:xfrm>
          <a:prstGeom prst="rect">
            <a:avLst/>
          </a:prstGeom>
          <a:noFill/>
        </p:spPr>
        <p:txBody>
          <a:bodyPr wrap="square" lIns="0" tIns="0" rIns="0" bIns="0" rtlCol="0">
            <a:spAutoFit/>
          </a:bodyPr>
          <a:lstStyle/>
          <a:p>
            <a:pPr algn="ctr">
              <a:spcBef>
                <a:spcPts val="600"/>
              </a:spcBef>
              <a:buSzPct val="100000"/>
            </a:pPr>
            <a:r>
              <a:rPr lang="en-US" sz="1000" dirty="0">
                <a:solidFill>
                  <a:srgbClr val="313131"/>
                </a:solidFill>
              </a:rPr>
              <a:t>Can adopt </a:t>
            </a:r>
            <a:r>
              <a:rPr lang="en-US" sz="1000" b="1" i="1" dirty="0">
                <a:solidFill>
                  <a:schemeClr val="accent2"/>
                </a:solidFill>
              </a:rPr>
              <a:t>“Pay as you save model” </a:t>
            </a:r>
            <a:r>
              <a:rPr lang="en-US" sz="1000" dirty="0">
                <a:solidFill>
                  <a:srgbClr val="313131"/>
                </a:solidFill>
              </a:rPr>
              <a:t>or </a:t>
            </a:r>
            <a:r>
              <a:rPr lang="en-US" sz="1000" b="1" i="1" dirty="0">
                <a:solidFill>
                  <a:schemeClr val="accent2"/>
                </a:solidFill>
              </a:rPr>
              <a:t>“Utility managed model”</a:t>
            </a:r>
          </a:p>
        </p:txBody>
      </p:sp>
      <p:sp>
        <p:nvSpPr>
          <p:cNvPr id="561" name="TextBox 560">
            <a:extLst>
              <a:ext uri="{FF2B5EF4-FFF2-40B4-BE49-F238E27FC236}">
                <a16:creationId xmlns:a16="http://schemas.microsoft.com/office/drawing/2014/main" id="{40C6DFD8-25E9-4682-BAFC-CD083B820074}"/>
              </a:ext>
            </a:extLst>
          </p:cNvPr>
          <p:cNvSpPr txBox="1"/>
          <p:nvPr/>
        </p:nvSpPr>
        <p:spPr>
          <a:xfrm>
            <a:off x="7344708" y="5783541"/>
            <a:ext cx="2156994" cy="461665"/>
          </a:xfrm>
          <a:prstGeom prst="rect">
            <a:avLst/>
          </a:prstGeom>
          <a:noFill/>
        </p:spPr>
        <p:txBody>
          <a:bodyPr wrap="square" lIns="0" tIns="0" rIns="0" bIns="0" rtlCol="0">
            <a:spAutoFit/>
          </a:bodyPr>
          <a:lstStyle/>
          <a:p>
            <a:pPr algn="ctr">
              <a:spcBef>
                <a:spcPts val="600"/>
              </a:spcBef>
              <a:buSzPct val="100000"/>
            </a:pPr>
            <a:r>
              <a:rPr lang="en-US" sz="1000" i="1" dirty="0">
                <a:solidFill>
                  <a:srgbClr val="313131"/>
                </a:solidFill>
              </a:rPr>
              <a:t>Reduce losses, improve performance increase customer interaction</a:t>
            </a:r>
          </a:p>
        </p:txBody>
      </p:sp>
      <p:sp>
        <p:nvSpPr>
          <p:cNvPr id="562" name="Freeform 253">
            <a:extLst>
              <a:ext uri="{FF2B5EF4-FFF2-40B4-BE49-F238E27FC236}">
                <a16:creationId xmlns:a16="http://schemas.microsoft.com/office/drawing/2014/main" id="{7459E6D3-D907-4110-9F71-204DB3DFCB02}"/>
              </a:ext>
            </a:extLst>
          </p:cNvPr>
          <p:cNvSpPr>
            <a:spLocks/>
          </p:cNvSpPr>
          <p:nvPr/>
        </p:nvSpPr>
        <p:spPr bwMode="auto">
          <a:xfrm>
            <a:off x="9923798" y="3852143"/>
            <a:ext cx="512847" cy="383768"/>
          </a:xfrm>
          <a:custGeom>
            <a:avLst/>
            <a:gdLst>
              <a:gd name="T0" fmla="*/ 181 w 320"/>
              <a:gd name="T1" fmla="*/ 320 h 320"/>
              <a:gd name="T2" fmla="*/ 181 w 320"/>
              <a:gd name="T3" fmla="*/ 320 h 320"/>
              <a:gd name="T4" fmla="*/ 171 w 320"/>
              <a:gd name="T5" fmla="*/ 311 h 320"/>
              <a:gd name="T6" fmla="*/ 126 w 320"/>
              <a:gd name="T7" fmla="*/ 63 h 320"/>
              <a:gd name="T8" fmla="*/ 95 w 320"/>
              <a:gd name="T9" fmla="*/ 194 h 320"/>
              <a:gd name="T10" fmla="*/ 85 w 320"/>
              <a:gd name="T11" fmla="*/ 202 h 320"/>
              <a:gd name="T12" fmla="*/ 75 w 320"/>
              <a:gd name="T13" fmla="*/ 195 h 320"/>
              <a:gd name="T14" fmla="*/ 60 w 320"/>
              <a:gd name="T15" fmla="*/ 152 h 320"/>
              <a:gd name="T16" fmla="*/ 51 w 320"/>
              <a:gd name="T17" fmla="*/ 166 h 320"/>
              <a:gd name="T18" fmla="*/ 42 w 320"/>
              <a:gd name="T19" fmla="*/ 170 h 320"/>
              <a:gd name="T20" fmla="*/ 10 w 320"/>
              <a:gd name="T21" fmla="*/ 170 h 320"/>
              <a:gd name="T22" fmla="*/ 0 w 320"/>
              <a:gd name="T23" fmla="*/ 160 h 320"/>
              <a:gd name="T24" fmla="*/ 10 w 320"/>
              <a:gd name="T25" fmla="*/ 149 h 320"/>
              <a:gd name="T26" fmla="*/ 37 w 320"/>
              <a:gd name="T27" fmla="*/ 149 h 320"/>
              <a:gd name="T28" fmla="*/ 55 w 320"/>
              <a:gd name="T29" fmla="*/ 122 h 320"/>
              <a:gd name="T30" fmla="*/ 65 w 320"/>
              <a:gd name="T31" fmla="*/ 117 h 320"/>
              <a:gd name="T32" fmla="*/ 74 w 320"/>
              <a:gd name="T33" fmla="*/ 124 h 320"/>
              <a:gd name="T34" fmla="*/ 83 w 320"/>
              <a:gd name="T35" fmla="*/ 153 h 320"/>
              <a:gd name="T36" fmla="*/ 117 w 320"/>
              <a:gd name="T37" fmla="*/ 8 h 320"/>
              <a:gd name="T38" fmla="*/ 128 w 320"/>
              <a:gd name="T39" fmla="*/ 0 h 320"/>
              <a:gd name="T40" fmla="*/ 138 w 320"/>
              <a:gd name="T41" fmla="*/ 8 h 320"/>
              <a:gd name="T42" fmla="*/ 182 w 320"/>
              <a:gd name="T43" fmla="*/ 253 h 320"/>
              <a:gd name="T44" fmla="*/ 213 w 320"/>
              <a:gd name="T45" fmla="*/ 104 h 320"/>
              <a:gd name="T46" fmla="*/ 223 w 320"/>
              <a:gd name="T47" fmla="*/ 96 h 320"/>
              <a:gd name="T48" fmla="*/ 234 w 320"/>
              <a:gd name="T49" fmla="*/ 103 h 320"/>
              <a:gd name="T50" fmla="*/ 254 w 320"/>
              <a:gd name="T51" fmla="*/ 164 h 320"/>
              <a:gd name="T52" fmla="*/ 256 w 320"/>
              <a:gd name="T53" fmla="*/ 157 h 320"/>
              <a:gd name="T54" fmla="*/ 266 w 320"/>
              <a:gd name="T55" fmla="*/ 149 h 320"/>
              <a:gd name="T56" fmla="*/ 309 w 320"/>
              <a:gd name="T57" fmla="*/ 149 h 320"/>
              <a:gd name="T58" fmla="*/ 320 w 320"/>
              <a:gd name="T59" fmla="*/ 160 h 320"/>
              <a:gd name="T60" fmla="*/ 309 w 320"/>
              <a:gd name="T61" fmla="*/ 170 h 320"/>
              <a:gd name="T62" fmla="*/ 275 w 320"/>
              <a:gd name="T63" fmla="*/ 170 h 320"/>
              <a:gd name="T64" fmla="*/ 266 w 320"/>
              <a:gd name="T65" fmla="*/ 205 h 320"/>
              <a:gd name="T66" fmla="*/ 256 w 320"/>
              <a:gd name="T67" fmla="*/ 213 h 320"/>
              <a:gd name="T68" fmla="*/ 246 w 320"/>
              <a:gd name="T69" fmla="*/ 206 h 320"/>
              <a:gd name="T70" fmla="*/ 226 w 320"/>
              <a:gd name="T71" fmla="*/ 147 h 320"/>
              <a:gd name="T72" fmla="*/ 191 w 320"/>
              <a:gd name="T73" fmla="*/ 311 h 320"/>
              <a:gd name="T74" fmla="*/ 181 w 320"/>
              <a:gd name="T75" fmla="*/ 32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0" h="320">
                <a:moveTo>
                  <a:pt x="181" y="320"/>
                </a:moveTo>
                <a:cubicBezTo>
                  <a:pt x="181" y="320"/>
                  <a:pt x="181" y="320"/>
                  <a:pt x="181" y="320"/>
                </a:cubicBezTo>
                <a:cubicBezTo>
                  <a:pt x="176" y="320"/>
                  <a:pt x="171" y="316"/>
                  <a:pt x="171" y="311"/>
                </a:cubicBezTo>
                <a:cubicBezTo>
                  <a:pt x="126" y="63"/>
                  <a:pt x="126" y="63"/>
                  <a:pt x="126" y="63"/>
                </a:cubicBezTo>
                <a:cubicBezTo>
                  <a:pt x="95" y="194"/>
                  <a:pt x="95" y="194"/>
                  <a:pt x="95" y="194"/>
                </a:cubicBezTo>
                <a:cubicBezTo>
                  <a:pt x="94" y="199"/>
                  <a:pt x="90" y="202"/>
                  <a:pt x="85" y="202"/>
                </a:cubicBezTo>
                <a:cubicBezTo>
                  <a:pt x="81" y="203"/>
                  <a:pt x="76" y="200"/>
                  <a:pt x="75" y="195"/>
                </a:cubicBezTo>
                <a:cubicBezTo>
                  <a:pt x="60" y="152"/>
                  <a:pt x="60" y="152"/>
                  <a:pt x="60" y="152"/>
                </a:cubicBezTo>
                <a:cubicBezTo>
                  <a:pt x="51" y="166"/>
                  <a:pt x="51" y="166"/>
                  <a:pt x="51" y="166"/>
                </a:cubicBezTo>
                <a:cubicBezTo>
                  <a:pt x="49" y="169"/>
                  <a:pt x="46" y="170"/>
                  <a:pt x="42" y="170"/>
                </a:cubicBezTo>
                <a:cubicBezTo>
                  <a:pt x="10" y="170"/>
                  <a:pt x="10" y="170"/>
                  <a:pt x="10" y="170"/>
                </a:cubicBezTo>
                <a:cubicBezTo>
                  <a:pt x="4" y="170"/>
                  <a:pt x="0" y="166"/>
                  <a:pt x="0" y="160"/>
                </a:cubicBezTo>
                <a:cubicBezTo>
                  <a:pt x="0" y="154"/>
                  <a:pt x="4" y="149"/>
                  <a:pt x="10" y="149"/>
                </a:cubicBezTo>
                <a:cubicBezTo>
                  <a:pt x="37" y="149"/>
                  <a:pt x="37" y="149"/>
                  <a:pt x="37" y="149"/>
                </a:cubicBezTo>
                <a:cubicBezTo>
                  <a:pt x="55" y="122"/>
                  <a:pt x="55" y="122"/>
                  <a:pt x="55" y="122"/>
                </a:cubicBezTo>
                <a:cubicBezTo>
                  <a:pt x="57" y="118"/>
                  <a:pt x="61" y="117"/>
                  <a:pt x="65" y="117"/>
                </a:cubicBezTo>
                <a:cubicBezTo>
                  <a:pt x="69" y="118"/>
                  <a:pt x="72" y="120"/>
                  <a:pt x="74" y="124"/>
                </a:cubicBezTo>
                <a:cubicBezTo>
                  <a:pt x="83" y="153"/>
                  <a:pt x="83" y="153"/>
                  <a:pt x="83" y="153"/>
                </a:cubicBezTo>
                <a:cubicBezTo>
                  <a:pt x="117" y="8"/>
                  <a:pt x="117" y="8"/>
                  <a:pt x="117" y="8"/>
                </a:cubicBezTo>
                <a:cubicBezTo>
                  <a:pt x="118" y="3"/>
                  <a:pt x="123" y="0"/>
                  <a:pt x="128" y="0"/>
                </a:cubicBezTo>
                <a:cubicBezTo>
                  <a:pt x="133" y="0"/>
                  <a:pt x="137" y="3"/>
                  <a:pt x="138" y="8"/>
                </a:cubicBezTo>
                <a:cubicBezTo>
                  <a:pt x="182" y="253"/>
                  <a:pt x="182" y="253"/>
                  <a:pt x="182" y="253"/>
                </a:cubicBezTo>
                <a:cubicBezTo>
                  <a:pt x="213" y="104"/>
                  <a:pt x="213" y="104"/>
                  <a:pt x="213" y="104"/>
                </a:cubicBezTo>
                <a:cubicBezTo>
                  <a:pt x="214" y="99"/>
                  <a:pt x="218" y="96"/>
                  <a:pt x="223" y="96"/>
                </a:cubicBezTo>
                <a:cubicBezTo>
                  <a:pt x="228" y="95"/>
                  <a:pt x="232" y="98"/>
                  <a:pt x="234" y="103"/>
                </a:cubicBezTo>
                <a:cubicBezTo>
                  <a:pt x="254" y="164"/>
                  <a:pt x="254" y="164"/>
                  <a:pt x="254" y="164"/>
                </a:cubicBezTo>
                <a:cubicBezTo>
                  <a:pt x="256" y="157"/>
                  <a:pt x="256" y="157"/>
                  <a:pt x="256" y="157"/>
                </a:cubicBezTo>
                <a:cubicBezTo>
                  <a:pt x="257" y="152"/>
                  <a:pt x="261" y="149"/>
                  <a:pt x="266" y="149"/>
                </a:cubicBezTo>
                <a:cubicBezTo>
                  <a:pt x="309" y="149"/>
                  <a:pt x="309" y="149"/>
                  <a:pt x="309" y="149"/>
                </a:cubicBezTo>
                <a:cubicBezTo>
                  <a:pt x="315" y="149"/>
                  <a:pt x="320" y="154"/>
                  <a:pt x="320" y="160"/>
                </a:cubicBezTo>
                <a:cubicBezTo>
                  <a:pt x="320" y="166"/>
                  <a:pt x="315" y="170"/>
                  <a:pt x="309" y="170"/>
                </a:cubicBezTo>
                <a:cubicBezTo>
                  <a:pt x="275" y="170"/>
                  <a:pt x="275" y="170"/>
                  <a:pt x="275" y="170"/>
                </a:cubicBezTo>
                <a:cubicBezTo>
                  <a:pt x="266" y="205"/>
                  <a:pt x="266" y="205"/>
                  <a:pt x="266" y="205"/>
                </a:cubicBezTo>
                <a:cubicBezTo>
                  <a:pt x="265" y="210"/>
                  <a:pt x="261" y="213"/>
                  <a:pt x="256" y="213"/>
                </a:cubicBezTo>
                <a:cubicBezTo>
                  <a:pt x="251" y="213"/>
                  <a:pt x="247" y="210"/>
                  <a:pt x="246" y="206"/>
                </a:cubicBezTo>
                <a:cubicBezTo>
                  <a:pt x="226" y="147"/>
                  <a:pt x="226" y="147"/>
                  <a:pt x="226" y="147"/>
                </a:cubicBezTo>
                <a:cubicBezTo>
                  <a:pt x="191" y="311"/>
                  <a:pt x="191" y="311"/>
                  <a:pt x="191" y="311"/>
                </a:cubicBezTo>
                <a:cubicBezTo>
                  <a:pt x="190" y="316"/>
                  <a:pt x="186" y="320"/>
                  <a:pt x="181" y="320"/>
                </a:cubicBezTo>
                <a:close/>
              </a:path>
            </a:pathLst>
          </a:cu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TextBox 19">
            <a:extLst>
              <a:ext uri="{FF2B5EF4-FFF2-40B4-BE49-F238E27FC236}">
                <a16:creationId xmlns:a16="http://schemas.microsoft.com/office/drawing/2014/main" id="{6AD48D04-C502-413D-858B-61B7D187D287}"/>
              </a:ext>
            </a:extLst>
          </p:cNvPr>
          <p:cNvSpPr txBox="1"/>
          <p:nvPr/>
        </p:nvSpPr>
        <p:spPr>
          <a:xfrm>
            <a:off x="9689988" y="4316382"/>
            <a:ext cx="1852175" cy="123111"/>
          </a:xfrm>
          <a:prstGeom prst="rect">
            <a:avLst/>
          </a:prstGeom>
          <a:noFill/>
        </p:spPr>
        <p:txBody>
          <a:bodyPr wrap="square" lIns="0" tIns="0" rIns="0" bIns="0" rtlCol="0">
            <a:spAutoFit/>
          </a:bodyPr>
          <a:lstStyle/>
          <a:p>
            <a:pPr algn="ctr">
              <a:spcBef>
                <a:spcPts val="600"/>
              </a:spcBef>
              <a:buSzPct val="100000"/>
            </a:pPr>
            <a:r>
              <a:rPr lang="en-US" sz="800" dirty="0">
                <a:solidFill>
                  <a:srgbClr val="313131"/>
                </a:solidFill>
              </a:rPr>
              <a:t>Illustrative impact</a:t>
            </a:r>
          </a:p>
        </p:txBody>
      </p:sp>
      <p:pic>
        <p:nvPicPr>
          <p:cNvPr id="22" name="Picture 21">
            <a:extLst>
              <a:ext uri="{FF2B5EF4-FFF2-40B4-BE49-F238E27FC236}">
                <a16:creationId xmlns:a16="http://schemas.microsoft.com/office/drawing/2014/main" id="{6907C0AE-46DA-4E9D-B659-1AA4F0FD8778}"/>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9624816" y="4478039"/>
            <a:ext cx="2034113" cy="1342000"/>
          </a:xfrm>
          <a:prstGeom prst="rect">
            <a:avLst/>
          </a:prstGeom>
        </p:spPr>
      </p:pic>
      <p:sp>
        <p:nvSpPr>
          <p:cNvPr id="563" name="TextBox 562">
            <a:extLst>
              <a:ext uri="{FF2B5EF4-FFF2-40B4-BE49-F238E27FC236}">
                <a16:creationId xmlns:a16="http://schemas.microsoft.com/office/drawing/2014/main" id="{C3FFFE16-C309-4C7A-9BAD-D6DC564174AD}"/>
              </a:ext>
            </a:extLst>
          </p:cNvPr>
          <p:cNvSpPr txBox="1"/>
          <p:nvPr/>
        </p:nvSpPr>
        <p:spPr>
          <a:xfrm>
            <a:off x="9612932" y="5836961"/>
            <a:ext cx="2156994" cy="307777"/>
          </a:xfrm>
          <a:prstGeom prst="rect">
            <a:avLst/>
          </a:prstGeom>
          <a:noFill/>
        </p:spPr>
        <p:txBody>
          <a:bodyPr wrap="square" lIns="0" tIns="0" rIns="0" bIns="0" rtlCol="0">
            <a:spAutoFit/>
          </a:bodyPr>
          <a:lstStyle/>
          <a:p>
            <a:pPr algn="ctr">
              <a:spcBef>
                <a:spcPts val="600"/>
              </a:spcBef>
              <a:buSzPct val="100000"/>
            </a:pPr>
            <a:r>
              <a:rPr lang="en-US" sz="1000" i="1" dirty="0">
                <a:solidFill>
                  <a:srgbClr val="313131"/>
                </a:solidFill>
              </a:rPr>
              <a:t>Reduction in C&amp;I sales &amp; collection efficiency</a:t>
            </a:r>
          </a:p>
        </p:txBody>
      </p:sp>
      <p:sp>
        <p:nvSpPr>
          <p:cNvPr id="564" name="TextBox 563">
            <a:extLst>
              <a:ext uri="{FF2B5EF4-FFF2-40B4-BE49-F238E27FC236}">
                <a16:creationId xmlns:a16="http://schemas.microsoft.com/office/drawing/2014/main" id="{1C4047E1-7C8F-4AD1-A594-6CFFCBF3E43B}"/>
              </a:ext>
            </a:extLst>
          </p:cNvPr>
          <p:cNvSpPr txBox="1"/>
          <p:nvPr/>
        </p:nvSpPr>
        <p:spPr>
          <a:xfrm>
            <a:off x="3213732" y="6488858"/>
            <a:ext cx="6108111" cy="123111"/>
          </a:xfrm>
          <a:prstGeom prst="rect">
            <a:avLst/>
          </a:prstGeom>
          <a:noFill/>
        </p:spPr>
        <p:txBody>
          <a:bodyPr wrap="square" lIns="0" tIns="0" rIns="0" bIns="0" rtlCol="0">
            <a:spAutoFit/>
          </a:bodyPr>
          <a:lstStyle/>
          <a:p>
            <a:pPr algn="just">
              <a:spcBef>
                <a:spcPts val="600"/>
              </a:spcBef>
              <a:buSzPct val="100000"/>
            </a:pPr>
            <a:r>
              <a:rPr lang="en-US" sz="800" i="1" dirty="0">
                <a:solidFill>
                  <a:srgbClr val="313131"/>
                </a:solidFill>
              </a:rPr>
              <a:t>Source: MNRE RE Targets, WBSEDCL Annual Reports, Tariff Orders. Assumptions built in for each computation</a:t>
            </a:r>
          </a:p>
        </p:txBody>
      </p:sp>
    </p:spTree>
    <p:extLst>
      <p:ext uri="{BB962C8B-B14F-4D97-AF65-F5344CB8AC3E}">
        <p14:creationId xmlns:p14="http://schemas.microsoft.com/office/powerpoint/2010/main" val="709593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 name="Object 108" hidden="1"/>
          <p:cNvGraphicFramePr>
            <a:graphicFrameLocks noChangeAspect="1"/>
          </p:cNvGraphicFramePr>
          <p:nvPr>
            <p:custDataLst>
              <p:tags r:id="rId1"/>
            </p:custDataLst>
            <p:extLst>
              <p:ext uri="{D42A27DB-BD31-4B8C-83A1-F6EECF244321}">
                <p14:modId xmlns:p14="http://schemas.microsoft.com/office/powerpoint/2010/main" val="736283225"/>
              </p:ext>
            </p:extLst>
          </p:nvPr>
        </p:nvGraphicFramePr>
        <p:xfrm>
          <a:off x="1144591" y="1591"/>
          <a:ext cx="1587" cy="1587"/>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109" name="Object 108" hidden="1"/>
                      <p:cNvPicPr/>
                      <p:nvPr/>
                    </p:nvPicPr>
                    <p:blipFill>
                      <a:blip r:embed="rId6"/>
                      <a:stretch>
                        <a:fillRect/>
                      </a:stretch>
                    </p:blipFill>
                    <p:spPr>
                      <a:xfrm>
                        <a:off x="1144591" y="1591"/>
                        <a:ext cx="1587" cy="1587"/>
                      </a:xfrm>
                      <a:prstGeom prst="rect">
                        <a:avLst/>
                      </a:prstGeom>
                    </p:spPr>
                  </p:pic>
                </p:oleObj>
              </mc:Fallback>
            </mc:AlternateContent>
          </a:graphicData>
        </a:graphic>
      </p:graphicFrame>
      <p:sp>
        <p:nvSpPr>
          <p:cNvPr id="2" name="Rectangle 1" hidden="1"/>
          <p:cNvSpPr/>
          <p:nvPr>
            <p:custDataLst>
              <p:tags r:id="rId2"/>
            </p:custDataLst>
          </p:nvPr>
        </p:nvSpPr>
        <p:spPr bwMode="gray">
          <a:xfrm>
            <a:off x="114300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lang="en-US" sz="2000" dirty="0">
              <a:solidFill>
                <a:schemeClr val="bg1"/>
              </a:solidFill>
              <a:latin typeface="Verdana" panose="020B0604030504040204" pitchFamily="34" charset="0"/>
              <a:ea typeface="+mj-ea"/>
              <a:cs typeface="+mj-cs"/>
              <a:sym typeface="Verdana" panose="020B0604030504040204" pitchFamily="34" charset="0"/>
            </a:endParaRPr>
          </a:p>
        </p:txBody>
      </p:sp>
      <p:sp>
        <p:nvSpPr>
          <p:cNvPr id="71" name="Rectangle 70"/>
          <p:cNvSpPr/>
          <p:nvPr/>
        </p:nvSpPr>
        <p:spPr bwMode="gray">
          <a:xfrm>
            <a:off x="3405730" y="1302769"/>
            <a:ext cx="7767432" cy="1909901"/>
          </a:xfrm>
          <a:prstGeom prst="rect">
            <a:avLst/>
          </a:prstGeom>
          <a:solidFill>
            <a:srgbClr val="86BC25">
              <a:alpha val="26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 name="Title 2"/>
          <p:cNvSpPr>
            <a:spLocks noGrp="1"/>
          </p:cNvSpPr>
          <p:nvPr>
            <p:ph type="title"/>
          </p:nvPr>
        </p:nvSpPr>
        <p:spPr/>
        <p:txBody>
          <a:bodyPr vert="horz"/>
          <a:lstStyle/>
          <a:p>
            <a:r>
              <a:rPr lang="en-US" sz="1800" dirty="0"/>
              <a:t>Our Understanding of Project Objective and Statement of Work</a:t>
            </a:r>
          </a:p>
        </p:txBody>
      </p:sp>
      <p:sp>
        <p:nvSpPr>
          <p:cNvPr id="98" name="Rectangle 97"/>
          <p:cNvSpPr/>
          <p:nvPr/>
        </p:nvSpPr>
        <p:spPr bwMode="gray">
          <a:xfrm>
            <a:off x="3486085" y="1520687"/>
            <a:ext cx="7567764" cy="1450778"/>
          </a:xfrm>
          <a:prstGeom prst="rect">
            <a:avLst/>
          </a:prstGeom>
          <a:noFill/>
          <a:ln w="19050" algn="ctr">
            <a:noFill/>
            <a:miter lim="800000"/>
            <a:headEnd/>
            <a:tailEnd/>
          </a:ln>
        </p:spPr>
        <p:txBody>
          <a:bodyPr wrap="square" lIns="0" tIns="88900" rIns="88900" bIns="88900" rtlCol="0" anchor="ctr"/>
          <a:lstStyle/>
          <a:p>
            <a:pPr marL="74250">
              <a:lnSpc>
                <a:spcPct val="114000"/>
              </a:lnSpc>
              <a:spcAft>
                <a:spcPts val="600"/>
              </a:spcAft>
            </a:pPr>
            <a:r>
              <a:rPr lang="en-US" sz="1100" b="1" i="1" dirty="0">
                <a:solidFill>
                  <a:srgbClr val="012169"/>
                </a:solidFill>
              </a:rPr>
              <a:t>Your needs</a:t>
            </a:r>
          </a:p>
          <a:p>
            <a:pPr marL="360000" indent="-285750">
              <a:lnSpc>
                <a:spcPct val="114000"/>
              </a:lnSpc>
              <a:spcAft>
                <a:spcPts val="600"/>
              </a:spcAft>
              <a:buFont typeface="Arial" panose="020B0604020202020204" pitchFamily="34" charset="0"/>
              <a:buChar char="•"/>
            </a:pPr>
            <a:r>
              <a:rPr lang="en-US" sz="1100" i="1" dirty="0">
                <a:solidFill>
                  <a:prstClr val="black"/>
                </a:solidFill>
              </a:rPr>
              <a:t>To </a:t>
            </a:r>
            <a:r>
              <a:rPr lang="en-US" sz="1100" b="1" i="1" dirty="0">
                <a:solidFill>
                  <a:prstClr val="black"/>
                </a:solidFill>
              </a:rPr>
              <a:t>assess the key cost-drivers and factors influencing the financial, operational and regulatory performances</a:t>
            </a:r>
            <a:r>
              <a:rPr lang="en-US" sz="1100" i="1" dirty="0">
                <a:solidFill>
                  <a:prstClr val="black"/>
                </a:solidFill>
              </a:rPr>
              <a:t> of West Bengal power utilities</a:t>
            </a:r>
            <a:endParaRPr lang="en-US" sz="1100" b="1" i="1" dirty="0">
              <a:solidFill>
                <a:prstClr val="black"/>
              </a:solidFill>
            </a:endParaRPr>
          </a:p>
          <a:p>
            <a:pPr marL="360000" indent="-285750">
              <a:lnSpc>
                <a:spcPct val="114000"/>
              </a:lnSpc>
              <a:spcAft>
                <a:spcPts val="600"/>
              </a:spcAft>
              <a:buFont typeface="Arial" panose="020B0604020202020204" pitchFamily="34" charset="0"/>
              <a:buChar char="•"/>
            </a:pPr>
            <a:r>
              <a:rPr lang="en-US" sz="1100" i="1" dirty="0">
                <a:solidFill>
                  <a:prstClr val="black"/>
                </a:solidFill>
              </a:rPr>
              <a:t>To evaluate </a:t>
            </a:r>
            <a:r>
              <a:rPr lang="en-US" sz="1100" b="1" i="1" dirty="0">
                <a:solidFill>
                  <a:prstClr val="black"/>
                </a:solidFill>
              </a:rPr>
              <a:t>potential impact of emerging sector trends and Govt. programs / schemes</a:t>
            </a:r>
            <a:r>
              <a:rPr lang="en-US" sz="1100" i="1" dirty="0">
                <a:solidFill>
                  <a:prstClr val="black"/>
                </a:solidFill>
              </a:rPr>
              <a:t> on performance of the state power utilities</a:t>
            </a:r>
          </a:p>
          <a:p>
            <a:pPr marL="360000" indent="-285750">
              <a:lnSpc>
                <a:spcPct val="114000"/>
              </a:lnSpc>
              <a:spcAft>
                <a:spcPts val="600"/>
              </a:spcAft>
              <a:buFont typeface="Arial" panose="020B0604020202020204" pitchFamily="34" charset="0"/>
              <a:buChar char="•"/>
            </a:pPr>
            <a:r>
              <a:rPr lang="en-US" sz="1100" i="1" dirty="0">
                <a:solidFill>
                  <a:prstClr val="black"/>
                </a:solidFill>
              </a:rPr>
              <a:t>To create a </a:t>
            </a:r>
            <a:r>
              <a:rPr lang="en-US" sz="1100" b="1" i="1" dirty="0">
                <a:solidFill>
                  <a:prstClr val="black"/>
                </a:solidFill>
              </a:rPr>
              <a:t>state sector vision, identify action items and formulate actionable roadmap</a:t>
            </a:r>
            <a:r>
              <a:rPr lang="en-US" sz="1100" i="1" dirty="0">
                <a:solidFill>
                  <a:prstClr val="black"/>
                </a:solidFill>
              </a:rPr>
              <a:t> for achieving </a:t>
            </a:r>
            <a:r>
              <a:rPr lang="en-US" sz="1100" b="1" i="1" dirty="0">
                <a:solidFill>
                  <a:prstClr val="black"/>
                </a:solidFill>
              </a:rPr>
              <a:t>financial sustainability</a:t>
            </a:r>
            <a:r>
              <a:rPr lang="en-US" sz="1100" i="1" dirty="0">
                <a:solidFill>
                  <a:prstClr val="black"/>
                </a:solidFill>
              </a:rPr>
              <a:t> of the utilities and </a:t>
            </a:r>
            <a:r>
              <a:rPr lang="en-US" sz="1100" b="1" i="1" dirty="0">
                <a:solidFill>
                  <a:prstClr val="black"/>
                </a:solidFill>
              </a:rPr>
              <a:t>seamless transitioning</a:t>
            </a:r>
            <a:r>
              <a:rPr lang="en-US" sz="1100" i="1" dirty="0">
                <a:solidFill>
                  <a:prstClr val="black"/>
                </a:solidFill>
              </a:rPr>
              <a:t> with the emerging sector trends</a:t>
            </a:r>
          </a:p>
        </p:txBody>
      </p:sp>
      <p:sp>
        <p:nvSpPr>
          <p:cNvPr id="70" name="Flowchart: Manual Operation 69"/>
          <p:cNvSpPr/>
          <p:nvPr/>
        </p:nvSpPr>
        <p:spPr bwMode="gray">
          <a:xfrm rot="5400000">
            <a:off x="1964849" y="1684879"/>
            <a:ext cx="1890012" cy="1125791"/>
          </a:xfrm>
          <a:prstGeom prst="flowChartManualOperati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72" name="Group 71"/>
          <p:cNvGrpSpPr/>
          <p:nvPr/>
        </p:nvGrpSpPr>
        <p:grpSpPr>
          <a:xfrm>
            <a:off x="1470802" y="1678116"/>
            <a:ext cx="1380025" cy="1137600"/>
            <a:chOff x="376238" y="1025743"/>
            <a:chExt cx="1196626" cy="1039540"/>
          </a:xfrm>
        </p:grpSpPr>
        <p:sp>
          <p:nvSpPr>
            <p:cNvPr id="73" name="Freeform 9"/>
            <p:cNvSpPr>
              <a:spLocks/>
            </p:cNvSpPr>
            <p:nvPr/>
          </p:nvSpPr>
          <p:spPr bwMode="auto">
            <a:xfrm>
              <a:off x="376238" y="1025743"/>
              <a:ext cx="1196626" cy="1039540"/>
            </a:xfrm>
            <a:custGeom>
              <a:avLst/>
              <a:gdLst>
                <a:gd name="T0" fmla="*/ 259 w 1036"/>
                <a:gd name="T1" fmla="*/ 900 h 900"/>
                <a:gd name="T2" fmla="*/ 0 w 1036"/>
                <a:gd name="T3" fmla="*/ 451 h 900"/>
                <a:gd name="T4" fmla="*/ 259 w 1036"/>
                <a:gd name="T5" fmla="*/ 0 h 900"/>
                <a:gd name="T6" fmla="*/ 777 w 1036"/>
                <a:gd name="T7" fmla="*/ 0 h 900"/>
                <a:gd name="T8" fmla="*/ 1036 w 1036"/>
                <a:gd name="T9" fmla="*/ 451 h 900"/>
                <a:gd name="T10" fmla="*/ 777 w 1036"/>
                <a:gd name="T11" fmla="*/ 900 h 900"/>
                <a:gd name="T12" fmla="*/ 259 w 1036"/>
                <a:gd name="T13" fmla="*/ 900 h 900"/>
              </a:gdLst>
              <a:ahLst/>
              <a:cxnLst>
                <a:cxn ang="0">
                  <a:pos x="T0" y="T1"/>
                </a:cxn>
                <a:cxn ang="0">
                  <a:pos x="T2" y="T3"/>
                </a:cxn>
                <a:cxn ang="0">
                  <a:pos x="T4" y="T5"/>
                </a:cxn>
                <a:cxn ang="0">
                  <a:pos x="T6" y="T7"/>
                </a:cxn>
                <a:cxn ang="0">
                  <a:pos x="T8" y="T9"/>
                </a:cxn>
                <a:cxn ang="0">
                  <a:pos x="T10" y="T11"/>
                </a:cxn>
                <a:cxn ang="0">
                  <a:pos x="T12" y="T13"/>
                </a:cxn>
              </a:cxnLst>
              <a:rect l="0" t="0" r="r" b="b"/>
              <a:pathLst>
                <a:path w="1036" h="900">
                  <a:moveTo>
                    <a:pt x="259" y="900"/>
                  </a:moveTo>
                  <a:lnTo>
                    <a:pt x="0" y="451"/>
                  </a:lnTo>
                  <a:lnTo>
                    <a:pt x="259" y="0"/>
                  </a:lnTo>
                  <a:lnTo>
                    <a:pt x="777" y="0"/>
                  </a:lnTo>
                  <a:lnTo>
                    <a:pt x="1036" y="451"/>
                  </a:lnTo>
                  <a:lnTo>
                    <a:pt x="777" y="900"/>
                  </a:lnTo>
                  <a:lnTo>
                    <a:pt x="259" y="90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10"/>
            <p:cNvSpPr>
              <a:spLocks/>
            </p:cNvSpPr>
            <p:nvPr/>
          </p:nvSpPr>
          <p:spPr bwMode="auto">
            <a:xfrm>
              <a:off x="489432" y="1123922"/>
              <a:ext cx="971393" cy="844338"/>
            </a:xfrm>
            <a:custGeom>
              <a:avLst/>
              <a:gdLst>
                <a:gd name="T0" fmla="*/ 210 w 841"/>
                <a:gd name="T1" fmla="*/ 731 h 731"/>
                <a:gd name="T2" fmla="*/ 0 w 841"/>
                <a:gd name="T3" fmla="*/ 366 h 731"/>
                <a:gd name="T4" fmla="*/ 210 w 841"/>
                <a:gd name="T5" fmla="*/ 0 h 731"/>
                <a:gd name="T6" fmla="*/ 631 w 841"/>
                <a:gd name="T7" fmla="*/ 0 h 731"/>
                <a:gd name="T8" fmla="*/ 841 w 841"/>
                <a:gd name="T9" fmla="*/ 366 h 731"/>
                <a:gd name="T10" fmla="*/ 631 w 841"/>
                <a:gd name="T11" fmla="*/ 731 h 731"/>
                <a:gd name="T12" fmla="*/ 210 w 841"/>
                <a:gd name="T13" fmla="*/ 731 h 731"/>
              </a:gdLst>
              <a:ahLst/>
              <a:cxnLst>
                <a:cxn ang="0">
                  <a:pos x="T0" y="T1"/>
                </a:cxn>
                <a:cxn ang="0">
                  <a:pos x="T2" y="T3"/>
                </a:cxn>
                <a:cxn ang="0">
                  <a:pos x="T4" y="T5"/>
                </a:cxn>
                <a:cxn ang="0">
                  <a:pos x="T6" y="T7"/>
                </a:cxn>
                <a:cxn ang="0">
                  <a:pos x="T8" y="T9"/>
                </a:cxn>
                <a:cxn ang="0">
                  <a:pos x="T10" y="T11"/>
                </a:cxn>
                <a:cxn ang="0">
                  <a:pos x="T12" y="T13"/>
                </a:cxn>
              </a:cxnLst>
              <a:rect l="0" t="0" r="r" b="b"/>
              <a:pathLst>
                <a:path w="841" h="731">
                  <a:moveTo>
                    <a:pt x="210" y="731"/>
                  </a:moveTo>
                  <a:lnTo>
                    <a:pt x="0" y="366"/>
                  </a:lnTo>
                  <a:lnTo>
                    <a:pt x="210" y="0"/>
                  </a:lnTo>
                  <a:lnTo>
                    <a:pt x="631" y="0"/>
                  </a:lnTo>
                  <a:lnTo>
                    <a:pt x="841" y="366"/>
                  </a:lnTo>
                  <a:lnTo>
                    <a:pt x="631" y="731"/>
                  </a:lnTo>
                  <a:lnTo>
                    <a:pt x="210" y="7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7" name="Freeform 194"/>
            <p:cNvSpPr>
              <a:spLocks noEditPoints="1"/>
            </p:cNvSpPr>
            <p:nvPr/>
          </p:nvSpPr>
          <p:spPr bwMode="auto">
            <a:xfrm>
              <a:off x="723902" y="1375959"/>
              <a:ext cx="492784" cy="364936"/>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sz="800" kern="0" dirty="0">
                <a:solidFill>
                  <a:prstClr val="black"/>
                </a:solidFill>
              </a:endParaRPr>
            </a:p>
          </p:txBody>
        </p:sp>
      </p:grpSp>
      <p:sp>
        <p:nvSpPr>
          <p:cNvPr id="100" name="TextBox 99"/>
          <p:cNvSpPr txBox="1"/>
          <p:nvPr/>
        </p:nvSpPr>
        <p:spPr>
          <a:xfrm>
            <a:off x="1149526" y="3000664"/>
            <a:ext cx="2176256" cy="276999"/>
          </a:xfrm>
          <a:prstGeom prst="rect">
            <a:avLst/>
          </a:prstGeom>
          <a:noFill/>
        </p:spPr>
        <p:txBody>
          <a:bodyPr wrap="square" lIns="0" tIns="0" rIns="0" bIns="0" rtlCol="0">
            <a:spAutoFit/>
          </a:bodyPr>
          <a:lstStyle/>
          <a:p>
            <a:pPr algn="ctr">
              <a:spcBef>
                <a:spcPts val="600"/>
              </a:spcBef>
              <a:buSzPct val="100000"/>
            </a:pPr>
            <a:r>
              <a:rPr lang="en-US" b="1" dirty="0">
                <a:solidFill>
                  <a:srgbClr val="86BC25"/>
                </a:solidFill>
              </a:rPr>
              <a:t>Objectives</a:t>
            </a:r>
            <a:endParaRPr lang="en-IN" b="1" dirty="0">
              <a:solidFill>
                <a:srgbClr val="86BC25"/>
              </a:solidFill>
            </a:endParaRPr>
          </a:p>
        </p:txBody>
      </p:sp>
      <p:sp>
        <p:nvSpPr>
          <p:cNvPr id="101" name="Rectangle 100"/>
          <p:cNvSpPr/>
          <p:nvPr/>
        </p:nvSpPr>
        <p:spPr bwMode="gray">
          <a:xfrm>
            <a:off x="3380444" y="3420298"/>
            <a:ext cx="7794579" cy="3066764"/>
          </a:xfrm>
          <a:prstGeom prst="rect">
            <a:avLst/>
          </a:prstGeom>
          <a:solidFill>
            <a:srgbClr val="A0DCFF">
              <a:alpha val="31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2" name="Rectangle 101"/>
          <p:cNvSpPr/>
          <p:nvPr/>
        </p:nvSpPr>
        <p:spPr bwMode="gray">
          <a:xfrm>
            <a:off x="3493704" y="4504174"/>
            <a:ext cx="7567764" cy="318294"/>
          </a:xfrm>
          <a:prstGeom prst="rect">
            <a:avLst/>
          </a:prstGeom>
          <a:noFill/>
          <a:ln w="19050" algn="ctr">
            <a:noFill/>
            <a:miter lim="800000"/>
            <a:headEnd/>
            <a:tailEnd/>
          </a:ln>
        </p:spPr>
        <p:txBody>
          <a:bodyPr wrap="square" lIns="0" tIns="88900" rIns="88900" bIns="88900" rtlCol="0" anchor="t"/>
          <a:lstStyle/>
          <a:p>
            <a:pPr marL="74250">
              <a:spcAft>
                <a:spcPts val="600"/>
              </a:spcAft>
            </a:pPr>
            <a:r>
              <a:rPr lang="en-US" sz="1200" b="1" i="1" dirty="0">
                <a:solidFill>
                  <a:srgbClr val="012169"/>
                </a:solidFill>
              </a:rPr>
              <a:t>External environment</a:t>
            </a:r>
            <a:endParaRPr lang="en-US" sz="1200" dirty="0">
              <a:solidFill>
                <a:prstClr val="black"/>
              </a:solidFill>
            </a:endParaRPr>
          </a:p>
        </p:txBody>
      </p:sp>
      <p:sp>
        <p:nvSpPr>
          <p:cNvPr id="103" name="TextBox 102"/>
          <p:cNvSpPr txBox="1"/>
          <p:nvPr/>
        </p:nvSpPr>
        <p:spPr>
          <a:xfrm>
            <a:off x="3594855" y="4854920"/>
            <a:ext cx="7124302" cy="1019365"/>
          </a:xfrm>
          <a:prstGeom prst="rect">
            <a:avLst/>
          </a:prstGeom>
          <a:noFill/>
        </p:spPr>
        <p:txBody>
          <a:bodyPr vert="horz" wrap="square" lIns="0" tIns="0" rIns="0" bIns="0" rtlCol="0" anchor="ctr">
            <a:noAutofit/>
          </a:bodyPr>
          <a:lstStyle/>
          <a:p>
            <a:pPr marL="171450" indent="-171450">
              <a:spcAft>
                <a:spcPts val="800"/>
              </a:spcAft>
              <a:buSzPct val="100000"/>
              <a:buFont typeface="Arial" panose="020B0604020202020204" pitchFamily="34" charset="0"/>
              <a:buChar char="•"/>
            </a:pPr>
            <a:r>
              <a:rPr lang="en-US" sz="1100" i="1" dirty="0"/>
              <a:t>How will the power demand-supply scenario of West Bengal change in the medium and long term?</a:t>
            </a:r>
          </a:p>
          <a:p>
            <a:pPr marL="171450" indent="-171450">
              <a:spcAft>
                <a:spcPts val="800"/>
              </a:spcAft>
              <a:buSzPct val="100000"/>
              <a:buFont typeface="Arial" panose="020B0604020202020204" pitchFamily="34" charset="0"/>
              <a:buChar char="•"/>
            </a:pPr>
            <a:r>
              <a:rPr lang="en-US" sz="1100" i="1" dirty="0"/>
              <a:t>How are the state power utilities placed in embracing the emerging sector trends?</a:t>
            </a:r>
          </a:p>
          <a:p>
            <a:pPr marL="171450" indent="-171450">
              <a:spcAft>
                <a:spcPts val="800"/>
              </a:spcAft>
              <a:buSzPct val="100000"/>
              <a:buFont typeface="Arial" panose="020B0604020202020204" pitchFamily="34" charset="0"/>
              <a:buChar char="•"/>
            </a:pPr>
            <a:r>
              <a:rPr lang="en-US" sz="1100" i="1" dirty="0"/>
              <a:t>What will be the potential impacts of various Govt. schemes on utility performances?</a:t>
            </a:r>
          </a:p>
        </p:txBody>
      </p:sp>
      <p:sp>
        <p:nvSpPr>
          <p:cNvPr id="104" name="TextBox 103"/>
          <p:cNvSpPr txBox="1"/>
          <p:nvPr/>
        </p:nvSpPr>
        <p:spPr>
          <a:xfrm>
            <a:off x="3593807" y="3763877"/>
            <a:ext cx="7125425" cy="753752"/>
          </a:xfrm>
          <a:prstGeom prst="rect">
            <a:avLst/>
          </a:prstGeom>
          <a:noFill/>
        </p:spPr>
        <p:txBody>
          <a:bodyPr vert="horz" wrap="square" lIns="0" tIns="0" rIns="0" bIns="0" rtlCol="0" anchor="ctr">
            <a:noAutofit/>
          </a:bodyPr>
          <a:lstStyle/>
          <a:p>
            <a:pPr marL="171450" indent="-171450">
              <a:spcAft>
                <a:spcPts val="800"/>
              </a:spcAft>
              <a:buSzPct val="100000"/>
              <a:buFont typeface="Arial" panose="020B0604020202020204" pitchFamily="34" charset="0"/>
              <a:buChar char="•"/>
            </a:pPr>
            <a:r>
              <a:rPr lang="en-US" sz="1100" i="1" dirty="0"/>
              <a:t>What are the key factors behind the current financial, operational and regulatory performance of state power utilities?</a:t>
            </a:r>
          </a:p>
          <a:p>
            <a:pPr marL="171450" indent="-171450">
              <a:spcAft>
                <a:spcPts val="800"/>
              </a:spcAft>
              <a:buSzPct val="100000"/>
              <a:buFont typeface="Arial" panose="020B0604020202020204" pitchFamily="34" charset="0"/>
              <a:buChar char="•"/>
            </a:pPr>
            <a:r>
              <a:rPr lang="en-US" sz="1100" i="1" dirty="0"/>
              <a:t>What are the potential measures to overcome current performance challenges?</a:t>
            </a:r>
          </a:p>
        </p:txBody>
      </p:sp>
      <p:sp>
        <p:nvSpPr>
          <p:cNvPr id="114" name="Rectangle 113"/>
          <p:cNvSpPr/>
          <p:nvPr/>
        </p:nvSpPr>
        <p:spPr bwMode="gray">
          <a:xfrm>
            <a:off x="3549909" y="3445584"/>
            <a:ext cx="7567764" cy="318294"/>
          </a:xfrm>
          <a:prstGeom prst="rect">
            <a:avLst/>
          </a:prstGeom>
          <a:noFill/>
          <a:ln w="19050" algn="ctr">
            <a:noFill/>
            <a:miter lim="800000"/>
            <a:headEnd/>
            <a:tailEnd/>
          </a:ln>
        </p:spPr>
        <p:txBody>
          <a:bodyPr wrap="square" lIns="0" tIns="88900" rIns="88900" bIns="88900" rtlCol="0" anchor="t"/>
          <a:lstStyle/>
          <a:p>
            <a:pPr marL="74250">
              <a:spcAft>
                <a:spcPts val="600"/>
              </a:spcAft>
            </a:pPr>
            <a:r>
              <a:rPr lang="en-US" sz="1200" b="1" i="1" dirty="0">
                <a:solidFill>
                  <a:srgbClr val="012169"/>
                </a:solidFill>
              </a:rPr>
              <a:t>Internal challenges</a:t>
            </a:r>
            <a:endParaRPr lang="en-US" sz="1200" dirty="0">
              <a:solidFill>
                <a:prstClr val="black"/>
              </a:solidFill>
            </a:endParaRPr>
          </a:p>
        </p:txBody>
      </p:sp>
      <p:sp>
        <p:nvSpPr>
          <p:cNvPr id="67" name="Flowchart: Manual Operation 5"/>
          <p:cNvSpPr/>
          <p:nvPr/>
        </p:nvSpPr>
        <p:spPr bwMode="gray">
          <a:xfrm rot="5400000">
            <a:off x="1366853" y="4371105"/>
            <a:ext cx="3086004" cy="1125791"/>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000 w 10000"/>
              <a:gd name="connsiteY2" fmla="*/ 10000 h 10000"/>
              <a:gd name="connsiteX3" fmla="*/ 3088 w 10000"/>
              <a:gd name="connsiteY3" fmla="*/ 10000 h 10000"/>
              <a:gd name="connsiteX4" fmla="*/ 0 w 10000"/>
              <a:gd name="connsiteY4" fmla="*/ 0 h 10000"/>
              <a:gd name="connsiteX0" fmla="*/ 0 w 10000"/>
              <a:gd name="connsiteY0" fmla="*/ 0 h 10000"/>
              <a:gd name="connsiteX1" fmla="*/ 10000 w 10000"/>
              <a:gd name="connsiteY1" fmla="*/ 0 h 10000"/>
              <a:gd name="connsiteX2" fmla="*/ 6272 w 10000"/>
              <a:gd name="connsiteY2" fmla="*/ 10000 h 10000"/>
              <a:gd name="connsiteX3" fmla="*/ 3088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10000" y="0"/>
                </a:lnTo>
                <a:lnTo>
                  <a:pt x="6272" y="10000"/>
                </a:lnTo>
                <a:lnTo>
                  <a:pt x="3088" y="10000"/>
                </a:lnTo>
                <a:lnTo>
                  <a:pt x="0" y="0"/>
                </a:lnTo>
                <a:close/>
              </a:path>
            </a:pathLst>
          </a:custGeom>
          <a:gradFill>
            <a:gsLst>
              <a:gs pos="0">
                <a:srgbClr val="00A3E0">
                  <a:alpha val="2000"/>
                </a:srgbClr>
              </a:gs>
              <a:gs pos="74000">
                <a:srgbClr val="00A3E0">
                  <a:alpha val="62000"/>
                </a:srgbClr>
              </a:gs>
              <a:gs pos="83000">
                <a:srgbClr val="00A3E0">
                  <a:alpha val="73000"/>
                </a:srgbClr>
              </a:gs>
              <a:gs pos="100000">
                <a:srgbClr val="00A3E0"/>
              </a:gs>
            </a:gsLst>
            <a:lin ang="5400000" scaled="1"/>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115" name="Group 114"/>
          <p:cNvGrpSpPr/>
          <p:nvPr/>
        </p:nvGrpSpPr>
        <p:grpSpPr>
          <a:xfrm>
            <a:off x="1470802" y="4292321"/>
            <a:ext cx="1380025" cy="1136386"/>
            <a:chOff x="376238" y="3677503"/>
            <a:chExt cx="1196626" cy="1039540"/>
          </a:xfrm>
        </p:grpSpPr>
        <p:sp>
          <p:nvSpPr>
            <p:cNvPr id="116" name="Freeform 9"/>
            <p:cNvSpPr>
              <a:spLocks/>
            </p:cNvSpPr>
            <p:nvPr/>
          </p:nvSpPr>
          <p:spPr bwMode="auto">
            <a:xfrm>
              <a:off x="376238" y="3677503"/>
              <a:ext cx="1196626" cy="1039540"/>
            </a:xfrm>
            <a:custGeom>
              <a:avLst/>
              <a:gdLst>
                <a:gd name="T0" fmla="*/ 259 w 1036"/>
                <a:gd name="T1" fmla="*/ 900 h 900"/>
                <a:gd name="T2" fmla="*/ 0 w 1036"/>
                <a:gd name="T3" fmla="*/ 451 h 900"/>
                <a:gd name="T4" fmla="*/ 259 w 1036"/>
                <a:gd name="T5" fmla="*/ 0 h 900"/>
                <a:gd name="T6" fmla="*/ 777 w 1036"/>
                <a:gd name="T7" fmla="*/ 0 h 900"/>
                <a:gd name="T8" fmla="*/ 1036 w 1036"/>
                <a:gd name="T9" fmla="*/ 451 h 900"/>
                <a:gd name="T10" fmla="*/ 777 w 1036"/>
                <a:gd name="T11" fmla="*/ 900 h 900"/>
                <a:gd name="T12" fmla="*/ 259 w 1036"/>
                <a:gd name="T13" fmla="*/ 900 h 900"/>
              </a:gdLst>
              <a:ahLst/>
              <a:cxnLst>
                <a:cxn ang="0">
                  <a:pos x="T0" y="T1"/>
                </a:cxn>
                <a:cxn ang="0">
                  <a:pos x="T2" y="T3"/>
                </a:cxn>
                <a:cxn ang="0">
                  <a:pos x="T4" y="T5"/>
                </a:cxn>
                <a:cxn ang="0">
                  <a:pos x="T6" y="T7"/>
                </a:cxn>
                <a:cxn ang="0">
                  <a:pos x="T8" y="T9"/>
                </a:cxn>
                <a:cxn ang="0">
                  <a:pos x="T10" y="T11"/>
                </a:cxn>
                <a:cxn ang="0">
                  <a:pos x="T12" y="T13"/>
                </a:cxn>
              </a:cxnLst>
              <a:rect l="0" t="0" r="r" b="b"/>
              <a:pathLst>
                <a:path w="1036" h="900">
                  <a:moveTo>
                    <a:pt x="259" y="900"/>
                  </a:moveTo>
                  <a:lnTo>
                    <a:pt x="0" y="451"/>
                  </a:lnTo>
                  <a:lnTo>
                    <a:pt x="259" y="0"/>
                  </a:lnTo>
                  <a:lnTo>
                    <a:pt x="777" y="0"/>
                  </a:lnTo>
                  <a:lnTo>
                    <a:pt x="1036" y="451"/>
                  </a:lnTo>
                  <a:lnTo>
                    <a:pt x="777" y="900"/>
                  </a:lnTo>
                  <a:lnTo>
                    <a:pt x="259" y="900"/>
                  </a:lnTo>
                  <a:close/>
                </a:path>
              </a:pathLst>
            </a:custGeom>
            <a:solidFill>
              <a:srgbClr val="00A3E0"/>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17" name="Freeform 10"/>
            <p:cNvSpPr>
              <a:spLocks/>
            </p:cNvSpPr>
            <p:nvPr/>
          </p:nvSpPr>
          <p:spPr bwMode="auto">
            <a:xfrm>
              <a:off x="489432" y="3775682"/>
              <a:ext cx="971393" cy="844338"/>
            </a:xfrm>
            <a:custGeom>
              <a:avLst/>
              <a:gdLst>
                <a:gd name="T0" fmla="*/ 210 w 841"/>
                <a:gd name="T1" fmla="*/ 731 h 731"/>
                <a:gd name="T2" fmla="*/ 0 w 841"/>
                <a:gd name="T3" fmla="*/ 366 h 731"/>
                <a:gd name="T4" fmla="*/ 210 w 841"/>
                <a:gd name="T5" fmla="*/ 0 h 731"/>
                <a:gd name="T6" fmla="*/ 631 w 841"/>
                <a:gd name="T7" fmla="*/ 0 h 731"/>
                <a:gd name="T8" fmla="*/ 841 w 841"/>
                <a:gd name="T9" fmla="*/ 366 h 731"/>
                <a:gd name="T10" fmla="*/ 631 w 841"/>
                <a:gd name="T11" fmla="*/ 731 h 731"/>
                <a:gd name="T12" fmla="*/ 210 w 841"/>
                <a:gd name="T13" fmla="*/ 731 h 731"/>
              </a:gdLst>
              <a:ahLst/>
              <a:cxnLst>
                <a:cxn ang="0">
                  <a:pos x="T0" y="T1"/>
                </a:cxn>
                <a:cxn ang="0">
                  <a:pos x="T2" y="T3"/>
                </a:cxn>
                <a:cxn ang="0">
                  <a:pos x="T4" y="T5"/>
                </a:cxn>
                <a:cxn ang="0">
                  <a:pos x="T6" y="T7"/>
                </a:cxn>
                <a:cxn ang="0">
                  <a:pos x="T8" y="T9"/>
                </a:cxn>
                <a:cxn ang="0">
                  <a:pos x="T10" y="T11"/>
                </a:cxn>
                <a:cxn ang="0">
                  <a:pos x="T12" y="T13"/>
                </a:cxn>
              </a:cxnLst>
              <a:rect l="0" t="0" r="r" b="b"/>
              <a:pathLst>
                <a:path w="841" h="731">
                  <a:moveTo>
                    <a:pt x="210" y="731"/>
                  </a:moveTo>
                  <a:lnTo>
                    <a:pt x="0" y="366"/>
                  </a:lnTo>
                  <a:lnTo>
                    <a:pt x="210" y="0"/>
                  </a:lnTo>
                  <a:lnTo>
                    <a:pt x="631" y="0"/>
                  </a:lnTo>
                  <a:lnTo>
                    <a:pt x="841" y="366"/>
                  </a:lnTo>
                  <a:lnTo>
                    <a:pt x="631" y="731"/>
                  </a:lnTo>
                  <a:lnTo>
                    <a:pt x="210" y="7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18" name="Group 487"/>
            <p:cNvGrpSpPr>
              <a:grpSpLocks noChangeAspect="1"/>
            </p:cNvGrpSpPr>
            <p:nvPr/>
          </p:nvGrpSpPr>
          <p:grpSpPr bwMode="auto">
            <a:xfrm>
              <a:off x="794765" y="3927212"/>
              <a:ext cx="316198" cy="530320"/>
              <a:chOff x="6673" y="2008"/>
              <a:chExt cx="127" cy="213"/>
            </a:xfrm>
            <a:solidFill>
              <a:schemeClr val="tx1"/>
            </a:solidFill>
          </p:grpSpPr>
          <p:sp>
            <p:nvSpPr>
              <p:cNvPr id="119" name="Freeform 489"/>
              <p:cNvSpPr>
                <a:spLocks noEditPoints="1"/>
              </p:cNvSpPr>
              <p:nvPr/>
            </p:nvSpPr>
            <p:spPr bwMode="auto">
              <a:xfrm>
                <a:off x="6715" y="2178"/>
                <a:ext cx="43" cy="43"/>
              </a:xfrm>
              <a:custGeom>
                <a:avLst/>
                <a:gdLst>
                  <a:gd name="T0" fmla="*/ 32 w 64"/>
                  <a:gd name="T1" fmla="*/ 64 h 64"/>
                  <a:gd name="T2" fmla="*/ 0 w 64"/>
                  <a:gd name="T3" fmla="*/ 32 h 64"/>
                  <a:gd name="T4" fmla="*/ 32 w 64"/>
                  <a:gd name="T5" fmla="*/ 0 h 64"/>
                  <a:gd name="T6" fmla="*/ 64 w 64"/>
                  <a:gd name="T7" fmla="*/ 32 h 64"/>
                  <a:gd name="T8" fmla="*/ 32 w 64"/>
                  <a:gd name="T9" fmla="*/ 64 h 64"/>
                  <a:gd name="T10" fmla="*/ 32 w 64"/>
                  <a:gd name="T11" fmla="*/ 21 h 64"/>
                  <a:gd name="T12" fmla="*/ 21 w 64"/>
                  <a:gd name="T13" fmla="*/ 32 h 64"/>
                  <a:gd name="T14" fmla="*/ 32 w 64"/>
                  <a:gd name="T15" fmla="*/ 42 h 64"/>
                  <a:gd name="T16" fmla="*/ 4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14" y="64"/>
                      <a:pt x="0" y="49"/>
                      <a:pt x="0" y="32"/>
                    </a:cubicBezTo>
                    <a:cubicBezTo>
                      <a:pt x="0" y="14"/>
                      <a:pt x="14" y="0"/>
                      <a:pt x="32" y="0"/>
                    </a:cubicBezTo>
                    <a:cubicBezTo>
                      <a:pt x="49" y="0"/>
                      <a:pt x="64" y="14"/>
                      <a:pt x="64" y="32"/>
                    </a:cubicBezTo>
                    <a:cubicBezTo>
                      <a:pt x="64" y="49"/>
                      <a:pt x="49" y="64"/>
                      <a:pt x="32" y="64"/>
                    </a:cubicBezTo>
                    <a:close/>
                    <a:moveTo>
                      <a:pt x="32" y="21"/>
                    </a:moveTo>
                    <a:cubicBezTo>
                      <a:pt x="26" y="21"/>
                      <a:pt x="21" y="26"/>
                      <a:pt x="21" y="32"/>
                    </a:cubicBezTo>
                    <a:cubicBezTo>
                      <a:pt x="21" y="38"/>
                      <a:pt x="26" y="42"/>
                      <a:pt x="32" y="42"/>
                    </a:cubicBezTo>
                    <a:cubicBezTo>
                      <a:pt x="38" y="42"/>
                      <a:pt x="42" y="38"/>
                      <a:pt x="42" y="32"/>
                    </a:cubicBezTo>
                    <a:cubicBezTo>
                      <a:pt x="42" y="26"/>
                      <a:pt x="38"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sz="800" kern="0" dirty="0">
                  <a:solidFill>
                    <a:prstClr val="black"/>
                  </a:solidFill>
                </a:endParaRPr>
              </a:p>
            </p:txBody>
          </p:sp>
          <p:sp>
            <p:nvSpPr>
              <p:cNvPr id="120" name="Freeform 490"/>
              <p:cNvSpPr>
                <a:spLocks noEditPoints="1"/>
              </p:cNvSpPr>
              <p:nvPr/>
            </p:nvSpPr>
            <p:spPr bwMode="auto">
              <a:xfrm>
                <a:off x="6673" y="2008"/>
                <a:ext cx="127" cy="156"/>
              </a:xfrm>
              <a:custGeom>
                <a:avLst/>
                <a:gdLst>
                  <a:gd name="T0" fmla="*/ 116 w 191"/>
                  <a:gd name="T1" fmla="*/ 234 h 234"/>
                  <a:gd name="T2" fmla="*/ 73 w 191"/>
                  <a:gd name="T3" fmla="*/ 234 h 234"/>
                  <a:gd name="T4" fmla="*/ 63 w 191"/>
                  <a:gd name="T5" fmla="*/ 224 h 234"/>
                  <a:gd name="T6" fmla="*/ 63 w 191"/>
                  <a:gd name="T7" fmla="*/ 138 h 234"/>
                  <a:gd name="T8" fmla="*/ 66 w 191"/>
                  <a:gd name="T9" fmla="*/ 131 h 234"/>
                  <a:gd name="T10" fmla="*/ 73 w 191"/>
                  <a:gd name="T11" fmla="*/ 128 h 234"/>
                  <a:gd name="T12" fmla="*/ 95 w 191"/>
                  <a:gd name="T13" fmla="*/ 128 h 234"/>
                  <a:gd name="T14" fmla="*/ 127 w 191"/>
                  <a:gd name="T15" fmla="*/ 96 h 234"/>
                  <a:gd name="T16" fmla="*/ 95 w 191"/>
                  <a:gd name="T17" fmla="*/ 64 h 234"/>
                  <a:gd name="T18" fmla="*/ 63 w 191"/>
                  <a:gd name="T19" fmla="*/ 90 h 234"/>
                  <a:gd name="T20" fmla="*/ 53 w 191"/>
                  <a:gd name="T21" fmla="*/ 99 h 234"/>
                  <a:gd name="T22" fmla="*/ 10 w 191"/>
                  <a:gd name="T23" fmla="*/ 96 h 234"/>
                  <a:gd name="T24" fmla="*/ 0 w 191"/>
                  <a:gd name="T25" fmla="*/ 85 h 234"/>
                  <a:gd name="T26" fmla="*/ 0 w 191"/>
                  <a:gd name="T27" fmla="*/ 80 h 234"/>
                  <a:gd name="T28" fmla="*/ 95 w 191"/>
                  <a:gd name="T29" fmla="*/ 0 h 234"/>
                  <a:gd name="T30" fmla="*/ 191 w 191"/>
                  <a:gd name="T31" fmla="*/ 96 h 234"/>
                  <a:gd name="T32" fmla="*/ 127 w 191"/>
                  <a:gd name="T33" fmla="*/ 186 h 234"/>
                  <a:gd name="T34" fmla="*/ 127 w 191"/>
                  <a:gd name="T35" fmla="*/ 224 h 234"/>
                  <a:gd name="T36" fmla="*/ 116 w 191"/>
                  <a:gd name="T37" fmla="*/ 234 h 234"/>
                  <a:gd name="T38" fmla="*/ 84 w 191"/>
                  <a:gd name="T39" fmla="*/ 213 h 234"/>
                  <a:gd name="T40" fmla="*/ 105 w 191"/>
                  <a:gd name="T41" fmla="*/ 213 h 234"/>
                  <a:gd name="T42" fmla="*/ 105 w 191"/>
                  <a:gd name="T43" fmla="*/ 178 h 234"/>
                  <a:gd name="T44" fmla="*/ 113 w 191"/>
                  <a:gd name="T45" fmla="*/ 168 h 234"/>
                  <a:gd name="T46" fmla="*/ 169 w 191"/>
                  <a:gd name="T47" fmla="*/ 96 h 234"/>
                  <a:gd name="T48" fmla="*/ 95 w 191"/>
                  <a:gd name="T49" fmla="*/ 21 h 234"/>
                  <a:gd name="T50" fmla="*/ 23 w 191"/>
                  <a:gd name="T51" fmla="*/ 75 h 234"/>
                  <a:gd name="T52" fmla="*/ 45 w 191"/>
                  <a:gd name="T53" fmla="*/ 77 h 234"/>
                  <a:gd name="T54" fmla="*/ 95 w 191"/>
                  <a:gd name="T55" fmla="*/ 42 h 234"/>
                  <a:gd name="T56" fmla="*/ 148 w 191"/>
                  <a:gd name="T57" fmla="*/ 96 h 234"/>
                  <a:gd name="T58" fmla="*/ 95 w 191"/>
                  <a:gd name="T59" fmla="*/ 149 h 234"/>
                  <a:gd name="T60" fmla="*/ 84 w 191"/>
                  <a:gd name="T61" fmla="*/ 149 h 234"/>
                  <a:gd name="T62" fmla="*/ 84 w 191"/>
                  <a:gd name="T63" fmla="*/ 213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1" h="234">
                    <a:moveTo>
                      <a:pt x="116" y="234"/>
                    </a:moveTo>
                    <a:cubicBezTo>
                      <a:pt x="73" y="234"/>
                      <a:pt x="73" y="234"/>
                      <a:pt x="73" y="234"/>
                    </a:cubicBezTo>
                    <a:cubicBezTo>
                      <a:pt x="67" y="234"/>
                      <a:pt x="63" y="230"/>
                      <a:pt x="63" y="224"/>
                    </a:cubicBezTo>
                    <a:cubicBezTo>
                      <a:pt x="63" y="138"/>
                      <a:pt x="63" y="138"/>
                      <a:pt x="63" y="138"/>
                    </a:cubicBezTo>
                    <a:cubicBezTo>
                      <a:pt x="63" y="136"/>
                      <a:pt x="64" y="133"/>
                      <a:pt x="66" y="131"/>
                    </a:cubicBezTo>
                    <a:cubicBezTo>
                      <a:pt x="68" y="129"/>
                      <a:pt x="70" y="128"/>
                      <a:pt x="73" y="128"/>
                    </a:cubicBezTo>
                    <a:cubicBezTo>
                      <a:pt x="95" y="128"/>
                      <a:pt x="95" y="128"/>
                      <a:pt x="95" y="128"/>
                    </a:cubicBezTo>
                    <a:cubicBezTo>
                      <a:pt x="111" y="128"/>
                      <a:pt x="127" y="112"/>
                      <a:pt x="127" y="96"/>
                    </a:cubicBezTo>
                    <a:cubicBezTo>
                      <a:pt x="127" y="78"/>
                      <a:pt x="112" y="64"/>
                      <a:pt x="95" y="64"/>
                    </a:cubicBezTo>
                    <a:cubicBezTo>
                      <a:pt x="79" y="64"/>
                      <a:pt x="66" y="75"/>
                      <a:pt x="63" y="90"/>
                    </a:cubicBezTo>
                    <a:cubicBezTo>
                      <a:pt x="62" y="95"/>
                      <a:pt x="58" y="99"/>
                      <a:pt x="53" y="99"/>
                    </a:cubicBezTo>
                    <a:cubicBezTo>
                      <a:pt x="10" y="96"/>
                      <a:pt x="10" y="96"/>
                      <a:pt x="10" y="96"/>
                    </a:cubicBezTo>
                    <a:cubicBezTo>
                      <a:pt x="4" y="95"/>
                      <a:pt x="0" y="91"/>
                      <a:pt x="0" y="85"/>
                    </a:cubicBezTo>
                    <a:cubicBezTo>
                      <a:pt x="0" y="85"/>
                      <a:pt x="0" y="82"/>
                      <a:pt x="0" y="80"/>
                    </a:cubicBezTo>
                    <a:cubicBezTo>
                      <a:pt x="8" y="33"/>
                      <a:pt x="47" y="0"/>
                      <a:pt x="95" y="0"/>
                    </a:cubicBezTo>
                    <a:cubicBezTo>
                      <a:pt x="148" y="0"/>
                      <a:pt x="191" y="43"/>
                      <a:pt x="191" y="96"/>
                    </a:cubicBezTo>
                    <a:cubicBezTo>
                      <a:pt x="191" y="137"/>
                      <a:pt x="165" y="173"/>
                      <a:pt x="127" y="186"/>
                    </a:cubicBezTo>
                    <a:cubicBezTo>
                      <a:pt x="127" y="224"/>
                      <a:pt x="127" y="224"/>
                      <a:pt x="127" y="224"/>
                    </a:cubicBezTo>
                    <a:cubicBezTo>
                      <a:pt x="127" y="230"/>
                      <a:pt x="122" y="234"/>
                      <a:pt x="116" y="234"/>
                    </a:cubicBezTo>
                    <a:close/>
                    <a:moveTo>
                      <a:pt x="84" y="213"/>
                    </a:moveTo>
                    <a:cubicBezTo>
                      <a:pt x="105" y="213"/>
                      <a:pt x="105" y="213"/>
                      <a:pt x="105" y="213"/>
                    </a:cubicBezTo>
                    <a:cubicBezTo>
                      <a:pt x="105" y="178"/>
                      <a:pt x="105" y="178"/>
                      <a:pt x="105" y="178"/>
                    </a:cubicBezTo>
                    <a:cubicBezTo>
                      <a:pt x="105" y="173"/>
                      <a:pt x="109" y="169"/>
                      <a:pt x="113" y="168"/>
                    </a:cubicBezTo>
                    <a:cubicBezTo>
                      <a:pt x="146" y="159"/>
                      <a:pt x="169" y="130"/>
                      <a:pt x="169" y="96"/>
                    </a:cubicBezTo>
                    <a:cubicBezTo>
                      <a:pt x="169" y="54"/>
                      <a:pt x="136" y="21"/>
                      <a:pt x="95" y="21"/>
                    </a:cubicBezTo>
                    <a:cubicBezTo>
                      <a:pt x="61" y="21"/>
                      <a:pt x="32" y="43"/>
                      <a:pt x="23" y="75"/>
                    </a:cubicBezTo>
                    <a:cubicBezTo>
                      <a:pt x="45" y="77"/>
                      <a:pt x="45" y="77"/>
                      <a:pt x="45" y="77"/>
                    </a:cubicBezTo>
                    <a:cubicBezTo>
                      <a:pt x="52" y="56"/>
                      <a:pt x="72" y="42"/>
                      <a:pt x="95" y="42"/>
                    </a:cubicBezTo>
                    <a:cubicBezTo>
                      <a:pt x="124" y="42"/>
                      <a:pt x="148" y="66"/>
                      <a:pt x="148" y="96"/>
                    </a:cubicBezTo>
                    <a:cubicBezTo>
                      <a:pt x="148" y="125"/>
                      <a:pt x="124" y="149"/>
                      <a:pt x="95" y="149"/>
                    </a:cubicBezTo>
                    <a:cubicBezTo>
                      <a:pt x="84" y="149"/>
                      <a:pt x="84" y="149"/>
                      <a:pt x="84" y="149"/>
                    </a:cubicBezTo>
                    <a:lnTo>
                      <a:pt x="84" y="2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en-GB" sz="800" kern="0" dirty="0">
                  <a:solidFill>
                    <a:prstClr val="black"/>
                  </a:solidFill>
                </a:endParaRPr>
              </a:p>
            </p:txBody>
          </p:sp>
        </p:grpSp>
      </p:grpSp>
      <p:sp>
        <p:nvSpPr>
          <p:cNvPr id="121" name="TextBox 120"/>
          <p:cNvSpPr txBox="1"/>
          <p:nvPr/>
        </p:nvSpPr>
        <p:spPr>
          <a:xfrm>
            <a:off x="1124247" y="5543353"/>
            <a:ext cx="2176256" cy="553998"/>
          </a:xfrm>
          <a:prstGeom prst="rect">
            <a:avLst/>
          </a:prstGeom>
          <a:noFill/>
        </p:spPr>
        <p:txBody>
          <a:bodyPr wrap="square" lIns="0" tIns="0" rIns="0" bIns="0" rtlCol="0">
            <a:spAutoFit/>
          </a:bodyPr>
          <a:lstStyle/>
          <a:p>
            <a:pPr algn="ctr">
              <a:spcBef>
                <a:spcPts val="600"/>
              </a:spcBef>
              <a:buSzPct val="100000"/>
            </a:pPr>
            <a:r>
              <a:rPr lang="en-US" b="1" dirty="0">
                <a:solidFill>
                  <a:srgbClr val="00A3E0"/>
                </a:solidFill>
              </a:rPr>
              <a:t>Key </a:t>
            </a:r>
            <a:br>
              <a:rPr lang="en-US" b="1" dirty="0">
                <a:solidFill>
                  <a:srgbClr val="00A3E0"/>
                </a:solidFill>
              </a:rPr>
            </a:br>
            <a:r>
              <a:rPr lang="en-US" b="1" dirty="0">
                <a:solidFill>
                  <a:srgbClr val="00A3E0"/>
                </a:solidFill>
              </a:rPr>
              <a:t>questions</a:t>
            </a:r>
            <a:endParaRPr lang="en-IN" b="1" dirty="0">
              <a:solidFill>
                <a:srgbClr val="00A3E0"/>
              </a:solidFill>
            </a:endParaRPr>
          </a:p>
        </p:txBody>
      </p:sp>
      <p:sp>
        <p:nvSpPr>
          <p:cNvPr id="28" name="TextBox 27">
            <a:extLst>
              <a:ext uri="{FF2B5EF4-FFF2-40B4-BE49-F238E27FC236}">
                <a16:creationId xmlns:a16="http://schemas.microsoft.com/office/drawing/2014/main" id="{9804CF80-6A24-4949-A9AE-E32594BE7937}"/>
              </a:ext>
            </a:extLst>
          </p:cNvPr>
          <p:cNvSpPr txBox="1"/>
          <p:nvPr/>
        </p:nvSpPr>
        <p:spPr>
          <a:xfrm>
            <a:off x="3537602" y="6156704"/>
            <a:ext cx="7125425" cy="227518"/>
          </a:xfrm>
          <a:prstGeom prst="rect">
            <a:avLst/>
          </a:prstGeom>
          <a:noFill/>
        </p:spPr>
        <p:txBody>
          <a:bodyPr vert="horz" wrap="square" lIns="0" tIns="0" rIns="0" bIns="0" rtlCol="0" anchor="ctr">
            <a:noAutofit/>
          </a:bodyPr>
          <a:lstStyle/>
          <a:p>
            <a:pPr marL="171450" indent="-171450">
              <a:spcAft>
                <a:spcPts val="800"/>
              </a:spcAft>
              <a:buSzPct val="100000"/>
              <a:buFont typeface="Arial" panose="020B0604020202020204" pitchFamily="34" charset="0"/>
              <a:buChar char="•"/>
            </a:pPr>
            <a:r>
              <a:rPr lang="en-US" sz="1100" i="1" dirty="0"/>
              <a:t>What will be the strategic priorities to ensure financial sustainability of state utilities ?</a:t>
            </a:r>
          </a:p>
        </p:txBody>
      </p:sp>
      <p:sp>
        <p:nvSpPr>
          <p:cNvPr id="29" name="Rectangle 28">
            <a:extLst>
              <a:ext uri="{FF2B5EF4-FFF2-40B4-BE49-F238E27FC236}">
                <a16:creationId xmlns:a16="http://schemas.microsoft.com/office/drawing/2014/main" id="{C8EB2A16-4FAC-4DC4-AA8B-039F1FC9CA03}"/>
              </a:ext>
            </a:extLst>
          </p:cNvPr>
          <p:cNvSpPr/>
          <p:nvPr/>
        </p:nvSpPr>
        <p:spPr bwMode="gray">
          <a:xfrm>
            <a:off x="3493704" y="5838411"/>
            <a:ext cx="7567764" cy="318294"/>
          </a:xfrm>
          <a:prstGeom prst="rect">
            <a:avLst/>
          </a:prstGeom>
          <a:noFill/>
          <a:ln w="19050" algn="ctr">
            <a:noFill/>
            <a:miter lim="800000"/>
            <a:headEnd/>
            <a:tailEnd/>
          </a:ln>
        </p:spPr>
        <p:txBody>
          <a:bodyPr wrap="square" lIns="0" tIns="88900" rIns="88900" bIns="88900" rtlCol="0" anchor="t"/>
          <a:lstStyle/>
          <a:p>
            <a:pPr marL="74250">
              <a:spcAft>
                <a:spcPts val="600"/>
              </a:spcAft>
            </a:pPr>
            <a:r>
              <a:rPr lang="en-US" sz="1200" b="1" i="1" dirty="0">
                <a:solidFill>
                  <a:srgbClr val="012169"/>
                </a:solidFill>
              </a:rPr>
              <a:t>Roadmap</a:t>
            </a:r>
            <a:endParaRPr lang="en-US" sz="1200" dirty="0">
              <a:solidFill>
                <a:prstClr val="black"/>
              </a:solidFill>
            </a:endParaRPr>
          </a:p>
        </p:txBody>
      </p:sp>
      <p:sp>
        <p:nvSpPr>
          <p:cNvPr id="32" name="Text Placeholder 5">
            <a:extLst>
              <a:ext uri="{FF2B5EF4-FFF2-40B4-BE49-F238E27FC236}">
                <a16:creationId xmlns:a16="http://schemas.microsoft.com/office/drawing/2014/main" id="{B19E2BC3-E452-406F-955A-6FF523C2C99F}"/>
              </a:ext>
            </a:extLst>
          </p:cNvPr>
          <p:cNvSpPr>
            <a:spLocks noGrp="1"/>
          </p:cNvSpPr>
          <p:nvPr>
            <p:ph type="body" sz="quarter" idx="13"/>
          </p:nvPr>
        </p:nvSpPr>
        <p:spPr>
          <a:xfrm>
            <a:off x="501654" y="651602"/>
            <a:ext cx="11188699" cy="242375"/>
          </a:xfrm>
        </p:spPr>
        <p:txBody>
          <a:bodyPr/>
          <a:lstStyle/>
          <a:p>
            <a:pPr algn="just"/>
            <a:r>
              <a:rPr lang="en-US" dirty="0"/>
              <a:t>The proposed project is well placed in overcoming current challenges and embracing the emerging trends, which will be the key to ensure financial sustainability of West Bengal power utilities</a:t>
            </a:r>
          </a:p>
        </p:txBody>
      </p:sp>
    </p:spTree>
    <p:extLst>
      <p:ext uri="{BB962C8B-B14F-4D97-AF65-F5344CB8AC3E}">
        <p14:creationId xmlns:p14="http://schemas.microsoft.com/office/powerpoint/2010/main" val="31127984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68" y="0"/>
            <a:ext cx="12189864" cy="6858000"/>
          </a:xfrm>
          <a:prstGeom prst="rect">
            <a:avLst/>
          </a:prstGeom>
        </p:spPr>
      </p:pic>
      <p:sp>
        <p:nvSpPr>
          <p:cNvPr id="6" name="Rectangle 5"/>
          <p:cNvSpPr/>
          <p:nvPr/>
        </p:nvSpPr>
        <p:spPr bwMode="gray">
          <a:xfrm>
            <a:off x="1" y="135"/>
            <a:ext cx="12250994" cy="6857867"/>
          </a:xfrm>
          <a:prstGeom prst="rect">
            <a:avLst/>
          </a:prstGeom>
          <a:solidFill>
            <a:schemeClr val="tx1">
              <a:alpha val="65000"/>
            </a:schemeClr>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endParaRPr lang="en-IN" sz="1451" b="1" dirty="0">
              <a:solidFill>
                <a:schemeClr val="bg1"/>
              </a:solidFill>
            </a:endParaRPr>
          </a:p>
        </p:txBody>
      </p:sp>
      <p:sp>
        <p:nvSpPr>
          <p:cNvPr id="7" name="Shape 59"/>
          <p:cNvSpPr/>
          <p:nvPr/>
        </p:nvSpPr>
        <p:spPr>
          <a:xfrm flipH="1">
            <a:off x="1" y="2"/>
            <a:ext cx="9692468" cy="6857867"/>
          </a:xfrm>
          <a:custGeom>
            <a:avLst/>
            <a:gdLst/>
            <a:ahLst/>
            <a:cxnLst/>
            <a:rect l="0" t="0" r="0" b="0"/>
            <a:pathLst>
              <a:path w="120000" h="120000" extrusionOk="0">
                <a:moveTo>
                  <a:pt x="85134" y="0"/>
                </a:moveTo>
                <a:lnTo>
                  <a:pt x="0" y="0"/>
                </a:lnTo>
                <a:lnTo>
                  <a:pt x="76533" y="120000"/>
                </a:lnTo>
                <a:lnTo>
                  <a:pt x="120000" y="120000"/>
                </a:lnTo>
                <a:lnTo>
                  <a:pt x="120000" y="54666"/>
                </a:lnTo>
                <a:lnTo>
                  <a:pt x="85134" y="0"/>
                </a:lnTo>
                <a:close/>
              </a:path>
            </a:pathLst>
          </a:custGeom>
          <a:gradFill>
            <a:gsLst>
              <a:gs pos="0">
                <a:srgbClr val="0C4068">
                  <a:alpha val="87000"/>
                </a:srgbClr>
              </a:gs>
              <a:gs pos="50000">
                <a:srgbClr val="46B688">
                  <a:alpha val="53000"/>
                </a:srgbClr>
              </a:gs>
              <a:gs pos="100000">
                <a:srgbClr val="016AA3">
                  <a:alpha val="93000"/>
                </a:srgbClr>
              </a:gs>
            </a:gsLst>
            <a:lin ang="2700000" scaled="0"/>
          </a:gradFill>
          <a:ln>
            <a:noFill/>
          </a:ln>
        </p:spPr>
        <p:txBody>
          <a:bodyPr spcFirstLastPara="1" wrap="square" lIns="91421" tIns="45698" rIns="91421" bIns="45698" anchor="ctr" anchorCtr="0">
            <a:noAutofit/>
          </a:bodyPr>
          <a:lstStyle/>
          <a:p>
            <a:pPr algn="ctr"/>
            <a:endParaRPr dirty="0">
              <a:solidFill>
                <a:schemeClr val="lt1"/>
              </a:solidFill>
              <a:latin typeface="Calibri"/>
              <a:ea typeface="Calibri"/>
              <a:cs typeface="Calibri"/>
              <a:sym typeface="Calibri"/>
            </a:endParaRPr>
          </a:p>
        </p:txBody>
      </p:sp>
      <p:grpSp>
        <p:nvGrpSpPr>
          <p:cNvPr id="8" name="Group 7"/>
          <p:cNvGrpSpPr/>
          <p:nvPr/>
        </p:nvGrpSpPr>
        <p:grpSpPr>
          <a:xfrm rot="21407744">
            <a:off x="2108239" y="1441058"/>
            <a:ext cx="7961979" cy="2891780"/>
            <a:chOff x="2284385" y="2051025"/>
            <a:chExt cx="8817247" cy="3248124"/>
          </a:xfrm>
        </p:grpSpPr>
        <p:sp>
          <p:nvSpPr>
            <p:cNvPr id="9" name="Shape 62"/>
            <p:cNvSpPr/>
            <p:nvPr/>
          </p:nvSpPr>
          <p:spPr>
            <a:xfrm rot="18900000">
              <a:off x="2284385" y="4760213"/>
              <a:ext cx="7663083"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sp>
          <p:nvSpPr>
            <p:cNvPr id="10" name="Shape 63"/>
            <p:cNvSpPr/>
            <p:nvPr/>
          </p:nvSpPr>
          <p:spPr>
            <a:xfrm rot="18900000" flipH="1" flipV="1">
              <a:off x="4645068" y="2051025"/>
              <a:ext cx="6456564"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grpSp>
      <p:grpSp>
        <p:nvGrpSpPr>
          <p:cNvPr id="11" name="Group 10"/>
          <p:cNvGrpSpPr/>
          <p:nvPr/>
        </p:nvGrpSpPr>
        <p:grpSpPr>
          <a:xfrm rot="21407744">
            <a:off x="-582962" y="763175"/>
            <a:ext cx="4456634" cy="1618644"/>
            <a:chOff x="2284385" y="2051025"/>
            <a:chExt cx="8817246" cy="3248124"/>
          </a:xfrm>
        </p:grpSpPr>
        <p:sp>
          <p:nvSpPr>
            <p:cNvPr id="12" name="Shape 62"/>
            <p:cNvSpPr/>
            <p:nvPr/>
          </p:nvSpPr>
          <p:spPr>
            <a:xfrm rot="18900000">
              <a:off x="2284385" y="4760213"/>
              <a:ext cx="7663083"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sp>
          <p:nvSpPr>
            <p:cNvPr id="13" name="Shape 63"/>
            <p:cNvSpPr/>
            <p:nvPr/>
          </p:nvSpPr>
          <p:spPr>
            <a:xfrm rot="18900000" flipH="1" flipV="1">
              <a:off x="4645067" y="2051025"/>
              <a:ext cx="6456564"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grpSp>
      <p:sp>
        <p:nvSpPr>
          <p:cNvPr id="14" name="Title 4"/>
          <p:cNvSpPr>
            <a:spLocks noGrp="1"/>
          </p:cNvSpPr>
          <p:nvPr>
            <p:ph type="title"/>
          </p:nvPr>
        </p:nvSpPr>
        <p:spPr>
          <a:xfrm>
            <a:off x="1251890" y="2252162"/>
            <a:ext cx="3939237" cy="1257846"/>
          </a:xfrm>
        </p:spPr>
        <p:txBody>
          <a:bodyPr anchor="ctr"/>
          <a:lstStyle/>
          <a:p>
            <a:pPr algn="ctr" defTabSz="1059853"/>
            <a:r>
              <a:rPr lang="en-US" b="1" dirty="0">
                <a:solidFill>
                  <a:prstClr val="white"/>
                </a:solidFill>
              </a:rPr>
              <a:t>Proposed approach &amp; methodology, tools, and work plan</a:t>
            </a:r>
          </a:p>
        </p:txBody>
      </p:sp>
    </p:spTree>
    <p:extLst>
      <p:ext uri="{BB962C8B-B14F-4D97-AF65-F5344CB8AC3E}">
        <p14:creationId xmlns:p14="http://schemas.microsoft.com/office/powerpoint/2010/main" val="288923281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1D3DE1-C36F-4F14-B12D-837AEA817755}"/>
              </a:ext>
            </a:extLst>
          </p:cNvPr>
          <p:cNvGraphicFramePr>
            <a:graphicFrameLocks noChangeAspect="1"/>
          </p:cNvGraphicFramePr>
          <p:nvPr>
            <p:custDataLst>
              <p:tags r:id="rId1"/>
            </p:custDataLst>
            <p:extLst>
              <p:ext uri="{D42A27DB-BD31-4B8C-83A1-F6EECF244321}">
                <p14:modId xmlns:p14="http://schemas.microsoft.com/office/powerpoint/2010/main" val="13058643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 name="Object 2" hidden="1">
                        <a:extLst>
                          <a:ext uri="{FF2B5EF4-FFF2-40B4-BE49-F238E27FC236}">
                            <a16:creationId xmlns:a16="http://schemas.microsoft.com/office/drawing/2014/main" id="{C31D3DE1-C36F-4F14-B12D-837AEA81775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1" name="Rectangle 60">
            <a:extLst>
              <a:ext uri="{FF2B5EF4-FFF2-40B4-BE49-F238E27FC236}">
                <a16:creationId xmlns:a16="http://schemas.microsoft.com/office/drawing/2014/main" id="{296E6773-CE08-4895-AC95-68234E57DB1C}"/>
              </a:ext>
            </a:extLst>
          </p:cNvPr>
          <p:cNvSpPr/>
          <p:nvPr/>
        </p:nvSpPr>
        <p:spPr bwMode="gray">
          <a:xfrm>
            <a:off x="1249243" y="1399187"/>
            <a:ext cx="7461735" cy="4793209"/>
          </a:xfrm>
          <a:prstGeom prst="rect">
            <a:avLst/>
          </a:prstGeom>
          <a:noFill/>
          <a:ln w="19050" algn="ctr">
            <a:solidFill>
              <a:srgbClr val="046A38"/>
            </a:solidFill>
            <a:miter lim="800000"/>
            <a:headEnd/>
            <a:tailEnd/>
          </a:ln>
        </p:spPr>
        <p:txBody>
          <a:bodyPr wrap="square" lIns="60614" tIns="60614" rIns="60614" bIns="60614" rtlCol="0" anchor="ctr"/>
          <a:lstStyle/>
          <a:p>
            <a:pPr algn="ctr" defTabSz="837848">
              <a:lnSpc>
                <a:spcPct val="106000"/>
              </a:lnSpc>
            </a:pPr>
            <a:endParaRPr lang="en-IN" sz="886" b="1" dirty="0">
              <a:solidFill>
                <a:prstClr val="white"/>
              </a:solidFill>
              <a:latin typeface="Verdana"/>
            </a:endParaRPr>
          </a:p>
        </p:txBody>
      </p:sp>
      <p:cxnSp>
        <p:nvCxnSpPr>
          <p:cNvPr id="62" name="Straight Arrow Connector 61">
            <a:extLst>
              <a:ext uri="{FF2B5EF4-FFF2-40B4-BE49-F238E27FC236}">
                <a16:creationId xmlns:a16="http://schemas.microsoft.com/office/drawing/2014/main" id="{D20C0CED-FED5-4CE3-966F-454B0AEE5D91}"/>
              </a:ext>
            </a:extLst>
          </p:cNvPr>
          <p:cNvCxnSpPr>
            <a:cxnSpLocks/>
          </p:cNvCxnSpPr>
          <p:nvPr/>
        </p:nvCxnSpPr>
        <p:spPr>
          <a:xfrm>
            <a:off x="1249243" y="1212653"/>
            <a:ext cx="7447884"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AutoShape 6">
            <a:extLst>
              <a:ext uri="{FF2B5EF4-FFF2-40B4-BE49-F238E27FC236}">
                <a16:creationId xmlns:a16="http://schemas.microsoft.com/office/drawing/2014/main" id="{BCBB70A3-E6D4-44C4-B0BB-B9951D090782}"/>
              </a:ext>
            </a:extLst>
          </p:cNvPr>
          <p:cNvSpPr>
            <a:spLocks noChangeArrowheads="1"/>
          </p:cNvSpPr>
          <p:nvPr/>
        </p:nvSpPr>
        <p:spPr bwMode="auto">
          <a:xfrm>
            <a:off x="1352049" y="1597951"/>
            <a:ext cx="3667054" cy="482135"/>
          </a:xfrm>
          <a:prstGeom prst="homePlate">
            <a:avLst>
              <a:gd name="adj" fmla="val 38784"/>
            </a:avLst>
          </a:prstGeom>
          <a:solidFill>
            <a:schemeClr val="accent5"/>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886" b="1" dirty="0">
                <a:solidFill>
                  <a:srgbClr val="FFFFFF"/>
                </a:solidFill>
                <a:latin typeface="Verdana"/>
                <a:ea typeface="MS PGothic" panose="020B0600070205080204" pitchFamily="34" charset="-128"/>
                <a:cs typeface="Times New Roman" panose="02020603050405020304" pitchFamily="18" charset="0"/>
              </a:rPr>
              <a:t>Module-1 (</a:t>
            </a:r>
            <a:r>
              <a:rPr lang="en-US" sz="886" b="1" dirty="0">
                <a:solidFill>
                  <a:prstClr val="white"/>
                </a:solidFill>
                <a:latin typeface="Verdana"/>
              </a:rPr>
              <a:t>Diagnostic Review &amp; Causal Analysis)</a:t>
            </a:r>
            <a:endParaRPr lang="en-IN" sz="886" b="1" dirty="0">
              <a:solidFill>
                <a:prstClr val="black"/>
              </a:solidFill>
              <a:latin typeface="Verdana"/>
              <a:ea typeface="Times New Roman" panose="02020603050405020304" pitchFamily="18" charset="0"/>
              <a:cs typeface="Times New Roman" panose="02020603050405020304" pitchFamily="18" charset="0"/>
            </a:endParaRPr>
          </a:p>
        </p:txBody>
      </p:sp>
      <p:sp>
        <p:nvSpPr>
          <p:cNvPr id="64" name="AutoShape 7">
            <a:extLst>
              <a:ext uri="{FF2B5EF4-FFF2-40B4-BE49-F238E27FC236}">
                <a16:creationId xmlns:a16="http://schemas.microsoft.com/office/drawing/2014/main" id="{C5C1CEA1-5432-4234-9CF8-676FA1F2756F}"/>
              </a:ext>
            </a:extLst>
          </p:cNvPr>
          <p:cNvSpPr>
            <a:spLocks noChangeArrowheads="1"/>
          </p:cNvSpPr>
          <p:nvPr/>
        </p:nvSpPr>
        <p:spPr bwMode="auto">
          <a:xfrm>
            <a:off x="8814524" y="1620475"/>
            <a:ext cx="2843181" cy="482135"/>
          </a:xfrm>
          <a:prstGeom prst="chevron">
            <a:avLst>
              <a:gd name="adj" fmla="val 36855"/>
            </a:avLst>
          </a:prstGeom>
          <a:solidFill>
            <a:schemeClr val="accent5"/>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886" b="1" dirty="0">
                <a:solidFill>
                  <a:prstClr val="white"/>
                </a:solidFill>
                <a:latin typeface="Verdana"/>
                <a:ea typeface="Times New Roman" panose="02020603050405020304" pitchFamily="18" charset="0"/>
                <a:cs typeface="Times New Roman" panose="02020603050405020304" pitchFamily="18" charset="0"/>
              </a:rPr>
              <a:t>Implementation Support</a:t>
            </a:r>
            <a:endParaRPr lang="en-IN" sz="886" b="1" dirty="0">
              <a:solidFill>
                <a:prstClr val="white"/>
              </a:solidFill>
              <a:latin typeface="Verdana"/>
              <a:ea typeface="Times New Roman" panose="02020603050405020304" pitchFamily="18" charset="0"/>
              <a:cs typeface="Times New Roman" panose="02020603050405020304" pitchFamily="18" charset="0"/>
            </a:endParaRPr>
          </a:p>
        </p:txBody>
      </p:sp>
      <p:sp>
        <p:nvSpPr>
          <p:cNvPr id="65" name="Rectangle 64">
            <a:extLst>
              <a:ext uri="{FF2B5EF4-FFF2-40B4-BE49-F238E27FC236}">
                <a16:creationId xmlns:a16="http://schemas.microsoft.com/office/drawing/2014/main" id="{FBE2A113-F9CB-461C-9B75-16A486EA46EA}"/>
              </a:ext>
            </a:extLst>
          </p:cNvPr>
          <p:cNvSpPr>
            <a:spLocks noChangeArrowheads="1"/>
          </p:cNvSpPr>
          <p:nvPr/>
        </p:nvSpPr>
        <p:spPr bwMode="auto">
          <a:xfrm>
            <a:off x="1320280" y="2201668"/>
            <a:ext cx="3583253" cy="3884026"/>
          </a:xfrm>
          <a:prstGeom prst="rect">
            <a:avLst/>
          </a:prstGeom>
          <a:solidFill>
            <a:srgbClr val="FFFFFF"/>
          </a:solidFill>
          <a:ln w="12700">
            <a:solidFill>
              <a:srgbClr val="B4B4B4"/>
            </a:solidFill>
            <a:miter lim="800000"/>
            <a:headEnd type="none" w="sm" len="sm"/>
            <a:tailEnd type="none" w="sm" len="sm"/>
          </a:ln>
        </p:spPr>
        <p:txBody>
          <a:bodyPr wrap="square" lIns="24545" tIns="24545" rIns="24545" bIns="24545" anchor="t" anchorCtr="0">
            <a:noAutofit/>
          </a:bodyPr>
          <a:lstStyle/>
          <a:p>
            <a:pPr marL="116895" indent="-116895" defTabSz="837848">
              <a:lnSpc>
                <a:spcPct val="150000"/>
              </a:lnSpc>
              <a:buSzPct val="100000"/>
              <a:buFont typeface="Arial" panose="020B0604020202020204" pitchFamily="34" charset="0"/>
              <a:buChar char="•"/>
            </a:pPr>
            <a:r>
              <a:rPr lang="en-US" sz="886" b="1" dirty="0">
                <a:solidFill>
                  <a:prstClr val="black"/>
                </a:solidFill>
                <a:latin typeface="Verdana"/>
              </a:rPr>
              <a:t>Diagnostic and Causal Analysis</a:t>
            </a:r>
            <a:endParaRPr lang="en-IN" sz="886" b="1" dirty="0">
              <a:solidFill>
                <a:prstClr val="black"/>
              </a:solidFill>
              <a:latin typeface="Verdana"/>
            </a:endParaRPr>
          </a:p>
          <a:p>
            <a:pPr marL="428614" lvl="1" indent="-116895" defTabSz="837848">
              <a:lnSpc>
                <a:spcPct val="150000"/>
              </a:lnSpc>
              <a:buSzPct val="100000"/>
              <a:buFont typeface="Arial" panose="020B0604020202020204" pitchFamily="34" charset="0"/>
              <a:buChar char="•"/>
            </a:pPr>
            <a:r>
              <a:rPr lang="en-IN" sz="886" dirty="0">
                <a:solidFill>
                  <a:prstClr val="black"/>
                </a:solidFill>
                <a:latin typeface="Verdana"/>
              </a:rPr>
              <a:t>Historical financial performance assessment</a:t>
            </a:r>
          </a:p>
          <a:p>
            <a:pPr marL="428614" lvl="1" indent="-116895" defTabSz="837848">
              <a:lnSpc>
                <a:spcPct val="150000"/>
              </a:lnSpc>
              <a:buSzPct val="100000"/>
              <a:buFont typeface="Arial" panose="020B0604020202020204" pitchFamily="34" charset="0"/>
              <a:buChar char="•"/>
            </a:pPr>
            <a:r>
              <a:rPr lang="en-US" sz="886" dirty="0">
                <a:solidFill>
                  <a:prstClr val="black"/>
                </a:solidFill>
                <a:latin typeface="Verdana"/>
              </a:rPr>
              <a:t>Benchmarking operational and financial performance on pan India basis</a:t>
            </a:r>
          </a:p>
          <a:p>
            <a:pPr marL="428614" lvl="1" indent="-116895" defTabSz="837848">
              <a:lnSpc>
                <a:spcPct val="150000"/>
              </a:lnSpc>
              <a:buSzPct val="100000"/>
              <a:buFont typeface="Arial" panose="020B0604020202020204" pitchFamily="34" charset="0"/>
              <a:buChar char="•"/>
            </a:pPr>
            <a:r>
              <a:rPr lang="en-US" sz="886" dirty="0">
                <a:solidFill>
                  <a:prstClr val="black"/>
                </a:solidFill>
                <a:latin typeface="Verdana"/>
              </a:rPr>
              <a:t>Assessment of Regulatory Performance</a:t>
            </a:r>
          </a:p>
          <a:p>
            <a:pPr marL="116895" indent="-116895" defTabSz="837848">
              <a:lnSpc>
                <a:spcPct val="150000"/>
              </a:lnSpc>
              <a:buSzPct val="100000"/>
              <a:buFont typeface="Arial" panose="020B0604020202020204" pitchFamily="34" charset="0"/>
              <a:buChar char="•"/>
            </a:pPr>
            <a:r>
              <a:rPr lang="en-US" sz="886" b="1" dirty="0">
                <a:solidFill>
                  <a:prstClr val="black"/>
                </a:solidFill>
                <a:latin typeface="Verdana"/>
              </a:rPr>
              <a:t>Review of Programs / Schemes undertaken under Central and State level schemes including the status of implementation</a:t>
            </a:r>
          </a:p>
          <a:p>
            <a:pPr marL="116895" indent="-116895" defTabSz="837848">
              <a:lnSpc>
                <a:spcPct val="150000"/>
              </a:lnSpc>
              <a:buSzPct val="100000"/>
              <a:buFont typeface="Arial" panose="020B0604020202020204" pitchFamily="34" charset="0"/>
              <a:buChar char="•"/>
            </a:pPr>
            <a:r>
              <a:rPr lang="en-US" sz="886" b="1" dirty="0">
                <a:solidFill>
                  <a:prstClr val="black"/>
                </a:solidFill>
                <a:latin typeface="Verdana"/>
              </a:rPr>
              <a:t>Assessment of external factors on West Bengal Power Sector</a:t>
            </a:r>
          </a:p>
          <a:p>
            <a:pPr marL="428614" lvl="1" indent="-116895" defTabSz="837848">
              <a:lnSpc>
                <a:spcPct val="150000"/>
              </a:lnSpc>
              <a:buSzPct val="100000"/>
              <a:buFont typeface="Arial" panose="020B0604020202020204" pitchFamily="34" charset="0"/>
              <a:buChar char="•"/>
            </a:pPr>
            <a:r>
              <a:rPr lang="en-US" sz="886" dirty="0">
                <a:solidFill>
                  <a:prstClr val="black"/>
                </a:solidFill>
                <a:latin typeface="Verdana"/>
              </a:rPr>
              <a:t>Power demand-supply scenario analysis and future projections</a:t>
            </a:r>
          </a:p>
          <a:p>
            <a:pPr marL="428614" lvl="1" indent="-116895" defTabSz="837848">
              <a:lnSpc>
                <a:spcPct val="150000"/>
              </a:lnSpc>
              <a:buSzPct val="100000"/>
              <a:buFont typeface="Arial" panose="020B0604020202020204" pitchFamily="34" charset="0"/>
              <a:buChar char="•"/>
            </a:pPr>
            <a:r>
              <a:rPr lang="en-IN" sz="886" dirty="0">
                <a:solidFill>
                  <a:prstClr val="black"/>
                </a:solidFill>
                <a:latin typeface="Verdana"/>
              </a:rPr>
              <a:t>Develop demand forecasting model</a:t>
            </a:r>
          </a:p>
          <a:p>
            <a:pPr marL="116895" indent="-116895" defTabSz="837848">
              <a:lnSpc>
                <a:spcPct val="150000"/>
              </a:lnSpc>
              <a:buSzPct val="100000"/>
              <a:buFont typeface="Arial" panose="020B0604020202020204" pitchFamily="34" charset="0"/>
              <a:buChar char="•"/>
            </a:pPr>
            <a:r>
              <a:rPr lang="en-US" sz="886" dirty="0">
                <a:solidFill>
                  <a:prstClr val="black"/>
                </a:solidFill>
                <a:latin typeface="Verdana"/>
              </a:rPr>
              <a:t>Impact of </a:t>
            </a:r>
            <a:r>
              <a:rPr lang="en-US" sz="886" b="1" dirty="0">
                <a:solidFill>
                  <a:prstClr val="black"/>
                </a:solidFill>
                <a:latin typeface="Verdana"/>
              </a:rPr>
              <a:t>new technologies </a:t>
            </a:r>
            <a:r>
              <a:rPr lang="en-US" sz="886" dirty="0">
                <a:solidFill>
                  <a:prstClr val="black"/>
                </a:solidFill>
                <a:latin typeface="Verdana"/>
              </a:rPr>
              <a:t>on West Bengal Power Sector</a:t>
            </a:r>
          </a:p>
          <a:p>
            <a:pPr marL="116895" indent="-116895" defTabSz="837848">
              <a:lnSpc>
                <a:spcPct val="150000"/>
              </a:lnSpc>
              <a:buSzPct val="100000"/>
              <a:buFont typeface="Arial" panose="020B0604020202020204" pitchFamily="34" charset="0"/>
              <a:buChar char="•"/>
            </a:pPr>
            <a:r>
              <a:rPr lang="en-US" sz="886" b="1" dirty="0">
                <a:solidFill>
                  <a:prstClr val="black"/>
                </a:solidFill>
                <a:latin typeface="Verdana"/>
              </a:rPr>
              <a:t>Impact of COVID-19</a:t>
            </a:r>
            <a:endParaRPr lang="en-US" sz="886" dirty="0">
              <a:solidFill>
                <a:prstClr val="black"/>
              </a:solidFill>
              <a:latin typeface="Verdana"/>
            </a:endParaRPr>
          </a:p>
          <a:p>
            <a:pPr marL="116895" indent="-116895" defTabSz="837848">
              <a:lnSpc>
                <a:spcPct val="150000"/>
              </a:lnSpc>
              <a:buSzPct val="100000"/>
              <a:buFont typeface="Arial" panose="020B0604020202020204" pitchFamily="34" charset="0"/>
              <a:buChar char="•"/>
            </a:pPr>
            <a:r>
              <a:rPr lang="en-US" sz="886" dirty="0">
                <a:solidFill>
                  <a:prstClr val="black"/>
                </a:solidFill>
                <a:latin typeface="Verdana"/>
              </a:rPr>
              <a:t>Stakeholder communication and feedback</a:t>
            </a:r>
          </a:p>
          <a:p>
            <a:pPr marL="116895" indent="-116895" defTabSz="837848">
              <a:lnSpc>
                <a:spcPct val="150000"/>
              </a:lnSpc>
              <a:buSzPct val="100000"/>
              <a:buFont typeface="Arial" panose="020B0604020202020204" pitchFamily="34" charset="0"/>
              <a:buChar char="•"/>
            </a:pPr>
            <a:r>
              <a:rPr lang="en-US" sz="886" dirty="0">
                <a:solidFill>
                  <a:prstClr val="black"/>
                </a:solidFill>
                <a:latin typeface="Verdana"/>
              </a:rPr>
              <a:t>Develop comprehensive sector </a:t>
            </a:r>
            <a:r>
              <a:rPr lang="en-US" sz="886" b="1" dirty="0">
                <a:solidFill>
                  <a:prstClr val="black"/>
                </a:solidFill>
                <a:latin typeface="Verdana"/>
              </a:rPr>
              <a:t>SWOT analysis</a:t>
            </a:r>
            <a:endParaRPr lang="en-US" sz="886" dirty="0">
              <a:solidFill>
                <a:prstClr val="black"/>
              </a:solidFill>
              <a:latin typeface="Verdana"/>
            </a:endParaRPr>
          </a:p>
        </p:txBody>
      </p:sp>
      <p:sp>
        <p:nvSpPr>
          <p:cNvPr id="66" name="Rectangle 65">
            <a:extLst>
              <a:ext uri="{FF2B5EF4-FFF2-40B4-BE49-F238E27FC236}">
                <a16:creationId xmlns:a16="http://schemas.microsoft.com/office/drawing/2014/main" id="{C36EE1E6-4402-4930-9C83-C6F900BCC0B2}"/>
              </a:ext>
            </a:extLst>
          </p:cNvPr>
          <p:cNvSpPr>
            <a:spLocks noChangeArrowheads="1"/>
          </p:cNvSpPr>
          <p:nvPr/>
        </p:nvSpPr>
        <p:spPr bwMode="auto">
          <a:xfrm>
            <a:off x="8871144" y="2196501"/>
            <a:ext cx="2729940" cy="3899458"/>
          </a:xfrm>
          <a:prstGeom prst="rect">
            <a:avLst/>
          </a:prstGeom>
          <a:solidFill>
            <a:srgbClr val="FFFFFF"/>
          </a:solidFill>
          <a:ln w="12700">
            <a:solidFill>
              <a:srgbClr val="B4B4B4"/>
            </a:solidFill>
            <a:miter lim="800000"/>
            <a:headEnd type="none" w="sm" len="sm"/>
            <a:tailEnd type="none" w="sm" len="sm"/>
          </a:ln>
        </p:spPr>
        <p:txBody>
          <a:bodyPr wrap="square" lIns="24545" tIns="24545" rIns="24545" bIns="24545" anchor="t" anchorCtr="0">
            <a:noAutofit/>
          </a:bodyPr>
          <a:lstStyle/>
          <a:p>
            <a:pPr marL="180753" indent="-116895" defTabSz="837848">
              <a:lnSpc>
                <a:spcPct val="150000"/>
              </a:lnSpc>
              <a:spcBef>
                <a:spcPts val="205"/>
              </a:spcBef>
              <a:buFont typeface="Arial" panose="020B0604020202020204" pitchFamily="34" charset="0"/>
              <a:buChar char="•"/>
              <a:tabLst>
                <a:tab pos="311711" algn="l"/>
              </a:tabLst>
            </a:pPr>
            <a:r>
              <a:rPr lang="en-US" sz="886" b="1" dirty="0">
                <a:solidFill>
                  <a:srgbClr val="313131"/>
                </a:solidFill>
                <a:latin typeface="Verdana"/>
                <a:ea typeface="MS PGothic" panose="020B0600070205080204" pitchFamily="34" charset="-128"/>
                <a:cs typeface="Times New Roman" panose="02020603050405020304" pitchFamily="18" charset="0"/>
              </a:rPr>
              <a:t>Develop Monitoring framework</a:t>
            </a:r>
          </a:p>
          <a:p>
            <a:pPr marL="559574" lvl="1" indent="-183996" defTabSz="837848">
              <a:lnSpc>
                <a:spcPct val="150000"/>
              </a:lnSpc>
              <a:spcBef>
                <a:spcPts val="205"/>
              </a:spcBef>
              <a:buFont typeface="Arial" panose="020B0604020202020204" pitchFamily="34" charset="0"/>
              <a:buChar char="•"/>
              <a:tabLst>
                <a:tab pos="311711" algn="l"/>
              </a:tabLst>
            </a:pPr>
            <a:r>
              <a:rPr lang="en-US" sz="886" dirty="0">
                <a:solidFill>
                  <a:srgbClr val="313131"/>
                </a:solidFill>
                <a:latin typeface="Verdana"/>
                <a:ea typeface="MS PGothic" panose="020B0600070205080204" pitchFamily="34" charset="-128"/>
                <a:cs typeface="Times New Roman" panose="02020603050405020304" pitchFamily="18" charset="0"/>
              </a:rPr>
              <a:t>Development of project management dashboards for project level monitoring</a:t>
            </a:r>
          </a:p>
          <a:p>
            <a:pPr marL="180753" indent="-116895" defTabSz="837848">
              <a:lnSpc>
                <a:spcPct val="150000"/>
              </a:lnSpc>
              <a:spcBef>
                <a:spcPts val="205"/>
              </a:spcBef>
              <a:buFont typeface="Arial" panose="020B0604020202020204" pitchFamily="34" charset="0"/>
              <a:buChar char="•"/>
              <a:tabLst>
                <a:tab pos="311711" algn="l"/>
              </a:tabLst>
            </a:pPr>
            <a:r>
              <a:rPr lang="en-US" sz="886" b="1" dirty="0">
                <a:solidFill>
                  <a:srgbClr val="313131"/>
                </a:solidFill>
                <a:latin typeface="Verdana"/>
                <a:ea typeface="MS PGothic" panose="020B0600070205080204" pitchFamily="34" charset="-128"/>
                <a:cs typeface="Times New Roman" panose="02020603050405020304" pitchFamily="18" charset="0"/>
              </a:rPr>
              <a:t>Provide Implementation and monitoring support</a:t>
            </a:r>
          </a:p>
          <a:p>
            <a:pPr marL="559574" lvl="1" indent="-183996" defTabSz="837848">
              <a:lnSpc>
                <a:spcPct val="150000"/>
              </a:lnSpc>
              <a:spcBef>
                <a:spcPts val="205"/>
              </a:spcBef>
              <a:buFont typeface="Arial" panose="020B0604020202020204" pitchFamily="34" charset="0"/>
              <a:buChar char="•"/>
              <a:tabLst>
                <a:tab pos="311711" algn="l"/>
              </a:tabLst>
            </a:pPr>
            <a:r>
              <a:rPr lang="en-US" sz="886" dirty="0">
                <a:solidFill>
                  <a:srgbClr val="313131"/>
                </a:solidFill>
                <a:latin typeface="Verdana"/>
                <a:ea typeface="MS PGothic" panose="020B0600070205080204" pitchFamily="34" charset="-128"/>
                <a:cs typeface="Times New Roman" panose="02020603050405020304" pitchFamily="18" charset="0"/>
              </a:rPr>
              <a:t>Data collection and analysis</a:t>
            </a:r>
          </a:p>
          <a:p>
            <a:pPr marL="559574" lvl="1" indent="-183996" defTabSz="837848">
              <a:lnSpc>
                <a:spcPct val="150000"/>
              </a:lnSpc>
              <a:spcBef>
                <a:spcPts val="205"/>
              </a:spcBef>
              <a:buFont typeface="Arial" panose="020B0604020202020204" pitchFamily="34" charset="0"/>
              <a:buChar char="•"/>
              <a:tabLst>
                <a:tab pos="311711" algn="l"/>
              </a:tabLst>
            </a:pPr>
            <a:r>
              <a:rPr lang="en-US" sz="886" dirty="0">
                <a:solidFill>
                  <a:srgbClr val="313131"/>
                </a:solidFill>
                <a:latin typeface="Verdana"/>
                <a:ea typeface="MS PGothic" panose="020B0600070205080204" pitchFamily="34" charset="-128"/>
                <a:cs typeface="Times New Roman" panose="02020603050405020304" pitchFamily="18" charset="0"/>
              </a:rPr>
              <a:t>Deviation Analysis </a:t>
            </a:r>
          </a:p>
          <a:p>
            <a:pPr marL="559574" lvl="1" indent="-183996" defTabSz="837848">
              <a:lnSpc>
                <a:spcPct val="150000"/>
              </a:lnSpc>
              <a:spcBef>
                <a:spcPts val="205"/>
              </a:spcBef>
              <a:buFont typeface="Arial" panose="020B0604020202020204" pitchFamily="34" charset="0"/>
              <a:buChar char="•"/>
              <a:tabLst>
                <a:tab pos="311711" algn="l"/>
              </a:tabLst>
            </a:pPr>
            <a:r>
              <a:rPr lang="en-US" sz="886" dirty="0">
                <a:solidFill>
                  <a:srgbClr val="313131"/>
                </a:solidFill>
                <a:latin typeface="Verdana"/>
                <a:ea typeface="MS PGothic" panose="020B0600070205080204" pitchFamily="34" charset="-128"/>
                <a:cs typeface="Times New Roman" panose="02020603050405020304" pitchFamily="18" charset="0"/>
              </a:rPr>
              <a:t>Identification of  major issues/concerns hindering performance and suggesting solutions</a:t>
            </a:r>
          </a:p>
          <a:p>
            <a:pPr marL="116895" indent="-116895" defTabSz="837848">
              <a:lnSpc>
                <a:spcPct val="150000"/>
              </a:lnSpc>
              <a:buSzPct val="100000"/>
              <a:buFont typeface="Arial" panose="020B0604020202020204" pitchFamily="34" charset="0"/>
              <a:buChar char="•"/>
            </a:pPr>
            <a:r>
              <a:rPr lang="en-US" sz="886" dirty="0">
                <a:solidFill>
                  <a:prstClr val="black"/>
                </a:solidFill>
                <a:latin typeface="Verdana"/>
              </a:rPr>
              <a:t>Stakeholder communication and feedback</a:t>
            </a:r>
          </a:p>
          <a:p>
            <a:pPr marL="116895" indent="-116895" defTabSz="837848">
              <a:lnSpc>
                <a:spcPct val="150000"/>
              </a:lnSpc>
              <a:buSzPct val="100000"/>
              <a:buFont typeface="Arial" panose="020B0604020202020204" pitchFamily="34" charset="0"/>
              <a:buChar char="•"/>
            </a:pPr>
            <a:r>
              <a:rPr lang="en-US" sz="886" b="1" dirty="0">
                <a:solidFill>
                  <a:srgbClr val="313131"/>
                </a:solidFill>
                <a:latin typeface="Verdana"/>
                <a:ea typeface="MS PGothic" panose="020B0600070205080204" pitchFamily="34" charset="-128"/>
                <a:cs typeface="Times New Roman" panose="02020603050405020304" pitchFamily="18" charset="0"/>
              </a:rPr>
              <a:t>Schedule meetings to talk about progress reports</a:t>
            </a:r>
          </a:p>
        </p:txBody>
      </p:sp>
      <p:sp>
        <p:nvSpPr>
          <p:cNvPr id="67" name="Rectangle 66">
            <a:extLst>
              <a:ext uri="{FF2B5EF4-FFF2-40B4-BE49-F238E27FC236}">
                <a16:creationId xmlns:a16="http://schemas.microsoft.com/office/drawing/2014/main" id="{D2FDD159-908F-49EF-8D35-8D137F72FBF4}"/>
              </a:ext>
            </a:extLst>
          </p:cNvPr>
          <p:cNvSpPr/>
          <p:nvPr/>
        </p:nvSpPr>
        <p:spPr bwMode="gray">
          <a:xfrm>
            <a:off x="758261" y="2157471"/>
            <a:ext cx="243593" cy="3331868"/>
          </a:xfrm>
          <a:prstGeom prst="rect">
            <a:avLst/>
          </a:prstGeom>
          <a:solidFill>
            <a:schemeClr val="accent5"/>
          </a:solidFill>
          <a:ln w="19050" algn="ctr">
            <a:noFill/>
            <a:miter lim="800000"/>
            <a:headEnd/>
            <a:tailEnd/>
          </a:ln>
        </p:spPr>
        <p:txBody>
          <a:bodyPr vert="vert270" wrap="square" lIns="60614" tIns="60614" rIns="60614" bIns="60614" rtlCol="0" anchor="ctr"/>
          <a:lstStyle/>
          <a:p>
            <a:pPr algn="ctr" defTabSz="837848">
              <a:lnSpc>
                <a:spcPct val="106000"/>
              </a:lnSpc>
            </a:pPr>
            <a:r>
              <a:rPr lang="en-US" sz="886" b="1" dirty="0">
                <a:solidFill>
                  <a:prstClr val="white"/>
                </a:solidFill>
                <a:latin typeface="Verdana"/>
                <a:cs typeface="Times New Roman" panose="02020603050405020304" pitchFamily="18" charset="0"/>
              </a:rPr>
              <a:t>Key Activities </a:t>
            </a:r>
            <a:endParaRPr lang="en-IN" sz="886" b="1" dirty="0">
              <a:solidFill>
                <a:prstClr val="white"/>
              </a:solidFill>
              <a:latin typeface="Verdana"/>
              <a:cs typeface="Times New Roman" panose="02020603050405020304" pitchFamily="18" charset="0"/>
            </a:endParaRPr>
          </a:p>
        </p:txBody>
      </p:sp>
      <p:sp>
        <p:nvSpPr>
          <p:cNvPr id="68" name="Isosceles Triangle 67">
            <a:extLst>
              <a:ext uri="{FF2B5EF4-FFF2-40B4-BE49-F238E27FC236}">
                <a16:creationId xmlns:a16="http://schemas.microsoft.com/office/drawing/2014/main" id="{0873CFA2-65F5-4BC4-9AD8-CEF38AFB8104}"/>
              </a:ext>
            </a:extLst>
          </p:cNvPr>
          <p:cNvSpPr/>
          <p:nvPr/>
        </p:nvSpPr>
        <p:spPr bwMode="gray">
          <a:xfrm rot="5400000">
            <a:off x="-498345" y="3720625"/>
            <a:ext cx="3282966" cy="156653"/>
          </a:xfrm>
          <a:prstGeom prst="triangle">
            <a:avLst/>
          </a:prstGeom>
          <a:solidFill>
            <a:schemeClr val="accent1">
              <a:lumMod val="20000"/>
              <a:lumOff val="80000"/>
            </a:schemeClr>
          </a:solidFill>
          <a:ln w="19050" algn="ctr">
            <a:noFill/>
            <a:miter lim="800000"/>
            <a:headEnd/>
            <a:tailEnd/>
          </a:ln>
        </p:spPr>
        <p:txBody>
          <a:bodyPr wrap="square" lIns="60614" tIns="60614" rIns="60614" bIns="60614" rtlCol="0" anchor="ctr"/>
          <a:lstStyle/>
          <a:p>
            <a:pPr algn="ctr" defTabSz="837848">
              <a:lnSpc>
                <a:spcPct val="106000"/>
              </a:lnSpc>
            </a:pPr>
            <a:endParaRPr lang="en-IN" sz="886" b="1" dirty="0">
              <a:solidFill>
                <a:prstClr val="white"/>
              </a:solidFill>
              <a:latin typeface="Verdana"/>
              <a:cs typeface="Times New Roman" panose="02020603050405020304" pitchFamily="18" charset="0"/>
            </a:endParaRPr>
          </a:p>
        </p:txBody>
      </p:sp>
      <p:sp>
        <p:nvSpPr>
          <p:cNvPr id="69" name="Isosceles Triangle 68">
            <a:extLst>
              <a:ext uri="{FF2B5EF4-FFF2-40B4-BE49-F238E27FC236}">
                <a16:creationId xmlns:a16="http://schemas.microsoft.com/office/drawing/2014/main" id="{25BDD5F8-074E-47A3-B4AC-061DDE6A602A}"/>
              </a:ext>
            </a:extLst>
          </p:cNvPr>
          <p:cNvSpPr/>
          <p:nvPr/>
        </p:nvSpPr>
        <p:spPr bwMode="gray">
          <a:xfrm rot="5400000">
            <a:off x="945159" y="1797758"/>
            <a:ext cx="480545" cy="80939"/>
          </a:xfrm>
          <a:prstGeom prst="triangle">
            <a:avLst/>
          </a:prstGeom>
          <a:solidFill>
            <a:schemeClr val="accent1">
              <a:lumMod val="20000"/>
              <a:lumOff val="80000"/>
            </a:schemeClr>
          </a:solidFill>
          <a:ln w="19050" algn="ctr">
            <a:noFill/>
            <a:miter lim="800000"/>
            <a:headEnd/>
            <a:tailEnd/>
          </a:ln>
        </p:spPr>
        <p:txBody>
          <a:bodyPr wrap="square" lIns="60614" tIns="60614" rIns="60614" bIns="60614" rtlCol="0" anchor="ctr"/>
          <a:lstStyle/>
          <a:p>
            <a:pPr algn="ctr" defTabSz="837848">
              <a:lnSpc>
                <a:spcPct val="106000"/>
              </a:lnSpc>
            </a:pPr>
            <a:endParaRPr lang="en-IN" sz="886" b="1" dirty="0">
              <a:solidFill>
                <a:prstClr val="white"/>
              </a:solidFill>
              <a:latin typeface="Verdana"/>
              <a:cs typeface="Times New Roman" panose="02020603050405020304" pitchFamily="18" charset="0"/>
            </a:endParaRPr>
          </a:p>
        </p:txBody>
      </p:sp>
      <p:sp>
        <p:nvSpPr>
          <p:cNvPr id="70" name="TextBox 69">
            <a:extLst>
              <a:ext uri="{FF2B5EF4-FFF2-40B4-BE49-F238E27FC236}">
                <a16:creationId xmlns:a16="http://schemas.microsoft.com/office/drawing/2014/main" id="{0B984D47-B2AF-4261-AECD-C7753463D525}"/>
              </a:ext>
            </a:extLst>
          </p:cNvPr>
          <p:cNvSpPr txBox="1"/>
          <p:nvPr/>
        </p:nvSpPr>
        <p:spPr>
          <a:xfrm>
            <a:off x="579261" y="1767374"/>
            <a:ext cx="485551" cy="136319"/>
          </a:xfrm>
          <a:prstGeom prst="rect">
            <a:avLst/>
          </a:prstGeom>
          <a:solidFill>
            <a:schemeClr val="accent5"/>
          </a:solidFill>
          <a:ln w="6350">
            <a:noFill/>
          </a:ln>
        </p:spPr>
        <p:txBody>
          <a:bodyPr wrap="square" lIns="0" tIns="0" rIns="0" bIns="0" rtlCol="0">
            <a:spAutoFit/>
          </a:bodyPr>
          <a:lstStyle/>
          <a:p>
            <a:pPr algn="ctr" defTabSz="837848">
              <a:spcBef>
                <a:spcPts val="409"/>
              </a:spcBef>
              <a:spcAft>
                <a:spcPts val="409"/>
              </a:spcAft>
              <a:buSzPct val="100000"/>
            </a:pPr>
            <a:r>
              <a:rPr lang="en-US" sz="886" dirty="0">
                <a:solidFill>
                  <a:prstClr val="white"/>
                </a:solidFill>
                <a:latin typeface="Verdana"/>
                <a:cs typeface="Times New Roman" panose="02020603050405020304" pitchFamily="18" charset="0"/>
              </a:rPr>
              <a:t>Module</a:t>
            </a:r>
            <a:endParaRPr lang="en-IN" sz="886" dirty="0">
              <a:solidFill>
                <a:prstClr val="white"/>
              </a:solidFill>
              <a:latin typeface="Verdana"/>
              <a:cs typeface="Times New Roman" panose="02020603050405020304" pitchFamily="18" charset="0"/>
            </a:endParaRPr>
          </a:p>
        </p:txBody>
      </p:sp>
      <p:sp>
        <p:nvSpPr>
          <p:cNvPr id="71" name="AutoShape 7">
            <a:extLst>
              <a:ext uri="{FF2B5EF4-FFF2-40B4-BE49-F238E27FC236}">
                <a16:creationId xmlns:a16="http://schemas.microsoft.com/office/drawing/2014/main" id="{5683F0B1-D708-4990-B566-CE20B5E45C09}"/>
              </a:ext>
            </a:extLst>
          </p:cNvPr>
          <p:cNvSpPr>
            <a:spLocks noChangeArrowheads="1"/>
          </p:cNvSpPr>
          <p:nvPr/>
        </p:nvSpPr>
        <p:spPr bwMode="auto">
          <a:xfrm>
            <a:off x="5030073" y="1620475"/>
            <a:ext cx="3667054" cy="482135"/>
          </a:xfrm>
          <a:prstGeom prst="chevron">
            <a:avLst>
              <a:gd name="adj" fmla="val 36855"/>
            </a:avLst>
          </a:prstGeom>
          <a:solidFill>
            <a:schemeClr val="accent5"/>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886" b="1" dirty="0">
                <a:solidFill>
                  <a:srgbClr val="FFFFFF"/>
                </a:solidFill>
                <a:latin typeface="Verdana"/>
                <a:ea typeface="MS PGothic" panose="020B0600070205080204" pitchFamily="34" charset="-128"/>
                <a:cs typeface="Times New Roman" panose="02020603050405020304" pitchFamily="18" charset="0"/>
              </a:rPr>
              <a:t>Module-2 (Development of Strategic Vision 2030)</a:t>
            </a:r>
            <a:endParaRPr lang="en-IN" sz="886" dirty="0">
              <a:solidFill>
                <a:prstClr val="black"/>
              </a:solidFill>
              <a:latin typeface="Verdana"/>
              <a:ea typeface="Times New Roman" panose="02020603050405020304" pitchFamily="18" charset="0"/>
              <a:cs typeface="Times New Roman" panose="02020603050405020304" pitchFamily="18" charset="0"/>
            </a:endParaRPr>
          </a:p>
        </p:txBody>
      </p:sp>
      <p:sp>
        <p:nvSpPr>
          <p:cNvPr id="72" name="Rectangle 71">
            <a:extLst>
              <a:ext uri="{FF2B5EF4-FFF2-40B4-BE49-F238E27FC236}">
                <a16:creationId xmlns:a16="http://schemas.microsoft.com/office/drawing/2014/main" id="{6D4150BF-5FC1-42ED-B935-8C2914A5B165}"/>
              </a:ext>
            </a:extLst>
          </p:cNvPr>
          <p:cNvSpPr>
            <a:spLocks noChangeArrowheads="1"/>
          </p:cNvSpPr>
          <p:nvPr/>
        </p:nvSpPr>
        <p:spPr bwMode="auto">
          <a:xfrm>
            <a:off x="5010920" y="2184239"/>
            <a:ext cx="3645870" cy="3901455"/>
          </a:xfrm>
          <a:prstGeom prst="rect">
            <a:avLst/>
          </a:prstGeom>
          <a:solidFill>
            <a:srgbClr val="FFFFFF"/>
          </a:solidFill>
          <a:ln w="12700">
            <a:solidFill>
              <a:srgbClr val="B4B4B4"/>
            </a:solidFill>
            <a:miter lim="800000"/>
            <a:headEnd type="none" w="sm" len="sm"/>
            <a:tailEnd type="none" w="sm" len="sm"/>
          </a:ln>
        </p:spPr>
        <p:txBody>
          <a:bodyPr wrap="square" lIns="24545" tIns="24545" rIns="24545" bIns="24545" anchor="t" anchorCtr="0">
            <a:noAutofit/>
          </a:bodyPr>
          <a:lstStyle/>
          <a:p>
            <a:pPr marL="116895" indent="-116895" defTabSz="837848">
              <a:lnSpc>
                <a:spcPct val="150000"/>
              </a:lnSpc>
              <a:buSzPct val="100000"/>
              <a:buFont typeface="Arial" panose="020B0604020202020204" pitchFamily="34" charset="0"/>
              <a:buChar char="•"/>
            </a:pPr>
            <a:r>
              <a:rPr lang="en-US" sz="886" b="1" dirty="0">
                <a:solidFill>
                  <a:prstClr val="black"/>
                </a:solidFill>
                <a:latin typeface="Verdana"/>
              </a:rPr>
              <a:t>Power sector vision development for 2030</a:t>
            </a:r>
          </a:p>
          <a:p>
            <a:pPr marL="428614" lvl="1" indent="-116895" defTabSz="837848">
              <a:lnSpc>
                <a:spcPct val="150000"/>
              </a:lnSpc>
              <a:buSzPct val="100000"/>
              <a:buFont typeface="Arial" panose="020B0604020202020204" pitchFamily="34" charset="0"/>
              <a:buChar char="•"/>
            </a:pPr>
            <a:r>
              <a:rPr lang="en-US" sz="886" dirty="0">
                <a:solidFill>
                  <a:prstClr val="black"/>
                </a:solidFill>
                <a:latin typeface="Verdana"/>
              </a:rPr>
              <a:t>Formulation of vision statement and goals.</a:t>
            </a:r>
          </a:p>
          <a:p>
            <a:pPr marL="116895" indent="-116895" defTabSz="837848">
              <a:lnSpc>
                <a:spcPct val="150000"/>
              </a:lnSpc>
              <a:buSzPct val="100000"/>
              <a:buFont typeface="Arial" panose="020B0604020202020204" pitchFamily="34" charset="0"/>
              <a:buChar char="•"/>
            </a:pPr>
            <a:r>
              <a:rPr lang="en-US" sz="886" b="1" dirty="0">
                <a:solidFill>
                  <a:prstClr val="black"/>
                </a:solidFill>
                <a:latin typeface="Verdana"/>
              </a:rPr>
              <a:t>Detailing of the vision into the key strategic priorities and actions</a:t>
            </a:r>
          </a:p>
          <a:p>
            <a:pPr marL="428614" lvl="1" indent="-116895" defTabSz="837848">
              <a:lnSpc>
                <a:spcPct val="150000"/>
              </a:lnSpc>
              <a:buSzPct val="100000"/>
              <a:buFont typeface="Arial" panose="020B0604020202020204" pitchFamily="34" charset="0"/>
              <a:buChar char="•"/>
            </a:pPr>
            <a:r>
              <a:rPr lang="en-US" sz="886" dirty="0">
                <a:solidFill>
                  <a:prstClr val="black"/>
                </a:solidFill>
                <a:latin typeface="Verdana"/>
              </a:rPr>
              <a:t>Developing key strategic initiatives</a:t>
            </a:r>
          </a:p>
          <a:p>
            <a:pPr marL="428614" lvl="1" indent="-116895" defTabSz="837848">
              <a:lnSpc>
                <a:spcPct val="150000"/>
              </a:lnSpc>
              <a:buSzPct val="100000"/>
              <a:buFont typeface="Arial" panose="020B0604020202020204" pitchFamily="34" charset="0"/>
              <a:buChar char="•"/>
            </a:pPr>
            <a:r>
              <a:rPr lang="en-US" sz="886" dirty="0">
                <a:solidFill>
                  <a:prstClr val="black"/>
                </a:solidFill>
                <a:latin typeface="Verdana"/>
              </a:rPr>
              <a:t>Identification of critical enablers</a:t>
            </a:r>
            <a:endParaRPr lang="en-IN" sz="886" dirty="0">
              <a:solidFill>
                <a:prstClr val="black"/>
              </a:solidFill>
              <a:latin typeface="Verdana"/>
            </a:endParaRPr>
          </a:p>
          <a:p>
            <a:pPr marL="116895" indent="-116895" defTabSz="837848">
              <a:lnSpc>
                <a:spcPct val="150000"/>
              </a:lnSpc>
              <a:buSzPct val="100000"/>
              <a:buFont typeface="Arial" panose="020B0604020202020204" pitchFamily="34" charset="0"/>
              <a:buChar char="•"/>
            </a:pPr>
            <a:r>
              <a:rPr lang="en-US" sz="886" b="1" dirty="0">
                <a:solidFill>
                  <a:prstClr val="black"/>
                </a:solidFill>
                <a:latin typeface="Verdana"/>
              </a:rPr>
              <a:t>Development of detailed action plan identifying roles and responsibilities of key stakeholders</a:t>
            </a:r>
          </a:p>
          <a:p>
            <a:pPr marL="428614" lvl="1" indent="-116895" defTabSz="837848">
              <a:lnSpc>
                <a:spcPct val="150000"/>
              </a:lnSpc>
              <a:buSzPct val="100000"/>
              <a:buFont typeface="Arial" panose="020B0604020202020204" pitchFamily="34" charset="0"/>
              <a:buChar char="•"/>
            </a:pPr>
            <a:r>
              <a:rPr lang="en-US" sz="886" dirty="0">
                <a:solidFill>
                  <a:prstClr val="black"/>
                </a:solidFill>
                <a:latin typeface="Verdana"/>
              </a:rPr>
              <a:t>Developing roadmap for implementation of each initiative</a:t>
            </a:r>
          </a:p>
          <a:p>
            <a:pPr marL="428614" lvl="1" indent="-116895" defTabSz="837848">
              <a:lnSpc>
                <a:spcPct val="150000"/>
              </a:lnSpc>
              <a:buSzPct val="100000"/>
              <a:buFont typeface="Arial" panose="020B0604020202020204" pitchFamily="34" charset="0"/>
              <a:buChar char="•"/>
            </a:pPr>
            <a:r>
              <a:rPr lang="en-US" sz="886" dirty="0">
                <a:solidFill>
                  <a:prstClr val="black"/>
                </a:solidFill>
                <a:latin typeface="Verdana"/>
              </a:rPr>
              <a:t>Identification of activities and target oriented </a:t>
            </a:r>
            <a:r>
              <a:rPr lang="en-US" sz="886" b="1" dirty="0">
                <a:solidFill>
                  <a:prstClr val="black"/>
                </a:solidFill>
                <a:latin typeface="Verdana"/>
              </a:rPr>
              <a:t>Key Performance Indicators </a:t>
            </a:r>
            <a:r>
              <a:rPr lang="en-US" sz="886" dirty="0">
                <a:solidFill>
                  <a:prstClr val="black"/>
                </a:solidFill>
                <a:latin typeface="Verdana"/>
              </a:rPr>
              <a:t>(KPI)</a:t>
            </a:r>
          </a:p>
          <a:p>
            <a:pPr marL="428614" lvl="1" indent="-116895" defTabSz="837848">
              <a:lnSpc>
                <a:spcPct val="150000"/>
              </a:lnSpc>
              <a:buSzPct val="100000"/>
              <a:buFont typeface="Arial" panose="020B0604020202020204" pitchFamily="34" charset="0"/>
              <a:buChar char="•"/>
            </a:pPr>
            <a:r>
              <a:rPr lang="en-US" sz="886" dirty="0">
                <a:solidFill>
                  <a:prstClr val="black"/>
                </a:solidFill>
                <a:latin typeface="Verdana"/>
              </a:rPr>
              <a:t>Development of business case and implementation roadmap for each initiative</a:t>
            </a:r>
          </a:p>
          <a:p>
            <a:pPr marL="428614" lvl="1" indent="-116895" defTabSz="837848">
              <a:lnSpc>
                <a:spcPct val="150000"/>
              </a:lnSpc>
              <a:buSzPct val="100000"/>
              <a:buFont typeface="Arial" panose="020B0604020202020204" pitchFamily="34" charset="0"/>
              <a:buChar char="•"/>
            </a:pPr>
            <a:r>
              <a:rPr lang="en-US" sz="886" dirty="0">
                <a:solidFill>
                  <a:prstClr val="black"/>
                </a:solidFill>
                <a:latin typeface="Verdana"/>
              </a:rPr>
              <a:t>Development of effective monitoring and evaluation framework with adequate governance mechanism.</a:t>
            </a:r>
            <a:endParaRPr lang="en-IN" sz="886" dirty="0">
              <a:solidFill>
                <a:prstClr val="black"/>
              </a:solidFill>
              <a:latin typeface="Verdana"/>
            </a:endParaRPr>
          </a:p>
        </p:txBody>
      </p:sp>
      <p:sp>
        <p:nvSpPr>
          <p:cNvPr id="73" name="Oval 72">
            <a:extLst>
              <a:ext uri="{FF2B5EF4-FFF2-40B4-BE49-F238E27FC236}">
                <a16:creationId xmlns:a16="http://schemas.microsoft.com/office/drawing/2014/main" id="{3B6FFE2A-EC2D-4FE7-B7C0-BFBE90594327}"/>
              </a:ext>
            </a:extLst>
          </p:cNvPr>
          <p:cNvSpPr/>
          <p:nvPr/>
        </p:nvSpPr>
        <p:spPr bwMode="gray">
          <a:xfrm>
            <a:off x="1270560" y="1499325"/>
            <a:ext cx="315469" cy="268049"/>
          </a:xfrm>
          <a:prstGeom prst="ellipse">
            <a:avLst/>
          </a:prstGeom>
          <a:solidFill>
            <a:srgbClr val="9DD4CF"/>
          </a:solidFill>
          <a:ln w="19050" algn="ctr">
            <a:noFill/>
            <a:miter lim="800000"/>
            <a:headEnd/>
            <a:tailEnd/>
          </a:ln>
        </p:spPr>
        <p:txBody>
          <a:bodyPr wrap="square" lIns="60614" tIns="60614" rIns="60614" bIns="60614" rtlCol="0" anchor="ctr"/>
          <a:lstStyle/>
          <a:p>
            <a:pPr algn="ctr" defTabSz="837848">
              <a:lnSpc>
                <a:spcPct val="106000"/>
              </a:lnSpc>
            </a:pPr>
            <a:r>
              <a:rPr lang="en-US" sz="886" b="1" dirty="0">
                <a:solidFill>
                  <a:prstClr val="black"/>
                </a:solidFill>
                <a:latin typeface="Verdana"/>
              </a:rPr>
              <a:t>1</a:t>
            </a:r>
            <a:endParaRPr lang="en-IN" sz="886" b="1" dirty="0">
              <a:solidFill>
                <a:prstClr val="black"/>
              </a:solidFill>
              <a:latin typeface="Verdana"/>
            </a:endParaRPr>
          </a:p>
        </p:txBody>
      </p:sp>
      <p:sp>
        <p:nvSpPr>
          <p:cNvPr id="74" name="Oval 73">
            <a:extLst>
              <a:ext uri="{FF2B5EF4-FFF2-40B4-BE49-F238E27FC236}">
                <a16:creationId xmlns:a16="http://schemas.microsoft.com/office/drawing/2014/main" id="{52215EA4-4432-4BAF-B7B4-7282002C0AC2}"/>
              </a:ext>
            </a:extLst>
          </p:cNvPr>
          <p:cNvSpPr/>
          <p:nvPr/>
        </p:nvSpPr>
        <p:spPr bwMode="gray">
          <a:xfrm>
            <a:off x="4982573" y="1495182"/>
            <a:ext cx="315469" cy="268049"/>
          </a:xfrm>
          <a:prstGeom prst="ellipse">
            <a:avLst/>
          </a:prstGeom>
          <a:solidFill>
            <a:srgbClr val="9DD4CF"/>
          </a:solidFill>
          <a:ln w="19050" algn="ctr">
            <a:noFill/>
            <a:miter lim="800000"/>
            <a:headEnd/>
            <a:tailEnd/>
          </a:ln>
        </p:spPr>
        <p:txBody>
          <a:bodyPr wrap="square" lIns="60614" tIns="60614" rIns="60614" bIns="60614" rtlCol="0" anchor="ctr"/>
          <a:lstStyle/>
          <a:p>
            <a:pPr algn="ctr" defTabSz="837848">
              <a:lnSpc>
                <a:spcPct val="106000"/>
              </a:lnSpc>
            </a:pPr>
            <a:r>
              <a:rPr lang="en-US" sz="886" b="1" dirty="0">
                <a:solidFill>
                  <a:prstClr val="black"/>
                </a:solidFill>
                <a:latin typeface="Verdana"/>
              </a:rPr>
              <a:t>2</a:t>
            </a:r>
            <a:endParaRPr lang="en-IN" sz="886" b="1" dirty="0">
              <a:solidFill>
                <a:prstClr val="black"/>
              </a:solidFill>
              <a:latin typeface="Verdana"/>
            </a:endParaRPr>
          </a:p>
        </p:txBody>
      </p:sp>
      <p:sp>
        <p:nvSpPr>
          <p:cNvPr id="75" name="Oval 74">
            <a:extLst>
              <a:ext uri="{FF2B5EF4-FFF2-40B4-BE49-F238E27FC236}">
                <a16:creationId xmlns:a16="http://schemas.microsoft.com/office/drawing/2014/main" id="{76333933-C2FF-4794-A57B-BFDF18C600A4}"/>
              </a:ext>
            </a:extLst>
          </p:cNvPr>
          <p:cNvSpPr/>
          <p:nvPr/>
        </p:nvSpPr>
        <p:spPr bwMode="gray">
          <a:xfrm>
            <a:off x="8786745" y="1499782"/>
            <a:ext cx="315469" cy="268049"/>
          </a:xfrm>
          <a:prstGeom prst="ellipse">
            <a:avLst/>
          </a:prstGeom>
          <a:solidFill>
            <a:srgbClr val="9DD4CF"/>
          </a:solidFill>
          <a:ln w="19050" algn="ctr">
            <a:noFill/>
            <a:miter lim="800000"/>
            <a:headEnd/>
            <a:tailEnd/>
          </a:ln>
        </p:spPr>
        <p:txBody>
          <a:bodyPr wrap="square" lIns="60614" tIns="60614" rIns="60614" bIns="60614" rtlCol="0" anchor="ctr"/>
          <a:lstStyle/>
          <a:p>
            <a:pPr algn="ctr" defTabSz="837848">
              <a:lnSpc>
                <a:spcPct val="106000"/>
              </a:lnSpc>
            </a:pPr>
            <a:r>
              <a:rPr lang="en-US" sz="886" b="1" dirty="0">
                <a:solidFill>
                  <a:prstClr val="black"/>
                </a:solidFill>
                <a:latin typeface="Verdana"/>
              </a:rPr>
              <a:t>3</a:t>
            </a:r>
            <a:endParaRPr lang="en-IN" sz="886" b="1" dirty="0">
              <a:solidFill>
                <a:prstClr val="black"/>
              </a:solidFill>
              <a:latin typeface="Verdana"/>
            </a:endParaRPr>
          </a:p>
        </p:txBody>
      </p:sp>
      <p:cxnSp>
        <p:nvCxnSpPr>
          <p:cNvPr id="76" name="Straight Arrow Connector 75">
            <a:extLst>
              <a:ext uri="{FF2B5EF4-FFF2-40B4-BE49-F238E27FC236}">
                <a16:creationId xmlns:a16="http://schemas.microsoft.com/office/drawing/2014/main" id="{C46BE296-CF39-4D80-A5A0-22BDB066903B}"/>
              </a:ext>
            </a:extLst>
          </p:cNvPr>
          <p:cNvCxnSpPr>
            <a:cxnSpLocks/>
          </p:cNvCxnSpPr>
          <p:nvPr/>
        </p:nvCxnSpPr>
        <p:spPr>
          <a:xfrm>
            <a:off x="8814524" y="1212653"/>
            <a:ext cx="2843181"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583DF8C8-774A-4A51-8132-E9E473803726}"/>
              </a:ext>
            </a:extLst>
          </p:cNvPr>
          <p:cNvSpPr txBox="1"/>
          <p:nvPr/>
        </p:nvSpPr>
        <p:spPr>
          <a:xfrm>
            <a:off x="4447443" y="1061602"/>
            <a:ext cx="912178" cy="136319"/>
          </a:xfrm>
          <a:prstGeom prst="rect">
            <a:avLst/>
          </a:prstGeom>
          <a:solidFill>
            <a:schemeClr val="bg1"/>
          </a:solidFill>
        </p:spPr>
        <p:txBody>
          <a:bodyPr wrap="square" lIns="0" tIns="0" rIns="0" bIns="0" rtlCol="0">
            <a:spAutoFit/>
          </a:bodyPr>
          <a:lstStyle/>
          <a:p>
            <a:pPr algn="ctr" defTabSz="623438">
              <a:spcBef>
                <a:spcPts val="409"/>
              </a:spcBef>
              <a:buSzPct val="100000"/>
              <a:defRPr/>
            </a:pPr>
            <a:r>
              <a:rPr lang="en-US" sz="886" b="1" dirty="0">
                <a:solidFill>
                  <a:prstClr val="black"/>
                </a:solidFill>
                <a:latin typeface="Verdana"/>
              </a:rPr>
              <a:t>Phase-1</a:t>
            </a:r>
            <a:endParaRPr lang="en-IN" sz="886" b="1" dirty="0">
              <a:solidFill>
                <a:prstClr val="black"/>
              </a:solidFill>
              <a:latin typeface="Verdana"/>
            </a:endParaRPr>
          </a:p>
        </p:txBody>
      </p:sp>
      <p:sp>
        <p:nvSpPr>
          <p:cNvPr id="78" name="TextBox 77">
            <a:extLst>
              <a:ext uri="{FF2B5EF4-FFF2-40B4-BE49-F238E27FC236}">
                <a16:creationId xmlns:a16="http://schemas.microsoft.com/office/drawing/2014/main" id="{DFF31B4C-A789-4797-8147-1AAB4FA44F9F}"/>
              </a:ext>
            </a:extLst>
          </p:cNvPr>
          <p:cNvSpPr txBox="1"/>
          <p:nvPr/>
        </p:nvSpPr>
        <p:spPr>
          <a:xfrm>
            <a:off x="9674019" y="1057414"/>
            <a:ext cx="912178" cy="136319"/>
          </a:xfrm>
          <a:prstGeom prst="rect">
            <a:avLst/>
          </a:prstGeom>
          <a:solidFill>
            <a:schemeClr val="bg1"/>
          </a:solidFill>
        </p:spPr>
        <p:txBody>
          <a:bodyPr wrap="square" lIns="0" tIns="0" rIns="0" bIns="0" rtlCol="0">
            <a:spAutoFit/>
          </a:bodyPr>
          <a:lstStyle/>
          <a:p>
            <a:pPr algn="ctr" defTabSz="623438">
              <a:spcBef>
                <a:spcPts val="409"/>
              </a:spcBef>
              <a:buSzPct val="100000"/>
              <a:defRPr/>
            </a:pPr>
            <a:r>
              <a:rPr lang="en-US" sz="886" b="1" dirty="0">
                <a:solidFill>
                  <a:prstClr val="black"/>
                </a:solidFill>
                <a:latin typeface="Verdana"/>
              </a:rPr>
              <a:t>Phase-2</a:t>
            </a:r>
            <a:endParaRPr lang="en-IN" sz="886" b="1" dirty="0">
              <a:solidFill>
                <a:prstClr val="black"/>
              </a:solidFill>
              <a:latin typeface="Verdana"/>
            </a:endParaRPr>
          </a:p>
        </p:txBody>
      </p:sp>
      <p:sp>
        <p:nvSpPr>
          <p:cNvPr id="79" name="Rectangle 78">
            <a:extLst>
              <a:ext uri="{FF2B5EF4-FFF2-40B4-BE49-F238E27FC236}">
                <a16:creationId xmlns:a16="http://schemas.microsoft.com/office/drawing/2014/main" id="{39AD3AD2-A41F-4C90-98E5-C22DB191309D}"/>
              </a:ext>
            </a:extLst>
          </p:cNvPr>
          <p:cNvSpPr/>
          <p:nvPr/>
        </p:nvSpPr>
        <p:spPr bwMode="gray">
          <a:xfrm>
            <a:off x="8792467" y="1377299"/>
            <a:ext cx="2893017" cy="4798942"/>
          </a:xfrm>
          <a:prstGeom prst="rect">
            <a:avLst/>
          </a:prstGeom>
          <a:noFill/>
          <a:ln w="19050" algn="ctr">
            <a:solidFill>
              <a:srgbClr val="007680"/>
            </a:solidFill>
            <a:miter lim="800000"/>
            <a:headEnd/>
            <a:tailEnd/>
          </a:ln>
        </p:spPr>
        <p:txBody>
          <a:bodyPr wrap="square" lIns="60614" tIns="60614" rIns="60614" bIns="60614" rtlCol="0" anchor="ctr"/>
          <a:lstStyle/>
          <a:p>
            <a:pPr algn="ctr" defTabSz="837848">
              <a:lnSpc>
                <a:spcPct val="106000"/>
              </a:lnSpc>
            </a:pPr>
            <a:endParaRPr lang="en-IN" sz="886" b="1" dirty="0">
              <a:solidFill>
                <a:prstClr val="white"/>
              </a:solidFill>
              <a:latin typeface="Verdana"/>
            </a:endParaRPr>
          </a:p>
        </p:txBody>
      </p:sp>
      <p:cxnSp>
        <p:nvCxnSpPr>
          <p:cNvPr id="80" name="Straight Arrow Connector 79">
            <a:extLst>
              <a:ext uri="{FF2B5EF4-FFF2-40B4-BE49-F238E27FC236}">
                <a16:creationId xmlns:a16="http://schemas.microsoft.com/office/drawing/2014/main" id="{A83AB1A2-BAC4-411A-A8A2-4F39476D0E0B}"/>
              </a:ext>
            </a:extLst>
          </p:cNvPr>
          <p:cNvCxnSpPr>
            <a:cxnSpLocks/>
          </p:cNvCxnSpPr>
          <p:nvPr/>
        </p:nvCxnSpPr>
        <p:spPr>
          <a:xfrm>
            <a:off x="1249243" y="6342660"/>
            <a:ext cx="7447884" cy="833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ADE7BABB-09E4-4D24-8145-E6B5263429C7}"/>
              </a:ext>
            </a:extLst>
          </p:cNvPr>
          <p:cNvSpPr txBox="1"/>
          <p:nvPr/>
        </p:nvSpPr>
        <p:spPr>
          <a:xfrm>
            <a:off x="4417224" y="6242953"/>
            <a:ext cx="912178" cy="136319"/>
          </a:xfrm>
          <a:prstGeom prst="rect">
            <a:avLst/>
          </a:prstGeom>
          <a:solidFill>
            <a:schemeClr val="bg1"/>
          </a:solidFill>
        </p:spPr>
        <p:txBody>
          <a:bodyPr wrap="square" lIns="0" tIns="0" rIns="0" bIns="0" rtlCol="0">
            <a:spAutoFit/>
          </a:bodyPr>
          <a:lstStyle/>
          <a:p>
            <a:pPr algn="ctr" defTabSz="623438">
              <a:spcBef>
                <a:spcPts val="409"/>
              </a:spcBef>
              <a:buSzPct val="100000"/>
              <a:defRPr/>
            </a:pPr>
            <a:r>
              <a:rPr lang="en-US" sz="886" dirty="0">
                <a:solidFill>
                  <a:prstClr val="black"/>
                </a:solidFill>
                <a:latin typeface="Verdana"/>
              </a:rPr>
              <a:t>24 Weeks</a:t>
            </a:r>
            <a:endParaRPr lang="en-IN" sz="886" dirty="0">
              <a:solidFill>
                <a:prstClr val="black"/>
              </a:solidFill>
              <a:latin typeface="Verdana"/>
            </a:endParaRPr>
          </a:p>
        </p:txBody>
      </p:sp>
      <p:cxnSp>
        <p:nvCxnSpPr>
          <p:cNvPr id="82" name="Straight Arrow Connector 81">
            <a:extLst>
              <a:ext uri="{FF2B5EF4-FFF2-40B4-BE49-F238E27FC236}">
                <a16:creationId xmlns:a16="http://schemas.microsoft.com/office/drawing/2014/main" id="{9F93BA5A-D8C5-49E4-BD6C-816BE1CE0D9D}"/>
              </a:ext>
            </a:extLst>
          </p:cNvPr>
          <p:cNvCxnSpPr>
            <a:cxnSpLocks/>
          </p:cNvCxnSpPr>
          <p:nvPr/>
        </p:nvCxnSpPr>
        <p:spPr>
          <a:xfrm flipV="1">
            <a:off x="8786745" y="6341241"/>
            <a:ext cx="2898739" cy="7152"/>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41FD90C5-6248-4B21-8DFB-CD26E941CDDC}"/>
              </a:ext>
            </a:extLst>
          </p:cNvPr>
          <p:cNvSpPr txBox="1"/>
          <p:nvPr/>
        </p:nvSpPr>
        <p:spPr>
          <a:xfrm>
            <a:off x="9780025" y="6270434"/>
            <a:ext cx="912178" cy="136319"/>
          </a:xfrm>
          <a:prstGeom prst="rect">
            <a:avLst/>
          </a:prstGeom>
          <a:solidFill>
            <a:schemeClr val="bg1"/>
          </a:solidFill>
        </p:spPr>
        <p:txBody>
          <a:bodyPr wrap="square" lIns="0" tIns="0" rIns="0" bIns="0" rtlCol="0">
            <a:spAutoFit/>
          </a:bodyPr>
          <a:lstStyle/>
          <a:p>
            <a:pPr algn="ctr" defTabSz="623438">
              <a:spcBef>
                <a:spcPts val="409"/>
              </a:spcBef>
              <a:buSzPct val="100000"/>
              <a:defRPr/>
            </a:pPr>
            <a:r>
              <a:rPr lang="en-US" sz="886" dirty="0">
                <a:solidFill>
                  <a:prstClr val="black"/>
                </a:solidFill>
                <a:latin typeface="Verdana"/>
              </a:rPr>
              <a:t>72 Weeks</a:t>
            </a:r>
            <a:endParaRPr lang="en-IN" sz="886" dirty="0">
              <a:solidFill>
                <a:prstClr val="black"/>
              </a:solidFill>
              <a:latin typeface="Verdana"/>
            </a:endParaRPr>
          </a:p>
        </p:txBody>
      </p:sp>
      <p:sp>
        <p:nvSpPr>
          <p:cNvPr id="84" name="TextBox 83">
            <a:extLst>
              <a:ext uri="{FF2B5EF4-FFF2-40B4-BE49-F238E27FC236}">
                <a16:creationId xmlns:a16="http://schemas.microsoft.com/office/drawing/2014/main" id="{5DCD2966-08CB-4C1E-905E-8DD794281590}"/>
              </a:ext>
            </a:extLst>
          </p:cNvPr>
          <p:cNvSpPr txBox="1"/>
          <p:nvPr/>
        </p:nvSpPr>
        <p:spPr>
          <a:xfrm>
            <a:off x="528723" y="6242953"/>
            <a:ext cx="702669" cy="136319"/>
          </a:xfrm>
          <a:prstGeom prst="rect">
            <a:avLst/>
          </a:prstGeom>
          <a:solidFill>
            <a:schemeClr val="accent5"/>
          </a:solidFill>
          <a:ln w="6350">
            <a:noFill/>
          </a:ln>
        </p:spPr>
        <p:txBody>
          <a:bodyPr wrap="square" lIns="0" tIns="0" rIns="0" bIns="0" rtlCol="0">
            <a:spAutoFit/>
          </a:bodyPr>
          <a:lstStyle/>
          <a:p>
            <a:pPr algn="ctr" defTabSz="837848">
              <a:spcBef>
                <a:spcPts val="205"/>
              </a:spcBef>
              <a:spcAft>
                <a:spcPts val="205"/>
              </a:spcAft>
              <a:buSzPct val="100000"/>
            </a:pPr>
            <a:r>
              <a:rPr lang="en-US" sz="886" dirty="0">
                <a:solidFill>
                  <a:prstClr val="white"/>
                </a:solidFill>
                <a:latin typeface="Verdana"/>
                <a:cs typeface="Times New Roman" panose="02020603050405020304" pitchFamily="18" charset="0"/>
              </a:rPr>
              <a:t>Time line</a:t>
            </a:r>
            <a:endParaRPr lang="en-IN" sz="886" dirty="0">
              <a:solidFill>
                <a:prstClr val="white"/>
              </a:solidFill>
              <a:latin typeface="Verdana"/>
              <a:cs typeface="Times New Roman" panose="02020603050405020304" pitchFamily="18" charset="0"/>
            </a:endParaRPr>
          </a:p>
        </p:txBody>
      </p:sp>
      <p:sp>
        <p:nvSpPr>
          <p:cNvPr id="85" name="Title 2">
            <a:extLst>
              <a:ext uri="{FF2B5EF4-FFF2-40B4-BE49-F238E27FC236}">
                <a16:creationId xmlns:a16="http://schemas.microsoft.com/office/drawing/2014/main" id="{87F31029-AC3C-4425-B2E9-6FA2210331A3}"/>
              </a:ext>
            </a:extLst>
          </p:cNvPr>
          <p:cNvSpPr>
            <a:spLocks noGrp="1"/>
          </p:cNvSpPr>
          <p:nvPr>
            <p:ph type="title"/>
          </p:nvPr>
        </p:nvSpPr>
        <p:spPr>
          <a:xfrm>
            <a:off x="617225" y="245179"/>
            <a:ext cx="8437784" cy="227797"/>
          </a:xfrm>
        </p:spPr>
        <p:txBody>
          <a:bodyPr vert="horz"/>
          <a:lstStyle/>
          <a:p>
            <a:r>
              <a:rPr lang="en-US" sz="1800" dirty="0"/>
              <a:t>Detailed approach</a:t>
            </a:r>
            <a:endParaRPr lang="en-IN" sz="1800" dirty="0"/>
          </a:p>
        </p:txBody>
      </p:sp>
      <p:sp>
        <p:nvSpPr>
          <p:cNvPr id="86" name="Text Placeholder 1">
            <a:extLst>
              <a:ext uri="{FF2B5EF4-FFF2-40B4-BE49-F238E27FC236}">
                <a16:creationId xmlns:a16="http://schemas.microsoft.com/office/drawing/2014/main" id="{7C129EAC-7E7D-43A9-8375-A4D92DF90902}"/>
              </a:ext>
            </a:extLst>
          </p:cNvPr>
          <p:cNvSpPr>
            <a:spLocks noGrp="1"/>
          </p:cNvSpPr>
          <p:nvPr>
            <p:ph type="body" sz="quarter" idx="13"/>
          </p:nvPr>
        </p:nvSpPr>
        <p:spPr>
          <a:xfrm>
            <a:off x="624661" y="571436"/>
            <a:ext cx="10964886" cy="173136"/>
          </a:xfrm>
        </p:spPr>
        <p:txBody>
          <a:bodyPr/>
          <a:lstStyle/>
          <a:p>
            <a:pPr algn="just"/>
            <a:r>
              <a:rPr lang="en-US" sz="1600" dirty="0"/>
              <a:t>Our customized approach builds on your priority areas and integrates different modules to deliver comprehensive solution</a:t>
            </a:r>
          </a:p>
          <a:p>
            <a:endParaRPr lang="en-IN" sz="1600" dirty="0"/>
          </a:p>
        </p:txBody>
      </p:sp>
    </p:spTree>
    <p:extLst>
      <p:ext uri="{BB962C8B-B14F-4D97-AF65-F5344CB8AC3E}">
        <p14:creationId xmlns:p14="http://schemas.microsoft.com/office/powerpoint/2010/main" val="103199664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7560ED7-7843-49C6-B5A6-96D3EAF6658B}"/>
              </a:ext>
            </a:extLst>
          </p:cNvPr>
          <p:cNvGraphicFramePr>
            <a:graphicFrameLocks noChangeAspect="1"/>
          </p:cNvGraphicFramePr>
          <p:nvPr>
            <p:custDataLst>
              <p:tags r:id="rId1"/>
            </p:custDataLst>
            <p:extLst>
              <p:ext uri="{D42A27DB-BD31-4B8C-83A1-F6EECF244321}">
                <p14:modId xmlns:p14="http://schemas.microsoft.com/office/powerpoint/2010/main" val="28465660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4" name="Object 3" hidden="1">
                        <a:extLst>
                          <a:ext uri="{FF2B5EF4-FFF2-40B4-BE49-F238E27FC236}">
                            <a16:creationId xmlns:a16="http://schemas.microsoft.com/office/drawing/2014/main" id="{17560ED7-7843-49C6-B5A6-96D3EAF6658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6" name="Group 5">
            <a:extLst>
              <a:ext uri="{FF2B5EF4-FFF2-40B4-BE49-F238E27FC236}">
                <a16:creationId xmlns:a16="http://schemas.microsoft.com/office/drawing/2014/main" id="{0C20EE69-A446-44C8-BE6D-3BE3148947E9}"/>
              </a:ext>
            </a:extLst>
          </p:cNvPr>
          <p:cNvGrpSpPr/>
          <p:nvPr/>
        </p:nvGrpSpPr>
        <p:grpSpPr>
          <a:xfrm>
            <a:off x="8752588" y="125"/>
            <a:ext cx="3439412" cy="312153"/>
            <a:chOff x="3284559" y="173998"/>
            <a:chExt cx="10407720" cy="452926"/>
          </a:xfrm>
        </p:grpSpPr>
        <p:sp>
          <p:nvSpPr>
            <p:cNvPr id="7" name="AutoShape 6">
              <a:extLst>
                <a:ext uri="{FF2B5EF4-FFF2-40B4-BE49-F238E27FC236}">
                  <a16:creationId xmlns:a16="http://schemas.microsoft.com/office/drawing/2014/main" id="{33BA062F-35F6-4E54-84BE-3424B94D04E4}"/>
                </a:ext>
              </a:extLst>
            </p:cNvPr>
            <p:cNvSpPr>
              <a:spLocks noChangeArrowheads="1"/>
            </p:cNvSpPr>
            <p:nvPr/>
          </p:nvSpPr>
          <p:spPr bwMode="auto">
            <a:xfrm>
              <a:off x="3284559" y="173998"/>
              <a:ext cx="3870036" cy="452926"/>
            </a:xfrm>
            <a:prstGeom prst="homePlate">
              <a:avLst>
                <a:gd name="adj" fmla="val 38784"/>
              </a:avLst>
            </a:prstGeom>
            <a:solidFill>
              <a:srgbClr val="0097A9"/>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solidFill>
                    <a:srgbClr val="FFFFFF"/>
                  </a:solidFill>
                  <a:latin typeface="Verdana"/>
                  <a:ea typeface="MS PGothic" panose="020B0600070205080204" pitchFamily="34" charset="-128"/>
                  <a:cs typeface="Times New Roman" panose="02020603050405020304" pitchFamily="18" charset="0"/>
                </a:rPr>
                <a:t>Module-1 (</a:t>
              </a:r>
              <a:r>
                <a:rPr lang="en-US" sz="545" b="1" dirty="0">
                  <a:solidFill>
                    <a:prstClr val="white"/>
                  </a:solidFill>
                  <a:latin typeface="Verdana"/>
                </a:rPr>
                <a:t>Diagnostic Review &amp; Causal Analysis)</a:t>
              </a:r>
              <a:endParaRPr lang="en-IN" sz="545" b="1" dirty="0">
                <a:solidFill>
                  <a:prstClr val="black"/>
                </a:solidFill>
                <a:latin typeface="Verdana"/>
                <a:ea typeface="Times New Roman" panose="02020603050405020304" pitchFamily="18" charset="0"/>
                <a:cs typeface="Times New Roman" panose="02020603050405020304" pitchFamily="18" charset="0"/>
              </a:endParaRPr>
            </a:p>
          </p:txBody>
        </p:sp>
        <p:sp>
          <p:nvSpPr>
            <p:cNvPr id="8" name="AutoShape 7">
              <a:extLst>
                <a:ext uri="{FF2B5EF4-FFF2-40B4-BE49-F238E27FC236}">
                  <a16:creationId xmlns:a16="http://schemas.microsoft.com/office/drawing/2014/main" id="{1728CD77-90CC-44A9-AA1E-85CDB68113CB}"/>
                </a:ext>
              </a:extLst>
            </p:cNvPr>
            <p:cNvSpPr>
              <a:spLocks noChangeArrowheads="1"/>
            </p:cNvSpPr>
            <p:nvPr/>
          </p:nvSpPr>
          <p:spPr bwMode="auto">
            <a:xfrm>
              <a:off x="6983578" y="173998"/>
              <a:ext cx="3870036" cy="452926"/>
            </a:xfrm>
            <a:prstGeom prst="chevron">
              <a:avLst>
                <a:gd name="adj" fmla="val 36855"/>
              </a:avLst>
            </a:prstGeom>
            <a:solidFill>
              <a:srgbClr val="E3E4E5"/>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latin typeface="Verdana"/>
                  <a:ea typeface="MS PGothic" panose="020B0600070205080204" pitchFamily="34" charset="-128"/>
                  <a:cs typeface="Times New Roman" panose="02020603050405020304" pitchFamily="18" charset="0"/>
                </a:rPr>
                <a:t>Module-2 (Strategic Vision Development)</a:t>
              </a:r>
              <a:endParaRPr lang="en-IN" sz="545" dirty="0">
                <a:latin typeface="Verdana"/>
                <a:ea typeface="Times New Roman" panose="02020603050405020304" pitchFamily="18" charset="0"/>
                <a:cs typeface="Times New Roman" panose="02020603050405020304" pitchFamily="18" charset="0"/>
              </a:endParaRPr>
            </a:p>
          </p:txBody>
        </p:sp>
        <p:sp>
          <p:nvSpPr>
            <p:cNvPr id="9" name="AutoShape 7">
              <a:extLst>
                <a:ext uri="{FF2B5EF4-FFF2-40B4-BE49-F238E27FC236}">
                  <a16:creationId xmlns:a16="http://schemas.microsoft.com/office/drawing/2014/main" id="{A6C3A073-DE0D-4849-A468-53BB54273016}"/>
                </a:ext>
              </a:extLst>
            </p:cNvPr>
            <p:cNvSpPr>
              <a:spLocks noChangeArrowheads="1"/>
            </p:cNvSpPr>
            <p:nvPr/>
          </p:nvSpPr>
          <p:spPr bwMode="auto">
            <a:xfrm>
              <a:off x="10691720" y="173998"/>
              <a:ext cx="3000559" cy="452926"/>
            </a:xfrm>
            <a:prstGeom prst="chevron">
              <a:avLst>
                <a:gd name="adj" fmla="val 36855"/>
              </a:avLst>
            </a:prstGeom>
            <a:solidFill>
              <a:schemeClr val="accent6">
                <a:lumMod val="20000"/>
                <a:lumOff val="80000"/>
              </a:schemeClr>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latin typeface="Verdana"/>
                  <a:ea typeface="Times New Roman" panose="02020603050405020304" pitchFamily="18" charset="0"/>
                  <a:cs typeface="Times New Roman" panose="02020603050405020304" pitchFamily="18" charset="0"/>
                </a:rPr>
                <a:t>Implementation Support</a:t>
              </a:r>
              <a:endParaRPr lang="en-IN" sz="545" b="1" dirty="0">
                <a:latin typeface="Verdana"/>
                <a:ea typeface="Times New Roman" panose="02020603050405020304" pitchFamily="18" charset="0"/>
                <a:cs typeface="Times New Roman" panose="02020603050405020304" pitchFamily="18" charset="0"/>
              </a:endParaRPr>
            </a:p>
          </p:txBody>
        </p:sp>
      </p:grpSp>
      <p:grpSp>
        <p:nvGrpSpPr>
          <p:cNvPr id="41" name="Group 40">
            <a:extLst>
              <a:ext uri="{FF2B5EF4-FFF2-40B4-BE49-F238E27FC236}">
                <a16:creationId xmlns:a16="http://schemas.microsoft.com/office/drawing/2014/main" id="{413F24C7-A43A-4B15-BB5B-C6AB5AA52A50}"/>
              </a:ext>
            </a:extLst>
          </p:cNvPr>
          <p:cNvGrpSpPr/>
          <p:nvPr/>
        </p:nvGrpSpPr>
        <p:grpSpPr>
          <a:xfrm>
            <a:off x="6069298" y="1397489"/>
            <a:ext cx="5932202" cy="4920095"/>
            <a:chOff x="6397321" y="1150391"/>
            <a:chExt cx="8319768" cy="7216142"/>
          </a:xfrm>
        </p:grpSpPr>
        <p:sp>
          <p:nvSpPr>
            <p:cNvPr id="11" name="Rectangle 10">
              <a:extLst>
                <a:ext uri="{FF2B5EF4-FFF2-40B4-BE49-F238E27FC236}">
                  <a16:creationId xmlns:a16="http://schemas.microsoft.com/office/drawing/2014/main" id="{C2B4C347-B2CB-4757-ACA0-5D7548873141}"/>
                </a:ext>
              </a:extLst>
            </p:cNvPr>
            <p:cNvSpPr/>
            <p:nvPr/>
          </p:nvSpPr>
          <p:spPr>
            <a:xfrm>
              <a:off x="6984791" y="7328300"/>
              <a:ext cx="3550874" cy="1038233"/>
            </a:xfrm>
            <a:prstGeom prst="rect">
              <a:avLst/>
            </a:prstGeom>
          </p:spPr>
          <p:txBody>
            <a:bodyPr wrap="square">
              <a:spAutoFit/>
            </a:bodyPr>
            <a:lstStyle/>
            <a:p>
              <a:pPr marL="116895" indent="-116895" defTabSz="837848">
                <a:buFont typeface="Arial" panose="020B0604020202020204" pitchFamily="34" charset="0"/>
                <a:buChar char="•"/>
              </a:pPr>
              <a:r>
                <a:rPr lang="en-US" sz="1000" dirty="0">
                  <a:solidFill>
                    <a:prstClr val="black"/>
                  </a:solidFill>
                  <a:latin typeface="Verdana"/>
                </a:rPr>
                <a:t>Technical operational strategies</a:t>
              </a:r>
            </a:p>
            <a:p>
              <a:pPr marL="116895" indent="-116895" defTabSz="837848">
                <a:buFont typeface="Arial" panose="020B0604020202020204" pitchFamily="34" charset="0"/>
                <a:buChar char="•"/>
              </a:pPr>
              <a:r>
                <a:rPr lang="en-US" sz="1000" dirty="0">
                  <a:solidFill>
                    <a:prstClr val="black"/>
                  </a:solidFill>
                  <a:latin typeface="Verdana"/>
                </a:rPr>
                <a:t>Adapting to the changing Duck Curve</a:t>
              </a:r>
            </a:p>
            <a:p>
              <a:pPr marL="116895" indent="-116895" defTabSz="837848">
                <a:buFont typeface="Arial" panose="020B0604020202020204" pitchFamily="34" charset="0"/>
                <a:buChar char="•"/>
              </a:pPr>
              <a:r>
                <a:rPr lang="en-US" sz="1000" dirty="0">
                  <a:solidFill>
                    <a:prstClr val="black"/>
                  </a:solidFill>
                  <a:latin typeface="Verdana"/>
                </a:rPr>
                <a:t>Disaster management plan</a:t>
              </a:r>
              <a:endParaRPr lang="en-IN" sz="1000" dirty="0">
                <a:solidFill>
                  <a:prstClr val="black"/>
                </a:solidFill>
                <a:latin typeface="Verdana"/>
              </a:endParaRPr>
            </a:p>
          </p:txBody>
        </p:sp>
        <p:grpSp>
          <p:nvGrpSpPr>
            <p:cNvPr id="12" name="Group 11">
              <a:extLst>
                <a:ext uri="{FF2B5EF4-FFF2-40B4-BE49-F238E27FC236}">
                  <a16:creationId xmlns:a16="http://schemas.microsoft.com/office/drawing/2014/main" id="{DC0E5706-C70F-45BC-A3FB-5DE7B93884F7}"/>
                </a:ext>
              </a:extLst>
            </p:cNvPr>
            <p:cNvGrpSpPr/>
            <p:nvPr/>
          </p:nvGrpSpPr>
          <p:grpSpPr>
            <a:xfrm>
              <a:off x="6397321" y="1150391"/>
              <a:ext cx="8319768" cy="6981640"/>
              <a:chOff x="1545523" y="1284227"/>
              <a:chExt cx="4282969" cy="3581854"/>
            </a:xfrm>
          </p:grpSpPr>
          <p:grpSp>
            <p:nvGrpSpPr>
              <p:cNvPr id="13" name="Group 12">
                <a:extLst>
                  <a:ext uri="{FF2B5EF4-FFF2-40B4-BE49-F238E27FC236}">
                    <a16:creationId xmlns:a16="http://schemas.microsoft.com/office/drawing/2014/main" id="{CB210ADD-A72D-4FD9-8954-CCE5CE1C3A68}"/>
                  </a:ext>
                </a:extLst>
              </p:cNvPr>
              <p:cNvGrpSpPr/>
              <p:nvPr/>
            </p:nvGrpSpPr>
            <p:grpSpPr>
              <a:xfrm>
                <a:off x="1545523" y="1284227"/>
                <a:ext cx="4282969" cy="3287427"/>
                <a:chOff x="3644961" y="1074304"/>
                <a:chExt cx="6421087" cy="4934519"/>
              </a:xfrm>
            </p:grpSpPr>
            <p:sp>
              <p:nvSpPr>
                <p:cNvPr id="17" name="Oval 155">
                  <a:extLst>
                    <a:ext uri="{FF2B5EF4-FFF2-40B4-BE49-F238E27FC236}">
                      <a16:creationId xmlns:a16="http://schemas.microsoft.com/office/drawing/2014/main" id="{426373F4-4473-4079-97DA-D6AEB390BA5F}"/>
                    </a:ext>
                  </a:extLst>
                </p:cNvPr>
                <p:cNvSpPr/>
                <p:nvPr/>
              </p:nvSpPr>
              <p:spPr>
                <a:xfrm rot="2700000">
                  <a:off x="6058872" y="1759922"/>
                  <a:ext cx="1224136" cy="2290176"/>
                </a:xfrm>
                <a:custGeom>
                  <a:avLst/>
                  <a:gdLst/>
                  <a:ahLst/>
                  <a:cxnLst/>
                  <a:rect l="l" t="t" r="r" b="b"/>
                  <a:pathLst>
                    <a:path w="1224136" h="2290176">
                      <a:moveTo>
                        <a:pt x="459315" y="63272"/>
                      </a:moveTo>
                      <a:cubicBezTo>
                        <a:pt x="498408" y="24179"/>
                        <a:pt x="552413" y="0"/>
                        <a:pt x="612067" y="0"/>
                      </a:cubicBezTo>
                      <a:cubicBezTo>
                        <a:pt x="731374" y="0"/>
                        <a:pt x="828091" y="96717"/>
                        <a:pt x="828091" y="216024"/>
                      </a:cubicBezTo>
                      <a:cubicBezTo>
                        <a:pt x="828091" y="299408"/>
                        <a:pt x="780848" y="371757"/>
                        <a:pt x="711216" y="406896"/>
                      </a:cubicBezTo>
                      <a:cubicBezTo>
                        <a:pt x="691916" y="450663"/>
                        <a:pt x="710516" y="496019"/>
                        <a:pt x="737802" y="533019"/>
                      </a:cubicBezTo>
                      <a:lnTo>
                        <a:pt x="1224136" y="533019"/>
                      </a:lnTo>
                      <a:lnTo>
                        <a:pt x="1224136" y="1019520"/>
                      </a:lnTo>
                      <a:cubicBezTo>
                        <a:pt x="1187224" y="1046736"/>
                        <a:pt x="1141992" y="1065189"/>
                        <a:pt x="1098339" y="1045939"/>
                      </a:cubicBezTo>
                      <a:cubicBezTo>
                        <a:pt x="1063200" y="976307"/>
                        <a:pt x="990851" y="929064"/>
                        <a:pt x="907467" y="929064"/>
                      </a:cubicBezTo>
                      <a:cubicBezTo>
                        <a:pt x="788160" y="929064"/>
                        <a:pt x="691443" y="1025781"/>
                        <a:pt x="691443" y="1145088"/>
                      </a:cubicBezTo>
                      <a:cubicBezTo>
                        <a:pt x="691443" y="1204742"/>
                        <a:pt x="715622" y="1258747"/>
                        <a:pt x="754715" y="1297840"/>
                      </a:cubicBezTo>
                      <a:cubicBezTo>
                        <a:pt x="793807" y="1336933"/>
                        <a:pt x="847813" y="1361112"/>
                        <a:pt x="907467" y="1361112"/>
                      </a:cubicBezTo>
                      <a:cubicBezTo>
                        <a:pt x="988927" y="1361112"/>
                        <a:pt x="1059856" y="1316024"/>
                        <a:pt x="1095778" y="1248955"/>
                      </a:cubicBezTo>
                      <a:cubicBezTo>
                        <a:pt x="1141514" y="1226580"/>
                        <a:pt x="1182162" y="1242465"/>
                        <a:pt x="1224136" y="1270694"/>
                      </a:cubicBezTo>
                      <a:lnTo>
                        <a:pt x="1224136" y="1757155"/>
                      </a:lnTo>
                      <a:lnTo>
                        <a:pt x="737829" y="1757155"/>
                      </a:lnTo>
                      <a:cubicBezTo>
                        <a:pt x="709519" y="1799263"/>
                        <a:pt x="693505" y="1839996"/>
                        <a:pt x="715934" y="1885841"/>
                      </a:cubicBezTo>
                      <a:cubicBezTo>
                        <a:pt x="783003" y="1921763"/>
                        <a:pt x="828091" y="1992692"/>
                        <a:pt x="828091" y="2074152"/>
                      </a:cubicBezTo>
                      <a:cubicBezTo>
                        <a:pt x="828091" y="2133806"/>
                        <a:pt x="803912" y="2187812"/>
                        <a:pt x="764819" y="2226904"/>
                      </a:cubicBezTo>
                      <a:cubicBezTo>
                        <a:pt x="725726" y="2265997"/>
                        <a:pt x="671721" y="2290176"/>
                        <a:pt x="612067" y="2290176"/>
                      </a:cubicBezTo>
                      <a:cubicBezTo>
                        <a:pt x="492760" y="2290176"/>
                        <a:pt x="396043" y="2193459"/>
                        <a:pt x="396043" y="2074152"/>
                      </a:cubicBezTo>
                      <a:cubicBezTo>
                        <a:pt x="396043" y="1990768"/>
                        <a:pt x="443286" y="1918419"/>
                        <a:pt x="512918" y="1883280"/>
                      </a:cubicBezTo>
                      <a:cubicBezTo>
                        <a:pt x="532218" y="1839512"/>
                        <a:pt x="513617" y="1794156"/>
                        <a:pt x="486331" y="1757155"/>
                      </a:cubicBezTo>
                      <a:lnTo>
                        <a:pt x="0" y="1757155"/>
                      </a:lnTo>
                      <a:lnTo>
                        <a:pt x="0" y="1267857"/>
                      </a:lnTo>
                      <a:cubicBezTo>
                        <a:pt x="35436" y="1241878"/>
                        <a:pt x="78596" y="1225841"/>
                        <a:pt x="120314" y="1244237"/>
                      </a:cubicBezTo>
                      <a:cubicBezTo>
                        <a:pt x="155453" y="1313869"/>
                        <a:pt x="227802" y="1361112"/>
                        <a:pt x="311186" y="1361112"/>
                      </a:cubicBezTo>
                      <a:cubicBezTo>
                        <a:pt x="430493" y="1361112"/>
                        <a:pt x="527210" y="1264395"/>
                        <a:pt x="527210" y="1145088"/>
                      </a:cubicBezTo>
                      <a:cubicBezTo>
                        <a:pt x="527210" y="1085434"/>
                        <a:pt x="503031" y="1031429"/>
                        <a:pt x="463938" y="992336"/>
                      </a:cubicBezTo>
                      <a:cubicBezTo>
                        <a:pt x="424846" y="953243"/>
                        <a:pt x="370840" y="929064"/>
                        <a:pt x="311186" y="929064"/>
                      </a:cubicBezTo>
                      <a:cubicBezTo>
                        <a:pt x="229726" y="929064"/>
                        <a:pt x="158797" y="974152"/>
                        <a:pt x="122875" y="1041221"/>
                      </a:cubicBezTo>
                      <a:cubicBezTo>
                        <a:pt x="78969" y="1062702"/>
                        <a:pt x="39751" y="1048921"/>
                        <a:pt x="0" y="1022105"/>
                      </a:cubicBezTo>
                      <a:lnTo>
                        <a:pt x="0" y="533019"/>
                      </a:lnTo>
                      <a:lnTo>
                        <a:pt x="486305" y="533019"/>
                      </a:lnTo>
                      <a:cubicBezTo>
                        <a:pt x="514616" y="490912"/>
                        <a:pt x="530628" y="450179"/>
                        <a:pt x="508200" y="404335"/>
                      </a:cubicBezTo>
                      <a:cubicBezTo>
                        <a:pt x="441131" y="368413"/>
                        <a:pt x="396043" y="297484"/>
                        <a:pt x="396043" y="216024"/>
                      </a:cubicBezTo>
                      <a:cubicBezTo>
                        <a:pt x="396043" y="156370"/>
                        <a:pt x="420222" y="102364"/>
                        <a:pt x="459315" y="63272"/>
                      </a:cubicBez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2345" tIns="62345" rIns="62345" bIns="62345" rtlCol="0" anchor="ctr">
                  <a:noAutofit/>
                </a:bodyPr>
                <a:lstStyle/>
                <a:p>
                  <a:pPr algn="ctr" defTabSz="837848"/>
                  <a:endParaRPr lang="en-US" sz="886" dirty="0">
                    <a:solidFill>
                      <a:srgbClr val="53565A"/>
                    </a:solidFill>
                    <a:latin typeface="Verdana"/>
                  </a:endParaRPr>
                </a:p>
              </p:txBody>
            </p:sp>
            <p:sp>
              <p:nvSpPr>
                <p:cNvPr id="18" name="Oval 155">
                  <a:extLst>
                    <a:ext uri="{FF2B5EF4-FFF2-40B4-BE49-F238E27FC236}">
                      <a16:creationId xmlns:a16="http://schemas.microsoft.com/office/drawing/2014/main" id="{BD7B8BC8-A860-4A5D-AAF7-A0BA574F4D29}"/>
                    </a:ext>
                  </a:extLst>
                </p:cNvPr>
                <p:cNvSpPr/>
                <p:nvPr/>
              </p:nvSpPr>
              <p:spPr>
                <a:xfrm rot="18900000">
                  <a:off x="6896149" y="2625747"/>
                  <a:ext cx="1224136" cy="2290176"/>
                </a:xfrm>
                <a:custGeom>
                  <a:avLst/>
                  <a:gdLst/>
                  <a:ahLst/>
                  <a:cxnLst/>
                  <a:rect l="l" t="t" r="r" b="b"/>
                  <a:pathLst>
                    <a:path w="1224136" h="2290176">
                      <a:moveTo>
                        <a:pt x="764820" y="63272"/>
                      </a:moveTo>
                      <a:cubicBezTo>
                        <a:pt x="803913" y="102365"/>
                        <a:pt x="828092" y="156370"/>
                        <a:pt x="828092" y="216024"/>
                      </a:cubicBezTo>
                      <a:cubicBezTo>
                        <a:pt x="828092" y="299408"/>
                        <a:pt x="780849" y="371757"/>
                        <a:pt x="711217" y="406896"/>
                      </a:cubicBezTo>
                      <a:cubicBezTo>
                        <a:pt x="691917" y="450664"/>
                        <a:pt x="710518" y="496020"/>
                        <a:pt x="737803" y="533020"/>
                      </a:cubicBezTo>
                      <a:lnTo>
                        <a:pt x="1224136" y="533020"/>
                      </a:lnTo>
                      <a:lnTo>
                        <a:pt x="1224136" y="1022318"/>
                      </a:lnTo>
                      <a:cubicBezTo>
                        <a:pt x="1188700" y="1048297"/>
                        <a:pt x="1145539" y="1064335"/>
                        <a:pt x="1103821" y="1045938"/>
                      </a:cubicBezTo>
                      <a:cubicBezTo>
                        <a:pt x="1068682" y="976306"/>
                        <a:pt x="996333" y="929063"/>
                        <a:pt x="912949" y="929063"/>
                      </a:cubicBezTo>
                      <a:cubicBezTo>
                        <a:pt x="793642" y="929063"/>
                        <a:pt x="696925" y="1025780"/>
                        <a:pt x="696925" y="1145087"/>
                      </a:cubicBezTo>
                      <a:cubicBezTo>
                        <a:pt x="696925" y="1204741"/>
                        <a:pt x="721104" y="1258746"/>
                        <a:pt x="760197" y="1297839"/>
                      </a:cubicBezTo>
                      <a:cubicBezTo>
                        <a:pt x="799289" y="1336932"/>
                        <a:pt x="853295" y="1361111"/>
                        <a:pt x="912949" y="1361111"/>
                      </a:cubicBezTo>
                      <a:cubicBezTo>
                        <a:pt x="994409" y="1361111"/>
                        <a:pt x="1065338" y="1316024"/>
                        <a:pt x="1101260" y="1248954"/>
                      </a:cubicBezTo>
                      <a:cubicBezTo>
                        <a:pt x="1145167" y="1227474"/>
                        <a:pt x="1184385" y="1241254"/>
                        <a:pt x="1224136" y="1268071"/>
                      </a:cubicBezTo>
                      <a:lnTo>
                        <a:pt x="1224136" y="1757156"/>
                      </a:lnTo>
                      <a:lnTo>
                        <a:pt x="737830" y="1757156"/>
                      </a:lnTo>
                      <a:cubicBezTo>
                        <a:pt x="709520" y="1799264"/>
                        <a:pt x="693507" y="1839997"/>
                        <a:pt x="715935" y="1885841"/>
                      </a:cubicBezTo>
                      <a:cubicBezTo>
                        <a:pt x="783004" y="1921763"/>
                        <a:pt x="828092" y="1992692"/>
                        <a:pt x="828092" y="2074152"/>
                      </a:cubicBezTo>
                      <a:cubicBezTo>
                        <a:pt x="828092" y="2133806"/>
                        <a:pt x="803913" y="2187812"/>
                        <a:pt x="764820" y="2226904"/>
                      </a:cubicBezTo>
                      <a:cubicBezTo>
                        <a:pt x="725727" y="2265997"/>
                        <a:pt x="671722" y="2290176"/>
                        <a:pt x="612068" y="2290176"/>
                      </a:cubicBezTo>
                      <a:cubicBezTo>
                        <a:pt x="492761" y="2290176"/>
                        <a:pt x="396044" y="2193459"/>
                        <a:pt x="396044" y="2074152"/>
                      </a:cubicBezTo>
                      <a:cubicBezTo>
                        <a:pt x="396044" y="1990768"/>
                        <a:pt x="443287" y="1918419"/>
                        <a:pt x="512919" y="1883280"/>
                      </a:cubicBezTo>
                      <a:cubicBezTo>
                        <a:pt x="532219" y="1839512"/>
                        <a:pt x="513618" y="1794157"/>
                        <a:pt x="486333" y="1757156"/>
                      </a:cubicBezTo>
                      <a:lnTo>
                        <a:pt x="0" y="1757156"/>
                      </a:lnTo>
                      <a:lnTo>
                        <a:pt x="0" y="1271295"/>
                      </a:lnTo>
                      <a:cubicBezTo>
                        <a:pt x="37251" y="1243817"/>
                        <a:pt x="82955" y="1224793"/>
                        <a:pt x="127049" y="1244237"/>
                      </a:cubicBezTo>
                      <a:cubicBezTo>
                        <a:pt x="162188" y="1313869"/>
                        <a:pt x="234537" y="1361112"/>
                        <a:pt x="317921" y="1361112"/>
                      </a:cubicBezTo>
                      <a:cubicBezTo>
                        <a:pt x="437228" y="1361112"/>
                        <a:pt x="533945" y="1264395"/>
                        <a:pt x="533945" y="1145088"/>
                      </a:cubicBezTo>
                      <a:cubicBezTo>
                        <a:pt x="533945" y="1085434"/>
                        <a:pt x="509766" y="1031429"/>
                        <a:pt x="470673" y="992336"/>
                      </a:cubicBezTo>
                      <a:cubicBezTo>
                        <a:pt x="431581" y="953243"/>
                        <a:pt x="377575" y="929064"/>
                        <a:pt x="317921" y="929064"/>
                      </a:cubicBezTo>
                      <a:cubicBezTo>
                        <a:pt x="236461" y="929064"/>
                        <a:pt x="165532" y="974152"/>
                        <a:pt x="129610" y="1041221"/>
                      </a:cubicBezTo>
                      <a:cubicBezTo>
                        <a:pt x="83460" y="1063799"/>
                        <a:pt x="42490" y="1047421"/>
                        <a:pt x="0" y="1018884"/>
                      </a:cubicBezTo>
                      <a:lnTo>
                        <a:pt x="0" y="533020"/>
                      </a:lnTo>
                      <a:lnTo>
                        <a:pt x="486306" y="533020"/>
                      </a:lnTo>
                      <a:cubicBezTo>
                        <a:pt x="514616" y="490912"/>
                        <a:pt x="530629" y="450179"/>
                        <a:pt x="508201" y="404335"/>
                      </a:cubicBezTo>
                      <a:cubicBezTo>
                        <a:pt x="441132" y="368413"/>
                        <a:pt x="396044" y="297484"/>
                        <a:pt x="396044" y="216024"/>
                      </a:cubicBezTo>
                      <a:cubicBezTo>
                        <a:pt x="396044" y="156370"/>
                        <a:pt x="420223" y="102364"/>
                        <a:pt x="459316" y="63272"/>
                      </a:cubicBezTo>
                      <a:cubicBezTo>
                        <a:pt x="498409" y="24179"/>
                        <a:pt x="552414" y="0"/>
                        <a:pt x="612068" y="0"/>
                      </a:cubicBezTo>
                      <a:cubicBezTo>
                        <a:pt x="671722" y="0"/>
                        <a:pt x="725728" y="24180"/>
                        <a:pt x="764820" y="63272"/>
                      </a:cubicBez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2345" tIns="62345" rIns="62345" bIns="62345" rtlCol="0" anchor="ctr">
                  <a:noAutofit/>
                </a:bodyPr>
                <a:lstStyle/>
                <a:p>
                  <a:pPr algn="ctr" defTabSz="837848"/>
                  <a:endParaRPr lang="en-US" sz="886" err="1">
                    <a:solidFill>
                      <a:srgbClr val="53565A"/>
                    </a:solidFill>
                    <a:latin typeface="Verdana"/>
                  </a:endParaRPr>
                </a:p>
              </p:txBody>
            </p:sp>
            <p:sp>
              <p:nvSpPr>
                <p:cNvPr id="19" name="Oval 155">
                  <a:extLst>
                    <a:ext uri="{FF2B5EF4-FFF2-40B4-BE49-F238E27FC236}">
                      <a16:creationId xmlns:a16="http://schemas.microsoft.com/office/drawing/2014/main" id="{24E6C84F-9EF4-44CB-A8C4-8291F60A05DE}"/>
                    </a:ext>
                  </a:extLst>
                </p:cNvPr>
                <p:cNvSpPr/>
                <p:nvPr/>
              </p:nvSpPr>
              <p:spPr>
                <a:xfrm rot="18900000">
                  <a:off x="5193023" y="2665494"/>
                  <a:ext cx="1224136" cy="2290177"/>
                </a:xfrm>
                <a:custGeom>
                  <a:avLst/>
                  <a:gdLst/>
                  <a:ahLst/>
                  <a:cxnLst/>
                  <a:rect l="l" t="t" r="r" b="b"/>
                  <a:pathLst>
                    <a:path w="1224136" h="2290177">
                      <a:moveTo>
                        <a:pt x="764821" y="63272"/>
                      </a:moveTo>
                      <a:cubicBezTo>
                        <a:pt x="803914" y="102365"/>
                        <a:pt x="828093" y="156370"/>
                        <a:pt x="828093" y="216024"/>
                      </a:cubicBezTo>
                      <a:cubicBezTo>
                        <a:pt x="828093" y="299408"/>
                        <a:pt x="780850" y="371757"/>
                        <a:pt x="711218" y="406896"/>
                      </a:cubicBezTo>
                      <a:cubicBezTo>
                        <a:pt x="691918" y="450664"/>
                        <a:pt x="710519" y="496020"/>
                        <a:pt x="737804" y="533020"/>
                      </a:cubicBezTo>
                      <a:lnTo>
                        <a:pt x="1224136" y="533020"/>
                      </a:lnTo>
                      <a:lnTo>
                        <a:pt x="1224136" y="1019537"/>
                      </a:lnTo>
                      <a:cubicBezTo>
                        <a:pt x="1187233" y="1046745"/>
                        <a:pt x="1142014" y="1065183"/>
                        <a:pt x="1098373" y="1045938"/>
                      </a:cubicBezTo>
                      <a:cubicBezTo>
                        <a:pt x="1063233" y="976306"/>
                        <a:pt x="990884" y="929063"/>
                        <a:pt x="907500" y="929063"/>
                      </a:cubicBezTo>
                      <a:cubicBezTo>
                        <a:pt x="788193" y="929063"/>
                        <a:pt x="691476" y="1025780"/>
                        <a:pt x="691476" y="1145087"/>
                      </a:cubicBezTo>
                      <a:cubicBezTo>
                        <a:pt x="691476" y="1204741"/>
                        <a:pt x="715655" y="1258747"/>
                        <a:pt x="754748" y="1297839"/>
                      </a:cubicBezTo>
                      <a:cubicBezTo>
                        <a:pt x="793841" y="1336932"/>
                        <a:pt x="847846" y="1361111"/>
                        <a:pt x="907500" y="1361111"/>
                      </a:cubicBezTo>
                      <a:cubicBezTo>
                        <a:pt x="988961" y="1361111"/>
                        <a:pt x="1059890" y="1316024"/>
                        <a:pt x="1095811" y="1248954"/>
                      </a:cubicBezTo>
                      <a:cubicBezTo>
                        <a:pt x="1141537" y="1226584"/>
                        <a:pt x="1182177" y="1242456"/>
                        <a:pt x="1224136" y="1270677"/>
                      </a:cubicBezTo>
                      <a:lnTo>
                        <a:pt x="1224136" y="1757156"/>
                      </a:lnTo>
                      <a:lnTo>
                        <a:pt x="737831" y="1757156"/>
                      </a:lnTo>
                      <a:cubicBezTo>
                        <a:pt x="709521" y="1799265"/>
                        <a:pt x="693508" y="1839998"/>
                        <a:pt x="715937" y="1885842"/>
                      </a:cubicBezTo>
                      <a:cubicBezTo>
                        <a:pt x="783005" y="1921764"/>
                        <a:pt x="828094" y="1992693"/>
                        <a:pt x="828094" y="2074153"/>
                      </a:cubicBezTo>
                      <a:cubicBezTo>
                        <a:pt x="828093" y="2133807"/>
                        <a:pt x="803915" y="2187813"/>
                        <a:pt x="764821" y="2226905"/>
                      </a:cubicBezTo>
                      <a:cubicBezTo>
                        <a:pt x="725728" y="2265998"/>
                        <a:pt x="671723" y="2290177"/>
                        <a:pt x="612070" y="2290177"/>
                      </a:cubicBezTo>
                      <a:cubicBezTo>
                        <a:pt x="492762" y="2290177"/>
                        <a:pt x="396045" y="2193460"/>
                        <a:pt x="396045" y="2074153"/>
                      </a:cubicBezTo>
                      <a:cubicBezTo>
                        <a:pt x="396045" y="1990769"/>
                        <a:pt x="443288" y="1918420"/>
                        <a:pt x="512921" y="1883281"/>
                      </a:cubicBezTo>
                      <a:cubicBezTo>
                        <a:pt x="532220" y="1839513"/>
                        <a:pt x="513619" y="1794157"/>
                        <a:pt x="486333" y="1757155"/>
                      </a:cubicBezTo>
                      <a:lnTo>
                        <a:pt x="1" y="1757156"/>
                      </a:lnTo>
                      <a:lnTo>
                        <a:pt x="1" y="1271298"/>
                      </a:lnTo>
                      <a:cubicBezTo>
                        <a:pt x="37251" y="1243817"/>
                        <a:pt x="82956" y="1224794"/>
                        <a:pt x="127049" y="1244238"/>
                      </a:cubicBezTo>
                      <a:cubicBezTo>
                        <a:pt x="162189" y="1313869"/>
                        <a:pt x="234538" y="1361113"/>
                        <a:pt x="317921" y="1361113"/>
                      </a:cubicBezTo>
                      <a:cubicBezTo>
                        <a:pt x="437228" y="1361113"/>
                        <a:pt x="533945" y="1264396"/>
                        <a:pt x="533945" y="1145089"/>
                      </a:cubicBezTo>
                      <a:cubicBezTo>
                        <a:pt x="533945" y="1085435"/>
                        <a:pt x="509766" y="1031429"/>
                        <a:pt x="470673" y="992337"/>
                      </a:cubicBezTo>
                      <a:cubicBezTo>
                        <a:pt x="431581" y="953244"/>
                        <a:pt x="377575" y="929065"/>
                        <a:pt x="317921" y="929065"/>
                      </a:cubicBezTo>
                      <a:cubicBezTo>
                        <a:pt x="236461" y="929065"/>
                        <a:pt x="165532" y="974153"/>
                        <a:pt x="129610" y="1041222"/>
                      </a:cubicBezTo>
                      <a:cubicBezTo>
                        <a:pt x="83461" y="1063799"/>
                        <a:pt x="42491" y="1047422"/>
                        <a:pt x="0" y="1018884"/>
                      </a:cubicBezTo>
                      <a:lnTo>
                        <a:pt x="0" y="533020"/>
                      </a:lnTo>
                      <a:lnTo>
                        <a:pt x="486307" y="533020"/>
                      </a:lnTo>
                      <a:cubicBezTo>
                        <a:pt x="514617" y="490912"/>
                        <a:pt x="530630" y="450179"/>
                        <a:pt x="508202" y="404335"/>
                      </a:cubicBezTo>
                      <a:cubicBezTo>
                        <a:pt x="441133" y="368413"/>
                        <a:pt x="396045" y="297484"/>
                        <a:pt x="396045" y="216024"/>
                      </a:cubicBezTo>
                      <a:cubicBezTo>
                        <a:pt x="396045" y="156370"/>
                        <a:pt x="420224" y="102364"/>
                        <a:pt x="459317" y="63272"/>
                      </a:cubicBezTo>
                      <a:cubicBezTo>
                        <a:pt x="498410" y="24179"/>
                        <a:pt x="552415" y="0"/>
                        <a:pt x="612069" y="0"/>
                      </a:cubicBezTo>
                      <a:cubicBezTo>
                        <a:pt x="671723" y="0"/>
                        <a:pt x="725728" y="24179"/>
                        <a:pt x="764821" y="63272"/>
                      </a:cubicBez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2345" tIns="62345" rIns="62345" bIns="62345" rtlCol="0" anchor="ctr">
                  <a:noAutofit/>
                </a:bodyPr>
                <a:lstStyle/>
                <a:p>
                  <a:pPr algn="ctr" defTabSz="837848"/>
                  <a:endParaRPr lang="en-US" sz="886" err="1">
                    <a:solidFill>
                      <a:srgbClr val="53565A"/>
                    </a:solidFill>
                    <a:latin typeface="Verdana"/>
                  </a:endParaRPr>
                </a:p>
              </p:txBody>
            </p:sp>
            <p:sp>
              <p:nvSpPr>
                <p:cNvPr id="20" name="Rectangle 140">
                  <a:extLst>
                    <a:ext uri="{FF2B5EF4-FFF2-40B4-BE49-F238E27FC236}">
                      <a16:creationId xmlns:a16="http://schemas.microsoft.com/office/drawing/2014/main" id="{5CCADCA5-B666-49CF-B5F1-8333846FB3BA}"/>
                    </a:ext>
                  </a:extLst>
                </p:cNvPr>
                <p:cNvSpPr/>
                <p:nvPr/>
              </p:nvSpPr>
              <p:spPr>
                <a:xfrm rot="2700000">
                  <a:off x="6030299" y="3531318"/>
                  <a:ext cx="1224136" cy="2290176"/>
                </a:xfrm>
                <a:custGeom>
                  <a:avLst/>
                  <a:gdLst/>
                  <a:ahLst/>
                  <a:cxnLst/>
                  <a:rect l="l" t="t" r="r" b="b"/>
                  <a:pathLst>
                    <a:path w="1224136" h="2290176">
                      <a:moveTo>
                        <a:pt x="459315" y="63272"/>
                      </a:moveTo>
                      <a:cubicBezTo>
                        <a:pt x="498408" y="24178"/>
                        <a:pt x="552413" y="-1"/>
                        <a:pt x="612067" y="0"/>
                      </a:cubicBezTo>
                      <a:cubicBezTo>
                        <a:pt x="731374" y="-1"/>
                        <a:pt x="828091" y="96717"/>
                        <a:pt x="828091" y="216024"/>
                      </a:cubicBezTo>
                      <a:cubicBezTo>
                        <a:pt x="828091" y="299408"/>
                        <a:pt x="780848" y="371756"/>
                        <a:pt x="711216" y="406896"/>
                      </a:cubicBezTo>
                      <a:cubicBezTo>
                        <a:pt x="691916" y="450663"/>
                        <a:pt x="710517" y="496019"/>
                        <a:pt x="737802" y="533019"/>
                      </a:cubicBezTo>
                      <a:lnTo>
                        <a:pt x="1224136" y="533019"/>
                      </a:lnTo>
                      <a:lnTo>
                        <a:pt x="1224136" y="1022319"/>
                      </a:lnTo>
                      <a:cubicBezTo>
                        <a:pt x="1188699" y="1048297"/>
                        <a:pt x="1145539" y="1064335"/>
                        <a:pt x="1103821" y="1045939"/>
                      </a:cubicBezTo>
                      <a:cubicBezTo>
                        <a:pt x="1068681" y="976307"/>
                        <a:pt x="996332" y="929064"/>
                        <a:pt x="912948" y="929064"/>
                      </a:cubicBezTo>
                      <a:cubicBezTo>
                        <a:pt x="793641" y="929064"/>
                        <a:pt x="696924" y="1025781"/>
                        <a:pt x="696924" y="1145088"/>
                      </a:cubicBezTo>
                      <a:cubicBezTo>
                        <a:pt x="696924" y="1204742"/>
                        <a:pt x="721103" y="1258747"/>
                        <a:pt x="760196" y="1297840"/>
                      </a:cubicBezTo>
                      <a:cubicBezTo>
                        <a:pt x="799288" y="1336933"/>
                        <a:pt x="853295" y="1361112"/>
                        <a:pt x="912948" y="1361112"/>
                      </a:cubicBezTo>
                      <a:cubicBezTo>
                        <a:pt x="994408" y="1361112"/>
                        <a:pt x="1065338" y="1316024"/>
                        <a:pt x="1101259" y="1248955"/>
                      </a:cubicBezTo>
                      <a:cubicBezTo>
                        <a:pt x="1145166" y="1227475"/>
                        <a:pt x="1184384" y="1241255"/>
                        <a:pt x="1224136" y="1268072"/>
                      </a:cubicBezTo>
                      <a:lnTo>
                        <a:pt x="1224136" y="1757155"/>
                      </a:lnTo>
                      <a:lnTo>
                        <a:pt x="737830" y="1757155"/>
                      </a:lnTo>
                      <a:cubicBezTo>
                        <a:pt x="709519" y="1799263"/>
                        <a:pt x="693506" y="1839996"/>
                        <a:pt x="715934" y="1885841"/>
                      </a:cubicBezTo>
                      <a:cubicBezTo>
                        <a:pt x="783003" y="1921763"/>
                        <a:pt x="828091" y="1992692"/>
                        <a:pt x="828091" y="2074152"/>
                      </a:cubicBezTo>
                      <a:cubicBezTo>
                        <a:pt x="828091" y="2133806"/>
                        <a:pt x="803912" y="2187812"/>
                        <a:pt x="764819" y="2226904"/>
                      </a:cubicBezTo>
                      <a:cubicBezTo>
                        <a:pt x="725726" y="2265997"/>
                        <a:pt x="671721" y="2290176"/>
                        <a:pt x="612067" y="2290176"/>
                      </a:cubicBezTo>
                      <a:cubicBezTo>
                        <a:pt x="492760" y="2290176"/>
                        <a:pt x="396043" y="2193459"/>
                        <a:pt x="396043" y="2074152"/>
                      </a:cubicBezTo>
                      <a:cubicBezTo>
                        <a:pt x="396043" y="1990768"/>
                        <a:pt x="443286" y="1918419"/>
                        <a:pt x="512918" y="1883280"/>
                      </a:cubicBezTo>
                      <a:cubicBezTo>
                        <a:pt x="532219" y="1839511"/>
                        <a:pt x="513617" y="1794156"/>
                        <a:pt x="486332" y="1757155"/>
                      </a:cubicBezTo>
                      <a:lnTo>
                        <a:pt x="0" y="1757155"/>
                      </a:lnTo>
                      <a:lnTo>
                        <a:pt x="0" y="1270658"/>
                      </a:lnTo>
                      <a:cubicBezTo>
                        <a:pt x="36913" y="1243440"/>
                        <a:pt x="82146" y="1224987"/>
                        <a:pt x="125800" y="1244235"/>
                      </a:cubicBezTo>
                      <a:cubicBezTo>
                        <a:pt x="160938" y="1313868"/>
                        <a:pt x="233287" y="1361111"/>
                        <a:pt x="316671" y="1361111"/>
                      </a:cubicBezTo>
                      <a:cubicBezTo>
                        <a:pt x="435979" y="1361111"/>
                        <a:pt x="532696" y="1264394"/>
                        <a:pt x="532695" y="1145087"/>
                      </a:cubicBezTo>
                      <a:cubicBezTo>
                        <a:pt x="532696" y="1085433"/>
                        <a:pt x="508516" y="1031428"/>
                        <a:pt x="469423" y="992335"/>
                      </a:cubicBezTo>
                      <a:cubicBezTo>
                        <a:pt x="430331" y="953241"/>
                        <a:pt x="376325" y="929063"/>
                        <a:pt x="316671" y="929063"/>
                      </a:cubicBezTo>
                      <a:cubicBezTo>
                        <a:pt x="235212" y="929062"/>
                        <a:pt x="164282" y="974151"/>
                        <a:pt x="128360" y="1041219"/>
                      </a:cubicBezTo>
                      <a:cubicBezTo>
                        <a:pt x="82624" y="1063596"/>
                        <a:pt x="41974" y="1047710"/>
                        <a:pt x="0" y="1019480"/>
                      </a:cubicBezTo>
                      <a:lnTo>
                        <a:pt x="0" y="533019"/>
                      </a:lnTo>
                      <a:lnTo>
                        <a:pt x="486306" y="533019"/>
                      </a:lnTo>
                      <a:cubicBezTo>
                        <a:pt x="514616" y="490911"/>
                        <a:pt x="530629" y="450179"/>
                        <a:pt x="508200" y="404335"/>
                      </a:cubicBezTo>
                      <a:cubicBezTo>
                        <a:pt x="441131" y="368413"/>
                        <a:pt x="396043" y="297484"/>
                        <a:pt x="396043" y="216024"/>
                      </a:cubicBezTo>
                      <a:cubicBezTo>
                        <a:pt x="396043" y="156370"/>
                        <a:pt x="420223" y="102364"/>
                        <a:pt x="459315" y="63272"/>
                      </a:cubicBez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2345" tIns="62345" rIns="62345" bIns="62345" rtlCol="0" anchor="ctr">
                  <a:noAutofit/>
                </a:bodyPr>
                <a:lstStyle/>
                <a:p>
                  <a:pPr algn="ctr" defTabSz="837848"/>
                  <a:endParaRPr lang="en-US" sz="886" err="1">
                    <a:solidFill>
                      <a:srgbClr val="53565A"/>
                    </a:solidFill>
                    <a:latin typeface="Verdana"/>
                  </a:endParaRPr>
                </a:p>
              </p:txBody>
            </p:sp>
            <p:sp>
              <p:nvSpPr>
                <p:cNvPr id="21" name="Rectangle 20">
                  <a:extLst>
                    <a:ext uri="{FF2B5EF4-FFF2-40B4-BE49-F238E27FC236}">
                      <a16:creationId xmlns:a16="http://schemas.microsoft.com/office/drawing/2014/main" id="{AE74D232-00D7-4C74-A565-FF9542174F5B}"/>
                    </a:ext>
                  </a:extLst>
                </p:cNvPr>
                <p:cNvSpPr/>
                <p:nvPr/>
              </p:nvSpPr>
              <p:spPr>
                <a:xfrm>
                  <a:off x="8459585" y="1242239"/>
                  <a:ext cx="1606463" cy="307935"/>
                </a:xfrm>
                <a:prstGeom prst="rect">
                  <a:avLst/>
                </a:prstGeom>
              </p:spPr>
              <p:txBody>
                <a:bodyPr wrap="square" lIns="0" tIns="0" rIns="0" bIns="0">
                  <a:spAutoFit/>
                </a:bodyPr>
                <a:lstStyle/>
                <a:p>
                  <a:pPr defTabSz="837848"/>
                  <a:r>
                    <a:rPr lang="en-US" sz="886" b="1" dirty="0">
                      <a:solidFill>
                        <a:srgbClr val="62B5E5"/>
                      </a:solidFill>
                      <a:latin typeface="Verdana"/>
                    </a:rPr>
                    <a:t>Future </a:t>
                  </a:r>
                </a:p>
                <a:p>
                  <a:pPr defTabSz="837848"/>
                  <a:r>
                    <a:rPr lang="en-US" sz="886" b="1" dirty="0">
                      <a:solidFill>
                        <a:srgbClr val="62B5E5"/>
                      </a:solidFill>
                      <a:latin typeface="Verdana"/>
                    </a:rPr>
                    <a:t>Scenarios </a:t>
                  </a:r>
                  <a:endParaRPr lang="en-US" sz="886" dirty="0">
                    <a:solidFill>
                      <a:prstClr val="black"/>
                    </a:solidFill>
                    <a:latin typeface="Verdana"/>
                  </a:endParaRPr>
                </a:p>
              </p:txBody>
            </p:sp>
            <p:sp>
              <p:nvSpPr>
                <p:cNvPr id="22" name="Rectangle 21">
                  <a:extLst>
                    <a:ext uri="{FF2B5EF4-FFF2-40B4-BE49-F238E27FC236}">
                      <a16:creationId xmlns:a16="http://schemas.microsoft.com/office/drawing/2014/main" id="{26A39BE0-9B31-41DF-845D-527AD2F47A31}"/>
                    </a:ext>
                  </a:extLst>
                </p:cNvPr>
                <p:cNvSpPr/>
                <p:nvPr/>
              </p:nvSpPr>
              <p:spPr>
                <a:xfrm>
                  <a:off x="8252459" y="5279075"/>
                  <a:ext cx="1606463" cy="307935"/>
                </a:xfrm>
                <a:prstGeom prst="rect">
                  <a:avLst/>
                </a:prstGeom>
              </p:spPr>
              <p:txBody>
                <a:bodyPr wrap="square" lIns="0" tIns="0" rIns="0" bIns="0">
                  <a:spAutoFit/>
                </a:bodyPr>
                <a:lstStyle/>
                <a:p>
                  <a:pPr defTabSz="837848"/>
                  <a:r>
                    <a:rPr lang="en-US" sz="886" b="1" dirty="0">
                      <a:solidFill>
                        <a:srgbClr val="012169"/>
                      </a:solidFill>
                      <a:latin typeface="Verdana"/>
                    </a:rPr>
                    <a:t>Adopting new technologies</a:t>
                  </a:r>
                  <a:endParaRPr lang="en-US" sz="886" dirty="0">
                    <a:solidFill>
                      <a:prstClr val="black"/>
                    </a:solidFill>
                    <a:latin typeface="Verdana"/>
                  </a:endParaRPr>
                </a:p>
              </p:txBody>
            </p:sp>
            <p:sp>
              <p:nvSpPr>
                <p:cNvPr id="23" name="Rectangle 22">
                  <a:extLst>
                    <a:ext uri="{FF2B5EF4-FFF2-40B4-BE49-F238E27FC236}">
                      <a16:creationId xmlns:a16="http://schemas.microsoft.com/office/drawing/2014/main" id="{2D676940-BE75-4EC3-A6EB-C49A564C8B18}"/>
                    </a:ext>
                  </a:extLst>
                </p:cNvPr>
                <p:cNvSpPr/>
                <p:nvPr/>
              </p:nvSpPr>
              <p:spPr>
                <a:xfrm>
                  <a:off x="4423571" y="1318724"/>
                  <a:ext cx="1905251" cy="153967"/>
                </a:xfrm>
                <a:prstGeom prst="rect">
                  <a:avLst/>
                </a:prstGeom>
              </p:spPr>
              <p:txBody>
                <a:bodyPr wrap="square" lIns="0" tIns="0" rIns="0" bIns="0">
                  <a:spAutoFit/>
                </a:bodyPr>
                <a:lstStyle/>
                <a:p>
                  <a:pPr defTabSz="837848"/>
                  <a:r>
                    <a:rPr lang="en-US" sz="886" b="1" dirty="0">
                      <a:solidFill>
                        <a:srgbClr val="046A38"/>
                      </a:solidFill>
                      <a:latin typeface="Verdana"/>
                    </a:rPr>
                    <a:t>Sector Trends</a:t>
                  </a:r>
                  <a:endParaRPr lang="en-US" sz="886" dirty="0">
                    <a:solidFill>
                      <a:prstClr val="black"/>
                    </a:solidFill>
                    <a:latin typeface="Verdana"/>
                  </a:endParaRPr>
                </a:p>
              </p:txBody>
            </p:sp>
            <p:sp>
              <p:nvSpPr>
                <p:cNvPr id="24" name="Rectangle 23">
                  <a:extLst>
                    <a:ext uri="{FF2B5EF4-FFF2-40B4-BE49-F238E27FC236}">
                      <a16:creationId xmlns:a16="http://schemas.microsoft.com/office/drawing/2014/main" id="{B3663CE9-08B9-4E7B-9499-8454FDEFA551}"/>
                    </a:ext>
                  </a:extLst>
                </p:cNvPr>
                <p:cNvSpPr/>
                <p:nvPr/>
              </p:nvSpPr>
              <p:spPr>
                <a:xfrm>
                  <a:off x="4456318" y="5331968"/>
                  <a:ext cx="1164210" cy="307935"/>
                </a:xfrm>
                <a:prstGeom prst="rect">
                  <a:avLst/>
                </a:prstGeom>
              </p:spPr>
              <p:txBody>
                <a:bodyPr wrap="square" lIns="0" tIns="0" rIns="0" bIns="0">
                  <a:spAutoFit/>
                </a:bodyPr>
                <a:lstStyle/>
                <a:p>
                  <a:pPr defTabSz="837848"/>
                  <a:r>
                    <a:rPr lang="en-US" sz="886" b="1" dirty="0">
                      <a:solidFill>
                        <a:srgbClr val="0097A9"/>
                      </a:solidFill>
                      <a:latin typeface="Verdana"/>
                    </a:rPr>
                    <a:t>Power Market Changes</a:t>
                  </a:r>
                  <a:endParaRPr lang="en-US" sz="886" dirty="0">
                    <a:solidFill>
                      <a:prstClr val="black"/>
                    </a:solidFill>
                    <a:latin typeface="Verdana"/>
                  </a:endParaRPr>
                </a:p>
              </p:txBody>
            </p:sp>
            <p:sp>
              <p:nvSpPr>
                <p:cNvPr id="30" name="Freeform 31">
                  <a:extLst>
                    <a:ext uri="{FF2B5EF4-FFF2-40B4-BE49-F238E27FC236}">
                      <a16:creationId xmlns:a16="http://schemas.microsoft.com/office/drawing/2014/main" id="{959FE4FD-4A7C-4033-B55E-83EB72DAAD78}"/>
                    </a:ext>
                  </a:extLst>
                </p:cNvPr>
                <p:cNvSpPr>
                  <a:spLocks noChangeAspect="1" noEditPoints="1"/>
                </p:cNvSpPr>
                <p:nvPr/>
              </p:nvSpPr>
              <p:spPr bwMode="auto">
                <a:xfrm>
                  <a:off x="8098982" y="2079707"/>
                  <a:ext cx="306956" cy="395540"/>
                </a:xfrm>
                <a:custGeom>
                  <a:avLst/>
                  <a:gdLst>
                    <a:gd name="T0" fmla="*/ 12 w 140"/>
                    <a:gd name="T1" fmla="*/ 35 h 180"/>
                    <a:gd name="T2" fmla="*/ 35 w 140"/>
                    <a:gd name="T3" fmla="*/ 12 h 180"/>
                    <a:gd name="T4" fmla="*/ 34 w 140"/>
                    <a:gd name="T5" fmla="*/ 5 h 180"/>
                    <a:gd name="T6" fmla="*/ 32 w 140"/>
                    <a:gd name="T7" fmla="*/ 2 h 180"/>
                    <a:gd name="T8" fmla="*/ 25 w 140"/>
                    <a:gd name="T9" fmla="*/ 2 h 180"/>
                    <a:gd name="T10" fmla="*/ 2 w 140"/>
                    <a:gd name="T11" fmla="*/ 26 h 180"/>
                    <a:gd name="T12" fmla="*/ 2 w 140"/>
                    <a:gd name="T13" fmla="*/ 33 h 180"/>
                    <a:gd name="T14" fmla="*/ 5 w 140"/>
                    <a:gd name="T15" fmla="*/ 35 h 180"/>
                    <a:gd name="T16" fmla="*/ 12 w 140"/>
                    <a:gd name="T17" fmla="*/ 35 h 180"/>
                    <a:gd name="T18" fmla="*/ 134 w 140"/>
                    <a:gd name="T19" fmla="*/ 1 h 180"/>
                    <a:gd name="T20" fmla="*/ 62 w 140"/>
                    <a:gd name="T21" fmla="*/ 1 h 180"/>
                    <a:gd name="T22" fmla="*/ 51 w 140"/>
                    <a:gd name="T23" fmla="*/ 5 h 180"/>
                    <a:gd name="T24" fmla="*/ 11 w 140"/>
                    <a:gd name="T25" fmla="*/ 47 h 180"/>
                    <a:gd name="T26" fmla="*/ 6 w 140"/>
                    <a:gd name="T27" fmla="*/ 58 h 180"/>
                    <a:gd name="T28" fmla="*/ 6 w 140"/>
                    <a:gd name="T29" fmla="*/ 174 h 180"/>
                    <a:gd name="T30" fmla="*/ 12 w 140"/>
                    <a:gd name="T31" fmla="*/ 180 h 180"/>
                    <a:gd name="T32" fmla="*/ 134 w 140"/>
                    <a:gd name="T33" fmla="*/ 180 h 180"/>
                    <a:gd name="T34" fmla="*/ 140 w 140"/>
                    <a:gd name="T35" fmla="*/ 174 h 180"/>
                    <a:gd name="T36" fmla="*/ 140 w 140"/>
                    <a:gd name="T37" fmla="*/ 7 h 180"/>
                    <a:gd name="T38" fmla="*/ 134 w 140"/>
                    <a:gd name="T39" fmla="*/ 1 h 180"/>
                    <a:gd name="T40" fmla="*/ 74 w 140"/>
                    <a:gd name="T41" fmla="*/ 147 h 180"/>
                    <a:gd name="T42" fmla="*/ 53 w 140"/>
                    <a:gd name="T43" fmla="*/ 126 h 180"/>
                    <a:gd name="T44" fmla="*/ 54 w 140"/>
                    <a:gd name="T45" fmla="*/ 119 h 180"/>
                    <a:gd name="T46" fmla="*/ 54 w 140"/>
                    <a:gd name="T47" fmla="*/ 119 h 180"/>
                    <a:gd name="T48" fmla="*/ 59 w 140"/>
                    <a:gd name="T49" fmla="*/ 105 h 180"/>
                    <a:gd name="T50" fmla="*/ 74 w 140"/>
                    <a:gd name="T51" fmla="*/ 80 h 180"/>
                    <a:gd name="T52" fmla="*/ 89 w 140"/>
                    <a:gd name="T53" fmla="*/ 105 h 180"/>
                    <a:gd name="T54" fmla="*/ 94 w 140"/>
                    <a:gd name="T55" fmla="*/ 119 h 180"/>
                    <a:gd name="T56" fmla="*/ 94 w 140"/>
                    <a:gd name="T57" fmla="*/ 119 h 180"/>
                    <a:gd name="T58" fmla="*/ 96 w 140"/>
                    <a:gd name="T59" fmla="*/ 126 h 180"/>
                    <a:gd name="T60" fmla="*/ 74 w 140"/>
                    <a:gd name="T61" fmla="*/ 147 h 180"/>
                    <a:gd name="T62" fmla="*/ 124 w 140"/>
                    <a:gd name="T63" fmla="*/ 30 h 180"/>
                    <a:gd name="T64" fmla="*/ 118 w 140"/>
                    <a:gd name="T65" fmla="*/ 37 h 180"/>
                    <a:gd name="T66" fmla="*/ 72 w 140"/>
                    <a:gd name="T67" fmla="*/ 37 h 180"/>
                    <a:gd name="T68" fmla="*/ 65 w 140"/>
                    <a:gd name="T69" fmla="*/ 30 h 180"/>
                    <a:gd name="T70" fmla="*/ 65 w 140"/>
                    <a:gd name="T71" fmla="*/ 22 h 180"/>
                    <a:gd name="T72" fmla="*/ 72 w 140"/>
                    <a:gd name="T73" fmla="*/ 16 h 180"/>
                    <a:gd name="T74" fmla="*/ 118 w 140"/>
                    <a:gd name="T75" fmla="*/ 16 h 180"/>
                    <a:gd name="T76" fmla="*/ 124 w 140"/>
                    <a:gd name="T77" fmla="*/ 22 h 180"/>
                    <a:gd name="T78" fmla="*/ 124 w 140"/>
                    <a:gd name="T79" fmla="*/ 30 h 180"/>
                    <a:gd name="T80" fmla="*/ 85 w 140"/>
                    <a:gd name="T81" fmla="*/ 116 h 180"/>
                    <a:gd name="T82" fmla="*/ 80 w 140"/>
                    <a:gd name="T83" fmla="*/ 126 h 180"/>
                    <a:gd name="T84" fmla="*/ 85 w 140"/>
                    <a:gd name="T85" fmla="*/ 136 h 180"/>
                    <a:gd name="T86" fmla="*/ 89 w 140"/>
                    <a:gd name="T87" fmla="*/ 126 h 180"/>
                    <a:gd name="T88" fmla="*/ 85 w 140"/>
                    <a:gd name="T89" fmla="*/ 116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0" h="180">
                      <a:moveTo>
                        <a:pt x="12" y="35"/>
                      </a:moveTo>
                      <a:cubicBezTo>
                        <a:pt x="35" y="12"/>
                        <a:pt x="35" y="12"/>
                        <a:pt x="35" y="12"/>
                      </a:cubicBezTo>
                      <a:cubicBezTo>
                        <a:pt x="36" y="10"/>
                        <a:pt x="36" y="7"/>
                        <a:pt x="34" y="5"/>
                      </a:cubicBezTo>
                      <a:cubicBezTo>
                        <a:pt x="32" y="2"/>
                        <a:pt x="32" y="2"/>
                        <a:pt x="32" y="2"/>
                      </a:cubicBezTo>
                      <a:cubicBezTo>
                        <a:pt x="30" y="0"/>
                        <a:pt x="27" y="0"/>
                        <a:pt x="25" y="2"/>
                      </a:cubicBezTo>
                      <a:cubicBezTo>
                        <a:pt x="2" y="26"/>
                        <a:pt x="2" y="26"/>
                        <a:pt x="2" y="26"/>
                      </a:cubicBezTo>
                      <a:cubicBezTo>
                        <a:pt x="0" y="28"/>
                        <a:pt x="0" y="31"/>
                        <a:pt x="2" y="33"/>
                      </a:cubicBezTo>
                      <a:cubicBezTo>
                        <a:pt x="5" y="35"/>
                        <a:pt x="5" y="35"/>
                        <a:pt x="5" y="35"/>
                      </a:cubicBezTo>
                      <a:cubicBezTo>
                        <a:pt x="7" y="37"/>
                        <a:pt x="10" y="37"/>
                        <a:pt x="12" y="35"/>
                      </a:cubicBezTo>
                      <a:close/>
                      <a:moveTo>
                        <a:pt x="134" y="1"/>
                      </a:moveTo>
                      <a:cubicBezTo>
                        <a:pt x="62" y="1"/>
                        <a:pt x="62" y="1"/>
                        <a:pt x="62" y="1"/>
                      </a:cubicBezTo>
                      <a:cubicBezTo>
                        <a:pt x="58" y="1"/>
                        <a:pt x="54" y="3"/>
                        <a:pt x="51" y="5"/>
                      </a:cubicBezTo>
                      <a:cubicBezTo>
                        <a:pt x="11" y="47"/>
                        <a:pt x="11" y="47"/>
                        <a:pt x="11" y="47"/>
                      </a:cubicBezTo>
                      <a:cubicBezTo>
                        <a:pt x="8" y="50"/>
                        <a:pt x="6" y="54"/>
                        <a:pt x="6" y="58"/>
                      </a:cubicBezTo>
                      <a:cubicBezTo>
                        <a:pt x="6" y="174"/>
                        <a:pt x="6" y="174"/>
                        <a:pt x="6" y="174"/>
                      </a:cubicBezTo>
                      <a:cubicBezTo>
                        <a:pt x="6" y="177"/>
                        <a:pt x="9" y="180"/>
                        <a:pt x="12" y="180"/>
                      </a:cubicBezTo>
                      <a:cubicBezTo>
                        <a:pt x="134" y="180"/>
                        <a:pt x="134" y="180"/>
                        <a:pt x="134" y="180"/>
                      </a:cubicBezTo>
                      <a:cubicBezTo>
                        <a:pt x="137" y="180"/>
                        <a:pt x="140" y="177"/>
                        <a:pt x="140" y="174"/>
                      </a:cubicBezTo>
                      <a:cubicBezTo>
                        <a:pt x="140" y="7"/>
                        <a:pt x="140" y="7"/>
                        <a:pt x="140" y="7"/>
                      </a:cubicBezTo>
                      <a:cubicBezTo>
                        <a:pt x="140" y="4"/>
                        <a:pt x="137" y="1"/>
                        <a:pt x="134" y="1"/>
                      </a:cubicBezTo>
                      <a:close/>
                      <a:moveTo>
                        <a:pt x="74" y="147"/>
                      </a:moveTo>
                      <a:cubicBezTo>
                        <a:pt x="62" y="147"/>
                        <a:pt x="53" y="137"/>
                        <a:pt x="53" y="126"/>
                      </a:cubicBezTo>
                      <a:cubicBezTo>
                        <a:pt x="53" y="123"/>
                        <a:pt x="53" y="121"/>
                        <a:pt x="54" y="119"/>
                      </a:cubicBezTo>
                      <a:cubicBezTo>
                        <a:pt x="54" y="119"/>
                        <a:pt x="54" y="119"/>
                        <a:pt x="54" y="119"/>
                      </a:cubicBezTo>
                      <a:cubicBezTo>
                        <a:pt x="55" y="114"/>
                        <a:pt x="57" y="110"/>
                        <a:pt x="59" y="105"/>
                      </a:cubicBezTo>
                      <a:cubicBezTo>
                        <a:pt x="64" y="94"/>
                        <a:pt x="69" y="86"/>
                        <a:pt x="74" y="80"/>
                      </a:cubicBezTo>
                      <a:cubicBezTo>
                        <a:pt x="79" y="86"/>
                        <a:pt x="84" y="94"/>
                        <a:pt x="89" y="105"/>
                      </a:cubicBezTo>
                      <a:cubicBezTo>
                        <a:pt x="91" y="110"/>
                        <a:pt x="93" y="114"/>
                        <a:pt x="94" y="119"/>
                      </a:cubicBezTo>
                      <a:cubicBezTo>
                        <a:pt x="94" y="119"/>
                        <a:pt x="94" y="119"/>
                        <a:pt x="94" y="119"/>
                      </a:cubicBezTo>
                      <a:cubicBezTo>
                        <a:pt x="95" y="121"/>
                        <a:pt x="96" y="123"/>
                        <a:pt x="96" y="126"/>
                      </a:cubicBezTo>
                      <a:cubicBezTo>
                        <a:pt x="96" y="137"/>
                        <a:pt x="86" y="147"/>
                        <a:pt x="74" y="147"/>
                      </a:cubicBezTo>
                      <a:close/>
                      <a:moveTo>
                        <a:pt x="124" y="30"/>
                      </a:moveTo>
                      <a:cubicBezTo>
                        <a:pt x="124" y="34"/>
                        <a:pt x="122" y="37"/>
                        <a:pt x="118" y="37"/>
                      </a:cubicBezTo>
                      <a:cubicBezTo>
                        <a:pt x="72" y="37"/>
                        <a:pt x="72" y="37"/>
                        <a:pt x="72" y="37"/>
                      </a:cubicBezTo>
                      <a:cubicBezTo>
                        <a:pt x="68" y="37"/>
                        <a:pt x="65" y="34"/>
                        <a:pt x="65" y="30"/>
                      </a:cubicBezTo>
                      <a:cubicBezTo>
                        <a:pt x="65" y="22"/>
                        <a:pt x="65" y="22"/>
                        <a:pt x="65" y="22"/>
                      </a:cubicBezTo>
                      <a:cubicBezTo>
                        <a:pt x="65" y="19"/>
                        <a:pt x="68" y="16"/>
                        <a:pt x="72" y="16"/>
                      </a:cubicBezTo>
                      <a:cubicBezTo>
                        <a:pt x="118" y="16"/>
                        <a:pt x="118" y="16"/>
                        <a:pt x="118" y="16"/>
                      </a:cubicBezTo>
                      <a:cubicBezTo>
                        <a:pt x="122" y="16"/>
                        <a:pt x="124" y="19"/>
                        <a:pt x="124" y="22"/>
                      </a:cubicBezTo>
                      <a:lnTo>
                        <a:pt x="124" y="30"/>
                      </a:lnTo>
                      <a:close/>
                      <a:moveTo>
                        <a:pt x="85" y="116"/>
                      </a:moveTo>
                      <a:cubicBezTo>
                        <a:pt x="82" y="116"/>
                        <a:pt x="80" y="120"/>
                        <a:pt x="80" y="126"/>
                      </a:cubicBezTo>
                      <a:cubicBezTo>
                        <a:pt x="80" y="131"/>
                        <a:pt x="82" y="136"/>
                        <a:pt x="85" y="136"/>
                      </a:cubicBezTo>
                      <a:cubicBezTo>
                        <a:pt x="87" y="136"/>
                        <a:pt x="89" y="131"/>
                        <a:pt x="89" y="126"/>
                      </a:cubicBezTo>
                      <a:cubicBezTo>
                        <a:pt x="89" y="120"/>
                        <a:pt x="87" y="116"/>
                        <a:pt x="85" y="116"/>
                      </a:cubicBezTo>
                      <a:close/>
                    </a:path>
                  </a:pathLst>
                </a:custGeom>
                <a:solidFill>
                  <a:schemeClr val="bg1"/>
                </a:solidFill>
                <a:ln>
                  <a:noFill/>
                </a:ln>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grpSp>
              <p:nvGrpSpPr>
                <p:cNvPr id="32" name="Group 31">
                  <a:extLst>
                    <a:ext uri="{FF2B5EF4-FFF2-40B4-BE49-F238E27FC236}">
                      <a16:creationId xmlns:a16="http://schemas.microsoft.com/office/drawing/2014/main" id="{10119FFA-FEFF-43B8-B41D-59334C9A2B5E}"/>
                    </a:ext>
                  </a:extLst>
                </p:cNvPr>
                <p:cNvGrpSpPr/>
                <p:nvPr/>
              </p:nvGrpSpPr>
              <p:grpSpPr>
                <a:xfrm>
                  <a:off x="3691524" y="5734388"/>
                  <a:ext cx="483327" cy="274435"/>
                  <a:chOff x="2185477" y="5733047"/>
                  <a:chExt cx="523177" cy="297062"/>
                </a:xfrm>
              </p:grpSpPr>
              <p:sp>
                <p:nvSpPr>
                  <p:cNvPr id="38" name="Freeform 33">
                    <a:extLst>
                      <a:ext uri="{FF2B5EF4-FFF2-40B4-BE49-F238E27FC236}">
                        <a16:creationId xmlns:a16="http://schemas.microsoft.com/office/drawing/2014/main" id="{B04AB202-42F6-4A60-8AD9-7361484313AF}"/>
                      </a:ext>
                    </a:extLst>
                  </p:cNvPr>
                  <p:cNvSpPr>
                    <a:spLocks noChangeAspect="1" noEditPoints="1"/>
                  </p:cNvSpPr>
                  <p:nvPr/>
                </p:nvSpPr>
                <p:spPr bwMode="auto">
                  <a:xfrm>
                    <a:off x="2536194" y="5733047"/>
                    <a:ext cx="172460" cy="174267"/>
                  </a:xfrm>
                  <a:custGeom>
                    <a:avLst/>
                    <a:gdLst>
                      <a:gd name="T0" fmla="*/ 423 w 633"/>
                      <a:gd name="T1" fmla="*/ 324 h 621"/>
                      <a:gd name="T2" fmla="*/ 423 w 633"/>
                      <a:gd name="T3" fmla="*/ 324 h 621"/>
                      <a:gd name="T4" fmla="*/ 302 w 633"/>
                      <a:gd name="T5" fmla="*/ 415 h 621"/>
                      <a:gd name="T6" fmla="*/ 209 w 633"/>
                      <a:gd name="T7" fmla="*/ 295 h 621"/>
                      <a:gd name="T8" fmla="*/ 330 w 633"/>
                      <a:gd name="T9" fmla="*/ 205 h 621"/>
                      <a:gd name="T10" fmla="*/ 423 w 633"/>
                      <a:gd name="T11" fmla="*/ 324 h 621"/>
                      <a:gd name="T12" fmla="*/ 604 w 633"/>
                      <a:gd name="T13" fmla="*/ 310 h 621"/>
                      <a:gd name="T14" fmla="*/ 604 w 633"/>
                      <a:gd name="T15" fmla="*/ 310 h 621"/>
                      <a:gd name="T16" fmla="*/ 550 w 633"/>
                      <a:gd name="T17" fmla="*/ 261 h 621"/>
                      <a:gd name="T18" fmla="*/ 562 w 633"/>
                      <a:gd name="T19" fmla="*/ 171 h 621"/>
                      <a:gd name="T20" fmla="*/ 563 w 633"/>
                      <a:gd name="T21" fmla="*/ 170 h 621"/>
                      <a:gd name="T22" fmla="*/ 586 w 633"/>
                      <a:gd name="T23" fmla="*/ 147 h 621"/>
                      <a:gd name="T24" fmla="*/ 547 w 633"/>
                      <a:gd name="T25" fmla="*/ 96 h 621"/>
                      <a:gd name="T26" fmla="*/ 518 w 633"/>
                      <a:gd name="T27" fmla="*/ 111 h 621"/>
                      <a:gd name="T28" fmla="*/ 516 w 633"/>
                      <a:gd name="T29" fmla="*/ 112 h 621"/>
                      <a:gd name="T30" fmla="*/ 398 w 633"/>
                      <a:gd name="T31" fmla="*/ 64 h 621"/>
                      <a:gd name="T32" fmla="*/ 390 w 633"/>
                      <a:gd name="T33" fmla="*/ 35 h 621"/>
                      <a:gd name="T34" fmla="*/ 391 w 633"/>
                      <a:gd name="T35" fmla="*/ 34 h 621"/>
                      <a:gd name="T36" fmla="*/ 390 w 633"/>
                      <a:gd name="T37" fmla="*/ 7 h 621"/>
                      <a:gd name="T38" fmla="*/ 326 w 633"/>
                      <a:gd name="T39" fmla="*/ 0 h 621"/>
                      <a:gd name="T40" fmla="*/ 316 w 633"/>
                      <a:gd name="T41" fmla="*/ 30 h 621"/>
                      <a:gd name="T42" fmla="*/ 316 w 633"/>
                      <a:gd name="T43" fmla="*/ 30 h 621"/>
                      <a:gd name="T44" fmla="*/ 266 w 633"/>
                      <a:gd name="T45" fmla="*/ 80 h 621"/>
                      <a:gd name="T46" fmla="*/ 169 w 633"/>
                      <a:gd name="T47" fmla="*/ 62 h 621"/>
                      <a:gd name="T48" fmla="*/ 167 w 633"/>
                      <a:gd name="T49" fmla="*/ 60 h 621"/>
                      <a:gd name="T50" fmla="*/ 150 w 633"/>
                      <a:gd name="T51" fmla="*/ 45 h 621"/>
                      <a:gd name="T52" fmla="*/ 99 w 633"/>
                      <a:gd name="T53" fmla="*/ 83 h 621"/>
                      <a:gd name="T54" fmla="*/ 114 w 633"/>
                      <a:gd name="T55" fmla="*/ 111 h 621"/>
                      <a:gd name="T56" fmla="*/ 115 w 633"/>
                      <a:gd name="T57" fmla="*/ 114 h 621"/>
                      <a:gd name="T58" fmla="*/ 66 w 633"/>
                      <a:gd name="T59" fmla="*/ 230 h 621"/>
                      <a:gd name="T60" fmla="*/ 29 w 633"/>
                      <a:gd name="T61" fmla="*/ 237 h 621"/>
                      <a:gd name="T62" fmla="*/ 8 w 633"/>
                      <a:gd name="T63" fmla="*/ 237 h 621"/>
                      <a:gd name="T64" fmla="*/ 0 w 633"/>
                      <a:gd name="T65" fmla="*/ 300 h 621"/>
                      <a:gd name="T66" fmla="*/ 26 w 633"/>
                      <a:gd name="T67" fmla="*/ 308 h 621"/>
                      <a:gd name="T68" fmla="*/ 82 w 633"/>
                      <a:gd name="T69" fmla="*/ 359 h 621"/>
                      <a:gd name="T70" fmla="*/ 66 w 633"/>
                      <a:gd name="T71" fmla="*/ 453 h 621"/>
                      <a:gd name="T72" fmla="*/ 46 w 633"/>
                      <a:gd name="T73" fmla="*/ 472 h 621"/>
                      <a:gd name="T74" fmla="*/ 86 w 633"/>
                      <a:gd name="T75" fmla="*/ 523 h 621"/>
                      <a:gd name="T76" fmla="*/ 108 w 633"/>
                      <a:gd name="T77" fmla="*/ 511 h 621"/>
                      <a:gd name="T78" fmla="*/ 109 w 633"/>
                      <a:gd name="T79" fmla="*/ 510 h 621"/>
                      <a:gd name="T80" fmla="*/ 117 w 633"/>
                      <a:gd name="T81" fmla="*/ 507 h 621"/>
                      <a:gd name="T82" fmla="*/ 235 w 633"/>
                      <a:gd name="T83" fmla="*/ 555 h 621"/>
                      <a:gd name="T84" fmla="*/ 242 w 633"/>
                      <a:gd name="T85" fmla="*/ 588 h 621"/>
                      <a:gd name="T86" fmla="*/ 242 w 633"/>
                      <a:gd name="T87" fmla="*/ 588 h 621"/>
                      <a:gd name="T88" fmla="*/ 243 w 633"/>
                      <a:gd name="T89" fmla="*/ 612 h 621"/>
                      <a:gd name="T90" fmla="*/ 307 w 633"/>
                      <a:gd name="T91" fmla="*/ 621 h 621"/>
                      <a:gd name="T92" fmla="*/ 315 w 633"/>
                      <a:gd name="T93" fmla="*/ 596 h 621"/>
                      <a:gd name="T94" fmla="*/ 366 w 633"/>
                      <a:gd name="T95" fmla="*/ 540 h 621"/>
                      <a:gd name="T96" fmla="*/ 461 w 633"/>
                      <a:gd name="T97" fmla="*/ 554 h 621"/>
                      <a:gd name="T98" fmla="*/ 482 w 633"/>
                      <a:gd name="T99" fmla="*/ 574 h 621"/>
                      <a:gd name="T100" fmla="*/ 533 w 633"/>
                      <a:gd name="T101" fmla="*/ 536 h 621"/>
                      <a:gd name="T102" fmla="*/ 518 w 633"/>
                      <a:gd name="T103" fmla="*/ 507 h 621"/>
                      <a:gd name="T104" fmla="*/ 517 w 633"/>
                      <a:gd name="T105" fmla="*/ 506 h 621"/>
                      <a:gd name="T106" fmla="*/ 566 w 633"/>
                      <a:gd name="T107" fmla="*/ 389 h 621"/>
                      <a:gd name="T108" fmla="*/ 598 w 633"/>
                      <a:gd name="T109" fmla="*/ 383 h 621"/>
                      <a:gd name="T110" fmla="*/ 624 w 633"/>
                      <a:gd name="T111" fmla="*/ 382 h 621"/>
                      <a:gd name="T112" fmla="*/ 633 w 633"/>
                      <a:gd name="T113" fmla="*/ 319 h 621"/>
                      <a:gd name="T114" fmla="*/ 604 w 633"/>
                      <a:gd name="T115" fmla="*/ 310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3" h="621">
                        <a:moveTo>
                          <a:pt x="423" y="324"/>
                        </a:moveTo>
                        <a:lnTo>
                          <a:pt x="423" y="324"/>
                        </a:lnTo>
                        <a:cubicBezTo>
                          <a:pt x="415" y="382"/>
                          <a:pt x="361" y="422"/>
                          <a:pt x="302" y="415"/>
                        </a:cubicBezTo>
                        <a:cubicBezTo>
                          <a:pt x="243" y="407"/>
                          <a:pt x="201" y="353"/>
                          <a:pt x="209" y="295"/>
                        </a:cubicBezTo>
                        <a:cubicBezTo>
                          <a:pt x="217" y="237"/>
                          <a:pt x="271" y="197"/>
                          <a:pt x="330" y="205"/>
                        </a:cubicBezTo>
                        <a:cubicBezTo>
                          <a:pt x="389" y="212"/>
                          <a:pt x="431" y="266"/>
                          <a:pt x="423" y="324"/>
                        </a:cubicBezTo>
                        <a:close/>
                        <a:moveTo>
                          <a:pt x="604" y="310"/>
                        </a:moveTo>
                        <a:lnTo>
                          <a:pt x="604" y="310"/>
                        </a:lnTo>
                        <a:cubicBezTo>
                          <a:pt x="580" y="302"/>
                          <a:pt x="560" y="285"/>
                          <a:pt x="550" y="261"/>
                        </a:cubicBezTo>
                        <a:cubicBezTo>
                          <a:pt x="537" y="230"/>
                          <a:pt x="543" y="196"/>
                          <a:pt x="562" y="171"/>
                        </a:cubicBezTo>
                        <a:lnTo>
                          <a:pt x="563" y="170"/>
                        </a:lnTo>
                        <a:lnTo>
                          <a:pt x="586" y="147"/>
                        </a:lnTo>
                        <a:lnTo>
                          <a:pt x="547" y="96"/>
                        </a:lnTo>
                        <a:lnTo>
                          <a:pt x="518" y="111"/>
                        </a:lnTo>
                        <a:lnTo>
                          <a:pt x="516" y="112"/>
                        </a:lnTo>
                        <a:cubicBezTo>
                          <a:pt x="470" y="131"/>
                          <a:pt x="417" y="109"/>
                          <a:pt x="398" y="64"/>
                        </a:cubicBezTo>
                        <a:cubicBezTo>
                          <a:pt x="394" y="55"/>
                          <a:pt x="391" y="45"/>
                          <a:pt x="390" y="35"/>
                        </a:cubicBezTo>
                        <a:lnTo>
                          <a:pt x="391" y="34"/>
                        </a:lnTo>
                        <a:lnTo>
                          <a:pt x="390" y="7"/>
                        </a:lnTo>
                        <a:lnTo>
                          <a:pt x="326" y="0"/>
                        </a:lnTo>
                        <a:lnTo>
                          <a:pt x="316" y="30"/>
                        </a:lnTo>
                        <a:lnTo>
                          <a:pt x="316" y="30"/>
                        </a:lnTo>
                        <a:cubicBezTo>
                          <a:pt x="307" y="52"/>
                          <a:pt x="290" y="70"/>
                          <a:pt x="266" y="80"/>
                        </a:cubicBezTo>
                        <a:cubicBezTo>
                          <a:pt x="232" y="94"/>
                          <a:pt x="194" y="86"/>
                          <a:pt x="169" y="62"/>
                        </a:cubicBezTo>
                        <a:lnTo>
                          <a:pt x="167" y="60"/>
                        </a:lnTo>
                        <a:lnTo>
                          <a:pt x="150" y="45"/>
                        </a:lnTo>
                        <a:lnTo>
                          <a:pt x="99" y="83"/>
                        </a:lnTo>
                        <a:lnTo>
                          <a:pt x="114" y="111"/>
                        </a:lnTo>
                        <a:lnTo>
                          <a:pt x="115" y="114"/>
                        </a:lnTo>
                        <a:cubicBezTo>
                          <a:pt x="134" y="159"/>
                          <a:pt x="113" y="211"/>
                          <a:pt x="66" y="230"/>
                        </a:cubicBezTo>
                        <a:cubicBezTo>
                          <a:pt x="54" y="235"/>
                          <a:pt x="43" y="236"/>
                          <a:pt x="29" y="237"/>
                        </a:cubicBezTo>
                        <a:lnTo>
                          <a:pt x="8" y="237"/>
                        </a:lnTo>
                        <a:lnTo>
                          <a:pt x="0" y="300"/>
                        </a:lnTo>
                        <a:lnTo>
                          <a:pt x="26" y="308"/>
                        </a:lnTo>
                        <a:cubicBezTo>
                          <a:pt x="51" y="316"/>
                          <a:pt x="71" y="334"/>
                          <a:pt x="82" y="359"/>
                        </a:cubicBezTo>
                        <a:cubicBezTo>
                          <a:pt x="96" y="392"/>
                          <a:pt x="89" y="428"/>
                          <a:pt x="66" y="453"/>
                        </a:cubicBezTo>
                        <a:lnTo>
                          <a:pt x="46" y="472"/>
                        </a:lnTo>
                        <a:lnTo>
                          <a:pt x="86" y="523"/>
                        </a:lnTo>
                        <a:lnTo>
                          <a:pt x="108" y="511"/>
                        </a:lnTo>
                        <a:lnTo>
                          <a:pt x="109" y="510"/>
                        </a:lnTo>
                        <a:cubicBezTo>
                          <a:pt x="114" y="508"/>
                          <a:pt x="112" y="509"/>
                          <a:pt x="117" y="507"/>
                        </a:cubicBezTo>
                        <a:cubicBezTo>
                          <a:pt x="163" y="488"/>
                          <a:pt x="216" y="509"/>
                          <a:pt x="235" y="555"/>
                        </a:cubicBezTo>
                        <a:cubicBezTo>
                          <a:pt x="240" y="566"/>
                          <a:pt x="242" y="577"/>
                          <a:pt x="242" y="588"/>
                        </a:cubicBezTo>
                        <a:lnTo>
                          <a:pt x="242" y="588"/>
                        </a:lnTo>
                        <a:lnTo>
                          <a:pt x="243" y="612"/>
                        </a:lnTo>
                        <a:lnTo>
                          <a:pt x="307" y="621"/>
                        </a:lnTo>
                        <a:lnTo>
                          <a:pt x="315" y="596"/>
                        </a:lnTo>
                        <a:cubicBezTo>
                          <a:pt x="322" y="572"/>
                          <a:pt x="340" y="550"/>
                          <a:pt x="366" y="540"/>
                        </a:cubicBezTo>
                        <a:cubicBezTo>
                          <a:pt x="399" y="526"/>
                          <a:pt x="435" y="533"/>
                          <a:pt x="461" y="554"/>
                        </a:cubicBezTo>
                        <a:lnTo>
                          <a:pt x="482" y="574"/>
                        </a:lnTo>
                        <a:lnTo>
                          <a:pt x="533" y="536"/>
                        </a:lnTo>
                        <a:lnTo>
                          <a:pt x="518" y="507"/>
                        </a:lnTo>
                        <a:lnTo>
                          <a:pt x="517" y="506"/>
                        </a:lnTo>
                        <a:cubicBezTo>
                          <a:pt x="498" y="460"/>
                          <a:pt x="520" y="408"/>
                          <a:pt x="566" y="389"/>
                        </a:cubicBezTo>
                        <a:cubicBezTo>
                          <a:pt x="576" y="385"/>
                          <a:pt x="587" y="383"/>
                          <a:pt x="598" y="383"/>
                        </a:cubicBezTo>
                        <a:lnTo>
                          <a:pt x="624" y="382"/>
                        </a:lnTo>
                        <a:lnTo>
                          <a:pt x="633" y="319"/>
                        </a:lnTo>
                        <a:lnTo>
                          <a:pt x="604" y="310"/>
                        </a:ln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39" name="Freeform 33">
                    <a:extLst>
                      <a:ext uri="{FF2B5EF4-FFF2-40B4-BE49-F238E27FC236}">
                        <a16:creationId xmlns:a16="http://schemas.microsoft.com/office/drawing/2014/main" id="{F3A5BE85-A845-46CA-A8DB-BAA57870B4C9}"/>
                      </a:ext>
                    </a:extLst>
                  </p:cNvPr>
                  <p:cNvSpPr>
                    <a:spLocks noChangeAspect="1" noEditPoints="1"/>
                  </p:cNvSpPr>
                  <p:nvPr/>
                </p:nvSpPr>
                <p:spPr bwMode="auto">
                  <a:xfrm>
                    <a:off x="2382756" y="5855842"/>
                    <a:ext cx="172460" cy="174267"/>
                  </a:xfrm>
                  <a:custGeom>
                    <a:avLst/>
                    <a:gdLst>
                      <a:gd name="T0" fmla="*/ 423 w 633"/>
                      <a:gd name="T1" fmla="*/ 324 h 621"/>
                      <a:gd name="T2" fmla="*/ 423 w 633"/>
                      <a:gd name="T3" fmla="*/ 324 h 621"/>
                      <a:gd name="T4" fmla="*/ 302 w 633"/>
                      <a:gd name="T5" fmla="*/ 415 h 621"/>
                      <a:gd name="T6" fmla="*/ 209 w 633"/>
                      <a:gd name="T7" fmla="*/ 295 h 621"/>
                      <a:gd name="T8" fmla="*/ 330 w 633"/>
                      <a:gd name="T9" fmla="*/ 205 h 621"/>
                      <a:gd name="T10" fmla="*/ 423 w 633"/>
                      <a:gd name="T11" fmla="*/ 324 h 621"/>
                      <a:gd name="T12" fmla="*/ 604 w 633"/>
                      <a:gd name="T13" fmla="*/ 310 h 621"/>
                      <a:gd name="T14" fmla="*/ 604 w 633"/>
                      <a:gd name="T15" fmla="*/ 310 h 621"/>
                      <a:gd name="T16" fmla="*/ 550 w 633"/>
                      <a:gd name="T17" fmla="*/ 261 h 621"/>
                      <a:gd name="T18" fmla="*/ 562 w 633"/>
                      <a:gd name="T19" fmla="*/ 171 h 621"/>
                      <a:gd name="T20" fmla="*/ 563 w 633"/>
                      <a:gd name="T21" fmla="*/ 170 h 621"/>
                      <a:gd name="T22" fmla="*/ 586 w 633"/>
                      <a:gd name="T23" fmla="*/ 147 h 621"/>
                      <a:gd name="T24" fmla="*/ 547 w 633"/>
                      <a:gd name="T25" fmla="*/ 96 h 621"/>
                      <a:gd name="T26" fmla="*/ 518 w 633"/>
                      <a:gd name="T27" fmla="*/ 111 h 621"/>
                      <a:gd name="T28" fmla="*/ 516 w 633"/>
                      <a:gd name="T29" fmla="*/ 112 h 621"/>
                      <a:gd name="T30" fmla="*/ 398 w 633"/>
                      <a:gd name="T31" fmla="*/ 64 h 621"/>
                      <a:gd name="T32" fmla="*/ 390 w 633"/>
                      <a:gd name="T33" fmla="*/ 35 h 621"/>
                      <a:gd name="T34" fmla="*/ 391 w 633"/>
                      <a:gd name="T35" fmla="*/ 34 h 621"/>
                      <a:gd name="T36" fmla="*/ 390 w 633"/>
                      <a:gd name="T37" fmla="*/ 7 h 621"/>
                      <a:gd name="T38" fmla="*/ 326 w 633"/>
                      <a:gd name="T39" fmla="*/ 0 h 621"/>
                      <a:gd name="T40" fmla="*/ 316 w 633"/>
                      <a:gd name="T41" fmla="*/ 30 h 621"/>
                      <a:gd name="T42" fmla="*/ 316 w 633"/>
                      <a:gd name="T43" fmla="*/ 30 h 621"/>
                      <a:gd name="T44" fmla="*/ 266 w 633"/>
                      <a:gd name="T45" fmla="*/ 80 h 621"/>
                      <a:gd name="T46" fmla="*/ 169 w 633"/>
                      <a:gd name="T47" fmla="*/ 62 h 621"/>
                      <a:gd name="T48" fmla="*/ 167 w 633"/>
                      <a:gd name="T49" fmla="*/ 60 h 621"/>
                      <a:gd name="T50" fmla="*/ 150 w 633"/>
                      <a:gd name="T51" fmla="*/ 45 h 621"/>
                      <a:gd name="T52" fmla="*/ 99 w 633"/>
                      <a:gd name="T53" fmla="*/ 83 h 621"/>
                      <a:gd name="T54" fmla="*/ 114 w 633"/>
                      <a:gd name="T55" fmla="*/ 111 h 621"/>
                      <a:gd name="T56" fmla="*/ 115 w 633"/>
                      <a:gd name="T57" fmla="*/ 114 h 621"/>
                      <a:gd name="T58" fmla="*/ 66 w 633"/>
                      <a:gd name="T59" fmla="*/ 230 h 621"/>
                      <a:gd name="T60" fmla="*/ 29 w 633"/>
                      <a:gd name="T61" fmla="*/ 237 h 621"/>
                      <a:gd name="T62" fmla="*/ 8 w 633"/>
                      <a:gd name="T63" fmla="*/ 237 h 621"/>
                      <a:gd name="T64" fmla="*/ 0 w 633"/>
                      <a:gd name="T65" fmla="*/ 300 h 621"/>
                      <a:gd name="T66" fmla="*/ 26 w 633"/>
                      <a:gd name="T67" fmla="*/ 308 h 621"/>
                      <a:gd name="T68" fmla="*/ 82 w 633"/>
                      <a:gd name="T69" fmla="*/ 359 h 621"/>
                      <a:gd name="T70" fmla="*/ 66 w 633"/>
                      <a:gd name="T71" fmla="*/ 453 h 621"/>
                      <a:gd name="T72" fmla="*/ 46 w 633"/>
                      <a:gd name="T73" fmla="*/ 472 h 621"/>
                      <a:gd name="T74" fmla="*/ 86 w 633"/>
                      <a:gd name="T75" fmla="*/ 523 h 621"/>
                      <a:gd name="T76" fmla="*/ 108 w 633"/>
                      <a:gd name="T77" fmla="*/ 511 h 621"/>
                      <a:gd name="T78" fmla="*/ 109 w 633"/>
                      <a:gd name="T79" fmla="*/ 510 h 621"/>
                      <a:gd name="T80" fmla="*/ 117 w 633"/>
                      <a:gd name="T81" fmla="*/ 507 h 621"/>
                      <a:gd name="T82" fmla="*/ 235 w 633"/>
                      <a:gd name="T83" fmla="*/ 555 h 621"/>
                      <a:gd name="T84" fmla="*/ 242 w 633"/>
                      <a:gd name="T85" fmla="*/ 588 h 621"/>
                      <a:gd name="T86" fmla="*/ 242 w 633"/>
                      <a:gd name="T87" fmla="*/ 588 h 621"/>
                      <a:gd name="T88" fmla="*/ 243 w 633"/>
                      <a:gd name="T89" fmla="*/ 612 h 621"/>
                      <a:gd name="T90" fmla="*/ 307 w 633"/>
                      <a:gd name="T91" fmla="*/ 621 h 621"/>
                      <a:gd name="T92" fmla="*/ 315 w 633"/>
                      <a:gd name="T93" fmla="*/ 596 h 621"/>
                      <a:gd name="T94" fmla="*/ 366 w 633"/>
                      <a:gd name="T95" fmla="*/ 540 h 621"/>
                      <a:gd name="T96" fmla="*/ 461 w 633"/>
                      <a:gd name="T97" fmla="*/ 554 h 621"/>
                      <a:gd name="T98" fmla="*/ 482 w 633"/>
                      <a:gd name="T99" fmla="*/ 574 h 621"/>
                      <a:gd name="T100" fmla="*/ 533 w 633"/>
                      <a:gd name="T101" fmla="*/ 536 h 621"/>
                      <a:gd name="T102" fmla="*/ 518 w 633"/>
                      <a:gd name="T103" fmla="*/ 507 h 621"/>
                      <a:gd name="T104" fmla="*/ 517 w 633"/>
                      <a:gd name="T105" fmla="*/ 506 h 621"/>
                      <a:gd name="T106" fmla="*/ 566 w 633"/>
                      <a:gd name="T107" fmla="*/ 389 h 621"/>
                      <a:gd name="T108" fmla="*/ 598 w 633"/>
                      <a:gd name="T109" fmla="*/ 383 h 621"/>
                      <a:gd name="T110" fmla="*/ 624 w 633"/>
                      <a:gd name="T111" fmla="*/ 382 h 621"/>
                      <a:gd name="T112" fmla="*/ 633 w 633"/>
                      <a:gd name="T113" fmla="*/ 319 h 621"/>
                      <a:gd name="T114" fmla="*/ 604 w 633"/>
                      <a:gd name="T115" fmla="*/ 310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3" h="621">
                        <a:moveTo>
                          <a:pt x="423" y="324"/>
                        </a:moveTo>
                        <a:lnTo>
                          <a:pt x="423" y="324"/>
                        </a:lnTo>
                        <a:cubicBezTo>
                          <a:pt x="415" y="382"/>
                          <a:pt x="361" y="422"/>
                          <a:pt x="302" y="415"/>
                        </a:cubicBezTo>
                        <a:cubicBezTo>
                          <a:pt x="243" y="407"/>
                          <a:pt x="201" y="353"/>
                          <a:pt x="209" y="295"/>
                        </a:cubicBezTo>
                        <a:cubicBezTo>
                          <a:pt x="217" y="237"/>
                          <a:pt x="271" y="197"/>
                          <a:pt x="330" y="205"/>
                        </a:cubicBezTo>
                        <a:cubicBezTo>
                          <a:pt x="389" y="212"/>
                          <a:pt x="431" y="266"/>
                          <a:pt x="423" y="324"/>
                        </a:cubicBezTo>
                        <a:close/>
                        <a:moveTo>
                          <a:pt x="604" y="310"/>
                        </a:moveTo>
                        <a:lnTo>
                          <a:pt x="604" y="310"/>
                        </a:lnTo>
                        <a:cubicBezTo>
                          <a:pt x="580" y="302"/>
                          <a:pt x="560" y="285"/>
                          <a:pt x="550" y="261"/>
                        </a:cubicBezTo>
                        <a:cubicBezTo>
                          <a:pt x="537" y="230"/>
                          <a:pt x="543" y="196"/>
                          <a:pt x="562" y="171"/>
                        </a:cubicBezTo>
                        <a:lnTo>
                          <a:pt x="563" y="170"/>
                        </a:lnTo>
                        <a:lnTo>
                          <a:pt x="586" y="147"/>
                        </a:lnTo>
                        <a:lnTo>
                          <a:pt x="547" y="96"/>
                        </a:lnTo>
                        <a:lnTo>
                          <a:pt x="518" y="111"/>
                        </a:lnTo>
                        <a:lnTo>
                          <a:pt x="516" y="112"/>
                        </a:lnTo>
                        <a:cubicBezTo>
                          <a:pt x="470" y="131"/>
                          <a:pt x="417" y="109"/>
                          <a:pt x="398" y="64"/>
                        </a:cubicBezTo>
                        <a:cubicBezTo>
                          <a:pt x="394" y="55"/>
                          <a:pt x="391" y="45"/>
                          <a:pt x="390" y="35"/>
                        </a:cubicBezTo>
                        <a:lnTo>
                          <a:pt x="391" y="34"/>
                        </a:lnTo>
                        <a:lnTo>
                          <a:pt x="390" y="7"/>
                        </a:lnTo>
                        <a:lnTo>
                          <a:pt x="326" y="0"/>
                        </a:lnTo>
                        <a:lnTo>
                          <a:pt x="316" y="30"/>
                        </a:lnTo>
                        <a:lnTo>
                          <a:pt x="316" y="30"/>
                        </a:lnTo>
                        <a:cubicBezTo>
                          <a:pt x="307" y="52"/>
                          <a:pt x="290" y="70"/>
                          <a:pt x="266" y="80"/>
                        </a:cubicBezTo>
                        <a:cubicBezTo>
                          <a:pt x="232" y="94"/>
                          <a:pt x="194" y="86"/>
                          <a:pt x="169" y="62"/>
                        </a:cubicBezTo>
                        <a:lnTo>
                          <a:pt x="167" y="60"/>
                        </a:lnTo>
                        <a:lnTo>
                          <a:pt x="150" y="45"/>
                        </a:lnTo>
                        <a:lnTo>
                          <a:pt x="99" y="83"/>
                        </a:lnTo>
                        <a:lnTo>
                          <a:pt x="114" y="111"/>
                        </a:lnTo>
                        <a:lnTo>
                          <a:pt x="115" y="114"/>
                        </a:lnTo>
                        <a:cubicBezTo>
                          <a:pt x="134" y="159"/>
                          <a:pt x="113" y="211"/>
                          <a:pt x="66" y="230"/>
                        </a:cubicBezTo>
                        <a:cubicBezTo>
                          <a:pt x="54" y="235"/>
                          <a:pt x="43" y="236"/>
                          <a:pt x="29" y="237"/>
                        </a:cubicBezTo>
                        <a:lnTo>
                          <a:pt x="8" y="237"/>
                        </a:lnTo>
                        <a:lnTo>
                          <a:pt x="0" y="300"/>
                        </a:lnTo>
                        <a:lnTo>
                          <a:pt x="26" y="308"/>
                        </a:lnTo>
                        <a:cubicBezTo>
                          <a:pt x="51" y="316"/>
                          <a:pt x="71" y="334"/>
                          <a:pt x="82" y="359"/>
                        </a:cubicBezTo>
                        <a:cubicBezTo>
                          <a:pt x="96" y="392"/>
                          <a:pt x="89" y="428"/>
                          <a:pt x="66" y="453"/>
                        </a:cubicBezTo>
                        <a:lnTo>
                          <a:pt x="46" y="472"/>
                        </a:lnTo>
                        <a:lnTo>
                          <a:pt x="86" y="523"/>
                        </a:lnTo>
                        <a:lnTo>
                          <a:pt x="108" y="511"/>
                        </a:lnTo>
                        <a:lnTo>
                          <a:pt x="109" y="510"/>
                        </a:lnTo>
                        <a:cubicBezTo>
                          <a:pt x="114" y="508"/>
                          <a:pt x="112" y="509"/>
                          <a:pt x="117" y="507"/>
                        </a:cubicBezTo>
                        <a:cubicBezTo>
                          <a:pt x="163" y="488"/>
                          <a:pt x="216" y="509"/>
                          <a:pt x="235" y="555"/>
                        </a:cubicBezTo>
                        <a:cubicBezTo>
                          <a:pt x="240" y="566"/>
                          <a:pt x="242" y="577"/>
                          <a:pt x="242" y="588"/>
                        </a:cubicBezTo>
                        <a:lnTo>
                          <a:pt x="242" y="588"/>
                        </a:lnTo>
                        <a:lnTo>
                          <a:pt x="243" y="612"/>
                        </a:lnTo>
                        <a:lnTo>
                          <a:pt x="307" y="621"/>
                        </a:lnTo>
                        <a:lnTo>
                          <a:pt x="315" y="596"/>
                        </a:lnTo>
                        <a:cubicBezTo>
                          <a:pt x="322" y="572"/>
                          <a:pt x="340" y="550"/>
                          <a:pt x="366" y="540"/>
                        </a:cubicBezTo>
                        <a:cubicBezTo>
                          <a:pt x="399" y="526"/>
                          <a:pt x="435" y="533"/>
                          <a:pt x="461" y="554"/>
                        </a:cubicBezTo>
                        <a:lnTo>
                          <a:pt x="482" y="574"/>
                        </a:lnTo>
                        <a:lnTo>
                          <a:pt x="533" y="536"/>
                        </a:lnTo>
                        <a:lnTo>
                          <a:pt x="518" y="507"/>
                        </a:lnTo>
                        <a:lnTo>
                          <a:pt x="517" y="506"/>
                        </a:lnTo>
                        <a:cubicBezTo>
                          <a:pt x="498" y="460"/>
                          <a:pt x="520" y="408"/>
                          <a:pt x="566" y="389"/>
                        </a:cubicBezTo>
                        <a:cubicBezTo>
                          <a:pt x="576" y="385"/>
                          <a:pt x="587" y="383"/>
                          <a:pt x="598" y="383"/>
                        </a:cubicBezTo>
                        <a:lnTo>
                          <a:pt x="624" y="382"/>
                        </a:lnTo>
                        <a:lnTo>
                          <a:pt x="633" y="319"/>
                        </a:lnTo>
                        <a:lnTo>
                          <a:pt x="604" y="310"/>
                        </a:ln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40" name="Freeform 33">
                    <a:extLst>
                      <a:ext uri="{FF2B5EF4-FFF2-40B4-BE49-F238E27FC236}">
                        <a16:creationId xmlns:a16="http://schemas.microsoft.com/office/drawing/2014/main" id="{5C434DFA-B99B-46E1-B543-612046F5962C}"/>
                      </a:ext>
                    </a:extLst>
                  </p:cNvPr>
                  <p:cNvSpPr>
                    <a:spLocks noChangeAspect="1" noEditPoints="1"/>
                  </p:cNvSpPr>
                  <p:nvPr/>
                </p:nvSpPr>
                <p:spPr bwMode="auto">
                  <a:xfrm>
                    <a:off x="2185477" y="5825960"/>
                    <a:ext cx="172460" cy="174267"/>
                  </a:xfrm>
                  <a:custGeom>
                    <a:avLst/>
                    <a:gdLst>
                      <a:gd name="T0" fmla="*/ 423 w 633"/>
                      <a:gd name="T1" fmla="*/ 324 h 621"/>
                      <a:gd name="T2" fmla="*/ 423 w 633"/>
                      <a:gd name="T3" fmla="*/ 324 h 621"/>
                      <a:gd name="T4" fmla="*/ 302 w 633"/>
                      <a:gd name="T5" fmla="*/ 415 h 621"/>
                      <a:gd name="T6" fmla="*/ 209 w 633"/>
                      <a:gd name="T7" fmla="*/ 295 h 621"/>
                      <a:gd name="T8" fmla="*/ 330 w 633"/>
                      <a:gd name="T9" fmla="*/ 205 h 621"/>
                      <a:gd name="T10" fmla="*/ 423 w 633"/>
                      <a:gd name="T11" fmla="*/ 324 h 621"/>
                      <a:gd name="T12" fmla="*/ 604 w 633"/>
                      <a:gd name="T13" fmla="*/ 310 h 621"/>
                      <a:gd name="T14" fmla="*/ 604 w 633"/>
                      <a:gd name="T15" fmla="*/ 310 h 621"/>
                      <a:gd name="T16" fmla="*/ 550 w 633"/>
                      <a:gd name="T17" fmla="*/ 261 h 621"/>
                      <a:gd name="T18" fmla="*/ 562 w 633"/>
                      <a:gd name="T19" fmla="*/ 171 h 621"/>
                      <a:gd name="T20" fmla="*/ 563 w 633"/>
                      <a:gd name="T21" fmla="*/ 170 h 621"/>
                      <a:gd name="T22" fmla="*/ 586 w 633"/>
                      <a:gd name="T23" fmla="*/ 147 h 621"/>
                      <a:gd name="T24" fmla="*/ 547 w 633"/>
                      <a:gd name="T25" fmla="*/ 96 h 621"/>
                      <a:gd name="T26" fmla="*/ 518 w 633"/>
                      <a:gd name="T27" fmla="*/ 111 h 621"/>
                      <a:gd name="T28" fmla="*/ 516 w 633"/>
                      <a:gd name="T29" fmla="*/ 112 h 621"/>
                      <a:gd name="T30" fmla="*/ 398 w 633"/>
                      <a:gd name="T31" fmla="*/ 64 h 621"/>
                      <a:gd name="T32" fmla="*/ 390 w 633"/>
                      <a:gd name="T33" fmla="*/ 35 h 621"/>
                      <a:gd name="T34" fmla="*/ 391 w 633"/>
                      <a:gd name="T35" fmla="*/ 34 h 621"/>
                      <a:gd name="T36" fmla="*/ 390 w 633"/>
                      <a:gd name="T37" fmla="*/ 7 h 621"/>
                      <a:gd name="T38" fmla="*/ 326 w 633"/>
                      <a:gd name="T39" fmla="*/ 0 h 621"/>
                      <a:gd name="T40" fmla="*/ 316 w 633"/>
                      <a:gd name="T41" fmla="*/ 30 h 621"/>
                      <a:gd name="T42" fmla="*/ 316 w 633"/>
                      <a:gd name="T43" fmla="*/ 30 h 621"/>
                      <a:gd name="T44" fmla="*/ 266 w 633"/>
                      <a:gd name="T45" fmla="*/ 80 h 621"/>
                      <a:gd name="T46" fmla="*/ 169 w 633"/>
                      <a:gd name="T47" fmla="*/ 62 h 621"/>
                      <a:gd name="T48" fmla="*/ 167 w 633"/>
                      <a:gd name="T49" fmla="*/ 60 h 621"/>
                      <a:gd name="T50" fmla="*/ 150 w 633"/>
                      <a:gd name="T51" fmla="*/ 45 h 621"/>
                      <a:gd name="T52" fmla="*/ 99 w 633"/>
                      <a:gd name="T53" fmla="*/ 83 h 621"/>
                      <a:gd name="T54" fmla="*/ 114 w 633"/>
                      <a:gd name="T55" fmla="*/ 111 h 621"/>
                      <a:gd name="T56" fmla="*/ 115 w 633"/>
                      <a:gd name="T57" fmla="*/ 114 h 621"/>
                      <a:gd name="T58" fmla="*/ 66 w 633"/>
                      <a:gd name="T59" fmla="*/ 230 h 621"/>
                      <a:gd name="T60" fmla="*/ 29 w 633"/>
                      <a:gd name="T61" fmla="*/ 237 h 621"/>
                      <a:gd name="T62" fmla="*/ 8 w 633"/>
                      <a:gd name="T63" fmla="*/ 237 h 621"/>
                      <a:gd name="T64" fmla="*/ 0 w 633"/>
                      <a:gd name="T65" fmla="*/ 300 h 621"/>
                      <a:gd name="T66" fmla="*/ 26 w 633"/>
                      <a:gd name="T67" fmla="*/ 308 h 621"/>
                      <a:gd name="T68" fmla="*/ 82 w 633"/>
                      <a:gd name="T69" fmla="*/ 359 h 621"/>
                      <a:gd name="T70" fmla="*/ 66 w 633"/>
                      <a:gd name="T71" fmla="*/ 453 h 621"/>
                      <a:gd name="T72" fmla="*/ 46 w 633"/>
                      <a:gd name="T73" fmla="*/ 472 h 621"/>
                      <a:gd name="T74" fmla="*/ 86 w 633"/>
                      <a:gd name="T75" fmla="*/ 523 h 621"/>
                      <a:gd name="T76" fmla="*/ 108 w 633"/>
                      <a:gd name="T77" fmla="*/ 511 h 621"/>
                      <a:gd name="T78" fmla="*/ 109 w 633"/>
                      <a:gd name="T79" fmla="*/ 510 h 621"/>
                      <a:gd name="T80" fmla="*/ 117 w 633"/>
                      <a:gd name="T81" fmla="*/ 507 h 621"/>
                      <a:gd name="T82" fmla="*/ 235 w 633"/>
                      <a:gd name="T83" fmla="*/ 555 h 621"/>
                      <a:gd name="T84" fmla="*/ 242 w 633"/>
                      <a:gd name="T85" fmla="*/ 588 h 621"/>
                      <a:gd name="T86" fmla="*/ 242 w 633"/>
                      <a:gd name="T87" fmla="*/ 588 h 621"/>
                      <a:gd name="T88" fmla="*/ 243 w 633"/>
                      <a:gd name="T89" fmla="*/ 612 h 621"/>
                      <a:gd name="T90" fmla="*/ 307 w 633"/>
                      <a:gd name="T91" fmla="*/ 621 h 621"/>
                      <a:gd name="T92" fmla="*/ 315 w 633"/>
                      <a:gd name="T93" fmla="*/ 596 h 621"/>
                      <a:gd name="T94" fmla="*/ 366 w 633"/>
                      <a:gd name="T95" fmla="*/ 540 h 621"/>
                      <a:gd name="T96" fmla="*/ 461 w 633"/>
                      <a:gd name="T97" fmla="*/ 554 h 621"/>
                      <a:gd name="T98" fmla="*/ 482 w 633"/>
                      <a:gd name="T99" fmla="*/ 574 h 621"/>
                      <a:gd name="T100" fmla="*/ 533 w 633"/>
                      <a:gd name="T101" fmla="*/ 536 h 621"/>
                      <a:gd name="T102" fmla="*/ 518 w 633"/>
                      <a:gd name="T103" fmla="*/ 507 h 621"/>
                      <a:gd name="T104" fmla="*/ 517 w 633"/>
                      <a:gd name="T105" fmla="*/ 506 h 621"/>
                      <a:gd name="T106" fmla="*/ 566 w 633"/>
                      <a:gd name="T107" fmla="*/ 389 h 621"/>
                      <a:gd name="T108" fmla="*/ 598 w 633"/>
                      <a:gd name="T109" fmla="*/ 383 h 621"/>
                      <a:gd name="T110" fmla="*/ 624 w 633"/>
                      <a:gd name="T111" fmla="*/ 382 h 621"/>
                      <a:gd name="T112" fmla="*/ 633 w 633"/>
                      <a:gd name="T113" fmla="*/ 319 h 621"/>
                      <a:gd name="T114" fmla="*/ 604 w 633"/>
                      <a:gd name="T115" fmla="*/ 310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3" h="621">
                        <a:moveTo>
                          <a:pt x="423" y="324"/>
                        </a:moveTo>
                        <a:lnTo>
                          <a:pt x="423" y="324"/>
                        </a:lnTo>
                        <a:cubicBezTo>
                          <a:pt x="415" y="382"/>
                          <a:pt x="361" y="422"/>
                          <a:pt x="302" y="415"/>
                        </a:cubicBezTo>
                        <a:cubicBezTo>
                          <a:pt x="243" y="407"/>
                          <a:pt x="201" y="353"/>
                          <a:pt x="209" y="295"/>
                        </a:cubicBezTo>
                        <a:cubicBezTo>
                          <a:pt x="217" y="237"/>
                          <a:pt x="271" y="197"/>
                          <a:pt x="330" y="205"/>
                        </a:cubicBezTo>
                        <a:cubicBezTo>
                          <a:pt x="389" y="212"/>
                          <a:pt x="431" y="266"/>
                          <a:pt x="423" y="324"/>
                        </a:cubicBezTo>
                        <a:close/>
                        <a:moveTo>
                          <a:pt x="604" y="310"/>
                        </a:moveTo>
                        <a:lnTo>
                          <a:pt x="604" y="310"/>
                        </a:lnTo>
                        <a:cubicBezTo>
                          <a:pt x="580" y="302"/>
                          <a:pt x="560" y="285"/>
                          <a:pt x="550" y="261"/>
                        </a:cubicBezTo>
                        <a:cubicBezTo>
                          <a:pt x="537" y="230"/>
                          <a:pt x="543" y="196"/>
                          <a:pt x="562" y="171"/>
                        </a:cubicBezTo>
                        <a:lnTo>
                          <a:pt x="563" y="170"/>
                        </a:lnTo>
                        <a:lnTo>
                          <a:pt x="586" y="147"/>
                        </a:lnTo>
                        <a:lnTo>
                          <a:pt x="547" y="96"/>
                        </a:lnTo>
                        <a:lnTo>
                          <a:pt x="518" y="111"/>
                        </a:lnTo>
                        <a:lnTo>
                          <a:pt x="516" y="112"/>
                        </a:lnTo>
                        <a:cubicBezTo>
                          <a:pt x="470" y="131"/>
                          <a:pt x="417" y="109"/>
                          <a:pt x="398" y="64"/>
                        </a:cubicBezTo>
                        <a:cubicBezTo>
                          <a:pt x="394" y="55"/>
                          <a:pt x="391" y="45"/>
                          <a:pt x="390" y="35"/>
                        </a:cubicBezTo>
                        <a:lnTo>
                          <a:pt x="391" y="34"/>
                        </a:lnTo>
                        <a:lnTo>
                          <a:pt x="390" y="7"/>
                        </a:lnTo>
                        <a:lnTo>
                          <a:pt x="326" y="0"/>
                        </a:lnTo>
                        <a:lnTo>
                          <a:pt x="316" y="30"/>
                        </a:lnTo>
                        <a:lnTo>
                          <a:pt x="316" y="30"/>
                        </a:lnTo>
                        <a:cubicBezTo>
                          <a:pt x="307" y="52"/>
                          <a:pt x="290" y="70"/>
                          <a:pt x="266" y="80"/>
                        </a:cubicBezTo>
                        <a:cubicBezTo>
                          <a:pt x="232" y="94"/>
                          <a:pt x="194" y="86"/>
                          <a:pt x="169" y="62"/>
                        </a:cubicBezTo>
                        <a:lnTo>
                          <a:pt x="167" y="60"/>
                        </a:lnTo>
                        <a:lnTo>
                          <a:pt x="150" y="45"/>
                        </a:lnTo>
                        <a:lnTo>
                          <a:pt x="99" y="83"/>
                        </a:lnTo>
                        <a:lnTo>
                          <a:pt x="114" y="111"/>
                        </a:lnTo>
                        <a:lnTo>
                          <a:pt x="115" y="114"/>
                        </a:lnTo>
                        <a:cubicBezTo>
                          <a:pt x="134" y="159"/>
                          <a:pt x="113" y="211"/>
                          <a:pt x="66" y="230"/>
                        </a:cubicBezTo>
                        <a:cubicBezTo>
                          <a:pt x="54" y="235"/>
                          <a:pt x="43" y="236"/>
                          <a:pt x="29" y="237"/>
                        </a:cubicBezTo>
                        <a:lnTo>
                          <a:pt x="8" y="237"/>
                        </a:lnTo>
                        <a:lnTo>
                          <a:pt x="0" y="300"/>
                        </a:lnTo>
                        <a:lnTo>
                          <a:pt x="26" y="308"/>
                        </a:lnTo>
                        <a:cubicBezTo>
                          <a:pt x="51" y="316"/>
                          <a:pt x="71" y="334"/>
                          <a:pt x="82" y="359"/>
                        </a:cubicBezTo>
                        <a:cubicBezTo>
                          <a:pt x="96" y="392"/>
                          <a:pt x="89" y="428"/>
                          <a:pt x="66" y="453"/>
                        </a:cubicBezTo>
                        <a:lnTo>
                          <a:pt x="46" y="472"/>
                        </a:lnTo>
                        <a:lnTo>
                          <a:pt x="86" y="523"/>
                        </a:lnTo>
                        <a:lnTo>
                          <a:pt x="108" y="511"/>
                        </a:lnTo>
                        <a:lnTo>
                          <a:pt x="109" y="510"/>
                        </a:lnTo>
                        <a:cubicBezTo>
                          <a:pt x="114" y="508"/>
                          <a:pt x="112" y="509"/>
                          <a:pt x="117" y="507"/>
                        </a:cubicBezTo>
                        <a:cubicBezTo>
                          <a:pt x="163" y="488"/>
                          <a:pt x="216" y="509"/>
                          <a:pt x="235" y="555"/>
                        </a:cubicBezTo>
                        <a:cubicBezTo>
                          <a:pt x="240" y="566"/>
                          <a:pt x="242" y="577"/>
                          <a:pt x="242" y="588"/>
                        </a:cubicBezTo>
                        <a:lnTo>
                          <a:pt x="242" y="588"/>
                        </a:lnTo>
                        <a:lnTo>
                          <a:pt x="243" y="612"/>
                        </a:lnTo>
                        <a:lnTo>
                          <a:pt x="307" y="621"/>
                        </a:lnTo>
                        <a:lnTo>
                          <a:pt x="315" y="596"/>
                        </a:lnTo>
                        <a:cubicBezTo>
                          <a:pt x="322" y="572"/>
                          <a:pt x="340" y="550"/>
                          <a:pt x="366" y="540"/>
                        </a:cubicBezTo>
                        <a:cubicBezTo>
                          <a:pt x="399" y="526"/>
                          <a:pt x="435" y="533"/>
                          <a:pt x="461" y="554"/>
                        </a:cubicBezTo>
                        <a:lnTo>
                          <a:pt x="482" y="574"/>
                        </a:lnTo>
                        <a:lnTo>
                          <a:pt x="533" y="536"/>
                        </a:lnTo>
                        <a:lnTo>
                          <a:pt x="518" y="507"/>
                        </a:lnTo>
                        <a:lnTo>
                          <a:pt x="517" y="506"/>
                        </a:lnTo>
                        <a:cubicBezTo>
                          <a:pt x="498" y="460"/>
                          <a:pt x="520" y="408"/>
                          <a:pt x="566" y="389"/>
                        </a:cubicBezTo>
                        <a:cubicBezTo>
                          <a:pt x="576" y="385"/>
                          <a:pt x="587" y="383"/>
                          <a:pt x="598" y="383"/>
                        </a:cubicBezTo>
                        <a:lnTo>
                          <a:pt x="624" y="382"/>
                        </a:lnTo>
                        <a:lnTo>
                          <a:pt x="633" y="319"/>
                        </a:lnTo>
                        <a:lnTo>
                          <a:pt x="604" y="310"/>
                        </a:ln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grpSp>
            <p:sp>
              <p:nvSpPr>
                <p:cNvPr id="33" name="Freeform 917">
                  <a:extLst>
                    <a:ext uri="{FF2B5EF4-FFF2-40B4-BE49-F238E27FC236}">
                      <a16:creationId xmlns:a16="http://schemas.microsoft.com/office/drawing/2014/main" id="{5DA0693D-093A-4059-93D8-28E8A283AF2F}"/>
                    </a:ext>
                  </a:extLst>
                </p:cNvPr>
                <p:cNvSpPr>
                  <a:spLocks noChangeAspect="1" noEditPoints="1"/>
                </p:cNvSpPr>
                <p:nvPr/>
              </p:nvSpPr>
              <p:spPr bwMode="auto">
                <a:xfrm>
                  <a:off x="7646918" y="1074304"/>
                  <a:ext cx="704648" cy="706720"/>
                </a:xfrm>
                <a:custGeom>
                  <a:avLst/>
                  <a:gdLst>
                    <a:gd name="T0" fmla="*/ 277 w 512"/>
                    <a:gd name="T1" fmla="*/ 138 h 512"/>
                    <a:gd name="T2" fmla="*/ 277 w 512"/>
                    <a:gd name="T3" fmla="*/ 245 h 512"/>
                    <a:gd name="T4" fmla="*/ 234 w 512"/>
                    <a:gd name="T5" fmla="*/ 245 h 512"/>
                    <a:gd name="T6" fmla="*/ 234 w 512"/>
                    <a:gd name="T7" fmla="*/ 138 h 512"/>
                    <a:gd name="T8" fmla="*/ 256 w 512"/>
                    <a:gd name="T9" fmla="*/ 117 h 512"/>
                    <a:gd name="T10" fmla="*/ 277 w 512"/>
                    <a:gd name="T11" fmla="*/ 138 h 512"/>
                    <a:gd name="T12" fmla="*/ 512 w 512"/>
                    <a:gd name="T13" fmla="*/ 256 h 512"/>
                    <a:gd name="T14" fmla="*/ 256 w 512"/>
                    <a:gd name="T15" fmla="*/ 512 h 512"/>
                    <a:gd name="T16" fmla="*/ 0 w 512"/>
                    <a:gd name="T17" fmla="*/ 256 h 512"/>
                    <a:gd name="T18" fmla="*/ 256 w 512"/>
                    <a:gd name="T19" fmla="*/ 0 h 512"/>
                    <a:gd name="T20" fmla="*/ 512 w 512"/>
                    <a:gd name="T21" fmla="*/ 256 h 512"/>
                    <a:gd name="T22" fmla="*/ 298 w 512"/>
                    <a:gd name="T23" fmla="*/ 138 h 512"/>
                    <a:gd name="T24" fmla="*/ 256 w 512"/>
                    <a:gd name="T25" fmla="*/ 96 h 512"/>
                    <a:gd name="T26" fmla="*/ 213 w 512"/>
                    <a:gd name="T27" fmla="*/ 138 h 512"/>
                    <a:gd name="T28" fmla="*/ 213 w 512"/>
                    <a:gd name="T29" fmla="*/ 256 h 512"/>
                    <a:gd name="T30" fmla="*/ 224 w 512"/>
                    <a:gd name="T31" fmla="*/ 266 h 512"/>
                    <a:gd name="T32" fmla="*/ 245 w 512"/>
                    <a:gd name="T33" fmla="*/ 266 h 512"/>
                    <a:gd name="T34" fmla="*/ 245 w 512"/>
                    <a:gd name="T35" fmla="*/ 373 h 512"/>
                    <a:gd name="T36" fmla="*/ 236 w 512"/>
                    <a:gd name="T37" fmla="*/ 378 h 512"/>
                    <a:gd name="T38" fmla="*/ 235 w 512"/>
                    <a:gd name="T39" fmla="*/ 388 h 512"/>
                    <a:gd name="T40" fmla="*/ 246 w 512"/>
                    <a:gd name="T41" fmla="*/ 410 h 512"/>
                    <a:gd name="T42" fmla="*/ 256 w 512"/>
                    <a:gd name="T43" fmla="*/ 416 h 512"/>
                    <a:gd name="T44" fmla="*/ 265 w 512"/>
                    <a:gd name="T45" fmla="*/ 410 h 512"/>
                    <a:gd name="T46" fmla="*/ 276 w 512"/>
                    <a:gd name="T47" fmla="*/ 388 h 512"/>
                    <a:gd name="T48" fmla="*/ 275 w 512"/>
                    <a:gd name="T49" fmla="*/ 378 h 512"/>
                    <a:gd name="T50" fmla="*/ 266 w 512"/>
                    <a:gd name="T51" fmla="*/ 373 h 512"/>
                    <a:gd name="T52" fmla="*/ 266 w 512"/>
                    <a:gd name="T53" fmla="*/ 266 h 512"/>
                    <a:gd name="T54" fmla="*/ 288 w 512"/>
                    <a:gd name="T55" fmla="*/ 266 h 512"/>
                    <a:gd name="T56" fmla="*/ 298 w 512"/>
                    <a:gd name="T57" fmla="*/ 256 h 512"/>
                    <a:gd name="T58" fmla="*/ 298 w 512"/>
                    <a:gd name="T59" fmla="*/ 13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77" y="138"/>
                      </a:moveTo>
                      <a:cubicBezTo>
                        <a:pt x="277" y="245"/>
                        <a:pt x="277" y="245"/>
                        <a:pt x="277" y="245"/>
                      </a:cubicBezTo>
                      <a:cubicBezTo>
                        <a:pt x="234" y="245"/>
                        <a:pt x="234" y="245"/>
                        <a:pt x="234" y="245"/>
                      </a:cubicBezTo>
                      <a:cubicBezTo>
                        <a:pt x="234" y="138"/>
                        <a:pt x="234" y="138"/>
                        <a:pt x="234" y="138"/>
                      </a:cubicBezTo>
                      <a:cubicBezTo>
                        <a:pt x="234" y="127"/>
                        <a:pt x="244" y="117"/>
                        <a:pt x="256" y="117"/>
                      </a:cubicBezTo>
                      <a:cubicBezTo>
                        <a:pt x="267" y="117"/>
                        <a:pt x="277" y="127"/>
                        <a:pt x="277" y="138"/>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98" y="138"/>
                      </a:moveTo>
                      <a:cubicBezTo>
                        <a:pt x="298" y="115"/>
                        <a:pt x="279" y="96"/>
                        <a:pt x="256" y="96"/>
                      </a:cubicBezTo>
                      <a:cubicBezTo>
                        <a:pt x="232" y="96"/>
                        <a:pt x="213" y="115"/>
                        <a:pt x="213" y="138"/>
                      </a:cubicBezTo>
                      <a:cubicBezTo>
                        <a:pt x="213" y="256"/>
                        <a:pt x="213" y="256"/>
                        <a:pt x="213" y="256"/>
                      </a:cubicBezTo>
                      <a:cubicBezTo>
                        <a:pt x="213" y="262"/>
                        <a:pt x="218" y="266"/>
                        <a:pt x="224" y="266"/>
                      </a:cubicBezTo>
                      <a:cubicBezTo>
                        <a:pt x="245" y="266"/>
                        <a:pt x="245" y="266"/>
                        <a:pt x="245" y="266"/>
                      </a:cubicBezTo>
                      <a:cubicBezTo>
                        <a:pt x="245" y="373"/>
                        <a:pt x="245" y="373"/>
                        <a:pt x="245" y="373"/>
                      </a:cubicBezTo>
                      <a:cubicBezTo>
                        <a:pt x="241" y="373"/>
                        <a:pt x="238" y="375"/>
                        <a:pt x="236" y="378"/>
                      </a:cubicBezTo>
                      <a:cubicBezTo>
                        <a:pt x="234" y="381"/>
                        <a:pt x="234" y="385"/>
                        <a:pt x="235" y="388"/>
                      </a:cubicBezTo>
                      <a:cubicBezTo>
                        <a:pt x="246" y="410"/>
                        <a:pt x="246" y="410"/>
                        <a:pt x="246" y="410"/>
                      </a:cubicBezTo>
                      <a:cubicBezTo>
                        <a:pt x="248" y="413"/>
                        <a:pt x="252" y="416"/>
                        <a:pt x="256" y="416"/>
                      </a:cubicBezTo>
                      <a:cubicBezTo>
                        <a:pt x="260" y="416"/>
                        <a:pt x="263" y="413"/>
                        <a:pt x="265" y="410"/>
                      </a:cubicBezTo>
                      <a:cubicBezTo>
                        <a:pt x="276" y="388"/>
                        <a:pt x="276" y="388"/>
                        <a:pt x="276" y="388"/>
                      </a:cubicBezTo>
                      <a:cubicBezTo>
                        <a:pt x="278" y="385"/>
                        <a:pt x="277" y="381"/>
                        <a:pt x="275" y="378"/>
                      </a:cubicBezTo>
                      <a:cubicBezTo>
                        <a:pt x="273" y="375"/>
                        <a:pt x="270" y="373"/>
                        <a:pt x="266" y="373"/>
                      </a:cubicBezTo>
                      <a:cubicBezTo>
                        <a:pt x="266" y="266"/>
                        <a:pt x="266" y="266"/>
                        <a:pt x="266" y="266"/>
                      </a:cubicBezTo>
                      <a:cubicBezTo>
                        <a:pt x="288" y="266"/>
                        <a:pt x="288" y="266"/>
                        <a:pt x="288" y="266"/>
                      </a:cubicBezTo>
                      <a:cubicBezTo>
                        <a:pt x="294" y="266"/>
                        <a:pt x="298" y="262"/>
                        <a:pt x="298" y="256"/>
                      </a:cubicBezTo>
                      <a:lnTo>
                        <a:pt x="298" y="138"/>
                      </a:lnTo>
                      <a:close/>
                    </a:path>
                  </a:pathLst>
                </a:custGeom>
                <a:solidFill>
                  <a:schemeClr val="accent3"/>
                </a:solidFill>
                <a:ln>
                  <a:noFill/>
                </a:ln>
              </p:spPr>
              <p:txBody>
                <a:bodyPr vert="horz" wrap="square" lIns="62345" tIns="31173" rIns="62345" bIns="31173" numCol="1" anchor="t" anchorCtr="0" compatLnSpc="1">
                  <a:prstTxWarp prst="textNoShape">
                    <a:avLst/>
                  </a:prstTxWarp>
                </a:bodyPr>
                <a:lstStyle/>
                <a:p>
                  <a:pPr defTabSz="837848"/>
                  <a:endParaRPr lang="en-GB" sz="886">
                    <a:solidFill>
                      <a:prstClr val="black"/>
                    </a:solidFill>
                    <a:latin typeface="Verdana"/>
                  </a:endParaRPr>
                </a:p>
              </p:txBody>
            </p:sp>
            <p:sp>
              <p:nvSpPr>
                <p:cNvPr id="34" name="Freeform 134">
                  <a:extLst>
                    <a:ext uri="{FF2B5EF4-FFF2-40B4-BE49-F238E27FC236}">
                      <a16:creationId xmlns:a16="http://schemas.microsoft.com/office/drawing/2014/main" id="{DFAC52D9-982C-40DA-9AE9-91F38065B443}"/>
                    </a:ext>
                  </a:extLst>
                </p:cNvPr>
                <p:cNvSpPr>
                  <a:spLocks noChangeAspect="1" noEditPoints="1"/>
                </p:cNvSpPr>
                <p:nvPr/>
              </p:nvSpPr>
              <p:spPr bwMode="auto">
                <a:xfrm>
                  <a:off x="3644961" y="1126500"/>
                  <a:ext cx="690538" cy="692568"/>
                </a:xfrm>
                <a:custGeom>
                  <a:avLst/>
                  <a:gdLst>
                    <a:gd name="T0" fmla="*/ 256 w 512"/>
                    <a:gd name="T1" fmla="*/ 128 h 512"/>
                    <a:gd name="T2" fmla="*/ 234 w 512"/>
                    <a:gd name="T3" fmla="*/ 128 h 512"/>
                    <a:gd name="T4" fmla="*/ 234 w 512"/>
                    <a:gd name="T5" fmla="*/ 117 h 512"/>
                    <a:gd name="T6" fmla="*/ 256 w 512"/>
                    <a:gd name="T7" fmla="*/ 117 h 512"/>
                    <a:gd name="T8" fmla="*/ 256 w 512"/>
                    <a:gd name="T9" fmla="*/ 128 h 512"/>
                    <a:gd name="T10" fmla="*/ 192 w 512"/>
                    <a:gd name="T11" fmla="*/ 164 h 512"/>
                    <a:gd name="T12" fmla="*/ 149 w 512"/>
                    <a:gd name="T13" fmla="*/ 180 h 512"/>
                    <a:gd name="T14" fmla="*/ 149 w 512"/>
                    <a:gd name="T15" fmla="*/ 192 h 512"/>
                    <a:gd name="T16" fmla="*/ 298 w 512"/>
                    <a:gd name="T17" fmla="*/ 192 h 512"/>
                    <a:gd name="T18" fmla="*/ 298 w 512"/>
                    <a:gd name="T19" fmla="*/ 149 h 512"/>
                    <a:gd name="T20" fmla="*/ 201 w 512"/>
                    <a:gd name="T21" fmla="*/ 149 h 512"/>
                    <a:gd name="T22" fmla="*/ 192 w 512"/>
                    <a:gd name="T23" fmla="*/ 164 h 512"/>
                    <a:gd name="T24" fmla="*/ 234 w 512"/>
                    <a:gd name="T25" fmla="*/ 394 h 512"/>
                    <a:gd name="T26" fmla="*/ 256 w 512"/>
                    <a:gd name="T27" fmla="*/ 394 h 512"/>
                    <a:gd name="T28" fmla="*/ 256 w 512"/>
                    <a:gd name="T29" fmla="*/ 213 h 512"/>
                    <a:gd name="T30" fmla="*/ 234 w 512"/>
                    <a:gd name="T31" fmla="*/ 213 h 512"/>
                    <a:gd name="T32" fmla="*/ 234 w 512"/>
                    <a:gd name="T33" fmla="*/ 394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373 w 512"/>
                    <a:gd name="T45" fmla="*/ 117 h 512"/>
                    <a:gd name="T46" fmla="*/ 362 w 512"/>
                    <a:gd name="T47" fmla="*/ 106 h 512"/>
                    <a:gd name="T48" fmla="*/ 320 w 512"/>
                    <a:gd name="T49" fmla="*/ 106 h 512"/>
                    <a:gd name="T50" fmla="*/ 309 w 512"/>
                    <a:gd name="T51" fmla="*/ 117 h 512"/>
                    <a:gd name="T52" fmla="*/ 309 w 512"/>
                    <a:gd name="T53" fmla="*/ 128 h 512"/>
                    <a:gd name="T54" fmla="*/ 277 w 512"/>
                    <a:gd name="T55" fmla="*/ 128 h 512"/>
                    <a:gd name="T56" fmla="*/ 277 w 512"/>
                    <a:gd name="T57" fmla="*/ 106 h 512"/>
                    <a:gd name="T58" fmla="*/ 266 w 512"/>
                    <a:gd name="T59" fmla="*/ 96 h 512"/>
                    <a:gd name="T60" fmla="*/ 224 w 512"/>
                    <a:gd name="T61" fmla="*/ 96 h 512"/>
                    <a:gd name="T62" fmla="*/ 213 w 512"/>
                    <a:gd name="T63" fmla="*/ 106 h 512"/>
                    <a:gd name="T64" fmla="*/ 213 w 512"/>
                    <a:gd name="T65" fmla="*/ 128 h 512"/>
                    <a:gd name="T66" fmla="*/ 192 w 512"/>
                    <a:gd name="T67" fmla="*/ 128 h 512"/>
                    <a:gd name="T68" fmla="*/ 181 w 512"/>
                    <a:gd name="T69" fmla="*/ 138 h 512"/>
                    <a:gd name="T70" fmla="*/ 177 w 512"/>
                    <a:gd name="T71" fmla="*/ 149 h 512"/>
                    <a:gd name="T72" fmla="*/ 138 w 512"/>
                    <a:gd name="T73" fmla="*/ 160 h 512"/>
                    <a:gd name="T74" fmla="*/ 131 w 512"/>
                    <a:gd name="T75" fmla="*/ 163 h 512"/>
                    <a:gd name="T76" fmla="*/ 128 w 512"/>
                    <a:gd name="T77" fmla="*/ 170 h 512"/>
                    <a:gd name="T78" fmla="*/ 128 w 512"/>
                    <a:gd name="T79" fmla="*/ 202 h 512"/>
                    <a:gd name="T80" fmla="*/ 138 w 512"/>
                    <a:gd name="T81" fmla="*/ 213 h 512"/>
                    <a:gd name="T82" fmla="*/ 213 w 512"/>
                    <a:gd name="T83" fmla="*/ 213 h 512"/>
                    <a:gd name="T84" fmla="*/ 213 w 512"/>
                    <a:gd name="T85" fmla="*/ 405 h 512"/>
                    <a:gd name="T86" fmla="*/ 224 w 512"/>
                    <a:gd name="T87" fmla="*/ 416 h 512"/>
                    <a:gd name="T88" fmla="*/ 266 w 512"/>
                    <a:gd name="T89" fmla="*/ 416 h 512"/>
                    <a:gd name="T90" fmla="*/ 277 w 512"/>
                    <a:gd name="T91" fmla="*/ 405 h 512"/>
                    <a:gd name="T92" fmla="*/ 277 w 512"/>
                    <a:gd name="T93" fmla="*/ 213 h 512"/>
                    <a:gd name="T94" fmla="*/ 309 w 512"/>
                    <a:gd name="T95" fmla="*/ 213 h 512"/>
                    <a:gd name="T96" fmla="*/ 309 w 512"/>
                    <a:gd name="T97" fmla="*/ 224 h 512"/>
                    <a:gd name="T98" fmla="*/ 320 w 512"/>
                    <a:gd name="T99" fmla="*/ 234 h 512"/>
                    <a:gd name="T100" fmla="*/ 362 w 512"/>
                    <a:gd name="T101" fmla="*/ 234 h 512"/>
                    <a:gd name="T102" fmla="*/ 373 w 512"/>
                    <a:gd name="T103" fmla="*/ 224 h 512"/>
                    <a:gd name="T104" fmla="*/ 373 w 512"/>
                    <a:gd name="T105" fmla="*/ 117 h 512"/>
                    <a:gd name="T106" fmla="*/ 330 w 512"/>
                    <a:gd name="T107" fmla="*/ 213 h 512"/>
                    <a:gd name="T108" fmla="*/ 352 w 512"/>
                    <a:gd name="T109" fmla="*/ 213 h 512"/>
                    <a:gd name="T110" fmla="*/ 352 w 512"/>
                    <a:gd name="T111" fmla="*/ 128 h 512"/>
                    <a:gd name="T112" fmla="*/ 330 w 512"/>
                    <a:gd name="T113" fmla="*/ 128 h 512"/>
                    <a:gd name="T114" fmla="*/ 330 w 512"/>
                    <a:gd name="T115"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12" h="512">
                      <a:moveTo>
                        <a:pt x="256" y="128"/>
                      </a:moveTo>
                      <a:cubicBezTo>
                        <a:pt x="234" y="128"/>
                        <a:pt x="234" y="128"/>
                        <a:pt x="234" y="128"/>
                      </a:cubicBezTo>
                      <a:cubicBezTo>
                        <a:pt x="234" y="117"/>
                        <a:pt x="234" y="117"/>
                        <a:pt x="234" y="117"/>
                      </a:cubicBezTo>
                      <a:cubicBezTo>
                        <a:pt x="256" y="117"/>
                        <a:pt x="256" y="117"/>
                        <a:pt x="256" y="117"/>
                      </a:cubicBezTo>
                      <a:lnTo>
                        <a:pt x="256" y="128"/>
                      </a:lnTo>
                      <a:close/>
                      <a:moveTo>
                        <a:pt x="192" y="164"/>
                      </a:moveTo>
                      <a:cubicBezTo>
                        <a:pt x="180" y="176"/>
                        <a:pt x="161" y="179"/>
                        <a:pt x="149" y="180"/>
                      </a:cubicBezTo>
                      <a:cubicBezTo>
                        <a:pt x="149" y="192"/>
                        <a:pt x="149" y="192"/>
                        <a:pt x="149" y="192"/>
                      </a:cubicBezTo>
                      <a:cubicBezTo>
                        <a:pt x="298" y="192"/>
                        <a:pt x="298" y="192"/>
                        <a:pt x="298" y="192"/>
                      </a:cubicBezTo>
                      <a:cubicBezTo>
                        <a:pt x="298" y="149"/>
                        <a:pt x="298" y="149"/>
                        <a:pt x="298" y="149"/>
                      </a:cubicBezTo>
                      <a:cubicBezTo>
                        <a:pt x="201" y="149"/>
                        <a:pt x="201" y="149"/>
                        <a:pt x="201" y="149"/>
                      </a:cubicBezTo>
                      <a:cubicBezTo>
                        <a:pt x="199" y="155"/>
                        <a:pt x="196" y="160"/>
                        <a:pt x="192" y="164"/>
                      </a:cubicBezTo>
                      <a:close/>
                      <a:moveTo>
                        <a:pt x="234" y="394"/>
                      </a:moveTo>
                      <a:cubicBezTo>
                        <a:pt x="256" y="394"/>
                        <a:pt x="256" y="394"/>
                        <a:pt x="256" y="394"/>
                      </a:cubicBezTo>
                      <a:cubicBezTo>
                        <a:pt x="256" y="213"/>
                        <a:pt x="256" y="213"/>
                        <a:pt x="256" y="213"/>
                      </a:cubicBezTo>
                      <a:cubicBezTo>
                        <a:pt x="234" y="213"/>
                        <a:pt x="234" y="213"/>
                        <a:pt x="234" y="213"/>
                      </a:cubicBezTo>
                      <a:lnTo>
                        <a:pt x="234" y="39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117"/>
                      </a:moveTo>
                      <a:cubicBezTo>
                        <a:pt x="373" y="111"/>
                        <a:pt x="368" y="106"/>
                        <a:pt x="362" y="106"/>
                      </a:cubicBezTo>
                      <a:cubicBezTo>
                        <a:pt x="320" y="106"/>
                        <a:pt x="320" y="106"/>
                        <a:pt x="320" y="106"/>
                      </a:cubicBezTo>
                      <a:cubicBezTo>
                        <a:pt x="314" y="106"/>
                        <a:pt x="309" y="111"/>
                        <a:pt x="309" y="117"/>
                      </a:cubicBezTo>
                      <a:cubicBezTo>
                        <a:pt x="309" y="128"/>
                        <a:pt x="309" y="128"/>
                        <a:pt x="309" y="128"/>
                      </a:cubicBezTo>
                      <a:cubicBezTo>
                        <a:pt x="277" y="128"/>
                        <a:pt x="277" y="128"/>
                        <a:pt x="277" y="128"/>
                      </a:cubicBezTo>
                      <a:cubicBezTo>
                        <a:pt x="277" y="106"/>
                        <a:pt x="277" y="106"/>
                        <a:pt x="277" y="106"/>
                      </a:cubicBezTo>
                      <a:cubicBezTo>
                        <a:pt x="277" y="100"/>
                        <a:pt x="272" y="96"/>
                        <a:pt x="266" y="96"/>
                      </a:cubicBezTo>
                      <a:cubicBezTo>
                        <a:pt x="224" y="96"/>
                        <a:pt x="224" y="96"/>
                        <a:pt x="224" y="96"/>
                      </a:cubicBezTo>
                      <a:cubicBezTo>
                        <a:pt x="218" y="96"/>
                        <a:pt x="213" y="100"/>
                        <a:pt x="213" y="106"/>
                      </a:cubicBezTo>
                      <a:cubicBezTo>
                        <a:pt x="213" y="128"/>
                        <a:pt x="213" y="128"/>
                        <a:pt x="213" y="128"/>
                      </a:cubicBezTo>
                      <a:cubicBezTo>
                        <a:pt x="192" y="128"/>
                        <a:pt x="192" y="128"/>
                        <a:pt x="192" y="128"/>
                      </a:cubicBezTo>
                      <a:cubicBezTo>
                        <a:pt x="186" y="128"/>
                        <a:pt x="181" y="132"/>
                        <a:pt x="181" y="138"/>
                      </a:cubicBezTo>
                      <a:cubicBezTo>
                        <a:pt x="181" y="143"/>
                        <a:pt x="180" y="146"/>
                        <a:pt x="177" y="149"/>
                      </a:cubicBezTo>
                      <a:cubicBezTo>
                        <a:pt x="167" y="158"/>
                        <a:pt x="146" y="160"/>
                        <a:pt x="138" y="160"/>
                      </a:cubicBezTo>
                      <a:cubicBezTo>
                        <a:pt x="136" y="160"/>
                        <a:pt x="133" y="161"/>
                        <a:pt x="131" y="163"/>
                      </a:cubicBezTo>
                      <a:cubicBezTo>
                        <a:pt x="129" y="165"/>
                        <a:pt x="128" y="167"/>
                        <a:pt x="128" y="170"/>
                      </a:cubicBezTo>
                      <a:cubicBezTo>
                        <a:pt x="128" y="202"/>
                        <a:pt x="128" y="202"/>
                        <a:pt x="128" y="202"/>
                      </a:cubicBezTo>
                      <a:cubicBezTo>
                        <a:pt x="128" y="208"/>
                        <a:pt x="132" y="213"/>
                        <a:pt x="138" y="213"/>
                      </a:cubicBezTo>
                      <a:cubicBezTo>
                        <a:pt x="213" y="213"/>
                        <a:pt x="213" y="213"/>
                        <a:pt x="213" y="213"/>
                      </a:cubicBezTo>
                      <a:cubicBezTo>
                        <a:pt x="213" y="405"/>
                        <a:pt x="213" y="405"/>
                        <a:pt x="213" y="405"/>
                      </a:cubicBezTo>
                      <a:cubicBezTo>
                        <a:pt x="213" y="411"/>
                        <a:pt x="218" y="416"/>
                        <a:pt x="224" y="416"/>
                      </a:cubicBezTo>
                      <a:cubicBezTo>
                        <a:pt x="266" y="416"/>
                        <a:pt x="266" y="416"/>
                        <a:pt x="266" y="416"/>
                      </a:cubicBezTo>
                      <a:cubicBezTo>
                        <a:pt x="272" y="416"/>
                        <a:pt x="277" y="411"/>
                        <a:pt x="277" y="405"/>
                      </a:cubicBezTo>
                      <a:cubicBezTo>
                        <a:pt x="277" y="213"/>
                        <a:pt x="277" y="213"/>
                        <a:pt x="277" y="213"/>
                      </a:cubicBezTo>
                      <a:cubicBezTo>
                        <a:pt x="309" y="213"/>
                        <a:pt x="309" y="213"/>
                        <a:pt x="309" y="213"/>
                      </a:cubicBezTo>
                      <a:cubicBezTo>
                        <a:pt x="309" y="224"/>
                        <a:pt x="309" y="224"/>
                        <a:pt x="309" y="224"/>
                      </a:cubicBezTo>
                      <a:cubicBezTo>
                        <a:pt x="309" y="230"/>
                        <a:pt x="314" y="234"/>
                        <a:pt x="320" y="234"/>
                      </a:cubicBezTo>
                      <a:cubicBezTo>
                        <a:pt x="362" y="234"/>
                        <a:pt x="362" y="234"/>
                        <a:pt x="362" y="234"/>
                      </a:cubicBezTo>
                      <a:cubicBezTo>
                        <a:pt x="368" y="234"/>
                        <a:pt x="373" y="230"/>
                        <a:pt x="373" y="224"/>
                      </a:cubicBezTo>
                      <a:lnTo>
                        <a:pt x="373" y="117"/>
                      </a:lnTo>
                      <a:close/>
                      <a:moveTo>
                        <a:pt x="330" y="213"/>
                      </a:moveTo>
                      <a:cubicBezTo>
                        <a:pt x="352" y="213"/>
                        <a:pt x="352" y="213"/>
                        <a:pt x="352" y="213"/>
                      </a:cubicBezTo>
                      <a:cubicBezTo>
                        <a:pt x="352" y="128"/>
                        <a:pt x="352" y="128"/>
                        <a:pt x="352" y="128"/>
                      </a:cubicBezTo>
                      <a:cubicBezTo>
                        <a:pt x="330" y="128"/>
                        <a:pt x="330" y="128"/>
                        <a:pt x="330" y="128"/>
                      </a:cubicBezTo>
                      <a:lnTo>
                        <a:pt x="330" y="213"/>
                      </a:lnTo>
                      <a:close/>
                    </a:path>
                  </a:pathLst>
                </a:custGeom>
                <a:solidFill>
                  <a:schemeClr val="accent2"/>
                </a:solidFill>
                <a:ln>
                  <a:noFill/>
                </a:ln>
              </p:spPr>
              <p:txBody>
                <a:bodyPr vert="horz" wrap="square" lIns="62345" tIns="31173" rIns="62345" bIns="31173" numCol="1" anchor="t" anchorCtr="0" compatLnSpc="1">
                  <a:prstTxWarp prst="textNoShape">
                    <a:avLst/>
                  </a:prstTxWarp>
                </a:bodyPr>
                <a:lstStyle/>
                <a:p>
                  <a:pPr defTabSz="837848"/>
                  <a:endParaRPr lang="en-GB" sz="886">
                    <a:solidFill>
                      <a:prstClr val="black"/>
                    </a:solidFill>
                    <a:latin typeface="Verdana"/>
                  </a:endParaRPr>
                </a:p>
              </p:txBody>
            </p:sp>
            <p:sp>
              <p:nvSpPr>
                <p:cNvPr id="35" name="Freeform 566">
                  <a:extLst>
                    <a:ext uri="{FF2B5EF4-FFF2-40B4-BE49-F238E27FC236}">
                      <a16:creationId xmlns:a16="http://schemas.microsoft.com/office/drawing/2014/main" id="{A33F0BE2-09CA-4100-8C38-2FB9B508221B}"/>
                    </a:ext>
                  </a:extLst>
                </p:cNvPr>
                <p:cNvSpPr>
                  <a:spLocks noChangeAspect="1" noEditPoints="1"/>
                </p:cNvSpPr>
                <p:nvPr/>
              </p:nvSpPr>
              <p:spPr bwMode="auto">
                <a:xfrm>
                  <a:off x="3701451" y="5122094"/>
                  <a:ext cx="691649" cy="691649"/>
                </a:xfrm>
                <a:custGeom>
                  <a:avLst/>
                  <a:gdLst>
                    <a:gd name="T0" fmla="*/ 364 w 512"/>
                    <a:gd name="T1" fmla="*/ 138 h 512"/>
                    <a:gd name="T2" fmla="*/ 393 w 512"/>
                    <a:gd name="T3" fmla="*/ 352 h 512"/>
                    <a:gd name="T4" fmla="*/ 310 w 512"/>
                    <a:gd name="T5" fmla="*/ 352 h 512"/>
                    <a:gd name="T6" fmla="*/ 329 w 512"/>
                    <a:gd name="T7" fmla="*/ 138 h 512"/>
                    <a:gd name="T8" fmla="*/ 364 w 512"/>
                    <a:gd name="T9" fmla="*/ 138 h 512"/>
                    <a:gd name="T10" fmla="*/ 213 w 512"/>
                    <a:gd name="T11" fmla="*/ 233 h 512"/>
                    <a:gd name="T12" fmla="*/ 213 w 512"/>
                    <a:gd name="T13" fmla="*/ 352 h 512"/>
                    <a:gd name="T14" fmla="*/ 289 w 512"/>
                    <a:gd name="T15" fmla="*/ 352 h 512"/>
                    <a:gd name="T16" fmla="*/ 294 w 512"/>
                    <a:gd name="T17" fmla="*/ 287 h 512"/>
                    <a:gd name="T18" fmla="*/ 292 w 512"/>
                    <a:gd name="T19" fmla="*/ 286 h 512"/>
                    <a:gd name="T20" fmla="*/ 213 w 512"/>
                    <a:gd name="T21" fmla="*/ 233 h 512"/>
                    <a:gd name="T22" fmla="*/ 117 w 512"/>
                    <a:gd name="T23" fmla="*/ 352 h 512"/>
                    <a:gd name="T24" fmla="*/ 192 w 512"/>
                    <a:gd name="T25" fmla="*/ 352 h 512"/>
                    <a:gd name="T26" fmla="*/ 192 w 512"/>
                    <a:gd name="T27" fmla="*/ 283 h 512"/>
                    <a:gd name="T28" fmla="*/ 117 w 512"/>
                    <a:gd name="T29" fmla="*/ 233 h 512"/>
                    <a:gd name="T30" fmla="*/ 117 w 512"/>
                    <a:gd name="T31" fmla="*/ 352 h 512"/>
                    <a:gd name="T32" fmla="*/ 512 w 512"/>
                    <a:gd name="T33" fmla="*/ 256 h 512"/>
                    <a:gd name="T34" fmla="*/ 256 w 512"/>
                    <a:gd name="T35" fmla="*/ 512 h 512"/>
                    <a:gd name="T36" fmla="*/ 0 w 512"/>
                    <a:gd name="T37" fmla="*/ 256 h 512"/>
                    <a:gd name="T38" fmla="*/ 256 w 512"/>
                    <a:gd name="T39" fmla="*/ 0 h 512"/>
                    <a:gd name="T40" fmla="*/ 512 w 512"/>
                    <a:gd name="T41" fmla="*/ 256 h 512"/>
                    <a:gd name="T42" fmla="*/ 416 w 512"/>
                    <a:gd name="T43" fmla="*/ 361 h 512"/>
                    <a:gd name="T44" fmla="*/ 384 w 512"/>
                    <a:gd name="T45" fmla="*/ 126 h 512"/>
                    <a:gd name="T46" fmla="*/ 373 w 512"/>
                    <a:gd name="T47" fmla="*/ 117 h 512"/>
                    <a:gd name="T48" fmla="*/ 320 w 512"/>
                    <a:gd name="T49" fmla="*/ 117 h 512"/>
                    <a:gd name="T50" fmla="*/ 309 w 512"/>
                    <a:gd name="T51" fmla="*/ 127 h 512"/>
                    <a:gd name="T52" fmla="*/ 297 w 512"/>
                    <a:gd name="T53" fmla="*/ 263 h 512"/>
                    <a:gd name="T54" fmla="*/ 208 w 512"/>
                    <a:gd name="T55" fmla="*/ 204 h 512"/>
                    <a:gd name="T56" fmla="*/ 197 w 512"/>
                    <a:gd name="T57" fmla="*/ 204 h 512"/>
                    <a:gd name="T58" fmla="*/ 192 w 512"/>
                    <a:gd name="T59" fmla="*/ 213 h 512"/>
                    <a:gd name="T60" fmla="*/ 192 w 512"/>
                    <a:gd name="T61" fmla="*/ 257 h 512"/>
                    <a:gd name="T62" fmla="*/ 112 w 512"/>
                    <a:gd name="T63" fmla="*/ 204 h 512"/>
                    <a:gd name="T64" fmla="*/ 101 w 512"/>
                    <a:gd name="T65" fmla="*/ 204 h 512"/>
                    <a:gd name="T66" fmla="*/ 96 w 512"/>
                    <a:gd name="T67" fmla="*/ 213 h 512"/>
                    <a:gd name="T68" fmla="*/ 96 w 512"/>
                    <a:gd name="T69" fmla="*/ 362 h 512"/>
                    <a:gd name="T70" fmla="*/ 106 w 512"/>
                    <a:gd name="T71" fmla="*/ 373 h 512"/>
                    <a:gd name="T72" fmla="*/ 405 w 512"/>
                    <a:gd name="T73" fmla="*/ 373 h 512"/>
                    <a:gd name="T74" fmla="*/ 413 w 512"/>
                    <a:gd name="T75" fmla="*/ 369 h 512"/>
                    <a:gd name="T76" fmla="*/ 416 w 512"/>
                    <a:gd name="T77" fmla="*/ 36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12" h="512">
                      <a:moveTo>
                        <a:pt x="364" y="138"/>
                      </a:moveTo>
                      <a:cubicBezTo>
                        <a:pt x="393" y="352"/>
                        <a:pt x="393" y="352"/>
                        <a:pt x="393" y="352"/>
                      </a:cubicBezTo>
                      <a:cubicBezTo>
                        <a:pt x="310" y="352"/>
                        <a:pt x="310" y="352"/>
                        <a:pt x="310" y="352"/>
                      </a:cubicBezTo>
                      <a:cubicBezTo>
                        <a:pt x="329" y="138"/>
                        <a:pt x="329" y="138"/>
                        <a:pt x="329" y="138"/>
                      </a:cubicBezTo>
                      <a:lnTo>
                        <a:pt x="364" y="138"/>
                      </a:lnTo>
                      <a:close/>
                      <a:moveTo>
                        <a:pt x="213" y="233"/>
                      </a:moveTo>
                      <a:cubicBezTo>
                        <a:pt x="213" y="352"/>
                        <a:pt x="213" y="352"/>
                        <a:pt x="213" y="352"/>
                      </a:cubicBezTo>
                      <a:cubicBezTo>
                        <a:pt x="289" y="352"/>
                        <a:pt x="289" y="352"/>
                        <a:pt x="289" y="352"/>
                      </a:cubicBezTo>
                      <a:cubicBezTo>
                        <a:pt x="294" y="287"/>
                        <a:pt x="294" y="287"/>
                        <a:pt x="294" y="287"/>
                      </a:cubicBezTo>
                      <a:cubicBezTo>
                        <a:pt x="294" y="286"/>
                        <a:pt x="293" y="286"/>
                        <a:pt x="292" y="286"/>
                      </a:cubicBezTo>
                      <a:lnTo>
                        <a:pt x="213" y="233"/>
                      </a:lnTo>
                      <a:close/>
                      <a:moveTo>
                        <a:pt x="117" y="352"/>
                      </a:moveTo>
                      <a:cubicBezTo>
                        <a:pt x="192" y="352"/>
                        <a:pt x="192" y="352"/>
                        <a:pt x="192" y="352"/>
                      </a:cubicBezTo>
                      <a:cubicBezTo>
                        <a:pt x="192" y="283"/>
                        <a:pt x="192" y="283"/>
                        <a:pt x="192" y="283"/>
                      </a:cubicBezTo>
                      <a:cubicBezTo>
                        <a:pt x="117" y="233"/>
                        <a:pt x="117" y="233"/>
                        <a:pt x="117" y="233"/>
                      </a:cubicBezTo>
                      <a:lnTo>
                        <a:pt x="117" y="352"/>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361"/>
                      </a:moveTo>
                      <a:cubicBezTo>
                        <a:pt x="384" y="126"/>
                        <a:pt x="384" y="126"/>
                        <a:pt x="384" y="126"/>
                      </a:cubicBezTo>
                      <a:cubicBezTo>
                        <a:pt x="383" y="121"/>
                        <a:pt x="378" y="117"/>
                        <a:pt x="373" y="117"/>
                      </a:cubicBezTo>
                      <a:cubicBezTo>
                        <a:pt x="320" y="117"/>
                        <a:pt x="320" y="117"/>
                        <a:pt x="320" y="117"/>
                      </a:cubicBezTo>
                      <a:cubicBezTo>
                        <a:pt x="314" y="117"/>
                        <a:pt x="310" y="121"/>
                        <a:pt x="309" y="127"/>
                      </a:cubicBezTo>
                      <a:cubicBezTo>
                        <a:pt x="297" y="263"/>
                        <a:pt x="297" y="263"/>
                        <a:pt x="297" y="263"/>
                      </a:cubicBezTo>
                      <a:cubicBezTo>
                        <a:pt x="208" y="204"/>
                        <a:pt x="208" y="204"/>
                        <a:pt x="208" y="204"/>
                      </a:cubicBezTo>
                      <a:cubicBezTo>
                        <a:pt x="205" y="202"/>
                        <a:pt x="201" y="202"/>
                        <a:pt x="197" y="204"/>
                      </a:cubicBezTo>
                      <a:cubicBezTo>
                        <a:pt x="194" y="205"/>
                        <a:pt x="192" y="209"/>
                        <a:pt x="192" y="213"/>
                      </a:cubicBezTo>
                      <a:cubicBezTo>
                        <a:pt x="192" y="257"/>
                        <a:pt x="192" y="257"/>
                        <a:pt x="192" y="257"/>
                      </a:cubicBezTo>
                      <a:cubicBezTo>
                        <a:pt x="112" y="204"/>
                        <a:pt x="112" y="204"/>
                        <a:pt x="112" y="204"/>
                      </a:cubicBezTo>
                      <a:cubicBezTo>
                        <a:pt x="109" y="202"/>
                        <a:pt x="105" y="202"/>
                        <a:pt x="101" y="204"/>
                      </a:cubicBezTo>
                      <a:cubicBezTo>
                        <a:pt x="98" y="205"/>
                        <a:pt x="96" y="209"/>
                        <a:pt x="96" y="213"/>
                      </a:cubicBezTo>
                      <a:cubicBezTo>
                        <a:pt x="96" y="362"/>
                        <a:pt x="96" y="362"/>
                        <a:pt x="96" y="362"/>
                      </a:cubicBezTo>
                      <a:cubicBezTo>
                        <a:pt x="96" y="368"/>
                        <a:pt x="100" y="373"/>
                        <a:pt x="106" y="373"/>
                      </a:cubicBezTo>
                      <a:cubicBezTo>
                        <a:pt x="405" y="373"/>
                        <a:pt x="405" y="373"/>
                        <a:pt x="405" y="373"/>
                      </a:cubicBezTo>
                      <a:cubicBezTo>
                        <a:pt x="408" y="373"/>
                        <a:pt x="411" y="372"/>
                        <a:pt x="413" y="369"/>
                      </a:cubicBezTo>
                      <a:cubicBezTo>
                        <a:pt x="415" y="367"/>
                        <a:pt x="416" y="364"/>
                        <a:pt x="416" y="361"/>
                      </a:cubicBezTo>
                      <a:close/>
                    </a:path>
                  </a:pathLst>
                </a:custGeom>
                <a:solidFill>
                  <a:schemeClr val="accent5"/>
                </a:solidFill>
                <a:ln>
                  <a:noFill/>
                </a:ln>
              </p:spPr>
              <p:txBody>
                <a:bodyPr vert="horz" wrap="square" lIns="62345" tIns="31173" rIns="62345" bIns="31173" numCol="1" anchor="t" anchorCtr="0" compatLnSpc="1">
                  <a:prstTxWarp prst="textNoShape">
                    <a:avLst/>
                  </a:prstTxWarp>
                </a:bodyPr>
                <a:lstStyle/>
                <a:p>
                  <a:pPr defTabSz="837848"/>
                  <a:endParaRPr lang="en-GB" sz="886">
                    <a:solidFill>
                      <a:prstClr val="black"/>
                    </a:solidFill>
                    <a:latin typeface="Verdana"/>
                  </a:endParaRPr>
                </a:p>
              </p:txBody>
            </p:sp>
            <p:sp>
              <p:nvSpPr>
                <p:cNvPr id="36" name="Freeform 5">
                  <a:extLst>
                    <a:ext uri="{FF2B5EF4-FFF2-40B4-BE49-F238E27FC236}">
                      <a16:creationId xmlns:a16="http://schemas.microsoft.com/office/drawing/2014/main" id="{7688562B-2077-43F7-9EE5-CDA7AC0E242A}"/>
                    </a:ext>
                  </a:extLst>
                </p:cNvPr>
                <p:cNvSpPr>
                  <a:spLocks noChangeAspect="1" noEditPoints="1"/>
                </p:cNvSpPr>
                <p:nvPr/>
              </p:nvSpPr>
              <p:spPr bwMode="auto">
                <a:xfrm>
                  <a:off x="7417459" y="5067810"/>
                  <a:ext cx="695894" cy="695895"/>
                </a:xfrm>
                <a:custGeom>
                  <a:avLst/>
                  <a:gdLst>
                    <a:gd name="T0" fmla="*/ 341 w 512"/>
                    <a:gd name="T1" fmla="*/ 232 h 512"/>
                    <a:gd name="T2" fmla="*/ 373 w 512"/>
                    <a:gd name="T3" fmla="*/ 200 h 512"/>
                    <a:gd name="T4" fmla="*/ 364 w 512"/>
                    <a:gd name="T5" fmla="*/ 237 h 512"/>
                    <a:gd name="T6" fmla="*/ 364 w 512"/>
                    <a:gd name="T7" fmla="*/ 237 h 512"/>
                    <a:gd name="T8" fmla="*/ 354 w 512"/>
                    <a:gd name="T9" fmla="*/ 249 h 512"/>
                    <a:gd name="T10" fmla="*/ 288 w 512"/>
                    <a:gd name="T11" fmla="*/ 264 h 512"/>
                    <a:gd name="T12" fmla="*/ 276 w 512"/>
                    <a:gd name="T13" fmla="*/ 267 h 512"/>
                    <a:gd name="T14" fmla="*/ 167 w 512"/>
                    <a:gd name="T15" fmla="*/ 376 h 512"/>
                    <a:gd name="T16" fmla="*/ 137 w 512"/>
                    <a:gd name="T17" fmla="*/ 376 h 512"/>
                    <a:gd name="T18" fmla="*/ 131 w 512"/>
                    <a:gd name="T19" fmla="*/ 361 h 512"/>
                    <a:gd name="T20" fmla="*/ 137 w 512"/>
                    <a:gd name="T21" fmla="*/ 346 h 512"/>
                    <a:gd name="T22" fmla="*/ 246 w 512"/>
                    <a:gd name="T23" fmla="*/ 237 h 512"/>
                    <a:gd name="T24" fmla="*/ 249 w 512"/>
                    <a:gd name="T25" fmla="*/ 225 h 512"/>
                    <a:gd name="T26" fmla="*/ 264 w 512"/>
                    <a:gd name="T27" fmla="*/ 159 h 512"/>
                    <a:gd name="T28" fmla="*/ 276 w 512"/>
                    <a:gd name="T29" fmla="*/ 149 h 512"/>
                    <a:gd name="T30" fmla="*/ 309 w 512"/>
                    <a:gd name="T31" fmla="*/ 140 h 512"/>
                    <a:gd name="T32" fmla="*/ 312 w 512"/>
                    <a:gd name="T33" fmla="*/ 140 h 512"/>
                    <a:gd name="T34" fmla="*/ 281 w 512"/>
                    <a:gd name="T35" fmla="*/ 171 h 512"/>
                    <a:gd name="T36" fmla="*/ 280 w 512"/>
                    <a:gd name="T37" fmla="*/ 185 h 512"/>
                    <a:gd name="T38" fmla="*/ 301 w 512"/>
                    <a:gd name="T39" fmla="*/ 211 h 512"/>
                    <a:gd name="T40" fmla="*/ 328 w 512"/>
                    <a:gd name="T41" fmla="*/ 233 h 512"/>
                    <a:gd name="T42" fmla="*/ 341 w 512"/>
                    <a:gd name="T43" fmla="*/ 232 h 512"/>
                    <a:gd name="T44" fmla="*/ 512 w 512"/>
                    <a:gd name="T45" fmla="*/ 256 h 512"/>
                    <a:gd name="T46" fmla="*/ 256 w 512"/>
                    <a:gd name="T47" fmla="*/ 512 h 512"/>
                    <a:gd name="T48" fmla="*/ 0 w 512"/>
                    <a:gd name="T49" fmla="*/ 256 h 512"/>
                    <a:gd name="T50" fmla="*/ 256 w 512"/>
                    <a:gd name="T51" fmla="*/ 0 h 512"/>
                    <a:gd name="T52" fmla="*/ 512 w 512"/>
                    <a:gd name="T53" fmla="*/ 256 h 512"/>
                    <a:gd name="T54" fmla="*/ 389 w 512"/>
                    <a:gd name="T55" fmla="*/ 175 h 512"/>
                    <a:gd name="T56" fmla="*/ 382 w 512"/>
                    <a:gd name="T57" fmla="*/ 169 h 512"/>
                    <a:gd name="T58" fmla="*/ 372 w 512"/>
                    <a:gd name="T59" fmla="*/ 171 h 512"/>
                    <a:gd name="T60" fmla="*/ 333 w 512"/>
                    <a:gd name="T61" fmla="*/ 210 h 512"/>
                    <a:gd name="T62" fmla="*/ 317 w 512"/>
                    <a:gd name="T63" fmla="*/ 196 h 512"/>
                    <a:gd name="T64" fmla="*/ 303 w 512"/>
                    <a:gd name="T65" fmla="*/ 180 h 512"/>
                    <a:gd name="T66" fmla="*/ 342 w 512"/>
                    <a:gd name="T67" fmla="*/ 141 h 512"/>
                    <a:gd name="T68" fmla="*/ 344 w 512"/>
                    <a:gd name="T69" fmla="*/ 131 h 512"/>
                    <a:gd name="T70" fmla="*/ 338 w 512"/>
                    <a:gd name="T71" fmla="*/ 124 h 512"/>
                    <a:gd name="T72" fmla="*/ 265 w 512"/>
                    <a:gd name="T73" fmla="*/ 131 h 512"/>
                    <a:gd name="T74" fmla="*/ 249 w 512"/>
                    <a:gd name="T75" fmla="*/ 144 h 512"/>
                    <a:gd name="T76" fmla="*/ 227 w 512"/>
                    <a:gd name="T77" fmla="*/ 226 h 512"/>
                    <a:gd name="T78" fmla="*/ 122 w 512"/>
                    <a:gd name="T79" fmla="*/ 331 h 512"/>
                    <a:gd name="T80" fmla="*/ 109 w 512"/>
                    <a:gd name="T81" fmla="*/ 361 h 512"/>
                    <a:gd name="T82" fmla="*/ 122 w 512"/>
                    <a:gd name="T83" fmla="*/ 391 h 512"/>
                    <a:gd name="T84" fmla="*/ 152 w 512"/>
                    <a:gd name="T85" fmla="*/ 404 h 512"/>
                    <a:gd name="T86" fmla="*/ 182 w 512"/>
                    <a:gd name="T87" fmla="*/ 391 h 512"/>
                    <a:gd name="T88" fmla="*/ 287 w 512"/>
                    <a:gd name="T89" fmla="*/ 286 h 512"/>
                    <a:gd name="T90" fmla="*/ 369 w 512"/>
                    <a:gd name="T91" fmla="*/ 264 h 512"/>
                    <a:gd name="T92" fmla="*/ 382 w 512"/>
                    <a:gd name="T93" fmla="*/ 248 h 512"/>
                    <a:gd name="T94" fmla="*/ 389 w 512"/>
                    <a:gd name="T95" fmla="*/ 17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2" h="512">
                      <a:moveTo>
                        <a:pt x="341" y="232"/>
                      </a:moveTo>
                      <a:cubicBezTo>
                        <a:pt x="373" y="200"/>
                        <a:pt x="373" y="200"/>
                        <a:pt x="373" y="200"/>
                      </a:cubicBezTo>
                      <a:cubicBezTo>
                        <a:pt x="374" y="213"/>
                        <a:pt x="370" y="226"/>
                        <a:pt x="364" y="237"/>
                      </a:cubicBezTo>
                      <a:cubicBezTo>
                        <a:pt x="364" y="237"/>
                        <a:pt x="364" y="237"/>
                        <a:pt x="364" y="237"/>
                      </a:cubicBezTo>
                      <a:cubicBezTo>
                        <a:pt x="361" y="242"/>
                        <a:pt x="358" y="246"/>
                        <a:pt x="354" y="249"/>
                      </a:cubicBezTo>
                      <a:cubicBezTo>
                        <a:pt x="337" y="267"/>
                        <a:pt x="311" y="272"/>
                        <a:pt x="288" y="264"/>
                      </a:cubicBezTo>
                      <a:cubicBezTo>
                        <a:pt x="284" y="263"/>
                        <a:pt x="279" y="264"/>
                        <a:pt x="276" y="267"/>
                      </a:cubicBezTo>
                      <a:cubicBezTo>
                        <a:pt x="167" y="376"/>
                        <a:pt x="167" y="376"/>
                        <a:pt x="167" y="376"/>
                      </a:cubicBezTo>
                      <a:cubicBezTo>
                        <a:pt x="159" y="384"/>
                        <a:pt x="145" y="384"/>
                        <a:pt x="137" y="376"/>
                      </a:cubicBezTo>
                      <a:cubicBezTo>
                        <a:pt x="133" y="372"/>
                        <a:pt x="131" y="367"/>
                        <a:pt x="131" y="361"/>
                      </a:cubicBezTo>
                      <a:cubicBezTo>
                        <a:pt x="131" y="355"/>
                        <a:pt x="133" y="350"/>
                        <a:pt x="137" y="346"/>
                      </a:cubicBezTo>
                      <a:cubicBezTo>
                        <a:pt x="246" y="237"/>
                        <a:pt x="246" y="237"/>
                        <a:pt x="246" y="237"/>
                      </a:cubicBezTo>
                      <a:cubicBezTo>
                        <a:pt x="249" y="234"/>
                        <a:pt x="250" y="229"/>
                        <a:pt x="249" y="225"/>
                      </a:cubicBezTo>
                      <a:cubicBezTo>
                        <a:pt x="241" y="202"/>
                        <a:pt x="246" y="176"/>
                        <a:pt x="264" y="159"/>
                      </a:cubicBezTo>
                      <a:cubicBezTo>
                        <a:pt x="267" y="155"/>
                        <a:pt x="271" y="152"/>
                        <a:pt x="276" y="149"/>
                      </a:cubicBezTo>
                      <a:cubicBezTo>
                        <a:pt x="286" y="143"/>
                        <a:pt x="297" y="140"/>
                        <a:pt x="309" y="140"/>
                      </a:cubicBezTo>
                      <a:cubicBezTo>
                        <a:pt x="310" y="140"/>
                        <a:pt x="311" y="140"/>
                        <a:pt x="312" y="140"/>
                      </a:cubicBezTo>
                      <a:cubicBezTo>
                        <a:pt x="281" y="171"/>
                        <a:pt x="281" y="171"/>
                        <a:pt x="281" y="171"/>
                      </a:cubicBezTo>
                      <a:cubicBezTo>
                        <a:pt x="277" y="175"/>
                        <a:pt x="277" y="181"/>
                        <a:pt x="280" y="185"/>
                      </a:cubicBezTo>
                      <a:cubicBezTo>
                        <a:pt x="286" y="194"/>
                        <a:pt x="293" y="203"/>
                        <a:pt x="301" y="211"/>
                      </a:cubicBezTo>
                      <a:cubicBezTo>
                        <a:pt x="310" y="220"/>
                        <a:pt x="318" y="227"/>
                        <a:pt x="328" y="233"/>
                      </a:cubicBezTo>
                      <a:cubicBezTo>
                        <a:pt x="332" y="236"/>
                        <a:pt x="338" y="235"/>
                        <a:pt x="341" y="232"/>
                      </a:cubicBezTo>
                      <a:close/>
                      <a:moveTo>
                        <a:pt x="512" y="256"/>
                      </a:moveTo>
                      <a:cubicBezTo>
                        <a:pt x="512" y="397"/>
                        <a:pt x="397" y="512"/>
                        <a:pt x="256" y="512"/>
                      </a:cubicBezTo>
                      <a:cubicBezTo>
                        <a:pt x="115" y="512"/>
                        <a:pt x="0" y="397"/>
                        <a:pt x="0" y="256"/>
                      </a:cubicBezTo>
                      <a:cubicBezTo>
                        <a:pt x="0" y="114"/>
                        <a:pt x="115" y="0"/>
                        <a:pt x="256" y="0"/>
                      </a:cubicBezTo>
                      <a:cubicBezTo>
                        <a:pt x="397" y="0"/>
                        <a:pt x="512" y="114"/>
                        <a:pt x="512" y="256"/>
                      </a:cubicBezTo>
                      <a:close/>
                      <a:moveTo>
                        <a:pt x="389" y="175"/>
                      </a:moveTo>
                      <a:cubicBezTo>
                        <a:pt x="388" y="172"/>
                        <a:pt x="385" y="169"/>
                        <a:pt x="382" y="169"/>
                      </a:cubicBezTo>
                      <a:cubicBezTo>
                        <a:pt x="378" y="168"/>
                        <a:pt x="374" y="169"/>
                        <a:pt x="372" y="171"/>
                      </a:cubicBezTo>
                      <a:cubicBezTo>
                        <a:pt x="333" y="210"/>
                        <a:pt x="333" y="210"/>
                        <a:pt x="333" y="210"/>
                      </a:cubicBezTo>
                      <a:cubicBezTo>
                        <a:pt x="327" y="206"/>
                        <a:pt x="322" y="201"/>
                        <a:pt x="317" y="196"/>
                      </a:cubicBezTo>
                      <a:cubicBezTo>
                        <a:pt x="311" y="191"/>
                        <a:pt x="307" y="186"/>
                        <a:pt x="303" y="180"/>
                      </a:cubicBezTo>
                      <a:cubicBezTo>
                        <a:pt x="342" y="141"/>
                        <a:pt x="342" y="141"/>
                        <a:pt x="342" y="141"/>
                      </a:cubicBezTo>
                      <a:cubicBezTo>
                        <a:pt x="344" y="139"/>
                        <a:pt x="345" y="135"/>
                        <a:pt x="344" y="131"/>
                      </a:cubicBezTo>
                      <a:cubicBezTo>
                        <a:pt x="344" y="128"/>
                        <a:pt x="341" y="125"/>
                        <a:pt x="338" y="124"/>
                      </a:cubicBezTo>
                      <a:cubicBezTo>
                        <a:pt x="313" y="115"/>
                        <a:pt x="287" y="118"/>
                        <a:pt x="265" y="131"/>
                      </a:cubicBezTo>
                      <a:cubicBezTo>
                        <a:pt x="259" y="135"/>
                        <a:pt x="253" y="139"/>
                        <a:pt x="249" y="144"/>
                      </a:cubicBezTo>
                      <a:cubicBezTo>
                        <a:pt x="227" y="165"/>
                        <a:pt x="219" y="197"/>
                        <a:pt x="227" y="226"/>
                      </a:cubicBezTo>
                      <a:cubicBezTo>
                        <a:pt x="122" y="331"/>
                        <a:pt x="122" y="331"/>
                        <a:pt x="122" y="331"/>
                      </a:cubicBezTo>
                      <a:cubicBezTo>
                        <a:pt x="114" y="339"/>
                        <a:pt x="109" y="350"/>
                        <a:pt x="109" y="361"/>
                      </a:cubicBezTo>
                      <a:cubicBezTo>
                        <a:pt x="109" y="372"/>
                        <a:pt x="114" y="383"/>
                        <a:pt x="122" y="391"/>
                      </a:cubicBezTo>
                      <a:cubicBezTo>
                        <a:pt x="130" y="399"/>
                        <a:pt x="140" y="404"/>
                        <a:pt x="152" y="404"/>
                      </a:cubicBezTo>
                      <a:cubicBezTo>
                        <a:pt x="163" y="404"/>
                        <a:pt x="174" y="399"/>
                        <a:pt x="182" y="391"/>
                      </a:cubicBezTo>
                      <a:cubicBezTo>
                        <a:pt x="287" y="286"/>
                        <a:pt x="287" y="286"/>
                        <a:pt x="287" y="286"/>
                      </a:cubicBezTo>
                      <a:cubicBezTo>
                        <a:pt x="316" y="294"/>
                        <a:pt x="348" y="286"/>
                        <a:pt x="369" y="264"/>
                      </a:cubicBezTo>
                      <a:cubicBezTo>
                        <a:pt x="374" y="260"/>
                        <a:pt x="378" y="254"/>
                        <a:pt x="382" y="248"/>
                      </a:cubicBezTo>
                      <a:cubicBezTo>
                        <a:pt x="395" y="226"/>
                        <a:pt x="398" y="200"/>
                        <a:pt x="389" y="175"/>
                      </a:cubicBezTo>
                      <a:close/>
                    </a:path>
                  </a:pathLst>
                </a:custGeom>
                <a:solidFill>
                  <a:schemeClr val="accent4"/>
                </a:solidFill>
                <a:ln>
                  <a:noFill/>
                </a:ln>
              </p:spPr>
              <p:txBody>
                <a:bodyPr vert="horz" wrap="square" lIns="62345" tIns="31173" rIns="62345" bIns="31173" numCol="1" anchor="t" anchorCtr="0" compatLnSpc="1">
                  <a:prstTxWarp prst="textNoShape">
                    <a:avLst/>
                  </a:prstTxWarp>
                </a:bodyPr>
                <a:lstStyle/>
                <a:p>
                  <a:pPr defTabSz="837848"/>
                  <a:endParaRPr lang="en-GB" sz="886">
                    <a:solidFill>
                      <a:prstClr val="black"/>
                    </a:solidFill>
                    <a:latin typeface="Verdana"/>
                  </a:endParaRPr>
                </a:p>
              </p:txBody>
            </p:sp>
          </p:grpSp>
          <p:sp>
            <p:nvSpPr>
              <p:cNvPr id="14" name="Rectangle 13">
                <a:extLst>
                  <a:ext uri="{FF2B5EF4-FFF2-40B4-BE49-F238E27FC236}">
                    <a16:creationId xmlns:a16="http://schemas.microsoft.com/office/drawing/2014/main" id="{F9BB298D-CD04-404C-A609-16E0F938D755}"/>
                  </a:ext>
                </a:extLst>
              </p:cNvPr>
              <p:cNvSpPr/>
              <p:nvPr/>
            </p:nvSpPr>
            <p:spPr bwMode="gray">
              <a:xfrm>
                <a:off x="1669589" y="1769109"/>
                <a:ext cx="1535482" cy="638175"/>
              </a:xfrm>
              <a:prstGeom prst="rect">
                <a:avLst/>
              </a:prstGeom>
              <a:noFill/>
              <a:ln w="19050" algn="ctr">
                <a:noFill/>
                <a:prstDash val="sysDash"/>
                <a:miter lim="800000"/>
                <a:headEnd/>
                <a:tailEnd/>
              </a:ln>
            </p:spPr>
            <p:txBody>
              <a:bodyPr wrap="square" lIns="60614" tIns="60614" rIns="60614" bIns="60614" rtlCol="0" anchor="ctr"/>
              <a:lstStyle/>
              <a:p>
                <a:pPr marL="116895" indent="-116895" defTabSz="837848">
                  <a:lnSpc>
                    <a:spcPct val="106000"/>
                  </a:lnSpc>
                  <a:buFont typeface="Arial" panose="020B0604020202020204" pitchFamily="34" charset="0"/>
                  <a:buChar char="•"/>
                </a:pPr>
                <a:r>
                  <a:rPr lang="en-US" sz="1000" dirty="0">
                    <a:solidFill>
                      <a:prstClr val="black"/>
                    </a:solidFill>
                    <a:latin typeface="Verdana"/>
                  </a:rPr>
                  <a:t>Financial health Reforms</a:t>
                </a:r>
              </a:p>
              <a:p>
                <a:pPr marL="116895" indent="-116895" defTabSz="837848">
                  <a:lnSpc>
                    <a:spcPct val="106000"/>
                  </a:lnSpc>
                  <a:buFont typeface="Arial" panose="020B0604020202020204" pitchFamily="34" charset="0"/>
                  <a:buChar char="•"/>
                </a:pPr>
                <a:r>
                  <a:rPr lang="en-US" sz="1000" dirty="0">
                    <a:solidFill>
                      <a:prstClr val="black"/>
                    </a:solidFill>
                    <a:latin typeface="Verdana"/>
                  </a:rPr>
                  <a:t>Demand-Supply Assessment</a:t>
                </a:r>
              </a:p>
              <a:p>
                <a:pPr marL="116895" indent="-116895" defTabSz="837848">
                  <a:lnSpc>
                    <a:spcPct val="106000"/>
                  </a:lnSpc>
                  <a:buFont typeface="Arial" panose="020B0604020202020204" pitchFamily="34" charset="0"/>
                  <a:buChar char="•"/>
                </a:pPr>
                <a:r>
                  <a:rPr lang="en-US" sz="1000" dirty="0">
                    <a:solidFill>
                      <a:prstClr val="black"/>
                    </a:solidFill>
                    <a:latin typeface="Verdana"/>
                  </a:rPr>
                  <a:t>Regulatory Assets &amp; Tariff Order Issuance</a:t>
                </a:r>
              </a:p>
              <a:p>
                <a:pPr marL="116895" indent="-116895" defTabSz="837848">
                  <a:lnSpc>
                    <a:spcPct val="106000"/>
                  </a:lnSpc>
                  <a:buFont typeface="Arial" panose="020B0604020202020204" pitchFamily="34" charset="0"/>
                  <a:buChar char="•"/>
                </a:pPr>
                <a:r>
                  <a:rPr lang="en-IN" sz="1000" dirty="0">
                    <a:latin typeface="Verdana"/>
                  </a:rPr>
                  <a:t>Investment Plans</a:t>
                </a:r>
              </a:p>
            </p:txBody>
          </p:sp>
          <p:sp>
            <p:nvSpPr>
              <p:cNvPr id="15" name="Rectangle 14">
                <a:extLst>
                  <a:ext uri="{FF2B5EF4-FFF2-40B4-BE49-F238E27FC236}">
                    <a16:creationId xmlns:a16="http://schemas.microsoft.com/office/drawing/2014/main" id="{50599FDA-6772-400A-958D-67C4BD70C46C}"/>
                  </a:ext>
                </a:extLst>
              </p:cNvPr>
              <p:cNvSpPr/>
              <p:nvPr/>
            </p:nvSpPr>
            <p:spPr>
              <a:xfrm>
                <a:off x="4080232" y="4449221"/>
                <a:ext cx="1482359" cy="416860"/>
              </a:xfrm>
              <a:prstGeom prst="rect">
                <a:avLst/>
              </a:prstGeom>
            </p:spPr>
            <p:txBody>
              <a:bodyPr wrap="square">
                <a:spAutoFit/>
              </a:bodyPr>
              <a:lstStyle/>
              <a:p>
                <a:pPr marL="116895" indent="-116895" defTabSz="837848">
                  <a:buFont typeface="Arial" panose="020B0604020202020204" pitchFamily="34" charset="0"/>
                  <a:buChar char="•"/>
                </a:pPr>
                <a:r>
                  <a:rPr lang="en-US" sz="1000" dirty="0">
                    <a:solidFill>
                      <a:prstClr val="black"/>
                    </a:solidFill>
                    <a:latin typeface="Verdana"/>
                  </a:rPr>
                  <a:t>Solar PV – Grid &amp; Rooftop</a:t>
                </a:r>
              </a:p>
              <a:p>
                <a:pPr marL="116895" indent="-116895" defTabSz="837848">
                  <a:buFont typeface="Arial" panose="020B0604020202020204" pitchFamily="34" charset="0"/>
                  <a:buChar char="•"/>
                </a:pPr>
                <a:r>
                  <a:rPr lang="en-US" sz="1000" dirty="0">
                    <a:solidFill>
                      <a:prstClr val="black"/>
                    </a:solidFill>
                    <a:latin typeface="Verdana"/>
                  </a:rPr>
                  <a:t>AMI &amp; Smart Metering</a:t>
                </a:r>
              </a:p>
              <a:p>
                <a:pPr marL="116895" indent="-116895" defTabSz="837848">
                  <a:buFont typeface="Arial" panose="020B0604020202020204" pitchFamily="34" charset="0"/>
                  <a:buChar char="•"/>
                </a:pPr>
                <a:r>
                  <a:rPr lang="en-US" sz="1000" dirty="0">
                    <a:solidFill>
                      <a:prstClr val="black"/>
                    </a:solidFill>
                    <a:latin typeface="Verdana"/>
                  </a:rPr>
                  <a:t>BESS, EV Charging</a:t>
                </a:r>
                <a:endParaRPr lang="en-IN" sz="1000" dirty="0">
                  <a:solidFill>
                    <a:prstClr val="black"/>
                  </a:solidFill>
                  <a:latin typeface="Verdana"/>
                </a:endParaRPr>
              </a:p>
            </p:txBody>
          </p:sp>
          <p:sp>
            <p:nvSpPr>
              <p:cNvPr id="16" name="Rectangle 15">
                <a:extLst>
                  <a:ext uri="{FF2B5EF4-FFF2-40B4-BE49-F238E27FC236}">
                    <a16:creationId xmlns:a16="http://schemas.microsoft.com/office/drawing/2014/main" id="{F0ED5D4B-1562-45AB-8FF8-9781023A7CFA}"/>
                  </a:ext>
                </a:extLst>
              </p:cNvPr>
              <p:cNvSpPr/>
              <p:nvPr/>
            </p:nvSpPr>
            <p:spPr>
              <a:xfrm>
                <a:off x="4426679" y="1724908"/>
                <a:ext cx="1263656" cy="764243"/>
              </a:xfrm>
              <a:prstGeom prst="rect">
                <a:avLst/>
              </a:prstGeom>
            </p:spPr>
            <p:txBody>
              <a:bodyPr wrap="square">
                <a:spAutoFit/>
              </a:bodyPr>
              <a:lstStyle/>
              <a:p>
                <a:pPr marL="116895" indent="-116895" defTabSz="837848">
                  <a:buFont typeface="Arial" panose="020B0604020202020204" pitchFamily="34" charset="0"/>
                  <a:buChar char="•"/>
                </a:pPr>
                <a:r>
                  <a:rPr lang="en-US" sz="1000" dirty="0">
                    <a:solidFill>
                      <a:prstClr val="black"/>
                    </a:solidFill>
                    <a:latin typeface="Verdana"/>
                  </a:rPr>
                  <a:t>Load growth forecast </a:t>
                </a:r>
              </a:p>
              <a:p>
                <a:pPr marL="116895" indent="-116895" defTabSz="837848">
                  <a:buFont typeface="Arial" panose="020B0604020202020204" pitchFamily="34" charset="0"/>
                  <a:buChar char="•"/>
                </a:pPr>
                <a:r>
                  <a:rPr lang="en-US" sz="1000" dirty="0">
                    <a:solidFill>
                      <a:prstClr val="black"/>
                    </a:solidFill>
                    <a:latin typeface="Verdana"/>
                  </a:rPr>
                  <a:t>System development plans  - DMS, OMS, SCADA</a:t>
                </a:r>
              </a:p>
              <a:p>
                <a:pPr marL="116895" indent="-116895" defTabSz="837848">
                  <a:buFont typeface="Arial" panose="020B0604020202020204" pitchFamily="34" charset="0"/>
                  <a:buChar char="•"/>
                </a:pPr>
                <a:r>
                  <a:rPr lang="en-US" sz="1000" dirty="0">
                    <a:solidFill>
                      <a:prstClr val="black"/>
                    </a:solidFill>
                    <a:latin typeface="Verdana"/>
                  </a:rPr>
                  <a:t>Decarbonization Pathway</a:t>
                </a:r>
                <a:endParaRPr lang="en-IN" sz="1000" dirty="0">
                  <a:solidFill>
                    <a:prstClr val="black"/>
                  </a:solidFill>
                  <a:latin typeface="Verdana"/>
                </a:endParaRPr>
              </a:p>
            </p:txBody>
          </p:sp>
        </p:grpSp>
      </p:grpSp>
      <p:grpSp>
        <p:nvGrpSpPr>
          <p:cNvPr id="42" name="Group 3">
            <a:extLst>
              <a:ext uri="{FF2B5EF4-FFF2-40B4-BE49-F238E27FC236}">
                <a16:creationId xmlns:a16="http://schemas.microsoft.com/office/drawing/2014/main" id="{17D2E93F-ACFC-4E05-BD1A-A3DA1B8FA1EA}"/>
              </a:ext>
            </a:extLst>
          </p:cNvPr>
          <p:cNvGrpSpPr>
            <a:grpSpLocks/>
          </p:cNvGrpSpPr>
          <p:nvPr/>
        </p:nvGrpSpPr>
        <p:grpSpPr bwMode="auto">
          <a:xfrm>
            <a:off x="611518" y="1012664"/>
            <a:ext cx="5264645" cy="5378310"/>
            <a:chOff x="561" y="1281"/>
            <a:chExt cx="2287" cy="2108"/>
          </a:xfrm>
          <a:solidFill>
            <a:schemeClr val="accent1"/>
          </a:solidFill>
        </p:grpSpPr>
        <p:sp>
          <p:nvSpPr>
            <p:cNvPr id="43" name="Freeform 4">
              <a:extLst>
                <a:ext uri="{FF2B5EF4-FFF2-40B4-BE49-F238E27FC236}">
                  <a16:creationId xmlns:a16="http://schemas.microsoft.com/office/drawing/2014/main" id="{DAE84C51-216D-45F1-BB46-9299451F0825}"/>
                </a:ext>
              </a:extLst>
            </p:cNvPr>
            <p:cNvSpPr>
              <a:spLocks/>
            </p:cNvSpPr>
            <p:nvPr/>
          </p:nvSpPr>
          <p:spPr bwMode="auto">
            <a:xfrm>
              <a:off x="561" y="1281"/>
              <a:ext cx="1453" cy="1054"/>
            </a:xfrm>
            <a:custGeom>
              <a:avLst/>
              <a:gdLst>
                <a:gd name="T0" fmla="*/ 0 w 2312"/>
                <a:gd name="T1" fmla="*/ 0 h 1823"/>
                <a:gd name="T2" fmla="*/ 178 w 2312"/>
                <a:gd name="T3" fmla="*/ 0 h 1823"/>
                <a:gd name="T4" fmla="*/ 178 w 2312"/>
                <a:gd name="T5" fmla="*/ 43 h 1823"/>
                <a:gd name="T6" fmla="*/ 198 w 2312"/>
                <a:gd name="T7" fmla="*/ 39 h 1823"/>
                <a:gd name="T8" fmla="*/ 226 w 2312"/>
                <a:gd name="T9" fmla="*/ 60 h 1823"/>
                <a:gd name="T10" fmla="*/ 202 w 2312"/>
                <a:gd name="T11" fmla="*/ 77 h 1823"/>
                <a:gd name="T12" fmla="*/ 178 w 2312"/>
                <a:gd name="T13" fmla="*/ 75 h 1823"/>
                <a:gd name="T14" fmla="*/ 178 w 2312"/>
                <a:gd name="T15" fmla="*/ 118 h 1823"/>
                <a:gd name="T16" fmla="*/ 112 w 2312"/>
                <a:gd name="T17" fmla="*/ 118 h 1823"/>
                <a:gd name="T18" fmla="*/ 118 w 2312"/>
                <a:gd name="T19" fmla="*/ 102 h 1823"/>
                <a:gd name="T20" fmla="*/ 90 w 2312"/>
                <a:gd name="T21" fmla="*/ 87 h 1823"/>
                <a:gd name="T22" fmla="*/ 60 w 2312"/>
                <a:gd name="T23" fmla="*/ 105 h 1823"/>
                <a:gd name="T24" fmla="*/ 66 w 2312"/>
                <a:gd name="T25" fmla="*/ 118 h 1823"/>
                <a:gd name="T26" fmla="*/ 0 w 2312"/>
                <a:gd name="T27" fmla="*/ 118 h 1823"/>
                <a:gd name="T28" fmla="*/ 0 w 2312"/>
                <a:gd name="T29" fmla="*/ 0 h 18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12"/>
                <a:gd name="T46" fmla="*/ 0 h 1823"/>
                <a:gd name="T47" fmla="*/ 2312 w 2312"/>
                <a:gd name="T48" fmla="*/ 1823 h 18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12" h="1823">
                  <a:moveTo>
                    <a:pt x="0" y="0"/>
                  </a:moveTo>
                  <a:lnTo>
                    <a:pt x="1822" y="0"/>
                  </a:lnTo>
                  <a:lnTo>
                    <a:pt x="1822" y="672"/>
                  </a:lnTo>
                  <a:cubicBezTo>
                    <a:pt x="1854" y="772"/>
                    <a:pt x="1882" y="612"/>
                    <a:pt x="2020" y="606"/>
                  </a:cubicBezTo>
                  <a:cubicBezTo>
                    <a:pt x="2158" y="600"/>
                    <a:pt x="2312" y="738"/>
                    <a:pt x="2308" y="921"/>
                  </a:cubicBezTo>
                  <a:cubicBezTo>
                    <a:pt x="2304" y="1105"/>
                    <a:pt x="2194" y="1195"/>
                    <a:pt x="2058" y="1203"/>
                  </a:cubicBezTo>
                  <a:cubicBezTo>
                    <a:pt x="1922" y="1211"/>
                    <a:pt x="1864" y="1053"/>
                    <a:pt x="1822" y="1159"/>
                  </a:cubicBezTo>
                  <a:lnTo>
                    <a:pt x="1822" y="1823"/>
                  </a:lnTo>
                  <a:lnTo>
                    <a:pt x="1151" y="1823"/>
                  </a:lnTo>
                  <a:cubicBezTo>
                    <a:pt x="1047" y="1783"/>
                    <a:pt x="1204" y="1736"/>
                    <a:pt x="1200" y="1584"/>
                  </a:cubicBezTo>
                  <a:cubicBezTo>
                    <a:pt x="1196" y="1432"/>
                    <a:pt x="1085" y="1343"/>
                    <a:pt x="916" y="1344"/>
                  </a:cubicBezTo>
                  <a:cubicBezTo>
                    <a:pt x="747" y="1345"/>
                    <a:pt x="608" y="1468"/>
                    <a:pt x="608" y="1620"/>
                  </a:cubicBezTo>
                  <a:cubicBezTo>
                    <a:pt x="608" y="1772"/>
                    <a:pt x="767" y="1791"/>
                    <a:pt x="671" y="1823"/>
                  </a:cubicBezTo>
                  <a:lnTo>
                    <a:pt x="0" y="1823"/>
                  </a:lnTo>
                  <a:lnTo>
                    <a:pt x="0" y="0"/>
                  </a:lnTo>
                  <a:close/>
                </a:path>
              </a:pathLst>
            </a:custGeom>
            <a:solidFill>
              <a:schemeClr val="accent1">
                <a:lumMod val="20000"/>
                <a:lumOff val="80000"/>
              </a:schemeClr>
            </a:solidFill>
            <a:ln w="19050">
              <a:solidFill>
                <a:schemeClr val="tx1"/>
              </a:solidFill>
              <a:round/>
              <a:headEnd/>
              <a:tailEnd/>
            </a:ln>
          </p:spPr>
          <p:txBody>
            <a:bodyPr wrap="none" lIns="60614" tIns="60614" rIns="60614" bIns="60614" anchor="ctr"/>
            <a:lstStyle/>
            <a:p>
              <a:pPr algn="ctr" defTabSz="837848"/>
              <a:endParaRPr lang="en-US" sz="818" dirty="0">
                <a:solidFill>
                  <a:prstClr val="white"/>
                </a:solidFill>
                <a:latin typeface="Verdana"/>
              </a:endParaRPr>
            </a:p>
          </p:txBody>
        </p:sp>
        <p:sp>
          <p:nvSpPr>
            <p:cNvPr id="44" name="Freeform 5">
              <a:extLst>
                <a:ext uri="{FF2B5EF4-FFF2-40B4-BE49-F238E27FC236}">
                  <a16:creationId xmlns:a16="http://schemas.microsoft.com/office/drawing/2014/main" id="{A8F2EB3E-8E6D-4275-947B-61ADD64B0F76}"/>
                </a:ext>
              </a:extLst>
            </p:cNvPr>
            <p:cNvSpPr>
              <a:spLocks/>
            </p:cNvSpPr>
            <p:nvPr/>
          </p:nvSpPr>
          <p:spPr bwMode="auto">
            <a:xfrm rot="16200000">
              <a:off x="465" y="2148"/>
              <a:ext cx="1337" cy="1144"/>
            </a:xfrm>
            <a:custGeom>
              <a:avLst/>
              <a:gdLst>
                <a:gd name="T0" fmla="*/ 0 w 2312"/>
                <a:gd name="T1" fmla="*/ 0 h 1823"/>
                <a:gd name="T2" fmla="*/ 1054 w 2312"/>
                <a:gd name="T3" fmla="*/ 0 h 1823"/>
                <a:gd name="T4" fmla="*/ 1054 w 2312"/>
                <a:gd name="T5" fmla="*/ 422 h 1823"/>
                <a:gd name="T6" fmla="*/ 1168 w 2312"/>
                <a:gd name="T7" fmla="*/ 380 h 1823"/>
                <a:gd name="T8" fmla="*/ 1335 w 2312"/>
                <a:gd name="T9" fmla="*/ 578 h 1823"/>
                <a:gd name="T10" fmla="*/ 1190 w 2312"/>
                <a:gd name="T11" fmla="*/ 755 h 1823"/>
                <a:gd name="T12" fmla="*/ 1054 w 2312"/>
                <a:gd name="T13" fmla="*/ 727 h 1823"/>
                <a:gd name="T14" fmla="*/ 1054 w 2312"/>
                <a:gd name="T15" fmla="*/ 1144 h 1823"/>
                <a:gd name="T16" fmla="*/ 666 w 2312"/>
                <a:gd name="T17" fmla="*/ 1144 h 1823"/>
                <a:gd name="T18" fmla="*/ 694 w 2312"/>
                <a:gd name="T19" fmla="*/ 994 h 1823"/>
                <a:gd name="T20" fmla="*/ 530 w 2312"/>
                <a:gd name="T21" fmla="*/ 843 h 1823"/>
                <a:gd name="T22" fmla="*/ 352 w 2312"/>
                <a:gd name="T23" fmla="*/ 1017 h 1823"/>
                <a:gd name="T24" fmla="*/ 388 w 2312"/>
                <a:gd name="T25" fmla="*/ 1144 h 1823"/>
                <a:gd name="T26" fmla="*/ 0 w 2312"/>
                <a:gd name="T27" fmla="*/ 1144 h 1823"/>
                <a:gd name="T28" fmla="*/ 0 w 2312"/>
                <a:gd name="T29" fmla="*/ 0 h 18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12"/>
                <a:gd name="T46" fmla="*/ 0 h 1823"/>
                <a:gd name="T47" fmla="*/ 2312 w 2312"/>
                <a:gd name="T48" fmla="*/ 1823 h 18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12" h="1823">
                  <a:moveTo>
                    <a:pt x="0" y="0"/>
                  </a:moveTo>
                  <a:lnTo>
                    <a:pt x="1822" y="0"/>
                  </a:lnTo>
                  <a:lnTo>
                    <a:pt x="1822" y="672"/>
                  </a:lnTo>
                  <a:cubicBezTo>
                    <a:pt x="1854" y="772"/>
                    <a:pt x="1882" y="612"/>
                    <a:pt x="2020" y="606"/>
                  </a:cubicBezTo>
                  <a:cubicBezTo>
                    <a:pt x="2158" y="600"/>
                    <a:pt x="2312" y="738"/>
                    <a:pt x="2308" y="921"/>
                  </a:cubicBezTo>
                  <a:cubicBezTo>
                    <a:pt x="2304" y="1105"/>
                    <a:pt x="2194" y="1195"/>
                    <a:pt x="2058" y="1203"/>
                  </a:cubicBezTo>
                  <a:cubicBezTo>
                    <a:pt x="1922" y="1211"/>
                    <a:pt x="1864" y="1053"/>
                    <a:pt x="1822" y="1159"/>
                  </a:cubicBezTo>
                  <a:lnTo>
                    <a:pt x="1822" y="1823"/>
                  </a:lnTo>
                  <a:lnTo>
                    <a:pt x="1151" y="1823"/>
                  </a:lnTo>
                  <a:cubicBezTo>
                    <a:pt x="1047" y="1783"/>
                    <a:pt x="1204" y="1736"/>
                    <a:pt x="1200" y="1584"/>
                  </a:cubicBezTo>
                  <a:cubicBezTo>
                    <a:pt x="1196" y="1432"/>
                    <a:pt x="1085" y="1343"/>
                    <a:pt x="916" y="1344"/>
                  </a:cubicBezTo>
                  <a:cubicBezTo>
                    <a:pt x="747" y="1345"/>
                    <a:pt x="608" y="1468"/>
                    <a:pt x="608" y="1620"/>
                  </a:cubicBezTo>
                  <a:cubicBezTo>
                    <a:pt x="608" y="1772"/>
                    <a:pt x="767" y="1791"/>
                    <a:pt x="671" y="1823"/>
                  </a:cubicBezTo>
                  <a:lnTo>
                    <a:pt x="0" y="1823"/>
                  </a:lnTo>
                  <a:lnTo>
                    <a:pt x="0" y="0"/>
                  </a:lnTo>
                  <a:close/>
                </a:path>
              </a:pathLst>
            </a:custGeom>
            <a:solidFill>
              <a:srgbClr val="DDEFE8"/>
            </a:solidFill>
            <a:ln w="19050">
              <a:solidFill>
                <a:schemeClr val="tx1"/>
              </a:solidFill>
              <a:round/>
              <a:headEnd/>
              <a:tailEnd/>
            </a:ln>
          </p:spPr>
          <p:txBody>
            <a:bodyPr wrap="none" lIns="60614" tIns="60614" rIns="60614" bIns="60614" anchor="ctr"/>
            <a:lstStyle/>
            <a:p>
              <a:pPr algn="ctr" defTabSz="837848">
                <a:defRPr/>
              </a:pPr>
              <a:endParaRPr lang="en-US" sz="818" dirty="0">
                <a:solidFill>
                  <a:prstClr val="white"/>
                </a:solidFill>
                <a:latin typeface="Verdana"/>
              </a:endParaRPr>
            </a:p>
          </p:txBody>
        </p:sp>
        <p:sp>
          <p:nvSpPr>
            <p:cNvPr id="45" name="Freeform 6">
              <a:extLst>
                <a:ext uri="{FF2B5EF4-FFF2-40B4-BE49-F238E27FC236}">
                  <a16:creationId xmlns:a16="http://schemas.microsoft.com/office/drawing/2014/main" id="{B8CC60C2-F5C4-4CEC-85CA-7B0B07F4A70E}"/>
                </a:ext>
              </a:extLst>
            </p:cNvPr>
            <p:cNvSpPr>
              <a:spLocks/>
            </p:cNvSpPr>
            <p:nvPr/>
          </p:nvSpPr>
          <p:spPr bwMode="auto">
            <a:xfrm rot="10800000">
              <a:off x="1396" y="2335"/>
              <a:ext cx="1452" cy="1054"/>
            </a:xfrm>
            <a:custGeom>
              <a:avLst/>
              <a:gdLst>
                <a:gd name="T0" fmla="*/ 0 w 2312"/>
                <a:gd name="T1" fmla="*/ 0 h 1823"/>
                <a:gd name="T2" fmla="*/ 1144 w 2312"/>
                <a:gd name="T3" fmla="*/ 0 h 1823"/>
                <a:gd name="T4" fmla="*/ 1144 w 2312"/>
                <a:gd name="T5" fmla="*/ 389 h 1823"/>
                <a:gd name="T6" fmla="*/ 1269 w 2312"/>
                <a:gd name="T7" fmla="*/ 350 h 1823"/>
                <a:gd name="T8" fmla="*/ 1449 w 2312"/>
                <a:gd name="T9" fmla="*/ 532 h 1823"/>
                <a:gd name="T10" fmla="*/ 1292 w 2312"/>
                <a:gd name="T11" fmla="*/ 696 h 1823"/>
                <a:gd name="T12" fmla="*/ 1144 w 2312"/>
                <a:gd name="T13" fmla="*/ 670 h 1823"/>
                <a:gd name="T14" fmla="*/ 1144 w 2312"/>
                <a:gd name="T15" fmla="*/ 1054 h 1823"/>
                <a:gd name="T16" fmla="*/ 723 w 2312"/>
                <a:gd name="T17" fmla="*/ 1054 h 1823"/>
                <a:gd name="T18" fmla="*/ 754 w 2312"/>
                <a:gd name="T19" fmla="*/ 916 h 1823"/>
                <a:gd name="T20" fmla="*/ 575 w 2312"/>
                <a:gd name="T21" fmla="*/ 777 h 1823"/>
                <a:gd name="T22" fmla="*/ 382 w 2312"/>
                <a:gd name="T23" fmla="*/ 937 h 1823"/>
                <a:gd name="T24" fmla="*/ 421 w 2312"/>
                <a:gd name="T25" fmla="*/ 1054 h 1823"/>
                <a:gd name="T26" fmla="*/ 0 w 2312"/>
                <a:gd name="T27" fmla="*/ 1054 h 1823"/>
                <a:gd name="T28" fmla="*/ 0 w 2312"/>
                <a:gd name="T29" fmla="*/ 0 h 18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12"/>
                <a:gd name="T46" fmla="*/ 0 h 1823"/>
                <a:gd name="T47" fmla="*/ 2312 w 2312"/>
                <a:gd name="T48" fmla="*/ 1823 h 18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12" h="1823">
                  <a:moveTo>
                    <a:pt x="0" y="0"/>
                  </a:moveTo>
                  <a:lnTo>
                    <a:pt x="1822" y="0"/>
                  </a:lnTo>
                  <a:lnTo>
                    <a:pt x="1822" y="672"/>
                  </a:lnTo>
                  <a:cubicBezTo>
                    <a:pt x="1854" y="772"/>
                    <a:pt x="1882" y="612"/>
                    <a:pt x="2020" y="606"/>
                  </a:cubicBezTo>
                  <a:cubicBezTo>
                    <a:pt x="2158" y="600"/>
                    <a:pt x="2312" y="738"/>
                    <a:pt x="2308" y="921"/>
                  </a:cubicBezTo>
                  <a:cubicBezTo>
                    <a:pt x="2304" y="1105"/>
                    <a:pt x="2194" y="1195"/>
                    <a:pt x="2058" y="1203"/>
                  </a:cubicBezTo>
                  <a:cubicBezTo>
                    <a:pt x="1922" y="1211"/>
                    <a:pt x="1864" y="1053"/>
                    <a:pt x="1822" y="1159"/>
                  </a:cubicBezTo>
                  <a:lnTo>
                    <a:pt x="1822" y="1823"/>
                  </a:lnTo>
                  <a:lnTo>
                    <a:pt x="1151" y="1823"/>
                  </a:lnTo>
                  <a:cubicBezTo>
                    <a:pt x="1047" y="1783"/>
                    <a:pt x="1204" y="1736"/>
                    <a:pt x="1200" y="1584"/>
                  </a:cubicBezTo>
                  <a:cubicBezTo>
                    <a:pt x="1196" y="1432"/>
                    <a:pt x="1085" y="1343"/>
                    <a:pt x="916" y="1344"/>
                  </a:cubicBezTo>
                  <a:cubicBezTo>
                    <a:pt x="747" y="1345"/>
                    <a:pt x="608" y="1468"/>
                    <a:pt x="608" y="1620"/>
                  </a:cubicBezTo>
                  <a:cubicBezTo>
                    <a:pt x="608" y="1772"/>
                    <a:pt x="767" y="1791"/>
                    <a:pt x="671" y="1823"/>
                  </a:cubicBezTo>
                  <a:lnTo>
                    <a:pt x="0" y="1823"/>
                  </a:lnTo>
                  <a:lnTo>
                    <a:pt x="0" y="0"/>
                  </a:lnTo>
                  <a:close/>
                </a:path>
              </a:pathLst>
            </a:custGeom>
            <a:solidFill>
              <a:schemeClr val="tx2">
                <a:lumMod val="20000"/>
                <a:lumOff val="80000"/>
              </a:schemeClr>
            </a:solidFill>
            <a:ln w="19050">
              <a:solidFill>
                <a:schemeClr val="tx1"/>
              </a:solidFill>
              <a:round/>
              <a:headEnd/>
              <a:tailEnd/>
            </a:ln>
          </p:spPr>
          <p:txBody>
            <a:bodyPr wrap="none" lIns="60614" tIns="60614" rIns="60614" bIns="60614" anchor="ctr"/>
            <a:lstStyle/>
            <a:p>
              <a:pPr algn="ctr" defTabSz="837848">
                <a:defRPr/>
              </a:pPr>
              <a:endParaRPr lang="en-US" sz="818" dirty="0">
                <a:solidFill>
                  <a:prstClr val="white"/>
                </a:solidFill>
                <a:latin typeface="Verdana"/>
              </a:endParaRPr>
            </a:p>
          </p:txBody>
        </p:sp>
        <p:sp>
          <p:nvSpPr>
            <p:cNvPr id="46" name="Freeform 7">
              <a:extLst>
                <a:ext uri="{FF2B5EF4-FFF2-40B4-BE49-F238E27FC236}">
                  <a16:creationId xmlns:a16="http://schemas.microsoft.com/office/drawing/2014/main" id="{C680DB10-F2F9-4E36-80A1-60D7D2082139}"/>
                </a:ext>
              </a:extLst>
            </p:cNvPr>
            <p:cNvSpPr>
              <a:spLocks/>
            </p:cNvSpPr>
            <p:nvPr/>
          </p:nvSpPr>
          <p:spPr bwMode="auto">
            <a:xfrm rot="5400000">
              <a:off x="1608" y="1378"/>
              <a:ext cx="1337" cy="1143"/>
            </a:xfrm>
            <a:custGeom>
              <a:avLst/>
              <a:gdLst>
                <a:gd name="T0" fmla="*/ 0 w 2312"/>
                <a:gd name="T1" fmla="*/ 0 h 1823"/>
                <a:gd name="T2" fmla="*/ 118 w 2312"/>
                <a:gd name="T3" fmla="*/ 0 h 1823"/>
                <a:gd name="T4" fmla="*/ 118 w 2312"/>
                <a:gd name="T5" fmla="*/ 65 h 1823"/>
                <a:gd name="T6" fmla="*/ 131 w 2312"/>
                <a:gd name="T7" fmla="*/ 58 h 1823"/>
                <a:gd name="T8" fmla="*/ 149 w 2312"/>
                <a:gd name="T9" fmla="*/ 89 h 1823"/>
                <a:gd name="T10" fmla="*/ 133 w 2312"/>
                <a:gd name="T11" fmla="*/ 117 h 1823"/>
                <a:gd name="T12" fmla="*/ 118 w 2312"/>
                <a:gd name="T13" fmla="*/ 112 h 1823"/>
                <a:gd name="T14" fmla="*/ 118 w 2312"/>
                <a:gd name="T15" fmla="*/ 177 h 1823"/>
                <a:gd name="T16" fmla="*/ 75 w 2312"/>
                <a:gd name="T17" fmla="*/ 177 h 1823"/>
                <a:gd name="T18" fmla="*/ 77 w 2312"/>
                <a:gd name="T19" fmla="*/ 154 h 1823"/>
                <a:gd name="T20" fmla="*/ 59 w 2312"/>
                <a:gd name="T21" fmla="*/ 130 h 1823"/>
                <a:gd name="T22" fmla="*/ 39 w 2312"/>
                <a:gd name="T23" fmla="*/ 157 h 1823"/>
                <a:gd name="T24" fmla="*/ 43 w 2312"/>
                <a:gd name="T25" fmla="*/ 177 h 1823"/>
                <a:gd name="T26" fmla="*/ 0 w 2312"/>
                <a:gd name="T27" fmla="*/ 177 h 1823"/>
                <a:gd name="T28" fmla="*/ 0 w 2312"/>
                <a:gd name="T29" fmla="*/ 0 h 18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12"/>
                <a:gd name="T46" fmla="*/ 0 h 1823"/>
                <a:gd name="T47" fmla="*/ 2312 w 2312"/>
                <a:gd name="T48" fmla="*/ 1823 h 18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12" h="1823">
                  <a:moveTo>
                    <a:pt x="0" y="0"/>
                  </a:moveTo>
                  <a:lnTo>
                    <a:pt x="1822" y="0"/>
                  </a:lnTo>
                  <a:lnTo>
                    <a:pt x="1822" y="672"/>
                  </a:lnTo>
                  <a:cubicBezTo>
                    <a:pt x="1854" y="772"/>
                    <a:pt x="1882" y="612"/>
                    <a:pt x="2020" y="606"/>
                  </a:cubicBezTo>
                  <a:cubicBezTo>
                    <a:pt x="2158" y="600"/>
                    <a:pt x="2312" y="738"/>
                    <a:pt x="2308" y="921"/>
                  </a:cubicBezTo>
                  <a:cubicBezTo>
                    <a:pt x="2304" y="1105"/>
                    <a:pt x="2194" y="1195"/>
                    <a:pt x="2058" y="1203"/>
                  </a:cubicBezTo>
                  <a:cubicBezTo>
                    <a:pt x="1922" y="1211"/>
                    <a:pt x="1864" y="1053"/>
                    <a:pt x="1822" y="1159"/>
                  </a:cubicBezTo>
                  <a:lnTo>
                    <a:pt x="1822" y="1823"/>
                  </a:lnTo>
                  <a:lnTo>
                    <a:pt x="1151" y="1823"/>
                  </a:lnTo>
                  <a:cubicBezTo>
                    <a:pt x="1047" y="1783"/>
                    <a:pt x="1204" y="1736"/>
                    <a:pt x="1200" y="1584"/>
                  </a:cubicBezTo>
                  <a:cubicBezTo>
                    <a:pt x="1196" y="1432"/>
                    <a:pt x="1085" y="1343"/>
                    <a:pt x="916" y="1344"/>
                  </a:cubicBezTo>
                  <a:cubicBezTo>
                    <a:pt x="747" y="1345"/>
                    <a:pt x="608" y="1468"/>
                    <a:pt x="608" y="1620"/>
                  </a:cubicBezTo>
                  <a:cubicBezTo>
                    <a:pt x="608" y="1772"/>
                    <a:pt x="767" y="1791"/>
                    <a:pt x="671" y="1823"/>
                  </a:cubicBezTo>
                  <a:lnTo>
                    <a:pt x="0" y="1823"/>
                  </a:lnTo>
                  <a:lnTo>
                    <a:pt x="0" y="0"/>
                  </a:lnTo>
                  <a:close/>
                </a:path>
              </a:pathLst>
            </a:custGeom>
            <a:solidFill>
              <a:schemeClr val="accent3">
                <a:lumMod val="20000"/>
                <a:lumOff val="80000"/>
              </a:schemeClr>
            </a:solidFill>
            <a:ln w="19050">
              <a:solidFill>
                <a:schemeClr val="tx1"/>
              </a:solidFill>
              <a:round/>
              <a:headEnd/>
              <a:tailEnd/>
            </a:ln>
          </p:spPr>
          <p:txBody>
            <a:bodyPr wrap="none" lIns="60614" tIns="60614" rIns="60614" bIns="60614" anchor="ctr"/>
            <a:lstStyle/>
            <a:p>
              <a:pPr algn="ctr" defTabSz="837848"/>
              <a:endParaRPr lang="en-US" sz="818" dirty="0">
                <a:solidFill>
                  <a:prstClr val="white"/>
                </a:solidFill>
                <a:latin typeface="Verdana"/>
              </a:endParaRPr>
            </a:p>
          </p:txBody>
        </p:sp>
      </p:grpSp>
      <p:sp>
        <p:nvSpPr>
          <p:cNvPr id="47" name="Rectangle 46">
            <a:extLst>
              <a:ext uri="{FF2B5EF4-FFF2-40B4-BE49-F238E27FC236}">
                <a16:creationId xmlns:a16="http://schemas.microsoft.com/office/drawing/2014/main" id="{2232A7E1-7A99-4569-80D9-23689AF058C2}"/>
              </a:ext>
            </a:extLst>
          </p:cNvPr>
          <p:cNvSpPr/>
          <p:nvPr/>
        </p:nvSpPr>
        <p:spPr>
          <a:xfrm>
            <a:off x="629134" y="1119071"/>
            <a:ext cx="2615859" cy="234616"/>
          </a:xfrm>
          <a:prstGeom prst="rect">
            <a:avLst/>
          </a:prstGeom>
        </p:spPr>
        <p:txBody>
          <a:bodyPr wrap="square">
            <a:spAutoFit/>
          </a:bodyPr>
          <a:lstStyle/>
          <a:p>
            <a:pPr algn="ctr" defTabSz="837848">
              <a:lnSpc>
                <a:spcPct val="106000"/>
              </a:lnSpc>
            </a:pPr>
            <a:r>
              <a:rPr lang="en-US" sz="955" b="1" dirty="0">
                <a:solidFill>
                  <a:srgbClr val="012169"/>
                </a:solidFill>
                <a:latin typeface="Verdana"/>
              </a:rPr>
              <a:t>Financial Assessment</a:t>
            </a:r>
            <a:endParaRPr lang="en-IN" sz="955" b="1" dirty="0">
              <a:solidFill>
                <a:srgbClr val="012169"/>
              </a:solidFill>
              <a:latin typeface="Verdana"/>
            </a:endParaRPr>
          </a:p>
        </p:txBody>
      </p:sp>
      <p:graphicFrame>
        <p:nvGraphicFramePr>
          <p:cNvPr id="48" name="Diagram 47">
            <a:extLst>
              <a:ext uri="{FF2B5EF4-FFF2-40B4-BE49-F238E27FC236}">
                <a16:creationId xmlns:a16="http://schemas.microsoft.com/office/drawing/2014/main" id="{86C7E6AA-BFAF-470C-ABE2-C229EC896438}"/>
              </a:ext>
            </a:extLst>
          </p:cNvPr>
          <p:cNvGraphicFramePr/>
          <p:nvPr>
            <p:extLst>
              <p:ext uri="{D42A27DB-BD31-4B8C-83A1-F6EECF244321}">
                <p14:modId xmlns:p14="http://schemas.microsoft.com/office/powerpoint/2010/main" val="1786414410"/>
              </p:ext>
            </p:extLst>
          </p:nvPr>
        </p:nvGraphicFramePr>
        <p:xfrm>
          <a:off x="462467" y="1308666"/>
          <a:ext cx="2764842" cy="239187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9" name="Rectangle 48">
            <a:extLst>
              <a:ext uri="{FF2B5EF4-FFF2-40B4-BE49-F238E27FC236}">
                <a16:creationId xmlns:a16="http://schemas.microsoft.com/office/drawing/2014/main" id="{8B9AAA8E-7B3A-4595-A19D-260BF0E3E494}"/>
              </a:ext>
            </a:extLst>
          </p:cNvPr>
          <p:cNvSpPr/>
          <p:nvPr/>
        </p:nvSpPr>
        <p:spPr>
          <a:xfrm>
            <a:off x="3368511" y="1127194"/>
            <a:ext cx="2612927" cy="390428"/>
          </a:xfrm>
          <a:prstGeom prst="rect">
            <a:avLst/>
          </a:prstGeom>
        </p:spPr>
        <p:txBody>
          <a:bodyPr wrap="square">
            <a:spAutoFit/>
          </a:bodyPr>
          <a:lstStyle/>
          <a:p>
            <a:pPr algn="ctr" defTabSz="837848">
              <a:lnSpc>
                <a:spcPct val="106000"/>
              </a:lnSpc>
            </a:pPr>
            <a:r>
              <a:rPr lang="en-US" sz="955" b="1" dirty="0">
                <a:solidFill>
                  <a:srgbClr val="012169"/>
                </a:solidFill>
                <a:latin typeface="Verdana"/>
              </a:rPr>
              <a:t>Benchmarking financial performance</a:t>
            </a:r>
            <a:endParaRPr lang="en-IN" sz="955" b="1" dirty="0">
              <a:solidFill>
                <a:srgbClr val="012169"/>
              </a:solidFill>
              <a:latin typeface="Verdana"/>
            </a:endParaRPr>
          </a:p>
        </p:txBody>
      </p:sp>
      <p:sp>
        <p:nvSpPr>
          <p:cNvPr id="53" name="Rectangle 52">
            <a:extLst>
              <a:ext uri="{FF2B5EF4-FFF2-40B4-BE49-F238E27FC236}">
                <a16:creationId xmlns:a16="http://schemas.microsoft.com/office/drawing/2014/main" id="{7186DEB4-570B-441F-BC2F-3E9777B05504}"/>
              </a:ext>
            </a:extLst>
          </p:cNvPr>
          <p:cNvSpPr/>
          <p:nvPr/>
        </p:nvSpPr>
        <p:spPr>
          <a:xfrm>
            <a:off x="3973992" y="1675346"/>
            <a:ext cx="1982318" cy="1491947"/>
          </a:xfrm>
          <a:prstGeom prst="rect">
            <a:avLst/>
          </a:prstGeom>
        </p:spPr>
        <p:txBody>
          <a:bodyPr wrap="square">
            <a:spAutoFit/>
          </a:bodyPr>
          <a:lstStyle/>
          <a:p>
            <a:pPr marL="194824" indent="-194824" defTabSz="837848">
              <a:spcBef>
                <a:spcPts val="136"/>
              </a:spcBef>
              <a:spcAft>
                <a:spcPts val="136"/>
              </a:spcAft>
              <a:buFont typeface="Arial" panose="020B0604020202020204" pitchFamily="34" charset="0"/>
              <a:buChar char="•"/>
            </a:pPr>
            <a:r>
              <a:rPr lang="en-US" sz="955" dirty="0">
                <a:solidFill>
                  <a:prstClr val="black"/>
                </a:solidFill>
                <a:latin typeface="Verdana"/>
              </a:rPr>
              <a:t>Identifying Borrowing trends among utilities</a:t>
            </a:r>
          </a:p>
          <a:p>
            <a:pPr marL="194824" indent="-194824" defTabSz="837848">
              <a:spcBef>
                <a:spcPts val="136"/>
              </a:spcBef>
              <a:spcAft>
                <a:spcPts val="136"/>
              </a:spcAft>
              <a:buFont typeface="Arial" panose="020B0604020202020204" pitchFamily="34" charset="0"/>
              <a:buChar char="•"/>
            </a:pPr>
            <a:r>
              <a:rPr lang="en-US" sz="955" dirty="0">
                <a:solidFill>
                  <a:prstClr val="black"/>
                </a:solidFill>
                <a:latin typeface="Verdana"/>
              </a:rPr>
              <a:t>Comparison of funding sources</a:t>
            </a:r>
            <a:endParaRPr lang="en-IN" sz="955" dirty="0">
              <a:solidFill>
                <a:prstClr val="black"/>
              </a:solidFill>
              <a:latin typeface="Verdana"/>
            </a:endParaRPr>
          </a:p>
          <a:p>
            <a:pPr marL="194824" indent="-194824" defTabSz="837848">
              <a:spcBef>
                <a:spcPts val="136"/>
              </a:spcBef>
              <a:spcAft>
                <a:spcPts val="136"/>
              </a:spcAft>
              <a:buFont typeface="Arial" panose="020B0604020202020204" pitchFamily="34" charset="0"/>
              <a:buChar char="•"/>
            </a:pPr>
            <a:r>
              <a:rPr lang="en-US" sz="955" dirty="0">
                <a:solidFill>
                  <a:prstClr val="black"/>
                </a:solidFill>
                <a:latin typeface="Verdana"/>
              </a:rPr>
              <a:t>Key considerations for choice of Financing Instrument</a:t>
            </a:r>
            <a:endParaRPr lang="en-IN" sz="955" dirty="0">
              <a:solidFill>
                <a:prstClr val="black"/>
              </a:solidFill>
              <a:latin typeface="Verdana"/>
            </a:endParaRPr>
          </a:p>
          <a:p>
            <a:pPr marL="194824" indent="-194824" defTabSz="837848">
              <a:spcBef>
                <a:spcPts val="136"/>
              </a:spcBef>
              <a:spcAft>
                <a:spcPts val="136"/>
              </a:spcAft>
              <a:buFont typeface="Arial" panose="020B0604020202020204" pitchFamily="34" charset="0"/>
              <a:buChar char="•"/>
            </a:pPr>
            <a:r>
              <a:rPr lang="en-US" sz="955" dirty="0">
                <a:solidFill>
                  <a:prstClr val="black"/>
                </a:solidFill>
                <a:latin typeface="Verdana"/>
              </a:rPr>
              <a:t>Analysis of financial instruments</a:t>
            </a:r>
            <a:endParaRPr lang="en-IN" sz="955" dirty="0">
              <a:solidFill>
                <a:prstClr val="black"/>
              </a:solidFill>
              <a:latin typeface="Verdana"/>
            </a:endParaRPr>
          </a:p>
        </p:txBody>
      </p:sp>
      <p:sp>
        <p:nvSpPr>
          <p:cNvPr id="54" name="Rectangle 53">
            <a:extLst>
              <a:ext uri="{FF2B5EF4-FFF2-40B4-BE49-F238E27FC236}">
                <a16:creationId xmlns:a16="http://schemas.microsoft.com/office/drawing/2014/main" id="{CAD67308-7901-4CB5-84D7-B4822F2783BD}"/>
              </a:ext>
            </a:extLst>
          </p:cNvPr>
          <p:cNvSpPr/>
          <p:nvPr/>
        </p:nvSpPr>
        <p:spPr>
          <a:xfrm>
            <a:off x="3274211" y="5898949"/>
            <a:ext cx="2640343" cy="390428"/>
          </a:xfrm>
          <a:prstGeom prst="rect">
            <a:avLst/>
          </a:prstGeom>
        </p:spPr>
        <p:txBody>
          <a:bodyPr wrap="square">
            <a:spAutoFit/>
          </a:bodyPr>
          <a:lstStyle/>
          <a:p>
            <a:pPr algn="ctr" defTabSz="837848">
              <a:lnSpc>
                <a:spcPct val="106000"/>
              </a:lnSpc>
            </a:pPr>
            <a:r>
              <a:rPr lang="en-US" sz="955" b="1" dirty="0">
                <a:solidFill>
                  <a:srgbClr val="012169"/>
                </a:solidFill>
                <a:latin typeface="Verdana"/>
              </a:rPr>
              <a:t>Benchmarking Operational performance</a:t>
            </a:r>
            <a:endParaRPr lang="en-IN" sz="955" b="1" dirty="0">
              <a:solidFill>
                <a:srgbClr val="012169"/>
              </a:solidFill>
              <a:latin typeface="Verdana"/>
            </a:endParaRPr>
          </a:p>
        </p:txBody>
      </p:sp>
      <p:sp>
        <p:nvSpPr>
          <p:cNvPr id="55" name="Rectangle 54">
            <a:extLst>
              <a:ext uri="{FF2B5EF4-FFF2-40B4-BE49-F238E27FC236}">
                <a16:creationId xmlns:a16="http://schemas.microsoft.com/office/drawing/2014/main" id="{152ECF39-86B8-410E-ABFB-59045C317F4A}"/>
              </a:ext>
            </a:extLst>
          </p:cNvPr>
          <p:cNvSpPr/>
          <p:nvPr/>
        </p:nvSpPr>
        <p:spPr>
          <a:xfrm>
            <a:off x="3344232" y="4515562"/>
            <a:ext cx="2631171" cy="1198020"/>
          </a:xfrm>
          <a:prstGeom prst="rect">
            <a:avLst/>
          </a:prstGeom>
        </p:spPr>
        <p:txBody>
          <a:bodyPr wrap="square">
            <a:spAutoFit/>
          </a:bodyPr>
          <a:lstStyle/>
          <a:p>
            <a:pPr marL="311719" indent="-311719" defTabSz="837848">
              <a:spcBef>
                <a:spcPts val="136"/>
              </a:spcBef>
              <a:spcAft>
                <a:spcPts val="136"/>
              </a:spcAft>
              <a:buFont typeface="Arial" panose="020B0604020202020204" pitchFamily="34" charset="0"/>
              <a:buChar char="•"/>
            </a:pPr>
            <a:r>
              <a:rPr lang="en-US" sz="955" dirty="0">
                <a:solidFill>
                  <a:prstClr val="black"/>
                </a:solidFill>
                <a:latin typeface="Verdana"/>
              </a:rPr>
              <a:t>Electricity Access (Connectivity, Sustainability)</a:t>
            </a:r>
          </a:p>
          <a:p>
            <a:pPr marL="311719" indent="-311719" defTabSz="837848">
              <a:spcBef>
                <a:spcPts val="136"/>
              </a:spcBef>
              <a:spcAft>
                <a:spcPts val="136"/>
              </a:spcAft>
              <a:buFont typeface="Arial" panose="020B0604020202020204" pitchFamily="34" charset="0"/>
              <a:buChar char="•"/>
            </a:pPr>
            <a:r>
              <a:rPr lang="en-US" sz="955" dirty="0">
                <a:solidFill>
                  <a:prstClr val="black"/>
                </a:solidFill>
                <a:latin typeface="Verdana"/>
              </a:rPr>
              <a:t>Corporate Governance</a:t>
            </a:r>
            <a:endParaRPr lang="en-IN" sz="955" dirty="0">
              <a:solidFill>
                <a:prstClr val="black"/>
              </a:solidFill>
              <a:latin typeface="Verdana"/>
            </a:endParaRPr>
          </a:p>
          <a:p>
            <a:pPr marL="311719" indent="-311719" defTabSz="837848">
              <a:spcBef>
                <a:spcPts val="136"/>
              </a:spcBef>
              <a:spcAft>
                <a:spcPts val="136"/>
              </a:spcAft>
              <a:buFont typeface="Arial" panose="020B0604020202020204" pitchFamily="34" charset="0"/>
              <a:buChar char="•"/>
            </a:pPr>
            <a:r>
              <a:rPr lang="en-US" sz="955" dirty="0">
                <a:solidFill>
                  <a:prstClr val="black"/>
                </a:solidFill>
                <a:latin typeface="Verdana"/>
              </a:rPr>
              <a:t>Customer Satisfaction</a:t>
            </a:r>
          </a:p>
          <a:p>
            <a:pPr marL="311719" indent="-311719" defTabSz="837848">
              <a:spcBef>
                <a:spcPts val="136"/>
              </a:spcBef>
              <a:spcAft>
                <a:spcPts val="136"/>
              </a:spcAft>
              <a:buFont typeface="Arial" panose="020B0604020202020204" pitchFamily="34" charset="0"/>
              <a:buChar char="•"/>
            </a:pPr>
            <a:r>
              <a:rPr lang="en-US" sz="955" dirty="0">
                <a:solidFill>
                  <a:prstClr val="black"/>
                </a:solidFill>
                <a:latin typeface="Verdana"/>
              </a:rPr>
              <a:t>Other Operational Parameters (Electricity Generation, Reconnection, SAIFI)</a:t>
            </a:r>
            <a:endParaRPr lang="en-IN" sz="955" dirty="0">
              <a:solidFill>
                <a:prstClr val="black"/>
              </a:solidFill>
              <a:latin typeface="Verdana"/>
            </a:endParaRPr>
          </a:p>
        </p:txBody>
      </p:sp>
      <p:sp>
        <p:nvSpPr>
          <p:cNvPr id="56" name="Rectangle 55">
            <a:extLst>
              <a:ext uri="{FF2B5EF4-FFF2-40B4-BE49-F238E27FC236}">
                <a16:creationId xmlns:a16="http://schemas.microsoft.com/office/drawing/2014/main" id="{E0292BE4-08E0-491A-9D55-B67359FD7122}"/>
              </a:ext>
            </a:extLst>
          </p:cNvPr>
          <p:cNvSpPr/>
          <p:nvPr/>
        </p:nvSpPr>
        <p:spPr>
          <a:xfrm>
            <a:off x="415222" y="5918707"/>
            <a:ext cx="3028366" cy="390428"/>
          </a:xfrm>
          <a:prstGeom prst="rect">
            <a:avLst/>
          </a:prstGeom>
        </p:spPr>
        <p:txBody>
          <a:bodyPr wrap="square">
            <a:spAutoFit/>
          </a:bodyPr>
          <a:lstStyle/>
          <a:p>
            <a:pPr algn="ctr" defTabSz="837848">
              <a:lnSpc>
                <a:spcPct val="106000"/>
              </a:lnSpc>
            </a:pPr>
            <a:r>
              <a:rPr lang="en-US" sz="955" b="1" dirty="0">
                <a:solidFill>
                  <a:srgbClr val="012169"/>
                </a:solidFill>
                <a:latin typeface="Verdana"/>
              </a:rPr>
              <a:t>Assessment of Regulatory </a:t>
            </a:r>
          </a:p>
          <a:p>
            <a:pPr algn="ctr" defTabSz="837848">
              <a:lnSpc>
                <a:spcPct val="106000"/>
              </a:lnSpc>
            </a:pPr>
            <a:r>
              <a:rPr lang="en-US" sz="955" b="1" dirty="0">
                <a:solidFill>
                  <a:srgbClr val="012169"/>
                </a:solidFill>
                <a:latin typeface="Verdana"/>
              </a:rPr>
              <a:t>Performance</a:t>
            </a:r>
            <a:endParaRPr lang="en-IN" sz="955" b="1" dirty="0">
              <a:solidFill>
                <a:srgbClr val="012169"/>
              </a:solidFill>
              <a:latin typeface="Verdana"/>
            </a:endParaRPr>
          </a:p>
        </p:txBody>
      </p:sp>
      <p:sp>
        <p:nvSpPr>
          <p:cNvPr id="57" name="Rectangle 56">
            <a:extLst>
              <a:ext uri="{FF2B5EF4-FFF2-40B4-BE49-F238E27FC236}">
                <a16:creationId xmlns:a16="http://schemas.microsoft.com/office/drawing/2014/main" id="{1F1E1D69-2FC4-4AB8-99C2-63EEE85056F8}"/>
              </a:ext>
            </a:extLst>
          </p:cNvPr>
          <p:cNvSpPr/>
          <p:nvPr/>
        </p:nvSpPr>
        <p:spPr>
          <a:xfrm>
            <a:off x="606412" y="4383141"/>
            <a:ext cx="1987224" cy="1427891"/>
          </a:xfrm>
          <a:prstGeom prst="rect">
            <a:avLst/>
          </a:prstGeom>
        </p:spPr>
        <p:txBody>
          <a:bodyPr wrap="square">
            <a:spAutoFit/>
          </a:bodyPr>
          <a:lstStyle/>
          <a:p>
            <a:pPr marL="194824" indent="-194824" defTabSz="837848">
              <a:lnSpc>
                <a:spcPct val="106000"/>
              </a:lnSpc>
              <a:spcBef>
                <a:spcPts val="136"/>
              </a:spcBef>
              <a:spcAft>
                <a:spcPts val="136"/>
              </a:spcAft>
              <a:buFont typeface="Arial" panose="020B0604020202020204" pitchFamily="34" charset="0"/>
              <a:buChar char="•"/>
            </a:pPr>
            <a:r>
              <a:rPr lang="en-US" sz="955" dirty="0">
                <a:solidFill>
                  <a:prstClr val="black"/>
                </a:solidFill>
                <a:latin typeface="Verdana"/>
              </a:rPr>
              <a:t>As-Is Review and Gap Assessment</a:t>
            </a:r>
          </a:p>
          <a:p>
            <a:pPr marL="194824" indent="-194824" defTabSz="837848">
              <a:lnSpc>
                <a:spcPct val="106000"/>
              </a:lnSpc>
              <a:spcBef>
                <a:spcPts val="136"/>
              </a:spcBef>
              <a:spcAft>
                <a:spcPts val="136"/>
              </a:spcAft>
              <a:buFont typeface="Arial" panose="020B0604020202020204" pitchFamily="34" charset="0"/>
              <a:buChar char="•"/>
            </a:pPr>
            <a:r>
              <a:rPr lang="en-US" sz="955" dirty="0">
                <a:solidFill>
                  <a:prstClr val="black"/>
                </a:solidFill>
                <a:latin typeface="Verdana"/>
              </a:rPr>
              <a:t>Case Studies</a:t>
            </a:r>
            <a:endParaRPr lang="en-IN" sz="955" dirty="0">
              <a:solidFill>
                <a:prstClr val="black"/>
              </a:solidFill>
              <a:latin typeface="Verdana"/>
            </a:endParaRPr>
          </a:p>
          <a:p>
            <a:pPr marL="194824" indent="-194824" defTabSz="837848">
              <a:lnSpc>
                <a:spcPct val="106000"/>
              </a:lnSpc>
              <a:spcBef>
                <a:spcPts val="136"/>
              </a:spcBef>
              <a:spcAft>
                <a:spcPts val="136"/>
              </a:spcAft>
              <a:buFont typeface="Arial" panose="020B0604020202020204" pitchFamily="34" charset="0"/>
              <a:buChar char="•"/>
            </a:pPr>
            <a:r>
              <a:rPr lang="en-US" sz="955" dirty="0">
                <a:solidFill>
                  <a:prstClr val="black"/>
                </a:solidFill>
                <a:latin typeface="Verdana"/>
              </a:rPr>
              <a:t>Recommendations and findings</a:t>
            </a:r>
          </a:p>
          <a:p>
            <a:pPr marL="194824" indent="-194824" defTabSz="837848">
              <a:lnSpc>
                <a:spcPct val="106000"/>
              </a:lnSpc>
              <a:spcBef>
                <a:spcPts val="136"/>
              </a:spcBef>
              <a:spcAft>
                <a:spcPts val="136"/>
              </a:spcAft>
              <a:buFont typeface="Arial" panose="020B0604020202020204" pitchFamily="34" charset="0"/>
              <a:buChar char="•"/>
            </a:pPr>
            <a:r>
              <a:rPr lang="en-US" sz="955" dirty="0">
                <a:solidFill>
                  <a:prstClr val="black"/>
                </a:solidFill>
                <a:latin typeface="Verdana"/>
              </a:rPr>
              <a:t>Stakeholder Interaction</a:t>
            </a:r>
          </a:p>
          <a:p>
            <a:pPr marL="194824" indent="-194824" defTabSz="837848">
              <a:lnSpc>
                <a:spcPct val="106000"/>
              </a:lnSpc>
              <a:spcBef>
                <a:spcPts val="136"/>
              </a:spcBef>
              <a:spcAft>
                <a:spcPts val="136"/>
              </a:spcAft>
              <a:buFont typeface="Arial" panose="020B0604020202020204" pitchFamily="34" charset="0"/>
              <a:buChar char="•"/>
            </a:pPr>
            <a:r>
              <a:rPr lang="en-US" sz="955" dirty="0">
                <a:solidFill>
                  <a:prstClr val="black"/>
                </a:solidFill>
                <a:latin typeface="Verdana"/>
              </a:rPr>
              <a:t>Submit draft report and presentation.</a:t>
            </a:r>
          </a:p>
        </p:txBody>
      </p:sp>
      <p:sp>
        <p:nvSpPr>
          <p:cNvPr id="58" name="Rectangle 57">
            <a:extLst>
              <a:ext uri="{FF2B5EF4-FFF2-40B4-BE49-F238E27FC236}">
                <a16:creationId xmlns:a16="http://schemas.microsoft.com/office/drawing/2014/main" id="{994D4B80-D4FD-4F22-97C2-2D9E3BE3B1A2}"/>
              </a:ext>
            </a:extLst>
          </p:cNvPr>
          <p:cNvSpPr/>
          <p:nvPr/>
        </p:nvSpPr>
        <p:spPr>
          <a:xfrm>
            <a:off x="5975401" y="1012664"/>
            <a:ext cx="5541916" cy="275140"/>
          </a:xfrm>
          <a:prstGeom prst="rect">
            <a:avLst/>
          </a:prstGeom>
        </p:spPr>
        <p:txBody>
          <a:bodyPr>
            <a:spAutoFit/>
          </a:bodyPr>
          <a:lstStyle/>
          <a:p>
            <a:pPr algn="ctr" defTabSz="837848">
              <a:lnSpc>
                <a:spcPct val="106000"/>
              </a:lnSpc>
            </a:pPr>
            <a:r>
              <a:rPr lang="en-US" sz="1227" b="1" dirty="0">
                <a:solidFill>
                  <a:srgbClr val="012169"/>
                </a:solidFill>
                <a:latin typeface="Verdana"/>
              </a:rPr>
              <a:t>Impact of Emerging sector trends/new technologies</a:t>
            </a:r>
            <a:endParaRPr lang="en-IN" sz="1227" b="1" dirty="0">
              <a:solidFill>
                <a:srgbClr val="012169"/>
              </a:solidFill>
              <a:latin typeface="Verdana"/>
            </a:endParaRPr>
          </a:p>
        </p:txBody>
      </p:sp>
      <p:sp>
        <p:nvSpPr>
          <p:cNvPr id="50" name="Title 2">
            <a:extLst>
              <a:ext uri="{FF2B5EF4-FFF2-40B4-BE49-F238E27FC236}">
                <a16:creationId xmlns:a16="http://schemas.microsoft.com/office/drawing/2014/main" id="{70581A05-30CC-47C5-A993-5B387504EAC7}"/>
              </a:ext>
            </a:extLst>
          </p:cNvPr>
          <p:cNvSpPr>
            <a:spLocks noGrp="1"/>
          </p:cNvSpPr>
          <p:nvPr>
            <p:ph type="title"/>
          </p:nvPr>
        </p:nvSpPr>
        <p:spPr>
          <a:xfrm>
            <a:off x="617225" y="245179"/>
            <a:ext cx="8437784" cy="227797"/>
          </a:xfrm>
        </p:spPr>
        <p:txBody>
          <a:bodyPr vert="horz"/>
          <a:lstStyle/>
          <a:p>
            <a:pPr defTabSz="831272"/>
            <a:r>
              <a:rPr lang="en-US" sz="1800" dirty="0">
                <a:solidFill>
                  <a:prstClr val="black"/>
                </a:solidFill>
              </a:rPr>
              <a:t>Module-1: Diagnostic Review &amp; Causal Analysis</a:t>
            </a:r>
            <a:endParaRPr lang="en-IN" sz="1800" dirty="0">
              <a:solidFill>
                <a:prstClr val="black"/>
              </a:solidFill>
            </a:endParaRPr>
          </a:p>
        </p:txBody>
      </p:sp>
      <p:sp>
        <p:nvSpPr>
          <p:cNvPr id="51" name="Text Placeholder 1">
            <a:extLst>
              <a:ext uri="{FF2B5EF4-FFF2-40B4-BE49-F238E27FC236}">
                <a16:creationId xmlns:a16="http://schemas.microsoft.com/office/drawing/2014/main" id="{3A45330E-E35B-441E-970E-15130A4638F3}"/>
              </a:ext>
            </a:extLst>
          </p:cNvPr>
          <p:cNvSpPr>
            <a:spLocks noGrp="1"/>
          </p:cNvSpPr>
          <p:nvPr>
            <p:ph type="body" sz="quarter" idx="13"/>
          </p:nvPr>
        </p:nvSpPr>
        <p:spPr>
          <a:xfrm>
            <a:off x="624661" y="571436"/>
            <a:ext cx="10964886" cy="173136"/>
          </a:xfrm>
        </p:spPr>
        <p:txBody>
          <a:bodyPr/>
          <a:lstStyle/>
          <a:p>
            <a:pPr defTabSz="837848"/>
            <a:r>
              <a:rPr lang="en-US" sz="1600" dirty="0">
                <a:solidFill>
                  <a:prstClr val="black">
                    <a:lumMod val="65000"/>
                    <a:lumOff val="35000"/>
                  </a:prstClr>
                </a:solidFill>
                <a:latin typeface="Verdana" panose="020B0604030504040204" pitchFamily="34" charset="0"/>
                <a:ea typeface="Verdana" panose="020B0604030504040204" pitchFamily="34" charset="0"/>
                <a:cs typeface="Verdana" panose="020B0604030504040204" pitchFamily="34" charset="0"/>
              </a:rPr>
              <a:t>Our</a:t>
            </a:r>
            <a:r>
              <a:rPr lang="en-US" sz="1600" spc="-58" dirty="0">
                <a:solidFill>
                  <a:prstClr val="black">
                    <a:lumMod val="65000"/>
                    <a:lumOff val="35000"/>
                  </a:prstClr>
                </a:solidFill>
                <a:latin typeface="Verdana" panose="020B0604030504040204" pitchFamily="34" charset="0"/>
                <a:ea typeface="Verdana" panose="020B0604030504040204" pitchFamily="34" charset="0"/>
                <a:cs typeface="Verdana" panose="020B0604030504040204" pitchFamily="34" charset="0"/>
              </a:rPr>
              <a:t> </a:t>
            </a:r>
            <a:r>
              <a:rPr lang="en-US" sz="1600" dirty="0">
                <a:solidFill>
                  <a:prstClr val="black">
                    <a:lumMod val="65000"/>
                    <a:lumOff val="35000"/>
                  </a:prstClr>
                </a:solidFill>
                <a:latin typeface="Verdana" panose="020B0604030504040204" pitchFamily="34" charset="0"/>
                <a:ea typeface="Verdana" panose="020B0604030504040204" pitchFamily="34" charset="0"/>
                <a:cs typeface="Verdana" panose="020B0604030504040204" pitchFamily="34" charset="0"/>
              </a:rPr>
              <a:t>approach</a:t>
            </a:r>
            <a:r>
              <a:rPr lang="en-US" sz="1600" spc="-48" dirty="0">
                <a:solidFill>
                  <a:prstClr val="black">
                    <a:lumMod val="65000"/>
                    <a:lumOff val="35000"/>
                  </a:prstClr>
                </a:solidFill>
                <a:latin typeface="Verdana" panose="020B0604030504040204" pitchFamily="34" charset="0"/>
                <a:ea typeface="Verdana" panose="020B0604030504040204" pitchFamily="34" charset="0"/>
                <a:cs typeface="Verdana" panose="020B0604030504040204" pitchFamily="34" charset="0"/>
              </a:rPr>
              <a:t> </a:t>
            </a:r>
            <a:r>
              <a:rPr lang="en-US" sz="1600" dirty="0">
                <a:solidFill>
                  <a:prstClr val="black">
                    <a:lumMod val="65000"/>
                    <a:lumOff val="35000"/>
                  </a:prstClr>
                </a:solidFill>
                <a:latin typeface="Verdana" panose="020B0604030504040204" pitchFamily="34" charset="0"/>
                <a:ea typeface="Verdana" panose="020B0604030504040204" pitchFamily="34" charset="0"/>
                <a:cs typeface="Verdana" panose="020B0604030504040204" pitchFamily="34" charset="0"/>
              </a:rPr>
              <a:t>to</a:t>
            </a:r>
            <a:r>
              <a:rPr lang="en-US" sz="1600" spc="-48" dirty="0">
                <a:solidFill>
                  <a:prstClr val="black">
                    <a:lumMod val="65000"/>
                    <a:lumOff val="35000"/>
                  </a:prstClr>
                </a:solidFill>
                <a:latin typeface="Verdana" panose="020B0604030504040204" pitchFamily="34" charset="0"/>
                <a:ea typeface="Verdana" panose="020B0604030504040204" pitchFamily="34" charset="0"/>
                <a:cs typeface="Verdana" panose="020B0604030504040204" pitchFamily="34" charset="0"/>
              </a:rPr>
              <a:t> </a:t>
            </a:r>
            <a:r>
              <a:rPr lang="en-US" sz="1600" dirty="0">
                <a:solidFill>
                  <a:prstClr val="black">
                    <a:lumMod val="65000"/>
                    <a:lumOff val="35000"/>
                  </a:prstClr>
                </a:solidFill>
                <a:latin typeface="Verdana" panose="020B0604030504040204" pitchFamily="34" charset="0"/>
                <a:ea typeface="Verdana" panose="020B0604030504040204" pitchFamily="34" charset="0"/>
                <a:cs typeface="Verdana" panose="020B0604030504040204" pitchFamily="34" charset="0"/>
              </a:rPr>
              <a:t>the</a:t>
            </a:r>
            <a:r>
              <a:rPr lang="en-US" sz="1600" spc="-44" dirty="0">
                <a:solidFill>
                  <a:prstClr val="black">
                    <a:lumMod val="65000"/>
                    <a:lumOff val="35000"/>
                  </a:prstClr>
                </a:solidFill>
                <a:latin typeface="Verdana" panose="020B0604030504040204" pitchFamily="34" charset="0"/>
                <a:ea typeface="Verdana" panose="020B0604030504040204" pitchFamily="34" charset="0"/>
                <a:cs typeface="Verdana" panose="020B0604030504040204" pitchFamily="34" charset="0"/>
              </a:rPr>
              <a:t> </a:t>
            </a:r>
            <a:r>
              <a:rPr lang="en-US" sz="1600" dirty="0">
                <a:solidFill>
                  <a:prstClr val="black">
                    <a:lumMod val="65000"/>
                    <a:lumOff val="35000"/>
                  </a:prstClr>
                </a:solidFill>
                <a:latin typeface="Verdana" panose="020B0604030504040204" pitchFamily="34" charset="0"/>
                <a:ea typeface="Verdana" panose="020B0604030504040204" pitchFamily="34" charset="0"/>
                <a:cs typeface="Verdana" panose="020B0604030504040204" pitchFamily="34" charset="0"/>
              </a:rPr>
              <a:t>assignment</a:t>
            </a:r>
            <a:r>
              <a:rPr lang="en-US" sz="1600" spc="-48" dirty="0">
                <a:solidFill>
                  <a:prstClr val="black">
                    <a:lumMod val="65000"/>
                    <a:lumOff val="35000"/>
                  </a:prstClr>
                </a:solidFill>
                <a:latin typeface="Verdana" panose="020B0604030504040204" pitchFamily="34" charset="0"/>
                <a:ea typeface="Verdana" panose="020B0604030504040204" pitchFamily="34" charset="0"/>
                <a:cs typeface="Verdana" panose="020B0604030504040204" pitchFamily="34" charset="0"/>
              </a:rPr>
              <a:t> </a:t>
            </a:r>
            <a:endParaRPr lang="en-IN" sz="1600" dirty="0">
              <a:solidFill>
                <a:prstClr val="black">
                  <a:lumMod val="65000"/>
                  <a:lumOff val="35000"/>
                </a:prstClr>
              </a:solidFill>
            </a:endParaRPr>
          </a:p>
        </p:txBody>
      </p:sp>
    </p:spTree>
    <p:extLst>
      <p:ext uri="{BB962C8B-B14F-4D97-AF65-F5344CB8AC3E}">
        <p14:creationId xmlns:p14="http://schemas.microsoft.com/office/powerpoint/2010/main" val="87358864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6CFBE89-C110-4BDB-9FC3-8531FC7F1751}"/>
              </a:ext>
            </a:extLst>
          </p:cNvPr>
          <p:cNvGraphicFramePr>
            <a:graphicFrameLocks noChangeAspect="1"/>
          </p:cNvGraphicFramePr>
          <p:nvPr>
            <p:custDataLst>
              <p:tags r:id="rId1"/>
            </p:custDataLst>
            <p:extLst>
              <p:ext uri="{D42A27DB-BD31-4B8C-83A1-F6EECF244321}">
                <p14:modId xmlns:p14="http://schemas.microsoft.com/office/powerpoint/2010/main" val="32188295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4" name="Object 3" hidden="1">
                        <a:extLst>
                          <a:ext uri="{FF2B5EF4-FFF2-40B4-BE49-F238E27FC236}">
                            <a16:creationId xmlns:a16="http://schemas.microsoft.com/office/drawing/2014/main" id="{36CFBE89-C110-4BDB-9FC3-8531FC7F17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11" name="Diagram 10">
            <a:extLst>
              <a:ext uri="{FF2B5EF4-FFF2-40B4-BE49-F238E27FC236}">
                <a16:creationId xmlns:a16="http://schemas.microsoft.com/office/drawing/2014/main" id="{622030D4-6E29-4168-898D-8CE33EDA8AC7}"/>
              </a:ext>
            </a:extLst>
          </p:cNvPr>
          <p:cNvGraphicFramePr/>
          <p:nvPr>
            <p:extLst>
              <p:ext uri="{D42A27DB-BD31-4B8C-83A1-F6EECF244321}">
                <p14:modId xmlns:p14="http://schemas.microsoft.com/office/powerpoint/2010/main" val="1442879230"/>
              </p:ext>
            </p:extLst>
          </p:nvPr>
        </p:nvGraphicFramePr>
        <p:xfrm>
          <a:off x="7570279" y="1295657"/>
          <a:ext cx="4508201" cy="266385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2" name="Rectangle 11">
            <a:extLst>
              <a:ext uri="{FF2B5EF4-FFF2-40B4-BE49-F238E27FC236}">
                <a16:creationId xmlns:a16="http://schemas.microsoft.com/office/drawing/2014/main" id="{65DE938C-2318-43F2-B049-C7DE84C0E64F}"/>
              </a:ext>
            </a:extLst>
          </p:cNvPr>
          <p:cNvSpPr/>
          <p:nvPr/>
        </p:nvSpPr>
        <p:spPr>
          <a:xfrm>
            <a:off x="8540532" y="1295655"/>
            <a:ext cx="2323749" cy="228652"/>
          </a:xfrm>
          <a:prstGeom prst="rect">
            <a:avLst/>
          </a:prstGeom>
        </p:spPr>
        <p:txBody>
          <a:bodyPr wrap="square">
            <a:spAutoFit/>
          </a:bodyPr>
          <a:lstStyle/>
          <a:p>
            <a:pPr defTabSz="837848"/>
            <a:r>
              <a:rPr lang="en-US" sz="886" b="1" dirty="0">
                <a:solidFill>
                  <a:prstClr val="black">
                    <a:lumMod val="75000"/>
                    <a:lumOff val="25000"/>
                  </a:prstClr>
                </a:solidFill>
                <a:latin typeface="Verdana"/>
              </a:rPr>
              <a:t>Vision and Goal Setting strategy</a:t>
            </a:r>
            <a:endParaRPr lang="en-IN" sz="886" b="1" dirty="0">
              <a:solidFill>
                <a:prstClr val="black">
                  <a:lumMod val="75000"/>
                  <a:lumOff val="25000"/>
                </a:prstClr>
              </a:solidFill>
              <a:latin typeface="Verdana"/>
            </a:endParaRPr>
          </a:p>
        </p:txBody>
      </p:sp>
      <p:grpSp>
        <p:nvGrpSpPr>
          <p:cNvPr id="13" name="Group 12">
            <a:extLst>
              <a:ext uri="{FF2B5EF4-FFF2-40B4-BE49-F238E27FC236}">
                <a16:creationId xmlns:a16="http://schemas.microsoft.com/office/drawing/2014/main" id="{A4BD6C99-1F68-4308-9C9A-2A6CE7249335}"/>
              </a:ext>
            </a:extLst>
          </p:cNvPr>
          <p:cNvGrpSpPr/>
          <p:nvPr/>
        </p:nvGrpSpPr>
        <p:grpSpPr>
          <a:xfrm>
            <a:off x="228361" y="1290965"/>
            <a:ext cx="11172673" cy="5493715"/>
            <a:chOff x="0" y="1606433"/>
            <a:chExt cx="12001500" cy="5134597"/>
          </a:xfrm>
        </p:grpSpPr>
        <p:grpSp>
          <p:nvGrpSpPr>
            <p:cNvPr id="14" name="Group 13">
              <a:extLst>
                <a:ext uri="{FF2B5EF4-FFF2-40B4-BE49-F238E27FC236}">
                  <a16:creationId xmlns:a16="http://schemas.microsoft.com/office/drawing/2014/main" id="{251A8681-A5CF-4147-ACA8-50F45220E5A5}"/>
                </a:ext>
              </a:extLst>
            </p:cNvPr>
            <p:cNvGrpSpPr/>
            <p:nvPr/>
          </p:nvGrpSpPr>
          <p:grpSpPr>
            <a:xfrm>
              <a:off x="0" y="1606433"/>
              <a:ext cx="12001500" cy="5134597"/>
              <a:chOff x="1181050" y="1726827"/>
              <a:chExt cx="10198151" cy="4453988"/>
            </a:xfrm>
          </p:grpSpPr>
          <p:pic>
            <p:nvPicPr>
              <p:cNvPr id="34" name="Picture 33">
                <a:extLst>
                  <a:ext uri="{FF2B5EF4-FFF2-40B4-BE49-F238E27FC236}">
                    <a16:creationId xmlns:a16="http://schemas.microsoft.com/office/drawing/2014/main" id="{C61EDCE7-15E7-451F-8856-60E9D8FD5272}"/>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181050" y="2294227"/>
                <a:ext cx="10198151" cy="3886588"/>
              </a:xfrm>
              <a:prstGeom prst="rect">
                <a:avLst/>
              </a:prstGeom>
            </p:spPr>
          </p:pic>
          <p:sp>
            <p:nvSpPr>
              <p:cNvPr id="35" name="Freeform 15">
                <a:extLst>
                  <a:ext uri="{FF2B5EF4-FFF2-40B4-BE49-F238E27FC236}">
                    <a16:creationId xmlns:a16="http://schemas.microsoft.com/office/drawing/2014/main" id="{A27401DD-F325-429C-80FA-6433621326BB}"/>
                  </a:ext>
                </a:extLst>
              </p:cNvPr>
              <p:cNvSpPr/>
              <p:nvPr/>
            </p:nvSpPr>
            <p:spPr bwMode="gray">
              <a:xfrm>
                <a:off x="1363026" y="2611875"/>
                <a:ext cx="8987246" cy="2943497"/>
              </a:xfrm>
              <a:custGeom>
                <a:avLst/>
                <a:gdLst>
                  <a:gd name="connsiteX0" fmla="*/ 0 w 8987246"/>
                  <a:gd name="connsiteY0" fmla="*/ 0 h 2943497"/>
                  <a:gd name="connsiteX1" fmla="*/ 740229 w 8987246"/>
                  <a:gd name="connsiteY1" fmla="*/ 391885 h 2943497"/>
                  <a:gd name="connsiteX2" fmla="*/ 2899954 w 8987246"/>
                  <a:gd name="connsiteY2" fmla="*/ 592182 h 2943497"/>
                  <a:gd name="connsiteX3" fmla="*/ 3971109 w 8987246"/>
                  <a:gd name="connsiteY3" fmla="*/ 757645 h 2943497"/>
                  <a:gd name="connsiteX4" fmla="*/ 4632960 w 8987246"/>
                  <a:gd name="connsiteY4" fmla="*/ 1140822 h 2943497"/>
                  <a:gd name="connsiteX5" fmla="*/ 4101737 w 8987246"/>
                  <a:gd name="connsiteY5" fmla="*/ 1541417 h 2943497"/>
                  <a:gd name="connsiteX6" fmla="*/ 2629989 w 8987246"/>
                  <a:gd name="connsiteY6" fmla="*/ 1889760 h 2943497"/>
                  <a:gd name="connsiteX7" fmla="*/ 3248297 w 8987246"/>
                  <a:gd name="connsiteY7" fmla="*/ 2360022 h 2943497"/>
                  <a:gd name="connsiteX8" fmla="*/ 6261463 w 8987246"/>
                  <a:gd name="connsiteY8" fmla="*/ 2812868 h 2943497"/>
                  <a:gd name="connsiteX9" fmla="*/ 8987246 w 8987246"/>
                  <a:gd name="connsiteY9" fmla="*/ 2943497 h 2943497"/>
                  <a:gd name="connsiteX10" fmla="*/ 8987246 w 8987246"/>
                  <a:gd name="connsiteY10" fmla="*/ 2943497 h 294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87246" h="2943497">
                    <a:moveTo>
                      <a:pt x="0" y="0"/>
                    </a:moveTo>
                    <a:cubicBezTo>
                      <a:pt x="128451" y="146594"/>
                      <a:pt x="256903" y="293188"/>
                      <a:pt x="740229" y="391885"/>
                    </a:cubicBezTo>
                    <a:cubicBezTo>
                      <a:pt x="1223555" y="490582"/>
                      <a:pt x="2361474" y="531222"/>
                      <a:pt x="2899954" y="592182"/>
                    </a:cubicBezTo>
                    <a:cubicBezTo>
                      <a:pt x="3438434" y="653142"/>
                      <a:pt x="3682275" y="666205"/>
                      <a:pt x="3971109" y="757645"/>
                    </a:cubicBezTo>
                    <a:cubicBezTo>
                      <a:pt x="4259943" y="849085"/>
                      <a:pt x="4611189" y="1010193"/>
                      <a:pt x="4632960" y="1140822"/>
                    </a:cubicBezTo>
                    <a:cubicBezTo>
                      <a:pt x="4654731" y="1271451"/>
                      <a:pt x="4435565" y="1416594"/>
                      <a:pt x="4101737" y="1541417"/>
                    </a:cubicBezTo>
                    <a:cubicBezTo>
                      <a:pt x="3767909" y="1666240"/>
                      <a:pt x="2772229" y="1753326"/>
                      <a:pt x="2629989" y="1889760"/>
                    </a:cubicBezTo>
                    <a:cubicBezTo>
                      <a:pt x="2487749" y="2026194"/>
                      <a:pt x="2643051" y="2206171"/>
                      <a:pt x="3248297" y="2360022"/>
                    </a:cubicBezTo>
                    <a:cubicBezTo>
                      <a:pt x="3853543" y="2513873"/>
                      <a:pt x="5304972" y="2715622"/>
                      <a:pt x="6261463" y="2812868"/>
                    </a:cubicBezTo>
                    <a:cubicBezTo>
                      <a:pt x="7217955" y="2910114"/>
                      <a:pt x="8987246" y="2943497"/>
                      <a:pt x="8987246" y="2943497"/>
                    </a:cubicBezTo>
                    <a:lnTo>
                      <a:pt x="8987246" y="2943497"/>
                    </a:lnTo>
                  </a:path>
                </a:pathLst>
              </a:custGeom>
              <a:noFill/>
              <a:ln w="76200" algn="ctr">
                <a:gradFill>
                  <a:gsLst>
                    <a:gs pos="0">
                      <a:srgbClr val="F5F5F6"/>
                    </a:gs>
                    <a:gs pos="20000">
                      <a:schemeClr val="bg1"/>
                    </a:gs>
                    <a:gs pos="85000">
                      <a:schemeClr val="bg1"/>
                    </a:gs>
                    <a:gs pos="100000">
                      <a:srgbClr val="D1D2D4"/>
                    </a:gs>
                  </a:gsLst>
                  <a:lin ang="5400000" scaled="1"/>
                </a:gradFill>
                <a:miter lim="800000"/>
                <a:headEnd/>
                <a:tailEnd type="triangle"/>
              </a:ln>
              <a:effectLst>
                <a:outerShdw blurRad="50800" dist="38100" dir="2700000" algn="tl" rotWithShape="0">
                  <a:prstClr val="black">
                    <a:alpha val="20000"/>
                  </a:prstClr>
                </a:outerShdw>
              </a:effectLst>
            </p:spPr>
            <p:txBody>
              <a:bodyPr rtlCol="0" anchor="ctr"/>
              <a:lstStyle/>
              <a:p>
                <a:pPr algn="ctr" defTabSz="623438">
                  <a:defRPr/>
                </a:pPr>
                <a:endParaRPr lang="en-US" sz="750" dirty="0">
                  <a:solidFill>
                    <a:prstClr val="black"/>
                  </a:solidFill>
                  <a:latin typeface="Calibri Light"/>
                </a:endParaRPr>
              </a:p>
            </p:txBody>
          </p:sp>
          <p:sp>
            <p:nvSpPr>
              <p:cNvPr id="36" name="TextBox 35">
                <a:extLst>
                  <a:ext uri="{FF2B5EF4-FFF2-40B4-BE49-F238E27FC236}">
                    <a16:creationId xmlns:a16="http://schemas.microsoft.com/office/drawing/2014/main" id="{BBFA491B-5300-474E-907A-1B82141223A7}"/>
                  </a:ext>
                </a:extLst>
              </p:cNvPr>
              <p:cNvSpPr txBox="1"/>
              <p:nvPr/>
            </p:nvSpPr>
            <p:spPr>
              <a:xfrm>
                <a:off x="1625720" y="1726827"/>
                <a:ext cx="2526490" cy="185378"/>
              </a:xfrm>
              <a:prstGeom prst="rect">
                <a:avLst/>
              </a:prstGeom>
              <a:noFill/>
            </p:spPr>
            <p:txBody>
              <a:bodyPr wrap="square" rtlCol="0">
                <a:spAutoFit/>
              </a:bodyPr>
              <a:lstStyle/>
              <a:p>
                <a:pPr defTabSz="831230">
                  <a:defRPr/>
                </a:pPr>
                <a:r>
                  <a:rPr lang="en-US" sz="886" b="1" dirty="0">
                    <a:solidFill>
                      <a:prstClr val="black"/>
                    </a:solidFill>
                    <a:latin typeface="Verdana"/>
                    <a:ea typeface="Verdana" panose="020B0604030504040204" pitchFamily="34" charset="0"/>
                    <a:cs typeface="Verdana" panose="020B0604030504040204" pitchFamily="34" charset="0"/>
                  </a:rPr>
                  <a:t>1. Formulation of Vision Statement</a:t>
                </a:r>
              </a:p>
            </p:txBody>
          </p:sp>
          <p:sp>
            <p:nvSpPr>
              <p:cNvPr id="37" name="Freeform 723">
                <a:extLst>
                  <a:ext uri="{FF2B5EF4-FFF2-40B4-BE49-F238E27FC236}">
                    <a16:creationId xmlns:a16="http://schemas.microsoft.com/office/drawing/2014/main" id="{BA1EAE5E-43F7-4B54-BC9D-3D11C2254C7D}"/>
                  </a:ext>
                </a:extLst>
              </p:cNvPr>
              <p:cNvSpPr>
                <a:spLocks noChangeAspect="1" noEditPoints="1"/>
              </p:cNvSpPr>
              <p:nvPr/>
            </p:nvSpPr>
            <p:spPr bwMode="auto">
              <a:xfrm>
                <a:off x="2248462" y="2204002"/>
                <a:ext cx="487829" cy="367213"/>
              </a:xfrm>
              <a:custGeom>
                <a:avLst/>
                <a:gdLst>
                  <a:gd name="T0" fmla="*/ 248 w 512"/>
                  <a:gd name="T1" fmla="*/ 263 h 512"/>
                  <a:gd name="T2" fmla="*/ 263 w 512"/>
                  <a:gd name="T3" fmla="*/ 263 h 512"/>
                  <a:gd name="T4" fmla="*/ 288 w 512"/>
                  <a:gd name="T5" fmla="*/ 256 h 512"/>
                  <a:gd name="T6" fmla="*/ 224 w 512"/>
                  <a:gd name="T7" fmla="*/ 256 h 512"/>
                  <a:gd name="T8" fmla="*/ 269 w 512"/>
                  <a:gd name="T9" fmla="*/ 227 h 512"/>
                  <a:gd name="T10" fmla="*/ 331 w 512"/>
                  <a:gd name="T11" fmla="*/ 196 h 512"/>
                  <a:gd name="T12" fmla="*/ 256 w 512"/>
                  <a:gd name="T13" fmla="*/ 352 h 512"/>
                  <a:gd name="T14" fmla="*/ 256 w 512"/>
                  <a:gd name="T15" fmla="*/ 160 h 512"/>
                  <a:gd name="T16" fmla="*/ 331 w 512"/>
                  <a:gd name="T17" fmla="*/ 166 h 512"/>
                  <a:gd name="T18" fmla="*/ 138 w 512"/>
                  <a:gd name="T19" fmla="*/ 256 h 512"/>
                  <a:gd name="T20" fmla="*/ 373 w 512"/>
                  <a:gd name="T21" fmla="*/ 256 h 512"/>
                  <a:gd name="T22" fmla="*/ 331 w 512"/>
                  <a:gd name="T23" fmla="*/ 196 h 512"/>
                  <a:gd name="T24" fmla="*/ 181 w 512"/>
                  <a:gd name="T25" fmla="*/ 256 h 512"/>
                  <a:gd name="T26" fmla="*/ 330 w 512"/>
                  <a:gd name="T27" fmla="*/ 256 h 512"/>
                  <a:gd name="T28" fmla="*/ 300 w 512"/>
                  <a:gd name="T29" fmla="*/ 226 h 512"/>
                  <a:gd name="T30" fmla="*/ 256 w 512"/>
                  <a:gd name="T31" fmla="*/ 309 h 512"/>
                  <a:gd name="T32" fmla="*/ 256 w 512"/>
                  <a:gd name="T33" fmla="*/ 202 h 512"/>
                  <a:gd name="T34" fmla="*/ 300 w 512"/>
                  <a:gd name="T35" fmla="*/ 196 h 512"/>
                  <a:gd name="T36" fmla="*/ 512 w 512"/>
                  <a:gd name="T37" fmla="*/ 256 h 512"/>
                  <a:gd name="T38" fmla="*/ 0 w 512"/>
                  <a:gd name="T39" fmla="*/ 256 h 512"/>
                  <a:gd name="T40" fmla="*/ 512 w 512"/>
                  <a:gd name="T41" fmla="*/ 256 h 512"/>
                  <a:gd name="T42" fmla="*/ 394 w 512"/>
                  <a:gd name="T43" fmla="*/ 138 h 512"/>
                  <a:gd name="T44" fmla="*/ 373 w 512"/>
                  <a:gd name="T45" fmla="*/ 117 h 512"/>
                  <a:gd name="T46" fmla="*/ 352 w 512"/>
                  <a:gd name="T47" fmla="*/ 117 h 512"/>
                  <a:gd name="T48" fmla="*/ 346 w 512"/>
                  <a:gd name="T49" fmla="*/ 150 h 512"/>
                  <a:gd name="T50" fmla="*/ 117 w 512"/>
                  <a:gd name="T51" fmla="*/ 256 h 512"/>
                  <a:gd name="T52" fmla="*/ 141 w 512"/>
                  <a:gd name="T53" fmla="*/ 376 h 512"/>
                  <a:gd name="T54" fmla="*/ 149 w 512"/>
                  <a:gd name="T55" fmla="*/ 394 h 512"/>
                  <a:gd name="T56" fmla="*/ 178 w 512"/>
                  <a:gd name="T57" fmla="*/ 370 h 512"/>
                  <a:gd name="T58" fmla="*/ 334 w 512"/>
                  <a:gd name="T59" fmla="*/ 370 h 512"/>
                  <a:gd name="T60" fmla="*/ 362 w 512"/>
                  <a:gd name="T61" fmla="*/ 394 h 512"/>
                  <a:gd name="T62" fmla="*/ 370 w 512"/>
                  <a:gd name="T63" fmla="*/ 376 h 512"/>
                  <a:gd name="T64" fmla="*/ 394 w 512"/>
                  <a:gd name="T65" fmla="*/ 256 h 512"/>
                  <a:gd name="T66" fmla="*/ 367 w 512"/>
                  <a:gd name="T67" fmla="*/ 160 h 512"/>
                  <a:gd name="T68" fmla="*/ 405 w 512"/>
                  <a:gd name="T69" fmla="*/ 14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48" y="248"/>
                    </a:moveTo>
                    <a:cubicBezTo>
                      <a:pt x="244" y="252"/>
                      <a:pt x="244" y="259"/>
                      <a:pt x="248" y="263"/>
                    </a:cubicBezTo>
                    <a:cubicBezTo>
                      <a:pt x="250" y="265"/>
                      <a:pt x="253" y="266"/>
                      <a:pt x="256" y="266"/>
                    </a:cubicBezTo>
                    <a:cubicBezTo>
                      <a:pt x="258" y="266"/>
                      <a:pt x="261" y="265"/>
                      <a:pt x="263" y="263"/>
                    </a:cubicBezTo>
                    <a:cubicBezTo>
                      <a:pt x="284" y="242"/>
                      <a:pt x="284" y="242"/>
                      <a:pt x="284" y="242"/>
                    </a:cubicBezTo>
                    <a:cubicBezTo>
                      <a:pt x="286" y="246"/>
                      <a:pt x="288" y="251"/>
                      <a:pt x="288" y="256"/>
                    </a:cubicBezTo>
                    <a:cubicBezTo>
                      <a:pt x="288" y="273"/>
                      <a:pt x="273" y="288"/>
                      <a:pt x="256" y="288"/>
                    </a:cubicBezTo>
                    <a:cubicBezTo>
                      <a:pt x="238" y="288"/>
                      <a:pt x="224" y="273"/>
                      <a:pt x="224" y="256"/>
                    </a:cubicBezTo>
                    <a:cubicBezTo>
                      <a:pt x="224" y="238"/>
                      <a:pt x="238" y="224"/>
                      <a:pt x="256" y="224"/>
                    </a:cubicBezTo>
                    <a:cubicBezTo>
                      <a:pt x="261" y="224"/>
                      <a:pt x="265" y="225"/>
                      <a:pt x="269" y="227"/>
                    </a:cubicBezTo>
                    <a:lnTo>
                      <a:pt x="248" y="248"/>
                    </a:lnTo>
                    <a:close/>
                    <a:moveTo>
                      <a:pt x="331" y="196"/>
                    </a:moveTo>
                    <a:cubicBezTo>
                      <a:pt x="344" y="212"/>
                      <a:pt x="352" y="233"/>
                      <a:pt x="352" y="256"/>
                    </a:cubicBezTo>
                    <a:cubicBezTo>
                      <a:pt x="352" y="309"/>
                      <a:pt x="309" y="352"/>
                      <a:pt x="256" y="352"/>
                    </a:cubicBezTo>
                    <a:cubicBezTo>
                      <a:pt x="203" y="352"/>
                      <a:pt x="160" y="309"/>
                      <a:pt x="160" y="256"/>
                    </a:cubicBezTo>
                    <a:cubicBezTo>
                      <a:pt x="160" y="203"/>
                      <a:pt x="203" y="160"/>
                      <a:pt x="256" y="160"/>
                    </a:cubicBezTo>
                    <a:cubicBezTo>
                      <a:pt x="278" y="160"/>
                      <a:pt x="299" y="168"/>
                      <a:pt x="316" y="181"/>
                    </a:cubicBezTo>
                    <a:cubicBezTo>
                      <a:pt x="331" y="166"/>
                      <a:pt x="331" y="166"/>
                      <a:pt x="331" y="166"/>
                    </a:cubicBezTo>
                    <a:cubicBezTo>
                      <a:pt x="310" y="149"/>
                      <a:pt x="284" y="138"/>
                      <a:pt x="256" y="138"/>
                    </a:cubicBezTo>
                    <a:cubicBezTo>
                      <a:pt x="191" y="138"/>
                      <a:pt x="138" y="191"/>
                      <a:pt x="138" y="256"/>
                    </a:cubicBezTo>
                    <a:cubicBezTo>
                      <a:pt x="138" y="320"/>
                      <a:pt x="191" y="373"/>
                      <a:pt x="256" y="373"/>
                    </a:cubicBezTo>
                    <a:cubicBezTo>
                      <a:pt x="320" y="373"/>
                      <a:pt x="373" y="320"/>
                      <a:pt x="373" y="256"/>
                    </a:cubicBezTo>
                    <a:cubicBezTo>
                      <a:pt x="373" y="227"/>
                      <a:pt x="363" y="201"/>
                      <a:pt x="346" y="181"/>
                    </a:cubicBezTo>
                    <a:lnTo>
                      <a:pt x="331" y="196"/>
                    </a:lnTo>
                    <a:close/>
                    <a:moveTo>
                      <a:pt x="256" y="181"/>
                    </a:moveTo>
                    <a:cubicBezTo>
                      <a:pt x="214" y="181"/>
                      <a:pt x="181" y="214"/>
                      <a:pt x="181" y="256"/>
                    </a:cubicBezTo>
                    <a:cubicBezTo>
                      <a:pt x="181" y="297"/>
                      <a:pt x="214" y="330"/>
                      <a:pt x="256" y="330"/>
                    </a:cubicBezTo>
                    <a:cubicBezTo>
                      <a:pt x="297" y="330"/>
                      <a:pt x="330" y="297"/>
                      <a:pt x="330" y="256"/>
                    </a:cubicBezTo>
                    <a:cubicBezTo>
                      <a:pt x="330" y="239"/>
                      <a:pt x="325" y="224"/>
                      <a:pt x="315" y="211"/>
                    </a:cubicBezTo>
                    <a:cubicBezTo>
                      <a:pt x="300" y="226"/>
                      <a:pt x="300" y="226"/>
                      <a:pt x="300" y="226"/>
                    </a:cubicBezTo>
                    <a:cubicBezTo>
                      <a:pt x="306" y="235"/>
                      <a:pt x="309" y="245"/>
                      <a:pt x="309" y="256"/>
                    </a:cubicBezTo>
                    <a:cubicBezTo>
                      <a:pt x="309" y="285"/>
                      <a:pt x="285" y="309"/>
                      <a:pt x="256" y="309"/>
                    </a:cubicBezTo>
                    <a:cubicBezTo>
                      <a:pt x="226" y="309"/>
                      <a:pt x="202" y="285"/>
                      <a:pt x="202" y="256"/>
                    </a:cubicBezTo>
                    <a:cubicBezTo>
                      <a:pt x="202" y="226"/>
                      <a:pt x="226" y="202"/>
                      <a:pt x="256" y="202"/>
                    </a:cubicBezTo>
                    <a:cubicBezTo>
                      <a:pt x="267" y="202"/>
                      <a:pt x="277" y="206"/>
                      <a:pt x="285" y="211"/>
                    </a:cubicBezTo>
                    <a:cubicBezTo>
                      <a:pt x="300" y="196"/>
                      <a:pt x="300" y="196"/>
                      <a:pt x="300" y="196"/>
                    </a:cubicBezTo>
                    <a:cubicBezTo>
                      <a:pt x="288" y="187"/>
                      <a:pt x="272" y="181"/>
                      <a:pt x="256" y="181"/>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05" y="149"/>
                    </a:moveTo>
                    <a:cubicBezTo>
                      <a:pt x="405" y="143"/>
                      <a:pt x="400" y="138"/>
                      <a:pt x="394" y="138"/>
                    </a:cubicBezTo>
                    <a:cubicBezTo>
                      <a:pt x="373" y="138"/>
                      <a:pt x="373" y="138"/>
                      <a:pt x="373" y="138"/>
                    </a:cubicBezTo>
                    <a:cubicBezTo>
                      <a:pt x="373" y="117"/>
                      <a:pt x="373" y="117"/>
                      <a:pt x="373" y="117"/>
                    </a:cubicBezTo>
                    <a:cubicBezTo>
                      <a:pt x="373" y="111"/>
                      <a:pt x="368" y="106"/>
                      <a:pt x="362" y="106"/>
                    </a:cubicBezTo>
                    <a:cubicBezTo>
                      <a:pt x="356" y="106"/>
                      <a:pt x="352" y="111"/>
                      <a:pt x="352" y="117"/>
                    </a:cubicBezTo>
                    <a:cubicBezTo>
                      <a:pt x="352" y="145"/>
                      <a:pt x="352" y="145"/>
                      <a:pt x="352" y="145"/>
                    </a:cubicBezTo>
                    <a:cubicBezTo>
                      <a:pt x="346" y="150"/>
                      <a:pt x="346" y="150"/>
                      <a:pt x="346" y="150"/>
                    </a:cubicBezTo>
                    <a:cubicBezTo>
                      <a:pt x="322" y="130"/>
                      <a:pt x="290" y="117"/>
                      <a:pt x="256" y="117"/>
                    </a:cubicBezTo>
                    <a:cubicBezTo>
                      <a:pt x="179" y="117"/>
                      <a:pt x="117" y="179"/>
                      <a:pt x="117" y="256"/>
                    </a:cubicBezTo>
                    <a:cubicBezTo>
                      <a:pt x="117" y="295"/>
                      <a:pt x="134" y="331"/>
                      <a:pt x="161" y="357"/>
                    </a:cubicBezTo>
                    <a:cubicBezTo>
                      <a:pt x="141" y="376"/>
                      <a:pt x="141" y="376"/>
                      <a:pt x="141" y="376"/>
                    </a:cubicBezTo>
                    <a:cubicBezTo>
                      <a:pt x="137" y="380"/>
                      <a:pt x="137" y="387"/>
                      <a:pt x="141" y="391"/>
                    </a:cubicBezTo>
                    <a:cubicBezTo>
                      <a:pt x="144" y="393"/>
                      <a:pt x="146" y="394"/>
                      <a:pt x="149" y="394"/>
                    </a:cubicBezTo>
                    <a:cubicBezTo>
                      <a:pt x="152" y="394"/>
                      <a:pt x="154" y="393"/>
                      <a:pt x="157" y="391"/>
                    </a:cubicBezTo>
                    <a:cubicBezTo>
                      <a:pt x="178" y="370"/>
                      <a:pt x="178" y="370"/>
                      <a:pt x="178" y="370"/>
                    </a:cubicBezTo>
                    <a:cubicBezTo>
                      <a:pt x="200" y="385"/>
                      <a:pt x="227" y="394"/>
                      <a:pt x="256" y="394"/>
                    </a:cubicBezTo>
                    <a:cubicBezTo>
                      <a:pt x="285" y="394"/>
                      <a:pt x="311" y="385"/>
                      <a:pt x="334" y="370"/>
                    </a:cubicBezTo>
                    <a:cubicBezTo>
                      <a:pt x="355" y="391"/>
                      <a:pt x="355" y="391"/>
                      <a:pt x="355" y="391"/>
                    </a:cubicBezTo>
                    <a:cubicBezTo>
                      <a:pt x="357" y="393"/>
                      <a:pt x="360" y="394"/>
                      <a:pt x="362" y="394"/>
                    </a:cubicBezTo>
                    <a:cubicBezTo>
                      <a:pt x="365" y="394"/>
                      <a:pt x="368" y="393"/>
                      <a:pt x="370" y="391"/>
                    </a:cubicBezTo>
                    <a:cubicBezTo>
                      <a:pt x="374" y="387"/>
                      <a:pt x="374" y="380"/>
                      <a:pt x="370" y="376"/>
                    </a:cubicBezTo>
                    <a:cubicBezTo>
                      <a:pt x="350" y="357"/>
                      <a:pt x="350" y="357"/>
                      <a:pt x="350" y="357"/>
                    </a:cubicBezTo>
                    <a:cubicBezTo>
                      <a:pt x="377" y="331"/>
                      <a:pt x="394" y="295"/>
                      <a:pt x="394" y="256"/>
                    </a:cubicBezTo>
                    <a:cubicBezTo>
                      <a:pt x="394" y="221"/>
                      <a:pt x="382" y="190"/>
                      <a:pt x="361" y="166"/>
                    </a:cubicBezTo>
                    <a:cubicBezTo>
                      <a:pt x="367" y="160"/>
                      <a:pt x="367" y="160"/>
                      <a:pt x="367" y="160"/>
                    </a:cubicBezTo>
                    <a:cubicBezTo>
                      <a:pt x="394" y="160"/>
                      <a:pt x="394" y="160"/>
                      <a:pt x="394" y="160"/>
                    </a:cubicBezTo>
                    <a:cubicBezTo>
                      <a:pt x="400" y="160"/>
                      <a:pt x="405" y="155"/>
                      <a:pt x="405" y="149"/>
                    </a:cubicBezTo>
                    <a:close/>
                  </a:path>
                </a:pathLst>
              </a:custGeom>
              <a:solidFill>
                <a:schemeClr val="accent3"/>
              </a:solidFill>
              <a:ln>
                <a:noFill/>
              </a:ln>
            </p:spPr>
            <p:txBody>
              <a:bodyPr vert="horz" wrap="square" lIns="62345" tIns="31173" rIns="62345" bIns="31173" numCol="1" anchor="t" anchorCtr="0" compatLnSpc="1">
                <a:prstTxWarp prst="textNoShape">
                  <a:avLst/>
                </a:prstTxWarp>
              </a:bodyPr>
              <a:lstStyle/>
              <a:p>
                <a:pPr defTabSz="831230">
                  <a:defRPr/>
                </a:pPr>
                <a:endParaRPr lang="en-GB" sz="750" dirty="0">
                  <a:solidFill>
                    <a:prstClr val="black"/>
                  </a:solidFill>
                  <a:latin typeface="Calibri Light"/>
                </a:endParaRPr>
              </a:p>
            </p:txBody>
          </p:sp>
          <p:sp>
            <p:nvSpPr>
              <p:cNvPr id="38" name="Freeform 6">
                <a:extLst>
                  <a:ext uri="{FF2B5EF4-FFF2-40B4-BE49-F238E27FC236}">
                    <a16:creationId xmlns:a16="http://schemas.microsoft.com/office/drawing/2014/main" id="{CAF6B863-8971-49AE-BA76-A9C0769460CA}"/>
                  </a:ext>
                </a:extLst>
              </p:cNvPr>
              <p:cNvSpPr>
                <a:spLocks noChangeAspect="1" noEditPoints="1"/>
              </p:cNvSpPr>
              <p:nvPr/>
            </p:nvSpPr>
            <p:spPr bwMode="auto">
              <a:xfrm>
                <a:off x="2888965" y="2830865"/>
                <a:ext cx="187276" cy="279332"/>
              </a:xfrm>
              <a:custGeom>
                <a:avLst/>
                <a:gdLst>
                  <a:gd name="T0" fmla="*/ 37 w 74"/>
                  <a:gd name="T1" fmla="*/ 0 h 118"/>
                  <a:gd name="T2" fmla="*/ 0 w 74"/>
                  <a:gd name="T3" fmla="*/ 37 h 118"/>
                  <a:gd name="T4" fmla="*/ 37 w 74"/>
                  <a:gd name="T5" fmla="*/ 118 h 118"/>
                  <a:gd name="T6" fmla="*/ 74 w 74"/>
                  <a:gd name="T7" fmla="*/ 37 h 118"/>
                  <a:gd name="T8" fmla="*/ 37 w 74"/>
                  <a:gd name="T9" fmla="*/ 0 h 118"/>
                  <a:gd name="T10" fmla="*/ 37 w 74"/>
                  <a:gd name="T11" fmla="*/ 57 h 118"/>
                  <a:gd name="T12" fmla="*/ 17 w 74"/>
                  <a:gd name="T13" fmla="*/ 37 h 118"/>
                  <a:gd name="T14" fmla="*/ 37 w 74"/>
                  <a:gd name="T15" fmla="*/ 17 h 118"/>
                  <a:gd name="T16" fmla="*/ 57 w 74"/>
                  <a:gd name="T17" fmla="*/ 37 h 118"/>
                  <a:gd name="T18" fmla="*/ 37 w 74"/>
                  <a:gd name="T19" fmla="*/ 5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18">
                    <a:moveTo>
                      <a:pt x="37" y="0"/>
                    </a:moveTo>
                    <a:cubicBezTo>
                      <a:pt x="16" y="0"/>
                      <a:pt x="0" y="16"/>
                      <a:pt x="0" y="37"/>
                    </a:cubicBezTo>
                    <a:cubicBezTo>
                      <a:pt x="0" y="72"/>
                      <a:pt x="37" y="118"/>
                      <a:pt x="37" y="118"/>
                    </a:cubicBezTo>
                    <a:cubicBezTo>
                      <a:pt x="37" y="118"/>
                      <a:pt x="74" y="72"/>
                      <a:pt x="74" y="37"/>
                    </a:cubicBezTo>
                    <a:cubicBezTo>
                      <a:pt x="74" y="16"/>
                      <a:pt x="57" y="0"/>
                      <a:pt x="37" y="0"/>
                    </a:cubicBezTo>
                    <a:close/>
                    <a:moveTo>
                      <a:pt x="37" y="57"/>
                    </a:moveTo>
                    <a:cubicBezTo>
                      <a:pt x="26" y="57"/>
                      <a:pt x="17" y="48"/>
                      <a:pt x="17" y="37"/>
                    </a:cubicBezTo>
                    <a:cubicBezTo>
                      <a:pt x="17" y="26"/>
                      <a:pt x="26" y="17"/>
                      <a:pt x="37" y="17"/>
                    </a:cubicBezTo>
                    <a:cubicBezTo>
                      <a:pt x="48" y="17"/>
                      <a:pt x="57" y="26"/>
                      <a:pt x="57" y="37"/>
                    </a:cubicBezTo>
                    <a:cubicBezTo>
                      <a:pt x="57" y="48"/>
                      <a:pt x="48" y="57"/>
                      <a:pt x="37" y="57"/>
                    </a:cubicBezTo>
                    <a:close/>
                  </a:path>
                </a:pathLst>
              </a:custGeom>
              <a:solidFill>
                <a:schemeClr val="accent3"/>
              </a:solidFill>
              <a:ln>
                <a:noFill/>
              </a:ln>
            </p:spPr>
            <p:txBody>
              <a:bodyPr vert="horz" wrap="square" lIns="62345" tIns="31173" rIns="62345" bIns="31173" numCol="1" anchor="t" anchorCtr="0" compatLnSpc="1">
                <a:prstTxWarp prst="textNoShape">
                  <a:avLst/>
                </a:prstTxWarp>
              </a:bodyPr>
              <a:lstStyle/>
              <a:p>
                <a:pPr defTabSz="831230">
                  <a:defRPr/>
                </a:pPr>
                <a:endParaRPr lang="en-US" sz="750" dirty="0">
                  <a:solidFill>
                    <a:prstClr val="black"/>
                  </a:solidFill>
                  <a:latin typeface="Calibri Light"/>
                </a:endParaRPr>
              </a:p>
            </p:txBody>
          </p:sp>
          <p:cxnSp>
            <p:nvCxnSpPr>
              <p:cNvPr id="39" name="Straight Arrow Connector 38">
                <a:extLst>
                  <a:ext uri="{FF2B5EF4-FFF2-40B4-BE49-F238E27FC236}">
                    <a16:creationId xmlns:a16="http://schemas.microsoft.com/office/drawing/2014/main" id="{8FF078BD-A1D0-424E-A505-586B0CAAF8BE}"/>
                  </a:ext>
                </a:extLst>
              </p:cNvPr>
              <p:cNvCxnSpPr>
                <a:cxnSpLocks/>
              </p:cNvCxnSpPr>
              <p:nvPr/>
            </p:nvCxnSpPr>
            <p:spPr>
              <a:xfrm flipH="1" flipV="1">
                <a:off x="2699834" y="2522348"/>
                <a:ext cx="207226" cy="24961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954A6228-4F97-44F7-8351-7CB8D4A2367C}"/>
                  </a:ext>
                </a:extLst>
              </p:cNvPr>
              <p:cNvGrpSpPr/>
              <p:nvPr/>
            </p:nvGrpSpPr>
            <p:grpSpPr>
              <a:xfrm>
                <a:off x="4836439" y="2194972"/>
                <a:ext cx="1879189" cy="1265260"/>
                <a:chOff x="5192987" y="2261815"/>
                <a:chExt cx="1879189" cy="1265260"/>
              </a:xfrm>
            </p:grpSpPr>
            <p:sp>
              <p:nvSpPr>
                <p:cNvPr id="79" name="TextBox 78">
                  <a:extLst>
                    <a:ext uri="{FF2B5EF4-FFF2-40B4-BE49-F238E27FC236}">
                      <a16:creationId xmlns:a16="http://schemas.microsoft.com/office/drawing/2014/main" id="{231A4908-2362-4664-A63E-5BE5C6B11C05}"/>
                    </a:ext>
                  </a:extLst>
                </p:cNvPr>
                <p:cNvSpPr txBox="1"/>
                <p:nvPr/>
              </p:nvSpPr>
              <p:spPr>
                <a:xfrm>
                  <a:off x="5192987" y="2261815"/>
                  <a:ext cx="1879189" cy="295898"/>
                </a:xfrm>
                <a:prstGeom prst="rect">
                  <a:avLst/>
                </a:prstGeom>
                <a:noFill/>
              </p:spPr>
              <p:txBody>
                <a:bodyPr wrap="square" rtlCol="0">
                  <a:spAutoFit/>
                </a:bodyPr>
                <a:lstStyle/>
                <a:p>
                  <a:pPr defTabSz="831230">
                    <a:defRPr/>
                  </a:pPr>
                  <a:r>
                    <a:rPr lang="en-US" sz="886" b="1" dirty="0">
                      <a:solidFill>
                        <a:prstClr val="black"/>
                      </a:solidFill>
                      <a:latin typeface="Verdana"/>
                      <a:ea typeface="Verdana" panose="020B0604030504040204" pitchFamily="34" charset="0"/>
                      <a:cs typeface="Verdana" panose="020B0604030504040204" pitchFamily="34" charset="0"/>
                    </a:rPr>
                    <a:t>2. Development of Goals</a:t>
                  </a:r>
                </a:p>
                <a:p>
                  <a:pPr defTabSz="831230">
                    <a:defRPr/>
                  </a:pPr>
                  <a:r>
                    <a:rPr lang="en-US" sz="886" b="1" dirty="0">
                      <a:solidFill>
                        <a:prstClr val="black"/>
                      </a:solidFill>
                      <a:latin typeface="Verdana"/>
                      <a:ea typeface="Verdana" panose="020B0604030504040204" pitchFamily="34" charset="0"/>
                      <a:cs typeface="Verdana" panose="020B0604030504040204" pitchFamily="34" charset="0"/>
                    </a:rPr>
                    <a:t>   to achieve the Vision </a:t>
                  </a:r>
                </a:p>
              </p:txBody>
            </p:sp>
            <p:sp>
              <p:nvSpPr>
                <p:cNvPr id="80" name="Freeform 5">
                  <a:extLst>
                    <a:ext uri="{FF2B5EF4-FFF2-40B4-BE49-F238E27FC236}">
                      <a16:creationId xmlns:a16="http://schemas.microsoft.com/office/drawing/2014/main" id="{0463728B-A424-4F96-94C3-A59F45C1D102}"/>
                    </a:ext>
                  </a:extLst>
                </p:cNvPr>
                <p:cNvSpPr>
                  <a:spLocks noChangeAspect="1" noEditPoints="1"/>
                </p:cNvSpPr>
                <p:nvPr/>
              </p:nvSpPr>
              <p:spPr bwMode="auto">
                <a:xfrm>
                  <a:off x="5363500" y="2546551"/>
                  <a:ext cx="487829" cy="376990"/>
                </a:xfrm>
                <a:custGeom>
                  <a:avLst/>
                  <a:gdLst>
                    <a:gd name="T0" fmla="*/ 341 w 512"/>
                    <a:gd name="T1" fmla="*/ 232 h 512"/>
                    <a:gd name="T2" fmla="*/ 373 w 512"/>
                    <a:gd name="T3" fmla="*/ 200 h 512"/>
                    <a:gd name="T4" fmla="*/ 364 w 512"/>
                    <a:gd name="T5" fmla="*/ 237 h 512"/>
                    <a:gd name="T6" fmla="*/ 364 w 512"/>
                    <a:gd name="T7" fmla="*/ 237 h 512"/>
                    <a:gd name="T8" fmla="*/ 354 w 512"/>
                    <a:gd name="T9" fmla="*/ 249 h 512"/>
                    <a:gd name="T10" fmla="*/ 288 w 512"/>
                    <a:gd name="T11" fmla="*/ 264 h 512"/>
                    <a:gd name="T12" fmla="*/ 276 w 512"/>
                    <a:gd name="T13" fmla="*/ 267 h 512"/>
                    <a:gd name="T14" fmla="*/ 167 w 512"/>
                    <a:gd name="T15" fmla="*/ 376 h 512"/>
                    <a:gd name="T16" fmla="*/ 137 w 512"/>
                    <a:gd name="T17" fmla="*/ 376 h 512"/>
                    <a:gd name="T18" fmla="*/ 131 w 512"/>
                    <a:gd name="T19" fmla="*/ 361 h 512"/>
                    <a:gd name="T20" fmla="*/ 137 w 512"/>
                    <a:gd name="T21" fmla="*/ 346 h 512"/>
                    <a:gd name="T22" fmla="*/ 246 w 512"/>
                    <a:gd name="T23" fmla="*/ 237 h 512"/>
                    <a:gd name="T24" fmla="*/ 249 w 512"/>
                    <a:gd name="T25" fmla="*/ 225 h 512"/>
                    <a:gd name="T26" fmla="*/ 264 w 512"/>
                    <a:gd name="T27" fmla="*/ 159 h 512"/>
                    <a:gd name="T28" fmla="*/ 276 w 512"/>
                    <a:gd name="T29" fmla="*/ 149 h 512"/>
                    <a:gd name="T30" fmla="*/ 309 w 512"/>
                    <a:gd name="T31" fmla="*/ 140 h 512"/>
                    <a:gd name="T32" fmla="*/ 312 w 512"/>
                    <a:gd name="T33" fmla="*/ 140 h 512"/>
                    <a:gd name="T34" fmla="*/ 281 w 512"/>
                    <a:gd name="T35" fmla="*/ 171 h 512"/>
                    <a:gd name="T36" fmla="*/ 280 w 512"/>
                    <a:gd name="T37" fmla="*/ 185 h 512"/>
                    <a:gd name="T38" fmla="*/ 301 w 512"/>
                    <a:gd name="T39" fmla="*/ 211 h 512"/>
                    <a:gd name="T40" fmla="*/ 328 w 512"/>
                    <a:gd name="T41" fmla="*/ 233 h 512"/>
                    <a:gd name="T42" fmla="*/ 341 w 512"/>
                    <a:gd name="T43" fmla="*/ 232 h 512"/>
                    <a:gd name="T44" fmla="*/ 512 w 512"/>
                    <a:gd name="T45" fmla="*/ 256 h 512"/>
                    <a:gd name="T46" fmla="*/ 256 w 512"/>
                    <a:gd name="T47" fmla="*/ 512 h 512"/>
                    <a:gd name="T48" fmla="*/ 0 w 512"/>
                    <a:gd name="T49" fmla="*/ 256 h 512"/>
                    <a:gd name="T50" fmla="*/ 256 w 512"/>
                    <a:gd name="T51" fmla="*/ 0 h 512"/>
                    <a:gd name="T52" fmla="*/ 512 w 512"/>
                    <a:gd name="T53" fmla="*/ 256 h 512"/>
                    <a:gd name="T54" fmla="*/ 389 w 512"/>
                    <a:gd name="T55" fmla="*/ 175 h 512"/>
                    <a:gd name="T56" fmla="*/ 382 w 512"/>
                    <a:gd name="T57" fmla="*/ 169 h 512"/>
                    <a:gd name="T58" fmla="*/ 372 w 512"/>
                    <a:gd name="T59" fmla="*/ 171 h 512"/>
                    <a:gd name="T60" fmla="*/ 333 w 512"/>
                    <a:gd name="T61" fmla="*/ 210 h 512"/>
                    <a:gd name="T62" fmla="*/ 317 w 512"/>
                    <a:gd name="T63" fmla="*/ 196 h 512"/>
                    <a:gd name="T64" fmla="*/ 303 w 512"/>
                    <a:gd name="T65" fmla="*/ 180 h 512"/>
                    <a:gd name="T66" fmla="*/ 342 w 512"/>
                    <a:gd name="T67" fmla="*/ 141 h 512"/>
                    <a:gd name="T68" fmla="*/ 344 w 512"/>
                    <a:gd name="T69" fmla="*/ 131 h 512"/>
                    <a:gd name="T70" fmla="*/ 338 w 512"/>
                    <a:gd name="T71" fmla="*/ 124 h 512"/>
                    <a:gd name="T72" fmla="*/ 265 w 512"/>
                    <a:gd name="T73" fmla="*/ 131 h 512"/>
                    <a:gd name="T74" fmla="*/ 249 w 512"/>
                    <a:gd name="T75" fmla="*/ 144 h 512"/>
                    <a:gd name="T76" fmla="*/ 227 w 512"/>
                    <a:gd name="T77" fmla="*/ 226 h 512"/>
                    <a:gd name="T78" fmla="*/ 122 w 512"/>
                    <a:gd name="T79" fmla="*/ 331 h 512"/>
                    <a:gd name="T80" fmla="*/ 109 w 512"/>
                    <a:gd name="T81" fmla="*/ 361 h 512"/>
                    <a:gd name="T82" fmla="*/ 122 w 512"/>
                    <a:gd name="T83" fmla="*/ 391 h 512"/>
                    <a:gd name="T84" fmla="*/ 152 w 512"/>
                    <a:gd name="T85" fmla="*/ 404 h 512"/>
                    <a:gd name="T86" fmla="*/ 182 w 512"/>
                    <a:gd name="T87" fmla="*/ 391 h 512"/>
                    <a:gd name="T88" fmla="*/ 287 w 512"/>
                    <a:gd name="T89" fmla="*/ 286 h 512"/>
                    <a:gd name="T90" fmla="*/ 369 w 512"/>
                    <a:gd name="T91" fmla="*/ 264 h 512"/>
                    <a:gd name="T92" fmla="*/ 382 w 512"/>
                    <a:gd name="T93" fmla="*/ 248 h 512"/>
                    <a:gd name="T94" fmla="*/ 389 w 512"/>
                    <a:gd name="T95" fmla="*/ 17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2" h="512">
                      <a:moveTo>
                        <a:pt x="341" y="232"/>
                      </a:moveTo>
                      <a:cubicBezTo>
                        <a:pt x="373" y="200"/>
                        <a:pt x="373" y="200"/>
                        <a:pt x="373" y="200"/>
                      </a:cubicBezTo>
                      <a:cubicBezTo>
                        <a:pt x="374" y="213"/>
                        <a:pt x="370" y="226"/>
                        <a:pt x="364" y="237"/>
                      </a:cubicBezTo>
                      <a:cubicBezTo>
                        <a:pt x="364" y="237"/>
                        <a:pt x="364" y="237"/>
                        <a:pt x="364" y="237"/>
                      </a:cubicBezTo>
                      <a:cubicBezTo>
                        <a:pt x="361" y="242"/>
                        <a:pt x="358" y="246"/>
                        <a:pt x="354" y="249"/>
                      </a:cubicBezTo>
                      <a:cubicBezTo>
                        <a:pt x="337" y="267"/>
                        <a:pt x="311" y="272"/>
                        <a:pt x="288" y="264"/>
                      </a:cubicBezTo>
                      <a:cubicBezTo>
                        <a:pt x="284" y="263"/>
                        <a:pt x="279" y="264"/>
                        <a:pt x="276" y="267"/>
                      </a:cubicBezTo>
                      <a:cubicBezTo>
                        <a:pt x="167" y="376"/>
                        <a:pt x="167" y="376"/>
                        <a:pt x="167" y="376"/>
                      </a:cubicBezTo>
                      <a:cubicBezTo>
                        <a:pt x="159" y="384"/>
                        <a:pt x="145" y="384"/>
                        <a:pt x="137" y="376"/>
                      </a:cubicBezTo>
                      <a:cubicBezTo>
                        <a:pt x="133" y="372"/>
                        <a:pt x="131" y="367"/>
                        <a:pt x="131" y="361"/>
                      </a:cubicBezTo>
                      <a:cubicBezTo>
                        <a:pt x="131" y="355"/>
                        <a:pt x="133" y="350"/>
                        <a:pt x="137" y="346"/>
                      </a:cubicBezTo>
                      <a:cubicBezTo>
                        <a:pt x="246" y="237"/>
                        <a:pt x="246" y="237"/>
                        <a:pt x="246" y="237"/>
                      </a:cubicBezTo>
                      <a:cubicBezTo>
                        <a:pt x="249" y="234"/>
                        <a:pt x="250" y="229"/>
                        <a:pt x="249" y="225"/>
                      </a:cubicBezTo>
                      <a:cubicBezTo>
                        <a:pt x="241" y="202"/>
                        <a:pt x="246" y="176"/>
                        <a:pt x="264" y="159"/>
                      </a:cubicBezTo>
                      <a:cubicBezTo>
                        <a:pt x="267" y="155"/>
                        <a:pt x="271" y="152"/>
                        <a:pt x="276" y="149"/>
                      </a:cubicBezTo>
                      <a:cubicBezTo>
                        <a:pt x="286" y="143"/>
                        <a:pt x="297" y="140"/>
                        <a:pt x="309" y="140"/>
                      </a:cubicBezTo>
                      <a:cubicBezTo>
                        <a:pt x="310" y="140"/>
                        <a:pt x="311" y="140"/>
                        <a:pt x="312" y="140"/>
                      </a:cubicBezTo>
                      <a:cubicBezTo>
                        <a:pt x="281" y="171"/>
                        <a:pt x="281" y="171"/>
                        <a:pt x="281" y="171"/>
                      </a:cubicBezTo>
                      <a:cubicBezTo>
                        <a:pt x="277" y="175"/>
                        <a:pt x="277" y="181"/>
                        <a:pt x="280" y="185"/>
                      </a:cubicBezTo>
                      <a:cubicBezTo>
                        <a:pt x="286" y="194"/>
                        <a:pt x="293" y="203"/>
                        <a:pt x="301" y="211"/>
                      </a:cubicBezTo>
                      <a:cubicBezTo>
                        <a:pt x="310" y="220"/>
                        <a:pt x="318" y="227"/>
                        <a:pt x="328" y="233"/>
                      </a:cubicBezTo>
                      <a:cubicBezTo>
                        <a:pt x="332" y="236"/>
                        <a:pt x="338" y="235"/>
                        <a:pt x="341" y="232"/>
                      </a:cubicBezTo>
                      <a:close/>
                      <a:moveTo>
                        <a:pt x="512" y="256"/>
                      </a:moveTo>
                      <a:cubicBezTo>
                        <a:pt x="512" y="397"/>
                        <a:pt x="397" y="512"/>
                        <a:pt x="256" y="512"/>
                      </a:cubicBezTo>
                      <a:cubicBezTo>
                        <a:pt x="115" y="512"/>
                        <a:pt x="0" y="397"/>
                        <a:pt x="0" y="256"/>
                      </a:cubicBezTo>
                      <a:cubicBezTo>
                        <a:pt x="0" y="114"/>
                        <a:pt x="115" y="0"/>
                        <a:pt x="256" y="0"/>
                      </a:cubicBezTo>
                      <a:cubicBezTo>
                        <a:pt x="397" y="0"/>
                        <a:pt x="512" y="114"/>
                        <a:pt x="512" y="256"/>
                      </a:cubicBezTo>
                      <a:close/>
                      <a:moveTo>
                        <a:pt x="389" y="175"/>
                      </a:moveTo>
                      <a:cubicBezTo>
                        <a:pt x="388" y="172"/>
                        <a:pt x="385" y="169"/>
                        <a:pt x="382" y="169"/>
                      </a:cubicBezTo>
                      <a:cubicBezTo>
                        <a:pt x="378" y="168"/>
                        <a:pt x="374" y="169"/>
                        <a:pt x="372" y="171"/>
                      </a:cubicBezTo>
                      <a:cubicBezTo>
                        <a:pt x="333" y="210"/>
                        <a:pt x="333" y="210"/>
                        <a:pt x="333" y="210"/>
                      </a:cubicBezTo>
                      <a:cubicBezTo>
                        <a:pt x="327" y="206"/>
                        <a:pt x="322" y="201"/>
                        <a:pt x="317" y="196"/>
                      </a:cubicBezTo>
                      <a:cubicBezTo>
                        <a:pt x="311" y="191"/>
                        <a:pt x="307" y="186"/>
                        <a:pt x="303" y="180"/>
                      </a:cubicBezTo>
                      <a:cubicBezTo>
                        <a:pt x="342" y="141"/>
                        <a:pt x="342" y="141"/>
                        <a:pt x="342" y="141"/>
                      </a:cubicBezTo>
                      <a:cubicBezTo>
                        <a:pt x="344" y="139"/>
                        <a:pt x="345" y="135"/>
                        <a:pt x="344" y="131"/>
                      </a:cubicBezTo>
                      <a:cubicBezTo>
                        <a:pt x="344" y="128"/>
                        <a:pt x="341" y="125"/>
                        <a:pt x="338" y="124"/>
                      </a:cubicBezTo>
                      <a:cubicBezTo>
                        <a:pt x="313" y="115"/>
                        <a:pt x="287" y="118"/>
                        <a:pt x="265" y="131"/>
                      </a:cubicBezTo>
                      <a:cubicBezTo>
                        <a:pt x="259" y="135"/>
                        <a:pt x="253" y="139"/>
                        <a:pt x="249" y="144"/>
                      </a:cubicBezTo>
                      <a:cubicBezTo>
                        <a:pt x="227" y="165"/>
                        <a:pt x="219" y="197"/>
                        <a:pt x="227" y="226"/>
                      </a:cubicBezTo>
                      <a:cubicBezTo>
                        <a:pt x="122" y="331"/>
                        <a:pt x="122" y="331"/>
                        <a:pt x="122" y="331"/>
                      </a:cubicBezTo>
                      <a:cubicBezTo>
                        <a:pt x="114" y="339"/>
                        <a:pt x="109" y="350"/>
                        <a:pt x="109" y="361"/>
                      </a:cubicBezTo>
                      <a:cubicBezTo>
                        <a:pt x="109" y="372"/>
                        <a:pt x="114" y="383"/>
                        <a:pt x="122" y="391"/>
                      </a:cubicBezTo>
                      <a:cubicBezTo>
                        <a:pt x="130" y="399"/>
                        <a:pt x="140" y="404"/>
                        <a:pt x="152" y="404"/>
                      </a:cubicBezTo>
                      <a:cubicBezTo>
                        <a:pt x="163" y="404"/>
                        <a:pt x="174" y="399"/>
                        <a:pt x="182" y="391"/>
                      </a:cubicBezTo>
                      <a:cubicBezTo>
                        <a:pt x="287" y="286"/>
                        <a:pt x="287" y="286"/>
                        <a:pt x="287" y="286"/>
                      </a:cubicBezTo>
                      <a:cubicBezTo>
                        <a:pt x="316" y="294"/>
                        <a:pt x="348" y="286"/>
                        <a:pt x="369" y="264"/>
                      </a:cubicBezTo>
                      <a:cubicBezTo>
                        <a:pt x="374" y="260"/>
                        <a:pt x="378" y="254"/>
                        <a:pt x="382" y="248"/>
                      </a:cubicBezTo>
                      <a:cubicBezTo>
                        <a:pt x="395" y="226"/>
                        <a:pt x="398" y="200"/>
                        <a:pt x="389" y="175"/>
                      </a:cubicBezTo>
                      <a:close/>
                    </a:path>
                  </a:pathLst>
                </a:custGeom>
                <a:solidFill>
                  <a:schemeClr val="accent2"/>
                </a:solidFill>
                <a:ln>
                  <a:noFill/>
                </a:ln>
              </p:spPr>
              <p:txBody>
                <a:bodyPr vert="horz" wrap="square" lIns="62345" tIns="31173" rIns="62345" bIns="31173" numCol="1" anchor="t" anchorCtr="0" compatLnSpc="1">
                  <a:prstTxWarp prst="textNoShape">
                    <a:avLst/>
                  </a:prstTxWarp>
                </a:bodyPr>
                <a:lstStyle/>
                <a:p>
                  <a:pPr defTabSz="831230">
                    <a:defRPr/>
                  </a:pPr>
                  <a:endParaRPr lang="en-GB" sz="750" dirty="0">
                    <a:solidFill>
                      <a:srgbClr val="046A38"/>
                    </a:solidFill>
                    <a:latin typeface="Calibri Light"/>
                  </a:endParaRPr>
                </a:p>
              </p:txBody>
            </p:sp>
            <p:sp>
              <p:nvSpPr>
                <p:cNvPr id="81" name="Freeform 6">
                  <a:extLst>
                    <a:ext uri="{FF2B5EF4-FFF2-40B4-BE49-F238E27FC236}">
                      <a16:creationId xmlns:a16="http://schemas.microsoft.com/office/drawing/2014/main" id="{AF48A682-6993-4D03-9EFF-7646529F0A54}"/>
                    </a:ext>
                  </a:extLst>
                </p:cNvPr>
                <p:cNvSpPr>
                  <a:spLocks noChangeAspect="1" noEditPoints="1"/>
                </p:cNvSpPr>
                <p:nvPr/>
              </p:nvSpPr>
              <p:spPr bwMode="auto">
                <a:xfrm>
                  <a:off x="5799324" y="3247743"/>
                  <a:ext cx="174857" cy="279332"/>
                </a:xfrm>
                <a:custGeom>
                  <a:avLst/>
                  <a:gdLst>
                    <a:gd name="T0" fmla="*/ 37 w 74"/>
                    <a:gd name="T1" fmla="*/ 0 h 118"/>
                    <a:gd name="T2" fmla="*/ 0 w 74"/>
                    <a:gd name="T3" fmla="*/ 37 h 118"/>
                    <a:gd name="T4" fmla="*/ 37 w 74"/>
                    <a:gd name="T5" fmla="*/ 118 h 118"/>
                    <a:gd name="T6" fmla="*/ 74 w 74"/>
                    <a:gd name="T7" fmla="*/ 37 h 118"/>
                    <a:gd name="T8" fmla="*/ 37 w 74"/>
                    <a:gd name="T9" fmla="*/ 0 h 118"/>
                    <a:gd name="T10" fmla="*/ 37 w 74"/>
                    <a:gd name="T11" fmla="*/ 57 h 118"/>
                    <a:gd name="T12" fmla="*/ 17 w 74"/>
                    <a:gd name="T13" fmla="*/ 37 h 118"/>
                    <a:gd name="T14" fmla="*/ 37 w 74"/>
                    <a:gd name="T15" fmla="*/ 17 h 118"/>
                    <a:gd name="T16" fmla="*/ 57 w 74"/>
                    <a:gd name="T17" fmla="*/ 37 h 118"/>
                    <a:gd name="T18" fmla="*/ 37 w 74"/>
                    <a:gd name="T19" fmla="*/ 5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18">
                      <a:moveTo>
                        <a:pt x="37" y="0"/>
                      </a:moveTo>
                      <a:cubicBezTo>
                        <a:pt x="16" y="0"/>
                        <a:pt x="0" y="16"/>
                        <a:pt x="0" y="37"/>
                      </a:cubicBezTo>
                      <a:cubicBezTo>
                        <a:pt x="0" y="72"/>
                        <a:pt x="37" y="118"/>
                        <a:pt x="37" y="118"/>
                      </a:cubicBezTo>
                      <a:cubicBezTo>
                        <a:pt x="37" y="118"/>
                        <a:pt x="74" y="72"/>
                        <a:pt x="74" y="37"/>
                      </a:cubicBezTo>
                      <a:cubicBezTo>
                        <a:pt x="74" y="16"/>
                        <a:pt x="57" y="0"/>
                        <a:pt x="37" y="0"/>
                      </a:cubicBezTo>
                      <a:close/>
                      <a:moveTo>
                        <a:pt x="37" y="57"/>
                      </a:moveTo>
                      <a:cubicBezTo>
                        <a:pt x="26" y="57"/>
                        <a:pt x="17" y="48"/>
                        <a:pt x="17" y="37"/>
                      </a:cubicBezTo>
                      <a:cubicBezTo>
                        <a:pt x="17" y="26"/>
                        <a:pt x="26" y="17"/>
                        <a:pt x="37" y="17"/>
                      </a:cubicBezTo>
                      <a:cubicBezTo>
                        <a:pt x="48" y="17"/>
                        <a:pt x="57" y="26"/>
                        <a:pt x="57" y="37"/>
                      </a:cubicBezTo>
                      <a:cubicBezTo>
                        <a:pt x="57" y="48"/>
                        <a:pt x="48" y="57"/>
                        <a:pt x="37" y="57"/>
                      </a:cubicBezTo>
                      <a:close/>
                    </a:path>
                  </a:pathLst>
                </a:custGeom>
                <a:solidFill>
                  <a:schemeClr val="accent2"/>
                </a:solidFill>
                <a:ln>
                  <a:noFill/>
                </a:ln>
              </p:spPr>
              <p:txBody>
                <a:bodyPr vert="horz" wrap="square" lIns="62345" tIns="31173" rIns="62345" bIns="31173" numCol="1" anchor="t" anchorCtr="0" compatLnSpc="1">
                  <a:prstTxWarp prst="textNoShape">
                    <a:avLst/>
                  </a:prstTxWarp>
                </a:bodyPr>
                <a:lstStyle/>
                <a:p>
                  <a:pPr defTabSz="831230">
                    <a:defRPr/>
                  </a:pPr>
                  <a:endParaRPr lang="en-US" sz="750" dirty="0">
                    <a:solidFill>
                      <a:prstClr val="black"/>
                    </a:solidFill>
                    <a:latin typeface="Calibri Light"/>
                  </a:endParaRPr>
                </a:p>
              </p:txBody>
            </p:sp>
            <p:cxnSp>
              <p:nvCxnSpPr>
                <p:cNvPr id="82" name="Straight Arrow Connector 81">
                  <a:extLst>
                    <a:ext uri="{FF2B5EF4-FFF2-40B4-BE49-F238E27FC236}">
                      <a16:creationId xmlns:a16="http://schemas.microsoft.com/office/drawing/2014/main" id="{D8D8676B-5FB3-4B75-9CB8-DDDF3FF89698}"/>
                    </a:ext>
                  </a:extLst>
                </p:cNvPr>
                <p:cNvCxnSpPr>
                  <a:cxnSpLocks/>
                </p:cNvCxnSpPr>
                <p:nvPr/>
              </p:nvCxnSpPr>
              <p:spPr>
                <a:xfrm flipH="1" flipV="1">
                  <a:off x="5763824" y="2936761"/>
                  <a:ext cx="161785" cy="22282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522EA171-6EA6-4A23-BF34-8FC94FA90C33}"/>
                  </a:ext>
                </a:extLst>
              </p:cNvPr>
              <p:cNvSpPr txBox="1"/>
              <p:nvPr/>
            </p:nvSpPr>
            <p:spPr>
              <a:xfrm>
                <a:off x="6040668" y="3826648"/>
                <a:ext cx="1489205" cy="516937"/>
              </a:xfrm>
              <a:prstGeom prst="rect">
                <a:avLst/>
              </a:prstGeom>
              <a:noFill/>
            </p:spPr>
            <p:txBody>
              <a:bodyPr wrap="square" rtlCol="0">
                <a:spAutoFit/>
              </a:bodyPr>
              <a:lstStyle/>
              <a:p>
                <a:pPr algn="ctr" defTabSz="831230">
                  <a:defRPr/>
                </a:pPr>
                <a:r>
                  <a:rPr lang="en-US" sz="886" b="1" dirty="0">
                    <a:solidFill>
                      <a:prstClr val="black"/>
                    </a:solidFill>
                    <a:latin typeface="Verdana"/>
                    <a:ea typeface="Verdana" panose="020B0604030504040204" pitchFamily="34" charset="0"/>
                    <a:cs typeface="Calibri" panose="020F0502020204030204" pitchFamily="34" charset="0"/>
                  </a:rPr>
                  <a:t>4. </a:t>
                </a:r>
                <a:r>
                  <a:rPr lang="en-US" sz="886" b="1" dirty="0">
                    <a:solidFill>
                      <a:prstClr val="black"/>
                    </a:solidFill>
                    <a:latin typeface="Verdana"/>
                    <a:ea typeface="Verdana" panose="020B0604030504040204" pitchFamily="34" charset="0"/>
                    <a:cs typeface="Verdana" panose="020B0604030504040204" pitchFamily="34" charset="0"/>
                  </a:rPr>
                  <a:t>Development of Roadmap  for each initiative  &amp; identification of KPI</a:t>
                </a:r>
                <a:endParaRPr lang="en-US" sz="886" b="1" dirty="0">
                  <a:solidFill>
                    <a:prstClr val="black"/>
                  </a:solidFill>
                  <a:latin typeface="Verdana"/>
                  <a:ea typeface="Verdana" panose="020B0604030504040204" pitchFamily="34" charset="0"/>
                  <a:cs typeface="Calibri" panose="020F0502020204030204" pitchFamily="34" charset="0"/>
                </a:endParaRPr>
              </a:p>
            </p:txBody>
          </p:sp>
          <p:sp>
            <p:nvSpPr>
              <p:cNvPr id="42" name="Freeform 259">
                <a:extLst>
                  <a:ext uri="{FF2B5EF4-FFF2-40B4-BE49-F238E27FC236}">
                    <a16:creationId xmlns:a16="http://schemas.microsoft.com/office/drawing/2014/main" id="{83C44DF2-08C1-4606-88F3-1037F50541AF}"/>
                  </a:ext>
                </a:extLst>
              </p:cNvPr>
              <p:cNvSpPr>
                <a:spLocks noChangeAspect="1" noEditPoints="1"/>
              </p:cNvSpPr>
              <p:nvPr/>
            </p:nvSpPr>
            <p:spPr bwMode="auto">
              <a:xfrm>
                <a:off x="6688197" y="4360838"/>
                <a:ext cx="566644" cy="423240"/>
              </a:xfrm>
              <a:custGeom>
                <a:avLst/>
                <a:gdLst>
                  <a:gd name="T0" fmla="*/ 174 w 512"/>
                  <a:gd name="T1" fmla="*/ 245 h 512"/>
                  <a:gd name="T2" fmla="*/ 373 w 512"/>
                  <a:gd name="T3" fmla="*/ 245 h 512"/>
                  <a:gd name="T4" fmla="*/ 373 w 512"/>
                  <a:gd name="T5" fmla="*/ 288 h 512"/>
                  <a:gd name="T6" fmla="*/ 174 w 512"/>
                  <a:gd name="T7" fmla="*/ 288 h 512"/>
                  <a:gd name="T8" fmla="*/ 145 w 512"/>
                  <a:gd name="T9" fmla="*/ 266 h 512"/>
                  <a:gd name="T10" fmla="*/ 174 w 512"/>
                  <a:gd name="T11" fmla="*/ 245 h 512"/>
                  <a:gd name="T12" fmla="*/ 366 w 512"/>
                  <a:gd name="T13" fmla="*/ 160 h 512"/>
                  <a:gd name="T14" fmla="*/ 337 w 512"/>
                  <a:gd name="T15" fmla="*/ 138 h 512"/>
                  <a:gd name="T16" fmla="*/ 138 w 512"/>
                  <a:gd name="T17" fmla="*/ 138 h 512"/>
                  <a:gd name="T18" fmla="*/ 138 w 512"/>
                  <a:gd name="T19" fmla="*/ 181 h 512"/>
                  <a:gd name="T20" fmla="*/ 337 w 512"/>
                  <a:gd name="T21" fmla="*/ 181 h 512"/>
                  <a:gd name="T22" fmla="*/ 366 w 512"/>
                  <a:gd name="T23" fmla="*/ 160 h 512"/>
                  <a:gd name="T24" fmla="*/ 512 w 512"/>
                  <a:gd name="T25" fmla="*/ 256 h 512"/>
                  <a:gd name="T26" fmla="*/ 256 w 512"/>
                  <a:gd name="T27" fmla="*/ 512 h 512"/>
                  <a:gd name="T28" fmla="*/ 0 w 512"/>
                  <a:gd name="T29" fmla="*/ 256 h 512"/>
                  <a:gd name="T30" fmla="*/ 256 w 512"/>
                  <a:gd name="T31" fmla="*/ 0 h 512"/>
                  <a:gd name="T32" fmla="*/ 512 w 512"/>
                  <a:gd name="T33" fmla="*/ 256 h 512"/>
                  <a:gd name="T34" fmla="*/ 266 w 512"/>
                  <a:gd name="T35" fmla="*/ 224 h 512"/>
                  <a:gd name="T36" fmla="*/ 266 w 512"/>
                  <a:gd name="T37" fmla="*/ 202 h 512"/>
                  <a:gd name="T38" fmla="*/ 341 w 512"/>
                  <a:gd name="T39" fmla="*/ 202 h 512"/>
                  <a:gd name="T40" fmla="*/ 347 w 512"/>
                  <a:gd name="T41" fmla="*/ 200 h 512"/>
                  <a:gd name="T42" fmla="*/ 390 w 512"/>
                  <a:gd name="T43" fmla="*/ 168 h 512"/>
                  <a:gd name="T44" fmla="*/ 394 w 512"/>
                  <a:gd name="T45" fmla="*/ 160 h 512"/>
                  <a:gd name="T46" fmla="*/ 390 w 512"/>
                  <a:gd name="T47" fmla="*/ 151 h 512"/>
                  <a:gd name="T48" fmla="*/ 347 w 512"/>
                  <a:gd name="T49" fmla="*/ 119 h 512"/>
                  <a:gd name="T50" fmla="*/ 341 w 512"/>
                  <a:gd name="T51" fmla="*/ 117 h 512"/>
                  <a:gd name="T52" fmla="*/ 266 w 512"/>
                  <a:gd name="T53" fmla="*/ 117 h 512"/>
                  <a:gd name="T54" fmla="*/ 266 w 512"/>
                  <a:gd name="T55" fmla="*/ 106 h 512"/>
                  <a:gd name="T56" fmla="*/ 256 w 512"/>
                  <a:gd name="T57" fmla="*/ 96 h 512"/>
                  <a:gd name="T58" fmla="*/ 245 w 512"/>
                  <a:gd name="T59" fmla="*/ 106 h 512"/>
                  <a:gd name="T60" fmla="*/ 245 w 512"/>
                  <a:gd name="T61" fmla="*/ 117 h 512"/>
                  <a:gd name="T62" fmla="*/ 128 w 512"/>
                  <a:gd name="T63" fmla="*/ 117 h 512"/>
                  <a:gd name="T64" fmla="*/ 117 w 512"/>
                  <a:gd name="T65" fmla="*/ 128 h 512"/>
                  <a:gd name="T66" fmla="*/ 117 w 512"/>
                  <a:gd name="T67" fmla="*/ 192 h 512"/>
                  <a:gd name="T68" fmla="*/ 128 w 512"/>
                  <a:gd name="T69" fmla="*/ 202 h 512"/>
                  <a:gd name="T70" fmla="*/ 245 w 512"/>
                  <a:gd name="T71" fmla="*/ 202 h 512"/>
                  <a:gd name="T72" fmla="*/ 245 w 512"/>
                  <a:gd name="T73" fmla="*/ 224 h 512"/>
                  <a:gd name="T74" fmla="*/ 170 w 512"/>
                  <a:gd name="T75" fmla="*/ 224 h 512"/>
                  <a:gd name="T76" fmla="*/ 164 w 512"/>
                  <a:gd name="T77" fmla="*/ 226 h 512"/>
                  <a:gd name="T78" fmla="*/ 121 w 512"/>
                  <a:gd name="T79" fmla="*/ 258 h 512"/>
                  <a:gd name="T80" fmla="*/ 117 w 512"/>
                  <a:gd name="T81" fmla="*/ 266 h 512"/>
                  <a:gd name="T82" fmla="*/ 121 w 512"/>
                  <a:gd name="T83" fmla="*/ 275 h 512"/>
                  <a:gd name="T84" fmla="*/ 164 w 512"/>
                  <a:gd name="T85" fmla="*/ 307 h 512"/>
                  <a:gd name="T86" fmla="*/ 170 w 512"/>
                  <a:gd name="T87" fmla="*/ 309 h 512"/>
                  <a:gd name="T88" fmla="*/ 245 w 512"/>
                  <a:gd name="T89" fmla="*/ 309 h 512"/>
                  <a:gd name="T90" fmla="*/ 245 w 512"/>
                  <a:gd name="T91" fmla="*/ 405 h 512"/>
                  <a:gd name="T92" fmla="*/ 256 w 512"/>
                  <a:gd name="T93" fmla="*/ 416 h 512"/>
                  <a:gd name="T94" fmla="*/ 266 w 512"/>
                  <a:gd name="T95" fmla="*/ 405 h 512"/>
                  <a:gd name="T96" fmla="*/ 266 w 512"/>
                  <a:gd name="T97" fmla="*/ 309 h 512"/>
                  <a:gd name="T98" fmla="*/ 384 w 512"/>
                  <a:gd name="T99" fmla="*/ 309 h 512"/>
                  <a:gd name="T100" fmla="*/ 394 w 512"/>
                  <a:gd name="T101" fmla="*/ 298 h 512"/>
                  <a:gd name="T102" fmla="*/ 394 w 512"/>
                  <a:gd name="T103" fmla="*/ 234 h 512"/>
                  <a:gd name="T104" fmla="*/ 384 w 512"/>
                  <a:gd name="T105" fmla="*/ 224 h 512"/>
                  <a:gd name="T106" fmla="*/ 266 w 512"/>
                  <a:gd name="T107" fmla="*/ 22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174" y="245"/>
                    </a:moveTo>
                    <a:cubicBezTo>
                      <a:pt x="373" y="245"/>
                      <a:pt x="373" y="245"/>
                      <a:pt x="373" y="245"/>
                    </a:cubicBezTo>
                    <a:cubicBezTo>
                      <a:pt x="373" y="288"/>
                      <a:pt x="373" y="288"/>
                      <a:pt x="373" y="288"/>
                    </a:cubicBezTo>
                    <a:cubicBezTo>
                      <a:pt x="174" y="288"/>
                      <a:pt x="174" y="288"/>
                      <a:pt x="174" y="288"/>
                    </a:cubicBezTo>
                    <a:cubicBezTo>
                      <a:pt x="145" y="266"/>
                      <a:pt x="145" y="266"/>
                      <a:pt x="145" y="266"/>
                    </a:cubicBezTo>
                    <a:lnTo>
                      <a:pt x="174" y="245"/>
                    </a:lnTo>
                    <a:close/>
                    <a:moveTo>
                      <a:pt x="366" y="160"/>
                    </a:moveTo>
                    <a:cubicBezTo>
                      <a:pt x="337" y="138"/>
                      <a:pt x="337" y="138"/>
                      <a:pt x="337" y="138"/>
                    </a:cubicBezTo>
                    <a:cubicBezTo>
                      <a:pt x="138" y="138"/>
                      <a:pt x="138" y="138"/>
                      <a:pt x="138" y="138"/>
                    </a:cubicBezTo>
                    <a:cubicBezTo>
                      <a:pt x="138" y="181"/>
                      <a:pt x="138" y="181"/>
                      <a:pt x="138" y="181"/>
                    </a:cubicBezTo>
                    <a:cubicBezTo>
                      <a:pt x="337" y="181"/>
                      <a:pt x="337" y="181"/>
                      <a:pt x="337" y="181"/>
                    </a:cubicBezTo>
                    <a:lnTo>
                      <a:pt x="366"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66" y="224"/>
                    </a:moveTo>
                    <a:cubicBezTo>
                      <a:pt x="266" y="202"/>
                      <a:pt x="266" y="202"/>
                      <a:pt x="266" y="202"/>
                    </a:cubicBezTo>
                    <a:cubicBezTo>
                      <a:pt x="341" y="202"/>
                      <a:pt x="341" y="202"/>
                      <a:pt x="341" y="202"/>
                    </a:cubicBezTo>
                    <a:cubicBezTo>
                      <a:pt x="343" y="202"/>
                      <a:pt x="346" y="202"/>
                      <a:pt x="347" y="200"/>
                    </a:cubicBezTo>
                    <a:cubicBezTo>
                      <a:pt x="390" y="168"/>
                      <a:pt x="390" y="168"/>
                      <a:pt x="390" y="168"/>
                    </a:cubicBezTo>
                    <a:cubicBezTo>
                      <a:pt x="393" y="166"/>
                      <a:pt x="394" y="163"/>
                      <a:pt x="394" y="160"/>
                    </a:cubicBezTo>
                    <a:cubicBezTo>
                      <a:pt x="394" y="156"/>
                      <a:pt x="393" y="153"/>
                      <a:pt x="390" y="151"/>
                    </a:cubicBezTo>
                    <a:cubicBezTo>
                      <a:pt x="347" y="119"/>
                      <a:pt x="347" y="119"/>
                      <a:pt x="347" y="119"/>
                    </a:cubicBezTo>
                    <a:cubicBezTo>
                      <a:pt x="346" y="118"/>
                      <a:pt x="343" y="117"/>
                      <a:pt x="341" y="117"/>
                    </a:cubicBezTo>
                    <a:cubicBezTo>
                      <a:pt x="266" y="117"/>
                      <a:pt x="266" y="117"/>
                      <a:pt x="266" y="117"/>
                    </a:cubicBezTo>
                    <a:cubicBezTo>
                      <a:pt x="266" y="106"/>
                      <a:pt x="266" y="106"/>
                      <a:pt x="266" y="106"/>
                    </a:cubicBezTo>
                    <a:cubicBezTo>
                      <a:pt x="266" y="100"/>
                      <a:pt x="262" y="96"/>
                      <a:pt x="256" y="96"/>
                    </a:cubicBezTo>
                    <a:cubicBezTo>
                      <a:pt x="250" y="96"/>
                      <a:pt x="245" y="100"/>
                      <a:pt x="245" y="106"/>
                    </a:cubicBezTo>
                    <a:cubicBezTo>
                      <a:pt x="245" y="117"/>
                      <a:pt x="245" y="117"/>
                      <a:pt x="245" y="117"/>
                    </a:cubicBezTo>
                    <a:cubicBezTo>
                      <a:pt x="128" y="117"/>
                      <a:pt x="128" y="117"/>
                      <a:pt x="128" y="117"/>
                    </a:cubicBezTo>
                    <a:cubicBezTo>
                      <a:pt x="122" y="117"/>
                      <a:pt x="117" y="122"/>
                      <a:pt x="117" y="128"/>
                    </a:cubicBezTo>
                    <a:cubicBezTo>
                      <a:pt x="117" y="192"/>
                      <a:pt x="117" y="192"/>
                      <a:pt x="117" y="192"/>
                    </a:cubicBezTo>
                    <a:cubicBezTo>
                      <a:pt x="117" y="198"/>
                      <a:pt x="122" y="202"/>
                      <a:pt x="128" y="202"/>
                    </a:cubicBezTo>
                    <a:cubicBezTo>
                      <a:pt x="245" y="202"/>
                      <a:pt x="245" y="202"/>
                      <a:pt x="245" y="202"/>
                    </a:cubicBezTo>
                    <a:cubicBezTo>
                      <a:pt x="245" y="224"/>
                      <a:pt x="245" y="224"/>
                      <a:pt x="245" y="224"/>
                    </a:cubicBezTo>
                    <a:cubicBezTo>
                      <a:pt x="170" y="224"/>
                      <a:pt x="170" y="224"/>
                      <a:pt x="170" y="224"/>
                    </a:cubicBezTo>
                    <a:cubicBezTo>
                      <a:pt x="168" y="224"/>
                      <a:pt x="166" y="224"/>
                      <a:pt x="164" y="226"/>
                    </a:cubicBezTo>
                    <a:cubicBezTo>
                      <a:pt x="121" y="258"/>
                      <a:pt x="121" y="258"/>
                      <a:pt x="121" y="258"/>
                    </a:cubicBezTo>
                    <a:cubicBezTo>
                      <a:pt x="119" y="260"/>
                      <a:pt x="117" y="263"/>
                      <a:pt x="117" y="266"/>
                    </a:cubicBezTo>
                    <a:cubicBezTo>
                      <a:pt x="117" y="270"/>
                      <a:pt x="119" y="273"/>
                      <a:pt x="121" y="275"/>
                    </a:cubicBezTo>
                    <a:cubicBezTo>
                      <a:pt x="164" y="307"/>
                      <a:pt x="164" y="307"/>
                      <a:pt x="164" y="307"/>
                    </a:cubicBezTo>
                    <a:cubicBezTo>
                      <a:pt x="166" y="308"/>
                      <a:pt x="168" y="309"/>
                      <a:pt x="170" y="309"/>
                    </a:cubicBezTo>
                    <a:cubicBezTo>
                      <a:pt x="245" y="309"/>
                      <a:pt x="245" y="309"/>
                      <a:pt x="245" y="309"/>
                    </a:cubicBezTo>
                    <a:cubicBezTo>
                      <a:pt x="245" y="405"/>
                      <a:pt x="245" y="405"/>
                      <a:pt x="245" y="405"/>
                    </a:cubicBezTo>
                    <a:cubicBezTo>
                      <a:pt x="245" y="411"/>
                      <a:pt x="250" y="416"/>
                      <a:pt x="256" y="416"/>
                    </a:cubicBezTo>
                    <a:cubicBezTo>
                      <a:pt x="262" y="416"/>
                      <a:pt x="266" y="411"/>
                      <a:pt x="266" y="405"/>
                    </a:cubicBezTo>
                    <a:cubicBezTo>
                      <a:pt x="266" y="309"/>
                      <a:pt x="266" y="309"/>
                      <a:pt x="266" y="309"/>
                    </a:cubicBezTo>
                    <a:cubicBezTo>
                      <a:pt x="384" y="309"/>
                      <a:pt x="384" y="309"/>
                      <a:pt x="384" y="309"/>
                    </a:cubicBezTo>
                    <a:cubicBezTo>
                      <a:pt x="390" y="309"/>
                      <a:pt x="394" y="304"/>
                      <a:pt x="394" y="298"/>
                    </a:cubicBezTo>
                    <a:cubicBezTo>
                      <a:pt x="394" y="234"/>
                      <a:pt x="394" y="234"/>
                      <a:pt x="394" y="234"/>
                    </a:cubicBezTo>
                    <a:cubicBezTo>
                      <a:pt x="394" y="228"/>
                      <a:pt x="390" y="224"/>
                      <a:pt x="384" y="224"/>
                    </a:cubicBezTo>
                    <a:lnTo>
                      <a:pt x="266" y="224"/>
                    </a:lnTo>
                    <a:close/>
                  </a:path>
                </a:pathLst>
              </a:custGeom>
              <a:solidFill>
                <a:schemeClr val="accent4"/>
              </a:solidFill>
              <a:ln>
                <a:noFill/>
              </a:ln>
            </p:spPr>
            <p:txBody>
              <a:bodyPr vert="horz" wrap="square" lIns="62345" tIns="31173" rIns="62345" bIns="31173" numCol="1" anchor="t" anchorCtr="0" compatLnSpc="1">
                <a:prstTxWarp prst="textNoShape">
                  <a:avLst/>
                </a:prstTxWarp>
              </a:bodyPr>
              <a:lstStyle/>
              <a:p>
                <a:pPr defTabSz="831230">
                  <a:defRPr/>
                </a:pPr>
                <a:endParaRPr lang="en-GB" sz="750" dirty="0">
                  <a:solidFill>
                    <a:prstClr val="black"/>
                  </a:solidFill>
                  <a:latin typeface="Calibri Light"/>
                </a:endParaRPr>
              </a:p>
            </p:txBody>
          </p:sp>
          <p:sp>
            <p:nvSpPr>
              <p:cNvPr id="43" name="Freeform 6">
                <a:extLst>
                  <a:ext uri="{FF2B5EF4-FFF2-40B4-BE49-F238E27FC236}">
                    <a16:creationId xmlns:a16="http://schemas.microsoft.com/office/drawing/2014/main" id="{EF6814CD-F5F2-4862-956C-D99F966925B6}"/>
                  </a:ext>
                </a:extLst>
              </p:cNvPr>
              <p:cNvSpPr>
                <a:spLocks noChangeAspect="1" noEditPoints="1"/>
              </p:cNvSpPr>
              <p:nvPr/>
            </p:nvSpPr>
            <p:spPr bwMode="auto">
              <a:xfrm>
                <a:off x="7314494" y="5129514"/>
                <a:ext cx="174857" cy="279333"/>
              </a:xfrm>
              <a:custGeom>
                <a:avLst/>
                <a:gdLst>
                  <a:gd name="T0" fmla="*/ 37 w 74"/>
                  <a:gd name="T1" fmla="*/ 0 h 118"/>
                  <a:gd name="T2" fmla="*/ 0 w 74"/>
                  <a:gd name="T3" fmla="*/ 37 h 118"/>
                  <a:gd name="T4" fmla="*/ 37 w 74"/>
                  <a:gd name="T5" fmla="*/ 118 h 118"/>
                  <a:gd name="T6" fmla="*/ 74 w 74"/>
                  <a:gd name="T7" fmla="*/ 37 h 118"/>
                  <a:gd name="T8" fmla="*/ 37 w 74"/>
                  <a:gd name="T9" fmla="*/ 0 h 118"/>
                  <a:gd name="T10" fmla="*/ 37 w 74"/>
                  <a:gd name="T11" fmla="*/ 57 h 118"/>
                  <a:gd name="T12" fmla="*/ 17 w 74"/>
                  <a:gd name="T13" fmla="*/ 37 h 118"/>
                  <a:gd name="T14" fmla="*/ 37 w 74"/>
                  <a:gd name="T15" fmla="*/ 17 h 118"/>
                  <a:gd name="T16" fmla="*/ 57 w 74"/>
                  <a:gd name="T17" fmla="*/ 37 h 118"/>
                  <a:gd name="T18" fmla="*/ 37 w 74"/>
                  <a:gd name="T19" fmla="*/ 5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18">
                    <a:moveTo>
                      <a:pt x="37" y="0"/>
                    </a:moveTo>
                    <a:cubicBezTo>
                      <a:pt x="16" y="0"/>
                      <a:pt x="0" y="16"/>
                      <a:pt x="0" y="37"/>
                    </a:cubicBezTo>
                    <a:cubicBezTo>
                      <a:pt x="0" y="72"/>
                      <a:pt x="37" y="118"/>
                      <a:pt x="37" y="118"/>
                    </a:cubicBezTo>
                    <a:cubicBezTo>
                      <a:pt x="37" y="118"/>
                      <a:pt x="74" y="72"/>
                      <a:pt x="74" y="37"/>
                    </a:cubicBezTo>
                    <a:cubicBezTo>
                      <a:pt x="74" y="16"/>
                      <a:pt x="57" y="0"/>
                      <a:pt x="37" y="0"/>
                    </a:cubicBezTo>
                    <a:close/>
                    <a:moveTo>
                      <a:pt x="37" y="57"/>
                    </a:moveTo>
                    <a:cubicBezTo>
                      <a:pt x="26" y="57"/>
                      <a:pt x="17" y="48"/>
                      <a:pt x="17" y="37"/>
                    </a:cubicBezTo>
                    <a:cubicBezTo>
                      <a:pt x="17" y="26"/>
                      <a:pt x="26" y="17"/>
                      <a:pt x="37" y="17"/>
                    </a:cubicBezTo>
                    <a:cubicBezTo>
                      <a:pt x="48" y="17"/>
                      <a:pt x="57" y="26"/>
                      <a:pt x="57" y="37"/>
                    </a:cubicBezTo>
                    <a:cubicBezTo>
                      <a:pt x="57" y="48"/>
                      <a:pt x="48" y="57"/>
                      <a:pt x="37" y="57"/>
                    </a:cubicBezTo>
                    <a:close/>
                  </a:path>
                </a:pathLst>
              </a:custGeom>
              <a:solidFill>
                <a:schemeClr val="accent4"/>
              </a:solidFill>
              <a:ln>
                <a:noFill/>
              </a:ln>
            </p:spPr>
            <p:txBody>
              <a:bodyPr vert="horz" wrap="square" lIns="62345" tIns="31173" rIns="62345" bIns="31173" numCol="1" anchor="t" anchorCtr="0" compatLnSpc="1">
                <a:prstTxWarp prst="textNoShape">
                  <a:avLst/>
                </a:prstTxWarp>
              </a:bodyPr>
              <a:lstStyle/>
              <a:p>
                <a:pPr defTabSz="831230">
                  <a:defRPr/>
                </a:pPr>
                <a:endParaRPr lang="en-US" sz="750" dirty="0">
                  <a:solidFill>
                    <a:prstClr val="black"/>
                  </a:solidFill>
                  <a:latin typeface="Calibri Light"/>
                </a:endParaRPr>
              </a:p>
            </p:txBody>
          </p:sp>
          <p:cxnSp>
            <p:nvCxnSpPr>
              <p:cNvPr id="44" name="Straight Arrow Connector 43">
                <a:extLst>
                  <a:ext uri="{FF2B5EF4-FFF2-40B4-BE49-F238E27FC236}">
                    <a16:creationId xmlns:a16="http://schemas.microsoft.com/office/drawing/2014/main" id="{14B44E85-60B1-452C-A5EB-91950FE10933}"/>
                  </a:ext>
                </a:extLst>
              </p:cNvPr>
              <p:cNvCxnSpPr>
                <a:cxnSpLocks/>
              </p:cNvCxnSpPr>
              <p:nvPr/>
            </p:nvCxnSpPr>
            <p:spPr>
              <a:xfrm flipH="1" flipV="1">
                <a:off x="7205398" y="4803864"/>
                <a:ext cx="161828" cy="25129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B523A2A8-CB04-4954-A5FA-4EFB9B98B090}"/>
                  </a:ext>
                </a:extLst>
              </p:cNvPr>
              <p:cNvSpPr txBox="1"/>
              <p:nvPr/>
            </p:nvSpPr>
            <p:spPr>
              <a:xfrm>
                <a:off x="8909642" y="4131918"/>
                <a:ext cx="1826738" cy="185378"/>
              </a:xfrm>
              <a:prstGeom prst="rect">
                <a:avLst/>
              </a:prstGeom>
              <a:noFill/>
            </p:spPr>
            <p:txBody>
              <a:bodyPr wrap="square" rtlCol="0">
                <a:spAutoFit/>
              </a:bodyPr>
              <a:lstStyle/>
              <a:p>
                <a:pPr defTabSz="831230">
                  <a:defRPr/>
                </a:pPr>
                <a:r>
                  <a:rPr lang="en-US" sz="886" b="1" dirty="0">
                    <a:solidFill>
                      <a:prstClr val="black"/>
                    </a:solidFill>
                    <a:latin typeface="Verdana"/>
                    <a:ea typeface="Verdana" panose="020B0604030504040204" pitchFamily="34" charset="0"/>
                    <a:cs typeface="Calibri" panose="020F0502020204030204" pitchFamily="34" charset="0"/>
                  </a:rPr>
                  <a:t>5. </a:t>
                </a:r>
                <a:r>
                  <a:rPr lang="en-US" sz="886" b="1" dirty="0">
                    <a:solidFill>
                      <a:prstClr val="black"/>
                    </a:solidFill>
                    <a:latin typeface="Verdana"/>
                    <a:ea typeface="Verdana" panose="020B0604030504040204" pitchFamily="34" charset="0"/>
                    <a:cs typeface="Verdana" panose="020B0604030504040204" pitchFamily="34" charset="0"/>
                  </a:rPr>
                  <a:t>DETAILED ACTION PLAN</a:t>
                </a:r>
                <a:endParaRPr lang="en-US" sz="886" b="1" dirty="0">
                  <a:solidFill>
                    <a:prstClr val="black"/>
                  </a:solidFill>
                  <a:latin typeface="Verdana"/>
                  <a:ea typeface="Verdana" panose="020B0604030504040204" pitchFamily="34" charset="0"/>
                  <a:cs typeface="Calibri" panose="020F0502020204030204" pitchFamily="34" charset="0"/>
                </a:endParaRPr>
              </a:p>
            </p:txBody>
          </p:sp>
          <p:grpSp>
            <p:nvGrpSpPr>
              <p:cNvPr id="46" name="Group 45">
                <a:extLst>
                  <a:ext uri="{FF2B5EF4-FFF2-40B4-BE49-F238E27FC236}">
                    <a16:creationId xmlns:a16="http://schemas.microsoft.com/office/drawing/2014/main" id="{0E7798F4-132A-4420-ACB3-BBF992DF8D3A}"/>
                  </a:ext>
                </a:extLst>
              </p:cNvPr>
              <p:cNvGrpSpPr>
                <a:grpSpLocks noChangeAspect="1"/>
              </p:cNvGrpSpPr>
              <p:nvPr/>
            </p:nvGrpSpPr>
            <p:grpSpPr bwMode="auto">
              <a:xfrm>
                <a:off x="8984680" y="3412806"/>
                <a:ext cx="707583" cy="1433351"/>
                <a:chOff x="455" y="3146"/>
                <a:chExt cx="509" cy="999"/>
              </a:xfrm>
              <a:solidFill>
                <a:schemeClr val="accent3"/>
              </a:solidFill>
            </p:grpSpPr>
            <p:sp>
              <p:nvSpPr>
                <p:cNvPr id="77" name="Oval 899">
                  <a:extLst>
                    <a:ext uri="{FF2B5EF4-FFF2-40B4-BE49-F238E27FC236}">
                      <a16:creationId xmlns:a16="http://schemas.microsoft.com/office/drawing/2014/main" id="{717B9E69-B60D-44C7-BAC0-B18FDE9F3CCA}"/>
                    </a:ext>
                  </a:extLst>
                </p:cNvPr>
                <p:cNvSpPr>
                  <a:spLocks noChangeArrowheads="1"/>
                </p:cNvSpPr>
                <p:nvPr/>
              </p:nvSpPr>
              <p:spPr bwMode="auto">
                <a:xfrm>
                  <a:off x="950" y="3146"/>
                  <a:ext cx="14" cy="14"/>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1230">
                    <a:defRPr/>
                  </a:pPr>
                  <a:endParaRPr lang="en-GB" sz="750" dirty="0">
                    <a:solidFill>
                      <a:prstClr val="black"/>
                    </a:solidFill>
                    <a:latin typeface="Calibri Light"/>
                  </a:endParaRPr>
                </a:p>
              </p:txBody>
            </p:sp>
            <p:sp>
              <p:nvSpPr>
                <p:cNvPr id="78" name="Freeform 900">
                  <a:extLst>
                    <a:ext uri="{FF2B5EF4-FFF2-40B4-BE49-F238E27FC236}">
                      <a16:creationId xmlns:a16="http://schemas.microsoft.com/office/drawing/2014/main" id="{E37E91F8-8CB8-4385-AC5C-286D50590E7C}"/>
                    </a:ext>
                  </a:extLst>
                </p:cNvPr>
                <p:cNvSpPr>
                  <a:spLocks noEditPoints="1"/>
                </p:cNvSpPr>
                <p:nvPr/>
              </p:nvSpPr>
              <p:spPr bwMode="auto">
                <a:xfrm>
                  <a:off x="455" y="3845"/>
                  <a:ext cx="408" cy="30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96 h 512"/>
                    <a:gd name="T12" fmla="*/ 288 w 512"/>
                    <a:gd name="T13" fmla="*/ 128 h 512"/>
                    <a:gd name="T14" fmla="*/ 256 w 512"/>
                    <a:gd name="T15" fmla="*/ 160 h 512"/>
                    <a:gd name="T16" fmla="*/ 224 w 512"/>
                    <a:gd name="T17" fmla="*/ 128 h 512"/>
                    <a:gd name="T18" fmla="*/ 256 w 512"/>
                    <a:gd name="T19" fmla="*/ 96 h 512"/>
                    <a:gd name="T20" fmla="*/ 254 w 512"/>
                    <a:gd name="T21" fmla="*/ 337 h 512"/>
                    <a:gd name="T22" fmla="*/ 200 w 512"/>
                    <a:gd name="T23" fmla="*/ 411 h 512"/>
                    <a:gd name="T24" fmla="*/ 192 w 512"/>
                    <a:gd name="T25" fmla="*/ 416 h 512"/>
                    <a:gd name="T26" fmla="*/ 185 w 512"/>
                    <a:gd name="T27" fmla="*/ 414 h 512"/>
                    <a:gd name="T28" fmla="*/ 183 w 512"/>
                    <a:gd name="T29" fmla="*/ 399 h 512"/>
                    <a:gd name="T30" fmla="*/ 236 w 512"/>
                    <a:gd name="T31" fmla="*/ 324 h 512"/>
                    <a:gd name="T32" fmla="*/ 251 w 512"/>
                    <a:gd name="T33" fmla="*/ 322 h 512"/>
                    <a:gd name="T34" fmla="*/ 254 w 512"/>
                    <a:gd name="T35" fmla="*/ 337 h 512"/>
                    <a:gd name="T36" fmla="*/ 311 w 512"/>
                    <a:gd name="T37" fmla="*/ 416 h 512"/>
                    <a:gd name="T38" fmla="*/ 309 w 512"/>
                    <a:gd name="T39" fmla="*/ 416 h 512"/>
                    <a:gd name="T40" fmla="*/ 298 w 512"/>
                    <a:gd name="T41" fmla="*/ 407 h 512"/>
                    <a:gd name="T42" fmla="*/ 288 w 512"/>
                    <a:gd name="T43" fmla="*/ 335 h 512"/>
                    <a:gd name="T44" fmla="*/ 247 w 512"/>
                    <a:gd name="T45" fmla="*/ 284 h 512"/>
                    <a:gd name="T46" fmla="*/ 245 w 512"/>
                    <a:gd name="T47" fmla="*/ 277 h 512"/>
                    <a:gd name="T48" fmla="*/ 245 w 512"/>
                    <a:gd name="T49" fmla="*/ 202 h 512"/>
                    <a:gd name="T50" fmla="*/ 224 w 512"/>
                    <a:gd name="T51" fmla="*/ 218 h 512"/>
                    <a:gd name="T52" fmla="*/ 224 w 512"/>
                    <a:gd name="T53" fmla="*/ 288 h 512"/>
                    <a:gd name="T54" fmla="*/ 213 w 512"/>
                    <a:gd name="T55" fmla="*/ 298 h 512"/>
                    <a:gd name="T56" fmla="*/ 202 w 512"/>
                    <a:gd name="T57" fmla="*/ 288 h 512"/>
                    <a:gd name="T58" fmla="*/ 202 w 512"/>
                    <a:gd name="T59" fmla="*/ 213 h 512"/>
                    <a:gd name="T60" fmla="*/ 207 w 512"/>
                    <a:gd name="T61" fmla="*/ 204 h 512"/>
                    <a:gd name="T62" fmla="*/ 249 w 512"/>
                    <a:gd name="T63" fmla="*/ 172 h 512"/>
                    <a:gd name="T64" fmla="*/ 260 w 512"/>
                    <a:gd name="T65" fmla="*/ 171 h 512"/>
                    <a:gd name="T66" fmla="*/ 266 w 512"/>
                    <a:gd name="T67" fmla="*/ 181 h 512"/>
                    <a:gd name="T68" fmla="*/ 266 w 512"/>
                    <a:gd name="T69" fmla="*/ 273 h 512"/>
                    <a:gd name="T70" fmla="*/ 307 w 512"/>
                    <a:gd name="T71" fmla="*/ 324 h 512"/>
                    <a:gd name="T72" fmla="*/ 309 w 512"/>
                    <a:gd name="T73" fmla="*/ 329 h 512"/>
                    <a:gd name="T74" fmla="*/ 320 w 512"/>
                    <a:gd name="T75" fmla="*/ 403 h 512"/>
                    <a:gd name="T76" fmla="*/ 311 w 512"/>
                    <a:gd name="T77" fmla="*/ 416 h 512"/>
                    <a:gd name="T78" fmla="*/ 317 w 512"/>
                    <a:gd name="T79" fmla="*/ 274 h 512"/>
                    <a:gd name="T80" fmla="*/ 309 w 512"/>
                    <a:gd name="T81" fmla="*/ 277 h 512"/>
                    <a:gd name="T82" fmla="*/ 301 w 512"/>
                    <a:gd name="T83" fmla="*/ 274 h 512"/>
                    <a:gd name="T84" fmla="*/ 291 w 512"/>
                    <a:gd name="T85" fmla="*/ 263 h 512"/>
                    <a:gd name="T86" fmla="*/ 291 w 512"/>
                    <a:gd name="T87" fmla="*/ 248 h 512"/>
                    <a:gd name="T88" fmla="*/ 306 w 512"/>
                    <a:gd name="T89" fmla="*/ 248 h 512"/>
                    <a:gd name="T90" fmla="*/ 317 w 512"/>
                    <a:gd name="T91" fmla="*/ 259 h 512"/>
                    <a:gd name="T92" fmla="*/ 317 w 512"/>
                    <a:gd name="T93" fmla="*/ 27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96"/>
                      </a:moveTo>
                      <a:cubicBezTo>
                        <a:pt x="273" y="96"/>
                        <a:pt x="288" y="110"/>
                        <a:pt x="288" y="128"/>
                      </a:cubicBezTo>
                      <a:cubicBezTo>
                        <a:pt x="288" y="145"/>
                        <a:pt x="273" y="160"/>
                        <a:pt x="256" y="160"/>
                      </a:cubicBezTo>
                      <a:cubicBezTo>
                        <a:pt x="238" y="160"/>
                        <a:pt x="224" y="145"/>
                        <a:pt x="224" y="128"/>
                      </a:cubicBezTo>
                      <a:cubicBezTo>
                        <a:pt x="224" y="110"/>
                        <a:pt x="238" y="96"/>
                        <a:pt x="256" y="96"/>
                      </a:cubicBezTo>
                      <a:close/>
                      <a:moveTo>
                        <a:pt x="254" y="337"/>
                      </a:moveTo>
                      <a:cubicBezTo>
                        <a:pt x="200" y="411"/>
                        <a:pt x="200" y="411"/>
                        <a:pt x="200" y="411"/>
                      </a:cubicBezTo>
                      <a:cubicBezTo>
                        <a:pt x="198" y="414"/>
                        <a:pt x="195" y="416"/>
                        <a:pt x="192" y="416"/>
                      </a:cubicBezTo>
                      <a:cubicBezTo>
                        <a:pt x="190" y="416"/>
                        <a:pt x="187" y="415"/>
                        <a:pt x="185" y="414"/>
                      </a:cubicBezTo>
                      <a:cubicBezTo>
                        <a:pt x="181" y="410"/>
                        <a:pt x="180" y="404"/>
                        <a:pt x="183" y="399"/>
                      </a:cubicBezTo>
                      <a:cubicBezTo>
                        <a:pt x="236" y="324"/>
                        <a:pt x="236" y="324"/>
                        <a:pt x="236" y="324"/>
                      </a:cubicBezTo>
                      <a:cubicBezTo>
                        <a:pt x="240" y="319"/>
                        <a:pt x="246" y="318"/>
                        <a:pt x="251" y="322"/>
                      </a:cubicBezTo>
                      <a:cubicBezTo>
                        <a:pt x="256" y="325"/>
                        <a:pt x="257" y="332"/>
                        <a:pt x="254" y="337"/>
                      </a:cubicBezTo>
                      <a:close/>
                      <a:moveTo>
                        <a:pt x="311" y="416"/>
                      </a:moveTo>
                      <a:cubicBezTo>
                        <a:pt x="310" y="416"/>
                        <a:pt x="309" y="416"/>
                        <a:pt x="309" y="416"/>
                      </a:cubicBezTo>
                      <a:cubicBezTo>
                        <a:pt x="304" y="416"/>
                        <a:pt x="299" y="412"/>
                        <a:pt x="298" y="407"/>
                      </a:cubicBezTo>
                      <a:cubicBezTo>
                        <a:pt x="288" y="335"/>
                        <a:pt x="288" y="335"/>
                        <a:pt x="288" y="335"/>
                      </a:cubicBezTo>
                      <a:cubicBezTo>
                        <a:pt x="247" y="284"/>
                        <a:pt x="247" y="284"/>
                        <a:pt x="247" y="284"/>
                      </a:cubicBezTo>
                      <a:cubicBezTo>
                        <a:pt x="246" y="282"/>
                        <a:pt x="245" y="279"/>
                        <a:pt x="245" y="277"/>
                      </a:cubicBezTo>
                      <a:cubicBezTo>
                        <a:pt x="245" y="202"/>
                        <a:pt x="245" y="202"/>
                        <a:pt x="245" y="202"/>
                      </a:cubicBezTo>
                      <a:cubicBezTo>
                        <a:pt x="224" y="218"/>
                        <a:pt x="224" y="218"/>
                        <a:pt x="224" y="218"/>
                      </a:cubicBezTo>
                      <a:cubicBezTo>
                        <a:pt x="224" y="288"/>
                        <a:pt x="224" y="288"/>
                        <a:pt x="224" y="288"/>
                      </a:cubicBezTo>
                      <a:cubicBezTo>
                        <a:pt x="224" y="294"/>
                        <a:pt x="219" y="298"/>
                        <a:pt x="213" y="298"/>
                      </a:cubicBezTo>
                      <a:cubicBezTo>
                        <a:pt x="207" y="298"/>
                        <a:pt x="202" y="294"/>
                        <a:pt x="202" y="288"/>
                      </a:cubicBezTo>
                      <a:cubicBezTo>
                        <a:pt x="202" y="213"/>
                        <a:pt x="202" y="213"/>
                        <a:pt x="202" y="213"/>
                      </a:cubicBezTo>
                      <a:cubicBezTo>
                        <a:pt x="202" y="210"/>
                        <a:pt x="204" y="206"/>
                        <a:pt x="207" y="204"/>
                      </a:cubicBezTo>
                      <a:cubicBezTo>
                        <a:pt x="249" y="172"/>
                        <a:pt x="249" y="172"/>
                        <a:pt x="249" y="172"/>
                      </a:cubicBezTo>
                      <a:cubicBezTo>
                        <a:pt x="253" y="170"/>
                        <a:pt x="257" y="170"/>
                        <a:pt x="260" y="171"/>
                      </a:cubicBezTo>
                      <a:cubicBezTo>
                        <a:pt x="264" y="173"/>
                        <a:pt x="266" y="177"/>
                        <a:pt x="266" y="181"/>
                      </a:cubicBezTo>
                      <a:cubicBezTo>
                        <a:pt x="266" y="273"/>
                        <a:pt x="266" y="273"/>
                        <a:pt x="266" y="273"/>
                      </a:cubicBezTo>
                      <a:cubicBezTo>
                        <a:pt x="307" y="324"/>
                        <a:pt x="307" y="324"/>
                        <a:pt x="307" y="324"/>
                      </a:cubicBezTo>
                      <a:cubicBezTo>
                        <a:pt x="308" y="325"/>
                        <a:pt x="309" y="327"/>
                        <a:pt x="309" y="329"/>
                      </a:cubicBezTo>
                      <a:cubicBezTo>
                        <a:pt x="320" y="403"/>
                        <a:pt x="320" y="403"/>
                        <a:pt x="320" y="403"/>
                      </a:cubicBezTo>
                      <a:cubicBezTo>
                        <a:pt x="320" y="409"/>
                        <a:pt x="316" y="415"/>
                        <a:pt x="311" y="416"/>
                      </a:cubicBezTo>
                      <a:close/>
                      <a:moveTo>
                        <a:pt x="317" y="274"/>
                      </a:moveTo>
                      <a:cubicBezTo>
                        <a:pt x="314" y="276"/>
                        <a:pt x="312" y="277"/>
                        <a:pt x="309" y="277"/>
                      </a:cubicBezTo>
                      <a:cubicBezTo>
                        <a:pt x="306" y="277"/>
                        <a:pt x="304" y="276"/>
                        <a:pt x="301" y="274"/>
                      </a:cubicBezTo>
                      <a:cubicBezTo>
                        <a:pt x="291" y="263"/>
                        <a:pt x="291" y="263"/>
                        <a:pt x="291" y="263"/>
                      </a:cubicBezTo>
                      <a:cubicBezTo>
                        <a:pt x="287" y="259"/>
                        <a:pt x="287" y="252"/>
                        <a:pt x="291" y="248"/>
                      </a:cubicBezTo>
                      <a:cubicBezTo>
                        <a:pt x="295" y="244"/>
                        <a:pt x="302" y="244"/>
                        <a:pt x="306" y="248"/>
                      </a:cubicBezTo>
                      <a:cubicBezTo>
                        <a:pt x="317" y="259"/>
                        <a:pt x="317" y="259"/>
                        <a:pt x="317" y="259"/>
                      </a:cubicBezTo>
                      <a:cubicBezTo>
                        <a:pt x="321" y="263"/>
                        <a:pt x="321" y="270"/>
                        <a:pt x="317" y="27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1230">
                    <a:defRPr/>
                  </a:pPr>
                  <a:endParaRPr lang="en-GB" sz="750" dirty="0">
                    <a:solidFill>
                      <a:prstClr val="black"/>
                    </a:solidFill>
                    <a:latin typeface="Calibri Light"/>
                  </a:endParaRPr>
                </a:p>
              </p:txBody>
            </p:sp>
          </p:grpSp>
          <p:sp>
            <p:nvSpPr>
              <p:cNvPr id="47" name="Freeform 38">
                <a:extLst>
                  <a:ext uri="{FF2B5EF4-FFF2-40B4-BE49-F238E27FC236}">
                    <a16:creationId xmlns:a16="http://schemas.microsoft.com/office/drawing/2014/main" id="{055DB24B-3F73-4FE5-97AD-A32A3AE8AFEF}"/>
                  </a:ext>
                </a:extLst>
              </p:cNvPr>
              <p:cNvSpPr>
                <a:spLocks noChangeAspect="1" noEditPoints="1"/>
              </p:cNvSpPr>
              <p:nvPr/>
            </p:nvSpPr>
            <p:spPr bwMode="auto">
              <a:xfrm>
                <a:off x="9582044" y="5117247"/>
                <a:ext cx="181444" cy="279333"/>
              </a:xfrm>
              <a:custGeom>
                <a:avLst/>
                <a:gdLst>
                  <a:gd name="T0" fmla="*/ 37 w 74"/>
                  <a:gd name="T1" fmla="*/ 0 h 118"/>
                  <a:gd name="T2" fmla="*/ 0 w 74"/>
                  <a:gd name="T3" fmla="*/ 37 h 118"/>
                  <a:gd name="T4" fmla="*/ 37 w 74"/>
                  <a:gd name="T5" fmla="*/ 118 h 118"/>
                  <a:gd name="T6" fmla="*/ 74 w 74"/>
                  <a:gd name="T7" fmla="*/ 37 h 118"/>
                  <a:gd name="T8" fmla="*/ 37 w 74"/>
                  <a:gd name="T9" fmla="*/ 0 h 118"/>
                  <a:gd name="T10" fmla="*/ 37 w 74"/>
                  <a:gd name="T11" fmla="*/ 57 h 118"/>
                  <a:gd name="T12" fmla="*/ 17 w 74"/>
                  <a:gd name="T13" fmla="*/ 37 h 118"/>
                  <a:gd name="T14" fmla="*/ 37 w 74"/>
                  <a:gd name="T15" fmla="*/ 17 h 118"/>
                  <a:gd name="T16" fmla="*/ 57 w 74"/>
                  <a:gd name="T17" fmla="*/ 37 h 118"/>
                  <a:gd name="T18" fmla="*/ 37 w 74"/>
                  <a:gd name="T19" fmla="*/ 5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18">
                    <a:moveTo>
                      <a:pt x="37" y="0"/>
                    </a:moveTo>
                    <a:cubicBezTo>
                      <a:pt x="16" y="0"/>
                      <a:pt x="0" y="16"/>
                      <a:pt x="0" y="37"/>
                    </a:cubicBezTo>
                    <a:cubicBezTo>
                      <a:pt x="0" y="72"/>
                      <a:pt x="37" y="118"/>
                      <a:pt x="37" y="118"/>
                    </a:cubicBezTo>
                    <a:cubicBezTo>
                      <a:pt x="37" y="118"/>
                      <a:pt x="74" y="72"/>
                      <a:pt x="74" y="37"/>
                    </a:cubicBezTo>
                    <a:cubicBezTo>
                      <a:pt x="74" y="16"/>
                      <a:pt x="57" y="0"/>
                      <a:pt x="37" y="0"/>
                    </a:cubicBezTo>
                    <a:close/>
                    <a:moveTo>
                      <a:pt x="37" y="57"/>
                    </a:moveTo>
                    <a:cubicBezTo>
                      <a:pt x="26" y="57"/>
                      <a:pt x="17" y="48"/>
                      <a:pt x="17" y="37"/>
                    </a:cubicBezTo>
                    <a:cubicBezTo>
                      <a:pt x="17" y="26"/>
                      <a:pt x="26" y="17"/>
                      <a:pt x="37" y="17"/>
                    </a:cubicBezTo>
                    <a:cubicBezTo>
                      <a:pt x="48" y="17"/>
                      <a:pt x="57" y="26"/>
                      <a:pt x="57" y="37"/>
                    </a:cubicBezTo>
                    <a:cubicBezTo>
                      <a:pt x="57" y="48"/>
                      <a:pt x="48" y="57"/>
                      <a:pt x="37" y="57"/>
                    </a:cubicBezTo>
                    <a:close/>
                  </a:path>
                </a:pathLst>
              </a:custGeom>
              <a:solidFill>
                <a:schemeClr val="accent3"/>
              </a:solidFill>
              <a:ln>
                <a:noFill/>
              </a:ln>
            </p:spPr>
            <p:txBody>
              <a:bodyPr vert="horz" wrap="square" lIns="62345" tIns="31173" rIns="62345" bIns="31173" numCol="1" anchor="t" anchorCtr="0" compatLnSpc="1">
                <a:prstTxWarp prst="textNoShape">
                  <a:avLst/>
                </a:prstTxWarp>
              </a:bodyPr>
              <a:lstStyle/>
              <a:p>
                <a:pPr defTabSz="831230">
                  <a:defRPr/>
                </a:pPr>
                <a:endParaRPr lang="en-US" sz="750" dirty="0">
                  <a:solidFill>
                    <a:prstClr val="black"/>
                  </a:solidFill>
                  <a:latin typeface="Calibri Light"/>
                </a:endParaRPr>
              </a:p>
            </p:txBody>
          </p:sp>
          <p:cxnSp>
            <p:nvCxnSpPr>
              <p:cNvPr id="48" name="Straight Arrow Connector 47">
                <a:extLst>
                  <a:ext uri="{FF2B5EF4-FFF2-40B4-BE49-F238E27FC236}">
                    <a16:creationId xmlns:a16="http://schemas.microsoft.com/office/drawing/2014/main" id="{F4794593-2298-4FB5-9DFC-51CA7D7A076C}"/>
                  </a:ext>
                </a:extLst>
              </p:cNvPr>
              <p:cNvCxnSpPr>
                <a:cxnSpLocks/>
              </p:cNvCxnSpPr>
              <p:nvPr/>
            </p:nvCxnSpPr>
            <p:spPr>
              <a:xfrm flipH="1" flipV="1">
                <a:off x="9509165" y="4846186"/>
                <a:ext cx="173333" cy="24798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7318C92A-97FB-46F0-95FD-A12E5EC834E5}"/>
                  </a:ext>
                </a:extLst>
              </p:cNvPr>
              <p:cNvGrpSpPr/>
              <p:nvPr/>
            </p:nvGrpSpPr>
            <p:grpSpPr>
              <a:xfrm>
                <a:off x="3549216" y="2279361"/>
                <a:ext cx="1024224" cy="674107"/>
                <a:chOff x="4245016" y="2629196"/>
                <a:chExt cx="1024224" cy="674107"/>
              </a:xfrm>
            </p:grpSpPr>
            <p:pic>
              <p:nvPicPr>
                <p:cNvPr id="75" name="Picture 74">
                  <a:extLst>
                    <a:ext uri="{FF2B5EF4-FFF2-40B4-BE49-F238E27FC236}">
                      <a16:creationId xmlns:a16="http://schemas.microsoft.com/office/drawing/2014/main" id="{3027BFB4-E7B0-4328-9156-5026B43D3F5C}"/>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4245016" y="2629196"/>
                  <a:ext cx="1024224" cy="674107"/>
                </a:xfrm>
                <a:prstGeom prst="rect">
                  <a:avLst/>
                </a:prstGeom>
              </p:spPr>
            </p:pic>
            <p:sp>
              <p:nvSpPr>
                <p:cNvPr id="76" name="TextBox 75">
                  <a:extLst>
                    <a:ext uri="{FF2B5EF4-FFF2-40B4-BE49-F238E27FC236}">
                      <a16:creationId xmlns:a16="http://schemas.microsoft.com/office/drawing/2014/main" id="{C4B95437-37F9-468F-B7B9-2B31555AC1F9}"/>
                    </a:ext>
                  </a:extLst>
                </p:cNvPr>
                <p:cNvSpPr txBox="1"/>
                <p:nvPr/>
              </p:nvSpPr>
              <p:spPr bwMode="gray">
                <a:xfrm>
                  <a:off x="4323379" y="2702925"/>
                  <a:ext cx="873910" cy="238446"/>
                </a:xfrm>
                <a:prstGeom prst="rect">
                  <a:avLst/>
                </a:prstGeom>
                <a:solidFill>
                  <a:schemeClr val="tx1"/>
                </a:solidFill>
              </p:spPr>
              <p:txBody>
                <a:bodyPr wrap="none" lIns="0" rIns="0" rtlCol="0" anchor="ctr" anchorCtr="0">
                  <a:noAutofit/>
                </a:bodyPr>
                <a:lstStyle/>
                <a:p>
                  <a:pPr algn="ctr" defTabSz="837848">
                    <a:lnSpc>
                      <a:spcPts val="614"/>
                    </a:lnSpc>
                    <a:defRPr/>
                  </a:pPr>
                  <a:r>
                    <a:rPr lang="en-US" sz="955" b="1" dirty="0">
                      <a:solidFill>
                        <a:prstClr val="white"/>
                      </a:solidFill>
                      <a:latin typeface="Calibri Light"/>
                    </a:rPr>
                    <a:t>Stakeholder </a:t>
                  </a:r>
                </a:p>
                <a:p>
                  <a:pPr algn="ctr" defTabSz="837848">
                    <a:lnSpc>
                      <a:spcPts val="614"/>
                    </a:lnSpc>
                    <a:defRPr/>
                  </a:pPr>
                  <a:r>
                    <a:rPr lang="en-US" sz="955" b="1" dirty="0">
                      <a:solidFill>
                        <a:prstClr val="white"/>
                      </a:solidFill>
                      <a:latin typeface="Calibri Light"/>
                    </a:rPr>
                    <a:t>Interaction</a:t>
                  </a:r>
                </a:p>
              </p:txBody>
            </p:sp>
          </p:grpSp>
          <p:sp>
            <p:nvSpPr>
              <p:cNvPr id="50" name="Freeform 6">
                <a:extLst>
                  <a:ext uri="{FF2B5EF4-FFF2-40B4-BE49-F238E27FC236}">
                    <a16:creationId xmlns:a16="http://schemas.microsoft.com/office/drawing/2014/main" id="{7B96F4CC-4A2C-4FE3-AD6E-02AAB1FC86CF}"/>
                  </a:ext>
                </a:extLst>
              </p:cNvPr>
              <p:cNvSpPr>
                <a:spLocks noChangeAspect="1" noEditPoints="1"/>
              </p:cNvSpPr>
              <p:nvPr/>
            </p:nvSpPr>
            <p:spPr bwMode="auto">
              <a:xfrm>
                <a:off x="3888513" y="4772734"/>
                <a:ext cx="174857" cy="279332"/>
              </a:xfrm>
              <a:custGeom>
                <a:avLst/>
                <a:gdLst>
                  <a:gd name="T0" fmla="*/ 37 w 74"/>
                  <a:gd name="T1" fmla="*/ 0 h 118"/>
                  <a:gd name="T2" fmla="*/ 0 w 74"/>
                  <a:gd name="T3" fmla="*/ 37 h 118"/>
                  <a:gd name="T4" fmla="*/ 37 w 74"/>
                  <a:gd name="T5" fmla="*/ 118 h 118"/>
                  <a:gd name="T6" fmla="*/ 74 w 74"/>
                  <a:gd name="T7" fmla="*/ 37 h 118"/>
                  <a:gd name="T8" fmla="*/ 37 w 74"/>
                  <a:gd name="T9" fmla="*/ 0 h 118"/>
                  <a:gd name="T10" fmla="*/ 37 w 74"/>
                  <a:gd name="T11" fmla="*/ 57 h 118"/>
                  <a:gd name="T12" fmla="*/ 17 w 74"/>
                  <a:gd name="T13" fmla="*/ 37 h 118"/>
                  <a:gd name="T14" fmla="*/ 37 w 74"/>
                  <a:gd name="T15" fmla="*/ 17 h 118"/>
                  <a:gd name="T16" fmla="*/ 57 w 74"/>
                  <a:gd name="T17" fmla="*/ 37 h 118"/>
                  <a:gd name="T18" fmla="*/ 37 w 74"/>
                  <a:gd name="T19" fmla="*/ 5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18">
                    <a:moveTo>
                      <a:pt x="37" y="0"/>
                    </a:moveTo>
                    <a:cubicBezTo>
                      <a:pt x="16" y="0"/>
                      <a:pt x="0" y="16"/>
                      <a:pt x="0" y="37"/>
                    </a:cubicBezTo>
                    <a:cubicBezTo>
                      <a:pt x="0" y="72"/>
                      <a:pt x="37" y="118"/>
                      <a:pt x="37" y="118"/>
                    </a:cubicBezTo>
                    <a:cubicBezTo>
                      <a:pt x="37" y="118"/>
                      <a:pt x="74" y="72"/>
                      <a:pt x="74" y="37"/>
                    </a:cubicBezTo>
                    <a:cubicBezTo>
                      <a:pt x="74" y="16"/>
                      <a:pt x="57" y="0"/>
                      <a:pt x="37" y="0"/>
                    </a:cubicBezTo>
                    <a:close/>
                    <a:moveTo>
                      <a:pt x="37" y="57"/>
                    </a:moveTo>
                    <a:cubicBezTo>
                      <a:pt x="26" y="57"/>
                      <a:pt x="17" y="48"/>
                      <a:pt x="17" y="37"/>
                    </a:cubicBezTo>
                    <a:cubicBezTo>
                      <a:pt x="17" y="26"/>
                      <a:pt x="26" y="17"/>
                      <a:pt x="37" y="17"/>
                    </a:cubicBezTo>
                    <a:cubicBezTo>
                      <a:pt x="48" y="17"/>
                      <a:pt x="57" y="26"/>
                      <a:pt x="57" y="37"/>
                    </a:cubicBezTo>
                    <a:cubicBezTo>
                      <a:pt x="57" y="48"/>
                      <a:pt x="48" y="57"/>
                      <a:pt x="37" y="57"/>
                    </a:cubicBezTo>
                    <a:close/>
                  </a:path>
                </a:pathLst>
              </a:custGeom>
              <a:solidFill>
                <a:schemeClr val="accent2"/>
              </a:solidFill>
              <a:ln>
                <a:noFill/>
              </a:ln>
            </p:spPr>
            <p:txBody>
              <a:bodyPr vert="horz" wrap="square" lIns="62345" tIns="31173" rIns="62345" bIns="31173" numCol="1" anchor="t" anchorCtr="0" compatLnSpc="1">
                <a:prstTxWarp prst="textNoShape">
                  <a:avLst/>
                </a:prstTxWarp>
              </a:bodyPr>
              <a:lstStyle/>
              <a:p>
                <a:pPr defTabSz="831230">
                  <a:defRPr/>
                </a:pPr>
                <a:endParaRPr lang="en-US" sz="750" dirty="0">
                  <a:solidFill>
                    <a:prstClr val="black"/>
                  </a:solidFill>
                  <a:latin typeface="Calibri Light"/>
                </a:endParaRPr>
              </a:p>
            </p:txBody>
          </p:sp>
          <p:sp>
            <p:nvSpPr>
              <p:cNvPr id="51" name="Freeform 364">
                <a:extLst>
                  <a:ext uri="{FF2B5EF4-FFF2-40B4-BE49-F238E27FC236}">
                    <a16:creationId xmlns:a16="http://schemas.microsoft.com/office/drawing/2014/main" id="{D9556E71-E50B-40CD-A962-A8F1031FF182}"/>
                  </a:ext>
                </a:extLst>
              </p:cNvPr>
              <p:cNvSpPr>
                <a:spLocks noChangeAspect="1" noEditPoints="1"/>
              </p:cNvSpPr>
              <p:nvPr/>
            </p:nvSpPr>
            <p:spPr bwMode="auto">
              <a:xfrm>
                <a:off x="3066602" y="4140975"/>
                <a:ext cx="487829" cy="368219"/>
              </a:xfrm>
              <a:custGeom>
                <a:avLst/>
                <a:gdLst>
                  <a:gd name="T0" fmla="*/ 0 w 512"/>
                  <a:gd name="T1" fmla="*/ 256 h 512"/>
                  <a:gd name="T2" fmla="*/ 512 w 512"/>
                  <a:gd name="T3" fmla="*/ 256 h 512"/>
                  <a:gd name="T4" fmla="*/ 117 w 512"/>
                  <a:gd name="T5" fmla="*/ 362 h 512"/>
                  <a:gd name="T6" fmla="*/ 96 w 512"/>
                  <a:gd name="T7" fmla="*/ 362 h 512"/>
                  <a:gd name="T8" fmla="*/ 106 w 512"/>
                  <a:gd name="T9" fmla="*/ 330 h 512"/>
                  <a:gd name="T10" fmla="*/ 117 w 512"/>
                  <a:gd name="T11" fmla="*/ 362 h 512"/>
                  <a:gd name="T12" fmla="*/ 149 w 512"/>
                  <a:gd name="T13" fmla="*/ 373 h 512"/>
                  <a:gd name="T14" fmla="*/ 138 w 512"/>
                  <a:gd name="T15" fmla="*/ 320 h 512"/>
                  <a:gd name="T16" fmla="*/ 160 w 512"/>
                  <a:gd name="T17" fmla="*/ 320 h 512"/>
                  <a:gd name="T18" fmla="*/ 202 w 512"/>
                  <a:gd name="T19" fmla="*/ 362 h 512"/>
                  <a:gd name="T20" fmla="*/ 181 w 512"/>
                  <a:gd name="T21" fmla="*/ 362 h 512"/>
                  <a:gd name="T22" fmla="*/ 192 w 512"/>
                  <a:gd name="T23" fmla="*/ 277 h 512"/>
                  <a:gd name="T24" fmla="*/ 202 w 512"/>
                  <a:gd name="T25" fmla="*/ 362 h 512"/>
                  <a:gd name="T26" fmla="*/ 234 w 512"/>
                  <a:gd name="T27" fmla="*/ 373 h 512"/>
                  <a:gd name="T28" fmla="*/ 224 w 512"/>
                  <a:gd name="T29" fmla="*/ 277 h 512"/>
                  <a:gd name="T30" fmla="*/ 245 w 512"/>
                  <a:gd name="T31" fmla="*/ 277 h 512"/>
                  <a:gd name="T32" fmla="*/ 288 w 512"/>
                  <a:gd name="T33" fmla="*/ 362 h 512"/>
                  <a:gd name="T34" fmla="*/ 266 w 512"/>
                  <a:gd name="T35" fmla="*/ 362 h 512"/>
                  <a:gd name="T36" fmla="*/ 277 w 512"/>
                  <a:gd name="T37" fmla="*/ 266 h 512"/>
                  <a:gd name="T38" fmla="*/ 288 w 512"/>
                  <a:gd name="T39" fmla="*/ 362 h 512"/>
                  <a:gd name="T40" fmla="*/ 320 w 512"/>
                  <a:gd name="T41" fmla="*/ 373 h 512"/>
                  <a:gd name="T42" fmla="*/ 309 w 512"/>
                  <a:gd name="T43" fmla="*/ 245 h 512"/>
                  <a:gd name="T44" fmla="*/ 330 w 512"/>
                  <a:gd name="T45" fmla="*/ 245 h 512"/>
                  <a:gd name="T46" fmla="*/ 373 w 512"/>
                  <a:gd name="T47" fmla="*/ 362 h 512"/>
                  <a:gd name="T48" fmla="*/ 352 w 512"/>
                  <a:gd name="T49" fmla="*/ 362 h 512"/>
                  <a:gd name="T50" fmla="*/ 362 w 512"/>
                  <a:gd name="T51" fmla="*/ 202 h 512"/>
                  <a:gd name="T52" fmla="*/ 373 w 512"/>
                  <a:gd name="T53" fmla="*/ 362 h 512"/>
                  <a:gd name="T54" fmla="*/ 384 w 512"/>
                  <a:gd name="T55" fmla="*/ 181 h 512"/>
                  <a:gd name="T56" fmla="*/ 373 w 512"/>
                  <a:gd name="T57" fmla="*/ 153 h 512"/>
                  <a:gd name="T58" fmla="*/ 277 w 512"/>
                  <a:gd name="T59" fmla="*/ 245 h 512"/>
                  <a:gd name="T60" fmla="*/ 113 w 512"/>
                  <a:gd name="T61" fmla="*/ 307 h 512"/>
                  <a:gd name="T62" fmla="*/ 98 w 512"/>
                  <a:gd name="T63" fmla="*/ 305 h 512"/>
                  <a:gd name="T64" fmla="*/ 185 w 512"/>
                  <a:gd name="T65" fmla="*/ 226 h 512"/>
                  <a:gd name="T66" fmla="*/ 273 w 512"/>
                  <a:gd name="T67" fmla="*/ 224 h 512"/>
                  <a:gd name="T68" fmla="*/ 341 w 512"/>
                  <a:gd name="T69" fmla="*/ 138 h 512"/>
                  <a:gd name="T70" fmla="*/ 341 w 512"/>
                  <a:gd name="T71" fmla="*/ 117 h 512"/>
                  <a:gd name="T72" fmla="*/ 388 w 512"/>
                  <a:gd name="T73" fmla="*/ 118 h 512"/>
                  <a:gd name="T74" fmla="*/ 394 w 512"/>
                  <a:gd name="T75"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17" y="362"/>
                    </a:moveTo>
                    <a:cubicBezTo>
                      <a:pt x="117" y="368"/>
                      <a:pt x="112" y="373"/>
                      <a:pt x="106" y="373"/>
                    </a:cubicBezTo>
                    <a:cubicBezTo>
                      <a:pt x="100" y="373"/>
                      <a:pt x="96" y="368"/>
                      <a:pt x="96" y="362"/>
                    </a:cubicBezTo>
                    <a:cubicBezTo>
                      <a:pt x="96" y="341"/>
                      <a:pt x="96" y="341"/>
                      <a:pt x="96" y="341"/>
                    </a:cubicBezTo>
                    <a:cubicBezTo>
                      <a:pt x="96" y="335"/>
                      <a:pt x="100" y="330"/>
                      <a:pt x="106" y="330"/>
                    </a:cubicBezTo>
                    <a:cubicBezTo>
                      <a:pt x="112" y="330"/>
                      <a:pt x="117" y="335"/>
                      <a:pt x="117" y="341"/>
                    </a:cubicBezTo>
                    <a:lnTo>
                      <a:pt x="117" y="362"/>
                    </a:lnTo>
                    <a:close/>
                    <a:moveTo>
                      <a:pt x="160" y="362"/>
                    </a:moveTo>
                    <a:cubicBezTo>
                      <a:pt x="160" y="368"/>
                      <a:pt x="155" y="373"/>
                      <a:pt x="149" y="373"/>
                    </a:cubicBezTo>
                    <a:cubicBezTo>
                      <a:pt x="143" y="373"/>
                      <a:pt x="138" y="368"/>
                      <a:pt x="138" y="362"/>
                    </a:cubicBezTo>
                    <a:cubicBezTo>
                      <a:pt x="138" y="320"/>
                      <a:pt x="138" y="320"/>
                      <a:pt x="138" y="320"/>
                    </a:cubicBezTo>
                    <a:cubicBezTo>
                      <a:pt x="138" y="314"/>
                      <a:pt x="143" y="309"/>
                      <a:pt x="149" y="309"/>
                    </a:cubicBezTo>
                    <a:cubicBezTo>
                      <a:pt x="155" y="309"/>
                      <a:pt x="160" y="314"/>
                      <a:pt x="160" y="320"/>
                    </a:cubicBezTo>
                    <a:lnTo>
                      <a:pt x="160" y="362"/>
                    </a:lnTo>
                    <a:close/>
                    <a:moveTo>
                      <a:pt x="202" y="362"/>
                    </a:moveTo>
                    <a:cubicBezTo>
                      <a:pt x="202" y="368"/>
                      <a:pt x="198" y="373"/>
                      <a:pt x="192" y="373"/>
                    </a:cubicBezTo>
                    <a:cubicBezTo>
                      <a:pt x="186" y="373"/>
                      <a:pt x="181" y="368"/>
                      <a:pt x="181" y="362"/>
                    </a:cubicBezTo>
                    <a:cubicBezTo>
                      <a:pt x="181" y="288"/>
                      <a:pt x="181" y="288"/>
                      <a:pt x="181" y="288"/>
                    </a:cubicBezTo>
                    <a:cubicBezTo>
                      <a:pt x="181" y="282"/>
                      <a:pt x="186" y="277"/>
                      <a:pt x="192" y="277"/>
                    </a:cubicBezTo>
                    <a:cubicBezTo>
                      <a:pt x="198" y="277"/>
                      <a:pt x="202" y="282"/>
                      <a:pt x="202" y="288"/>
                    </a:cubicBezTo>
                    <a:lnTo>
                      <a:pt x="202" y="362"/>
                    </a:lnTo>
                    <a:close/>
                    <a:moveTo>
                      <a:pt x="245" y="362"/>
                    </a:moveTo>
                    <a:cubicBezTo>
                      <a:pt x="245" y="368"/>
                      <a:pt x="240" y="373"/>
                      <a:pt x="234" y="373"/>
                    </a:cubicBezTo>
                    <a:cubicBezTo>
                      <a:pt x="228" y="373"/>
                      <a:pt x="224" y="368"/>
                      <a:pt x="224" y="362"/>
                    </a:cubicBezTo>
                    <a:cubicBezTo>
                      <a:pt x="224" y="277"/>
                      <a:pt x="224" y="277"/>
                      <a:pt x="224" y="277"/>
                    </a:cubicBezTo>
                    <a:cubicBezTo>
                      <a:pt x="224" y="271"/>
                      <a:pt x="228" y="266"/>
                      <a:pt x="234" y="266"/>
                    </a:cubicBezTo>
                    <a:cubicBezTo>
                      <a:pt x="240" y="266"/>
                      <a:pt x="245" y="271"/>
                      <a:pt x="245" y="277"/>
                    </a:cubicBezTo>
                    <a:lnTo>
                      <a:pt x="245" y="362"/>
                    </a:lnTo>
                    <a:close/>
                    <a:moveTo>
                      <a:pt x="288" y="362"/>
                    </a:moveTo>
                    <a:cubicBezTo>
                      <a:pt x="288" y="368"/>
                      <a:pt x="283" y="373"/>
                      <a:pt x="277" y="373"/>
                    </a:cubicBezTo>
                    <a:cubicBezTo>
                      <a:pt x="271" y="373"/>
                      <a:pt x="266" y="368"/>
                      <a:pt x="266" y="362"/>
                    </a:cubicBezTo>
                    <a:cubicBezTo>
                      <a:pt x="266" y="277"/>
                      <a:pt x="266" y="277"/>
                      <a:pt x="266" y="277"/>
                    </a:cubicBezTo>
                    <a:cubicBezTo>
                      <a:pt x="266" y="271"/>
                      <a:pt x="271" y="266"/>
                      <a:pt x="277" y="266"/>
                    </a:cubicBezTo>
                    <a:cubicBezTo>
                      <a:pt x="283" y="266"/>
                      <a:pt x="288" y="271"/>
                      <a:pt x="288" y="277"/>
                    </a:cubicBezTo>
                    <a:lnTo>
                      <a:pt x="288" y="362"/>
                    </a:lnTo>
                    <a:close/>
                    <a:moveTo>
                      <a:pt x="330" y="362"/>
                    </a:moveTo>
                    <a:cubicBezTo>
                      <a:pt x="330" y="368"/>
                      <a:pt x="326" y="373"/>
                      <a:pt x="320" y="373"/>
                    </a:cubicBezTo>
                    <a:cubicBezTo>
                      <a:pt x="314" y="373"/>
                      <a:pt x="309" y="368"/>
                      <a:pt x="309" y="362"/>
                    </a:cubicBezTo>
                    <a:cubicBezTo>
                      <a:pt x="309" y="245"/>
                      <a:pt x="309" y="245"/>
                      <a:pt x="309" y="245"/>
                    </a:cubicBezTo>
                    <a:cubicBezTo>
                      <a:pt x="309" y="239"/>
                      <a:pt x="314" y="234"/>
                      <a:pt x="320" y="234"/>
                    </a:cubicBezTo>
                    <a:cubicBezTo>
                      <a:pt x="326" y="234"/>
                      <a:pt x="330" y="239"/>
                      <a:pt x="330" y="245"/>
                    </a:cubicBezTo>
                    <a:lnTo>
                      <a:pt x="330" y="362"/>
                    </a:lnTo>
                    <a:close/>
                    <a:moveTo>
                      <a:pt x="373" y="362"/>
                    </a:moveTo>
                    <a:cubicBezTo>
                      <a:pt x="373" y="368"/>
                      <a:pt x="368" y="373"/>
                      <a:pt x="362" y="373"/>
                    </a:cubicBezTo>
                    <a:cubicBezTo>
                      <a:pt x="356" y="373"/>
                      <a:pt x="352" y="368"/>
                      <a:pt x="352" y="362"/>
                    </a:cubicBezTo>
                    <a:cubicBezTo>
                      <a:pt x="352" y="213"/>
                      <a:pt x="352" y="213"/>
                      <a:pt x="352" y="213"/>
                    </a:cubicBezTo>
                    <a:cubicBezTo>
                      <a:pt x="352" y="207"/>
                      <a:pt x="356" y="202"/>
                      <a:pt x="362" y="202"/>
                    </a:cubicBezTo>
                    <a:cubicBezTo>
                      <a:pt x="368" y="202"/>
                      <a:pt x="373" y="207"/>
                      <a:pt x="373" y="213"/>
                    </a:cubicBezTo>
                    <a:lnTo>
                      <a:pt x="373" y="362"/>
                    </a:lnTo>
                    <a:close/>
                    <a:moveTo>
                      <a:pt x="394" y="170"/>
                    </a:moveTo>
                    <a:cubicBezTo>
                      <a:pt x="394" y="176"/>
                      <a:pt x="390" y="181"/>
                      <a:pt x="384" y="181"/>
                    </a:cubicBezTo>
                    <a:cubicBezTo>
                      <a:pt x="378" y="181"/>
                      <a:pt x="373" y="176"/>
                      <a:pt x="373" y="170"/>
                    </a:cubicBezTo>
                    <a:cubicBezTo>
                      <a:pt x="373" y="153"/>
                      <a:pt x="373" y="153"/>
                      <a:pt x="373" y="153"/>
                    </a:cubicBezTo>
                    <a:cubicBezTo>
                      <a:pt x="285" y="242"/>
                      <a:pt x="285" y="242"/>
                      <a:pt x="285" y="242"/>
                    </a:cubicBezTo>
                    <a:cubicBezTo>
                      <a:pt x="283" y="244"/>
                      <a:pt x="280" y="245"/>
                      <a:pt x="277" y="245"/>
                    </a:cubicBezTo>
                    <a:cubicBezTo>
                      <a:pt x="195" y="245"/>
                      <a:pt x="195" y="245"/>
                      <a:pt x="195" y="245"/>
                    </a:cubicBezTo>
                    <a:cubicBezTo>
                      <a:pt x="113" y="307"/>
                      <a:pt x="113" y="307"/>
                      <a:pt x="113" y="307"/>
                    </a:cubicBezTo>
                    <a:cubicBezTo>
                      <a:pt x="111" y="308"/>
                      <a:pt x="109" y="309"/>
                      <a:pt x="106" y="309"/>
                    </a:cubicBezTo>
                    <a:cubicBezTo>
                      <a:pt x="103" y="309"/>
                      <a:pt x="100" y="308"/>
                      <a:pt x="98" y="305"/>
                    </a:cubicBezTo>
                    <a:cubicBezTo>
                      <a:pt x="94" y="300"/>
                      <a:pt x="95" y="293"/>
                      <a:pt x="100" y="290"/>
                    </a:cubicBezTo>
                    <a:cubicBezTo>
                      <a:pt x="185" y="226"/>
                      <a:pt x="185" y="226"/>
                      <a:pt x="185" y="226"/>
                    </a:cubicBezTo>
                    <a:cubicBezTo>
                      <a:pt x="187" y="224"/>
                      <a:pt x="189" y="224"/>
                      <a:pt x="192" y="224"/>
                    </a:cubicBezTo>
                    <a:cubicBezTo>
                      <a:pt x="273" y="224"/>
                      <a:pt x="273" y="224"/>
                      <a:pt x="273" y="224"/>
                    </a:cubicBezTo>
                    <a:cubicBezTo>
                      <a:pt x="358" y="138"/>
                      <a:pt x="358" y="138"/>
                      <a:pt x="358" y="138"/>
                    </a:cubicBezTo>
                    <a:cubicBezTo>
                      <a:pt x="341" y="138"/>
                      <a:pt x="341" y="138"/>
                      <a:pt x="341" y="138"/>
                    </a:cubicBezTo>
                    <a:cubicBezTo>
                      <a:pt x="335" y="138"/>
                      <a:pt x="330" y="134"/>
                      <a:pt x="330" y="128"/>
                    </a:cubicBezTo>
                    <a:cubicBezTo>
                      <a:pt x="330" y="122"/>
                      <a:pt x="335" y="117"/>
                      <a:pt x="341" y="117"/>
                    </a:cubicBezTo>
                    <a:cubicBezTo>
                      <a:pt x="384" y="117"/>
                      <a:pt x="384" y="117"/>
                      <a:pt x="384" y="117"/>
                    </a:cubicBezTo>
                    <a:cubicBezTo>
                      <a:pt x="385" y="117"/>
                      <a:pt x="386" y="117"/>
                      <a:pt x="388" y="118"/>
                    </a:cubicBezTo>
                    <a:cubicBezTo>
                      <a:pt x="390" y="119"/>
                      <a:pt x="392" y="121"/>
                      <a:pt x="394" y="124"/>
                    </a:cubicBezTo>
                    <a:cubicBezTo>
                      <a:pt x="394" y="125"/>
                      <a:pt x="394" y="126"/>
                      <a:pt x="394" y="128"/>
                    </a:cubicBezTo>
                    <a:lnTo>
                      <a:pt x="394" y="170"/>
                    </a:lnTo>
                    <a:close/>
                  </a:path>
                </a:pathLst>
              </a:custGeom>
              <a:solidFill>
                <a:schemeClr val="accent2"/>
              </a:solidFill>
              <a:ln>
                <a:noFill/>
              </a:ln>
            </p:spPr>
            <p:txBody>
              <a:bodyPr vert="horz" wrap="square" lIns="62345" tIns="31173" rIns="62345" bIns="31173" numCol="1" anchor="t" anchorCtr="0" compatLnSpc="1">
                <a:prstTxWarp prst="textNoShape">
                  <a:avLst/>
                </a:prstTxWarp>
              </a:bodyPr>
              <a:lstStyle/>
              <a:p>
                <a:pPr defTabSz="623438">
                  <a:defRPr/>
                </a:pPr>
                <a:endParaRPr lang="en-US" sz="750" dirty="0">
                  <a:solidFill>
                    <a:prstClr val="black"/>
                  </a:solidFill>
                  <a:latin typeface="Calibri Light"/>
                </a:endParaRPr>
              </a:p>
            </p:txBody>
          </p:sp>
          <p:cxnSp>
            <p:nvCxnSpPr>
              <p:cNvPr id="52" name="Straight Arrow Connector 51">
                <a:extLst>
                  <a:ext uri="{FF2B5EF4-FFF2-40B4-BE49-F238E27FC236}">
                    <a16:creationId xmlns:a16="http://schemas.microsoft.com/office/drawing/2014/main" id="{5BD4AF6D-BAA5-4FF2-85C0-0949483FA35F}"/>
                  </a:ext>
                </a:extLst>
              </p:cNvPr>
              <p:cNvCxnSpPr>
                <a:cxnSpLocks/>
              </p:cNvCxnSpPr>
              <p:nvPr/>
            </p:nvCxnSpPr>
            <p:spPr>
              <a:xfrm flipH="1" flipV="1">
                <a:off x="3560826" y="4558268"/>
                <a:ext cx="280317" cy="24754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610D9E2C-F8C2-45BA-BAEF-529449769356}"/>
                  </a:ext>
                </a:extLst>
              </p:cNvPr>
              <p:cNvSpPr txBox="1"/>
              <p:nvPr/>
            </p:nvSpPr>
            <p:spPr>
              <a:xfrm>
                <a:off x="1600875" y="3970652"/>
                <a:ext cx="1679779" cy="406418"/>
              </a:xfrm>
              <a:prstGeom prst="rect">
                <a:avLst/>
              </a:prstGeom>
              <a:noFill/>
            </p:spPr>
            <p:txBody>
              <a:bodyPr wrap="square" rtlCol="0">
                <a:spAutoFit/>
              </a:bodyPr>
              <a:lstStyle/>
              <a:p>
                <a:pPr defTabSz="831230">
                  <a:defRPr/>
                </a:pPr>
                <a:r>
                  <a:rPr lang="en-US" sz="886" b="1" dirty="0">
                    <a:solidFill>
                      <a:prstClr val="black"/>
                    </a:solidFill>
                    <a:latin typeface="Verdana"/>
                    <a:ea typeface="Verdana" panose="020B0604030504040204" pitchFamily="34" charset="0"/>
                    <a:cs typeface="Calibri" panose="020F0502020204030204" pitchFamily="34" charset="0"/>
                  </a:rPr>
                  <a:t>3. </a:t>
                </a:r>
                <a:r>
                  <a:rPr lang="en-US" sz="886" b="1" dirty="0">
                    <a:solidFill>
                      <a:prstClr val="black"/>
                    </a:solidFill>
                    <a:latin typeface="Verdana"/>
                    <a:ea typeface="Verdana" panose="020B0604030504040204" pitchFamily="34" charset="0"/>
                    <a:cs typeface="Verdana" panose="020B0604030504040204" pitchFamily="34" charset="0"/>
                  </a:rPr>
                  <a:t>Development of Key Strategic Initiatives under each goal</a:t>
                </a:r>
                <a:endParaRPr lang="en-US" sz="886" b="1" dirty="0">
                  <a:solidFill>
                    <a:prstClr val="black"/>
                  </a:solidFill>
                  <a:latin typeface="Verdana"/>
                  <a:ea typeface="Verdana" panose="020B0604030504040204" pitchFamily="34" charset="0"/>
                  <a:cs typeface="Calibri" panose="020F0502020204030204" pitchFamily="34" charset="0"/>
                </a:endParaRPr>
              </a:p>
            </p:txBody>
          </p:sp>
          <p:grpSp>
            <p:nvGrpSpPr>
              <p:cNvPr id="54" name="Group 53">
                <a:extLst>
                  <a:ext uri="{FF2B5EF4-FFF2-40B4-BE49-F238E27FC236}">
                    <a16:creationId xmlns:a16="http://schemas.microsoft.com/office/drawing/2014/main" id="{E6DCFE60-EC57-4874-AE39-5111DBDB21BC}"/>
                  </a:ext>
                </a:extLst>
              </p:cNvPr>
              <p:cNvGrpSpPr/>
              <p:nvPr/>
            </p:nvGrpSpPr>
            <p:grpSpPr>
              <a:xfrm>
                <a:off x="5392516" y="4655577"/>
                <a:ext cx="1049887" cy="792992"/>
                <a:chOff x="6506496" y="4827840"/>
                <a:chExt cx="1049887" cy="792992"/>
              </a:xfrm>
            </p:grpSpPr>
            <p:grpSp>
              <p:nvGrpSpPr>
                <p:cNvPr id="71" name="Group 70">
                  <a:extLst>
                    <a:ext uri="{FF2B5EF4-FFF2-40B4-BE49-F238E27FC236}">
                      <a16:creationId xmlns:a16="http://schemas.microsoft.com/office/drawing/2014/main" id="{25B9A4C9-998B-49A4-9057-34F3811EFEEE}"/>
                    </a:ext>
                  </a:extLst>
                </p:cNvPr>
                <p:cNvGrpSpPr/>
                <p:nvPr/>
              </p:nvGrpSpPr>
              <p:grpSpPr>
                <a:xfrm>
                  <a:off x="6506496" y="4827840"/>
                  <a:ext cx="188197" cy="502432"/>
                  <a:chOff x="6076448" y="3831311"/>
                  <a:chExt cx="188197" cy="502432"/>
                </a:xfrm>
              </p:grpSpPr>
              <p:cxnSp>
                <p:nvCxnSpPr>
                  <p:cNvPr id="73" name="Straight Connector 72">
                    <a:extLst>
                      <a:ext uri="{FF2B5EF4-FFF2-40B4-BE49-F238E27FC236}">
                        <a16:creationId xmlns:a16="http://schemas.microsoft.com/office/drawing/2014/main" id="{51D07342-BE53-4796-896D-1A496B4B16AF}"/>
                      </a:ext>
                    </a:extLst>
                  </p:cNvPr>
                  <p:cNvCxnSpPr/>
                  <p:nvPr/>
                </p:nvCxnSpPr>
                <p:spPr>
                  <a:xfrm>
                    <a:off x="6076448" y="3831311"/>
                    <a:ext cx="0" cy="50243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Isosceles Triangle 73">
                    <a:extLst>
                      <a:ext uri="{FF2B5EF4-FFF2-40B4-BE49-F238E27FC236}">
                        <a16:creationId xmlns:a16="http://schemas.microsoft.com/office/drawing/2014/main" id="{CAFE38EB-9033-4FE5-B81C-73FC0B9EE90E}"/>
                      </a:ext>
                    </a:extLst>
                  </p:cNvPr>
                  <p:cNvSpPr/>
                  <p:nvPr/>
                </p:nvSpPr>
                <p:spPr bwMode="gray">
                  <a:xfrm rot="5400000">
                    <a:off x="6047059" y="3897041"/>
                    <a:ext cx="263309" cy="171862"/>
                  </a:xfrm>
                  <a:prstGeom prst="triangle">
                    <a:avLst/>
                  </a:prstGeom>
                  <a:solidFill>
                    <a:schemeClr val="accent6">
                      <a:lumMod val="20000"/>
                      <a:lumOff val="80000"/>
                    </a:schemeClr>
                  </a:solidFill>
                  <a:ln w="19050" algn="ctr">
                    <a:solidFill>
                      <a:schemeClr val="tx1"/>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Calibri Light"/>
                    </a:endParaRPr>
                  </a:p>
                </p:txBody>
              </p:sp>
            </p:grpSp>
            <p:sp>
              <p:nvSpPr>
                <p:cNvPr id="72" name="TextBox 71">
                  <a:extLst>
                    <a:ext uri="{FF2B5EF4-FFF2-40B4-BE49-F238E27FC236}">
                      <a16:creationId xmlns:a16="http://schemas.microsoft.com/office/drawing/2014/main" id="{E23A5045-47FB-4B0E-AE2B-64C116E0F634}"/>
                    </a:ext>
                  </a:extLst>
                </p:cNvPr>
                <p:cNvSpPr txBox="1"/>
                <p:nvPr/>
              </p:nvSpPr>
              <p:spPr>
                <a:xfrm>
                  <a:off x="6583407" y="5110600"/>
                  <a:ext cx="972976" cy="510232"/>
                </a:xfrm>
                <a:prstGeom prst="rect">
                  <a:avLst/>
                </a:prstGeom>
                <a:noFill/>
              </p:spPr>
              <p:txBody>
                <a:bodyPr vert="horz" wrap="square" lIns="0" tIns="0" rIns="0" bIns="0" rtlCol="0">
                  <a:spAutoFit/>
                </a:bodyPr>
                <a:lstStyle/>
                <a:p>
                  <a:pPr algn="ctr" defTabSz="837848"/>
                  <a:r>
                    <a:rPr lang="en-US" sz="818" dirty="0">
                      <a:solidFill>
                        <a:srgbClr val="004F59"/>
                      </a:solidFill>
                      <a:latin typeface="Verdana"/>
                    </a:rPr>
                    <a:t>Report &amp; Presentation </a:t>
                  </a:r>
                </a:p>
                <a:p>
                  <a:pPr algn="ctr" defTabSz="837848"/>
                  <a:r>
                    <a:rPr lang="en-US" sz="818" dirty="0">
                      <a:solidFill>
                        <a:srgbClr val="004F59"/>
                      </a:solidFill>
                      <a:latin typeface="Verdana"/>
                    </a:rPr>
                    <a:t>on key strategic</a:t>
                  </a:r>
                </a:p>
                <a:p>
                  <a:pPr algn="ctr" defTabSz="837848"/>
                  <a:r>
                    <a:rPr lang="en-IN" sz="818" dirty="0">
                      <a:solidFill>
                        <a:srgbClr val="004F59"/>
                      </a:solidFill>
                      <a:latin typeface="Verdana"/>
                    </a:rPr>
                    <a:t>priorities and actions</a:t>
                  </a:r>
                </a:p>
              </p:txBody>
            </p:sp>
          </p:grpSp>
          <p:grpSp>
            <p:nvGrpSpPr>
              <p:cNvPr id="55" name="Group 54">
                <a:extLst>
                  <a:ext uri="{FF2B5EF4-FFF2-40B4-BE49-F238E27FC236}">
                    <a16:creationId xmlns:a16="http://schemas.microsoft.com/office/drawing/2014/main" id="{2E13C866-8829-459D-977E-02380848FD33}"/>
                  </a:ext>
                </a:extLst>
              </p:cNvPr>
              <p:cNvGrpSpPr/>
              <p:nvPr/>
            </p:nvGrpSpPr>
            <p:grpSpPr>
              <a:xfrm>
                <a:off x="10207169" y="5069163"/>
                <a:ext cx="878282" cy="687150"/>
                <a:chOff x="10563729" y="5136006"/>
                <a:chExt cx="1289053" cy="687150"/>
              </a:xfrm>
            </p:grpSpPr>
            <p:grpSp>
              <p:nvGrpSpPr>
                <p:cNvPr id="67" name="Group 66">
                  <a:extLst>
                    <a:ext uri="{FF2B5EF4-FFF2-40B4-BE49-F238E27FC236}">
                      <a16:creationId xmlns:a16="http://schemas.microsoft.com/office/drawing/2014/main" id="{9217E3BF-49A4-43D8-83E9-FCBC5C8245D1}"/>
                    </a:ext>
                  </a:extLst>
                </p:cNvPr>
                <p:cNvGrpSpPr/>
                <p:nvPr/>
              </p:nvGrpSpPr>
              <p:grpSpPr>
                <a:xfrm>
                  <a:off x="10563729" y="5136006"/>
                  <a:ext cx="188197" cy="502432"/>
                  <a:chOff x="6076448" y="3831311"/>
                  <a:chExt cx="188197" cy="502432"/>
                </a:xfrm>
              </p:grpSpPr>
              <p:cxnSp>
                <p:nvCxnSpPr>
                  <p:cNvPr id="69" name="Straight Connector 68">
                    <a:extLst>
                      <a:ext uri="{FF2B5EF4-FFF2-40B4-BE49-F238E27FC236}">
                        <a16:creationId xmlns:a16="http://schemas.microsoft.com/office/drawing/2014/main" id="{80251F2D-C1FB-4330-A915-AADC9CE21142}"/>
                      </a:ext>
                    </a:extLst>
                  </p:cNvPr>
                  <p:cNvCxnSpPr/>
                  <p:nvPr/>
                </p:nvCxnSpPr>
                <p:spPr>
                  <a:xfrm>
                    <a:off x="6076448" y="3831311"/>
                    <a:ext cx="0" cy="50243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Isosceles Triangle 69">
                    <a:extLst>
                      <a:ext uri="{FF2B5EF4-FFF2-40B4-BE49-F238E27FC236}">
                        <a16:creationId xmlns:a16="http://schemas.microsoft.com/office/drawing/2014/main" id="{80FAC3DE-B253-49ED-A864-A9ED311B20AC}"/>
                      </a:ext>
                    </a:extLst>
                  </p:cNvPr>
                  <p:cNvSpPr/>
                  <p:nvPr/>
                </p:nvSpPr>
                <p:spPr bwMode="gray">
                  <a:xfrm rot="5400000">
                    <a:off x="6047059" y="3897041"/>
                    <a:ext cx="263309" cy="171862"/>
                  </a:xfrm>
                  <a:prstGeom prst="triangle">
                    <a:avLst/>
                  </a:prstGeom>
                  <a:solidFill>
                    <a:schemeClr val="accent6">
                      <a:lumMod val="20000"/>
                      <a:lumOff val="80000"/>
                    </a:schemeClr>
                  </a:solidFill>
                  <a:ln w="19050" algn="ctr">
                    <a:solidFill>
                      <a:schemeClr val="tx1"/>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Calibri Light"/>
                    </a:endParaRPr>
                  </a:p>
                </p:txBody>
              </p:sp>
            </p:grpSp>
            <p:sp>
              <p:nvSpPr>
                <p:cNvPr id="68" name="TextBox 67">
                  <a:extLst>
                    <a:ext uri="{FF2B5EF4-FFF2-40B4-BE49-F238E27FC236}">
                      <a16:creationId xmlns:a16="http://schemas.microsoft.com/office/drawing/2014/main" id="{1D7C9192-37FA-4581-B7DE-E9E02B240B40}"/>
                    </a:ext>
                  </a:extLst>
                </p:cNvPr>
                <p:cNvSpPr txBox="1"/>
                <p:nvPr/>
              </p:nvSpPr>
              <p:spPr>
                <a:xfrm>
                  <a:off x="10577094" y="5381077"/>
                  <a:ext cx="1275688" cy="442079"/>
                </a:xfrm>
                <a:prstGeom prst="rect">
                  <a:avLst/>
                </a:prstGeom>
                <a:noFill/>
              </p:spPr>
              <p:txBody>
                <a:bodyPr vert="horz" wrap="square" lIns="0" tIns="0" rIns="0" bIns="0" rtlCol="0">
                  <a:spAutoFit/>
                </a:bodyPr>
                <a:lstStyle/>
                <a:p>
                  <a:pPr algn="ctr" defTabSz="837848"/>
                  <a:r>
                    <a:rPr lang="en-US" sz="886" dirty="0">
                      <a:solidFill>
                        <a:srgbClr val="004F59"/>
                      </a:solidFill>
                      <a:latin typeface="Verdana"/>
                    </a:rPr>
                    <a:t>Report &amp; Presentation </a:t>
                  </a:r>
                </a:p>
                <a:p>
                  <a:pPr algn="ctr" defTabSz="837848"/>
                  <a:r>
                    <a:rPr lang="en-US" sz="886" dirty="0">
                      <a:solidFill>
                        <a:srgbClr val="004F59"/>
                      </a:solidFill>
                      <a:latin typeface="Verdana"/>
                    </a:rPr>
                    <a:t>on detailed action plan</a:t>
                  </a:r>
                  <a:endParaRPr lang="en-IN" sz="886" dirty="0">
                    <a:solidFill>
                      <a:srgbClr val="004F59"/>
                    </a:solidFill>
                    <a:latin typeface="Verdana"/>
                  </a:endParaRPr>
                </a:p>
              </p:txBody>
            </p:sp>
          </p:grpSp>
          <p:grpSp>
            <p:nvGrpSpPr>
              <p:cNvPr id="56" name="Group 55">
                <a:extLst>
                  <a:ext uri="{FF2B5EF4-FFF2-40B4-BE49-F238E27FC236}">
                    <a16:creationId xmlns:a16="http://schemas.microsoft.com/office/drawing/2014/main" id="{20771BDE-61EF-487B-A154-A105569109B8}"/>
                  </a:ext>
                </a:extLst>
              </p:cNvPr>
              <p:cNvGrpSpPr/>
              <p:nvPr/>
            </p:nvGrpSpPr>
            <p:grpSpPr>
              <a:xfrm>
                <a:off x="4383052" y="2681302"/>
                <a:ext cx="879374" cy="839537"/>
                <a:chOff x="3796945" y="2706825"/>
                <a:chExt cx="879374" cy="839537"/>
              </a:xfrm>
            </p:grpSpPr>
            <p:grpSp>
              <p:nvGrpSpPr>
                <p:cNvPr id="63" name="Group 62">
                  <a:extLst>
                    <a:ext uri="{FF2B5EF4-FFF2-40B4-BE49-F238E27FC236}">
                      <a16:creationId xmlns:a16="http://schemas.microsoft.com/office/drawing/2014/main" id="{895B0F8C-3FF1-4784-BA79-973E126861E6}"/>
                    </a:ext>
                  </a:extLst>
                </p:cNvPr>
                <p:cNvGrpSpPr/>
                <p:nvPr/>
              </p:nvGrpSpPr>
              <p:grpSpPr>
                <a:xfrm>
                  <a:off x="3827740" y="2706825"/>
                  <a:ext cx="188197" cy="502432"/>
                  <a:chOff x="6076448" y="3831311"/>
                  <a:chExt cx="188197" cy="502432"/>
                </a:xfrm>
              </p:grpSpPr>
              <p:cxnSp>
                <p:nvCxnSpPr>
                  <p:cNvPr id="65" name="Straight Connector 64">
                    <a:extLst>
                      <a:ext uri="{FF2B5EF4-FFF2-40B4-BE49-F238E27FC236}">
                        <a16:creationId xmlns:a16="http://schemas.microsoft.com/office/drawing/2014/main" id="{C23EB7A3-C7D8-4015-B1A8-86E2CCCF7A5E}"/>
                      </a:ext>
                    </a:extLst>
                  </p:cNvPr>
                  <p:cNvCxnSpPr/>
                  <p:nvPr/>
                </p:nvCxnSpPr>
                <p:spPr>
                  <a:xfrm>
                    <a:off x="6076448" y="3831311"/>
                    <a:ext cx="0" cy="50243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Isosceles Triangle 65">
                    <a:extLst>
                      <a:ext uri="{FF2B5EF4-FFF2-40B4-BE49-F238E27FC236}">
                        <a16:creationId xmlns:a16="http://schemas.microsoft.com/office/drawing/2014/main" id="{09A58383-658B-4CED-9E7E-0E409606CD44}"/>
                      </a:ext>
                    </a:extLst>
                  </p:cNvPr>
                  <p:cNvSpPr/>
                  <p:nvPr/>
                </p:nvSpPr>
                <p:spPr bwMode="gray">
                  <a:xfrm rot="5400000">
                    <a:off x="6047059" y="3897041"/>
                    <a:ext cx="263309" cy="171862"/>
                  </a:xfrm>
                  <a:prstGeom prst="triangle">
                    <a:avLst/>
                  </a:prstGeom>
                  <a:solidFill>
                    <a:schemeClr val="accent3"/>
                  </a:solidFill>
                  <a:ln w="19050" algn="ctr">
                    <a:solidFill>
                      <a:schemeClr val="tx1"/>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Calibri Light"/>
                    </a:endParaRPr>
                  </a:p>
                </p:txBody>
              </p:sp>
            </p:grpSp>
            <p:sp>
              <p:nvSpPr>
                <p:cNvPr id="64" name="TextBox 63">
                  <a:extLst>
                    <a:ext uri="{FF2B5EF4-FFF2-40B4-BE49-F238E27FC236}">
                      <a16:creationId xmlns:a16="http://schemas.microsoft.com/office/drawing/2014/main" id="{BDA96227-69E4-4E61-91BE-9A8D9F9B8243}"/>
                    </a:ext>
                  </a:extLst>
                </p:cNvPr>
                <p:cNvSpPr txBox="1"/>
                <p:nvPr/>
              </p:nvSpPr>
              <p:spPr>
                <a:xfrm>
                  <a:off x="3796945" y="2934083"/>
                  <a:ext cx="879374" cy="612279"/>
                </a:xfrm>
                <a:prstGeom prst="rect">
                  <a:avLst/>
                </a:prstGeom>
                <a:noFill/>
              </p:spPr>
              <p:txBody>
                <a:bodyPr vert="horz" wrap="square" lIns="0" tIns="0" rIns="0" bIns="0" rtlCol="0">
                  <a:spAutoFit/>
                </a:bodyPr>
                <a:lstStyle/>
                <a:p>
                  <a:pPr algn="ctr" defTabSz="837848"/>
                  <a:r>
                    <a:rPr lang="en-US" sz="818" dirty="0">
                      <a:solidFill>
                        <a:srgbClr val="004F59"/>
                      </a:solidFill>
                      <a:latin typeface="Verdana"/>
                    </a:rPr>
                    <a:t>Report &amp; Presentation </a:t>
                  </a:r>
                </a:p>
                <a:p>
                  <a:pPr algn="ctr" defTabSz="837848"/>
                  <a:r>
                    <a:rPr lang="en-US" sz="818" dirty="0">
                      <a:solidFill>
                        <a:srgbClr val="004F59"/>
                      </a:solidFill>
                      <a:latin typeface="Verdana"/>
                    </a:rPr>
                    <a:t>on Power sector vision </a:t>
                  </a:r>
                  <a:r>
                    <a:rPr lang="en-IN" sz="818" dirty="0">
                      <a:solidFill>
                        <a:srgbClr val="004F59"/>
                      </a:solidFill>
                      <a:latin typeface="Verdana"/>
                    </a:rPr>
                    <a:t>development for 2030</a:t>
                  </a:r>
                </a:p>
              </p:txBody>
            </p:sp>
          </p:grpSp>
          <p:grpSp>
            <p:nvGrpSpPr>
              <p:cNvPr id="57" name="Group 56">
                <a:extLst>
                  <a:ext uri="{FF2B5EF4-FFF2-40B4-BE49-F238E27FC236}">
                    <a16:creationId xmlns:a16="http://schemas.microsoft.com/office/drawing/2014/main" id="{3FB8927D-F5BE-4503-BECD-028EDEA317C8}"/>
                  </a:ext>
                </a:extLst>
              </p:cNvPr>
              <p:cNvGrpSpPr/>
              <p:nvPr/>
            </p:nvGrpSpPr>
            <p:grpSpPr>
              <a:xfrm>
                <a:off x="4592369" y="4261685"/>
                <a:ext cx="1024224" cy="674107"/>
                <a:chOff x="4245016" y="2629197"/>
                <a:chExt cx="1024224" cy="674107"/>
              </a:xfrm>
            </p:grpSpPr>
            <p:pic>
              <p:nvPicPr>
                <p:cNvPr id="61" name="Picture 60">
                  <a:extLst>
                    <a:ext uri="{FF2B5EF4-FFF2-40B4-BE49-F238E27FC236}">
                      <a16:creationId xmlns:a16="http://schemas.microsoft.com/office/drawing/2014/main" id="{D2DD7227-0786-4582-A591-9BE5F593A34B}"/>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4245016" y="2629197"/>
                  <a:ext cx="1024224" cy="674107"/>
                </a:xfrm>
                <a:prstGeom prst="rect">
                  <a:avLst/>
                </a:prstGeom>
              </p:spPr>
            </p:pic>
            <p:sp>
              <p:nvSpPr>
                <p:cNvPr id="62" name="TextBox 61">
                  <a:extLst>
                    <a:ext uri="{FF2B5EF4-FFF2-40B4-BE49-F238E27FC236}">
                      <a16:creationId xmlns:a16="http://schemas.microsoft.com/office/drawing/2014/main" id="{323CEBDA-D273-4F4D-A6D3-D1042EB34C3F}"/>
                    </a:ext>
                  </a:extLst>
                </p:cNvPr>
                <p:cNvSpPr txBox="1"/>
                <p:nvPr/>
              </p:nvSpPr>
              <p:spPr bwMode="gray">
                <a:xfrm>
                  <a:off x="4323379" y="2712063"/>
                  <a:ext cx="873910" cy="229308"/>
                </a:xfrm>
                <a:prstGeom prst="rect">
                  <a:avLst/>
                </a:prstGeom>
                <a:solidFill>
                  <a:schemeClr val="tx1"/>
                </a:solidFill>
              </p:spPr>
              <p:txBody>
                <a:bodyPr wrap="none" lIns="0" rIns="0" rtlCol="0" anchor="ctr" anchorCtr="0">
                  <a:noAutofit/>
                </a:bodyPr>
                <a:lstStyle/>
                <a:p>
                  <a:pPr algn="ctr" defTabSz="837848">
                    <a:lnSpc>
                      <a:spcPts val="614"/>
                    </a:lnSpc>
                    <a:defRPr/>
                  </a:pPr>
                  <a:r>
                    <a:rPr lang="en-US" sz="955" b="1" dirty="0">
                      <a:solidFill>
                        <a:prstClr val="white"/>
                      </a:solidFill>
                      <a:latin typeface="Calibri Light"/>
                    </a:rPr>
                    <a:t>Stakeholder </a:t>
                  </a:r>
                </a:p>
                <a:p>
                  <a:pPr algn="ctr" defTabSz="837848">
                    <a:lnSpc>
                      <a:spcPts val="614"/>
                    </a:lnSpc>
                    <a:defRPr/>
                  </a:pPr>
                  <a:r>
                    <a:rPr lang="en-US" sz="955" b="1" dirty="0">
                      <a:solidFill>
                        <a:prstClr val="white"/>
                      </a:solidFill>
                      <a:latin typeface="Calibri Light"/>
                    </a:rPr>
                    <a:t>Interaction</a:t>
                  </a:r>
                </a:p>
              </p:txBody>
            </p:sp>
          </p:grpSp>
          <p:grpSp>
            <p:nvGrpSpPr>
              <p:cNvPr id="58" name="Group 57">
                <a:extLst>
                  <a:ext uri="{FF2B5EF4-FFF2-40B4-BE49-F238E27FC236}">
                    <a16:creationId xmlns:a16="http://schemas.microsoft.com/office/drawing/2014/main" id="{DCB22902-A4F3-491B-9474-1DE5FA1C9F14}"/>
                  </a:ext>
                </a:extLst>
              </p:cNvPr>
              <p:cNvGrpSpPr/>
              <p:nvPr/>
            </p:nvGrpSpPr>
            <p:grpSpPr>
              <a:xfrm>
                <a:off x="7511948" y="4708365"/>
                <a:ext cx="1024224" cy="674107"/>
                <a:chOff x="4245016" y="2629197"/>
                <a:chExt cx="1024224" cy="674107"/>
              </a:xfrm>
            </p:grpSpPr>
            <p:pic>
              <p:nvPicPr>
                <p:cNvPr id="59" name="Picture 58">
                  <a:extLst>
                    <a:ext uri="{FF2B5EF4-FFF2-40B4-BE49-F238E27FC236}">
                      <a16:creationId xmlns:a16="http://schemas.microsoft.com/office/drawing/2014/main" id="{2828B4D9-30A8-44D7-8EF9-F692CC7B68AE}"/>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4245016" y="2629197"/>
                  <a:ext cx="1024224" cy="674107"/>
                </a:xfrm>
                <a:prstGeom prst="rect">
                  <a:avLst/>
                </a:prstGeom>
              </p:spPr>
            </p:pic>
            <p:sp>
              <p:nvSpPr>
                <p:cNvPr id="60" name="TextBox 59">
                  <a:extLst>
                    <a:ext uri="{FF2B5EF4-FFF2-40B4-BE49-F238E27FC236}">
                      <a16:creationId xmlns:a16="http://schemas.microsoft.com/office/drawing/2014/main" id="{FE0997AD-D3BC-4BA5-AE8C-4D161C5610B4}"/>
                    </a:ext>
                  </a:extLst>
                </p:cNvPr>
                <p:cNvSpPr txBox="1"/>
                <p:nvPr/>
              </p:nvSpPr>
              <p:spPr bwMode="gray">
                <a:xfrm>
                  <a:off x="4323379" y="2691358"/>
                  <a:ext cx="873910" cy="250013"/>
                </a:xfrm>
                <a:prstGeom prst="rect">
                  <a:avLst/>
                </a:prstGeom>
                <a:solidFill>
                  <a:schemeClr val="tx1"/>
                </a:solidFill>
              </p:spPr>
              <p:txBody>
                <a:bodyPr wrap="none" lIns="0" rIns="0" rtlCol="0" anchor="ctr" anchorCtr="0">
                  <a:noAutofit/>
                </a:bodyPr>
                <a:lstStyle/>
                <a:p>
                  <a:pPr algn="ctr" defTabSz="837848">
                    <a:lnSpc>
                      <a:spcPts val="614"/>
                    </a:lnSpc>
                    <a:defRPr/>
                  </a:pPr>
                  <a:r>
                    <a:rPr lang="en-US" sz="955" b="1" dirty="0">
                      <a:solidFill>
                        <a:prstClr val="white"/>
                      </a:solidFill>
                      <a:latin typeface="Calibri Light"/>
                    </a:rPr>
                    <a:t>Stakeholder </a:t>
                  </a:r>
                </a:p>
                <a:p>
                  <a:pPr algn="ctr" defTabSz="837848">
                    <a:lnSpc>
                      <a:spcPts val="614"/>
                    </a:lnSpc>
                    <a:defRPr/>
                  </a:pPr>
                  <a:r>
                    <a:rPr lang="en-US" sz="955" b="1" dirty="0">
                      <a:solidFill>
                        <a:prstClr val="white"/>
                      </a:solidFill>
                      <a:latin typeface="Calibri Light"/>
                    </a:rPr>
                    <a:t>Interaction</a:t>
                  </a:r>
                </a:p>
              </p:txBody>
            </p:sp>
          </p:grpSp>
        </p:grpSp>
        <p:sp>
          <p:nvSpPr>
            <p:cNvPr id="15" name="TextBox 14">
              <a:extLst>
                <a:ext uri="{FF2B5EF4-FFF2-40B4-BE49-F238E27FC236}">
                  <a16:creationId xmlns:a16="http://schemas.microsoft.com/office/drawing/2014/main" id="{F30163A4-E585-4E7A-B484-5EF2C8465A66}"/>
                </a:ext>
              </a:extLst>
            </p:cNvPr>
            <p:cNvSpPr txBox="1"/>
            <p:nvPr/>
          </p:nvSpPr>
          <p:spPr>
            <a:xfrm>
              <a:off x="467884" y="1806220"/>
              <a:ext cx="2923350" cy="468522"/>
            </a:xfrm>
            <a:prstGeom prst="rect">
              <a:avLst/>
            </a:prstGeom>
            <a:noFill/>
          </p:spPr>
          <p:txBody>
            <a:bodyPr wrap="square" rtlCol="0">
              <a:spAutoFit/>
            </a:bodyPr>
            <a:lstStyle/>
            <a:p>
              <a:pPr algn="just" defTabSz="831230">
                <a:defRPr/>
              </a:pPr>
              <a:r>
                <a:rPr lang="en-IN" sz="886" dirty="0">
                  <a:solidFill>
                    <a:srgbClr val="009A44"/>
                  </a:solidFill>
                  <a:latin typeface="Verdana"/>
                </a:rPr>
                <a:t>Deloitte has experience in developing Vision and Strategy development in the past</a:t>
              </a:r>
              <a:endParaRPr lang="en-US" sz="886" dirty="0">
                <a:solidFill>
                  <a:srgbClr val="009A44"/>
                </a:solidFill>
                <a:latin typeface="Calibri Light"/>
                <a:ea typeface="Verdana" panose="020B0604030504040204" pitchFamily="34" charset="0"/>
                <a:cs typeface="Verdana" panose="020B0604030504040204" pitchFamily="34" charset="0"/>
              </a:endParaRPr>
            </a:p>
          </p:txBody>
        </p:sp>
        <p:sp>
          <p:nvSpPr>
            <p:cNvPr id="16" name="Rectangle 15">
              <a:extLst>
                <a:ext uri="{FF2B5EF4-FFF2-40B4-BE49-F238E27FC236}">
                  <a16:creationId xmlns:a16="http://schemas.microsoft.com/office/drawing/2014/main" id="{6F754B54-482A-4A0E-9F71-4B31D5D3C7B0}"/>
                </a:ext>
              </a:extLst>
            </p:cNvPr>
            <p:cNvSpPr/>
            <p:nvPr/>
          </p:nvSpPr>
          <p:spPr>
            <a:xfrm>
              <a:off x="5138979" y="2486113"/>
              <a:ext cx="2129123" cy="468522"/>
            </a:xfrm>
            <a:prstGeom prst="rect">
              <a:avLst/>
            </a:prstGeom>
          </p:spPr>
          <p:txBody>
            <a:bodyPr wrap="square">
              <a:spAutoFit/>
            </a:bodyPr>
            <a:lstStyle/>
            <a:p>
              <a:pPr marL="175780" lvl="1" indent="-117187" defTabSz="467750">
                <a:buSzPct val="65000"/>
                <a:buFont typeface="Wingdings" pitchFamily="2" charset="2"/>
                <a:buChar char="l"/>
              </a:pPr>
              <a:r>
                <a:rPr lang="en-US" sz="886" i="1" dirty="0">
                  <a:solidFill>
                    <a:srgbClr val="313131"/>
                  </a:solidFill>
                  <a:latin typeface="Verdana"/>
                </a:rPr>
                <a:t>Define Purpose</a:t>
              </a:r>
            </a:p>
            <a:p>
              <a:pPr marL="175780" lvl="1" indent="-117187" defTabSz="467750">
                <a:buSzPct val="65000"/>
                <a:buFont typeface="Wingdings" pitchFamily="2" charset="2"/>
                <a:buChar char="l"/>
              </a:pPr>
              <a:r>
                <a:rPr lang="en-US" sz="886" i="1" dirty="0">
                  <a:solidFill>
                    <a:srgbClr val="313131"/>
                  </a:solidFill>
                  <a:latin typeface="Verdana"/>
                </a:rPr>
                <a:t>Financial objectives</a:t>
              </a:r>
            </a:p>
            <a:p>
              <a:pPr marL="175780" lvl="1" indent="-117187" defTabSz="467750">
                <a:buSzPct val="65000"/>
                <a:buFont typeface="Wingdings" pitchFamily="2" charset="2"/>
                <a:buChar char="l"/>
              </a:pPr>
              <a:r>
                <a:rPr lang="en-US" sz="886" i="1" dirty="0">
                  <a:solidFill>
                    <a:srgbClr val="313131"/>
                  </a:solidFill>
                  <a:latin typeface="Verdana"/>
                </a:rPr>
                <a:t>Non-financial objectives</a:t>
              </a:r>
            </a:p>
          </p:txBody>
        </p:sp>
        <p:sp>
          <p:nvSpPr>
            <p:cNvPr id="17" name="Rectangle 16">
              <a:extLst>
                <a:ext uri="{FF2B5EF4-FFF2-40B4-BE49-F238E27FC236}">
                  <a16:creationId xmlns:a16="http://schemas.microsoft.com/office/drawing/2014/main" id="{1D7B5A15-9FFD-422A-970A-A810E6E9D574}"/>
                </a:ext>
              </a:extLst>
            </p:cNvPr>
            <p:cNvSpPr/>
            <p:nvPr/>
          </p:nvSpPr>
          <p:spPr>
            <a:xfrm>
              <a:off x="404227" y="4650731"/>
              <a:ext cx="2723465" cy="468522"/>
            </a:xfrm>
            <a:prstGeom prst="rect">
              <a:avLst/>
            </a:prstGeom>
          </p:spPr>
          <p:txBody>
            <a:bodyPr wrap="square">
              <a:spAutoFit/>
            </a:bodyPr>
            <a:lstStyle/>
            <a:p>
              <a:pPr marL="175780" lvl="1" indent="-117187" defTabSz="467750">
                <a:buSzPct val="65000"/>
                <a:buFont typeface="Wingdings" pitchFamily="2" charset="2"/>
                <a:buChar char="l"/>
              </a:pPr>
              <a:r>
                <a:rPr lang="en-US" sz="886" i="1" dirty="0">
                  <a:solidFill>
                    <a:srgbClr val="313131"/>
                  </a:solidFill>
                  <a:latin typeface="Verdana"/>
                </a:rPr>
                <a:t>Value proposition </a:t>
              </a:r>
            </a:p>
            <a:p>
              <a:pPr marL="175780" lvl="1" indent="-117187" defTabSz="467750">
                <a:buSzPct val="65000"/>
                <a:buFont typeface="Wingdings" pitchFamily="2" charset="2"/>
                <a:buChar char="l"/>
              </a:pPr>
              <a:r>
                <a:rPr lang="en-US" sz="886" i="1" dirty="0">
                  <a:solidFill>
                    <a:srgbClr val="313131"/>
                  </a:solidFill>
                  <a:latin typeface="Verdana"/>
                </a:rPr>
                <a:t>Profit model(s)</a:t>
              </a:r>
            </a:p>
            <a:p>
              <a:pPr marL="175780" lvl="1" indent="-117187" defTabSz="467750">
                <a:buSzPct val="65000"/>
                <a:buFont typeface="Wingdings" pitchFamily="2" charset="2"/>
                <a:buChar char="l"/>
              </a:pPr>
              <a:r>
                <a:rPr lang="en-US" sz="886" i="1" dirty="0">
                  <a:solidFill>
                    <a:srgbClr val="313131"/>
                  </a:solidFill>
                  <a:latin typeface="Verdana"/>
                </a:rPr>
                <a:t>Customer/Partner Experience</a:t>
              </a:r>
            </a:p>
          </p:txBody>
        </p:sp>
        <p:grpSp>
          <p:nvGrpSpPr>
            <p:cNvPr id="18" name="Group 1025">
              <a:extLst>
                <a:ext uri="{FF2B5EF4-FFF2-40B4-BE49-F238E27FC236}">
                  <a16:creationId xmlns:a16="http://schemas.microsoft.com/office/drawing/2014/main" id="{84953ABA-6DDF-4843-ABB7-654BD20CBBC3}"/>
                </a:ext>
              </a:extLst>
            </p:cNvPr>
            <p:cNvGrpSpPr>
              <a:grpSpLocks noChangeAspect="1"/>
            </p:cNvGrpSpPr>
            <p:nvPr/>
          </p:nvGrpSpPr>
          <p:grpSpPr bwMode="auto">
            <a:xfrm>
              <a:off x="887136" y="5281427"/>
              <a:ext cx="420029" cy="369023"/>
              <a:chOff x="787" y="3994"/>
              <a:chExt cx="387" cy="340"/>
            </a:xfrm>
            <a:solidFill>
              <a:schemeClr val="accent5"/>
            </a:solidFill>
          </p:grpSpPr>
          <p:sp>
            <p:nvSpPr>
              <p:cNvPr id="24" name="Freeform 1026">
                <a:extLst>
                  <a:ext uri="{FF2B5EF4-FFF2-40B4-BE49-F238E27FC236}">
                    <a16:creationId xmlns:a16="http://schemas.microsoft.com/office/drawing/2014/main" id="{A270151F-84F9-409A-A06A-282B5EE54212}"/>
                  </a:ext>
                </a:extLst>
              </p:cNvPr>
              <p:cNvSpPr>
                <a:spLocks/>
              </p:cNvSpPr>
              <p:nvPr/>
            </p:nvSpPr>
            <p:spPr bwMode="auto">
              <a:xfrm>
                <a:off x="893" y="4171"/>
                <a:ext cx="45" cy="33"/>
              </a:xfrm>
              <a:custGeom>
                <a:avLst/>
                <a:gdLst>
                  <a:gd name="T0" fmla="*/ 67 w 67"/>
                  <a:gd name="T1" fmla="*/ 4 h 50"/>
                  <a:gd name="T2" fmla="*/ 66 w 67"/>
                  <a:gd name="T3" fmla="*/ 0 h 50"/>
                  <a:gd name="T4" fmla="*/ 64 w 67"/>
                  <a:gd name="T5" fmla="*/ 0 h 50"/>
                  <a:gd name="T6" fmla="*/ 0 w 67"/>
                  <a:gd name="T7" fmla="*/ 0 h 50"/>
                  <a:gd name="T8" fmla="*/ 21 w 67"/>
                  <a:gd name="T9" fmla="*/ 50 h 50"/>
                  <a:gd name="T10" fmla="*/ 66 w 67"/>
                  <a:gd name="T11" fmla="*/ 5 h 50"/>
                  <a:gd name="T12" fmla="*/ 67 w 67"/>
                  <a:gd name="T13" fmla="*/ 4 h 50"/>
                </a:gdLst>
                <a:ahLst/>
                <a:cxnLst>
                  <a:cxn ang="0">
                    <a:pos x="T0" y="T1"/>
                  </a:cxn>
                  <a:cxn ang="0">
                    <a:pos x="T2" y="T3"/>
                  </a:cxn>
                  <a:cxn ang="0">
                    <a:pos x="T4" y="T5"/>
                  </a:cxn>
                  <a:cxn ang="0">
                    <a:pos x="T6" y="T7"/>
                  </a:cxn>
                  <a:cxn ang="0">
                    <a:pos x="T8" y="T9"/>
                  </a:cxn>
                  <a:cxn ang="0">
                    <a:pos x="T10" y="T11"/>
                  </a:cxn>
                  <a:cxn ang="0">
                    <a:pos x="T12" y="T13"/>
                  </a:cxn>
                </a:cxnLst>
                <a:rect l="0" t="0" r="r" b="b"/>
                <a:pathLst>
                  <a:path w="67" h="50">
                    <a:moveTo>
                      <a:pt x="67" y="4"/>
                    </a:moveTo>
                    <a:cubicBezTo>
                      <a:pt x="66" y="3"/>
                      <a:pt x="66" y="1"/>
                      <a:pt x="66" y="0"/>
                    </a:cubicBezTo>
                    <a:cubicBezTo>
                      <a:pt x="65" y="0"/>
                      <a:pt x="64" y="0"/>
                      <a:pt x="64" y="0"/>
                    </a:cubicBezTo>
                    <a:cubicBezTo>
                      <a:pt x="0" y="0"/>
                      <a:pt x="0" y="0"/>
                      <a:pt x="0" y="0"/>
                    </a:cubicBezTo>
                    <a:cubicBezTo>
                      <a:pt x="2" y="19"/>
                      <a:pt x="10" y="36"/>
                      <a:pt x="21" y="50"/>
                    </a:cubicBezTo>
                    <a:cubicBezTo>
                      <a:pt x="66" y="5"/>
                      <a:pt x="66" y="5"/>
                      <a:pt x="66" y="5"/>
                    </a:cubicBezTo>
                    <a:cubicBezTo>
                      <a:pt x="66" y="4"/>
                      <a:pt x="67" y="4"/>
                      <a:pt x="6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GB" sz="1649" dirty="0">
                  <a:solidFill>
                    <a:prstClr val="black"/>
                  </a:solidFill>
                  <a:latin typeface="Verdana"/>
                </a:endParaRPr>
              </a:p>
            </p:txBody>
          </p:sp>
          <p:sp>
            <p:nvSpPr>
              <p:cNvPr id="25" name="Freeform 1027">
                <a:extLst>
                  <a:ext uri="{FF2B5EF4-FFF2-40B4-BE49-F238E27FC236}">
                    <a16:creationId xmlns:a16="http://schemas.microsoft.com/office/drawing/2014/main" id="{6A0EA0B9-DC2B-4522-82B9-5349243DD376}"/>
                  </a:ext>
                </a:extLst>
              </p:cNvPr>
              <p:cNvSpPr>
                <a:spLocks/>
              </p:cNvSpPr>
              <p:nvPr/>
            </p:nvSpPr>
            <p:spPr bwMode="auto">
              <a:xfrm>
                <a:off x="893" y="4124"/>
                <a:ext cx="45" cy="33"/>
              </a:xfrm>
              <a:custGeom>
                <a:avLst/>
                <a:gdLst>
                  <a:gd name="T0" fmla="*/ 66 w 67"/>
                  <a:gd name="T1" fmla="*/ 49 h 49"/>
                  <a:gd name="T2" fmla="*/ 67 w 67"/>
                  <a:gd name="T3" fmla="*/ 46 h 49"/>
                  <a:gd name="T4" fmla="*/ 66 w 67"/>
                  <a:gd name="T5" fmla="*/ 45 h 49"/>
                  <a:gd name="T6" fmla="*/ 21 w 67"/>
                  <a:gd name="T7" fmla="*/ 0 h 49"/>
                  <a:gd name="T8" fmla="*/ 0 w 67"/>
                  <a:gd name="T9" fmla="*/ 49 h 49"/>
                  <a:gd name="T10" fmla="*/ 64 w 67"/>
                  <a:gd name="T11" fmla="*/ 49 h 49"/>
                  <a:gd name="T12" fmla="*/ 66 w 67"/>
                  <a:gd name="T13" fmla="*/ 49 h 49"/>
                </a:gdLst>
                <a:ahLst/>
                <a:cxnLst>
                  <a:cxn ang="0">
                    <a:pos x="T0" y="T1"/>
                  </a:cxn>
                  <a:cxn ang="0">
                    <a:pos x="T2" y="T3"/>
                  </a:cxn>
                  <a:cxn ang="0">
                    <a:pos x="T4" y="T5"/>
                  </a:cxn>
                  <a:cxn ang="0">
                    <a:pos x="T6" y="T7"/>
                  </a:cxn>
                  <a:cxn ang="0">
                    <a:pos x="T8" y="T9"/>
                  </a:cxn>
                  <a:cxn ang="0">
                    <a:pos x="T10" y="T11"/>
                  </a:cxn>
                  <a:cxn ang="0">
                    <a:pos x="T12" y="T13"/>
                  </a:cxn>
                </a:cxnLst>
                <a:rect l="0" t="0" r="r" b="b"/>
                <a:pathLst>
                  <a:path w="67" h="49">
                    <a:moveTo>
                      <a:pt x="66" y="49"/>
                    </a:moveTo>
                    <a:cubicBezTo>
                      <a:pt x="66" y="48"/>
                      <a:pt x="66" y="47"/>
                      <a:pt x="67" y="46"/>
                    </a:cubicBezTo>
                    <a:cubicBezTo>
                      <a:pt x="67" y="45"/>
                      <a:pt x="66" y="45"/>
                      <a:pt x="66" y="45"/>
                    </a:cubicBezTo>
                    <a:cubicBezTo>
                      <a:pt x="21" y="0"/>
                      <a:pt x="21" y="0"/>
                      <a:pt x="21" y="0"/>
                    </a:cubicBezTo>
                    <a:cubicBezTo>
                      <a:pt x="10" y="14"/>
                      <a:pt x="2" y="31"/>
                      <a:pt x="0" y="49"/>
                    </a:cubicBezTo>
                    <a:cubicBezTo>
                      <a:pt x="64" y="49"/>
                      <a:pt x="64" y="49"/>
                      <a:pt x="64" y="49"/>
                    </a:cubicBezTo>
                    <a:cubicBezTo>
                      <a:pt x="64" y="49"/>
                      <a:pt x="65" y="49"/>
                      <a:pt x="66" y="49"/>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GB" sz="1649" dirty="0">
                  <a:solidFill>
                    <a:prstClr val="black"/>
                  </a:solidFill>
                  <a:latin typeface="Verdana"/>
                </a:endParaRPr>
              </a:p>
            </p:txBody>
          </p:sp>
          <p:sp>
            <p:nvSpPr>
              <p:cNvPr id="26" name="Freeform 1028">
                <a:extLst>
                  <a:ext uri="{FF2B5EF4-FFF2-40B4-BE49-F238E27FC236}">
                    <a16:creationId xmlns:a16="http://schemas.microsoft.com/office/drawing/2014/main" id="{852E1E42-AC16-42EA-ACDF-64EF3923F348}"/>
                  </a:ext>
                </a:extLst>
              </p:cNvPr>
              <p:cNvSpPr>
                <a:spLocks/>
              </p:cNvSpPr>
              <p:nvPr/>
            </p:nvSpPr>
            <p:spPr bwMode="auto">
              <a:xfrm>
                <a:off x="917" y="4100"/>
                <a:ext cx="33" cy="45"/>
              </a:xfrm>
              <a:custGeom>
                <a:avLst/>
                <a:gdLst>
                  <a:gd name="T0" fmla="*/ 46 w 49"/>
                  <a:gd name="T1" fmla="*/ 67 h 67"/>
                  <a:gd name="T2" fmla="*/ 49 w 49"/>
                  <a:gd name="T3" fmla="*/ 66 h 67"/>
                  <a:gd name="T4" fmla="*/ 49 w 49"/>
                  <a:gd name="T5" fmla="*/ 64 h 67"/>
                  <a:gd name="T6" fmla="*/ 49 w 49"/>
                  <a:gd name="T7" fmla="*/ 0 h 67"/>
                  <a:gd name="T8" fmla="*/ 0 w 49"/>
                  <a:gd name="T9" fmla="*/ 21 h 67"/>
                  <a:gd name="T10" fmla="*/ 45 w 49"/>
                  <a:gd name="T11" fmla="*/ 66 h 67"/>
                  <a:gd name="T12" fmla="*/ 46 w 49"/>
                  <a:gd name="T13" fmla="*/ 67 h 67"/>
                </a:gdLst>
                <a:ahLst/>
                <a:cxnLst>
                  <a:cxn ang="0">
                    <a:pos x="T0" y="T1"/>
                  </a:cxn>
                  <a:cxn ang="0">
                    <a:pos x="T2" y="T3"/>
                  </a:cxn>
                  <a:cxn ang="0">
                    <a:pos x="T4" y="T5"/>
                  </a:cxn>
                  <a:cxn ang="0">
                    <a:pos x="T6" y="T7"/>
                  </a:cxn>
                  <a:cxn ang="0">
                    <a:pos x="T8" y="T9"/>
                  </a:cxn>
                  <a:cxn ang="0">
                    <a:pos x="T10" y="T11"/>
                  </a:cxn>
                  <a:cxn ang="0">
                    <a:pos x="T12" y="T13"/>
                  </a:cxn>
                </a:cxnLst>
                <a:rect l="0" t="0" r="r" b="b"/>
                <a:pathLst>
                  <a:path w="49" h="67">
                    <a:moveTo>
                      <a:pt x="46" y="67"/>
                    </a:moveTo>
                    <a:cubicBezTo>
                      <a:pt x="47" y="66"/>
                      <a:pt x="48" y="66"/>
                      <a:pt x="49" y="66"/>
                    </a:cubicBezTo>
                    <a:cubicBezTo>
                      <a:pt x="49" y="65"/>
                      <a:pt x="49" y="64"/>
                      <a:pt x="49" y="64"/>
                    </a:cubicBezTo>
                    <a:cubicBezTo>
                      <a:pt x="49" y="0"/>
                      <a:pt x="49" y="0"/>
                      <a:pt x="49" y="0"/>
                    </a:cubicBezTo>
                    <a:cubicBezTo>
                      <a:pt x="31" y="2"/>
                      <a:pt x="14" y="10"/>
                      <a:pt x="0" y="21"/>
                    </a:cubicBezTo>
                    <a:cubicBezTo>
                      <a:pt x="45" y="66"/>
                      <a:pt x="45" y="66"/>
                      <a:pt x="45" y="66"/>
                    </a:cubicBezTo>
                    <a:cubicBezTo>
                      <a:pt x="45" y="66"/>
                      <a:pt x="45" y="67"/>
                      <a:pt x="46" y="6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GB" sz="1649" dirty="0">
                  <a:solidFill>
                    <a:prstClr val="black"/>
                  </a:solidFill>
                  <a:latin typeface="Verdana"/>
                </a:endParaRPr>
              </a:p>
            </p:txBody>
          </p:sp>
          <p:sp>
            <p:nvSpPr>
              <p:cNvPr id="27" name="Freeform 1029">
                <a:extLst>
                  <a:ext uri="{FF2B5EF4-FFF2-40B4-BE49-F238E27FC236}">
                    <a16:creationId xmlns:a16="http://schemas.microsoft.com/office/drawing/2014/main" id="{F3D7D3D4-EC5B-447A-A1DA-556907B1BB3C}"/>
                  </a:ext>
                </a:extLst>
              </p:cNvPr>
              <p:cNvSpPr>
                <a:spLocks/>
              </p:cNvSpPr>
              <p:nvPr/>
            </p:nvSpPr>
            <p:spPr bwMode="auto">
              <a:xfrm>
                <a:off x="964" y="4100"/>
                <a:ext cx="33" cy="45"/>
              </a:xfrm>
              <a:custGeom>
                <a:avLst/>
                <a:gdLst>
                  <a:gd name="T0" fmla="*/ 5 w 50"/>
                  <a:gd name="T1" fmla="*/ 66 h 67"/>
                  <a:gd name="T2" fmla="*/ 50 w 50"/>
                  <a:gd name="T3" fmla="*/ 21 h 67"/>
                  <a:gd name="T4" fmla="*/ 0 w 50"/>
                  <a:gd name="T5" fmla="*/ 0 h 67"/>
                  <a:gd name="T6" fmla="*/ 0 w 50"/>
                  <a:gd name="T7" fmla="*/ 64 h 67"/>
                  <a:gd name="T8" fmla="*/ 0 w 50"/>
                  <a:gd name="T9" fmla="*/ 66 h 67"/>
                  <a:gd name="T10" fmla="*/ 4 w 50"/>
                  <a:gd name="T11" fmla="*/ 67 h 67"/>
                  <a:gd name="T12" fmla="*/ 5 w 50"/>
                  <a:gd name="T13" fmla="*/ 66 h 67"/>
                </a:gdLst>
                <a:ahLst/>
                <a:cxnLst>
                  <a:cxn ang="0">
                    <a:pos x="T0" y="T1"/>
                  </a:cxn>
                  <a:cxn ang="0">
                    <a:pos x="T2" y="T3"/>
                  </a:cxn>
                  <a:cxn ang="0">
                    <a:pos x="T4" y="T5"/>
                  </a:cxn>
                  <a:cxn ang="0">
                    <a:pos x="T6" y="T7"/>
                  </a:cxn>
                  <a:cxn ang="0">
                    <a:pos x="T8" y="T9"/>
                  </a:cxn>
                  <a:cxn ang="0">
                    <a:pos x="T10" y="T11"/>
                  </a:cxn>
                  <a:cxn ang="0">
                    <a:pos x="T12" y="T13"/>
                  </a:cxn>
                </a:cxnLst>
                <a:rect l="0" t="0" r="r" b="b"/>
                <a:pathLst>
                  <a:path w="50" h="67">
                    <a:moveTo>
                      <a:pt x="5" y="66"/>
                    </a:moveTo>
                    <a:cubicBezTo>
                      <a:pt x="50" y="21"/>
                      <a:pt x="50" y="21"/>
                      <a:pt x="50" y="21"/>
                    </a:cubicBezTo>
                    <a:cubicBezTo>
                      <a:pt x="36" y="10"/>
                      <a:pt x="19" y="2"/>
                      <a:pt x="0" y="0"/>
                    </a:cubicBezTo>
                    <a:cubicBezTo>
                      <a:pt x="0" y="64"/>
                      <a:pt x="0" y="64"/>
                      <a:pt x="0" y="64"/>
                    </a:cubicBezTo>
                    <a:cubicBezTo>
                      <a:pt x="0" y="64"/>
                      <a:pt x="0" y="65"/>
                      <a:pt x="0" y="66"/>
                    </a:cubicBezTo>
                    <a:cubicBezTo>
                      <a:pt x="1" y="66"/>
                      <a:pt x="3" y="66"/>
                      <a:pt x="4" y="67"/>
                    </a:cubicBezTo>
                    <a:cubicBezTo>
                      <a:pt x="4" y="67"/>
                      <a:pt x="4" y="66"/>
                      <a:pt x="5" y="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GB" sz="1649" dirty="0">
                  <a:solidFill>
                    <a:prstClr val="black"/>
                  </a:solidFill>
                  <a:latin typeface="Verdana"/>
                </a:endParaRPr>
              </a:p>
            </p:txBody>
          </p:sp>
          <p:sp>
            <p:nvSpPr>
              <p:cNvPr id="28" name="Freeform 1030">
                <a:extLst>
                  <a:ext uri="{FF2B5EF4-FFF2-40B4-BE49-F238E27FC236}">
                    <a16:creationId xmlns:a16="http://schemas.microsoft.com/office/drawing/2014/main" id="{544320BF-DEA8-426F-9C68-3B04EFD8FF17}"/>
                  </a:ext>
                </a:extLst>
              </p:cNvPr>
              <p:cNvSpPr>
                <a:spLocks/>
              </p:cNvSpPr>
              <p:nvPr/>
            </p:nvSpPr>
            <p:spPr bwMode="auto">
              <a:xfrm>
                <a:off x="917" y="4183"/>
                <a:ext cx="33" cy="44"/>
              </a:xfrm>
              <a:custGeom>
                <a:avLst/>
                <a:gdLst>
                  <a:gd name="T0" fmla="*/ 45 w 49"/>
                  <a:gd name="T1" fmla="*/ 2 h 67"/>
                  <a:gd name="T2" fmla="*/ 0 w 49"/>
                  <a:gd name="T3" fmla="*/ 47 h 67"/>
                  <a:gd name="T4" fmla="*/ 49 w 49"/>
                  <a:gd name="T5" fmla="*/ 67 h 67"/>
                  <a:gd name="T6" fmla="*/ 49 w 49"/>
                  <a:gd name="T7" fmla="*/ 4 h 67"/>
                  <a:gd name="T8" fmla="*/ 49 w 49"/>
                  <a:gd name="T9" fmla="*/ 2 h 67"/>
                  <a:gd name="T10" fmla="*/ 46 w 49"/>
                  <a:gd name="T11" fmla="*/ 0 h 67"/>
                  <a:gd name="T12" fmla="*/ 45 w 49"/>
                  <a:gd name="T13" fmla="*/ 2 h 67"/>
                </a:gdLst>
                <a:ahLst/>
                <a:cxnLst>
                  <a:cxn ang="0">
                    <a:pos x="T0" y="T1"/>
                  </a:cxn>
                  <a:cxn ang="0">
                    <a:pos x="T2" y="T3"/>
                  </a:cxn>
                  <a:cxn ang="0">
                    <a:pos x="T4" y="T5"/>
                  </a:cxn>
                  <a:cxn ang="0">
                    <a:pos x="T6" y="T7"/>
                  </a:cxn>
                  <a:cxn ang="0">
                    <a:pos x="T8" y="T9"/>
                  </a:cxn>
                  <a:cxn ang="0">
                    <a:pos x="T10" y="T11"/>
                  </a:cxn>
                  <a:cxn ang="0">
                    <a:pos x="T12" y="T13"/>
                  </a:cxn>
                </a:cxnLst>
                <a:rect l="0" t="0" r="r" b="b"/>
                <a:pathLst>
                  <a:path w="49" h="67">
                    <a:moveTo>
                      <a:pt x="45" y="2"/>
                    </a:moveTo>
                    <a:cubicBezTo>
                      <a:pt x="0" y="47"/>
                      <a:pt x="0" y="47"/>
                      <a:pt x="0" y="47"/>
                    </a:cubicBezTo>
                    <a:cubicBezTo>
                      <a:pt x="14" y="58"/>
                      <a:pt x="31" y="65"/>
                      <a:pt x="49" y="67"/>
                    </a:cubicBezTo>
                    <a:cubicBezTo>
                      <a:pt x="49" y="4"/>
                      <a:pt x="49" y="4"/>
                      <a:pt x="49" y="4"/>
                    </a:cubicBezTo>
                    <a:cubicBezTo>
                      <a:pt x="49" y="3"/>
                      <a:pt x="49" y="2"/>
                      <a:pt x="49" y="2"/>
                    </a:cubicBezTo>
                    <a:cubicBezTo>
                      <a:pt x="48" y="1"/>
                      <a:pt x="47" y="1"/>
                      <a:pt x="46" y="0"/>
                    </a:cubicBezTo>
                    <a:cubicBezTo>
                      <a:pt x="45" y="1"/>
                      <a:pt x="45" y="1"/>
                      <a:pt x="45" y="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GB" sz="1649" dirty="0">
                  <a:solidFill>
                    <a:prstClr val="black"/>
                  </a:solidFill>
                  <a:latin typeface="Verdana"/>
                </a:endParaRPr>
              </a:p>
            </p:txBody>
          </p:sp>
          <p:sp>
            <p:nvSpPr>
              <p:cNvPr id="29" name="Freeform 1031">
                <a:extLst>
                  <a:ext uri="{FF2B5EF4-FFF2-40B4-BE49-F238E27FC236}">
                    <a16:creationId xmlns:a16="http://schemas.microsoft.com/office/drawing/2014/main" id="{5E2516FB-90A5-4E5A-8AB3-1C6209666804}"/>
                  </a:ext>
                </a:extLst>
              </p:cNvPr>
              <p:cNvSpPr>
                <a:spLocks/>
              </p:cNvSpPr>
              <p:nvPr/>
            </p:nvSpPr>
            <p:spPr bwMode="auto">
              <a:xfrm>
                <a:off x="976" y="4171"/>
                <a:ext cx="44" cy="33"/>
              </a:xfrm>
              <a:custGeom>
                <a:avLst/>
                <a:gdLst>
                  <a:gd name="T0" fmla="*/ 2 w 67"/>
                  <a:gd name="T1" fmla="*/ 0 h 50"/>
                  <a:gd name="T2" fmla="*/ 0 w 67"/>
                  <a:gd name="T3" fmla="*/ 4 h 50"/>
                  <a:gd name="T4" fmla="*/ 2 w 67"/>
                  <a:gd name="T5" fmla="*/ 5 h 50"/>
                  <a:gd name="T6" fmla="*/ 47 w 67"/>
                  <a:gd name="T7" fmla="*/ 50 h 50"/>
                  <a:gd name="T8" fmla="*/ 67 w 67"/>
                  <a:gd name="T9" fmla="*/ 0 h 50"/>
                  <a:gd name="T10" fmla="*/ 4 w 67"/>
                  <a:gd name="T11" fmla="*/ 0 h 50"/>
                  <a:gd name="T12" fmla="*/ 2 w 6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67" h="50">
                    <a:moveTo>
                      <a:pt x="2" y="0"/>
                    </a:moveTo>
                    <a:cubicBezTo>
                      <a:pt x="1" y="1"/>
                      <a:pt x="1" y="2"/>
                      <a:pt x="0" y="4"/>
                    </a:cubicBezTo>
                    <a:cubicBezTo>
                      <a:pt x="1" y="4"/>
                      <a:pt x="1" y="4"/>
                      <a:pt x="2" y="5"/>
                    </a:cubicBezTo>
                    <a:cubicBezTo>
                      <a:pt x="47" y="50"/>
                      <a:pt x="47" y="50"/>
                      <a:pt x="47" y="50"/>
                    </a:cubicBezTo>
                    <a:cubicBezTo>
                      <a:pt x="58" y="36"/>
                      <a:pt x="65" y="19"/>
                      <a:pt x="67" y="0"/>
                    </a:cubicBezTo>
                    <a:cubicBezTo>
                      <a:pt x="4" y="0"/>
                      <a:pt x="4" y="0"/>
                      <a:pt x="4" y="0"/>
                    </a:cubicBezTo>
                    <a:cubicBezTo>
                      <a:pt x="3" y="0"/>
                      <a:pt x="2" y="0"/>
                      <a:pt x="2"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GB" sz="1649" dirty="0">
                  <a:solidFill>
                    <a:prstClr val="black"/>
                  </a:solidFill>
                  <a:latin typeface="Verdana"/>
                </a:endParaRPr>
              </a:p>
            </p:txBody>
          </p:sp>
          <p:sp>
            <p:nvSpPr>
              <p:cNvPr id="30" name="Oval 1032">
                <a:extLst>
                  <a:ext uri="{FF2B5EF4-FFF2-40B4-BE49-F238E27FC236}">
                    <a16:creationId xmlns:a16="http://schemas.microsoft.com/office/drawing/2014/main" id="{DEF77AB5-B465-4342-96E0-93F0840C1B64}"/>
                  </a:ext>
                </a:extLst>
              </p:cNvPr>
              <p:cNvSpPr>
                <a:spLocks noChangeArrowheads="1"/>
              </p:cNvSpPr>
              <p:nvPr/>
            </p:nvSpPr>
            <p:spPr bwMode="auto">
              <a:xfrm>
                <a:off x="950" y="4157"/>
                <a:ext cx="14" cy="14"/>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GB" sz="1649" dirty="0">
                  <a:solidFill>
                    <a:prstClr val="black"/>
                  </a:solidFill>
                  <a:latin typeface="Verdana"/>
                </a:endParaRPr>
              </a:p>
            </p:txBody>
          </p:sp>
          <p:sp>
            <p:nvSpPr>
              <p:cNvPr id="31" name="Freeform 1033">
                <a:extLst>
                  <a:ext uri="{FF2B5EF4-FFF2-40B4-BE49-F238E27FC236}">
                    <a16:creationId xmlns:a16="http://schemas.microsoft.com/office/drawing/2014/main" id="{433FD7C4-619D-459F-857F-651636A0F4E9}"/>
                  </a:ext>
                </a:extLst>
              </p:cNvPr>
              <p:cNvSpPr>
                <a:spLocks noEditPoints="1"/>
              </p:cNvSpPr>
              <p:nvPr/>
            </p:nvSpPr>
            <p:spPr bwMode="auto">
              <a:xfrm>
                <a:off x="787" y="3994"/>
                <a:ext cx="387"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372 w 512"/>
                  <a:gd name="T13" fmla="*/ 266 h 512"/>
                  <a:gd name="T14" fmla="*/ 346 w 512"/>
                  <a:gd name="T15" fmla="*/ 331 h 512"/>
                  <a:gd name="T16" fmla="*/ 370 w 512"/>
                  <a:gd name="T17" fmla="*/ 355 h 512"/>
                  <a:gd name="T18" fmla="*/ 370 w 512"/>
                  <a:gd name="T19" fmla="*/ 370 h 512"/>
                  <a:gd name="T20" fmla="*/ 362 w 512"/>
                  <a:gd name="T21" fmla="*/ 373 h 512"/>
                  <a:gd name="T22" fmla="*/ 355 w 512"/>
                  <a:gd name="T23" fmla="*/ 370 h 512"/>
                  <a:gd name="T24" fmla="*/ 331 w 512"/>
                  <a:gd name="T25" fmla="*/ 346 h 512"/>
                  <a:gd name="T26" fmla="*/ 266 w 512"/>
                  <a:gd name="T27" fmla="*/ 372 h 512"/>
                  <a:gd name="T28" fmla="*/ 266 w 512"/>
                  <a:gd name="T29" fmla="*/ 405 h 512"/>
                  <a:gd name="T30" fmla="*/ 256 w 512"/>
                  <a:gd name="T31" fmla="*/ 416 h 512"/>
                  <a:gd name="T32" fmla="*/ 245 w 512"/>
                  <a:gd name="T33" fmla="*/ 405 h 512"/>
                  <a:gd name="T34" fmla="*/ 245 w 512"/>
                  <a:gd name="T35" fmla="*/ 372 h 512"/>
                  <a:gd name="T36" fmla="*/ 181 w 512"/>
                  <a:gd name="T37" fmla="*/ 346 h 512"/>
                  <a:gd name="T38" fmla="*/ 157 w 512"/>
                  <a:gd name="T39" fmla="*/ 370 h 512"/>
                  <a:gd name="T40" fmla="*/ 149 w 512"/>
                  <a:gd name="T41" fmla="*/ 373 h 512"/>
                  <a:gd name="T42" fmla="*/ 141 w 512"/>
                  <a:gd name="T43" fmla="*/ 370 h 512"/>
                  <a:gd name="T44" fmla="*/ 141 w 512"/>
                  <a:gd name="T45" fmla="*/ 355 h 512"/>
                  <a:gd name="T46" fmla="*/ 166 w 512"/>
                  <a:gd name="T47" fmla="*/ 331 h 512"/>
                  <a:gd name="T48" fmla="*/ 139 w 512"/>
                  <a:gd name="T49" fmla="*/ 266 h 512"/>
                  <a:gd name="T50" fmla="*/ 106 w 512"/>
                  <a:gd name="T51" fmla="*/ 266 h 512"/>
                  <a:gd name="T52" fmla="*/ 96 w 512"/>
                  <a:gd name="T53" fmla="*/ 256 h 512"/>
                  <a:gd name="T54" fmla="*/ 106 w 512"/>
                  <a:gd name="T55" fmla="*/ 245 h 512"/>
                  <a:gd name="T56" fmla="*/ 139 w 512"/>
                  <a:gd name="T57" fmla="*/ 245 h 512"/>
                  <a:gd name="T58" fmla="*/ 166 w 512"/>
                  <a:gd name="T59" fmla="*/ 181 h 512"/>
                  <a:gd name="T60" fmla="*/ 141 w 512"/>
                  <a:gd name="T61" fmla="*/ 157 h 512"/>
                  <a:gd name="T62" fmla="*/ 141 w 512"/>
                  <a:gd name="T63" fmla="*/ 141 h 512"/>
                  <a:gd name="T64" fmla="*/ 157 w 512"/>
                  <a:gd name="T65" fmla="*/ 141 h 512"/>
                  <a:gd name="T66" fmla="*/ 181 w 512"/>
                  <a:gd name="T67" fmla="*/ 166 h 512"/>
                  <a:gd name="T68" fmla="*/ 245 w 512"/>
                  <a:gd name="T69" fmla="*/ 139 h 512"/>
                  <a:gd name="T70" fmla="*/ 245 w 512"/>
                  <a:gd name="T71" fmla="*/ 106 h 512"/>
                  <a:gd name="T72" fmla="*/ 256 w 512"/>
                  <a:gd name="T73" fmla="*/ 96 h 512"/>
                  <a:gd name="T74" fmla="*/ 266 w 512"/>
                  <a:gd name="T75" fmla="*/ 106 h 512"/>
                  <a:gd name="T76" fmla="*/ 266 w 512"/>
                  <a:gd name="T77" fmla="*/ 139 h 512"/>
                  <a:gd name="T78" fmla="*/ 331 w 512"/>
                  <a:gd name="T79" fmla="*/ 166 h 512"/>
                  <a:gd name="T80" fmla="*/ 355 w 512"/>
                  <a:gd name="T81" fmla="*/ 141 h 512"/>
                  <a:gd name="T82" fmla="*/ 370 w 512"/>
                  <a:gd name="T83" fmla="*/ 141 h 512"/>
                  <a:gd name="T84" fmla="*/ 370 w 512"/>
                  <a:gd name="T85" fmla="*/ 157 h 512"/>
                  <a:gd name="T86" fmla="*/ 346 w 512"/>
                  <a:gd name="T87" fmla="*/ 181 h 512"/>
                  <a:gd name="T88" fmla="*/ 372 w 512"/>
                  <a:gd name="T89" fmla="*/ 245 h 512"/>
                  <a:gd name="T90" fmla="*/ 405 w 512"/>
                  <a:gd name="T91" fmla="*/ 245 h 512"/>
                  <a:gd name="T92" fmla="*/ 416 w 512"/>
                  <a:gd name="T93" fmla="*/ 256 h 512"/>
                  <a:gd name="T94" fmla="*/ 405 w 512"/>
                  <a:gd name="T95"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372" y="266"/>
                      <a:pt x="372" y="266"/>
                      <a:pt x="372" y="266"/>
                    </a:cubicBezTo>
                    <a:cubicBezTo>
                      <a:pt x="370" y="291"/>
                      <a:pt x="361" y="313"/>
                      <a:pt x="346" y="331"/>
                    </a:cubicBezTo>
                    <a:cubicBezTo>
                      <a:pt x="370" y="355"/>
                      <a:pt x="370" y="355"/>
                      <a:pt x="370" y="355"/>
                    </a:cubicBezTo>
                    <a:cubicBezTo>
                      <a:pt x="374" y="359"/>
                      <a:pt x="374" y="366"/>
                      <a:pt x="370" y="370"/>
                    </a:cubicBezTo>
                    <a:cubicBezTo>
                      <a:pt x="368" y="372"/>
                      <a:pt x="365" y="373"/>
                      <a:pt x="362" y="373"/>
                    </a:cubicBezTo>
                    <a:cubicBezTo>
                      <a:pt x="360" y="373"/>
                      <a:pt x="357" y="372"/>
                      <a:pt x="355" y="370"/>
                    </a:cubicBezTo>
                    <a:cubicBezTo>
                      <a:pt x="331" y="346"/>
                      <a:pt x="331" y="346"/>
                      <a:pt x="331" y="346"/>
                    </a:cubicBezTo>
                    <a:cubicBezTo>
                      <a:pt x="313" y="361"/>
                      <a:pt x="291" y="370"/>
                      <a:pt x="266" y="372"/>
                    </a:cubicBezTo>
                    <a:cubicBezTo>
                      <a:pt x="266" y="405"/>
                      <a:pt x="266" y="405"/>
                      <a:pt x="266" y="405"/>
                    </a:cubicBezTo>
                    <a:cubicBezTo>
                      <a:pt x="266" y="411"/>
                      <a:pt x="262" y="416"/>
                      <a:pt x="256" y="416"/>
                    </a:cubicBezTo>
                    <a:cubicBezTo>
                      <a:pt x="250" y="416"/>
                      <a:pt x="245" y="411"/>
                      <a:pt x="245" y="405"/>
                    </a:cubicBezTo>
                    <a:cubicBezTo>
                      <a:pt x="245" y="372"/>
                      <a:pt x="245" y="372"/>
                      <a:pt x="245" y="372"/>
                    </a:cubicBezTo>
                    <a:cubicBezTo>
                      <a:pt x="221" y="370"/>
                      <a:pt x="198" y="361"/>
                      <a:pt x="181" y="346"/>
                    </a:cubicBezTo>
                    <a:cubicBezTo>
                      <a:pt x="157" y="370"/>
                      <a:pt x="157" y="370"/>
                      <a:pt x="157" y="370"/>
                    </a:cubicBezTo>
                    <a:cubicBezTo>
                      <a:pt x="154" y="372"/>
                      <a:pt x="152" y="373"/>
                      <a:pt x="149" y="373"/>
                    </a:cubicBezTo>
                    <a:cubicBezTo>
                      <a:pt x="146" y="373"/>
                      <a:pt x="144" y="372"/>
                      <a:pt x="141" y="370"/>
                    </a:cubicBezTo>
                    <a:cubicBezTo>
                      <a:pt x="137" y="366"/>
                      <a:pt x="137" y="359"/>
                      <a:pt x="141" y="355"/>
                    </a:cubicBezTo>
                    <a:cubicBezTo>
                      <a:pt x="166" y="331"/>
                      <a:pt x="166" y="331"/>
                      <a:pt x="166" y="331"/>
                    </a:cubicBezTo>
                    <a:cubicBezTo>
                      <a:pt x="151" y="313"/>
                      <a:pt x="141" y="291"/>
                      <a:pt x="139" y="266"/>
                    </a:cubicBezTo>
                    <a:cubicBezTo>
                      <a:pt x="106" y="266"/>
                      <a:pt x="106" y="266"/>
                      <a:pt x="106" y="266"/>
                    </a:cubicBezTo>
                    <a:cubicBezTo>
                      <a:pt x="100" y="266"/>
                      <a:pt x="96" y="262"/>
                      <a:pt x="96" y="256"/>
                    </a:cubicBezTo>
                    <a:cubicBezTo>
                      <a:pt x="96" y="250"/>
                      <a:pt x="100" y="245"/>
                      <a:pt x="106" y="245"/>
                    </a:cubicBezTo>
                    <a:cubicBezTo>
                      <a:pt x="139" y="245"/>
                      <a:pt x="139" y="245"/>
                      <a:pt x="139" y="245"/>
                    </a:cubicBezTo>
                    <a:cubicBezTo>
                      <a:pt x="141" y="221"/>
                      <a:pt x="151" y="198"/>
                      <a:pt x="166" y="181"/>
                    </a:cubicBezTo>
                    <a:cubicBezTo>
                      <a:pt x="141" y="157"/>
                      <a:pt x="141" y="157"/>
                      <a:pt x="141" y="157"/>
                    </a:cubicBezTo>
                    <a:cubicBezTo>
                      <a:pt x="137" y="152"/>
                      <a:pt x="137" y="146"/>
                      <a:pt x="141" y="141"/>
                    </a:cubicBezTo>
                    <a:cubicBezTo>
                      <a:pt x="146" y="137"/>
                      <a:pt x="152" y="137"/>
                      <a:pt x="157" y="141"/>
                    </a:cubicBezTo>
                    <a:cubicBezTo>
                      <a:pt x="181" y="166"/>
                      <a:pt x="181" y="166"/>
                      <a:pt x="181" y="166"/>
                    </a:cubicBezTo>
                    <a:cubicBezTo>
                      <a:pt x="198" y="151"/>
                      <a:pt x="221" y="141"/>
                      <a:pt x="245" y="139"/>
                    </a:cubicBezTo>
                    <a:cubicBezTo>
                      <a:pt x="245" y="106"/>
                      <a:pt x="245" y="106"/>
                      <a:pt x="245" y="106"/>
                    </a:cubicBezTo>
                    <a:cubicBezTo>
                      <a:pt x="245" y="100"/>
                      <a:pt x="250" y="96"/>
                      <a:pt x="256" y="96"/>
                    </a:cubicBezTo>
                    <a:cubicBezTo>
                      <a:pt x="262" y="96"/>
                      <a:pt x="266" y="100"/>
                      <a:pt x="266" y="106"/>
                    </a:cubicBezTo>
                    <a:cubicBezTo>
                      <a:pt x="266" y="139"/>
                      <a:pt x="266" y="139"/>
                      <a:pt x="266" y="139"/>
                    </a:cubicBezTo>
                    <a:cubicBezTo>
                      <a:pt x="291" y="141"/>
                      <a:pt x="313" y="151"/>
                      <a:pt x="331" y="166"/>
                    </a:cubicBezTo>
                    <a:cubicBezTo>
                      <a:pt x="355" y="141"/>
                      <a:pt x="355" y="141"/>
                      <a:pt x="355" y="141"/>
                    </a:cubicBezTo>
                    <a:cubicBezTo>
                      <a:pt x="359" y="137"/>
                      <a:pt x="366" y="137"/>
                      <a:pt x="370" y="141"/>
                    </a:cubicBezTo>
                    <a:cubicBezTo>
                      <a:pt x="374" y="146"/>
                      <a:pt x="374" y="152"/>
                      <a:pt x="370" y="157"/>
                    </a:cubicBezTo>
                    <a:cubicBezTo>
                      <a:pt x="346" y="181"/>
                      <a:pt x="346" y="181"/>
                      <a:pt x="346" y="181"/>
                    </a:cubicBezTo>
                    <a:cubicBezTo>
                      <a:pt x="361" y="198"/>
                      <a:pt x="370" y="221"/>
                      <a:pt x="372"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GB" sz="1649" dirty="0">
                  <a:solidFill>
                    <a:prstClr val="black"/>
                  </a:solidFill>
                  <a:latin typeface="Verdana"/>
                </a:endParaRPr>
              </a:p>
            </p:txBody>
          </p:sp>
          <p:sp>
            <p:nvSpPr>
              <p:cNvPr id="32" name="Freeform 1034">
                <a:extLst>
                  <a:ext uri="{FF2B5EF4-FFF2-40B4-BE49-F238E27FC236}">
                    <a16:creationId xmlns:a16="http://schemas.microsoft.com/office/drawing/2014/main" id="{33BCC364-CE96-46D4-9DFF-8338903CA61A}"/>
                  </a:ext>
                </a:extLst>
              </p:cNvPr>
              <p:cNvSpPr>
                <a:spLocks/>
              </p:cNvSpPr>
              <p:nvPr/>
            </p:nvSpPr>
            <p:spPr bwMode="auto">
              <a:xfrm>
                <a:off x="976" y="4124"/>
                <a:ext cx="44" cy="33"/>
              </a:xfrm>
              <a:custGeom>
                <a:avLst/>
                <a:gdLst>
                  <a:gd name="T0" fmla="*/ 2 w 67"/>
                  <a:gd name="T1" fmla="*/ 45 h 49"/>
                  <a:gd name="T2" fmla="*/ 0 w 67"/>
                  <a:gd name="T3" fmla="*/ 46 h 49"/>
                  <a:gd name="T4" fmla="*/ 2 w 67"/>
                  <a:gd name="T5" fmla="*/ 49 h 49"/>
                  <a:gd name="T6" fmla="*/ 4 w 67"/>
                  <a:gd name="T7" fmla="*/ 49 h 49"/>
                  <a:gd name="T8" fmla="*/ 67 w 67"/>
                  <a:gd name="T9" fmla="*/ 49 h 49"/>
                  <a:gd name="T10" fmla="*/ 47 w 67"/>
                  <a:gd name="T11" fmla="*/ 0 h 49"/>
                  <a:gd name="T12" fmla="*/ 2 w 67"/>
                  <a:gd name="T13" fmla="*/ 45 h 49"/>
                </a:gdLst>
                <a:ahLst/>
                <a:cxnLst>
                  <a:cxn ang="0">
                    <a:pos x="T0" y="T1"/>
                  </a:cxn>
                  <a:cxn ang="0">
                    <a:pos x="T2" y="T3"/>
                  </a:cxn>
                  <a:cxn ang="0">
                    <a:pos x="T4" y="T5"/>
                  </a:cxn>
                  <a:cxn ang="0">
                    <a:pos x="T6" y="T7"/>
                  </a:cxn>
                  <a:cxn ang="0">
                    <a:pos x="T8" y="T9"/>
                  </a:cxn>
                  <a:cxn ang="0">
                    <a:pos x="T10" y="T11"/>
                  </a:cxn>
                  <a:cxn ang="0">
                    <a:pos x="T12" y="T13"/>
                  </a:cxn>
                </a:cxnLst>
                <a:rect l="0" t="0" r="r" b="b"/>
                <a:pathLst>
                  <a:path w="67" h="49">
                    <a:moveTo>
                      <a:pt x="2" y="45"/>
                    </a:moveTo>
                    <a:cubicBezTo>
                      <a:pt x="1" y="45"/>
                      <a:pt x="1" y="45"/>
                      <a:pt x="0" y="46"/>
                    </a:cubicBezTo>
                    <a:cubicBezTo>
                      <a:pt x="1" y="47"/>
                      <a:pt x="1" y="48"/>
                      <a:pt x="2" y="49"/>
                    </a:cubicBezTo>
                    <a:cubicBezTo>
                      <a:pt x="2" y="49"/>
                      <a:pt x="3" y="49"/>
                      <a:pt x="4" y="49"/>
                    </a:cubicBezTo>
                    <a:cubicBezTo>
                      <a:pt x="67" y="49"/>
                      <a:pt x="67" y="49"/>
                      <a:pt x="67" y="49"/>
                    </a:cubicBezTo>
                    <a:cubicBezTo>
                      <a:pt x="65" y="31"/>
                      <a:pt x="58" y="14"/>
                      <a:pt x="47" y="0"/>
                    </a:cubicBezTo>
                    <a:lnTo>
                      <a:pt x="2" y="4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GB" sz="1649" dirty="0">
                  <a:solidFill>
                    <a:prstClr val="black"/>
                  </a:solidFill>
                  <a:latin typeface="Verdana"/>
                </a:endParaRPr>
              </a:p>
            </p:txBody>
          </p:sp>
          <p:sp>
            <p:nvSpPr>
              <p:cNvPr id="33" name="Freeform 1035">
                <a:extLst>
                  <a:ext uri="{FF2B5EF4-FFF2-40B4-BE49-F238E27FC236}">
                    <a16:creationId xmlns:a16="http://schemas.microsoft.com/office/drawing/2014/main" id="{704C8D91-CFC8-4071-9C82-29B2FA2ABADD}"/>
                  </a:ext>
                </a:extLst>
              </p:cNvPr>
              <p:cNvSpPr>
                <a:spLocks/>
              </p:cNvSpPr>
              <p:nvPr/>
            </p:nvSpPr>
            <p:spPr bwMode="auto">
              <a:xfrm>
                <a:off x="964" y="4183"/>
                <a:ext cx="33" cy="44"/>
              </a:xfrm>
              <a:custGeom>
                <a:avLst/>
                <a:gdLst>
                  <a:gd name="T0" fmla="*/ 4 w 50"/>
                  <a:gd name="T1" fmla="*/ 0 h 67"/>
                  <a:gd name="T2" fmla="*/ 0 w 50"/>
                  <a:gd name="T3" fmla="*/ 2 h 67"/>
                  <a:gd name="T4" fmla="*/ 0 w 50"/>
                  <a:gd name="T5" fmla="*/ 4 h 67"/>
                  <a:gd name="T6" fmla="*/ 0 w 50"/>
                  <a:gd name="T7" fmla="*/ 67 h 67"/>
                  <a:gd name="T8" fmla="*/ 50 w 50"/>
                  <a:gd name="T9" fmla="*/ 47 h 67"/>
                  <a:gd name="T10" fmla="*/ 5 w 50"/>
                  <a:gd name="T11" fmla="*/ 2 h 67"/>
                  <a:gd name="T12" fmla="*/ 4 w 50"/>
                  <a:gd name="T13" fmla="*/ 0 h 67"/>
                </a:gdLst>
                <a:ahLst/>
                <a:cxnLst>
                  <a:cxn ang="0">
                    <a:pos x="T0" y="T1"/>
                  </a:cxn>
                  <a:cxn ang="0">
                    <a:pos x="T2" y="T3"/>
                  </a:cxn>
                  <a:cxn ang="0">
                    <a:pos x="T4" y="T5"/>
                  </a:cxn>
                  <a:cxn ang="0">
                    <a:pos x="T6" y="T7"/>
                  </a:cxn>
                  <a:cxn ang="0">
                    <a:pos x="T8" y="T9"/>
                  </a:cxn>
                  <a:cxn ang="0">
                    <a:pos x="T10" y="T11"/>
                  </a:cxn>
                  <a:cxn ang="0">
                    <a:pos x="T12" y="T13"/>
                  </a:cxn>
                </a:cxnLst>
                <a:rect l="0" t="0" r="r" b="b"/>
                <a:pathLst>
                  <a:path w="50" h="67">
                    <a:moveTo>
                      <a:pt x="4" y="0"/>
                    </a:moveTo>
                    <a:cubicBezTo>
                      <a:pt x="3" y="1"/>
                      <a:pt x="1" y="1"/>
                      <a:pt x="0" y="2"/>
                    </a:cubicBezTo>
                    <a:cubicBezTo>
                      <a:pt x="0" y="2"/>
                      <a:pt x="0" y="3"/>
                      <a:pt x="0" y="4"/>
                    </a:cubicBezTo>
                    <a:cubicBezTo>
                      <a:pt x="0" y="67"/>
                      <a:pt x="0" y="67"/>
                      <a:pt x="0" y="67"/>
                    </a:cubicBezTo>
                    <a:cubicBezTo>
                      <a:pt x="19" y="65"/>
                      <a:pt x="36" y="58"/>
                      <a:pt x="50" y="47"/>
                    </a:cubicBezTo>
                    <a:cubicBezTo>
                      <a:pt x="5" y="2"/>
                      <a:pt x="5" y="2"/>
                      <a:pt x="5" y="2"/>
                    </a:cubicBezTo>
                    <a:cubicBezTo>
                      <a:pt x="4" y="1"/>
                      <a:pt x="4" y="1"/>
                      <a:pt x="4"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GB" sz="1649" dirty="0">
                  <a:solidFill>
                    <a:prstClr val="black"/>
                  </a:solidFill>
                  <a:latin typeface="Verdana"/>
                </a:endParaRPr>
              </a:p>
            </p:txBody>
          </p:sp>
        </p:grpSp>
        <p:sp>
          <p:nvSpPr>
            <p:cNvPr id="19" name="TextBox 18">
              <a:extLst>
                <a:ext uri="{FF2B5EF4-FFF2-40B4-BE49-F238E27FC236}">
                  <a16:creationId xmlns:a16="http://schemas.microsoft.com/office/drawing/2014/main" id="{5AADAD3F-AC7F-4853-AA65-5F79F53093AA}"/>
                </a:ext>
              </a:extLst>
            </p:cNvPr>
            <p:cNvSpPr txBox="1"/>
            <p:nvPr/>
          </p:nvSpPr>
          <p:spPr>
            <a:xfrm>
              <a:off x="480662" y="5710329"/>
              <a:ext cx="1129159" cy="254817"/>
            </a:xfrm>
            <a:prstGeom prst="rect">
              <a:avLst/>
            </a:prstGeom>
            <a:noFill/>
          </p:spPr>
          <p:txBody>
            <a:bodyPr wrap="square" lIns="0" tIns="0" rIns="0" bIns="0" rtlCol="0">
              <a:spAutoFit/>
            </a:bodyPr>
            <a:lstStyle/>
            <a:p>
              <a:pPr algn="ctr" defTabSz="837848">
                <a:spcBef>
                  <a:spcPts val="409"/>
                </a:spcBef>
                <a:buSzPct val="100000"/>
              </a:pPr>
              <a:r>
                <a:rPr lang="en-US" sz="886" dirty="0">
                  <a:solidFill>
                    <a:srgbClr val="0097A9"/>
                  </a:solidFill>
                  <a:latin typeface="Verdana"/>
                </a:rPr>
                <a:t>Conducting pilot trial runs</a:t>
              </a:r>
              <a:endParaRPr lang="en-IN" sz="886" dirty="0">
                <a:solidFill>
                  <a:srgbClr val="0097A9"/>
                </a:solidFill>
                <a:latin typeface="Verdana"/>
              </a:endParaRPr>
            </a:p>
          </p:txBody>
        </p:sp>
        <p:sp>
          <p:nvSpPr>
            <p:cNvPr id="20" name="TextBox 19">
              <a:extLst>
                <a:ext uri="{FF2B5EF4-FFF2-40B4-BE49-F238E27FC236}">
                  <a16:creationId xmlns:a16="http://schemas.microsoft.com/office/drawing/2014/main" id="{8608693B-9B23-487F-9463-167E29312F3D}"/>
                </a:ext>
              </a:extLst>
            </p:cNvPr>
            <p:cNvSpPr txBox="1"/>
            <p:nvPr/>
          </p:nvSpPr>
          <p:spPr>
            <a:xfrm>
              <a:off x="1726492" y="5705468"/>
              <a:ext cx="1129159" cy="382225"/>
            </a:xfrm>
            <a:prstGeom prst="rect">
              <a:avLst/>
            </a:prstGeom>
            <a:noFill/>
          </p:spPr>
          <p:txBody>
            <a:bodyPr wrap="square" lIns="0" tIns="0" rIns="0" bIns="0" rtlCol="0">
              <a:spAutoFit/>
            </a:bodyPr>
            <a:lstStyle/>
            <a:p>
              <a:pPr algn="ctr" defTabSz="837848">
                <a:spcBef>
                  <a:spcPts val="409"/>
                </a:spcBef>
                <a:buSzPct val="100000"/>
              </a:pPr>
              <a:r>
                <a:rPr lang="en-US" sz="886" dirty="0">
                  <a:solidFill>
                    <a:srgbClr val="62B5E5"/>
                  </a:solidFill>
                  <a:latin typeface="Verdana"/>
                </a:rPr>
                <a:t>Conducting surveys and field visits</a:t>
              </a:r>
              <a:endParaRPr lang="en-IN" sz="886" dirty="0">
                <a:solidFill>
                  <a:srgbClr val="62B5E5"/>
                </a:solidFill>
                <a:latin typeface="Verdana"/>
              </a:endParaRPr>
            </a:p>
          </p:txBody>
        </p:sp>
        <p:sp>
          <p:nvSpPr>
            <p:cNvPr id="21" name="Rectangle 20">
              <a:extLst>
                <a:ext uri="{FF2B5EF4-FFF2-40B4-BE49-F238E27FC236}">
                  <a16:creationId xmlns:a16="http://schemas.microsoft.com/office/drawing/2014/main" id="{4470C392-9D2F-42D9-ADB4-7BEFD0F7EDA8}"/>
                </a:ext>
              </a:extLst>
            </p:cNvPr>
            <p:cNvSpPr/>
            <p:nvPr/>
          </p:nvSpPr>
          <p:spPr>
            <a:xfrm>
              <a:off x="9854902" y="4581814"/>
              <a:ext cx="2031792" cy="723339"/>
            </a:xfrm>
            <a:prstGeom prst="rect">
              <a:avLst/>
            </a:prstGeom>
          </p:spPr>
          <p:txBody>
            <a:bodyPr wrap="square">
              <a:spAutoFit/>
            </a:bodyPr>
            <a:lstStyle/>
            <a:p>
              <a:pPr marL="175780" lvl="1" indent="-117187" defTabSz="467750">
                <a:buSzPct val="65000"/>
                <a:buFont typeface="Wingdings" pitchFamily="2" charset="2"/>
                <a:buChar char="l"/>
              </a:pPr>
              <a:r>
                <a:rPr lang="en-US" sz="886" i="1" dirty="0">
                  <a:solidFill>
                    <a:srgbClr val="313131"/>
                  </a:solidFill>
                  <a:latin typeface="Verdana"/>
                </a:rPr>
                <a:t>Action Steps</a:t>
              </a:r>
            </a:p>
            <a:p>
              <a:pPr marL="175780" lvl="1" indent="-117187" defTabSz="467750">
                <a:buSzPct val="65000"/>
                <a:buFont typeface="Wingdings" pitchFamily="2" charset="2"/>
                <a:buChar char="l"/>
              </a:pPr>
              <a:r>
                <a:rPr lang="en-US" sz="886" i="1" dirty="0">
                  <a:solidFill>
                    <a:srgbClr val="313131"/>
                  </a:solidFill>
                  <a:latin typeface="Verdana"/>
                </a:rPr>
                <a:t>Stakeholder responsibility</a:t>
              </a:r>
            </a:p>
            <a:p>
              <a:pPr marL="175780" lvl="1" indent="-117187" defTabSz="467750">
                <a:buSzPct val="65000"/>
                <a:buFont typeface="Wingdings" pitchFamily="2" charset="2"/>
                <a:buChar char="l"/>
              </a:pPr>
              <a:r>
                <a:rPr lang="en-US" sz="886" i="1" dirty="0">
                  <a:solidFill>
                    <a:srgbClr val="313131"/>
                  </a:solidFill>
                  <a:latin typeface="Verdana"/>
                </a:rPr>
                <a:t>Time duration</a:t>
              </a:r>
            </a:p>
            <a:p>
              <a:pPr marL="175780" lvl="1" indent="-117187" defTabSz="467750">
                <a:buSzPct val="65000"/>
                <a:buFont typeface="Wingdings" pitchFamily="2" charset="2"/>
                <a:buChar char="l"/>
              </a:pPr>
              <a:r>
                <a:rPr lang="en-US" sz="886" i="1" dirty="0">
                  <a:solidFill>
                    <a:srgbClr val="313131"/>
                  </a:solidFill>
                  <a:latin typeface="Verdana"/>
                </a:rPr>
                <a:t>Bottlenecks and solutions</a:t>
              </a:r>
            </a:p>
            <a:p>
              <a:pPr marL="175780" lvl="1" indent="-117187" defTabSz="467750">
                <a:buSzPct val="65000"/>
                <a:buFont typeface="Wingdings" pitchFamily="2" charset="2"/>
                <a:buChar char="l"/>
              </a:pPr>
              <a:r>
                <a:rPr lang="en-US" sz="886" i="1" dirty="0">
                  <a:solidFill>
                    <a:srgbClr val="313131"/>
                  </a:solidFill>
                  <a:latin typeface="Verdana"/>
                </a:rPr>
                <a:t>collaborators</a:t>
              </a:r>
            </a:p>
          </p:txBody>
        </p:sp>
        <p:sp>
          <p:nvSpPr>
            <p:cNvPr id="22" name="Rectangle 21">
              <a:extLst>
                <a:ext uri="{FF2B5EF4-FFF2-40B4-BE49-F238E27FC236}">
                  <a16:creationId xmlns:a16="http://schemas.microsoft.com/office/drawing/2014/main" id="{8FF55EBD-6B8E-4F2E-AABF-1C5C7B81E806}"/>
                </a:ext>
              </a:extLst>
            </p:cNvPr>
            <p:cNvSpPr/>
            <p:nvPr/>
          </p:nvSpPr>
          <p:spPr>
            <a:xfrm>
              <a:off x="7450397" y="4034612"/>
              <a:ext cx="1653017" cy="909777"/>
            </a:xfrm>
            <a:prstGeom prst="rect">
              <a:avLst/>
            </a:prstGeom>
          </p:spPr>
          <p:txBody>
            <a:bodyPr wrap="square">
              <a:spAutoFit/>
            </a:bodyPr>
            <a:lstStyle/>
            <a:p>
              <a:pPr defTabSz="837848"/>
              <a:r>
                <a:rPr lang="en-IN" sz="818" b="1" dirty="0">
                  <a:solidFill>
                    <a:srgbClr val="046A38"/>
                  </a:solidFill>
                  <a:latin typeface="Verdana"/>
                </a:rPr>
                <a:t>KPIs measuring </a:t>
              </a:r>
            </a:p>
            <a:p>
              <a:pPr marL="116895" indent="-116895" defTabSz="837848">
                <a:buFont typeface="Arial" panose="020B0604020202020204" pitchFamily="34" charset="0"/>
                <a:buChar char="•"/>
              </a:pPr>
              <a:r>
                <a:rPr lang="en-IN" sz="818" dirty="0">
                  <a:solidFill>
                    <a:srgbClr val="046A38"/>
                  </a:solidFill>
                  <a:latin typeface="Verdana"/>
                </a:rPr>
                <a:t>Technical Performance</a:t>
              </a:r>
            </a:p>
            <a:p>
              <a:pPr marL="116895" indent="-116895" defTabSz="837848">
                <a:buFont typeface="Arial" panose="020B0604020202020204" pitchFamily="34" charset="0"/>
                <a:buChar char="•"/>
              </a:pPr>
              <a:r>
                <a:rPr lang="en-IN" sz="818" dirty="0">
                  <a:solidFill>
                    <a:srgbClr val="046A38"/>
                  </a:solidFill>
                  <a:latin typeface="Verdana"/>
                </a:rPr>
                <a:t>Commercial Performance</a:t>
              </a:r>
            </a:p>
            <a:p>
              <a:pPr marL="116895" indent="-116895" defTabSz="837848">
                <a:buFont typeface="Arial" panose="020B0604020202020204" pitchFamily="34" charset="0"/>
                <a:buChar char="•"/>
              </a:pPr>
              <a:r>
                <a:rPr lang="en-IN" sz="818" dirty="0">
                  <a:solidFill>
                    <a:srgbClr val="046A38"/>
                  </a:solidFill>
                  <a:latin typeface="Verdana"/>
                </a:rPr>
                <a:t>De-carbonisation</a:t>
              </a:r>
            </a:p>
            <a:p>
              <a:pPr marL="116895" indent="-116895" defTabSz="837848">
                <a:buFont typeface="Arial" panose="020B0604020202020204" pitchFamily="34" charset="0"/>
                <a:buChar char="•"/>
              </a:pPr>
              <a:r>
                <a:rPr lang="en-IN" sz="818" dirty="0">
                  <a:solidFill>
                    <a:srgbClr val="046A38"/>
                  </a:solidFill>
                  <a:latin typeface="Verdana"/>
                </a:rPr>
                <a:t>Social impact</a:t>
              </a:r>
            </a:p>
            <a:p>
              <a:pPr marL="116895" indent="-116895" defTabSz="837848">
                <a:buFont typeface="Arial" panose="020B0604020202020204" pitchFamily="34" charset="0"/>
                <a:buChar char="•"/>
              </a:pPr>
              <a:r>
                <a:rPr lang="en-IN" sz="818" dirty="0">
                  <a:solidFill>
                    <a:srgbClr val="046A38"/>
                  </a:solidFill>
                  <a:latin typeface="Verdana"/>
                </a:rPr>
                <a:t>Legal infrastructure</a:t>
              </a:r>
            </a:p>
          </p:txBody>
        </p:sp>
        <p:sp>
          <p:nvSpPr>
            <p:cNvPr id="23" name="Freeform 908">
              <a:extLst>
                <a:ext uri="{FF2B5EF4-FFF2-40B4-BE49-F238E27FC236}">
                  <a16:creationId xmlns:a16="http://schemas.microsoft.com/office/drawing/2014/main" id="{F96B6909-A4BE-44B9-A2F9-7CAFD389ADA7}"/>
                </a:ext>
              </a:extLst>
            </p:cNvPr>
            <p:cNvSpPr>
              <a:spLocks noChangeAspect="1" noEditPoints="1"/>
            </p:cNvSpPr>
            <p:nvPr/>
          </p:nvSpPr>
          <p:spPr bwMode="auto">
            <a:xfrm>
              <a:off x="2058494" y="5303839"/>
              <a:ext cx="449192" cy="369021"/>
            </a:xfrm>
            <a:custGeom>
              <a:avLst/>
              <a:gdLst>
                <a:gd name="T0" fmla="*/ 160 w 512"/>
                <a:gd name="T1" fmla="*/ 224 h 512"/>
                <a:gd name="T2" fmla="*/ 213 w 512"/>
                <a:gd name="T3" fmla="*/ 224 h 512"/>
                <a:gd name="T4" fmla="*/ 213 w 512"/>
                <a:gd name="T5" fmla="*/ 245 h 512"/>
                <a:gd name="T6" fmla="*/ 160 w 512"/>
                <a:gd name="T7" fmla="*/ 245 h 512"/>
                <a:gd name="T8" fmla="*/ 160 w 512"/>
                <a:gd name="T9" fmla="*/ 224 h 512"/>
                <a:gd name="T10" fmla="*/ 234 w 512"/>
                <a:gd name="T11" fmla="*/ 352 h 512"/>
                <a:gd name="T12" fmla="*/ 256 w 512"/>
                <a:gd name="T13" fmla="*/ 352 h 512"/>
                <a:gd name="T14" fmla="*/ 256 w 512"/>
                <a:gd name="T15" fmla="*/ 266 h 512"/>
                <a:gd name="T16" fmla="*/ 234 w 512"/>
                <a:gd name="T17" fmla="*/ 266 h 512"/>
                <a:gd name="T18" fmla="*/ 234 w 512"/>
                <a:gd name="T19" fmla="*/ 352 h 512"/>
                <a:gd name="T20" fmla="*/ 160 w 512"/>
                <a:gd name="T21" fmla="*/ 352 h 512"/>
                <a:gd name="T22" fmla="*/ 213 w 512"/>
                <a:gd name="T23" fmla="*/ 352 h 512"/>
                <a:gd name="T24" fmla="*/ 213 w 512"/>
                <a:gd name="T25" fmla="*/ 266 h 512"/>
                <a:gd name="T26" fmla="*/ 160 w 512"/>
                <a:gd name="T27" fmla="*/ 266 h 512"/>
                <a:gd name="T28" fmla="*/ 160 w 512"/>
                <a:gd name="T29" fmla="*/ 352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277 w 512"/>
                <a:gd name="T41" fmla="*/ 256 h 512"/>
                <a:gd name="T42" fmla="*/ 266 w 512"/>
                <a:gd name="T43" fmla="*/ 245 h 512"/>
                <a:gd name="T44" fmla="*/ 234 w 512"/>
                <a:gd name="T45" fmla="*/ 245 h 512"/>
                <a:gd name="T46" fmla="*/ 234 w 512"/>
                <a:gd name="T47" fmla="*/ 213 h 512"/>
                <a:gd name="T48" fmla="*/ 224 w 512"/>
                <a:gd name="T49" fmla="*/ 202 h 512"/>
                <a:gd name="T50" fmla="*/ 149 w 512"/>
                <a:gd name="T51" fmla="*/ 202 h 512"/>
                <a:gd name="T52" fmla="*/ 138 w 512"/>
                <a:gd name="T53" fmla="*/ 213 h 512"/>
                <a:gd name="T54" fmla="*/ 138 w 512"/>
                <a:gd name="T55" fmla="*/ 245 h 512"/>
                <a:gd name="T56" fmla="*/ 106 w 512"/>
                <a:gd name="T57" fmla="*/ 245 h 512"/>
                <a:gd name="T58" fmla="*/ 96 w 512"/>
                <a:gd name="T59" fmla="*/ 256 h 512"/>
                <a:gd name="T60" fmla="*/ 96 w 512"/>
                <a:gd name="T61" fmla="*/ 362 h 512"/>
                <a:gd name="T62" fmla="*/ 106 w 512"/>
                <a:gd name="T63" fmla="*/ 373 h 512"/>
                <a:gd name="T64" fmla="*/ 266 w 512"/>
                <a:gd name="T65" fmla="*/ 373 h 512"/>
                <a:gd name="T66" fmla="*/ 277 w 512"/>
                <a:gd name="T67" fmla="*/ 362 h 512"/>
                <a:gd name="T68" fmla="*/ 277 w 512"/>
                <a:gd name="T69" fmla="*/ 256 h 512"/>
                <a:gd name="T70" fmla="*/ 413 w 512"/>
                <a:gd name="T71" fmla="*/ 259 h 512"/>
                <a:gd name="T72" fmla="*/ 362 w 512"/>
                <a:gd name="T73" fmla="*/ 209 h 512"/>
                <a:gd name="T74" fmla="*/ 374 w 512"/>
                <a:gd name="T75" fmla="*/ 174 h 512"/>
                <a:gd name="T76" fmla="*/ 356 w 512"/>
                <a:gd name="T77" fmla="*/ 131 h 512"/>
                <a:gd name="T78" fmla="*/ 313 w 512"/>
                <a:gd name="T79" fmla="*/ 113 h 512"/>
                <a:gd name="T80" fmla="*/ 269 w 512"/>
                <a:gd name="T81" fmla="*/ 131 h 512"/>
                <a:gd name="T82" fmla="*/ 252 w 512"/>
                <a:gd name="T83" fmla="*/ 174 h 512"/>
                <a:gd name="T84" fmla="*/ 269 w 512"/>
                <a:gd name="T85" fmla="*/ 217 h 512"/>
                <a:gd name="T86" fmla="*/ 313 w 512"/>
                <a:gd name="T87" fmla="*/ 235 h 512"/>
                <a:gd name="T88" fmla="*/ 347 w 512"/>
                <a:gd name="T89" fmla="*/ 224 h 512"/>
                <a:gd name="T90" fmla="*/ 397 w 512"/>
                <a:gd name="T91" fmla="*/ 274 h 512"/>
                <a:gd name="T92" fmla="*/ 405 w 512"/>
                <a:gd name="T93" fmla="*/ 277 h 512"/>
                <a:gd name="T94" fmla="*/ 413 w 512"/>
                <a:gd name="T95" fmla="*/ 274 h 512"/>
                <a:gd name="T96" fmla="*/ 413 w 512"/>
                <a:gd name="T97" fmla="*/ 259 h 512"/>
                <a:gd name="T98" fmla="*/ 117 w 512"/>
                <a:gd name="T99" fmla="*/ 352 h 512"/>
                <a:gd name="T100" fmla="*/ 138 w 512"/>
                <a:gd name="T101" fmla="*/ 352 h 512"/>
                <a:gd name="T102" fmla="*/ 138 w 512"/>
                <a:gd name="T103" fmla="*/ 266 h 512"/>
                <a:gd name="T104" fmla="*/ 117 w 512"/>
                <a:gd name="T105" fmla="*/ 266 h 512"/>
                <a:gd name="T106" fmla="*/ 117 w 512"/>
                <a:gd name="T107" fmla="*/ 352 h 512"/>
                <a:gd name="T108" fmla="*/ 313 w 512"/>
                <a:gd name="T109" fmla="*/ 134 h 512"/>
                <a:gd name="T110" fmla="*/ 285 w 512"/>
                <a:gd name="T111" fmla="*/ 146 h 512"/>
                <a:gd name="T112" fmla="*/ 285 w 512"/>
                <a:gd name="T113" fmla="*/ 202 h 512"/>
                <a:gd name="T114" fmla="*/ 341 w 512"/>
                <a:gd name="T115" fmla="*/ 202 h 512"/>
                <a:gd name="T116" fmla="*/ 352 w 512"/>
                <a:gd name="T117" fmla="*/ 174 h 512"/>
                <a:gd name="T118" fmla="*/ 341 w 512"/>
                <a:gd name="T119" fmla="*/ 146 h 512"/>
                <a:gd name="T120" fmla="*/ 313 w 512"/>
                <a:gd name="T121" fmla="*/ 13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160" y="224"/>
                  </a:moveTo>
                  <a:cubicBezTo>
                    <a:pt x="213" y="224"/>
                    <a:pt x="213" y="224"/>
                    <a:pt x="213" y="224"/>
                  </a:cubicBezTo>
                  <a:cubicBezTo>
                    <a:pt x="213" y="245"/>
                    <a:pt x="213" y="245"/>
                    <a:pt x="213" y="245"/>
                  </a:cubicBezTo>
                  <a:cubicBezTo>
                    <a:pt x="160" y="245"/>
                    <a:pt x="160" y="245"/>
                    <a:pt x="160" y="245"/>
                  </a:cubicBezTo>
                  <a:lnTo>
                    <a:pt x="160" y="224"/>
                  </a:lnTo>
                  <a:close/>
                  <a:moveTo>
                    <a:pt x="234" y="352"/>
                  </a:moveTo>
                  <a:cubicBezTo>
                    <a:pt x="256" y="352"/>
                    <a:pt x="256" y="352"/>
                    <a:pt x="256" y="352"/>
                  </a:cubicBezTo>
                  <a:cubicBezTo>
                    <a:pt x="256" y="266"/>
                    <a:pt x="256" y="266"/>
                    <a:pt x="256" y="266"/>
                  </a:cubicBezTo>
                  <a:cubicBezTo>
                    <a:pt x="234" y="266"/>
                    <a:pt x="234" y="266"/>
                    <a:pt x="234" y="266"/>
                  </a:cubicBezTo>
                  <a:lnTo>
                    <a:pt x="234" y="352"/>
                  </a:lnTo>
                  <a:close/>
                  <a:moveTo>
                    <a:pt x="160" y="352"/>
                  </a:moveTo>
                  <a:cubicBezTo>
                    <a:pt x="213" y="352"/>
                    <a:pt x="213" y="352"/>
                    <a:pt x="213" y="352"/>
                  </a:cubicBezTo>
                  <a:cubicBezTo>
                    <a:pt x="213" y="266"/>
                    <a:pt x="213" y="266"/>
                    <a:pt x="213" y="266"/>
                  </a:cubicBezTo>
                  <a:cubicBezTo>
                    <a:pt x="160" y="266"/>
                    <a:pt x="160" y="266"/>
                    <a:pt x="160" y="266"/>
                  </a:cubicBezTo>
                  <a:lnTo>
                    <a:pt x="160" y="352"/>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77" y="256"/>
                  </a:moveTo>
                  <a:cubicBezTo>
                    <a:pt x="277" y="250"/>
                    <a:pt x="272" y="245"/>
                    <a:pt x="266" y="245"/>
                  </a:cubicBezTo>
                  <a:cubicBezTo>
                    <a:pt x="234" y="245"/>
                    <a:pt x="234" y="245"/>
                    <a:pt x="234" y="245"/>
                  </a:cubicBezTo>
                  <a:cubicBezTo>
                    <a:pt x="234" y="213"/>
                    <a:pt x="234" y="213"/>
                    <a:pt x="234" y="213"/>
                  </a:cubicBezTo>
                  <a:cubicBezTo>
                    <a:pt x="234" y="207"/>
                    <a:pt x="230" y="202"/>
                    <a:pt x="224" y="202"/>
                  </a:cubicBezTo>
                  <a:cubicBezTo>
                    <a:pt x="149" y="202"/>
                    <a:pt x="149" y="202"/>
                    <a:pt x="149" y="202"/>
                  </a:cubicBezTo>
                  <a:cubicBezTo>
                    <a:pt x="143" y="202"/>
                    <a:pt x="138" y="207"/>
                    <a:pt x="138" y="213"/>
                  </a:cubicBezTo>
                  <a:cubicBezTo>
                    <a:pt x="138" y="245"/>
                    <a:pt x="138" y="245"/>
                    <a:pt x="138" y="245"/>
                  </a:cubicBezTo>
                  <a:cubicBezTo>
                    <a:pt x="106" y="245"/>
                    <a:pt x="106" y="245"/>
                    <a:pt x="106" y="245"/>
                  </a:cubicBezTo>
                  <a:cubicBezTo>
                    <a:pt x="100" y="245"/>
                    <a:pt x="96" y="250"/>
                    <a:pt x="96" y="256"/>
                  </a:cubicBezTo>
                  <a:cubicBezTo>
                    <a:pt x="96" y="362"/>
                    <a:pt x="96" y="362"/>
                    <a:pt x="96" y="362"/>
                  </a:cubicBezTo>
                  <a:cubicBezTo>
                    <a:pt x="96" y="368"/>
                    <a:pt x="100" y="373"/>
                    <a:pt x="106" y="373"/>
                  </a:cubicBezTo>
                  <a:cubicBezTo>
                    <a:pt x="266" y="373"/>
                    <a:pt x="266" y="373"/>
                    <a:pt x="266" y="373"/>
                  </a:cubicBezTo>
                  <a:cubicBezTo>
                    <a:pt x="272" y="373"/>
                    <a:pt x="277" y="368"/>
                    <a:pt x="277" y="362"/>
                  </a:cubicBezTo>
                  <a:lnTo>
                    <a:pt x="277" y="256"/>
                  </a:lnTo>
                  <a:close/>
                  <a:moveTo>
                    <a:pt x="413" y="259"/>
                  </a:moveTo>
                  <a:cubicBezTo>
                    <a:pt x="362" y="209"/>
                    <a:pt x="362" y="209"/>
                    <a:pt x="362" y="209"/>
                  </a:cubicBezTo>
                  <a:cubicBezTo>
                    <a:pt x="370" y="199"/>
                    <a:pt x="374" y="187"/>
                    <a:pt x="374" y="174"/>
                  </a:cubicBezTo>
                  <a:cubicBezTo>
                    <a:pt x="374" y="158"/>
                    <a:pt x="367" y="142"/>
                    <a:pt x="356" y="131"/>
                  </a:cubicBezTo>
                  <a:cubicBezTo>
                    <a:pt x="344" y="119"/>
                    <a:pt x="329" y="113"/>
                    <a:pt x="313" y="113"/>
                  </a:cubicBezTo>
                  <a:cubicBezTo>
                    <a:pt x="296" y="113"/>
                    <a:pt x="281" y="119"/>
                    <a:pt x="269" y="131"/>
                  </a:cubicBezTo>
                  <a:cubicBezTo>
                    <a:pt x="258" y="142"/>
                    <a:pt x="252" y="158"/>
                    <a:pt x="252" y="174"/>
                  </a:cubicBezTo>
                  <a:cubicBezTo>
                    <a:pt x="252" y="190"/>
                    <a:pt x="258" y="205"/>
                    <a:pt x="269" y="217"/>
                  </a:cubicBezTo>
                  <a:cubicBezTo>
                    <a:pt x="281" y="229"/>
                    <a:pt x="296" y="235"/>
                    <a:pt x="313" y="235"/>
                  </a:cubicBezTo>
                  <a:cubicBezTo>
                    <a:pt x="325" y="235"/>
                    <a:pt x="337" y="231"/>
                    <a:pt x="347" y="224"/>
                  </a:cubicBezTo>
                  <a:cubicBezTo>
                    <a:pt x="397" y="274"/>
                    <a:pt x="397" y="274"/>
                    <a:pt x="397" y="274"/>
                  </a:cubicBezTo>
                  <a:cubicBezTo>
                    <a:pt x="400" y="276"/>
                    <a:pt x="402" y="277"/>
                    <a:pt x="405" y="277"/>
                  </a:cubicBezTo>
                  <a:cubicBezTo>
                    <a:pt x="408" y="277"/>
                    <a:pt x="410" y="276"/>
                    <a:pt x="413" y="274"/>
                  </a:cubicBezTo>
                  <a:cubicBezTo>
                    <a:pt x="417" y="270"/>
                    <a:pt x="417" y="263"/>
                    <a:pt x="413" y="259"/>
                  </a:cubicBezTo>
                  <a:close/>
                  <a:moveTo>
                    <a:pt x="117" y="352"/>
                  </a:moveTo>
                  <a:cubicBezTo>
                    <a:pt x="138" y="352"/>
                    <a:pt x="138" y="352"/>
                    <a:pt x="138" y="352"/>
                  </a:cubicBezTo>
                  <a:cubicBezTo>
                    <a:pt x="138" y="266"/>
                    <a:pt x="138" y="266"/>
                    <a:pt x="138" y="266"/>
                  </a:cubicBezTo>
                  <a:cubicBezTo>
                    <a:pt x="117" y="266"/>
                    <a:pt x="117" y="266"/>
                    <a:pt x="117" y="266"/>
                  </a:cubicBezTo>
                  <a:lnTo>
                    <a:pt x="117" y="352"/>
                  </a:lnTo>
                  <a:close/>
                  <a:moveTo>
                    <a:pt x="313" y="134"/>
                  </a:moveTo>
                  <a:cubicBezTo>
                    <a:pt x="302" y="134"/>
                    <a:pt x="292" y="138"/>
                    <a:pt x="285" y="146"/>
                  </a:cubicBezTo>
                  <a:cubicBezTo>
                    <a:pt x="269" y="161"/>
                    <a:pt x="269" y="186"/>
                    <a:pt x="285" y="202"/>
                  </a:cubicBezTo>
                  <a:cubicBezTo>
                    <a:pt x="300" y="217"/>
                    <a:pt x="325" y="217"/>
                    <a:pt x="341" y="202"/>
                  </a:cubicBezTo>
                  <a:cubicBezTo>
                    <a:pt x="348" y="194"/>
                    <a:pt x="352" y="184"/>
                    <a:pt x="352" y="174"/>
                  </a:cubicBezTo>
                  <a:cubicBezTo>
                    <a:pt x="352" y="163"/>
                    <a:pt x="348" y="153"/>
                    <a:pt x="341" y="146"/>
                  </a:cubicBezTo>
                  <a:cubicBezTo>
                    <a:pt x="333" y="138"/>
                    <a:pt x="323" y="134"/>
                    <a:pt x="313" y="134"/>
                  </a:cubicBezTo>
                  <a:close/>
                </a:path>
              </a:pathLst>
            </a:custGeom>
            <a:solidFill>
              <a:schemeClr val="accent4"/>
            </a:solidFill>
            <a:ln>
              <a:noFill/>
            </a:ln>
          </p:spPr>
          <p:txBody>
            <a:bodyPr vert="horz" wrap="square" lIns="62345" tIns="31173" rIns="62345" bIns="31173" numCol="1" anchor="t" anchorCtr="0" compatLnSpc="1">
              <a:prstTxWarp prst="textNoShape">
                <a:avLst/>
              </a:prstTxWarp>
            </a:bodyPr>
            <a:lstStyle/>
            <a:p>
              <a:pPr defTabSz="837848"/>
              <a:endParaRPr lang="en-GB" sz="1649" dirty="0">
                <a:solidFill>
                  <a:prstClr val="black"/>
                </a:solidFill>
                <a:latin typeface="Verdana"/>
              </a:endParaRPr>
            </a:p>
          </p:txBody>
        </p:sp>
      </p:grpSp>
      <p:grpSp>
        <p:nvGrpSpPr>
          <p:cNvPr id="83" name="Group 82">
            <a:extLst>
              <a:ext uri="{FF2B5EF4-FFF2-40B4-BE49-F238E27FC236}">
                <a16:creationId xmlns:a16="http://schemas.microsoft.com/office/drawing/2014/main" id="{BB3C8CC1-09F5-467A-AC79-F764631CD825}"/>
              </a:ext>
            </a:extLst>
          </p:cNvPr>
          <p:cNvGrpSpPr/>
          <p:nvPr/>
        </p:nvGrpSpPr>
        <p:grpSpPr>
          <a:xfrm>
            <a:off x="8752588" y="125"/>
            <a:ext cx="3439412" cy="312153"/>
            <a:chOff x="3284559" y="173998"/>
            <a:chExt cx="10407720" cy="452926"/>
          </a:xfrm>
        </p:grpSpPr>
        <p:sp>
          <p:nvSpPr>
            <p:cNvPr id="84" name="AutoShape 6">
              <a:extLst>
                <a:ext uri="{FF2B5EF4-FFF2-40B4-BE49-F238E27FC236}">
                  <a16:creationId xmlns:a16="http://schemas.microsoft.com/office/drawing/2014/main" id="{D467DCF3-43DF-4F8D-B324-B3971E85F9C7}"/>
                </a:ext>
              </a:extLst>
            </p:cNvPr>
            <p:cNvSpPr>
              <a:spLocks noChangeArrowheads="1"/>
            </p:cNvSpPr>
            <p:nvPr/>
          </p:nvSpPr>
          <p:spPr bwMode="auto">
            <a:xfrm>
              <a:off x="3284559" y="173998"/>
              <a:ext cx="3870036" cy="452926"/>
            </a:xfrm>
            <a:prstGeom prst="homePlate">
              <a:avLst>
                <a:gd name="adj" fmla="val 38784"/>
              </a:avLst>
            </a:prstGeom>
            <a:solidFill>
              <a:srgbClr val="E3E4E5"/>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latin typeface="Verdana"/>
                  <a:ea typeface="MS PGothic" panose="020B0600070205080204" pitchFamily="34" charset="-128"/>
                  <a:cs typeface="Times New Roman" panose="02020603050405020304" pitchFamily="18" charset="0"/>
                </a:rPr>
                <a:t>Module-1 (</a:t>
              </a:r>
              <a:r>
                <a:rPr lang="en-US" sz="545" b="1" dirty="0">
                  <a:latin typeface="Verdana"/>
                </a:rPr>
                <a:t>Diagnostic Review &amp; Causal Analysis)</a:t>
              </a:r>
              <a:endParaRPr lang="en-IN" sz="545" b="1" dirty="0">
                <a:latin typeface="Verdana"/>
                <a:ea typeface="Times New Roman" panose="02020603050405020304" pitchFamily="18" charset="0"/>
                <a:cs typeface="Times New Roman" panose="02020603050405020304" pitchFamily="18" charset="0"/>
              </a:endParaRPr>
            </a:p>
          </p:txBody>
        </p:sp>
        <p:sp>
          <p:nvSpPr>
            <p:cNvPr id="85" name="AutoShape 7">
              <a:extLst>
                <a:ext uri="{FF2B5EF4-FFF2-40B4-BE49-F238E27FC236}">
                  <a16:creationId xmlns:a16="http://schemas.microsoft.com/office/drawing/2014/main" id="{8694CC44-2A83-4F38-8519-0587082D471E}"/>
                </a:ext>
              </a:extLst>
            </p:cNvPr>
            <p:cNvSpPr>
              <a:spLocks noChangeArrowheads="1"/>
            </p:cNvSpPr>
            <p:nvPr/>
          </p:nvSpPr>
          <p:spPr bwMode="auto">
            <a:xfrm>
              <a:off x="6983578" y="173998"/>
              <a:ext cx="3870036" cy="452926"/>
            </a:xfrm>
            <a:prstGeom prst="chevron">
              <a:avLst>
                <a:gd name="adj" fmla="val 36855"/>
              </a:avLst>
            </a:prstGeom>
            <a:solidFill>
              <a:srgbClr val="0097A9"/>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solidFill>
                    <a:srgbClr val="FFFFFF"/>
                  </a:solidFill>
                  <a:latin typeface="Verdana"/>
                  <a:ea typeface="MS PGothic" panose="020B0600070205080204" pitchFamily="34" charset="-128"/>
                  <a:cs typeface="Times New Roman" panose="02020603050405020304" pitchFamily="18" charset="0"/>
                </a:rPr>
                <a:t>Module-2 (Strategic Vision Development)</a:t>
              </a:r>
              <a:endParaRPr lang="en-IN" sz="545" dirty="0">
                <a:solidFill>
                  <a:prstClr val="black"/>
                </a:solidFill>
                <a:latin typeface="Verdana"/>
                <a:ea typeface="Times New Roman" panose="02020603050405020304" pitchFamily="18" charset="0"/>
                <a:cs typeface="Times New Roman" panose="02020603050405020304" pitchFamily="18" charset="0"/>
              </a:endParaRPr>
            </a:p>
          </p:txBody>
        </p:sp>
        <p:sp>
          <p:nvSpPr>
            <p:cNvPr id="86" name="AutoShape 7">
              <a:extLst>
                <a:ext uri="{FF2B5EF4-FFF2-40B4-BE49-F238E27FC236}">
                  <a16:creationId xmlns:a16="http://schemas.microsoft.com/office/drawing/2014/main" id="{CC5331BC-C923-4A7B-BFDB-E43B8495B33A}"/>
                </a:ext>
              </a:extLst>
            </p:cNvPr>
            <p:cNvSpPr>
              <a:spLocks noChangeArrowheads="1"/>
            </p:cNvSpPr>
            <p:nvPr/>
          </p:nvSpPr>
          <p:spPr bwMode="auto">
            <a:xfrm>
              <a:off x="10691720" y="173998"/>
              <a:ext cx="3000559" cy="452926"/>
            </a:xfrm>
            <a:prstGeom prst="chevron">
              <a:avLst>
                <a:gd name="adj" fmla="val 36855"/>
              </a:avLst>
            </a:prstGeom>
            <a:solidFill>
              <a:schemeClr val="accent6">
                <a:lumMod val="20000"/>
                <a:lumOff val="80000"/>
              </a:schemeClr>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latin typeface="Verdana"/>
                  <a:ea typeface="Times New Roman" panose="02020603050405020304" pitchFamily="18" charset="0"/>
                  <a:cs typeface="Times New Roman" panose="02020603050405020304" pitchFamily="18" charset="0"/>
                </a:rPr>
                <a:t>Implementation Support</a:t>
              </a:r>
              <a:endParaRPr lang="en-IN" sz="545" b="1" dirty="0">
                <a:latin typeface="Verdana"/>
                <a:ea typeface="Times New Roman" panose="02020603050405020304" pitchFamily="18" charset="0"/>
                <a:cs typeface="Times New Roman" panose="02020603050405020304" pitchFamily="18" charset="0"/>
              </a:endParaRPr>
            </a:p>
          </p:txBody>
        </p:sp>
      </p:grpSp>
      <p:sp>
        <p:nvSpPr>
          <p:cNvPr id="87" name="Title 2">
            <a:extLst>
              <a:ext uri="{FF2B5EF4-FFF2-40B4-BE49-F238E27FC236}">
                <a16:creationId xmlns:a16="http://schemas.microsoft.com/office/drawing/2014/main" id="{A65717A8-7BC5-418A-A323-168E2065F5F6}"/>
              </a:ext>
            </a:extLst>
          </p:cNvPr>
          <p:cNvSpPr>
            <a:spLocks noGrp="1"/>
          </p:cNvSpPr>
          <p:nvPr>
            <p:ph type="title"/>
          </p:nvPr>
        </p:nvSpPr>
        <p:spPr>
          <a:xfrm>
            <a:off x="617225" y="245179"/>
            <a:ext cx="8437784" cy="227797"/>
          </a:xfrm>
        </p:spPr>
        <p:txBody>
          <a:bodyPr vert="horz"/>
          <a:lstStyle/>
          <a:p>
            <a:pPr defTabSz="831272"/>
            <a:r>
              <a:rPr lang="en-US" sz="1800" dirty="0">
                <a:solidFill>
                  <a:prstClr val="black"/>
                </a:solidFill>
              </a:rPr>
              <a:t>Module-2: </a:t>
            </a:r>
            <a:r>
              <a:rPr lang="en-US" sz="1800" dirty="0">
                <a:solidFill>
                  <a:prstClr val="black"/>
                </a:solidFill>
                <a:ea typeface="MS PGothic" panose="020B0600070205080204" pitchFamily="34" charset="-128"/>
                <a:cs typeface="Times New Roman" panose="02020603050405020304" pitchFamily="18" charset="0"/>
              </a:rPr>
              <a:t>Development of Strategic Vision 2030(1/2)</a:t>
            </a:r>
            <a:endParaRPr lang="en-IN" sz="1800" dirty="0">
              <a:solidFill>
                <a:prstClr val="black"/>
              </a:solidFill>
            </a:endParaRPr>
          </a:p>
        </p:txBody>
      </p:sp>
      <p:sp>
        <p:nvSpPr>
          <p:cNvPr id="88" name="Text Placeholder 1">
            <a:extLst>
              <a:ext uri="{FF2B5EF4-FFF2-40B4-BE49-F238E27FC236}">
                <a16:creationId xmlns:a16="http://schemas.microsoft.com/office/drawing/2014/main" id="{82421F01-5179-47C4-BB98-4DDBE303377C}"/>
              </a:ext>
            </a:extLst>
          </p:cNvPr>
          <p:cNvSpPr>
            <a:spLocks noGrp="1"/>
          </p:cNvSpPr>
          <p:nvPr>
            <p:ph type="body" sz="quarter" idx="13"/>
          </p:nvPr>
        </p:nvSpPr>
        <p:spPr>
          <a:xfrm>
            <a:off x="624661" y="571436"/>
            <a:ext cx="10964886" cy="173136"/>
          </a:xfrm>
        </p:spPr>
        <p:txBody>
          <a:bodyPr/>
          <a:lstStyle/>
          <a:p>
            <a:pPr algn="just" defTabSz="675371">
              <a:spcAft>
                <a:spcPts val="738"/>
              </a:spcAft>
            </a:pPr>
            <a:r>
              <a:rPr lang="en-US" sz="1600" dirty="0"/>
              <a:t>We propose a simplified streamlined approach, focusing on opportunity assessment followed by developing strategy roadmap, to execute the project within a period of 24 months</a:t>
            </a:r>
            <a:endParaRPr lang="en-IN" sz="1600" dirty="0"/>
          </a:p>
        </p:txBody>
      </p:sp>
    </p:spTree>
    <p:extLst>
      <p:ext uri="{BB962C8B-B14F-4D97-AF65-F5344CB8AC3E}">
        <p14:creationId xmlns:p14="http://schemas.microsoft.com/office/powerpoint/2010/main" val="124453067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D80C6BDB-9881-4199-918F-52B0574FDC74}"/>
              </a:ext>
            </a:extLst>
          </p:cNvPr>
          <p:cNvGraphicFramePr>
            <a:graphicFrameLocks noChangeAspect="1"/>
          </p:cNvGraphicFramePr>
          <p:nvPr>
            <p:custDataLst>
              <p:tags r:id="rId1"/>
            </p:custDataLst>
            <p:extLst>
              <p:ext uri="{D42A27DB-BD31-4B8C-83A1-F6EECF244321}">
                <p14:modId xmlns:p14="http://schemas.microsoft.com/office/powerpoint/2010/main" val="23547487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98" imgH="499" progId="TCLayout.ActiveDocument.1">
                  <p:embed/>
                </p:oleObj>
              </mc:Choice>
              <mc:Fallback>
                <p:oleObj name="think-cell Slide" r:id="rId14" imgW="498" imgH="499" progId="TCLayout.ActiveDocument.1">
                  <p:embed/>
                  <p:pic>
                    <p:nvPicPr>
                      <p:cNvPr id="13" name="Object 12" hidden="1">
                        <a:extLst>
                          <a:ext uri="{FF2B5EF4-FFF2-40B4-BE49-F238E27FC236}">
                            <a16:creationId xmlns:a16="http://schemas.microsoft.com/office/drawing/2014/main" id="{D80C6BDB-9881-4199-918F-52B0574FDC74}"/>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EC11062-3737-43E5-ADBF-2CC9A3BD22C4}"/>
              </a:ext>
            </a:extLst>
          </p:cNvPr>
          <p:cNvSpPr/>
          <p:nvPr/>
        </p:nvSpPr>
        <p:spPr>
          <a:xfrm>
            <a:off x="566617" y="1157586"/>
            <a:ext cx="11135684" cy="512191"/>
          </a:xfrm>
          <a:prstGeom prst="rect">
            <a:avLst/>
          </a:prstGeom>
          <a:solidFill>
            <a:srgbClr val="E3E4E5"/>
          </a:solidFill>
        </p:spPr>
        <p:txBody>
          <a:bodyPr wrap="square">
            <a:spAutoFit/>
          </a:bodyPr>
          <a:lstStyle/>
          <a:p>
            <a:pPr algn="ctr" defTabSz="837848"/>
            <a:r>
              <a:rPr lang="en-US" sz="1364" dirty="0">
                <a:solidFill>
                  <a:prstClr val="black"/>
                </a:solidFill>
                <a:latin typeface="Verdana"/>
              </a:rPr>
              <a:t>The strategic vision will need to be backed by a Sectoral  Financial Model incorporating implementation capex-based projects and a financial reforms program</a:t>
            </a:r>
            <a:endParaRPr lang="en-IN" sz="1364" dirty="0">
              <a:solidFill>
                <a:prstClr val="black"/>
              </a:solidFill>
              <a:latin typeface="Verdana"/>
            </a:endParaRPr>
          </a:p>
        </p:txBody>
      </p:sp>
      <p:grpSp>
        <p:nvGrpSpPr>
          <p:cNvPr id="46" name="Group 45">
            <a:extLst>
              <a:ext uri="{FF2B5EF4-FFF2-40B4-BE49-F238E27FC236}">
                <a16:creationId xmlns:a16="http://schemas.microsoft.com/office/drawing/2014/main" id="{D2D5986D-AFE1-4A08-B78B-11F4DBB6B46E}"/>
              </a:ext>
            </a:extLst>
          </p:cNvPr>
          <p:cNvGrpSpPr/>
          <p:nvPr/>
        </p:nvGrpSpPr>
        <p:grpSpPr>
          <a:xfrm>
            <a:off x="392198" y="1747524"/>
            <a:ext cx="4710018" cy="4667496"/>
            <a:chOff x="2427776" y="1894946"/>
            <a:chExt cx="4223434" cy="4441586"/>
          </a:xfrm>
        </p:grpSpPr>
        <p:sp>
          <p:nvSpPr>
            <p:cNvPr id="90" name="Text Box 21">
              <a:extLst>
                <a:ext uri="{FF2B5EF4-FFF2-40B4-BE49-F238E27FC236}">
                  <a16:creationId xmlns:a16="http://schemas.microsoft.com/office/drawing/2014/main" id="{FAC51A65-9DFE-4687-A3C6-648BB1F7A365}"/>
                </a:ext>
              </a:extLst>
            </p:cNvPr>
            <p:cNvSpPr txBox="1">
              <a:spLocks noChangeArrowheads="1"/>
            </p:cNvSpPr>
            <p:nvPr/>
          </p:nvSpPr>
          <p:spPr bwMode="gray">
            <a:xfrm>
              <a:off x="2473149" y="6118947"/>
              <a:ext cx="4080680" cy="217585"/>
            </a:xfrm>
            <a:prstGeom prst="rect">
              <a:avLst/>
            </a:prstGeom>
            <a:noFill/>
            <a:ln w="9525">
              <a:noFill/>
              <a:miter lim="800000"/>
              <a:headEnd/>
              <a:tailEnd/>
            </a:ln>
          </p:spPr>
          <p:txBody>
            <a:bodyPr wrap="square" lIns="31173" rIns="31173">
              <a:spAutoFit/>
            </a:bodyPr>
            <a:lstStyle/>
            <a:p>
              <a:pPr algn="ctr" defTabSz="623438" eaLnBrk="0" hangingPunct="0">
                <a:spcBef>
                  <a:spcPct val="50000"/>
                </a:spcBef>
                <a:defRPr/>
              </a:pPr>
              <a:r>
                <a:rPr lang="en-US" sz="886" b="1" kern="0" dirty="0">
                  <a:solidFill>
                    <a:srgbClr val="000000">
                      <a:lumMod val="65000"/>
                      <a:lumOff val="35000"/>
                    </a:srgbClr>
                  </a:solidFill>
                  <a:latin typeface="Verdana"/>
                </a:rPr>
                <a:t>Products/ Services</a:t>
              </a:r>
            </a:p>
          </p:txBody>
        </p:sp>
        <p:sp>
          <p:nvSpPr>
            <p:cNvPr id="91" name="Rectangle 34">
              <a:extLst>
                <a:ext uri="{FF2B5EF4-FFF2-40B4-BE49-F238E27FC236}">
                  <a16:creationId xmlns:a16="http://schemas.microsoft.com/office/drawing/2014/main" id="{BD56DBCD-08E6-4506-9261-8DA6EC008508}"/>
                </a:ext>
              </a:extLst>
            </p:cNvPr>
            <p:cNvSpPr>
              <a:spLocks noChangeArrowheads="1"/>
            </p:cNvSpPr>
            <p:nvPr/>
          </p:nvSpPr>
          <p:spPr bwMode="gray">
            <a:xfrm>
              <a:off x="2651634" y="5962596"/>
              <a:ext cx="1282385" cy="129721"/>
            </a:xfrm>
            <a:prstGeom prst="rect">
              <a:avLst/>
            </a:prstGeom>
            <a:noFill/>
            <a:ln w="9525" algn="ctr">
              <a:noFill/>
              <a:miter lim="800000"/>
              <a:headEnd/>
              <a:tailEnd/>
            </a:ln>
          </p:spPr>
          <p:txBody>
            <a:bodyPr wrap="square" lIns="0" tIns="0" rIns="0" bIns="0" anchor="ctr">
              <a:spAutoFit/>
            </a:bodyPr>
            <a:lstStyle/>
            <a:p>
              <a:pPr defTabSz="996852">
                <a:defRPr/>
              </a:pPr>
              <a:r>
                <a:rPr lang="en-US" sz="886" kern="0" dirty="0">
                  <a:solidFill>
                    <a:srgbClr val="000000">
                      <a:lumMod val="65000"/>
                      <a:lumOff val="35000"/>
                    </a:srgbClr>
                  </a:solidFill>
                  <a:latin typeface="Verdana"/>
                </a:rPr>
                <a:t> </a:t>
              </a:r>
              <a:r>
                <a:rPr lang="en-US" sz="886" b="1" i="1" kern="0" dirty="0">
                  <a:solidFill>
                    <a:srgbClr val="000000">
                      <a:lumMod val="65000"/>
                      <a:lumOff val="35000"/>
                    </a:srgbClr>
                  </a:solidFill>
                  <a:latin typeface="Verdana"/>
                </a:rPr>
                <a:t>EXISTING</a:t>
              </a:r>
              <a:r>
                <a:rPr lang="en-US" sz="886" kern="0" dirty="0">
                  <a:solidFill>
                    <a:srgbClr val="000000">
                      <a:lumMod val="65000"/>
                      <a:lumOff val="35000"/>
                    </a:srgbClr>
                  </a:solidFill>
                  <a:latin typeface="Verdana"/>
                </a:rPr>
                <a:t> </a:t>
              </a:r>
            </a:p>
          </p:txBody>
        </p:sp>
        <p:sp>
          <p:nvSpPr>
            <p:cNvPr id="92" name="Rectangle 33">
              <a:extLst>
                <a:ext uri="{FF2B5EF4-FFF2-40B4-BE49-F238E27FC236}">
                  <a16:creationId xmlns:a16="http://schemas.microsoft.com/office/drawing/2014/main" id="{129DDB38-13D7-4B9A-BC22-E97364148D7C}"/>
                </a:ext>
              </a:extLst>
            </p:cNvPr>
            <p:cNvSpPr>
              <a:spLocks noChangeArrowheads="1"/>
            </p:cNvSpPr>
            <p:nvPr/>
          </p:nvSpPr>
          <p:spPr bwMode="gray">
            <a:xfrm rot="16200000">
              <a:off x="2075764" y="3896249"/>
              <a:ext cx="851827" cy="122236"/>
            </a:xfrm>
            <a:prstGeom prst="rect">
              <a:avLst/>
            </a:prstGeom>
            <a:noFill/>
            <a:ln w="9525" algn="ctr">
              <a:noFill/>
              <a:miter lim="800000"/>
              <a:headEnd/>
              <a:tailEnd/>
            </a:ln>
          </p:spPr>
          <p:txBody>
            <a:bodyPr wrap="square" lIns="0" tIns="0" rIns="0" bIns="0" anchor="ctr">
              <a:spAutoFit/>
            </a:bodyPr>
            <a:lstStyle/>
            <a:p>
              <a:pPr algn="r" defTabSz="996852">
                <a:defRPr/>
              </a:pPr>
              <a:r>
                <a:rPr lang="en-US" sz="886" b="1" kern="0" dirty="0">
                  <a:solidFill>
                    <a:srgbClr val="000000">
                      <a:lumMod val="65000"/>
                      <a:lumOff val="35000"/>
                    </a:srgbClr>
                  </a:solidFill>
                  <a:latin typeface="Verdana"/>
                </a:rPr>
                <a:t>EMERGING</a:t>
              </a:r>
            </a:p>
          </p:txBody>
        </p:sp>
        <p:sp>
          <p:nvSpPr>
            <p:cNvPr id="93" name="Rectangle 39">
              <a:extLst>
                <a:ext uri="{FF2B5EF4-FFF2-40B4-BE49-F238E27FC236}">
                  <a16:creationId xmlns:a16="http://schemas.microsoft.com/office/drawing/2014/main" id="{A6B992AC-1177-4169-B6DF-3E06A7E2E300}"/>
                </a:ext>
              </a:extLst>
            </p:cNvPr>
            <p:cNvSpPr>
              <a:spLocks noChangeArrowheads="1"/>
            </p:cNvSpPr>
            <p:nvPr/>
          </p:nvSpPr>
          <p:spPr bwMode="gray">
            <a:xfrm>
              <a:off x="4017987" y="5962598"/>
              <a:ext cx="1266396" cy="129721"/>
            </a:xfrm>
            <a:prstGeom prst="rect">
              <a:avLst/>
            </a:prstGeom>
            <a:noFill/>
            <a:ln w="9525" algn="ctr">
              <a:noFill/>
              <a:miter lim="800000"/>
              <a:headEnd/>
              <a:tailEnd/>
            </a:ln>
          </p:spPr>
          <p:txBody>
            <a:bodyPr wrap="square" lIns="0" tIns="0" rIns="0" bIns="0" anchor="ctr">
              <a:spAutoFit/>
            </a:bodyPr>
            <a:lstStyle/>
            <a:p>
              <a:pPr algn="ctr" defTabSz="996852">
                <a:defRPr/>
              </a:pPr>
              <a:r>
                <a:rPr lang="en-US" sz="886" b="1" i="1" kern="0" dirty="0">
                  <a:solidFill>
                    <a:srgbClr val="000000">
                      <a:lumMod val="65000"/>
                      <a:lumOff val="35000"/>
                    </a:srgbClr>
                  </a:solidFill>
                  <a:latin typeface="Verdana"/>
                </a:rPr>
                <a:t>INCREMENTAL</a:t>
              </a:r>
              <a:endParaRPr lang="en-US" sz="886" kern="0" dirty="0">
                <a:solidFill>
                  <a:srgbClr val="000000">
                    <a:lumMod val="65000"/>
                    <a:lumOff val="35000"/>
                  </a:srgbClr>
                </a:solidFill>
                <a:latin typeface="Verdana"/>
              </a:endParaRPr>
            </a:p>
          </p:txBody>
        </p:sp>
        <p:sp>
          <p:nvSpPr>
            <p:cNvPr id="94" name="Rectangle 36">
              <a:extLst>
                <a:ext uri="{FF2B5EF4-FFF2-40B4-BE49-F238E27FC236}">
                  <a16:creationId xmlns:a16="http://schemas.microsoft.com/office/drawing/2014/main" id="{06F25933-C57F-49EA-8673-70C0D7A88516}"/>
                </a:ext>
              </a:extLst>
            </p:cNvPr>
            <p:cNvSpPr>
              <a:spLocks noChangeArrowheads="1"/>
            </p:cNvSpPr>
            <p:nvPr/>
          </p:nvSpPr>
          <p:spPr bwMode="gray">
            <a:xfrm rot="16200000">
              <a:off x="1923027" y="5383395"/>
              <a:ext cx="1165886" cy="122236"/>
            </a:xfrm>
            <a:prstGeom prst="rect">
              <a:avLst/>
            </a:prstGeom>
            <a:noFill/>
            <a:ln w="9525" algn="ctr">
              <a:noFill/>
              <a:miter lim="800000"/>
              <a:headEnd/>
              <a:tailEnd/>
            </a:ln>
          </p:spPr>
          <p:txBody>
            <a:bodyPr wrap="square" lIns="0" tIns="0" rIns="0" bIns="0" anchor="ctr">
              <a:spAutoFit/>
            </a:bodyPr>
            <a:lstStyle/>
            <a:p>
              <a:pPr algn="r" defTabSz="996852">
                <a:defRPr/>
              </a:pPr>
              <a:r>
                <a:rPr lang="en-US" sz="886" b="1" kern="0" dirty="0">
                  <a:solidFill>
                    <a:srgbClr val="000000">
                      <a:lumMod val="65000"/>
                      <a:lumOff val="35000"/>
                    </a:srgbClr>
                  </a:solidFill>
                  <a:latin typeface="Verdana"/>
                </a:rPr>
                <a:t>EXISTING</a:t>
              </a:r>
            </a:p>
          </p:txBody>
        </p:sp>
        <p:sp>
          <p:nvSpPr>
            <p:cNvPr id="95" name="Rectangle 38">
              <a:extLst>
                <a:ext uri="{FF2B5EF4-FFF2-40B4-BE49-F238E27FC236}">
                  <a16:creationId xmlns:a16="http://schemas.microsoft.com/office/drawing/2014/main" id="{69215D90-C94B-468C-8685-78FCFD1E3AA9}"/>
                </a:ext>
              </a:extLst>
            </p:cNvPr>
            <p:cNvSpPr>
              <a:spLocks noChangeArrowheads="1"/>
            </p:cNvSpPr>
            <p:nvPr/>
          </p:nvSpPr>
          <p:spPr bwMode="gray">
            <a:xfrm rot="16200000">
              <a:off x="1968319" y="2864330"/>
              <a:ext cx="1041149" cy="122236"/>
            </a:xfrm>
            <a:prstGeom prst="rect">
              <a:avLst/>
            </a:prstGeom>
            <a:noFill/>
            <a:ln w="9525" algn="ctr">
              <a:noFill/>
              <a:miter lim="800000"/>
              <a:headEnd/>
              <a:tailEnd/>
            </a:ln>
          </p:spPr>
          <p:txBody>
            <a:bodyPr lIns="0" tIns="0" rIns="0" bIns="0" anchor="ctr">
              <a:spAutoFit/>
            </a:bodyPr>
            <a:lstStyle/>
            <a:p>
              <a:pPr algn="r" defTabSz="996852">
                <a:defRPr/>
              </a:pPr>
              <a:r>
                <a:rPr lang="en-US" sz="886" b="1" kern="0" dirty="0">
                  <a:solidFill>
                    <a:srgbClr val="000000">
                      <a:lumMod val="65000"/>
                      <a:lumOff val="35000"/>
                    </a:srgbClr>
                  </a:solidFill>
                  <a:latin typeface="Verdana"/>
                </a:rPr>
                <a:t>ALTERNATE</a:t>
              </a:r>
            </a:p>
          </p:txBody>
        </p:sp>
        <p:sp>
          <p:nvSpPr>
            <p:cNvPr id="96" name="Rectangle 40">
              <a:extLst>
                <a:ext uri="{FF2B5EF4-FFF2-40B4-BE49-F238E27FC236}">
                  <a16:creationId xmlns:a16="http://schemas.microsoft.com/office/drawing/2014/main" id="{3C28C151-4FAC-4DA0-B54C-7722E222E8A6}"/>
                </a:ext>
              </a:extLst>
            </p:cNvPr>
            <p:cNvSpPr>
              <a:spLocks noChangeArrowheads="1"/>
            </p:cNvSpPr>
            <p:nvPr/>
          </p:nvSpPr>
          <p:spPr bwMode="gray">
            <a:xfrm>
              <a:off x="5409785" y="5962597"/>
              <a:ext cx="1241425" cy="129721"/>
            </a:xfrm>
            <a:prstGeom prst="rect">
              <a:avLst/>
            </a:prstGeom>
            <a:noFill/>
            <a:ln w="9525" algn="ctr">
              <a:noFill/>
              <a:miter lim="800000"/>
              <a:headEnd/>
              <a:tailEnd/>
            </a:ln>
          </p:spPr>
          <p:txBody>
            <a:bodyPr lIns="0" tIns="0" rIns="0" bIns="0" anchor="ctr">
              <a:spAutoFit/>
            </a:bodyPr>
            <a:lstStyle/>
            <a:p>
              <a:pPr algn="r" defTabSz="996852">
                <a:defRPr/>
              </a:pPr>
              <a:r>
                <a:rPr lang="en-US" sz="886" b="1" i="1" kern="0" dirty="0">
                  <a:solidFill>
                    <a:srgbClr val="000000">
                      <a:lumMod val="65000"/>
                      <a:lumOff val="35000"/>
                    </a:srgbClr>
                  </a:solidFill>
                  <a:latin typeface="Verdana"/>
                </a:rPr>
                <a:t>BREAKWAY</a:t>
              </a:r>
              <a:r>
                <a:rPr lang="en-US" sz="886" kern="0" dirty="0">
                  <a:solidFill>
                    <a:srgbClr val="000000">
                      <a:lumMod val="65000"/>
                      <a:lumOff val="35000"/>
                    </a:srgbClr>
                  </a:solidFill>
                  <a:latin typeface="Verdana"/>
                </a:rPr>
                <a:t>S</a:t>
              </a:r>
            </a:p>
          </p:txBody>
        </p:sp>
        <p:grpSp>
          <p:nvGrpSpPr>
            <p:cNvPr id="97" name="Group 96">
              <a:extLst>
                <a:ext uri="{FF2B5EF4-FFF2-40B4-BE49-F238E27FC236}">
                  <a16:creationId xmlns:a16="http://schemas.microsoft.com/office/drawing/2014/main" id="{92FD0634-61A7-45A6-A2FF-3E2193E13004}"/>
                </a:ext>
              </a:extLst>
            </p:cNvPr>
            <p:cNvGrpSpPr/>
            <p:nvPr/>
          </p:nvGrpSpPr>
          <p:grpSpPr>
            <a:xfrm>
              <a:off x="2654786" y="1894947"/>
              <a:ext cx="3992563" cy="3893030"/>
              <a:chOff x="2654786" y="1645420"/>
              <a:chExt cx="3992563" cy="3893030"/>
            </a:xfrm>
          </p:grpSpPr>
          <p:sp>
            <p:nvSpPr>
              <p:cNvPr id="99" name="Rectangle 21">
                <a:extLst>
                  <a:ext uri="{FF2B5EF4-FFF2-40B4-BE49-F238E27FC236}">
                    <a16:creationId xmlns:a16="http://schemas.microsoft.com/office/drawing/2014/main" id="{38ABF6C7-F4D0-4CA0-87A0-BAE4C87F3B78}"/>
                  </a:ext>
                </a:extLst>
              </p:cNvPr>
              <p:cNvSpPr>
                <a:spLocks noChangeArrowheads="1"/>
              </p:cNvSpPr>
              <p:nvPr>
                <p:custDataLst>
                  <p:tags r:id="rId4"/>
                </p:custDataLst>
              </p:nvPr>
            </p:nvSpPr>
            <p:spPr bwMode="gray">
              <a:xfrm>
                <a:off x="2654786" y="1645420"/>
                <a:ext cx="1322388" cy="1292225"/>
              </a:xfrm>
              <a:prstGeom prst="rect">
                <a:avLst/>
              </a:prstGeom>
              <a:solidFill>
                <a:srgbClr val="FFFFFF">
                  <a:lumMod val="75000"/>
                </a:srgbClr>
              </a:solidFill>
              <a:ln w="6350">
                <a:solidFill>
                  <a:srgbClr val="FFFFFF">
                    <a:lumMod val="95000"/>
                  </a:srgbClr>
                </a:solidFill>
                <a:prstDash val="solid"/>
                <a:miter lim="800000"/>
                <a:headEnd/>
                <a:tailEnd/>
              </a:ln>
            </p:spPr>
            <p:txBody>
              <a:bodyPr wrap="none" anchor="ctr"/>
              <a:lstStyle/>
              <a:p>
                <a:pPr algn="r" defTabSz="996852" rtl="1">
                  <a:defRPr/>
                </a:pPr>
                <a:endParaRPr lang="en-GB" sz="886" kern="0" dirty="0">
                  <a:solidFill>
                    <a:srgbClr val="000000"/>
                  </a:solidFill>
                  <a:latin typeface="Verdana"/>
                  <a:sym typeface="Calibri"/>
                </a:endParaRPr>
              </a:p>
            </p:txBody>
          </p:sp>
          <p:sp>
            <p:nvSpPr>
              <p:cNvPr id="100" name="Rectangle 22">
                <a:extLst>
                  <a:ext uri="{FF2B5EF4-FFF2-40B4-BE49-F238E27FC236}">
                    <a16:creationId xmlns:a16="http://schemas.microsoft.com/office/drawing/2014/main" id="{7D109201-F3EC-4DBD-90B9-28D3C48056D3}"/>
                  </a:ext>
                </a:extLst>
              </p:cNvPr>
              <p:cNvSpPr>
                <a:spLocks noChangeArrowheads="1"/>
              </p:cNvSpPr>
              <p:nvPr>
                <p:custDataLst>
                  <p:tags r:id="rId5"/>
                </p:custDataLst>
              </p:nvPr>
            </p:nvSpPr>
            <p:spPr bwMode="gray">
              <a:xfrm>
                <a:off x="3989874" y="1645420"/>
                <a:ext cx="1322387" cy="1292225"/>
              </a:xfrm>
              <a:prstGeom prst="rect">
                <a:avLst/>
              </a:prstGeom>
              <a:solidFill>
                <a:srgbClr val="FFFFFF">
                  <a:lumMod val="75000"/>
                </a:srgbClr>
              </a:solidFill>
              <a:ln w="6350">
                <a:solidFill>
                  <a:srgbClr val="FFFFFF">
                    <a:lumMod val="95000"/>
                  </a:srgbClr>
                </a:solidFill>
                <a:prstDash val="solid"/>
                <a:miter lim="800000"/>
                <a:headEnd/>
                <a:tailEnd/>
              </a:ln>
            </p:spPr>
            <p:txBody>
              <a:bodyPr wrap="none" anchor="ctr"/>
              <a:lstStyle/>
              <a:p>
                <a:pPr algn="r" defTabSz="996852" rtl="1">
                  <a:defRPr/>
                </a:pPr>
                <a:endParaRPr lang="en-GB" sz="886" kern="0" dirty="0">
                  <a:solidFill>
                    <a:srgbClr val="000000"/>
                  </a:solidFill>
                  <a:latin typeface="Verdana"/>
                  <a:sym typeface="Calibri"/>
                </a:endParaRPr>
              </a:p>
            </p:txBody>
          </p:sp>
          <p:sp>
            <p:nvSpPr>
              <p:cNvPr id="101" name="Rectangle 23">
                <a:extLst>
                  <a:ext uri="{FF2B5EF4-FFF2-40B4-BE49-F238E27FC236}">
                    <a16:creationId xmlns:a16="http://schemas.microsoft.com/office/drawing/2014/main" id="{1BA422AB-8575-47E8-850A-281638D0F76B}"/>
                  </a:ext>
                </a:extLst>
              </p:cNvPr>
              <p:cNvSpPr>
                <a:spLocks noChangeArrowheads="1"/>
              </p:cNvSpPr>
              <p:nvPr>
                <p:custDataLst>
                  <p:tags r:id="rId6"/>
                </p:custDataLst>
              </p:nvPr>
            </p:nvSpPr>
            <p:spPr bwMode="gray">
              <a:xfrm>
                <a:off x="5324961" y="1645420"/>
                <a:ext cx="1322388" cy="1292225"/>
              </a:xfrm>
              <a:prstGeom prst="rect">
                <a:avLst/>
              </a:prstGeom>
              <a:solidFill>
                <a:srgbClr val="FFFFFF">
                  <a:lumMod val="75000"/>
                </a:srgbClr>
              </a:solidFill>
              <a:ln w="6350">
                <a:solidFill>
                  <a:srgbClr val="FFFFFF">
                    <a:lumMod val="95000"/>
                  </a:srgbClr>
                </a:solidFill>
                <a:prstDash val="solid"/>
                <a:miter lim="800000"/>
                <a:headEnd/>
                <a:tailEnd/>
              </a:ln>
            </p:spPr>
            <p:txBody>
              <a:bodyPr wrap="none" anchor="ctr"/>
              <a:lstStyle/>
              <a:p>
                <a:pPr algn="r" defTabSz="996852" rtl="1">
                  <a:defRPr/>
                </a:pPr>
                <a:endParaRPr lang="en-GB" sz="886" kern="0" dirty="0">
                  <a:solidFill>
                    <a:srgbClr val="000000"/>
                  </a:solidFill>
                  <a:latin typeface="Verdana"/>
                  <a:sym typeface="Calibri"/>
                </a:endParaRPr>
              </a:p>
            </p:txBody>
          </p:sp>
          <p:sp>
            <p:nvSpPr>
              <p:cNvPr id="102" name="Rectangle 24">
                <a:extLst>
                  <a:ext uri="{FF2B5EF4-FFF2-40B4-BE49-F238E27FC236}">
                    <a16:creationId xmlns:a16="http://schemas.microsoft.com/office/drawing/2014/main" id="{430E3DC9-3854-440D-894D-2667EB6C8546}"/>
                  </a:ext>
                </a:extLst>
              </p:cNvPr>
              <p:cNvSpPr>
                <a:spLocks noChangeArrowheads="1"/>
              </p:cNvSpPr>
              <p:nvPr>
                <p:custDataLst>
                  <p:tags r:id="rId7"/>
                </p:custDataLst>
              </p:nvPr>
            </p:nvSpPr>
            <p:spPr bwMode="gray">
              <a:xfrm>
                <a:off x="2654786" y="2945823"/>
                <a:ext cx="1322388" cy="1292225"/>
              </a:xfrm>
              <a:prstGeom prst="rect">
                <a:avLst/>
              </a:prstGeom>
              <a:solidFill>
                <a:srgbClr val="FFFFFF">
                  <a:lumMod val="75000"/>
                </a:srgbClr>
              </a:solidFill>
              <a:ln w="6350">
                <a:solidFill>
                  <a:srgbClr val="FFFFFF">
                    <a:lumMod val="95000"/>
                  </a:srgbClr>
                </a:solidFill>
                <a:prstDash val="solid"/>
                <a:miter lim="800000"/>
                <a:headEnd/>
                <a:tailEnd/>
              </a:ln>
            </p:spPr>
            <p:txBody>
              <a:bodyPr wrap="none" anchor="ctr"/>
              <a:lstStyle/>
              <a:p>
                <a:pPr algn="r" defTabSz="996852" rtl="1">
                  <a:defRPr/>
                </a:pPr>
                <a:endParaRPr lang="en-GB" sz="886" kern="0" dirty="0">
                  <a:solidFill>
                    <a:srgbClr val="000000"/>
                  </a:solidFill>
                  <a:latin typeface="Verdana"/>
                  <a:sym typeface="Calibri"/>
                </a:endParaRPr>
              </a:p>
            </p:txBody>
          </p:sp>
          <p:sp>
            <p:nvSpPr>
              <p:cNvPr id="103" name="Rectangle 25">
                <a:extLst>
                  <a:ext uri="{FF2B5EF4-FFF2-40B4-BE49-F238E27FC236}">
                    <a16:creationId xmlns:a16="http://schemas.microsoft.com/office/drawing/2014/main" id="{8ABCB859-3066-4027-884E-165EC2C332D0}"/>
                  </a:ext>
                </a:extLst>
              </p:cNvPr>
              <p:cNvSpPr>
                <a:spLocks noChangeArrowheads="1"/>
              </p:cNvSpPr>
              <p:nvPr>
                <p:custDataLst>
                  <p:tags r:id="rId8"/>
                </p:custDataLst>
              </p:nvPr>
            </p:nvSpPr>
            <p:spPr bwMode="gray">
              <a:xfrm>
                <a:off x="3989874" y="2945823"/>
                <a:ext cx="1322387" cy="1292225"/>
              </a:xfrm>
              <a:prstGeom prst="rect">
                <a:avLst/>
              </a:prstGeom>
              <a:solidFill>
                <a:srgbClr val="FFFFFF">
                  <a:lumMod val="75000"/>
                </a:srgbClr>
              </a:solidFill>
              <a:ln w="6350">
                <a:solidFill>
                  <a:srgbClr val="FFFFFF">
                    <a:lumMod val="95000"/>
                  </a:srgbClr>
                </a:solidFill>
                <a:prstDash val="solid"/>
                <a:miter lim="800000"/>
                <a:headEnd/>
                <a:tailEnd/>
              </a:ln>
            </p:spPr>
            <p:txBody>
              <a:bodyPr wrap="none" anchor="ctr"/>
              <a:lstStyle/>
              <a:p>
                <a:pPr algn="r" defTabSz="996852" rtl="1">
                  <a:defRPr/>
                </a:pPr>
                <a:endParaRPr lang="en-GB" sz="886" kern="0" dirty="0">
                  <a:solidFill>
                    <a:srgbClr val="000000"/>
                  </a:solidFill>
                  <a:latin typeface="Verdana"/>
                  <a:sym typeface="Calibri"/>
                </a:endParaRPr>
              </a:p>
            </p:txBody>
          </p:sp>
          <p:sp>
            <p:nvSpPr>
              <p:cNvPr id="104" name="Rectangle 26">
                <a:extLst>
                  <a:ext uri="{FF2B5EF4-FFF2-40B4-BE49-F238E27FC236}">
                    <a16:creationId xmlns:a16="http://schemas.microsoft.com/office/drawing/2014/main" id="{8DB70358-34E9-4D7D-9539-A9F2D206D394}"/>
                  </a:ext>
                </a:extLst>
              </p:cNvPr>
              <p:cNvSpPr>
                <a:spLocks noChangeArrowheads="1"/>
              </p:cNvSpPr>
              <p:nvPr>
                <p:custDataLst>
                  <p:tags r:id="rId9"/>
                </p:custDataLst>
              </p:nvPr>
            </p:nvSpPr>
            <p:spPr bwMode="gray">
              <a:xfrm>
                <a:off x="5324961" y="2945823"/>
                <a:ext cx="1322388" cy="1292225"/>
              </a:xfrm>
              <a:prstGeom prst="rect">
                <a:avLst/>
              </a:prstGeom>
              <a:solidFill>
                <a:srgbClr val="FFFFFF">
                  <a:lumMod val="75000"/>
                </a:srgbClr>
              </a:solidFill>
              <a:ln w="6350">
                <a:solidFill>
                  <a:srgbClr val="FFFFFF">
                    <a:lumMod val="95000"/>
                  </a:srgbClr>
                </a:solidFill>
                <a:prstDash val="solid"/>
                <a:miter lim="800000"/>
                <a:headEnd/>
                <a:tailEnd/>
              </a:ln>
            </p:spPr>
            <p:txBody>
              <a:bodyPr wrap="none" anchor="ctr"/>
              <a:lstStyle/>
              <a:p>
                <a:pPr algn="r" defTabSz="996852" rtl="1">
                  <a:defRPr/>
                </a:pPr>
                <a:endParaRPr lang="en-GB" sz="886" kern="0" dirty="0">
                  <a:solidFill>
                    <a:srgbClr val="000000"/>
                  </a:solidFill>
                  <a:latin typeface="Verdana"/>
                  <a:sym typeface="Calibri"/>
                </a:endParaRPr>
              </a:p>
            </p:txBody>
          </p:sp>
          <p:sp>
            <p:nvSpPr>
              <p:cNvPr id="105" name="Rectangle 27">
                <a:extLst>
                  <a:ext uri="{FF2B5EF4-FFF2-40B4-BE49-F238E27FC236}">
                    <a16:creationId xmlns:a16="http://schemas.microsoft.com/office/drawing/2014/main" id="{DE017A12-3304-4E1D-8152-21AF9D980B7E}"/>
                  </a:ext>
                </a:extLst>
              </p:cNvPr>
              <p:cNvSpPr>
                <a:spLocks noChangeArrowheads="1"/>
              </p:cNvSpPr>
              <p:nvPr>
                <p:custDataLst>
                  <p:tags r:id="rId10"/>
                </p:custDataLst>
              </p:nvPr>
            </p:nvSpPr>
            <p:spPr bwMode="gray">
              <a:xfrm>
                <a:off x="2654786" y="4246225"/>
                <a:ext cx="1322388" cy="1292225"/>
              </a:xfrm>
              <a:prstGeom prst="rect">
                <a:avLst/>
              </a:prstGeom>
              <a:solidFill>
                <a:srgbClr val="FFFFFF">
                  <a:lumMod val="75000"/>
                </a:srgbClr>
              </a:solidFill>
              <a:ln w="6350">
                <a:solidFill>
                  <a:srgbClr val="FFFFFF">
                    <a:lumMod val="95000"/>
                  </a:srgbClr>
                </a:solidFill>
                <a:prstDash val="solid"/>
                <a:miter lim="800000"/>
                <a:headEnd/>
                <a:tailEnd/>
              </a:ln>
            </p:spPr>
            <p:txBody>
              <a:bodyPr wrap="none" anchor="ctr"/>
              <a:lstStyle/>
              <a:p>
                <a:pPr algn="r" defTabSz="996852" rtl="1">
                  <a:defRPr/>
                </a:pPr>
                <a:endParaRPr lang="en-GB" sz="886" kern="0" dirty="0">
                  <a:solidFill>
                    <a:srgbClr val="000000"/>
                  </a:solidFill>
                  <a:latin typeface="Verdana"/>
                  <a:sym typeface="Calibri"/>
                </a:endParaRPr>
              </a:p>
            </p:txBody>
          </p:sp>
          <p:sp>
            <p:nvSpPr>
              <p:cNvPr id="106" name="Rectangle 28">
                <a:extLst>
                  <a:ext uri="{FF2B5EF4-FFF2-40B4-BE49-F238E27FC236}">
                    <a16:creationId xmlns:a16="http://schemas.microsoft.com/office/drawing/2014/main" id="{F3BD502C-CB59-4BCB-8336-74F7BB9C997F}"/>
                  </a:ext>
                </a:extLst>
              </p:cNvPr>
              <p:cNvSpPr>
                <a:spLocks noChangeArrowheads="1"/>
              </p:cNvSpPr>
              <p:nvPr>
                <p:custDataLst>
                  <p:tags r:id="rId11"/>
                </p:custDataLst>
              </p:nvPr>
            </p:nvSpPr>
            <p:spPr bwMode="gray">
              <a:xfrm>
                <a:off x="3989874" y="4246225"/>
                <a:ext cx="1322387" cy="1292225"/>
              </a:xfrm>
              <a:prstGeom prst="rect">
                <a:avLst/>
              </a:prstGeom>
              <a:solidFill>
                <a:srgbClr val="FFFFFF">
                  <a:lumMod val="75000"/>
                </a:srgbClr>
              </a:solidFill>
              <a:ln w="6350">
                <a:solidFill>
                  <a:srgbClr val="FFFFFF">
                    <a:lumMod val="95000"/>
                  </a:srgbClr>
                </a:solidFill>
                <a:prstDash val="solid"/>
                <a:miter lim="800000"/>
                <a:headEnd/>
                <a:tailEnd/>
              </a:ln>
            </p:spPr>
            <p:txBody>
              <a:bodyPr wrap="none" anchor="ctr"/>
              <a:lstStyle/>
              <a:p>
                <a:pPr algn="r" defTabSz="996852" rtl="1">
                  <a:defRPr/>
                </a:pPr>
                <a:endParaRPr lang="en-GB" sz="886" kern="0" dirty="0">
                  <a:solidFill>
                    <a:srgbClr val="000000"/>
                  </a:solidFill>
                  <a:latin typeface="Verdana"/>
                  <a:sym typeface="Calibri"/>
                </a:endParaRPr>
              </a:p>
            </p:txBody>
          </p:sp>
          <p:sp>
            <p:nvSpPr>
              <p:cNvPr id="107" name="Rectangle 29">
                <a:extLst>
                  <a:ext uri="{FF2B5EF4-FFF2-40B4-BE49-F238E27FC236}">
                    <a16:creationId xmlns:a16="http://schemas.microsoft.com/office/drawing/2014/main" id="{236EDDFB-BDA6-431F-8142-FD27C5A70D9D}"/>
                  </a:ext>
                </a:extLst>
              </p:cNvPr>
              <p:cNvSpPr>
                <a:spLocks noChangeArrowheads="1"/>
              </p:cNvSpPr>
              <p:nvPr>
                <p:custDataLst>
                  <p:tags r:id="rId12"/>
                </p:custDataLst>
              </p:nvPr>
            </p:nvSpPr>
            <p:spPr bwMode="gray">
              <a:xfrm>
                <a:off x="5324961" y="4246225"/>
                <a:ext cx="1322388" cy="1292225"/>
              </a:xfrm>
              <a:prstGeom prst="rect">
                <a:avLst/>
              </a:prstGeom>
              <a:solidFill>
                <a:srgbClr val="FFFFFF">
                  <a:lumMod val="75000"/>
                </a:srgbClr>
              </a:solidFill>
              <a:ln w="6350">
                <a:solidFill>
                  <a:srgbClr val="FFFFFF">
                    <a:lumMod val="95000"/>
                  </a:srgbClr>
                </a:solidFill>
                <a:prstDash val="solid"/>
                <a:miter lim="800000"/>
                <a:headEnd/>
                <a:tailEnd/>
              </a:ln>
            </p:spPr>
            <p:txBody>
              <a:bodyPr wrap="none" anchor="ctr"/>
              <a:lstStyle/>
              <a:p>
                <a:pPr algn="r" defTabSz="996852" rtl="1">
                  <a:defRPr/>
                </a:pPr>
                <a:endParaRPr lang="en-GB" sz="886" kern="0" dirty="0">
                  <a:solidFill>
                    <a:srgbClr val="000000"/>
                  </a:solidFill>
                  <a:latin typeface="Verdana"/>
                  <a:sym typeface="Calibri"/>
                </a:endParaRPr>
              </a:p>
            </p:txBody>
          </p:sp>
        </p:grpSp>
        <p:sp>
          <p:nvSpPr>
            <p:cNvPr id="98" name="Rectangle 21">
              <a:extLst>
                <a:ext uri="{FF2B5EF4-FFF2-40B4-BE49-F238E27FC236}">
                  <a16:creationId xmlns:a16="http://schemas.microsoft.com/office/drawing/2014/main" id="{612A8B2A-AEFD-4F4F-9862-072C28E38F7E}"/>
                </a:ext>
              </a:extLst>
            </p:cNvPr>
            <p:cNvSpPr>
              <a:spLocks noChangeArrowheads="1"/>
            </p:cNvSpPr>
            <p:nvPr/>
          </p:nvSpPr>
          <p:spPr bwMode="gray">
            <a:xfrm>
              <a:off x="2654785" y="1894946"/>
              <a:ext cx="3990563" cy="3904776"/>
            </a:xfrm>
            <a:prstGeom prst="rect">
              <a:avLst/>
            </a:prstGeom>
            <a:solidFill>
              <a:srgbClr val="C4D600"/>
            </a:solidFill>
            <a:ln w="6350">
              <a:solidFill>
                <a:srgbClr val="FFFFFF">
                  <a:lumMod val="95000"/>
                </a:srgbClr>
              </a:solidFill>
              <a:prstDash val="solid"/>
              <a:miter lim="800000"/>
              <a:headEnd/>
              <a:tailEnd/>
            </a:ln>
          </p:spPr>
          <p:txBody>
            <a:bodyPr wrap="none" anchor="ctr"/>
            <a:lstStyle/>
            <a:p>
              <a:pPr algn="r" defTabSz="996852" rtl="1">
                <a:defRPr/>
              </a:pPr>
              <a:endParaRPr lang="en-GB" sz="886" kern="0" dirty="0">
                <a:solidFill>
                  <a:srgbClr val="000000"/>
                </a:solidFill>
                <a:latin typeface="Verdana"/>
                <a:sym typeface="Calibri"/>
              </a:endParaRPr>
            </a:p>
          </p:txBody>
        </p:sp>
      </p:grpSp>
      <p:sp>
        <p:nvSpPr>
          <p:cNvPr id="47" name="Arc 46">
            <a:extLst>
              <a:ext uri="{FF2B5EF4-FFF2-40B4-BE49-F238E27FC236}">
                <a16:creationId xmlns:a16="http://schemas.microsoft.com/office/drawing/2014/main" id="{B3DF34F0-DE8B-4804-9F74-1C9EB421FCF0}"/>
              </a:ext>
            </a:extLst>
          </p:cNvPr>
          <p:cNvSpPr/>
          <p:nvPr>
            <p:custDataLst>
              <p:tags r:id="rId2"/>
            </p:custDataLst>
          </p:nvPr>
        </p:nvSpPr>
        <p:spPr bwMode="auto">
          <a:xfrm>
            <a:off x="-3564559" y="1965305"/>
            <a:ext cx="8442574" cy="7773602"/>
          </a:xfrm>
          <a:prstGeom prst="arc">
            <a:avLst/>
          </a:prstGeom>
          <a:solidFill>
            <a:srgbClr val="009A44">
              <a:alpha val="25000"/>
            </a:srgbClr>
          </a:solidFill>
          <a:ln w="19050" cap="flat" cmpd="sng" algn="ctr">
            <a:noFill/>
            <a:prstDash val="sysDash"/>
            <a:round/>
            <a:headEnd type="none" w="med" len="med"/>
            <a:tailEnd type="none" w="med" len="med"/>
          </a:ln>
          <a:effectLst/>
        </p:spPr>
        <p:txBody>
          <a:bodyPr/>
          <a:lstStyle/>
          <a:p>
            <a:pPr defTabSz="623438" eaLnBrk="0" hangingPunct="0">
              <a:defRPr/>
            </a:pPr>
            <a:endParaRPr lang="en-US" sz="886" kern="0" dirty="0">
              <a:solidFill>
                <a:srgbClr val="FFFFFF"/>
              </a:solidFill>
              <a:latin typeface="Verdana"/>
              <a:ea typeface="MS PGothic" pitchFamily="34" charset="-128"/>
            </a:endParaRPr>
          </a:p>
        </p:txBody>
      </p:sp>
      <p:sp>
        <p:nvSpPr>
          <p:cNvPr id="48" name="Arc 47">
            <a:extLst>
              <a:ext uri="{FF2B5EF4-FFF2-40B4-BE49-F238E27FC236}">
                <a16:creationId xmlns:a16="http://schemas.microsoft.com/office/drawing/2014/main" id="{C81E9BF1-897D-46C7-A265-4ECA5D810BE2}"/>
              </a:ext>
            </a:extLst>
          </p:cNvPr>
          <p:cNvSpPr/>
          <p:nvPr>
            <p:custDataLst>
              <p:tags r:id="rId3"/>
            </p:custDataLst>
          </p:nvPr>
        </p:nvSpPr>
        <p:spPr bwMode="auto">
          <a:xfrm>
            <a:off x="-1564181" y="3939752"/>
            <a:ext cx="4429057" cy="3829292"/>
          </a:xfrm>
          <a:prstGeom prst="arc">
            <a:avLst/>
          </a:prstGeom>
          <a:solidFill>
            <a:srgbClr val="046A38">
              <a:alpha val="50000"/>
            </a:srgbClr>
          </a:solidFill>
          <a:ln w="19050" cap="flat" cmpd="sng" algn="ctr">
            <a:noFill/>
            <a:prstDash val="sysDash"/>
            <a:round/>
            <a:headEnd type="none" w="med" len="med"/>
            <a:tailEnd type="none" w="med" len="med"/>
          </a:ln>
          <a:effectLst/>
        </p:spPr>
        <p:txBody>
          <a:bodyPr/>
          <a:lstStyle/>
          <a:p>
            <a:pPr defTabSz="623438" eaLnBrk="0" hangingPunct="0">
              <a:defRPr/>
            </a:pPr>
            <a:endParaRPr lang="en-US" sz="886" kern="0" dirty="0">
              <a:solidFill>
                <a:srgbClr val="FFFFFF"/>
              </a:solidFill>
              <a:latin typeface="Verdana"/>
              <a:ea typeface="MS PGothic" pitchFamily="34" charset="-128"/>
            </a:endParaRPr>
          </a:p>
        </p:txBody>
      </p:sp>
      <p:sp>
        <p:nvSpPr>
          <p:cNvPr id="49" name="Text Box 21">
            <a:extLst>
              <a:ext uri="{FF2B5EF4-FFF2-40B4-BE49-F238E27FC236}">
                <a16:creationId xmlns:a16="http://schemas.microsoft.com/office/drawing/2014/main" id="{8137122A-116F-42E2-8C0E-5A49D4549EC9}"/>
              </a:ext>
            </a:extLst>
          </p:cNvPr>
          <p:cNvSpPr txBox="1">
            <a:spLocks noChangeArrowheads="1"/>
          </p:cNvSpPr>
          <p:nvPr/>
        </p:nvSpPr>
        <p:spPr bwMode="gray">
          <a:xfrm rot="16200000">
            <a:off x="-1664429" y="3711195"/>
            <a:ext cx="3734715" cy="228652"/>
          </a:xfrm>
          <a:prstGeom prst="rect">
            <a:avLst/>
          </a:prstGeom>
          <a:noFill/>
          <a:ln w="9525">
            <a:noFill/>
            <a:miter lim="800000"/>
            <a:headEnd/>
            <a:tailEnd/>
          </a:ln>
        </p:spPr>
        <p:txBody>
          <a:bodyPr wrap="square" lIns="31173" rIns="31173">
            <a:spAutoFit/>
          </a:bodyPr>
          <a:lstStyle/>
          <a:p>
            <a:pPr algn="ctr" defTabSz="623438" eaLnBrk="0" hangingPunct="0">
              <a:spcBef>
                <a:spcPct val="50000"/>
              </a:spcBef>
              <a:defRPr/>
            </a:pPr>
            <a:r>
              <a:rPr lang="en-US" sz="886" b="1" kern="0" dirty="0">
                <a:solidFill>
                  <a:srgbClr val="000000">
                    <a:lumMod val="65000"/>
                    <a:lumOff val="35000"/>
                  </a:srgbClr>
                </a:solidFill>
                <a:latin typeface="Verdana"/>
              </a:rPr>
              <a:t>Customer/ Markets</a:t>
            </a:r>
          </a:p>
        </p:txBody>
      </p:sp>
      <p:pic>
        <p:nvPicPr>
          <p:cNvPr id="50" name="Picture 49">
            <a:extLst>
              <a:ext uri="{FF2B5EF4-FFF2-40B4-BE49-F238E27FC236}">
                <a16:creationId xmlns:a16="http://schemas.microsoft.com/office/drawing/2014/main" id="{C6AA15E2-E3C7-443F-A1F9-3D8267FF0DE5}"/>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3360971" y="1968181"/>
            <a:ext cx="356325" cy="362427"/>
          </a:xfrm>
          <a:prstGeom prst="rect">
            <a:avLst/>
          </a:prstGeom>
        </p:spPr>
      </p:pic>
      <p:sp>
        <p:nvSpPr>
          <p:cNvPr id="51" name="Rectangle 50">
            <a:extLst>
              <a:ext uri="{FF2B5EF4-FFF2-40B4-BE49-F238E27FC236}">
                <a16:creationId xmlns:a16="http://schemas.microsoft.com/office/drawing/2014/main" id="{F7106AB0-EFEF-49F7-8F35-1C936AEB3931}"/>
              </a:ext>
            </a:extLst>
          </p:cNvPr>
          <p:cNvSpPr/>
          <p:nvPr/>
        </p:nvSpPr>
        <p:spPr>
          <a:xfrm>
            <a:off x="2815699" y="1775755"/>
            <a:ext cx="1305165" cy="228652"/>
          </a:xfrm>
          <a:prstGeom prst="rect">
            <a:avLst/>
          </a:prstGeom>
        </p:spPr>
        <p:txBody>
          <a:bodyPr wrap="none">
            <a:spAutoFit/>
          </a:bodyPr>
          <a:lstStyle/>
          <a:p>
            <a:pPr defTabSz="837848">
              <a:spcBef>
                <a:spcPts val="409"/>
              </a:spcBef>
              <a:buSzPct val="100000"/>
            </a:pPr>
            <a:r>
              <a:rPr lang="en-US" sz="886" b="1" i="1" dirty="0">
                <a:solidFill>
                  <a:prstClr val="white"/>
                </a:solidFill>
                <a:latin typeface="Verdana"/>
              </a:rPr>
              <a:t>Charging stations</a:t>
            </a:r>
          </a:p>
        </p:txBody>
      </p:sp>
      <p:pic>
        <p:nvPicPr>
          <p:cNvPr id="52" name="Picture 51">
            <a:extLst>
              <a:ext uri="{FF2B5EF4-FFF2-40B4-BE49-F238E27FC236}">
                <a16:creationId xmlns:a16="http://schemas.microsoft.com/office/drawing/2014/main" id="{4634EE89-0CDA-47BD-8441-935706DB0EBB}"/>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4299771" y="3835279"/>
            <a:ext cx="356325" cy="362427"/>
          </a:xfrm>
          <a:prstGeom prst="rect">
            <a:avLst/>
          </a:prstGeom>
        </p:spPr>
      </p:pic>
      <p:sp>
        <p:nvSpPr>
          <p:cNvPr id="53" name="Rectangle 52">
            <a:extLst>
              <a:ext uri="{FF2B5EF4-FFF2-40B4-BE49-F238E27FC236}">
                <a16:creationId xmlns:a16="http://schemas.microsoft.com/office/drawing/2014/main" id="{B4BDC926-EC8D-43F2-9C90-40C31C8FDA3F}"/>
              </a:ext>
            </a:extLst>
          </p:cNvPr>
          <p:cNvSpPr/>
          <p:nvPr/>
        </p:nvSpPr>
        <p:spPr>
          <a:xfrm>
            <a:off x="4232677" y="3627236"/>
            <a:ext cx="513282" cy="228652"/>
          </a:xfrm>
          <a:prstGeom prst="rect">
            <a:avLst/>
          </a:prstGeom>
        </p:spPr>
        <p:txBody>
          <a:bodyPr wrap="none">
            <a:spAutoFit/>
          </a:bodyPr>
          <a:lstStyle/>
          <a:p>
            <a:pPr defTabSz="837848">
              <a:spcBef>
                <a:spcPts val="409"/>
              </a:spcBef>
              <a:buSzPct val="100000"/>
            </a:pPr>
            <a:r>
              <a:rPr lang="en-US" sz="886" b="1" i="1" dirty="0">
                <a:solidFill>
                  <a:prstClr val="white"/>
                </a:solidFill>
                <a:latin typeface="Verdana"/>
              </a:rPr>
              <a:t>Solar</a:t>
            </a:r>
          </a:p>
        </p:txBody>
      </p:sp>
      <p:pic>
        <p:nvPicPr>
          <p:cNvPr id="56" name="Picture 55">
            <a:extLst>
              <a:ext uri="{FF2B5EF4-FFF2-40B4-BE49-F238E27FC236}">
                <a16:creationId xmlns:a16="http://schemas.microsoft.com/office/drawing/2014/main" id="{A0AA46B0-E5EF-4424-8BAB-5733FBE11412}"/>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3770652" y="2939775"/>
            <a:ext cx="356325" cy="362427"/>
          </a:xfrm>
          <a:prstGeom prst="rect">
            <a:avLst/>
          </a:prstGeom>
        </p:spPr>
      </p:pic>
      <p:sp>
        <p:nvSpPr>
          <p:cNvPr id="60" name="Rectangle 59">
            <a:extLst>
              <a:ext uri="{FF2B5EF4-FFF2-40B4-BE49-F238E27FC236}">
                <a16:creationId xmlns:a16="http://schemas.microsoft.com/office/drawing/2014/main" id="{1BFCDB72-5B3D-47E3-BEC8-BA228552C526}"/>
              </a:ext>
            </a:extLst>
          </p:cNvPr>
          <p:cNvSpPr/>
          <p:nvPr/>
        </p:nvSpPr>
        <p:spPr>
          <a:xfrm>
            <a:off x="744433" y="2074365"/>
            <a:ext cx="1231427" cy="228652"/>
          </a:xfrm>
          <a:prstGeom prst="rect">
            <a:avLst/>
          </a:prstGeom>
        </p:spPr>
        <p:txBody>
          <a:bodyPr wrap="none">
            <a:spAutoFit/>
          </a:bodyPr>
          <a:lstStyle/>
          <a:p>
            <a:pPr defTabSz="837848">
              <a:spcBef>
                <a:spcPts val="409"/>
              </a:spcBef>
              <a:buSzPct val="100000"/>
            </a:pPr>
            <a:r>
              <a:rPr lang="en-US" sz="886" b="1" i="1" dirty="0">
                <a:solidFill>
                  <a:prstClr val="white"/>
                </a:solidFill>
                <a:latin typeface="Verdana"/>
              </a:rPr>
              <a:t>Waste to Energy</a:t>
            </a:r>
          </a:p>
        </p:txBody>
      </p:sp>
      <p:pic>
        <p:nvPicPr>
          <p:cNvPr id="63" name="Picture 62">
            <a:extLst>
              <a:ext uri="{FF2B5EF4-FFF2-40B4-BE49-F238E27FC236}">
                <a16:creationId xmlns:a16="http://schemas.microsoft.com/office/drawing/2014/main" id="{0DEA30E3-4036-4C21-AD6C-A1A8D28D710B}"/>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2615794" y="5313560"/>
            <a:ext cx="398706" cy="405533"/>
          </a:xfrm>
          <a:prstGeom prst="rect">
            <a:avLst/>
          </a:prstGeom>
        </p:spPr>
      </p:pic>
      <p:sp>
        <p:nvSpPr>
          <p:cNvPr id="64" name="Rectangle 63">
            <a:extLst>
              <a:ext uri="{FF2B5EF4-FFF2-40B4-BE49-F238E27FC236}">
                <a16:creationId xmlns:a16="http://schemas.microsoft.com/office/drawing/2014/main" id="{E129D81A-EAE5-48EF-8FB9-F6942DF370C3}"/>
              </a:ext>
            </a:extLst>
          </p:cNvPr>
          <p:cNvSpPr/>
          <p:nvPr/>
        </p:nvSpPr>
        <p:spPr>
          <a:xfrm>
            <a:off x="2110467" y="5093103"/>
            <a:ext cx="1409360" cy="228652"/>
          </a:xfrm>
          <a:prstGeom prst="rect">
            <a:avLst/>
          </a:prstGeom>
        </p:spPr>
        <p:txBody>
          <a:bodyPr wrap="none">
            <a:spAutoFit/>
          </a:bodyPr>
          <a:lstStyle/>
          <a:p>
            <a:pPr defTabSz="837848">
              <a:spcBef>
                <a:spcPts val="409"/>
              </a:spcBef>
              <a:buSzPct val="100000"/>
            </a:pPr>
            <a:r>
              <a:rPr lang="en-US" sz="886" b="1" i="1" dirty="0">
                <a:solidFill>
                  <a:prstClr val="white"/>
                </a:solidFill>
                <a:latin typeface="Verdana"/>
              </a:rPr>
              <a:t>Cross Border Trade</a:t>
            </a:r>
          </a:p>
        </p:txBody>
      </p:sp>
      <p:sp>
        <p:nvSpPr>
          <p:cNvPr id="78" name="Rectangle 77">
            <a:extLst>
              <a:ext uri="{FF2B5EF4-FFF2-40B4-BE49-F238E27FC236}">
                <a16:creationId xmlns:a16="http://schemas.microsoft.com/office/drawing/2014/main" id="{F5AC0BF0-613A-4EFB-98D4-D615B64F49D2}"/>
              </a:ext>
            </a:extLst>
          </p:cNvPr>
          <p:cNvSpPr/>
          <p:nvPr/>
        </p:nvSpPr>
        <p:spPr>
          <a:xfrm>
            <a:off x="3699214" y="2530191"/>
            <a:ext cx="1375698" cy="416268"/>
          </a:xfrm>
          <a:prstGeom prst="rect">
            <a:avLst/>
          </a:prstGeom>
        </p:spPr>
        <p:txBody>
          <a:bodyPr wrap="none">
            <a:spAutoFit/>
          </a:bodyPr>
          <a:lstStyle/>
          <a:p>
            <a:pPr defTabSz="837848">
              <a:spcBef>
                <a:spcPts val="409"/>
              </a:spcBef>
              <a:buSzPct val="100000"/>
            </a:pPr>
            <a:r>
              <a:rPr lang="en-US" sz="886" b="1" dirty="0">
                <a:solidFill>
                  <a:prstClr val="white"/>
                </a:solidFill>
                <a:latin typeface="Verdana"/>
              </a:rPr>
              <a:t>Hydrogen &amp; Other </a:t>
            </a:r>
          </a:p>
          <a:p>
            <a:pPr defTabSz="837848">
              <a:spcBef>
                <a:spcPts val="409"/>
              </a:spcBef>
              <a:buSzPct val="100000"/>
            </a:pPr>
            <a:r>
              <a:rPr lang="en-US" sz="886" b="1" dirty="0">
                <a:solidFill>
                  <a:prstClr val="white"/>
                </a:solidFill>
                <a:latin typeface="Verdana"/>
              </a:rPr>
              <a:t>fuel sources</a:t>
            </a:r>
          </a:p>
        </p:txBody>
      </p:sp>
      <p:sp>
        <p:nvSpPr>
          <p:cNvPr id="85" name="Rectangle 84">
            <a:extLst>
              <a:ext uri="{FF2B5EF4-FFF2-40B4-BE49-F238E27FC236}">
                <a16:creationId xmlns:a16="http://schemas.microsoft.com/office/drawing/2014/main" id="{2810B067-E1A9-4AD8-B4A2-388C2846CE1C}"/>
              </a:ext>
            </a:extLst>
          </p:cNvPr>
          <p:cNvSpPr/>
          <p:nvPr/>
        </p:nvSpPr>
        <p:spPr>
          <a:xfrm>
            <a:off x="636762" y="4546704"/>
            <a:ext cx="1525463" cy="228652"/>
          </a:xfrm>
          <a:prstGeom prst="rect">
            <a:avLst/>
          </a:prstGeom>
        </p:spPr>
        <p:txBody>
          <a:bodyPr wrap="square">
            <a:spAutoFit/>
          </a:bodyPr>
          <a:lstStyle/>
          <a:p>
            <a:pPr algn="ctr" defTabSz="837848">
              <a:spcBef>
                <a:spcPts val="409"/>
              </a:spcBef>
              <a:buSzPct val="100000"/>
            </a:pPr>
            <a:endParaRPr lang="en-US" sz="886" b="1" i="1" dirty="0">
              <a:solidFill>
                <a:prstClr val="white"/>
              </a:solidFill>
              <a:latin typeface="Verdana"/>
            </a:endParaRPr>
          </a:p>
        </p:txBody>
      </p:sp>
      <p:cxnSp>
        <p:nvCxnSpPr>
          <p:cNvPr id="86" name="Straight Connector 85">
            <a:extLst>
              <a:ext uri="{FF2B5EF4-FFF2-40B4-BE49-F238E27FC236}">
                <a16:creationId xmlns:a16="http://schemas.microsoft.com/office/drawing/2014/main" id="{C3807ECD-04B3-4141-A7C4-D4C7994C1D96}"/>
              </a:ext>
            </a:extLst>
          </p:cNvPr>
          <p:cNvCxnSpPr/>
          <p:nvPr/>
        </p:nvCxnSpPr>
        <p:spPr>
          <a:xfrm>
            <a:off x="2134265" y="1763303"/>
            <a:ext cx="0" cy="4087604"/>
          </a:xfrm>
          <a:prstGeom prst="line">
            <a:avLst/>
          </a:prstGeom>
          <a:ln w="28575">
            <a:solidFill>
              <a:srgbClr val="D0D0CE">
                <a:alpha val="30000"/>
              </a:srgb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37A5B16-F6B9-44C2-A7BE-051FAF4FB771}"/>
              </a:ext>
            </a:extLst>
          </p:cNvPr>
          <p:cNvCxnSpPr/>
          <p:nvPr/>
        </p:nvCxnSpPr>
        <p:spPr>
          <a:xfrm>
            <a:off x="3623168" y="1763303"/>
            <a:ext cx="0" cy="4087604"/>
          </a:xfrm>
          <a:prstGeom prst="line">
            <a:avLst/>
          </a:prstGeom>
          <a:ln w="28575">
            <a:solidFill>
              <a:srgbClr val="D0D0CE">
                <a:alpha val="30000"/>
              </a:srgb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A987AA8-DD8D-43E4-9DC5-DD4F7201DCE7}"/>
              </a:ext>
            </a:extLst>
          </p:cNvPr>
          <p:cNvCxnSpPr/>
          <p:nvPr/>
        </p:nvCxnSpPr>
        <p:spPr>
          <a:xfrm flipH="1" flipV="1">
            <a:off x="656728" y="4487809"/>
            <a:ext cx="4437870" cy="0"/>
          </a:xfrm>
          <a:prstGeom prst="line">
            <a:avLst/>
          </a:prstGeom>
          <a:ln w="28575">
            <a:solidFill>
              <a:srgbClr val="D0D0CE">
                <a:alpha val="30000"/>
              </a:srgb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6DFD73B6-ADA9-483E-B450-BEE967D54662}"/>
              </a:ext>
            </a:extLst>
          </p:cNvPr>
          <p:cNvCxnSpPr/>
          <p:nvPr/>
        </p:nvCxnSpPr>
        <p:spPr>
          <a:xfrm flipH="1" flipV="1">
            <a:off x="660495" y="3113370"/>
            <a:ext cx="4437870" cy="0"/>
          </a:xfrm>
          <a:prstGeom prst="line">
            <a:avLst/>
          </a:prstGeom>
          <a:ln w="28575">
            <a:solidFill>
              <a:srgbClr val="D0D0CE">
                <a:alpha val="30000"/>
              </a:srgbClr>
            </a:solidFill>
          </a:ln>
        </p:spPr>
        <p:style>
          <a:lnRef idx="1">
            <a:schemeClr val="accent1"/>
          </a:lnRef>
          <a:fillRef idx="0">
            <a:schemeClr val="accent1"/>
          </a:fillRef>
          <a:effectRef idx="0">
            <a:schemeClr val="accent1"/>
          </a:effectRef>
          <a:fontRef idx="minor">
            <a:schemeClr val="tx1"/>
          </a:fontRef>
        </p:style>
      </p:cxnSp>
      <p:pic>
        <p:nvPicPr>
          <p:cNvPr id="111" name="Picture 110" descr="Icon&#10;&#10;Description automatically generated">
            <a:extLst>
              <a:ext uri="{FF2B5EF4-FFF2-40B4-BE49-F238E27FC236}">
                <a16:creationId xmlns:a16="http://schemas.microsoft.com/office/drawing/2014/main" id="{42662E57-7813-44AE-8CB9-B6C6A588C32F}"/>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915546" y="2291884"/>
            <a:ext cx="328648" cy="336082"/>
          </a:xfrm>
          <a:prstGeom prst="rect">
            <a:avLst/>
          </a:prstGeom>
        </p:spPr>
      </p:pic>
      <p:pic>
        <p:nvPicPr>
          <p:cNvPr id="184326" name="Picture 6" descr="Smart meter Electricity meter Computer Icons, energy, logo, grass png |  PNGEgg">
            <a:extLst>
              <a:ext uri="{FF2B5EF4-FFF2-40B4-BE49-F238E27FC236}">
                <a16:creationId xmlns:a16="http://schemas.microsoft.com/office/drawing/2014/main" id="{DE89623E-2580-4064-BB01-C34A534CE3A2}"/>
              </a:ext>
            </a:extLst>
          </p:cNvPr>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1326998" y="4861212"/>
            <a:ext cx="453256" cy="377714"/>
          </a:xfrm>
          <a:prstGeom prst="rect">
            <a:avLst/>
          </a:prstGeom>
          <a:noFill/>
          <a:extLst>
            <a:ext uri="{909E8E84-426E-40DD-AFC4-6F175D3DCCD1}">
              <a14:hiddenFill xmlns:a14="http://schemas.microsoft.com/office/drawing/2010/main">
                <a:solidFill>
                  <a:srgbClr val="FFFFFF"/>
                </a:solidFill>
              </a14:hiddenFill>
            </a:ext>
          </a:extLst>
        </p:spPr>
      </p:pic>
      <p:sp>
        <p:nvSpPr>
          <p:cNvPr id="115" name="Rectangle 114">
            <a:extLst>
              <a:ext uri="{FF2B5EF4-FFF2-40B4-BE49-F238E27FC236}">
                <a16:creationId xmlns:a16="http://schemas.microsoft.com/office/drawing/2014/main" id="{5D5769DA-F125-47C3-BC40-8DA52CDA355D}"/>
              </a:ext>
            </a:extLst>
          </p:cNvPr>
          <p:cNvSpPr/>
          <p:nvPr/>
        </p:nvSpPr>
        <p:spPr>
          <a:xfrm>
            <a:off x="974740" y="5253975"/>
            <a:ext cx="1170513" cy="228652"/>
          </a:xfrm>
          <a:prstGeom prst="rect">
            <a:avLst/>
          </a:prstGeom>
        </p:spPr>
        <p:txBody>
          <a:bodyPr wrap="none">
            <a:spAutoFit/>
          </a:bodyPr>
          <a:lstStyle/>
          <a:p>
            <a:pPr defTabSz="837848">
              <a:spcBef>
                <a:spcPts val="409"/>
              </a:spcBef>
              <a:buSzPct val="100000"/>
            </a:pPr>
            <a:r>
              <a:rPr lang="en-US" sz="886" b="1" i="1" dirty="0">
                <a:solidFill>
                  <a:prstClr val="white"/>
                </a:solidFill>
                <a:latin typeface="Verdana"/>
              </a:rPr>
              <a:t>Smart Metering</a:t>
            </a:r>
          </a:p>
        </p:txBody>
      </p:sp>
      <p:pic>
        <p:nvPicPr>
          <p:cNvPr id="184328" name="Picture 8" descr="Cable Reel Icon Stock Illustrations – 323 Cable Reel Icon Stock  Illustrations, Vectors &amp; Clipart - Dreamstime">
            <a:extLst>
              <a:ext uri="{FF2B5EF4-FFF2-40B4-BE49-F238E27FC236}">
                <a16:creationId xmlns:a16="http://schemas.microsoft.com/office/drawing/2014/main" id="{E8F5139F-8C0C-4500-ACBB-508A3207CE25}"/>
              </a:ext>
            </a:extLst>
          </p:cNvPr>
          <p:cNvPicPr>
            <a:picLocks noChangeAspect="1" noChangeArrowheads="1"/>
          </p:cNvPicPr>
          <p:nvPr/>
        </p:nvPicPr>
        <p:blipFill>
          <a:blip r:embed="rId22" cstate="email">
            <a:extLst>
              <a:ext uri="{28A0092B-C50C-407E-A947-70E740481C1C}">
                <a14:useLocalDpi xmlns:a14="http://schemas.microsoft.com/office/drawing/2010/main"/>
              </a:ext>
            </a:extLst>
          </a:blip>
          <a:srcRect/>
          <a:stretch>
            <a:fillRect/>
          </a:stretch>
        </p:blipFill>
        <p:spPr bwMode="auto">
          <a:xfrm>
            <a:off x="2349803" y="4391579"/>
            <a:ext cx="368405" cy="368405"/>
          </a:xfrm>
          <a:prstGeom prst="rect">
            <a:avLst/>
          </a:prstGeom>
          <a:noFill/>
          <a:extLst>
            <a:ext uri="{909E8E84-426E-40DD-AFC4-6F175D3DCCD1}">
              <a14:hiddenFill xmlns:a14="http://schemas.microsoft.com/office/drawing/2010/main">
                <a:solidFill>
                  <a:srgbClr val="FFFFFF"/>
                </a:solidFill>
              </a14:hiddenFill>
            </a:ext>
          </a:extLst>
        </p:spPr>
      </p:pic>
      <p:sp>
        <p:nvSpPr>
          <p:cNvPr id="117" name="Rectangle 116">
            <a:extLst>
              <a:ext uri="{FF2B5EF4-FFF2-40B4-BE49-F238E27FC236}">
                <a16:creationId xmlns:a16="http://schemas.microsoft.com/office/drawing/2014/main" id="{603FE445-9995-4C3E-85AD-D391E1320939}"/>
              </a:ext>
            </a:extLst>
          </p:cNvPr>
          <p:cNvSpPr/>
          <p:nvPr/>
        </p:nvSpPr>
        <p:spPr>
          <a:xfrm>
            <a:off x="1730401" y="4197169"/>
            <a:ext cx="1537600" cy="228652"/>
          </a:xfrm>
          <a:prstGeom prst="rect">
            <a:avLst/>
          </a:prstGeom>
        </p:spPr>
        <p:txBody>
          <a:bodyPr wrap="none">
            <a:spAutoFit/>
          </a:bodyPr>
          <a:lstStyle/>
          <a:p>
            <a:pPr defTabSz="837848">
              <a:spcBef>
                <a:spcPts val="409"/>
              </a:spcBef>
              <a:buSzPct val="100000"/>
            </a:pPr>
            <a:r>
              <a:rPr lang="en-US" sz="886" b="1" i="1" dirty="0">
                <a:solidFill>
                  <a:prstClr val="white"/>
                </a:solidFill>
                <a:latin typeface="Verdana"/>
              </a:rPr>
              <a:t>Underground Cabling</a:t>
            </a:r>
          </a:p>
        </p:txBody>
      </p:sp>
      <p:pic>
        <p:nvPicPr>
          <p:cNvPr id="184330" name="Picture 10" descr="INDI: Energy Efficiency Logo">
            <a:extLst>
              <a:ext uri="{FF2B5EF4-FFF2-40B4-BE49-F238E27FC236}">
                <a16:creationId xmlns:a16="http://schemas.microsoft.com/office/drawing/2014/main" id="{93AAD5A0-4E20-42B2-8B06-6CF3EB046767}"/>
              </a:ext>
            </a:extLst>
          </p:cNvPr>
          <p:cNvPicPr>
            <a:picLocks noChangeAspect="1" noChangeArrowheads="1"/>
          </p:cNvPicPr>
          <p:nvPr/>
        </p:nvPicPr>
        <p:blipFill>
          <a:blip r:embed="rId23" cstate="email">
            <a:extLst>
              <a:ext uri="{28A0092B-C50C-407E-A947-70E740481C1C}">
                <a14:useLocalDpi xmlns:a14="http://schemas.microsoft.com/office/drawing/2010/main"/>
              </a:ext>
            </a:extLst>
          </a:blip>
          <a:srcRect/>
          <a:stretch>
            <a:fillRect/>
          </a:stretch>
        </p:blipFill>
        <p:spPr bwMode="auto">
          <a:xfrm>
            <a:off x="3324566" y="4473091"/>
            <a:ext cx="511289" cy="412599"/>
          </a:xfrm>
          <a:prstGeom prst="rect">
            <a:avLst/>
          </a:prstGeom>
          <a:noFill/>
          <a:extLst>
            <a:ext uri="{909E8E84-426E-40DD-AFC4-6F175D3DCCD1}">
              <a14:hiddenFill xmlns:a14="http://schemas.microsoft.com/office/drawing/2010/main">
                <a:solidFill>
                  <a:srgbClr val="FFFFFF"/>
                </a:solidFill>
              </a14:hiddenFill>
            </a:ext>
          </a:extLst>
        </p:spPr>
      </p:pic>
      <p:sp>
        <p:nvSpPr>
          <p:cNvPr id="119" name="Rectangle 118">
            <a:extLst>
              <a:ext uri="{FF2B5EF4-FFF2-40B4-BE49-F238E27FC236}">
                <a16:creationId xmlns:a16="http://schemas.microsoft.com/office/drawing/2014/main" id="{63CD8988-0C00-4265-9878-F295064A1A75}"/>
              </a:ext>
            </a:extLst>
          </p:cNvPr>
          <p:cNvSpPr/>
          <p:nvPr/>
        </p:nvSpPr>
        <p:spPr>
          <a:xfrm>
            <a:off x="3092877" y="4054347"/>
            <a:ext cx="1317990" cy="416268"/>
          </a:xfrm>
          <a:prstGeom prst="rect">
            <a:avLst/>
          </a:prstGeom>
        </p:spPr>
        <p:txBody>
          <a:bodyPr wrap="none">
            <a:spAutoFit/>
          </a:bodyPr>
          <a:lstStyle/>
          <a:p>
            <a:pPr defTabSz="837848">
              <a:spcBef>
                <a:spcPts val="409"/>
              </a:spcBef>
              <a:buSzPct val="100000"/>
            </a:pPr>
            <a:r>
              <a:rPr lang="en-US" sz="886" b="1" i="1" dirty="0">
                <a:solidFill>
                  <a:prstClr val="white"/>
                </a:solidFill>
                <a:latin typeface="Verdana"/>
              </a:rPr>
              <a:t>Energy Efficiency </a:t>
            </a:r>
          </a:p>
          <a:p>
            <a:pPr defTabSz="837848">
              <a:spcBef>
                <a:spcPts val="409"/>
              </a:spcBef>
              <a:buSzPct val="100000"/>
            </a:pPr>
            <a:r>
              <a:rPr lang="en-US" sz="886" b="1" i="1" dirty="0">
                <a:solidFill>
                  <a:prstClr val="white"/>
                </a:solidFill>
                <a:latin typeface="Verdana"/>
              </a:rPr>
              <a:t>Measures</a:t>
            </a:r>
          </a:p>
        </p:txBody>
      </p:sp>
      <p:pic>
        <p:nvPicPr>
          <p:cNvPr id="184332" name="Picture 12" descr="Demand Management System for Wholesalers | Jesta I.S.">
            <a:extLst>
              <a:ext uri="{FF2B5EF4-FFF2-40B4-BE49-F238E27FC236}">
                <a16:creationId xmlns:a16="http://schemas.microsoft.com/office/drawing/2014/main" id="{F87791DC-989F-41E3-AC1B-8D932F42A81E}"/>
              </a:ext>
            </a:extLst>
          </p:cNvPr>
          <p:cNvPicPr>
            <a:picLocks noChangeAspect="1" noChangeArrowheads="1"/>
          </p:cNvPicPr>
          <p:nvPr/>
        </p:nvPicPr>
        <p:blipFill>
          <a:blip r:embed="rId24" cstate="email">
            <a:extLst>
              <a:ext uri="{28A0092B-C50C-407E-A947-70E740481C1C}">
                <a14:useLocalDpi xmlns:a14="http://schemas.microsoft.com/office/drawing/2010/main"/>
              </a:ext>
            </a:extLst>
          </a:blip>
          <a:srcRect/>
          <a:stretch>
            <a:fillRect/>
          </a:stretch>
        </p:blipFill>
        <p:spPr bwMode="auto">
          <a:xfrm>
            <a:off x="879419" y="3593014"/>
            <a:ext cx="492762" cy="400064"/>
          </a:xfrm>
          <a:prstGeom prst="rect">
            <a:avLst/>
          </a:prstGeom>
          <a:noFill/>
          <a:extLst>
            <a:ext uri="{909E8E84-426E-40DD-AFC4-6F175D3DCCD1}">
              <a14:hiddenFill xmlns:a14="http://schemas.microsoft.com/office/drawing/2010/main">
                <a:solidFill>
                  <a:srgbClr val="FFFFFF"/>
                </a:solidFill>
              </a14:hiddenFill>
            </a:ext>
          </a:extLst>
        </p:spPr>
      </p:pic>
      <p:sp>
        <p:nvSpPr>
          <p:cNvPr id="121" name="Rectangle 120">
            <a:extLst>
              <a:ext uri="{FF2B5EF4-FFF2-40B4-BE49-F238E27FC236}">
                <a16:creationId xmlns:a16="http://schemas.microsoft.com/office/drawing/2014/main" id="{23263C80-C019-4B15-B550-4EAE78A2D025}"/>
              </a:ext>
            </a:extLst>
          </p:cNvPr>
          <p:cNvSpPr/>
          <p:nvPr/>
        </p:nvSpPr>
        <p:spPr>
          <a:xfrm>
            <a:off x="797956" y="3372188"/>
            <a:ext cx="1109599" cy="228652"/>
          </a:xfrm>
          <a:prstGeom prst="rect">
            <a:avLst/>
          </a:prstGeom>
        </p:spPr>
        <p:txBody>
          <a:bodyPr wrap="none">
            <a:spAutoFit/>
          </a:bodyPr>
          <a:lstStyle/>
          <a:p>
            <a:pPr defTabSz="837848">
              <a:spcBef>
                <a:spcPts val="409"/>
              </a:spcBef>
              <a:buSzPct val="100000"/>
            </a:pPr>
            <a:r>
              <a:rPr lang="en-US" sz="886" b="1" i="1" dirty="0">
                <a:solidFill>
                  <a:prstClr val="white"/>
                </a:solidFill>
                <a:latin typeface="Verdana"/>
              </a:rPr>
              <a:t>DSM Measures</a:t>
            </a:r>
          </a:p>
        </p:txBody>
      </p:sp>
      <p:pic>
        <p:nvPicPr>
          <p:cNvPr id="184334" name="Picture 14" descr="Automation, controller, industry, plc, scada, factory icon - Download on  Iconfinder">
            <a:extLst>
              <a:ext uri="{FF2B5EF4-FFF2-40B4-BE49-F238E27FC236}">
                <a16:creationId xmlns:a16="http://schemas.microsoft.com/office/drawing/2014/main" id="{30C31830-D3A5-46BB-9ACE-6E4462B659DF}"/>
              </a:ext>
            </a:extLst>
          </p:cNvPr>
          <p:cNvPicPr>
            <a:picLocks noChangeAspect="1" noChangeArrowheads="1"/>
          </p:cNvPicPr>
          <p:nvPr/>
        </p:nvPicPr>
        <p:blipFill>
          <a:blip r:embed="rId25" cstate="email">
            <a:extLst>
              <a:ext uri="{28A0092B-C50C-407E-A947-70E740481C1C}">
                <a14:useLocalDpi xmlns:a14="http://schemas.microsoft.com/office/drawing/2010/main"/>
              </a:ext>
            </a:extLst>
          </a:blip>
          <a:srcRect/>
          <a:stretch>
            <a:fillRect/>
          </a:stretch>
        </p:blipFill>
        <p:spPr bwMode="auto">
          <a:xfrm>
            <a:off x="3401977" y="5265951"/>
            <a:ext cx="477265" cy="477265"/>
          </a:xfrm>
          <a:prstGeom prst="rect">
            <a:avLst/>
          </a:prstGeom>
          <a:noFill/>
          <a:extLst>
            <a:ext uri="{909E8E84-426E-40DD-AFC4-6F175D3DCCD1}">
              <a14:hiddenFill xmlns:a14="http://schemas.microsoft.com/office/drawing/2010/main">
                <a:solidFill>
                  <a:srgbClr val="FFFFFF"/>
                </a:solidFill>
              </a14:hiddenFill>
            </a:ext>
          </a:extLst>
        </p:spPr>
      </p:pic>
      <p:sp>
        <p:nvSpPr>
          <p:cNvPr id="123" name="Rectangle 122">
            <a:extLst>
              <a:ext uri="{FF2B5EF4-FFF2-40B4-BE49-F238E27FC236}">
                <a16:creationId xmlns:a16="http://schemas.microsoft.com/office/drawing/2014/main" id="{7F97D896-C4B8-490B-ADBC-A8C90F24B75B}"/>
              </a:ext>
            </a:extLst>
          </p:cNvPr>
          <p:cNvSpPr/>
          <p:nvPr/>
        </p:nvSpPr>
        <p:spPr>
          <a:xfrm>
            <a:off x="3858220" y="5334122"/>
            <a:ext cx="1212191" cy="416268"/>
          </a:xfrm>
          <a:prstGeom prst="rect">
            <a:avLst/>
          </a:prstGeom>
        </p:spPr>
        <p:txBody>
          <a:bodyPr wrap="none">
            <a:spAutoFit/>
          </a:bodyPr>
          <a:lstStyle/>
          <a:p>
            <a:pPr defTabSz="837848">
              <a:spcBef>
                <a:spcPts val="409"/>
              </a:spcBef>
              <a:buSzPct val="100000"/>
            </a:pPr>
            <a:r>
              <a:rPr lang="en-US" sz="886" b="1" i="1" dirty="0">
                <a:solidFill>
                  <a:prstClr val="white"/>
                </a:solidFill>
                <a:latin typeface="Verdana"/>
              </a:rPr>
              <a:t>SCADA </a:t>
            </a:r>
          </a:p>
          <a:p>
            <a:pPr defTabSz="837848">
              <a:spcBef>
                <a:spcPts val="409"/>
              </a:spcBef>
              <a:buSzPct val="100000"/>
            </a:pPr>
            <a:r>
              <a:rPr lang="en-US" sz="886" b="1" i="1" dirty="0">
                <a:solidFill>
                  <a:prstClr val="white"/>
                </a:solidFill>
                <a:latin typeface="Verdana"/>
              </a:rPr>
              <a:t>Implementation</a:t>
            </a:r>
          </a:p>
        </p:txBody>
      </p:sp>
      <p:pic>
        <p:nvPicPr>
          <p:cNvPr id="184336" name="Picture 16" descr="Electric car png images | PNGEgg">
            <a:extLst>
              <a:ext uri="{FF2B5EF4-FFF2-40B4-BE49-F238E27FC236}">
                <a16:creationId xmlns:a16="http://schemas.microsoft.com/office/drawing/2014/main" id="{4A7077B7-5EFB-4416-B73B-2B2F342CEFF3}"/>
              </a:ext>
            </a:extLst>
          </p:cNvPr>
          <p:cNvPicPr>
            <a:picLocks noChangeAspect="1" noChangeArrowheads="1"/>
          </p:cNvPicPr>
          <p:nvPr/>
        </p:nvPicPr>
        <p:blipFill>
          <a:blip r:embed="rId26" cstate="email">
            <a:extLst>
              <a:ext uri="{28A0092B-C50C-407E-A947-70E740481C1C}">
                <a14:useLocalDpi xmlns:a14="http://schemas.microsoft.com/office/drawing/2010/main"/>
              </a:ext>
            </a:extLst>
          </a:blip>
          <a:srcRect/>
          <a:stretch>
            <a:fillRect/>
          </a:stretch>
        </p:blipFill>
        <p:spPr bwMode="auto">
          <a:xfrm>
            <a:off x="4117036" y="1865827"/>
            <a:ext cx="310859" cy="369305"/>
          </a:xfrm>
          <a:prstGeom prst="rect">
            <a:avLst/>
          </a:prstGeom>
          <a:noFill/>
          <a:extLst>
            <a:ext uri="{909E8E84-426E-40DD-AFC4-6F175D3DCCD1}">
              <a14:hiddenFill xmlns:a14="http://schemas.microsoft.com/office/drawing/2010/main">
                <a:solidFill>
                  <a:srgbClr val="FFFFFF"/>
                </a:solidFill>
              </a14:hiddenFill>
            </a:ext>
          </a:extLst>
        </p:spPr>
      </p:pic>
      <p:sp>
        <p:nvSpPr>
          <p:cNvPr id="125" name="Rectangle 124">
            <a:extLst>
              <a:ext uri="{FF2B5EF4-FFF2-40B4-BE49-F238E27FC236}">
                <a16:creationId xmlns:a16="http://schemas.microsoft.com/office/drawing/2014/main" id="{BB863CB8-BF0F-42C5-9BCE-814F1A913DD9}"/>
              </a:ext>
            </a:extLst>
          </p:cNvPr>
          <p:cNvSpPr/>
          <p:nvPr/>
        </p:nvSpPr>
        <p:spPr>
          <a:xfrm>
            <a:off x="4468640" y="1925220"/>
            <a:ext cx="348172" cy="228652"/>
          </a:xfrm>
          <a:prstGeom prst="rect">
            <a:avLst/>
          </a:prstGeom>
        </p:spPr>
        <p:txBody>
          <a:bodyPr wrap="none">
            <a:spAutoFit/>
          </a:bodyPr>
          <a:lstStyle/>
          <a:p>
            <a:pPr defTabSz="837848">
              <a:spcBef>
                <a:spcPts val="409"/>
              </a:spcBef>
              <a:buSzPct val="100000"/>
            </a:pPr>
            <a:r>
              <a:rPr lang="en-US" sz="886" b="1" i="1" dirty="0">
                <a:solidFill>
                  <a:prstClr val="white"/>
                </a:solidFill>
                <a:latin typeface="Verdana"/>
              </a:rPr>
              <a:t>EV</a:t>
            </a:r>
          </a:p>
        </p:txBody>
      </p:sp>
      <p:pic>
        <p:nvPicPr>
          <p:cNvPr id="184340" name="Picture 20" descr="Business, distribution, franchise, opportunity, partner, solid, supplier  icon - Download on Iconfinder">
            <a:extLst>
              <a:ext uri="{FF2B5EF4-FFF2-40B4-BE49-F238E27FC236}">
                <a16:creationId xmlns:a16="http://schemas.microsoft.com/office/drawing/2014/main" id="{88A4F4F3-17AC-4499-BEEB-791F98F3FF66}"/>
              </a:ext>
            </a:extLst>
          </p:cNvPr>
          <p:cNvPicPr>
            <a:picLocks noChangeAspect="1" noChangeArrowheads="1"/>
          </p:cNvPicPr>
          <p:nvPr/>
        </p:nvPicPr>
        <p:blipFill>
          <a:blip r:embed="rId27" cstate="email">
            <a:extLst>
              <a:ext uri="{28A0092B-C50C-407E-A947-70E740481C1C}">
                <a14:useLocalDpi xmlns:a14="http://schemas.microsoft.com/office/drawing/2010/main"/>
              </a:ext>
            </a:extLst>
          </a:blip>
          <a:srcRect/>
          <a:stretch>
            <a:fillRect/>
          </a:stretch>
        </p:blipFill>
        <p:spPr bwMode="auto">
          <a:xfrm>
            <a:off x="680635" y="4228842"/>
            <a:ext cx="482650" cy="482650"/>
          </a:xfrm>
          <a:prstGeom prst="rect">
            <a:avLst/>
          </a:prstGeom>
          <a:noFill/>
          <a:extLst>
            <a:ext uri="{909E8E84-426E-40DD-AFC4-6F175D3DCCD1}">
              <a14:hiddenFill xmlns:a14="http://schemas.microsoft.com/office/drawing/2010/main">
                <a:solidFill>
                  <a:srgbClr val="FFFFFF"/>
                </a:solidFill>
              </a14:hiddenFill>
            </a:ext>
          </a:extLst>
        </p:spPr>
      </p:pic>
      <p:sp>
        <p:nvSpPr>
          <p:cNvPr id="128" name="Rectangle 127">
            <a:extLst>
              <a:ext uri="{FF2B5EF4-FFF2-40B4-BE49-F238E27FC236}">
                <a16:creationId xmlns:a16="http://schemas.microsoft.com/office/drawing/2014/main" id="{587AD596-FD96-4219-A730-76788C812490}"/>
              </a:ext>
            </a:extLst>
          </p:cNvPr>
          <p:cNvSpPr/>
          <p:nvPr/>
        </p:nvSpPr>
        <p:spPr>
          <a:xfrm>
            <a:off x="1130549" y="4306829"/>
            <a:ext cx="978153" cy="416268"/>
          </a:xfrm>
          <a:prstGeom prst="rect">
            <a:avLst/>
          </a:prstGeom>
        </p:spPr>
        <p:txBody>
          <a:bodyPr wrap="none">
            <a:spAutoFit/>
          </a:bodyPr>
          <a:lstStyle/>
          <a:p>
            <a:pPr defTabSz="837848">
              <a:spcBef>
                <a:spcPts val="409"/>
              </a:spcBef>
              <a:buSzPct val="100000"/>
            </a:pPr>
            <a:r>
              <a:rPr lang="en-US" sz="886" b="1" i="1" dirty="0">
                <a:solidFill>
                  <a:prstClr val="white"/>
                </a:solidFill>
                <a:latin typeface="Verdana"/>
              </a:rPr>
              <a:t>Distribution </a:t>
            </a:r>
          </a:p>
          <a:p>
            <a:pPr defTabSz="837848">
              <a:spcBef>
                <a:spcPts val="409"/>
              </a:spcBef>
              <a:buSzPct val="100000"/>
            </a:pPr>
            <a:r>
              <a:rPr lang="en-US" sz="886" b="1" i="1" dirty="0">
                <a:solidFill>
                  <a:prstClr val="white"/>
                </a:solidFill>
                <a:latin typeface="Verdana"/>
              </a:rPr>
              <a:t>Franchise</a:t>
            </a:r>
          </a:p>
        </p:txBody>
      </p:sp>
      <p:pic>
        <p:nvPicPr>
          <p:cNvPr id="113" name="Picture 112" descr="Icon&#10;&#10;Description automatically generated">
            <a:extLst>
              <a:ext uri="{FF2B5EF4-FFF2-40B4-BE49-F238E27FC236}">
                <a16:creationId xmlns:a16="http://schemas.microsoft.com/office/drawing/2014/main" id="{506DC745-FEA7-4F6B-932B-66809EE9AA4A}"/>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2534006" y="2159729"/>
            <a:ext cx="380566" cy="384017"/>
          </a:xfrm>
          <a:prstGeom prst="rect">
            <a:avLst/>
          </a:prstGeom>
        </p:spPr>
      </p:pic>
      <p:sp>
        <p:nvSpPr>
          <p:cNvPr id="131" name="Rectangle 130">
            <a:extLst>
              <a:ext uri="{FF2B5EF4-FFF2-40B4-BE49-F238E27FC236}">
                <a16:creationId xmlns:a16="http://schemas.microsoft.com/office/drawing/2014/main" id="{CAA1717E-B502-44D7-8BE3-25E99D1F4684}"/>
              </a:ext>
            </a:extLst>
          </p:cNvPr>
          <p:cNvSpPr/>
          <p:nvPr/>
        </p:nvSpPr>
        <p:spPr>
          <a:xfrm>
            <a:off x="2120101" y="2561329"/>
            <a:ext cx="1290738" cy="228652"/>
          </a:xfrm>
          <a:prstGeom prst="rect">
            <a:avLst/>
          </a:prstGeom>
        </p:spPr>
        <p:txBody>
          <a:bodyPr wrap="none">
            <a:spAutoFit/>
          </a:bodyPr>
          <a:lstStyle/>
          <a:p>
            <a:pPr defTabSz="837848">
              <a:spcBef>
                <a:spcPts val="409"/>
              </a:spcBef>
              <a:buSzPct val="100000"/>
            </a:pPr>
            <a:r>
              <a:rPr lang="en-US" sz="886" b="1" i="1" dirty="0">
                <a:solidFill>
                  <a:prstClr val="white"/>
                </a:solidFill>
                <a:latin typeface="Verdana"/>
              </a:rPr>
              <a:t>Smart Grid/DERS</a:t>
            </a:r>
          </a:p>
        </p:txBody>
      </p:sp>
      <p:pic>
        <p:nvPicPr>
          <p:cNvPr id="65" name="Picture 6" descr="Smart meter Electricity meter Computer Icons, energy, logo, grass png |  PNGEgg">
            <a:extLst>
              <a:ext uri="{FF2B5EF4-FFF2-40B4-BE49-F238E27FC236}">
                <a16:creationId xmlns:a16="http://schemas.microsoft.com/office/drawing/2014/main" id="{E13673E9-3B44-45B8-9126-826D8CE2C5F3}"/>
              </a:ext>
            </a:extLst>
          </p:cNvPr>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2312853" y="3549519"/>
            <a:ext cx="453256" cy="377714"/>
          </a:xfrm>
          <a:prstGeom prst="rect">
            <a:avLst/>
          </a:prstGeom>
          <a:noFill/>
          <a:extLst>
            <a:ext uri="{909E8E84-426E-40DD-AFC4-6F175D3DCCD1}">
              <a14:hiddenFill xmlns:a14="http://schemas.microsoft.com/office/drawing/2010/main">
                <a:solidFill>
                  <a:srgbClr val="FFFFFF"/>
                </a:solidFill>
              </a14:hiddenFill>
            </a:ext>
          </a:extLst>
        </p:spPr>
      </p:pic>
      <p:sp>
        <p:nvSpPr>
          <p:cNvPr id="66" name="Rectangle 65">
            <a:extLst>
              <a:ext uri="{FF2B5EF4-FFF2-40B4-BE49-F238E27FC236}">
                <a16:creationId xmlns:a16="http://schemas.microsoft.com/office/drawing/2014/main" id="{99AFD071-E5B5-4F51-9712-473538F40B54}"/>
              </a:ext>
            </a:extLst>
          </p:cNvPr>
          <p:cNvSpPr/>
          <p:nvPr/>
        </p:nvSpPr>
        <p:spPr>
          <a:xfrm>
            <a:off x="1881358" y="2999293"/>
            <a:ext cx="1762021" cy="416268"/>
          </a:xfrm>
          <a:prstGeom prst="rect">
            <a:avLst/>
          </a:prstGeom>
        </p:spPr>
        <p:txBody>
          <a:bodyPr wrap="none">
            <a:spAutoFit/>
          </a:bodyPr>
          <a:lstStyle/>
          <a:p>
            <a:pPr defTabSz="837848">
              <a:spcBef>
                <a:spcPts val="409"/>
              </a:spcBef>
              <a:buSzPct val="100000"/>
            </a:pPr>
            <a:r>
              <a:rPr lang="en-US" sz="886" b="1" i="1" dirty="0">
                <a:solidFill>
                  <a:prstClr val="white"/>
                </a:solidFill>
                <a:latin typeface="Verdana"/>
              </a:rPr>
              <a:t>Feeder and Transformer </a:t>
            </a:r>
          </a:p>
          <a:p>
            <a:pPr defTabSz="837848">
              <a:spcBef>
                <a:spcPts val="409"/>
              </a:spcBef>
              <a:buSzPct val="100000"/>
            </a:pPr>
            <a:r>
              <a:rPr lang="en-US" sz="886" b="1" i="1" dirty="0">
                <a:solidFill>
                  <a:prstClr val="white"/>
                </a:solidFill>
                <a:latin typeface="Verdana"/>
              </a:rPr>
              <a:t>level smart metering</a:t>
            </a:r>
          </a:p>
        </p:txBody>
      </p:sp>
      <p:pic>
        <p:nvPicPr>
          <p:cNvPr id="3" name="Picture 2">
            <a:extLst>
              <a:ext uri="{FF2B5EF4-FFF2-40B4-BE49-F238E27FC236}">
                <a16:creationId xmlns:a16="http://schemas.microsoft.com/office/drawing/2014/main" id="{483F75D1-E4AD-4FAB-BAB9-D7BAA12E0882}"/>
              </a:ext>
            </a:extLst>
          </p:cNvPr>
          <p:cNvPicPr>
            <a:picLocks noChangeAspect="1"/>
          </p:cNvPicPr>
          <p:nvPr/>
        </p:nvPicPr>
        <p:blipFill>
          <a:blip r:embed="rId29"/>
          <a:stretch>
            <a:fillRect/>
          </a:stretch>
        </p:blipFill>
        <p:spPr>
          <a:xfrm>
            <a:off x="5495419" y="1669777"/>
            <a:ext cx="6151313" cy="2382754"/>
          </a:xfrm>
          <a:prstGeom prst="rect">
            <a:avLst/>
          </a:prstGeom>
        </p:spPr>
      </p:pic>
      <p:pic>
        <p:nvPicPr>
          <p:cNvPr id="4" name="Picture 3">
            <a:extLst>
              <a:ext uri="{FF2B5EF4-FFF2-40B4-BE49-F238E27FC236}">
                <a16:creationId xmlns:a16="http://schemas.microsoft.com/office/drawing/2014/main" id="{F3670E82-9FE2-410B-9C03-5B40304BE9B0}"/>
              </a:ext>
            </a:extLst>
          </p:cNvPr>
          <p:cNvPicPr>
            <a:picLocks noChangeAspect="1"/>
          </p:cNvPicPr>
          <p:nvPr/>
        </p:nvPicPr>
        <p:blipFill>
          <a:blip r:embed="rId30"/>
          <a:stretch>
            <a:fillRect/>
          </a:stretch>
        </p:blipFill>
        <p:spPr>
          <a:xfrm>
            <a:off x="5436253" y="4197169"/>
            <a:ext cx="6266048" cy="2233720"/>
          </a:xfrm>
          <a:prstGeom prst="rect">
            <a:avLst/>
          </a:prstGeom>
        </p:spPr>
      </p:pic>
      <p:sp>
        <p:nvSpPr>
          <p:cNvPr id="69" name="TextBox 68">
            <a:extLst>
              <a:ext uri="{FF2B5EF4-FFF2-40B4-BE49-F238E27FC236}">
                <a16:creationId xmlns:a16="http://schemas.microsoft.com/office/drawing/2014/main" id="{E0AF88EA-61CD-464C-8A72-B32E2952B367}"/>
              </a:ext>
            </a:extLst>
          </p:cNvPr>
          <p:cNvSpPr txBox="1"/>
          <p:nvPr/>
        </p:nvSpPr>
        <p:spPr>
          <a:xfrm>
            <a:off x="6335076" y="3980250"/>
            <a:ext cx="4550817" cy="228652"/>
          </a:xfrm>
          <a:prstGeom prst="rect">
            <a:avLst/>
          </a:prstGeom>
          <a:noFill/>
        </p:spPr>
        <p:txBody>
          <a:bodyPr wrap="square" rtlCol="0">
            <a:spAutoFit/>
          </a:bodyPr>
          <a:lstStyle/>
          <a:p>
            <a:pPr defTabSz="831230">
              <a:defRPr/>
            </a:pPr>
            <a:r>
              <a:rPr lang="en-US" sz="886" b="1" dirty="0">
                <a:solidFill>
                  <a:prstClr val="black"/>
                </a:solidFill>
                <a:latin typeface="Verdana"/>
                <a:ea typeface="Verdana" panose="020B0604030504040204" pitchFamily="34" charset="0"/>
                <a:cs typeface="Verdana" panose="020B0604030504040204" pitchFamily="34" charset="0"/>
              </a:rPr>
              <a:t>Scenario of Bond Conversion of Existing WBSEDCL Debt Portfolio</a:t>
            </a:r>
          </a:p>
        </p:txBody>
      </p:sp>
      <p:grpSp>
        <p:nvGrpSpPr>
          <p:cNvPr id="70" name="Group 69">
            <a:extLst>
              <a:ext uri="{FF2B5EF4-FFF2-40B4-BE49-F238E27FC236}">
                <a16:creationId xmlns:a16="http://schemas.microsoft.com/office/drawing/2014/main" id="{678A01C4-0823-44D0-83E2-7470F1B2A897}"/>
              </a:ext>
            </a:extLst>
          </p:cNvPr>
          <p:cNvGrpSpPr/>
          <p:nvPr/>
        </p:nvGrpSpPr>
        <p:grpSpPr>
          <a:xfrm>
            <a:off x="8752588" y="125"/>
            <a:ext cx="3439412" cy="312153"/>
            <a:chOff x="3284559" y="173998"/>
            <a:chExt cx="10407720" cy="452926"/>
          </a:xfrm>
        </p:grpSpPr>
        <p:sp>
          <p:nvSpPr>
            <p:cNvPr id="71" name="AutoShape 6">
              <a:extLst>
                <a:ext uri="{FF2B5EF4-FFF2-40B4-BE49-F238E27FC236}">
                  <a16:creationId xmlns:a16="http://schemas.microsoft.com/office/drawing/2014/main" id="{06513ED6-D36B-4448-A815-128B8C060443}"/>
                </a:ext>
              </a:extLst>
            </p:cNvPr>
            <p:cNvSpPr>
              <a:spLocks noChangeArrowheads="1"/>
            </p:cNvSpPr>
            <p:nvPr/>
          </p:nvSpPr>
          <p:spPr bwMode="auto">
            <a:xfrm>
              <a:off x="3284559" y="173998"/>
              <a:ext cx="3870036" cy="452926"/>
            </a:xfrm>
            <a:prstGeom prst="homePlate">
              <a:avLst>
                <a:gd name="adj" fmla="val 38784"/>
              </a:avLst>
            </a:prstGeom>
            <a:solidFill>
              <a:srgbClr val="E3E4E5"/>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latin typeface="Verdana"/>
                  <a:ea typeface="MS PGothic" panose="020B0600070205080204" pitchFamily="34" charset="-128"/>
                  <a:cs typeface="Times New Roman" panose="02020603050405020304" pitchFamily="18" charset="0"/>
                </a:rPr>
                <a:t>Module-1 (</a:t>
              </a:r>
              <a:r>
                <a:rPr lang="en-US" sz="545" b="1" dirty="0">
                  <a:latin typeface="Verdana"/>
                </a:rPr>
                <a:t>Diagnostic Review &amp; Causal Analysis)</a:t>
              </a:r>
              <a:endParaRPr lang="en-IN" sz="545" b="1" dirty="0">
                <a:latin typeface="Verdana"/>
                <a:ea typeface="Times New Roman" panose="02020603050405020304" pitchFamily="18" charset="0"/>
                <a:cs typeface="Times New Roman" panose="02020603050405020304" pitchFamily="18" charset="0"/>
              </a:endParaRPr>
            </a:p>
          </p:txBody>
        </p:sp>
        <p:sp>
          <p:nvSpPr>
            <p:cNvPr id="72" name="AutoShape 7">
              <a:extLst>
                <a:ext uri="{FF2B5EF4-FFF2-40B4-BE49-F238E27FC236}">
                  <a16:creationId xmlns:a16="http://schemas.microsoft.com/office/drawing/2014/main" id="{940BA035-4F4E-4151-A3F4-8BD1E98F77D2}"/>
                </a:ext>
              </a:extLst>
            </p:cNvPr>
            <p:cNvSpPr>
              <a:spLocks noChangeArrowheads="1"/>
            </p:cNvSpPr>
            <p:nvPr/>
          </p:nvSpPr>
          <p:spPr bwMode="auto">
            <a:xfrm>
              <a:off x="6983578" y="173998"/>
              <a:ext cx="3870036" cy="452926"/>
            </a:xfrm>
            <a:prstGeom prst="chevron">
              <a:avLst>
                <a:gd name="adj" fmla="val 36855"/>
              </a:avLst>
            </a:prstGeom>
            <a:solidFill>
              <a:srgbClr val="0097A9"/>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solidFill>
                    <a:srgbClr val="FFFFFF"/>
                  </a:solidFill>
                  <a:latin typeface="Verdana"/>
                  <a:ea typeface="MS PGothic" panose="020B0600070205080204" pitchFamily="34" charset="-128"/>
                  <a:cs typeface="Times New Roman" panose="02020603050405020304" pitchFamily="18" charset="0"/>
                </a:rPr>
                <a:t>Module-2 (Strategic Vision Development)</a:t>
              </a:r>
              <a:endParaRPr lang="en-IN" sz="545" dirty="0">
                <a:solidFill>
                  <a:prstClr val="black"/>
                </a:solidFill>
                <a:latin typeface="Verdana"/>
                <a:ea typeface="Times New Roman" panose="02020603050405020304" pitchFamily="18" charset="0"/>
                <a:cs typeface="Times New Roman" panose="02020603050405020304" pitchFamily="18" charset="0"/>
              </a:endParaRPr>
            </a:p>
          </p:txBody>
        </p:sp>
        <p:sp>
          <p:nvSpPr>
            <p:cNvPr id="73" name="AutoShape 7">
              <a:extLst>
                <a:ext uri="{FF2B5EF4-FFF2-40B4-BE49-F238E27FC236}">
                  <a16:creationId xmlns:a16="http://schemas.microsoft.com/office/drawing/2014/main" id="{F40EF2F6-4969-4E85-8427-31C130F7870F}"/>
                </a:ext>
              </a:extLst>
            </p:cNvPr>
            <p:cNvSpPr>
              <a:spLocks noChangeArrowheads="1"/>
            </p:cNvSpPr>
            <p:nvPr/>
          </p:nvSpPr>
          <p:spPr bwMode="auto">
            <a:xfrm>
              <a:off x="10691720" y="173998"/>
              <a:ext cx="3000559" cy="452926"/>
            </a:xfrm>
            <a:prstGeom prst="chevron">
              <a:avLst>
                <a:gd name="adj" fmla="val 36855"/>
              </a:avLst>
            </a:prstGeom>
            <a:solidFill>
              <a:schemeClr val="accent6">
                <a:lumMod val="20000"/>
                <a:lumOff val="80000"/>
              </a:schemeClr>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latin typeface="Verdana"/>
                  <a:ea typeface="Times New Roman" panose="02020603050405020304" pitchFamily="18" charset="0"/>
                  <a:cs typeface="Times New Roman" panose="02020603050405020304" pitchFamily="18" charset="0"/>
                </a:rPr>
                <a:t>Implementation Support</a:t>
              </a:r>
              <a:endParaRPr lang="en-IN" sz="545" b="1" dirty="0">
                <a:latin typeface="Verdana"/>
                <a:ea typeface="Times New Roman" panose="02020603050405020304" pitchFamily="18" charset="0"/>
                <a:cs typeface="Times New Roman" panose="02020603050405020304" pitchFamily="18" charset="0"/>
              </a:endParaRPr>
            </a:p>
          </p:txBody>
        </p:sp>
      </p:grpSp>
      <p:sp>
        <p:nvSpPr>
          <p:cNvPr id="74" name="Title 2">
            <a:extLst>
              <a:ext uri="{FF2B5EF4-FFF2-40B4-BE49-F238E27FC236}">
                <a16:creationId xmlns:a16="http://schemas.microsoft.com/office/drawing/2014/main" id="{6E58A914-5305-4E79-848F-5D1E7798DB80}"/>
              </a:ext>
            </a:extLst>
          </p:cNvPr>
          <p:cNvSpPr>
            <a:spLocks noGrp="1"/>
          </p:cNvSpPr>
          <p:nvPr>
            <p:ph type="title"/>
          </p:nvPr>
        </p:nvSpPr>
        <p:spPr>
          <a:xfrm>
            <a:off x="617225" y="245179"/>
            <a:ext cx="8437784" cy="227797"/>
          </a:xfrm>
        </p:spPr>
        <p:txBody>
          <a:bodyPr vert="horz"/>
          <a:lstStyle/>
          <a:p>
            <a:pPr defTabSz="831272"/>
            <a:r>
              <a:rPr lang="en-US" sz="1800" dirty="0">
                <a:solidFill>
                  <a:prstClr val="black"/>
                </a:solidFill>
              </a:rPr>
              <a:t>Module-2: </a:t>
            </a:r>
            <a:r>
              <a:rPr lang="en-US" sz="1800" dirty="0">
                <a:solidFill>
                  <a:prstClr val="black"/>
                </a:solidFill>
                <a:ea typeface="MS PGothic" panose="020B0600070205080204" pitchFamily="34" charset="-128"/>
                <a:cs typeface="Times New Roman" panose="02020603050405020304" pitchFamily="18" charset="0"/>
              </a:rPr>
              <a:t>Development of Strategic Vision 2030(2/2)</a:t>
            </a:r>
            <a:endParaRPr lang="en-IN" sz="1800" dirty="0">
              <a:solidFill>
                <a:prstClr val="black"/>
              </a:solidFill>
            </a:endParaRPr>
          </a:p>
        </p:txBody>
      </p:sp>
      <p:sp>
        <p:nvSpPr>
          <p:cNvPr id="75" name="Text Placeholder 1">
            <a:extLst>
              <a:ext uri="{FF2B5EF4-FFF2-40B4-BE49-F238E27FC236}">
                <a16:creationId xmlns:a16="http://schemas.microsoft.com/office/drawing/2014/main" id="{2C665A12-1613-4591-9604-DF868E8F87BC}"/>
              </a:ext>
            </a:extLst>
          </p:cNvPr>
          <p:cNvSpPr>
            <a:spLocks noGrp="1"/>
          </p:cNvSpPr>
          <p:nvPr>
            <p:ph type="body" sz="quarter" idx="13"/>
          </p:nvPr>
        </p:nvSpPr>
        <p:spPr>
          <a:xfrm>
            <a:off x="624661" y="571436"/>
            <a:ext cx="10964886" cy="173136"/>
          </a:xfrm>
        </p:spPr>
        <p:txBody>
          <a:bodyPr/>
          <a:lstStyle/>
          <a:p>
            <a:pPr algn="just" defTabSz="675371">
              <a:spcAft>
                <a:spcPts val="738"/>
              </a:spcAft>
            </a:pPr>
            <a:r>
              <a:rPr lang="en-US" sz="1600" dirty="0"/>
              <a:t>Sectoral Vision: Vision and Actionable Implementation Plan will be critical to achieving the Turnaround, Stakeholder buy in through Two Tier Vision Workshop is Critical</a:t>
            </a:r>
          </a:p>
        </p:txBody>
      </p:sp>
    </p:spTree>
    <p:extLst>
      <p:ext uri="{BB962C8B-B14F-4D97-AF65-F5344CB8AC3E}">
        <p14:creationId xmlns:p14="http://schemas.microsoft.com/office/powerpoint/2010/main" val="395610446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81D4C08-3671-4307-BF3D-A6CC2238A992}"/>
              </a:ext>
            </a:extLst>
          </p:cNvPr>
          <p:cNvGraphicFramePr>
            <a:graphicFrameLocks noChangeAspect="1"/>
          </p:cNvGraphicFramePr>
          <p:nvPr>
            <p:custDataLst>
              <p:tags r:id="rId1"/>
            </p:custDataLst>
            <p:extLst>
              <p:ext uri="{D42A27DB-BD31-4B8C-83A1-F6EECF244321}">
                <p14:modId xmlns:p14="http://schemas.microsoft.com/office/powerpoint/2010/main" val="42143153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7" name="Object 6" hidden="1">
                        <a:extLst>
                          <a:ext uri="{FF2B5EF4-FFF2-40B4-BE49-F238E27FC236}">
                            <a16:creationId xmlns:a16="http://schemas.microsoft.com/office/drawing/2014/main" id="{381D4C08-3671-4307-BF3D-A6CC2238A99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76" name="Table 4">
            <a:extLst>
              <a:ext uri="{FF2B5EF4-FFF2-40B4-BE49-F238E27FC236}">
                <a16:creationId xmlns:a16="http://schemas.microsoft.com/office/drawing/2014/main" id="{B129E2C8-3957-455A-BA44-FD126FC0A99B}"/>
              </a:ext>
            </a:extLst>
          </p:cNvPr>
          <p:cNvGraphicFramePr>
            <a:graphicFrameLocks noGrp="1"/>
          </p:cNvGraphicFramePr>
          <p:nvPr>
            <p:extLst>
              <p:ext uri="{D42A27DB-BD31-4B8C-83A1-F6EECF244321}">
                <p14:modId xmlns:p14="http://schemas.microsoft.com/office/powerpoint/2010/main" val="175319120"/>
              </p:ext>
            </p:extLst>
          </p:nvPr>
        </p:nvGraphicFramePr>
        <p:xfrm>
          <a:off x="985062" y="1544925"/>
          <a:ext cx="8692008" cy="252845"/>
        </p:xfrm>
        <a:graphic>
          <a:graphicData uri="http://schemas.openxmlformats.org/drawingml/2006/table">
            <a:tbl>
              <a:tblPr firstRow="1" bandRow="1">
                <a:tableStyleId>{5C22544A-7EE6-4342-B048-85BDC9FD1C3A}</a:tableStyleId>
              </a:tblPr>
              <a:tblGrid>
                <a:gridCol w="362167">
                  <a:extLst>
                    <a:ext uri="{9D8B030D-6E8A-4147-A177-3AD203B41FA5}">
                      <a16:colId xmlns:a16="http://schemas.microsoft.com/office/drawing/2014/main" val="2538893304"/>
                    </a:ext>
                  </a:extLst>
                </a:gridCol>
                <a:gridCol w="362167">
                  <a:extLst>
                    <a:ext uri="{9D8B030D-6E8A-4147-A177-3AD203B41FA5}">
                      <a16:colId xmlns:a16="http://schemas.microsoft.com/office/drawing/2014/main" val="2122685663"/>
                    </a:ext>
                  </a:extLst>
                </a:gridCol>
                <a:gridCol w="362167">
                  <a:extLst>
                    <a:ext uri="{9D8B030D-6E8A-4147-A177-3AD203B41FA5}">
                      <a16:colId xmlns:a16="http://schemas.microsoft.com/office/drawing/2014/main" val="1876399344"/>
                    </a:ext>
                  </a:extLst>
                </a:gridCol>
                <a:gridCol w="362167">
                  <a:extLst>
                    <a:ext uri="{9D8B030D-6E8A-4147-A177-3AD203B41FA5}">
                      <a16:colId xmlns:a16="http://schemas.microsoft.com/office/drawing/2014/main" val="2697937950"/>
                    </a:ext>
                  </a:extLst>
                </a:gridCol>
                <a:gridCol w="362167">
                  <a:extLst>
                    <a:ext uri="{9D8B030D-6E8A-4147-A177-3AD203B41FA5}">
                      <a16:colId xmlns:a16="http://schemas.microsoft.com/office/drawing/2014/main" val="1021377417"/>
                    </a:ext>
                  </a:extLst>
                </a:gridCol>
                <a:gridCol w="362167">
                  <a:extLst>
                    <a:ext uri="{9D8B030D-6E8A-4147-A177-3AD203B41FA5}">
                      <a16:colId xmlns:a16="http://schemas.microsoft.com/office/drawing/2014/main" val="2357732160"/>
                    </a:ext>
                  </a:extLst>
                </a:gridCol>
                <a:gridCol w="362167">
                  <a:extLst>
                    <a:ext uri="{9D8B030D-6E8A-4147-A177-3AD203B41FA5}">
                      <a16:colId xmlns:a16="http://schemas.microsoft.com/office/drawing/2014/main" val="3853024836"/>
                    </a:ext>
                  </a:extLst>
                </a:gridCol>
                <a:gridCol w="362167">
                  <a:extLst>
                    <a:ext uri="{9D8B030D-6E8A-4147-A177-3AD203B41FA5}">
                      <a16:colId xmlns:a16="http://schemas.microsoft.com/office/drawing/2014/main" val="3216370937"/>
                    </a:ext>
                  </a:extLst>
                </a:gridCol>
                <a:gridCol w="362167">
                  <a:extLst>
                    <a:ext uri="{9D8B030D-6E8A-4147-A177-3AD203B41FA5}">
                      <a16:colId xmlns:a16="http://schemas.microsoft.com/office/drawing/2014/main" val="208778815"/>
                    </a:ext>
                  </a:extLst>
                </a:gridCol>
                <a:gridCol w="362167">
                  <a:extLst>
                    <a:ext uri="{9D8B030D-6E8A-4147-A177-3AD203B41FA5}">
                      <a16:colId xmlns:a16="http://schemas.microsoft.com/office/drawing/2014/main" val="4260710619"/>
                    </a:ext>
                  </a:extLst>
                </a:gridCol>
                <a:gridCol w="362167">
                  <a:extLst>
                    <a:ext uri="{9D8B030D-6E8A-4147-A177-3AD203B41FA5}">
                      <a16:colId xmlns:a16="http://schemas.microsoft.com/office/drawing/2014/main" val="2808849641"/>
                    </a:ext>
                  </a:extLst>
                </a:gridCol>
                <a:gridCol w="362167">
                  <a:extLst>
                    <a:ext uri="{9D8B030D-6E8A-4147-A177-3AD203B41FA5}">
                      <a16:colId xmlns:a16="http://schemas.microsoft.com/office/drawing/2014/main" val="421574869"/>
                    </a:ext>
                  </a:extLst>
                </a:gridCol>
                <a:gridCol w="362167">
                  <a:extLst>
                    <a:ext uri="{9D8B030D-6E8A-4147-A177-3AD203B41FA5}">
                      <a16:colId xmlns:a16="http://schemas.microsoft.com/office/drawing/2014/main" val="2909376018"/>
                    </a:ext>
                  </a:extLst>
                </a:gridCol>
                <a:gridCol w="362167">
                  <a:extLst>
                    <a:ext uri="{9D8B030D-6E8A-4147-A177-3AD203B41FA5}">
                      <a16:colId xmlns:a16="http://schemas.microsoft.com/office/drawing/2014/main" val="3646442979"/>
                    </a:ext>
                  </a:extLst>
                </a:gridCol>
                <a:gridCol w="362167">
                  <a:extLst>
                    <a:ext uri="{9D8B030D-6E8A-4147-A177-3AD203B41FA5}">
                      <a16:colId xmlns:a16="http://schemas.microsoft.com/office/drawing/2014/main" val="993335900"/>
                    </a:ext>
                  </a:extLst>
                </a:gridCol>
                <a:gridCol w="362167">
                  <a:extLst>
                    <a:ext uri="{9D8B030D-6E8A-4147-A177-3AD203B41FA5}">
                      <a16:colId xmlns:a16="http://schemas.microsoft.com/office/drawing/2014/main" val="92908602"/>
                    </a:ext>
                  </a:extLst>
                </a:gridCol>
                <a:gridCol w="362167">
                  <a:extLst>
                    <a:ext uri="{9D8B030D-6E8A-4147-A177-3AD203B41FA5}">
                      <a16:colId xmlns:a16="http://schemas.microsoft.com/office/drawing/2014/main" val="2642730210"/>
                    </a:ext>
                  </a:extLst>
                </a:gridCol>
                <a:gridCol w="362167">
                  <a:extLst>
                    <a:ext uri="{9D8B030D-6E8A-4147-A177-3AD203B41FA5}">
                      <a16:colId xmlns:a16="http://schemas.microsoft.com/office/drawing/2014/main" val="1283628999"/>
                    </a:ext>
                  </a:extLst>
                </a:gridCol>
                <a:gridCol w="362167">
                  <a:extLst>
                    <a:ext uri="{9D8B030D-6E8A-4147-A177-3AD203B41FA5}">
                      <a16:colId xmlns:a16="http://schemas.microsoft.com/office/drawing/2014/main" val="3187819188"/>
                    </a:ext>
                  </a:extLst>
                </a:gridCol>
                <a:gridCol w="362167">
                  <a:extLst>
                    <a:ext uri="{9D8B030D-6E8A-4147-A177-3AD203B41FA5}">
                      <a16:colId xmlns:a16="http://schemas.microsoft.com/office/drawing/2014/main" val="2532852377"/>
                    </a:ext>
                  </a:extLst>
                </a:gridCol>
                <a:gridCol w="362167">
                  <a:extLst>
                    <a:ext uri="{9D8B030D-6E8A-4147-A177-3AD203B41FA5}">
                      <a16:colId xmlns:a16="http://schemas.microsoft.com/office/drawing/2014/main" val="639673064"/>
                    </a:ext>
                  </a:extLst>
                </a:gridCol>
                <a:gridCol w="362167">
                  <a:extLst>
                    <a:ext uri="{9D8B030D-6E8A-4147-A177-3AD203B41FA5}">
                      <a16:colId xmlns:a16="http://schemas.microsoft.com/office/drawing/2014/main" val="4145526115"/>
                    </a:ext>
                  </a:extLst>
                </a:gridCol>
                <a:gridCol w="362167">
                  <a:extLst>
                    <a:ext uri="{9D8B030D-6E8A-4147-A177-3AD203B41FA5}">
                      <a16:colId xmlns:a16="http://schemas.microsoft.com/office/drawing/2014/main" val="2425272862"/>
                    </a:ext>
                  </a:extLst>
                </a:gridCol>
                <a:gridCol w="362167">
                  <a:extLst>
                    <a:ext uri="{9D8B030D-6E8A-4147-A177-3AD203B41FA5}">
                      <a16:colId xmlns:a16="http://schemas.microsoft.com/office/drawing/2014/main" val="1586018941"/>
                    </a:ext>
                  </a:extLst>
                </a:gridCol>
              </a:tblGrid>
              <a:tr h="252845">
                <a:tc>
                  <a:txBody>
                    <a:bodyPr/>
                    <a:lstStyle/>
                    <a:p>
                      <a:r>
                        <a:rPr lang="en-US" sz="700" b="0" dirty="0">
                          <a:solidFill>
                            <a:schemeClr val="tx1"/>
                          </a:solidFill>
                        </a:rPr>
                        <a:t>W1</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W2</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W3</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W4</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W5</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W6</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W7</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W8</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W9</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W10</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W11</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W12</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W13</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W14</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W15</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W16</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W17</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W18</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W19</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W20</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W21</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W22</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W23</a:t>
                      </a:r>
                      <a:endParaRPr lang="en-IN" sz="700" b="0" dirty="0">
                        <a:solidFill>
                          <a:schemeClr val="tx1"/>
                        </a:solidFill>
                      </a:endParaRPr>
                    </a:p>
                  </a:txBody>
                  <a:tcPr marL="62345" marR="62345" marT="31173" marB="31173">
                    <a:noFill/>
                  </a:tcPr>
                </a:tc>
                <a:tc>
                  <a:txBody>
                    <a:bodyPr/>
                    <a:lstStyle/>
                    <a:p>
                      <a:r>
                        <a:rPr lang="en-US" sz="700" b="0" dirty="0">
                          <a:solidFill>
                            <a:schemeClr val="tx1"/>
                          </a:solidFill>
                        </a:rPr>
                        <a:t>W24</a:t>
                      </a:r>
                      <a:endParaRPr lang="en-IN" sz="700" b="0" dirty="0">
                        <a:solidFill>
                          <a:schemeClr val="tx1"/>
                        </a:solidFill>
                      </a:endParaRPr>
                    </a:p>
                  </a:txBody>
                  <a:tcPr marL="62345" marR="62345" marT="31173" marB="31173">
                    <a:noFill/>
                  </a:tcPr>
                </a:tc>
                <a:extLst>
                  <a:ext uri="{0D108BD9-81ED-4DB2-BD59-A6C34878D82A}">
                    <a16:rowId xmlns:a16="http://schemas.microsoft.com/office/drawing/2014/main" val="3320836214"/>
                  </a:ext>
                </a:extLst>
              </a:tr>
            </a:tbl>
          </a:graphicData>
        </a:graphic>
      </p:graphicFrame>
      <p:cxnSp>
        <p:nvCxnSpPr>
          <p:cNvPr id="78" name="Straight Arrow Connector 77">
            <a:extLst>
              <a:ext uri="{FF2B5EF4-FFF2-40B4-BE49-F238E27FC236}">
                <a16:creationId xmlns:a16="http://schemas.microsoft.com/office/drawing/2014/main" id="{415F7820-B548-4B53-AD25-034B5461BB85}"/>
              </a:ext>
            </a:extLst>
          </p:cNvPr>
          <p:cNvCxnSpPr>
            <a:cxnSpLocks/>
          </p:cNvCxnSpPr>
          <p:nvPr/>
        </p:nvCxnSpPr>
        <p:spPr>
          <a:xfrm>
            <a:off x="859617" y="1450274"/>
            <a:ext cx="8692008" cy="7976"/>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54B94BF3-7041-4004-80F5-EB71C9DCF750}"/>
              </a:ext>
            </a:extLst>
          </p:cNvPr>
          <p:cNvSpPr txBox="1"/>
          <p:nvPr/>
        </p:nvSpPr>
        <p:spPr>
          <a:xfrm>
            <a:off x="4791550" y="1366204"/>
            <a:ext cx="656366" cy="167866"/>
          </a:xfrm>
          <a:prstGeom prst="rect">
            <a:avLst/>
          </a:prstGeom>
          <a:solidFill>
            <a:schemeClr val="accent5">
              <a:lumMod val="20000"/>
              <a:lumOff val="80000"/>
            </a:schemeClr>
          </a:solidFill>
        </p:spPr>
        <p:txBody>
          <a:bodyPr wrap="square" lIns="0" tIns="0" rIns="0" bIns="0" rtlCol="0">
            <a:spAutoFit/>
          </a:bodyPr>
          <a:lstStyle/>
          <a:p>
            <a:pPr algn="ctr" defTabSz="623438">
              <a:spcBef>
                <a:spcPts val="409"/>
              </a:spcBef>
              <a:buSzPct val="100000"/>
              <a:defRPr/>
            </a:pPr>
            <a:r>
              <a:rPr lang="en-US" sz="1091" dirty="0">
                <a:solidFill>
                  <a:prstClr val="black"/>
                </a:solidFill>
                <a:latin typeface="Verdana"/>
              </a:rPr>
              <a:t>Phase-1</a:t>
            </a:r>
            <a:endParaRPr lang="en-IN" sz="1091" dirty="0">
              <a:solidFill>
                <a:prstClr val="black"/>
              </a:solidFill>
              <a:latin typeface="Verdana"/>
            </a:endParaRPr>
          </a:p>
        </p:txBody>
      </p:sp>
      <p:grpSp>
        <p:nvGrpSpPr>
          <p:cNvPr id="14" name="Group 13">
            <a:extLst>
              <a:ext uri="{FF2B5EF4-FFF2-40B4-BE49-F238E27FC236}">
                <a16:creationId xmlns:a16="http://schemas.microsoft.com/office/drawing/2014/main" id="{AF006C98-DE61-420C-9F95-03F17B922F81}"/>
              </a:ext>
            </a:extLst>
          </p:cNvPr>
          <p:cNvGrpSpPr/>
          <p:nvPr/>
        </p:nvGrpSpPr>
        <p:grpSpPr>
          <a:xfrm>
            <a:off x="9757301" y="1369117"/>
            <a:ext cx="1853674" cy="349852"/>
            <a:chOff x="9757301" y="1521517"/>
            <a:chExt cx="1689004" cy="349852"/>
          </a:xfrm>
        </p:grpSpPr>
        <p:cxnSp>
          <p:nvCxnSpPr>
            <p:cNvPr id="75" name="Straight Arrow Connector 74">
              <a:extLst>
                <a:ext uri="{FF2B5EF4-FFF2-40B4-BE49-F238E27FC236}">
                  <a16:creationId xmlns:a16="http://schemas.microsoft.com/office/drawing/2014/main" id="{2B8E6BF8-1166-4B25-815D-B553269916AC}"/>
                </a:ext>
              </a:extLst>
            </p:cNvPr>
            <p:cNvCxnSpPr>
              <a:cxnSpLocks/>
            </p:cNvCxnSpPr>
            <p:nvPr/>
          </p:nvCxnSpPr>
          <p:spPr>
            <a:xfrm>
              <a:off x="9757301" y="1803248"/>
              <a:ext cx="1689002"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54114CA6-7B46-46B9-8343-161A411F1F27}"/>
                </a:ext>
              </a:extLst>
            </p:cNvPr>
            <p:cNvCxnSpPr>
              <a:cxnSpLocks/>
            </p:cNvCxnSpPr>
            <p:nvPr/>
          </p:nvCxnSpPr>
          <p:spPr>
            <a:xfrm flipV="1">
              <a:off x="9764230" y="1610650"/>
              <a:ext cx="1682075" cy="5686"/>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DE8E7450-ADDF-4CB4-B76B-EBCF49814E4C}"/>
                </a:ext>
              </a:extLst>
            </p:cNvPr>
            <p:cNvSpPr txBox="1"/>
            <p:nvPr/>
          </p:nvSpPr>
          <p:spPr>
            <a:xfrm>
              <a:off x="10335092" y="1521517"/>
              <a:ext cx="656366" cy="167866"/>
            </a:xfrm>
            <a:prstGeom prst="rect">
              <a:avLst/>
            </a:prstGeom>
            <a:solidFill>
              <a:schemeClr val="accent5">
                <a:lumMod val="20000"/>
                <a:lumOff val="80000"/>
              </a:schemeClr>
            </a:solidFill>
          </p:spPr>
          <p:txBody>
            <a:bodyPr wrap="square" lIns="0" tIns="0" rIns="0" bIns="0" rtlCol="0">
              <a:spAutoFit/>
            </a:bodyPr>
            <a:lstStyle/>
            <a:p>
              <a:pPr algn="ctr" defTabSz="623438">
                <a:spcBef>
                  <a:spcPts val="409"/>
                </a:spcBef>
                <a:buSzPct val="100000"/>
                <a:defRPr/>
              </a:pPr>
              <a:r>
                <a:rPr lang="en-US" sz="1091" dirty="0">
                  <a:solidFill>
                    <a:prstClr val="black"/>
                  </a:solidFill>
                  <a:latin typeface="Verdana"/>
                </a:rPr>
                <a:t>Phase-2</a:t>
              </a:r>
              <a:endParaRPr lang="en-IN" sz="1091" dirty="0">
                <a:solidFill>
                  <a:prstClr val="black"/>
                </a:solidFill>
                <a:latin typeface="Verdana"/>
              </a:endParaRPr>
            </a:p>
          </p:txBody>
        </p:sp>
        <p:sp>
          <p:nvSpPr>
            <p:cNvPr id="100" name="TextBox 99">
              <a:extLst>
                <a:ext uri="{FF2B5EF4-FFF2-40B4-BE49-F238E27FC236}">
                  <a16:creationId xmlns:a16="http://schemas.microsoft.com/office/drawing/2014/main" id="{929AB1BD-5A1F-4648-B281-2AED350BAD7A}"/>
                </a:ext>
              </a:extLst>
            </p:cNvPr>
            <p:cNvSpPr txBox="1"/>
            <p:nvPr/>
          </p:nvSpPr>
          <p:spPr>
            <a:xfrm>
              <a:off x="10271444" y="1735050"/>
              <a:ext cx="656366" cy="136319"/>
            </a:xfrm>
            <a:prstGeom prst="rect">
              <a:avLst/>
            </a:prstGeom>
            <a:solidFill>
              <a:schemeClr val="bg1"/>
            </a:solidFill>
          </p:spPr>
          <p:txBody>
            <a:bodyPr wrap="square" lIns="0" tIns="0" rIns="0" bIns="0" rtlCol="0">
              <a:spAutoFit/>
            </a:bodyPr>
            <a:lstStyle/>
            <a:p>
              <a:pPr algn="ctr" defTabSz="623438">
                <a:spcBef>
                  <a:spcPts val="409"/>
                </a:spcBef>
                <a:buSzPct val="100000"/>
                <a:defRPr/>
              </a:pPr>
              <a:r>
                <a:rPr lang="en-US" sz="886" dirty="0">
                  <a:solidFill>
                    <a:prstClr val="black"/>
                  </a:solidFill>
                  <a:latin typeface="Verdana"/>
                </a:rPr>
                <a:t>72 Weeks</a:t>
              </a:r>
              <a:endParaRPr lang="en-IN" sz="886" dirty="0">
                <a:solidFill>
                  <a:prstClr val="black"/>
                </a:solidFill>
                <a:latin typeface="Verdana"/>
              </a:endParaRPr>
            </a:p>
          </p:txBody>
        </p:sp>
      </p:grpSp>
      <p:sp>
        <p:nvSpPr>
          <p:cNvPr id="132" name="TextBox 131">
            <a:extLst>
              <a:ext uri="{FF2B5EF4-FFF2-40B4-BE49-F238E27FC236}">
                <a16:creationId xmlns:a16="http://schemas.microsoft.com/office/drawing/2014/main" id="{39A1CAA4-BB2E-429E-A638-BB6D83C2D939}"/>
              </a:ext>
            </a:extLst>
          </p:cNvPr>
          <p:cNvSpPr txBox="1"/>
          <p:nvPr/>
        </p:nvSpPr>
        <p:spPr>
          <a:xfrm rot="16200000">
            <a:off x="345255" y="1416666"/>
            <a:ext cx="617097" cy="125868"/>
          </a:xfrm>
          <a:prstGeom prst="rect">
            <a:avLst/>
          </a:prstGeom>
          <a:solidFill>
            <a:schemeClr val="accent5"/>
          </a:solidFill>
          <a:ln w="6350">
            <a:noFill/>
          </a:ln>
        </p:spPr>
        <p:txBody>
          <a:bodyPr wrap="square" lIns="0" tIns="0" rIns="0" bIns="0" rtlCol="0">
            <a:spAutoFit/>
          </a:bodyPr>
          <a:lstStyle/>
          <a:p>
            <a:pPr algn="ctr" defTabSz="837848">
              <a:spcBef>
                <a:spcPts val="205"/>
              </a:spcBef>
              <a:spcAft>
                <a:spcPts val="205"/>
              </a:spcAft>
              <a:buSzPct val="100000"/>
            </a:pPr>
            <a:r>
              <a:rPr lang="en-US" sz="818" dirty="0">
                <a:solidFill>
                  <a:prstClr val="white"/>
                </a:solidFill>
                <a:latin typeface="Verdana"/>
                <a:cs typeface="Times New Roman" panose="02020603050405020304" pitchFamily="18" charset="0"/>
              </a:rPr>
              <a:t>Time line</a:t>
            </a:r>
            <a:endParaRPr lang="en-IN" sz="818" dirty="0">
              <a:solidFill>
                <a:prstClr val="white"/>
              </a:solidFill>
              <a:latin typeface="Verdana"/>
              <a:cs typeface="Times New Roman" panose="02020603050405020304" pitchFamily="18" charset="0"/>
            </a:endParaRPr>
          </a:p>
        </p:txBody>
      </p:sp>
      <p:sp>
        <p:nvSpPr>
          <p:cNvPr id="102" name="Rounded Rectangle 136">
            <a:extLst>
              <a:ext uri="{FF2B5EF4-FFF2-40B4-BE49-F238E27FC236}">
                <a16:creationId xmlns:a16="http://schemas.microsoft.com/office/drawing/2014/main" id="{CB679544-EE46-4DBE-8513-570951CAFECE}"/>
              </a:ext>
            </a:extLst>
          </p:cNvPr>
          <p:cNvSpPr/>
          <p:nvPr/>
        </p:nvSpPr>
        <p:spPr bwMode="gray">
          <a:xfrm>
            <a:off x="4771805" y="6330570"/>
            <a:ext cx="3568973" cy="252544"/>
          </a:xfrm>
          <a:prstGeom prst="roundRect">
            <a:avLst>
              <a:gd name="adj" fmla="val 50000"/>
            </a:avLst>
          </a:prstGeom>
          <a:noFill/>
          <a:ln w="3175" algn="ctr">
            <a:solidFill>
              <a:schemeClr val="accent6">
                <a:lumMod val="75000"/>
              </a:schemeClr>
            </a:solidFill>
            <a:miter lim="800000"/>
            <a:headEnd/>
            <a:tailEnd/>
          </a:ln>
        </p:spPr>
        <p:txBody>
          <a:bodyPr wrap="square" lIns="60614" tIns="60614" rIns="60614" bIns="60614" rtlCol="0" anchor="ctr"/>
          <a:lstStyle/>
          <a:p>
            <a:pPr algn="ctr" defTabSz="623438">
              <a:lnSpc>
                <a:spcPct val="106000"/>
              </a:lnSpc>
              <a:defRPr/>
            </a:pPr>
            <a:endParaRPr lang="en-IN" sz="614" dirty="0">
              <a:solidFill>
                <a:prstClr val="white"/>
              </a:solidFill>
              <a:latin typeface="Verdana"/>
            </a:endParaRPr>
          </a:p>
        </p:txBody>
      </p:sp>
      <p:sp>
        <p:nvSpPr>
          <p:cNvPr id="103" name="TextBox 102">
            <a:extLst>
              <a:ext uri="{FF2B5EF4-FFF2-40B4-BE49-F238E27FC236}">
                <a16:creationId xmlns:a16="http://schemas.microsoft.com/office/drawing/2014/main" id="{BD8F2E60-B83E-4F9D-846C-57AA2420E831}"/>
              </a:ext>
            </a:extLst>
          </p:cNvPr>
          <p:cNvSpPr txBox="1"/>
          <p:nvPr/>
        </p:nvSpPr>
        <p:spPr>
          <a:xfrm>
            <a:off x="4993926" y="6413298"/>
            <a:ext cx="534677" cy="94513"/>
          </a:xfrm>
          <a:prstGeom prst="rect">
            <a:avLst/>
          </a:prstGeom>
          <a:noFill/>
        </p:spPr>
        <p:txBody>
          <a:bodyPr wrap="square" lIns="0" tIns="0" rIns="0" bIns="0" rtlCol="0">
            <a:spAutoFit/>
          </a:bodyPr>
          <a:lstStyle/>
          <a:p>
            <a:pPr defTabSz="623438">
              <a:spcBef>
                <a:spcPts val="409"/>
              </a:spcBef>
              <a:buSzPct val="100000"/>
              <a:defRPr/>
            </a:pPr>
            <a:r>
              <a:rPr lang="en-US" sz="614" dirty="0">
                <a:solidFill>
                  <a:srgbClr val="313131"/>
                </a:solidFill>
                <a:latin typeface="Verdana"/>
              </a:rPr>
              <a:t>Legend:</a:t>
            </a:r>
            <a:endParaRPr lang="en-IN" sz="614" dirty="0">
              <a:solidFill>
                <a:srgbClr val="313131"/>
              </a:solidFill>
              <a:latin typeface="Verdana"/>
            </a:endParaRPr>
          </a:p>
        </p:txBody>
      </p:sp>
      <p:sp>
        <p:nvSpPr>
          <p:cNvPr id="104" name="Flowchart: Decision 103">
            <a:extLst>
              <a:ext uri="{FF2B5EF4-FFF2-40B4-BE49-F238E27FC236}">
                <a16:creationId xmlns:a16="http://schemas.microsoft.com/office/drawing/2014/main" id="{6BBDC482-74BC-468F-953E-CD8897FDEA6E}"/>
              </a:ext>
            </a:extLst>
          </p:cNvPr>
          <p:cNvSpPr/>
          <p:nvPr/>
        </p:nvSpPr>
        <p:spPr bwMode="gray">
          <a:xfrm>
            <a:off x="6895886" y="6418315"/>
            <a:ext cx="162094" cy="69855"/>
          </a:xfrm>
          <a:prstGeom prst="flowChartDecision">
            <a:avLst/>
          </a:prstGeom>
          <a:solidFill>
            <a:schemeClr val="bg2">
              <a:lumMod val="9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614" dirty="0">
              <a:solidFill>
                <a:prstClr val="white"/>
              </a:solidFill>
              <a:latin typeface="Verdana"/>
            </a:endParaRPr>
          </a:p>
        </p:txBody>
      </p:sp>
      <p:sp>
        <p:nvSpPr>
          <p:cNvPr id="105" name="TextBox 104">
            <a:extLst>
              <a:ext uri="{FF2B5EF4-FFF2-40B4-BE49-F238E27FC236}">
                <a16:creationId xmlns:a16="http://schemas.microsoft.com/office/drawing/2014/main" id="{6CAF4467-0E17-43EC-B4E2-1D4B5B0CD6F2}"/>
              </a:ext>
            </a:extLst>
          </p:cNvPr>
          <p:cNvSpPr txBox="1"/>
          <p:nvPr/>
        </p:nvSpPr>
        <p:spPr>
          <a:xfrm>
            <a:off x="7032633" y="6410691"/>
            <a:ext cx="1164932" cy="94513"/>
          </a:xfrm>
          <a:prstGeom prst="rect">
            <a:avLst/>
          </a:prstGeom>
          <a:noFill/>
        </p:spPr>
        <p:txBody>
          <a:bodyPr wrap="square" lIns="49091" tIns="0" rIns="0" bIns="0" rtlCol="0">
            <a:spAutoFit/>
          </a:bodyPr>
          <a:lstStyle/>
          <a:p>
            <a:pPr defTabSz="623438">
              <a:spcBef>
                <a:spcPts val="409"/>
              </a:spcBef>
              <a:buSzPct val="100000"/>
              <a:defRPr/>
            </a:pPr>
            <a:r>
              <a:rPr lang="en-US" sz="614" dirty="0">
                <a:solidFill>
                  <a:srgbClr val="313131"/>
                </a:solidFill>
                <a:latin typeface="Verdana"/>
              </a:rPr>
              <a:t>Update / Steercom Meeting</a:t>
            </a:r>
            <a:endParaRPr lang="en-IN" sz="614" dirty="0">
              <a:solidFill>
                <a:srgbClr val="313131"/>
              </a:solidFill>
              <a:latin typeface="Verdana"/>
            </a:endParaRPr>
          </a:p>
        </p:txBody>
      </p:sp>
      <p:sp>
        <p:nvSpPr>
          <p:cNvPr id="106" name="5-Point Star 182">
            <a:extLst>
              <a:ext uri="{FF2B5EF4-FFF2-40B4-BE49-F238E27FC236}">
                <a16:creationId xmlns:a16="http://schemas.microsoft.com/office/drawing/2014/main" id="{C96129B2-7C4A-4E2E-AF68-67C2A4708758}"/>
              </a:ext>
            </a:extLst>
          </p:cNvPr>
          <p:cNvSpPr/>
          <p:nvPr/>
        </p:nvSpPr>
        <p:spPr bwMode="gray">
          <a:xfrm>
            <a:off x="5615518" y="6418312"/>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algn="ctr" defTabSz="623438">
              <a:lnSpc>
                <a:spcPct val="106000"/>
              </a:lnSpc>
              <a:defRPr/>
            </a:pPr>
            <a:endParaRPr lang="en-IN" sz="614" dirty="0">
              <a:solidFill>
                <a:prstClr val="white"/>
              </a:solidFill>
              <a:latin typeface="Verdana"/>
            </a:endParaRPr>
          </a:p>
        </p:txBody>
      </p:sp>
      <p:sp>
        <p:nvSpPr>
          <p:cNvPr id="107" name="TextBox 106">
            <a:extLst>
              <a:ext uri="{FF2B5EF4-FFF2-40B4-BE49-F238E27FC236}">
                <a16:creationId xmlns:a16="http://schemas.microsoft.com/office/drawing/2014/main" id="{2C99968E-52C1-4C8B-AAA1-4E203F16276B}"/>
              </a:ext>
            </a:extLst>
          </p:cNvPr>
          <p:cNvSpPr txBox="1"/>
          <p:nvPr/>
        </p:nvSpPr>
        <p:spPr>
          <a:xfrm>
            <a:off x="5723578" y="6424616"/>
            <a:ext cx="1164932" cy="94513"/>
          </a:xfrm>
          <a:prstGeom prst="rect">
            <a:avLst/>
          </a:prstGeom>
          <a:noFill/>
        </p:spPr>
        <p:txBody>
          <a:bodyPr wrap="square" lIns="49091" tIns="0" rIns="0" bIns="0" rtlCol="0">
            <a:spAutoFit/>
          </a:bodyPr>
          <a:lstStyle/>
          <a:p>
            <a:pPr defTabSz="623438">
              <a:spcBef>
                <a:spcPts val="409"/>
              </a:spcBef>
              <a:buSzPct val="100000"/>
              <a:defRPr/>
            </a:pPr>
            <a:r>
              <a:rPr lang="en-US" sz="614" dirty="0">
                <a:solidFill>
                  <a:srgbClr val="313131"/>
                </a:solidFill>
                <a:latin typeface="Verdana"/>
              </a:rPr>
              <a:t>Deliverables</a:t>
            </a:r>
            <a:endParaRPr lang="en-IN" sz="614" dirty="0">
              <a:solidFill>
                <a:srgbClr val="313131"/>
              </a:solidFill>
              <a:latin typeface="Verdana"/>
            </a:endParaRPr>
          </a:p>
        </p:txBody>
      </p:sp>
      <p:cxnSp>
        <p:nvCxnSpPr>
          <p:cNvPr id="108" name="Straight Connector 107">
            <a:extLst>
              <a:ext uri="{FF2B5EF4-FFF2-40B4-BE49-F238E27FC236}">
                <a16:creationId xmlns:a16="http://schemas.microsoft.com/office/drawing/2014/main" id="{3223819C-3235-4D2A-AE75-CB6AD2F5A66A}"/>
              </a:ext>
            </a:extLst>
          </p:cNvPr>
          <p:cNvCxnSpPr>
            <a:cxnSpLocks/>
          </p:cNvCxnSpPr>
          <p:nvPr/>
        </p:nvCxnSpPr>
        <p:spPr>
          <a:xfrm>
            <a:off x="952993" y="6208820"/>
            <a:ext cx="1056798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2B1852B3-960B-4374-844E-2B6B82AE4190}"/>
              </a:ext>
            </a:extLst>
          </p:cNvPr>
          <p:cNvCxnSpPr>
            <a:cxnSpLocks/>
          </p:cNvCxnSpPr>
          <p:nvPr/>
        </p:nvCxnSpPr>
        <p:spPr>
          <a:xfrm flipV="1">
            <a:off x="952993" y="5029122"/>
            <a:ext cx="10657980" cy="4146"/>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Rectangle 109">
            <a:extLst>
              <a:ext uri="{FF2B5EF4-FFF2-40B4-BE49-F238E27FC236}">
                <a16:creationId xmlns:a16="http://schemas.microsoft.com/office/drawing/2014/main" id="{ABF3F680-C783-4401-B428-E0809DB1EA95}"/>
              </a:ext>
            </a:extLst>
          </p:cNvPr>
          <p:cNvSpPr/>
          <p:nvPr/>
        </p:nvSpPr>
        <p:spPr>
          <a:xfrm>
            <a:off x="996930" y="5167235"/>
            <a:ext cx="5396829" cy="1099275"/>
          </a:xfrm>
          <a:prstGeom prst="rect">
            <a:avLst/>
          </a:prstGeom>
          <a:ln>
            <a:noFill/>
          </a:ln>
        </p:spPr>
        <p:txBody>
          <a:bodyPr wrap="square">
            <a:spAutoFit/>
          </a:bodyPr>
          <a:lstStyle/>
          <a:p>
            <a:pPr marL="116895" indent="-116895" algn="just" defTabSz="837848">
              <a:buFont typeface="Arial" panose="020B0604020202020204" pitchFamily="34" charset="0"/>
              <a:buChar char="•"/>
            </a:pPr>
            <a:r>
              <a:rPr lang="en-IN" sz="818" dirty="0">
                <a:solidFill>
                  <a:srgbClr val="0097A9"/>
                </a:solidFill>
                <a:latin typeface="Verdana"/>
              </a:rPr>
              <a:t>Submission of Inception report</a:t>
            </a:r>
          </a:p>
          <a:p>
            <a:pPr marL="116895" indent="-116895" algn="just" defTabSz="837848">
              <a:buFont typeface="Arial" panose="020B0604020202020204" pitchFamily="34" charset="0"/>
              <a:buChar char="•"/>
            </a:pPr>
            <a:r>
              <a:rPr lang="en-US" sz="818" dirty="0">
                <a:solidFill>
                  <a:srgbClr val="0097A9"/>
                </a:solidFill>
                <a:latin typeface="Verdana"/>
              </a:rPr>
              <a:t>Report &amp; Presentation on Operational &amp; </a:t>
            </a:r>
            <a:r>
              <a:rPr lang="en-IN" sz="818" dirty="0">
                <a:solidFill>
                  <a:srgbClr val="0097A9"/>
                </a:solidFill>
                <a:latin typeface="Verdana"/>
              </a:rPr>
              <a:t>Financial performance (As-Is)</a:t>
            </a:r>
          </a:p>
          <a:p>
            <a:pPr marL="116895" indent="-116895" algn="just" defTabSz="837848">
              <a:buFont typeface="Arial" panose="020B0604020202020204" pitchFamily="34" charset="0"/>
              <a:buChar char="•"/>
            </a:pPr>
            <a:r>
              <a:rPr lang="en-US" sz="818" dirty="0">
                <a:solidFill>
                  <a:srgbClr val="0097A9"/>
                </a:solidFill>
                <a:latin typeface="Verdana"/>
              </a:rPr>
              <a:t>Report &amp; Presentation on Regulatory </a:t>
            </a:r>
            <a:r>
              <a:rPr lang="en-IN" sz="818" dirty="0">
                <a:solidFill>
                  <a:srgbClr val="0097A9"/>
                </a:solidFill>
                <a:latin typeface="Verdana"/>
              </a:rPr>
              <a:t>Performance (As-Is)</a:t>
            </a:r>
          </a:p>
          <a:p>
            <a:pPr marL="116895" indent="-116895" algn="just" defTabSz="837848">
              <a:buFont typeface="Arial" panose="020B0604020202020204" pitchFamily="34" charset="0"/>
              <a:buChar char="•"/>
            </a:pPr>
            <a:r>
              <a:rPr lang="en-US" sz="818" dirty="0">
                <a:solidFill>
                  <a:srgbClr val="0097A9"/>
                </a:solidFill>
                <a:latin typeface="Verdana"/>
              </a:rPr>
              <a:t>Report &amp; Presentation on ongoing projects &amp; </a:t>
            </a:r>
            <a:r>
              <a:rPr lang="en-IN" sz="818" dirty="0">
                <a:solidFill>
                  <a:srgbClr val="0097A9"/>
                </a:solidFill>
                <a:latin typeface="Verdana"/>
              </a:rPr>
              <a:t>Proposed projects (As-Is)</a:t>
            </a:r>
          </a:p>
          <a:p>
            <a:pPr marL="116895" indent="-116895" algn="just" defTabSz="837848">
              <a:buFont typeface="Arial" panose="020B0604020202020204" pitchFamily="34" charset="0"/>
              <a:buChar char="•"/>
            </a:pPr>
            <a:r>
              <a:rPr lang="en-US" sz="818" dirty="0">
                <a:solidFill>
                  <a:srgbClr val="0097A9"/>
                </a:solidFill>
                <a:latin typeface="Verdana"/>
              </a:rPr>
              <a:t>Report &amp; Presentation &amp; financial model on Power demand &amp; supply trends</a:t>
            </a:r>
          </a:p>
          <a:p>
            <a:pPr marL="116895" indent="-116895" algn="just" defTabSz="837848">
              <a:buFont typeface="Arial" panose="020B0604020202020204" pitchFamily="34" charset="0"/>
              <a:buChar char="•"/>
            </a:pPr>
            <a:r>
              <a:rPr lang="en-US" sz="818" dirty="0">
                <a:solidFill>
                  <a:srgbClr val="0097A9"/>
                </a:solidFill>
                <a:latin typeface="Verdana"/>
              </a:rPr>
              <a:t>Report &amp; Presentation on Emerging sector trends &amp; their impact on power </a:t>
            </a:r>
            <a:r>
              <a:rPr lang="en-IN" sz="818" dirty="0">
                <a:solidFill>
                  <a:srgbClr val="0097A9"/>
                </a:solidFill>
                <a:latin typeface="Verdana"/>
              </a:rPr>
              <a:t>sector</a:t>
            </a:r>
          </a:p>
          <a:p>
            <a:pPr marL="116895" indent="-116895" algn="just" defTabSz="837848">
              <a:buFont typeface="Arial" panose="020B0604020202020204" pitchFamily="34" charset="0"/>
              <a:buChar char="•"/>
            </a:pPr>
            <a:r>
              <a:rPr lang="en-US" sz="818" dirty="0">
                <a:solidFill>
                  <a:srgbClr val="0097A9"/>
                </a:solidFill>
                <a:latin typeface="Verdana"/>
              </a:rPr>
              <a:t>Report &amp; presentation on interactions with </a:t>
            </a:r>
            <a:r>
              <a:rPr lang="en-IN" sz="818" dirty="0">
                <a:solidFill>
                  <a:srgbClr val="0097A9"/>
                </a:solidFill>
                <a:latin typeface="Verdana"/>
              </a:rPr>
              <a:t>stakeholders</a:t>
            </a:r>
          </a:p>
          <a:p>
            <a:pPr marL="116895" indent="-116895" algn="just" defTabSz="837848">
              <a:buFont typeface="Arial" panose="020B0604020202020204" pitchFamily="34" charset="0"/>
              <a:buChar char="•"/>
            </a:pPr>
            <a:r>
              <a:rPr lang="en-US" sz="818" dirty="0">
                <a:solidFill>
                  <a:srgbClr val="0097A9"/>
                </a:solidFill>
                <a:latin typeface="Verdana"/>
              </a:rPr>
              <a:t>Report &amp; Presentation on SWOT analysis</a:t>
            </a:r>
            <a:endParaRPr lang="en-IN" sz="818" dirty="0">
              <a:solidFill>
                <a:srgbClr val="0097A9"/>
              </a:solidFill>
              <a:latin typeface="Verdana"/>
            </a:endParaRPr>
          </a:p>
        </p:txBody>
      </p:sp>
      <p:sp>
        <p:nvSpPr>
          <p:cNvPr id="111" name="Rectangle 110">
            <a:extLst>
              <a:ext uri="{FF2B5EF4-FFF2-40B4-BE49-F238E27FC236}">
                <a16:creationId xmlns:a16="http://schemas.microsoft.com/office/drawing/2014/main" id="{877BDF9C-589D-4555-8F37-36F86829094C}"/>
              </a:ext>
            </a:extLst>
          </p:cNvPr>
          <p:cNvSpPr/>
          <p:nvPr/>
        </p:nvSpPr>
        <p:spPr>
          <a:xfrm>
            <a:off x="7283086" y="5743294"/>
            <a:ext cx="1057692" cy="218201"/>
          </a:xfrm>
          <a:prstGeom prst="rect">
            <a:avLst/>
          </a:prstGeom>
        </p:spPr>
        <p:txBody>
          <a:bodyPr wrap="square">
            <a:spAutoFit/>
          </a:bodyPr>
          <a:lstStyle/>
          <a:p>
            <a:pPr defTabSz="837848"/>
            <a:endParaRPr lang="en-IN" sz="818" dirty="0">
              <a:solidFill>
                <a:srgbClr val="004F59"/>
              </a:solidFill>
              <a:latin typeface="Verdana"/>
            </a:endParaRPr>
          </a:p>
        </p:txBody>
      </p:sp>
      <p:sp>
        <p:nvSpPr>
          <p:cNvPr id="112" name="Rectangle 111">
            <a:extLst>
              <a:ext uri="{FF2B5EF4-FFF2-40B4-BE49-F238E27FC236}">
                <a16:creationId xmlns:a16="http://schemas.microsoft.com/office/drawing/2014/main" id="{8EACACE1-0662-46F0-86B1-F6A79AF5936E}"/>
              </a:ext>
            </a:extLst>
          </p:cNvPr>
          <p:cNvSpPr/>
          <p:nvPr/>
        </p:nvSpPr>
        <p:spPr>
          <a:xfrm>
            <a:off x="8303767" y="5461033"/>
            <a:ext cx="886345" cy="218201"/>
          </a:xfrm>
          <a:prstGeom prst="rect">
            <a:avLst/>
          </a:prstGeom>
        </p:spPr>
        <p:txBody>
          <a:bodyPr wrap="square">
            <a:spAutoFit/>
          </a:bodyPr>
          <a:lstStyle/>
          <a:p>
            <a:pPr algn="ctr" defTabSz="837848"/>
            <a:endParaRPr lang="en-IN" sz="818" dirty="0">
              <a:solidFill>
                <a:srgbClr val="004F59"/>
              </a:solidFill>
              <a:latin typeface="Verdana"/>
            </a:endParaRPr>
          </a:p>
        </p:txBody>
      </p:sp>
      <p:sp>
        <p:nvSpPr>
          <p:cNvPr id="113" name="Rectangle 112">
            <a:extLst>
              <a:ext uri="{FF2B5EF4-FFF2-40B4-BE49-F238E27FC236}">
                <a16:creationId xmlns:a16="http://schemas.microsoft.com/office/drawing/2014/main" id="{5B06A427-DAEE-4E56-86E4-1FFB225D543A}"/>
              </a:ext>
            </a:extLst>
          </p:cNvPr>
          <p:cNvSpPr/>
          <p:nvPr/>
        </p:nvSpPr>
        <p:spPr>
          <a:xfrm>
            <a:off x="9235335" y="5475265"/>
            <a:ext cx="730588" cy="218201"/>
          </a:xfrm>
          <a:prstGeom prst="rect">
            <a:avLst/>
          </a:prstGeom>
        </p:spPr>
        <p:txBody>
          <a:bodyPr wrap="square">
            <a:spAutoFit/>
          </a:bodyPr>
          <a:lstStyle/>
          <a:p>
            <a:pPr algn="ctr" defTabSz="837848"/>
            <a:endParaRPr lang="en-IN" sz="818" dirty="0">
              <a:solidFill>
                <a:srgbClr val="004F59"/>
              </a:solidFill>
              <a:latin typeface="Verdana"/>
            </a:endParaRPr>
          </a:p>
        </p:txBody>
      </p:sp>
      <p:sp>
        <p:nvSpPr>
          <p:cNvPr id="114" name="5-Point Star 182">
            <a:extLst>
              <a:ext uri="{FF2B5EF4-FFF2-40B4-BE49-F238E27FC236}">
                <a16:creationId xmlns:a16="http://schemas.microsoft.com/office/drawing/2014/main" id="{150445E6-0D9B-4213-A75A-DF28DB51D3FD}"/>
              </a:ext>
            </a:extLst>
          </p:cNvPr>
          <p:cNvSpPr/>
          <p:nvPr/>
        </p:nvSpPr>
        <p:spPr bwMode="gray">
          <a:xfrm>
            <a:off x="1567429" y="4997193"/>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15" name="5-Point Star 182">
            <a:extLst>
              <a:ext uri="{FF2B5EF4-FFF2-40B4-BE49-F238E27FC236}">
                <a16:creationId xmlns:a16="http://schemas.microsoft.com/office/drawing/2014/main" id="{4171F803-A163-472E-90F1-EEB3BC291E2B}"/>
              </a:ext>
            </a:extLst>
          </p:cNvPr>
          <p:cNvSpPr/>
          <p:nvPr/>
        </p:nvSpPr>
        <p:spPr bwMode="gray">
          <a:xfrm>
            <a:off x="2975320" y="4987202"/>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16" name="5-Point Star 182">
            <a:extLst>
              <a:ext uri="{FF2B5EF4-FFF2-40B4-BE49-F238E27FC236}">
                <a16:creationId xmlns:a16="http://schemas.microsoft.com/office/drawing/2014/main" id="{16ED2F75-A346-47E7-AD78-BF5CAC32EEF2}"/>
              </a:ext>
            </a:extLst>
          </p:cNvPr>
          <p:cNvSpPr/>
          <p:nvPr/>
        </p:nvSpPr>
        <p:spPr bwMode="gray">
          <a:xfrm>
            <a:off x="3734955" y="4984684"/>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17" name="5-Point Star 182">
            <a:extLst>
              <a:ext uri="{FF2B5EF4-FFF2-40B4-BE49-F238E27FC236}">
                <a16:creationId xmlns:a16="http://schemas.microsoft.com/office/drawing/2014/main" id="{D8BF4331-D2C2-42F4-9DEE-CF669FDB3FD3}"/>
              </a:ext>
            </a:extLst>
          </p:cNvPr>
          <p:cNvSpPr/>
          <p:nvPr/>
        </p:nvSpPr>
        <p:spPr bwMode="gray">
          <a:xfrm>
            <a:off x="4169677" y="4990408"/>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18" name="5-Point Star 182">
            <a:extLst>
              <a:ext uri="{FF2B5EF4-FFF2-40B4-BE49-F238E27FC236}">
                <a16:creationId xmlns:a16="http://schemas.microsoft.com/office/drawing/2014/main" id="{25C9F3C9-9EA7-4EA9-9ED6-F4892B0010C2}"/>
              </a:ext>
            </a:extLst>
          </p:cNvPr>
          <p:cNvSpPr/>
          <p:nvPr/>
        </p:nvSpPr>
        <p:spPr bwMode="gray">
          <a:xfrm>
            <a:off x="5197989" y="4996408"/>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19" name="5-Point Star 182">
            <a:extLst>
              <a:ext uri="{FF2B5EF4-FFF2-40B4-BE49-F238E27FC236}">
                <a16:creationId xmlns:a16="http://schemas.microsoft.com/office/drawing/2014/main" id="{CB687CB5-594D-4DED-9626-8C7367DB458D}"/>
              </a:ext>
            </a:extLst>
          </p:cNvPr>
          <p:cNvSpPr/>
          <p:nvPr/>
        </p:nvSpPr>
        <p:spPr bwMode="gray">
          <a:xfrm>
            <a:off x="5088537" y="4995186"/>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20" name="5-Point Star 182">
            <a:extLst>
              <a:ext uri="{FF2B5EF4-FFF2-40B4-BE49-F238E27FC236}">
                <a16:creationId xmlns:a16="http://schemas.microsoft.com/office/drawing/2014/main" id="{7285BA2A-04F5-4C0C-B2EA-729A698C1706}"/>
              </a:ext>
            </a:extLst>
          </p:cNvPr>
          <p:cNvSpPr/>
          <p:nvPr/>
        </p:nvSpPr>
        <p:spPr bwMode="gray">
          <a:xfrm>
            <a:off x="6663897" y="4987202"/>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21" name="5-Point Star 182">
            <a:extLst>
              <a:ext uri="{FF2B5EF4-FFF2-40B4-BE49-F238E27FC236}">
                <a16:creationId xmlns:a16="http://schemas.microsoft.com/office/drawing/2014/main" id="{0F5B9D59-A964-4931-8E57-4292BCA21117}"/>
              </a:ext>
            </a:extLst>
          </p:cNvPr>
          <p:cNvSpPr/>
          <p:nvPr/>
        </p:nvSpPr>
        <p:spPr bwMode="gray">
          <a:xfrm>
            <a:off x="6738267" y="4995653"/>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22" name="5-Point Star 182">
            <a:extLst>
              <a:ext uri="{FF2B5EF4-FFF2-40B4-BE49-F238E27FC236}">
                <a16:creationId xmlns:a16="http://schemas.microsoft.com/office/drawing/2014/main" id="{680C3C7A-9547-40E0-9724-E688B4C0BDEF}"/>
              </a:ext>
            </a:extLst>
          </p:cNvPr>
          <p:cNvSpPr/>
          <p:nvPr/>
        </p:nvSpPr>
        <p:spPr bwMode="gray">
          <a:xfrm>
            <a:off x="8314011" y="4986356"/>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23" name="5-Point Star 182">
            <a:extLst>
              <a:ext uri="{FF2B5EF4-FFF2-40B4-BE49-F238E27FC236}">
                <a16:creationId xmlns:a16="http://schemas.microsoft.com/office/drawing/2014/main" id="{743CA85F-A38B-4D54-B1AD-2FBFD1E2E200}"/>
              </a:ext>
            </a:extLst>
          </p:cNvPr>
          <p:cNvSpPr/>
          <p:nvPr/>
        </p:nvSpPr>
        <p:spPr bwMode="gray">
          <a:xfrm>
            <a:off x="8658073" y="4990408"/>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24" name="5-Point Star 182">
            <a:extLst>
              <a:ext uri="{FF2B5EF4-FFF2-40B4-BE49-F238E27FC236}">
                <a16:creationId xmlns:a16="http://schemas.microsoft.com/office/drawing/2014/main" id="{A9803BA6-487E-4ABA-B128-DF42A33C12F2}"/>
              </a:ext>
            </a:extLst>
          </p:cNvPr>
          <p:cNvSpPr/>
          <p:nvPr/>
        </p:nvSpPr>
        <p:spPr bwMode="gray">
          <a:xfrm>
            <a:off x="9571934" y="4986353"/>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25" name="Rectangle 124">
            <a:extLst>
              <a:ext uri="{FF2B5EF4-FFF2-40B4-BE49-F238E27FC236}">
                <a16:creationId xmlns:a16="http://schemas.microsoft.com/office/drawing/2014/main" id="{FFF0F192-51BC-43D8-AC3F-BEDAE3DDBFE7}"/>
              </a:ext>
            </a:extLst>
          </p:cNvPr>
          <p:cNvSpPr/>
          <p:nvPr/>
        </p:nvSpPr>
        <p:spPr>
          <a:xfrm>
            <a:off x="9849096" y="5184104"/>
            <a:ext cx="1672633" cy="721672"/>
          </a:xfrm>
          <a:prstGeom prst="rect">
            <a:avLst/>
          </a:prstGeom>
        </p:spPr>
        <p:txBody>
          <a:bodyPr wrap="square">
            <a:spAutoFit/>
          </a:bodyPr>
          <a:lstStyle/>
          <a:p>
            <a:pPr marL="116895" indent="-116895" defTabSz="837848">
              <a:buFont typeface="Arial" panose="020B0604020202020204" pitchFamily="34" charset="0"/>
              <a:buChar char="•"/>
            </a:pPr>
            <a:r>
              <a:rPr lang="en-IN" sz="818" dirty="0">
                <a:solidFill>
                  <a:prstClr val="black"/>
                </a:solidFill>
                <a:latin typeface="Verdana"/>
              </a:rPr>
              <a:t>Quarterly report over 18 month’s Period</a:t>
            </a:r>
          </a:p>
          <a:p>
            <a:pPr marL="116895" indent="-116895" defTabSz="837848">
              <a:buFont typeface="Arial" panose="020B0604020202020204" pitchFamily="34" charset="0"/>
              <a:buChar char="•"/>
            </a:pPr>
            <a:r>
              <a:rPr lang="en-IN" sz="818" dirty="0">
                <a:solidFill>
                  <a:prstClr val="black"/>
                </a:solidFill>
                <a:latin typeface="Verdana"/>
              </a:rPr>
              <a:t>Final Draft Report &amp; Presentation before Stakeholders</a:t>
            </a:r>
          </a:p>
        </p:txBody>
      </p:sp>
      <p:sp>
        <p:nvSpPr>
          <p:cNvPr id="126" name="5-Point Star 182">
            <a:extLst>
              <a:ext uri="{FF2B5EF4-FFF2-40B4-BE49-F238E27FC236}">
                <a16:creationId xmlns:a16="http://schemas.microsoft.com/office/drawing/2014/main" id="{7BC6E5E3-6DF5-410E-92D7-47DF27E588D0}"/>
              </a:ext>
            </a:extLst>
          </p:cNvPr>
          <p:cNvSpPr/>
          <p:nvPr/>
        </p:nvSpPr>
        <p:spPr bwMode="gray">
          <a:xfrm>
            <a:off x="10506414" y="4987202"/>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27" name="Flowchart: Decision 126">
            <a:extLst>
              <a:ext uri="{FF2B5EF4-FFF2-40B4-BE49-F238E27FC236}">
                <a16:creationId xmlns:a16="http://schemas.microsoft.com/office/drawing/2014/main" id="{D17B4CC5-3760-465F-9FCA-C386A7605A59}"/>
              </a:ext>
            </a:extLst>
          </p:cNvPr>
          <p:cNvSpPr/>
          <p:nvPr/>
        </p:nvSpPr>
        <p:spPr bwMode="gray">
          <a:xfrm>
            <a:off x="1019787" y="5002275"/>
            <a:ext cx="162094" cy="69856"/>
          </a:xfrm>
          <a:prstGeom prst="flowChartDecision">
            <a:avLst/>
          </a:prstGeom>
          <a:solidFill>
            <a:schemeClr val="bg2">
              <a:lumMod val="9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28" name="Flowchart: Decision 127">
            <a:extLst>
              <a:ext uri="{FF2B5EF4-FFF2-40B4-BE49-F238E27FC236}">
                <a16:creationId xmlns:a16="http://schemas.microsoft.com/office/drawing/2014/main" id="{DD0FAF4F-A856-4EF5-BB74-97CAEE65D617}"/>
              </a:ext>
            </a:extLst>
          </p:cNvPr>
          <p:cNvSpPr/>
          <p:nvPr/>
        </p:nvSpPr>
        <p:spPr bwMode="gray">
          <a:xfrm>
            <a:off x="6866990" y="4994194"/>
            <a:ext cx="162094" cy="69856"/>
          </a:xfrm>
          <a:prstGeom prst="flowChartDecision">
            <a:avLst/>
          </a:prstGeom>
          <a:solidFill>
            <a:schemeClr val="bg2">
              <a:lumMod val="9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29" name="Flowchart: Decision 128">
            <a:extLst>
              <a:ext uri="{FF2B5EF4-FFF2-40B4-BE49-F238E27FC236}">
                <a16:creationId xmlns:a16="http://schemas.microsoft.com/office/drawing/2014/main" id="{0FF46F3C-60E8-4695-B074-EC3A3A82BE0A}"/>
              </a:ext>
            </a:extLst>
          </p:cNvPr>
          <p:cNvSpPr/>
          <p:nvPr/>
        </p:nvSpPr>
        <p:spPr bwMode="gray">
          <a:xfrm>
            <a:off x="9657667" y="5002052"/>
            <a:ext cx="162094" cy="69856"/>
          </a:xfrm>
          <a:prstGeom prst="flowChartDecision">
            <a:avLst/>
          </a:prstGeom>
          <a:solidFill>
            <a:schemeClr val="bg2">
              <a:lumMod val="9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30" name="Flowchart: Decision 129">
            <a:extLst>
              <a:ext uri="{FF2B5EF4-FFF2-40B4-BE49-F238E27FC236}">
                <a16:creationId xmlns:a16="http://schemas.microsoft.com/office/drawing/2014/main" id="{A3E10B4B-8138-4F32-8181-DCF52EB9FD98}"/>
              </a:ext>
            </a:extLst>
          </p:cNvPr>
          <p:cNvSpPr/>
          <p:nvPr/>
        </p:nvSpPr>
        <p:spPr bwMode="gray">
          <a:xfrm>
            <a:off x="10633526" y="4994194"/>
            <a:ext cx="162094" cy="69856"/>
          </a:xfrm>
          <a:prstGeom prst="flowChartDecision">
            <a:avLst/>
          </a:prstGeom>
          <a:solidFill>
            <a:schemeClr val="bg2">
              <a:lumMod val="9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31" name="5-Point Star 182">
            <a:extLst>
              <a:ext uri="{FF2B5EF4-FFF2-40B4-BE49-F238E27FC236}">
                <a16:creationId xmlns:a16="http://schemas.microsoft.com/office/drawing/2014/main" id="{EAF45DF8-0A5D-483D-8F54-A2D28162C4C9}"/>
              </a:ext>
            </a:extLst>
          </p:cNvPr>
          <p:cNvSpPr/>
          <p:nvPr/>
        </p:nvSpPr>
        <p:spPr bwMode="gray">
          <a:xfrm>
            <a:off x="11258242" y="4986697"/>
            <a:ext cx="108063" cy="93140"/>
          </a:xfrm>
          <a:prstGeom prst="star5">
            <a:avLst/>
          </a:prstGeom>
          <a:solidFill>
            <a:schemeClr val="accent1"/>
          </a:solidFill>
          <a:ln w="19050" algn="ctr">
            <a:noFill/>
            <a:miter lim="800000"/>
            <a:headEnd/>
            <a:tailEnd/>
          </a:ln>
        </p:spPr>
        <p:txBody>
          <a:bodyPr wrap="square" lIns="60614" tIns="60614" rIns="60614" bIns="60614" rtlCol="0" anchor="ctr"/>
          <a:lstStyle/>
          <a:p>
            <a:pPr algn="ctr" defTabSz="623438">
              <a:lnSpc>
                <a:spcPct val="106000"/>
              </a:lnSpc>
              <a:defRPr/>
            </a:pPr>
            <a:endParaRPr lang="en-IN" sz="818" dirty="0">
              <a:solidFill>
                <a:prstClr val="white"/>
              </a:solidFill>
              <a:latin typeface="Verdana"/>
            </a:endParaRPr>
          </a:p>
        </p:txBody>
      </p:sp>
      <p:sp>
        <p:nvSpPr>
          <p:cNvPr id="133" name="TextBox 132">
            <a:extLst>
              <a:ext uri="{FF2B5EF4-FFF2-40B4-BE49-F238E27FC236}">
                <a16:creationId xmlns:a16="http://schemas.microsoft.com/office/drawing/2014/main" id="{D6941848-5737-41C5-91F6-18092A42B9CA}"/>
              </a:ext>
            </a:extLst>
          </p:cNvPr>
          <p:cNvSpPr txBox="1"/>
          <p:nvPr/>
        </p:nvSpPr>
        <p:spPr>
          <a:xfrm rot="16200000">
            <a:off x="355732" y="5620982"/>
            <a:ext cx="769212" cy="125868"/>
          </a:xfrm>
          <a:prstGeom prst="rect">
            <a:avLst/>
          </a:prstGeom>
          <a:solidFill>
            <a:schemeClr val="accent5"/>
          </a:solidFill>
          <a:ln w="6350">
            <a:noFill/>
          </a:ln>
        </p:spPr>
        <p:txBody>
          <a:bodyPr wrap="square" lIns="0" tIns="0" rIns="0" bIns="0" rtlCol="0">
            <a:spAutoFit/>
          </a:bodyPr>
          <a:lstStyle/>
          <a:p>
            <a:pPr algn="ctr" defTabSz="837848">
              <a:spcBef>
                <a:spcPts val="205"/>
              </a:spcBef>
              <a:spcAft>
                <a:spcPts val="205"/>
              </a:spcAft>
              <a:buSzPct val="100000"/>
            </a:pPr>
            <a:r>
              <a:rPr lang="en-US" sz="818" dirty="0">
                <a:solidFill>
                  <a:prstClr val="white"/>
                </a:solidFill>
                <a:latin typeface="Verdana"/>
                <a:cs typeface="Times New Roman" panose="02020603050405020304" pitchFamily="18" charset="0"/>
              </a:rPr>
              <a:t>Deliverables</a:t>
            </a:r>
            <a:endParaRPr lang="en-IN" sz="818" dirty="0">
              <a:solidFill>
                <a:prstClr val="white"/>
              </a:solidFill>
              <a:latin typeface="Verdana"/>
              <a:cs typeface="Times New Roman" panose="02020603050405020304" pitchFamily="18" charset="0"/>
            </a:endParaRPr>
          </a:p>
        </p:txBody>
      </p:sp>
      <p:sp>
        <p:nvSpPr>
          <p:cNvPr id="134" name="Rectangle 133">
            <a:extLst>
              <a:ext uri="{FF2B5EF4-FFF2-40B4-BE49-F238E27FC236}">
                <a16:creationId xmlns:a16="http://schemas.microsoft.com/office/drawing/2014/main" id="{5EAC257B-3265-4883-BD11-E6156A768F7A}"/>
              </a:ext>
            </a:extLst>
          </p:cNvPr>
          <p:cNvSpPr/>
          <p:nvPr/>
        </p:nvSpPr>
        <p:spPr>
          <a:xfrm>
            <a:off x="6781940" y="5192050"/>
            <a:ext cx="2678975" cy="721672"/>
          </a:xfrm>
          <a:prstGeom prst="rect">
            <a:avLst/>
          </a:prstGeom>
          <a:ln>
            <a:noFill/>
          </a:ln>
        </p:spPr>
        <p:txBody>
          <a:bodyPr wrap="square">
            <a:spAutoFit/>
          </a:bodyPr>
          <a:lstStyle/>
          <a:p>
            <a:pPr marL="116895" indent="-116895" defTabSz="837848">
              <a:buFont typeface="Arial" panose="020B0604020202020204" pitchFamily="34" charset="0"/>
              <a:buChar char="•"/>
            </a:pPr>
            <a:r>
              <a:rPr lang="en-US" sz="818" dirty="0">
                <a:solidFill>
                  <a:srgbClr val="004F59"/>
                </a:solidFill>
                <a:latin typeface="Verdana"/>
              </a:rPr>
              <a:t>Report &amp; Presentation on Power sector vision </a:t>
            </a:r>
            <a:r>
              <a:rPr lang="en-IN" sz="818" dirty="0">
                <a:solidFill>
                  <a:srgbClr val="004F59"/>
                </a:solidFill>
                <a:latin typeface="Verdana"/>
              </a:rPr>
              <a:t>development for 2030</a:t>
            </a:r>
          </a:p>
          <a:p>
            <a:pPr marL="116895" indent="-116895" defTabSz="837848">
              <a:buFont typeface="Arial" panose="020B0604020202020204" pitchFamily="34" charset="0"/>
              <a:buChar char="•"/>
            </a:pPr>
            <a:r>
              <a:rPr lang="en-US" sz="818" dirty="0">
                <a:solidFill>
                  <a:srgbClr val="004F59"/>
                </a:solidFill>
                <a:latin typeface="Verdana"/>
              </a:rPr>
              <a:t>Report &amp; Presentation on key strategic </a:t>
            </a:r>
            <a:r>
              <a:rPr lang="en-IN" sz="818" dirty="0">
                <a:solidFill>
                  <a:srgbClr val="004F59"/>
                </a:solidFill>
                <a:latin typeface="Verdana"/>
              </a:rPr>
              <a:t>priorities and actions</a:t>
            </a:r>
          </a:p>
          <a:p>
            <a:pPr marL="116895" indent="-116895" defTabSz="837848">
              <a:buFont typeface="Arial" panose="020B0604020202020204" pitchFamily="34" charset="0"/>
              <a:buChar char="•"/>
            </a:pPr>
            <a:r>
              <a:rPr lang="en-US" sz="818" dirty="0">
                <a:solidFill>
                  <a:srgbClr val="004F59"/>
                </a:solidFill>
                <a:latin typeface="Verdana"/>
              </a:rPr>
              <a:t>Report &amp; Presentation on detailed action plan</a:t>
            </a:r>
            <a:endParaRPr lang="en-IN" sz="818" dirty="0">
              <a:solidFill>
                <a:srgbClr val="004F59"/>
              </a:solidFill>
              <a:latin typeface="Verdana"/>
            </a:endParaRPr>
          </a:p>
        </p:txBody>
      </p:sp>
      <p:grpSp>
        <p:nvGrpSpPr>
          <p:cNvPr id="11" name="Group 10">
            <a:extLst>
              <a:ext uri="{FF2B5EF4-FFF2-40B4-BE49-F238E27FC236}">
                <a16:creationId xmlns:a16="http://schemas.microsoft.com/office/drawing/2014/main" id="{E24110C0-8656-41B7-8502-E8888801CEF7}"/>
              </a:ext>
            </a:extLst>
          </p:cNvPr>
          <p:cNvGrpSpPr/>
          <p:nvPr/>
        </p:nvGrpSpPr>
        <p:grpSpPr>
          <a:xfrm>
            <a:off x="660381" y="1850063"/>
            <a:ext cx="10940749" cy="3026531"/>
            <a:chOff x="660382" y="1926263"/>
            <a:chExt cx="9947722" cy="3026531"/>
          </a:xfrm>
        </p:grpSpPr>
        <p:sp>
          <p:nvSpPr>
            <p:cNvPr id="79" name="Rectangle 78">
              <a:extLst>
                <a:ext uri="{FF2B5EF4-FFF2-40B4-BE49-F238E27FC236}">
                  <a16:creationId xmlns:a16="http://schemas.microsoft.com/office/drawing/2014/main" id="{809F73F0-5B70-45A3-A99B-A7E6913D2DCD}"/>
                </a:ext>
              </a:extLst>
            </p:cNvPr>
            <p:cNvSpPr/>
            <p:nvPr/>
          </p:nvSpPr>
          <p:spPr bwMode="gray">
            <a:xfrm rot="16200000">
              <a:off x="-631861" y="3251566"/>
              <a:ext cx="2765726" cy="181239"/>
            </a:xfrm>
            <a:prstGeom prst="rect">
              <a:avLst/>
            </a:prstGeom>
            <a:noFill/>
            <a:ln w="19050" algn="ctr">
              <a:noFill/>
              <a:miter lim="800000"/>
              <a:headEnd/>
              <a:tailEnd/>
            </a:ln>
          </p:spPr>
          <p:txBody>
            <a:bodyPr wrap="square" lIns="60614" tIns="60614" rIns="60614" bIns="60614" rtlCol="0" anchor="ctr"/>
            <a:lstStyle/>
            <a:p>
              <a:pPr algn="ctr" defTabSz="623438">
                <a:lnSpc>
                  <a:spcPct val="106000"/>
                </a:lnSpc>
                <a:defRPr/>
              </a:pPr>
              <a:r>
                <a:rPr lang="en-US" sz="886" dirty="0">
                  <a:solidFill>
                    <a:prstClr val="black"/>
                  </a:solidFill>
                  <a:latin typeface="Verdana"/>
                </a:rPr>
                <a:t>Key Activities / Milestones</a:t>
              </a:r>
              <a:endParaRPr lang="en-IN" sz="886" dirty="0">
                <a:solidFill>
                  <a:prstClr val="black"/>
                </a:solidFill>
                <a:latin typeface="Verdana"/>
              </a:endParaRPr>
            </a:p>
          </p:txBody>
        </p:sp>
        <p:sp>
          <p:nvSpPr>
            <p:cNvPr id="80" name="Rectangle 79">
              <a:extLst>
                <a:ext uri="{FF2B5EF4-FFF2-40B4-BE49-F238E27FC236}">
                  <a16:creationId xmlns:a16="http://schemas.microsoft.com/office/drawing/2014/main" id="{2B88B34E-EDA4-4F9D-8D35-3E68B4811195}"/>
                </a:ext>
              </a:extLst>
            </p:cNvPr>
            <p:cNvSpPr/>
            <p:nvPr/>
          </p:nvSpPr>
          <p:spPr bwMode="gray">
            <a:xfrm>
              <a:off x="921408" y="2187067"/>
              <a:ext cx="5261042" cy="2765727"/>
            </a:xfrm>
            <a:prstGeom prst="rect">
              <a:avLst/>
            </a:prstGeom>
            <a:solidFill>
              <a:schemeClr val="accent1">
                <a:lumMod val="20000"/>
                <a:lumOff val="80000"/>
              </a:schemeClr>
            </a:solidFill>
            <a:ln w="19050" algn="ctr">
              <a:solidFill>
                <a:srgbClr val="009A44"/>
              </a:solidFill>
              <a:miter lim="800000"/>
              <a:headEnd/>
              <a:tailEnd/>
            </a:ln>
          </p:spPr>
          <p:txBody>
            <a:bodyPr wrap="square" lIns="60614" tIns="60614" rIns="60614" bIns="60614" rtlCol="0" anchor="ctr"/>
            <a:lstStyle/>
            <a:p>
              <a:pPr algn="ctr" defTabSz="837848">
                <a:lnSpc>
                  <a:spcPct val="106000"/>
                </a:lnSpc>
              </a:pPr>
              <a:endParaRPr lang="en-IN" sz="818" dirty="0">
                <a:solidFill>
                  <a:prstClr val="white"/>
                </a:solidFill>
                <a:latin typeface="Verdana"/>
              </a:endParaRPr>
            </a:p>
          </p:txBody>
        </p:sp>
        <p:sp>
          <p:nvSpPr>
            <p:cNvPr id="81" name="Rectangle 80">
              <a:extLst>
                <a:ext uri="{FF2B5EF4-FFF2-40B4-BE49-F238E27FC236}">
                  <a16:creationId xmlns:a16="http://schemas.microsoft.com/office/drawing/2014/main" id="{87C93E41-79A0-4ADD-A077-C80FC844718C}"/>
                </a:ext>
              </a:extLst>
            </p:cNvPr>
            <p:cNvSpPr/>
            <p:nvPr/>
          </p:nvSpPr>
          <p:spPr bwMode="gray">
            <a:xfrm>
              <a:off x="6235442" y="2183302"/>
              <a:ext cx="2623249" cy="2761987"/>
            </a:xfrm>
            <a:prstGeom prst="rect">
              <a:avLst/>
            </a:prstGeom>
            <a:solidFill>
              <a:schemeClr val="accent3">
                <a:lumMod val="20000"/>
                <a:lumOff val="80000"/>
              </a:schemeClr>
            </a:solidFill>
            <a:ln w="19050" algn="ctr">
              <a:solidFill>
                <a:srgbClr val="004F59"/>
              </a:solidFill>
              <a:miter lim="800000"/>
              <a:headEnd/>
              <a:tailEnd/>
            </a:ln>
          </p:spPr>
          <p:txBody>
            <a:bodyPr wrap="square" lIns="60614" tIns="60614" rIns="60614" bIns="60614" rtlCol="0" anchor="ctr"/>
            <a:lstStyle/>
            <a:p>
              <a:pPr algn="ctr" defTabSz="837848">
                <a:lnSpc>
                  <a:spcPct val="106000"/>
                </a:lnSpc>
              </a:pPr>
              <a:endParaRPr lang="en-IN" sz="818" dirty="0">
                <a:solidFill>
                  <a:prstClr val="white"/>
                </a:solidFill>
                <a:latin typeface="Verdana"/>
              </a:endParaRPr>
            </a:p>
          </p:txBody>
        </p:sp>
        <p:sp>
          <p:nvSpPr>
            <p:cNvPr id="82" name="Rectangle 81">
              <a:extLst>
                <a:ext uri="{FF2B5EF4-FFF2-40B4-BE49-F238E27FC236}">
                  <a16:creationId xmlns:a16="http://schemas.microsoft.com/office/drawing/2014/main" id="{A51F3DE5-4B49-44D4-852C-7677FC8CC140}"/>
                </a:ext>
              </a:extLst>
            </p:cNvPr>
            <p:cNvSpPr/>
            <p:nvPr/>
          </p:nvSpPr>
          <p:spPr bwMode="gray">
            <a:xfrm>
              <a:off x="921408" y="1930726"/>
              <a:ext cx="5261042" cy="242545"/>
            </a:xfrm>
            <a:prstGeom prst="rect">
              <a:avLst/>
            </a:prstGeom>
            <a:solidFill>
              <a:srgbClr val="009A44"/>
            </a:solidFill>
            <a:ln w="19050" algn="ctr">
              <a:solidFill>
                <a:srgbClr val="009A44"/>
              </a:solidFill>
              <a:miter lim="800000"/>
              <a:headEnd/>
              <a:tailEnd/>
            </a:ln>
          </p:spPr>
          <p:txBody>
            <a:bodyPr wrap="square" lIns="60614" tIns="60614" rIns="60614" bIns="60614" rtlCol="0" anchor="ctr"/>
            <a:lstStyle/>
            <a:p>
              <a:pPr algn="ctr" defTabSz="837848">
                <a:lnSpc>
                  <a:spcPct val="106000"/>
                </a:lnSpc>
              </a:pPr>
              <a:r>
                <a:rPr lang="en-US" sz="818" dirty="0">
                  <a:solidFill>
                    <a:prstClr val="white"/>
                  </a:solidFill>
                  <a:latin typeface="Verdana"/>
                </a:rPr>
                <a:t>MODULE-1: Diagnostic Review &amp; Causal Analysis</a:t>
              </a:r>
              <a:endParaRPr lang="en-IN" sz="818" dirty="0">
                <a:solidFill>
                  <a:prstClr val="white"/>
                </a:solidFill>
                <a:latin typeface="Verdana"/>
              </a:endParaRPr>
            </a:p>
          </p:txBody>
        </p:sp>
        <p:sp>
          <p:nvSpPr>
            <p:cNvPr id="83" name="Rectangle 82">
              <a:extLst>
                <a:ext uri="{FF2B5EF4-FFF2-40B4-BE49-F238E27FC236}">
                  <a16:creationId xmlns:a16="http://schemas.microsoft.com/office/drawing/2014/main" id="{44415762-B200-4328-B42C-82500FC9E0BF}"/>
                </a:ext>
              </a:extLst>
            </p:cNvPr>
            <p:cNvSpPr/>
            <p:nvPr/>
          </p:nvSpPr>
          <p:spPr bwMode="gray">
            <a:xfrm>
              <a:off x="6224011" y="1943849"/>
              <a:ext cx="2634679" cy="221809"/>
            </a:xfrm>
            <a:prstGeom prst="rect">
              <a:avLst/>
            </a:prstGeom>
            <a:solidFill>
              <a:srgbClr val="004F59"/>
            </a:solidFill>
            <a:ln w="19050" algn="ctr">
              <a:solidFill>
                <a:srgbClr val="004F59"/>
              </a:solidFill>
              <a:miter lim="800000"/>
              <a:headEnd/>
              <a:tailEnd/>
            </a:ln>
          </p:spPr>
          <p:txBody>
            <a:bodyPr wrap="square" lIns="60614" tIns="60614" rIns="60614" bIns="60614" rtlCol="0" anchor="ctr"/>
            <a:lstStyle/>
            <a:p>
              <a:pPr algn="ctr" defTabSz="837848">
                <a:lnSpc>
                  <a:spcPct val="106000"/>
                </a:lnSpc>
              </a:pPr>
              <a:r>
                <a:rPr lang="en-US" sz="818" dirty="0">
                  <a:solidFill>
                    <a:prstClr val="white"/>
                  </a:solidFill>
                  <a:latin typeface="Verdana"/>
                </a:rPr>
                <a:t>MODULE-2: strategic vision  development</a:t>
              </a:r>
              <a:endParaRPr lang="en-IN" sz="818" dirty="0">
                <a:solidFill>
                  <a:prstClr val="white"/>
                </a:solidFill>
                <a:latin typeface="Verdana"/>
              </a:endParaRPr>
            </a:p>
          </p:txBody>
        </p:sp>
        <p:sp>
          <p:nvSpPr>
            <p:cNvPr id="84" name="Rectangle 83">
              <a:extLst>
                <a:ext uri="{FF2B5EF4-FFF2-40B4-BE49-F238E27FC236}">
                  <a16:creationId xmlns:a16="http://schemas.microsoft.com/office/drawing/2014/main" id="{6BB2A709-C07C-414D-9B9C-A2F4A597B036}"/>
                </a:ext>
              </a:extLst>
            </p:cNvPr>
            <p:cNvSpPr/>
            <p:nvPr/>
          </p:nvSpPr>
          <p:spPr bwMode="gray">
            <a:xfrm>
              <a:off x="8926029" y="1926263"/>
              <a:ext cx="1682075" cy="3019023"/>
            </a:xfrm>
            <a:prstGeom prst="rect">
              <a:avLst/>
            </a:prstGeom>
            <a:solidFill>
              <a:srgbClr val="DDEFE8"/>
            </a:solidFill>
            <a:ln w="19050" algn="ctr">
              <a:solidFill>
                <a:srgbClr val="0097A9"/>
              </a:solidFill>
              <a:miter lim="800000"/>
              <a:headEnd/>
              <a:tailEnd/>
            </a:ln>
          </p:spPr>
          <p:txBody>
            <a:bodyPr wrap="square" lIns="60614" tIns="60614" rIns="60614" bIns="60614" rtlCol="0" anchor="b" anchorCtr="0"/>
            <a:lstStyle/>
            <a:p>
              <a:pPr marL="180753" indent="-116895" defTabSz="837848">
                <a:lnSpc>
                  <a:spcPct val="115000"/>
                </a:lnSpc>
                <a:spcBef>
                  <a:spcPts val="205"/>
                </a:spcBef>
                <a:buFont typeface="Arial" panose="020B0604020202020204" pitchFamily="34" charset="0"/>
                <a:buChar char="•"/>
                <a:tabLst>
                  <a:tab pos="311711" algn="l"/>
                </a:tabLst>
              </a:pPr>
              <a:endParaRPr lang="en-US" sz="818" b="1" dirty="0">
                <a:solidFill>
                  <a:srgbClr val="313131"/>
                </a:solidFill>
                <a:latin typeface="Verdana"/>
                <a:ea typeface="MS PGothic" panose="020B0600070205080204" pitchFamily="34" charset="-128"/>
                <a:cs typeface="Times New Roman" panose="02020603050405020304" pitchFamily="18" charset="0"/>
              </a:endParaRPr>
            </a:p>
            <a:p>
              <a:pPr marL="180753" indent="-116895" defTabSz="837848">
                <a:lnSpc>
                  <a:spcPct val="115000"/>
                </a:lnSpc>
                <a:spcBef>
                  <a:spcPts val="205"/>
                </a:spcBef>
                <a:buFont typeface="Arial" panose="020B0604020202020204" pitchFamily="34" charset="0"/>
                <a:buChar char="•"/>
                <a:tabLst>
                  <a:tab pos="311711" algn="l"/>
                </a:tabLst>
              </a:pPr>
              <a:endParaRPr lang="en-US" sz="818" b="1" dirty="0">
                <a:solidFill>
                  <a:srgbClr val="313131"/>
                </a:solidFill>
                <a:latin typeface="Verdana"/>
                <a:ea typeface="MS PGothic" panose="020B0600070205080204" pitchFamily="34" charset="-128"/>
                <a:cs typeface="Times New Roman" panose="02020603050405020304" pitchFamily="18" charset="0"/>
              </a:endParaRPr>
            </a:p>
          </p:txBody>
        </p:sp>
        <p:sp>
          <p:nvSpPr>
            <p:cNvPr id="88" name="Rectangle 87">
              <a:extLst>
                <a:ext uri="{FF2B5EF4-FFF2-40B4-BE49-F238E27FC236}">
                  <a16:creationId xmlns:a16="http://schemas.microsoft.com/office/drawing/2014/main" id="{18826FCC-4346-411C-AE60-8087427452EE}"/>
                </a:ext>
              </a:extLst>
            </p:cNvPr>
            <p:cNvSpPr/>
            <p:nvPr/>
          </p:nvSpPr>
          <p:spPr>
            <a:xfrm>
              <a:off x="1492444" y="2766690"/>
              <a:ext cx="1818654" cy="344069"/>
            </a:xfrm>
            <a:prstGeom prst="rect">
              <a:avLst/>
            </a:prstGeom>
            <a:solidFill>
              <a:schemeClr val="bg1"/>
            </a:solidFill>
            <a:ln>
              <a:solidFill>
                <a:schemeClr val="tx1"/>
              </a:solidFill>
            </a:ln>
          </p:spPr>
          <p:txBody>
            <a:bodyPr wrap="square">
              <a:spAutoFit/>
            </a:bodyPr>
            <a:lstStyle/>
            <a:p>
              <a:pPr algn="ctr" defTabSz="837848"/>
              <a:r>
                <a:rPr lang="en-IN" sz="818" dirty="0">
                  <a:solidFill>
                    <a:prstClr val="black"/>
                  </a:solidFill>
                  <a:latin typeface="Verdana"/>
                </a:rPr>
                <a:t>Assessment of Financial and Operational Performance</a:t>
              </a:r>
            </a:p>
          </p:txBody>
        </p:sp>
        <p:sp>
          <p:nvSpPr>
            <p:cNvPr id="89" name="Rectangle 88">
              <a:extLst>
                <a:ext uri="{FF2B5EF4-FFF2-40B4-BE49-F238E27FC236}">
                  <a16:creationId xmlns:a16="http://schemas.microsoft.com/office/drawing/2014/main" id="{F80494E0-62A9-4270-A750-2855132F3C83}"/>
                </a:ext>
              </a:extLst>
            </p:cNvPr>
            <p:cNvSpPr/>
            <p:nvPr/>
          </p:nvSpPr>
          <p:spPr>
            <a:xfrm>
              <a:off x="962727" y="2226405"/>
              <a:ext cx="529717" cy="637610"/>
            </a:xfrm>
            <a:prstGeom prst="rect">
              <a:avLst/>
            </a:prstGeom>
            <a:solidFill>
              <a:schemeClr val="bg1"/>
            </a:solidFill>
            <a:ln>
              <a:solidFill>
                <a:schemeClr val="tx1"/>
              </a:solidFill>
            </a:ln>
          </p:spPr>
          <p:txBody>
            <a:bodyPr wrap="square">
              <a:spAutoFit/>
            </a:bodyPr>
            <a:lstStyle/>
            <a:p>
              <a:pPr defTabSz="837848"/>
              <a:r>
                <a:rPr lang="en-IN" sz="886" dirty="0">
                  <a:solidFill>
                    <a:prstClr val="black"/>
                  </a:solidFill>
                  <a:latin typeface="Verdana"/>
                </a:rPr>
                <a:t>Inception Report</a:t>
              </a:r>
            </a:p>
          </p:txBody>
        </p:sp>
        <p:sp>
          <p:nvSpPr>
            <p:cNvPr id="90" name="Rectangle 89">
              <a:extLst>
                <a:ext uri="{FF2B5EF4-FFF2-40B4-BE49-F238E27FC236}">
                  <a16:creationId xmlns:a16="http://schemas.microsoft.com/office/drawing/2014/main" id="{21B1CCA7-F54D-4D8A-AC8A-E31514E8C0E2}"/>
                </a:ext>
              </a:extLst>
            </p:cNvPr>
            <p:cNvSpPr/>
            <p:nvPr/>
          </p:nvSpPr>
          <p:spPr>
            <a:xfrm>
              <a:off x="1492444" y="3112243"/>
              <a:ext cx="2402868" cy="218201"/>
            </a:xfrm>
            <a:prstGeom prst="rect">
              <a:avLst/>
            </a:prstGeom>
            <a:solidFill>
              <a:schemeClr val="bg1"/>
            </a:solidFill>
            <a:ln>
              <a:solidFill>
                <a:schemeClr val="tx1"/>
              </a:solidFill>
            </a:ln>
          </p:spPr>
          <p:txBody>
            <a:bodyPr wrap="square">
              <a:spAutoFit/>
            </a:bodyPr>
            <a:lstStyle/>
            <a:p>
              <a:pPr algn="ctr" defTabSz="837848"/>
              <a:r>
                <a:rPr lang="en-IN" sz="818" dirty="0">
                  <a:solidFill>
                    <a:prstClr val="black"/>
                  </a:solidFill>
                  <a:latin typeface="Verdana"/>
                </a:rPr>
                <a:t>Assessment of Regulatory Performance</a:t>
              </a:r>
            </a:p>
          </p:txBody>
        </p:sp>
        <p:sp>
          <p:nvSpPr>
            <p:cNvPr id="91" name="Rectangle 90">
              <a:extLst>
                <a:ext uri="{FF2B5EF4-FFF2-40B4-BE49-F238E27FC236}">
                  <a16:creationId xmlns:a16="http://schemas.microsoft.com/office/drawing/2014/main" id="{265254EE-A79D-4FE9-972C-1E6DB089E72B}"/>
                </a:ext>
              </a:extLst>
            </p:cNvPr>
            <p:cNvSpPr/>
            <p:nvPr/>
          </p:nvSpPr>
          <p:spPr>
            <a:xfrm>
              <a:off x="1726260" y="3341342"/>
              <a:ext cx="2402869" cy="218201"/>
            </a:xfrm>
            <a:prstGeom prst="rect">
              <a:avLst/>
            </a:prstGeom>
            <a:solidFill>
              <a:schemeClr val="bg1"/>
            </a:solidFill>
            <a:ln>
              <a:solidFill>
                <a:schemeClr val="tx1"/>
              </a:solidFill>
            </a:ln>
          </p:spPr>
          <p:txBody>
            <a:bodyPr wrap="square">
              <a:spAutoFit/>
            </a:bodyPr>
            <a:lstStyle/>
            <a:p>
              <a:pPr algn="ctr" defTabSz="837848"/>
              <a:r>
                <a:rPr lang="en-US" sz="818" dirty="0">
                  <a:solidFill>
                    <a:prstClr val="black"/>
                  </a:solidFill>
                  <a:latin typeface="Verdana"/>
                </a:rPr>
                <a:t>Review of on-going and proposed projects </a:t>
              </a:r>
              <a:endParaRPr lang="en-IN" sz="818" dirty="0">
                <a:solidFill>
                  <a:prstClr val="black"/>
                </a:solidFill>
                <a:latin typeface="Verdana"/>
              </a:endParaRPr>
            </a:p>
          </p:txBody>
        </p:sp>
        <p:sp>
          <p:nvSpPr>
            <p:cNvPr id="92" name="Rectangle 91">
              <a:extLst>
                <a:ext uri="{FF2B5EF4-FFF2-40B4-BE49-F238E27FC236}">
                  <a16:creationId xmlns:a16="http://schemas.microsoft.com/office/drawing/2014/main" id="{FE7BD4BA-F485-45D2-BF9B-71EA2D05995F}"/>
                </a:ext>
              </a:extLst>
            </p:cNvPr>
            <p:cNvSpPr/>
            <p:nvPr/>
          </p:nvSpPr>
          <p:spPr>
            <a:xfrm>
              <a:off x="2388684" y="3556079"/>
              <a:ext cx="2402869" cy="469937"/>
            </a:xfrm>
            <a:prstGeom prst="rect">
              <a:avLst/>
            </a:prstGeom>
            <a:solidFill>
              <a:schemeClr val="bg1"/>
            </a:solidFill>
            <a:ln>
              <a:solidFill>
                <a:schemeClr val="tx1"/>
              </a:solidFill>
            </a:ln>
          </p:spPr>
          <p:txBody>
            <a:bodyPr wrap="square">
              <a:spAutoFit/>
            </a:bodyPr>
            <a:lstStyle/>
            <a:p>
              <a:pPr algn="ctr" defTabSz="837848"/>
              <a:r>
                <a:rPr lang="en-US" sz="818" dirty="0">
                  <a:solidFill>
                    <a:prstClr val="black"/>
                  </a:solidFill>
                  <a:latin typeface="Verdana"/>
                </a:rPr>
                <a:t>Power demand and supply trends–future outlook and key growth drivers for the state’s power sector and their sustenance</a:t>
              </a:r>
              <a:endParaRPr lang="en-IN" sz="818" dirty="0">
                <a:solidFill>
                  <a:prstClr val="black"/>
                </a:solidFill>
                <a:latin typeface="Verdana"/>
              </a:endParaRPr>
            </a:p>
          </p:txBody>
        </p:sp>
        <p:sp>
          <p:nvSpPr>
            <p:cNvPr id="93" name="Rectangle 92">
              <a:extLst>
                <a:ext uri="{FF2B5EF4-FFF2-40B4-BE49-F238E27FC236}">
                  <a16:creationId xmlns:a16="http://schemas.microsoft.com/office/drawing/2014/main" id="{B6C26505-9F41-45F7-9842-81B5E6BE0A7F}"/>
                </a:ext>
              </a:extLst>
            </p:cNvPr>
            <p:cNvSpPr/>
            <p:nvPr/>
          </p:nvSpPr>
          <p:spPr>
            <a:xfrm>
              <a:off x="2383766" y="4025373"/>
              <a:ext cx="2402869" cy="344069"/>
            </a:xfrm>
            <a:prstGeom prst="rect">
              <a:avLst/>
            </a:prstGeom>
            <a:solidFill>
              <a:schemeClr val="bg1"/>
            </a:solidFill>
            <a:ln>
              <a:solidFill>
                <a:schemeClr val="tx1"/>
              </a:solidFill>
            </a:ln>
          </p:spPr>
          <p:txBody>
            <a:bodyPr wrap="square">
              <a:spAutoFit/>
            </a:bodyPr>
            <a:lstStyle/>
            <a:p>
              <a:pPr algn="ctr" defTabSz="837848"/>
              <a:r>
                <a:rPr lang="en-US" sz="818" dirty="0">
                  <a:solidFill>
                    <a:prstClr val="black"/>
                  </a:solidFill>
                  <a:latin typeface="Verdana"/>
                </a:rPr>
                <a:t>Emerging sector trends and their influence/implications on power sector</a:t>
              </a:r>
              <a:endParaRPr lang="en-IN" sz="818" dirty="0">
                <a:solidFill>
                  <a:prstClr val="black"/>
                </a:solidFill>
                <a:latin typeface="Verdana"/>
              </a:endParaRPr>
            </a:p>
          </p:txBody>
        </p:sp>
        <p:sp>
          <p:nvSpPr>
            <p:cNvPr id="94" name="Rectangle 93">
              <a:extLst>
                <a:ext uri="{FF2B5EF4-FFF2-40B4-BE49-F238E27FC236}">
                  <a16:creationId xmlns:a16="http://schemas.microsoft.com/office/drawing/2014/main" id="{FE335764-B83C-42C2-82BF-499B32F58CDF}"/>
                </a:ext>
              </a:extLst>
            </p:cNvPr>
            <p:cNvSpPr/>
            <p:nvPr/>
          </p:nvSpPr>
          <p:spPr>
            <a:xfrm>
              <a:off x="962727" y="4356448"/>
              <a:ext cx="5195404" cy="218201"/>
            </a:xfrm>
            <a:prstGeom prst="rect">
              <a:avLst/>
            </a:prstGeom>
            <a:solidFill>
              <a:schemeClr val="bg1"/>
            </a:solidFill>
            <a:ln>
              <a:solidFill>
                <a:schemeClr val="tx1"/>
              </a:solidFill>
            </a:ln>
          </p:spPr>
          <p:txBody>
            <a:bodyPr wrap="square">
              <a:spAutoFit/>
            </a:bodyPr>
            <a:lstStyle/>
            <a:p>
              <a:pPr algn="ctr" defTabSz="837848"/>
              <a:r>
                <a:rPr lang="en-US" sz="818" dirty="0">
                  <a:solidFill>
                    <a:prstClr val="black"/>
                  </a:solidFill>
                  <a:latin typeface="Verdana"/>
                </a:rPr>
                <a:t>Continuous Stakeholder Interaction</a:t>
              </a:r>
              <a:endParaRPr lang="en-IN" sz="818" dirty="0">
                <a:solidFill>
                  <a:prstClr val="black"/>
                </a:solidFill>
                <a:latin typeface="Verdana"/>
              </a:endParaRPr>
            </a:p>
          </p:txBody>
        </p:sp>
        <p:sp>
          <p:nvSpPr>
            <p:cNvPr id="95" name="Rectangle 94">
              <a:extLst>
                <a:ext uri="{FF2B5EF4-FFF2-40B4-BE49-F238E27FC236}">
                  <a16:creationId xmlns:a16="http://schemas.microsoft.com/office/drawing/2014/main" id="{5DB064AB-9681-4107-B2F7-23FD1B8DBE31}"/>
                </a:ext>
              </a:extLst>
            </p:cNvPr>
            <p:cNvSpPr/>
            <p:nvPr/>
          </p:nvSpPr>
          <p:spPr>
            <a:xfrm>
              <a:off x="4791553" y="4572771"/>
              <a:ext cx="1366578" cy="344069"/>
            </a:xfrm>
            <a:prstGeom prst="rect">
              <a:avLst/>
            </a:prstGeom>
            <a:solidFill>
              <a:schemeClr val="bg1"/>
            </a:solidFill>
            <a:ln>
              <a:solidFill>
                <a:schemeClr val="tx1"/>
              </a:solidFill>
            </a:ln>
          </p:spPr>
          <p:txBody>
            <a:bodyPr wrap="square">
              <a:spAutoFit/>
            </a:bodyPr>
            <a:lstStyle/>
            <a:p>
              <a:pPr algn="ctr" defTabSz="837848"/>
              <a:r>
                <a:rPr lang="en-US" sz="818" dirty="0">
                  <a:solidFill>
                    <a:prstClr val="black"/>
                  </a:solidFill>
                  <a:latin typeface="Verdana"/>
                </a:rPr>
                <a:t>Comprehensive SWOT analysis of the sector</a:t>
              </a:r>
              <a:endParaRPr lang="en-IN" sz="818" dirty="0">
                <a:solidFill>
                  <a:prstClr val="black"/>
                </a:solidFill>
                <a:latin typeface="Verdana"/>
              </a:endParaRPr>
            </a:p>
          </p:txBody>
        </p:sp>
        <p:sp>
          <p:nvSpPr>
            <p:cNvPr id="96" name="Rectangle 95">
              <a:extLst>
                <a:ext uri="{FF2B5EF4-FFF2-40B4-BE49-F238E27FC236}">
                  <a16:creationId xmlns:a16="http://schemas.microsoft.com/office/drawing/2014/main" id="{4DBC9F92-343B-49FE-802A-3AE97B5FD6A7}"/>
                </a:ext>
              </a:extLst>
            </p:cNvPr>
            <p:cNvSpPr/>
            <p:nvPr/>
          </p:nvSpPr>
          <p:spPr>
            <a:xfrm>
              <a:off x="6262880" y="2226405"/>
              <a:ext cx="1366578" cy="344069"/>
            </a:xfrm>
            <a:prstGeom prst="rect">
              <a:avLst/>
            </a:prstGeom>
            <a:solidFill>
              <a:schemeClr val="bg1"/>
            </a:solidFill>
            <a:ln>
              <a:solidFill>
                <a:schemeClr val="tx1"/>
              </a:solidFill>
            </a:ln>
          </p:spPr>
          <p:txBody>
            <a:bodyPr wrap="square">
              <a:spAutoFit/>
            </a:bodyPr>
            <a:lstStyle/>
            <a:p>
              <a:pPr algn="ctr" defTabSz="837848"/>
              <a:r>
                <a:rPr lang="en-US" sz="818" dirty="0">
                  <a:solidFill>
                    <a:prstClr val="black"/>
                  </a:solidFill>
                  <a:latin typeface="Verdana"/>
                </a:rPr>
                <a:t>Power sector vision development for 2030</a:t>
              </a:r>
              <a:endParaRPr lang="en-IN" sz="818" dirty="0">
                <a:solidFill>
                  <a:prstClr val="black"/>
                </a:solidFill>
                <a:latin typeface="Verdana"/>
              </a:endParaRPr>
            </a:p>
          </p:txBody>
        </p:sp>
        <p:sp>
          <p:nvSpPr>
            <p:cNvPr id="97" name="Rectangle 96">
              <a:extLst>
                <a:ext uri="{FF2B5EF4-FFF2-40B4-BE49-F238E27FC236}">
                  <a16:creationId xmlns:a16="http://schemas.microsoft.com/office/drawing/2014/main" id="{185E5666-8C92-4137-8F6F-50A8629D2C31}"/>
                </a:ext>
              </a:extLst>
            </p:cNvPr>
            <p:cNvSpPr/>
            <p:nvPr/>
          </p:nvSpPr>
          <p:spPr>
            <a:xfrm>
              <a:off x="6658891" y="2594515"/>
              <a:ext cx="1366578" cy="469937"/>
            </a:xfrm>
            <a:prstGeom prst="rect">
              <a:avLst/>
            </a:prstGeom>
            <a:solidFill>
              <a:schemeClr val="bg1"/>
            </a:solidFill>
            <a:ln>
              <a:solidFill>
                <a:schemeClr val="tx1"/>
              </a:solidFill>
            </a:ln>
          </p:spPr>
          <p:txBody>
            <a:bodyPr wrap="square">
              <a:spAutoFit/>
            </a:bodyPr>
            <a:lstStyle/>
            <a:p>
              <a:pPr algn="ctr" defTabSz="837848"/>
              <a:r>
                <a:rPr lang="en-US" sz="818" dirty="0">
                  <a:solidFill>
                    <a:prstClr val="black"/>
                  </a:solidFill>
                  <a:latin typeface="Verdana"/>
                </a:rPr>
                <a:t>Detailing of the vision into the key strategic priorities and actions</a:t>
              </a:r>
              <a:endParaRPr lang="en-IN" sz="818" dirty="0">
                <a:solidFill>
                  <a:prstClr val="black"/>
                </a:solidFill>
                <a:latin typeface="Verdana"/>
              </a:endParaRPr>
            </a:p>
          </p:txBody>
        </p:sp>
        <p:sp>
          <p:nvSpPr>
            <p:cNvPr id="98" name="Rectangle 97">
              <a:extLst>
                <a:ext uri="{FF2B5EF4-FFF2-40B4-BE49-F238E27FC236}">
                  <a16:creationId xmlns:a16="http://schemas.microsoft.com/office/drawing/2014/main" id="{F35BD8C2-0CF7-4F8D-B6EA-FB379BE6EF88}"/>
                </a:ext>
              </a:extLst>
            </p:cNvPr>
            <p:cNvSpPr/>
            <p:nvPr/>
          </p:nvSpPr>
          <p:spPr>
            <a:xfrm>
              <a:off x="7342180" y="3085315"/>
              <a:ext cx="1485445" cy="595804"/>
            </a:xfrm>
            <a:prstGeom prst="rect">
              <a:avLst/>
            </a:prstGeom>
            <a:solidFill>
              <a:schemeClr val="bg1"/>
            </a:solidFill>
            <a:ln>
              <a:solidFill>
                <a:schemeClr val="tx1"/>
              </a:solidFill>
            </a:ln>
          </p:spPr>
          <p:txBody>
            <a:bodyPr wrap="square">
              <a:spAutoFit/>
            </a:bodyPr>
            <a:lstStyle/>
            <a:p>
              <a:pPr algn="ctr" defTabSz="837848"/>
              <a:r>
                <a:rPr lang="en-US" sz="818" dirty="0">
                  <a:solidFill>
                    <a:prstClr val="black"/>
                  </a:solidFill>
                  <a:latin typeface="Verdana"/>
                </a:rPr>
                <a:t>Development of detailed action plan identifying roles and responsibilities of key stakeholders</a:t>
              </a:r>
              <a:endParaRPr lang="en-IN" sz="818" dirty="0">
                <a:solidFill>
                  <a:prstClr val="black"/>
                </a:solidFill>
                <a:latin typeface="Verdana"/>
              </a:endParaRPr>
            </a:p>
          </p:txBody>
        </p:sp>
        <p:sp>
          <p:nvSpPr>
            <p:cNvPr id="99" name="Rectangle 98">
              <a:extLst>
                <a:ext uri="{FF2B5EF4-FFF2-40B4-BE49-F238E27FC236}">
                  <a16:creationId xmlns:a16="http://schemas.microsoft.com/office/drawing/2014/main" id="{852C4B7B-8226-4603-8C0F-A4759E3EDA29}"/>
                </a:ext>
              </a:extLst>
            </p:cNvPr>
            <p:cNvSpPr/>
            <p:nvPr/>
          </p:nvSpPr>
          <p:spPr>
            <a:xfrm>
              <a:off x="9036081" y="2179007"/>
              <a:ext cx="1485445" cy="2007665"/>
            </a:xfrm>
            <a:prstGeom prst="rect">
              <a:avLst/>
            </a:prstGeom>
            <a:solidFill>
              <a:schemeClr val="bg1"/>
            </a:solidFill>
            <a:ln>
              <a:solidFill>
                <a:schemeClr val="tx1"/>
              </a:solidFill>
            </a:ln>
          </p:spPr>
          <p:txBody>
            <a:bodyPr wrap="square">
              <a:spAutoFit/>
            </a:bodyPr>
            <a:lstStyle/>
            <a:p>
              <a:pPr algn="ctr" defTabSz="837848"/>
              <a:r>
                <a:rPr lang="en-US" sz="818" dirty="0">
                  <a:solidFill>
                    <a:prstClr val="black"/>
                  </a:solidFill>
                  <a:latin typeface="Verdana"/>
                </a:rPr>
                <a:t>Implementation and Monitoring support</a:t>
              </a:r>
            </a:p>
            <a:p>
              <a:pPr algn="ctr" defTabSz="837848"/>
              <a:r>
                <a:rPr lang="en-US" sz="818" dirty="0">
                  <a:solidFill>
                    <a:prstClr val="black"/>
                  </a:solidFill>
                  <a:latin typeface="Verdana"/>
                </a:rPr>
                <a:t>of Vision, Roadmap and the turnaround plan</a:t>
              </a:r>
            </a:p>
            <a:p>
              <a:pPr marL="180753" indent="-116895" defTabSz="837848">
                <a:lnSpc>
                  <a:spcPct val="115000"/>
                </a:lnSpc>
                <a:spcBef>
                  <a:spcPts val="205"/>
                </a:spcBef>
                <a:buFont typeface="Arial" panose="020B0604020202020204" pitchFamily="34" charset="0"/>
                <a:buChar char="•"/>
                <a:tabLst>
                  <a:tab pos="311711" algn="l"/>
                </a:tabLst>
              </a:pPr>
              <a:endParaRPr lang="en-US" sz="818" dirty="0">
                <a:solidFill>
                  <a:srgbClr val="313131"/>
                </a:solidFill>
                <a:latin typeface="Verdana"/>
                <a:ea typeface="MS PGothic" panose="020B0600070205080204" pitchFamily="34" charset="-128"/>
                <a:cs typeface="Times New Roman" panose="02020603050405020304" pitchFamily="18" charset="0"/>
              </a:endParaRPr>
            </a:p>
            <a:p>
              <a:pPr marL="180753" indent="-116895" defTabSz="837848">
                <a:lnSpc>
                  <a:spcPct val="115000"/>
                </a:lnSpc>
                <a:spcBef>
                  <a:spcPts val="205"/>
                </a:spcBef>
                <a:buFont typeface="Arial" panose="020B0604020202020204" pitchFamily="34" charset="0"/>
                <a:buChar char="•"/>
                <a:tabLst>
                  <a:tab pos="311711" algn="l"/>
                </a:tabLst>
              </a:pPr>
              <a:endParaRPr lang="en-US" sz="818" dirty="0">
                <a:solidFill>
                  <a:srgbClr val="313131"/>
                </a:solidFill>
                <a:latin typeface="Verdana"/>
                <a:ea typeface="MS PGothic" panose="020B0600070205080204" pitchFamily="34" charset="-128"/>
                <a:cs typeface="Times New Roman" panose="02020603050405020304" pitchFamily="18" charset="0"/>
              </a:endParaRPr>
            </a:p>
            <a:p>
              <a:pPr marL="180753" indent="-116895" defTabSz="837848">
                <a:lnSpc>
                  <a:spcPct val="115000"/>
                </a:lnSpc>
                <a:spcBef>
                  <a:spcPts val="205"/>
                </a:spcBef>
                <a:buFont typeface="Arial" panose="020B0604020202020204" pitchFamily="34" charset="0"/>
                <a:buChar char="•"/>
                <a:tabLst>
                  <a:tab pos="311711" algn="l"/>
                </a:tabLst>
              </a:pPr>
              <a:r>
                <a:rPr lang="en-US" sz="818" dirty="0">
                  <a:solidFill>
                    <a:srgbClr val="313131"/>
                  </a:solidFill>
                  <a:latin typeface="Verdana"/>
                  <a:ea typeface="MS PGothic" panose="020B0600070205080204" pitchFamily="34" charset="-128"/>
                  <a:cs typeface="Times New Roman" panose="02020603050405020304" pitchFamily="18" charset="0"/>
                </a:rPr>
                <a:t>Develop Monitoring framework</a:t>
              </a:r>
              <a:endParaRPr lang="en-US" sz="818" b="1" dirty="0">
                <a:solidFill>
                  <a:srgbClr val="012169"/>
                </a:solidFill>
                <a:latin typeface="Verdana"/>
                <a:ea typeface="MS PGothic" panose="020B0600070205080204" pitchFamily="34" charset="-128"/>
                <a:cs typeface="Times New Roman" panose="02020603050405020304" pitchFamily="18" charset="0"/>
              </a:endParaRPr>
            </a:p>
            <a:p>
              <a:pPr marL="180753" indent="-116895" defTabSz="837848">
                <a:lnSpc>
                  <a:spcPct val="115000"/>
                </a:lnSpc>
                <a:spcBef>
                  <a:spcPts val="205"/>
                </a:spcBef>
                <a:buFont typeface="Arial" panose="020B0604020202020204" pitchFamily="34" charset="0"/>
                <a:buChar char="•"/>
                <a:tabLst>
                  <a:tab pos="311711" algn="l"/>
                </a:tabLst>
              </a:pPr>
              <a:r>
                <a:rPr lang="en-US" sz="818" dirty="0">
                  <a:solidFill>
                    <a:srgbClr val="313131"/>
                  </a:solidFill>
                  <a:latin typeface="Verdana"/>
                  <a:ea typeface="MS PGothic" panose="020B0600070205080204" pitchFamily="34" charset="-128"/>
                  <a:cs typeface="Times New Roman" panose="02020603050405020304" pitchFamily="18" charset="0"/>
                </a:rPr>
                <a:t>Implementation and monitoring support</a:t>
              </a:r>
            </a:p>
            <a:p>
              <a:pPr marL="180753" indent="-116895" defTabSz="837848">
                <a:lnSpc>
                  <a:spcPct val="115000"/>
                </a:lnSpc>
                <a:spcBef>
                  <a:spcPts val="205"/>
                </a:spcBef>
                <a:buFont typeface="Arial" panose="020B0604020202020204" pitchFamily="34" charset="0"/>
                <a:buChar char="•"/>
                <a:tabLst>
                  <a:tab pos="311711" algn="l"/>
                </a:tabLst>
              </a:pPr>
              <a:r>
                <a:rPr lang="en-US" sz="818" dirty="0">
                  <a:solidFill>
                    <a:srgbClr val="313131"/>
                  </a:solidFill>
                  <a:latin typeface="Verdana"/>
                  <a:ea typeface="MS PGothic" panose="020B0600070205080204" pitchFamily="34" charset="-128"/>
                  <a:cs typeface="Times New Roman" panose="02020603050405020304" pitchFamily="18" charset="0"/>
                </a:rPr>
                <a:t>Stakeholder interaction</a:t>
              </a:r>
            </a:p>
            <a:p>
              <a:pPr algn="ctr" defTabSz="837848"/>
              <a:endParaRPr lang="en-US" sz="818" dirty="0">
                <a:solidFill>
                  <a:prstClr val="black"/>
                </a:solidFill>
                <a:latin typeface="Verdana"/>
              </a:endParaRPr>
            </a:p>
          </p:txBody>
        </p:sp>
        <p:sp>
          <p:nvSpPr>
            <p:cNvPr id="135" name="Rectangle 134">
              <a:extLst>
                <a:ext uri="{FF2B5EF4-FFF2-40B4-BE49-F238E27FC236}">
                  <a16:creationId xmlns:a16="http://schemas.microsoft.com/office/drawing/2014/main" id="{D6AAA27A-F045-4E00-AF19-406EEF7F6D31}"/>
                </a:ext>
              </a:extLst>
            </p:cNvPr>
            <p:cNvSpPr/>
            <p:nvPr/>
          </p:nvSpPr>
          <p:spPr bwMode="gray">
            <a:xfrm>
              <a:off x="9100155" y="3085282"/>
              <a:ext cx="1357294" cy="903500"/>
            </a:xfrm>
            <a:prstGeom prst="rect">
              <a:avLst/>
            </a:prstGeom>
            <a:noFill/>
            <a:ln w="19050" algn="ctr">
              <a:solidFill>
                <a:schemeClr val="tx1"/>
              </a:solidFill>
              <a:prstDash val="sysDot"/>
              <a:miter lim="800000"/>
              <a:headEnd/>
              <a:tailEnd/>
            </a:ln>
          </p:spPr>
          <p:txBody>
            <a:bodyPr wrap="square" lIns="60614" tIns="60614" rIns="60614" bIns="60614" rtlCol="0" anchor="ctr"/>
            <a:lstStyle/>
            <a:p>
              <a:pPr algn="ctr" defTabSz="837848">
                <a:lnSpc>
                  <a:spcPct val="106000"/>
                </a:lnSpc>
              </a:pPr>
              <a:endParaRPr lang="en-IN" sz="818" b="1" dirty="0">
                <a:solidFill>
                  <a:prstClr val="white"/>
                </a:solidFill>
                <a:latin typeface="Verdana"/>
              </a:endParaRPr>
            </a:p>
          </p:txBody>
        </p:sp>
        <p:sp>
          <p:nvSpPr>
            <p:cNvPr id="136" name="TextBox 135">
              <a:extLst>
                <a:ext uri="{FF2B5EF4-FFF2-40B4-BE49-F238E27FC236}">
                  <a16:creationId xmlns:a16="http://schemas.microsoft.com/office/drawing/2014/main" id="{FCB5B48E-6B10-4BCD-9199-BF81EA180AC0}"/>
                </a:ext>
              </a:extLst>
            </p:cNvPr>
            <p:cNvSpPr txBox="1"/>
            <p:nvPr/>
          </p:nvSpPr>
          <p:spPr>
            <a:xfrm>
              <a:off x="8987636" y="2821034"/>
              <a:ext cx="1547594" cy="251736"/>
            </a:xfrm>
            <a:prstGeom prst="rect">
              <a:avLst/>
            </a:prstGeom>
            <a:noFill/>
          </p:spPr>
          <p:txBody>
            <a:bodyPr wrap="square" lIns="0" tIns="0" rIns="0" bIns="0" rtlCol="0">
              <a:spAutoFit/>
            </a:bodyPr>
            <a:lstStyle/>
            <a:p>
              <a:pPr algn="ctr" defTabSz="837848">
                <a:spcBef>
                  <a:spcPts val="409"/>
                </a:spcBef>
                <a:buSzPct val="100000"/>
              </a:pPr>
              <a:r>
                <a:rPr lang="en-IN" sz="818" b="1" dirty="0">
                  <a:solidFill>
                    <a:srgbClr val="012169"/>
                  </a:solidFill>
                  <a:latin typeface="Verdana"/>
                </a:rPr>
                <a:t>Deloitte’s SMART PMO Framework</a:t>
              </a:r>
            </a:p>
          </p:txBody>
        </p:sp>
      </p:grpSp>
      <p:grpSp>
        <p:nvGrpSpPr>
          <p:cNvPr id="67" name="Group 66">
            <a:extLst>
              <a:ext uri="{FF2B5EF4-FFF2-40B4-BE49-F238E27FC236}">
                <a16:creationId xmlns:a16="http://schemas.microsoft.com/office/drawing/2014/main" id="{4DD28B29-4605-41EF-AC9A-C38FC097715D}"/>
              </a:ext>
            </a:extLst>
          </p:cNvPr>
          <p:cNvGrpSpPr/>
          <p:nvPr/>
        </p:nvGrpSpPr>
        <p:grpSpPr>
          <a:xfrm>
            <a:off x="8752588" y="125"/>
            <a:ext cx="3439412" cy="312153"/>
            <a:chOff x="3284559" y="173998"/>
            <a:chExt cx="10407720" cy="452926"/>
          </a:xfrm>
        </p:grpSpPr>
        <p:sp>
          <p:nvSpPr>
            <p:cNvPr id="68" name="AutoShape 6">
              <a:extLst>
                <a:ext uri="{FF2B5EF4-FFF2-40B4-BE49-F238E27FC236}">
                  <a16:creationId xmlns:a16="http://schemas.microsoft.com/office/drawing/2014/main" id="{3D25707E-2936-4C3F-86E7-B89832E8F6A9}"/>
                </a:ext>
              </a:extLst>
            </p:cNvPr>
            <p:cNvSpPr>
              <a:spLocks noChangeArrowheads="1"/>
            </p:cNvSpPr>
            <p:nvPr/>
          </p:nvSpPr>
          <p:spPr bwMode="auto">
            <a:xfrm>
              <a:off x="3284559" y="173998"/>
              <a:ext cx="3870036" cy="452926"/>
            </a:xfrm>
            <a:prstGeom prst="homePlate">
              <a:avLst>
                <a:gd name="adj" fmla="val 38784"/>
              </a:avLst>
            </a:prstGeom>
            <a:solidFill>
              <a:srgbClr val="0097A9"/>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solidFill>
                    <a:srgbClr val="FFFFFF"/>
                  </a:solidFill>
                  <a:latin typeface="Verdana"/>
                  <a:ea typeface="MS PGothic" panose="020B0600070205080204" pitchFamily="34" charset="-128"/>
                  <a:cs typeface="Times New Roman" panose="02020603050405020304" pitchFamily="18" charset="0"/>
                </a:rPr>
                <a:t>Module-1 (</a:t>
              </a:r>
              <a:r>
                <a:rPr lang="en-US" sz="545" b="1" dirty="0">
                  <a:solidFill>
                    <a:prstClr val="white"/>
                  </a:solidFill>
                  <a:latin typeface="Verdana"/>
                </a:rPr>
                <a:t>Diagnostic Review &amp; Causal Analysis)</a:t>
              </a:r>
              <a:endParaRPr lang="en-IN" sz="545" b="1" dirty="0">
                <a:solidFill>
                  <a:prstClr val="black"/>
                </a:solidFill>
                <a:latin typeface="Verdana"/>
                <a:ea typeface="Times New Roman" panose="02020603050405020304" pitchFamily="18" charset="0"/>
                <a:cs typeface="Times New Roman" panose="02020603050405020304" pitchFamily="18" charset="0"/>
              </a:endParaRPr>
            </a:p>
          </p:txBody>
        </p:sp>
        <p:sp>
          <p:nvSpPr>
            <p:cNvPr id="69" name="AutoShape 7">
              <a:extLst>
                <a:ext uri="{FF2B5EF4-FFF2-40B4-BE49-F238E27FC236}">
                  <a16:creationId xmlns:a16="http://schemas.microsoft.com/office/drawing/2014/main" id="{E1EC32A9-3C4D-4AE4-B284-40C813AE9331}"/>
                </a:ext>
              </a:extLst>
            </p:cNvPr>
            <p:cNvSpPr>
              <a:spLocks noChangeArrowheads="1"/>
            </p:cNvSpPr>
            <p:nvPr/>
          </p:nvSpPr>
          <p:spPr bwMode="auto">
            <a:xfrm>
              <a:off x="6983578" y="173998"/>
              <a:ext cx="3870036" cy="452926"/>
            </a:xfrm>
            <a:prstGeom prst="chevron">
              <a:avLst>
                <a:gd name="adj" fmla="val 36855"/>
              </a:avLst>
            </a:prstGeom>
            <a:solidFill>
              <a:srgbClr val="0097A9"/>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solidFill>
                    <a:srgbClr val="FFFFFF"/>
                  </a:solidFill>
                  <a:latin typeface="Verdana"/>
                  <a:ea typeface="MS PGothic" panose="020B0600070205080204" pitchFamily="34" charset="-128"/>
                  <a:cs typeface="Times New Roman" panose="02020603050405020304" pitchFamily="18" charset="0"/>
                </a:rPr>
                <a:t>Module-2 (Strategic Vision Development)</a:t>
              </a:r>
              <a:endParaRPr lang="en-IN" sz="545" dirty="0">
                <a:solidFill>
                  <a:prstClr val="black"/>
                </a:solidFill>
                <a:latin typeface="Verdana"/>
                <a:ea typeface="Times New Roman" panose="02020603050405020304" pitchFamily="18" charset="0"/>
                <a:cs typeface="Times New Roman" panose="02020603050405020304" pitchFamily="18" charset="0"/>
              </a:endParaRPr>
            </a:p>
          </p:txBody>
        </p:sp>
        <p:sp>
          <p:nvSpPr>
            <p:cNvPr id="70" name="AutoShape 7">
              <a:extLst>
                <a:ext uri="{FF2B5EF4-FFF2-40B4-BE49-F238E27FC236}">
                  <a16:creationId xmlns:a16="http://schemas.microsoft.com/office/drawing/2014/main" id="{9A6C88CE-6BCD-4A9E-8575-8361A2B61A26}"/>
                </a:ext>
              </a:extLst>
            </p:cNvPr>
            <p:cNvSpPr>
              <a:spLocks noChangeArrowheads="1"/>
            </p:cNvSpPr>
            <p:nvPr/>
          </p:nvSpPr>
          <p:spPr bwMode="auto">
            <a:xfrm>
              <a:off x="10691720" y="173998"/>
              <a:ext cx="3000559" cy="452926"/>
            </a:xfrm>
            <a:prstGeom prst="chevron">
              <a:avLst>
                <a:gd name="adj" fmla="val 36855"/>
              </a:avLst>
            </a:prstGeom>
            <a:solidFill>
              <a:schemeClr val="accent6">
                <a:lumMod val="20000"/>
                <a:lumOff val="80000"/>
              </a:schemeClr>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latin typeface="Verdana"/>
                  <a:ea typeface="Times New Roman" panose="02020603050405020304" pitchFamily="18" charset="0"/>
                  <a:cs typeface="Times New Roman" panose="02020603050405020304" pitchFamily="18" charset="0"/>
                </a:rPr>
                <a:t>Implementation Support</a:t>
              </a:r>
              <a:endParaRPr lang="en-IN" sz="545" b="1" dirty="0">
                <a:latin typeface="Verdana"/>
                <a:ea typeface="Times New Roman" panose="02020603050405020304" pitchFamily="18" charset="0"/>
                <a:cs typeface="Times New Roman" panose="02020603050405020304" pitchFamily="18" charset="0"/>
              </a:endParaRPr>
            </a:p>
          </p:txBody>
        </p:sp>
      </p:grpSp>
      <p:sp>
        <p:nvSpPr>
          <p:cNvPr id="101" name="Title 2">
            <a:extLst>
              <a:ext uri="{FF2B5EF4-FFF2-40B4-BE49-F238E27FC236}">
                <a16:creationId xmlns:a16="http://schemas.microsoft.com/office/drawing/2014/main" id="{2201F3F7-1477-4D5D-B1C1-C05132E8A1B8}"/>
              </a:ext>
            </a:extLst>
          </p:cNvPr>
          <p:cNvSpPr txBox="1">
            <a:spLocks/>
          </p:cNvSpPr>
          <p:nvPr/>
        </p:nvSpPr>
        <p:spPr bwMode="gray">
          <a:xfrm>
            <a:off x="617225" y="245179"/>
            <a:ext cx="8437784" cy="227797"/>
          </a:xfrm>
          <a:prstGeom prst="rect">
            <a:avLst/>
          </a:prstGeom>
        </p:spPr>
        <p:txBody>
          <a:bodyPr vert="horz" lIns="0" tIns="0" rIns="0" bIns="0" rtlCol="0" anchor="t" anchorCtr="0">
            <a:noAutofit/>
          </a:bodyPr>
          <a:lstStyle>
            <a:lvl1pPr algn="l" defTabSz="1059853" rtl="0" eaLnBrk="1" latinLnBrk="0" hangingPunct="1">
              <a:spcBef>
                <a:spcPct val="0"/>
              </a:spcBef>
              <a:buNone/>
              <a:defRPr sz="1739" kern="1200">
                <a:solidFill>
                  <a:schemeClr val="tx1"/>
                </a:solidFill>
                <a:latin typeface="+mj-lt"/>
                <a:ea typeface="+mj-ea"/>
                <a:cs typeface="+mj-cs"/>
              </a:defRPr>
            </a:lvl1pPr>
          </a:lstStyle>
          <a:p>
            <a:pPr defTabSz="831272"/>
            <a:r>
              <a:rPr lang="fr-FR" sz="1800" dirty="0"/>
              <a:t>Integrated Work Plan for Module 1 and 2</a:t>
            </a:r>
            <a:endParaRPr lang="en-IN" sz="1800" dirty="0">
              <a:solidFill>
                <a:prstClr val="black"/>
              </a:solidFill>
            </a:endParaRPr>
          </a:p>
        </p:txBody>
      </p:sp>
      <p:sp>
        <p:nvSpPr>
          <p:cNvPr id="137" name="Text Placeholder 1">
            <a:extLst>
              <a:ext uri="{FF2B5EF4-FFF2-40B4-BE49-F238E27FC236}">
                <a16:creationId xmlns:a16="http://schemas.microsoft.com/office/drawing/2014/main" id="{5AD9C4B5-5AA5-4139-A1D5-2CA9CEABF26B}"/>
              </a:ext>
            </a:extLst>
          </p:cNvPr>
          <p:cNvSpPr txBox="1">
            <a:spLocks/>
          </p:cNvSpPr>
          <p:nvPr/>
        </p:nvSpPr>
        <p:spPr>
          <a:xfrm>
            <a:off x="624661" y="571436"/>
            <a:ext cx="10964886" cy="173136"/>
          </a:xfrm>
          <a:prstGeom prst="rect">
            <a:avLst/>
          </a:prstGeom>
        </p:spPr>
        <p:txBody>
          <a:bodyPr vert="horz" lIns="0" tIns="0" rIns="0" bIns="0" rtlCol="0">
            <a:noAutofit/>
          </a:bodyPr>
          <a:lstStyle>
            <a:lvl1pPr marL="0" indent="0" algn="l" defTabSz="1059853" rtl="0" eaLnBrk="1" latinLnBrk="0" hangingPunct="1">
              <a:spcBef>
                <a:spcPts val="0"/>
              </a:spcBef>
              <a:spcAft>
                <a:spcPts val="1159"/>
              </a:spcAft>
              <a:buSzPct val="100000"/>
              <a:buFont typeface="Arial" panose="020B0604020202020204" pitchFamily="34" charset="0"/>
              <a:buNone/>
              <a:defRPr sz="1739" b="0" kern="1200">
                <a:solidFill>
                  <a:srgbClr val="575757"/>
                </a:solidFill>
                <a:latin typeface="+mn-lt"/>
                <a:ea typeface="+mn-ea"/>
                <a:cs typeface="+mn-cs"/>
              </a:defRPr>
            </a:lvl1pPr>
            <a:lvl2pPr marL="0" indent="0" algn="l" defTabSz="1059853" rtl="0" eaLnBrk="1" latinLnBrk="0" hangingPunct="1">
              <a:spcBef>
                <a:spcPts val="0"/>
              </a:spcBef>
              <a:spcAft>
                <a:spcPts val="1159"/>
              </a:spcAft>
              <a:buClrTx/>
              <a:buSzPct val="100000"/>
              <a:buFont typeface="Arial"/>
              <a:buNone/>
              <a:defRPr lang="en-US" sz="1391" b="1" kern="1200" dirty="0" smtClean="0">
                <a:solidFill>
                  <a:schemeClr val="tx1"/>
                </a:solidFill>
                <a:latin typeface="+mn-lt"/>
                <a:ea typeface="+mn-ea"/>
                <a:cs typeface="+mn-cs"/>
              </a:defRPr>
            </a:lvl2pPr>
            <a:lvl3pPr marL="204460" indent="-204460" algn="l" defTabSz="1059853" rtl="0" eaLnBrk="1" latinLnBrk="0" hangingPunct="1">
              <a:spcBef>
                <a:spcPts val="0"/>
              </a:spcBef>
              <a:spcAft>
                <a:spcPts val="1159"/>
              </a:spcAft>
              <a:buClrTx/>
              <a:buSzPct val="100000"/>
              <a:buFont typeface="Arial" panose="020B0604020202020204" pitchFamily="34" charset="0"/>
              <a:buChar char="•"/>
              <a:defRPr lang="en-US" sz="1391" kern="1200" dirty="0" smtClean="0">
                <a:solidFill>
                  <a:schemeClr val="tx1"/>
                </a:solidFill>
                <a:latin typeface="+mn-lt"/>
                <a:ea typeface="+mn-ea"/>
                <a:cs typeface="+mn-cs"/>
              </a:defRPr>
            </a:lvl3pPr>
            <a:lvl4pPr marL="413092" indent="-204460" algn="l" defTabSz="1059853" rtl="0" eaLnBrk="1" latinLnBrk="0" hangingPunct="1">
              <a:spcBef>
                <a:spcPts val="0"/>
              </a:spcBef>
              <a:spcAft>
                <a:spcPts val="1159"/>
              </a:spcAft>
              <a:buClrTx/>
              <a:buSzPct val="100000"/>
              <a:buFont typeface="Verdana" panose="020B0604030504040204" pitchFamily="34" charset="0"/>
              <a:buChar char="−"/>
              <a:defRPr lang="en-US" sz="1391" kern="1200" baseline="0" dirty="0" smtClean="0">
                <a:solidFill>
                  <a:schemeClr val="tx1"/>
                </a:solidFill>
                <a:latin typeface="+mn-lt"/>
                <a:ea typeface="+mn-ea"/>
                <a:cs typeface="+mn-cs"/>
              </a:defRPr>
            </a:lvl4pPr>
            <a:lvl5pPr marL="617553" indent="-204460" algn="l" defTabSz="925533" rtl="0" eaLnBrk="1" latinLnBrk="0" hangingPunct="1">
              <a:spcBef>
                <a:spcPts val="0"/>
              </a:spcBef>
              <a:spcAft>
                <a:spcPts val="1159"/>
              </a:spcAft>
              <a:buClrTx/>
              <a:buSzPct val="100000"/>
              <a:buFont typeface="Verdana" panose="020B0604030504040204" pitchFamily="34" charset="0"/>
              <a:buChar char="−"/>
              <a:tabLst/>
              <a:defRPr lang="en-US" sz="1391" kern="1200" baseline="0" dirty="0" smtClean="0">
                <a:solidFill>
                  <a:schemeClr val="tx1"/>
                </a:solidFill>
                <a:latin typeface="+mn-lt"/>
                <a:ea typeface="+mn-ea"/>
                <a:cs typeface="+mn-cs"/>
              </a:defRPr>
            </a:lvl5pPr>
            <a:lvl6pPr marL="617553" indent="-204460" algn="l" defTabSz="1059853" rtl="0" eaLnBrk="1" latinLnBrk="0" hangingPunct="1">
              <a:spcBef>
                <a:spcPts val="0"/>
              </a:spcBef>
              <a:spcAft>
                <a:spcPts val="1159"/>
              </a:spcAft>
              <a:buFont typeface="Verdana" panose="020B0604030504040204" pitchFamily="34" charset="0"/>
              <a:buChar char="−"/>
              <a:defRPr sz="1391" kern="1200" baseline="0">
                <a:solidFill>
                  <a:schemeClr val="tx1"/>
                </a:solidFill>
                <a:latin typeface="+mn-lt"/>
                <a:ea typeface="+mn-ea"/>
                <a:cs typeface="+mn-cs"/>
              </a:defRPr>
            </a:lvl6pPr>
            <a:lvl7pPr marL="617553" indent="-204460" algn="l" defTabSz="1059853" rtl="0" eaLnBrk="1" latinLnBrk="0" hangingPunct="1">
              <a:spcBef>
                <a:spcPts val="0"/>
              </a:spcBef>
              <a:spcAft>
                <a:spcPts val="1159"/>
              </a:spcAft>
              <a:buFont typeface="Verdana" panose="020B0604030504040204" pitchFamily="34" charset="0"/>
              <a:buChar char="−"/>
              <a:defRPr sz="1391" kern="1200">
                <a:solidFill>
                  <a:schemeClr val="tx1"/>
                </a:solidFill>
                <a:latin typeface="+mn-lt"/>
                <a:ea typeface="+mn-ea"/>
                <a:cs typeface="+mn-cs"/>
              </a:defRPr>
            </a:lvl7pPr>
            <a:lvl8pPr marL="617553" indent="-204460" algn="l" defTabSz="1059853" rtl="0" eaLnBrk="1" latinLnBrk="0" hangingPunct="1">
              <a:spcBef>
                <a:spcPts val="0"/>
              </a:spcBef>
              <a:spcAft>
                <a:spcPts val="1159"/>
              </a:spcAft>
              <a:buFont typeface="Verdana" panose="020B0604030504040204" pitchFamily="34" charset="0"/>
              <a:buChar char="−"/>
              <a:defRPr sz="1391" kern="1200" baseline="0">
                <a:solidFill>
                  <a:schemeClr val="tx1"/>
                </a:solidFill>
                <a:latin typeface="+mn-lt"/>
                <a:ea typeface="+mn-ea"/>
                <a:cs typeface="+mn-cs"/>
              </a:defRPr>
            </a:lvl8pPr>
            <a:lvl9pPr marL="617553" indent="-204460" algn="l" defTabSz="1059853" rtl="0" eaLnBrk="1" latinLnBrk="0" hangingPunct="1">
              <a:spcBef>
                <a:spcPts val="0"/>
              </a:spcBef>
              <a:spcAft>
                <a:spcPts val="1159"/>
              </a:spcAft>
              <a:buFont typeface="Verdana" panose="020B0604030504040204" pitchFamily="34" charset="0"/>
              <a:buChar char="−"/>
              <a:defRPr sz="1391" kern="1200" baseline="0">
                <a:solidFill>
                  <a:schemeClr val="tx1"/>
                </a:solidFill>
                <a:latin typeface="+mn-lt"/>
                <a:ea typeface="+mn-ea"/>
                <a:cs typeface="+mn-cs"/>
              </a:defRPr>
            </a:lvl9pPr>
          </a:lstStyle>
          <a:p>
            <a:pPr algn="just"/>
            <a:r>
              <a:rPr lang="en-US" sz="1600" dirty="0"/>
              <a:t>Our customized approach builds on your priority areas and integrates different work-streams to deliver actionable roadmap for strategy implementation as per the timelines</a:t>
            </a:r>
          </a:p>
        </p:txBody>
      </p:sp>
    </p:spTree>
    <p:extLst>
      <p:ext uri="{BB962C8B-B14F-4D97-AF65-F5344CB8AC3E}">
        <p14:creationId xmlns:p14="http://schemas.microsoft.com/office/powerpoint/2010/main" val="420872748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90DAC73-5AED-449D-A2EB-E02B307BBB71}"/>
              </a:ext>
            </a:extLst>
          </p:cNvPr>
          <p:cNvGraphicFramePr>
            <a:graphicFrameLocks noChangeAspect="1"/>
          </p:cNvGraphicFramePr>
          <p:nvPr>
            <p:custDataLst>
              <p:tags r:id="rId1"/>
            </p:custDataLst>
            <p:extLst>
              <p:ext uri="{D42A27DB-BD31-4B8C-83A1-F6EECF244321}">
                <p14:modId xmlns:p14="http://schemas.microsoft.com/office/powerpoint/2010/main" val="38459015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 name="Object 2" hidden="1">
                        <a:extLst>
                          <a:ext uri="{FF2B5EF4-FFF2-40B4-BE49-F238E27FC236}">
                            <a16:creationId xmlns:a16="http://schemas.microsoft.com/office/drawing/2014/main" id="{590DAC73-5AED-449D-A2EB-E02B307BBB7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7" name="Group 6">
            <a:extLst>
              <a:ext uri="{FF2B5EF4-FFF2-40B4-BE49-F238E27FC236}">
                <a16:creationId xmlns:a16="http://schemas.microsoft.com/office/drawing/2014/main" id="{327C73BF-2142-44A7-95F6-07FA5166C279}"/>
              </a:ext>
            </a:extLst>
          </p:cNvPr>
          <p:cNvGrpSpPr/>
          <p:nvPr/>
        </p:nvGrpSpPr>
        <p:grpSpPr>
          <a:xfrm>
            <a:off x="617224" y="944693"/>
            <a:ext cx="11231875" cy="459993"/>
            <a:chOff x="365203" y="700284"/>
            <a:chExt cx="11512424" cy="628617"/>
          </a:xfrm>
        </p:grpSpPr>
        <p:sp>
          <p:nvSpPr>
            <p:cNvPr id="8" name="Rounded Rectangle 178">
              <a:extLst>
                <a:ext uri="{FF2B5EF4-FFF2-40B4-BE49-F238E27FC236}">
                  <a16:creationId xmlns:a16="http://schemas.microsoft.com/office/drawing/2014/main" id="{9BAF099F-22CC-46AB-866F-D0AFD680EE2D}"/>
                </a:ext>
              </a:extLst>
            </p:cNvPr>
            <p:cNvSpPr/>
            <p:nvPr/>
          </p:nvSpPr>
          <p:spPr bwMode="gray">
            <a:xfrm>
              <a:off x="365203" y="700284"/>
              <a:ext cx="11512424" cy="628617"/>
            </a:xfrm>
            <a:prstGeom prst="roundRect">
              <a:avLst/>
            </a:prstGeom>
            <a:solidFill>
              <a:schemeClr val="tx1">
                <a:lumMod val="75000"/>
                <a:lumOff val="25000"/>
              </a:schemeClr>
            </a:solidFill>
            <a:ln>
              <a:headEnd/>
              <a:tailEnd/>
            </a:ln>
          </p:spPr>
          <p:style>
            <a:lnRef idx="3">
              <a:schemeClr val="lt1"/>
            </a:lnRef>
            <a:fillRef idx="1">
              <a:schemeClr val="dk1"/>
            </a:fillRef>
            <a:effectRef idx="1">
              <a:schemeClr val="dk1"/>
            </a:effectRef>
            <a:fontRef idx="minor">
              <a:schemeClr val="lt1"/>
            </a:fontRef>
          </p:style>
          <p:txBody>
            <a:bodyPr wrap="square" lIns="60614" tIns="60614" rIns="60614" bIns="60614" rtlCol="0" anchor="ctr"/>
            <a:lstStyle/>
            <a:p>
              <a:pPr algn="ctr" defTabSz="837848">
                <a:lnSpc>
                  <a:spcPct val="106000"/>
                </a:lnSpc>
              </a:pPr>
              <a:endParaRPr lang="en-IN" sz="1091" b="1" dirty="0">
                <a:solidFill>
                  <a:prstClr val="white"/>
                </a:solidFill>
                <a:latin typeface="Verdana"/>
              </a:endParaRPr>
            </a:p>
          </p:txBody>
        </p:sp>
        <p:sp>
          <p:nvSpPr>
            <p:cNvPr id="9" name="Rectangle 8">
              <a:extLst>
                <a:ext uri="{FF2B5EF4-FFF2-40B4-BE49-F238E27FC236}">
                  <a16:creationId xmlns:a16="http://schemas.microsoft.com/office/drawing/2014/main" id="{84C080FE-7008-467F-B9E2-14C3FE273501}"/>
                </a:ext>
              </a:extLst>
            </p:cNvPr>
            <p:cNvSpPr/>
            <p:nvPr/>
          </p:nvSpPr>
          <p:spPr>
            <a:xfrm>
              <a:off x="1105741" y="723883"/>
              <a:ext cx="10688759" cy="595326"/>
            </a:xfrm>
            <a:prstGeom prst="rect">
              <a:avLst/>
            </a:prstGeom>
          </p:spPr>
          <p:txBody>
            <a:bodyPr wrap="square">
              <a:spAutoFit/>
            </a:bodyPr>
            <a:lstStyle/>
            <a:p>
              <a:pPr algn="just" defTabSz="837848">
                <a:lnSpc>
                  <a:spcPct val="107000"/>
                </a:lnSpc>
                <a:spcAft>
                  <a:spcPts val="545"/>
                </a:spcAft>
              </a:pPr>
              <a:r>
                <a:rPr lang="en-US" sz="1091" dirty="0">
                  <a:solidFill>
                    <a:prstClr val="white"/>
                  </a:solidFill>
                  <a:latin typeface="Verdana"/>
                  <a:ea typeface="Calibri" panose="020F0502020204030204" pitchFamily="34" charset="0"/>
                  <a:cs typeface="Times New Roman" panose="02020603050405020304" pitchFamily="18" charset="0"/>
                </a:rPr>
                <a:t>Deloitte’s SMART Project Management Office (PMO) helps maintain control while executing large capital projects through a holistic framework enabled by technology, process &amp; people alignment</a:t>
              </a:r>
              <a:endParaRPr lang="en-IN" sz="1091" dirty="0">
                <a:solidFill>
                  <a:prstClr val="white"/>
                </a:solidFill>
                <a:latin typeface="Verdana"/>
                <a:ea typeface="Calibri" panose="020F0502020204030204" pitchFamily="34" charset="0"/>
                <a:cs typeface="Times New Roman" panose="02020603050405020304" pitchFamily="18" charset="0"/>
              </a:endParaRPr>
            </a:p>
          </p:txBody>
        </p:sp>
        <p:grpSp>
          <p:nvGrpSpPr>
            <p:cNvPr id="10" name="Group 9">
              <a:extLst>
                <a:ext uri="{FF2B5EF4-FFF2-40B4-BE49-F238E27FC236}">
                  <a16:creationId xmlns:a16="http://schemas.microsoft.com/office/drawing/2014/main" id="{AA092D62-F67B-4D24-A752-EEE263BC6A14}"/>
                </a:ext>
              </a:extLst>
            </p:cNvPr>
            <p:cNvGrpSpPr/>
            <p:nvPr/>
          </p:nvGrpSpPr>
          <p:grpSpPr>
            <a:xfrm>
              <a:off x="529929" y="815662"/>
              <a:ext cx="511472" cy="388894"/>
              <a:chOff x="4914861" y="4095581"/>
              <a:chExt cx="726891" cy="510110"/>
            </a:xfrm>
            <a:solidFill>
              <a:schemeClr val="bg1"/>
            </a:solidFill>
          </p:grpSpPr>
          <p:sp>
            <p:nvSpPr>
              <p:cNvPr id="11" name="Rectangle 268">
                <a:extLst>
                  <a:ext uri="{FF2B5EF4-FFF2-40B4-BE49-F238E27FC236}">
                    <a16:creationId xmlns:a16="http://schemas.microsoft.com/office/drawing/2014/main" id="{5E678328-9CFC-4DC4-BCF7-F62C67A08AD1}"/>
                  </a:ext>
                </a:extLst>
              </p:cNvPr>
              <p:cNvSpPr>
                <a:spLocks noChangeArrowheads="1"/>
              </p:cNvSpPr>
              <p:nvPr/>
            </p:nvSpPr>
            <p:spPr bwMode="auto">
              <a:xfrm>
                <a:off x="5430760" y="4315579"/>
                <a:ext cx="79122" cy="1138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2" name="Rectangle 269">
                <a:extLst>
                  <a:ext uri="{FF2B5EF4-FFF2-40B4-BE49-F238E27FC236}">
                    <a16:creationId xmlns:a16="http://schemas.microsoft.com/office/drawing/2014/main" id="{DD053911-FA83-48FE-ACF6-B8F54B8839D1}"/>
                  </a:ext>
                </a:extLst>
              </p:cNvPr>
              <p:cNvSpPr>
                <a:spLocks noChangeArrowheads="1"/>
              </p:cNvSpPr>
              <p:nvPr/>
            </p:nvSpPr>
            <p:spPr bwMode="auto">
              <a:xfrm>
                <a:off x="5527893" y="4315579"/>
                <a:ext cx="79122" cy="1138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3" name="Freeform 270">
                <a:extLst>
                  <a:ext uri="{FF2B5EF4-FFF2-40B4-BE49-F238E27FC236}">
                    <a16:creationId xmlns:a16="http://schemas.microsoft.com/office/drawing/2014/main" id="{94DE9932-9741-4A52-90E1-5786D3778BCC}"/>
                  </a:ext>
                </a:extLst>
              </p:cNvPr>
              <p:cNvSpPr>
                <a:spLocks/>
              </p:cNvSpPr>
              <p:nvPr/>
            </p:nvSpPr>
            <p:spPr bwMode="auto">
              <a:xfrm>
                <a:off x="5430760" y="4453238"/>
                <a:ext cx="176255" cy="14795"/>
              </a:xfrm>
              <a:custGeom>
                <a:avLst/>
                <a:gdLst>
                  <a:gd name="T0" fmla="*/ 57 w 60"/>
                  <a:gd name="T1" fmla="*/ 5 h 5"/>
                  <a:gd name="T2" fmla="*/ 3 w 60"/>
                  <a:gd name="T3" fmla="*/ 5 h 5"/>
                  <a:gd name="T4" fmla="*/ 0 w 60"/>
                  <a:gd name="T5" fmla="*/ 2 h 5"/>
                  <a:gd name="T6" fmla="*/ 3 w 60"/>
                  <a:gd name="T7" fmla="*/ 0 h 5"/>
                  <a:gd name="T8" fmla="*/ 57 w 60"/>
                  <a:gd name="T9" fmla="*/ 0 h 5"/>
                  <a:gd name="T10" fmla="*/ 60 w 60"/>
                  <a:gd name="T11" fmla="*/ 2 h 5"/>
                  <a:gd name="T12" fmla="*/ 57 w 6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60" h="5">
                    <a:moveTo>
                      <a:pt x="57" y="5"/>
                    </a:moveTo>
                    <a:cubicBezTo>
                      <a:pt x="3" y="5"/>
                      <a:pt x="3" y="5"/>
                      <a:pt x="3" y="5"/>
                    </a:cubicBezTo>
                    <a:cubicBezTo>
                      <a:pt x="1" y="5"/>
                      <a:pt x="0" y="4"/>
                      <a:pt x="0" y="2"/>
                    </a:cubicBezTo>
                    <a:cubicBezTo>
                      <a:pt x="0" y="1"/>
                      <a:pt x="1" y="0"/>
                      <a:pt x="3" y="0"/>
                    </a:cubicBezTo>
                    <a:cubicBezTo>
                      <a:pt x="57" y="0"/>
                      <a:pt x="57" y="0"/>
                      <a:pt x="57" y="0"/>
                    </a:cubicBezTo>
                    <a:cubicBezTo>
                      <a:pt x="59" y="0"/>
                      <a:pt x="60" y="1"/>
                      <a:pt x="60" y="2"/>
                    </a:cubicBezTo>
                    <a:cubicBezTo>
                      <a:pt x="60" y="4"/>
                      <a:pt x="59" y="5"/>
                      <a:pt x="5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4" name="Freeform 271">
                <a:extLst>
                  <a:ext uri="{FF2B5EF4-FFF2-40B4-BE49-F238E27FC236}">
                    <a16:creationId xmlns:a16="http://schemas.microsoft.com/office/drawing/2014/main" id="{3ADBF99D-7CDD-4327-A47B-79FB49013407}"/>
                  </a:ext>
                </a:extLst>
              </p:cNvPr>
              <p:cNvSpPr>
                <a:spLocks/>
              </p:cNvSpPr>
              <p:nvPr/>
            </p:nvSpPr>
            <p:spPr bwMode="auto">
              <a:xfrm>
                <a:off x="4947024" y="4508558"/>
                <a:ext cx="84911" cy="14795"/>
              </a:xfrm>
              <a:custGeom>
                <a:avLst/>
                <a:gdLst>
                  <a:gd name="T0" fmla="*/ 27 w 29"/>
                  <a:gd name="T1" fmla="*/ 5 h 5"/>
                  <a:gd name="T2" fmla="*/ 2 w 29"/>
                  <a:gd name="T3" fmla="*/ 5 h 5"/>
                  <a:gd name="T4" fmla="*/ 0 w 29"/>
                  <a:gd name="T5" fmla="*/ 3 h 5"/>
                  <a:gd name="T6" fmla="*/ 2 w 29"/>
                  <a:gd name="T7" fmla="*/ 0 h 5"/>
                  <a:gd name="T8" fmla="*/ 27 w 29"/>
                  <a:gd name="T9" fmla="*/ 0 h 5"/>
                  <a:gd name="T10" fmla="*/ 29 w 29"/>
                  <a:gd name="T11" fmla="*/ 3 h 5"/>
                  <a:gd name="T12" fmla="*/ 27 w 29"/>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29" h="5">
                    <a:moveTo>
                      <a:pt x="27" y="5"/>
                    </a:moveTo>
                    <a:cubicBezTo>
                      <a:pt x="2" y="5"/>
                      <a:pt x="2" y="5"/>
                      <a:pt x="2" y="5"/>
                    </a:cubicBezTo>
                    <a:cubicBezTo>
                      <a:pt x="1" y="5"/>
                      <a:pt x="0" y="4"/>
                      <a:pt x="0" y="3"/>
                    </a:cubicBezTo>
                    <a:cubicBezTo>
                      <a:pt x="0" y="1"/>
                      <a:pt x="1" y="0"/>
                      <a:pt x="2" y="0"/>
                    </a:cubicBezTo>
                    <a:cubicBezTo>
                      <a:pt x="27" y="0"/>
                      <a:pt x="27" y="0"/>
                      <a:pt x="27" y="0"/>
                    </a:cubicBezTo>
                    <a:cubicBezTo>
                      <a:pt x="28" y="0"/>
                      <a:pt x="29" y="1"/>
                      <a:pt x="29" y="3"/>
                    </a:cubicBezTo>
                    <a:cubicBezTo>
                      <a:pt x="29" y="4"/>
                      <a:pt x="28" y="5"/>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5" name="Freeform 272">
                <a:extLst>
                  <a:ext uri="{FF2B5EF4-FFF2-40B4-BE49-F238E27FC236}">
                    <a16:creationId xmlns:a16="http://schemas.microsoft.com/office/drawing/2014/main" id="{72776A6C-9CBF-4310-8E31-85566202151D}"/>
                  </a:ext>
                </a:extLst>
              </p:cNvPr>
              <p:cNvSpPr>
                <a:spLocks/>
              </p:cNvSpPr>
              <p:nvPr/>
            </p:nvSpPr>
            <p:spPr bwMode="auto">
              <a:xfrm>
                <a:off x="5430760" y="4487974"/>
                <a:ext cx="176255" cy="14795"/>
              </a:xfrm>
              <a:custGeom>
                <a:avLst/>
                <a:gdLst>
                  <a:gd name="T0" fmla="*/ 57 w 60"/>
                  <a:gd name="T1" fmla="*/ 5 h 5"/>
                  <a:gd name="T2" fmla="*/ 3 w 60"/>
                  <a:gd name="T3" fmla="*/ 5 h 5"/>
                  <a:gd name="T4" fmla="*/ 0 w 60"/>
                  <a:gd name="T5" fmla="*/ 2 h 5"/>
                  <a:gd name="T6" fmla="*/ 3 w 60"/>
                  <a:gd name="T7" fmla="*/ 0 h 5"/>
                  <a:gd name="T8" fmla="*/ 57 w 60"/>
                  <a:gd name="T9" fmla="*/ 0 h 5"/>
                  <a:gd name="T10" fmla="*/ 60 w 60"/>
                  <a:gd name="T11" fmla="*/ 2 h 5"/>
                  <a:gd name="T12" fmla="*/ 57 w 6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60" h="5">
                    <a:moveTo>
                      <a:pt x="57" y="5"/>
                    </a:moveTo>
                    <a:cubicBezTo>
                      <a:pt x="3" y="5"/>
                      <a:pt x="3" y="5"/>
                      <a:pt x="3" y="5"/>
                    </a:cubicBezTo>
                    <a:cubicBezTo>
                      <a:pt x="1" y="5"/>
                      <a:pt x="0" y="4"/>
                      <a:pt x="0" y="2"/>
                    </a:cubicBezTo>
                    <a:cubicBezTo>
                      <a:pt x="0" y="1"/>
                      <a:pt x="1" y="0"/>
                      <a:pt x="3" y="0"/>
                    </a:cubicBezTo>
                    <a:cubicBezTo>
                      <a:pt x="57" y="0"/>
                      <a:pt x="57" y="0"/>
                      <a:pt x="57" y="0"/>
                    </a:cubicBezTo>
                    <a:cubicBezTo>
                      <a:pt x="59" y="0"/>
                      <a:pt x="60" y="1"/>
                      <a:pt x="60" y="2"/>
                    </a:cubicBezTo>
                    <a:cubicBezTo>
                      <a:pt x="60" y="4"/>
                      <a:pt x="59" y="5"/>
                      <a:pt x="5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6" name="Freeform 273">
                <a:extLst>
                  <a:ext uri="{FF2B5EF4-FFF2-40B4-BE49-F238E27FC236}">
                    <a16:creationId xmlns:a16="http://schemas.microsoft.com/office/drawing/2014/main" id="{78B9376F-78DC-44C5-A969-CB76F1FE1A9D}"/>
                  </a:ext>
                </a:extLst>
              </p:cNvPr>
              <p:cNvSpPr>
                <a:spLocks noEditPoints="1"/>
              </p:cNvSpPr>
              <p:nvPr/>
            </p:nvSpPr>
            <p:spPr bwMode="auto">
              <a:xfrm>
                <a:off x="5395381" y="4259614"/>
                <a:ext cx="246371" cy="304908"/>
              </a:xfrm>
              <a:custGeom>
                <a:avLst/>
                <a:gdLst>
                  <a:gd name="T0" fmla="*/ 73 w 84"/>
                  <a:gd name="T1" fmla="*/ 0 h 104"/>
                  <a:gd name="T2" fmla="*/ 11 w 84"/>
                  <a:gd name="T3" fmla="*/ 0 h 104"/>
                  <a:gd name="T4" fmla="*/ 0 w 84"/>
                  <a:gd name="T5" fmla="*/ 11 h 104"/>
                  <a:gd name="T6" fmla="*/ 0 w 84"/>
                  <a:gd name="T7" fmla="*/ 92 h 104"/>
                  <a:gd name="T8" fmla="*/ 11 w 84"/>
                  <a:gd name="T9" fmla="*/ 104 h 104"/>
                  <a:gd name="T10" fmla="*/ 73 w 84"/>
                  <a:gd name="T11" fmla="*/ 104 h 104"/>
                  <a:gd name="T12" fmla="*/ 84 w 84"/>
                  <a:gd name="T13" fmla="*/ 92 h 104"/>
                  <a:gd name="T14" fmla="*/ 84 w 84"/>
                  <a:gd name="T15" fmla="*/ 11 h 104"/>
                  <a:gd name="T16" fmla="*/ 73 w 84"/>
                  <a:gd name="T17" fmla="*/ 0 h 104"/>
                  <a:gd name="T18" fmla="*/ 77 w 84"/>
                  <a:gd name="T19" fmla="*/ 90 h 104"/>
                  <a:gd name="T20" fmla="*/ 7 w 84"/>
                  <a:gd name="T21" fmla="*/ 90 h 104"/>
                  <a:gd name="T22" fmla="*/ 7 w 84"/>
                  <a:gd name="T23" fmla="*/ 13 h 104"/>
                  <a:gd name="T24" fmla="*/ 77 w 84"/>
                  <a:gd name="T25" fmla="*/ 13 h 104"/>
                  <a:gd name="T26" fmla="*/ 77 w 84"/>
                  <a:gd name="T27" fmla="*/ 9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104">
                    <a:moveTo>
                      <a:pt x="73" y="0"/>
                    </a:moveTo>
                    <a:cubicBezTo>
                      <a:pt x="11" y="0"/>
                      <a:pt x="11" y="0"/>
                      <a:pt x="11" y="0"/>
                    </a:cubicBezTo>
                    <a:cubicBezTo>
                      <a:pt x="5" y="0"/>
                      <a:pt x="0" y="5"/>
                      <a:pt x="0" y="11"/>
                    </a:cubicBezTo>
                    <a:cubicBezTo>
                      <a:pt x="0" y="92"/>
                      <a:pt x="0" y="92"/>
                      <a:pt x="0" y="92"/>
                    </a:cubicBezTo>
                    <a:cubicBezTo>
                      <a:pt x="0" y="99"/>
                      <a:pt x="5" y="104"/>
                      <a:pt x="11" y="104"/>
                    </a:cubicBezTo>
                    <a:cubicBezTo>
                      <a:pt x="73" y="104"/>
                      <a:pt x="73" y="104"/>
                      <a:pt x="73" y="104"/>
                    </a:cubicBezTo>
                    <a:cubicBezTo>
                      <a:pt x="79" y="104"/>
                      <a:pt x="84" y="99"/>
                      <a:pt x="84" y="92"/>
                    </a:cubicBezTo>
                    <a:cubicBezTo>
                      <a:pt x="84" y="11"/>
                      <a:pt x="84" y="11"/>
                      <a:pt x="84" y="11"/>
                    </a:cubicBezTo>
                    <a:cubicBezTo>
                      <a:pt x="84" y="5"/>
                      <a:pt x="79" y="0"/>
                      <a:pt x="73" y="0"/>
                    </a:cubicBezTo>
                    <a:close/>
                    <a:moveTo>
                      <a:pt x="77" y="90"/>
                    </a:moveTo>
                    <a:cubicBezTo>
                      <a:pt x="7" y="90"/>
                      <a:pt x="7" y="90"/>
                      <a:pt x="7" y="90"/>
                    </a:cubicBezTo>
                    <a:cubicBezTo>
                      <a:pt x="7" y="13"/>
                      <a:pt x="7" y="13"/>
                      <a:pt x="7" y="13"/>
                    </a:cubicBezTo>
                    <a:cubicBezTo>
                      <a:pt x="77" y="13"/>
                      <a:pt x="77" y="13"/>
                      <a:pt x="77" y="13"/>
                    </a:cubicBezTo>
                    <a:lnTo>
                      <a:pt x="77"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7" name="Freeform 274">
                <a:extLst>
                  <a:ext uri="{FF2B5EF4-FFF2-40B4-BE49-F238E27FC236}">
                    <a16:creationId xmlns:a16="http://schemas.microsoft.com/office/drawing/2014/main" id="{E4725A4C-82D4-4CB5-B723-2F14D1ECC513}"/>
                  </a:ext>
                </a:extLst>
              </p:cNvPr>
              <p:cNvSpPr>
                <a:spLocks noEditPoints="1"/>
              </p:cNvSpPr>
              <p:nvPr/>
            </p:nvSpPr>
            <p:spPr bwMode="auto">
              <a:xfrm>
                <a:off x="4959246" y="4095581"/>
                <a:ext cx="606600" cy="510110"/>
              </a:xfrm>
              <a:custGeom>
                <a:avLst/>
                <a:gdLst>
                  <a:gd name="T0" fmla="*/ 141 w 207"/>
                  <a:gd name="T1" fmla="*/ 164 h 174"/>
                  <a:gd name="T2" fmla="*/ 65 w 207"/>
                  <a:gd name="T3" fmla="*/ 164 h 174"/>
                  <a:gd name="T4" fmla="*/ 61 w 207"/>
                  <a:gd name="T5" fmla="*/ 169 h 174"/>
                  <a:gd name="T6" fmla="*/ 65 w 207"/>
                  <a:gd name="T7" fmla="*/ 174 h 174"/>
                  <a:gd name="T8" fmla="*/ 141 w 207"/>
                  <a:gd name="T9" fmla="*/ 174 h 174"/>
                  <a:gd name="T10" fmla="*/ 146 w 207"/>
                  <a:gd name="T11" fmla="*/ 169 h 174"/>
                  <a:gd name="T12" fmla="*/ 141 w 207"/>
                  <a:gd name="T13" fmla="*/ 164 h 174"/>
                  <a:gd name="T14" fmla="*/ 84 w 207"/>
                  <a:gd name="T15" fmla="*/ 140 h 174"/>
                  <a:gd name="T16" fmla="*/ 81 w 207"/>
                  <a:gd name="T17" fmla="*/ 143 h 174"/>
                  <a:gd name="T18" fmla="*/ 81 w 207"/>
                  <a:gd name="T19" fmla="*/ 153 h 174"/>
                  <a:gd name="T20" fmla="*/ 84 w 207"/>
                  <a:gd name="T21" fmla="*/ 157 h 174"/>
                  <a:gd name="T22" fmla="*/ 122 w 207"/>
                  <a:gd name="T23" fmla="*/ 157 h 174"/>
                  <a:gd name="T24" fmla="*/ 126 w 207"/>
                  <a:gd name="T25" fmla="*/ 153 h 174"/>
                  <a:gd name="T26" fmla="*/ 126 w 207"/>
                  <a:gd name="T27" fmla="*/ 143 h 174"/>
                  <a:gd name="T28" fmla="*/ 122 w 207"/>
                  <a:gd name="T29" fmla="*/ 140 h 174"/>
                  <a:gd name="T30" fmla="*/ 119 w 207"/>
                  <a:gd name="T31" fmla="*/ 143 h 174"/>
                  <a:gd name="T32" fmla="*/ 119 w 207"/>
                  <a:gd name="T33" fmla="*/ 150 h 174"/>
                  <a:gd name="T34" fmla="*/ 88 w 207"/>
                  <a:gd name="T35" fmla="*/ 150 h 174"/>
                  <a:gd name="T36" fmla="*/ 88 w 207"/>
                  <a:gd name="T37" fmla="*/ 143 h 174"/>
                  <a:gd name="T38" fmla="*/ 84 w 207"/>
                  <a:gd name="T39" fmla="*/ 140 h 174"/>
                  <a:gd name="T40" fmla="*/ 202 w 207"/>
                  <a:gd name="T41" fmla="*/ 0 h 174"/>
                  <a:gd name="T42" fmla="*/ 5 w 207"/>
                  <a:gd name="T43" fmla="*/ 0 h 174"/>
                  <a:gd name="T44" fmla="*/ 0 w 207"/>
                  <a:gd name="T45" fmla="*/ 5 h 174"/>
                  <a:gd name="T46" fmla="*/ 0 w 207"/>
                  <a:gd name="T47" fmla="*/ 71 h 174"/>
                  <a:gd name="T48" fmla="*/ 10 w 207"/>
                  <a:gd name="T49" fmla="*/ 71 h 174"/>
                  <a:gd name="T50" fmla="*/ 10 w 207"/>
                  <a:gd name="T51" fmla="*/ 10 h 174"/>
                  <a:gd name="T52" fmla="*/ 197 w 207"/>
                  <a:gd name="T53" fmla="*/ 10 h 174"/>
                  <a:gd name="T54" fmla="*/ 197 w 207"/>
                  <a:gd name="T55" fmla="*/ 48 h 174"/>
                  <a:gd name="T56" fmla="*/ 207 w 207"/>
                  <a:gd name="T57" fmla="*/ 48 h 174"/>
                  <a:gd name="T58" fmla="*/ 207 w 207"/>
                  <a:gd name="T59" fmla="*/ 5 h 174"/>
                  <a:gd name="T60" fmla="*/ 202 w 207"/>
                  <a:gd name="T61" fmla="*/ 0 h 174"/>
                  <a:gd name="T62" fmla="*/ 142 w 207"/>
                  <a:gd name="T63" fmla="*/ 123 h 174"/>
                  <a:gd name="T64" fmla="*/ 43 w 207"/>
                  <a:gd name="T65" fmla="*/ 123 h 174"/>
                  <a:gd name="T66" fmla="*/ 43 w 207"/>
                  <a:gd name="T67" fmla="*/ 133 h 174"/>
                  <a:gd name="T68" fmla="*/ 142 w 207"/>
                  <a:gd name="T69" fmla="*/ 133 h 174"/>
                  <a:gd name="T70" fmla="*/ 142 w 207"/>
                  <a:gd name="T71" fmla="*/ 123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7" h="174">
                    <a:moveTo>
                      <a:pt x="141" y="164"/>
                    </a:moveTo>
                    <a:cubicBezTo>
                      <a:pt x="65" y="164"/>
                      <a:pt x="65" y="164"/>
                      <a:pt x="65" y="164"/>
                    </a:cubicBezTo>
                    <a:cubicBezTo>
                      <a:pt x="63" y="164"/>
                      <a:pt x="61" y="167"/>
                      <a:pt x="61" y="169"/>
                    </a:cubicBezTo>
                    <a:cubicBezTo>
                      <a:pt x="61" y="172"/>
                      <a:pt x="63" y="174"/>
                      <a:pt x="65" y="174"/>
                    </a:cubicBezTo>
                    <a:cubicBezTo>
                      <a:pt x="141" y="174"/>
                      <a:pt x="141" y="174"/>
                      <a:pt x="141" y="174"/>
                    </a:cubicBezTo>
                    <a:cubicBezTo>
                      <a:pt x="144" y="174"/>
                      <a:pt x="146" y="172"/>
                      <a:pt x="146" y="169"/>
                    </a:cubicBezTo>
                    <a:cubicBezTo>
                      <a:pt x="146" y="167"/>
                      <a:pt x="144" y="164"/>
                      <a:pt x="141" y="164"/>
                    </a:cubicBezTo>
                    <a:close/>
                    <a:moveTo>
                      <a:pt x="84" y="140"/>
                    </a:moveTo>
                    <a:cubicBezTo>
                      <a:pt x="82" y="140"/>
                      <a:pt x="81" y="141"/>
                      <a:pt x="81" y="143"/>
                    </a:cubicBezTo>
                    <a:cubicBezTo>
                      <a:pt x="81" y="153"/>
                      <a:pt x="81" y="153"/>
                      <a:pt x="81" y="153"/>
                    </a:cubicBezTo>
                    <a:cubicBezTo>
                      <a:pt x="81" y="155"/>
                      <a:pt x="82" y="157"/>
                      <a:pt x="84" y="157"/>
                    </a:cubicBezTo>
                    <a:cubicBezTo>
                      <a:pt x="122" y="157"/>
                      <a:pt x="122" y="157"/>
                      <a:pt x="122" y="157"/>
                    </a:cubicBezTo>
                    <a:cubicBezTo>
                      <a:pt x="124" y="157"/>
                      <a:pt x="126" y="155"/>
                      <a:pt x="126" y="153"/>
                    </a:cubicBezTo>
                    <a:cubicBezTo>
                      <a:pt x="126" y="143"/>
                      <a:pt x="126" y="143"/>
                      <a:pt x="126" y="143"/>
                    </a:cubicBezTo>
                    <a:cubicBezTo>
                      <a:pt x="126" y="141"/>
                      <a:pt x="124" y="140"/>
                      <a:pt x="122" y="140"/>
                    </a:cubicBezTo>
                    <a:cubicBezTo>
                      <a:pt x="120" y="140"/>
                      <a:pt x="119" y="141"/>
                      <a:pt x="119" y="143"/>
                    </a:cubicBezTo>
                    <a:cubicBezTo>
                      <a:pt x="119" y="150"/>
                      <a:pt x="119" y="150"/>
                      <a:pt x="119" y="150"/>
                    </a:cubicBezTo>
                    <a:cubicBezTo>
                      <a:pt x="88" y="150"/>
                      <a:pt x="88" y="150"/>
                      <a:pt x="88" y="150"/>
                    </a:cubicBezTo>
                    <a:cubicBezTo>
                      <a:pt x="88" y="143"/>
                      <a:pt x="88" y="143"/>
                      <a:pt x="88" y="143"/>
                    </a:cubicBezTo>
                    <a:cubicBezTo>
                      <a:pt x="88" y="141"/>
                      <a:pt x="86" y="140"/>
                      <a:pt x="84" y="140"/>
                    </a:cubicBezTo>
                    <a:close/>
                    <a:moveTo>
                      <a:pt x="202" y="0"/>
                    </a:moveTo>
                    <a:cubicBezTo>
                      <a:pt x="5" y="0"/>
                      <a:pt x="5" y="0"/>
                      <a:pt x="5" y="0"/>
                    </a:cubicBezTo>
                    <a:cubicBezTo>
                      <a:pt x="2" y="0"/>
                      <a:pt x="0" y="2"/>
                      <a:pt x="0" y="5"/>
                    </a:cubicBezTo>
                    <a:cubicBezTo>
                      <a:pt x="0" y="71"/>
                      <a:pt x="0" y="71"/>
                      <a:pt x="0" y="71"/>
                    </a:cubicBezTo>
                    <a:cubicBezTo>
                      <a:pt x="10" y="71"/>
                      <a:pt x="10" y="71"/>
                      <a:pt x="10" y="71"/>
                    </a:cubicBezTo>
                    <a:cubicBezTo>
                      <a:pt x="10" y="10"/>
                      <a:pt x="10" y="10"/>
                      <a:pt x="10" y="10"/>
                    </a:cubicBezTo>
                    <a:cubicBezTo>
                      <a:pt x="197" y="10"/>
                      <a:pt x="197" y="10"/>
                      <a:pt x="197" y="10"/>
                    </a:cubicBezTo>
                    <a:cubicBezTo>
                      <a:pt x="197" y="48"/>
                      <a:pt x="197" y="48"/>
                      <a:pt x="197" y="48"/>
                    </a:cubicBezTo>
                    <a:cubicBezTo>
                      <a:pt x="207" y="48"/>
                      <a:pt x="207" y="48"/>
                      <a:pt x="207" y="48"/>
                    </a:cubicBezTo>
                    <a:cubicBezTo>
                      <a:pt x="207" y="5"/>
                      <a:pt x="207" y="5"/>
                      <a:pt x="207" y="5"/>
                    </a:cubicBezTo>
                    <a:cubicBezTo>
                      <a:pt x="207" y="2"/>
                      <a:pt x="204" y="0"/>
                      <a:pt x="202" y="0"/>
                    </a:cubicBezTo>
                    <a:close/>
                    <a:moveTo>
                      <a:pt x="142" y="123"/>
                    </a:moveTo>
                    <a:cubicBezTo>
                      <a:pt x="43" y="123"/>
                      <a:pt x="43" y="123"/>
                      <a:pt x="43" y="123"/>
                    </a:cubicBezTo>
                    <a:cubicBezTo>
                      <a:pt x="43" y="133"/>
                      <a:pt x="43" y="133"/>
                      <a:pt x="43" y="133"/>
                    </a:cubicBezTo>
                    <a:cubicBezTo>
                      <a:pt x="142" y="133"/>
                      <a:pt x="142" y="133"/>
                      <a:pt x="142" y="133"/>
                    </a:cubicBezTo>
                    <a:lnTo>
                      <a:pt x="142"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8" name="Rectangle 275">
                <a:extLst>
                  <a:ext uri="{FF2B5EF4-FFF2-40B4-BE49-F238E27FC236}">
                    <a16:creationId xmlns:a16="http://schemas.microsoft.com/office/drawing/2014/main" id="{2F84F4CF-B77C-4308-9C2A-807070E07061}"/>
                  </a:ext>
                </a:extLst>
              </p:cNvPr>
              <p:cNvSpPr>
                <a:spLocks noChangeArrowheads="1"/>
              </p:cNvSpPr>
              <p:nvPr/>
            </p:nvSpPr>
            <p:spPr bwMode="auto">
              <a:xfrm>
                <a:off x="4947024" y="4368326"/>
                <a:ext cx="84911" cy="1170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19" name="Freeform 276">
                <a:extLst>
                  <a:ext uri="{FF2B5EF4-FFF2-40B4-BE49-F238E27FC236}">
                    <a16:creationId xmlns:a16="http://schemas.microsoft.com/office/drawing/2014/main" id="{21386060-57AB-418C-A107-A395578F5D50}"/>
                  </a:ext>
                </a:extLst>
              </p:cNvPr>
              <p:cNvSpPr>
                <a:spLocks noEditPoints="1"/>
              </p:cNvSpPr>
              <p:nvPr/>
            </p:nvSpPr>
            <p:spPr bwMode="auto">
              <a:xfrm>
                <a:off x="4914861" y="4323941"/>
                <a:ext cx="146665" cy="240582"/>
              </a:xfrm>
              <a:custGeom>
                <a:avLst/>
                <a:gdLst>
                  <a:gd name="T0" fmla="*/ 42 w 50"/>
                  <a:gd name="T1" fmla="*/ 0 h 82"/>
                  <a:gd name="T2" fmla="*/ 8 w 50"/>
                  <a:gd name="T3" fmla="*/ 0 h 82"/>
                  <a:gd name="T4" fmla="*/ 0 w 50"/>
                  <a:gd name="T5" fmla="*/ 8 h 82"/>
                  <a:gd name="T6" fmla="*/ 0 w 50"/>
                  <a:gd name="T7" fmla="*/ 74 h 82"/>
                  <a:gd name="T8" fmla="*/ 8 w 50"/>
                  <a:gd name="T9" fmla="*/ 82 h 82"/>
                  <a:gd name="T10" fmla="*/ 8 w 50"/>
                  <a:gd name="T11" fmla="*/ 82 h 82"/>
                  <a:gd name="T12" fmla="*/ 42 w 50"/>
                  <a:gd name="T13" fmla="*/ 82 h 82"/>
                  <a:gd name="T14" fmla="*/ 50 w 50"/>
                  <a:gd name="T15" fmla="*/ 74 h 82"/>
                  <a:gd name="T16" fmla="*/ 50 w 50"/>
                  <a:gd name="T17" fmla="*/ 8 h 82"/>
                  <a:gd name="T18" fmla="*/ 42 w 50"/>
                  <a:gd name="T19" fmla="*/ 0 h 82"/>
                  <a:gd name="T20" fmla="*/ 47 w 50"/>
                  <a:gd name="T21" fmla="*/ 73 h 82"/>
                  <a:gd name="T22" fmla="*/ 4 w 50"/>
                  <a:gd name="T23" fmla="*/ 73 h 82"/>
                  <a:gd name="T24" fmla="*/ 4 w 50"/>
                  <a:gd name="T25" fmla="*/ 9 h 82"/>
                  <a:gd name="T26" fmla="*/ 47 w 50"/>
                  <a:gd name="T27" fmla="*/ 9 h 82"/>
                  <a:gd name="T28" fmla="*/ 47 w 50"/>
                  <a:gd name="T29" fmla="*/ 7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82">
                    <a:moveTo>
                      <a:pt x="42" y="0"/>
                    </a:moveTo>
                    <a:cubicBezTo>
                      <a:pt x="8" y="0"/>
                      <a:pt x="8" y="0"/>
                      <a:pt x="8" y="0"/>
                    </a:cubicBezTo>
                    <a:cubicBezTo>
                      <a:pt x="4" y="0"/>
                      <a:pt x="0" y="4"/>
                      <a:pt x="0" y="8"/>
                    </a:cubicBezTo>
                    <a:cubicBezTo>
                      <a:pt x="0" y="74"/>
                      <a:pt x="0" y="74"/>
                      <a:pt x="0" y="74"/>
                    </a:cubicBezTo>
                    <a:cubicBezTo>
                      <a:pt x="0" y="78"/>
                      <a:pt x="4" y="82"/>
                      <a:pt x="8" y="82"/>
                    </a:cubicBezTo>
                    <a:cubicBezTo>
                      <a:pt x="8" y="82"/>
                      <a:pt x="8" y="82"/>
                      <a:pt x="8" y="82"/>
                    </a:cubicBezTo>
                    <a:cubicBezTo>
                      <a:pt x="42" y="82"/>
                      <a:pt x="42" y="82"/>
                      <a:pt x="42" y="82"/>
                    </a:cubicBezTo>
                    <a:cubicBezTo>
                      <a:pt x="47" y="82"/>
                      <a:pt x="50" y="78"/>
                      <a:pt x="50" y="74"/>
                    </a:cubicBezTo>
                    <a:cubicBezTo>
                      <a:pt x="50" y="8"/>
                      <a:pt x="50" y="8"/>
                      <a:pt x="50" y="8"/>
                    </a:cubicBezTo>
                    <a:cubicBezTo>
                      <a:pt x="50" y="4"/>
                      <a:pt x="47" y="0"/>
                      <a:pt x="42" y="0"/>
                    </a:cubicBezTo>
                    <a:close/>
                    <a:moveTo>
                      <a:pt x="47" y="73"/>
                    </a:moveTo>
                    <a:cubicBezTo>
                      <a:pt x="4" y="73"/>
                      <a:pt x="4" y="73"/>
                      <a:pt x="4" y="73"/>
                    </a:cubicBezTo>
                    <a:cubicBezTo>
                      <a:pt x="4" y="9"/>
                      <a:pt x="4" y="9"/>
                      <a:pt x="4" y="9"/>
                    </a:cubicBezTo>
                    <a:cubicBezTo>
                      <a:pt x="47" y="9"/>
                      <a:pt x="47" y="9"/>
                      <a:pt x="47" y="9"/>
                    </a:cubicBezTo>
                    <a:lnTo>
                      <a:pt x="47" y="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20" name="Freeform 277">
                <a:extLst>
                  <a:ext uri="{FF2B5EF4-FFF2-40B4-BE49-F238E27FC236}">
                    <a16:creationId xmlns:a16="http://schemas.microsoft.com/office/drawing/2014/main" id="{EFE9E47F-B329-48B0-AC14-CC9884C7D1E9}"/>
                  </a:ext>
                </a:extLst>
              </p:cNvPr>
              <p:cNvSpPr>
                <a:spLocks noEditPoints="1"/>
              </p:cNvSpPr>
              <p:nvPr/>
            </p:nvSpPr>
            <p:spPr bwMode="auto">
              <a:xfrm>
                <a:off x="5020356" y="4165697"/>
                <a:ext cx="483736" cy="246371"/>
              </a:xfrm>
              <a:custGeom>
                <a:avLst/>
                <a:gdLst>
                  <a:gd name="T0" fmla="*/ 39 w 165"/>
                  <a:gd name="T1" fmla="*/ 75 h 84"/>
                  <a:gd name="T2" fmla="*/ 39 w 165"/>
                  <a:gd name="T3" fmla="*/ 62 h 84"/>
                  <a:gd name="T4" fmla="*/ 39 w 165"/>
                  <a:gd name="T5" fmla="*/ 61 h 84"/>
                  <a:gd name="T6" fmla="*/ 38 w 165"/>
                  <a:gd name="T7" fmla="*/ 59 h 84"/>
                  <a:gd name="T8" fmla="*/ 38 w 165"/>
                  <a:gd name="T9" fmla="*/ 59 h 84"/>
                  <a:gd name="T10" fmla="*/ 28 w 165"/>
                  <a:gd name="T11" fmla="*/ 49 h 84"/>
                  <a:gd name="T12" fmla="*/ 28 w 165"/>
                  <a:gd name="T13" fmla="*/ 49 h 84"/>
                  <a:gd name="T14" fmla="*/ 27 w 165"/>
                  <a:gd name="T15" fmla="*/ 42 h 84"/>
                  <a:gd name="T16" fmla="*/ 28 w 165"/>
                  <a:gd name="T17" fmla="*/ 35 h 84"/>
                  <a:gd name="T18" fmla="*/ 28 w 165"/>
                  <a:gd name="T19" fmla="*/ 35 h 84"/>
                  <a:gd name="T20" fmla="*/ 38 w 165"/>
                  <a:gd name="T21" fmla="*/ 25 h 84"/>
                  <a:gd name="T22" fmla="*/ 38 w 165"/>
                  <a:gd name="T23" fmla="*/ 25 h 84"/>
                  <a:gd name="T24" fmla="*/ 39 w 165"/>
                  <a:gd name="T25" fmla="*/ 23 h 84"/>
                  <a:gd name="T26" fmla="*/ 39 w 165"/>
                  <a:gd name="T27" fmla="*/ 22 h 84"/>
                  <a:gd name="T28" fmla="*/ 39 w 165"/>
                  <a:gd name="T29" fmla="*/ 9 h 84"/>
                  <a:gd name="T30" fmla="*/ 47 w 165"/>
                  <a:gd name="T31" fmla="*/ 0 h 84"/>
                  <a:gd name="T32" fmla="*/ 0 w 165"/>
                  <a:gd name="T33" fmla="*/ 0 h 84"/>
                  <a:gd name="T34" fmla="*/ 0 w 165"/>
                  <a:gd name="T35" fmla="*/ 47 h 84"/>
                  <a:gd name="T36" fmla="*/ 6 w 165"/>
                  <a:gd name="T37" fmla="*/ 47 h 84"/>
                  <a:gd name="T38" fmla="*/ 22 w 165"/>
                  <a:gd name="T39" fmla="*/ 62 h 84"/>
                  <a:gd name="T40" fmla="*/ 22 w 165"/>
                  <a:gd name="T41" fmla="*/ 84 h 84"/>
                  <a:gd name="T42" fmla="*/ 47 w 165"/>
                  <a:gd name="T43" fmla="*/ 84 h 84"/>
                  <a:gd name="T44" fmla="*/ 39 w 165"/>
                  <a:gd name="T45" fmla="*/ 75 h 84"/>
                  <a:gd name="T46" fmla="*/ 121 w 165"/>
                  <a:gd name="T47" fmla="*/ 84 h 84"/>
                  <a:gd name="T48" fmla="*/ 121 w 165"/>
                  <a:gd name="T49" fmla="*/ 81 h 84"/>
                  <a:gd name="T50" fmla="*/ 118 w 165"/>
                  <a:gd name="T51" fmla="*/ 84 h 84"/>
                  <a:gd name="T52" fmla="*/ 121 w 165"/>
                  <a:gd name="T53" fmla="*/ 84 h 84"/>
                  <a:gd name="T54" fmla="*/ 118 w 165"/>
                  <a:gd name="T55" fmla="*/ 0 h 84"/>
                  <a:gd name="T56" fmla="*/ 126 w 165"/>
                  <a:gd name="T57" fmla="*/ 9 h 84"/>
                  <a:gd name="T58" fmla="*/ 126 w 165"/>
                  <a:gd name="T59" fmla="*/ 22 h 84"/>
                  <a:gd name="T60" fmla="*/ 125 w 165"/>
                  <a:gd name="T61" fmla="*/ 23 h 84"/>
                  <a:gd name="T62" fmla="*/ 126 w 165"/>
                  <a:gd name="T63" fmla="*/ 25 h 84"/>
                  <a:gd name="T64" fmla="*/ 127 w 165"/>
                  <a:gd name="T65" fmla="*/ 25 h 84"/>
                  <a:gd name="T66" fmla="*/ 131 w 165"/>
                  <a:gd name="T67" fmla="*/ 27 h 84"/>
                  <a:gd name="T68" fmla="*/ 138 w 165"/>
                  <a:gd name="T69" fmla="*/ 24 h 84"/>
                  <a:gd name="T70" fmla="*/ 165 w 165"/>
                  <a:gd name="T71" fmla="*/ 24 h 84"/>
                  <a:gd name="T72" fmla="*/ 165 w 165"/>
                  <a:gd name="T73" fmla="*/ 0 h 84"/>
                  <a:gd name="T74" fmla="*/ 118 w 165"/>
                  <a:gd name="T7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5" h="84">
                    <a:moveTo>
                      <a:pt x="39" y="75"/>
                    </a:moveTo>
                    <a:cubicBezTo>
                      <a:pt x="36" y="71"/>
                      <a:pt x="36" y="66"/>
                      <a:pt x="39" y="62"/>
                    </a:cubicBezTo>
                    <a:cubicBezTo>
                      <a:pt x="39" y="62"/>
                      <a:pt x="39" y="62"/>
                      <a:pt x="39" y="61"/>
                    </a:cubicBezTo>
                    <a:cubicBezTo>
                      <a:pt x="39" y="61"/>
                      <a:pt x="39" y="60"/>
                      <a:pt x="38" y="59"/>
                    </a:cubicBezTo>
                    <a:cubicBezTo>
                      <a:pt x="38" y="59"/>
                      <a:pt x="38" y="59"/>
                      <a:pt x="38" y="59"/>
                    </a:cubicBezTo>
                    <a:cubicBezTo>
                      <a:pt x="33" y="58"/>
                      <a:pt x="29" y="54"/>
                      <a:pt x="28" y="49"/>
                    </a:cubicBezTo>
                    <a:cubicBezTo>
                      <a:pt x="28" y="49"/>
                      <a:pt x="28" y="49"/>
                      <a:pt x="28" y="49"/>
                    </a:cubicBezTo>
                    <a:cubicBezTo>
                      <a:pt x="28" y="47"/>
                      <a:pt x="27" y="44"/>
                      <a:pt x="27" y="42"/>
                    </a:cubicBezTo>
                    <a:cubicBezTo>
                      <a:pt x="27" y="40"/>
                      <a:pt x="28" y="37"/>
                      <a:pt x="28" y="35"/>
                    </a:cubicBezTo>
                    <a:cubicBezTo>
                      <a:pt x="28" y="35"/>
                      <a:pt x="28" y="35"/>
                      <a:pt x="28" y="35"/>
                    </a:cubicBezTo>
                    <a:cubicBezTo>
                      <a:pt x="29" y="30"/>
                      <a:pt x="33" y="26"/>
                      <a:pt x="38" y="25"/>
                    </a:cubicBezTo>
                    <a:cubicBezTo>
                      <a:pt x="38" y="25"/>
                      <a:pt x="38" y="25"/>
                      <a:pt x="38" y="25"/>
                    </a:cubicBezTo>
                    <a:cubicBezTo>
                      <a:pt x="39" y="24"/>
                      <a:pt x="39" y="24"/>
                      <a:pt x="39" y="23"/>
                    </a:cubicBezTo>
                    <a:cubicBezTo>
                      <a:pt x="39" y="23"/>
                      <a:pt x="39" y="22"/>
                      <a:pt x="39" y="22"/>
                    </a:cubicBezTo>
                    <a:cubicBezTo>
                      <a:pt x="36" y="18"/>
                      <a:pt x="36" y="13"/>
                      <a:pt x="39" y="9"/>
                    </a:cubicBezTo>
                    <a:cubicBezTo>
                      <a:pt x="41" y="6"/>
                      <a:pt x="44" y="3"/>
                      <a:pt x="47" y="0"/>
                    </a:cubicBezTo>
                    <a:cubicBezTo>
                      <a:pt x="0" y="0"/>
                      <a:pt x="0" y="0"/>
                      <a:pt x="0" y="0"/>
                    </a:cubicBezTo>
                    <a:cubicBezTo>
                      <a:pt x="0" y="47"/>
                      <a:pt x="0" y="47"/>
                      <a:pt x="0" y="47"/>
                    </a:cubicBezTo>
                    <a:cubicBezTo>
                      <a:pt x="6" y="47"/>
                      <a:pt x="6" y="47"/>
                      <a:pt x="6" y="47"/>
                    </a:cubicBezTo>
                    <a:cubicBezTo>
                      <a:pt x="15" y="47"/>
                      <a:pt x="22" y="54"/>
                      <a:pt x="22" y="62"/>
                    </a:cubicBezTo>
                    <a:cubicBezTo>
                      <a:pt x="22" y="84"/>
                      <a:pt x="22" y="84"/>
                      <a:pt x="22" y="84"/>
                    </a:cubicBezTo>
                    <a:cubicBezTo>
                      <a:pt x="47" y="84"/>
                      <a:pt x="47" y="84"/>
                      <a:pt x="47" y="84"/>
                    </a:cubicBezTo>
                    <a:cubicBezTo>
                      <a:pt x="44" y="81"/>
                      <a:pt x="41" y="78"/>
                      <a:pt x="39" y="75"/>
                    </a:cubicBezTo>
                    <a:close/>
                    <a:moveTo>
                      <a:pt x="121" y="84"/>
                    </a:moveTo>
                    <a:cubicBezTo>
                      <a:pt x="121" y="81"/>
                      <a:pt x="121" y="81"/>
                      <a:pt x="121" y="81"/>
                    </a:cubicBezTo>
                    <a:cubicBezTo>
                      <a:pt x="120" y="82"/>
                      <a:pt x="119" y="83"/>
                      <a:pt x="118" y="84"/>
                    </a:cubicBezTo>
                    <a:lnTo>
                      <a:pt x="121" y="84"/>
                    </a:lnTo>
                    <a:close/>
                    <a:moveTo>
                      <a:pt x="118" y="0"/>
                    </a:moveTo>
                    <a:cubicBezTo>
                      <a:pt x="121" y="3"/>
                      <a:pt x="124" y="6"/>
                      <a:pt x="126" y="9"/>
                    </a:cubicBezTo>
                    <a:cubicBezTo>
                      <a:pt x="129" y="13"/>
                      <a:pt x="129" y="18"/>
                      <a:pt x="126" y="22"/>
                    </a:cubicBezTo>
                    <a:cubicBezTo>
                      <a:pt x="126" y="22"/>
                      <a:pt x="125" y="23"/>
                      <a:pt x="125" y="23"/>
                    </a:cubicBezTo>
                    <a:cubicBezTo>
                      <a:pt x="126" y="24"/>
                      <a:pt x="126" y="24"/>
                      <a:pt x="126" y="25"/>
                    </a:cubicBezTo>
                    <a:cubicBezTo>
                      <a:pt x="127" y="25"/>
                      <a:pt x="127" y="25"/>
                      <a:pt x="127" y="25"/>
                    </a:cubicBezTo>
                    <a:cubicBezTo>
                      <a:pt x="128" y="26"/>
                      <a:pt x="130" y="26"/>
                      <a:pt x="131" y="27"/>
                    </a:cubicBezTo>
                    <a:cubicBezTo>
                      <a:pt x="133" y="25"/>
                      <a:pt x="136" y="24"/>
                      <a:pt x="138" y="24"/>
                    </a:cubicBezTo>
                    <a:cubicBezTo>
                      <a:pt x="165" y="24"/>
                      <a:pt x="165" y="24"/>
                      <a:pt x="165" y="24"/>
                    </a:cubicBezTo>
                    <a:cubicBezTo>
                      <a:pt x="165" y="0"/>
                      <a:pt x="165" y="0"/>
                      <a:pt x="165" y="0"/>
                    </a:cubicBezTo>
                    <a:lnTo>
                      <a:pt x="1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21" name="Freeform 278">
                <a:extLst>
                  <a:ext uri="{FF2B5EF4-FFF2-40B4-BE49-F238E27FC236}">
                    <a16:creationId xmlns:a16="http://schemas.microsoft.com/office/drawing/2014/main" id="{270C43D7-636F-485B-B310-31E848A49848}"/>
                  </a:ext>
                </a:extLst>
              </p:cNvPr>
              <p:cNvSpPr>
                <a:spLocks noEditPoints="1"/>
              </p:cNvSpPr>
              <p:nvPr/>
            </p:nvSpPr>
            <p:spPr bwMode="auto">
              <a:xfrm>
                <a:off x="5213980" y="4239030"/>
                <a:ext cx="96490" cy="99706"/>
              </a:xfrm>
              <a:custGeom>
                <a:avLst/>
                <a:gdLst>
                  <a:gd name="T0" fmla="*/ 16 w 33"/>
                  <a:gd name="T1" fmla="*/ 34 h 34"/>
                  <a:gd name="T2" fmla="*/ 0 w 33"/>
                  <a:gd name="T3" fmla="*/ 17 h 34"/>
                  <a:gd name="T4" fmla="*/ 16 w 33"/>
                  <a:gd name="T5" fmla="*/ 0 h 34"/>
                  <a:gd name="T6" fmla="*/ 33 w 33"/>
                  <a:gd name="T7" fmla="*/ 17 h 34"/>
                  <a:gd name="T8" fmla="*/ 16 w 33"/>
                  <a:gd name="T9" fmla="*/ 34 h 34"/>
                  <a:gd name="T10" fmla="*/ 16 w 33"/>
                  <a:gd name="T11" fmla="*/ 7 h 34"/>
                  <a:gd name="T12" fmla="*/ 6 w 33"/>
                  <a:gd name="T13" fmla="*/ 17 h 34"/>
                  <a:gd name="T14" fmla="*/ 16 w 33"/>
                  <a:gd name="T15" fmla="*/ 27 h 34"/>
                  <a:gd name="T16" fmla="*/ 26 w 33"/>
                  <a:gd name="T17" fmla="*/ 17 h 34"/>
                  <a:gd name="T18" fmla="*/ 16 w 33"/>
                  <a:gd name="T19"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16" y="34"/>
                    </a:moveTo>
                    <a:cubicBezTo>
                      <a:pt x="7" y="34"/>
                      <a:pt x="0" y="26"/>
                      <a:pt x="0" y="17"/>
                    </a:cubicBezTo>
                    <a:cubicBezTo>
                      <a:pt x="0" y="8"/>
                      <a:pt x="7" y="0"/>
                      <a:pt x="16" y="0"/>
                    </a:cubicBezTo>
                    <a:cubicBezTo>
                      <a:pt x="26" y="0"/>
                      <a:pt x="33" y="8"/>
                      <a:pt x="33" y="17"/>
                    </a:cubicBezTo>
                    <a:cubicBezTo>
                      <a:pt x="33" y="26"/>
                      <a:pt x="26" y="34"/>
                      <a:pt x="16" y="34"/>
                    </a:cubicBezTo>
                    <a:close/>
                    <a:moveTo>
                      <a:pt x="16" y="7"/>
                    </a:moveTo>
                    <a:cubicBezTo>
                      <a:pt x="11" y="7"/>
                      <a:pt x="6" y="12"/>
                      <a:pt x="6" y="17"/>
                    </a:cubicBezTo>
                    <a:cubicBezTo>
                      <a:pt x="6" y="23"/>
                      <a:pt x="11" y="27"/>
                      <a:pt x="16" y="27"/>
                    </a:cubicBezTo>
                    <a:cubicBezTo>
                      <a:pt x="22" y="27"/>
                      <a:pt x="26" y="23"/>
                      <a:pt x="26" y="17"/>
                    </a:cubicBezTo>
                    <a:cubicBezTo>
                      <a:pt x="26" y="12"/>
                      <a:pt x="22" y="7"/>
                      <a:pt x="1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sp>
            <p:nvSpPr>
              <p:cNvPr id="22" name="Freeform 279">
                <a:extLst>
                  <a:ext uri="{FF2B5EF4-FFF2-40B4-BE49-F238E27FC236}">
                    <a16:creationId xmlns:a16="http://schemas.microsoft.com/office/drawing/2014/main" id="{2BBBC0AD-FE69-4F6C-A2CB-AF2C533AD685}"/>
                  </a:ext>
                </a:extLst>
              </p:cNvPr>
              <p:cNvSpPr>
                <a:spLocks/>
              </p:cNvSpPr>
              <p:nvPr/>
            </p:nvSpPr>
            <p:spPr bwMode="auto">
              <a:xfrm>
                <a:off x="5123279" y="4148329"/>
                <a:ext cx="260523" cy="281107"/>
              </a:xfrm>
              <a:custGeom>
                <a:avLst/>
                <a:gdLst>
                  <a:gd name="T0" fmla="*/ 85 w 89"/>
                  <a:gd name="T1" fmla="*/ 73 h 96"/>
                  <a:gd name="T2" fmla="*/ 86 w 89"/>
                  <a:gd name="T3" fmla="*/ 59 h 96"/>
                  <a:gd name="T4" fmla="*/ 81 w 89"/>
                  <a:gd name="T5" fmla="*/ 53 h 96"/>
                  <a:gd name="T6" fmla="*/ 75 w 89"/>
                  <a:gd name="T7" fmla="*/ 66 h 96"/>
                  <a:gd name="T8" fmla="*/ 78 w 89"/>
                  <a:gd name="T9" fmla="*/ 75 h 96"/>
                  <a:gd name="T10" fmla="*/ 68 w 89"/>
                  <a:gd name="T11" fmla="*/ 75 h 96"/>
                  <a:gd name="T12" fmla="*/ 54 w 89"/>
                  <a:gd name="T13" fmla="*/ 80 h 96"/>
                  <a:gd name="T14" fmla="*/ 50 w 89"/>
                  <a:gd name="T15" fmla="*/ 89 h 96"/>
                  <a:gd name="T16" fmla="*/ 43 w 89"/>
                  <a:gd name="T17" fmla="*/ 82 h 96"/>
                  <a:gd name="T18" fmla="*/ 29 w 89"/>
                  <a:gd name="T19" fmla="*/ 76 h 96"/>
                  <a:gd name="T20" fmla="*/ 21 w 89"/>
                  <a:gd name="T21" fmla="*/ 79 h 96"/>
                  <a:gd name="T22" fmla="*/ 20 w 89"/>
                  <a:gd name="T23" fmla="*/ 69 h 96"/>
                  <a:gd name="T24" fmla="*/ 15 w 89"/>
                  <a:gd name="T25" fmla="*/ 55 h 96"/>
                  <a:gd name="T26" fmla="*/ 7 w 89"/>
                  <a:gd name="T27" fmla="*/ 51 h 96"/>
                  <a:gd name="T28" fmla="*/ 7 w 89"/>
                  <a:gd name="T29" fmla="*/ 45 h 96"/>
                  <a:gd name="T30" fmla="*/ 15 w 89"/>
                  <a:gd name="T31" fmla="*/ 41 h 96"/>
                  <a:gd name="T32" fmla="*/ 20 w 89"/>
                  <a:gd name="T33" fmla="*/ 28 h 96"/>
                  <a:gd name="T34" fmla="*/ 21 w 89"/>
                  <a:gd name="T35" fmla="*/ 17 h 96"/>
                  <a:gd name="T36" fmla="*/ 29 w 89"/>
                  <a:gd name="T37" fmla="*/ 20 h 96"/>
                  <a:gd name="T38" fmla="*/ 43 w 89"/>
                  <a:gd name="T39" fmla="*/ 14 h 96"/>
                  <a:gd name="T40" fmla="*/ 50 w 89"/>
                  <a:gd name="T41" fmla="*/ 7 h 96"/>
                  <a:gd name="T42" fmla="*/ 54 w 89"/>
                  <a:gd name="T43" fmla="*/ 16 h 96"/>
                  <a:gd name="T44" fmla="*/ 68 w 89"/>
                  <a:gd name="T45" fmla="*/ 21 h 96"/>
                  <a:gd name="T46" fmla="*/ 78 w 89"/>
                  <a:gd name="T47" fmla="*/ 21 h 96"/>
                  <a:gd name="T48" fmla="*/ 75 w 89"/>
                  <a:gd name="T49" fmla="*/ 30 h 96"/>
                  <a:gd name="T50" fmla="*/ 81 w 89"/>
                  <a:gd name="T51" fmla="*/ 43 h 96"/>
                  <a:gd name="T52" fmla="*/ 89 w 89"/>
                  <a:gd name="T53" fmla="*/ 38 h 96"/>
                  <a:gd name="T54" fmla="*/ 82 w 89"/>
                  <a:gd name="T55" fmla="*/ 28 h 96"/>
                  <a:gd name="T56" fmla="*/ 85 w 89"/>
                  <a:gd name="T57" fmla="*/ 19 h 96"/>
                  <a:gd name="T58" fmla="*/ 72 w 89"/>
                  <a:gd name="T59" fmla="*/ 10 h 96"/>
                  <a:gd name="T60" fmla="*/ 67 w 89"/>
                  <a:gd name="T61" fmla="*/ 14 h 96"/>
                  <a:gd name="T62" fmla="*/ 57 w 89"/>
                  <a:gd name="T63" fmla="*/ 4 h 96"/>
                  <a:gd name="T64" fmla="*/ 53 w 89"/>
                  <a:gd name="T65" fmla="*/ 1 h 96"/>
                  <a:gd name="T66" fmla="*/ 41 w 89"/>
                  <a:gd name="T67" fmla="*/ 1 h 96"/>
                  <a:gd name="T68" fmla="*/ 37 w 89"/>
                  <a:gd name="T69" fmla="*/ 10 h 96"/>
                  <a:gd name="T70" fmla="*/ 23 w 89"/>
                  <a:gd name="T71" fmla="*/ 11 h 96"/>
                  <a:gd name="T72" fmla="*/ 19 w 89"/>
                  <a:gd name="T73" fmla="*/ 10 h 96"/>
                  <a:gd name="T74" fmla="*/ 10 w 89"/>
                  <a:gd name="T75" fmla="*/ 24 h 96"/>
                  <a:gd name="T76" fmla="*/ 9 w 89"/>
                  <a:gd name="T77" fmla="*/ 38 h 96"/>
                  <a:gd name="T78" fmla="*/ 0 w 89"/>
                  <a:gd name="T79" fmla="*/ 42 h 96"/>
                  <a:gd name="T80" fmla="*/ 0 w 89"/>
                  <a:gd name="T81" fmla="*/ 48 h 96"/>
                  <a:gd name="T82" fmla="*/ 0 w 89"/>
                  <a:gd name="T83" fmla="*/ 55 h 96"/>
                  <a:gd name="T84" fmla="*/ 9 w 89"/>
                  <a:gd name="T85" fmla="*/ 58 h 96"/>
                  <a:gd name="T86" fmla="*/ 10 w 89"/>
                  <a:gd name="T87" fmla="*/ 73 h 96"/>
                  <a:gd name="T88" fmla="*/ 19 w 89"/>
                  <a:gd name="T89" fmla="*/ 86 h 96"/>
                  <a:gd name="T90" fmla="*/ 23 w 89"/>
                  <a:gd name="T91" fmla="*/ 85 h 96"/>
                  <a:gd name="T92" fmla="*/ 37 w 89"/>
                  <a:gd name="T93" fmla="*/ 87 h 96"/>
                  <a:gd name="T94" fmla="*/ 41 w 89"/>
                  <a:gd name="T95" fmla="*/ 95 h 96"/>
                  <a:gd name="T96" fmla="*/ 47 w 89"/>
                  <a:gd name="T97" fmla="*/ 96 h 96"/>
                  <a:gd name="T98" fmla="*/ 54 w 89"/>
                  <a:gd name="T99" fmla="*/ 95 h 96"/>
                  <a:gd name="T100" fmla="*/ 57 w 89"/>
                  <a:gd name="T101" fmla="*/ 87 h 96"/>
                  <a:gd name="T102" fmla="*/ 71 w 89"/>
                  <a:gd name="T103" fmla="*/ 85 h 96"/>
                  <a:gd name="T104" fmla="*/ 76 w 89"/>
                  <a:gd name="T105" fmla="*/ 86 h 96"/>
                  <a:gd name="T106" fmla="*/ 86 w 89"/>
                  <a:gd name="T107"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9" h="96">
                    <a:moveTo>
                      <a:pt x="86" y="74"/>
                    </a:moveTo>
                    <a:cubicBezTo>
                      <a:pt x="86" y="73"/>
                      <a:pt x="85" y="73"/>
                      <a:pt x="85" y="73"/>
                    </a:cubicBezTo>
                    <a:cubicBezTo>
                      <a:pt x="83" y="70"/>
                      <a:pt x="82" y="69"/>
                      <a:pt x="82" y="68"/>
                    </a:cubicBezTo>
                    <a:cubicBezTo>
                      <a:pt x="83" y="65"/>
                      <a:pt x="85" y="62"/>
                      <a:pt x="86" y="59"/>
                    </a:cubicBezTo>
                    <a:cubicBezTo>
                      <a:pt x="86" y="51"/>
                      <a:pt x="86" y="51"/>
                      <a:pt x="86" y="51"/>
                    </a:cubicBezTo>
                    <a:cubicBezTo>
                      <a:pt x="84" y="52"/>
                      <a:pt x="82" y="52"/>
                      <a:pt x="81" y="53"/>
                    </a:cubicBezTo>
                    <a:cubicBezTo>
                      <a:pt x="80" y="53"/>
                      <a:pt x="80" y="54"/>
                      <a:pt x="80" y="55"/>
                    </a:cubicBezTo>
                    <a:cubicBezTo>
                      <a:pt x="79" y="59"/>
                      <a:pt x="77" y="63"/>
                      <a:pt x="75" y="66"/>
                    </a:cubicBezTo>
                    <a:cubicBezTo>
                      <a:pt x="75" y="67"/>
                      <a:pt x="74" y="68"/>
                      <a:pt x="75" y="69"/>
                    </a:cubicBezTo>
                    <a:cubicBezTo>
                      <a:pt x="75" y="70"/>
                      <a:pt x="75" y="71"/>
                      <a:pt x="78" y="75"/>
                    </a:cubicBezTo>
                    <a:cubicBezTo>
                      <a:pt x="77" y="76"/>
                      <a:pt x="75" y="78"/>
                      <a:pt x="74" y="79"/>
                    </a:cubicBezTo>
                    <a:cubicBezTo>
                      <a:pt x="72" y="77"/>
                      <a:pt x="70" y="76"/>
                      <a:pt x="68" y="75"/>
                    </a:cubicBezTo>
                    <a:cubicBezTo>
                      <a:pt x="67" y="75"/>
                      <a:pt x="66" y="75"/>
                      <a:pt x="65" y="76"/>
                    </a:cubicBezTo>
                    <a:cubicBezTo>
                      <a:pt x="62" y="78"/>
                      <a:pt x="58" y="79"/>
                      <a:pt x="54" y="80"/>
                    </a:cubicBezTo>
                    <a:cubicBezTo>
                      <a:pt x="53" y="81"/>
                      <a:pt x="53" y="81"/>
                      <a:pt x="52" y="82"/>
                    </a:cubicBezTo>
                    <a:cubicBezTo>
                      <a:pt x="51" y="83"/>
                      <a:pt x="51" y="86"/>
                      <a:pt x="50" y="89"/>
                    </a:cubicBezTo>
                    <a:cubicBezTo>
                      <a:pt x="48" y="89"/>
                      <a:pt x="46" y="89"/>
                      <a:pt x="44" y="89"/>
                    </a:cubicBezTo>
                    <a:cubicBezTo>
                      <a:pt x="44" y="86"/>
                      <a:pt x="44" y="83"/>
                      <a:pt x="43" y="82"/>
                    </a:cubicBezTo>
                    <a:cubicBezTo>
                      <a:pt x="42" y="81"/>
                      <a:pt x="41" y="81"/>
                      <a:pt x="40" y="80"/>
                    </a:cubicBezTo>
                    <a:cubicBezTo>
                      <a:pt x="37" y="79"/>
                      <a:pt x="33" y="78"/>
                      <a:pt x="29" y="76"/>
                    </a:cubicBezTo>
                    <a:cubicBezTo>
                      <a:pt x="29" y="75"/>
                      <a:pt x="28" y="75"/>
                      <a:pt x="27" y="75"/>
                    </a:cubicBezTo>
                    <a:cubicBezTo>
                      <a:pt x="25" y="76"/>
                      <a:pt x="23" y="77"/>
                      <a:pt x="21" y="79"/>
                    </a:cubicBezTo>
                    <a:cubicBezTo>
                      <a:pt x="19" y="78"/>
                      <a:pt x="18" y="76"/>
                      <a:pt x="17" y="75"/>
                    </a:cubicBezTo>
                    <a:cubicBezTo>
                      <a:pt x="18" y="73"/>
                      <a:pt x="20" y="70"/>
                      <a:pt x="20" y="69"/>
                    </a:cubicBezTo>
                    <a:cubicBezTo>
                      <a:pt x="20" y="68"/>
                      <a:pt x="20" y="67"/>
                      <a:pt x="20" y="66"/>
                    </a:cubicBezTo>
                    <a:cubicBezTo>
                      <a:pt x="17" y="63"/>
                      <a:pt x="16" y="59"/>
                      <a:pt x="15" y="55"/>
                    </a:cubicBezTo>
                    <a:cubicBezTo>
                      <a:pt x="15" y="54"/>
                      <a:pt x="14" y="53"/>
                      <a:pt x="13" y="53"/>
                    </a:cubicBezTo>
                    <a:cubicBezTo>
                      <a:pt x="12" y="52"/>
                      <a:pt x="9" y="51"/>
                      <a:pt x="7" y="51"/>
                    </a:cubicBezTo>
                    <a:cubicBezTo>
                      <a:pt x="7" y="50"/>
                      <a:pt x="7" y="49"/>
                      <a:pt x="7" y="48"/>
                    </a:cubicBezTo>
                    <a:cubicBezTo>
                      <a:pt x="7" y="47"/>
                      <a:pt x="7" y="46"/>
                      <a:pt x="7" y="45"/>
                    </a:cubicBezTo>
                    <a:cubicBezTo>
                      <a:pt x="10" y="45"/>
                      <a:pt x="12" y="44"/>
                      <a:pt x="13" y="43"/>
                    </a:cubicBezTo>
                    <a:cubicBezTo>
                      <a:pt x="14" y="43"/>
                      <a:pt x="15" y="42"/>
                      <a:pt x="15" y="41"/>
                    </a:cubicBezTo>
                    <a:cubicBezTo>
                      <a:pt x="16" y="37"/>
                      <a:pt x="17" y="34"/>
                      <a:pt x="20" y="30"/>
                    </a:cubicBezTo>
                    <a:cubicBezTo>
                      <a:pt x="20" y="29"/>
                      <a:pt x="20" y="28"/>
                      <a:pt x="20" y="28"/>
                    </a:cubicBezTo>
                    <a:cubicBezTo>
                      <a:pt x="20" y="27"/>
                      <a:pt x="19" y="25"/>
                      <a:pt x="17" y="21"/>
                    </a:cubicBezTo>
                    <a:cubicBezTo>
                      <a:pt x="18" y="20"/>
                      <a:pt x="19" y="19"/>
                      <a:pt x="21" y="17"/>
                    </a:cubicBezTo>
                    <a:cubicBezTo>
                      <a:pt x="23" y="19"/>
                      <a:pt x="25" y="21"/>
                      <a:pt x="27" y="21"/>
                    </a:cubicBezTo>
                    <a:cubicBezTo>
                      <a:pt x="28" y="21"/>
                      <a:pt x="29" y="21"/>
                      <a:pt x="29" y="20"/>
                    </a:cubicBezTo>
                    <a:cubicBezTo>
                      <a:pt x="33" y="18"/>
                      <a:pt x="37" y="17"/>
                      <a:pt x="40" y="16"/>
                    </a:cubicBezTo>
                    <a:cubicBezTo>
                      <a:pt x="41" y="16"/>
                      <a:pt x="42" y="15"/>
                      <a:pt x="43" y="14"/>
                    </a:cubicBezTo>
                    <a:cubicBezTo>
                      <a:pt x="44" y="13"/>
                      <a:pt x="44" y="11"/>
                      <a:pt x="44" y="7"/>
                    </a:cubicBezTo>
                    <a:cubicBezTo>
                      <a:pt x="46" y="7"/>
                      <a:pt x="48" y="7"/>
                      <a:pt x="50" y="7"/>
                    </a:cubicBezTo>
                    <a:cubicBezTo>
                      <a:pt x="51" y="10"/>
                      <a:pt x="51" y="13"/>
                      <a:pt x="52" y="14"/>
                    </a:cubicBezTo>
                    <a:cubicBezTo>
                      <a:pt x="53" y="15"/>
                      <a:pt x="53" y="16"/>
                      <a:pt x="54" y="16"/>
                    </a:cubicBezTo>
                    <a:cubicBezTo>
                      <a:pt x="58" y="17"/>
                      <a:pt x="62" y="18"/>
                      <a:pt x="65" y="20"/>
                    </a:cubicBezTo>
                    <a:cubicBezTo>
                      <a:pt x="66" y="21"/>
                      <a:pt x="67" y="21"/>
                      <a:pt x="68" y="21"/>
                    </a:cubicBezTo>
                    <a:cubicBezTo>
                      <a:pt x="70" y="21"/>
                      <a:pt x="72" y="19"/>
                      <a:pt x="74" y="17"/>
                    </a:cubicBezTo>
                    <a:cubicBezTo>
                      <a:pt x="75" y="19"/>
                      <a:pt x="77" y="20"/>
                      <a:pt x="78" y="21"/>
                    </a:cubicBezTo>
                    <a:cubicBezTo>
                      <a:pt x="75" y="25"/>
                      <a:pt x="75" y="27"/>
                      <a:pt x="75" y="28"/>
                    </a:cubicBezTo>
                    <a:cubicBezTo>
                      <a:pt x="74" y="28"/>
                      <a:pt x="75" y="29"/>
                      <a:pt x="75" y="30"/>
                    </a:cubicBezTo>
                    <a:cubicBezTo>
                      <a:pt x="77" y="34"/>
                      <a:pt x="79" y="37"/>
                      <a:pt x="80" y="41"/>
                    </a:cubicBezTo>
                    <a:cubicBezTo>
                      <a:pt x="80" y="42"/>
                      <a:pt x="80" y="43"/>
                      <a:pt x="81" y="43"/>
                    </a:cubicBezTo>
                    <a:cubicBezTo>
                      <a:pt x="82" y="44"/>
                      <a:pt x="84" y="45"/>
                      <a:pt x="86" y="45"/>
                    </a:cubicBezTo>
                    <a:cubicBezTo>
                      <a:pt x="87" y="43"/>
                      <a:pt x="88" y="40"/>
                      <a:pt x="89" y="38"/>
                    </a:cubicBezTo>
                    <a:cubicBezTo>
                      <a:pt x="88" y="38"/>
                      <a:pt x="87" y="38"/>
                      <a:pt x="86" y="38"/>
                    </a:cubicBezTo>
                    <a:cubicBezTo>
                      <a:pt x="85" y="35"/>
                      <a:pt x="84" y="31"/>
                      <a:pt x="82" y="28"/>
                    </a:cubicBezTo>
                    <a:cubicBezTo>
                      <a:pt x="82" y="27"/>
                      <a:pt x="83" y="26"/>
                      <a:pt x="85" y="24"/>
                    </a:cubicBezTo>
                    <a:cubicBezTo>
                      <a:pt x="86" y="22"/>
                      <a:pt x="86" y="21"/>
                      <a:pt x="85" y="19"/>
                    </a:cubicBezTo>
                    <a:cubicBezTo>
                      <a:pt x="83" y="16"/>
                      <a:pt x="80" y="13"/>
                      <a:pt x="76" y="10"/>
                    </a:cubicBezTo>
                    <a:cubicBezTo>
                      <a:pt x="75" y="9"/>
                      <a:pt x="73" y="9"/>
                      <a:pt x="72" y="10"/>
                    </a:cubicBezTo>
                    <a:cubicBezTo>
                      <a:pt x="71" y="11"/>
                      <a:pt x="71" y="11"/>
                      <a:pt x="71" y="11"/>
                    </a:cubicBezTo>
                    <a:cubicBezTo>
                      <a:pt x="70" y="12"/>
                      <a:pt x="68" y="13"/>
                      <a:pt x="67" y="14"/>
                    </a:cubicBezTo>
                    <a:cubicBezTo>
                      <a:pt x="64" y="12"/>
                      <a:pt x="61" y="11"/>
                      <a:pt x="57" y="10"/>
                    </a:cubicBezTo>
                    <a:cubicBezTo>
                      <a:pt x="57" y="9"/>
                      <a:pt x="57" y="7"/>
                      <a:pt x="57" y="4"/>
                    </a:cubicBezTo>
                    <a:cubicBezTo>
                      <a:pt x="57" y="3"/>
                      <a:pt x="55" y="1"/>
                      <a:pt x="54" y="1"/>
                    </a:cubicBezTo>
                    <a:cubicBezTo>
                      <a:pt x="53" y="1"/>
                      <a:pt x="53" y="1"/>
                      <a:pt x="53" y="1"/>
                    </a:cubicBezTo>
                    <a:cubicBezTo>
                      <a:pt x="49" y="0"/>
                      <a:pt x="45" y="0"/>
                      <a:pt x="42" y="1"/>
                    </a:cubicBezTo>
                    <a:cubicBezTo>
                      <a:pt x="41" y="1"/>
                      <a:pt x="41" y="1"/>
                      <a:pt x="41" y="1"/>
                    </a:cubicBezTo>
                    <a:cubicBezTo>
                      <a:pt x="39" y="1"/>
                      <a:pt x="38" y="3"/>
                      <a:pt x="38" y="4"/>
                    </a:cubicBezTo>
                    <a:cubicBezTo>
                      <a:pt x="38" y="7"/>
                      <a:pt x="37" y="9"/>
                      <a:pt x="37" y="10"/>
                    </a:cubicBezTo>
                    <a:cubicBezTo>
                      <a:pt x="34" y="11"/>
                      <a:pt x="30" y="12"/>
                      <a:pt x="27" y="14"/>
                    </a:cubicBezTo>
                    <a:cubicBezTo>
                      <a:pt x="26" y="13"/>
                      <a:pt x="25" y="12"/>
                      <a:pt x="23" y="11"/>
                    </a:cubicBezTo>
                    <a:cubicBezTo>
                      <a:pt x="23" y="10"/>
                      <a:pt x="23" y="10"/>
                      <a:pt x="23" y="10"/>
                    </a:cubicBezTo>
                    <a:cubicBezTo>
                      <a:pt x="22" y="9"/>
                      <a:pt x="20" y="9"/>
                      <a:pt x="19" y="10"/>
                    </a:cubicBezTo>
                    <a:cubicBezTo>
                      <a:pt x="15" y="13"/>
                      <a:pt x="12" y="16"/>
                      <a:pt x="10" y="19"/>
                    </a:cubicBezTo>
                    <a:cubicBezTo>
                      <a:pt x="9" y="21"/>
                      <a:pt x="9" y="22"/>
                      <a:pt x="10" y="24"/>
                    </a:cubicBezTo>
                    <a:cubicBezTo>
                      <a:pt x="11" y="26"/>
                      <a:pt x="12" y="27"/>
                      <a:pt x="13" y="28"/>
                    </a:cubicBezTo>
                    <a:cubicBezTo>
                      <a:pt x="11" y="31"/>
                      <a:pt x="10" y="35"/>
                      <a:pt x="9" y="38"/>
                    </a:cubicBezTo>
                    <a:cubicBezTo>
                      <a:pt x="8" y="38"/>
                      <a:pt x="6" y="38"/>
                      <a:pt x="3" y="39"/>
                    </a:cubicBezTo>
                    <a:cubicBezTo>
                      <a:pt x="2" y="39"/>
                      <a:pt x="1" y="40"/>
                      <a:pt x="0" y="42"/>
                    </a:cubicBezTo>
                    <a:cubicBezTo>
                      <a:pt x="0" y="42"/>
                      <a:pt x="0" y="42"/>
                      <a:pt x="0" y="42"/>
                    </a:cubicBezTo>
                    <a:cubicBezTo>
                      <a:pt x="0" y="44"/>
                      <a:pt x="0" y="46"/>
                      <a:pt x="0" y="48"/>
                    </a:cubicBezTo>
                    <a:cubicBezTo>
                      <a:pt x="0" y="50"/>
                      <a:pt x="0" y="52"/>
                      <a:pt x="0" y="53"/>
                    </a:cubicBezTo>
                    <a:cubicBezTo>
                      <a:pt x="0" y="55"/>
                      <a:pt x="0" y="55"/>
                      <a:pt x="0" y="55"/>
                    </a:cubicBezTo>
                    <a:cubicBezTo>
                      <a:pt x="1" y="56"/>
                      <a:pt x="2" y="57"/>
                      <a:pt x="4" y="57"/>
                    </a:cubicBezTo>
                    <a:cubicBezTo>
                      <a:pt x="6" y="58"/>
                      <a:pt x="8" y="58"/>
                      <a:pt x="9" y="58"/>
                    </a:cubicBezTo>
                    <a:cubicBezTo>
                      <a:pt x="10" y="62"/>
                      <a:pt x="11" y="65"/>
                      <a:pt x="13" y="68"/>
                    </a:cubicBezTo>
                    <a:cubicBezTo>
                      <a:pt x="12" y="69"/>
                      <a:pt x="11" y="70"/>
                      <a:pt x="10" y="73"/>
                    </a:cubicBezTo>
                    <a:cubicBezTo>
                      <a:pt x="9" y="74"/>
                      <a:pt x="9" y="76"/>
                      <a:pt x="10" y="77"/>
                    </a:cubicBezTo>
                    <a:cubicBezTo>
                      <a:pt x="12" y="80"/>
                      <a:pt x="15" y="83"/>
                      <a:pt x="19" y="86"/>
                    </a:cubicBezTo>
                    <a:cubicBezTo>
                      <a:pt x="20" y="87"/>
                      <a:pt x="22" y="87"/>
                      <a:pt x="23" y="86"/>
                    </a:cubicBezTo>
                    <a:cubicBezTo>
                      <a:pt x="23" y="85"/>
                      <a:pt x="23" y="85"/>
                      <a:pt x="23" y="85"/>
                    </a:cubicBezTo>
                    <a:cubicBezTo>
                      <a:pt x="25" y="84"/>
                      <a:pt x="26" y="83"/>
                      <a:pt x="27" y="82"/>
                    </a:cubicBezTo>
                    <a:cubicBezTo>
                      <a:pt x="30" y="84"/>
                      <a:pt x="34" y="86"/>
                      <a:pt x="37" y="87"/>
                    </a:cubicBezTo>
                    <a:cubicBezTo>
                      <a:pt x="37" y="88"/>
                      <a:pt x="38" y="89"/>
                      <a:pt x="38" y="92"/>
                    </a:cubicBezTo>
                    <a:cubicBezTo>
                      <a:pt x="38" y="94"/>
                      <a:pt x="39" y="95"/>
                      <a:pt x="41" y="95"/>
                    </a:cubicBezTo>
                    <a:cubicBezTo>
                      <a:pt x="42" y="95"/>
                      <a:pt x="42" y="95"/>
                      <a:pt x="42" y="95"/>
                    </a:cubicBezTo>
                    <a:cubicBezTo>
                      <a:pt x="44" y="95"/>
                      <a:pt x="45" y="96"/>
                      <a:pt x="47" y="96"/>
                    </a:cubicBezTo>
                    <a:cubicBezTo>
                      <a:pt x="49" y="96"/>
                      <a:pt x="51" y="95"/>
                      <a:pt x="53" y="95"/>
                    </a:cubicBezTo>
                    <a:cubicBezTo>
                      <a:pt x="54" y="95"/>
                      <a:pt x="54" y="95"/>
                      <a:pt x="54" y="95"/>
                    </a:cubicBezTo>
                    <a:cubicBezTo>
                      <a:pt x="55" y="95"/>
                      <a:pt x="57" y="94"/>
                      <a:pt x="57" y="92"/>
                    </a:cubicBezTo>
                    <a:cubicBezTo>
                      <a:pt x="57" y="89"/>
                      <a:pt x="57" y="87"/>
                      <a:pt x="57" y="87"/>
                    </a:cubicBezTo>
                    <a:cubicBezTo>
                      <a:pt x="61" y="86"/>
                      <a:pt x="64" y="84"/>
                      <a:pt x="67" y="82"/>
                    </a:cubicBezTo>
                    <a:cubicBezTo>
                      <a:pt x="68" y="83"/>
                      <a:pt x="70" y="84"/>
                      <a:pt x="71" y="85"/>
                    </a:cubicBezTo>
                    <a:cubicBezTo>
                      <a:pt x="72" y="86"/>
                      <a:pt x="72" y="86"/>
                      <a:pt x="72" y="86"/>
                    </a:cubicBezTo>
                    <a:cubicBezTo>
                      <a:pt x="73" y="87"/>
                      <a:pt x="75" y="87"/>
                      <a:pt x="76" y="86"/>
                    </a:cubicBezTo>
                    <a:cubicBezTo>
                      <a:pt x="79" y="83"/>
                      <a:pt x="83" y="80"/>
                      <a:pt x="85" y="77"/>
                    </a:cubicBezTo>
                    <a:cubicBezTo>
                      <a:pt x="85" y="77"/>
                      <a:pt x="86" y="76"/>
                      <a:pt x="86" y="76"/>
                    </a:cubicBezTo>
                    <a:lnTo>
                      <a:pt x="86"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a:solidFill>
                    <a:prstClr val="black"/>
                  </a:solidFill>
                  <a:latin typeface="Verdana"/>
                </a:endParaRPr>
              </a:p>
            </p:txBody>
          </p:sp>
        </p:grpSp>
      </p:grpSp>
      <p:grpSp>
        <p:nvGrpSpPr>
          <p:cNvPr id="23" name="Group 22">
            <a:extLst>
              <a:ext uri="{FF2B5EF4-FFF2-40B4-BE49-F238E27FC236}">
                <a16:creationId xmlns:a16="http://schemas.microsoft.com/office/drawing/2014/main" id="{3138D777-7A29-424D-9A1F-B98C9CD689F5}"/>
              </a:ext>
            </a:extLst>
          </p:cNvPr>
          <p:cNvGrpSpPr/>
          <p:nvPr/>
        </p:nvGrpSpPr>
        <p:grpSpPr>
          <a:xfrm>
            <a:off x="1224371" y="1798976"/>
            <a:ext cx="2544998" cy="2310958"/>
            <a:chOff x="383006" y="2483503"/>
            <a:chExt cx="4124859" cy="3831980"/>
          </a:xfrm>
        </p:grpSpPr>
        <p:grpSp>
          <p:nvGrpSpPr>
            <p:cNvPr id="24" name="Group 23">
              <a:extLst>
                <a:ext uri="{FF2B5EF4-FFF2-40B4-BE49-F238E27FC236}">
                  <a16:creationId xmlns:a16="http://schemas.microsoft.com/office/drawing/2014/main" id="{AD1A9778-D6C4-4414-B616-6A2A939B46C4}"/>
                </a:ext>
              </a:extLst>
            </p:cNvPr>
            <p:cNvGrpSpPr/>
            <p:nvPr/>
          </p:nvGrpSpPr>
          <p:grpSpPr>
            <a:xfrm>
              <a:off x="1937268" y="2737620"/>
              <a:ext cx="1100760" cy="1134310"/>
              <a:chOff x="5104468" y="1364366"/>
              <a:chExt cx="1562659" cy="1605533"/>
            </a:xfrm>
          </p:grpSpPr>
          <p:sp>
            <p:nvSpPr>
              <p:cNvPr id="50" name="Block Arc 49">
                <a:extLst>
                  <a:ext uri="{FF2B5EF4-FFF2-40B4-BE49-F238E27FC236}">
                    <a16:creationId xmlns:a16="http://schemas.microsoft.com/office/drawing/2014/main" id="{53B2E3A2-6E55-4FCA-B949-611C723E92D4}"/>
                  </a:ext>
                </a:extLst>
              </p:cNvPr>
              <p:cNvSpPr/>
              <p:nvPr/>
            </p:nvSpPr>
            <p:spPr bwMode="gray">
              <a:xfrm rot="10800000">
                <a:off x="5247569" y="1511393"/>
                <a:ext cx="1276456" cy="1311477"/>
              </a:xfrm>
              <a:prstGeom prst="blockArc">
                <a:avLst>
                  <a:gd name="adj1" fmla="val 19230586"/>
                  <a:gd name="adj2" fmla="val 13033067"/>
                  <a:gd name="adj3" fmla="val 1857"/>
                </a:avLst>
              </a:prstGeom>
              <a:solidFill>
                <a:schemeClr val="accent4"/>
              </a:solidFill>
              <a:ln w="19050" algn="ctr">
                <a:no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51" name="Block Arc 50">
                <a:extLst>
                  <a:ext uri="{FF2B5EF4-FFF2-40B4-BE49-F238E27FC236}">
                    <a16:creationId xmlns:a16="http://schemas.microsoft.com/office/drawing/2014/main" id="{0F742C1C-CF97-4316-B9EE-AAC5E2B9F2A7}"/>
                  </a:ext>
                </a:extLst>
              </p:cNvPr>
              <p:cNvSpPr/>
              <p:nvPr/>
            </p:nvSpPr>
            <p:spPr bwMode="gray">
              <a:xfrm>
                <a:off x="5169194" y="1430866"/>
                <a:ext cx="1433206" cy="1472532"/>
              </a:xfrm>
              <a:prstGeom prst="blockArc">
                <a:avLst>
                  <a:gd name="adj1" fmla="val 19230586"/>
                  <a:gd name="adj2" fmla="val 13149094"/>
                  <a:gd name="adj3" fmla="val 1522"/>
                </a:avLst>
              </a:prstGeom>
              <a:solidFill>
                <a:schemeClr val="accent4"/>
              </a:solidFill>
              <a:ln w="19050" algn="ctr">
                <a:no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52" name="Oval 51">
                <a:extLst>
                  <a:ext uri="{FF2B5EF4-FFF2-40B4-BE49-F238E27FC236}">
                    <a16:creationId xmlns:a16="http://schemas.microsoft.com/office/drawing/2014/main" id="{FAC2860A-337D-46E8-AB9E-7F6045DDB974}"/>
                  </a:ext>
                </a:extLst>
              </p:cNvPr>
              <p:cNvSpPr/>
              <p:nvPr/>
            </p:nvSpPr>
            <p:spPr bwMode="gray">
              <a:xfrm rot="10800000">
                <a:off x="5104468" y="1364366"/>
                <a:ext cx="1562659" cy="1605533"/>
              </a:xfrm>
              <a:prstGeom prst="ellipse">
                <a:avLst/>
              </a:prstGeom>
              <a:noFill/>
              <a:ln w="19050" algn="ctr">
                <a:solidFill>
                  <a:schemeClr val="accent4"/>
                </a:solidFill>
                <a:prstDash val="dashDot"/>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53" name="Oval 52">
                <a:hlinkClick r:id="" action="ppaction://noaction"/>
                <a:extLst>
                  <a:ext uri="{FF2B5EF4-FFF2-40B4-BE49-F238E27FC236}">
                    <a16:creationId xmlns:a16="http://schemas.microsoft.com/office/drawing/2014/main" id="{F257C5D5-F37F-4B4E-AB89-4732C12EF0FC}"/>
                  </a:ext>
                </a:extLst>
              </p:cNvPr>
              <p:cNvSpPr/>
              <p:nvPr/>
            </p:nvSpPr>
            <p:spPr bwMode="gray">
              <a:xfrm>
                <a:off x="5352992" y="1622826"/>
                <a:ext cx="1065605" cy="1094842"/>
              </a:xfrm>
              <a:prstGeom prst="ellipse">
                <a:avLst/>
              </a:prstGeom>
              <a:solidFill>
                <a:schemeClr val="accent4"/>
              </a:solidFill>
              <a:ln w="19050" algn="ctr">
                <a:noFill/>
                <a:miter lim="800000"/>
                <a:headEnd/>
                <a:tailEnd/>
              </a:ln>
            </p:spPr>
            <p:txBody>
              <a:bodyPr wrap="none" lIns="0" tIns="60614" rIns="0" bIns="60614" rtlCol="0" anchor="ctr"/>
              <a:lstStyle/>
              <a:p>
                <a:pPr algn="ctr" defTabSz="623438">
                  <a:lnSpc>
                    <a:spcPct val="106000"/>
                  </a:lnSpc>
                  <a:defRPr/>
                </a:pPr>
                <a:endParaRPr lang="en-US" sz="341" b="1" dirty="0">
                  <a:solidFill>
                    <a:prstClr val="white"/>
                  </a:solidFill>
                  <a:latin typeface="Verdana"/>
                </a:endParaRPr>
              </a:p>
            </p:txBody>
          </p:sp>
          <p:sp>
            <p:nvSpPr>
              <p:cNvPr id="54" name="Freeform 54">
                <a:hlinkClick r:id="" action="ppaction://noaction"/>
                <a:extLst>
                  <a:ext uri="{FF2B5EF4-FFF2-40B4-BE49-F238E27FC236}">
                    <a16:creationId xmlns:a16="http://schemas.microsoft.com/office/drawing/2014/main" id="{B37A0307-A721-4D3C-8128-C7E97BE4009C}"/>
                  </a:ext>
                </a:extLst>
              </p:cNvPr>
              <p:cNvSpPr>
                <a:spLocks noChangeAspect="1" noEditPoints="1"/>
              </p:cNvSpPr>
              <p:nvPr/>
            </p:nvSpPr>
            <p:spPr bwMode="auto">
              <a:xfrm>
                <a:off x="5601288" y="1944981"/>
                <a:ext cx="613197" cy="444299"/>
              </a:xfrm>
              <a:custGeom>
                <a:avLst/>
                <a:gdLst>
                  <a:gd name="T0" fmla="*/ 560 w 588"/>
                  <a:gd name="T1" fmla="*/ 233 h 408"/>
                  <a:gd name="T2" fmla="*/ 560 w 588"/>
                  <a:gd name="T3" fmla="*/ 257 h 408"/>
                  <a:gd name="T4" fmla="*/ 560 w 588"/>
                  <a:gd name="T5" fmla="*/ 233 h 408"/>
                  <a:gd name="T6" fmla="*/ 560 w 588"/>
                  <a:gd name="T7" fmla="*/ 324 h 408"/>
                  <a:gd name="T8" fmla="*/ 560 w 588"/>
                  <a:gd name="T9" fmla="*/ 348 h 408"/>
                  <a:gd name="T10" fmla="*/ 560 w 588"/>
                  <a:gd name="T11" fmla="*/ 324 h 408"/>
                  <a:gd name="T12" fmla="*/ 27 w 588"/>
                  <a:gd name="T13" fmla="*/ 348 h 408"/>
                  <a:gd name="T14" fmla="*/ 27 w 588"/>
                  <a:gd name="T15" fmla="*/ 324 h 408"/>
                  <a:gd name="T16" fmla="*/ 27 w 588"/>
                  <a:gd name="T17" fmla="*/ 348 h 408"/>
                  <a:gd name="T18" fmla="*/ 27 w 588"/>
                  <a:gd name="T19" fmla="*/ 257 h 408"/>
                  <a:gd name="T20" fmla="*/ 27 w 588"/>
                  <a:gd name="T21" fmla="*/ 233 h 408"/>
                  <a:gd name="T22" fmla="*/ 27 w 588"/>
                  <a:gd name="T23" fmla="*/ 257 h 408"/>
                  <a:gd name="T24" fmla="*/ 27 w 588"/>
                  <a:gd name="T25" fmla="*/ 166 h 408"/>
                  <a:gd name="T26" fmla="*/ 27 w 588"/>
                  <a:gd name="T27" fmla="*/ 141 h 408"/>
                  <a:gd name="T28" fmla="*/ 27 w 588"/>
                  <a:gd name="T29" fmla="*/ 166 h 408"/>
                  <a:gd name="T30" fmla="*/ 27 w 588"/>
                  <a:gd name="T31" fmla="*/ 75 h 408"/>
                  <a:gd name="T32" fmla="*/ 27 w 588"/>
                  <a:gd name="T33" fmla="*/ 50 h 408"/>
                  <a:gd name="T34" fmla="*/ 27 w 588"/>
                  <a:gd name="T35" fmla="*/ 75 h 408"/>
                  <a:gd name="T36" fmla="*/ 560 w 588"/>
                  <a:gd name="T37" fmla="*/ 50 h 408"/>
                  <a:gd name="T38" fmla="*/ 560 w 588"/>
                  <a:gd name="T39" fmla="*/ 75 h 408"/>
                  <a:gd name="T40" fmla="*/ 560 w 588"/>
                  <a:gd name="T41" fmla="*/ 50 h 408"/>
                  <a:gd name="T42" fmla="*/ 560 w 588"/>
                  <a:gd name="T43" fmla="*/ 141 h 408"/>
                  <a:gd name="T44" fmla="*/ 560 w 588"/>
                  <a:gd name="T45" fmla="*/ 166 h 408"/>
                  <a:gd name="T46" fmla="*/ 560 w 588"/>
                  <a:gd name="T47" fmla="*/ 141 h 408"/>
                  <a:gd name="T48" fmla="*/ 535 w 588"/>
                  <a:gd name="T49" fmla="*/ 166 h 408"/>
                  <a:gd name="T50" fmla="*/ 588 w 588"/>
                  <a:gd name="T51" fmla="*/ 154 h 408"/>
                  <a:gd name="T52" fmla="*/ 535 w 588"/>
                  <a:gd name="T53" fmla="*/ 141 h 408"/>
                  <a:gd name="T54" fmla="*/ 501 w 588"/>
                  <a:gd name="T55" fmla="*/ 75 h 408"/>
                  <a:gd name="T56" fmla="*/ 560 w 588"/>
                  <a:gd name="T57" fmla="*/ 90 h 408"/>
                  <a:gd name="T58" fmla="*/ 560 w 588"/>
                  <a:gd name="T59" fmla="*/ 35 h 408"/>
                  <a:gd name="T60" fmla="*/ 501 w 588"/>
                  <a:gd name="T61" fmla="*/ 50 h 408"/>
                  <a:gd name="T62" fmla="*/ 450 w 588"/>
                  <a:gd name="T63" fmla="*/ 0 h 408"/>
                  <a:gd name="T64" fmla="*/ 86 w 588"/>
                  <a:gd name="T65" fmla="*/ 50 h 408"/>
                  <a:gd name="T66" fmla="*/ 52 w 588"/>
                  <a:gd name="T67" fmla="*/ 50 h 408"/>
                  <a:gd name="T68" fmla="*/ 0 w 588"/>
                  <a:gd name="T69" fmla="*/ 62 h 408"/>
                  <a:gd name="T70" fmla="*/ 52 w 588"/>
                  <a:gd name="T71" fmla="*/ 75 h 408"/>
                  <a:gd name="T72" fmla="*/ 86 w 588"/>
                  <a:gd name="T73" fmla="*/ 141 h 408"/>
                  <a:gd name="T74" fmla="*/ 27 w 588"/>
                  <a:gd name="T75" fmla="*/ 126 h 408"/>
                  <a:gd name="T76" fmla="*/ 27 w 588"/>
                  <a:gd name="T77" fmla="*/ 181 h 408"/>
                  <a:gd name="T78" fmla="*/ 86 w 588"/>
                  <a:gd name="T79" fmla="*/ 166 h 408"/>
                  <a:gd name="T80" fmla="*/ 52 w 588"/>
                  <a:gd name="T81" fmla="*/ 232 h 408"/>
                  <a:gd name="T82" fmla="*/ 0 w 588"/>
                  <a:gd name="T83" fmla="*/ 245 h 408"/>
                  <a:gd name="T84" fmla="*/ 52 w 588"/>
                  <a:gd name="T85" fmla="*/ 257 h 408"/>
                  <a:gd name="T86" fmla="*/ 86 w 588"/>
                  <a:gd name="T87" fmla="*/ 323 h 408"/>
                  <a:gd name="T88" fmla="*/ 27 w 588"/>
                  <a:gd name="T89" fmla="*/ 308 h 408"/>
                  <a:gd name="T90" fmla="*/ 27 w 588"/>
                  <a:gd name="T91" fmla="*/ 364 h 408"/>
                  <a:gd name="T92" fmla="*/ 86 w 588"/>
                  <a:gd name="T93" fmla="*/ 348 h 408"/>
                  <a:gd name="T94" fmla="*/ 91 w 588"/>
                  <a:gd name="T95" fmla="*/ 381 h 408"/>
                  <a:gd name="T96" fmla="*/ 218 w 588"/>
                  <a:gd name="T97" fmla="*/ 148 h 408"/>
                  <a:gd name="T98" fmla="*/ 350 w 588"/>
                  <a:gd name="T99" fmla="*/ 130 h 408"/>
                  <a:gd name="T100" fmla="*/ 368 w 588"/>
                  <a:gd name="T101" fmla="*/ 260 h 408"/>
                  <a:gd name="T102" fmla="*/ 244 w 588"/>
                  <a:gd name="T103" fmla="*/ 278 h 408"/>
                  <a:gd name="T104" fmla="*/ 136 w 588"/>
                  <a:gd name="T105" fmla="*/ 408 h 408"/>
                  <a:gd name="T106" fmla="*/ 501 w 588"/>
                  <a:gd name="T107" fmla="*/ 358 h 408"/>
                  <a:gd name="T108" fmla="*/ 535 w 588"/>
                  <a:gd name="T109" fmla="*/ 348 h 408"/>
                  <a:gd name="T110" fmla="*/ 588 w 588"/>
                  <a:gd name="T111" fmla="*/ 336 h 408"/>
                  <a:gd name="T112" fmla="*/ 535 w 588"/>
                  <a:gd name="T113" fmla="*/ 323 h 408"/>
                  <a:gd name="T114" fmla="*/ 501 w 588"/>
                  <a:gd name="T115" fmla="*/ 257 h 408"/>
                  <a:gd name="T116" fmla="*/ 560 w 588"/>
                  <a:gd name="T117" fmla="*/ 273 h 408"/>
                  <a:gd name="T118" fmla="*/ 560 w 588"/>
                  <a:gd name="T119" fmla="*/ 217 h 408"/>
                  <a:gd name="T120" fmla="*/ 501 w 588"/>
                  <a:gd name="T121" fmla="*/ 232 h 408"/>
                  <a:gd name="T122" fmla="*/ 535 w 588"/>
                  <a:gd name="T123" fmla="*/ 166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88" h="408">
                    <a:moveTo>
                      <a:pt x="560" y="233"/>
                    </a:moveTo>
                    <a:lnTo>
                      <a:pt x="560" y="233"/>
                    </a:lnTo>
                    <a:cubicBezTo>
                      <a:pt x="567" y="233"/>
                      <a:pt x="572" y="238"/>
                      <a:pt x="572" y="245"/>
                    </a:cubicBezTo>
                    <a:cubicBezTo>
                      <a:pt x="572" y="252"/>
                      <a:pt x="567" y="257"/>
                      <a:pt x="560" y="257"/>
                    </a:cubicBezTo>
                    <a:cubicBezTo>
                      <a:pt x="553" y="257"/>
                      <a:pt x="548" y="252"/>
                      <a:pt x="548" y="245"/>
                    </a:cubicBezTo>
                    <a:cubicBezTo>
                      <a:pt x="548" y="238"/>
                      <a:pt x="553" y="233"/>
                      <a:pt x="560" y="233"/>
                    </a:cubicBezTo>
                    <a:close/>
                    <a:moveTo>
                      <a:pt x="560" y="324"/>
                    </a:moveTo>
                    <a:lnTo>
                      <a:pt x="560" y="324"/>
                    </a:lnTo>
                    <a:cubicBezTo>
                      <a:pt x="567" y="324"/>
                      <a:pt x="572" y="329"/>
                      <a:pt x="572" y="336"/>
                    </a:cubicBezTo>
                    <a:cubicBezTo>
                      <a:pt x="572" y="343"/>
                      <a:pt x="567" y="348"/>
                      <a:pt x="560" y="348"/>
                    </a:cubicBezTo>
                    <a:cubicBezTo>
                      <a:pt x="553" y="348"/>
                      <a:pt x="548" y="343"/>
                      <a:pt x="548" y="336"/>
                    </a:cubicBezTo>
                    <a:cubicBezTo>
                      <a:pt x="548" y="329"/>
                      <a:pt x="553" y="324"/>
                      <a:pt x="560" y="324"/>
                    </a:cubicBezTo>
                    <a:close/>
                    <a:moveTo>
                      <a:pt x="27" y="348"/>
                    </a:moveTo>
                    <a:lnTo>
                      <a:pt x="27" y="348"/>
                    </a:lnTo>
                    <a:cubicBezTo>
                      <a:pt x="20" y="348"/>
                      <a:pt x="15" y="343"/>
                      <a:pt x="15" y="336"/>
                    </a:cubicBezTo>
                    <a:cubicBezTo>
                      <a:pt x="15" y="329"/>
                      <a:pt x="20" y="324"/>
                      <a:pt x="27" y="324"/>
                    </a:cubicBezTo>
                    <a:cubicBezTo>
                      <a:pt x="34" y="324"/>
                      <a:pt x="39" y="329"/>
                      <a:pt x="39" y="336"/>
                    </a:cubicBezTo>
                    <a:cubicBezTo>
                      <a:pt x="39" y="343"/>
                      <a:pt x="34" y="348"/>
                      <a:pt x="27" y="348"/>
                    </a:cubicBezTo>
                    <a:close/>
                    <a:moveTo>
                      <a:pt x="27" y="257"/>
                    </a:moveTo>
                    <a:lnTo>
                      <a:pt x="27" y="257"/>
                    </a:lnTo>
                    <a:cubicBezTo>
                      <a:pt x="20" y="257"/>
                      <a:pt x="15" y="252"/>
                      <a:pt x="15" y="245"/>
                    </a:cubicBezTo>
                    <a:cubicBezTo>
                      <a:pt x="15" y="238"/>
                      <a:pt x="20" y="233"/>
                      <a:pt x="27" y="233"/>
                    </a:cubicBezTo>
                    <a:cubicBezTo>
                      <a:pt x="34" y="233"/>
                      <a:pt x="39" y="238"/>
                      <a:pt x="39" y="245"/>
                    </a:cubicBezTo>
                    <a:cubicBezTo>
                      <a:pt x="39" y="252"/>
                      <a:pt x="34" y="257"/>
                      <a:pt x="27" y="257"/>
                    </a:cubicBezTo>
                    <a:close/>
                    <a:moveTo>
                      <a:pt x="27" y="166"/>
                    </a:moveTo>
                    <a:lnTo>
                      <a:pt x="27" y="166"/>
                    </a:lnTo>
                    <a:cubicBezTo>
                      <a:pt x="20" y="166"/>
                      <a:pt x="15" y="160"/>
                      <a:pt x="15" y="154"/>
                    </a:cubicBezTo>
                    <a:cubicBezTo>
                      <a:pt x="15" y="147"/>
                      <a:pt x="20" y="141"/>
                      <a:pt x="27" y="141"/>
                    </a:cubicBezTo>
                    <a:cubicBezTo>
                      <a:pt x="34" y="141"/>
                      <a:pt x="39" y="147"/>
                      <a:pt x="39" y="154"/>
                    </a:cubicBezTo>
                    <a:cubicBezTo>
                      <a:pt x="39" y="160"/>
                      <a:pt x="34" y="166"/>
                      <a:pt x="27" y="166"/>
                    </a:cubicBezTo>
                    <a:close/>
                    <a:moveTo>
                      <a:pt x="27" y="75"/>
                    </a:moveTo>
                    <a:lnTo>
                      <a:pt x="27" y="75"/>
                    </a:lnTo>
                    <a:cubicBezTo>
                      <a:pt x="20" y="75"/>
                      <a:pt x="15" y="69"/>
                      <a:pt x="15" y="62"/>
                    </a:cubicBezTo>
                    <a:cubicBezTo>
                      <a:pt x="15" y="56"/>
                      <a:pt x="20" y="50"/>
                      <a:pt x="27" y="50"/>
                    </a:cubicBezTo>
                    <a:cubicBezTo>
                      <a:pt x="34" y="50"/>
                      <a:pt x="39" y="56"/>
                      <a:pt x="39" y="62"/>
                    </a:cubicBezTo>
                    <a:cubicBezTo>
                      <a:pt x="39" y="69"/>
                      <a:pt x="34" y="75"/>
                      <a:pt x="27" y="75"/>
                    </a:cubicBezTo>
                    <a:close/>
                    <a:moveTo>
                      <a:pt x="560" y="50"/>
                    </a:moveTo>
                    <a:lnTo>
                      <a:pt x="560" y="50"/>
                    </a:lnTo>
                    <a:cubicBezTo>
                      <a:pt x="567" y="50"/>
                      <a:pt x="572" y="56"/>
                      <a:pt x="572" y="62"/>
                    </a:cubicBezTo>
                    <a:cubicBezTo>
                      <a:pt x="572" y="69"/>
                      <a:pt x="567" y="75"/>
                      <a:pt x="560" y="75"/>
                    </a:cubicBezTo>
                    <a:cubicBezTo>
                      <a:pt x="553" y="75"/>
                      <a:pt x="548" y="69"/>
                      <a:pt x="548" y="62"/>
                    </a:cubicBezTo>
                    <a:cubicBezTo>
                      <a:pt x="548" y="56"/>
                      <a:pt x="553" y="50"/>
                      <a:pt x="560" y="50"/>
                    </a:cubicBezTo>
                    <a:close/>
                    <a:moveTo>
                      <a:pt x="560" y="141"/>
                    </a:moveTo>
                    <a:lnTo>
                      <a:pt x="560" y="141"/>
                    </a:lnTo>
                    <a:cubicBezTo>
                      <a:pt x="567" y="141"/>
                      <a:pt x="572" y="147"/>
                      <a:pt x="572" y="154"/>
                    </a:cubicBezTo>
                    <a:cubicBezTo>
                      <a:pt x="572" y="160"/>
                      <a:pt x="567" y="166"/>
                      <a:pt x="560" y="166"/>
                    </a:cubicBezTo>
                    <a:cubicBezTo>
                      <a:pt x="553" y="166"/>
                      <a:pt x="548" y="160"/>
                      <a:pt x="548" y="154"/>
                    </a:cubicBezTo>
                    <a:cubicBezTo>
                      <a:pt x="548" y="147"/>
                      <a:pt x="553" y="141"/>
                      <a:pt x="560" y="141"/>
                    </a:cubicBezTo>
                    <a:close/>
                    <a:moveTo>
                      <a:pt x="535" y="166"/>
                    </a:moveTo>
                    <a:lnTo>
                      <a:pt x="535" y="166"/>
                    </a:lnTo>
                    <a:cubicBezTo>
                      <a:pt x="540" y="175"/>
                      <a:pt x="549" y="181"/>
                      <a:pt x="560" y="181"/>
                    </a:cubicBezTo>
                    <a:cubicBezTo>
                      <a:pt x="575" y="181"/>
                      <a:pt x="588" y="169"/>
                      <a:pt x="588" y="154"/>
                    </a:cubicBezTo>
                    <a:cubicBezTo>
                      <a:pt x="588" y="138"/>
                      <a:pt x="575" y="126"/>
                      <a:pt x="560" y="126"/>
                    </a:cubicBezTo>
                    <a:cubicBezTo>
                      <a:pt x="549" y="126"/>
                      <a:pt x="540" y="132"/>
                      <a:pt x="535" y="141"/>
                    </a:cubicBezTo>
                    <a:lnTo>
                      <a:pt x="501" y="141"/>
                    </a:lnTo>
                    <a:lnTo>
                      <a:pt x="501" y="75"/>
                    </a:lnTo>
                    <a:lnTo>
                      <a:pt x="535" y="75"/>
                    </a:lnTo>
                    <a:cubicBezTo>
                      <a:pt x="540" y="84"/>
                      <a:pt x="549" y="90"/>
                      <a:pt x="560" y="90"/>
                    </a:cubicBezTo>
                    <a:cubicBezTo>
                      <a:pt x="575" y="90"/>
                      <a:pt x="588" y="78"/>
                      <a:pt x="588" y="62"/>
                    </a:cubicBezTo>
                    <a:cubicBezTo>
                      <a:pt x="588" y="47"/>
                      <a:pt x="575" y="35"/>
                      <a:pt x="560" y="35"/>
                    </a:cubicBezTo>
                    <a:cubicBezTo>
                      <a:pt x="549" y="35"/>
                      <a:pt x="540" y="41"/>
                      <a:pt x="535" y="50"/>
                    </a:cubicBezTo>
                    <a:lnTo>
                      <a:pt x="501" y="50"/>
                    </a:lnTo>
                    <a:lnTo>
                      <a:pt x="501" y="50"/>
                    </a:lnTo>
                    <a:cubicBezTo>
                      <a:pt x="501" y="22"/>
                      <a:pt x="478" y="0"/>
                      <a:pt x="450" y="0"/>
                    </a:cubicBezTo>
                    <a:lnTo>
                      <a:pt x="136" y="0"/>
                    </a:lnTo>
                    <a:cubicBezTo>
                      <a:pt x="108" y="0"/>
                      <a:pt x="86" y="22"/>
                      <a:pt x="86" y="50"/>
                    </a:cubicBezTo>
                    <a:lnTo>
                      <a:pt x="86" y="50"/>
                    </a:lnTo>
                    <a:lnTo>
                      <a:pt x="52" y="50"/>
                    </a:lnTo>
                    <a:cubicBezTo>
                      <a:pt x="47" y="41"/>
                      <a:pt x="38" y="35"/>
                      <a:pt x="27" y="35"/>
                    </a:cubicBezTo>
                    <a:cubicBezTo>
                      <a:pt x="12" y="35"/>
                      <a:pt x="0" y="47"/>
                      <a:pt x="0" y="62"/>
                    </a:cubicBezTo>
                    <a:cubicBezTo>
                      <a:pt x="0" y="78"/>
                      <a:pt x="12" y="90"/>
                      <a:pt x="27" y="90"/>
                    </a:cubicBezTo>
                    <a:cubicBezTo>
                      <a:pt x="38" y="90"/>
                      <a:pt x="47" y="84"/>
                      <a:pt x="52" y="75"/>
                    </a:cubicBezTo>
                    <a:lnTo>
                      <a:pt x="86" y="75"/>
                    </a:lnTo>
                    <a:lnTo>
                      <a:pt x="86" y="141"/>
                    </a:lnTo>
                    <a:lnTo>
                      <a:pt x="52" y="141"/>
                    </a:lnTo>
                    <a:cubicBezTo>
                      <a:pt x="47" y="132"/>
                      <a:pt x="38" y="126"/>
                      <a:pt x="27" y="126"/>
                    </a:cubicBezTo>
                    <a:cubicBezTo>
                      <a:pt x="12" y="126"/>
                      <a:pt x="0" y="138"/>
                      <a:pt x="0" y="154"/>
                    </a:cubicBezTo>
                    <a:cubicBezTo>
                      <a:pt x="0" y="169"/>
                      <a:pt x="12" y="181"/>
                      <a:pt x="27" y="181"/>
                    </a:cubicBezTo>
                    <a:cubicBezTo>
                      <a:pt x="38" y="181"/>
                      <a:pt x="47" y="175"/>
                      <a:pt x="52" y="166"/>
                    </a:cubicBezTo>
                    <a:lnTo>
                      <a:pt x="86" y="166"/>
                    </a:lnTo>
                    <a:lnTo>
                      <a:pt x="86" y="232"/>
                    </a:lnTo>
                    <a:lnTo>
                      <a:pt x="52" y="232"/>
                    </a:lnTo>
                    <a:cubicBezTo>
                      <a:pt x="47" y="223"/>
                      <a:pt x="38" y="217"/>
                      <a:pt x="27" y="217"/>
                    </a:cubicBezTo>
                    <a:cubicBezTo>
                      <a:pt x="12" y="217"/>
                      <a:pt x="0" y="229"/>
                      <a:pt x="0" y="245"/>
                    </a:cubicBezTo>
                    <a:cubicBezTo>
                      <a:pt x="0" y="260"/>
                      <a:pt x="12" y="273"/>
                      <a:pt x="27" y="273"/>
                    </a:cubicBezTo>
                    <a:cubicBezTo>
                      <a:pt x="38" y="273"/>
                      <a:pt x="47" y="266"/>
                      <a:pt x="52" y="257"/>
                    </a:cubicBezTo>
                    <a:lnTo>
                      <a:pt x="86" y="257"/>
                    </a:lnTo>
                    <a:lnTo>
                      <a:pt x="86" y="323"/>
                    </a:lnTo>
                    <a:lnTo>
                      <a:pt x="52" y="323"/>
                    </a:lnTo>
                    <a:cubicBezTo>
                      <a:pt x="47" y="314"/>
                      <a:pt x="38" y="308"/>
                      <a:pt x="27" y="308"/>
                    </a:cubicBezTo>
                    <a:cubicBezTo>
                      <a:pt x="12" y="308"/>
                      <a:pt x="0" y="321"/>
                      <a:pt x="0" y="336"/>
                    </a:cubicBezTo>
                    <a:cubicBezTo>
                      <a:pt x="0" y="351"/>
                      <a:pt x="12" y="364"/>
                      <a:pt x="27" y="364"/>
                    </a:cubicBezTo>
                    <a:cubicBezTo>
                      <a:pt x="38" y="364"/>
                      <a:pt x="47" y="357"/>
                      <a:pt x="52" y="348"/>
                    </a:cubicBezTo>
                    <a:lnTo>
                      <a:pt x="86" y="348"/>
                    </a:lnTo>
                    <a:lnTo>
                      <a:pt x="86" y="358"/>
                    </a:lnTo>
                    <a:cubicBezTo>
                      <a:pt x="86" y="366"/>
                      <a:pt x="88" y="374"/>
                      <a:pt x="91" y="381"/>
                    </a:cubicBezTo>
                    <a:lnTo>
                      <a:pt x="218" y="254"/>
                    </a:lnTo>
                    <a:lnTo>
                      <a:pt x="218" y="148"/>
                    </a:lnTo>
                    <a:cubicBezTo>
                      <a:pt x="218" y="138"/>
                      <a:pt x="226" y="130"/>
                      <a:pt x="236" y="130"/>
                    </a:cubicBezTo>
                    <a:lnTo>
                      <a:pt x="350" y="130"/>
                    </a:lnTo>
                    <a:cubicBezTo>
                      <a:pt x="360" y="130"/>
                      <a:pt x="368" y="138"/>
                      <a:pt x="368" y="148"/>
                    </a:cubicBezTo>
                    <a:lnTo>
                      <a:pt x="368" y="260"/>
                    </a:lnTo>
                    <a:cubicBezTo>
                      <a:pt x="368" y="270"/>
                      <a:pt x="360" y="278"/>
                      <a:pt x="350" y="278"/>
                    </a:cubicBezTo>
                    <a:lnTo>
                      <a:pt x="244" y="278"/>
                    </a:lnTo>
                    <a:lnTo>
                      <a:pt x="118" y="405"/>
                    </a:lnTo>
                    <a:cubicBezTo>
                      <a:pt x="123" y="407"/>
                      <a:pt x="130" y="408"/>
                      <a:pt x="136" y="408"/>
                    </a:cubicBezTo>
                    <a:lnTo>
                      <a:pt x="450" y="408"/>
                    </a:lnTo>
                    <a:cubicBezTo>
                      <a:pt x="478" y="408"/>
                      <a:pt x="501" y="386"/>
                      <a:pt x="501" y="358"/>
                    </a:cubicBezTo>
                    <a:lnTo>
                      <a:pt x="501" y="348"/>
                    </a:lnTo>
                    <a:lnTo>
                      <a:pt x="535" y="348"/>
                    </a:lnTo>
                    <a:cubicBezTo>
                      <a:pt x="540" y="357"/>
                      <a:pt x="549" y="364"/>
                      <a:pt x="560" y="364"/>
                    </a:cubicBezTo>
                    <a:cubicBezTo>
                      <a:pt x="575" y="364"/>
                      <a:pt x="588" y="351"/>
                      <a:pt x="588" y="336"/>
                    </a:cubicBezTo>
                    <a:cubicBezTo>
                      <a:pt x="588" y="321"/>
                      <a:pt x="575" y="308"/>
                      <a:pt x="560" y="308"/>
                    </a:cubicBezTo>
                    <a:cubicBezTo>
                      <a:pt x="549" y="308"/>
                      <a:pt x="540" y="314"/>
                      <a:pt x="535" y="323"/>
                    </a:cubicBezTo>
                    <a:lnTo>
                      <a:pt x="501" y="323"/>
                    </a:lnTo>
                    <a:lnTo>
                      <a:pt x="501" y="257"/>
                    </a:lnTo>
                    <a:lnTo>
                      <a:pt x="535" y="257"/>
                    </a:lnTo>
                    <a:cubicBezTo>
                      <a:pt x="540" y="266"/>
                      <a:pt x="549" y="273"/>
                      <a:pt x="560" y="273"/>
                    </a:cubicBezTo>
                    <a:cubicBezTo>
                      <a:pt x="575" y="273"/>
                      <a:pt x="588" y="260"/>
                      <a:pt x="588" y="245"/>
                    </a:cubicBezTo>
                    <a:cubicBezTo>
                      <a:pt x="588" y="229"/>
                      <a:pt x="575" y="217"/>
                      <a:pt x="560" y="217"/>
                    </a:cubicBezTo>
                    <a:cubicBezTo>
                      <a:pt x="549" y="217"/>
                      <a:pt x="540" y="223"/>
                      <a:pt x="535" y="232"/>
                    </a:cubicBezTo>
                    <a:lnTo>
                      <a:pt x="501" y="232"/>
                    </a:lnTo>
                    <a:lnTo>
                      <a:pt x="501" y="166"/>
                    </a:lnTo>
                    <a:lnTo>
                      <a:pt x="535" y="166"/>
                    </a:ln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623438">
                  <a:defRPr/>
                </a:pPr>
                <a:endParaRPr lang="en-US" sz="818" b="1" dirty="0">
                  <a:solidFill>
                    <a:prstClr val="black"/>
                  </a:solidFill>
                  <a:latin typeface="Verdana"/>
                </a:endParaRPr>
              </a:p>
            </p:txBody>
          </p:sp>
        </p:grpSp>
        <p:grpSp>
          <p:nvGrpSpPr>
            <p:cNvPr id="25" name="Group 24">
              <a:extLst>
                <a:ext uri="{FF2B5EF4-FFF2-40B4-BE49-F238E27FC236}">
                  <a16:creationId xmlns:a16="http://schemas.microsoft.com/office/drawing/2014/main" id="{3A9B9AAA-B758-43C8-8FB5-A3C45354E011}"/>
                </a:ext>
              </a:extLst>
            </p:cNvPr>
            <p:cNvGrpSpPr/>
            <p:nvPr/>
          </p:nvGrpSpPr>
          <p:grpSpPr>
            <a:xfrm>
              <a:off x="3389257" y="4905435"/>
              <a:ext cx="1118608" cy="1153332"/>
              <a:chOff x="4589609" y="2011953"/>
              <a:chExt cx="2684038" cy="2717064"/>
            </a:xfrm>
          </p:grpSpPr>
          <p:sp>
            <p:nvSpPr>
              <p:cNvPr id="46" name="Block Arc 45">
                <a:extLst>
                  <a:ext uri="{FF2B5EF4-FFF2-40B4-BE49-F238E27FC236}">
                    <a16:creationId xmlns:a16="http://schemas.microsoft.com/office/drawing/2014/main" id="{27E7C6F8-FB1D-4A95-AA8D-C6ADCCCCF7EA}"/>
                  </a:ext>
                </a:extLst>
              </p:cNvPr>
              <p:cNvSpPr/>
              <p:nvPr/>
            </p:nvSpPr>
            <p:spPr bwMode="gray">
              <a:xfrm rot="10800000">
                <a:off x="4835400" y="2260769"/>
                <a:ext cx="2192453" cy="2219430"/>
              </a:xfrm>
              <a:prstGeom prst="blockArc">
                <a:avLst>
                  <a:gd name="adj1" fmla="val 19230586"/>
                  <a:gd name="adj2" fmla="val 13033067"/>
                  <a:gd name="adj3" fmla="val 1857"/>
                </a:avLst>
              </a:prstGeom>
              <a:solidFill>
                <a:srgbClr val="005587"/>
              </a:solidFill>
              <a:ln w="19050" algn="ctr">
                <a:solidFill>
                  <a:srgbClr val="005587"/>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47" name="Block Arc 46">
                <a:extLst>
                  <a:ext uri="{FF2B5EF4-FFF2-40B4-BE49-F238E27FC236}">
                    <a16:creationId xmlns:a16="http://schemas.microsoft.com/office/drawing/2014/main" id="{E9BFDA69-721C-480C-A17A-233E62C158C6}"/>
                  </a:ext>
                </a:extLst>
              </p:cNvPr>
              <p:cNvSpPr/>
              <p:nvPr/>
            </p:nvSpPr>
            <p:spPr bwMode="gray">
              <a:xfrm>
                <a:off x="4700782" y="2124492"/>
                <a:ext cx="2461688" cy="2491984"/>
              </a:xfrm>
              <a:prstGeom prst="blockArc">
                <a:avLst>
                  <a:gd name="adj1" fmla="val 19230586"/>
                  <a:gd name="adj2" fmla="val 13149094"/>
                  <a:gd name="adj3" fmla="val 1522"/>
                </a:avLst>
              </a:prstGeom>
              <a:solidFill>
                <a:srgbClr val="005587"/>
              </a:solidFill>
              <a:ln w="19050" algn="ctr">
                <a:solidFill>
                  <a:srgbClr val="005587"/>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48" name="Oval 47">
                <a:extLst>
                  <a:ext uri="{FF2B5EF4-FFF2-40B4-BE49-F238E27FC236}">
                    <a16:creationId xmlns:a16="http://schemas.microsoft.com/office/drawing/2014/main" id="{4295DE5F-3521-4739-A819-B8461B1B8109}"/>
                  </a:ext>
                </a:extLst>
              </p:cNvPr>
              <p:cNvSpPr/>
              <p:nvPr/>
            </p:nvSpPr>
            <p:spPr bwMode="gray">
              <a:xfrm rot="10800000">
                <a:off x="4589609" y="2011953"/>
                <a:ext cx="2684038" cy="2717064"/>
              </a:xfrm>
              <a:prstGeom prst="ellipse">
                <a:avLst/>
              </a:prstGeom>
              <a:noFill/>
              <a:ln w="19050" algn="ctr">
                <a:solidFill>
                  <a:srgbClr val="005587"/>
                </a:solidFill>
                <a:prstDash val="dashDot"/>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49" name="Oval 48">
                <a:hlinkClick r:id="rId5" action="ppaction://hlinksldjump"/>
                <a:extLst>
                  <a:ext uri="{FF2B5EF4-FFF2-40B4-BE49-F238E27FC236}">
                    <a16:creationId xmlns:a16="http://schemas.microsoft.com/office/drawing/2014/main" id="{5CFBAA6C-89DD-414D-B7AF-448652376AE8}"/>
                  </a:ext>
                </a:extLst>
              </p:cNvPr>
              <p:cNvSpPr/>
              <p:nvPr/>
            </p:nvSpPr>
            <p:spPr bwMode="gray">
              <a:xfrm>
                <a:off x="5016480" y="2448518"/>
                <a:ext cx="1830294" cy="1852815"/>
              </a:xfrm>
              <a:prstGeom prst="ellipse">
                <a:avLst/>
              </a:prstGeom>
              <a:solidFill>
                <a:srgbClr val="005587"/>
              </a:solidFill>
              <a:ln w="19050" algn="ctr">
                <a:solidFill>
                  <a:srgbClr val="005587"/>
                </a:solidFill>
                <a:miter lim="800000"/>
                <a:headEnd/>
                <a:tailEnd/>
              </a:ln>
            </p:spPr>
            <p:txBody>
              <a:bodyPr wrap="none" lIns="0" tIns="60614" rIns="0" bIns="60614" rtlCol="0" anchor="ctr"/>
              <a:lstStyle/>
              <a:p>
                <a:pPr algn="ctr" defTabSz="623438">
                  <a:lnSpc>
                    <a:spcPct val="106000"/>
                  </a:lnSpc>
                  <a:defRPr/>
                </a:pPr>
                <a:endParaRPr lang="en-US" sz="341" b="1" dirty="0">
                  <a:solidFill>
                    <a:prstClr val="white"/>
                  </a:solidFill>
                  <a:latin typeface="Verdana"/>
                </a:endParaRPr>
              </a:p>
            </p:txBody>
          </p:sp>
        </p:grpSp>
        <p:grpSp>
          <p:nvGrpSpPr>
            <p:cNvPr id="26" name="Group 25">
              <a:extLst>
                <a:ext uri="{FF2B5EF4-FFF2-40B4-BE49-F238E27FC236}">
                  <a16:creationId xmlns:a16="http://schemas.microsoft.com/office/drawing/2014/main" id="{B5A34DAA-5F4F-421D-8203-A645A39001CB}"/>
                </a:ext>
              </a:extLst>
            </p:cNvPr>
            <p:cNvGrpSpPr/>
            <p:nvPr/>
          </p:nvGrpSpPr>
          <p:grpSpPr>
            <a:xfrm>
              <a:off x="383006" y="4905435"/>
              <a:ext cx="1141357" cy="1161468"/>
              <a:chOff x="8131763" y="2011952"/>
              <a:chExt cx="2684038" cy="2717064"/>
            </a:xfrm>
          </p:grpSpPr>
          <p:sp>
            <p:nvSpPr>
              <p:cNvPr id="41" name="Block Arc 40">
                <a:extLst>
                  <a:ext uri="{FF2B5EF4-FFF2-40B4-BE49-F238E27FC236}">
                    <a16:creationId xmlns:a16="http://schemas.microsoft.com/office/drawing/2014/main" id="{0C83DDC2-78AC-4177-AC6D-FFA7580CE56A}"/>
                  </a:ext>
                </a:extLst>
              </p:cNvPr>
              <p:cNvSpPr/>
              <p:nvPr/>
            </p:nvSpPr>
            <p:spPr bwMode="gray">
              <a:xfrm rot="10800000">
                <a:off x="8377554" y="2260768"/>
                <a:ext cx="2192453" cy="2219430"/>
              </a:xfrm>
              <a:prstGeom prst="blockArc">
                <a:avLst>
                  <a:gd name="adj1" fmla="val 19230586"/>
                  <a:gd name="adj2" fmla="val 13033067"/>
                  <a:gd name="adj3" fmla="val 1857"/>
                </a:avLst>
              </a:prstGeom>
              <a:solidFill>
                <a:srgbClr val="009A44"/>
              </a:solidFill>
              <a:ln w="19050" algn="ctr">
                <a:solidFill>
                  <a:srgbClr val="009A44"/>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42" name="Block Arc 41">
                <a:extLst>
                  <a:ext uri="{FF2B5EF4-FFF2-40B4-BE49-F238E27FC236}">
                    <a16:creationId xmlns:a16="http://schemas.microsoft.com/office/drawing/2014/main" id="{9FAC5502-9F0D-4F5B-AB94-8FC86BEBC201}"/>
                  </a:ext>
                </a:extLst>
              </p:cNvPr>
              <p:cNvSpPr/>
              <p:nvPr/>
            </p:nvSpPr>
            <p:spPr bwMode="gray">
              <a:xfrm>
                <a:off x="8242936" y="2124491"/>
                <a:ext cx="2461688" cy="2491984"/>
              </a:xfrm>
              <a:prstGeom prst="blockArc">
                <a:avLst>
                  <a:gd name="adj1" fmla="val 19230586"/>
                  <a:gd name="adj2" fmla="val 13149094"/>
                  <a:gd name="adj3" fmla="val 1522"/>
                </a:avLst>
              </a:prstGeom>
              <a:solidFill>
                <a:srgbClr val="009A44"/>
              </a:solidFill>
              <a:ln w="19050" algn="ctr">
                <a:solidFill>
                  <a:srgbClr val="009A44"/>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43" name="Oval 42">
                <a:extLst>
                  <a:ext uri="{FF2B5EF4-FFF2-40B4-BE49-F238E27FC236}">
                    <a16:creationId xmlns:a16="http://schemas.microsoft.com/office/drawing/2014/main" id="{34336EAE-429D-4FA1-A27E-55DB811C0D17}"/>
                  </a:ext>
                </a:extLst>
              </p:cNvPr>
              <p:cNvSpPr/>
              <p:nvPr/>
            </p:nvSpPr>
            <p:spPr bwMode="gray">
              <a:xfrm rot="10800000">
                <a:off x="8131763" y="2011952"/>
                <a:ext cx="2684038" cy="2717064"/>
              </a:xfrm>
              <a:prstGeom prst="ellipse">
                <a:avLst/>
              </a:prstGeom>
              <a:noFill/>
              <a:ln w="19050" algn="ctr">
                <a:solidFill>
                  <a:srgbClr val="009A44"/>
                </a:solidFill>
                <a:prstDash val="dashDot"/>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44" name="Oval 43">
                <a:hlinkClick r:id="" action="ppaction://noaction"/>
                <a:extLst>
                  <a:ext uri="{FF2B5EF4-FFF2-40B4-BE49-F238E27FC236}">
                    <a16:creationId xmlns:a16="http://schemas.microsoft.com/office/drawing/2014/main" id="{87D7BA61-D04E-489D-B6F4-036A7EA5F6FA}"/>
                  </a:ext>
                </a:extLst>
              </p:cNvPr>
              <p:cNvSpPr/>
              <p:nvPr/>
            </p:nvSpPr>
            <p:spPr bwMode="gray">
              <a:xfrm>
                <a:off x="8558634" y="2448517"/>
                <a:ext cx="1830294" cy="1852815"/>
              </a:xfrm>
              <a:prstGeom prst="ellipse">
                <a:avLst/>
              </a:prstGeom>
              <a:solidFill>
                <a:srgbClr val="009A44"/>
              </a:solidFill>
              <a:ln w="19050" algn="ctr">
                <a:noFill/>
                <a:miter lim="800000"/>
                <a:headEnd/>
                <a:tailEnd/>
              </a:ln>
            </p:spPr>
            <p:txBody>
              <a:bodyPr wrap="none" lIns="0" tIns="60614" rIns="0" bIns="60614" rtlCol="0" anchor="ctr"/>
              <a:lstStyle/>
              <a:p>
                <a:pPr algn="ctr" defTabSz="623438">
                  <a:lnSpc>
                    <a:spcPct val="106000"/>
                  </a:lnSpc>
                  <a:defRPr/>
                </a:pPr>
                <a:endParaRPr lang="en-US" sz="341" b="1" dirty="0">
                  <a:solidFill>
                    <a:prstClr val="white"/>
                  </a:solidFill>
                  <a:latin typeface="Verdana"/>
                </a:endParaRPr>
              </a:p>
            </p:txBody>
          </p:sp>
          <p:sp>
            <p:nvSpPr>
              <p:cNvPr id="45" name="Freeform 5">
                <a:hlinkClick r:id="" action="ppaction://noaction"/>
                <a:extLst>
                  <a:ext uri="{FF2B5EF4-FFF2-40B4-BE49-F238E27FC236}">
                    <a16:creationId xmlns:a16="http://schemas.microsoft.com/office/drawing/2014/main" id="{5AA95FC7-5ACB-43F0-B0C9-75B13897B6C7}"/>
                  </a:ext>
                </a:extLst>
              </p:cNvPr>
              <p:cNvSpPr>
                <a:spLocks noChangeAspect="1" noEditPoints="1"/>
              </p:cNvSpPr>
              <p:nvPr/>
            </p:nvSpPr>
            <p:spPr bwMode="auto">
              <a:xfrm>
                <a:off x="8981499" y="2855836"/>
                <a:ext cx="984562" cy="906646"/>
              </a:xfrm>
              <a:custGeom>
                <a:avLst/>
                <a:gdLst>
                  <a:gd name="T0" fmla="*/ 630 w 676"/>
                  <a:gd name="T1" fmla="*/ 155 h 627"/>
                  <a:gd name="T2" fmla="*/ 520 w 676"/>
                  <a:gd name="T3" fmla="*/ 160 h 627"/>
                  <a:gd name="T4" fmla="*/ 378 w 676"/>
                  <a:gd name="T5" fmla="*/ 135 h 627"/>
                  <a:gd name="T6" fmla="*/ 299 w 676"/>
                  <a:gd name="T7" fmla="*/ 128 h 627"/>
                  <a:gd name="T8" fmla="*/ 153 w 676"/>
                  <a:gd name="T9" fmla="*/ 171 h 627"/>
                  <a:gd name="T10" fmla="*/ 45 w 676"/>
                  <a:gd name="T11" fmla="*/ 166 h 627"/>
                  <a:gd name="T12" fmla="*/ 0 w 676"/>
                  <a:gd name="T13" fmla="*/ 349 h 627"/>
                  <a:gd name="T14" fmla="*/ 30 w 676"/>
                  <a:gd name="T15" fmla="*/ 349 h 627"/>
                  <a:gd name="T16" fmla="*/ 50 w 676"/>
                  <a:gd name="T17" fmla="*/ 211 h 627"/>
                  <a:gd name="T18" fmla="*/ 81 w 676"/>
                  <a:gd name="T19" fmla="*/ 581 h 627"/>
                  <a:gd name="T20" fmla="*/ 131 w 676"/>
                  <a:gd name="T21" fmla="*/ 541 h 627"/>
                  <a:gd name="T22" fmla="*/ 150 w 676"/>
                  <a:gd name="T23" fmla="*/ 211 h 627"/>
                  <a:gd name="T24" fmla="*/ 165 w 676"/>
                  <a:gd name="T25" fmla="*/ 370 h 627"/>
                  <a:gd name="T26" fmla="*/ 179 w 676"/>
                  <a:gd name="T27" fmla="*/ 187 h 627"/>
                  <a:gd name="T28" fmla="*/ 198 w 676"/>
                  <a:gd name="T29" fmla="*/ 579 h 627"/>
                  <a:gd name="T30" fmla="*/ 271 w 676"/>
                  <a:gd name="T31" fmla="*/ 627 h 627"/>
                  <a:gd name="T32" fmla="*/ 304 w 676"/>
                  <a:gd name="T33" fmla="*/ 187 h 627"/>
                  <a:gd name="T34" fmla="*/ 323 w 676"/>
                  <a:gd name="T35" fmla="*/ 347 h 627"/>
                  <a:gd name="T36" fmla="*/ 350 w 676"/>
                  <a:gd name="T37" fmla="*/ 348 h 627"/>
                  <a:gd name="T38" fmla="*/ 369 w 676"/>
                  <a:gd name="T39" fmla="*/ 196 h 627"/>
                  <a:gd name="T40" fmla="*/ 408 w 676"/>
                  <a:gd name="T41" fmla="*/ 623 h 627"/>
                  <a:gd name="T42" fmla="*/ 479 w 676"/>
                  <a:gd name="T43" fmla="*/ 568 h 627"/>
                  <a:gd name="T44" fmla="*/ 498 w 676"/>
                  <a:gd name="T45" fmla="*/ 196 h 627"/>
                  <a:gd name="T46" fmla="*/ 511 w 676"/>
                  <a:gd name="T47" fmla="*/ 370 h 627"/>
                  <a:gd name="T48" fmla="*/ 528 w 676"/>
                  <a:gd name="T49" fmla="*/ 211 h 627"/>
                  <a:gd name="T50" fmla="*/ 546 w 676"/>
                  <a:gd name="T51" fmla="*/ 529 h 627"/>
                  <a:gd name="T52" fmla="*/ 604 w 676"/>
                  <a:gd name="T53" fmla="*/ 570 h 627"/>
                  <a:gd name="T54" fmla="*/ 628 w 676"/>
                  <a:gd name="T55" fmla="*/ 211 h 627"/>
                  <a:gd name="T56" fmla="*/ 647 w 676"/>
                  <a:gd name="T57" fmla="*/ 352 h 627"/>
                  <a:gd name="T58" fmla="*/ 676 w 676"/>
                  <a:gd name="T59" fmla="*/ 353 h 627"/>
                  <a:gd name="T60" fmla="*/ 630 w 676"/>
                  <a:gd name="T61" fmla="*/ 155 h 627"/>
                  <a:gd name="T62" fmla="*/ 584 w 676"/>
                  <a:gd name="T63" fmla="*/ 135 h 627"/>
                  <a:gd name="T64" fmla="*/ 584 w 676"/>
                  <a:gd name="T65" fmla="*/ 52 h 627"/>
                  <a:gd name="T66" fmla="*/ 584 w 676"/>
                  <a:gd name="T67" fmla="*/ 135 h 627"/>
                  <a:gd name="T68" fmla="*/ 88 w 676"/>
                  <a:gd name="T69" fmla="*/ 147 h 627"/>
                  <a:gd name="T70" fmla="*/ 88 w 676"/>
                  <a:gd name="T71" fmla="*/ 64 h 627"/>
                  <a:gd name="T72" fmla="*/ 88 w 676"/>
                  <a:gd name="T73" fmla="*/ 147 h 627"/>
                  <a:gd name="T74" fmla="*/ 423 w 676"/>
                  <a:gd name="T75" fmla="*/ 115 h 627"/>
                  <a:gd name="T76" fmla="*/ 423 w 676"/>
                  <a:gd name="T77" fmla="*/ 15 h 627"/>
                  <a:gd name="T78" fmla="*/ 423 w 676"/>
                  <a:gd name="T79" fmla="*/ 115 h 627"/>
                  <a:gd name="T80" fmla="*/ 250 w 676"/>
                  <a:gd name="T81" fmla="*/ 100 h 627"/>
                  <a:gd name="T82" fmla="*/ 250 w 676"/>
                  <a:gd name="T83" fmla="*/ 0 h 627"/>
                  <a:gd name="T84" fmla="*/ 250 w 676"/>
                  <a:gd name="T85" fmla="*/ 100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6" h="627">
                    <a:moveTo>
                      <a:pt x="630" y="155"/>
                    </a:moveTo>
                    <a:lnTo>
                      <a:pt x="630" y="155"/>
                    </a:lnTo>
                    <a:lnTo>
                      <a:pt x="538" y="155"/>
                    </a:lnTo>
                    <a:cubicBezTo>
                      <a:pt x="532" y="155"/>
                      <a:pt x="525" y="157"/>
                      <a:pt x="520" y="160"/>
                    </a:cubicBezTo>
                    <a:cubicBezTo>
                      <a:pt x="510" y="141"/>
                      <a:pt x="492" y="135"/>
                      <a:pt x="472" y="135"/>
                    </a:cubicBezTo>
                    <a:lnTo>
                      <a:pt x="378" y="135"/>
                    </a:lnTo>
                    <a:cubicBezTo>
                      <a:pt x="362" y="135"/>
                      <a:pt x="348" y="135"/>
                      <a:pt x="338" y="148"/>
                    </a:cubicBezTo>
                    <a:cubicBezTo>
                      <a:pt x="328" y="135"/>
                      <a:pt x="314" y="128"/>
                      <a:pt x="299" y="128"/>
                    </a:cubicBezTo>
                    <a:lnTo>
                      <a:pt x="204" y="128"/>
                    </a:lnTo>
                    <a:cubicBezTo>
                      <a:pt x="180" y="128"/>
                      <a:pt x="160" y="146"/>
                      <a:pt x="153" y="171"/>
                    </a:cubicBezTo>
                    <a:cubicBezTo>
                      <a:pt x="147" y="168"/>
                      <a:pt x="130" y="166"/>
                      <a:pt x="124" y="166"/>
                    </a:cubicBezTo>
                    <a:lnTo>
                      <a:pt x="45" y="166"/>
                    </a:lnTo>
                    <a:cubicBezTo>
                      <a:pt x="20" y="166"/>
                      <a:pt x="0" y="190"/>
                      <a:pt x="0" y="220"/>
                    </a:cubicBezTo>
                    <a:lnTo>
                      <a:pt x="0" y="349"/>
                    </a:lnTo>
                    <a:cubicBezTo>
                      <a:pt x="0" y="359"/>
                      <a:pt x="2" y="369"/>
                      <a:pt x="15" y="369"/>
                    </a:cubicBezTo>
                    <a:cubicBezTo>
                      <a:pt x="28" y="369"/>
                      <a:pt x="30" y="359"/>
                      <a:pt x="30" y="349"/>
                    </a:cubicBezTo>
                    <a:cubicBezTo>
                      <a:pt x="30" y="337"/>
                      <a:pt x="31" y="211"/>
                      <a:pt x="31" y="211"/>
                    </a:cubicBezTo>
                    <a:lnTo>
                      <a:pt x="50" y="211"/>
                    </a:lnTo>
                    <a:cubicBezTo>
                      <a:pt x="50" y="211"/>
                      <a:pt x="49" y="530"/>
                      <a:pt x="49" y="546"/>
                    </a:cubicBezTo>
                    <a:cubicBezTo>
                      <a:pt x="50" y="580"/>
                      <a:pt x="69" y="581"/>
                      <a:pt x="81" y="581"/>
                    </a:cubicBezTo>
                    <a:lnTo>
                      <a:pt x="101" y="581"/>
                    </a:lnTo>
                    <a:cubicBezTo>
                      <a:pt x="112" y="581"/>
                      <a:pt x="129" y="580"/>
                      <a:pt x="131" y="541"/>
                    </a:cubicBezTo>
                    <a:cubicBezTo>
                      <a:pt x="131" y="524"/>
                      <a:pt x="131" y="211"/>
                      <a:pt x="131" y="211"/>
                    </a:cubicBezTo>
                    <a:lnTo>
                      <a:pt x="150" y="211"/>
                    </a:lnTo>
                    <a:lnTo>
                      <a:pt x="150" y="353"/>
                    </a:lnTo>
                    <a:cubicBezTo>
                      <a:pt x="150" y="367"/>
                      <a:pt x="155" y="370"/>
                      <a:pt x="165" y="370"/>
                    </a:cubicBezTo>
                    <a:cubicBezTo>
                      <a:pt x="175" y="370"/>
                      <a:pt x="180" y="363"/>
                      <a:pt x="180" y="351"/>
                    </a:cubicBezTo>
                    <a:cubicBezTo>
                      <a:pt x="180" y="344"/>
                      <a:pt x="179" y="187"/>
                      <a:pt x="179" y="187"/>
                    </a:cubicBezTo>
                    <a:lnTo>
                      <a:pt x="198" y="187"/>
                    </a:lnTo>
                    <a:cubicBezTo>
                      <a:pt x="198" y="187"/>
                      <a:pt x="198" y="555"/>
                      <a:pt x="198" y="579"/>
                    </a:cubicBezTo>
                    <a:cubicBezTo>
                      <a:pt x="199" y="620"/>
                      <a:pt x="221" y="627"/>
                      <a:pt x="235" y="627"/>
                    </a:cubicBezTo>
                    <a:lnTo>
                      <a:pt x="271" y="627"/>
                    </a:lnTo>
                    <a:cubicBezTo>
                      <a:pt x="285" y="627"/>
                      <a:pt x="303" y="620"/>
                      <a:pt x="305" y="573"/>
                    </a:cubicBezTo>
                    <a:cubicBezTo>
                      <a:pt x="306" y="554"/>
                      <a:pt x="304" y="187"/>
                      <a:pt x="304" y="187"/>
                    </a:cubicBezTo>
                    <a:lnTo>
                      <a:pt x="323" y="187"/>
                    </a:lnTo>
                    <a:lnTo>
                      <a:pt x="323" y="347"/>
                    </a:lnTo>
                    <a:cubicBezTo>
                      <a:pt x="323" y="363"/>
                      <a:pt x="325" y="369"/>
                      <a:pt x="338" y="369"/>
                    </a:cubicBezTo>
                    <a:cubicBezTo>
                      <a:pt x="348" y="369"/>
                      <a:pt x="350" y="362"/>
                      <a:pt x="350" y="348"/>
                    </a:cubicBezTo>
                    <a:cubicBezTo>
                      <a:pt x="350" y="338"/>
                      <a:pt x="351" y="196"/>
                      <a:pt x="351" y="196"/>
                    </a:cubicBezTo>
                    <a:lnTo>
                      <a:pt x="369" y="196"/>
                    </a:lnTo>
                    <a:cubicBezTo>
                      <a:pt x="369" y="196"/>
                      <a:pt x="370" y="551"/>
                      <a:pt x="370" y="575"/>
                    </a:cubicBezTo>
                    <a:cubicBezTo>
                      <a:pt x="371" y="615"/>
                      <a:pt x="395" y="623"/>
                      <a:pt x="408" y="623"/>
                    </a:cubicBezTo>
                    <a:lnTo>
                      <a:pt x="445" y="623"/>
                    </a:lnTo>
                    <a:cubicBezTo>
                      <a:pt x="458" y="623"/>
                      <a:pt x="477" y="615"/>
                      <a:pt x="479" y="568"/>
                    </a:cubicBezTo>
                    <a:cubicBezTo>
                      <a:pt x="480" y="546"/>
                      <a:pt x="479" y="196"/>
                      <a:pt x="479" y="196"/>
                    </a:cubicBezTo>
                    <a:lnTo>
                      <a:pt x="498" y="196"/>
                    </a:lnTo>
                    <a:cubicBezTo>
                      <a:pt x="498" y="196"/>
                      <a:pt x="498" y="333"/>
                      <a:pt x="498" y="348"/>
                    </a:cubicBezTo>
                    <a:cubicBezTo>
                      <a:pt x="498" y="360"/>
                      <a:pt x="501" y="370"/>
                      <a:pt x="511" y="370"/>
                    </a:cubicBezTo>
                    <a:cubicBezTo>
                      <a:pt x="523" y="370"/>
                      <a:pt x="526" y="365"/>
                      <a:pt x="527" y="354"/>
                    </a:cubicBezTo>
                    <a:cubicBezTo>
                      <a:pt x="527" y="372"/>
                      <a:pt x="528" y="211"/>
                      <a:pt x="528" y="211"/>
                    </a:cubicBezTo>
                    <a:lnTo>
                      <a:pt x="546" y="211"/>
                    </a:lnTo>
                    <a:cubicBezTo>
                      <a:pt x="546" y="211"/>
                      <a:pt x="546" y="524"/>
                      <a:pt x="546" y="529"/>
                    </a:cubicBezTo>
                    <a:cubicBezTo>
                      <a:pt x="547" y="563"/>
                      <a:pt x="558" y="570"/>
                      <a:pt x="569" y="570"/>
                    </a:cubicBezTo>
                    <a:lnTo>
                      <a:pt x="604" y="570"/>
                    </a:lnTo>
                    <a:cubicBezTo>
                      <a:pt x="615" y="570"/>
                      <a:pt x="627" y="563"/>
                      <a:pt x="628" y="524"/>
                    </a:cubicBezTo>
                    <a:cubicBezTo>
                      <a:pt x="629" y="504"/>
                      <a:pt x="628" y="211"/>
                      <a:pt x="628" y="211"/>
                    </a:cubicBezTo>
                    <a:lnTo>
                      <a:pt x="647" y="211"/>
                    </a:lnTo>
                    <a:lnTo>
                      <a:pt x="647" y="352"/>
                    </a:lnTo>
                    <a:cubicBezTo>
                      <a:pt x="647" y="362"/>
                      <a:pt x="653" y="369"/>
                      <a:pt x="662" y="369"/>
                    </a:cubicBezTo>
                    <a:cubicBezTo>
                      <a:pt x="671" y="369"/>
                      <a:pt x="676" y="363"/>
                      <a:pt x="676" y="353"/>
                    </a:cubicBezTo>
                    <a:lnTo>
                      <a:pt x="676" y="215"/>
                    </a:lnTo>
                    <a:cubicBezTo>
                      <a:pt x="676" y="186"/>
                      <a:pt x="655" y="155"/>
                      <a:pt x="630" y="155"/>
                    </a:cubicBezTo>
                    <a:close/>
                    <a:moveTo>
                      <a:pt x="584" y="135"/>
                    </a:moveTo>
                    <a:lnTo>
                      <a:pt x="584" y="135"/>
                    </a:lnTo>
                    <a:cubicBezTo>
                      <a:pt x="607" y="135"/>
                      <a:pt x="626" y="116"/>
                      <a:pt x="626" y="93"/>
                    </a:cubicBezTo>
                    <a:cubicBezTo>
                      <a:pt x="626" y="70"/>
                      <a:pt x="607" y="52"/>
                      <a:pt x="584" y="52"/>
                    </a:cubicBezTo>
                    <a:cubicBezTo>
                      <a:pt x="562" y="52"/>
                      <a:pt x="543" y="70"/>
                      <a:pt x="543" y="93"/>
                    </a:cubicBezTo>
                    <a:cubicBezTo>
                      <a:pt x="543" y="116"/>
                      <a:pt x="562" y="135"/>
                      <a:pt x="584" y="135"/>
                    </a:cubicBezTo>
                    <a:close/>
                    <a:moveTo>
                      <a:pt x="88" y="147"/>
                    </a:moveTo>
                    <a:lnTo>
                      <a:pt x="88" y="147"/>
                    </a:lnTo>
                    <a:cubicBezTo>
                      <a:pt x="111" y="147"/>
                      <a:pt x="130" y="128"/>
                      <a:pt x="130" y="105"/>
                    </a:cubicBezTo>
                    <a:cubicBezTo>
                      <a:pt x="130" y="82"/>
                      <a:pt x="111" y="64"/>
                      <a:pt x="88" y="64"/>
                    </a:cubicBezTo>
                    <a:cubicBezTo>
                      <a:pt x="65" y="64"/>
                      <a:pt x="47" y="82"/>
                      <a:pt x="47" y="105"/>
                    </a:cubicBezTo>
                    <a:cubicBezTo>
                      <a:pt x="47" y="128"/>
                      <a:pt x="65" y="147"/>
                      <a:pt x="88" y="147"/>
                    </a:cubicBezTo>
                    <a:close/>
                    <a:moveTo>
                      <a:pt x="423" y="115"/>
                    </a:moveTo>
                    <a:lnTo>
                      <a:pt x="423" y="115"/>
                    </a:lnTo>
                    <a:cubicBezTo>
                      <a:pt x="451" y="115"/>
                      <a:pt x="473" y="93"/>
                      <a:pt x="473" y="65"/>
                    </a:cubicBezTo>
                    <a:cubicBezTo>
                      <a:pt x="473" y="37"/>
                      <a:pt x="451" y="15"/>
                      <a:pt x="423" y="15"/>
                    </a:cubicBezTo>
                    <a:cubicBezTo>
                      <a:pt x="396" y="15"/>
                      <a:pt x="373" y="37"/>
                      <a:pt x="373" y="65"/>
                    </a:cubicBezTo>
                    <a:cubicBezTo>
                      <a:pt x="373" y="93"/>
                      <a:pt x="396" y="115"/>
                      <a:pt x="423" y="115"/>
                    </a:cubicBezTo>
                    <a:close/>
                    <a:moveTo>
                      <a:pt x="250" y="100"/>
                    </a:moveTo>
                    <a:lnTo>
                      <a:pt x="250" y="100"/>
                    </a:lnTo>
                    <a:cubicBezTo>
                      <a:pt x="277" y="100"/>
                      <a:pt x="300" y="77"/>
                      <a:pt x="300" y="49"/>
                    </a:cubicBezTo>
                    <a:cubicBezTo>
                      <a:pt x="300" y="22"/>
                      <a:pt x="277" y="0"/>
                      <a:pt x="250" y="0"/>
                    </a:cubicBezTo>
                    <a:cubicBezTo>
                      <a:pt x="222" y="0"/>
                      <a:pt x="200" y="22"/>
                      <a:pt x="200" y="49"/>
                    </a:cubicBezTo>
                    <a:cubicBezTo>
                      <a:pt x="200" y="77"/>
                      <a:pt x="222" y="100"/>
                      <a:pt x="250" y="100"/>
                    </a:cubicBez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623438">
                  <a:defRPr/>
                </a:pPr>
                <a:endParaRPr lang="en-US" sz="818" b="1" dirty="0">
                  <a:solidFill>
                    <a:prstClr val="black"/>
                  </a:solidFill>
                  <a:latin typeface="Verdana"/>
                </a:endParaRPr>
              </a:p>
            </p:txBody>
          </p:sp>
        </p:grpSp>
        <p:sp>
          <p:nvSpPr>
            <p:cNvPr id="27" name="TextBox 26">
              <a:hlinkClick r:id="" action="ppaction://noaction"/>
              <a:extLst>
                <a:ext uri="{FF2B5EF4-FFF2-40B4-BE49-F238E27FC236}">
                  <a16:creationId xmlns:a16="http://schemas.microsoft.com/office/drawing/2014/main" id="{5D0FE7DB-DE30-4183-8CD6-02A3DD86B5C3}"/>
                </a:ext>
              </a:extLst>
            </p:cNvPr>
            <p:cNvSpPr txBox="1"/>
            <p:nvPr/>
          </p:nvSpPr>
          <p:spPr>
            <a:xfrm>
              <a:off x="1945087" y="2483503"/>
              <a:ext cx="1190422" cy="208712"/>
            </a:xfrm>
            <a:prstGeom prst="rect">
              <a:avLst/>
            </a:prstGeom>
            <a:noFill/>
          </p:spPr>
          <p:txBody>
            <a:bodyPr wrap="square" lIns="0" tIns="0" rIns="0" bIns="0" rtlCol="0">
              <a:spAutoFit/>
            </a:bodyPr>
            <a:lstStyle/>
            <a:p>
              <a:pPr defTabSz="623438">
                <a:spcBef>
                  <a:spcPts val="409"/>
                </a:spcBef>
                <a:buSzPct val="100000"/>
                <a:defRPr/>
              </a:pPr>
              <a:r>
                <a:rPr lang="en-US" sz="818" b="1" dirty="0">
                  <a:solidFill>
                    <a:srgbClr val="313131"/>
                  </a:solidFill>
                  <a:latin typeface="Verdana"/>
                </a:rPr>
                <a:t>Technology</a:t>
              </a:r>
              <a:endParaRPr lang="en-IN" sz="818" b="1" dirty="0">
                <a:solidFill>
                  <a:srgbClr val="313131"/>
                </a:solidFill>
                <a:latin typeface="Verdana"/>
              </a:endParaRPr>
            </a:p>
          </p:txBody>
        </p:sp>
        <p:sp>
          <p:nvSpPr>
            <p:cNvPr id="28" name="Oval 27">
              <a:extLst>
                <a:ext uri="{FF2B5EF4-FFF2-40B4-BE49-F238E27FC236}">
                  <a16:creationId xmlns:a16="http://schemas.microsoft.com/office/drawing/2014/main" id="{D215745F-D53B-4C68-BECA-5EDFEB471301}"/>
                </a:ext>
              </a:extLst>
            </p:cNvPr>
            <p:cNvSpPr/>
            <p:nvPr/>
          </p:nvSpPr>
          <p:spPr bwMode="gray">
            <a:xfrm>
              <a:off x="1986812" y="4308374"/>
              <a:ext cx="977796" cy="976041"/>
            </a:xfrm>
            <a:prstGeom prst="ellipse">
              <a:avLst/>
            </a:prstGeom>
            <a:ln>
              <a:headEnd/>
              <a:tailEnd/>
            </a:ln>
          </p:spPr>
          <p:style>
            <a:lnRef idx="1">
              <a:schemeClr val="accent6"/>
            </a:lnRef>
            <a:fillRef idx="3">
              <a:schemeClr val="accent6"/>
            </a:fillRef>
            <a:effectRef idx="2">
              <a:schemeClr val="accent6"/>
            </a:effectRef>
            <a:fontRef idx="minor">
              <a:schemeClr val="lt1"/>
            </a:fontRef>
          </p:style>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sp>
          <p:nvSpPr>
            <p:cNvPr id="29" name="Oval 28">
              <a:extLst>
                <a:ext uri="{FF2B5EF4-FFF2-40B4-BE49-F238E27FC236}">
                  <a16:creationId xmlns:a16="http://schemas.microsoft.com/office/drawing/2014/main" id="{36E0D264-AC4B-49A5-AA22-17400272062A}"/>
                </a:ext>
              </a:extLst>
            </p:cNvPr>
            <p:cNvSpPr/>
            <p:nvPr/>
          </p:nvSpPr>
          <p:spPr bwMode="gray">
            <a:xfrm>
              <a:off x="2057664" y="4391705"/>
              <a:ext cx="835403" cy="800450"/>
            </a:xfrm>
            <a:prstGeom prst="ellipse">
              <a:avLst/>
            </a:prstGeom>
            <a:noFill/>
            <a:ln w="76200" algn="ctr">
              <a:solidFill>
                <a:schemeClr val="bg1"/>
              </a:solidFill>
              <a:miter lim="800000"/>
              <a:headEnd/>
              <a:tailEnd/>
            </a:ln>
          </p:spPr>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cxnSp>
          <p:nvCxnSpPr>
            <p:cNvPr id="30" name="Straight Connector 29">
              <a:extLst>
                <a:ext uri="{FF2B5EF4-FFF2-40B4-BE49-F238E27FC236}">
                  <a16:creationId xmlns:a16="http://schemas.microsoft.com/office/drawing/2014/main" id="{A822D13A-F083-49D4-9027-DC6CF64D07E7}"/>
                </a:ext>
              </a:extLst>
            </p:cNvPr>
            <p:cNvCxnSpPr>
              <a:stCxn id="28" idx="0"/>
            </p:cNvCxnSpPr>
            <p:nvPr/>
          </p:nvCxnSpPr>
          <p:spPr>
            <a:xfrm flipH="1" flipV="1">
              <a:off x="2473062" y="4096772"/>
              <a:ext cx="2648" cy="211601"/>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E7E73D-3308-4A2B-B02B-20A110F37CDC}"/>
                </a:ext>
              </a:extLst>
            </p:cNvPr>
            <p:cNvCxnSpPr/>
            <p:nvPr/>
          </p:nvCxnSpPr>
          <p:spPr>
            <a:xfrm flipH="1" flipV="1">
              <a:off x="2911083" y="5033287"/>
              <a:ext cx="253892" cy="158869"/>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34C7DFC-DE1D-4D1B-B798-A7A0CD456047}"/>
                </a:ext>
              </a:extLst>
            </p:cNvPr>
            <p:cNvCxnSpPr/>
            <p:nvPr/>
          </p:nvCxnSpPr>
          <p:spPr>
            <a:xfrm flipH="1">
              <a:off x="1761776" y="5018978"/>
              <a:ext cx="282348" cy="182973"/>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AAF2C8E5-7099-44B5-B5D3-8B77ED37370D}"/>
                </a:ext>
              </a:extLst>
            </p:cNvPr>
            <p:cNvSpPr/>
            <p:nvPr/>
          </p:nvSpPr>
          <p:spPr bwMode="gray">
            <a:xfrm>
              <a:off x="2384690" y="3941660"/>
              <a:ext cx="176744" cy="189132"/>
            </a:xfrm>
            <a:prstGeom prst="ellipse">
              <a:avLst/>
            </a:prstGeom>
            <a:solidFill>
              <a:schemeClr val="tx1">
                <a:lumMod val="50000"/>
                <a:lumOff val="5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sp>
          <p:nvSpPr>
            <p:cNvPr id="34" name="Oval 33">
              <a:extLst>
                <a:ext uri="{FF2B5EF4-FFF2-40B4-BE49-F238E27FC236}">
                  <a16:creationId xmlns:a16="http://schemas.microsoft.com/office/drawing/2014/main" id="{8A293ABC-5198-473A-A0EB-95F25FCF50AE}"/>
                </a:ext>
              </a:extLst>
            </p:cNvPr>
            <p:cNvSpPr/>
            <p:nvPr/>
          </p:nvSpPr>
          <p:spPr bwMode="gray">
            <a:xfrm>
              <a:off x="3135510" y="5143807"/>
              <a:ext cx="176744" cy="189132"/>
            </a:xfrm>
            <a:prstGeom prst="ellipse">
              <a:avLst/>
            </a:prstGeom>
            <a:solidFill>
              <a:schemeClr val="tx1">
                <a:lumMod val="50000"/>
                <a:lumOff val="5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sp>
          <p:nvSpPr>
            <p:cNvPr id="35" name="Oval 34">
              <a:extLst>
                <a:ext uri="{FF2B5EF4-FFF2-40B4-BE49-F238E27FC236}">
                  <a16:creationId xmlns:a16="http://schemas.microsoft.com/office/drawing/2014/main" id="{AA032009-9698-4F6A-95B2-6F527B8967A6}"/>
                </a:ext>
              </a:extLst>
            </p:cNvPr>
            <p:cNvSpPr/>
            <p:nvPr/>
          </p:nvSpPr>
          <p:spPr bwMode="gray">
            <a:xfrm>
              <a:off x="1627069" y="5123435"/>
              <a:ext cx="176744" cy="189132"/>
            </a:xfrm>
            <a:prstGeom prst="ellipse">
              <a:avLst/>
            </a:prstGeom>
            <a:solidFill>
              <a:schemeClr val="tx1">
                <a:lumMod val="50000"/>
                <a:lumOff val="5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sp>
          <p:nvSpPr>
            <p:cNvPr id="36" name="TextBox 35">
              <a:extLst>
                <a:ext uri="{FF2B5EF4-FFF2-40B4-BE49-F238E27FC236}">
                  <a16:creationId xmlns:a16="http://schemas.microsoft.com/office/drawing/2014/main" id="{7D02CC16-2793-438D-A877-B96771A674E2}"/>
                </a:ext>
              </a:extLst>
            </p:cNvPr>
            <p:cNvSpPr txBox="1"/>
            <p:nvPr/>
          </p:nvSpPr>
          <p:spPr>
            <a:xfrm>
              <a:off x="1590208" y="5394935"/>
              <a:ext cx="1722047" cy="208712"/>
            </a:xfrm>
            <a:prstGeom prst="rect">
              <a:avLst/>
            </a:prstGeom>
            <a:noFill/>
          </p:spPr>
          <p:txBody>
            <a:bodyPr wrap="square" lIns="0" tIns="0" rIns="0" bIns="0" rtlCol="0">
              <a:spAutoFit/>
            </a:bodyPr>
            <a:lstStyle/>
            <a:p>
              <a:pPr algn="ctr" defTabSz="623438">
                <a:spcBef>
                  <a:spcPts val="409"/>
                </a:spcBef>
                <a:buSzPct val="100000"/>
                <a:defRPr/>
              </a:pPr>
              <a:r>
                <a:rPr lang="en-US" sz="818" b="1" dirty="0">
                  <a:solidFill>
                    <a:srgbClr val="313131"/>
                  </a:solidFill>
                  <a:latin typeface="Verdana"/>
                </a:rPr>
                <a:t>SMART PMO</a:t>
              </a:r>
              <a:endParaRPr lang="en-IN" sz="818" b="1" dirty="0">
                <a:solidFill>
                  <a:srgbClr val="313131"/>
                </a:solidFill>
                <a:latin typeface="Verdana"/>
              </a:endParaRPr>
            </a:p>
          </p:txBody>
        </p:sp>
        <p:sp>
          <p:nvSpPr>
            <p:cNvPr id="37" name="TextBox 36">
              <a:hlinkClick r:id="" action="ppaction://noaction"/>
              <a:extLst>
                <a:ext uri="{FF2B5EF4-FFF2-40B4-BE49-F238E27FC236}">
                  <a16:creationId xmlns:a16="http://schemas.microsoft.com/office/drawing/2014/main" id="{A7BBB501-5117-4820-A573-549A3AB8DA7F}"/>
                </a:ext>
              </a:extLst>
            </p:cNvPr>
            <p:cNvSpPr txBox="1"/>
            <p:nvPr/>
          </p:nvSpPr>
          <p:spPr>
            <a:xfrm>
              <a:off x="3567161" y="6106771"/>
              <a:ext cx="838267" cy="208712"/>
            </a:xfrm>
            <a:prstGeom prst="rect">
              <a:avLst/>
            </a:prstGeom>
            <a:noFill/>
          </p:spPr>
          <p:txBody>
            <a:bodyPr wrap="square" lIns="0" tIns="0" rIns="0" bIns="0" rtlCol="0">
              <a:spAutoFit/>
            </a:bodyPr>
            <a:lstStyle/>
            <a:p>
              <a:pPr defTabSz="623438">
                <a:spcBef>
                  <a:spcPts val="409"/>
                </a:spcBef>
                <a:buSzPct val="100000"/>
                <a:defRPr/>
              </a:pPr>
              <a:r>
                <a:rPr lang="en-US" sz="818" b="1" dirty="0">
                  <a:solidFill>
                    <a:srgbClr val="313131"/>
                  </a:solidFill>
                  <a:latin typeface="Verdana"/>
                </a:rPr>
                <a:t>Process</a:t>
              </a:r>
              <a:endParaRPr lang="en-IN" sz="818" b="1" dirty="0">
                <a:solidFill>
                  <a:srgbClr val="313131"/>
                </a:solidFill>
                <a:latin typeface="Verdana"/>
              </a:endParaRPr>
            </a:p>
          </p:txBody>
        </p:sp>
        <p:sp>
          <p:nvSpPr>
            <p:cNvPr id="38" name="TextBox 37">
              <a:hlinkClick r:id="" action="ppaction://noaction"/>
              <a:extLst>
                <a:ext uri="{FF2B5EF4-FFF2-40B4-BE49-F238E27FC236}">
                  <a16:creationId xmlns:a16="http://schemas.microsoft.com/office/drawing/2014/main" id="{FE3E5761-A797-42D3-99D8-01607F1C0FE5}"/>
                </a:ext>
              </a:extLst>
            </p:cNvPr>
            <p:cNvSpPr txBox="1"/>
            <p:nvPr/>
          </p:nvSpPr>
          <p:spPr>
            <a:xfrm>
              <a:off x="659522" y="6106771"/>
              <a:ext cx="682446" cy="208712"/>
            </a:xfrm>
            <a:prstGeom prst="rect">
              <a:avLst/>
            </a:prstGeom>
            <a:noFill/>
          </p:spPr>
          <p:txBody>
            <a:bodyPr wrap="square" lIns="0" tIns="0" rIns="0" bIns="0" rtlCol="0">
              <a:spAutoFit/>
            </a:bodyPr>
            <a:lstStyle/>
            <a:p>
              <a:pPr defTabSz="623438">
                <a:spcBef>
                  <a:spcPts val="409"/>
                </a:spcBef>
                <a:buSzPct val="100000"/>
                <a:defRPr/>
              </a:pPr>
              <a:r>
                <a:rPr lang="en-US" sz="818" b="1" dirty="0">
                  <a:solidFill>
                    <a:srgbClr val="313131"/>
                  </a:solidFill>
                  <a:latin typeface="Verdana"/>
                </a:rPr>
                <a:t>People</a:t>
              </a:r>
              <a:endParaRPr lang="en-IN" sz="818" b="1" dirty="0">
                <a:solidFill>
                  <a:srgbClr val="313131"/>
                </a:solidFill>
                <a:latin typeface="Verdana"/>
              </a:endParaRPr>
            </a:p>
          </p:txBody>
        </p:sp>
        <p:sp>
          <p:nvSpPr>
            <p:cNvPr id="39" name="Freeform 45">
              <a:extLst>
                <a:ext uri="{FF2B5EF4-FFF2-40B4-BE49-F238E27FC236}">
                  <a16:creationId xmlns:a16="http://schemas.microsoft.com/office/drawing/2014/main" id="{9550D388-9078-49D7-82A7-82747F9874BA}"/>
                </a:ext>
              </a:extLst>
            </p:cNvPr>
            <p:cNvSpPr>
              <a:spLocks noChangeAspect="1" noEditPoints="1"/>
            </p:cNvSpPr>
            <p:nvPr/>
          </p:nvSpPr>
          <p:spPr bwMode="auto">
            <a:xfrm>
              <a:off x="3713171" y="5242723"/>
              <a:ext cx="458728" cy="475285"/>
            </a:xfrm>
            <a:custGeom>
              <a:avLst/>
              <a:gdLst>
                <a:gd name="T0" fmla="*/ 445 w 511"/>
                <a:gd name="T1" fmla="*/ 483 h 510"/>
                <a:gd name="T2" fmla="*/ 445 w 511"/>
                <a:gd name="T3" fmla="*/ 483 h 510"/>
                <a:gd name="T4" fmla="*/ 408 w 511"/>
                <a:gd name="T5" fmla="*/ 445 h 510"/>
                <a:gd name="T6" fmla="*/ 445 w 511"/>
                <a:gd name="T7" fmla="*/ 408 h 510"/>
                <a:gd name="T8" fmla="*/ 483 w 511"/>
                <a:gd name="T9" fmla="*/ 445 h 510"/>
                <a:gd name="T10" fmla="*/ 445 w 511"/>
                <a:gd name="T11" fmla="*/ 483 h 510"/>
                <a:gd name="T12" fmla="*/ 293 w 511"/>
                <a:gd name="T13" fmla="*/ 445 h 510"/>
                <a:gd name="T14" fmla="*/ 293 w 511"/>
                <a:gd name="T15" fmla="*/ 445 h 510"/>
                <a:gd name="T16" fmla="*/ 255 w 511"/>
                <a:gd name="T17" fmla="*/ 483 h 510"/>
                <a:gd name="T18" fmla="*/ 217 w 511"/>
                <a:gd name="T19" fmla="*/ 445 h 510"/>
                <a:gd name="T20" fmla="*/ 255 w 511"/>
                <a:gd name="T21" fmla="*/ 408 h 510"/>
                <a:gd name="T22" fmla="*/ 293 w 511"/>
                <a:gd name="T23" fmla="*/ 445 h 510"/>
                <a:gd name="T24" fmla="*/ 217 w 511"/>
                <a:gd name="T25" fmla="*/ 65 h 510"/>
                <a:gd name="T26" fmla="*/ 217 w 511"/>
                <a:gd name="T27" fmla="*/ 65 h 510"/>
                <a:gd name="T28" fmla="*/ 255 w 511"/>
                <a:gd name="T29" fmla="*/ 27 h 510"/>
                <a:gd name="T30" fmla="*/ 293 w 511"/>
                <a:gd name="T31" fmla="*/ 65 h 510"/>
                <a:gd name="T32" fmla="*/ 255 w 511"/>
                <a:gd name="T33" fmla="*/ 102 h 510"/>
                <a:gd name="T34" fmla="*/ 217 w 511"/>
                <a:gd name="T35" fmla="*/ 65 h 510"/>
                <a:gd name="T36" fmla="*/ 102 w 511"/>
                <a:gd name="T37" fmla="*/ 445 h 510"/>
                <a:gd name="T38" fmla="*/ 102 w 511"/>
                <a:gd name="T39" fmla="*/ 445 h 510"/>
                <a:gd name="T40" fmla="*/ 65 w 511"/>
                <a:gd name="T41" fmla="*/ 483 h 510"/>
                <a:gd name="T42" fmla="*/ 27 w 511"/>
                <a:gd name="T43" fmla="*/ 445 h 510"/>
                <a:gd name="T44" fmla="*/ 65 w 511"/>
                <a:gd name="T45" fmla="*/ 408 h 510"/>
                <a:gd name="T46" fmla="*/ 102 w 511"/>
                <a:gd name="T47" fmla="*/ 445 h 510"/>
                <a:gd name="T48" fmla="*/ 471 w 511"/>
                <a:gd name="T49" fmla="*/ 385 h 510"/>
                <a:gd name="T50" fmla="*/ 471 w 511"/>
                <a:gd name="T51" fmla="*/ 385 h 510"/>
                <a:gd name="T52" fmla="*/ 471 w 511"/>
                <a:gd name="T53" fmla="*/ 323 h 510"/>
                <a:gd name="T54" fmla="*/ 377 w 511"/>
                <a:gd name="T55" fmla="*/ 229 h 510"/>
                <a:gd name="T56" fmla="*/ 323 w 511"/>
                <a:gd name="T57" fmla="*/ 229 h 510"/>
                <a:gd name="T58" fmla="*/ 281 w 511"/>
                <a:gd name="T59" fmla="*/ 201 h 510"/>
                <a:gd name="T60" fmla="*/ 281 w 511"/>
                <a:gd name="T61" fmla="*/ 125 h 510"/>
                <a:gd name="T62" fmla="*/ 320 w 511"/>
                <a:gd name="T63" fmla="*/ 65 h 510"/>
                <a:gd name="T64" fmla="*/ 255 w 511"/>
                <a:gd name="T65" fmla="*/ 0 h 510"/>
                <a:gd name="T66" fmla="*/ 190 w 511"/>
                <a:gd name="T67" fmla="*/ 65 h 510"/>
                <a:gd name="T68" fmla="*/ 229 w 511"/>
                <a:gd name="T69" fmla="*/ 125 h 510"/>
                <a:gd name="T70" fmla="*/ 229 w 511"/>
                <a:gd name="T71" fmla="*/ 201 h 510"/>
                <a:gd name="T72" fmla="*/ 187 w 511"/>
                <a:gd name="T73" fmla="*/ 229 h 510"/>
                <a:gd name="T74" fmla="*/ 133 w 511"/>
                <a:gd name="T75" fmla="*/ 229 h 510"/>
                <a:gd name="T76" fmla="*/ 39 w 511"/>
                <a:gd name="T77" fmla="*/ 323 h 510"/>
                <a:gd name="T78" fmla="*/ 39 w 511"/>
                <a:gd name="T79" fmla="*/ 385 h 510"/>
                <a:gd name="T80" fmla="*/ 0 w 511"/>
                <a:gd name="T81" fmla="*/ 445 h 510"/>
                <a:gd name="T82" fmla="*/ 65 w 511"/>
                <a:gd name="T83" fmla="*/ 510 h 510"/>
                <a:gd name="T84" fmla="*/ 130 w 511"/>
                <a:gd name="T85" fmla="*/ 445 h 510"/>
                <a:gd name="T86" fmla="*/ 91 w 511"/>
                <a:gd name="T87" fmla="*/ 385 h 510"/>
                <a:gd name="T88" fmla="*/ 91 w 511"/>
                <a:gd name="T89" fmla="*/ 323 h 510"/>
                <a:gd name="T90" fmla="*/ 133 w 511"/>
                <a:gd name="T91" fmla="*/ 281 h 510"/>
                <a:gd name="T92" fmla="*/ 187 w 511"/>
                <a:gd name="T93" fmla="*/ 281 h 510"/>
                <a:gd name="T94" fmla="*/ 229 w 511"/>
                <a:gd name="T95" fmla="*/ 274 h 510"/>
                <a:gd name="T96" fmla="*/ 229 w 511"/>
                <a:gd name="T97" fmla="*/ 385 h 510"/>
                <a:gd name="T98" fmla="*/ 190 w 511"/>
                <a:gd name="T99" fmla="*/ 445 h 510"/>
                <a:gd name="T100" fmla="*/ 255 w 511"/>
                <a:gd name="T101" fmla="*/ 510 h 510"/>
                <a:gd name="T102" fmla="*/ 320 w 511"/>
                <a:gd name="T103" fmla="*/ 445 h 510"/>
                <a:gd name="T104" fmla="*/ 281 w 511"/>
                <a:gd name="T105" fmla="*/ 385 h 510"/>
                <a:gd name="T106" fmla="*/ 281 w 511"/>
                <a:gd name="T107" fmla="*/ 274 h 510"/>
                <a:gd name="T108" fmla="*/ 323 w 511"/>
                <a:gd name="T109" fmla="*/ 281 h 510"/>
                <a:gd name="T110" fmla="*/ 377 w 511"/>
                <a:gd name="T111" fmla="*/ 281 h 510"/>
                <a:gd name="T112" fmla="*/ 420 w 511"/>
                <a:gd name="T113" fmla="*/ 323 h 510"/>
                <a:gd name="T114" fmla="*/ 420 w 511"/>
                <a:gd name="T115" fmla="*/ 385 h 510"/>
                <a:gd name="T116" fmla="*/ 380 w 511"/>
                <a:gd name="T117" fmla="*/ 445 h 510"/>
                <a:gd name="T118" fmla="*/ 445 w 511"/>
                <a:gd name="T119" fmla="*/ 510 h 510"/>
                <a:gd name="T120" fmla="*/ 511 w 511"/>
                <a:gd name="T121" fmla="*/ 445 h 510"/>
                <a:gd name="T122" fmla="*/ 471 w 511"/>
                <a:gd name="T123" fmla="*/ 385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1" h="510">
                  <a:moveTo>
                    <a:pt x="445" y="483"/>
                  </a:moveTo>
                  <a:lnTo>
                    <a:pt x="445" y="483"/>
                  </a:lnTo>
                  <a:cubicBezTo>
                    <a:pt x="425" y="483"/>
                    <a:pt x="408" y="466"/>
                    <a:pt x="408" y="445"/>
                  </a:cubicBezTo>
                  <a:cubicBezTo>
                    <a:pt x="408" y="424"/>
                    <a:pt x="425" y="408"/>
                    <a:pt x="445" y="408"/>
                  </a:cubicBezTo>
                  <a:cubicBezTo>
                    <a:pt x="466" y="408"/>
                    <a:pt x="483" y="424"/>
                    <a:pt x="483" y="445"/>
                  </a:cubicBezTo>
                  <a:cubicBezTo>
                    <a:pt x="483" y="466"/>
                    <a:pt x="466" y="483"/>
                    <a:pt x="445" y="483"/>
                  </a:cubicBezTo>
                  <a:close/>
                  <a:moveTo>
                    <a:pt x="293" y="445"/>
                  </a:moveTo>
                  <a:lnTo>
                    <a:pt x="293" y="445"/>
                  </a:lnTo>
                  <a:cubicBezTo>
                    <a:pt x="293" y="466"/>
                    <a:pt x="276" y="483"/>
                    <a:pt x="255" y="483"/>
                  </a:cubicBezTo>
                  <a:cubicBezTo>
                    <a:pt x="234" y="483"/>
                    <a:pt x="217" y="466"/>
                    <a:pt x="217" y="445"/>
                  </a:cubicBezTo>
                  <a:cubicBezTo>
                    <a:pt x="217" y="424"/>
                    <a:pt x="234" y="408"/>
                    <a:pt x="255" y="408"/>
                  </a:cubicBezTo>
                  <a:cubicBezTo>
                    <a:pt x="276" y="408"/>
                    <a:pt x="293" y="424"/>
                    <a:pt x="293" y="445"/>
                  </a:cubicBezTo>
                  <a:close/>
                  <a:moveTo>
                    <a:pt x="217" y="65"/>
                  </a:moveTo>
                  <a:lnTo>
                    <a:pt x="217" y="65"/>
                  </a:lnTo>
                  <a:cubicBezTo>
                    <a:pt x="217" y="44"/>
                    <a:pt x="234" y="27"/>
                    <a:pt x="255" y="27"/>
                  </a:cubicBezTo>
                  <a:cubicBezTo>
                    <a:pt x="276" y="27"/>
                    <a:pt x="293" y="44"/>
                    <a:pt x="293" y="65"/>
                  </a:cubicBezTo>
                  <a:cubicBezTo>
                    <a:pt x="293" y="85"/>
                    <a:pt x="276" y="102"/>
                    <a:pt x="255" y="102"/>
                  </a:cubicBezTo>
                  <a:cubicBezTo>
                    <a:pt x="234" y="102"/>
                    <a:pt x="217" y="85"/>
                    <a:pt x="217" y="65"/>
                  </a:cubicBezTo>
                  <a:close/>
                  <a:moveTo>
                    <a:pt x="102" y="445"/>
                  </a:moveTo>
                  <a:lnTo>
                    <a:pt x="102" y="445"/>
                  </a:lnTo>
                  <a:cubicBezTo>
                    <a:pt x="102" y="466"/>
                    <a:pt x="86" y="483"/>
                    <a:pt x="65" y="483"/>
                  </a:cubicBezTo>
                  <a:cubicBezTo>
                    <a:pt x="44" y="483"/>
                    <a:pt x="27" y="466"/>
                    <a:pt x="27" y="445"/>
                  </a:cubicBezTo>
                  <a:cubicBezTo>
                    <a:pt x="27" y="424"/>
                    <a:pt x="44" y="408"/>
                    <a:pt x="65" y="408"/>
                  </a:cubicBezTo>
                  <a:cubicBezTo>
                    <a:pt x="86" y="408"/>
                    <a:pt x="102" y="424"/>
                    <a:pt x="102" y="445"/>
                  </a:cubicBezTo>
                  <a:close/>
                  <a:moveTo>
                    <a:pt x="471" y="385"/>
                  </a:moveTo>
                  <a:lnTo>
                    <a:pt x="471" y="385"/>
                  </a:lnTo>
                  <a:lnTo>
                    <a:pt x="471" y="323"/>
                  </a:lnTo>
                  <a:cubicBezTo>
                    <a:pt x="471" y="285"/>
                    <a:pt x="446" y="229"/>
                    <a:pt x="377" y="229"/>
                  </a:cubicBezTo>
                  <a:lnTo>
                    <a:pt x="323" y="229"/>
                  </a:lnTo>
                  <a:cubicBezTo>
                    <a:pt x="285" y="229"/>
                    <a:pt x="281" y="210"/>
                    <a:pt x="281" y="201"/>
                  </a:cubicBezTo>
                  <a:lnTo>
                    <a:pt x="281" y="125"/>
                  </a:lnTo>
                  <a:cubicBezTo>
                    <a:pt x="304" y="114"/>
                    <a:pt x="320" y="91"/>
                    <a:pt x="320" y="65"/>
                  </a:cubicBezTo>
                  <a:cubicBezTo>
                    <a:pt x="320" y="29"/>
                    <a:pt x="291" y="0"/>
                    <a:pt x="255" y="0"/>
                  </a:cubicBezTo>
                  <a:cubicBezTo>
                    <a:pt x="219" y="0"/>
                    <a:pt x="190" y="29"/>
                    <a:pt x="190" y="65"/>
                  </a:cubicBezTo>
                  <a:cubicBezTo>
                    <a:pt x="190" y="91"/>
                    <a:pt x="206" y="114"/>
                    <a:pt x="229" y="125"/>
                  </a:cubicBezTo>
                  <a:lnTo>
                    <a:pt x="229" y="201"/>
                  </a:lnTo>
                  <a:cubicBezTo>
                    <a:pt x="229" y="208"/>
                    <a:pt x="227" y="229"/>
                    <a:pt x="187" y="229"/>
                  </a:cubicBezTo>
                  <a:lnTo>
                    <a:pt x="133" y="229"/>
                  </a:lnTo>
                  <a:cubicBezTo>
                    <a:pt x="64" y="229"/>
                    <a:pt x="39" y="285"/>
                    <a:pt x="39" y="323"/>
                  </a:cubicBezTo>
                  <a:lnTo>
                    <a:pt x="39" y="385"/>
                  </a:lnTo>
                  <a:cubicBezTo>
                    <a:pt x="16" y="395"/>
                    <a:pt x="0" y="418"/>
                    <a:pt x="0" y="445"/>
                  </a:cubicBezTo>
                  <a:cubicBezTo>
                    <a:pt x="0" y="481"/>
                    <a:pt x="29" y="510"/>
                    <a:pt x="65" y="510"/>
                  </a:cubicBezTo>
                  <a:cubicBezTo>
                    <a:pt x="101" y="510"/>
                    <a:pt x="130" y="481"/>
                    <a:pt x="130" y="445"/>
                  </a:cubicBezTo>
                  <a:cubicBezTo>
                    <a:pt x="130" y="418"/>
                    <a:pt x="114" y="395"/>
                    <a:pt x="91" y="385"/>
                  </a:cubicBezTo>
                  <a:lnTo>
                    <a:pt x="91" y="323"/>
                  </a:lnTo>
                  <a:cubicBezTo>
                    <a:pt x="91" y="316"/>
                    <a:pt x="93" y="281"/>
                    <a:pt x="133" y="281"/>
                  </a:cubicBezTo>
                  <a:lnTo>
                    <a:pt x="187" y="281"/>
                  </a:lnTo>
                  <a:cubicBezTo>
                    <a:pt x="204" y="281"/>
                    <a:pt x="218" y="278"/>
                    <a:pt x="229" y="274"/>
                  </a:cubicBezTo>
                  <a:lnTo>
                    <a:pt x="229" y="385"/>
                  </a:lnTo>
                  <a:cubicBezTo>
                    <a:pt x="206" y="395"/>
                    <a:pt x="190" y="418"/>
                    <a:pt x="190" y="445"/>
                  </a:cubicBezTo>
                  <a:cubicBezTo>
                    <a:pt x="190" y="481"/>
                    <a:pt x="219" y="510"/>
                    <a:pt x="255" y="510"/>
                  </a:cubicBezTo>
                  <a:cubicBezTo>
                    <a:pt x="291" y="510"/>
                    <a:pt x="320" y="481"/>
                    <a:pt x="320" y="445"/>
                  </a:cubicBezTo>
                  <a:cubicBezTo>
                    <a:pt x="320" y="418"/>
                    <a:pt x="304" y="395"/>
                    <a:pt x="281" y="385"/>
                  </a:cubicBezTo>
                  <a:lnTo>
                    <a:pt x="281" y="274"/>
                  </a:lnTo>
                  <a:cubicBezTo>
                    <a:pt x="293" y="278"/>
                    <a:pt x="307" y="281"/>
                    <a:pt x="323" y="281"/>
                  </a:cubicBezTo>
                  <a:lnTo>
                    <a:pt x="377" y="281"/>
                  </a:lnTo>
                  <a:cubicBezTo>
                    <a:pt x="416" y="281"/>
                    <a:pt x="419" y="313"/>
                    <a:pt x="420" y="323"/>
                  </a:cubicBezTo>
                  <a:lnTo>
                    <a:pt x="420" y="385"/>
                  </a:lnTo>
                  <a:cubicBezTo>
                    <a:pt x="396" y="395"/>
                    <a:pt x="380" y="418"/>
                    <a:pt x="380" y="445"/>
                  </a:cubicBezTo>
                  <a:cubicBezTo>
                    <a:pt x="380" y="481"/>
                    <a:pt x="409" y="510"/>
                    <a:pt x="445" y="510"/>
                  </a:cubicBezTo>
                  <a:cubicBezTo>
                    <a:pt x="481" y="510"/>
                    <a:pt x="511" y="481"/>
                    <a:pt x="511" y="445"/>
                  </a:cubicBezTo>
                  <a:cubicBezTo>
                    <a:pt x="511" y="418"/>
                    <a:pt x="494" y="395"/>
                    <a:pt x="471" y="385"/>
                  </a:cubicBez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837848"/>
              <a:endParaRPr lang="en-US" sz="682" b="1" dirty="0">
                <a:solidFill>
                  <a:prstClr val="black"/>
                </a:solidFill>
                <a:latin typeface="Verdana"/>
              </a:endParaRPr>
            </a:p>
          </p:txBody>
        </p:sp>
        <p:sp>
          <p:nvSpPr>
            <p:cNvPr id="40" name="Freeform 5">
              <a:extLst>
                <a:ext uri="{FF2B5EF4-FFF2-40B4-BE49-F238E27FC236}">
                  <a16:creationId xmlns:a16="http://schemas.microsoft.com/office/drawing/2014/main" id="{A9385EA5-4A0B-43AA-9EFF-820587E4BD97}"/>
                </a:ext>
              </a:extLst>
            </p:cNvPr>
            <p:cNvSpPr>
              <a:spLocks noChangeAspect="1"/>
            </p:cNvSpPr>
            <p:nvPr/>
          </p:nvSpPr>
          <p:spPr bwMode="auto">
            <a:xfrm>
              <a:off x="2262700" y="4609370"/>
              <a:ext cx="449891" cy="365120"/>
            </a:xfrm>
            <a:custGeom>
              <a:avLst/>
              <a:gdLst>
                <a:gd name="T0" fmla="*/ 5373 w 5480"/>
                <a:gd name="T1" fmla="*/ 2428 h 4448"/>
                <a:gd name="T2" fmla="*/ 5233 w 5480"/>
                <a:gd name="T3" fmla="*/ 2400 h 4448"/>
                <a:gd name="T4" fmla="*/ 5354 w 5480"/>
                <a:gd name="T5" fmla="*/ 2175 h 4448"/>
                <a:gd name="T6" fmla="*/ 5222 w 5480"/>
                <a:gd name="T7" fmla="*/ 2100 h 4448"/>
                <a:gd name="T8" fmla="*/ 4962 w 5480"/>
                <a:gd name="T9" fmla="*/ 2336 h 4448"/>
                <a:gd name="T10" fmla="*/ 5092 w 5480"/>
                <a:gd name="T11" fmla="*/ 1972 h 4448"/>
                <a:gd name="T12" fmla="*/ 4793 w 5480"/>
                <a:gd name="T13" fmla="*/ 2425 h 4448"/>
                <a:gd name="T14" fmla="*/ 4634 w 5480"/>
                <a:gd name="T15" fmla="*/ 2370 h 4448"/>
                <a:gd name="T16" fmla="*/ 4245 w 5480"/>
                <a:gd name="T17" fmla="*/ 3264 h 4448"/>
                <a:gd name="T18" fmla="*/ 3735 w 5480"/>
                <a:gd name="T19" fmla="*/ 2542 h 4448"/>
                <a:gd name="T20" fmla="*/ 4198 w 5480"/>
                <a:gd name="T21" fmla="*/ 2464 h 4448"/>
                <a:gd name="T22" fmla="*/ 4297 w 5480"/>
                <a:gd name="T23" fmla="*/ 2016 h 4448"/>
                <a:gd name="T24" fmla="*/ 4684 w 5480"/>
                <a:gd name="T25" fmla="*/ 1664 h 4448"/>
                <a:gd name="T26" fmla="*/ 4544 w 5480"/>
                <a:gd name="T27" fmla="*/ 1231 h 4448"/>
                <a:gd name="T28" fmla="*/ 4913 w 5480"/>
                <a:gd name="T29" fmla="*/ 620 h 4448"/>
                <a:gd name="T30" fmla="*/ 4252 w 5480"/>
                <a:gd name="T31" fmla="*/ 428 h 4448"/>
                <a:gd name="T32" fmla="*/ 3576 w 5480"/>
                <a:gd name="T33" fmla="*/ 1889 h 4448"/>
                <a:gd name="T34" fmla="*/ 3269 w 5480"/>
                <a:gd name="T35" fmla="*/ 1678 h 4448"/>
                <a:gd name="T36" fmla="*/ 3248 w 5480"/>
                <a:gd name="T37" fmla="*/ 1394 h 4448"/>
                <a:gd name="T38" fmla="*/ 2494 w 5480"/>
                <a:gd name="T39" fmla="*/ 872 h 4448"/>
                <a:gd name="T40" fmla="*/ 2468 w 5480"/>
                <a:gd name="T41" fmla="*/ 1143 h 4448"/>
                <a:gd name="T42" fmla="*/ 2400 w 5480"/>
                <a:gd name="T43" fmla="*/ 1565 h 4448"/>
                <a:gd name="T44" fmla="*/ 1936 w 5480"/>
                <a:gd name="T45" fmla="*/ 1242 h 4448"/>
                <a:gd name="T46" fmla="*/ 552 w 5480"/>
                <a:gd name="T47" fmla="*/ 403 h 4448"/>
                <a:gd name="T48" fmla="*/ 981 w 5480"/>
                <a:gd name="T49" fmla="*/ 1097 h 4448"/>
                <a:gd name="T50" fmla="*/ 783 w 5480"/>
                <a:gd name="T51" fmla="*/ 1475 h 4448"/>
                <a:gd name="T52" fmla="*/ 1154 w 5480"/>
                <a:gd name="T53" fmla="*/ 1893 h 4448"/>
                <a:gd name="T54" fmla="*/ 1177 w 5480"/>
                <a:gd name="T55" fmla="*/ 2317 h 4448"/>
                <a:gd name="T56" fmla="*/ 1664 w 5480"/>
                <a:gd name="T57" fmla="*/ 2497 h 4448"/>
                <a:gd name="T58" fmla="*/ 2002 w 5480"/>
                <a:gd name="T59" fmla="*/ 2794 h 4448"/>
                <a:gd name="T60" fmla="*/ 1332 w 5480"/>
                <a:gd name="T61" fmla="*/ 3302 h 4448"/>
                <a:gd name="T62" fmla="*/ 1022 w 5480"/>
                <a:gd name="T63" fmla="*/ 3031 h 4448"/>
                <a:gd name="T64" fmla="*/ 825 w 5480"/>
                <a:gd name="T65" fmla="*/ 2872 h 4448"/>
                <a:gd name="T66" fmla="*/ 542 w 5480"/>
                <a:gd name="T67" fmla="*/ 2638 h 4448"/>
                <a:gd name="T68" fmla="*/ 502 w 5480"/>
                <a:gd name="T69" fmla="*/ 2243 h 4448"/>
                <a:gd name="T70" fmla="*/ 341 w 5480"/>
                <a:gd name="T71" fmla="*/ 1835 h 4448"/>
                <a:gd name="T72" fmla="*/ 157 w 5480"/>
                <a:gd name="T73" fmla="*/ 2179 h 4448"/>
                <a:gd name="T74" fmla="*/ 34 w 5480"/>
                <a:gd name="T75" fmla="*/ 2549 h 4448"/>
                <a:gd name="T76" fmla="*/ 202 w 5480"/>
                <a:gd name="T77" fmla="*/ 3063 h 4448"/>
                <a:gd name="T78" fmla="*/ 660 w 5480"/>
                <a:gd name="T79" fmla="*/ 3492 h 4448"/>
                <a:gd name="T80" fmla="*/ 960 w 5480"/>
                <a:gd name="T81" fmla="*/ 3461 h 4448"/>
                <a:gd name="T82" fmla="*/ 1345 w 5480"/>
                <a:gd name="T83" fmla="*/ 3477 h 4448"/>
                <a:gd name="T84" fmla="*/ 2421 w 5480"/>
                <a:gd name="T85" fmla="*/ 3323 h 4448"/>
                <a:gd name="T86" fmla="*/ 2374 w 5480"/>
                <a:gd name="T87" fmla="*/ 4085 h 4448"/>
                <a:gd name="T88" fmla="*/ 2790 w 5480"/>
                <a:gd name="T89" fmla="*/ 4448 h 4448"/>
                <a:gd name="T90" fmla="*/ 3194 w 5480"/>
                <a:gd name="T91" fmla="*/ 4064 h 4448"/>
                <a:gd name="T92" fmla="*/ 3151 w 5480"/>
                <a:gd name="T93" fmla="*/ 3307 h 4448"/>
                <a:gd name="T94" fmla="*/ 4241 w 5480"/>
                <a:gd name="T95" fmla="*/ 3484 h 4448"/>
                <a:gd name="T96" fmla="*/ 3751 w 5480"/>
                <a:gd name="T97" fmla="*/ 3879 h 4448"/>
                <a:gd name="T98" fmla="*/ 3943 w 5480"/>
                <a:gd name="T99" fmla="*/ 4012 h 4448"/>
                <a:gd name="T100" fmla="*/ 4123 w 5480"/>
                <a:gd name="T101" fmla="*/ 4130 h 4448"/>
                <a:gd name="T102" fmla="*/ 4270 w 5480"/>
                <a:gd name="T103" fmla="*/ 4149 h 4448"/>
                <a:gd name="T104" fmla="*/ 4595 w 5480"/>
                <a:gd name="T105" fmla="*/ 3494 h 4448"/>
                <a:gd name="T106" fmla="*/ 5141 w 5480"/>
                <a:gd name="T107" fmla="*/ 2882 h 4448"/>
                <a:gd name="T108" fmla="*/ 5272 w 5480"/>
                <a:gd name="T109" fmla="*/ 2612 h 4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480" h="4448">
                  <a:moveTo>
                    <a:pt x="5246" y="2593"/>
                  </a:moveTo>
                  <a:lnTo>
                    <a:pt x="5246" y="2593"/>
                  </a:lnTo>
                  <a:lnTo>
                    <a:pt x="5059" y="2731"/>
                  </a:lnTo>
                  <a:lnTo>
                    <a:pt x="5373" y="2395"/>
                  </a:lnTo>
                  <a:lnTo>
                    <a:pt x="5373" y="2428"/>
                  </a:lnTo>
                  <a:lnTo>
                    <a:pt x="5480" y="2236"/>
                  </a:lnTo>
                  <a:lnTo>
                    <a:pt x="5297" y="2359"/>
                  </a:lnTo>
                  <a:lnTo>
                    <a:pt x="5321" y="2366"/>
                  </a:lnTo>
                  <a:lnTo>
                    <a:pt x="5177" y="2534"/>
                  </a:lnTo>
                  <a:lnTo>
                    <a:pt x="5233" y="2400"/>
                  </a:lnTo>
                  <a:lnTo>
                    <a:pt x="5084" y="2529"/>
                  </a:lnTo>
                  <a:lnTo>
                    <a:pt x="5104" y="2534"/>
                  </a:lnTo>
                  <a:lnTo>
                    <a:pt x="4926" y="2704"/>
                  </a:lnTo>
                  <a:lnTo>
                    <a:pt x="5337" y="2135"/>
                  </a:lnTo>
                  <a:lnTo>
                    <a:pt x="5354" y="2175"/>
                  </a:lnTo>
                  <a:lnTo>
                    <a:pt x="5416" y="1984"/>
                  </a:lnTo>
                  <a:lnTo>
                    <a:pt x="5252" y="2111"/>
                  </a:lnTo>
                  <a:lnTo>
                    <a:pt x="5293" y="2116"/>
                  </a:lnTo>
                  <a:lnTo>
                    <a:pt x="5158" y="2288"/>
                  </a:lnTo>
                  <a:lnTo>
                    <a:pt x="5222" y="2100"/>
                  </a:lnTo>
                  <a:lnTo>
                    <a:pt x="5068" y="2257"/>
                  </a:lnTo>
                  <a:lnTo>
                    <a:pt x="5102" y="2251"/>
                  </a:lnTo>
                  <a:lnTo>
                    <a:pt x="5018" y="2354"/>
                  </a:lnTo>
                  <a:lnTo>
                    <a:pt x="5033" y="2263"/>
                  </a:lnTo>
                  <a:lnTo>
                    <a:pt x="4962" y="2336"/>
                  </a:lnTo>
                  <a:lnTo>
                    <a:pt x="5136" y="1990"/>
                  </a:lnTo>
                  <a:lnTo>
                    <a:pt x="5160" y="2024"/>
                  </a:lnTo>
                  <a:lnTo>
                    <a:pt x="5183" y="1816"/>
                  </a:lnTo>
                  <a:lnTo>
                    <a:pt x="5048" y="1977"/>
                  </a:lnTo>
                  <a:lnTo>
                    <a:pt x="5092" y="1972"/>
                  </a:lnTo>
                  <a:lnTo>
                    <a:pt x="4965" y="2219"/>
                  </a:lnTo>
                  <a:lnTo>
                    <a:pt x="4988" y="2022"/>
                  </a:lnTo>
                  <a:lnTo>
                    <a:pt x="4858" y="2193"/>
                  </a:lnTo>
                  <a:lnTo>
                    <a:pt x="4892" y="2196"/>
                  </a:lnTo>
                  <a:lnTo>
                    <a:pt x="4793" y="2425"/>
                  </a:lnTo>
                  <a:lnTo>
                    <a:pt x="4788" y="2227"/>
                  </a:lnTo>
                  <a:lnTo>
                    <a:pt x="4673" y="2407"/>
                  </a:lnTo>
                  <a:lnTo>
                    <a:pt x="4713" y="2404"/>
                  </a:lnTo>
                  <a:lnTo>
                    <a:pt x="4655" y="2542"/>
                  </a:lnTo>
                  <a:lnTo>
                    <a:pt x="4634" y="2370"/>
                  </a:lnTo>
                  <a:lnTo>
                    <a:pt x="4559" y="2549"/>
                  </a:lnTo>
                  <a:lnTo>
                    <a:pt x="4590" y="2547"/>
                  </a:lnTo>
                  <a:lnTo>
                    <a:pt x="4447" y="3119"/>
                  </a:lnTo>
                  <a:cubicBezTo>
                    <a:pt x="4346" y="3056"/>
                    <a:pt x="4276" y="3075"/>
                    <a:pt x="4239" y="3124"/>
                  </a:cubicBezTo>
                  <a:cubicBezTo>
                    <a:pt x="4203" y="3173"/>
                    <a:pt x="4245" y="3264"/>
                    <a:pt x="4245" y="3264"/>
                  </a:cubicBezTo>
                  <a:lnTo>
                    <a:pt x="3974" y="3241"/>
                  </a:lnTo>
                  <a:cubicBezTo>
                    <a:pt x="3930" y="3062"/>
                    <a:pt x="3504" y="2796"/>
                    <a:pt x="3504" y="2796"/>
                  </a:cubicBezTo>
                  <a:cubicBezTo>
                    <a:pt x="3498" y="2729"/>
                    <a:pt x="3589" y="2622"/>
                    <a:pt x="3589" y="2622"/>
                  </a:cubicBezTo>
                  <a:cubicBezTo>
                    <a:pt x="3613" y="2656"/>
                    <a:pt x="3719" y="2726"/>
                    <a:pt x="3719" y="2726"/>
                  </a:cubicBezTo>
                  <a:cubicBezTo>
                    <a:pt x="3683" y="2700"/>
                    <a:pt x="3735" y="2542"/>
                    <a:pt x="3735" y="2542"/>
                  </a:cubicBezTo>
                  <a:cubicBezTo>
                    <a:pt x="3782" y="2614"/>
                    <a:pt x="3878" y="2643"/>
                    <a:pt x="3878" y="2643"/>
                  </a:cubicBezTo>
                  <a:cubicBezTo>
                    <a:pt x="3873" y="2612"/>
                    <a:pt x="3865" y="2484"/>
                    <a:pt x="3865" y="2484"/>
                  </a:cubicBezTo>
                  <a:cubicBezTo>
                    <a:pt x="3891" y="2510"/>
                    <a:pt x="4029" y="2568"/>
                    <a:pt x="4029" y="2568"/>
                  </a:cubicBezTo>
                  <a:cubicBezTo>
                    <a:pt x="4013" y="2518"/>
                    <a:pt x="4021" y="2407"/>
                    <a:pt x="4021" y="2407"/>
                  </a:cubicBezTo>
                  <a:cubicBezTo>
                    <a:pt x="4083" y="2451"/>
                    <a:pt x="4198" y="2464"/>
                    <a:pt x="4198" y="2464"/>
                  </a:cubicBezTo>
                  <a:cubicBezTo>
                    <a:pt x="4161" y="2440"/>
                    <a:pt x="4148" y="2287"/>
                    <a:pt x="4148" y="2287"/>
                  </a:cubicBezTo>
                  <a:cubicBezTo>
                    <a:pt x="4229" y="2313"/>
                    <a:pt x="4317" y="2287"/>
                    <a:pt x="4317" y="2287"/>
                  </a:cubicBezTo>
                  <a:cubicBezTo>
                    <a:pt x="4276" y="2269"/>
                    <a:pt x="4237" y="2170"/>
                    <a:pt x="4237" y="2170"/>
                  </a:cubicBezTo>
                  <a:cubicBezTo>
                    <a:pt x="4325" y="2196"/>
                    <a:pt x="4421" y="2170"/>
                    <a:pt x="4421" y="2170"/>
                  </a:cubicBezTo>
                  <a:cubicBezTo>
                    <a:pt x="4385" y="2154"/>
                    <a:pt x="4297" y="2016"/>
                    <a:pt x="4297" y="2016"/>
                  </a:cubicBezTo>
                  <a:cubicBezTo>
                    <a:pt x="4390" y="2014"/>
                    <a:pt x="4520" y="1977"/>
                    <a:pt x="4520" y="1977"/>
                  </a:cubicBezTo>
                  <a:cubicBezTo>
                    <a:pt x="4463" y="1951"/>
                    <a:pt x="4403" y="1858"/>
                    <a:pt x="4403" y="1858"/>
                  </a:cubicBezTo>
                  <a:cubicBezTo>
                    <a:pt x="4525" y="1858"/>
                    <a:pt x="4575" y="1814"/>
                    <a:pt x="4575" y="1814"/>
                  </a:cubicBezTo>
                  <a:cubicBezTo>
                    <a:pt x="4517" y="1801"/>
                    <a:pt x="4471" y="1730"/>
                    <a:pt x="4471" y="1730"/>
                  </a:cubicBezTo>
                  <a:cubicBezTo>
                    <a:pt x="4554" y="1741"/>
                    <a:pt x="4684" y="1664"/>
                    <a:pt x="4684" y="1664"/>
                  </a:cubicBezTo>
                  <a:cubicBezTo>
                    <a:pt x="4637" y="1668"/>
                    <a:pt x="4551" y="1564"/>
                    <a:pt x="4551" y="1564"/>
                  </a:cubicBezTo>
                  <a:cubicBezTo>
                    <a:pt x="4601" y="1559"/>
                    <a:pt x="4746" y="1447"/>
                    <a:pt x="4746" y="1447"/>
                  </a:cubicBezTo>
                  <a:cubicBezTo>
                    <a:pt x="4692" y="1460"/>
                    <a:pt x="4562" y="1390"/>
                    <a:pt x="4562" y="1390"/>
                  </a:cubicBezTo>
                  <a:cubicBezTo>
                    <a:pt x="4637" y="1377"/>
                    <a:pt x="4731" y="1296"/>
                    <a:pt x="4731" y="1296"/>
                  </a:cubicBezTo>
                  <a:cubicBezTo>
                    <a:pt x="4671" y="1299"/>
                    <a:pt x="4544" y="1231"/>
                    <a:pt x="4544" y="1231"/>
                  </a:cubicBezTo>
                  <a:cubicBezTo>
                    <a:pt x="4650" y="1205"/>
                    <a:pt x="4731" y="1088"/>
                    <a:pt x="4731" y="1088"/>
                  </a:cubicBezTo>
                  <a:cubicBezTo>
                    <a:pt x="4673" y="1101"/>
                    <a:pt x="4489" y="1101"/>
                    <a:pt x="4489" y="1101"/>
                  </a:cubicBezTo>
                  <a:cubicBezTo>
                    <a:pt x="4580" y="1060"/>
                    <a:pt x="4733" y="940"/>
                    <a:pt x="4733" y="940"/>
                  </a:cubicBezTo>
                  <a:cubicBezTo>
                    <a:pt x="4619" y="953"/>
                    <a:pt x="4494" y="917"/>
                    <a:pt x="4494" y="917"/>
                  </a:cubicBezTo>
                  <a:cubicBezTo>
                    <a:pt x="4726" y="839"/>
                    <a:pt x="4913" y="620"/>
                    <a:pt x="4913" y="620"/>
                  </a:cubicBezTo>
                  <a:cubicBezTo>
                    <a:pt x="4874" y="644"/>
                    <a:pt x="4694" y="620"/>
                    <a:pt x="4694" y="620"/>
                  </a:cubicBezTo>
                  <a:cubicBezTo>
                    <a:pt x="4791" y="576"/>
                    <a:pt x="4996" y="381"/>
                    <a:pt x="4996" y="381"/>
                  </a:cubicBezTo>
                  <a:cubicBezTo>
                    <a:pt x="4954" y="381"/>
                    <a:pt x="4869" y="345"/>
                    <a:pt x="4869" y="345"/>
                  </a:cubicBezTo>
                  <a:cubicBezTo>
                    <a:pt x="5038" y="290"/>
                    <a:pt x="5183" y="77"/>
                    <a:pt x="5183" y="77"/>
                  </a:cubicBezTo>
                  <a:cubicBezTo>
                    <a:pt x="4894" y="0"/>
                    <a:pt x="4481" y="277"/>
                    <a:pt x="4252" y="428"/>
                  </a:cubicBezTo>
                  <a:cubicBezTo>
                    <a:pt x="4024" y="579"/>
                    <a:pt x="3717" y="898"/>
                    <a:pt x="3714" y="948"/>
                  </a:cubicBezTo>
                  <a:cubicBezTo>
                    <a:pt x="3712" y="997"/>
                    <a:pt x="3613" y="1088"/>
                    <a:pt x="3602" y="1156"/>
                  </a:cubicBezTo>
                  <a:cubicBezTo>
                    <a:pt x="3591" y="1223"/>
                    <a:pt x="3618" y="1296"/>
                    <a:pt x="3696" y="1338"/>
                  </a:cubicBezTo>
                  <a:cubicBezTo>
                    <a:pt x="3774" y="1379"/>
                    <a:pt x="3735" y="1504"/>
                    <a:pt x="3751" y="1608"/>
                  </a:cubicBezTo>
                  <a:cubicBezTo>
                    <a:pt x="3766" y="1712"/>
                    <a:pt x="3621" y="1840"/>
                    <a:pt x="3576" y="1889"/>
                  </a:cubicBezTo>
                  <a:cubicBezTo>
                    <a:pt x="3532" y="1938"/>
                    <a:pt x="3450" y="1883"/>
                    <a:pt x="3450" y="1883"/>
                  </a:cubicBezTo>
                  <a:lnTo>
                    <a:pt x="3450" y="1784"/>
                  </a:lnTo>
                  <a:lnTo>
                    <a:pt x="3298" y="1783"/>
                  </a:lnTo>
                  <a:cubicBezTo>
                    <a:pt x="3297" y="1751"/>
                    <a:pt x="3284" y="1714"/>
                    <a:pt x="3272" y="1684"/>
                  </a:cubicBezTo>
                  <a:cubicBezTo>
                    <a:pt x="3271" y="1683"/>
                    <a:pt x="3270" y="1681"/>
                    <a:pt x="3269" y="1678"/>
                  </a:cubicBezTo>
                  <a:cubicBezTo>
                    <a:pt x="3256" y="1648"/>
                    <a:pt x="3243" y="1626"/>
                    <a:pt x="3243" y="1626"/>
                  </a:cubicBezTo>
                  <a:cubicBezTo>
                    <a:pt x="3243" y="1626"/>
                    <a:pt x="3246" y="1625"/>
                    <a:pt x="3250" y="1624"/>
                  </a:cubicBezTo>
                  <a:cubicBezTo>
                    <a:pt x="3248" y="1618"/>
                    <a:pt x="3247" y="1611"/>
                    <a:pt x="3245" y="1604"/>
                  </a:cubicBezTo>
                  <a:cubicBezTo>
                    <a:pt x="3234" y="1558"/>
                    <a:pt x="3269" y="1499"/>
                    <a:pt x="3252" y="1460"/>
                  </a:cubicBezTo>
                  <a:cubicBezTo>
                    <a:pt x="3241" y="1435"/>
                    <a:pt x="3245" y="1409"/>
                    <a:pt x="3248" y="1394"/>
                  </a:cubicBezTo>
                  <a:cubicBezTo>
                    <a:pt x="3231" y="1356"/>
                    <a:pt x="3173" y="1338"/>
                    <a:pt x="3173" y="1338"/>
                  </a:cubicBezTo>
                  <a:cubicBezTo>
                    <a:pt x="3173" y="1338"/>
                    <a:pt x="3156" y="1234"/>
                    <a:pt x="3159" y="1107"/>
                  </a:cubicBezTo>
                  <a:cubicBezTo>
                    <a:pt x="3163" y="981"/>
                    <a:pt x="3070" y="875"/>
                    <a:pt x="2895" y="839"/>
                  </a:cubicBezTo>
                  <a:cubicBezTo>
                    <a:pt x="2720" y="802"/>
                    <a:pt x="2673" y="821"/>
                    <a:pt x="2626" y="849"/>
                  </a:cubicBezTo>
                  <a:cubicBezTo>
                    <a:pt x="2591" y="869"/>
                    <a:pt x="2552" y="862"/>
                    <a:pt x="2494" y="872"/>
                  </a:cubicBezTo>
                  <a:cubicBezTo>
                    <a:pt x="2407" y="888"/>
                    <a:pt x="2345" y="904"/>
                    <a:pt x="2310" y="982"/>
                  </a:cubicBezTo>
                  <a:cubicBezTo>
                    <a:pt x="2293" y="1020"/>
                    <a:pt x="2284" y="1135"/>
                    <a:pt x="2316" y="1175"/>
                  </a:cubicBezTo>
                  <a:cubicBezTo>
                    <a:pt x="2316" y="1175"/>
                    <a:pt x="2322" y="1084"/>
                    <a:pt x="2396" y="1106"/>
                  </a:cubicBezTo>
                  <a:lnTo>
                    <a:pt x="2396" y="1106"/>
                  </a:lnTo>
                  <a:cubicBezTo>
                    <a:pt x="2419" y="1109"/>
                    <a:pt x="2447" y="1127"/>
                    <a:pt x="2468" y="1143"/>
                  </a:cubicBezTo>
                  <a:cubicBezTo>
                    <a:pt x="2468" y="1143"/>
                    <a:pt x="2618" y="1181"/>
                    <a:pt x="2660" y="1174"/>
                  </a:cubicBezTo>
                  <a:cubicBezTo>
                    <a:pt x="2660" y="1174"/>
                    <a:pt x="2662" y="1191"/>
                    <a:pt x="2641" y="1233"/>
                  </a:cubicBezTo>
                  <a:cubicBezTo>
                    <a:pt x="2621" y="1274"/>
                    <a:pt x="2573" y="1329"/>
                    <a:pt x="2553" y="1354"/>
                  </a:cubicBezTo>
                  <a:cubicBezTo>
                    <a:pt x="2514" y="1403"/>
                    <a:pt x="2430" y="1526"/>
                    <a:pt x="2414" y="1546"/>
                  </a:cubicBezTo>
                  <a:cubicBezTo>
                    <a:pt x="2403" y="1562"/>
                    <a:pt x="2400" y="1566"/>
                    <a:pt x="2400" y="1565"/>
                  </a:cubicBezTo>
                  <a:cubicBezTo>
                    <a:pt x="2341" y="1648"/>
                    <a:pt x="2292" y="1777"/>
                    <a:pt x="2292" y="1777"/>
                  </a:cubicBezTo>
                  <a:lnTo>
                    <a:pt x="2111" y="1776"/>
                  </a:lnTo>
                  <a:lnTo>
                    <a:pt x="2112" y="1905"/>
                  </a:lnTo>
                  <a:cubicBezTo>
                    <a:pt x="1920" y="1936"/>
                    <a:pt x="1782" y="1736"/>
                    <a:pt x="1774" y="1546"/>
                  </a:cubicBezTo>
                  <a:cubicBezTo>
                    <a:pt x="1767" y="1356"/>
                    <a:pt x="1904" y="1429"/>
                    <a:pt x="1936" y="1242"/>
                  </a:cubicBezTo>
                  <a:cubicBezTo>
                    <a:pt x="1967" y="1054"/>
                    <a:pt x="1655" y="740"/>
                    <a:pt x="1551" y="664"/>
                  </a:cubicBezTo>
                  <a:cubicBezTo>
                    <a:pt x="1447" y="589"/>
                    <a:pt x="937" y="243"/>
                    <a:pt x="797" y="173"/>
                  </a:cubicBezTo>
                  <a:cubicBezTo>
                    <a:pt x="656" y="103"/>
                    <a:pt x="367" y="86"/>
                    <a:pt x="367" y="86"/>
                  </a:cubicBezTo>
                  <a:cubicBezTo>
                    <a:pt x="390" y="170"/>
                    <a:pt x="670" y="384"/>
                    <a:pt x="670" y="384"/>
                  </a:cubicBezTo>
                  <a:cubicBezTo>
                    <a:pt x="639" y="391"/>
                    <a:pt x="552" y="403"/>
                    <a:pt x="552" y="403"/>
                  </a:cubicBezTo>
                  <a:cubicBezTo>
                    <a:pt x="656" y="528"/>
                    <a:pt x="826" y="660"/>
                    <a:pt x="826" y="660"/>
                  </a:cubicBezTo>
                  <a:cubicBezTo>
                    <a:pt x="764" y="698"/>
                    <a:pt x="639" y="660"/>
                    <a:pt x="639" y="660"/>
                  </a:cubicBezTo>
                  <a:cubicBezTo>
                    <a:pt x="684" y="726"/>
                    <a:pt x="1020" y="924"/>
                    <a:pt x="1020" y="924"/>
                  </a:cubicBezTo>
                  <a:cubicBezTo>
                    <a:pt x="974" y="951"/>
                    <a:pt x="769" y="932"/>
                    <a:pt x="769" y="932"/>
                  </a:cubicBezTo>
                  <a:cubicBezTo>
                    <a:pt x="785" y="996"/>
                    <a:pt x="981" y="1097"/>
                    <a:pt x="981" y="1097"/>
                  </a:cubicBezTo>
                  <a:cubicBezTo>
                    <a:pt x="960" y="1118"/>
                    <a:pt x="762" y="1126"/>
                    <a:pt x="762" y="1126"/>
                  </a:cubicBezTo>
                  <a:cubicBezTo>
                    <a:pt x="779" y="1158"/>
                    <a:pt x="962" y="1260"/>
                    <a:pt x="962" y="1260"/>
                  </a:cubicBezTo>
                  <a:cubicBezTo>
                    <a:pt x="927" y="1282"/>
                    <a:pt x="785" y="1307"/>
                    <a:pt x="785" y="1307"/>
                  </a:cubicBezTo>
                  <a:cubicBezTo>
                    <a:pt x="807" y="1339"/>
                    <a:pt x="936" y="1416"/>
                    <a:pt x="936" y="1416"/>
                  </a:cubicBezTo>
                  <a:cubicBezTo>
                    <a:pt x="887" y="1423"/>
                    <a:pt x="783" y="1475"/>
                    <a:pt x="783" y="1475"/>
                  </a:cubicBezTo>
                  <a:cubicBezTo>
                    <a:pt x="830" y="1520"/>
                    <a:pt x="977" y="1596"/>
                    <a:pt x="977" y="1596"/>
                  </a:cubicBezTo>
                  <a:cubicBezTo>
                    <a:pt x="897" y="1613"/>
                    <a:pt x="840" y="1676"/>
                    <a:pt x="840" y="1676"/>
                  </a:cubicBezTo>
                  <a:cubicBezTo>
                    <a:pt x="958" y="1740"/>
                    <a:pt x="1052" y="1747"/>
                    <a:pt x="1052" y="1747"/>
                  </a:cubicBezTo>
                  <a:cubicBezTo>
                    <a:pt x="982" y="1788"/>
                    <a:pt x="925" y="1849"/>
                    <a:pt x="925" y="1849"/>
                  </a:cubicBezTo>
                  <a:cubicBezTo>
                    <a:pt x="991" y="1893"/>
                    <a:pt x="1154" y="1893"/>
                    <a:pt x="1154" y="1893"/>
                  </a:cubicBezTo>
                  <a:cubicBezTo>
                    <a:pt x="1085" y="1922"/>
                    <a:pt x="986" y="2021"/>
                    <a:pt x="986" y="2021"/>
                  </a:cubicBezTo>
                  <a:cubicBezTo>
                    <a:pt x="1095" y="2057"/>
                    <a:pt x="1230" y="2036"/>
                    <a:pt x="1230" y="2036"/>
                  </a:cubicBezTo>
                  <a:cubicBezTo>
                    <a:pt x="1111" y="2080"/>
                    <a:pt x="1076" y="2179"/>
                    <a:pt x="1076" y="2179"/>
                  </a:cubicBezTo>
                  <a:cubicBezTo>
                    <a:pt x="1163" y="2194"/>
                    <a:pt x="1308" y="2177"/>
                    <a:pt x="1308" y="2177"/>
                  </a:cubicBezTo>
                  <a:cubicBezTo>
                    <a:pt x="1241" y="2203"/>
                    <a:pt x="1177" y="2317"/>
                    <a:pt x="1177" y="2317"/>
                  </a:cubicBezTo>
                  <a:cubicBezTo>
                    <a:pt x="1261" y="2366"/>
                    <a:pt x="1376" y="2321"/>
                    <a:pt x="1376" y="2321"/>
                  </a:cubicBezTo>
                  <a:cubicBezTo>
                    <a:pt x="1331" y="2357"/>
                    <a:pt x="1320" y="2494"/>
                    <a:pt x="1320" y="2494"/>
                  </a:cubicBezTo>
                  <a:cubicBezTo>
                    <a:pt x="1433" y="2499"/>
                    <a:pt x="1497" y="2423"/>
                    <a:pt x="1497" y="2423"/>
                  </a:cubicBezTo>
                  <a:cubicBezTo>
                    <a:pt x="1466" y="2491"/>
                    <a:pt x="1468" y="2593"/>
                    <a:pt x="1468" y="2593"/>
                  </a:cubicBezTo>
                  <a:cubicBezTo>
                    <a:pt x="1563" y="2567"/>
                    <a:pt x="1664" y="2497"/>
                    <a:pt x="1664" y="2497"/>
                  </a:cubicBezTo>
                  <a:cubicBezTo>
                    <a:pt x="1632" y="2560"/>
                    <a:pt x="1651" y="2674"/>
                    <a:pt x="1651" y="2674"/>
                  </a:cubicBezTo>
                  <a:cubicBezTo>
                    <a:pt x="1731" y="2660"/>
                    <a:pt x="1816" y="2551"/>
                    <a:pt x="1816" y="2551"/>
                  </a:cubicBezTo>
                  <a:cubicBezTo>
                    <a:pt x="1788" y="2643"/>
                    <a:pt x="1794" y="2747"/>
                    <a:pt x="1794" y="2747"/>
                  </a:cubicBezTo>
                  <a:cubicBezTo>
                    <a:pt x="1856" y="2731"/>
                    <a:pt x="1960" y="2624"/>
                    <a:pt x="1960" y="2624"/>
                  </a:cubicBezTo>
                  <a:cubicBezTo>
                    <a:pt x="1948" y="2711"/>
                    <a:pt x="2002" y="2794"/>
                    <a:pt x="2002" y="2794"/>
                  </a:cubicBezTo>
                  <a:cubicBezTo>
                    <a:pt x="2047" y="2785"/>
                    <a:pt x="2109" y="2709"/>
                    <a:pt x="2109" y="2709"/>
                  </a:cubicBezTo>
                  <a:lnTo>
                    <a:pt x="2109" y="2809"/>
                  </a:lnTo>
                  <a:cubicBezTo>
                    <a:pt x="1910" y="2827"/>
                    <a:pt x="1830" y="2995"/>
                    <a:pt x="1755" y="3050"/>
                  </a:cubicBezTo>
                  <a:cubicBezTo>
                    <a:pt x="1681" y="3106"/>
                    <a:pt x="1599" y="3272"/>
                    <a:pt x="1599" y="3272"/>
                  </a:cubicBezTo>
                  <a:lnTo>
                    <a:pt x="1332" y="3302"/>
                  </a:lnTo>
                  <a:cubicBezTo>
                    <a:pt x="1345" y="3269"/>
                    <a:pt x="1367" y="3191"/>
                    <a:pt x="1293" y="3141"/>
                  </a:cubicBezTo>
                  <a:cubicBezTo>
                    <a:pt x="1218" y="3090"/>
                    <a:pt x="1128" y="3200"/>
                    <a:pt x="1119" y="3189"/>
                  </a:cubicBezTo>
                  <a:cubicBezTo>
                    <a:pt x="1111" y="3179"/>
                    <a:pt x="1079" y="3180"/>
                    <a:pt x="1034" y="3161"/>
                  </a:cubicBezTo>
                  <a:cubicBezTo>
                    <a:pt x="989" y="3142"/>
                    <a:pt x="1029" y="3132"/>
                    <a:pt x="1029" y="3132"/>
                  </a:cubicBezTo>
                  <a:cubicBezTo>
                    <a:pt x="1069" y="3099"/>
                    <a:pt x="1022" y="3031"/>
                    <a:pt x="1022" y="3031"/>
                  </a:cubicBezTo>
                  <a:cubicBezTo>
                    <a:pt x="1119" y="2998"/>
                    <a:pt x="1228" y="2832"/>
                    <a:pt x="1235" y="2757"/>
                  </a:cubicBezTo>
                  <a:cubicBezTo>
                    <a:pt x="1242" y="2683"/>
                    <a:pt x="1305" y="2605"/>
                    <a:pt x="1305" y="2605"/>
                  </a:cubicBezTo>
                  <a:cubicBezTo>
                    <a:pt x="1196" y="2605"/>
                    <a:pt x="1045" y="2735"/>
                    <a:pt x="1045" y="2735"/>
                  </a:cubicBezTo>
                  <a:cubicBezTo>
                    <a:pt x="1064" y="2671"/>
                    <a:pt x="1026" y="2468"/>
                    <a:pt x="1026" y="2468"/>
                  </a:cubicBezTo>
                  <a:cubicBezTo>
                    <a:pt x="889" y="2572"/>
                    <a:pt x="825" y="2872"/>
                    <a:pt x="825" y="2872"/>
                  </a:cubicBezTo>
                  <a:cubicBezTo>
                    <a:pt x="809" y="2837"/>
                    <a:pt x="781" y="2851"/>
                    <a:pt x="781" y="2851"/>
                  </a:cubicBezTo>
                  <a:cubicBezTo>
                    <a:pt x="871" y="2723"/>
                    <a:pt x="812" y="2409"/>
                    <a:pt x="812" y="2409"/>
                  </a:cubicBezTo>
                  <a:cubicBezTo>
                    <a:pt x="648" y="2536"/>
                    <a:pt x="649" y="2666"/>
                    <a:pt x="649" y="2666"/>
                  </a:cubicBezTo>
                  <a:cubicBezTo>
                    <a:pt x="573" y="2679"/>
                    <a:pt x="580" y="2714"/>
                    <a:pt x="566" y="2716"/>
                  </a:cubicBezTo>
                  <a:cubicBezTo>
                    <a:pt x="552" y="2718"/>
                    <a:pt x="542" y="2638"/>
                    <a:pt x="542" y="2638"/>
                  </a:cubicBezTo>
                  <a:cubicBezTo>
                    <a:pt x="542" y="2638"/>
                    <a:pt x="625" y="2634"/>
                    <a:pt x="629" y="2553"/>
                  </a:cubicBezTo>
                  <a:cubicBezTo>
                    <a:pt x="632" y="2471"/>
                    <a:pt x="551" y="2463"/>
                    <a:pt x="551" y="2463"/>
                  </a:cubicBezTo>
                  <a:cubicBezTo>
                    <a:pt x="769" y="2362"/>
                    <a:pt x="689" y="2068"/>
                    <a:pt x="689" y="2100"/>
                  </a:cubicBezTo>
                  <a:cubicBezTo>
                    <a:pt x="689" y="2133"/>
                    <a:pt x="679" y="2135"/>
                    <a:pt x="611" y="2165"/>
                  </a:cubicBezTo>
                  <a:cubicBezTo>
                    <a:pt x="544" y="2194"/>
                    <a:pt x="502" y="2243"/>
                    <a:pt x="502" y="2243"/>
                  </a:cubicBezTo>
                  <a:cubicBezTo>
                    <a:pt x="471" y="2206"/>
                    <a:pt x="436" y="2205"/>
                    <a:pt x="436" y="2205"/>
                  </a:cubicBezTo>
                  <a:cubicBezTo>
                    <a:pt x="487" y="2166"/>
                    <a:pt x="604" y="2017"/>
                    <a:pt x="579" y="1960"/>
                  </a:cubicBezTo>
                  <a:cubicBezTo>
                    <a:pt x="552" y="1903"/>
                    <a:pt x="585" y="1783"/>
                    <a:pt x="585" y="1783"/>
                  </a:cubicBezTo>
                  <a:cubicBezTo>
                    <a:pt x="495" y="1802"/>
                    <a:pt x="419" y="1976"/>
                    <a:pt x="419" y="1976"/>
                  </a:cubicBezTo>
                  <a:cubicBezTo>
                    <a:pt x="414" y="1934"/>
                    <a:pt x="369" y="1856"/>
                    <a:pt x="341" y="1835"/>
                  </a:cubicBezTo>
                  <a:cubicBezTo>
                    <a:pt x="313" y="1815"/>
                    <a:pt x="247" y="1653"/>
                    <a:pt x="247" y="1653"/>
                  </a:cubicBezTo>
                  <a:cubicBezTo>
                    <a:pt x="244" y="1719"/>
                    <a:pt x="223" y="1884"/>
                    <a:pt x="213" y="1974"/>
                  </a:cubicBezTo>
                  <a:cubicBezTo>
                    <a:pt x="202" y="2064"/>
                    <a:pt x="253" y="2180"/>
                    <a:pt x="325" y="2212"/>
                  </a:cubicBezTo>
                  <a:cubicBezTo>
                    <a:pt x="398" y="2243"/>
                    <a:pt x="367" y="2314"/>
                    <a:pt x="367" y="2314"/>
                  </a:cubicBezTo>
                  <a:cubicBezTo>
                    <a:pt x="362" y="2281"/>
                    <a:pt x="251" y="2206"/>
                    <a:pt x="157" y="2179"/>
                  </a:cubicBezTo>
                  <a:cubicBezTo>
                    <a:pt x="64" y="2151"/>
                    <a:pt x="0" y="2088"/>
                    <a:pt x="0" y="2088"/>
                  </a:cubicBezTo>
                  <a:cubicBezTo>
                    <a:pt x="0" y="2088"/>
                    <a:pt x="8" y="2288"/>
                    <a:pt x="93" y="2366"/>
                  </a:cubicBezTo>
                  <a:cubicBezTo>
                    <a:pt x="178" y="2444"/>
                    <a:pt x="324" y="2477"/>
                    <a:pt x="324" y="2477"/>
                  </a:cubicBezTo>
                  <a:cubicBezTo>
                    <a:pt x="289" y="2491"/>
                    <a:pt x="277" y="2546"/>
                    <a:pt x="277" y="2546"/>
                  </a:cubicBezTo>
                  <a:cubicBezTo>
                    <a:pt x="190" y="2511"/>
                    <a:pt x="34" y="2549"/>
                    <a:pt x="34" y="2549"/>
                  </a:cubicBezTo>
                  <a:cubicBezTo>
                    <a:pt x="100" y="2572"/>
                    <a:pt x="178" y="2707"/>
                    <a:pt x="178" y="2707"/>
                  </a:cubicBezTo>
                  <a:cubicBezTo>
                    <a:pt x="138" y="2714"/>
                    <a:pt x="81" y="2813"/>
                    <a:pt x="81" y="2813"/>
                  </a:cubicBezTo>
                  <a:cubicBezTo>
                    <a:pt x="213" y="2761"/>
                    <a:pt x="286" y="2912"/>
                    <a:pt x="286" y="2912"/>
                  </a:cubicBezTo>
                  <a:cubicBezTo>
                    <a:pt x="254" y="2971"/>
                    <a:pt x="296" y="3012"/>
                    <a:pt x="296" y="3012"/>
                  </a:cubicBezTo>
                  <a:cubicBezTo>
                    <a:pt x="244" y="3017"/>
                    <a:pt x="202" y="3063"/>
                    <a:pt x="202" y="3063"/>
                  </a:cubicBezTo>
                  <a:cubicBezTo>
                    <a:pt x="265" y="3106"/>
                    <a:pt x="440" y="3134"/>
                    <a:pt x="440" y="3134"/>
                  </a:cubicBezTo>
                  <a:cubicBezTo>
                    <a:pt x="353" y="3172"/>
                    <a:pt x="296" y="3279"/>
                    <a:pt x="296" y="3279"/>
                  </a:cubicBezTo>
                  <a:cubicBezTo>
                    <a:pt x="481" y="3364"/>
                    <a:pt x="653" y="3231"/>
                    <a:pt x="653" y="3231"/>
                  </a:cubicBezTo>
                  <a:cubicBezTo>
                    <a:pt x="507" y="3395"/>
                    <a:pt x="518" y="3548"/>
                    <a:pt x="518" y="3548"/>
                  </a:cubicBezTo>
                  <a:cubicBezTo>
                    <a:pt x="601" y="3538"/>
                    <a:pt x="660" y="3492"/>
                    <a:pt x="660" y="3492"/>
                  </a:cubicBezTo>
                  <a:cubicBezTo>
                    <a:pt x="641" y="3586"/>
                    <a:pt x="703" y="3676"/>
                    <a:pt x="703" y="3676"/>
                  </a:cubicBezTo>
                  <a:cubicBezTo>
                    <a:pt x="871" y="3607"/>
                    <a:pt x="851" y="3352"/>
                    <a:pt x="854" y="3272"/>
                  </a:cubicBezTo>
                  <a:cubicBezTo>
                    <a:pt x="858" y="3193"/>
                    <a:pt x="944" y="3189"/>
                    <a:pt x="967" y="3212"/>
                  </a:cubicBezTo>
                  <a:cubicBezTo>
                    <a:pt x="989" y="3234"/>
                    <a:pt x="918" y="3283"/>
                    <a:pt x="901" y="3347"/>
                  </a:cubicBezTo>
                  <a:cubicBezTo>
                    <a:pt x="884" y="3411"/>
                    <a:pt x="960" y="3461"/>
                    <a:pt x="960" y="3461"/>
                  </a:cubicBezTo>
                  <a:cubicBezTo>
                    <a:pt x="941" y="3550"/>
                    <a:pt x="1073" y="3579"/>
                    <a:pt x="1073" y="3579"/>
                  </a:cubicBezTo>
                  <a:cubicBezTo>
                    <a:pt x="1157" y="3733"/>
                    <a:pt x="1313" y="3558"/>
                    <a:pt x="1313" y="3558"/>
                  </a:cubicBezTo>
                  <a:cubicBezTo>
                    <a:pt x="1440" y="3695"/>
                    <a:pt x="1428" y="3903"/>
                    <a:pt x="1459" y="3938"/>
                  </a:cubicBezTo>
                  <a:cubicBezTo>
                    <a:pt x="1490" y="3973"/>
                    <a:pt x="1546" y="3940"/>
                    <a:pt x="1546" y="3940"/>
                  </a:cubicBezTo>
                  <a:cubicBezTo>
                    <a:pt x="1586" y="3778"/>
                    <a:pt x="1345" y="3477"/>
                    <a:pt x="1345" y="3477"/>
                  </a:cubicBezTo>
                  <a:cubicBezTo>
                    <a:pt x="1345" y="3458"/>
                    <a:pt x="1326" y="3418"/>
                    <a:pt x="1326" y="3418"/>
                  </a:cubicBezTo>
                  <a:cubicBezTo>
                    <a:pt x="1326" y="3418"/>
                    <a:pt x="1468" y="3418"/>
                    <a:pt x="1593" y="3425"/>
                  </a:cubicBezTo>
                  <a:cubicBezTo>
                    <a:pt x="1717" y="3432"/>
                    <a:pt x="1707" y="3463"/>
                    <a:pt x="1877" y="3463"/>
                  </a:cubicBezTo>
                  <a:cubicBezTo>
                    <a:pt x="2047" y="3463"/>
                    <a:pt x="2277" y="3314"/>
                    <a:pt x="2277" y="3314"/>
                  </a:cubicBezTo>
                  <a:lnTo>
                    <a:pt x="2421" y="3323"/>
                  </a:lnTo>
                  <a:cubicBezTo>
                    <a:pt x="2423" y="3409"/>
                    <a:pt x="2461" y="3483"/>
                    <a:pt x="2461" y="3483"/>
                  </a:cubicBezTo>
                  <a:cubicBezTo>
                    <a:pt x="2120" y="3766"/>
                    <a:pt x="2105" y="3973"/>
                    <a:pt x="2105" y="3973"/>
                  </a:cubicBezTo>
                  <a:cubicBezTo>
                    <a:pt x="2158" y="3981"/>
                    <a:pt x="2268" y="3931"/>
                    <a:pt x="2268" y="3931"/>
                  </a:cubicBezTo>
                  <a:cubicBezTo>
                    <a:pt x="2194" y="4061"/>
                    <a:pt x="2213" y="4172"/>
                    <a:pt x="2213" y="4172"/>
                  </a:cubicBezTo>
                  <a:cubicBezTo>
                    <a:pt x="2298" y="4158"/>
                    <a:pt x="2374" y="4085"/>
                    <a:pt x="2374" y="4085"/>
                  </a:cubicBezTo>
                  <a:cubicBezTo>
                    <a:pt x="2333" y="4184"/>
                    <a:pt x="2374" y="4305"/>
                    <a:pt x="2374" y="4305"/>
                  </a:cubicBezTo>
                  <a:cubicBezTo>
                    <a:pt x="2470" y="4267"/>
                    <a:pt x="2534" y="4208"/>
                    <a:pt x="2534" y="4208"/>
                  </a:cubicBezTo>
                  <a:cubicBezTo>
                    <a:pt x="2513" y="4312"/>
                    <a:pt x="2556" y="4409"/>
                    <a:pt x="2556" y="4409"/>
                  </a:cubicBezTo>
                  <a:cubicBezTo>
                    <a:pt x="2625" y="4392"/>
                    <a:pt x="2705" y="4319"/>
                    <a:pt x="2705" y="4319"/>
                  </a:cubicBezTo>
                  <a:cubicBezTo>
                    <a:pt x="2724" y="4411"/>
                    <a:pt x="2790" y="4448"/>
                    <a:pt x="2790" y="4448"/>
                  </a:cubicBezTo>
                  <a:cubicBezTo>
                    <a:pt x="2832" y="4411"/>
                    <a:pt x="2872" y="4295"/>
                    <a:pt x="2872" y="4295"/>
                  </a:cubicBezTo>
                  <a:cubicBezTo>
                    <a:pt x="2901" y="4375"/>
                    <a:pt x="3000" y="4423"/>
                    <a:pt x="3000" y="4423"/>
                  </a:cubicBezTo>
                  <a:cubicBezTo>
                    <a:pt x="3050" y="4347"/>
                    <a:pt x="3043" y="4222"/>
                    <a:pt x="3043" y="4222"/>
                  </a:cubicBezTo>
                  <a:cubicBezTo>
                    <a:pt x="3104" y="4307"/>
                    <a:pt x="3191" y="4319"/>
                    <a:pt x="3191" y="4319"/>
                  </a:cubicBezTo>
                  <a:cubicBezTo>
                    <a:pt x="3244" y="4234"/>
                    <a:pt x="3194" y="4064"/>
                    <a:pt x="3194" y="4064"/>
                  </a:cubicBezTo>
                  <a:cubicBezTo>
                    <a:pt x="3289" y="4182"/>
                    <a:pt x="3364" y="4170"/>
                    <a:pt x="3364" y="4170"/>
                  </a:cubicBezTo>
                  <a:cubicBezTo>
                    <a:pt x="3397" y="4101"/>
                    <a:pt x="3319" y="3934"/>
                    <a:pt x="3319" y="3934"/>
                  </a:cubicBezTo>
                  <a:cubicBezTo>
                    <a:pt x="3388" y="4011"/>
                    <a:pt x="3483" y="3998"/>
                    <a:pt x="3483" y="3998"/>
                  </a:cubicBezTo>
                  <a:cubicBezTo>
                    <a:pt x="3519" y="3782"/>
                    <a:pt x="3124" y="3472"/>
                    <a:pt x="3124" y="3472"/>
                  </a:cubicBezTo>
                  <a:cubicBezTo>
                    <a:pt x="3189" y="3418"/>
                    <a:pt x="3151" y="3307"/>
                    <a:pt x="3151" y="3307"/>
                  </a:cubicBezTo>
                  <a:lnTo>
                    <a:pt x="3284" y="3309"/>
                  </a:lnTo>
                  <a:cubicBezTo>
                    <a:pt x="3310" y="3343"/>
                    <a:pt x="3490" y="3449"/>
                    <a:pt x="3681" y="3461"/>
                  </a:cubicBezTo>
                  <a:cubicBezTo>
                    <a:pt x="3872" y="3473"/>
                    <a:pt x="3997" y="3394"/>
                    <a:pt x="3997" y="3394"/>
                  </a:cubicBezTo>
                  <a:lnTo>
                    <a:pt x="4239" y="3394"/>
                  </a:lnTo>
                  <a:cubicBezTo>
                    <a:pt x="4220" y="3439"/>
                    <a:pt x="4241" y="3484"/>
                    <a:pt x="4241" y="3484"/>
                  </a:cubicBezTo>
                  <a:lnTo>
                    <a:pt x="4073" y="3616"/>
                  </a:lnTo>
                  <a:lnTo>
                    <a:pt x="3991" y="3622"/>
                  </a:lnTo>
                  <a:lnTo>
                    <a:pt x="3699" y="3831"/>
                  </a:lnTo>
                  <a:lnTo>
                    <a:pt x="3794" y="3839"/>
                  </a:lnTo>
                  <a:lnTo>
                    <a:pt x="3751" y="3879"/>
                  </a:lnTo>
                  <a:lnTo>
                    <a:pt x="3789" y="3882"/>
                  </a:lnTo>
                  <a:lnTo>
                    <a:pt x="3783" y="3979"/>
                  </a:lnTo>
                  <a:lnTo>
                    <a:pt x="3879" y="3929"/>
                  </a:lnTo>
                  <a:lnTo>
                    <a:pt x="3894" y="4049"/>
                  </a:lnTo>
                  <a:lnTo>
                    <a:pt x="3943" y="4012"/>
                  </a:lnTo>
                  <a:lnTo>
                    <a:pt x="3938" y="4063"/>
                  </a:lnTo>
                  <a:lnTo>
                    <a:pt x="4004" y="4052"/>
                  </a:lnTo>
                  <a:lnTo>
                    <a:pt x="4007" y="4116"/>
                  </a:lnTo>
                  <a:lnTo>
                    <a:pt x="4073" y="4078"/>
                  </a:lnTo>
                  <a:lnTo>
                    <a:pt x="4123" y="4130"/>
                  </a:lnTo>
                  <a:lnTo>
                    <a:pt x="4154" y="4082"/>
                  </a:lnTo>
                  <a:lnTo>
                    <a:pt x="4163" y="4179"/>
                  </a:lnTo>
                  <a:lnTo>
                    <a:pt x="4229" y="4130"/>
                  </a:lnTo>
                  <a:lnTo>
                    <a:pt x="4246" y="4179"/>
                  </a:lnTo>
                  <a:lnTo>
                    <a:pt x="4270" y="4149"/>
                  </a:lnTo>
                  <a:lnTo>
                    <a:pt x="4303" y="4220"/>
                  </a:lnTo>
                  <a:lnTo>
                    <a:pt x="4375" y="3589"/>
                  </a:lnTo>
                  <a:cubicBezTo>
                    <a:pt x="4375" y="3589"/>
                    <a:pt x="4414" y="3607"/>
                    <a:pt x="4466" y="3589"/>
                  </a:cubicBezTo>
                  <a:cubicBezTo>
                    <a:pt x="4517" y="3572"/>
                    <a:pt x="4503" y="3510"/>
                    <a:pt x="4503" y="3510"/>
                  </a:cubicBezTo>
                  <a:cubicBezTo>
                    <a:pt x="4503" y="3510"/>
                    <a:pt x="4557" y="3546"/>
                    <a:pt x="4595" y="3494"/>
                  </a:cubicBezTo>
                  <a:cubicBezTo>
                    <a:pt x="4633" y="3442"/>
                    <a:pt x="4605" y="3394"/>
                    <a:pt x="4605" y="3394"/>
                  </a:cubicBezTo>
                  <a:cubicBezTo>
                    <a:pt x="4605" y="3394"/>
                    <a:pt x="4645" y="3381"/>
                    <a:pt x="4671" y="3349"/>
                  </a:cubicBezTo>
                  <a:cubicBezTo>
                    <a:pt x="4697" y="3316"/>
                    <a:pt x="4650" y="3220"/>
                    <a:pt x="4650" y="3220"/>
                  </a:cubicBezTo>
                  <a:lnTo>
                    <a:pt x="5139" y="2848"/>
                  </a:lnTo>
                  <a:lnTo>
                    <a:pt x="5141" y="2882"/>
                  </a:lnTo>
                  <a:lnTo>
                    <a:pt x="5255" y="2735"/>
                  </a:lnTo>
                  <a:lnTo>
                    <a:pt x="5080" y="2820"/>
                  </a:lnTo>
                  <a:lnTo>
                    <a:pt x="5110" y="2823"/>
                  </a:lnTo>
                  <a:lnTo>
                    <a:pt x="4874" y="2983"/>
                  </a:lnTo>
                  <a:lnTo>
                    <a:pt x="5272" y="2612"/>
                  </a:lnTo>
                  <a:lnTo>
                    <a:pt x="5285" y="2650"/>
                  </a:lnTo>
                  <a:lnTo>
                    <a:pt x="5387" y="2477"/>
                  </a:lnTo>
                  <a:lnTo>
                    <a:pt x="5217" y="2582"/>
                  </a:lnTo>
                  <a:lnTo>
                    <a:pt x="5246" y="2593"/>
                  </a:ln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837848"/>
              <a:endParaRPr lang="en-US" sz="1091" b="1" dirty="0">
                <a:solidFill>
                  <a:prstClr val="black"/>
                </a:solidFill>
                <a:latin typeface="Verdana"/>
              </a:endParaRPr>
            </a:p>
          </p:txBody>
        </p:sp>
      </p:grpSp>
      <p:sp>
        <p:nvSpPr>
          <p:cNvPr id="55" name="TextBox 54">
            <a:extLst>
              <a:ext uri="{FF2B5EF4-FFF2-40B4-BE49-F238E27FC236}">
                <a16:creationId xmlns:a16="http://schemas.microsoft.com/office/drawing/2014/main" id="{6FC4553C-ED80-4810-A236-F4F8E43DF9CF}"/>
              </a:ext>
            </a:extLst>
          </p:cNvPr>
          <p:cNvSpPr txBox="1"/>
          <p:nvPr/>
        </p:nvSpPr>
        <p:spPr>
          <a:xfrm>
            <a:off x="1167646" y="1561427"/>
            <a:ext cx="3077018" cy="161583"/>
          </a:xfrm>
          <a:prstGeom prst="rect">
            <a:avLst/>
          </a:prstGeom>
          <a:noFill/>
        </p:spPr>
        <p:txBody>
          <a:bodyPr wrap="square" lIns="0" tIns="0" rIns="0" bIns="0" rtlCol="0">
            <a:spAutoFit/>
          </a:bodyPr>
          <a:lstStyle/>
          <a:p>
            <a:pPr algn="ctr" defTabSz="837848">
              <a:spcBef>
                <a:spcPts val="409"/>
              </a:spcBef>
              <a:buSzPct val="100000"/>
            </a:pPr>
            <a:r>
              <a:rPr lang="en-IN" sz="1050" b="1" dirty="0">
                <a:solidFill>
                  <a:srgbClr val="313131"/>
                </a:solidFill>
                <a:latin typeface="Verdana"/>
              </a:rPr>
              <a:t>Deloitte’s SMART PMO Framework</a:t>
            </a:r>
          </a:p>
        </p:txBody>
      </p:sp>
      <p:grpSp>
        <p:nvGrpSpPr>
          <p:cNvPr id="58" name="Group 57">
            <a:extLst>
              <a:ext uri="{FF2B5EF4-FFF2-40B4-BE49-F238E27FC236}">
                <a16:creationId xmlns:a16="http://schemas.microsoft.com/office/drawing/2014/main" id="{1D33EB72-F2CD-4CE3-8413-0FDDBBCC9C89}"/>
              </a:ext>
            </a:extLst>
          </p:cNvPr>
          <p:cNvGrpSpPr/>
          <p:nvPr/>
        </p:nvGrpSpPr>
        <p:grpSpPr>
          <a:xfrm>
            <a:off x="639390" y="4204243"/>
            <a:ext cx="4520567" cy="2126492"/>
            <a:chOff x="669853" y="2647507"/>
            <a:chExt cx="12012127" cy="2716548"/>
          </a:xfrm>
        </p:grpSpPr>
        <p:sp>
          <p:nvSpPr>
            <p:cNvPr id="59" name="Rectangle 58">
              <a:extLst>
                <a:ext uri="{FF2B5EF4-FFF2-40B4-BE49-F238E27FC236}">
                  <a16:creationId xmlns:a16="http://schemas.microsoft.com/office/drawing/2014/main" id="{9579E2CD-2F56-4053-BAFC-6304A9581DC9}"/>
                </a:ext>
              </a:extLst>
            </p:cNvPr>
            <p:cNvSpPr/>
            <p:nvPr/>
          </p:nvSpPr>
          <p:spPr bwMode="gray">
            <a:xfrm>
              <a:off x="4171505" y="3232298"/>
              <a:ext cx="3327991" cy="575329"/>
            </a:xfrm>
            <a:prstGeom prst="rect">
              <a:avLst/>
            </a:prstGeom>
            <a:solidFill>
              <a:schemeClr val="accent1"/>
            </a:solidFill>
            <a:ln w="19050" algn="ctr">
              <a:noFill/>
              <a:miter lim="800000"/>
              <a:headEnd/>
              <a:tailEnd/>
            </a:ln>
          </p:spPr>
          <p:txBody>
            <a:bodyPr wrap="square" lIns="60614" tIns="60614" rIns="60614" bIns="60614" rtlCol="0" anchor="ctr"/>
            <a:lstStyle/>
            <a:p>
              <a:pPr algn="ctr" defTabSz="837848">
                <a:lnSpc>
                  <a:spcPct val="106000"/>
                </a:lnSpc>
              </a:pPr>
              <a:r>
                <a:rPr lang="en-US" sz="750" b="1" dirty="0">
                  <a:solidFill>
                    <a:prstClr val="white"/>
                  </a:solidFill>
                  <a:latin typeface="Verdana"/>
                </a:rPr>
                <a:t>APEX LEVEL COMMITTEE</a:t>
              </a:r>
              <a:endParaRPr lang="en-IN" sz="750" b="1" dirty="0">
                <a:solidFill>
                  <a:prstClr val="white"/>
                </a:solidFill>
                <a:latin typeface="Verdana"/>
              </a:endParaRPr>
            </a:p>
          </p:txBody>
        </p:sp>
        <p:sp>
          <p:nvSpPr>
            <p:cNvPr id="60" name="Rectangle 59">
              <a:extLst>
                <a:ext uri="{FF2B5EF4-FFF2-40B4-BE49-F238E27FC236}">
                  <a16:creationId xmlns:a16="http://schemas.microsoft.com/office/drawing/2014/main" id="{6FCC3043-9D03-4E82-9790-2D19A9C92A52}"/>
                </a:ext>
              </a:extLst>
            </p:cNvPr>
            <p:cNvSpPr/>
            <p:nvPr/>
          </p:nvSpPr>
          <p:spPr bwMode="gray">
            <a:xfrm>
              <a:off x="1963777" y="4506560"/>
              <a:ext cx="2450048" cy="756784"/>
            </a:xfrm>
            <a:prstGeom prst="rect">
              <a:avLst/>
            </a:prstGeom>
            <a:solidFill>
              <a:schemeClr val="accent5"/>
            </a:solidFill>
            <a:ln w="19050" algn="ctr">
              <a:noFill/>
              <a:miter lim="800000"/>
              <a:headEnd/>
              <a:tailEnd/>
            </a:ln>
          </p:spPr>
          <p:txBody>
            <a:bodyPr wrap="square" lIns="60614" tIns="60614" rIns="60614" bIns="60614" rtlCol="0" anchor="ctr"/>
            <a:lstStyle/>
            <a:p>
              <a:pPr algn="ctr" defTabSz="837848">
                <a:lnSpc>
                  <a:spcPct val="106000"/>
                </a:lnSpc>
              </a:pPr>
              <a:r>
                <a:rPr lang="en-US" sz="750" b="1" dirty="0">
                  <a:solidFill>
                    <a:prstClr val="white"/>
                  </a:solidFill>
                  <a:latin typeface="Verdana"/>
                </a:rPr>
                <a:t>TECHNICAL TASK FORCE/WORKING GROUP</a:t>
              </a:r>
              <a:endParaRPr lang="en-IN" sz="750" b="1" dirty="0">
                <a:solidFill>
                  <a:prstClr val="white"/>
                </a:solidFill>
                <a:latin typeface="Verdana"/>
              </a:endParaRPr>
            </a:p>
          </p:txBody>
        </p:sp>
        <p:sp>
          <p:nvSpPr>
            <p:cNvPr id="61" name="Rectangle 60">
              <a:extLst>
                <a:ext uri="{FF2B5EF4-FFF2-40B4-BE49-F238E27FC236}">
                  <a16:creationId xmlns:a16="http://schemas.microsoft.com/office/drawing/2014/main" id="{041BB3A2-3536-41A8-A70F-3CB163A30B8B}"/>
                </a:ext>
              </a:extLst>
            </p:cNvPr>
            <p:cNvSpPr/>
            <p:nvPr/>
          </p:nvSpPr>
          <p:spPr bwMode="gray">
            <a:xfrm>
              <a:off x="4610476" y="4506560"/>
              <a:ext cx="2450048" cy="757255"/>
            </a:xfrm>
            <a:prstGeom prst="rect">
              <a:avLst/>
            </a:prstGeom>
            <a:solidFill>
              <a:schemeClr val="accent5"/>
            </a:solidFill>
            <a:ln w="19050" algn="ctr">
              <a:noFill/>
              <a:miter lim="800000"/>
              <a:headEnd/>
              <a:tailEnd/>
            </a:ln>
          </p:spPr>
          <p:txBody>
            <a:bodyPr wrap="square" lIns="60614" tIns="60614" rIns="60614" bIns="60614" rtlCol="0" anchor="ctr"/>
            <a:lstStyle/>
            <a:p>
              <a:pPr algn="ctr" defTabSz="837848">
                <a:lnSpc>
                  <a:spcPct val="106000"/>
                </a:lnSpc>
              </a:pPr>
              <a:r>
                <a:rPr lang="en-US" sz="750" b="1" dirty="0">
                  <a:solidFill>
                    <a:prstClr val="white"/>
                  </a:solidFill>
                  <a:latin typeface="Verdana"/>
                </a:rPr>
                <a:t>FINANCIAL TASK FORCE/ WORKING GROUP</a:t>
              </a:r>
              <a:endParaRPr lang="en-IN" sz="750" b="1" dirty="0">
                <a:solidFill>
                  <a:prstClr val="white"/>
                </a:solidFill>
                <a:latin typeface="Verdana"/>
              </a:endParaRPr>
            </a:p>
          </p:txBody>
        </p:sp>
        <p:sp>
          <p:nvSpPr>
            <p:cNvPr id="62" name="Rectangle 61">
              <a:extLst>
                <a:ext uri="{FF2B5EF4-FFF2-40B4-BE49-F238E27FC236}">
                  <a16:creationId xmlns:a16="http://schemas.microsoft.com/office/drawing/2014/main" id="{81B9D2B1-C926-498B-8FE9-B3DF27B8EE0E}"/>
                </a:ext>
              </a:extLst>
            </p:cNvPr>
            <p:cNvSpPr/>
            <p:nvPr/>
          </p:nvSpPr>
          <p:spPr bwMode="gray">
            <a:xfrm>
              <a:off x="7257177" y="4506089"/>
              <a:ext cx="2450048" cy="757255"/>
            </a:xfrm>
            <a:prstGeom prst="rect">
              <a:avLst/>
            </a:prstGeom>
            <a:solidFill>
              <a:schemeClr val="accent5"/>
            </a:solidFill>
            <a:ln w="19050" algn="ctr">
              <a:noFill/>
              <a:miter lim="800000"/>
              <a:headEnd/>
              <a:tailEnd/>
            </a:ln>
          </p:spPr>
          <p:txBody>
            <a:bodyPr wrap="square" lIns="60614" tIns="60614" rIns="60614" bIns="60614" rtlCol="0" anchor="ctr"/>
            <a:lstStyle/>
            <a:p>
              <a:pPr algn="ctr" defTabSz="837848">
                <a:lnSpc>
                  <a:spcPct val="106000"/>
                </a:lnSpc>
              </a:pPr>
              <a:r>
                <a:rPr lang="en-US" sz="750" b="1" dirty="0">
                  <a:solidFill>
                    <a:prstClr val="white"/>
                  </a:solidFill>
                  <a:latin typeface="Verdana"/>
                </a:rPr>
                <a:t>SAFEGUARD TASK FORCE/ WORKING GROUP</a:t>
              </a:r>
              <a:endParaRPr lang="en-IN" sz="750" b="1" dirty="0">
                <a:solidFill>
                  <a:prstClr val="white"/>
                </a:solidFill>
                <a:latin typeface="Verdana"/>
              </a:endParaRPr>
            </a:p>
          </p:txBody>
        </p:sp>
        <p:cxnSp>
          <p:nvCxnSpPr>
            <p:cNvPr id="63" name="Straight Arrow Connector 62">
              <a:extLst>
                <a:ext uri="{FF2B5EF4-FFF2-40B4-BE49-F238E27FC236}">
                  <a16:creationId xmlns:a16="http://schemas.microsoft.com/office/drawing/2014/main" id="{36CC66B2-CE29-43E9-B0F1-297EAD256FD0}"/>
                </a:ext>
              </a:extLst>
            </p:cNvPr>
            <p:cNvCxnSpPr>
              <a:cxnSpLocks/>
              <a:stCxn id="59" idx="2"/>
              <a:endCxn id="61" idx="0"/>
            </p:cNvCxnSpPr>
            <p:nvPr/>
          </p:nvCxnSpPr>
          <p:spPr>
            <a:xfrm flipH="1">
              <a:off x="5835500" y="3807627"/>
              <a:ext cx="1" cy="69893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3C80BDAE-20B2-4FAB-80E5-4907993B41DC}"/>
                </a:ext>
              </a:extLst>
            </p:cNvPr>
            <p:cNvCxnSpPr>
              <a:cxnSpLocks/>
              <a:stCxn id="59" idx="2"/>
              <a:endCxn id="62" idx="0"/>
            </p:cNvCxnSpPr>
            <p:nvPr/>
          </p:nvCxnSpPr>
          <p:spPr>
            <a:xfrm rot="16200000" flipH="1">
              <a:off x="6809620" y="2833506"/>
              <a:ext cx="698462" cy="2646702"/>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15680351-AF73-4669-B22F-4CA59DD9D87D}"/>
                </a:ext>
              </a:extLst>
            </p:cNvPr>
            <p:cNvCxnSpPr>
              <a:cxnSpLocks/>
              <a:stCxn id="59" idx="2"/>
              <a:endCxn id="60" idx="0"/>
            </p:cNvCxnSpPr>
            <p:nvPr/>
          </p:nvCxnSpPr>
          <p:spPr>
            <a:xfrm rot="5400000">
              <a:off x="4162686" y="2833745"/>
              <a:ext cx="698933" cy="2646698"/>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6" name="Arrow: Up 65">
              <a:extLst>
                <a:ext uri="{FF2B5EF4-FFF2-40B4-BE49-F238E27FC236}">
                  <a16:creationId xmlns:a16="http://schemas.microsoft.com/office/drawing/2014/main" id="{8439127B-D6E3-4161-A24A-C4E07C47C564}"/>
                </a:ext>
              </a:extLst>
            </p:cNvPr>
            <p:cNvSpPr/>
            <p:nvPr/>
          </p:nvSpPr>
          <p:spPr bwMode="gray">
            <a:xfrm>
              <a:off x="684907" y="3003618"/>
              <a:ext cx="1576630" cy="2274515"/>
            </a:xfrm>
            <a:prstGeom prst="upArrow">
              <a:avLst/>
            </a:prstGeom>
            <a:solidFill>
              <a:schemeClr val="accent3"/>
            </a:solidFill>
            <a:ln w="19050" algn="ctr">
              <a:noFill/>
              <a:miter lim="800000"/>
              <a:headEnd/>
              <a:tailEnd/>
            </a:ln>
          </p:spPr>
          <p:txBody>
            <a:bodyPr vert="vert270" wrap="square" lIns="60614" tIns="60614" rIns="60614" bIns="60614" rtlCol="0" anchor="ctr"/>
            <a:lstStyle/>
            <a:p>
              <a:pPr algn="ctr" defTabSz="837848">
                <a:lnSpc>
                  <a:spcPct val="106000"/>
                </a:lnSpc>
              </a:pPr>
              <a:r>
                <a:rPr lang="en-US" sz="750" b="1" dirty="0">
                  <a:solidFill>
                    <a:prstClr val="white"/>
                  </a:solidFill>
                  <a:latin typeface="Verdana"/>
                </a:rPr>
                <a:t>Increasing decision making authority</a:t>
              </a:r>
              <a:endParaRPr lang="en-IN" sz="750" b="1" dirty="0">
                <a:solidFill>
                  <a:prstClr val="white"/>
                </a:solidFill>
                <a:latin typeface="Verdana"/>
              </a:endParaRPr>
            </a:p>
          </p:txBody>
        </p:sp>
        <p:sp>
          <p:nvSpPr>
            <p:cNvPr id="67" name="Rectangle 66">
              <a:extLst>
                <a:ext uri="{FF2B5EF4-FFF2-40B4-BE49-F238E27FC236}">
                  <a16:creationId xmlns:a16="http://schemas.microsoft.com/office/drawing/2014/main" id="{E9AE8C76-7047-4DC4-81CF-6C3A54E81C6C}"/>
                </a:ext>
              </a:extLst>
            </p:cNvPr>
            <p:cNvSpPr/>
            <p:nvPr/>
          </p:nvSpPr>
          <p:spPr bwMode="gray">
            <a:xfrm>
              <a:off x="669853" y="2647507"/>
              <a:ext cx="9220306" cy="2716548"/>
            </a:xfrm>
            <a:prstGeom prst="rect">
              <a:avLst/>
            </a:prstGeom>
            <a:noFill/>
            <a:ln w="19050" algn="ctr">
              <a:solidFill>
                <a:schemeClr val="tx1"/>
              </a:solidFill>
              <a:prstDash val="dash"/>
              <a:miter lim="800000"/>
              <a:headEnd/>
              <a:tailEnd/>
            </a:ln>
          </p:spPr>
          <p:txBody>
            <a:bodyPr wrap="square" lIns="60614" tIns="60614" rIns="60614" bIns="60614" rtlCol="0" anchor="ctr"/>
            <a:lstStyle/>
            <a:p>
              <a:pPr algn="ctr" defTabSz="837848">
                <a:lnSpc>
                  <a:spcPct val="106000"/>
                </a:lnSpc>
              </a:pPr>
              <a:endParaRPr lang="en-IN" sz="955" b="1" dirty="0">
                <a:solidFill>
                  <a:prstClr val="white"/>
                </a:solidFill>
                <a:latin typeface="Verdana"/>
              </a:endParaRPr>
            </a:p>
          </p:txBody>
        </p:sp>
        <p:sp>
          <p:nvSpPr>
            <p:cNvPr id="68" name="Rectangle 67">
              <a:extLst>
                <a:ext uri="{FF2B5EF4-FFF2-40B4-BE49-F238E27FC236}">
                  <a16:creationId xmlns:a16="http://schemas.microsoft.com/office/drawing/2014/main" id="{24B24D8C-6888-44CD-8F78-0F854A37FC01}"/>
                </a:ext>
              </a:extLst>
            </p:cNvPr>
            <p:cNvSpPr/>
            <p:nvPr/>
          </p:nvSpPr>
          <p:spPr bwMode="gray">
            <a:xfrm>
              <a:off x="10238799" y="3469071"/>
              <a:ext cx="2443181" cy="1073419"/>
            </a:xfrm>
            <a:prstGeom prst="rect">
              <a:avLst/>
            </a:prstGeom>
            <a:ln>
              <a:headEnd/>
              <a:tailEnd/>
            </a:ln>
          </p:spPr>
          <p:style>
            <a:lnRef idx="1">
              <a:schemeClr val="dk1"/>
            </a:lnRef>
            <a:fillRef idx="2">
              <a:schemeClr val="dk1"/>
            </a:fillRef>
            <a:effectRef idx="1">
              <a:schemeClr val="dk1"/>
            </a:effectRef>
            <a:fontRef idx="minor">
              <a:schemeClr val="dk1"/>
            </a:fontRef>
          </p:style>
          <p:txBody>
            <a:bodyPr wrap="square" lIns="0" tIns="60614" rIns="0" bIns="60614" rtlCol="0" anchor="ctr"/>
            <a:lstStyle/>
            <a:p>
              <a:pPr algn="ctr" defTabSz="837848">
                <a:lnSpc>
                  <a:spcPct val="106000"/>
                </a:lnSpc>
              </a:pPr>
              <a:r>
                <a:rPr lang="en-US" sz="648" b="1" dirty="0">
                  <a:solidFill>
                    <a:prstClr val="black"/>
                  </a:solidFill>
                  <a:latin typeface="Verdana"/>
                </a:rPr>
                <a:t>PROJECT IMPLEMENTATION CONSULTANTS</a:t>
              </a:r>
            </a:p>
            <a:p>
              <a:pPr algn="ctr" defTabSz="837848">
                <a:lnSpc>
                  <a:spcPct val="106000"/>
                </a:lnSpc>
              </a:pPr>
              <a:r>
                <a:rPr lang="en-US" sz="648" b="1" dirty="0">
                  <a:solidFill>
                    <a:prstClr val="black"/>
                  </a:solidFill>
                  <a:latin typeface="Verdana"/>
                </a:rPr>
                <a:t>(PIC)</a:t>
              </a:r>
              <a:endParaRPr lang="en-IN" sz="648" b="1" dirty="0">
                <a:solidFill>
                  <a:prstClr val="black"/>
                </a:solidFill>
                <a:latin typeface="Verdana"/>
              </a:endParaRPr>
            </a:p>
          </p:txBody>
        </p:sp>
        <p:cxnSp>
          <p:nvCxnSpPr>
            <p:cNvPr id="69" name="Straight Arrow Connector 68">
              <a:extLst>
                <a:ext uri="{FF2B5EF4-FFF2-40B4-BE49-F238E27FC236}">
                  <a16:creationId xmlns:a16="http://schemas.microsoft.com/office/drawing/2014/main" id="{D7D62343-7004-4CD4-AB27-79D6F790F472}"/>
                </a:ext>
              </a:extLst>
            </p:cNvPr>
            <p:cNvCxnSpPr>
              <a:cxnSpLocks/>
              <a:stCxn id="67" idx="3"/>
              <a:endCxn id="68" idx="1"/>
            </p:cNvCxnSpPr>
            <p:nvPr/>
          </p:nvCxnSpPr>
          <p:spPr>
            <a:xfrm>
              <a:off x="9890159" y="4005781"/>
              <a:ext cx="348640"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DD1610A4-3488-47A8-A27D-19F938BA9006}"/>
                </a:ext>
              </a:extLst>
            </p:cNvPr>
            <p:cNvSpPr txBox="1"/>
            <p:nvPr/>
          </p:nvSpPr>
          <p:spPr>
            <a:xfrm>
              <a:off x="2084105" y="2692903"/>
              <a:ext cx="7030469" cy="442326"/>
            </a:xfrm>
            <a:prstGeom prst="rect">
              <a:avLst/>
            </a:prstGeom>
            <a:noFill/>
          </p:spPr>
          <p:txBody>
            <a:bodyPr wrap="none" lIns="0" tIns="0" rIns="0" bIns="0" rtlCol="0">
              <a:spAutoFit/>
            </a:bodyPr>
            <a:lstStyle/>
            <a:p>
              <a:pPr algn="ctr" defTabSz="837848">
                <a:buSzPct val="100000"/>
              </a:pPr>
              <a:r>
                <a:rPr lang="en-US" sz="750" b="1" i="1" dirty="0">
                  <a:solidFill>
                    <a:srgbClr val="313131"/>
                  </a:solidFill>
                  <a:latin typeface="Verdana"/>
                </a:rPr>
                <a:t>PMU CELL ILLUSTRATIVE STRUCTURE</a:t>
              </a:r>
            </a:p>
            <a:p>
              <a:pPr algn="ctr" defTabSz="837848">
                <a:buSzPct val="100000"/>
              </a:pPr>
              <a:r>
                <a:rPr lang="en-US" sz="750" i="1" dirty="0">
                  <a:solidFill>
                    <a:srgbClr val="313131"/>
                  </a:solidFill>
                  <a:latin typeface="Verdana"/>
                </a:rPr>
                <a:t>(Comprising of key Officials from Dept. of Power, Utilities</a:t>
              </a:r>
            </a:p>
            <a:p>
              <a:pPr algn="ctr" defTabSz="837848">
                <a:buSzPct val="100000"/>
              </a:pPr>
              <a:r>
                <a:rPr lang="en-US" sz="750" i="1" dirty="0">
                  <a:solidFill>
                    <a:srgbClr val="313131"/>
                  </a:solidFill>
                  <a:latin typeface="Verdana"/>
                </a:rPr>
                <a:t> and other key stakeholders)</a:t>
              </a:r>
              <a:endParaRPr lang="en-IN" sz="750" i="1" dirty="0">
                <a:solidFill>
                  <a:srgbClr val="313131"/>
                </a:solidFill>
                <a:latin typeface="Verdana"/>
              </a:endParaRPr>
            </a:p>
          </p:txBody>
        </p:sp>
      </p:grpSp>
      <p:grpSp>
        <p:nvGrpSpPr>
          <p:cNvPr id="74" name="Group 73">
            <a:extLst>
              <a:ext uri="{FF2B5EF4-FFF2-40B4-BE49-F238E27FC236}">
                <a16:creationId xmlns:a16="http://schemas.microsoft.com/office/drawing/2014/main" id="{8927F190-D8D6-4E1F-8B29-01FB1EA37354}"/>
              </a:ext>
            </a:extLst>
          </p:cNvPr>
          <p:cNvGrpSpPr/>
          <p:nvPr/>
        </p:nvGrpSpPr>
        <p:grpSpPr>
          <a:xfrm>
            <a:off x="5094652" y="1905104"/>
            <a:ext cx="7089793" cy="3962442"/>
            <a:chOff x="733177" y="1504180"/>
            <a:chExt cx="9759944" cy="3962442"/>
          </a:xfrm>
        </p:grpSpPr>
        <p:sp>
          <p:nvSpPr>
            <p:cNvPr id="75" name="Trapezoid 74">
              <a:extLst>
                <a:ext uri="{FF2B5EF4-FFF2-40B4-BE49-F238E27FC236}">
                  <a16:creationId xmlns:a16="http://schemas.microsoft.com/office/drawing/2014/main" id="{3584B1D9-7B27-4411-802E-E8A97F8E8360}"/>
                </a:ext>
              </a:extLst>
            </p:cNvPr>
            <p:cNvSpPr/>
            <p:nvPr/>
          </p:nvSpPr>
          <p:spPr bwMode="gray">
            <a:xfrm>
              <a:off x="733177" y="1504180"/>
              <a:ext cx="9121701" cy="1586333"/>
            </a:xfrm>
            <a:prstGeom prst="trapezoid">
              <a:avLst>
                <a:gd name="adj" fmla="val 118852"/>
              </a:avLst>
            </a:prstGeom>
            <a:gradFill>
              <a:gsLst>
                <a:gs pos="0">
                  <a:schemeClr val="bg1">
                    <a:lumMod val="85000"/>
                  </a:schemeClr>
                </a:gs>
                <a:gs pos="100000">
                  <a:schemeClr val="bg1"/>
                </a:gs>
              </a:gsLst>
              <a:lin ang="5400000" scaled="1"/>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800" b="1" dirty="0">
                <a:solidFill>
                  <a:schemeClr val="bg1"/>
                </a:solidFill>
              </a:endParaRPr>
            </a:p>
          </p:txBody>
        </p:sp>
        <p:grpSp>
          <p:nvGrpSpPr>
            <p:cNvPr id="76" name="Group 75">
              <a:extLst>
                <a:ext uri="{FF2B5EF4-FFF2-40B4-BE49-F238E27FC236}">
                  <a16:creationId xmlns:a16="http://schemas.microsoft.com/office/drawing/2014/main" id="{B7F8B8A0-7C79-4B87-BAFD-F9DA1B3994E6}"/>
                </a:ext>
              </a:extLst>
            </p:cNvPr>
            <p:cNvGrpSpPr/>
            <p:nvPr/>
          </p:nvGrpSpPr>
          <p:grpSpPr>
            <a:xfrm>
              <a:off x="1028143" y="1509800"/>
              <a:ext cx="9464978" cy="3956822"/>
              <a:chOff x="1028143" y="1509800"/>
              <a:chExt cx="9464978" cy="3956822"/>
            </a:xfrm>
          </p:grpSpPr>
          <p:grpSp>
            <p:nvGrpSpPr>
              <p:cNvPr id="77" name="Group 76">
                <a:extLst>
                  <a:ext uri="{FF2B5EF4-FFF2-40B4-BE49-F238E27FC236}">
                    <a16:creationId xmlns:a16="http://schemas.microsoft.com/office/drawing/2014/main" id="{CE371E3E-0584-4868-8DBA-E8D27A5BBC4F}"/>
                  </a:ext>
                </a:extLst>
              </p:cNvPr>
              <p:cNvGrpSpPr/>
              <p:nvPr/>
            </p:nvGrpSpPr>
            <p:grpSpPr>
              <a:xfrm>
                <a:off x="2666092" y="1509800"/>
                <a:ext cx="4548851" cy="1228244"/>
                <a:chOff x="3159251" y="1378787"/>
                <a:chExt cx="4548851" cy="1228244"/>
              </a:xfrm>
            </p:grpSpPr>
            <p:sp>
              <p:nvSpPr>
                <p:cNvPr id="105" name="Freeform 272">
                  <a:extLst>
                    <a:ext uri="{FF2B5EF4-FFF2-40B4-BE49-F238E27FC236}">
                      <a16:creationId xmlns:a16="http://schemas.microsoft.com/office/drawing/2014/main" id="{360D235E-51D0-43CD-A92C-3486B73BC152}"/>
                    </a:ext>
                  </a:extLst>
                </p:cNvPr>
                <p:cNvSpPr>
                  <a:spLocks noChangeAspect="1" noEditPoints="1"/>
                </p:cNvSpPr>
                <p:nvPr/>
              </p:nvSpPr>
              <p:spPr bwMode="auto">
                <a:xfrm>
                  <a:off x="3159251" y="1849754"/>
                  <a:ext cx="600711" cy="463934"/>
                </a:xfrm>
                <a:custGeom>
                  <a:avLst/>
                  <a:gdLst>
                    <a:gd name="T0" fmla="*/ 4966 w 5954"/>
                    <a:gd name="T1" fmla="*/ 4258 h 5070"/>
                    <a:gd name="T2" fmla="*/ 5543 w 5954"/>
                    <a:gd name="T3" fmla="*/ 4093 h 5070"/>
                    <a:gd name="T4" fmla="*/ 1186 w 5954"/>
                    <a:gd name="T5" fmla="*/ 2719 h 5070"/>
                    <a:gd name="T6" fmla="*/ 1700 w 5954"/>
                    <a:gd name="T7" fmla="*/ 3382 h 5070"/>
                    <a:gd name="T8" fmla="*/ 1186 w 5954"/>
                    <a:gd name="T9" fmla="*/ 2719 h 5070"/>
                    <a:gd name="T10" fmla="*/ 2722 w 5954"/>
                    <a:gd name="T11" fmla="*/ 2308 h 5070"/>
                    <a:gd name="T12" fmla="*/ 2210 w 5954"/>
                    <a:gd name="T13" fmla="*/ 3382 h 5070"/>
                    <a:gd name="T14" fmla="*/ 3232 w 5954"/>
                    <a:gd name="T15" fmla="*/ 1539 h 5070"/>
                    <a:gd name="T16" fmla="*/ 3745 w 5954"/>
                    <a:gd name="T17" fmla="*/ 3382 h 5070"/>
                    <a:gd name="T18" fmla="*/ 3232 w 5954"/>
                    <a:gd name="T19" fmla="*/ 1539 h 5070"/>
                    <a:gd name="T20" fmla="*/ 4767 w 5954"/>
                    <a:gd name="T21" fmla="*/ 1118 h 5070"/>
                    <a:gd name="T22" fmla="*/ 4255 w 5954"/>
                    <a:gd name="T23" fmla="*/ 3382 h 5070"/>
                    <a:gd name="T24" fmla="*/ 412 w 5954"/>
                    <a:gd name="T25" fmla="*/ 412 h 5070"/>
                    <a:gd name="T26" fmla="*/ 5541 w 5954"/>
                    <a:gd name="T27" fmla="*/ 3977 h 5070"/>
                    <a:gd name="T28" fmla="*/ 412 w 5954"/>
                    <a:gd name="T29" fmla="*/ 412 h 5070"/>
                    <a:gd name="T30" fmla="*/ 5747 w 5954"/>
                    <a:gd name="T31" fmla="*/ 0 h 5070"/>
                    <a:gd name="T32" fmla="*/ 5838 w 5954"/>
                    <a:gd name="T33" fmla="*/ 20 h 5070"/>
                    <a:gd name="T34" fmla="*/ 5908 w 5954"/>
                    <a:gd name="T35" fmla="*/ 76 h 5070"/>
                    <a:gd name="T36" fmla="*/ 5948 w 5954"/>
                    <a:gd name="T37" fmla="*/ 159 h 5070"/>
                    <a:gd name="T38" fmla="*/ 5954 w 5954"/>
                    <a:gd name="T39" fmla="*/ 4184 h 5070"/>
                    <a:gd name="T40" fmla="*/ 5934 w 5954"/>
                    <a:gd name="T41" fmla="*/ 4274 h 5070"/>
                    <a:gd name="T42" fmla="*/ 5878 w 5954"/>
                    <a:gd name="T43" fmla="*/ 4345 h 5070"/>
                    <a:gd name="T44" fmla="*/ 5794 w 5954"/>
                    <a:gd name="T45" fmla="*/ 4384 h 5070"/>
                    <a:gd name="T46" fmla="*/ 3650 w 5954"/>
                    <a:gd name="T47" fmla="*/ 4390 h 5070"/>
                    <a:gd name="T48" fmla="*/ 4597 w 5954"/>
                    <a:gd name="T49" fmla="*/ 4779 h 5070"/>
                    <a:gd name="T50" fmla="*/ 1358 w 5954"/>
                    <a:gd name="T51" fmla="*/ 5070 h 5070"/>
                    <a:gd name="T52" fmla="*/ 2306 w 5954"/>
                    <a:gd name="T53" fmla="*/ 4779 h 5070"/>
                    <a:gd name="T54" fmla="*/ 206 w 5954"/>
                    <a:gd name="T55" fmla="*/ 4390 h 5070"/>
                    <a:gd name="T56" fmla="*/ 116 w 5954"/>
                    <a:gd name="T57" fmla="*/ 4368 h 5070"/>
                    <a:gd name="T58" fmla="*/ 45 w 5954"/>
                    <a:gd name="T59" fmla="*/ 4312 h 5070"/>
                    <a:gd name="T60" fmla="*/ 5 w 5954"/>
                    <a:gd name="T61" fmla="*/ 4231 h 5070"/>
                    <a:gd name="T62" fmla="*/ 0 w 5954"/>
                    <a:gd name="T63" fmla="*/ 206 h 5070"/>
                    <a:gd name="T64" fmla="*/ 22 w 5954"/>
                    <a:gd name="T65" fmla="*/ 116 h 5070"/>
                    <a:gd name="T66" fmla="*/ 78 w 5954"/>
                    <a:gd name="T67" fmla="*/ 45 h 5070"/>
                    <a:gd name="T68" fmla="*/ 159 w 5954"/>
                    <a:gd name="T69" fmla="*/ 5 h 50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54" h="5070">
                      <a:moveTo>
                        <a:pt x="4966" y="4093"/>
                      </a:moveTo>
                      <a:lnTo>
                        <a:pt x="4966" y="4258"/>
                      </a:lnTo>
                      <a:lnTo>
                        <a:pt x="5543" y="4258"/>
                      </a:lnTo>
                      <a:lnTo>
                        <a:pt x="5543" y="4093"/>
                      </a:lnTo>
                      <a:lnTo>
                        <a:pt x="4966" y="4093"/>
                      </a:lnTo>
                      <a:close/>
                      <a:moveTo>
                        <a:pt x="1186" y="2719"/>
                      </a:moveTo>
                      <a:lnTo>
                        <a:pt x="1700" y="2719"/>
                      </a:lnTo>
                      <a:lnTo>
                        <a:pt x="1700" y="3382"/>
                      </a:lnTo>
                      <a:lnTo>
                        <a:pt x="1186" y="3382"/>
                      </a:lnTo>
                      <a:lnTo>
                        <a:pt x="1186" y="2719"/>
                      </a:lnTo>
                      <a:close/>
                      <a:moveTo>
                        <a:pt x="2210" y="2308"/>
                      </a:moveTo>
                      <a:lnTo>
                        <a:pt x="2722" y="2308"/>
                      </a:lnTo>
                      <a:lnTo>
                        <a:pt x="2722" y="3382"/>
                      </a:lnTo>
                      <a:lnTo>
                        <a:pt x="2210" y="3382"/>
                      </a:lnTo>
                      <a:lnTo>
                        <a:pt x="2210" y="2308"/>
                      </a:lnTo>
                      <a:close/>
                      <a:moveTo>
                        <a:pt x="3232" y="1539"/>
                      </a:moveTo>
                      <a:lnTo>
                        <a:pt x="3745" y="1539"/>
                      </a:lnTo>
                      <a:lnTo>
                        <a:pt x="3745" y="3382"/>
                      </a:lnTo>
                      <a:lnTo>
                        <a:pt x="3232" y="3382"/>
                      </a:lnTo>
                      <a:lnTo>
                        <a:pt x="3232" y="1539"/>
                      </a:lnTo>
                      <a:close/>
                      <a:moveTo>
                        <a:pt x="4255" y="1118"/>
                      </a:moveTo>
                      <a:lnTo>
                        <a:pt x="4767" y="1118"/>
                      </a:lnTo>
                      <a:lnTo>
                        <a:pt x="4767" y="3382"/>
                      </a:lnTo>
                      <a:lnTo>
                        <a:pt x="4255" y="3382"/>
                      </a:lnTo>
                      <a:lnTo>
                        <a:pt x="4255" y="1118"/>
                      </a:lnTo>
                      <a:close/>
                      <a:moveTo>
                        <a:pt x="412" y="412"/>
                      </a:moveTo>
                      <a:lnTo>
                        <a:pt x="412" y="3977"/>
                      </a:lnTo>
                      <a:lnTo>
                        <a:pt x="5541" y="3977"/>
                      </a:lnTo>
                      <a:lnTo>
                        <a:pt x="5541" y="412"/>
                      </a:lnTo>
                      <a:lnTo>
                        <a:pt x="412" y="412"/>
                      </a:lnTo>
                      <a:close/>
                      <a:moveTo>
                        <a:pt x="206" y="0"/>
                      </a:moveTo>
                      <a:lnTo>
                        <a:pt x="5747" y="0"/>
                      </a:lnTo>
                      <a:lnTo>
                        <a:pt x="5794" y="5"/>
                      </a:lnTo>
                      <a:lnTo>
                        <a:pt x="5838" y="20"/>
                      </a:lnTo>
                      <a:lnTo>
                        <a:pt x="5878" y="45"/>
                      </a:lnTo>
                      <a:lnTo>
                        <a:pt x="5908" y="76"/>
                      </a:lnTo>
                      <a:lnTo>
                        <a:pt x="5934" y="116"/>
                      </a:lnTo>
                      <a:lnTo>
                        <a:pt x="5948" y="159"/>
                      </a:lnTo>
                      <a:lnTo>
                        <a:pt x="5954" y="206"/>
                      </a:lnTo>
                      <a:lnTo>
                        <a:pt x="5954" y="4184"/>
                      </a:lnTo>
                      <a:lnTo>
                        <a:pt x="5948" y="4231"/>
                      </a:lnTo>
                      <a:lnTo>
                        <a:pt x="5934" y="4274"/>
                      </a:lnTo>
                      <a:lnTo>
                        <a:pt x="5908" y="4312"/>
                      </a:lnTo>
                      <a:lnTo>
                        <a:pt x="5878" y="4345"/>
                      </a:lnTo>
                      <a:lnTo>
                        <a:pt x="5838" y="4368"/>
                      </a:lnTo>
                      <a:lnTo>
                        <a:pt x="5794" y="4384"/>
                      </a:lnTo>
                      <a:lnTo>
                        <a:pt x="5747" y="4390"/>
                      </a:lnTo>
                      <a:lnTo>
                        <a:pt x="3650" y="4390"/>
                      </a:lnTo>
                      <a:lnTo>
                        <a:pt x="3650" y="4779"/>
                      </a:lnTo>
                      <a:lnTo>
                        <a:pt x="4597" y="4779"/>
                      </a:lnTo>
                      <a:lnTo>
                        <a:pt x="4597" y="5070"/>
                      </a:lnTo>
                      <a:lnTo>
                        <a:pt x="1358" y="5070"/>
                      </a:lnTo>
                      <a:lnTo>
                        <a:pt x="1358" y="4779"/>
                      </a:lnTo>
                      <a:lnTo>
                        <a:pt x="2306" y="4779"/>
                      </a:lnTo>
                      <a:lnTo>
                        <a:pt x="2306" y="4390"/>
                      </a:lnTo>
                      <a:lnTo>
                        <a:pt x="206" y="4390"/>
                      </a:lnTo>
                      <a:lnTo>
                        <a:pt x="159" y="4384"/>
                      </a:lnTo>
                      <a:lnTo>
                        <a:pt x="116" y="4368"/>
                      </a:lnTo>
                      <a:lnTo>
                        <a:pt x="78" y="4345"/>
                      </a:lnTo>
                      <a:lnTo>
                        <a:pt x="45" y="4312"/>
                      </a:lnTo>
                      <a:lnTo>
                        <a:pt x="22" y="4274"/>
                      </a:lnTo>
                      <a:lnTo>
                        <a:pt x="5" y="4231"/>
                      </a:lnTo>
                      <a:lnTo>
                        <a:pt x="0" y="4184"/>
                      </a:lnTo>
                      <a:lnTo>
                        <a:pt x="0" y="206"/>
                      </a:lnTo>
                      <a:lnTo>
                        <a:pt x="5" y="159"/>
                      </a:lnTo>
                      <a:lnTo>
                        <a:pt x="22" y="116"/>
                      </a:lnTo>
                      <a:lnTo>
                        <a:pt x="45" y="76"/>
                      </a:lnTo>
                      <a:lnTo>
                        <a:pt x="78" y="45"/>
                      </a:lnTo>
                      <a:lnTo>
                        <a:pt x="116" y="20"/>
                      </a:lnTo>
                      <a:lnTo>
                        <a:pt x="159" y="5"/>
                      </a:lnTo>
                      <a:lnTo>
                        <a:pt x="206" y="0"/>
                      </a:lnTo>
                      <a:close/>
                    </a:path>
                  </a:pathLst>
                </a:custGeom>
                <a:solidFill>
                  <a:srgbClr val="012169"/>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800" dirty="0">
                    <a:solidFill>
                      <a:srgbClr val="000000"/>
                    </a:solidFill>
                  </a:endParaRPr>
                </a:p>
              </p:txBody>
            </p:sp>
            <p:sp>
              <p:nvSpPr>
                <p:cNvPr id="106" name="TextBox 105">
                  <a:extLst>
                    <a:ext uri="{FF2B5EF4-FFF2-40B4-BE49-F238E27FC236}">
                      <a16:creationId xmlns:a16="http://schemas.microsoft.com/office/drawing/2014/main" id="{CFAB6166-704E-4E6E-9DAC-CC5C362EB3D8}"/>
                    </a:ext>
                  </a:extLst>
                </p:cNvPr>
                <p:cNvSpPr txBox="1"/>
                <p:nvPr/>
              </p:nvSpPr>
              <p:spPr>
                <a:xfrm>
                  <a:off x="3911623" y="1689461"/>
                  <a:ext cx="2338649" cy="854080"/>
                </a:xfrm>
                <a:prstGeom prst="rect">
                  <a:avLst/>
                </a:prstGeom>
                <a:noFill/>
              </p:spPr>
              <p:txBody>
                <a:bodyPr wrap="square" lIns="0" tIns="0" rIns="0" bIns="0" rtlCol="0">
                  <a:spAutoFit/>
                </a:bodyPr>
                <a:lstStyle/>
                <a:p>
                  <a:pPr marL="203200" indent="-203200">
                    <a:spcBef>
                      <a:spcPts val="300"/>
                    </a:spcBef>
                    <a:buSzPct val="100000"/>
                    <a:buFont typeface="Arial"/>
                    <a:buChar char="•"/>
                  </a:pPr>
                  <a:r>
                    <a:rPr lang="en-US" sz="800" b="1" dirty="0">
                      <a:solidFill>
                        <a:srgbClr val="313131"/>
                      </a:solidFill>
                    </a:rPr>
                    <a:t>Integrated project management</a:t>
                  </a:r>
                </a:p>
                <a:p>
                  <a:pPr marL="203200" indent="-203200">
                    <a:spcBef>
                      <a:spcPts val="300"/>
                    </a:spcBef>
                    <a:buSzPct val="100000"/>
                    <a:buFont typeface="Arial"/>
                    <a:buChar char="•"/>
                  </a:pPr>
                  <a:r>
                    <a:rPr lang="en-US" sz="800" b="1" dirty="0">
                      <a:solidFill>
                        <a:srgbClr val="313131"/>
                      </a:solidFill>
                    </a:rPr>
                    <a:t>Collaboration Management</a:t>
                  </a:r>
                </a:p>
                <a:p>
                  <a:pPr marL="203200" indent="-203200">
                    <a:spcBef>
                      <a:spcPts val="300"/>
                    </a:spcBef>
                    <a:buSzPct val="100000"/>
                    <a:buFont typeface="Arial"/>
                    <a:buChar char="•"/>
                  </a:pPr>
                  <a:r>
                    <a:rPr lang="en-US" sz="800" b="1" dirty="0">
                      <a:solidFill>
                        <a:srgbClr val="313131"/>
                      </a:solidFill>
                    </a:rPr>
                    <a:t>Risk Management</a:t>
                  </a:r>
                </a:p>
                <a:p>
                  <a:pPr marL="203200" indent="-203200">
                    <a:spcBef>
                      <a:spcPts val="300"/>
                    </a:spcBef>
                    <a:buSzPct val="100000"/>
                    <a:buFont typeface="Arial"/>
                    <a:buChar char="•"/>
                  </a:pPr>
                  <a:r>
                    <a:rPr lang="en-US" sz="800" b="1" dirty="0">
                      <a:solidFill>
                        <a:srgbClr val="313131"/>
                      </a:solidFill>
                    </a:rPr>
                    <a:t>Schedule Analytics</a:t>
                  </a:r>
                </a:p>
              </p:txBody>
            </p:sp>
            <p:sp>
              <p:nvSpPr>
                <p:cNvPr id="107" name="Rectangle 106">
                  <a:extLst>
                    <a:ext uri="{FF2B5EF4-FFF2-40B4-BE49-F238E27FC236}">
                      <a16:creationId xmlns:a16="http://schemas.microsoft.com/office/drawing/2014/main" id="{11E567FA-24FC-4542-919F-591B41493477}"/>
                    </a:ext>
                  </a:extLst>
                </p:cNvPr>
                <p:cNvSpPr/>
                <p:nvPr/>
              </p:nvSpPr>
              <p:spPr>
                <a:xfrm>
                  <a:off x="6080394" y="1668312"/>
                  <a:ext cx="1627708" cy="938719"/>
                </a:xfrm>
                <a:prstGeom prst="rect">
                  <a:avLst/>
                </a:prstGeom>
                <a:noFill/>
              </p:spPr>
              <p:txBody>
                <a:bodyPr wrap="square" lIns="0" tIns="0" rIns="0" bIns="0" rtlCol="0">
                  <a:spAutoFit/>
                </a:bodyPr>
                <a:lstStyle/>
                <a:p>
                  <a:pPr marL="203200" indent="-203200">
                    <a:spcBef>
                      <a:spcPts val="300"/>
                    </a:spcBef>
                    <a:buSzPct val="100000"/>
                    <a:buFont typeface="Arial"/>
                    <a:buChar char="•"/>
                  </a:pPr>
                  <a:r>
                    <a:rPr lang="en-US" sz="800" b="1" dirty="0">
                      <a:solidFill>
                        <a:srgbClr val="313131"/>
                      </a:solidFill>
                    </a:rPr>
                    <a:t>Change Management</a:t>
                  </a:r>
                </a:p>
                <a:p>
                  <a:pPr marL="203200" indent="-203200">
                    <a:spcBef>
                      <a:spcPts val="300"/>
                    </a:spcBef>
                    <a:buSzPct val="100000"/>
                    <a:buFont typeface="Arial"/>
                    <a:buChar char="•"/>
                  </a:pPr>
                  <a:r>
                    <a:rPr lang="en-US" sz="800" b="1" dirty="0">
                      <a:solidFill>
                        <a:srgbClr val="313131"/>
                      </a:solidFill>
                    </a:rPr>
                    <a:t>Business BI Platform</a:t>
                  </a:r>
                </a:p>
                <a:p>
                  <a:pPr marL="203200" indent="-203200">
                    <a:spcBef>
                      <a:spcPts val="300"/>
                    </a:spcBef>
                    <a:buSzPct val="100000"/>
                    <a:buFont typeface="Arial"/>
                    <a:buChar char="•"/>
                  </a:pPr>
                  <a:r>
                    <a:rPr lang="en-US" sz="800" b="1" dirty="0">
                      <a:solidFill>
                        <a:srgbClr val="313131"/>
                      </a:solidFill>
                    </a:rPr>
                    <a:t>Web/Mobile Based Dashboard</a:t>
                  </a:r>
                </a:p>
              </p:txBody>
            </p:sp>
            <p:sp>
              <p:nvSpPr>
                <p:cNvPr id="108" name="Rectangle 107">
                  <a:extLst>
                    <a:ext uri="{FF2B5EF4-FFF2-40B4-BE49-F238E27FC236}">
                      <a16:creationId xmlns:a16="http://schemas.microsoft.com/office/drawing/2014/main" id="{B0F62622-E4CF-4D90-9E8E-1A42C7DB75F1}"/>
                    </a:ext>
                  </a:extLst>
                </p:cNvPr>
                <p:cNvSpPr/>
                <p:nvPr/>
              </p:nvSpPr>
              <p:spPr>
                <a:xfrm>
                  <a:off x="3963587" y="1378787"/>
                  <a:ext cx="3687877" cy="215444"/>
                </a:xfrm>
                <a:prstGeom prst="rect">
                  <a:avLst/>
                </a:prstGeom>
                <a:solidFill>
                  <a:srgbClr val="012169"/>
                </a:solidFill>
              </p:spPr>
              <p:style>
                <a:lnRef idx="3">
                  <a:schemeClr val="lt1"/>
                </a:lnRef>
                <a:fillRef idx="1">
                  <a:schemeClr val="dk1"/>
                </a:fillRef>
                <a:effectRef idx="1">
                  <a:schemeClr val="dk1"/>
                </a:effectRef>
                <a:fontRef idx="minor">
                  <a:schemeClr val="lt1"/>
                </a:fontRef>
              </p:style>
              <p:txBody>
                <a:bodyPr wrap="none">
                  <a:spAutoFit/>
                </a:bodyPr>
                <a:lstStyle/>
                <a:p>
                  <a:r>
                    <a:rPr lang="en-US" sz="800" b="1" cap="small" dirty="0">
                      <a:solidFill>
                        <a:schemeClr val="bg1"/>
                      </a:solidFill>
                      <a:cs typeface="Calibri Light" panose="020F0302020204030204" pitchFamily="34" charset="0"/>
                    </a:rPr>
                    <a:t>Integrated Project Monitoring and Control</a:t>
                  </a:r>
                </a:p>
              </p:txBody>
            </p:sp>
          </p:grpSp>
          <p:grpSp>
            <p:nvGrpSpPr>
              <p:cNvPr id="78" name="Group 77">
                <a:extLst>
                  <a:ext uri="{FF2B5EF4-FFF2-40B4-BE49-F238E27FC236}">
                    <a16:creationId xmlns:a16="http://schemas.microsoft.com/office/drawing/2014/main" id="{E516F3A6-B0C5-4AFB-BFE5-9154AE81C694}"/>
                  </a:ext>
                </a:extLst>
              </p:cNvPr>
              <p:cNvGrpSpPr/>
              <p:nvPr/>
            </p:nvGrpSpPr>
            <p:grpSpPr>
              <a:xfrm>
                <a:off x="1028143" y="2970122"/>
                <a:ext cx="2572139" cy="1421725"/>
                <a:chOff x="311515" y="2039839"/>
                <a:chExt cx="2572139" cy="1421725"/>
              </a:xfrm>
            </p:grpSpPr>
            <p:sp>
              <p:nvSpPr>
                <p:cNvPr id="92" name="Rectangle 91">
                  <a:extLst>
                    <a:ext uri="{FF2B5EF4-FFF2-40B4-BE49-F238E27FC236}">
                      <a16:creationId xmlns:a16="http://schemas.microsoft.com/office/drawing/2014/main" id="{4949FF3B-1846-4208-9E82-68558D8DCBBB}"/>
                    </a:ext>
                  </a:extLst>
                </p:cNvPr>
                <p:cNvSpPr/>
                <p:nvPr/>
              </p:nvSpPr>
              <p:spPr>
                <a:xfrm>
                  <a:off x="311515" y="2039839"/>
                  <a:ext cx="2543196" cy="461665"/>
                </a:xfrm>
                <a:prstGeom prst="rect">
                  <a:avLst/>
                </a:prstGeom>
                <a:solidFill>
                  <a:srgbClr val="005587"/>
                </a:solidFill>
              </p:spPr>
              <p:style>
                <a:lnRef idx="3">
                  <a:schemeClr val="lt1"/>
                </a:lnRef>
                <a:fillRef idx="1">
                  <a:schemeClr val="dk1"/>
                </a:fillRef>
                <a:effectRef idx="1">
                  <a:schemeClr val="dk1"/>
                </a:effectRef>
                <a:fontRef idx="minor">
                  <a:schemeClr val="lt1"/>
                </a:fontRef>
              </p:style>
              <p:txBody>
                <a:bodyPr wrap="square">
                  <a:spAutoFit/>
                </a:bodyPr>
                <a:lstStyle/>
                <a:p>
                  <a:r>
                    <a:rPr lang="en-US" sz="800" b="1" cap="small" dirty="0">
                      <a:solidFill>
                        <a:schemeClr val="bg1"/>
                      </a:solidFill>
                      <a:cs typeface="Calibri Light" panose="020F0302020204030204" pitchFamily="34" charset="0"/>
                    </a:rPr>
                    <a:t>Commercial, revenue and regulatory management support</a:t>
                  </a:r>
                </a:p>
              </p:txBody>
            </p:sp>
            <p:sp>
              <p:nvSpPr>
                <p:cNvPr id="93" name="TextBox 92">
                  <a:extLst>
                    <a:ext uri="{FF2B5EF4-FFF2-40B4-BE49-F238E27FC236}">
                      <a16:creationId xmlns:a16="http://schemas.microsoft.com/office/drawing/2014/main" id="{6D40BF09-97D9-47E4-A9AD-1F5DD0F3CADC}"/>
                    </a:ext>
                  </a:extLst>
                </p:cNvPr>
                <p:cNvSpPr txBox="1"/>
                <p:nvPr/>
              </p:nvSpPr>
              <p:spPr>
                <a:xfrm>
                  <a:off x="997827" y="2645956"/>
                  <a:ext cx="1885827" cy="815608"/>
                </a:xfrm>
                <a:prstGeom prst="rect">
                  <a:avLst/>
                </a:prstGeom>
                <a:noFill/>
              </p:spPr>
              <p:txBody>
                <a:bodyPr wrap="square" lIns="0" tIns="0" rIns="0" bIns="0" rtlCol="0">
                  <a:spAutoFit/>
                </a:bodyPr>
                <a:lstStyle>
                  <a:defPPr>
                    <a:defRPr lang="en-US"/>
                  </a:defPPr>
                  <a:lvl1pPr marL="203200" indent="-203200">
                    <a:spcBef>
                      <a:spcPts val="600"/>
                    </a:spcBef>
                    <a:buSzPct val="100000"/>
                    <a:buFont typeface="Arial"/>
                    <a:buChar char="•"/>
                    <a:defRPr sz="900" b="1">
                      <a:solidFill>
                        <a:srgbClr val="313131"/>
                      </a:solidFill>
                    </a:defRPr>
                  </a:lvl1pPr>
                </a:lstStyle>
                <a:p>
                  <a:r>
                    <a:rPr lang="en-US" sz="800" dirty="0"/>
                    <a:t>Integrated MIS reports</a:t>
                  </a:r>
                </a:p>
                <a:p>
                  <a:r>
                    <a:rPr lang="en-US" sz="800" dirty="0"/>
                    <a:t>Automated dashboard on Metering-Billing-Collection</a:t>
                  </a:r>
                </a:p>
              </p:txBody>
            </p:sp>
          </p:grpSp>
          <p:grpSp>
            <p:nvGrpSpPr>
              <p:cNvPr id="79" name="Group 78">
                <a:extLst>
                  <a:ext uri="{FF2B5EF4-FFF2-40B4-BE49-F238E27FC236}">
                    <a16:creationId xmlns:a16="http://schemas.microsoft.com/office/drawing/2014/main" id="{FE772317-66F8-4E58-B9EE-3BFC5FC6C134}"/>
                  </a:ext>
                </a:extLst>
              </p:cNvPr>
              <p:cNvGrpSpPr/>
              <p:nvPr/>
            </p:nvGrpSpPr>
            <p:grpSpPr>
              <a:xfrm>
                <a:off x="6936054" y="3137345"/>
                <a:ext cx="3557067" cy="824068"/>
                <a:chOff x="8605415" y="2782424"/>
                <a:chExt cx="3557067" cy="824068"/>
              </a:xfrm>
            </p:grpSpPr>
            <p:pic>
              <p:nvPicPr>
                <p:cNvPr id="88" name="Picture 87">
                  <a:extLst>
                    <a:ext uri="{FF2B5EF4-FFF2-40B4-BE49-F238E27FC236}">
                      <a16:creationId xmlns:a16="http://schemas.microsoft.com/office/drawing/2014/main" id="{6AC36423-85C1-4174-AB69-6CB85A3BB33E}"/>
                    </a:ext>
                  </a:extLst>
                </p:cNvPr>
                <p:cNvPicPr>
                  <a:picLocks noChangeAspect="1"/>
                </p:cNvPicPr>
                <p:nvPr/>
              </p:nvPicPr>
              <p:blipFill>
                <a:blip r:embed="rId6"/>
                <a:stretch>
                  <a:fillRect/>
                </a:stretch>
              </p:blipFill>
              <p:spPr>
                <a:xfrm>
                  <a:off x="8605415" y="2919061"/>
                  <a:ext cx="992095" cy="678070"/>
                </a:xfrm>
                <a:prstGeom prst="rect">
                  <a:avLst/>
                </a:prstGeom>
              </p:spPr>
            </p:pic>
            <p:sp>
              <p:nvSpPr>
                <p:cNvPr id="89" name="Rectangle 88">
                  <a:extLst>
                    <a:ext uri="{FF2B5EF4-FFF2-40B4-BE49-F238E27FC236}">
                      <a16:creationId xmlns:a16="http://schemas.microsoft.com/office/drawing/2014/main" id="{8B3A7409-BDE6-4D19-8747-03C6BBF5419B}"/>
                    </a:ext>
                  </a:extLst>
                </p:cNvPr>
                <p:cNvSpPr/>
                <p:nvPr/>
              </p:nvSpPr>
              <p:spPr>
                <a:xfrm>
                  <a:off x="9726407" y="2782424"/>
                  <a:ext cx="1957806" cy="338554"/>
                </a:xfrm>
                <a:prstGeom prst="rect">
                  <a:avLst/>
                </a:prstGeom>
                <a:solidFill>
                  <a:srgbClr val="0374BD"/>
                </a:solidFill>
              </p:spPr>
              <p:style>
                <a:lnRef idx="3">
                  <a:schemeClr val="lt1"/>
                </a:lnRef>
                <a:fillRef idx="1">
                  <a:schemeClr val="dk1"/>
                </a:fillRef>
                <a:effectRef idx="1">
                  <a:schemeClr val="dk1"/>
                </a:effectRef>
                <a:fontRef idx="minor">
                  <a:schemeClr val="lt1"/>
                </a:fontRef>
              </p:style>
              <p:txBody>
                <a:bodyPr wrap="none">
                  <a:spAutoFit/>
                </a:bodyPr>
                <a:lstStyle/>
                <a:p>
                  <a:r>
                    <a:rPr lang="en-US" sz="800" b="1" dirty="0"/>
                    <a:t>DIGITISED </a:t>
                  </a:r>
                </a:p>
                <a:p>
                  <a:r>
                    <a:rPr lang="en-US" sz="800" b="1" dirty="0"/>
                    <a:t>FINANCIAL CONTROL</a:t>
                  </a:r>
                  <a:endParaRPr lang="en-US" sz="800" b="1" cap="small" dirty="0">
                    <a:solidFill>
                      <a:schemeClr val="bg1"/>
                    </a:solidFill>
                    <a:cs typeface="Calibri Light" panose="020F0302020204030204" pitchFamily="34" charset="0"/>
                  </a:endParaRPr>
                </a:p>
              </p:txBody>
            </p:sp>
            <p:sp>
              <p:nvSpPr>
                <p:cNvPr id="90" name="Rectangle 89">
                  <a:extLst>
                    <a:ext uri="{FF2B5EF4-FFF2-40B4-BE49-F238E27FC236}">
                      <a16:creationId xmlns:a16="http://schemas.microsoft.com/office/drawing/2014/main" id="{425B1C83-EE82-4F99-BE53-47FBFB282908}"/>
                    </a:ext>
                  </a:extLst>
                </p:cNvPr>
                <p:cNvSpPr/>
                <p:nvPr/>
              </p:nvSpPr>
              <p:spPr>
                <a:xfrm>
                  <a:off x="9617574" y="3283327"/>
                  <a:ext cx="2544908" cy="323165"/>
                </a:xfrm>
                <a:prstGeom prst="rect">
                  <a:avLst/>
                </a:prstGeom>
                <a:noFill/>
              </p:spPr>
              <p:txBody>
                <a:bodyPr wrap="square" lIns="0" tIns="0" rIns="0" bIns="0" rtlCol="0">
                  <a:spAutoFit/>
                </a:bodyPr>
                <a:lstStyle/>
                <a:p>
                  <a:pPr marL="171450" indent="-171450">
                    <a:spcBef>
                      <a:spcPts val="600"/>
                    </a:spcBef>
                    <a:buSzPct val="100000"/>
                    <a:buFont typeface="Arial" panose="020B0604020202020204" pitchFamily="34" charset="0"/>
                    <a:buChar char="•"/>
                  </a:pPr>
                  <a:r>
                    <a:rPr lang="en-US" sz="800" b="1" dirty="0">
                      <a:solidFill>
                        <a:srgbClr val="313131"/>
                      </a:solidFill>
                    </a:rPr>
                    <a:t>Financial projections</a:t>
                  </a:r>
                </a:p>
                <a:p>
                  <a:pPr marL="171450" indent="-171450">
                    <a:spcBef>
                      <a:spcPts val="600"/>
                    </a:spcBef>
                    <a:buSzPct val="100000"/>
                    <a:buFont typeface="Arial" panose="020B0604020202020204" pitchFamily="34" charset="0"/>
                    <a:buChar char="•"/>
                  </a:pPr>
                  <a:r>
                    <a:rPr lang="en-US" sz="800" b="1" dirty="0">
                      <a:solidFill>
                        <a:srgbClr val="313131"/>
                      </a:solidFill>
                    </a:rPr>
                    <a:t>Sensitivity Analysis</a:t>
                  </a:r>
                </a:p>
              </p:txBody>
            </p:sp>
          </p:grpSp>
          <p:pic>
            <p:nvPicPr>
              <p:cNvPr id="80" name="Picture 79">
                <a:extLst>
                  <a:ext uri="{FF2B5EF4-FFF2-40B4-BE49-F238E27FC236}">
                    <a16:creationId xmlns:a16="http://schemas.microsoft.com/office/drawing/2014/main" id="{0BB88F6A-98B9-427F-BA31-CCF2AEBAF1B8}"/>
                  </a:ext>
                </a:extLst>
              </p:cNvPr>
              <p:cNvPicPr>
                <a:picLocks noChangeAspect="1"/>
              </p:cNvPicPr>
              <p:nvPr/>
            </p:nvPicPr>
            <p:blipFill>
              <a:blip r:embed="rId7"/>
              <a:stretch>
                <a:fillRect/>
              </a:stretch>
            </p:blipFill>
            <p:spPr>
              <a:xfrm>
                <a:off x="3889304" y="2785371"/>
                <a:ext cx="2809448" cy="1540411"/>
              </a:xfrm>
              <a:prstGeom prst="rect">
                <a:avLst/>
              </a:prstGeom>
            </p:spPr>
          </p:pic>
          <p:grpSp>
            <p:nvGrpSpPr>
              <p:cNvPr id="81" name="Group 80">
                <a:extLst>
                  <a:ext uri="{FF2B5EF4-FFF2-40B4-BE49-F238E27FC236}">
                    <a16:creationId xmlns:a16="http://schemas.microsoft.com/office/drawing/2014/main" id="{3AC2FE4C-913F-4544-BCA1-70EA6E754FFA}"/>
                  </a:ext>
                </a:extLst>
              </p:cNvPr>
              <p:cNvGrpSpPr/>
              <p:nvPr/>
            </p:nvGrpSpPr>
            <p:grpSpPr>
              <a:xfrm>
                <a:off x="3660176" y="4514149"/>
                <a:ext cx="3305411" cy="952473"/>
                <a:chOff x="4282899" y="5720565"/>
                <a:chExt cx="3305411" cy="952473"/>
              </a:xfrm>
            </p:grpSpPr>
            <p:sp>
              <p:nvSpPr>
                <p:cNvPr id="82" name="Rectangle 81">
                  <a:extLst>
                    <a:ext uri="{FF2B5EF4-FFF2-40B4-BE49-F238E27FC236}">
                      <a16:creationId xmlns:a16="http://schemas.microsoft.com/office/drawing/2014/main" id="{E6D01042-5008-4944-BD34-843E84D6B4F9}"/>
                    </a:ext>
                  </a:extLst>
                </p:cNvPr>
                <p:cNvSpPr/>
                <p:nvPr/>
              </p:nvSpPr>
              <p:spPr>
                <a:xfrm>
                  <a:off x="4785327" y="5720565"/>
                  <a:ext cx="2802983" cy="215444"/>
                </a:xfrm>
                <a:prstGeom prst="rect">
                  <a:avLst/>
                </a:prstGeom>
                <a:solidFill>
                  <a:schemeClr val="accent3"/>
                </a:solidFill>
              </p:spPr>
              <p:style>
                <a:lnRef idx="3">
                  <a:schemeClr val="lt1"/>
                </a:lnRef>
                <a:fillRef idx="1">
                  <a:schemeClr val="dk1"/>
                </a:fillRef>
                <a:effectRef idx="1">
                  <a:schemeClr val="dk1"/>
                </a:effectRef>
                <a:fontRef idx="minor">
                  <a:schemeClr val="lt1"/>
                </a:fontRef>
              </p:style>
              <p:txBody>
                <a:bodyPr wrap="none">
                  <a:spAutoFit/>
                </a:bodyPr>
                <a:lstStyle/>
                <a:p>
                  <a:r>
                    <a:rPr lang="en-US" sz="800" b="1" cap="small" dirty="0">
                      <a:solidFill>
                        <a:schemeClr val="bg1"/>
                      </a:solidFill>
                      <a:cs typeface="Calibri Light" panose="020F0302020204030204" pitchFamily="34" charset="0"/>
                    </a:rPr>
                    <a:t>PROJECT SCHEDULES &amp; CHARTS</a:t>
                  </a:r>
                </a:p>
              </p:txBody>
            </p:sp>
            <p:sp>
              <p:nvSpPr>
                <p:cNvPr id="83" name="TextBox 82">
                  <a:extLst>
                    <a:ext uri="{FF2B5EF4-FFF2-40B4-BE49-F238E27FC236}">
                      <a16:creationId xmlns:a16="http://schemas.microsoft.com/office/drawing/2014/main" id="{41DCE6E8-E540-4B45-9FD9-4C7AA8D7219E}"/>
                    </a:ext>
                  </a:extLst>
                </p:cNvPr>
                <p:cNvSpPr txBox="1"/>
                <p:nvPr/>
              </p:nvSpPr>
              <p:spPr>
                <a:xfrm>
                  <a:off x="4911435" y="6103651"/>
                  <a:ext cx="2530046" cy="569387"/>
                </a:xfrm>
                <a:prstGeom prst="rect">
                  <a:avLst/>
                </a:prstGeom>
                <a:noFill/>
              </p:spPr>
              <p:txBody>
                <a:bodyPr wrap="square" lIns="0" tIns="0" rIns="0" bIns="0" rtlCol="0">
                  <a:spAutoFit/>
                </a:bodyPr>
                <a:lstStyle>
                  <a:defPPr>
                    <a:defRPr lang="en-US"/>
                  </a:defPPr>
                  <a:lvl1pPr marL="203200" indent="-203200">
                    <a:spcBef>
                      <a:spcPts val="600"/>
                    </a:spcBef>
                    <a:buSzPct val="100000"/>
                    <a:buFont typeface="Arial"/>
                    <a:buChar char="•"/>
                    <a:defRPr sz="900" b="1">
                      <a:solidFill>
                        <a:srgbClr val="313131"/>
                      </a:solidFill>
                    </a:defRPr>
                  </a:lvl1pPr>
                </a:lstStyle>
                <a:p>
                  <a:pPr>
                    <a:spcBef>
                      <a:spcPts val="300"/>
                    </a:spcBef>
                  </a:pPr>
                  <a:r>
                    <a:rPr lang="en-US" sz="800" dirty="0"/>
                    <a:t>Digital control over activities</a:t>
                  </a:r>
                </a:p>
                <a:p>
                  <a:pPr>
                    <a:spcBef>
                      <a:spcPts val="300"/>
                    </a:spcBef>
                  </a:pPr>
                  <a:r>
                    <a:rPr lang="en-US" sz="800" dirty="0"/>
                    <a:t>Maintaining timelines</a:t>
                  </a:r>
                </a:p>
                <a:p>
                  <a:pPr>
                    <a:spcBef>
                      <a:spcPts val="300"/>
                    </a:spcBef>
                  </a:pPr>
                  <a:r>
                    <a:rPr lang="en-US" sz="800" dirty="0">
                      <a:ea typeface="Verdana" panose="020B0604030504040204" pitchFamily="34" charset="0"/>
                      <a:cs typeface="Verdana" panose="020B0604030504040204" pitchFamily="34" charset="0"/>
                    </a:rPr>
                    <a:t>Coordination &amp; MIS Support</a:t>
                  </a:r>
                  <a:endParaRPr lang="en-IN" sz="800" dirty="0"/>
                </a:p>
              </p:txBody>
            </p:sp>
            <p:grpSp>
              <p:nvGrpSpPr>
                <p:cNvPr id="84" name="Group 319">
                  <a:extLst>
                    <a:ext uri="{FF2B5EF4-FFF2-40B4-BE49-F238E27FC236}">
                      <a16:creationId xmlns:a16="http://schemas.microsoft.com/office/drawing/2014/main" id="{AAE9AF8D-45DA-4766-8EC4-A21C009863E6}"/>
                    </a:ext>
                  </a:extLst>
                </p:cNvPr>
                <p:cNvGrpSpPr>
                  <a:grpSpLocks noChangeAspect="1"/>
                </p:cNvGrpSpPr>
                <p:nvPr/>
              </p:nvGrpSpPr>
              <p:grpSpPr bwMode="auto">
                <a:xfrm>
                  <a:off x="4282899" y="5955182"/>
                  <a:ext cx="502411" cy="502412"/>
                  <a:chOff x="5426" y="1148"/>
                  <a:chExt cx="340" cy="340"/>
                </a:xfrm>
                <a:solidFill>
                  <a:srgbClr val="00A3E0"/>
                </a:solidFill>
              </p:grpSpPr>
              <p:sp>
                <p:nvSpPr>
                  <p:cNvPr id="85" name="Freeform 320">
                    <a:extLst>
                      <a:ext uri="{FF2B5EF4-FFF2-40B4-BE49-F238E27FC236}">
                        <a16:creationId xmlns:a16="http://schemas.microsoft.com/office/drawing/2014/main" id="{D92D0296-CF3D-42AA-840D-50D39DEF6264}"/>
                      </a:ext>
                    </a:extLst>
                  </p:cNvPr>
                  <p:cNvSpPr>
                    <a:spLocks noEditPoints="1"/>
                  </p:cNvSpPr>
                  <p:nvPr/>
                </p:nvSpPr>
                <p:spPr bwMode="auto">
                  <a:xfrm>
                    <a:off x="5518" y="1254"/>
                    <a:ext cx="156" cy="142"/>
                  </a:xfrm>
                  <a:custGeom>
                    <a:avLst/>
                    <a:gdLst>
                      <a:gd name="T0" fmla="*/ 203 w 235"/>
                      <a:gd name="T1" fmla="*/ 53 h 213"/>
                      <a:gd name="T2" fmla="*/ 202 w 235"/>
                      <a:gd name="T3" fmla="*/ 57 h 213"/>
                      <a:gd name="T4" fmla="*/ 117 w 235"/>
                      <a:gd name="T5" fmla="*/ 106 h 213"/>
                      <a:gd name="T6" fmla="*/ 33 w 235"/>
                      <a:gd name="T7" fmla="*/ 57 h 213"/>
                      <a:gd name="T8" fmla="*/ 32 w 235"/>
                      <a:gd name="T9" fmla="*/ 53 h 213"/>
                      <a:gd name="T10" fmla="*/ 32 w 235"/>
                      <a:gd name="T11" fmla="*/ 0 h 213"/>
                      <a:gd name="T12" fmla="*/ 0 w 235"/>
                      <a:gd name="T13" fmla="*/ 0 h 213"/>
                      <a:gd name="T14" fmla="*/ 0 w 235"/>
                      <a:gd name="T15" fmla="*/ 213 h 213"/>
                      <a:gd name="T16" fmla="*/ 235 w 235"/>
                      <a:gd name="T17" fmla="*/ 213 h 213"/>
                      <a:gd name="T18" fmla="*/ 235 w 235"/>
                      <a:gd name="T19" fmla="*/ 0 h 213"/>
                      <a:gd name="T20" fmla="*/ 203 w 235"/>
                      <a:gd name="T21" fmla="*/ 0 h 213"/>
                      <a:gd name="T22" fmla="*/ 203 w 235"/>
                      <a:gd name="T23" fmla="*/ 53 h 213"/>
                      <a:gd name="T24" fmla="*/ 203 w 235"/>
                      <a:gd name="T25" fmla="*/ 192 h 213"/>
                      <a:gd name="T26" fmla="*/ 32 w 235"/>
                      <a:gd name="T27" fmla="*/ 192 h 213"/>
                      <a:gd name="T28" fmla="*/ 22 w 235"/>
                      <a:gd name="T29" fmla="*/ 181 h 213"/>
                      <a:gd name="T30" fmla="*/ 32 w 235"/>
                      <a:gd name="T31" fmla="*/ 170 h 213"/>
                      <a:gd name="T32" fmla="*/ 203 w 235"/>
                      <a:gd name="T33" fmla="*/ 170 h 213"/>
                      <a:gd name="T34" fmla="*/ 214 w 235"/>
                      <a:gd name="T35" fmla="*/ 181 h 213"/>
                      <a:gd name="T36" fmla="*/ 203 w 235"/>
                      <a:gd name="T37" fmla="*/ 192 h 213"/>
                      <a:gd name="T38" fmla="*/ 214 w 235"/>
                      <a:gd name="T39" fmla="*/ 138 h 213"/>
                      <a:gd name="T40" fmla="*/ 203 w 235"/>
                      <a:gd name="T41" fmla="*/ 149 h 213"/>
                      <a:gd name="T42" fmla="*/ 32 w 235"/>
                      <a:gd name="T43" fmla="*/ 149 h 213"/>
                      <a:gd name="T44" fmla="*/ 22 w 235"/>
                      <a:gd name="T45" fmla="*/ 138 h 213"/>
                      <a:gd name="T46" fmla="*/ 32 w 235"/>
                      <a:gd name="T47" fmla="*/ 128 h 213"/>
                      <a:gd name="T48" fmla="*/ 203 w 235"/>
                      <a:gd name="T49" fmla="*/ 128 h 213"/>
                      <a:gd name="T50" fmla="*/ 214 w 235"/>
                      <a:gd name="T51" fmla="*/ 13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35" h="213">
                        <a:moveTo>
                          <a:pt x="203" y="53"/>
                        </a:moveTo>
                        <a:cubicBezTo>
                          <a:pt x="203" y="55"/>
                          <a:pt x="203" y="56"/>
                          <a:pt x="202" y="57"/>
                        </a:cubicBezTo>
                        <a:cubicBezTo>
                          <a:pt x="189" y="87"/>
                          <a:pt x="155" y="106"/>
                          <a:pt x="117" y="106"/>
                        </a:cubicBezTo>
                        <a:cubicBezTo>
                          <a:pt x="80" y="106"/>
                          <a:pt x="47" y="87"/>
                          <a:pt x="33" y="57"/>
                        </a:cubicBezTo>
                        <a:cubicBezTo>
                          <a:pt x="33" y="56"/>
                          <a:pt x="32" y="55"/>
                          <a:pt x="32" y="53"/>
                        </a:cubicBezTo>
                        <a:cubicBezTo>
                          <a:pt x="32" y="0"/>
                          <a:pt x="32" y="0"/>
                          <a:pt x="32" y="0"/>
                        </a:cubicBezTo>
                        <a:cubicBezTo>
                          <a:pt x="0" y="0"/>
                          <a:pt x="0" y="0"/>
                          <a:pt x="0" y="0"/>
                        </a:cubicBezTo>
                        <a:cubicBezTo>
                          <a:pt x="0" y="213"/>
                          <a:pt x="0" y="213"/>
                          <a:pt x="0" y="213"/>
                        </a:cubicBezTo>
                        <a:cubicBezTo>
                          <a:pt x="235" y="213"/>
                          <a:pt x="235" y="213"/>
                          <a:pt x="235" y="213"/>
                        </a:cubicBezTo>
                        <a:cubicBezTo>
                          <a:pt x="235" y="0"/>
                          <a:pt x="235" y="0"/>
                          <a:pt x="235" y="0"/>
                        </a:cubicBezTo>
                        <a:cubicBezTo>
                          <a:pt x="203" y="0"/>
                          <a:pt x="203" y="0"/>
                          <a:pt x="203" y="0"/>
                        </a:cubicBezTo>
                        <a:lnTo>
                          <a:pt x="203" y="53"/>
                        </a:lnTo>
                        <a:close/>
                        <a:moveTo>
                          <a:pt x="203" y="192"/>
                        </a:moveTo>
                        <a:cubicBezTo>
                          <a:pt x="32" y="192"/>
                          <a:pt x="32" y="192"/>
                          <a:pt x="32" y="192"/>
                        </a:cubicBezTo>
                        <a:cubicBezTo>
                          <a:pt x="26" y="192"/>
                          <a:pt x="22" y="187"/>
                          <a:pt x="22" y="181"/>
                        </a:cubicBezTo>
                        <a:cubicBezTo>
                          <a:pt x="22" y="175"/>
                          <a:pt x="26" y="170"/>
                          <a:pt x="32" y="170"/>
                        </a:cubicBezTo>
                        <a:cubicBezTo>
                          <a:pt x="203" y="170"/>
                          <a:pt x="203" y="170"/>
                          <a:pt x="203" y="170"/>
                        </a:cubicBezTo>
                        <a:cubicBezTo>
                          <a:pt x="209" y="170"/>
                          <a:pt x="214" y="175"/>
                          <a:pt x="214" y="181"/>
                        </a:cubicBezTo>
                        <a:cubicBezTo>
                          <a:pt x="214" y="187"/>
                          <a:pt x="209" y="192"/>
                          <a:pt x="203" y="192"/>
                        </a:cubicBezTo>
                        <a:close/>
                        <a:moveTo>
                          <a:pt x="214" y="138"/>
                        </a:moveTo>
                        <a:cubicBezTo>
                          <a:pt x="214" y="144"/>
                          <a:pt x="209" y="149"/>
                          <a:pt x="203" y="149"/>
                        </a:cubicBezTo>
                        <a:cubicBezTo>
                          <a:pt x="32" y="149"/>
                          <a:pt x="32" y="149"/>
                          <a:pt x="32" y="149"/>
                        </a:cubicBezTo>
                        <a:cubicBezTo>
                          <a:pt x="26" y="149"/>
                          <a:pt x="22" y="144"/>
                          <a:pt x="22" y="138"/>
                        </a:cubicBezTo>
                        <a:cubicBezTo>
                          <a:pt x="22" y="132"/>
                          <a:pt x="26" y="128"/>
                          <a:pt x="32" y="128"/>
                        </a:cubicBezTo>
                        <a:cubicBezTo>
                          <a:pt x="203" y="128"/>
                          <a:pt x="203" y="128"/>
                          <a:pt x="203" y="128"/>
                        </a:cubicBezTo>
                        <a:cubicBezTo>
                          <a:pt x="209" y="128"/>
                          <a:pt x="214" y="132"/>
                          <a:pt x="214" y="13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86" name="Freeform 321">
                    <a:extLst>
                      <a:ext uri="{FF2B5EF4-FFF2-40B4-BE49-F238E27FC236}">
                        <a16:creationId xmlns:a16="http://schemas.microsoft.com/office/drawing/2014/main" id="{E6C43642-BA4A-4235-8256-EEC669B79E23}"/>
                      </a:ext>
                    </a:extLst>
                  </p:cNvPr>
                  <p:cNvSpPr>
                    <a:spLocks noEditPoints="1"/>
                  </p:cNvSpPr>
                  <p:nvPr/>
                </p:nvSpPr>
                <p:spPr bwMode="auto">
                  <a:xfrm>
                    <a:off x="5553" y="1233"/>
                    <a:ext cx="85" cy="78"/>
                  </a:xfrm>
                  <a:custGeom>
                    <a:avLst/>
                    <a:gdLst>
                      <a:gd name="T0" fmla="*/ 63 w 128"/>
                      <a:gd name="T1" fmla="*/ 117 h 117"/>
                      <a:gd name="T2" fmla="*/ 128 w 128"/>
                      <a:gd name="T3" fmla="*/ 83 h 117"/>
                      <a:gd name="T4" fmla="*/ 128 w 128"/>
                      <a:gd name="T5" fmla="*/ 0 h 117"/>
                      <a:gd name="T6" fmla="*/ 0 w 128"/>
                      <a:gd name="T7" fmla="*/ 0 h 117"/>
                      <a:gd name="T8" fmla="*/ 0 w 128"/>
                      <a:gd name="T9" fmla="*/ 83 h 117"/>
                      <a:gd name="T10" fmla="*/ 63 w 128"/>
                      <a:gd name="T11" fmla="*/ 117 h 117"/>
                      <a:gd name="T12" fmla="*/ 24 w 128"/>
                      <a:gd name="T13" fmla="*/ 45 h 117"/>
                      <a:gd name="T14" fmla="*/ 39 w 128"/>
                      <a:gd name="T15" fmla="*/ 45 h 117"/>
                      <a:gd name="T16" fmla="*/ 53 w 128"/>
                      <a:gd name="T17" fmla="*/ 59 h 117"/>
                      <a:gd name="T18" fmla="*/ 53 w 128"/>
                      <a:gd name="T19" fmla="*/ 32 h 117"/>
                      <a:gd name="T20" fmla="*/ 64 w 128"/>
                      <a:gd name="T21" fmla="*/ 21 h 117"/>
                      <a:gd name="T22" fmla="*/ 74 w 128"/>
                      <a:gd name="T23" fmla="*/ 32 h 117"/>
                      <a:gd name="T24" fmla="*/ 74 w 128"/>
                      <a:gd name="T25" fmla="*/ 59 h 117"/>
                      <a:gd name="T26" fmla="*/ 88 w 128"/>
                      <a:gd name="T27" fmla="*/ 45 h 117"/>
                      <a:gd name="T28" fmla="*/ 103 w 128"/>
                      <a:gd name="T29" fmla="*/ 45 h 117"/>
                      <a:gd name="T30" fmla="*/ 103 w 128"/>
                      <a:gd name="T31" fmla="*/ 61 h 117"/>
                      <a:gd name="T32" fmla="*/ 71 w 128"/>
                      <a:gd name="T33" fmla="*/ 93 h 117"/>
                      <a:gd name="T34" fmla="*/ 64 w 128"/>
                      <a:gd name="T35" fmla="*/ 96 h 117"/>
                      <a:gd name="T36" fmla="*/ 56 w 128"/>
                      <a:gd name="T37" fmla="*/ 93 h 117"/>
                      <a:gd name="T38" fmla="*/ 24 w 128"/>
                      <a:gd name="T39" fmla="*/ 61 h 117"/>
                      <a:gd name="T40" fmla="*/ 24 w 128"/>
                      <a:gd name="T41" fmla="*/ 45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7">
                        <a:moveTo>
                          <a:pt x="63" y="117"/>
                        </a:moveTo>
                        <a:cubicBezTo>
                          <a:pt x="91" y="117"/>
                          <a:pt x="117" y="103"/>
                          <a:pt x="128" y="83"/>
                        </a:cubicBezTo>
                        <a:cubicBezTo>
                          <a:pt x="128" y="0"/>
                          <a:pt x="128" y="0"/>
                          <a:pt x="128" y="0"/>
                        </a:cubicBezTo>
                        <a:cubicBezTo>
                          <a:pt x="0" y="0"/>
                          <a:pt x="0" y="0"/>
                          <a:pt x="0" y="0"/>
                        </a:cubicBezTo>
                        <a:cubicBezTo>
                          <a:pt x="0" y="83"/>
                          <a:pt x="0" y="83"/>
                          <a:pt x="0" y="83"/>
                        </a:cubicBezTo>
                        <a:cubicBezTo>
                          <a:pt x="9" y="100"/>
                          <a:pt x="31" y="117"/>
                          <a:pt x="63" y="117"/>
                        </a:cubicBezTo>
                        <a:close/>
                        <a:moveTo>
                          <a:pt x="24" y="45"/>
                        </a:moveTo>
                        <a:cubicBezTo>
                          <a:pt x="28" y="41"/>
                          <a:pt x="35" y="41"/>
                          <a:pt x="39" y="45"/>
                        </a:cubicBezTo>
                        <a:cubicBezTo>
                          <a:pt x="53" y="59"/>
                          <a:pt x="53" y="59"/>
                          <a:pt x="53" y="59"/>
                        </a:cubicBezTo>
                        <a:cubicBezTo>
                          <a:pt x="53" y="32"/>
                          <a:pt x="53" y="32"/>
                          <a:pt x="53" y="32"/>
                        </a:cubicBezTo>
                        <a:cubicBezTo>
                          <a:pt x="53" y="26"/>
                          <a:pt x="58" y="21"/>
                          <a:pt x="64" y="21"/>
                        </a:cubicBezTo>
                        <a:cubicBezTo>
                          <a:pt x="70" y="21"/>
                          <a:pt x="74" y="26"/>
                          <a:pt x="74" y="32"/>
                        </a:cubicBezTo>
                        <a:cubicBezTo>
                          <a:pt x="74" y="59"/>
                          <a:pt x="74" y="59"/>
                          <a:pt x="74" y="59"/>
                        </a:cubicBezTo>
                        <a:cubicBezTo>
                          <a:pt x="88" y="45"/>
                          <a:pt x="88" y="45"/>
                          <a:pt x="88" y="45"/>
                        </a:cubicBezTo>
                        <a:cubicBezTo>
                          <a:pt x="92" y="41"/>
                          <a:pt x="99" y="41"/>
                          <a:pt x="103" y="45"/>
                        </a:cubicBezTo>
                        <a:cubicBezTo>
                          <a:pt x="107" y="50"/>
                          <a:pt x="107" y="56"/>
                          <a:pt x="103" y="61"/>
                        </a:cubicBezTo>
                        <a:cubicBezTo>
                          <a:pt x="71" y="93"/>
                          <a:pt x="71" y="93"/>
                          <a:pt x="71" y="93"/>
                        </a:cubicBezTo>
                        <a:cubicBezTo>
                          <a:pt x="69" y="95"/>
                          <a:pt x="66" y="96"/>
                          <a:pt x="64" y="96"/>
                        </a:cubicBezTo>
                        <a:cubicBezTo>
                          <a:pt x="61" y="96"/>
                          <a:pt x="58" y="95"/>
                          <a:pt x="56" y="93"/>
                        </a:cubicBezTo>
                        <a:cubicBezTo>
                          <a:pt x="24" y="61"/>
                          <a:pt x="24" y="61"/>
                          <a:pt x="24" y="61"/>
                        </a:cubicBezTo>
                        <a:cubicBezTo>
                          <a:pt x="20" y="56"/>
                          <a:pt x="20" y="50"/>
                          <a:pt x="24" y="4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87" name="Freeform 322">
                    <a:extLst>
                      <a:ext uri="{FF2B5EF4-FFF2-40B4-BE49-F238E27FC236}">
                        <a16:creationId xmlns:a16="http://schemas.microsoft.com/office/drawing/2014/main" id="{21663DD1-DEA2-4C18-8809-9A31552A2578}"/>
                      </a:ext>
                    </a:extLst>
                  </p:cNvPr>
                  <p:cNvSpPr>
                    <a:spLocks noEditPoints="1"/>
                  </p:cNvSpPr>
                  <p:nvPr/>
                </p:nvSpPr>
                <p:spPr bwMode="auto">
                  <a:xfrm>
                    <a:off x="5426" y="1148"/>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94 w 512"/>
                      <a:gd name="T11" fmla="*/ 384 h 512"/>
                      <a:gd name="T12" fmla="*/ 384 w 512"/>
                      <a:gd name="T13" fmla="*/ 394 h 512"/>
                      <a:gd name="T14" fmla="*/ 128 w 512"/>
                      <a:gd name="T15" fmla="*/ 394 h 512"/>
                      <a:gd name="T16" fmla="*/ 117 w 512"/>
                      <a:gd name="T17" fmla="*/ 384 h 512"/>
                      <a:gd name="T18" fmla="*/ 117 w 512"/>
                      <a:gd name="T19" fmla="*/ 149 h 512"/>
                      <a:gd name="T20" fmla="*/ 128 w 512"/>
                      <a:gd name="T21" fmla="*/ 138 h 512"/>
                      <a:gd name="T22" fmla="*/ 170 w 512"/>
                      <a:gd name="T23" fmla="*/ 138 h 512"/>
                      <a:gd name="T24" fmla="*/ 170 w 512"/>
                      <a:gd name="T25" fmla="*/ 117 h 512"/>
                      <a:gd name="T26" fmla="*/ 181 w 512"/>
                      <a:gd name="T27" fmla="*/ 106 h 512"/>
                      <a:gd name="T28" fmla="*/ 330 w 512"/>
                      <a:gd name="T29" fmla="*/ 106 h 512"/>
                      <a:gd name="T30" fmla="*/ 341 w 512"/>
                      <a:gd name="T31" fmla="*/ 117 h 512"/>
                      <a:gd name="T32" fmla="*/ 341 w 512"/>
                      <a:gd name="T33" fmla="*/ 138 h 512"/>
                      <a:gd name="T34" fmla="*/ 384 w 512"/>
                      <a:gd name="T35" fmla="*/ 138 h 512"/>
                      <a:gd name="T36" fmla="*/ 394 w 512"/>
                      <a:gd name="T37" fmla="*/ 149 h 512"/>
                      <a:gd name="T38" fmla="*/ 394 w 512"/>
                      <a:gd name="T39" fmla="*/ 38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94" y="384"/>
                        </a:moveTo>
                        <a:cubicBezTo>
                          <a:pt x="394" y="390"/>
                          <a:pt x="390" y="394"/>
                          <a:pt x="384" y="394"/>
                        </a:cubicBezTo>
                        <a:cubicBezTo>
                          <a:pt x="128" y="394"/>
                          <a:pt x="128" y="394"/>
                          <a:pt x="128" y="394"/>
                        </a:cubicBezTo>
                        <a:cubicBezTo>
                          <a:pt x="122" y="394"/>
                          <a:pt x="117" y="390"/>
                          <a:pt x="117" y="384"/>
                        </a:cubicBezTo>
                        <a:cubicBezTo>
                          <a:pt x="117" y="149"/>
                          <a:pt x="117" y="149"/>
                          <a:pt x="117" y="149"/>
                        </a:cubicBezTo>
                        <a:cubicBezTo>
                          <a:pt x="117" y="143"/>
                          <a:pt x="122" y="138"/>
                          <a:pt x="128" y="138"/>
                        </a:cubicBezTo>
                        <a:cubicBezTo>
                          <a:pt x="170" y="138"/>
                          <a:pt x="170" y="138"/>
                          <a:pt x="170" y="138"/>
                        </a:cubicBezTo>
                        <a:cubicBezTo>
                          <a:pt x="170" y="117"/>
                          <a:pt x="170" y="117"/>
                          <a:pt x="170" y="117"/>
                        </a:cubicBezTo>
                        <a:cubicBezTo>
                          <a:pt x="170" y="111"/>
                          <a:pt x="175" y="106"/>
                          <a:pt x="181" y="106"/>
                        </a:cubicBezTo>
                        <a:cubicBezTo>
                          <a:pt x="330" y="106"/>
                          <a:pt x="330" y="106"/>
                          <a:pt x="330" y="106"/>
                        </a:cubicBezTo>
                        <a:cubicBezTo>
                          <a:pt x="336" y="106"/>
                          <a:pt x="341" y="111"/>
                          <a:pt x="341" y="117"/>
                        </a:cubicBezTo>
                        <a:cubicBezTo>
                          <a:pt x="341" y="138"/>
                          <a:pt x="341" y="138"/>
                          <a:pt x="341" y="138"/>
                        </a:cubicBezTo>
                        <a:cubicBezTo>
                          <a:pt x="384" y="138"/>
                          <a:pt x="384" y="138"/>
                          <a:pt x="384" y="138"/>
                        </a:cubicBezTo>
                        <a:cubicBezTo>
                          <a:pt x="390" y="138"/>
                          <a:pt x="394" y="143"/>
                          <a:pt x="394" y="149"/>
                        </a:cubicBezTo>
                        <a:lnTo>
                          <a:pt x="394" y="38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grpSp>
        </p:grpSp>
      </p:grpSp>
      <p:grpSp>
        <p:nvGrpSpPr>
          <p:cNvPr id="117" name="Group 116">
            <a:extLst>
              <a:ext uri="{FF2B5EF4-FFF2-40B4-BE49-F238E27FC236}">
                <a16:creationId xmlns:a16="http://schemas.microsoft.com/office/drawing/2014/main" id="{86623A24-D878-4A92-88BC-D050D713F86D}"/>
              </a:ext>
            </a:extLst>
          </p:cNvPr>
          <p:cNvGrpSpPr/>
          <p:nvPr/>
        </p:nvGrpSpPr>
        <p:grpSpPr>
          <a:xfrm>
            <a:off x="5287677" y="4003500"/>
            <a:ext cx="477290" cy="593460"/>
            <a:chOff x="4924425" y="5103813"/>
            <a:chExt cx="1905000" cy="2176463"/>
          </a:xfrm>
          <a:solidFill>
            <a:srgbClr val="005587"/>
          </a:solidFill>
        </p:grpSpPr>
        <p:sp>
          <p:nvSpPr>
            <p:cNvPr id="118" name="Freeform 12">
              <a:extLst>
                <a:ext uri="{FF2B5EF4-FFF2-40B4-BE49-F238E27FC236}">
                  <a16:creationId xmlns:a16="http://schemas.microsoft.com/office/drawing/2014/main" id="{450A7572-376D-4CE9-89CC-69FDE6B1C75F}"/>
                </a:ext>
              </a:extLst>
            </p:cNvPr>
            <p:cNvSpPr>
              <a:spLocks noEditPoints="1"/>
            </p:cNvSpPr>
            <p:nvPr/>
          </p:nvSpPr>
          <p:spPr bwMode="auto">
            <a:xfrm>
              <a:off x="4924425" y="5103813"/>
              <a:ext cx="1541463" cy="1812925"/>
            </a:xfrm>
            <a:custGeom>
              <a:avLst/>
              <a:gdLst>
                <a:gd name="T0" fmla="*/ 124 w 136"/>
                <a:gd name="T1" fmla="*/ 0 h 160"/>
                <a:gd name="T2" fmla="*/ 12 w 136"/>
                <a:gd name="T3" fmla="*/ 0 h 160"/>
                <a:gd name="T4" fmla="*/ 0 w 136"/>
                <a:gd name="T5" fmla="*/ 12 h 160"/>
                <a:gd name="T6" fmla="*/ 0 w 136"/>
                <a:gd name="T7" fmla="*/ 148 h 160"/>
                <a:gd name="T8" fmla="*/ 12 w 136"/>
                <a:gd name="T9" fmla="*/ 160 h 160"/>
                <a:gd name="T10" fmla="*/ 92 w 136"/>
                <a:gd name="T11" fmla="*/ 160 h 160"/>
                <a:gd name="T12" fmla="*/ 95 w 136"/>
                <a:gd name="T13" fmla="*/ 159 h 160"/>
                <a:gd name="T14" fmla="*/ 135 w 136"/>
                <a:gd name="T15" fmla="*/ 119 h 160"/>
                <a:gd name="T16" fmla="*/ 136 w 136"/>
                <a:gd name="T17" fmla="*/ 116 h 160"/>
                <a:gd name="T18" fmla="*/ 136 w 136"/>
                <a:gd name="T19" fmla="*/ 12 h 160"/>
                <a:gd name="T20" fmla="*/ 124 w 136"/>
                <a:gd name="T21" fmla="*/ 0 h 160"/>
                <a:gd name="T22" fmla="*/ 8 w 136"/>
                <a:gd name="T23" fmla="*/ 148 h 160"/>
                <a:gd name="T24" fmla="*/ 8 w 136"/>
                <a:gd name="T25" fmla="*/ 12 h 160"/>
                <a:gd name="T26" fmla="*/ 12 w 136"/>
                <a:gd name="T27" fmla="*/ 8 h 160"/>
                <a:gd name="T28" fmla="*/ 124 w 136"/>
                <a:gd name="T29" fmla="*/ 8 h 160"/>
                <a:gd name="T30" fmla="*/ 128 w 136"/>
                <a:gd name="T31" fmla="*/ 12 h 160"/>
                <a:gd name="T32" fmla="*/ 128 w 136"/>
                <a:gd name="T33" fmla="*/ 112 h 160"/>
                <a:gd name="T34" fmla="*/ 100 w 136"/>
                <a:gd name="T35" fmla="*/ 112 h 160"/>
                <a:gd name="T36" fmla="*/ 88 w 136"/>
                <a:gd name="T37" fmla="*/ 124 h 160"/>
                <a:gd name="T38" fmla="*/ 88 w 136"/>
                <a:gd name="T39" fmla="*/ 152 h 160"/>
                <a:gd name="T40" fmla="*/ 12 w 136"/>
                <a:gd name="T41" fmla="*/ 152 h 160"/>
                <a:gd name="T42" fmla="*/ 8 w 136"/>
                <a:gd name="T43" fmla="*/ 14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6" h="160">
                  <a:moveTo>
                    <a:pt x="124" y="0"/>
                  </a:moveTo>
                  <a:cubicBezTo>
                    <a:pt x="12" y="0"/>
                    <a:pt x="12" y="0"/>
                    <a:pt x="12" y="0"/>
                  </a:cubicBezTo>
                  <a:cubicBezTo>
                    <a:pt x="5" y="0"/>
                    <a:pt x="0" y="5"/>
                    <a:pt x="0" y="12"/>
                  </a:cubicBezTo>
                  <a:cubicBezTo>
                    <a:pt x="0" y="148"/>
                    <a:pt x="0" y="148"/>
                    <a:pt x="0" y="148"/>
                  </a:cubicBezTo>
                  <a:cubicBezTo>
                    <a:pt x="0" y="155"/>
                    <a:pt x="5" y="160"/>
                    <a:pt x="12" y="160"/>
                  </a:cubicBezTo>
                  <a:cubicBezTo>
                    <a:pt x="92" y="160"/>
                    <a:pt x="92" y="160"/>
                    <a:pt x="92" y="160"/>
                  </a:cubicBezTo>
                  <a:cubicBezTo>
                    <a:pt x="93" y="160"/>
                    <a:pt x="94" y="160"/>
                    <a:pt x="95" y="159"/>
                  </a:cubicBezTo>
                  <a:cubicBezTo>
                    <a:pt x="135" y="119"/>
                    <a:pt x="135" y="119"/>
                    <a:pt x="135" y="119"/>
                  </a:cubicBezTo>
                  <a:cubicBezTo>
                    <a:pt x="136" y="118"/>
                    <a:pt x="136" y="117"/>
                    <a:pt x="136" y="116"/>
                  </a:cubicBezTo>
                  <a:cubicBezTo>
                    <a:pt x="136" y="12"/>
                    <a:pt x="136" y="12"/>
                    <a:pt x="136" y="12"/>
                  </a:cubicBezTo>
                  <a:cubicBezTo>
                    <a:pt x="136" y="5"/>
                    <a:pt x="131" y="0"/>
                    <a:pt x="124" y="0"/>
                  </a:cubicBezTo>
                  <a:close/>
                  <a:moveTo>
                    <a:pt x="8" y="148"/>
                  </a:moveTo>
                  <a:cubicBezTo>
                    <a:pt x="8" y="12"/>
                    <a:pt x="8" y="12"/>
                    <a:pt x="8" y="12"/>
                  </a:cubicBezTo>
                  <a:cubicBezTo>
                    <a:pt x="8" y="10"/>
                    <a:pt x="10" y="8"/>
                    <a:pt x="12" y="8"/>
                  </a:cubicBezTo>
                  <a:cubicBezTo>
                    <a:pt x="124" y="8"/>
                    <a:pt x="124" y="8"/>
                    <a:pt x="124" y="8"/>
                  </a:cubicBezTo>
                  <a:cubicBezTo>
                    <a:pt x="126" y="8"/>
                    <a:pt x="128" y="10"/>
                    <a:pt x="128" y="12"/>
                  </a:cubicBezTo>
                  <a:cubicBezTo>
                    <a:pt x="128" y="112"/>
                    <a:pt x="128" y="112"/>
                    <a:pt x="128" y="112"/>
                  </a:cubicBezTo>
                  <a:cubicBezTo>
                    <a:pt x="100" y="112"/>
                    <a:pt x="100" y="112"/>
                    <a:pt x="100" y="112"/>
                  </a:cubicBezTo>
                  <a:cubicBezTo>
                    <a:pt x="93" y="112"/>
                    <a:pt x="88" y="117"/>
                    <a:pt x="88" y="124"/>
                  </a:cubicBezTo>
                  <a:cubicBezTo>
                    <a:pt x="88" y="152"/>
                    <a:pt x="88" y="152"/>
                    <a:pt x="88" y="152"/>
                  </a:cubicBezTo>
                  <a:cubicBezTo>
                    <a:pt x="12" y="152"/>
                    <a:pt x="12" y="152"/>
                    <a:pt x="12" y="152"/>
                  </a:cubicBezTo>
                  <a:cubicBezTo>
                    <a:pt x="10" y="152"/>
                    <a:pt x="8" y="150"/>
                    <a:pt x="8" y="1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Rectangle 118">
              <a:extLst>
                <a:ext uri="{FF2B5EF4-FFF2-40B4-BE49-F238E27FC236}">
                  <a16:creationId xmlns:a16="http://schemas.microsoft.com/office/drawing/2014/main" id="{6542B7DB-E7F6-4E55-969F-4999ECEB4441}"/>
                </a:ext>
              </a:extLst>
            </p:cNvPr>
            <p:cNvSpPr>
              <a:spLocks noChangeArrowheads="1"/>
            </p:cNvSpPr>
            <p:nvPr/>
          </p:nvSpPr>
          <p:spPr bwMode="auto">
            <a:xfrm>
              <a:off x="5241925" y="5602288"/>
              <a:ext cx="908050" cy="920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Rectangle 119">
              <a:extLst>
                <a:ext uri="{FF2B5EF4-FFF2-40B4-BE49-F238E27FC236}">
                  <a16:creationId xmlns:a16="http://schemas.microsoft.com/office/drawing/2014/main" id="{D925ECAD-E7F5-4C07-BF4D-BB31D76A7298}"/>
                </a:ext>
              </a:extLst>
            </p:cNvPr>
            <p:cNvSpPr>
              <a:spLocks noChangeArrowheads="1"/>
            </p:cNvSpPr>
            <p:nvPr/>
          </p:nvSpPr>
          <p:spPr bwMode="auto">
            <a:xfrm>
              <a:off x="5241925" y="5829301"/>
              <a:ext cx="908050"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Rectangle 120">
              <a:extLst>
                <a:ext uri="{FF2B5EF4-FFF2-40B4-BE49-F238E27FC236}">
                  <a16:creationId xmlns:a16="http://schemas.microsoft.com/office/drawing/2014/main" id="{E452FCA3-3A91-435C-88BD-311985262B3E}"/>
                </a:ext>
              </a:extLst>
            </p:cNvPr>
            <p:cNvSpPr>
              <a:spLocks noChangeArrowheads="1"/>
            </p:cNvSpPr>
            <p:nvPr/>
          </p:nvSpPr>
          <p:spPr bwMode="auto">
            <a:xfrm>
              <a:off x="5241925" y="6056313"/>
              <a:ext cx="908050"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Rectangle 121">
              <a:extLst>
                <a:ext uri="{FF2B5EF4-FFF2-40B4-BE49-F238E27FC236}">
                  <a16:creationId xmlns:a16="http://schemas.microsoft.com/office/drawing/2014/main" id="{0AEC3F75-B748-42BA-B69B-043D1A7A854B}"/>
                </a:ext>
              </a:extLst>
            </p:cNvPr>
            <p:cNvSpPr>
              <a:spLocks noChangeArrowheads="1"/>
            </p:cNvSpPr>
            <p:nvPr/>
          </p:nvSpPr>
          <p:spPr bwMode="auto">
            <a:xfrm>
              <a:off x="5241925" y="6283326"/>
              <a:ext cx="590550"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17">
              <a:extLst>
                <a:ext uri="{FF2B5EF4-FFF2-40B4-BE49-F238E27FC236}">
                  <a16:creationId xmlns:a16="http://schemas.microsoft.com/office/drawing/2014/main" id="{B01EB7A6-2A94-4113-84FD-B1F8747A06FE}"/>
                </a:ext>
              </a:extLst>
            </p:cNvPr>
            <p:cNvSpPr>
              <a:spLocks/>
            </p:cNvSpPr>
            <p:nvPr/>
          </p:nvSpPr>
          <p:spPr bwMode="auto">
            <a:xfrm>
              <a:off x="5378450" y="5557838"/>
              <a:ext cx="1450975" cy="1722438"/>
            </a:xfrm>
            <a:custGeom>
              <a:avLst/>
              <a:gdLst>
                <a:gd name="T0" fmla="*/ 116 w 128"/>
                <a:gd name="T1" fmla="*/ 152 h 152"/>
                <a:gd name="T2" fmla="*/ 0 w 128"/>
                <a:gd name="T3" fmla="*/ 152 h 152"/>
                <a:gd name="T4" fmla="*/ 0 w 128"/>
                <a:gd name="T5" fmla="*/ 144 h 152"/>
                <a:gd name="T6" fmla="*/ 116 w 128"/>
                <a:gd name="T7" fmla="*/ 144 h 152"/>
                <a:gd name="T8" fmla="*/ 120 w 128"/>
                <a:gd name="T9" fmla="*/ 140 h 152"/>
                <a:gd name="T10" fmla="*/ 120 w 128"/>
                <a:gd name="T11" fmla="*/ 0 h 152"/>
                <a:gd name="T12" fmla="*/ 128 w 128"/>
                <a:gd name="T13" fmla="*/ 0 h 152"/>
                <a:gd name="T14" fmla="*/ 128 w 128"/>
                <a:gd name="T15" fmla="*/ 140 h 152"/>
                <a:gd name="T16" fmla="*/ 116 w 128"/>
                <a:gd name="T17"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52">
                  <a:moveTo>
                    <a:pt x="116" y="152"/>
                  </a:moveTo>
                  <a:cubicBezTo>
                    <a:pt x="0" y="152"/>
                    <a:pt x="0" y="152"/>
                    <a:pt x="0" y="152"/>
                  </a:cubicBezTo>
                  <a:cubicBezTo>
                    <a:pt x="0" y="144"/>
                    <a:pt x="0" y="144"/>
                    <a:pt x="0" y="144"/>
                  </a:cubicBezTo>
                  <a:cubicBezTo>
                    <a:pt x="116" y="144"/>
                    <a:pt x="116" y="144"/>
                    <a:pt x="116" y="144"/>
                  </a:cubicBezTo>
                  <a:cubicBezTo>
                    <a:pt x="118" y="144"/>
                    <a:pt x="120" y="142"/>
                    <a:pt x="120" y="140"/>
                  </a:cubicBezTo>
                  <a:cubicBezTo>
                    <a:pt x="120" y="0"/>
                    <a:pt x="120" y="0"/>
                    <a:pt x="120" y="0"/>
                  </a:cubicBezTo>
                  <a:cubicBezTo>
                    <a:pt x="128" y="0"/>
                    <a:pt x="128" y="0"/>
                    <a:pt x="128" y="0"/>
                  </a:cubicBezTo>
                  <a:cubicBezTo>
                    <a:pt x="128" y="140"/>
                    <a:pt x="128" y="140"/>
                    <a:pt x="128" y="140"/>
                  </a:cubicBezTo>
                  <a:cubicBezTo>
                    <a:pt x="128" y="147"/>
                    <a:pt x="123" y="152"/>
                    <a:pt x="116"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18">
              <a:extLst>
                <a:ext uri="{FF2B5EF4-FFF2-40B4-BE49-F238E27FC236}">
                  <a16:creationId xmlns:a16="http://schemas.microsoft.com/office/drawing/2014/main" id="{4012367E-33E2-4D51-8AEC-7AFCC6EDE639}"/>
                </a:ext>
              </a:extLst>
            </p:cNvPr>
            <p:cNvSpPr>
              <a:spLocks/>
            </p:cNvSpPr>
            <p:nvPr/>
          </p:nvSpPr>
          <p:spPr bwMode="auto">
            <a:xfrm>
              <a:off x="5197475" y="5376863"/>
              <a:ext cx="1450975" cy="1722438"/>
            </a:xfrm>
            <a:custGeom>
              <a:avLst/>
              <a:gdLst>
                <a:gd name="T0" fmla="*/ 116 w 128"/>
                <a:gd name="T1" fmla="*/ 152 h 152"/>
                <a:gd name="T2" fmla="*/ 0 w 128"/>
                <a:gd name="T3" fmla="*/ 152 h 152"/>
                <a:gd name="T4" fmla="*/ 0 w 128"/>
                <a:gd name="T5" fmla="*/ 144 h 152"/>
                <a:gd name="T6" fmla="*/ 116 w 128"/>
                <a:gd name="T7" fmla="*/ 144 h 152"/>
                <a:gd name="T8" fmla="*/ 120 w 128"/>
                <a:gd name="T9" fmla="*/ 140 h 152"/>
                <a:gd name="T10" fmla="*/ 120 w 128"/>
                <a:gd name="T11" fmla="*/ 0 h 152"/>
                <a:gd name="T12" fmla="*/ 128 w 128"/>
                <a:gd name="T13" fmla="*/ 0 h 152"/>
                <a:gd name="T14" fmla="*/ 128 w 128"/>
                <a:gd name="T15" fmla="*/ 140 h 152"/>
                <a:gd name="T16" fmla="*/ 116 w 128"/>
                <a:gd name="T17"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52">
                  <a:moveTo>
                    <a:pt x="116" y="152"/>
                  </a:moveTo>
                  <a:cubicBezTo>
                    <a:pt x="0" y="152"/>
                    <a:pt x="0" y="152"/>
                    <a:pt x="0" y="152"/>
                  </a:cubicBezTo>
                  <a:cubicBezTo>
                    <a:pt x="0" y="144"/>
                    <a:pt x="0" y="144"/>
                    <a:pt x="0" y="144"/>
                  </a:cubicBezTo>
                  <a:cubicBezTo>
                    <a:pt x="116" y="144"/>
                    <a:pt x="116" y="144"/>
                    <a:pt x="116" y="144"/>
                  </a:cubicBezTo>
                  <a:cubicBezTo>
                    <a:pt x="118" y="144"/>
                    <a:pt x="120" y="142"/>
                    <a:pt x="120" y="140"/>
                  </a:cubicBezTo>
                  <a:cubicBezTo>
                    <a:pt x="120" y="0"/>
                    <a:pt x="120" y="0"/>
                    <a:pt x="120" y="0"/>
                  </a:cubicBezTo>
                  <a:cubicBezTo>
                    <a:pt x="128" y="0"/>
                    <a:pt x="128" y="0"/>
                    <a:pt x="128" y="0"/>
                  </a:cubicBezTo>
                  <a:cubicBezTo>
                    <a:pt x="128" y="140"/>
                    <a:pt x="128" y="140"/>
                    <a:pt x="128" y="140"/>
                  </a:cubicBezTo>
                  <a:cubicBezTo>
                    <a:pt x="128" y="147"/>
                    <a:pt x="123" y="152"/>
                    <a:pt x="116"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5" name="Title 3">
            <a:extLst>
              <a:ext uri="{FF2B5EF4-FFF2-40B4-BE49-F238E27FC236}">
                <a16:creationId xmlns:a16="http://schemas.microsoft.com/office/drawing/2014/main" id="{A8540AD1-F060-4152-986D-EF56BA49B349}"/>
              </a:ext>
            </a:extLst>
          </p:cNvPr>
          <p:cNvSpPr txBox="1">
            <a:spLocks/>
          </p:cNvSpPr>
          <p:nvPr/>
        </p:nvSpPr>
        <p:spPr bwMode="gray">
          <a:xfrm>
            <a:off x="6834068" y="1504424"/>
            <a:ext cx="3635378" cy="312835"/>
          </a:xfrm>
          <a:prstGeom prst="rect">
            <a:avLst/>
          </a:prstGeom>
        </p:spPr>
        <p:txBody>
          <a:bodyPr vert="horz" lIns="0" tIns="0" rIns="0" bIns="0" rtlCol="0" anchor="t" anchorCtr="0">
            <a:noAutofit/>
          </a:bodyPr>
          <a:lstStyle>
            <a:lvl1pPr algn="l" defTabSz="1219170" rtl="0" eaLnBrk="1" latinLnBrk="0" hangingPunct="1">
              <a:spcBef>
                <a:spcPct val="0"/>
              </a:spcBef>
              <a:buNone/>
              <a:defRPr sz="2000" b="1" kern="1200">
                <a:solidFill>
                  <a:schemeClr val="tx1"/>
                </a:solidFill>
                <a:latin typeface="+mj-lt"/>
                <a:ea typeface="+mj-ea"/>
                <a:cs typeface="+mj-cs"/>
              </a:defRPr>
            </a:lvl1pPr>
          </a:lstStyle>
          <a:p>
            <a:pPr marL="0" marR="0" lvl="0" indent="0" algn="ctr" defTabSz="1219170" rtl="0" eaLnBrk="1" fontAlgn="auto" latinLnBrk="0" hangingPunct="1">
              <a:lnSpc>
                <a:spcPct val="100000"/>
              </a:lnSpc>
              <a:spcBef>
                <a:spcPct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Verdana"/>
                <a:ea typeface="+mj-ea"/>
                <a:cs typeface="+mj-cs"/>
              </a:rPr>
              <a:t>Digital</a:t>
            </a:r>
            <a:r>
              <a:rPr kumimoji="0" lang="en-US" sz="1100" b="1" i="0" u="none" strike="noStrike" kern="1200" cap="none" spc="0" normalizeH="0" noProof="0" dirty="0">
                <a:ln>
                  <a:noFill/>
                </a:ln>
                <a:solidFill>
                  <a:srgbClr val="000000"/>
                </a:solidFill>
                <a:effectLst/>
                <a:uLnTx/>
                <a:uFillTx/>
                <a:latin typeface="Verdana"/>
                <a:ea typeface="+mj-ea"/>
                <a:cs typeface="+mj-cs"/>
              </a:rPr>
              <a:t> PMO Enablers</a:t>
            </a:r>
            <a:endParaRPr kumimoji="0" lang="en-US" sz="1100" b="1" i="0" u="none" strike="noStrike" kern="1200" cap="none" spc="0" normalizeH="0" baseline="0" noProof="0" dirty="0">
              <a:ln>
                <a:noFill/>
              </a:ln>
              <a:solidFill>
                <a:srgbClr val="000000"/>
              </a:solidFill>
              <a:effectLst/>
              <a:uLnTx/>
              <a:uFillTx/>
              <a:latin typeface="Verdana"/>
              <a:ea typeface="+mj-ea"/>
              <a:cs typeface="+mj-cs"/>
            </a:endParaRPr>
          </a:p>
        </p:txBody>
      </p:sp>
      <p:sp>
        <p:nvSpPr>
          <p:cNvPr id="57" name="TextBox 56">
            <a:extLst>
              <a:ext uri="{FF2B5EF4-FFF2-40B4-BE49-F238E27FC236}">
                <a16:creationId xmlns:a16="http://schemas.microsoft.com/office/drawing/2014/main" id="{B1DBC518-AFEC-49B0-970E-948A127E3BC1}"/>
              </a:ext>
            </a:extLst>
          </p:cNvPr>
          <p:cNvSpPr txBox="1"/>
          <p:nvPr/>
        </p:nvSpPr>
        <p:spPr>
          <a:xfrm rot="1501957">
            <a:off x="7074635" y="3825832"/>
            <a:ext cx="3070123" cy="276999"/>
          </a:xfrm>
          <a:prstGeom prst="rect">
            <a:avLst/>
          </a:prstGeom>
          <a:noFill/>
        </p:spPr>
        <p:txBody>
          <a:bodyPr wrap="square" lIns="0" tIns="0" rIns="0" bIns="0" rtlCol="0">
            <a:spAutoFit/>
          </a:bodyPr>
          <a:lstStyle/>
          <a:p>
            <a:pPr algn="ctr" defTabSz="837848">
              <a:spcBef>
                <a:spcPts val="409"/>
              </a:spcBef>
              <a:buSzPct val="100000"/>
            </a:pPr>
            <a:r>
              <a:rPr lang="en-US" dirty="0">
                <a:solidFill>
                  <a:srgbClr val="DA291C"/>
                </a:solidFill>
                <a:latin typeface="Verdana"/>
              </a:rPr>
              <a:t>ILLUSTRATIVE</a:t>
            </a:r>
            <a:endParaRPr lang="en-IN" dirty="0">
              <a:solidFill>
                <a:srgbClr val="DA291C"/>
              </a:solidFill>
              <a:latin typeface="Verdana"/>
            </a:endParaRPr>
          </a:p>
        </p:txBody>
      </p:sp>
      <p:sp>
        <p:nvSpPr>
          <p:cNvPr id="126" name="Text Placeholder 6">
            <a:extLst>
              <a:ext uri="{FF2B5EF4-FFF2-40B4-BE49-F238E27FC236}">
                <a16:creationId xmlns:a16="http://schemas.microsoft.com/office/drawing/2014/main" id="{FE30B2B9-C4C0-4DB7-8C55-0D005FF36058}"/>
              </a:ext>
            </a:extLst>
          </p:cNvPr>
          <p:cNvSpPr txBox="1">
            <a:spLocks/>
          </p:cNvSpPr>
          <p:nvPr/>
        </p:nvSpPr>
        <p:spPr>
          <a:xfrm>
            <a:off x="4916546" y="5955392"/>
            <a:ext cx="7048292" cy="375343"/>
          </a:xfrm>
          <a:prstGeom prst="rect">
            <a:avLst/>
          </a:prstGeom>
          <a:solidFill>
            <a:srgbClr val="E3E4E5"/>
          </a:solidFill>
        </p:spPr>
        <p:txBody>
          <a:bodyPr vert="horz" lIns="0" tIns="0" rIns="0" bIns="0" rtlCol="0" anchor="ctr">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defTabSz="914400">
              <a:spcAft>
                <a:spcPts val="1000"/>
              </a:spcAft>
              <a:tabLst>
                <a:tab pos="7197725" algn="l"/>
              </a:tabLst>
            </a:pPr>
            <a:r>
              <a:rPr lang="en-US" sz="1050" dirty="0"/>
              <a:t>Efficiency of management of capital projects gets enhanced through integrated &amp; collaborative project management platforms supplemented by digital point solutions</a:t>
            </a:r>
          </a:p>
        </p:txBody>
      </p:sp>
      <p:grpSp>
        <p:nvGrpSpPr>
          <p:cNvPr id="104" name="Group 103">
            <a:extLst>
              <a:ext uri="{FF2B5EF4-FFF2-40B4-BE49-F238E27FC236}">
                <a16:creationId xmlns:a16="http://schemas.microsoft.com/office/drawing/2014/main" id="{76159947-E079-47D9-AEA0-08D40313BC0F}"/>
              </a:ext>
            </a:extLst>
          </p:cNvPr>
          <p:cNvGrpSpPr/>
          <p:nvPr/>
        </p:nvGrpSpPr>
        <p:grpSpPr>
          <a:xfrm>
            <a:off x="8752588" y="125"/>
            <a:ext cx="3439412" cy="312153"/>
            <a:chOff x="3284559" y="173998"/>
            <a:chExt cx="10407720" cy="452926"/>
          </a:xfrm>
        </p:grpSpPr>
        <p:sp>
          <p:nvSpPr>
            <p:cNvPr id="109" name="AutoShape 6">
              <a:extLst>
                <a:ext uri="{FF2B5EF4-FFF2-40B4-BE49-F238E27FC236}">
                  <a16:creationId xmlns:a16="http://schemas.microsoft.com/office/drawing/2014/main" id="{4340FA03-F149-48B9-8557-2C7921022059}"/>
                </a:ext>
              </a:extLst>
            </p:cNvPr>
            <p:cNvSpPr>
              <a:spLocks noChangeArrowheads="1"/>
            </p:cNvSpPr>
            <p:nvPr/>
          </p:nvSpPr>
          <p:spPr bwMode="auto">
            <a:xfrm>
              <a:off x="3284559" y="173998"/>
              <a:ext cx="3870036" cy="452926"/>
            </a:xfrm>
            <a:prstGeom prst="homePlate">
              <a:avLst>
                <a:gd name="adj" fmla="val 38784"/>
              </a:avLst>
            </a:prstGeom>
            <a:solidFill>
              <a:srgbClr val="E3E4E5"/>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latin typeface="Verdana"/>
                  <a:ea typeface="MS PGothic" panose="020B0600070205080204" pitchFamily="34" charset="-128"/>
                  <a:cs typeface="Times New Roman" panose="02020603050405020304" pitchFamily="18" charset="0"/>
                </a:rPr>
                <a:t>Module-1 (</a:t>
              </a:r>
              <a:r>
                <a:rPr lang="en-US" sz="545" b="1" dirty="0">
                  <a:latin typeface="Verdana"/>
                </a:rPr>
                <a:t>Diagnostic Review &amp; Causal Analysis)</a:t>
              </a:r>
              <a:endParaRPr lang="en-IN" sz="545" b="1" dirty="0">
                <a:latin typeface="Verdana"/>
                <a:ea typeface="Times New Roman" panose="02020603050405020304" pitchFamily="18" charset="0"/>
                <a:cs typeface="Times New Roman" panose="02020603050405020304" pitchFamily="18" charset="0"/>
              </a:endParaRPr>
            </a:p>
          </p:txBody>
        </p:sp>
        <p:sp>
          <p:nvSpPr>
            <p:cNvPr id="110" name="AutoShape 7">
              <a:extLst>
                <a:ext uri="{FF2B5EF4-FFF2-40B4-BE49-F238E27FC236}">
                  <a16:creationId xmlns:a16="http://schemas.microsoft.com/office/drawing/2014/main" id="{C519F815-5F31-46CC-AFB3-1782A023853A}"/>
                </a:ext>
              </a:extLst>
            </p:cNvPr>
            <p:cNvSpPr>
              <a:spLocks noChangeArrowheads="1"/>
            </p:cNvSpPr>
            <p:nvPr/>
          </p:nvSpPr>
          <p:spPr bwMode="auto">
            <a:xfrm>
              <a:off x="6983578" y="173998"/>
              <a:ext cx="3870036" cy="452926"/>
            </a:xfrm>
            <a:prstGeom prst="chevron">
              <a:avLst>
                <a:gd name="adj" fmla="val 36855"/>
              </a:avLst>
            </a:prstGeom>
            <a:solidFill>
              <a:srgbClr val="E3E4E5"/>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latin typeface="Verdana"/>
                  <a:ea typeface="MS PGothic" panose="020B0600070205080204" pitchFamily="34" charset="-128"/>
                  <a:cs typeface="Times New Roman" panose="02020603050405020304" pitchFamily="18" charset="0"/>
                </a:rPr>
                <a:t>Module-2 (Strategic Vision Development)</a:t>
              </a:r>
              <a:endParaRPr lang="en-IN" sz="545" dirty="0">
                <a:latin typeface="Verdana"/>
                <a:ea typeface="Times New Roman" panose="02020603050405020304" pitchFamily="18" charset="0"/>
                <a:cs typeface="Times New Roman" panose="02020603050405020304" pitchFamily="18" charset="0"/>
              </a:endParaRPr>
            </a:p>
          </p:txBody>
        </p:sp>
        <p:sp>
          <p:nvSpPr>
            <p:cNvPr id="111" name="AutoShape 7">
              <a:extLst>
                <a:ext uri="{FF2B5EF4-FFF2-40B4-BE49-F238E27FC236}">
                  <a16:creationId xmlns:a16="http://schemas.microsoft.com/office/drawing/2014/main" id="{250BBDD4-CB65-42F7-965C-0E8DFFEAA1A9}"/>
                </a:ext>
              </a:extLst>
            </p:cNvPr>
            <p:cNvSpPr>
              <a:spLocks noChangeArrowheads="1"/>
            </p:cNvSpPr>
            <p:nvPr/>
          </p:nvSpPr>
          <p:spPr bwMode="auto">
            <a:xfrm>
              <a:off x="10691720" y="173998"/>
              <a:ext cx="3000559" cy="452926"/>
            </a:xfrm>
            <a:prstGeom prst="chevron">
              <a:avLst>
                <a:gd name="adj" fmla="val 36855"/>
              </a:avLst>
            </a:prstGeom>
            <a:solidFill>
              <a:srgbClr val="0097A9"/>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solidFill>
                    <a:schemeClr val="bg1"/>
                  </a:solidFill>
                  <a:latin typeface="Verdana"/>
                  <a:ea typeface="Times New Roman" panose="02020603050405020304" pitchFamily="18" charset="0"/>
                  <a:cs typeface="Times New Roman" panose="02020603050405020304" pitchFamily="18" charset="0"/>
                </a:rPr>
                <a:t>Implementation Support</a:t>
              </a:r>
              <a:endParaRPr lang="en-IN" sz="545" b="1" dirty="0">
                <a:solidFill>
                  <a:schemeClr val="bg1"/>
                </a:solidFill>
                <a:latin typeface="Verdana"/>
                <a:ea typeface="Times New Roman" panose="02020603050405020304" pitchFamily="18" charset="0"/>
                <a:cs typeface="Times New Roman" panose="02020603050405020304" pitchFamily="18" charset="0"/>
              </a:endParaRPr>
            </a:p>
          </p:txBody>
        </p:sp>
      </p:grpSp>
      <p:sp>
        <p:nvSpPr>
          <p:cNvPr id="112" name="Title 2">
            <a:extLst>
              <a:ext uri="{FF2B5EF4-FFF2-40B4-BE49-F238E27FC236}">
                <a16:creationId xmlns:a16="http://schemas.microsoft.com/office/drawing/2014/main" id="{C783B3E5-8697-4337-9167-4A4450673FE7}"/>
              </a:ext>
            </a:extLst>
          </p:cNvPr>
          <p:cNvSpPr txBox="1">
            <a:spLocks/>
          </p:cNvSpPr>
          <p:nvPr/>
        </p:nvSpPr>
        <p:spPr bwMode="gray">
          <a:xfrm>
            <a:off x="617225" y="245179"/>
            <a:ext cx="8437784" cy="227797"/>
          </a:xfrm>
          <a:prstGeom prst="rect">
            <a:avLst/>
          </a:prstGeom>
        </p:spPr>
        <p:txBody>
          <a:bodyPr vert="horz" lIns="0" tIns="0" rIns="0" bIns="0" rtlCol="0" anchor="t" anchorCtr="0">
            <a:noAutofit/>
          </a:bodyPr>
          <a:lstStyle>
            <a:lvl1pPr algn="l" defTabSz="1059853" rtl="0" eaLnBrk="1" latinLnBrk="0" hangingPunct="1">
              <a:spcBef>
                <a:spcPct val="0"/>
              </a:spcBef>
              <a:buNone/>
              <a:defRPr sz="1739" kern="1200">
                <a:solidFill>
                  <a:schemeClr val="tx1"/>
                </a:solidFill>
                <a:latin typeface="+mj-lt"/>
                <a:ea typeface="+mj-ea"/>
                <a:cs typeface="+mj-cs"/>
              </a:defRPr>
            </a:lvl1pPr>
          </a:lstStyle>
          <a:p>
            <a:pPr defTabSz="831272"/>
            <a:r>
              <a:rPr lang="en-US" sz="1800" dirty="0">
                <a:solidFill>
                  <a:prstClr val="black"/>
                </a:solidFill>
              </a:rPr>
              <a:t>Implementation Support</a:t>
            </a:r>
            <a:endParaRPr lang="en-IN" sz="1800" dirty="0">
              <a:solidFill>
                <a:prstClr val="black"/>
              </a:solidFill>
            </a:endParaRPr>
          </a:p>
        </p:txBody>
      </p:sp>
      <p:sp>
        <p:nvSpPr>
          <p:cNvPr id="113" name="Text Placeholder 1">
            <a:extLst>
              <a:ext uri="{FF2B5EF4-FFF2-40B4-BE49-F238E27FC236}">
                <a16:creationId xmlns:a16="http://schemas.microsoft.com/office/drawing/2014/main" id="{69BAA1F2-1C11-4E87-AD20-27B5027DFA83}"/>
              </a:ext>
            </a:extLst>
          </p:cNvPr>
          <p:cNvSpPr txBox="1">
            <a:spLocks/>
          </p:cNvSpPr>
          <p:nvPr/>
        </p:nvSpPr>
        <p:spPr>
          <a:xfrm>
            <a:off x="624661" y="571436"/>
            <a:ext cx="10964886" cy="173136"/>
          </a:xfrm>
          <a:prstGeom prst="rect">
            <a:avLst/>
          </a:prstGeom>
        </p:spPr>
        <p:txBody>
          <a:bodyPr vert="horz" lIns="0" tIns="0" rIns="0" bIns="0" rtlCol="0">
            <a:noAutofit/>
          </a:bodyPr>
          <a:lstStyle>
            <a:lvl1pPr marL="0" indent="0" algn="l" defTabSz="1059853" rtl="0" eaLnBrk="1" latinLnBrk="0" hangingPunct="1">
              <a:spcBef>
                <a:spcPts val="0"/>
              </a:spcBef>
              <a:spcAft>
                <a:spcPts val="1159"/>
              </a:spcAft>
              <a:buSzPct val="100000"/>
              <a:buFont typeface="Arial" panose="020B0604020202020204" pitchFamily="34" charset="0"/>
              <a:buNone/>
              <a:defRPr sz="1739" b="0" kern="1200">
                <a:solidFill>
                  <a:srgbClr val="575757"/>
                </a:solidFill>
                <a:latin typeface="+mn-lt"/>
                <a:ea typeface="+mn-ea"/>
                <a:cs typeface="+mn-cs"/>
              </a:defRPr>
            </a:lvl1pPr>
            <a:lvl2pPr marL="0" indent="0" algn="l" defTabSz="1059853" rtl="0" eaLnBrk="1" latinLnBrk="0" hangingPunct="1">
              <a:spcBef>
                <a:spcPts val="0"/>
              </a:spcBef>
              <a:spcAft>
                <a:spcPts val="1159"/>
              </a:spcAft>
              <a:buClrTx/>
              <a:buSzPct val="100000"/>
              <a:buFont typeface="Arial"/>
              <a:buNone/>
              <a:defRPr lang="en-US" sz="1391" b="1" kern="1200" dirty="0" smtClean="0">
                <a:solidFill>
                  <a:schemeClr val="tx1"/>
                </a:solidFill>
                <a:latin typeface="+mn-lt"/>
                <a:ea typeface="+mn-ea"/>
                <a:cs typeface="+mn-cs"/>
              </a:defRPr>
            </a:lvl2pPr>
            <a:lvl3pPr marL="204460" indent="-204460" algn="l" defTabSz="1059853" rtl="0" eaLnBrk="1" latinLnBrk="0" hangingPunct="1">
              <a:spcBef>
                <a:spcPts val="0"/>
              </a:spcBef>
              <a:spcAft>
                <a:spcPts val="1159"/>
              </a:spcAft>
              <a:buClrTx/>
              <a:buSzPct val="100000"/>
              <a:buFont typeface="Arial" panose="020B0604020202020204" pitchFamily="34" charset="0"/>
              <a:buChar char="•"/>
              <a:defRPr lang="en-US" sz="1391" kern="1200" dirty="0" smtClean="0">
                <a:solidFill>
                  <a:schemeClr val="tx1"/>
                </a:solidFill>
                <a:latin typeface="+mn-lt"/>
                <a:ea typeface="+mn-ea"/>
                <a:cs typeface="+mn-cs"/>
              </a:defRPr>
            </a:lvl3pPr>
            <a:lvl4pPr marL="413092" indent="-204460" algn="l" defTabSz="1059853" rtl="0" eaLnBrk="1" latinLnBrk="0" hangingPunct="1">
              <a:spcBef>
                <a:spcPts val="0"/>
              </a:spcBef>
              <a:spcAft>
                <a:spcPts val="1159"/>
              </a:spcAft>
              <a:buClrTx/>
              <a:buSzPct val="100000"/>
              <a:buFont typeface="Verdana" panose="020B0604030504040204" pitchFamily="34" charset="0"/>
              <a:buChar char="−"/>
              <a:defRPr lang="en-US" sz="1391" kern="1200" baseline="0" dirty="0" smtClean="0">
                <a:solidFill>
                  <a:schemeClr val="tx1"/>
                </a:solidFill>
                <a:latin typeface="+mn-lt"/>
                <a:ea typeface="+mn-ea"/>
                <a:cs typeface="+mn-cs"/>
              </a:defRPr>
            </a:lvl4pPr>
            <a:lvl5pPr marL="617553" indent="-204460" algn="l" defTabSz="925533" rtl="0" eaLnBrk="1" latinLnBrk="0" hangingPunct="1">
              <a:spcBef>
                <a:spcPts val="0"/>
              </a:spcBef>
              <a:spcAft>
                <a:spcPts val="1159"/>
              </a:spcAft>
              <a:buClrTx/>
              <a:buSzPct val="100000"/>
              <a:buFont typeface="Verdana" panose="020B0604030504040204" pitchFamily="34" charset="0"/>
              <a:buChar char="−"/>
              <a:tabLst/>
              <a:defRPr lang="en-US" sz="1391" kern="1200" baseline="0" dirty="0" smtClean="0">
                <a:solidFill>
                  <a:schemeClr val="tx1"/>
                </a:solidFill>
                <a:latin typeface="+mn-lt"/>
                <a:ea typeface="+mn-ea"/>
                <a:cs typeface="+mn-cs"/>
              </a:defRPr>
            </a:lvl5pPr>
            <a:lvl6pPr marL="617553" indent="-204460" algn="l" defTabSz="1059853" rtl="0" eaLnBrk="1" latinLnBrk="0" hangingPunct="1">
              <a:spcBef>
                <a:spcPts val="0"/>
              </a:spcBef>
              <a:spcAft>
                <a:spcPts val="1159"/>
              </a:spcAft>
              <a:buFont typeface="Verdana" panose="020B0604030504040204" pitchFamily="34" charset="0"/>
              <a:buChar char="−"/>
              <a:defRPr sz="1391" kern="1200" baseline="0">
                <a:solidFill>
                  <a:schemeClr val="tx1"/>
                </a:solidFill>
                <a:latin typeface="+mn-lt"/>
                <a:ea typeface="+mn-ea"/>
                <a:cs typeface="+mn-cs"/>
              </a:defRPr>
            </a:lvl6pPr>
            <a:lvl7pPr marL="617553" indent="-204460" algn="l" defTabSz="1059853" rtl="0" eaLnBrk="1" latinLnBrk="0" hangingPunct="1">
              <a:spcBef>
                <a:spcPts val="0"/>
              </a:spcBef>
              <a:spcAft>
                <a:spcPts val="1159"/>
              </a:spcAft>
              <a:buFont typeface="Verdana" panose="020B0604030504040204" pitchFamily="34" charset="0"/>
              <a:buChar char="−"/>
              <a:defRPr sz="1391" kern="1200">
                <a:solidFill>
                  <a:schemeClr val="tx1"/>
                </a:solidFill>
                <a:latin typeface="+mn-lt"/>
                <a:ea typeface="+mn-ea"/>
                <a:cs typeface="+mn-cs"/>
              </a:defRPr>
            </a:lvl7pPr>
            <a:lvl8pPr marL="617553" indent="-204460" algn="l" defTabSz="1059853" rtl="0" eaLnBrk="1" latinLnBrk="0" hangingPunct="1">
              <a:spcBef>
                <a:spcPts val="0"/>
              </a:spcBef>
              <a:spcAft>
                <a:spcPts val="1159"/>
              </a:spcAft>
              <a:buFont typeface="Verdana" panose="020B0604030504040204" pitchFamily="34" charset="0"/>
              <a:buChar char="−"/>
              <a:defRPr sz="1391" kern="1200" baseline="0">
                <a:solidFill>
                  <a:schemeClr val="tx1"/>
                </a:solidFill>
                <a:latin typeface="+mn-lt"/>
                <a:ea typeface="+mn-ea"/>
                <a:cs typeface="+mn-cs"/>
              </a:defRPr>
            </a:lvl8pPr>
            <a:lvl9pPr marL="617553" indent="-204460" algn="l" defTabSz="1059853" rtl="0" eaLnBrk="1" latinLnBrk="0" hangingPunct="1">
              <a:spcBef>
                <a:spcPts val="0"/>
              </a:spcBef>
              <a:spcAft>
                <a:spcPts val="1159"/>
              </a:spcAft>
              <a:buFont typeface="Verdana" panose="020B0604030504040204" pitchFamily="34" charset="0"/>
              <a:buChar char="−"/>
              <a:defRPr sz="1391" kern="1200" baseline="0">
                <a:solidFill>
                  <a:schemeClr val="tx1"/>
                </a:solidFill>
                <a:latin typeface="+mn-lt"/>
                <a:ea typeface="+mn-ea"/>
                <a:cs typeface="+mn-cs"/>
              </a:defRPr>
            </a:lvl9pPr>
          </a:lstStyle>
          <a:p>
            <a:pPr algn="just"/>
            <a:r>
              <a:rPr lang="en-US" sz="1600" dirty="0"/>
              <a:t>Our value proposition</a:t>
            </a:r>
          </a:p>
        </p:txBody>
      </p:sp>
    </p:spTree>
    <p:extLst>
      <p:ext uri="{BB962C8B-B14F-4D97-AF65-F5344CB8AC3E}">
        <p14:creationId xmlns:p14="http://schemas.microsoft.com/office/powerpoint/2010/main" val="144967179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68" y="0"/>
            <a:ext cx="12189864" cy="6858000"/>
          </a:xfrm>
          <a:prstGeom prst="rect">
            <a:avLst/>
          </a:prstGeom>
        </p:spPr>
      </p:pic>
      <p:sp>
        <p:nvSpPr>
          <p:cNvPr id="6" name="Rectangle 5"/>
          <p:cNvSpPr/>
          <p:nvPr/>
        </p:nvSpPr>
        <p:spPr bwMode="gray">
          <a:xfrm>
            <a:off x="1" y="135"/>
            <a:ext cx="12250994" cy="6857867"/>
          </a:xfrm>
          <a:prstGeom prst="rect">
            <a:avLst/>
          </a:prstGeom>
          <a:solidFill>
            <a:schemeClr val="tx1">
              <a:alpha val="65000"/>
            </a:schemeClr>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endParaRPr lang="en-IN" sz="1451" b="1" dirty="0">
              <a:solidFill>
                <a:schemeClr val="bg1"/>
              </a:solidFill>
            </a:endParaRPr>
          </a:p>
        </p:txBody>
      </p:sp>
      <p:sp>
        <p:nvSpPr>
          <p:cNvPr id="7" name="Shape 59"/>
          <p:cNvSpPr/>
          <p:nvPr/>
        </p:nvSpPr>
        <p:spPr>
          <a:xfrm flipH="1">
            <a:off x="1" y="2"/>
            <a:ext cx="9692468" cy="6857867"/>
          </a:xfrm>
          <a:custGeom>
            <a:avLst/>
            <a:gdLst/>
            <a:ahLst/>
            <a:cxnLst/>
            <a:rect l="0" t="0" r="0" b="0"/>
            <a:pathLst>
              <a:path w="120000" h="120000" extrusionOk="0">
                <a:moveTo>
                  <a:pt x="85134" y="0"/>
                </a:moveTo>
                <a:lnTo>
                  <a:pt x="0" y="0"/>
                </a:lnTo>
                <a:lnTo>
                  <a:pt x="76533" y="120000"/>
                </a:lnTo>
                <a:lnTo>
                  <a:pt x="120000" y="120000"/>
                </a:lnTo>
                <a:lnTo>
                  <a:pt x="120000" y="54666"/>
                </a:lnTo>
                <a:lnTo>
                  <a:pt x="85134" y="0"/>
                </a:lnTo>
                <a:close/>
              </a:path>
            </a:pathLst>
          </a:custGeom>
          <a:gradFill>
            <a:gsLst>
              <a:gs pos="0">
                <a:srgbClr val="0C4068">
                  <a:alpha val="87000"/>
                </a:srgbClr>
              </a:gs>
              <a:gs pos="50000">
                <a:srgbClr val="46B688">
                  <a:alpha val="53000"/>
                </a:srgbClr>
              </a:gs>
              <a:gs pos="100000">
                <a:srgbClr val="016AA3">
                  <a:alpha val="93000"/>
                </a:srgbClr>
              </a:gs>
            </a:gsLst>
            <a:lin ang="2700000" scaled="0"/>
          </a:gradFill>
          <a:ln>
            <a:noFill/>
          </a:ln>
        </p:spPr>
        <p:txBody>
          <a:bodyPr spcFirstLastPara="1" wrap="square" lIns="91421" tIns="45698" rIns="91421" bIns="45698" anchor="ctr" anchorCtr="0">
            <a:noAutofit/>
          </a:bodyPr>
          <a:lstStyle/>
          <a:p>
            <a:pPr algn="ctr"/>
            <a:endParaRPr dirty="0">
              <a:solidFill>
                <a:schemeClr val="lt1"/>
              </a:solidFill>
              <a:latin typeface="Calibri"/>
              <a:ea typeface="Calibri"/>
              <a:cs typeface="Calibri"/>
              <a:sym typeface="Calibri"/>
            </a:endParaRPr>
          </a:p>
        </p:txBody>
      </p:sp>
      <p:grpSp>
        <p:nvGrpSpPr>
          <p:cNvPr id="8" name="Group 7"/>
          <p:cNvGrpSpPr/>
          <p:nvPr/>
        </p:nvGrpSpPr>
        <p:grpSpPr>
          <a:xfrm rot="21407744">
            <a:off x="2108239" y="1441058"/>
            <a:ext cx="7961979" cy="2891780"/>
            <a:chOff x="2284385" y="2051025"/>
            <a:chExt cx="8817247" cy="3248124"/>
          </a:xfrm>
        </p:grpSpPr>
        <p:sp>
          <p:nvSpPr>
            <p:cNvPr id="9" name="Shape 62"/>
            <p:cNvSpPr/>
            <p:nvPr/>
          </p:nvSpPr>
          <p:spPr>
            <a:xfrm rot="18900000">
              <a:off x="2284385" y="4760213"/>
              <a:ext cx="7663083"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sp>
          <p:nvSpPr>
            <p:cNvPr id="10" name="Shape 63"/>
            <p:cNvSpPr/>
            <p:nvPr/>
          </p:nvSpPr>
          <p:spPr>
            <a:xfrm rot="18900000" flipH="1" flipV="1">
              <a:off x="4645068" y="2051025"/>
              <a:ext cx="6456564"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grpSp>
      <p:grpSp>
        <p:nvGrpSpPr>
          <p:cNvPr id="11" name="Group 10"/>
          <p:cNvGrpSpPr/>
          <p:nvPr/>
        </p:nvGrpSpPr>
        <p:grpSpPr>
          <a:xfrm rot="21407744">
            <a:off x="-582962" y="763175"/>
            <a:ext cx="4456634" cy="1618644"/>
            <a:chOff x="2284385" y="2051025"/>
            <a:chExt cx="8817246" cy="3248124"/>
          </a:xfrm>
        </p:grpSpPr>
        <p:sp>
          <p:nvSpPr>
            <p:cNvPr id="12" name="Shape 62"/>
            <p:cNvSpPr/>
            <p:nvPr/>
          </p:nvSpPr>
          <p:spPr>
            <a:xfrm rot="18900000">
              <a:off x="2284385" y="4760213"/>
              <a:ext cx="7663083"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sp>
          <p:nvSpPr>
            <p:cNvPr id="13" name="Shape 63"/>
            <p:cNvSpPr/>
            <p:nvPr/>
          </p:nvSpPr>
          <p:spPr>
            <a:xfrm rot="18900000" flipH="1" flipV="1">
              <a:off x="4645067" y="2051025"/>
              <a:ext cx="6456564"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grpSp>
      <p:sp>
        <p:nvSpPr>
          <p:cNvPr id="14" name="Title 4"/>
          <p:cNvSpPr>
            <a:spLocks noGrp="1"/>
          </p:cNvSpPr>
          <p:nvPr>
            <p:ph type="title"/>
          </p:nvPr>
        </p:nvSpPr>
        <p:spPr>
          <a:xfrm>
            <a:off x="1251890" y="2252162"/>
            <a:ext cx="3939237" cy="1257846"/>
          </a:xfrm>
        </p:spPr>
        <p:txBody>
          <a:bodyPr anchor="ctr"/>
          <a:lstStyle/>
          <a:p>
            <a:pPr algn="ctr" defTabSz="1059853"/>
            <a:r>
              <a:rPr lang="en-US" b="1" dirty="0">
                <a:solidFill>
                  <a:prstClr val="white"/>
                </a:solidFill>
              </a:rPr>
              <a:t>Team Structure</a:t>
            </a:r>
          </a:p>
        </p:txBody>
      </p:sp>
    </p:spTree>
    <p:extLst>
      <p:ext uri="{BB962C8B-B14F-4D97-AF65-F5344CB8AC3E}">
        <p14:creationId xmlns:p14="http://schemas.microsoft.com/office/powerpoint/2010/main" val="27566693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Object 78" hidden="1"/>
          <p:cNvGraphicFramePr>
            <a:graphicFrameLocks noChangeAspect="1"/>
          </p:cNvGraphicFramePr>
          <p:nvPr>
            <p:custDataLst>
              <p:tags r:id="rId1"/>
            </p:custDataLst>
            <p:extLst>
              <p:ext uri="{D42A27DB-BD31-4B8C-83A1-F6EECF244321}">
                <p14:modId xmlns:p14="http://schemas.microsoft.com/office/powerpoint/2010/main" val="3594356185"/>
              </p:ext>
            </p:extLst>
          </p:nvPr>
        </p:nvGraphicFramePr>
        <p:xfrm>
          <a:off x="798020" y="449492"/>
          <a:ext cx="1381" cy="1381"/>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79" name="Object 78" hidden="1"/>
                      <p:cNvPicPr/>
                      <p:nvPr/>
                    </p:nvPicPr>
                    <p:blipFill>
                      <a:blip r:embed="rId5"/>
                      <a:stretch>
                        <a:fillRect/>
                      </a:stretch>
                    </p:blipFill>
                    <p:spPr>
                      <a:xfrm>
                        <a:off x="798020" y="449492"/>
                        <a:ext cx="1381" cy="1381"/>
                      </a:xfrm>
                      <a:prstGeom prst="rect">
                        <a:avLst/>
                      </a:prstGeom>
                    </p:spPr>
                  </p:pic>
                </p:oleObj>
              </mc:Fallback>
            </mc:AlternateContent>
          </a:graphicData>
        </a:graphic>
      </p:graphicFrame>
      <p:graphicFrame>
        <p:nvGraphicFramePr>
          <p:cNvPr id="44" name="Chart Placeholder 13">
            <a:extLst>
              <a:ext uri="{FF2B5EF4-FFF2-40B4-BE49-F238E27FC236}">
                <a16:creationId xmlns:a16="http://schemas.microsoft.com/office/drawing/2014/main" id="{4FD5D494-7268-4C47-9643-52C2DF33B706}"/>
              </a:ext>
            </a:extLst>
          </p:cNvPr>
          <p:cNvGraphicFramePr>
            <a:graphicFrameLocks/>
          </p:cNvGraphicFramePr>
          <p:nvPr>
            <p:extLst>
              <p:ext uri="{D42A27DB-BD31-4B8C-83A1-F6EECF244321}">
                <p14:modId xmlns:p14="http://schemas.microsoft.com/office/powerpoint/2010/main" val="53811990"/>
              </p:ext>
            </p:extLst>
          </p:nvPr>
        </p:nvGraphicFramePr>
        <p:xfrm>
          <a:off x="373115" y="4858035"/>
          <a:ext cx="11322291" cy="1593738"/>
        </p:xfrm>
        <a:graphic>
          <a:graphicData uri="http://schemas.openxmlformats.org/drawingml/2006/chart">
            <c:chart xmlns:c="http://schemas.openxmlformats.org/drawingml/2006/chart" xmlns:r="http://schemas.openxmlformats.org/officeDocument/2006/relationships" r:id="rId6"/>
          </a:graphicData>
        </a:graphic>
      </p:graphicFrame>
      <p:sp>
        <p:nvSpPr>
          <p:cNvPr id="156" name="object 13">
            <a:extLst>
              <a:ext uri="{FF2B5EF4-FFF2-40B4-BE49-F238E27FC236}">
                <a16:creationId xmlns:a16="http://schemas.microsoft.com/office/drawing/2014/main" id="{CCE2CB42-1CA7-46CE-A128-E1E6CAF445FA}"/>
              </a:ext>
            </a:extLst>
          </p:cNvPr>
          <p:cNvSpPr/>
          <p:nvPr/>
        </p:nvSpPr>
        <p:spPr>
          <a:xfrm>
            <a:off x="6208152" y="1715469"/>
            <a:ext cx="5450400" cy="2918515"/>
          </a:xfrm>
          <a:custGeom>
            <a:avLst/>
            <a:gdLst/>
            <a:ahLst/>
            <a:cxnLst/>
            <a:rect l="l" t="t" r="r" b="b"/>
            <a:pathLst>
              <a:path w="2362200" h="2810510">
                <a:moveTo>
                  <a:pt x="0" y="2810256"/>
                </a:moveTo>
                <a:lnTo>
                  <a:pt x="2362200" y="2810256"/>
                </a:lnTo>
                <a:lnTo>
                  <a:pt x="2362200" y="0"/>
                </a:lnTo>
                <a:lnTo>
                  <a:pt x="0" y="0"/>
                </a:lnTo>
                <a:lnTo>
                  <a:pt x="0" y="2810256"/>
                </a:lnTo>
                <a:close/>
              </a:path>
            </a:pathLst>
          </a:custGeom>
          <a:solidFill>
            <a:schemeClr val="accent1">
              <a:lumMod val="20000"/>
              <a:lumOff val="80000"/>
            </a:schemeClr>
          </a:solidFill>
        </p:spPr>
        <p:txBody>
          <a:bodyPr wrap="square" lIns="24545" tIns="0" rIns="24545" bIns="0" rtlCol="0"/>
          <a:lstStyle/>
          <a:p>
            <a:pPr defTabSz="623438"/>
            <a:endParaRPr lang="en-US"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lnSpc>
                <a:spcPct val="150000"/>
              </a:lnSpc>
            </a:pPr>
            <a:endParaRPr lang="en-IN" sz="1000" dirty="0">
              <a:solidFill>
                <a:prstClr val="black"/>
              </a:solidFill>
              <a:latin typeface="Verdana"/>
              <a:cs typeface="Calibri" panose="020F0502020204030204" pitchFamily="34" charset="0"/>
            </a:endParaRPr>
          </a:p>
          <a:p>
            <a:pPr defTabSz="623438">
              <a:lnSpc>
                <a:spcPct val="150000"/>
              </a:lnSpc>
            </a:pPr>
            <a:r>
              <a:rPr lang="en-IN" sz="1000" b="1" dirty="0">
                <a:solidFill>
                  <a:prstClr val="black"/>
                </a:solidFill>
                <a:latin typeface="Verdana"/>
                <a:cs typeface="Calibri" panose="020F0502020204030204" pitchFamily="34" charset="0"/>
              </a:rPr>
              <a:t>Experience in RE/EV/BESS/RE integration:</a:t>
            </a:r>
            <a:endParaRPr lang="en-US" sz="1000" dirty="0">
              <a:solidFill>
                <a:prstClr val="black"/>
              </a:solidFill>
              <a:latin typeface="Verdana"/>
              <a:cs typeface="Calibri" panose="020F0502020204030204" pitchFamily="34" charset="0"/>
            </a:endParaRP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Market assessment of EV charging infrastructure</a:t>
            </a: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RISE Pilot-EV Integration study of BESS</a:t>
            </a:r>
            <a:endParaRPr lang="en-US" sz="1000" dirty="0">
              <a:solidFill>
                <a:srgbClr val="DA291C"/>
              </a:solidFill>
              <a:highlight>
                <a:srgbClr val="FFFF00"/>
              </a:highlight>
              <a:latin typeface="Verdana"/>
              <a:cs typeface="Calibri" panose="020F0502020204030204" pitchFamily="34" charset="0"/>
            </a:endParaRP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Scaling up rooftop solar in SME sector (India)</a:t>
            </a: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Nepal Hydropower Development Project (NHDP)</a:t>
            </a: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Battery Storage assessment at T&amp;D level (World Bank)</a:t>
            </a:r>
          </a:p>
        </p:txBody>
      </p:sp>
      <p:sp>
        <p:nvSpPr>
          <p:cNvPr id="152" name="object 13">
            <a:extLst>
              <a:ext uri="{FF2B5EF4-FFF2-40B4-BE49-F238E27FC236}">
                <a16:creationId xmlns:a16="http://schemas.microsoft.com/office/drawing/2014/main" id="{0595B037-CE5F-4518-AF2A-EDB9ACB4C2CC}"/>
              </a:ext>
            </a:extLst>
          </p:cNvPr>
          <p:cNvSpPr/>
          <p:nvPr/>
        </p:nvSpPr>
        <p:spPr>
          <a:xfrm>
            <a:off x="564998" y="1740668"/>
            <a:ext cx="5451614" cy="2880000"/>
          </a:xfrm>
          <a:custGeom>
            <a:avLst/>
            <a:gdLst/>
            <a:ahLst/>
            <a:cxnLst/>
            <a:rect l="l" t="t" r="r" b="b"/>
            <a:pathLst>
              <a:path w="2362200" h="2810510">
                <a:moveTo>
                  <a:pt x="0" y="2810256"/>
                </a:moveTo>
                <a:lnTo>
                  <a:pt x="2362200" y="2810256"/>
                </a:lnTo>
                <a:lnTo>
                  <a:pt x="2362200" y="0"/>
                </a:lnTo>
                <a:lnTo>
                  <a:pt x="0" y="0"/>
                </a:lnTo>
                <a:lnTo>
                  <a:pt x="0" y="2810256"/>
                </a:lnTo>
                <a:close/>
              </a:path>
            </a:pathLst>
          </a:custGeom>
          <a:solidFill>
            <a:schemeClr val="accent3">
              <a:lumMod val="20000"/>
              <a:lumOff val="80000"/>
            </a:schemeClr>
          </a:solidFill>
        </p:spPr>
        <p:txBody>
          <a:bodyPr wrap="square" lIns="24545" tIns="0" rIns="24545" bIns="0" rtlCol="0"/>
          <a:lstStyle/>
          <a:p>
            <a:pPr defTabSz="623438"/>
            <a:endParaRPr lang="en-US"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endParaRPr lang="en-IN" sz="1000" dirty="0">
              <a:solidFill>
                <a:prstClr val="black"/>
              </a:solidFill>
              <a:latin typeface="Verdana"/>
              <a:cs typeface="Calibri" panose="020F0502020204030204" pitchFamily="34" charset="0"/>
            </a:endParaRPr>
          </a:p>
          <a:p>
            <a:pPr defTabSz="623438">
              <a:lnSpc>
                <a:spcPct val="150000"/>
              </a:lnSpc>
            </a:pPr>
            <a:endParaRPr lang="en-IN" sz="1000" b="1" dirty="0">
              <a:solidFill>
                <a:prstClr val="black"/>
              </a:solidFill>
              <a:latin typeface="Verdana"/>
              <a:cs typeface="Calibri" panose="020F0502020204030204" pitchFamily="34" charset="0"/>
            </a:endParaRPr>
          </a:p>
          <a:p>
            <a:pPr defTabSz="623438">
              <a:lnSpc>
                <a:spcPct val="150000"/>
              </a:lnSpc>
            </a:pPr>
            <a:r>
              <a:rPr lang="en-IN" sz="1000" b="1" dirty="0">
                <a:solidFill>
                  <a:prstClr val="black"/>
                </a:solidFill>
                <a:latin typeface="Verdana"/>
                <a:cs typeface="Calibri" panose="020F0502020204030204" pitchFamily="34" charset="0"/>
              </a:rPr>
              <a:t>Experience in RE/EV/BESS/RE integration:</a:t>
            </a:r>
            <a:endParaRPr lang="en-US" sz="1000" dirty="0">
              <a:solidFill>
                <a:prstClr val="black"/>
              </a:solidFill>
              <a:latin typeface="Verdana"/>
              <a:cs typeface="Calibri" panose="020F0502020204030204" pitchFamily="34" charset="0"/>
            </a:endParaRP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Promoting Clean Energy Development in Bhutan </a:t>
            </a: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Renewable Integration &amp; Sustainable Energy (RISE)</a:t>
            </a: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financial products and services for Solar Water Pumps (GIZ)</a:t>
            </a: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Capacity Development of the Financial Institutions for RE financing in Pacific SIDS</a:t>
            </a:r>
          </a:p>
          <a:p>
            <a:pPr marL="116895" indent="-116895" defTabSz="623438">
              <a:buFont typeface="Arial" panose="020B0604020202020204" pitchFamily="34" charset="0"/>
              <a:buChar char="•"/>
            </a:pPr>
            <a:r>
              <a:rPr lang="en-US" sz="1000" dirty="0">
                <a:solidFill>
                  <a:prstClr val="black"/>
                </a:solidFill>
                <a:cs typeface="Calibri" panose="020F0502020204030204" pitchFamily="34" charset="0"/>
              </a:rPr>
              <a:t>CIL Diversification PMO (REW, Solar, Thermal)</a:t>
            </a:r>
          </a:p>
          <a:p>
            <a:pPr marL="116895" indent="-116895" defTabSz="623438">
              <a:buFont typeface="Arial" panose="020B0604020202020204" pitchFamily="34" charset="0"/>
              <a:buChar char="•"/>
            </a:pPr>
            <a:endParaRPr lang="en-US" sz="1000" dirty="0">
              <a:solidFill>
                <a:prstClr val="black"/>
              </a:solidFill>
              <a:latin typeface="Verdana"/>
              <a:cs typeface="Calibri" panose="020F0502020204030204" pitchFamily="34" charset="0"/>
            </a:endParaRPr>
          </a:p>
        </p:txBody>
      </p:sp>
      <p:sp>
        <p:nvSpPr>
          <p:cNvPr id="78" name="Rectangle 77" hidden="1"/>
          <p:cNvSpPr/>
          <p:nvPr>
            <p:custDataLst>
              <p:tags r:id="rId2"/>
            </p:custDataLst>
          </p:nvPr>
        </p:nvSpPr>
        <p:spPr bwMode="gray">
          <a:xfrm>
            <a:off x="796636" y="448108"/>
            <a:ext cx="138004" cy="138004"/>
          </a:xfrm>
          <a:prstGeom prst="rect">
            <a:avLst/>
          </a:prstGeom>
          <a:solidFill>
            <a:schemeClr val="accent3"/>
          </a:solidFill>
          <a:ln w="19050" algn="ctr">
            <a:noFill/>
            <a:miter lim="800000"/>
            <a:headEnd/>
            <a:tailEnd/>
          </a:ln>
        </p:spPr>
        <p:txBody>
          <a:bodyPr wrap="none" lIns="0" tIns="0" rIns="0" bIns="0" rtlCol="0" anchor="ctr"/>
          <a:lstStyle/>
          <a:p>
            <a:pPr algn="ctr" defTabSz="1059800">
              <a:spcBef>
                <a:spcPct val="0"/>
              </a:spcBef>
              <a:spcAft>
                <a:spcPct val="0"/>
              </a:spcAft>
              <a:defRPr/>
            </a:pPr>
            <a:endParaRPr lang="en-US" sz="1739" b="1" dirty="0">
              <a:solidFill>
                <a:srgbClr val="FFFFFF"/>
              </a:solidFill>
              <a:latin typeface="Verdana" panose="020B0604030504040204" pitchFamily="34" charset="0"/>
              <a:sym typeface="Verdana" panose="020B0604030504040204" pitchFamily="34" charset="0"/>
            </a:endParaRPr>
          </a:p>
        </p:txBody>
      </p:sp>
      <p:sp>
        <p:nvSpPr>
          <p:cNvPr id="7" name="Title 6"/>
          <p:cNvSpPr>
            <a:spLocks noGrp="1"/>
          </p:cNvSpPr>
          <p:nvPr>
            <p:ph type="title"/>
          </p:nvPr>
        </p:nvSpPr>
        <p:spPr>
          <a:xfrm>
            <a:off x="547906" y="269245"/>
            <a:ext cx="9781742" cy="420021"/>
          </a:xfrm>
        </p:spPr>
        <p:txBody>
          <a:bodyPr vert="horz"/>
          <a:lstStyle/>
          <a:p>
            <a:r>
              <a:rPr lang="en-US" dirty="0"/>
              <a:t>Engagement Team – Team Leadership (1/2)</a:t>
            </a:r>
            <a:endParaRPr lang="en-IN" dirty="0"/>
          </a:p>
        </p:txBody>
      </p:sp>
      <p:sp>
        <p:nvSpPr>
          <p:cNvPr id="135" name="object 26">
            <a:extLst>
              <a:ext uri="{FF2B5EF4-FFF2-40B4-BE49-F238E27FC236}">
                <a16:creationId xmlns:a16="http://schemas.microsoft.com/office/drawing/2014/main" id="{57CFDB40-35F5-4D53-B21A-F0B422E0BF3F}"/>
              </a:ext>
            </a:extLst>
          </p:cNvPr>
          <p:cNvSpPr txBox="1"/>
          <p:nvPr/>
        </p:nvSpPr>
        <p:spPr>
          <a:xfrm>
            <a:off x="668414" y="2596270"/>
            <a:ext cx="888210" cy="977365"/>
          </a:xfrm>
          <a:prstGeom prst="rect">
            <a:avLst/>
          </a:prstGeom>
        </p:spPr>
        <p:txBody>
          <a:bodyPr vert="horz" wrap="square" lIns="0" tIns="7793" rIns="0" bIns="0" rtlCol="0">
            <a:spAutoFit/>
          </a:bodyPr>
          <a:lstStyle/>
          <a:p>
            <a:pPr defTabSz="397435">
              <a:defRPr/>
            </a:pPr>
            <a:r>
              <a:rPr lang="en-US" sz="900" b="1" kern="0" dirty="0">
                <a:solidFill>
                  <a:prstClr val="black"/>
                </a:solidFill>
                <a:latin typeface="Verdana"/>
                <a:ea typeface="Verdana" panose="020B0604030504040204" pitchFamily="34" charset="0"/>
              </a:rPr>
              <a:t>Sayantan Banerjee</a:t>
            </a:r>
          </a:p>
          <a:p>
            <a:pPr defTabSz="397435">
              <a:defRPr/>
            </a:pPr>
            <a:r>
              <a:rPr lang="en-US" sz="900" kern="0" dirty="0">
                <a:solidFill>
                  <a:prstClr val="black"/>
                </a:solidFill>
                <a:latin typeface="Verdana"/>
                <a:ea typeface="Verdana" panose="020B0604030504040204" pitchFamily="34" charset="0"/>
              </a:rPr>
              <a:t>Director, </a:t>
            </a:r>
          </a:p>
          <a:p>
            <a:pPr defTabSz="397435">
              <a:defRPr/>
            </a:pPr>
            <a:r>
              <a:rPr lang="en-US" sz="900" b="1" kern="0" dirty="0">
                <a:solidFill>
                  <a:prstClr val="black"/>
                </a:solidFill>
                <a:latin typeface="Verdana"/>
                <a:ea typeface="Verdana" panose="020B0604030504040204" pitchFamily="34" charset="0"/>
              </a:rPr>
              <a:t>(22 years)</a:t>
            </a:r>
          </a:p>
          <a:p>
            <a:pPr defTabSz="397435">
              <a:defRPr/>
            </a:pPr>
            <a:r>
              <a:rPr lang="en-US" sz="900" dirty="0">
                <a:solidFill>
                  <a:prstClr val="black"/>
                </a:solidFill>
                <a:latin typeface="Verdana"/>
                <a:sym typeface="Wingdings" pitchFamily="2" charset="2"/>
              </a:rPr>
              <a:t>(15 years in WB power sector)</a:t>
            </a:r>
            <a:endParaRPr lang="en-US" sz="900" b="1" kern="0" dirty="0">
              <a:solidFill>
                <a:prstClr val="black"/>
              </a:solidFill>
              <a:latin typeface="Verdana"/>
              <a:ea typeface="Verdana" panose="020B0604030504040204" pitchFamily="34" charset="0"/>
            </a:endParaRPr>
          </a:p>
        </p:txBody>
      </p:sp>
      <p:sp>
        <p:nvSpPr>
          <p:cNvPr id="136" name="object 34">
            <a:extLst>
              <a:ext uri="{FF2B5EF4-FFF2-40B4-BE49-F238E27FC236}">
                <a16:creationId xmlns:a16="http://schemas.microsoft.com/office/drawing/2014/main" id="{75461B90-32C5-462E-93F0-2AD94A723E0B}"/>
              </a:ext>
            </a:extLst>
          </p:cNvPr>
          <p:cNvSpPr/>
          <p:nvPr/>
        </p:nvSpPr>
        <p:spPr>
          <a:xfrm>
            <a:off x="565000" y="1759218"/>
            <a:ext cx="5450400" cy="185175"/>
          </a:xfrm>
          <a:custGeom>
            <a:avLst/>
            <a:gdLst/>
            <a:ahLst/>
            <a:cxnLst/>
            <a:rect l="l" t="t" r="r" b="b"/>
            <a:pathLst>
              <a:path w="2810510" h="216534">
                <a:moveTo>
                  <a:pt x="0" y="216408"/>
                </a:moveTo>
                <a:lnTo>
                  <a:pt x="2810256" y="216408"/>
                </a:lnTo>
                <a:lnTo>
                  <a:pt x="2810256" y="0"/>
                </a:lnTo>
                <a:lnTo>
                  <a:pt x="0" y="0"/>
                </a:lnTo>
                <a:lnTo>
                  <a:pt x="0" y="216408"/>
                </a:lnTo>
                <a:close/>
              </a:path>
            </a:pathLst>
          </a:custGeom>
          <a:solidFill>
            <a:srgbClr val="85BB24"/>
          </a:solidFill>
        </p:spPr>
        <p:txBody>
          <a:bodyPr wrap="square" lIns="0" tIns="0" rIns="0" bIns="0" rtlCol="0" anchor="ctr"/>
          <a:lstStyle/>
          <a:p>
            <a:pPr algn="ctr" defTabSz="623438"/>
            <a:r>
              <a:rPr lang="en-US" sz="955" b="1" dirty="0">
                <a:solidFill>
                  <a:prstClr val="white"/>
                </a:solidFill>
                <a:latin typeface="Verdana"/>
              </a:rPr>
              <a:t>Team Leader</a:t>
            </a:r>
            <a:endParaRPr sz="955" b="1" dirty="0">
              <a:solidFill>
                <a:prstClr val="white"/>
              </a:solidFill>
              <a:latin typeface="Verdana"/>
            </a:endParaRPr>
          </a:p>
        </p:txBody>
      </p:sp>
      <p:sp>
        <p:nvSpPr>
          <p:cNvPr id="137" name="object 35">
            <a:extLst>
              <a:ext uri="{FF2B5EF4-FFF2-40B4-BE49-F238E27FC236}">
                <a16:creationId xmlns:a16="http://schemas.microsoft.com/office/drawing/2014/main" id="{E4C230D9-13E1-4539-A600-B3BC01241A7B}"/>
              </a:ext>
            </a:extLst>
          </p:cNvPr>
          <p:cNvSpPr/>
          <p:nvPr/>
        </p:nvSpPr>
        <p:spPr>
          <a:xfrm>
            <a:off x="565003" y="1781307"/>
            <a:ext cx="5450400" cy="203727"/>
          </a:xfrm>
          <a:custGeom>
            <a:avLst/>
            <a:gdLst/>
            <a:ahLst/>
            <a:cxnLst/>
            <a:rect l="l" t="t" r="r" b="b"/>
            <a:pathLst>
              <a:path w="2810510" h="216534">
                <a:moveTo>
                  <a:pt x="0" y="216408"/>
                </a:moveTo>
                <a:lnTo>
                  <a:pt x="2810256" y="216408"/>
                </a:lnTo>
                <a:lnTo>
                  <a:pt x="2810256" y="0"/>
                </a:lnTo>
                <a:lnTo>
                  <a:pt x="0" y="0"/>
                </a:lnTo>
                <a:lnTo>
                  <a:pt x="0" y="216408"/>
                </a:lnTo>
                <a:close/>
              </a:path>
            </a:pathLst>
          </a:custGeom>
          <a:ln w="12192">
            <a:solidFill>
              <a:srgbClr val="85BB24"/>
            </a:solidFill>
          </a:ln>
        </p:spPr>
        <p:txBody>
          <a:bodyPr wrap="square" lIns="0" tIns="0" rIns="0" bIns="0" rtlCol="0"/>
          <a:lstStyle/>
          <a:p>
            <a:pPr defTabSz="623438"/>
            <a:endParaRPr sz="1227">
              <a:solidFill>
                <a:prstClr val="black"/>
              </a:solidFill>
              <a:latin typeface="Calibri"/>
            </a:endParaRPr>
          </a:p>
        </p:txBody>
      </p:sp>
      <p:sp>
        <p:nvSpPr>
          <p:cNvPr id="138" name="object 37">
            <a:extLst>
              <a:ext uri="{FF2B5EF4-FFF2-40B4-BE49-F238E27FC236}">
                <a16:creationId xmlns:a16="http://schemas.microsoft.com/office/drawing/2014/main" id="{40674A16-8489-4C14-9A97-497C880E5EA1}"/>
              </a:ext>
            </a:extLst>
          </p:cNvPr>
          <p:cNvSpPr/>
          <p:nvPr/>
        </p:nvSpPr>
        <p:spPr>
          <a:xfrm>
            <a:off x="565004" y="1943667"/>
            <a:ext cx="5450400" cy="1728687"/>
          </a:xfrm>
          <a:custGeom>
            <a:avLst/>
            <a:gdLst/>
            <a:ahLst/>
            <a:cxnLst/>
            <a:rect l="l" t="t" r="r" b="b"/>
            <a:pathLst>
              <a:path w="2810510" h="1164589">
                <a:moveTo>
                  <a:pt x="0" y="1164336"/>
                </a:moveTo>
                <a:lnTo>
                  <a:pt x="2810256" y="1164336"/>
                </a:lnTo>
                <a:lnTo>
                  <a:pt x="2810256" y="0"/>
                </a:lnTo>
                <a:lnTo>
                  <a:pt x="0" y="0"/>
                </a:lnTo>
                <a:lnTo>
                  <a:pt x="0" y="1164336"/>
                </a:lnTo>
                <a:close/>
              </a:path>
            </a:pathLst>
          </a:custGeom>
          <a:ln w="12192">
            <a:solidFill>
              <a:srgbClr val="85BB24"/>
            </a:solidFill>
          </a:ln>
        </p:spPr>
        <p:txBody>
          <a:bodyPr wrap="square" lIns="0" tIns="0" rIns="0" bIns="0" rtlCol="0"/>
          <a:lstStyle/>
          <a:p>
            <a:pPr defTabSz="623438"/>
            <a:endParaRPr sz="1227">
              <a:solidFill>
                <a:prstClr val="black"/>
              </a:solidFill>
              <a:latin typeface="Calibri"/>
            </a:endParaRPr>
          </a:p>
        </p:txBody>
      </p:sp>
      <p:pic>
        <p:nvPicPr>
          <p:cNvPr id="133" name="Picture 4">
            <a:extLst>
              <a:ext uri="{FF2B5EF4-FFF2-40B4-BE49-F238E27FC236}">
                <a16:creationId xmlns:a16="http://schemas.microsoft.com/office/drawing/2014/main" id="{66BB09BD-5BE2-4D1D-BBEB-8E43D971CA82}"/>
              </a:ext>
            </a:extLst>
          </p:cNvPr>
          <p:cNvPicPr>
            <a:picLocks/>
          </p:cNvPicPr>
          <p:nvPr/>
        </p:nvPicPr>
        <p:blipFill>
          <a:blip r:embed="rId7" cstate="email">
            <a:extLst>
              <a:ext uri="{28A0092B-C50C-407E-A947-70E740481C1C}">
                <a14:useLocalDpi xmlns:a14="http://schemas.microsoft.com/office/drawing/2010/main"/>
              </a:ext>
            </a:extLst>
          </a:blip>
          <a:srcRect/>
          <a:stretch/>
        </p:blipFill>
        <p:spPr>
          <a:xfrm>
            <a:off x="703093" y="2047333"/>
            <a:ext cx="666049" cy="506958"/>
          </a:xfrm>
          <a:prstGeom prst="round2DiagRect">
            <a:avLst>
              <a:gd name="adj1" fmla="val 16667"/>
              <a:gd name="adj2" fmla="val 0"/>
            </a:avLst>
          </a:prstGeom>
          <a:ln w="19050" cap="sq">
            <a:solidFill>
              <a:schemeClr val="bg1"/>
            </a:solidFill>
            <a:miter lim="800000"/>
          </a:ln>
          <a:effectLst>
            <a:outerShdw blurRad="254000" algn="tl" rotWithShape="0">
              <a:srgbClr val="000000">
                <a:alpha val="43000"/>
              </a:srgbClr>
            </a:outerShdw>
          </a:effectLst>
        </p:spPr>
      </p:pic>
      <p:sp>
        <p:nvSpPr>
          <p:cNvPr id="134" name="Rectangle 133">
            <a:extLst>
              <a:ext uri="{FF2B5EF4-FFF2-40B4-BE49-F238E27FC236}">
                <a16:creationId xmlns:a16="http://schemas.microsoft.com/office/drawing/2014/main" id="{90D21BFE-8756-4CB5-A85A-99646BE4A85D}"/>
              </a:ext>
            </a:extLst>
          </p:cNvPr>
          <p:cNvSpPr/>
          <p:nvPr/>
        </p:nvSpPr>
        <p:spPr bwMode="gray">
          <a:xfrm>
            <a:off x="1560684" y="2017619"/>
            <a:ext cx="4421028" cy="1607376"/>
          </a:xfrm>
          <a:prstGeom prst="rect">
            <a:avLst/>
          </a:prstGeom>
          <a:solidFill>
            <a:schemeClr val="accent3">
              <a:lumMod val="20000"/>
              <a:lumOff val="80000"/>
            </a:schemeClr>
          </a:solidFill>
          <a:ln w="19050" algn="ctr">
            <a:noFill/>
            <a:miter lim="800000"/>
            <a:headEnd/>
            <a:tailEnd/>
          </a:ln>
        </p:spPr>
        <p:txBody>
          <a:bodyPr wrap="square" lIns="24545" tIns="24545" rIns="24545" bIns="24545" rtlCol="0" anchor="ctr"/>
          <a:lstStyle/>
          <a:p>
            <a:pPr algn="just" defTabSz="623438"/>
            <a:r>
              <a:rPr lang="en-IN" sz="1000" b="1" dirty="0">
                <a:solidFill>
                  <a:prstClr val="black"/>
                </a:solidFill>
                <a:latin typeface="Verdana"/>
                <a:cs typeface="Calibri" panose="020F0502020204030204" pitchFamily="34" charset="0"/>
              </a:rPr>
              <a:t>Experience in WB Power Sector:</a:t>
            </a:r>
          </a:p>
          <a:p>
            <a:pPr marL="116895" indent="-116895" algn="just" defTabSz="623438">
              <a:spcAft>
                <a:spcPts val="205"/>
              </a:spcAft>
              <a:buFont typeface="Arial" panose="020B0604020202020204" pitchFamily="34" charset="0"/>
              <a:buChar char="•"/>
            </a:pPr>
            <a:r>
              <a:rPr lang="en-US" sz="1000" dirty="0">
                <a:solidFill>
                  <a:prstClr val="black"/>
                </a:solidFill>
                <a:latin typeface="Verdana"/>
                <a:cs typeface="Calibri" panose="020F0502020204030204" pitchFamily="34" charset="0"/>
              </a:rPr>
              <a:t>Restructuring of West Bengal utilities Phase I &amp; Phase II, </a:t>
            </a:r>
          </a:p>
          <a:p>
            <a:pPr marL="116895" indent="-116895" algn="just" defTabSz="623438">
              <a:spcAft>
                <a:spcPts val="205"/>
              </a:spcAft>
              <a:buFont typeface="Arial" panose="020B0604020202020204" pitchFamily="34" charset="0"/>
              <a:buChar char="•"/>
            </a:pPr>
            <a:r>
              <a:rPr lang="en-US" sz="1000" dirty="0">
                <a:solidFill>
                  <a:prstClr val="black"/>
                </a:solidFill>
                <a:latin typeface="Verdana"/>
                <a:cs typeface="Calibri" panose="020F0502020204030204" pitchFamily="34" charset="0"/>
              </a:rPr>
              <a:t>WBPDCL Best Practices, Business Operations Strengthening, EE R&amp;M, WBSEDCL Capacity Building</a:t>
            </a:r>
          </a:p>
          <a:p>
            <a:pPr marL="116895" indent="-116895" algn="just" defTabSz="623438">
              <a:spcAft>
                <a:spcPts val="205"/>
              </a:spcAft>
              <a:buFont typeface="Arial" panose="020B0604020202020204" pitchFamily="34" charset="0"/>
              <a:buChar char="•"/>
            </a:pPr>
            <a:r>
              <a:rPr lang="en-US" sz="1000" dirty="0">
                <a:solidFill>
                  <a:prstClr val="black"/>
                </a:solidFill>
                <a:latin typeface="Verdana"/>
                <a:cs typeface="Calibri" panose="020F0502020204030204" pitchFamily="34" charset="0"/>
              </a:rPr>
              <a:t>Financial health &amp; Impact assessment of different business scenarios </a:t>
            </a:r>
            <a:r>
              <a:rPr lang="en-US" sz="1000" dirty="0">
                <a:solidFill>
                  <a:prstClr val="black"/>
                </a:solidFill>
                <a:cs typeface="Calibri" panose="020F0502020204030204" pitchFamily="34" charset="0"/>
              </a:rPr>
              <a:t>of WBSEDCL (World Bank)</a:t>
            </a:r>
            <a:endParaRPr lang="en-US" sz="1000" dirty="0">
              <a:solidFill>
                <a:prstClr val="black"/>
              </a:solidFill>
              <a:latin typeface="Verdana"/>
              <a:cs typeface="Calibri" panose="020F0502020204030204" pitchFamily="34" charset="0"/>
            </a:endParaRPr>
          </a:p>
          <a:p>
            <a:pPr marL="116895" indent="-116895" algn="just" defTabSz="623438">
              <a:spcAft>
                <a:spcPts val="205"/>
              </a:spcAft>
              <a:buFont typeface="Arial" panose="020B0604020202020204" pitchFamily="34" charset="0"/>
              <a:buChar char="•"/>
            </a:pPr>
            <a:r>
              <a:rPr lang="en-US" sz="1000" dirty="0">
                <a:solidFill>
                  <a:prstClr val="black"/>
                </a:solidFill>
                <a:latin typeface="Verdana"/>
                <a:cs typeface="Calibri" panose="020F0502020204030204" pitchFamily="34" charset="0"/>
              </a:rPr>
              <a:t>Regulatory retainership support – WBSEDCL, WBSETCL,</a:t>
            </a:r>
          </a:p>
          <a:p>
            <a:pPr marL="116895" indent="-116895" algn="just" defTabSz="623438">
              <a:spcAft>
                <a:spcPts val="205"/>
              </a:spcAft>
              <a:buFont typeface="Arial" panose="020B0604020202020204" pitchFamily="34" charset="0"/>
              <a:buChar char="•"/>
            </a:pPr>
            <a:r>
              <a:rPr lang="en-US" sz="1000" dirty="0">
                <a:solidFill>
                  <a:prstClr val="black"/>
                </a:solidFill>
                <a:latin typeface="Verdana"/>
                <a:cs typeface="Calibri" panose="020F0502020204030204" pitchFamily="34" charset="0"/>
              </a:rPr>
              <a:t>1320 MW Raghunathpur Phase II Viability Study</a:t>
            </a:r>
          </a:p>
        </p:txBody>
      </p:sp>
      <p:sp>
        <p:nvSpPr>
          <p:cNvPr id="148" name="object 61">
            <a:extLst>
              <a:ext uri="{FF2B5EF4-FFF2-40B4-BE49-F238E27FC236}">
                <a16:creationId xmlns:a16="http://schemas.microsoft.com/office/drawing/2014/main" id="{857453EE-1E0C-4C23-9775-D19C4E4D15C8}"/>
              </a:ext>
            </a:extLst>
          </p:cNvPr>
          <p:cNvSpPr txBox="1"/>
          <p:nvPr/>
        </p:nvSpPr>
        <p:spPr>
          <a:xfrm>
            <a:off x="7239716" y="774225"/>
            <a:ext cx="2938751" cy="433260"/>
          </a:xfrm>
          <a:prstGeom prst="rect">
            <a:avLst/>
          </a:prstGeom>
        </p:spPr>
        <p:txBody>
          <a:bodyPr vert="horz" wrap="square" lIns="24545" tIns="9525" rIns="24545" bIns="0" rtlCol="0">
            <a:spAutoFit/>
          </a:bodyPr>
          <a:lstStyle/>
          <a:p>
            <a:pPr marL="69704" defTabSz="837848">
              <a:lnSpc>
                <a:spcPts val="699"/>
              </a:lnSpc>
              <a:spcBef>
                <a:spcPts val="75"/>
              </a:spcBef>
            </a:pPr>
            <a:r>
              <a:rPr lang="en-US" sz="750" b="1" spc="3" dirty="0">
                <a:solidFill>
                  <a:prstClr val="black"/>
                </a:solidFill>
                <a:latin typeface="Verdana"/>
                <a:cs typeface="Verdana"/>
              </a:rPr>
              <a:t>Strategic Advisor</a:t>
            </a:r>
            <a:endParaRPr sz="750" dirty="0">
              <a:solidFill>
                <a:prstClr val="black"/>
              </a:solidFill>
              <a:latin typeface="Verdana"/>
              <a:cs typeface="Verdana"/>
            </a:endParaRPr>
          </a:p>
          <a:p>
            <a:pPr marL="86589" defTabSz="837848">
              <a:lnSpc>
                <a:spcPct val="150000"/>
              </a:lnSpc>
              <a:spcBef>
                <a:spcPts val="205"/>
              </a:spcBef>
            </a:pPr>
            <a:r>
              <a:rPr sz="716" i="1" spc="-3" dirty="0">
                <a:solidFill>
                  <a:prstClr val="black"/>
                </a:solidFill>
                <a:latin typeface="Verdana"/>
                <a:cs typeface="Verdana"/>
              </a:rPr>
              <a:t>Provide </a:t>
            </a:r>
            <a:r>
              <a:rPr sz="716" i="1" spc="-7" dirty="0">
                <a:solidFill>
                  <a:prstClr val="black"/>
                </a:solidFill>
                <a:latin typeface="Verdana"/>
                <a:cs typeface="Verdana"/>
              </a:rPr>
              <a:t>insight, coach </a:t>
            </a:r>
            <a:r>
              <a:rPr sz="716" i="1" spc="-3" dirty="0">
                <a:solidFill>
                  <a:prstClr val="black"/>
                </a:solidFill>
                <a:latin typeface="Verdana"/>
                <a:cs typeface="Verdana"/>
              </a:rPr>
              <a:t>and challenge </a:t>
            </a:r>
            <a:r>
              <a:rPr sz="716" i="1" spc="-7" dirty="0">
                <a:solidFill>
                  <a:prstClr val="black"/>
                </a:solidFill>
                <a:latin typeface="Verdana"/>
                <a:cs typeface="Verdana"/>
              </a:rPr>
              <a:t>project</a:t>
            </a:r>
            <a:r>
              <a:rPr sz="716" i="1" spc="133" dirty="0">
                <a:solidFill>
                  <a:prstClr val="black"/>
                </a:solidFill>
                <a:latin typeface="Verdana"/>
                <a:cs typeface="Verdana"/>
              </a:rPr>
              <a:t> </a:t>
            </a:r>
            <a:r>
              <a:rPr sz="716" i="1" spc="-3" dirty="0">
                <a:solidFill>
                  <a:prstClr val="black"/>
                </a:solidFill>
                <a:latin typeface="Verdana"/>
                <a:cs typeface="Verdana"/>
              </a:rPr>
              <a:t>team</a:t>
            </a:r>
            <a:r>
              <a:rPr lang="en-US" sz="716" i="1" spc="-3" dirty="0">
                <a:solidFill>
                  <a:prstClr val="black"/>
                </a:solidFill>
                <a:latin typeface="Verdana"/>
                <a:cs typeface="Verdana"/>
              </a:rPr>
              <a:t> </a:t>
            </a:r>
            <a:r>
              <a:rPr sz="716" i="1" spc="-3" dirty="0">
                <a:solidFill>
                  <a:prstClr val="black"/>
                </a:solidFill>
                <a:latin typeface="Verdana"/>
                <a:cs typeface="Verdana"/>
              </a:rPr>
              <a:t>on relevant Energy, </a:t>
            </a:r>
            <a:r>
              <a:rPr sz="716" i="1" spc="-7" dirty="0">
                <a:solidFill>
                  <a:prstClr val="black"/>
                </a:solidFill>
                <a:latin typeface="Verdana"/>
                <a:cs typeface="Verdana"/>
              </a:rPr>
              <a:t>Oil </a:t>
            </a:r>
            <a:r>
              <a:rPr sz="716" i="1" spc="-3" dirty="0">
                <a:solidFill>
                  <a:prstClr val="black"/>
                </a:solidFill>
                <a:latin typeface="Verdana"/>
                <a:cs typeface="Verdana"/>
              </a:rPr>
              <a:t>and Gas</a:t>
            </a:r>
            <a:r>
              <a:rPr sz="716" i="1" spc="75" dirty="0">
                <a:solidFill>
                  <a:prstClr val="black"/>
                </a:solidFill>
                <a:latin typeface="Verdana"/>
                <a:cs typeface="Verdana"/>
              </a:rPr>
              <a:t> </a:t>
            </a:r>
            <a:r>
              <a:rPr sz="716" i="1" spc="-3" dirty="0">
                <a:solidFill>
                  <a:prstClr val="black"/>
                </a:solidFill>
                <a:latin typeface="Verdana"/>
                <a:cs typeface="Verdana"/>
              </a:rPr>
              <a:t>matters</a:t>
            </a:r>
            <a:endParaRPr sz="716" dirty="0">
              <a:solidFill>
                <a:prstClr val="black"/>
              </a:solidFill>
              <a:latin typeface="Verdana"/>
              <a:cs typeface="Verdana"/>
            </a:endParaRPr>
          </a:p>
        </p:txBody>
      </p:sp>
      <p:sp>
        <p:nvSpPr>
          <p:cNvPr id="111" name="object 26">
            <a:extLst>
              <a:ext uri="{FF2B5EF4-FFF2-40B4-BE49-F238E27FC236}">
                <a16:creationId xmlns:a16="http://schemas.microsoft.com/office/drawing/2014/main" id="{882C7B96-B8C9-4405-98DE-1E56828E45C9}"/>
              </a:ext>
            </a:extLst>
          </p:cNvPr>
          <p:cNvSpPr txBox="1"/>
          <p:nvPr/>
        </p:nvSpPr>
        <p:spPr>
          <a:xfrm>
            <a:off x="6281439" y="2546541"/>
            <a:ext cx="939328" cy="808088"/>
          </a:xfrm>
          <a:prstGeom prst="rect">
            <a:avLst/>
          </a:prstGeom>
        </p:spPr>
        <p:txBody>
          <a:bodyPr vert="horz" wrap="square" lIns="0" tIns="7793" rIns="0" bIns="0" rtlCol="0">
            <a:spAutoFit/>
          </a:bodyPr>
          <a:lstStyle/>
          <a:p>
            <a:pPr defTabSz="397435">
              <a:defRPr/>
            </a:pPr>
            <a:r>
              <a:rPr lang="en-US" sz="800" b="1" kern="0" dirty="0">
                <a:solidFill>
                  <a:prstClr val="black"/>
                </a:solidFill>
                <a:latin typeface="Verdana"/>
                <a:ea typeface="Verdana" panose="020B0604030504040204" pitchFamily="34" charset="0"/>
              </a:rPr>
              <a:t>Anirban Bandyopadhyay</a:t>
            </a:r>
          </a:p>
          <a:p>
            <a:pPr defTabSz="397435">
              <a:defRPr/>
            </a:pPr>
            <a:r>
              <a:rPr lang="en-US" sz="900" kern="0" dirty="0">
                <a:solidFill>
                  <a:prstClr val="black"/>
                </a:solidFill>
                <a:latin typeface="Verdana"/>
                <a:ea typeface="Verdana" panose="020B0604030504040204" pitchFamily="34" charset="0"/>
              </a:rPr>
              <a:t>Manager,</a:t>
            </a:r>
            <a:r>
              <a:rPr lang="en-US" sz="900" b="1" kern="0" dirty="0">
                <a:solidFill>
                  <a:prstClr val="black"/>
                </a:solidFill>
                <a:latin typeface="Verdana"/>
                <a:ea typeface="Verdana" panose="020B0604030504040204" pitchFamily="34" charset="0"/>
              </a:rPr>
              <a:t> (12 years)</a:t>
            </a:r>
          </a:p>
          <a:p>
            <a:pPr defTabSz="397435">
              <a:defRPr/>
            </a:pPr>
            <a:r>
              <a:rPr lang="en-US" sz="900" kern="0" dirty="0">
                <a:solidFill>
                  <a:prstClr val="black"/>
                </a:solidFill>
                <a:latin typeface="Verdana"/>
                <a:ea typeface="Verdana" panose="020B0604030504040204" pitchFamily="34" charset="0"/>
              </a:rPr>
              <a:t>(7 years in WB power sector)</a:t>
            </a:r>
          </a:p>
        </p:txBody>
      </p:sp>
      <p:sp>
        <p:nvSpPr>
          <p:cNvPr id="112" name="object 34">
            <a:extLst>
              <a:ext uri="{FF2B5EF4-FFF2-40B4-BE49-F238E27FC236}">
                <a16:creationId xmlns:a16="http://schemas.microsoft.com/office/drawing/2014/main" id="{9782FA07-9E0D-4114-AB4E-46DDD7B6CA0E}"/>
              </a:ext>
            </a:extLst>
          </p:cNvPr>
          <p:cNvSpPr/>
          <p:nvPr/>
        </p:nvSpPr>
        <p:spPr>
          <a:xfrm>
            <a:off x="6218950" y="1715468"/>
            <a:ext cx="5450400" cy="203725"/>
          </a:xfrm>
          <a:custGeom>
            <a:avLst/>
            <a:gdLst/>
            <a:ahLst/>
            <a:cxnLst/>
            <a:rect l="l" t="t" r="r" b="b"/>
            <a:pathLst>
              <a:path w="2810510" h="216534">
                <a:moveTo>
                  <a:pt x="0" y="216408"/>
                </a:moveTo>
                <a:lnTo>
                  <a:pt x="2810256" y="216408"/>
                </a:lnTo>
                <a:lnTo>
                  <a:pt x="2810256" y="0"/>
                </a:lnTo>
                <a:lnTo>
                  <a:pt x="0" y="0"/>
                </a:lnTo>
                <a:lnTo>
                  <a:pt x="0" y="216408"/>
                </a:lnTo>
                <a:close/>
              </a:path>
            </a:pathLst>
          </a:custGeom>
          <a:solidFill>
            <a:srgbClr val="85BB24"/>
          </a:solidFill>
        </p:spPr>
        <p:txBody>
          <a:bodyPr wrap="square" lIns="0" tIns="0" rIns="0" bIns="0" rtlCol="0" anchor="ctr"/>
          <a:lstStyle/>
          <a:p>
            <a:pPr algn="ctr" defTabSz="623438"/>
            <a:r>
              <a:rPr lang="en-US" sz="955" b="1" dirty="0">
                <a:solidFill>
                  <a:prstClr val="white"/>
                </a:solidFill>
                <a:latin typeface="Verdana"/>
              </a:rPr>
              <a:t>Project Manager</a:t>
            </a:r>
          </a:p>
        </p:txBody>
      </p:sp>
      <p:sp>
        <p:nvSpPr>
          <p:cNvPr id="113" name="object 35">
            <a:extLst>
              <a:ext uri="{FF2B5EF4-FFF2-40B4-BE49-F238E27FC236}">
                <a16:creationId xmlns:a16="http://schemas.microsoft.com/office/drawing/2014/main" id="{6BB73627-72FC-42B0-BA71-5E0C3882D2A3}"/>
              </a:ext>
            </a:extLst>
          </p:cNvPr>
          <p:cNvSpPr/>
          <p:nvPr/>
        </p:nvSpPr>
        <p:spPr>
          <a:xfrm>
            <a:off x="6219813" y="1715489"/>
            <a:ext cx="5450400" cy="203725"/>
          </a:xfrm>
          <a:custGeom>
            <a:avLst/>
            <a:gdLst/>
            <a:ahLst/>
            <a:cxnLst/>
            <a:rect l="l" t="t" r="r" b="b"/>
            <a:pathLst>
              <a:path w="2810510" h="216534">
                <a:moveTo>
                  <a:pt x="0" y="216408"/>
                </a:moveTo>
                <a:lnTo>
                  <a:pt x="2810256" y="216408"/>
                </a:lnTo>
                <a:lnTo>
                  <a:pt x="2810256" y="0"/>
                </a:lnTo>
                <a:lnTo>
                  <a:pt x="0" y="0"/>
                </a:lnTo>
                <a:lnTo>
                  <a:pt x="0" y="216408"/>
                </a:lnTo>
                <a:close/>
              </a:path>
            </a:pathLst>
          </a:custGeom>
          <a:ln w="12192">
            <a:solidFill>
              <a:srgbClr val="85BB24"/>
            </a:solidFill>
          </a:ln>
        </p:spPr>
        <p:txBody>
          <a:bodyPr wrap="square" lIns="0" tIns="0" rIns="0" bIns="0" rtlCol="0"/>
          <a:lstStyle/>
          <a:p>
            <a:pPr defTabSz="623438"/>
            <a:endParaRPr sz="1227">
              <a:solidFill>
                <a:prstClr val="black"/>
              </a:solidFill>
              <a:latin typeface="Calibri"/>
            </a:endParaRPr>
          </a:p>
        </p:txBody>
      </p:sp>
      <p:sp>
        <p:nvSpPr>
          <p:cNvPr id="114" name="object 37">
            <a:extLst>
              <a:ext uri="{FF2B5EF4-FFF2-40B4-BE49-F238E27FC236}">
                <a16:creationId xmlns:a16="http://schemas.microsoft.com/office/drawing/2014/main" id="{AC4C9ACC-6A89-4447-89EE-1E89E5B52C43}"/>
              </a:ext>
            </a:extLst>
          </p:cNvPr>
          <p:cNvSpPr/>
          <p:nvPr/>
        </p:nvSpPr>
        <p:spPr>
          <a:xfrm>
            <a:off x="6219812" y="1922543"/>
            <a:ext cx="5450400" cy="1732435"/>
          </a:xfrm>
          <a:custGeom>
            <a:avLst/>
            <a:gdLst/>
            <a:ahLst/>
            <a:cxnLst/>
            <a:rect l="l" t="t" r="r" b="b"/>
            <a:pathLst>
              <a:path w="2810510" h="1164589">
                <a:moveTo>
                  <a:pt x="0" y="1164336"/>
                </a:moveTo>
                <a:lnTo>
                  <a:pt x="2810256" y="1164336"/>
                </a:lnTo>
                <a:lnTo>
                  <a:pt x="2810256" y="0"/>
                </a:lnTo>
                <a:lnTo>
                  <a:pt x="0" y="0"/>
                </a:lnTo>
                <a:lnTo>
                  <a:pt x="0" y="1164336"/>
                </a:lnTo>
                <a:close/>
              </a:path>
            </a:pathLst>
          </a:custGeom>
          <a:ln w="12192">
            <a:solidFill>
              <a:srgbClr val="85BB24"/>
            </a:solidFill>
          </a:ln>
        </p:spPr>
        <p:txBody>
          <a:bodyPr wrap="square" lIns="0" tIns="0" rIns="0" bIns="0" rtlCol="0"/>
          <a:lstStyle/>
          <a:p>
            <a:pPr defTabSz="623438"/>
            <a:endParaRPr sz="1227">
              <a:solidFill>
                <a:prstClr val="black"/>
              </a:solidFill>
              <a:latin typeface="Calibri"/>
            </a:endParaRPr>
          </a:p>
        </p:txBody>
      </p:sp>
      <p:sp>
        <p:nvSpPr>
          <p:cNvPr id="110" name="Rectangle 109">
            <a:extLst>
              <a:ext uri="{FF2B5EF4-FFF2-40B4-BE49-F238E27FC236}">
                <a16:creationId xmlns:a16="http://schemas.microsoft.com/office/drawing/2014/main" id="{48342D1C-4F6E-44C2-A50C-219A6C8DF687}"/>
              </a:ext>
            </a:extLst>
          </p:cNvPr>
          <p:cNvSpPr/>
          <p:nvPr/>
        </p:nvSpPr>
        <p:spPr bwMode="gray">
          <a:xfrm>
            <a:off x="7224829" y="1982557"/>
            <a:ext cx="4402167" cy="1562554"/>
          </a:xfrm>
          <a:prstGeom prst="rect">
            <a:avLst/>
          </a:prstGeom>
          <a:solidFill>
            <a:schemeClr val="accent1">
              <a:lumMod val="20000"/>
              <a:lumOff val="80000"/>
            </a:schemeClr>
          </a:solidFill>
          <a:ln w="19050" algn="ctr">
            <a:noFill/>
            <a:miter lim="800000"/>
            <a:headEnd/>
            <a:tailEnd/>
          </a:ln>
        </p:spPr>
        <p:txBody>
          <a:bodyPr wrap="square" lIns="24545" tIns="24545" rIns="24545" bIns="24545" rtlCol="0" anchor="ctr"/>
          <a:lstStyle/>
          <a:p>
            <a:pPr algn="just" defTabSz="623438"/>
            <a:r>
              <a:rPr lang="en-IN" sz="1000" b="1" dirty="0">
                <a:solidFill>
                  <a:prstClr val="black"/>
                </a:solidFill>
                <a:latin typeface="Verdana"/>
                <a:cs typeface="Calibri" panose="020F0502020204030204" pitchFamily="34" charset="0"/>
              </a:rPr>
              <a:t>Experience in WB Power Sector:</a:t>
            </a:r>
          </a:p>
          <a:p>
            <a:pPr marL="116895" indent="-116895" algn="just" defTabSz="623438">
              <a:buFont typeface="Arial" panose="020B0604020202020204" pitchFamily="34" charset="0"/>
              <a:buChar char="•"/>
            </a:pPr>
            <a:r>
              <a:rPr lang="en-US" sz="1000" dirty="0">
                <a:solidFill>
                  <a:prstClr val="black"/>
                </a:solidFill>
                <a:latin typeface="Verdana"/>
                <a:cs typeface="Calibri" panose="020F0502020204030204" pitchFamily="34" charset="0"/>
              </a:rPr>
              <a:t>Regulatory retainership support - WBSEDCL &amp; DVC</a:t>
            </a:r>
          </a:p>
          <a:p>
            <a:pPr marL="116895" indent="-116895" algn="just" defTabSz="623438">
              <a:spcAft>
                <a:spcPts val="205"/>
              </a:spcAft>
              <a:buFont typeface="Arial" panose="020B0604020202020204" pitchFamily="34" charset="0"/>
              <a:buChar char="•"/>
            </a:pPr>
            <a:r>
              <a:rPr lang="en-US" sz="1000" dirty="0">
                <a:solidFill>
                  <a:prstClr val="black"/>
                </a:solidFill>
                <a:latin typeface="Verdana"/>
                <a:cs typeface="Calibri" panose="020F0502020204030204" pitchFamily="34" charset="0"/>
              </a:rPr>
              <a:t>Assessment of Financial health of WBSEDCL</a:t>
            </a:r>
          </a:p>
          <a:p>
            <a:pPr marL="116895" indent="-116895" algn="just" defTabSz="623438">
              <a:spcAft>
                <a:spcPts val="205"/>
              </a:spcAft>
              <a:buFont typeface="Arial" panose="020B0604020202020204" pitchFamily="34" charset="0"/>
              <a:buChar char="•"/>
            </a:pPr>
            <a:r>
              <a:rPr lang="en-US" sz="1000" dirty="0">
                <a:solidFill>
                  <a:prstClr val="black"/>
                </a:solidFill>
                <a:latin typeface="Verdana"/>
                <a:cs typeface="Calibri" panose="020F0502020204030204" pitchFamily="34" charset="0"/>
              </a:rPr>
              <a:t>1320 MW Raghunathpur Phase II Viability Study</a:t>
            </a:r>
          </a:p>
          <a:p>
            <a:pPr marL="116895" indent="-116895" algn="just" defTabSz="623438">
              <a:spcAft>
                <a:spcPts val="205"/>
              </a:spcAft>
              <a:buFont typeface="Arial" panose="020B0604020202020204" pitchFamily="34" charset="0"/>
              <a:buChar char="•"/>
            </a:pPr>
            <a:r>
              <a:rPr lang="en-US" sz="1000" dirty="0">
                <a:solidFill>
                  <a:prstClr val="black"/>
                </a:solidFill>
                <a:latin typeface="Verdana"/>
                <a:cs typeface="Calibri" panose="020F0502020204030204" pitchFamily="34" charset="0"/>
              </a:rPr>
              <a:t>Impact assessment of different business scenarios (WBSEDCL)</a:t>
            </a:r>
          </a:p>
          <a:p>
            <a:pPr marL="116895" indent="-116895" algn="just" defTabSz="623438">
              <a:buFont typeface="Arial" panose="020B0604020202020204" pitchFamily="34" charset="0"/>
              <a:buChar char="•"/>
            </a:pPr>
            <a:r>
              <a:rPr lang="en-US" sz="1000" dirty="0">
                <a:solidFill>
                  <a:prstClr val="black"/>
                </a:solidFill>
                <a:latin typeface="Verdana"/>
                <a:cs typeface="Calibri" panose="020F0502020204030204" pitchFamily="34" charset="0"/>
              </a:rPr>
              <a:t>Intra-state T&amp;D Investment Plan improvement of WB &amp; AP</a:t>
            </a:r>
          </a:p>
          <a:p>
            <a:pPr marL="116895" indent="-116895" algn="just" defTabSz="623438">
              <a:buFont typeface="Arial" panose="020B0604020202020204" pitchFamily="34" charset="0"/>
              <a:buChar char="•"/>
            </a:pPr>
            <a:r>
              <a:rPr lang="en-US" sz="1000" dirty="0">
                <a:solidFill>
                  <a:prstClr val="black"/>
                </a:solidFill>
                <a:latin typeface="Verdana"/>
                <a:cs typeface="Calibri" panose="020F0502020204030204" pitchFamily="34" charset="0"/>
              </a:rPr>
              <a:t>CIL Diversification PMO (REW, Solar, Thermal)</a:t>
            </a:r>
          </a:p>
          <a:p>
            <a:pPr marL="116895" indent="-116895" algn="just" defTabSz="623438">
              <a:buFont typeface="Arial" panose="020B0604020202020204" pitchFamily="34" charset="0"/>
              <a:buChar char="•"/>
            </a:pPr>
            <a:r>
              <a:rPr lang="en-US" sz="1000" dirty="0">
                <a:solidFill>
                  <a:prstClr val="black"/>
                </a:solidFill>
                <a:latin typeface="Verdana"/>
                <a:cs typeface="Calibri" panose="020F0502020204030204" pitchFamily="34" charset="0"/>
              </a:rPr>
              <a:t>Road Map for providing 24X7 Power For All (PFA) in various States (WB) and UTs in India</a:t>
            </a:r>
          </a:p>
        </p:txBody>
      </p:sp>
      <p:pic>
        <p:nvPicPr>
          <p:cNvPr id="139" name="Picture 138">
            <a:extLst>
              <a:ext uri="{FF2B5EF4-FFF2-40B4-BE49-F238E27FC236}">
                <a16:creationId xmlns:a16="http://schemas.microsoft.com/office/drawing/2014/main" id="{D40D38A8-9A35-4220-B961-C47294C125A7}"/>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355936" y="2007503"/>
            <a:ext cx="642452" cy="506957"/>
          </a:xfrm>
          <a:prstGeom prst="round2DiagRect">
            <a:avLst>
              <a:gd name="adj1" fmla="val 16667"/>
              <a:gd name="adj2" fmla="val 0"/>
            </a:avLst>
          </a:prstGeom>
          <a:ln w="19050" cap="sq">
            <a:solidFill>
              <a:schemeClr val="bg1"/>
            </a:solidFill>
            <a:miter lim="800000"/>
          </a:ln>
          <a:effectLst>
            <a:outerShdw blurRad="254000" algn="tl" rotWithShape="0">
              <a:srgbClr val="000000">
                <a:alpha val="43000"/>
              </a:srgbClr>
            </a:outerShdw>
            <a:softEdge rad="0"/>
          </a:effectLst>
        </p:spPr>
      </p:pic>
      <p:sp>
        <p:nvSpPr>
          <p:cNvPr id="158" name="Text Placeholder 4">
            <a:extLst>
              <a:ext uri="{FF2B5EF4-FFF2-40B4-BE49-F238E27FC236}">
                <a16:creationId xmlns:a16="http://schemas.microsoft.com/office/drawing/2014/main" id="{770A7032-3AE4-4EFD-BFD0-66C7E83B313F}"/>
              </a:ext>
            </a:extLst>
          </p:cNvPr>
          <p:cNvSpPr txBox="1">
            <a:spLocks/>
          </p:cNvSpPr>
          <p:nvPr/>
        </p:nvSpPr>
        <p:spPr>
          <a:xfrm>
            <a:off x="496594" y="4709672"/>
            <a:ext cx="5518806" cy="246221"/>
          </a:xfrm>
          <a:prstGeom prst="rect">
            <a:avLst/>
          </a:prstGeom>
          <a:solidFill>
            <a:srgbClr val="E3E4E5"/>
          </a:solidFill>
        </p:spPr>
        <p:txBody>
          <a:bodyPr wrap="square">
            <a:spAutoFit/>
          </a:bodyPr>
          <a:lstStyle>
            <a:lvl1pPr marL="0" indent="0" algn="l" defTabSz="1341150" rtl="0" eaLnBrk="1" latinLnBrk="0" hangingPunct="1">
              <a:spcBef>
                <a:spcPts val="0"/>
              </a:spcBef>
              <a:spcAft>
                <a:spcPts val="1467"/>
              </a:spcAft>
              <a:buSzPct val="100000"/>
              <a:buFont typeface="Arial" panose="020B0604020202020204" pitchFamily="34" charset="0"/>
              <a:buNone/>
              <a:defRPr sz="1613" b="0" kern="1200">
                <a:solidFill>
                  <a:schemeClr val="tx1"/>
                </a:solidFill>
                <a:latin typeface="+mn-lt"/>
                <a:ea typeface="+mn-ea"/>
                <a:cs typeface="+mn-cs"/>
              </a:defRPr>
            </a:lvl1pPr>
            <a:lvl2pPr marL="0" indent="0" algn="l" defTabSz="1341150" rtl="0" eaLnBrk="1" latinLnBrk="0" hangingPunct="1">
              <a:spcBef>
                <a:spcPts val="0"/>
              </a:spcBef>
              <a:spcAft>
                <a:spcPts val="1467"/>
              </a:spcAft>
              <a:buClrTx/>
              <a:buSzPct val="100000"/>
              <a:buFont typeface="Arial"/>
              <a:buNone/>
              <a:defRPr lang="en-US" sz="1613" b="1" kern="1200" dirty="0" smtClean="0">
                <a:solidFill>
                  <a:schemeClr val="tx1"/>
                </a:solidFill>
                <a:latin typeface="+mn-lt"/>
                <a:ea typeface="+mn-ea"/>
                <a:cs typeface="+mn-cs"/>
              </a:defRPr>
            </a:lvl2pPr>
            <a:lvl3pPr marL="258726" indent="-258726" algn="l" defTabSz="1341150" rtl="0" eaLnBrk="1" latinLnBrk="0" hangingPunct="1">
              <a:spcBef>
                <a:spcPts val="0"/>
              </a:spcBef>
              <a:spcAft>
                <a:spcPts val="1467"/>
              </a:spcAft>
              <a:buClrTx/>
              <a:buSzPct val="100000"/>
              <a:buFont typeface="Arial" panose="020B0604020202020204" pitchFamily="34" charset="0"/>
              <a:buChar char="•"/>
              <a:defRPr lang="en-US" sz="1613" kern="1200" dirty="0" smtClean="0">
                <a:solidFill>
                  <a:schemeClr val="tx1"/>
                </a:solidFill>
                <a:latin typeface="+mn-lt"/>
                <a:ea typeface="+mn-ea"/>
                <a:cs typeface="+mn-cs"/>
              </a:defRPr>
            </a:lvl3pPr>
            <a:lvl4pPr marL="522732" indent="-258726" algn="l" defTabSz="1341150" rtl="0" eaLnBrk="1" latinLnBrk="0" hangingPunct="1">
              <a:spcBef>
                <a:spcPts val="0"/>
              </a:spcBef>
              <a:spcAft>
                <a:spcPts val="1467"/>
              </a:spcAft>
              <a:buClrTx/>
              <a:buSzPct val="100000"/>
              <a:buFont typeface="Verdana" panose="020B0604030504040204" pitchFamily="34" charset="0"/>
              <a:buChar char="−"/>
              <a:defRPr lang="en-US" sz="1613" kern="1200" baseline="0" dirty="0" smtClean="0">
                <a:solidFill>
                  <a:schemeClr val="tx1"/>
                </a:solidFill>
                <a:latin typeface="+mn-lt"/>
                <a:ea typeface="+mn-ea"/>
                <a:cs typeface="+mn-cs"/>
              </a:defRPr>
            </a:lvl4pPr>
            <a:lvl5pPr marL="781458" indent="-258726" algn="l" defTabSz="1171179" rtl="0" eaLnBrk="1" latinLnBrk="0" hangingPunct="1">
              <a:spcBef>
                <a:spcPts val="0"/>
              </a:spcBef>
              <a:spcAft>
                <a:spcPts val="1467"/>
              </a:spcAft>
              <a:buClrTx/>
              <a:buSzPct val="100000"/>
              <a:buFont typeface="Verdana" panose="020B0604030504040204" pitchFamily="34" charset="0"/>
              <a:buChar char="−"/>
              <a:tabLst/>
              <a:defRPr lang="en-US" sz="1613" kern="1200" baseline="0" dirty="0" smtClean="0">
                <a:solidFill>
                  <a:schemeClr val="tx1"/>
                </a:solidFill>
                <a:latin typeface="+mn-lt"/>
                <a:ea typeface="+mn-ea"/>
                <a:cs typeface="+mn-cs"/>
              </a:defRPr>
            </a:lvl5pPr>
            <a:lvl6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6pPr>
            <a:lvl7pPr marL="781458" indent="-258726" algn="l" defTabSz="1341150" rtl="0" eaLnBrk="1" latinLnBrk="0" hangingPunct="1">
              <a:spcBef>
                <a:spcPts val="0"/>
              </a:spcBef>
              <a:spcAft>
                <a:spcPts val="1467"/>
              </a:spcAft>
              <a:buFont typeface="Verdana" panose="020B0604030504040204" pitchFamily="34" charset="0"/>
              <a:buChar char="−"/>
              <a:defRPr sz="1760" kern="1200">
                <a:solidFill>
                  <a:schemeClr val="tx1"/>
                </a:solidFill>
                <a:latin typeface="+mn-lt"/>
                <a:ea typeface="+mn-ea"/>
                <a:cs typeface="+mn-cs"/>
              </a:defRPr>
            </a:lvl7pPr>
            <a:lvl8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8pPr>
            <a:lvl9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9pPr>
          </a:lstStyle>
          <a:p>
            <a:pPr algn="ctr" defTabSz="914396">
              <a:spcAft>
                <a:spcPts val="1000"/>
              </a:spcAft>
            </a:pPr>
            <a:r>
              <a:rPr lang="en-US" sz="1000" b="1" dirty="0" err="1">
                <a:solidFill>
                  <a:prstClr val="black"/>
                </a:solidFill>
                <a:latin typeface="Verdana"/>
              </a:rPr>
              <a:t>Sayantan’s</a:t>
            </a:r>
            <a:r>
              <a:rPr lang="en-US" sz="1000" b="1" dirty="0">
                <a:solidFill>
                  <a:prstClr val="black"/>
                </a:solidFill>
                <a:latin typeface="Verdana"/>
              </a:rPr>
              <a:t> category wise footprint in Power Sector (no. of project)</a:t>
            </a:r>
          </a:p>
        </p:txBody>
      </p:sp>
      <p:sp>
        <p:nvSpPr>
          <p:cNvPr id="160" name="Text Placeholder 4">
            <a:extLst>
              <a:ext uri="{FF2B5EF4-FFF2-40B4-BE49-F238E27FC236}">
                <a16:creationId xmlns:a16="http://schemas.microsoft.com/office/drawing/2014/main" id="{6139FBDD-050F-4D83-86EB-80315EE4C712}"/>
              </a:ext>
            </a:extLst>
          </p:cNvPr>
          <p:cNvSpPr txBox="1">
            <a:spLocks/>
          </p:cNvSpPr>
          <p:nvPr/>
        </p:nvSpPr>
        <p:spPr>
          <a:xfrm>
            <a:off x="6190310" y="4701402"/>
            <a:ext cx="5468242" cy="246221"/>
          </a:xfrm>
          <a:prstGeom prst="rect">
            <a:avLst/>
          </a:prstGeom>
          <a:solidFill>
            <a:srgbClr val="E3E4E5"/>
          </a:solidFill>
        </p:spPr>
        <p:txBody>
          <a:bodyPr wrap="square">
            <a:spAutoFit/>
          </a:bodyPr>
          <a:lstStyle>
            <a:lvl1pPr marL="0" indent="0" algn="l" defTabSz="1341150" rtl="0" eaLnBrk="1" latinLnBrk="0" hangingPunct="1">
              <a:spcBef>
                <a:spcPts val="0"/>
              </a:spcBef>
              <a:spcAft>
                <a:spcPts val="1467"/>
              </a:spcAft>
              <a:buSzPct val="100000"/>
              <a:buFont typeface="Arial" panose="020B0604020202020204" pitchFamily="34" charset="0"/>
              <a:buNone/>
              <a:defRPr sz="1613" b="0" kern="1200">
                <a:solidFill>
                  <a:schemeClr val="tx1"/>
                </a:solidFill>
                <a:latin typeface="+mn-lt"/>
                <a:ea typeface="+mn-ea"/>
                <a:cs typeface="+mn-cs"/>
              </a:defRPr>
            </a:lvl1pPr>
            <a:lvl2pPr marL="0" indent="0" algn="l" defTabSz="1341150" rtl="0" eaLnBrk="1" latinLnBrk="0" hangingPunct="1">
              <a:spcBef>
                <a:spcPts val="0"/>
              </a:spcBef>
              <a:spcAft>
                <a:spcPts val="1467"/>
              </a:spcAft>
              <a:buClrTx/>
              <a:buSzPct val="100000"/>
              <a:buFont typeface="Arial"/>
              <a:buNone/>
              <a:defRPr lang="en-US" sz="1613" b="1" kern="1200" dirty="0" smtClean="0">
                <a:solidFill>
                  <a:schemeClr val="tx1"/>
                </a:solidFill>
                <a:latin typeface="+mn-lt"/>
                <a:ea typeface="+mn-ea"/>
                <a:cs typeface="+mn-cs"/>
              </a:defRPr>
            </a:lvl2pPr>
            <a:lvl3pPr marL="258726" indent="-258726" algn="l" defTabSz="1341150" rtl="0" eaLnBrk="1" latinLnBrk="0" hangingPunct="1">
              <a:spcBef>
                <a:spcPts val="0"/>
              </a:spcBef>
              <a:spcAft>
                <a:spcPts val="1467"/>
              </a:spcAft>
              <a:buClrTx/>
              <a:buSzPct val="100000"/>
              <a:buFont typeface="Arial" panose="020B0604020202020204" pitchFamily="34" charset="0"/>
              <a:buChar char="•"/>
              <a:defRPr lang="en-US" sz="1613" kern="1200" dirty="0" smtClean="0">
                <a:solidFill>
                  <a:schemeClr val="tx1"/>
                </a:solidFill>
                <a:latin typeface="+mn-lt"/>
                <a:ea typeface="+mn-ea"/>
                <a:cs typeface="+mn-cs"/>
              </a:defRPr>
            </a:lvl3pPr>
            <a:lvl4pPr marL="522732" indent="-258726" algn="l" defTabSz="1341150" rtl="0" eaLnBrk="1" latinLnBrk="0" hangingPunct="1">
              <a:spcBef>
                <a:spcPts val="0"/>
              </a:spcBef>
              <a:spcAft>
                <a:spcPts val="1467"/>
              </a:spcAft>
              <a:buClrTx/>
              <a:buSzPct val="100000"/>
              <a:buFont typeface="Verdana" panose="020B0604030504040204" pitchFamily="34" charset="0"/>
              <a:buChar char="−"/>
              <a:defRPr lang="en-US" sz="1613" kern="1200" baseline="0" dirty="0" smtClean="0">
                <a:solidFill>
                  <a:schemeClr val="tx1"/>
                </a:solidFill>
                <a:latin typeface="+mn-lt"/>
                <a:ea typeface="+mn-ea"/>
                <a:cs typeface="+mn-cs"/>
              </a:defRPr>
            </a:lvl4pPr>
            <a:lvl5pPr marL="781458" indent="-258726" algn="l" defTabSz="1171179" rtl="0" eaLnBrk="1" latinLnBrk="0" hangingPunct="1">
              <a:spcBef>
                <a:spcPts val="0"/>
              </a:spcBef>
              <a:spcAft>
                <a:spcPts val="1467"/>
              </a:spcAft>
              <a:buClrTx/>
              <a:buSzPct val="100000"/>
              <a:buFont typeface="Verdana" panose="020B0604030504040204" pitchFamily="34" charset="0"/>
              <a:buChar char="−"/>
              <a:tabLst/>
              <a:defRPr lang="en-US" sz="1613" kern="1200" baseline="0" dirty="0" smtClean="0">
                <a:solidFill>
                  <a:schemeClr val="tx1"/>
                </a:solidFill>
                <a:latin typeface="+mn-lt"/>
                <a:ea typeface="+mn-ea"/>
                <a:cs typeface="+mn-cs"/>
              </a:defRPr>
            </a:lvl5pPr>
            <a:lvl6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6pPr>
            <a:lvl7pPr marL="781458" indent="-258726" algn="l" defTabSz="1341150" rtl="0" eaLnBrk="1" latinLnBrk="0" hangingPunct="1">
              <a:spcBef>
                <a:spcPts val="0"/>
              </a:spcBef>
              <a:spcAft>
                <a:spcPts val="1467"/>
              </a:spcAft>
              <a:buFont typeface="Verdana" panose="020B0604030504040204" pitchFamily="34" charset="0"/>
              <a:buChar char="−"/>
              <a:defRPr sz="1760" kern="1200">
                <a:solidFill>
                  <a:schemeClr val="tx1"/>
                </a:solidFill>
                <a:latin typeface="+mn-lt"/>
                <a:ea typeface="+mn-ea"/>
                <a:cs typeface="+mn-cs"/>
              </a:defRPr>
            </a:lvl7pPr>
            <a:lvl8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8pPr>
            <a:lvl9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9pPr>
          </a:lstStyle>
          <a:p>
            <a:pPr algn="ctr" defTabSz="914396">
              <a:spcAft>
                <a:spcPts val="1000"/>
              </a:spcAft>
            </a:pPr>
            <a:r>
              <a:rPr lang="en-US" sz="1000" b="1" dirty="0">
                <a:solidFill>
                  <a:prstClr val="black"/>
                </a:solidFill>
                <a:latin typeface="Verdana"/>
              </a:rPr>
              <a:t>Anirban’s category wise footprint in Power Sector (no. of project)</a:t>
            </a:r>
          </a:p>
        </p:txBody>
      </p:sp>
      <p:grpSp>
        <p:nvGrpSpPr>
          <p:cNvPr id="13" name="Group 12">
            <a:extLst>
              <a:ext uri="{FF2B5EF4-FFF2-40B4-BE49-F238E27FC236}">
                <a16:creationId xmlns:a16="http://schemas.microsoft.com/office/drawing/2014/main" id="{0BF45832-CC7B-4E68-B687-92C217DA807D}"/>
              </a:ext>
            </a:extLst>
          </p:cNvPr>
          <p:cNvGrpSpPr/>
          <p:nvPr/>
        </p:nvGrpSpPr>
        <p:grpSpPr>
          <a:xfrm>
            <a:off x="4052036" y="696916"/>
            <a:ext cx="2938751" cy="936227"/>
            <a:chOff x="553800" y="707007"/>
            <a:chExt cx="2994501" cy="1113305"/>
          </a:xfrm>
        </p:grpSpPr>
        <p:sp>
          <p:nvSpPr>
            <p:cNvPr id="88" name="object 26">
              <a:extLst>
                <a:ext uri="{FF2B5EF4-FFF2-40B4-BE49-F238E27FC236}">
                  <a16:creationId xmlns:a16="http://schemas.microsoft.com/office/drawing/2014/main" id="{96E01640-4F75-414A-BF46-16C2E1895364}"/>
                </a:ext>
              </a:extLst>
            </p:cNvPr>
            <p:cNvSpPr txBox="1"/>
            <p:nvPr/>
          </p:nvSpPr>
          <p:spPr>
            <a:xfrm>
              <a:off x="717480" y="1523866"/>
              <a:ext cx="1337330" cy="238702"/>
            </a:xfrm>
            <a:prstGeom prst="rect">
              <a:avLst/>
            </a:prstGeom>
          </p:spPr>
          <p:txBody>
            <a:bodyPr vert="horz" wrap="square" lIns="0" tIns="7793" rIns="0" bIns="0" rtlCol="0">
              <a:spAutoFit/>
            </a:bodyPr>
            <a:lstStyle/>
            <a:p>
              <a:pPr defTabSz="397435">
                <a:defRPr/>
              </a:pPr>
              <a:r>
                <a:rPr lang="en-US" sz="750" b="1" kern="0" dirty="0">
                  <a:solidFill>
                    <a:prstClr val="black"/>
                  </a:solidFill>
                  <a:latin typeface="Verdana"/>
                  <a:ea typeface="Verdana" panose="020B0604030504040204" pitchFamily="34" charset="0"/>
                </a:rPr>
                <a:t>Shubhranshu Patnaik</a:t>
              </a:r>
            </a:p>
            <a:p>
              <a:pPr defTabSz="397435">
                <a:defRPr/>
              </a:pPr>
              <a:r>
                <a:rPr lang="en-US" sz="750" i="1" kern="0" dirty="0">
                  <a:solidFill>
                    <a:prstClr val="black"/>
                  </a:solidFill>
                  <a:latin typeface="Verdana"/>
                  <a:ea typeface="Verdana" panose="020B0604030504040204" pitchFamily="34" charset="0"/>
                </a:rPr>
                <a:t>Partner, Deloitte</a:t>
              </a:r>
              <a:endParaRPr lang="en-US" sz="750" b="1" i="1" kern="0" dirty="0">
                <a:solidFill>
                  <a:prstClr val="black"/>
                </a:solidFill>
                <a:latin typeface="Verdana"/>
                <a:ea typeface="Verdana" panose="020B0604030504040204" pitchFamily="34" charset="0"/>
              </a:endParaRPr>
            </a:p>
          </p:txBody>
        </p:sp>
        <p:sp>
          <p:nvSpPr>
            <p:cNvPr id="89" name="object 34">
              <a:extLst>
                <a:ext uri="{FF2B5EF4-FFF2-40B4-BE49-F238E27FC236}">
                  <a16:creationId xmlns:a16="http://schemas.microsoft.com/office/drawing/2014/main" id="{C6A61CC2-C387-4574-8997-938A89939325}"/>
                </a:ext>
              </a:extLst>
            </p:cNvPr>
            <p:cNvSpPr/>
            <p:nvPr/>
          </p:nvSpPr>
          <p:spPr>
            <a:xfrm>
              <a:off x="605379" y="771135"/>
              <a:ext cx="2881961" cy="203490"/>
            </a:xfrm>
            <a:custGeom>
              <a:avLst/>
              <a:gdLst/>
              <a:ahLst/>
              <a:cxnLst/>
              <a:rect l="l" t="t" r="r" b="b"/>
              <a:pathLst>
                <a:path w="2810510" h="216534">
                  <a:moveTo>
                    <a:pt x="0" y="216408"/>
                  </a:moveTo>
                  <a:lnTo>
                    <a:pt x="2810256" y="216408"/>
                  </a:lnTo>
                  <a:lnTo>
                    <a:pt x="2810256" y="0"/>
                  </a:lnTo>
                  <a:lnTo>
                    <a:pt x="0" y="0"/>
                  </a:lnTo>
                  <a:lnTo>
                    <a:pt x="0" y="216408"/>
                  </a:lnTo>
                  <a:close/>
                </a:path>
              </a:pathLst>
            </a:custGeom>
            <a:solidFill>
              <a:srgbClr val="85BB24"/>
            </a:solidFill>
          </p:spPr>
          <p:txBody>
            <a:bodyPr wrap="square" lIns="0" tIns="0" rIns="0" bIns="0" rtlCol="0" anchor="ctr"/>
            <a:lstStyle/>
            <a:p>
              <a:pPr algn="ctr" defTabSz="623438"/>
              <a:r>
                <a:rPr lang="en-US" sz="955" b="1" dirty="0">
                  <a:solidFill>
                    <a:prstClr val="white"/>
                  </a:solidFill>
                  <a:latin typeface="Verdana"/>
                </a:rPr>
                <a:t>Strategic Advisors</a:t>
              </a:r>
              <a:endParaRPr sz="955" b="1" dirty="0">
                <a:solidFill>
                  <a:prstClr val="white"/>
                </a:solidFill>
                <a:latin typeface="Verdana"/>
              </a:endParaRPr>
            </a:p>
          </p:txBody>
        </p:sp>
        <p:sp>
          <p:nvSpPr>
            <p:cNvPr id="90" name="object 35">
              <a:extLst>
                <a:ext uri="{FF2B5EF4-FFF2-40B4-BE49-F238E27FC236}">
                  <a16:creationId xmlns:a16="http://schemas.microsoft.com/office/drawing/2014/main" id="{E3E268D7-E246-4939-A7C5-8F96957FA387}"/>
                </a:ext>
              </a:extLst>
            </p:cNvPr>
            <p:cNvSpPr/>
            <p:nvPr/>
          </p:nvSpPr>
          <p:spPr>
            <a:xfrm>
              <a:off x="605378" y="771135"/>
              <a:ext cx="2881961" cy="187387"/>
            </a:xfrm>
            <a:custGeom>
              <a:avLst/>
              <a:gdLst/>
              <a:ahLst/>
              <a:cxnLst/>
              <a:rect l="l" t="t" r="r" b="b"/>
              <a:pathLst>
                <a:path w="2810510" h="216534">
                  <a:moveTo>
                    <a:pt x="0" y="216408"/>
                  </a:moveTo>
                  <a:lnTo>
                    <a:pt x="2810256" y="216408"/>
                  </a:lnTo>
                  <a:lnTo>
                    <a:pt x="2810256" y="0"/>
                  </a:lnTo>
                  <a:lnTo>
                    <a:pt x="0" y="0"/>
                  </a:lnTo>
                  <a:lnTo>
                    <a:pt x="0" y="216408"/>
                  </a:lnTo>
                  <a:close/>
                </a:path>
              </a:pathLst>
            </a:custGeom>
            <a:ln w="12192">
              <a:solidFill>
                <a:srgbClr val="85BB24"/>
              </a:solidFill>
            </a:ln>
          </p:spPr>
          <p:txBody>
            <a:bodyPr wrap="square" lIns="0" tIns="0" rIns="0" bIns="0" rtlCol="0"/>
            <a:lstStyle/>
            <a:p>
              <a:pPr defTabSz="623438"/>
              <a:endParaRPr sz="1227">
                <a:solidFill>
                  <a:prstClr val="black"/>
                </a:solidFill>
                <a:latin typeface="Calibri"/>
              </a:endParaRPr>
            </a:p>
          </p:txBody>
        </p:sp>
        <p:sp>
          <p:nvSpPr>
            <p:cNvPr id="92" name="object 37">
              <a:extLst>
                <a:ext uri="{FF2B5EF4-FFF2-40B4-BE49-F238E27FC236}">
                  <a16:creationId xmlns:a16="http://schemas.microsoft.com/office/drawing/2014/main" id="{8F36464E-A532-4037-AF4B-58C518ADCA11}"/>
                </a:ext>
              </a:extLst>
            </p:cNvPr>
            <p:cNvSpPr/>
            <p:nvPr/>
          </p:nvSpPr>
          <p:spPr>
            <a:xfrm>
              <a:off x="605378" y="958522"/>
              <a:ext cx="2881961" cy="818895"/>
            </a:xfrm>
            <a:custGeom>
              <a:avLst/>
              <a:gdLst/>
              <a:ahLst/>
              <a:cxnLst/>
              <a:rect l="l" t="t" r="r" b="b"/>
              <a:pathLst>
                <a:path w="2810510" h="1164589">
                  <a:moveTo>
                    <a:pt x="0" y="1164336"/>
                  </a:moveTo>
                  <a:lnTo>
                    <a:pt x="2810256" y="1164336"/>
                  </a:lnTo>
                  <a:lnTo>
                    <a:pt x="2810256" y="0"/>
                  </a:lnTo>
                  <a:lnTo>
                    <a:pt x="0" y="0"/>
                  </a:lnTo>
                  <a:lnTo>
                    <a:pt x="0" y="1164336"/>
                  </a:lnTo>
                  <a:close/>
                </a:path>
              </a:pathLst>
            </a:custGeom>
            <a:ln w="12192">
              <a:solidFill>
                <a:srgbClr val="85BB24"/>
              </a:solidFill>
            </a:ln>
          </p:spPr>
          <p:txBody>
            <a:bodyPr wrap="square" lIns="0" tIns="0" rIns="0" bIns="0" rtlCol="0"/>
            <a:lstStyle/>
            <a:p>
              <a:pPr defTabSz="623438"/>
              <a:endParaRPr sz="1227">
                <a:solidFill>
                  <a:prstClr val="black"/>
                </a:solidFill>
                <a:latin typeface="Calibri"/>
              </a:endParaRPr>
            </a:p>
          </p:txBody>
        </p:sp>
        <p:sp>
          <p:nvSpPr>
            <p:cNvPr id="93" name="object 71">
              <a:extLst>
                <a:ext uri="{FF2B5EF4-FFF2-40B4-BE49-F238E27FC236}">
                  <a16:creationId xmlns:a16="http://schemas.microsoft.com/office/drawing/2014/main" id="{960D385F-1BE4-463C-97D4-6762BB1763C5}"/>
                </a:ext>
              </a:extLst>
            </p:cNvPr>
            <p:cNvSpPr txBox="1"/>
            <p:nvPr/>
          </p:nvSpPr>
          <p:spPr>
            <a:xfrm>
              <a:off x="2271757" y="1523866"/>
              <a:ext cx="1068903" cy="259605"/>
            </a:xfrm>
            <a:prstGeom prst="rect">
              <a:avLst/>
            </a:prstGeom>
          </p:spPr>
          <p:txBody>
            <a:bodyPr vert="horz" wrap="square" lIns="0" tIns="7793" rIns="0" bIns="0" rtlCol="0">
              <a:spAutoFit/>
            </a:bodyPr>
            <a:lstStyle/>
            <a:p>
              <a:pPr defTabSz="397435">
                <a:defRPr/>
              </a:pPr>
              <a:r>
                <a:rPr lang="en-US" sz="818" b="1" i="1" kern="0" dirty="0" err="1">
                  <a:solidFill>
                    <a:prstClr val="black"/>
                  </a:solidFill>
                  <a:latin typeface="Verdana"/>
                  <a:ea typeface="Verdana" panose="020B0604030504040204" pitchFamily="34" charset="0"/>
                  <a:cs typeface="Calibri" panose="020F0502020204030204" pitchFamily="34" charset="0"/>
                </a:rPr>
                <a:t>Anujesh</a:t>
              </a:r>
              <a:r>
                <a:rPr lang="en-US" sz="818" b="1" i="1" kern="0" dirty="0">
                  <a:solidFill>
                    <a:prstClr val="black"/>
                  </a:solidFill>
                  <a:latin typeface="Verdana"/>
                  <a:ea typeface="Verdana" panose="020B0604030504040204" pitchFamily="34" charset="0"/>
                  <a:cs typeface="Calibri" panose="020F0502020204030204" pitchFamily="34" charset="0"/>
                </a:rPr>
                <a:t> Dwivedi</a:t>
              </a:r>
            </a:p>
            <a:p>
              <a:pPr defTabSz="397435">
                <a:defRPr/>
              </a:pPr>
              <a:r>
                <a:rPr lang="en-US" sz="818" i="1" kern="0" dirty="0">
                  <a:solidFill>
                    <a:prstClr val="black"/>
                  </a:solidFill>
                  <a:latin typeface="Verdana"/>
                  <a:ea typeface="Verdana" panose="020B0604030504040204" pitchFamily="34" charset="0"/>
                  <a:cs typeface="Calibri" panose="020F0502020204030204" pitchFamily="34" charset="0"/>
                </a:rPr>
                <a:t>Partner, Deloitte</a:t>
              </a:r>
              <a:endParaRPr lang="en-IN" sz="818" b="1" i="1" kern="0" dirty="0">
                <a:solidFill>
                  <a:prstClr val="black"/>
                </a:solidFill>
                <a:latin typeface="Verdana"/>
                <a:ea typeface="Verdana" panose="020B0604030504040204" pitchFamily="34" charset="0"/>
                <a:cs typeface="Calibri" panose="020F0502020204030204" pitchFamily="34" charset="0"/>
              </a:endParaRPr>
            </a:p>
          </p:txBody>
        </p:sp>
        <p:pic>
          <p:nvPicPr>
            <p:cNvPr id="95" name="Picture 2" descr="Description: Description: S Patnaik">
              <a:extLst>
                <a:ext uri="{FF2B5EF4-FFF2-40B4-BE49-F238E27FC236}">
                  <a16:creationId xmlns:a16="http://schemas.microsoft.com/office/drawing/2014/main" id="{DC2430CE-B2FA-4913-A7E4-D48A1A5F67F5}"/>
                </a:ext>
              </a:extLst>
            </p:cNvPr>
            <p:cNvPicPr>
              <a:picLocks noChangeAspect="1" noChangeArrowheads="1"/>
            </p:cNvPicPr>
            <p:nvPr/>
          </p:nvPicPr>
          <p:blipFill rotWithShape="1">
            <a:blip r:embed="rId9" cstate="email">
              <a:extLst>
                <a:ext uri="{28A0092B-C50C-407E-A947-70E740481C1C}">
                  <a14:useLocalDpi xmlns:a14="http://schemas.microsoft.com/office/drawing/2010/main"/>
                </a:ext>
              </a:extLst>
            </a:blip>
            <a:srcRect/>
            <a:stretch/>
          </p:blipFill>
          <p:spPr bwMode="auto">
            <a:xfrm>
              <a:off x="753000" y="1017612"/>
              <a:ext cx="603126" cy="471618"/>
            </a:xfrm>
            <a:prstGeom prst="round2DiagRect">
              <a:avLst>
                <a:gd name="adj1" fmla="val 16667"/>
                <a:gd name="adj2" fmla="val 0"/>
              </a:avLst>
            </a:prstGeom>
            <a:ln w="19050" cap="sq">
              <a:solidFill>
                <a:schemeClr val="bg1"/>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96" name="Picture 95">
              <a:extLst>
                <a:ext uri="{FF2B5EF4-FFF2-40B4-BE49-F238E27FC236}">
                  <a16:creationId xmlns:a16="http://schemas.microsoft.com/office/drawing/2014/main" id="{C22ABD9A-0DD3-4910-94FA-A7DBF088BF8E}"/>
                </a:ext>
              </a:extLst>
            </p:cNvPr>
            <p:cNvPicPr/>
            <p:nvPr/>
          </p:nvPicPr>
          <p:blipFill>
            <a:blip r:embed="rId10" cstate="email">
              <a:extLst>
                <a:ext uri="{28A0092B-C50C-407E-A947-70E740481C1C}">
                  <a14:useLocalDpi xmlns:a14="http://schemas.microsoft.com/office/drawing/2010/main"/>
                </a:ext>
              </a:extLst>
            </a:blip>
            <a:stretch>
              <a:fillRect/>
            </a:stretch>
          </p:blipFill>
          <p:spPr>
            <a:xfrm>
              <a:off x="2306578" y="1008226"/>
              <a:ext cx="607361" cy="481091"/>
            </a:xfrm>
            <a:prstGeom prst="round2DiagRect">
              <a:avLst>
                <a:gd name="adj1" fmla="val 16667"/>
                <a:gd name="adj2" fmla="val 0"/>
              </a:avLst>
            </a:prstGeom>
            <a:ln w="19050" cap="sq">
              <a:solidFill>
                <a:schemeClr val="bg1"/>
              </a:solidFill>
              <a:miter lim="800000"/>
            </a:ln>
            <a:effectLst>
              <a:outerShdw blurRad="254000" algn="tl" rotWithShape="0">
                <a:srgbClr val="000000">
                  <a:alpha val="43000"/>
                </a:srgbClr>
              </a:outerShdw>
            </a:effectLst>
          </p:spPr>
        </p:pic>
        <p:sp>
          <p:nvSpPr>
            <p:cNvPr id="166" name="object 60">
              <a:extLst>
                <a:ext uri="{FF2B5EF4-FFF2-40B4-BE49-F238E27FC236}">
                  <a16:creationId xmlns:a16="http://schemas.microsoft.com/office/drawing/2014/main" id="{EA4D3258-A38C-4F83-9920-993E424D5981}"/>
                </a:ext>
              </a:extLst>
            </p:cNvPr>
            <p:cNvSpPr/>
            <p:nvPr/>
          </p:nvSpPr>
          <p:spPr>
            <a:xfrm>
              <a:off x="553800" y="707007"/>
              <a:ext cx="2994501" cy="1113305"/>
            </a:xfrm>
            <a:custGeom>
              <a:avLst/>
              <a:gdLst/>
              <a:ahLst/>
              <a:cxnLst/>
              <a:rect l="l" t="t" r="r" b="b"/>
              <a:pathLst>
                <a:path w="3298190" h="3736975">
                  <a:moveTo>
                    <a:pt x="0" y="3736848"/>
                  </a:moveTo>
                  <a:lnTo>
                    <a:pt x="3297936" y="3736848"/>
                  </a:lnTo>
                  <a:lnTo>
                    <a:pt x="3297936" y="0"/>
                  </a:lnTo>
                  <a:lnTo>
                    <a:pt x="0" y="0"/>
                  </a:lnTo>
                  <a:lnTo>
                    <a:pt x="0" y="3736848"/>
                  </a:lnTo>
                  <a:close/>
                </a:path>
              </a:pathLst>
            </a:custGeom>
            <a:ln w="9525">
              <a:solidFill>
                <a:srgbClr val="046A38"/>
              </a:solidFill>
              <a:prstDash val="lgDash"/>
            </a:ln>
          </p:spPr>
          <p:txBody>
            <a:bodyPr wrap="square" lIns="0" tIns="0" rIns="0" bIns="0" rtlCol="0"/>
            <a:lstStyle/>
            <a:p>
              <a:pPr defTabSz="837848"/>
              <a:endParaRPr sz="1649">
                <a:solidFill>
                  <a:prstClr val="black"/>
                </a:solidFill>
                <a:latin typeface="Verdana"/>
              </a:endParaRPr>
            </a:p>
          </p:txBody>
        </p:sp>
      </p:grpSp>
      <p:grpSp>
        <p:nvGrpSpPr>
          <p:cNvPr id="15" name="Group 14">
            <a:extLst>
              <a:ext uri="{FF2B5EF4-FFF2-40B4-BE49-F238E27FC236}">
                <a16:creationId xmlns:a16="http://schemas.microsoft.com/office/drawing/2014/main" id="{A1968F85-3140-4D7B-A8A8-F2249AE64024}"/>
              </a:ext>
            </a:extLst>
          </p:cNvPr>
          <p:cNvGrpSpPr/>
          <p:nvPr/>
        </p:nvGrpSpPr>
        <p:grpSpPr>
          <a:xfrm>
            <a:off x="6112696" y="4812108"/>
            <a:ext cx="5545856" cy="1684341"/>
            <a:chOff x="6112696" y="4979335"/>
            <a:chExt cx="4824042" cy="1551404"/>
          </a:xfrm>
        </p:grpSpPr>
        <p:graphicFrame>
          <p:nvGraphicFramePr>
            <p:cNvPr id="161" name="Chart Placeholder 13">
              <a:extLst>
                <a:ext uri="{FF2B5EF4-FFF2-40B4-BE49-F238E27FC236}">
                  <a16:creationId xmlns:a16="http://schemas.microsoft.com/office/drawing/2014/main" id="{F58C6164-B23D-4571-B030-33CC6790AF99}"/>
                </a:ext>
              </a:extLst>
            </p:cNvPr>
            <p:cNvGraphicFramePr>
              <a:graphicFrameLocks/>
            </p:cNvGraphicFramePr>
            <p:nvPr>
              <p:extLst>
                <p:ext uri="{D42A27DB-BD31-4B8C-83A1-F6EECF244321}">
                  <p14:modId xmlns:p14="http://schemas.microsoft.com/office/powerpoint/2010/main" val="4030960916"/>
                </p:ext>
              </p:extLst>
            </p:nvPr>
          </p:nvGraphicFramePr>
          <p:xfrm>
            <a:off x="6112696" y="4979335"/>
            <a:ext cx="4555018" cy="1551404"/>
          </p:xfrm>
          <a:graphic>
            <a:graphicData uri="http://schemas.openxmlformats.org/drawingml/2006/chart">
              <c:chart xmlns:c="http://schemas.openxmlformats.org/drawingml/2006/chart" xmlns:r="http://schemas.openxmlformats.org/officeDocument/2006/relationships" r:id="rId11"/>
            </a:graphicData>
          </a:graphic>
        </p:graphicFrame>
        <p:sp>
          <p:nvSpPr>
            <p:cNvPr id="77" name="Rectangle: Rounded Corners 76">
              <a:extLst>
                <a:ext uri="{FF2B5EF4-FFF2-40B4-BE49-F238E27FC236}">
                  <a16:creationId xmlns:a16="http://schemas.microsoft.com/office/drawing/2014/main" id="{21FE625E-AD79-46A3-BC0C-6467B58162DB}"/>
                </a:ext>
              </a:extLst>
            </p:cNvPr>
            <p:cNvSpPr/>
            <p:nvPr/>
          </p:nvSpPr>
          <p:spPr bwMode="gray">
            <a:xfrm>
              <a:off x="10028480" y="5526109"/>
              <a:ext cx="908258" cy="148504"/>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13 Projects</a:t>
              </a:r>
              <a:endParaRPr lang="en-IN" sz="1000" dirty="0">
                <a:solidFill>
                  <a:prstClr val="black"/>
                </a:solidFill>
                <a:latin typeface="Verdana"/>
              </a:endParaRPr>
            </a:p>
          </p:txBody>
        </p:sp>
        <p:sp>
          <p:nvSpPr>
            <p:cNvPr id="80" name="Rectangle: Rounded Corners 79">
              <a:extLst>
                <a:ext uri="{FF2B5EF4-FFF2-40B4-BE49-F238E27FC236}">
                  <a16:creationId xmlns:a16="http://schemas.microsoft.com/office/drawing/2014/main" id="{B74C40A6-50DF-4731-BF5E-EC02953F7F39}"/>
                </a:ext>
              </a:extLst>
            </p:cNvPr>
            <p:cNvSpPr/>
            <p:nvPr/>
          </p:nvSpPr>
          <p:spPr bwMode="gray">
            <a:xfrm>
              <a:off x="10025047" y="5210658"/>
              <a:ext cx="908258" cy="148504"/>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5 Projects</a:t>
              </a:r>
              <a:endParaRPr lang="en-IN" sz="1000" dirty="0">
                <a:solidFill>
                  <a:prstClr val="black"/>
                </a:solidFill>
                <a:latin typeface="Verdana"/>
              </a:endParaRPr>
            </a:p>
          </p:txBody>
        </p:sp>
        <p:sp>
          <p:nvSpPr>
            <p:cNvPr id="81" name="Rectangle: Rounded Corners 80">
              <a:extLst>
                <a:ext uri="{FF2B5EF4-FFF2-40B4-BE49-F238E27FC236}">
                  <a16:creationId xmlns:a16="http://schemas.microsoft.com/office/drawing/2014/main" id="{BA071E29-F4DB-44D9-9A61-02B818E14B73}"/>
                </a:ext>
              </a:extLst>
            </p:cNvPr>
            <p:cNvSpPr/>
            <p:nvPr/>
          </p:nvSpPr>
          <p:spPr bwMode="gray">
            <a:xfrm>
              <a:off x="10021601" y="5883323"/>
              <a:ext cx="908258" cy="148504"/>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7 Projects</a:t>
              </a:r>
              <a:endParaRPr lang="en-IN" sz="1000" dirty="0">
                <a:solidFill>
                  <a:prstClr val="black"/>
                </a:solidFill>
                <a:latin typeface="Verdana"/>
              </a:endParaRPr>
            </a:p>
          </p:txBody>
        </p:sp>
      </p:grpSp>
      <p:sp>
        <p:nvSpPr>
          <p:cNvPr id="45" name="Rectangle: Rounded Corners 44">
            <a:extLst>
              <a:ext uri="{FF2B5EF4-FFF2-40B4-BE49-F238E27FC236}">
                <a16:creationId xmlns:a16="http://schemas.microsoft.com/office/drawing/2014/main" id="{8193A6EB-4421-4527-9850-15AA9CFC7F78}"/>
              </a:ext>
            </a:extLst>
          </p:cNvPr>
          <p:cNvSpPr/>
          <p:nvPr/>
        </p:nvSpPr>
        <p:spPr bwMode="gray">
          <a:xfrm>
            <a:off x="4692840" y="5067396"/>
            <a:ext cx="1098407" cy="155426"/>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13 Projects</a:t>
            </a:r>
            <a:endParaRPr lang="en-IN" sz="1000" dirty="0">
              <a:solidFill>
                <a:prstClr val="black"/>
              </a:solidFill>
              <a:latin typeface="Verdana"/>
            </a:endParaRPr>
          </a:p>
        </p:txBody>
      </p:sp>
      <p:sp>
        <p:nvSpPr>
          <p:cNvPr id="46" name="Rectangle: Rounded Corners 45">
            <a:extLst>
              <a:ext uri="{FF2B5EF4-FFF2-40B4-BE49-F238E27FC236}">
                <a16:creationId xmlns:a16="http://schemas.microsoft.com/office/drawing/2014/main" id="{C8EE8C69-EF05-45D1-8DB5-7E091E14C855}"/>
              </a:ext>
            </a:extLst>
          </p:cNvPr>
          <p:cNvSpPr/>
          <p:nvPr/>
        </p:nvSpPr>
        <p:spPr bwMode="gray">
          <a:xfrm>
            <a:off x="4692133" y="5408636"/>
            <a:ext cx="1098407" cy="155426"/>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12 Projects</a:t>
            </a:r>
            <a:endParaRPr lang="en-IN" sz="1000" dirty="0">
              <a:solidFill>
                <a:prstClr val="black"/>
              </a:solidFill>
              <a:latin typeface="Verdana"/>
            </a:endParaRPr>
          </a:p>
        </p:txBody>
      </p:sp>
      <p:sp>
        <p:nvSpPr>
          <p:cNvPr id="47" name="Rectangle: Rounded Corners 46">
            <a:extLst>
              <a:ext uri="{FF2B5EF4-FFF2-40B4-BE49-F238E27FC236}">
                <a16:creationId xmlns:a16="http://schemas.microsoft.com/office/drawing/2014/main" id="{61B45B4A-94AC-45D4-B7D9-6C803AF91857}"/>
              </a:ext>
            </a:extLst>
          </p:cNvPr>
          <p:cNvSpPr/>
          <p:nvPr/>
        </p:nvSpPr>
        <p:spPr bwMode="gray">
          <a:xfrm>
            <a:off x="4692133" y="5716843"/>
            <a:ext cx="1098407" cy="155426"/>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11 Projects</a:t>
            </a:r>
            <a:endParaRPr lang="en-IN" sz="1000" dirty="0">
              <a:solidFill>
                <a:prstClr val="black"/>
              </a:solidFill>
              <a:latin typeface="Verdana"/>
            </a:endParaRPr>
          </a:p>
        </p:txBody>
      </p:sp>
    </p:spTree>
    <p:extLst>
      <p:ext uri="{BB962C8B-B14F-4D97-AF65-F5344CB8AC3E}">
        <p14:creationId xmlns:p14="http://schemas.microsoft.com/office/powerpoint/2010/main" val="138292720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Object 78" hidden="1"/>
          <p:cNvGraphicFramePr>
            <a:graphicFrameLocks noChangeAspect="1"/>
          </p:cNvGraphicFramePr>
          <p:nvPr>
            <p:custDataLst>
              <p:tags r:id="rId1"/>
            </p:custDataLst>
          </p:nvPr>
        </p:nvGraphicFramePr>
        <p:xfrm>
          <a:off x="798020" y="449492"/>
          <a:ext cx="1381" cy="1381"/>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79" name="Object 78" hidden="1"/>
                      <p:cNvPicPr/>
                      <p:nvPr/>
                    </p:nvPicPr>
                    <p:blipFill>
                      <a:blip r:embed="rId5"/>
                      <a:stretch>
                        <a:fillRect/>
                      </a:stretch>
                    </p:blipFill>
                    <p:spPr>
                      <a:xfrm>
                        <a:off x="798020" y="449492"/>
                        <a:ext cx="1381" cy="1381"/>
                      </a:xfrm>
                      <a:prstGeom prst="rect">
                        <a:avLst/>
                      </a:prstGeom>
                    </p:spPr>
                  </p:pic>
                </p:oleObj>
              </mc:Fallback>
            </mc:AlternateContent>
          </a:graphicData>
        </a:graphic>
      </p:graphicFrame>
      <p:sp>
        <p:nvSpPr>
          <p:cNvPr id="78" name="Rectangle 77" hidden="1"/>
          <p:cNvSpPr/>
          <p:nvPr>
            <p:custDataLst>
              <p:tags r:id="rId2"/>
            </p:custDataLst>
          </p:nvPr>
        </p:nvSpPr>
        <p:spPr bwMode="gray">
          <a:xfrm>
            <a:off x="796636" y="448108"/>
            <a:ext cx="138004" cy="138004"/>
          </a:xfrm>
          <a:prstGeom prst="rect">
            <a:avLst/>
          </a:prstGeom>
          <a:solidFill>
            <a:schemeClr val="accent3"/>
          </a:solidFill>
          <a:ln w="19050" algn="ctr">
            <a:noFill/>
            <a:miter lim="800000"/>
            <a:headEnd/>
            <a:tailEnd/>
          </a:ln>
        </p:spPr>
        <p:txBody>
          <a:bodyPr wrap="none" lIns="0" tIns="0" rIns="0" bIns="0" rtlCol="0" anchor="ctr"/>
          <a:lstStyle/>
          <a:p>
            <a:pPr algn="ctr" defTabSz="1059800">
              <a:spcBef>
                <a:spcPct val="0"/>
              </a:spcBef>
              <a:spcAft>
                <a:spcPct val="0"/>
              </a:spcAft>
              <a:defRPr/>
            </a:pPr>
            <a:endParaRPr lang="en-US" sz="1739" b="1" dirty="0">
              <a:solidFill>
                <a:srgbClr val="FFFFFF"/>
              </a:solidFill>
              <a:latin typeface="Verdana" panose="020B0604030504040204" pitchFamily="34" charset="0"/>
              <a:sym typeface="Verdana" panose="020B0604030504040204" pitchFamily="34" charset="0"/>
            </a:endParaRPr>
          </a:p>
        </p:txBody>
      </p:sp>
      <p:sp>
        <p:nvSpPr>
          <p:cNvPr id="7" name="Title 6"/>
          <p:cNvSpPr>
            <a:spLocks noGrp="1"/>
          </p:cNvSpPr>
          <p:nvPr>
            <p:ph type="title"/>
          </p:nvPr>
        </p:nvSpPr>
        <p:spPr>
          <a:xfrm>
            <a:off x="538381" y="269245"/>
            <a:ext cx="9781742" cy="420021"/>
          </a:xfrm>
        </p:spPr>
        <p:txBody>
          <a:bodyPr/>
          <a:lstStyle/>
          <a:p>
            <a:r>
              <a:rPr lang="en-US" dirty="0"/>
              <a:t>Engagement Team – Senior Resources (2/2)</a:t>
            </a:r>
            <a:endParaRPr lang="en-IN" dirty="0"/>
          </a:p>
        </p:txBody>
      </p:sp>
      <p:grpSp>
        <p:nvGrpSpPr>
          <p:cNvPr id="11" name="Group 10">
            <a:extLst>
              <a:ext uri="{FF2B5EF4-FFF2-40B4-BE49-F238E27FC236}">
                <a16:creationId xmlns:a16="http://schemas.microsoft.com/office/drawing/2014/main" id="{E81BA1E3-5C93-4E13-BA8D-DD0D83C7F8BF}"/>
              </a:ext>
            </a:extLst>
          </p:cNvPr>
          <p:cNvGrpSpPr/>
          <p:nvPr/>
        </p:nvGrpSpPr>
        <p:grpSpPr>
          <a:xfrm>
            <a:off x="4285654" y="926656"/>
            <a:ext cx="3519561" cy="2645219"/>
            <a:chOff x="608956" y="3917056"/>
            <a:chExt cx="2662422" cy="3435146"/>
          </a:xfrm>
        </p:grpSpPr>
        <p:grpSp>
          <p:nvGrpSpPr>
            <p:cNvPr id="97" name="Group 96">
              <a:extLst>
                <a:ext uri="{FF2B5EF4-FFF2-40B4-BE49-F238E27FC236}">
                  <a16:creationId xmlns:a16="http://schemas.microsoft.com/office/drawing/2014/main" id="{7F1ED021-F30F-4619-B0E9-52E6EDAB358F}"/>
                </a:ext>
              </a:extLst>
            </p:cNvPr>
            <p:cNvGrpSpPr/>
            <p:nvPr/>
          </p:nvGrpSpPr>
          <p:grpSpPr>
            <a:xfrm>
              <a:off x="608956" y="3917056"/>
              <a:ext cx="2662422" cy="3435146"/>
              <a:chOff x="599120" y="1685433"/>
              <a:chExt cx="2159601" cy="2955813"/>
            </a:xfrm>
          </p:grpSpPr>
          <p:sp>
            <p:nvSpPr>
              <p:cNvPr id="101" name="object 37">
                <a:extLst>
                  <a:ext uri="{FF2B5EF4-FFF2-40B4-BE49-F238E27FC236}">
                    <a16:creationId xmlns:a16="http://schemas.microsoft.com/office/drawing/2014/main" id="{39D28090-8352-4B16-8BD3-0C8033A6C976}"/>
                  </a:ext>
                </a:extLst>
              </p:cNvPr>
              <p:cNvSpPr/>
              <p:nvPr/>
            </p:nvSpPr>
            <p:spPr>
              <a:xfrm>
                <a:off x="599120" y="1921916"/>
                <a:ext cx="2159601" cy="2719330"/>
              </a:xfrm>
              <a:custGeom>
                <a:avLst/>
                <a:gdLst/>
                <a:ahLst/>
                <a:cxnLst/>
                <a:rect l="l" t="t" r="r" b="b"/>
                <a:pathLst>
                  <a:path w="2810510" h="1164589">
                    <a:moveTo>
                      <a:pt x="0" y="1164336"/>
                    </a:moveTo>
                    <a:lnTo>
                      <a:pt x="2810256" y="1164336"/>
                    </a:lnTo>
                    <a:lnTo>
                      <a:pt x="2810256" y="0"/>
                    </a:lnTo>
                    <a:lnTo>
                      <a:pt x="0" y="0"/>
                    </a:lnTo>
                    <a:lnTo>
                      <a:pt x="0" y="1164336"/>
                    </a:lnTo>
                    <a:close/>
                  </a:path>
                </a:pathLst>
              </a:custGeom>
              <a:solidFill>
                <a:schemeClr val="accent3">
                  <a:lumMod val="60000"/>
                  <a:lumOff val="40000"/>
                </a:schemeClr>
              </a:solidFill>
              <a:ln w="12192">
                <a:solidFill>
                  <a:srgbClr val="85BB24"/>
                </a:solidFill>
              </a:ln>
            </p:spPr>
            <p:txBody>
              <a:bodyPr wrap="square" lIns="0" tIns="0" rIns="0" bIns="0" rtlCol="0"/>
              <a:lstStyle/>
              <a:p>
                <a:pPr defTabSz="623438"/>
                <a:endParaRPr sz="1227">
                  <a:solidFill>
                    <a:prstClr val="black"/>
                  </a:solidFill>
                  <a:latin typeface="Calibri"/>
                </a:endParaRPr>
              </a:p>
            </p:txBody>
          </p:sp>
          <p:sp>
            <p:nvSpPr>
              <p:cNvPr id="98" name="object 26">
                <a:extLst>
                  <a:ext uri="{FF2B5EF4-FFF2-40B4-BE49-F238E27FC236}">
                    <a16:creationId xmlns:a16="http://schemas.microsoft.com/office/drawing/2014/main" id="{24580F80-CECC-4367-9F22-B7F0D6221A1A}"/>
                  </a:ext>
                </a:extLst>
              </p:cNvPr>
              <p:cNvSpPr txBox="1"/>
              <p:nvPr/>
            </p:nvSpPr>
            <p:spPr>
              <a:xfrm>
                <a:off x="687444" y="2611928"/>
                <a:ext cx="489069" cy="868581"/>
              </a:xfrm>
              <a:prstGeom prst="rect">
                <a:avLst/>
              </a:prstGeom>
            </p:spPr>
            <p:txBody>
              <a:bodyPr vert="horz" wrap="square" lIns="0" tIns="7793" rIns="0" bIns="0" rtlCol="0" anchor="ctr">
                <a:spAutoFit/>
              </a:bodyPr>
              <a:lstStyle/>
              <a:p>
                <a:pPr defTabSz="397435">
                  <a:defRPr/>
                </a:pPr>
                <a:r>
                  <a:rPr lang="en-US" sz="1000" b="1" kern="0" dirty="0">
                    <a:solidFill>
                      <a:prstClr val="black"/>
                    </a:solidFill>
                    <a:latin typeface="Verdana"/>
                    <a:ea typeface="Verdana" panose="020B0604030504040204" pitchFamily="34" charset="0"/>
                  </a:rPr>
                  <a:t>Jayanta Bora</a:t>
                </a:r>
              </a:p>
              <a:p>
                <a:pPr defTabSz="397435">
                  <a:defRPr/>
                </a:pPr>
                <a:r>
                  <a:rPr lang="en-US" sz="1000" kern="0" dirty="0">
                    <a:solidFill>
                      <a:prstClr val="black"/>
                    </a:solidFill>
                    <a:latin typeface="Verdana"/>
                    <a:ea typeface="Verdana" panose="020B0604030504040204" pitchFamily="34" charset="0"/>
                  </a:rPr>
                  <a:t>Associate</a:t>
                </a:r>
                <a:r>
                  <a:rPr lang="en-US" sz="1000" b="1" kern="0" dirty="0">
                    <a:solidFill>
                      <a:prstClr val="black"/>
                    </a:solidFill>
                    <a:latin typeface="Verdana"/>
                    <a:ea typeface="Verdana" panose="020B0604030504040204" pitchFamily="34" charset="0"/>
                  </a:rPr>
                  <a:t> </a:t>
                </a:r>
                <a:r>
                  <a:rPr lang="en-US" sz="1000" kern="0" dirty="0">
                    <a:solidFill>
                      <a:prstClr val="black"/>
                    </a:solidFill>
                    <a:latin typeface="Verdana"/>
                    <a:ea typeface="Verdana" panose="020B0604030504040204" pitchFamily="34" charset="0"/>
                  </a:rPr>
                  <a:t>Director, </a:t>
                </a:r>
              </a:p>
              <a:p>
                <a:pPr defTabSz="397435">
                  <a:defRPr/>
                </a:pPr>
                <a:r>
                  <a:rPr lang="en-US" sz="1000" b="1" kern="0" dirty="0">
                    <a:solidFill>
                      <a:prstClr val="black"/>
                    </a:solidFill>
                    <a:latin typeface="Verdana"/>
                    <a:ea typeface="Verdana" panose="020B0604030504040204" pitchFamily="34" charset="0"/>
                  </a:rPr>
                  <a:t>(15 years)</a:t>
                </a:r>
              </a:p>
            </p:txBody>
          </p:sp>
          <p:sp>
            <p:nvSpPr>
              <p:cNvPr id="99" name="object 34">
                <a:extLst>
                  <a:ext uri="{FF2B5EF4-FFF2-40B4-BE49-F238E27FC236}">
                    <a16:creationId xmlns:a16="http://schemas.microsoft.com/office/drawing/2014/main" id="{7F4B9DCE-C0BE-4441-A3DC-6AE9A11CCA15}"/>
                  </a:ext>
                </a:extLst>
              </p:cNvPr>
              <p:cNvSpPr/>
              <p:nvPr/>
            </p:nvSpPr>
            <p:spPr>
              <a:xfrm>
                <a:off x="599120" y="1685433"/>
                <a:ext cx="2159601" cy="256806"/>
              </a:xfrm>
              <a:custGeom>
                <a:avLst/>
                <a:gdLst/>
                <a:ahLst/>
                <a:cxnLst/>
                <a:rect l="l" t="t" r="r" b="b"/>
                <a:pathLst>
                  <a:path w="2810510" h="216534">
                    <a:moveTo>
                      <a:pt x="0" y="216408"/>
                    </a:moveTo>
                    <a:lnTo>
                      <a:pt x="2810256" y="216408"/>
                    </a:lnTo>
                    <a:lnTo>
                      <a:pt x="2810256" y="0"/>
                    </a:lnTo>
                    <a:lnTo>
                      <a:pt x="0" y="0"/>
                    </a:lnTo>
                    <a:lnTo>
                      <a:pt x="0" y="216408"/>
                    </a:lnTo>
                    <a:close/>
                  </a:path>
                </a:pathLst>
              </a:custGeom>
              <a:solidFill>
                <a:srgbClr val="85BB24"/>
              </a:solidFill>
            </p:spPr>
            <p:txBody>
              <a:bodyPr wrap="square" lIns="0" tIns="0" rIns="0" bIns="0" rtlCol="0" anchor="ctr"/>
              <a:lstStyle/>
              <a:p>
                <a:pPr algn="ctr" defTabSz="623438"/>
                <a:r>
                  <a:rPr lang="en-US" sz="955" b="1" dirty="0">
                    <a:solidFill>
                      <a:prstClr val="white"/>
                    </a:solidFill>
                    <a:latin typeface="Verdana"/>
                  </a:rPr>
                  <a:t>Senior Resource</a:t>
                </a:r>
              </a:p>
            </p:txBody>
          </p:sp>
          <p:sp>
            <p:nvSpPr>
              <p:cNvPr id="100" name="object 35">
                <a:extLst>
                  <a:ext uri="{FF2B5EF4-FFF2-40B4-BE49-F238E27FC236}">
                    <a16:creationId xmlns:a16="http://schemas.microsoft.com/office/drawing/2014/main" id="{0D3774D3-2C42-47BF-9C98-A22D657DDCC0}"/>
                  </a:ext>
                </a:extLst>
              </p:cNvPr>
              <p:cNvSpPr/>
              <p:nvPr/>
            </p:nvSpPr>
            <p:spPr>
              <a:xfrm>
                <a:off x="599120" y="1685433"/>
                <a:ext cx="2159601" cy="236484"/>
              </a:xfrm>
              <a:custGeom>
                <a:avLst/>
                <a:gdLst/>
                <a:ahLst/>
                <a:cxnLst/>
                <a:rect l="l" t="t" r="r" b="b"/>
                <a:pathLst>
                  <a:path w="2810510" h="216534">
                    <a:moveTo>
                      <a:pt x="0" y="216408"/>
                    </a:moveTo>
                    <a:lnTo>
                      <a:pt x="2810256" y="216408"/>
                    </a:lnTo>
                    <a:lnTo>
                      <a:pt x="2810256" y="0"/>
                    </a:lnTo>
                    <a:lnTo>
                      <a:pt x="0" y="0"/>
                    </a:lnTo>
                    <a:lnTo>
                      <a:pt x="0" y="216408"/>
                    </a:lnTo>
                    <a:close/>
                  </a:path>
                </a:pathLst>
              </a:custGeom>
              <a:ln w="12192">
                <a:solidFill>
                  <a:srgbClr val="85BB24"/>
                </a:solidFill>
              </a:ln>
            </p:spPr>
            <p:txBody>
              <a:bodyPr wrap="square" lIns="0" tIns="0" rIns="0" bIns="0" rtlCol="0"/>
              <a:lstStyle/>
              <a:p>
                <a:pPr defTabSz="623438"/>
                <a:endParaRPr sz="1227">
                  <a:solidFill>
                    <a:prstClr val="black"/>
                  </a:solidFill>
                  <a:latin typeface="Calibri"/>
                </a:endParaRPr>
              </a:p>
            </p:txBody>
          </p:sp>
        </p:grpSp>
        <p:sp>
          <p:nvSpPr>
            <p:cNvPr id="10" name="Rectangle 9">
              <a:extLst>
                <a:ext uri="{FF2B5EF4-FFF2-40B4-BE49-F238E27FC236}">
                  <a16:creationId xmlns:a16="http://schemas.microsoft.com/office/drawing/2014/main" id="{094B70AB-68E2-4D91-9EAD-89DA8581EBD5}"/>
                </a:ext>
              </a:extLst>
            </p:cNvPr>
            <p:cNvSpPr/>
            <p:nvPr/>
          </p:nvSpPr>
          <p:spPr bwMode="gray">
            <a:xfrm>
              <a:off x="1331320" y="4260133"/>
              <a:ext cx="1927260" cy="1483124"/>
            </a:xfrm>
            <a:prstGeom prst="rect">
              <a:avLst/>
            </a:prstGeom>
            <a:solidFill>
              <a:schemeClr val="accent3">
                <a:lumMod val="60000"/>
                <a:lumOff val="40000"/>
              </a:schemeClr>
            </a:solidFill>
            <a:ln w="19050" algn="ctr">
              <a:noFill/>
              <a:miter lim="800000"/>
              <a:headEnd/>
              <a:tailEnd/>
            </a:ln>
          </p:spPr>
          <p:txBody>
            <a:bodyPr wrap="square" lIns="24545" tIns="24545" rIns="24545" bIns="24545" rtlCol="0" anchor="ctr"/>
            <a:lstStyle/>
            <a:p>
              <a:pPr algn="just" defTabSz="623438"/>
              <a:r>
                <a:rPr lang="en-IN" sz="1000" b="1" dirty="0">
                  <a:solidFill>
                    <a:prstClr val="black"/>
                  </a:solidFill>
                  <a:latin typeface="Verdana"/>
                  <a:cs typeface="Calibri" panose="020F0502020204030204" pitchFamily="34" charset="0"/>
                </a:rPr>
                <a:t>Select experience in WB Power Sector:</a:t>
              </a:r>
            </a:p>
            <a:p>
              <a:pPr marL="116895" indent="-116895" algn="just" defTabSz="623438">
                <a:spcAft>
                  <a:spcPts val="205"/>
                </a:spcAft>
                <a:buFont typeface="Arial" panose="020B0604020202020204" pitchFamily="34" charset="0"/>
                <a:buChar char="•"/>
              </a:pPr>
              <a:r>
                <a:rPr lang="en-US" sz="1000" dirty="0">
                  <a:solidFill>
                    <a:prstClr val="black"/>
                  </a:solidFill>
                  <a:latin typeface="Verdana"/>
                  <a:cs typeface="Calibri" panose="020F0502020204030204" pitchFamily="34" charset="0"/>
                </a:rPr>
                <a:t>Intra-state T&amp;D Investment Plan improvement of WB, Bihar &amp; AP</a:t>
              </a:r>
            </a:p>
            <a:p>
              <a:pPr marL="116895" indent="-116895" algn="just" defTabSz="623438">
                <a:spcAft>
                  <a:spcPts val="205"/>
                </a:spcAft>
                <a:buFont typeface="Arial" panose="020B0604020202020204" pitchFamily="34" charset="0"/>
                <a:buChar char="•"/>
              </a:pPr>
              <a:r>
                <a:rPr lang="en-US" sz="1000" dirty="0">
                  <a:solidFill>
                    <a:prstClr val="black"/>
                  </a:solidFill>
                  <a:latin typeface="Verdana"/>
                  <a:cs typeface="Calibri" panose="020F0502020204030204" pitchFamily="34" charset="0"/>
                </a:rPr>
                <a:t>Preparation of 24x7 PFA roadmaps for 10 states &amp; UTs</a:t>
              </a:r>
            </a:p>
          </p:txBody>
        </p:sp>
      </p:grpSp>
      <p:pic>
        <p:nvPicPr>
          <p:cNvPr id="140" name="Picture 139" descr="A picture containing person, person, indoor, wearing&#10;&#10;Description automatically generated">
            <a:extLst>
              <a:ext uri="{FF2B5EF4-FFF2-40B4-BE49-F238E27FC236}">
                <a16:creationId xmlns:a16="http://schemas.microsoft.com/office/drawing/2014/main" id="{BF7C9298-D4A0-4234-B4F2-0800EC79369B}"/>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433324" y="1201827"/>
            <a:ext cx="597135" cy="525652"/>
          </a:xfrm>
          <a:prstGeom prst="round2DiagRect">
            <a:avLst>
              <a:gd name="adj1" fmla="val 16667"/>
              <a:gd name="adj2" fmla="val 0"/>
            </a:avLst>
          </a:prstGeom>
          <a:ln w="19050" cap="sq">
            <a:solidFill>
              <a:schemeClr val="bg1"/>
            </a:solidFill>
            <a:miter lim="800000"/>
          </a:ln>
          <a:effectLst>
            <a:outerShdw blurRad="254000" algn="tl" rotWithShape="0">
              <a:srgbClr val="000000">
                <a:alpha val="43000"/>
              </a:srgbClr>
            </a:outerShdw>
          </a:effectLst>
        </p:spPr>
      </p:pic>
      <p:grpSp>
        <p:nvGrpSpPr>
          <p:cNvPr id="115" name="Group 114">
            <a:extLst>
              <a:ext uri="{FF2B5EF4-FFF2-40B4-BE49-F238E27FC236}">
                <a16:creationId xmlns:a16="http://schemas.microsoft.com/office/drawing/2014/main" id="{A5B303E0-762B-465C-B68F-7A4C3F992B14}"/>
              </a:ext>
            </a:extLst>
          </p:cNvPr>
          <p:cNvGrpSpPr/>
          <p:nvPr/>
        </p:nvGrpSpPr>
        <p:grpSpPr>
          <a:xfrm>
            <a:off x="558393" y="926658"/>
            <a:ext cx="3519563" cy="2645217"/>
            <a:chOff x="608952" y="3917056"/>
            <a:chExt cx="3296966" cy="3712799"/>
          </a:xfrm>
        </p:grpSpPr>
        <p:grpSp>
          <p:nvGrpSpPr>
            <p:cNvPr id="116" name="Group 115">
              <a:extLst>
                <a:ext uri="{FF2B5EF4-FFF2-40B4-BE49-F238E27FC236}">
                  <a16:creationId xmlns:a16="http://schemas.microsoft.com/office/drawing/2014/main" id="{B53654E6-C26F-4E94-A221-A2CFDC60A818}"/>
                </a:ext>
              </a:extLst>
            </p:cNvPr>
            <p:cNvGrpSpPr/>
            <p:nvPr/>
          </p:nvGrpSpPr>
          <p:grpSpPr>
            <a:xfrm>
              <a:off x="608952" y="3917056"/>
              <a:ext cx="3296966" cy="3712799"/>
              <a:chOff x="599119" y="1685433"/>
              <a:chExt cx="2674306" cy="3194721"/>
            </a:xfrm>
          </p:grpSpPr>
          <p:sp>
            <p:nvSpPr>
              <p:cNvPr id="122" name="object 37">
                <a:extLst>
                  <a:ext uri="{FF2B5EF4-FFF2-40B4-BE49-F238E27FC236}">
                    <a16:creationId xmlns:a16="http://schemas.microsoft.com/office/drawing/2014/main" id="{CF6F148C-D18A-4C4D-A4FB-758EC9DC3E5A}"/>
                  </a:ext>
                </a:extLst>
              </p:cNvPr>
              <p:cNvSpPr/>
              <p:nvPr/>
            </p:nvSpPr>
            <p:spPr>
              <a:xfrm>
                <a:off x="599119" y="1921915"/>
                <a:ext cx="2673385" cy="2958239"/>
              </a:xfrm>
              <a:custGeom>
                <a:avLst/>
                <a:gdLst/>
                <a:ahLst/>
                <a:cxnLst/>
                <a:rect l="l" t="t" r="r" b="b"/>
                <a:pathLst>
                  <a:path w="2810510" h="1164589">
                    <a:moveTo>
                      <a:pt x="0" y="1164336"/>
                    </a:moveTo>
                    <a:lnTo>
                      <a:pt x="2810256" y="1164336"/>
                    </a:lnTo>
                    <a:lnTo>
                      <a:pt x="2810256" y="0"/>
                    </a:lnTo>
                    <a:lnTo>
                      <a:pt x="0" y="0"/>
                    </a:lnTo>
                    <a:lnTo>
                      <a:pt x="0" y="1164336"/>
                    </a:lnTo>
                    <a:close/>
                  </a:path>
                </a:pathLst>
              </a:custGeom>
              <a:solidFill>
                <a:schemeClr val="accent3">
                  <a:lumMod val="60000"/>
                  <a:lumOff val="40000"/>
                </a:schemeClr>
              </a:solidFill>
              <a:ln w="12192">
                <a:solidFill>
                  <a:srgbClr val="85BB24"/>
                </a:solidFill>
              </a:ln>
            </p:spPr>
            <p:txBody>
              <a:bodyPr wrap="square" lIns="0" tIns="0" rIns="0" bIns="0" rtlCol="0"/>
              <a:lstStyle/>
              <a:p>
                <a:pPr defTabSz="623438"/>
                <a:endParaRPr sz="1227">
                  <a:solidFill>
                    <a:prstClr val="black"/>
                  </a:solidFill>
                  <a:latin typeface="Calibri"/>
                </a:endParaRPr>
              </a:p>
            </p:txBody>
          </p:sp>
          <p:sp>
            <p:nvSpPr>
              <p:cNvPr id="119" name="object 26">
                <a:extLst>
                  <a:ext uri="{FF2B5EF4-FFF2-40B4-BE49-F238E27FC236}">
                    <a16:creationId xmlns:a16="http://schemas.microsoft.com/office/drawing/2014/main" id="{B5D683CD-603D-4DE2-A917-FADA4F0728D8}"/>
                  </a:ext>
                </a:extLst>
              </p:cNvPr>
              <p:cNvSpPr txBox="1"/>
              <p:nvPr/>
            </p:nvSpPr>
            <p:spPr>
              <a:xfrm>
                <a:off x="696970" y="2661840"/>
                <a:ext cx="658052" cy="752929"/>
              </a:xfrm>
              <a:prstGeom prst="rect">
                <a:avLst/>
              </a:prstGeom>
            </p:spPr>
            <p:txBody>
              <a:bodyPr vert="horz" wrap="square" lIns="0" tIns="7793" rIns="0" bIns="0" rtlCol="0">
                <a:spAutoFit/>
              </a:bodyPr>
              <a:lstStyle/>
              <a:p>
                <a:pPr defTabSz="397435">
                  <a:defRPr/>
                </a:pPr>
                <a:r>
                  <a:rPr lang="en-US" sz="1000" b="1" kern="0" dirty="0">
                    <a:solidFill>
                      <a:prstClr val="black"/>
                    </a:solidFill>
                    <a:latin typeface="Verdana"/>
                    <a:ea typeface="Verdana" panose="020B0604030504040204" pitchFamily="34" charset="0"/>
                  </a:rPr>
                  <a:t>Siddharth Mani</a:t>
                </a:r>
              </a:p>
              <a:p>
                <a:pPr defTabSz="397435">
                  <a:defRPr/>
                </a:pPr>
                <a:r>
                  <a:rPr lang="en-US" sz="1000" kern="0" dirty="0">
                    <a:solidFill>
                      <a:prstClr val="black"/>
                    </a:solidFill>
                    <a:latin typeface="Verdana"/>
                    <a:ea typeface="Verdana" panose="020B0604030504040204" pitchFamily="34" charset="0"/>
                  </a:rPr>
                  <a:t>Manager,</a:t>
                </a:r>
                <a:r>
                  <a:rPr lang="en-US" sz="1000" b="1" kern="0" dirty="0">
                    <a:solidFill>
                      <a:prstClr val="black"/>
                    </a:solidFill>
                    <a:latin typeface="Verdana"/>
                    <a:ea typeface="Verdana" panose="020B0604030504040204" pitchFamily="34" charset="0"/>
                  </a:rPr>
                  <a:t> </a:t>
                </a:r>
              </a:p>
              <a:p>
                <a:pPr defTabSz="397435">
                  <a:defRPr/>
                </a:pPr>
                <a:r>
                  <a:rPr lang="en-US" sz="1000" b="1" kern="0" dirty="0">
                    <a:solidFill>
                      <a:prstClr val="black"/>
                    </a:solidFill>
                    <a:latin typeface="Verdana"/>
                    <a:ea typeface="Verdana" panose="020B0604030504040204" pitchFamily="34" charset="0"/>
                  </a:rPr>
                  <a:t>(8 years)</a:t>
                </a:r>
              </a:p>
            </p:txBody>
          </p:sp>
          <p:sp>
            <p:nvSpPr>
              <p:cNvPr id="120" name="object 34">
                <a:extLst>
                  <a:ext uri="{FF2B5EF4-FFF2-40B4-BE49-F238E27FC236}">
                    <a16:creationId xmlns:a16="http://schemas.microsoft.com/office/drawing/2014/main" id="{3AB97053-01ED-40EF-91DF-9D30969B9CC2}"/>
                  </a:ext>
                </a:extLst>
              </p:cNvPr>
              <p:cNvSpPr/>
              <p:nvPr/>
            </p:nvSpPr>
            <p:spPr>
              <a:xfrm>
                <a:off x="599119" y="1685433"/>
                <a:ext cx="2674306" cy="256806"/>
              </a:xfrm>
              <a:custGeom>
                <a:avLst/>
                <a:gdLst/>
                <a:ahLst/>
                <a:cxnLst/>
                <a:rect l="l" t="t" r="r" b="b"/>
                <a:pathLst>
                  <a:path w="2810510" h="216534">
                    <a:moveTo>
                      <a:pt x="0" y="216408"/>
                    </a:moveTo>
                    <a:lnTo>
                      <a:pt x="2810256" y="216408"/>
                    </a:lnTo>
                    <a:lnTo>
                      <a:pt x="2810256" y="0"/>
                    </a:lnTo>
                    <a:lnTo>
                      <a:pt x="0" y="0"/>
                    </a:lnTo>
                    <a:lnTo>
                      <a:pt x="0" y="216408"/>
                    </a:lnTo>
                    <a:close/>
                  </a:path>
                </a:pathLst>
              </a:custGeom>
              <a:solidFill>
                <a:srgbClr val="85BB24"/>
              </a:solidFill>
            </p:spPr>
            <p:txBody>
              <a:bodyPr wrap="square" lIns="0" tIns="0" rIns="0" bIns="0" rtlCol="0" anchor="ctr"/>
              <a:lstStyle/>
              <a:p>
                <a:pPr algn="ctr" defTabSz="623438"/>
                <a:r>
                  <a:rPr lang="en-US" sz="955" b="1" dirty="0">
                    <a:solidFill>
                      <a:prstClr val="white"/>
                    </a:solidFill>
                    <a:latin typeface="Verdana"/>
                  </a:rPr>
                  <a:t>Senior Resource</a:t>
                </a:r>
              </a:p>
            </p:txBody>
          </p:sp>
          <p:sp>
            <p:nvSpPr>
              <p:cNvPr id="121" name="object 35">
                <a:extLst>
                  <a:ext uri="{FF2B5EF4-FFF2-40B4-BE49-F238E27FC236}">
                    <a16:creationId xmlns:a16="http://schemas.microsoft.com/office/drawing/2014/main" id="{1331B745-4A3A-4240-8977-B42F0CBE0F69}"/>
                  </a:ext>
                </a:extLst>
              </p:cNvPr>
              <p:cNvSpPr/>
              <p:nvPr/>
            </p:nvSpPr>
            <p:spPr>
              <a:xfrm>
                <a:off x="599119" y="1685433"/>
                <a:ext cx="2674306" cy="236484"/>
              </a:xfrm>
              <a:custGeom>
                <a:avLst/>
                <a:gdLst/>
                <a:ahLst/>
                <a:cxnLst/>
                <a:rect l="l" t="t" r="r" b="b"/>
                <a:pathLst>
                  <a:path w="2810510" h="216534">
                    <a:moveTo>
                      <a:pt x="0" y="216408"/>
                    </a:moveTo>
                    <a:lnTo>
                      <a:pt x="2810256" y="216408"/>
                    </a:lnTo>
                    <a:lnTo>
                      <a:pt x="2810256" y="0"/>
                    </a:lnTo>
                    <a:lnTo>
                      <a:pt x="0" y="0"/>
                    </a:lnTo>
                    <a:lnTo>
                      <a:pt x="0" y="216408"/>
                    </a:lnTo>
                    <a:close/>
                  </a:path>
                </a:pathLst>
              </a:custGeom>
              <a:ln w="12192">
                <a:solidFill>
                  <a:srgbClr val="85BB24"/>
                </a:solidFill>
              </a:ln>
            </p:spPr>
            <p:txBody>
              <a:bodyPr wrap="square" lIns="0" tIns="0" rIns="0" bIns="0" rtlCol="0"/>
              <a:lstStyle/>
              <a:p>
                <a:pPr defTabSz="623438"/>
                <a:endParaRPr sz="1227">
                  <a:solidFill>
                    <a:prstClr val="black"/>
                  </a:solidFill>
                  <a:latin typeface="Calibri"/>
                </a:endParaRPr>
              </a:p>
            </p:txBody>
          </p:sp>
        </p:grpSp>
        <p:sp>
          <p:nvSpPr>
            <p:cNvPr id="118" name="Rectangle 117">
              <a:extLst>
                <a:ext uri="{FF2B5EF4-FFF2-40B4-BE49-F238E27FC236}">
                  <a16:creationId xmlns:a16="http://schemas.microsoft.com/office/drawing/2014/main" id="{A83756FA-0778-495A-BC5D-41EABFD8A7CB}"/>
                </a:ext>
              </a:extLst>
            </p:cNvPr>
            <p:cNvSpPr/>
            <p:nvPr/>
          </p:nvSpPr>
          <p:spPr bwMode="gray">
            <a:xfrm>
              <a:off x="1485787" y="4236466"/>
              <a:ext cx="2418995" cy="1945088"/>
            </a:xfrm>
            <a:prstGeom prst="rect">
              <a:avLst/>
            </a:prstGeom>
            <a:solidFill>
              <a:schemeClr val="accent3">
                <a:lumMod val="60000"/>
                <a:lumOff val="40000"/>
              </a:schemeClr>
            </a:solidFill>
            <a:ln w="19050" algn="ctr">
              <a:noFill/>
              <a:miter lim="800000"/>
              <a:headEnd/>
              <a:tailEnd/>
            </a:ln>
          </p:spPr>
          <p:txBody>
            <a:bodyPr wrap="square" lIns="24545" tIns="24545" rIns="24545" bIns="24545" rtlCol="0" anchor="ctr"/>
            <a:lstStyle/>
            <a:p>
              <a:pPr algn="just" defTabSz="623438"/>
              <a:r>
                <a:rPr lang="en-IN" sz="1000" b="1" dirty="0">
                  <a:solidFill>
                    <a:prstClr val="black"/>
                  </a:solidFill>
                  <a:latin typeface="Verdana"/>
                  <a:cs typeface="Calibri" panose="020F0502020204030204" pitchFamily="34" charset="0"/>
                </a:rPr>
                <a:t>Select experience in WB Power Sector:</a:t>
              </a:r>
            </a:p>
            <a:p>
              <a:pPr marL="116895" indent="-116895" algn="just" defTabSz="623438">
                <a:buFont typeface="Arial" panose="020B0604020202020204" pitchFamily="34" charset="0"/>
                <a:buChar char="•"/>
              </a:pPr>
              <a:r>
                <a:rPr lang="en-US" sz="1000" dirty="0">
                  <a:solidFill>
                    <a:prstClr val="black"/>
                  </a:solidFill>
                  <a:latin typeface="Verdana"/>
                  <a:cs typeface="Calibri" panose="020F0502020204030204" pitchFamily="34" charset="0"/>
                </a:rPr>
                <a:t>Regulatory support to WBSETCL, WBSEDCL &amp; IPL</a:t>
              </a:r>
            </a:p>
            <a:p>
              <a:pPr marL="116895" indent="-116895" algn="just" defTabSz="623438">
                <a:buFont typeface="Arial" panose="020B0604020202020204" pitchFamily="34" charset="0"/>
                <a:buChar char="•"/>
              </a:pPr>
              <a:r>
                <a:rPr lang="en-US" sz="1000" dirty="0">
                  <a:solidFill>
                    <a:prstClr val="black"/>
                  </a:solidFill>
                  <a:latin typeface="Verdana"/>
                  <a:cs typeface="Calibri" panose="020F0502020204030204" pitchFamily="34" charset="0"/>
                </a:rPr>
                <a:t>Financial health of WBSEDCL</a:t>
              </a:r>
            </a:p>
            <a:p>
              <a:pPr marL="116895" indent="-116895" algn="just" defTabSz="623438">
                <a:spcAft>
                  <a:spcPts val="205"/>
                </a:spcAft>
                <a:buFont typeface="Arial" panose="020B0604020202020204" pitchFamily="34" charset="0"/>
                <a:buChar char="•"/>
              </a:pPr>
              <a:r>
                <a:rPr lang="en-US" sz="1000" dirty="0">
                  <a:solidFill>
                    <a:prstClr val="black"/>
                  </a:solidFill>
                  <a:latin typeface="Verdana"/>
                  <a:cs typeface="Calibri" panose="020F0502020204030204" pitchFamily="34" charset="0"/>
                </a:rPr>
                <a:t>Impact assessment of business scenarios (WBSEDCL)</a:t>
              </a:r>
            </a:p>
            <a:p>
              <a:pPr marL="116895" indent="-116895" algn="just" defTabSz="623438">
                <a:spcAft>
                  <a:spcPts val="205"/>
                </a:spcAft>
                <a:buFont typeface="Arial" panose="020B0604020202020204" pitchFamily="34" charset="0"/>
                <a:buChar char="•"/>
              </a:pPr>
              <a:r>
                <a:rPr lang="en-US" sz="1000" dirty="0">
                  <a:solidFill>
                    <a:prstClr val="black"/>
                  </a:solidFill>
                  <a:latin typeface="Verdana"/>
                  <a:cs typeface="Calibri" panose="020F0502020204030204" pitchFamily="34" charset="0"/>
                </a:rPr>
                <a:t>Intra-state T&amp;D Investment Plan improvement of WB &amp; AP</a:t>
              </a:r>
            </a:p>
          </p:txBody>
        </p:sp>
      </p:grpSp>
      <p:pic>
        <p:nvPicPr>
          <p:cNvPr id="142" name="Picture 141">
            <a:extLst>
              <a:ext uri="{FF2B5EF4-FFF2-40B4-BE49-F238E27FC236}">
                <a16:creationId xmlns:a16="http://schemas.microsoft.com/office/drawing/2014/main" id="{20D2CA9F-2591-46D9-8749-BC651AB32D09}"/>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87175" y="1206683"/>
            <a:ext cx="597135" cy="481391"/>
          </a:xfrm>
          <a:prstGeom prst="round2DiagRect">
            <a:avLst>
              <a:gd name="adj1" fmla="val 16667"/>
              <a:gd name="adj2" fmla="val 0"/>
            </a:avLst>
          </a:prstGeom>
          <a:ln w="19050" cap="sq">
            <a:solidFill>
              <a:schemeClr val="bg1"/>
            </a:solidFill>
            <a:miter lim="800000"/>
          </a:ln>
          <a:effectLst>
            <a:outerShdw blurRad="254000" algn="tl" rotWithShape="0">
              <a:srgbClr val="000000">
                <a:alpha val="43000"/>
              </a:srgbClr>
            </a:outerShdw>
          </a:effectLst>
        </p:spPr>
      </p:pic>
      <p:sp>
        <p:nvSpPr>
          <p:cNvPr id="146" name="object 60">
            <a:extLst>
              <a:ext uri="{FF2B5EF4-FFF2-40B4-BE49-F238E27FC236}">
                <a16:creationId xmlns:a16="http://schemas.microsoft.com/office/drawing/2014/main" id="{634B6DB2-747B-4FF9-A476-567B479959F4}"/>
              </a:ext>
            </a:extLst>
          </p:cNvPr>
          <p:cNvSpPr/>
          <p:nvPr/>
        </p:nvSpPr>
        <p:spPr>
          <a:xfrm>
            <a:off x="449737" y="849456"/>
            <a:ext cx="11189813" cy="2826452"/>
          </a:xfrm>
          <a:custGeom>
            <a:avLst/>
            <a:gdLst/>
            <a:ahLst/>
            <a:cxnLst/>
            <a:rect l="l" t="t" r="r" b="b"/>
            <a:pathLst>
              <a:path w="3298190" h="3736975">
                <a:moveTo>
                  <a:pt x="0" y="3736848"/>
                </a:moveTo>
                <a:lnTo>
                  <a:pt x="3297936" y="3736848"/>
                </a:lnTo>
                <a:lnTo>
                  <a:pt x="3297936" y="0"/>
                </a:lnTo>
                <a:lnTo>
                  <a:pt x="0" y="0"/>
                </a:lnTo>
                <a:lnTo>
                  <a:pt x="0" y="3736848"/>
                </a:lnTo>
                <a:close/>
              </a:path>
            </a:pathLst>
          </a:custGeom>
          <a:ln w="27431">
            <a:solidFill>
              <a:srgbClr val="046A38"/>
            </a:solidFill>
            <a:prstDash val="lgDash"/>
          </a:ln>
        </p:spPr>
        <p:txBody>
          <a:bodyPr wrap="square" lIns="0" tIns="0" rIns="0" bIns="0" rtlCol="0"/>
          <a:lstStyle/>
          <a:p>
            <a:pPr defTabSz="837848"/>
            <a:endParaRPr sz="1649">
              <a:solidFill>
                <a:prstClr val="black"/>
              </a:solidFill>
              <a:latin typeface="Verdana"/>
            </a:endParaRPr>
          </a:p>
        </p:txBody>
      </p:sp>
      <p:sp>
        <p:nvSpPr>
          <p:cNvPr id="127" name="object 26">
            <a:extLst>
              <a:ext uri="{FF2B5EF4-FFF2-40B4-BE49-F238E27FC236}">
                <a16:creationId xmlns:a16="http://schemas.microsoft.com/office/drawing/2014/main" id="{79B04060-5CD8-46F2-9547-E65F26BB81F7}"/>
              </a:ext>
            </a:extLst>
          </p:cNvPr>
          <p:cNvSpPr txBox="1"/>
          <p:nvPr/>
        </p:nvSpPr>
        <p:spPr>
          <a:xfrm>
            <a:off x="8143444" y="1693614"/>
            <a:ext cx="861552" cy="322764"/>
          </a:xfrm>
          <a:prstGeom prst="rect">
            <a:avLst/>
          </a:prstGeom>
        </p:spPr>
        <p:txBody>
          <a:bodyPr vert="horz" wrap="square" lIns="0" tIns="7793" rIns="0" bIns="0" rtlCol="0">
            <a:spAutoFit/>
          </a:bodyPr>
          <a:lstStyle/>
          <a:p>
            <a:pPr defTabSz="397435">
              <a:defRPr/>
            </a:pPr>
            <a:r>
              <a:rPr lang="en-US" sz="682" b="1" kern="0" dirty="0">
                <a:solidFill>
                  <a:prstClr val="black"/>
                </a:solidFill>
                <a:latin typeface="Verdana"/>
                <a:ea typeface="Verdana" panose="020B0604030504040204" pitchFamily="34" charset="0"/>
              </a:rPr>
              <a:t>Pratik Kumar</a:t>
            </a:r>
          </a:p>
          <a:p>
            <a:pPr defTabSz="397435">
              <a:defRPr/>
            </a:pPr>
            <a:r>
              <a:rPr lang="en-US" sz="682" kern="0" dirty="0">
                <a:solidFill>
                  <a:prstClr val="black"/>
                </a:solidFill>
                <a:latin typeface="Verdana"/>
                <a:ea typeface="Verdana" panose="020B0604030504040204" pitchFamily="34" charset="0"/>
              </a:rPr>
              <a:t>Manager,</a:t>
            </a:r>
          </a:p>
          <a:p>
            <a:pPr defTabSz="397435">
              <a:defRPr/>
            </a:pPr>
            <a:r>
              <a:rPr lang="en-US" sz="682" b="1" kern="0" dirty="0">
                <a:solidFill>
                  <a:prstClr val="black"/>
                </a:solidFill>
                <a:latin typeface="Verdana"/>
                <a:ea typeface="Verdana" panose="020B0604030504040204" pitchFamily="34" charset="0"/>
              </a:rPr>
              <a:t>(10 years)</a:t>
            </a:r>
          </a:p>
        </p:txBody>
      </p:sp>
      <p:sp>
        <p:nvSpPr>
          <p:cNvPr id="128" name="object 34">
            <a:extLst>
              <a:ext uri="{FF2B5EF4-FFF2-40B4-BE49-F238E27FC236}">
                <a16:creationId xmlns:a16="http://schemas.microsoft.com/office/drawing/2014/main" id="{577952AA-8FB4-483D-B09C-02BDAE010763}"/>
              </a:ext>
            </a:extLst>
          </p:cNvPr>
          <p:cNvSpPr/>
          <p:nvPr/>
        </p:nvSpPr>
        <p:spPr>
          <a:xfrm>
            <a:off x="8015335" y="930660"/>
            <a:ext cx="3519559" cy="233955"/>
          </a:xfrm>
          <a:custGeom>
            <a:avLst/>
            <a:gdLst/>
            <a:ahLst/>
            <a:cxnLst/>
            <a:rect l="l" t="t" r="r" b="b"/>
            <a:pathLst>
              <a:path w="2810510" h="216534">
                <a:moveTo>
                  <a:pt x="0" y="216408"/>
                </a:moveTo>
                <a:lnTo>
                  <a:pt x="2810256" y="216408"/>
                </a:lnTo>
                <a:lnTo>
                  <a:pt x="2810256" y="0"/>
                </a:lnTo>
                <a:lnTo>
                  <a:pt x="0" y="0"/>
                </a:lnTo>
                <a:lnTo>
                  <a:pt x="0" y="216408"/>
                </a:lnTo>
                <a:close/>
              </a:path>
            </a:pathLst>
          </a:custGeom>
          <a:solidFill>
            <a:srgbClr val="85BB24"/>
          </a:solidFill>
        </p:spPr>
        <p:txBody>
          <a:bodyPr wrap="square" lIns="0" tIns="0" rIns="0" bIns="0" rtlCol="0" anchor="ctr"/>
          <a:lstStyle/>
          <a:p>
            <a:pPr algn="ctr" defTabSz="623438"/>
            <a:r>
              <a:rPr lang="en-US" sz="955" b="1" dirty="0">
                <a:solidFill>
                  <a:prstClr val="white"/>
                </a:solidFill>
                <a:latin typeface="Verdana"/>
              </a:rPr>
              <a:t>Senior Resource</a:t>
            </a:r>
          </a:p>
        </p:txBody>
      </p:sp>
      <p:sp>
        <p:nvSpPr>
          <p:cNvPr id="129" name="object 35">
            <a:extLst>
              <a:ext uri="{FF2B5EF4-FFF2-40B4-BE49-F238E27FC236}">
                <a16:creationId xmlns:a16="http://schemas.microsoft.com/office/drawing/2014/main" id="{61A8FD36-CD0E-4000-9F97-6716633FE4F4}"/>
              </a:ext>
            </a:extLst>
          </p:cNvPr>
          <p:cNvSpPr/>
          <p:nvPr/>
        </p:nvSpPr>
        <p:spPr>
          <a:xfrm>
            <a:off x="8015333" y="930660"/>
            <a:ext cx="3519559" cy="215441"/>
          </a:xfrm>
          <a:custGeom>
            <a:avLst/>
            <a:gdLst/>
            <a:ahLst/>
            <a:cxnLst/>
            <a:rect l="l" t="t" r="r" b="b"/>
            <a:pathLst>
              <a:path w="2810510" h="216534">
                <a:moveTo>
                  <a:pt x="0" y="216408"/>
                </a:moveTo>
                <a:lnTo>
                  <a:pt x="2810256" y="216408"/>
                </a:lnTo>
                <a:lnTo>
                  <a:pt x="2810256" y="0"/>
                </a:lnTo>
                <a:lnTo>
                  <a:pt x="0" y="0"/>
                </a:lnTo>
                <a:lnTo>
                  <a:pt x="0" y="216408"/>
                </a:lnTo>
                <a:close/>
              </a:path>
            </a:pathLst>
          </a:custGeom>
          <a:ln w="12192">
            <a:solidFill>
              <a:srgbClr val="85BB24"/>
            </a:solidFill>
          </a:ln>
        </p:spPr>
        <p:txBody>
          <a:bodyPr wrap="square" lIns="0" tIns="0" rIns="0" bIns="0" rtlCol="0"/>
          <a:lstStyle/>
          <a:p>
            <a:pPr defTabSz="623438"/>
            <a:endParaRPr sz="1227">
              <a:solidFill>
                <a:prstClr val="black"/>
              </a:solidFill>
              <a:latin typeface="Calibri"/>
            </a:endParaRPr>
          </a:p>
        </p:txBody>
      </p:sp>
      <p:sp>
        <p:nvSpPr>
          <p:cNvPr id="130" name="object 37">
            <a:extLst>
              <a:ext uri="{FF2B5EF4-FFF2-40B4-BE49-F238E27FC236}">
                <a16:creationId xmlns:a16="http://schemas.microsoft.com/office/drawing/2014/main" id="{9CEF4E35-D4F7-450D-B54D-A702F1AFF89B}"/>
              </a:ext>
            </a:extLst>
          </p:cNvPr>
          <p:cNvSpPr/>
          <p:nvPr/>
        </p:nvSpPr>
        <p:spPr>
          <a:xfrm>
            <a:off x="8015332" y="1146100"/>
            <a:ext cx="3519559" cy="2425776"/>
          </a:xfrm>
          <a:custGeom>
            <a:avLst/>
            <a:gdLst/>
            <a:ahLst/>
            <a:cxnLst/>
            <a:rect l="l" t="t" r="r" b="b"/>
            <a:pathLst>
              <a:path w="2810510" h="1164589">
                <a:moveTo>
                  <a:pt x="0" y="1164336"/>
                </a:moveTo>
                <a:lnTo>
                  <a:pt x="2810256" y="1164336"/>
                </a:lnTo>
                <a:lnTo>
                  <a:pt x="2810256" y="0"/>
                </a:lnTo>
                <a:lnTo>
                  <a:pt x="0" y="0"/>
                </a:lnTo>
                <a:lnTo>
                  <a:pt x="0" y="1164336"/>
                </a:lnTo>
                <a:close/>
              </a:path>
            </a:pathLst>
          </a:custGeom>
          <a:solidFill>
            <a:schemeClr val="accent3">
              <a:lumMod val="60000"/>
              <a:lumOff val="40000"/>
            </a:schemeClr>
          </a:solidFill>
          <a:ln w="12192">
            <a:solidFill>
              <a:srgbClr val="85BB24"/>
            </a:solidFill>
          </a:ln>
        </p:spPr>
        <p:txBody>
          <a:bodyPr wrap="square" lIns="0" tIns="0" rIns="0" bIns="0" rtlCol="0"/>
          <a:lstStyle/>
          <a:p>
            <a:pPr defTabSz="623438"/>
            <a:endParaRPr sz="1227">
              <a:solidFill>
                <a:prstClr val="black"/>
              </a:solidFill>
              <a:latin typeface="Calibri"/>
            </a:endParaRPr>
          </a:p>
        </p:txBody>
      </p:sp>
      <p:sp>
        <p:nvSpPr>
          <p:cNvPr id="126" name="Rectangle 125">
            <a:extLst>
              <a:ext uri="{FF2B5EF4-FFF2-40B4-BE49-F238E27FC236}">
                <a16:creationId xmlns:a16="http://schemas.microsoft.com/office/drawing/2014/main" id="{C26302DC-5EE1-4371-9E45-03EBBA121784}"/>
              </a:ext>
            </a:extLst>
          </p:cNvPr>
          <p:cNvSpPr/>
          <p:nvPr/>
        </p:nvSpPr>
        <p:spPr bwMode="gray">
          <a:xfrm>
            <a:off x="8938973" y="1181910"/>
            <a:ext cx="2566955" cy="1117711"/>
          </a:xfrm>
          <a:prstGeom prst="rect">
            <a:avLst/>
          </a:prstGeom>
          <a:solidFill>
            <a:schemeClr val="accent3">
              <a:lumMod val="60000"/>
              <a:lumOff val="40000"/>
            </a:schemeClr>
          </a:solidFill>
          <a:ln w="19050" algn="ctr">
            <a:noFill/>
            <a:miter lim="800000"/>
            <a:headEnd/>
            <a:tailEnd/>
          </a:ln>
        </p:spPr>
        <p:txBody>
          <a:bodyPr wrap="square" lIns="24545" tIns="24545" rIns="24545" bIns="24545" rtlCol="0" anchor="ctr"/>
          <a:lstStyle/>
          <a:p>
            <a:pPr algn="just" defTabSz="623438"/>
            <a:r>
              <a:rPr lang="en-IN" sz="1000" b="1" dirty="0">
                <a:solidFill>
                  <a:prstClr val="black"/>
                </a:solidFill>
                <a:latin typeface="Verdana"/>
                <a:cs typeface="Calibri" panose="020F0502020204030204" pitchFamily="34" charset="0"/>
              </a:rPr>
              <a:t>Select experience in WB Power Sector:</a:t>
            </a:r>
          </a:p>
          <a:p>
            <a:pPr marL="116895" indent="-116895" algn="just" defTabSz="623438">
              <a:buFont typeface="Arial" panose="020B0604020202020204" pitchFamily="34" charset="0"/>
              <a:buChar char="•"/>
            </a:pPr>
            <a:r>
              <a:rPr lang="en-US" sz="1000" dirty="0">
                <a:solidFill>
                  <a:prstClr val="black"/>
                </a:solidFill>
                <a:latin typeface="Verdana"/>
                <a:cs typeface="Calibri" panose="020F0502020204030204" pitchFamily="34" charset="0"/>
              </a:rPr>
              <a:t>financial health of WBSEDCL</a:t>
            </a:r>
          </a:p>
          <a:p>
            <a:pPr marL="116895" indent="-116895" algn="just" defTabSz="623438">
              <a:spcAft>
                <a:spcPts val="205"/>
              </a:spcAft>
              <a:buFont typeface="Arial" panose="020B0604020202020204" pitchFamily="34" charset="0"/>
              <a:buChar char="•"/>
            </a:pPr>
            <a:r>
              <a:rPr lang="en-US" sz="1000" dirty="0">
                <a:solidFill>
                  <a:prstClr val="black"/>
                </a:solidFill>
                <a:latin typeface="Verdana"/>
                <a:cs typeface="Calibri" panose="020F0502020204030204" pitchFamily="34" charset="0"/>
              </a:rPr>
              <a:t>Intra-state T&amp;D Investment Plan improvement of WB &amp; AP</a:t>
            </a:r>
          </a:p>
          <a:p>
            <a:pPr marL="116895" indent="-116895" algn="just" defTabSz="623438">
              <a:buFont typeface="Arial" panose="020B0604020202020204" pitchFamily="34" charset="0"/>
              <a:buChar char="•"/>
            </a:pPr>
            <a:r>
              <a:rPr lang="en-US" sz="1000" dirty="0">
                <a:solidFill>
                  <a:prstClr val="black"/>
                </a:solidFill>
                <a:latin typeface="Verdana"/>
                <a:cs typeface="Calibri" panose="020F0502020204030204" pitchFamily="34" charset="0"/>
              </a:rPr>
              <a:t>Roadmap for 24X7 Power for All for Assam &amp; WB</a:t>
            </a:r>
          </a:p>
        </p:txBody>
      </p:sp>
      <p:pic>
        <p:nvPicPr>
          <p:cNvPr id="141" name="Picture 140" descr="A person wearing a suit and tie&#10;&#10;Description automatically generated">
            <a:extLst>
              <a:ext uri="{FF2B5EF4-FFF2-40B4-BE49-F238E27FC236}">
                <a16:creationId xmlns:a16="http://schemas.microsoft.com/office/drawing/2014/main" id="{7DFEDA5D-A5D7-400D-9622-926DF4D32B79}"/>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8147780" y="1236041"/>
            <a:ext cx="581076" cy="444723"/>
          </a:xfrm>
          <a:prstGeom prst="round2DiagRect">
            <a:avLst>
              <a:gd name="adj1" fmla="val 16667"/>
              <a:gd name="adj2" fmla="val 0"/>
            </a:avLst>
          </a:prstGeom>
          <a:ln w="19050" cap="sq">
            <a:solidFill>
              <a:schemeClr val="bg1"/>
            </a:solidFill>
            <a:miter lim="800000"/>
          </a:ln>
          <a:effectLst>
            <a:outerShdw blurRad="254000" algn="tl" rotWithShape="0">
              <a:srgbClr val="000000">
                <a:alpha val="43000"/>
              </a:srgbClr>
            </a:outerShdw>
          </a:effectLst>
        </p:spPr>
      </p:pic>
      <p:sp>
        <p:nvSpPr>
          <p:cNvPr id="164" name="object 26">
            <a:extLst>
              <a:ext uri="{FF2B5EF4-FFF2-40B4-BE49-F238E27FC236}">
                <a16:creationId xmlns:a16="http://schemas.microsoft.com/office/drawing/2014/main" id="{80ECDFE3-B8C4-49B1-987F-97DB34AAE75B}"/>
              </a:ext>
            </a:extLst>
          </p:cNvPr>
          <p:cNvSpPr txBox="1"/>
          <p:nvPr/>
        </p:nvSpPr>
        <p:spPr>
          <a:xfrm>
            <a:off x="8132049" y="1762614"/>
            <a:ext cx="754095" cy="623422"/>
          </a:xfrm>
          <a:prstGeom prst="rect">
            <a:avLst/>
          </a:prstGeom>
        </p:spPr>
        <p:txBody>
          <a:bodyPr vert="horz" wrap="square" lIns="0" tIns="7793" rIns="0" bIns="0" rtlCol="0" anchor="ctr">
            <a:spAutoFit/>
          </a:bodyPr>
          <a:lstStyle/>
          <a:p>
            <a:pPr defTabSz="397435">
              <a:defRPr/>
            </a:pPr>
            <a:r>
              <a:rPr lang="en-US" sz="1000" b="1" kern="0" dirty="0">
                <a:solidFill>
                  <a:prstClr val="black"/>
                </a:solidFill>
                <a:latin typeface="Verdana"/>
                <a:ea typeface="Verdana" panose="020B0604030504040204" pitchFamily="34" charset="0"/>
              </a:rPr>
              <a:t>Pratik Kumar</a:t>
            </a:r>
          </a:p>
          <a:p>
            <a:pPr defTabSz="397435">
              <a:defRPr/>
            </a:pPr>
            <a:r>
              <a:rPr lang="en-US" sz="1000" kern="0" dirty="0">
                <a:solidFill>
                  <a:prstClr val="black"/>
                </a:solidFill>
                <a:latin typeface="Verdana"/>
                <a:ea typeface="Verdana" panose="020B0604030504040204" pitchFamily="34" charset="0"/>
              </a:rPr>
              <a:t>Manager, </a:t>
            </a:r>
            <a:endParaRPr lang="en-US" sz="1000" b="1" kern="0" dirty="0">
              <a:solidFill>
                <a:prstClr val="black"/>
              </a:solidFill>
              <a:latin typeface="Verdana"/>
              <a:ea typeface="Verdana" panose="020B0604030504040204" pitchFamily="34" charset="0"/>
            </a:endParaRPr>
          </a:p>
          <a:p>
            <a:pPr defTabSz="397435">
              <a:defRPr/>
            </a:pPr>
            <a:r>
              <a:rPr lang="en-US" sz="1000" b="1" kern="0" dirty="0">
                <a:solidFill>
                  <a:prstClr val="black"/>
                </a:solidFill>
                <a:latin typeface="Verdana"/>
                <a:ea typeface="Verdana" panose="020B0604030504040204" pitchFamily="34" charset="0"/>
              </a:rPr>
              <a:t>(10 years)</a:t>
            </a:r>
          </a:p>
        </p:txBody>
      </p:sp>
      <p:sp>
        <p:nvSpPr>
          <p:cNvPr id="4" name="Rectangle 3">
            <a:extLst>
              <a:ext uri="{FF2B5EF4-FFF2-40B4-BE49-F238E27FC236}">
                <a16:creationId xmlns:a16="http://schemas.microsoft.com/office/drawing/2014/main" id="{0445E433-93C8-49CC-A4BB-0416E11CA830}"/>
              </a:ext>
            </a:extLst>
          </p:cNvPr>
          <p:cNvSpPr/>
          <p:nvPr/>
        </p:nvSpPr>
        <p:spPr>
          <a:xfrm>
            <a:off x="553244" y="2598593"/>
            <a:ext cx="3628961" cy="1015663"/>
          </a:xfrm>
          <a:prstGeom prst="rect">
            <a:avLst/>
          </a:prstGeom>
        </p:spPr>
        <p:txBody>
          <a:bodyPr wrap="square">
            <a:spAutoFit/>
          </a:bodyPr>
          <a:lstStyle/>
          <a:p>
            <a:pPr defTabSz="623438"/>
            <a:r>
              <a:rPr lang="en-IN" sz="1000" b="1" dirty="0">
                <a:solidFill>
                  <a:prstClr val="black"/>
                </a:solidFill>
                <a:latin typeface="Verdana"/>
                <a:cs typeface="Calibri" panose="020F0502020204030204" pitchFamily="34" charset="0"/>
              </a:rPr>
              <a:t>Experience in RE/EV/BESS/RE integration:</a:t>
            </a:r>
            <a:endParaRPr lang="en-US" sz="1000" dirty="0">
              <a:solidFill>
                <a:prstClr val="black"/>
              </a:solidFill>
              <a:latin typeface="Verdana"/>
              <a:cs typeface="Calibri" panose="020F0502020204030204" pitchFamily="34" charset="0"/>
            </a:endParaRP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Assessment of EV charging infrastructure(EESL) </a:t>
            </a: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Renewable Integration &amp; Sustainable Energy (RISE - USAID)</a:t>
            </a: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Assessment of RE curtailment in Rajasthan &amp;  Andhra Pradesh</a:t>
            </a:r>
          </a:p>
        </p:txBody>
      </p:sp>
      <p:sp>
        <p:nvSpPr>
          <p:cNvPr id="5" name="Rectangle 4">
            <a:extLst>
              <a:ext uri="{FF2B5EF4-FFF2-40B4-BE49-F238E27FC236}">
                <a16:creationId xmlns:a16="http://schemas.microsoft.com/office/drawing/2014/main" id="{E94E68FC-7C71-498E-8FDB-75A25B378136}"/>
              </a:ext>
            </a:extLst>
          </p:cNvPr>
          <p:cNvSpPr/>
          <p:nvPr/>
        </p:nvSpPr>
        <p:spPr>
          <a:xfrm>
            <a:off x="4286861" y="2561085"/>
            <a:ext cx="3623813" cy="938719"/>
          </a:xfrm>
          <a:prstGeom prst="rect">
            <a:avLst/>
          </a:prstGeom>
        </p:spPr>
        <p:txBody>
          <a:bodyPr wrap="square">
            <a:spAutoFit/>
          </a:bodyPr>
          <a:lstStyle/>
          <a:p>
            <a:pPr defTabSz="623438">
              <a:lnSpc>
                <a:spcPct val="150000"/>
              </a:lnSpc>
            </a:pPr>
            <a:r>
              <a:rPr lang="en-IN" sz="1000" b="1" dirty="0">
                <a:solidFill>
                  <a:prstClr val="black"/>
                </a:solidFill>
                <a:latin typeface="Verdana"/>
                <a:cs typeface="Calibri" panose="020F0502020204030204" pitchFamily="34" charset="0"/>
              </a:rPr>
              <a:t>Experience in RE/EV/BESS/RE integration:</a:t>
            </a:r>
            <a:endParaRPr lang="en-US" sz="1000" dirty="0">
              <a:solidFill>
                <a:prstClr val="black"/>
              </a:solidFill>
              <a:latin typeface="Verdana"/>
              <a:cs typeface="Calibri" panose="020F0502020204030204" pitchFamily="34" charset="0"/>
            </a:endParaRP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Assessment of EV charging infrastructure(EESL) </a:t>
            </a: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Evaluating Institutional Framework for RE deployment</a:t>
            </a: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RISE Pilot-EV Integration study of BESS</a:t>
            </a:r>
            <a:endParaRPr lang="en-US" sz="1000" dirty="0">
              <a:solidFill>
                <a:srgbClr val="DA291C"/>
              </a:solidFill>
              <a:highlight>
                <a:srgbClr val="FFFF00"/>
              </a:highlight>
              <a:latin typeface="Verdana"/>
              <a:cs typeface="Calibri" panose="020F0502020204030204" pitchFamily="34" charset="0"/>
            </a:endParaRPr>
          </a:p>
        </p:txBody>
      </p:sp>
      <p:sp>
        <p:nvSpPr>
          <p:cNvPr id="6" name="Rectangle 5">
            <a:extLst>
              <a:ext uri="{FF2B5EF4-FFF2-40B4-BE49-F238E27FC236}">
                <a16:creationId xmlns:a16="http://schemas.microsoft.com/office/drawing/2014/main" id="{B1C8242B-D342-4D5E-8E3B-3014AC0CD72C}"/>
              </a:ext>
            </a:extLst>
          </p:cNvPr>
          <p:cNvSpPr/>
          <p:nvPr/>
        </p:nvSpPr>
        <p:spPr>
          <a:xfrm>
            <a:off x="8044655" y="2605529"/>
            <a:ext cx="3461275" cy="707886"/>
          </a:xfrm>
          <a:prstGeom prst="rect">
            <a:avLst/>
          </a:prstGeom>
        </p:spPr>
        <p:txBody>
          <a:bodyPr wrap="square">
            <a:spAutoFit/>
          </a:bodyPr>
          <a:lstStyle/>
          <a:p>
            <a:pPr defTabSz="623438"/>
            <a:r>
              <a:rPr lang="en-IN" sz="1000" b="1" dirty="0">
                <a:solidFill>
                  <a:prstClr val="black"/>
                </a:solidFill>
                <a:latin typeface="Verdana"/>
                <a:cs typeface="Calibri" panose="020F0502020204030204" pitchFamily="34" charset="0"/>
              </a:rPr>
              <a:t>Experience in RE/EV/BESS/RE integration:</a:t>
            </a:r>
            <a:endParaRPr lang="en-US" sz="1000" dirty="0">
              <a:solidFill>
                <a:prstClr val="black"/>
              </a:solidFill>
              <a:latin typeface="Verdana"/>
              <a:cs typeface="Calibri" panose="020F0502020204030204" pitchFamily="34" charset="0"/>
            </a:endParaRP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Integrating distributed solar  Rooftop PV in Distribution Network in Vietnam</a:t>
            </a:r>
          </a:p>
          <a:p>
            <a:pPr marL="116895" indent="-116895" defTabSz="623438">
              <a:buFont typeface="Arial" panose="020B0604020202020204" pitchFamily="34" charset="0"/>
              <a:buChar char="•"/>
            </a:pPr>
            <a:r>
              <a:rPr lang="en-US" sz="1000" dirty="0">
                <a:solidFill>
                  <a:prstClr val="black"/>
                </a:solidFill>
                <a:latin typeface="Verdana"/>
                <a:cs typeface="Calibri" panose="020F0502020204030204" pitchFamily="34" charset="0"/>
              </a:rPr>
              <a:t>RISE Pilot-EV Integration study of BESS</a:t>
            </a:r>
            <a:endParaRPr lang="en-US" sz="1000" dirty="0">
              <a:solidFill>
                <a:srgbClr val="DA291C"/>
              </a:solidFill>
              <a:highlight>
                <a:srgbClr val="FFFF00"/>
              </a:highlight>
              <a:latin typeface="Verdana"/>
              <a:cs typeface="Calibri" panose="020F0502020204030204" pitchFamily="34" charset="0"/>
            </a:endParaRPr>
          </a:p>
        </p:txBody>
      </p:sp>
      <p:graphicFrame>
        <p:nvGraphicFramePr>
          <p:cNvPr id="83" name="Chart Placeholder 13">
            <a:extLst>
              <a:ext uri="{FF2B5EF4-FFF2-40B4-BE49-F238E27FC236}">
                <a16:creationId xmlns:a16="http://schemas.microsoft.com/office/drawing/2014/main" id="{977999FB-A016-45B4-B856-0E0FA270154D}"/>
              </a:ext>
            </a:extLst>
          </p:cNvPr>
          <p:cNvGraphicFramePr>
            <a:graphicFrameLocks/>
          </p:cNvGraphicFramePr>
          <p:nvPr>
            <p:extLst>
              <p:ext uri="{D42A27DB-BD31-4B8C-83A1-F6EECF244321}">
                <p14:modId xmlns:p14="http://schemas.microsoft.com/office/powerpoint/2010/main" val="573629044"/>
              </p:ext>
            </p:extLst>
          </p:nvPr>
        </p:nvGraphicFramePr>
        <p:xfrm>
          <a:off x="375501" y="4050299"/>
          <a:ext cx="11237362" cy="2436226"/>
        </p:xfrm>
        <a:graphic>
          <a:graphicData uri="http://schemas.openxmlformats.org/drawingml/2006/chart">
            <c:chart xmlns:c="http://schemas.openxmlformats.org/drawingml/2006/chart" xmlns:r="http://schemas.openxmlformats.org/officeDocument/2006/relationships" r:id="rId9"/>
          </a:graphicData>
        </a:graphic>
      </p:graphicFrame>
      <p:sp>
        <p:nvSpPr>
          <p:cNvPr id="84" name="Text Placeholder 4">
            <a:extLst>
              <a:ext uri="{FF2B5EF4-FFF2-40B4-BE49-F238E27FC236}">
                <a16:creationId xmlns:a16="http://schemas.microsoft.com/office/drawing/2014/main" id="{F48D60CA-5BB5-4DDD-9FB7-EECFB5D99D6E}"/>
              </a:ext>
            </a:extLst>
          </p:cNvPr>
          <p:cNvSpPr txBox="1">
            <a:spLocks/>
          </p:cNvSpPr>
          <p:nvPr/>
        </p:nvSpPr>
        <p:spPr>
          <a:xfrm>
            <a:off x="449739" y="3730033"/>
            <a:ext cx="3608382" cy="400110"/>
          </a:xfrm>
          <a:prstGeom prst="rect">
            <a:avLst/>
          </a:prstGeom>
          <a:solidFill>
            <a:srgbClr val="E3E4E5"/>
          </a:solidFill>
        </p:spPr>
        <p:txBody>
          <a:bodyPr wrap="square">
            <a:spAutoFit/>
          </a:bodyPr>
          <a:lstStyle>
            <a:lvl1pPr marL="0" indent="0" algn="l" defTabSz="1341150" rtl="0" eaLnBrk="1" latinLnBrk="0" hangingPunct="1">
              <a:spcBef>
                <a:spcPts val="0"/>
              </a:spcBef>
              <a:spcAft>
                <a:spcPts val="1467"/>
              </a:spcAft>
              <a:buSzPct val="100000"/>
              <a:buFont typeface="Arial" panose="020B0604020202020204" pitchFamily="34" charset="0"/>
              <a:buNone/>
              <a:defRPr sz="1613" b="0" kern="1200">
                <a:solidFill>
                  <a:schemeClr val="tx1"/>
                </a:solidFill>
                <a:latin typeface="+mn-lt"/>
                <a:ea typeface="+mn-ea"/>
                <a:cs typeface="+mn-cs"/>
              </a:defRPr>
            </a:lvl1pPr>
            <a:lvl2pPr marL="0" indent="0" algn="l" defTabSz="1341150" rtl="0" eaLnBrk="1" latinLnBrk="0" hangingPunct="1">
              <a:spcBef>
                <a:spcPts val="0"/>
              </a:spcBef>
              <a:spcAft>
                <a:spcPts val="1467"/>
              </a:spcAft>
              <a:buClrTx/>
              <a:buSzPct val="100000"/>
              <a:buFont typeface="Arial"/>
              <a:buNone/>
              <a:defRPr lang="en-US" sz="1613" b="1" kern="1200" dirty="0" smtClean="0">
                <a:solidFill>
                  <a:schemeClr val="tx1"/>
                </a:solidFill>
                <a:latin typeface="+mn-lt"/>
                <a:ea typeface="+mn-ea"/>
                <a:cs typeface="+mn-cs"/>
              </a:defRPr>
            </a:lvl2pPr>
            <a:lvl3pPr marL="258726" indent="-258726" algn="l" defTabSz="1341150" rtl="0" eaLnBrk="1" latinLnBrk="0" hangingPunct="1">
              <a:spcBef>
                <a:spcPts val="0"/>
              </a:spcBef>
              <a:spcAft>
                <a:spcPts val="1467"/>
              </a:spcAft>
              <a:buClrTx/>
              <a:buSzPct val="100000"/>
              <a:buFont typeface="Arial" panose="020B0604020202020204" pitchFamily="34" charset="0"/>
              <a:buChar char="•"/>
              <a:defRPr lang="en-US" sz="1613" kern="1200" dirty="0" smtClean="0">
                <a:solidFill>
                  <a:schemeClr val="tx1"/>
                </a:solidFill>
                <a:latin typeface="+mn-lt"/>
                <a:ea typeface="+mn-ea"/>
                <a:cs typeface="+mn-cs"/>
              </a:defRPr>
            </a:lvl3pPr>
            <a:lvl4pPr marL="522732" indent="-258726" algn="l" defTabSz="1341150" rtl="0" eaLnBrk="1" latinLnBrk="0" hangingPunct="1">
              <a:spcBef>
                <a:spcPts val="0"/>
              </a:spcBef>
              <a:spcAft>
                <a:spcPts val="1467"/>
              </a:spcAft>
              <a:buClrTx/>
              <a:buSzPct val="100000"/>
              <a:buFont typeface="Verdana" panose="020B0604030504040204" pitchFamily="34" charset="0"/>
              <a:buChar char="−"/>
              <a:defRPr lang="en-US" sz="1613" kern="1200" baseline="0" dirty="0" smtClean="0">
                <a:solidFill>
                  <a:schemeClr val="tx1"/>
                </a:solidFill>
                <a:latin typeface="+mn-lt"/>
                <a:ea typeface="+mn-ea"/>
                <a:cs typeface="+mn-cs"/>
              </a:defRPr>
            </a:lvl4pPr>
            <a:lvl5pPr marL="781458" indent="-258726" algn="l" defTabSz="1171179" rtl="0" eaLnBrk="1" latinLnBrk="0" hangingPunct="1">
              <a:spcBef>
                <a:spcPts val="0"/>
              </a:spcBef>
              <a:spcAft>
                <a:spcPts val="1467"/>
              </a:spcAft>
              <a:buClrTx/>
              <a:buSzPct val="100000"/>
              <a:buFont typeface="Verdana" panose="020B0604030504040204" pitchFamily="34" charset="0"/>
              <a:buChar char="−"/>
              <a:tabLst/>
              <a:defRPr lang="en-US" sz="1613" kern="1200" baseline="0" dirty="0" smtClean="0">
                <a:solidFill>
                  <a:schemeClr val="tx1"/>
                </a:solidFill>
                <a:latin typeface="+mn-lt"/>
                <a:ea typeface="+mn-ea"/>
                <a:cs typeface="+mn-cs"/>
              </a:defRPr>
            </a:lvl5pPr>
            <a:lvl6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6pPr>
            <a:lvl7pPr marL="781458" indent="-258726" algn="l" defTabSz="1341150" rtl="0" eaLnBrk="1" latinLnBrk="0" hangingPunct="1">
              <a:spcBef>
                <a:spcPts val="0"/>
              </a:spcBef>
              <a:spcAft>
                <a:spcPts val="1467"/>
              </a:spcAft>
              <a:buFont typeface="Verdana" panose="020B0604030504040204" pitchFamily="34" charset="0"/>
              <a:buChar char="−"/>
              <a:defRPr sz="1760" kern="1200">
                <a:solidFill>
                  <a:schemeClr val="tx1"/>
                </a:solidFill>
                <a:latin typeface="+mn-lt"/>
                <a:ea typeface="+mn-ea"/>
                <a:cs typeface="+mn-cs"/>
              </a:defRPr>
            </a:lvl7pPr>
            <a:lvl8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8pPr>
            <a:lvl9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9pPr>
          </a:lstStyle>
          <a:p>
            <a:pPr algn="ctr" defTabSz="914396">
              <a:spcAft>
                <a:spcPts val="1000"/>
              </a:spcAft>
            </a:pPr>
            <a:r>
              <a:rPr lang="en-US" sz="1000" b="1" dirty="0">
                <a:solidFill>
                  <a:prstClr val="black"/>
                </a:solidFill>
                <a:latin typeface="Verdana"/>
              </a:rPr>
              <a:t>Siddharth’s category wise footprint in Power Sector (no. of project)</a:t>
            </a:r>
          </a:p>
        </p:txBody>
      </p:sp>
      <p:sp>
        <p:nvSpPr>
          <p:cNvPr id="85" name="Rectangle: Rounded Corners 84">
            <a:extLst>
              <a:ext uri="{FF2B5EF4-FFF2-40B4-BE49-F238E27FC236}">
                <a16:creationId xmlns:a16="http://schemas.microsoft.com/office/drawing/2014/main" id="{CEB7FC50-C66C-4AC8-B710-EC855588618E}"/>
              </a:ext>
            </a:extLst>
          </p:cNvPr>
          <p:cNvSpPr/>
          <p:nvPr/>
        </p:nvSpPr>
        <p:spPr bwMode="gray">
          <a:xfrm>
            <a:off x="2015372" y="4367834"/>
            <a:ext cx="802923" cy="169285"/>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3 Projects</a:t>
            </a:r>
            <a:endParaRPr lang="en-IN" sz="1000" dirty="0">
              <a:solidFill>
                <a:prstClr val="black"/>
              </a:solidFill>
              <a:latin typeface="Verdana"/>
            </a:endParaRPr>
          </a:p>
        </p:txBody>
      </p:sp>
      <p:sp>
        <p:nvSpPr>
          <p:cNvPr id="86" name="Rectangle: Rounded Corners 85">
            <a:extLst>
              <a:ext uri="{FF2B5EF4-FFF2-40B4-BE49-F238E27FC236}">
                <a16:creationId xmlns:a16="http://schemas.microsoft.com/office/drawing/2014/main" id="{311ACCAC-FF8B-45CC-A947-41FF93AF6A9E}"/>
              </a:ext>
            </a:extLst>
          </p:cNvPr>
          <p:cNvSpPr/>
          <p:nvPr/>
        </p:nvSpPr>
        <p:spPr bwMode="gray">
          <a:xfrm>
            <a:off x="2697760" y="5208544"/>
            <a:ext cx="929674" cy="109060"/>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8 Projects</a:t>
            </a:r>
            <a:endParaRPr lang="en-IN" sz="1000" dirty="0">
              <a:solidFill>
                <a:prstClr val="black"/>
              </a:solidFill>
              <a:latin typeface="Verdana"/>
            </a:endParaRPr>
          </a:p>
        </p:txBody>
      </p:sp>
      <p:sp>
        <p:nvSpPr>
          <p:cNvPr id="87" name="Rectangle: Rounded Corners 86">
            <a:extLst>
              <a:ext uri="{FF2B5EF4-FFF2-40B4-BE49-F238E27FC236}">
                <a16:creationId xmlns:a16="http://schemas.microsoft.com/office/drawing/2014/main" id="{17BEDEDD-E804-43C6-8A3F-FAD83DCC2284}"/>
              </a:ext>
            </a:extLst>
          </p:cNvPr>
          <p:cNvSpPr/>
          <p:nvPr/>
        </p:nvSpPr>
        <p:spPr bwMode="gray">
          <a:xfrm>
            <a:off x="2751411" y="5594491"/>
            <a:ext cx="822371" cy="111201"/>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6 Projects</a:t>
            </a:r>
            <a:endParaRPr lang="en-IN" sz="1000" dirty="0">
              <a:solidFill>
                <a:prstClr val="black"/>
              </a:solidFill>
              <a:latin typeface="Verdana"/>
            </a:endParaRPr>
          </a:p>
        </p:txBody>
      </p:sp>
      <p:graphicFrame>
        <p:nvGraphicFramePr>
          <p:cNvPr id="91" name="Chart Placeholder 13">
            <a:extLst>
              <a:ext uri="{FF2B5EF4-FFF2-40B4-BE49-F238E27FC236}">
                <a16:creationId xmlns:a16="http://schemas.microsoft.com/office/drawing/2014/main" id="{3BF18010-3837-41F3-A98D-9EE5F7FD2ADE}"/>
              </a:ext>
            </a:extLst>
          </p:cNvPr>
          <p:cNvGraphicFramePr>
            <a:graphicFrameLocks/>
          </p:cNvGraphicFramePr>
          <p:nvPr>
            <p:extLst>
              <p:ext uri="{D42A27DB-BD31-4B8C-83A1-F6EECF244321}">
                <p14:modId xmlns:p14="http://schemas.microsoft.com/office/powerpoint/2010/main" val="2518775113"/>
              </p:ext>
            </p:extLst>
          </p:nvPr>
        </p:nvGraphicFramePr>
        <p:xfrm>
          <a:off x="4132356" y="3936852"/>
          <a:ext cx="3717719" cy="2549673"/>
        </p:xfrm>
        <a:graphic>
          <a:graphicData uri="http://schemas.openxmlformats.org/drawingml/2006/chart">
            <c:chart xmlns:c="http://schemas.openxmlformats.org/drawingml/2006/chart" xmlns:r="http://schemas.openxmlformats.org/officeDocument/2006/relationships" r:id="rId10"/>
          </a:graphicData>
        </a:graphic>
      </p:graphicFrame>
      <p:sp>
        <p:nvSpPr>
          <p:cNvPr id="94" name="Text Placeholder 4">
            <a:extLst>
              <a:ext uri="{FF2B5EF4-FFF2-40B4-BE49-F238E27FC236}">
                <a16:creationId xmlns:a16="http://schemas.microsoft.com/office/drawing/2014/main" id="{52CFCA03-E099-456E-9FFE-696AA3ECED7A}"/>
              </a:ext>
            </a:extLst>
          </p:cNvPr>
          <p:cNvSpPr txBox="1">
            <a:spLocks/>
          </p:cNvSpPr>
          <p:nvPr/>
        </p:nvSpPr>
        <p:spPr>
          <a:xfrm>
            <a:off x="4241695" y="3730033"/>
            <a:ext cx="3608382" cy="400110"/>
          </a:xfrm>
          <a:prstGeom prst="rect">
            <a:avLst/>
          </a:prstGeom>
          <a:solidFill>
            <a:srgbClr val="E3E4E5"/>
          </a:solidFill>
        </p:spPr>
        <p:txBody>
          <a:bodyPr wrap="square">
            <a:spAutoFit/>
          </a:bodyPr>
          <a:lstStyle>
            <a:lvl1pPr marL="0" indent="0" algn="l" defTabSz="1341150" rtl="0" eaLnBrk="1" latinLnBrk="0" hangingPunct="1">
              <a:spcBef>
                <a:spcPts val="0"/>
              </a:spcBef>
              <a:spcAft>
                <a:spcPts val="1467"/>
              </a:spcAft>
              <a:buSzPct val="100000"/>
              <a:buFont typeface="Arial" panose="020B0604020202020204" pitchFamily="34" charset="0"/>
              <a:buNone/>
              <a:defRPr sz="1613" b="0" kern="1200">
                <a:solidFill>
                  <a:schemeClr val="tx1"/>
                </a:solidFill>
                <a:latin typeface="+mn-lt"/>
                <a:ea typeface="+mn-ea"/>
                <a:cs typeface="+mn-cs"/>
              </a:defRPr>
            </a:lvl1pPr>
            <a:lvl2pPr marL="0" indent="0" algn="l" defTabSz="1341150" rtl="0" eaLnBrk="1" latinLnBrk="0" hangingPunct="1">
              <a:spcBef>
                <a:spcPts val="0"/>
              </a:spcBef>
              <a:spcAft>
                <a:spcPts val="1467"/>
              </a:spcAft>
              <a:buClrTx/>
              <a:buSzPct val="100000"/>
              <a:buFont typeface="Arial"/>
              <a:buNone/>
              <a:defRPr lang="en-US" sz="1613" b="1" kern="1200" dirty="0" smtClean="0">
                <a:solidFill>
                  <a:schemeClr val="tx1"/>
                </a:solidFill>
                <a:latin typeface="+mn-lt"/>
                <a:ea typeface="+mn-ea"/>
                <a:cs typeface="+mn-cs"/>
              </a:defRPr>
            </a:lvl2pPr>
            <a:lvl3pPr marL="258726" indent="-258726" algn="l" defTabSz="1341150" rtl="0" eaLnBrk="1" latinLnBrk="0" hangingPunct="1">
              <a:spcBef>
                <a:spcPts val="0"/>
              </a:spcBef>
              <a:spcAft>
                <a:spcPts val="1467"/>
              </a:spcAft>
              <a:buClrTx/>
              <a:buSzPct val="100000"/>
              <a:buFont typeface="Arial" panose="020B0604020202020204" pitchFamily="34" charset="0"/>
              <a:buChar char="•"/>
              <a:defRPr lang="en-US" sz="1613" kern="1200" dirty="0" smtClean="0">
                <a:solidFill>
                  <a:schemeClr val="tx1"/>
                </a:solidFill>
                <a:latin typeface="+mn-lt"/>
                <a:ea typeface="+mn-ea"/>
                <a:cs typeface="+mn-cs"/>
              </a:defRPr>
            </a:lvl3pPr>
            <a:lvl4pPr marL="522732" indent="-258726" algn="l" defTabSz="1341150" rtl="0" eaLnBrk="1" latinLnBrk="0" hangingPunct="1">
              <a:spcBef>
                <a:spcPts val="0"/>
              </a:spcBef>
              <a:spcAft>
                <a:spcPts val="1467"/>
              </a:spcAft>
              <a:buClrTx/>
              <a:buSzPct val="100000"/>
              <a:buFont typeface="Verdana" panose="020B0604030504040204" pitchFamily="34" charset="0"/>
              <a:buChar char="−"/>
              <a:defRPr lang="en-US" sz="1613" kern="1200" baseline="0" dirty="0" smtClean="0">
                <a:solidFill>
                  <a:schemeClr val="tx1"/>
                </a:solidFill>
                <a:latin typeface="+mn-lt"/>
                <a:ea typeface="+mn-ea"/>
                <a:cs typeface="+mn-cs"/>
              </a:defRPr>
            </a:lvl4pPr>
            <a:lvl5pPr marL="781458" indent="-258726" algn="l" defTabSz="1171179" rtl="0" eaLnBrk="1" latinLnBrk="0" hangingPunct="1">
              <a:spcBef>
                <a:spcPts val="0"/>
              </a:spcBef>
              <a:spcAft>
                <a:spcPts val="1467"/>
              </a:spcAft>
              <a:buClrTx/>
              <a:buSzPct val="100000"/>
              <a:buFont typeface="Verdana" panose="020B0604030504040204" pitchFamily="34" charset="0"/>
              <a:buChar char="−"/>
              <a:tabLst/>
              <a:defRPr lang="en-US" sz="1613" kern="1200" baseline="0" dirty="0" smtClean="0">
                <a:solidFill>
                  <a:schemeClr val="tx1"/>
                </a:solidFill>
                <a:latin typeface="+mn-lt"/>
                <a:ea typeface="+mn-ea"/>
                <a:cs typeface="+mn-cs"/>
              </a:defRPr>
            </a:lvl5pPr>
            <a:lvl6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6pPr>
            <a:lvl7pPr marL="781458" indent="-258726" algn="l" defTabSz="1341150" rtl="0" eaLnBrk="1" latinLnBrk="0" hangingPunct="1">
              <a:spcBef>
                <a:spcPts val="0"/>
              </a:spcBef>
              <a:spcAft>
                <a:spcPts val="1467"/>
              </a:spcAft>
              <a:buFont typeface="Verdana" panose="020B0604030504040204" pitchFamily="34" charset="0"/>
              <a:buChar char="−"/>
              <a:defRPr sz="1760" kern="1200">
                <a:solidFill>
                  <a:schemeClr val="tx1"/>
                </a:solidFill>
                <a:latin typeface="+mn-lt"/>
                <a:ea typeface="+mn-ea"/>
                <a:cs typeface="+mn-cs"/>
              </a:defRPr>
            </a:lvl7pPr>
            <a:lvl8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8pPr>
            <a:lvl9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9pPr>
          </a:lstStyle>
          <a:p>
            <a:pPr algn="ctr" defTabSz="914396">
              <a:spcAft>
                <a:spcPts val="1000"/>
              </a:spcAft>
            </a:pPr>
            <a:r>
              <a:rPr lang="en-US" sz="1000" b="1" dirty="0">
                <a:solidFill>
                  <a:prstClr val="black"/>
                </a:solidFill>
                <a:latin typeface="Verdana"/>
              </a:rPr>
              <a:t>Jayanta’s category wise footprint in Power Sector (no. of project)</a:t>
            </a:r>
          </a:p>
        </p:txBody>
      </p:sp>
      <p:sp>
        <p:nvSpPr>
          <p:cNvPr id="102" name="Rectangle: Rounded Corners 101">
            <a:extLst>
              <a:ext uri="{FF2B5EF4-FFF2-40B4-BE49-F238E27FC236}">
                <a16:creationId xmlns:a16="http://schemas.microsoft.com/office/drawing/2014/main" id="{6CE74FBF-CBEC-4A67-98C1-7812D75DD558}"/>
              </a:ext>
            </a:extLst>
          </p:cNvPr>
          <p:cNvSpPr/>
          <p:nvPr/>
        </p:nvSpPr>
        <p:spPr bwMode="gray">
          <a:xfrm>
            <a:off x="6001440" y="4367834"/>
            <a:ext cx="802923" cy="169285"/>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3 Projects</a:t>
            </a:r>
            <a:endParaRPr lang="en-IN" sz="1000" dirty="0">
              <a:solidFill>
                <a:prstClr val="black"/>
              </a:solidFill>
              <a:latin typeface="Verdana"/>
            </a:endParaRPr>
          </a:p>
        </p:txBody>
      </p:sp>
      <p:sp>
        <p:nvSpPr>
          <p:cNvPr id="103" name="Rectangle: Rounded Corners 102">
            <a:extLst>
              <a:ext uri="{FF2B5EF4-FFF2-40B4-BE49-F238E27FC236}">
                <a16:creationId xmlns:a16="http://schemas.microsoft.com/office/drawing/2014/main" id="{C162BA53-E3E3-41B1-8F33-511103949D46}"/>
              </a:ext>
            </a:extLst>
          </p:cNvPr>
          <p:cNvSpPr/>
          <p:nvPr/>
        </p:nvSpPr>
        <p:spPr bwMode="gray">
          <a:xfrm>
            <a:off x="6514436" y="5205106"/>
            <a:ext cx="929674" cy="109060"/>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8 Projects</a:t>
            </a:r>
            <a:endParaRPr lang="en-IN" sz="1000" dirty="0">
              <a:solidFill>
                <a:prstClr val="black"/>
              </a:solidFill>
              <a:latin typeface="Verdana"/>
            </a:endParaRPr>
          </a:p>
        </p:txBody>
      </p:sp>
      <p:sp>
        <p:nvSpPr>
          <p:cNvPr id="104" name="Rectangle: Rounded Corners 103">
            <a:extLst>
              <a:ext uri="{FF2B5EF4-FFF2-40B4-BE49-F238E27FC236}">
                <a16:creationId xmlns:a16="http://schemas.microsoft.com/office/drawing/2014/main" id="{B4FB25D3-65BB-4BD3-95E5-06A86458E7DD}"/>
              </a:ext>
            </a:extLst>
          </p:cNvPr>
          <p:cNvSpPr/>
          <p:nvPr/>
        </p:nvSpPr>
        <p:spPr bwMode="gray">
          <a:xfrm>
            <a:off x="6040911" y="5561256"/>
            <a:ext cx="822371" cy="111201"/>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3 Projects</a:t>
            </a:r>
            <a:endParaRPr lang="en-IN" sz="1000" dirty="0">
              <a:solidFill>
                <a:prstClr val="black"/>
              </a:solidFill>
              <a:latin typeface="Verdana"/>
            </a:endParaRPr>
          </a:p>
        </p:txBody>
      </p:sp>
      <p:graphicFrame>
        <p:nvGraphicFramePr>
          <p:cNvPr id="105" name="Chart Placeholder 13">
            <a:extLst>
              <a:ext uri="{FF2B5EF4-FFF2-40B4-BE49-F238E27FC236}">
                <a16:creationId xmlns:a16="http://schemas.microsoft.com/office/drawing/2014/main" id="{B76EF291-076C-46EA-9D5F-C23A4B8C4AD0}"/>
              </a:ext>
            </a:extLst>
          </p:cNvPr>
          <p:cNvGraphicFramePr>
            <a:graphicFrameLocks/>
          </p:cNvGraphicFramePr>
          <p:nvPr>
            <p:extLst>
              <p:ext uri="{D42A27DB-BD31-4B8C-83A1-F6EECF244321}">
                <p14:modId xmlns:p14="http://schemas.microsoft.com/office/powerpoint/2010/main" val="842216970"/>
              </p:ext>
            </p:extLst>
          </p:nvPr>
        </p:nvGraphicFramePr>
        <p:xfrm>
          <a:off x="7930246" y="3953502"/>
          <a:ext cx="3682617" cy="2549672"/>
        </p:xfrm>
        <a:graphic>
          <a:graphicData uri="http://schemas.openxmlformats.org/drawingml/2006/chart">
            <c:chart xmlns:c="http://schemas.openxmlformats.org/drawingml/2006/chart" xmlns:r="http://schemas.openxmlformats.org/officeDocument/2006/relationships" r:id="rId11"/>
          </a:graphicData>
        </a:graphic>
      </p:graphicFrame>
      <p:sp>
        <p:nvSpPr>
          <p:cNvPr id="106" name="Text Placeholder 4">
            <a:extLst>
              <a:ext uri="{FF2B5EF4-FFF2-40B4-BE49-F238E27FC236}">
                <a16:creationId xmlns:a16="http://schemas.microsoft.com/office/drawing/2014/main" id="{BC80EF4C-19CE-4183-A01D-B9B4B46D9C98}"/>
              </a:ext>
            </a:extLst>
          </p:cNvPr>
          <p:cNvSpPr txBox="1">
            <a:spLocks/>
          </p:cNvSpPr>
          <p:nvPr/>
        </p:nvSpPr>
        <p:spPr>
          <a:xfrm>
            <a:off x="8004484" y="3730033"/>
            <a:ext cx="3608382" cy="400110"/>
          </a:xfrm>
          <a:prstGeom prst="rect">
            <a:avLst/>
          </a:prstGeom>
          <a:solidFill>
            <a:srgbClr val="E3E4E5"/>
          </a:solidFill>
        </p:spPr>
        <p:txBody>
          <a:bodyPr wrap="square">
            <a:spAutoFit/>
          </a:bodyPr>
          <a:lstStyle>
            <a:lvl1pPr marL="0" indent="0" algn="l" defTabSz="1341150" rtl="0" eaLnBrk="1" latinLnBrk="0" hangingPunct="1">
              <a:spcBef>
                <a:spcPts val="0"/>
              </a:spcBef>
              <a:spcAft>
                <a:spcPts val="1467"/>
              </a:spcAft>
              <a:buSzPct val="100000"/>
              <a:buFont typeface="Arial" panose="020B0604020202020204" pitchFamily="34" charset="0"/>
              <a:buNone/>
              <a:defRPr sz="1613" b="0" kern="1200">
                <a:solidFill>
                  <a:schemeClr val="tx1"/>
                </a:solidFill>
                <a:latin typeface="+mn-lt"/>
                <a:ea typeface="+mn-ea"/>
                <a:cs typeface="+mn-cs"/>
              </a:defRPr>
            </a:lvl1pPr>
            <a:lvl2pPr marL="0" indent="0" algn="l" defTabSz="1341150" rtl="0" eaLnBrk="1" latinLnBrk="0" hangingPunct="1">
              <a:spcBef>
                <a:spcPts val="0"/>
              </a:spcBef>
              <a:spcAft>
                <a:spcPts val="1467"/>
              </a:spcAft>
              <a:buClrTx/>
              <a:buSzPct val="100000"/>
              <a:buFont typeface="Arial"/>
              <a:buNone/>
              <a:defRPr lang="en-US" sz="1613" b="1" kern="1200" dirty="0" smtClean="0">
                <a:solidFill>
                  <a:schemeClr val="tx1"/>
                </a:solidFill>
                <a:latin typeface="+mn-lt"/>
                <a:ea typeface="+mn-ea"/>
                <a:cs typeface="+mn-cs"/>
              </a:defRPr>
            </a:lvl2pPr>
            <a:lvl3pPr marL="258726" indent="-258726" algn="l" defTabSz="1341150" rtl="0" eaLnBrk="1" latinLnBrk="0" hangingPunct="1">
              <a:spcBef>
                <a:spcPts val="0"/>
              </a:spcBef>
              <a:spcAft>
                <a:spcPts val="1467"/>
              </a:spcAft>
              <a:buClrTx/>
              <a:buSzPct val="100000"/>
              <a:buFont typeface="Arial" panose="020B0604020202020204" pitchFamily="34" charset="0"/>
              <a:buChar char="•"/>
              <a:defRPr lang="en-US" sz="1613" kern="1200" dirty="0" smtClean="0">
                <a:solidFill>
                  <a:schemeClr val="tx1"/>
                </a:solidFill>
                <a:latin typeface="+mn-lt"/>
                <a:ea typeface="+mn-ea"/>
                <a:cs typeface="+mn-cs"/>
              </a:defRPr>
            </a:lvl3pPr>
            <a:lvl4pPr marL="522732" indent="-258726" algn="l" defTabSz="1341150" rtl="0" eaLnBrk="1" latinLnBrk="0" hangingPunct="1">
              <a:spcBef>
                <a:spcPts val="0"/>
              </a:spcBef>
              <a:spcAft>
                <a:spcPts val="1467"/>
              </a:spcAft>
              <a:buClrTx/>
              <a:buSzPct val="100000"/>
              <a:buFont typeface="Verdana" panose="020B0604030504040204" pitchFamily="34" charset="0"/>
              <a:buChar char="−"/>
              <a:defRPr lang="en-US" sz="1613" kern="1200" baseline="0" dirty="0" smtClean="0">
                <a:solidFill>
                  <a:schemeClr val="tx1"/>
                </a:solidFill>
                <a:latin typeface="+mn-lt"/>
                <a:ea typeface="+mn-ea"/>
                <a:cs typeface="+mn-cs"/>
              </a:defRPr>
            </a:lvl4pPr>
            <a:lvl5pPr marL="781458" indent="-258726" algn="l" defTabSz="1171179" rtl="0" eaLnBrk="1" latinLnBrk="0" hangingPunct="1">
              <a:spcBef>
                <a:spcPts val="0"/>
              </a:spcBef>
              <a:spcAft>
                <a:spcPts val="1467"/>
              </a:spcAft>
              <a:buClrTx/>
              <a:buSzPct val="100000"/>
              <a:buFont typeface="Verdana" panose="020B0604030504040204" pitchFamily="34" charset="0"/>
              <a:buChar char="−"/>
              <a:tabLst/>
              <a:defRPr lang="en-US" sz="1613" kern="1200" baseline="0" dirty="0" smtClean="0">
                <a:solidFill>
                  <a:schemeClr val="tx1"/>
                </a:solidFill>
                <a:latin typeface="+mn-lt"/>
                <a:ea typeface="+mn-ea"/>
                <a:cs typeface="+mn-cs"/>
              </a:defRPr>
            </a:lvl5pPr>
            <a:lvl6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6pPr>
            <a:lvl7pPr marL="781458" indent="-258726" algn="l" defTabSz="1341150" rtl="0" eaLnBrk="1" latinLnBrk="0" hangingPunct="1">
              <a:spcBef>
                <a:spcPts val="0"/>
              </a:spcBef>
              <a:spcAft>
                <a:spcPts val="1467"/>
              </a:spcAft>
              <a:buFont typeface="Verdana" panose="020B0604030504040204" pitchFamily="34" charset="0"/>
              <a:buChar char="−"/>
              <a:defRPr sz="1760" kern="1200">
                <a:solidFill>
                  <a:schemeClr val="tx1"/>
                </a:solidFill>
                <a:latin typeface="+mn-lt"/>
                <a:ea typeface="+mn-ea"/>
                <a:cs typeface="+mn-cs"/>
              </a:defRPr>
            </a:lvl7pPr>
            <a:lvl8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8pPr>
            <a:lvl9pPr marL="781458" indent="-258726" algn="l" defTabSz="1341150" rtl="0" eaLnBrk="1" latinLnBrk="0" hangingPunct="1">
              <a:spcBef>
                <a:spcPts val="0"/>
              </a:spcBef>
              <a:spcAft>
                <a:spcPts val="1467"/>
              </a:spcAft>
              <a:buFont typeface="Verdana" panose="020B0604030504040204" pitchFamily="34" charset="0"/>
              <a:buChar char="−"/>
              <a:defRPr sz="1760" kern="1200" baseline="0">
                <a:solidFill>
                  <a:schemeClr val="tx1"/>
                </a:solidFill>
                <a:latin typeface="+mn-lt"/>
                <a:ea typeface="+mn-ea"/>
                <a:cs typeface="+mn-cs"/>
              </a:defRPr>
            </a:lvl9pPr>
          </a:lstStyle>
          <a:p>
            <a:pPr algn="ctr" defTabSz="914396">
              <a:spcAft>
                <a:spcPts val="1000"/>
              </a:spcAft>
            </a:pPr>
            <a:r>
              <a:rPr lang="en-US" sz="1000" b="1" dirty="0">
                <a:solidFill>
                  <a:prstClr val="black"/>
                </a:solidFill>
                <a:latin typeface="Verdana"/>
              </a:rPr>
              <a:t>Pratik’s category wise footprint in Power Sector (no. of project)</a:t>
            </a:r>
          </a:p>
        </p:txBody>
      </p:sp>
      <p:sp>
        <p:nvSpPr>
          <p:cNvPr id="109" name="Rectangle: Rounded Corners 108">
            <a:extLst>
              <a:ext uri="{FF2B5EF4-FFF2-40B4-BE49-F238E27FC236}">
                <a16:creationId xmlns:a16="http://schemas.microsoft.com/office/drawing/2014/main" id="{6A1B20EF-247A-4ECB-942A-C4E3574CBBED}"/>
              </a:ext>
            </a:extLst>
          </p:cNvPr>
          <p:cNvSpPr/>
          <p:nvPr/>
        </p:nvSpPr>
        <p:spPr bwMode="gray">
          <a:xfrm>
            <a:off x="9242585" y="4367834"/>
            <a:ext cx="802923" cy="169285"/>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1 Projects</a:t>
            </a:r>
            <a:endParaRPr lang="en-IN" sz="1000" dirty="0">
              <a:solidFill>
                <a:prstClr val="black"/>
              </a:solidFill>
              <a:latin typeface="Verdana"/>
            </a:endParaRPr>
          </a:p>
        </p:txBody>
      </p:sp>
      <p:sp>
        <p:nvSpPr>
          <p:cNvPr id="117" name="Rectangle: Rounded Corners 116">
            <a:extLst>
              <a:ext uri="{FF2B5EF4-FFF2-40B4-BE49-F238E27FC236}">
                <a16:creationId xmlns:a16="http://schemas.microsoft.com/office/drawing/2014/main" id="{CA887CB1-C04B-4BDB-BF23-BAD53D9D282E}"/>
              </a:ext>
            </a:extLst>
          </p:cNvPr>
          <p:cNvSpPr/>
          <p:nvPr/>
        </p:nvSpPr>
        <p:spPr bwMode="gray">
          <a:xfrm>
            <a:off x="10470813" y="5197289"/>
            <a:ext cx="929674" cy="109060"/>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6 Projects</a:t>
            </a:r>
            <a:endParaRPr lang="en-IN" sz="1000" dirty="0">
              <a:solidFill>
                <a:prstClr val="black"/>
              </a:solidFill>
              <a:latin typeface="Verdana"/>
            </a:endParaRPr>
          </a:p>
        </p:txBody>
      </p:sp>
      <p:sp>
        <p:nvSpPr>
          <p:cNvPr id="125" name="Rectangle: Rounded Corners 124">
            <a:extLst>
              <a:ext uri="{FF2B5EF4-FFF2-40B4-BE49-F238E27FC236}">
                <a16:creationId xmlns:a16="http://schemas.microsoft.com/office/drawing/2014/main" id="{576D9A6E-31F5-4E05-883E-74C96EB03C6D}"/>
              </a:ext>
            </a:extLst>
          </p:cNvPr>
          <p:cNvSpPr/>
          <p:nvPr/>
        </p:nvSpPr>
        <p:spPr bwMode="gray">
          <a:xfrm>
            <a:off x="9468690" y="5594491"/>
            <a:ext cx="822371" cy="111201"/>
          </a:xfrm>
          <a:prstGeom prst="roundRect">
            <a:avLst/>
          </a:prstGeom>
          <a:solidFill>
            <a:srgbClr val="E3E48D"/>
          </a:solidFill>
          <a:ln w="19050" algn="ctr">
            <a:noFill/>
            <a:miter lim="800000"/>
            <a:headEnd/>
            <a:tailEnd/>
          </a:ln>
        </p:spPr>
        <p:txBody>
          <a:bodyPr wrap="square" lIns="60614" tIns="60614" rIns="60614" bIns="60614" rtlCol="0" anchor="ctr"/>
          <a:lstStyle/>
          <a:p>
            <a:pPr algn="ctr" defTabSz="837848">
              <a:lnSpc>
                <a:spcPct val="106000"/>
              </a:lnSpc>
            </a:pPr>
            <a:r>
              <a:rPr lang="en-US" sz="1000" dirty="0">
                <a:solidFill>
                  <a:prstClr val="black"/>
                </a:solidFill>
                <a:latin typeface="Verdana"/>
              </a:rPr>
              <a:t>2 Projects</a:t>
            </a:r>
            <a:endParaRPr lang="en-IN" sz="1000" dirty="0">
              <a:solidFill>
                <a:prstClr val="black"/>
              </a:solidFill>
              <a:latin typeface="Verdana"/>
            </a:endParaRPr>
          </a:p>
        </p:txBody>
      </p:sp>
    </p:spTree>
    <p:extLst>
      <p:ext uri="{BB962C8B-B14F-4D97-AF65-F5344CB8AC3E}">
        <p14:creationId xmlns:p14="http://schemas.microsoft.com/office/powerpoint/2010/main" val="136377209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1791653" y="449494"/>
          <a:ext cx="1379" cy="1379"/>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791653" y="449494"/>
                        <a:ext cx="1379" cy="1379"/>
                      </a:xfrm>
                      <a:prstGeom prst="rect">
                        <a:avLst/>
                      </a:prstGeom>
                    </p:spPr>
                  </p:pic>
                </p:oleObj>
              </mc:Fallback>
            </mc:AlternateContent>
          </a:graphicData>
        </a:graphic>
      </p:graphicFrame>
      <p:sp>
        <p:nvSpPr>
          <p:cNvPr id="13" name="Rectangle 12" hidden="1"/>
          <p:cNvSpPr/>
          <p:nvPr>
            <p:custDataLst>
              <p:tags r:id="rId2"/>
            </p:custDataLst>
          </p:nvPr>
        </p:nvSpPr>
        <p:spPr bwMode="gray">
          <a:xfrm>
            <a:off x="796636" y="448108"/>
            <a:ext cx="138004" cy="13800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defTabSz="794883">
              <a:lnSpc>
                <a:spcPct val="106000"/>
              </a:lnSpc>
              <a:defRPr/>
            </a:pPr>
            <a:endParaRPr lang="en-US" sz="1739" dirty="0">
              <a:solidFill>
                <a:prstClr val="white"/>
              </a:solidFill>
              <a:latin typeface="Verdana" panose="020B0604030504040204" pitchFamily="34" charset="0"/>
              <a:sym typeface="Verdana" panose="020B0604030504040204" pitchFamily="34" charset="0"/>
            </a:endParaRPr>
          </a:p>
        </p:txBody>
      </p:sp>
      <p:sp>
        <p:nvSpPr>
          <p:cNvPr id="35" name="Title 6">
            <a:extLst>
              <a:ext uri="{FF2B5EF4-FFF2-40B4-BE49-F238E27FC236}">
                <a16:creationId xmlns:a16="http://schemas.microsoft.com/office/drawing/2014/main" id="{B6E6386F-5581-46E8-8741-5AF4C8D99AEF}"/>
              </a:ext>
            </a:extLst>
          </p:cNvPr>
          <p:cNvSpPr txBox="1">
            <a:spLocks/>
          </p:cNvSpPr>
          <p:nvPr/>
        </p:nvSpPr>
        <p:spPr bwMode="gray">
          <a:xfrm>
            <a:off x="538382" y="269246"/>
            <a:ext cx="9781742" cy="420021"/>
          </a:xfrm>
          <a:prstGeom prst="rect">
            <a:avLst/>
          </a:prstGeom>
        </p:spPr>
        <p:txBody>
          <a:bodyPr vert="horz" lIns="0" tIns="0" rIns="0" bIns="0" rtlCol="0" anchor="t" anchorCtr="0">
            <a:noAutofit/>
          </a:bodyPr>
          <a:lstStyle>
            <a:lvl1pPr algn="l" defTabSz="1554493" rtl="0" eaLnBrk="1" latinLnBrk="0" hangingPunct="1">
              <a:spcBef>
                <a:spcPct val="0"/>
              </a:spcBef>
              <a:buNone/>
              <a:defRPr sz="3400" kern="1200">
                <a:solidFill>
                  <a:schemeClr val="tx1"/>
                </a:solidFill>
                <a:latin typeface="+mj-lt"/>
                <a:ea typeface="+mj-ea"/>
                <a:cs typeface="+mj-cs"/>
              </a:defRPr>
            </a:lvl1pPr>
          </a:lstStyle>
          <a:p>
            <a:pPr defTabSz="1059853"/>
            <a:r>
              <a:rPr lang="en-US" sz="2090" dirty="0">
                <a:solidFill>
                  <a:prstClr val="black"/>
                </a:solidFill>
                <a:latin typeface="Verdana"/>
              </a:rPr>
              <a:t>Engagement Team – Junior Resources</a:t>
            </a:r>
            <a:endParaRPr lang="en-IN" sz="2090" dirty="0">
              <a:solidFill>
                <a:prstClr val="black"/>
              </a:solidFill>
              <a:latin typeface="Verdana"/>
            </a:endParaRPr>
          </a:p>
        </p:txBody>
      </p:sp>
      <p:grpSp>
        <p:nvGrpSpPr>
          <p:cNvPr id="2" name="Group 1">
            <a:extLst>
              <a:ext uri="{FF2B5EF4-FFF2-40B4-BE49-F238E27FC236}">
                <a16:creationId xmlns:a16="http://schemas.microsoft.com/office/drawing/2014/main" id="{A057285C-FA77-4EDD-8C87-4D1E3DFC5297}"/>
              </a:ext>
            </a:extLst>
          </p:cNvPr>
          <p:cNvGrpSpPr/>
          <p:nvPr/>
        </p:nvGrpSpPr>
        <p:grpSpPr>
          <a:xfrm>
            <a:off x="536438" y="653307"/>
            <a:ext cx="11117180" cy="5962155"/>
            <a:chOff x="536438" y="653307"/>
            <a:chExt cx="9965653" cy="5962155"/>
          </a:xfrm>
        </p:grpSpPr>
        <p:sp>
          <p:nvSpPr>
            <p:cNvPr id="63" name="Rectangle 62"/>
            <p:cNvSpPr/>
            <p:nvPr/>
          </p:nvSpPr>
          <p:spPr bwMode="gray">
            <a:xfrm>
              <a:off x="557134" y="1667675"/>
              <a:ext cx="1566147" cy="240040"/>
            </a:xfrm>
            <a:prstGeom prst="rect">
              <a:avLst/>
            </a:prstGeom>
            <a:solidFill>
              <a:srgbClr val="86BC25"/>
            </a:solidFill>
            <a:ln w="19050" algn="ctr">
              <a:solidFill>
                <a:sysClr val="window" lastClr="FFFFFF"/>
              </a:solidFill>
              <a:miter lim="800000"/>
              <a:headEnd/>
              <a:tailEnd/>
            </a:ln>
          </p:spPr>
          <p:txBody>
            <a:bodyPr wrap="square" lIns="0" tIns="0" rIns="0" bIns="0" rtlCol="0" anchor="ctr"/>
            <a:lstStyle/>
            <a:p>
              <a:pPr algn="ctr" defTabSz="794883">
                <a:lnSpc>
                  <a:spcPct val="106000"/>
                </a:lnSpc>
                <a:defRPr/>
              </a:pPr>
              <a:r>
                <a:rPr lang="en-SG" sz="957" b="1" kern="0" dirty="0">
                  <a:solidFill>
                    <a:prstClr val="white"/>
                  </a:solidFill>
                  <a:latin typeface="Verdana"/>
                  <a:cs typeface="Arial" panose="020B0604020202020204" pitchFamily="34" charset="0"/>
                </a:rPr>
                <a:t>Adit Khiroria</a:t>
              </a:r>
              <a:endParaRPr lang="en-US" sz="957" b="1" kern="0" dirty="0">
                <a:solidFill>
                  <a:prstClr val="white"/>
                </a:solidFill>
                <a:latin typeface="Verdana"/>
                <a:cs typeface="Arial" panose="020B0604020202020204" pitchFamily="34" charset="0"/>
              </a:endParaRPr>
            </a:p>
          </p:txBody>
        </p:sp>
        <p:sp>
          <p:nvSpPr>
            <p:cNvPr id="65" name="Rectangle 64"/>
            <p:cNvSpPr/>
            <p:nvPr/>
          </p:nvSpPr>
          <p:spPr>
            <a:xfrm>
              <a:off x="557134" y="653307"/>
              <a:ext cx="1568069" cy="55604"/>
            </a:xfrm>
            <a:prstGeom prst="rect">
              <a:avLst/>
            </a:prstGeom>
            <a:solidFill>
              <a:srgbClr val="86BC25"/>
            </a:solidFill>
            <a:ln w="25400" cap="flat" cmpd="sng" algn="ctr">
              <a:noFill/>
              <a:prstDash val="solid"/>
            </a:ln>
            <a:effectLst/>
          </p:spPr>
          <p:txBody>
            <a:bodyPr rtlCol="0" anchor="t"/>
            <a:lstStyle/>
            <a:p>
              <a:pPr algn="ctr" defTabSz="794883">
                <a:spcAft>
                  <a:spcPts val="652"/>
                </a:spcAft>
                <a:defRPr/>
              </a:pPr>
              <a:endParaRPr lang="en-GB" sz="717" kern="0" dirty="0">
                <a:solidFill>
                  <a:prstClr val="white"/>
                </a:solidFill>
                <a:latin typeface="Verdana"/>
              </a:endParaRPr>
            </a:p>
          </p:txBody>
        </p:sp>
        <p:sp>
          <p:nvSpPr>
            <p:cNvPr id="66" name="Text Box 46"/>
            <p:cNvSpPr txBox="1">
              <a:spLocks noChangeArrowheads="1"/>
            </p:cNvSpPr>
            <p:nvPr/>
          </p:nvSpPr>
          <p:spPr bwMode="gray">
            <a:xfrm>
              <a:off x="557134" y="1912507"/>
              <a:ext cx="1566147" cy="4390503"/>
            </a:xfrm>
            <a:prstGeom prst="rect">
              <a:avLst/>
            </a:prstGeom>
            <a:noFill/>
            <a:ln w="12700" algn="ctr">
              <a:noFill/>
              <a:miter lim="800000"/>
              <a:headEnd/>
              <a:tailEnd/>
            </a:ln>
          </p:spPr>
          <p:txBody>
            <a:bodyPr lIns="52314" tIns="24413" rIns="52314" bIns="52314"/>
            <a:lstStyle/>
            <a:p>
              <a:pPr marL="194824" lvl="3" indent="-194824" algn="just" defTabSz="160010">
                <a:spcBef>
                  <a:spcPts val="409"/>
                </a:spcBef>
                <a:buFont typeface="Arial" panose="020B0604020202020204" pitchFamily="34" charset="0"/>
                <a:buChar char="•"/>
                <a:tabLst>
                  <a:tab pos="154137" algn="l"/>
                  <a:tab pos="320017" algn="l"/>
                </a:tabLst>
                <a:defRPr/>
              </a:pPr>
              <a:r>
                <a:rPr lang="en-US" sz="886" dirty="0" err="1">
                  <a:solidFill>
                    <a:prstClr val="black"/>
                  </a:solidFill>
                  <a:latin typeface="Verdana"/>
                  <a:cs typeface="Arial" panose="020B0604020202020204" pitchFamily="34" charset="0"/>
                </a:rPr>
                <a:t>B.Com</a:t>
              </a:r>
              <a:r>
                <a:rPr lang="en-US" sz="886" dirty="0">
                  <a:solidFill>
                    <a:prstClr val="black"/>
                  </a:solidFill>
                  <a:latin typeface="Verdana"/>
                  <a:cs typeface="Arial" panose="020B0604020202020204" pitchFamily="34" charset="0"/>
                </a:rPr>
                <a:t>. (H) from St. Xavier’s </a:t>
              </a:r>
            </a:p>
            <a:p>
              <a:pPr marL="194824" lvl="3" indent="-194824" algn="just" defTabSz="160010">
                <a:spcBef>
                  <a:spcPts val="409"/>
                </a:spcBef>
                <a:buFont typeface="Arial" panose="020B0604020202020204" pitchFamily="34" charset="0"/>
                <a:buChar char="•"/>
                <a:tabLst>
                  <a:tab pos="154137" algn="l"/>
                  <a:tab pos="320017" algn="l"/>
                </a:tabLst>
                <a:defRPr/>
              </a:pPr>
              <a:r>
                <a:rPr lang="en-US" sz="886" dirty="0">
                  <a:solidFill>
                    <a:prstClr val="black"/>
                  </a:solidFill>
                  <a:latin typeface="Verdana"/>
                  <a:cs typeface="Arial" panose="020B0604020202020204" pitchFamily="34" charset="0"/>
                </a:rPr>
                <a:t>MBA from Xavier Institute of Management </a:t>
              </a:r>
            </a:p>
            <a:p>
              <a:pPr marL="0" lvl="3" algn="just" defTabSz="160010">
                <a:spcBef>
                  <a:spcPts val="409"/>
                </a:spcBef>
                <a:tabLst>
                  <a:tab pos="154137" algn="l"/>
                  <a:tab pos="320017" algn="l"/>
                </a:tabLst>
                <a:defRPr/>
              </a:pPr>
              <a:r>
                <a:rPr lang="en-US" sz="886" dirty="0">
                  <a:solidFill>
                    <a:prstClr val="black"/>
                  </a:solidFill>
                  <a:latin typeface="Verdana"/>
                  <a:cs typeface="Arial" panose="020B0604020202020204" pitchFamily="34" charset="0"/>
                </a:rPr>
                <a:t>4 years of experience in Oil &amp; Gas and Power Sectors</a:t>
              </a:r>
            </a:p>
            <a:p>
              <a:pPr marL="0" lvl="3" algn="just" defTabSz="160010">
                <a:spcBef>
                  <a:spcPts val="409"/>
                </a:spcBef>
                <a:tabLst>
                  <a:tab pos="154137" algn="l"/>
                  <a:tab pos="320017" algn="l"/>
                </a:tabLst>
                <a:defRPr/>
              </a:pPr>
              <a:r>
                <a:rPr lang="en-US" sz="886" dirty="0">
                  <a:solidFill>
                    <a:prstClr val="black"/>
                  </a:solidFill>
                  <a:latin typeface="Verdana"/>
                  <a:cs typeface="Arial" panose="020B0604020202020204" pitchFamily="34" charset="0"/>
                </a:rPr>
                <a:t>Key Assignments of Adit are:</a:t>
              </a:r>
            </a:p>
          </p:txBody>
        </p:sp>
        <p:sp>
          <p:nvSpPr>
            <p:cNvPr id="161" name="Rectangle 160"/>
            <p:cNvSpPr/>
            <p:nvPr/>
          </p:nvSpPr>
          <p:spPr bwMode="gray">
            <a:xfrm>
              <a:off x="2200782" y="1667675"/>
              <a:ext cx="1566147" cy="240040"/>
            </a:xfrm>
            <a:prstGeom prst="rect">
              <a:avLst/>
            </a:prstGeom>
            <a:solidFill>
              <a:srgbClr val="86BC25"/>
            </a:solidFill>
            <a:ln w="19050" algn="ctr">
              <a:solidFill>
                <a:sysClr val="window" lastClr="FFFFFF"/>
              </a:solidFill>
              <a:miter lim="800000"/>
              <a:headEnd/>
              <a:tailEnd/>
            </a:ln>
          </p:spPr>
          <p:txBody>
            <a:bodyPr wrap="square" lIns="0" tIns="0" rIns="0" bIns="0" rtlCol="0" anchor="ctr"/>
            <a:lstStyle/>
            <a:p>
              <a:pPr algn="ctr" defTabSz="794883">
                <a:lnSpc>
                  <a:spcPct val="106000"/>
                </a:lnSpc>
                <a:defRPr/>
              </a:pPr>
              <a:r>
                <a:rPr lang="en-SG" sz="957" b="1" kern="0" dirty="0">
                  <a:solidFill>
                    <a:prstClr val="white"/>
                  </a:solidFill>
                  <a:latin typeface="Verdana"/>
                  <a:cs typeface="Arial" panose="020B0604020202020204" pitchFamily="34" charset="0"/>
                </a:rPr>
                <a:t>Sujoy Kumar Das</a:t>
              </a:r>
            </a:p>
          </p:txBody>
        </p:sp>
        <p:sp>
          <p:nvSpPr>
            <p:cNvPr id="162" name="Rectangle 161"/>
            <p:cNvSpPr/>
            <p:nvPr/>
          </p:nvSpPr>
          <p:spPr>
            <a:xfrm>
              <a:off x="2200782" y="653308"/>
              <a:ext cx="1568069" cy="55604"/>
            </a:xfrm>
            <a:prstGeom prst="rect">
              <a:avLst/>
            </a:prstGeom>
            <a:solidFill>
              <a:srgbClr val="86BC25"/>
            </a:solidFill>
            <a:ln w="25400" cap="flat" cmpd="sng" algn="ctr">
              <a:noFill/>
              <a:prstDash val="solid"/>
            </a:ln>
            <a:effectLst/>
          </p:spPr>
          <p:txBody>
            <a:bodyPr rtlCol="0" anchor="t"/>
            <a:lstStyle/>
            <a:p>
              <a:pPr algn="ctr" defTabSz="794883">
                <a:spcAft>
                  <a:spcPts val="652"/>
                </a:spcAft>
                <a:defRPr/>
              </a:pPr>
              <a:endParaRPr lang="en-GB" sz="717" kern="0" dirty="0">
                <a:solidFill>
                  <a:prstClr val="white"/>
                </a:solidFill>
                <a:latin typeface="Verdana"/>
              </a:endParaRPr>
            </a:p>
          </p:txBody>
        </p:sp>
        <p:sp>
          <p:nvSpPr>
            <p:cNvPr id="163" name="Text Box 46"/>
            <p:cNvSpPr txBox="1">
              <a:spLocks noChangeArrowheads="1"/>
            </p:cNvSpPr>
            <p:nvPr/>
          </p:nvSpPr>
          <p:spPr bwMode="gray">
            <a:xfrm>
              <a:off x="2200781" y="1929866"/>
              <a:ext cx="1566148" cy="4391182"/>
            </a:xfrm>
            <a:prstGeom prst="rect">
              <a:avLst/>
            </a:prstGeom>
            <a:noFill/>
            <a:ln w="12700" algn="ctr">
              <a:noFill/>
              <a:miter lim="800000"/>
              <a:headEnd/>
              <a:tailEnd/>
            </a:ln>
          </p:spPr>
          <p:txBody>
            <a:bodyPr lIns="52314" tIns="24413" rIns="52314" bIns="52314"/>
            <a:lstStyle/>
            <a:p>
              <a:pPr marL="194824" lvl="3" indent="-194824" algn="just" defTabSz="160010">
                <a:spcBef>
                  <a:spcPts val="409"/>
                </a:spcBef>
                <a:buFont typeface="Arial" panose="020B0604020202020204" pitchFamily="34" charset="0"/>
                <a:buChar char="•"/>
                <a:tabLst>
                  <a:tab pos="154137" algn="l"/>
                  <a:tab pos="320017" algn="l"/>
                </a:tabLst>
                <a:defRPr/>
              </a:pPr>
              <a:r>
                <a:rPr lang="en-US" sz="886" dirty="0" err="1">
                  <a:solidFill>
                    <a:prstClr val="black"/>
                  </a:solidFill>
                  <a:latin typeface="Verdana"/>
                  <a:cs typeface="Arial" panose="020B0604020202020204" pitchFamily="34" charset="0"/>
                </a:rPr>
                <a:t>B.Tech</a:t>
              </a:r>
              <a:r>
                <a:rPr lang="en-US" sz="886" dirty="0">
                  <a:solidFill>
                    <a:prstClr val="black"/>
                  </a:solidFill>
                  <a:latin typeface="Verdana"/>
                  <a:cs typeface="Arial" panose="020B0604020202020204" pitchFamily="34" charset="0"/>
                </a:rPr>
                <a:t> in Electronics &amp; Instrumentation</a:t>
              </a:r>
            </a:p>
            <a:p>
              <a:pPr marL="194824" lvl="3" indent="-194824" algn="just" defTabSz="160010">
                <a:spcBef>
                  <a:spcPts val="409"/>
                </a:spcBef>
                <a:buFont typeface="Arial" panose="020B0604020202020204" pitchFamily="34" charset="0"/>
                <a:buChar char="•"/>
                <a:tabLst>
                  <a:tab pos="154137" algn="l"/>
                  <a:tab pos="320017" algn="l"/>
                </a:tabLst>
                <a:defRPr/>
              </a:pPr>
              <a:r>
                <a:rPr lang="en-US" sz="886" dirty="0">
                  <a:solidFill>
                    <a:prstClr val="black"/>
                  </a:solidFill>
                  <a:latin typeface="Verdana"/>
                  <a:cs typeface="Arial" panose="020B0604020202020204" pitchFamily="34" charset="0"/>
                </a:rPr>
                <a:t>MBA in Power Management. </a:t>
              </a:r>
            </a:p>
            <a:p>
              <a:pPr marL="0" lvl="3" algn="just" defTabSz="160010">
                <a:spcBef>
                  <a:spcPts val="409"/>
                </a:spcBef>
                <a:tabLst>
                  <a:tab pos="154137" algn="l"/>
                  <a:tab pos="320017" algn="l"/>
                </a:tabLst>
                <a:defRPr/>
              </a:pPr>
              <a:r>
                <a:rPr lang="en-US" sz="886" dirty="0">
                  <a:solidFill>
                    <a:prstClr val="black"/>
                  </a:solidFill>
                  <a:latin typeface="Verdana"/>
                  <a:cs typeface="Arial" panose="020B0604020202020204" pitchFamily="34" charset="0"/>
                </a:rPr>
                <a:t>5 years of experience in Regulatory and Policy advisory support, tariff design etc.</a:t>
              </a:r>
            </a:p>
            <a:p>
              <a:pPr marL="0" lvl="3" algn="just" defTabSz="160010">
                <a:spcBef>
                  <a:spcPts val="409"/>
                </a:spcBef>
                <a:tabLst>
                  <a:tab pos="154137" algn="l"/>
                  <a:tab pos="320017" algn="l"/>
                </a:tabLst>
                <a:defRPr/>
              </a:pPr>
              <a:r>
                <a:rPr lang="en-US" sz="886" dirty="0">
                  <a:solidFill>
                    <a:prstClr val="black"/>
                  </a:solidFill>
                  <a:latin typeface="Verdana"/>
                  <a:cs typeface="Arial" panose="020B0604020202020204" pitchFamily="34" charset="0"/>
                </a:rPr>
                <a:t>Key Assignments of Sujoy are:</a:t>
              </a:r>
            </a:p>
          </p:txBody>
        </p:sp>
        <p:sp>
          <p:nvSpPr>
            <p:cNvPr id="167" name="Rectangle 166"/>
            <p:cNvSpPr/>
            <p:nvPr/>
          </p:nvSpPr>
          <p:spPr bwMode="gray">
            <a:xfrm>
              <a:off x="7210860" y="1667675"/>
              <a:ext cx="1566147" cy="240040"/>
            </a:xfrm>
            <a:prstGeom prst="rect">
              <a:avLst/>
            </a:prstGeom>
            <a:solidFill>
              <a:srgbClr val="86BC25"/>
            </a:solidFill>
            <a:ln w="19050" algn="ctr">
              <a:solidFill>
                <a:sysClr val="window" lastClr="FFFFFF"/>
              </a:solidFill>
              <a:miter lim="800000"/>
              <a:headEnd/>
              <a:tailEnd/>
            </a:ln>
          </p:spPr>
          <p:txBody>
            <a:bodyPr wrap="square" lIns="0" tIns="0" rIns="0" bIns="0" rtlCol="0" anchor="ctr"/>
            <a:lstStyle/>
            <a:p>
              <a:pPr algn="ctr" defTabSz="794883">
                <a:lnSpc>
                  <a:spcPct val="106000"/>
                </a:lnSpc>
                <a:defRPr/>
              </a:pPr>
              <a:r>
                <a:rPr lang="en-SG" sz="957" b="1" kern="0" dirty="0">
                  <a:solidFill>
                    <a:prstClr val="white"/>
                  </a:solidFill>
                  <a:latin typeface="Verdana"/>
                  <a:cs typeface="Arial" panose="020B0604020202020204" pitchFamily="34" charset="0"/>
                </a:rPr>
                <a:t>Indranil Saha</a:t>
              </a:r>
            </a:p>
          </p:txBody>
        </p:sp>
        <p:sp>
          <p:nvSpPr>
            <p:cNvPr id="168" name="Rectangle 167"/>
            <p:cNvSpPr/>
            <p:nvPr/>
          </p:nvSpPr>
          <p:spPr>
            <a:xfrm>
              <a:off x="7210860" y="653308"/>
              <a:ext cx="1568069" cy="55604"/>
            </a:xfrm>
            <a:prstGeom prst="rect">
              <a:avLst/>
            </a:prstGeom>
            <a:solidFill>
              <a:srgbClr val="86BC25"/>
            </a:solidFill>
            <a:ln w="25400" cap="flat" cmpd="sng" algn="ctr">
              <a:noFill/>
              <a:prstDash val="solid"/>
            </a:ln>
            <a:effectLst/>
          </p:spPr>
          <p:txBody>
            <a:bodyPr rtlCol="0" anchor="t"/>
            <a:lstStyle/>
            <a:p>
              <a:pPr algn="ctr" defTabSz="794883">
                <a:spcAft>
                  <a:spcPts val="652"/>
                </a:spcAft>
                <a:defRPr/>
              </a:pPr>
              <a:endParaRPr lang="en-GB" sz="717" kern="0" dirty="0">
                <a:solidFill>
                  <a:prstClr val="white"/>
                </a:solidFill>
                <a:latin typeface="Verdana"/>
              </a:endParaRPr>
            </a:p>
          </p:txBody>
        </p:sp>
        <p:sp>
          <p:nvSpPr>
            <p:cNvPr id="169" name="Text Box 46"/>
            <p:cNvSpPr txBox="1">
              <a:spLocks noChangeArrowheads="1"/>
            </p:cNvSpPr>
            <p:nvPr/>
          </p:nvSpPr>
          <p:spPr bwMode="gray">
            <a:xfrm>
              <a:off x="7210858" y="1929866"/>
              <a:ext cx="1566148" cy="4391182"/>
            </a:xfrm>
            <a:prstGeom prst="rect">
              <a:avLst/>
            </a:prstGeom>
            <a:noFill/>
            <a:ln w="12700" algn="ctr">
              <a:noFill/>
              <a:miter lim="800000"/>
              <a:headEnd/>
              <a:tailEnd/>
            </a:ln>
          </p:spPr>
          <p:txBody>
            <a:bodyPr lIns="52314" tIns="24413" rIns="52314" bIns="52314"/>
            <a:lstStyle/>
            <a:p>
              <a:pPr marL="194824" lvl="3" indent="-194824" algn="just" defTabSz="160010">
                <a:spcBef>
                  <a:spcPts val="409"/>
                </a:spcBef>
                <a:buFont typeface="Arial" panose="020B0604020202020204" pitchFamily="34" charset="0"/>
                <a:buChar char="•"/>
                <a:tabLst>
                  <a:tab pos="154137" algn="l"/>
                  <a:tab pos="320017" algn="l"/>
                </a:tabLst>
                <a:defRPr/>
              </a:pPr>
              <a:r>
                <a:rPr lang="en-US" sz="886" dirty="0" err="1">
                  <a:solidFill>
                    <a:prstClr val="black"/>
                  </a:solidFill>
                  <a:latin typeface="Verdana"/>
                  <a:cs typeface="Arial" panose="020B0604020202020204" pitchFamily="34" charset="0"/>
                </a:rPr>
                <a:t>B.Com</a:t>
              </a:r>
              <a:r>
                <a:rPr lang="en-US" sz="886" dirty="0">
                  <a:solidFill>
                    <a:prstClr val="black"/>
                  </a:solidFill>
                  <a:latin typeface="Verdana"/>
                  <a:cs typeface="Arial" panose="020B0604020202020204" pitchFamily="34" charset="0"/>
                </a:rPr>
                <a:t> from Calcutta University (1998)</a:t>
              </a:r>
            </a:p>
            <a:p>
              <a:pPr marL="194824" lvl="3" indent="-194824" algn="just" defTabSz="160010">
                <a:spcBef>
                  <a:spcPts val="409"/>
                </a:spcBef>
                <a:buFont typeface="Arial" panose="020B0604020202020204" pitchFamily="34" charset="0"/>
                <a:buChar char="•"/>
                <a:tabLst>
                  <a:tab pos="154137" algn="l"/>
                  <a:tab pos="320017" algn="l"/>
                </a:tabLst>
                <a:defRPr/>
              </a:pPr>
              <a:r>
                <a:rPr lang="en-US" sz="886" dirty="0">
                  <a:solidFill>
                    <a:prstClr val="black"/>
                  </a:solidFill>
                  <a:latin typeface="Verdana"/>
                  <a:cs typeface="Arial" panose="020B0604020202020204" pitchFamily="34" charset="0"/>
                </a:rPr>
                <a:t>CA from ICAI. </a:t>
              </a:r>
            </a:p>
            <a:p>
              <a:pPr marL="0" lvl="3" algn="just" defTabSz="160010">
                <a:lnSpc>
                  <a:spcPct val="125000"/>
                </a:lnSpc>
                <a:spcBef>
                  <a:spcPts val="409"/>
                </a:spcBef>
                <a:tabLst>
                  <a:tab pos="154137" algn="l"/>
                  <a:tab pos="320017" algn="l"/>
                </a:tabLst>
                <a:defRPr/>
              </a:pPr>
              <a:r>
                <a:rPr lang="en-US" sz="886" dirty="0">
                  <a:solidFill>
                    <a:prstClr val="black"/>
                  </a:solidFill>
                  <a:latin typeface="Verdana"/>
                  <a:cs typeface="Arial" panose="020B0604020202020204" pitchFamily="34" charset="0"/>
                </a:rPr>
                <a:t>15 years of experience with expertise in financial analysis, cost analysis, improvement in financial management</a:t>
              </a:r>
            </a:p>
            <a:p>
              <a:pPr marL="0" lvl="3" algn="just" defTabSz="160010">
                <a:lnSpc>
                  <a:spcPct val="125000"/>
                </a:lnSpc>
                <a:spcBef>
                  <a:spcPts val="409"/>
                </a:spcBef>
                <a:tabLst>
                  <a:tab pos="154137" algn="l"/>
                  <a:tab pos="320017" algn="l"/>
                </a:tabLst>
                <a:defRPr/>
              </a:pPr>
              <a:r>
                <a:rPr lang="en-US" sz="886" dirty="0">
                  <a:solidFill>
                    <a:prstClr val="black"/>
                  </a:solidFill>
                  <a:latin typeface="Verdana"/>
                  <a:cs typeface="Arial" panose="020B0604020202020204" pitchFamily="34" charset="0"/>
                </a:rPr>
                <a:t>Key Assignments of Indranil are:</a:t>
              </a:r>
            </a:p>
          </p:txBody>
        </p:sp>
        <p:sp>
          <p:nvSpPr>
            <p:cNvPr id="156" name="Rectangle 155"/>
            <p:cNvSpPr/>
            <p:nvPr/>
          </p:nvSpPr>
          <p:spPr>
            <a:xfrm>
              <a:off x="5492759" y="661856"/>
              <a:ext cx="1568069" cy="55604"/>
            </a:xfrm>
            <a:prstGeom prst="rect">
              <a:avLst/>
            </a:prstGeom>
            <a:solidFill>
              <a:srgbClr val="86BC25"/>
            </a:solidFill>
            <a:ln w="25400" cap="flat" cmpd="sng" algn="ctr">
              <a:noFill/>
              <a:prstDash val="solid"/>
            </a:ln>
            <a:effectLst/>
          </p:spPr>
          <p:txBody>
            <a:bodyPr rtlCol="0" anchor="t"/>
            <a:lstStyle/>
            <a:p>
              <a:pPr algn="ctr" defTabSz="794883">
                <a:spcAft>
                  <a:spcPts val="652"/>
                </a:spcAft>
                <a:defRPr/>
              </a:pPr>
              <a:endParaRPr lang="en-GB" sz="717" kern="0" dirty="0">
                <a:solidFill>
                  <a:prstClr val="white"/>
                </a:solidFill>
                <a:latin typeface="Verdana"/>
              </a:endParaRPr>
            </a:p>
          </p:txBody>
        </p:sp>
        <p:sp>
          <p:nvSpPr>
            <p:cNvPr id="179" name="Rectangle 178"/>
            <p:cNvSpPr/>
            <p:nvPr/>
          </p:nvSpPr>
          <p:spPr bwMode="gray">
            <a:xfrm>
              <a:off x="5503074" y="1694026"/>
              <a:ext cx="1566147" cy="240040"/>
            </a:xfrm>
            <a:prstGeom prst="rect">
              <a:avLst/>
            </a:prstGeom>
            <a:solidFill>
              <a:srgbClr val="86BC25"/>
            </a:solidFill>
            <a:ln w="19050" algn="ctr">
              <a:solidFill>
                <a:sysClr val="window" lastClr="FFFFFF"/>
              </a:solidFill>
              <a:miter lim="800000"/>
              <a:headEnd/>
              <a:tailEnd/>
            </a:ln>
          </p:spPr>
          <p:txBody>
            <a:bodyPr wrap="square" lIns="0" tIns="0" rIns="0" bIns="0" rtlCol="0" anchor="ctr"/>
            <a:lstStyle/>
            <a:p>
              <a:pPr algn="ctr" defTabSz="794883">
                <a:lnSpc>
                  <a:spcPct val="106000"/>
                </a:lnSpc>
                <a:defRPr/>
              </a:pPr>
              <a:r>
                <a:rPr lang="en-SG" sz="957" b="1" kern="0" dirty="0">
                  <a:solidFill>
                    <a:prstClr val="white"/>
                  </a:solidFill>
                  <a:latin typeface="Verdana"/>
                  <a:cs typeface="Arial" panose="020B0604020202020204" pitchFamily="34" charset="0"/>
                </a:rPr>
                <a:t>Sandeep Guha Niyogi</a:t>
              </a:r>
            </a:p>
          </p:txBody>
        </p:sp>
        <p:sp>
          <p:nvSpPr>
            <p:cNvPr id="181" name="Text Box 46"/>
            <p:cNvSpPr txBox="1">
              <a:spLocks noChangeArrowheads="1"/>
            </p:cNvSpPr>
            <p:nvPr/>
          </p:nvSpPr>
          <p:spPr bwMode="gray">
            <a:xfrm>
              <a:off x="5506342" y="1929254"/>
              <a:ext cx="1628939" cy="4391182"/>
            </a:xfrm>
            <a:prstGeom prst="rect">
              <a:avLst/>
            </a:prstGeom>
            <a:noFill/>
            <a:ln w="12700" algn="ctr">
              <a:noFill/>
              <a:miter lim="800000"/>
              <a:headEnd/>
              <a:tailEnd/>
            </a:ln>
          </p:spPr>
          <p:txBody>
            <a:bodyPr lIns="52314" tIns="24413" rIns="52314" bIns="52314"/>
            <a:lstStyle/>
            <a:p>
              <a:pPr marL="194824" lvl="3" indent="-194824" algn="just" defTabSz="160010">
                <a:spcBef>
                  <a:spcPts val="409"/>
                </a:spcBef>
                <a:buFont typeface="Arial" panose="020B0604020202020204" pitchFamily="34" charset="0"/>
                <a:buChar char="•"/>
                <a:tabLst>
                  <a:tab pos="154137" algn="l"/>
                  <a:tab pos="320017" algn="l"/>
                </a:tabLst>
                <a:defRPr/>
              </a:pPr>
              <a:r>
                <a:rPr lang="en-US" sz="886" dirty="0" err="1">
                  <a:solidFill>
                    <a:prstClr val="black"/>
                  </a:solidFill>
                  <a:latin typeface="Verdana"/>
                  <a:cs typeface="Arial" panose="020B0604020202020204" pitchFamily="34" charset="0"/>
                </a:rPr>
                <a:t>M.Tech</a:t>
              </a:r>
              <a:r>
                <a:rPr lang="en-US" sz="886" dirty="0">
                  <a:solidFill>
                    <a:prstClr val="black"/>
                  </a:solidFill>
                  <a:latin typeface="Verdana"/>
                  <a:cs typeface="Arial" panose="020B0604020202020204" pitchFamily="34" charset="0"/>
                </a:rPr>
                <a:t> in Electrical Engineering </a:t>
              </a:r>
            </a:p>
            <a:p>
              <a:pPr marL="194824" lvl="3" indent="-194824" algn="just" defTabSz="160010">
                <a:spcBef>
                  <a:spcPts val="409"/>
                </a:spcBef>
                <a:buFont typeface="Arial" panose="020B0604020202020204" pitchFamily="34" charset="0"/>
                <a:buChar char="•"/>
                <a:tabLst>
                  <a:tab pos="154137" algn="l"/>
                  <a:tab pos="320017" algn="l"/>
                </a:tabLst>
                <a:defRPr/>
              </a:pPr>
              <a:r>
                <a:rPr lang="en-US" sz="886" dirty="0">
                  <a:solidFill>
                    <a:prstClr val="black"/>
                  </a:solidFill>
                  <a:latin typeface="Verdana"/>
                  <a:cs typeface="Arial" panose="020B0604020202020204" pitchFamily="34" charset="0"/>
                </a:rPr>
                <a:t>MBA in Power Management. </a:t>
              </a:r>
            </a:p>
            <a:p>
              <a:pPr marL="0" lvl="3" algn="just" defTabSz="160010">
                <a:spcBef>
                  <a:spcPts val="409"/>
                </a:spcBef>
                <a:tabLst>
                  <a:tab pos="154137" algn="l"/>
                  <a:tab pos="320017" algn="l"/>
                </a:tabLst>
                <a:defRPr/>
              </a:pPr>
              <a:r>
                <a:rPr lang="en-US" sz="886" dirty="0">
                  <a:solidFill>
                    <a:prstClr val="black"/>
                  </a:solidFill>
                  <a:latin typeface="Verdana"/>
                  <a:cs typeface="Arial" panose="020B0604020202020204" pitchFamily="34" charset="0"/>
                </a:rPr>
                <a:t>3 years of experience in areas of Regulatory and Policy analysis, tariff modelling for Utilities. </a:t>
              </a:r>
            </a:p>
            <a:p>
              <a:pPr marL="0" lvl="3" algn="just" defTabSz="160010">
                <a:spcBef>
                  <a:spcPts val="409"/>
                </a:spcBef>
                <a:tabLst>
                  <a:tab pos="154137" algn="l"/>
                  <a:tab pos="320017" algn="l"/>
                </a:tabLst>
                <a:defRPr/>
              </a:pPr>
              <a:r>
                <a:rPr lang="en-US" sz="886" dirty="0">
                  <a:solidFill>
                    <a:prstClr val="black"/>
                  </a:solidFill>
                  <a:latin typeface="Verdana"/>
                  <a:cs typeface="Arial" panose="020B0604020202020204" pitchFamily="34" charset="0"/>
                </a:rPr>
                <a:t>Key Assignments of Sandeep are:</a:t>
              </a:r>
            </a:p>
          </p:txBody>
        </p:sp>
        <p:sp>
          <p:nvSpPr>
            <p:cNvPr id="185" name="Rectangle 184"/>
            <p:cNvSpPr/>
            <p:nvPr/>
          </p:nvSpPr>
          <p:spPr bwMode="gray">
            <a:xfrm>
              <a:off x="8854508" y="1667675"/>
              <a:ext cx="1568067" cy="240040"/>
            </a:xfrm>
            <a:prstGeom prst="rect">
              <a:avLst/>
            </a:prstGeom>
            <a:solidFill>
              <a:srgbClr val="86BC25"/>
            </a:solidFill>
            <a:ln w="19050" algn="ctr">
              <a:solidFill>
                <a:sysClr val="window" lastClr="FFFFFF"/>
              </a:solidFill>
              <a:miter lim="800000"/>
              <a:headEnd/>
              <a:tailEnd/>
            </a:ln>
          </p:spPr>
          <p:txBody>
            <a:bodyPr wrap="square" lIns="0" tIns="0" rIns="0" bIns="0" rtlCol="0" anchor="ctr"/>
            <a:lstStyle/>
            <a:p>
              <a:pPr algn="ctr" defTabSz="794883">
                <a:lnSpc>
                  <a:spcPct val="106000"/>
                </a:lnSpc>
                <a:defRPr/>
              </a:pPr>
              <a:r>
                <a:rPr lang="en-SG" sz="957" b="1" kern="0" dirty="0">
                  <a:solidFill>
                    <a:prstClr val="white"/>
                  </a:solidFill>
                  <a:latin typeface="Verdana"/>
                  <a:cs typeface="Arial" panose="020B0604020202020204" pitchFamily="34" charset="0"/>
                </a:rPr>
                <a:t>Rishi Chatterjee</a:t>
              </a:r>
            </a:p>
          </p:txBody>
        </p:sp>
        <p:sp>
          <p:nvSpPr>
            <p:cNvPr id="186" name="Rectangle 185"/>
            <p:cNvSpPr/>
            <p:nvPr/>
          </p:nvSpPr>
          <p:spPr>
            <a:xfrm>
              <a:off x="8854509" y="653308"/>
              <a:ext cx="1568069" cy="55604"/>
            </a:xfrm>
            <a:prstGeom prst="rect">
              <a:avLst/>
            </a:prstGeom>
            <a:solidFill>
              <a:srgbClr val="86BC25"/>
            </a:solidFill>
            <a:ln w="25400" cap="flat" cmpd="sng" algn="ctr">
              <a:noFill/>
              <a:prstDash val="solid"/>
            </a:ln>
            <a:effectLst/>
          </p:spPr>
          <p:txBody>
            <a:bodyPr rtlCol="0" anchor="t"/>
            <a:lstStyle/>
            <a:p>
              <a:pPr algn="ctr" defTabSz="794883">
                <a:spcAft>
                  <a:spcPts val="652"/>
                </a:spcAft>
                <a:defRPr/>
              </a:pPr>
              <a:endParaRPr lang="en-GB" sz="717" kern="0" dirty="0">
                <a:solidFill>
                  <a:prstClr val="white"/>
                </a:solidFill>
                <a:latin typeface="Verdana"/>
              </a:endParaRPr>
            </a:p>
          </p:txBody>
        </p:sp>
        <p:sp>
          <p:nvSpPr>
            <p:cNvPr id="187" name="Text Box 46"/>
            <p:cNvSpPr txBox="1">
              <a:spLocks noChangeArrowheads="1"/>
            </p:cNvSpPr>
            <p:nvPr/>
          </p:nvSpPr>
          <p:spPr bwMode="gray">
            <a:xfrm>
              <a:off x="8854508" y="1929866"/>
              <a:ext cx="1570081" cy="4391182"/>
            </a:xfrm>
            <a:prstGeom prst="rect">
              <a:avLst/>
            </a:prstGeom>
            <a:noFill/>
            <a:ln w="12700" algn="ctr">
              <a:noFill/>
              <a:miter lim="800000"/>
              <a:headEnd/>
              <a:tailEnd/>
            </a:ln>
          </p:spPr>
          <p:txBody>
            <a:bodyPr lIns="52314" tIns="24413" rIns="52314" bIns="52314"/>
            <a:lstStyle/>
            <a:p>
              <a:pPr marL="194824" lvl="3" indent="-194824" algn="just" defTabSz="160010">
                <a:spcBef>
                  <a:spcPts val="409"/>
                </a:spcBef>
                <a:buFont typeface="Arial" panose="020B0604020202020204" pitchFamily="34" charset="0"/>
                <a:buChar char="•"/>
                <a:tabLst>
                  <a:tab pos="154137" algn="l"/>
                  <a:tab pos="320017" algn="l"/>
                </a:tabLst>
                <a:defRPr/>
              </a:pPr>
              <a:r>
                <a:rPr lang="en-US" sz="886" dirty="0" err="1">
                  <a:solidFill>
                    <a:prstClr val="black"/>
                  </a:solidFill>
                  <a:latin typeface="Verdana"/>
                  <a:cs typeface="Arial" panose="020B0604020202020204" pitchFamily="34" charset="0"/>
                </a:rPr>
                <a:t>M.Tech</a:t>
              </a:r>
              <a:r>
                <a:rPr lang="en-US" sz="886" dirty="0">
                  <a:solidFill>
                    <a:prstClr val="black"/>
                  </a:solidFill>
                  <a:latin typeface="Verdana"/>
                  <a:cs typeface="Arial" panose="020B0604020202020204" pitchFamily="34" charset="0"/>
                </a:rPr>
                <a:t> in Electrical </a:t>
              </a:r>
              <a:r>
                <a:rPr lang="en-US" sz="886" dirty="0" err="1">
                  <a:solidFill>
                    <a:prstClr val="black"/>
                  </a:solidFill>
                  <a:latin typeface="Verdana"/>
                  <a:cs typeface="Arial" panose="020B0604020202020204" pitchFamily="34" charset="0"/>
                </a:rPr>
                <a:t>Engg</a:t>
              </a:r>
              <a:r>
                <a:rPr lang="en-US" sz="886" dirty="0">
                  <a:solidFill>
                    <a:prstClr val="black"/>
                  </a:solidFill>
                  <a:latin typeface="Verdana"/>
                  <a:cs typeface="Arial" panose="020B0604020202020204" pitchFamily="34" charset="0"/>
                </a:rPr>
                <a:t>. </a:t>
              </a:r>
            </a:p>
            <a:p>
              <a:pPr marL="194824" lvl="3" indent="-194824" algn="just" defTabSz="160010">
                <a:spcBef>
                  <a:spcPts val="409"/>
                </a:spcBef>
                <a:buFont typeface="Arial" panose="020B0604020202020204" pitchFamily="34" charset="0"/>
                <a:buChar char="•"/>
                <a:tabLst>
                  <a:tab pos="154137" algn="l"/>
                  <a:tab pos="320017" algn="l"/>
                </a:tabLst>
                <a:defRPr/>
              </a:pPr>
              <a:r>
                <a:rPr lang="en-US" sz="886" dirty="0">
                  <a:solidFill>
                    <a:prstClr val="black"/>
                  </a:solidFill>
                  <a:latin typeface="Verdana"/>
                  <a:cs typeface="Arial" panose="020B0604020202020204" pitchFamily="34" charset="0"/>
                </a:rPr>
                <a:t>MBA in Power Management. </a:t>
              </a:r>
            </a:p>
            <a:p>
              <a:pPr marL="0" lvl="3" algn="just" defTabSz="160010">
                <a:spcBef>
                  <a:spcPts val="409"/>
                </a:spcBef>
                <a:tabLst>
                  <a:tab pos="154137" algn="l"/>
                  <a:tab pos="320017" algn="l"/>
                </a:tabLst>
                <a:defRPr/>
              </a:pPr>
              <a:r>
                <a:rPr lang="en-US" sz="886" dirty="0">
                  <a:solidFill>
                    <a:prstClr val="black"/>
                  </a:solidFill>
                  <a:latin typeface="Verdana"/>
                  <a:cs typeface="Arial" panose="020B0604020202020204" pitchFamily="34" charset="0"/>
                </a:rPr>
                <a:t>3 years of experience in the areas of Regulatory &amp; Policy advisory, tariff petition and tariff modelling.</a:t>
              </a:r>
            </a:p>
            <a:p>
              <a:pPr marL="0" lvl="3" algn="just" defTabSz="160010">
                <a:spcBef>
                  <a:spcPts val="409"/>
                </a:spcBef>
                <a:tabLst>
                  <a:tab pos="154137" algn="l"/>
                  <a:tab pos="320017" algn="l"/>
                </a:tabLst>
                <a:defRPr/>
              </a:pPr>
              <a:r>
                <a:rPr lang="en-US" sz="886" dirty="0">
                  <a:solidFill>
                    <a:prstClr val="black"/>
                  </a:solidFill>
                  <a:latin typeface="Verdana"/>
                  <a:cs typeface="Arial" panose="020B0604020202020204" pitchFamily="34" charset="0"/>
                </a:rPr>
                <a:t>Key Assignments of Rishi are:</a:t>
              </a:r>
            </a:p>
          </p:txBody>
        </p:sp>
        <p:sp>
          <p:nvSpPr>
            <p:cNvPr id="42" name="Rectangle 41"/>
            <p:cNvSpPr/>
            <p:nvPr/>
          </p:nvSpPr>
          <p:spPr bwMode="gray">
            <a:xfrm>
              <a:off x="3849113" y="1667675"/>
              <a:ext cx="1566147" cy="240040"/>
            </a:xfrm>
            <a:prstGeom prst="rect">
              <a:avLst/>
            </a:prstGeom>
            <a:solidFill>
              <a:srgbClr val="86BC25"/>
            </a:solidFill>
            <a:ln w="19050" algn="ctr">
              <a:solidFill>
                <a:sysClr val="window" lastClr="FFFFFF"/>
              </a:solidFill>
              <a:miter lim="800000"/>
              <a:headEnd/>
              <a:tailEnd/>
            </a:ln>
          </p:spPr>
          <p:txBody>
            <a:bodyPr wrap="square" lIns="0" tIns="0" rIns="0" bIns="0" rtlCol="0" anchor="ctr"/>
            <a:lstStyle/>
            <a:p>
              <a:pPr algn="ctr" defTabSz="794883">
                <a:lnSpc>
                  <a:spcPct val="106000"/>
                </a:lnSpc>
                <a:defRPr/>
              </a:pPr>
              <a:r>
                <a:rPr lang="en-SG" sz="957" b="1" kern="0" dirty="0">
                  <a:solidFill>
                    <a:prstClr val="white"/>
                  </a:solidFill>
                  <a:latin typeface="Verdana"/>
                  <a:cs typeface="Arial" panose="020B0604020202020204" pitchFamily="34" charset="0"/>
                </a:rPr>
                <a:t>Sapna Verma</a:t>
              </a:r>
            </a:p>
          </p:txBody>
        </p:sp>
        <p:sp>
          <p:nvSpPr>
            <p:cNvPr id="43" name="Rectangle 42"/>
            <p:cNvSpPr/>
            <p:nvPr/>
          </p:nvSpPr>
          <p:spPr>
            <a:xfrm>
              <a:off x="3849112" y="653308"/>
              <a:ext cx="1568069" cy="55604"/>
            </a:xfrm>
            <a:prstGeom prst="rect">
              <a:avLst/>
            </a:prstGeom>
            <a:solidFill>
              <a:srgbClr val="86BC25"/>
            </a:solidFill>
            <a:ln w="25400" cap="flat" cmpd="sng" algn="ctr">
              <a:noFill/>
              <a:prstDash val="solid"/>
            </a:ln>
            <a:effectLst/>
          </p:spPr>
          <p:txBody>
            <a:bodyPr rtlCol="0" anchor="t"/>
            <a:lstStyle/>
            <a:p>
              <a:pPr algn="ctr" defTabSz="794883">
                <a:spcAft>
                  <a:spcPts val="652"/>
                </a:spcAft>
                <a:defRPr/>
              </a:pPr>
              <a:endParaRPr lang="en-GB" sz="717" kern="0" dirty="0">
                <a:solidFill>
                  <a:prstClr val="white"/>
                </a:solidFill>
                <a:latin typeface="Verdana"/>
              </a:endParaRPr>
            </a:p>
          </p:txBody>
        </p:sp>
        <p:sp>
          <p:nvSpPr>
            <p:cNvPr id="44" name="Text Box 46"/>
            <p:cNvSpPr txBox="1">
              <a:spLocks noChangeArrowheads="1"/>
            </p:cNvSpPr>
            <p:nvPr/>
          </p:nvSpPr>
          <p:spPr bwMode="gray">
            <a:xfrm>
              <a:off x="3844431" y="1929866"/>
              <a:ext cx="1570831" cy="4391182"/>
            </a:xfrm>
            <a:prstGeom prst="rect">
              <a:avLst/>
            </a:prstGeom>
            <a:noFill/>
            <a:ln w="12700" algn="ctr">
              <a:noFill/>
              <a:miter lim="800000"/>
              <a:headEnd/>
              <a:tailEnd/>
            </a:ln>
          </p:spPr>
          <p:txBody>
            <a:bodyPr lIns="52314" tIns="24413" rIns="52314" bIns="52314"/>
            <a:lstStyle/>
            <a:p>
              <a:pPr marL="194824" lvl="3" indent="-194824" algn="just" defTabSz="160010">
                <a:spcBef>
                  <a:spcPts val="409"/>
                </a:spcBef>
                <a:buFont typeface="Arial" panose="020B0604020202020204" pitchFamily="34" charset="0"/>
                <a:buChar char="•"/>
                <a:tabLst>
                  <a:tab pos="154137" algn="l"/>
                  <a:tab pos="320017" algn="l"/>
                </a:tabLst>
                <a:defRPr/>
              </a:pPr>
              <a:r>
                <a:rPr lang="en-US" sz="886" dirty="0">
                  <a:solidFill>
                    <a:prstClr val="black"/>
                  </a:solidFill>
                  <a:latin typeface="Verdana"/>
                  <a:cs typeface="Arial" panose="020B0604020202020204" pitchFamily="34" charset="0"/>
                </a:rPr>
                <a:t>M. Tech in Electronics &amp; Communication.</a:t>
              </a:r>
            </a:p>
            <a:p>
              <a:pPr marL="0" lvl="3" algn="just" defTabSz="160010">
                <a:spcBef>
                  <a:spcPts val="409"/>
                </a:spcBef>
                <a:tabLst>
                  <a:tab pos="154137" algn="l"/>
                  <a:tab pos="320017" algn="l"/>
                </a:tabLst>
                <a:defRPr/>
              </a:pPr>
              <a:r>
                <a:rPr lang="en-US" sz="886" dirty="0">
                  <a:solidFill>
                    <a:prstClr val="black"/>
                  </a:solidFill>
                  <a:latin typeface="Verdana"/>
                  <a:cs typeface="Arial" panose="020B0604020202020204" pitchFamily="34" charset="0"/>
                </a:rPr>
                <a:t>5 years of experience in in RE integration and data analysis through use of software like PSS®E and Homer Pro; benchmark analysis of power utilities</a:t>
              </a:r>
            </a:p>
            <a:p>
              <a:pPr marL="0" lvl="3" algn="just" defTabSz="160010">
                <a:spcBef>
                  <a:spcPts val="409"/>
                </a:spcBef>
                <a:tabLst>
                  <a:tab pos="154137" algn="l"/>
                  <a:tab pos="320017" algn="l"/>
                </a:tabLst>
                <a:defRPr/>
              </a:pPr>
              <a:r>
                <a:rPr lang="en-US" sz="886" dirty="0">
                  <a:solidFill>
                    <a:prstClr val="black"/>
                  </a:solidFill>
                  <a:latin typeface="Verdana"/>
                  <a:cs typeface="Arial" panose="020B0604020202020204" pitchFamily="34" charset="0"/>
                </a:rPr>
                <a:t>Key Assignments of Sapna are:</a:t>
              </a:r>
            </a:p>
          </p:txBody>
        </p:sp>
        <p:pic>
          <p:nvPicPr>
            <p:cNvPr id="29" name="Picture 28">
              <a:extLst>
                <a:ext uri="{FF2B5EF4-FFF2-40B4-BE49-F238E27FC236}">
                  <a16:creationId xmlns:a16="http://schemas.microsoft.com/office/drawing/2014/main" id="{FCE0F95E-F6B2-40BC-B96E-B523DC5F17DD}"/>
                </a:ext>
              </a:extLst>
            </p:cNvPr>
            <p:cNvPicPr preferRelativeResize="0">
              <a:picLocks/>
            </p:cNvPicPr>
            <p:nvPr/>
          </p:nvPicPr>
          <p:blipFill>
            <a:blip r:embed="rId7" cstate="email">
              <a:extLst>
                <a:ext uri="{28A0092B-C50C-407E-A947-70E740481C1C}">
                  <a14:useLocalDpi xmlns:a14="http://schemas.microsoft.com/office/drawing/2010/main"/>
                </a:ext>
              </a:extLst>
            </a:blip>
            <a:stretch>
              <a:fillRect/>
            </a:stretch>
          </p:blipFill>
          <p:spPr>
            <a:xfrm>
              <a:off x="832902" y="743804"/>
              <a:ext cx="1008818" cy="908182"/>
            </a:xfrm>
            <a:prstGeom prst="round2DiagRect">
              <a:avLst>
                <a:gd name="adj1" fmla="val 16667"/>
                <a:gd name="adj2" fmla="val 0"/>
              </a:avLst>
            </a:prstGeom>
            <a:ln w="19050" cap="sq">
              <a:solidFill>
                <a:schemeClr val="bg1"/>
              </a:solidFill>
              <a:miter lim="800000"/>
            </a:ln>
            <a:effectLst>
              <a:glow>
                <a:schemeClr val="accent1">
                  <a:alpha val="0"/>
                </a:schemeClr>
              </a:glow>
              <a:outerShdw blurRad="254000" algn="tl" rotWithShape="0">
                <a:srgbClr val="000000">
                  <a:alpha val="43000"/>
                </a:srgbClr>
              </a:outerShdw>
            </a:effectLst>
          </p:spPr>
        </p:pic>
        <p:pic>
          <p:nvPicPr>
            <p:cNvPr id="30" name="Picture 29">
              <a:extLst>
                <a:ext uri="{FF2B5EF4-FFF2-40B4-BE49-F238E27FC236}">
                  <a16:creationId xmlns:a16="http://schemas.microsoft.com/office/drawing/2014/main" id="{B2D8CCC4-B047-4A45-BA18-C9956EC65A88}"/>
                </a:ext>
              </a:extLst>
            </p:cNvPr>
            <p:cNvPicPr/>
            <p:nvPr/>
          </p:nvPicPr>
          <p:blipFill>
            <a:blip r:embed="rId8" r:link="rId9" cstate="email">
              <a:extLst>
                <a:ext uri="{28A0092B-C50C-407E-A947-70E740481C1C}">
                  <a14:useLocalDpi xmlns:a14="http://schemas.microsoft.com/office/drawing/2010/main"/>
                </a:ext>
              </a:extLst>
            </a:blip>
            <a:srcRect/>
            <a:stretch>
              <a:fillRect/>
            </a:stretch>
          </p:blipFill>
          <p:spPr bwMode="auto">
            <a:xfrm>
              <a:off x="2479444" y="745759"/>
              <a:ext cx="1008818" cy="908182"/>
            </a:xfrm>
            <a:prstGeom prst="round2DiagRect">
              <a:avLst>
                <a:gd name="adj1" fmla="val 16667"/>
                <a:gd name="adj2" fmla="val 0"/>
              </a:avLst>
            </a:prstGeom>
            <a:ln w="19050" cap="sq">
              <a:solidFill>
                <a:schemeClr val="bg1"/>
              </a:solidFill>
              <a:miter lim="800000"/>
            </a:ln>
            <a:effectLst>
              <a:outerShdw blurRad="254000" algn="tl" rotWithShape="0">
                <a:srgbClr val="000000">
                  <a:alpha val="43000"/>
                </a:srgbClr>
              </a:outerShdw>
            </a:effectLst>
          </p:spPr>
        </p:pic>
        <p:pic>
          <p:nvPicPr>
            <p:cNvPr id="31" name="Picture 30" descr="A picture containing person, smiling, posing&#10;&#10;Description automatically generated">
              <a:extLst>
                <a:ext uri="{FF2B5EF4-FFF2-40B4-BE49-F238E27FC236}">
                  <a16:creationId xmlns:a16="http://schemas.microsoft.com/office/drawing/2014/main" id="{B0EDEBED-C3F1-4D77-B7D3-02F6B8BCAB3B}"/>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4124885" y="758377"/>
              <a:ext cx="1008819" cy="908182"/>
            </a:xfrm>
            <a:prstGeom prst="round2DiagRect">
              <a:avLst>
                <a:gd name="adj1" fmla="val 16667"/>
                <a:gd name="adj2" fmla="val 0"/>
              </a:avLst>
            </a:prstGeom>
            <a:ln w="19050" cap="sq">
              <a:solidFill>
                <a:schemeClr val="bg1"/>
              </a:solidFill>
              <a:miter lim="800000"/>
            </a:ln>
            <a:effectLst>
              <a:outerShdw blurRad="254000" algn="tl" rotWithShape="0">
                <a:srgbClr val="000000">
                  <a:alpha val="43000"/>
                </a:srgbClr>
              </a:outerShdw>
            </a:effectLst>
          </p:spPr>
        </p:pic>
        <p:pic>
          <p:nvPicPr>
            <p:cNvPr id="32" name="Picture 31">
              <a:extLst>
                <a:ext uri="{FF2B5EF4-FFF2-40B4-BE49-F238E27FC236}">
                  <a16:creationId xmlns:a16="http://schemas.microsoft.com/office/drawing/2014/main" id="{08D22BF2-FE65-45EF-8FE6-2ED4118563FD}"/>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5781736" y="758381"/>
              <a:ext cx="1008818" cy="908181"/>
            </a:xfrm>
            <a:prstGeom prst="round2DiagRect">
              <a:avLst>
                <a:gd name="adj1" fmla="val 16667"/>
                <a:gd name="adj2" fmla="val 0"/>
              </a:avLst>
            </a:prstGeom>
            <a:ln w="19050" cap="sq">
              <a:solidFill>
                <a:schemeClr val="bg1"/>
              </a:solidFill>
              <a:miter lim="800000"/>
            </a:ln>
            <a:effectLst>
              <a:outerShdw blurRad="254000" algn="tl" rotWithShape="0">
                <a:srgbClr val="000000">
                  <a:alpha val="43000"/>
                </a:srgbClr>
              </a:outerShdw>
            </a:effectLst>
          </p:spPr>
        </p:pic>
        <p:pic>
          <p:nvPicPr>
            <p:cNvPr id="33" name="Picture 32" descr="A picture containing person, person, wall, indoor&#10;&#10;Description automatically generated">
              <a:extLst>
                <a:ext uri="{FF2B5EF4-FFF2-40B4-BE49-F238E27FC236}">
                  <a16:creationId xmlns:a16="http://schemas.microsoft.com/office/drawing/2014/main" id="{E71D0276-9CCE-44E8-ABD7-CB32F19AA8FF}"/>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7489521" y="731063"/>
              <a:ext cx="1008818" cy="912278"/>
            </a:xfrm>
            <a:prstGeom prst="round2DiagRect">
              <a:avLst>
                <a:gd name="adj1" fmla="val 16667"/>
                <a:gd name="adj2" fmla="val 0"/>
              </a:avLst>
            </a:prstGeom>
            <a:ln w="19050" cap="sq">
              <a:solidFill>
                <a:schemeClr val="bg1"/>
              </a:solidFill>
              <a:miter lim="800000"/>
            </a:ln>
            <a:effectLst>
              <a:outerShdw blurRad="254000" algn="tl" rotWithShape="0">
                <a:srgbClr val="000000">
                  <a:alpha val="43000"/>
                </a:srgbClr>
              </a:outerShdw>
            </a:effectLst>
          </p:spPr>
        </p:pic>
        <p:pic>
          <p:nvPicPr>
            <p:cNvPr id="34" name="Picture 33">
              <a:extLst>
                <a:ext uri="{FF2B5EF4-FFF2-40B4-BE49-F238E27FC236}">
                  <a16:creationId xmlns:a16="http://schemas.microsoft.com/office/drawing/2014/main" id="{71811E33-BCBC-4F75-A261-6EC978799D75}"/>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9134131" y="755944"/>
              <a:ext cx="1008818" cy="864702"/>
            </a:xfrm>
            <a:prstGeom prst="round2DiagRect">
              <a:avLst>
                <a:gd name="adj1" fmla="val 16667"/>
                <a:gd name="adj2" fmla="val 0"/>
              </a:avLst>
            </a:prstGeom>
            <a:ln w="19050" cap="sq">
              <a:solidFill>
                <a:schemeClr val="bg1"/>
              </a:solidFill>
              <a:miter lim="800000"/>
            </a:ln>
            <a:effectLst>
              <a:outerShdw blurRad="254000" algn="tl" rotWithShape="0">
                <a:srgbClr val="000000">
                  <a:alpha val="43000"/>
                </a:srgbClr>
              </a:outerShdw>
            </a:effectLst>
          </p:spPr>
        </p:pic>
        <p:sp>
          <p:nvSpPr>
            <p:cNvPr id="38" name="Freeform 3">
              <a:extLst>
                <a:ext uri="{FF2B5EF4-FFF2-40B4-BE49-F238E27FC236}">
                  <a16:creationId xmlns:a16="http://schemas.microsoft.com/office/drawing/2014/main" id="{98DAC1E5-A61D-4661-805F-187228AE9BE0}"/>
                </a:ext>
              </a:extLst>
            </p:cNvPr>
            <p:cNvSpPr>
              <a:spLocks/>
            </p:cNvSpPr>
            <p:nvPr/>
          </p:nvSpPr>
          <p:spPr bwMode="gray">
            <a:xfrm>
              <a:off x="536438" y="3452001"/>
              <a:ext cx="1586840" cy="489884"/>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71818" tIns="49091" rIns="171818" bIns="49091" anchor="ctr"/>
            <a:lstStyle/>
            <a:p>
              <a:pPr defTabSz="623438">
                <a:defRPr/>
              </a:pPr>
              <a:r>
                <a:rPr lang="en-US" sz="886" dirty="0">
                  <a:solidFill>
                    <a:prstClr val="black"/>
                  </a:solidFill>
                  <a:latin typeface="Verdana"/>
                </a:rPr>
                <a:t>Assessment of financial health of WBSEDCL</a:t>
              </a:r>
            </a:p>
          </p:txBody>
        </p:sp>
        <p:sp>
          <p:nvSpPr>
            <p:cNvPr id="39" name="Freeform 3">
              <a:extLst>
                <a:ext uri="{FF2B5EF4-FFF2-40B4-BE49-F238E27FC236}">
                  <a16:creationId xmlns:a16="http://schemas.microsoft.com/office/drawing/2014/main" id="{72C0A049-F80C-4E3D-8506-052126401462}"/>
                </a:ext>
              </a:extLst>
            </p:cNvPr>
            <p:cNvSpPr>
              <a:spLocks/>
            </p:cNvSpPr>
            <p:nvPr/>
          </p:nvSpPr>
          <p:spPr bwMode="gray">
            <a:xfrm>
              <a:off x="536438" y="3989243"/>
              <a:ext cx="1586840" cy="582185"/>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71818" tIns="49091" rIns="171818" bIns="49091" anchor="ctr"/>
            <a:lstStyle/>
            <a:p>
              <a:pPr defTabSz="623438">
                <a:defRPr/>
              </a:pPr>
              <a:r>
                <a:rPr lang="en-US" sz="886" dirty="0">
                  <a:solidFill>
                    <a:prstClr val="black"/>
                  </a:solidFill>
                  <a:latin typeface="Verdana"/>
                </a:rPr>
                <a:t>Regulatory Assistance to WBSEDCL, WBSETCL, DVC, APGCL, IPL</a:t>
              </a:r>
            </a:p>
          </p:txBody>
        </p:sp>
        <p:sp>
          <p:nvSpPr>
            <p:cNvPr id="40" name="Freeform 3">
              <a:extLst>
                <a:ext uri="{FF2B5EF4-FFF2-40B4-BE49-F238E27FC236}">
                  <a16:creationId xmlns:a16="http://schemas.microsoft.com/office/drawing/2014/main" id="{9F060AE5-EB92-4EBB-83D9-CE4F3D0DD641}"/>
                </a:ext>
              </a:extLst>
            </p:cNvPr>
            <p:cNvSpPr>
              <a:spLocks/>
            </p:cNvSpPr>
            <p:nvPr/>
          </p:nvSpPr>
          <p:spPr bwMode="gray">
            <a:xfrm>
              <a:off x="557132" y="4628168"/>
              <a:ext cx="1586840" cy="453526"/>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71818" tIns="49091" rIns="171818" bIns="49091" anchor="ctr"/>
            <a:lstStyle/>
            <a:p>
              <a:pPr defTabSz="623438">
                <a:defRPr/>
              </a:pPr>
              <a:r>
                <a:rPr lang="en-US" sz="886" dirty="0">
                  <a:solidFill>
                    <a:prstClr val="black"/>
                  </a:solidFill>
                  <a:latin typeface="Verdana"/>
                </a:rPr>
                <a:t>1320 MW Raghunathpur Phase II revival (DVC)</a:t>
              </a:r>
            </a:p>
          </p:txBody>
        </p:sp>
        <p:sp>
          <p:nvSpPr>
            <p:cNvPr id="41" name="Freeform 3">
              <a:extLst>
                <a:ext uri="{FF2B5EF4-FFF2-40B4-BE49-F238E27FC236}">
                  <a16:creationId xmlns:a16="http://schemas.microsoft.com/office/drawing/2014/main" id="{EC477004-E9EA-40FE-B482-FBC7552AC824}"/>
                </a:ext>
              </a:extLst>
            </p:cNvPr>
            <p:cNvSpPr>
              <a:spLocks/>
            </p:cNvSpPr>
            <p:nvPr/>
          </p:nvSpPr>
          <p:spPr bwMode="gray">
            <a:xfrm>
              <a:off x="543891" y="5146205"/>
              <a:ext cx="1586840" cy="531123"/>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71818" tIns="49091" rIns="171818" bIns="49091" anchor="ctr"/>
            <a:lstStyle/>
            <a:p>
              <a:pPr defTabSz="623438">
                <a:defRPr/>
              </a:pPr>
              <a:r>
                <a:rPr lang="en-US" sz="886" dirty="0">
                  <a:solidFill>
                    <a:prstClr val="black"/>
                  </a:solidFill>
                  <a:latin typeface="Verdana"/>
                </a:rPr>
                <a:t>Assessment  of EV Integration of BESS (under RISE Pilot)</a:t>
              </a:r>
            </a:p>
          </p:txBody>
        </p:sp>
        <p:sp>
          <p:nvSpPr>
            <p:cNvPr id="46" name="Freeform 3">
              <a:extLst>
                <a:ext uri="{FF2B5EF4-FFF2-40B4-BE49-F238E27FC236}">
                  <a16:creationId xmlns:a16="http://schemas.microsoft.com/office/drawing/2014/main" id="{74D10519-78D6-4BC1-A925-932BCF60A915}"/>
                </a:ext>
              </a:extLst>
            </p:cNvPr>
            <p:cNvSpPr>
              <a:spLocks/>
            </p:cNvSpPr>
            <p:nvPr/>
          </p:nvSpPr>
          <p:spPr bwMode="gray">
            <a:xfrm>
              <a:off x="536438" y="5732769"/>
              <a:ext cx="1586840" cy="542285"/>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71818" tIns="49091" rIns="171818" bIns="49091" anchor="ctr"/>
            <a:lstStyle/>
            <a:p>
              <a:pPr defTabSz="623438">
                <a:defRPr/>
              </a:pPr>
              <a:r>
                <a:rPr lang="en-US" sz="886" dirty="0">
                  <a:solidFill>
                    <a:prstClr val="black"/>
                  </a:solidFill>
                  <a:latin typeface="Verdana"/>
                </a:rPr>
                <a:t>Reform of BPDB as a Holding Company (Bangladesh) </a:t>
              </a:r>
            </a:p>
          </p:txBody>
        </p:sp>
        <p:sp>
          <p:nvSpPr>
            <p:cNvPr id="47" name="Freeform 3">
              <a:extLst>
                <a:ext uri="{FF2B5EF4-FFF2-40B4-BE49-F238E27FC236}">
                  <a16:creationId xmlns:a16="http://schemas.microsoft.com/office/drawing/2014/main" id="{82C097DC-C925-4D40-A685-617767B049B7}"/>
                </a:ext>
              </a:extLst>
            </p:cNvPr>
            <p:cNvSpPr>
              <a:spLocks/>
            </p:cNvSpPr>
            <p:nvPr/>
          </p:nvSpPr>
          <p:spPr bwMode="gray">
            <a:xfrm>
              <a:off x="2162768" y="3495297"/>
              <a:ext cx="1586840" cy="446588"/>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71818" tIns="49091" rIns="171818" bIns="49091" anchor="ctr"/>
            <a:lstStyle/>
            <a:p>
              <a:pPr defTabSz="623438">
                <a:defRPr/>
              </a:pPr>
              <a:r>
                <a:rPr lang="en-US" sz="886" dirty="0">
                  <a:solidFill>
                    <a:prstClr val="black"/>
                  </a:solidFill>
                  <a:latin typeface="Verdana"/>
                </a:rPr>
                <a:t>Regulatory Assistance to WBSEDCL, DVC, TSUISL, MSLDC</a:t>
              </a:r>
            </a:p>
          </p:txBody>
        </p:sp>
        <p:sp>
          <p:nvSpPr>
            <p:cNvPr id="48" name="Freeform 3">
              <a:extLst>
                <a:ext uri="{FF2B5EF4-FFF2-40B4-BE49-F238E27FC236}">
                  <a16:creationId xmlns:a16="http://schemas.microsoft.com/office/drawing/2014/main" id="{DDE62760-7021-46C0-BEA1-35F11D9E75A8}"/>
                </a:ext>
              </a:extLst>
            </p:cNvPr>
            <p:cNvSpPr>
              <a:spLocks/>
            </p:cNvSpPr>
            <p:nvPr/>
          </p:nvSpPr>
          <p:spPr bwMode="gray">
            <a:xfrm>
              <a:off x="2174297" y="3988725"/>
              <a:ext cx="1586840" cy="611141"/>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71818" tIns="49091" rIns="171818" bIns="49091" anchor="ctr"/>
            <a:lstStyle/>
            <a:p>
              <a:pPr defTabSz="623438">
                <a:defRPr/>
              </a:pPr>
              <a:r>
                <a:rPr lang="en-US" sz="886" dirty="0">
                  <a:solidFill>
                    <a:prstClr val="black"/>
                  </a:solidFill>
                  <a:latin typeface="Verdana"/>
                </a:rPr>
                <a:t>Support to MERC in review of petition filed by ATIL and MSEDCL</a:t>
              </a:r>
            </a:p>
          </p:txBody>
        </p:sp>
        <p:sp>
          <p:nvSpPr>
            <p:cNvPr id="49" name="Freeform 3">
              <a:extLst>
                <a:ext uri="{FF2B5EF4-FFF2-40B4-BE49-F238E27FC236}">
                  <a16:creationId xmlns:a16="http://schemas.microsoft.com/office/drawing/2014/main" id="{CFF0D95F-2854-423B-95D6-2659E6E02FA2}"/>
                </a:ext>
              </a:extLst>
            </p:cNvPr>
            <p:cNvSpPr>
              <a:spLocks/>
            </p:cNvSpPr>
            <p:nvPr/>
          </p:nvSpPr>
          <p:spPr bwMode="gray">
            <a:xfrm>
              <a:off x="2201683" y="4635217"/>
              <a:ext cx="1586840" cy="460968"/>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71818" tIns="49091" rIns="171818" bIns="49091" anchor="ctr"/>
            <a:lstStyle/>
            <a:p>
              <a:pPr defTabSz="623438">
                <a:defRPr/>
              </a:pPr>
              <a:r>
                <a:rPr lang="en-US" sz="886" dirty="0">
                  <a:solidFill>
                    <a:prstClr val="black"/>
                  </a:solidFill>
                  <a:latin typeface="Verdana"/>
                </a:rPr>
                <a:t>Renewable Integration and Sustainable Energy</a:t>
              </a:r>
            </a:p>
          </p:txBody>
        </p:sp>
        <p:sp>
          <p:nvSpPr>
            <p:cNvPr id="50" name="Freeform 3">
              <a:extLst>
                <a:ext uri="{FF2B5EF4-FFF2-40B4-BE49-F238E27FC236}">
                  <a16:creationId xmlns:a16="http://schemas.microsoft.com/office/drawing/2014/main" id="{69F39D9D-86EE-4D54-A889-5EA39DE2EFA9}"/>
                </a:ext>
              </a:extLst>
            </p:cNvPr>
            <p:cNvSpPr>
              <a:spLocks/>
            </p:cNvSpPr>
            <p:nvPr/>
          </p:nvSpPr>
          <p:spPr bwMode="gray">
            <a:xfrm>
              <a:off x="2220305" y="5143021"/>
              <a:ext cx="1586840" cy="369262"/>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Assessment of energy storage in India</a:t>
              </a:r>
            </a:p>
          </p:txBody>
        </p:sp>
        <p:sp>
          <p:nvSpPr>
            <p:cNvPr id="52" name="Freeform 3">
              <a:extLst>
                <a:ext uri="{FF2B5EF4-FFF2-40B4-BE49-F238E27FC236}">
                  <a16:creationId xmlns:a16="http://schemas.microsoft.com/office/drawing/2014/main" id="{99D53FC7-1206-4CBA-9146-BB4440B6BE00}"/>
                </a:ext>
              </a:extLst>
            </p:cNvPr>
            <p:cNvSpPr>
              <a:spLocks/>
            </p:cNvSpPr>
            <p:nvPr/>
          </p:nvSpPr>
          <p:spPr bwMode="gray">
            <a:xfrm>
              <a:off x="2217878" y="5584715"/>
              <a:ext cx="1586840" cy="611165"/>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71818" tIns="49091" rIns="171818" bIns="49091" anchor="ctr"/>
            <a:lstStyle/>
            <a:p>
              <a:pPr defTabSz="623438">
                <a:defRPr/>
              </a:pPr>
              <a:r>
                <a:rPr lang="en-US" sz="886" dirty="0">
                  <a:solidFill>
                    <a:prstClr val="black"/>
                  </a:solidFill>
                  <a:latin typeface="Verdana"/>
                </a:rPr>
                <a:t>Analysis of E-mobility &amp; low carbon passenger road transport in India</a:t>
              </a:r>
            </a:p>
          </p:txBody>
        </p:sp>
        <p:sp>
          <p:nvSpPr>
            <p:cNvPr id="53" name="Freeform 3">
              <a:extLst>
                <a:ext uri="{FF2B5EF4-FFF2-40B4-BE49-F238E27FC236}">
                  <a16:creationId xmlns:a16="http://schemas.microsoft.com/office/drawing/2014/main" id="{DDAB0210-EF51-40E2-8F96-BA5002DD7432}"/>
                </a:ext>
              </a:extLst>
            </p:cNvPr>
            <p:cNvSpPr>
              <a:spLocks/>
            </p:cNvSpPr>
            <p:nvPr/>
          </p:nvSpPr>
          <p:spPr bwMode="gray">
            <a:xfrm>
              <a:off x="3833122" y="3550378"/>
              <a:ext cx="1586840" cy="544997"/>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71818" tIns="49091" rIns="171818" bIns="49091" anchor="ctr"/>
            <a:lstStyle/>
            <a:p>
              <a:pPr defTabSz="623438">
                <a:defRPr/>
              </a:pPr>
              <a:r>
                <a:rPr lang="en-US" sz="886" dirty="0">
                  <a:solidFill>
                    <a:prstClr val="black"/>
                  </a:solidFill>
                  <a:latin typeface="Verdana"/>
                </a:rPr>
                <a:t>Impact assessment of business scenarios on WBSEDCL </a:t>
              </a:r>
            </a:p>
          </p:txBody>
        </p:sp>
        <p:sp>
          <p:nvSpPr>
            <p:cNvPr id="54" name="Freeform 3">
              <a:extLst>
                <a:ext uri="{FF2B5EF4-FFF2-40B4-BE49-F238E27FC236}">
                  <a16:creationId xmlns:a16="http://schemas.microsoft.com/office/drawing/2014/main" id="{1982EE4E-4484-4943-874E-DA9E25042BF6}"/>
                </a:ext>
              </a:extLst>
            </p:cNvPr>
            <p:cNvSpPr>
              <a:spLocks/>
            </p:cNvSpPr>
            <p:nvPr/>
          </p:nvSpPr>
          <p:spPr bwMode="gray">
            <a:xfrm>
              <a:off x="3845220" y="4123615"/>
              <a:ext cx="1586840" cy="427596"/>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Regulatory Support  to DVC, IPL &amp; JERC</a:t>
              </a:r>
            </a:p>
          </p:txBody>
        </p:sp>
        <p:sp>
          <p:nvSpPr>
            <p:cNvPr id="55" name="Freeform 3">
              <a:extLst>
                <a:ext uri="{FF2B5EF4-FFF2-40B4-BE49-F238E27FC236}">
                  <a16:creationId xmlns:a16="http://schemas.microsoft.com/office/drawing/2014/main" id="{38B9A26C-E5C8-4230-AB38-480777FC5D1A}"/>
                </a:ext>
              </a:extLst>
            </p:cNvPr>
            <p:cNvSpPr>
              <a:spLocks/>
            </p:cNvSpPr>
            <p:nvPr/>
          </p:nvSpPr>
          <p:spPr bwMode="gray">
            <a:xfrm>
              <a:off x="3855321" y="4598050"/>
              <a:ext cx="1586840" cy="483215"/>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Battery Storage assessment at T&amp;D level in select states</a:t>
              </a:r>
            </a:p>
          </p:txBody>
        </p:sp>
        <p:sp>
          <p:nvSpPr>
            <p:cNvPr id="56" name="Freeform 3">
              <a:extLst>
                <a:ext uri="{FF2B5EF4-FFF2-40B4-BE49-F238E27FC236}">
                  <a16:creationId xmlns:a16="http://schemas.microsoft.com/office/drawing/2014/main" id="{CF23143E-CCFE-4518-B68B-4C0A4F6CFF77}"/>
                </a:ext>
              </a:extLst>
            </p:cNvPr>
            <p:cNvSpPr>
              <a:spLocks/>
            </p:cNvSpPr>
            <p:nvPr/>
          </p:nvSpPr>
          <p:spPr bwMode="gray">
            <a:xfrm>
              <a:off x="3891229" y="5094323"/>
              <a:ext cx="1586840" cy="534537"/>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E-mobility &amp; low carbon passenger road transport in India</a:t>
              </a:r>
            </a:p>
          </p:txBody>
        </p:sp>
        <p:sp>
          <p:nvSpPr>
            <p:cNvPr id="57" name="Freeform 3">
              <a:extLst>
                <a:ext uri="{FF2B5EF4-FFF2-40B4-BE49-F238E27FC236}">
                  <a16:creationId xmlns:a16="http://schemas.microsoft.com/office/drawing/2014/main" id="{659E4E45-0F64-4A25-959D-10D156A07B8A}"/>
                </a:ext>
              </a:extLst>
            </p:cNvPr>
            <p:cNvSpPr>
              <a:spLocks/>
            </p:cNvSpPr>
            <p:nvPr/>
          </p:nvSpPr>
          <p:spPr bwMode="gray">
            <a:xfrm>
              <a:off x="3891228" y="5683603"/>
              <a:ext cx="1586840" cy="728870"/>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Distribution Network Climate Resilience &amp; Distributed Energy Resources in Bangladesh</a:t>
              </a:r>
            </a:p>
          </p:txBody>
        </p:sp>
        <p:sp>
          <p:nvSpPr>
            <p:cNvPr id="60" name="Freeform 3">
              <a:extLst>
                <a:ext uri="{FF2B5EF4-FFF2-40B4-BE49-F238E27FC236}">
                  <a16:creationId xmlns:a16="http://schemas.microsoft.com/office/drawing/2014/main" id="{6EE11EB6-CFAB-4993-A0FE-961861431E21}"/>
                </a:ext>
              </a:extLst>
            </p:cNvPr>
            <p:cNvSpPr>
              <a:spLocks/>
            </p:cNvSpPr>
            <p:nvPr/>
          </p:nvSpPr>
          <p:spPr bwMode="gray">
            <a:xfrm>
              <a:off x="5489486" y="4162008"/>
              <a:ext cx="1586840" cy="483214"/>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71818" tIns="49091" rIns="171818" bIns="49091" anchor="ctr"/>
            <a:lstStyle/>
            <a:p>
              <a:pPr defTabSz="623438">
                <a:defRPr/>
              </a:pPr>
              <a:r>
                <a:rPr lang="en-US" sz="886" dirty="0">
                  <a:solidFill>
                    <a:prstClr val="black"/>
                  </a:solidFill>
                  <a:latin typeface="Verdana"/>
                </a:rPr>
                <a:t>Regulatory Assistance to WBSETCL  DVC, APGCL, TSUISL</a:t>
              </a:r>
            </a:p>
          </p:txBody>
        </p:sp>
        <p:sp>
          <p:nvSpPr>
            <p:cNvPr id="61" name="Freeform 3">
              <a:extLst>
                <a:ext uri="{FF2B5EF4-FFF2-40B4-BE49-F238E27FC236}">
                  <a16:creationId xmlns:a16="http://schemas.microsoft.com/office/drawing/2014/main" id="{6053B23B-5C3B-4030-86B7-86FDC2554E91}"/>
                </a:ext>
              </a:extLst>
            </p:cNvPr>
            <p:cNvSpPr>
              <a:spLocks/>
            </p:cNvSpPr>
            <p:nvPr/>
          </p:nvSpPr>
          <p:spPr bwMode="gray">
            <a:xfrm>
              <a:off x="5508661" y="4698177"/>
              <a:ext cx="1586840" cy="490229"/>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71818" tIns="49091" rIns="171818" bIns="49091" anchor="ctr"/>
            <a:lstStyle/>
            <a:p>
              <a:pPr defTabSz="623438">
                <a:defRPr/>
              </a:pPr>
              <a:r>
                <a:rPr lang="en-US" sz="886" dirty="0">
                  <a:solidFill>
                    <a:prstClr val="black"/>
                  </a:solidFill>
                  <a:latin typeface="Verdana"/>
                </a:rPr>
                <a:t>Market assessment of EV public charging infrastructure</a:t>
              </a:r>
            </a:p>
          </p:txBody>
        </p:sp>
        <p:sp>
          <p:nvSpPr>
            <p:cNvPr id="62" name="Freeform 3">
              <a:extLst>
                <a:ext uri="{FF2B5EF4-FFF2-40B4-BE49-F238E27FC236}">
                  <a16:creationId xmlns:a16="http://schemas.microsoft.com/office/drawing/2014/main" id="{3DD63975-81FC-4C6C-A46E-3645A6852A25}"/>
                </a:ext>
              </a:extLst>
            </p:cNvPr>
            <p:cNvSpPr>
              <a:spLocks/>
            </p:cNvSpPr>
            <p:nvPr/>
          </p:nvSpPr>
          <p:spPr bwMode="gray">
            <a:xfrm>
              <a:off x="5494923" y="5250174"/>
              <a:ext cx="1586840" cy="564283"/>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71818" tIns="49091" rIns="171818" bIns="49091" anchor="ctr"/>
            <a:lstStyle/>
            <a:p>
              <a:pPr defTabSz="623438">
                <a:defRPr/>
              </a:pPr>
              <a:r>
                <a:rPr lang="en-US" sz="886" dirty="0">
                  <a:solidFill>
                    <a:prstClr val="black"/>
                  </a:solidFill>
                  <a:latin typeface="Verdana"/>
                </a:rPr>
                <a:t>Assessment  of EV Integration of BESS (under RISE Pilot)</a:t>
              </a:r>
            </a:p>
          </p:txBody>
        </p:sp>
        <p:sp>
          <p:nvSpPr>
            <p:cNvPr id="68" name="Freeform 3">
              <a:extLst>
                <a:ext uri="{FF2B5EF4-FFF2-40B4-BE49-F238E27FC236}">
                  <a16:creationId xmlns:a16="http://schemas.microsoft.com/office/drawing/2014/main" id="{2879BCFF-B2E3-43DF-8D02-1932C571F33B}"/>
                </a:ext>
              </a:extLst>
            </p:cNvPr>
            <p:cNvSpPr>
              <a:spLocks/>
            </p:cNvSpPr>
            <p:nvPr/>
          </p:nvSpPr>
          <p:spPr bwMode="gray">
            <a:xfrm>
              <a:off x="5504207" y="3572179"/>
              <a:ext cx="1586840" cy="540687"/>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71818" tIns="49091" rIns="171818" bIns="49091" anchor="ctr"/>
            <a:lstStyle/>
            <a:p>
              <a:pPr defTabSz="623438">
                <a:defRPr/>
              </a:pPr>
              <a:r>
                <a:rPr lang="en-US" sz="886" dirty="0">
                  <a:solidFill>
                    <a:prstClr val="black"/>
                  </a:solidFill>
                  <a:latin typeface="Verdana"/>
                </a:rPr>
                <a:t>Impact assessment of business scenarios on WBSEDCL </a:t>
              </a:r>
            </a:p>
          </p:txBody>
        </p:sp>
        <p:sp>
          <p:nvSpPr>
            <p:cNvPr id="69" name="Freeform 3">
              <a:extLst>
                <a:ext uri="{FF2B5EF4-FFF2-40B4-BE49-F238E27FC236}">
                  <a16:creationId xmlns:a16="http://schemas.microsoft.com/office/drawing/2014/main" id="{75D6E77E-6CD6-408A-9507-C630E229C0F2}"/>
                </a:ext>
              </a:extLst>
            </p:cNvPr>
            <p:cNvSpPr>
              <a:spLocks/>
            </p:cNvSpPr>
            <p:nvPr/>
          </p:nvSpPr>
          <p:spPr bwMode="gray">
            <a:xfrm>
              <a:off x="7140606" y="3702542"/>
              <a:ext cx="1586840" cy="369262"/>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Energy transition on WBSEDCL</a:t>
              </a:r>
            </a:p>
          </p:txBody>
        </p:sp>
        <p:sp>
          <p:nvSpPr>
            <p:cNvPr id="70" name="Freeform 3">
              <a:extLst>
                <a:ext uri="{FF2B5EF4-FFF2-40B4-BE49-F238E27FC236}">
                  <a16:creationId xmlns:a16="http://schemas.microsoft.com/office/drawing/2014/main" id="{B220CEA0-BAFF-4A2D-872C-48EFC1D629CB}"/>
                </a:ext>
              </a:extLst>
            </p:cNvPr>
            <p:cNvSpPr>
              <a:spLocks/>
            </p:cNvSpPr>
            <p:nvPr/>
          </p:nvSpPr>
          <p:spPr bwMode="gray">
            <a:xfrm>
              <a:off x="7167408" y="4118642"/>
              <a:ext cx="1586840" cy="369262"/>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NTPC Strategy 2025</a:t>
              </a:r>
            </a:p>
          </p:txBody>
        </p:sp>
        <p:sp>
          <p:nvSpPr>
            <p:cNvPr id="71" name="Freeform 3">
              <a:extLst>
                <a:ext uri="{FF2B5EF4-FFF2-40B4-BE49-F238E27FC236}">
                  <a16:creationId xmlns:a16="http://schemas.microsoft.com/office/drawing/2014/main" id="{951B7AD1-B418-4171-A3D3-AE6BFAC54D32}"/>
                </a:ext>
              </a:extLst>
            </p:cNvPr>
            <p:cNvSpPr>
              <a:spLocks/>
            </p:cNvSpPr>
            <p:nvPr/>
          </p:nvSpPr>
          <p:spPr bwMode="gray">
            <a:xfrm>
              <a:off x="7172845" y="4535375"/>
              <a:ext cx="1586840" cy="369262"/>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Regulatory Support  to APGCL and JBVNL</a:t>
              </a:r>
            </a:p>
          </p:txBody>
        </p:sp>
        <p:sp>
          <p:nvSpPr>
            <p:cNvPr id="72" name="Freeform 3">
              <a:extLst>
                <a:ext uri="{FF2B5EF4-FFF2-40B4-BE49-F238E27FC236}">
                  <a16:creationId xmlns:a16="http://schemas.microsoft.com/office/drawing/2014/main" id="{ED8D9C1E-5336-48F9-B79A-03FA0FF694CE}"/>
                </a:ext>
              </a:extLst>
            </p:cNvPr>
            <p:cNvSpPr>
              <a:spLocks/>
            </p:cNvSpPr>
            <p:nvPr/>
          </p:nvSpPr>
          <p:spPr bwMode="gray">
            <a:xfrm>
              <a:off x="7161426" y="4951478"/>
              <a:ext cx="1586840" cy="450747"/>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Scaling up rooftop solar in the SME sector in India</a:t>
              </a:r>
            </a:p>
          </p:txBody>
        </p:sp>
        <p:sp>
          <p:nvSpPr>
            <p:cNvPr id="73" name="Freeform 3">
              <a:extLst>
                <a:ext uri="{FF2B5EF4-FFF2-40B4-BE49-F238E27FC236}">
                  <a16:creationId xmlns:a16="http://schemas.microsoft.com/office/drawing/2014/main" id="{3450AF0D-8A85-4552-BCB9-1300A7D2A468}"/>
                </a:ext>
              </a:extLst>
            </p:cNvPr>
            <p:cNvSpPr>
              <a:spLocks/>
            </p:cNvSpPr>
            <p:nvPr/>
          </p:nvSpPr>
          <p:spPr bwMode="gray">
            <a:xfrm>
              <a:off x="7199461" y="5446588"/>
              <a:ext cx="1586840" cy="623402"/>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Application of Decentralized Solar Solutions in Indian MSME</a:t>
              </a:r>
            </a:p>
          </p:txBody>
        </p:sp>
        <p:sp>
          <p:nvSpPr>
            <p:cNvPr id="75" name="Freeform 3">
              <a:extLst>
                <a:ext uri="{FF2B5EF4-FFF2-40B4-BE49-F238E27FC236}">
                  <a16:creationId xmlns:a16="http://schemas.microsoft.com/office/drawing/2014/main" id="{B4E29F2D-DEF9-4C78-BC0B-CA8DD5F5A566}"/>
                </a:ext>
              </a:extLst>
            </p:cNvPr>
            <p:cNvSpPr>
              <a:spLocks/>
            </p:cNvSpPr>
            <p:nvPr/>
          </p:nvSpPr>
          <p:spPr bwMode="gray">
            <a:xfrm>
              <a:off x="7190166" y="6114355"/>
              <a:ext cx="1586840" cy="501107"/>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Assessment  of EV Integration of BESS (under RISE Pilot)</a:t>
              </a:r>
            </a:p>
          </p:txBody>
        </p:sp>
        <p:sp>
          <p:nvSpPr>
            <p:cNvPr id="76" name="Freeform 3">
              <a:extLst>
                <a:ext uri="{FF2B5EF4-FFF2-40B4-BE49-F238E27FC236}">
                  <a16:creationId xmlns:a16="http://schemas.microsoft.com/office/drawing/2014/main" id="{FDBB0B82-6439-45C6-B069-BFBFEF18514E}"/>
                </a:ext>
              </a:extLst>
            </p:cNvPr>
            <p:cNvSpPr>
              <a:spLocks/>
            </p:cNvSpPr>
            <p:nvPr/>
          </p:nvSpPr>
          <p:spPr bwMode="gray">
            <a:xfrm>
              <a:off x="8861879" y="3696840"/>
              <a:ext cx="1586840" cy="465168"/>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Assistance to OERC in revising and framing new regulations</a:t>
              </a:r>
            </a:p>
          </p:txBody>
        </p:sp>
        <p:sp>
          <p:nvSpPr>
            <p:cNvPr id="77" name="Freeform 3">
              <a:extLst>
                <a:ext uri="{FF2B5EF4-FFF2-40B4-BE49-F238E27FC236}">
                  <a16:creationId xmlns:a16="http://schemas.microsoft.com/office/drawing/2014/main" id="{C32B5BF0-0D3D-4ED1-8B8D-C2FD0DBD42BE}"/>
                </a:ext>
              </a:extLst>
            </p:cNvPr>
            <p:cNvSpPr>
              <a:spLocks/>
            </p:cNvSpPr>
            <p:nvPr/>
          </p:nvSpPr>
          <p:spPr bwMode="gray">
            <a:xfrm>
              <a:off x="8869272" y="4202165"/>
              <a:ext cx="1586840" cy="369262"/>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Regulatory Assistance to HPERC, UPCL</a:t>
              </a:r>
            </a:p>
          </p:txBody>
        </p:sp>
        <p:sp>
          <p:nvSpPr>
            <p:cNvPr id="78" name="Freeform 3">
              <a:extLst>
                <a:ext uri="{FF2B5EF4-FFF2-40B4-BE49-F238E27FC236}">
                  <a16:creationId xmlns:a16="http://schemas.microsoft.com/office/drawing/2014/main" id="{50CC1C01-71F8-4CAF-8D06-A04F6A728362}"/>
                </a:ext>
              </a:extLst>
            </p:cNvPr>
            <p:cNvSpPr>
              <a:spLocks/>
            </p:cNvSpPr>
            <p:nvPr/>
          </p:nvSpPr>
          <p:spPr bwMode="gray">
            <a:xfrm>
              <a:off x="8900794" y="4648909"/>
              <a:ext cx="1586840" cy="671236"/>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Greenfield Street Lighting Energy Efficiency project in Odisha</a:t>
              </a:r>
            </a:p>
          </p:txBody>
        </p:sp>
        <p:sp>
          <p:nvSpPr>
            <p:cNvPr id="79" name="Freeform 3">
              <a:extLst>
                <a:ext uri="{FF2B5EF4-FFF2-40B4-BE49-F238E27FC236}">
                  <a16:creationId xmlns:a16="http://schemas.microsoft.com/office/drawing/2014/main" id="{481DF375-4436-4412-AF45-C043F6287967}"/>
                </a:ext>
              </a:extLst>
            </p:cNvPr>
            <p:cNvSpPr>
              <a:spLocks/>
            </p:cNvSpPr>
            <p:nvPr/>
          </p:nvSpPr>
          <p:spPr bwMode="gray">
            <a:xfrm>
              <a:off x="8915251" y="5371286"/>
              <a:ext cx="1586840" cy="557696"/>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Commercial and Regulatory due diligence for Solar park in Odisha</a:t>
              </a:r>
            </a:p>
          </p:txBody>
        </p:sp>
        <p:sp>
          <p:nvSpPr>
            <p:cNvPr id="80" name="Freeform 3">
              <a:extLst>
                <a:ext uri="{FF2B5EF4-FFF2-40B4-BE49-F238E27FC236}">
                  <a16:creationId xmlns:a16="http://schemas.microsoft.com/office/drawing/2014/main" id="{49ED95B7-BA66-4A3B-87CC-83FB3DC44B31}"/>
                </a:ext>
              </a:extLst>
            </p:cNvPr>
            <p:cNvSpPr>
              <a:spLocks/>
            </p:cNvSpPr>
            <p:nvPr/>
          </p:nvSpPr>
          <p:spPr bwMode="gray">
            <a:xfrm>
              <a:off x="8900794" y="5977820"/>
              <a:ext cx="1586840" cy="557695"/>
            </a:xfrm>
            <a:custGeom>
              <a:avLst/>
              <a:gdLst/>
              <a:ahLst/>
              <a:cxnLst>
                <a:cxn ang="0">
                  <a:pos x="222" y="20"/>
                </a:cxn>
                <a:cxn ang="0">
                  <a:pos x="476" y="6"/>
                </a:cxn>
                <a:cxn ang="0">
                  <a:pos x="671" y="35"/>
                </a:cxn>
                <a:cxn ang="0">
                  <a:pos x="901" y="27"/>
                </a:cxn>
                <a:cxn ang="0">
                  <a:pos x="1105" y="7"/>
                </a:cxn>
                <a:cxn ang="0">
                  <a:pos x="1351" y="13"/>
                </a:cxn>
                <a:cxn ang="0">
                  <a:pos x="1750" y="16"/>
                </a:cxn>
                <a:cxn ang="0">
                  <a:pos x="1962" y="33"/>
                </a:cxn>
                <a:cxn ang="0">
                  <a:pos x="2433" y="23"/>
                </a:cxn>
                <a:cxn ang="0">
                  <a:pos x="2648" y="30"/>
                </a:cxn>
                <a:cxn ang="0">
                  <a:pos x="3022" y="30"/>
                </a:cxn>
                <a:cxn ang="0">
                  <a:pos x="3305" y="38"/>
                </a:cxn>
                <a:cxn ang="0">
                  <a:pos x="3683" y="43"/>
                </a:cxn>
                <a:cxn ang="0">
                  <a:pos x="3921" y="44"/>
                </a:cxn>
                <a:cxn ang="0">
                  <a:pos x="4152" y="45"/>
                </a:cxn>
                <a:cxn ang="0">
                  <a:pos x="4193" y="98"/>
                </a:cxn>
                <a:cxn ang="0">
                  <a:pos x="4229" y="146"/>
                </a:cxn>
                <a:cxn ang="0">
                  <a:pos x="4183" y="224"/>
                </a:cxn>
                <a:cxn ang="0">
                  <a:pos x="4218" y="282"/>
                </a:cxn>
                <a:cxn ang="0">
                  <a:pos x="4286" y="348"/>
                </a:cxn>
                <a:cxn ang="0">
                  <a:pos x="4353" y="404"/>
                </a:cxn>
                <a:cxn ang="0">
                  <a:pos x="4419" y="474"/>
                </a:cxn>
                <a:cxn ang="0">
                  <a:pos x="4413" y="546"/>
                </a:cxn>
                <a:cxn ang="0">
                  <a:pos x="4443" y="645"/>
                </a:cxn>
                <a:cxn ang="0">
                  <a:pos x="4461" y="711"/>
                </a:cxn>
                <a:cxn ang="0">
                  <a:pos x="4462" y="811"/>
                </a:cxn>
                <a:cxn ang="0">
                  <a:pos x="4483" y="869"/>
                </a:cxn>
                <a:cxn ang="0">
                  <a:pos x="4526" y="953"/>
                </a:cxn>
                <a:cxn ang="0">
                  <a:pos x="4448" y="999"/>
                </a:cxn>
                <a:cxn ang="0">
                  <a:pos x="4203" y="989"/>
                </a:cxn>
                <a:cxn ang="0">
                  <a:pos x="3829" y="970"/>
                </a:cxn>
                <a:cxn ang="0">
                  <a:pos x="3619" y="991"/>
                </a:cxn>
                <a:cxn ang="0">
                  <a:pos x="3434" y="1006"/>
                </a:cxn>
                <a:cxn ang="0">
                  <a:pos x="3180" y="1017"/>
                </a:cxn>
                <a:cxn ang="0">
                  <a:pos x="2821" y="994"/>
                </a:cxn>
                <a:cxn ang="0">
                  <a:pos x="2467" y="999"/>
                </a:cxn>
                <a:cxn ang="0">
                  <a:pos x="2091" y="994"/>
                </a:cxn>
                <a:cxn ang="0">
                  <a:pos x="1782" y="991"/>
                </a:cxn>
                <a:cxn ang="0">
                  <a:pos x="1496" y="977"/>
                </a:cxn>
                <a:cxn ang="0">
                  <a:pos x="1284" y="965"/>
                </a:cxn>
                <a:cxn ang="0">
                  <a:pos x="907" y="976"/>
                </a:cxn>
                <a:cxn ang="0">
                  <a:pos x="483" y="966"/>
                </a:cxn>
                <a:cxn ang="0">
                  <a:pos x="297" y="969"/>
                </a:cxn>
                <a:cxn ang="0">
                  <a:pos x="285" y="922"/>
                </a:cxn>
                <a:cxn ang="0">
                  <a:pos x="364" y="872"/>
                </a:cxn>
                <a:cxn ang="0">
                  <a:pos x="324" y="814"/>
                </a:cxn>
                <a:cxn ang="0">
                  <a:pos x="286" y="763"/>
                </a:cxn>
                <a:cxn ang="0">
                  <a:pos x="289" y="701"/>
                </a:cxn>
                <a:cxn ang="0">
                  <a:pos x="103" y="623"/>
                </a:cxn>
                <a:cxn ang="0">
                  <a:pos x="158" y="566"/>
                </a:cxn>
                <a:cxn ang="0">
                  <a:pos x="116" y="496"/>
                </a:cxn>
                <a:cxn ang="0">
                  <a:pos x="74" y="435"/>
                </a:cxn>
                <a:cxn ang="0">
                  <a:pos x="100" y="365"/>
                </a:cxn>
                <a:cxn ang="0">
                  <a:pos x="87" y="306"/>
                </a:cxn>
                <a:cxn ang="0">
                  <a:pos x="13" y="221"/>
                </a:cxn>
                <a:cxn ang="0">
                  <a:pos x="21" y="159"/>
                </a:cxn>
                <a:cxn ang="0">
                  <a:pos x="0" y="98"/>
                </a:cxn>
                <a:cxn ang="0">
                  <a:pos x="28" y="35"/>
                </a:cxn>
              </a:cxnLst>
              <a:rect l="0" t="0" r="r" b="b"/>
              <a:pathLst>
                <a:path w="4537" h="1018">
                  <a:moveTo>
                    <a:pt x="71" y="0"/>
                  </a:moveTo>
                  <a:lnTo>
                    <a:pt x="147" y="13"/>
                  </a:lnTo>
                  <a:lnTo>
                    <a:pt x="222" y="20"/>
                  </a:lnTo>
                  <a:lnTo>
                    <a:pt x="315" y="17"/>
                  </a:lnTo>
                  <a:lnTo>
                    <a:pt x="380" y="6"/>
                  </a:lnTo>
                  <a:lnTo>
                    <a:pt x="476" y="6"/>
                  </a:lnTo>
                  <a:lnTo>
                    <a:pt x="547" y="11"/>
                  </a:lnTo>
                  <a:lnTo>
                    <a:pt x="597" y="30"/>
                  </a:lnTo>
                  <a:lnTo>
                    <a:pt x="671" y="35"/>
                  </a:lnTo>
                  <a:lnTo>
                    <a:pt x="760" y="31"/>
                  </a:lnTo>
                  <a:lnTo>
                    <a:pt x="830" y="26"/>
                  </a:lnTo>
                  <a:lnTo>
                    <a:pt x="901" y="27"/>
                  </a:lnTo>
                  <a:lnTo>
                    <a:pt x="996" y="21"/>
                  </a:lnTo>
                  <a:lnTo>
                    <a:pt x="1034" y="4"/>
                  </a:lnTo>
                  <a:lnTo>
                    <a:pt x="1105" y="7"/>
                  </a:lnTo>
                  <a:lnTo>
                    <a:pt x="1203" y="7"/>
                  </a:lnTo>
                  <a:lnTo>
                    <a:pt x="1274" y="6"/>
                  </a:lnTo>
                  <a:lnTo>
                    <a:pt x="1351" y="13"/>
                  </a:lnTo>
                  <a:lnTo>
                    <a:pt x="1511" y="14"/>
                  </a:lnTo>
                  <a:lnTo>
                    <a:pt x="1651" y="16"/>
                  </a:lnTo>
                  <a:lnTo>
                    <a:pt x="1750" y="16"/>
                  </a:lnTo>
                  <a:lnTo>
                    <a:pt x="1818" y="16"/>
                  </a:lnTo>
                  <a:lnTo>
                    <a:pt x="1891" y="31"/>
                  </a:lnTo>
                  <a:lnTo>
                    <a:pt x="1962" y="33"/>
                  </a:lnTo>
                  <a:lnTo>
                    <a:pt x="2103" y="31"/>
                  </a:lnTo>
                  <a:lnTo>
                    <a:pt x="2242" y="27"/>
                  </a:lnTo>
                  <a:lnTo>
                    <a:pt x="2433" y="23"/>
                  </a:lnTo>
                  <a:lnTo>
                    <a:pt x="2503" y="18"/>
                  </a:lnTo>
                  <a:lnTo>
                    <a:pt x="2574" y="20"/>
                  </a:lnTo>
                  <a:lnTo>
                    <a:pt x="2648" y="30"/>
                  </a:lnTo>
                  <a:lnTo>
                    <a:pt x="2740" y="37"/>
                  </a:lnTo>
                  <a:lnTo>
                    <a:pt x="2878" y="33"/>
                  </a:lnTo>
                  <a:lnTo>
                    <a:pt x="3022" y="30"/>
                  </a:lnTo>
                  <a:lnTo>
                    <a:pt x="3160" y="26"/>
                  </a:lnTo>
                  <a:lnTo>
                    <a:pt x="3231" y="26"/>
                  </a:lnTo>
                  <a:lnTo>
                    <a:pt x="3305" y="38"/>
                  </a:lnTo>
                  <a:lnTo>
                    <a:pt x="3403" y="47"/>
                  </a:lnTo>
                  <a:lnTo>
                    <a:pt x="3594" y="45"/>
                  </a:lnTo>
                  <a:lnTo>
                    <a:pt x="3683" y="43"/>
                  </a:lnTo>
                  <a:lnTo>
                    <a:pt x="3752" y="41"/>
                  </a:lnTo>
                  <a:lnTo>
                    <a:pt x="3847" y="44"/>
                  </a:lnTo>
                  <a:lnTo>
                    <a:pt x="3921" y="44"/>
                  </a:lnTo>
                  <a:lnTo>
                    <a:pt x="3989" y="40"/>
                  </a:lnTo>
                  <a:lnTo>
                    <a:pt x="4084" y="40"/>
                  </a:lnTo>
                  <a:lnTo>
                    <a:pt x="4152" y="45"/>
                  </a:lnTo>
                  <a:lnTo>
                    <a:pt x="4204" y="64"/>
                  </a:lnTo>
                  <a:lnTo>
                    <a:pt x="4215" y="79"/>
                  </a:lnTo>
                  <a:lnTo>
                    <a:pt x="4193" y="98"/>
                  </a:lnTo>
                  <a:lnTo>
                    <a:pt x="4173" y="115"/>
                  </a:lnTo>
                  <a:lnTo>
                    <a:pt x="4198" y="130"/>
                  </a:lnTo>
                  <a:lnTo>
                    <a:pt x="4229" y="146"/>
                  </a:lnTo>
                  <a:lnTo>
                    <a:pt x="4211" y="163"/>
                  </a:lnTo>
                  <a:lnTo>
                    <a:pt x="4173" y="209"/>
                  </a:lnTo>
                  <a:lnTo>
                    <a:pt x="4183" y="224"/>
                  </a:lnTo>
                  <a:lnTo>
                    <a:pt x="4210" y="241"/>
                  </a:lnTo>
                  <a:lnTo>
                    <a:pt x="4214" y="258"/>
                  </a:lnTo>
                  <a:lnTo>
                    <a:pt x="4218" y="282"/>
                  </a:lnTo>
                  <a:lnTo>
                    <a:pt x="4232" y="315"/>
                  </a:lnTo>
                  <a:lnTo>
                    <a:pt x="4235" y="333"/>
                  </a:lnTo>
                  <a:lnTo>
                    <a:pt x="4286" y="348"/>
                  </a:lnTo>
                  <a:lnTo>
                    <a:pt x="4342" y="365"/>
                  </a:lnTo>
                  <a:lnTo>
                    <a:pt x="4348" y="389"/>
                  </a:lnTo>
                  <a:lnTo>
                    <a:pt x="4353" y="404"/>
                  </a:lnTo>
                  <a:lnTo>
                    <a:pt x="4335" y="428"/>
                  </a:lnTo>
                  <a:lnTo>
                    <a:pt x="4339" y="451"/>
                  </a:lnTo>
                  <a:lnTo>
                    <a:pt x="4419" y="474"/>
                  </a:lnTo>
                  <a:lnTo>
                    <a:pt x="4452" y="509"/>
                  </a:lnTo>
                  <a:lnTo>
                    <a:pt x="4433" y="532"/>
                  </a:lnTo>
                  <a:lnTo>
                    <a:pt x="4413" y="546"/>
                  </a:lnTo>
                  <a:lnTo>
                    <a:pt x="4395" y="565"/>
                  </a:lnTo>
                  <a:lnTo>
                    <a:pt x="4431" y="608"/>
                  </a:lnTo>
                  <a:lnTo>
                    <a:pt x="4443" y="645"/>
                  </a:lnTo>
                  <a:lnTo>
                    <a:pt x="4447" y="660"/>
                  </a:lnTo>
                  <a:lnTo>
                    <a:pt x="4456" y="694"/>
                  </a:lnTo>
                  <a:lnTo>
                    <a:pt x="4461" y="711"/>
                  </a:lnTo>
                  <a:lnTo>
                    <a:pt x="4473" y="756"/>
                  </a:lnTo>
                  <a:lnTo>
                    <a:pt x="4452" y="772"/>
                  </a:lnTo>
                  <a:lnTo>
                    <a:pt x="4462" y="811"/>
                  </a:lnTo>
                  <a:lnTo>
                    <a:pt x="4472" y="828"/>
                  </a:lnTo>
                  <a:lnTo>
                    <a:pt x="4498" y="851"/>
                  </a:lnTo>
                  <a:lnTo>
                    <a:pt x="4483" y="869"/>
                  </a:lnTo>
                  <a:lnTo>
                    <a:pt x="4487" y="885"/>
                  </a:lnTo>
                  <a:lnTo>
                    <a:pt x="4494" y="908"/>
                  </a:lnTo>
                  <a:lnTo>
                    <a:pt x="4526" y="953"/>
                  </a:lnTo>
                  <a:lnTo>
                    <a:pt x="4536" y="976"/>
                  </a:lnTo>
                  <a:lnTo>
                    <a:pt x="4519" y="991"/>
                  </a:lnTo>
                  <a:lnTo>
                    <a:pt x="4448" y="999"/>
                  </a:lnTo>
                  <a:lnTo>
                    <a:pt x="4380" y="1013"/>
                  </a:lnTo>
                  <a:lnTo>
                    <a:pt x="4279" y="1001"/>
                  </a:lnTo>
                  <a:lnTo>
                    <a:pt x="4203" y="989"/>
                  </a:lnTo>
                  <a:lnTo>
                    <a:pt x="4062" y="979"/>
                  </a:lnTo>
                  <a:lnTo>
                    <a:pt x="3990" y="972"/>
                  </a:lnTo>
                  <a:lnTo>
                    <a:pt x="3829" y="970"/>
                  </a:lnTo>
                  <a:lnTo>
                    <a:pt x="3762" y="974"/>
                  </a:lnTo>
                  <a:lnTo>
                    <a:pt x="3690" y="984"/>
                  </a:lnTo>
                  <a:lnTo>
                    <a:pt x="3619" y="991"/>
                  </a:lnTo>
                  <a:lnTo>
                    <a:pt x="3577" y="1006"/>
                  </a:lnTo>
                  <a:lnTo>
                    <a:pt x="3508" y="1013"/>
                  </a:lnTo>
                  <a:lnTo>
                    <a:pt x="3434" y="1006"/>
                  </a:lnTo>
                  <a:lnTo>
                    <a:pt x="3365" y="999"/>
                  </a:lnTo>
                  <a:lnTo>
                    <a:pt x="3266" y="1004"/>
                  </a:lnTo>
                  <a:lnTo>
                    <a:pt x="3180" y="1017"/>
                  </a:lnTo>
                  <a:lnTo>
                    <a:pt x="3109" y="1014"/>
                  </a:lnTo>
                  <a:lnTo>
                    <a:pt x="3010" y="1008"/>
                  </a:lnTo>
                  <a:lnTo>
                    <a:pt x="2821" y="994"/>
                  </a:lnTo>
                  <a:lnTo>
                    <a:pt x="2630" y="991"/>
                  </a:lnTo>
                  <a:lnTo>
                    <a:pt x="2562" y="991"/>
                  </a:lnTo>
                  <a:lnTo>
                    <a:pt x="2467" y="999"/>
                  </a:lnTo>
                  <a:lnTo>
                    <a:pt x="2299" y="996"/>
                  </a:lnTo>
                  <a:lnTo>
                    <a:pt x="2160" y="994"/>
                  </a:lnTo>
                  <a:lnTo>
                    <a:pt x="2091" y="994"/>
                  </a:lnTo>
                  <a:lnTo>
                    <a:pt x="1949" y="991"/>
                  </a:lnTo>
                  <a:lnTo>
                    <a:pt x="1853" y="993"/>
                  </a:lnTo>
                  <a:lnTo>
                    <a:pt x="1782" y="991"/>
                  </a:lnTo>
                  <a:lnTo>
                    <a:pt x="1642" y="990"/>
                  </a:lnTo>
                  <a:lnTo>
                    <a:pt x="1570" y="979"/>
                  </a:lnTo>
                  <a:lnTo>
                    <a:pt x="1496" y="977"/>
                  </a:lnTo>
                  <a:lnTo>
                    <a:pt x="1432" y="987"/>
                  </a:lnTo>
                  <a:lnTo>
                    <a:pt x="1334" y="984"/>
                  </a:lnTo>
                  <a:lnTo>
                    <a:pt x="1284" y="965"/>
                  </a:lnTo>
                  <a:lnTo>
                    <a:pt x="1214" y="974"/>
                  </a:lnTo>
                  <a:lnTo>
                    <a:pt x="1051" y="976"/>
                  </a:lnTo>
                  <a:lnTo>
                    <a:pt x="907" y="976"/>
                  </a:lnTo>
                  <a:lnTo>
                    <a:pt x="770" y="982"/>
                  </a:lnTo>
                  <a:lnTo>
                    <a:pt x="679" y="973"/>
                  </a:lnTo>
                  <a:lnTo>
                    <a:pt x="483" y="966"/>
                  </a:lnTo>
                  <a:lnTo>
                    <a:pt x="414" y="970"/>
                  </a:lnTo>
                  <a:lnTo>
                    <a:pt x="350" y="987"/>
                  </a:lnTo>
                  <a:lnTo>
                    <a:pt x="297" y="969"/>
                  </a:lnTo>
                  <a:lnTo>
                    <a:pt x="268" y="953"/>
                  </a:lnTo>
                  <a:lnTo>
                    <a:pt x="262" y="938"/>
                  </a:lnTo>
                  <a:lnTo>
                    <a:pt x="285" y="922"/>
                  </a:lnTo>
                  <a:lnTo>
                    <a:pt x="349" y="904"/>
                  </a:lnTo>
                  <a:lnTo>
                    <a:pt x="368" y="888"/>
                  </a:lnTo>
                  <a:lnTo>
                    <a:pt x="364" y="872"/>
                  </a:lnTo>
                  <a:lnTo>
                    <a:pt x="335" y="854"/>
                  </a:lnTo>
                  <a:lnTo>
                    <a:pt x="332" y="831"/>
                  </a:lnTo>
                  <a:lnTo>
                    <a:pt x="324" y="814"/>
                  </a:lnTo>
                  <a:lnTo>
                    <a:pt x="320" y="799"/>
                  </a:lnTo>
                  <a:lnTo>
                    <a:pt x="314" y="780"/>
                  </a:lnTo>
                  <a:lnTo>
                    <a:pt x="286" y="763"/>
                  </a:lnTo>
                  <a:lnTo>
                    <a:pt x="280" y="739"/>
                  </a:lnTo>
                  <a:lnTo>
                    <a:pt x="299" y="725"/>
                  </a:lnTo>
                  <a:lnTo>
                    <a:pt x="289" y="701"/>
                  </a:lnTo>
                  <a:lnTo>
                    <a:pt x="135" y="657"/>
                  </a:lnTo>
                  <a:lnTo>
                    <a:pt x="112" y="641"/>
                  </a:lnTo>
                  <a:lnTo>
                    <a:pt x="103" y="623"/>
                  </a:lnTo>
                  <a:lnTo>
                    <a:pt x="123" y="606"/>
                  </a:lnTo>
                  <a:lnTo>
                    <a:pt x="165" y="587"/>
                  </a:lnTo>
                  <a:lnTo>
                    <a:pt x="158" y="566"/>
                  </a:lnTo>
                  <a:lnTo>
                    <a:pt x="149" y="543"/>
                  </a:lnTo>
                  <a:lnTo>
                    <a:pt x="144" y="522"/>
                  </a:lnTo>
                  <a:lnTo>
                    <a:pt x="116" y="496"/>
                  </a:lnTo>
                  <a:lnTo>
                    <a:pt x="109" y="477"/>
                  </a:lnTo>
                  <a:lnTo>
                    <a:pt x="78" y="452"/>
                  </a:lnTo>
                  <a:lnTo>
                    <a:pt x="74" y="435"/>
                  </a:lnTo>
                  <a:lnTo>
                    <a:pt x="85" y="396"/>
                  </a:lnTo>
                  <a:lnTo>
                    <a:pt x="106" y="380"/>
                  </a:lnTo>
                  <a:lnTo>
                    <a:pt x="100" y="365"/>
                  </a:lnTo>
                  <a:lnTo>
                    <a:pt x="98" y="345"/>
                  </a:lnTo>
                  <a:lnTo>
                    <a:pt x="93" y="328"/>
                  </a:lnTo>
                  <a:lnTo>
                    <a:pt x="87" y="306"/>
                  </a:lnTo>
                  <a:lnTo>
                    <a:pt x="47" y="261"/>
                  </a:lnTo>
                  <a:lnTo>
                    <a:pt x="20" y="238"/>
                  </a:lnTo>
                  <a:lnTo>
                    <a:pt x="13" y="221"/>
                  </a:lnTo>
                  <a:lnTo>
                    <a:pt x="8" y="199"/>
                  </a:lnTo>
                  <a:lnTo>
                    <a:pt x="32" y="182"/>
                  </a:lnTo>
                  <a:lnTo>
                    <a:pt x="21" y="159"/>
                  </a:lnTo>
                  <a:lnTo>
                    <a:pt x="10" y="136"/>
                  </a:lnTo>
                  <a:lnTo>
                    <a:pt x="10" y="122"/>
                  </a:lnTo>
                  <a:lnTo>
                    <a:pt x="0" y="98"/>
                  </a:lnTo>
                  <a:lnTo>
                    <a:pt x="22" y="77"/>
                  </a:lnTo>
                  <a:lnTo>
                    <a:pt x="15" y="58"/>
                  </a:lnTo>
                  <a:lnTo>
                    <a:pt x="28" y="35"/>
                  </a:lnTo>
                  <a:lnTo>
                    <a:pt x="7" y="17"/>
                  </a:lnTo>
                  <a:lnTo>
                    <a:pt x="71" y="0"/>
                  </a:lnTo>
                </a:path>
              </a:pathLst>
            </a:custGeom>
            <a:solidFill>
              <a:schemeClr val="accent1">
                <a:lumMod val="40000"/>
                <a:lumOff val="60000"/>
              </a:schemeClr>
            </a:solidFill>
            <a:ln w="9525" cap="rnd" cmpd="sng">
              <a:noFill/>
              <a:prstDash val="solid"/>
              <a:round/>
              <a:headEnd type="none" w="med" len="med"/>
              <a:tailEnd type="none" w="med" len="med"/>
            </a:ln>
            <a:effectLst>
              <a:outerShdw blurRad="50800" dist="38100" dir="2700000" algn="tl" rotWithShape="0">
                <a:prstClr val="black">
                  <a:alpha val="40000"/>
                </a:prstClr>
              </a:outerShdw>
            </a:effectLst>
          </p:spPr>
          <p:txBody>
            <a:bodyPr lIns="147273" tIns="49091" rIns="147273" bIns="49091" anchor="ctr"/>
            <a:lstStyle/>
            <a:p>
              <a:pPr defTabSz="623438">
                <a:defRPr/>
              </a:pPr>
              <a:r>
                <a:rPr lang="en-US" sz="886" dirty="0">
                  <a:solidFill>
                    <a:prstClr val="black"/>
                  </a:solidFill>
                  <a:latin typeface="Verdana"/>
                </a:rPr>
                <a:t>Assessment  of EV Integration of BESS (under RISE Pilot)</a:t>
              </a:r>
            </a:p>
          </p:txBody>
        </p:sp>
      </p:grpSp>
    </p:spTree>
    <p:extLst>
      <p:ext uri="{BB962C8B-B14F-4D97-AF65-F5344CB8AC3E}">
        <p14:creationId xmlns:p14="http://schemas.microsoft.com/office/powerpoint/2010/main" val="397440125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68" y="0"/>
            <a:ext cx="12189864" cy="6858000"/>
          </a:xfrm>
          <a:prstGeom prst="rect">
            <a:avLst/>
          </a:prstGeom>
        </p:spPr>
      </p:pic>
      <p:sp>
        <p:nvSpPr>
          <p:cNvPr id="6" name="Rectangle 5"/>
          <p:cNvSpPr/>
          <p:nvPr/>
        </p:nvSpPr>
        <p:spPr bwMode="gray">
          <a:xfrm>
            <a:off x="1" y="135"/>
            <a:ext cx="12250994" cy="6857867"/>
          </a:xfrm>
          <a:prstGeom prst="rect">
            <a:avLst/>
          </a:prstGeom>
          <a:solidFill>
            <a:schemeClr val="tx1">
              <a:alpha val="65000"/>
            </a:schemeClr>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endParaRPr lang="en-IN" sz="1451" b="1" dirty="0">
              <a:solidFill>
                <a:schemeClr val="bg1"/>
              </a:solidFill>
            </a:endParaRPr>
          </a:p>
        </p:txBody>
      </p:sp>
      <p:sp>
        <p:nvSpPr>
          <p:cNvPr id="7" name="Shape 59"/>
          <p:cNvSpPr/>
          <p:nvPr/>
        </p:nvSpPr>
        <p:spPr>
          <a:xfrm flipH="1">
            <a:off x="1" y="2"/>
            <a:ext cx="9692468" cy="6857867"/>
          </a:xfrm>
          <a:custGeom>
            <a:avLst/>
            <a:gdLst/>
            <a:ahLst/>
            <a:cxnLst/>
            <a:rect l="0" t="0" r="0" b="0"/>
            <a:pathLst>
              <a:path w="120000" h="120000" extrusionOk="0">
                <a:moveTo>
                  <a:pt x="85134" y="0"/>
                </a:moveTo>
                <a:lnTo>
                  <a:pt x="0" y="0"/>
                </a:lnTo>
                <a:lnTo>
                  <a:pt x="76533" y="120000"/>
                </a:lnTo>
                <a:lnTo>
                  <a:pt x="120000" y="120000"/>
                </a:lnTo>
                <a:lnTo>
                  <a:pt x="120000" y="54666"/>
                </a:lnTo>
                <a:lnTo>
                  <a:pt x="85134" y="0"/>
                </a:lnTo>
                <a:close/>
              </a:path>
            </a:pathLst>
          </a:custGeom>
          <a:gradFill>
            <a:gsLst>
              <a:gs pos="0">
                <a:srgbClr val="0C4068">
                  <a:alpha val="87000"/>
                </a:srgbClr>
              </a:gs>
              <a:gs pos="50000">
                <a:srgbClr val="46B688">
                  <a:alpha val="53000"/>
                </a:srgbClr>
              </a:gs>
              <a:gs pos="100000">
                <a:srgbClr val="016AA3">
                  <a:alpha val="93000"/>
                </a:srgbClr>
              </a:gs>
            </a:gsLst>
            <a:lin ang="2700000" scaled="0"/>
          </a:gradFill>
          <a:ln>
            <a:noFill/>
          </a:ln>
        </p:spPr>
        <p:txBody>
          <a:bodyPr spcFirstLastPara="1" wrap="square" lIns="91421" tIns="45698" rIns="91421" bIns="45698" anchor="ctr" anchorCtr="0">
            <a:noAutofit/>
          </a:bodyPr>
          <a:lstStyle/>
          <a:p>
            <a:pPr algn="ctr"/>
            <a:endParaRPr dirty="0">
              <a:solidFill>
                <a:schemeClr val="lt1"/>
              </a:solidFill>
              <a:latin typeface="Calibri"/>
              <a:ea typeface="Calibri"/>
              <a:cs typeface="Calibri"/>
              <a:sym typeface="Calibri"/>
            </a:endParaRPr>
          </a:p>
        </p:txBody>
      </p:sp>
      <p:grpSp>
        <p:nvGrpSpPr>
          <p:cNvPr id="8" name="Group 7"/>
          <p:cNvGrpSpPr/>
          <p:nvPr/>
        </p:nvGrpSpPr>
        <p:grpSpPr>
          <a:xfrm rot="21407744">
            <a:off x="2108239" y="1441058"/>
            <a:ext cx="7961979" cy="2891780"/>
            <a:chOff x="2284385" y="2051025"/>
            <a:chExt cx="8817247" cy="3248124"/>
          </a:xfrm>
        </p:grpSpPr>
        <p:sp>
          <p:nvSpPr>
            <p:cNvPr id="9" name="Shape 62"/>
            <p:cNvSpPr/>
            <p:nvPr/>
          </p:nvSpPr>
          <p:spPr>
            <a:xfrm rot="18900000">
              <a:off x="2284385" y="4760213"/>
              <a:ext cx="7663083"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sp>
          <p:nvSpPr>
            <p:cNvPr id="10" name="Shape 63"/>
            <p:cNvSpPr/>
            <p:nvPr/>
          </p:nvSpPr>
          <p:spPr>
            <a:xfrm rot="18900000" flipH="1" flipV="1">
              <a:off x="4645068" y="2051025"/>
              <a:ext cx="6456564"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grpSp>
      <p:grpSp>
        <p:nvGrpSpPr>
          <p:cNvPr id="11" name="Group 10"/>
          <p:cNvGrpSpPr/>
          <p:nvPr/>
        </p:nvGrpSpPr>
        <p:grpSpPr>
          <a:xfrm rot="21407744">
            <a:off x="-582962" y="763175"/>
            <a:ext cx="4456634" cy="1618644"/>
            <a:chOff x="2284385" y="2051025"/>
            <a:chExt cx="8817246" cy="3248124"/>
          </a:xfrm>
        </p:grpSpPr>
        <p:sp>
          <p:nvSpPr>
            <p:cNvPr id="12" name="Shape 62"/>
            <p:cNvSpPr/>
            <p:nvPr/>
          </p:nvSpPr>
          <p:spPr>
            <a:xfrm rot="18900000">
              <a:off x="2284385" y="4760213"/>
              <a:ext cx="7663083"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sp>
          <p:nvSpPr>
            <p:cNvPr id="13" name="Shape 63"/>
            <p:cNvSpPr/>
            <p:nvPr/>
          </p:nvSpPr>
          <p:spPr>
            <a:xfrm rot="18900000" flipH="1" flipV="1">
              <a:off x="4645067" y="2051025"/>
              <a:ext cx="6456564" cy="538936"/>
            </a:xfrm>
            <a:prstGeom prst="homePlate">
              <a:avLst/>
            </a:prstGeom>
            <a:solidFill>
              <a:schemeClr val="lt1">
                <a:alpha val="49803"/>
              </a:schemeClr>
            </a:solidFill>
            <a:ln>
              <a:noFill/>
            </a:ln>
          </p:spPr>
          <p:txBody>
            <a:bodyPr spcFirstLastPara="1" wrap="square" lIns="91421" tIns="45698" rIns="91421" bIns="45698" anchor="ctr" anchorCtr="0">
              <a:noAutofit/>
            </a:bodyPr>
            <a:lstStyle/>
            <a:p>
              <a:pPr algn="ctr"/>
              <a:endParaRPr>
                <a:solidFill>
                  <a:schemeClr val="lt1"/>
                </a:solidFill>
                <a:latin typeface="Calibri"/>
                <a:ea typeface="Calibri"/>
                <a:cs typeface="Calibri"/>
                <a:sym typeface="Calibri"/>
              </a:endParaRPr>
            </a:p>
          </p:txBody>
        </p:sp>
      </p:grpSp>
      <p:sp>
        <p:nvSpPr>
          <p:cNvPr id="14" name="Title 4"/>
          <p:cNvSpPr>
            <a:spLocks noGrp="1"/>
          </p:cNvSpPr>
          <p:nvPr>
            <p:ph type="title"/>
          </p:nvPr>
        </p:nvSpPr>
        <p:spPr>
          <a:xfrm>
            <a:off x="1251890" y="2252162"/>
            <a:ext cx="3939237" cy="1257846"/>
          </a:xfrm>
        </p:spPr>
        <p:txBody>
          <a:bodyPr anchor="ctr"/>
          <a:lstStyle/>
          <a:p>
            <a:pPr algn="ctr" defTabSz="1059853"/>
            <a:r>
              <a:rPr lang="en-US" b="1" dirty="0">
                <a:solidFill>
                  <a:prstClr val="white"/>
                </a:solidFill>
              </a:rPr>
              <a:t>Our Select Credentials</a:t>
            </a:r>
          </a:p>
        </p:txBody>
      </p:sp>
    </p:spTree>
    <p:extLst>
      <p:ext uri="{BB962C8B-B14F-4D97-AF65-F5344CB8AC3E}">
        <p14:creationId xmlns:p14="http://schemas.microsoft.com/office/powerpoint/2010/main" val="114506935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6">
            <a:extLst>
              <a:ext uri="{FF2B5EF4-FFF2-40B4-BE49-F238E27FC236}">
                <a16:creationId xmlns:a16="http://schemas.microsoft.com/office/drawing/2014/main" id="{DB7206B4-E61F-4454-BC5E-8B9DFDEB7748}"/>
              </a:ext>
            </a:extLst>
          </p:cNvPr>
          <p:cNvSpPr txBox="1">
            <a:spLocks/>
          </p:cNvSpPr>
          <p:nvPr/>
        </p:nvSpPr>
        <p:spPr bwMode="gray">
          <a:xfrm>
            <a:off x="1205132" y="402596"/>
            <a:ext cx="9781742" cy="420021"/>
          </a:xfrm>
          <a:prstGeom prst="rect">
            <a:avLst/>
          </a:prstGeom>
        </p:spPr>
        <p:txBody>
          <a:bodyPr vert="horz" lIns="0" tIns="0" rIns="0" bIns="0" rtlCol="0" anchor="t" anchorCtr="0">
            <a:noAutofit/>
          </a:bodyPr>
          <a:lstStyle>
            <a:lvl1pPr algn="l" defTabSz="1554493" rtl="0" eaLnBrk="1" latinLnBrk="0" hangingPunct="1">
              <a:spcBef>
                <a:spcPct val="0"/>
              </a:spcBef>
              <a:buNone/>
              <a:defRPr sz="3400" kern="1200">
                <a:solidFill>
                  <a:schemeClr val="tx1"/>
                </a:solidFill>
                <a:latin typeface="+mj-lt"/>
                <a:ea typeface="+mj-ea"/>
                <a:cs typeface="+mj-cs"/>
              </a:defRPr>
            </a:lvl1pPr>
          </a:lstStyle>
          <a:p>
            <a:pPr algn="just" defTabSz="1059853"/>
            <a:endParaRPr lang="en-IN" sz="1636" dirty="0">
              <a:solidFill>
                <a:prstClr val="black"/>
              </a:solidFill>
              <a:latin typeface="Verdana"/>
            </a:endParaRPr>
          </a:p>
        </p:txBody>
      </p:sp>
      <p:grpSp>
        <p:nvGrpSpPr>
          <p:cNvPr id="2" name="Group 1">
            <a:extLst>
              <a:ext uri="{FF2B5EF4-FFF2-40B4-BE49-F238E27FC236}">
                <a16:creationId xmlns:a16="http://schemas.microsoft.com/office/drawing/2014/main" id="{68EBE282-9090-44D4-BECD-19123F6C32A5}"/>
              </a:ext>
            </a:extLst>
          </p:cNvPr>
          <p:cNvGrpSpPr/>
          <p:nvPr/>
        </p:nvGrpSpPr>
        <p:grpSpPr>
          <a:xfrm>
            <a:off x="566445" y="1128238"/>
            <a:ext cx="10825455" cy="5540992"/>
            <a:chOff x="1176045" y="1128238"/>
            <a:chExt cx="9441871" cy="5540992"/>
          </a:xfrm>
        </p:grpSpPr>
        <p:sp>
          <p:nvSpPr>
            <p:cNvPr id="13" name="Round Diagonal Corner Rectangle 5">
              <a:extLst>
                <a:ext uri="{FF2B5EF4-FFF2-40B4-BE49-F238E27FC236}">
                  <a16:creationId xmlns:a16="http://schemas.microsoft.com/office/drawing/2014/main" id="{86C95FBD-83BE-4548-8573-7F7C2D152B7A}"/>
                </a:ext>
              </a:extLst>
            </p:cNvPr>
            <p:cNvSpPr>
              <a:spLocks/>
            </p:cNvSpPr>
            <p:nvPr/>
          </p:nvSpPr>
          <p:spPr>
            <a:xfrm>
              <a:off x="8104348" y="1128238"/>
              <a:ext cx="2390472" cy="1715170"/>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391" dirty="0" err="1">
                <a:solidFill>
                  <a:prstClr val="white"/>
                </a:solidFill>
                <a:latin typeface="Verdana"/>
                <a:cs typeface="Arial" pitchFamily="34" charset="0"/>
              </a:endParaRPr>
            </a:p>
          </p:txBody>
        </p:sp>
        <p:sp>
          <p:nvSpPr>
            <p:cNvPr id="14" name="Round Diagonal Corner Rectangle 5">
              <a:extLst>
                <a:ext uri="{FF2B5EF4-FFF2-40B4-BE49-F238E27FC236}">
                  <a16:creationId xmlns:a16="http://schemas.microsoft.com/office/drawing/2014/main" id="{0524070B-A717-4D8C-8D81-811AF08EA71E}"/>
                </a:ext>
              </a:extLst>
            </p:cNvPr>
            <p:cNvSpPr>
              <a:spLocks/>
            </p:cNvSpPr>
            <p:nvPr/>
          </p:nvSpPr>
          <p:spPr>
            <a:xfrm>
              <a:off x="5575633" y="1128238"/>
              <a:ext cx="2396718" cy="1715170"/>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391" dirty="0" err="1">
                <a:solidFill>
                  <a:prstClr val="white"/>
                </a:solidFill>
                <a:latin typeface="Verdana"/>
                <a:cs typeface="Arial" pitchFamily="34" charset="0"/>
              </a:endParaRPr>
            </a:p>
          </p:txBody>
        </p:sp>
        <p:sp>
          <p:nvSpPr>
            <p:cNvPr id="15" name="Round Diagonal Corner Rectangle 5">
              <a:extLst>
                <a:ext uri="{FF2B5EF4-FFF2-40B4-BE49-F238E27FC236}">
                  <a16:creationId xmlns:a16="http://schemas.microsoft.com/office/drawing/2014/main" id="{E127282B-AB73-4458-A4DC-0DD211A7DFD0}"/>
                </a:ext>
              </a:extLst>
            </p:cNvPr>
            <p:cNvSpPr>
              <a:spLocks/>
            </p:cNvSpPr>
            <p:nvPr/>
          </p:nvSpPr>
          <p:spPr>
            <a:xfrm>
              <a:off x="3065321" y="1149161"/>
              <a:ext cx="2380503" cy="1715170"/>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391" dirty="0" err="1">
                <a:solidFill>
                  <a:prstClr val="white"/>
                </a:solidFill>
                <a:latin typeface="Verdana"/>
                <a:cs typeface="Arial" pitchFamily="34" charset="0"/>
              </a:endParaRPr>
            </a:p>
          </p:txBody>
        </p:sp>
        <p:pic>
          <p:nvPicPr>
            <p:cNvPr id="16" name="Picture 15">
              <a:extLst>
                <a:ext uri="{FF2B5EF4-FFF2-40B4-BE49-F238E27FC236}">
                  <a16:creationId xmlns:a16="http://schemas.microsoft.com/office/drawing/2014/main" id="{3C8ECC42-AE8A-4CC2-B27D-E7EA80C7FAD3}"/>
                </a:ext>
              </a:extLst>
            </p:cNvPr>
            <p:cNvPicPr/>
            <p:nvPr/>
          </p:nvPicPr>
          <p:blipFill>
            <a:blip r:embed="rId2" cstate="email">
              <a:extLst>
                <a:ext uri="{28A0092B-C50C-407E-A947-70E740481C1C}">
                  <a14:useLocalDpi xmlns:a14="http://schemas.microsoft.com/office/drawing/2010/main"/>
                </a:ext>
              </a:extLst>
            </a:blip>
            <a:srcRect/>
            <a:stretch>
              <a:fillRect/>
            </a:stretch>
          </p:blipFill>
          <p:spPr bwMode="auto">
            <a:xfrm>
              <a:off x="3910372" y="1232192"/>
              <a:ext cx="771338" cy="616816"/>
            </a:xfrm>
            <a:prstGeom prst="rect">
              <a:avLst/>
            </a:prstGeom>
            <a:noFill/>
            <a:ln>
              <a:noFill/>
            </a:ln>
          </p:spPr>
        </p:pic>
        <p:sp>
          <p:nvSpPr>
            <p:cNvPr id="17" name="Text Placeholder 1">
              <a:extLst>
                <a:ext uri="{FF2B5EF4-FFF2-40B4-BE49-F238E27FC236}">
                  <a16:creationId xmlns:a16="http://schemas.microsoft.com/office/drawing/2014/main" id="{D60646D8-DB9F-400B-BACB-7A916AE9F4F3}"/>
                </a:ext>
              </a:extLst>
            </p:cNvPr>
            <p:cNvSpPr txBox="1">
              <a:spLocks/>
            </p:cNvSpPr>
            <p:nvPr/>
          </p:nvSpPr>
          <p:spPr>
            <a:xfrm>
              <a:off x="3065320" y="1826978"/>
              <a:ext cx="2380503" cy="48474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Consultancy services for setting-up a Central Project Monitoring Unit at JBVNL Headquarter</a:t>
              </a:r>
            </a:p>
          </p:txBody>
        </p:sp>
        <p:sp>
          <p:nvSpPr>
            <p:cNvPr id="18" name="Text Placeholder 1">
              <a:extLst>
                <a:ext uri="{FF2B5EF4-FFF2-40B4-BE49-F238E27FC236}">
                  <a16:creationId xmlns:a16="http://schemas.microsoft.com/office/drawing/2014/main" id="{B5CB7FD0-2AF3-42C3-9065-A5FA9293C270}"/>
                </a:ext>
              </a:extLst>
            </p:cNvPr>
            <p:cNvSpPr txBox="1">
              <a:spLocks/>
            </p:cNvSpPr>
            <p:nvPr/>
          </p:nvSpPr>
          <p:spPr>
            <a:xfrm>
              <a:off x="8188229" y="1830702"/>
              <a:ext cx="2185362" cy="646331"/>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Renewable Integration and Sustainable Energy initiative under USAID Greening-The-Grid programme</a:t>
              </a:r>
            </a:p>
          </p:txBody>
        </p:sp>
        <p:sp>
          <p:nvSpPr>
            <p:cNvPr id="19" name="Text Placeholder 1">
              <a:extLst>
                <a:ext uri="{FF2B5EF4-FFF2-40B4-BE49-F238E27FC236}">
                  <a16:creationId xmlns:a16="http://schemas.microsoft.com/office/drawing/2014/main" id="{FA5FCF51-87C7-4055-B386-00BB81F94584}"/>
                </a:ext>
              </a:extLst>
            </p:cNvPr>
            <p:cNvSpPr txBox="1">
              <a:spLocks/>
            </p:cNvSpPr>
            <p:nvPr/>
          </p:nvSpPr>
          <p:spPr>
            <a:xfrm>
              <a:off x="3614805" y="3613545"/>
              <a:ext cx="1364174" cy="147284"/>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957" b="1" dirty="0">
                  <a:solidFill>
                    <a:srgbClr val="2C5234"/>
                  </a:solidFill>
                  <a:latin typeface="Verdana"/>
                </a:rPr>
                <a:t>Rs. 6.37 Crore</a:t>
              </a:r>
            </a:p>
          </p:txBody>
        </p:sp>
        <p:sp>
          <p:nvSpPr>
            <p:cNvPr id="20" name="Text Placeholder 1">
              <a:extLst>
                <a:ext uri="{FF2B5EF4-FFF2-40B4-BE49-F238E27FC236}">
                  <a16:creationId xmlns:a16="http://schemas.microsoft.com/office/drawing/2014/main" id="{35C33BF7-BAD1-4D7B-A887-55CED872940C}"/>
                </a:ext>
              </a:extLst>
            </p:cNvPr>
            <p:cNvSpPr txBox="1">
              <a:spLocks/>
            </p:cNvSpPr>
            <p:nvPr/>
          </p:nvSpPr>
          <p:spPr>
            <a:xfrm>
              <a:off x="6377746" y="3594115"/>
              <a:ext cx="977833" cy="147284"/>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957" b="1" dirty="0">
                  <a:solidFill>
                    <a:srgbClr val="2C5234"/>
                  </a:solidFill>
                  <a:latin typeface="Verdana"/>
                </a:rPr>
                <a:t>Rs. 5.12 Crore</a:t>
              </a:r>
            </a:p>
          </p:txBody>
        </p:sp>
        <p:sp>
          <p:nvSpPr>
            <p:cNvPr id="21" name="Text Placeholder 1">
              <a:extLst>
                <a:ext uri="{FF2B5EF4-FFF2-40B4-BE49-F238E27FC236}">
                  <a16:creationId xmlns:a16="http://schemas.microsoft.com/office/drawing/2014/main" id="{47CC7A51-DBF9-4C1C-81B0-E509EFA79764}"/>
                </a:ext>
              </a:extLst>
            </p:cNvPr>
            <p:cNvSpPr txBox="1">
              <a:spLocks/>
            </p:cNvSpPr>
            <p:nvPr/>
          </p:nvSpPr>
          <p:spPr>
            <a:xfrm>
              <a:off x="8602598" y="3542353"/>
              <a:ext cx="1245534" cy="147284"/>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957" b="1" dirty="0">
                  <a:solidFill>
                    <a:srgbClr val="2C5234"/>
                  </a:solidFill>
                  <a:latin typeface="Verdana"/>
                </a:rPr>
                <a:t>US $ 16.99 Million</a:t>
              </a:r>
            </a:p>
          </p:txBody>
        </p:sp>
        <p:sp>
          <p:nvSpPr>
            <p:cNvPr id="22" name="Text Placeholder 1">
              <a:extLst>
                <a:ext uri="{FF2B5EF4-FFF2-40B4-BE49-F238E27FC236}">
                  <a16:creationId xmlns:a16="http://schemas.microsoft.com/office/drawing/2014/main" id="{B94D87E0-ECE2-4C43-AC81-73E344FDCFF4}"/>
                </a:ext>
              </a:extLst>
            </p:cNvPr>
            <p:cNvSpPr txBox="1">
              <a:spLocks/>
            </p:cNvSpPr>
            <p:nvPr/>
          </p:nvSpPr>
          <p:spPr>
            <a:xfrm>
              <a:off x="3812340" y="2483461"/>
              <a:ext cx="886461" cy="147284"/>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957" b="1" dirty="0">
                  <a:solidFill>
                    <a:prstClr val="black"/>
                  </a:solidFill>
                  <a:latin typeface="Verdana"/>
                </a:rPr>
                <a:t>(2017-2020)</a:t>
              </a:r>
            </a:p>
          </p:txBody>
        </p:sp>
        <p:sp>
          <p:nvSpPr>
            <p:cNvPr id="23" name="Text Placeholder 1">
              <a:extLst>
                <a:ext uri="{FF2B5EF4-FFF2-40B4-BE49-F238E27FC236}">
                  <a16:creationId xmlns:a16="http://schemas.microsoft.com/office/drawing/2014/main" id="{80E32B85-79A9-4ED4-AC47-EA48C51B804A}"/>
                </a:ext>
              </a:extLst>
            </p:cNvPr>
            <p:cNvSpPr txBox="1">
              <a:spLocks/>
            </p:cNvSpPr>
            <p:nvPr/>
          </p:nvSpPr>
          <p:spPr>
            <a:xfrm>
              <a:off x="6329657" y="2485946"/>
              <a:ext cx="886461" cy="147284"/>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957" b="1" dirty="0">
                  <a:solidFill>
                    <a:prstClr val="black"/>
                  </a:solidFill>
                  <a:latin typeface="Verdana"/>
                </a:rPr>
                <a:t>(2015-2020)</a:t>
              </a:r>
            </a:p>
          </p:txBody>
        </p:sp>
        <p:sp>
          <p:nvSpPr>
            <p:cNvPr id="24" name="Text Placeholder 1">
              <a:extLst>
                <a:ext uri="{FF2B5EF4-FFF2-40B4-BE49-F238E27FC236}">
                  <a16:creationId xmlns:a16="http://schemas.microsoft.com/office/drawing/2014/main" id="{5C1BF658-FC11-44B9-9AA8-B948A52145E5}"/>
                </a:ext>
              </a:extLst>
            </p:cNvPr>
            <p:cNvSpPr txBox="1">
              <a:spLocks/>
            </p:cNvSpPr>
            <p:nvPr/>
          </p:nvSpPr>
          <p:spPr>
            <a:xfrm>
              <a:off x="8856353" y="2485947"/>
              <a:ext cx="886461" cy="147284"/>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957" b="1" dirty="0">
                  <a:solidFill>
                    <a:prstClr val="black"/>
                  </a:solidFill>
                  <a:latin typeface="Verdana"/>
                </a:rPr>
                <a:t>(2016-2020)</a:t>
              </a:r>
            </a:p>
          </p:txBody>
        </p:sp>
        <p:pic>
          <p:nvPicPr>
            <p:cNvPr id="25" name="Picture 24">
              <a:extLst>
                <a:ext uri="{FF2B5EF4-FFF2-40B4-BE49-F238E27FC236}">
                  <a16:creationId xmlns:a16="http://schemas.microsoft.com/office/drawing/2014/main" id="{6FAF11CF-B52F-49F3-ADF4-500AE350777E}"/>
                </a:ext>
              </a:extLst>
            </p:cNvPr>
            <p:cNvPicPr/>
            <p:nvPr/>
          </p:nvPicPr>
          <p:blipFill>
            <a:blip r:embed="rId3" cstate="email">
              <a:extLst>
                <a:ext uri="{28A0092B-C50C-407E-A947-70E740481C1C}">
                  <a14:useLocalDpi xmlns:a14="http://schemas.microsoft.com/office/drawing/2010/main"/>
                </a:ext>
              </a:extLst>
            </a:blip>
            <a:srcRect/>
            <a:stretch>
              <a:fillRect/>
            </a:stretch>
          </p:blipFill>
          <p:spPr bwMode="auto">
            <a:xfrm>
              <a:off x="6387217" y="1155210"/>
              <a:ext cx="771338" cy="616091"/>
            </a:xfrm>
            <a:prstGeom prst="rect">
              <a:avLst/>
            </a:prstGeom>
            <a:noFill/>
            <a:ln>
              <a:noFill/>
            </a:ln>
          </p:spPr>
        </p:pic>
        <p:sp>
          <p:nvSpPr>
            <p:cNvPr id="26" name="Text Placeholder 1">
              <a:extLst>
                <a:ext uri="{FF2B5EF4-FFF2-40B4-BE49-F238E27FC236}">
                  <a16:creationId xmlns:a16="http://schemas.microsoft.com/office/drawing/2014/main" id="{3F8DD983-05C6-40A9-B4C2-D277D3FE1EDE}"/>
                </a:ext>
              </a:extLst>
            </p:cNvPr>
            <p:cNvSpPr txBox="1">
              <a:spLocks/>
            </p:cNvSpPr>
            <p:nvPr/>
          </p:nvSpPr>
          <p:spPr>
            <a:xfrm>
              <a:off x="5618926" y="1807575"/>
              <a:ext cx="2307920" cy="646331"/>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Project Monitoring Agency (PMA) for DDUGJY / IPDS / other efficiency programs for distribution companies in Rajasthan</a:t>
              </a:r>
            </a:p>
          </p:txBody>
        </p:sp>
        <p:pic>
          <p:nvPicPr>
            <p:cNvPr id="27" name="Picture 26" descr="Logo, company name&#10;&#10;Description automatically generated">
              <a:extLst>
                <a:ext uri="{FF2B5EF4-FFF2-40B4-BE49-F238E27FC236}">
                  <a16:creationId xmlns:a16="http://schemas.microsoft.com/office/drawing/2014/main" id="{7CC6CB43-5567-4175-9A16-EBB0386390B0}"/>
                </a:ext>
              </a:extLst>
            </p:cNvPr>
            <p:cNvPicPr>
              <a:picLocks noChangeAspect="1"/>
            </p:cNvPicPr>
            <p:nvPr/>
          </p:nvPicPr>
          <p:blipFill>
            <a:blip r:embed="rId4"/>
            <a:stretch>
              <a:fillRect/>
            </a:stretch>
          </p:blipFill>
          <p:spPr>
            <a:xfrm>
              <a:off x="8594686" y="1153446"/>
              <a:ext cx="1261362" cy="616091"/>
            </a:xfrm>
            <a:prstGeom prst="rect">
              <a:avLst/>
            </a:prstGeom>
          </p:spPr>
        </p:pic>
        <p:sp>
          <p:nvSpPr>
            <p:cNvPr id="28" name="AutoShape 14">
              <a:extLst>
                <a:ext uri="{FF2B5EF4-FFF2-40B4-BE49-F238E27FC236}">
                  <a16:creationId xmlns:a16="http://schemas.microsoft.com/office/drawing/2014/main" id="{7E22ED67-6487-4128-AA72-D4E2E678C325}"/>
                </a:ext>
              </a:extLst>
            </p:cNvPr>
            <p:cNvSpPr>
              <a:spLocks noChangeArrowheads="1"/>
            </p:cNvSpPr>
            <p:nvPr/>
          </p:nvSpPr>
          <p:spPr bwMode="gray">
            <a:xfrm>
              <a:off x="1176045" y="3500162"/>
              <a:ext cx="1278759" cy="294399"/>
            </a:xfrm>
            <a:prstGeom prst="rect">
              <a:avLst/>
            </a:prstGeom>
            <a:solidFill>
              <a:schemeClr val="accent1">
                <a:lumMod val="40000"/>
                <a:lumOff val="60000"/>
              </a:schemeClr>
            </a:solidFill>
            <a:ln w="3175" algn="ctr">
              <a:solidFill>
                <a:srgbClr val="D0D0CE"/>
              </a:solidFill>
              <a:miter lim="800000"/>
              <a:headEnd/>
              <a:tailEnd/>
            </a:ln>
          </p:spPr>
          <p:txBody>
            <a:bodyPr rot="0" spcFirstLastPara="0" vertOverflow="overflow" horzOverflow="overflow" vert="horz" wrap="square" lIns="60614" tIns="60614" rIns="60614" bIns="60614" numCol="1" spcCol="0" rtlCol="0" fromWordArt="0" anchor="ctr" anchorCtr="0" forceAA="0" compatLnSpc="1">
              <a:prstTxWarp prst="textNoShape">
                <a:avLst/>
              </a:prstTxWarp>
              <a:noAutofit/>
            </a:bodyPr>
            <a:lstStyle/>
            <a:p>
              <a:pPr algn="ctr" defTabSz="623438">
                <a:lnSpc>
                  <a:spcPct val="106000"/>
                </a:lnSpc>
                <a:defRPr/>
              </a:pPr>
              <a:r>
                <a:rPr lang="en-US" altLang="ko-KR" sz="1050" b="1" kern="0" dirty="0">
                  <a:solidFill>
                    <a:prstClr val="black"/>
                  </a:solidFill>
                  <a:latin typeface="Verdana"/>
                </a:rPr>
                <a:t>Work Order Value:</a:t>
              </a:r>
            </a:p>
          </p:txBody>
        </p:sp>
        <p:cxnSp>
          <p:nvCxnSpPr>
            <p:cNvPr id="29" name="Straight Connector 28">
              <a:extLst>
                <a:ext uri="{FF2B5EF4-FFF2-40B4-BE49-F238E27FC236}">
                  <a16:creationId xmlns:a16="http://schemas.microsoft.com/office/drawing/2014/main" id="{1799D091-E7A1-4907-8222-CD793CAE6A91}"/>
                </a:ext>
              </a:extLst>
            </p:cNvPr>
            <p:cNvCxnSpPr/>
            <p:nvPr/>
          </p:nvCxnSpPr>
          <p:spPr>
            <a:xfrm>
              <a:off x="1218726" y="3419772"/>
              <a:ext cx="9327273" cy="0"/>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30" name="Isosceles Triangle 29">
              <a:extLst>
                <a:ext uri="{FF2B5EF4-FFF2-40B4-BE49-F238E27FC236}">
                  <a16:creationId xmlns:a16="http://schemas.microsoft.com/office/drawing/2014/main" id="{B5F49794-4AB8-41B5-A943-88DA05A7403F}"/>
                </a:ext>
              </a:extLst>
            </p:cNvPr>
            <p:cNvSpPr/>
            <p:nvPr/>
          </p:nvSpPr>
          <p:spPr bwMode="gray">
            <a:xfrm rot="5400000">
              <a:off x="2479620" y="3569660"/>
              <a:ext cx="392545" cy="155403"/>
            </a:xfrm>
            <a:prstGeom prst="triangle">
              <a:avLst/>
            </a:prstGeom>
            <a:solidFill>
              <a:srgbClr val="046A38"/>
            </a:solidFill>
            <a:ln w="19050" algn="ctr">
              <a:noFill/>
              <a:miter lim="800000"/>
              <a:headEnd/>
              <a:tailEnd/>
            </a:ln>
          </p:spPr>
          <p:txBody>
            <a:bodyPr wrap="square" lIns="60614" tIns="60614" rIns="60614" bIns="60614" rtlCol="0" anchor="ctr"/>
            <a:lstStyle/>
            <a:p>
              <a:pPr algn="ctr" defTabSz="623438">
                <a:lnSpc>
                  <a:spcPct val="106000"/>
                </a:lnSpc>
                <a:defRPr/>
              </a:pPr>
              <a:endParaRPr lang="en-IN" sz="1091" b="1" dirty="0">
                <a:solidFill>
                  <a:prstClr val="white"/>
                </a:solidFill>
                <a:latin typeface="Verdana"/>
              </a:endParaRPr>
            </a:p>
          </p:txBody>
        </p:sp>
        <p:cxnSp>
          <p:nvCxnSpPr>
            <p:cNvPr id="31" name="Straight Connector 30">
              <a:extLst>
                <a:ext uri="{FF2B5EF4-FFF2-40B4-BE49-F238E27FC236}">
                  <a16:creationId xmlns:a16="http://schemas.microsoft.com/office/drawing/2014/main" id="{FE72DEB2-E085-4BCB-8E49-ECBDEA122CFD}"/>
                </a:ext>
              </a:extLst>
            </p:cNvPr>
            <p:cNvCxnSpPr/>
            <p:nvPr/>
          </p:nvCxnSpPr>
          <p:spPr>
            <a:xfrm>
              <a:off x="1218726" y="3891929"/>
              <a:ext cx="9327273" cy="0"/>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32" name="AutoShape 14">
              <a:extLst>
                <a:ext uri="{FF2B5EF4-FFF2-40B4-BE49-F238E27FC236}">
                  <a16:creationId xmlns:a16="http://schemas.microsoft.com/office/drawing/2014/main" id="{D7CA9489-7B8A-4140-96CD-16EB9905E6F1}"/>
                </a:ext>
              </a:extLst>
            </p:cNvPr>
            <p:cNvSpPr>
              <a:spLocks noChangeArrowheads="1"/>
            </p:cNvSpPr>
            <p:nvPr/>
          </p:nvSpPr>
          <p:spPr bwMode="gray">
            <a:xfrm>
              <a:off x="1184704" y="4659415"/>
              <a:ext cx="1278759" cy="455613"/>
            </a:xfrm>
            <a:prstGeom prst="rect">
              <a:avLst/>
            </a:prstGeom>
            <a:solidFill>
              <a:schemeClr val="accent1">
                <a:lumMod val="40000"/>
                <a:lumOff val="60000"/>
              </a:schemeClr>
            </a:solidFill>
            <a:ln w="3175" algn="ctr">
              <a:solidFill>
                <a:srgbClr val="D0D0CE"/>
              </a:solidFill>
              <a:miter lim="800000"/>
              <a:headEnd/>
              <a:tailEnd/>
            </a:ln>
          </p:spPr>
          <p:txBody>
            <a:bodyPr rot="0" spcFirstLastPara="0" vertOverflow="overflow" horzOverflow="overflow" vert="horz" wrap="square" lIns="60614" tIns="60614" rIns="60614" bIns="60614" numCol="1" spcCol="0" rtlCol="0" fromWordArt="0" anchor="ctr" anchorCtr="0" forceAA="0" compatLnSpc="1">
              <a:prstTxWarp prst="textNoShape">
                <a:avLst/>
              </a:prstTxWarp>
              <a:noAutofit/>
            </a:bodyPr>
            <a:lstStyle/>
            <a:p>
              <a:pPr algn="ctr" defTabSz="623438">
                <a:lnSpc>
                  <a:spcPct val="106000"/>
                </a:lnSpc>
                <a:defRPr/>
              </a:pPr>
              <a:r>
                <a:rPr lang="en-US" altLang="ko-KR" sz="1050" b="1" kern="0" dirty="0">
                  <a:solidFill>
                    <a:prstClr val="black"/>
                  </a:solidFill>
                  <a:latin typeface="Verdana"/>
                </a:rPr>
                <a:t>Engagement summary</a:t>
              </a:r>
            </a:p>
          </p:txBody>
        </p:sp>
        <p:sp>
          <p:nvSpPr>
            <p:cNvPr id="33" name="Isosceles Triangle 32">
              <a:extLst>
                <a:ext uri="{FF2B5EF4-FFF2-40B4-BE49-F238E27FC236}">
                  <a16:creationId xmlns:a16="http://schemas.microsoft.com/office/drawing/2014/main" id="{36C71CD7-3821-4F10-B58A-A2A6C4A5E5C5}"/>
                </a:ext>
              </a:extLst>
            </p:cNvPr>
            <p:cNvSpPr/>
            <p:nvPr/>
          </p:nvSpPr>
          <p:spPr bwMode="gray">
            <a:xfrm rot="5400000">
              <a:off x="2456745" y="4811677"/>
              <a:ext cx="455613" cy="155403"/>
            </a:xfrm>
            <a:prstGeom prst="triangle">
              <a:avLst/>
            </a:prstGeom>
            <a:solidFill>
              <a:srgbClr val="046A38"/>
            </a:solidFill>
            <a:ln w="19050" algn="ctr">
              <a:noFill/>
              <a:miter lim="800000"/>
              <a:headEnd/>
              <a:tailEnd/>
            </a:ln>
          </p:spPr>
          <p:txBody>
            <a:bodyPr wrap="square" lIns="60614" tIns="60614" rIns="60614" bIns="60614" rtlCol="0" anchor="ctr"/>
            <a:lstStyle/>
            <a:p>
              <a:pPr algn="ctr" defTabSz="623438">
                <a:lnSpc>
                  <a:spcPct val="106000"/>
                </a:lnSpc>
                <a:defRPr/>
              </a:pPr>
              <a:endParaRPr lang="en-IN" sz="1091" b="1" dirty="0">
                <a:solidFill>
                  <a:prstClr val="white"/>
                </a:solidFill>
                <a:latin typeface="Verdana"/>
              </a:endParaRPr>
            </a:p>
          </p:txBody>
        </p:sp>
        <p:sp>
          <p:nvSpPr>
            <p:cNvPr id="34" name="Rectangle 33">
              <a:extLst>
                <a:ext uri="{FF2B5EF4-FFF2-40B4-BE49-F238E27FC236}">
                  <a16:creationId xmlns:a16="http://schemas.microsoft.com/office/drawing/2014/main" id="{7DA1A9AB-5C83-443F-94BF-0E1400697EB2}"/>
                </a:ext>
              </a:extLst>
            </p:cNvPr>
            <p:cNvSpPr/>
            <p:nvPr/>
          </p:nvSpPr>
          <p:spPr bwMode="gray">
            <a:xfrm>
              <a:off x="3041914" y="4006230"/>
              <a:ext cx="2374392" cy="2541774"/>
            </a:xfrm>
            <a:prstGeom prst="rect">
              <a:avLst/>
            </a:prstGeom>
            <a:noFill/>
            <a:ln w="3175" algn="ctr">
              <a:noFill/>
              <a:miter lim="800000"/>
              <a:headEnd/>
              <a:tailEnd/>
            </a:ln>
          </p:spPr>
          <p:txBody>
            <a:bodyPr wrap="square" lIns="60614" tIns="60614" rIns="60614" bIns="60614" rtlCol="0" anchor="ctr"/>
            <a:lstStyle/>
            <a:p>
              <a:pPr algn="just" defTabSz="623438">
                <a:lnSpc>
                  <a:spcPct val="106000"/>
                </a:lnSpc>
                <a:defRPr/>
              </a:pPr>
              <a:r>
                <a:rPr lang="en-US" sz="900" dirty="0">
                  <a:solidFill>
                    <a:prstClr val="black"/>
                  </a:solidFill>
                  <a:latin typeface="Verdana"/>
                </a:rPr>
                <a:t>Assistance for the Strategic Management and MIS Support Cell covering the following areas:</a:t>
              </a:r>
            </a:p>
            <a:p>
              <a:pPr marL="116895" indent="-116895" algn="just" defTabSz="623438">
                <a:lnSpc>
                  <a:spcPct val="106000"/>
                </a:lnSpc>
                <a:buFont typeface="Arial" panose="020B0604020202020204" pitchFamily="34" charset="0"/>
                <a:buChar char="•"/>
                <a:defRPr/>
              </a:pPr>
              <a:r>
                <a:rPr lang="en-US" sz="900" dirty="0">
                  <a:solidFill>
                    <a:prstClr val="black"/>
                  </a:solidFill>
                  <a:latin typeface="Verdana"/>
                </a:rPr>
                <a:t>Commercial, Revenue and Regulatory Related MIS and Strategic Support</a:t>
              </a:r>
            </a:p>
            <a:p>
              <a:pPr marL="116895" indent="-116895" algn="just" defTabSz="623438">
                <a:lnSpc>
                  <a:spcPct val="106000"/>
                </a:lnSpc>
                <a:buFont typeface="Arial" panose="020B0604020202020204" pitchFamily="34" charset="0"/>
                <a:buChar char="•"/>
                <a:defRPr/>
              </a:pPr>
              <a:r>
                <a:rPr lang="en-US" sz="900" dirty="0">
                  <a:solidFill>
                    <a:prstClr val="black"/>
                  </a:solidFill>
                  <a:latin typeface="Verdana"/>
                </a:rPr>
                <a:t>Rural Electrification (Central and State funded schemes) – Capital Projects and O&amp;M Schemes</a:t>
              </a:r>
            </a:p>
            <a:p>
              <a:pPr marL="116895" indent="-116895" algn="just" defTabSz="623438">
                <a:lnSpc>
                  <a:spcPct val="106000"/>
                </a:lnSpc>
                <a:buFont typeface="Arial" panose="020B0604020202020204" pitchFamily="34" charset="0"/>
                <a:buChar char="•"/>
                <a:defRPr/>
              </a:pPr>
              <a:r>
                <a:rPr lang="en-US" sz="900" dirty="0">
                  <a:solidFill>
                    <a:prstClr val="black"/>
                  </a:solidFill>
                  <a:latin typeface="Verdana"/>
                </a:rPr>
                <a:t>Urban Electrification (Network Strengthening / RAPDRP / IPDS) – Capital Projects and O&amp;M Schemes</a:t>
              </a:r>
            </a:p>
            <a:p>
              <a:pPr marL="116895" indent="-116895" algn="just" defTabSz="623438">
                <a:lnSpc>
                  <a:spcPct val="106000"/>
                </a:lnSpc>
                <a:buFont typeface="Arial" panose="020B0604020202020204" pitchFamily="34" charset="0"/>
                <a:buChar char="•"/>
                <a:defRPr/>
              </a:pPr>
              <a:r>
                <a:rPr lang="en-US" sz="900" dirty="0">
                  <a:solidFill>
                    <a:prstClr val="black"/>
                  </a:solidFill>
                  <a:latin typeface="Verdana"/>
                </a:rPr>
                <a:t>Support to Management for matters related to State &amp; Central Govt. for Coordination &amp; MIS Support</a:t>
              </a:r>
            </a:p>
            <a:p>
              <a:pPr algn="just" defTabSz="623438">
                <a:lnSpc>
                  <a:spcPct val="106000"/>
                </a:lnSpc>
                <a:defRPr/>
              </a:pPr>
              <a:r>
                <a:rPr lang="en-US" sz="900" dirty="0">
                  <a:solidFill>
                    <a:prstClr val="black"/>
                  </a:solidFill>
                  <a:latin typeface="Verdana"/>
                </a:rPr>
                <a:t>Assistance for the Learning &amp; Development of Public Relations Cell including capacity development of employees and Coordinate with the Public Relations function </a:t>
              </a:r>
            </a:p>
          </p:txBody>
        </p:sp>
        <p:sp>
          <p:nvSpPr>
            <p:cNvPr id="35" name="Text Placeholder 1">
              <a:extLst>
                <a:ext uri="{FF2B5EF4-FFF2-40B4-BE49-F238E27FC236}">
                  <a16:creationId xmlns:a16="http://schemas.microsoft.com/office/drawing/2014/main" id="{A97D5408-E6E1-4F3E-9BF5-921B7883A83A}"/>
                </a:ext>
              </a:extLst>
            </p:cNvPr>
            <p:cNvSpPr txBox="1">
              <a:spLocks/>
            </p:cNvSpPr>
            <p:nvPr/>
          </p:nvSpPr>
          <p:spPr>
            <a:xfrm>
              <a:off x="3623464" y="3119976"/>
              <a:ext cx="1364174" cy="147284"/>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957" b="1" dirty="0">
                  <a:solidFill>
                    <a:srgbClr val="2C5234"/>
                  </a:solidFill>
                  <a:latin typeface="Verdana"/>
                </a:rPr>
                <a:t>JBVNL, Jharkhand</a:t>
              </a:r>
            </a:p>
          </p:txBody>
        </p:sp>
        <p:sp>
          <p:nvSpPr>
            <p:cNvPr id="36" name="Text Placeholder 1">
              <a:extLst>
                <a:ext uri="{FF2B5EF4-FFF2-40B4-BE49-F238E27FC236}">
                  <a16:creationId xmlns:a16="http://schemas.microsoft.com/office/drawing/2014/main" id="{F6BD1ECE-A714-4742-99BB-9730BDA54EC4}"/>
                </a:ext>
              </a:extLst>
            </p:cNvPr>
            <p:cNvSpPr txBox="1">
              <a:spLocks/>
            </p:cNvSpPr>
            <p:nvPr/>
          </p:nvSpPr>
          <p:spPr>
            <a:xfrm>
              <a:off x="6265375" y="3100547"/>
              <a:ext cx="1219886" cy="147284"/>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957" b="1" dirty="0">
                  <a:solidFill>
                    <a:srgbClr val="2C5234"/>
                  </a:solidFill>
                  <a:latin typeface="Verdana"/>
                </a:rPr>
                <a:t>JVVNL, Rajasthan</a:t>
              </a:r>
            </a:p>
          </p:txBody>
        </p:sp>
        <p:sp>
          <p:nvSpPr>
            <p:cNvPr id="37" name="Text Placeholder 1">
              <a:extLst>
                <a:ext uri="{FF2B5EF4-FFF2-40B4-BE49-F238E27FC236}">
                  <a16:creationId xmlns:a16="http://schemas.microsoft.com/office/drawing/2014/main" id="{AACD3861-627B-4916-A1DC-2501234451CC}"/>
                </a:ext>
              </a:extLst>
            </p:cNvPr>
            <p:cNvSpPr txBox="1">
              <a:spLocks/>
            </p:cNvSpPr>
            <p:nvPr/>
          </p:nvSpPr>
          <p:spPr>
            <a:xfrm>
              <a:off x="7981246" y="2950182"/>
              <a:ext cx="2636670" cy="441852"/>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957" b="1" dirty="0">
                  <a:solidFill>
                    <a:srgbClr val="2C5234"/>
                  </a:solidFill>
                  <a:latin typeface="Verdana"/>
                </a:rPr>
                <a:t>USAID (Assistance to the MoP, CERC, POSOCO, CEA and utilities like NTPC, PGCIL, GSECL, KPCL, BRPL)</a:t>
              </a:r>
            </a:p>
          </p:txBody>
        </p:sp>
        <p:sp>
          <p:nvSpPr>
            <p:cNvPr id="38" name="AutoShape 14">
              <a:extLst>
                <a:ext uri="{FF2B5EF4-FFF2-40B4-BE49-F238E27FC236}">
                  <a16:creationId xmlns:a16="http://schemas.microsoft.com/office/drawing/2014/main" id="{FC9BD42B-309F-4359-B4E1-2052C953752A}"/>
                </a:ext>
              </a:extLst>
            </p:cNvPr>
            <p:cNvSpPr>
              <a:spLocks noChangeArrowheads="1"/>
            </p:cNvSpPr>
            <p:nvPr/>
          </p:nvSpPr>
          <p:spPr bwMode="gray">
            <a:xfrm>
              <a:off x="1184704" y="3006593"/>
              <a:ext cx="1278759" cy="294399"/>
            </a:xfrm>
            <a:prstGeom prst="rect">
              <a:avLst/>
            </a:prstGeom>
            <a:solidFill>
              <a:schemeClr val="accent1">
                <a:lumMod val="40000"/>
                <a:lumOff val="60000"/>
              </a:schemeClr>
            </a:solidFill>
            <a:ln w="3175" algn="ctr">
              <a:solidFill>
                <a:srgbClr val="D0D0CE"/>
              </a:solidFill>
              <a:miter lim="800000"/>
              <a:headEnd/>
              <a:tailEnd/>
            </a:ln>
          </p:spPr>
          <p:txBody>
            <a:bodyPr rot="0" spcFirstLastPara="0" vertOverflow="overflow" horzOverflow="overflow" vert="horz" wrap="square" lIns="60614" tIns="60614" rIns="60614" bIns="60614" numCol="1" spcCol="0" rtlCol="0" fromWordArt="0" anchor="ctr" anchorCtr="0" forceAA="0" compatLnSpc="1">
              <a:prstTxWarp prst="textNoShape">
                <a:avLst/>
              </a:prstTxWarp>
              <a:noAutofit/>
            </a:bodyPr>
            <a:lstStyle/>
            <a:p>
              <a:pPr algn="ctr" defTabSz="623438">
                <a:lnSpc>
                  <a:spcPct val="106000"/>
                </a:lnSpc>
                <a:defRPr/>
              </a:pPr>
              <a:r>
                <a:rPr lang="en-US" altLang="ko-KR" sz="1050" b="1" kern="0" dirty="0">
                  <a:solidFill>
                    <a:prstClr val="black"/>
                  </a:solidFill>
                  <a:latin typeface="Verdana"/>
                </a:rPr>
                <a:t>Client Name:</a:t>
              </a:r>
            </a:p>
          </p:txBody>
        </p:sp>
        <p:cxnSp>
          <p:nvCxnSpPr>
            <p:cNvPr id="39" name="Straight Connector 38">
              <a:extLst>
                <a:ext uri="{FF2B5EF4-FFF2-40B4-BE49-F238E27FC236}">
                  <a16:creationId xmlns:a16="http://schemas.microsoft.com/office/drawing/2014/main" id="{BEFF7689-883C-4B6F-9C95-D8B6F465FD96}"/>
                </a:ext>
              </a:extLst>
            </p:cNvPr>
            <p:cNvCxnSpPr/>
            <p:nvPr/>
          </p:nvCxnSpPr>
          <p:spPr>
            <a:xfrm>
              <a:off x="1202021" y="2937318"/>
              <a:ext cx="9327273" cy="0"/>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768C7018-4633-475A-8661-89E27C415C95}"/>
                </a:ext>
              </a:extLst>
            </p:cNvPr>
            <p:cNvSpPr/>
            <p:nvPr/>
          </p:nvSpPr>
          <p:spPr bwMode="gray">
            <a:xfrm>
              <a:off x="5552454" y="4006231"/>
              <a:ext cx="2374392" cy="2662999"/>
            </a:xfrm>
            <a:prstGeom prst="rect">
              <a:avLst/>
            </a:prstGeom>
            <a:noFill/>
            <a:ln w="3175" algn="ctr">
              <a:noFill/>
              <a:miter lim="800000"/>
              <a:headEnd/>
              <a:tailEnd/>
            </a:ln>
          </p:spPr>
          <p:txBody>
            <a:bodyPr wrap="square" lIns="60614" tIns="60614" rIns="60614" bIns="60614" rtlCol="0" anchor="ctr"/>
            <a:lstStyle/>
            <a:p>
              <a:pPr algn="just" defTabSz="623438">
                <a:lnSpc>
                  <a:spcPct val="106000"/>
                </a:lnSpc>
                <a:defRPr/>
              </a:pPr>
              <a:r>
                <a:rPr lang="en-US" sz="900" dirty="0">
                  <a:solidFill>
                    <a:prstClr val="black"/>
                  </a:solidFill>
                  <a:latin typeface="Verdana"/>
                </a:rPr>
                <a:t>Assistance for management and monitoring of </a:t>
              </a:r>
              <a:r>
                <a:rPr lang="en-US" sz="900" dirty="0" err="1">
                  <a:solidFill>
                    <a:prstClr val="black"/>
                  </a:solidFill>
                  <a:latin typeface="Verdana"/>
                </a:rPr>
                <a:t>programmes</a:t>
              </a:r>
              <a:r>
                <a:rPr lang="en-US" sz="900" dirty="0">
                  <a:solidFill>
                    <a:prstClr val="black"/>
                  </a:solidFill>
                  <a:latin typeface="Verdana"/>
                </a:rPr>
                <a:t> like DDUGJY, IPDS etc. The major tasks are as follows:</a:t>
              </a:r>
            </a:p>
            <a:p>
              <a:pPr marL="116895" indent="-116895" algn="just" defTabSz="623438">
                <a:lnSpc>
                  <a:spcPct val="106000"/>
                </a:lnSpc>
                <a:buFont typeface="Arial" panose="020B0604020202020204" pitchFamily="34" charset="0"/>
                <a:buChar char="•"/>
                <a:defRPr/>
              </a:pPr>
              <a:r>
                <a:rPr lang="en-US" sz="900" dirty="0">
                  <a:solidFill>
                    <a:prstClr val="black"/>
                  </a:solidFill>
                  <a:latin typeface="Verdana"/>
                </a:rPr>
                <a:t>Project Management and MIS of DDUGJY/ IPDS</a:t>
              </a:r>
            </a:p>
            <a:p>
              <a:pPr marL="116895" indent="-116895" algn="just" defTabSz="623438">
                <a:lnSpc>
                  <a:spcPct val="106000"/>
                </a:lnSpc>
                <a:buFont typeface="Arial" panose="020B0604020202020204" pitchFamily="34" charset="0"/>
                <a:buChar char="•"/>
                <a:defRPr/>
              </a:pPr>
              <a:r>
                <a:rPr lang="en-US" sz="900" dirty="0">
                  <a:solidFill>
                    <a:prstClr val="black"/>
                  </a:solidFill>
                  <a:latin typeface="Verdana"/>
                </a:rPr>
                <a:t>Preparation of DPR for SAUBHAGYA Scheme</a:t>
              </a:r>
            </a:p>
            <a:p>
              <a:pPr marL="116895" indent="-116895" algn="just" defTabSz="623438">
                <a:lnSpc>
                  <a:spcPct val="106000"/>
                </a:lnSpc>
                <a:buFont typeface="Arial" panose="020B0604020202020204" pitchFamily="34" charset="0"/>
                <a:buChar char="•"/>
                <a:defRPr/>
              </a:pPr>
              <a:r>
                <a:rPr lang="en-US" sz="900" dirty="0">
                  <a:solidFill>
                    <a:prstClr val="black"/>
                  </a:solidFill>
                  <a:latin typeface="Verdana"/>
                </a:rPr>
                <a:t>Loss reduction, cost optimization and revenue monitoring</a:t>
              </a:r>
            </a:p>
            <a:p>
              <a:pPr marL="116895" indent="-116895" algn="just" defTabSz="623438">
                <a:lnSpc>
                  <a:spcPct val="106000"/>
                </a:lnSpc>
                <a:buFont typeface="Arial" panose="020B0604020202020204" pitchFamily="34" charset="0"/>
                <a:buChar char="•"/>
                <a:defRPr/>
              </a:pPr>
              <a:r>
                <a:rPr lang="en-US" sz="900" dirty="0">
                  <a:solidFill>
                    <a:prstClr val="black"/>
                  </a:solidFill>
                  <a:latin typeface="Verdana"/>
                </a:rPr>
                <a:t>Assistance in ERP including support in approval of DPRs from  DRC (Distribution Reforms Committee); obtain approval of funds from PFC for ERP implementation etc.</a:t>
              </a:r>
            </a:p>
            <a:p>
              <a:pPr marL="116895" indent="-116895" algn="just" defTabSz="623438">
                <a:lnSpc>
                  <a:spcPct val="106000"/>
                </a:lnSpc>
                <a:buFont typeface="Arial" panose="020B0604020202020204" pitchFamily="34" charset="0"/>
                <a:buChar char="•"/>
                <a:defRPr/>
              </a:pPr>
              <a:r>
                <a:rPr lang="en-US" sz="900" dirty="0">
                  <a:solidFill>
                    <a:prstClr val="black"/>
                  </a:solidFill>
                  <a:latin typeface="Verdana"/>
                </a:rPr>
                <a:t>Assistance in IT related works preparation of RFP for upcoming projects like Connectivity, Spot Billing in Non -.RAPDRP areas, Mobile Apps, Web applications, CCC, AMC for Hardware, AMC data </a:t>
              </a:r>
              <a:r>
                <a:rPr lang="en-US" sz="900" dirty="0" err="1">
                  <a:solidFill>
                    <a:prstClr val="black"/>
                  </a:solidFill>
                  <a:latin typeface="Verdana"/>
                </a:rPr>
                <a:t>centre</a:t>
              </a:r>
              <a:endParaRPr lang="en-US" sz="900" dirty="0">
                <a:solidFill>
                  <a:prstClr val="black"/>
                </a:solidFill>
                <a:latin typeface="Verdana"/>
              </a:endParaRPr>
            </a:p>
          </p:txBody>
        </p:sp>
        <p:sp>
          <p:nvSpPr>
            <p:cNvPr id="41" name="Rectangle 40">
              <a:extLst>
                <a:ext uri="{FF2B5EF4-FFF2-40B4-BE49-F238E27FC236}">
                  <a16:creationId xmlns:a16="http://schemas.microsoft.com/office/drawing/2014/main" id="{1CB3A26B-F704-4DF3-8BEF-28C2A4AF5802}"/>
                </a:ext>
              </a:extLst>
            </p:cNvPr>
            <p:cNvSpPr/>
            <p:nvPr/>
          </p:nvSpPr>
          <p:spPr bwMode="gray">
            <a:xfrm>
              <a:off x="8049225" y="3890043"/>
              <a:ext cx="2374392" cy="2541774"/>
            </a:xfrm>
            <a:prstGeom prst="rect">
              <a:avLst/>
            </a:prstGeom>
            <a:noFill/>
            <a:ln w="3175" algn="ctr">
              <a:noFill/>
              <a:miter lim="800000"/>
              <a:headEnd/>
              <a:tailEnd/>
            </a:ln>
          </p:spPr>
          <p:txBody>
            <a:bodyPr wrap="square" lIns="60614" tIns="60614" rIns="60614" bIns="60614" rtlCol="0" anchor="ctr"/>
            <a:lstStyle/>
            <a:p>
              <a:pPr algn="just" defTabSz="623438">
                <a:lnSpc>
                  <a:spcPct val="106000"/>
                </a:lnSpc>
                <a:defRPr/>
              </a:pPr>
              <a:r>
                <a:rPr lang="en-US" sz="900" dirty="0">
                  <a:solidFill>
                    <a:prstClr val="black"/>
                  </a:solidFill>
                  <a:latin typeface="Verdana"/>
                </a:rPr>
                <a:t>USAID/India’s RISE assisted the GoI to pilot innovative solutions for enhanced transmission grid capacity to support high penetration rates of RE generation. The key highlights are as follows:</a:t>
              </a:r>
            </a:p>
            <a:p>
              <a:pPr marL="116895" indent="-116895" algn="just" defTabSz="623438">
                <a:lnSpc>
                  <a:spcPct val="106000"/>
                </a:lnSpc>
                <a:buFont typeface="Arial" panose="020B0604020202020204" pitchFamily="34" charset="0"/>
                <a:buChar char="•"/>
                <a:defRPr/>
              </a:pPr>
              <a:r>
                <a:rPr lang="en-US" sz="900" dirty="0">
                  <a:solidFill>
                    <a:prstClr val="black"/>
                  </a:solidFill>
                  <a:latin typeface="Verdana"/>
                </a:rPr>
                <a:t>Integrating the </a:t>
              </a:r>
              <a:r>
                <a:rPr lang="en-US" sz="900" dirty="0" err="1">
                  <a:solidFill>
                    <a:prstClr val="black"/>
                  </a:solidFill>
                  <a:latin typeface="Verdana"/>
                </a:rPr>
                <a:t>GtG</a:t>
              </a:r>
              <a:r>
                <a:rPr lang="en-US" sz="900" dirty="0">
                  <a:solidFill>
                    <a:prstClr val="black"/>
                  </a:solidFill>
                  <a:latin typeface="Verdana"/>
                </a:rPr>
                <a:t> Components into a Coherent Program   </a:t>
              </a:r>
            </a:p>
            <a:p>
              <a:pPr marL="116895" indent="-116895" algn="just" defTabSz="623438">
                <a:lnSpc>
                  <a:spcPct val="106000"/>
                </a:lnSpc>
                <a:buFont typeface="Arial" panose="020B0604020202020204" pitchFamily="34" charset="0"/>
                <a:buChar char="•"/>
                <a:defRPr/>
              </a:pPr>
              <a:r>
                <a:rPr lang="en-US" sz="900" dirty="0">
                  <a:solidFill>
                    <a:prstClr val="black"/>
                  </a:solidFill>
                  <a:latin typeface="Verdana"/>
                </a:rPr>
                <a:t>Pilot Program Design and Development of Initiatives</a:t>
              </a:r>
            </a:p>
            <a:p>
              <a:pPr marL="116895" indent="-116895" algn="just" defTabSz="623438">
                <a:lnSpc>
                  <a:spcPct val="106000"/>
                </a:lnSpc>
                <a:buFont typeface="Arial" panose="020B0604020202020204" pitchFamily="34" charset="0"/>
                <a:buChar char="•"/>
                <a:defRPr/>
              </a:pPr>
              <a:r>
                <a:rPr lang="en-US" sz="900" dirty="0">
                  <a:solidFill>
                    <a:prstClr val="black"/>
                  </a:solidFill>
                  <a:latin typeface="Verdana"/>
                </a:rPr>
                <a:t>Pilot Implementation Support </a:t>
              </a:r>
            </a:p>
            <a:p>
              <a:pPr marL="116895" indent="-116895" algn="just" defTabSz="623438">
                <a:lnSpc>
                  <a:spcPct val="106000"/>
                </a:lnSpc>
                <a:buFont typeface="Arial" panose="020B0604020202020204" pitchFamily="34" charset="0"/>
                <a:buChar char="•"/>
                <a:defRPr/>
              </a:pPr>
              <a:r>
                <a:rPr lang="en-US" sz="900" dirty="0">
                  <a:solidFill>
                    <a:prstClr val="black"/>
                  </a:solidFill>
                  <a:latin typeface="Verdana"/>
                </a:rPr>
                <a:t>Few of the identified pilots are Flexible Operations for Thermal Power Plants; Battery Energy Storage Systems; Dynamic Compensation for Large Solar Park integration; Real Time Monitoring of DERs and Net Load Forecasting etc.</a:t>
              </a:r>
            </a:p>
          </p:txBody>
        </p:sp>
        <p:sp>
          <p:nvSpPr>
            <p:cNvPr id="43" name="Isosceles Triangle 42">
              <a:extLst>
                <a:ext uri="{FF2B5EF4-FFF2-40B4-BE49-F238E27FC236}">
                  <a16:creationId xmlns:a16="http://schemas.microsoft.com/office/drawing/2014/main" id="{68F60B98-DC3D-42A2-99D6-98390BF3711F}"/>
                </a:ext>
              </a:extLst>
            </p:cNvPr>
            <p:cNvSpPr/>
            <p:nvPr/>
          </p:nvSpPr>
          <p:spPr bwMode="gray">
            <a:xfrm rot="5400000">
              <a:off x="2488280" y="3084751"/>
              <a:ext cx="392545" cy="155403"/>
            </a:xfrm>
            <a:prstGeom prst="triangle">
              <a:avLst/>
            </a:prstGeom>
            <a:solidFill>
              <a:srgbClr val="046A38"/>
            </a:solidFill>
            <a:ln w="19050" algn="ctr">
              <a:noFill/>
              <a:miter lim="800000"/>
              <a:headEnd/>
              <a:tailEnd/>
            </a:ln>
          </p:spPr>
          <p:txBody>
            <a:bodyPr wrap="square" lIns="60614" tIns="60614" rIns="60614" bIns="60614" rtlCol="0" anchor="ctr"/>
            <a:lstStyle/>
            <a:p>
              <a:pPr algn="ctr" defTabSz="623438">
                <a:lnSpc>
                  <a:spcPct val="106000"/>
                </a:lnSpc>
                <a:defRPr/>
              </a:pPr>
              <a:endParaRPr lang="en-IN" sz="1091" b="1" dirty="0">
                <a:solidFill>
                  <a:prstClr val="white"/>
                </a:solidFill>
                <a:latin typeface="Verdana"/>
              </a:endParaRPr>
            </a:p>
          </p:txBody>
        </p:sp>
      </p:grpSp>
      <p:sp>
        <p:nvSpPr>
          <p:cNvPr id="44" name="Title 6">
            <a:extLst>
              <a:ext uri="{FF2B5EF4-FFF2-40B4-BE49-F238E27FC236}">
                <a16:creationId xmlns:a16="http://schemas.microsoft.com/office/drawing/2014/main" id="{3AF7B9B2-94D5-4298-B904-AC8F08926F19}"/>
              </a:ext>
            </a:extLst>
          </p:cNvPr>
          <p:cNvSpPr txBox="1">
            <a:spLocks/>
          </p:cNvSpPr>
          <p:nvPr/>
        </p:nvSpPr>
        <p:spPr bwMode="gray">
          <a:xfrm>
            <a:off x="538382" y="269246"/>
            <a:ext cx="11348818" cy="420021"/>
          </a:xfrm>
          <a:prstGeom prst="rect">
            <a:avLst/>
          </a:prstGeom>
        </p:spPr>
        <p:txBody>
          <a:bodyPr vert="horz" lIns="0" tIns="0" rIns="0" bIns="0" rtlCol="0" anchor="t" anchorCtr="0">
            <a:noAutofit/>
          </a:bodyPr>
          <a:lstStyle>
            <a:lvl1pPr algn="l" defTabSz="1554493" rtl="0" eaLnBrk="1" latinLnBrk="0" hangingPunct="1">
              <a:spcBef>
                <a:spcPct val="0"/>
              </a:spcBef>
              <a:buNone/>
              <a:defRPr sz="3400" kern="1200">
                <a:solidFill>
                  <a:schemeClr val="tx1"/>
                </a:solidFill>
                <a:latin typeface="+mj-lt"/>
                <a:ea typeface="+mj-ea"/>
                <a:cs typeface="+mj-cs"/>
              </a:defRPr>
            </a:lvl1pPr>
          </a:lstStyle>
          <a:p>
            <a:pPr defTabSz="1059853"/>
            <a:r>
              <a:rPr lang="en-US" sz="1800" dirty="0">
                <a:solidFill>
                  <a:prstClr val="black"/>
                </a:solidFill>
              </a:rPr>
              <a:t>Experience in supporting Power Utilities in the last 3 years with cumulative work order value &gt; INR 3.5 </a:t>
            </a:r>
            <a:r>
              <a:rPr lang="en-US" sz="1800" dirty="0" err="1">
                <a:solidFill>
                  <a:prstClr val="black"/>
                </a:solidFill>
              </a:rPr>
              <a:t>Crs</a:t>
            </a:r>
            <a:r>
              <a:rPr lang="en-US" sz="1800" dirty="0">
                <a:solidFill>
                  <a:prstClr val="black"/>
                </a:solidFill>
              </a:rPr>
              <a:t> (ref: Section-V of the RFP and Sl. No. 43 of the pre-bid clarifications)</a:t>
            </a:r>
          </a:p>
        </p:txBody>
      </p:sp>
    </p:spTree>
    <p:extLst>
      <p:ext uri="{BB962C8B-B14F-4D97-AF65-F5344CB8AC3E}">
        <p14:creationId xmlns:p14="http://schemas.microsoft.com/office/powerpoint/2010/main" val="64013456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itle 6">
            <a:extLst>
              <a:ext uri="{FF2B5EF4-FFF2-40B4-BE49-F238E27FC236}">
                <a16:creationId xmlns:a16="http://schemas.microsoft.com/office/drawing/2014/main" id="{09858CD8-2011-494D-9489-016D37DD70C9}"/>
              </a:ext>
            </a:extLst>
          </p:cNvPr>
          <p:cNvSpPr txBox="1">
            <a:spLocks/>
          </p:cNvSpPr>
          <p:nvPr/>
        </p:nvSpPr>
        <p:spPr bwMode="gray">
          <a:xfrm>
            <a:off x="1205132" y="402596"/>
            <a:ext cx="9781742" cy="420021"/>
          </a:xfrm>
          <a:prstGeom prst="rect">
            <a:avLst/>
          </a:prstGeom>
        </p:spPr>
        <p:txBody>
          <a:bodyPr vert="horz" lIns="0" tIns="0" rIns="0" bIns="0" rtlCol="0" anchor="t" anchorCtr="0">
            <a:noAutofit/>
          </a:bodyPr>
          <a:lstStyle>
            <a:lvl1pPr algn="l" defTabSz="1554493" rtl="0" eaLnBrk="1" latinLnBrk="0" hangingPunct="1">
              <a:spcBef>
                <a:spcPct val="0"/>
              </a:spcBef>
              <a:buNone/>
              <a:defRPr sz="3400" kern="1200">
                <a:solidFill>
                  <a:schemeClr val="tx1"/>
                </a:solidFill>
                <a:latin typeface="+mj-lt"/>
                <a:ea typeface="+mj-ea"/>
                <a:cs typeface="+mj-cs"/>
              </a:defRPr>
            </a:lvl1pPr>
          </a:lstStyle>
          <a:p>
            <a:pPr algn="just" defTabSz="1059853"/>
            <a:endParaRPr lang="en-IN" sz="1636" dirty="0">
              <a:solidFill>
                <a:prstClr val="black"/>
              </a:solidFill>
              <a:latin typeface="Verdana"/>
            </a:endParaRPr>
          </a:p>
        </p:txBody>
      </p:sp>
      <p:sp>
        <p:nvSpPr>
          <p:cNvPr id="95" name="Round Diagonal Corner Rectangle 5">
            <a:extLst>
              <a:ext uri="{FF2B5EF4-FFF2-40B4-BE49-F238E27FC236}">
                <a16:creationId xmlns:a16="http://schemas.microsoft.com/office/drawing/2014/main" id="{E0205A45-91C2-4D9B-9E0D-1FEEF65F3783}"/>
              </a:ext>
            </a:extLst>
          </p:cNvPr>
          <p:cNvSpPr>
            <a:spLocks/>
          </p:cNvSpPr>
          <p:nvPr/>
        </p:nvSpPr>
        <p:spPr>
          <a:xfrm>
            <a:off x="481564" y="2994490"/>
            <a:ext cx="2609325" cy="1539000"/>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400" dirty="0" err="1">
              <a:solidFill>
                <a:prstClr val="white"/>
              </a:solidFill>
              <a:latin typeface="Verdana"/>
              <a:cs typeface="Arial" pitchFamily="34" charset="0"/>
            </a:endParaRPr>
          </a:p>
        </p:txBody>
      </p:sp>
      <p:sp>
        <p:nvSpPr>
          <p:cNvPr id="96" name="Round Diagonal Corner Rectangle 5">
            <a:extLst>
              <a:ext uri="{FF2B5EF4-FFF2-40B4-BE49-F238E27FC236}">
                <a16:creationId xmlns:a16="http://schemas.microsoft.com/office/drawing/2014/main" id="{AA40B992-F730-4032-8600-002FFF9D073F}"/>
              </a:ext>
            </a:extLst>
          </p:cNvPr>
          <p:cNvSpPr>
            <a:spLocks/>
          </p:cNvSpPr>
          <p:nvPr/>
        </p:nvSpPr>
        <p:spPr>
          <a:xfrm>
            <a:off x="3306223" y="2991819"/>
            <a:ext cx="2609325" cy="1539000"/>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400" dirty="0" err="1">
              <a:solidFill>
                <a:prstClr val="white"/>
              </a:solidFill>
              <a:latin typeface="Verdana"/>
              <a:cs typeface="Arial" pitchFamily="34" charset="0"/>
            </a:endParaRPr>
          </a:p>
        </p:txBody>
      </p:sp>
      <p:sp>
        <p:nvSpPr>
          <p:cNvPr id="97" name="Round Diagonal Corner Rectangle 5">
            <a:extLst>
              <a:ext uri="{FF2B5EF4-FFF2-40B4-BE49-F238E27FC236}">
                <a16:creationId xmlns:a16="http://schemas.microsoft.com/office/drawing/2014/main" id="{98766512-EC07-4C3D-8E1D-9662EA968301}"/>
              </a:ext>
            </a:extLst>
          </p:cNvPr>
          <p:cNvSpPr>
            <a:spLocks/>
          </p:cNvSpPr>
          <p:nvPr/>
        </p:nvSpPr>
        <p:spPr>
          <a:xfrm>
            <a:off x="6050308" y="2991819"/>
            <a:ext cx="2609325" cy="1539000"/>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400" dirty="0" err="1">
              <a:solidFill>
                <a:prstClr val="white"/>
              </a:solidFill>
              <a:latin typeface="Verdana"/>
              <a:cs typeface="Arial" pitchFamily="34" charset="0"/>
            </a:endParaRPr>
          </a:p>
        </p:txBody>
      </p:sp>
      <p:sp>
        <p:nvSpPr>
          <p:cNvPr id="98" name="Round Diagonal Corner Rectangle 5">
            <a:extLst>
              <a:ext uri="{FF2B5EF4-FFF2-40B4-BE49-F238E27FC236}">
                <a16:creationId xmlns:a16="http://schemas.microsoft.com/office/drawing/2014/main" id="{AD393F03-A6A8-4F7D-9F3A-C6BB71311D13}"/>
              </a:ext>
            </a:extLst>
          </p:cNvPr>
          <p:cNvSpPr>
            <a:spLocks/>
          </p:cNvSpPr>
          <p:nvPr/>
        </p:nvSpPr>
        <p:spPr>
          <a:xfrm>
            <a:off x="8810322" y="2978211"/>
            <a:ext cx="2609325" cy="1539000"/>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400" dirty="0" err="1">
              <a:solidFill>
                <a:prstClr val="white"/>
              </a:solidFill>
              <a:latin typeface="Verdana"/>
              <a:cs typeface="Arial" pitchFamily="34" charset="0"/>
            </a:endParaRPr>
          </a:p>
        </p:txBody>
      </p:sp>
      <p:sp>
        <p:nvSpPr>
          <p:cNvPr id="94" name="Round Diagonal Corner Rectangle 5">
            <a:extLst>
              <a:ext uri="{FF2B5EF4-FFF2-40B4-BE49-F238E27FC236}">
                <a16:creationId xmlns:a16="http://schemas.microsoft.com/office/drawing/2014/main" id="{779C08F6-D29E-43ED-B5A4-8EF9619B033A}"/>
              </a:ext>
            </a:extLst>
          </p:cNvPr>
          <p:cNvSpPr>
            <a:spLocks/>
          </p:cNvSpPr>
          <p:nvPr/>
        </p:nvSpPr>
        <p:spPr>
          <a:xfrm>
            <a:off x="8796436" y="1216436"/>
            <a:ext cx="2609325" cy="1590337"/>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400" dirty="0" err="1">
              <a:solidFill>
                <a:prstClr val="white"/>
              </a:solidFill>
              <a:latin typeface="Verdana"/>
              <a:cs typeface="Arial" pitchFamily="34" charset="0"/>
            </a:endParaRPr>
          </a:p>
        </p:txBody>
      </p:sp>
      <p:sp>
        <p:nvSpPr>
          <p:cNvPr id="93" name="Round Diagonal Corner Rectangle 5">
            <a:extLst>
              <a:ext uri="{FF2B5EF4-FFF2-40B4-BE49-F238E27FC236}">
                <a16:creationId xmlns:a16="http://schemas.microsoft.com/office/drawing/2014/main" id="{6C9A6BE5-326B-4F8D-9E2C-5FA4DF29B25A}"/>
              </a:ext>
            </a:extLst>
          </p:cNvPr>
          <p:cNvSpPr>
            <a:spLocks/>
          </p:cNvSpPr>
          <p:nvPr/>
        </p:nvSpPr>
        <p:spPr>
          <a:xfrm>
            <a:off x="6047351" y="1271856"/>
            <a:ext cx="2609325" cy="1537777"/>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400" dirty="0" err="1">
              <a:solidFill>
                <a:prstClr val="white"/>
              </a:solidFill>
              <a:latin typeface="Verdana"/>
              <a:cs typeface="Arial" pitchFamily="34" charset="0"/>
            </a:endParaRPr>
          </a:p>
        </p:txBody>
      </p:sp>
      <p:sp>
        <p:nvSpPr>
          <p:cNvPr id="91" name="Round Diagonal Corner Rectangle 5">
            <a:extLst>
              <a:ext uri="{FF2B5EF4-FFF2-40B4-BE49-F238E27FC236}">
                <a16:creationId xmlns:a16="http://schemas.microsoft.com/office/drawing/2014/main" id="{9F414F40-19F5-41FB-8FE4-06DCE9C154BD}"/>
              </a:ext>
            </a:extLst>
          </p:cNvPr>
          <p:cNvSpPr>
            <a:spLocks/>
          </p:cNvSpPr>
          <p:nvPr/>
        </p:nvSpPr>
        <p:spPr>
          <a:xfrm>
            <a:off x="3294055" y="1271856"/>
            <a:ext cx="2609325" cy="1537777"/>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400" dirty="0" err="1">
              <a:solidFill>
                <a:prstClr val="white"/>
              </a:solidFill>
              <a:latin typeface="Verdana"/>
              <a:cs typeface="Arial" pitchFamily="34" charset="0"/>
            </a:endParaRPr>
          </a:p>
        </p:txBody>
      </p:sp>
      <p:sp>
        <p:nvSpPr>
          <p:cNvPr id="85" name="Round Diagonal Corner Rectangle 5">
            <a:extLst>
              <a:ext uri="{FF2B5EF4-FFF2-40B4-BE49-F238E27FC236}">
                <a16:creationId xmlns:a16="http://schemas.microsoft.com/office/drawing/2014/main" id="{2B355051-2186-4695-8138-9FAB3A2AA3E1}"/>
              </a:ext>
            </a:extLst>
          </p:cNvPr>
          <p:cNvSpPr>
            <a:spLocks/>
          </p:cNvSpPr>
          <p:nvPr/>
        </p:nvSpPr>
        <p:spPr>
          <a:xfrm>
            <a:off x="536782" y="1271856"/>
            <a:ext cx="2609325" cy="1537777"/>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400" dirty="0" err="1">
              <a:solidFill>
                <a:prstClr val="white"/>
              </a:solidFill>
              <a:latin typeface="Verdana"/>
              <a:cs typeface="Arial" pitchFamily="34" charset="0"/>
            </a:endParaRPr>
          </a:p>
        </p:txBody>
      </p:sp>
      <p:sp>
        <p:nvSpPr>
          <p:cNvPr id="47" name="Round Diagonal Corner Rectangle 88">
            <a:extLst>
              <a:ext uri="{FF2B5EF4-FFF2-40B4-BE49-F238E27FC236}">
                <a16:creationId xmlns:a16="http://schemas.microsoft.com/office/drawing/2014/main" id="{CB3C1158-6F76-4EF5-996B-3B26E2E87498}"/>
              </a:ext>
            </a:extLst>
          </p:cNvPr>
          <p:cNvSpPr>
            <a:spLocks/>
          </p:cNvSpPr>
          <p:nvPr/>
        </p:nvSpPr>
        <p:spPr>
          <a:xfrm>
            <a:off x="560242" y="4705969"/>
            <a:ext cx="2610199" cy="1539000"/>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400" dirty="0" err="1">
              <a:solidFill>
                <a:prstClr val="white"/>
              </a:solidFill>
              <a:latin typeface="Verdana"/>
              <a:cs typeface="Arial" pitchFamily="34" charset="0"/>
            </a:endParaRPr>
          </a:p>
        </p:txBody>
      </p:sp>
      <p:sp>
        <p:nvSpPr>
          <p:cNvPr id="48" name="Round Diagonal Corner Rectangle 89">
            <a:extLst>
              <a:ext uri="{FF2B5EF4-FFF2-40B4-BE49-F238E27FC236}">
                <a16:creationId xmlns:a16="http://schemas.microsoft.com/office/drawing/2014/main" id="{7D550A88-FC75-4C74-B72F-60C6C0AEDD84}"/>
              </a:ext>
            </a:extLst>
          </p:cNvPr>
          <p:cNvSpPr>
            <a:spLocks/>
          </p:cNvSpPr>
          <p:nvPr/>
        </p:nvSpPr>
        <p:spPr>
          <a:xfrm>
            <a:off x="3305349" y="4705969"/>
            <a:ext cx="2610199" cy="1539000"/>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400" dirty="0" err="1">
              <a:solidFill>
                <a:prstClr val="white"/>
              </a:solidFill>
              <a:latin typeface="Verdana"/>
              <a:cs typeface="Arial" pitchFamily="34" charset="0"/>
            </a:endParaRPr>
          </a:p>
        </p:txBody>
      </p:sp>
      <p:sp>
        <p:nvSpPr>
          <p:cNvPr id="49" name="Round Diagonal Corner Rectangle 90">
            <a:extLst>
              <a:ext uri="{FF2B5EF4-FFF2-40B4-BE49-F238E27FC236}">
                <a16:creationId xmlns:a16="http://schemas.microsoft.com/office/drawing/2014/main" id="{2AF93225-8895-4F0E-8E17-1A34EA349FFD}"/>
              </a:ext>
            </a:extLst>
          </p:cNvPr>
          <p:cNvSpPr>
            <a:spLocks/>
          </p:cNvSpPr>
          <p:nvPr/>
        </p:nvSpPr>
        <p:spPr>
          <a:xfrm>
            <a:off x="6050456" y="4705969"/>
            <a:ext cx="2610199" cy="1539000"/>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400" dirty="0" err="1">
              <a:solidFill>
                <a:prstClr val="white"/>
              </a:solidFill>
              <a:latin typeface="Verdana"/>
              <a:cs typeface="Arial" pitchFamily="34" charset="0"/>
            </a:endParaRPr>
          </a:p>
        </p:txBody>
      </p:sp>
      <p:sp>
        <p:nvSpPr>
          <p:cNvPr id="50" name="Round Diagonal Corner Rectangle 91">
            <a:extLst>
              <a:ext uri="{FF2B5EF4-FFF2-40B4-BE49-F238E27FC236}">
                <a16:creationId xmlns:a16="http://schemas.microsoft.com/office/drawing/2014/main" id="{7FC7A4F6-B8B0-495E-A0C1-830FC02A88DB}"/>
              </a:ext>
            </a:extLst>
          </p:cNvPr>
          <p:cNvSpPr>
            <a:spLocks/>
          </p:cNvSpPr>
          <p:nvPr/>
        </p:nvSpPr>
        <p:spPr>
          <a:xfrm>
            <a:off x="8795563" y="4705969"/>
            <a:ext cx="2610199" cy="1539000"/>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400" dirty="0" err="1">
              <a:solidFill>
                <a:prstClr val="white"/>
              </a:solidFill>
              <a:latin typeface="Verdana"/>
              <a:cs typeface="Arial" pitchFamily="34" charset="0"/>
            </a:endParaRPr>
          </a:p>
        </p:txBody>
      </p:sp>
      <p:pic>
        <p:nvPicPr>
          <p:cNvPr id="52" name="Picture 51">
            <a:extLst>
              <a:ext uri="{FF2B5EF4-FFF2-40B4-BE49-F238E27FC236}">
                <a16:creationId xmlns:a16="http://schemas.microsoft.com/office/drawing/2014/main" id="{C465A18A-FCBF-4A95-9BD7-D37A5E69E74D}"/>
              </a:ext>
            </a:extLst>
          </p:cNvPr>
          <p:cNvPicPr/>
          <p:nvPr/>
        </p:nvPicPr>
        <p:blipFill>
          <a:blip r:embed="rId2" cstate="email">
            <a:extLst>
              <a:ext uri="{28A0092B-C50C-407E-A947-70E740481C1C}">
                <a14:useLocalDpi xmlns:a14="http://schemas.microsoft.com/office/drawing/2010/main"/>
              </a:ext>
            </a:extLst>
          </a:blip>
          <a:srcRect/>
          <a:stretch>
            <a:fillRect/>
          </a:stretch>
        </p:blipFill>
        <p:spPr bwMode="auto">
          <a:xfrm>
            <a:off x="6926065" y="3020859"/>
            <a:ext cx="814163" cy="443561"/>
          </a:xfrm>
          <a:prstGeom prst="rect">
            <a:avLst/>
          </a:prstGeom>
          <a:noFill/>
          <a:ln>
            <a:noFill/>
          </a:ln>
        </p:spPr>
      </p:pic>
      <p:pic>
        <p:nvPicPr>
          <p:cNvPr id="53" name="Picture 52" descr="A picture containing text, sign&#10;&#10;Description automatically generated">
            <a:extLst>
              <a:ext uri="{FF2B5EF4-FFF2-40B4-BE49-F238E27FC236}">
                <a16:creationId xmlns:a16="http://schemas.microsoft.com/office/drawing/2014/main" id="{65634927-61D3-41AA-AF06-0FCF1F15021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79191" y="1302535"/>
            <a:ext cx="1186388" cy="463126"/>
          </a:xfrm>
          <a:prstGeom prst="rect">
            <a:avLst/>
          </a:prstGeom>
        </p:spPr>
      </p:pic>
      <p:pic>
        <p:nvPicPr>
          <p:cNvPr id="55" name="Picture 45" descr="NHPC Limited - Wikipedia">
            <a:extLst>
              <a:ext uri="{FF2B5EF4-FFF2-40B4-BE49-F238E27FC236}">
                <a16:creationId xmlns:a16="http://schemas.microsoft.com/office/drawing/2014/main" id="{8E200699-D5D9-42CA-B023-CA10F33C6A22}"/>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819018" y="1308861"/>
            <a:ext cx="1038218" cy="456803"/>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descr="Logo&#10;&#10;Description automatically generated">
            <a:extLst>
              <a:ext uri="{FF2B5EF4-FFF2-40B4-BE49-F238E27FC236}">
                <a16:creationId xmlns:a16="http://schemas.microsoft.com/office/drawing/2014/main" id="{7BDB89AF-D386-418D-8260-CBEB1F9347D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831817" y="1247006"/>
            <a:ext cx="613189" cy="518657"/>
          </a:xfrm>
          <a:prstGeom prst="rect">
            <a:avLst/>
          </a:prstGeom>
        </p:spPr>
      </p:pic>
      <p:pic>
        <p:nvPicPr>
          <p:cNvPr id="57" name="Picture 35" descr="Damodar Valley Corporation - Wikipedia">
            <a:extLst>
              <a:ext uri="{FF2B5EF4-FFF2-40B4-BE49-F238E27FC236}">
                <a16:creationId xmlns:a16="http://schemas.microsoft.com/office/drawing/2014/main" id="{66400F16-8159-41D6-A8C2-E21344047407}"/>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461187" y="3020857"/>
            <a:ext cx="771452" cy="443561"/>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35" descr="Damodar Valley Corporation - Wikipedia">
            <a:extLst>
              <a:ext uri="{FF2B5EF4-FFF2-40B4-BE49-F238E27FC236}">
                <a16:creationId xmlns:a16="http://schemas.microsoft.com/office/drawing/2014/main" id="{540243EB-D413-46B3-8519-7E9451E0681A}"/>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4206294" y="3020859"/>
            <a:ext cx="771452" cy="443561"/>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58" descr="Logo&#10;&#10;Description automatically generated">
            <a:extLst>
              <a:ext uri="{FF2B5EF4-FFF2-40B4-BE49-F238E27FC236}">
                <a16:creationId xmlns:a16="http://schemas.microsoft.com/office/drawing/2014/main" id="{8B4738E0-E843-4392-8976-7A43768F4288}"/>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9720535" y="3023446"/>
            <a:ext cx="719491" cy="443561"/>
          </a:xfrm>
          <a:prstGeom prst="rect">
            <a:avLst/>
          </a:prstGeom>
        </p:spPr>
      </p:pic>
      <p:sp>
        <p:nvSpPr>
          <p:cNvPr id="60" name="Text Placeholder 1">
            <a:extLst>
              <a:ext uri="{FF2B5EF4-FFF2-40B4-BE49-F238E27FC236}">
                <a16:creationId xmlns:a16="http://schemas.microsoft.com/office/drawing/2014/main" id="{71A5E441-709C-482C-AD96-2219339D5857}"/>
              </a:ext>
            </a:extLst>
          </p:cNvPr>
          <p:cNvSpPr txBox="1">
            <a:spLocks/>
          </p:cNvSpPr>
          <p:nvPr/>
        </p:nvSpPr>
        <p:spPr>
          <a:xfrm>
            <a:off x="1236375" y="1869313"/>
            <a:ext cx="1312859" cy="153888"/>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dirty="0">
                <a:solidFill>
                  <a:prstClr val="black"/>
                </a:solidFill>
                <a:latin typeface="Verdana"/>
              </a:rPr>
              <a:t>NTPC Strategy 2025</a:t>
            </a:r>
          </a:p>
        </p:txBody>
      </p:sp>
      <p:sp>
        <p:nvSpPr>
          <p:cNvPr id="61" name="Text Placeholder 1">
            <a:extLst>
              <a:ext uri="{FF2B5EF4-FFF2-40B4-BE49-F238E27FC236}">
                <a16:creationId xmlns:a16="http://schemas.microsoft.com/office/drawing/2014/main" id="{128F6CC1-C392-4545-B466-530DFEBD8F4A}"/>
              </a:ext>
            </a:extLst>
          </p:cNvPr>
          <p:cNvSpPr txBox="1">
            <a:spLocks/>
          </p:cNvSpPr>
          <p:nvPr/>
        </p:nvSpPr>
        <p:spPr>
          <a:xfrm>
            <a:off x="3508273" y="1761580"/>
            <a:ext cx="2274344" cy="461665"/>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dirty="0">
                <a:solidFill>
                  <a:prstClr val="black"/>
                </a:solidFill>
                <a:latin typeface="Verdana"/>
              </a:rPr>
              <a:t>Consultancy Services for Due Diligence for Acquisition of Thermal Power assets</a:t>
            </a:r>
          </a:p>
        </p:txBody>
      </p:sp>
      <p:sp>
        <p:nvSpPr>
          <p:cNvPr id="62" name="Text Placeholder 1">
            <a:extLst>
              <a:ext uri="{FF2B5EF4-FFF2-40B4-BE49-F238E27FC236}">
                <a16:creationId xmlns:a16="http://schemas.microsoft.com/office/drawing/2014/main" id="{31A6DD96-4F4F-416E-A78F-1823DA6102E3}"/>
              </a:ext>
            </a:extLst>
          </p:cNvPr>
          <p:cNvSpPr txBox="1">
            <a:spLocks/>
          </p:cNvSpPr>
          <p:nvPr/>
        </p:nvSpPr>
        <p:spPr>
          <a:xfrm>
            <a:off x="6075123" y="1738906"/>
            <a:ext cx="2581552" cy="615553"/>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dirty="0">
                <a:solidFill>
                  <a:prstClr val="black"/>
                </a:solidFill>
                <a:latin typeface="Verdana"/>
              </a:rPr>
              <a:t>Preparation of Strategy Paper, Standard Business Model including Efficient Bidding Document for Renewable Energy Projects</a:t>
            </a:r>
          </a:p>
        </p:txBody>
      </p:sp>
      <p:sp>
        <p:nvSpPr>
          <p:cNvPr id="63" name="Text Placeholder 1">
            <a:extLst>
              <a:ext uri="{FF2B5EF4-FFF2-40B4-BE49-F238E27FC236}">
                <a16:creationId xmlns:a16="http://schemas.microsoft.com/office/drawing/2014/main" id="{4C4BA8C9-0D83-47FC-97F6-4A3B9218216F}"/>
              </a:ext>
            </a:extLst>
          </p:cNvPr>
          <p:cNvSpPr txBox="1">
            <a:spLocks/>
          </p:cNvSpPr>
          <p:nvPr/>
        </p:nvSpPr>
        <p:spPr>
          <a:xfrm>
            <a:off x="8824206" y="1758833"/>
            <a:ext cx="2581554" cy="461665"/>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dirty="0">
                <a:solidFill>
                  <a:prstClr val="black"/>
                </a:solidFill>
                <a:latin typeface="Verdana"/>
              </a:rPr>
              <a:t>Preparation of Road Map for providing 24X7 Power for All (PFA) in various States and UTs of India</a:t>
            </a:r>
          </a:p>
        </p:txBody>
      </p:sp>
      <p:sp>
        <p:nvSpPr>
          <p:cNvPr id="64" name="Text Placeholder 1">
            <a:extLst>
              <a:ext uri="{FF2B5EF4-FFF2-40B4-BE49-F238E27FC236}">
                <a16:creationId xmlns:a16="http://schemas.microsoft.com/office/drawing/2014/main" id="{2F7EFBEA-9F20-4275-B9B0-797A94236964}"/>
              </a:ext>
            </a:extLst>
          </p:cNvPr>
          <p:cNvSpPr txBox="1">
            <a:spLocks/>
          </p:cNvSpPr>
          <p:nvPr/>
        </p:nvSpPr>
        <p:spPr>
          <a:xfrm>
            <a:off x="1392985" y="2246079"/>
            <a:ext cx="929742" cy="153888"/>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(2020-2021)</a:t>
            </a:r>
          </a:p>
        </p:txBody>
      </p:sp>
      <p:sp>
        <p:nvSpPr>
          <p:cNvPr id="65" name="Text Placeholder 1">
            <a:extLst>
              <a:ext uri="{FF2B5EF4-FFF2-40B4-BE49-F238E27FC236}">
                <a16:creationId xmlns:a16="http://schemas.microsoft.com/office/drawing/2014/main" id="{F2C66B8C-3771-46BE-8E44-A658EAB27F98}"/>
              </a:ext>
            </a:extLst>
          </p:cNvPr>
          <p:cNvSpPr txBox="1">
            <a:spLocks/>
          </p:cNvSpPr>
          <p:nvPr/>
        </p:nvSpPr>
        <p:spPr>
          <a:xfrm>
            <a:off x="4349067" y="2302439"/>
            <a:ext cx="503343" cy="153888"/>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(2018)</a:t>
            </a:r>
          </a:p>
        </p:txBody>
      </p:sp>
      <p:sp>
        <p:nvSpPr>
          <p:cNvPr id="66" name="Text Placeholder 1">
            <a:extLst>
              <a:ext uri="{FF2B5EF4-FFF2-40B4-BE49-F238E27FC236}">
                <a16:creationId xmlns:a16="http://schemas.microsoft.com/office/drawing/2014/main" id="{41D7A630-2DA2-4FB9-872E-9635D833BF91}"/>
              </a:ext>
            </a:extLst>
          </p:cNvPr>
          <p:cNvSpPr txBox="1">
            <a:spLocks/>
          </p:cNvSpPr>
          <p:nvPr/>
        </p:nvSpPr>
        <p:spPr>
          <a:xfrm>
            <a:off x="7044435" y="2357138"/>
            <a:ext cx="503343" cy="153888"/>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(2019)</a:t>
            </a:r>
          </a:p>
        </p:txBody>
      </p:sp>
      <p:sp>
        <p:nvSpPr>
          <p:cNvPr id="67" name="Text Placeholder 1">
            <a:extLst>
              <a:ext uri="{FF2B5EF4-FFF2-40B4-BE49-F238E27FC236}">
                <a16:creationId xmlns:a16="http://schemas.microsoft.com/office/drawing/2014/main" id="{60A59E75-3C9D-45AB-95AF-ACB0C9321FD1}"/>
              </a:ext>
            </a:extLst>
          </p:cNvPr>
          <p:cNvSpPr txBox="1">
            <a:spLocks/>
          </p:cNvSpPr>
          <p:nvPr/>
        </p:nvSpPr>
        <p:spPr>
          <a:xfrm>
            <a:off x="9658995" y="2313178"/>
            <a:ext cx="929742" cy="153888"/>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(2015-2017)</a:t>
            </a:r>
          </a:p>
        </p:txBody>
      </p:sp>
      <p:sp>
        <p:nvSpPr>
          <p:cNvPr id="68" name="Text Placeholder 1">
            <a:extLst>
              <a:ext uri="{FF2B5EF4-FFF2-40B4-BE49-F238E27FC236}">
                <a16:creationId xmlns:a16="http://schemas.microsoft.com/office/drawing/2014/main" id="{2125A066-CCCA-41F3-A6CD-8A0E58AC8ED6}"/>
              </a:ext>
            </a:extLst>
          </p:cNvPr>
          <p:cNvSpPr txBox="1">
            <a:spLocks/>
          </p:cNvSpPr>
          <p:nvPr/>
        </p:nvSpPr>
        <p:spPr>
          <a:xfrm>
            <a:off x="1218928" y="2497781"/>
            <a:ext cx="1277850" cy="15388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i="1" dirty="0">
                <a:solidFill>
                  <a:srgbClr val="046A38"/>
                </a:solidFill>
                <a:latin typeface="Verdana"/>
              </a:rPr>
              <a:t>Client: NTPC Ltd.</a:t>
            </a:r>
          </a:p>
        </p:txBody>
      </p:sp>
      <p:sp>
        <p:nvSpPr>
          <p:cNvPr id="69" name="Text Placeholder 1">
            <a:extLst>
              <a:ext uri="{FF2B5EF4-FFF2-40B4-BE49-F238E27FC236}">
                <a16:creationId xmlns:a16="http://schemas.microsoft.com/office/drawing/2014/main" id="{87D7C3DD-D6B1-4AE3-9C1A-758B058A267B}"/>
              </a:ext>
            </a:extLst>
          </p:cNvPr>
          <p:cNvSpPr txBox="1">
            <a:spLocks/>
          </p:cNvSpPr>
          <p:nvPr/>
        </p:nvSpPr>
        <p:spPr>
          <a:xfrm>
            <a:off x="3961814" y="2501762"/>
            <a:ext cx="1277850" cy="15388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i="1" dirty="0">
                <a:solidFill>
                  <a:srgbClr val="046A38"/>
                </a:solidFill>
                <a:latin typeface="Verdana"/>
              </a:rPr>
              <a:t>Client: NTPC Ltd.</a:t>
            </a:r>
          </a:p>
        </p:txBody>
      </p:sp>
      <p:sp>
        <p:nvSpPr>
          <p:cNvPr id="70" name="Text Placeholder 1">
            <a:extLst>
              <a:ext uri="{FF2B5EF4-FFF2-40B4-BE49-F238E27FC236}">
                <a16:creationId xmlns:a16="http://schemas.microsoft.com/office/drawing/2014/main" id="{939C4ECB-C7A9-41F4-B7E3-A69457968F53}"/>
              </a:ext>
            </a:extLst>
          </p:cNvPr>
          <p:cNvSpPr txBox="1">
            <a:spLocks/>
          </p:cNvSpPr>
          <p:nvPr/>
        </p:nvSpPr>
        <p:spPr>
          <a:xfrm>
            <a:off x="6657178" y="2532615"/>
            <a:ext cx="1277850" cy="15388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i="1" dirty="0">
                <a:solidFill>
                  <a:srgbClr val="046A38"/>
                </a:solidFill>
                <a:latin typeface="Verdana"/>
              </a:rPr>
              <a:t>Client: NHPC Ltd.</a:t>
            </a:r>
          </a:p>
        </p:txBody>
      </p:sp>
      <p:sp>
        <p:nvSpPr>
          <p:cNvPr id="71" name="Text Placeholder 1">
            <a:extLst>
              <a:ext uri="{FF2B5EF4-FFF2-40B4-BE49-F238E27FC236}">
                <a16:creationId xmlns:a16="http://schemas.microsoft.com/office/drawing/2014/main" id="{8D07AD07-7965-4627-9F9A-0FAC6842DD15}"/>
              </a:ext>
            </a:extLst>
          </p:cNvPr>
          <p:cNvSpPr txBox="1">
            <a:spLocks/>
          </p:cNvSpPr>
          <p:nvPr/>
        </p:nvSpPr>
        <p:spPr>
          <a:xfrm>
            <a:off x="9476058" y="2460847"/>
            <a:ext cx="1277850" cy="15388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i="1" dirty="0">
                <a:solidFill>
                  <a:srgbClr val="046A38"/>
                </a:solidFill>
                <a:latin typeface="Verdana"/>
              </a:rPr>
              <a:t>Client: PFC Ltd.</a:t>
            </a:r>
          </a:p>
        </p:txBody>
      </p:sp>
      <p:sp>
        <p:nvSpPr>
          <p:cNvPr id="72" name="Text Placeholder 1">
            <a:extLst>
              <a:ext uri="{FF2B5EF4-FFF2-40B4-BE49-F238E27FC236}">
                <a16:creationId xmlns:a16="http://schemas.microsoft.com/office/drawing/2014/main" id="{84332155-A31F-4E16-9079-DEF97916CE98}"/>
              </a:ext>
            </a:extLst>
          </p:cNvPr>
          <p:cNvSpPr txBox="1">
            <a:spLocks/>
          </p:cNvSpPr>
          <p:nvPr/>
        </p:nvSpPr>
        <p:spPr>
          <a:xfrm>
            <a:off x="680543" y="3483317"/>
            <a:ext cx="2398240" cy="461665"/>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dirty="0">
                <a:solidFill>
                  <a:prstClr val="black"/>
                </a:solidFill>
                <a:latin typeface="Verdana"/>
              </a:rPr>
              <a:t>Preparation of Corporate Plan 2012-2022 with perspective Plan up to 2027 of DVC</a:t>
            </a:r>
          </a:p>
        </p:txBody>
      </p:sp>
      <p:sp>
        <p:nvSpPr>
          <p:cNvPr id="73" name="Text Placeholder 1">
            <a:extLst>
              <a:ext uri="{FF2B5EF4-FFF2-40B4-BE49-F238E27FC236}">
                <a16:creationId xmlns:a16="http://schemas.microsoft.com/office/drawing/2014/main" id="{B77E1701-BB61-437C-84BA-E3B43A7FBFB0}"/>
              </a:ext>
            </a:extLst>
          </p:cNvPr>
          <p:cNvSpPr txBox="1">
            <a:spLocks/>
          </p:cNvSpPr>
          <p:nvPr/>
        </p:nvSpPr>
        <p:spPr>
          <a:xfrm>
            <a:off x="3333991" y="3483317"/>
            <a:ext cx="2581554" cy="461665"/>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dirty="0">
                <a:solidFill>
                  <a:prstClr val="black"/>
                </a:solidFill>
                <a:latin typeface="Verdana"/>
              </a:rPr>
              <a:t>Due Diligence with respect to revival of 1320 MW Raghunathpur Thermal Power Station Phase II</a:t>
            </a:r>
          </a:p>
        </p:txBody>
      </p:sp>
      <p:sp>
        <p:nvSpPr>
          <p:cNvPr id="74" name="Text Placeholder 1">
            <a:extLst>
              <a:ext uri="{FF2B5EF4-FFF2-40B4-BE49-F238E27FC236}">
                <a16:creationId xmlns:a16="http://schemas.microsoft.com/office/drawing/2014/main" id="{B01E0349-148A-458B-9B61-DA5887344FF5}"/>
              </a:ext>
            </a:extLst>
          </p:cNvPr>
          <p:cNvSpPr txBox="1">
            <a:spLocks/>
          </p:cNvSpPr>
          <p:nvPr/>
        </p:nvSpPr>
        <p:spPr>
          <a:xfrm>
            <a:off x="6075120" y="3483317"/>
            <a:ext cx="2581554" cy="461665"/>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dirty="0">
                <a:solidFill>
                  <a:prstClr val="black"/>
                </a:solidFill>
                <a:latin typeface="Verdana"/>
              </a:rPr>
              <a:t>Providing Consultancy and Program Management Services to CIL for Diversification and Value Addition</a:t>
            </a:r>
          </a:p>
        </p:txBody>
      </p:sp>
      <p:sp>
        <p:nvSpPr>
          <p:cNvPr id="75" name="Text Placeholder 1">
            <a:extLst>
              <a:ext uri="{FF2B5EF4-FFF2-40B4-BE49-F238E27FC236}">
                <a16:creationId xmlns:a16="http://schemas.microsoft.com/office/drawing/2014/main" id="{EE1B8E03-7D0B-4F54-AB92-922B50C5E6CE}"/>
              </a:ext>
            </a:extLst>
          </p:cNvPr>
          <p:cNvSpPr txBox="1">
            <a:spLocks/>
          </p:cNvSpPr>
          <p:nvPr/>
        </p:nvSpPr>
        <p:spPr>
          <a:xfrm>
            <a:off x="8816247" y="3585546"/>
            <a:ext cx="2581554" cy="461665"/>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dirty="0">
                <a:solidFill>
                  <a:prstClr val="black"/>
                </a:solidFill>
                <a:latin typeface="Verdana"/>
              </a:rPr>
              <a:t>Strategy Review &amp; formulation of Vision / Strategy 2030 &amp; its Implementation for largest LNG importer in India</a:t>
            </a:r>
          </a:p>
        </p:txBody>
      </p:sp>
      <p:sp>
        <p:nvSpPr>
          <p:cNvPr id="76" name="Text Placeholder 1">
            <a:extLst>
              <a:ext uri="{FF2B5EF4-FFF2-40B4-BE49-F238E27FC236}">
                <a16:creationId xmlns:a16="http://schemas.microsoft.com/office/drawing/2014/main" id="{99008E65-DBB8-45A7-91FA-3713CDD99724}"/>
              </a:ext>
            </a:extLst>
          </p:cNvPr>
          <p:cNvSpPr txBox="1">
            <a:spLocks/>
          </p:cNvSpPr>
          <p:nvPr/>
        </p:nvSpPr>
        <p:spPr>
          <a:xfrm>
            <a:off x="1534555" y="4007916"/>
            <a:ext cx="503343" cy="153888"/>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(2012)</a:t>
            </a:r>
          </a:p>
        </p:txBody>
      </p:sp>
      <p:sp>
        <p:nvSpPr>
          <p:cNvPr id="77" name="Text Placeholder 1">
            <a:extLst>
              <a:ext uri="{FF2B5EF4-FFF2-40B4-BE49-F238E27FC236}">
                <a16:creationId xmlns:a16="http://schemas.microsoft.com/office/drawing/2014/main" id="{3DC71588-A538-4AC3-AE88-A7BCBDFCA3BB}"/>
              </a:ext>
            </a:extLst>
          </p:cNvPr>
          <p:cNvSpPr txBox="1">
            <a:spLocks/>
          </p:cNvSpPr>
          <p:nvPr/>
        </p:nvSpPr>
        <p:spPr>
          <a:xfrm>
            <a:off x="4132131" y="4004364"/>
            <a:ext cx="929742" cy="153888"/>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(2018-2019)</a:t>
            </a:r>
          </a:p>
        </p:txBody>
      </p:sp>
      <p:sp>
        <p:nvSpPr>
          <p:cNvPr id="78" name="Text Placeholder 1">
            <a:extLst>
              <a:ext uri="{FF2B5EF4-FFF2-40B4-BE49-F238E27FC236}">
                <a16:creationId xmlns:a16="http://schemas.microsoft.com/office/drawing/2014/main" id="{DCA4BF2A-4B6F-4CCD-927D-7ED14F480A8E}"/>
              </a:ext>
            </a:extLst>
          </p:cNvPr>
          <p:cNvSpPr txBox="1">
            <a:spLocks/>
          </p:cNvSpPr>
          <p:nvPr/>
        </p:nvSpPr>
        <p:spPr>
          <a:xfrm>
            <a:off x="6754635" y="3980246"/>
            <a:ext cx="1166986" cy="153888"/>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(2020-Ongoing)</a:t>
            </a:r>
          </a:p>
        </p:txBody>
      </p:sp>
      <p:sp>
        <p:nvSpPr>
          <p:cNvPr id="79" name="Text Placeholder 1">
            <a:extLst>
              <a:ext uri="{FF2B5EF4-FFF2-40B4-BE49-F238E27FC236}">
                <a16:creationId xmlns:a16="http://schemas.microsoft.com/office/drawing/2014/main" id="{84E4B0F5-8EBF-4007-827C-7623707DE823}"/>
              </a:ext>
            </a:extLst>
          </p:cNvPr>
          <p:cNvSpPr txBox="1">
            <a:spLocks/>
          </p:cNvSpPr>
          <p:nvPr/>
        </p:nvSpPr>
        <p:spPr>
          <a:xfrm>
            <a:off x="9622343" y="4077963"/>
            <a:ext cx="929742" cy="153888"/>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(2017-2019)</a:t>
            </a:r>
          </a:p>
        </p:txBody>
      </p:sp>
      <p:sp>
        <p:nvSpPr>
          <p:cNvPr id="80" name="Text Placeholder 1">
            <a:extLst>
              <a:ext uri="{FF2B5EF4-FFF2-40B4-BE49-F238E27FC236}">
                <a16:creationId xmlns:a16="http://schemas.microsoft.com/office/drawing/2014/main" id="{07A25B96-BB57-4733-9EA6-1140B725E2A1}"/>
              </a:ext>
            </a:extLst>
          </p:cNvPr>
          <p:cNvSpPr txBox="1">
            <a:spLocks/>
          </p:cNvSpPr>
          <p:nvPr/>
        </p:nvSpPr>
        <p:spPr>
          <a:xfrm>
            <a:off x="965822" y="4222965"/>
            <a:ext cx="1648810" cy="15388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i="1" dirty="0">
                <a:solidFill>
                  <a:srgbClr val="046A38"/>
                </a:solidFill>
                <a:latin typeface="Verdana"/>
              </a:rPr>
              <a:t>Client: DVC, Kolkata </a:t>
            </a:r>
          </a:p>
        </p:txBody>
      </p:sp>
      <p:sp>
        <p:nvSpPr>
          <p:cNvPr id="81" name="Text Placeholder 1">
            <a:extLst>
              <a:ext uri="{FF2B5EF4-FFF2-40B4-BE49-F238E27FC236}">
                <a16:creationId xmlns:a16="http://schemas.microsoft.com/office/drawing/2014/main" id="{E4B6B9BA-28B1-4652-A7C9-416E8EEA7C44}"/>
              </a:ext>
            </a:extLst>
          </p:cNvPr>
          <p:cNvSpPr txBox="1">
            <a:spLocks/>
          </p:cNvSpPr>
          <p:nvPr/>
        </p:nvSpPr>
        <p:spPr>
          <a:xfrm>
            <a:off x="3741033" y="4218084"/>
            <a:ext cx="1648810" cy="15388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i="1" dirty="0">
                <a:solidFill>
                  <a:srgbClr val="046A38"/>
                </a:solidFill>
                <a:latin typeface="Verdana"/>
              </a:rPr>
              <a:t>Client: DVC, Kolkata </a:t>
            </a:r>
          </a:p>
        </p:txBody>
      </p:sp>
      <p:sp>
        <p:nvSpPr>
          <p:cNvPr id="82" name="Text Placeholder 1">
            <a:extLst>
              <a:ext uri="{FF2B5EF4-FFF2-40B4-BE49-F238E27FC236}">
                <a16:creationId xmlns:a16="http://schemas.microsoft.com/office/drawing/2014/main" id="{16C06F05-EE69-433C-A850-DA5CC423DE39}"/>
              </a:ext>
            </a:extLst>
          </p:cNvPr>
          <p:cNvSpPr txBox="1">
            <a:spLocks/>
          </p:cNvSpPr>
          <p:nvPr/>
        </p:nvSpPr>
        <p:spPr>
          <a:xfrm>
            <a:off x="6513728" y="4218084"/>
            <a:ext cx="1648810" cy="15388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i="1" dirty="0">
                <a:solidFill>
                  <a:srgbClr val="046A38"/>
                </a:solidFill>
                <a:latin typeface="Verdana"/>
              </a:rPr>
              <a:t>Client: CIL, Kolkata </a:t>
            </a:r>
          </a:p>
        </p:txBody>
      </p:sp>
      <p:sp>
        <p:nvSpPr>
          <p:cNvPr id="83" name="Text Placeholder 1">
            <a:extLst>
              <a:ext uri="{FF2B5EF4-FFF2-40B4-BE49-F238E27FC236}">
                <a16:creationId xmlns:a16="http://schemas.microsoft.com/office/drawing/2014/main" id="{8A03C088-A04F-494C-932C-055A9C6D16D2}"/>
              </a:ext>
            </a:extLst>
          </p:cNvPr>
          <p:cNvSpPr txBox="1">
            <a:spLocks/>
          </p:cNvSpPr>
          <p:nvPr/>
        </p:nvSpPr>
        <p:spPr>
          <a:xfrm>
            <a:off x="9095274" y="4218084"/>
            <a:ext cx="1913144" cy="15388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i="1" dirty="0">
                <a:solidFill>
                  <a:srgbClr val="046A38"/>
                </a:solidFill>
                <a:latin typeface="Verdana"/>
              </a:rPr>
              <a:t>Client: </a:t>
            </a:r>
            <a:r>
              <a:rPr lang="en-US" sz="1000" b="1" i="1" dirty="0" err="1">
                <a:solidFill>
                  <a:srgbClr val="046A38"/>
                </a:solidFill>
                <a:latin typeface="Verdana"/>
              </a:rPr>
              <a:t>Petronet</a:t>
            </a:r>
            <a:r>
              <a:rPr lang="en-US" sz="1000" b="1" i="1" dirty="0">
                <a:solidFill>
                  <a:srgbClr val="046A38"/>
                </a:solidFill>
                <a:latin typeface="Verdana"/>
              </a:rPr>
              <a:t> LNG Ltd.</a:t>
            </a:r>
          </a:p>
        </p:txBody>
      </p:sp>
      <p:pic>
        <p:nvPicPr>
          <p:cNvPr id="92" name="Picture 91" descr="A picture containing text, sign&#10;&#10;Description automatically generated">
            <a:extLst>
              <a:ext uri="{FF2B5EF4-FFF2-40B4-BE49-F238E27FC236}">
                <a16:creationId xmlns:a16="http://schemas.microsoft.com/office/drawing/2014/main" id="{06909503-62BE-43FC-AA74-DAAC965AEEE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999441" y="1305381"/>
            <a:ext cx="1186388" cy="463126"/>
          </a:xfrm>
          <a:prstGeom prst="rect">
            <a:avLst/>
          </a:prstGeom>
        </p:spPr>
      </p:pic>
      <p:pic>
        <p:nvPicPr>
          <p:cNvPr id="99" name="Picture 98">
            <a:extLst>
              <a:ext uri="{FF2B5EF4-FFF2-40B4-BE49-F238E27FC236}">
                <a16:creationId xmlns:a16="http://schemas.microsoft.com/office/drawing/2014/main" id="{7E974B65-8C8D-4EB7-B926-26C9377E12C0}"/>
              </a:ext>
            </a:extLst>
          </p:cNvPr>
          <p:cNvPicPr/>
          <p:nvPr/>
        </p:nvPicPr>
        <p:blipFill>
          <a:blip r:embed="rId8" cstate="email">
            <a:extLst>
              <a:ext uri="{28A0092B-C50C-407E-A947-70E740481C1C}">
                <a14:useLocalDpi xmlns:a14="http://schemas.microsoft.com/office/drawing/2010/main"/>
              </a:ext>
            </a:extLst>
          </a:blip>
          <a:srcRect/>
          <a:stretch>
            <a:fillRect/>
          </a:stretch>
        </p:blipFill>
        <p:spPr bwMode="auto">
          <a:xfrm>
            <a:off x="1342273" y="4741060"/>
            <a:ext cx="886154" cy="554509"/>
          </a:xfrm>
          <a:prstGeom prst="rect">
            <a:avLst/>
          </a:prstGeom>
          <a:noFill/>
          <a:ln>
            <a:noFill/>
          </a:ln>
        </p:spPr>
      </p:pic>
      <p:pic>
        <p:nvPicPr>
          <p:cNvPr id="100" name="Picture 99">
            <a:extLst>
              <a:ext uri="{FF2B5EF4-FFF2-40B4-BE49-F238E27FC236}">
                <a16:creationId xmlns:a16="http://schemas.microsoft.com/office/drawing/2014/main" id="{9FC8A9D0-633E-48C1-949A-FB14E3B17ED9}"/>
              </a:ext>
            </a:extLst>
          </p:cNvPr>
          <p:cNvPicPr/>
          <p:nvPr/>
        </p:nvPicPr>
        <p:blipFill>
          <a:blip r:embed="rId9" cstate="email">
            <a:extLst>
              <a:ext uri="{28A0092B-C50C-407E-A947-70E740481C1C}">
                <a14:useLocalDpi xmlns:a14="http://schemas.microsoft.com/office/drawing/2010/main"/>
              </a:ext>
            </a:extLst>
          </a:blip>
          <a:srcRect/>
          <a:stretch>
            <a:fillRect/>
          </a:stretch>
        </p:blipFill>
        <p:spPr bwMode="auto">
          <a:xfrm>
            <a:off x="4205417" y="4743078"/>
            <a:ext cx="858973" cy="552490"/>
          </a:xfrm>
          <a:prstGeom prst="rect">
            <a:avLst/>
          </a:prstGeom>
          <a:noFill/>
          <a:ln>
            <a:noFill/>
          </a:ln>
        </p:spPr>
      </p:pic>
      <p:pic>
        <p:nvPicPr>
          <p:cNvPr id="101" name="Picture 100">
            <a:extLst>
              <a:ext uri="{FF2B5EF4-FFF2-40B4-BE49-F238E27FC236}">
                <a16:creationId xmlns:a16="http://schemas.microsoft.com/office/drawing/2014/main" id="{F59FCDB6-0F5F-4EED-A5E1-85824A88F193}"/>
              </a:ext>
            </a:extLst>
          </p:cNvPr>
          <p:cNvPicPr/>
          <p:nvPr/>
        </p:nvPicPr>
        <p:blipFill>
          <a:blip r:embed="rId10" cstate="email">
            <a:extLst>
              <a:ext uri="{28A0092B-C50C-407E-A947-70E740481C1C}">
                <a14:useLocalDpi xmlns:a14="http://schemas.microsoft.com/office/drawing/2010/main"/>
              </a:ext>
            </a:extLst>
          </a:blip>
          <a:srcRect/>
          <a:stretch>
            <a:fillRect/>
          </a:stretch>
        </p:blipFill>
        <p:spPr bwMode="auto">
          <a:xfrm>
            <a:off x="6916236" y="4741064"/>
            <a:ext cx="842037" cy="554505"/>
          </a:xfrm>
          <a:prstGeom prst="rect">
            <a:avLst/>
          </a:prstGeom>
          <a:noFill/>
          <a:ln>
            <a:noFill/>
          </a:ln>
        </p:spPr>
      </p:pic>
      <p:pic>
        <p:nvPicPr>
          <p:cNvPr id="102" name="Picture 101">
            <a:extLst>
              <a:ext uri="{FF2B5EF4-FFF2-40B4-BE49-F238E27FC236}">
                <a16:creationId xmlns:a16="http://schemas.microsoft.com/office/drawing/2014/main" id="{4109AAF4-0797-487C-A689-2B48838A36B1}"/>
              </a:ext>
            </a:extLst>
          </p:cNvPr>
          <p:cNvPicPr/>
          <p:nvPr/>
        </p:nvPicPr>
        <p:blipFill>
          <a:blip r:embed="rId11" cstate="email">
            <a:extLst>
              <a:ext uri="{28A0092B-C50C-407E-A947-70E740481C1C}">
                <a14:useLocalDpi xmlns:a14="http://schemas.microsoft.com/office/drawing/2010/main"/>
              </a:ext>
            </a:extLst>
          </a:blip>
          <a:srcRect/>
          <a:stretch>
            <a:fillRect/>
          </a:stretch>
        </p:blipFill>
        <p:spPr bwMode="auto">
          <a:xfrm>
            <a:off x="9694179" y="4743096"/>
            <a:ext cx="800370" cy="552473"/>
          </a:xfrm>
          <a:prstGeom prst="rect">
            <a:avLst/>
          </a:prstGeom>
          <a:noFill/>
          <a:ln>
            <a:noFill/>
          </a:ln>
        </p:spPr>
      </p:pic>
      <p:sp>
        <p:nvSpPr>
          <p:cNvPr id="103" name="Text Placeholder 1">
            <a:extLst>
              <a:ext uri="{FF2B5EF4-FFF2-40B4-BE49-F238E27FC236}">
                <a16:creationId xmlns:a16="http://schemas.microsoft.com/office/drawing/2014/main" id="{8A264FFE-923C-440F-AEB7-15DFF9C2C408}"/>
              </a:ext>
            </a:extLst>
          </p:cNvPr>
          <p:cNvSpPr txBox="1">
            <a:spLocks/>
          </p:cNvSpPr>
          <p:nvPr/>
        </p:nvSpPr>
        <p:spPr>
          <a:xfrm>
            <a:off x="6668727" y="6025653"/>
            <a:ext cx="1322525" cy="15388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i="1" dirty="0">
                <a:solidFill>
                  <a:srgbClr val="046A38"/>
                </a:solidFill>
                <a:latin typeface="Verdana"/>
              </a:rPr>
              <a:t>Client: BPCL</a:t>
            </a:r>
          </a:p>
        </p:txBody>
      </p:sp>
      <p:sp>
        <p:nvSpPr>
          <p:cNvPr id="104" name="Text Placeholder 1">
            <a:extLst>
              <a:ext uri="{FF2B5EF4-FFF2-40B4-BE49-F238E27FC236}">
                <a16:creationId xmlns:a16="http://schemas.microsoft.com/office/drawing/2014/main" id="{F41E1DE3-997F-43B2-8768-7AEFD0D188C6}"/>
              </a:ext>
            </a:extLst>
          </p:cNvPr>
          <p:cNvSpPr txBox="1">
            <a:spLocks/>
          </p:cNvSpPr>
          <p:nvPr/>
        </p:nvSpPr>
        <p:spPr>
          <a:xfrm>
            <a:off x="9371999" y="6025653"/>
            <a:ext cx="1322525" cy="15388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i="1" dirty="0">
                <a:solidFill>
                  <a:srgbClr val="046A38"/>
                </a:solidFill>
                <a:latin typeface="Verdana"/>
              </a:rPr>
              <a:t>Client: IOCL</a:t>
            </a:r>
          </a:p>
        </p:txBody>
      </p:sp>
      <p:sp>
        <p:nvSpPr>
          <p:cNvPr id="105" name="Text Placeholder 1">
            <a:extLst>
              <a:ext uri="{FF2B5EF4-FFF2-40B4-BE49-F238E27FC236}">
                <a16:creationId xmlns:a16="http://schemas.microsoft.com/office/drawing/2014/main" id="{22BF4A1A-580B-41E2-BF05-72ED8B437289}"/>
              </a:ext>
            </a:extLst>
          </p:cNvPr>
          <p:cNvSpPr txBox="1">
            <a:spLocks/>
          </p:cNvSpPr>
          <p:nvPr/>
        </p:nvSpPr>
        <p:spPr>
          <a:xfrm>
            <a:off x="1035150" y="5350852"/>
            <a:ext cx="1776568" cy="307777"/>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dirty="0">
                <a:solidFill>
                  <a:prstClr val="black"/>
                </a:solidFill>
                <a:latin typeface="Verdana"/>
              </a:rPr>
              <a:t>“Make in India” Roadmap for the Oil and Gas sector</a:t>
            </a:r>
          </a:p>
        </p:txBody>
      </p:sp>
      <p:sp>
        <p:nvSpPr>
          <p:cNvPr id="106" name="Text Placeholder 1">
            <a:extLst>
              <a:ext uri="{FF2B5EF4-FFF2-40B4-BE49-F238E27FC236}">
                <a16:creationId xmlns:a16="http://schemas.microsoft.com/office/drawing/2014/main" id="{C60B11FC-3BBB-4039-ABDD-5830F800C4FA}"/>
              </a:ext>
            </a:extLst>
          </p:cNvPr>
          <p:cNvSpPr txBox="1">
            <a:spLocks/>
          </p:cNvSpPr>
          <p:nvPr/>
        </p:nvSpPr>
        <p:spPr>
          <a:xfrm>
            <a:off x="3756820" y="5295320"/>
            <a:ext cx="1739776" cy="461665"/>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dirty="0">
                <a:solidFill>
                  <a:prstClr val="black"/>
                </a:solidFill>
                <a:latin typeface="Verdana"/>
              </a:rPr>
              <a:t>Preparation of Business plan of LNG in road transportation</a:t>
            </a:r>
          </a:p>
        </p:txBody>
      </p:sp>
      <p:sp>
        <p:nvSpPr>
          <p:cNvPr id="107" name="Text Placeholder 1">
            <a:extLst>
              <a:ext uri="{FF2B5EF4-FFF2-40B4-BE49-F238E27FC236}">
                <a16:creationId xmlns:a16="http://schemas.microsoft.com/office/drawing/2014/main" id="{D126F836-6D08-485F-BE23-4C9F81D3A9B1}"/>
              </a:ext>
            </a:extLst>
          </p:cNvPr>
          <p:cNvSpPr txBox="1">
            <a:spLocks/>
          </p:cNvSpPr>
          <p:nvPr/>
        </p:nvSpPr>
        <p:spPr>
          <a:xfrm>
            <a:off x="6074247" y="5355516"/>
            <a:ext cx="2581554" cy="461665"/>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dirty="0">
                <a:solidFill>
                  <a:prstClr val="black"/>
                </a:solidFill>
                <a:latin typeface="Verdana"/>
              </a:rPr>
              <a:t>Technology Partner for BPCL to attract, acquire and retain customers across downstream value chain</a:t>
            </a:r>
          </a:p>
        </p:txBody>
      </p:sp>
      <p:sp>
        <p:nvSpPr>
          <p:cNvPr id="108" name="Text Placeholder 1">
            <a:extLst>
              <a:ext uri="{FF2B5EF4-FFF2-40B4-BE49-F238E27FC236}">
                <a16:creationId xmlns:a16="http://schemas.microsoft.com/office/drawing/2014/main" id="{E2D2A87E-1A64-4C1E-8FAA-7E4D3EFC278D}"/>
              </a:ext>
            </a:extLst>
          </p:cNvPr>
          <p:cNvSpPr txBox="1">
            <a:spLocks/>
          </p:cNvSpPr>
          <p:nvPr/>
        </p:nvSpPr>
        <p:spPr>
          <a:xfrm>
            <a:off x="9409897" y="5417023"/>
            <a:ext cx="1246715" cy="15388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dirty="0">
                <a:solidFill>
                  <a:prstClr val="black"/>
                </a:solidFill>
                <a:latin typeface="Verdana"/>
              </a:rPr>
              <a:t>R&amp;D Strategy 2030</a:t>
            </a:r>
          </a:p>
        </p:txBody>
      </p:sp>
      <p:sp>
        <p:nvSpPr>
          <p:cNvPr id="109" name="Text Placeholder 1">
            <a:extLst>
              <a:ext uri="{FF2B5EF4-FFF2-40B4-BE49-F238E27FC236}">
                <a16:creationId xmlns:a16="http://schemas.microsoft.com/office/drawing/2014/main" id="{1DD43D18-F976-480D-9902-09E6CDC9BCE3}"/>
              </a:ext>
            </a:extLst>
          </p:cNvPr>
          <p:cNvSpPr txBox="1">
            <a:spLocks/>
          </p:cNvSpPr>
          <p:nvPr/>
        </p:nvSpPr>
        <p:spPr>
          <a:xfrm>
            <a:off x="1423565" y="5800136"/>
            <a:ext cx="929742" cy="153888"/>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(2016-2017)</a:t>
            </a:r>
          </a:p>
        </p:txBody>
      </p:sp>
      <p:sp>
        <p:nvSpPr>
          <p:cNvPr id="110" name="Text Placeholder 1">
            <a:extLst>
              <a:ext uri="{FF2B5EF4-FFF2-40B4-BE49-F238E27FC236}">
                <a16:creationId xmlns:a16="http://schemas.microsoft.com/office/drawing/2014/main" id="{A5F2A8BD-B06C-45A2-B4D8-92F5EB518766}"/>
              </a:ext>
            </a:extLst>
          </p:cNvPr>
          <p:cNvSpPr txBox="1">
            <a:spLocks/>
          </p:cNvSpPr>
          <p:nvPr/>
        </p:nvSpPr>
        <p:spPr>
          <a:xfrm>
            <a:off x="4121122" y="5797967"/>
            <a:ext cx="929742" cy="153888"/>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(2017-2018)</a:t>
            </a:r>
          </a:p>
        </p:txBody>
      </p:sp>
      <p:sp>
        <p:nvSpPr>
          <p:cNvPr id="111" name="Text Placeholder 1">
            <a:extLst>
              <a:ext uri="{FF2B5EF4-FFF2-40B4-BE49-F238E27FC236}">
                <a16:creationId xmlns:a16="http://schemas.microsoft.com/office/drawing/2014/main" id="{70168DC9-F316-4E46-BCE0-A8B01263BC0D}"/>
              </a:ext>
            </a:extLst>
          </p:cNvPr>
          <p:cNvSpPr txBox="1">
            <a:spLocks/>
          </p:cNvSpPr>
          <p:nvPr/>
        </p:nvSpPr>
        <p:spPr>
          <a:xfrm>
            <a:off x="6865114" y="5837954"/>
            <a:ext cx="929742" cy="153888"/>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(2019-2021)</a:t>
            </a:r>
          </a:p>
        </p:txBody>
      </p:sp>
      <p:sp>
        <p:nvSpPr>
          <p:cNvPr id="112" name="Text Placeholder 1">
            <a:extLst>
              <a:ext uri="{FF2B5EF4-FFF2-40B4-BE49-F238E27FC236}">
                <a16:creationId xmlns:a16="http://schemas.microsoft.com/office/drawing/2014/main" id="{6F5921AE-CAC3-495D-AB19-C07EEAA7B167}"/>
              </a:ext>
            </a:extLst>
          </p:cNvPr>
          <p:cNvSpPr txBox="1">
            <a:spLocks/>
          </p:cNvSpPr>
          <p:nvPr/>
        </p:nvSpPr>
        <p:spPr>
          <a:xfrm>
            <a:off x="9842694" y="5784205"/>
            <a:ext cx="503343" cy="153888"/>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(2019)</a:t>
            </a:r>
          </a:p>
        </p:txBody>
      </p:sp>
      <p:cxnSp>
        <p:nvCxnSpPr>
          <p:cNvPr id="113" name="Straight Connector 112">
            <a:extLst>
              <a:ext uri="{FF2B5EF4-FFF2-40B4-BE49-F238E27FC236}">
                <a16:creationId xmlns:a16="http://schemas.microsoft.com/office/drawing/2014/main" id="{84556561-23F4-472E-B57A-299BF111E139}"/>
              </a:ext>
            </a:extLst>
          </p:cNvPr>
          <p:cNvCxnSpPr/>
          <p:nvPr/>
        </p:nvCxnSpPr>
        <p:spPr>
          <a:xfrm>
            <a:off x="476408" y="2913451"/>
            <a:ext cx="10991692" cy="0"/>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0719897E-6C41-41B9-837E-A9F1D5DDE21E}"/>
              </a:ext>
            </a:extLst>
          </p:cNvPr>
          <p:cNvCxnSpPr/>
          <p:nvPr/>
        </p:nvCxnSpPr>
        <p:spPr>
          <a:xfrm>
            <a:off x="439389" y="4636610"/>
            <a:ext cx="10991692" cy="0"/>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86" name="Title 6">
            <a:extLst>
              <a:ext uri="{FF2B5EF4-FFF2-40B4-BE49-F238E27FC236}">
                <a16:creationId xmlns:a16="http://schemas.microsoft.com/office/drawing/2014/main" id="{DF96B62A-B857-4280-A528-10EBE8BE7EE6}"/>
              </a:ext>
            </a:extLst>
          </p:cNvPr>
          <p:cNvSpPr txBox="1">
            <a:spLocks/>
          </p:cNvSpPr>
          <p:nvPr/>
        </p:nvSpPr>
        <p:spPr bwMode="gray">
          <a:xfrm>
            <a:off x="538382" y="269246"/>
            <a:ext cx="10892699" cy="420021"/>
          </a:xfrm>
          <a:prstGeom prst="rect">
            <a:avLst/>
          </a:prstGeom>
        </p:spPr>
        <p:txBody>
          <a:bodyPr vert="horz" lIns="0" tIns="0" rIns="0" bIns="0" rtlCol="0" anchor="t" anchorCtr="0">
            <a:noAutofit/>
          </a:bodyPr>
          <a:lstStyle>
            <a:lvl1pPr algn="l" defTabSz="1554493" rtl="0" eaLnBrk="1" latinLnBrk="0" hangingPunct="1">
              <a:spcBef>
                <a:spcPct val="0"/>
              </a:spcBef>
              <a:buNone/>
              <a:defRPr sz="3400" kern="1200">
                <a:solidFill>
                  <a:schemeClr val="tx1"/>
                </a:solidFill>
                <a:latin typeface="+mj-lt"/>
                <a:ea typeface="+mj-ea"/>
                <a:cs typeface="+mj-cs"/>
              </a:defRPr>
            </a:lvl1pPr>
          </a:lstStyle>
          <a:p>
            <a:pPr algn="just" defTabSz="1059853"/>
            <a:r>
              <a:rPr lang="en-US" sz="1800" dirty="0">
                <a:solidFill>
                  <a:prstClr val="black"/>
                </a:solidFill>
              </a:rPr>
              <a:t>Experience of preparing Vision / Corporate plan / Strategy document for MOP / MNRE / MOC / MOPNG / PSUs in last 10 years (ref: Section-V of the RFP and Sl. No. 45 of the pre-bid clarifications)</a:t>
            </a:r>
            <a:endParaRPr lang="en-IN" sz="1800" dirty="0">
              <a:solidFill>
                <a:prstClr val="black"/>
              </a:solidFill>
            </a:endParaRPr>
          </a:p>
        </p:txBody>
      </p:sp>
    </p:spTree>
    <p:extLst>
      <p:ext uri="{BB962C8B-B14F-4D97-AF65-F5344CB8AC3E}">
        <p14:creationId xmlns:p14="http://schemas.microsoft.com/office/powerpoint/2010/main" val="360468527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5C178D6-57CB-4D54-B37D-EBC20852D467}"/>
              </a:ext>
            </a:extLst>
          </p:cNvPr>
          <p:cNvGrpSpPr/>
          <p:nvPr/>
        </p:nvGrpSpPr>
        <p:grpSpPr>
          <a:xfrm>
            <a:off x="426187" y="1132603"/>
            <a:ext cx="11203838" cy="4944347"/>
            <a:chOff x="988162" y="1323103"/>
            <a:chExt cx="10284545" cy="4445753"/>
          </a:xfrm>
        </p:grpSpPr>
        <p:sp>
          <p:nvSpPr>
            <p:cNvPr id="25" name="Round Diagonal Corner Rectangle 78">
              <a:extLst>
                <a:ext uri="{FF2B5EF4-FFF2-40B4-BE49-F238E27FC236}">
                  <a16:creationId xmlns:a16="http://schemas.microsoft.com/office/drawing/2014/main" id="{86E3C0F7-3A66-4CCF-9E64-AF734DB07F6C}"/>
                </a:ext>
              </a:extLst>
            </p:cNvPr>
            <p:cNvSpPr>
              <a:spLocks/>
            </p:cNvSpPr>
            <p:nvPr/>
          </p:nvSpPr>
          <p:spPr>
            <a:xfrm>
              <a:off x="3679853" y="1323103"/>
              <a:ext cx="2393465" cy="1987261"/>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26" name="Round Diagonal Corner Rectangle 86">
              <a:extLst>
                <a:ext uri="{FF2B5EF4-FFF2-40B4-BE49-F238E27FC236}">
                  <a16:creationId xmlns:a16="http://schemas.microsoft.com/office/drawing/2014/main" id="{F76B02D5-8E6C-43EB-B098-73DC6A97C89F}"/>
                </a:ext>
              </a:extLst>
            </p:cNvPr>
            <p:cNvSpPr>
              <a:spLocks/>
            </p:cNvSpPr>
            <p:nvPr/>
          </p:nvSpPr>
          <p:spPr>
            <a:xfrm>
              <a:off x="6224955" y="1323103"/>
              <a:ext cx="2393465" cy="1987261"/>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27" name="Round Diagonal Corner Rectangle 87">
              <a:extLst>
                <a:ext uri="{FF2B5EF4-FFF2-40B4-BE49-F238E27FC236}">
                  <a16:creationId xmlns:a16="http://schemas.microsoft.com/office/drawing/2014/main" id="{D95A32AA-35E6-419A-A965-3256B6AA6D87}"/>
                </a:ext>
              </a:extLst>
            </p:cNvPr>
            <p:cNvSpPr>
              <a:spLocks/>
            </p:cNvSpPr>
            <p:nvPr/>
          </p:nvSpPr>
          <p:spPr>
            <a:xfrm>
              <a:off x="8770056" y="1323103"/>
              <a:ext cx="2393465" cy="1987261"/>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28" name="Round Diagonal Corner Rectangle 88">
              <a:extLst>
                <a:ext uri="{FF2B5EF4-FFF2-40B4-BE49-F238E27FC236}">
                  <a16:creationId xmlns:a16="http://schemas.microsoft.com/office/drawing/2014/main" id="{2C9F1272-57ED-4BA7-8CC1-303CB99E7A67}"/>
                </a:ext>
              </a:extLst>
            </p:cNvPr>
            <p:cNvSpPr>
              <a:spLocks/>
            </p:cNvSpPr>
            <p:nvPr/>
          </p:nvSpPr>
          <p:spPr>
            <a:xfrm>
              <a:off x="1134750" y="3781595"/>
              <a:ext cx="2393465" cy="1987261"/>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29" name="Round Diagonal Corner Rectangle 89">
              <a:extLst>
                <a:ext uri="{FF2B5EF4-FFF2-40B4-BE49-F238E27FC236}">
                  <a16:creationId xmlns:a16="http://schemas.microsoft.com/office/drawing/2014/main" id="{13DD7ADD-949A-4186-9020-81B624F439BF}"/>
                </a:ext>
              </a:extLst>
            </p:cNvPr>
            <p:cNvSpPr>
              <a:spLocks/>
            </p:cNvSpPr>
            <p:nvPr/>
          </p:nvSpPr>
          <p:spPr>
            <a:xfrm>
              <a:off x="3679853" y="3781595"/>
              <a:ext cx="2393465" cy="1987261"/>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30" name="Round Diagonal Corner Rectangle 90">
              <a:extLst>
                <a:ext uri="{FF2B5EF4-FFF2-40B4-BE49-F238E27FC236}">
                  <a16:creationId xmlns:a16="http://schemas.microsoft.com/office/drawing/2014/main" id="{EFBB1828-5A3C-48F2-B836-F661A2A9D103}"/>
                </a:ext>
              </a:extLst>
            </p:cNvPr>
            <p:cNvSpPr>
              <a:spLocks/>
            </p:cNvSpPr>
            <p:nvPr/>
          </p:nvSpPr>
          <p:spPr>
            <a:xfrm>
              <a:off x="6224955" y="3781595"/>
              <a:ext cx="2393465" cy="1987261"/>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31" name="Round Diagonal Corner Rectangle 91">
              <a:extLst>
                <a:ext uri="{FF2B5EF4-FFF2-40B4-BE49-F238E27FC236}">
                  <a16:creationId xmlns:a16="http://schemas.microsoft.com/office/drawing/2014/main" id="{63294AD6-FDE0-47FF-A9ED-4C9C83758A57}"/>
                </a:ext>
              </a:extLst>
            </p:cNvPr>
            <p:cNvSpPr>
              <a:spLocks/>
            </p:cNvSpPr>
            <p:nvPr/>
          </p:nvSpPr>
          <p:spPr>
            <a:xfrm>
              <a:off x="8770056" y="3781595"/>
              <a:ext cx="2393465" cy="1987261"/>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32" name="Round Diagonal Corner Rectangle 5">
              <a:extLst>
                <a:ext uri="{FF2B5EF4-FFF2-40B4-BE49-F238E27FC236}">
                  <a16:creationId xmlns:a16="http://schemas.microsoft.com/office/drawing/2014/main" id="{E7E05838-6A68-4020-A271-22648A077AB1}"/>
                </a:ext>
              </a:extLst>
            </p:cNvPr>
            <p:cNvSpPr>
              <a:spLocks/>
            </p:cNvSpPr>
            <p:nvPr/>
          </p:nvSpPr>
          <p:spPr>
            <a:xfrm>
              <a:off x="1134750" y="1323103"/>
              <a:ext cx="2393465" cy="1987261"/>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pic>
          <p:nvPicPr>
            <p:cNvPr id="33" name="Picture 28" descr="WBSEDCL Recruitment 2020 Apply Online Job Vacancies 07 October 2020">
              <a:extLst>
                <a:ext uri="{FF2B5EF4-FFF2-40B4-BE49-F238E27FC236}">
                  <a16:creationId xmlns:a16="http://schemas.microsoft.com/office/drawing/2014/main" id="{73BD9C32-6A29-4C5C-B8C5-7E326C393ECF}"/>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284548" y="1399563"/>
              <a:ext cx="1184077" cy="73361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5" descr="Damodar Valley Corporation - Wikipedia">
              <a:extLst>
                <a:ext uri="{FF2B5EF4-FFF2-40B4-BE49-F238E27FC236}">
                  <a16:creationId xmlns:a16="http://schemas.microsoft.com/office/drawing/2014/main" id="{804C7F35-04FA-4B3E-9681-26704044A40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919219" y="3894680"/>
              <a:ext cx="721821" cy="859165"/>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A641E35F-3918-40A0-AC85-49B82D4F69A4}"/>
                </a:ext>
              </a:extLst>
            </p:cNvPr>
            <p:cNvSpPr/>
            <p:nvPr/>
          </p:nvSpPr>
          <p:spPr>
            <a:xfrm>
              <a:off x="1134747" y="4775227"/>
              <a:ext cx="2393464" cy="518887"/>
            </a:xfrm>
            <a:prstGeom prst="rect">
              <a:avLst/>
            </a:prstGeom>
          </p:spPr>
          <p:txBody>
            <a:bodyPr wrap="square">
              <a:spAutoFit/>
            </a:bodyPr>
            <a:lstStyle/>
            <a:p>
              <a:pPr algn="ctr" defTabSz="837848"/>
              <a:r>
                <a:rPr lang="en-US" sz="1050" dirty="0">
                  <a:solidFill>
                    <a:prstClr val="black"/>
                  </a:solidFill>
                  <a:latin typeface="Verdana"/>
                  <a:ea typeface="Calibri Light" panose="020F0302020204030204" pitchFamily="34" charset="0"/>
                  <a:cs typeface="Times New Roman" panose="02020603050405020304" pitchFamily="18" charset="0"/>
                </a:rPr>
                <a:t>Engagement of Tariff consultant firm for preparation of Generation, Transmission &amp; Distribution Tariff</a:t>
              </a:r>
              <a:endParaRPr lang="en-IN" sz="1050" dirty="0">
                <a:solidFill>
                  <a:prstClr val="black"/>
                </a:solidFill>
                <a:latin typeface="Verdana"/>
              </a:endParaRPr>
            </a:p>
          </p:txBody>
        </p:sp>
        <p:sp>
          <p:nvSpPr>
            <p:cNvPr id="36" name="Text Placeholder 1">
              <a:extLst>
                <a:ext uri="{FF2B5EF4-FFF2-40B4-BE49-F238E27FC236}">
                  <a16:creationId xmlns:a16="http://schemas.microsoft.com/office/drawing/2014/main" id="{60F174A2-AEB1-419C-A5A2-78C1FAD16126}"/>
                </a:ext>
              </a:extLst>
            </p:cNvPr>
            <p:cNvSpPr txBox="1">
              <a:spLocks/>
            </p:cNvSpPr>
            <p:nvPr/>
          </p:nvSpPr>
          <p:spPr>
            <a:xfrm>
              <a:off x="7176338" y="5319958"/>
              <a:ext cx="488530"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dirty="0">
                  <a:solidFill>
                    <a:prstClr val="black"/>
                  </a:solidFill>
                  <a:latin typeface="Verdana"/>
                </a:rPr>
                <a:t>(2019)</a:t>
              </a:r>
            </a:p>
          </p:txBody>
        </p:sp>
        <p:pic>
          <p:nvPicPr>
            <p:cNvPr id="37" name="Picture 39" descr="CESC Limited - Wikipedia">
              <a:extLst>
                <a:ext uri="{FF2B5EF4-FFF2-40B4-BE49-F238E27FC236}">
                  <a16:creationId xmlns:a16="http://schemas.microsoft.com/office/drawing/2014/main" id="{3F79A2EB-2ED4-4194-A3F3-2765BCA75B4D}"/>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596906" y="3954451"/>
              <a:ext cx="1705349" cy="688775"/>
            </a:xfrm>
            <a:prstGeom prst="rect">
              <a:avLst/>
            </a:prstGeom>
            <a:noFill/>
            <a:extLst>
              <a:ext uri="{909E8E84-426E-40DD-AFC4-6F175D3DCCD1}">
                <a14:hiddenFill xmlns:a14="http://schemas.microsoft.com/office/drawing/2010/main">
                  <a:solidFill>
                    <a:srgbClr val="FFFFFF"/>
                  </a:solidFill>
                </a14:hiddenFill>
              </a:ext>
            </a:extLst>
          </p:spPr>
        </p:pic>
        <p:sp>
          <p:nvSpPr>
            <p:cNvPr id="38" name="Text Placeholder 1">
              <a:extLst>
                <a:ext uri="{FF2B5EF4-FFF2-40B4-BE49-F238E27FC236}">
                  <a16:creationId xmlns:a16="http://schemas.microsoft.com/office/drawing/2014/main" id="{8236A8D6-2D54-4449-9F7E-EB85C99CC85D}"/>
                </a:ext>
              </a:extLst>
            </p:cNvPr>
            <p:cNvSpPr txBox="1">
              <a:spLocks/>
            </p:cNvSpPr>
            <p:nvPr/>
          </p:nvSpPr>
          <p:spPr>
            <a:xfrm>
              <a:off x="6224949" y="4817253"/>
              <a:ext cx="2393463" cy="290577"/>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Market Study for selection of Flue Gas Desulphurization (FGD) technology</a:t>
              </a:r>
              <a:endParaRPr lang="en-US" sz="1050" b="1" dirty="0">
                <a:solidFill>
                  <a:prstClr val="black"/>
                </a:solidFill>
                <a:latin typeface="Verdana"/>
              </a:endParaRPr>
            </a:p>
          </p:txBody>
        </p:sp>
        <p:sp>
          <p:nvSpPr>
            <p:cNvPr id="39" name="Text Placeholder 1">
              <a:extLst>
                <a:ext uri="{FF2B5EF4-FFF2-40B4-BE49-F238E27FC236}">
                  <a16:creationId xmlns:a16="http://schemas.microsoft.com/office/drawing/2014/main" id="{35B2191F-057D-4A93-B93F-3552D992141D}"/>
                </a:ext>
              </a:extLst>
            </p:cNvPr>
            <p:cNvSpPr txBox="1">
              <a:spLocks/>
            </p:cNvSpPr>
            <p:nvPr/>
          </p:nvSpPr>
          <p:spPr>
            <a:xfrm>
              <a:off x="9394168" y="5339024"/>
              <a:ext cx="1130092"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dirty="0">
                  <a:solidFill>
                    <a:prstClr val="black"/>
                  </a:solidFill>
                  <a:latin typeface="Verdana"/>
                </a:rPr>
                <a:t>(2019-Ongoing)</a:t>
              </a:r>
            </a:p>
          </p:txBody>
        </p:sp>
        <p:sp>
          <p:nvSpPr>
            <p:cNvPr id="40" name="Text Placeholder 1">
              <a:extLst>
                <a:ext uri="{FF2B5EF4-FFF2-40B4-BE49-F238E27FC236}">
                  <a16:creationId xmlns:a16="http://schemas.microsoft.com/office/drawing/2014/main" id="{DFC1496D-6F83-49B9-ABB1-A6144E3D68E4}"/>
                </a:ext>
              </a:extLst>
            </p:cNvPr>
            <p:cNvSpPr txBox="1">
              <a:spLocks/>
            </p:cNvSpPr>
            <p:nvPr/>
          </p:nvSpPr>
          <p:spPr>
            <a:xfrm>
              <a:off x="8770053" y="4879259"/>
              <a:ext cx="2393463" cy="290577"/>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Engagement of Regulatory Affairs Consultant under WBSETCL</a:t>
              </a:r>
              <a:endParaRPr lang="en-US" sz="1050" b="1" dirty="0">
                <a:solidFill>
                  <a:prstClr val="black"/>
                </a:solidFill>
                <a:latin typeface="Verdana"/>
              </a:endParaRPr>
            </a:p>
          </p:txBody>
        </p:sp>
        <p:pic>
          <p:nvPicPr>
            <p:cNvPr id="41" name="Picture 28" descr="WBSEDCL Recruitment 2020 Apply Online Job Vacancies 07 October 2020">
              <a:extLst>
                <a:ext uri="{FF2B5EF4-FFF2-40B4-BE49-F238E27FC236}">
                  <a16:creationId xmlns:a16="http://schemas.microsoft.com/office/drawing/2014/main" id="{E6902EAA-8E91-4DE7-8572-0FF539B74AD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717881" y="1399559"/>
              <a:ext cx="1184077" cy="73361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8" descr="WBSEDCL Recruitment 2020 Apply Online Job Vacancies 07 October 2020">
              <a:extLst>
                <a:ext uri="{FF2B5EF4-FFF2-40B4-BE49-F238E27FC236}">
                  <a16:creationId xmlns:a16="http://schemas.microsoft.com/office/drawing/2014/main" id="{19D56845-A885-499B-AAAF-8D97F115109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829649" y="1399563"/>
              <a:ext cx="1184077" cy="73361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8" descr="WBSEDCL Recruitment 2020 Apply Online Job Vacancies 07 October 2020">
              <a:extLst>
                <a:ext uri="{FF2B5EF4-FFF2-40B4-BE49-F238E27FC236}">
                  <a16:creationId xmlns:a16="http://schemas.microsoft.com/office/drawing/2014/main" id="{9E672169-608D-4645-B83A-D72EFA7D5AFE}"/>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9374752" y="1397239"/>
              <a:ext cx="1184077" cy="733612"/>
            </a:xfrm>
            <a:prstGeom prst="rect">
              <a:avLst/>
            </a:prstGeom>
            <a:noFill/>
            <a:extLst>
              <a:ext uri="{909E8E84-426E-40DD-AFC4-6F175D3DCCD1}">
                <a14:hiddenFill xmlns:a14="http://schemas.microsoft.com/office/drawing/2010/main">
                  <a:solidFill>
                    <a:srgbClr val="FFFFFF"/>
                  </a:solidFill>
                </a14:hiddenFill>
              </a:ext>
            </a:extLst>
          </p:spPr>
        </p:pic>
        <p:sp>
          <p:nvSpPr>
            <p:cNvPr id="44" name="Text Placeholder 1">
              <a:extLst>
                <a:ext uri="{FF2B5EF4-FFF2-40B4-BE49-F238E27FC236}">
                  <a16:creationId xmlns:a16="http://schemas.microsoft.com/office/drawing/2014/main" id="{BA7F13C6-5FE0-4F34-8E43-A8E9D3094162}"/>
                </a:ext>
              </a:extLst>
            </p:cNvPr>
            <p:cNvSpPr txBox="1">
              <a:spLocks/>
            </p:cNvSpPr>
            <p:nvPr/>
          </p:nvSpPr>
          <p:spPr>
            <a:xfrm>
              <a:off x="1134747" y="2190533"/>
              <a:ext cx="2393464" cy="581154"/>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Technical Assistance for Assessment of Financial Health of West Bengal State Electricity Distribution Company Ltd</a:t>
              </a:r>
              <a:endParaRPr lang="en-US" sz="1050" b="1" dirty="0">
                <a:solidFill>
                  <a:prstClr val="black"/>
                </a:solidFill>
                <a:latin typeface="Verdana"/>
              </a:endParaRPr>
            </a:p>
          </p:txBody>
        </p:sp>
        <p:sp>
          <p:nvSpPr>
            <p:cNvPr id="45" name="Text Placeholder 1">
              <a:extLst>
                <a:ext uri="{FF2B5EF4-FFF2-40B4-BE49-F238E27FC236}">
                  <a16:creationId xmlns:a16="http://schemas.microsoft.com/office/drawing/2014/main" id="{A13A8705-9216-424C-A073-A10C671494F8}"/>
                </a:ext>
              </a:extLst>
            </p:cNvPr>
            <p:cNvSpPr txBox="1">
              <a:spLocks/>
            </p:cNvSpPr>
            <p:nvPr/>
          </p:nvSpPr>
          <p:spPr>
            <a:xfrm>
              <a:off x="3679856" y="2293002"/>
              <a:ext cx="2393463" cy="435865"/>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Impact of Energy Transition on West Bengal State Electricity Distribution Company Ltd. </a:t>
              </a:r>
              <a:endParaRPr lang="en-US" sz="1050" b="1" dirty="0">
                <a:solidFill>
                  <a:prstClr val="black"/>
                </a:solidFill>
                <a:latin typeface="Verdana"/>
              </a:endParaRPr>
            </a:p>
          </p:txBody>
        </p:sp>
        <p:sp>
          <p:nvSpPr>
            <p:cNvPr id="46" name="Text Placeholder 1">
              <a:extLst>
                <a:ext uri="{FF2B5EF4-FFF2-40B4-BE49-F238E27FC236}">
                  <a16:creationId xmlns:a16="http://schemas.microsoft.com/office/drawing/2014/main" id="{546B6B9E-8DF1-4523-A320-20E8274500CE}"/>
                </a:ext>
              </a:extLst>
            </p:cNvPr>
            <p:cNvSpPr txBox="1">
              <a:spLocks/>
            </p:cNvSpPr>
            <p:nvPr/>
          </p:nvSpPr>
          <p:spPr>
            <a:xfrm>
              <a:off x="6224956" y="2293001"/>
              <a:ext cx="2393463" cy="435865"/>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Consultancy services for providing assistance to WBSEDCL in all regulatory areas on retainership basis</a:t>
              </a:r>
              <a:endParaRPr lang="en-US" sz="1050" b="1" dirty="0">
                <a:solidFill>
                  <a:prstClr val="black"/>
                </a:solidFill>
                <a:latin typeface="Verdana"/>
              </a:endParaRPr>
            </a:p>
          </p:txBody>
        </p:sp>
        <p:sp>
          <p:nvSpPr>
            <p:cNvPr id="47" name="Text Placeholder 1">
              <a:extLst>
                <a:ext uri="{FF2B5EF4-FFF2-40B4-BE49-F238E27FC236}">
                  <a16:creationId xmlns:a16="http://schemas.microsoft.com/office/drawing/2014/main" id="{6706CA88-0984-40B5-8C5E-C791EC55BB67}"/>
                </a:ext>
              </a:extLst>
            </p:cNvPr>
            <p:cNvSpPr txBox="1">
              <a:spLocks/>
            </p:cNvSpPr>
            <p:nvPr/>
          </p:nvSpPr>
          <p:spPr>
            <a:xfrm>
              <a:off x="8770053" y="2221744"/>
              <a:ext cx="2393463" cy="435865"/>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Assessment of Project Executing Agency for the Project “Renewable Power Plant”</a:t>
              </a:r>
              <a:endParaRPr lang="en-US" sz="1050" b="1" dirty="0">
                <a:solidFill>
                  <a:prstClr val="black"/>
                </a:solidFill>
                <a:latin typeface="Verdana"/>
              </a:endParaRPr>
            </a:p>
          </p:txBody>
        </p:sp>
        <p:sp>
          <p:nvSpPr>
            <p:cNvPr id="48" name="Text Placeholder 1">
              <a:extLst>
                <a:ext uri="{FF2B5EF4-FFF2-40B4-BE49-F238E27FC236}">
                  <a16:creationId xmlns:a16="http://schemas.microsoft.com/office/drawing/2014/main" id="{8A9237F4-2CCF-44E7-A491-F4BBC8DBA10F}"/>
                </a:ext>
              </a:extLst>
            </p:cNvPr>
            <p:cNvSpPr txBox="1">
              <a:spLocks/>
            </p:cNvSpPr>
            <p:nvPr/>
          </p:nvSpPr>
          <p:spPr>
            <a:xfrm>
              <a:off x="2087218" y="2854994"/>
              <a:ext cx="488530"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dirty="0">
                  <a:solidFill>
                    <a:prstClr val="black"/>
                  </a:solidFill>
                  <a:latin typeface="Verdana"/>
                </a:rPr>
                <a:t>(2019)</a:t>
              </a:r>
            </a:p>
          </p:txBody>
        </p:sp>
        <p:sp>
          <p:nvSpPr>
            <p:cNvPr id="49" name="Text Placeholder 1">
              <a:extLst>
                <a:ext uri="{FF2B5EF4-FFF2-40B4-BE49-F238E27FC236}">
                  <a16:creationId xmlns:a16="http://schemas.microsoft.com/office/drawing/2014/main" id="{94A7CFC4-1689-481F-AF79-ABF2B6BE66C2}"/>
                </a:ext>
              </a:extLst>
            </p:cNvPr>
            <p:cNvSpPr txBox="1">
              <a:spLocks/>
            </p:cNvSpPr>
            <p:nvPr/>
          </p:nvSpPr>
          <p:spPr>
            <a:xfrm>
              <a:off x="4632320" y="2853345"/>
              <a:ext cx="488530"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dirty="0">
                  <a:solidFill>
                    <a:prstClr val="black"/>
                  </a:solidFill>
                  <a:latin typeface="Verdana"/>
                </a:rPr>
                <a:t>(2020)</a:t>
              </a:r>
            </a:p>
          </p:txBody>
        </p:sp>
        <p:sp>
          <p:nvSpPr>
            <p:cNvPr id="50" name="Text Placeholder 1">
              <a:extLst>
                <a:ext uri="{FF2B5EF4-FFF2-40B4-BE49-F238E27FC236}">
                  <a16:creationId xmlns:a16="http://schemas.microsoft.com/office/drawing/2014/main" id="{19BDE6D9-65C2-4DB3-A353-DE9D0663A76B}"/>
                </a:ext>
              </a:extLst>
            </p:cNvPr>
            <p:cNvSpPr txBox="1">
              <a:spLocks/>
            </p:cNvSpPr>
            <p:nvPr/>
          </p:nvSpPr>
          <p:spPr>
            <a:xfrm>
              <a:off x="6971413" y="2854997"/>
              <a:ext cx="900543"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dirty="0">
                  <a:solidFill>
                    <a:prstClr val="black"/>
                  </a:solidFill>
                  <a:latin typeface="Verdana"/>
                </a:rPr>
                <a:t>(2015-2019)</a:t>
              </a:r>
            </a:p>
          </p:txBody>
        </p:sp>
        <p:sp>
          <p:nvSpPr>
            <p:cNvPr id="51" name="Text Placeholder 1">
              <a:extLst>
                <a:ext uri="{FF2B5EF4-FFF2-40B4-BE49-F238E27FC236}">
                  <a16:creationId xmlns:a16="http://schemas.microsoft.com/office/drawing/2014/main" id="{C2C2CD74-8A13-405C-8197-7F49A114F90D}"/>
                </a:ext>
              </a:extLst>
            </p:cNvPr>
            <p:cNvSpPr txBox="1">
              <a:spLocks/>
            </p:cNvSpPr>
            <p:nvPr/>
          </p:nvSpPr>
          <p:spPr>
            <a:xfrm>
              <a:off x="9508949" y="2833657"/>
              <a:ext cx="900543"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dirty="0">
                  <a:solidFill>
                    <a:prstClr val="black"/>
                  </a:solidFill>
                  <a:latin typeface="Verdana"/>
                </a:rPr>
                <a:t>(2019-2020)</a:t>
              </a:r>
            </a:p>
          </p:txBody>
        </p:sp>
        <p:sp>
          <p:nvSpPr>
            <p:cNvPr id="52" name="Text Placeholder 1">
              <a:extLst>
                <a:ext uri="{FF2B5EF4-FFF2-40B4-BE49-F238E27FC236}">
                  <a16:creationId xmlns:a16="http://schemas.microsoft.com/office/drawing/2014/main" id="{368415F9-372C-4EA6-97F8-DD139443E2B8}"/>
                </a:ext>
              </a:extLst>
            </p:cNvPr>
            <p:cNvSpPr txBox="1">
              <a:spLocks/>
            </p:cNvSpPr>
            <p:nvPr/>
          </p:nvSpPr>
          <p:spPr>
            <a:xfrm>
              <a:off x="1510910" y="3090817"/>
              <a:ext cx="1598021"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i="1" dirty="0">
                  <a:solidFill>
                    <a:srgbClr val="046A38"/>
                  </a:solidFill>
                  <a:latin typeface="Verdana"/>
                </a:rPr>
                <a:t>Client: The World Bank</a:t>
              </a:r>
            </a:p>
          </p:txBody>
        </p:sp>
        <p:sp>
          <p:nvSpPr>
            <p:cNvPr id="53" name="Text Placeholder 1">
              <a:extLst>
                <a:ext uri="{FF2B5EF4-FFF2-40B4-BE49-F238E27FC236}">
                  <a16:creationId xmlns:a16="http://schemas.microsoft.com/office/drawing/2014/main" id="{89BDB4BD-9688-4ECA-B537-6FA2C37EDCC4}"/>
                </a:ext>
              </a:extLst>
            </p:cNvPr>
            <p:cNvSpPr txBox="1">
              <a:spLocks/>
            </p:cNvSpPr>
            <p:nvPr/>
          </p:nvSpPr>
          <p:spPr>
            <a:xfrm>
              <a:off x="4086460" y="3018177"/>
              <a:ext cx="1580251" cy="290577"/>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i="1" dirty="0">
                  <a:solidFill>
                    <a:srgbClr val="046A38"/>
                  </a:solidFill>
                  <a:latin typeface="Verdana"/>
                </a:rPr>
                <a:t>Client: The World Bank</a:t>
              </a:r>
            </a:p>
          </p:txBody>
        </p:sp>
        <p:sp>
          <p:nvSpPr>
            <p:cNvPr id="54" name="Text Placeholder 1">
              <a:extLst>
                <a:ext uri="{FF2B5EF4-FFF2-40B4-BE49-F238E27FC236}">
                  <a16:creationId xmlns:a16="http://schemas.microsoft.com/office/drawing/2014/main" id="{351443A7-048F-4F20-93EE-79C9AF3DFBC3}"/>
                </a:ext>
              </a:extLst>
            </p:cNvPr>
            <p:cNvSpPr txBox="1">
              <a:spLocks/>
            </p:cNvSpPr>
            <p:nvPr/>
          </p:nvSpPr>
          <p:spPr>
            <a:xfrm>
              <a:off x="6834220" y="3072214"/>
              <a:ext cx="1172765"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i="1" dirty="0">
                  <a:solidFill>
                    <a:srgbClr val="046A38"/>
                  </a:solidFill>
                  <a:latin typeface="Verdana"/>
                </a:rPr>
                <a:t>Client: WBSEDCL</a:t>
              </a:r>
            </a:p>
          </p:txBody>
        </p:sp>
        <p:sp>
          <p:nvSpPr>
            <p:cNvPr id="55" name="Text Placeholder 1">
              <a:extLst>
                <a:ext uri="{FF2B5EF4-FFF2-40B4-BE49-F238E27FC236}">
                  <a16:creationId xmlns:a16="http://schemas.microsoft.com/office/drawing/2014/main" id="{BB6B5B9B-534A-4823-80EA-3F5C7EA4AED4}"/>
                </a:ext>
              </a:extLst>
            </p:cNvPr>
            <p:cNvSpPr txBox="1">
              <a:spLocks/>
            </p:cNvSpPr>
            <p:nvPr/>
          </p:nvSpPr>
          <p:spPr>
            <a:xfrm>
              <a:off x="9588447" y="3053159"/>
              <a:ext cx="781353"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i="1" dirty="0">
                  <a:solidFill>
                    <a:srgbClr val="046A38"/>
                  </a:solidFill>
                  <a:latin typeface="Verdana"/>
                </a:rPr>
                <a:t>Client: </a:t>
              </a:r>
              <a:r>
                <a:rPr lang="en-US" sz="1050" b="1" i="1" dirty="0" err="1">
                  <a:solidFill>
                    <a:srgbClr val="046A38"/>
                  </a:solidFill>
                  <a:latin typeface="Verdana"/>
                </a:rPr>
                <a:t>KfW</a:t>
              </a:r>
              <a:endParaRPr lang="en-US" sz="1050" b="1" i="1" dirty="0">
                <a:solidFill>
                  <a:srgbClr val="046A38"/>
                </a:solidFill>
                <a:latin typeface="Verdana"/>
              </a:endParaRPr>
            </a:p>
          </p:txBody>
        </p:sp>
        <p:pic>
          <p:nvPicPr>
            <p:cNvPr id="56" name="Picture 35" descr="Damodar Valley Corporation - Wikipedia">
              <a:extLst>
                <a:ext uri="{FF2B5EF4-FFF2-40B4-BE49-F238E27FC236}">
                  <a16:creationId xmlns:a16="http://schemas.microsoft.com/office/drawing/2014/main" id="{6CA737ED-5251-4B28-8353-C7F68B4FD689}"/>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464307" y="3894684"/>
              <a:ext cx="721821" cy="859165"/>
            </a:xfrm>
            <a:prstGeom prst="rect">
              <a:avLst/>
            </a:prstGeom>
            <a:noFill/>
            <a:extLst>
              <a:ext uri="{909E8E84-426E-40DD-AFC4-6F175D3DCCD1}">
                <a14:hiddenFill xmlns:a14="http://schemas.microsoft.com/office/drawing/2010/main">
                  <a:solidFill>
                    <a:srgbClr val="FFFFFF"/>
                  </a:solidFill>
                </a14:hiddenFill>
              </a:ext>
            </a:extLst>
          </p:spPr>
        </p:pic>
        <p:sp>
          <p:nvSpPr>
            <p:cNvPr id="57" name="Text Placeholder 1">
              <a:extLst>
                <a:ext uri="{FF2B5EF4-FFF2-40B4-BE49-F238E27FC236}">
                  <a16:creationId xmlns:a16="http://schemas.microsoft.com/office/drawing/2014/main" id="{C60F91C9-5475-4AA2-B52E-B29F59CCC96B}"/>
                </a:ext>
              </a:extLst>
            </p:cNvPr>
            <p:cNvSpPr txBox="1">
              <a:spLocks/>
            </p:cNvSpPr>
            <p:nvPr/>
          </p:nvSpPr>
          <p:spPr>
            <a:xfrm>
              <a:off x="3676217" y="4808124"/>
              <a:ext cx="2380572" cy="435865"/>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Due Diligence with respect to revival of 1320 MW Raghunathpur Thermal Power Station Phase II</a:t>
              </a:r>
              <a:endParaRPr lang="en-US" sz="1050" b="1" dirty="0">
                <a:solidFill>
                  <a:prstClr val="black"/>
                </a:solidFill>
                <a:latin typeface="Verdana"/>
              </a:endParaRPr>
            </a:p>
          </p:txBody>
        </p:sp>
        <p:sp>
          <p:nvSpPr>
            <p:cNvPr id="58" name="Text Placeholder 1">
              <a:extLst>
                <a:ext uri="{FF2B5EF4-FFF2-40B4-BE49-F238E27FC236}">
                  <a16:creationId xmlns:a16="http://schemas.microsoft.com/office/drawing/2014/main" id="{66B7F878-FB7B-4010-9943-126FE55FECC7}"/>
                </a:ext>
              </a:extLst>
            </p:cNvPr>
            <p:cNvSpPr txBox="1">
              <a:spLocks/>
            </p:cNvSpPr>
            <p:nvPr/>
          </p:nvSpPr>
          <p:spPr>
            <a:xfrm>
              <a:off x="1715082" y="5334323"/>
              <a:ext cx="1130092"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dirty="0">
                  <a:solidFill>
                    <a:prstClr val="black"/>
                  </a:solidFill>
                  <a:latin typeface="Verdana"/>
                </a:rPr>
                <a:t>(2019-Ongoing)</a:t>
              </a:r>
            </a:p>
          </p:txBody>
        </p:sp>
        <p:sp>
          <p:nvSpPr>
            <p:cNvPr id="59" name="Text Placeholder 1">
              <a:extLst>
                <a:ext uri="{FF2B5EF4-FFF2-40B4-BE49-F238E27FC236}">
                  <a16:creationId xmlns:a16="http://schemas.microsoft.com/office/drawing/2014/main" id="{9D8563BA-597E-488C-9135-9B6C19432997}"/>
                </a:ext>
              </a:extLst>
            </p:cNvPr>
            <p:cNvSpPr txBox="1">
              <a:spLocks/>
            </p:cNvSpPr>
            <p:nvPr/>
          </p:nvSpPr>
          <p:spPr>
            <a:xfrm>
              <a:off x="1582650" y="5551720"/>
              <a:ext cx="1394958"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i="1" dirty="0">
                  <a:solidFill>
                    <a:srgbClr val="046A38"/>
                  </a:solidFill>
                  <a:latin typeface="Verdana"/>
                </a:rPr>
                <a:t>Client: DVC, Kolkata</a:t>
              </a:r>
            </a:p>
          </p:txBody>
        </p:sp>
        <p:sp>
          <p:nvSpPr>
            <p:cNvPr id="60" name="Text Placeholder 1">
              <a:extLst>
                <a:ext uri="{FF2B5EF4-FFF2-40B4-BE49-F238E27FC236}">
                  <a16:creationId xmlns:a16="http://schemas.microsoft.com/office/drawing/2014/main" id="{4DA9D8AA-6191-433D-84A2-408C198901E9}"/>
                </a:ext>
              </a:extLst>
            </p:cNvPr>
            <p:cNvSpPr txBox="1">
              <a:spLocks/>
            </p:cNvSpPr>
            <p:nvPr/>
          </p:nvSpPr>
          <p:spPr>
            <a:xfrm>
              <a:off x="4070678" y="5551723"/>
              <a:ext cx="1394958"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i="1" dirty="0">
                  <a:solidFill>
                    <a:srgbClr val="046A38"/>
                  </a:solidFill>
                  <a:latin typeface="Verdana"/>
                </a:rPr>
                <a:t>Client: DVC, Kolkata</a:t>
              </a:r>
            </a:p>
          </p:txBody>
        </p:sp>
        <p:sp>
          <p:nvSpPr>
            <p:cNvPr id="61" name="Text Placeholder 1">
              <a:extLst>
                <a:ext uri="{FF2B5EF4-FFF2-40B4-BE49-F238E27FC236}">
                  <a16:creationId xmlns:a16="http://schemas.microsoft.com/office/drawing/2014/main" id="{322A619B-B5BA-4630-A9EE-AD72BBD9B2EB}"/>
                </a:ext>
              </a:extLst>
            </p:cNvPr>
            <p:cNvSpPr txBox="1">
              <a:spLocks/>
            </p:cNvSpPr>
            <p:nvPr/>
          </p:nvSpPr>
          <p:spPr>
            <a:xfrm>
              <a:off x="4374946" y="5329737"/>
              <a:ext cx="900543"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dirty="0">
                  <a:solidFill>
                    <a:prstClr val="black"/>
                  </a:solidFill>
                  <a:latin typeface="Verdana"/>
                </a:rPr>
                <a:t>(2018-2019)</a:t>
              </a:r>
            </a:p>
          </p:txBody>
        </p:sp>
        <p:sp>
          <p:nvSpPr>
            <p:cNvPr id="62" name="Text Placeholder 1">
              <a:extLst>
                <a:ext uri="{FF2B5EF4-FFF2-40B4-BE49-F238E27FC236}">
                  <a16:creationId xmlns:a16="http://schemas.microsoft.com/office/drawing/2014/main" id="{9A4DE7EB-D3FF-44F0-98F2-03257BB4A452}"/>
                </a:ext>
              </a:extLst>
            </p:cNvPr>
            <p:cNvSpPr txBox="1">
              <a:spLocks/>
            </p:cNvSpPr>
            <p:nvPr/>
          </p:nvSpPr>
          <p:spPr>
            <a:xfrm>
              <a:off x="6843048" y="5522845"/>
              <a:ext cx="1155108"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i="1" dirty="0">
                  <a:solidFill>
                    <a:srgbClr val="046A38"/>
                  </a:solidFill>
                  <a:latin typeface="Verdana"/>
                </a:rPr>
                <a:t>Client: CESC Ltd.</a:t>
              </a:r>
            </a:p>
          </p:txBody>
        </p:sp>
        <p:sp>
          <p:nvSpPr>
            <p:cNvPr id="63" name="Text Placeholder 1">
              <a:extLst>
                <a:ext uri="{FF2B5EF4-FFF2-40B4-BE49-F238E27FC236}">
                  <a16:creationId xmlns:a16="http://schemas.microsoft.com/office/drawing/2014/main" id="{613F8A1C-9D04-4372-9144-5D1112646BD0}"/>
                </a:ext>
              </a:extLst>
            </p:cNvPr>
            <p:cNvSpPr txBox="1">
              <a:spLocks/>
            </p:cNvSpPr>
            <p:nvPr/>
          </p:nvSpPr>
          <p:spPr>
            <a:xfrm>
              <a:off x="9382398" y="5551723"/>
              <a:ext cx="1153635" cy="145289"/>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i="1" dirty="0">
                  <a:solidFill>
                    <a:srgbClr val="046A38"/>
                  </a:solidFill>
                  <a:latin typeface="Verdana"/>
                </a:rPr>
                <a:t>Client: WBSETCL</a:t>
              </a:r>
            </a:p>
          </p:txBody>
        </p:sp>
        <p:pic>
          <p:nvPicPr>
            <p:cNvPr id="64" name="Picture 63" descr="Shape, logo&#10;&#10;Description automatically generated">
              <a:extLst>
                <a:ext uri="{FF2B5EF4-FFF2-40B4-BE49-F238E27FC236}">
                  <a16:creationId xmlns:a16="http://schemas.microsoft.com/office/drawing/2014/main" id="{6776A2DB-ED2F-4AAD-B050-B0C4726CC5A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476360" y="3779049"/>
              <a:ext cx="965710" cy="1034114"/>
            </a:xfrm>
            <a:prstGeom prst="rect">
              <a:avLst/>
            </a:prstGeom>
          </p:spPr>
        </p:pic>
        <p:cxnSp>
          <p:nvCxnSpPr>
            <p:cNvPr id="66" name="Straight Connector 65">
              <a:extLst>
                <a:ext uri="{FF2B5EF4-FFF2-40B4-BE49-F238E27FC236}">
                  <a16:creationId xmlns:a16="http://schemas.microsoft.com/office/drawing/2014/main" id="{20901A5F-20F2-462F-A474-966F6393F02E}"/>
                </a:ext>
              </a:extLst>
            </p:cNvPr>
            <p:cNvCxnSpPr/>
            <p:nvPr/>
          </p:nvCxnSpPr>
          <p:spPr>
            <a:xfrm>
              <a:off x="988162" y="3580201"/>
              <a:ext cx="10284545" cy="0"/>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sp>
        <p:nvSpPr>
          <p:cNvPr id="67" name="Title 6">
            <a:extLst>
              <a:ext uri="{FF2B5EF4-FFF2-40B4-BE49-F238E27FC236}">
                <a16:creationId xmlns:a16="http://schemas.microsoft.com/office/drawing/2014/main" id="{09ED8BB0-F524-48EC-904A-2166BDF92B4F}"/>
              </a:ext>
            </a:extLst>
          </p:cNvPr>
          <p:cNvSpPr txBox="1">
            <a:spLocks/>
          </p:cNvSpPr>
          <p:nvPr/>
        </p:nvSpPr>
        <p:spPr bwMode="gray">
          <a:xfrm>
            <a:off x="538383" y="269246"/>
            <a:ext cx="11091642" cy="420021"/>
          </a:xfrm>
          <a:prstGeom prst="rect">
            <a:avLst/>
          </a:prstGeom>
        </p:spPr>
        <p:txBody>
          <a:bodyPr vert="horz" lIns="0" tIns="0" rIns="0" bIns="0" rtlCol="0" anchor="t" anchorCtr="0">
            <a:noAutofit/>
          </a:bodyPr>
          <a:lstStyle>
            <a:lvl1pPr algn="l" defTabSz="1554493" rtl="0" eaLnBrk="1" latinLnBrk="0" hangingPunct="1">
              <a:spcBef>
                <a:spcPct val="0"/>
              </a:spcBef>
              <a:buNone/>
              <a:defRPr sz="3400" kern="1200">
                <a:solidFill>
                  <a:schemeClr val="tx1"/>
                </a:solidFill>
                <a:latin typeface="+mj-lt"/>
                <a:ea typeface="+mj-ea"/>
                <a:cs typeface="+mj-cs"/>
              </a:defRPr>
            </a:lvl1pPr>
          </a:lstStyle>
          <a:p>
            <a:pPr algn="just" defTabSz="1059853"/>
            <a:r>
              <a:rPr lang="en-US" sz="1800" dirty="0">
                <a:solidFill>
                  <a:prstClr val="black"/>
                </a:solidFill>
              </a:rPr>
              <a:t>Experience of working in the Power Sector value chain within West Bengal in last 5 years (ref: Section-V of the RFP)</a:t>
            </a:r>
            <a:endParaRPr lang="en-IN" sz="1800" dirty="0">
              <a:solidFill>
                <a:prstClr val="black"/>
              </a:solidFill>
            </a:endParaRPr>
          </a:p>
        </p:txBody>
      </p:sp>
    </p:spTree>
    <p:extLst>
      <p:ext uri="{BB962C8B-B14F-4D97-AF65-F5344CB8AC3E}">
        <p14:creationId xmlns:p14="http://schemas.microsoft.com/office/powerpoint/2010/main" val="274253135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88FA700-6B92-4C7C-9B48-543B8E833D6E}"/>
              </a:ext>
            </a:extLst>
          </p:cNvPr>
          <p:cNvGrpSpPr/>
          <p:nvPr/>
        </p:nvGrpSpPr>
        <p:grpSpPr>
          <a:xfrm>
            <a:off x="572104" y="689268"/>
            <a:ext cx="11081513" cy="5759158"/>
            <a:chOff x="930148" y="867642"/>
            <a:chExt cx="10332877" cy="5506629"/>
          </a:xfrm>
        </p:grpSpPr>
        <p:sp>
          <p:nvSpPr>
            <p:cNvPr id="4" name="Round Diagonal Corner Rectangle 78">
              <a:extLst>
                <a:ext uri="{FF2B5EF4-FFF2-40B4-BE49-F238E27FC236}">
                  <a16:creationId xmlns:a16="http://schemas.microsoft.com/office/drawing/2014/main" id="{9B565729-4575-4AE6-A9BF-85F6D374F336}"/>
                </a:ext>
              </a:extLst>
            </p:cNvPr>
            <p:cNvSpPr>
              <a:spLocks/>
            </p:cNvSpPr>
            <p:nvPr/>
          </p:nvSpPr>
          <p:spPr>
            <a:xfrm>
              <a:off x="3546252" y="867643"/>
              <a:ext cx="2442273" cy="1623008"/>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5" name="Round Diagonal Corner Rectangle 86">
              <a:extLst>
                <a:ext uri="{FF2B5EF4-FFF2-40B4-BE49-F238E27FC236}">
                  <a16:creationId xmlns:a16="http://schemas.microsoft.com/office/drawing/2014/main" id="{0BBCFEBA-7CD7-4DD3-9C52-2CD3BBEF96F1}"/>
                </a:ext>
              </a:extLst>
            </p:cNvPr>
            <p:cNvSpPr>
              <a:spLocks/>
            </p:cNvSpPr>
            <p:nvPr/>
          </p:nvSpPr>
          <p:spPr>
            <a:xfrm>
              <a:off x="6141843" y="867643"/>
              <a:ext cx="2442273" cy="1623008"/>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6" name="Round Diagonal Corner Rectangle 88">
              <a:extLst>
                <a:ext uri="{FF2B5EF4-FFF2-40B4-BE49-F238E27FC236}">
                  <a16:creationId xmlns:a16="http://schemas.microsoft.com/office/drawing/2014/main" id="{B08C7995-CB2C-4A6B-909E-BE6A5E95ED64}"/>
                </a:ext>
              </a:extLst>
            </p:cNvPr>
            <p:cNvSpPr>
              <a:spLocks/>
            </p:cNvSpPr>
            <p:nvPr/>
          </p:nvSpPr>
          <p:spPr>
            <a:xfrm>
              <a:off x="8721213" y="867643"/>
              <a:ext cx="2442273" cy="1623008"/>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7" name="Round Diagonal Corner Rectangle 89">
              <a:extLst>
                <a:ext uri="{FF2B5EF4-FFF2-40B4-BE49-F238E27FC236}">
                  <a16:creationId xmlns:a16="http://schemas.microsoft.com/office/drawing/2014/main" id="{E1ADB948-3E43-431F-88B9-E17BD2D1BECC}"/>
                </a:ext>
              </a:extLst>
            </p:cNvPr>
            <p:cNvSpPr>
              <a:spLocks/>
            </p:cNvSpPr>
            <p:nvPr/>
          </p:nvSpPr>
          <p:spPr>
            <a:xfrm>
              <a:off x="978480" y="2764114"/>
              <a:ext cx="2442273" cy="1623008"/>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8" name="Round Diagonal Corner Rectangle 90">
              <a:extLst>
                <a:ext uri="{FF2B5EF4-FFF2-40B4-BE49-F238E27FC236}">
                  <a16:creationId xmlns:a16="http://schemas.microsoft.com/office/drawing/2014/main" id="{E921FCA6-26B1-4542-9CAB-B70ACF69F6E9}"/>
                </a:ext>
              </a:extLst>
            </p:cNvPr>
            <p:cNvSpPr>
              <a:spLocks/>
            </p:cNvSpPr>
            <p:nvPr/>
          </p:nvSpPr>
          <p:spPr>
            <a:xfrm>
              <a:off x="3546253" y="2764114"/>
              <a:ext cx="2442273" cy="1623008"/>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9" name="Round Diagonal Corner Rectangle 5">
              <a:extLst>
                <a:ext uri="{FF2B5EF4-FFF2-40B4-BE49-F238E27FC236}">
                  <a16:creationId xmlns:a16="http://schemas.microsoft.com/office/drawing/2014/main" id="{2975D227-42C2-464E-A7F4-628A6B811DAD}"/>
                </a:ext>
              </a:extLst>
            </p:cNvPr>
            <p:cNvSpPr>
              <a:spLocks/>
            </p:cNvSpPr>
            <p:nvPr/>
          </p:nvSpPr>
          <p:spPr>
            <a:xfrm>
              <a:off x="978479" y="867642"/>
              <a:ext cx="2441455" cy="1623008"/>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10" name="Text Placeholder 1">
              <a:extLst>
                <a:ext uri="{FF2B5EF4-FFF2-40B4-BE49-F238E27FC236}">
                  <a16:creationId xmlns:a16="http://schemas.microsoft.com/office/drawing/2014/main" id="{FEC725FC-D658-4580-A15A-3CD37C87ABF5}"/>
                </a:ext>
              </a:extLst>
            </p:cNvPr>
            <p:cNvSpPr txBox="1">
              <a:spLocks/>
            </p:cNvSpPr>
            <p:nvPr/>
          </p:nvSpPr>
          <p:spPr>
            <a:xfrm>
              <a:off x="1645068" y="882901"/>
              <a:ext cx="1086654" cy="145933"/>
            </a:xfrm>
            <a:prstGeom prst="rect">
              <a:avLst/>
            </a:prstGeom>
            <a:noFill/>
            <a:ln>
              <a:noFill/>
            </a:ln>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srgbClr val="046A38"/>
                  </a:solidFill>
                  <a:latin typeface="Verdana"/>
                </a:rPr>
                <a:t>GEDCOL, Odisha</a:t>
              </a:r>
            </a:p>
          </p:txBody>
        </p:sp>
        <p:pic>
          <p:nvPicPr>
            <p:cNvPr id="11" name="Picture 33" descr="Untitled">
              <a:extLst>
                <a:ext uri="{FF2B5EF4-FFF2-40B4-BE49-F238E27FC236}">
                  <a16:creationId xmlns:a16="http://schemas.microsoft.com/office/drawing/2014/main" id="{E341C159-0F9F-4EF5-8360-75BC86C0B577}"/>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842981" y="1028456"/>
              <a:ext cx="690822" cy="719268"/>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1">
              <a:extLst>
                <a:ext uri="{FF2B5EF4-FFF2-40B4-BE49-F238E27FC236}">
                  <a16:creationId xmlns:a16="http://schemas.microsoft.com/office/drawing/2014/main" id="{E993D8A5-CB5E-4B03-BCF2-1480E493EB95}"/>
                </a:ext>
              </a:extLst>
            </p:cNvPr>
            <p:cNvSpPr txBox="1">
              <a:spLocks/>
            </p:cNvSpPr>
            <p:nvPr/>
          </p:nvSpPr>
          <p:spPr>
            <a:xfrm>
              <a:off x="998244" y="1750684"/>
              <a:ext cx="2479839" cy="29186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dirty="0">
                  <a:solidFill>
                    <a:prstClr val="black"/>
                  </a:solidFill>
                  <a:latin typeface="Verdana"/>
                </a:rPr>
                <a:t>Commercial and Regulatory due diligence for Solar park in Odisha</a:t>
              </a:r>
              <a:endParaRPr lang="en-US" sz="1000" b="1" dirty="0">
                <a:solidFill>
                  <a:prstClr val="black"/>
                </a:solidFill>
                <a:latin typeface="Verdana"/>
              </a:endParaRPr>
            </a:p>
          </p:txBody>
        </p:sp>
        <p:sp>
          <p:nvSpPr>
            <p:cNvPr id="13" name="Text Placeholder 1">
              <a:extLst>
                <a:ext uri="{FF2B5EF4-FFF2-40B4-BE49-F238E27FC236}">
                  <a16:creationId xmlns:a16="http://schemas.microsoft.com/office/drawing/2014/main" id="{35B08D80-F0A4-44F7-92EB-609EE0FEBAD4}"/>
                </a:ext>
              </a:extLst>
            </p:cNvPr>
            <p:cNvSpPr txBox="1">
              <a:spLocks/>
            </p:cNvSpPr>
            <p:nvPr/>
          </p:nvSpPr>
          <p:spPr>
            <a:xfrm>
              <a:off x="1953730" y="2073913"/>
              <a:ext cx="469339"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(2018)</a:t>
              </a:r>
            </a:p>
          </p:txBody>
        </p:sp>
        <p:sp>
          <p:nvSpPr>
            <p:cNvPr id="14" name="Text Placeholder 1">
              <a:extLst>
                <a:ext uri="{FF2B5EF4-FFF2-40B4-BE49-F238E27FC236}">
                  <a16:creationId xmlns:a16="http://schemas.microsoft.com/office/drawing/2014/main" id="{064CF559-4BD8-4BED-9DE1-86CDBF3237D3}"/>
                </a:ext>
              </a:extLst>
            </p:cNvPr>
            <p:cNvSpPr txBox="1">
              <a:spLocks/>
            </p:cNvSpPr>
            <p:nvPr/>
          </p:nvSpPr>
          <p:spPr>
            <a:xfrm>
              <a:off x="1836397" y="2244366"/>
              <a:ext cx="704008"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b="1" i="1" dirty="0">
                  <a:solidFill>
                    <a:srgbClr val="046A38"/>
                  </a:solidFill>
                  <a:latin typeface="Verdana"/>
                </a:rPr>
                <a:t>Client: IFC</a:t>
              </a:r>
              <a:endParaRPr lang="en-US" sz="1000" b="1" i="1" dirty="0">
                <a:solidFill>
                  <a:srgbClr val="046A38"/>
                </a:solidFill>
                <a:latin typeface="Verdana"/>
              </a:endParaRPr>
            </a:p>
          </p:txBody>
        </p:sp>
        <p:pic>
          <p:nvPicPr>
            <p:cNvPr id="15" name="Picture 14" descr="A picture containing text&#10;&#10;Description automatically generated">
              <a:extLst>
                <a:ext uri="{FF2B5EF4-FFF2-40B4-BE49-F238E27FC236}">
                  <a16:creationId xmlns:a16="http://schemas.microsoft.com/office/drawing/2014/main" id="{21882A56-C99D-4886-94E0-D74EB296FA28}"/>
                </a:ext>
              </a:extLst>
            </p:cNvPr>
            <p:cNvPicPr>
              <a:picLocks noChangeAspect="1"/>
            </p:cNvPicPr>
            <p:nvPr/>
          </p:nvPicPr>
          <p:blipFill>
            <a:blip r:embed="rId3"/>
            <a:stretch>
              <a:fillRect/>
            </a:stretch>
          </p:blipFill>
          <p:spPr>
            <a:xfrm>
              <a:off x="4427273" y="1028298"/>
              <a:ext cx="817333" cy="719429"/>
            </a:xfrm>
            <a:prstGeom prst="rect">
              <a:avLst/>
            </a:prstGeom>
          </p:spPr>
        </p:pic>
        <p:sp>
          <p:nvSpPr>
            <p:cNvPr id="16" name="Text Placeholder 1">
              <a:extLst>
                <a:ext uri="{FF2B5EF4-FFF2-40B4-BE49-F238E27FC236}">
                  <a16:creationId xmlns:a16="http://schemas.microsoft.com/office/drawing/2014/main" id="{E40215C9-B10F-44D6-807B-92A0EB4A1966}"/>
                </a:ext>
              </a:extLst>
            </p:cNvPr>
            <p:cNvSpPr txBox="1">
              <a:spLocks/>
            </p:cNvSpPr>
            <p:nvPr/>
          </p:nvSpPr>
          <p:spPr>
            <a:xfrm>
              <a:off x="4329233" y="875772"/>
              <a:ext cx="1013413"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srgbClr val="046A38"/>
                  </a:solidFill>
                  <a:latin typeface="Verdana"/>
                </a:rPr>
                <a:t>OREDA, Odisha</a:t>
              </a:r>
            </a:p>
          </p:txBody>
        </p:sp>
        <p:sp>
          <p:nvSpPr>
            <p:cNvPr id="17" name="Text Placeholder 1">
              <a:extLst>
                <a:ext uri="{FF2B5EF4-FFF2-40B4-BE49-F238E27FC236}">
                  <a16:creationId xmlns:a16="http://schemas.microsoft.com/office/drawing/2014/main" id="{A9F1A0C5-D170-42C5-92A1-79356E74B0A7}"/>
                </a:ext>
              </a:extLst>
            </p:cNvPr>
            <p:cNvSpPr txBox="1">
              <a:spLocks/>
            </p:cNvSpPr>
            <p:nvPr/>
          </p:nvSpPr>
          <p:spPr>
            <a:xfrm>
              <a:off x="3801099" y="1749706"/>
              <a:ext cx="2102963" cy="29186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dirty="0">
                  <a:solidFill>
                    <a:prstClr val="black"/>
                  </a:solidFill>
                  <a:latin typeface="Verdana"/>
                </a:rPr>
                <a:t>Support to OREDA for rooftop solar proliferation in Odisha</a:t>
              </a:r>
              <a:endParaRPr lang="en-US" sz="1000" b="1" dirty="0">
                <a:solidFill>
                  <a:prstClr val="black"/>
                </a:solidFill>
                <a:latin typeface="Verdana"/>
              </a:endParaRPr>
            </a:p>
          </p:txBody>
        </p:sp>
        <p:sp>
          <p:nvSpPr>
            <p:cNvPr id="18" name="Text Placeholder 1">
              <a:extLst>
                <a:ext uri="{FF2B5EF4-FFF2-40B4-BE49-F238E27FC236}">
                  <a16:creationId xmlns:a16="http://schemas.microsoft.com/office/drawing/2014/main" id="{B84D6E4C-E27F-4F0C-B89B-B73AEC709EB1}"/>
                </a:ext>
              </a:extLst>
            </p:cNvPr>
            <p:cNvSpPr txBox="1">
              <a:spLocks/>
            </p:cNvSpPr>
            <p:nvPr/>
          </p:nvSpPr>
          <p:spPr>
            <a:xfrm>
              <a:off x="4601271" y="2052040"/>
              <a:ext cx="469339"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(2017)</a:t>
              </a:r>
            </a:p>
          </p:txBody>
        </p:sp>
        <p:sp>
          <p:nvSpPr>
            <p:cNvPr id="19" name="Text Placeholder 1">
              <a:extLst>
                <a:ext uri="{FF2B5EF4-FFF2-40B4-BE49-F238E27FC236}">
                  <a16:creationId xmlns:a16="http://schemas.microsoft.com/office/drawing/2014/main" id="{03EFDF90-F428-4CD6-9165-32B12C6074DF}"/>
                </a:ext>
              </a:extLst>
            </p:cNvPr>
            <p:cNvSpPr txBox="1">
              <a:spLocks/>
            </p:cNvSpPr>
            <p:nvPr/>
          </p:nvSpPr>
          <p:spPr>
            <a:xfrm>
              <a:off x="3928648" y="2244366"/>
              <a:ext cx="1814577"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b="1" i="1" dirty="0">
                  <a:solidFill>
                    <a:srgbClr val="046A38"/>
                  </a:solidFill>
                  <a:latin typeface="Verdana"/>
                </a:rPr>
                <a:t>Client: IFC</a:t>
              </a:r>
              <a:r>
                <a:rPr lang="en-US" sz="1000" b="1" i="1" dirty="0">
                  <a:solidFill>
                    <a:srgbClr val="046A38"/>
                  </a:solidFill>
                  <a:latin typeface="Verdana"/>
                </a:rPr>
                <a:t>/Govt. of Odisha</a:t>
              </a:r>
            </a:p>
          </p:txBody>
        </p:sp>
        <p:pic>
          <p:nvPicPr>
            <p:cNvPr id="20" name="Picture 45" descr="NHPC Limited - Wikipedia">
              <a:extLst>
                <a:ext uri="{FF2B5EF4-FFF2-40B4-BE49-F238E27FC236}">
                  <a16:creationId xmlns:a16="http://schemas.microsoft.com/office/drawing/2014/main" id="{89FA7A99-33CA-412D-81E5-C0CA285375AF}"/>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686552" y="878433"/>
              <a:ext cx="1352855" cy="596733"/>
            </a:xfrm>
            <a:prstGeom prst="rect">
              <a:avLst/>
            </a:prstGeom>
            <a:noFill/>
            <a:extLst>
              <a:ext uri="{909E8E84-426E-40DD-AFC4-6F175D3DCCD1}">
                <a14:hiddenFill xmlns:a14="http://schemas.microsoft.com/office/drawing/2010/main">
                  <a:solidFill>
                    <a:srgbClr val="FFFFFF"/>
                  </a:solidFill>
                </a14:hiddenFill>
              </a:ext>
            </a:extLst>
          </p:spPr>
        </p:pic>
        <p:sp>
          <p:nvSpPr>
            <p:cNvPr id="21" name="Text Placeholder 1">
              <a:extLst>
                <a:ext uri="{FF2B5EF4-FFF2-40B4-BE49-F238E27FC236}">
                  <a16:creationId xmlns:a16="http://schemas.microsoft.com/office/drawing/2014/main" id="{DAB21E73-4C07-4C2A-B72F-B29A35DEB016}"/>
                </a:ext>
              </a:extLst>
            </p:cNvPr>
            <p:cNvSpPr txBox="1">
              <a:spLocks/>
            </p:cNvSpPr>
            <p:nvPr/>
          </p:nvSpPr>
          <p:spPr>
            <a:xfrm>
              <a:off x="6141845" y="1455037"/>
              <a:ext cx="2442273" cy="583735"/>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IN" sz="1000" dirty="0">
                  <a:solidFill>
                    <a:prstClr val="black"/>
                  </a:solidFill>
                  <a:latin typeface="Verdana"/>
                </a:rPr>
                <a:t>Preparation of Strategy Paper, Standard Business Model including Efficient Bidding Document for Renewable Energy Projects</a:t>
              </a:r>
              <a:endParaRPr lang="en-US" sz="1000" b="1" dirty="0">
                <a:solidFill>
                  <a:prstClr val="black"/>
                </a:solidFill>
                <a:latin typeface="Verdana"/>
              </a:endParaRPr>
            </a:p>
          </p:txBody>
        </p:sp>
        <p:sp>
          <p:nvSpPr>
            <p:cNvPr id="22" name="Text Placeholder 1">
              <a:extLst>
                <a:ext uri="{FF2B5EF4-FFF2-40B4-BE49-F238E27FC236}">
                  <a16:creationId xmlns:a16="http://schemas.microsoft.com/office/drawing/2014/main" id="{A615A916-4501-4301-AFFB-A05D36F70656}"/>
                </a:ext>
              </a:extLst>
            </p:cNvPr>
            <p:cNvSpPr txBox="1">
              <a:spLocks/>
            </p:cNvSpPr>
            <p:nvPr/>
          </p:nvSpPr>
          <p:spPr>
            <a:xfrm>
              <a:off x="7108148" y="2034513"/>
              <a:ext cx="469339"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(2019)</a:t>
              </a:r>
            </a:p>
          </p:txBody>
        </p:sp>
        <p:sp>
          <p:nvSpPr>
            <p:cNvPr id="23" name="Text Placeholder 1">
              <a:extLst>
                <a:ext uri="{FF2B5EF4-FFF2-40B4-BE49-F238E27FC236}">
                  <a16:creationId xmlns:a16="http://schemas.microsoft.com/office/drawing/2014/main" id="{8204BFE3-A67D-4AE4-B833-E5D422D16D01}"/>
                </a:ext>
              </a:extLst>
            </p:cNvPr>
            <p:cNvSpPr txBox="1">
              <a:spLocks/>
            </p:cNvSpPr>
            <p:nvPr/>
          </p:nvSpPr>
          <p:spPr>
            <a:xfrm>
              <a:off x="6788141" y="2244366"/>
              <a:ext cx="1147936"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b="1" i="1" dirty="0">
                  <a:solidFill>
                    <a:srgbClr val="046A38"/>
                  </a:solidFill>
                  <a:latin typeface="Verdana"/>
                </a:rPr>
                <a:t>Client: </a:t>
              </a:r>
              <a:r>
                <a:rPr lang="en-US" sz="1000" b="1" i="1" dirty="0">
                  <a:solidFill>
                    <a:srgbClr val="046A38"/>
                  </a:solidFill>
                  <a:latin typeface="Verdana"/>
                </a:rPr>
                <a:t>NHPC Ltd.</a:t>
              </a:r>
            </a:p>
          </p:txBody>
        </p:sp>
        <p:sp>
          <p:nvSpPr>
            <p:cNvPr id="24" name="Text Placeholder 1">
              <a:extLst>
                <a:ext uri="{FF2B5EF4-FFF2-40B4-BE49-F238E27FC236}">
                  <a16:creationId xmlns:a16="http://schemas.microsoft.com/office/drawing/2014/main" id="{0EE2466F-D66A-4AE2-84C4-22DB9DF2D8D5}"/>
                </a:ext>
              </a:extLst>
            </p:cNvPr>
            <p:cNvSpPr txBox="1">
              <a:spLocks/>
            </p:cNvSpPr>
            <p:nvPr/>
          </p:nvSpPr>
          <p:spPr>
            <a:xfrm>
              <a:off x="9162650" y="882901"/>
              <a:ext cx="1696495"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srgbClr val="046A38"/>
                  </a:solidFill>
                  <a:latin typeface="Verdana"/>
                </a:rPr>
                <a:t>Climate Investment Fund</a:t>
              </a:r>
            </a:p>
          </p:txBody>
        </p:sp>
        <p:pic>
          <p:nvPicPr>
            <p:cNvPr id="25" name="Picture 24">
              <a:extLst>
                <a:ext uri="{FF2B5EF4-FFF2-40B4-BE49-F238E27FC236}">
                  <a16:creationId xmlns:a16="http://schemas.microsoft.com/office/drawing/2014/main" id="{4F3D66E6-20FA-44B2-A898-9653534D921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477551" y="1040430"/>
              <a:ext cx="1066694" cy="422959"/>
            </a:xfrm>
            <a:prstGeom prst="rect">
              <a:avLst/>
            </a:prstGeom>
          </p:spPr>
        </p:pic>
        <p:sp>
          <p:nvSpPr>
            <p:cNvPr id="26" name="Text Placeholder 1">
              <a:extLst>
                <a:ext uri="{FF2B5EF4-FFF2-40B4-BE49-F238E27FC236}">
                  <a16:creationId xmlns:a16="http://schemas.microsoft.com/office/drawing/2014/main" id="{41E1F611-1444-4030-89BE-97A7ED7C5FC5}"/>
                </a:ext>
              </a:extLst>
            </p:cNvPr>
            <p:cNvSpPr txBox="1">
              <a:spLocks/>
            </p:cNvSpPr>
            <p:nvPr/>
          </p:nvSpPr>
          <p:spPr>
            <a:xfrm>
              <a:off x="8917902" y="1575642"/>
              <a:ext cx="2185988" cy="291868"/>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dirty="0">
                  <a:solidFill>
                    <a:prstClr val="black"/>
                  </a:solidFill>
                  <a:latin typeface="Verdana"/>
                </a:rPr>
                <a:t>Scaling up rooftop solar in the SME sector in India</a:t>
              </a:r>
              <a:endParaRPr lang="en-US" sz="1000" b="1" dirty="0">
                <a:solidFill>
                  <a:prstClr val="black"/>
                </a:solidFill>
                <a:latin typeface="Verdana"/>
              </a:endParaRPr>
            </a:p>
          </p:txBody>
        </p:sp>
        <p:sp>
          <p:nvSpPr>
            <p:cNvPr id="27" name="Text Placeholder 1">
              <a:extLst>
                <a:ext uri="{FF2B5EF4-FFF2-40B4-BE49-F238E27FC236}">
                  <a16:creationId xmlns:a16="http://schemas.microsoft.com/office/drawing/2014/main" id="{6846CCC7-A2B3-441B-BD9D-B62DA4BA0491}"/>
                </a:ext>
              </a:extLst>
            </p:cNvPr>
            <p:cNvSpPr txBox="1">
              <a:spLocks/>
            </p:cNvSpPr>
            <p:nvPr/>
          </p:nvSpPr>
          <p:spPr>
            <a:xfrm>
              <a:off x="9726073" y="1948581"/>
              <a:ext cx="469339"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(2018)</a:t>
              </a:r>
            </a:p>
          </p:txBody>
        </p:sp>
        <p:sp>
          <p:nvSpPr>
            <p:cNvPr id="28" name="Text Placeholder 1">
              <a:extLst>
                <a:ext uri="{FF2B5EF4-FFF2-40B4-BE49-F238E27FC236}">
                  <a16:creationId xmlns:a16="http://schemas.microsoft.com/office/drawing/2014/main" id="{9AD33223-AF2C-4011-BD62-B482D29B61D9}"/>
                </a:ext>
              </a:extLst>
            </p:cNvPr>
            <p:cNvSpPr txBox="1">
              <a:spLocks/>
            </p:cNvSpPr>
            <p:nvPr/>
          </p:nvSpPr>
          <p:spPr>
            <a:xfrm>
              <a:off x="9590347" y="2244366"/>
              <a:ext cx="704008"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b="1" i="1" dirty="0">
                  <a:solidFill>
                    <a:srgbClr val="046A38"/>
                  </a:solidFill>
                  <a:latin typeface="Verdana"/>
                </a:rPr>
                <a:t>Client: CIF</a:t>
              </a:r>
              <a:endParaRPr lang="en-US" sz="1000" b="1" i="1" dirty="0">
                <a:solidFill>
                  <a:srgbClr val="046A38"/>
                </a:solidFill>
                <a:latin typeface="Verdana"/>
              </a:endParaRPr>
            </a:p>
          </p:txBody>
        </p:sp>
        <p:pic>
          <p:nvPicPr>
            <p:cNvPr id="29" name="Picture 28" descr="Text&#10;&#10;Description automatically generated">
              <a:extLst>
                <a:ext uri="{FF2B5EF4-FFF2-40B4-BE49-F238E27FC236}">
                  <a16:creationId xmlns:a16="http://schemas.microsoft.com/office/drawing/2014/main" id="{BFBE83FE-3F73-4BC5-971E-DB8E3D21F77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205941" y="2811297"/>
              <a:ext cx="1553956" cy="466148"/>
            </a:xfrm>
            <a:prstGeom prst="rect">
              <a:avLst/>
            </a:prstGeom>
          </p:spPr>
        </p:pic>
        <p:sp>
          <p:nvSpPr>
            <p:cNvPr id="30" name="Text Placeholder 1">
              <a:extLst>
                <a:ext uri="{FF2B5EF4-FFF2-40B4-BE49-F238E27FC236}">
                  <a16:creationId xmlns:a16="http://schemas.microsoft.com/office/drawing/2014/main" id="{F4F1B9B2-9B88-4E84-975B-BAB22378BBF8}"/>
                </a:ext>
              </a:extLst>
            </p:cNvPr>
            <p:cNvSpPr txBox="1">
              <a:spLocks/>
            </p:cNvSpPr>
            <p:nvPr/>
          </p:nvSpPr>
          <p:spPr>
            <a:xfrm>
              <a:off x="1165358" y="3373976"/>
              <a:ext cx="2046068" cy="437801"/>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dirty="0">
                  <a:solidFill>
                    <a:prstClr val="black"/>
                  </a:solidFill>
                  <a:latin typeface="Verdana"/>
                </a:rPr>
                <a:t>Identifying suitable financial products and services for Solar Water Pumps</a:t>
              </a:r>
              <a:endParaRPr lang="en-US" sz="1000" b="1" dirty="0">
                <a:solidFill>
                  <a:prstClr val="black"/>
                </a:solidFill>
                <a:latin typeface="Verdana"/>
              </a:endParaRPr>
            </a:p>
          </p:txBody>
        </p:sp>
        <p:sp>
          <p:nvSpPr>
            <p:cNvPr id="31" name="Text Placeholder 1">
              <a:extLst>
                <a:ext uri="{FF2B5EF4-FFF2-40B4-BE49-F238E27FC236}">
                  <a16:creationId xmlns:a16="http://schemas.microsoft.com/office/drawing/2014/main" id="{BFA2B607-935D-400A-A5FB-150E7C582610}"/>
                </a:ext>
              </a:extLst>
            </p:cNvPr>
            <p:cNvSpPr txBox="1">
              <a:spLocks/>
            </p:cNvSpPr>
            <p:nvPr/>
          </p:nvSpPr>
          <p:spPr>
            <a:xfrm>
              <a:off x="1615974" y="3865647"/>
              <a:ext cx="866932"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(2019-2020)</a:t>
              </a:r>
            </a:p>
          </p:txBody>
        </p:sp>
        <p:sp>
          <p:nvSpPr>
            <p:cNvPr id="32" name="Text Placeholder 1">
              <a:extLst>
                <a:ext uri="{FF2B5EF4-FFF2-40B4-BE49-F238E27FC236}">
                  <a16:creationId xmlns:a16="http://schemas.microsoft.com/office/drawing/2014/main" id="{5681487E-1E42-4EF8-B0AA-1283DE314C0F}"/>
                </a:ext>
              </a:extLst>
            </p:cNvPr>
            <p:cNvSpPr txBox="1">
              <a:spLocks/>
            </p:cNvSpPr>
            <p:nvPr/>
          </p:nvSpPr>
          <p:spPr>
            <a:xfrm>
              <a:off x="1667159" y="4065860"/>
              <a:ext cx="718955"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b="1" i="1" dirty="0">
                  <a:solidFill>
                    <a:srgbClr val="046A38"/>
                  </a:solidFill>
                  <a:latin typeface="Verdana"/>
                </a:rPr>
                <a:t>Client: GIZ</a:t>
              </a:r>
              <a:endParaRPr lang="en-US" sz="1000" b="1" i="1" dirty="0">
                <a:solidFill>
                  <a:srgbClr val="046A38"/>
                </a:solidFill>
                <a:latin typeface="Verdana"/>
              </a:endParaRPr>
            </a:p>
          </p:txBody>
        </p:sp>
        <p:pic>
          <p:nvPicPr>
            <p:cNvPr id="33" name="Picture 32">
              <a:extLst>
                <a:ext uri="{FF2B5EF4-FFF2-40B4-BE49-F238E27FC236}">
                  <a16:creationId xmlns:a16="http://schemas.microsoft.com/office/drawing/2014/main" id="{36D9FF7D-07A9-40A4-BF11-08E1CF0E31C9}"/>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253297" y="2773158"/>
              <a:ext cx="1165276" cy="561213"/>
            </a:xfrm>
            <a:prstGeom prst="rect">
              <a:avLst/>
            </a:prstGeom>
          </p:spPr>
        </p:pic>
        <p:sp>
          <p:nvSpPr>
            <p:cNvPr id="34" name="Text Placeholder 1">
              <a:extLst>
                <a:ext uri="{FF2B5EF4-FFF2-40B4-BE49-F238E27FC236}">
                  <a16:creationId xmlns:a16="http://schemas.microsoft.com/office/drawing/2014/main" id="{B3B5420D-697D-4357-871C-DE9AE685BDEB}"/>
                </a:ext>
              </a:extLst>
            </p:cNvPr>
            <p:cNvSpPr txBox="1">
              <a:spLocks/>
            </p:cNvSpPr>
            <p:nvPr/>
          </p:nvSpPr>
          <p:spPr>
            <a:xfrm>
              <a:off x="3673925" y="3373975"/>
              <a:ext cx="2225360" cy="437801"/>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dirty="0">
                  <a:solidFill>
                    <a:prstClr val="black"/>
                  </a:solidFill>
                  <a:latin typeface="Verdana"/>
                </a:rPr>
                <a:t>Concept Study for Program to support Application of Decentralized Solar Solutions in Indian MSME</a:t>
              </a:r>
              <a:endParaRPr lang="en-US" sz="1000" b="1" dirty="0">
                <a:solidFill>
                  <a:prstClr val="black"/>
                </a:solidFill>
                <a:latin typeface="Verdana"/>
              </a:endParaRPr>
            </a:p>
          </p:txBody>
        </p:sp>
        <p:sp>
          <p:nvSpPr>
            <p:cNvPr id="35" name="Text Placeholder 1">
              <a:extLst>
                <a:ext uri="{FF2B5EF4-FFF2-40B4-BE49-F238E27FC236}">
                  <a16:creationId xmlns:a16="http://schemas.microsoft.com/office/drawing/2014/main" id="{DA6B947D-D041-4840-BAAD-528B0C520602}"/>
                </a:ext>
              </a:extLst>
            </p:cNvPr>
            <p:cNvSpPr txBox="1">
              <a:spLocks/>
            </p:cNvSpPr>
            <p:nvPr/>
          </p:nvSpPr>
          <p:spPr>
            <a:xfrm>
              <a:off x="4532721" y="3867769"/>
              <a:ext cx="469339"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00" b="1" dirty="0">
                  <a:solidFill>
                    <a:prstClr val="black"/>
                  </a:solidFill>
                  <a:latin typeface="Verdana"/>
                </a:rPr>
                <a:t>(2020)</a:t>
              </a:r>
            </a:p>
          </p:txBody>
        </p:sp>
        <p:sp>
          <p:nvSpPr>
            <p:cNvPr id="36" name="Text Placeholder 1">
              <a:extLst>
                <a:ext uri="{FF2B5EF4-FFF2-40B4-BE49-F238E27FC236}">
                  <a16:creationId xmlns:a16="http://schemas.microsoft.com/office/drawing/2014/main" id="{A03C9A02-3837-4A8B-B188-A846FCCB8ECD}"/>
                </a:ext>
              </a:extLst>
            </p:cNvPr>
            <p:cNvSpPr txBox="1">
              <a:spLocks/>
            </p:cNvSpPr>
            <p:nvPr/>
          </p:nvSpPr>
          <p:spPr>
            <a:xfrm>
              <a:off x="4348874" y="4065860"/>
              <a:ext cx="751839"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b="1" i="1" dirty="0">
                  <a:solidFill>
                    <a:srgbClr val="046A38"/>
                  </a:solidFill>
                  <a:latin typeface="Verdana"/>
                </a:rPr>
                <a:t>Client: </a:t>
              </a:r>
              <a:r>
                <a:rPr lang="en-GB" sz="1000" b="1" i="1" dirty="0" err="1">
                  <a:solidFill>
                    <a:srgbClr val="046A38"/>
                  </a:solidFill>
                  <a:latin typeface="Verdana"/>
                </a:rPr>
                <a:t>KfW</a:t>
              </a:r>
              <a:endParaRPr lang="en-US" sz="1000" b="1" i="1" dirty="0">
                <a:solidFill>
                  <a:srgbClr val="046A38"/>
                </a:solidFill>
                <a:latin typeface="Verdana"/>
              </a:endParaRPr>
            </a:p>
          </p:txBody>
        </p:sp>
        <p:sp>
          <p:nvSpPr>
            <p:cNvPr id="40" name="Round Diagonal Corner Rectangle 5">
              <a:extLst>
                <a:ext uri="{FF2B5EF4-FFF2-40B4-BE49-F238E27FC236}">
                  <a16:creationId xmlns:a16="http://schemas.microsoft.com/office/drawing/2014/main" id="{91F16DFB-94AF-4562-82E6-E11F85461743}"/>
                </a:ext>
              </a:extLst>
            </p:cNvPr>
            <p:cNvSpPr>
              <a:spLocks/>
            </p:cNvSpPr>
            <p:nvPr/>
          </p:nvSpPr>
          <p:spPr>
            <a:xfrm>
              <a:off x="6141843" y="2772690"/>
              <a:ext cx="2442273" cy="1614432"/>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41" name="Text Placeholder 1">
              <a:extLst>
                <a:ext uri="{FF2B5EF4-FFF2-40B4-BE49-F238E27FC236}">
                  <a16:creationId xmlns:a16="http://schemas.microsoft.com/office/drawing/2014/main" id="{987BD486-CC6D-4AFB-A18B-D3DEF1BA1266}"/>
                </a:ext>
              </a:extLst>
            </p:cNvPr>
            <p:cNvSpPr txBox="1">
              <a:spLocks/>
            </p:cNvSpPr>
            <p:nvPr/>
          </p:nvSpPr>
          <p:spPr>
            <a:xfrm>
              <a:off x="6072419" y="3408202"/>
              <a:ext cx="2579378" cy="459691"/>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Battery Storage assessment at transmission and distribution level in selected states</a:t>
              </a:r>
              <a:endParaRPr lang="en-US" sz="1050" b="1" dirty="0">
                <a:solidFill>
                  <a:prstClr val="black"/>
                </a:solidFill>
                <a:latin typeface="Verdana"/>
              </a:endParaRPr>
            </a:p>
          </p:txBody>
        </p:sp>
        <p:sp>
          <p:nvSpPr>
            <p:cNvPr id="42" name="Text Placeholder 1">
              <a:extLst>
                <a:ext uri="{FF2B5EF4-FFF2-40B4-BE49-F238E27FC236}">
                  <a16:creationId xmlns:a16="http://schemas.microsoft.com/office/drawing/2014/main" id="{F15C4267-375F-4CB4-931B-2EDD4AFA8651}"/>
                </a:ext>
              </a:extLst>
            </p:cNvPr>
            <p:cNvSpPr txBox="1">
              <a:spLocks/>
            </p:cNvSpPr>
            <p:nvPr/>
          </p:nvSpPr>
          <p:spPr>
            <a:xfrm>
              <a:off x="7113988" y="3899171"/>
              <a:ext cx="496243" cy="153231"/>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dirty="0">
                  <a:solidFill>
                    <a:prstClr val="black"/>
                  </a:solidFill>
                  <a:latin typeface="Verdana"/>
                </a:rPr>
                <a:t>(2019)</a:t>
              </a:r>
            </a:p>
          </p:txBody>
        </p:sp>
        <p:sp>
          <p:nvSpPr>
            <p:cNvPr id="43" name="Text Placeholder 1">
              <a:extLst>
                <a:ext uri="{FF2B5EF4-FFF2-40B4-BE49-F238E27FC236}">
                  <a16:creationId xmlns:a16="http://schemas.microsoft.com/office/drawing/2014/main" id="{370C4705-1897-4D41-9E60-4A267E217719}"/>
                </a:ext>
              </a:extLst>
            </p:cNvPr>
            <p:cNvSpPr txBox="1">
              <a:spLocks/>
            </p:cNvSpPr>
            <p:nvPr/>
          </p:nvSpPr>
          <p:spPr>
            <a:xfrm>
              <a:off x="6573785" y="4071687"/>
              <a:ext cx="1538056"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b="1" i="1" dirty="0">
                  <a:solidFill>
                    <a:srgbClr val="046A38"/>
                  </a:solidFill>
                  <a:latin typeface="Verdana"/>
                </a:rPr>
                <a:t>Client: The World Bank</a:t>
              </a:r>
              <a:endParaRPr lang="en-US" sz="1000" b="1" i="1" dirty="0">
                <a:solidFill>
                  <a:srgbClr val="046A38"/>
                </a:solidFill>
                <a:latin typeface="Verdana"/>
              </a:endParaRPr>
            </a:p>
          </p:txBody>
        </p:sp>
        <p:pic>
          <p:nvPicPr>
            <p:cNvPr id="44" name="Picture 43">
              <a:extLst>
                <a:ext uri="{FF2B5EF4-FFF2-40B4-BE49-F238E27FC236}">
                  <a16:creationId xmlns:a16="http://schemas.microsoft.com/office/drawing/2014/main" id="{40CB5DC7-128B-4ACC-81D6-8F106FA17F5B}"/>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924742" y="2813376"/>
              <a:ext cx="1013579" cy="520994"/>
            </a:xfrm>
            <a:prstGeom prst="rect">
              <a:avLst/>
            </a:prstGeom>
          </p:spPr>
        </p:pic>
        <p:sp>
          <p:nvSpPr>
            <p:cNvPr id="45" name="Round Diagonal Corner Rectangle 78">
              <a:extLst>
                <a:ext uri="{FF2B5EF4-FFF2-40B4-BE49-F238E27FC236}">
                  <a16:creationId xmlns:a16="http://schemas.microsoft.com/office/drawing/2014/main" id="{BF41CF4F-6819-46C5-B9F0-792E161E4946}"/>
                </a:ext>
              </a:extLst>
            </p:cNvPr>
            <p:cNvSpPr>
              <a:spLocks/>
            </p:cNvSpPr>
            <p:nvPr/>
          </p:nvSpPr>
          <p:spPr>
            <a:xfrm>
              <a:off x="8721213" y="2772692"/>
              <a:ext cx="2442273" cy="1614432"/>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46" name="Text Placeholder 1">
              <a:extLst>
                <a:ext uri="{FF2B5EF4-FFF2-40B4-BE49-F238E27FC236}">
                  <a16:creationId xmlns:a16="http://schemas.microsoft.com/office/drawing/2014/main" id="{4D4EDD15-9841-46C8-A0B3-FCB2662400E5}"/>
                </a:ext>
              </a:extLst>
            </p:cNvPr>
            <p:cNvSpPr txBox="1">
              <a:spLocks/>
            </p:cNvSpPr>
            <p:nvPr/>
          </p:nvSpPr>
          <p:spPr>
            <a:xfrm>
              <a:off x="8959417" y="3451587"/>
              <a:ext cx="2102963" cy="306461"/>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Market assessment of EV public charging infrastructure</a:t>
              </a:r>
              <a:endParaRPr lang="en-US" sz="1050" b="1" dirty="0">
                <a:solidFill>
                  <a:prstClr val="black"/>
                </a:solidFill>
                <a:latin typeface="Verdana"/>
              </a:endParaRPr>
            </a:p>
          </p:txBody>
        </p:sp>
        <p:sp>
          <p:nvSpPr>
            <p:cNvPr id="47" name="Text Placeholder 1">
              <a:extLst>
                <a:ext uri="{FF2B5EF4-FFF2-40B4-BE49-F238E27FC236}">
                  <a16:creationId xmlns:a16="http://schemas.microsoft.com/office/drawing/2014/main" id="{484C5FE6-E892-493E-BC00-7E3C64B0A4A5}"/>
                </a:ext>
              </a:extLst>
            </p:cNvPr>
            <p:cNvSpPr txBox="1">
              <a:spLocks/>
            </p:cNvSpPr>
            <p:nvPr/>
          </p:nvSpPr>
          <p:spPr>
            <a:xfrm>
              <a:off x="9389351" y="3872646"/>
              <a:ext cx="1147936" cy="153231"/>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dirty="0">
                  <a:solidFill>
                    <a:prstClr val="black"/>
                  </a:solidFill>
                  <a:latin typeface="Verdana"/>
                </a:rPr>
                <a:t>(2020-Ongoing)</a:t>
              </a:r>
            </a:p>
          </p:txBody>
        </p:sp>
        <p:sp>
          <p:nvSpPr>
            <p:cNvPr id="48" name="Text Placeholder 1">
              <a:extLst>
                <a:ext uri="{FF2B5EF4-FFF2-40B4-BE49-F238E27FC236}">
                  <a16:creationId xmlns:a16="http://schemas.microsoft.com/office/drawing/2014/main" id="{0AA08B0A-EB8F-4527-820C-60683FFEA196}"/>
                </a:ext>
              </a:extLst>
            </p:cNvPr>
            <p:cNvSpPr txBox="1">
              <a:spLocks/>
            </p:cNvSpPr>
            <p:nvPr/>
          </p:nvSpPr>
          <p:spPr>
            <a:xfrm>
              <a:off x="9542515" y="4065860"/>
              <a:ext cx="799669"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b="1" i="1" dirty="0">
                  <a:solidFill>
                    <a:srgbClr val="046A38"/>
                  </a:solidFill>
                  <a:latin typeface="Verdana"/>
                </a:rPr>
                <a:t>Client: </a:t>
              </a:r>
              <a:r>
                <a:rPr lang="en-US" sz="1000" b="1" i="1" dirty="0">
                  <a:solidFill>
                    <a:srgbClr val="046A38"/>
                  </a:solidFill>
                  <a:latin typeface="Verdana"/>
                </a:rPr>
                <a:t>EESL</a:t>
              </a:r>
            </a:p>
          </p:txBody>
        </p:sp>
        <p:pic>
          <p:nvPicPr>
            <p:cNvPr id="49" name="Picture 4" descr="EESL Recruitment 2020 | Apply for Various Managing Director Posts">
              <a:extLst>
                <a:ext uri="{FF2B5EF4-FFF2-40B4-BE49-F238E27FC236}">
                  <a16:creationId xmlns:a16="http://schemas.microsoft.com/office/drawing/2014/main" id="{F2FA60F4-53BE-41CF-84F7-49E2B65A53D7}"/>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9258524" y="2810262"/>
              <a:ext cx="1367653" cy="487005"/>
            </a:xfrm>
            <a:prstGeom prst="rect">
              <a:avLst/>
            </a:prstGeom>
            <a:noFill/>
            <a:extLst>
              <a:ext uri="{909E8E84-426E-40DD-AFC4-6F175D3DCCD1}">
                <a14:hiddenFill xmlns:a14="http://schemas.microsoft.com/office/drawing/2010/main">
                  <a:solidFill>
                    <a:srgbClr val="FFFFFF"/>
                  </a:solidFill>
                </a14:hiddenFill>
              </a:ext>
            </a:extLst>
          </p:spPr>
        </p:pic>
        <p:sp>
          <p:nvSpPr>
            <p:cNvPr id="50" name="Round Diagonal Corner Rectangle 86">
              <a:extLst>
                <a:ext uri="{FF2B5EF4-FFF2-40B4-BE49-F238E27FC236}">
                  <a16:creationId xmlns:a16="http://schemas.microsoft.com/office/drawing/2014/main" id="{EF3644BF-7137-45B3-A54D-C093C51FF270}"/>
                </a:ext>
              </a:extLst>
            </p:cNvPr>
            <p:cNvSpPr>
              <a:spLocks/>
            </p:cNvSpPr>
            <p:nvPr/>
          </p:nvSpPr>
          <p:spPr>
            <a:xfrm>
              <a:off x="966874" y="4751816"/>
              <a:ext cx="2441455" cy="1622455"/>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51" name="Text Placeholder 1">
              <a:extLst>
                <a:ext uri="{FF2B5EF4-FFF2-40B4-BE49-F238E27FC236}">
                  <a16:creationId xmlns:a16="http://schemas.microsoft.com/office/drawing/2014/main" id="{9EF30E6B-46AE-40BB-8F71-56A0D25C9EF2}"/>
                </a:ext>
              </a:extLst>
            </p:cNvPr>
            <p:cNvSpPr txBox="1">
              <a:spLocks/>
            </p:cNvSpPr>
            <p:nvPr/>
          </p:nvSpPr>
          <p:spPr>
            <a:xfrm>
              <a:off x="1012818" y="5355321"/>
              <a:ext cx="2349560" cy="612922"/>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EV Integration study and assessment of BESS along with battery sizing and evaluating effectiveness in distribution system</a:t>
              </a:r>
              <a:endParaRPr lang="en-US" sz="1050" b="1" dirty="0">
                <a:solidFill>
                  <a:prstClr val="black"/>
                </a:solidFill>
                <a:latin typeface="Verdana"/>
              </a:endParaRPr>
            </a:p>
          </p:txBody>
        </p:sp>
        <p:sp>
          <p:nvSpPr>
            <p:cNvPr id="52" name="Text Placeholder 1">
              <a:extLst>
                <a:ext uri="{FF2B5EF4-FFF2-40B4-BE49-F238E27FC236}">
                  <a16:creationId xmlns:a16="http://schemas.microsoft.com/office/drawing/2014/main" id="{E17636E7-33FF-4903-808C-A9ABDF7BA7EC}"/>
                </a:ext>
              </a:extLst>
            </p:cNvPr>
            <p:cNvSpPr txBox="1">
              <a:spLocks/>
            </p:cNvSpPr>
            <p:nvPr/>
          </p:nvSpPr>
          <p:spPr>
            <a:xfrm>
              <a:off x="1613632" y="5986898"/>
              <a:ext cx="1147936" cy="153231"/>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dirty="0">
                  <a:solidFill>
                    <a:prstClr val="black"/>
                  </a:solidFill>
                  <a:latin typeface="Verdana"/>
                </a:rPr>
                <a:t>(2019-Ongoing)</a:t>
              </a:r>
            </a:p>
          </p:txBody>
        </p:sp>
        <p:sp>
          <p:nvSpPr>
            <p:cNvPr id="53" name="Text Placeholder 1">
              <a:extLst>
                <a:ext uri="{FF2B5EF4-FFF2-40B4-BE49-F238E27FC236}">
                  <a16:creationId xmlns:a16="http://schemas.microsoft.com/office/drawing/2014/main" id="{BED6742D-345C-4B00-8C36-8FED27B479F2}"/>
                </a:ext>
              </a:extLst>
            </p:cNvPr>
            <p:cNvSpPr txBox="1">
              <a:spLocks/>
            </p:cNvSpPr>
            <p:nvPr/>
          </p:nvSpPr>
          <p:spPr>
            <a:xfrm>
              <a:off x="1464557" y="6182725"/>
              <a:ext cx="1469299"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b="1" i="1" dirty="0">
                  <a:solidFill>
                    <a:srgbClr val="046A38"/>
                  </a:solidFill>
                  <a:latin typeface="Verdana"/>
                </a:rPr>
                <a:t>Client: </a:t>
              </a:r>
              <a:r>
                <a:rPr lang="en-US" sz="1000" b="1" i="1" dirty="0">
                  <a:solidFill>
                    <a:srgbClr val="046A38"/>
                  </a:solidFill>
                  <a:latin typeface="Verdana"/>
                </a:rPr>
                <a:t>USAID / BRPL.</a:t>
              </a:r>
            </a:p>
          </p:txBody>
        </p:sp>
        <p:pic>
          <p:nvPicPr>
            <p:cNvPr id="54" name="Picture 53">
              <a:extLst>
                <a:ext uri="{FF2B5EF4-FFF2-40B4-BE49-F238E27FC236}">
                  <a16:creationId xmlns:a16="http://schemas.microsoft.com/office/drawing/2014/main" id="{A2212793-B5D2-4282-B7F6-B0684364B614}"/>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290351" y="4823005"/>
              <a:ext cx="1932425" cy="473191"/>
            </a:xfrm>
            <a:prstGeom prst="rect">
              <a:avLst/>
            </a:prstGeom>
          </p:spPr>
        </p:pic>
        <p:sp>
          <p:nvSpPr>
            <p:cNvPr id="55" name="Round Diagonal Corner Rectangle 88">
              <a:extLst>
                <a:ext uri="{FF2B5EF4-FFF2-40B4-BE49-F238E27FC236}">
                  <a16:creationId xmlns:a16="http://schemas.microsoft.com/office/drawing/2014/main" id="{34A5D8A2-2A9D-4673-813D-BCFF5F523081}"/>
                </a:ext>
              </a:extLst>
            </p:cNvPr>
            <p:cNvSpPr>
              <a:spLocks/>
            </p:cNvSpPr>
            <p:nvPr/>
          </p:nvSpPr>
          <p:spPr>
            <a:xfrm>
              <a:off x="3546254" y="4742470"/>
              <a:ext cx="2441455" cy="1622455"/>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56" name="Text Placeholder 1">
              <a:extLst>
                <a:ext uri="{FF2B5EF4-FFF2-40B4-BE49-F238E27FC236}">
                  <a16:creationId xmlns:a16="http://schemas.microsoft.com/office/drawing/2014/main" id="{835F87D0-2A5D-4172-BBFE-239C7BF5BEE6}"/>
                </a:ext>
              </a:extLst>
            </p:cNvPr>
            <p:cNvSpPr txBox="1">
              <a:spLocks/>
            </p:cNvSpPr>
            <p:nvPr/>
          </p:nvSpPr>
          <p:spPr>
            <a:xfrm>
              <a:off x="3621524" y="5382931"/>
              <a:ext cx="2185988" cy="306461"/>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Landscape assessment of energy storage in India</a:t>
              </a:r>
              <a:endParaRPr lang="en-US" sz="1050" b="1" dirty="0">
                <a:solidFill>
                  <a:prstClr val="black"/>
                </a:solidFill>
                <a:latin typeface="Verdana"/>
              </a:endParaRPr>
            </a:p>
          </p:txBody>
        </p:sp>
        <p:sp>
          <p:nvSpPr>
            <p:cNvPr id="57" name="Text Placeholder 1">
              <a:extLst>
                <a:ext uri="{FF2B5EF4-FFF2-40B4-BE49-F238E27FC236}">
                  <a16:creationId xmlns:a16="http://schemas.microsoft.com/office/drawing/2014/main" id="{8E4924AC-6073-4E71-80AE-9D04C35324B2}"/>
                </a:ext>
              </a:extLst>
            </p:cNvPr>
            <p:cNvSpPr txBox="1">
              <a:spLocks/>
            </p:cNvSpPr>
            <p:nvPr/>
          </p:nvSpPr>
          <p:spPr>
            <a:xfrm>
              <a:off x="4587814" y="5986898"/>
              <a:ext cx="496243" cy="153231"/>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dirty="0">
                  <a:solidFill>
                    <a:prstClr val="black"/>
                  </a:solidFill>
                  <a:latin typeface="Verdana"/>
                </a:rPr>
                <a:t>(2020)</a:t>
              </a:r>
            </a:p>
          </p:txBody>
        </p:sp>
        <p:sp>
          <p:nvSpPr>
            <p:cNvPr id="58" name="Text Placeholder 1">
              <a:extLst>
                <a:ext uri="{FF2B5EF4-FFF2-40B4-BE49-F238E27FC236}">
                  <a16:creationId xmlns:a16="http://schemas.microsoft.com/office/drawing/2014/main" id="{0495231E-5E94-4023-BC97-0FC0CAAC4EB3}"/>
                </a:ext>
              </a:extLst>
            </p:cNvPr>
            <p:cNvSpPr txBox="1">
              <a:spLocks/>
            </p:cNvSpPr>
            <p:nvPr/>
          </p:nvSpPr>
          <p:spPr>
            <a:xfrm>
              <a:off x="4364904" y="6182724"/>
              <a:ext cx="804154"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b="1" i="1" dirty="0">
                  <a:solidFill>
                    <a:srgbClr val="046A38"/>
                  </a:solidFill>
                  <a:latin typeface="Verdana"/>
                </a:rPr>
                <a:t>Client: SSEF</a:t>
              </a:r>
              <a:endParaRPr lang="en-US" sz="1000" b="1" i="1" dirty="0">
                <a:solidFill>
                  <a:srgbClr val="046A38"/>
                </a:solidFill>
                <a:latin typeface="Verdana"/>
              </a:endParaRPr>
            </a:p>
          </p:txBody>
        </p:sp>
        <p:pic>
          <p:nvPicPr>
            <p:cNvPr id="59" name="Picture 58">
              <a:extLst>
                <a:ext uri="{FF2B5EF4-FFF2-40B4-BE49-F238E27FC236}">
                  <a16:creationId xmlns:a16="http://schemas.microsoft.com/office/drawing/2014/main" id="{D305CEE6-006F-48E0-84EC-CC7A90DB2E24}"/>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3836241" y="4823005"/>
              <a:ext cx="1999407" cy="473191"/>
            </a:xfrm>
            <a:prstGeom prst="rect">
              <a:avLst/>
            </a:prstGeom>
          </p:spPr>
        </p:pic>
        <p:sp>
          <p:nvSpPr>
            <p:cNvPr id="60" name="Round Diagonal Corner Rectangle 89">
              <a:extLst>
                <a:ext uri="{FF2B5EF4-FFF2-40B4-BE49-F238E27FC236}">
                  <a16:creationId xmlns:a16="http://schemas.microsoft.com/office/drawing/2014/main" id="{D498ED22-72E2-462F-822F-F7A8B3E14CD5}"/>
                </a:ext>
              </a:extLst>
            </p:cNvPr>
            <p:cNvSpPr>
              <a:spLocks/>
            </p:cNvSpPr>
            <p:nvPr/>
          </p:nvSpPr>
          <p:spPr>
            <a:xfrm>
              <a:off x="6098956" y="4701681"/>
              <a:ext cx="2442273" cy="1622455"/>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61" name="Text Placeholder 1">
              <a:extLst>
                <a:ext uri="{FF2B5EF4-FFF2-40B4-BE49-F238E27FC236}">
                  <a16:creationId xmlns:a16="http://schemas.microsoft.com/office/drawing/2014/main" id="{C07B18CA-F482-4D5C-BCDB-4E3FCC5AD6FE}"/>
                </a:ext>
              </a:extLst>
            </p:cNvPr>
            <p:cNvSpPr txBox="1">
              <a:spLocks/>
            </p:cNvSpPr>
            <p:nvPr/>
          </p:nvSpPr>
          <p:spPr>
            <a:xfrm>
              <a:off x="6129280" y="5393121"/>
              <a:ext cx="2546101" cy="306461"/>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Business Plan for SPV to Promote e-Mobility in India</a:t>
              </a:r>
              <a:endParaRPr lang="en-US" sz="1050" b="1" dirty="0">
                <a:solidFill>
                  <a:prstClr val="black"/>
                </a:solidFill>
                <a:latin typeface="Verdana"/>
              </a:endParaRPr>
            </a:p>
          </p:txBody>
        </p:sp>
        <p:sp>
          <p:nvSpPr>
            <p:cNvPr id="62" name="Text Placeholder 1">
              <a:extLst>
                <a:ext uri="{FF2B5EF4-FFF2-40B4-BE49-F238E27FC236}">
                  <a16:creationId xmlns:a16="http://schemas.microsoft.com/office/drawing/2014/main" id="{47138EFA-DD2C-45E5-9B30-6021C6C768B6}"/>
                </a:ext>
              </a:extLst>
            </p:cNvPr>
            <p:cNvSpPr txBox="1">
              <a:spLocks/>
            </p:cNvSpPr>
            <p:nvPr/>
          </p:nvSpPr>
          <p:spPr>
            <a:xfrm>
              <a:off x="6889557" y="5950190"/>
              <a:ext cx="914763" cy="153231"/>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dirty="0">
                  <a:solidFill>
                    <a:prstClr val="black"/>
                  </a:solidFill>
                  <a:latin typeface="Verdana"/>
                </a:rPr>
                <a:t>(2017-2018)</a:t>
              </a:r>
            </a:p>
          </p:txBody>
        </p:sp>
        <p:sp>
          <p:nvSpPr>
            <p:cNvPr id="63" name="Text Placeholder 1">
              <a:extLst>
                <a:ext uri="{FF2B5EF4-FFF2-40B4-BE49-F238E27FC236}">
                  <a16:creationId xmlns:a16="http://schemas.microsoft.com/office/drawing/2014/main" id="{E86FE46F-A39B-43C0-9A0A-2AA231077D08}"/>
                </a:ext>
              </a:extLst>
            </p:cNvPr>
            <p:cNvSpPr txBox="1">
              <a:spLocks/>
            </p:cNvSpPr>
            <p:nvPr/>
          </p:nvSpPr>
          <p:spPr>
            <a:xfrm>
              <a:off x="6409096" y="6145541"/>
              <a:ext cx="1986468"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b="1" i="1" dirty="0">
                  <a:solidFill>
                    <a:srgbClr val="046A38"/>
                  </a:solidFill>
                  <a:latin typeface="Verdana"/>
                </a:rPr>
                <a:t>Client: The World Bank /EESL</a:t>
              </a:r>
              <a:endParaRPr lang="en-US" sz="1000" b="1" i="1" dirty="0">
                <a:solidFill>
                  <a:srgbClr val="046A38"/>
                </a:solidFill>
                <a:latin typeface="Verdana"/>
              </a:endParaRPr>
            </a:p>
          </p:txBody>
        </p:sp>
        <p:pic>
          <p:nvPicPr>
            <p:cNvPr id="64" name="Picture 4" descr="EESL Recruitment 2020 | Apply for Various Managing Director Posts">
              <a:extLst>
                <a:ext uri="{FF2B5EF4-FFF2-40B4-BE49-F238E27FC236}">
                  <a16:creationId xmlns:a16="http://schemas.microsoft.com/office/drawing/2014/main" id="{933E8B83-EAF7-4FDD-919D-AF5AAFE35CFF}"/>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6698816" y="4732112"/>
              <a:ext cx="1367653" cy="564082"/>
            </a:xfrm>
            <a:prstGeom prst="rect">
              <a:avLst/>
            </a:prstGeom>
            <a:noFill/>
            <a:extLst>
              <a:ext uri="{909E8E84-426E-40DD-AFC4-6F175D3DCCD1}">
                <a14:hiddenFill xmlns:a14="http://schemas.microsoft.com/office/drawing/2010/main">
                  <a:solidFill>
                    <a:srgbClr val="FFFFFF"/>
                  </a:solidFill>
                </a14:hiddenFill>
              </a:ext>
            </a:extLst>
          </p:spPr>
        </p:pic>
        <p:sp>
          <p:nvSpPr>
            <p:cNvPr id="65" name="Round Diagonal Corner Rectangle 90">
              <a:extLst>
                <a:ext uri="{FF2B5EF4-FFF2-40B4-BE49-F238E27FC236}">
                  <a16:creationId xmlns:a16="http://schemas.microsoft.com/office/drawing/2014/main" id="{12F24FE7-C1F0-44C3-BC4D-1DDEDD37D03B}"/>
                </a:ext>
              </a:extLst>
            </p:cNvPr>
            <p:cNvSpPr>
              <a:spLocks/>
            </p:cNvSpPr>
            <p:nvPr/>
          </p:nvSpPr>
          <p:spPr>
            <a:xfrm>
              <a:off x="8675381" y="4701680"/>
              <a:ext cx="2488105" cy="1614432"/>
            </a:xfrm>
            <a:prstGeom prst="round2Diag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9490" tIns="39745" rIns="79490" bIns="39745" numCol="1" spcCol="0" rtlCol="0" fromWordArt="0" anchor="t" anchorCtr="0" forceAA="0" compatLnSpc="1">
              <a:prstTxWarp prst="textNoShape">
                <a:avLst/>
              </a:prstTxWarp>
              <a:noAutofit/>
            </a:bodyPr>
            <a:lstStyle/>
            <a:p>
              <a:pPr defTabSz="837848"/>
              <a:endParaRPr lang="en-IN" sz="1600" dirty="0" err="1">
                <a:solidFill>
                  <a:prstClr val="white"/>
                </a:solidFill>
                <a:latin typeface="Verdana"/>
                <a:cs typeface="Arial" pitchFamily="34" charset="0"/>
              </a:endParaRPr>
            </a:p>
          </p:txBody>
        </p:sp>
        <p:sp>
          <p:nvSpPr>
            <p:cNvPr id="66" name="Text Placeholder 1">
              <a:extLst>
                <a:ext uri="{FF2B5EF4-FFF2-40B4-BE49-F238E27FC236}">
                  <a16:creationId xmlns:a16="http://schemas.microsoft.com/office/drawing/2014/main" id="{70CC804E-343F-4E5C-B593-7CD595BE05FD}"/>
                </a:ext>
              </a:extLst>
            </p:cNvPr>
            <p:cNvSpPr txBox="1">
              <a:spLocks/>
            </p:cNvSpPr>
            <p:nvPr/>
          </p:nvSpPr>
          <p:spPr>
            <a:xfrm>
              <a:off x="8852391" y="5409813"/>
              <a:ext cx="2225360" cy="306461"/>
            </a:xfrm>
            <a:prstGeom prst="rect">
              <a:avLst/>
            </a:prstGeom>
          </p:spPr>
          <p:txBody>
            <a:bodyPr vert="horz" wrap="squar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dirty="0">
                  <a:solidFill>
                    <a:prstClr val="black"/>
                  </a:solidFill>
                  <a:latin typeface="Verdana"/>
                </a:rPr>
                <a:t>Feasibility study for Lithium-ion battery / cell manufacturing plant</a:t>
              </a:r>
            </a:p>
          </p:txBody>
        </p:sp>
        <p:sp>
          <p:nvSpPr>
            <p:cNvPr id="67" name="Text Placeholder 1">
              <a:extLst>
                <a:ext uri="{FF2B5EF4-FFF2-40B4-BE49-F238E27FC236}">
                  <a16:creationId xmlns:a16="http://schemas.microsoft.com/office/drawing/2014/main" id="{AD6B2CEE-C8D3-4CB2-AAEE-10426F8169DA}"/>
                </a:ext>
              </a:extLst>
            </p:cNvPr>
            <p:cNvSpPr txBox="1">
              <a:spLocks/>
            </p:cNvSpPr>
            <p:nvPr/>
          </p:nvSpPr>
          <p:spPr>
            <a:xfrm>
              <a:off x="9694226" y="5986898"/>
              <a:ext cx="496243" cy="153231"/>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US" sz="1050" b="1" dirty="0">
                  <a:solidFill>
                    <a:prstClr val="black"/>
                  </a:solidFill>
                  <a:latin typeface="Verdana"/>
                </a:rPr>
                <a:t>(2019)</a:t>
              </a:r>
            </a:p>
          </p:txBody>
        </p:sp>
        <p:sp>
          <p:nvSpPr>
            <p:cNvPr id="68" name="Text Placeholder 1">
              <a:extLst>
                <a:ext uri="{FF2B5EF4-FFF2-40B4-BE49-F238E27FC236}">
                  <a16:creationId xmlns:a16="http://schemas.microsoft.com/office/drawing/2014/main" id="{8CE84162-39B4-459F-AFCF-445B948D84E6}"/>
                </a:ext>
              </a:extLst>
            </p:cNvPr>
            <p:cNvSpPr txBox="1">
              <a:spLocks/>
            </p:cNvSpPr>
            <p:nvPr/>
          </p:nvSpPr>
          <p:spPr>
            <a:xfrm>
              <a:off x="9200742" y="6127100"/>
              <a:ext cx="1669590" cy="145933"/>
            </a:xfrm>
            <a:prstGeom prst="rect">
              <a:avLst/>
            </a:prstGeom>
          </p:spPr>
          <p:txBody>
            <a:bodyPr vert="horz" wrap="none" lIns="0" tIns="0" rIns="0" bIns="0" rtlCol="0" anchor="ctr">
              <a:spAutoFit/>
            </a:bodyPr>
            <a:lstStyle>
              <a:lvl1pPr marL="1714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1pPr>
              <a:lvl2pPr marL="3429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2pPr>
              <a:lvl3pPr marL="5143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3pPr>
              <a:lvl4pPr marL="6858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4pPr>
              <a:lvl5pPr marL="8572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5pPr>
              <a:lvl6pPr marL="10287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6pPr>
              <a:lvl7pPr marL="12001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7pPr>
              <a:lvl8pPr marL="1371600" indent="-171450" algn="l" defTabSz="914400" rtl="0" eaLnBrk="1" latinLnBrk="0" hangingPunct="1">
                <a:spcBef>
                  <a:spcPct val="0"/>
                </a:spcBef>
                <a:spcAft>
                  <a:spcPts val="0"/>
                </a:spcAft>
                <a:buFont typeface="Homebase 12 Light"/>
                <a:buChar char="–"/>
                <a:defRPr sz="1400" b="0" i="0" kern="1200">
                  <a:solidFill>
                    <a:schemeClr val="tx1"/>
                  </a:solidFill>
                  <a:latin typeface="Arial"/>
                  <a:ea typeface="+mn-ea"/>
                  <a:cs typeface="+mn-cs"/>
                </a:defRPr>
              </a:lvl8pPr>
              <a:lvl9pPr marL="1543050" indent="-171450" algn="l" defTabSz="914400" rtl="0" eaLnBrk="1" latinLnBrk="0" hangingPunct="1">
                <a:spcBef>
                  <a:spcPct val="0"/>
                </a:spcBef>
                <a:spcAft>
                  <a:spcPts val="0"/>
                </a:spcAft>
                <a:buFont typeface="Arial" panose="020B0604020202020204" pitchFamily="34" charset="0"/>
                <a:buChar char="•"/>
                <a:defRPr sz="1400" b="0" i="0" kern="1200">
                  <a:solidFill>
                    <a:schemeClr val="tx1"/>
                  </a:solidFill>
                  <a:latin typeface="Arial"/>
                  <a:ea typeface="+mn-ea"/>
                  <a:cs typeface="+mn-cs"/>
                </a:defRPr>
              </a:lvl9pPr>
            </a:lstStyle>
            <a:p>
              <a:pPr marL="0" indent="0" algn="ctr" defTabSz="623438">
                <a:buNone/>
              </a:pPr>
              <a:r>
                <a:rPr lang="en-GB" sz="1000" b="1" i="1" dirty="0">
                  <a:solidFill>
                    <a:srgbClr val="046A38"/>
                  </a:solidFill>
                  <a:latin typeface="Verdana"/>
                </a:rPr>
                <a:t>Client: </a:t>
              </a:r>
              <a:r>
                <a:rPr lang="en-GB" sz="1000" b="1" i="1" dirty="0" err="1">
                  <a:solidFill>
                    <a:srgbClr val="046A38"/>
                  </a:solidFill>
                  <a:latin typeface="Verdana"/>
                </a:rPr>
                <a:t>Chargexo</a:t>
              </a:r>
              <a:r>
                <a:rPr lang="en-GB" sz="1000" b="1" i="1" dirty="0">
                  <a:solidFill>
                    <a:srgbClr val="046A38"/>
                  </a:solidFill>
                  <a:latin typeface="Verdana"/>
                </a:rPr>
                <a:t> Pte Ltd.</a:t>
              </a:r>
              <a:endParaRPr lang="en-US" sz="1000" b="1" i="1" dirty="0">
                <a:solidFill>
                  <a:srgbClr val="046A38"/>
                </a:solidFill>
                <a:latin typeface="Verdana"/>
              </a:endParaRPr>
            </a:p>
          </p:txBody>
        </p:sp>
        <p:pic>
          <p:nvPicPr>
            <p:cNvPr id="69" name="Picture 68">
              <a:extLst>
                <a:ext uri="{FF2B5EF4-FFF2-40B4-BE49-F238E27FC236}">
                  <a16:creationId xmlns:a16="http://schemas.microsoft.com/office/drawing/2014/main" id="{2B22B2F8-8550-44AA-B1BD-F5EF35065B47}"/>
                </a:ext>
              </a:extLst>
            </p:cNvPr>
            <p:cNvPicPr/>
            <p:nvPr/>
          </p:nvPicPr>
          <p:blipFill>
            <a:blip r:embed="rId12" cstate="email">
              <a:extLst>
                <a:ext uri="{28A0092B-C50C-407E-A947-70E740481C1C}">
                  <a14:useLocalDpi xmlns:a14="http://schemas.microsoft.com/office/drawing/2010/main"/>
                </a:ext>
              </a:extLst>
            </a:blip>
            <a:srcRect/>
            <a:stretch>
              <a:fillRect/>
            </a:stretch>
          </p:blipFill>
          <p:spPr bwMode="auto">
            <a:xfrm>
              <a:off x="9205089" y="4755973"/>
              <a:ext cx="1611614" cy="523895"/>
            </a:xfrm>
            <a:prstGeom prst="rect">
              <a:avLst/>
            </a:prstGeom>
            <a:noFill/>
            <a:ln>
              <a:noFill/>
            </a:ln>
          </p:spPr>
        </p:pic>
        <p:cxnSp>
          <p:nvCxnSpPr>
            <p:cNvPr id="70" name="Straight Connector 69">
              <a:extLst>
                <a:ext uri="{FF2B5EF4-FFF2-40B4-BE49-F238E27FC236}">
                  <a16:creationId xmlns:a16="http://schemas.microsoft.com/office/drawing/2014/main" id="{CA9742FB-3340-4D25-A038-26E82A0C11C1}"/>
                </a:ext>
              </a:extLst>
            </p:cNvPr>
            <p:cNvCxnSpPr/>
            <p:nvPr/>
          </p:nvCxnSpPr>
          <p:spPr>
            <a:xfrm>
              <a:off x="978480" y="2653679"/>
              <a:ext cx="10284545" cy="0"/>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ED01EF29-5705-4A3A-BD8F-1F4BBFC5EED7}"/>
                </a:ext>
              </a:extLst>
            </p:cNvPr>
            <p:cNvCxnSpPr/>
            <p:nvPr/>
          </p:nvCxnSpPr>
          <p:spPr>
            <a:xfrm>
              <a:off x="930148" y="4575997"/>
              <a:ext cx="10284545" cy="0"/>
            </a:xfrm>
            <a:prstGeom prst="line">
              <a:avLst/>
            </a:prstGeom>
            <a:ln w="28575">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sp>
        <p:nvSpPr>
          <p:cNvPr id="72" name="Title 6">
            <a:extLst>
              <a:ext uri="{FF2B5EF4-FFF2-40B4-BE49-F238E27FC236}">
                <a16:creationId xmlns:a16="http://schemas.microsoft.com/office/drawing/2014/main" id="{06DA54D4-D088-4418-AFAF-45BC73CD7668}"/>
              </a:ext>
            </a:extLst>
          </p:cNvPr>
          <p:cNvSpPr txBox="1">
            <a:spLocks/>
          </p:cNvSpPr>
          <p:nvPr/>
        </p:nvSpPr>
        <p:spPr bwMode="gray">
          <a:xfrm>
            <a:off x="538383" y="269246"/>
            <a:ext cx="10676310" cy="420021"/>
          </a:xfrm>
          <a:prstGeom prst="rect">
            <a:avLst/>
          </a:prstGeom>
        </p:spPr>
        <p:txBody>
          <a:bodyPr vert="horz" lIns="0" tIns="0" rIns="0" bIns="0" rtlCol="0" anchor="t" anchorCtr="0">
            <a:noAutofit/>
          </a:bodyPr>
          <a:lstStyle>
            <a:lvl1pPr algn="l" defTabSz="1554493" rtl="0" eaLnBrk="1" latinLnBrk="0" hangingPunct="1">
              <a:spcBef>
                <a:spcPct val="0"/>
              </a:spcBef>
              <a:buNone/>
              <a:defRPr sz="3400" kern="1200">
                <a:solidFill>
                  <a:schemeClr val="tx1"/>
                </a:solidFill>
                <a:latin typeface="+mj-lt"/>
                <a:ea typeface="+mj-ea"/>
                <a:cs typeface="+mj-cs"/>
              </a:defRPr>
            </a:lvl1pPr>
          </a:lstStyle>
          <a:p>
            <a:pPr algn="just" defTabSz="1059853"/>
            <a:r>
              <a:rPr lang="en-US" sz="1800" dirty="0">
                <a:solidFill>
                  <a:prstClr val="black"/>
                </a:solidFill>
              </a:rPr>
              <a:t>Other select experiences in RE, EV and Battery storage segments in India</a:t>
            </a:r>
            <a:endParaRPr lang="en-IN" sz="1800" dirty="0">
              <a:solidFill>
                <a:prstClr val="black"/>
              </a:solidFill>
            </a:endParaRPr>
          </a:p>
        </p:txBody>
      </p:sp>
    </p:spTree>
    <p:extLst>
      <p:ext uri="{BB962C8B-B14F-4D97-AF65-F5344CB8AC3E}">
        <p14:creationId xmlns:p14="http://schemas.microsoft.com/office/powerpoint/2010/main" val="366820368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sz="quarter" idx="14"/>
          </p:nvPr>
        </p:nvPicPr>
        <p:blipFill>
          <a:blip r:embed="rId4" cstate="email">
            <a:extLst>
              <a:ext uri="{28A0092B-C50C-407E-A947-70E740481C1C}">
                <a14:useLocalDpi xmlns:a14="http://schemas.microsoft.com/office/drawing/2010/main"/>
              </a:ext>
            </a:extLst>
          </a:blip>
          <a:srcRect/>
          <a:stretch>
            <a:fillRect/>
          </a:stretch>
        </p:blipFill>
        <p:spPr>
          <a:xfrm>
            <a:off x="5583731" y="1504300"/>
            <a:ext cx="5537835" cy="4119522"/>
          </a:xfrm>
        </p:spPr>
      </p:pic>
      <p:sp>
        <p:nvSpPr>
          <p:cNvPr id="4" name="Rectangle 3"/>
          <p:cNvSpPr/>
          <p:nvPr/>
        </p:nvSpPr>
        <p:spPr>
          <a:xfrm>
            <a:off x="1132840" y="1432572"/>
            <a:ext cx="4654032" cy="4472763"/>
          </a:xfrm>
          <a:prstGeom prst="rect">
            <a:avLst/>
          </a:prstGeom>
        </p:spPr>
        <p:txBody>
          <a:bodyPr wrap="square">
            <a:spAutoFit/>
          </a:bodyPr>
          <a:lstStyle/>
          <a:p>
            <a:pPr defTabSz="885948">
              <a:spcAft>
                <a:spcPts val="522"/>
              </a:spcAft>
              <a:buClr>
                <a:srgbClr val="000000"/>
              </a:buClr>
              <a:buSzPct val="80000"/>
            </a:pPr>
            <a:r>
              <a:rPr lang="en-US" sz="957" noProof="1">
                <a:solidFill>
                  <a:srgbClr val="000000"/>
                </a:solidFill>
                <a:latin typeface="Verdana"/>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defTabSz="885948">
              <a:spcAft>
                <a:spcPts val="522"/>
              </a:spcAft>
              <a:buClr>
                <a:srgbClr val="000000"/>
              </a:buClr>
              <a:buSzPct val="80000"/>
            </a:pPr>
            <a:r>
              <a:rPr lang="en-US" sz="957" noProof="1">
                <a:solidFill>
                  <a:srgbClr val="000000"/>
                </a:solidFill>
                <a:latin typeface="Verdana"/>
              </a:rPr>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defTabSz="885948">
              <a:spcAft>
                <a:spcPts val="522"/>
              </a:spcAft>
              <a:buClr>
                <a:srgbClr val="000000"/>
              </a:buClr>
              <a:buSzPct val="80000"/>
            </a:pPr>
            <a:r>
              <a:rPr lang="en-US" sz="957" noProof="1">
                <a:solidFill>
                  <a:srgbClr val="000000"/>
                </a:solidFill>
                <a:latin typeface="Verdana"/>
              </a:rPr>
              <a:t>Nothing in this material creates any contractual relationship between DTTILLP and you. Any mutually binding legal obligationsorrights may only be created between you and DTTILLP upon execution of a legally binding contract. By using this material and any information contained in it, the user accepts this entire notice and terms of use.</a:t>
            </a:r>
          </a:p>
          <a:p>
            <a:pPr defTabSz="885948">
              <a:spcAft>
                <a:spcPts val="522"/>
              </a:spcAft>
              <a:buClr>
                <a:srgbClr val="000000"/>
              </a:buClr>
              <a:buSzPct val="80000"/>
            </a:pPr>
            <a:r>
              <a:rPr lang="en-US" sz="957" noProof="1">
                <a:solidFill>
                  <a:srgbClr val="000000"/>
                </a:solidFill>
                <a:latin typeface="Verdana"/>
              </a:rPr>
              <a:t>©2021 Deloitte Touche Tohmatsu India LLP. Member of Deloitte Touche Tohmatsu Limited</a:t>
            </a:r>
          </a:p>
          <a:p>
            <a:pPr defTabSz="885948">
              <a:spcAft>
                <a:spcPts val="522"/>
              </a:spcAft>
              <a:buClr>
                <a:srgbClr val="000000"/>
              </a:buClr>
              <a:buSzPct val="80000"/>
            </a:pPr>
            <a:r>
              <a:rPr lang="en-US" sz="957" noProof="1">
                <a:solidFill>
                  <a:srgbClr val="000000"/>
                </a:solidFill>
                <a:latin typeface="Verdana"/>
              </a:rPr>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custDataLst>
      <p:tags r:id="rId1"/>
    </p:custDataLst>
    <p:extLst>
      <p:ext uri="{BB962C8B-B14F-4D97-AF65-F5344CB8AC3E}">
        <p14:creationId xmlns:p14="http://schemas.microsoft.com/office/powerpoint/2010/main" val="237869376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D7AB34-80CA-41E4-A6FE-F4470BDAB8BB}"/>
              </a:ext>
            </a:extLst>
          </p:cNvPr>
          <p:cNvSpPr/>
          <p:nvPr/>
        </p:nvSpPr>
        <p:spPr>
          <a:xfrm>
            <a:off x="4530235" y="3114231"/>
            <a:ext cx="3131539" cy="629585"/>
          </a:xfrm>
          <a:prstGeom prst="rect">
            <a:avLst/>
          </a:prstGeom>
          <a:noFill/>
        </p:spPr>
        <p:txBody>
          <a:bodyPr wrap="none" lIns="62345" tIns="31173" rIns="62345" bIns="31173">
            <a:spAutoFit/>
          </a:bodyPr>
          <a:lstStyle/>
          <a:p>
            <a:pPr algn="ctr" defTabSz="837848"/>
            <a:r>
              <a:rPr lang="en-US" sz="3682" dirty="0">
                <a:ln w="0"/>
                <a:solidFill>
                  <a:prstClr val="black"/>
                </a:solidFill>
                <a:effectLst>
                  <a:outerShdw blurRad="38100" dist="19050" dir="2700000" algn="tl" rotWithShape="0">
                    <a:prstClr val="black">
                      <a:alpha val="40000"/>
                    </a:prstClr>
                  </a:outerShdw>
                </a:effectLst>
                <a:latin typeface="Verdana"/>
              </a:rPr>
              <a:t>Annexure - I</a:t>
            </a:r>
          </a:p>
        </p:txBody>
      </p:sp>
    </p:spTree>
    <p:extLst>
      <p:ext uri="{BB962C8B-B14F-4D97-AF65-F5344CB8AC3E}">
        <p14:creationId xmlns:p14="http://schemas.microsoft.com/office/powerpoint/2010/main" val="376984821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0BB8483-8C7F-4E81-9356-6DB5DC5855B3}"/>
              </a:ext>
            </a:extLst>
          </p:cNvPr>
          <p:cNvSpPr/>
          <p:nvPr/>
        </p:nvSpPr>
        <p:spPr>
          <a:xfrm>
            <a:off x="538383" y="684469"/>
            <a:ext cx="7101624" cy="346120"/>
          </a:xfrm>
          <a:prstGeom prst="rect">
            <a:avLst/>
          </a:prstGeom>
        </p:spPr>
        <p:txBody>
          <a:bodyPr wrap="none">
            <a:spAutoFit/>
          </a:bodyPr>
          <a:lstStyle/>
          <a:p>
            <a:pPr defTabSz="837848"/>
            <a:r>
              <a:rPr lang="en-IN" sz="1649" dirty="0">
                <a:solidFill>
                  <a:prstClr val="black"/>
                </a:solidFill>
                <a:latin typeface="Verdana"/>
              </a:rPr>
              <a:t>Cost Structure on energy sold basis for FY 2017-18 &amp; FY2018-19</a:t>
            </a:r>
          </a:p>
        </p:txBody>
      </p:sp>
      <p:sp>
        <p:nvSpPr>
          <p:cNvPr id="12" name="Title 6">
            <a:extLst>
              <a:ext uri="{FF2B5EF4-FFF2-40B4-BE49-F238E27FC236}">
                <a16:creationId xmlns:a16="http://schemas.microsoft.com/office/drawing/2014/main" id="{0425213B-0F89-4E56-8061-EDECD8595ED5}"/>
              </a:ext>
            </a:extLst>
          </p:cNvPr>
          <p:cNvSpPr txBox="1">
            <a:spLocks/>
          </p:cNvSpPr>
          <p:nvPr/>
        </p:nvSpPr>
        <p:spPr bwMode="gray">
          <a:xfrm>
            <a:off x="538383" y="269246"/>
            <a:ext cx="10843992" cy="420021"/>
          </a:xfrm>
          <a:prstGeom prst="rect">
            <a:avLst/>
          </a:prstGeom>
        </p:spPr>
        <p:txBody>
          <a:bodyPr vert="horz" lIns="0" tIns="0" rIns="0" bIns="0" rtlCol="0" anchor="t" anchorCtr="0">
            <a:noAutofit/>
          </a:bodyPr>
          <a:lstStyle>
            <a:lvl1pPr algn="l" defTabSz="1554493" rtl="0" eaLnBrk="1" latinLnBrk="0" hangingPunct="1">
              <a:spcBef>
                <a:spcPct val="0"/>
              </a:spcBef>
              <a:buNone/>
              <a:defRPr sz="3400" kern="1200">
                <a:solidFill>
                  <a:schemeClr val="tx1"/>
                </a:solidFill>
                <a:latin typeface="+mj-lt"/>
                <a:ea typeface="+mj-ea"/>
                <a:cs typeface="+mj-cs"/>
              </a:defRPr>
            </a:lvl1pPr>
          </a:lstStyle>
          <a:p>
            <a:pPr algn="just" defTabSz="1059853"/>
            <a:r>
              <a:rPr lang="en-US" sz="1800" dirty="0">
                <a:solidFill>
                  <a:prstClr val="black"/>
                </a:solidFill>
                <a:latin typeface="Verdana" panose="020B0604030504040204" pitchFamily="34" charset="0"/>
                <a:ea typeface="Verdana" panose="020B0604030504040204" pitchFamily="34" charset="0"/>
              </a:rPr>
              <a:t>Comparison of WBSEDCL with other selected Utilities</a:t>
            </a:r>
            <a:endParaRPr lang="en-IN" sz="1800" dirty="0">
              <a:solidFill>
                <a:prstClr val="black"/>
              </a:solidFill>
            </a:endParaRPr>
          </a:p>
        </p:txBody>
      </p:sp>
      <p:grpSp>
        <p:nvGrpSpPr>
          <p:cNvPr id="23" name="Group 22">
            <a:extLst>
              <a:ext uri="{FF2B5EF4-FFF2-40B4-BE49-F238E27FC236}">
                <a16:creationId xmlns:a16="http://schemas.microsoft.com/office/drawing/2014/main" id="{E8FC2DAC-70F3-4CA6-A407-2AE4611610B6}"/>
              </a:ext>
            </a:extLst>
          </p:cNvPr>
          <p:cNvGrpSpPr/>
          <p:nvPr/>
        </p:nvGrpSpPr>
        <p:grpSpPr>
          <a:xfrm>
            <a:off x="471252" y="1030589"/>
            <a:ext cx="6015273" cy="3236611"/>
            <a:chOff x="185502" y="1482548"/>
            <a:chExt cx="7446193" cy="4032987"/>
          </a:xfrm>
        </p:grpSpPr>
        <p:graphicFrame>
          <p:nvGraphicFramePr>
            <p:cNvPr id="24" name="Chart 23">
              <a:extLst>
                <a:ext uri="{FF2B5EF4-FFF2-40B4-BE49-F238E27FC236}">
                  <a16:creationId xmlns:a16="http://schemas.microsoft.com/office/drawing/2014/main" id="{C53C7086-112A-4926-88B1-1B19219F297C}"/>
                </a:ext>
              </a:extLst>
            </p:cNvPr>
            <p:cNvGraphicFramePr/>
            <p:nvPr>
              <p:extLst>
                <p:ext uri="{D42A27DB-BD31-4B8C-83A1-F6EECF244321}">
                  <p14:modId xmlns:p14="http://schemas.microsoft.com/office/powerpoint/2010/main" val="385384005"/>
                </p:ext>
              </p:extLst>
            </p:nvPr>
          </p:nvGraphicFramePr>
          <p:xfrm>
            <a:off x="185502" y="1482548"/>
            <a:ext cx="7446193" cy="4032987"/>
          </p:xfrm>
          <a:graphic>
            <a:graphicData uri="http://schemas.openxmlformats.org/drawingml/2006/chart">
              <c:chart xmlns:c="http://schemas.openxmlformats.org/drawingml/2006/chart" xmlns:r="http://schemas.openxmlformats.org/officeDocument/2006/relationships" r:id="rId2"/>
            </a:graphicData>
          </a:graphic>
        </p:graphicFrame>
        <p:sp>
          <p:nvSpPr>
            <p:cNvPr id="25" name="Oval 24">
              <a:extLst>
                <a:ext uri="{FF2B5EF4-FFF2-40B4-BE49-F238E27FC236}">
                  <a16:creationId xmlns:a16="http://schemas.microsoft.com/office/drawing/2014/main" id="{F75E8F1A-9713-4496-8AAB-05A54B61517A}"/>
                </a:ext>
              </a:extLst>
            </p:cNvPr>
            <p:cNvSpPr/>
            <p:nvPr/>
          </p:nvSpPr>
          <p:spPr>
            <a:xfrm>
              <a:off x="6605435" y="1763082"/>
              <a:ext cx="781254" cy="473054"/>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grpSp>
      <p:sp>
        <p:nvSpPr>
          <p:cNvPr id="27" name="Oval 26">
            <a:extLst>
              <a:ext uri="{FF2B5EF4-FFF2-40B4-BE49-F238E27FC236}">
                <a16:creationId xmlns:a16="http://schemas.microsoft.com/office/drawing/2014/main" id="{42A56A5C-3473-498A-B049-7A61332C7C4C}"/>
              </a:ext>
            </a:extLst>
          </p:cNvPr>
          <p:cNvSpPr/>
          <p:nvPr/>
        </p:nvSpPr>
        <p:spPr>
          <a:xfrm>
            <a:off x="10846288" y="1479702"/>
            <a:ext cx="523875" cy="369332"/>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8" name="TextBox 27">
            <a:extLst>
              <a:ext uri="{FF2B5EF4-FFF2-40B4-BE49-F238E27FC236}">
                <a16:creationId xmlns:a16="http://schemas.microsoft.com/office/drawing/2014/main" id="{A48E496A-087E-4FC3-9E3B-7BD35156517C}"/>
              </a:ext>
            </a:extLst>
          </p:cNvPr>
          <p:cNvSpPr txBox="1"/>
          <p:nvPr/>
        </p:nvSpPr>
        <p:spPr>
          <a:xfrm>
            <a:off x="10840595" y="1045224"/>
            <a:ext cx="972847" cy="369332"/>
          </a:xfrm>
          <a:prstGeom prst="rect">
            <a:avLst/>
          </a:prstGeom>
          <a:noFill/>
        </p:spPr>
        <p:txBody>
          <a:bodyPr wrap="square" rtlCol="0">
            <a:spAutoFit/>
          </a:bodyPr>
          <a:lstStyle/>
          <a:p>
            <a:pPr algn="ctr"/>
            <a:r>
              <a:rPr lang="en-US" sz="900" dirty="0">
                <a:latin typeface="Verdana" panose="020B0604030504040204" pitchFamily="34" charset="0"/>
                <a:ea typeface="Verdana" panose="020B0604030504040204" pitchFamily="34" charset="0"/>
              </a:rPr>
              <a:t>Consistently high</a:t>
            </a:r>
            <a:endParaRPr lang="en-IN" sz="900" dirty="0">
              <a:latin typeface="Verdana" panose="020B0604030504040204" pitchFamily="34" charset="0"/>
              <a:ea typeface="Verdana" panose="020B0604030504040204" pitchFamily="34" charset="0"/>
            </a:endParaRPr>
          </a:p>
        </p:txBody>
      </p:sp>
      <p:graphicFrame>
        <p:nvGraphicFramePr>
          <p:cNvPr id="29" name="Chart 28">
            <a:extLst>
              <a:ext uri="{FF2B5EF4-FFF2-40B4-BE49-F238E27FC236}">
                <a16:creationId xmlns:a16="http://schemas.microsoft.com/office/drawing/2014/main" id="{573835ED-D98A-4921-8538-64786159E462}"/>
              </a:ext>
            </a:extLst>
          </p:cNvPr>
          <p:cNvGraphicFramePr/>
          <p:nvPr>
            <p:extLst>
              <p:ext uri="{D42A27DB-BD31-4B8C-83A1-F6EECF244321}">
                <p14:modId xmlns:p14="http://schemas.microsoft.com/office/powerpoint/2010/main" val="2482332222"/>
              </p:ext>
            </p:extLst>
          </p:nvPr>
        </p:nvGraphicFramePr>
        <p:xfrm>
          <a:off x="6309501" y="1030586"/>
          <a:ext cx="5243650" cy="323661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0" name="Table 29">
            <a:extLst>
              <a:ext uri="{FF2B5EF4-FFF2-40B4-BE49-F238E27FC236}">
                <a16:creationId xmlns:a16="http://schemas.microsoft.com/office/drawing/2014/main" id="{1B19507B-5934-4470-9867-89AA41C9EFC5}"/>
              </a:ext>
            </a:extLst>
          </p:cNvPr>
          <p:cNvGraphicFramePr>
            <a:graphicFrameLocks noGrp="1"/>
          </p:cNvGraphicFramePr>
          <p:nvPr>
            <p:extLst>
              <p:ext uri="{D42A27DB-BD31-4B8C-83A1-F6EECF244321}">
                <p14:modId xmlns:p14="http://schemas.microsoft.com/office/powerpoint/2010/main" val="2411086005"/>
              </p:ext>
            </p:extLst>
          </p:nvPr>
        </p:nvGraphicFramePr>
        <p:xfrm>
          <a:off x="6407370" y="4216648"/>
          <a:ext cx="5184266" cy="2267896"/>
        </p:xfrm>
        <a:graphic>
          <a:graphicData uri="http://schemas.openxmlformats.org/drawingml/2006/table">
            <a:tbl>
              <a:tblPr>
                <a:tableStyleId>{69CF1AB2-1976-4502-BF36-3FF5EA218861}</a:tableStyleId>
              </a:tblPr>
              <a:tblGrid>
                <a:gridCol w="1269866">
                  <a:extLst>
                    <a:ext uri="{9D8B030D-6E8A-4147-A177-3AD203B41FA5}">
                      <a16:colId xmlns:a16="http://schemas.microsoft.com/office/drawing/2014/main" val="2460814872"/>
                    </a:ext>
                  </a:extLst>
                </a:gridCol>
                <a:gridCol w="652400">
                  <a:extLst>
                    <a:ext uri="{9D8B030D-6E8A-4147-A177-3AD203B41FA5}">
                      <a16:colId xmlns:a16="http://schemas.microsoft.com/office/drawing/2014/main" val="3904004698"/>
                    </a:ext>
                  </a:extLst>
                </a:gridCol>
                <a:gridCol w="652400">
                  <a:extLst>
                    <a:ext uri="{9D8B030D-6E8A-4147-A177-3AD203B41FA5}">
                      <a16:colId xmlns:a16="http://schemas.microsoft.com/office/drawing/2014/main" val="3339726303"/>
                    </a:ext>
                  </a:extLst>
                </a:gridCol>
                <a:gridCol w="652400">
                  <a:extLst>
                    <a:ext uri="{9D8B030D-6E8A-4147-A177-3AD203B41FA5}">
                      <a16:colId xmlns:a16="http://schemas.microsoft.com/office/drawing/2014/main" val="2852128743"/>
                    </a:ext>
                  </a:extLst>
                </a:gridCol>
                <a:gridCol w="652400">
                  <a:extLst>
                    <a:ext uri="{9D8B030D-6E8A-4147-A177-3AD203B41FA5}">
                      <a16:colId xmlns:a16="http://schemas.microsoft.com/office/drawing/2014/main" val="2494043444"/>
                    </a:ext>
                  </a:extLst>
                </a:gridCol>
                <a:gridCol w="652400">
                  <a:extLst>
                    <a:ext uri="{9D8B030D-6E8A-4147-A177-3AD203B41FA5}">
                      <a16:colId xmlns:a16="http://schemas.microsoft.com/office/drawing/2014/main" val="4220582136"/>
                    </a:ext>
                  </a:extLst>
                </a:gridCol>
                <a:gridCol w="652400">
                  <a:extLst>
                    <a:ext uri="{9D8B030D-6E8A-4147-A177-3AD203B41FA5}">
                      <a16:colId xmlns:a16="http://schemas.microsoft.com/office/drawing/2014/main" val="3774203905"/>
                    </a:ext>
                  </a:extLst>
                </a:gridCol>
              </a:tblGrid>
              <a:tr h="929587">
                <a:tc>
                  <a:txBody>
                    <a:bodyPr/>
                    <a:lstStyle/>
                    <a:p>
                      <a:pPr algn="l" fontAlgn="ctr"/>
                      <a:r>
                        <a:rPr lang="en-US" sz="1050" b="1" u="none" strike="noStrike" dirty="0">
                          <a:effectLst/>
                        </a:rPr>
                        <a:t>Cost Structure on energy sold basis (FY2018-19)</a:t>
                      </a:r>
                    </a:p>
                    <a:p>
                      <a:pPr algn="l" fontAlgn="ctr"/>
                      <a:r>
                        <a:rPr lang="en-US" sz="1050" b="1" u="none" strike="noStrike" dirty="0">
                          <a:effectLst/>
                        </a:rPr>
                        <a:t>(Rs/kWh)</a:t>
                      </a:r>
                      <a:endParaRPr lang="en-US" sz="1050" b="1"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ctr"/>
                      <a:r>
                        <a:rPr lang="en-US" sz="1050" b="1" u="none" strike="noStrike" dirty="0">
                          <a:effectLst/>
                        </a:rPr>
                        <a:t>Cost of Power</a:t>
                      </a:r>
                      <a:br>
                        <a:rPr lang="en-US" sz="1050" b="1" u="none" strike="noStrike" dirty="0">
                          <a:effectLst/>
                        </a:rPr>
                      </a:br>
                      <a:r>
                        <a:rPr lang="en-US" sz="1050" b="1" u="none" strike="noStrike" dirty="0">
                          <a:effectLst/>
                        </a:rPr>
                        <a:t>(including own</a:t>
                      </a:r>
                      <a:br>
                        <a:rPr lang="en-US" sz="1050" b="1" u="none" strike="noStrike" dirty="0">
                          <a:effectLst/>
                        </a:rPr>
                      </a:br>
                      <a:r>
                        <a:rPr lang="en-US" sz="1050" b="1" u="none" strike="noStrike" dirty="0">
                          <a:effectLst/>
                        </a:rPr>
                        <a:t>generation)</a:t>
                      </a:r>
                      <a:endParaRPr lang="en-US" sz="1050" b="1"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ctr"/>
                      <a:r>
                        <a:rPr lang="en-IN" sz="1050" b="1" u="none" strike="noStrike" dirty="0">
                          <a:effectLst/>
                        </a:rPr>
                        <a:t>Employee Cost</a:t>
                      </a:r>
                      <a:endParaRPr lang="en-IN" sz="1050" b="1"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ctr"/>
                      <a:r>
                        <a:rPr lang="en-IN" sz="1050" b="1" u="none" strike="noStrike" dirty="0">
                          <a:effectLst/>
                        </a:rPr>
                        <a:t>Interest Cost</a:t>
                      </a:r>
                      <a:endParaRPr lang="en-IN" sz="1050" b="1"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ctr"/>
                      <a:r>
                        <a:rPr lang="en-IN" sz="1050" b="1" u="none" strike="noStrike" dirty="0">
                          <a:effectLst/>
                        </a:rPr>
                        <a:t>Depreciation</a:t>
                      </a:r>
                      <a:endParaRPr lang="en-IN" sz="1050" b="1"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ctr"/>
                      <a:r>
                        <a:rPr lang="en-IN" sz="1050" b="1" u="none" strike="noStrike" dirty="0">
                          <a:effectLst/>
                        </a:rPr>
                        <a:t>Other Costs</a:t>
                      </a:r>
                      <a:endParaRPr lang="en-IN" sz="1050" b="1"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ctr"/>
                      <a:r>
                        <a:rPr lang="en-US" sz="1050" b="1" u="none" strike="noStrike" dirty="0">
                          <a:effectLst/>
                        </a:rPr>
                        <a:t>ACS on energy sold basis</a:t>
                      </a:r>
                      <a:endParaRPr lang="en-US" sz="1050" b="1"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3021408307"/>
                  </a:ext>
                </a:extLst>
              </a:tr>
              <a:tr h="185918">
                <a:tc>
                  <a:txBody>
                    <a:bodyPr/>
                    <a:lstStyle/>
                    <a:p>
                      <a:pPr algn="l" fontAlgn="b"/>
                      <a:r>
                        <a:rPr lang="en-IN" sz="1050" u="none" strike="noStrike" dirty="0">
                          <a:effectLst/>
                        </a:rPr>
                        <a:t>DGVCL</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b"/>
                </a:tc>
                <a:tc>
                  <a:txBody>
                    <a:bodyPr/>
                    <a:lstStyle/>
                    <a:p>
                      <a:pPr algn="ctr" fontAlgn="t"/>
                      <a:r>
                        <a:rPr lang="en-IN" sz="1050" u="none" strike="noStrike" dirty="0">
                          <a:effectLst/>
                        </a:rPr>
                        <a:t>6.35</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50" u="none" strike="noStrike">
                          <a:effectLst/>
                        </a:rPr>
                        <a:t>0.19</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t"/>
                      <a:r>
                        <a:rPr lang="en-IN" sz="1050" u="none" strike="noStrike">
                          <a:effectLst/>
                        </a:rPr>
                        <a:t>0.05</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50" u="none" strike="noStrike" dirty="0">
                          <a:effectLst/>
                        </a:rPr>
                        <a:t>0.15</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190500" marT="6350" marB="0" anchor="ctr"/>
                </a:tc>
                <a:tc>
                  <a:txBody>
                    <a:bodyPr/>
                    <a:lstStyle/>
                    <a:p>
                      <a:pPr algn="ctr" fontAlgn="t"/>
                      <a:r>
                        <a:rPr lang="en-IN" sz="1050" u="none" strike="noStrike">
                          <a:effectLst/>
                        </a:rPr>
                        <a:t>0.07</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b"/>
                      <a:r>
                        <a:rPr lang="en-IN" sz="1050" u="none" strike="noStrike">
                          <a:effectLst/>
                        </a:rPr>
                        <a:t>6.81</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3471816023"/>
                  </a:ext>
                </a:extLst>
              </a:tr>
              <a:tr h="185918">
                <a:tc>
                  <a:txBody>
                    <a:bodyPr/>
                    <a:lstStyle/>
                    <a:p>
                      <a:pPr algn="l" fontAlgn="b"/>
                      <a:r>
                        <a:rPr lang="en-IN" sz="1050" u="none" strike="noStrike" dirty="0">
                          <a:effectLst/>
                        </a:rPr>
                        <a:t>DHBVNL</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b"/>
                </a:tc>
                <a:tc>
                  <a:txBody>
                    <a:bodyPr/>
                    <a:lstStyle/>
                    <a:p>
                      <a:pPr algn="ctr" fontAlgn="t"/>
                      <a:r>
                        <a:rPr lang="en-IN" sz="1050" u="none" strike="noStrike" dirty="0">
                          <a:effectLst/>
                        </a:rPr>
                        <a:t>5.72</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50" u="none" strike="noStrike" dirty="0">
                          <a:effectLst/>
                        </a:rPr>
                        <a:t>0.43</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t"/>
                      <a:r>
                        <a:rPr lang="en-IN" sz="1050" u="none" strike="noStrike">
                          <a:effectLst/>
                        </a:rPr>
                        <a:t>0.19</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50" u="none" strike="noStrike" dirty="0">
                          <a:effectLst/>
                        </a:rPr>
                        <a:t>0.09</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190500" marT="6350" marB="0" anchor="ctr"/>
                </a:tc>
                <a:tc>
                  <a:txBody>
                    <a:bodyPr/>
                    <a:lstStyle/>
                    <a:p>
                      <a:pPr algn="ctr" fontAlgn="t"/>
                      <a:r>
                        <a:rPr lang="en-IN" sz="1050" u="none" strike="noStrike">
                          <a:effectLst/>
                        </a:rPr>
                        <a:t>0.09</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b"/>
                      <a:r>
                        <a:rPr lang="en-IN" sz="1050" u="none" strike="noStrike">
                          <a:effectLst/>
                        </a:rPr>
                        <a:t>6.51</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3021157299"/>
                  </a:ext>
                </a:extLst>
              </a:tr>
              <a:tr h="185918">
                <a:tc>
                  <a:txBody>
                    <a:bodyPr/>
                    <a:lstStyle/>
                    <a:p>
                      <a:pPr algn="l" fontAlgn="b"/>
                      <a:r>
                        <a:rPr lang="en-IN" sz="1050" u="none" strike="noStrike" dirty="0">
                          <a:effectLst/>
                        </a:rPr>
                        <a:t>BESCOM</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b"/>
                </a:tc>
                <a:tc>
                  <a:txBody>
                    <a:bodyPr/>
                    <a:lstStyle/>
                    <a:p>
                      <a:pPr algn="ctr" fontAlgn="t"/>
                      <a:r>
                        <a:rPr lang="en-IN" sz="1050" u="none" strike="noStrike" dirty="0">
                          <a:effectLst/>
                        </a:rPr>
                        <a:t>6.75</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50" u="none" strike="noStrike" dirty="0">
                          <a:effectLst/>
                        </a:rPr>
                        <a:t>0.49</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t"/>
                      <a:r>
                        <a:rPr lang="en-IN" sz="1050" u="none" strike="noStrike">
                          <a:effectLst/>
                        </a:rPr>
                        <a:t>0.29</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50" u="none" strike="noStrike" dirty="0">
                          <a:effectLst/>
                        </a:rPr>
                        <a:t>0.19</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190500" marT="6350" marB="0" anchor="ctr"/>
                </a:tc>
                <a:tc>
                  <a:txBody>
                    <a:bodyPr/>
                    <a:lstStyle/>
                    <a:p>
                      <a:pPr algn="ctr" fontAlgn="t"/>
                      <a:r>
                        <a:rPr lang="en-IN" sz="1050" u="none" strike="noStrike" dirty="0">
                          <a:effectLst/>
                        </a:rPr>
                        <a:t>0.17</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b"/>
                      <a:r>
                        <a:rPr lang="en-IN" sz="1050" u="none" strike="noStrike">
                          <a:effectLst/>
                        </a:rPr>
                        <a:t>7.89</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2869734403"/>
                  </a:ext>
                </a:extLst>
              </a:tr>
              <a:tr h="185918">
                <a:tc>
                  <a:txBody>
                    <a:bodyPr/>
                    <a:lstStyle/>
                    <a:p>
                      <a:pPr algn="l" fontAlgn="b"/>
                      <a:r>
                        <a:rPr lang="en-IN" sz="1050" u="none" strike="noStrike" dirty="0">
                          <a:effectLst/>
                        </a:rPr>
                        <a:t>MSEDCL</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b"/>
                </a:tc>
                <a:tc>
                  <a:txBody>
                    <a:bodyPr/>
                    <a:lstStyle/>
                    <a:p>
                      <a:pPr algn="ctr" fontAlgn="t"/>
                      <a:r>
                        <a:rPr lang="en-IN" sz="1050" u="none" strike="noStrike" dirty="0">
                          <a:effectLst/>
                        </a:rPr>
                        <a:t>5.68</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50" u="none" strike="noStrike" dirty="0">
                          <a:effectLst/>
                        </a:rPr>
                        <a:t>0.41</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t"/>
                      <a:r>
                        <a:rPr lang="en-IN" sz="1050" u="none" strike="noStrike" dirty="0">
                          <a:effectLst/>
                        </a:rPr>
                        <a:t>0.43</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50" u="none" strike="noStrike">
                          <a:effectLst/>
                        </a:rPr>
                        <a:t>0.26</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190500" marT="6350" marB="0" anchor="ctr"/>
                </a:tc>
                <a:tc>
                  <a:txBody>
                    <a:bodyPr/>
                    <a:lstStyle/>
                    <a:p>
                      <a:pPr algn="ctr" fontAlgn="t"/>
                      <a:r>
                        <a:rPr lang="en-IN" sz="1050" u="none" strike="noStrike" dirty="0">
                          <a:effectLst/>
                        </a:rPr>
                        <a:t>0.71</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b"/>
                      <a:r>
                        <a:rPr lang="en-IN" sz="1050" u="none" strike="noStrike">
                          <a:effectLst/>
                        </a:rPr>
                        <a:t>7.51</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215682494"/>
                  </a:ext>
                </a:extLst>
              </a:tr>
              <a:tr h="185918">
                <a:tc>
                  <a:txBody>
                    <a:bodyPr/>
                    <a:lstStyle/>
                    <a:p>
                      <a:pPr algn="l" fontAlgn="b"/>
                      <a:r>
                        <a:rPr lang="en-IN" sz="1050" u="none" strike="noStrike">
                          <a:effectLst/>
                        </a:rPr>
                        <a:t>UPCL</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b"/>
                </a:tc>
                <a:tc>
                  <a:txBody>
                    <a:bodyPr/>
                    <a:lstStyle/>
                    <a:p>
                      <a:pPr algn="ctr" fontAlgn="t"/>
                      <a:r>
                        <a:rPr lang="en-IN" sz="1050" u="none" strike="noStrike" dirty="0">
                          <a:effectLst/>
                        </a:rPr>
                        <a:t>4.81</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50" u="none" strike="noStrike">
                          <a:effectLst/>
                        </a:rPr>
                        <a:t>0.27</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t"/>
                      <a:r>
                        <a:rPr lang="en-IN" sz="1050" u="none" strike="noStrike" dirty="0">
                          <a:effectLst/>
                        </a:rPr>
                        <a:t>0.17</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50" u="none" strike="noStrike" dirty="0">
                          <a:effectLst/>
                        </a:rPr>
                        <a:t>0.14</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190500" marT="6350" marB="0" anchor="ctr"/>
                </a:tc>
                <a:tc>
                  <a:txBody>
                    <a:bodyPr/>
                    <a:lstStyle/>
                    <a:p>
                      <a:pPr algn="ctr" fontAlgn="t"/>
                      <a:r>
                        <a:rPr lang="en-IN" sz="1050" u="none" strike="noStrike" dirty="0">
                          <a:effectLst/>
                        </a:rPr>
                        <a:t>0.25</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b"/>
                      <a:r>
                        <a:rPr lang="en-IN" sz="1050" u="none" strike="noStrike">
                          <a:effectLst/>
                        </a:rPr>
                        <a:t>5.64</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3452515036"/>
                  </a:ext>
                </a:extLst>
              </a:tr>
              <a:tr h="185918">
                <a:tc>
                  <a:txBody>
                    <a:bodyPr/>
                    <a:lstStyle/>
                    <a:p>
                      <a:pPr algn="l" fontAlgn="b"/>
                      <a:r>
                        <a:rPr lang="en-IN" sz="1050" u="none" strike="noStrike">
                          <a:effectLst/>
                        </a:rPr>
                        <a:t>PSPCL</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b"/>
                </a:tc>
                <a:tc>
                  <a:txBody>
                    <a:bodyPr/>
                    <a:lstStyle/>
                    <a:p>
                      <a:pPr algn="ctr" fontAlgn="t"/>
                      <a:r>
                        <a:rPr lang="en-IN" sz="1050" u="none" strike="noStrike" dirty="0">
                          <a:effectLst/>
                        </a:rPr>
                        <a:t>4.89</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50" u="none" strike="noStrike" dirty="0">
                          <a:effectLst/>
                        </a:rPr>
                        <a:t>0.98</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t"/>
                      <a:r>
                        <a:rPr lang="en-IN" sz="1050" u="none" strike="noStrike">
                          <a:effectLst/>
                        </a:rPr>
                        <a:t>0.61</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50" u="none" strike="noStrike" dirty="0">
                          <a:effectLst/>
                        </a:rPr>
                        <a:t>0.26</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190500" marT="6350" marB="0" anchor="ctr"/>
                </a:tc>
                <a:tc>
                  <a:txBody>
                    <a:bodyPr/>
                    <a:lstStyle/>
                    <a:p>
                      <a:pPr algn="ctr" fontAlgn="t"/>
                      <a:r>
                        <a:rPr lang="en-IN" sz="1050" u="none" strike="noStrike" dirty="0">
                          <a:effectLst/>
                        </a:rPr>
                        <a:t>0.17</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b"/>
                      <a:r>
                        <a:rPr lang="en-IN" sz="1050" u="none" strike="noStrike">
                          <a:effectLst/>
                        </a:rPr>
                        <a:t>6.91</a:t>
                      </a:r>
                      <a:endParaRPr lang="en-IN" sz="105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1316671828"/>
                  </a:ext>
                </a:extLst>
              </a:tr>
              <a:tr h="185918">
                <a:tc>
                  <a:txBody>
                    <a:bodyPr/>
                    <a:lstStyle/>
                    <a:p>
                      <a:pPr algn="l" fontAlgn="b"/>
                      <a:r>
                        <a:rPr lang="en-IN" sz="1050" u="none" strike="noStrike" dirty="0">
                          <a:effectLst/>
                        </a:rPr>
                        <a:t>WBSEDCL</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b"/>
                </a:tc>
                <a:tc>
                  <a:txBody>
                    <a:bodyPr/>
                    <a:lstStyle/>
                    <a:p>
                      <a:pPr algn="ctr" fontAlgn="t"/>
                      <a:r>
                        <a:rPr lang="en-IN" sz="1050" u="none" strike="noStrike" dirty="0">
                          <a:effectLst/>
                        </a:rPr>
                        <a:t>5.76</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50" u="none" strike="noStrike" dirty="0">
                          <a:effectLst/>
                        </a:rPr>
                        <a:t>0.32</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t"/>
                      <a:r>
                        <a:rPr lang="en-IN" sz="1050" u="none" strike="noStrike" dirty="0">
                          <a:effectLst/>
                        </a:rPr>
                        <a:t>0.46</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50" u="none" strike="noStrike" dirty="0">
                          <a:effectLst/>
                        </a:rPr>
                        <a:t>0.29</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190500" marT="6350" marB="0" anchor="ctr"/>
                </a:tc>
                <a:tc>
                  <a:txBody>
                    <a:bodyPr/>
                    <a:lstStyle/>
                    <a:p>
                      <a:pPr algn="ctr" fontAlgn="t"/>
                      <a:r>
                        <a:rPr lang="en-IN" sz="1050" u="none" strike="noStrike" dirty="0">
                          <a:effectLst/>
                        </a:rPr>
                        <a:t>0.39</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b"/>
                      <a:r>
                        <a:rPr lang="en-IN" sz="1050" u="none" strike="noStrike" dirty="0">
                          <a:effectLst/>
                        </a:rPr>
                        <a:t>7.22</a:t>
                      </a:r>
                      <a:endParaRPr lang="en-IN" sz="105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2324388734"/>
                  </a:ext>
                </a:extLst>
              </a:tr>
            </a:tbl>
          </a:graphicData>
        </a:graphic>
      </p:graphicFrame>
      <p:sp>
        <p:nvSpPr>
          <p:cNvPr id="31" name="TextBox 30">
            <a:extLst>
              <a:ext uri="{FF2B5EF4-FFF2-40B4-BE49-F238E27FC236}">
                <a16:creationId xmlns:a16="http://schemas.microsoft.com/office/drawing/2014/main" id="{1AABD5CB-F876-4946-B36C-E2344B8170AA}"/>
              </a:ext>
            </a:extLst>
          </p:cNvPr>
          <p:cNvSpPr txBox="1"/>
          <p:nvPr/>
        </p:nvSpPr>
        <p:spPr>
          <a:xfrm>
            <a:off x="9864011" y="6484544"/>
            <a:ext cx="1518364" cy="246221"/>
          </a:xfrm>
          <a:prstGeom prst="rect">
            <a:avLst/>
          </a:prstGeom>
          <a:noFill/>
        </p:spPr>
        <p:txBody>
          <a:bodyPr wrap="none" rtlCol="0">
            <a:spAutoFit/>
          </a:bodyPr>
          <a:lstStyle/>
          <a:p>
            <a:r>
              <a:rPr lang="en-US" sz="1000" i="1" dirty="0"/>
              <a:t>Source: PFC Reports</a:t>
            </a:r>
            <a:endParaRPr lang="en-IN" sz="1000" i="1" dirty="0"/>
          </a:p>
        </p:txBody>
      </p:sp>
      <p:graphicFrame>
        <p:nvGraphicFramePr>
          <p:cNvPr id="32" name="Table 31">
            <a:extLst>
              <a:ext uri="{FF2B5EF4-FFF2-40B4-BE49-F238E27FC236}">
                <a16:creationId xmlns:a16="http://schemas.microsoft.com/office/drawing/2014/main" id="{8511CEC3-99B5-4F3B-AA58-2E888AD0A5EF}"/>
              </a:ext>
            </a:extLst>
          </p:cNvPr>
          <p:cNvGraphicFramePr>
            <a:graphicFrameLocks noGrp="1"/>
          </p:cNvGraphicFramePr>
          <p:nvPr>
            <p:extLst>
              <p:ext uri="{D42A27DB-BD31-4B8C-83A1-F6EECF244321}">
                <p14:modId xmlns:p14="http://schemas.microsoft.com/office/powerpoint/2010/main" val="2375453633"/>
              </p:ext>
            </p:extLst>
          </p:nvPr>
        </p:nvGraphicFramePr>
        <p:xfrm>
          <a:off x="441560" y="4216648"/>
          <a:ext cx="5876733" cy="2231013"/>
        </p:xfrm>
        <a:graphic>
          <a:graphicData uri="http://schemas.openxmlformats.org/drawingml/2006/table">
            <a:tbl>
              <a:tblPr>
                <a:tableStyleId>{69CF1AB2-1976-4502-BF36-3FF5EA218861}</a:tableStyleId>
              </a:tblPr>
              <a:tblGrid>
                <a:gridCol w="1427703">
                  <a:extLst>
                    <a:ext uri="{9D8B030D-6E8A-4147-A177-3AD203B41FA5}">
                      <a16:colId xmlns:a16="http://schemas.microsoft.com/office/drawing/2014/main" val="1911695101"/>
                    </a:ext>
                  </a:extLst>
                </a:gridCol>
                <a:gridCol w="741505">
                  <a:extLst>
                    <a:ext uri="{9D8B030D-6E8A-4147-A177-3AD203B41FA5}">
                      <a16:colId xmlns:a16="http://schemas.microsoft.com/office/drawing/2014/main" val="1443145282"/>
                    </a:ext>
                  </a:extLst>
                </a:gridCol>
                <a:gridCol w="741505">
                  <a:extLst>
                    <a:ext uri="{9D8B030D-6E8A-4147-A177-3AD203B41FA5}">
                      <a16:colId xmlns:a16="http://schemas.microsoft.com/office/drawing/2014/main" val="4100716379"/>
                    </a:ext>
                  </a:extLst>
                </a:gridCol>
                <a:gridCol w="741505">
                  <a:extLst>
                    <a:ext uri="{9D8B030D-6E8A-4147-A177-3AD203B41FA5}">
                      <a16:colId xmlns:a16="http://schemas.microsoft.com/office/drawing/2014/main" val="2215256965"/>
                    </a:ext>
                  </a:extLst>
                </a:gridCol>
                <a:gridCol w="741505">
                  <a:extLst>
                    <a:ext uri="{9D8B030D-6E8A-4147-A177-3AD203B41FA5}">
                      <a16:colId xmlns:a16="http://schemas.microsoft.com/office/drawing/2014/main" val="2203280551"/>
                    </a:ext>
                  </a:extLst>
                </a:gridCol>
                <a:gridCol w="741505">
                  <a:extLst>
                    <a:ext uri="{9D8B030D-6E8A-4147-A177-3AD203B41FA5}">
                      <a16:colId xmlns:a16="http://schemas.microsoft.com/office/drawing/2014/main" val="3070190861"/>
                    </a:ext>
                  </a:extLst>
                </a:gridCol>
                <a:gridCol w="741505">
                  <a:extLst>
                    <a:ext uri="{9D8B030D-6E8A-4147-A177-3AD203B41FA5}">
                      <a16:colId xmlns:a16="http://schemas.microsoft.com/office/drawing/2014/main" val="1075354303"/>
                    </a:ext>
                  </a:extLst>
                </a:gridCol>
              </a:tblGrid>
              <a:tr h="929587">
                <a:tc>
                  <a:txBody>
                    <a:bodyPr/>
                    <a:lstStyle/>
                    <a:p>
                      <a:pPr algn="l" fontAlgn="ctr"/>
                      <a:r>
                        <a:rPr lang="en-US" sz="1000" b="1" u="none" strike="noStrike" dirty="0">
                          <a:effectLst/>
                        </a:rPr>
                        <a:t>Cost Structure on energy sold basis (FY2017-18)</a:t>
                      </a:r>
                    </a:p>
                    <a:p>
                      <a:pPr algn="l" fontAlgn="ctr"/>
                      <a:r>
                        <a:rPr lang="en-US" sz="1000" b="1" u="none" strike="noStrike" dirty="0">
                          <a:effectLst/>
                        </a:rPr>
                        <a:t>(Rs/kWh)</a:t>
                      </a:r>
                      <a:endParaRPr lang="en-US" sz="1000" b="1"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ctr"/>
                      <a:r>
                        <a:rPr lang="en-US" sz="1000" b="1" u="none" strike="noStrike" dirty="0">
                          <a:effectLst/>
                        </a:rPr>
                        <a:t>Cost of Power</a:t>
                      </a:r>
                      <a:br>
                        <a:rPr lang="en-US" sz="1000" b="1" u="none" strike="noStrike" dirty="0">
                          <a:effectLst/>
                        </a:rPr>
                      </a:br>
                      <a:r>
                        <a:rPr lang="en-US" sz="1000" b="1" u="none" strike="noStrike" dirty="0">
                          <a:effectLst/>
                        </a:rPr>
                        <a:t>(including own</a:t>
                      </a:r>
                      <a:br>
                        <a:rPr lang="en-US" sz="1000" b="1" u="none" strike="noStrike" dirty="0">
                          <a:effectLst/>
                        </a:rPr>
                      </a:br>
                      <a:r>
                        <a:rPr lang="en-US" sz="1000" b="1" u="none" strike="noStrike" dirty="0">
                          <a:effectLst/>
                        </a:rPr>
                        <a:t>generation)</a:t>
                      </a:r>
                      <a:endParaRPr lang="en-US" sz="1000" b="1"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ctr"/>
                      <a:r>
                        <a:rPr lang="en-IN" sz="1000" b="1" u="none" strike="noStrike" dirty="0">
                          <a:effectLst/>
                        </a:rPr>
                        <a:t>Employee Cost</a:t>
                      </a:r>
                      <a:endParaRPr lang="en-IN" sz="1000" b="1"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ctr"/>
                      <a:r>
                        <a:rPr lang="en-IN" sz="1000" b="1" u="none" strike="noStrike" dirty="0">
                          <a:effectLst/>
                        </a:rPr>
                        <a:t>Interest Cost</a:t>
                      </a:r>
                      <a:endParaRPr lang="en-IN" sz="1000" b="1"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ctr"/>
                      <a:r>
                        <a:rPr lang="en-IN" sz="1000" b="1" u="none" strike="noStrike" dirty="0">
                          <a:effectLst/>
                        </a:rPr>
                        <a:t>Depreciation</a:t>
                      </a:r>
                      <a:endParaRPr lang="en-IN" sz="1000" b="1"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ctr"/>
                      <a:r>
                        <a:rPr lang="en-IN" sz="1000" b="1" u="none" strike="noStrike" dirty="0">
                          <a:effectLst/>
                        </a:rPr>
                        <a:t>Other Costs</a:t>
                      </a:r>
                      <a:endParaRPr lang="en-IN" sz="1000" b="1"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ctr"/>
                      <a:r>
                        <a:rPr lang="en-US" sz="1000" b="1" u="none" strike="noStrike" dirty="0">
                          <a:effectLst/>
                        </a:rPr>
                        <a:t>ACS on energy sold basis</a:t>
                      </a:r>
                      <a:endParaRPr lang="en-US" sz="1000" b="1"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4124843540"/>
                  </a:ext>
                </a:extLst>
              </a:tr>
              <a:tr h="185918">
                <a:tc>
                  <a:txBody>
                    <a:bodyPr/>
                    <a:lstStyle/>
                    <a:p>
                      <a:pPr algn="l" fontAlgn="b"/>
                      <a:r>
                        <a:rPr lang="en-IN" sz="1000" u="none" strike="noStrike">
                          <a:effectLst/>
                        </a:rPr>
                        <a:t>DGVCL</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b"/>
                </a:tc>
                <a:tc>
                  <a:txBody>
                    <a:bodyPr/>
                    <a:lstStyle/>
                    <a:p>
                      <a:pPr algn="ctr" fontAlgn="t"/>
                      <a:r>
                        <a:rPr lang="en-IN" sz="1000" u="none" strike="noStrike" dirty="0">
                          <a:effectLst/>
                        </a:rPr>
                        <a:t>5.96</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00" u="none" strike="noStrike" dirty="0">
                          <a:effectLst/>
                        </a:rPr>
                        <a:t>0.21</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t"/>
                      <a:r>
                        <a:rPr lang="en-IN" sz="1000" u="none" strike="noStrike" dirty="0">
                          <a:effectLst/>
                        </a:rPr>
                        <a:t>0.05</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00" u="none" strike="noStrike" dirty="0">
                          <a:effectLst/>
                        </a:rPr>
                        <a:t>0.15</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190500" marT="6350" marB="0" anchor="ctr"/>
                </a:tc>
                <a:tc>
                  <a:txBody>
                    <a:bodyPr/>
                    <a:lstStyle/>
                    <a:p>
                      <a:pPr algn="ctr" fontAlgn="t"/>
                      <a:r>
                        <a:rPr lang="en-IN" sz="1000" u="none" strike="noStrike" dirty="0">
                          <a:effectLst/>
                        </a:rPr>
                        <a:t>0.32</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b"/>
                      <a:r>
                        <a:rPr lang="en-IN" sz="1000" u="none" strike="noStrike" dirty="0">
                          <a:effectLst/>
                        </a:rPr>
                        <a:t>6.68</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1154456612"/>
                  </a:ext>
                </a:extLst>
              </a:tr>
              <a:tr h="185918">
                <a:tc>
                  <a:txBody>
                    <a:bodyPr/>
                    <a:lstStyle/>
                    <a:p>
                      <a:pPr algn="l" fontAlgn="b"/>
                      <a:r>
                        <a:rPr lang="en-IN" sz="1000" u="none" strike="noStrike">
                          <a:effectLst/>
                        </a:rPr>
                        <a:t>DHBVNL</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b"/>
                </a:tc>
                <a:tc>
                  <a:txBody>
                    <a:bodyPr/>
                    <a:lstStyle/>
                    <a:p>
                      <a:pPr algn="ctr" fontAlgn="t"/>
                      <a:r>
                        <a:rPr lang="en-IN" sz="1000" u="none" strike="noStrike" dirty="0">
                          <a:effectLst/>
                        </a:rPr>
                        <a:t>5.66</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00" u="none" strike="noStrike" dirty="0">
                          <a:effectLst/>
                        </a:rPr>
                        <a:t>0.53</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t"/>
                      <a:r>
                        <a:rPr lang="en-IN" sz="1000" u="none" strike="noStrike">
                          <a:effectLst/>
                        </a:rPr>
                        <a:t>0.31</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00" u="none" strike="noStrike">
                          <a:effectLst/>
                        </a:rPr>
                        <a:t>0.09</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190500" marT="6350" marB="0" anchor="ctr"/>
                </a:tc>
                <a:tc>
                  <a:txBody>
                    <a:bodyPr/>
                    <a:lstStyle/>
                    <a:p>
                      <a:pPr algn="ctr" fontAlgn="t"/>
                      <a:r>
                        <a:rPr lang="en-IN" sz="1000" u="none" strike="noStrike">
                          <a:effectLst/>
                        </a:rPr>
                        <a:t>0.09</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b"/>
                      <a:r>
                        <a:rPr lang="en-IN" sz="1000" u="none" strike="noStrike" dirty="0">
                          <a:effectLst/>
                        </a:rPr>
                        <a:t>6.69</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4253356903"/>
                  </a:ext>
                </a:extLst>
              </a:tr>
              <a:tr h="185918">
                <a:tc>
                  <a:txBody>
                    <a:bodyPr/>
                    <a:lstStyle/>
                    <a:p>
                      <a:pPr algn="l" fontAlgn="b"/>
                      <a:r>
                        <a:rPr lang="en-IN" sz="1000" u="none" strike="noStrike">
                          <a:effectLst/>
                        </a:rPr>
                        <a:t>BESCOM</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b"/>
                </a:tc>
                <a:tc>
                  <a:txBody>
                    <a:bodyPr/>
                    <a:lstStyle/>
                    <a:p>
                      <a:pPr algn="ctr" fontAlgn="t"/>
                      <a:r>
                        <a:rPr lang="en-IN" sz="1000" u="none" strike="noStrike" dirty="0">
                          <a:effectLst/>
                        </a:rPr>
                        <a:t>5.82</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00" u="none" strike="noStrike" dirty="0">
                          <a:effectLst/>
                        </a:rPr>
                        <a:t>0.43</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t"/>
                      <a:r>
                        <a:rPr lang="en-IN" sz="1000" u="none" strike="noStrike" dirty="0">
                          <a:effectLst/>
                        </a:rPr>
                        <a:t>0.30</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00" u="none" strike="noStrike">
                          <a:effectLst/>
                        </a:rPr>
                        <a:t>0.18</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190500" marT="6350" marB="0" anchor="ctr"/>
                </a:tc>
                <a:tc>
                  <a:txBody>
                    <a:bodyPr/>
                    <a:lstStyle/>
                    <a:p>
                      <a:pPr algn="ctr" fontAlgn="t"/>
                      <a:r>
                        <a:rPr lang="en-IN" sz="1000" u="none" strike="noStrike">
                          <a:effectLst/>
                        </a:rPr>
                        <a:t>0.09</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b"/>
                      <a:r>
                        <a:rPr lang="en-IN" sz="1000" u="none" strike="noStrike" dirty="0">
                          <a:effectLst/>
                        </a:rPr>
                        <a:t>6.82</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1898753046"/>
                  </a:ext>
                </a:extLst>
              </a:tr>
              <a:tr h="185918">
                <a:tc>
                  <a:txBody>
                    <a:bodyPr/>
                    <a:lstStyle/>
                    <a:p>
                      <a:pPr algn="l" fontAlgn="b"/>
                      <a:r>
                        <a:rPr lang="en-IN" sz="1000" u="none" strike="noStrike">
                          <a:effectLst/>
                        </a:rPr>
                        <a:t>MSEDCL</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b"/>
                </a:tc>
                <a:tc>
                  <a:txBody>
                    <a:bodyPr/>
                    <a:lstStyle/>
                    <a:p>
                      <a:pPr algn="ctr" fontAlgn="t"/>
                      <a:r>
                        <a:rPr lang="en-IN" sz="1000" u="none" strike="noStrike">
                          <a:effectLst/>
                        </a:rPr>
                        <a:t>5.19</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00" u="none" strike="noStrike" dirty="0">
                          <a:effectLst/>
                        </a:rPr>
                        <a:t>0.40</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t"/>
                      <a:r>
                        <a:rPr lang="en-IN" sz="1000" u="none" strike="noStrike" dirty="0">
                          <a:effectLst/>
                        </a:rPr>
                        <a:t>0.58</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00" u="none" strike="noStrike" dirty="0">
                          <a:effectLst/>
                        </a:rPr>
                        <a:t>0.28</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190500" marT="6350" marB="0" anchor="ctr"/>
                </a:tc>
                <a:tc>
                  <a:txBody>
                    <a:bodyPr/>
                    <a:lstStyle/>
                    <a:p>
                      <a:pPr algn="ctr" fontAlgn="t"/>
                      <a:r>
                        <a:rPr lang="en-IN" sz="1000" u="none" strike="noStrike">
                          <a:effectLst/>
                        </a:rPr>
                        <a:t>0.28</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b"/>
                      <a:r>
                        <a:rPr lang="en-IN" sz="1000" u="none" strike="noStrike" dirty="0">
                          <a:effectLst/>
                        </a:rPr>
                        <a:t>6.72</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1080386391"/>
                  </a:ext>
                </a:extLst>
              </a:tr>
              <a:tr h="185918">
                <a:tc>
                  <a:txBody>
                    <a:bodyPr/>
                    <a:lstStyle/>
                    <a:p>
                      <a:pPr algn="l" fontAlgn="b"/>
                      <a:r>
                        <a:rPr lang="en-IN" sz="1000" u="none" strike="noStrike">
                          <a:effectLst/>
                        </a:rPr>
                        <a:t>UPCL</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b"/>
                </a:tc>
                <a:tc>
                  <a:txBody>
                    <a:bodyPr/>
                    <a:lstStyle/>
                    <a:p>
                      <a:pPr algn="ctr" fontAlgn="t"/>
                      <a:r>
                        <a:rPr lang="en-IN" sz="1000" u="none" strike="noStrike">
                          <a:effectLst/>
                        </a:rPr>
                        <a:t>4.48</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00" u="none" strike="noStrike">
                          <a:effectLst/>
                        </a:rPr>
                        <a:t>0.25</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t"/>
                      <a:r>
                        <a:rPr lang="en-IN" sz="1000" u="none" strike="noStrike" dirty="0">
                          <a:effectLst/>
                        </a:rPr>
                        <a:t>0.18</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00" u="none" strike="noStrike" dirty="0">
                          <a:effectLst/>
                        </a:rPr>
                        <a:t>0.14</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190500" marT="6350" marB="0" anchor="ctr"/>
                </a:tc>
                <a:tc>
                  <a:txBody>
                    <a:bodyPr/>
                    <a:lstStyle/>
                    <a:p>
                      <a:pPr algn="ctr" fontAlgn="t"/>
                      <a:r>
                        <a:rPr lang="en-IN" sz="1000" u="none" strike="noStrike" dirty="0">
                          <a:effectLst/>
                        </a:rPr>
                        <a:t>0.24</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b"/>
                      <a:r>
                        <a:rPr lang="en-IN" sz="1000" u="none" strike="noStrike" dirty="0">
                          <a:effectLst/>
                        </a:rPr>
                        <a:t>5.3</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1330314987"/>
                  </a:ext>
                </a:extLst>
              </a:tr>
              <a:tr h="185918">
                <a:tc>
                  <a:txBody>
                    <a:bodyPr/>
                    <a:lstStyle/>
                    <a:p>
                      <a:pPr algn="l" fontAlgn="b"/>
                      <a:r>
                        <a:rPr lang="en-IN" sz="1000" u="none" strike="noStrike">
                          <a:effectLst/>
                        </a:rPr>
                        <a:t>PSPCL</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b"/>
                </a:tc>
                <a:tc>
                  <a:txBody>
                    <a:bodyPr/>
                    <a:lstStyle/>
                    <a:p>
                      <a:pPr algn="ctr" fontAlgn="t"/>
                      <a:r>
                        <a:rPr lang="en-IN" sz="1000" u="none" strike="noStrike">
                          <a:effectLst/>
                        </a:rPr>
                        <a:t>4.32</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00" u="none" strike="noStrike">
                          <a:effectLst/>
                        </a:rPr>
                        <a:t>1.00</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t"/>
                      <a:r>
                        <a:rPr lang="en-IN" sz="1000" u="none" strike="noStrike">
                          <a:effectLst/>
                        </a:rPr>
                        <a:t>0.61</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00" u="none" strike="noStrike" dirty="0">
                          <a:effectLst/>
                        </a:rPr>
                        <a:t>0.25</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190500" marT="6350" marB="0" anchor="ctr"/>
                </a:tc>
                <a:tc>
                  <a:txBody>
                    <a:bodyPr/>
                    <a:lstStyle/>
                    <a:p>
                      <a:pPr algn="ctr" fontAlgn="t"/>
                      <a:r>
                        <a:rPr lang="en-IN" sz="1000" u="none" strike="noStrike" dirty="0">
                          <a:effectLst/>
                        </a:rPr>
                        <a:t>0.24</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b"/>
                      <a:r>
                        <a:rPr lang="en-IN" sz="1000" u="none" strike="noStrike" dirty="0">
                          <a:effectLst/>
                        </a:rPr>
                        <a:t>6.42</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2135927018"/>
                  </a:ext>
                </a:extLst>
              </a:tr>
              <a:tr h="185918">
                <a:tc>
                  <a:txBody>
                    <a:bodyPr/>
                    <a:lstStyle/>
                    <a:p>
                      <a:pPr algn="l" fontAlgn="b"/>
                      <a:r>
                        <a:rPr lang="en-IN" sz="1000" u="none" strike="noStrike" dirty="0">
                          <a:effectLst/>
                        </a:rPr>
                        <a:t>WBSEDCL</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b"/>
                </a:tc>
                <a:tc>
                  <a:txBody>
                    <a:bodyPr/>
                    <a:lstStyle/>
                    <a:p>
                      <a:pPr algn="ctr" fontAlgn="t"/>
                      <a:r>
                        <a:rPr lang="en-IN" sz="1000" u="none" strike="noStrike">
                          <a:effectLst/>
                        </a:rPr>
                        <a:t>5.50</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00" u="none" strike="noStrike">
                          <a:effectLst/>
                        </a:rPr>
                        <a:t>0.36</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t"/>
                      <a:r>
                        <a:rPr lang="en-IN" sz="1000" u="none" strike="noStrike">
                          <a:effectLst/>
                        </a:rPr>
                        <a:t>0.53</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6350" marT="6350" marB="0" anchor="ctr"/>
                </a:tc>
                <a:tc>
                  <a:txBody>
                    <a:bodyPr/>
                    <a:lstStyle/>
                    <a:p>
                      <a:pPr algn="ctr" fontAlgn="t"/>
                      <a:r>
                        <a:rPr lang="en-IN" sz="1000" u="none" strike="noStrike">
                          <a:effectLst/>
                        </a:rPr>
                        <a:t>0.32</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6350" marR="190500" marT="6350" marB="0" anchor="ctr"/>
                </a:tc>
                <a:tc>
                  <a:txBody>
                    <a:bodyPr/>
                    <a:lstStyle/>
                    <a:p>
                      <a:pPr algn="ctr" fontAlgn="t"/>
                      <a:r>
                        <a:rPr lang="en-IN" sz="1000" u="none" strike="noStrike" dirty="0">
                          <a:effectLst/>
                        </a:rPr>
                        <a:t>0.40</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95250" marT="6350" marB="0" anchor="ctr"/>
                </a:tc>
                <a:tc>
                  <a:txBody>
                    <a:bodyPr/>
                    <a:lstStyle/>
                    <a:p>
                      <a:pPr algn="ctr" fontAlgn="b"/>
                      <a:r>
                        <a:rPr lang="en-IN" sz="1000" u="none" strike="noStrike" dirty="0">
                          <a:effectLst/>
                        </a:rPr>
                        <a:t>7.09</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6350" marR="6350" marT="6350" marB="0" anchor="ctr"/>
                </a:tc>
                <a:extLst>
                  <a:ext uri="{0D108BD9-81ED-4DB2-BD59-A6C34878D82A}">
                    <a16:rowId xmlns:a16="http://schemas.microsoft.com/office/drawing/2014/main" val="1474583312"/>
                  </a:ext>
                </a:extLst>
              </a:tr>
            </a:tbl>
          </a:graphicData>
        </a:graphic>
      </p:graphicFrame>
    </p:spTree>
    <p:extLst>
      <p:ext uri="{BB962C8B-B14F-4D97-AF65-F5344CB8AC3E}">
        <p14:creationId xmlns:p14="http://schemas.microsoft.com/office/powerpoint/2010/main" val="312703759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6">
            <a:extLst>
              <a:ext uri="{FF2B5EF4-FFF2-40B4-BE49-F238E27FC236}">
                <a16:creationId xmlns:a16="http://schemas.microsoft.com/office/drawing/2014/main" id="{10C276D1-2F5E-4F91-B55A-1342F89B537E}"/>
              </a:ext>
            </a:extLst>
          </p:cNvPr>
          <p:cNvSpPr txBox="1">
            <a:spLocks/>
          </p:cNvSpPr>
          <p:nvPr/>
        </p:nvSpPr>
        <p:spPr bwMode="gray">
          <a:xfrm>
            <a:off x="538382" y="269246"/>
            <a:ext cx="11099435" cy="420021"/>
          </a:xfrm>
          <a:prstGeom prst="rect">
            <a:avLst/>
          </a:prstGeom>
        </p:spPr>
        <p:txBody>
          <a:bodyPr vert="horz" lIns="0" tIns="0" rIns="0" bIns="0" rtlCol="0" anchor="t" anchorCtr="0">
            <a:noAutofit/>
          </a:bodyPr>
          <a:lstStyle>
            <a:lvl1pPr algn="l" defTabSz="1554493" rtl="0" eaLnBrk="1" latinLnBrk="0" hangingPunct="1">
              <a:spcBef>
                <a:spcPct val="0"/>
              </a:spcBef>
              <a:buNone/>
              <a:defRPr sz="3400" kern="1200">
                <a:solidFill>
                  <a:schemeClr val="tx1"/>
                </a:solidFill>
                <a:latin typeface="+mj-lt"/>
                <a:ea typeface="+mj-ea"/>
                <a:cs typeface="+mj-cs"/>
              </a:defRPr>
            </a:lvl1pPr>
          </a:lstStyle>
          <a:p>
            <a:pPr algn="just" defTabSz="1059853"/>
            <a:r>
              <a:rPr lang="en-US" sz="1800" dirty="0">
                <a:solidFill>
                  <a:prstClr val="black"/>
                </a:solidFill>
                <a:latin typeface="Verdana" panose="020B0604030504040204" pitchFamily="34" charset="0"/>
                <a:ea typeface="Verdana" panose="020B0604030504040204" pitchFamily="34" charset="0"/>
              </a:rPr>
              <a:t>Critical factor affecting WBSEDCL overall business</a:t>
            </a:r>
            <a:endParaRPr lang="en-IN" sz="1800" dirty="0">
              <a:solidFill>
                <a:prstClr val="black"/>
              </a:solidFill>
            </a:endParaRPr>
          </a:p>
        </p:txBody>
      </p:sp>
      <p:grpSp>
        <p:nvGrpSpPr>
          <p:cNvPr id="10" name="Group 9">
            <a:extLst>
              <a:ext uri="{FF2B5EF4-FFF2-40B4-BE49-F238E27FC236}">
                <a16:creationId xmlns:a16="http://schemas.microsoft.com/office/drawing/2014/main" id="{BAA73643-ABFC-4706-8BA6-AEC06D605E47}"/>
              </a:ext>
            </a:extLst>
          </p:cNvPr>
          <p:cNvGrpSpPr/>
          <p:nvPr/>
        </p:nvGrpSpPr>
        <p:grpSpPr>
          <a:xfrm>
            <a:off x="338006" y="689267"/>
            <a:ext cx="11478856" cy="6001679"/>
            <a:chOff x="610567" y="1294092"/>
            <a:chExt cx="13651533" cy="8158166"/>
          </a:xfrm>
        </p:grpSpPr>
        <p:sp>
          <p:nvSpPr>
            <p:cNvPr id="11" name="TextBox 10">
              <a:extLst>
                <a:ext uri="{FF2B5EF4-FFF2-40B4-BE49-F238E27FC236}">
                  <a16:creationId xmlns:a16="http://schemas.microsoft.com/office/drawing/2014/main" id="{93E0E960-8F26-4D83-8227-0679736E533D}"/>
                </a:ext>
              </a:extLst>
            </p:cNvPr>
            <p:cNvSpPr txBox="1"/>
            <p:nvPr/>
          </p:nvSpPr>
          <p:spPr>
            <a:xfrm>
              <a:off x="878525" y="9098290"/>
              <a:ext cx="2001728" cy="353968"/>
            </a:xfrm>
            <a:prstGeom prst="rect">
              <a:avLst/>
            </a:prstGeom>
            <a:noFill/>
          </p:spPr>
          <p:txBody>
            <a:bodyPr wrap="none" rtlCol="0">
              <a:spAutoFit/>
            </a:bodyPr>
            <a:lstStyle/>
            <a:p>
              <a:r>
                <a:rPr lang="en-US" sz="800" i="1" dirty="0"/>
                <a:t>Source: Annual Accounts</a:t>
              </a:r>
              <a:endParaRPr lang="en-IN" sz="800" i="1" dirty="0"/>
            </a:p>
          </p:txBody>
        </p:sp>
        <p:sp>
          <p:nvSpPr>
            <p:cNvPr id="12" name="TextBox 11">
              <a:extLst>
                <a:ext uri="{FF2B5EF4-FFF2-40B4-BE49-F238E27FC236}">
                  <a16:creationId xmlns:a16="http://schemas.microsoft.com/office/drawing/2014/main" id="{183E9D1C-5ADF-4063-98B4-DA650AF8969E}"/>
                </a:ext>
              </a:extLst>
            </p:cNvPr>
            <p:cNvSpPr txBox="1"/>
            <p:nvPr/>
          </p:nvSpPr>
          <p:spPr>
            <a:xfrm>
              <a:off x="891207" y="4821611"/>
              <a:ext cx="13370893" cy="1380605"/>
            </a:xfrm>
            <a:prstGeom prst="rect">
              <a:avLst/>
            </a:prstGeom>
            <a:noFill/>
          </p:spPr>
          <p:txBody>
            <a:bodyPr wrap="square" rtlCol="0">
              <a:spAutoFit/>
            </a:bodyPr>
            <a:lstStyle/>
            <a:p>
              <a:pPr algn="just"/>
              <a:r>
                <a:rPr lang="en-US" sz="1200" b="1" dirty="0">
                  <a:latin typeface="Verdana" panose="020B0604030504040204" pitchFamily="34" charset="0"/>
                  <a:ea typeface="Verdana" panose="020B0604030504040204" pitchFamily="34" charset="0"/>
                </a:rPr>
                <a:t>Key factors in high loss levels for WBSEDCL:</a:t>
              </a:r>
            </a:p>
            <a:p>
              <a:pPr marL="285750" indent="-285750" algn="just">
                <a:buFont typeface="Arial" panose="020B0604020202020204" pitchFamily="34" charset="0"/>
                <a:buChar char="•"/>
              </a:pPr>
              <a:r>
                <a:rPr lang="en-US" sz="1200" dirty="0">
                  <a:latin typeface="Verdana" panose="020B0604030504040204" pitchFamily="34" charset="0"/>
                  <a:ea typeface="Verdana" panose="020B0604030504040204" pitchFamily="34" charset="0"/>
                </a:rPr>
                <a:t>WBSEDCL’s consumer mix is characterized by very high proportion of low voltage domestic consumers (~90% of WBSEDCL’s total consumer strength), contributing to ~40% of WBSEDCL’s total retail sale</a:t>
              </a:r>
            </a:p>
            <a:p>
              <a:pPr marL="285750" indent="-285750" algn="just">
                <a:buFont typeface="Arial" panose="020B0604020202020204" pitchFamily="34" charset="0"/>
                <a:buChar char="•"/>
              </a:pPr>
              <a:r>
                <a:rPr lang="en-US" sz="1200" dirty="0">
                  <a:latin typeface="Verdana" panose="020B0604030504040204" pitchFamily="34" charset="0"/>
                  <a:ea typeface="Verdana" panose="020B0604030504040204" pitchFamily="34" charset="0"/>
                </a:rPr>
                <a:t>Very high proportion of low voltage domestic consumers has contributed to high loss for WBSEDCL</a:t>
              </a:r>
            </a:p>
            <a:p>
              <a:pPr marL="285750" indent="-285750" algn="just">
                <a:buFont typeface="Arial" panose="020B0604020202020204" pitchFamily="34" charset="0"/>
                <a:buChar char="•"/>
              </a:pPr>
              <a:r>
                <a:rPr lang="en-US" sz="1200" dirty="0">
                  <a:latin typeface="Verdana" panose="020B0604030504040204" pitchFamily="34" charset="0"/>
                  <a:ea typeface="Verdana" panose="020B0604030504040204" pitchFamily="34" charset="0"/>
                </a:rPr>
                <a:t>Such domestic and LT-heavy consumer mix has resulted in higher system losses for WBSEDCL over the years (as illustrated below:</a:t>
              </a:r>
            </a:p>
          </p:txBody>
        </p:sp>
        <p:graphicFrame>
          <p:nvGraphicFramePr>
            <p:cNvPr id="13" name="Chart 12">
              <a:extLst>
                <a:ext uri="{FF2B5EF4-FFF2-40B4-BE49-F238E27FC236}">
                  <a16:creationId xmlns:a16="http://schemas.microsoft.com/office/drawing/2014/main" id="{7125BB0A-C2B5-4D9D-956B-BC4F53340DEC}"/>
                </a:ext>
              </a:extLst>
            </p:cNvPr>
            <p:cNvGraphicFramePr/>
            <p:nvPr>
              <p:extLst>
                <p:ext uri="{D42A27DB-BD31-4B8C-83A1-F6EECF244321}">
                  <p14:modId xmlns:p14="http://schemas.microsoft.com/office/powerpoint/2010/main" val="772342405"/>
                </p:ext>
              </p:extLst>
            </p:nvPr>
          </p:nvGraphicFramePr>
          <p:xfrm>
            <a:off x="610567" y="1301096"/>
            <a:ext cx="6463333" cy="343292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95ED8FB3-5AB5-4C95-BE5A-F90AA48B0F3F}"/>
                </a:ext>
              </a:extLst>
            </p:cNvPr>
            <p:cNvGraphicFramePr/>
            <p:nvPr>
              <p:extLst>
                <p:ext uri="{D42A27DB-BD31-4B8C-83A1-F6EECF244321}">
                  <p14:modId xmlns:p14="http://schemas.microsoft.com/office/powerpoint/2010/main" val="3899454200"/>
                </p:ext>
              </p:extLst>
            </p:nvPr>
          </p:nvGraphicFramePr>
          <p:xfrm>
            <a:off x="7265369" y="1294092"/>
            <a:ext cx="6463333" cy="343292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a:extLst>
                <a:ext uri="{FF2B5EF4-FFF2-40B4-BE49-F238E27FC236}">
                  <a16:creationId xmlns:a16="http://schemas.microsoft.com/office/drawing/2014/main" id="{0037972A-E6D3-4924-A5FA-C36609D47D9E}"/>
                </a:ext>
              </a:extLst>
            </p:cNvPr>
            <p:cNvGraphicFramePr/>
            <p:nvPr>
              <p:extLst>
                <p:ext uri="{D42A27DB-BD31-4B8C-83A1-F6EECF244321}">
                  <p14:modId xmlns:p14="http://schemas.microsoft.com/office/powerpoint/2010/main" val="1997665117"/>
                </p:ext>
              </p:extLst>
            </p:nvPr>
          </p:nvGraphicFramePr>
          <p:xfrm>
            <a:off x="878525" y="6202216"/>
            <a:ext cx="5573075" cy="2738584"/>
          </p:xfrm>
          <a:graphic>
            <a:graphicData uri="http://schemas.openxmlformats.org/drawingml/2006/chart">
              <c:chart xmlns:c="http://schemas.openxmlformats.org/drawingml/2006/chart" xmlns:r="http://schemas.openxmlformats.org/officeDocument/2006/relationships" r:id="rId4"/>
            </a:graphicData>
          </a:graphic>
        </p:graphicFrame>
      </p:grpSp>
    </p:spTree>
    <p:extLst>
      <p:ext uri="{BB962C8B-B14F-4D97-AF65-F5344CB8AC3E}">
        <p14:creationId xmlns:p14="http://schemas.microsoft.com/office/powerpoint/2010/main" val="168786499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6">
            <a:extLst>
              <a:ext uri="{FF2B5EF4-FFF2-40B4-BE49-F238E27FC236}">
                <a16:creationId xmlns:a16="http://schemas.microsoft.com/office/drawing/2014/main" id="{DC25BC0A-4251-443B-A70E-69932EC96927}"/>
              </a:ext>
            </a:extLst>
          </p:cNvPr>
          <p:cNvSpPr txBox="1">
            <a:spLocks/>
          </p:cNvSpPr>
          <p:nvPr/>
        </p:nvSpPr>
        <p:spPr bwMode="gray">
          <a:xfrm>
            <a:off x="538382" y="269246"/>
            <a:ext cx="11058672" cy="420021"/>
          </a:xfrm>
          <a:prstGeom prst="rect">
            <a:avLst/>
          </a:prstGeom>
        </p:spPr>
        <p:txBody>
          <a:bodyPr vert="horz" lIns="0" tIns="0" rIns="0" bIns="0" rtlCol="0" anchor="t" anchorCtr="0">
            <a:noAutofit/>
          </a:bodyPr>
          <a:lstStyle>
            <a:lvl1pPr algn="l" defTabSz="1554493" rtl="0" eaLnBrk="1" latinLnBrk="0" hangingPunct="1">
              <a:spcBef>
                <a:spcPct val="0"/>
              </a:spcBef>
              <a:buNone/>
              <a:defRPr sz="3400" kern="1200">
                <a:solidFill>
                  <a:schemeClr val="tx1"/>
                </a:solidFill>
                <a:latin typeface="+mj-lt"/>
                <a:ea typeface="+mj-ea"/>
                <a:cs typeface="+mj-cs"/>
              </a:defRPr>
            </a:lvl1pPr>
          </a:lstStyle>
          <a:p>
            <a:pPr algn="just" defTabSz="1059853"/>
            <a:r>
              <a:rPr lang="en-US" sz="1800" dirty="0">
                <a:solidFill>
                  <a:prstClr val="black"/>
                </a:solidFill>
                <a:latin typeface="Verdana" panose="020B0604030504040204" pitchFamily="34" charset="0"/>
                <a:ea typeface="Verdana" panose="020B0604030504040204" pitchFamily="34" charset="0"/>
              </a:rPr>
              <a:t>Comparison of WBSEDCL with other selected utilities</a:t>
            </a:r>
            <a:endParaRPr lang="en-IN" sz="1800" dirty="0">
              <a:solidFill>
                <a:prstClr val="black"/>
              </a:solidFill>
            </a:endParaRPr>
          </a:p>
        </p:txBody>
      </p:sp>
      <p:graphicFrame>
        <p:nvGraphicFramePr>
          <p:cNvPr id="10" name="Chart 9">
            <a:extLst>
              <a:ext uri="{FF2B5EF4-FFF2-40B4-BE49-F238E27FC236}">
                <a16:creationId xmlns:a16="http://schemas.microsoft.com/office/drawing/2014/main" id="{2C810AD3-88CF-4235-9547-537976B6DE23}"/>
              </a:ext>
            </a:extLst>
          </p:cNvPr>
          <p:cNvGraphicFramePr>
            <a:graphicFrameLocks/>
          </p:cNvGraphicFramePr>
          <p:nvPr>
            <p:extLst>
              <p:ext uri="{D42A27DB-BD31-4B8C-83A1-F6EECF244321}">
                <p14:modId xmlns:p14="http://schemas.microsoft.com/office/powerpoint/2010/main" val="872031429"/>
              </p:ext>
            </p:extLst>
          </p:nvPr>
        </p:nvGraphicFramePr>
        <p:xfrm>
          <a:off x="538382" y="547078"/>
          <a:ext cx="7813014" cy="3259991"/>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8A7D5D2F-7360-408C-A8AB-E6742A3B4BB0}"/>
              </a:ext>
            </a:extLst>
          </p:cNvPr>
          <p:cNvSpPr txBox="1"/>
          <p:nvPr/>
        </p:nvSpPr>
        <p:spPr>
          <a:xfrm>
            <a:off x="8351396" y="863601"/>
            <a:ext cx="3465466" cy="2123658"/>
          </a:xfrm>
          <a:prstGeom prst="rect">
            <a:avLst/>
          </a:prstGeom>
          <a:noFill/>
        </p:spPr>
        <p:txBody>
          <a:bodyPr wrap="square" rtlCol="0">
            <a:spAutoFit/>
          </a:bodyPr>
          <a:lstStyle/>
          <a:p>
            <a:pPr algn="just"/>
            <a:r>
              <a:rPr lang="en-US" sz="1100" b="1" dirty="0">
                <a:latin typeface="Verdana" panose="020B0604030504040204" pitchFamily="34" charset="0"/>
                <a:ea typeface="Verdana" panose="020B0604030504040204" pitchFamily="34" charset="0"/>
              </a:rPr>
              <a:t>Key Initiatives by DGVCL</a:t>
            </a:r>
          </a:p>
          <a:p>
            <a:pPr marL="285750" indent="-285750" algn="just">
              <a:buFont typeface="Arial" panose="020B0604020202020204" pitchFamily="34" charset="0"/>
              <a:buChar char="•"/>
            </a:pPr>
            <a:r>
              <a:rPr lang="en-US" sz="1100" dirty="0">
                <a:latin typeface="Verdana" panose="020B0604030504040204" pitchFamily="34" charset="0"/>
                <a:ea typeface="Verdana" panose="020B0604030504040204" pitchFamily="34" charset="0"/>
              </a:rPr>
              <a:t>Involved in all key Central Govt. Schemes</a:t>
            </a:r>
          </a:p>
          <a:p>
            <a:pPr marL="285750" indent="-285750" algn="just">
              <a:buFont typeface="Arial" panose="020B0604020202020204" pitchFamily="34" charset="0"/>
              <a:buChar char="•"/>
            </a:pPr>
            <a:r>
              <a:rPr lang="en-US" sz="1100" dirty="0">
                <a:latin typeface="Verdana" panose="020B0604030504040204" pitchFamily="34" charset="0"/>
                <a:ea typeface="Verdana" panose="020B0604030504040204" pitchFamily="34" charset="0"/>
              </a:rPr>
              <a:t>Installed SCADA for distribution management in Surat at a cost of Rs. 949 Mn under RAPDRP</a:t>
            </a:r>
          </a:p>
          <a:p>
            <a:pPr marL="285750" indent="-285750" algn="just">
              <a:buFont typeface="Arial" panose="020B0604020202020204" pitchFamily="34" charset="0"/>
              <a:buChar char="•"/>
            </a:pPr>
            <a:r>
              <a:rPr lang="en-US" sz="1100" dirty="0">
                <a:latin typeface="Verdana" panose="020B0604030504040204" pitchFamily="34" charset="0"/>
                <a:ea typeface="Verdana" panose="020B0604030504040204" pitchFamily="34" charset="0"/>
              </a:rPr>
              <a:t>Implemented system strengthening projects.</a:t>
            </a:r>
          </a:p>
          <a:p>
            <a:pPr marL="285750" indent="-285750" algn="just">
              <a:buFont typeface="Arial" panose="020B0604020202020204" pitchFamily="34" charset="0"/>
              <a:buChar char="•"/>
            </a:pPr>
            <a:r>
              <a:rPr lang="en-US" sz="1100" dirty="0">
                <a:latin typeface="Verdana" panose="020B0604030504040204" pitchFamily="34" charset="0"/>
                <a:ea typeface="Verdana" panose="020B0604030504040204" pitchFamily="34" charset="0"/>
              </a:rPr>
              <a:t>Gradually Shifting towards HVDS systems to eliminate low voltage distribution.</a:t>
            </a:r>
          </a:p>
          <a:p>
            <a:pPr marL="285750" indent="-285750" algn="just">
              <a:buFont typeface="Arial" panose="020B0604020202020204" pitchFamily="34" charset="0"/>
              <a:buChar char="•"/>
            </a:pPr>
            <a:r>
              <a:rPr lang="en-US" sz="1100" dirty="0">
                <a:latin typeface="Verdana" panose="020B0604030504040204" pitchFamily="34" charset="0"/>
                <a:ea typeface="Verdana" panose="020B0604030504040204" pitchFamily="34" charset="0"/>
              </a:rPr>
              <a:t>Initiated pilot project “</a:t>
            </a:r>
            <a:r>
              <a:rPr lang="en-IN" sz="1100" dirty="0" err="1">
                <a:latin typeface="Verdana" panose="020B0604030504040204" pitchFamily="34" charset="0"/>
                <a:ea typeface="Verdana" panose="020B0604030504040204" pitchFamily="34" charset="0"/>
              </a:rPr>
              <a:t>Suryashakti</a:t>
            </a:r>
            <a:r>
              <a:rPr lang="en-IN" sz="1100" dirty="0">
                <a:latin typeface="Verdana" panose="020B0604030504040204" pitchFamily="34" charset="0"/>
                <a:ea typeface="Verdana" panose="020B0604030504040204" pitchFamily="34" charset="0"/>
              </a:rPr>
              <a:t> </a:t>
            </a:r>
            <a:r>
              <a:rPr lang="en-IN" sz="1100" dirty="0" err="1">
                <a:latin typeface="Verdana" panose="020B0604030504040204" pitchFamily="34" charset="0"/>
                <a:ea typeface="Verdana" panose="020B0604030504040204" pitchFamily="34" charset="0"/>
              </a:rPr>
              <a:t>Kisan</a:t>
            </a:r>
            <a:r>
              <a:rPr lang="en-IN" sz="1100" dirty="0">
                <a:latin typeface="Verdana" panose="020B0604030504040204" pitchFamily="34" charset="0"/>
                <a:ea typeface="Verdana" panose="020B0604030504040204" pitchFamily="34" charset="0"/>
              </a:rPr>
              <a:t> </a:t>
            </a:r>
            <a:r>
              <a:rPr lang="en-IN" sz="1100" dirty="0" err="1">
                <a:latin typeface="Verdana" panose="020B0604030504040204" pitchFamily="34" charset="0"/>
                <a:ea typeface="Verdana" panose="020B0604030504040204" pitchFamily="34" charset="0"/>
              </a:rPr>
              <a:t>Yojna</a:t>
            </a:r>
            <a:r>
              <a:rPr lang="en-US" sz="1100" dirty="0">
                <a:latin typeface="Verdana" panose="020B0604030504040204" pitchFamily="34" charset="0"/>
                <a:ea typeface="Verdana" panose="020B0604030504040204" pitchFamily="34" charset="0"/>
              </a:rPr>
              <a:t>” for the </a:t>
            </a:r>
            <a:r>
              <a:rPr lang="en-US" sz="1100" dirty="0" err="1">
                <a:latin typeface="Verdana" panose="020B0604030504040204" pitchFamily="34" charset="0"/>
                <a:ea typeface="Verdana" panose="020B0604030504040204" pitchFamily="34" charset="0"/>
              </a:rPr>
              <a:t>solarisation</a:t>
            </a:r>
            <a:r>
              <a:rPr lang="en-US" sz="1100" dirty="0">
                <a:latin typeface="Verdana" panose="020B0604030504040204" pitchFamily="34" charset="0"/>
                <a:ea typeface="Verdana" panose="020B0604030504040204" pitchFamily="34" charset="0"/>
              </a:rPr>
              <a:t> of agriculture connections</a:t>
            </a:r>
            <a:r>
              <a:rPr lang="en-IN" sz="1100" dirty="0">
                <a:latin typeface="Verdana" panose="020B0604030504040204" pitchFamily="34" charset="0"/>
                <a:ea typeface="Verdana" panose="020B0604030504040204" pitchFamily="34" charset="0"/>
              </a:rPr>
              <a:t>.</a:t>
            </a:r>
          </a:p>
        </p:txBody>
      </p:sp>
      <p:sp>
        <p:nvSpPr>
          <p:cNvPr id="12" name="TextBox 11">
            <a:extLst>
              <a:ext uri="{FF2B5EF4-FFF2-40B4-BE49-F238E27FC236}">
                <a16:creationId xmlns:a16="http://schemas.microsoft.com/office/drawing/2014/main" id="{188DC1DF-98AA-4B4F-BC34-2660371A162D}"/>
              </a:ext>
            </a:extLst>
          </p:cNvPr>
          <p:cNvSpPr txBox="1"/>
          <p:nvPr/>
        </p:nvSpPr>
        <p:spPr>
          <a:xfrm>
            <a:off x="8351397" y="3070507"/>
            <a:ext cx="3465466" cy="2970044"/>
          </a:xfrm>
          <a:prstGeom prst="rect">
            <a:avLst/>
          </a:prstGeom>
          <a:noFill/>
        </p:spPr>
        <p:txBody>
          <a:bodyPr wrap="square" rtlCol="0">
            <a:spAutoFit/>
          </a:bodyPr>
          <a:lstStyle/>
          <a:p>
            <a:pPr algn="just"/>
            <a:r>
              <a:rPr lang="en-US" sz="1100" b="1" dirty="0">
                <a:latin typeface="Verdana" panose="020B0604030504040204" pitchFamily="34" charset="0"/>
                <a:ea typeface="Verdana" panose="020B0604030504040204" pitchFamily="34" charset="0"/>
              </a:rPr>
              <a:t>Key Initiatives by BESCOM</a:t>
            </a:r>
          </a:p>
          <a:p>
            <a:pPr marL="285750" indent="-285750" algn="just">
              <a:buFont typeface="Arial" panose="020B0604020202020204" pitchFamily="34" charset="0"/>
              <a:buChar char="•"/>
            </a:pPr>
            <a:r>
              <a:rPr lang="en-US" sz="1100" dirty="0">
                <a:latin typeface="Verdana" panose="020B0604030504040204" pitchFamily="34" charset="0"/>
                <a:ea typeface="Verdana" panose="020B0604030504040204" pitchFamily="34" charset="0"/>
              </a:rPr>
              <a:t>Setting up of EV charging stations. BESCOM has been declared as a state nodal agency for Karnataka for setting up EV charging infrastructure. </a:t>
            </a:r>
          </a:p>
          <a:p>
            <a:pPr marL="285750" indent="-285750" algn="just">
              <a:buFont typeface="Arial" panose="020B0604020202020204" pitchFamily="34" charset="0"/>
              <a:buChar char="•"/>
            </a:pPr>
            <a:r>
              <a:rPr lang="en-IN" sz="1100" dirty="0">
                <a:latin typeface="Verdana" panose="020B0604030504040204" pitchFamily="34" charset="0"/>
                <a:ea typeface="Verdana" panose="020B0604030504040204" pitchFamily="34" charset="0"/>
              </a:rPr>
              <a:t>Underground cabling </a:t>
            </a:r>
            <a:r>
              <a:rPr lang="en-US" sz="1100" dirty="0">
                <a:latin typeface="Verdana" panose="020B0604030504040204" pitchFamily="34" charset="0"/>
                <a:ea typeface="Verdana" panose="020B0604030504040204" pitchFamily="34" charset="0"/>
              </a:rPr>
              <a:t>to convert around 6,900 km of overhead lines into underground cables.</a:t>
            </a:r>
          </a:p>
          <a:p>
            <a:pPr marL="285750" indent="-285750" algn="just">
              <a:buFont typeface="Arial" panose="020B0604020202020204" pitchFamily="34" charset="0"/>
              <a:buChar char="•"/>
            </a:pPr>
            <a:r>
              <a:rPr lang="en-US" sz="1100" dirty="0">
                <a:latin typeface="Verdana" panose="020B0604030504040204" pitchFamily="34" charset="0"/>
                <a:ea typeface="Verdana" panose="020B0604030504040204" pitchFamily="34" charset="0"/>
              </a:rPr>
              <a:t>Replacement of around 3,000 regular transformers with specially designed transformers to reduce hazards and losses.</a:t>
            </a:r>
          </a:p>
          <a:p>
            <a:pPr marL="285750" indent="-285750" algn="just">
              <a:buFont typeface="Arial" panose="020B0604020202020204" pitchFamily="34" charset="0"/>
              <a:buChar char="•"/>
            </a:pPr>
            <a:r>
              <a:rPr lang="en-US" sz="1100" dirty="0">
                <a:latin typeface="Verdana" panose="020B0604030504040204" pitchFamily="34" charset="0"/>
                <a:ea typeface="Verdana" panose="020B0604030504040204" pitchFamily="34" charset="0"/>
              </a:rPr>
              <a:t>Signed an MoU with Tata Power Delhi Distribution Limited (Tata Power-DDL) to exchange best practices and solutions for renewable energy storage and smart metering in 2019.</a:t>
            </a:r>
            <a:endParaRPr lang="en-IN" sz="1100" dirty="0">
              <a:latin typeface="Verdana" panose="020B0604030504040204" pitchFamily="34" charset="0"/>
              <a:ea typeface="Verdana" panose="020B0604030504040204" pitchFamily="34" charset="0"/>
            </a:endParaRPr>
          </a:p>
        </p:txBody>
      </p:sp>
      <p:sp>
        <p:nvSpPr>
          <p:cNvPr id="13" name="Rectangle 12">
            <a:extLst>
              <a:ext uri="{FF2B5EF4-FFF2-40B4-BE49-F238E27FC236}">
                <a16:creationId xmlns:a16="http://schemas.microsoft.com/office/drawing/2014/main" id="{D360D608-04E7-4714-82D8-2053D6B87BA9}"/>
              </a:ext>
            </a:extLst>
          </p:cNvPr>
          <p:cNvSpPr/>
          <p:nvPr/>
        </p:nvSpPr>
        <p:spPr>
          <a:xfrm>
            <a:off x="538382" y="3796892"/>
            <a:ext cx="7691218" cy="769441"/>
          </a:xfrm>
          <a:prstGeom prst="rect">
            <a:avLst/>
          </a:prstGeom>
        </p:spPr>
        <p:txBody>
          <a:bodyPr wrap="square">
            <a:spAutoFit/>
          </a:bodyPr>
          <a:lstStyle/>
          <a:p>
            <a:pPr algn="just"/>
            <a:r>
              <a:rPr lang="en-IN" sz="1100" dirty="0">
                <a:latin typeface="Verdana" panose="020B0604030504040204" pitchFamily="34" charset="0"/>
                <a:ea typeface="Verdana" panose="020B0604030504040204" pitchFamily="34" charset="0"/>
              </a:rPr>
              <a:t>As per Standing Committee on Energy Report (2020-21), under the IPDS Scheme, 546 Circles across the country were sanctioned to be implemented. DGVCL, BESCOM has successfully implemented the scheme in all the circles identified within their operational area, whereas WBSEDCL has completed 9 out of 18 circles sanctioned for implementation.</a:t>
            </a:r>
            <a:endParaRPr lang="en-US" sz="1100" dirty="0">
              <a:latin typeface="Verdana" panose="020B0604030504040204" pitchFamily="34" charset="0"/>
              <a:ea typeface="Verdana" panose="020B0604030504040204" pitchFamily="34" charset="0"/>
            </a:endParaRPr>
          </a:p>
        </p:txBody>
      </p:sp>
      <p:sp>
        <p:nvSpPr>
          <p:cNvPr id="14" name="TextBox 13">
            <a:extLst>
              <a:ext uri="{FF2B5EF4-FFF2-40B4-BE49-F238E27FC236}">
                <a16:creationId xmlns:a16="http://schemas.microsoft.com/office/drawing/2014/main" id="{A7FD3113-709F-482A-A021-F354EB66AED9}"/>
              </a:ext>
            </a:extLst>
          </p:cNvPr>
          <p:cNvSpPr txBox="1"/>
          <p:nvPr/>
        </p:nvSpPr>
        <p:spPr>
          <a:xfrm>
            <a:off x="6742594" y="3591625"/>
            <a:ext cx="1250663" cy="215444"/>
          </a:xfrm>
          <a:prstGeom prst="rect">
            <a:avLst/>
          </a:prstGeom>
          <a:noFill/>
        </p:spPr>
        <p:txBody>
          <a:bodyPr wrap="none" rtlCol="0">
            <a:spAutoFit/>
          </a:bodyPr>
          <a:lstStyle/>
          <a:p>
            <a:r>
              <a:rPr lang="en-US" sz="800" i="1" dirty="0"/>
              <a:t>Source: PFC Reports</a:t>
            </a:r>
            <a:endParaRPr lang="en-IN" sz="800" i="1" dirty="0"/>
          </a:p>
        </p:txBody>
      </p:sp>
    </p:spTree>
    <p:extLst>
      <p:ext uri="{BB962C8B-B14F-4D97-AF65-F5344CB8AC3E}">
        <p14:creationId xmlns:p14="http://schemas.microsoft.com/office/powerpoint/2010/main" val="218718801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D7AB34-80CA-41E4-A6FE-F4470BDAB8BB}"/>
              </a:ext>
            </a:extLst>
          </p:cNvPr>
          <p:cNvSpPr/>
          <p:nvPr/>
        </p:nvSpPr>
        <p:spPr>
          <a:xfrm>
            <a:off x="4430849" y="3114231"/>
            <a:ext cx="3330311" cy="629585"/>
          </a:xfrm>
          <a:prstGeom prst="rect">
            <a:avLst/>
          </a:prstGeom>
          <a:noFill/>
        </p:spPr>
        <p:txBody>
          <a:bodyPr wrap="none" lIns="62345" tIns="31173" rIns="62345" bIns="31173">
            <a:spAutoFit/>
          </a:bodyPr>
          <a:lstStyle/>
          <a:p>
            <a:pPr algn="ctr" defTabSz="837848"/>
            <a:r>
              <a:rPr lang="en-US" sz="3682" dirty="0">
                <a:ln w="0"/>
                <a:solidFill>
                  <a:prstClr val="black"/>
                </a:solidFill>
                <a:effectLst>
                  <a:outerShdw blurRad="38100" dist="19050" dir="2700000" algn="tl" rotWithShape="0">
                    <a:prstClr val="black">
                      <a:alpha val="40000"/>
                    </a:prstClr>
                  </a:outerShdw>
                </a:effectLst>
                <a:latin typeface="Verdana"/>
              </a:rPr>
              <a:t>Annexure - II</a:t>
            </a:r>
          </a:p>
        </p:txBody>
      </p:sp>
    </p:spTree>
    <p:extLst>
      <p:ext uri="{BB962C8B-B14F-4D97-AF65-F5344CB8AC3E}">
        <p14:creationId xmlns:p14="http://schemas.microsoft.com/office/powerpoint/2010/main" val="3395440880"/>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7057BA3-BD59-41A1-B3AC-DD23660AE20F}"/>
              </a:ext>
            </a:extLst>
          </p:cNvPr>
          <p:cNvGraphicFramePr>
            <a:graphicFrameLocks noGrp="1"/>
          </p:cNvGraphicFramePr>
          <p:nvPr>
            <p:extLst>
              <p:ext uri="{D42A27DB-BD31-4B8C-83A1-F6EECF244321}">
                <p14:modId xmlns:p14="http://schemas.microsoft.com/office/powerpoint/2010/main" val="2918837062"/>
              </p:ext>
            </p:extLst>
          </p:nvPr>
        </p:nvGraphicFramePr>
        <p:xfrm>
          <a:off x="512006" y="614082"/>
          <a:ext cx="11322439" cy="6102987"/>
        </p:xfrm>
        <a:graphic>
          <a:graphicData uri="http://schemas.openxmlformats.org/drawingml/2006/table">
            <a:tbl>
              <a:tblPr firstRow="1" bandRow="1"/>
              <a:tblGrid>
                <a:gridCol w="4565456">
                  <a:extLst>
                    <a:ext uri="{9D8B030D-6E8A-4147-A177-3AD203B41FA5}">
                      <a16:colId xmlns:a16="http://schemas.microsoft.com/office/drawing/2014/main" val="2755113283"/>
                    </a:ext>
                  </a:extLst>
                </a:gridCol>
                <a:gridCol w="954071">
                  <a:extLst>
                    <a:ext uri="{9D8B030D-6E8A-4147-A177-3AD203B41FA5}">
                      <a16:colId xmlns:a16="http://schemas.microsoft.com/office/drawing/2014/main" val="3077613714"/>
                    </a:ext>
                  </a:extLst>
                </a:gridCol>
                <a:gridCol w="1384747">
                  <a:extLst>
                    <a:ext uri="{9D8B030D-6E8A-4147-A177-3AD203B41FA5}">
                      <a16:colId xmlns:a16="http://schemas.microsoft.com/office/drawing/2014/main" val="3966041971"/>
                    </a:ext>
                  </a:extLst>
                </a:gridCol>
                <a:gridCol w="883633">
                  <a:extLst>
                    <a:ext uri="{9D8B030D-6E8A-4147-A177-3AD203B41FA5}">
                      <a16:colId xmlns:a16="http://schemas.microsoft.com/office/drawing/2014/main" val="3194456329"/>
                    </a:ext>
                  </a:extLst>
                </a:gridCol>
                <a:gridCol w="883633">
                  <a:extLst>
                    <a:ext uri="{9D8B030D-6E8A-4147-A177-3AD203B41FA5}">
                      <a16:colId xmlns:a16="http://schemas.microsoft.com/office/drawing/2014/main" val="2276270724"/>
                    </a:ext>
                  </a:extLst>
                </a:gridCol>
                <a:gridCol w="883633">
                  <a:extLst>
                    <a:ext uri="{9D8B030D-6E8A-4147-A177-3AD203B41FA5}">
                      <a16:colId xmlns:a16="http://schemas.microsoft.com/office/drawing/2014/main" val="3225987705"/>
                    </a:ext>
                  </a:extLst>
                </a:gridCol>
                <a:gridCol w="883633">
                  <a:extLst>
                    <a:ext uri="{9D8B030D-6E8A-4147-A177-3AD203B41FA5}">
                      <a16:colId xmlns:a16="http://schemas.microsoft.com/office/drawing/2014/main" val="4023705187"/>
                    </a:ext>
                  </a:extLst>
                </a:gridCol>
                <a:gridCol w="883633">
                  <a:extLst>
                    <a:ext uri="{9D8B030D-6E8A-4147-A177-3AD203B41FA5}">
                      <a16:colId xmlns:a16="http://schemas.microsoft.com/office/drawing/2014/main" val="20002"/>
                    </a:ext>
                  </a:extLst>
                </a:gridCol>
              </a:tblGrid>
              <a:tr h="540010">
                <a:tc>
                  <a:txBody>
                    <a:bodyPr/>
                    <a:lstStyle/>
                    <a:p>
                      <a:pPr algn="ctr"/>
                      <a:r>
                        <a:rPr lang="en-US" sz="1050" b="0" kern="1200" dirty="0">
                          <a:solidFill>
                            <a:schemeClr val="accent1">
                              <a:lumMod val="50000"/>
                            </a:schemeClr>
                          </a:solidFill>
                          <a:latin typeface="+mj-lt"/>
                          <a:ea typeface="+mn-ea"/>
                          <a:cs typeface="+mn-cs"/>
                        </a:rPr>
                        <a:t>Project Name</a:t>
                      </a:r>
                    </a:p>
                  </a:txBody>
                  <a:tcPr marL="15648" marR="15648"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050" b="0" dirty="0">
                          <a:solidFill>
                            <a:schemeClr val="accent1">
                              <a:lumMod val="50000"/>
                            </a:schemeClr>
                          </a:solidFill>
                          <a:latin typeface="+mj-lt"/>
                        </a:rPr>
                        <a:t>Year</a:t>
                      </a:r>
                      <a:endParaRPr lang="en-US" sz="1050" b="0" kern="1200" dirty="0">
                        <a:solidFill>
                          <a:schemeClr val="accent1">
                            <a:lumMod val="50000"/>
                          </a:schemeClr>
                        </a:solidFill>
                        <a:latin typeface="+mj-lt"/>
                        <a:ea typeface="+mn-ea"/>
                        <a:cs typeface="+mn-cs"/>
                      </a:endParaRP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050" b="0" dirty="0">
                          <a:solidFill>
                            <a:schemeClr val="accent1">
                              <a:lumMod val="50000"/>
                            </a:schemeClr>
                          </a:solidFill>
                          <a:latin typeface="+mj-lt"/>
                        </a:rPr>
                        <a:t>Client Name</a:t>
                      </a:r>
                      <a:endParaRPr lang="en-US" sz="1050" b="0" kern="1200" dirty="0">
                        <a:solidFill>
                          <a:schemeClr val="accent1">
                            <a:lumMod val="50000"/>
                          </a:schemeClr>
                        </a:solidFill>
                        <a:latin typeface="+mj-lt"/>
                        <a:ea typeface="+mn-ea"/>
                        <a:cs typeface="+mn-cs"/>
                      </a:endParaRP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174" rtl="0" eaLnBrk="1" fontAlgn="auto" latinLnBrk="0" hangingPunct="1">
                        <a:lnSpc>
                          <a:spcPct val="100000"/>
                        </a:lnSpc>
                        <a:spcBef>
                          <a:spcPts val="0"/>
                        </a:spcBef>
                        <a:spcAft>
                          <a:spcPts val="0"/>
                        </a:spcAft>
                        <a:buClrTx/>
                        <a:buSzTx/>
                        <a:buFontTx/>
                        <a:buNone/>
                        <a:tabLst/>
                        <a:defRPr/>
                      </a:pPr>
                      <a:r>
                        <a:rPr lang="en-US" sz="1050" b="0" kern="1200" dirty="0">
                          <a:solidFill>
                            <a:schemeClr val="accent1">
                              <a:lumMod val="50000"/>
                            </a:schemeClr>
                          </a:solidFill>
                          <a:latin typeface="+mj-lt"/>
                          <a:ea typeface="+mn-ea"/>
                          <a:cs typeface="+mn-cs"/>
                        </a:rPr>
                        <a:t>WB Power Sector</a:t>
                      </a: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174" rtl="0" eaLnBrk="1" fontAlgn="auto" latinLnBrk="0" hangingPunct="1">
                        <a:lnSpc>
                          <a:spcPct val="100000"/>
                        </a:lnSpc>
                        <a:spcBef>
                          <a:spcPts val="0"/>
                        </a:spcBef>
                        <a:spcAft>
                          <a:spcPts val="0"/>
                        </a:spcAft>
                        <a:buClrTx/>
                        <a:buSzTx/>
                        <a:buFontTx/>
                        <a:buNone/>
                        <a:tabLst/>
                        <a:defRPr/>
                      </a:pPr>
                      <a:r>
                        <a:rPr lang="en-US" sz="1050" b="0" kern="1200" dirty="0">
                          <a:solidFill>
                            <a:schemeClr val="accent1">
                              <a:lumMod val="50000"/>
                            </a:schemeClr>
                          </a:solidFill>
                          <a:latin typeface="+mn-lt"/>
                          <a:ea typeface="+mn-ea"/>
                          <a:cs typeface="+mn-cs"/>
                        </a:rPr>
                        <a:t>Policy &amp; Restructuring</a:t>
                      </a: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50" b="0" kern="1200" dirty="0">
                          <a:solidFill>
                            <a:schemeClr val="accent1">
                              <a:lumMod val="50000"/>
                            </a:schemeClr>
                          </a:solidFill>
                          <a:latin typeface="+mj-lt"/>
                          <a:ea typeface="+mn-ea"/>
                          <a:cs typeface="+mn-cs"/>
                        </a:rPr>
                        <a:t>RE,EVs, Battery Storage</a:t>
                      </a: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174" rtl="0" eaLnBrk="1" fontAlgn="auto" latinLnBrk="0" hangingPunct="1">
                        <a:lnSpc>
                          <a:spcPct val="100000"/>
                        </a:lnSpc>
                        <a:spcBef>
                          <a:spcPts val="0"/>
                        </a:spcBef>
                        <a:spcAft>
                          <a:spcPts val="0"/>
                        </a:spcAft>
                        <a:buClrTx/>
                        <a:buSzTx/>
                        <a:buFontTx/>
                        <a:buNone/>
                        <a:tabLst/>
                        <a:defRPr/>
                      </a:pPr>
                      <a:r>
                        <a:rPr lang="en-US" sz="1050" b="0" kern="1200" dirty="0">
                          <a:solidFill>
                            <a:schemeClr val="accent1">
                              <a:lumMod val="50000"/>
                            </a:schemeClr>
                          </a:solidFill>
                          <a:latin typeface="+mn-lt"/>
                          <a:ea typeface="+mn-ea"/>
                          <a:cs typeface="+mn-cs"/>
                        </a:rPr>
                        <a:t>Finance, Commercial &amp; Tariff</a:t>
                      </a: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kern="1200" dirty="0">
                          <a:solidFill>
                            <a:schemeClr val="accent1">
                              <a:lumMod val="50000"/>
                            </a:schemeClr>
                          </a:solidFill>
                          <a:latin typeface="+mj-lt"/>
                          <a:ea typeface="+mn-ea"/>
                          <a:cs typeface="+mn-cs"/>
                        </a:rPr>
                        <a:t>International &amp; Multi lateral</a:t>
                      </a:r>
                      <a:endParaRPr lang="en-US" sz="1050" b="0" dirty="0">
                        <a:solidFill>
                          <a:schemeClr val="accent1">
                            <a:lumMod val="50000"/>
                          </a:schemeClr>
                        </a:solidFill>
                        <a:latin typeface="+mj-lt"/>
                      </a:endParaRP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16894">
                <a:tc gridSpan="8">
                  <a:txBody>
                    <a:bodyPr/>
                    <a:lstStyle/>
                    <a:p>
                      <a:pPr marL="0" marR="0" lvl="0" indent="0" algn="just" defTabSz="9905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dirty="0">
                          <a:ln>
                            <a:noFill/>
                          </a:ln>
                          <a:solidFill>
                            <a:prstClr val="black"/>
                          </a:solidFill>
                          <a:effectLst/>
                          <a:uLnTx/>
                          <a:uFillTx/>
                          <a:latin typeface="+mj-lt"/>
                          <a:ea typeface="+mn-ea"/>
                          <a:cs typeface="+mn-cs"/>
                        </a:rPr>
                        <a:t>CRITERIA: The bidder should have experience of over 20 years of providing consultancy and advisory services in Indian power sector. (ref: Sl. No. 9 of Section-IV of the RFP and Sl. No. 36 and 37 of the pre-bid clarifications)</a:t>
                      </a:r>
                    </a:p>
                  </a:txBody>
                  <a:tcPr marL="15648" marR="15648"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lang="en-IN"/>
                    </a:p>
                  </a:txBody>
                  <a:tcPr/>
                </a:tc>
                <a:tc hMerge="1">
                  <a:txBody>
                    <a:bodyPr/>
                    <a:lstStyle/>
                    <a:p>
                      <a:endParaRPr lang="en-IN"/>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91800" marR="91800" marT="58293" marB="58293"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91800" marR="91800" marT="58293" marB="5829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91800" marR="91800" marT="58293" marB="5829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91800" marR="91800" marT="58293" marB="5829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91800" marR="91800" marT="58293" marB="5829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33876880"/>
                  </a:ext>
                </a:extLst>
              </a:tr>
              <a:tr h="318316">
                <a:tc>
                  <a:txBody>
                    <a:bodyPr/>
                    <a:lstStyle/>
                    <a:p>
                      <a:pPr>
                        <a:lnSpc>
                          <a:spcPct val="100000"/>
                        </a:lnSpc>
                        <a:spcAft>
                          <a:spcPts val="0"/>
                        </a:spcAft>
                      </a:pPr>
                      <a:r>
                        <a:rPr lang="en-US" sz="900" dirty="0">
                          <a:effectLst/>
                          <a:latin typeface="+mj-lt"/>
                          <a:ea typeface="Calibri Light" panose="020F0302020204030204" pitchFamily="34" charset="0"/>
                          <a:cs typeface="Times New Roman" panose="02020603050405020304" pitchFamily="18" charset="0"/>
                        </a:rPr>
                        <a:t>Diagnostic study to identify areas that require detailed study to improve the financial performance of the Electricity Boards</a:t>
                      </a:r>
                      <a:endParaRPr lang="en-IN" sz="900"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spcAft>
                          <a:spcPts val="0"/>
                        </a:spcAft>
                      </a:pPr>
                      <a:r>
                        <a:rPr lang="en-US" sz="900" dirty="0">
                          <a:effectLst/>
                          <a:latin typeface="+mj-lt"/>
                          <a:ea typeface="Calibri Light" panose="020F0302020204030204" pitchFamily="34" charset="0"/>
                          <a:cs typeface="Calibri Light" panose="020F0302020204030204" pitchFamily="34" charset="0"/>
                        </a:rPr>
                        <a:t>1990</a:t>
                      </a:r>
                      <a:endParaRPr lang="en-IN" sz="900"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00000"/>
                        </a:lnSpc>
                        <a:spcAft>
                          <a:spcPts val="0"/>
                        </a:spcAft>
                      </a:pPr>
                      <a:r>
                        <a:rPr lang="en-US" sz="900" dirty="0">
                          <a:effectLst/>
                          <a:latin typeface="+mj-lt"/>
                          <a:ea typeface="Calibri Light" panose="020F0302020204030204" pitchFamily="34" charset="0"/>
                          <a:cs typeface="Calibri Light" panose="020F0302020204030204" pitchFamily="34" charset="0"/>
                        </a:rPr>
                        <a:t>Power Finance Corporation</a:t>
                      </a:r>
                      <a:endParaRPr lang="en-IN" sz="900"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424388">
                <a:tc>
                  <a:txBody>
                    <a:bodyPr/>
                    <a:lstStyle/>
                    <a:p>
                      <a:pPr>
                        <a:lnSpc>
                          <a:spcPct val="100000"/>
                        </a:lnSpc>
                        <a:spcAft>
                          <a:spcPts val="0"/>
                        </a:spcAft>
                      </a:pPr>
                      <a:r>
                        <a:rPr lang="en-US" sz="900" dirty="0">
                          <a:effectLst/>
                          <a:latin typeface="+mj-lt"/>
                          <a:ea typeface="Calibri Light" panose="020F0302020204030204" pitchFamily="34" charset="0"/>
                          <a:cs typeface="Times New Roman" panose="02020603050405020304" pitchFamily="18" charset="0"/>
                        </a:rPr>
                        <a:t>Development of computerized systems in finance and accounts department and Development of management information system covering all levels of management</a:t>
                      </a:r>
                      <a:endParaRPr lang="en-IN" sz="900"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spcAft>
                          <a:spcPts val="0"/>
                        </a:spcAft>
                      </a:pPr>
                      <a:r>
                        <a:rPr lang="en-US" sz="900" dirty="0">
                          <a:effectLst/>
                          <a:latin typeface="+mj-lt"/>
                          <a:ea typeface="Calibri Light" panose="020F0302020204030204" pitchFamily="34" charset="0"/>
                          <a:cs typeface="Calibri Light" panose="020F0302020204030204" pitchFamily="34" charset="0"/>
                        </a:rPr>
                        <a:t>1996-1998</a:t>
                      </a:r>
                      <a:endParaRPr lang="en-IN" sz="900"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00000"/>
                        </a:lnSpc>
                        <a:spcAft>
                          <a:spcPts val="0"/>
                        </a:spcAft>
                      </a:pPr>
                      <a:r>
                        <a:rPr lang="en-US" sz="900">
                          <a:effectLst/>
                          <a:latin typeface="+mj-lt"/>
                          <a:ea typeface="Calibri Light" panose="020F0302020204030204" pitchFamily="34" charset="0"/>
                          <a:cs typeface="Calibri Light" panose="020F0302020204030204" pitchFamily="34" charset="0"/>
                        </a:rPr>
                        <a:t>Rajasthan State Electricity Board</a:t>
                      </a:r>
                      <a:endParaRPr lang="en-IN" sz="90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37352106"/>
                  </a:ext>
                </a:extLst>
              </a:tr>
              <a:tr h="301539">
                <a:tc>
                  <a:txBody>
                    <a:bodyPr/>
                    <a:lstStyle/>
                    <a:p>
                      <a:pPr>
                        <a:lnSpc>
                          <a:spcPct val="100000"/>
                        </a:lnSpc>
                        <a:spcAft>
                          <a:spcPts val="0"/>
                        </a:spcAft>
                      </a:pPr>
                      <a:r>
                        <a:rPr lang="en-US" sz="900">
                          <a:effectLst/>
                          <a:latin typeface="+mj-lt"/>
                          <a:ea typeface="Calibri Light" panose="020F0302020204030204" pitchFamily="34" charset="0"/>
                          <a:cs typeface="Times New Roman" panose="02020603050405020304" pitchFamily="18" charset="0"/>
                        </a:rPr>
                        <a:t>Organization and Management study of the Finance Wing</a:t>
                      </a:r>
                      <a:endParaRPr lang="en-IN" sz="90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spcAft>
                          <a:spcPts val="0"/>
                        </a:spcAft>
                      </a:pPr>
                      <a:r>
                        <a:rPr lang="en-US" sz="900" dirty="0">
                          <a:effectLst/>
                          <a:latin typeface="+mj-lt"/>
                          <a:ea typeface="Calibri Light" panose="020F0302020204030204" pitchFamily="34" charset="0"/>
                          <a:cs typeface="Calibri Light" panose="020F0302020204030204" pitchFamily="34" charset="0"/>
                        </a:rPr>
                        <a:t>1991-1995</a:t>
                      </a:r>
                      <a:endParaRPr lang="en-IN" sz="900"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00000"/>
                        </a:lnSpc>
                        <a:spcAft>
                          <a:spcPts val="0"/>
                        </a:spcAft>
                      </a:pPr>
                      <a:r>
                        <a:rPr lang="en-US" sz="900" dirty="0">
                          <a:effectLst/>
                          <a:latin typeface="+mj-lt"/>
                          <a:ea typeface="Calibri Light" panose="020F0302020204030204" pitchFamily="34" charset="0"/>
                          <a:cs typeface="Calibri Light" panose="020F0302020204030204" pitchFamily="34" charset="0"/>
                        </a:rPr>
                        <a:t>Karnataka Electricity Board (KEB)</a:t>
                      </a:r>
                      <a:endParaRPr lang="en-IN" sz="900"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09162117"/>
                  </a:ext>
                </a:extLst>
              </a:tr>
              <a:tr h="424388">
                <a:tc>
                  <a:txBody>
                    <a:bodyPr/>
                    <a:lstStyle/>
                    <a:p>
                      <a:pPr>
                        <a:lnSpc>
                          <a:spcPct val="100000"/>
                        </a:lnSpc>
                        <a:spcAft>
                          <a:spcPts val="0"/>
                        </a:spcAft>
                      </a:pPr>
                      <a:r>
                        <a:rPr lang="en-US" sz="900" dirty="0">
                          <a:effectLst/>
                          <a:latin typeface="+mj-lt"/>
                          <a:ea typeface="Calibri Light" panose="020F0302020204030204" pitchFamily="34" charset="0"/>
                          <a:cs typeface="Times New Roman" panose="02020603050405020304" pitchFamily="18" charset="0"/>
                        </a:rPr>
                        <a:t>Financial Management Support in preparation for the establishment of Independent Distribution Circles</a:t>
                      </a:r>
                      <a:endParaRPr lang="en-IN" sz="900"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spcAft>
                          <a:spcPts val="0"/>
                        </a:spcAft>
                      </a:pPr>
                      <a:r>
                        <a:rPr lang="en-US" sz="900" dirty="0">
                          <a:effectLst/>
                          <a:latin typeface="+mj-lt"/>
                          <a:ea typeface="Calibri Light" panose="020F0302020204030204" pitchFamily="34" charset="0"/>
                          <a:cs typeface="Calibri Light" panose="020F0302020204030204" pitchFamily="34" charset="0"/>
                        </a:rPr>
                        <a:t>1997-1999</a:t>
                      </a:r>
                      <a:endParaRPr lang="en-IN" sz="900"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00000"/>
                        </a:lnSpc>
                        <a:spcAft>
                          <a:spcPts val="0"/>
                        </a:spcAft>
                      </a:pPr>
                      <a:r>
                        <a:rPr lang="en-US" sz="900" dirty="0">
                          <a:effectLst/>
                          <a:latin typeface="+mj-lt"/>
                          <a:ea typeface="Calibri Light" panose="020F0302020204030204" pitchFamily="34" charset="0"/>
                          <a:cs typeface="Calibri Light" panose="020F0302020204030204" pitchFamily="34" charset="0"/>
                        </a:rPr>
                        <a:t>Gujarat Electricity Board / Asian Development Bank</a:t>
                      </a:r>
                      <a:endParaRPr lang="en-IN" sz="900"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87370379"/>
                  </a:ext>
                </a:extLst>
              </a:tr>
              <a:tr h="301539">
                <a:tc>
                  <a:txBody>
                    <a:bodyPr/>
                    <a:lstStyle/>
                    <a:p>
                      <a:pPr>
                        <a:lnSpc>
                          <a:spcPct val="100000"/>
                        </a:lnSpc>
                        <a:spcAft>
                          <a:spcPts val="0"/>
                        </a:spcAft>
                      </a:pPr>
                      <a:r>
                        <a:rPr lang="en-US" sz="900">
                          <a:effectLst/>
                          <a:latin typeface="+mj-lt"/>
                          <a:ea typeface="Calibri Light" panose="020F0302020204030204" pitchFamily="34" charset="0"/>
                          <a:cs typeface="Times New Roman" panose="02020603050405020304" pitchFamily="18" charset="0"/>
                        </a:rPr>
                        <a:t>Assistance to Gujarat Electricity Board on various Accounting and Internal Audit related aspects</a:t>
                      </a:r>
                      <a:endParaRPr lang="en-IN" sz="90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spcAft>
                          <a:spcPts val="0"/>
                        </a:spcAft>
                      </a:pPr>
                      <a:r>
                        <a:rPr lang="en-US" sz="900" dirty="0">
                          <a:effectLst/>
                          <a:latin typeface="+mj-lt"/>
                          <a:ea typeface="Calibri Light" panose="020F0302020204030204" pitchFamily="34" charset="0"/>
                          <a:cs typeface="Calibri Light" panose="020F0302020204030204" pitchFamily="34" charset="0"/>
                        </a:rPr>
                        <a:t>1997-1999</a:t>
                      </a:r>
                      <a:endParaRPr lang="en-IN" sz="900"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00000"/>
                        </a:lnSpc>
                        <a:spcAft>
                          <a:spcPts val="0"/>
                        </a:spcAft>
                      </a:pPr>
                      <a:r>
                        <a:rPr lang="en-US" sz="900" dirty="0">
                          <a:effectLst/>
                          <a:latin typeface="+mj-lt"/>
                          <a:ea typeface="Calibri Light" panose="020F0302020204030204" pitchFamily="34" charset="0"/>
                          <a:cs typeface="Calibri Light" panose="020F0302020204030204" pitchFamily="34" charset="0"/>
                        </a:rPr>
                        <a:t>Gujarat Electricity Board</a:t>
                      </a:r>
                      <a:endParaRPr lang="en-IN" sz="900"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5615242"/>
                  </a:ext>
                </a:extLst>
              </a:tr>
              <a:tr h="424388">
                <a:tc>
                  <a:txBody>
                    <a:bodyPr/>
                    <a:lstStyle/>
                    <a:p>
                      <a:pPr>
                        <a:lnSpc>
                          <a:spcPct val="100000"/>
                        </a:lnSpc>
                        <a:spcAft>
                          <a:spcPts val="0"/>
                        </a:spcAft>
                      </a:pPr>
                      <a:r>
                        <a:rPr lang="en-US" sz="900">
                          <a:effectLst/>
                          <a:latin typeface="+mj-lt"/>
                          <a:ea typeface="Calibri Light" panose="020F0302020204030204" pitchFamily="34" charset="0"/>
                          <a:cs typeface="Times New Roman" panose="02020603050405020304" pitchFamily="18" charset="0"/>
                        </a:rPr>
                        <a:t>Assistance to Gujarat Industries Power Corporation Limited on systems and process review</a:t>
                      </a:r>
                      <a:endParaRPr lang="en-IN" sz="90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spcAft>
                          <a:spcPts val="0"/>
                        </a:spcAft>
                      </a:pPr>
                      <a:r>
                        <a:rPr lang="en-US" sz="900" dirty="0">
                          <a:effectLst/>
                          <a:latin typeface="+mj-lt"/>
                          <a:ea typeface="Calibri Light" panose="020F0302020204030204" pitchFamily="34" charset="0"/>
                          <a:cs typeface="Calibri Light" panose="020F0302020204030204" pitchFamily="34" charset="0"/>
                        </a:rPr>
                        <a:t>1998</a:t>
                      </a:r>
                      <a:endParaRPr lang="en-IN" sz="900"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00000"/>
                        </a:lnSpc>
                        <a:spcAft>
                          <a:spcPts val="0"/>
                        </a:spcAft>
                      </a:pPr>
                      <a:r>
                        <a:rPr lang="en-US" sz="900" dirty="0">
                          <a:effectLst/>
                          <a:latin typeface="+mj-lt"/>
                          <a:ea typeface="Calibri Light" panose="020F0302020204030204" pitchFamily="34" charset="0"/>
                          <a:cs typeface="Times New Roman" panose="02020603050405020304" pitchFamily="18" charset="0"/>
                        </a:rPr>
                        <a:t>Gujarat Industries Power Corporation Limited</a:t>
                      </a:r>
                      <a:endParaRPr lang="en-IN" sz="900"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53444448"/>
                  </a:ext>
                </a:extLst>
              </a:tr>
              <a:tr h="301539">
                <a:tc gridSpan="8">
                  <a:txBody>
                    <a:bodyPr/>
                    <a:lstStyle/>
                    <a:p>
                      <a:pPr>
                        <a:lnSpc>
                          <a:spcPct val="100000"/>
                        </a:lnSpc>
                        <a:spcAft>
                          <a:spcPts val="0"/>
                        </a:spcAft>
                      </a:pPr>
                      <a:r>
                        <a:rPr lang="en-US" sz="900" b="1" dirty="0">
                          <a:effectLst/>
                          <a:latin typeface="+mj-lt"/>
                          <a:ea typeface="Calibri Light" panose="020F0302020204030204" pitchFamily="34" charset="0"/>
                          <a:cs typeface="Times New Roman" panose="02020603050405020304" pitchFamily="18" charset="0"/>
                        </a:rPr>
                        <a:t>CRITERIA: The bidder should have experience of providing consultancy services in Indian power sector for at least 5 ongoing/ completed projects in the last (10) ten financial years ending FY 2019-20. (ref: Sl. No. 10 of Section-IV of the RFP and Sl. No. 30 of the pre-bid clarifications)</a:t>
                      </a:r>
                      <a:endParaRPr lang="en-IN" sz="900" b="1" dirty="0">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ctr">
                        <a:lnSpc>
                          <a:spcPct val="100000"/>
                        </a:lnSpc>
                        <a:spcAft>
                          <a:spcPts val="0"/>
                        </a:spcAft>
                      </a:pPr>
                      <a:endParaRPr lang="en-IN" sz="1400" dirty="0">
                        <a:effectLst/>
                        <a:latin typeface="+mj-lt"/>
                        <a:ea typeface="Calibri Light" panose="020F0302020204030204" pitchFamily="34"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nSpc>
                          <a:spcPct val="100000"/>
                        </a:lnSpc>
                        <a:spcAft>
                          <a:spcPts val="0"/>
                        </a:spcAft>
                      </a:pPr>
                      <a:endParaRPr lang="en-IN" sz="1400" dirty="0">
                        <a:effectLst/>
                        <a:latin typeface="+mj-lt"/>
                        <a:ea typeface="Calibri Light" panose="020F0302020204030204" pitchFamily="34"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91800" marR="91800" marT="58293" marB="58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91800" marR="91800" marT="58293" marB="58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91800" marR="91800" marT="58293" marB="58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91800" marR="91800" marT="58293" marB="58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91800" marR="91800" marT="58293" marB="58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57355847"/>
                  </a:ext>
                </a:extLst>
              </a:tr>
              <a:tr h="301539">
                <a:tc>
                  <a:txBody>
                    <a:bodyPr/>
                    <a:lstStyle/>
                    <a:p>
                      <a:pPr marL="0" algn="l" defTabSz="1554493" rtl="0" eaLnBrk="1" latinLnBrk="0" hangingPunct="1">
                        <a:lnSpc>
                          <a:spcPct val="100000"/>
                        </a:lnSpc>
                        <a:spcAft>
                          <a:spcPts val="0"/>
                        </a:spcAft>
                      </a:pPr>
                      <a:r>
                        <a:rPr lang="en-US" sz="900" kern="1200" dirty="0">
                          <a:solidFill>
                            <a:schemeClr val="tx1"/>
                          </a:solidFill>
                          <a:effectLst/>
                          <a:latin typeface="+mj-lt"/>
                          <a:ea typeface="Calibri Light" panose="020F0302020204030204" pitchFamily="34" charset="0"/>
                          <a:cs typeface="Times New Roman" panose="02020603050405020304" pitchFamily="18" charset="0"/>
                        </a:rPr>
                        <a:t>Technical Assistance for Assessment of Financial Health of West Bengal State Electricity Distribution Company Ltd. (WBSEDCL)</a:t>
                      </a:r>
                      <a:endParaRPr lang="en-IN" sz="9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900" kern="1200" dirty="0">
                          <a:solidFill>
                            <a:schemeClr val="tx1"/>
                          </a:solidFill>
                          <a:effectLst/>
                          <a:latin typeface="+mj-lt"/>
                          <a:ea typeface="Calibri Light" panose="020F0302020204030204" pitchFamily="34" charset="0"/>
                          <a:cs typeface="Times New Roman" panose="02020603050405020304" pitchFamily="18" charset="0"/>
                        </a:rPr>
                        <a:t>2019</a:t>
                      </a:r>
                      <a:endParaRPr lang="en-IN" sz="9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900" kern="1200">
                          <a:solidFill>
                            <a:schemeClr val="tx1"/>
                          </a:solidFill>
                          <a:effectLst/>
                          <a:latin typeface="+mj-lt"/>
                          <a:ea typeface="Calibri Light" panose="020F0302020204030204" pitchFamily="34" charset="0"/>
                          <a:cs typeface="Times New Roman" panose="02020603050405020304" pitchFamily="18" charset="0"/>
                        </a:rPr>
                        <a:t>The World Bank</a:t>
                      </a:r>
                      <a:endParaRPr lang="en-IN" sz="9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38650571"/>
                  </a:ext>
                </a:extLst>
              </a:tr>
              <a:tr h="301539">
                <a:tc>
                  <a:txBody>
                    <a:bodyPr/>
                    <a:lstStyle/>
                    <a:p>
                      <a:pPr marL="0" algn="l" defTabSz="1554493" rtl="0" eaLnBrk="1" latinLnBrk="0" hangingPunct="1">
                        <a:lnSpc>
                          <a:spcPct val="100000"/>
                        </a:lnSpc>
                        <a:spcAft>
                          <a:spcPts val="0"/>
                        </a:spcAft>
                      </a:pPr>
                      <a:r>
                        <a:rPr lang="en-US" sz="900" kern="1200" dirty="0">
                          <a:solidFill>
                            <a:schemeClr val="tx1"/>
                          </a:solidFill>
                          <a:effectLst/>
                          <a:latin typeface="+mj-lt"/>
                          <a:ea typeface="Calibri Light" panose="020F0302020204030204" pitchFamily="34" charset="0"/>
                          <a:cs typeface="Times New Roman" panose="02020603050405020304" pitchFamily="18" charset="0"/>
                        </a:rPr>
                        <a:t>Impact of Energy Transition on West Bengal State Electricity Distribution Company Ltd. (WBSEDCL)</a:t>
                      </a:r>
                      <a:endParaRPr lang="en-IN" sz="9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900" kern="1200" dirty="0">
                          <a:solidFill>
                            <a:schemeClr val="tx1"/>
                          </a:solidFill>
                          <a:effectLst/>
                          <a:latin typeface="+mj-lt"/>
                          <a:ea typeface="Calibri Light" panose="020F0302020204030204" pitchFamily="34" charset="0"/>
                          <a:cs typeface="Times New Roman" panose="02020603050405020304" pitchFamily="18" charset="0"/>
                        </a:rPr>
                        <a:t>2020</a:t>
                      </a:r>
                      <a:endParaRPr lang="en-IN" sz="9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900" kern="1200">
                          <a:solidFill>
                            <a:schemeClr val="tx1"/>
                          </a:solidFill>
                          <a:effectLst/>
                          <a:latin typeface="+mj-lt"/>
                          <a:ea typeface="Calibri Light" panose="020F0302020204030204" pitchFamily="34" charset="0"/>
                          <a:cs typeface="Times New Roman" panose="02020603050405020304" pitchFamily="18" charset="0"/>
                        </a:rPr>
                        <a:t>The World Bank</a:t>
                      </a:r>
                      <a:endParaRPr lang="en-IN" sz="9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47299463"/>
                  </a:ext>
                </a:extLst>
              </a:tr>
              <a:tr h="301539">
                <a:tc>
                  <a:txBody>
                    <a:bodyPr/>
                    <a:lstStyle/>
                    <a:p>
                      <a:pPr marL="0" algn="l" defTabSz="1554493" rtl="0" eaLnBrk="1" latinLnBrk="0" hangingPunct="1">
                        <a:lnSpc>
                          <a:spcPct val="100000"/>
                        </a:lnSpc>
                        <a:spcAft>
                          <a:spcPts val="0"/>
                        </a:spcAft>
                      </a:pPr>
                      <a:r>
                        <a:rPr lang="en-US" sz="900" kern="1200" dirty="0">
                          <a:solidFill>
                            <a:schemeClr val="tx1"/>
                          </a:solidFill>
                          <a:effectLst/>
                          <a:latin typeface="+mj-lt"/>
                          <a:ea typeface="Calibri Light" panose="020F0302020204030204" pitchFamily="34" charset="0"/>
                          <a:cs typeface="Times New Roman" panose="02020603050405020304" pitchFamily="18" charset="0"/>
                        </a:rPr>
                        <a:t>Consultancy services for providing assistance to WBSEDCL in all regulatory areas on retainership basis</a:t>
                      </a:r>
                      <a:endParaRPr lang="en-IN" sz="9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900" kern="1200" dirty="0">
                          <a:solidFill>
                            <a:schemeClr val="tx1"/>
                          </a:solidFill>
                          <a:effectLst/>
                          <a:latin typeface="+mj-lt"/>
                          <a:ea typeface="Calibri Light" panose="020F0302020204030204" pitchFamily="34" charset="0"/>
                          <a:cs typeface="Times New Roman" panose="02020603050405020304" pitchFamily="18" charset="0"/>
                        </a:rPr>
                        <a:t>2015-2019</a:t>
                      </a:r>
                      <a:endParaRPr lang="en-IN" sz="9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900" kern="1200" dirty="0">
                          <a:solidFill>
                            <a:schemeClr val="tx1"/>
                          </a:solidFill>
                          <a:effectLst/>
                          <a:latin typeface="+mj-lt"/>
                          <a:ea typeface="Calibri Light" panose="020F0302020204030204" pitchFamily="34" charset="0"/>
                          <a:cs typeface="Times New Roman" panose="02020603050405020304" pitchFamily="18" charset="0"/>
                        </a:rPr>
                        <a:t>WBSEDCL</a:t>
                      </a:r>
                      <a:endParaRPr lang="en-IN" sz="9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23354912"/>
                  </a:ext>
                </a:extLst>
              </a:tr>
              <a:tr h="194045">
                <a:tc>
                  <a:txBody>
                    <a:bodyPr/>
                    <a:lstStyle/>
                    <a:p>
                      <a:pPr marL="0" algn="l" defTabSz="1554493" rtl="0" eaLnBrk="1" latinLnBrk="0" hangingPunct="1">
                        <a:lnSpc>
                          <a:spcPct val="100000"/>
                        </a:lnSpc>
                        <a:spcAft>
                          <a:spcPts val="0"/>
                        </a:spcAft>
                      </a:pPr>
                      <a:r>
                        <a:rPr lang="en-US" sz="900" kern="1200" dirty="0">
                          <a:solidFill>
                            <a:schemeClr val="tx1"/>
                          </a:solidFill>
                          <a:effectLst/>
                          <a:latin typeface="+mj-lt"/>
                          <a:ea typeface="Calibri Light" panose="020F0302020204030204" pitchFamily="34" charset="0"/>
                          <a:cs typeface="Times New Roman" panose="02020603050405020304" pitchFamily="18" charset="0"/>
                        </a:rPr>
                        <a:t>Engagement of Regulatory Affairs Consultant under WBSETCL</a:t>
                      </a:r>
                      <a:endParaRPr lang="en-IN" sz="9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900" kern="1200">
                          <a:solidFill>
                            <a:schemeClr val="tx1"/>
                          </a:solidFill>
                          <a:effectLst/>
                          <a:latin typeface="+mj-lt"/>
                          <a:ea typeface="Calibri Light" panose="020F0302020204030204" pitchFamily="34" charset="0"/>
                          <a:cs typeface="Times New Roman" panose="02020603050405020304" pitchFamily="18" charset="0"/>
                        </a:rPr>
                        <a:t>2019-Ongoing</a:t>
                      </a:r>
                      <a:endParaRPr lang="en-IN" sz="9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900" kern="1200" dirty="0">
                          <a:solidFill>
                            <a:schemeClr val="tx1"/>
                          </a:solidFill>
                          <a:effectLst/>
                          <a:latin typeface="+mj-lt"/>
                          <a:ea typeface="Calibri Light" panose="020F0302020204030204" pitchFamily="34" charset="0"/>
                          <a:cs typeface="Times New Roman" panose="02020603050405020304" pitchFamily="18" charset="0"/>
                        </a:rPr>
                        <a:t>WBSETCL</a:t>
                      </a:r>
                      <a:endParaRPr lang="en-IN" sz="9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0194067"/>
                  </a:ext>
                </a:extLst>
              </a:tr>
              <a:tr h="539791">
                <a:tc>
                  <a:txBody>
                    <a:bodyPr/>
                    <a:lstStyle/>
                    <a:p>
                      <a:pPr marL="0" algn="l" defTabSz="1554493" rtl="0" eaLnBrk="1" latinLnBrk="0" hangingPunct="1">
                        <a:lnSpc>
                          <a:spcPct val="100000"/>
                        </a:lnSpc>
                        <a:spcAft>
                          <a:spcPts val="0"/>
                        </a:spcAft>
                      </a:pPr>
                      <a:r>
                        <a:rPr lang="en-US" sz="900" kern="1200" dirty="0">
                          <a:solidFill>
                            <a:schemeClr val="tx1"/>
                          </a:solidFill>
                          <a:effectLst/>
                          <a:latin typeface="+mj-lt"/>
                          <a:ea typeface="Calibri Light" panose="020F0302020204030204" pitchFamily="34" charset="0"/>
                          <a:cs typeface="Times New Roman" panose="02020603050405020304" pitchFamily="18" charset="0"/>
                        </a:rPr>
                        <a:t>Preparation of Generation and Transmission Tariff and its True Up to be submitted before CERC and preparation of Distribution Tariff, ARR to be submitted before WBERC and JSERC and other Commercial related matters</a:t>
                      </a:r>
                      <a:endParaRPr lang="en-IN" sz="9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900" kern="1200" dirty="0">
                          <a:solidFill>
                            <a:schemeClr val="tx1"/>
                          </a:solidFill>
                          <a:effectLst/>
                          <a:latin typeface="+mj-lt"/>
                          <a:ea typeface="Calibri Light" panose="020F0302020204030204" pitchFamily="34" charset="0"/>
                          <a:cs typeface="Times New Roman" panose="02020603050405020304" pitchFamily="18" charset="0"/>
                        </a:rPr>
                        <a:t>2019-Ongoing</a:t>
                      </a:r>
                      <a:endParaRPr lang="en-IN" sz="9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900" kern="1200" dirty="0">
                          <a:solidFill>
                            <a:schemeClr val="tx1"/>
                          </a:solidFill>
                          <a:effectLst/>
                          <a:latin typeface="+mj-lt"/>
                          <a:ea typeface="Calibri Light" panose="020F0302020204030204" pitchFamily="34" charset="0"/>
                          <a:cs typeface="Times New Roman" panose="02020603050405020304" pitchFamily="18" charset="0"/>
                        </a:rPr>
                        <a:t>Damodar Valley Corporation (DVC)</a:t>
                      </a:r>
                      <a:endParaRPr lang="en-IN" sz="9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43276442"/>
                  </a:ext>
                </a:extLst>
              </a:tr>
              <a:tr h="601836">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Commercial and Regulatory due diligence for Solar park in Odisha</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2018</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International Finance Corporation (The World Bank Group)</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09271212"/>
                  </a:ext>
                </a:extLst>
              </a:tr>
            </a:tbl>
          </a:graphicData>
        </a:graphic>
      </p:graphicFrame>
      <p:sp>
        <p:nvSpPr>
          <p:cNvPr id="5" name="Title 6">
            <a:extLst>
              <a:ext uri="{FF2B5EF4-FFF2-40B4-BE49-F238E27FC236}">
                <a16:creationId xmlns:a16="http://schemas.microsoft.com/office/drawing/2014/main" id="{845105DE-9780-4F58-9731-FB2DD999D4F3}"/>
              </a:ext>
            </a:extLst>
          </p:cNvPr>
          <p:cNvSpPr txBox="1">
            <a:spLocks/>
          </p:cNvSpPr>
          <p:nvPr/>
        </p:nvSpPr>
        <p:spPr bwMode="gray">
          <a:xfrm>
            <a:off x="538382" y="269246"/>
            <a:ext cx="10548718" cy="420021"/>
          </a:xfrm>
          <a:prstGeom prst="rect">
            <a:avLst/>
          </a:prstGeom>
        </p:spPr>
        <p:txBody>
          <a:bodyPr vert="horz" lIns="0" tIns="0" rIns="0" bIns="0" rtlCol="0" anchor="t" anchorCtr="0">
            <a:noAutofit/>
          </a:bodyPr>
          <a:lstStyle>
            <a:lvl1pPr algn="l" defTabSz="1554493" rtl="0" eaLnBrk="1" latinLnBrk="0" hangingPunct="1">
              <a:spcBef>
                <a:spcPct val="0"/>
              </a:spcBef>
              <a:buNone/>
              <a:defRPr sz="3400" kern="1200">
                <a:solidFill>
                  <a:schemeClr val="tx1"/>
                </a:solidFill>
                <a:latin typeface="+mj-lt"/>
                <a:ea typeface="+mj-ea"/>
                <a:cs typeface="+mj-cs"/>
              </a:defRPr>
            </a:lvl1pPr>
          </a:lstStyle>
          <a:p>
            <a:pPr algn="just" defTabSz="1059853"/>
            <a:r>
              <a:rPr lang="en-US" sz="1800" dirty="0"/>
              <a:t>List of Credentials meeting qualification criteria (1/3)</a:t>
            </a:r>
            <a:endParaRPr lang="en-IN" sz="1800" dirty="0">
              <a:solidFill>
                <a:prstClr val="black"/>
              </a:solidFill>
            </a:endParaRPr>
          </a:p>
        </p:txBody>
      </p:sp>
    </p:spTree>
    <p:extLst>
      <p:ext uri="{BB962C8B-B14F-4D97-AF65-F5344CB8AC3E}">
        <p14:creationId xmlns:p14="http://schemas.microsoft.com/office/powerpoint/2010/main" val="58443766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7057BA3-BD59-41A1-B3AC-DD23660AE20F}"/>
              </a:ext>
            </a:extLst>
          </p:cNvPr>
          <p:cNvGraphicFramePr>
            <a:graphicFrameLocks noGrp="1"/>
          </p:cNvGraphicFramePr>
          <p:nvPr>
            <p:extLst>
              <p:ext uri="{D42A27DB-BD31-4B8C-83A1-F6EECF244321}">
                <p14:modId xmlns:p14="http://schemas.microsoft.com/office/powerpoint/2010/main" val="1188647299"/>
              </p:ext>
            </p:extLst>
          </p:nvPr>
        </p:nvGraphicFramePr>
        <p:xfrm>
          <a:off x="538382" y="591552"/>
          <a:ext cx="11224798" cy="5633400"/>
        </p:xfrm>
        <a:graphic>
          <a:graphicData uri="http://schemas.openxmlformats.org/drawingml/2006/table">
            <a:tbl>
              <a:tblPr firstRow="1" bandRow="1"/>
              <a:tblGrid>
                <a:gridCol w="4526084">
                  <a:extLst>
                    <a:ext uri="{9D8B030D-6E8A-4147-A177-3AD203B41FA5}">
                      <a16:colId xmlns:a16="http://schemas.microsoft.com/office/drawing/2014/main" val="2755113283"/>
                    </a:ext>
                  </a:extLst>
                </a:gridCol>
                <a:gridCol w="945844">
                  <a:extLst>
                    <a:ext uri="{9D8B030D-6E8A-4147-A177-3AD203B41FA5}">
                      <a16:colId xmlns:a16="http://schemas.microsoft.com/office/drawing/2014/main" val="3077613714"/>
                    </a:ext>
                  </a:extLst>
                </a:gridCol>
                <a:gridCol w="1372805">
                  <a:extLst>
                    <a:ext uri="{9D8B030D-6E8A-4147-A177-3AD203B41FA5}">
                      <a16:colId xmlns:a16="http://schemas.microsoft.com/office/drawing/2014/main" val="3966041971"/>
                    </a:ext>
                  </a:extLst>
                </a:gridCol>
                <a:gridCol w="876013">
                  <a:extLst>
                    <a:ext uri="{9D8B030D-6E8A-4147-A177-3AD203B41FA5}">
                      <a16:colId xmlns:a16="http://schemas.microsoft.com/office/drawing/2014/main" val="3194456329"/>
                    </a:ext>
                  </a:extLst>
                </a:gridCol>
                <a:gridCol w="876013">
                  <a:extLst>
                    <a:ext uri="{9D8B030D-6E8A-4147-A177-3AD203B41FA5}">
                      <a16:colId xmlns:a16="http://schemas.microsoft.com/office/drawing/2014/main" val="2276270724"/>
                    </a:ext>
                  </a:extLst>
                </a:gridCol>
                <a:gridCol w="876013">
                  <a:extLst>
                    <a:ext uri="{9D8B030D-6E8A-4147-A177-3AD203B41FA5}">
                      <a16:colId xmlns:a16="http://schemas.microsoft.com/office/drawing/2014/main" val="3225987705"/>
                    </a:ext>
                  </a:extLst>
                </a:gridCol>
                <a:gridCol w="876013">
                  <a:extLst>
                    <a:ext uri="{9D8B030D-6E8A-4147-A177-3AD203B41FA5}">
                      <a16:colId xmlns:a16="http://schemas.microsoft.com/office/drawing/2014/main" val="4023705187"/>
                    </a:ext>
                  </a:extLst>
                </a:gridCol>
                <a:gridCol w="876013">
                  <a:extLst>
                    <a:ext uri="{9D8B030D-6E8A-4147-A177-3AD203B41FA5}">
                      <a16:colId xmlns:a16="http://schemas.microsoft.com/office/drawing/2014/main" val="20002"/>
                    </a:ext>
                  </a:extLst>
                </a:gridCol>
              </a:tblGrid>
              <a:tr h="650954">
                <a:tc>
                  <a:txBody>
                    <a:bodyPr/>
                    <a:lstStyle/>
                    <a:p>
                      <a:pPr algn="ctr"/>
                      <a:r>
                        <a:rPr lang="en-US" sz="1050" b="0" kern="1200" dirty="0">
                          <a:solidFill>
                            <a:schemeClr val="accent1">
                              <a:lumMod val="50000"/>
                            </a:schemeClr>
                          </a:solidFill>
                          <a:latin typeface="+mj-lt"/>
                          <a:ea typeface="+mn-ea"/>
                          <a:cs typeface="+mn-cs"/>
                        </a:rPr>
                        <a:t>Project Name</a:t>
                      </a:r>
                    </a:p>
                  </a:txBody>
                  <a:tcPr marL="15648" marR="15648"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050" b="0" dirty="0">
                          <a:solidFill>
                            <a:schemeClr val="accent1">
                              <a:lumMod val="50000"/>
                            </a:schemeClr>
                          </a:solidFill>
                          <a:latin typeface="+mj-lt"/>
                        </a:rPr>
                        <a:t>Year</a:t>
                      </a:r>
                      <a:endParaRPr lang="en-US" sz="1050" b="0" kern="1200" dirty="0">
                        <a:solidFill>
                          <a:schemeClr val="accent1">
                            <a:lumMod val="50000"/>
                          </a:schemeClr>
                        </a:solidFill>
                        <a:latin typeface="+mj-lt"/>
                        <a:ea typeface="+mn-ea"/>
                        <a:cs typeface="+mn-cs"/>
                      </a:endParaRP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050" b="0" dirty="0">
                          <a:solidFill>
                            <a:schemeClr val="accent1">
                              <a:lumMod val="50000"/>
                            </a:schemeClr>
                          </a:solidFill>
                          <a:latin typeface="+mj-lt"/>
                        </a:rPr>
                        <a:t>Client Name</a:t>
                      </a:r>
                      <a:endParaRPr lang="en-US" sz="1050" b="0" kern="1200" dirty="0">
                        <a:solidFill>
                          <a:schemeClr val="accent1">
                            <a:lumMod val="50000"/>
                          </a:schemeClr>
                        </a:solidFill>
                        <a:latin typeface="+mj-lt"/>
                        <a:ea typeface="+mn-ea"/>
                        <a:cs typeface="+mn-cs"/>
                      </a:endParaRP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174" rtl="0" eaLnBrk="1" fontAlgn="auto" latinLnBrk="0" hangingPunct="1">
                        <a:lnSpc>
                          <a:spcPct val="100000"/>
                        </a:lnSpc>
                        <a:spcBef>
                          <a:spcPts val="0"/>
                        </a:spcBef>
                        <a:spcAft>
                          <a:spcPts val="0"/>
                        </a:spcAft>
                        <a:buClrTx/>
                        <a:buSzTx/>
                        <a:buFontTx/>
                        <a:buNone/>
                        <a:tabLst/>
                        <a:defRPr/>
                      </a:pPr>
                      <a:r>
                        <a:rPr lang="en-US" sz="1050" b="0" kern="1200" dirty="0">
                          <a:solidFill>
                            <a:schemeClr val="accent1">
                              <a:lumMod val="50000"/>
                            </a:schemeClr>
                          </a:solidFill>
                          <a:latin typeface="+mj-lt"/>
                          <a:ea typeface="+mn-ea"/>
                          <a:cs typeface="+mn-cs"/>
                        </a:rPr>
                        <a:t>WB Power Sector</a:t>
                      </a: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174" rtl="0" eaLnBrk="1" fontAlgn="auto" latinLnBrk="0" hangingPunct="1">
                        <a:lnSpc>
                          <a:spcPct val="100000"/>
                        </a:lnSpc>
                        <a:spcBef>
                          <a:spcPts val="0"/>
                        </a:spcBef>
                        <a:spcAft>
                          <a:spcPts val="0"/>
                        </a:spcAft>
                        <a:buClrTx/>
                        <a:buSzTx/>
                        <a:buFontTx/>
                        <a:buNone/>
                        <a:tabLst/>
                        <a:defRPr/>
                      </a:pPr>
                      <a:r>
                        <a:rPr lang="en-US" sz="1050" b="0" kern="1200" dirty="0">
                          <a:solidFill>
                            <a:schemeClr val="accent1">
                              <a:lumMod val="50000"/>
                            </a:schemeClr>
                          </a:solidFill>
                          <a:latin typeface="+mn-lt"/>
                          <a:ea typeface="+mn-ea"/>
                          <a:cs typeface="+mn-cs"/>
                        </a:rPr>
                        <a:t>Policy &amp; Restructuring</a:t>
                      </a: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50" b="0" kern="1200" dirty="0">
                          <a:solidFill>
                            <a:schemeClr val="accent1">
                              <a:lumMod val="50000"/>
                            </a:schemeClr>
                          </a:solidFill>
                          <a:latin typeface="+mj-lt"/>
                          <a:ea typeface="+mn-ea"/>
                          <a:cs typeface="+mn-cs"/>
                        </a:rPr>
                        <a:t>RE,EVs, Battery Storage</a:t>
                      </a: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174" rtl="0" eaLnBrk="1" fontAlgn="auto" latinLnBrk="0" hangingPunct="1">
                        <a:lnSpc>
                          <a:spcPct val="100000"/>
                        </a:lnSpc>
                        <a:spcBef>
                          <a:spcPts val="0"/>
                        </a:spcBef>
                        <a:spcAft>
                          <a:spcPts val="0"/>
                        </a:spcAft>
                        <a:buClrTx/>
                        <a:buSzTx/>
                        <a:buFontTx/>
                        <a:buNone/>
                        <a:tabLst/>
                        <a:defRPr/>
                      </a:pPr>
                      <a:r>
                        <a:rPr lang="en-US" sz="1050" b="0" kern="1200" dirty="0">
                          <a:solidFill>
                            <a:schemeClr val="accent1">
                              <a:lumMod val="50000"/>
                            </a:schemeClr>
                          </a:solidFill>
                          <a:latin typeface="+mn-lt"/>
                          <a:ea typeface="+mn-ea"/>
                          <a:cs typeface="+mn-cs"/>
                        </a:rPr>
                        <a:t>Commercial &amp; Tariff</a:t>
                      </a: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kern="1200" dirty="0">
                          <a:solidFill>
                            <a:schemeClr val="accent1">
                              <a:lumMod val="50000"/>
                            </a:schemeClr>
                          </a:solidFill>
                          <a:latin typeface="+mj-lt"/>
                          <a:ea typeface="+mn-ea"/>
                          <a:cs typeface="+mn-cs"/>
                        </a:rPr>
                        <a:t>International &amp; Multi lateral</a:t>
                      </a:r>
                      <a:endParaRPr lang="en-US" sz="1050" b="0" dirty="0">
                        <a:solidFill>
                          <a:schemeClr val="accent1">
                            <a:lumMod val="50000"/>
                          </a:schemeClr>
                        </a:solidFill>
                        <a:latin typeface="+mj-lt"/>
                      </a:endParaRP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81999">
                <a:tc gridSpan="8">
                  <a:txBody>
                    <a:bodyPr/>
                    <a:lstStyle/>
                    <a:p>
                      <a:pPr>
                        <a:lnSpc>
                          <a:spcPct val="100000"/>
                        </a:lnSpc>
                        <a:spcAft>
                          <a:spcPts val="0"/>
                        </a:spcAft>
                      </a:pPr>
                      <a:r>
                        <a:rPr lang="en-US" sz="900" b="1" kern="1200" dirty="0">
                          <a:solidFill>
                            <a:schemeClr val="tx1"/>
                          </a:solidFill>
                          <a:effectLst/>
                          <a:latin typeface="+mn-lt"/>
                          <a:ea typeface="Calibri Light" panose="020F0302020204030204" pitchFamily="34" charset="0"/>
                          <a:cs typeface="Times New Roman" panose="02020603050405020304" pitchFamily="18" charset="0"/>
                        </a:rPr>
                        <a:t>CRITERIA: The bidder should have experience of providing consultancy services in Indian power sector for at least 5 ongoing/ completed projects in the last (10) ten financial years ending FY 2019-20. (ref: Sl. No. 10 of Section-IV of the RFP and Sl. No. 30 of the pre-bid clarifications)</a:t>
                      </a:r>
                      <a:endParaRPr lang="en-IN" sz="900" b="1" kern="1200" dirty="0">
                        <a:solidFill>
                          <a:schemeClr val="tx1"/>
                        </a:solidFill>
                        <a:effectLst/>
                        <a:latin typeface="+mn-lt"/>
                        <a:ea typeface="Calibri Light" panose="020F0302020204030204" pitchFamily="34" charset="0"/>
                        <a:cs typeface="Times New Roman" panose="02020603050405020304" pitchFamily="18" charset="0"/>
                      </a:endParaRPr>
                    </a:p>
                  </a:txBody>
                  <a:tcPr marL="15648" marR="15648"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lang="en-IN"/>
                    </a:p>
                  </a:txBody>
                  <a:tcPr/>
                </a:tc>
                <a:tc hMerge="1">
                  <a:txBody>
                    <a:bodyPr/>
                    <a:lstStyle/>
                    <a:p>
                      <a:endParaRPr lang="en-IN"/>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91800" marR="91800" marT="58293" marB="58293"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91800" marR="91800" marT="58293" marB="5829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91800" marR="91800" marT="58293" marB="5829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91800" marR="91800" marT="58293" marB="5829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91800" marR="91800" marT="58293" marB="5829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33876880"/>
                  </a:ext>
                </a:extLst>
              </a:tr>
              <a:tr h="396397">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Regulatory support, Diagnostic analysis of Revenue Cycle and Case-1 Bid Assistance to Jharkhand Bijli </a:t>
                      </a:r>
                      <a:r>
                        <a:rPr lang="en-US" sz="1000" kern="1200" dirty="0" err="1">
                          <a:solidFill>
                            <a:schemeClr val="tx1"/>
                          </a:solidFill>
                          <a:effectLst/>
                          <a:latin typeface="+mj-lt"/>
                          <a:ea typeface="Calibri Light" panose="020F0302020204030204" pitchFamily="34" charset="0"/>
                          <a:cs typeface="Times New Roman" panose="02020603050405020304" pitchFamily="18" charset="0"/>
                        </a:rPr>
                        <a:t>Vitran</a:t>
                      </a:r>
                      <a:r>
                        <a:rPr lang="en-US" sz="1000" kern="1200" dirty="0">
                          <a:solidFill>
                            <a:schemeClr val="tx1"/>
                          </a:solidFill>
                          <a:effectLst/>
                          <a:latin typeface="+mj-lt"/>
                          <a:ea typeface="Calibri Light" panose="020F0302020204030204" pitchFamily="34" charset="0"/>
                          <a:cs typeface="Times New Roman" panose="02020603050405020304" pitchFamily="18" charset="0"/>
                        </a:rPr>
                        <a:t> Nigam Ltd. (JBVNL)</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2016-2017</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Jharkhand Bijli </a:t>
                      </a:r>
                      <a:r>
                        <a:rPr lang="en-US" sz="1000" kern="1200" dirty="0" err="1">
                          <a:solidFill>
                            <a:schemeClr val="tx1"/>
                          </a:solidFill>
                          <a:effectLst/>
                          <a:latin typeface="+mj-lt"/>
                          <a:ea typeface="Calibri Light" panose="020F0302020204030204" pitchFamily="34" charset="0"/>
                          <a:cs typeface="Times New Roman" panose="02020603050405020304" pitchFamily="18" charset="0"/>
                        </a:rPr>
                        <a:t>Vitran</a:t>
                      </a:r>
                      <a:r>
                        <a:rPr lang="en-US" sz="1000" kern="1200" dirty="0">
                          <a:solidFill>
                            <a:schemeClr val="tx1"/>
                          </a:solidFill>
                          <a:effectLst/>
                          <a:latin typeface="+mj-lt"/>
                          <a:ea typeface="Calibri Light" panose="020F0302020204030204" pitchFamily="34" charset="0"/>
                          <a:cs typeface="Times New Roman" panose="02020603050405020304" pitchFamily="18" charset="0"/>
                        </a:rPr>
                        <a:t> Nigam Ltd. </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96397">
                <a:tc>
                  <a:txBody>
                    <a:bodyPr/>
                    <a:lstStyle/>
                    <a:p>
                      <a:pPr marL="0" algn="l" defTabSz="1554493" rtl="0" eaLnBrk="1" latinLnBrk="0" hangingPunct="1">
                        <a:lnSpc>
                          <a:spcPct val="100000"/>
                        </a:lnSpc>
                        <a:spcAft>
                          <a:spcPts val="0"/>
                        </a:spcAft>
                      </a:pPr>
                      <a:r>
                        <a:rPr lang="en-US" sz="1000" kern="1200">
                          <a:solidFill>
                            <a:schemeClr val="tx1"/>
                          </a:solidFill>
                          <a:effectLst/>
                          <a:latin typeface="+mj-lt"/>
                          <a:ea typeface="Calibri Light" panose="020F0302020204030204" pitchFamily="34" charset="0"/>
                          <a:cs typeface="Times New Roman" panose="02020603050405020304" pitchFamily="18" charset="0"/>
                        </a:rPr>
                        <a:t>Consultancy services for setting-up a Central Project Monitoring Unit at JBVNL Headquarter</a:t>
                      </a:r>
                      <a:endParaRPr lang="en-IN" sz="10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2017-2020</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Jharkhand Bijli </a:t>
                      </a:r>
                      <a:r>
                        <a:rPr lang="en-US" sz="1000" kern="1200" dirty="0" err="1">
                          <a:solidFill>
                            <a:schemeClr val="tx1"/>
                          </a:solidFill>
                          <a:effectLst/>
                          <a:latin typeface="+mj-lt"/>
                          <a:ea typeface="Calibri Light" panose="020F0302020204030204" pitchFamily="34" charset="0"/>
                          <a:cs typeface="Times New Roman" panose="02020603050405020304" pitchFamily="18" charset="0"/>
                        </a:rPr>
                        <a:t>Vitran</a:t>
                      </a:r>
                      <a:r>
                        <a:rPr lang="en-US" sz="1000" kern="1200" dirty="0">
                          <a:solidFill>
                            <a:schemeClr val="tx1"/>
                          </a:solidFill>
                          <a:effectLst/>
                          <a:latin typeface="+mj-lt"/>
                          <a:ea typeface="Calibri Light" panose="020F0302020204030204" pitchFamily="34" charset="0"/>
                          <a:cs typeface="Times New Roman" panose="02020603050405020304" pitchFamily="18" charset="0"/>
                        </a:rPr>
                        <a:t> Nigam Ltd. </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37352106"/>
                  </a:ext>
                </a:extLst>
              </a:tr>
              <a:tr h="560939">
                <a:tc>
                  <a:txBody>
                    <a:bodyPr/>
                    <a:lstStyle/>
                    <a:p>
                      <a:pPr marL="0" algn="l" defTabSz="1554493" rtl="0" eaLnBrk="1" latinLnBrk="0" hangingPunct="1">
                        <a:lnSpc>
                          <a:spcPct val="100000"/>
                        </a:lnSpc>
                        <a:spcAft>
                          <a:spcPts val="0"/>
                        </a:spcAft>
                      </a:pPr>
                      <a:r>
                        <a:rPr lang="en-US" sz="1000" kern="1200">
                          <a:solidFill>
                            <a:schemeClr val="tx1"/>
                          </a:solidFill>
                          <a:effectLst/>
                          <a:latin typeface="+mj-lt"/>
                          <a:ea typeface="Calibri Light" panose="020F0302020204030204" pitchFamily="34" charset="0"/>
                          <a:cs typeface="Times New Roman" panose="02020603050405020304" pitchFamily="18" charset="0"/>
                        </a:rPr>
                        <a:t>Regulatory support, Diagnostic analysis of Revenue Cycle, Monitoring of MBC of HT consumers and Urja Mitra Program for Jharkhand Bijli Vitran Nigam Ltd. (JBVNL)</a:t>
                      </a:r>
                      <a:endParaRPr lang="en-IN" sz="10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2017-2020</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Jharkhand Bijli </a:t>
                      </a:r>
                      <a:r>
                        <a:rPr lang="en-US" sz="1000" kern="1200" dirty="0" err="1">
                          <a:solidFill>
                            <a:schemeClr val="tx1"/>
                          </a:solidFill>
                          <a:effectLst/>
                          <a:latin typeface="+mj-lt"/>
                          <a:ea typeface="Calibri Light" panose="020F0302020204030204" pitchFamily="34" charset="0"/>
                          <a:cs typeface="Times New Roman" panose="02020603050405020304" pitchFamily="18" charset="0"/>
                        </a:rPr>
                        <a:t>Vitran</a:t>
                      </a:r>
                      <a:r>
                        <a:rPr lang="en-US" sz="1000" kern="1200" dirty="0">
                          <a:solidFill>
                            <a:schemeClr val="tx1"/>
                          </a:solidFill>
                          <a:effectLst/>
                          <a:latin typeface="+mj-lt"/>
                          <a:ea typeface="Calibri Light" panose="020F0302020204030204" pitchFamily="34" charset="0"/>
                          <a:cs typeface="Times New Roman" panose="02020603050405020304" pitchFamily="18" charset="0"/>
                        </a:rPr>
                        <a:t> Nigam Ltd. </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09162117"/>
                  </a:ext>
                </a:extLst>
              </a:tr>
              <a:tr h="396397">
                <a:tc>
                  <a:txBody>
                    <a:bodyPr/>
                    <a:lstStyle/>
                    <a:p>
                      <a:pPr marL="0" algn="l" defTabSz="1554493" rtl="0" eaLnBrk="1" latinLnBrk="0" hangingPunct="1">
                        <a:lnSpc>
                          <a:spcPct val="100000"/>
                        </a:lnSpc>
                        <a:spcAft>
                          <a:spcPts val="0"/>
                        </a:spcAft>
                      </a:pPr>
                      <a:r>
                        <a:rPr lang="en-US" sz="1000" kern="1200">
                          <a:solidFill>
                            <a:schemeClr val="tx1"/>
                          </a:solidFill>
                          <a:effectLst/>
                          <a:latin typeface="+mj-lt"/>
                          <a:ea typeface="Calibri Light" panose="020F0302020204030204" pitchFamily="34" charset="0"/>
                          <a:cs typeface="Times New Roman" panose="02020603050405020304" pitchFamily="18" charset="0"/>
                        </a:rPr>
                        <a:t>Project Monitoring Agency (PMA) for DDUGJY/IPDS/other efficiency programs for distribution companies in Rajasthan</a:t>
                      </a:r>
                      <a:endParaRPr lang="en-IN" sz="10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2015-2020</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Jaipur Vidyut </a:t>
                      </a:r>
                      <a:r>
                        <a:rPr lang="en-US" sz="1000" kern="1200" dirty="0" err="1">
                          <a:solidFill>
                            <a:schemeClr val="tx1"/>
                          </a:solidFill>
                          <a:effectLst/>
                          <a:latin typeface="+mj-lt"/>
                          <a:ea typeface="Calibri Light" panose="020F0302020204030204" pitchFamily="34" charset="0"/>
                          <a:cs typeface="Times New Roman" panose="02020603050405020304" pitchFamily="18" charset="0"/>
                        </a:rPr>
                        <a:t>Vitran</a:t>
                      </a:r>
                      <a:r>
                        <a:rPr lang="en-US" sz="1000" kern="1200" dirty="0">
                          <a:solidFill>
                            <a:schemeClr val="tx1"/>
                          </a:solidFill>
                          <a:effectLst/>
                          <a:latin typeface="+mj-lt"/>
                          <a:ea typeface="Calibri Light" panose="020F0302020204030204" pitchFamily="34" charset="0"/>
                          <a:cs typeface="Times New Roman" panose="02020603050405020304" pitchFamily="18" charset="0"/>
                        </a:rPr>
                        <a:t> Nigam Limited</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87370379"/>
                  </a:ext>
                </a:extLst>
              </a:tr>
              <a:tr h="233911">
                <a:tc>
                  <a:txBody>
                    <a:bodyPr/>
                    <a:lstStyle/>
                    <a:p>
                      <a:pPr marL="0" algn="l" defTabSz="1554493" rtl="0" eaLnBrk="1" latinLnBrk="0" hangingPunct="1">
                        <a:lnSpc>
                          <a:spcPct val="100000"/>
                        </a:lnSpc>
                        <a:spcAft>
                          <a:spcPts val="0"/>
                        </a:spcAft>
                      </a:pPr>
                      <a:r>
                        <a:rPr lang="en-US" sz="1000" kern="1200">
                          <a:solidFill>
                            <a:schemeClr val="tx1"/>
                          </a:solidFill>
                          <a:effectLst/>
                          <a:latin typeface="+mj-lt"/>
                          <a:ea typeface="Calibri Light" panose="020F0302020204030204" pitchFamily="34" charset="0"/>
                          <a:cs typeface="Times New Roman" panose="02020603050405020304" pitchFamily="18" charset="0"/>
                        </a:rPr>
                        <a:t>NTPC Strategy 2025</a:t>
                      </a:r>
                      <a:endParaRPr lang="en-IN" sz="10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2020-2021</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NTPC Ltd.</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5615242"/>
                  </a:ext>
                </a:extLst>
              </a:tr>
              <a:tr h="396397">
                <a:tc>
                  <a:txBody>
                    <a:bodyPr/>
                    <a:lstStyle/>
                    <a:p>
                      <a:pPr marL="0" algn="l" defTabSz="1554493" rtl="0" eaLnBrk="1" latinLnBrk="0" hangingPunct="1">
                        <a:lnSpc>
                          <a:spcPct val="100000"/>
                        </a:lnSpc>
                        <a:spcAft>
                          <a:spcPts val="0"/>
                        </a:spcAft>
                      </a:pPr>
                      <a:r>
                        <a:rPr lang="en-US" sz="1000" kern="1200">
                          <a:solidFill>
                            <a:schemeClr val="tx1"/>
                          </a:solidFill>
                          <a:effectLst/>
                          <a:latin typeface="+mj-lt"/>
                          <a:ea typeface="Calibri Light" panose="020F0302020204030204" pitchFamily="34" charset="0"/>
                          <a:cs typeface="Times New Roman" panose="02020603050405020304" pitchFamily="18" charset="0"/>
                        </a:rPr>
                        <a:t>Preparation of Strategy Paper, Standard Business Model including Efficient Bidding Document for Renewable Energy Projects</a:t>
                      </a:r>
                      <a:endParaRPr lang="en-IN" sz="10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2019</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NHPC Ltd.</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53444448"/>
                  </a:ext>
                </a:extLst>
              </a:tr>
              <a:tr h="725482">
                <a:tc>
                  <a:txBody>
                    <a:bodyPr/>
                    <a:lstStyle/>
                    <a:p>
                      <a:pPr marL="0" algn="l" defTabSz="1554493" rtl="0" eaLnBrk="1" latinLnBrk="0" hangingPunct="1">
                        <a:lnSpc>
                          <a:spcPct val="100000"/>
                        </a:lnSpc>
                        <a:spcAft>
                          <a:spcPts val="0"/>
                        </a:spcAft>
                      </a:pPr>
                      <a:r>
                        <a:rPr lang="en-US" sz="1000" kern="1200">
                          <a:solidFill>
                            <a:schemeClr val="tx1"/>
                          </a:solidFill>
                          <a:effectLst/>
                          <a:latin typeface="+mj-lt"/>
                          <a:ea typeface="Calibri Light" panose="020F0302020204030204" pitchFamily="34" charset="0"/>
                          <a:cs typeface="Times New Roman" panose="02020603050405020304" pitchFamily="18" charset="0"/>
                        </a:rPr>
                        <a:t>Consultancy assistance to UHBVN and DHBVN for various operations and functions relating to Distribution and Retail Supply Business</a:t>
                      </a:r>
                      <a:endParaRPr lang="en-IN" sz="10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2013-2015</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Uttar Haryana Bijli </a:t>
                      </a:r>
                      <a:r>
                        <a:rPr lang="en-US" sz="1000" kern="1200" dirty="0" err="1">
                          <a:solidFill>
                            <a:schemeClr val="tx1"/>
                          </a:solidFill>
                          <a:effectLst/>
                          <a:latin typeface="+mj-lt"/>
                          <a:ea typeface="Calibri Light" panose="020F0302020204030204" pitchFamily="34" charset="0"/>
                          <a:cs typeface="Times New Roman" panose="02020603050405020304" pitchFamily="18" charset="0"/>
                        </a:rPr>
                        <a:t>Vitran</a:t>
                      </a:r>
                      <a:r>
                        <a:rPr lang="en-US" sz="1000" kern="1200" dirty="0">
                          <a:solidFill>
                            <a:schemeClr val="tx1"/>
                          </a:solidFill>
                          <a:effectLst/>
                          <a:latin typeface="+mj-lt"/>
                          <a:ea typeface="Calibri Light" panose="020F0302020204030204" pitchFamily="34" charset="0"/>
                          <a:cs typeface="Times New Roman" panose="02020603050405020304" pitchFamily="18" charset="0"/>
                        </a:rPr>
                        <a:t> Nigam and Dakshin Haryana Bijli </a:t>
                      </a:r>
                      <a:r>
                        <a:rPr lang="en-US" sz="1000" kern="1200" dirty="0" err="1">
                          <a:solidFill>
                            <a:schemeClr val="tx1"/>
                          </a:solidFill>
                          <a:effectLst/>
                          <a:latin typeface="+mj-lt"/>
                          <a:ea typeface="Calibri Light" panose="020F0302020204030204" pitchFamily="34" charset="0"/>
                          <a:cs typeface="Times New Roman" panose="02020603050405020304" pitchFamily="18" charset="0"/>
                        </a:rPr>
                        <a:t>Vitran</a:t>
                      </a:r>
                      <a:r>
                        <a:rPr lang="en-US" sz="1000" kern="1200" dirty="0">
                          <a:solidFill>
                            <a:schemeClr val="tx1"/>
                          </a:solidFill>
                          <a:effectLst/>
                          <a:latin typeface="+mj-lt"/>
                          <a:ea typeface="Calibri Light" panose="020F0302020204030204" pitchFamily="34" charset="0"/>
                          <a:cs typeface="Times New Roman" panose="02020603050405020304" pitchFamily="18" charset="0"/>
                        </a:rPr>
                        <a:t> Nigam</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38650571"/>
                  </a:ext>
                </a:extLst>
              </a:tr>
              <a:tr h="396397">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Preparation of Corporate Plan 2012-2022 with perspective Plan up to 2027 of Damodar Valley Corporation</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2012</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Damodar Valley Corporation (DVC)</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47299463"/>
                  </a:ext>
                </a:extLst>
              </a:tr>
              <a:tr h="396397">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Concept Study for Program to support Application of Decentralized Solar Solutions in Indian MSME</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2020</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dirty="0" err="1">
                          <a:solidFill>
                            <a:schemeClr val="tx1"/>
                          </a:solidFill>
                          <a:effectLst/>
                          <a:latin typeface="+mj-lt"/>
                          <a:ea typeface="Calibri Light" panose="020F0302020204030204" pitchFamily="34" charset="0"/>
                          <a:cs typeface="Times New Roman" panose="02020603050405020304" pitchFamily="18" charset="0"/>
                        </a:rPr>
                        <a:t>KfW</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23354912"/>
                  </a:ext>
                </a:extLst>
              </a:tr>
              <a:tr h="233911">
                <a:tc>
                  <a:txBody>
                    <a:bodyPr/>
                    <a:lstStyle/>
                    <a:p>
                      <a:pPr marL="0" algn="l" defTabSz="1554493" rtl="0" eaLnBrk="1" latinLnBrk="0" hangingPunct="1">
                        <a:lnSpc>
                          <a:spcPct val="100000"/>
                        </a:lnSpc>
                        <a:spcAft>
                          <a:spcPts val="0"/>
                        </a:spcAft>
                      </a:pPr>
                      <a:r>
                        <a:rPr lang="en-US" sz="1000" kern="1200">
                          <a:solidFill>
                            <a:schemeClr val="tx1"/>
                          </a:solidFill>
                          <a:effectLst/>
                          <a:latin typeface="+mj-lt"/>
                          <a:ea typeface="Calibri Light" panose="020F0302020204030204" pitchFamily="34" charset="0"/>
                          <a:cs typeface="Times New Roman" panose="02020603050405020304" pitchFamily="18" charset="0"/>
                        </a:rPr>
                        <a:t>Identifying suitable financial products and services for SWP</a:t>
                      </a:r>
                      <a:endParaRPr lang="en-IN" sz="10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2019-2020</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GIZ</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0194067"/>
                  </a:ext>
                </a:extLst>
              </a:tr>
              <a:tr h="233911">
                <a:tc>
                  <a:txBody>
                    <a:bodyPr/>
                    <a:lstStyle/>
                    <a:p>
                      <a:pPr marL="0" algn="l" defTabSz="1554493" rtl="0" eaLnBrk="1" latinLnBrk="0" hangingPunct="1">
                        <a:lnSpc>
                          <a:spcPct val="100000"/>
                        </a:lnSpc>
                        <a:spcAft>
                          <a:spcPts val="0"/>
                        </a:spcAft>
                      </a:pPr>
                      <a:r>
                        <a:rPr lang="en-US" sz="1000" kern="1200">
                          <a:solidFill>
                            <a:schemeClr val="tx1"/>
                          </a:solidFill>
                          <a:effectLst/>
                          <a:latin typeface="+mj-lt"/>
                          <a:ea typeface="Calibri Light" panose="020F0302020204030204" pitchFamily="34" charset="0"/>
                          <a:cs typeface="Times New Roman" panose="02020603050405020304" pitchFamily="18" charset="0"/>
                        </a:rPr>
                        <a:t>Support to OREDA for rooftop solar proliferation in Odisha</a:t>
                      </a:r>
                      <a:endParaRPr lang="en-IN" sz="10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2017</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IFC</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43276442"/>
                  </a:ext>
                </a:extLst>
              </a:tr>
              <a:tr h="233911">
                <a:tc>
                  <a:txBody>
                    <a:bodyPr/>
                    <a:lstStyle/>
                    <a:p>
                      <a:pPr marL="0" algn="l" defTabSz="1554493" rtl="0" eaLnBrk="1" latinLnBrk="0" hangingPunct="1">
                        <a:lnSpc>
                          <a:spcPct val="100000"/>
                        </a:lnSpc>
                        <a:spcAft>
                          <a:spcPts val="0"/>
                        </a:spcAft>
                      </a:pPr>
                      <a:r>
                        <a:rPr lang="en-US" sz="1000" kern="1200">
                          <a:solidFill>
                            <a:schemeClr val="tx1"/>
                          </a:solidFill>
                          <a:effectLst/>
                          <a:latin typeface="+mj-lt"/>
                          <a:ea typeface="Calibri Light" panose="020F0302020204030204" pitchFamily="34" charset="0"/>
                          <a:cs typeface="Times New Roman" panose="02020603050405020304" pitchFamily="18" charset="0"/>
                        </a:rPr>
                        <a:t>Scaling up rooftop solar in the SME sector in India</a:t>
                      </a:r>
                      <a:endParaRPr lang="en-IN" sz="10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2018</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The World Bank</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09271212"/>
                  </a:ext>
                </a:extLst>
              </a:tr>
            </a:tbl>
          </a:graphicData>
        </a:graphic>
      </p:graphicFrame>
      <p:sp>
        <p:nvSpPr>
          <p:cNvPr id="5" name="Title 6">
            <a:extLst>
              <a:ext uri="{FF2B5EF4-FFF2-40B4-BE49-F238E27FC236}">
                <a16:creationId xmlns:a16="http://schemas.microsoft.com/office/drawing/2014/main" id="{43698E48-ADE8-4BE8-B9A5-0CD436BF1C71}"/>
              </a:ext>
            </a:extLst>
          </p:cNvPr>
          <p:cNvSpPr txBox="1">
            <a:spLocks/>
          </p:cNvSpPr>
          <p:nvPr/>
        </p:nvSpPr>
        <p:spPr bwMode="gray">
          <a:xfrm>
            <a:off x="538382" y="269246"/>
            <a:ext cx="10747084" cy="420021"/>
          </a:xfrm>
          <a:prstGeom prst="rect">
            <a:avLst/>
          </a:prstGeom>
        </p:spPr>
        <p:txBody>
          <a:bodyPr vert="horz" lIns="0" tIns="0" rIns="0" bIns="0" rtlCol="0" anchor="t" anchorCtr="0">
            <a:noAutofit/>
          </a:bodyPr>
          <a:lstStyle>
            <a:lvl1pPr algn="l" defTabSz="1554493" rtl="0" eaLnBrk="1" latinLnBrk="0" hangingPunct="1">
              <a:spcBef>
                <a:spcPct val="0"/>
              </a:spcBef>
              <a:buNone/>
              <a:defRPr sz="3400" kern="1200">
                <a:solidFill>
                  <a:schemeClr val="tx1"/>
                </a:solidFill>
                <a:latin typeface="+mj-lt"/>
                <a:ea typeface="+mj-ea"/>
                <a:cs typeface="+mj-cs"/>
              </a:defRPr>
            </a:lvl1pPr>
          </a:lstStyle>
          <a:p>
            <a:pPr algn="just" defTabSz="1059853"/>
            <a:r>
              <a:rPr lang="en-US" sz="1800" dirty="0"/>
              <a:t>List of Credentials meeting qualification criteria (2/3)</a:t>
            </a:r>
            <a:endParaRPr lang="en-IN" sz="1800" dirty="0">
              <a:solidFill>
                <a:prstClr val="black"/>
              </a:solidFill>
            </a:endParaRPr>
          </a:p>
        </p:txBody>
      </p:sp>
    </p:spTree>
    <p:extLst>
      <p:ext uri="{BB962C8B-B14F-4D97-AF65-F5344CB8AC3E}">
        <p14:creationId xmlns:p14="http://schemas.microsoft.com/office/powerpoint/2010/main" val="134374581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7057BA3-BD59-41A1-B3AC-DD23660AE20F}"/>
              </a:ext>
            </a:extLst>
          </p:cNvPr>
          <p:cNvGraphicFramePr>
            <a:graphicFrameLocks noGrp="1"/>
          </p:cNvGraphicFramePr>
          <p:nvPr>
            <p:extLst>
              <p:ext uri="{D42A27DB-BD31-4B8C-83A1-F6EECF244321}">
                <p14:modId xmlns:p14="http://schemas.microsoft.com/office/powerpoint/2010/main" val="2221980925"/>
              </p:ext>
            </p:extLst>
          </p:nvPr>
        </p:nvGraphicFramePr>
        <p:xfrm>
          <a:off x="538382" y="689267"/>
          <a:ext cx="11115237" cy="2110812"/>
        </p:xfrm>
        <a:graphic>
          <a:graphicData uri="http://schemas.openxmlformats.org/drawingml/2006/table">
            <a:tbl>
              <a:tblPr firstRow="1" bandRow="1"/>
              <a:tblGrid>
                <a:gridCol w="4481906">
                  <a:extLst>
                    <a:ext uri="{9D8B030D-6E8A-4147-A177-3AD203B41FA5}">
                      <a16:colId xmlns:a16="http://schemas.microsoft.com/office/drawing/2014/main" val="2755113283"/>
                    </a:ext>
                  </a:extLst>
                </a:gridCol>
                <a:gridCol w="936611">
                  <a:extLst>
                    <a:ext uri="{9D8B030D-6E8A-4147-A177-3AD203B41FA5}">
                      <a16:colId xmlns:a16="http://schemas.microsoft.com/office/drawing/2014/main" val="3077613714"/>
                    </a:ext>
                  </a:extLst>
                </a:gridCol>
                <a:gridCol w="1359405">
                  <a:extLst>
                    <a:ext uri="{9D8B030D-6E8A-4147-A177-3AD203B41FA5}">
                      <a16:colId xmlns:a16="http://schemas.microsoft.com/office/drawing/2014/main" val="3966041971"/>
                    </a:ext>
                  </a:extLst>
                </a:gridCol>
                <a:gridCol w="867463">
                  <a:extLst>
                    <a:ext uri="{9D8B030D-6E8A-4147-A177-3AD203B41FA5}">
                      <a16:colId xmlns:a16="http://schemas.microsoft.com/office/drawing/2014/main" val="3194456329"/>
                    </a:ext>
                  </a:extLst>
                </a:gridCol>
                <a:gridCol w="867463">
                  <a:extLst>
                    <a:ext uri="{9D8B030D-6E8A-4147-A177-3AD203B41FA5}">
                      <a16:colId xmlns:a16="http://schemas.microsoft.com/office/drawing/2014/main" val="2276270724"/>
                    </a:ext>
                  </a:extLst>
                </a:gridCol>
                <a:gridCol w="867463">
                  <a:extLst>
                    <a:ext uri="{9D8B030D-6E8A-4147-A177-3AD203B41FA5}">
                      <a16:colId xmlns:a16="http://schemas.microsoft.com/office/drawing/2014/main" val="3225987705"/>
                    </a:ext>
                  </a:extLst>
                </a:gridCol>
                <a:gridCol w="867463">
                  <a:extLst>
                    <a:ext uri="{9D8B030D-6E8A-4147-A177-3AD203B41FA5}">
                      <a16:colId xmlns:a16="http://schemas.microsoft.com/office/drawing/2014/main" val="4023705187"/>
                    </a:ext>
                  </a:extLst>
                </a:gridCol>
                <a:gridCol w="867463">
                  <a:extLst>
                    <a:ext uri="{9D8B030D-6E8A-4147-A177-3AD203B41FA5}">
                      <a16:colId xmlns:a16="http://schemas.microsoft.com/office/drawing/2014/main" val="20002"/>
                    </a:ext>
                  </a:extLst>
                </a:gridCol>
              </a:tblGrid>
              <a:tr h="602918">
                <a:tc>
                  <a:txBody>
                    <a:bodyPr/>
                    <a:lstStyle/>
                    <a:p>
                      <a:pPr algn="ctr"/>
                      <a:r>
                        <a:rPr lang="en-US" sz="1100" b="0" kern="1200" dirty="0">
                          <a:solidFill>
                            <a:schemeClr val="accent1">
                              <a:lumMod val="50000"/>
                            </a:schemeClr>
                          </a:solidFill>
                          <a:latin typeface="+mj-lt"/>
                          <a:ea typeface="+mn-ea"/>
                          <a:cs typeface="+mn-cs"/>
                        </a:rPr>
                        <a:t>Project Name</a:t>
                      </a:r>
                    </a:p>
                  </a:txBody>
                  <a:tcPr marL="15648" marR="15648"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100" b="0" dirty="0">
                          <a:solidFill>
                            <a:schemeClr val="accent1">
                              <a:lumMod val="50000"/>
                            </a:schemeClr>
                          </a:solidFill>
                          <a:latin typeface="+mj-lt"/>
                        </a:rPr>
                        <a:t>Year</a:t>
                      </a:r>
                      <a:endParaRPr lang="en-US" sz="1100" b="0" kern="1200" dirty="0">
                        <a:solidFill>
                          <a:schemeClr val="accent1">
                            <a:lumMod val="50000"/>
                          </a:schemeClr>
                        </a:solidFill>
                        <a:latin typeface="+mj-lt"/>
                        <a:ea typeface="+mn-ea"/>
                        <a:cs typeface="+mn-cs"/>
                      </a:endParaRP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100" b="0" dirty="0">
                          <a:solidFill>
                            <a:schemeClr val="accent1">
                              <a:lumMod val="50000"/>
                            </a:schemeClr>
                          </a:solidFill>
                          <a:latin typeface="+mj-lt"/>
                        </a:rPr>
                        <a:t>Client Name</a:t>
                      </a:r>
                      <a:endParaRPr lang="en-US" sz="1100" b="0" kern="1200" dirty="0">
                        <a:solidFill>
                          <a:schemeClr val="accent1">
                            <a:lumMod val="50000"/>
                          </a:schemeClr>
                        </a:solidFill>
                        <a:latin typeface="+mj-lt"/>
                        <a:ea typeface="+mn-ea"/>
                        <a:cs typeface="+mn-cs"/>
                      </a:endParaRP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174" rtl="0" eaLnBrk="1" fontAlgn="auto" latinLnBrk="0" hangingPunct="1">
                        <a:lnSpc>
                          <a:spcPct val="100000"/>
                        </a:lnSpc>
                        <a:spcBef>
                          <a:spcPts val="0"/>
                        </a:spcBef>
                        <a:spcAft>
                          <a:spcPts val="0"/>
                        </a:spcAft>
                        <a:buClrTx/>
                        <a:buSzTx/>
                        <a:buFontTx/>
                        <a:buNone/>
                        <a:tabLst/>
                        <a:defRPr/>
                      </a:pPr>
                      <a:r>
                        <a:rPr lang="en-US" sz="1100" b="0" kern="1200" dirty="0">
                          <a:solidFill>
                            <a:schemeClr val="accent1">
                              <a:lumMod val="50000"/>
                            </a:schemeClr>
                          </a:solidFill>
                          <a:latin typeface="+mj-lt"/>
                          <a:ea typeface="+mn-ea"/>
                          <a:cs typeface="+mn-cs"/>
                        </a:rPr>
                        <a:t>WB Power Sector</a:t>
                      </a: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174" rtl="0" eaLnBrk="1" fontAlgn="auto" latinLnBrk="0" hangingPunct="1">
                        <a:lnSpc>
                          <a:spcPct val="100000"/>
                        </a:lnSpc>
                        <a:spcBef>
                          <a:spcPts val="0"/>
                        </a:spcBef>
                        <a:spcAft>
                          <a:spcPts val="0"/>
                        </a:spcAft>
                        <a:buClrTx/>
                        <a:buSzTx/>
                        <a:buFontTx/>
                        <a:buNone/>
                        <a:tabLst/>
                        <a:defRPr/>
                      </a:pPr>
                      <a:r>
                        <a:rPr lang="en-US" sz="1100" b="0" kern="1200" dirty="0">
                          <a:solidFill>
                            <a:schemeClr val="accent1">
                              <a:lumMod val="50000"/>
                            </a:schemeClr>
                          </a:solidFill>
                          <a:latin typeface="+mn-lt"/>
                          <a:ea typeface="+mn-ea"/>
                          <a:cs typeface="+mn-cs"/>
                        </a:rPr>
                        <a:t>Policy &amp; Restructuring</a:t>
                      </a: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0" kern="1200" dirty="0">
                          <a:solidFill>
                            <a:schemeClr val="accent1">
                              <a:lumMod val="50000"/>
                            </a:schemeClr>
                          </a:solidFill>
                          <a:latin typeface="+mj-lt"/>
                          <a:ea typeface="+mn-ea"/>
                          <a:cs typeface="+mn-cs"/>
                        </a:rPr>
                        <a:t>RE,EVs, Battery Storage</a:t>
                      </a: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174" rtl="0" eaLnBrk="1" fontAlgn="auto" latinLnBrk="0" hangingPunct="1">
                        <a:lnSpc>
                          <a:spcPct val="100000"/>
                        </a:lnSpc>
                        <a:spcBef>
                          <a:spcPts val="0"/>
                        </a:spcBef>
                        <a:spcAft>
                          <a:spcPts val="0"/>
                        </a:spcAft>
                        <a:buClrTx/>
                        <a:buSzTx/>
                        <a:buFontTx/>
                        <a:buNone/>
                        <a:tabLst/>
                        <a:defRPr/>
                      </a:pPr>
                      <a:r>
                        <a:rPr lang="en-US" sz="1100" b="0" kern="1200" dirty="0">
                          <a:solidFill>
                            <a:schemeClr val="accent1">
                              <a:lumMod val="50000"/>
                            </a:schemeClr>
                          </a:solidFill>
                          <a:latin typeface="+mn-lt"/>
                          <a:ea typeface="+mn-ea"/>
                          <a:cs typeface="+mn-cs"/>
                        </a:rPr>
                        <a:t>Commercial &amp; Tariff</a:t>
                      </a: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dirty="0">
                          <a:solidFill>
                            <a:schemeClr val="accent1">
                              <a:lumMod val="50000"/>
                            </a:schemeClr>
                          </a:solidFill>
                          <a:latin typeface="+mj-lt"/>
                          <a:ea typeface="+mn-ea"/>
                          <a:cs typeface="+mn-cs"/>
                        </a:rPr>
                        <a:t>International &amp; Multi lateral</a:t>
                      </a:r>
                      <a:endParaRPr lang="en-US" sz="1100" b="0" dirty="0">
                        <a:solidFill>
                          <a:schemeClr val="accent1">
                            <a:lumMod val="50000"/>
                          </a:schemeClr>
                        </a:solidFill>
                        <a:latin typeface="+mj-lt"/>
                      </a:endParaRPr>
                    </a:p>
                  </a:txBody>
                  <a:tcPr marL="62591" marR="62591" marT="31295" marB="31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484736">
                <a:tc gridSpan="8">
                  <a:txBody>
                    <a:bodyPr/>
                    <a:lstStyle/>
                    <a:p>
                      <a:pPr>
                        <a:lnSpc>
                          <a:spcPct val="100000"/>
                        </a:lnSpc>
                        <a:spcAft>
                          <a:spcPts val="0"/>
                        </a:spcAft>
                      </a:pPr>
                      <a:r>
                        <a:rPr lang="en-US" sz="900" b="1" kern="1200" dirty="0">
                          <a:solidFill>
                            <a:schemeClr val="tx1"/>
                          </a:solidFill>
                          <a:effectLst/>
                          <a:latin typeface="+mn-lt"/>
                          <a:ea typeface="Calibri Light" panose="020F0302020204030204" pitchFamily="34" charset="0"/>
                          <a:cs typeface="Times New Roman" panose="02020603050405020304" pitchFamily="18" charset="0"/>
                        </a:rPr>
                        <a:t>CRITERIA: The bidder should have experience of carrying out Power Sector Vision Plan for at least 1 state in the last 2 years or a National level Roadmap in the Power Sector in the last Ten years ending financial year 2019-20. (ref: Sl. No. 11 of Section-IV of the RFP and Sl. No. 2 of the Corrigendum vide Memo. No.41-POW-13099/9/2020 dated 1st March 2021)</a:t>
                      </a:r>
                      <a:endParaRPr lang="en-IN" sz="900" b="1" kern="1200" dirty="0">
                        <a:solidFill>
                          <a:schemeClr val="tx1"/>
                        </a:solidFill>
                        <a:effectLst/>
                        <a:latin typeface="+mn-lt"/>
                        <a:ea typeface="Calibri Light" panose="020F0302020204030204" pitchFamily="34" charset="0"/>
                        <a:cs typeface="Times New Roman" panose="02020603050405020304" pitchFamily="18" charset="0"/>
                      </a:endParaRPr>
                    </a:p>
                  </a:txBody>
                  <a:tcPr marL="15648" marR="15648"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lang="en-IN"/>
                    </a:p>
                  </a:txBody>
                  <a:tcPr/>
                </a:tc>
                <a:tc hMerge="1">
                  <a:txBody>
                    <a:bodyPr/>
                    <a:lstStyle/>
                    <a:p>
                      <a:endParaRPr lang="en-IN"/>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91800" marR="91800" marT="58293" marB="58293"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91800" marR="91800" marT="58293" marB="5829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91800" marR="91800" marT="58293" marB="5829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91800" marR="91800" marT="58293" marB="5829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91800" marR="91800" marT="58293" marB="5829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33876880"/>
                  </a:ext>
                </a:extLst>
              </a:tr>
              <a:tr h="498764">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Preparation of Road Map for providing 24X7 Power for All (PFA) in various States and UTs of India</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a:solidFill>
                            <a:schemeClr val="tx1"/>
                          </a:solidFill>
                          <a:effectLst/>
                          <a:latin typeface="+mj-lt"/>
                          <a:ea typeface="Calibri Light" panose="020F0302020204030204" pitchFamily="34" charset="0"/>
                          <a:cs typeface="Times New Roman" panose="02020603050405020304" pitchFamily="18" charset="0"/>
                        </a:rPr>
                        <a:t>2015-2017</a:t>
                      </a:r>
                      <a:endParaRPr lang="en-IN" sz="10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a:solidFill>
                            <a:schemeClr val="tx1"/>
                          </a:solidFill>
                          <a:effectLst/>
                          <a:latin typeface="+mj-lt"/>
                          <a:ea typeface="Calibri Light" panose="020F0302020204030204" pitchFamily="34" charset="0"/>
                          <a:cs typeface="Times New Roman" panose="02020603050405020304" pitchFamily="18" charset="0"/>
                        </a:rPr>
                        <a:t>Power Finance Corporation Ltd. (PFC)</a:t>
                      </a:r>
                      <a:endParaRPr lang="en-IN" sz="10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53291">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Renewable Integration and Sustainable Energy initiative under USAID Greening-The-Grid </a:t>
                      </a:r>
                      <a:r>
                        <a:rPr lang="en-US" sz="1000" kern="1200" dirty="0" err="1">
                          <a:solidFill>
                            <a:schemeClr val="tx1"/>
                          </a:solidFill>
                          <a:effectLst/>
                          <a:latin typeface="+mj-lt"/>
                          <a:ea typeface="Calibri Light" panose="020F0302020204030204" pitchFamily="34" charset="0"/>
                          <a:cs typeface="Times New Roman" panose="02020603050405020304" pitchFamily="18" charset="0"/>
                        </a:rPr>
                        <a:t>programme</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a:solidFill>
                            <a:schemeClr val="tx1"/>
                          </a:solidFill>
                          <a:effectLst/>
                          <a:latin typeface="+mj-lt"/>
                          <a:ea typeface="Calibri Light" panose="020F0302020204030204" pitchFamily="34" charset="0"/>
                          <a:cs typeface="Times New Roman" panose="02020603050405020304" pitchFamily="18" charset="0"/>
                        </a:rPr>
                        <a:t>2016-2020</a:t>
                      </a:r>
                      <a:endParaRPr lang="en-IN" sz="1000" kern="120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1554493" rtl="0" eaLnBrk="1" latinLnBrk="0" hangingPunct="1">
                        <a:lnSpc>
                          <a:spcPct val="100000"/>
                        </a:lnSpc>
                        <a:spcAft>
                          <a:spcPts val="0"/>
                        </a:spcAft>
                      </a:pPr>
                      <a:r>
                        <a:rPr lang="en-US" sz="1000" kern="1200" dirty="0">
                          <a:solidFill>
                            <a:schemeClr val="tx1"/>
                          </a:solidFill>
                          <a:effectLst/>
                          <a:latin typeface="+mj-lt"/>
                          <a:ea typeface="Calibri Light" panose="020F0302020204030204" pitchFamily="34" charset="0"/>
                          <a:cs typeface="Times New Roman" panose="02020603050405020304" pitchFamily="18" charset="0"/>
                        </a:rPr>
                        <a:t>USAID</a:t>
                      </a:r>
                      <a:endParaRPr lang="en-IN" sz="1000" kern="1200" dirty="0">
                        <a:solidFill>
                          <a:schemeClr val="tx1"/>
                        </a:solidFill>
                        <a:effectLst/>
                        <a:latin typeface="+mj-lt"/>
                        <a:ea typeface="Calibri Light" panose="020F0302020204030204" pitchFamily="34" charset="0"/>
                        <a:cs typeface="Times New Roman" panose="02020603050405020304" pitchFamily="18" charset="0"/>
                      </a:endParaRPr>
                    </a:p>
                  </a:txBody>
                  <a:tcPr marL="31173" marR="31173" marT="31173" marB="311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n-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n-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17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000000"/>
                          </a:solidFill>
                          <a:effectLst/>
                          <a:uLnTx/>
                          <a:uFillTx/>
                          <a:latin typeface="+mj-lt"/>
                          <a:ea typeface="+mn-ea"/>
                          <a:cs typeface="+mn-cs"/>
                          <a:sym typeface="Wingdings" pitchFamily="2" charset="2"/>
                        </a:rPr>
                        <a:t></a:t>
                      </a:r>
                      <a:endParaRPr kumimoji="0" lang="en-US" sz="900" b="1" i="1" u="none" strike="noStrike" kern="1200" cap="none" spc="0" normalizeH="0" baseline="0" noProof="0" dirty="0">
                        <a:ln>
                          <a:noFill/>
                        </a:ln>
                        <a:solidFill>
                          <a:prstClr val="black"/>
                        </a:solidFill>
                        <a:effectLst/>
                        <a:uLnTx/>
                        <a:uFillTx/>
                        <a:latin typeface="+mj-lt"/>
                        <a:ea typeface="+mn-ea"/>
                        <a:cs typeface="+mn-cs"/>
                        <a:sym typeface="Wingdings" pitchFamily="2" charset="2"/>
                      </a:endParaRPr>
                    </a:p>
                  </a:txBody>
                  <a:tcPr marL="62591" marR="62591" marT="39745" marB="39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37352106"/>
                  </a:ext>
                </a:extLst>
              </a:tr>
            </a:tbl>
          </a:graphicData>
        </a:graphic>
      </p:graphicFrame>
      <p:sp>
        <p:nvSpPr>
          <p:cNvPr id="5" name="Title 6">
            <a:extLst>
              <a:ext uri="{FF2B5EF4-FFF2-40B4-BE49-F238E27FC236}">
                <a16:creationId xmlns:a16="http://schemas.microsoft.com/office/drawing/2014/main" id="{AA56B0CA-AE6F-424E-B7D8-2156A7B1241F}"/>
              </a:ext>
            </a:extLst>
          </p:cNvPr>
          <p:cNvSpPr txBox="1">
            <a:spLocks/>
          </p:cNvSpPr>
          <p:nvPr/>
        </p:nvSpPr>
        <p:spPr bwMode="gray">
          <a:xfrm>
            <a:off x="538382" y="269246"/>
            <a:ext cx="11058672" cy="420021"/>
          </a:xfrm>
          <a:prstGeom prst="rect">
            <a:avLst/>
          </a:prstGeom>
        </p:spPr>
        <p:txBody>
          <a:bodyPr vert="horz" lIns="0" tIns="0" rIns="0" bIns="0" rtlCol="0" anchor="t" anchorCtr="0">
            <a:noAutofit/>
          </a:bodyPr>
          <a:lstStyle>
            <a:lvl1pPr algn="l" defTabSz="1554493" rtl="0" eaLnBrk="1" latinLnBrk="0" hangingPunct="1">
              <a:spcBef>
                <a:spcPct val="0"/>
              </a:spcBef>
              <a:buNone/>
              <a:defRPr sz="3400" kern="1200">
                <a:solidFill>
                  <a:schemeClr val="tx1"/>
                </a:solidFill>
                <a:latin typeface="+mj-lt"/>
                <a:ea typeface="+mj-ea"/>
                <a:cs typeface="+mj-cs"/>
              </a:defRPr>
            </a:lvl1pPr>
          </a:lstStyle>
          <a:p>
            <a:pPr algn="just" defTabSz="1059853"/>
            <a:r>
              <a:rPr lang="en-US" sz="1800" dirty="0"/>
              <a:t>List of Credentials meeting qualification criteria (3/3)</a:t>
            </a:r>
            <a:endParaRPr lang="en-IN" sz="1800" dirty="0">
              <a:solidFill>
                <a:prstClr val="black"/>
              </a:solidFill>
            </a:endParaRPr>
          </a:p>
        </p:txBody>
      </p:sp>
    </p:spTree>
    <p:extLst>
      <p:ext uri="{BB962C8B-B14F-4D97-AF65-F5344CB8AC3E}">
        <p14:creationId xmlns:p14="http://schemas.microsoft.com/office/powerpoint/2010/main" val="196841650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D7AB34-80CA-41E4-A6FE-F4470BDAB8BB}"/>
              </a:ext>
            </a:extLst>
          </p:cNvPr>
          <p:cNvSpPr/>
          <p:nvPr/>
        </p:nvSpPr>
        <p:spPr>
          <a:xfrm>
            <a:off x="4331463" y="3114231"/>
            <a:ext cx="3529083" cy="629585"/>
          </a:xfrm>
          <a:prstGeom prst="rect">
            <a:avLst/>
          </a:prstGeom>
          <a:noFill/>
        </p:spPr>
        <p:txBody>
          <a:bodyPr wrap="none" lIns="62345" tIns="31173" rIns="62345" bIns="31173">
            <a:spAutoFit/>
          </a:bodyPr>
          <a:lstStyle/>
          <a:p>
            <a:pPr algn="ctr" defTabSz="837848"/>
            <a:r>
              <a:rPr lang="en-US" sz="3682" dirty="0">
                <a:ln w="0"/>
                <a:solidFill>
                  <a:prstClr val="black"/>
                </a:solidFill>
                <a:effectLst>
                  <a:outerShdw blurRad="38100" dist="19050" dir="2700000" algn="tl" rotWithShape="0">
                    <a:prstClr val="black">
                      <a:alpha val="40000"/>
                    </a:prstClr>
                  </a:outerShdw>
                </a:effectLst>
                <a:latin typeface="Verdana"/>
              </a:rPr>
              <a:t>Annexure - III</a:t>
            </a:r>
          </a:p>
        </p:txBody>
      </p:sp>
    </p:spTree>
    <p:extLst>
      <p:ext uri="{BB962C8B-B14F-4D97-AF65-F5344CB8AC3E}">
        <p14:creationId xmlns:p14="http://schemas.microsoft.com/office/powerpoint/2010/main" val="218255928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09F0EA7-2CC6-4B53-82C9-8D95881C7DB4}"/>
              </a:ext>
            </a:extLst>
          </p:cNvPr>
          <p:cNvGrpSpPr/>
          <p:nvPr/>
        </p:nvGrpSpPr>
        <p:grpSpPr>
          <a:xfrm>
            <a:off x="7578943" y="114923"/>
            <a:ext cx="3593445" cy="312153"/>
            <a:chOff x="3284559" y="173998"/>
            <a:chExt cx="10407720" cy="452926"/>
          </a:xfrm>
        </p:grpSpPr>
        <p:sp>
          <p:nvSpPr>
            <p:cNvPr id="6" name="AutoShape 6">
              <a:extLst>
                <a:ext uri="{FF2B5EF4-FFF2-40B4-BE49-F238E27FC236}">
                  <a16:creationId xmlns:a16="http://schemas.microsoft.com/office/drawing/2014/main" id="{78D93C74-2154-4B14-A503-C1F74F4BD94F}"/>
                </a:ext>
              </a:extLst>
            </p:cNvPr>
            <p:cNvSpPr>
              <a:spLocks noChangeArrowheads="1"/>
            </p:cNvSpPr>
            <p:nvPr/>
          </p:nvSpPr>
          <p:spPr bwMode="auto">
            <a:xfrm>
              <a:off x="3284559" y="173998"/>
              <a:ext cx="3870036" cy="452926"/>
            </a:xfrm>
            <a:prstGeom prst="homePlate">
              <a:avLst>
                <a:gd name="adj" fmla="val 38784"/>
              </a:avLst>
            </a:prstGeom>
            <a:solidFill>
              <a:schemeClr val="accent6">
                <a:lumMod val="20000"/>
                <a:lumOff val="80000"/>
              </a:schemeClr>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solidFill>
                    <a:srgbClr val="FFFFFF"/>
                  </a:solidFill>
                  <a:latin typeface="Verdana"/>
                  <a:ea typeface="MS PGothic" panose="020B0600070205080204" pitchFamily="34" charset="-128"/>
                  <a:cs typeface="Times New Roman" panose="02020603050405020304" pitchFamily="18" charset="0"/>
                </a:rPr>
                <a:t>Module-1 (</a:t>
              </a:r>
              <a:r>
                <a:rPr lang="en-US" sz="545" b="1" dirty="0">
                  <a:solidFill>
                    <a:prstClr val="white"/>
                  </a:solidFill>
                  <a:latin typeface="Verdana"/>
                </a:rPr>
                <a:t>Diagnostic Review &amp; Causal Analysis)</a:t>
              </a:r>
              <a:endParaRPr lang="en-IN" sz="545" b="1" dirty="0">
                <a:solidFill>
                  <a:prstClr val="black"/>
                </a:solidFill>
                <a:latin typeface="Verdana"/>
                <a:ea typeface="Times New Roman" panose="02020603050405020304" pitchFamily="18" charset="0"/>
                <a:cs typeface="Times New Roman" panose="02020603050405020304" pitchFamily="18" charset="0"/>
              </a:endParaRPr>
            </a:p>
          </p:txBody>
        </p:sp>
        <p:sp>
          <p:nvSpPr>
            <p:cNvPr id="7" name="AutoShape 7">
              <a:extLst>
                <a:ext uri="{FF2B5EF4-FFF2-40B4-BE49-F238E27FC236}">
                  <a16:creationId xmlns:a16="http://schemas.microsoft.com/office/drawing/2014/main" id="{DF2654F5-FCB7-47E3-8295-0EF7EF7CE800}"/>
                </a:ext>
              </a:extLst>
            </p:cNvPr>
            <p:cNvSpPr>
              <a:spLocks noChangeArrowheads="1"/>
            </p:cNvSpPr>
            <p:nvPr/>
          </p:nvSpPr>
          <p:spPr bwMode="auto">
            <a:xfrm>
              <a:off x="6983578" y="173998"/>
              <a:ext cx="3870036" cy="452926"/>
            </a:xfrm>
            <a:prstGeom prst="chevron">
              <a:avLst>
                <a:gd name="adj" fmla="val 36855"/>
              </a:avLst>
            </a:prstGeom>
            <a:solidFill>
              <a:srgbClr val="F6F7F7"/>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solidFill>
                    <a:srgbClr val="FFFFFF"/>
                  </a:solidFill>
                  <a:latin typeface="Verdana"/>
                  <a:ea typeface="MS PGothic" panose="020B0600070205080204" pitchFamily="34" charset="-128"/>
                  <a:cs typeface="Times New Roman" panose="02020603050405020304" pitchFamily="18" charset="0"/>
                </a:rPr>
                <a:t>Module-2 (Strategic Vision Development)</a:t>
              </a:r>
              <a:endParaRPr lang="en-IN" sz="545" dirty="0">
                <a:solidFill>
                  <a:prstClr val="black"/>
                </a:solidFill>
                <a:latin typeface="Verdana"/>
                <a:ea typeface="Times New Roman" panose="02020603050405020304" pitchFamily="18" charset="0"/>
                <a:cs typeface="Times New Roman" panose="02020603050405020304" pitchFamily="18" charset="0"/>
              </a:endParaRPr>
            </a:p>
          </p:txBody>
        </p:sp>
        <p:sp>
          <p:nvSpPr>
            <p:cNvPr id="8" name="AutoShape 7">
              <a:extLst>
                <a:ext uri="{FF2B5EF4-FFF2-40B4-BE49-F238E27FC236}">
                  <a16:creationId xmlns:a16="http://schemas.microsoft.com/office/drawing/2014/main" id="{CCBFD71C-B470-440C-B8A7-610CA6031E99}"/>
                </a:ext>
              </a:extLst>
            </p:cNvPr>
            <p:cNvSpPr>
              <a:spLocks noChangeArrowheads="1"/>
            </p:cNvSpPr>
            <p:nvPr/>
          </p:nvSpPr>
          <p:spPr bwMode="auto">
            <a:xfrm>
              <a:off x="10691720" y="173998"/>
              <a:ext cx="3000559" cy="452926"/>
            </a:xfrm>
            <a:prstGeom prst="chevron">
              <a:avLst>
                <a:gd name="adj" fmla="val 36855"/>
              </a:avLst>
            </a:prstGeom>
            <a:solidFill>
              <a:srgbClr val="1FA4B3"/>
            </a:solidFill>
            <a:ln w="12700" algn="ctr">
              <a:solidFill>
                <a:srgbClr val="FFFFFF"/>
              </a:solidFill>
              <a:miter lim="800000"/>
              <a:headEnd type="none" w="sm" len="sm"/>
              <a:tailEnd type="none" w="sm" len="sm"/>
            </a:ln>
          </p:spPr>
          <p:txBody>
            <a:bodyPr wrap="square" lIns="24545" tIns="24545" rIns="24545" bIns="24545" anchor="ctr">
              <a:noAutofit/>
            </a:bodyPr>
            <a:lstStyle/>
            <a:p>
              <a:pPr algn="ctr" defTabSz="837848">
                <a:lnSpc>
                  <a:spcPct val="115000"/>
                </a:lnSpc>
              </a:pPr>
              <a:r>
                <a:rPr lang="en-US" sz="545" b="1" dirty="0">
                  <a:solidFill>
                    <a:prstClr val="white"/>
                  </a:solidFill>
                  <a:latin typeface="Verdana"/>
                  <a:ea typeface="Times New Roman" panose="02020603050405020304" pitchFamily="18" charset="0"/>
                  <a:cs typeface="Times New Roman" panose="02020603050405020304" pitchFamily="18" charset="0"/>
                </a:rPr>
                <a:t>Implementation Support</a:t>
              </a:r>
              <a:endParaRPr lang="en-IN" sz="545" b="1" dirty="0">
                <a:solidFill>
                  <a:prstClr val="white"/>
                </a:solidFill>
                <a:latin typeface="Verdana"/>
                <a:ea typeface="Times New Roman" panose="02020603050405020304" pitchFamily="18" charset="0"/>
                <a:cs typeface="Times New Roman" panose="02020603050405020304" pitchFamily="18" charset="0"/>
              </a:endParaRPr>
            </a:p>
          </p:txBody>
        </p:sp>
      </p:grpSp>
      <p:sp>
        <p:nvSpPr>
          <p:cNvPr id="9" name="Title 2">
            <a:extLst>
              <a:ext uri="{FF2B5EF4-FFF2-40B4-BE49-F238E27FC236}">
                <a16:creationId xmlns:a16="http://schemas.microsoft.com/office/drawing/2014/main" id="{AC9FE0D3-75C2-4225-9233-B00C9FCC8326}"/>
              </a:ext>
            </a:extLst>
          </p:cNvPr>
          <p:cNvSpPr>
            <a:spLocks noGrp="1"/>
          </p:cNvSpPr>
          <p:nvPr>
            <p:ph type="title"/>
          </p:nvPr>
        </p:nvSpPr>
        <p:spPr>
          <a:xfrm>
            <a:off x="390845" y="114922"/>
            <a:ext cx="8338665" cy="227797"/>
          </a:xfrm>
        </p:spPr>
        <p:txBody>
          <a:bodyPr/>
          <a:lstStyle/>
          <a:p>
            <a:r>
              <a:rPr lang="en-US" sz="1909" dirty="0"/>
              <a:t>Case Study :</a:t>
            </a:r>
            <a:r>
              <a:rPr lang="en-US" sz="1909" spc="-51" dirty="0">
                <a:latin typeface="Verdana" panose="020B0604030504040204" pitchFamily="34" charset="0"/>
                <a:ea typeface="Verdana" panose="020B0604030504040204" pitchFamily="34" charset="0"/>
                <a:cs typeface="Verdana" panose="020B0604030504040204" pitchFamily="34" charset="0"/>
              </a:rPr>
              <a:t> </a:t>
            </a:r>
            <a:r>
              <a:rPr lang="en-US" sz="1909" dirty="0"/>
              <a:t>A leading public sector company in India</a:t>
            </a:r>
          </a:p>
        </p:txBody>
      </p:sp>
      <p:sp>
        <p:nvSpPr>
          <p:cNvPr id="10" name="Text Placeholder 3">
            <a:extLst>
              <a:ext uri="{FF2B5EF4-FFF2-40B4-BE49-F238E27FC236}">
                <a16:creationId xmlns:a16="http://schemas.microsoft.com/office/drawing/2014/main" id="{0AA1D808-B37B-4984-9D93-4C640DE12198}"/>
              </a:ext>
            </a:extLst>
          </p:cNvPr>
          <p:cNvSpPr txBox="1">
            <a:spLocks/>
          </p:cNvSpPr>
          <p:nvPr/>
        </p:nvSpPr>
        <p:spPr>
          <a:xfrm>
            <a:off x="390845" y="521776"/>
            <a:ext cx="8338665" cy="287352"/>
          </a:xfrm>
          <a:prstGeom prst="rect">
            <a:avLst/>
          </a:prstGeom>
        </p:spPr>
        <p:txBody>
          <a:bodyPr vert="horz" lIns="0" tIns="0" rIns="0" bIns="0" rtlCol="0">
            <a:noAutofit/>
          </a:bodyPr>
          <a:lstStyle>
            <a:lvl1pPr marL="0" indent="0" algn="l" defTabSz="1036337" rtl="0" eaLnBrk="1" latinLnBrk="0" hangingPunct="1">
              <a:spcBef>
                <a:spcPts val="0"/>
              </a:spcBef>
              <a:spcAft>
                <a:spcPts val="1134"/>
              </a:spcAft>
              <a:buSzPct val="100000"/>
              <a:buFont typeface="Arial" panose="020B0604020202020204" pitchFamily="34" charset="0"/>
              <a:buNone/>
              <a:defRPr sz="1028" b="0" kern="1200">
                <a:solidFill>
                  <a:schemeClr val="tx1"/>
                </a:solidFill>
                <a:latin typeface="+mn-lt"/>
                <a:ea typeface="+mn-ea"/>
                <a:cs typeface="+mn-cs"/>
              </a:defRPr>
            </a:lvl1pPr>
            <a:lvl2pPr marL="0" indent="0" algn="l" defTabSz="1036337" rtl="0" eaLnBrk="1" latinLnBrk="0" hangingPunct="1">
              <a:spcBef>
                <a:spcPts val="0"/>
              </a:spcBef>
              <a:spcAft>
                <a:spcPts val="1134"/>
              </a:spcAft>
              <a:buClrTx/>
              <a:buSzPct val="100000"/>
              <a:buFont typeface="Arial"/>
              <a:buNone/>
              <a:defRPr lang="en-US" sz="1028" b="1" kern="1200" dirty="0" smtClean="0">
                <a:solidFill>
                  <a:schemeClr val="tx1"/>
                </a:solidFill>
                <a:latin typeface="+mn-lt"/>
                <a:ea typeface="+mn-ea"/>
                <a:cs typeface="+mn-cs"/>
              </a:defRPr>
            </a:lvl2pPr>
            <a:lvl3pPr marL="199924" indent="-199924" algn="l" defTabSz="1036337" rtl="0" eaLnBrk="1" latinLnBrk="0" hangingPunct="1">
              <a:spcBef>
                <a:spcPts val="0"/>
              </a:spcBef>
              <a:spcAft>
                <a:spcPts val="1134"/>
              </a:spcAft>
              <a:buClrTx/>
              <a:buSzPct val="100000"/>
              <a:buFont typeface="Arial" panose="020B0604020202020204" pitchFamily="34" charset="0"/>
              <a:buChar char="•"/>
              <a:defRPr lang="en-US" sz="1028" kern="1200" dirty="0" smtClean="0">
                <a:solidFill>
                  <a:schemeClr val="tx1"/>
                </a:solidFill>
                <a:latin typeface="+mn-lt"/>
                <a:ea typeface="+mn-ea"/>
                <a:cs typeface="+mn-cs"/>
              </a:defRPr>
            </a:lvl3pPr>
            <a:lvl4pPr marL="403927" indent="-199924" algn="l" defTabSz="1036337" rtl="0" eaLnBrk="1" latinLnBrk="0" hangingPunct="1">
              <a:spcBef>
                <a:spcPts val="0"/>
              </a:spcBef>
              <a:spcAft>
                <a:spcPts val="1134"/>
              </a:spcAft>
              <a:buClrTx/>
              <a:buSzPct val="100000"/>
              <a:buFont typeface="Verdana" panose="020B0604030504040204" pitchFamily="34" charset="0"/>
              <a:buChar char="−"/>
              <a:defRPr lang="en-US" sz="1028" kern="1200" baseline="0" dirty="0" smtClean="0">
                <a:solidFill>
                  <a:schemeClr val="tx1"/>
                </a:solidFill>
                <a:latin typeface="+mn-lt"/>
                <a:ea typeface="+mn-ea"/>
                <a:cs typeface="+mn-cs"/>
              </a:defRPr>
            </a:lvl4pPr>
            <a:lvl5pPr marL="603851" indent="-199924" algn="l" defTabSz="904996" rtl="0" eaLnBrk="1" latinLnBrk="0" hangingPunct="1">
              <a:spcBef>
                <a:spcPts val="0"/>
              </a:spcBef>
              <a:spcAft>
                <a:spcPts val="1134"/>
              </a:spcAft>
              <a:buClrTx/>
              <a:buSzPct val="100000"/>
              <a:buFont typeface="Verdana" panose="020B0604030504040204" pitchFamily="34" charset="0"/>
              <a:buChar char="−"/>
              <a:tabLst/>
              <a:defRPr lang="en-US" sz="1028" kern="1200" baseline="0" dirty="0" smtClean="0">
                <a:solidFill>
                  <a:schemeClr val="tx1"/>
                </a:solidFill>
                <a:latin typeface="+mn-lt"/>
                <a:ea typeface="+mn-ea"/>
                <a:cs typeface="+mn-cs"/>
              </a:defRPr>
            </a:lvl5pPr>
            <a:lvl6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6pPr>
            <a:lvl7pPr marL="603851" indent="-199924" algn="l" defTabSz="1036337" rtl="0" eaLnBrk="1" latinLnBrk="0" hangingPunct="1">
              <a:spcBef>
                <a:spcPts val="0"/>
              </a:spcBef>
              <a:spcAft>
                <a:spcPts val="1134"/>
              </a:spcAft>
              <a:buFont typeface="Verdana" panose="020B0604030504040204" pitchFamily="34" charset="0"/>
              <a:buChar char="−"/>
              <a:defRPr sz="1360" kern="1200">
                <a:solidFill>
                  <a:schemeClr val="tx1"/>
                </a:solidFill>
                <a:latin typeface="+mn-lt"/>
                <a:ea typeface="+mn-ea"/>
                <a:cs typeface="+mn-cs"/>
              </a:defRPr>
            </a:lvl7pPr>
            <a:lvl8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8pPr>
            <a:lvl9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9pPr>
          </a:lstStyle>
          <a:p>
            <a:pPr defTabSz="623482">
              <a:spcAft>
                <a:spcPts val="682"/>
              </a:spcAft>
            </a:pPr>
            <a:r>
              <a:rPr lang="en-US" sz="1636" dirty="0">
                <a:solidFill>
                  <a:srgbClr val="0097A9"/>
                </a:solidFill>
                <a:latin typeface="Verdana"/>
              </a:rPr>
              <a:t>PMO Advisory for a large mid-stream entity in the Indian energy space</a:t>
            </a:r>
          </a:p>
        </p:txBody>
      </p:sp>
      <p:grpSp>
        <p:nvGrpSpPr>
          <p:cNvPr id="11" name="Group 10">
            <a:extLst>
              <a:ext uri="{FF2B5EF4-FFF2-40B4-BE49-F238E27FC236}">
                <a16:creationId xmlns:a16="http://schemas.microsoft.com/office/drawing/2014/main" id="{52EBCA13-5CF2-4EEC-8A0C-427F97EDDE48}"/>
              </a:ext>
            </a:extLst>
          </p:cNvPr>
          <p:cNvGrpSpPr/>
          <p:nvPr/>
        </p:nvGrpSpPr>
        <p:grpSpPr>
          <a:xfrm>
            <a:off x="537103" y="757567"/>
            <a:ext cx="10998405" cy="5578270"/>
            <a:chOff x="393074" y="1059519"/>
            <a:chExt cx="11350896" cy="5418606"/>
          </a:xfrm>
        </p:grpSpPr>
        <p:sp>
          <p:nvSpPr>
            <p:cNvPr id="12" name="Rectangle 11">
              <a:extLst>
                <a:ext uri="{FF2B5EF4-FFF2-40B4-BE49-F238E27FC236}">
                  <a16:creationId xmlns:a16="http://schemas.microsoft.com/office/drawing/2014/main" id="{67949548-0031-4273-A12B-224A28626C12}"/>
                </a:ext>
              </a:extLst>
            </p:cNvPr>
            <p:cNvSpPr/>
            <p:nvPr/>
          </p:nvSpPr>
          <p:spPr>
            <a:xfrm>
              <a:off x="3866346" y="1532571"/>
              <a:ext cx="7678425" cy="1118085"/>
            </a:xfrm>
            <a:prstGeom prst="rect">
              <a:avLst/>
            </a:pr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9091" tIns="49091" rIns="49091" bIns="49091" rtlCol="0" anchor="ctr"/>
            <a:lstStyle/>
            <a:p>
              <a:pPr algn="just" defTabSz="837848">
                <a:defRPr/>
              </a:pPr>
              <a:r>
                <a:rPr lang="en-US" sz="1091" i="1" dirty="0">
                  <a:solidFill>
                    <a:prstClr val="black"/>
                  </a:solidFill>
                  <a:latin typeface="Verdana"/>
                  <a:ea typeface="Verdana" panose="020B0604030504040204" pitchFamily="34" charset="0"/>
                  <a:cs typeface="Verdana" panose="020B0604030504040204" pitchFamily="34" charset="0"/>
                </a:rPr>
                <a:t>One of the most prestigious projects executed by Government of India (PM’s </a:t>
              </a:r>
              <a:r>
                <a:rPr lang="en-US" sz="1091" i="1" dirty="0" err="1">
                  <a:solidFill>
                    <a:prstClr val="black"/>
                  </a:solidFill>
                  <a:latin typeface="Verdana"/>
                  <a:ea typeface="Verdana" panose="020B0604030504040204" pitchFamily="34" charset="0"/>
                  <a:cs typeface="Verdana" panose="020B0604030504040204" pitchFamily="34" charset="0"/>
                </a:rPr>
                <a:t>Urja</a:t>
              </a:r>
              <a:r>
                <a:rPr lang="en-US" sz="1091" i="1" dirty="0">
                  <a:solidFill>
                    <a:prstClr val="black"/>
                  </a:solidFill>
                  <a:latin typeface="Verdana"/>
                  <a:ea typeface="Verdana" panose="020B0604030504040204" pitchFamily="34" charset="0"/>
                  <a:cs typeface="Verdana" panose="020B0604030504040204" pitchFamily="34" charset="0"/>
                </a:rPr>
                <a:t> Ganga project) with planned CAPEX of US$2B, with objective to provide clean and green fuel to eastern India</a:t>
              </a:r>
            </a:p>
            <a:p>
              <a:pPr algn="just" defTabSz="837848">
                <a:defRPr/>
              </a:pPr>
              <a:endParaRPr lang="en-US" sz="1091" i="1" dirty="0">
                <a:solidFill>
                  <a:prstClr val="black"/>
                </a:solidFill>
                <a:latin typeface="Verdana"/>
                <a:ea typeface="Verdana" panose="020B0604030504040204" pitchFamily="34" charset="0"/>
                <a:cs typeface="Verdana" panose="020B0604030504040204" pitchFamily="34" charset="0"/>
              </a:endParaRPr>
            </a:p>
            <a:p>
              <a:pPr algn="just" defTabSz="837848">
                <a:defRPr/>
              </a:pPr>
              <a:r>
                <a:rPr lang="en-US" sz="1091" i="1" dirty="0">
                  <a:solidFill>
                    <a:prstClr val="black"/>
                  </a:solidFill>
                  <a:latin typeface="Verdana"/>
                  <a:ea typeface="Verdana" panose="020B0604030504040204" pitchFamily="34" charset="0"/>
                  <a:cs typeface="Verdana" panose="020B0604030504040204" pitchFamily="34" charset="0"/>
                </a:rPr>
                <a:t>Project entails portfolio of pipeline &amp; CGD sub-projects with pipeline network of 2600 </a:t>
              </a:r>
              <a:r>
                <a:rPr lang="en-US" sz="1091" i="1" dirty="0" err="1">
                  <a:solidFill>
                    <a:prstClr val="black"/>
                  </a:solidFill>
                  <a:latin typeface="Verdana"/>
                  <a:ea typeface="Verdana" panose="020B0604030504040204" pitchFamily="34" charset="0"/>
                  <a:cs typeface="Verdana" panose="020B0604030504040204" pitchFamily="34" charset="0"/>
                </a:rPr>
                <a:t>Kms</a:t>
              </a:r>
              <a:r>
                <a:rPr lang="en-US" sz="1091" i="1" dirty="0">
                  <a:solidFill>
                    <a:prstClr val="black"/>
                  </a:solidFill>
                  <a:latin typeface="Verdana"/>
                  <a:ea typeface="Verdana" panose="020B0604030504040204" pitchFamily="34" charset="0"/>
                  <a:cs typeface="Verdana" panose="020B0604030504040204" pitchFamily="34" charset="0"/>
                </a:rPr>
                <a:t>, spanning across 5 States, 50 Districts and also includes city gas distribution covering 7 cities</a:t>
              </a:r>
            </a:p>
          </p:txBody>
        </p:sp>
        <p:sp>
          <p:nvSpPr>
            <p:cNvPr id="13" name="Rectangle 12">
              <a:extLst>
                <a:ext uri="{FF2B5EF4-FFF2-40B4-BE49-F238E27FC236}">
                  <a16:creationId xmlns:a16="http://schemas.microsoft.com/office/drawing/2014/main" id="{03643774-E838-4044-A45E-43BFE34E6342}"/>
                </a:ext>
              </a:extLst>
            </p:cNvPr>
            <p:cNvSpPr/>
            <p:nvPr/>
          </p:nvSpPr>
          <p:spPr>
            <a:xfrm>
              <a:off x="771270" y="1856002"/>
              <a:ext cx="2501190" cy="606644"/>
            </a:xfrm>
            <a:prstGeom prst="rect">
              <a:avLst/>
            </a:pr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49091" tIns="49091" rIns="49091" bIns="49091" rtlCol="0" anchor="ctr"/>
            <a:lstStyle/>
            <a:p>
              <a:pPr defTabSz="623438">
                <a:lnSpc>
                  <a:spcPct val="150000"/>
                </a:lnSpc>
                <a:defRPr/>
              </a:pPr>
              <a:r>
                <a:rPr lang="en-US" sz="955" b="1" dirty="0">
                  <a:solidFill>
                    <a:prstClr val="black"/>
                  </a:solidFill>
                  <a:latin typeface="Verdana"/>
                </a:rPr>
                <a:t>About the Client</a:t>
              </a:r>
            </a:p>
            <a:p>
              <a:pPr defTabSz="623438">
                <a:lnSpc>
                  <a:spcPct val="150000"/>
                </a:lnSpc>
                <a:defRPr/>
              </a:pPr>
              <a:r>
                <a:rPr lang="en-US" sz="955" b="1" dirty="0">
                  <a:solidFill>
                    <a:prstClr val="black"/>
                  </a:solidFill>
                  <a:latin typeface="Verdana"/>
                </a:rPr>
                <a:t>Large mid-stream entity</a:t>
              </a:r>
            </a:p>
            <a:p>
              <a:pPr defTabSz="623438">
                <a:lnSpc>
                  <a:spcPct val="150000"/>
                </a:lnSpc>
                <a:defRPr/>
              </a:pPr>
              <a:r>
                <a:rPr lang="en-US" sz="955" b="1" dirty="0">
                  <a:solidFill>
                    <a:prstClr val="black"/>
                  </a:solidFill>
                  <a:latin typeface="Verdana"/>
                </a:rPr>
                <a:t>Revenues (INR Cr.):</a:t>
              </a:r>
              <a:r>
                <a:rPr lang="en-US" sz="955" dirty="0">
                  <a:solidFill>
                    <a:prstClr val="black"/>
                  </a:solidFill>
                  <a:latin typeface="Verdana"/>
                </a:rPr>
                <a:t> USD 10 Bn</a:t>
              </a:r>
            </a:p>
          </p:txBody>
        </p:sp>
        <p:grpSp>
          <p:nvGrpSpPr>
            <p:cNvPr id="14" name="Group 13">
              <a:extLst>
                <a:ext uri="{FF2B5EF4-FFF2-40B4-BE49-F238E27FC236}">
                  <a16:creationId xmlns:a16="http://schemas.microsoft.com/office/drawing/2014/main" id="{75235E55-C886-4593-9F79-56F8288F3F19}"/>
                </a:ext>
              </a:extLst>
            </p:cNvPr>
            <p:cNvGrpSpPr/>
            <p:nvPr/>
          </p:nvGrpSpPr>
          <p:grpSpPr>
            <a:xfrm>
              <a:off x="810132" y="1059519"/>
              <a:ext cx="780010" cy="501783"/>
              <a:chOff x="3267347" y="5107610"/>
              <a:chExt cx="1254346" cy="884303"/>
            </a:xfrm>
            <a:solidFill>
              <a:srgbClr val="012169"/>
            </a:solidFill>
          </p:grpSpPr>
          <p:sp>
            <p:nvSpPr>
              <p:cNvPr id="102" name="Freeform 7">
                <a:extLst>
                  <a:ext uri="{FF2B5EF4-FFF2-40B4-BE49-F238E27FC236}">
                    <a16:creationId xmlns:a16="http://schemas.microsoft.com/office/drawing/2014/main" id="{3B0A6E5F-F97B-446D-A1CA-B1C8398C6B88}"/>
                  </a:ext>
                </a:extLst>
              </p:cNvPr>
              <p:cNvSpPr>
                <a:spLocks noEditPoints="1"/>
              </p:cNvSpPr>
              <p:nvPr/>
            </p:nvSpPr>
            <p:spPr bwMode="auto">
              <a:xfrm>
                <a:off x="3569195" y="5107610"/>
                <a:ext cx="952498" cy="878713"/>
              </a:xfrm>
              <a:custGeom>
                <a:avLst/>
                <a:gdLst>
                  <a:gd name="T0" fmla="*/ 1641 w 1703"/>
                  <a:gd name="T1" fmla="*/ 1193 h 1573"/>
                  <a:gd name="T2" fmla="*/ 1586 w 1703"/>
                  <a:gd name="T3" fmla="*/ 1177 h 1573"/>
                  <a:gd name="T4" fmla="*/ 1493 w 1703"/>
                  <a:gd name="T5" fmla="*/ 1174 h 1573"/>
                  <a:gd name="T6" fmla="*/ 1166 w 1703"/>
                  <a:gd name="T7" fmla="*/ 978 h 1573"/>
                  <a:gd name="T8" fmla="*/ 1124 w 1703"/>
                  <a:gd name="T9" fmla="*/ 955 h 1573"/>
                  <a:gd name="T10" fmla="*/ 1067 w 1703"/>
                  <a:gd name="T11" fmla="*/ 773 h 1573"/>
                  <a:gd name="T12" fmla="*/ 1154 w 1703"/>
                  <a:gd name="T13" fmla="*/ 724 h 1573"/>
                  <a:gd name="T14" fmla="*/ 1090 w 1703"/>
                  <a:gd name="T15" fmla="*/ 673 h 1573"/>
                  <a:gd name="T16" fmla="*/ 1018 w 1703"/>
                  <a:gd name="T17" fmla="*/ 348 h 1573"/>
                  <a:gd name="T18" fmla="*/ 1029 w 1703"/>
                  <a:gd name="T19" fmla="*/ 225 h 1573"/>
                  <a:gd name="T20" fmla="*/ 942 w 1703"/>
                  <a:gd name="T21" fmla="*/ 0 h 1573"/>
                  <a:gd name="T22" fmla="*/ 222 w 1703"/>
                  <a:gd name="T23" fmla="*/ 337 h 1573"/>
                  <a:gd name="T24" fmla="*/ 189 w 1703"/>
                  <a:gd name="T25" fmla="*/ 323 h 1573"/>
                  <a:gd name="T26" fmla="*/ 111 w 1703"/>
                  <a:gd name="T27" fmla="*/ 332 h 1573"/>
                  <a:gd name="T28" fmla="*/ 12 w 1703"/>
                  <a:gd name="T29" fmla="*/ 293 h 1573"/>
                  <a:gd name="T30" fmla="*/ 0 w 1703"/>
                  <a:gd name="T31" fmla="*/ 410 h 1573"/>
                  <a:gd name="T32" fmla="*/ 10 w 1703"/>
                  <a:gd name="T33" fmla="*/ 542 h 1573"/>
                  <a:gd name="T34" fmla="*/ 65 w 1703"/>
                  <a:gd name="T35" fmla="*/ 715 h 1573"/>
                  <a:gd name="T36" fmla="*/ 134 w 1703"/>
                  <a:gd name="T37" fmla="*/ 837 h 1573"/>
                  <a:gd name="T38" fmla="*/ 143 w 1703"/>
                  <a:gd name="T39" fmla="*/ 537 h 1573"/>
                  <a:gd name="T40" fmla="*/ 1703 w 1703"/>
                  <a:gd name="T41" fmla="*/ 1462 h 1573"/>
                  <a:gd name="T42" fmla="*/ 453 w 1703"/>
                  <a:gd name="T43" fmla="*/ 740 h 1573"/>
                  <a:gd name="T44" fmla="*/ 376 w 1703"/>
                  <a:gd name="T45" fmla="*/ 1334 h 1573"/>
                  <a:gd name="T46" fmla="*/ 374 w 1703"/>
                  <a:gd name="T47" fmla="*/ 1354 h 1573"/>
                  <a:gd name="T48" fmla="*/ 446 w 1703"/>
                  <a:gd name="T49" fmla="*/ 1437 h 1573"/>
                  <a:gd name="T50" fmla="*/ 919 w 1703"/>
                  <a:gd name="T51" fmla="*/ 675 h 1573"/>
                  <a:gd name="T52" fmla="*/ 856 w 1703"/>
                  <a:gd name="T53" fmla="*/ 727 h 1573"/>
                  <a:gd name="T54" fmla="*/ 919 w 1703"/>
                  <a:gd name="T55" fmla="*/ 796 h 1573"/>
                  <a:gd name="T56" fmla="*/ 910 w 1703"/>
                  <a:gd name="T57" fmla="*/ 1020 h 1573"/>
                  <a:gd name="T58" fmla="*/ 902 w 1703"/>
                  <a:gd name="T59" fmla="*/ 1087 h 1573"/>
                  <a:gd name="T60" fmla="*/ 926 w 1703"/>
                  <a:gd name="T61" fmla="*/ 157 h 1573"/>
                  <a:gd name="T62" fmla="*/ 902 w 1703"/>
                  <a:gd name="T63" fmla="*/ 262 h 1573"/>
                  <a:gd name="T64" fmla="*/ 935 w 1703"/>
                  <a:gd name="T65" fmla="*/ 630 h 1573"/>
                  <a:gd name="T66" fmla="*/ 919 w 1703"/>
                  <a:gd name="T67" fmla="*/ 675 h 1573"/>
                  <a:gd name="T68" fmla="*/ 949 w 1703"/>
                  <a:gd name="T69" fmla="*/ 895 h 1573"/>
                  <a:gd name="T70" fmla="*/ 947 w 1703"/>
                  <a:gd name="T71" fmla="*/ 885 h 1573"/>
                  <a:gd name="T72" fmla="*/ 956 w 1703"/>
                  <a:gd name="T73" fmla="*/ 879 h 1573"/>
                  <a:gd name="T74" fmla="*/ 965 w 1703"/>
                  <a:gd name="T75" fmla="*/ 888 h 1573"/>
                  <a:gd name="T76" fmla="*/ 960 w 1703"/>
                  <a:gd name="T77" fmla="*/ 897 h 1573"/>
                  <a:gd name="T78" fmla="*/ 956 w 1703"/>
                  <a:gd name="T79" fmla="*/ 810 h 1573"/>
                  <a:gd name="T80" fmla="*/ 946 w 1703"/>
                  <a:gd name="T81" fmla="*/ 802 h 1573"/>
                  <a:gd name="T82" fmla="*/ 953 w 1703"/>
                  <a:gd name="T83" fmla="*/ 793 h 1573"/>
                  <a:gd name="T84" fmla="*/ 962 w 1703"/>
                  <a:gd name="T85" fmla="*/ 795 h 1573"/>
                  <a:gd name="T86" fmla="*/ 965 w 1703"/>
                  <a:gd name="T87" fmla="*/ 805 h 1573"/>
                  <a:gd name="T88" fmla="*/ 956 w 1703"/>
                  <a:gd name="T89" fmla="*/ 810 h 1573"/>
                  <a:gd name="T90" fmla="*/ 930 w 1703"/>
                  <a:gd name="T91" fmla="*/ 267 h 1573"/>
                  <a:gd name="T92" fmla="*/ 1029 w 1703"/>
                  <a:gd name="T93" fmla="*/ 650 h 1573"/>
                  <a:gd name="T94" fmla="*/ 999 w 1703"/>
                  <a:gd name="T95" fmla="*/ 643 h 1573"/>
                  <a:gd name="T96" fmla="*/ 954 w 1703"/>
                  <a:gd name="T97" fmla="*/ 629 h 1573"/>
                  <a:gd name="T98" fmla="*/ 1029 w 1703"/>
                  <a:gd name="T99" fmla="*/ 907 h 1573"/>
                  <a:gd name="T100" fmla="*/ 1018 w 1703"/>
                  <a:gd name="T101" fmla="*/ 899 h 1573"/>
                  <a:gd name="T102" fmla="*/ 1025 w 1703"/>
                  <a:gd name="T103" fmla="*/ 890 h 1573"/>
                  <a:gd name="T104" fmla="*/ 1034 w 1703"/>
                  <a:gd name="T105" fmla="*/ 892 h 1573"/>
                  <a:gd name="T106" fmla="*/ 1037 w 1703"/>
                  <a:gd name="T107" fmla="*/ 902 h 1573"/>
                  <a:gd name="T108" fmla="*/ 1029 w 1703"/>
                  <a:gd name="T109" fmla="*/ 907 h 1573"/>
                  <a:gd name="T110" fmla="*/ 1022 w 1703"/>
                  <a:gd name="T111" fmla="*/ 817 h 1573"/>
                  <a:gd name="T112" fmla="*/ 1020 w 1703"/>
                  <a:gd name="T113" fmla="*/ 807 h 1573"/>
                  <a:gd name="T114" fmla="*/ 1029 w 1703"/>
                  <a:gd name="T115" fmla="*/ 802 h 1573"/>
                  <a:gd name="T116" fmla="*/ 1037 w 1703"/>
                  <a:gd name="T117" fmla="*/ 810 h 1573"/>
                  <a:gd name="T118" fmla="*/ 1032 w 1703"/>
                  <a:gd name="T119" fmla="*/ 819 h 1573"/>
                  <a:gd name="T120" fmla="*/ 1113 w 1703"/>
                  <a:gd name="T121" fmla="*/ 1437 h 1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03" h="1573">
                    <a:moveTo>
                      <a:pt x="1611" y="1462"/>
                    </a:moveTo>
                    <a:lnTo>
                      <a:pt x="1611" y="1419"/>
                    </a:lnTo>
                    <a:lnTo>
                      <a:pt x="1641" y="1370"/>
                    </a:lnTo>
                    <a:lnTo>
                      <a:pt x="1641" y="1193"/>
                    </a:lnTo>
                    <a:lnTo>
                      <a:pt x="1641" y="1193"/>
                    </a:lnTo>
                    <a:lnTo>
                      <a:pt x="1627" y="1188"/>
                    </a:lnTo>
                    <a:lnTo>
                      <a:pt x="1609" y="1183"/>
                    </a:lnTo>
                    <a:lnTo>
                      <a:pt x="1586" y="1177"/>
                    </a:lnTo>
                    <a:lnTo>
                      <a:pt x="1560" y="1174"/>
                    </a:lnTo>
                    <a:lnTo>
                      <a:pt x="1528" y="1172"/>
                    </a:lnTo>
                    <a:lnTo>
                      <a:pt x="1510" y="1172"/>
                    </a:lnTo>
                    <a:lnTo>
                      <a:pt x="1493" y="1174"/>
                    </a:lnTo>
                    <a:lnTo>
                      <a:pt x="1473" y="1177"/>
                    </a:lnTo>
                    <a:lnTo>
                      <a:pt x="1454" y="1181"/>
                    </a:lnTo>
                    <a:lnTo>
                      <a:pt x="1454" y="1232"/>
                    </a:lnTo>
                    <a:lnTo>
                      <a:pt x="1166" y="978"/>
                    </a:lnTo>
                    <a:lnTo>
                      <a:pt x="1166" y="978"/>
                    </a:lnTo>
                    <a:lnTo>
                      <a:pt x="1159" y="973"/>
                    </a:lnTo>
                    <a:lnTo>
                      <a:pt x="1138" y="960"/>
                    </a:lnTo>
                    <a:lnTo>
                      <a:pt x="1124" y="955"/>
                    </a:lnTo>
                    <a:lnTo>
                      <a:pt x="1106" y="950"/>
                    </a:lnTo>
                    <a:lnTo>
                      <a:pt x="1087" y="945"/>
                    </a:lnTo>
                    <a:lnTo>
                      <a:pt x="1067" y="943"/>
                    </a:lnTo>
                    <a:lnTo>
                      <a:pt x="1067" y="773"/>
                    </a:lnTo>
                    <a:lnTo>
                      <a:pt x="1161" y="773"/>
                    </a:lnTo>
                    <a:lnTo>
                      <a:pt x="1161" y="735"/>
                    </a:lnTo>
                    <a:lnTo>
                      <a:pt x="1161" y="735"/>
                    </a:lnTo>
                    <a:lnTo>
                      <a:pt x="1154" y="724"/>
                    </a:lnTo>
                    <a:lnTo>
                      <a:pt x="1143" y="713"/>
                    </a:lnTo>
                    <a:lnTo>
                      <a:pt x="1129" y="701"/>
                    </a:lnTo>
                    <a:lnTo>
                      <a:pt x="1112" y="687"/>
                    </a:lnTo>
                    <a:lnTo>
                      <a:pt x="1090" y="673"/>
                    </a:lnTo>
                    <a:lnTo>
                      <a:pt x="1066" y="660"/>
                    </a:lnTo>
                    <a:lnTo>
                      <a:pt x="1052" y="657"/>
                    </a:lnTo>
                    <a:lnTo>
                      <a:pt x="1036" y="652"/>
                    </a:lnTo>
                    <a:lnTo>
                      <a:pt x="1018" y="348"/>
                    </a:lnTo>
                    <a:lnTo>
                      <a:pt x="1025" y="348"/>
                    </a:lnTo>
                    <a:lnTo>
                      <a:pt x="1023" y="290"/>
                    </a:lnTo>
                    <a:lnTo>
                      <a:pt x="1029" y="292"/>
                    </a:lnTo>
                    <a:lnTo>
                      <a:pt x="1029" y="225"/>
                    </a:lnTo>
                    <a:lnTo>
                      <a:pt x="986" y="216"/>
                    </a:lnTo>
                    <a:lnTo>
                      <a:pt x="986" y="184"/>
                    </a:lnTo>
                    <a:lnTo>
                      <a:pt x="986" y="129"/>
                    </a:lnTo>
                    <a:lnTo>
                      <a:pt x="942" y="0"/>
                    </a:lnTo>
                    <a:lnTo>
                      <a:pt x="229" y="353"/>
                    </a:lnTo>
                    <a:lnTo>
                      <a:pt x="229" y="353"/>
                    </a:lnTo>
                    <a:lnTo>
                      <a:pt x="226" y="345"/>
                    </a:lnTo>
                    <a:lnTo>
                      <a:pt x="222" y="337"/>
                    </a:lnTo>
                    <a:lnTo>
                      <a:pt x="215" y="332"/>
                    </a:lnTo>
                    <a:lnTo>
                      <a:pt x="208" y="329"/>
                    </a:lnTo>
                    <a:lnTo>
                      <a:pt x="197" y="325"/>
                    </a:lnTo>
                    <a:lnTo>
                      <a:pt x="189" y="323"/>
                    </a:lnTo>
                    <a:lnTo>
                      <a:pt x="167" y="323"/>
                    </a:lnTo>
                    <a:lnTo>
                      <a:pt x="146" y="325"/>
                    </a:lnTo>
                    <a:lnTo>
                      <a:pt x="129" y="329"/>
                    </a:lnTo>
                    <a:lnTo>
                      <a:pt x="111" y="332"/>
                    </a:lnTo>
                    <a:lnTo>
                      <a:pt x="74" y="269"/>
                    </a:lnTo>
                    <a:lnTo>
                      <a:pt x="19" y="262"/>
                    </a:lnTo>
                    <a:lnTo>
                      <a:pt x="19" y="262"/>
                    </a:lnTo>
                    <a:lnTo>
                      <a:pt x="12" y="293"/>
                    </a:lnTo>
                    <a:lnTo>
                      <a:pt x="7" y="323"/>
                    </a:lnTo>
                    <a:lnTo>
                      <a:pt x="3" y="352"/>
                    </a:lnTo>
                    <a:lnTo>
                      <a:pt x="0" y="382"/>
                    </a:lnTo>
                    <a:lnTo>
                      <a:pt x="0" y="410"/>
                    </a:lnTo>
                    <a:lnTo>
                      <a:pt x="0" y="436"/>
                    </a:lnTo>
                    <a:lnTo>
                      <a:pt x="0" y="465"/>
                    </a:lnTo>
                    <a:lnTo>
                      <a:pt x="3" y="491"/>
                    </a:lnTo>
                    <a:lnTo>
                      <a:pt x="10" y="542"/>
                    </a:lnTo>
                    <a:lnTo>
                      <a:pt x="21" y="590"/>
                    </a:lnTo>
                    <a:lnTo>
                      <a:pt x="33" y="636"/>
                    </a:lnTo>
                    <a:lnTo>
                      <a:pt x="49" y="676"/>
                    </a:lnTo>
                    <a:lnTo>
                      <a:pt x="65" y="715"/>
                    </a:lnTo>
                    <a:lnTo>
                      <a:pt x="81" y="749"/>
                    </a:lnTo>
                    <a:lnTo>
                      <a:pt x="97" y="779"/>
                    </a:lnTo>
                    <a:lnTo>
                      <a:pt x="111" y="803"/>
                    </a:lnTo>
                    <a:lnTo>
                      <a:pt x="134" y="837"/>
                    </a:lnTo>
                    <a:lnTo>
                      <a:pt x="143" y="849"/>
                    </a:lnTo>
                    <a:lnTo>
                      <a:pt x="164" y="855"/>
                    </a:lnTo>
                    <a:lnTo>
                      <a:pt x="183" y="847"/>
                    </a:lnTo>
                    <a:lnTo>
                      <a:pt x="143" y="537"/>
                    </a:lnTo>
                    <a:lnTo>
                      <a:pt x="469" y="378"/>
                    </a:lnTo>
                    <a:lnTo>
                      <a:pt x="303" y="1573"/>
                    </a:lnTo>
                    <a:lnTo>
                      <a:pt x="1703" y="1573"/>
                    </a:lnTo>
                    <a:lnTo>
                      <a:pt x="1703" y="1462"/>
                    </a:lnTo>
                    <a:lnTo>
                      <a:pt x="1611" y="1462"/>
                    </a:lnTo>
                    <a:close/>
                    <a:moveTo>
                      <a:pt x="432" y="1119"/>
                    </a:moveTo>
                    <a:lnTo>
                      <a:pt x="404" y="1119"/>
                    </a:lnTo>
                    <a:lnTo>
                      <a:pt x="453" y="740"/>
                    </a:lnTo>
                    <a:lnTo>
                      <a:pt x="432" y="1119"/>
                    </a:lnTo>
                    <a:close/>
                    <a:moveTo>
                      <a:pt x="430" y="1133"/>
                    </a:moveTo>
                    <a:lnTo>
                      <a:pt x="418" y="1334"/>
                    </a:lnTo>
                    <a:lnTo>
                      <a:pt x="376" y="1334"/>
                    </a:lnTo>
                    <a:lnTo>
                      <a:pt x="402" y="1133"/>
                    </a:lnTo>
                    <a:lnTo>
                      <a:pt x="430" y="1133"/>
                    </a:lnTo>
                    <a:close/>
                    <a:moveTo>
                      <a:pt x="363" y="1437"/>
                    </a:moveTo>
                    <a:lnTo>
                      <a:pt x="374" y="1354"/>
                    </a:lnTo>
                    <a:lnTo>
                      <a:pt x="418" y="1354"/>
                    </a:lnTo>
                    <a:lnTo>
                      <a:pt x="413" y="1437"/>
                    </a:lnTo>
                    <a:lnTo>
                      <a:pt x="363" y="1437"/>
                    </a:lnTo>
                    <a:close/>
                    <a:moveTo>
                      <a:pt x="446" y="1437"/>
                    </a:moveTo>
                    <a:lnTo>
                      <a:pt x="513" y="562"/>
                    </a:lnTo>
                    <a:lnTo>
                      <a:pt x="722" y="1437"/>
                    </a:lnTo>
                    <a:lnTo>
                      <a:pt x="446" y="1437"/>
                    </a:lnTo>
                    <a:close/>
                    <a:moveTo>
                      <a:pt x="919" y="675"/>
                    </a:moveTo>
                    <a:lnTo>
                      <a:pt x="919" y="675"/>
                    </a:lnTo>
                    <a:lnTo>
                      <a:pt x="909" y="682"/>
                    </a:lnTo>
                    <a:lnTo>
                      <a:pt x="886" y="701"/>
                    </a:lnTo>
                    <a:lnTo>
                      <a:pt x="856" y="727"/>
                    </a:lnTo>
                    <a:lnTo>
                      <a:pt x="840" y="743"/>
                    </a:lnTo>
                    <a:lnTo>
                      <a:pt x="826" y="759"/>
                    </a:lnTo>
                    <a:lnTo>
                      <a:pt x="826" y="798"/>
                    </a:lnTo>
                    <a:lnTo>
                      <a:pt x="919" y="796"/>
                    </a:lnTo>
                    <a:lnTo>
                      <a:pt x="919" y="1003"/>
                    </a:lnTo>
                    <a:lnTo>
                      <a:pt x="919" y="1003"/>
                    </a:lnTo>
                    <a:lnTo>
                      <a:pt x="916" y="1006"/>
                    </a:lnTo>
                    <a:lnTo>
                      <a:pt x="910" y="1020"/>
                    </a:lnTo>
                    <a:lnTo>
                      <a:pt x="907" y="1033"/>
                    </a:lnTo>
                    <a:lnTo>
                      <a:pt x="905" y="1047"/>
                    </a:lnTo>
                    <a:lnTo>
                      <a:pt x="903" y="1066"/>
                    </a:lnTo>
                    <a:lnTo>
                      <a:pt x="902" y="1087"/>
                    </a:lnTo>
                    <a:lnTo>
                      <a:pt x="902" y="1433"/>
                    </a:lnTo>
                    <a:lnTo>
                      <a:pt x="771" y="1433"/>
                    </a:lnTo>
                    <a:lnTo>
                      <a:pt x="517" y="355"/>
                    </a:lnTo>
                    <a:lnTo>
                      <a:pt x="926" y="157"/>
                    </a:lnTo>
                    <a:lnTo>
                      <a:pt x="940" y="177"/>
                    </a:lnTo>
                    <a:lnTo>
                      <a:pt x="939" y="200"/>
                    </a:lnTo>
                    <a:lnTo>
                      <a:pt x="902" y="196"/>
                    </a:lnTo>
                    <a:lnTo>
                      <a:pt x="902" y="262"/>
                    </a:lnTo>
                    <a:lnTo>
                      <a:pt x="907" y="262"/>
                    </a:lnTo>
                    <a:lnTo>
                      <a:pt x="912" y="343"/>
                    </a:lnTo>
                    <a:lnTo>
                      <a:pt x="919" y="341"/>
                    </a:lnTo>
                    <a:lnTo>
                      <a:pt x="935" y="630"/>
                    </a:lnTo>
                    <a:lnTo>
                      <a:pt x="935" y="630"/>
                    </a:lnTo>
                    <a:lnTo>
                      <a:pt x="926" y="632"/>
                    </a:lnTo>
                    <a:lnTo>
                      <a:pt x="919" y="636"/>
                    </a:lnTo>
                    <a:lnTo>
                      <a:pt x="919" y="675"/>
                    </a:lnTo>
                    <a:close/>
                    <a:moveTo>
                      <a:pt x="956" y="897"/>
                    </a:moveTo>
                    <a:lnTo>
                      <a:pt x="956" y="897"/>
                    </a:lnTo>
                    <a:lnTo>
                      <a:pt x="953" y="897"/>
                    </a:lnTo>
                    <a:lnTo>
                      <a:pt x="949" y="895"/>
                    </a:lnTo>
                    <a:lnTo>
                      <a:pt x="947" y="892"/>
                    </a:lnTo>
                    <a:lnTo>
                      <a:pt x="946" y="888"/>
                    </a:lnTo>
                    <a:lnTo>
                      <a:pt x="946" y="888"/>
                    </a:lnTo>
                    <a:lnTo>
                      <a:pt x="947" y="885"/>
                    </a:lnTo>
                    <a:lnTo>
                      <a:pt x="949" y="881"/>
                    </a:lnTo>
                    <a:lnTo>
                      <a:pt x="953" y="879"/>
                    </a:lnTo>
                    <a:lnTo>
                      <a:pt x="956" y="879"/>
                    </a:lnTo>
                    <a:lnTo>
                      <a:pt x="956" y="879"/>
                    </a:lnTo>
                    <a:lnTo>
                      <a:pt x="960" y="879"/>
                    </a:lnTo>
                    <a:lnTo>
                      <a:pt x="962" y="881"/>
                    </a:lnTo>
                    <a:lnTo>
                      <a:pt x="965" y="885"/>
                    </a:lnTo>
                    <a:lnTo>
                      <a:pt x="965" y="888"/>
                    </a:lnTo>
                    <a:lnTo>
                      <a:pt x="965" y="888"/>
                    </a:lnTo>
                    <a:lnTo>
                      <a:pt x="965" y="892"/>
                    </a:lnTo>
                    <a:lnTo>
                      <a:pt x="962" y="895"/>
                    </a:lnTo>
                    <a:lnTo>
                      <a:pt x="960" y="897"/>
                    </a:lnTo>
                    <a:lnTo>
                      <a:pt x="956" y="897"/>
                    </a:lnTo>
                    <a:lnTo>
                      <a:pt x="956" y="897"/>
                    </a:lnTo>
                    <a:close/>
                    <a:moveTo>
                      <a:pt x="956" y="810"/>
                    </a:moveTo>
                    <a:lnTo>
                      <a:pt x="956" y="810"/>
                    </a:lnTo>
                    <a:lnTo>
                      <a:pt x="953" y="810"/>
                    </a:lnTo>
                    <a:lnTo>
                      <a:pt x="949" y="807"/>
                    </a:lnTo>
                    <a:lnTo>
                      <a:pt x="947" y="805"/>
                    </a:lnTo>
                    <a:lnTo>
                      <a:pt x="946" y="802"/>
                    </a:lnTo>
                    <a:lnTo>
                      <a:pt x="946" y="802"/>
                    </a:lnTo>
                    <a:lnTo>
                      <a:pt x="947" y="798"/>
                    </a:lnTo>
                    <a:lnTo>
                      <a:pt x="949" y="795"/>
                    </a:lnTo>
                    <a:lnTo>
                      <a:pt x="953" y="793"/>
                    </a:lnTo>
                    <a:lnTo>
                      <a:pt x="956" y="791"/>
                    </a:lnTo>
                    <a:lnTo>
                      <a:pt x="956" y="791"/>
                    </a:lnTo>
                    <a:lnTo>
                      <a:pt x="960" y="793"/>
                    </a:lnTo>
                    <a:lnTo>
                      <a:pt x="962" y="795"/>
                    </a:lnTo>
                    <a:lnTo>
                      <a:pt x="965" y="798"/>
                    </a:lnTo>
                    <a:lnTo>
                      <a:pt x="965" y="802"/>
                    </a:lnTo>
                    <a:lnTo>
                      <a:pt x="965" y="802"/>
                    </a:lnTo>
                    <a:lnTo>
                      <a:pt x="965" y="805"/>
                    </a:lnTo>
                    <a:lnTo>
                      <a:pt x="962" y="807"/>
                    </a:lnTo>
                    <a:lnTo>
                      <a:pt x="960" y="810"/>
                    </a:lnTo>
                    <a:lnTo>
                      <a:pt x="956" y="810"/>
                    </a:lnTo>
                    <a:lnTo>
                      <a:pt x="956" y="810"/>
                    </a:lnTo>
                    <a:close/>
                    <a:moveTo>
                      <a:pt x="942" y="629"/>
                    </a:moveTo>
                    <a:lnTo>
                      <a:pt x="926" y="341"/>
                    </a:lnTo>
                    <a:lnTo>
                      <a:pt x="933" y="341"/>
                    </a:lnTo>
                    <a:lnTo>
                      <a:pt x="930" y="267"/>
                    </a:lnTo>
                    <a:lnTo>
                      <a:pt x="1000" y="285"/>
                    </a:lnTo>
                    <a:lnTo>
                      <a:pt x="1004" y="350"/>
                    </a:lnTo>
                    <a:lnTo>
                      <a:pt x="1011" y="350"/>
                    </a:lnTo>
                    <a:lnTo>
                      <a:pt x="1029" y="650"/>
                    </a:lnTo>
                    <a:lnTo>
                      <a:pt x="1029" y="650"/>
                    </a:lnTo>
                    <a:lnTo>
                      <a:pt x="1004" y="646"/>
                    </a:lnTo>
                    <a:lnTo>
                      <a:pt x="1004" y="646"/>
                    </a:lnTo>
                    <a:lnTo>
                      <a:pt x="999" y="643"/>
                    </a:lnTo>
                    <a:lnTo>
                      <a:pt x="986" y="637"/>
                    </a:lnTo>
                    <a:lnTo>
                      <a:pt x="977" y="634"/>
                    </a:lnTo>
                    <a:lnTo>
                      <a:pt x="967" y="630"/>
                    </a:lnTo>
                    <a:lnTo>
                      <a:pt x="954" y="629"/>
                    </a:lnTo>
                    <a:lnTo>
                      <a:pt x="942" y="629"/>
                    </a:lnTo>
                    <a:lnTo>
                      <a:pt x="942" y="629"/>
                    </a:lnTo>
                    <a:close/>
                    <a:moveTo>
                      <a:pt x="1029" y="907"/>
                    </a:moveTo>
                    <a:lnTo>
                      <a:pt x="1029" y="907"/>
                    </a:lnTo>
                    <a:lnTo>
                      <a:pt x="1025" y="906"/>
                    </a:lnTo>
                    <a:lnTo>
                      <a:pt x="1022" y="904"/>
                    </a:lnTo>
                    <a:lnTo>
                      <a:pt x="1020" y="902"/>
                    </a:lnTo>
                    <a:lnTo>
                      <a:pt x="1018" y="899"/>
                    </a:lnTo>
                    <a:lnTo>
                      <a:pt x="1018" y="899"/>
                    </a:lnTo>
                    <a:lnTo>
                      <a:pt x="1020" y="893"/>
                    </a:lnTo>
                    <a:lnTo>
                      <a:pt x="1022" y="892"/>
                    </a:lnTo>
                    <a:lnTo>
                      <a:pt x="1025" y="890"/>
                    </a:lnTo>
                    <a:lnTo>
                      <a:pt x="1029" y="888"/>
                    </a:lnTo>
                    <a:lnTo>
                      <a:pt x="1029" y="888"/>
                    </a:lnTo>
                    <a:lnTo>
                      <a:pt x="1032" y="890"/>
                    </a:lnTo>
                    <a:lnTo>
                      <a:pt x="1034" y="892"/>
                    </a:lnTo>
                    <a:lnTo>
                      <a:pt x="1037" y="893"/>
                    </a:lnTo>
                    <a:lnTo>
                      <a:pt x="1037" y="899"/>
                    </a:lnTo>
                    <a:lnTo>
                      <a:pt x="1037" y="899"/>
                    </a:lnTo>
                    <a:lnTo>
                      <a:pt x="1037" y="902"/>
                    </a:lnTo>
                    <a:lnTo>
                      <a:pt x="1034" y="904"/>
                    </a:lnTo>
                    <a:lnTo>
                      <a:pt x="1032" y="906"/>
                    </a:lnTo>
                    <a:lnTo>
                      <a:pt x="1029" y="907"/>
                    </a:lnTo>
                    <a:lnTo>
                      <a:pt x="1029" y="907"/>
                    </a:lnTo>
                    <a:close/>
                    <a:moveTo>
                      <a:pt x="1029" y="821"/>
                    </a:moveTo>
                    <a:lnTo>
                      <a:pt x="1029" y="821"/>
                    </a:lnTo>
                    <a:lnTo>
                      <a:pt x="1025" y="819"/>
                    </a:lnTo>
                    <a:lnTo>
                      <a:pt x="1022" y="817"/>
                    </a:lnTo>
                    <a:lnTo>
                      <a:pt x="1020" y="814"/>
                    </a:lnTo>
                    <a:lnTo>
                      <a:pt x="1018" y="810"/>
                    </a:lnTo>
                    <a:lnTo>
                      <a:pt x="1018" y="810"/>
                    </a:lnTo>
                    <a:lnTo>
                      <a:pt x="1020" y="807"/>
                    </a:lnTo>
                    <a:lnTo>
                      <a:pt x="1022" y="803"/>
                    </a:lnTo>
                    <a:lnTo>
                      <a:pt x="1025" y="802"/>
                    </a:lnTo>
                    <a:lnTo>
                      <a:pt x="1029" y="802"/>
                    </a:lnTo>
                    <a:lnTo>
                      <a:pt x="1029" y="802"/>
                    </a:lnTo>
                    <a:lnTo>
                      <a:pt x="1032" y="802"/>
                    </a:lnTo>
                    <a:lnTo>
                      <a:pt x="1034" y="803"/>
                    </a:lnTo>
                    <a:lnTo>
                      <a:pt x="1037" y="807"/>
                    </a:lnTo>
                    <a:lnTo>
                      <a:pt x="1037" y="810"/>
                    </a:lnTo>
                    <a:lnTo>
                      <a:pt x="1037" y="810"/>
                    </a:lnTo>
                    <a:lnTo>
                      <a:pt x="1037" y="814"/>
                    </a:lnTo>
                    <a:lnTo>
                      <a:pt x="1034" y="817"/>
                    </a:lnTo>
                    <a:lnTo>
                      <a:pt x="1032" y="819"/>
                    </a:lnTo>
                    <a:lnTo>
                      <a:pt x="1029" y="821"/>
                    </a:lnTo>
                    <a:lnTo>
                      <a:pt x="1029" y="821"/>
                    </a:lnTo>
                    <a:close/>
                    <a:moveTo>
                      <a:pt x="1433" y="1437"/>
                    </a:moveTo>
                    <a:lnTo>
                      <a:pt x="1113" y="1437"/>
                    </a:lnTo>
                    <a:lnTo>
                      <a:pt x="1113" y="1214"/>
                    </a:lnTo>
                    <a:lnTo>
                      <a:pt x="1433" y="1417"/>
                    </a:lnTo>
                    <a:lnTo>
                      <a:pt x="1433" y="14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103" name="Freeform 8">
                <a:extLst>
                  <a:ext uri="{FF2B5EF4-FFF2-40B4-BE49-F238E27FC236}">
                    <a16:creationId xmlns:a16="http://schemas.microsoft.com/office/drawing/2014/main" id="{57BBED9A-3003-405F-8565-63D25594B35E}"/>
                  </a:ext>
                </a:extLst>
              </p:cNvPr>
              <p:cNvSpPr>
                <a:spLocks noEditPoints="1"/>
              </p:cNvSpPr>
              <p:nvPr/>
            </p:nvSpPr>
            <p:spPr bwMode="auto">
              <a:xfrm>
                <a:off x="3267347" y="5693419"/>
                <a:ext cx="164340" cy="267192"/>
              </a:xfrm>
              <a:custGeom>
                <a:avLst/>
                <a:gdLst>
                  <a:gd name="T0" fmla="*/ 21 w 293"/>
                  <a:gd name="T1" fmla="*/ 347 h 476"/>
                  <a:gd name="T2" fmla="*/ 19 w 293"/>
                  <a:gd name="T3" fmla="*/ 347 h 476"/>
                  <a:gd name="T4" fmla="*/ 9 w 293"/>
                  <a:gd name="T5" fmla="*/ 353 h 476"/>
                  <a:gd name="T6" fmla="*/ 3 w 293"/>
                  <a:gd name="T7" fmla="*/ 361 h 476"/>
                  <a:gd name="T8" fmla="*/ 3 w 293"/>
                  <a:gd name="T9" fmla="*/ 368 h 476"/>
                  <a:gd name="T10" fmla="*/ 3 w 293"/>
                  <a:gd name="T11" fmla="*/ 413 h 476"/>
                  <a:gd name="T12" fmla="*/ 9 w 293"/>
                  <a:gd name="T13" fmla="*/ 446 h 476"/>
                  <a:gd name="T14" fmla="*/ 16 w 293"/>
                  <a:gd name="T15" fmla="*/ 467 h 476"/>
                  <a:gd name="T16" fmla="*/ 77 w 293"/>
                  <a:gd name="T17" fmla="*/ 476 h 476"/>
                  <a:gd name="T18" fmla="*/ 72 w 293"/>
                  <a:gd name="T19" fmla="*/ 458 h 476"/>
                  <a:gd name="T20" fmla="*/ 70 w 293"/>
                  <a:gd name="T21" fmla="*/ 441 h 476"/>
                  <a:gd name="T22" fmla="*/ 74 w 293"/>
                  <a:gd name="T23" fmla="*/ 418 h 476"/>
                  <a:gd name="T24" fmla="*/ 79 w 293"/>
                  <a:gd name="T25" fmla="*/ 398 h 476"/>
                  <a:gd name="T26" fmla="*/ 104 w 293"/>
                  <a:gd name="T27" fmla="*/ 363 h 476"/>
                  <a:gd name="T28" fmla="*/ 139 w 293"/>
                  <a:gd name="T29" fmla="*/ 338 h 476"/>
                  <a:gd name="T30" fmla="*/ 160 w 293"/>
                  <a:gd name="T31" fmla="*/ 331 h 476"/>
                  <a:gd name="T32" fmla="*/ 182 w 293"/>
                  <a:gd name="T33" fmla="*/ 330 h 476"/>
                  <a:gd name="T34" fmla="*/ 194 w 293"/>
                  <a:gd name="T35" fmla="*/ 331 h 476"/>
                  <a:gd name="T36" fmla="*/ 215 w 293"/>
                  <a:gd name="T37" fmla="*/ 335 h 476"/>
                  <a:gd name="T38" fmla="*/ 245 w 293"/>
                  <a:gd name="T39" fmla="*/ 349 h 476"/>
                  <a:gd name="T40" fmla="*/ 287 w 293"/>
                  <a:gd name="T41" fmla="*/ 361 h 476"/>
                  <a:gd name="T42" fmla="*/ 293 w 293"/>
                  <a:gd name="T43" fmla="*/ 0 h 476"/>
                  <a:gd name="T44" fmla="*/ 204 w 293"/>
                  <a:gd name="T45" fmla="*/ 3 h 476"/>
                  <a:gd name="T46" fmla="*/ 132 w 293"/>
                  <a:gd name="T47" fmla="*/ 10 h 476"/>
                  <a:gd name="T48" fmla="*/ 72 w 293"/>
                  <a:gd name="T49" fmla="*/ 23 h 476"/>
                  <a:gd name="T50" fmla="*/ 69 w 293"/>
                  <a:gd name="T51" fmla="*/ 24 h 476"/>
                  <a:gd name="T52" fmla="*/ 54 w 293"/>
                  <a:gd name="T53" fmla="*/ 38 h 476"/>
                  <a:gd name="T54" fmla="*/ 40 w 293"/>
                  <a:gd name="T55" fmla="*/ 63 h 476"/>
                  <a:gd name="T56" fmla="*/ 40 w 293"/>
                  <a:gd name="T57" fmla="*/ 93 h 476"/>
                  <a:gd name="T58" fmla="*/ 35 w 293"/>
                  <a:gd name="T59" fmla="*/ 114 h 476"/>
                  <a:gd name="T60" fmla="*/ 16 w 293"/>
                  <a:gd name="T61" fmla="*/ 195 h 476"/>
                  <a:gd name="T62" fmla="*/ 9 w 293"/>
                  <a:gd name="T63" fmla="*/ 257 h 476"/>
                  <a:gd name="T64" fmla="*/ 9 w 293"/>
                  <a:gd name="T65" fmla="*/ 284 h 476"/>
                  <a:gd name="T66" fmla="*/ 3 w 293"/>
                  <a:gd name="T67" fmla="*/ 287 h 476"/>
                  <a:gd name="T68" fmla="*/ 0 w 293"/>
                  <a:gd name="T69" fmla="*/ 296 h 476"/>
                  <a:gd name="T70" fmla="*/ 0 w 293"/>
                  <a:gd name="T71" fmla="*/ 301 h 476"/>
                  <a:gd name="T72" fmla="*/ 0 w 293"/>
                  <a:gd name="T73" fmla="*/ 319 h 476"/>
                  <a:gd name="T74" fmla="*/ 3 w 293"/>
                  <a:gd name="T75" fmla="*/ 331 h 476"/>
                  <a:gd name="T76" fmla="*/ 10 w 293"/>
                  <a:gd name="T77" fmla="*/ 337 h 476"/>
                  <a:gd name="T78" fmla="*/ 42 w 293"/>
                  <a:gd name="T79" fmla="*/ 199 h 476"/>
                  <a:gd name="T80" fmla="*/ 44 w 293"/>
                  <a:gd name="T81" fmla="*/ 169 h 476"/>
                  <a:gd name="T82" fmla="*/ 49 w 293"/>
                  <a:gd name="T83" fmla="*/ 130 h 476"/>
                  <a:gd name="T84" fmla="*/ 53 w 293"/>
                  <a:gd name="T85" fmla="*/ 120 h 476"/>
                  <a:gd name="T86" fmla="*/ 58 w 293"/>
                  <a:gd name="T87" fmla="*/ 114 h 476"/>
                  <a:gd name="T88" fmla="*/ 77 w 293"/>
                  <a:gd name="T89" fmla="*/ 109 h 476"/>
                  <a:gd name="T90" fmla="*/ 146 w 293"/>
                  <a:gd name="T91" fmla="*/ 105 h 476"/>
                  <a:gd name="T92" fmla="*/ 157 w 293"/>
                  <a:gd name="T93" fmla="*/ 109 h 476"/>
                  <a:gd name="T94" fmla="*/ 159 w 293"/>
                  <a:gd name="T95" fmla="*/ 114 h 476"/>
                  <a:gd name="T96" fmla="*/ 159 w 293"/>
                  <a:gd name="T97" fmla="*/ 180 h 476"/>
                  <a:gd name="T98" fmla="*/ 157 w 293"/>
                  <a:gd name="T99" fmla="*/ 187 h 476"/>
                  <a:gd name="T100" fmla="*/ 144 w 293"/>
                  <a:gd name="T101" fmla="*/ 195 h 476"/>
                  <a:gd name="T102" fmla="*/ 137 w 293"/>
                  <a:gd name="T103" fmla="*/ 197 h 476"/>
                  <a:gd name="T104" fmla="*/ 118 w 293"/>
                  <a:gd name="T105" fmla="*/ 201 h 476"/>
                  <a:gd name="T106" fmla="*/ 67 w 293"/>
                  <a:gd name="T107" fmla="*/ 211 h 476"/>
                  <a:gd name="T108" fmla="*/ 49 w 293"/>
                  <a:gd name="T109" fmla="*/ 215 h 476"/>
                  <a:gd name="T110" fmla="*/ 46 w 293"/>
                  <a:gd name="T111" fmla="*/ 213 h 476"/>
                  <a:gd name="T112" fmla="*/ 42 w 293"/>
                  <a:gd name="T113" fmla="*/ 199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3" h="476">
                    <a:moveTo>
                      <a:pt x="21" y="335"/>
                    </a:moveTo>
                    <a:lnTo>
                      <a:pt x="21" y="347"/>
                    </a:lnTo>
                    <a:lnTo>
                      <a:pt x="21" y="347"/>
                    </a:lnTo>
                    <a:lnTo>
                      <a:pt x="19" y="347"/>
                    </a:lnTo>
                    <a:lnTo>
                      <a:pt x="12" y="351"/>
                    </a:lnTo>
                    <a:lnTo>
                      <a:pt x="9" y="353"/>
                    </a:lnTo>
                    <a:lnTo>
                      <a:pt x="7" y="356"/>
                    </a:lnTo>
                    <a:lnTo>
                      <a:pt x="3" y="361"/>
                    </a:lnTo>
                    <a:lnTo>
                      <a:pt x="3" y="368"/>
                    </a:lnTo>
                    <a:lnTo>
                      <a:pt x="3" y="368"/>
                    </a:lnTo>
                    <a:lnTo>
                      <a:pt x="3" y="383"/>
                    </a:lnTo>
                    <a:lnTo>
                      <a:pt x="3" y="413"/>
                    </a:lnTo>
                    <a:lnTo>
                      <a:pt x="5" y="430"/>
                    </a:lnTo>
                    <a:lnTo>
                      <a:pt x="9" y="446"/>
                    </a:lnTo>
                    <a:lnTo>
                      <a:pt x="12" y="460"/>
                    </a:lnTo>
                    <a:lnTo>
                      <a:pt x="16" y="467"/>
                    </a:lnTo>
                    <a:lnTo>
                      <a:pt x="17" y="471"/>
                    </a:lnTo>
                    <a:lnTo>
                      <a:pt x="77" y="476"/>
                    </a:lnTo>
                    <a:lnTo>
                      <a:pt x="77" y="476"/>
                    </a:lnTo>
                    <a:lnTo>
                      <a:pt x="72" y="458"/>
                    </a:lnTo>
                    <a:lnTo>
                      <a:pt x="70" y="441"/>
                    </a:lnTo>
                    <a:lnTo>
                      <a:pt x="70" y="441"/>
                    </a:lnTo>
                    <a:lnTo>
                      <a:pt x="72" y="430"/>
                    </a:lnTo>
                    <a:lnTo>
                      <a:pt x="74" y="418"/>
                    </a:lnTo>
                    <a:lnTo>
                      <a:pt x="76" y="407"/>
                    </a:lnTo>
                    <a:lnTo>
                      <a:pt x="79" y="398"/>
                    </a:lnTo>
                    <a:lnTo>
                      <a:pt x="90" y="379"/>
                    </a:lnTo>
                    <a:lnTo>
                      <a:pt x="104" y="363"/>
                    </a:lnTo>
                    <a:lnTo>
                      <a:pt x="120" y="349"/>
                    </a:lnTo>
                    <a:lnTo>
                      <a:pt x="139" y="338"/>
                    </a:lnTo>
                    <a:lnTo>
                      <a:pt x="150" y="335"/>
                    </a:lnTo>
                    <a:lnTo>
                      <a:pt x="160" y="331"/>
                    </a:lnTo>
                    <a:lnTo>
                      <a:pt x="171" y="331"/>
                    </a:lnTo>
                    <a:lnTo>
                      <a:pt x="182" y="330"/>
                    </a:lnTo>
                    <a:lnTo>
                      <a:pt x="182" y="330"/>
                    </a:lnTo>
                    <a:lnTo>
                      <a:pt x="194" y="331"/>
                    </a:lnTo>
                    <a:lnTo>
                      <a:pt x="204" y="331"/>
                    </a:lnTo>
                    <a:lnTo>
                      <a:pt x="215" y="335"/>
                    </a:lnTo>
                    <a:lnTo>
                      <a:pt x="226" y="338"/>
                    </a:lnTo>
                    <a:lnTo>
                      <a:pt x="245" y="349"/>
                    </a:lnTo>
                    <a:lnTo>
                      <a:pt x="261" y="363"/>
                    </a:lnTo>
                    <a:lnTo>
                      <a:pt x="287" y="361"/>
                    </a:lnTo>
                    <a:lnTo>
                      <a:pt x="293" y="0"/>
                    </a:lnTo>
                    <a:lnTo>
                      <a:pt x="293" y="0"/>
                    </a:lnTo>
                    <a:lnTo>
                      <a:pt x="266" y="0"/>
                    </a:lnTo>
                    <a:lnTo>
                      <a:pt x="204" y="3"/>
                    </a:lnTo>
                    <a:lnTo>
                      <a:pt x="167" y="7"/>
                    </a:lnTo>
                    <a:lnTo>
                      <a:pt x="132" y="10"/>
                    </a:lnTo>
                    <a:lnTo>
                      <a:pt x="99" y="16"/>
                    </a:lnTo>
                    <a:lnTo>
                      <a:pt x="72" y="23"/>
                    </a:lnTo>
                    <a:lnTo>
                      <a:pt x="72" y="23"/>
                    </a:lnTo>
                    <a:lnTo>
                      <a:pt x="69" y="24"/>
                    </a:lnTo>
                    <a:lnTo>
                      <a:pt x="60" y="31"/>
                    </a:lnTo>
                    <a:lnTo>
                      <a:pt x="54" y="38"/>
                    </a:lnTo>
                    <a:lnTo>
                      <a:pt x="47" y="49"/>
                    </a:lnTo>
                    <a:lnTo>
                      <a:pt x="40" y="63"/>
                    </a:lnTo>
                    <a:lnTo>
                      <a:pt x="35" y="79"/>
                    </a:lnTo>
                    <a:lnTo>
                      <a:pt x="40" y="93"/>
                    </a:lnTo>
                    <a:lnTo>
                      <a:pt x="40" y="93"/>
                    </a:lnTo>
                    <a:lnTo>
                      <a:pt x="35" y="114"/>
                    </a:lnTo>
                    <a:lnTo>
                      <a:pt x="23" y="165"/>
                    </a:lnTo>
                    <a:lnTo>
                      <a:pt x="16" y="195"/>
                    </a:lnTo>
                    <a:lnTo>
                      <a:pt x="12" y="227"/>
                    </a:lnTo>
                    <a:lnTo>
                      <a:pt x="9" y="257"/>
                    </a:lnTo>
                    <a:lnTo>
                      <a:pt x="9" y="284"/>
                    </a:lnTo>
                    <a:lnTo>
                      <a:pt x="9" y="284"/>
                    </a:lnTo>
                    <a:lnTo>
                      <a:pt x="7" y="284"/>
                    </a:lnTo>
                    <a:lnTo>
                      <a:pt x="3" y="287"/>
                    </a:lnTo>
                    <a:lnTo>
                      <a:pt x="0" y="293"/>
                    </a:lnTo>
                    <a:lnTo>
                      <a:pt x="0" y="296"/>
                    </a:lnTo>
                    <a:lnTo>
                      <a:pt x="0" y="301"/>
                    </a:lnTo>
                    <a:lnTo>
                      <a:pt x="0" y="301"/>
                    </a:lnTo>
                    <a:lnTo>
                      <a:pt x="0" y="307"/>
                    </a:lnTo>
                    <a:lnTo>
                      <a:pt x="0" y="319"/>
                    </a:lnTo>
                    <a:lnTo>
                      <a:pt x="2" y="326"/>
                    </a:lnTo>
                    <a:lnTo>
                      <a:pt x="3" y="331"/>
                    </a:lnTo>
                    <a:lnTo>
                      <a:pt x="7" y="335"/>
                    </a:lnTo>
                    <a:lnTo>
                      <a:pt x="10" y="337"/>
                    </a:lnTo>
                    <a:lnTo>
                      <a:pt x="21" y="335"/>
                    </a:lnTo>
                    <a:close/>
                    <a:moveTo>
                      <a:pt x="42" y="199"/>
                    </a:moveTo>
                    <a:lnTo>
                      <a:pt x="42" y="199"/>
                    </a:lnTo>
                    <a:lnTo>
                      <a:pt x="44" y="169"/>
                    </a:lnTo>
                    <a:lnTo>
                      <a:pt x="47" y="143"/>
                    </a:lnTo>
                    <a:lnTo>
                      <a:pt x="49" y="130"/>
                    </a:lnTo>
                    <a:lnTo>
                      <a:pt x="53" y="120"/>
                    </a:lnTo>
                    <a:lnTo>
                      <a:pt x="53" y="120"/>
                    </a:lnTo>
                    <a:lnTo>
                      <a:pt x="54" y="118"/>
                    </a:lnTo>
                    <a:lnTo>
                      <a:pt x="58" y="114"/>
                    </a:lnTo>
                    <a:lnTo>
                      <a:pt x="65" y="111"/>
                    </a:lnTo>
                    <a:lnTo>
                      <a:pt x="77" y="109"/>
                    </a:lnTo>
                    <a:lnTo>
                      <a:pt x="146" y="105"/>
                    </a:lnTo>
                    <a:lnTo>
                      <a:pt x="146" y="105"/>
                    </a:lnTo>
                    <a:lnTo>
                      <a:pt x="152" y="105"/>
                    </a:lnTo>
                    <a:lnTo>
                      <a:pt x="157" y="109"/>
                    </a:lnTo>
                    <a:lnTo>
                      <a:pt x="159" y="114"/>
                    </a:lnTo>
                    <a:lnTo>
                      <a:pt x="159" y="114"/>
                    </a:lnTo>
                    <a:lnTo>
                      <a:pt x="159" y="180"/>
                    </a:lnTo>
                    <a:lnTo>
                      <a:pt x="159" y="180"/>
                    </a:lnTo>
                    <a:lnTo>
                      <a:pt x="159" y="183"/>
                    </a:lnTo>
                    <a:lnTo>
                      <a:pt x="157" y="187"/>
                    </a:lnTo>
                    <a:lnTo>
                      <a:pt x="152" y="192"/>
                    </a:lnTo>
                    <a:lnTo>
                      <a:pt x="144" y="195"/>
                    </a:lnTo>
                    <a:lnTo>
                      <a:pt x="137" y="197"/>
                    </a:lnTo>
                    <a:lnTo>
                      <a:pt x="137" y="197"/>
                    </a:lnTo>
                    <a:lnTo>
                      <a:pt x="118" y="201"/>
                    </a:lnTo>
                    <a:lnTo>
                      <a:pt x="118" y="201"/>
                    </a:lnTo>
                    <a:lnTo>
                      <a:pt x="67" y="211"/>
                    </a:lnTo>
                    <a:lnTo>
                      <a:pt x="67" y="211"/>
                    </a:lnTo>
                    <a:lnTo>
                      <a:pt x="58" y="215"/>
                    </a:lnTo>
                    <a:lnTo>
                      <a:pt x="49" y="215"/>
                    </a:lnTo>
                    <a:lnTo>
                      <a:pt x="49" y="215"/>
                    </a:lnTo>
                    <a:lnTo>
                      <a:pt x="46" y="213"/>
                    </a:lnTo>
                    <a:lnTo>
                      <a:pt x="44" y="210"/>
                    </a:lnTo>
                    <a:lnTo>
                      <a:pt x="42" y="199"/>
                    </a:lnTo>
                    <a:lnTo>
                      <a:pt x="42"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104" name="Freeform 9">
                <a:extLst>
                  <a:ext uri="{FF2B5EF4-FFF2-40B4-BE49-F238E27FC236}">
                    <a16:creationId xmlns:a16="http://schemas.microsoft.com/office/drawing/2014/main" id="{84392D21-2DB2-4AD0-930B-22B890497322}"/>
                  </a:ext>
                </a:extLst>
              </p:cNvPr>
              <p:cNvSpPr>
                <a:spLocks/>
              </p:cNvSpPr>
              <p:nvPr/>
            </p:nvSpPr>
            <p:spPr bwMode="auto">
              <a:xfrm>
                <a:off x="3445101" y="5732547"/>
                <a:ext cx="316382" cy="174401"/>
              </a:xfrm>
              <a:custGeom>
                <a:avLst/>
                <a:gdLst>
                  <a:gd name="T0" fmla="*/ 78 w 567"/>
                  <a:gd name="T1" fmla="*/ 0 h 313"/>
                  <a:gd name="T2" fmla="*/ 78 w 567"/>
                  <a:gd name="T3" fmla="*/ 0 h 313"/>
                  <a:gd name="T4" fmla="*/ 59 w 567"/>
                  <a:gd name="T5" fmla="*/ 0 h 313"/>
                  <a:gd name="T6" fmla="*/ 59 w 567"/>
                  <a:gd name="T7" fmla="*/ 0 h 313"/>
                  <a:gd name="T8" fmla="*/ 52 w 567"/>
                  <a:gd name="T9" fmla="*/ 0 h 313"/>
                  <a:gd name="T10" fmla="*/ 46 w 567"/>
                  <a:gd name="T11" fmla="*/ 2 h 313"/>
                  <a:gd name="T12" fmla="*/ 36 w 567"/>
                  <a:gd name="T13" fmla="*/ 9 h 313"/>
                  <a:gd name="T14" fmla="*/ 25 w 567"/>
                  <a:gd name="T15" fmla="*/ 20 h 313"/>
                  <a:gd name="T16" fmla="*/ 16 w 567"/>
                  <a:gd name="T17" fmla="*/ 34 h 313"/>
                  <a:gd name="T18" fmla="*/ 9 w 567"/>
                  <a:gd name="T19" fmla="*/ 52 h 313"/>
                  <a:gd name="T20" fmla="*/ 4 w 567"/>
                  <a:gd name="T21" fmla="*/ 71 h 313"/>
                  <a:gd name="T22" fmla="*/ 2 w 567"/>
                  <a:gd name="T23" fmla="*/ 92 h 313"/>
                  <a:gd name="T24" fmla="*/ 0 w 567"/>
                  <a:gd name="T25" fmla="*/ 115 h 313"/>
                  <a:gd name="T26" fmla="*/ 0 w 567"/>
                  <a:gd name="T27" fmla="*/ 198 h 313"/>
                  <a:gd name="T28" fmla="*/ 0 w 567"/>
                  <a:gd name="T29" fmla="*/ 198 h 313"/>
                  <a:gd name="T30" fmla="*/ 0 w 567"/>
                  <a:gd name="T31" fmla="*/ 219 h 313"/>
                  <a:gd name="T32" fmla="*/ 4 w 567"/>
                  <a:gd name="T33" fmla="*/ 239 h 313"/>
                  <a:gd name="T34" fmla="*/ 9 w 567"/>
                  <a:gd name="T35" fmla="*/ 258 h 313"/>
                  <a:gd name="T36" fmla="*/ 15 w 567"/>
                  <a:gd name="T37" fmla="*/ 274 h 313"/>
                  <a:gd name="T38" fmla="*/ 23 w 567"/>
                  <a:gd name="T39" fmla="*/ 288 h 313"/>
                  <a:gd name="T40" fmla="*/ 32 w 567"/>
                  <a:gd name="T41" fmla="*/ 299 h 313"/>
                  <a:gd name="T42" fmla="*/ 41 w 567"/>
                  <a:gd name="T43" fmla="*/ 307 h 313"/>
                  <a:gd name="T44" fmla="*/ 52 w 567"/>
                  <a:gd name="T45" fmla="*/ 311 h 313"/>
                  <a:gd name="T46" fmla="*/ 52 w 567"/>
                  <a:gd name="T47" fmla="*/ 311 h 313"/>
                  <a:gd name="T48" fmla="*/ 59 w 567"/>
                  <a:gd name="T49" fmla="*/ 299 h 313"/>
                  <a:gd name="T50" fmla="*/ 69 w 567"/>
                  <a:gd name="T51" fmla="*/ 286 h 313"/>
                  <a:gd name="T52" fmla="*/ 80 w 567"/>
                  <a:gd name="T53" fmla="*/ 276 h 313"/>
                  <a:gd name="T54" fmla="*/ 92 w 567"/>
                  <a:gd name="T55" fmla="*/ 265 h 313"/>
                  <a:gd name="T56" fmla="*/ 106 w 567"/>
                  <a:gd name="T57" fmla="*/ 258 h 313"/>
                  <a:gd name="T58" fmla="*/ 120 w 567"/>
                  <a:gd name="T59" fmla="*/ 253 h 313"/>
                  <a:gd name="T60" fmla="*/ 136 w 567"/>
                  <a:gd name="T61" fmla="*/ 249 h 313"/>
                  <a:gd name="T62" fmla="*/ 152 w 567"/>
                  <a:gd name="T63" fmla="*/ 249 h 313"/>
                  <a:gd name="T64" fmla="*/ 152 w 567"/>
                  <a:gd name="T65" fmla="*/ 249 h 313"/>
                  <a:gd name="T66" fmla="*/ 168 w 567"/>
                  <a:gd name="T67" fmla="*/ 249 h 313"/>
                  <a:gd name="T68" fmla="*/ 184 w 567"/>
                  <a:gd name="T69" fmla="*/ 253 h 313"/>
                  <a:gd name="T70" fmla="*/ 198 w 567"/>
                  <a:gd name="T71" fmla="*/ 258 h 313"/>
                  <a:gd name="T72" fmla="*/ 212 w 567"/>
                  <a:gd name="T73" fmla="*/ 267 h 313"/>
                  <a:gd name="T74" fmla="*/ 225 w 567"/>
                  <a:gd name="T75" fmla="*/ 276 h 313"/>
                  <a:gd name="T76" fmla="*/ 235 w 567"/>
                  <a:gd name="T77" fmla="*/ 286 h 313"/>
                  <a:gd name="T78" fmla="*/ 244 w 567"/>
                  <a:gd name="T79" fmla="*/ 299 h 313"/>
                  <a:gd name="T80" fmla="*/ 253 w 567"/>
                  <a:gd name="T81" fmla="*/ 313 h 313"/>
                  <a:gd name="T82" fmla="*/ 445 w 567"/>
                  <a:gd name="T83" fmla="*/ 313 h 313"/>
                  <a:gd name="T84" fmla="*/ 445 w 567"/>
                  <a:gd name="T85" fmla="*/ 313 h 313"/>
                  <a:gd name="T86" fmla="*/ 452 w 567"/>
                  <a:gd name="T87" fmla="*/ 300 h 313"/>
                  <a:gd name="T88" fmla="*/ 461 w 567"/>
                  <a:gd name="T89" fmla="*/ 288 h 313"/>
                  <a:gd name="T90" fmla="*/ 472 w 567"/>
                  <a:gd name="T91" fmla="*/ 277 h 313"/>
                  <a:gd name="T92" fmla="*/ 482 w 567"/>
                  <a:gd name="T93" fmla="*/ 269 h 313"/>
                  <a:gd name="T94" fmla="*/ 495 w 567"/>
                  <a:gd name="T95" fmla="*/ 262 h 313"/>
                  <a:gd name="T96" fmla="*/ 507 w 567"/>
                  <a:gd name="T97" fmla="*/ 256 h 313"/>
                  <a:gd name="T98" fmla="*/ 521 w 567"/>
                  <a:gd name="T99" fmla="*/ 251 h 313"/>
                  <a:gd name="T100" fmla="*/ 535 w 567"/>
                  <a:gd name="T101" fmla="*/ 249 h 313"/>
                  <a:gd name="T102" fmla="*/ 567 w 567"/>
                  <a:gd name="T103" fmla="*/ 0 h 313"/>
                  <a:gd name="T104" fmla="*/ 78 w 567"/>
                  <a:gd name="T105"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67" h="313">
                    <a:moveTo>
                      <a:pt x="78" y="0"/>
                    </a:moveTo>
                    <a:lnTo>
                      <a:pt x="78" y="0"/>
                    </a:lnTo>
                    <a:lnTo>
                      <a:pt x="59" y="0"/>
                    </a:lnTo>
                    <a:lnTo>
                      <a:pt x="59" y="0"/>
                    </a:lnTo>
                    <a:lnTo>
                      <a:pt x="52" y="0"/>
                    </a:lnTo>
                    <a:lnTo>
                      <a:pt x="46" y="2"/>
                    </a:lnTo>
                    <a:lnTo>
                      <a:pt x="36" y="9"/>
                    </a:lnTo>
                    <a:lnTo>
                      <a:pt x="25" y="20"/>
                    </a:lnTo>
                    <a:lnTo>
                      <a:pt x="16" y="34"/>
                    </a:lnTo>
                    <a:lnTo>
                      <a:pt x="9" y="52"/>
                    </a:lnTo>
                    <a:lnTo>
                      <a:pt x="4" y="71"/>
                    </a:lnTo>
                    <a:lnTo>
                      <a:pt x="2" y="92"/>
                    </a:lnTo>
                    <a:lnTo>
                      <a:pt x="0" y="115"/>
                    </a:lnTo>
                    <a:lnTo>
                      <a:pt x="0" y="198"/>
                    </a:lnTo>
                    <a:lnTo>
                      <a:pt x="0" y="198"/>
                    </a:lnTo>
                    <a:lnTo>
                      <a:pt x="0" y="219"/>
                    </a:lnTo>
                    <a:lnTo>
                      <a:pt x="4" y="239"/>
                    </a:lnTo>
                    <a:lnTo>
                      <a:pt x="9" y="258"/>
                    </a:lnTo>
                    <a:lnTo>
                      <a:pt x="15" y="274"/>
                    </a:lnTo>
                    <a:lnTo>
                      <a:pt x="23" y="288"/>
                    </a:lnTo>
                    <a:lnTo>
                      <a:pt x="32" y="299"/>
                    </a:lnTo>
                    <a:lnTo>
                      <a:pt x="41" y="307"/>
                    </a:lnTo>
                    <a:lnTo>
                      <a:pt x="52" y="311"/>
                    </a:lnTo>
                    <a:lnTo>
                      <a:pt x="52" y="311"/>
                    </a:lnTo>
                    <a:lnTo>
                      <a:pt x="59" y="299"/>
                    </a:lnTo>
                    <a:lnTo>
                      <a:pt x="69" y="286"/>
                    </a:lnTo>
                    <a:lnTo>
                      <a:pt x="80" y="276"/>
                    </a:lnTo>
                    <a:lnTo>
                      <a:pt x="92" y="265"/>
                    </a:lnTo>
                    <a:lnTo>
                      <a:pt x="106" y="258"/>
                    </a:lnTo>
                    <a:lnTo>
                      <a:pt x="120" y="253"/>
                    </a:lnTo>
                    <a:lnTo>
                      <a:pt x="136" y="249"/>
                    </a:lnTo>
                    <a:lnTo>
                      <a:pt x="152" y="249"/>
                    </a:lnTo>
                    <a:lnTo>
                      <a:pt x="152" y="249"/>
                    </a:lnTo>
                    <a:lnTo>
                      <a:pt x="168" y="249"/>
                    </a:lnTo>
                    <a:lnTo>
                      <a:pt x="184" y="253"/>
                    </a:lnTo>
                    <a:lnTo>
                      <a:pt x="198" y="258"/>
                    </a:lnTo>
                    <a:lnTo>
                      <a:pt x="212" y="267"/>
                    </a:lnTo>
                    <a:lnTo>
                      <a:pt x="225" y="276"/>
                    </a:lnTo>
                    <a:lnTo>
                      <a:pt x="235" y="286"/>
                    </a:lnTo>
                    <a:lnTo>
                      <a:pt x="244" y="299"/>
                    </a:lnTo>
                    <a:lnTo>
                      <a:pt x="253" y="313"/>
                    </a:lnTo>
                    <a:lnTo>
                      <a:pt x="445" y="313"/>
                    </a:lnTo>
                    <a:lnTo>
                      <a:pt x="445" y="313"/>
                    </a:lnTo>
                    <a:lnTo>
                      <a:pt x="452" y="300"/>
                    </a:lnTo>
                    <a:lnTo>
                      <a:pt x="461" y="288"/>
                    </a:lnTo>
                    <a:lnTo>
                      <a:pt x="472" y="277"/>
                    </a:lnTo>
                    <a:lnTo>
                      <a:pt x="482" y="269"/>
                    </a:lnTo>
                    <a:lnTo>
                      <a:pt x="495" y="262"/>
                    </a:lnTo>
                    <a:lnTo>
                      <a:pt x="507" y="256"/>
                    </a:lnTo>
                    <a:lnTo>
                      <a:pt x="521" y="251"/>
                    </a:lnTo>
                    <a:lnTo>
                      <a:pt x="535" y="249"/>
                    </a:lnTo>
                    <a:lnTo>
                      <a:pt x="567" y="0"/>
                    </a:lnTo>
                    <a:lnTo>
                      <a:pt x="7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105" name="Freeform 10">
                <a:extLst>
                  <a:ext uri="{FF2B5EF4-FFF2-40B4-BE49-F238E27FC236}">
                    <a16:creationId xmlns:a16="http://schemas.microsoft.com/office/drawing/2014/main" id="{85CA833B-D6F1-4E4E-8DA9-9067130442BB}"/>
                  </a:ext>
                </a:extLst>
              </p:cNvPr>
              <p:cNvSpPr>
                <a:spLocks/>
              </p:cNvSpPr>
              <p:nvPr/>
            </p:nvSpPr>
            <p:spPr bwMode="auto">
              <a:xfrm>
                <a:off x="3578138" y="5710188"/>
                <a:ext cx="72668" cy="15651"/>
              </a:xfrm>
              <a:custGeom>
                <a:avLst/>
                <a:gdLst>
                  <a:gd name="T0" fmla="*/ 5 w 128"/>
                  <a:gd name="T1" fmla="*/ 0 h 28"/>
                  <a:gd name="T2" fmla="*/ 123 w 128"/>
                  <a:gd name="T3" fmla="*/ 0 h 28"/>
                  <a:gd name="T4" fmla="*/ 123 w 128"/>
                  <a:gd name="T5" fmla="*/ 0 h 28"/>
                  <a:gd name="T6" fmla="*/ 125 w 128"/>
                  <a:gd name="T7" fmla="*/ 1 h 28"/>
                  <a:gd name="T8" fmla="*/ 127 w 128"/>
                  <a:gd name="T9" fmla="*/ 5 h 28"/>
                  <a:gd name="T10" fmla="*/ 128 w 128"/>
                  <a:gd name="T11" fmla="*/ 16 h 28"/>
                  <a:gd name="T12" fmla="*/ 128 w 128"/>
                  <a:gd name="T13" fmla="*/ 28 h 28"/>
                  <a:gd name="T14" fmla="*/ 0 w 128"/>
                  <a:gd name="T15" fmla="*/ 28 h 28"/>
                  <a:gd name="T16" fmla="*/ 0 w 128"/>
                  <a:gd name="T17" fmla="*/ 16 h 28"/>
                  <a:gd name="T18" fmla="*/ 0 w 128"/>
                  <a:gd name="T19" fmla="*/ 16 h 28"/>
                  <a:gd name="T20" fmla="*/ 1 w 128"/>
                  <a:gd name="T21" fmla="*/ 5 h 28"/>
                  <a:gd name="T22" fmla="*/ 3 w 128"/>
                  <a:gd name="T23" fmla="*/ 1 h 28"/>
                  <a:gd name="T24" fmla="*/ 5 w 128"/>
                  <a:gd name="T25" fmla="*/ 0 h 28"/>
                  <a:gd name="T26" fmla="*/ 5 w 128"/>
                  <a:gd name="T2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8" h="28">
                    <a:moveTo>
                      <a:pt x="5" y="0"/>
                    </a:moveTo>
                    <a:lnTo>
                      <a:pt x="123" y="0"/>
                    </a:lnTo>
                    <a:lnTo>
                      <a:pt x="123" y="0"/>
                    </a:lnTo>
                    <a:lnTo>
                      <a:pt x="125" y="1"/>
                    </a:lnTo>
                    <a:lnTo>
                      <a:pt x="127" y="5"/>
                    </a:lnTo>
                    <a:lnTo>
                      <a:pt x="128" y="16"/>
                    </a:lnTo>
                    <a:lnTo>
                      <a:pt x="128" y="28"/>
                    </a:lnTo>
                    <a:lnTo>
                      <a:pt x="0" y="28"/>
                    </a:lnTo>
                    <a:lnTo>
                      <a:pt x="0" y="16"/>
                    </a:lnTo>
                    <a:lnTo>
                      <a:pt x="0" y="16"/>
                    </a:lnTo>
                    <a:lnTo>
                      <a:pt x="1" y="5"/>
                    </a:lnTo>
                    <a:lnTo>
                      <a:pt x="3" y="1"/>
                    </a:lnTo>
                    <a:lnTo>
                      <a:pt x="5"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106" name="Freeform 11">
                <a:extLst>
                  <a:ext uri="{FF2B5EF4-FFF2-40B4-BE49-F238E27FC236}">
                    <a16:creationId xmlns:a16="http://schemas.microsoft.com/office/drawing/2014/main" id="{BE8C03FA-C597-42C3-8D15-6F398A52DE5D}"/>
                  </a:ext>
                </a:extLst>
              </p:cNvPr>
              <p:cNvSpPr>
                <a:spLocks/>
              </p:cNvSpPr>
              <p:nvPr/>
            </p:nvSpPr>
            <p:spPr bwMode="auto">
              <a:xfrm>
                <a:off x="3588200" y="5911420"/>
                <a:ext cx="103970" cy="22359"/>
              </a:xfrm>
              <a:custGeom>
                <a:avLst/>
                <a:gdLst>
                  <a:gd name="T0" fmla="*/ 0 w 186"/>
                  <a:gd name="T1" fmla="*/ 0 h 38"/>
                  <a:gd name="T2" fmla="*/ 186 w 186"/>
                  <a:gd name="T3" fmla="*/ 0 h 38"/>
                  <a:gd name="T4" fmla="*/ 186 w 186"/>
                  <a:gd name="T5" fmla="*/ 0 h 38"/>
                  <a:gd name="T6" fmla="*/ 180 w 186"/>
                  <a:gd name="T7" fmla="*/ 17 h 38"/>
                  <a:gd name="T8" fmla="*/ 179 w 186"/>
                  <a:gd name="T9" fmla="*/ 35 h 38"/>
                  <a:gd name="T10" fmla="*/ 179 w 186"/>
                  <a:gd name="T11" fmla="*/ 35 h 38"/>
                  <a:gd name="T12" fmla="*/ 179 w 186"/>
                  <a:gd name="T13" fmla="*/ 38 h 38"/>
                  <a:gd name="T14" fmla="*/ 7 w 186"/>
                  <a:gd name="T15" fmla="*/ 38 h 38"/>
                  <a:gd name="T16" fmla="*/ 7 w 186"/>
                  <a:gd name="T17" fmla="*/ 38 h 38"/>
                  <a:gd name="T18" fmla="*/ 7 w 186"/>
                  <a:gd name="T19" fmla="*/ 35 h 38"/>
                  <a:gd name="T20" fmla="*/ 7 w 186"/>
                  <a:gd name="T21" fmla="*/ 35 h 38"/>
                  <a:gd name="T22" fmla="*/ 6 w 186"/>
                  <a:gd name="T23" fmla="*/ 17 h 38"/>
                  <a:gd name="T24" fmla="*/ 0 w 186"/>
                  <a:gd name="T25" fmla="*/ 0 h 38"/>
                  <a:gd name="T26" fmla="*/ 0 w 186"/>
                  <a:gd name="T2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6" h="38">
                    <a:moveTo>
                      <a:pt x="0" y="0"/>
                    </a:moveTo>
                    <a:lnTo>
                      <a:pt x="186" y="0"/>
                    </a:lnTo>
                    <a:lnTo>
                      <a:pt x="186" y="0"/>
                    </a:lnTo>
                    <a:lnTo>
                      <a:pt x="180" y="17"/>
                    </a:lnTo>
                    <a:lnTo>
                      <a:pt x="179" y="35"/>
                    </a:lnTo>
                    <a:lnTo>
                      <a:pt x="179" y="35"/>
                    </a:lnTo>
                    <a:lnTo>
                      <a:pt x="179" y="38"/>
                    </a:lnTo>
                    <a:lnTo>
                      <a:pt x="7" y="38"/>
                    </a:lnTo>
                    <a:lnTo>
                      <a:pt x="7" y="38"/>
                    </a:lnTo>
                    <a:lnTo>
                      <a:pt x="7" y="35"/>
                    </a:lnTo>
                    <a:lnTo>
                      <a:pt x="7" y="35"/>
                    </a:lnTo>
                    <a:lnTo>
                      <a:pt x="6" y="17"/>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107" name="Freeform 12">
                <a:extLst>
                  <a:ext uri="{FF2B5EF4-FFF2-40B4-BE49-F238E27FC236}">
                    <a16:creationId xmlns:a16="http://schemas.microsoft.com/office/drawing/2014/main" id="{2D0E3DFC-AD21-4336-A60B-9F101609971A}"/>
                  </a:ext>
                </a:extLst>
              </p:cNvPr>
              <p:cNvSpPr>
                <a:spLocks/>
              </p:cNvSpPr>
              <p:nvPr/>
            </p:nvSpPr>
            <p:spPr bwMode="auto">
              <a:xfrm>
                <a:off x="3452928" y="5911420"/>
                <a:ext cx="17887" cy="22359"/>
              </a:xfrm>
              <a:custGeom>
                <a:avLst/>
                <a:gdLst>
                  <a:gd name="T0" fmla="*/ 0 w 31"/>
                  <a:gd name="T1" fmla="*/ 0 h 38"/>
                  <a:gd name="T2" fmla="*/ 31 w 31"/>
                  <a:gd name="T3" fmla="*/ 0 h 38"/>
                  <a:gd name="T4" fmla="*/ 31 w 31"/>
                  <a:gd name="T5" fmla="*/ 0 h 38"/>
                  <a:gd name="T6" fmla="*/ 28 w 31"/>
                  <a:gd name="T7" fmla="*/ 17 h 38"/>
                  <a:gd name="T8" fmla="*/ 26 w 31"/>
                  <a:gd name="T9" fmla="*/ 35 h 38"/>
                  <a:gd name="T10" fmla="*/ 26 w 31"/>
                  <a:gd name="T11" fmla="*/ 35 h 38"/>
                  <a:gd name="T12" fmla="*/ 26 w 31"/>
                  <a:gd name="T13" fmla="*/ 38 h 38"/>
                  <a:gd name="T14" fmla="*/ 0 w 31"/>
                  <a:gd name="T15" fmla="*/ 38 h 38"/>
                  <a:gd name="T16" fmla="*/ 0 w 31"/>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38">
                    <a:moveTo>
                      <a:pt x="0" y="0"/>
                    </a:moveTo>
                    <a:lnTo>
                      <a:pt x="31" y="0"/>
                    </a:lnTo>
                    <a:lnTo>
                      <a:pt x="31" y="0"/>
                    </a:lnTo>
                    <a:lnTo>
                      <a:pt x="28" y="17"/>
                    </a:lnTo>
                    <a:lnTo>
                      <a:pt x="26" y="35"/>
                    </a:lnTo>
                    <a:lnTo>
                      <a:pt x="26" y="35"/>
                    </a:lnTo>
                    <a:lnTo>
                      <a:pt x="26" y="38"/>
                    </a:lnTo>
                    <a:lnTo>
                      <a:pt x="0" y="38"/>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108" name="Freeform 13">
                <a:extLst>
                  <a:ext uri="{FF2B5EF4-FFF2-40B4-BE49-F238E27FC236}">
                    <a16:creationId xmlns:a16="http://schemas.microsoft.com/office/drawing/2014/main" id="{A5686EF6-2E36-48FC-BACF-CD50FADD5223}"/>
                  </a:ext>
                </a:extLst>
              </p:cNvPr>
              <p:cNvSpPr>
                <a:spLocks noEditPoints="1"/>
              </p:cNvSpPr>
              <p:nvPr/>
            </p:nvSpPr>
            <p:spPr bwMode="auto">
              <a:xfrm>
                <a:off x="3316537" y="5884589"/>
                <a:ext cx="107324" cy="107324"/>
              </a:xfrm>
              <a:custGeom>
                <a:avLst/>
                <a:gdLst>
                  <a:gd name="T0" fmla="*/ 0 w 191"/>
                  <a:gd name="T1" fmla="*/ 95 h 191"/>
                  <a:gd name="T2" fmla="*/ 7 w 191"/>
                  <a:gd name="T3" fmla="*/ 132 h 191"/>
                  <a:gd name="T4" fmla="*/ 28 w 191"/>
                  <a:gd name="T5" fmla="*/ 162 h 191"/>
                  <a:gd name="T6" fmla="*/ 58 w 191"/>
                  <a:gd name="T7" fmla="*/ 183 h 191"/>
                  <a:gd name="T8" fmla="*/ 95 w 191"/>
                  <a:gd name="T9" fmla="*/ 191 h 191"/>
                  <a:gd name="T10" fmla="*/ 115 w 191"/>
                  <a:gd name="T11" fmla="*/ 189 h 191"/>
                  <a:gd name="T12" fmla="*/ 148 w 191"/>
                  <a:gd name="T13" fmla="*/ 175 h 191"/>
                  <a:gd name="T14" fmla="*/ 175 w 191"/>
                  <a:gd name="T15" fmla="*/ 148 h 191"/>
                  <a:gd name="T16" fmla="*/ 189 w 191"/>
                  <a:gd name="T17" fmla="*/ 115 h 191"/>
                  <a:gd name="T18" fmla="*/ 191 w 191"/>
                  <a:gd name="T19" fmla="*/ 95 h 191"/>
                  <a:gd name="T20" fmla="*/ 184 w 191"/>
                  <a:gd name="T21" fmla="*/ 58 h 191"/>
                  <a:gd name="T22" fmla="*/ 162 w 191"/>
                  <a:gd name="T23" fmla="*/ 28 h 191"/>
                  <a:gd name="T24" fmla="*/ 132 w 191"/>
                  <a:gd name="T25" fmla="*/ 7 h 191"/>
                  <a:gd name="T26" fmla="*/ 95 w 191"/>
                  <a:gd name="T27" fmla="*/ 0 h 191"/>
                  <a:gd name="T28" fmla="*/ 76 w 191"/>
                  <a:gd name="T29" fmla="*/ 2 h 191"/>
                  <a:gd name="T30" fmla="*/ 42 w 191"/>
                  <a:gd name="T31" fmla="*/ 16 h 191"/>
                  <a:gd name="T32" fmla="*/ 16 w 191"/>
                  <a:gd name="T33" fmla="*/ 42 h 191"/>
                  <a:gd name="T34" fmla="*/ 2 w 191"/>
                  <a:gd name="T35" fmla="*/ 76 h 191"/>
                  <a:gd name="T36" fmla="*/ 0 w 191"/>
                  <a:gd name="T37" fmla="*/ 95 h 191"/>
                  <a:gd name="T38" fmla="*/ 48 w 191"/>
                  <a:gd name="T39" fmla="*/ 95 h 191"/>
                  <a:gd name="T40" fmla="*/ 51 w 191"/>
                  <a:gd name="T41" fmla="*/ 78 h 191"/>
                  <a:gd name="T42" fmla="*/ 62 w 191"/>
                  <a:gd name="T43" fmla="*/ 62 h 191"/>
                  <a:gd name="T44" fmla="*/ 76 w 191"/>
                  <a:gd name="T45" fmla="*/ 51 h 191"/>
                  <a:gd name="T46" fmla="*/ 95 w 191"/>
                  <a:gd name="T47" fmla="*/ 48 h 191"/>
                  <a:gd name="T48" fmla="*/ 104 w 191"/>
                  <a:gd name="T49" fmla="*/ 49 h 191"/>
                  <a:gd name="T50" fmla="*/ 122 w 191"/>
                  <a:gd name="T51" fmla="*/ 56 h 191"/>
                  <a:gd name="T52" fmla="*/ 134 w 191"/>
                  <a:gd name="T53" fmla="*/ 69 h 191"/>
                  <a:gd name="T54" fmla="*/ 141 w 191"/>
                  <a:gd name="T55" fmla="*/ 86 h 191"/>
                  <a:gd name="T56" fmla="*/ 143 w 191"/>
                  <a:gd name="T57" fmla="*/ 95 h 191"/>
                  <a:gd name="T58" fmla="*/ 139 w 191"/>
                  <a:gd name="T59" fmla="*/ 115 h 191"/>
                  <a:gd name="T60" fmla="*/ 129 w 191"/>
                  <a:gd name="T61" fmla="*/ 129 h 191"/>
                  <a:gd name="T62" fmla="*/ 113 w 191"/>
                  <a:gd name="T63" fmla="*/ 139 h 191"/>
                  <a:gd name="T64" fmla="*/ 95 w 191"/>
                  <a:gd name="T65" fmla="*/ 143 h 191"/>
                  <a:gd name="T66" fmla="*/ 85 w 191"/>
                  <a:gd name="T67" fmla="*/ 143 h 191"/>
                  <a:gd name="T68" fmla="*/ 69 w 191"/>
                  <a:gd name="T69" fmla="*/ 136 h 191"/>
                  <a:gd name="T70" fmla="*/ 55 w 191"/>
                  <a:gd name="T71" fmla="*/ 122 h 191"/>
                  <a:gd name="T72" fmla="*/ 48 w 191"/>
                  <a:gd name="T73" fmla="*/ 106 h 191"/>
                  <a:gd name="T74" fmla="*/ 48 w 191"/>
                  <a:gd name="T75" fmla="*/ 95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1" h="191">
                    <a:moveTo>
                      <a:pt x="0" y="95"/>
                    </a:moveTo>
                    <a:lnTo>
                      <a:pt x="0" y="95"/>
                    </a:lnTo>
                    <a:lnTo>
                      <a:pt x="2" y="115"/>
                    </a:lnTo>
                    <a:lnTo>
                      <a:pt x="7" y="132"/>
                    </a:lnTo>
                    <a:lnTo>
                      <a:pt x="16" y="148"/>
                    </a:lnTo>
                    <a:lnTo>
                      <a:pt x="28" y="162"/>
                    </a:lnTo>
                    <a:lnTo>
                      <a:pt x="42" y="175"/>
                    </a:lnTo>
                    <a:lnTo>
                      <a:pt x="58" y="183"/>
                    </a:lnTo>
                    <a:lnTo>
                      <a:pt x="76" y="189"/>
                    </a:lnTo>
                    <a:lnTo>
                      <a:pt x="95" y="191"/>
                    </a:lnTo>
                    <a:lnTo>
                      <a:pt x="95" y="191"/>
                    </a:lnTo>
                    <a:lnTo>
                      <a:pt x="115" y="189"/>
                    </a:lnTo>
                    <a:lnTo>
                      <a:pt x="132" y="183"/>
                    </a:lnTo>
                    <a:lnTo>
                      <a:pt x="148" y="175"/>
                    </a:lnTo>
                    <a:lnTo>
                      <a:pt x="162" y="162"/>
                    </a:lnTo>
                    <a:lnTo>
                      <a:pt x="175" y="148"/>
                    </a:lnTo>
                    <a:lnTo>
                      <a:pt x="184" y="132"/>
                    </a:lnTo>
                    <a:lnTo>
                      <a:pt x="189" y="115"/>
                    </a:lnTo>
                    <a:lnTo>
                      <a:pt x="191" y="95"/>
                    </a:lnTo>
                    <a:lnTo>
                      <a:pt x="191" y="95"/>
                    </a:lnTo>
                    <a:lnTo>
                      <a:pt x="189" y="76"/>
                    </a:lnTo>
                    <a:lnTo>
                      <a:pt x="184" y="58"/>
                    </a:lnTo>
                    <a:lnTo>
                      <a:pt x="175" y="42"/>
                    </a:lnTo>
                    <a:lnTo>
                      <a:pt x="162" y="28"/>
                    </a:lnTo>
                    <a:lnTo>
                      <a:pt x="148" y="16"/>
                    </a:lnTo>
                    <a:lnTo>
                      <a:pt x="132" y="7"/>
                    </a:lnTo>
                    <a:lnTo>
                      <a:pt x="115" y="2"/>
                    </a:lnTo>
                    <a:lnTo>
                      <a:pt x="95" y="0"/>
                    </a:lnTo>
                    <a:lnTo>
                      <a:pt x="95" y="0"/>
                    </a:lnTo>
                    <a:lnTo>
                      <a:pt x="76" y="2"/>
                    </a:lnTo>
                    <a:lnTo>
                      <a:pt x="58" y="7"/>
                    </a:lnTo>
                    <a:lnTo>
                      <a:pt x="42" y="16"/>
                    </a:lnTo>
                    <a:lnTo>
                      <a:pt x="28" y="28"/>
                    </a:lnTo>
                    <a:lnTo>
                      <a:pt x="16" y="42"/>
                    </a:lnTo>
                    <a:lnTo>
                      <a:pt x="7" y="58"/>
                    </a:lnTo>
                    <a:lnTo>
                      <a:pt x="2" y="76"/>
                    </a:lnTo>
                    <a:lnTo>
                      <a:pt x="0" y="95"/>
                    </a:lnTo>
                    <a:lnTo>
                      <a:pt x="0" y="95"/>
                    </a:lnTo>
                    <a:close/>
                    <a:moveTo>
                      <a:pt x="48" y="95"/>
                    </a:moveTo>
                    <a:lnTo>
                      <a:pt x="48" y="95"/>
                    </a:lnTo>
                    <a:lnTo>
                      <a:pt x="48" y="86"/>
                    </a:lnTo>
                    <a:lnTo>
                      <a:pt x="51" y="78"/>
                    </a:lnTo>
                    <a:lnTo>
                      <a:pt x="55" y="69"/>
                    </a:lnTo>
                    <a:lnTo>
                      <a:pt x="62" y="62"/>
                    </a:lnTo>
                    <a:lnTo>
                      <a:pt x="69" y="56"/>
                    </a:lnTo>
                    <a:lnTo>
                      <a:pt x="76" y="51"/>
                    </a:lnTo>
                    <a:lnTo>
                      <a:pt x="85" y="49"/>
                    </a:lnTo>
                    <a:lnTo>
                      <a:pt x="95" y="48"/>
                    </a:lnTo>
                    <a:lnTo>
                      <a:pt x="95" y="48"/>
                    </a:lnTo>
                    <a:lnTo>
                      <a:pt x="104" y="49"/>
                    </a:lnTo>
                    <a:lnTo>
                      <a:pt x="113" y="51"/>
                    </a:lnTo>
                    <a:lnTo>
                      <a:pt x="122" y="56"/>
                    </a:lnTo>
                    <a:lnTo>
                      <a:pt x="129" y="62"/>
                    </a:lnTo>
                    <a:lnTo>
                      <a:pt x="134" y="69"/>
                    </a:lnTo>
                    <a:lnTo>
                      <a:pt x="139" y="78"/>
                    </a:lnTo>
                    <a:lnTo>
                      <a:pt x="141" y="86"/>
                    </a:lnTo>
                    <a:lnTo>
                      <a:pt x="143" y="95"/>
                    </a:lnTo>
                    <a:lnTo>
                      <a:pt x="143" y="95"/>
                    </a:lnTo>
                    <a:lnTo>
                      <a:pt x="141" y="106"/>
                    </a:lnTo>
                    <a:lnTo>
                      <a:pt x="139" y="115"/>
                    </a:lnTo>
                    <a:lnTo>
                      <a:pt x="134" y="122"/>
                    </a:lnTo>
                    <a:lnTo>
                      <a:pt x="129" y="129"/>
                    </a:lnTo>
                    <a:lnTo>
                      <a:pt x="122" y="136"/>
                    </a:lnTo>
                    <a:lnTo>
                      <a:pt x="113" y="139"/>
                    </a:lnTo>
                    <a:lnTo>
                      <a:pt x="104" y="143"/>
                    </a:lnTo>
                    <a:lnTo>
                      <a:pt x="95" y="143"/>
                    </a:lnTo>
                    <a:lnTo>
                      <a:pt x="95" y="143"/>
                    </a:lnTo>
                    <a:lnTo>
                      <a:pt x="85" y="143"/>
                    </a:lnTo>
                    <a:lnTo>
                      <a:pt x="76" y="139"/>
                    </a:lnTo>
                    <a:lnTo>
                      <a:pt x="69" y="136"/>
                    </a:lnTo>
                    <a:lnTo>
                      <a:pt x="62" y="129"/>
                    </a:lnTo>
                    <a:lnTo>
                      <a:pt x="55" y="122"/>
                    </a:lnTo>
                    <a:lnTo>
                      <a:pt x="51" y="115"/>
                    </a:lnTo>
                    <a:lnTo>
                      <a:pt x="48" y="106"/>
                    </a:lnTo>
                    <a:lnTo>
                      <a:pt x="48" y="95"/>
                    </a:lnTo>
                    <a:lnTo>
                      <a:pt x="48"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109" name="Freeform 14">
                <a:extLst>
                  <a:ext uri="{FF2B5EF4-FFF2-40B4-BE49-F238E27FC236}">
                    <a16:creationId xmlns:a16="http://schemas.microsoft.com/office/drawing/2014/main" id="{E1AEAD1D-D9F8-4142-9747-38C780203782}"/>
                  </a:ext>
                </a:extLst>
              </p:cNvPr>
              <p:cNvSpPr>
                <a:spLocks/>
              </p:cNvSpPr>
              <p:nvPr/>
            </p:nvSpPr>
            <p:spPr bwMode="auto">
              <a:xfrm>
                <a:off x="3356783" y="5925954"/>
                <a:ext cx="26831" cy="25713"/>
              </a:xfrm>
              <a:custGeom>
                <a:avLst/>
                <a:gdLst>
                  <a:gd name="T0" fmla="*/ 24 w 47"/>
                  <a:gd name="T1" fmla="*/ 0 h 48"/>
                  <a:gd name="T2" fmla="*/ 24 w 47"/>
                  <a:gd name="T3" fmla="*/ 0 h 48"/>
                  <a:gd name="T4" fmla="*/ 33 w 47"/>
                  <a:gd name="T5" fmla="*/ 2 h 48"/>
                  <a:gd name="T6" fmla="*/ 40 w 47"/>
                  <a:gd name="T7" fmla="*/ 7 h 48"/>
                  <a:gd name="T8" fmla="*/ 45 w 47"/>
                  <a:gd name="T9" fmla="*/ 14 h 48"/>
                  <a:gd name="T10" fmla="*/ 47 w 47"/>
                  <a:gd name="T11" fmla="*/ 23 h 48"/>
                  <a:gd name="T12" fmla="*/ 47 w 47"/>
                  <a:gd name="T13" fmla="*/ 23 h 48"/>
                  <a:gd name="T14" fmla="*/ 45 w 47"/>
                  <a:gd name="T15" fmla="*/ 32 h 48"/>
                  <a:gd name="T16" fmla="*/ 40 w 47"/>
                  <a:gd name="T17" fmla="*/ 41 h 48"/>
                  <a:gd name="T18" fmla="*/ 33 w 47"/>
                  <a:gd name="T19" fmla="*/ 46 h 48"/>
                  <a:gd name="T20" fmla="*/ 24 w 47"/>
                  <a:gd name="T21" fmla="*/ 48 h 48"/>
                  <a:gd name="T22" fmla="*/ 24 w 47"/>
                  <a:gd name="T23" fmla="*/ 48 h 48"/>
                  <a:gd name="T24" fmla="*/ 15 w 47"/>
                  <a:gd name="T25" fmla="*/ 46 h 48"/>
                  <a:gd name="T26" fmla="*/ 7 w 47"/>
                  <a:gd name="T27" fmla="*/ 41 h 48"/>
                  <a:gd name="T28" fmla="*/ 1 w 47"/>
                  <a:gd name="T29" fmla="*/ 32 h 48"/>
                  <a:gd name="T30" fmla="*/ 0 w 47"/>
                  <a:gd name="T31" fmla="*/ 23 h 48"/>
                  <a:gd name="T32" fmla="*/ 0 w 47"/>
                  <a:gd name="T33" fmla="*/ 23 h 48"/>
                  <a:gd name="T34" fmla="*/ 1 w 47"/>
                  <a:gd name="T35" fmla="*/ 14 h 48"/>
                  <a:gd name="T36" fmla="*/ 7 w 47"/>
                  <a:gd name="T37" fmla="*/ 7 h 48"/>
                  <a:gd name="T38" fmla="*/ 15 w 47"/>
                  <a:gd name="T39" fmla="*/ 2 h 48"/>
                  <a:gd name="T40" fmla="*/ 24 w 47"/>
                  <a:gd name="T41" fmla="*/ 0 h 48"/>
                  <a:gd name="T42" fmla="*/ 24 w 47"/>
                  <a:gd name="T4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7" h="48">
                    <a:moveTo>
                      <a:pt x="24" y="0"/>
                    </a:moveTo>
                    <a:lnTo>
                      <a:pt x="24" y="0"/>
                    </a:lnTo>
                    <a:lnTo>
                      <a:pt x="33" y="2"/>
                    </a:lnTo>
                    <a:lnTo>
                      <a:pt x="40" y="7"/>
                    </a:lnTo>
                    <a:lnTo>
                      <a:pt x="45" y="14"/>
                    </a:lnTo>
                    <a:lnTo>
                      <a:pt x="47" y="23"/>
                    </a:lnTo>
                    <a:lnTo>
                      <a:pt x="47" y="23"/>
                    </a:lnTo>
                    <a:lnTo>
                      <a:pt x="45" y="32"/>
                    </a:lnTo>
                    <a:lnTo>
                      <a:pt x="40" y="41"/>
                    </a:lnTo>
                    <a:lnTo>
                      <a:pt x="33" y="46"/>
                    </a:lnTo>
                    <a:lnTo>
                      <a:pt x="24" y="48"/>
                    </a:lnTo>
                    <a:lnTo>
                      <a:pt x="24" y="48"/>
                    </a:lnTo>
                    <a:lnTo>
                      <a:pt x="15" y="46"/>
                    </a:lnTo>
                    <a:lnTo>
                      <a:pt x="7" y="41"/>
                    </a:lnTo>
                    <a:lnTo>
                      <a:pt x="1" y="32"/>
                    </a:lnTo>
                    <a:lnTo>
                      <a:pt x="0" y="23"/>
                    </a:lnTo>
                    <a:lnTo>
                      <a:pt x="0" y="23"/>
                    </a:lnTo>
                    <a:lnTo>
                      <a:pt x="1" y="14"/>
                    </a:lnTo>
                    <a:lnTo>
                      <a:pt x="7" y="7"/>
                    </a:lnTo>
                    <a:lnTo>
                      <a:pt x="15" y="2"/>
                    </a:lnTo>
                    <a:lnTo>
                      <a:pt x="24" y="0"/>
                    </a:ln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110" name="Freeform 15">
                <a:extLst>
                  <a:ext uri="{FF2B5EF4-FFF2-40B4-BE49-F238E27FC236}">
                    <a16:creationId xmlns:a16="http://schemas.microsoft.com/office/drawing/2014/main" id="{CFEB5B18-7659-4E55-A6AA-B77415E207C9}"/>
                  </a:ext>
                </a:extLst>
              </p:cNvPr>
              <p:cNvSpPr>
                <a:spLocks/>
              </p:cNvSpPr>
              <p:nvPr/>
            </p:nvSpPr>
            <p:spPr bwMode="auto">
              <a:xfrm>
                <a:off x="3697759" y="5885708"/>
                <a:ext cx="44718" cy="101734"/>
              </a:xfrm>
              <a:custGeom>
                <a:avLst/>
                <a:gdLst>
                  <a:gd name="T0" fmla="*/ 48 w 80"/>
                  <a:gd name="T1" fmla="*/ 93 h 181"/>
                  <a:gd name="T2" fmla="*/ 48 w 80"/>
                  <a:gd name="T3" fmla="*/ 93 h 181"/>
                  <a:gd name="T4" fmla="*/ 50 w 80"/>
                  <a:gd name="T5" fmla="*/ 81 h 181"/>
                  <a:gd name="T6" fmla="*/ 55 w 80"/>
                  <a:gd name="T7" fmla="*/ 69 h 181"/>
                  <a:gd name="T8" fmla="*/ 62 w 80"/>
                  <a:gd name="T9" fmla="*/ 58 h 181"/>
                  <a:gd name="T10" fmla="*/ 73 w 80"/>
                  <a:gd name="T11" fmla="*/ 51 h 181"/>
                  <a:gd name="T12" fmla="*/ 80 w 80"/>
                  <a:gd name="T13" fmla="*/ 0 h 181"/>
                  <a:gd name="T14" fmla="*/ 80 w 80"/>
                  <a:gd name="T15" fmla="*/ 0 h 181"/>
                  <a:gd name="T16" fmla="*/ 64 w 80"/>
                  <a:gd name="T17" fmla="*/ 3 h 181"/>
                  <a:gd name="T18" fmla="*/ 48 w 80"/>
                  <a:gd name="T19" fmla="*/ 10 h 181"/>
                  <a:gd name="T20" fmla="*/ 35 w 80"/>
                  <a:gd name="T21" fmla="*/ 19 h 181"/>
                  <a:gd name="T22" fmla="*/ 23 w 80"/>
                  <a:gd name="T23" fmla="*/ 31 h 181"/>
                  <a:gd name="T24" fmla="*/ 13 w 80"/>
                  <a:gd name="T25" fmla="*/ 46 h 181"/>
                  <a:gd name="T26" fmla="*/ 5 w 80"/>
                  <a:gd name="T27" fmla="*/ 60 h 181"/>
                  <a:gd name="T28" fmla="*/ 2 w 80"/>
                  <a:gd name="T29" fmla="*/ 76 h 181"/>
                  <a:gd name="T30" fmla="*/ 0 w 80"/>
                  <a:gd name="T31" fmla="*/ 93 h 181"/>
                  <a:gd name="T32" fmla="*/ 0 w 80"/>
                  <a:gd name="T33" fmla="*/ 93 h 181"/>
                  <a:gd name="T34" fmla="*/ 2 w 80"/>
                  <a:gd name="T35" fmla="*/ 107 h 181"/>
                  <a:gd name="T36" fmla="*/ 4 w 80"/>
                  <a:gd name="T37" fmla="*/ 121 h 181"/>
                  <a:gd name="T38" fmla="*/ 9 w 80"/>
                  <a:gd name="T39" fmla="*/ 134 h 181"/>
                  <a:gd name="T40" fmla="*/ 16 w 80"/>
                  <a:gd name="T41" fmla="*/ 146 h 181"/>
                  <a:gd name="T42" fmla="*/ 25 w 80"/>
                  <a:gd name="T43" fmla="*/ 157 h 181"/>
                  <a:gd name="T44" fmla="*/ 34 w 80"/>
                  <a:gd name="T45" fmla="*/ 166 h 181"/>
                  <a:gd name="T46" fmla="*/ 44 w 80"/>
                  <a:gd name="T47" fmla="*/ 174 h 181"/>
                  <a:gd name="T48" fmla="*/ 57 w 80"/>
                  <a:gd name="T49" fmla="*/ 181 h 181"/>
                  <a:gd name="T50" fmla="*/ 64 w 80"/>
                  <a:gd name="T51" fmla="*/ 129 h 181"/>
                  <a:gd name="T52" fmla="*/ 64 w 80"/>
                  <a:gd name="T53" fmla="*/ 129 h 181"/>
                  <a:gd name="T54" fmla="*/ 57 w 80"/>
                  <a:gd name="T55" fmla="*/ 121 h 181"/>
                  <a:gd name="T56" fmla="*/ 51 w 80"/>
                  <a:gd name="T57" fmla="*/ 113 h 181"/>
                  <a:gd name="T58" fmla="*/ 50 w 80"/>
                  <a:gd name="T59" fmla="*/ 104 h 181"/>
                  <a:gd name="T60" fmla="*/ 48 w 80"/>
                  <a:gd name="T61" fmla="*/ 93 h 181"/>
                  <a:gd name="T62" fmla="*/ 48 w 80"/>
                  <a:gd name="T63" fmla="*/ 93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181">
                    <a:moveTo>
                      <a:pt x="48" y="93"/>
                    </a:moveTo>
                    <a:lnTo>
                      <a:pt x="48" y="93"/>
                    </a:lnTo>
                    <a:lnTo>
                      <a:pt x="50" y="81"/>
                    </a:lnTo>
                    <a:lnTo>
                      <a:pt x="55" y="69"/>
                    </a:lnTo>
                    <a:lnTo>
                      <a:pt x="62" y="58"/>
                    </a:lnTo>
                    <a:lnTo>
                      <a:pt x="73" y="51"/>
                    </a:lnTo>
                    <a:lnTo>
                      <a:pt x="80" y="0"/>
                    </a:lnTo>
                    <a:lnTo>
                      <a:pt x="80" y="0"/>
                    </a:lnTo>
                    <a:lnTo>
                      <a:pt x="64" y="3"/>
                    </a:lnTo>
                    <a:lnTo>
                      <a:pt x="48" y="10"/>
                    </a:lnTo>
                    <a:lnTo>
                      <a:pt x="35" y="19"/>
                    </a:lnTo>
                    <a:lnTo>
                      <a:pt x="23" y="31"/>
                    </a:lnTo>
                    <a:lnTo>
                      <a:pt x="13" y="46"/>
                    </a:lnTo>
                    <a:lnTo>
                      <a:pt x="5" y="60"/>
                    </a:lnTo>
                    <a:lnTo>
                      <a:pt x="2" y="76"/>
                    </a:lnTo>
                    <a:lnTo>
                      <a:pt x="0" y="93"/>
                    </a:lnTo>
                    <a:lnTo>
                      <a:pt x="0" y="93"/>
                    </a:lnTo>
                    <a:lnTo>
                      <a:pt x="2" y="107"/>
                    </a:lnTo>
                    <a:lnTo>
                      <a:pt x="4" y="121"/>
                    </a:lnTo>
                    <a:lnTo>
                      <a:pt x="9" y="134"/>
                    </a:lnTo>
                    <a:lnTo>
                      <a:pt x="16" y="146"/>
                    </a:lnTo>
                    <a:lnTo>
                      <a:pt x="25" y="157"/>
                    </a:lnTo>
                    <a:lnTo>
                      <a:pt x="34" y="166"/>
                    </a:lnTo>
                    <a:lnTo>
                      <a:pt x="44" y="174"/>
                    </a:lnTo>
                    <a:lnTo>
                      <a:pt x="57" y="181"/>
                    </a:lnTo>
                    <a:lnTo>
                      <a:pt x="64" y="129"/>
                    </a:lnTo>
                    <a:lnTo>
                      <a:pt x="64" y="129"/>
                    </a:lnTo>
                    <a:lnTo>
                      <a:pt x="57" y="121"/>
                    </a:lnTo>
                    <a:lnTo>
                      <a:pt x="51" y="113"/>
                    </a:lnTo>
                    <a:lnTo>
                      <a:pt x="50" y="104"/>
                    </a:lnTo>
                    <a:lnTo>
                      <a:pt x="48" y="93"/>
                    </a:lnTo>
                    <a:lnTo>
                      <a:pt x="48" y="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111" name="Freeform 16">
                <a:extLst>
                  <a:ext uri="{FF2B5EF4-FFF2-40B4-BE49-F238E27FC236}">
                    <a16:creationId xmlns:a16="http://schemas.microsoft.com/office/drawing/2014/main" id="{D8110928-AC2E-441D-8549-734BD5782376}"/>
                  </a:ext>
                </a:extLst>
              </p:cNvPr>
              <p:cNvSpPr>
                <a:spLocks noEditPoints="1"/>
              </p:cNvSpPr>
              <p:nvPr/>
            </p:nvSpPr>
            <p:spPr bwMode="auto">
              <a:xfrm>
                <a:off x="3476404" y="5884589"/>
                <a:ext cx="107324" cy="107324"/>
              </a:xfrm>
              <a:custGeom>
                <a:avLst/>
                <a:gdLst>
                  <a:gd name="T0" fmla="*/ 0 w 190"/>
                  <a:gd name="T1" fmla="*/ 95 h 191"/>
                  <a:gd name="T2" fmla="*/ 7 w 190"/>
                  <a:gd name="T3" fmla="*/ 132 h 191"/>
                  <a:gd name="T4" fmla="*/ 28 w 190"/>
                  <a:gd name="T5" fmla="*/ 162 h 191"/>
                  <a:gd name="T6" fmla="*/ 58 w 190"/>
                  <a:gd name="T7" fmla="*/ 183 h 191"/>
                  <a:gd name="T8" fmla="*/ 95 w 190"/>
                  <a:gd name="T9" fmla="*/ 191 h 191"/>
                  <a:gd name="T10" fmla="*/ 115 w 190"/>
                  <a:gd name="T11" fmla="*/ 189 h 191"/>
                  <a:gd name="T12" fmla="*/ 148 w 190"/>
                  <a:gd name="T13" fmla="*/ 175 h 191"/>
                  <a:gd name="T14" fmla="*/ 175 w 190"/>
                  <a:gd name="T15" fmla="*/ 148 h 191"/>
                  <a:gd name="T16" fmla="*/ 189 w 190"/>
                  <a:gd name="T17" fmla="*/ 115 h 191"/>
                  <a:gd name="T18" fmla="*/ 190 w 190"/>
                  <a:gd name="T19" fmla="*/ 95 h 191"/>
                  <a:gd name="T20" fmla="*/ 183 w 190"/>
                  <a:gd name="T21" fmla="*/ 58 h 191"/>
                  <a:gd name="T22" fmla="*/ 162 w 190"/>
                  <a:gd name="T23" fmla="*/ 28 h 191"/>
                  <a:gd name="T24" fmla="*/ 132 w 190"/>
                  <a:gd name="T25" fmla="*/ 7 h 191"/>
                  <a:gd name="T26" fmla="*/ 95 w 190"/>
                  <a:gd name="T27" fmla="*/ 0 h 191"/>
                  <a:gd name="T28" fmla="*/ 76 w 190"/>
                  <a:gd name="T29" fmla="*/ 2 h 191"/>
                  <a:gd name="T30" fmla="*/ 42 w 190"/>
                  <a:gd name="T31" fmla="*/ 16 h 191"/>
                  <a:gd name="T32" fmla="*/ 16 w 190"/>
                  <a:gd name="T33" fmla="*/ 42 h 191"/>
                  <a:gd name="T34" fmla="*/ 2 w 190"/>
                  <a:gd name="T35" fmla="*/ 76 h 191"/>
                  <a:gd name="T36" fmla="*/ 0 w 190"/>
                  <a:gd name="T37" fmla="*/ 95 h 191"/>
                  <a:gd name="T38" fmla="*/ 48 w 190"/>
                  <a:gd name="T39" fmla="*/ 95 h 191"/>
                  <a:gd name="T40" fmla="*/ 51 w 190"/>
                  <a:gd name="T41" fmla="*/ 78 h 191"/>
                  <a:gd name="T42" fmla="*/ 62 w 190"/>
                  <a:gd name="T43" fmla="*/ 62 h 191"/>
                  <a:gd name="T44" fmla="*/ 76 w 190"/>
                  <a:gd name="T45" fmla="*/ 51 h 191"/>
                  <a:gd name="T46" fmla="*/ 95 w 190"/>
                  <a:gd name="T47" fmla="*/ 48 h 191"/>
                  <a:gd name="T48" fmla="*/ 104 w 190"/>
                  <a:gd name="T49" fmla="*/ 49 h 191"/>
                  <a:gd name="T50" fmla="*/ 122 w 190"/>
                  <a:gd name="T51" fmla="*/ 56 h 191"/>
                  <a:gd name="T52" fmla="*/ 134 w 190"/>
                  <a:gd name="T53" fmla="*/ 69 h 191"/>
                  <a:gd name="T54" fmla="*/ 141 w 190"/>
                  <a:gd name="T55" fmla="*/ 86 h 191"/>
                  <a:gd name="T56" fmla="*/ 143 w 190"/>
                  <a:gd name="T57" fmla="*/ 95 h 191"/>
                  <a:gd name="T58" fmla="*/ 139 w 190"/>
                  <a:gd name="T59" fmla="*/ 115 h 191"/>
                  <a:gd name="T60" fmla="*/ 129 w 190"/>
                  <a:gd name="T61" fmla="*/ 129 h 191"/>
                  <a:gd name="T62" fmla="*/ 113 w 190"/>
                  <a:gd name="T63" fmla="*/ 139 h 191"/>
                  <a:gd name="T64" fmla="*/ 95 w 190"/>
                  <a:gd name="T65" fmla="*/ 143 h 191"/>
                  <a:gd name="T66" fmla="*/ 85 w 190"/>
                  <a:gd name="T67" fmla="*/ 143 h 191"/>
                  <a:gd name="T68" fmla="*/ 69 w 190"/>
                  <a:gd name="T69" fmla="*/ 136 h 191"/>
                  <a:gd name="T70" fmla="*/ 55 w 190"/>
                  <a:gd name="T71" fmla="*/ 122 h 191"/>
                  <a:gd name="T72" fmla="*/ 48 w 190"/>
                  <a:gd name="T73" fmla="*/ 106 h 191"/>
                  <a:gd name="T74" fmla="*/ 48 w 190"/>
                  <a:gd name="T75" fmla="*/ 95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0" h="191">
                    <a:moveTo>
                      <a:pt x="0" y="95"/>
                    </a:moveTo>
                    <a:lnTo>
                      <a:pt x="0" y="95"/>
                    </a:lnTo>
                    <a:lnTo>
                      <a:pt x="2" y="115"/>
                    </a:lnTo>
                    <a:lnTo>
                      <a:pt x="7" y="132"/>
                    </a:lnTo>
                    <a:lnTo>
                      <a:pt x="16" y="148"/>
                    </a:lnTo>
                    <a:lnTo>
                      <a:pt x="28" y="162"/>
                    </a:lnTo>
                    <a:lnTo>
                      <a:pt x="42" y="175"/>
                    </a:lnTo>
                    <a:lnTo>
                      <a:pt x="58" y="183"/>
                    </a:lnTo>
                    <a:lnTo>
                      <a:pt x="76" y="189"/>
                    </a:lnTo>
                    <a:lnTo>
                      <a:pt x="95" y="191"/>
                    </a:lnTo>
                    <a:lnTo>
                      <a:pt x="95" y="191"/>
                    </a:lnTo>
                    <a:lnTo>
                      <a:pt x="115" y="189"/>
                    </a:lnTo>
                    <a:lnTo>
                      <a:pt x="132" y="183"/>
                    </a:lnTo>
                    <a:lnTo>
                      <a:pt x="148" y="175"/>
                    </a:lnTo>
                    <a:lnTo>
                      <a:pt x="162" y="162"/>
                    </a:lnTo>
                    <a:lnTo>
                      <a:pt x="175" y="148"/>
                    </a:lnTo>
                    <a:lnTo>
                      <a:pt x="183" y="132"/>
                    </a:lnTo>
                    <a:lnTo>
                      <a:pt x="189" y="115"/>
                    </a:lnTo>
                    <a:lnTo>
                      <a:pt x="190" y="95"/>
                    </a:lnTo>
                    <a:lnTo>
                      <a:pt x="190" y="95"/>
                    </a:lnTo>
                    <a:lnTo>
                      <a:pt x="189" y="76"/>
                    </a:lnTo>
                    <a:lnTo>
                      <a:pt x="183" y="58"/>
                    </a:lnTo>
                    <a:lnTo>
                      <a:pt x="175" y="42"/>
                    </a:lnTo>
                    <a:lnTo>
                      <a:pt x="162" y="28"/>
                    </a:lnTo>
                    <a:lnTo>
                      <a:pt x="148" y="16"/>
                    </a:lnTo>
                    <a:lnTo>
                      <a:pt x="132" y="7"/>
                    </a:lnTo>
                    <a:lnTo>
                      <a:pt x="115" y="2"/>
                    </a:lnTo>
                    <a:lnTo>
                      <a:pt x="95" y="0"/>
                    </a:lnTo>
                    <a:lnTo>
                      <a:pt x="95" y="0"/>
                    </a:lnTo>
                    <a:lnTo>
                      <a:pt x="76" y="2"/>
                    </a:lnTo>
                    <a:lnTo>
                      <a:pt x="58" y="7"/>
                    </a:lnTo>
                    <a:lnTo>
                      <a:pt x="42" y="16"/>
                    </a:lnTo>
                    <a:lnTo>
                      <a:pt x="28" y="28"/>
                    </a:lnTo>
                    <a:lnTo>
                      <a:pt x="16" y="42"/>
                    </a:lnTo>
                    <a:lnTo>
                      <a:pt x="7" y="58"/>
                    </a:lnTo>
                    <a:lnTo>
                      <a:pt x="2" y="76"/>
                    </a:lnTo>
                    <a:lnTo>
                      <a:pt x="0" y="95"/>
                    </a:lnTo>
                    <a:lnTo>
                      <a:pt x="0" y="95"/>
                    </a:lnTo>
                    <a:close/>
                    <a:moveTo>
                      <a:pt x="48" y="95"/>
                    </a:moveTo>
                    <a:lnTo>
                      <a:pt x="48" y="95"/>
                    </a:lnTo>
                    <a:lnTo>
                      <a:pt x="48" y="86"/>
                    </a:lnTo>
                    <a:lnTo>
                      <a:pt x="51" y="78"/>
                    </a:lnTo>
                    <a:lnTo>
                      <a:pt x="55" y="69"/>
                    </a:lnTo>
                    <a:lnTo>
                      <a:pt x="62" y="62"/>
                    </a:lnTo>
                    <a:lnTo>
                      <a:pt x="69" y="56"/>
                    </a:lnTo>
                    <a:lnTo>
                      <a:pt x="76" y="51"/>
                    </a:lnTo>
                    <a:lnTo>
                      <a:pt x="85" y="49"/>
                    </a:lnTo>
                    <a:lnTo>
                      <a:pt x="95" y="48"/>
                    </a:lnTo>
                    <a:lnTo>
                      <a:pt x="95" y="48"/>
                    </a:lnTo>
                    <a:lnTo>
                      <a:pt x="104" y="49"/>
                    </a:lnTo>
                    <a:lnTo>
                      <a:pt x="113" y="51"/>
                    </a:lnTo>
                    <a:lnTo>
                      <a:pt x="122" y="56"/>
                    </a:lnTo>
                    <a:lnTo>
                      <a:pt x="129" y="62"/>
                    </a:lnTo>
                    <a:lnTo>
                      <a:pt x="134" y="69"/>
                    </a:lnTo>
                    <a:lnTo>
                      <a:pt x="139" y="78"/>
                    </a:lnTo>
                    <a:lnTo>
                      <a:pt x="141" y="86"/>
                    </a:lnTo>
                    <a:lnTo>
                      <a:pt x="143" y="95"/>
                    </a:lnTo>
                    <a:lnTo>
                      <a:pt x="143" y="95"/>
                    </a:lnTo>
                    <a:lnTo>
                      <a:pt x="141" y="106"/>
                    </a:lnTo>
                    <a:lnTo>
                      <a:pt x="139" y="115"/>
                    </a:lnTo>
                    <a:lnTo>
                      <a:pt x="134" y="122"/>
                    </a:lnTo>
                    <a:lnTo>
                      <a:pt x="129" y="129"/>
                    </a:lnTo>
                    <a:lnTo>
                      <a:pt x="122" y="136"/>
                    </a:lnTo>
                    <a:lnTo>
                      <a:pt x="113" y="139"/>
                    </a:lnTo>
                    <a:lnTo>
                      <a:pt x="104" y="143"/>
                    </a:lnTo>
                    <a:lnTo>
                      <a:pt x="95" y="143"/>
                    </a:lnTo>
                    <a:lnTo>
                      <a:pt x="95" y="143"/>
                    </a:lnTo>
                    <a:lnTo>
                      <a:pt x="85" y="143"/>
                    </a:lnTo>
                    <a:lnTo>
                      <a:pt x="76" y="139"/>
                    </a:lnTo>
                    <a:lnTo>
                      <a:pt x="69" y="136"/>
                    </a:lnTo>
                    <a:lnTo>
                      <a:pt x="62" y="129"/>
                    </a:lnTo>
                    <a:lnTo>
                      <a:pt x="55" y="122"/>
                    </a:lnTo>
                    <a:lnTo>
                      <a:pt x="51" y="115"/>
                    </a:lnTo>
                    <a:lnTo>
                      <a:pt x="48" y="106"/>
                    </a:lnTo>
                    <a:lnTo>
                      <a:pt x="48" y="95"/>
                    </a:lnTo>
                    <a:lnTo>
                      <a:pt x="48"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112" name="Freeform 17">
                <a:extLst>
                  <a:ext uri="{FF2B5EF4-FFF2-40B4-BE49-F238E27FC236}">
                    <a16:creationId xmlns:a16="http://schemas.microsoft.com/office/drawing/2014/main" id="{4A37F3F1-D93D-485E-8ACA-5C700DE27061}"/>
                  </a:ext>
                </a:extLst>
              </p:cNvPr>
              <p:cNvSpPr>
                <a:spLocks/>
              </p:cNvSpPr>
              <p:nvPr/>
            </p:nvSpPr>
            <p:spPr bwMode="auto">
              <a:xfrm>
                <a:off x="3516650" y="5925954"/>
                <a:ext cx="26831" cy="25713"/>
              </a:xfrm>
              <a:custGeom>
                <a:avLst/>
                <a:gdLst>
                  <a:gd name="T0" fmla="*/ 25 w 48"/>
                  <a:gd name="T1" fmla="*/ 0 h 48"/>
                  <a:gd name="T2" fmla="*/ 25 w 48"/>
                  <a:gd name="T3" fmla="*/ 0 h 48"/>
                  <a:gd name="T4" fmla="*/ 34 w 48"/>
                  <a:gd name="T5" fmla="*/ 2 h 48"/>
                  <a:gd name="T6" fmla="*/ 41 w 48"/>
                  <a:gd name="T7" fmla="*/ 7 h 48"/>
                  <a:gd name="T8" fmla="*/ 46 w 48"/>
                  <a:gd name="T9" fmla="*/ 14 h 48"/>
                  <a:gd name="T10" fmla="*/ 48 w 48"/>
                  <a:gd name="T11" fmla="*/ 23 h 48"/>
                  <a:gd name="T12" fmla="*/ 48 w 48"/>
                  <a:gd name="T13" fmla="*/ 23 h 48"/>
                  <a:gd name="T14" fmla="*/ 46 w 48"/>
                  <a:gd name="T15" fmla="*/ 32 h 48"/>
                  <a:gd name="T16" fmla="*/ 41 w 48"/>
                  <a:gd name="T17" fmla="*/ 41 h 48"/>
                  <a:gd name="T18" fmla="*/ 34 w 48"/>
                  <a:gd name="T19" fmla="*/ 46 h 48"/>
                  <a:gd name="T20" fmla="*/ 25 w 48"/>
                  <a:gd name="T21" fmla="*/ 48 h 48"/>
                  <a:gd name="T22" fmla="*/ 25 w 48"/>
                  <a:gd name="T23" fmla="*/ 48 h 48"/>
                  <a:gd name="T24" fmla="*/ 16 w 48"/>
                  <a:gd name="T25" fmla="*/ 46 h 48"/>
                  <a:gd name="T26" fmla="*/ 8 w 48"/>
                  <a:gd name="T27" fmla="*/ 41 h 48"/>
                  <a:gd name="T28" fmla="*/ 2 w 48"/>
                  <a:gd name="T29" fmla="*/ 32 h 48"/>
                  <a:gd name="T30" fmla="*/ 0 w 48"/>
                  <a:gd name="T31" fmla="*/ 23 h 48"/>
                  <a:gd name="T32" fmla="*/ 0 w 48"/>
                  <a:gd name="T33" fmla="*/ 23 h 48"/>
                  <a:gd name="T34" fmla="*/ 2 w 48"/>
                  <a:gd name="T35" fmla="*/ 14 h 48"/>
                  <a:gd name="T36" fmla="*/ 8 w 48"/>
                  <a:gd name="T37" fmla="*/ 7 h 48"/>
                  <a:gd name="T38" fmla="*/ 16 w 48"/>
                  <a:gd name="T39" fmla="*/ 2 h 48"/>
                  <a:gd name="T40" fmla="*/ 25 w 48"/>
                  <a:gd name="T41" fmla="*/ 0 h 48"/>
                  <a:gd name="T42" fmla="*/ 25 w 48"/>
                  <a:gd name="T4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 h="48">
                    <a:moveTo>
                      <a:pt x="25" y="0"/>
                    </a:moveTo>
                    <a:lnTo>
                      <a:pt x="25" y="0"/>
                    </a:lnTo>
                    <a:lnTo>
                      <a:pt x="34" y="2"/>
                    </a:lnTo>
                    <a:lnTo>
                      <a:pt x="41" y="7"/>
                    </a:lnTo>
                    <a:lnTo>
                      <a:pt x="46" y="14"/>
                    </a:lnTo>
                    <a:lnTo>
                      <a:pt x="48" y="23"/>
                    </a:lnTo>
                    <a:lnTo>
                      <a:pt x="48" y="23"/>
                    </a:lnTo>
                    <a:lnTo>
                      <a:pt x="46" y="32"/>
                    </a:lnTo>
                    <a:lnTo>
                      <a:pt x="41" y="41"/>
                    </a:lnTo>
                    <a:lnTo>
                      <a:pt x="34" y="46"/>
                    </a:lnTo>
                    <a:lnTo>
                      <a:pt x="25" y="48"/>
                    </a:lnTo>
                    <a:lnTo>
                      <a:pt x="25" y="48"/>
                    </a:lnTo>
                    <a:lnTo>
                      <a:pt x="16" y="46"/>
                    </a:lnTo>
                    <a:lnTo>
                      <a:pt x="8" y="41"/>
                    </a:lnTo>
                    <a:lnTo>
                      <a:pt x="2" y="32"/>
                    </a:lnTo>
                    <a:lnTo>
                      <a:pt x="0" y="23"/>
                    </a:lnTo>
                    <a:lnTo>
                      <a:pt x="0" y="23"/>
                    </a:lnTo>
                    <a:lnTo>
                      <a:pt x="2" y="14"/>
                    </a:lnTo>
                    <a:lnTo>
                      <a:pt x="8" y="7"/>
                    </a:lnTo>
                    <a:lnTo>
                      <a:pt x="16" y="2"/>
                    </a:lnTo>
                    <a:lnTo>
                      <a:pt x="25" y="0"/>
                    </a:lnTo>
                    <a:lnTo>
                      <a:pt x="2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grpSp>
        <p:sp>
          <p:nvSpPr>
            <p:cNvPr id="15" name="Rounded Rectangle 123">
              <a:extLst>
                <a:ext uri="{FF2B5EF4-FFF2-40B4-BE49-F238E27FC236}">
                  <a16:creationId xmlns:a16="http://schemas.microsoft.com/office/drawing/2014/main" id="{0D247005-C3F4-41A5-9F97-1FDE39300F59}"/>
                </a:ext>
              </a:extLst>
            </p:cNvPr>
            <p:cNvSpPr/>
            <p:nvPr/>
          </p:nvSpPr>
          <p:spPr bwMode="gray">
            <a:xfrm>
              <a:off x="423860" y="1664182"/>
              <a:ext cx="2848599" cy="1034844"/>
            </a:xfrm>
            <a:prstGeom prst="roundRect">
              <a:avLst/>
            </a:prstGeom>
            <a:noFill/>
            <a:ln w="28575" algn="ctr">
              <a:solidFill>
                <a:srgbClr val="012169"/>
              </a:solidFill>
              <a:miter lim="800000"/>
              <a:headEnd/>
              <a:tailEnd/>
            </a:ln>
          </p:spPr>
          <p:txBody>
            <a:bodyPr wrap="square" lIns="60614" tIns="60614" rIns="60614" bIns="60614" rtlCol="0" anchor="ctr"/>
            <a:lstStyle/>
            <a:p>
              <a:pPr algn="ctr" defTabSz="837848">
                <a:lnSpc>
                  <a:spcPct val="106000"/>
                </a:lnSpc>
              </a:pPr>
              <a:endParaRPr lang="en-IN" sz="886" b="1" dirty="0">
                <a:solidFill>
                  <a:prstClr val="white"/>
                </a:solidFill>
                <a:latin typeface="Verdana"/>
              </a:endParaRPr>
            </a:p>
          </p:txBody>
        </p:sp>
        <p:sp>
          <p:nvSpPr>
            <p:cNvPr id="16" name="Freeform 124">
              <a:extLst>
                <a:ext uri="{FF2B5EF4-FFF2-40B4-BE49-F238E27FC236}">
                  <a16:creationId xmlns:a16="http://schemas.microsoft.com/office/drawing/2014/main" id="{350EB43E-61AC-40E4-89F2-C144AC52780A}"/>
                </a:ext>
              </a:extLst>
            </p:cNvPr>
            <p:cNvSpPr>
              <a:spLocks noEditPoints="1"/>
            </p:cNvSpPr>
            <p:nvPr/>
          </p:nvSpPr>
          <p:spPr bwMode="auto">
            <a:xfrm>
              <a:off x="492688" y="2295226"/>
              <a:ext cx="186203" cy="203797"/>
            </a:xfrm>
            <a:custGeom>
              <a:avLst/>
              <a:gdLst>
                <a:gd name="T0" fmla="*/ 0 w 131"/>
                <a:gd name="T1" fmla="*/ 78 h 111"/>
                <a:gd name="T2" fmla="*/ 0 w 131"/>
                <a:gd name="T3" fmla="*/ 84 h 111"/>
                <a:gd name="T4" fmla="*/ 47 w 131"/>
                <a:gd name="T5" fmla="*/ 111 h 111"/>
                <a:gd name="T6" fmla="*/ 82 w 131"/>
                <a:gd name="T7" fmla="*/ 91 h 111"/>
                <a:gd name="T8" fmla="*/ 82 w 131"/>
                <a:gd name="T9" fmla="*/ 85 h 111"/>
                <a:gd name="T10" fmla="*/ 47 w 131"/>
                <a:gd name="T11" fmla="*/ 105 h 111"/>
                <a:gd name="T12" fmla="*/ 0 w 131"/>
                <a:gd name="T13" fmla="*/ 78 h 111"/>
                <a:gd name="T14" fmla="*/ 0 w 131"/>
                <a:gd name="T15" fmla="*/ 67 h 111"/>
                <a:gd name="T16" fmla="*/ 0 w 131"/>
                <a:gd name="T17" fmla="*/ 72 h 111"/>
                <a:gd name="T18" fmla="*/ 47 w 131"/>
                <a:gd name="T19" fmla="*/ 99 h 111"/>
                <a:gd name="T20" fmla="*/ 82 w 131"/>
                <a:gd name="T21" fmla="*/ 79 h 111"/>
                <a:gd name="T22" fmla="*/ 82 w 131"/>
                <a:gd name="T23" fmla="*/ 74 h 111"/>
                <a:gd name="T24" fmla="*/ 47 w 131"/>
                <a:gd name="T25" fmla="*/ 94 h 111"/>
                <a:gd name="T26" fmla="*/ 0 w 131"/>
                <a:gd name="T27" fmla="*/ 67 h 111"/>
                <a:gd name="T28" fmla="*/ 102 w 131"/>
                <a:gd name="T29" fmla="*/ 43 h 111"/>
                <a:gd name="T30" fmla="*/ 131 w 131"/>
                <a:gd name="T31" fmla="*/ 27 h 111"/>
                <a:gd name="T32" fmla="*/ 84 w 131"/>
                <a:gd name="T33" fmla="*/ 0 h 111"/>
                <a:gd name="T34" fmla="*/ 55 w 131"/>
                <a:gd name="T35" fmla="*/ 16 h 111"/>
                <a:gd name="T36" fmla="*/ 102 w 131"/>
                <a:gd name="T37" fmla="*/ 43 h 111"/>
                <a:gd name="T38" fmla="*/ 0 w 131"/>
                <a:gd name="T39" fmla="*/ 55 h 111"/>
                <a:gd name="T40" fmla="*/ 0 w 131"/>
                <a:gd name="T41" fmla="*/ 61 h 111"/>
                <a:gd name="T42" fmla="*/ 47 w 131"/>
                <a:gd name="T43" fmla="*/ 88 h 111"/>
                <a:gd name="T44" fmla="*/ 82 w 131"/>
                <a:gd name="T45" fmla="*/ 68 h 111"/>
                <a:gd name="T46" fmla="*/ 82 w 131"/>
                <a:gd name="T47" fmla="*/ 62 h 111"/>
                <a:gd name="T48" fmla="*/ 47 w 131"/>
                <a:gd name="T49" fmla="*/ 82 h 111"/>
                <a:gd name="T50" fmla="*/ 0 w 131"/>
                <a:gd name="T51" fmla="*/ 55 h 111"/>
                <a:gd name="T52" fmla="*/ 102 w 131"/>
                <a:gd name="T53" fmla="*/ 56 h 111"/>
                <a:gd name="T54" fmla="*/ 131 w 131"/>
                <a:gd name="T55" fmla="*/ 39 h 111"/>
                <a:gd name="T56" fmla="*/ 131 w 131"/>
                <a:gd name="T57" fmla="*/ 34 h 111"/>
                <a:gd name="T58" fmla="*/ 102 w 131"/>
                <a:gd name="T59" fmla="*/ 50 h 111"/>
                <a:gd name="T60" fmla="*/ 102 w 131"/>
                <a:gd name="T61" fmla="*/ 56 h 111"/>
                <a:gd name="T62" fmla="*/ 102 w 131"/>
                <a:gd name="T63" fmla="*/ 79 h 111"/>
                <a:gd name="T64" fmla="*/ 131 w 131"/>
                <a:gd name="T65" fmla="*/ 63 h 111"/>
                <a:gd name="T66" fmla="*/ 131 w 131"/>
                <a:gd name="T67" fmla="*/ 57 h 111"/>
                <a:gd name="T68" fmla="*/ 102 w 131"/>
                <a:gd name="T69" fmla="*/ 74 h 111"/>
                <a:gd name="T70" fmla="*/ 102 w 131"/>
                <a:gd name="T71" fmla="*/ 79 h 111"/>
                <a:gd name="T72" fmla="*/ 102 w 131"/>
                <a:gd name="T73" fmla="*/ 68 h 111"/>
                <a:gd name="T74" fmla="*/ 131 w 131"/>
                <a:gd name="T75" fmla="*/ 51 h 111"/>
                <a:gd name="T76" fmla="*/ 131 w 131"/>
                <a:gd name="T77" fmla="*/ 45 h 111"/>
                <a:gd name="T78" fmla="*/ 102 w 131"/>
                <a:gd name="T79" fmla="*/ 62 h 111"/>
                <a:gd name="T80" fmla="*/ 102 w 131"/>
                <a:gd name="T81" fmla="*/ 68 h 111"/>
                <a:gd name="T82" fmla="*/ 38 w 131"/>
                <a:gd name="T83" fmla="*/ 26 h 111"/>
                <a:gd name="T84" fmla="*/ 85 w 131"/>
                <a:gd name="T85" fmla="*/ 53 h 111"/>
                <a:gd name="T86" fmla="*/ 85 w 131"/>
                <a:gd name="T87" fmla="*/ 89 h 111"/>
                <a:gd name="T88" fmla="*/ 99 w 131"/>
                <a:gd name="T89" fmla="*/ 81 h 111"/>
                <a:gd name="T90" fmla="*/ 99 w 131"/>
                <a:gd name="T91" fmla="*/ 45 h 111"/>
                <a:gd name="T92" fmla="*/ 52 w 131"/>
                <a:gd name="T93" fmla="*/ 18 h 111"/>
                <a:gd name="T94" fmla="*/ 38 w 131"/>
                <a:gd name="T95" fmla="*/ 26 h 111"/>
                <a:gd name="T96" fmla="*/ 52 w 131"/>
                <a:gd name="T97" fmla="*/ 45 h 111"/>
                <a:gd name="T98" fmla="*/ 46 w 131"/>
                <a:gd name="T99" fmla="*/ 34 h 111"/>
                <a:gd name="T100" fmla="*/ 35 w 131"/>
                <a:gd name="T101" fmla="*/ 28 h 111"/>
                <a:gd name="T102" fmla="*/ 0 w 131"/>
                <a:gd name="T103" fmla="*/ 48 h 111"/>
                <a:gd name="T104" fmla="*/ 47 w 131"/>
                <a:gd name="T105" fmla="*/ 75 h 111"/>
                <a:gd name="T106" fmla="*/ 82 w 131"/>
                <a:gd name="T107" fmla="*/ 55 h 111"/>
                <a:gd name="T108" fmla="*/ 71 w 131"/>
                <a:gd name="T109" fmla="*/ 49 h 111"/>
                <a:gd name="T110" fmla="*/ 52 w 131"/>
                <a:gd name="T111" fmla="*/ 4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1" h="111">
                  <a:moveTo>
                    <a:pt x="0" y="78"/>
                  </a:moveTo>
                  <a:cubicBezTo>
                    <a:pt x="0" y="84"/>
                    <a:pt x="0" y="84"/>
                    <a:pt x="0" y="84"/>
                  </a:cubicBezTo>
                  <a:cubicBezTo>
                    <a:pt x="47" y="111"/>
                    <a:pt x="47" y="111"/>
                    <a:pt x="47" y="111"/>
                  </a:cubicBezTo>
                  <a:cubicBezTo>
                    <a:pt x="82" y="91"/>
                    <a:pt x="82" y="91"/>
                    <a:pt x="82" y="91"/>
                  </a:cubicBezTo>
                  <a:cubicBezTo>
                    <a:pt x="82" y="85"/>
                    <a:pt x="82" y="85"/>
                    <a:pt x="82" y="85"/>
                  </a:cubicBezTo>
                  <a:cubicBezTo>
                    <a:pt x="47" y="105"/>
                    <a:pt x="47" y="105"/>
                    <a:pt x="47" y="105"/>
                  </a:cubicBezTo>
                  <a:lnTo>
                    <a:pt x="0" y="78"/>
                  </a:lnTo>
                  <a:close/>
                  <a:moveTo>
                    <a:pt x="0" y="67"/>
                  </a:moveTo>
                  <a:cubicBezTo>
                    <a:pt x="0" y="72"/>
                    <a:pt x="0" y="72"/>
                    <a:pt x="0" y="72"/>
                  </a:cubicBezTo>
                  <a:cubicBezTo>
                    <a:pt x="47" y="99"/>
                    <a:pt x="47" y="99"/>
                    <a:pt x="47" y="99"/>
                  </a:cubicBezTo>
                  <a:cubicBezTo>
                    <a:pt x="82" y="79"/>
                    <a:pt x="82" y="79"/>
                    <a:pt x="82" y="79"/>
                  </a:cubicBezTo>
                  <a:cubicBezTo>
                    <a:pt x="82" y="74"/>
                    <a:pt x="82" y="74"/>
                    <a:pt x="82" y="74"/>
                  </a:cubicBezTo>
                  <a:cubicBezTo>
                    <a:pt x="47" y="94"/>
                    <a:pt x="47" y="94"/>
                    <a:pt x="47" y="94"/>
                  </a:cubicBezTo>
                  <a:lnTo>
                    <a:pt x="0" y="67"/>
                  </a:lnTo>
                  <a:close/>
                  <a:moveTo>
                    <a:pt x="102" y="43"/>
                  </a:moveTo>
                  <a:cubicBezTo>
                    <a:pt x="131" y="27"/>
                    <a:pt x="131" y="27"/>
                    <a:pt x="131" y="27"/>
                  </a:cubicBezTo>
                  <a:cubicBezTo>
                    <a:pt x="84" y="0"/>
                    <a:pt x="84" y="0"/>
                    <a:pt x="84" y="0"/>
                  </a:cubicBezTo>
                  <a:cubicBezTo>
                    <a:pt x="55" y="16"/>
                    <a:pt x="55" y="16"/>
                    <a:pt x="55" y="16"/>
                  </a:cubicBezTo>
                  <a:cubicBezTo>
                    <a:pt x="102" y="43"/>
                    <a:pt x="102" y="43"/>
                    <a:pt x="102" y="43"/>
                  </a:cubicBezTo>
                  <a:close/>
                  <a:moveTo>
                    <a:pt x="0" y="55"/>
                  </a:moveTo>
                  <a:cubicBezTo>
                    <a:pt x="0" y="61"/>
                    <a:pt x="0" y="61"/>
                    <a:pt x="0" y="61"/>
                  </a:cubicBezTo>
                  <a:cubicBezTo>
                    <a:pt x="47" y="88"/>
                    <a:pt x="47" y="88"/>
                    <a:pt x="47" y="88"/>
                  </a:cubicBezTo>
                  <a:cubicBezTo>
                    <a:pt x="82" y="68"/>
                    <a:pt x="82" y="68"/>
                    <a:pt x="82" y="68"/>
                  </a:cubicBezTo>
                  <a:cubicBezTo>
                    <a:pt x="82" y="62"/>
                    <a:pt x="82" y="62"/>
                    <a:pt x="82" y="62"/>
                  </a:cubicBezTo>
                  <a:cubicBezTo>
                    <a:pt x="47" y="82"/>
                    <a:pt x="47" y="82"/>
                    <a:pt x="47" y="82"/>
                  </a:cubicBezTo>
                  <a:lnTo>
                    <a:pt x="0" y="55"/>
                  </a:lnTo>
                  <a:close/>
                  <a:moveTo>
                    <a:pt x="102" y="56"/>
                  </a:moveTo>
                  <a:cubicBezTo>
                    <a:pt x="131" y="39"/>
                    <a:pt x="131" y="39"/>
                    <a:pt x="131" y="39"/>
                  </a:cubicBezTo>
                  <a:cubicBezTo>
                    <a:pt x="131" y="34"/>
                    <a:pt x="131" y="34"/>
                    <a:pt x="131" y="34"/>
                  </a:cubicBezTo>
                  <a:cubicBezTo>
                    <a:pt x="102" y="50"/>
                    <a:pt x="102" y="50"/>
                    <a:pt x="102" y="50"/>
                  </a:cubicBezTo>
                  <a:lnTo>
                    <a:pt x="102" y="56"/>
                  </a:lnTo>
                  <a:close/>
                  <a:moveTo>
                    <a:pt x="102" y="79"/>
                  </a:moveTo>
                  <a:cubicBezTo>
                    <a:pt x="131" y="63"/>
                    <a:pt x="131" y="63"/>
                    <a:pt x="131" y="63"/>
                  </a:cubicBezTo>
                  <a:cubicBezTo>
                    <a:pt x="131" y="57"/>
                    <a:pt x="131" y="57"/>
                    <a:pt x="131" y="57"/>
                  </a:cubicBezTo>
                  <a:cubicBezTo>
                    <a:pt x="102" y="74"/>
                    <a:pt x="102" y="74"/>
                    <a:pt x="102" y="74"/>
                  </a:cubicBezTo>
                  <a:lnTo>
                    <a:pt x="102" y="79"/>
                  </a:lnTo>
                  <a:close/>
                  <a:moveTo>
                    <a:pt x="102" y="68"/>
                  </a:moveTo>
                  <a:cubicBezTo>
                    <a:pt x="131" y="51"/>
                    <a:pt x="131" y="51"/>
                    <a:pt x="131" y="51"/>
                  </a:cubicBezTo>
                  <a:cubicBezTo>
                    <a:pt x="131" y="45"/>
                    <a:pt x="131" y="45"/>
                    <a:pt x="131" y="45"/>
                  </a:cubicBezTo>
                  <a:cubicBezTo>
                    <a:pt x="102" y="62"/>
                    <a:pt x="102" y="62"/>
                    <a:pt x="102" y="62"/>
                  </a:cubicBezTo>
                  <a:lnTo>
                    <a:pt x="102" y="68"/>
                  </a:lnTo>
                  <a:close/>
                  <a:moveTo>
                    <a:pt x="38" y="26"/>
                  </a:moveTo>
                  <a:cubicBezTo>
                    <a:pt x="85" y="53"/>
                    <a:pt x="85" y="53"/>
                    <a:pt x="85" y="53"/>
                  </a:cubicBezTo>
                  <a:cubicBezTo>
                    <a:pt x="85" y="89"/>
                    <a:pt x="85" y="89"/>
                    <a:pt x="85" y="89"/>
                  </a:cubicBezTo>
                  <a:cubicBezTo>
                    <a:pt x="99" y="81"/>
                    <a:pt x="99" y="81"/>
                    <a:pt x="99" y="81"/>
                  </a:cubicBezTo>
                  <a:cubicBezTo>
                    <a:pt x="99" y="45"/>
                    <a:pt x="99" y="45"/>
                    <a:pt x="99" y="45"/>
                  </a:cubicBezTo>
                  <a:cubicBezTo>
                    <a:pt x="52" y="18"/>
                    <a:pt x="52" y="18"/>
                    <a:pt x="52" y="18"/>
                  </a:cubicBezTo>
                  <a:lnTo>
                    <a:pt x="38" y="26"/>
                  </a:lnTo>
                  <a:close/>
                  <a:moveTo>
                    <a:pt x="52" y="45"/>
                  </a:moveTo>
                  <a:cubicBezTo>
                    <a:pt x="47" y="42"/>
                    <a:pt x="45" y="38"/>
                    <a:pt x="46" y="34"/>
                  </a:cubicBezTo>
                  <a:cubicBezTo>
                    <a:pt x="35" y="28"/>
                    <a:pt x="35" y="28"/>
                    <a:pt x="35" y="28"/>
                  </a:cubicBezTo>
                  <a:cubicBezTo>
                    <a:pt x="0" y="48"/>
                    <a:pt x="0" y="48"/>
                    <a:pt x="0" y="48"/>
                  </a:cubicBezTo>
                  <a:cubicBezTo>
                    <a:pt x="47" y="75"/>
                    <a:pt x="47" y="75"/>
                    <a:pt x="47" y="75"/>
                  </a:cubicBezTo>
                  <a:cubicBezTo>
                    <a:pt x="82" y="55"/>
                    <a:pt x="82" y="55"/>
                    <a:pt x="82" y="55"/>
                  </a:cubicBezTo>
                  <a:cubicBezTo>
                    <a:pt x="71" y="49"/>
                    <a:pt x="71" y="49"/>
                    <a:pt x="71" y="49"/>
                  </a:cubicBezTo>
                  <a:cubicBezTo>
                    <a:pt x="65" y="49"/>
                    <a:pt x="58" y="48"/>
                    <a:pt x="52" y="45"/>
                  </a:cubicBezTo>
                  <a:close/>
                </a:path>
              </a:pathLst>
            </a:custGeom>
            <a:solidFill>
              <a:srgbClr val="009A44"/>
            </a:solidFill>
            <a:ln>
              <a:noFill/>
            </a:ln>
          </p:spPr>
          <p:txBody>
            <a:bodyPr vert="horz" wrap="square" lIns="62345" tIns="31173" rIns="62345" bIns="31173" numCol="1" anchor="t" anchorCtr="0" compatLnSpc="1">
              <a:prstTxWarp prst="textNoShape">
                <a:avLst/>
              </a:prstTxWarp>
            </a:bodyPr>
            <a:lstStyle/>
            <a:p>
              <a:pPr defTabSz="837848"/>
              <a:endParaRPr lang="en-GB" sz="886">
                <a:solidFill>
                  <a:prstClr val="black"/>
                </a:solidFill>
                <a:latin typeface="Verdana"/>
              </a:endParaRPr>
            </a:p>
          </p:txBody>
        </p:sp>
        <p:grpSp>
          <p:nvGrpSpPr>
            <p:cNvPr id="17" name="Group 16">
              <a:extLst>
                <a:ext uri="{FF2B5EF4-FFF2-40B4-BE49-F238E27FC236}">
                  <a16:creationId xmlns:a16="http://schemas.microsoft.com/office/drawing/2014/main" id="{1C9B9664-8AA8-4603-8E2D-299B4A654998}"/>
                </a:ext>
              </a:extLst>
            </p:cNvPr>
            <p:cNvGrpSpPr/>
            <p:nvPr/>
          </p:nvGrpSpPr>
          <p:grpSpPr>
            <a:xfrm>
              <a:off x="541062" y="2015969"/>
              <a:ext cx="120535" cy="205007"/>
              <a:chOff x="1690043" y="4882101"/>
              <a:chExt cx="635837" cy="1037865"/>
            </a:xfrm>
            <a:solidFill>
              <a:schemeClr val="tx1">
                <a:lumMod val="65000"/>
                <a:lumOff val="35000"/>
              </a:schemeClr>
            </a:solidFill>
          </p:grpSpPr>
          <p:sp>
            <p:nvSpPr>
              <p:cNvPr id="93" name="Freeform 126">
                <a:extLst>
                  <a:ext uri="{FF2B5EF4-FFF2-40B4-BE49-F238E27FC236}">
                    <a16:creationId xmlns:a16="http://schemas.microsoft.com/office/drawing/2014/main" id="{F3825961-D8D2-470C-952A-26A8D1981F68}"/>
                  </a:ext>
                </a:extLst>
              </p:cNvPr>
              <p:cNvSpPr>
                <a:spLocks noEditPoints="1"/>
              </p:cNvSpPr>
              <p:nvPr/>
            </p:nvSpPr>
            <p:spPr bwMode="auto">
              <a:xfrm>
                <a:off x="1690043" y="4882101"/>
                <a:ext cx="635837" cy="229921"/>
              </a:xfrm>
              <a:custGeom>
                <a:avLst/>
                <a:gdLst>
                  <a:gd name="T0" fmla="*/ 107 w 213"/>
                  <a:gd name="T1" fmla="*/ 70 h 70"/>
                  <a:gd name="T2" fmla="*/ 213 w 213"/>
                  <a:gd name="T3" fmla="*/ 35 h 70"/>
                  <a:gd name="T4" fmla="*/ 107 w 213"/>
                  <a:gd name="T5" fmla="*/ 0 h 70"/>
                  <a:gd name="T6" fmla="*/ 0 w 213"/>
                  <a:gd name="T7" fmla="*/ 35 h 70"/>
                  <a:gd name="T8" fmla="*/ 107 w 213"/>
                  <a:gd name="T9" fmla="*/ 70 h 70"/>
                  <a:gd name="T10" fmla="*/ 107 w 213"/>
                  <a:gd name="T11" fmla="*/ 7 h 70"/>
                  <a:gd name="T12" fmla="*/ 206 w 213"/>
                  <a:gd name="T13" fmla="*/ 35 h 70"/>
                  <a:gd name="T14" fmla="*/ 107 w 213"/>
                  <a:gd name="T15" fmla="*/ 62 h 70"/>
                  <a:gd name="T16" fmla="*/ 7 w 213"/>
                  <a:gd name="T17" fmla="*/ 35 h 70"/>
                  <a:gd name="T18" fmla="*/ 107 w 213"/>
                  <a:gd name="T19" fmla="*/ 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70">
                    <a:moveTo>
                      <a:pt x="107" y="70"/>
                    </a:moveTo>
                    <a:cubicBezTo>
                      <a:pt x="166" y="70"/>
                      <a:pt x="213" y="54"/>
                      <a:pt x="213" y="35"/>
                    </a:cubicBezTo>
                    <a:cubicBezTo>
                      <a:pt x="213" y="16"/>
                      <a:pt x="166" y="0"/>
                      <a:pt x="107" y="0"/>
                    </a:cubicBezTo>
                    <a:cubicBezTo>
                      <a:pt x="48" y="0"/>
                      <a:pt x="0" y="16"/>
                      <a:pt x="0" y="35"/>
                    </a:cubicBezTo>
                    <a:cubicBezTo>
                      <a:pt x="0" y="54"/>
                      <a:pt x="48" y="70"/>
                      <a:pt x="107" y="70"/>
                    </a:cubicBezTo>
                    <a:close/>
                    <a:moveTo>
                      <a:pt x="107" y="7"/>
                    </a:moveTo>
                    <a:cubicBezTo>
                      <a:pt x="167" y="7"/>
                      <a:pt x="206" y="24"/>
                      <a:pt x="206" y="35"/>
                    </a:cubicBezTo>
                    <a:cubicBezTo>
                      <a:pt x="206" y="46"/>
                      <a:pt x="167" y="62"/>
                      <a:pt x="107" y="62"/>
                    </a:cubicBezTo>
                    <a:cubicBezTo>
                      <a:pt x="46" y="62"/>
                      <a:pt x="7" y="46"/>
                      <a:pt x="7" y="35"/>
                    </a:cubicBezTo>
                    <a:cubicBezTo>
                      <a:pt x="7" y="24"/>
                      <a:pt x="46" y="7"/>
                      <a:pt x="10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94" name="Freeform 127">
                <a:extLst>
                  <a:ext uri="{FF2B5EF4-FFF2-40B4-BE49-F238E27FC236}">
                    <a16:creationId xmlns:a16="http://schemas.microsoft.com/office/drawing/2014/main" id="{213A9E0A-6B35-483D-94B4-B6E75A384742}"/>
                  </a:ext>
                </a:extLst>
              </p:cNvPr>
              <p:cNvSpPr>
                <a:spLocks/>
              </p:cNvSpPr>
              <p:nvPr/>
            </p:nvSpPr>
            <p:spPr bwMode="auto">
              <a:xfrm>
                <a:off x="1690043" y="5259632"/>
                <a:ext cx="635837" cy="111742"/>
              </a:xfrm>
              <a:custGeom>
                <a:avLst/>
                <a:gdLst>
                  <a:gd name="T0" fmla="*/ 0 w 213"/>
                  <a:gd name="T1" fmla="*/ 0 h 34"/>
                  <a:gd name="T2" fmla="*/ 0 w 213"/>
                  <a:gd name="T3" fmla="*/ 8 h 34"/>
                  <a:gd name="T4" fmla="*/ 107 w 213"/>
                  <a:gd name="T5" fmla="*/ 34 h 34"/>
                  <a:gd name="T6" fmla="*/ 213 w 213"/>
                  <a:gd name="T7" fmla="*/ 8 h 34"/>
                  <a:gd name="T8" fmla="*/ 213 w 213"/>
                  <a:gd name="T9" fmla="*/ 0 h 34"/>
                  <a:gd name="T10" fmla="*/ 107 w 213"/>
                  <a:gd name="T11" fmla="*/ 27 h 34"/>
                  <a:gd name="T12" fmla="*/ 0 w 213"/>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13" h="34">
                    <a:moveTo>
                      <a:pt x="0" y="0"/>
                    </a:moveTo>
                    <a:cubicBezTo>
                      <a:pt x="0" y="8"/>
                      <a:pt x="0" y="8"/>
                      <a:pt x="0" y="8"/>
                    </a:cubicBezTo>
                    <a:cubicBezTo>
                      <a:pt x="17" y="25"/>
                      <a:pt x="62" y="34"/>
                      <a:pt x="107" y="34"/>
                    </a:cubicBezTo>
                    <a:cubicBezTo>
                      <a:pt x="151" y="34"/>
                      <a:pt x="196" y="25"/>
                      <a:pt x="213" y="8"/>
                    </a:cubicBezTo>
                    <a:cubicBezTo>
                      <a:pt x="213" y="0"/>
                      <a:pt x="213" y="0"/>
                      <a:pt x="213" y="0"/>
                    </a:cubicBezTo>
                    <a:cubicBezTo>
                      <a:pt x="196" y="18"/>
                      <a:pt x="151" y="27"/>
                      <a:pt x="107" y="27"/>
                    </a:cubicBezTo>
                    <a:cubicBezTo>
                      <a:pt x="62" y="27"/>
                      <a:pt x="17" y="18"/>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95" name="Freeform 128">
                <a:extLst>
                  <a:ext uri="{FF2B5EF4-FFF2-40B4-BE49-F238E27FC236}">
                    <a16:creationId xmlns:a16="http://schemas.microsoft.com/office/drawing/2014/main" id="{336009FD-651C-456A-9716-C6EA3F7E5F36}"/>
                  </a:ext>
                </a:extLst>
              </p:cNvPr>
              <p:cNvSpPr>
                <a:spLocks/>
              </p:cNvSpPr>
              <p:nvPr/>
            </p:nvSpPr>
            <p:spPr bwMode="auto">
              <a:xfrm>
                <a:off x="1690043" y="5046265"/>
                <a:ext cx="635837" cy="282343"/>
              </a:xfrm>
              <a:custGeom>
                <a:avLst/>
                <a:gdLst>
                  <a:gd name="T0" fmla="*/ 0 w 213"/>
                  <a:gd name="T1" fmla="*/ 0 h 86"/>
                  <a:gd name="T2" fmla="*/ 0 w 213"/>
                  <a:gd name="T3" fmla="*/ 57 h 86"/>
                  <a:gd name="T4" fmla="*/ 4 w 213"/>
                  <a:gd name="T5" fmla="*/ 61 h 86"/>
                  <a:gd name="T6" fmla="*/ 107 w 213"/>
                  <a:gd name="T7" fmla="*/ 86 h 86"/>
                  <a:gd name="T8" fmla="*/ 209 w 213"/>
                  <a:gd name="T9" fmla="*/ 61 h 86"/>
                  <a:gd name="T10" fmla="*/ 213 w 213"/>
                  <a:gd name="T11" fmla="*/ 57 h 86"/>
                  <a:gd name="T12" fmla="*/ 213 w 213"/>
                  <a:gd name="T13" fmla="*/ 0 h 86"/>
                  <a:gd name="T14" fmla="*/ 107 w 213"/>
                  <a:gd name="T15" fmla="*/ 27 h 86"/>
                  <a:gd name="T16" fmla="*/ 0 w 213"/>
                  <a:gd name="T17"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86">
                    <a:moveTo>
                      <a:pt x="0" y="0"/>
                    </a:moveTo>
                    <a:cubicBezTo>
                      <a:pt x="0" y="57"/>
                      <a:pt x="0" y="57"/>
                      <a:pt x="0" y="57"/>
                    </a:cubicBezTo>
                    <a:cubicBezTo>
                      <a:pt x="4" y="61"/>
                      <a:pt x="4" y="61"/>
                      <a:pt x="4" y="61"/>
                    </a:cubicBezTo>
                    <a:cubicBezTo>
                      <a:pt x="18" y="76"/>
                      <a:pt x="60" y="86"/>
                      <a:pt x="107" y="86"/>
                    </a:cubicBezTo>
                    <a:cubicBezTo>
                      <a:pt x="154" y="86"/>
                      <a:pt x="195" y="76"/>
                      <a:pt x="209" y="61"/>
                    </a:cubicBezTo>
                    <a:cubicBezTo>
                      <a:pt x="213" y="57"/>
                      <a:pt x="213" y="57"/>
                      <a:pt x="213" y="57"/>
                    </a:cubicBezTo>
                    <a:cubicBezTo>
                      <a:pt x="213" y="0"/>
                      <a:pt x="213" y="0"/>
                      <a:pt x="213" y="0"/>
                    </a:cubicBezTo>
                    <a:cubicBezTo>
                      <a:pt x="196" y="18"/>
                      <a:pt x="151" y="27"/>
                      <a:pt x="107" y="27"/>
                    </a:cubicBezTo>
                    <a:cubicBezTo>
                      <a:pt x="62" y="27"/>
                      <a:pt x="17" y="18"/>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96" name="Freeform 129">
                <a:extLst>
                  <a:ext uri="{FF2B5EF4-FFF2-40B4-BE49-F238E27FC236}">
                    <a16:creationId xmlns:a16="http://schemas.microsoft.com/office/drawing/2014/main" id="{D2834613-70D2-41F3-9F64-266319187705}"/>
                  </a:ext>
                </a:extLst>
              </p:cNvPr>
              <p:cNvSpPr>
                <a:spLocks/>
              </p:cNvSpPr>
              <p:nvPr/>
            </p:nvSpPr>
            <p:spPr bwMode="auto">
              <a:xfrm>
                <a:off x="1946719" y="5430693"/>
                <a:ext cx="62706" cy="183937"/>
              </a:xfrm>
              <a:custGeom>
                <a:avLst/>
                <a:gdLst>
                  <a:gd name="T0" fmla="*/ 0 w 21"/>
                  <a:gd name="T1" fmla="*/ 35 h 56"/>
                  <a:gd name="T2" fmla="*/ 0 w 21"/>
                  <a:gd name="T3" fmla="*/ 39 h 56"/>
                  <a:gd name="T4" fmla="*/ 9 w 21"/>
                  <a:gd name="T5" fmla="*/ 56 h 56"/>
                  <a:gd name="T6" fmla="*/ 6 w 21"/>
                  <a:gd name="T7" fmla="*/ 41 h 56"/>
                  <a:gd name="T8" fmla="*/ 6 w 21"/>
                  <a:gd name="T9" fmla="*/ 37 h 56"/>
                  <a:gd name="T10" fmla="*/ 21 w 21"/>
                  <a:gd name="T11" fmla="*/ 0 h 56"/>
                  <a:gd name="T12" fmla="*/ 21 w 21"/>
                  <a:gd name="T13" fmla="*/ 0 h 56"/>
                  <a:gd name="T14" fmla="*/ 0 w 21"/>
                  <a:gd name="T15" fmla="*/ 35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56">
                    <a:moveTo>
                      <a:pt x="0" y="35"/>
                    </a:moveTo>
                    <a:cubicBezTo>
                      <a:pt x="0" y="36"/>
                      <a:pt x="0" y="37"/>
                      <a:pt x="0" y="39"/>
                    </a:cubicBezTo>
                    <a:cubicBezTo>
                      <a:pt x="0" y="46"/>
                      <a:pt x="3" y="53"/>
                      <a:pt x="9" y="56"/>
                    </a:cubicBezTo>
                    <a:cubicBezTo>
                      <a:pt x="7" y="52"/>
                      <a:pt x="6" y="47"/>
                      <a:pt x="6" y="41"/>
                    </a:cubicBezTo>
                    <a:cubicBezTo>
                      <a:pt x="6" y="40"/>
                      <a:pt x="6" y="38"/>
                      <a:pt x="6" y="37"/>
                    </a:cubicBezTo>
                    <a:cubicBezTo>
                      <a:pt x="8" y="27"/>
                      <a:pt x="15" y="11"/>
                      <a:pt x="21" y="0"/>
                    </a:cubicBezTo>
                    <a:cubicBezTo>
                      <a:pt x="21" y="0"/>
                      <a:pt x="21" y="0"/>
                      <a:pt x="21" y="0"/>
                    </a:cubicBezTo>
                    <a:cubicBezTo>
                      <a:pt x="16" y="6"/>
                      <a:pt x="3" y="24"/>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97" name="Freeform 130">
                <a:extLst>
                  <a:ext uri="{FF2B5EF4-FFF2-40B4-BE49-F238E27FC236}">
                    <a16:creationId xmlns:a16="http://schemas.microsoft.com/office/drawing/2014/main" id="{B07D7AD4-988D-4220-87F0-D05F205113B1}"/>
                  </a:ext>
                </a:extLst>
              </p:cNvPr>
              <p:cNvSpPr>
                <a:spLocks noEditPoints="1"/>
              </p:cNvSpPr>
              <p:nvPr/>
            </p:nvSpPr>
            <p:spPr bwMode="auto">
              <a:xfrm>
                <a:off x="1690043" y="5312514"/>
                <a:ext cx="635837" cy="351319"/>
              </a:xfrm>
              <a:custGeom>
                <a:avLst/>
                <a:gdLst>
                  <a:gd name="T0" fmla="*/ 0 w 213"/>
                  <a:gd name="T1" fmla="*/ 0 h 107"/>
                  <a:gd name="T2" fmla="*/ 0 w 213"/>
                  <a:gd name="T3" fmla="*/ 41 h 107"/>
                  <a:gd name="T4" fmla="*/ 0 w 213"/>
                  <a:gd name="T5" fmla="*/ 78 h 107"/>
                  <a:gd name="T6" fmla="*/ 4 w 213"/>
                  <a:gd name="T7" fmla="*/ 83 h 107"/>
                  <a:gd name="T8" fmla="*/ 107 w 213"/>
                  <a:gd name="T9" fmla="*/ 107 h 107"/>
                  <a:gd name="T10" fmla="*/ 169 w 213"/>
                  <a:gd name="T11" fmla="*/ 101 h 107"/>
                  <a:gd name="T12" fmla="*/ 209 w 213"/>
                  <a:gd name="T13" fmla="*/ 83 h 107"/>
                  <a:gd name="T14" fmla="*/ 213 w 213"/>
                  <a:gd name="T15" fmla="*/ 78 h 107"/>
                  <a:gd name="T16" fmla="*/ 213 w 213"/>
                  <a:gd name="T17" fmla="*/ 0 h 107"/>
                  <a:gd name="T18" fmla="*/ 107 w 213"/>
                  <a:gd name="T19" fmla="*/ 24 h 107"/>
                  <a:gd name="T20" fmla="*/ 0 w 213"/>
                  <a:gd name="T21" fmla="*/ 0 h 107"/>
                  <a:gd name="T22" fmla="*/ 126 w 213"/>
                  <a:gd name="T23" fmla="*/ 86 h 107"/>
                  <a:gd name="T24" fmla="*/ 107 w 213"/>
                  <a:gd name="T25" fmla="*/ 97 h 107"/>
                  <a:gd name="T26" fmla="*/ 84 w 213"/>
                  <a:gd name="T27" fmla="*/ 75 h 107"/>
                  <a:gd name="T28" fmla="*/ 85 w 213"/>
                  <a:gd name="T29" fmla="*/ 70 h 107"/>
                  <a:gd name="T30" fmla="*/ 107 w 213"/>
                  <a:gd name="T31" fmla="*/ 33 h 107"/>
                  <a:gd name="T32" fmla="*/ 129 w 213"/>
                  <a:gd name="T33" fmla="*/ 75 h 107"/>
                  <a:gd name="T34" fmla="*/ 126 w 213"/>
                  <a:gd name="T35" fmla="*/ 86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 h="107">
                    <a:moveTo>
                      <a:pt x="0" y="0"/>
                    </a:moveTo>
                    <a:cubicBezTo>
                      <a:pt x="0" y="41"/>
                      <a:pt x="0" y="41"/>
                      <a:pt x="0" y="41"/>
                    </a:cubicBezTo>
                    <a:cubicBezTo>
                      <a:pt x="0" y="78"/>
                      <a:pt x="0" y="78"/>
                      <a:pt x="0" y="78"/>
                    </a:cubicBezTo>
                    <a:cubicBezTo>
                      <a:pt x="4" y="83"/>
                      <a:pt x="4" y="83"/>
                      <a:pt x="4" y="83"/>
                    </a:cubicBezTo>
                    <a:cubicBezTo>
                      <a:pt x="18" y="97"/>
                      <a:pt x="60" y="107"/>
                      <a:pt x="107" y="107"/>
                    </a:cubicBezTo>
                    <a:cubicBezTo>
                      <a:pt x="129" y="107"/>
                      <a:pt x="151" y="105"/>
                      <a:pt x="169" y="101"/>
                    </a:cubicBezTo>
                    <a:cubicBezTo>
                      <a:pt x="187" y="97"/>
                      <a:pt x="202" y="90"/>
                      <a:pt x="209" y="83"/>
                    </a:cubicBezTo>
                    <a:cubicBezTo>
                      <a:pt x="213" y="78"/>
                      <a:pt x="213" y="78"/>
                      <a:pt x="213" y="78"/>
                    </a:cubicBezTo>
                    <a:cubicBezTo>
                      <a:pt x="213" y="0"/>
                      <a:pt x="213" y="0"/>
                      <a:pt x="213" y="0"/>
                    </a:cubicBezTo>
                    <a:cubicBezTo>
                      <a:pt x="191" y="18"/>
                      <a:pt x="145" y="24"/>
                      <a:pt x="107" y="24"/>
                    </a:cubicBezTo>
                    <a:cubicBezTo>
                      <a:pt x="69" y="24"/>
                      <a:pt x="22" y="18"/>
                      <a:pt x="0" y="0"/>
                    </a:cubicBezTo>
                    <a:close/>
                    <a:moveTo>
                      <a:pt x="126" y="86"/>
                    </a:moveTo>
                    <a:cubicBezTo>
                      <a:pt x="123" y="93"/>
                      <a:pt x="115" y="97"/>
                      <a:pt x="107" y="97"/>
                    </a:cubicBezTo>
                    <a:cubicBezTo>
                      <a:pt x="94" y="97"/>
                      <a:pt x="84" y="87"/>
                      <a:pt x="84" y="75"/>
                    </a:cubicBezTo>
                    <a:cubicBezTo>
                      <a:pt x="84" y="73"/>
                      <a:pt x="84" y="72"/>
                      <a:pt x="85" y="70"/>
                    </a:cubicBezTo>
                    <a:cubicBezTo>
                      <a:pt x="88" y="56"/>
                      <a:pt x="107" y="33"/>
                      <a:pt x="107" y="33"/>
                    </a:cubicBezTo>
                    <a:cubicBezTo>
                      <a:pt x="107" y="33"/>
                      <a:pt x="129" y="62"/>
                      <a:pt x="129" y="75"/>
                    </a:cubicBezTo>
                    <a:cubicBezTo>
                      <a:pt x="129" y="79"/>
                      <a:pt x="128" y="83"/>
                      <a:pt x="126"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98" name="Freeform 131">
                <a:extLst>
                  <a:ext uri="{FF2B5EF4-FFF2-40B4-BE49-F238E27FC236}">
                    <a16:creationId xmlns:a16="http://schemas.microsoft.com/office/drawing/2014/main" id="{0EBEC2EF-4E9E-402D-AEFF-9C0D9F26929B}"/>
                  </a:ext>
                </a:extLst>
              </p:cNvPr>
              <p:cNvSpPr>
                <a:spLocks/>
              </p:cNvSpPr>
              <p:nvPr/>
            </p:nvSpPr>
            <p:spPr bwMode="auto">
              <a:xfrm>
                <a:off x="1970547" y="5030170"/>
                <a:ext cx="74829" cy="42305"/>
              </a:xfrm>
              <a:custGeom>
                <a:avLst/>
                <a:gdLst>
                  <a:gd name="T0" fmla="*/ 0 w 25"/>
                  <a:gd name="T1" fmla="*/ 0 h 13"/>
                  <a:gd name="T2" fmla="*/ 0 w 25"/>
                  <a:gd name="T3" fmla="*/ 10 h 13"/>
                  <a:gd name="T4" fmla="*/ 13 w 25"/>
                  <a:gd name="T5" fmla="*/ 13 h 13"/>
                  <a:gd name="T6" fmla="*/ 25 w 25"/>
                  <a:gd name="T7" fmla="*/ 10 h 13"/>
                  <a:gd name="T8" fmla="*/ 25 w 25"/>
                  <a:gd name="T9" fmla="*/ 0 h 13"/>
                  <a:gd name="T10" fmla="*/ 13 w 25"/>
                  <a:gd name="T11" fmla="*/ 1 h 13"/>
                  <a:gd name="T12" fmla="*/ 0 w 25"/>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25" h="13">
                    <a:moveTo>
                      <a:pt x="0" y="0"/>
                    </a:moveTo>
                    <a:cubicBezTo>
                      <a:pt x="0" y="10"/>
                      <a:pt x="0" y="10"/>
                      <a:pt x="0" y="10"/>
                    </a:cubicBezTo>
                    <a:cubicBezTo>
                      <a:pt x="0" y="11"/>
                      <a:pt x="6" y="13"/>
                      <a:pt x="13" y="13"/>
                    </a:cubicBezTo>
                    <a:cubicBezTo>
                      <a:pt x="20" y="13"/>
                      <a:pt x="25" y="11"/>
                      <a:pt x="25" y="10"/>
                    </a:cubicBezTo>
                    <a:cubicBezTo>
                      <a:pt x="25" y="0"/>
                      <a:pt x="25" y="0"/>
                      <a:pt x="25" y="0"/>
                    </a:cubicBezTo>
                    <a:cubicBezTo>
                      <a:pt x="20" y="1"/>
                      <a:pt x="15" y="1"/>
                      <a:pt x="13" y="1"/>
                    </a:cubicBezTo>
                    <a:cubicBezTo>
                      <a:pt x="11" y="1"/>
                      <a:pt x="5"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99" name="Oval 98">
                <a:extLst>
                  <a:ext uri="{FF2B5EF4-FFF2-40B4-BE49-F238E27FC236}">
                    <a16:creationId xmlns:a16="http://schemas.microsoft.com/office/drawing/2014/main" id="{F7D4DB5D-C536-468F-8A8D-7F5F26FD8D62}"/>
                  </a:ext>
                </a:extLst>
              </p:cNvPr>
              <p:cNvSpPr>
                <a:spLocks noChangeArrowheads="1"/>
              </p:cNvSpPr>
              <p:nvPr/>
            </p:nvSpPr>
            <p:spPr bwMode="auto">
              <a:xfrm>
                <a:off x="1955916" y="4997062"/>
                <a:ext cx="107436" cy="2943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100" name="Freeform 133">
                <a:extLst>
                  <a:ext uri="{FF2B5EF4-FFF2-40B4-BE49-F238E27FC236}">
                    <a16:creationId xmlns:a16="http://schemas.microsoft.com/office/drawing/2014/main" id="{60CCC4C2-612B-417D-913A-F15055827F42}"/>
                  </a:ext>
                </a:extLst>
              </p:cNvPr>
              <p:cNvSpPr>
                <a:spLocks/>
              </p:cNvSpPr>
              <p:nvPr/>
            </p:nvSpPr>
            <p:spPr bwMode="auto">
              <a:xfrm>
                <a:off x="1690043" y="5647279"/>
                <a:ext cx="635837" cy="272687"/>
              </a:xfrm>
              <a:custGeom>
                <a:avLst/>
                <a:gdLst>
                  <a:gd name="T0" fmla="*/ 107 w 213"/>
                  <a:gd name="T1" fmla="*/ 25 h 83"/>
                  <a:gd name="T2" fmla="*/ 0 w 213"/>
                  <a:gd name="T3" fmla="*/ 0 h 83"/>
                  <a:gd name="T4" fmla="*/ 0 w 213"/>
                  <a:gd name="T5" fmla="*/ 48 h 83"/>
                  <a:gd name="T6" fmla="*/ 107 w 213"/>
                  <a:gd name="T7" fmla="*/ 83 h 83"/>
                  <a:gd name="T8" fmla="*/ 213 w 213"/>
                  <a:gd name="T9" fmla="*/ 48 h 83"/>
                  <a:gd name="T10" fmla="*/ 213 w 213"/>
                  <a:gd name="T11" fmla="*/ 12 h 83"/>
                  <a:gd name="T12" fmla="*/ 213 w 213"/>
                  <a:gd name="T13" fmla="*/ 0 h 83"/>
                  <a:gd name="T14" fmla="*/ 200 w 213"/>
                  <a:gd name="T15" fmla="*/ 9 h 83"/>
                  <a:gd name="T16" fmla="*/ 107 w 213"/>
                  <a:gd name="T17" fmla="*/ 2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83">
                    <a:moveTo>
                      <a:pt x="107" y="25"/>
                    </a:moveTo>
                    <a:cubicBezTo>
                      <a:pt x="69" y="25"/>
                      <a:pt x="22" y="18"/>
                      <a:pt x="0" y="0"/>
                    </a:cubicBezTo>
                    <a:cubicBezTo>
                      <a:pt x="0" y="48"/>
                      <a:pt x="0" y="48"/>
                      <a:pt x="0" y="48"/>
                    </a:cubicBezTo>
                    <a:cubicBezTo>
                      <a:pt x="0" y="67"/>
                      <a:pt x="48" y="83"/>
                      <a:pt x="107" y="83"/>
                    </a:cubicBezTo>
                    <a:cubicBezTo>
                      <a:pt x="166" y="83"/>
                      <a:pt x="213" y="67"/>
                      <a:pt x="213" y="48"/>
                    </a:cubicBezTo>
                    <a:cubicBezTo>
                      <a:pt x="213" y="12"/>
                      <a:pt x="213" y="12"/>
                      <a:pt x="213" y="12"/>
                    </a:cubicBezTo>
                    <a:cubicBezTo>
                      <a:pt x="213" y="0"/>
                      <a:pt x="213" y="0"/>
                      <a:pt x="213" y="0"/>
                    </a:cubicBezTo>
                    <a:cubicBezTo>
                      <a:pt x="210" y="3"/>
                      <a:pt x="205" y="6"/>
                      <a:pt x="200" y="9"/>
                    </a:cubicBezTo>
                    <a:cubicBezTo>
                      <a:pt x="175" y="20"/>
                      <a:pt x="138" y="25"/>
                      <a:pt x="107"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101" name="Freeform 134">
                <a:extLst>
                  <a:ext uri="{FF2B5EF4-FFF2-40B4-BE49-F238E27FC236}">
                    <a16:creationId xmlns:a16="http://schemas.microsoft.com/office/drawing/2014/main" id="{12AC80ED-4DA2-42A1-A7D4-EE1178908EA6}"/>
                  </a:ext>
                </a:extLst>
              </p:cNvPr>
              <p:cNvSpPr>
                <a:spLocks/>
              </p:cNvSpPr>
              <p:nvPr/>
            </p:nvSpPr>
            <p:spPr bwMode="auto">
              <a:xfrm>
                <a:off x="1690043" y="5598076"/>
                <a:ext cx="635837" cy="111742"/>
              </a:xfrm>
              <a:custGeom>
                <a:avLst/>
                <a:gdLst>
                  <a:gd name="T0" fmla="*/ 107 w 213"/>
                  <a:gd name="T1" fmla="*/ 26 h 34"/>
                  <a:gd name="T2" fmla="*/ 0 w 213"/>
                  <a:gd name="T3" fmla="*/ 0 h 34"/>
                  <a:gd name="T4" fmla="*/ 0 w 213"/>
                  <a:gd name="T5" fmla="*/ 8 h 34"/>
                  <a:gd name="T6" fmla="*/ 107 w 213"/>
                  <a:gd name="T7" fmla="*/ 34 h 34"/>
                  <a:gd name="T8" fmla="*/ 191 w 213"/>
                  <a:gd name="T9" fmla="*/ 21 h 34"/>
                  <a:gd name="T10" fmla="*/ 213 w 213"/>
                  <a:gd name="T11" fmla="*/ 8 h 34"/>
                  <a:gd name="T12" fmla="*/ 213 w 213"/>
                  <a:gd name="T13" fmla="*/ 0 h 34"/>
                  <a:gd name="T14" fmla="*/ 179 w 213"/>
                  <a:gd name="T15" fmla="*/ 17 h 34"/>
                  <a:gd name="T16" fmla="*/ 107 w 213"/>
                  <a:gd name="T17" fmla="*/ 2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34">
                    <a:moveTo>
                      <a:pt x="107" y="26"/>
                    </a:moveTo>
                    <a:cubicBezTo>
                      <a:pt x="62" y="26"/>
                      <a:pt x="17" y="17"/>
                      <a:pt x="0" y="0"/>
                    </a:cubicBezTo>
                    <a:cubicBezTo>
                      <a:pt x="0" y="8"/>
                      <a:pt x="0" y="8"/>
                      <a:pt x="0" y="8"/>
                    </a:cubicBezTo>
                    <a:cubicBezTo>
                      <a:pt x="17" y="25"/>
                      <a:pt x="62" y="34"/>
                      <a:pt x="107" y="34"/>
                    </a:cubicBezTo>
                    <a:cubicBezTo>
                      <a:pt x="138" y="34"/>
                      <a:pt x="169" y="30"/>
                      <a:pt x="191" y="21"/>
                    </a:cubicBezTo>
                    <a:cubicBezTo>
                      <a:pt x="200" y="17"/>
                      <a:pt x="208" y="13"/>
                      <a:pt x="213" y="8"/>
                    </a:cubicBezTo>
                    <a:cubicBezTo>
                      <a:pt x="213" y="0"/>
                      <a:pt x="213" y="0"/>
                      <a:pt x="213" y="0"/>
                    </a:cubicBezTo>
                    <a:cubicBezTo>
                      <a:pt x="206" y="7"/>
                      <a:pt x="194" y="13"/>
                      <a:pt x="179" y="17"/>
                    </a:cubicBezTo>
                    <a:cubicBezTo>
                      <a:pt x="158" y="23"/>
                      <a:pt x="132" y="26"/>
                      <a:pt x="10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grpSp>
        <p:sp>
          <p:nvSpPr>
            <p:cNvPr id="18" name="TextBox 17">
              <a:extLst>
                <a:ext uri="{FF2B5EF4-FFF2-40B4-BE49-F238E27FC236}">
                  <a16:creationId xmlns:a16="http://schemas.microsoft.com/office/drawing/2014/main" id="{3A6F3B3B-CB13-4C10-9473-EC76E0FDC90A}"/>
                </a:ext>
              </a:extLst>
            </p:cNvPr>
            <p:cNvSpPr txBox="1"/>
            <p:nvPr/>
          </p:nvSpPr>
          <p:spPr>
            <a:xfrm>
              <a:off x="3760671" y="1340589"/>
              <a:ext cx="4003712" cy="163061"/>
            </a:xfrm>
            <a:prstGeom prst="rect">
              <a:avLst/>
            </a:prstGeom>
            <a:noFill/>
          </p:spPr>
          <p:txBody>
            <a:bodyPr wrap="square" lIns="0" tIns="0" rIns="0" bIns="0" rtlCol="0">
              <a:spAutoFit/>
            </a:bodyPr>
            <a:lstStyle/>
            <a:p>
              <a:pPr defTabSz="837848">
                <a:spcBef>
                  <a:spcPts val="409"/>
                </a:spcBef>
                <a:buSzPct val="100000"/>
              </a:pPr>
              <a:r>
                <a:rPr lang="en-US" sz="1091" b="1" dirty="0">
                  <a:solidFill>
                    <a:srgbClr val="313131"/>
                  </a:solidFill>
                  <a:latin typeface="Verdana"/>
                </a:rPr>
                <a:t>Background</a:t>
              </a:r>
              <a:endParaRPr lang="en-IN" sz="886" b="1" dirty="0">
                <a:solidFill>
                  <a:srgbClr val="313131"/>
                </a:solidFill>
                <a:latin typeface="Verdana"/>
              </a:endParaRPr>
            </a:p>
          </p:txBody>
        </p:sp>
        <p:sp>
          <p:nvSpPr>
            <p:cNvPr id="19" name="Rounded Rectangle 136">
              <a:extLst>
                <a:ext uri="{FF2B5EF4-FFF2-40B4-BE49-F238E27FC236}">
                  <a16:creationId xmlns:a16="http://schemas.microsoft.com/office/drawing/2014/main" id="{69DA129A-E63D-4055-88AC-7997428364CD}"/>
                </a:ext>
              </a:extLst>
            </p:cNvPr>
            <p:cNvSpPr/>
            <p:nvPr/>
          </p:nvSpPr>
          <p:spPr bwMode="gray">
            <a:xfrm>
              <a:off x="3389661" y="1235457"/>
              <a:ext cx="8354308" cy="1457083"/>
            </a:xfrm>
            <a:prstGeom prst="roundRect">
              <a:avLst/>
            </a:prstGeom>
            <a:noFill/>
            <a:ln w="28575" algn="ctr">
              <a:solidFill>
                <a:srgbClr val="012169"/>
              </a:solidFill>
              <a:miter lim="800000"/>
              <a:headEnd/>
              <a:tailEnd/>
            </a:ln>
          </p:spPr>
          <p:txBody>
            <a:bodyPr wrap="square" lIns="60614" tIns="60614" rIns="60614" bIns="60614" rtlCol="0" anchor="ctr"/>
            <a:lstStyle/>
            <a:p>
              <a:pPr algn="ctr" defTabSz="837848">
                <a:lnSpc>
                  <a:spcPct val="106000"/>
                </a:lnSpc>
              </a:pPr>
              <a:endParaRPr lang="en-IN" sz="886" b="1" dirty="0">
                <a:solidFill>
                  <a:prstClr val="white"/>
                </a:solidFill>
                <a:latin typeface="Verdana"/>
              </a:endParaRPr>
            </a:p>
          </p:txBody>
        </p:sp>
        <p:grpSp>
          <p:nvGrpSpPr>
            <p:cNvPr id="20" name="Group 19">
              <a:extLst>
                <a:ext uri="{FF2B5EF4-FFF2-40B4-BE49-F238E27FC236}">
                  <a16:creationId xmlns:a16="http://schemas.microsoft.com/office/drawing/2014/main" id="{63FFB6AA-BC62-4BAC-9642-F096FC196463}"/>
                </a:ext>
              </a:extLst>
            </p:cNvPr>
            <p:cNvGrpSpPr/>
            <p:nvPr/>
          </p:nvGrpSpPr>
          <p:grpSpPr>
            <a:xfrm>
              <a:off x="3539316" y="1741010"/>
              <a:ext cx="280969" cy="225605"/>
              <a:chOff x="15266988" y="13179425"/>
              <a:chExt cx="3529012" cy="3762376"/>
            </a:xfrm>
            <a:solidFill>
              <a:srgbClr val="0070C0"/>
            </a:solidFill>
          </p:grpSpPr>
          <p:sp>
            <p:nvSpPr>
              <p:cNvPr id="50" name="Freeform 137">
                <a:extLst>
                  <a:ext uri="{FF2B5EF4-FFF2-40B4-BE49-F238E27FC236}">
                    <a16:creationId xmlns:a16="http://schemas.microsoft.com/office/drawing/2014/main" id="{1D579201-46F2-4131-8E6F-72C85D0429D7}"/>
                  </a:ext>
                </a:extLst>
              </p:cNvPr>
              <p:cNvSpPr>
                <a:spLocks/>
              </p:cNvSpPr>
              <p:nvPr/>
            </p:nvSpPr>
            <p:spPr bwMode="auto">
              <a:xfrm>
                <a:off x="15266988" y="15982950"/>
                <a:ext cx="847725" cy="639763"/>
              </a:xfrm>
              <a:custGeom>
                <a:avLst/>
                <a:gdLst>
                  <a:gd name="T0" fmla="*/ 0 w 154"/>
                  <a:gd name="T1" fmla="*/ 17 h 116"/>
                  <a:gd name="T2" fmla="*/ 0 w 154"/>
                  <a:gd name="T3" fmla="*/ 100 h 116"/>
                  <a:gd name="T4" fmla="*/ 16 w 154"/>
                  <a:gd name="T5" fmla="*/ 116 h 116"/>
                  <a:gd name="T6" fmla="*/ 154 w 154"/>
                  <a:gd name="T7" fmla="*/ 116 h 116"/>
                  <a:gd name="T8" fmla="*/ 154 w 154"/>
                  <a:gd name="T9" fmla="*/ 0 h 116"/>
                  <a:gd name="T10" fmla="*/ 16 w 154"/>
                  <a:gd name="T11" fmla="*/ 0 h 116"/>
                  <a:gd name="T12" fmla="*/ 0 w 154"/>
                  <a:gd name="T13" fmla="*/ 17 h 116"/>
                </a:gdLst>
                <a:ahLst/>
                <a:cxnLst>
                  <a:cxn ang="0">
                    <a:pos x="T0" y="T1"/>
                  </a:cxn>
                  <a:cxn ang="0">
                    <a:pos x="T2" y="T3"/>
                  </a:cxn>
                  <a:cxn ang="0">
                    <a:pos x="T4" y="T5"/>
                  </a:cxn>
                  <a:cxn ang="0">
                    <a:pos x="T6" y="T7"/>
                  </a:cxn>
                  <a:cxn ang="0">
                    <a:pos x="T8" y="T9"/>
                  </a:cxn>
                  <a:cxn ang="0">
                    <a:pos x="T10" y="T11"/>
                  </a:cxn>
                  <a:cxn ang="0">
                    <a:pos x="T12" y="T13"/>
                  </a:cxn>
                </a:cxnLst>
                <a:rect l="0" t="0" r="r" b="b"/>
                <a:pathLst>
                  <a:path w="154" h="116">
                    <a:moveTo>
                      <a:pt x="0" y="17"/>
                    </a:moveTo>
                    <a:cubicBezTo>
                      <a:pt x="0" y="100"/>
                      <a:pt x="0" y="100"/>
                      <a:pt x="0" y="100"/>
                    </a:cubicBezTo>
                    <a:cubicBezTo>
                      <a:pt x="0" y="108"/>
                      <a:pt x="7" y="116"/>
                      <a:pt x="16" y="116"/>
                    </a:cubicBezTo>
                    <a:cubicBezTo>
                      <a:pt x="154" y="116"/>
                      <a:pt x="154" y="116"/>
                      <a:pt x="154" y="116"/>
                    </a:cubicBezTo>
                    <a:cubicBezTo>
                      <a:pt x="154" y="0"/>
                      <a:pt x="154" y="0"/>
                      <a:pt x="154" y="0"/>
                    </a:cubicBezTo>
                    <a:cubicBezTo>
                      <a:pt x="16" y="0"/>
                      <a:pt x="16" y="0"/>
                      <a:pt x="16" y="0"/>
                    </a:cubicBezTo>
                    <a:cubicBezTo>
                      <a:pt x="7" y="0"/>
                      <a:pt x="0" y="8"/>
                      <a:pt x="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51" name="Freeform 138">
                <a:extLst>
                  <a:ext uri="{FF2B5EF4-FFF2-40B4-BE49-F238E27FC236}">
                    <a16:creationId xmlns:a16="http://schemas.microsoft.com/office/drawing/2014/main" id="{7547F712-9771-4793-909B-CE70ED2DFDDF}"/>
                  </a:ext>
                </a:extLst>
              </p:cNvPr>
              <p:cNvSpPr>
                <a:spLocks/>
              </p:cNvSpPr>
              <p:nvPr/>
            </p:nvSpPr>
            <p:spPr bwMode="auto">
              <a:xfrm>
                <a:off x="16152813" y="15663863"/>
                <a:ext cx="82550" cy="1277938"/>
              </a:xfrm>
              <a:custGeom>
                <a:avLst/>
                <a:gdLst>
                  <a:gd name="T0" fmla="*/ 11 w 15"/>
                  <a:gd name="T1" fmla="*/ 0 h 232"/>
                  <a:gd name="T2" fmla="*/ 4 w 15"/>
                  <a:gd name="T3" fmla="*/ 0 h 232"/>
                  <a:gd name="T4" fmla="*/ 0 w 15"/>
                  <a:gd name="T5" fmla="*/ 4 h 232"/>
                  <a:gd name="T6" fmla="*/ 0 w 15"/>
                  <a:gd name="T7" fmla="*/ 228 h 232"/>
                  <a:gd name="T8" fmla="*/ 4 w 15"/>
                  <a:gd name="T9" fmla="*/ 232 h 232"/>
                  <a:gd name="T10" fmla="*/ 11 w 15"/>
                  <a:gd name="T11" fmla="*/ 232 h 232"/>
                  <a:gd name="T12" fmla="*/ 15 w 15"/>
                  <a:gd name="T13" fmla="*/ 228 h 232"/>
                  <a:gd name="T14" fmla="*/ 15 w 15"/>
                  <a:gd name="T15" fmla="*/ 4 h 232"/>
                  <a:gd name="T16" fmla="*/ 11 w 15"/>
                  <a:gd name="T17"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232">
                    <a:moveTo>
                      <a:pt x="11" y="0"/>
                    </a:moveTo>
                    <a:cubicBezTo>
                      <a:pt x="4" y="0"/>
                      <a:pt x="4" y="0"/>
                      <a:pt x="4" y="0"/>
                    </a:cubicBezTo>
                    <a:cubicBezTo>
                      <a:pt x="2" y="0"/>
                      <a:pt x="0" y="2"/>
                      <a:pt x="0" y="4"/>
                    </a:cubicBezTo>
                    <a:cubicBezTo>
                      <a:pt x="0" y="228"/>
                      <a:pt x="0" y="228"/>
                      <a:pt x="0" y="228"/>
                    </a:cubicBezTo>
                    <a:cubicBezTo>
                      <a:pt x="0" y="230"/>
                      <a:pt x="2" y="232"/>
                      <a:pt x="4" y="232"/>
                    </a:cubicBezTo>
                    <a:cubicBezTo>
                      <a:pt x="11" y="232"/>
                      <a:pt x="11" y="232"/>
                      <a:pt x="11" y="232"/>
                    </a:cubicBezTo>
                    <a:cubicBezTo>
                      <a:pt x="13" y="232"/>
                      <a:pt x="15" y="230"/>
                      <a:pt x="15" y="228"/>
                    </a:cubicBezTo>
                    <a:cubicBezTo>
                      <a:pt x="15" y="4"/>
                      <a:pt x="15" y="4"/>
                      <a:pt x="15" y="4"/>
                    </a:cubicBezTo>
                    <a:cubicBezTo>
                      <a:pt x="15" y="2"/>
                      <a:pt x="13"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52" name="Freeform 139">
                <a:extLst>
                  <a:ext uri="{FF2B5EF4-FFF2-40B4-BE49-F238E27FC236}">
                    <a16:creationId xmlns:a16="http://schemas.microsoft.com/office/drawing/2014/main" id="{3AEB7572-08E4-46A8-8468-33C0EE3E8A6D}"/>
                  </a:ext>
                </a:extLst>
              </p:cNvPr>
              <p:cNvSpPr>
                <a:spLocks/>
              </p:cNvSpPr>
              <p:nvPr/>
            </p:nvSpPr>
            <p:spPr bwMode="auto">
              <a:xfrm>
                <a:off x="16275050" y="15663863"/>
                <a:ext cx="158750" cy="1277938"/>
              </a:xfrm>
              <a:custGeom>
                <a:avLst/>
                <a:gdLst>
                  <a:gd name="T0" fmla="*/ 21 w 29"/>
                  <a:gd name="T1" fmla="*/ 0 h 232"/>
                  <a:gd name="T2" fmla="*/ 8 w 29"/>
                  <a:gd name="T3" fmla="*/ 0 h 232"/>
                  <a:gd name="T4" fmla="*/ 0 w 29"/>
                  <a:gd name="T5" fmla="*/ 8 h 232"/>
                  <a:gd name="T6" fmla="*/ 0 w 29"/>
                  <a:gd name="T7" fmla="*/ 224 h 232"/>
                  <a:gd name="T8" fmla="*/ 8 w 29"/>
                  <a:gd name="T9" fmla="*/ 232 h 232"/>
                  <a:gd name="T10" fmla="*/ 21 w 29"/>
                  <a:gd name="T11" fmla="*/ 232 h 232"/>
                  <a:gd name="T12" fmla="*/ 29 w 29"/>
                  <a:gd name="T13" fmla="*/ 224 h 232"/>
                  <a:gd name="T14" fmla="*/ 29 w 29"/>
                  <a:gd name="T15" fmla="*/ 8 h 232"/>
                  <a:gd name="T16" fmla="*/ 21 w 29"/>
                  <a:gd name="T17"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32">
                    <a:moveTo>
                      <a:pt x="21" y="0"/>
                    </a:moveTo>
                    <a:cubicBezTo>
                      <a:pt x="8" y="0"/>
                      <a:pt x="8" y="0"/>
                      <a:pt x="8" y="0"/>
                    </a:cubicBezTo>
                    <a:cubicBezTo>
                      <a:pt x="4" y="0"/>
                      <a:pt x="0" y="4"/>
                      <a:pt x="0" y="8"/>
                    </a:cubicBezTo>
                    <a:cubicBezTo>
                      <a:pt x="0" y="224"/>
                      <a:pt x="0" y="224"/>
                      <a:pt x="0" y="224"/>
                    </a:cubicBezTo>
                    <a:cubicBezTo>
                      <a:pt x="0" y="229"/>
                      <a:pt x="4" y="232"/>
                      <a:pt x="8" y="232"/>
                    </a:cubicBezTo>
                    <a:cubicBezTo>
                      <a:pt x="21" y="232"/>
                      <a:pt x="21" y="232"/>
                      <a:pt x="21" y="232"/>
                    </a:cubicBezTo>
                    <a:cubicBezTo>
                      <a:pt x="25" y="232"/>
                      <a:pt x="29" y="229"/>
                      <a:pt x="29" y="224"/>
                    </a:cubicBezTo>
                    <a:cubicBezTo>
                      <a:pt x="29" y="8"/>
                      <a:pt x="29" y="8"/>
                      <a:pt x="29" y="8"/>
                    </a:cubicBezTo>
                    <a:cubicBezTo>
                      <a:pt x="29" y="4"/>
                      <a:pt x="25"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53" name="Freeform 140">
                <a:extLst>
                  <a:ext uri="{FF2B5EF4-FFF2-40B4-BE49-F238E27FC236}">
                    <a16:creationId xmlns:a16="http://schemas.microsoft.com/office/drawing/2014/main" id="{3261ABF7-7791-4729-BEDD-A84091D46FCC}"/>
                  </a:ext>
                </a:extLst>
              </p:cNvPr>
              <p:cNvSpPr>
                <a:spLocks/>
              </p:cNvSpPr>
              <p:nvPr/>
            </p:nvSpPr>
            <p:spPr bwMode="auto">
              <a:xfrm>
                <a:off x="16605250" y="14100175"/>
                <a:ext cx="858838" cy="604838"/>
              </a:xfrm>
              <a:custGeom>
                <a:avLst/>
                <a:gdLst>
                  <a:gd name="T0" fmla="*/ 0 w 156"/>
                  <a:gd name="T1" fmla="*/ 110 h 110"/>
                  <a:gd name="T2" fmla="*/ 78 w 156"/>
                  <a:gd name="T3" fmla="*/ 110 h 110"/>
                  <a:gd name="T4" fmla="*/ 156 w 156"/>
                  <a:gd name="T5" fmla="*/ 110 h 110"/>
                  <a:gd name="T6" fmla="*/ 144 w 156"/>
                  <a:gd name="T7" fmla="*/ 72 h 110"/>
                  <a:gd name="T8" fmla="*/ 112 w 156"/>
                  <a:gd name="T9" fmla="*/ 48 h 110"/>
                  <a:gd name="T10" fmla="*/ 109 w 156"/>
                  <a:gd name="T11" fmla="*/ 48 h 110"/>
                  <a:gd name="T12" fmla="*/ 104 w 156"/>
                  <a:gd name="T13" fmla="*/ 43 h 110"/>
                  <a:gd name="T14" fmla="*/ 104 w 156"/>
                  <a:gd name="T15" fmla="*/ 37 h 110"/>
                  <a:gd name="T16" fmla="*/ 109 w 156"/>
                  <a:gd name="T17" fmla="*/ 32 h 110"/>
                  <a:gd name="T18" fmla="*/ 121 w 156"/>
                  <a:gd name="T19" fmla="*/ 32 h 110"/>
                  <a:gd name="T20" fmla="*/ 134 w 156"/>
                  <a:gd name="T21" fmla="*/ 19 h 110"/>
                  <a:gd name="T22" fmla="*/ 134 w 156"/>
                  <a:gd name="T23" fmla="*/ 4 h 110"/>
                  <a:gd name="T24" fmla="*/ 129 w 156"/>
                  <a:gd name="T25" fmla="*/ 0 h 110"/>
                  <a:gd name="T26" fmla="*/ 78 w 156"/>
                  <a:gd name="T27" fmla="*/ 0 h 110"/>
                  <a:gd name="T28" fmla="*/ 27 w 156"/>
                  <a:gd name="T29" fmla="*/ 0 h 110"/>
                  <a:gd name="T30" fmla="*/ 22 w 156"/>
                  <a:gd name="T31" fmla="*/ 4 h 110"/>
                  <a:gd name="T32" fmla="*/ 22 w 156"/>
                  <a:gd name="T33" fmla="*/ 19 h 110"/>
                  <a:gd name="T34" fmla="*/ 35 w 156"/>
                  <a:gd name="T35" fmla="*/ 32 h 110"/>
                  <a:gd name="T36" fmla="*/ 47 w 156"/>
                  <a:gd name="T37" fmla="*/ 32 h 110"/>
                  <a:gd name="T38" fmla="*/ 52 w 156"/>
                  <a:gd name="T39" fmla="*/ 37 h 110"/>
                  <a:gd name="T40" fmla="*/ 52 w 156"/>
                  <a:gd name="T41" fmla="*/ 43 h 110"/>
                  <a:gd name="T42" fmla="*/ 47 w 156"/>
                  <a:gd name="T43" fmla="*/ 48 h 110"/>
                  <a:gd name="T44" fmla="*/ 44 w 156"/>
                  <a:gd name="T45" fmla="*/ 48 h 110"/>
                  <a:gd name="T46" fmla="*/ 12 w 156"/>
                  <a:gd name="T47" fmla="*/ 72 h 110"/>
                  <a:gd name="T48" fmla="*/ 0 w 156"/>
                  <a:gd name="T49"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10">
                    <a:moveTo>
                      <a:pt x="0" y="110"/>
                    </a:moveTo>
                    <a:cubicBezTo>
                      <a:pt x="78" y="110"/>
                      <a:pt x="78" y="110"/>
                      <a:pt x="78" y="110"/>
                    </a:cubicBezTo>
                    <a:cubicBezTo>
                      <a:pt x="156" y="110"/>
                      <a:pt x="156" y="110"/>
                      <a:pt x="156" y="110"/>
                    </a:cubicBezTo>
                    <a:cubicBezTo>
                      <a:pt x="144" y="72"/>
                      <a:pt x="144" y="72"/>
                      <a:pt x="144" y="72"/>
                    </a:cubicBezTo>
                    <a:cubicBezTo>
                      <a:pt x="140" y="58"/>
                      <a:pt x="127" y="48"/>
                      <a:pt x="112" y="48"/>
                    </a:cubicBezTo>
                    <a:cubicBezTo>
                      <a:pt x="109" y="48"/>
                      <a:pt x="109" y="48"/>
                      <a:pt x="109" y="48"/>
                    </a:cubicBezTo>
                    <a:cubicBezTo>
                      <a:pt x="106" y="48"/>
                      <a:pt x="104" y="46"/>
                      <a:pt x="104" y="43"/>
                    </a:cubicBezTo>
                    <a:cubicBezTo>
                      <a:pt x="104" y="37"/>
                      <a:pt x="104" y="37"/>
                      <a:pt x="104" y="37"/>
                    </a:cubicBezTo>
                    <a:cubicBezTo>
                      <a:pt x="104" y="34"/>
                      <a:pt x="106" y="32"/>
                      <a:pt x="109" y="32"/>
                    </a:cubicBezTo>
                    <a:cubicBezTo>
                      <a:pt x="121" y="32"/>
                      <a:pt x="121" y="32"/>
                      <a:pt x="121" y="32"/>
                    </a:cubicBezTo>
                    <a:cubicBezTo>
                      <a:pt x="128" y="32"/>
                      <a:pt x="134" y="26"/>
                      <a:pt x="134" y="19"/>
                    </a:cubicBezTo>
                    <a:cubicBezTo>
                      <a:pt x="134" y="4"/>
                      <a:pt x="134" y="4"/>
                      <a:pt x="134" y="4"/>
                    </a:cubicBezTo>
                    <a:cubicBezTo>
                      <a:pt x="134" y="2"/>
                      <a:pt x="132" y="0"/>
                      <a:pt x="129" y="0"/>
                    </a:cubicBezTo>
                    <a:cubicBezTo>
                      <a:pt x="78" y="0"/>
                      <a:pt x="78" y="0"/>
                      <a:pt x="78" y="0"/>
                    </a:cubicBezTo>
                    <a:cubicBezTo>
                      <a:pt x="27" y="0"/>
                      <a:pt x="27" y="0"/>
                      <a:pt x="27" y="0"/>
                    </a:cubicBezTo>
                    <a:cubicBezTo>
                      <a:pt x="24" y="0"/>
                      <a:pt x="22" y="2"/>
                      <a:pt x="22" y="4"/>
                    </a:cubicBezTo>
                    <a:cubicBezTo>
                      <a:pt x="22" y="19"/>
                      <a:pt x="22" y="19"/>
                      <a:pt x="22" y="19"/>
                    </a:cubicBezTo>
                    <a:cubicBezTo>
                      <a:pt x="22" y="26"/>
                      <a:pt x="28" y="32"/>
                      <a:pt x="35" y="32"/>
                    </a:cubicBezTo>
                    <a:cubicBezTo>
                      <a:pt x="47" y="32"/>
                      <a:pt x="47" y="32"/>
                      <a:pt x="47" y="32"/>
                    </a:cubicBezTo>
                    <a:cubicBezTo>
                      <a:pt x="49" y="32"/>
                      <a:pt x="52" y="34"/>
                      <a:pt x="52" y="37"/>
                    </a:cubicBezTo>
                    <a:cubicBezTo>
                      <a:pt x="52" y="43"/>
                      <a:pt x="52" y="43"/>
                      <a:pt x="52" y="43"/>
                    </a:cubicBezTo>
                    <a:cubicBezTo>
                      <a:pt x="52" y="46"/>
                      <a:pt x="49" y="48"/>
                      <a:pt x="47" y="48"/>
                    </a:cubicBezTo>
                    <a:cubicBezTo>
                      <a:pt x="44" y="48"/>
                      <a:pt x="44" y="48"/>
                      <a:pt x="44" y="48"/>
                    </a:cubicBezTo>
                    <a:cubicBezTo>
                      <a:pt x="29" y="48"/>
                      <a:pt x="16" y="58"/>
                      <a:pt x="12" y="72"/>
                    </a:cubicBezTo>
                    <a:lnTo>
                      <a:pt x="0" y="1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54" name="Freeform 141">
                <a:extLst>
                  <a:ext uri="{FF2B5EF4-FFF2-40B4-BE49-F238E27FC236}">
                    <a16:creationId xmlns:a16="http://schemas.microsoft.com/office/drawing/2014/main" id="{1D20DA6F-90B1-4209-9979-31F0019B3ED0}"/>
                  </a:ext>
                </a:extLst>
              </p:cNvPr>
              <p:cNvSpPr>
                <a:spLocks/>
              </p:cNvSpPr>
              <p:nvPr/>
            </p:nvSpPr>
            <p:spPr bwMode="auto">
              <a:xfrm>
                <a:off x="16897350" y="13923963"/>
                <a:ext cx="269875" cy="131763"/>
              </a:xfrm>
              <a:custGeom>
                <a:avLst/>
                <a:gdLst>
                  <a:gd name="T0" fmla="*/ 0 w 170"/>
                  <a:gd name="T1" fmla="*/ 0 h 83"/>
                  <a:gd name="T2" fmla="*/ 0 w 170"/>
                  <a:gd name="T3" fmla="*/ 83 h 83"/>
                  <a:gd name="T4" fmla="*/ 86 w 170"/>
                  <a:gd name="T5" fmla="*/ 83 h 83"/>
                  <a:gd name="T6" fmla="*/ 170 w 170"/>
                  <a:gd name="T7" fmla="*/ 83 h 83"/>
                  <a:gd name="T8" fmla="*/ 170 w 170"/>
                  <a:gd name="T9" fmla="*/ 0 h 83"/>
                  <a:gd name="T10" fmla="*/ 86 w 170"/>
                  <a:gd name="T11" fmla="*/ 0 h 83"/>
                  <a:gd name="T12" fmla="*/ 0 w 170"/>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170" h="83">
                    <a:moveTo>
                      <a:pt x="0" y="0"/>
                    </a:moveTo>
                    <a:lnTo>
                      <a:pt x="0" y="83"/>
                    </a:lnTo>
                    <a:lnTo>
                      <a:pt x="86" y="83"/>
                    </a:lnTo>
                    <a:lnTo>
                      <a:pt x="170" y="83"/>
                    </a:lnTo>
                    <a:lnTo>
                      <a:pt x="170" y="0"/>
                    </a:lnTo>
                    <a:lnTo>
                      <a:pt x="86"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55" name="Freeform 142">
                <a:extLst>
                  <a:ext uri="{FF2B5EF4-FFF2-40B4-BE49-F238E27FC236}">
                    <a16:creationId xmlns:a16="http://schemas.microsoft.com/office/drawing/2014/main" id="{D98E8033-F6CE-4A44-B071-33D39F040A61}"/>
                  </a:ext>
                </a:extLst>
              </p:cNvPr>
              <p:cNvSpPr>
                <a:spLocks/>
              </p:cNvSpPr>
              <p:nvPr/>
            </p:nvSpPr>
            <p:spPr bwMode="auto">
              <a:xfrm>
                <a:off x="16687800" y="13835063"/>
                <a:ext cx="693738" cy="44450"/>
              </a:xfrm>
              <a:custGeom>
                <a:avLst/>
                <a:gdLst>
                  <a:gd name="T0" fmla="*/ 0 w 126"/>
                  <a:gd name="T1" fmla="*/ 2 h 8"/>
                  <a:gd name="T2" fmla="*/ 0 w 126"/>
                  <a:gd name="T3" fmla="*/ 6 h 8"/>
                  <a:gd name="T4" fmla="*/ 2 w 126"/>
                  <a:gd name="T5" fmla="*/ 8 h 8"/>
                  <a:gd name="T6" fmla="*/ 63 w 126"/>
                  <a:gd name="T7" fmla="*/ 8 h 8"/>
                  <a:gd name="T8" fmla="*/ 123 w 126"/>
                  <a:gd name="T9" fmla="*/ 8 h 8"/>
                  <a:gd name="T10" fmla="*/ 126 w 126"/>
                  <a:gd name="T11" fmla="*/ 6 h 8"/>
                  <a:gd name="T12" fmla="*/ 126 w 126"/>
                  <a:gd name="T13" fmla="*/ 2 h 8"/>
                  <a:gd name="T14" fmla="*/ 123 w 126"/>
                  <a:gd name="T15" fmla="*/ 0 h 8"/>
                  <a:gd name="T16" fmla="*/ 63 w 126"/>
                  <a:gd name="T17" fmla="*/ 0 h 8"/>
                  <a:gd name="T18" fmla="*/ 2 w 126"/>
                  <a:gd name="T19" fmla="*/ 0 h 8"/>
                  <a:gd name="T20" fmla="*/ 0 w 126"/>
                  <a:gd name="T21" fmla="*/ 2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8">
                    <a:moveTo>
                      <a:pt x="0" y="2"/>
                    </a:moveTo>
                    <a:cubicBezTo>
                      <a:pt x="0" y="6"/>
                      <a:pt x="0" y="6"/>
                      <a:pt x="0" y="6"/>
                    </a:cubicBezTo>
                    <a:cubicBezTo>
                      <a:pt x="0" y="7"/>
                      <a:pt x="1" y="8"/>
                      <a:pt x="2" y="8"/>
                    </a:cubicBezTo>
                    <a:cubicBezTo>
                      <a:pt x="63" y="8"/>
                      <a:pt x="63" y="8"/>
                      <a:pt x="63" y="8"/>
                    </a:cubicBezTo>
                    <a:cubicBezTo>
                      <a:pt x="123" y="8"/>
                      <a:pt x="123" y="8"/>
                      <a:pt x="123" y="8"/>
                    </a:cubicBezTo>
                    <a:cubicBezTo>
                      <a:pt x="125" y="8"/>
                      <a:pt x="126" y="7"/>
                      <a:pt x="126" y="6"/>
                    </a:cubicBezTo>
                    <a:cubicBezTo>
                      <a:pt x="126" y="2"/>
                      <a:pt x="126" y="2"/>
                      <a:pt x="126" y="2"/>
                    </a:cubicBezTo>
                    <a:cubicBezTo>
                      <a:pt x="126" y="1"/>
                      <a:pt x="125" y="0"/>
                      <a:pt x="123" y="0"/>
                    </a:cubicBezTo>
                    <a:cubicBezTo>
                      <a:pt x="63" y="0"/>
                      <a:pt x="63" y="0"/>
                      <a:pt x="63" y="0"/>
                    </a:cubicBezTo>
                    <a:cubicBezTo>
                      <a:pt x="2" y="0"/>
                      <a:pt x="2" y="0"/>
                      <a:pt x="2" y="0"/>
                    </a:cubicBezTo>
                    <a:cubicBezTo>
                      <a:pt x="1"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56" name="Rectangle 143">
                <a:extLst>
                  <a:ext uri="{FF2B5EF4-FFF2-40B4-BE49-F238E27FC236}">
                    <a16:creationId xmlns:a16="http://schemas.microsoft.com/office/drawing/2014/main" id="{806DE30E-16CA-4999-8056-FE708B6EA027}"/>
                  </a:ext>
                </a:extLst>
              </p:cNvPr>
              <p:cNvSpPr>
                <a:spLocks noChangeArrowheads="1"/>
              </p:cNvSpPr>
              <p:nvPr/>
            </p:nvSpPr>
            <p:spPr bwMode="auto">
              <a:xfrm>
                <a:off x="16930688" y="13620750"/>
                <a:ext cx="203200" cy="176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57" name="Freeform 144">
                <a:extLst>
                  <a:ext uri="{FF2B5EF4-FFF2-40B4-BE49-F238E27FC236}">
                    <a16:creationId xmlns:a16="http://schemas.microsoft.com/office/drawing/2014/main" id="{EEA8B023-FEA6-445A-B2AF-175D0014065B}"/>
                  </a:ext>
                </a:extLst>
              </p:cNvPr>
              <p:cNvSpPr>
                <a:spLocks/>
              </p:cNvSpPr>
              <p:nvPr/>
            </p:nvSpPr>
            <p:spPr bwMode="auto">
              <a:xfrm>
                <a:off x="16048038" y="15730538"/>
                <a:ext cx="66675" cy="136525"/>
              </a:xfrm>
              <a:custGeom>
                <a:avLst/>
                <a:gdLst>
                  <a:gd name="T0" fmla="*/ 9 w 12"/>
                  <a:gd name="T1" fmla="*/ 0 h 25"/>
                  <a:gd name="T2" fmla="*/ 2 w 12"/>
                  <a:gd name="T3" fmla="*/ 0 h 25"/>
                  <a:gd name="T4" fmla="*/ 0 w 12"/>
                  <a:gd name="T5" fmla="*/ 3 h 25"/>
                  <a:gd name="T6" fmla="*/ 0 w 12"/>
                  <a:gd name="T7" fmla="*/ 22 h 25"/>
                  <a:gd name="T8" fmla="*/ 2 w 12"/>
                  <a:gd name="T9" fmla="*/ 25 h 25"/>
                  <a:gd name="T10" fmla="*/ 9 w 12"/>
                  <a:gd name="T11" fmla="*/ 25 h 25"/>
                  <a:gd name="T12" fmla="*/ 12 w 12"/>
                  <a:gd name="T13" fmla="*/ 22 h 25"/>
                  <a:gd name="T14" fmla="*/ 12 w 12"/>
                  <a:gd name="T15" fmla="*/ 3 h 25"/>
                  <a:gd name="T16" fmla="*/ 9 w 12"/>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9" y="0"/>
                    </a:moveTo>
                    <a:cubicBezTo>
                      <a:pt x="2" y="0"/>
                      <a:pt x="2" y="0"/>
                      <a:pt x="2" y="0"/>
                    </a:cubicBezTo>
                    <a:cubicBezTo>
                      <a:pt x="1" y="0"/>
                      <a:pt x="0" y="2"/>
                      <a:pt x="0" y="3"/>
                    </a:cubicBezTo>
                    <a:cubicBezTo>
                      <a:pt x="0" y="22"/>
                      <a:pt x="0" y="22"/>
                      <a:pt x="0" y="22"/>
                    </a:cubicBezTo>
                    <a:cubicBezTo>
                      <a:pt x="0" y="24"/>
                      <a:pt x="1" y="25"/>
                      <a:pt x="2" y="25"/>
                    </a:cubicBezTo>
                    <a:cubicBezTo>
                      <a:pt x="9" y="25"/>
                      <a:pt x="9" y="25"/>
                      <a:pt x="9" y="25"/>
                    </a:cubicBezTo>
                    <a:cubicBezTo>
                      <a:pt x="10" y="25"/>
                      <a:pt x="12" y="24"/>
                      <a:pt x="12" y="22"/>
                    </a:cubicBezTo>
                    <a:cubicBezTo>
                      <a:pt x="12" y="3"/>
                      <a:pt x="12" y="3"/>
                      <a:pt x="12" y="3"/>
                    </a:cubicBezTo>
                    <a:cubicBezTo>
                      <a:pt x="12" y="2"/>
                      <a:pt x="10"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58" name="Freeform 145">
                <a:extLst>
                  <a:ext uri="{FF2B5EF4-FFF2-40B4-BE49-F238E27FC236}">
                    <a16:creationId xmlns:a16="http://schemas.microsoft.com/office/drawing/2014/main" id="{BFE89D30-4B9C-49AF-9B3E-971CD95F090F}"/>
                  </a:ext>
                </a:extLst>
              </p:cNvPr>
              <p:cNvSpPr>
                <a:spLocks/>
              </p:cNvSpPr>
              <p:nvPr/>
            </p:nvSpPr>
            <p:spPr bwMode="auto">
              <a:xfrm>
                <a:off x="16400463" y="15139988"/>
                <a:ext cx="138113" cy="66675"/>
              </a:xfrm>
              <a:custGeom>
                <a:avLst/>
                <a:gdLst>
                  <a:gd name="T0" fmla="*/ 25 w 25"/>
                  <a:gd name="T1" fmla="*/ 9 h 12"/>
                  <a:gd name="T2" fmla="*/ 25 w 25"/>
                  <a:gd name="T3" fmla="*/ 2 h 12"/>
                  <a:gd name="T4" fmla="*/ 22 w 25"/>
                  <a:gd name="T5" fmla="*/ 0 h 12"/>
                  <a:gd name="T6" fmla="*/ 3 w 25"/>
                  <a:gd name="T7" fmla="*/ 0 h 12"/>
                  <a:gd name="T8" fmla="*/ 0 w 25"/>
                  <a:gd name="T9" fmla="*/ 2 h 12"/>
                  <a:gd name="T10" fmla="*/ 0 w 25"/>
                  <a:gd name="T11" fmla="*/ 9 h 12"/>
                  <a:gd name="T12" fmla="*/ 3 w 25"/>
                  <a:gd name="T13" fmla="*/ 12 h 12"/>
                  <a:gd name="T14" fmla="*/ 22 w 25"/>
                  <a:gd name="T15" fmla="*/ 12 h 12"/>
                  <a:gd name="T16" fmla="*/ 25 w 25"/>
                  <a:gd name="T17" fmla="*/ 9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2">
                    <a:moveTo>
                      <a:pt x="25" y="9"/>
                    </a:moveTo>
                    <a:cubicBezTo>
                      <a:pt x="25" y="2"/>
                      <a:pt x="25" y="2"/>
                      <a:pt x="25" y="2"/>
                    </a:cubicBezTo>
                    <a:cubicBezTo>
                      <a:pt x="25" y="1"/>
                      <a:pt x="23" y="0"/>
                      <a:pt x="22" y="0"/>
                    </a:cubicBezTo>
                    <a:cubicBezTo>
                      <a:pt x="3" y="0"/>
                      <a:pt x="3" y="0"/>
                      <a:pt x="3" y="0"/>
                    </a:cubicBezTo>
                    <a:cubicBezTo>
                      <a:pt x="1" y="0"/>
                      <a:pt x="0" y="1"/>
                      <a:pt x="0" y="2"/>
                    </a:cubicBezTo>
                    <a:cubicBezTo>
                      <a:pt x="0" y="9"/>
                      <a:pt x="0" y="9"/>
                      <a:pt x="0" y="9"/>
                    </a:cubicBezTo>
                    <a:cubicBezTo>
                      <a:pt x="0" y="10"/>
                      <a:pt x="1" y="12"/>
                      <a:pt x="3" y="12"/>
                    </a:cubicBezTo>
                    <a:cubicBezTo>
                      <a:pt x="22" y="12"/>
                      <a:pt x="22" y="12"/>
                      <a:pt x="22" y="12"/>
                    </a:cubicBezTo>
                    <a:cubicBezTo>
                      <a:pt x="23" y="12"/>
                      <a:pt x="25" y="10"/>
                      <a:pt x="2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59" name="Freeform 146">
                <a:extLst>
                  <a:ext uri="{FF2B5EF4-FFF2-40B4-BE49-F238E27FC236}">
                    <a16:creationId xmlns:a16="http://schemas.microsoft.com/office/drawing/2014/main" id="{EA4661E3-4C17-4038-AC52-D15115B84331}"/>
                  </a:ext>
                </a:extLst>
              </p:cNvPr>
              <p:cNvSpPr>
                <a:spLocks/>
              </p:cNvSpPr>
              <p:nvPr/>
            </p:nvSpPr>
            <p:spPr bwMode="auto">
              <a:xfrm>
                <a:off x="16473488" y="15730538"/>
                <a:ext cx="65088" cy="136525"/>
              </a:xfrm>
              <a:custGeom>
                <a:avLst/>
                <a:gdLst>
                  <a:gd name="T0" fmla="*/ 3 w 12"/>
                  <a:gd name="T1" fmla="*/ 25 h 25"/>
                  <a:gd name="T2" fmla="*/ 9 w 12"/>
                  <a:gd name="T3" fmla="*/ 25 h 25"/>
                  <a:gd name="T4" fmla="*/ 12 w 12"/>
                  <a:gd name="T5" fmla="*/ 22 h 25"/>
                  <a:gd name="T6" fmla="*/ 12 w 12"/>
                  <a:gd name="T7" fmla="*/ 3 h 25"/>
                  <a:gd name="T8" fmla="*/ 9 w 12"/>
                  <a:gd name="T9" fmla="*/ 0 h 25"/>
                  <a:gd name="T10" fmla="*/ 3 w 12"/>
                  <a:gd name="T11" fmla="*/ 0 h 25"/>
                  <a:gd name="T12" fmla="*/ 0 w 12"/>
                  <a:gd name="T13" fmla="*/ 3 h 25"/>
                  <a:gd name="T14" fmla="*/ 0 w 12"/>
                  <a:gd name="T15" fmla="*/ 22 h 25"/>
                  <a:gd name="T16" fmla="*/ 3 w 12"/>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3" y="25"/>
                    </a:moveTo>
                    <a:cubicBezTo>
                      <a:pt x="9" y="25"/>
                      <a:pt x="9" y="25"/>
                      <a:pt x="9" y="25"/>
                    </a:cubicBezTo>
                    <a:cubicBezTo>
                      <a:pt x="11" y="25"/>
                      <a:pt x="12" y="24"/>
                      <a:pt x="12" y="22"/>
                    </a:cubicBezTo>
                    <a:cubicBezTo>
                      <a:pt x="12" y="3"/>
                      <a:pt x="12" y="3"/>
                      <a:pt x="12" y="3"/>
                    </a:cubicBezTo>
                    <a:cubicBezTo>
                      <a:pt x="12" y="2"/>
                      <a:pt x="11" y="0"/>
                      <a:pt x="9" y="0"/>
                    </a:cubicBezTo>
                    <a:cubicBezTo>
                      <a:pt x="3" y="0"/>
                      <a:pt x="3" y="0"/>
                      <a:pt x="3" y="0"/>
                    </a:cubicBezTo>
                    <a:cubicBezTo>
                      <a:pt x="1" y="0"/>
                      <a:pt x="0" y="2"/>
                      <a:pt x="0" y="3"/>
                    </a:cubicBezTo>
                    <a:cubicBezTo>
                      <a:pt x="0" y="22"/>
                      <a:pt x="0" y="22"/>
                      <a:pt x="0" y="22"/>
                    </a:cubicBezTo>
                    <a:cubicBezTo>
                      <a:pt x="0" y="24"/>
                      <a:pt x="1" y="25"/>
                      <a:pt x="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60" name="Freeform 147">
                <a:extLst>
                  <a:ext uri="{FF2B5EF4-FFF2-40B4-BE49-F238E27FC236}">
                    <a16:creationId xmlns:a16="http://schemas.microsoft.com/office/drawing/2014/main" id="{BF4A0E0B-50BA-4451-BB4C-57426CD51385}"/>
                  </a:ext>
                </a:extLst>
              </p:cNvPr>
              <p:cNvSpPr>
                <a:spLocks/>
              </p:cNvSpPr>
              <p:nvPr/>
            </p:nvSpPr>
            <p:spPr bwMode="auto">
              <a:xfrm>
                <a:off x="16549688" y="15757525"/>
                <a:ext cx="49213" cy="82550"/>
              </a:xfrm>
              <a:custGeom>
                <a:avLst/>
                <a:gdLst>
                  <a:gd name="T0" fmla="*/ 0 w 9"/>
                  <a:gd name="T1" fmla="*/ 0 h 15"/>
                  <a:gd name="T2" fmla="*/ 0 w 9"/>
                  <a:gd name="T3" fmla="*/ 15 h 15"/>
                  <a:gd name="T4" fmla="*/ 7 w 9"/>
                  <a:gd name="T5" fmla="*/ 15 h 15"/>
                  <a:gd name="T6" fmla="*/ 9 w 9"/>
                  <a:gd name="T7" fmla="*/ 13 h 15"/>
                  <a:gd name="T8" fmla="*/ 9 w 9"/>
                  <a:gd name="T9" fmla="*/ 3 h 15"/>
                  <a:gd name="T10" fmla="*/ 7 w 9"/>
                  <a:gd name="T11" fmla="*/ 0 h 15"/>
                  <a:gd name="T12" fmla="*/ 0 w 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9" h="15">
                    <a:moveTo>
                      <a:pt x="0" y="0"/>
                    </a:moveTo>
                    <a:cubicBezTo>
                      <a:pt x="0" y="15"/>
                      <a:pt x="0" y="15"/>
                      <a:pt x="0" y="15"/>
                    </a:cubicBezTo>
                    <a:cubicBezTo>
                      <a:pt x="7" y="15"/>
                      <a:pt x="7" y="15"/>
                      <a:pt x="7" y="15"/>
                    </a:cubicBezTo>
                    <a:cubicBezTo>
                      <a:pt x="8" y="15"/>
                      <a:pt x="9" y="14"/>
                      <a:pt x="9" y="13"/>
                    </a:cubicBezTo>
                    <a:cubicBezTo>
                      <a:pt x="9" y="3"/>
                      <a:pt x="9" y="3"/>
                      <a:pt x="9" y="3"/>
                    </a:cubicBezTo>
                    <a:cubicBezTo>
                      <a:pt x="9" y="1"/>
                      <a:pt x="8" y="0"/>
                      <a:pt x="7"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61" name="Freeform 148">
                <a:extLst>
                  <a:ext uri="{FF2B5EF4-FFF2-40B4-BE49-F238E27FC236}">
                    <a16:creationId xmlns:a16="http://schemas.microsoft.com/office/drawing/2014/main" id="{FD2E32C0-019F-4334-AAB4-08772D2021A8}"/>
                  </a:ext>
                </a:extLst>
              </p:cNvPr>
              <p:cNvSpPr>
                <a:spLocks/>
              </p:cNvSpPr>
              <p:nvPr/>
            </p:nvSpPr>
            <p:spPr bwMode="auto">
              <a:xfrm>
                <a:off x="16400463" y="14639925"/>
                <a:ext cx="138113" cy="65088"/>
              </a:xfrm>
              <a:custGeom>
                <a:avLst/>
                <a:gdLst>
                  <a:gd name="T0" fmla="*/ 0 w 25"/>
                  <a:gd name="T1" fmla="*/ 3 h 12"/>
                  <a:gd name="T2" fmla="*/ 0 w 25"/>
                  <a:gd name="T3" fmla="*/ 9 h 12"/>
                  <a:gd name="T4" fmla="*/ 3 w 25"/>
                  <a:gd name="T5" fmla="*/ 12 h 12"/>
                  <a:gd name="T6" fmla="*/ 22 w 25"/>
                  <a:gd name="T7" fmla="*/ 12 h 12"/>
                  <a:gd name="T8" fmla="*/ 25 w 25"/>
                  <a:gd name="T9" fmla="*/ 9 h 12"/>
                  <a:gd name="T10" fmla="*/ 25 w 25"/>
                  <a:gd name="T11" fmla="*/ 3 h 12"/>
                  <a:gd name="T12" fmla="*/ 22 w 25"/>
                  <a:gd name="T13" fmla="*/ 0 h 12"/>
                  <a:gd name="T14" fmla="*/ 3 w 25"/>
                  <a:gd name="T15" fmla="*/ 0 h 12"/>
                  <a:gd name="T16" fmla="*/ 0 w 25"/>
                  <a:gd name="T17" fmla="*/ 3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2">
                    <a:moveTo>
                      <a:pt x="0" y="3"/>
                    </a:moveTo>
                    <a:cubicBezTo>
                      <a:pt x="0" y="9"/>
                      <a:pt x="0" y="9"/>
                      <a:pt x="0" y="9"/>
                    </a:cubicBezTo>
                    <a:cubicBezTo>
                      <a:pt x="0" y="11"/>
                      <a:pt x="1" y="12"/>
                      <a:pt x="3" y="12"/>
                    </a:cubicBezTo>
                    <a:cubicBezTo>
                      <a:pt x="22" y="12"/>
                      <a:pt x="22" y="12"/>
                      <a:pt x="22" y="12"/>
                    </a:cubicBezTo>
                    <a:cubicBezTo>
                      <a:pt x="23" y="12"/>
                      <a:pt x="25" y="11"/>
                      <a:pt x="25" y="9"/>
                    </a:cubicBezTo>
                    <a:cubicBezTo>
                      <a:pt x="25" y="3"/>
                      <a:pt x="25" y="3"/>
                      <a:pt x="25" y="3"/>
                    </a:cubicBezTo>
                    <a:cubicBezTo>
                      <a:pt x="25" y="1"/>
                      <a:pt x="23" y="0"/>
                      <a:pt x="22" y="0"/>
                    </a:cubicBezTo>
                    <a:cubicBezTo>
                      <a:pt x="3" y="0"/>
                      <a:pt x="3" y="0"/>
                      <a:pt x="3" y="0"/>
                    </a:cubicBezTo>
                    <a:cubicBezTo>
                      <a:pt x="1" y="0"/>
                      <a:pt x="0" y="1"/>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62" name="Freeform 149">
                <a:extLst>
                  <a:ext uri="{FF2B5EF4-FFF2-40B4-BE49-F238E27FC236}">
                    <a16:creationId xmlns:a16="http://schemas.microsoft.com/office/drawing/2014/main" id="{0E1A9C1B-553B-4F92-80A9-88B0DD905656}"/>
                  </a:ext>
                </a:extLst>
              </p:cNvPr>
              <p:cNvSpPr>
                <a:spLocks/>
              </p:cNvSpPr>
              <p:nvPr/>
            </p:nvSpPr>
            <p:spPr bwMode="auto">
              <a:xfrm>
                <a:off x="16429038" y="14578013"/>
                <a:ext cx="82550" cy="50800"/>
              </a:xfrm>
              <a:custGeom>
                <a:avLst/>
                <a:gdLst>
                  <a:gd name="T0" fmla="*/ 12 w 15"/>
                  <a:gd name="T1" fmla="*/ 0 h 9"/>
                  <a:gd name="T2" fmla="*/ 2 w 15"/>
                  <a:gd name="T3" fmla="*/ 0 h 9"/>
                  <a:gd name="T4" fmla="*/ 0 w 15"/>
                  <a:gd name="T5" fmla="*/ 2 h 9"/>
                  <a:gd name="T6" fmla="*/ 0 w 15"/>
                  <a:gd name="T7" fmla="*/ 9 h 9"/>
                  <a:gd name="T8" fmla="*/ 15 w 15"/>
                  <a:gd name="T9" fmla="*/ 9 h 9"/>
                  <a:gd name="T10" fmla="*/ 15 w 15"/>
                  <a:gd name="T11" fmla="*/ 2 h 9"/>
                  <a:gd name="T12" fmla="*/ 12 w 1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 h="9">
                    <a:moveTo>
                      <a:pt x="12" y="0"/>
                    </a:moveTo>
                    <a:cubicBezTo>
                      <a:pt x="2" y="0"/>
                      <a:pt x="2" y="0"/>
                      <a:pt x="2" y="0"/>
                    </a:cubicBezTo>
                    <a:cubicBezTo>
                      <a:pt x="1" y="0"/>
                      <a:pt x="0" y="1"/>
                      <a:pt x="0" y="2"/>
                    </a:cubicBezTo>
                    <a:cubicBezTo>
                      <a:pt x="0" y="9"/>
                      <a:pt x="0" y="9"/>
                      <a:pt x="0" y="9"/>
                    </a:cubicBezTo>
                    <a:cubicBezTo>
                      <a:pt x="15" y="9"/>
                      <a:pt x="15" y="9"/>
                      <a:pt x="15" y="9"/>
                    </a:cubicBezTo>
                    <a:cubicBezTo>
                      <a:pt x="15" y="2"/>
                      <a:pt x="15" y="2"/>
                      <a:pt x="15" y="2"/>
                    </a:cubicBezTo>
                    <a:cubicBezTo>
                      <a:pt x="15" y="1"/>
                      <a:pt x="14"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63" name="Freeform 150">
                <a:extLst>
                  <a:ext uri="{FF2B5EF4-FFF2-40B4-BE49-F238E27FC236}">
                    <a16:creationId xmlns:a16="http://schemas.microsoft.com/office/drawing/2014/main" id="{79B7C842-96CA-44A5-891D-A944AC829392}"/>
                  </a:ext>
                </a:extLst>
              </p:cNvPr>
              <p:cNvSpPr>
                <a:spLocks/>
              </p:cNvSpPr>
              <p:nvPr/>
            </p:nvSpPr>
            <p:spPr bwMode="auto">
              <a:xfrm>
                <a:off x="16743363" y="13757275"/>
                <a:ext cx="71438" cy="39688"/>
              </a:xfrm>
              <a:custGeom>
                <a:avLst/>
                <a:gdLst>
                  <a:gd name="T0" fmla="*/ 0 w 13"/>
                  <a:gd name="T1" fmla="*/ 2 h 7"/>
                  <a:gd name="T2" fmla="*/ 0 w 13"/>
                  <a:gd name="T3" fmla="*/ 5 h 7"/>
                  <a:gd name="T4" fmla="*/ 1 w 13"/>
                  <a:gd name="T5" fmla="*/ 7 h 7"/>
                  <a:gd name="T6" fmla="*/ 11 w 13"/>
                  <a:gd name="T7" fmla="*/ 7 h 7"/>
                  <a:gd name="T8" fmla="*/ 13 w 13"/>
                  <a:gd name="T9" fmla="*/ 5 h 7"/>
                  <a:gd name="T10" fmla="*/ 13 w 13"/>
                  <a:gd name="T11" fmla="*/ 2 h 7"/>
                  <a:gd name="T12" fmla="*/ 11 w 13"/>
                  <a:gd name="T13" fmla="*/ 0 h 7"/>
                  <a:gd name="T14" fmla="*/ 1 w 13"/>
                  <a:gd name="T15" fmla="*/ 0 h 7"/>
                  <a:gd name="T16" fmla="*/ 0 w 13"/>
                  <a:gd name="T17"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7">
                    <a:moveTo>
                      <a:pt x="0" y="2"/>
                    </a:moveTo>
                    <a:cubicBezTo>
                      <a:pt x="0" y="5"/>
                      <a:pt x="0" y="5"/>
                      <a:pt x="0" y="5"/>
                    </a:cubicBezTo>
                    <a:cubicBezTo>
                      <a:pt x="0" y="6"/>
                      <a:pt x="0" y="7"/>
                      <a:pt x="1" y="7"/>
                    </a:cubicBezTo>
                    <a:cubicBezTo>
                      <a:pt x="11" y="7"/>
                      <a:pt x="11" y="7"/>
                      <a:pt x="11" y="7"/>
                    </a:cubicBezTo>
                    <a:cubicBezTo>
                      <a:pt x="12" y="7"/>
                      <a:pt x="13" y="6"/>
                      <a:pt x="13" y="5"/>
                    </a:cubicBezTo>
                    <a:cubicBezTo>
                      <a:pt x="13" y="2"/>
                      <a:pt x="13" y="2"/>
                      <a:pt x="13" y="2"/>
                    </a:cubicBezTo>
                    <a:cubicBezTo>
                      <a:pt x="13" y="1"/>
                      <a:pt x="12" y="0"/>
                      <a:pt x="11" y="0"/>
                    </a:cubicBezTo>
                    <a:cubicBezTo>
                      <a:pt x="1" y="0"/>
                      <a:pt x="1" y="0"/>
                      <a:pt x="1" y="0"/>
                    </a:cubicBezTo>
                    <a:cubicBezTo>
                      <a:pt x="0"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64" name="Freeform 151">
                <a:extLst>
                  <a:ext uri="{FF2B5EF4-FFF2-40B4-BE49-F238E27FC236}">
                    <a16:creationId xmlns:a16="http://schemas.microsoft.com/office/drawing/2014/main" id="{E0F45B5A-4C0D-499D-BB7A-95D1B82B800B}"/>
                  </a:ext>
                </a:extLst>
              </p:cNvPr>
              <p:cNvSpPr>
                <a:spLocks/>
              </p:cNvSpPr>
              <p:nvPr/>
            </p:nvSpPr>
            <p:spPr bwMode="auto">
              <a:xfrm>
                <a:off x="16752888" y="13725525"/>
                <a:ext cx="44450" cy="26988"/>
              </a:xfrm>
              <a:custGeom>
                <a:avLst/>
                <a:gdLst>
                  <a:gd name="T0" fmla="*/ 7 w 8"/>
                  <a:gd name="T1" fmla="*/ 0 h 5"/>
                  <a:gd name="T2" fmla="*/ 2 w 8"/>
                  <a:gd name="T3" fmla="*/ 0 h 5"/>
                  <a:gd name="T4" fmla="*/ 0 w 8"/>
                  <a:gd name="T5" fmla="*/ 1 h 5"/>
                  <a:gd name="T6" fmla="*/ 0 w 8"/>
                  <a:gd name="T7" fmla="*/ 5 h 5"/>
                  <a:gd name="T8" fmla="*/ 8 w 8"/>
                  <a:gd name="T9" fmla="*/ 5 h 5"/>
                  <a:gd name="T10" fmla="*/ 8 w 8"/>
                  <a:gd name="T11" fmla="*/ 1 h 5"/>
                  <a:gd name="T12" fmla="*/ 7 w 8"/>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 h="5">
                    <a:moveTo>
                      <a:pt x="7" y="0"/>
                    </a:moveTo>
                    <a:cubicBezTo>
                      <a:pt x="2" y="0"/>
                      <a:pt x="2" y="0"/>
                      <a:pt x="2" y="0"/>
                    </a:cubicBezTo>
                    <a:cubicBezTo>
                      <a:pt x="1" y="0"/>
                      <a:pt x="0" y="1"/>
                      <a:pt x="0" y="1"/>
                    </a:cubicBezTo>
                    <a:cubicBezTo>
                      <a:pt x="0" y="5"/>
                      <a:pt x="0" y="5"/>
                      <a:pt x="0" y="5"/>
                    </a:cubicBezTo>
                    <a:cubicBezTo>
                      <a:pt x="8" y="5"/>
                      <a:pt x="8" y="5"/>
                      <a:pt x="8" y="5"/>
                    </a:cubicBezTo>
                    <a:cubicBezTo>
                      <a:pt x="8" y="1"/>
                      <a:pt x="8" y="1"/>
                      <a:pt x="8" y="1"/>
                    </a:cubicBezTo>
                    <a:cubicBezTo>
                      <a:pt x="8" y="1"/>
                      <a:pt x="8"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65" name="Freeform 152">
                <a:extLst>
                  <a:ext uri="{FF2B5EF4-FFF2-40B4-BE49-F238E27FC236}">
                    <a16:creationId xmlns:a16="http://schemas.microsoft.com/office/drawing/2014/main" id="{137B4B4D-544A-41B4-8EDD-FE3541FA5BB5}"/>
                  </a:ext>
                </a:extLst>
              </p:cNvPr>
              <p:cNvSpPr>
                <a:spLocks/>
              </p:cNvSpPr>
              <p:nvPr/>
            </p:nvSpPr>
            <p:spPr bwMode="auto">
              <a:xfrm>
                <a:off x="16473488" y="16737013"/>
                <a:ext cx="65088" cy="138113"/>
              </a:xfrm>
              <a:custGeom>
                <a:avLst/>
                <a:gdLst>
                  <a:gd name="T0" fmla="*/ 9 w 12"/>
                  <a:gd name="T1" fmla="*/ 0 h 25"/>
                  <a:gd name="T2" fmla="*/ 3 w 12"/>
                  <a:gd name="T3" fmla="*/ 0 h 25"/>
                  <a:gd name="T4" fmla="*/ 0 w 12"/>
                  <a:gd name="T5" fmla="*/ 3 h 25"/>
                  <a:gd name="T6" fmla="*/ 0 w 12"/>
                  <a:gd name="T7" fmla="*/ 22 h 25"/>
                  <a:gd name="T8" fmla="*/ 3 w 12"/>
                  <a:gd name="T9" fmla="*/ 25 h 25"/>
                  <a:gd name="T10" fmla="*/ 9 w 12"/>
                  <a:gd name="T11" fmla="*/ 25 h 25"/>
                  <a:gd name="T12" fmla="*/ 12 w 12"/>
                  <a:gd name="T13" fmla="*/ 22 h 25"/>
                  <a:gd name="T14" fmla="*/ 12 w 12"/>
                  <a:gd name="T15" fmla="*/ 3 h 25"/>
                  <a:gd name="T16" fmla="*/ 9 w 12"/>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9" y="0"/>
                    </a:moveTo>
                    <a:cubicBezTo>
                      <a:pt x="3" y="0"/>
                      <a:pt x="3" y="0"/>
                      <a:pt x="3" y="0"/>
                    </a:cubicBezTo>
                    <a:cubicBezTo>
                      <a:pt x="1" y="0"/>
                      <a:pt x="0" y="1"/>
                      <a:pt x="0" y="3"/>
                    </a:cubicBezTo>
                    <a:cubicBezTo>
                      <a:pt x="0" y="22"/>
                      <a:pt x="0" y="22"/>
                      <a:pt x="0" y="22"/>
                    </a:cubicBezTo>
                    <a:cubicBezTo>
                      <a:pt x="0" y="24"/>
                      <a:pt x="1" y="25"/>
                      <a:pt x="3" y="25"/>
                    </a:cubicBezTo>
                    <a:cubicBezTo>
                      <a:pt x="9" y="25"/>
                      <a:pt x="9" y="25"/>
                      <a:pt x="9" y="25"/>
                    </a:cubicBezTo>
                    <a:cubicBezTo>
                      <a:pt x="11" y="25"/>
                      <a:pt x="12" y="24"/>
                      <a:pt x="12" y="22"/>
                    </a:cubicBezTo>
                    <a:cubicBezTo>
                      <a:pt x="12" y="3"/>
                      <a:pt x="12" y="3"/>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66" name="Freeform 153">
                <a:extLst>
                  <a:ext uri="{FF2B5EF4-FFF2-40B4-BE49-F238E27FC236}">
                    <a16:creationId xmlns:a16="http://schemas.microsoft.com/office/drawing/2014/main" id="{5F05D888-BADD-4DBE-B0BE-29ECD916F90E}"/>
                  </a:ext>
                </a:extLst>
              </p:cNvPr>
              <p:cNvSpPr>
                <a:spLocks/>
              </p:cNvSpPr>
              <p:nvPr/>
            </p:nvSpPr>
            <p:spPr bwMode="auto">
              <a:xfrm>
                <a:off x="16048038" y="16737013"/>
                <a:ext cx="66675" cy="138113"/>
              </a:xfrm>
              <a:custGeom>
                <a:avLst/>
                <a:gdLst>
                  <a:gd name="T0" fmla="*/ 9 w 12"/>
                  <a:gd name="T1" fmla="*/ 0 h 25"/>
                  <a:gd name="T2" fmla="*/ 2 w 12"/>
                  <a:gd name="T3" fmla="*/ 0 h 25"/>
                  <a:gd name="T4" fmla="*/ 0 w 12"/>
                  <a:gd name="T5" fmla="*/ 3 h 25"/>
                  <a:gd name="T6" fmla="*/ 0 w 12"/>
                  <a:gd name="T7" fmla="*/ 22 h 25"/>
                  <a:gd name="T8" fmla="*/ 2 w 12"/>
                  <a:gd name="T9" fmla="*/ 25 h 25"/>
                  <a:gd name="T10" fmla="*/ 9 w 12"/>
                  <a:gd name="T11" fmla="*/ 25 h 25"/>
                  <a:gd name="T12" fmla="*/ 12 w 12"/>
                  <a:gd name="T13" fmla="*/ 22 h 25"/>
                  <a:gd name="T14" fmla="*/ 12 w 12"/>
                  <a:gd name="T15" fmla="*/ 3 h 25"/>
                  <a:gd name="T16" fmla="*/ 9 w 12"/>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9" y="0"/>
                    </a:moveTo>
                    <a:cubicBezTo>
                      <a:pt x="2" y="0"/>
                      <a:pt x="2" y="0"/>
                      <a:pt x="2" y="0"/>
                    </a:cubicBezTo>
                    <a:cubicBezTo>
                      <a:pt x="1" y="0"/>
                      <a:pt x="0" y="1"/>
                      <a:pt x="0" y="3"/>
                    </a:cubicBezTo>
                    <a:cubicBezTo>
                      <a:pt x="0" y="22"/>
                      <a:pt x="0" y="22"/>
                      <a:pt x="0" y="22"/>
                    </a:cubicBezTo>
                    <a:cubicBezTo>
                      <a:pt x="0" y="24"/>
                      <a:pt x="1" y="25"/>
                      <a:pt x="2" y="25"/>
                    </a:cubicBezTo>
                    <a:cubicBezTo>
                      <a:pt x="9" y="25"/>
                      <a:pt x="9" y="25"/>
                      <a:pt x="9" y="25"/>
                    </a:cubicBezTo>
                    <a:cubicBezTo>
                      <a:pt x="10" y="25"/>
                      <a:pt x="12" y="24"/>
                      <a:pt x="12" y="22"/>
                    </a:cubicBezTo>
                    <a:cubicBezTo>
                      <a:pt x="12" y="3"/>
                      <a:pt x="12" y="3"/>
                      <a:pt x="12" y="3"/>
                    </a:cubicBezTo>
                    <a:cubicBezTo>
                      <a:pt x="12" y="1"/>
                      <a:pt x="10"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67" name="Freeform 154">
                <a:extLst>
                  <a:ext uri="{FF2B5EF4-FFF2-40B4-BE49-F238E27FC236}">
                    <a16:creationId xmlns:a16="http://schemas.microsoft.com/office/drawing/2014/main" id="{809DDA20-E9A1-467F-AE25-9182E2E17282}"/>
                  </a:ext>
                </a:extLst>
              </p:cNvPr>
              <p:cNvSpPr>
                <a:spLocks/>
              </p:cNvSpPr>
              <p:nvPr/>
            </p:nvSpPr>
            <p:spPr bwMode="auto">
              <a:xfrm>
                <a:off x="16549688" y="16765588"/>
                <a:ext cx="49213" cy="82550"/>
              </a:xfrm>
              <a:custGeom>
                <a:avLst/>
                <a:gdLst>
                  <a:gd name="T0" fmla="*/ 7 w 9"/>
                  <a:gd name="T1" fmla="*/ 0 h 15"/>
                  <a:gd name="T2" fmla="*/ 0 w 9"/>
                  <a:gd name="T3" fmla="*/ 0 h 15"/>
                  <a:gd name="T4" fmla="*/ 0 w 9"/>
                  <a:gd name="T5" fmla="*/ 15 h 15"/>
                  <a:gd name="T6" fmla="*/ 7 w 9"/>
                  <a:gd name="T7" fmla="*/ 15 h 15"/>
                  <a:gd name="T8" fmla="*/ 9 w 9"/>
                  <a:gd name="T9" fmla="*/ 12 h 15"/>
                  <a:gd name="T10" fmla="*/ 9 w 9"/>
                  <a:gd name="T11" fmla="*/ 2 h 15"/>
                  <a:gd name="T12" fmla="*/ 7 w 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9" h="15">
                    <a:moveTo>
                      <a:pt x="7" y="0"/>
                    </a:moveTo>
                    <a:cubicBezTo>
                      <a:pt x="0" y="0"/>
                      <a:pt x="0" y="0"/>
                      <a:pt x="0" y="0"/>
                    </a:cubicBezTo>
                    <a:cubicBezTo>
                      <a:pt x="0" y="15"/>
                      <a:pt x="0" y="15"/>
                      <a:pt x="0" y="15"/>
                    </a:cubicBezTo>
                    <a:cubicBezTo>
                      <a:pt x="7" y="15"/>
                      <a:pt x="7" y="15"/>
                      <a:pt x="7" y="15"/>
                    </a:cubicBezTo>
                    <a:cubicBezTo>
                      <a:pt x="8" y="15"/>
                      <a:pt x="9" y="14"/>
                      <a:pt x="9" y="12"/>
                    </a:cubicBezTo>
                    <a:cubicBezTo>
                      <a:pt x="9" y="2"/>
                      <a:pt x="9" y="2"/>
                      <a:pt x="9" y="2"/>
                    </a:cubicBezTo>
                    <a:cubicBezTo>
                      <a:pt x="9" y="1"/>
                      <a:pt x="8"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68" name="Rectangle 155">
                <a:extLst>
                  <a:ext uri="{FF2B5EF4-FFF2-40B4-BE49-F238E27FC236}">
                    <a16:creationId xmlns:a16="http://schemas.microsoft.com/office/drawing/2014/main" id="{266556CC-FAC2-41B6-8A9F-12992716AEC7}"/>
                  </a:ext>
                </a:extLst>
              </p:cNvPr>
              <p:cNvSpPr>
                <a:spLocks noChangeArrowheads="1"/>
              </p:cNvSpPr>
              <p:nvPr/>
            </p:nvSpPr>
            <p:spPr bwMode="auto">
              <a:xfrm>
                <a:off x="16752888" y="13923963"/>
                <a:ext cx="44450" cy="1317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69" name="Freeform 156">
                <a:extLst>
                  <a:ext uri="{FF2B5EF4-FFF2-40B4-BE49-F238E27FC236}">
                    <a16:creationId xmlns:a16="http://schemas.microsoft.com/office/drawing/2014/main" id="{2AB440E0-C918-4F1B-944C-66C9FE634A1F}"/>
                  </a:ext>
                </a:extLst>
              </p:cNvPr>
              <p:cNvSpPr>
                <a:spLocks/>
              </p:cNvSpPr>
              <p:nvPr/>
            </p:nvSpPr>
            <p:spPr bwMode="auto">
              <a:xfrm>
                <a:off x="17954625" y="15982950"/>
                <a:ext cx="841375" cy="639763"/>
              </a:xfrm>
              <a:custGeom>
                <a:avLst/>
                <a:gdLst>
                  <a:gd name="T0" fmla="*/ 137 w 153"/>
                  <a:gd name="T1" fmla="*/ 0 h 116"/>
                  <a:gd name="T2" fmla="*/ 0 w 153"/>
                  <a:gd name="T3" fmla="*/ 0 h 116"/>
                  <a:gd name="T4" fmla="*/ 0 w 153"/>
                  <a:gd name="T5" fmla="*/ 116 h 116"/>
                  <a:gd name="T6" fmla="*/ 137 w 153"/>
                  <a:gd name="T7" fmla="*/ 116 h 116"/>
                  <a:gd name="T8" fmla="*/ 153 w 153"/>
                  <a:gd name="T9" fmla="*/ 100 h 116"/>
                  <a:gd name="T10" fmla="*/ 153 w 153"/>
                  <a:gd name="T11" fmla="*/ 17 h 116"/>
                  <a:gd name="T12" fmla="*/ 137 w 153"/>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153" h="116">
                    <a:moveTo>
                      <a:pt x="137" y="0"/>
                    </a:moveTo>
                    <a:cubicBezTo>
                      <a:pt x="0" y="0"/>
                      <a:pt x="0" y="0"/>
                      <a:pt x="0" y="0"/>
                    </a:cubicBezTo>
                    <a:cubicBezTo>
                      <a:pt x="0" y="116"/>
                      <a:pt x="0" y="116"/>
                      <a:pt x="0" y="116"/>
                    </a:cubicBezTo>
                    <a:cubicBezTo>
                      <a:pt x="137" y="116"/>
                      <a:pt x="137" y="116"/>
                      <a:pt x="137" y="116"/>
                    </a:cubicBezTo>
                    <a:cubicBezTo>
                      <a:pt x="146" y="116"/>
                      <a:pt x="153" y="108"/>
                      <a:pt x="153" y="100"/>
                    </a:cubicBezTo>
                    <a:cubicBezTo>
                      <a:pt x="153" y="17"/>
                      <a:pt x="153" y="17"/>
                      <a:pt x="153" y="17"/>
                    </a:cubicBezTo>
                    <a:cubicBezTo>
                      <a:pt x="153" y="8"/>
                      <a:pt x="146" y="0"/>
                      <a:pt x="1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70" name="Freeform 157">
                <a:extLst>
                  <a:ext uri="{FF2B5EF4-FFF2-40B4-BE49-F238E27FC236}">
                    <a16:creationId xmlns:a16="http://schemas.microsoft.com/office/drawing/2014/main" id="{89A1F26B-0ABE-4027-9AFD-40626E03F23D}"/>
                  </a:ext>
                </a:extLst>
              </p:cNvPr>
              <p:cNvSpPr>
                <a:spLocks/>
              </p:cNvSpPr>
              <p:nvPr/>
            </p:nvSpPr>
            <p:spPr bwMode="auto">
              <a:xfrm>
                <a:off x="17832388" y="15663863"/>
                <a:ext cx="82550" cy="1277938"/>
              </a:xfrm>
              <a:custGeom>
                <a:avLst/>
                <a:gdLst>
                  <a:gd name="T0" fmla="*/ 10 w 15"/>
                  <a:gd name="T1" fmla="*/ 0 h 232"/>
                  <a:gd name="T2" fmla="*/ 4 w 15"/>
                  <a:gd name="T3" fmla="*/ 0 h 232"/>
                  <a:gd name="T4" fmla="*/ 0 w 15"/>
                  <a:gd name="T5" fmla="*/ 4 h 232"/>
                  <a:gd name="T6" fmla="*/ 0 w 15"/>
                  <a:gd name="T7" fmla="*/ 228 h 232"/>
                  <a:gd name="T8" fmla="*/ 4 w 15"/>
                  <a:gd name="T9" fmla="*/ 232 h 232"/>
                  <a:gd name="T10" fmla="*/ 10 w 15"/>
                  <a:gd name="T11" fmla="*/ 232 h 232"/>
                  <a:gd name="T12" fmla="*/ 15 w 15"/>
                  <a:gd name="T13" fmla="*/ 228 h 232"/>
                  <a:gd name="T14" fmla="*/ 15 w 15"/>
                  <a:gd name="T15" fmla="*/ 4 h 232"/>
                  <a:gd name="T16" fmla="*/ 10 w 15"/>
                  <a:gd name="T17"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232">
                    <a:moveTo>
                      <a:pt x="10" y="0"/>
                    </a:moveTo>
                    <a:cubicBezTo>
                      <a:pt x="4" y="0"/>
                      <a:pt x="4" y="0"/>
                      <a:pt x="4" y="0"/>
                    </a:cubicBezTo>
                    <a:cubicBezTo>
                      <a:pt x="2" y="0"/>
                      <a:pt x="0" y="2"/>
                      <a:pt x="0" y="4"/>
                    </a:cubicBezTo>
                    <a:cubicBezTo>
                      <a:pt x="0" y="228"/>
                      <a:pt x="0" y="228"/>
                      <a:pt x="0" y="228"/>
                    </a:cubicBezTo>
                    <a:cubicBezTo>
                      <a:pt x="0" y="230"/>
                      <a:pt x="2" y="232"/>
                      <a:pt x="4" y="232"/>
                    </a:cubicBezTo>
                    <a:cubicBezTo>
                      <a:pt x="10" y="232"/>
                      <a:pt x="10" y="232"/>
                      <a:pt x="10" y="232"/>
                    </a:cubicBezTo>
                    <a:cubicBezTo>
                      <a:pt x="13" y="232"/>
                      <a:pt x="15" y="230"/>
                      <a:pt x="15" y="228"/>
                    </a:cubicBezTo>
                    <a:cubicBezTo>
                      <a:pt x="15" y="4"/>
                      <a:pt x="15" y="4"/>
                      <a:pt x="15" y="4"/>
                    </a:cubicBezTo>
                    <a:cubicBezTo>
                      <a:pt x="15" y="2"/>
                      <a:pt x="13"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71" name="Freeform 158">
                <a:extLst>
                  <a:ext uri="{FF2B5EF4-FFF2-40B4-BE49-F238E27FC236}">
                    <a16:creationId xmlns:a16="http://schemas.microsoft.com/office/drawing/2014/main" id="{6A3210A2-F2C6-47BE-A3F8-2024951AC251}"/>
                  </a:ext>
                </a:extLst>
              </p:cNvPr>
              <p:cNvSpPr>
                <a:spLocks/>
              </p:cNvSpPr>
              <p:nvPr/>
            </p:nvSpPr>
            <p:spPr bwMode="auto">
              <a:xfrm>
                <a:off x="16473488" y="15139988"/>
                <a:ext cx="1122363" cy="1697038"/>
              </a:xfrm>
              <a:custGeom>
                <a:avLst/>
                <a:gdLst>
                  <a:gd name="T0" fmla="*/ 172 w 204"/>
                  <a:gd name="T1" fmla="*/ 127 h 308"/>
                  <a:gd name="T2" fmla="*/ 180 w 204"/>
                  <a:gd name="T3" fmla="*/ 0 h 308"/>
                  <a:gd name="T4" fmla="*/ 107 w 204"/>
                  <a:gd name="T5" fmla="*/ 0 h 308"/>
                  <a:gd name="T6" fmla="*/ 102 w 204"/>
                  <a:gd name="T7" fmla="*/ 0 h 308"/>
                  <a:gd name="T8" fmla="*/ 97 w 204"/>
                  <a:gd name="T9" fmla="*/ 0 h 308"/>
                  <a:gd name="T10" fmla="*/ 24 w 204"/>
                  <a:gd name="T11" fmla="*/ 0 h 308"/>
                  <a:gd name="T12" fmla="*/ 31 w 204"/>
                  <a:gd name="T13" fmla="*/ 127 h 308"/>
                  <a:gd name="T14" fmla="*/ 12 w 204"/>
                  <a:gd name="T15" fmla="*/ 147 h 308"/>
                  <a:gd name="T16" fmla="*/ 0 w 204"/>
                  <a:gd name="T17" fmla="*/ 147 h 308"/>
                  <a:gd name="T18" fmla="*/ 0 w 204"/>
                  <a:gd name="T19" fmla="*/ 275 h 308"/>
                  <a:gd name="T20" fmla="*/ 30 w 204"/>
                  <a:gd name="T21" fmla="*/ 275 h 308"/>
                  <a:gd name="T22" fmla="*/ 35 w 204"/>
                  <a:gd name="T23" fmla="*/ 277 h 308"/>
                  <a:gd name="T24" fmla="*/ 54 w 204"/>
                  <a:gd name="T25" fmla="*/ 300 h 308"/>
                  <a:gd name="T26" fmla="*/ 71 w 204"/>
                  <a:gd name="T27" fmla="*/ 308 h 308"/>
                  <a:gd name="T28" fmla="*/ 102 w 204"/>
                  <a:gd name="T29" fmla="*/ 308 h 308"/>
                  <a:gd name="T30" fmla="*/ 132 w 204"/>
                  <a:gd name="T31" fmla="*/ 308 h 308"/>
                  <a:gd name="T32" fmla="*/ 149 w 204"/>
                  <a:gd name="T33" fmla="*/ 300 h 308"/>
                  <a:gd name="T34" fmla="*/ 169 w 204"/>
                  <a:gd name="T35" fmla="*/ 277 h 308"/>
                  <a:gd name="T36" fmla="*/ 174 w 204"/>
                  <a:gd name="T37" fmla="*/ 275 h 308"/>
                  <a:gd name="T38" fmla="*/ 204 w 204"/>
                  <a:gd name="T39" fmla="*/ 275 h 308"/>
                  <a:gd name="T40" fmla="*/ 204 w 204"/>
                  <a:gd name="T41" fmla="*/ 147 h 308"/>
                  <a:gd name="T42" fmla="*/ 191 w 204"/>
                  <a:gd name="T43" fmla="*/ 147 h 308"/>
                  <a:gd name="T44" fmla="*/ 172 w 204"/>
                  <a:gd name="T45" fmla="*/ 127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4" h="308">
                    <a:moveTo>
                      <a:pt x="172" y="127"/>
                    </a:moveTo>
                    <a:cubicBezTo>
                      <a:pt x="180" y="0"/>
                      <a:pt x="180" y="0"/>
                      <a:pt x="180" y="0"/>
                    </a:cubicBezTo>
                    <a:cubicBezTo>
                      <a:pt x="107" y="0"/>
                      <a:pt x="107" y="0"/>
                      <a:pt x="107" y="0"/>
                    </a:cubicBezTo>
                    <a:cubicBezTo>
                      <a:pt x="102" y="0"/>
                      <a:pt x="102" y="0"/>
                      <a:pt x="102" y="0"/>
                    </a:cubicBezTo>
                    <a:cubicBezTo>
                      <a:pt x="97" y="0"/>
                      <a:pt x="97" y="0"/>
                      <a:pt x="97" y="0"/>
                    </a:cubicBezTo>
                    <a:cubicBezTo>
                      <a:pt x="24" y="0"/>
                      <a:pt x="24" y="0"/>
                      <a:pt x="24" y="0"/>
                    </a:cubicBezTo>
                    <a:cubicBezTo>
                      <a:pt x="31" y="127"/>
                      <a:pt x="31" y="127"/>
                      <a:pt x="31" y="127"/>
                    </a:cubicBezTo>
                    <a:cubicBezTo>
                      <a:pt x="32" y="138"/>
                      <a:pt x="23" y="147"/>
                      <a:pt x="12" y="147"/>
                    </a:cubicBezTo>
                    <a:cubicBezTo>
                      <a:pt x="0" y="147"/>
                      <a:pt x="0" y="147"/>
                      <a:pt x="0" y="147"/>
                    </a:cubicBezTo>
                    <a:cubicBezTo>
                      <a:pt x="0" y="275"/>
                      <a:pt x="0" y="275"/>
                      <a:pt x="0" y="275"/>
                    </a:cubicBezTo>
                    <a:cubicBezTo>
                      <a:pt x="30" y="275"/>
                      <a:pt x="30" y="275"/>
                      <a:pt x="30" y="275"/>
                    </a:cubicBezTo>
                    <a:cubicBezTo>
                      <a:pt x="32" y="275"/>
                      <a:pt x="34" y="276"/>
                      <a:pt x="35" y="277"/>
                    </a:cubicBezTo>
                    <a:cubicBezTo>
                      <a:pt x="54" y="300"/>
                      <a:pt x="54" y="300"/>
                      <a:pt x="54" y="300"/>
                    </a:cubicBezTo>
                    <a:cubicBezTo>
                      <a:pt x="59" y="305"/>
                      <a:pt x="65" y="308"/>
                      <a:pt x="71" y="308"/>
                    </a:cubicBezTo>
                    <a:cubicBezTo>
                      <a:pt x="102" y="308"/>
                      <a:pt x="102" y="308"/>
                      <a:pt x="102" y="308"/>
                    </a:cubicBezTo>
                    <a:cubicBezTo>
                      <a:pt x="132" y="308"/>
                      <a:pt x="132" y="308"/>
                      <a:pt x="132" y="308"/>
                    </a:cubicBezTo>
                    <a:cubicBezTo>
                      <a:pt x="139" y="308"/>
                      <a:pt x="145" y="305"/>
                      <a:pt x="149" y="300"/>
                    </a:cubicBezTo>
                    <a:cubicBezTo>
                      <a:pt x="169" y="277"/>
                      <a:pt x="169" y="277"/>
                      <a:pt x="169" y="277"/>
                    </a:cubicBezTo>
                    <a:cubicBezTo>
                      <a:pt x="170" y="276"/>
                      <a:pt x="172" y="275"/>
                      <a:pt x="174" y="275"/>
                    </a:cubicBezTo>
                    <a:cubicBezTo>
                      <a:pt x="204" y="275"/>
                      <a:pt x="204" y="275"/>
                      <a:pt x="204" y="275"/>
                    </a:cubicBezTo>
                    <a:cubicBezTo>
                      <a:pt x="204" y="147"/>
                      <a:pt x="204" y="147"/>
                      <a:pt x="204" y="147"/>
                    </a:cubicBezTo>
                    <a:cubicBezTo>
                      <a:pt x="191" y="147"/>
                      <a:pt x="191" y="147"/>
                      <a:pt x="191" y="147"/>
                    </a:cubicBezTo>
                    <a:cubicBezTo>
                      <a:pt x="180" y="147"/>
                      <a:pt x="172" y="138"/>
                      <a:pt x="172"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72" name="Freeform 159">
                <a:extLst>
                  <a:ext uri="{FF2B5EF4-FFF2-40B4-BE49-F238E27FC236}">
                    <a16:creationId xmlns:a16="http://schemas.microsoft.com/office/drawing/2014/main" id="{E4674BDE-F50C-4657-BAC2-D69DD2818E4A}"/>
                  </a:ext>
                </a:extLst>
              </p:cNvPr>
              <p:cNvSpPr>
                <a:spLocks/>
              </p:cNvSpPr>
              <p:nvPr/>
            </p:nvSpPr>
            <p:spPr bwMode="auto">
              <a:xfrm>
                <a:off x="17635538" y="15663863"/>
                <a:ext cx="153988" cy="1277938"/>
              </a:xfrm>
              <a:custGeom>
                <a:avLst/>
                <a:gdLst>
                  <a:gd name="T0" fmla="*/ 21 w 28"/>
                  <a:gd name="T1" fmla="*/ 0 h 232"/>
                  <a:gd name="T2" fmla="*/ 7 w 28"/>
                  <a:gd name="T3" fmla="*/ 0 h 232"/>
                  <a:gd name="T4" fmla="*/ 0 w 28"/>
                  <a:gd name="T5" fmla="*/ 8 h 232"/>
                  <a:gd name="T6" fmla="*/ 0 w 28"/>
                  <a:gd name="T7" fmla="*/ 224 h 232"/>
                  <a:gd name="T8" fmla="*/ 7 w 28"/>
                  <a:gd name="T9" fmla="*/ 232 h 232"/>
                  <a:gd name="T10" fmla="*/ 21 w 28"/>
                  <a:gd name="T11" fmla="*/ 232 h 232"/>
                  <a:gd name="T12" fmla="*/ 28 w 28"/>
                  <a:gd name="T13" fmla="*/ 224 h 232"/>
                  <a:gd name="T14" fmla="*/ 28 w 28"/>
                  <a:gd name="T15" fmla="*/ 8 h 232"/>
                  <a:gd name="T16" fmla="*/ 21 w 28"/>
                  <a:gd name="T17"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32">
                    <a:moveTo>
                      <a:pt x="21" y="0"/>
                    </a:moveTo>
                    <a:cubicBezTo>
                      <a:pt x="7" y="0"/>
                      <a:pt x="7" y="0"/>
                      <a:pt x="7" y="0"/>
                    </a:cubicBezTo>
                    <a:cubicBezTo>
                      <a:pt x="3" y="0"/>
                      <a:pt x="0" y="4"/>
                      <a:pt x="0" y="8"/>
                    </a:cubicBezTo>
                    <a:cubicBezTo>
                      <a:pt x="0" y="224"/>
                      <a:pt x="0" y="224"/>
                      <a:pt x="0" y="224"/>
                    </a:cubicBezTo>
                    <a:cubicBezTo>
                      <a:pt x="0" y="229"/>
                      <a:pt x="3" y="232"/>
                      <a:pt x="7" y="232"/>
                    </a:cubicBezTo>
                    <a:cubicBezTo>
                      <a:pt x="21" y="232"/>
                      <a:pt x="21" y="232"/>
                      <a:pt x="21" y="232"/>
                    </a:cubicBezTo>
                    <a:cubicBezTo>
                      <a:pt x="25" y="232"/>
                      <a:pt x="28" y="229"/>
                      <a:pt x="28" y="224"/>
                    </a:cubicBezTo>
                    <a:cubicBezTo>
                      <a:pt x="28" y="8"/>
                      <a:pt x="28" y="8"/>
                      <a:pt x="28" y="8"/>
                    </a:cubicBezTo>
                    <a:cubicBezTo>
                      <a:pt x="28" y="4"/>
                      <a:pt x="25"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73" name="Freeform 160">
                <a:extLst>
                  <a:ext uri="{FF2B5EF4-FFF2-40B4-BE49-F238E27FC236}">
                    <a16:creationId xmlns:a16="http://schemas.microsoft.com/office/drawing/2014/main" id="{B9E28F4C-FBDE-4195-AB64-66ED4C3F67D5}"/>
                  </a:ext>
                </a:extLst>
              </p:cNvPr>
              <p:cNvSpPr>
                <a:spLocks/>
              </p:cNvSpPr>
              <p:nvPr/>
            </p:nvSpPr>
            <p:spPr bwMode="auto">
              <a:xfrm>
                <a:off x="16324263" y="14941550"/>
                <a:ext cx="1414463" cy="155575"/>
              </a:xfrm>
              <a:custGeom>
                <a:avLst/>
                <a:gdLst>
                  <a:gd name="T0" fmla="*/ 257 w 257"/>
                  <a:gd name="T1" fmla="*/ 21 h 28"/>
                  <a:gd name="T2" fmla="*/ 257 w 257"/>
                  <a:gd name="T3" fmla="*/ 7 h 28"/>
                  <a:gd name="T4" fmla="*/ 251 w 257"/>
                  <a:gd name="T5" fmla="*/ 0 h 28"/>
                  <a:gd name="T6" fmla="*/ 129 w 257"/>
                  <a:gd name="T7" fmla="*/ 0 h 28"/>
                  <a:gd name="T8" fmla="*/ 7 w 257"/>
                  <a:gd name="T9" fmla="*/ 0 h 28"/>
                  <a:gd name="T10" fmla="*/ 0 w 257"/>
                  <a:gd name="T11" fmla="*/ 7 h 28"/>
                  <a:gd name="T12" fmla="*/ 0 w 257"/>
                  <a:gd name="T13" fmla="*/ 21 h 28"/>
                  <a:gd name="T14" fmla="*/ 7 w 257"/>
                  <a:gd name="T15" fmla="*/ 28 h 28"/>
                  <a:gd name="T16" fmla="*/ 129 w 257"/>
                  <a:gd name="T17" fmla="*/ 28 h 28"/>
                  <a:gd name="T18" fmla="*/ 251 w 257"/>
                  <a:gd name="T19" fmla="*/ 28 h 28"/>
                  <a:gd name="T20" fmla="*/ 257 w 257"/>
                  <a:gd name="T21"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7" h="28">
                    <a:moveTo>
                      <a:pt x="257" y="21"/>
                    </a:moveTo>
                    <a:cubicBezTo>
                      <a:pt x="257" y="7"/>
                      <a:pt x="257" y="7"/>
                      <a:pt x="257" y="7"/>
                    </a:cubicBezTo>
                    <a:cubicBezTo>
                      <a:pt x="257" y="3"/>
                      <a:pt x="254" y="0"/>
                      <a:pt x="251" y="0"/>
                    </a:cubicBezTo>
                    <a:cubicBezTo>
                      <a:pt x="129" y="0"/>
                      <a:pt x="129" y="0"/>
                      <a:pt x="129" y="0"/>
                    </a:cubicBezTo>
                    <a:cubicBezTo>
                      <a:pt x="7" y="0"/>
                      <a:pt x="7" y="0"/>
                      <a:pt x="7" y="0"/>
                    </a:cubicBezTo>
                    <a:cubicBezTo>
                      <a:pt x="3" y="0"/>
                      <a:pt x="0" y="3"/>
                      <a:pt x="0" y="7"/>
                    </a:cubicBezTo>
                    <a:cubicBezTo>
                      <a:pt x="0" y="21"/>
                      <a:pt x="0" y="21"/>
                      <a:pt x="0" y="21"/>
                    </a:cubicBezTo>
                    <a:cubicBezTo>
                      <a:pt x="0" y="25"/>
                      <a:pt x="3" y="28"/>
                      <a:pt x="7" y="28"/>
                    </a:cubicBezTo>
                    <a:cubicBezTo>
                      <a:pt x="129" y="28"/>
                      <a:pt x="129" y="28"/>
                      <a:pt x="129" y="28"/>
                    </a:cubicBezTo>
                    <a:cubicBezTo>
                      <a:pt x="251" y="28"/>
                      <a:pt x="251" y="28"/>
                      <a:pt x="251" y="28"/>
                    </a:cubicBezTo>
                    <a:cubicBezTo>
                      <a:pt x="254" y="28"/>
                      <a:pt x="257" y="25"/>
                      <a:pt x="25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74" name="Freeform 161">
                <a:extLst>
                  <a:ext uri="{FF2B5EF4-FFF2-40B4-BE49-F238E27FC236}">
                    <a16:creationId xmlns:a16="http://schemas.microsoft.com/office/drawing/2014/main" id="{B722E07B-6B5D-4083-84DE-BC20A240A838}"/>
                  </a:ext>
                </a:extLst>
              </p:cNvPr>
              <p:cNvSpPr>
                <a:spLocks/>
              </p:cNvSpPr>
              <p:nvPr/>
            </p:nvSpPr>
            <p:spPr bwMode="auto">
              <a:xfrm>
                <a:off x="16324263" y="14743113"/>
                <a:ext cx="1414463" cy="160338"/>
              </a:xfrm>
              <a:custGeom>
                <a:avLst/>
                <a:gdLst>
                  <a:gd name="T0" fmla="*/ 257 w 257"/>
                  <a:gd name="T1" fmla="*/ 7 h 29"/>
                  <a:gd name="T2" fmla="*/ 251 w 257"/>
                  <a:gd name="T3" fmla="*/ 0 h 29"/>
                  <a:gd name="T4" fmla="*/ 129 w 257"/>
                  <a:gd name="T5" fmla="*/ 0 h 29"/>
                  <a:gd name="T6" fmla="*/ 7 w 257"/>
                  <a:gd name="T7" fmla="*/ 0 h 29"/>
                  <a:gd name="T8" fmla="*/ 0 w 257"/>
                  <a:gd name="T9" fmla="*/ 7 h 29"/>
                  <a:gd name="T10" fmla="*/ 0 w 257"/>
                  <a:gd name="T11" fmla="*/ 22 h 29"/>
                  <a:gd name="T12" fmla="*/ 7 w 257"/>
                  <a:gd name="T13" fmla="*/ 29 h 29"/>
                  <a:gd name="T14" fmla="*/ 129 w 257"/>
                  <a:gd name="T15" fmla="*/ 29 h 29"/>
                  <a:gd name="T16" fmla="*/ 251 w 257"/>
                  <a:gd name="T17" fmla="*/ 29 h 29"/>
                  <a:gd name="T18" fmla="*/ 257 w 257"/>
                  <a:gd name="T19" fmla="*/ 22 h 29"/>
                  <a:gd name="T20" fmla="*/ 257 w 257"/>
                  <a:gd name="T21" fmla="*/ 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7" h="29">
                    <a:moveTo>
                      <a:pt x="257" y="7"/>
                    </a:moveTo>
                    <a:cubicBezTo>
                      <a:pt x="257" y="3"/>
                      <a:pt x="254" y="0"/>
                      <a:pt x="251" y="0"/>
                    </a:cubicBezTo>
                    <a:cubicBezTo>
                      <a:pt x="129" y="0"/>
                      <a:pt x="129" y="0"/>
                      <a:pt x="129" y="0"/>
                    </a:cubicBezTo>
                    <a:cubicBezTo>
                      <a:pt x="7" y="0"/>
                      <a:pt x="7" y="0"/>
                      <a:pt x="7" y="0"/>
                    </a:cubicBezTo>
                    <a:cubicBezTo>
                      <a:pt x="3" y="0"/>
                      <a:pt x="0" y="3"/>
                      <a:pt x="0" y="7"/>
                    </a:cubicBezTo>
                    <a:cubicBezTo>
                      <a:pt x="0" y="22"/>
                      <a:pt x="0" y="22"/>
                      <a:pt x="0" y="22"/>
                    </a:cubicBezTo>
                    <a:cubicBezTo>
                      <a:pt x="0" y="26"/>
                      <a:pt x="3" y="29"/>
                      <a:pt x="7" y="29"/>
                    </a:cubicBezTo>
                    <a:cubicBezTo>
                      <a:pt x="129" y="29"/>
                      <a:pt x="129" y="29"/>
                      <a:pt x="129" y="29"/>
                    </a:cubicBezTo>
                    <a:cubicBezTo>
                      <a:pt x="251" y="29"/>
                      <a:pt x="251" y="29"/>
                      <a:pt x="251" y="29"/>
                    </a:cubicBezTo>
                    <a:cubicBezTo>
                      <a:pt x="254" y="29"/>
                      <a:pt x="257" y="26"/>
                      <a:pt x="257" y="22"/>
                    </a:cubicBezTo>
                    <a:lnTo>
                      <a:pt x="257"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75" name="Freeform 162">
                <a:extLst>
                  <a:ext uri="{FF2B5EF4-FFF2-40B4-BE49-F238E27FC236}">
                    <a16:creationId xmlns:a16="http://schemas.microsoft.com/office/drawing/2014/main" id="{CC576502-C0A4-4FE7-9C38-3D0BC9448947}"/>
                  </a:ext>
                </a:extLst>
              </p:cNvPr>
              <p:cNvSpPr>
                <a:spLocks/>
              </p:cNvSpPr>
              <p:nvPr/>
            </p:nvSpPr>
            <p:spPr bwMode="auto">
              <a:xfrm>
                <a:off x="17954625" y="15730538"/>
                <a:ext cx="65088" cy="136525"/>
              </a:xfrm>
              <a:custGeom>
                <a:avLst/>
                <a:gdLst>
                  <a:gd name="T0" fmla="*/ 3 w 12"/>
                  <a:gd name="T1" fmla="*/ 0 h 25"/>
                  <a:gd name="T2" fmla="*/ 0 w 12"/>
                  <a:gd name="T3" fmla="*/ 3 h 25"/>
                  <a:gd name="T4" fmla="*/ 0 w 12"/>
                  <a:gd name="T5" fmla="*/ 22 h 25"/>
                  <a:gd name="T6" fmla="*/ 3 w 12"/>
                  <a:gd name="T7" fmla="*/ 25 h 25"/>
                  <a:gd name="T8" fmla="*/ 9 w 12"/>
                  <a:gd name="T9" fmla="*/ 25 h 25"/>
                  <a:gd name="T10" fmla="*/ 12 w 12"/>
                  <a:gd name="T11" fmla="*/ 22 h 25"/>
                  <a:gd name="T12" fmla="*/ 12 w 12"/>
                  <a:gd name="T13" fmla="*/ 3 h 25"/>
                  <a:gd name="T14" fmla="*/ 9 w 12"/>
                  <a:gd name="T15" fmla="*/ 0 h 25"/>
                  <a:gd name="T16" fmla="*/ 3 w 12"/>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3" y="0"/>
                    </a:moveTo>
                    <a:cubicBezTo>
                      <a:pt x="1" y="0"/>
                      <a:pt x="0" y="2"/>
                      <a:pt x="0" y="3"/>
                    </a:cubicBezTo>
                    <a:cubicBezTo>
                      <a:pt x="0" y="22"/>
                      <a:pt x="0" y="22"/>
                      <a:pt x="0" y="22"/>
                    </a:cubicBezTo>
                    <a:cubicBezTo>
                      <a:pt x="0" y="24"/>
                      <a:pt x="1" y="25"/>
                      <a:pt x="3" y="25"/>
                    </a:cubicBezTo>
                    <a:cubicBezTo>
                      <a:pt x="9" y="25"/>
                      <a:pt x="9" y="25"/>
                      <a:pt x="9" y="25"/>
                    </a:cubicBezTo>
                    <a:cubicBezTo>
                      <a:pt x="11" y="25"/>
                      <a:pt x="12" y="24"/>
                      <a:pt x="12" y="22"/>
                    </a:cubicBezTo>
                    <a:cubicBezTo>
                      <a:pt x="12" y="3"/>
                      <a:pt x="12" y="3"/>
                      <a:pt x="12" y="3"/>
                    </a:cubicBezTo>
                    <a:cubicBezTo>
                      <a:pt x="12" y="2"/>
                      <a:pt x="11" y="0"/>
                      <a:pt x="9" y="0"/>
                    </a:cubicBezTo>
                    <a:lnTo>
                      <a:pt x="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76" name="Freeform 163">
                <a:extLst>
                  <a:ext uri="{FF2B5EF4-FFF2-40B4-BE49-F238E27FC236}">
                    <a16:creationId xmlns:a16="http://schemas.microsoft.com/office/drawing/2014/main" id="{71B86644-10B6-4203-9AFA-F78F9D01D51B}"/>
                  </a:ext>
                </a:extLst>
              </p:cNvPr>
              <p:cNvSpPr>
                <a:spLocks/>
              </p:cNvSpPr>
              <p:nvPr/>
            </p:nvSpPr>
            <p:spPr bwMode="auto">
              <a:xfrm>
                <a:off x="17530763" y="15139988"/>
                <a:ext cx="136525" cy="66675"/>
              </a:xfrm>
              <a:custGeom>
                <a:avLst/>
                <a:gdLst>
                  <a:gd name="T0" fmla="*/ 3 w 25"/>
                  <a:gd name="T1" fmla="*/ 0 h 12"/>
                  <a:gd name="T2" fmla="*/ 0 w 25"/>
                  <a:gd name="T3" fmla="*/ 2 h 12"/>
                  <a:gd name="T4" fmla="*/ 0 w 25"/>
                  <a:gd name="T5" fmla="*/ 9 h 12"/>
                  <a:gd name="T6" fmla="*/ 3 w 25"/>
                  <a:gd name="T7" fmla="*/ 12 h 12"/>
                  <a:gd name="T8" fmla="*/ 22 w 25"/>
                  <a:gd name="T9" fmla="*/ 12 h 12"/>
                  <a:gd name="T10" fmla="*/ 25 w 25"/>
                  <a:gd name="T11" fmla="*/ 9 h 12"/>
                  <a:gd name="T12" fmla="*/ 25 w 25"/>
                  <a:gd name="T13" fmla="*/ 2 h 12"/>
                  <a:gd name="T14" fmla="*/ 22 w 25"/>
                  <a:gd name="T15" fmla="*/ 0 h 12"/>
                  <a:gd name="T16" fmla="*/ 3 w 25"/>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2">
                    <a:moveTo>
                      <a:pt x="3" y="0"/>
                    </a:moveTo>
                    <a:cubicBezTo>
                      <a:pt x="1" y="0"/>
                      <a:pt x="0" y="1"/>
                      <a:pt x="0" y="2"/>
                    </a:cubicBezTo>
                    <a:cubicBezTo>
                      <a:pt x="0" y="9"/>
                      <a:pt x="0" y="9"/>
                      <a:pt x="0" y="9"/>
                    </a:cubicBezTo>
                    <a:cubicBezTo>
                      <a:pt x="0" y="10"/>
                      <a:pt x="1" y="12"/>
                      <a:pt x="3" y="12"/>
                    </a:cubicBezTo>
                    <a:cubicBezTo>
                      <a:pt x="22" y="12"/>
                      <a:pt x="22" y="12"/>
                      <a:pt x="22" y="12"/>
                    </a:cubicBezTo>
                    <a:cubicBezTo>
                      <a:pt x="24" y="12"/>
                      <a:pt x="25" y="10"/>
                      <a:pt x="25" y="9"/>
                    </a:cubicBezTo>
                    <a:cubicBezTo>
                      <a:pt x="25" y="2"/>
                      <a:pt x="25" y="2"/>
                      <a:pt x="25" y="2"/>
                    </a:cubicBezTo>
                    <a:cubicBezTo>
                      <a:pt x="25" y="1"/>
                      <a:pt x="24" y="0"/>
                      <a:pt x="22" y="0"/>
                    </a:cubicBezTo>
                    <a:lnTo>
                      <a:pt x="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77" name="Freeform 164">
                <a:extLst>
                  <a:ext uri="{FF2B5EF4-FFF2-40B4-BE49-F238E27FC236}">
                    <a16:creationId xmlns:a16="http://schemas.microsoft.com/office/drawing/2014/main" id="{C5113F35-11E3-42CF-AB55-04547D721E4C}"/>
                  </a:ext>
                </a:extLst>
              </p:cNvPr>
              <p:cNvSpPr>
                <a:spLocks/>
              </p:cNvSpPr>
              <p:nvPr/>
            </p:nvSpPr>
            <p:spPr bwMode="auto">
              <a:xfrm>
                <a:off x="17530763" y="15730538"/>
                <a:ext cx="65088" cy="136525"/>
              </a:xfrm>
              <a:custGeom>
                <a:avLst/>
                <a:gdLst>
                  <a:gd name="T0" fmla="*/ 9 w 12"/>
                  <a:gd name="T1" fmla="*/ 0 h 25"/>
                  <a:gd name="T2" fmla="*/ 2 w 12"/>
                  <a:gd name="T3" fmla="*/ 0 h 25"/>
                  <a:gd name="T4" fmla="*/ 0 w 12"/>
                  <a:gd name="T5" fmla="*/ 3 h 25"/>
                  <a:gd name="T6" fmla="*/ 0 w 12"/>
                  <a:gd name="T7" fmla="*/ 22 h 25"/>
                  <a:gd name="T8" fmla="*/ 2 w 12"/>
                  <a:gd name="T9" fmla="*/ 25 h 25"/>
                  <a:gd name="T10" fmla="*/ 9 w 12"/>
                  <a:gd name="T11" fmla="*/ 25 h 25"/>
                  <a:gd name="T12" fmla="*/ 12 w 12"/>
                  <a:gd name="T13" fmla="*/ 22 h 25"/>
                  <a:gd name="T14" fmla="*/ 12 w 12"/>
                  <a:gd name="T15" fmla="*/ 3 h 25"/>
                  <a:gd name="T16" fmla="*/ 9 w 12"/>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9" y="0"/>
                    </a:moveTo>
                    <a:cubicBezTo>
                      <a:pt x="2" y="0"/>
                      <a:pt x="2" y="0"/>
                      <a:pt x="2" y="0"/>
                    </a:cubicBezTo>
                    <a:cubicBezTo>
                      <a:pt x="1" y="0"/>
                      <a:pt x="0" y="2"/>
                      <a:pt x="0" y="3"/>
                    </a:cubicBezTo>
                    <a:cubicBezTo>
                      <a:pt x="0" y="22"/>
                      <a:pt x="0" y="22"/>
                      <a:pt x="0" y="22"/>
                    </a:cubicBezTo>
                    <a:cubicBezTo>
                      <a:pt x="0" y="24"/>
                      <a:pt x="1" y="25"/>
                      <a:pt x="2" y="25"/>
                    </a:cubicBezTo>
                    <a:cubicBezTo>
                      <a:pt x="9" y="25"/>
                      <a:pt x="9" y="25"/>
                      <a:pt x="9" y="25"/>
                    </a:cubicBezTo>
                    <a:cubicBezTo>
                      <a:pt x="10" y="25"/>
                      <a:pt x="12" y="24"/>
                      <a:pt x="12" y="22"/>
                    </a:cubicBezTo>
                    <a:cubicBezTo>
                      <a:pt x="12" y="3"/>
                      <a:pt x="12" y="3"/>
                      <a:pt x="12" y="3"/>
                    </a:cubicBezTo>
                    <a:cubicBezTo>
                      <a:pt x="12" y="2"/>
                      <a:pt x="10"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78" name="Freeform 165">
                <a:extLst>
                  <a:ext uri="{FF2B5EF4-FFF2-40B4-BE49-F238E27FC236}">
                    <a16:creationId xmlns:a16="http://schemas.microsoft.com/office/drawing/2014/main" id="{4298EBAA-445C-4385-9CD0-B779C3498BF8}"/>
                  </a:ext>
                </a:extLst>
              </p:cNvPr>
              <p:cNvSpPr>
                <a:spLocks/>
              </p:cNvSpPr>
              <p:nvPr/>
            </p:nvSpPr>
            <p:spPr bwMode="auto">
              <a:xfrm>
                <a:off x="17464088" y="15757525"/>
                <a:ext cx="49213" cy="82550"/>
              </a:xfrm>
              <a:custGeom>
                <a:avLst/>
                <a:gdLst>
                  <a:gd name="T0" fmla="*/ 0 w 9"/>
                  <a:gd name="T1" fmla="*/ 3 h 15"/>
                  <a:gd name="T2" fmla="*/ 0 w 9"/>
                  <a:gd name="T3" fmla="*/ 13 h 15"/>
                  <a:gd name="T4" fmla="*/ 2 w 9"/>
                  <a:gd name="T5" fmla="*/ 15 h 15"/>
                  <a:gd name="T6" fmla="*/ 9 w 9"/>
                  <a:gd name="T7" fmla="*/ 15 h 15"/>
                  <a:gd name="T8" fmla="*/ 9 w 9"/>
                  <a:gd name="T9" fmla="*/ 0 h 15"/>
                  <a:gd name="T10" fmla="*/ 2 w 9"/>
                  <a:gd name="T11" fmla="*/ 0 h 15"/>
                  <a:gd name="T12" fmla="*/ 0 w 9"/>
                  <a:gd name="T13" fmla="*/ 3 h 15"/>
                </a:gdLst>
                <a:ahLst/>
                <a:cxnLst>
                  <a:cxn ang="0">
                    <a:pos x="T0" y="T1"/>
                  </a:cxn>
                  <a:cxn ang="0">
                    <a:pos x="T2" y="T3"/>
                  </a:cxn>
                  <a:cxn ang="0">
                    <a:pos x="T4" y="T5"/>
                  </a:cxn>
                  <a:cxn ang="0">
                    <a:pos x="T6" y="T7"/>
                  </a:cxn>
                  <a:cxn ang="0">
                    <a:pos x="T8" y="T9"/>
                  </a:cxn>
                  <a:cxn ang="0">
                    <a:pos x="T10" y="T11"/>
                  </a:cxn>
                  <a:cxn ang="0">
                    <a:pos x="T12" y="T13"/>
                  </a:cxn>
                </a:cxnLst>
                <a:rect l="0" t="0" r="r" b="b"/>
                <a:pathLst>
                  <a:path w="9" h="15">
                    <a:moveTo>
                      <a:pt x="0" y="3"/>
                    </a:moveTo>
                    <a:cubicBezTo>
                      <a:pt x="0" y="13"/>
                      <a:pt x="0" y="13"/>
                      <a:pt x="0" y="13"/>
                    </a:cubicBezTo>
                    <a:cubicBezTo>
                      <a:pt x="0" y="14"/>
                      <a:pt x="1" y="15"/>
                      <a:pt x="2" y="15"/>
                    </a:cubicBezTo>
                    <a:cubicBezTo>
                      <a:pt x="9" y="15"/>
                      <a:pt x="9" y="15"/>
                      <a:pt x="9" y="15"/>
                    </a:cubicBezTo>
                    <a:cubicBezTo>
                      <a:pt x="9" y="0"/>
                      <a:pt x="9" y="0"/>
                      <a:pt x="9" y="0"/>
                    </a:cubicBezTo>
                    <a:cubicBezTo>
                      <a:pt x="2" y="0"/>
                      <a:pt x="2" y="0"/>
                      <a:pt x="2" y="0"/>
                    </a:cubicBezTo>
                    <a:cubicBezTo>
                      <a:pt x="1" y="0"/>
                      <a:pt x="0" y="1"/>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79" name="Freeform 166">
                <a:extLst>
                  <a:ext uri="{FF2B5EF4-FFF2-40B4-BE49-F238E27FC236}">
                    <a16:creationId xmlns:a16="http://schemas.microsoft.com/office/drawing/2014/main" id="{B4DBF868-5474-4556-B65B-D8A75EF66E3C}"/>
                  </a:ext>
                </a:extLst>
              </p:cNvPr>
              <p:cNvSpPr>
                <a:spLocks/>
              </p:cNvSpPr>
              <p:nvPr/>
            </p:nvSpPr>
            <p:spPr bwMode="auto">
              <a:xfrm>
                <a:off x="17530763" y="14639925"/>
                <a:ext cx="136525" cy="65088"/>
              </a:xfrm>
              <a:custGeom>
                <a:avLst/>
                <a:gdLst>
                  <a:gd name="T0" fmla="*/ 22 w 25"/>
                  <a:gd name="T1" fmla="*/ 0 h 12"/>
                  <a:gd name="T2" fmla="*/ 3 w 25"/>
                  <a:gd name="T3" fmla="*/ 0 h 12"/>
                  <a:gd name="T4" fmla="*/ 0 w 25"/>
                  <a:gd name="T5" fmla="*/ 3 h 12"/>
                  <a:gd name="T6" fmla="*/ 0 w 25"/>
                  <a:gd name="T7" fmla="*/ 9 h 12"/>
                  <a:gd name="T8" fmla="*/ 3 w 25"/>
                  <a:gd name="T9" fmla="*/ 12 h 12"/>
                  <a:gd name="T10" fmla="*/ 22 w 25"/>
                  <a:gd name="T11" fmla="*/ 12 h 12"/>
                  <a:gd name="T12" fmla="*/ 25 w 25"/>
                  <a:gd name="T13" fmla="*/ 9 h 12"/>
                  <a:gd name="T14" fmla="*/ 25 w 25"/>
                  <a:gd name="T15" fmla="*/ 3 h 12"/>
                  <a:gd name="T16" fmla="*/ 22 w 25"/>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2">
                    <a:moveTo>
                      <a:pt x="22" y="0"/>
                    </a:moveTo>
                    <a:cubicBezTo>
                      <a:pt x="3" y="0"/>
                      <a:pt x="3" y="0"/>
                      <a:pt x="3" y="0"/>
                    </a:cubicBezTo>
                    <a:cubicBezTo>
                      <a:pt x="1" y="0"/>
                      <a:pt x="0" y="1"/>
                      <a:pt x="0" y="3"/>
                    </a:cubicBezTo>
                    <a:cubicBezTo>
                      <a:pt x="0" y="9"/>
                      <a:pt x="0" y="9"/>
                      <a:pt x="0" y="9"/>
                    </a:cubicBezTo>
                    <a:cubicBezTo>
                      <a:pt x="0" y="11"/>
                      <a:pt x="1" y="12"/>
                      <a:pt x="3" y="12"/>
                    </a:cubicBezTo>
                    <a:cubicBezTo>
                      <a:pt x="22" y="12"/>
                      <a:pt x="22" y="12"/>
                      <a:pt x="22" y="12"/>
                    </a:cubicBezTo>
                    <a:cubicBezTo>
                      <a:pt x="24" y="12"/>
                      <a:pt x="25" y="11"/>
                      <a:pt x="25" y="9"/>
                    </a:cubicBezTo>
                    <a:cubicBezTo>
                      <a:pt x="25" y="3"/>
                      <a:pt x="25" y="3"/>
                      <a:pt x="25" y="3"/>
                    </a:cubicBezTo>
                    <a:cubicBezTo>
                      <a:pt x="25" y="1"/>
                      <a:pt x="24"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80" name="Freeform 167">
                <a:extLst>
                  <a:ext uri="{FF2B5EF4-FFF2-40B4-BE49-F238E27FC236}">
                    <a16:creationId xmlns:a16="http://schemas.microsoft.com/office/drawing/2014/main" id="{B8DC96B0-F881-4311-ADC4-18106265342A}"/>
                  </a:ext>
                </a:extLst>
              </p:cNvPr>
              <p:cNvSpPr>
                <a:spLocks/>
              </p:cNvSpPr>
              <p:nvPr/>
            </p:nvSpPr>
            <p:spPr bwMode="auto">
              <a:xfrm>
                <a:off x="17557750" y="14578013"/>
                <a:ext cx="82550" cy="50800"/>
              </a:xfrm>
              <a:custGeom>
                <a:avLst/>
                <a:gdLst>
                  <a:gd name="T0" fmla="*/ 12 w 15"/>
                  <a:gd name="T1" fmla="*/ 0 h 9"/>
                  <a:gd name="T2" fmla="*/ 2 w 15"/>
                  <a:gd name="T3" fmla="*/ 0 h 9"/>
                  <a:gd name="T4" fmla="*/ 0 w 15"/>
                  <a:gd name="T5" fmla="*/ 2 h 9"/>
                  <a:gd name="T6" fmla="*/ 0 w 15"/>
                  <a:gd name="T7" fmla="*/ 9 h 9"/>
                  <a:gd name="T8" fmla="*/ 15 w 15"/>
                  <a:gd name="T9" fmla="*/ 9 h 9"/>
                  <a:gd name="T10" fmla="*/ 15 w 15"/>
                  <a:gd name="T11" fmla="*/ 2 h 9"/>
                  <a:gd name="T12" fmla="*/ 12 w 1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 h="9">
                    <a:moveTo>
                      <a:pt x="12" y="0"/>
                    </a:moveTo>
                    <a:cubicBezTo>
                      <a:pt x="2" y="0"/>
                      <a:pt x="2" y="0"/>
                      <a:pt x="2" y="0"/>
                    </a:cubicBezTo>
                    <a:cubicBezTo>
                      <a:pt x="1" y="0"/>
                      <a:pt x="0" y="1"/>
                      <a:pt x="0" y="2"/>
                    </a:cubicBezTo>
                    <a:cubicBezTo>
                      <a:pt x="0" y="9"/>
                      <a:pt x="0" y="9"/>
                      <a:pt x="0" y="9"/>
                    </a:cubicBezTo>
                    <a:cubicBezTo>
                      <a:pt x="15" y="9"/>
                      <a:pt x="15" y="9"/>
                      <a:pt x="15" y="9"/>
                    </a:cubicBezTo>
                    <a:cubicBezTo>
                      <a:pt x="15" y="2"/>
                      <a:pt x="15" y="2"/>
                      <a:pt x="15" y="2"/>
                    </a:cubicBezTo>
                    <a:cubicBezTo>
                      <a:pt x="15" y="1"/>
                      <a:pt x="14"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81" name="Freeform 168">
                <a:extLst>
                  <a:ext uri="{FF2B5EF4-FFF2-40B4-BE49-F238E27FC236}">
                    <a16:creationId xmlns:a16="http://schemas.microsoft.com/office/drawing/2014/main" id="{3CEBDE87-4BEC-4475-844A-590E63905BB9}"/>
                  </a:ext>
                </a:extLst>
              </p:cNvPr>
              <p:cNvSpPr>
                <a:spLocks/>
              </p:cNvSpPr>
              <p:nvPr/>
            </p:nvSpPr>
            <p:spPr bwMode="auto">
              <a:xfrm>
                <a:off x="17254538" y="13757275"/>
                <a:ext cx="71438" cy="39688"/>
              </a:xfrm>
              <a:custGeom>
                <a:avLst/>
                <a:gdLst>
                  <a:gd name="T0" fmla="*/ 0 w 13"/>
                  <a:gd name="T1" fmla="*/ 2 h 7"/>
                  <a:gd name="T2" fmla="*/ 0 w 13"/>
                  <a:gd name="T3" fmla="*/ 5 h 7"/>
                  <a:gd name="T4" fmla="*/ 1 w 13"/>
                  <a:gd name="T5" fmla="*/ 7 h 7"/>
                  <a:gd name="T6" fmla="*/ 11 w 13"/>
                  <a:gd name="T7" fmla="*/ 7 h 7"/>
                  <a:gd name="T8" fmla="*/ 13 w 13"/>
                  <a:gd name="T9" fmla="*/ 5 h 7"/>
                  <a:gd name="T10" fmla="*/ 13 w 13"/>
                  <a:gd name="T11" fmla="*/ 2 h 7"/>
                  <a:gd name="T12" fmla="*/ 11 w 13"/>
                  <a:gd name="T13" fmla="*/ 0 h 7"/>
                  <a:gd name="T14" fmla="*/ 1 w 13"/>
                  <a:gd name="T15" fmla="*/ 0 h 7"/>
                  <a:gd name="T16" fmla="*/ 0 w 13"/>
                  <a:gd name="T17"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7">
                    <a:moveTo>
                      <a:pt x="0" y="2"/>
                    </a:moveTo>
                    <a:cubicBezTo>
                      <a:pt x="0" y="5"/>
                      <a:pt x="0" y="5"/>
                      <a:pt x="0" y="5"/>
                    </a:cubicBezTo>
                    <a:cubicBezTo>
                      <a:pt x="0" y="6"/>
                      <a:pt x="0" y="7"/>
                      <a:pt x="1" y="7"/>
                    </a:cubicBezTo>
                    <a:cubicBezTo>
                      <a:pt x="11" y="7"/>
                      <a:pt x="11" y="7"/>
                      <a:pt x="11" y="7"/>
                    </a:cubicBezTo>
                    <a:cubicBezTo>
                      <a:pt x="12" y="7"/>
                      <a:pt x="13" y="6"/>
                      <a:pt x="13" y="5"/>
                    </a:cubicBezTo>
                    <a:cubicBezTo>
                      <a:pt x="13" y="2"/>
                      <a:pt x="13" y="2"/>
                      <a:pt x="13" y="2"/>
                    </a:cubicBezTo>
                    <a:cubicBezTo>
                      <a:pt x="13" y="1"/>
                      <a:pt x="12" y="0"/>
                      <a:pt x="11" y="0"/>
                    </a:cubicBezTo>
                    <a:cubicBezTo>
                      <a:pt x="1" y="0"/>
                      <a:pt x="1" y="0"/>
                      <a:pt x="1" y="0"/>
                    </a:cubicBezTo>
                    <a:cubicBezTo>
                      <a:pt x="0"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82" name="Freeform 169">
                <a:extLst>
                  <a:ext uri="{FF2B5EF4-FFF2-40B4-BE49-F238E27FC236}">
                    <a16:creationId xmlns:a16="http://schemas.microsoft.com/office/drawing/2014/main" id="{4E44836D-593A-4AB5-A672-42CD4D44479D}"/>
                  </a:ext>
                </a:extLst>
              </p:cNvPr>
              <p:cNvSpPr>
                <a:spLocks/>
              </p:cNvSpPr>
              <p:nvPr/>
            </p:nvSpPr>
            <p:spPr bwMode="auto">
              <a:xfrm>
                <a:off x="17265650" y="13725525"/>
                <a:ext cx="44450" cy="26988"/>
              </a:xfrm>
              <a:custGeom>
                <a:avLst/>
                <a:gdLst>
                  <a:gd name="T0" fmla="*/ 7 w 8"/>
                  <a:gd name="T1" fmla="*/ 0 h 5"/>
                  <a:gd name="T2" fmla="*/ 2 w 8"/>
                  <a:gd name="T3" fmla="*/ 0 h 5"/>
                  <a:gd name="T4" fmla="*/ 0 w 8"/>
                  <a:gd name="T5" fmla="*/ 1 h 5"/>
                  <a:gd name="T6" fmla="*/ 0 w 8"/>
                  <a:gd name="T7" fmla="*/ 5 h 5"/>
                  <a:gd name="T8" fmla="*/ 8 w 8"/>
                  <a:gd name="T9" fmla="*/ 5 h 5"/>
                  <a:gd name="T10" fmla="*/ 8 w 8"/>
                  <a:gd name="T11" fmla="*/ 1 h 5"/>
                  <a:gd name="T12" fmla="*/ 7 w 8"/>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 h="5">
                    <a:moveTo>
                      <a:pt x="7" y="0"/>
                    </a:moveTo>
                    <a:cubicBezTo>
                      <a:pt x="2" y="0"/>
                      <a:pt x="2" y="0"/>
                      <a:pt x="2" y="0"/>
                    </a:cubicBezTo>
                    <a:cubicBezTo>
                      <a:pt x="1" y="0"/>
                      <a:pt x="0" y="1"/>
                      <a:pt x="0" y="1"/>
                    </a:cubicBezTo>
                    <a:cubicBezTo>
                      <a:pt x="0" y="5"/>
                      <a:pt x="0" y="5"/>
                      <a:pt x="0" y="5"/>
                    </a:cubicBezTo>
                    <a:cubicBezTo>
                      <a:pt x="8" y="5"/>
                      <a:pt x="8" y="5"/>
                      <a:pt x="8" y="5"/>
                    </a:cubicBezTo>
                    <a:cubicBezTo>
                      <a:pt x="8" y="1"/>
                      <a:pt x="8" y="1"/>
                      <a:pt x="8" y="1"/>
                    </a:cubicBezTo>
                    <a:cubicBezTo>
                      <a:pt x="8" y="1"/>
                      <a:pt x="8"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83" name="Freeform 170">
                <a:extLst>
                  <a:ext uri="{FF2B5EF4-FFF2-40B4-BE49-F238E27FC236}">
                    <a16:creationId xmlns:a16="http://schemas.microsoft.com/office/drawing/2014/main" id="{77D49E7C-82FB-4306-B4FE-DF0552AA61A1}"/>
                  </a:ext>
                </a:extLst>
              </p:cNvPr>
              <p:cNvSpPr>
                <a:spLocks/>
              </p:cNvSpPr>
              <p:nvPr/>
            </p:nvSpPr>
            <p:spPr bwMode="auto">
              <a:xfrm>
                <a:off x="17530763" y="16737013"/>
                <a:ext cx="65088" cy="138113"/>
              </a:xfrm>
              <a:custGeom>
                <a:avLst/>
                <a:gdLst>
                  <a:gd name="T0" fmla="*/ 9 w 12"/>
                  <a:gd name="T1" fmla="*/ 0 h 25"/>
                  <a:gd name="T2" fmla="*/ 2 w 12"/>
                  <a:gd name="T3" fmla="*/ 0 h 25"/>
                  <a:gd name="T4" fmla="*/ 0 w 12"/>
                  <a:gd name="T5" fmla="*/ 3 h 25"/>
                  <a:gd name="T6" fmla="*/ 0 w 12"/>
                  <a:gd name="T7" fmla="*/ 22 h 25"/>
                  <a:gd name="T8" fmla="*/ 2 w 12"/>
                  <a:gd name="T9" fmla="*/ 25 h 25"/>
                  <a:gd name="T10" fmla="*/ 9 w 12"/>
                  <a:gd name="T11" fmla="*/ 25 h 25"/>
                  <a:gd name="T12" fmla="*/ 12 w 12"/>
                  <a:gd name="T13" fmla="*/ 22 h 25"/>
                  <a:gd name="T14" fmla="*/ 12 w 12"/>
                  <a:gd name="T15" fmla="*/ 3 h 25"/>
                  <a:gd name="T16" fmla="*/ 9 w 12"/>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9" y="0"/>
                    </a:moveTo>
                    <a:cubicBezTo>
                      <a:pt x="2" y="0"/>
                      <a:pt x="2" y="0"/>
                      <a:pt x="2" y="0"/>
                    </a:cubicBezTo>
                    <a:cubicBezTo>
                      <a:pt x="1" y="0"/>
                      <a:pt x="0" y="1"/>
                      <a:pt x="0" y="3"/>
                    </a:cubicBezTo>
                    <a:cubicBezTo>
                      <a:pt x="0" y="22"/>
                      <a:pt x="0" y="22"/>
                      <a:pt x="0" y="22"/>
                    </a:cubicBezTo>
                    <a:cubicBezTo>
                      <a:pt x="0" y="24"/>
                      <a:pt x="1" y="25"/>
                      <a:pt x="2" y="25"/>
                    </a:cubicBezTo>
                    <a:cubicBezTo>
                      <a:pt x="9" y="25"/>
                      <a:pt x="9" y="25"/>
                      <a:pt x="9" y="25"/>
                    </a:cubicBezTo>
                    <a:cubicBezTo>
                      <a:pt x="10" y="25"/>
                      <a:pt x="12" y="24"/>
                      <a:pt x="12" y="22"/>
                    </a:cubicBezTo>
                    <a:cubicBezTo>
                      <a:pt x="12" y="3"/>
                      <a:pt x="12" y="3"/>
                      <a:pt x="12" y="3"/>
                    </a:cubicBezTo>
                    <a:cubicBezTo>
                      <a:pt x="12" y="1"/>
                      <a:pt x="10"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84" name="Freeform 171">
                <a:extLst>
                  <a:ext uri="{FF2B5EF4-FFF2-40B4-BE49-F238E27FC236}">
                    <a16:creationId xmlns:a16="http://schemas.microsoft.com/office/drawing/2014/main" id="{51D3B803-4B50-4C4E-9732-EC6EFB0707BC}"/>
                  </a:ext>
                </a:extLst>
              </p:cNvPr>
              <p:cNvSpPr>
                <a:spLocks/>
              </p:cNvSpPr>
              <p:nvPr/>
            </p:nvSpPr>
            <p:spPr bwMode="auto">
              <a:xfrm>
                <a:off x="17954625" y="16737013"/>
                <a:ext cx="65088" cy="138113"/>
              </a:xfrm>
              <a:custGeom>
                <a:avLst/>
                <a:gdLst>
                  <a:gd name="T0" fmla="*/ 9 w 12"/>
                  <a:gd name="T1" fmla="*/ 0 h 25"/>
                  <a:gd name="T2" fmla="*/ 3 w 12"/>
                  <a:gd name="T3" fmla="*/ 0 h 25"/>
                  <a:gd name="T4" fmla="*/ 0 w 12"/>
                  <a:gd name="T5" fmla="*/ 3 h 25"/>
                  <a:gd name="T6" fmla="*/ 0 w 12"/>
                  <a:gd name="T7" fmla="*/ 22 h 25"/>
                  <a:gd name="T8" fmla="*/ 3 w 12"/>
                  <a:gd name="T9" fmla="*/ 25 h 25"/>
                  <a:gd name="T10" fmla="*/ 9 w 12"/>
                  <a:gd name="T11" fmla="*/ 25 h 25"/>
                  <a:gd name="T12" fmla="*/ 12 w 12"/>
                  <a:gd name="T13" fmla="*/ 22 h 25"/>
                  <a:gd name="T14" fmla="*/ 12 w 12"/>
                  <a:gd name="T15" fmla="*/ 3 h 25"/>
                  <a:gd name="T16" fmla="*/ 9 w 12"/>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9" y="0"/>
                    </a:moveTo>
                    <a:cubicBezTo>
                      <a:pt x="3" y="0"/>
                      <a:pt x="3" y="0"/>
                      <a:pt x="3" y="0"/>
                    </a:cubicBezTo>
                    <a:cubicBezTo>
                      <a:pt x="1" y="0"/>
                      <a:pt x="0" y="1"/>
                      <a:pt x="0" y="3"/>
                    </a:cubicBezTo>
                    <a:cubicBezTo>
                      <a:pt x="0" y="22"/>
                      <a:pt x="0" y="22"/>
                      <a:pt x="0" y="22"/>
                    </a:cubicBezTo>
                    <a:cubicBezTo>
                      <a:pt x="0" y="24"/>
                      <a:pt x="1" y="25"/>
                      <a:pt x="3" y="25"/>
                    </a:cubicBezTo>
                    <a:cubicBezTo>
                      <a:pt x="9" y="25"/>
                      <a:pt x="9" y="25"/>
                      <a:pt x="9" y="25"/>
                    </a:cubicBezTo>
                    <a:cubicBezTo>
                      <a:pt x="11" y="25"/>
                      <a:pt x="12" y="24"/>
                      <a:pt x="12" y="22"/>
                    </a:cubicBezTo>
                    <a:cubicBezTo>
                      <a:pt x="12" y="3"/>
                      <a:pt x="12" y="3"/>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85" name="Freeform 172">
                <a:extLst>
                  <a:ext uri="{FF2B5EF4-FFF2-40B4-BE49-F238E27FC236}">
                    <a16:creationId xmlns:a16="http://schemas.microsoft.com/office/drawing/2014/main" id="{35418D94-644D-4ACB-9169-0288012794F6}"/>
                  </a:ext>
                </a:extLst>
              </p:cNvPr>
              <p:cNvSpPr>
                <a:spLocks/>
              </p:cNvSpPr>
              <p:nvPr/>
            </p:nvSpPr>
            <p:spPr bwMode="auto">
              <a:xfrm>
                <a:off x="17464088" y="16765588"/>
                <a:ext cx="49213" cy="82550"/>
              </a:xfrm>
              <a:custGeom>
                <a:avLst/>
                <a:gdLst>
                  <a:gd name="T0" fmla="*/ 0 w 9"/>
                  <a:gd name="T1" fmla="*/ 2 h 15"/>
                  <a:gd name="T2" fmla="*/ 0 w 9"/>
                  <a:gd name="T3" fmla="*/ 12 h 15"/>
                  <a:gd name="T4" fmla="*/ 2 w 9"/>
                  <a:gd name="T5" fmla="*/ 15 h 15"/>
                  <a:gd name="T6" fmla="*/ 9 w 9"/>
                  <a:gd name="T7" fmla="*/ 15 h 15"/>
                  <a:gd name="T8" fmla="*/ 9 w 9"/>
                  <a:gd name="T9" fmla="*/ 0 h 15"/>
                  <a:gd name="T10" fmla="*/ 2 w 9"/>
                  <a:gd name="T11" fmla="*/ 0 h 15"/>
                  <a:gd name="T12" fmla="*/ 0 w 9"/>
                  <a:gd name="T13" fmla="*/ 2 h 15"/>
                </a:gdLst>
                <a:ahLst/>
                <a:cxnLst>
                  <a:cxn ang="0">
                    <a:pos x="T0" y="T1"/>
                  </a:cxn>
                  <a:cxn ang="0">
                    <a:pos x="T2" y="T3"/>
                  </a:cxn>
                  <a:cxn ang="0">
                    <a:pos x="T4" y="T5"/>
                  </a:cxn>
                  <a:cxn ang="0">
                    <a:pos x="T6" y="T7"/>
                  </a:cxn>
                  <a:cxn ang="0">
                    <a:pos x="T8" y="T9"/>
                  </a:cxn>
                  <a:cxn ang="0">
                    <a:pos x="T10" y="T11"/>
                  </a:cxn>
                  <a:cxn ang="0">
                    <a:pos x="T12" y="T13"/>
                  </a:cxn>
                </a:cxnLst>
                <a:rect l="0" t="0" r="r" b="b"/>
                <a:pathLst>
                  <a:path w="9" h="15">
                    <a:moveTo>
                      <a:pt x="0" y="2"/>
                    </a:moveTo>
                    <a:cubicBezTo>
                      <a:pt x="0" y="12"/>
                      <a:pt x="0" y="12"/>
                      <a:pt x="0" y="12"/>
                    </a:cubicBezTo>
                    <a:cubicBezTo>
                      <a:pt x="0" y="14"/>
                      <a:pt x="1" y="15"/>
                      <a:pt x="2" y="15"/>
                    </a:cubicBezTo>
                    <a:cubicBezTo>
                      <a:pt x="9" y="15"/>
                      <a:pt x="9" y="15"/>
                      <a:pt x="9" y="15"/>
                    </a:cubicBezTo>
                    <a:cubicBezTo>
                      <a:pt x="9" y="0"/>
                      <a:pt x="9" y="0"/>
                      <a:pt x="9" y="0"/>
                    </a:cubicBezTo>
                    <a:cubicBezTo>
                      <a:pt x="2" y="0"/>
                      <a:pt x="2" y="0"/>
                      <a:pt x="2" y="0"/>
                    </a:cubicBezTo>
                    <a:cubicBezTo>
                      <a:pt x="1"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86" name="Rectangle 173">
                <a:extLst>
                  <a:ext uri="{FF2B5EF4-FFF2-40B4-BE49-F238E27FC236}">
                    <a16:creationId xmlns:a16="http://schemas.microsoft.com/office/drawing/2014/main" id="{5D67CBCC-E03C-4AC4-AD75-8894EE1A5FD5}"/>
                  </a:ext>
                </a:extLst>
              </p:cNvPr>
              <p:cNvSpPr>
                <a:spLocks noChangeArrowheads="1"/>
              </p:cNvSpPr>
              <p:nvPr/>
            </p:nvSpPr>
            <p:spPr bwMode="auto">
              <a:xfrm>
                <a:off x="17265650" y="13923963"/>
                <a:ext cx="44450" cy="1317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87" name="Freeform 174">
                <a:extLst>
                  <a:ext uri="{FF2B5EF4-FFF2-40B4-BE49-F238E27FC236}">
                    <a16:creationId xmlns:a16="http://schemas.microsoft.com/office/drawing/2014/main" id="{E773E303-EAA6-488A-8DBF-4D60F9AD1E31}"/>
                  </a:ext>
                </a:extLst>
              </p:cNvPr>
              <p:cNvSpPr>
                <a:spLocks/>
              </p:cNvSpPr>
              <p:nvPr/>
            </p:nvSpPr>
            <p:spPr bwMode="auto">
              <a:xfrm>
                <a:off x="16203613" y="13388975"/>
                <a:ext cx="247650" cy="187325"/>
              </a:xfrm>
              <a:custGeom>
                <a:avLst/>
                <a:gdLst>
                  <a:gd name="T0" fmla="*/ 45 w 45"/>
                  <a:gd name="T1" fmla="*/ 25 h 34"/>
                  <a:gd name="T2" fmla="*/ 45 w 45"/>
                  <a:gd name="T3" fmla="*/ 9 h 34"/>
                  <a:gd name="T4" fmla="*/ 38 w 45"/>
                  <a:gd name="T5" fmla="*/ 0 h 34"/>
                  <a:gd name="T6" fmla="*/ 9 w 45"/>
                  <a:gd name="T7" fmla="*/ 0 h 34"/>
                  <a:gd name="T8" fmla="*/ 0 w 45"/>
                  <a:gd name="T9" fmla="*/ 9 h 34"/>
                  <a:gd name="T10" fmla="*/ 0 w 45"/>
                  <a:gd name="T11" fmla="*/ 25 h 34"/>
                  <a:gd name="T12" fmla="*/ 9 w 45"/>
                  <a:gd name="T13" fmla="*/ 34 h 34"/>
                  <a:gd name="T14" fmla="*/ 38 w 45"/>
                  <a:gd name="T15" fmla="*/ 34 h 34"/>
                  <a:gd name="T16" fmla="*/ 45 w 45"/>
                  <a:gd name="T17" fmla="*/ 2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34">
                    <a:moveTo>
                      <a:pt x="45" y="25"/>
                    </a:moveTo>
                    <a:cubicBezTo>
                      <a:pt x="45" y="9"/>
                      <a:pt x="45" y="9"/>
                      <a:pt x="45" y="9"/>
                    </a:cubicBezTo>
                    <a:cubicBezTo>
                      <a:pt x="45" y="4"/>
                      <a:pt x="42" y="0"/>
                      <a:pt x="38" y="0"/>
                    </a:cubicBezTo>
                    <a:cubicBezTo>
                      <a:pt x="9" y="0"/>
                      <a:pt x="9" y="0"/>
                      <a:pt x="9" y="0"/>
                    </a:cubicBezTo>
                    <a:cubicBezTo>
                      <a:pt x="4" y="0"/>
                      <a:pt x="0" y="4"/>
                      <a:pt x="0" y="9"/>
                    </a:cubicBezTo>
                    <a:cubicBezTo>
                      <a:pt x="0" y="25"/>
                      <a:pt x="0" y="25"/>
                      <a:pt x="0" y="25"/>
                    </a:cubicBezTo>
                    <a:cubicBezTo>
                      <a:pt x="0" y="30"/>
                      <a:pt x="4" y="34"/>
                      <a:pt x="9" y="34"/>
                    </a:cubicBezTo>
                    <a:cubicBezTo>
                      <a:pt x="38" y="34"/>
                      <a:pt x="38" y="34"/>
                      <a:pt x="38" y="34"/>
                    </a:cubicBezTo>
                    <a:cubicBezTo>
                      <a:pt x="42" y="34"/>
                      <a:pt x="45" y="30"/>
                      <a:pt x="4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88" name="Freeform 175">
                <a:extLst>
                  <a:ext uri="{FF2B5EF4-FFF2-40B4-BE49-F238E27FC236}">
                    <a16:creationId xmlns:a16="http://schemas.microsoft.com/office/drawing/2014/main" id="{7B2B816F-45F3-4018-95E9-69EBA23A8F50}"/>
                  </a:ext>
                </a:extLst>
              </p:cNvPr>
              <p:cNvSpPr>
                <a:spLocks/>
              </p:cNvSpPr>
              <p:nvPr/>
            </p:nvSpPr>
            <p:spPr bwMode="auto">
              <a:xfrm>
                <a:off x="16478250" y="13388975"/>
                <a:ext cx="1112838" cy="187325"/>
              </a:xfrm>
              <a:custGeom>
                <a:avLst/>
                <a:gdLst>
                  <a:gd name="T0" fmla="*/ 2 w 202"/>
                  <a:gd name="T1" fmla="*/ 25 h 34"/>
                  <a:gd name="T2" fmla="*/ 0 w 202"/>
                  <a:gd name="T3" fmla="*/ 34 h 34"/>
                  <a:gd name="T4" fmla="*/ 202 w 202"/>
                  <a:gd name="T5" fmla="*/ 34 h 34"/>
                  <a:gd name="T6" fmla="*/ 200 w 202"/>
                  <a:gd name="T7" fmla="*/ 25 h 34"/>
                  <a:gd name="T8" fmla="*/ 200 w 202"/>
                  <a:gd name="T9" fmla="*/ 9 h 34"/>
                  <a:gd name="T10" fmla="*/ 202 w 202"/>
                  <a:gd name="T11" fmla="*/ 0 h 34"/>
                  <a:gd name="T12" fmla="*/ 0 w 202"/>
                  <a:gd name="T13" fmla="*/ 0 h 34"/>
                  <a:gd name="T14" fmla="*/ 2 w 202"/>
                  <a:gd name="T15" fmla="*/ 9 h 34"/>
                  <a:gd name="T16" fmla="*/ 2 w 202"/>
                  <a:gd name="T17" fmla="*/ 2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2" h="34">
                    <a:moveTo>
                      <a:pt x="2" y="25"/>
                    </a:moveTo>
                    <a:cubicBezTo>
                      <a:pt x="2" y="29"/>
                      <a:pt x="1" y="32"/>
                      <a:pt x="0" y="34"/>
                    </a:cubicBezTo>
                    <a:cubicBezTo>
                      <a:pt x="202" y="34"/>
                      <a:pt x="202" y="34"/>
                      <a:pt x="202" y="34"/>
                    </a:cubicBezTo>
                    <a:cubicBezTo>
                      <a:pt x="200" y="32"/>
                      <a:pt x="200" y="29"/>
                      <a:pt x="200" y="25"/>
                    </a:cubicBezTo>
                    <a:cubicBezTo>
                      <a:pt x="200" y="9"/>
                      <a:pt x="200" y="9"/>
                      <a:pt x="200" y="9"/>
                    </a:cubicBezTo>
                    <a:cubicBezTo>
                      <a:pt x="200" y="5"/>
                      <a:pt x="200" y="2"/>
                      <a:pt x="202" y="0"/>
                    </a:cubicBezTo>
                    <a:cubicBezTo>
                      <a:pt x="0" y="0"/>
                      <a:pt x="0" y="0"/>
                      <a:pt x="0" y="0"/>
                    </a:cubicBezTo>
                    <a:cubicBezTo>
                      <a:pt x="1" y="2"/>
                      <a:pt x="2" y="5"/>
                      <a:pt x="2" y="9"/>
                    </a:cubicBezTo>
                    <a:lnTo>
                      <a:pt x="2"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89" name="Freeform 176">
                <a:extLst>
                  <a:ext uri="{FF2B5EF4-FFF2-40B4-BE49-F238E27FC236}">
                    <a16:creationId xmlns:a16="http://schemas.microsoft.com/office/drawing/2014/main" id="{8B446D32-D1DA-4CAB-9BA4-489D05B25D6B}"/>
                  </a:ext>
                </a:extLst>
              </p:cNvPr>
              <p:cNvSpPr>
                <a:spLocks/>
              </p:cNvSpPr>
              <p:nvPr/>
            </p:nvSpPr>
            <p:spPr bwMode="auto">
              <a:xfrm>
                <a:off x="15663863" y="13388975"/>
                <a:ext cx="511175" cy="187325"/>
              </a:xfrm>
              <a:custGeom>
                <a:avLst/>
                <a:gdLst>
                  <a:gd name="T0" fmla="*/ 18 w 93"/>
                  <a:gd name="T1" fmla="*/ 34 h 34"/>
                  <a:gd name="T2" fmla="*/ 93 w 93"/>
                  <a:gd name="T3" fmla="*/ 34 h 34"/>
                  <a:gd name="T4" fmla="*/ 91 w 93"/>
                  <a:gd name="T5" fmla="*/ 25 h 34"/>
                  <a:gd name="T6" fmla="*/ 91 w 93"/>
                  <a:gd name="T7" fmla="*/ 9 h 34"/>
                  <a:gd name="T8" fmla="*/ 93 w 93"/>
                  <a:gd name="T9" fmla="*/ 0 h 34"/>
                  <a:gd name="T10" fmla="*/ 18 w 93"/>
                  <a:gd name="T11" fmla="*/ 0 h 34"/>
                  <a:gd name="T12" fmla="*/ 0 w 93"/>
                  <a:gd name="T13" fmla="*/ 17 h 34"/>
                  <a:gd name="T14" fmla="*/ 0 w 93"/>
                  <a:gd name="T15" fmla="*/ 17 h 34"/>
                  <a:gd name="T16" fmla="*/ 18 w 93"/>
                  <a:gd name="T17"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34">
                    <a:moveTo>
                      <a:pt x="18" y="34"/>
                    </a:moveTo>
                    <a:cubicBezTo>
                      <a:pt x="93" y="34"/>
                      <a:pt x="93" y="34"/>
                      <a:pt x="93" y="34"/>
                    </a:cubicBezTo>
                    <a:cubicBezTo>
                      <a:pt x="92" y="32"/>
                      <a:pt x="91" y="29"/>
                      <a:pt x="91" y="25"/>
                    </a:cubicBezTo>
                    <a:cubicBezTo>
                      <a:pt x="91" y="9"/>
                      <a:pt x="91" y="9"/>
                      <a:pt x="91" y="9"/>
                    </a:cubicBezTo>
                    <a:cubicBezTo>
                      <a:pt x="91" y="5"/>
                      <a:pt x="92" y="2"/>
                      <a:pt x="93" y="0"/>
                    </a:cubicBezTo>
                    <a:cubicBezTo>
                      <a:pt x="18" y="0"/>
                      <a:pt x="18" y="0"/>
                      <a:pt x="18" y="0"/>
                    </a:cubicBezTo>
                    <a:cubicBezTo>
                      <a:pt x="8" y="0"/>
                      <a:pt x="0" y="7"/>
                      <a:pt x="0" y="17"/>
                    </a:cubicBezTo>
                    <a:cubicBezTo>
                      <a:pt x="0" y="17"/>
                      <a:pt x="0" y="17"/>
                      <a:pt x="0" y="17"/>
                    </a:cubicBezTo>
                    <a:cubicBezTo>
                      <a:pt x="0" y="27"/>
                      <a:pt x="8" y="34"/>
                      <a:pt x="1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90" name="Freeform 177">
                <a:extLst>
                  <a:ext uri="{FF2B5EF4-FFF2-40B4-BE49-F238E27FC236}">
                    <a16:creationId xmlns:a16="http://schemas.microsoft.com/office/drawing/2014/main" id="{63C65966-DB51-43D3-85D7-BCD678834181}"/>
                  </a:ext>
                </a:extLst>
              </p:cNvPr>
              <p:cNvSpPr>
                <a:spLocks/>
              </p:cNvSpPr>
              <p:nvPr/>
            </p:nvSpPr>
            <p:spPr bwMode="auto">
              <a:xfrm>
                <a:off x="17887950" y="13388975"/>
                <a:ext cx="512763" cy="187325"/>
              </a:xfrm>
              <a:custGeom>
                <a:avLst/>
                <a:gdLst>
                  <a:gd name="T0" fmla="*/ 3 w 93"/>
                  <a:gd name="T1" fmla="*/ 25 h 34"/>
                  <a:gd name="T2" fmla="*/ 0 w 93"/>
                  <a:gd name="T3" fmla="*/ 34 h 34"/>
                  <a:gd name="T4" fmla="*/ 76 w 93"/>
                  <a:gd name="T5" fmla="*/ 34 h 34"/>
                  <a:gd name="T6" fmla="*/ 93 w 93"/>
                  <a:gd name="T7" fmla="*/ 17 h 34"/>
                  <a:gd name="T8" fmla="*/ 93 w 93"/>
                  <a:gd name="T9" fmla="*/ 17 h 34"/>
                  <a:gd name="T10" fmla="*/ 76 w 93"/>
                  <a:gd name="T11" fmla="*/ 0 h 34"/>
                  <a:gd name="T12" fmla="*/ 0 w 93"/>
                  <a:gd name="T13" fmla="*/ 0 h 34"/>
                  <a:gd name="T14" fmla="*/ 3 w 93"/>
                  <a:gd name="T15" fmla="*/ 9 h 34"/>
                  <a:gd name="T16" fmla="*/ 3 w 93"/>
                  <a:gd name="T17" fmla="*/ 2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34">
                    <a:moveTo>
                      <a:pt x="3" y="25"/>
                    </a:moveTo>
                    <a:cubicBezTo>
                      <a:pt x="3" y="29"/>
                      <a:pt x="2" y="32"/>
                      <a:pt x="0" y="34"/>
                    </a:cubicBezTo>
                    <a:cubicBezTo>
                      <a:pt x="76" y="34"/>
                      <a:pt x="76" y="34"/>
                      <a:pt x="76" y="34"/>
                    </a:cubicBezTo>
                    <a:cubicBezTo>
                      <a:pt x="85" y="34"/>
                      <a:pt x="93" y="27"/>
                      <a:pt x="93" y="17"/>
                    </a:cubicBezTo>
                    <a:cubicBezTo>
                      <a:pt x="93" y="17"/>
                      <a:pt x="93" y="17"/>
                      <a:pt x="93" y="17"/>
                    </a:cubicBezTo>
                    <a:cubicBezTo>
                      <a:pt x="93" y="7"/>
                      <a:pt x="85" y="0"/>
                      <a:pt x="76" y="0"/>
                    </a:cubicBezTo>
                    <a:cubicBezTo>
                      <a:pt x="0" y="0"/>
                      <a:pt x="0" y="0"/>
                      <a:pt x="0" y="0"/>
                    </a:cubicBezTo>
                    <a:cubicBezTo>
                      <a:pt x="2" y="2"/>
                      <a:pt x="3" y="5"/>
                      <a:pt x="3" y="9"/>
                    </a:cubicBezTo>
                    <a:lnTo>
                      <a:pt x="3"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91" name="Freeform 178">
                <a:extLst>
                  <a:ext uri="{FF2B5EF4-FFF2-40B4-BE49-F238E27FC236}">
                    <a16:creationId xmlns:a16="http://schemas.microsoft.com/office/drawing/2014/main" id="{0F9E36BB-DA51-46E0-A7D8-7DF6A636F3FC}"/>
                  </a:ext>
                </a:extLst>
              </p:cNvPr>
              <p:cNvSpPr>
                <a:spLocks/>
              </p:cNvSpPr>
              <p:nvPr/>
            </p:nvSpPr>
            <p:spPr bwMode="auto">
              <a:xfrm>
                <a:off x="17618075" y="13388975"/>
                <a:ext cx="247650" cy="187325"/>
              </a:xfrm>
              <a:custGeom>
                <a:avLst/>
                <a:gdLst>
                  <a:gd name="T0" fmla="*/ 45 w 45"/>
                  <a:gd name="T1" fmla="*/ 25 h 34"/>
                  <a:gd name="T2" fmla="*/ 45 w 45"/>
                  <a:gd name="T3" fmla="*/ 9 h 34"/>
                  <a:gd name="T4" fmla="*/ 36 w 45"/>
                  <a:gd name="T5" fmla="*/ 0 h 34"/>
                  <a:gd name="T6" fmla="*/ 7 w 45"/>
                  <a:gd name="T7" fmla="*/ 0 h 34"/>
                  <a:gd name="T8" fmla="*/ 0 w 45"/>
                  <a:gd name="T9" fmla="*/ 9 h 34"/>
                  <a:gd name="T10" fmla="*/ 0 w 45"/>
                  <a:gd name="T11" fmla="*/ 25 h 34"/>
                  <a:gd name="T12" fmla="*/ 7 w 45"/>
                  <a:gd name="T13" fmla="*/ 34 h 34"/>
                  <a:gd name="T14" fmla="*/ 36 w 45"/>
                  <a:gd name="T15" fmla="*/ 34 h 34"/>
                  <a:gd name="T16" fmla="*/ 45 w 45"/>
                  <a:gd name="T17" fmla="*/ 2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34">
                    <a:moveTo>
                      <a:pt x="45" y="25"/>
                    </a:moveTo>
                    <a:cubicBezTo>
                      <a:pt x="45" y="9"/>
                      <a:pt x="45" y="9"/>
                      <a:pt x="45" y="9"/>
                    </a:cubicBezTo>
                    <a:cubicBezTo>
                      <a:pt x="45" y="4"/>
                      <a:pt x="41" y="0"/>
                      <a:pt x="36" y="0"/>
                    </a:cubicBezTo>
                    <a:cubicBezTo>
                      <a:pt x="7" y="0"/>
                      <a:pt x="7" y="0"/>
                      <a:pt x="7" y="0"/>
                    </a:cubicBezTo>
                    <a:cubicBezTo>
                      <a:pt x="2" y="0"/>
                      <a:pt x="0" y="4"/>
                      <a:pt x="0" y="9"/>
                    </a:cubicBezTo>
                    <a:cubicBezTo>
                      <a:pt x="0" y="25"/>
                      <a:pt x="0" y="25"/>
                      <a:pt x="0" y="25"/>
                    </a:cubicBezTo>
                    <a:cubicBezTo>
                      <a:pt x="0" y="30"/>
                      <a:pt x="2" y="34"/>
                      <a:pt x="7" y="34"/>
                    </a:cubicBezTo>
                    <a:cubicBezTo>
                      <a:pt x="36" y="34"/>
                      <a:pt x="36" y="34"/>
                      <a:pt x="36" y="34"/>
                    </a:cubicBezTo>
                    <a:cubicBezTo>
                      <a:pt x="41" y="34"/>
                      <a:pt x="45" y="30"/>
                      <a:pt x="4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92" name="Freeform 179">
                <a:extLst>
                  <a:ext uri="{FF2B5EF4-FFF2-40B4-BE49-F238E27FC236}">
                    <a16:creationId xmlns:a16="http://schemas.microsoft.com/office/drawing/2014/main" id="{704711A9-7DA8-434C-BD07-51B755DEA3C0}"/>
                  </a:ext>
                </a:extLst>
              </p:cNvPr>
              <p:cNvSpPr>
                <a:spLocks/>
              </p:cNvSpPr>
              <p:nvPr/>
            </p:nvSpPr>
            <p:spPr bwMode="auto">
              <a:xfrm>
                <a:off x="16968788" y="13179425"/>
                <a:ext cx="127000" cy="165100"/>
              </a:xfrm>
              <a:custGeom>
                <a:avLst/>
                <a:gdLst>
                  <a:gd name="T0" fmla="*/ 23 w 23"/>
                  <a:gd name="T1" fmla="*/ 9 h 30"/>
                  <a:gd name="T2" fmla="*/ 13 w 23"/>
                  <a:gd name="T3" fmla="*/ 0 h 30"/>
                  <a:gd name="T4" fmla="*/ 10 w 23"/>
                  <a:gd name="T5" fmla="*/ 0 h 30"/>
                  <a:gd name="T6" fmla="*/ 0 w 23"/>
                  <a:gd name="T7" fmla="*/ 9 h 30"/>
                  <a:gd name="T8" fmla="*/ 0 w 23"/>
                  <a:gd name="T9" fmla="*/ 30 h 30"/>
                  <a:gd name="T10" fmla="*/ 23 w 23"/>
                  <a:gd name="T11" fmla="*/ 30 h 30"/>
                  <a:gd name="T12" fmla="*/ 23 w 23"/>
                  <a:gd name="T13" fmla="*/ 9 h 30"/>
                </a:gdLst>
                <a:ahLst/>
                <a:cxnLst>
                  <a:cxn ang="0">
                    <a:pos x="T0" y="T1"/>
                  </a:cxn>
                  <a:cxn ang="0">
                    <a:pos x="T2" y="T3"/>
                  </a:cxn>
                  <a:cxn ang="0">
                    <a:pos x="T4" y="T5"/>
                  </a:cxn>
                  <a:cxn ang="0">
                    <a:pos x="T6" y="T7"/>
                  </a:cxn>
                  <a:cxn ang="0">
                    <a:pos x="T8" y="T9"/>
                  </a:cxn>
                  <a:cxn ang="0">
                    <a:pos x="T10" y="T11"/>
                  </a:cxn>
                  <a:cxn ang="0">
                    <a:pos x="T12" y="T13"/>
                  </a:cxn>
                </a:cxnLst>
                <a:rect l="0" t="0" r="r" b="b"/>
                <a:pathLst>
                  <a:path w="23" h="30">
                    <a:moveTo>
                      <a:pt x="23" y="9"/>
                    </a:moveTo>
                    <a:cubicBezTo>
                      <a:pt x="23" y="4"/>
                      <a:pt x="18" y="0"/>
                      <a:pt x="13" y="0"/>
                    </a:cubicBezTo>
                    <a:cubicBezTo>
                      <a:pt x="10" y="0"/>
                      <a:pt x="10" y="0"/>
                      <a:pt x="10" y="0"/>
                    </a:cubicBezTo>
                    <a:cubicBezTo>
                      <a:pt x="5" y="0"/>
                      <a:pt x="0" y="4"/>
                      <a:pt x="0" y="9"/>
                    </a:cubicBezTo>
                    <a:cubicBezTo>
                      <a:pt x="0" y="30"/>
                      <a:pt x="0" y="30"/>
                      <a:pt x="0" y="30"/>
                    </a:cubicBezTo>
                    <a:cubicBezTo>
                      <a:pt x="23" y="30"/>
                      <a:pt x="23" y="30"/>
                      <a:pt x="23" y="30"/>
                    </a:cubicBezTo>
                    <a:lnTo>
                      <a:pt x="23"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grpSp>
        <p:grpSp>
          <p:nvGrpSpPr>
            <p:cNvPr id="21" name="Group 20">
              <a:extLst>
                <a:ext uri="{FF2B5EF4-FFF2-40B4-BE49-F238E27FC236}">
                  <a16:creationId xmlns:a16="http://schemas.microsoft.com/office/drawing/2014/main" id="{8A434BE5-8EC0-4B7A-9DA4-5AA99B053DEE}"/>
                </a:ext>
              </a:extLst>
            </p:cNvPr>
            <p:cNvGrpSpPr/>
            <p:nvPr/>
          </p:nvGrpSpPr>
          <p:grpSpPr>
            <a:xfrm>
              <a:off x="3547012" y="2269169"/>
              <a:ext cx="264896" cy="168011"/>
              <a:chOff x="2026223" y="1290196"/>
              <a:chExt cx="635881" cy="369803"/>
            </a:xfrm>
            <a:solidFill>
              <a:srgbClr val="86BC25"/>
            </a:solidFill>
          </p:grpSpPr>
          <p:sp>
            <p:nvSpPr>
              <p:cNvPr id="41" name="Freeform 10">
                <a:extLst>
                  <a:ext uri="{FF2B5EF4-FFF2-40B4-BE49-F238E27FC236}">
                    <a16:creationId xmlns:a16="http://schemas.microsoft.com/office/drawing/2014/main" id="{960C89CC-9E3E-4F17-82CF-3E928A0161D2}"/>
                  </a:ext>
                </a:extLst>
              </p:cNvPr>
              <p:cNvSpPr>
                <a:spLocks/>
              </p:cNvSpPr>
              <p:nvPr/>
            </p:nvSpPr>
            <p:spPr bwMode="auto">
              <a:xfrm>
                <a:off x="2555560" y="1290196"/>
                <a:ext cx="106544" cy="183210"/>
              </a:xfrm>
              <a:custGeom>
                <a:avLst/>
                <a:gdLst>
                  <a:gd name="T0" fmla="*/ 79 w 189"/>
                  <a:gd name="T1" fmla="*/ 0 h 325"/>
                  <a:gd name="T2" fmla="*/ 79 w 189"/>
                  <a:gd name="T3" fmla="*/ 0 h 325"/>
                  <a:gd name="T4" fmla="*/ 10 w 189"/>
                  <a:gd name="T5" fmla="*/ 26 h 325"/>
                  <a:gd name="T6" fmla="*/ 10 w 189"/>
                  <a:gd name="T7" fmla="*/ 26 h 325"/>
                  <a:gd name="T8" fmla="*/ 0 w 189"/>
                  <a:gd name="T9" fmla="*/ 32 h 325"/>
                  <a:gd name="T10" fmla="*/ 0 w 189"/>
                  <a:gd name="T11" fmla="*/ 53 h 325"/>
                  <a:gd name="T12" fmla="*/ 0 w 189"/>
                  <a:gd name="T13" fmla="*/ 73 h 325"/>
                  <a:gd name="T14" fmla="*/ 10 w 189"/>
                  <a:gd name="T15" fmla="*/ 110 h 325"/>
                  <a:gd name="T16" fmla="*/ 10 w 189"/>
                  <a:gd name="T17" fmla="*/ 110 h 325"/>
                  <a:gd name="T18" fmla="*/ 37 w 189"/>
                  <a:gd name="T19" fmla="*/ 194 h 325"/>
                  <a:gd name="T20" fmla="*/ 68 w 189"/>
                  <a:gd name="T21" fmla="*/ 278 h 325"/>
                  <a:gd name="T22" fmla="*/ 68 w 189"/>
                  <a:gd name="T23" fmla="*/ 278 h 325"/>
                  <a:gd name="T24" fmla="*/ 84 w 189"/>
                  <a:gd name="T25" fmla="*/ 304 h 325"/>
                  <a:gd name="T26" fmla="*/ 94 w 189"/>
                  <a:gd name="T27" fmla="*/ 320 h 325"/>
                  <a:gd name="T28" fmla="*/ 105 w 189"/>
                  <a:gd name="T29" fmla="*/ 325 h 325"/>
                  <a:gd name="T30" fmla="*/ 110 w 189"/>
                  <a:gd name="T31" fmla="*/ 325 h 325"/>
                  <a:gd name="T32" fmla="*/ 110 w 189"/>
                  <a:gd name="T33" fmla="*/ 325 h 325"/>
                  <a:gd name="T34" fmla="*/ 110 w 189"/>
                  <a:gd name="T35" fmla="*/ 325 h 325"/>
                  <a:gd name="T36" fmla="*/ 115 w 189"/>
                  <a:gd name="T37" fmla="*/ 325 h 325"/>
                  <a:gd name="T38" fmla="*/ 115 w 189"/>
                  <a:gd name="T39" fmla="*/ 325 h 325"/>
                  <a:gd name="T40" fmla="*/ 189 w 189"/>
                  <a:gd name="T41" fmla="*/ 299 h 325"/>
                  <a:gd name="T42" fmla="*/ 189 w 189"/>
                  <a:gd name="T43" fmla="*/ 299 h 325"/>
                  <a:gd name="T44" fmla="*/ 189 w 189"/>
                  <a:gd name="T45" fmla="*/ 299 h 325"/>
                  <a:gd name="T46" fmla="*/ 79 w 189"/>
                  <a:gd name="T47" fmla="*/ 0 h 325"/>
                  <a:gd name="T48" fmla="*/ 79 w 189"/>
                  <a:gd name="T49" fmla="*/ 0 h 325"/>
                  <a:gd name="T50" fmla="*/ 79 w 189"/>
                  <a:gd name="T51" fmla="*/ 0 h 325"/>
                  <a:gd name="T52" fmla="*/ 79 w 189"/>
                  <a:gd name="T53" fmla="*/ 0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9" h="325">
                    <a:moveTo>
                      <a:pt x="79" y="0"/>
                    </a:moveTo>
                    <a:lnTo>
                      <a:pt x="79" y="0"/>
                    </a:lnTo>
                    <a:lnTo>
                      <a:pt x="10" y="26"/>
                    </a:lnTo>
                    <a:lnTo>
                      <a:pt x="10" y="26"/>
                    </a:lnTo>
                    <a:lnTo>
                      <a:pt x="0" y="32"/>
                    </a:lnTo>
                    <a:lnTo>
                      <a:pt x="0" y="53"/>
                    </a:lnTo>
                    <a:lnTo>
                      <a:pt x="0" y="73"/>
                    </a:lnTo>
                    <a:lnTo>
                      <a:pt x="10" y="110"/>
                    </a:lnTo>
                    <a:lnTo>
                      <a:pt x="10" y="110"/>
                    </a:lnTo>
                    <a:lnTo>
                      <a:pt x="37" y="194"/>
                    </a:lnTo>
                    <a:lnTo>
                      <a:pt x="68" y="278"/>
                    </a:lnTo>
                    <a:lnTo>
                      <a:pt x="68" y="278"/>
                    </a:lnTo>
                    <a:lnTo>
                      <a:pt x="84" y="304"/>
                    </a:lnTo>
                    <a:lnTo>
                      <a:pt x="94" y="320"/>
                    </a:lnTo>
                    <a:lnTo>
                      <a:pt x="105" y="325"/>
                    </a:lnTo>
                    <a:lnTo>
                      <a:pt x="110" y="325"/>
                    </a:lnTo>
                    <a:lnTo>
                      <a:pt x="110" y="325"/>
                    </a:lnTo>
                    <a:lnTo>
                      <a:pt x="110" y="325"/>
                    </a:lnTo>
                    <a:lnTo>
                      <a:pt x="115" y="325"/>
                    </a:lnTo>
                    <a:lnTo>
                      <a:pt x="115" y="325"/>
                    </a:lnTo>
                    <a:lnTo>
                      <a:pt x="189" y="299"/>
                    </a:lnTo>
                    <a:lnTo>
                      <a:pt x="189" y="299"/>
                    </a:lnTo>
                    <a:lnTo>
                      <a:pt x="189" y="299"/>
                    </a:lnTo>
                    <a:lnTo>
                      <a:pt x="79" y="0"/>
                    </a:lnTo>
                    <a:lnTo>
                      <a:pt x="79" y="0"/>
                    </a:lnTo>
                    <a:lnTo>
                      <a:pt x="79" y="0"/>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42" name="Freeform 11">
                <a:extLst>
                  <a:ext uri="{FF2B5EF4-FFF2-40B4-BE49-F238E27FC236}">
                    <a16:creationId xmlns:a16="http://schemas.microsoft.com/office/drawing/2014/main" id="{BAF0E7AD-D71C-4CAB-8E2F-2B528562F7F9}"/>
                  </a:ext>
                </a:extLst>
              </p:cNvPr>
              <p:cNvSpPr>
                <a:spLocks/>
              </p:cNvSpPr>
              <p:nvPr/>
            </p:nvSpPr>
            <p:spPr bwMode="auto">
              <a:xfrm>
                <a:off x="2026223" y="1290196"/>
                <a:ext cx="109362" cy="183210"/>
              </a:xfrm>
              <a:custGeom>
                <a:avLst/>
                <a:gdLst>
                  <a:gd name="T0" fmla="*/ 110 w 194"/>
                  <a:gd name="T1" fmla="*/ 0 h 325"/>
                  <a:gd name="T2" fmla="*/ 110 w 194"/>
                  <a:gd name="T3" fmla="*/ 0 h 325"/>
                  <a:gd name="T4" fmla="*/ 110 w 194"/>
                  <a:gd name="T5" fmla="*/ 0 h 325"/>
                  <a:gd name="T6" fmla="*/ 0 w 194"/>
                  <a:gd name="T7" fmla="*/ 299 h 325"/>
                  <a:gd name="T8" fmla="*/ 0 w 194"/>
                  <a:gd name="T9" fmla="*/ 299 h 325"/>
                  <a:gd name="T10" fmla="*/ 0 w 194"/>
                  <a:gd name="T11" fmla="*/ 299 h 325"/>
                  <a:gd name="T12" fmla="*/ 0 w 194"/>
                  <a:gd name="T13" fmla="*/ 299 h 325"/>
                  <a:gd name="T14" fmla="*/ 73 w 194"/>
                  <a:gd name="T15" fmla="*/ 325 h 325"/>
                  <a:gd name="T16" fmla="*/ 73 w 194"/>
                  <a:gd name="T17" fmla="*/ 325 h 325"/>
                  <a:gd name="T18" fmla="*/ 79 w 194"/>
                  <a:gd name="T19" fmla="*/ 325 h 325"/>
                  <a:gd name="T20" fmla="*/ 79 w 194"/>
                  <a:gd name="T21" fmla="*/ 325 h 325"/>
                  <a:gd name="T22" fmla="*/ 84 w 194"/>
                  <a:gd name="T23" fmla="*/ 325 h 325"/>
                  <a:gd name="T24" fmla="*/ 94 w 194"/>
                  <a:gd name="T25" fmla="*/ 320 h 325"/>
                  <a:gd name="T26" fmla="*/ 105 w 194"/>
                  <a:gd name="T27" fmla="*/ 304 h 325"/>
                  <a:gd name="T28" fmla="*/ 121 w 194"/>
                  <a:gd name="T29" fmla="*/ 278 h 325"/>
                  <a:gd name="T30" fmla="*/ 121 w 194"/>
                  <a:gd name="T31" fmla="*/ 278 h 325"/>
                  <a:gd name="T32" fmla="*/ 152 w 194"/>
                  <a:gd name="T33" fmla="*/ 194 h 325"/>
                  <a:gd name="T34" fmla="*/ 178 w 194"/>
                  <a:gd name="T35" fmla="*/ 110 h 325"/>
                  <a:gd name="T36" fmla="*/ 178 w 194"/>
                  <a:gd name="T37" fmla="*/ 110 h 325"/>
                  <a:gd name="T38" fmla="*/ 189 w 194"/>
                  <a:gd name="T39" fmla="*/ 73 h 325"/>
                  <a:gd name="T40" fmla="*/ 194 w 194"/>
                  <a:gd name="T41" fmla="*/ 53 h 325"/>
                  <a:gd name="T42" fmla="*/ 189 w 194"/>
                  <a:gd name="T43" fmla="*/ 32 h 325"/>
                  <a:gd name="T44" fmla="*/ 178 w 194"/>
                  <a:gd name="T45" fmla="*/ 26 h 325"/>
                  <a:gd name="T46" fmla="*/ 178 w 194"/>
                  <a:gd name="T47" fmla="*/ 26 h 325"/>
                  <a:gd name="T48" fmla="*/ 110 w 194"/>
                  <a:gd name="T49" fmla="*/ 0 h 325"/>
                  <a:gd name="T50" fmla="*/ 110 w 194"/>
                  <a:gd name="T51" fmla="*/ 0 h 325"/>
                  <a:gd name="T52" fmla="*/ 110 w 194"/>
                  <a:gd name="T53" fmla="*/ 0 h 325"/>
                  <a:gd name="T54" fmla="*/ 110 w 194"/>
                  <a:gd name="T55" fmla="*/ 0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4" h="325">
                    <a:moveTo>
                      <a:pt x="110" y="0"/>
                    </a:moveTo>
                    <a:lnTo>
                      <a:pt x="110" y="0"/>
                    </a:lnTo>
                    <a:lnTo>
                      <a:pt x="110" y="0"/>
                    </a:lnTo>
                    <a:lnTo>
                      <a:pt x="0" y="299"/>
                    </a:lnTo>
                    <a:lnTo>
                      <a:pt x="0" y="299"/>
                    </a:lnTo>
                    <a:lnTo>
                      <a:pt x="0" y="299"/>
                    </a:lnTo>
                    <a:lnTo>
                      <a:pt x="0" y="299"/>
                    </a:lnTo>
                    <a:lnTo>
                      <a:pt x="73" y="325"/>
                    </a:lnTo>
                    <a:lnTo>
                      <a:pt x="73" y="325"/>
                    </a:lnTo>
                    <a:lnTo>
                      <a:pt x="79" y="325"/>
                    </a:lnTo>
                    <a:lnTo>
                      <a:pt x="79" y="325"/>
                    </a:lnTo>
                    <a:lnTo>
                      <a:pt x="84" y="325"/>
                    </a:lnTo>
                    <a:lnTo>
                      <a:pt x="94" y="320"/>
                    </a:lnTo>
                    <a:lnTo>
                      <a:pt x="105" y="304"/>
                    </a:lnTo>
                    <a:lnTo>
                      <a:pt x="121" y="278"/>
                    </a:lnTo>
                    <a:lnTo>
                      <a:pt x="121" y="278"/>
                    </a:lnTo>
                    <a:lnTo>
                      <a:pt x="152" y="194"/>
                    </a:lnTo>
                    <a:lnTo>
                      <a:pt x="178" y="110"/>
                    </a:lnTo>
                    <a:lnTo>
                      <a:pt x="178" y="110"/>
                    </a:lnTo>
                    <a:lnTo>
                      <a:pt x="189" y="73"/>
                    </a:lnTo>
                    <a:lnTo>
                      <a:pt x="194" y="53"/>
                    </a:lnTo>
                    <a:lnTo>
                      <a:pt x="189" y="32"/>
                    </a:lnTo>
                    <a:lnTo>
                      <a:pt x="178" y="26"/>
                    </a:lnTo>
                    <a:lnTo>
                      <a:pt x="178" y="26"/>
                    </a:lnTo>
                    <a:lnTo>
                      <a:pt x="110" y="0"/>
                    </a:lnTo>
                    <a:lnTo>
                      <a:pt x="110" y="0"/>
                    </a:lnTo>
                    <a:lnTo>
                      <a:pt x="110" y="0"/>
                    </a:lnTo>
                    <a:lnTo>
                      <a:pt x="1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43" name="Freeform 12">
                <a:extLst>
                  <a:ext uri="{FF2B5EF4-FFF2-40B4-BE49-F238E27FC236}">
                    <a16:creationId xmlns:a16="http://schemas.microsoft.com/office/drawing/2014/main" id="{FC7DE9DE-0341-414F-A1C4-DE833ED9105F}"/>
                  </a:ext>
                </a:extLst>
              </p:cNvPr>
              <p:cNvSpPr>
                <a:spLocks/>
              </p:cNvSpPr>
              <p:nvPr/>
            </p:nvSpPr>
            <p:spPr bwMode="auto">
              <a:xfrm>
                <a:off x="2271443" y="1594607"/>
                <a:ext cx="47353" cy="50172"/>
              </a:xfrm>
              <a:custGeom>
                <a:avLst/>
                <a:gdLst>
                  <a:gd name="T0" fmla="*/ 74 w 84"/>
                  <a:gd name="T1" fmla="*/ 11 h 89"/>
                  <a:gd name="T2" fmla="*/ 74 w 84"/>
                  <a:gd name="T3" fmla="*/ 11 h 89"/>
                  <a:gd name="T4" fmla="*/ 74 w 84"/>
                  <a:gd name="T5" fmla="*/ 11 h 89"/>
                  <a:gd name="T6" fmla="*/ 84 w 84"/>
                  <a:gd name="T7" fmla="*/ 21 h 89"/>
                  <a:gd name="T8" fmla="*/ 84 w 84"/>
                  <a:gd name="T9" fmla="*/ 32 h 89"/>
                  <a:gd name="T10" fmla="*/ 84 w 84"/>
                  <a:gd name="T11" fmla="*/ 47 h 89"/>
                  <a:gd name="T12" fmla="*/ 74 w 84"/>
                  <a:gd name="T13" fmla="*/ 58 h 89"/>
                  <a:gd name="T14" fmla="*/ 58 w 84"/>
                  <a:gd name="T15" fmla="*/ 79 h 89"/>
                  <a:gd name="T16" fmla="*/ 58 w 84"/>
                  <a:gd name="T17" fmla="*/ 79 h 89"/>
                  <a:gd name="T18" fmla="*/ 48 w 84"/>
                  <a:gd name="T19" fmla="*/ 84 h 89"/>
                  <a:gd name="T20" fmla="*/ 32 w 84"/>
                  <a:gd name="T21" fmla="*/ 89 h 89"/>
                  <a:gd name="T22" fmla="*/ 21 w 84"/>
                  <a:gd name="T23" fmla="*/ 84 h 89"/>
                  <a:gd name="T24" fmla="*/ 11 w 84"/>
                  <a:gd name="T25" fmla="*/ 79 h 89"/>
                  <a:gd name="T26" fmla="*/ 11 w 84"/>
                  <a:gd name="T27" fmla="*/ 79 h 89"/>
                  <a:gd name="T28" fmla="*/ 11 w 84"/>
                  <a:gd name="T29" fmla="*/ 79 h 89"/>
                  <a:gd name="T30" fmla="*/ 0 w 84"/>
                  <a:gd name="T31" fmla="*/ 68 h 89"/>
                  <a:gd name="T32" fmla="*/ 0 w 84"/>
                  <a:gd name="T33" fmla="*/ 53 h 89"/>
                  <a:gd name="T34" fmla="*/ 0 w 84"/>
                  <a:gd name="T35" fmla="*/ 42 h 89"/>
                  <a:gd name="T36" fmla="*/ 11 w 84"/>
                  <a:gd name="T37" fmla="*/ 32 h 89"/>
                  <a:gd name="T38" fmla="*/ 32 w 84"/>
                  <a:gd name="T39" fmla="*/ 11 h 89"/>
                  <a:gd name="T40" fmla="*/ 32 w 84"/>
                  <a:gd name="T41" fmla="*/ 11 h 89"/>
                  <a:gd name="T42" fmla="*/ 42 w 84"/>
                  <a:gd name="T43" fmla="*/ 6 h 89"/>
                  <a:gd name="T44" fmla="*/ 53 w 84"/>
                  <a:gd name="T45" fmla="*/ 0 h 89"/>
                  <a:gd name="T46" fmla="*/ 63 w 84"/>
                  <a:gd name="T47" fmla="*/ 6 h 89"/>
                  <a:gd name="T48" fmla="*/ 74 w 84"/>
                  <a:gd name="T49" fmla="*/ 11 h 89"/>
                  <a:gd name="T50" fmla="*/ 74 w 84"/>
                  <a:gd name="T51"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4" h="89">
                    <a:moveTo>
                      <a:pt x="74" y="11"/>
                    </a:moveTo>
                    <a:lnTo>
                      <a:pt x="74" y="11"/>
                    </a:lnTo>
                    <a:lnTo>
                      <a:pt x="74" y="11"/>
                    </a:lnTo>
                    <a:lnTo>
                      <a:pt x="84" y="21"/>
                    </a:lnTo>
                    <a:lnTo>
                      <a:pt x="84" y="32"/>
                    </a:lnTo>
                    <a:lnTo>
                      <a:pt x="84" y="47"/>
                    </a:lnTo>
                    <a:lnTo>
                      <a:pt x="74" y="58"/>
                    </a:lnTo>
                    <a:lnTo>
                      <a:pt x="58" y="79"/>
                    </a:lnTo>
                    <a:lnTo>
                      <a:pt x="58" y="79"/>
                    </a:lnTo>
                    <a:lnTo>
                      <a:pt x="48" y="84"/>
                    </a:lnTo>
                    <a:lnTo>
                      <a:pt x="32" y="89"/>
                    </a:lnTo>
                    <a:lnTo>
                      <a:pt x="21" y="84"/>
                    </a:lnTo>
                    <a:lnTo>
                      <a:pt x="11" y="79"/>
                    </a:lnTo>
                    <a:lnTo>
                      <a:pt x="11" y="79"/>
                    </a:lnTo>
                    <a:lnTo>
                      <a:pt x="11" y="79"/>
                    </a:lnTo>
                    <a:lnTo>
                      <a:pt x="0" y="68"/>
                    </a:lnTo>
                    <a:lnTo>
                      <a:pt x="0" y="53"/>
                    </a:lnTo>
                    <a:lnTo>
                      <a:pt x="0" y="42"/>
                    </a:lnTo>
                    <a:lnTo>
                      <a:pt x="11" y="32"/>
                    </a:lnTo>
                    <a:lnTo>
                      <a:pt x="32" y="11"/>
                    </a:lnTo>
                    <a:lnTo>
                      <a:pt x="32" y="11"/>
                    </a:lnTo>
                    <a:lnTo>
                      <a:pt x="42" y="6"/>
                    </a:lnTo>
                    <a:lnTo>
                      <a:pt x="53" y="0"/>
                    </a:lnTo>
                    <a:lnTo>
                      <a:pt x="63" y="6"/>
                    </a:lnTo>
                    <a:lnTo>
                      <a:pt x="74" y="11"/>
                    </a:lnTo>
                    <a:lnTo>
                      <a:pt x="7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44" name="Freeform 13">
                <a:extLst>
                  <a:ext uri="{FF2B5EF4-FFF2-40B4-BE49-F238E27FC236}">
                    <a16:creationId xmlns:a16="http://schemas.microsoft.com/office/drawing/2014/main" id="{C2C9AA63-6200-4E6B-A0EE-B0E0EDBE4F13}"/>
                  </a:ext>
                </a:extLst>
              </p:cNvPr>
              <p:cNvSpPr>
                <a:spLocks/>
              </p:cNvSpPr>
              <p:nvPr/>
            </p:nvSpPr>
            <p:spPr bwMode="auto">
              <a:xfrm>
                <a:off x="2221271" y="1547254"/>
                <a:ext cx="73848" cy="73848"/>
              </a:xfrm>
              <a:custGeom>
                <a:avLst/>
                <a:gdLst>
                  <a:gd name="T0" fmla="*/ 121 w 131"/>
                  <a:gd name="T1" fmla="*/ 11 h 131"/>
                  <a:gd name="T2" fmla="*/ 121 w 131"/>
                  <a:gd name="T3" fmla="*/ 11 h 131"/>
                  <a:gd name="T4" fmla="*/ 121 w 131"/>
                  <a:gd name="T5" fmla="*/ 11 h 131"/>
                  <a:gd name="T6" fmla="*/ 131 w 131"/>
                  <a:gd name="T7" fmla="*/ 21 h 131"/>
                  <a:gd name="T8" fmla="*/ 131 w 131"/>
                  <a:gd name="T9" fmla="*/ 32 h 131"/>
                  <a:gd name="T10" fmla="*/ 131 w 131"/>
                  <a:gd name="T11" fmla="*/ 48 h 131"/>
                  <a:gd name="T12" fmla="*/ 121 w 131"/>
                  <a:gd name="T13" fmla="*/ 58 h 131"/>
                  <a:gd name="T14" fmla="*/ 58 w 131"/>
                  <a:gd name="T15" fmla="*/ 121 h 131"/>
                  <a:gd name="T16" fmla="*/ 58 w 131"/>
                  <a:gd name="T17" fmla="*/ 121 h 131"/>
                  <a:gd name="T18" fmla="*/ 47 w 131"/>
                  <a:gd name="T19" fmla="*/ 131 h 131"/>
                  <a:gd name="T20" fmla="*/ 32 w 131"/>
                  <a:gd name="T21" fmla="*/ 131 h 131"/>
                  <a:gd name="T22" fmla="*/ 21 w 131"/>
                  <a:gd name="T23" fmla="*/ 131 h 131"/>
                  <a:gd name="T24" fmla="*/ 11 w 131"/>
                  <a:gd name="T25" fmla="*/ 121 h 131"/>
                  <a:gd name="T26" fmla="*/ 11 w 131"/>
                  <a:gd name="T27" fmla="*/ 121 h 131"/>
                  <a:gd name="T28" fmla="*/ 11 w 131"/>
                  <a:gd name="T29" fmla="*/ 121 h 131"/>
                  <a:gd name="T30" fmla="*/ 0 w 131"/>
                  <a:gd name="T31" fmla="*/ 111 h 131"/>
                  <a:gd name="T32" fmla="*/ 0 w 131"/>
                  <a:gd name="T33" fmla="*/ 100 h 131"/>
                  <a:gd name="T34" fmla="*/ 0 w 131"/>
                  <a:gd name="T35" fmla="*/ 90 h 131"/>
                  <a:gd name="T36" fmla="*/ 11 w 131"/>
                  <a:gd name="T37" fmla="*/ 79 h 131"/>
                  <a:gd name="T38" fmla="*/ 79 w 131"/>
                  <a:gd name="T39" fmla="*/ 11 h 131"/>
                  <a:gd name="T40" fmla="*/ 79 w 131"/>
                  <a:gd name="T41" fmla="*/ 11 h 131"/>
                  <a:gd name="T42" fmla="*/ 89 w 131"/>
                  <a:gd name="T43" fmla="*/ 0 h 131"/>
                  <a:gd name="T44" fmla="*/ 100 w 131"/>
                  <a:gd name="T45" fmla="*/ 0 h 131"/>
                  <a:gd name="T46" fmla="*/ 110 w 131"/>
                  <a:gd name="T47" fmla="*/ 0 h 131"/>
                  <a:gd name="T48" fmla="*/ 121 w 131"/>
                  <a:gd name="T49" fmla="*/ 11 h 131"/>
                  <a:gd name="T50" fmla="*/ 121 w 131"/>
                  <a:gd name="T51" fmla="*/ 1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1" h="131">
                    <a:moveTo>
                      <a:pt x="121" y="11"/>
                    </a:moveTo>
                    <a:lnTo>
                      <a:pt x="121" y="11"/>
                    </a:lnTo>
                    <a:lnTo>
                      <a:pt x="121" y="11"/>
                    </a:lnTo>
                    <a:lnTo>
                      <a:pt x="131" y="21"/>
                    </a:lnTo>
                    <a:lnTo>
                      <a:pt x="131" y="32"/>
                    </a:lnTo>
                    <a:lnTo>
                      <a:pt x="131" y="48"/>
                    </a:lnTo>
                    <a:lnTo>
                      <a:pt x="121" y="58"/>
                    </a:lnTo>
                    <a:lnTo>
                      <a:pt x="58" y="121"/>
                    </a:lnTo>
                    <a:lnTo>
                      <a:pt x="58" y="121"/>
                    </a:lnTo>
                    <a:lnTo>
                      <a:pt x="47" y="131"/>
                    </a:lnTo>
                    <a:lnTo>
                      <a:pt x="32" y="131"/>
                    </a:lnTo>
                    <a:lnTo>
                      <a:pt x="21" y="131"/>
                    </a:lnTo>
                    <a:lnTo>
                      <a:pt x="11" y="121"/>
                    </a:lnTo>
                    <a:lnTo>
                      <a:pt x="11" y="121"/>
                    </a:lnTo>
                    <a:lnTo>
                      <a:pt x="11" y="121"/>
                    </a:lnTo>
                    <a:lnTo>
                      <a:pt x="0" y="111"/>
                    </a:lnTo>
                    <a:lnTo>
                      <a:pt x="0" y="100"/>
                    </a:lnTo>
                    <a:lnTo>
                      <a:pt x="0" y="90"/>
                    </a:lnTo>
                    <a:lnTo>
                      <a:pt x="11" y="79"/>
                    </a:lnTo>
                    <a:lnTo>
                      <a:pt x="79" y="11"/>
                    </a:lnTo>
                    <a:lnTo>
                      <a:pt x="79" y="11"/>
                    </a:lnTo>
                    <a:lnTo>
                      <a:pt x="89" y="0"/>
                    </a:lnTo>
                    <a:lnTo>
                      <a:pt x="100" y="0"/>
                    </a:lnTo>
                    <a:lnTo>
                      <a:pt x="110" y="0"/>
                    </a:lnTo>
                    <a:lnTo>
                      <a:pt x="121" y="11"/>
                    </a:lnTo>
                    <a:lnTo>
                      <a:pt x="121"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45" name="Freeform 14">
                <a:extLst>
                  <a:ext uri="{FF2B5EF4-FFF2-40B4-BE49-F238E27FC236}">
                    <a16:creationId xmlns:a16="http://schemas.microsoft.com/office/drawing/2014/main" id="{121F502C-06F9-4140-A753-4FF347E6ADD8}"/>
                  </a:ext>
                </a:extLst>
              </p:cNvPr>
              <p:cNvSpPr>
                <a:spLocks/>
              </p:cNvSpPr>
              <p:nvPr/>
            </p:nvSpPr>
            <p:spPr bwMode="auto">
              <a:xfrm>
                <a:off x="2189139" y="1517940"/>
                <a:ext cx="67647" cy="64828"/>
              </a:xfrm>
              <a:custGeom>
                <a:avLst/>
                <a:gdLst>
                  <a:gd name="T0" fmla="*/ 110 w 120"/>
                  <a:gd name="T1" fmla="*/ 5 h 115"/>
                  <a:gd name="T2" fmla="*/ 110 w 120"/>
                  <a:gd name="T3" fmla="*/ 5 h 115"/>
                  <a:gd name="T4" fmla="*/ 110 w 120"/>
                  <a:gd name="T5" fmla="*/ 5 h 115"/>
                  <a:gd name="T6" fmla="*/ 115 w 120"/>
                  <a:gd name="T7" fmla="*/ 16 h 115"/>
                  <a:gd name="T8" fmla="*/ 120 w 120"/>
                  <a:gd name="T9" fmla="*/ 31 h 115"/>
                  <a:gd name="T10" fmla="*/ 115 w 120"/>
                  <a:gd name="T11" fmla="*/ 42 h 115"/>
                  <a:gd name="T12" fmla="*/ 110 w 120"/>
                  <a:gd name="T13" fmla="*/ 52 h 115"/>
                  <a:gd name="T14" fmla="*/ 57 w 120"/>
                  <a:gd name="T15" fmla="*/ 105 h 115"/>
                  <a:gd name="T16" fmla="*/ 57 w 120"/>
                  <a:gd name="T17" fmla="*/ 105 h 115"/>
                  <a:gd name="T18" fmla="*/ 41 w 120"/>
                  <a:gd name="T19" fmla="*/ 115 h 115"/>
                  <a:gd name="T20" fmla="*/ 31 w 120"/>
                  <a:gd name="T21" fmla="*/ 115 h 115"/>
                  <a:gd name="T22" fmla="*/ 20 w 120"/>
                  <a:gd name="T23" fmla="*/ 115 h 115"/>
                  <a:gd name="T24" fmla="*/ 10 w 120"/>
                  <a:gd name="T25" fmla="*/ 105 h 115"/>
                  <a:gd name="T26" fmla="*/ 10 w 120"/>
                  <a:gd name="T27" fmla="*/ 105 h 115"/>
                  <a:gd name="T28" fmla="*/ 10 w 120"/>
                  <a:gd name="T29" fmla="*/ 105 h 115"/>
                  <a:gd name="T30" fmla="*/ 0 w 120"/>
                  <a:gd name="T31" fmla="*/ 94 h 115"/>
                  <a:gd name="T32" fmla="*/ 0 w 120"/>
                  <a:gd name="T33" fmla="*/ 84 h 115"/>
                  <a:gd name="T34" fmla="*/ 0 w 120"/>
                  <a:gd name="T35" fmla="*/ 73 h 115"/>
                  <a:gd name="T36" fmla="*/ 10 w 120"/>
                  <a:gd name="T37" fmla="*/ 63 h 115"/>
                  <a:gd name="T38" fmla="*/ 62 w 120"/>
                  <a:gd name="T39" fmla="*/ 5 h 115"/>
                  <a:gd name="T40" fmla="*/ 62 w 120"/>
                  <a:gd name="T41" fmla="*/ 5 h 115"/>
                  <a:gd name="T42" fmla="*/ 73 w 120"/>
                  <a:gd name="T43" fmla="*/ 0 h 115"/>
                  <a:gd name="T44" fmla="*/ 83 w 120"/>
                  <a:gd name="T45" fmla="*/ 0 h 115"/>
                  <a:gd name="T46" fmla="*/ 99 w 120"/>
                  <a:gd name="T47" fmla="*/ 0 h 115"/>
                  <a:gd name="T48" fmla="*/ 110 w 120"/>
                  <a:gd name="T49" fmla="*/ 5 h 115"/>
                  <a:gd name="T50" fmla="*/ 110 w 120"/>
                  <a:gd name="T51" fmla="*/ 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0" h="115">
                    <a:moveTo>
                      <a:pt x="110" y="5"/>
                    </a:moveTo>
                    <a:lnTo>
                      <a:pt x="110" y="5"/>
                    </a:lnTo>
                    <a:lnTo>
                      <a:pt x="110" y="5"/>
                    </a:lnTo>
                    <a:lnTo>
                      <a:pt x="115" y="16"/>
                    </a:lnTo>
                    <a:lnTo>
                      <a:pt x="120" y="31"/>
                    </a:lnTo>
                    <a:lnTo>
                      <a:pt x="115" y="42"/>
                    </a:lnTo>
                    <a:lnTo>
                      <a:pt x="110" y="52"/>
                    </a:lnTo>
                    <a:lnTo>
                      <a:pt x="57" y="105"/>
                    </a:lnTo>
                    <a:lnTo>
                      <a:pt x="57" y="105"/>
                    </a:lnTo>
                    <a:lnTo>
                      <a:pt x="41" y="115"/>
                    </a:lnTo>
                    <a:lnTo>
                      <a:pt x="31" y="115"/>
                    </a:lnTo>
                    <a:lnTo>
                      <a:pt x="20" y="115"/>
                    </a:lnTo>
                    <a:lnTo>
                      <a:pt x="10" y="105"/>
                    </a:lnTo>
                    <a:lnTo>
                      <a:pt x="10" y="105"/>
                    </a:lnTo>
                    <a:lnTo>
                      <a:pt x="10" y="105"/>
                    </a:lnTo>
                    <a:lnTo>
                      <a:pt x="0" y="94"/>
                    </a:lnTo>
                    <a:lnTo>
                      <a:pt x="0" y="84"/>
                    </a:lnTo>
                    <a:lnTo>
                      <a:pt x="0" y="73"/>
                    </a:lnTo>
                    <a:lnTo>
                      <a:pt x="10" y="63"/>
                    </a:lnTo>
                    <a:lnTo>
                      <a:pt x="62" y="5"/>
                    </a:lnTo>
                    <a:lnTo>
                      <a:pt x="62" y="5"/>
                    </a:lnTo>
                    <a:lnTo>
                      <a:pt x="73" y="0"/>
                    </a:lnTo>
                    <a:lnTo>
                      <a:pt x="83" y="0"/>
                    </a:lnTo>
                    <a:lnTo>
                      <a:pt x="99" y="0"/>
                    </a:lnTo>
                    <a:lnTo>
                      <a:pt x="110" y="5"/>
                    </a:lnTo>
                    <a:lnTo>
                      <a:pt x="11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46" name="Freeform 15">
                <a:extLst>
                  <a:ext uri="{FF2B5EF4-FFF2-40B4-BE49-F238E27FC236}">
                    <a16:creationId xmlns:a16="http://schemas.microsoft.com/office/drawing/2014/main" id="{625D09BC-7CBE-4D25-B6C7-1E6735717DC4}"/>
                  </a:ext>
                </a:extLst>
              </p:cNvPr>
              <p:cNvSpPr>
                <a:spLocks/>
              </p:cNvSpPr>
              <p:nvPr/>
            </p:nvSpPr>
            <p:spPr bwMode="auto">
              <a:xfrm>
                <a:off x="2159262" y="1488063"/>
                <a:ext cx="52990" cy="53554"/>
              </a:xfrm>
              <a:custGeom>
                <a:avLst/>
                <a:gdLst>
                  <a:gd name="T0" fmla="*/ 84 w 94"/>
                  <a:gd name="T1" fmla="*/ 11 h 95"/>
                  <a:gd name="T2" fmla="*/ 84 w 94"/>
                  <a:gd name="T3" fmla="*/ 11 h 95"/>
                  <a:gd name="T4" fmla="*/ 84 w 94"/>
                  <a:gd name="T5" fmla="*/ 11 h 95"/>
                  <a:gd name="T6" fmla="*/ 89 w 94"/>
                  <a:gd name="T7" fmla="*/ 21 h 95"/>
                  <a:gd name="T8" fmla="*/ 94 w 94"/>
                  <a:gd name="T9" fmla="*/ 37 h 95"/>
                  <a:gd name="T10" fmla="*/ 89 w 94"/>
                  <a:gd name="T11" fmla="*/ 48 h 95"/>
                  <a:gd name="T12" fmla="*/ 84 w 94"/>
                  <a:gd name="T13" fmla="*/ 58 h 95"/>
                  <a:gd name="T14" fmla="*/ 58 w 94"/>
                  <a:gd name="T15" fmla="*/ 84 h 95"/>
                  <a:gd name="T16" fmla="*/ 58 w 94"/>
                  <a:gd name="T17" fmla="*/ 84 h 95"/>
                  <a:gd name="T18" fmla="*/ 47 w 94"/>
                  <a:gd name="T19" fmla="*/ 95 h 95"/>
                  <a:gd name="T20" fmla="*/ 32 w 94"/>
                  <a:gd name="T21" fmla="*/ 95 h 95"/>
                  <a:gd name="T22" fmla="*/ 21 w 94"/>
                  <a:gd name="T23" fmla="*/ 95 h 95"/>
                  <a:gd name="T24" fmla="*/ 11 w 94"/>
                  <a:gd name="T25" fmla="*/ 84 h 95"/>
                  <a:gd name="T26" fmla="*/ 11 w 94"/>
                  <a:gd name="T27" fmla="*/ 84 h 95"/>
                  <a:gd name="T28" fmla="*/ 11 w 94"/>
                  <a:gd name="T29" fmla="*/ 84 h 95"/>
                  <a:gd name="T30" fmla="*/ 0 w 94"/>
                  <a:gd name="T31" fmla="*/ 74 h 95"/>
                  <a:gd name="T32" fmla="*/ 0 w 94"/>
                  <a:gd name="T33" fmla="*/ 63 h 95"/>
                  <a:gd name="T34" fmla="*/ 0 w 94"/>
                  <a:gd name="T35" fmla="*/ 48 h 95"/>
                  <a:gd name="T36" fmla="*/ 11 w 94"/>
                  <a:gd name="T37" fmla="*/ 37 h 95"/>
                  <a:gd name="T38" fmla="*/ 37 w 94"/>
                  <a:gd name="T39" fmla="*/ 11 h 95"/>
                  <a:gd name="T40" fmla="*/ 37 w 94"/>
                  <a:gd name="T41" fmla="*/ 11 h 95"/>
                  <a:gd name="T42" fmla="*/ 47 w 94"/>
                  <a:gd name="T43" fmla="*/ 6 h 95"/>
                  <a:gd name="T44" fmla="*/ 58 w 94"/>
                  <a:gd name="T45" fmla="*/ 0 h 95"/>
                  <a:gd name="T46" fmla="*/ 73 w 94"/>
                  <a:gd name="T47" fmla="*/ 6 h 95"/>
                  <a:gd name="T48" fmla="*/ 84 w 94"/>
                  <a:gd name="T49" fmla="*/ 11 h 95"/>
                  <a:gd name="T50" fmla="*/ 84 w 94"/>
                  <a:gd name="T51" fmla="*/ 1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4" h="95">
                    <a:moveTo>
                      <a:pt x="84" y="11"/>
                    </a:moveTo>
                    <a:lnTo>
                      <a:pt x="84" y="11"/>
                    </a:lnTo>
                    <a:lnTo>
                      <a:pt x="84" y="11"/>
                    </a:lnTo>
                    <a:lnTo>
                      <a:pt x="89" y="21"/>
                    </a:lnTo>
                    <a:lnTo>
                      <a:pt x="94" y="37"/>
                    </a:lnTo>
                    <a:lnTo>
                      <a:pt x="89" y="48"/>
                    </a:lnTo>
                    <a:lnTo>
                      <a:pt x="84" y="58"/>
                    </a:lnTo>
                    <a:lnTo>
                      <a:pt x="58" y="84"/>
                    </a:lnTo>
                    <a:lnTo>
                      <a:pt x="58" y="84"/>
                    </a:lnTo>
                    <a:lnTo>
                      <a:pt x="47" y="95"/>
                    </a:lnTo>
                    <a:lnTo>
                      <a:pt x="32" y="95"/>
                    </a:lnTo>
                    <a:lnTo>
                      <a:pt x="21" y="95"/>
                    </a:lnTo>
                    <a:lnTo>
                      <a:pt x="11" y="84"/>
                    </a:lnTo>
                    <a:lnTo>
                      <a:pt x="11" y="84"/>
                    </a:lnTo>
                    <a:lnTo>
                      <a:pt x="11" y="84"/>
                    </a:lnTo>
                    <a:lnTo>
                      <a:pt x="0" y="74"/>
                    </a:lnTo>
                    <a:lnTo>
                      <a:pt x="0" y="63"/>
                    </a:lnTo>
                    <a:lnTo>
                      <a:pt x="0" y="48"/>
                    </a:lnTo>
                    <a:lnTo>
                      <a:pt x="11" y="37"/>
                    </a:lnTo>
                    <a:lnTo>
                      <a:pt x="37" y="11"/>
                    </a:lnTo>
                    <a:lnTo>
                      <a:pt x="37" y="11"/>
                    </a:lnTo>
                    <a:lnTo>
                      <a:pt x="47" y="6"/>
                    </a:lnTo>
                    <a:lnTo>
                      <a:pt x="58" y="0"/>
                    </a:lnTo>
                    <a:lnTo>
                      <a:pt x="73" y="6"/>
                    </a:lnTo>
                    <a:lnTo>
                      <a:pt x="84" y="11"/>
                    </a:lnTo>
                    <a:lnTo>
                      <a:pt x="8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47" name="Freeform 16">
                <a:extLst>
                  <a:ext uri="{FF2B5EF4-FFF2-40B4-BE49-F238E27FC236}">
                    <a16:creationId xmlns:a16="http://schemas.microsoft.com/office/drawing/2014/main" id="{FA20F949-4E76-454C-BBA6-426C26B45DD9}"/>
                  </a:ext>
                </a:extLst>
              </p:cNvPr>
              <p:cNvSpPr>
                <a:spLocks/>
              </p:cNvSpPr>
              <p:nvPr/>
            </p:nvSpPr>
            <p:spPr bwMode="auto">
              <a:xfrm>
                <a:off x="2247767" y="1313872"/>
                <a:ext cx="343308" cy="213088"/>
              </a:xfrm>
              <a:custGeom>
                <a:avLst/>
                <a:gdLst>
                  <a:gd name="T0" fmla="*/ 184 w 609"/>
                  <a:gd name="T1" fmla="*/ 11 h 378"/>
                  <a:gd name="T2" fmla="*/ 74 w 609"/>
                  <a:gd name="T3" fmla="*/ 47 h 378"/>
                  <a:gd name="T4" fmla="*/ 53 w 609"/>
                  <a:gd name="T5" fmla="*/ 68 h 378"/>
                  <a:gd name="T6" fmla="*/ 27 w 609"/>
                  <a:gd name="T7" fmla="*/ 131 h 378"/>
                  <a:gd name="T8" fmla="*/ 0 w 609"/>
                  <a:gd name="T9" fmla="*/ 231 h 378"/>
                  <a:gd name="T10" fmla="*/ 16 w 609"/>
                  <a:gd name="T11" fmla="*/ 241 h 378"/>
                  <a:gd name="T12" fmla="*/ 37 w 609"/>
                  <a:gd name="T13" fmla="*/ 247 h 378"/>
                  <a:gd name="T14" fmla="*/ 42 w 609"/>
                  <a:gd name="T15" fmla="*/ 247 h 378"/>
                  <a:gd name="T16" fmla="*/ 42 w 609"/>
                  <a:gd name="T17" fmla="*/ 247 h 378"/>
                  <a:gd name="T18" fmla="*/ 48 w 609"/>
                  <a:gd name="T19" fmla="*/ 241 h 378"/>
                  <a:gd name="T20" fmla="*/ 53 w 609"/>
                  <a:gd name="T21" fmla="*/ 241 h 378"/>
                  <a:gd name="T22" fmla="*/ 53 w 609"/>
                  <a:gd name="T23" fmla="*/ 241 h 378"/>
                  <a:gd name="T24" fmla="*/ 69 w 609"/>
                  <a:gd name="T25" fmla="*/ 236 h 378"/>
                  <a:gd name="T26" fmla="*/ 95 w 609"/>
                  <a:gd name="T27" fmla="*/ 210 h 378"/>
                  <a:gd name="T28" fmla="*/ 116 w 609"/>
                  <a:gd name="T29" fmla="*/ 152 h 378"/>
                  <a:gd name="T30" fmla="*/ 116 w 609"/>
                  <a:gd name="T31" fmla="*/ 121 h 378"/>
                  <a:gd name="T32" fmla="*/ 126 w 609"/>
                  <a:gd name="T33" fmla="*/ 105 h 378"/>
                  <a:gd name="T34" fmla="*/ 137 w 609"/>
                  <a:gd name="T35" fmla="*/ 110 h 378"/>
                  <a:gd name="T36" fmla="*/ 142 w 609"/>
                  <a:gd name="T37" fmla="*/ 115 h 378"/>
                  <a:gd name="T38" fmla="*/ 142 w 609"/>
                  <a:gd name="T39" fmla="*/ 131 h 378"/>
                  <a:gd name="T40" fmla="*/ 252 w 609"/>
                  <a:gd name="T41" fmla="*/ 184 h 378"/>
                  <a:gd name="T42" fmla="*/ 305 w 609"/>
                  <a:gd name="T43" fmla="*/ 189 h 378"/>
                  <a:gd name="T44" fmla="*/ 347 w 609"/>
                  <a:gd name="T45" fmla="*/ 173 h 378"/>
                  <a:gd name="T46" fmla="*/ 357 w 609"/>
                  <a:gd name="T47" fmla="*/ 173 h 378"/>
                  <a:gd name="T48" fmla="*/ 368 w 609"/>
                  <a:gd name="T49" fmla="*/ 178 h 378"/>
                  <a:gd name="T50" fmla="*/ 362 w 609"/>
                  <a:gd name="T51" fmla="*/ 194 h 378"/>
                  <a:gd name="T52" fmla="*/ 331 w 609"/>
                  <a:gd name="T53" fmla="*/ 210 h 378"/>
                  <a:gd name="T54" fmla="*/ 299 w 609"/>
                  <a:gd name="T55" fmla="*/ 215 h 378"/>
                  <a:gd name="T56" fmla="*/ 415 w 609"/>
                  <a:gd name="T57" fmla="*/ 330 h 378"/>
                  <a:gd name="T58" fmla="*/ 457 w 609"/>
                  <a:gd name="T59" fmla="*/ 372 h 378"/>
                  <a:gd name="T60" fmla="*/ 462 w 609"/>
                  <a:gd name="T61" fmla="*/ 378 h 378"/>
                  <a:gd name="T62" fmla="*/ 467 w 609"/>
                  <a:gd name="T63" fmla="*/ 372 h 378"/>
                  <a:gd name="T64" fmla="*/ 488 w 609"/>
                  <a:gd name="T65" fmla="*/ 351 h 378"/>
                  <a:gd name="T66" fmla="*/ 562 w 609"/>
                  <a:gd name="T67" fmla="*/ 304 h 378"/>
                  <a:gd name="T68" fmla="*/ 609 w 609"/>
                  <a:gd name="T69" fmla="*/ 288 h 378"/>
                  <a:gd name="T70" fmla="*/ 577 w 609"/>
                  <a:gd name="T71" fmla="*/ 220 h 378"/>
                  <a:gd name="T72" fmla="*/ 535 w 609"/>
                  <a:gd name="T73" fmla="*/ 89 h 378"/>
                  <a:gd name="T74" fmla="*/ 520 w 609"/>
                  <a:gd name="T75" fmla="*/ 31 h 378"/>
                  <a:gd name="T76" fmla="*/ 441 w 609"/>
                  <a:gd name="T77" fmla="*/ 47 h 378"/>
                  <a:gd name="T78" fmla="*/ 399 w 609"/>
                  <a:gd name="T79" fmla="*/ 42 h 378"/>
                  <a:gd name="T80" fmla="*/ 331 w 609"/>
                  <a:gd name="T81" fmla="*/ 21 h 378"/>
                  <a:gd name="T82" fmla="*/ 278 w 609"/>
                  <a:gd name="T83" fmla="*/ 11 h 378"/>
                  <a:gd name="T84" fmla="*/ 231 w 609"/>
                  <a:gd name="T85" fmla="*/ 0 h 378"/>
                  <a:gd name="T86" fmla="*/ 194 w 609"/>
                  <a:gd name="T87" fmla="*/ 5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09" h="378">
                    <a:moveTo>
                      <a:pt x="184" y="11"/>
                    </a:moveTo>
                    <a:lnTo>
                      <a:pt x="184" y="11"/>
                    </a:lnTo>
                    <a:lnTo>
                      <a:pt x="100" y="31"/>
                    </a:lnTo>
                    <a:lnTo>
                      <a:pt x="74" y="47"/>
                    </a:lnTo>
                    <a:lnTo>
                      <a:pt x="63" y="58"/>
                    </a:lnTo>
                    <a:lnTo>
                      <a:pt x="53" y="68"/>
                    </a:lnTo>
                    <a:lnTo>
                      <a:pt x="53" y="68"/>
                    </a:lnTo>
                    <a:lnTo>
                      <a:pt x="27" y="131"/>
                    </a:lnTo>
                    <a:lnTo>
                      <a:pt x="27" y="131"/>
                    </a:lnTo>
                    <a:lnTo>
                      <a:pt x="0" y="231"/>
                    </a:lnTo>
                    <a:lnTo>
                      <a:pt x="0" y="231"/>
                    </a:lnTo>
                    <a:lnTo>
                      <a:pt x="16" y="241"/>
                    </a:lnTo>
                    <a:lnTo>
                      <a:pt x="27" y="241"/>
                    </a:lnTo>
                    <a:lnTo>
                      <a:pt x="37" y="247"/>
                    </a:lnTo>
                    <a:lnTo>
                      <a:pt x="37" y="247"/>
                    </a:lnTo>
                    <a:lnTo>
                      <a:pt x="42" y="247"/>
                    </a:lnTo>
                    <a:lnTo>
                      <a:pt x="42" y="247"/>
                    </a:lnTo>
                    <a:lnTo>
                      <a:pt x="42" y="247"/>
                    </a:lnTo>
                    <a:lnTo>
                      <a:pt x="42" y="247"/>
                    </a:lnTo>
                    <a:lnTo>
                      <a:pt x="48" y="241"/>
                    </a:lnTo>
                    <a:lnTo>
                      <a:pt x="48" y="241"/>
                    </a:lnTo>
                    <a:lnTo>
                      <a:pt x="53" y="241"/>
                    </a:lnTo>
                    <a:lnTo>
                      <a:pt x="53" y="241"/>
                    </a:lnTo>
                    <a:lnTo>
                      <a:pt x="53" y="241"/>
                    </a:lnTo>
                    <a:lnTo>
                      <a:pt x="53" y="241"/>
                    </a:lnTo>
                    <a:lnTo>
                      <a:pt x="69" y="236"/>
                    </a:lnTo>
                    <a:lnTo>
                      <a:pt x="84" y="220"/>
                    </a:lnTo>
                    <a:lnTo>
                      <a:pt x="95" y="210"/>
                    </a:lnTo>
                    <a:lnTo>
                      <a:pt x="100" y="189"/>
                    </a:lnTo>
                    <a:lnTo>
                      <a:pt x="116" y="152"/>
                    </a:lnTo>
                    <a:lnTo>
                      <a:pt x="116" y="121"/>
                    </a:lnTo>
                    <a:lnTo>
                      <a:pt x="116" y="121"/>
                    </a:lnTo>
                    <a:lnTo>
                      <a:pt x="121" y="110"/>
                    </a:lnTo>
                    <a:lnTo>
                      <a:pt x="126" y="105"/>
                    </a:lnTo>
                    <a:lnTo>
                      <a:pt x="126" y="105"/>
                    </a:lnTo>
                    <a:lnTo>
                      <a:pt x="137" y="110"/>
                    </a:lnTo>
                    <a:lnTo>
                      <a:pt x="142" y="115"/>
                    </a:lnTo>
                    <a:lnTo>
                      <a:pt x="142" y="115"/>
                    </a:lnTo>
                    <a:lnTo>
                      <a:pt x="142" y="131"/>
                    </a:lnTo>
                    <a:lnTo>
                      <a:pt x="142" y="131"/>
                    </a:lnTo>
                    <a:lnTo>
                      <a:pt x="200" y="163"/>
                    </a:lnTo>
                    <a:lnTo>
                      <a:pt x="252" y="184"/>
                    </a:lnTo>
                    <a:lnTo>
                      <a:pt x="278" y="189"/>
                    </a:lnTo>
                    <a:lnTo>
                      <a:pt x="305" y="189"/>
                    </a:lnTo>
                    <a:lnTo>
                      <a:pt x="326" y="184"/>
                    </a:lnTo>
                    <a:lnTo>
                      <a:pt x="347" y="173"/>
                    </a:lnTo>
                    <a:lnTo>
                      <a:pt x="347" y="173"/>
                    </a:lnTo>
                    <a:lnTo>
                      <a:pt x="357" y="173"/>
                    </a:lnTo>
                    <a:lnTo>
                      <a:pt x="368" y="178"/>
                    </a:lnTo>
                    <a:lnTo>
                      <a:pt x="368" y="178"/>
                    </a:lnTo>
                    <a:lnTo>
                      <a:pt x="368" y="189"/>
                    </a:lnTo>
                    <a:lnTo>
                      <a:pt x="362" y="194"/>
                    </a:lnTo>
                    <a:lnTo>
                      <a:pt x="362" y="194"/>
                    </a:lnTo>
                    <a:lnTo>
                      <a:pt x="331" y="210"/>
                    </a:lnTo>
                    <a:lnTo>
                      <a:pt x="299" y="215"/>
                    </a:lnTo>
                    <a:lnTo>
                      <a:pt x="299" y="215"/>
                    </a:lnTo>
                    <a:lnTo>
                      <a:pt x="299" y="215"/>
                    </a:lnTo>
                    <a:lnTo>
                      <a:pt x="415" y="330"/>
                    </a:lnTo>
                    <a:lnTo>
                      <a:pt x="415" y="330"/>
                    </a:lnTo>
                    <a:lnTo>
                      <a:pt x="457" y="372"/>
                    </a:lnTo>
                    <a:lnTo>
                      <a:pt x="457" y="372"/>
                    </a:lnTo>
                    <a:lnTo>
                      <a:pt x="462" y="378"/>
                    </a:lnTo>
                    <a:lnTo>
                      <a:pt x="462" y="378"/>
                    </a:lnTo>
                    <a:lnTo>
                      <a:pt x="467" y="372"/>
                    </a:lnTo>
                    <a:lnTo>
                      <a:pt x="467" y="372"/>
                    </a:lnTo>
                    <a:lnTo>
                      <a:pt x="488" y="351"/>
                    </a:lnTo>
                    <a:lnTo>
                      <a:pt x="520" y="330"/>
                    </a:lnTo>
                    <a:lnTo>
                      <a:pt x="562" y="304"/>
                    </a:lnTo>
                    <a:lnTo>
                      <a:pt x="583" y="299"/>
                    </a:lnTo>
                    <a:lnTo>
                      <a:pt x="609" y="288"/>
                    </a:lnTo>
                    <a:lnTo>
                      <a:pt x="609" y="288"/>
                    </a:lnTo>
                    <a:lnTo>
                      <a:pt x="577" y="220"/>
                    </a:lnTo>
                    <a:lnTo>
                      <a:pt x="551" y="152"/>
                    </a:lnTo>
                    <a:lnTo>
                      <a:pt x="535" y="89"/>
                    </a:lnTo>
                    <a:lnTo>
                      <a:pt x="520" y="31"/>
                    </a:lnTo>
                    <a:lnTo>
                      <a:pt x="520" y="31"/>
                    </a:lnTo>
                    <a:lnTo>
                      <a:pt x="488" y="42"/>
                    </a:lnTo>
                    <a:lnTo>
                      <a:pt x="441" y="47"/>
                    </a:lnTo>
                    <a:lnTo>
                      <a:pt x="441" y="47"/>
                    </a:lnTo>
                    <a:lnTo>
                      <a:pt x="399" y="42"/>
                    </a:lnTo>
                    <a:lnTo>
                      <a:pt x="399" y="42"/>
                    </a:lnTo>
                    <a:lnTo>
                      <a:pt x="331" y="21"/>
                    </a:lnTo>
                    <a:lnTo>
                      <a:pt x="331" y="21"/>
                    </a:lnTo>
                    <a:lnTo>
                      <a:pt x="278" y="11"/>
                    </a:lnTo>
                    <a:lnTo>
                      <a:pt x="252" y="5"/>
                    </a:lnTo>
                    <a:lnTo>
                      <a:pt x="231" y="0"/>
                    </a:lnTo>
                    <a:lnTo>
                      <a:pt x="231" y="0"/>
                    </a:lnTo>
                    <a:lnTo>
                      <a:pt x="194" y="5"/>
                    </a:lnTo>
                    <a:lnTo>
                      <a:pt x="18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48" name="Freeform 17">
                <a:extLst>
                  <a:ext uri="{FF2B5EF4-FFF2-40B4-BE49-F238E27FC236}">
                    <a16:creationId xmlns:a16="http://schemas.microsoft.com/office/drawing/2014/main" id="{3EE6FAE2-3757-4DAF-877A-A02F440C6458}"/>
                  </a:ext>
                </a:extLst>
              </p:cNvPr>
              <p:cNvSpPr>
                <a:spLocks/>
              </p:cNvSpPr>
              <p:nvPr/>
            </p:nvSpPr>
            <p:spPr bwMode="auto">
              <a:xfrm>
                <a:off x="2322178" y="1606445"/>
                <a:ext cx="52990" cy="53554"/>
              </a:xfrm>
              <a:custGeom>
                <a:avLst/>
                <a:gdLst>
                  <a:gd name="T0" fmla="*/ 47 w 94"/>
                  <a:gd name="T1" fmla="*/ 26 h 95"/>
                  <a:gd name="T2" fmla="*/ 47 w 94"/>
                  <a:gd name="T3" fmla="*/ 26 h 95"/>
                  <a:gd name="T4" fmla="*/ 21 w 94"/>
                  <a:gd name="T5" fmla="*/ 0 h 95"/>
                  <a:gd name="T6" fmla="*/ 21 w 94"/>
                  <a:gd name="T7" fmla="*/ 0 h 95"/>
                  <a:gd name="T8" fmla="*/ 21 w 94"/>
                  <a:gd name="T9" fmla="*/ 16 h 95"/>
                  <a:gd name="T10" fmla="*/ 21 w 94"/>
                  <a:gd name="T11" fmla="*/ 16 h 95"/>
                  <a:gd name="T12" fmla="*/ 15 w 94"/>
                  <a:gd name="T13" fmla="*/ 37 h 95"/>
                  <a:gd name="T14" fmla="*/ 5 w 94"/>
                  <a:gd name="T15" fmla="*/ 58 h 95"/>
                  <a:gd name="T16" fmla="*/ 0 w 94"/>
                  <a:gd name="T17" fmla="*/ 58 h 95"/>
                  <a:gd name="T18" fmla="*/ 0 w 94"/>
                  <a:gd name="T19" fmla="*/ 58 h 95"/>
                  <a:gd name="T20" fmla="*/ 15 w 94"/>
                  <a:gd name="T21" fmla="*/ 74 h 95"/>
                  <a:gd name="T22" fmla="*/ 15 w 94"/>
                  <a:gd name="T23" fmla="*/ 74 h 95"/>
                  <a:gd name="T24" fmla="*/ 52 w 94"/>
                  <a:gd name="T25" fmla="*/ 89 h 95"/>
                  <a:gd name="T26" fmla="*/ 78 w 94"/>
                  <a:gd name="T27" fmla="*/ 95 h 95"/>
                  <a:gd name="T28" fmla="*/ 78 w 94"/>
                  <a:gd name="T29" fmla="*/ 95 h 95"/>
                  <a:gd name="T30" fmla="*/ 94 w 94"/>
                  <a:gd name="T31" fmla="*/ 95 h 95"/>
                  <a:gd name="T32" fmla="*/ 94 w 94"/>
                  <a:gd name="T33" fmla="*/ 95 h 95"/>
                  <a:gd name="T34" fmla="*/ 94 w 94"/>
                  <a:gd name="T35" fmla="*/ 84 h 95"/>
                  <a:gd name="T36" fmla="*/ 94 w 94"/>
                  <a:gd name="T37" fmla="*/ 74 h 95"/>
                  <a:gd name="T38" fmla="*/ 94 w 94"/>
                  <a:gd name="T39" fmla="*/ 74 h 95"/>
                  <a:gd name="T40" fmla="*/ 47 w 94"/>
                  <a:gd name="T41" fmla="*/ 26 h 95"/>
                  <a:gd name="T42" fmla="*/ 47 w 94"/>
                  <a:gd name="T43" fmla="*/ 26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4" h="95">
                    <a:moveTo>
                      <a:pt x="47" y="26"/>
                    </a:moveTo>
                    <a:lnTo>
                      <a:pt x="47" y="26"/>
                    </a:lnTo>
                    <a:lnTo>
                      <a:pt x="21" y="0"/>
                    </a:lnTo>
                    <a:lnTo>
                      <a:pt x="21" y="0"/>
                    </a:lnTo>
                    <a:lnTo>
                      <a:pt x="21" y="16"/>
                    </a:lnTo>
                    <a:lnTo>
                      <a:pt x="21" y="16"/>
                    </a:lnTo>
                    <a:lnTo>
                      <a:pt x="15" y="37"/>
                    </a:lnTo>
                    <a:lnTo>
                      <a:pt x="5" y="58"/>
                    </a:lnTo>
                    <a:lnTo>
                      <a:pt x="0" y="58"/>
                    </a:lnTo>
                    <a:lnTo>
                      <a:pt x="0" y="58"/>
                    </a:lnTo>
                    <a:lnTo>
                      <a:pt x="15" y="74"/>
                    </a:lnTo>
                    <a:lnTo>
                      <a:pt x="15" y="74"/>
                    </a:lnTo>
                    <a:lnTo>
                      <a:pt x="52" y="89"/>
                    </a:lnTo>
                    <a:lnTo>
                      <a:pt x="78" y="95"/>
                    </a:lnTo>
                    <a:lnTo>
                      <a:pt x="78" y="95"/>
                    </a:lnTo>
                    <a:lnTo>
                      <a:pt x="94" y="95"/>
                    </a:lnTo>
                    <a:lnTo>
                      <a:pt x="94" y="95"/>
                    </a:lnTo>
                    <a:lnTo>
                      <a:pt x="94" y="84"/>
                    </a:lnTo>
                    <a:lnTo>
                      <a:pt x="94" y="74"/>
                    </a:lnTo>
                    <a:lnTo>
                      <a:pt x="94" y="74"/>
                    </a:lnTo>
                    <a:lnTo>
                      <a:pt x="47" y="26"/>
                    </a:lnTo>
                    <a:lnTo>
                      <a:pt x="4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sp>
            <p:nvSpPr>
              <p:cNvPr id="49" name="Freeform 18">
                <a:extLst>
                  <a:ext uri="{FF2B5EF4-FFF2-40B4-BE49-F238E27FC236}">
                    <a16:creationId xmlns:a16="http://schemas.microsoft.com/office/drawing/2014/main" id="{8F19892E-25AB-405F-87DF-A586B3B30400}"/>
                  </a:ext>
                </a:extLst>
              </p:cNvPr>
              <p:cNvSpPr>
                <a:spLocks/>
              </p:cNvSpPr>
              <p:nvPr/>
            </p:nvSpPr>
            <p:spPr bwMode="auto">
              <a:xfrm>
                <a:off x="2097252" y="1331348"/>
                <a:ext cx="416592" cy="322450"/>
              </a:xfrm>
              <a:custGeom>
                <a:avLst/>
                <a:gdLst>
                  <a:gd name="T0" fmla="*/ 666 w 739"/>
                  <a:gd name="T1" fmla="*/ 315 h 572"/>
                  <a:gd name="T2" fmla="*/ 530 w 739"/>
                  <a:gd name="T3" fmla="*/ 179 h 572"/>
                  <a:gd name="T4" fmla="*/ 404 w 739"/>
                  <a:gd name="T5" fmla="*/ 126 h 572"/>
                  <a:gd name="T6" fmla="*/ 378 w 739"/>
                  <a:gd name="T7" fmla="*/ 195 h 572"/>
                  <a:gd name="T8" fmla="*/ 336 w 739"/>
                  <a:gd name="T9" fmla="*/ 231 h 572"/>
                  <a:gd name="T10" fmla="*/ 304 w 739"/>
                  <a:gd name="T11" fmla="*/ 237 h 572"/>
                  <a:gd name="T12" fmla="*/ 262 w 739"/>
                  <a:gd name="T13" fmla="*/ 226 h 572"/>
                  <a:gd name="T14" fmla="*/ 241 w 739"/>
                  <a:gd name="T15" fmla="*/ 200 h 572"/>
                  <a:gd name="T16" fmla="*/ 283 w 739"/>
                  <a:gd name="T17" fmla="*/ 63 h 572"/>
                  <a:gd name="T18" fmla="*/ 309 w 739"/>
                  <a:gd name="T19" fmla="*/ 11 h 572"/>
                  <a:gd name="T20" fmla="*/ 262 w 739"/>
                  <a:gd name="T21" fmla="*/ 6 h 572"/>
                  <a:gd name="T22" fmla="*/ 210 w 739"/>
                  <a:gd name="T23" fmla="*/ 11 h 572"/>
                  <a:gd name="T24" fmla="*/ 168 w 739"/>
                  <a:gd name="T25" fmla="*/ 16 h 572"/>
                  <a:gd name="T26" fmla="*/ 89 w 739"/>
                  <a:gd name="T27" fmla="*/ 0 h 572"/>
                  <a:gd name="T28" fmla="*/ 26 w 739"/>
                  <a:gd name="T29" fmla="*/ 195 h 572"/>
                  <a:gd name="T30" fmla="*/ 26 w 739"/>
                  <a:gd name="T31" fmla="*/ 268 h 572"/>
                  <a:gd name="T32" fmla="*/ 100 w 739"/>
                  <a:gd name="T33" fmla="*/ 305 h 572"/>
                  <a:gd name="T34" fmla="*/ 126 w 739"/>
                  <a:gd name="T35" fmla="*/ 273 h 572"/>
                  <a:gd name="T36" fmla="*/ 168 w 739"/>
                  <a:gd name="T37" fmla="*/ 257 h 572"/>
                  <a:gd name="T38" fmla="*/ 210 w 739"/>
                  <a:gd name="T39" fmla="*/ 273 h 572"/>
                  <a:gd name="T40" fmla="*/ 225 w 739"/>
                  <a:gd name="T41" fmla="*/ 310 h 572"/>
                  <a:gd name="T42" fmla="*/ 267 w 739"/>
                  <a:gd name="T43" fmla="*/ 310 h 572"/>
                  <a:gd name="T44" fmla="*/ 299 w 739"/>
                  <a:gd name="T45" fmla="*/ 341 h 572"/>
                  <a:gd name="T46" fmla="*/ 320 w 739"/>
                  <a:gd name="T47" fmla="*/ 362 h 572"/>
                  <a:gd name="T48" fmla="*/ 362 w 739"/>
                  <a:gd name="T49" fmla="*/ 378 h 572"/>
                  <a:gd name="T50" fmla="*/ 378 w 739"/>
                  <a:gd name="T51" fmla="*/ 420 h 572"/>
                  <a:gd name="T52" fmla="*/ 378 w 739"/>
                  <a:gd name="T53" fmla="*/ 420 h 572"/>
                  <a:gd name="T54" fmla="*/ 482 w 739"/>
                  <a:gd name="T55" fmla="*/ 520 h 572"/>
                  <a:gd name="T56" fmla="*/ 514 w 739"/>
                  <a:gd name="T57" fmla="*/ 546 h 572"/>
                  <a:gd name="T58" fmla="*/ 514 w 739"/>
                  <a:gd name="T59" fmla="*/ 546 h 572"/>
                  <a:gd name="T60" fmla="*/ 545 w 739"/>
                  <a:gd name="T61" fmla="*/ 567 h 572"/>
                  <a:gd name="T62" fmla="*/ 577 w 739"/>
                  <a:gd name="T63" fmla="*/ 567 h 572"/>
                  <a:gd name="T64" fmla="*/ 593 w 739"/>
                  <a:gd name="T65" fmla="*/ 546 h 572"/>
                  <a:gd name="T66" fmla="*/ 435 w 739"/>
                  <a:gd name="T67" fmla="*/ 378 h 572"/>
                  <a:gd name="T68" fmla="*/ 435 w 739"/>
                  <a:gd name="T69" fmla="*/ 362 h 572"/>
                  <a:gd name="T70" fmla="*/ 598 w 739"/>
                  <a:gd name="T71" fmla="*/ 504 h 572"/>
                  <a:gd name="T72" fmla="*/ 598 w 739"/>
                  <a:gd name="T73" fmla="*/ 509 h 572"/>
                  <a:gd name="T74" fmla="*/ 598 w 739"/>
                  <a:gd name="T75" fmla="*/ 509 h 572"/>
                  <a:gd name="T76" fmla="*/ 624 w 739"/>
                  <a:gd name="T77" fmla="*/ 520 h 572"/>
                  <a:gd name="T78" fmla="*/ 656 w 739"/>
                  <a:gd name="T79" fmla="*/ 509 h 572"/>
                  <a:gd name="T80" fmla="*/ 666 w 739"/>
                  <a:gd name="T81" fmla="*/ 483 h 572"/>
                  <a:gd name="T82" fmla="*/ 524 w 739"/>
                  <a:gd name="T83" fmla="*/ 326 h 572"/>
                  <a:gd name="T84" fmla="*/ 524 w 739"/>
                  <a:gd name="T85" fmla="*/ 310 h 572"/>
                  <a:gd name="T86" fmla="*/ 545 w 739"/>
                  <a:gd name="T87" fmla="*/ 310 h 572"/>
                  <a:gd name="T88" fmla="*/ 703 w 739"/>
                  <a:gd name="T89" fmla="*/ 452 h 572"/>
                  <a:gd name="T90" fmla="*/ 729 w 739"/>
                  <a:gd name="T91" fmla="*/ 436 h 572"/>
                  <a:gd name="T92" fmla="*/ 739 w 739"/>
                  <a:gd name="T93" fmla="*/ 415 h 572"/>
                  <a:gd name="T94" fmla="*/ 708 w 739"/>
                  <a:gd name="T95" fmla="*/ 357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39" h="572">
                    <a:moveTo>
                      <a:pt x="708" y="357"/>
                    </a:moveTo>
                    <a:lnTo>
                      <a:pt x="708" y="357"/>
                    </a:lnTo>
                    <a:lnTo>
                      <a:pt x="666" y="315"/>
                    </a:lnTo>
                    <a:lnTo>
                      <a:pt x="666" y="315"/>
                    </a:lnTo>
                    <a:lnTo>
                      <a:pt x="530" y="179"/>
                    </a:lnTo>
                    <a:lnTo>
                      <a:pt x="530" y="179"/>
                    </a:lnTo>
                    <a:lnTo>
                      <a:pt x="498" y="174"/>
                    </a:lnTo>
                    <a:lnTo>
                      <a:pt x="467" y="158"/>
                    </a:lnTo>
                    <a:lnTo>
                      <a:pt x="404" y="126"/>
                    </a:lnTo>
                    <a:lnTo>
                      <a:pt x="404" y="126"/>
                    </a:lnTo>
                    <a:lnTo>
                      <a:pt x="393" y="163"/>
                    </a:lnTo>
                    <a:lnTo>
                      <a:pt x="378" y="195"/>
                    </a:lnTo>
                    <a:lnTo>
                      <a:pt x="367" y="210"/>
                    </a:lnTo>
                    <a:lnTo>
                      <a:pt x="357" y="221"/>
                    </a:lnTo>
                    <a:lnTo>
                      <a:pt x="336" y="231"/>
                    </a:lnTo>
                    <a:lnTo>
                      <a:pt x="320" y="237"/>
                    </a:lnTo>
                    <a:lnTo>
                      <a:pt x="320" y="237"/>
                    </a:lnTo>
                    <a:lnTo>
                      <a:pt x="304" y="237"/>
                    </a:lnTo>
                    <a:lnTo>
                      <a:pt x="304" y="237"/>
                    </a:lnTo>
                    <a:lnTo>
                      <a:pt x="278" y="237"/>
                    </a:lnTo>
                    <a:lnTo>
                      <a:pt x="262" y="226"/>
                    </a:lnTo>
                    <a:lnTo>
                      <a:pt x="241" y="210"/>
                    </a:lnTo>
                    <a:lnTo>
                      <a:pt x="241" y="210"/>
                    </a:lnTo>
                    <a:lnTo>
                      <a:pt x="241" y="200"/>
                    </a:lnTo>
                    <a:lnTo>
                      <a:pt x="241" y="200"/>
                    </a:lnTo>
                    <a:lnTo>
                      <a:pt x="262" y="121"/>
                    </a:lnTo>
                    <a:lnTo>
                      <a:pt x="283" y="63"/>
                    </a:lnTo>
                    <a:lnTo>
                      <a:pt x="299" y="21"/>
                    </a:lnTo>
                    <a:lnTo>
                      <a:pt x="299" y="21"/>
                    </a:lnTo>
                    <a:lnTo>
                      <a:pt x="309" y="11"/>
                    </a:lnTo>
                    <a:lnTo>
                      <a:pt x="309" y="11"/>
                    </a:lnTo>
                    <a:lnTo>
                      <a:pt x="288" y="6"/>
                    </a:lnTo>
                    <a:lnTo>
                      <a:pt x="262" y="6"/>
                    </a:lnTo>
                    <a:lnTo>
                      <a:pt x="262" y="6"/>
                    </a:lnTo>
                    <a:lnTo>
                      <a:pt x="210" y="11"/>
                    </a:lnTo>
                    <a:lnTo>
                      <a:pt x="210" y="11"/>
                    </a:lnTo>
                    <a:lnTo>
                      <a:pt x="168" y="16"/>
                    </a:lnTo>
                    <a:lnTo>
                      <a:pt x="168" y="16"/>
                    </a:lnTo>
                    <a:lnTo>
                      <a:pt x="168" y="16"/>
                    </a:lnTo>
                    <a:lnTo>
                      <a:pt x="121" y="11"/>
                    </a:lnTo>
                    <a:lnTo>
                      <a:pt x="89" y="0"/>
                    </a:lnTo>
                    <a:lnTo>
                      <a:pt x="89" y="0"/>
                    </a:lnTo>
                    <a:lnTo>
                      <a:pt x="73" y="63"/>
                    </a:lnTo>
                    <a:lnTo>
                      <a:pt x="52" y="132"/>
                    </a:lnTo>
                    <a:lnTo>
                      <a:pt x="26" y="195"/>
                    </a:lnTo>
                    <a:lnTo>
                      <a:pt x="0" y="257"/>
                    </a:lnTo>
                    <a:lnTo>
                      <a:pt x="0" y="257"/>
                    </a:lnTo>
                    <a:lnTo>
                      <a:pt x="26" y="268"/>
                    </a:lnTo>
                    <a:lnTo>
                      <a:pt x="52" y="278"/>
                    </a:lnTo>
                    <a:lnTo>
                      <a:pt x="100" y="305"/>
                    </a:lnTo>
                    <a:lnTo>
                      <a:pt x="100" y="305"/>
                    </a:lnTo>
                    <a:lnTo>
                      <a:pt x="100" y="305"/>
                    </a:lnTo>
                    <a:lnTo>
                      <a:pt x="126" y="273"/>
                    </a:lnTo>
                    <a:lnTo>
                      <a:pt x="126" y="273"/>
                    </a:lnTo>
                    <a:lnTo>
                      <a:pt x="147" y="263"/>
                    </a:lnTo>
                    <a:lnTo>
                      <a:pt x="168" y="257"/>
                    </a:lnTo>
                    <a:lnTo>
                      <a:pt x="168" y="257"/>
                    </a:lnTo>
                    <a:lnTo>
                      <a:pt x="189" y="263"/>
                    </a:lnTo>
                    <a:lnTo>
                      <a:pt x="210" y="273"/>
                    </a:lnTo>
                    <a:lnTo>
                      <a:pt x="210" y="273"/>
                    </a:lnTo>
                    <a:lnTo>
                      <a:pt x="220" y="294"/>
                    </a:lnTo>
                    <a:lnTo>
                      <a:pt x="225" y="310"/>
                    </a:lnTo>
                    <a:lnTo>
                      <a:pt x="225" y="310"/>
                    </a:lnTo>
                    <a:lnTo>
                      <a:pt x="246" y="305"/>
                    </a:lnTo>
                    <a:lnTo>
                      <a:pt x="246" y="305"/>
                    </a:lnTo>
                    <a:lnTo>
                      <a:pt x="267" y="310"/>
                    </a:lnTo>
                    <a:lnTo>
                      <a:pt x="288" y="326"/>
                    </a:lnTo>
                    <a:lnTo>
                      <a:pt x="288" y="326"/>
                    </a:lnTo>
                    <a:lnTo>
                      <a:pt x="299" y="341"/>
                    </a:lnTo>
                    <a:lnTo>
                      <a:pt x="304" y="362"/>
                    </a:lnTo>
                    <a:lnTo>
                      <a:pt x="304" y="362"/>
                    </a:lnTo>
                    <a:lnTo>
                      <a:pt x="320" y="362"/>
                    </a:lnTo>
                    <a:lnTo>
                      <a:pt x="320" y="362"/>
                    </a:lnTo>
                    <a:lnTo>
                      <a:pt x="341" y="368"/>
                    </a:lnTo>
                    <a:lnTo>
                      <a:pt x="362" y="378"/>
                    </a:lnTo>
                    <a:lnTo>
                      <a:pt x="362" y="378"/>
                    </a:lnTo>
                    <a:lnTo>
                      <a:pt x="372" y="399"/>
                    </a:lnTo>
                    <a:lnTo>
                      <a:pt x="378" y="420"/>
                    </a:lnTo>
                    <a:lnTo>
                      <a:pt x="378" y="420"/>
                    </a:lnTo>
                    <a:lnTo>
                      <a:pt x="378" y="420"/>
                    </a:lnTo>
                    <a:lnTo>
                      <a:pt x="378" y="420"/>
                    </a:lnTo>
                    <a:lnTo>
                      <a:pt x="383" y="425"/>
                    </a:lnTo>
                    <a:lnTo>
                      <a:pt x="383" y="425"/>
                    </a:lnTo>
                    <a:lnTo>
                      <a:pt x="482" y="520"/>
                    </a:lnTo>
                    <a:lnTo>
                      <a:pt x="514" y="546"/>
                    </a:lnTo>
                    <a:lnTo>
                      <a:pt x="514" y="546"/>
                    </a:lnTo>
                    <a:lnTo>
                      <a:pt x="514" y="546"/>
                    </a:lnTo>
                    <a:lnTo>
                      <a:pt x="514" y="546"/>
                    </a:lnTo>
                    <a:lnTo>
                      <a:pt x="514" y="546"/>
                    </a:lnTo>
                    <a:lnTo>
                      <a:pt x="514" y="546"/>
                    </a:lnTo>
                    <a:lnTo>
                      <a:pt x="530" y="562"/>
                    </a:lnTo>
                    <a:lnTo>
                      <a:pt x="530" y="562"/>
                    </a:lnTo>
                    <a:lnTo>
                      <a:pt x="545" y="567"/>
                    </a:lnTo>
                    <a:lnTo>
                      <a:pt x="561" y="572"/>
                    </a:lnTo>
                    <a:lnTo>
                      <a:pt x="561" y="572"/>
                    </a:lnTo>
                    <a:lnTo>
                      <a:pt x="577" y="567"/>
                    </a:lnTo>
                    <a:lnTo>
                      <a:pt x="587" y="556"/>
                    </a:lnTo>
                    <a:lnTo>
                      <a:pt x="587" y="556"/>
                    </a:lnTo>
                    <a:lnTo>
                      <a:pt x="593" y="546"/>
                    </a:lnTo>
                    <a:lnTo>
                      <a:pt x="587" y="530"/>
                    </a:lnTo>
                    <a:lnTo>
                      <a:pt x="435" y="378"/>
                    </a:lnTo>
                    <a:lnTo>
                      <a:pt x="435" y="378"/>
                    </a:lnTo>
                    <a:lnTo>
                      <a:pt x="430" y="373"/>
                    </a:lnTo>
                    <a:lnTo>
                      <a:pt x="435" y="362"/>
                    </a:lnTo>
                    <a:lnTo>
                      <a:pt x="435" y="362"/>
                    </a:lnTo>
                    <a:lnTo>
                      <a:pt x="446" y="357"/>
                    </a:lnTo>
                    <a:lnTo>
                      <a:pt x="451" y="362"/>
                    </a:lnTo>
                    <a:lnTo>
                      <a:pt x="598" y="504"/>
                    </a:lnTo>
                    <a:lnTo>
                      <a:pt x="598" y="504"/>
                    </a:lnTo>
                    <a:lnTo>
                      <a:pt x="598" y="509"/>
                    </a:lnTo>
                    <a:lnTo>
                      <a:pt x="598" y="509"/>
                    </a:lnTo>
                    <a:lnTo>
                      <a:pt x="598" y="509"/>
                    </a:lnTo>
                    <a:lnTo>
                      <a:pt x="598" y="509"/>
                    </a:lnTo>
                    <a:lnTo>
                      <a:pt x="598" y="509"/>
                    </a:lnTo>
                    <a:lnTo>
                      <a:pt x="608" y="514"/>
                    </a:lnTo>
                    <a:lnTo>
                      <a:pt x="608" y="514"/>
                    </a:lnTo>
                    <a:lnTo>
                      <a:pt x="624" y="520"/>
                    </a:lnTo>
                    <a:lnTo>
                      <a:pt x="624" y="520"/>
                    </a:lnTo>
                    <a:lnTo>
                      <a:pt x="645" y="514"/>
                    </a:lnTo>
                    <a:lnTo>
                      <a:pt x="656" y="509"/>
                    </a:lnTo>
                    <a:lnTo>
                      <a:pt x="661" y="499"/>
                    </a:lnTo>
                    <a:lnTo>
                      <a:pt x="661" y="499"/>
                    </a:lnTo>
                    <a:lnTo>
                      <a:pt x="666" y="483"/>
                    </a:lnTo>
                    <a:lnTo>
                      <a:pt x="661" y="462"/>
                    </a:lnTo>
                    <a:lnTo>
                      <a:pt x="524" y="326"/>
                    </a:lnTo>
                    <a:lnTo>
                      <a:pt x="524" y="326"/>
                    </a:lnTo>
                    <a:lnTo>
                      <a:pt x="524" y="320"/>
                    </a:lnTo>
                    <a:lnTo>
                      <a:pt x="524" y="320"/>
                    </a:lnTo>
                    <a:lnTo>
                      <a:pt x="524" y="310"/>
                    </a:lnTo>
                    <a:lnTo>
                      <a:pt x="524" y="310"/>
                    </a:lnTo>
                    <a:lnTo>
                      <a:pt x="535" y="305"/>
                    </a:lnTo>
                    <a:lnTo>
                      <a:pt x="545" y="310"/>
                    </a:lnTo>
                    <a:lnTo>
                      <a:pt x="677" y="446"/>
                    </a:lnTo>
                    <a:lnTo>
                      <a:pt x="677" y="446"/>
                    </a:lnTo>
                    <a:lnTo>
                      <a:pt x="703" y="452"/>
                    </a:lnTo>
                    <a:lnTo>
                      <a:pt x="703" y="452"/>
                    </a:lnTo>
                    <a:lnTo>
                      <a:pt x="724" y="446"/>
                    </a:lnTo>
                    <a:lnTo>
                      <a:pt x="729" y="436"/>
                    </a:lnTo>
                    <a:lnTo>
                      <a:pt x="734" y="431"/>
                    </a:lnTo>
                    <a:lnTo>
                      <a:pt x="734" y="431"/>
                    </a:lnTo>
                    <a:lnTo>
                      <a:pt x="739" y="415"/>
                    </a:lnTo>
                    <a:lnTo>
                      <a:pt x="734" y="394"/>
                    </a:lnTo>
                    <a:lnTo>
                      <a:pt x="724" y="378"/>
                    </a:lnTo>
                    <a:lnTo>
                      <a:pt x="708" y="357"/>
                    </a:lnTo>
                    <a:lnTo>
                      <a:pt x="708" y="3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grpSp>
        <p:sp>
          <p:nvSpPr>
            <p:cNvPr id="22" name="Rectangle 21">
              <a:extLst>
                <a:ext uri="{FF2B5EF4-FFF2-40B4-BE49-F238E27FC236}">
                  <a16:creationId xmlns:a16="http://schemas.microsoft.com/office/drawing/2014/main" id="{C2E0EFA5-17C6-4A76-99AD-19CA179370FC}"/>
                </a:ext>
              </a:extLst>
            </p:cNvPr>
            <p:cNvSpPr/>
            <p:nvPr/>
          </p:nvSpPr>
          <p:spPr bwMode="gray">
            <a:xfrm>
              <a:off x="480274" y="4528398"/>
              <a:ext cx="3634233" cy="1933440"/>
            </a:xfrm>
            <a:prstGeom prst="rect">
              <a:avLst/>
            </a:prstGeom>
            <a:solidFill>
              <a:schemeClr val="bg1">
                <a:lumMod val="95000"/>
              </a:schemeClr>
            </a:solidFill>
            <a:ln w="19050" algn="ctr">
              <a:noFill/>
              <a:miter lim="800000"/>
              <a:headEnd/>
              <a:tailEnd/>
            </a:ln>
          </p:spPr>
          <p:txBody>
            <a:bodyPr wrap="square" lIns="60614" tIns="60614" rIns="60614" bIns="60614" rtlCol="0" anchor="ctr"/>
            <a:lstStyle/>
            <a:p>
              <a:pPr algn="ctr" defTabSz="837848">
                <a:lnSpc>
                  <a:spcPct val="106000"/>
                </a:lnSpc>
              </a:pPr>
              <a:endParaRPr lang="en-IN" sz="886" b="1" dirty="0">
                <a:solidFill>
                  <a:prstClr val="white"/>
                </a:solidFill>
                <a:latin typeface="Verdana"/>
              </a:endParaRPr>
            </a:p>
          </p:txBody>
        </p:sp>
        <p:sp>
          <p:nvSpPr>
            <p:cNvPr id="23" name="Rectangle 22">
              <a:extLst>
                <a:ext uri="{FF2B5EF4-FFF2-40B4-BE49-F238E27FC236}">
                  <a16:creationId xmlns:a16="http://schemas.microsoft.com/office/drawing/2014/main" id="{1F58424A-F1BC-45EB-B6C4-7E2CE0A21A34}"/>
                </a:ext>
              </a:extLst>
            </p:cNvPr>
            <p:cNvSpPr/>
            <p:nvPr/>
          </p:nvSpPr>
          <p:spPr bwMode="gray">
            <a:xfrm>
              <a:off x="4340577" y="4528398"/>
              <a:ext cx="7319769" cy="1933440"/>
            </a:xfrm>
            <a:prstGeom prst="rect">
              <a:avLst/>
            </a:prstGeom>
            <a:solidFill>
              <a:schemeClr val="bg1">
                <a:lumMod val="95000"/>
              </a:schemeClr>
            </a:solidFill>
            <a:ln w="19050" algn="ctr">
              <a:noFill/>
              <a:miter lim="800000"/>
              <a:headEnd/>
              <a:tailEnd/>
            </a:ln>
          </p:spPr>
          <p:txBody>
            <a:bodyPr wrap="square" lIns="60614" tIns="60614" rIns="60614" bIns="60614" rtlCol="0" anchor="ctr"/>
            <a:lstStyle/>
            <a:p>
              <a:pPr algn="ctr" defTabSz="837848">
                <a:lnSpc>
                  <a:spcPct val="106000"/>
                </a:lnSpc>
              </a:pPr>
              <a:endParaRPr lang="en-IN" sz="886" b="1" dirty="0">
                <a:solidFill>
                  <a:prstClr val="white"/>
                </a:solidFill>
                <a:latin typeface="Verdana"/>
              </a:endParaRPr>
            </a:p>
          </p:txBody>
        </p:sp>
        <p:sp>
          <p:nvSpPr>
            <p:cNvPr id="24" name="Rectangle 23">
              <a:extLst>
                <a:ext uri="{FF2B5EF4-FFF2-40B4-BE49-F238E27FC236}">
                  <a16:creationId xmlns:a16="http://schemas.microsoft.com/office/drawing/2014/main" id="{EA7675A4-3E8E-430A-AE8B-1E49C675D262}"/>
                </a:ext>
              </a:extLst>
            </p:cNvPr>
            <p:cNvSpPr/>
            <p:nvPr/>
          </p:nvSpPr>
          <p:spPr>
            <a:xfrm>
              <a:off x="393074" y="3065406"/>
              <a:ext cx="11350896" cy="3412719"/>
            </a:xfrm>
            <a:prstGeom prst="rect">
              <a:avLst/>
            </a:prstGeom>
            <a:noFill/>
            <a:ln w="12700">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49091" tIns="49091" rIns="49091" bIns="49091" rtlCol="0" anchor="t"/>
            <a:lstStyle/>
            <a:p>
              <a:pPr marL="51953" lvl="1" defTabSz="623438" fontAlgn="b">
                <a:buSzPct val="65000"/>
                <a:defRPr/>
              </a:pPr>
              <a:endParaRPr lang="en-US" sz="886" b="1" i="1" u="sng" dirty="0">
                <a:solidFill>
                  <a:srgbClr val="000000"/>
                </a:solidFill>
                <a:latin typeface="Verdana"/>
                <a:cs typeface="Arial" panose="020B0604020202020204" pitchFamily="34" charset="0"/>
              </a:endParaRPr>
            </a:p>
            <a:p>
              <a:pPr marL="51953" lvl="1" defTabSz="623438" fontAlgn="b">
                <a:buSzPct val="65000"/>
                <a:defRPr/>
              </a:pPr>
              <a:endParaRPr lang="en-US" sz="886" b="1" i="1" u="sng" dirty="0">
                <a:solidFill>
                  <a:srgbClr val="000000"/>
                </a:solidFill>
                <a:latin typeface="Verdana"/>
                <a:cs typeface="Arial" panose="020B0604020202020204" pitchFamily="34" charset="0"/>
              </a:endParaRPr>
            </a:p>
            <a:p>
              <a:pPr marL="51953" lvl="1" defTabSz="623438" fontAlgn="b">
                <a:buSzPct val="65000"/>
                <a:defRPr/>
              </a:pPr>
              <a:endParaRPr lang="en-US" sz="886" b="1" i="1" u="sng" dirty="0">
                <a:solidFill>
                  <a:srgbClr val="000000"/>
                </a:solidFill>
                <a:latin typeface="Verdana"/>
                <a:cs typeface="Arial" panose="020B0604020202020204" pitchFamily="34" charset="0"/>
              </a:endParaRPr>
            </a:p>
            <a:p>
              <a:pPr marL="51953" lvl="1" defTabSz="623438" fontAlgn="b">
                <a:buSzPct val="65000"/>
                <a:defRPr/>
              </a:pPr>
              <a:endParaRPr lang="en-US" sz="886" b="1" i="1" u="sng" dirty="0">
                <a:solidFill>
                  <a:srgbClr val="000000"/>
                </a:solidFill>
                <a:latin typeface="Verdana"/>
                <a:cs typeface="Arial" panose="020B0604020202020204" pitchFamily="34" charset="0"/>
              </a:endParaRPr>
            </a:p>
            <a:p>
              <a:pPr marL="51953" lvl="1" defTabSz="623438" fontAlgn="b">
                <a:buSzPct val="65000"/>
                <a:defRPr/>
              </a:pPr>
              <a:endParaRPr lang="en-US" sz="886" b="1" i="1" u="sng" dirty="0">
                <a:solidFill>
                  <a:srgbClr val="000000"/>
                </a:solidFill>
                <a:latin typeface="Verdana"/>
                <a:cs typeface="Arial" panose="020B0604020202020204" pitchFamily="34" charset="0"/>
              </a:endParaRPr>
            </a:p>
            <a:p>
              <a:pPr marL="51953" lvl="1" defTabSz="623438" fontAlgn="b">
                <a:buSzPct val="65000"/>
                <a:defRPr/>
              </a:pPr>
              <a:endParaRPr lang="en-US" sz="886" b="1" i="1" u="sng" dirty="0">
                <a:solidFill>
                  <a:srgbClr val="000000"/>
                </a:solidFill>
                <a:latin typeface="Verdana"/>
                <a:cs typeface="Arial" panose="020B0604020202020204" pitchFamily="34" charset="0"/>
              </a:endParaRPr>
            </a:p>
            <a:p>
              <a:pPr marL="51953" lvl="1" defTabSz="623438" fontAlgn="b">
                <a:buSzPct val="65000"/>
                <a:defRPr/>
              </a:pPr>
              <a:endParaRPr lang="en-US" sz="886" b="1" i="1" u="sng" dirty="0">
                <a:solidFill>
                  <a:srgbClr val="000000"/>
                </a:solidFill>
                <a:latin typeface="Verdana"/>
                <a:cs typeface="Arial" panose="020B0604020202020204" pitchFamily="34" charset="0"/>
              </a:endParaRPr>
            </a:p>
            <a:p>
              <a:pPr marL="51953" lvl="1" defTabSz="623438" fontAlgn="b">
                <a:buSzPct val="65000"/>
                <a:defRPr/>
              </a:pPr>
              <a:endParaRPr lang="en-US" sz="886" b="1" dirty="0">
                <a:solidFill>
                  <a:srgbClr val="000000"/>
                </a:solidFill>
                <a:latin typeface="Verdana"/>
                <a:cs typeface="Arial" panose="020B0604020202020204" pitchFamily="34" charset="0"/>
              </a:endParaRPr>
            </a:p>
            <a:p>
              <a:pPr marL="51953" lvl="1" defTabSz="623438" fontAlgn="b">
                <a:buSzPct val="65000"/>
                <a:defRPr/>
              </a:pPr>
              <a:endParaRPr lang="en-US" sz="886" b="1" dirty="0">
                <a:solidFill>
                  <a:srgbClr val="000000"/>
                </a:solidFill>
                <a:latin typeface="Verdana"/>
                <a:cs typeface="Arial" panose="020B0604020202020204" pitchFamily="34" charset="0"/>
              </a:endParaRPr>
            </a:p>
            <a:p>
              <a:pPr marL="51953" lvl="1" defTabSz="623438" fontAlgn="b">
                <a:buSzPct val="65000"/>
                <a:defRPr/>
              </a:pPr>
              <a:endParaRPr lang="en-US" sz="886" b="1" dirty="0">
                <a:solidFill>
                  <a:srgbClr val="000000"/>
                </a:solidFill>
                <a:latin typeface="Verdana"/>
                <a:cs typeface="Arial" panose="020B0604020202020204" pitchFamily="34" charset="0"/>
              </a:endParaRPr>
            </a:p>
            <a:p>
              <a:pPr marL="51953" lvl="1" defTabSz="623438" fontAlgn="b">
                <a:buSzPct val="65000"/>
                <a:defRPr/>
              </a:pPr>
              <a:endParaRPr lang="en-US" sz="886" b="1" dirty="0">
                <a:solidFill>
                  <a:srgbClr val="000000"/>
                </a:solidFill>
                <a:latin typeface="Verdana"/>
                <a:cs typeface="Arial" panose="020B0604020202020204" pitchFamily="34" charset="0"/>
              </a:endParaRPr>
            </a:p>
          </p:txBody>
        </p:sp>
        <p:sp>
          <p:nvSpPr>
            <p:cNvPr id="25" name="Rectangle 24">
              <a:extLst>
                <a:ext uri="{FF2B5EF4-FFF2-40B4-BE49-F238E27FC236}">
                  <a16:creationId xmlns:a16="http://schemas.microsoft.com/office/drawing/2014/main" id="{FAC5B673-7126-48B2-8397-3C73CE009C03}"/>
                </a:ext>
              </a:extLst>
            </p:cNvPr>
            <p:cNvSpPr/>
            <p:nvPr/>
          </p:nvSpPr>
          <p:spPr>
            <a:xfrm>
              <a:off x="393074" y="2763750"/>
              <a:ext cx="11350895" cy="251237"/>
            </a:xfrm>
            <a:prstGeom prst="rect">
              <a:avLst/>
            </a:prstGeom>
            <a:solidFill>
              <a:srgbClr val="012169"/>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49091" tIns="49091" rIns="49091" bIns="49091" rtlCol="0" anchor="ctr"/>
            <a:lstStyle/>
            <a:p>
              <a:pPr defTabSz="623438">
                <a:defRPr/>
              </a:pPr>
              <a:r>
                <a:rPr lang="en-US" sz="886" b="1" dirty="0">
                  <a:solidFill>
                    <a:srgbClr val="FFFFFF"/>
                  </a:solidFill>
                  <a:latin typeface="Verdana"/>
                </a:rPr>
                <a:t>Scope and Approach</a:t>
              </a:r>
              <a:endParaRPr lang="en-IN" sz="886" b="1" dirty="0">
                <a:solidFill>
                  <a:srgbClr val="FFFFFF"/>
                </a:solidFill>
                <a:latin typeface="Verdana"/>
              </a:endParaRPr>
            </a:p>
          </p:txBody>
        </p:sp>
        <p:sp>
          <p:nvSpPr>
            <p:cNvPr id="26" name="Rectangle 25">
              <a:extLst>
                <a:ext uri="{FF2B5EF4-FFF2-40B4-BE49-F238E27FC236}">
                  <a16:creationId xmlns:a16="http://schemas.microsoft.com/office/drawing/2014/main" id="{F72243C1-C64C-43BF-8D15-7866B241371E}"/>
                </a:ext>
              </a:extLst>
            </p:cNvPr>
            <p:cNvSpPr/>
            <p:nvPr/>
          </p:nvSpPr>
          <p:spPr bwMode="gray">
            <a:xfrm>
              <a:off x="613405" y="3680473"/>
              <a:ext cx="3055668" cy="847924"/>
            </a:xfrm>
            <a:prstGeom prst="rect">
              <a:avLst/>
            </a:prstGeom>
            <a:solidFill>
              <a:schemeClr val="bg1"/>
            </a:solidFill>
            <a:ln w="19050" algn="ctr">
              <a:noFill/>
              <a:miter lim="800000"/>
              <a:headEnd/>
              <a:tailEnd/>
            </a:ln>
          </p:spPr>
          <p:txBody>
            <a:bodyPr wrap="square" lIns="60614" tIns="60614" rIns="60614" bIns="60614" rtlCol="0" anchor="ctr"/>
            <a:lstStyle/>
            <a:p>
              <a:pPr algn="ctr" defTabSz="623438">
                <a:lnSpc>
                  <a:spcPct val="106000"/>
                </a:lnSpc>
                <a:defRPr/>
              </a:pPr>
              <a:r>
                <a:rPr lang="en-IN" sz="886" b="1" dirty="0">
                  <a:solidFill>
                    <a:srgbClr val="046A38"/>
                  </a:solidFill>
                  <a:latin typeface="Verdana"/>
                </a:rPr>
                <a:t>Phase 1</a:t>
              </a:r>
            </a:p>
            <a:p>
              <a:pPr algn="ctr" defTabSz="837848">
                <a:lnSpc>
                  <a:spcPct val="106000"/>
                </a:lnSpc>
                <a:defRPr/>
              </a:pPr>
              <a:r>
                <a:rPr lang="en-US" sz="886" b="1" dirty="0">
                  <a:solidFill>
                    <a:prstClr val="black">
                      <a:lumMod val="75000"/>
                      <a:lumOff val="25000"/>
                    </a:prstClr>
                  </a:solidFill>
                  <a:latin typeface="Verdana"/>
                </a:rPr>
                <a:t>Design &amp; formulate the project governance framework</a:t>
              </a:r>
            </a:p>
            <a:p>
              <a:pPr algn="ctr" defTabSz="837848">
                <a:lnSpc>
                  <a:spcPct val="106000"/>
                </a:lnSpc>
                <a:defRPr/>
              </a:pPr>
              <a:endParaRPr lang="en-US" sz="886" i="1" dirty="0">
                <a:solidFill>
                  <a:prstClr val="black">
                    <a:lumMod val="75000"/>
                    <a:lumOff val="25000"/>
                  </a:prstClr>
                </a:solidFill>
                <a:latin typeface="Verdana"/>
              </a:endParaRPr>
            </a:p>
            <a:p>
              <a:pPr algn="ctr" defTabSz="837848">
                <a:lnSpc>
                  <a:spcPct val="106000"/>
                </a:lnSpc>
                <a:defRPr/>
              </a:pPr>
              <a:r>
                <a:rPr lang="en-US" sz="886" b="1" i="1" dirty="0">
                  <a:solidFill>
                    <a:prstClr val="black">
                      <a:lumMod val="75000"/>
                      <a:lumOff val="25000"/>
                    </a:prstClr>
                  </a:solidFill>
                  <a:latin typeface="Verdana"/>
                </a:rPr>
                <a:t>6 months</a:t>
              </a:r>
              <a:endParaRPr lang="en-IN" sz="886" b="1" i="1" dirty="0">
                <a:solidFill>
                  <a:prstClr val="black">
                    <a:lumMod val="75000"/>
                    <a:lumOff val="25000"/>
                  </a:prstClr>
                </a:solidFill>
                <a:latin typeface="Verdana"/>
              </a:endParaRPr>
            </a:p>
          </p:txBody>
        </p:sp>
        <p:sp>
          <p:nvSpPr>
            <p:cNvPr id="27" name="Rectangle 26">
              <a:extLst>
                <a:ext uri="{FF2B5EF4-FFF2-40B4-BE49-F238E27FC236}">
                  <a16:creationId xmlns:a16="http://schemas.microsoft.com/office/drawing/2014/main" id="{802A935C-62F4-48C6-B7FF-51AD8F15052D}"/>
                </a:ext>
              </a:extLst>
            </p:cNvPr>
            <p:cNvSpPr/>
            <p:nvPr/>
          </p:nvSpPr>
          <p:spPr bwMode="gray">
            <a:xfrm>
              <a:off x="4539665" y="3680473"/>
              <a:ext cx="6999670" cy="847924"/>
            </a:xfrm>
            <a:prstGeom prst="rect">
              <a:avLst/>
            </a:prstGeom>
            <a:solidFill>
              <a:schemeClr val="bg1"/>
            </a:solidFill>
            <a:ln w="19050" algn="ctr">
              <a:noFill/>
              <a:miter lim="800000"/>
              <a:headEnd/>
              <a:tailEnd/>
            </a:ln>
          </p:spPr>
          <p:txBody>
            <a:bodyPr wrap="square" lIns="0" tIns="60614" rIns="0" bIns="60614" rtlCol="0" anchor="ctr"/>
            <a:lstStyle/>
            <a:p>
              <a:pPr algn="ctr" defTabSz="623438">
                <a:lnSpc>
                  <a:spcPct val="106000"/>
                </a:lnSpc>
                <a:defRPr/>
              </a:pPr>
              <a:r>
                <a:rPr lang="en-IN" sz="886" b="1" dirty="0">
                  <a:solidFill>
                    <a:srgbClr val="046A38"/>
                  </a:solidFill>
                  <a:latin typeface="Verdana"/>
                </a:rPr>
                <a:t>Phase 2</a:t>
              </a:r>
            </a:p>
            <a:p>
              <a:pPr algn="ctr" defTabSz="837848">
                <a:lnSpc>
                  <a:spcPct val="106000"/>
                </a:lnSpc>
                <a:defRPr/>
              </a:pPr>
              <a:r>
                <a:rPr lang="en-US" sz="886" b="1" dirty="0">
                  <a:solidFill>
                    <a:prstClr val="black">
                      <a:lumMod val="75000"/>
                      <a:lumOff val="25000"/>
                    </a:prstClr>
                  </a:solidFill>
                  <a:latin typeface="Verdana"/>
                </a:rPr>
                <a:t>Project Monitoring &amp; Control  </a:t>
              </a:r>
            </a:p>
            <a:p>
              <a:pPr algn="ctr" defTabSz="837848">
                <a:lnSpc>
                  <a:spcPct val="106000"/>
                </a:lnSpc>
                <a:defRPr/>
              </a:pPr>
              <a:r>
                <a:rPr lang="en-US" sz="886" b="1" dirty="0">
                  <a:solidFill>
                    <a:prstClr val="black">
                      <a:lumMod val="75000"/>
                      <a:lumOff val="25000"/>
                    </a:prstClr>
                  </a:solidFill>
                  <a:latin typeface="Verdana"/>
                </a:rPr>
                <a:t>(ongoing)</a:t>
              </a:r>
            </a:p>
            <a:p>
              <a:pPr algn="ctr" defTabSz="837848">
                <a:lnSpc>
                  <a:spcPct val="106000"/>
                </a:lnSpc>
                <a:defRPr/>
              </a:pPr>
              <a:endParaRPr lang="en-US" sz="886" dirty="0">
                <a:solidFill>
                  <a:prstClr val="black">
                    <a:lumMod val="75000"/>
                    <a:lumOff val="25000"/>
                  </a:prstClr>
                </a:solidFill>
                <a:latin typeface="Verdana"/>
              </a:endParaRPr>
            </a:p>
            <a:p>
              <a:pPr algn="ctr" defTabSz="837848">
                <a:lnSpc>
                  <a:spcPct val="106000"/>
                </a:lnSpc>
                <a:defRPr/>
              </a:pPr>
              <a:r>
                <a:rPr lang="en-US" sz="886" b="1" i="1" dirty="0">
                  <a:solidFill>
                    <a:prstClr val="black">
                      <a:lumMod val="75000"/>
                      <a:lumOff val="25000"/>
                    </a:prstClr>
                  </a:solidFill>
                  <a:latin typeface="Verdana"/>
                </a:rPr>
                <a:t>30 months</a:t>
              </a:r>
              <a:endParaRPr lang="en-IN" sz="886" b="1" i="1" dirty="0">
                <a:solidFill>
                  <a:prstClr val="black">
                    <a:lumMod val="75000"/>
                    <a:lumOff val="25000"/>
                  </a:prstClr>
                </a:solidFill>
                <a:latin typeface="Verdana"/>
              </a:endParaRPr>
            </a:p>
          </p:txBody>
        </p:sp>
        <p:sp>
          <p:nvSpPr>
            <p:cNvPr id="28" name="Rectangle 27">
              <a:extLst>
                <a:ext uri="{FF2B5EF4-FFF2-40B4-BE49-F238E27FC236}">
                  <a16:creationId xmlns:a16="http://schemas.microsoft.com/office/drawing/2014/main" id="{1D592EC5-ACAA-4D34-8767-D7448D51F316}"/>
                </a:ext>
              </a:extLst>
            </p:cNvPr>
            <p:cNvSpPr/>
            <p:nvPr/>
          </p:nvSpPr>
          <p:spPr bwMode="gray">
            <a:xfrm>
              <a:off x="565305" y="4452851"/>
              <a:ext cx="3628163" cy="1029629"/>
            </a:xfrm>
            <a:prstGeom prst="rect">
              <a:avLst/>
            </a:prstGeom>
            <a:noFill/>
            <a:ln w="6350" algn="ctr">
              <a:noFill/>
              <a:miter lim="800000"/>
              <a:headEnd/>
              <a:tailEnd/>
            </a:ln>
          </p:spPr>
          <p:txBody>
            <a:bodyPr wrap="square" lIns="24545" tIns="24545" rIns="24545" bIns="24545" rtlCol="0" anchor="t">
              <a:noAutofit/>
            </a:bodyPr>
            <a:lstStyle/>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Develop </a:t>
              </a:r>
              <a:r>
                <a:rPr lang="en-US" sz="886" b="1" dirty="0">
                  <a:solidFill>
                    <a:srgbClr val="001035"/>
                  </a:solidFill>
                  <a:latin typeface="Verdana"/>
                  <a:cs typeface="Arial" panose="020B0604020202020204" pitchFamily="34" charset="0"/>
                </a:rPr>
                <a:t>integrated schedule </a:t>
              </a:r>
            </a:p>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Design &amp; implement </a:t>
              </a:r>
              <a:r>
                <a:rPr lang="en-US" sz="886" b="1" dirty="0">
                  <a:solidFill>
                    <a:srgbClr val="001035"/>
                  </a:solidFill>
                  <a:latin typeface="Verdana"/>
                  <a:cs typeface="Arial" panose="020B0604020202020204" pitchFamily="34" charset="0"/>
                </a:rPr>
                <a:t>web and mobile based project monitoring platform</a:t>
              </a:r>
            </a:p>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Define </a:t>
              </a:r>
              <a:r>
                <a:rPr lang="en-US" sz="886" b="1" dirty="0">
                  <a:solidFill>
                    <a:srgbClr val="001035"/>
                  </a:solidFill>
                  <a:latin typeface="Verdana"/>
                  <a:cs typeface="Arial" panose="020B0604020202020204" pitchFamily="34" charset="0"/>
                </a:rPr>
                <a:t>project governance processes</a:t>
              </a:r>
            </a:p>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Develop </a:t>
              </a:r>
              <a:r>
                <a:rPr lang="en-US" sz="886" b="1" dirty="0">
                  <a:solidFill>
                    <a:srgbClr val="001035"/>
                  </a:solidFill>
                  <a:latin typeface="Verdana"/>
                  <a:cs typeface="Arial" panose="020B0604020202020204" pitchFamily="34" charset="0"/>
                </a:rPr>
                <a:t>risk management </a:t>
              </a:r>
              <a:r>
                <a:rPr lang="en-US" sz="886" dirty="0">
                  <a:solidFill>
                    <a:srgbClr val="001035"/>
                  </a:solidFill>
                  <a:latin typeface="Verdana"/>
                  <a:cs typeface="Arial" panose="020B0604020202020204" pitchFamily="34" charset="0"/>
                </a:rPr>
                <a:t>framework &amp; conduct risk identification workshops</a:t>
              </a:r>
            </a:p>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Develop </a:t>
              </a:r>
              <a:r>
                <a:rPr lang="en-US" sz="886" b="1" dirty="0">
                  <a:solidFill>
                    <a:srgbClr val="001035"/>
                  </a:solidFill>
                  <a:latin typeface="Verdana"/>
                  <a:cs typeface="Arial" panose="020B0604020202020204" pitchFamily="34" charset="0"/>
                </a:rPr>
                <a:t>MIS reporting system &amp; processes</a:t>
              </a:r>
            </a:p>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Facilitate </a:t>
              </a:r>
              <a:r>
                <a:rPr lang="en-US" sz="886" b="1" dirty="0">
                  <a:solidFill>
                    <a:srgbClr val="001035"/>
                  </a:solidFill>
                  <a:latin typeface="Verdana"/>
                  <a:cs typeface="Arial" panose="020B0604020202020204" pitchFamily="34" charset="0"/>
                </a:rPr>
                <a:t>stakeholder alignment </a:t>
              </a:r>
            </a:p>
          </p:txBody>
        </p:sp>
        <p:sp>
          <p:nvSpPr>
            <p:cNvPr id="29" name="Rectangle 28">
              <a:extLst>
                <a:ext uri="{FF2B5EF4-FFF2-40B4-BE49-F238E27FC236}">
                  <a16:creationId xmlns:a16="http://schemas.microsoft.com/office/drawing/2014/main" id="{5863BF4A-4CF2-4909-8E87-2BC48B1E81BC}"/>
                </a:ext>
              </a:extLst>
            </p:cNvPr>
            <p:cNvSpPr/>
            <p:nvPr/>
          </p:nvSpPr>
          <p:spPr bwMode="gray">
            <a:xfrm>
              <a:off x="4374464" y="4477979"/>
              <a:ext cx="3803818" cy="1750233"/>
            </a:xfrm>
            <a:prstGeom prst="rect">
              <a:avLst/>
            </a:prstGeom>
            <a:noFill/>
            <a:ln w="6350" algn="ctr">
              <a:noFill/>
              <a:miter lim="800000"/>
              <a:headEnd/>
              <a:tailEnd/>
            </a:ln>
          </p:spPr>
          <p:txBody>
            <a:bodyPr wrap="square" lIns="24545" tIns="24545" rIns="24545" bIns="24545" rtlCol="0" anchor="t">
              <a:noAutofit/>
            </a:bodyPr>
            <a:lstStyle/>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Generation </a:t>
              </a:r>
              <a:r>
                <a:rPr lang="en-US" sz="886" b="1" dirty="0">
                  <a:solidFill>
                    <a:srgbClr val="001035"/>
                  </a:solidFill>
                  <a:latin typeface="Verdana"/>
                  <a:cs typeface="Arial" panose="020B0604020202020204" pitchFamily="34" charset="0"/>
                </a:rPr>
                <a:t>of automated reports highlighting project progress</a:t>
              </a:r>
              <a:r>
                <a:rPr lang="en-US" sz="886" dirty="0">
                  <a:solidFill>
                    <a:srgbClr val="001035"/>
                  </a:solidFill>
                  <a:latin typeface="Verdana"/>
                  <a:cs typeface="Arial" panose="020B0604020202020204" pitchFamily="34" charset="0"/>
                </a:rPr>
                <a:t> &amp; potential constraints</a:t>
              </a:r>
            </a:p>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Securing </a:t>
              </a:r>
              <a:r>
                <a:rPr lang="en-US" sz="886" b="1" dirty="0">
                  <a:solidFill>
                    <a:srgbClr val="001035"/>
                  </a:solidFill>
                  <a:latin typeface="Verdana"/>
                  <a:cs typeface="Arial" panose="020B0604020202020204" pitchFamily="34" charset="0"/>
                </a:rPr>
                <a:t>selective intervention </a:t>
              </a:r>
              <a:r>
                <a:rPr lang="en-US" sz="886" dirty="0">
                  <a:solidFill>
                    <a:srgbClr val="001035"/>
                  </a:solidFill>
                  <a:latin typeface="Verdana"/>
                  <a:cs typeface="Arial" panose="020B0604020202020204" pitchFamily="34" charset="0"/>
                </a:rPr>
                <a:t>of top management on critical issues</a:t>
              </a:r>
            </a:p>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Facilitating </a:t>
              </a:r>
              <a:r>
                <a:rPr lang="en-US" sz="886" b="1" dirty="0">
                  <a:solidFill>
                    <a:srgbClr val="001035"/>
                  </a:solidFill>
                  <a:latin typeface="Verdana"/>
                  <a:cs typeface="Arial" panose="020B0604020202020204" pitchFamily="34" charset="0"/>
                </a:rPr>
                <a:t>resolution of potential bottlenecks </a:t>
              </a:r>
            </a:p>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Implementation of various</a:t>
              </a:r>
              <a:r>
                <a:rPr lang="en-US" sz="886" b="1" dirty="0">
                  <a:solidFill>
                    <a:srgbClr val="001035"/>
                  </a:solidFill>
                  <a:latin typeface="Verdana"/>
                  <a:cs typeface="Arial" panose="020B0604020202020204" pitchFamily="34" charset="0"/>
                </a:rPr>
                <a:t> management processes </a:t>
              </a:r>
              <a:r>
                <a:rPr lang="en-US" sz="886" dirty="0">
                  <a:solidFill>
                    <a:srgbClr val="001035"/>
                  </a:solidFill>
                  <a:latin typeface="Verdana"/>
                  <a:cs typeface="Arial" panose="020B0604020202020204" pitchFamily="34" charset="0"/>
                </a:rPr>
                <a:t>focused on preparation &amp; control</a:t>
              </a:r>
            </a:p>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Periodic </a:t>
              </a:r>
              <a:r>
                <a:rPr lang="en-US" sz="886" b="1" dirty="0">
                  <a:solidFill>
                    <a:srgbClr val="001035"/>
                  </a:solidFill>
                  <a:latin typeface="Verdana"/>
                  <a:cs typeface="Arial" panose="020B0604020202020204" pitchFamily="34" charset="0"/>
                </a:rPr>
                <a:t>updates of project schedule </a:t>
              </a:r>
            </a:p>
          </p:txBody>
        </p:sp>
        <p:sp>
          <p:nvSpPr>
            <p:cNvPr id="30" name="Rectangle 29">
              <a:extLst>
                <a:ext uri="{FF2B5EF4-FFF2-40B4-BE49-F238E27FC236}">
                  <a16:creationId xmlns:a16="http://schemas.microsoft.com/office/drawing/2014/main" id="{8797C959-272C-451B-86E7-BF6FA9DB023B}"/>
                </a:ext>
              </a:extLst>
            </p:cNvPr>
            <p:cNvSpPr/>
            <p:nvPr/>
          </p:nvSpPr>
          <p:spPr bwMode="gray">
            <a:xfrm>
              <a:off x="8277625" y="4516678"/>
              <a:ext cx="3382720" cy="1750234"/>
            </a:xfrm>
            <a:prstGeom prst="rect">
              <a:avLst/>
            </a:prstGeom>
            <a:noFill/>
            <a:ln w="6350" algn="ctr">
              <a:noFill/>
              <a:miter lim="800000"/>
              <a:headEnd/>
              <a:tailEnd/>
            </a:ln>
          </p:spPr>
          <p:txBody>
            <a:bodyPr wrap="square" lIns="24545" tIns="24545" rIns="24545" bIns="24545" rtlCol="0" anchor="t">
              <a:noAutofit/>
            </a:bodyPr>
            <a:lstStyle/>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Conducting regular interaction with </a:t>
              </a:r>
              <a:r>
                <a:rPr lang="en-US" sz="886" b="1" dirty="0">
                  <a:solidFill>
                    <a:srgbClr val="001035"/>
                  </a:solidFill>
                  <a:latin typeface="Verdana"/>
                  <a:cs typeface="Arial" panose="020B0604020202020204" pitchFamily="34" charset="0"/>
                </a:rPr>
                <a:t>various stakeholders </a:t>
              </a:r>
            </a:p>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Carry out robust </a:t>
              </a:r>
              <a:r>
                <a:rPr lang="en-US" sz="886" b="1" dirty="0">
                  <a:solidFill>
                    <a:srgbClr val="001035"/>
                  </a:solidFill>
                  <a:latin typeface="Verdana"/>
                  <a:cs typeface="Arial" panose="020B0604020202020204" pitchFamily="34" charset="0"/>
                </a:rPr>
                <a:t>risk management through workshops &amp; risk registers</a:t>
              </a:r>
            </a:p>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Application of analytics to </a:t>
              </a:r>
              <a:r>
                <a:rPr lang="en-US" sz="886" b="1" dirty="0">
                  <a:solidFill>
                    <a:srgbClr val="001035"/>
                  </a:solidFill>
                  <a:latin typeface="Verdana"/>
                  <a:cs typeface="Arial" panose="020B0604020202020204" pitchFamily="34" charset="0"/>
                </a:rPr>
                <a:t>monitor variances &amp; develop catch- up plans</a:t>
              </a:r>
            </a:p>
            <a:p>
              <a:pPr marL="116895" indent="-116895" defTabSz="837848">
                <a:lnSpc>
                  <a:spcPct val="150000"/>
                </a:lnSpc>
                <a:spcBef>
                  <a:spcPts val="136"/>
                </a:spcBef>
                <a:buSzPct val="100000"/>
                <a:buFont typeface="Arial" panose="020B0604020202020204" pitchFamily="34" charset="0"/>
                <a:buChar char="•"/>
              </a:pPr>
              <a:r>
                <a:rPr lang="en-US" sz="886" dirty="0">
                  <a:solidFill>
                    <a:srgbClr val="001035"/>
                  </a:solidFill>
                  <a:latin typeface="Verdana"/>
                  <a:cs typeface="Arial" panose="020B0604020202020204" pitchFamily="34" charset="0"/>
                </a:rPr>
                <a:t>Update of web/mobile platform to enable </a:t>
              </a:r>
              <a:r>
                <a:rPr lang="en-US" sz="886" b="1" dirty="0">
                  <a:solidFill>
                    <a:srgbClr val="001035"/>
                  </a:solidFill>
                  <a:latin typeface="Verdana"/>
                  <a:cs typeface="Arial" panose="020B0604020202020204" pitchFamily="34" charset="0"/>
                </a:rPr>
                <a:t>visualization &amp; early warning signals</a:t>
              </a:r>
            </a:p>
          </p:txBody>
        </p:sp>
        <p:sp>
          <p:nvSpPr>
            <p:cNvPr id="31" name="Freeform 56">
              <a:extLst>
                <a:ext uri="{FF2B5EF4-FFF2-40B4-BE49-F238E27FC236}">
                  <a16:creationId xmlns:a16="http://schemas.microsoft.com/office/drawing/2014/main" id="{736B24EA-40BD-44C8-A4ED-D72FAEE81885}"/>
                </a:ext>
              </a:extLst>
            </p:cNvPr>
            <p:cNvSpPr>
              <a:spLocks noChangeAspect="1" noEditPoints="1"/>
            </p:cNvSpPr>
            <p:nvPr/>
          </p:nvSpPr>
          <p:spPr bwMode="auto">
            <a:xfrm>
              <a:off x="2238101" y="3140098"/>
              <a:ext cx="349752" cy="451428"/>
            </a:xfrm>
            <a:custGeom>
              <a:avLst/>
              <a:gdLst>
                <a:gd name="T0" fmla="*/ 390 w 445"/>
                <a:gd name="T1" fmla="*/ 570 h 661"/>
                <a:gd name="T2" fmla="*/ 349 w 445"/>
                <a:gd name="T3" fmla="*/ 584 h 661"/>
                <a:gd name="T4" fmla="*/ 335 w 445"/>
                <a:gd name="T5" fmla="*/ 364 h 661"/>
                <a:gd name="T6" fmla="*/ 377 w 445"/>
                <a:gd name="T7" fmla="*/ 350 h 661"/>
                <a:gd name="T8" fmla="*/ 390 w 445"/>
                <a:gd name="T9" fmla="*/ 570 h 661"/>
                <a:gd name="T10" fmla="*/ 268 w 445"/>
                <a:gd name="T11" fmla="*/ 399 h 661"/>
                <a:gd name="T12" fmla="*/ 268 w 445"/>
                <a:gd name="T13" fmla="*/ 350 h 661"/>
                <a:gd name="T14" fmla="*/ 268 w 445"/>
                <a:gd name="T15" fmla="*/ 399 h 661"/>
                <a:gd name="T16" fmla="*/ 268 w 445"/>
                <a:gd name="T17" fmla="*/ 493 h 661"/>
                <a:gd name="T18" fmla="*/ 268 w 445"/>
                <a:gd name="T19" fmla="*/ 444 h 661"/>
                <a:gd name="T20" fmla="*/ 268 w 445"/>
                <a:gd name="T21" fmla="*/ 493 h 661"/>
                <a:gd name="T22" fmla="*/ 268 w 445"/>
                <a:gd name="T23" fmla="*/ 587 h 661"/>
                <a:gd name="T24" fmla="*/ 268 w 445"/>
                <a:gd name="T25" fmla="*/ 538 h 661"/>
                <a:gd name="T26" fmla="*/ 268 w 445"/>
                <a:gd name="T27" fmla="*/ 587 h 661"/>
                <a:gd name="T28" fmla="*/ 175 w 445"/>
                <a:gd name="T29" fmla="*/ 399 h 661"/>
                <a:gd name="T30" fmla="*/ 175 w 445"/>
                <a:gd name="T31" fmla="*/ 350 h 661"/>
                <a:gd name="T32" fmla="*/ 175 w 445"/>
                <a:gd name="T33" fmla="*/ 399 h 661"/>
                <a:gd name="T34" fmla="*/ 175 w 445"/>
                <a:gd name="T35" fmla="*/ 493 h 661"/>
                <a:gd name="T36" fmla="*/ 175 w 445"/>
                <a:gd name="T37" fmla="*/ 444 h 661"/>
                <a:gd name="T38" fmla="*/ 175 w 445"/>
                <a:gd name="T39" fmla="*/ 493 h 661"/>
                <a:gd name="T40" fmla="*/ 175 w 445"/>
                <a:gd name="T41" fmla="*/ 587 h 661"/>
                <a:gd name="T42" fmla="*/ 175 w 445"/>
                <a:gd name="T43" fmla="*/ 538 h 661"/>
                <a:gd name="T44" fmla="*/ 175 w 445"/>
                <a:gd name="T45" fmla="*/ 587 h 661"/>
                <a:gd name="T46" fmla="*/ 82 w 445"/>
                <a:gd name="T47" fmla="*/ 303 h 661"/>
                <a:gd name="T48" fmla="*/ 82 w 445"/>
                <a:gd name="T49" fmla="*/ 254 h 661"/>
                <a:gd name="T50" fmla="*/ 82 w 445"/>
                <a:gd name="T51" fmla="*/ 303 h 661"/>
                <a:gd name="T52" fmla="*/ 82 w 445"/>
                <a:gd name="T53" fmla="*/ 399 h 661"/>
                <a:gd name="T54" fmla="*/ 82 w 445"/>
                <a:gd name="T55" fmla="*/ 350 h 661"/>
                <a:gd name="T56" fmla="*/ 82 w 445"/>
                <a:gd name="T57" fmla="*/ 399 h 661"/>
                <a:gd name="T58" fmla="*/ 82 w 445"/>
                <a:gd name="T59" fmla="*/ 493 h 661"/>
                <a:gd name="T60" fmla="*/ 82 w 445"/>
                <a:gd name="T61" fmla="*/ 444 h 661"/>
                <a:gd name="T62" fmla="*/ 82 w 445"/>
                <a:gd name="T63" fmla="*/ 493 h 661"/>
                <a:gd name="T64" fmla="*/ 82 w 445"/>
                <a:gd name="T65" fmla="*/ 587 h 661"/>
                <a:gd name="T66" fmla="*/ 82 w 445"/>
                <a:gd name="T67" fmla="*/ 538 h 661"/>
                <a:gd name="T68" fmla="*/ 82 w 445"/>
                <a:gd name="T69" fmla="*/ 587 h 661"/>
                <a:gd name="T70" fmla="*/ 199 w 445"/>
                <a:gd name="T71" fmla="*/ 278 h 661"/>
                <a:gd name="T72" fmla="*/ 150 w 445"/>
                <a:gd name="T73" fmla="*/ 278 h 661"/>
                <a:gd name="T74" fmla="*/ 199 w 445"/>
                <a:gd name="T75" fmla="*/ 278 h 661"/>
                <a:gd name="T76" fmla="*/ 292 w 445"/>
                <a:gd name="T77" fmla="*/ 278 h 661"/>
                <a:gd name="T78" fmla="*/ 243 w 445"/>
                <a:gd name="T79" fmla="*/ 278 h 661"/>
                <a:gd name="T80" fmla="*/ 292 w 445"/>
                <a:gd name="T81" fmla="*/ 278 h 661"/>
                <a:gd name="T82" fmla="*/ 385 w 445"/>
                <a:gd name="T83" fmla="*/ 278 h 661"/>
                <a:gd name="T84" fmla="*/ 337 w 445"/>
                <a:gd name="T85" fmla="*/ 278 h 661"/>
                <a:gd name="T86" fmla="*/ 385 w 445"/>
                <a:gd name="T87" fmla="*/ 278 h 661"/>
                <a:gd name="T88" fmla="*/ 56 w 445"/>
                <a:gd name="T89" fmla="*/ 95 h 661"/>
                <a:gd name="T90" fmla="*/ 365 w 445"/>
                <a:gd name="T91" fmla="*/ 72 h 661"/>
                <a:gd name="T92" fmla="*/ 388 w 445"/>
                <a:gd name="T93" fmla="*/ 161 h 661"/>
                <a:gd name="T94" fmla="*/ 79 w 445"/>
                <a:gd name="T95" fmla="*/ 184 h 661"/>
                <a:gd name="T96" fmla="*/ 56 w 445"/>
                <a:gd name="T97" fmla="*/ 95 h 661"/>
                <a:gd name="T98" fmla="*/ 389 w 445"/>
                <a:gd name="T99" fmla="*/ 0 h 661"/>
                <a:gd name="T100" fmla="*/ 0 w 445"/>
                <a:gd name="T101" fmla="*/ 54 h 661"/>
                <a:gd name="T102" fmla="*/ 55 w 445"/>
                <a:gd name="T103" fmla="*/ 661 h 661"/>
                <a:gd name="T104" fmla="*/ 445 w 445"/>
                <a:gd name="T105" fmla="*/ 606 h 661"/>
                <a:gd name="T106" fmla="*/ 389 w 445"/>
                <a:gd name="T107" fmla="*/ 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5" h="661">
                  <a:moveTo>
                    <a:pt x="390" y="570"/>
                  </a:moveTo>
                  <a:lnTo>
                    <a:pt x="390" y="570"/>
                  </a:lnTo>
                  <a:cubicBezTo>
                    <a:pt x="390" y="578"/>
                    <a:pt x="384" y="584"/>
                    <a:pt x="377" y="584"/>
                  </a:cubicBezTo>
                  <a:lnTo>
                    <a:pt x="349" y="584"/>
                  </a:lnTo>
                  <a:cubicBezTo>
                    <a:pt x="341" y="584"/>
                    <a:pt x="335" y="578"/>
                    <a:pt x="335" y="570"/>
                  </a:cubicBezTo>
                  <a:lnTo>
                    <a:pt x="335" y="364"/>
                  </a:lnTo>
                  <a:cubicBezTo>
                    <a:pt x="335" y="356"/>
                    <a:pt x="341" y="350"/>
                    <a:pt x="349" y="350"/>
                  </a:cubicBezTo>
                  <a:lnTo>
                    <a:pt x="377" y="350"/>
                  </a:lnTo>
                  <a:cubicBezTo>
                    <a:pt x="384" y="350"/>
                    <a:pt x="390" y="356"/>
                    <a:pt x="390" y="364"/>
                  </a:cubicBezTo>
                  <a:lnTo>
                    <a:pt x="390" y="570"/>
                  </a:lnTo>
                  <a:close/>
                  <a:moveTo>
                    <a:pt x="268" y="399"/>
                  </a:moveTo>
                  <a:lnTo>
                    <a:pt x="268" y="399"/>
                  </a:lnTo>
                  <a:cubicBezTo>
                    <a:pt x="254" y="399"/>
                    <a:pt x="243" y="388"/>
                    <a:pt x="243" y="374"/>
                  </a:cubicBezTo>
                  <a:cubicBezTo>
                    <a:pt x="243" y="361"/>
                    <a:pt x="254" y="350"/>
                    <a:pt x="268" y="350"/>
                  </a:cubicBezTo>
                  <a:cubicBezTo>
                    <a:pt x="281" y="350"/>
                    <a:pt x="292" y="361"/>
                    <a:pt x="292" y="374"/>
                  </a:cubicBezTo>
                  <a:cubicBezTo>
                    <a:pt x="292" y="388"/>
                    <a:pt x="281" y="399"/>
                    <a:pt x="268" y="399"/>
                  </a:cubicBezTo>
                  <a:close/>
                  <a:moveTo>
                    <a:pt x="268" y="493"/>
                  </a:moveTo>
                  <a:lnTo>
                    <a:pt x="268" y="493"/>
                  </a:lnTo>
                  <a:cubicBezTo>
                    <a:pt x="254" y="493"/>
                    <a:pt x="243" y="482"/>
                    <a:pt x="243" y="468"/>
                  </a:cubicBezTo>
                  <a:cubicBezTo>
                    <a:pt x="243" y="455"/>
                    <a:pt x="254" y="444"/>
                    <a:pt x="268" y="444"/>
                  </a:cubicBezTo>
                  <a:cubicBezTo>
                    <a:pt x="281" y="444"/>
                    <a:pt x="292" y="455"/>
                    <a:pt x="292" y="468"/>
                  </a:cubicBezTo>
                  <a:cubicBezTo>
                    <a:pt x="292" y="482"/>
                    <a:pt x="281" y="493"/>
                    <a:pt x="268" y="493"/>
                  </a:cubicBezTo>
                  <a:close/>
                  <a:moveTo>
                    <a:pt x="268" y="587"/>
                  </a:moveTo>
                  <a:lnTo>
                    <a:pt x="268" y="587"/>
                  </a:lnTo>
                  <a:cubicBezTo>
                    <a:pt x="254" y="587"/>
                    <a:pt x="243" y="576"/>
                    <a:pt x="243" y="563"/>
                  </a:cubicBezTo>
                  <a:cubicBezTo>
                    <a:pt x="243" y="549"/>
                    <a:pt x="254" y="538"/>
                    <a:pt x="268" y="538"/>
                  </a:cubicBezTo>
                  <a:cubicBezTo>
                    <a:pt x="281" y="538"/>
                    <a:pt x="292" y="549"/>
                    <a:pt x="292" y="563"/>
                  </a:cubicBezTo>
                  <a:cubicBezTo>
                    <a:pt x="292" y="576"/>
                    <a:pt x="281" y="587"/>
                    <a:pt x="268" y="587"/>
                  </a:cubicBezTo>
                  <a:close/>
                  <a:moveTo>
                    <a:pt x="175" y="399"/>
                  </a:moveTo>
                  <a:lnTo>
                    <a:pt x="175" y="399"/>
                  </a:lnTo>
                  <a:cubicBezTo>
                    <a:pt x="161" y="399"/>
                    <a:pt x="150" y="388"/>
                    <a:pt x="150" y="374"/>
                  </a:cubicBezTo>
                  <a:cubicBezTo>
                    <a:pt x="150" y="361"/>
                    <a:pt x="161" y="350"/>
                    <a:pt x="175" y="350"/>
                  </a:cubicBezTo>
                  <a:cubicBezTo>
                    <a:pt x="188" y="350"/>
                    <a:pt x="199" y="361"/>
                    <a:pt x="199" y="374"/>
                  </a:cubicBezTo>
                  <a:cubicBezTo>
                    <a:pt x="199" y="388"/>
                    <a:pt x="188" y="399"/>
                    <a:pt x="175" y="399"/>
                  </a:cubicBezTo>
                  <a:close/>
                  <a:moveTo>
                    <a:pt x="175" y="493"/>
                  </a:moveTo>
                  <a:lnTo>
                    <a:pt x="175" y="493"/>
                  </a:lnTo>
                  <a:cubicBezTo>
                    <a:pt x="161" y="493"/>
                    <a:pt x="150" y="482"/>
                    <a:pt x="150" y="468"/>
                  </a:cubicBezTo>
                  <a:cubicBezTo>
                    <a:pt x="150" y="455"/>
                    <a:pt x="161" y="444"/>
                    <a:pt x="175" y="444"/>
                  </a:cubicBezTo>
                  <a:cubicBezTo>
                    <a:pt x="188" y="444"/>
                    <a:pt x="199" y="455"/>
                    <a:pt x="199" y="468"/>
                  </a:cubicBezTo>
                  <a:cubicBezTo>
                    <a:pt x="199" y="482"/>
                    <a:pt x="188" y="493"/>
                    <a:pt x="175" y="493"/>
                  </a:cubicBezTo>
                  <a:close/>
                  <a:moveTo>
                    <a:pt x="175" y="587"/>
                  </a:moveTo>
                  <a:lnTo>
                    <a:pt x="175" y="587"/>
                  </a:lnTo>
                  <a:cubicBezTo>
                    <a:pt x="161" y="587"/>
                    <a:pt x="150" y="576"/>
                    <a:pt x="150" y="563"/>
                  </a:cubicBezTo>
                  <a:cubicBezTo>
                    <a:pt x="150" y="549"/>
                    <a:pt x="161" y="538"/>
                    <a:pt x="175" y="538"/>
                  </a:cubicBezTo>
                  <a:cubicBezTo>
                    <a:pt x="188" y="538"/>
                    <a:pt x="199" y="549"/>
                    <a:pt x="199" y="563"/>
                  </a:cubicBezTo>
                  <a:cubicBezTo>
                    <a:pt x="199" y="576"/>
                    <a:pt x="188" y="587"/>
                    <a:pt x="175" y="587"/>
                  </a:cubicBezTo>
                  <a:close/>
                  <a:moveTo>
                    <a:pt x="82" y="303"/>
                  </a:moveTo>
                  <a:lnTo>
                    <a:pt x="82" y="303"/>
                  </a:lnTo>
                  <a:cubicBezTo>
                    <a:pt x="68" y="303"/>
                    <a:pt x="57" y="292"/>
                    <a:pt x="57" y="278"/>
                  </a:cubicBezTo>
                  <a:cubicBezTo>
                    <a:pt x="57" y="265"/>
                    <a:pt x="68" y="254"/>
                    <a:pt x="82" y="254"/>
                  </a:cubicBezTo>
                  <a:cubicBezTo>
                    <a:pt x="95" y="254"/>
                    <a:pt x="106" y="265"/>
                    <a:pt x="106" y="278"/>
                  </a:cubicBezTo>
                  <a:cubicBezTo>
                    <a:pt x="106" y="292"/>
                    <a:pt x="95" y="303"/>
                    <a:pt x="82" y="303"/>
                  </a:cubicBezTo>
                  <a:close/>
                  <a:moveTo>
                    <a:pt x="82" y="399"/>
                  </a:moveTo>
                  <a:lnTo>
                    <a:pt x="82" y="399"/>
                  </a:lnTo>
                  <a:cubicBezTo>
                    <a:pt x="68" y="399"/>
                    <a:pt x="57" y="388"/>
                    <a:pt x="57" y="374"/>
                  </a:cubicBezTo>
                  <a:cubicBezTo>
                    <a:pt x="57" y="361"/>
                    <a:pt x="68" y="350"/>
                    <a:pt x="82" y="350"/>
                  </a:cubicBezTo>
                  <a:cubicBezTo>
                    <a:pt x="95" y="350"/>
                    <a:pt x="106" y="361"/>
                    <a:pt x="106" y="374"/>
                  </a:cubicBezTo>
                  <a:cubicBezTo>
                    <a:pt x="106" y="388"/>
                    <a:pt x="95" y="399"/>
                    <a:pt x="82" y="399"/>
                  </a:cubicBezTo>
                  <a:close/>
                  <a:moveTo>
                    <a:pt x="82" y="493"/>
                  </a:moveTo>
                  <a:lnTo>
                    <a:pt x="82" y="493"/>
                  </a:lnTo>
                  <a:cubicBezTo>
                    <a:pt x="68" y="493"/>
                    <a:pt x="57" y="482"/>
                    <a:pt x="57" y="468"/>
                  </a:cubicBezTo>
                  <a:cubicBezTo>
                    <a:pt x="57" y="455"/>
                    <a:pt x="68" y="444"/>
                    <a:pt x="82" y="444"/>
                  </a:cubicBezTo>
                  <a:cubicBezTo>
                    <a:pt x="95" y="444"/>
                    <a:pt x="106" y="455"/>
                    <a:pt x="106" y="468"/>
                  </a:cubicBezTo>
                  <a:cubicBezTo>
                    <a:pt x="106" y="482"/>
                    <a:pt x="95" y="493"/>
                    <a:pt x="82" y="493"/>
                  </a:cubicBezTo>
                  <a:close/>
                  <a:moveTo>
                    <a:pt x="82" y="587"/>
                  </a:moveTo>
                  <a:lnTo>
                    <a:pt x="82" y="587"/>
                  </a:lnTo>
                  <a:cubicBezTo>
                    <a:pt x="68" y="587"/>
                    <a:pt x="57" y="576"/>
                    <a:pt x="57" y="563"/>
                  </a:cubicBezTo>
                  <a:cubicBezTo>
                    <a:pt x="57" y="549"/>
                    <a:pt x="68" y="538"/>
                    <a:pt x="82" y="538"/>
                  </a:cubicBezTo>
                  <a:cubicBezTo>
                    <a:pt x="95" y="538"/>
                    <a:pt x="106" y="549"/>
                    <a:pt x="106" y="563"/>
                  </a:cubicBezTo>
                  <a:cubicBezTo>
                    <a:pt x="106" y="576"/>
                    <a:pt x="95" y="587"/>
                    <a:pt x="82" y="587"/>
                  </a:cubicBezTo>
                  <a:close/>
                  <a:moveTo>
                    <a:pt x="199" y="278"/>
                  </a:moveTo>
                  <a:lnTo>
                    <a:pt x="199" y="278"/>
                  </a:lnTo>
                  <a:cubicBezTo>
                    <a:pt x="199" y="292"/>
                    <a:pt x="188" y="303"/>
                    <a:pt x="175" y="303"/>
                  </a:cubicBezTo>
                  <a:cubicBezTo>
                    <a:pt x="161" y="303"/>
                    <a:pt x="150" y="292"/>
                    <a:pt x="150" y="278"/>
                  </a:cubicBezTo>
                  <a:cubicBezTo>
                    <a:pt x="150" y="265"/>
                    <a:pt x="161" y="254"/>
                    <a:pt x="175" y="254"/>
                  </a:cubicBezTo>
                  <a:cubicBezTo>
                    <a:pt x="188" y="254"/>
                    <a:pt x="199" y="265"/>
                    <a:pt x="199" y="278"/>
                  </a:cubicBezTo>
                  <a:close/>
                  <a:moveTo>
                    <a:pt x="292" y="278"/>
                  </a:moveTo>
                  <a:lnTo>
                    <a:pt x="292" y="278"/>
                  </a:lnTo>
                  <a:cubicBezTo>
                    <a:pt x="292" y="292"/>
                    <a:pt x="281" y="303"/>
                    <a:pt x="268" y="303"/>
                  </a:cubicBezTo>
                  <a:cubicBezTo>
                    <a:pt x="254" y="303"/>
                    <a:pt x="243" y="292"/>
                    <a:pt x="243" y="278"/>
                  </a:cubicBezTo>
                  <a:cubicBezTo>
                    <a:pt x="243" y="265"/>
                    <a:pt x="254" y="254"/>
                    <a:pt x="268" y="254"/>
                  </a:cubicBezTo>
                  <a:cubicBezTo>
                    <a:pt x="281" y="254"/>
                    <a:pt x="292" y="265"/>
                    <a:pt x="292" y="278"/>
                  </a:cubicBezTo>
                  <a:close/>
                  <a:moveTo>
                    <a:pt x="385" y="278"/>
                  </a:moveTo>
                  <a:lnTo>
                    <a:pt x="385" y="278"/>
                  </a:lnTo>
                  <a:cubicBezTo>
                    <a:pt x="385" y="292"/>
                    <a:pt x="375" y="303"/>
                    <a:pt x="361" y="303"/>
                  </a:cubicBezTo>
                  <a:cubicBezTo>
                    <a:pt x="348" y="303"/>
                    <a:pt x="337" y="292"/>
                    <a:pt x="337" y="278"/>
                  </a:cubicBezTo>
                  <a:cubicBezTo>
                    <a:pt x="337" y="265"/>
                    <a:pt x="348" y="254"/>
                    <a:pt x="361" y="254"/>
                  </a:cubicBezTo>
                  <a:cubicBezTo>
                    <a:pt x="375" y="254"/>
                    <a:pt x="385" y="265"/>
                    <a:pt x="385" y="278"/>
                  </a:cubicBezTo>
                  <a:close/>
                  <a:moveTo>
                    <a:pt x="56" y="95"/>
                  </a:moveTo>
                  <a:lnTo>
                    <a:pt x="56" y="95"/>
                  </a:lnTo>
                  <a:cubicBezTo>
                    <a:pt x="56" y="82"/>
                    <a:pt x="66" y="72"/>
                    <a:pt x="79" y="72"/>
                  </a:cubicBezTo>
                  <a:lnTo>
                    <a:pt x="365" y="72"/>
                  </a:lnTo>
                  <a:cubicBezTo>
                    <a:pt x="377" y="72"/>
                    <a:pt x="388" y="82"/>
                    <a:pt x="388" y="95"/>
                  </a:cubicBezTo>
                  <a:lnTo>
                    <a:pt x="388" y="161"/>
                  </a:lnTo>
                  <a:cubicBezTo>
                    <a:pt x="388" y="174"/>
                    <a:pt x="377" y="184"/>
                    <a:pt x="365" y="184"/>
                  </a:cubicBezTo>
                  <a:lnTo>
                    <a:pt x="79" y="184"/>
                  </a:lnTo>
                  <a:cubicBezTo>
                    <a:pt x="66" y="184"/>
                    <a:pt x="56" y="174"/>
                    <a:pt x="56" y="161"/>
                  </a:cubicBezTo>
                  <a:lnTo>
                    <a:pt x="56" y="95"/>
                  </a:lnTo>
                  <a:close/>
                  <a:moveTo>
                    <a:pt x="389" y="0"/>
                  </a:moveTo>
                  <a:lnTo>
                    <a:pt x="389" y="0"/>
                  </a:lnTo>
                  <a:lnTo>
                    <a:pt x="55" y="0"/>
                  </a:lnTo>
                  <a:cubicBezTo>
                    <a:pt x="24" y="0"/>
                    <a:pt x="0" y="24"/>
                    <a:pt x="0" y="54"/>
                  </a:cubicBezTo>
                  <a:lnTo>
                    <a:pt x="0" y="606"/>
                  </a:lnTo>
                  <a:cubicBezTo>
                    <a:pt x="0" y="637"/>
                    <a:pt x="24" y="661"/>
                    <a:pt x="55" y="661"/>
                  </a:cubicBezTo>
                  <a:lnTo>
                    <a:pt x="389" y="661"/>
                  </a:lnTo>
                  <a:cubicBezTo>
                    <a:pt x="420" y="661"/>
                    <a:pt x="445" y="637"/>
                    <a:pt x="445" y="606"/>
                  </a:cubicBezTo>
                  <a:lnTo>
                    <a:pt x="445" y="54"/>
                  </a:lnTo>
                  <a:cubicBezTo>
                    <a:pt x="445" y="24"/>
                    <a:pt x="420" y="0"/>
                    <a:pt x="389" y="0"/>
                  </a:cubicBezTo>
                  <a:close/>
                </a:path>
              </a:pathLst>
            </a:custGeom>
            <a:solidFill>
              <a:schemeClr val="accent6"/>
            </a:solidFill>
            <a:ln w="0">
              <a:noFill/>
              <a:prstDash val="solid"/>
              <a:round/>
              <a:headEnd/>
              <a:tailEnd/>
            </a:ln>
          </p:spPr>
          <p:txBody>
            <a:bodyPr vert="horz" wrap="square" lIns="62345" tIns="31173" rIns="62345" bIns="31173" numCol="1" anchor="t" anchorCtr="0" compatLnSpc="1">
              <a:prstTxWarp prst="textNoShape">
                <a:avLst/>
              </a:prstTxWarp>
            </a:bodyPr>
            <a:lstStyle/>
            <a:p>
              <a:pPr defTabSz="837848"/>
              <a:endParaRPr lang="en-US" sz="886" dirty="0">
                <a:solidFill>
                  <a:prstClr val="black"/>
                </a:solidFill>
                <a:latin typeface="Verdana"/>
              </a:endParaRPr>
            </a:p>
          </p:txBody>
        </p:sp>
        <p:sp>
          <p:nvSpPr>
            <p:cNvPr id="32" name="Freeform 57">
              <a:extLst>
                <a:ext uri="{FF2B5EF4-FFF2-40B4-BE49-F238E27FC236}">
                  <a16:creationId xmlns:a16="http://schemas.microsoft.com/office/drawing/2014/main" id="{D09C0D1D-9E5A-4E7D-B275-AEDD2477ECE9}"/>
                </a:ext>
              </a:extLst>
            </p:cNvPr>
            <p:cNvSpPr>
              <a:spLocks noChangeAspect="1" noEditPoints="1"/>
            </p:cNvSpPr>
            <p:nvPr/>
          </p:nvSpPr>
          <p:spPr bwMode="auto">
            <a:xfrm>
              <a:off x="1624030" y="3154098"/>
              <a:ext cx="517466" cy="442121"/>
            </a:xfrm>
            <a:custGeom>
              <a:avLst/>
              <a:gdLst>
                <a:gd name="T0" fmla="*/ 3621 w 5796"/>
                <a:gd name="T1" fmla="*/ 3138 h 5310"/>
                <a:gd name="T2" fmla="*/ 2898 w 5796"/>
                <a:gd name="T3" fmla="*/ 3379 h 5310"/>
                <a:gd name="T4" fmla="*/ 967 w 5796"/>
                <a:gd name="T5" fmla="*/ 1931 h 5310"/>
                <a:gd name="T6" fmla="*/ 1931 w 5796"/>
                <a:gd name="T7" fmla="*/ 2413 h 5310"/>
                <a:gd name="T8" fmla="*/ 967 w 5796"/>
                <a:gd name="T9" fmla="*/ 1931 h 5310"/>
                <a:gd name="T10" fmla="*/ 724 w 5796"/>
                <a:gd name="T11" fmla="*/ 3620 h 5310"/>
                <a:gd name="T12" fmla="*/ 967 w 5796"/>
                <a:gd name="T13" fmla="*/ 4587 h 5310"/>
                <a:gd name="T14" fmla="*/ 1208 w 5796"/>
                <a:gd name="T15" fmla="*/ 3620 h 5310"/>
                <a:gd name="T16" fmla="*/ 2172 w 5796"/>
                <a:gd name="T17" fmla="*/ 3379 h 5310"/>
                <a:gd name="T18" fmla="*/ 967 w 5796"/>
                <a:gd name="T19" fmla="*/ 2654 h 5310"/>
                <a:gd name="T20" fmla="*/ 2172 w 5796"/>
                <a:gd name="T21" fmla="*/ 1931 h 5310"/>
                <a:gd name="T22" fmla="*/ 3380 w 5796"/>
                <a:gd name="T23" fmla="*/ 2897 h 5310"/>
                <a:gd name="T24" fmla="*/ 2657 w 5796"/>
                <a:gd name="T25" fmla="*/ 3620 h 5310"/>
                <a:gd name="T26" fmla="*/ 3621 w 5796"/>
                <a:gd name="T27" fmla="*/ 4344 h 5310"/>
                <a:gd name="T28" fmla="*/ 1690 w 5796"/>
                <a:gd name="T29" fmla="*/ 4587 h 5310"/>
                <a:gd name="T30" fmla="*/ 3863 w 5796"/>
                <a:gd name="T31" fmla="*/ 2897 h 5310"/>
                <a:gd name="T32" fmla="*/ 3621 w 5796"/>
                <a:gd name="T33" fmla="*/ 1689 h 5310"/>
                <a:gd name="T34" fmla="*/ 0 w 5796"/>
                <a:gd name="T35" fmla="*/ 964 h 5310"/>
                <a:gd name="T36" fmla="*/ 4588 w 5796"/>
                <a:gd name="T37" fmla="*/ 3861 h 5310"/>
                <a:gd name="T38" fmla="*/ 4914 w 5796"/>
                <a:gd name="T39" fmla="*/ 3867 h 5310"/>
                <a:gd name="T40" fmla="*/ 5074 w 5796"/>
                <a:gd name="T41" fmla="*/ 3904 h 5310"/>
                <a:gd name="T42" fmla="*/ 5218 w 5796"/>
                <a:gd name="T43" fmla="*/ 3974 h 5310"/>
                <a:gd name="T44" fmla="*/ 5341 w 5796"/>
                <a:gd name="T45" fmla="*/ 4074 h 5310"/>
                <a:gd name="T46" fmla="*/ 5440 w 5796"/>
                <a:gd name="T47" fmla="*/ 4198 h 5310"/>
                <a:gd name="T48" fmla="*/ 5510 w 5796"/>
                <a:gd name="T49" fmla="*/ 4342 h 5310"/>
                <a:gd name="T50" fmla="*/ 5549 w 5796"/>
                <a:gd name="T51" fmla="*/ 4502 h 5310"/>
                <a:gd name="T52" fmla="*/ 5549 w 5796"/>
                <a:gd name="T53" fmla="*/ 4671 h 5310"/>
                <a:gd name="T54" fmla="*/ 5510 w 5796"/>
                <a:gd name="T55" fmla="*/ 4829 h 5310"/>
                <a:gd name="T56" fmla="*/ 5440 w 5796"/>
                <a:gd name="T57" fmla="*/ 4974 h 5310"/>
                <a:gd name="T58" fmla="*/ 5341 w 5796"/>
                <a:gd name="T59" fmla="*/ 5099 h 5310"/>
                <a:gd name="T60" fmla="*/ 5218 w 5796"/>
                <a:gd name="T61" fmla="*/ 5197 h 5310"/>
                <a:gd name="T62" fmla="*/ 5074 w 5796"/>
                <a:gd name="T63" fmla="*/ 5268 h 5310"/>
                <a:gd name="T64" fmla="*/ 4914 w 5796"/>
                <a:gd name="T65" fmla="*/ 5305 h 5310"/>
                <a:gd name="T66" fmla="*/ 0 w 5796"/>
                <a:gd name="T67" fmla="*/ 5310 h 5310"/>
                <a:gd name="T68" fmla="*/ 4829 w 5796"/>
                <a:gd name="T69" fmla="*/ 0 h 5310"/>
                <a:gd name="T70" fmla="*/ 5025 w 5796"/>
                <a:gd name="T71" fmla="*/ 19 h 5310"/>
                <a:gd name="T72" fmla="*/ 5206 w 5796"/>
                <a:gd name="T73" fmla="*/ 75 h 5310"/>
                <a:gd name="T74" fmla="*/ 5370 w 5796"/>
                <a:gd name="T75" fmla="*/ 163 h 5310"/>
                <a:gd name="T76" fmla="*/ 5512 w 5796"/>
                <a:gd name="T77" fmla="*/ 281 h 5310"/>
                <a:gd name="T78" fmla="*/ 5630 w 5796"/>
                <a:gd name="T79" fmla="*/ 426 h 5310"/>
                <a:gd name="T80" fmla="*/ 5720 w 5796"/>
                <a:gd name="T81" fmla="*/ 589 h 5310"/>
                <a:gd name="T82" fmla="*/ 5775 w 5796"/>
                <a:gd name="T83" fmla="*/ 771 h 5310"/>
                <a:gd name="T84" fmla="*/ 5796 w 5796"/>
                <a:gd name="T85" fmla="*/ 964 h 5310"/>
                <a:gd name="T86" fmla="*/ 5768 w 5796"/>
                <a:gd name="T87" fmla="*/ 4256 h 5310"/>
                <a:gd name="T88" fmla="*/ 5688 w 5796"/>
                <a:gd name="T89" fmla="*/ 4085 h 5310"/>
                <a:gd name="T90" fmla="*/ 5581 w 5796"/>
                <a:gd name="T91" fmla="*/ 3934 h 5310"/>
                <a:gd name="T92" fmla="*/ 5447 w 5796"/>
                <a:gd name="T93" fmla="*/ 3805 h 5310"/>
                <a:gd name="T94" fmla="*/ 5292 w 5796"/>
                <a:gd name="T95" fmla="*/ 3703 h 5310"/>
                <a:gd name="T96" fmla="*/ 5118 w 5796"/>
                <a:gd name="T97" fmla="*/ 3633 h 5310"/>
                <a:gd name="T98" fmla="*/ 4928 w 5796"/>
                <a:gd name="T99" fmla="*/ 3596 h 5310"/>
                <a:gd name="T100" fmla="*/ 4829 w 5796"/>
                <a:gd name="T101" fmla="*/ 0 h 5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796" h="5310">
                  <a:moveTo>
                    <a:pt x="2898" y="3138"/>
                  </a:moveTo>
                  <a:lnTo>
                    <a:pt x="3621" y="3138"/>
                  </a:lnTo>
                  <a:lnTo>
                    <a:pt x="3621" y="3379"/>
                  </a:lnTo>
                  <a:lnTo>
                    <a:pt x="2898" y="3379"/>
                  </a:lnTo>
                  <a:lnTo>
                    <a:pt x="2898" y="3138"/>
                  </a:lnTo>
                  <a:close/>
                  <a:moveTo>
                    <a:pt x="967" y="1931"/>
                  </a:moveTo>
                  <a:lnTo>
                    <a:pt x="1931" y="1931"/>
                  </a:lnTo>
                  <a:lnTo>
                    <a:pt x="1931" y="2413"/>
                  </a:lnTo>
                  <a:lnTo>
                    <a:pt x="967" y="2413"/>
                  </a:lnTo>
                  <a:lnTo>
                    <a:pt x="967" y="1931"/>
                  </a:lnTo>
                  <a:close/>
                  <a:moveTo>
                    <a:pt x="724" y="1689"/>
                  </a:moveTo>
                  <a:lnTo>
                    <a:pt x="724" y="3620"/>
                  </a:lnTo>
                  <a:lnTo>
                    <a:pt x="967" y="3620"/>
                  </a:lnTo>
                  <a:lnTo>
                    <a:pt x="967" y="4587"/>
                  </a:lnTo>
                  <a:lnTo>
                    <a:pt x="1208" y="4587"/>
                  </a:lnTo>
                  <a:lnTo>
                    <a:pt x="1208" y="3620"/>
                  </a:lnTo>
                  <a:lnTo>
                    <a:pt x="2172" y="3620"/>
                  </a:lnTo>
                  <a:lnTo>
                    <a:pt x="2172" y="3379"/>
                  </a:lnTo>
                  <a:lnTo>
                    <a:pt x="967" y="3379"/>
                  </a:lnTo>
                  <a:lnTo>
                    <a:pt x="967" y="2654"/>
                  </a:lnTo>
                  <a:lnTo>
                    <a:pt x="2172" y="2654"/>
                  </a:lnTo>
                  <a:lnTo>
                    <a:pt x="2172" y="1931"/>
                  </a:lnTo>
                  <a:lnTo>
                    <a:pt x="3380" y="1931"/>
                  </a:lnTo>
                  <a:lnTo>
                    <a:pt x="3380" y="2897"/>
                  </a:lnTo>
                  <a:lnTo>
                    <a:pt x="2657" y="2897"/>
                  </a:lnTo>
                  <a:lnTo>
                    <a:pt x="2657" y="3620"/>
                  </a:lnTo>
                  <a:lnTo>
                    <a:pt x="3621" y="3620"/>
                  </a:lnTo>
                  <a:lnTo>
                    <a:pt x="3621" y="4344"/>
                  </a:lnTo>
                  <a:lnTo>
                    <a:pt x="1690" y="4344"/>
                  </a:lnTo>
                  <a:lnTo>
                    <a:pt x="1690" y="4587"/>
                  </a:lnTo>
                  <a:lnTo>
                    <a:pt x="3863" y="4587"/>
                  </a:lnTo>
                  <a:lnTo>
                    <a:pt x="3863" y="2897"/>
                  </a:lnTo>
                  <a:lnTo>
                    <a:pt x="3621" y="2897"/>
                  </a:lnTo>
                  <a:lnTo>
                    <a:pt x="3621" y="1689"/>
                  </a:lnTo>
                  <a:lnTo>
                    <a:pt x="724" y="1689"/>
                  </a:lnTo>
                  <a:close/>
                  <a:moveTo>
                    <a:pt x="0" y="964"/>
                  </a:moveTo>
                  <a:lnTo>
                    <a:pt x="4588" y="964"/>
                  </a:lnTo>
                  <a:lnTo>
                    <a:pt x="4588" y="3861"/>
                  </a:lnTo>
                  <a:lnTo>
                    <a:pt x="4829" y="3861"/>
                  </a:lnTo>
                  <a:lnTo>
                    <a:pt x="4914" y="3867"/>
                  </a:lnTo>
                  <a:lnTo>
                    <a:pt x="4995" y="3881"/>
                  </a:lnTo>
                  <a:lnTo>
                    <a:pt x="5074" y="3904"/>
                  </a:lnTo>
                  <a:lnTo>
                    <a:pt x="5148" y="3935"/>
                  </a:lnTo>
                  <a:lnTo>
                    <a:pt x="5218" y="3974"/>
                  </a:lnTo>
                  <a:lnTo>
                    <a:pt x="5282" y="4022"/>
                  </a:lnTo>
                  <a:lnTo>
                    <a:pt x="5341" y="4074"/>
                  </a:lnTo>
                  <a:lnTo>
                    <a:pt x="5394" y="4132"/>
                  </a:lnTo>
                  <a:lnTo>
                    <a:pt x="5440" y="4198"/>
                  </a:lnTo>
                  <a:lnTo>
                    <a:pt x="5481" y="4268"/>
                  </a:lnTo>
                  <a:lnTo>
                    <a:pt x="5510" y="4342"/>
                  </a:lnTo>
                  <a:lnTo>
                    <a:pt x="5535" y="4419"/>
                  </a:lnTo>
                  <a:lnTo>
                    <a:pt x="5549" y="4502"/>
                  </a:lnTo>
                  <a:lnTo>
                    <a:pt x="5553" y="4587"/>
                  </a:lnTo>
                  <a:lnTo>
                    <a:pt x="5549" y="4671"/>
                  </a:lnTo>
                  <a:lnTo>
                    <a:pt x="5535" y="4752"/>
                  </a:lnTo>
                  <a:lnTo>
                    <a:pt x="5510" y="4829"/>
                  </a:lnTo>
                  <a:lnTo>
                    <a:pt x="5481" y="4905"/>
                  </a:lnTo>
                  <a:lnTo>
                    <a:pt x="5440" y="4974"/>
                  </a:lnTo>
                  <a:lnTo>
                    <a:pt x="5394" y="5039"/>
                  </a:lnTo>
                  <a:lnTo>
                    <a:pt x="5341" y="5099"/>
                  </a:lnTo>
                  <a:lnTo>
                    <a:pt x="5282" y="5152"/>
                  </a:lnTo>
                  <a:lnTo>
                    <a:pt x="5218" y="5197"/>
                  </a:lnTo>
                  <a:lnTo>
                    <a:pt x="5148" y="5236"/>
                  </a:lnTo>
                  <a:lnTo>
                    <a:pt x="5074" y="5268"/>
                  </a:lnTo>
                  <a:lnTo>
                    <a:pt x="4995" y="5291"/>
                  </a:lnTo>
                  <a:lnTo>
                    <a:pt x="4914" y="5305"/>
                  </a:lnTo>
                  <a:lnTo>
                    <a:pt x="4829" y="5310"/>
                  </a:lnTo>
                  <a:lnTo>
                    <a:pt x="0" y="5310"/>
                  </a:lnTo>
                  <a:lnTo>
                    <a:pt x="0" y="964"/>
                  </a:lnTo>
                  <a:close/>
                  <a:moveTo>
                    <a:pt x="4829" y="0"/>
                  </a:moveTo>
                  <a:lnTo>
                    <a:pt x="4928" y="5"/>
                  </a:lnTo>
                  <a:lnTo>
                    <a:pt x="5025" y="19"/>
                  </a:lnTo>
                  <a:lnTo>
                    <a:pt x="5116" y="42"/>
                  </a:lnTo>
                  <a:lnTo>
                    <a:pt x="5206" y="75"/>
                  </a:lnTo>
                  <a:lnTo>
                    <a:pt x="5289" y="116"/>
                  </a:lnTo>
                  <a:lnTo>
                    <a:pt x="5370" y="163"/>
                  </a:lnTo>
                  <a:lnTo>
                    <a:pt x="5444" y="220"/>
                  </a:lnTo>
                  <a:lnTo>
                    <a:pt x="5512" y="281"/>
                  </a:lnTo>
                  <a:lnTo>
                    <a:pt x="5574" y="350"/>
                  </a:lnTo>
                  <a:lnTo>
                    <a:pt x="5630" y="426"/>
                  </a:lnTo>
                  <a:lnTo>
                    <a:pt x="5678" y="505"/>
                  </a:lnTo>
                  <a:lnTo>
                    <a:pt x="5720" y="589"/>
                  </a:lnTo>
                  <a:lnTo>
                    <a:pt x="5752" y="677"/>
                  </a:lnTo>
                  <a:lnTo>
                    <a:pt x="5775" y="771"/>
                  </a:lnTo>
                  <a:lnTo>
                    <a:pt x="5790" y="866"/>
                  </a:lnTo>
                  <a:lnTo>
                    <a:pt x="5796" y="964"/>
                  </a:lnTo>
                  <a:lnTo>
                    <a:pt x="5796" y="4347"/>
                  </a:lnTo>
                  <a:lnTo>
                    <a:pt x="5768" y="4256"/>
                  </a:lnTo>
                  <a:lnTo>
                    <a:pt x="5732" y="4168"/>
                  </a:lnTo>
                  <a:lnTo>
                    <a:pt x="5688" y="4085"/>
                  </a:lnTo>
                  <a:lnTo>
                    <a:pt x="5639" y="4008"/>
                  </a:lnTo>
                  <a:lnTo>
                    <a:pt x="5581" y="3934"/>
                  </a:lnTo>
                  <a:lnTo>
                    <a:pt x="5518" y="3867"/>
                  </a:lnTo>
                  <a:lnTo>
                    <a:pt x="5447" y="3805"/>
                  </a:lnTo>
                  <a:lnTo>
                    <a:pt x="5371" y="3751"/>
                  </a:lnTo>
                  <a:lnTo>
                    <a:pt x="5292" y="3703"/>
                  </a:lnTo>
                  <a:lnTo>
                    <a:pt x="5206" y="3664"/>
                  </a:lnTo>
                  <a:lnTo>
                    <a:pt x="5118" y="3633"/>
                  </a:lnTo>
                  <a:lnTo>
                    <a:pt x="5025" y="3610"/>
                  </a:lnTo>
                  <a:lnTo>
                    <a:pt x="4928" y="3596"/>
                  </a:lnTo>
                  <a:lnTo>
                    <a:pt x="4829" y="3590"/>
                  </a:lnTo>
                  <a:lnTo>
                    <a:pt x="4829" y="0"/>
                  </a:lnTo>
                  <a:close/>
                </a:path>
              </a:pathLst>
            </a:custGeom>
            <a:solidFill>
              <a:srgbClr val="43B02A"/>
            </a:solidFill>
            <a:ln w="0">
              <a:noFill/>
              <a:prstDash val="solid"/>
              <a:round/>
              <a:headEnd/>
              <a:tailEnd/>
            </a:ln>
          </p:spPr>
          <p:txBody>
            <a:bodyPr vert="horz" wrap="square" lIns="62345" tIns="31173" rIns="62345" bIns="31173" numCol="1" anchor="t" anchorCtr="0" compatLnSpc="1">
              <a:prstTxWarp prst="textNoShape">
                <a:avLst/>
              </a:prstTxWarp>
            </a:bodyPr>
            <a:lstStyle/>
            <a:p>
              <a:pPr defTabSz="837848"/>
              <a:endParaRPr lang="en-US" sz="886" dirty="0">
                <a:solidFill>
                  <a:srgbClr val="000000"/>
                </a:solidFill>
                <a:latin typeface="Verdana"/>
              </a:endParaRPr>
            </a:p>
          </p:txBody>
        </p:sp>
        <p:cxnSp>
          <p:nvCxnSpPr>
            <p:cNvPr id="33" name="Straight Connector 32">
              <a:extLst>
                <a:ext uri="{FF2B5EF4-FFF2-40B4-BE49-F238E27FC236}">
                  <a16:creationId xmlns:a16="http://schemas.microsoft.com/office/drawing/2014/main" id="{BE6B60CD-3EF1-4BE9-BDD7-DBE18785100D}"/>
                </a:ext>
              </a:extLst>
            </p:cNvPr>
            <p:cNvCxnSpPr/>
            <p:nvPr/>
          </p:nvCxnSpPr>
          <p:spPr>
            <a:xfrm>
              <a:off x="4207345" y="3252039"/>
              <a:ext cx="0" cy="3146862"/>
            </a:xfrm>
            <a:prstGeom prst="line">
              <a:avLst/>
            </a:prstGeom>
            <a:ln w="190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Freeform 272">
              <a:extLst>
                <a:ext uri="{FF2B5EF4-FFF2-40B4-BE49-F238E27FC236}">
                  <a16:creationId xmlns:a16="http://schemas.microsoft.com/office/drawing/2014/main" id="{98B98E7F-D054-471C-9A6C-918A44A66A4B}"/>
                </a:ext>
              </a:extLst>
            </p:cNvPr>
            <p:cNvSpPr>
              <a:spLocks noChangeAspect="1" noEditPoints="1"/>
            </p:cNvSpPr>
            <p:nvPr/>
          </p:nvSpPr>
          <p:spPr bwMode="auto">
            <a:xfrm>
              <a:off x="8178282" y="3210552"/>
              <a:ext cx="525717" cy="388523"/>
            </a:xfrm>
            <a:custGeom>
              <a:avLst/>
              <a:gdLst>
                <a:gd name="T0" fmla="*/ 4966 w 5954"/>
                <a:gd name="T1" fmla="*/ 4258 h 5070"/>
                <a:gd name="T2" fmla="*/ 5543 w 5954"/>
                <a:gd name="T3" fmla="*/ 4093 h 5070"/>
                <a:gd name="T4" fmla="*/ 1186 w 5954"/>
                <a:gd name="T5" fmla="*/ 2719 h 5070"/>
                <a:gd name="T6" fmla="*/ 1700 w 5954"/>
                <a:gd name="T7" fmla="*/ 3382 h 5070"/>
                <a:gd name="T8" fmla="*/ 1186 w 5954"/>
                <a:gd name="T9" fmla="*/ 2719 h 5070"/>
                <a:gd name="T10" fmla="*/ 2722 w 5954"/>
                <a:gd name="T11" fmla="*/ 2308 h 5070"/>
                <a:gd name="T12" fmla="*/ 2210 w 5954"/>
                <a:gd name="T13" fmla="*/ 3382 h 5070"/>
                <a:gd name="T14" fmla="*/ 3232 w 5954"/>
                <a:gd name="T15" fmla="*/ 1539 h 5070"/>
                <a:gd name="T16" fmla="*/ 3745 w 5954"/>
                <a:gd name="T17" fmla="*/ 3382 h 5070"/>
                <a:gd name="T18" fmla="*/ 3232 w 5954"/>
                <a:gd name="T19" fmla="*/ 1539 h 5070"/>
                <a:gd name="T20" fmla="*/ 4767 w 5954"/>
                <a:gd name="T21" fmla="*/ 1118 h 5070"/>
                <a:gd name="T22" fmla="*/ 4255 w 5954"/>
                <a:gd name="T23" fmla="*/ 3382 h 5070"/>
                <a:gd name="T24" fmla="*/ 412 w 5954"/>
                <a:gd name="T25" fmla="*/ 412 h 5070"/>
                <a:gd name="T26" fmla="*/ 5541 w 5954"/>
                <a:gd name="T27" fmla="*/ 3977 h 5070"/>
                <a:gd name="T28" fmla="*/ 412 w 5954"/>
                <a:gd name="T29" fmla="*/ 412 h 5070"/>
                <a:gd name="T30" fmla="*/ 5747 w 5954"/>
                <a:gd name="T31" fmla="*/ 0 h 5070"/>
                <a:gd name="T32" fmla="*/ 5838 w 5954"/>
                <a:gd name="T33" fmla="*/ 20 h 5070"/>
                <a:gd name="T34" fmla="*/ 5908 w 5954"/>
                <a:gd name="T35" fmla="*/ 76 h 5070"/>
                <a:gd name="T36" fmla="*/ 5948 w 5954"/>
                <a:gd name="T37" fmla="*/ 159 h 5070"/>
                <a:gd name="T38" fmla="*/ 5954 w 5954"/>
                <a:gd name="T39" fmla="*/ 4184 h 5070"/>
                <a:gd name="T40" fmla="*/ 5934 w 5954"/>
                <a:gd name="T41" fmla="*/ 4274 h 5070"/>
                <a:gd name="T42" fmla="*/ 5878 w 5954"/>
                <a:gd name="T43" fmla="*/ 4345 h 5070"/>
                <a:gd name="T44" fmla="*/ 5794 w 5954"/>
                <a:gd name="T45" fmla="*/ 4384 h 5070"/>
                <a:gd name="T46" fmla="*/ 3650 w 5954"/>
                <a:gd name="T47" fmla="*/ 4390 h 5070"/>
                <a:gd name="T48" fmla="*/ 4597 w 5954"/>
                <a:gd name="T49" fmla="*/ 4779 h 5070"/>
                <a:gd name="T50" fmla="*/ 1358 w 5954"/>
                <a:gd name="T51" fmla="*/ 5070 h 5070"/>
                <a:gd name="T52" fmla="*/ 2306 w 5954"/>
                <a:gd name="T53" fmla="*/ 4779 h 5070"/>
                <a:gd name="T54" fmla="*/ 206 w 5954"/>
                <a:gd name="T55" fmla="*/ 4390 h 5070"/>
                <a:gd name="T56" fmla="*/ 116 w 5954"/>
                <a:gd name="T57" fmla="*/ 4368 h 5070"/>
                <a:gd name="T58" fmla="*/ 45 w 5954"/>
                <a:gd name="T59" fmla="*/ 4312 h 5070"/>
                <a:gd name="T60" fmla="*/ 5 w 5954"/>
                <a:gd name="T61" fmla="*/ 4231 h 5070"/>
                <a:gd name="T62" fmla="*/ 0 w 5954"/>
                <a:gd name="T63" fmla="*/ 206 h 5070"/>
                <a:gd name="T64" fmla="*/ 22 w 5954"/>
                <a:gd name="T65" fmla="*/ 116 h 5070"/>
                <a:gd name="T66" fmla="*/ 78 w 5954"/>
                <a:gd name="T67" fmla="*/ 45 h 5070"/>
                <a:gd name="T68" fmla="*/ 159 w 5954"/>
                <a:gd name="T69" fmla="*/ 5 h 50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54" h="5070">
                  <a:moveTo>
                    <a:pt x="4966" y="4093"/>
                  </a:moveTo>
                  <a:lnTo>
                    <a:pt x="4966" y="4258"/>
                  </a:lnTo>
                  <a:lnTo>
                    <a:pt x="5543" y="4258"/>
                  </a:lnTo>
                  <a:lnTo>
                    <a:pt x="5543" y="4093"/>
                  </a:lnTo>
                  <a:lnTo>
                    <a:pt x="4966" y="4093"/>
                  </a:lnTo>
                  <a:close/>
                  <a:moveTo>
                    <a:pt x="1186" y="2719"/>
                  </a:moveTo>
                  <a:lnTo>
                    <a:pt x="1700" y="2719"/>
                  </a:lnTo>
                  <a:lnTo>
                    <a:pt x="1700" y="3382"/>
                  </a:lnTo>
                  <a:lnTo>
                    <a:pt x="1186" y="3382"/>
                  </a:lnTo>
                  <a:lnTo>
                    <a:pt x="1186" y="2719"/>
                  </a:lnTo>
                  <a:close/>
                  <a:moveTo>
                    <a:pt x="2210" y="2308"/>
                  </a:moveTo>
                  <a:lnTo>
                    <a:pt x="2722" y="2308"/>
                  </a:lnTo>
                  <a:lnTo>
                    <a:pt x="2722" y="3382"/>
                  </a:lnTo>
                  <a:lnTo>
                    <a:pt x="2210" y="3382"/>
                  </a:lnTo>
                  <a:lnTo>
                    <a:pt x="2210" y="2308"/>
                  </a:lnTo>
                  <a:close/>
                  <a:moveTo>
                    <a:pt x="3232" y="1539"/>
                  </a:moveTo>
                  <a:lnTo>
                    <a:pt x="3745" y="1539"/>
                  </a:lnTo>
                  <a:lnTo>
                    <a:pt x="3745" y="3382"/>
                  </a:lnTo>
                  <a:lnTo>
                    <a:pt x="3232" y="3382"/>
                  </a:lnTo>
                  <a:lnTo>
                    <a:pt x="3232" y="1539"/>
                  </a:lnTo>
                  <a:close/>
                  <a:moveTo>
                    <a:pt x="4255" y="1118"/>
                  </a:moveTo>
                  <a:lnTo>
                    <a:pt x="4767" y="1118"/>
                  </a:lnTo>
                  <a:lnTo>
                    <a:pt x="4767" y="3382"/>
                  </a:lnTo>
                  <a:lnTo>
                    <a:pt x="4255" y="3382"/>
                  </a:lnTo>
                  <a:lnTo>
                    <a:pt x="4255" y="1118"/>
                  </a:lnTo>
                  <a:close/>
                  <a:moveTo>
                    <a:pt x="412" y="412"/>
                  </a:moveTo>
                  <a:lnTo>
                    <a:pt x="412" y="3977"/>
                  </a:lnTo>
                  <a:lnTo>
                    <a:pt x="5541" y="3977"/>
                  </a:lnTo>
                  <a:lnTo>
                    <a:pt x="5541" y="412"/>
                  </a:lnTo>
                  <a:lnTo>
                    <a:pt x="412" y="412"/>
                  </a:lnTo>
                  <a:close/>
                  <a:moveTo>
                    <a:pt x="206" y="0"/>
                  </a:moveTo>
                  <a:lnTo>
                    <a:pt x="5747" y="0"/>
                  </a:lnTo>
                  <a:lnTo>
                    <a:pt x="5794" y="5"/>
                  </a:lnTo>
                  <a:lnTo>
                    <a:pt x="5838" y="20"/>
                  </a:lnTo>
                  <a:lnTo>
                    <a:pt x="5878" y="45"/>
                  </a:lnTo>
                  <a:lnTo>
                    <a:pt x="5908" y="76"/>
                  </a:lnTo>
                  <a:lnTo>
                    <a:pt x="5934" y="116"/>
                  </a:lnTo>
                  <a:lnTo>
                    <a:pt x="5948" y="159"/>
                  </a:lnTo>
                  <a:lnTo>
                    <a:pt x="5954" y="206"/>
                  </a:lnTo>
                  <a:lnTo>
                    <a:pt x="5954" y="4184"/>
                  </a:lnTo>
                  <a:lnTo>
                    <a:pt x="5948" y="4231"/>
                  </a:lnTo>
                  <a:lnTo>
                    <a:pt x="5934" y="4274"/>
                  </a:lnTo>
                  <a:lnTo>
                    <a:pt x="5908" y="4312"/>
                  </a:lnTo>
                  <a:lnTo>
                    <a:pt x="5878" y="4345"/>
                  </a:lnTo>
                  <a:lnTo>
                    <a:pt x="5838" y="4368"/>
                  </a:lnTo>
                  <a:lnTo>
                    <a:pt x="5794" y="4384"/>
                  </a:lnTo>
                  <a:lnTo>
                    <a:pt x="5747" y="4390"/>
                  </a:lnTo>
                  <a:lnTo>
                    <a:pt x="3650" y="4390"/>
                  </a:lnTo>
                  <a:lnTo>
                    <a:pt x="3650" y="4779"/>
                  </a:lnTo>
                  <a:lnTo>
                    <a:pt x="4597" y="4779"/>
                  </a:lnTo>
                  <a:lnTo>
                    <a:pt x="4597" y="5070"/>
                  </a:lnTo>
                  <a:lnTo>
                    <a:pt x="1358" y="5070"/>
                  </a:lnTo>
                  <a:lnTo>
                    <a:pt x="1358" y="4779"/>
                  </a:lnTo>
                  <a:lnTo>
                    <a:pt x="2306" y="4779"/>
                  </a:lnTo>
                  <a:lnTo>
                    <a:pt x="2306" y="4390"/>
                  </a:lnTo>
                  <a:lnTo>
                    <a:pt x="206" y="4390"/>
                  </a:lnTo>
                  <a:lnTo>
                    <a:pt x="159" y="4384"/>
                  </a:lnTo>
                  <a:lnTo>
                    <a:pt x="116" y="4368"/>
                  </a:lnTo>
                  <a:lnTo>
                    <a:pt x="78" y="4345"/>
                  </a:lnTo>
                  <a:lnTo>
                    <a:pt x="45" y="4312"/>
                  </a:lnTo>
                  <a:lnTo>
                    <a:pt x="22" y="4274"/>
                  </a:lnTo>
                  <a:lnTo>
                    <a:pt x="5" y="4231"/>
                  </a:lnTo>
                  <a:lnTo>
                    <a:pt x="0" y="4184"/>
                  </a:lnTo>
                  <a:lnTo>
                    <a:pt x="0" y="206"/>
                  </a:lnTo>
                  <a:lnTo>
                    <a:pt x="5" y="159"/>
                  </a:lnTo>
                  <a:lnTo>
                    <a:pt x="22" y="116"/>
                  </a:lnTo>
                  <a:lnTo>
                    <a:pt x="45" y="76"/>
                  </a:lnTo>
                  <a:lnTo>
                    <a:pt x="78" y="45"/>
                  </a:lnTo>
                  <a:lnTo>
                    <a:pt x="116" y="20"/>
                  </a:lnTo>
                  <a:lnTo>
                    <a:pt x="159" y="5"/>
                  </a:lnTo>
                  <a:lnTo>
                    <a:pt x="206" y="0"/>
                  </a:lnTo>
                  <a:close/>
                </a:path>
              </a:pathLst>
            </a:custGeom>
            <a:solidFill>
              <a:srgbClr val="0076A8"/>
            </a:solidFill>
            <a:ln w="0">
              <a:noFill/>
              <a:prstDash val="solid"/>
              <a:round/>
              <a:headEnd/>
              <a:tailEnd/>
            </a:ln>
          </p:spPr>
          <p:txBody>
            <a:bodyPr vert="horz" wrap="square" lIns="62345" tIns="31173" rIns="62345" bIns="31173" numCol="1" anchor="t" anchorCtr="0" compatLnSpc="1">
              <a:prstTxWarp prst="textNoShape">
                <a:avLst/>
              </a:prstTxWarp>
            </a:bodyPr>
            <a:lstStyle/>
            <a:p>
              <a:pPr defTabSz="837848"/>
              <a:endParaRPr lang="en-US" sz="886" dirty="0">
                <a:solidFill>
                  <a:srgbClr val="000000"/>
                </a:solidFill>
                <a:latin typeface="Verdana"/>
              </a:endParaRPr>
            </a:p>
          </p:txBody>
        </p:sp>
        <p:sp>
          <p:nvSpPr>
            <p:cNvPr id="35" name="Freeform 164">
              <a:extLst>
                <a:ext uri="{FF2B5EF4-FFF2-40B4-BE49-F238E27FC236}">
                  <a16:creationId xmlns:a16="http://schemas.microsoft.com/office/drawing/2014/main" id="{9450CCFC-5138-479E-A457-E0F1F71FB72B}"/>
                </a:ext>
              </a:extLst>
            </p:cNvPr>
            <p:cNvSpPr>
              <a:spLocks noChangeAspect="1" noEditPoints="1"/>
            </p:cNvSpPr>
            <p:nvPr/>
          </p:nvSpPr>
          <p:spPr bwMode="auto">
            <a:xfrm>
              <a:off x="3995858" y="3273197"/>
              <a:ext cx="456606" cy="263233"/>
            </a:xfrm>
            <a:custGeom>
              <a:avLst/>
              <a:gdLst>
                <a:gd name="T0" fmla="*/ 128 w 130"/>
                <a:gd name="T1" fmla="*/ 39 h 86"/>
                <a:gd name="T2" fmla="*/ 73 w 130"/>
                <a:gd name="T3" fmla="*/ 3 h 86"/>
                <a:gd name="T4" fmla="*/ 65 w 130"/>
                <a:gd name="T5" fmla="*/ 7 h 86"/>
                <a:gd name="T6" fmla="*/ 65 w 130"/>
                <a:gd name="T7" fmla="*/ 78 h 86"/>
                <a:gd name="T8" fmla="*/ 73 w 130"/>
                <a:gd name="T9" fmla="*/ 83 h 86"/>
                <a:gd name="T10" fmla="*/ 128 w 130"/>
                <a:gd name="T11" fmla="*/ 46 h 86"/>
                <a:gd name="T12" fmla="*/ 130 w 130"/>
                <a:gd name="T13" fmla="*/ 43 h 86"/>
                <a:gd name="T14" fmla="*/ 128 w 130"/>
                <a:gd name="T15" fmla="*/ 39 h 86"/>
                <a:gd name="T16" fmla="*/ 61 w 130"/>
                <a:gd name="T17" fmla="*/ 39 h 86"/>
                <a:gd name="T18" fmla="*/ 8 w 130"/>
                <a:gd name="T19" fmla="*/ 3 h 86"/>
                <a:gd name="T20" fmla="*/ 0 w 130"/>
                <a:gd name="T21" fmla="*/ 7 h 86"/>
                <a:gd name="T22" fmla="*/ 0 w 130"/>
                <a:gd name="T23" fmla="*/ 78 h 86"/>
                <a:gd name="T24" fmla="*/ 8 w 130"/>
                <a:gd name="T25" fmla="*/ 83 h 86"/>
                <a:gd name="T26" fmla="*/ 61 w 130"/>
                <a:gd name="T27" fmla="*/ 46 h 86"/>
                <a:gd name="T28" fmla="*/ 63 w 130"/>
                <a:gd name="T29" fmla="*/ 43 h 86"/>
                <a:gd name="T30" fmla="*/ 61 w 130"/>
                <a:gd name="T31" fmla="*/ 39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0" h="86">
                  <a:moveTo>
                    <a:pt x="128" y="39"/>
                  </a:moveTo>
                  <a:cubicBezTo>
                    <a:pt x="73" y="3"/>
                    <a:pt x="73" y="3"/>
                    <a:pt x="73" y="3"/>
                  </a:cubicBezTo>
                  <a:cubicBezTo>
                    <a:pt x="69" y="0"/>
                    <a:pt x="65" y="2"/>
                    <a:pt x="65" y="7"/>
                  </a:cubicBezTo>
                  <a:cubicBezTo>
                    <a:pt x="65" y="78"/>
                    <a:pt x="65" y="78"/>
                    <a:pt x="65" y="78"/>
                  </a:cubicBezTo>
                  <a:cubicBezTo>
                    <a:pt x="65" y="84"/>
                    <a:pt x="69" y="86"/>
                    <a:pt x="73" y="83"/>
                  </a:cubicBezTo>
                  <a:cubicBezTo>
                    <a:pt x="128" y="46"/>
                    <a:pt x="128" y="46"/>
                    <a:pt x="128" y="46"/>
                  </a:cubicBezTo>
                  <a:cubicBezTo>
                    <a:pt x="128" y="46"/>
                    <a:pt x="130" y="45"/>
                    <a:pt x="130" y="43"/>
                  </a:cubicBezTo>
                  <a:cubicBezTo>
                    <a:pt x="130" y="41"/>
                    <a:pt x="128" y="39"/>
                    <a:pt x="128" y="39"/>
                  </a:cubicBezTo>
                  <a:close/>
                  <a:moveTo>
                    <a:pt x="61" y="39"/>
                  </a:moveTo>
                  <a:cubicBezTo>
                    <a:pt x="8" y="3"/>
                    <a:pt x="8" y="3"/>
                    <a:pt x="8" y="3"/>
                  </a:cubicBezTo>
                  <a:cubicBezTo>
                    <a:pt x="4" y="0"/>
                    <a:pt x="0" y="2"/>
                    <a:pt x="0" y="7"/>
                  </a:cubicBezTo>
                  <a:cubicBezTo>
                    <a:pt x="0" y="78"/>
                    <a:pt x="0" y="78"/>
                    <a:pt x="0" y="78"/>
                  </a:cubicBezTo>
                  <a:cubicBezTo>
                    <a:pt x="0" y="84"/>
                    <a:pt x="4" y="86"/>
                    <a:pt x="8" y="83"/>
                  </a:cubicBezTo>
                  <a:cubicBezTo>
                    <a:pt x="61" y="46"/>
                    <a:pt x="61" y="46"/>
                    <a:pt x="61" y="46"/>
                  </a:cubicBezTo>
                  <a:cubicBezTo>
                    <a:pt x="61" y="46"/>
                    <a:pt x="63" y="45"/>
                    <a:pt x="63" y="43"/>
                  </a:cubicBezTo>
                  <a:cubicBezTo>
                    <a:pt x="63" y="41"/>
                    <a:pt x="61" y="39"/>
                    <a:pt x="61" y="39"/>
                  </a:cubicBezTo>
                  <a:close/>
                </a:path>
              </a:pathLst>
            </a:custGeom>
            <a:solidFill>
              <a:schemeClr val="accent3"/>
            </a:solidFill>
            <a:ln>
              <a:noFill/>
            </a:ln>
          </p:spPr>
          <p:txBody>
            <a:bodyPr vert="horz" wrap="square" lIns="62345" tIns="31173" rIns="62345" bIns="31173" numCol="1" anchor="t" anchorCtr="0" compatLnSpc="1">
              <a:prstTxWarp prst="textNoShape">
                <a:avLst/>
              </a:prstTxWarp>
            </a:bodyPr>
            <a:lstStyle/>
            <a:p>
              <a:pPr defTabSz="837848"/>
              <a:endParaRPr lang="en-US" sz="886" dirty="0">
                <a:solidFill>
                  <a:prstClr val="black"/>
                </a:solidFill>
                <a:latin typeface="Verdana"/>
              </a:endParaRPr>
            </a:p>
          </p:txBody>
        </p:sp>
        <p:cxnSp>
          <p:nvCxnSpPr>
            <p:cNvPr id="36" name="Straight Connector 35">
              <a:extLst>
                <a:ext uri="{FF2B5EF4-FFF2-40B4-BE49-F238E27FC236}">
                  <a16:creationId xmlns:a16="http://schemas.microsoft.com/office/drawing/2014/main" id="{A6345D98-881C-43FD-93EE-ECA2C3B227C3}"/>
                </a:ext>
              </a:extLst>
            </p:cNvPr>
            <p:cNvCxnSpPr/>
            <p:nvPr/>
          </p:nvCxnSpPr>
          <p:spPr>
            <a:xfrm>
              <a:off x="2877722" y="3404814"/>
              <a:ext cx="98409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A8F54A8-DD41-4D6E-8FD0-724AF360DDA3}"/>
                </a:ext>
              </a:extLst>
            </p:cNvPr>
            <p:cNvCxnSpPr/>
            <p:nvPr/>
          </p:nvCxnSpPr>
          <p:spPr>
            <a:xfrm>
              <a:off x="4590595" y="3404814"/>
              <a:ext cx="98409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38" name="Freeform 164">
              <a:extLst>
                <a:ext uri="{FF2B5EF4-FFF2-40B4-BE49-F238E27FC236}">
                  <a16:creationId xmlns:a16="http://schemas.microsoft.com/office/drawing/2014/main" id="{BAFA177B-C5BC-420E-B81A-6E8296052E51}"/>
                </a:ext>
              </a:extLst>
            </p:cNvPr>
            <p:cNvSpPr>
              <a:spLocks noChangeAspect="1" noEditPoints="1"/>
            </p:cNvSpPr>
            <p:nvPr/>
          </p:nvSpPr>
          <p:spPr bwMode="auto">
            <a:xfrm>
              <a:off x="5728630" y="3273197"/>
              <a:ext cx="456606" cy="263233"/>
            </a:xfrm>
            <a:custGeom>
              <a:avLst/>
              <a:gdLst>
                <a:gd name="T0" fmla="*/ 128 w 130"/>
                <a:gd name="T1" fmla="*/ 39 h 86"/>
                <a:gd name="T2" fmla="*/ 73 w 130"/>
                <a:gd name="T3" fmla="*/ 3 h 86"/>
                <a:gd name="T4" fmla="*/ 65 w 130"/>
                <a:gd name="T5" fmla="*/ 7 h 86"/>
                <a:gd name="T6" fmla="*/ 65 w 130"/>
                <a:gd name="T7" fmla="*/ 78 h 86"/>
                <a:gd name="T8" fmla="*/ 73 w 130"/>
                <a:gd name="T9" fmla="*/ 83 h 86"/>
                <a:gd name="T10" fmla="*/ 128 w 130"/>
                <a:gd name="T11" fmla="*/ 46 h 86"/>
                <a:gd name="T12" fmla="*/ 130 w 130"/>
                <a:gd name="T13" fmla="*/ 43 h 86"/>
                <a:gd name="T14" fmla="*/ 128 w 130"/>
                <a:gd name="T15" fmla="*/ 39 h 86"/>
                <a:gd name="T16" fmla="*/ 61 w 130"/>
                <a:gd name="T17" fmla="*/ 39 h 86"/>
                <a:gd name="T18" fmla="*/ 8 w 130"/>
                <a:gd name="T19" fmla="*/ 3 h 86"/>
                <a:gd name="T20" fmla="*/ 0 w 130"/>
                <a:gd name="T21" fmla="*/ 7 h 86"/>
                <a:gd name="T22" fmla="*/ 0 w 130"/>
                <a:gd name="T23" fmla="*/ 78 h 86"/>
                <a:gd name="T24" fmla="*/ 8 w 130"/>
                <a:gd name="T25" fmla="*/ 83 h 86"/>
                <a:gd name="T26" fmla="*/ 61 w 130"/>
                <a:gd name="T27" fmla="*/ 46 h 86"/>
                <a:gd name="T28" fmla="*/ 63 w 130"/>
                <a:gd name="T29" fmla="*/ 43 h 86"/>
                <a:gd name="T30" fmla="*/ 61 w 130"/>
                <a:gd name="T31" fmla="*/ 39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0" h="86">
                  <a:moveTo>
                    <a:pt x="128" y="39"/>
                  </a:moveTo>
                  <a:cubicBezTo>
                    <a:pt x="73" y="3"/>
                    <a:pt x="73" y="3"/>
                    <a:pt x="73" y="3"/>
                  </a:cubicBezTo>
                  <a:cubicBezTo>
                    <a:pt x="69" y="0"/>
                    <a:pt x="65" y="2"/>
                    <a:pt x="65" y="7"/>
                  </a:cubicBezTo>
                  <a:cubicBezTo>
                    <a:pt x="65" y="78"/>
                    <a:pt x="65" y="78"/>
                    <a:pt x="65" y="78"/>
                  </a:cubicBezTo>
                  <a:cubicBezTo>
                    <a:pt x="65" y="84"/>
                    <a:pt x="69" y="86"/>
                    <a:pt x="73" y="83"/>
                  </a:cubicBezTo>
                  <a:cubicBezTo>
                    <a:pt x="128" y="46"/>
                    <a:pt x="128" y="46"/>
                    <a:pt x="128" y="46"/>
                  </a:cubicBezTo>
                  <a:cubicBezTo>
                    <a:pt x="128" y="46"/>
                    <a:pt x="130" y="45"/>
                    <a:pt x="130" y="43"/>
                  </a:cubicBezTo>
                  <a:cubicBezTo>
                    <a:pt x="130" y="41"/>
                    <a:pt x="128" y="39"/>
                    <a:pt x="128" y="39"/>
                  </a:cubicBezTo>
                  <a:close/>
                  <a:moveTo>
                    <a:pt x="61" y="39"/>
                  </a:moveTo>
                  <a:cubicBezTo>
                    <a:pt x="8" y="3"/>
                    <a:pt x="8" y="3"/>
                    <a:pt x="8" y="3"/>
                  </a:cubicBezTo>
                  <a:cubicBezTo>
                    <a:pt x="4" y="0"/>
                    <a:pt x="0" y="2"/>
                    <a:pt x="0" y="7"/>
                  </a:cubicBezTo>
                  <a:cubicBezTo>
                    <a:pt x="0" y="78"/>
                    <a:pt x="0" y="78"/>
                    <a:pt x="0" y="78"/>
                  </a:cubicBezTo>
                  <a:cubicBezTo>
                    <a:pt x="0" y="84"/>
                    <a:pt x="4" y="86"/>
                    <a:pt x="8" y="83"/>
                  </a:cubicBezTo>
                  <a:cubicBezTo>
                    <a:pt x="61" y="46"/>
                    <a:pt x="61" y="46"/>
                    <a:pt x="61" y="46"/>
                  </a:cubicBezTo>
                  <a:cubicBezTo>
                    <a:pt x="61" y="46"/>
                    <a:pt x="63" y="45"/>
                    <a:pt x="63" y="43"/>
                  </a:cubicBezTo>
                  <a:cubicBezTo>
                    <a:pt x="63" y="41"/>
                    <a:pt x="61" y="39"/>
                    <a:pt x="61" y="39"/>
                  </a:cubicBezTo>
                  <a:close/>
                </a:path>
              </a:pathLst>
            </a:custGeom>
            <a:solidFill>
              <a:schemeClr val="accent3"/>
            </a:solidFill>
            <a:ln>
              <a:noFill/>
            </a:ln>
          </p:spPr>
          <p:txBody>
            <a:bodyPr vert="horz" wrap="square" lIns="62345" tIns="31173" rIns="62345" bIns="31173" numCol="1" anchor="t" anchorCtr="0" compatLnSpc="1">
              <a:prstTxWarp prst="textNoShape">
                <a:avLst/>
              </a:prstTxWarp>
            </a:bodyPr>
            <a:lstStyle/>
            <a:p>
              <a:pPr defTabSz="837848"/>
              <a:endParaRPr lang="en-US" sz="886" dirty="0">
                <a:solidFill>
                  <a:prstClr val="black"/>
                </a:solidFill>
                <a:latin typeface="Verdana"/>
              </a:endParaRPr>
            </a:p>
          </p:txBody>
        </p:sp>
        <p:cxnSp>
          <p:nvCxnSpPr>
            <p:cNvPr id="39" name="Straight Connector 38">
              <a:extLst>
                <a:ext uri="{FF2B5EF4-FFF2-40B4-BE49-F238E27FC236}">
                  <a16:creationId xmlns:a16="http://schemas.microsoft.com/office/drawing/2014/main" id="{B4B990E4-0CF9-4851-BF63-3C8ECC915E92}"/>
                </a:ext>
              </a:extLst>
            </p:cNvPr>
            <p:cNvCxnSpPr/>
            <p:nvPr/>
          </p:nvCxnSpPr>
          <p:spPr>
            <a:xfrm>
              <a:off x="6333313" y="3404814"/>
              <a:ext cx="98409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40" name="Freeform 79">
              <a:extLst>
                <a:ext uri="{FF2B5EF4-FFF2-40B4-BE49-F238E27FC236}">
                  <a16:creationId xmlns:a16="http://schemas.microsoft.com/office/drawing/2014/main" id="{A16CCD79-373C-4451-B584-E43C8C1EDBFB}"/>
                </a:ext>
              </a:extLst>
            </p:cNvPr>
            <p:cNvSpPr>
              <a:spLocks noChangeAspect="1" noEditPoints="1"/>
            </p:cNvSpPr>
            <p:nvPr/>
          </p:nvSpPr>
          <p:spPr bwMode="auto">
            <a:xfrm>
              <a:off x="7571833" y="3175667"/>
              <a:ext cx="467667" cy="459248"/>
            </a:xfrm>
            <a:custGeom>
              <a:avLst/>
              <a:gdLst>
                <a:gd name="T0" fmla="*/ 104 w 118"/>
                <a:gd name="T1" fmla="*/ 0 h 133"/>
                <a:gd name="T2" fmla="*/ 15 w 118"/>
                <a:gd name="T3" fmla="*/ 0 h 133"/>
                <a:gd name="T4" fmla="*/ 0 w 118"/>
                <a:gd name="T5" fmla="*/ 15 h 133"/>
                <a:gd name="T6" fmla="*/ 0 w 118"/>
                <a:gd name="T7" fmla="*/ 118 h 133"/>
                <a:gd name="T8" fmla="*/ 15 w 118"/>
                <a:gd name="T9" fmla="*/ 133 h 133"/>
                <a:gd name="T10" fmla="*/ 104 w 118"/>
                <a:gd name="T11" fmla="*/ 133 h 133"/>
                <a:gd name="T12" fmla="*/ 118 w 118"/>
                <a:gd name="T13" fmla="*/ 118 h 133"/>
                <a:gd name="T14" fmla="*/ 118 w 118"/>
                <a:gd name="T15" fmla="*/ 15 h 133"/>
                <a:gd name="T16" fmla="*/ 104 w 118"/>
                <a:gd name="T17" fmla="*/ 0 h 133"/>
                <a:gd name="T18" fmla="*/ 104 w 118"/>
                <a:gd name="T19" fmla="*/ 118 h 133"/>
                <a:gd name="T20" fmla="*/ 15 w 118"/>
                <a:gd name="T21" fmla="*/ 118 h 133"/>
                <a:gd name="T22" fmla="*/ 15 w 118"/>
                <a:gd name="T23" fmla="*/ 15 h 133"/>
                <a:gd name="T24" fmla="*/ 104 w 118"/>
                <a:gd name="T25" fmla="*/ 15 h 133"/>
                <a:gd name="T26" fmla="*/ 104 w 118"/>
                <a:gd name="T27" fmla="*/ 118 h 133"/>
                <a:gd name="T28" fmla="*/ 67 w 118"/>
                <a:gd name="T29" fmla="*/ 81 h 133"/>
                <a:gd name="T30" fmla="*/ 30 w 118"/>
                <a:gd name="T31" fmla="*/ 81 h 133"/>
                <a:gd name="T32" fmla="*/ 30 w 118"/>
                <a:gd name="T33" fmla="*/ 89 h 133"/>
                <a:gd name="T34" fmla="*/ 67 w 118"/>
                <a:gd name="T35" fmla="*/ 89 h 133"/>
                <a:gd name="T36" fmla="*/ 67 w 118"/>
                <a:gd name="T37" fmla="*/ 81 h 133"/>
                <a:gd name="T38" fmla="*/ 89 w 118"/>
                <a:gd name="T39" fmla="*/ 52 h 133"/>
                <a:gd name="T40" fmla="*/ 59 w 118"/>
                <a:gd name="T41" fmla="*/ 52 h 133"/>
                <a:gd name="T42" fmla="*/ 59 w 118"/>
                <a:gd name="T43" fmla="*/ 59 h 133"/>
                <a:gd name="T44" fmla="*/ 89 w 118"/>
                <a:gd name="T45" fmla="*/ 59 h 133"/>
                <a:gd name="T46" fmla="*/ 89 w 118"/>
                <a:gd name="T47" fmla="*/ 52 h 133"/>
                <a:gd name="T48" fmla="*/ 59 w 118"/>
                <a:gd name="T49" fmla="*/ 44 h 133"/>
                <a:gd name="T50" fmla="*/ 89 w 118"/>
                <a:gd name="T51" fmla="*/ 44 h 133"/>
                <a:gd name="T52" fmla="*/ 89 w 118"/>
                <a:gd name="T53" fmla="*/ 30 h 133"/>
                <a:gd name="T54" fmla="*/ 59 w 118"/>
                <a:gd name="T55" fmla="*/ 30 h 133"/>
                <a:gd name="T56" fmla="*/ 59 w 118"/>
                <a:gd name="T57" fmla="*/ 44 h 133"/>
                <a:gd name="T58" fmla="*/ 52 w 118"/>
                <a:gd name="T59" fmla="*/ 30 h 133"/>
                <a:gd name="T60" fmla="*/ 30 w 118"/>
                <a:gd name="T61" fmla="*/ 30 h 133"/>
                <a:gd name="T62" fmla="*/ 30 w 118"/>
                <a:gd name="T63" fmla="*/ 59 h 133"/>
                <a:gd name="T64" fmla="*/ 52 w 118"/>
                <a:gd name="T65" fmla="*/ 59 h 133"/>
                <a:gd name="T66" fmla="*/ 52 w 118"/>
                <a:gd name="T67" fmla="*/ 30 h 133"/>
                <a:gd name="T68" fmla="*/ 44 w 118"/>
                <a:gd name="T69" fmla="*/ 66 h 133"/>
                <a:gd name="T70" fmla="*/ 30 w 118"/>
                <a:gd name="T71" fmla="*/ 66 h 133"/>
                <a:gd name="T72" fmla="*/ 30 w 118"/>
                <a:gd name="T73" fmla="*/ 74 h 133"/>
                <a:gd name="T74" fmla="*/ 44 w 118"/>
                <a:gd name="T75" fmla="*/ 74 h 133"/>
                <a:gd name="T76" fmla="*/ 44 w 118"/>
                <a:gd name="T77" fmla="*/ 66 h 133"/>
                <a:gd name="T78" fmla="*/ 52 w 118"/>
                <a:gd name="T79" fmla="*/ 74 h 133"/>
                <a:gd name="T80" fmla="*/ 89 w 118"/>
                <a:gd name="T81" fmla="*/ 74 h 133"/>
                <a:gd name="T82" fmla="*/ 89 w 118"/>
                <a:gd name="T83" fmla="*/ 66 h 133"/>
                <a:gd name="T84" fmla="*/ 52 w 118"/>
                <a:gd name="T85" fmla="*/ 66 h 133"/>
                <a:gd name="T86" fmla="*/ 52 w 118"/>
                <a:gd name="T87" fmla="*/ 74 h 133"/>
                <a:gd name="T88" fmla="*/ 89 w 118"/>
                <a:gd name="T89" fmla="*/ 96 h 133"/>
                <a:gd name="T90" fmla="*/ 30 w 118"/>
                <a:gd name="T91" fmla="*/ 96 h 133"/>
                <a:gd name="T92" fmla="*/ 30 w 118"/>
                <a:gd name="T93" fmla="*/ 103 h 133"/>
                <a:gd name="T94" fmla="*/ 89 w 118"/>
                <a:gd name="T95" fmla="*/ 103 h 133"/>
                <a:gd name="T96" fmla="*/ 89 w 118"/>
                <a:gd name="T97" fmla="*/ 96 h 133"/>
                <a:gd name="T98" fmla="*/ 74 w 118"/>
                <a:gd name="T99" fmla="*/ 89 h 133"/>
                <a:gd name="T100" fmla="*/ 89 w 118"/>
                <a:gd name="T101" fmla="*/ 89 h 133"/>
                <a:gd name="T102" fmla="*/ 89 w 118"/>
                <a:gd name="T103" fmla="*/ 81 h 133"/>
                <a:gd name="T104" fmla="*/ 74 w 118"/>
                <a:gd name="T105" fmla="*/ 81 h 133"/>
                <a:gd name="T106" fmla="*/ 74 w 118"/>
                <a:gd name="T107" fmla="*/ 8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8" h="133">
                  <a:moveTo>
                    <a:pt x="104" y="0"/>
                  </a:moveTo>
                  <a:cubicBezTo>
                    <a:pt x="15" y="0"/>
                    <a:pt x="15" y="0"/>
                    <a:pt x="15" y="0"/>
                  </a:cubicBezTo>
                  <a:cubicBezTo>
                    <a:pt x="7" y="0"/>
                    <a:pt x="0" y="7"/>
                    <a:pt x="0" y="15"/>
                  </a:cubicBezTo>
                  <a:cubicBezTo>
                    <a:pt x="0" y="118"/>
                    <a:pt x="0" y="118"/>
                    <a:pt x="0" y="118"/>
                  </a:cubicBezTo>
                  <a:cubicBezTo>
                    <a:pt x="0" y="126"/>
                    <a:pt x="7" y="133"/>
                    <a:pt x="15" y="133"/>
                  </a:cubicBezTo>
                  <a:cubicBezTo>
                    <a:pt x="104" y="133"/>
                    <a:pt x="104" y="133"/>
                    <a:pt x="104" y="133"/>
                  </a:cubicBezTo>
                  <a:cubicBezTo>
                    <a:pt x="112" y="133"/>
                    <a:pt x="118" y="126"/>
                    <a:pt x="118" y="118"/>
                  </a:cubicBezTo>
                  <a:cubicBezTo>
                    <a:pt x="118" y="15"/>
                    <a:pt x="118" y="15"/>
                    <a:pt x="118" y="15"/>
                  </a:cubicBezTo>
                  <a:cubicBezTo>
                    <a:pt x="118" y="7"/>
                    <a:pt x="112" y="0"/>
                    <a:pt x="104" y="0"/>
                  </a:cubicBezTo>
                  <a:close/>
                  <a:moveTo>
                    <a:pt x="104" y="118"/>
                  </a:moveTo>
                  <a:cubicBezTo>
                    <a:pt x="15" y="118"/>
                    <a:pt x="15" y="118"/>
                    <a:pt x="15" y="118"/>
                  </a:cubicBezTo>
                  <a:cubicBezTo>
                    <a:pt x="15" y="15"/>
                    <a:pt x="15" y="15"/>
                    <a:pt x="15" y="15"/>
                  </a:cubicBezTo>
                  <a:cubicBezTo>
                    <a:pt x="104" y="15"/>
                    <a:pt x="104" y="15"/>
                    <a:pt x="104" y="15"/>
                  </a:cubicBezTo>
                  <a:lnTo>
                    <a:pt x="104" y="118"/>
                  </a:lnTo>
                  <a:close/>
                  <a:moveTo>
                    <a:pt x="67" y="81"/>
                  </a:moveTo>
                  <a:cubicBezTo>
                    <a:pt x="30" y="81"/>
                    <a:pt x="30" y="81"/>
                    <a:pt x="30" y="81"/>
                  </a:cubicBezTo>
                  <a:cubicBezTo>
                    <a:pt x="30" y="89"/>
                    <a:pt x="30" y="89"/>
                    <a:pt x="30" y="89"/>
                  </a:cubicBezTo>
                  <a:cubicBezTo>
                    <a:pt x="67" y="89"/>
                    <a:pt x="67" y="89"/>
                    <a:pt x="67" y="89"/>
                  </a:cubicBezTo>
                  <a:lnTo>
                    <a:pt x="67" y="81"/>
                  </a:lnTo>
                  <a:close/>
                  <a:moveTo>
                    <a:pt x="89" y="52"/>
                  </a:moveTo>
                  <a:cubicBezTo>
                    <a:pt x="59" y="52"/>
                    <a:pt x="59" y="52"/>
                    <a:pt x="59" y="52"/>
                  </a:cubicBezTo>
                  <a:cubicBezTo>
                    <a:pt x="59" y="59"/>
                    <a:pt x="59" y="59"/>
                    <a:pt x="59" y="59"/>
                  </a:cubicBezTo>
                  <a:cubicBezTo>
                    <a:pt x="89" y="59"/>
                    <a:pt x="89" y="59"/>
                    <a:pt x="89" y="59"/>
                  </a:cubicBezTo>
                  <a:lnTo>
                    <a:pt x="89" y="52"/>
                  </a:lnTo>
                  <a:close/>
                  <a:moveTo>
                    <a:pt x="59" y="44"/>
                  </a:moveTo>
                  <a:cubicBezTo>
                    <a:pt x="89" y="44"/>
                    <a:pt x="89" y="44"/>
                    <a:pt x="89" y="44"/>
                  </a:cubicBezTo>
                  <a:cubicBezTo>
                    <a:pt x="89" y="30"/>
                    <a:pt x="89" y="30"/>
                    <a:pt x="89" y="30"/>
                  </a:cubicBezTo>
                  <a:cubicBezTo>
                    <a:pt x="59" y="30"/>
                    <a:pt x="59" y="30"/>
                    <a:pt x="59" y="30"/>
                  </a:cubicBezTo>
                  <a:lnTo>
                    <a:pt x="59" y="44"/>
                  </a:lnTo>
                  <a:close/>
                  <a:moveTo>
                    <a:pt x="52" y="30"/>
                  </a:moveTo>
                  <a:cubicBezTo>
                    <a:pt x="30" y="30"/>
                    <a:pt x="30" y="30"/>
                    <a:pt x="30" y="30"/>
                  </a:cubicBezTo>
                  <a:cubicBezTo>
                    <a:pt x="30" y="59"/>
                    <a:pt x="30" y="59"/>
                    <a:pt x="30" y="59"/>
                  </a:cubicBezTo>
                  <a:cubicBezTo>
                    <a:pt x="52" y="59"/>
                    <a:pt x="52" y="59"/>
                    <a:pt x="52" y="59"/>
                  </a:cubicBezTo>
                  <a:lnTo>
                    <a:pt x="52" y="30"/>
                  </a:lnTo>
                  <a:close/>
                  <a:moveTo>
                    <a:pt x="44" y="66"/>
                  </a:moveTo>
                  <a:cubicBezTo>
                    <a:pt x="30" y="66"/>
                    <a:pt x="30" y="66"/>
                    <a:pt x="30" y="66"/>
                  </a:cubicBezTo>
                  <a:cubicBezTo>
                    <a:pt x="30" y="74"/>
                    <a:pt x="30" y="74"/>
                    <a:pt x="30" y="74"/>
                  </a:cubicBezTo>
                  <a:cubicBezTo>
                    <a:pt x="44" y="74"/>
                    <a:pt x="44" y="74"/>
                    <a:pt x="44" y="74"/>
                  </a:cubicBezTo>
                  <a:lnTo>
                    <a:pt x="44" y="66"/>
                  </a:lnTo>
                  <a:close/>
                  <a:moveTo>
                    <a:pt x="52" y="74"/>
                  </a:moveTo>
                  <a:cubicBezTo>
                    <a:pt x="89" y="74"/>
                    <a:pt x="89" y="74"/>
                    <a:pt x="89" y="74"/>
                  </a:cubicBezTo>
                  <a:cubicBezTo>
                    <a:pt x="89" y="66"/>
                    <a:pt x="89" y="66"/>
                    <a:pt x="89" y="66"/>
                  </a:cubicBezTo>
                  <a:cubicBezTo>
                    <a:pt x="52" y="66"/>
                    <a:pt x="52" y="66"/>
                    <a:pt x="52" y="66"/>
                  </a:cubicBezTo>
                  <a:lnTo>
                    <a:pt x="52" y="74"/>
                  </a:lnTo>
                  <a:close/>
                  <a:moveTo>
                    <a:pt x="89" y="96"/>
                  </a:moveTo>
                  <a:cubicBezTo>
                    <a:pt x="30" y="96"/>
                    <a:pt x="30" y="96"/>
                    <a:pt x="30" y="96"/>
                  </a:cubicBezTo>
                  <a:cubicBezTo>
                    <a:pt x="30" y="103"/>
                    <a:pt x="30" y="103"/>
                    <a:pt x="30" y="103"/>
                  </a:cubicBezTo>
                  <a:cubicBezTo>
                    <a:pt x="89" y="103"/>
                    <a:pt x="89" y="103"/>
                    <a:pt x="89" y="103"/>
                  </a:cubicBezTo>
                  <a:lnTo>
                    <a:pt x="89" y="96"/>
                  </a:lnTo>
                  <a:close/>
                  <a:moveTo>
                    <a:pt x="74" y="89"/>
                  </a:moveTo>
                  <a:cubicBezTo>
                    <a:pt x="89" y="89"/>
                    <a:pt x="89" y="89"/>
                    <a:pt x="89" y="89"/>
                  </a:cubicBezTo>
                  <a:cubicBezTo>
                    <a:pt x="89" y="81"/>
                    <a:pt x="89" y="81"/>
                    <a:pt x="89" y="81"/>
                  </a:cubicBezTo>
                  <a:cubicBezTo>
                    <a:pt x="74" y="81"/>
                    <a:pt x="74" y="81"/>
                    <a:pt x="74" y="81"/>
                  </a:cubicBezTo>
                  <a:lnTo>
                    <a:pt x="74" y="89"/>
                  </a:lnTo>
                  <a:close/>
                </a:path>
              </a:pathLst>
            </a:custGeom>
            <a:solidFill>
              <a:srgbClr val="86BC25"/>
            </a:solidFill>
            <a:ln>
              <a:noFill/>
            </a:ln>
          </p:spPr>
          <p:txBody>
            <a:bodyPr vert="horz" wrap="square" lIns="62345" tIns="31173" rIns="62345" bIns="31173" numCol="1" anchor="t" anchorCtr="0" compatLnSpc="1">
              <a:prstTxWarp prst="textNoShape">
                <a:avLst/>
              </a:prstTxWarp>
            </a:bodyPr>
            <a:lstStyle/>
            <a:p>
              <a:pPr defTabSz="837848"/>
              <a:endParaRPr lang="en-US" sz="886">
                <a:solidFill>
                  <a:prstClr val="black"/>
                </a:solidFill>
                <a:latin typeface="Verdana"/>
              </a:endParaRPr>
            </a:p>
          </p:txBody>
        </p:sp>
      </p:grpSp>
    </p:spTree>
    <p:extLst>
      <p:ext uri="{BB962C8B-B14F-4D97-AF65-F5344CB8AC3E}">
        <p14:creationId xmlns:p14="http://schemas.microsoft.com/office/powerpoint/2010/main" val="1413950993"/>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F9E8E010-7E99-4B1B-A56D-CC62702635EC}"/>
              </a:ext>
            </a:extLst>
          </p:cNvPr>
          <p:cNvSpPr>
            <a:spLocks noGrp="1"/>
          </p:cNvSpPr>
          <p:nvPr/>
        </p:nvSpPr>
        <p:spPr bwMode="gray">
          <a:xfrm>
            <a:off x="580694" y="136588"/>
            <a:ext cx="7628659" cy="227795"/>
          </a:xfrm>
          <a:prstGeom prst="rect">
            <a:avLst/>
          </a:prstGeom>
        </p:spPr>
        <p:txBody>
          <a:bodyPr vert="horz" lIns="0" tIns="0" rIns="0" bIns="0" rtlCol="0" anchor="t" anchorCtr="0">
            <a:noAutofit/>
          </a:bodyPr>
          <a:lstStyle>
            <a:lvl1pPr algn="l" defTabSz="990570" rtl="0" eaLnBrk="1" latinLnBrk="0" hangingPunct="1">
              <a:spcBef>
                <a:spcPct val="0"/>
              </a:spcBef>
              <a:buNone/>
              <a:defRPr sz="2000" kern="1200">
                <a:solidFill>
                  <a:schemeClr val="tx1"/>
                </a:solidFill>
                <a:latin typeface="+mj-lt"/>
                <a:ea typeface="+mj-ea"/>
                <a:cs typeface="+mj-cs"/>
              </a:defRPr>
            </a:lvl1pPr>
          </a:lstStyle>
          <a:p>
            <a:pPr defTabSz="675371"/>
            <a:r>
              <a:rPr lang="en-US" sz="1909" dirty="0">
                <a:solidFill>
                  <a:prstClr val="black"/>
                </a:solidFill>
                <a:latin typeface="Verdana"/>
              </a:rPr>
              <a:t>Research tools and methodology</a:t>
            </a:r>
          </a:p>
        </p:txBody>
      </p:sp>
      <p:sp>
        <p:nvSpPr>
          <p:cNvPr id="6" name="Text Placeholder 5">
            <a:extLst>
              <a:ext uri="{FF2B5EF4-FFF2-40B4-BE49-F238E27FC236}">
                <a16:creationId xmlns:a16="http://schemas.microsoft.com/office/drawing/2014/main" id="{AA11EA24-E8AA-4F92-ABBE-88A5F0A65644}"/>
              </a:ext>
            </a:extLst>
          </p:cNvPr>
          <p:cNvSpPr>
            <a:spLocks noGrp="1"/>
          </p:cNvSpPr>
          <p:nvPr/>
        </p:nvSpPr>
        <p:spPr>
          <a:xfrm>
            <a:off x="580694" y="576510"/>
            <a:ext cx="10079969" cy="516310"/>
          </a:xfrm>
          <a:prstGeom prst="rect">
            <a:avLst/>
          </a:prstGeom>
        </p:spPr>
        <p:txBody>
          <a:bodyPr vert="horz" lIns="0" tIns="0" rIns="0" bIns="0" rtlCol="0">
            <a:noAutofit/>
          </a:bodyPr>
          <a:lstStyle>
            <a:lvl1pPr marL="0" indent="0" algn="l" defTabSz="990570" rtl="0" eaLnBrk="1" latinLnBrk="0" hangingPunct="1">
              <a:spcBef>
                <a:spcPts val="0"/>
              </a:spcBef>
              <a:spcAft>
                <a:spcPts val="1083"/>
              </a:spcAft>
              <a:buSzPct val="100000"/>
              <a:buFont typeface="Arial" panose="020B0604020202020204" pitchFamily="34" charset="0"/>
              <a:buNone/>
              <a:defRPr sz="1600" b="0" kern="1200">
                <a:solidFill>
                  <a:srgbClr val="575757"/>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defTabSz="675371">
              <a:spcAft>
                <a:spcPts val="738"/>
              </a:spcAft>
            </a:pPr>
            <a:r>
              <a:rPr lang="en-US" sz="1432" dirty="0">
                <a:latin typeface="Verdana"/>
              </a:rPr>
              <a:t>Growth &amp; Institutional Strategy is complex for specific industries with unreliable secondary data, may therefore require various methods including proprietary databases, expert interviews, internal knowledge</a:t>
            </a:r>
          </a:p>
          <a:p>
            <a:pPr defTabSz="675371">
              <a:spcAft>
                <a:spcPts val="738"/>
              </a:spcAft>
            </a:pPr>
            <a:endParaRPr lang="en-US" sz="1432" dirty="0">
              <a:latin typeface="Verdana"/>
            </a:endParaRPr>
          </a:p>
        </p:txBody>
      </p:sp>
      <p:sp>
        <p:nvSpPr>
          <p:cNvPr id="7" name="Rectangle 6">
            <a:extLst>
              <a:ext uri="{FF2B5EF4-FFF2-40B4-BE49-F238E27FC236}">
                <a16:creationId xmlns:a16="http://schemas.microsoft.com/office/drawing/2014/main" id="{3ADECFED-19CB-4EEF-9DC4-79023F5861E2}"/>
              </a:ext>
            </a:extLst>
          </p:cNvPr>
          <p:cNvSpPr/>
          <p:nvPr/>
        </p:nvSpPr>
        <p:spPr>
          <a:xfrm>
            <a:off x="580692" y="1060718"/>
            <a:ext cx="9824920" cy="51802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23438">
              <a:lnSpc>
                <a:spcPct val="106000"/>
              </a:lnSpc>
              <a:defRPr/>
            </a:pPr>
            <a:r>
              <a:rPr lang="en-US" sz="1364" b="1" i="1" dirty="0">
                <a:solidFill>
                  <a:srgbClr val="0097A9"/>
                </a:solidFill>
                <a:latin typeface="Verdana"/>
                <a:cs typeface="Arial" panose="020B0604020202020204" pitchFamily="34" charset="0"/>
              </a:rPr>
              <a:t>Industries with varied maturity from growth &amp; institutional strategy perspective requires various research methods and techniques for accurate assessment</a:t>
            </a:r>
            <a:endParaRPr lang="en-IN" sz="1364" b="1" i="1" dirty="0">
              <a:solidFill>
                <a:srgbClr val="0097A9"/>
              </a:solidFill>
              <a:latin typeface="Verdana"/>
              <a:cs typeface="Arial" panose="020B0604020202020204" pitchFamily="34" charset="0"/>
            </a:endParaRPr>
          </a:p>
        </p:txBody>
      </p:sp>
      <p:grpSp>
        <p:nvGrpSpPr>
          <p:cNvPr id="3" name="Group 2">
            <a:extLst>
              <a:ext uri="{FF2B5EF4-FFF2-40B4-BE49-F238E27FC236}">
                <a16:creationId xmlns:a16="http://schemas.microsoft.com/office/drawing/2014/main" id="{B3BF24D8-65C7-442D-B4E3-D410E08A900A}"/>
              </a:ext>
            </a:extLst>
          </p:cNvPr>
          <p:cNvGrpSpPr/>
          <p:nvPr/>
        </p:nvGrpSpPr>
        <p:grpSpPr>
          <a:xfrm>
            <a:off x="580694" y="1527031"/>
            <a:ext cx="4833775" cy="4727304"/>
            <a:chOff x="580694" y="1527031"/>
            <a:chExt cx="4833775" cy="4727304"/>
          </a:xfrm>
        </p:grpSpPr>
        <p:pic>
          <p:nvPicPr>
            <p:cNvPr id="9" name="Picture 21" descr="https://static.thenounproject.com/png/1626427-200.png">
              <a:extLst>
                <a:ext uri="{FF2B5EF4-FFF2-40B4-BE49-F238E27FC236}">
                  <a16:creationId xmlns:a16="http://schemas.microsoft.com/office/drawing/2014/main" id="{FEBE3A41-4BDB-4060-B0DD-E394E15F7FA3}"/>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23986" y="1527031"/>
              <a:ext cx="537428" cy="64569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1BACBA1A-7B2B-4FE3-A928-F398E3308259}"/>
                </a:ext>
              </a:extLst>
            </p:cNvPr>
            <p:cNvSpPr/>
            <p:nvPr/>
          </p:nvSpPr>
          <p:spPr bwMode="gray">
            <a:xfrm>
              <a:off x="2552295" y="1582351"/>
              <a:ext cx="2211429" cy="496816"/>
            </a:xfrm>
            <a:prstGeom prst="rect">
              <a:avLst/>
            </a:prstGeom>
            <a:noFill/>
            <a:ln w="19050" algn="ctr">
              <a:noFill/>
              <a:miter lim="800000"/>
              <a:headEnd/>
              <a:tailEnd/>
            </a:ln>
          </p:spPr>
          <p:txBody>
            <a:bodyPr wrap="square" lIns="60614" tIns="0" rIns="0" bIns="0" rtlCol="0" anchor="t"/>
            <a:lstStyle/>
            <a:p>
              <a:pPr defTabSz="623438">
                <a:lnSpc>
                  <a:spcPct val="106000"/>
                </a:lnSpc>
                <a:defRPr/>
              </a:pPr>
              <a:r>
                <a:rPr lang="en-US" sz="1227" i="1" dirty="0">
                  <a:solidFill>
                    <a:prstClr val="black"/>
                  </a:solidFill>
                  <a:latin typeface="Verdana"/>
                  <a:cs typeface="Arial" panose="020B0604020202020204" pitchFamily="34" charset="0"/>
                </a:rPr>
                <a:t>through annual reports, news articles, published papers etc.</a:t>
              </a:r>
            </a:p>
          </p:txBody>
        </p:sp>
        <p:sp>
          <p:nvSpPr>
            <p:cNvPr id="11" name="Rectangle 10">
              <a:extLst>
                <a:ext uri="{FF2B5EF4-FFF2-40B4-BE49-F238E27FC236}">
                  <a16:creationId xmlns:a16="http://schemas.microsoft.com/office/drawing/2014/main" id="{45A07ECF-DC29-4C81-A4F9-27C3D86BC41B}"/>
                </a:ext>
              </a:extLst>
            </p:cNvPr>
            <p:cNvSpPr/>
            <p:nvPr/>
          </p:nvSpPr>
          <p:spPr bwMode="gray">
            <a:xfrm>
              <a:off x="1266266" y="1548273"/>
              <a:ext cx="1629630" cy="624448"/>
            </a:xfrm>
            <a:prstGeom prst="rect">
              <a:avLst/>
            </a:prstGeom>
            <a:noFill/>
            <a:ln w="19050" algn="ctr">
              <a:noFill/>
              <a:miter lim="800000"/>
              <a:headEnd/>
              <a:tailEnd/>
            </a:ln>
          </p:spPr>
          <p:txBody>
            <a:bodyPr wrap="square" lIns="0" tIns="60614" rIns="0" bIns="60614" rtlCol="0" anchor="t"/>
            <a:lstStyle/>
            <a:p>
              <a:pPr defTabSz="623438" fontAlgn="b">
                <a:defRPr/>
              </a:pPr>
              <a:r>
                <a:rPr lang="en-US" sz="1364" b="1" dirty="0">
                  <a:solidFill>
                    <a:srgbClr val="009A44"/>
                  </a:solidFill>
                  <a:latin typeface="Verdana"/>
                  <a:cs typeface="Arial" panose="020B0604020202020204" pitchFamily="34" charset="0"/>
                </a:rPr>
                <a:t>Secondary research</a:t>
              </a:r>
            </a:p>
          </p:txBody>
        </p:sp>
        <p:sp>
          <p:nvSpPr>
            <p:cNvPr id="12" name="Rectangle 11">
              <a:extLst>
                <a:ext uri="{FF2B5EF4-FFF2-40B4-BE49-F238E27FC236}">
                  <a16:creationId xmlns:a16="http://schemas.microsoft.com/office/drawing/2014/main" id="{D9273E6C-FBE7-4928-8793-518021817ED3}"/>
                </a:ext>
              </a:extLst>
            </p:cNvPr>
            <p:cNvSpPr/>
            <p:nvPr/>
          </p:nvSpPr>
          <p:spPr bwMode="gray">
            <a:xfrm>
              <a:off x="2567331" y="4647097"/>
              <a:ext cx="2211429" cy="496816"/>
            </a:xfrm>
            <a:prstGeom prst="rect">
              <a:avLst/>
            </a:prstGeom>
            <a:noFill/>
            <a:ln w="19050" algn="ctr">
              <a:noFill/>
              <a:miter lim="800000"/>
              <a:headEnd/>
              <a:tailEnd/>
            </a:ln>
          </p:spPr>
          <p:txBody>
            <a:bodyPr wrap="square" lIns="60614" tIns="0" rIns="0" bIns="0" rtlCol="0" anchor="t"/>
            <a:lstStyle/>
            <a:p>
              <a:pPr defTabSz="623438">
                <a:lnSpc>
                  <a:spcPct val="106000"/>
                </a:lnSpc>
                <a:defRPr/>
              </a:pPr>
              <a:r>
                <a:rPr lang="en-US" sz="1227" i="1" dirty="0">
                  <a:solidFill>
                    <a:prstClr val="black"/>
                  </a:solidFill>
                  <a:latin typeface="Verdana"/>
                  <a:cs typeface="Arial" panose="020B0604020202020204" pitchFamily="34" charset="0"/>
                </a:rPr>
                <a:t>Experience working with other similar firms (sector synergy)</a:t>
              </a:r>
            </a:p>
          </p:txBody>
        </p:sp>
        <p:sp>
          <p:nvSpPr>
            <p:cNvPr id="13" name="Rectangle 12">
              <a:extLst>
                <a:ext uri="{FF2B5EF4-FFF2-40B4-BE49-F238E27FC236}">
                  <a16:creationId xmlns:a16="http://schemas.microsoft.com/office/drawing/2014/main" id="{DA29AFE6-32A9-422A-913D-B957AD8F5A82}"/>
                </a:ext>
              </a:extLst>
            </p:cNvPr>
            <p:cNvSpPr/>
            <p:nvPr/>
          </p:nvSpPr>
          <p:spPr bwMode="gray">
            <a:xfrm>
              <a:off x="1266266" y="4601375"/>
              <a:ext cx="1387962" cy="567545"/>
            </a:xfrm>
            <a:prstGeom prst="rect">
              <a:avLst/>
            </a:prstGeom>
            <a:noFill/>
            <a:ln w="19050" algn="ctr">
              <a:noFill/>
              <a:miter lim="800000"/>
              <a:headEnd/>
              <a:tailEnd/>
            </a:ln>
          </p:spPr>
          <p:txBody>
            <a:bodyPr wrap="square" lIns="0" tIns="60614" rIns="0" bIns="60614" rtlCol="0" anchor="t"/>
            <a:lstStyle/>
            <a:p>
              <a:pPr defTabSz="623438" fontAlgn="b">
                <a:defRPr/>
              </a:pPr>
              <a:r>
                <a:rPr lang="en-US" sz="1364" b="1" dirty="0">
                  <a:solidFill>
                    <a:srgbClr val="009A44"/>
                  </a:solidFill>
                  <a:latin typeface="Verdana"/>
                  <a:cs typeface="Arial" panose="020B0604020202020204" pitchFamily="34" charset="0"/>
                </a:rPr>
                <a:t>Similar firm experience</a:t>
              </a:r>
            </a:p>
          </p:txBody>
        </p:sp>
        <p:sp>
          <p:nvSpPr>
            <p:cNvPr id="14" name="Rectangle 13">
              <a:extLst>
                <a:ext uri="{FF2B5EF4-FFF2-40B4-BE49-F238E27FC236}">
                  <a16:creationId xmlns:a16="http://schemas.microsoft.com/office/drawing/2014/main" id="{2EB64386-B5A1-4162-8BD4-C1C1CE8B7760}"/>
                </a:ext>
              </a:extLst>
            </p:cNvPr>
            <p:cNvSpPr/>
            <p:nvPr/>
          </p:nvSpPr>
          <p:spPr bwMode="gray">
            <a:xfrm>
              <a:off x="2567331" y="3581700"/>
              <a:ext cx="2680552" cy="496816"/>
            </a:xfrm>
            <a:prstGeom prst="rect">
              <a:avLst/>
            </a:prstGeom>
            <a:noFill/>
            <a:ln w="19050" algn="ctr">
              <a:noFill/>
              <a:miter lim="800000"/>
              <a:headEnd/>
              <a:tailEnd/>
            </a:ln>
          </p:spPr>
          <p:txBody>
            <a:bodyPr wrap="square" lIns="60614" tIns="0" rIns="0" bIns="0" rtlCol="0" anchor="t"/>
            <a:lstStyle/>
            <a:p>
              <a:pPr defTabSz="623438">
                <a:lnSpc>
                  <a:spcPct val="106000"/>
                </a:lnSpc>
                <a:defRPr/>
              </a:pPr>
              <a:r>
                <a:rPr lang="en-US" sz="1227" i="1" dirty="0">
                  <a:solidFill>
                    <a:prstClr val="black"/>
                  </a:solidFill>
                  <a:latin typeface="Verdana"/>
                  <a:cs typeface="Arial" panose="020B0604020202020204" pitchFamily="34" charset="0"/>
                </a:rPr>
                <a:t>Experience of Deloitte professionals across member firm network</a:t>
              </a:r>
            </a:p>
          </p:txBody>
        </p:sp>
        <p:sp>
          <p:nvSpPr>
            <p:cNvPr id="15" name="Rectangle 14">
              <a:extLst>
                <a:ext uri="{FF2B5EF4-FFF2-40B4-BE49-F238E27FC236}">
                  <a16:creationId xmlns:a16="http://schemas.microsoft.com/office/drawing/2014/main" id="{6DEFC067-C9D1-43CC-9264-51D01C8FC212}"/>
                </a:ext>
              </a:extLst>
            </p:cNvPr>
            <p:cNvSpPr/>
            <p:nvPr/>
          </p:nvSpPr>
          <p:spPr bwMode="gray">
            <a:xfrm>
              <a:off x="1266266" y="3544416"/>
              <a:ext cx="1301065" cy="413920"/>
            </a:xfrm>
            <a:prstGeom prst="rect">
              <a:avLst/>
            </a:prstGeom>
            <a:noFill/>
            <a:ln w="19050" algn="ctr">
              <a:noFill/>
              <a:miter lim="800000"/>
              <a:headEnd/>
              <a:tailEnd/>
            </a:ln>
          </p:spPr>
          <p:txBody>
            <a:bodyPr wrap="square" lIns="0" tIns="60614" rIns="0" bIns="60614" rtlCol="0" anchor="t"/>
            <a:lstStyle/>
            <a:p>
              <a:pPr defTabSz="623438" fontAlgn="b">
                <a:defRPr/>
              </a:pPr>
              <a:r>
                <a:rPr lang="en-US" sz="1364" b="1" dirty="0">
                  <a:solidFill>
                    <a:srgbClr val="009A44"/>
                  </a:solidFill>
                  <a:latin typeface="Verdana"/>
                  <a:cs typeface="Arial" panose="020B0604020202020204" pitchFamily="34" charset="0"/>
                </a:rPr>
                <a:t>Deloitte professionals</a:t>
              </a:r>
            </a:p>
          </p:txBody>
        </p:sp>
        <p:sp>
          <p:nvSpPr>
            <p:cNvPr id="16" name="Rectangle 15">
              <a:extLst>
                <a:ext uri="{FF2B5EF4-FFF2-40B4-BE49-F238E27FC236}">
                  <a16:creationId xmlns:a16="http://schemas.microsoft.com/office/drawing/2014/main" id="{8C1CA28C-4005-430E-9791-5EC3BE35EDFE}"/>
                </a:ext>
              </a:extLst>
            </p:cNvPr>
            <p:cNvSpPr/>
            <p:nvPr/>
          </p:nvSpPr>
          <p:spPr bwMode="gray">
            <a:xfrm>
              <a:off x="2510857" y="5728183"/>
              <a:ext cx="2903611" cy="496816"/>
            </a:xfrm>
            <a:prstGeom prst="rect">
              <a:avLst/>
            </a:prstGeom>
            <a:noFill/>
            <a:ln w="19050" algn="ctr">
              <a:noFill/>
              <a:miter lim="800000"/>
              <a:headEnd/>
              <a:tailEnd/>
            </a:ln>
          </p:spPr>
          <p:txBody>
            <a:bodyPr wrap="square" lIns="60614" tIns="0" rIns="0" bIns="0" rtlCol="0" anchor="t"/>
            <a:lstStyle/>
            <a:p>
              <a:pPr defTabSz="623438">
                <a:lnSpc>
                  <a:spcPct val="106000"/>
                </a:lnSpc>
                <a:defRPr/>
              </a:pPr>
              <a:r>
                <a:rPr lang="en-US" sz="1227" i="1" dirty="0">
                  <a:solidFill>
                    <a:prstClr val="black"/>
                  </a:solidFill>
                  <a:latin typeface="Verdana"/>
                  <a:cs typeface="Arial" panose="020B0604020202020204" pitchFamily="34" charset="0"/>
                </a:rPr>
                <a:t>Interviews with industry experts from Deloitte &amp; select stakeholders</a:t>
              </a:r>
            </a:p>
          </p:txBody>
        </p:sp>
        <p:sp>
          <p:nvSpPr>
            <p:cNvPr id="17" name="Rectangle 16">
              <a:extLst>
                <a:ext uri="{FF2B5EF4-FFF2-40B4-BE49-F238E27FC236}">
                  <a16:creationId xmlns:a16="http://schemas.microsoft.com/office/drawing/2014/main" id="{E5D9B236-BE72-4E78-946D-5C54D287A2E0}"/>
                </a:ext>
              </a:extLst>
            </p:cNvPr>
            <p:cNvSpPr/>
            <p:nvPr/>
          </p:nvSpPr>
          <p:spPr bwMode="gray">
            <a:xfrm>
              <a:off x="1257869" y="5615723"/>
              <a:ext cx="1325927" cy="481909"/>
            </a:xfrm>
            <a:prstGeom prst="rect">
              <a:avLst/>
            </a:prstGeom>
            <a:noFill/>
            <a:ln w="19050" algn="ctr">
              <a:noFill/>
              <a:miter lim="800000"/>
              <a:headEnd/>
              <a:tailEnd/>
            </a:ln>
          </p:spPr>
          <p:txBody>
            <a:bodyPr wrap="square" lIns="0" tIns="60614" rIns="0" bIns="60614" rtlCol="0" anchor="t"/>
            <a:lstStyle/>
            <a:p>
              <a:pPr defTabSz="623438" fontAlgn="b">
                <a:defRPr/>
              </a:pPr>
              <a:r>
                <a:rPr lang="en-US" sz="1364" b="1" dirty="0">
                  <a:solidFill>
                    <a:srgbClr val="009A44"/>
                  </a:solidFill>
                  <a:latin typeface="Verdana"/>
                  <a:cs typeface="Arial" panose="020B0604020202020204" pitchFamily="34" charset="0"/>
                </a:rPr>
                <a:t>Expert interviews</a:t>
              </a:r>
            </a:p>
          </p:txBody>
        </p:sp>
        <p:sp>
          <p:nvSpPr>
            <p:cNvPr id="18" name="Rectangle 17">
              <a:extLst>
                <a:ext uri="{FF2B5EF4-FFF2-40B4-BE49-F238E27FC236}">
                  <a16:creationId xmlns:a16="http://schemas.microsoft.com/office/drawing/2014/main" id="{5559C536-9BBC-4EFE-BBCB-830F91CC1FB3}"/>
                </a:ext>
              </a:extLst>
            </p:cNvPr>
            <p:cNvSpPr/>
            <p:nvPr/>
          </p:nvSpPr>
          <p:spPr bwMode="gray">
            <a:xfrm>
              <a:off x="2542704" y="2626123"/>
              <a:ext cx="2871765" cy="496816"/>
            </a:xfrm>
            <a:prstGeom prst="rect">
              <a:avLst/>
            </a:prstGeom>
            <a:noFill/>
            <a:ln w="19050" algn="ctr">
              <a:noFill/>
              <a:miter lim="800000"/>
              <a:headEnd/>
              <a:tailEnd/>
            </a:ln>
          </p:spPr>
          <p:txBody>
            <a:bodyPr wrap="square" lIns="60614" tIns="0" rIns="0" bIns="0" rtlCol="0" anchor="t"/>
            <a:lstStyle/>
            <a:p>
              <a:pPr defTabSz="623438">
                <a:lnSpc>
                  <a:spcPct val="106000"/>
                </a:lnSpc>
                <a:defRPr/>
              </a:pPr>
              <a:r>
                <a:rPr lang="en-US" sz="1227" i="1" dirty="0">
                  <a:solidFill>
                    <a:prstClr val="black"/>
                  </a:solidFill>
                  <a:latin typeface="Verdana"/>
                  <a:cs typeface="Arial" panose="020B0604020202020204" pitchFamily="34" charset="0"/>
                </a:rPr>
                <a:t>Access proprietary databases such as EMIS, EUI, Thomson One, Factiva etc.</a:t>
              </a:r>
            </a:p>
          </p:txBody>
        </p:sp>
        <p:sp>
          <p:nvSpPr>
            <p:cNvPr id="19" name="Rectangle 18">
              <a:extLst>
                <a:ext uri="{FF2B5EF4-FFF2-40B4-BE49-F238E27FC236}">
                  <a16:creationId xmlns:a16="http://schemas.microsoft.com/office/drawing/2014/main" id="{1CE40C22-9B3B-400F-A31D-7455FC4CBCD5}"/>
                </a:ext>
              </a:extLst>
            </p:cNvPr>
            <p:cNvSpPr/>
            <p:nvPr/>
          </p:nvSpPr>
          <p:spPr bwMode="gray">
            <a:xfrm>
              <a:off x="1266266" y="2565234"/>
              <a:ext cx="1364151" cy="466895"/>
            </a:xfrm>
            <a:prstGeom prst="rect">
              <a:avLst/>
            </a:prstGeom>
            <a:noFill/>
            <a:ln w="19050" algn="ctr">
              <a:noFill/>
              <a:miter lim="800000"/>
              <a:headEnd/>
              <a:tailEnd/>
            </a:ln>
          </p:spPr>
          <p:txBody>
            <a:bodyPr wrap="square" lIns="0" tIns="60614" rIns="0" bIns="60614" rtlCol="0" anchor="t"/>
            <a:lstStyle/>
            <a:p>
              <a:pPr defTabSz="623438" fontAlgn="b">
                <a:defRPr/>
              </a:pPr>
              <a:r>
                <a:rPr lang="en-US" sz="1364" b="1" dirty="0">
                  <a:solidFill>
                    <a:srgbClr val="009A44"/>
                  </a:solidFill>
                  <a:latin typeface="Verdana"/>
                  <a:cs typeface="Arial" panose="020B0604020202020204" pitchFamily="34" charset="0"/>
                </a:rPr>
                <a:t>Proprietary databases</a:t>
              </a:r>
            </a:p>
          </p:txBody>
        </p:sp>
        <p:pic>
          <p:nvPicPr>
            <p:cNvPr id="20" name="Picture 8" descr="https://static.thenounproject.com/png/1141013-200.png">
              <a:extLst>
                <a:ext uri="{FF2B5EF4-FFF2-40B4-BE49-F238E27FC236}">
                  <a16:creationId xmlns:a16="http://schemas.microsoft.com/office/drawing/2014/main" id="{400D97CE-777A-4556-8477-81F74A1FDD49}"/>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02910" y="3594763"/>
              <a:ext cx="472108" cy="56721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0" descr="https://static.thenounproject.com/png/1655607-200.png">
              <a:extLst>
                <a:ext uri="{FF2B5EF4-FFF2-40B4-BE49-F238E27FC236}">
                  <a16:creationId xmlns:a16="http://schemas.microsoft.com/office/drawing/2014/main" id="{C7FB1933-23FF-47BD-BC36-CD65F6D54B09}"/>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23986" y="4625316"/>
              <a:ext cx="456699" cy="54869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2" descr="https://static.thenounproject.com/png/2457861-200.png">
              <a:extLst>
                <a:ext uri="{FF2B5EF4-FFF2-40B4-BE49-F238E27FC236}">
                  <a16:creationId xmlns:a16="http://schemas.microsoft.com/office/drawing/2014/main" id="{632F6C56-E909-4EEB-A6BB-A6C2E9368E20}"/>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80694" y="5615723"/>
              <a:ext cx="531536" cy="63861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 descr="https://static.thenounproject.com/png/2843065-200.png">
              <a:extLst>
                <a:ext uri="{FF2B5EF4-FFF2-40B4-BE49-F238E27FC236}">
                  <a16:creationId xmlns:a16="http://schemas.microsoft.com/office/drawing/2014/main" id="{087BF574-5CFD-4280-8171-73F1D4F4B18A}"/>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580694" y="2560153"/>
              <a:ext cx="494324" cy="593904"/>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24" name="Table 23">
            <a:extLst>
              <a:ext uri="{FF2B5EF4-FFF2-40B4-BE49-F238E27FC236}">
                <a16:creationId xmlns:a16="http://schemas.microsoft.com/office/drawing/2014/main" id="{472EEC31-4380-4534-83E0-A95541B0CB56}"/>
              </a:ext>
            </a:extLst>
          </p:cNvPr>
          <p:cNvGraphicFramePr>
            <a:graphicFrameLocks noGrp="1"/>
          </p:cNvGraphicFramePr>
          <p:nvPr>
            <p:extLst>
              <p:ext uri="{D42A27DB-BD31-4B8C-83A1-F6EECF244321}">
                <p14:modId xmlns:p14="http://schemas.microsoft.com/office/powerpoint/2010/main" val="3168520511"/>
              </p:ext>
            </p:extLst>
          </p:nvPr>
        </p:nvGraphicFramePr>
        <p:xfrm>
          <a:off x="5620676" y="1623940"/>
          <a:ext cx="4895754" cy="4630396"/>
        </p:xfrm>
        <a:graphic>
          <a:graphicData uri="http://schemas.openxmlformats.org/drawingml/2006/table">
            <a:tbl>
              <a:tblPr firstRow="1" bandRow="1"/>
              <a:tblGrid>
                <a:gridCol w="2519575">
                  <a:extLst>
                    <a:ext uri="{9D8B030D-6E8A-4147-A177-3AD203B41FA5}">
                      <a16:colId xmlns:a16="http://schemas.microsoft.com/office/drawing/2014/main" val="2753489935"/>
                    </a:ext>
                  </a:extLst>
                </a:gridCol>
                <a:gridCol w="2376179">
                  <a:extLst>
                    <a:ext uri="{9D8B030D-6E8A-4147-A177-3AD203B41FA5}">
                      <a16:colId xmlns:a16="http://schemas.microsoft.com/office/drawing/2014/main" val="1368118038"/>
                    </a:ext>
                  </a:extLst>
                </a:gridCol>
              </a:tblGrid>
              <a:tr h="488961">
                <a:tc gridSpan="2">
                  <a:txBody>
                    <a:bodyPr/>
                    <a:lstStyle>
                      <a:lvl1pPr marL="0" algn="l" defTabSz="827419" rtl="0" eaLnBrk="1" latinLnBrk="0" hangingPunct="1">
                        <a:defRPr sz="1700" b="1" kern="1200">
                          <a:solidFill>
                            <a:schemeClr val="lt1"/>
                          </a:solidFill>
                          <a:latin typeface="Verdana"/>
                        </a:defRPr>
                      </a:lvl1pPr>
                      <a:lvl2pPr marL="413709" algn="l" defTabSz="827419" rtl="0" eaLnBrk="1" latinLnBrk="0" hangingPunct="1">
                        <a:defRPr sz="1700" b="1" kern="1200">
                          <a:solidFill>
                            <a:schemeClr val="lt1"/>
                          </a:solidFill>
                          <a:latin typeface="Verdana"/>
                        </a:defRPr>
                      </a:lvl2pPr>
                      <a:lvl3pPr marL="827419" algn="l" defTabSz="827419" rtl="0" eaLnBrk="1" latinLnBrk="0" hangingPunct="1">
                        <a:defRPr sz="1700" b="1" kern="1200">
                          <a:solidFill>
                            <a:schemeClr val="lt1"/>
                          </a:solidFill>
                          <a:latin typeface="Verdana"/>
                        </a:defRPr>
                      </a:lvl3pPr>
                      <a:lvl4pPr marL="1241119" algn="l" defTabSz="827419" rtl="0" eaLnBrk="1" latinLnBrk="0" hangingPunct="1">
                        <a:defRPr sz="1700" b="1" kern="1200">
                          <a:solidFill>
                            <a:schemeClr val="lt1"/>
                          </a:solidFill>
                          <a:latin typeface="Verdana"/>
                        </a:defRPr>
                      </a:lvl4pPr>
                      <a:lvl5pPr marL="1654827" algn="l" defTabSz="827419" rtl="0" eaLnBrk="1" latinLnBrk="0" hangingPunct="1">
                        <a:defRPr sz="1700" b="1" kern="1200">
                          <a:solidFill>
                            <a:schemeClr val="lt1"/>
                          </a:solidFill>
                          <a:latin typeface="Verdana"/>
                        </a:defRPr>
                      </a:lvl5pPr>
                      <a:lvl6pPr marL="2068547" algn="l" defTabSz="827419" rtl="0" eaLnBrk="1" latinLnBrk="0" hangingPunct="1">
                        <a:defRPr sz="1700" b="1" kern="1200">
                          <a:solidFill>
                            <a:schemeClr val="lt1"/>
                          </a:solidFill>
                          <a:latin typeface="Verdana"/>
                        </a:defRPr>
                      </a:lvl6pPr>
                      <a:lvl7pPr marL="2482242" algn="l" defTabSz="827419" rtl="0" eaLnBrk="1" latinLnBrk="0" hangingPunct="1">
                        <a:defRPr sz="1700" b="1" kern="1200">
                          <a:solidFill>
                            <a:schemeClr val="lt1"/>
                          </a:solidFill>
                          <a:latin typeface="Verdana"/>
                        </a:defRPr>
                      </a:lvl7pPr>
                      <a:lvl8pPr marL="2895943" algn="l" defTabSz="827419" rtl="0" eaLnBrk="1" latinLnBrk="0" hangingPunct="1">
                        <a:defRPr sz="1700" b="1" kern="1200">
                          <a:solidFill>
                            <a:schemeClr val="lt1"/>
                          </a:solidFill>
                          <a:latin typeface="Verdana"/>
                        </a:defRPr>
                      </a:lvl8pPr>
                      <a:lvl9pPr marL="3309652" algn="l" defTabSz="827419" rtl="0" eaLnBrk="1" latinLnBrk="0" hangingPunct="1">
                        <a:defRPr sz="1700" b="1" kern="1200">
                          <a:solidFill>
                            <a:schemeClr val="lt1"/>
                          </a:solidFill>
                          <a:latin typeface="Verdana"/>
                        </a:defRPr>
                      </a:lvl9pPr>
                    </a:lstStyle>
                    <a:p>
                      <a:r>
                        <a:rPr lang="en-US" sz="1200" dirty="0"/>
                        <a:t>Tools</a:t>
                      </a:r>
                      <a:endParaRPr lang="en-IN" sz="1200" dirty="0"/>
                    </a:p>
                  </a:txBody>
                  <a:tcPr marL="68750" marR="68750" marT="34375" marB="34375" anchor="ctr">
                    <a:lnL w="12700" cap="flat" cmpd="sng" algn="ctr">
                      <a:solidFill>
                        <a:srgbClr val="53565A">
                          <a:lumMod val="40000"/>
                          <a:lumOff val="60000"/>
                        </a:srgbClr>
                      </a:solidFill>
                      <a:prstDash val="solid"/>
                      <a:round/>
                      <a:headEnd type="none" w="med" len="med"/>
                      <a:tailEnd type="none" w="med" len="med"/>
                    </a:lnL>
                    <a:lnR w="12700" cap="flat" cmpd="sng" algn="ctr">
                      <a:solidFill>
                        <a:srgbClr val="53565A">
                          <a:lumMod val="40000"/>
                          <a:lumOff val="60000"/>
                        </a:srgbClr>
                      </a:solidFill>
                      <a:prstDash val="solid"/>
                      <a:round/>
                      <a:headEnd type="none" w="med" len="med"/>
                      <a:tailEnd type="none" w="med" len="med"/>
                    </a:lnR>
                    <a:lnT w="12700" cap="flat" cmpd="sng" algn="ctr">
                      <a:solidFill>
                        <a:srgbClr val="53565A">
                          <a:lumMod val="40000"/>
                          <a:lumOff val="60000"/>
                        </a:srgbClr>
                      </a:solidFill>
                      <a:prstDash val="solid"/>
                      <a:round/>
                      <a:headEnd type="none" w="med" len="med"/>
                      <a:tailEnd type="none" w="med" len="med"/>
                    </a:lnT>
                    <a:lnB w="12700" cap="flat" cmpd="sng" algn="ctr">
                      <a:solidFill>
                        <a:srgbClr val="53565A">
                          <a:lumMod val="40000"/>
                          <a:lumOff val="60000"/>
                        </a:srgb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IN" sz="1200" dirty="0"/>
                    </a:p>
                  </a:txBody>
                  <a:tcPr anchor="ctr"/>
                </a:tc>
                <a:extLst>
                  <a:ext uri="{0D108BD9-81ED-4DB2-BD59-A6C34878D82A}">
                    <a16:rowId xmlns:a16="http://schemas.microsoft.com/office/drawing/2014/main" val="636283650"/>
                  </a:ext>
                </a:extLst>
              </a:tr>
              <a:tr h="1011238">
                <a:tc>
                  <a:txBody>
                    <a:bodyPr/>
                    <a:lstStyle>
                      <a:lvl1pPr marL="0" algn="l" defTabSz="827419" rtl="0" eaLnBrk="1" latinLnBrk="0" hangingPunct="1">
                        <a:defRPr sz="1700" kern="1200">
                          <a:solidFill>
                            <a:schemeClr val="dk1"/>
                          </a:solidFill>
                          <a:latin typeface="Verdana"/>
                        </a:defRPr>
                      </a:lvl1pPr>
                      <a:lvl2pPr marL="413709" algn="l" defTabSz="827419" rtl="0" eaLnBrk="1" latinLnBrk="0" hangingPunct="1">
                        <a:defRPr sz="1700" kern="1200">
                          <a:solidFill>
                            <a:schemeClr val="dk1"/>
                          </a:solidFill>
                          <a:latin typeface="Verdana"/>
                        </a:defRPr>
                      </a:lvl2pPr>
                      <a:lvl3pPr marL="827419" algn="l" defTabSz="827419" rtl="0" eaLnBrk="1" latinLnBrk="0" hangingPunct="1">
                        <a:defRPr sz="1700" kern="1200">
                          <a:solidFill>
                            <a:schemeClr val="dk1"/>
                          </a:solidFill>
                          <a:latin typeface="Verdana"/>
                        </a:defRPr>
                      </a:lvl3pPr>
                      <a:lvl4pPr marL="1241119" algn="l" defTabSz="827419" rtl="0" eaLnBrk="1" latinLnBrk="0" hangingPunct="1">
                        <a:defRPr sz="1700" kern="1200">
                          <a:solidFill>
                            <a:schemeClr val="dk1"/>
                          </a:solidFill>
                          <a:latin typeface="Verdana"/>
                        </a:defRPr>
                      </a:lvl4pPr>
                      <a:lvl5pPr marL="1654827" algn="l" defTabSz="827419" rtl="0" eaLnBrk="1" latinLnBrk="0" hangingPunct="1">
                        <a:defRPr sz="1700" kern="1200">
                          <a:solidFill>
                            <a:schemeClr val="dk1"/>
                          </a:solidFill>
                          <a:latin typeface="Verdana"/>
                        </a:defRPr>
                      </a:lvl5pPr>
                      <a:lvl6pPr marL="2068547" algn="l" defTabSz="827419" rtl="0" eaLnBrk="1" latinLnBrk="0" hangingPunct="1">
                        <a:defRPr sz="1700" kern="1200">
                          <a:solidFill>
                            <a:schemeClr val="dk1"/>
                          </a:solidFill>
                          <a:latin typeface="Verdana"/>
                        </a:defRPr>
                      </a:lvl6pPr>
                      <a:lvl7pPr marL="2482242" algn="l" defTabSz="827419" rtl="0" eaLnBrk="1" latinLnBrk="0" hangingPunct="1">
                        <a:defRPr sz="1700" kern="1200">
                          <a:solidFill>
                            <a:schemeClr val="dk1"/>
                          </a:solidFill>
                          <a:latin typeface="Verdana"/>
                        </a:defRPr>
                      </a:lvl7pPr>
                      <a:lvl8pPr marL="2895943" algn="l" defTabSz="827419" rtl="0" eaLnBrk="1" latinLnBrk="0" hangingPunct="1">
                        <a:defRPr sz="1700" kern="1200">
                          <a:solidFill>
                            <a:schemeClr val="dk1"/>
                          </a:solidFill>
                          <a:latin typeface="Verdana"/>
                        </a:defRPr>
                      </a:lvl8pPr>
                      <a:lvl9pPr marL="3309652" algn="l" defTabSz="827419" rtl="0" eaLnBrk="1" latinLnBrk="0" hangingPunct="1">
                        <a:defRPr sz="1700" kern="1200">
                          <a:solidFill>
                            <a:schemeClr val="dk1"/>
                          </a:solidFill>
                          <a:latin typeface="Verdana"/>
                        </a:defRPr>
                      </a:lvl9pPr>
                    </a:lstStyle>
                    <a:p>
                      <a:pPr algn="l"/>
                      <a:r>
                        <a:rPr lang="en-US" sz="1200" b="1" baseline="0" dirty="0"/>
                        <a:t>Assess and Prioritize framework</a:t>
                      </a:r>
                    </a:p>
                  </a:txBody>
                  <a:tcPr marL="68750" marR="68750" marT="34375" marB="34375" anchor="ctr">
                    <a:lnL w="12700" cap="flat" cmpd="sng" algn="ctr">
                      <a:solidFill>
                        <a:srgbClr val="53565A">
                          <a:lumMod val="40000"/>
                          <a:lumOff val="6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53565A">
                          <a:lumMod val="40000"/>
                          <a:lumOff val="60000"/>
                        </a:srgbClr>
                      </a:solidFill>
                      <a:prstDash val="solid"/>
                      <a:round/>
                      <a:headEnd type="none" w="med" len="med"/>
                      <a:tailEnd type="none" w="med" len="med"/>
                    </a:lnT>
                    <a:lnB w="12700" cap="flat" cmpd="sng" algn="ctr">
                      <a:solidFill>
                        <a:srgbClr val="53565A">
                          <a:lumMod val="40000"/>
                          <a:lumOff val="6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827419" rtl="0" eaLnBrk="1" latinLnBrk="0" hangingPunct="1">
                        <a:defRPr sz="1700" kern="1200">
                          <a:solidFill>
                            <a:schemeClr val="dk1"/>
                          </a:solidFill>
                          <a:latin typeface="Verdana"/>
                        </a:defRPr>
                      </a:lvl1pPr>
                      <a:lvl2pPr marL="413709" algn="l" defTabSz="827419" rtl="0" eaLnBrk="1" latinLnBrk="0" hangingPunct="1">
                        <a:defRPr sz="1700" kern="1200">
                          <a:solidFill>
                            <a:schemeClr val="dk1"/>
                          </a:solidFill>
                          <a:latin typeface="Verdana"/>
                        </a:defRPr>
                      </a:lvl2pPr>
                      <a:lvl3pPr marL="827419" algn="l" defTabSz="827419" rtl="0" eaLnBrk="1" latinLnBrk="0" hangingPunct="1">
                        <a:defRPr sz="1700" kern="1200">
                          <a:solidFill>
                            <a:schemeClr val="dk1"/>
                          </a:solidFill>
                          <a:latin typeface="Verdana"/>
                        </a:defRPr>
                      </a:lvl3pPr>
                      <a:lvl4pPr marL="1241119" algn="l" defTabSz="827419" rtl="0" eaLnBrk="1" latinLnBrk="0" hangingPunct="1">
                        <a:defRPr sz="1700" kern="1200">
                          <a:solidFill>
                            <a:schemeClr val="dk1"/>
                          </a:solidFill>
                          <a:latin typeface="Verdana"/>
                        </a:defRPr>
                      </a:lvl4pPr>
                      <a:lvl5pPr marL="1654827" algn="l" defTabSz="827419" rtl="0" eaLnBrk="1" latinLnBrk="0" hangingPunct="1">
                        <a:defRPr sz="1700" kern="1200">
                          <a:solidFill>
                            <a:schemeClr val="dk1"/>
                          </a:solidFill>
                          <a:latin typeface="Verdana"/>
                        </a:defRPr>
                      </a:lvl5pPr>
                      <a:lvl6pPr marL="2068547" algn="l" defTabSz="827419" rtl="0" eaLnBrk="1" latinLnBrk="0" hangingPunct="1">
                        <a:defRPr sz="1700" kern="1200">
                          <a:solidFill>
                            <a:schemeClr val="dk1"/>
                          </a:solidFill>
                          <a:latin typeface="Verdana"/>
                        </a:defRPr>
                      </a:lvl6pPr>
                      <a:lvl7pPr marL="2482242" algn="l" defTabSz="827419" rtl="0" eaLnBrk="1" latinLnBrk="0" hangingPunct="1">
                        <a:defRPr sz="1700" kern="1200">
                          <a:solidFill>
                            <a:schemeClr val="dk1"/>
                          </a:solidFill>
                          <a:latin typeface="Verdana"/>
                        </a:defRPr>
                      </a:lvl7pPr>
                      <a:lvl8pPr marL="2895943" algn="l" defTabSz="827419" rtl="0" eaLnBrk="1" latinLnBrk="0" hangingPunct="1">
                        <a:defRPr sz="1700" kern="1200">
                          <a:solidFill>
                            <a:schemeClr val="dk1"/>
                          </a:solidFill>
                          <a:latin typeface="Verdana"/>
                        </a:defRPr>
                      </a:lvl8pPr>
                      <a:lvl9pPr marL="3309652" algn="l" defTabSz="827419" rtl="0" eaLnBrk="1" latinLnBrk="0" hangingPunct="1">
                        <a:defRPr sz="1700" kern="1200">
                          <a:solidFill>
                            <a:schemeClr val="dk1"/>
                          </a:solidFill>
                          <a:latin typeface="Verdana"/>
                        </a:defRPr>
                      </a:lvl9pPr>
                    </a:lstStyle>
                    <a:p>
                      <a:endParaRPr lang="en-IN" sz="1200" dirty="0"/>
                    </a:p>
                  </a:txBody>
                  <a:tcPr marL="68750" marR="68750" marT="34375" marB="34375">
                    <a:lnL w="12700" cap="flat" cmpd="sng" algn="ctr">
                      <a:noFill/>
                      <a:prstDash val="solid"/>
                      <a:round/>
                      <a:headEnd type="none" w="med" len="med"/>
                      <a:tailEnd type="none" w="med" len="med"/>
                    </a:lnL>
                    <a:lnR w="12700" cap="flat" cmpd="sng" algn="ctr">
                      <a:solidFill>
                        <a:srgbClr val="53565A">
                          <a:lumMod val="40000"/>
                          <a:lumOff val="60000"/>
                        </a:srgbClr>
                      </a:solidFill>
                      <a:prstDash val="solid"/>
                      <a:round/>
                      <a:headEnd type="none" w="med" len="med"/>
                      <a:tailEnd type="none" w="med" len="med"/>
                    </a:lnR>
                    <a:lnT w="12700" cap="flat" cmpd="sng" algn="ctr">
                      <a:solidFill>
                        <a:srgbClr val="53565A">
                          <a:lumMod val="40000"/>
                          <a:lumOff val="60000"/>
                        </a:srgbClr>
                      </a:solidFill>
                      <a:prstDash val="solid"/>
                      <a:round/>
                      <a:headEnd type="none" w="med" len="med"/>
                      <a:tailEnd type="none" w="med" len="med"/>
                    </a:lnT>
                    <a:lnB w="12700" cap="flat" cmpd="sng" algn="ctr">
                      <a:solidFill>
                        <a:srgbClr val="53565A">
                          <a:lumMod val="40000"/>
                          <a:lumOff val="6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273382449"/>
                  </a:ext>
                </a:extLst>
              </a:tr>
              <a:tr h="1007709">
                <a:tc>
                  <a:txBody>
                    <a:bodyPr/>
                    <a:lstStyle>
                      <a:lvl1pPr marL="0" algn="l" defTabSz="827419" rtl="0" eaLnBrk="1" latinLnBrk="0" hangingPunct="1">
                        <a:defRPr sz="1700" kern="1200">
                          <a:solidFill>
                            <a:schemeClr val="dk1"/>
                          </a:solidFill>
                          <a:latin typeface="Verdana"/>
                        </a:defRPr>
                      </a:lvl1pPr>
                      <a:lvl2pPr marL="413709" algn="l" defTabSz="827419" rtl="0" eaLnBrk="1" latinLnBrk="0" hangingPunct="1">
                        <a:defRPr sz="1700" kern="1200">
                          <a:solidFill>
                            <a:schemeClr val="dk1"/>
                          </a:solidFill>
                          <a:latin typeface="Verdana"/>
                        </a:defRPr>
                      </a:lvl2pPr>
                      <a:lvl3pPr marL="827419" algn="l" defTabSz="827419" rtl="0" eaLnBrk="1" latinLnBrk="0" hangingPunct="1">
                        <a:defRPr sz="1700" kern="1200">
                          <a:solidFill>
                            <a:schemeClr val="dk1"/>
                          </a:solidFill>
                          <a:latin typeface="Verdana"/>
                        </a:defRPr>
                      </a:lvl3pPr>
                      <a:lvl4pPr marL="1241119" algn="l" defTabSz="827419" rtl="0" eaLnBrk="1" latinLnBrk="0" hangingPunct="1">
                        <a:defRPr sz="1700" kern="1200">
                          <a:solidFill>
                            <a:schemeClr val="dk1"/>
                          </a:solidFill>
                          <a:latin typeface="Verdana"/>
                        </a:defRPr>
                      </a:lvl4pPr>
                      <a:lvl5pPr marL="1654827" algn="l" defTabSz="827419" rtl="0" eaLnBrk="1" latinLnBrk="0" hangingPunct="1">
                        <a:defRPr sz="1700" kern="1200">
                          <a:solidFill>
                            <a:schemeClr val="dk1"/>
                          </a:solidFill>
                          <a:latin typeface="Verdana"/>
                        </a:defRPr>
                      </a:lvl5pPr>
                      <a:lvl6pPr marL="2068547" algn="l" defTabSz="827419" rtl="0" eaLnBrk="1" latinLnBrk="0" hangingPunct="1">
                        <a:defRPr sz="1700" kern="1200">
                          <a:solidFill>
                            <a:schemeClr val="dk1"/>
                          </a:solidFill>
                          <a:latin typeface="Verdana"/>
                        </a:defRPr>
                      </a:lvl6pPr>
                      <a:lvl7pPr marL="2482242" algn="l" defTabSz="827419" rtl="0" eaLnBrk="1" latinLnBrk="0" hangingPunct="1">
                        <a:defRPr sz="1700" kern="1200">
                          <a:solidFill>
                            <a:schemeClr val="dk1"/>
                          </a:solidFill>
                          <a:latin typeface="Verdana"/>
                        </a:defRPr>
                      </a:lvl7pPr>
                      <a:lvl8pPr marL="2895943" algn="l" defTabSz="827419" rtl="0" eaLnBrk="1" latinLnBrk="0" hangingPunct="1">
                        <a:defRPr sz="1700" kern="1200">
                          <a:solidFill>
                            <a:schemeClr val="dk1"/>
                          </a:solidFill>
                          <a:latin typeface="Verdana"/>
                        </a:defRPr>
                      </a:lvl8pPr>
                      <a:lvl9pPr marL="3309652" algn="l" defTabSz="827419" rtl="0" eaLnBrk="1" latinLnBrk="0" hangingPunct="1">
                        <a:defRPr sz="1700" kern="1200">
                          <a:solidFill>
                            <a:schemeClr val="dk1"/>
                          </a:solidFill>
                          <a:latin typeface="Verdana"/>
                        </a:defRPr>
                      </a:lvl9pPr>
                    </a:lstStyle>
                    <a:p>
                      <a:pPr algn="l"/>
                      <a:r>
                        <a:rPr lang="en-US" sz="1200" b="1" dirty="0"/>
                        <a:t>DELOITTE’s Capability Assessment framework</a:t>
                      </a:r>
                    </a:p>
                  </a:txBody>
                  <a:tcPr marL="68750" marR="68750" marT="34375" marB="34375" anchor="ctr">
                    <a:lnL w="12700" cap="flat" cmpd="sng" algn="ctr">
                      <a:solidFill>
                        <a:srgbClr val="53565A">
                          <a:lumMod val="40000"/>
                          <a:lumOff val="6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53565A">
                          <a:lumMod val="40000"/>
                          <a:lumOff val="60000"/>
                        </a:srgbClr>
                      </a:solidFill>
                      <a:prstDash val="solid"/>
                      <a:round/>
                      <a:headEnd type="none" w="med" len="med"/>
                      <a:tailEnd type="none" w="med" len="med"/>
                    </a:lnT>
                    <a:lnB w="12700" cap="flat" cmpd="sng" algn="ctr">
                      <a:solidFill>
                        <a:srgbClr val="53565A">
                          <a:lumMod val="40000"/>
                          <a:lumOff val="6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827419" rtl="0" eaLnBrk="1" latinLnBrk="0" hangingPunct="1">
                        <a:defRPr sz="1700" kern="1200">
                          <a:solidFill>
                            <a:schemeClr val="dk1"/>
                          </a:solidFill>
                          <a:latin typeface="Verdana"/>
                        </a:defRPr>
                      </a:lvl1pPr>
                      <a:lvl2pPr marL="413709" algn="l" defTabSz="827419" rtl="0" eaLnBrk="1" latinLnBrk="0" hangingPunct="1">
                        <a:defRPr sz="1700" kern="1200">
                          <a:solidFill>
                            <a:schemeClr val="dk1"/>
                          </a:solidFill>
                          <a:latin typeface="Verdana"/>
                        </a:defRPr>
                      </a:lvl2pPr>
                      <a:lvl3pPr marL="827419" algn="l" defTabSz="827419" rtl="0" eaLnBrk="1" latinLnBrk="0" hangingPunct="1">
                        <a:defRPr sz="1700" kern="1200">
                          <a:solidFill>
                            <a:schemeClr val="dk1"/>
                          </a:solidFill>
                          <a:latin typeface="Verdana"/>
                        </a:defRPr>
                      </a:lvl3pPr>
                      <a:lvl4pPr marL="1241119" algn="l" defTabSz="827419" rtl="0" eaLnBrk="1" latinLnBrk="0" hangingPunct="1">
                        <a:defRPr sz="1700" kern="1200">
                          <a:solidFill>
                            <a:schemeClr val="dk1"/>
                          </a:solidFill>
                          <a:latin typeface="Verdana"/>
                        </a:defRPr>
                      </a:lvl4pPr>
                      <a:lvl5pPr marL="1654827" algn="l" defTabSz="827419" rtl="0" eaLnBrk="1" latinLnBrk="0" hangingPunct="1">
                        <a:defRPr sz="1700" kern="1200">
                          <a:solidFill>
                            <a:schemeClr val="dk1"/>
                          </a:solidFill>
                          <a:latin typeface="Verdana"/>
                        </a:defRPr>
                      </a:lvl5pPr>
                      <a:lvl6pPr marL="2068547" algn="l" defTabSz="827419" rtl="0" eaLnBrk="1" latinLnBrk="0" hangingPunct="1">
                        <a:defRPr sz="1700" kern="1200">
                          <a:solidFill>
                            <a:schemeClr val="dk1"/>
                          </a:solidFill>
                          <a:latin typeface="Verdana"/>
                        </a:defRPr>
                      </a:lvl6pPr>
                      <a:lvl7pPr marL="2482242" algn="l" defTabSz="827419" rtl="0" eaLnBrk="1" latinLnBrk="0" hangingPunct="1">
                        <a:defRPr sz="1700" kern="1200">
                          <a:solidFill>
                            <a:schemeClr val="dk1"/>
                          </a:solidFill>
                          <a:latin typeface="Verdana"/>
                        </a:defRPr>
                      </a:lvl7pPr>
                      <a:lvl8pPr marL="2895943" algn="l" defTabSz="827419" rtl="0" eaLnBrk="1" latinLnBrk="0" hangingPunct="1">
                        <a:defRPr sz="1700" kern="1200">
                          <a:solidFill>
                            <a:schemeClr val="dk1"/>
                          </a:solidFill>
                          <a:latin typeface="Verdana"/>
                        </a:defRPr>
                      </a:lvl8pPr>
                      <a:lvl9pPr marL="3309652" algn="l" defTabSz="827419" rtl="0" eaLnBrk="1" latinLnBrk="0" hangingPunct="1">
                        <a:defRPr sz="1700" kern="1200">
                          <a:solidFill>
                            <a:schemeClr val="dk1"/>
                          </a:solidFill>
                          <a:latin typeface="Verdana"/>
                        </a:defRPr>
                      </a:lvl9pPr>
                    </a:lstStyle>
                    <a:p>
                      <a:endParaRPr lang="en-IN" sz="1200" dirty="0"/>
                    </a:p>
                  </a:txBody>
                  <a:tcPr marL="68750" marR="68750" marT="34375" marB="34375">
                    <a:lnL w="12700" cap="flat" cmpd="sng" algn="ctr">
                      <a:noFill/>
                      <a:prstDash val="solid"/>
                      <a:round/>
                      <a:headEnd type="none" w="med" len="med"/>
                      <a:tailEnd type="none" w="med" len="med"/>
                    </a:lnL>
                    <a:lnR w="12700" cap="flat" cmpd="sng" algn="ctr">
                      <a:solidFill>
                        <a:srgbClr val="53565A">
                          <a:lumMod val="40000"/>
                          <a:lumOff val="60000"/>
                        </a:srgbClr>
                      </a:solidFill>
                      <a:prstDash val="solid"/>
                      <a:round/>
                      <a:headEnd type="none" w="med" len="med"/>
                      <a:tailEnd type="none" w="med" len="med"/>
                    </a:lnR>
                    <a:lnT w="12700" cap="flat" cmpd="sng" algn="ctr">
                      <a:solidFill>
                        <a:srgbClr val="53565A">
                          <a:lumMod val="40000"/>
                          <a:lumOff val="60000"/>
                        </a:srgbClr>
                      </a:solidFill>
                      <a:prstDash val="solid"/>
                      <a:round/>
                      <a:headEnd type="none" w="med" len="med"/>
                      <a:tailEnd type="none" w="med" len="med"/>
                    </a:lnT>
                    <a:lnB w="12700" cap="flat" cmpd="sng" algn="ctr">
                      <a:solidFill>
                        <a:srgbClr val="53565A">
                          <a:lumMod val="40000"/>
                          <a:lumOff val="6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513570476"/>
                  </a:ext>
                </a:extLst>
              </a:tr>
              <a:tr h="1061244">
                <a:tc>
                  <a:txBody>
                    <a:bodyPr/>
                    <a:lstStyle/>
                    <a:p>
                      <a:pPr algn="l"/>
                      <a:r>
                        <a:rPr lang="en-US" sz="1200" b="1" dirty="0"/>
                        <a:t>Project Management Method and Tools</a:t>
                      </a:r>
                    </a:p>
                  </a:txBody>
                  <a:tcPr marL="68750" marR="68750" marT="34375" marB="34375" anchor="ctr">
                    <a:lnL w="12700" cap="flat" cmpd="sng" algn="ctr">
                      <a:solidFill>
                        <a:srgbClr val="53565A">
                          <a:lumMod val="40000"/>
                          <a:lumOff val="6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53565A">
                          <a:lumMod val="40000"/>
                          <a:lumOff val="60000"/>
                        </a:srgbClr>
                      </a:solidFill>
                      <a:prstDash val="solid"/>
                      <a:round/>
                      <a:headEnd type="none" w="med" len="med"/>
                      <a:tailEnd type="none" w="med" len="med"/>
                    </a:lnT>
                    <a:lnB w="12700" cap="flat" cmpd="sng" algn="ctr">
                      <a:solidFill>
                        <a:srgbClr val="53565A">
                          <a:lumMod val="40000"/>
                          <a:lumOff val="6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endParaRPr lang="en-IN" sz="1200" dirty="0"/>
                    </a:p>
                  </a:txBody>
                  <a:tcPr marL="68750" marR="68750" marT="34375" marB="34375">
                    <a:lnL w="12700" cap="flat" cmpd="sng" algn="ctr">
                      <a:noFill/>
                      <a:prstDash val="solid"/>
                      <a:round/>
                      <a:headEnd type="none" w="med" len="med"/>
                      <a:tailEnd type="none" w="med" len="med"/>
                    </a:lnL>
                    <a:lnR w="12700" cap="flat" cmpd="sng" algn="ctr">
                      <a:solidFill>
                        <a:srgbClr val="53565A">
                          <a:lumMod val="40000"/>
                          <a:lumOff val="60000"/>
                        </a:srgbClr>
                      </a:solidFill>
                      <a:prstDash val="solid"/>
                      <a:round/>
                      <a:headEnd type="none" w="med" len="med"/>
                      <a:tailEnd type="none" w="med" len="med"/>
                    </a:lnR>
                    <a:lnT w="12700" cap="flat" cmpd="sng" algn="ctr">
                      <a:solidFill>
                        <a:srgbClr val="53565A">
                          <a:lumMod val="40000"/>
                          <a:lumOff val="60000"/>
                        </a:srgbClr>
                      </a:solidFill>
                      <a:prstDash val="solid"/>
                      <a:round/>
                      <a:headEnd type="none" w="med" len="med"/>
                      <a:tailEnd type="none" w="med" len="med"/>
                    </a:lnT>
                    <a:lnB w="12700" cap="flat" cmpd="sng" algn="ctr">
                      <a:solidFill>
                        <a:srgbClr val="53565A">
                          <a:lumMod val="40000"/>
                          <a:lumOff val="6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293372502"/>
                  </a:ext>
                </a:extLst>
              </a:tr>
              <a:tr h="1061244">
                <a:tc>
                  <a:txBody>
                    <a:bodyPr/>
                    <a:lstStyle/>
                    <a:p>
                      <a:pPr algn="l"/>
                      <a:r>
                        <a:rPr lang="en-US" sz="1200" b="1" dirty="0"/>
                        <a:t>DELOITTE’s ADVANTAGE PORTFOLIO FRAMEWORK</a:t>
                      </a:r>
                    </a:p>
                  </a:txBody>
                  <a:tcPr marL="68750" marR="68750" marT="34375" marB="34375" anchor="ctr">
                    <a:lnL w="12700" cap="flat" cmpd="sng" algn="ctr">
                      <a:solidFill>
                        <a:srgbClr val="53565A">
                          <a:lumMod val="40000"/>
                          <a:lumOff val="6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53565A">
                          <a:lumMod val="40000"/>
                          <a:lumOff val="60000"/>
                        </a:srgbClr>
                      </a:solidFill>
                      <a:prstDash val="solid"/>
                      <a:round/>
                      <a:headEnd type="none" w="med" len="med"/>
                      <a:tailEnd type="none" w="med" len="med"/>
                    </a:lnT>
                    <a:lnB w="12700" cap="flat" cmpd="sng" algn="ctr">
                      <a:solidFill>
                        <a:srgbClr val="53565A">
                          <a:lumMod val="40000"/>
                          <a:lumOff val="6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endParaRPr lang="en-IN" sz="1200" dirty="0"/>
                    </a:p>
                  </a:txBody>
                  <a:tcPr marL="68750" marR="68750" marT="34375" marB="34375">
                    <a:lnL w="12700" cap="flat" cmpd="sng" algn="ctr">
                      <a:noFill/>
                      <a:prstDash val="solid"/>
                      <a:round/>
                      <a:headEnd type="none" w="med" len="med"/>
                      <a:tailEnd type="none" w="med" len="med"/>
                    </a:lnL>
                    <a:lnR w="12700" cap="flat" cmpd="sng" algn="ctr">
                      <a:solidFill>
                        <a:srgbClr val="53565A">
                          <a:lumMod val="40000"/>
                          <a:lumOff val="60000"/>
                        </a:srgbClr>
                      </a:solidFill>
                      <a:prstDash val="solid"/>
                      <a:round/>
                      <a:headEnd type="none" w="med" len="med"/>
                      <a:tailEnd type="none" w="med" len="med"/>
                    </a:lnR>
                    <a:lnT w="12700" cap="flat" cmpd="sng" algn="ctr">
                      <a:solidFill>
                        <a:srgbClr val="53565A">
                          <a:lumMod val="40000"/>
                          <a:lumOff val="60000"/>
                        </a:srgbClr>
                      </a:solidFill>
                      <a:prstDash val="solid"/>
                      <a:round/>
                      <a:headEnd type="none" w="med" len="med"/>
                      <a:tailEnd type="none" w="med" len="med"/>
                    </a:lnT>
                    <a:lnB w="12700" cap="flat" cmpd="sng" algn="ctr">
                      <a:solidFill>
                        <a:srgbClr val="53565A">
                          <a:lumMod val="40000"/>
                          <a:lumOff val="6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268321995"/>
                  </a:ext>
                </a:extLst>
              </a:tr>
            </a:tbl>
          </a:graphicData>
        </a:graphic>
      </p:graphicFrame>
      <p:grpSp>
        <p:nvGrpSpPr>
          <p:cNvPr id="2" name="Group 1">
            <a:extLst>
              <a:ext uri="{FF2B5EF4-FFF2-40B4-BE49-F238E27FC236}">
                <a16:creationId xmlns:a16="http://schemas.microsoft.com/office/drawing/2014/main" id="{D808AF70-E4AF-489E-9135-79199BA8BE6F}"/>
              </a:ext>
            </a:extLst>
          </p:cNvPr>
          <p:cNvGrpSpPr/>
          <p:nvPr/>
        </p:nvGrpSpPr>
        <p:grpSpPr>
          <a:xfrm>
            <a:off x="8609714" y="2166879"/>
            <a:ext cx="1795899" cy="865250"/>
            <a:chOff x="8609714" y="2166879"/>
            <a:chExt cx="1795899" cy="865250"/>
          </a:xfrm>
        </p:grpSpPr>
        <p:sp>
          <p:nvSpPr>
            <p:cNvPr id="26" name="Rectangle 25">
              <a:extLst>
                <a:ext uri="{FF2B5EF4-FFF2-40B4-BE49-F238E27FC236}">
                  <a16:creationId xmlns:a16="http://schemas.microsoft.com/office/drawing/2014/main" id="{D6BCCB89-2B99-46D8-83AB-7DACA76EA248}"/>
                </a:ext>
              </a:extLst>
            </p:cNvPr>
            <p:cNvSpPr/>
            <p:nvPr/>
          </p:nvSpPr>
          <p:spPr>
            <a:xfrm>
              <a:off x="8609714" y="2166879"/>
              <a:ext cx="1795899" cy="8652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23438" eaLnBrk="0" fontAlgn="base" hangingPunct="0">
                <a:spcBef>
                  <a:spcPct val="0"/>
                </a:spcBef>
                <a:spcAft>
                  <a:spcPct val="0"/>
                </a:spcAft>
                <a:defRPr/>
              </a:pPr>
              <a:endParaRPr lang="en-US" sz="1227" dirty="0">
                <a:solidFill>
                  <a:prstClr val="white"/>
                </a:solidFill>
                <a:latin typeface="Verdana"/>
              </a:endParaRPr>
            </a:p>
          </p:txBody>
        </p:sp>
        <p:pic>
          <p:nvPicPr>
            <p:cNvPr id="27" name="Picture 26">
              <a:extLst>
                <a:ext uri="{FF2B5EF4-FFF2-40B4-BE49-F238E27FC236}">
                  <a16:creationId xmlns:a16="http://schemas.microsoft.com/office/drawing/2014/main" id="{6DDB0AFC-17DC-4CC2-BF57-A43995544F73}"/>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939353" y="2260216"/>
              <a:ext cx="1136620" cy="686694"/>
            </a:xfrm>
            <a:prstGeom prst="rect">
              <a:avLst/>
            </a:prstGeom>
          </p:spPr>
        </p:pic>
      </p:grpSp>
      <p:pic>
        <p:nvPicPr>
          <p:cNvPr id="28" name="Picture 27">
            <a:extLst>
              <a:ext uri="{FF2B5EF4-FFF2-40B4-BE49-F238E27FC236}">
                <a16:creationId xmlns:a16="http://schemas.microsoft.com/office/drawing/2014/main" id="{AA845A44-D133-47FB-AF8D-929A4254F9C7}"/>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8610820" y="3154057"/>
            <a:ext cx="1794793" cy="865250"/>
          </a:xfrm>
          <a:prstGeom prst="rect">
            <a:avLst/>
          </a:prstGeom>
        </p:spPr>
      </p:pic>
      <p:pic>
        <p:nvPicPr>
          <p:cNvPr id="29" name="Picture 28">
            <a:extLst>
              <a:ext uri="{FF2B5EF4-FFF2-40B4-BE49-F238E27FC236}">
                <a16:creationId xmlns:a16="http://schemas.microsoft.com/office/drawing/2014/main" id="{78B764E1-4886-4801-BADC-A8C890E0E3DB}"/>
              </a:ext>
            </a:extLst>
          </p:cNvPr>
          <p:cNvPicPr/>
          <p:nvPr/>
        </p:nvPicPr>
        <p:blipFill>
          <a:blip r:embed="rId9" cstate="email">
            <a:extLst>
              <a:ext uri="{28A0092B-C50C-407E-A947-70E740481C1C}">
                <a14:useLocalDpi xmlns:a14="http://schemas.microsoft.com/office/drawing/2010/main"/>
              </a:ext>
            </a:extLst>
          </a:blip>
          <a:srcRect/>
          <a:stretch>
            <a:fillRect/>
          </a:stretch>
        </p:blipFill>
        <p:spPr bwMode="auto">
          <a:xfrm>
            <a:off x="8576977" y="4161976"/>
            <a:ext cx="1794793" cy="981938"/>
          </a:xfrm>
          <a:prstGeom prst="rect">
            <a:avLst/>
          </a:prstGeom>
          <a:noFill/>
        </p:spPr>
      </p:pic>
      <p:pic>
        <p:nvPicPr>
          <p:cNvPr id="30" name="Picture 29">
            <a:extLst>
              <a:ext uri="{FF2B5EF4-FFF2-40B4-BE49-F238E27FC236}">
                <a16:creationId xmlns:a16="http://schemas.microsoft.com/office/drawing/2014/main" id="{6EE2830F-D8EE-42CA-BB92-40CA38A3B0FA}"/>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8608485" y="5268796"/>
            <a:ext cx="1818093" cy="828836"/>
          </a:xfrm>
          <a:prstGeom prst="rect">
            <a:avLst/>
          </a:prstGeom>
          <a:ln>
            <a:solidFill>
              <a:srgbClr val="618918"/>
            </a:solidFill>
          </a:ln>
        </p:spPr>
      </p:pic>
    </p:spTree>
    <p:extLst>
      <p:ext uri="{BB962C8B-B14F-4D97-AF65-F5344CB8AC3E}">
        <p14:creationId xmlns:p14="http://schemas.microsoft.com/office/powerpoint/2010/main" val="189429964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5" name="Rectangle 4" hidden="1"/>
          <p:cNvSpPr/>
          <p:nvPr>
            <p:custDataLst>
              <p:tags r:id="rId2"/>
            </p:custDataLst>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rtlCol="0" anchor="ctr"/>
          <a:lstStyle/>
          <a:p>
            <a:pPr algn="ctr" defTabSz="945677">
              <a:spcBef>
                <a:spcPct val="0"/>
              </a:spcBef>
              <a:spcAft>
                <a:spcPct val="0"/>
              </a:spcAft>
              <a:defRPr/>
            </a:pPr>
            <a:endParaRPr lang="en-US" sz="2282" dirty="0">
              <a:solidFill>
                <a:prstClr val="white"/>
              </a:solidFill>
              <a:latin typeface="Verdana" panose="020B0604030504040204" pitchFamily="34" charset="0"/>
              <a:sym typeface="Verdana" panose="020B0604030504040204" pitchFamily="34" charset="0"/>
            </a:endParaRPr>
          </a:p>
        </p:txBody>
      </p:sp>
      <p:sp>
        <p:nvSpPr>
          <p:cNvPr id="3" name="Title 2"/>
          <p:cNvSpPr>
            <a:spLocks noGrp="1"/>
          </p:cNvSpPr>
          <p:nvPr>
            <p:ph type="title"/>
          </p:nvPr>
        </p:nvSpPr>
        <p:spPr/>
        <p:txBody>
          <a:bodyPr/>
          <a:lstStyle/>
          <a:p>
            <a:r>
              <a:rPr lang="en-US" dirty="0"/>
              <a:t>WBSEDCL’s profitability has declined over the years</a:t>
            </a:r>
            <a:endParaRPr lang="en-IN" sz="2176" dirty="0"/>
          </a:p>
        </p:txBody>
      </p:sp>
      <p:graphicFrame>
        <p:nvGraphicFramePr>
          <p:cNvPr id="16" name="Chart 15"/>
          <p:cNvGraphicFramePr/>
          <p:nvPr/>
        </p:nvGraphicFramePr>
        <p:xfrm>
          <a:off x="501871" y="997785"/>
          <a:ext cx="11161911" cy="2292692"/>
        </p:xfrm>
        <a:graphic>
          <a:graphicData uri="http://schemas.openxmlformats.org/drawingml/2006/chart">
            <c:chart xmlns:c="http://schemas.openxmlformats.org/drawingml/2006/chart" xmlns:r="http://schemas.openxmlformats.org/officeDocument/2006/relationships" r:id="rId6"/>
          </a:graphicData>
        </a:graphic>
      </p:graphicFrame>
      <p:sp>
        <p:nvSpPr>
          <p:cNvPr id="72" name="TextBox 71"/>
          <p:cNvSpPr txBox="1"/>
          <p:nvPr/>
        </p:nvSpPr>
        <p:spPr>
          <a:xfrm>
            <a:off x="7574724" y="6650396"/>
            <a:ext cx="3913124" cy="139590"/>
          </a:xfrm>
          <a:prstGeom prst="rect">
            <a:avLst/>
          </a:prstGeom>
          <a:noFill/>
        </p:spPr>
        <p:txBody>
          <a:bodyPr wrap="square" lIns="0" tIns="0" rIns="0" bIns="0" rtlCol="0">
            <a:spAutoFit/>
          </a:bodyPr>
          <a:lstStyle/>
          <a:p>
            <a:pPr algn="r">
              <a:spcBef>
                <a:spcPts val="544"/>
              </a:spcBef>
              <a:buSzPct val="100000"/>
            </a:pPr>
            <a:r>
              <a:rPr lang="en-GB" sz="907" i="1" dirty="0">
                <a:solidFill>
                  <a:srgbClr val="313131"/>
                </a:solidFill>
              </a:rPr>
              <a:t>Data source: WBSEDCL’s Annual Reports</a:t>
            </a:r>
          </a:p>
        </p:txBody>
      </p:sp>
      <p:graphicFrame>
        <p:nvGraphicFramePr>
          <p:cNvPr id="48" name="Chart 47"/>
          <p:cNvGraphicFramePr/>
          <p:nvPr/>
        </p:nvGraphicFramePr>
        <p:xfrm>
          <a:off x="501871" y="3824091"/>
          <a:ext cx="11161911" cy="2292692"/>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15895992"/>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5" name="Rectangle 4" hidden="1"/>
          <p:cNvSpPr/>
          <p:nvPr>
            <p:custDataLst>
              <p:tags r:id="rId2"/>
            </p:custDataLst>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rtlCol="0" anchor="ctr"/>
          <a:lstStyle/>
          <a:p>
            <a:pPr algn="ctr" defTabSz="945677">
              <a:spcBef>
                <a:spcPct val="0"/>
              </a:spcBef>
              <a:spcAft>
                <a:spcPct val="0"/>
              </a:spcAft>
              <a:defRPr/>
            </a:pPr>
            <a:endParaRPr lang="en-US" sz="2282" dirty="0">
              <a:solidFill>
                <a:prstClr val="white"/>
              </a:solidFill>
              <a:latin typeface="Verdana" panose="020B0604030504040204" pitchFamily="34" charset="0"/>
              <a:sym typeface="Verdana" panose="020B0604030504040204" pitchFamily="34" charset="0"/>
            </a:endParaRPr>
          </a:p>
        </p:txBody>
      </p:sp>
      <p:sp>
        <p:nvSpPr>
          <p:cNvPr id="3" name="Title 2"/>
          <p:cNvSpPr>
            <a:spLocks noGrp="1"/>
          </p:cNvSpPr>
          <p:nvPr>
            <p:ph type="title"/>
          </p:nvPr>
        </p:nvSpPr>
        <p:spPr/>
        <p:txBody>
          <a:bodyPr/>
          <a:lstStyle/>
          <a:p>
            <a:r>
              <a:rPr lang="en-US" dirty="0"/>
              <a:t>Irregular tariff revision and truing-up have contributed to the declining profitability of WBSEDCL</a:t>
            </a:r>
            <a:endParaRPr lang="en-IN" sz="2176" dirty="0"/>
          </a:p>
        </p:txBody>
      </p:sp>
      <p:sp>
        <p:nvSpPr>
          <p:cNvPr id="19" name="TextBox 18"/>
          <p:cNvSpPr txBox="1"/>
          <p:nvPr/>
        </p:nvSpPr>
        <p:spPr>
          <a:xfrm>
            <a:off x="1378551" y="1293907"/>
            <a:ext cx="1227269" cy="326895"/>
          </a:xfrm>
          <a:prstGeom prst="chevron">
            <a:avLst/>
          </a:prstGeom>
          <a:solidFill>
            <a:srgbClr val="012169"/>
          </a:solidFill>
        </p:spPr>
        <p:txBody>
          <a:bodyPr wrap="square" lIns="0" tIns="0" rIns="0" bIns="0" rtlCol="0" anchor="ctr" anchorCtr="0">
            <a:noAutofit/>
          </a:bodyPr>
          <a:lstStyle>
            <a:defPPr>
              <a:defRPr lang="en-US"/>
            </a:defPPr>
            <a:lvl1pPr algn="ctr">
              <a:spcBef>
                <a:spcPts val="600"/>
              </a:spcBef>
              <a:buSzPct val="100000"/>
              <a:defRPr sz="1400">
                <a:solidFill>
                  <a:schemeClr val="bg1"/>
                </a:solidFill>
              </a:defRPr>
            </a:lvl1pPr>
          </a:lstStyle>
          <a:p>
            <a:r>
              <a:rPr lang="en-GB" sz="1270" dirty="0"/>
              <a:t>FY11</a:t>
            </a:r>
          </a:p>
        </p:txBody>
      </p:sp>
      <p:sp>
        <p:nvSpPr>
          <p:cNvPr id="20" name="TextBox 19"/>
          <p:cNvSpPr txBox="1"/>
          <p:nvPr/>
        </p:nvSpPr>
        <p:spPr>
          <a:xfrm>
            <a:off x="6012544" y="1293907"/>
            <a:ext cx="1227269" cy="326895"/>
          </a:xfrm>
          <a:prstGeom prst="chevron">
            <a:avLst/>
          </a:prstGeom>
          <a:solidFill>
            <a:srgbClr val="012169"/>
          </a:solidFill>
        </p:spPr>
        <p:txBody>
          <a:bodyPr wrap="square" lIns="0" tIns="0" rIns="0" bIns="0" rtlCol="0" anchor="ctr" anchorCtr="0">
            <a:noAutofit/>
          </a:bodyPr>
          <a:lstStyle/>
          <a:p>
            <a:pPr algn="ctr">
              <a:spcBef>
                <a:spcPts val="544"/>
              </a:spcBef>
              <a:buSzPct val="100000"/>
            </a:pPr>
            <a:r>
              <a:rPr lang="en-GB" sz="1270" dirty="0">
                <a:solidFill>
                  <a:schemeClr val="bg1"/>
                </a:solidFill>
              </a:rPr>
              <a:t>FY15</a:t>
            </a:r>
          </a:p>
        </p:txBody>
      </p:sp>
      <p:sp>
        <p:nvSpPr>
          <p:cNvPr id="21" name="TextBox 20"/>
          <p:cNvSpPr txBox="1"/>
          <p:nvPr/>
        </p:nvSpPr>
        <p:spPr>
          <a:xfrm>
            <a:off x="7171042" y="1293907"/>
            <a:ext cx="1227269" cy="326895"/>
          </a:xfrm>
          <a:prstGeom prst="chevron">
            <a:avLst/>
          </a:prstGeom>
          <a:solidFill>
            <a:srgbClr val="012169"/>
          </a:solidFill>
        </p:spPr>
        <p:txBody>
          <a:bodyPr wrap="square" lIns="0" tIns="0" rIns="0" bIns="0" rtlCol="0" anchor="ctr" anchorCtr="0">
            <a:noAutofit/>
          </a:bodyPr>
          <a:lstStyle/>
          <a:p>
            <a:pPr algn="ctr">
              <a:spcBef>
                <a:spcPts val="544"/>
              </a:spcBef>
              <a:buSzPct val="100000"/>
            </a:pPr>
            <a:r>
              <a:rPr lang="en-GB" sz="1270" dirty="0">
                <a:solidFill>
                  <a:schemeClr val="bg1"/>
                </a:solidFill>
              </a:rPr>
              <a:t>FY16</a:t>
            </a:r>
          </a:p>
        </p:txBody>
      </p:sp>
      <p:sp>
        <p:nvSpPr>
          <p:cNvPr id="22" name="TextBox 21"/>
          <p:cNvSpPr txBox="1"/>
          <p:nvPr/>
        </p:nvSpPr>
        <p:spPr>
          <a:xfrm>
            <a:off x="8329540" y="1293907"/>
            <a:ext cx="1227269" cy="326895"/>
          </a:xfrm>
          <a:prstGeom prst="chevron">
            <a:avLst/>
          </a:prstGeom>
          <a:solidFill>
            <a:srgbClr val="012169"/>
          </a:solidFill>
        </p:spPr>
        <p:txBody>
          <a:bodyPr wrap="square" lIns="0" tIns="0" rIns="0" bIns="0" rtlCol="0" anchor="ctr" anchorCtr="0">
            <a:noAutofit/>
          </a:bodyPr>
          <a:lstStyle/>
          <a:p>
            <a:pPr algn="ctr">
              <a:spcBef>
                <a:spcPts val="544"/>
              </a:spcBef>
              <a:buSzPct val="100000"/>
            </a:pPr>
            <a:r>
              <a:rPr lang="en-GB" sz="1270" dirty="0">
                <a:solidFill>
                  <a:schemeClr val="bg1"/>
                </a:solidFill>
              </a:rPr>
              <a:t>FY17</a:t>
            </a:r>
          </a:p>
        </p:txBody>
      </p:sp>
      <p:sp>
        <p:nvSpPr>
          <p:cNvPr id="23" name="TextBox 22"/>
          <p:cNvSpPr txBox="1"/>
          <p:nvPr/>
        </p:nvSpPr>
        <p:spPr>
          <a:xfrm>
            <a:off x="9488038" y="1293907"/>
            <a:ext cx="1227269" cy="326895"/>
          </a:xfrm>
          <a:prstGeom prst="chevron">
            <a:avLst/>
          </a:prstGeom>
          <a:solidFill>
            <a:srgbClr val="012169"/>
          </a:solidFill>
        </p:spPr>
        <p:txBody>
          <a:bodyPr wrap="square" lIns="0" tIns="0" rIns="0" bIns="0" rtlCol="0" anchor="ctr" anchorCtr="0">
            <a:noAutofit/>
          </a:bodyPr>
          <a:lstStyle/>
          <a:p>
            <a:pPr algn="ctr">
              <a:spcBef>
                <a:spcPts val="544"/>
              </a:spcBef>
              <a:buSzPct val="100000"/>
            </a:pPr>
            <a:r>
              <a:rPr lang="en-GB" sz="1270" dirty="0">
                <a:solidFill>
                  <a:schemeClr val="bg1"/>
                </a:solidFill>
              </a:rPr>
              <a:t>FY18</a:t>
            </a:r>
          </a:p>
        </p:txBody>
      </p:sp>
      <p:sp>
        <p:nvSpPr>
          <p:cNvPr id="24" name="TextBox 23"/>
          <p:cNvSpPr txBox="1"/>
          <p:nvPr/>
        </p:nvSpPr>
        <p:spPr>
          <a:xfrm>
            <a:off x="10646536" y="1293907"/>
            <a:ext cx="1227269" cy="326895"/>
          </a:xfrm>
          <a:prstGeom prst="chevron">
            <a:avLst/>
          </a:prstGeom>
          <a:noFill/>
          <a:ln>
            <a:solidFill>
              <a:schemeClr val="tx1"/>
            </a:solidFill>
            <a:prstDash val="dash"/>
          </a:ln>
        </p:spPr>
        <p:txBody>
          <a:bodyPr wrap="square" lIns="0" tIns="0" rIns="0" bIns="0" rtlCol="0" anchor="ctr" anchorCtr="0">
            <a:noAutofit/>
          </a:bodyPr>
          <a:lstStyle>
            <a:defPPr>
              <a:defRPr lang="en-US"/>
            </a:defPPr>
            <a:lvl1pPr algn="ctr">
              <a:spcBef>
                <a:spcPts val="600"/>
              </a:spcBef>
              <a:buSzPct val="100000"/>
              <a:defRPr sz="1400"/>
            </a:lvl1pPr>
          </a:lstStyle>
          <a:p>
            <a:r>
              <a:rPr lang="en-GB" sz="1270" dirty="0"/>
              <a:t>FY19</a:t>
            </a:r>
          </a:p>
        </p:txBody>
      </p:sp>
      <p:sp>
        <p:nvSpPr>
          <p:cNvPr id="42" name="TextBox 41"/>
          <p:cNvSpPr txBox="1"/>
          <p:nvPr/>
        </p:nvSpPr>
        <p:spPr>
          <a:xfrm>
            <a:off x="484132" y="5331701"/>
            <a:ext cx="927788" cy="502253"/>
          </a:xfrm>
          <a:prstGeom prst="rect">
            <a:avLst/>
          </a:prstGeom>
          <a:solidFill>
            <a:schemeClr val="bg1"/>
          </a:solidFill>
        </p:spPr>
        <p:txBody>
          <a:bodyPr wrap="square" lIns="0" tIns="0" rIns="0" bIns="0" rtlCol="0">
            <a:spAutoFit/>
          </a:bodyPr>
          <a:lstStyle/>
          <a:p>
            <a:pPr>
              <a:buSzPct val="100000"/>
            </a:pPr>
            <a:r>
              <a:rPr lang="en-GB" sz="1088" dirty="0">
                <a:solidFill>
                  <a:srgbClr val="313131"/>
                </a:solidFill>
              </a:rPr>
              <a:t>Avg. Tariff (</a:t>
            </a:r>
            <a:r>
              <a:rPr lang="en-GB" sz="1088" dirty="0" err="1">
                <a:solidFill>
                  <a:srgbClr val="313131"/>
                </a:solidFill>
              </a:rPr>
              <a:t>Rs</a:t>
            </a:r>
            <a:r>
              <a:rPr lang="en-GB" sz="1088" dirty="0">
                <a:solidFill>
                  <a:srgbClr val="313131"/>
                </a:solidFill>
              </a:rPr>
              <a:t>./unit):</a:t>
            </a:r>
          </a:p>
          <a:p>
            <a:pPr>
              <a:buSzPct val="100000"/>
            </a:pPr>
            <a:r>
              <a:rPr lang="en-GB" sz="1088" i="1" dirty="0">
                <a:solidFill>
                  <a:srgbClr val="313131"/>
                </a:solidFill>
              </a:rPr>
              <a:t>(excl. MVCA)</a:t>
            </a:r>
          </a:p>
        </p:txBody>
      </p:sp>
      <p:cxnSp>
        <p:nvCxnSpPr>
          <p:cNvPr id="53" name="Straight Arrow Connector 52"/>
          <p:cNvCxnSpPr/>
          <p:nvPr/>
        </p:nvCxnSpPr>
        <p:spPr>
          <a:xfrm>
            <a:off x="1673337" y="5842823"/>
            <a:ext cx="1501481" cy="0"/>
          </a:xfrm>
          <a:prstGeom prst="straightConnector1">
            <a:avLst/>
          </a:prstGeom>
          <a:ln>
            <a:solidFill>
              <a:schemeClr val="tx2"/>
            </a:solidFill>
            <a:prstDash val="dash"/>
            <a:tailEnd type="arrow" w="med"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3353253" y="5853599"/>
            <a:ext cx="1027007" cy="0"/>
          </a:xfrm>
          <a:prstGeom prst="straightConnector1">
            <a:avLst/>
          </a:prstGeom>
          <a:ln>
            <a:solidFill>
              <a:schemeClr val="tx2"/>
            </a:solidFill>
            <a:prstDash val="dash"/>
            <a:tailEnd type="arrow" w="med"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2048850" y="5767749"/>
            <a:ext cx="686009" cy="167418"/>
          </a:xfrm>
          <a:prstGeom prst="rect">
            <a:avLst/>
          </a:prstGeom>
          <a:solidFill>
            <a:schemeClr val="bg1"/>
          </a:solidFill>
        </p:spPr>
        <p:txBody>
          <a:bodyPr wrap="square" lIns="0" tIns="0" rIns="0" bIns="0" rtlCol="0">
            <a:spAutoFit/>
          </a:bodyPr>
          <a:lstStyle/>
          <a:p>
            <a:pPr algn="ctr">
              <a:buSzPct val="100000"/>
            </a:pPr>
            <a:r>
              <a:rPr lang="en-GB" sz="1088" i="1" dirty="0">
                <a:solidFill>
                  <a:srgbClr val="313131"/>
                </a:solidFill>
              </a:rPr>
              <a:t>5% hike</a:t>
            </a:r>
          </a:p>
        </p:txBody>
      </p:sp>
      <p:sp>
        <p:nvSpPr>
          <p:cNvPr id="68" name="TextBox 67"/>
          <p:cNvSpPr txBox="1"/>
          <p:nvPr/>
        </p:nvSpPr>
        <p:spPr>
          <a:xfrm>
            <a:off x="3478194" y="5767749"/>
            <a:ext cx="686009" cy="167418"/>
          </a:xfrm>
          <a:prstGeom prst="rect">
            <a:avLst/>
          </a:prstGeom>
          <a:solidFill>
            <a:schemeClr val="bg1"/>
          </a:solidFill>
        </p:spPr>
        <p:txBody>
          <a:bodyPr wrap="square" lIns="0" tIns="0" rIns="0" bIns="0" rtlCol="0">
            <a:spAutoFit/>
          </a:bodyPr>
          <a:lstStyle/>
          <a:p>
            <a:pPr algn="ctr">
              <a:buSzPct val="100000"/>
            </a:pPr>
            <a:r>
              <a:rPr lang="en-GB" sz="1088" i="1" dirty="0">
                <a:solidFill>
                  <a:srgbClr val="313131"/>
                </a:solidFill>
              </a:rPr>
              <a:t>22% hike</a:t>
            </a:r>
          </a:p>
        </p:txBody>
      </p:sp>
      <p:sp>
        <p:nvSpPr>
          <p:cNvPr id="71" name="TextBox 70"/>
          <p:cNvSpPr txBox="1"/>
          <p:nvPr/>
        </p:nvSpPr>
        <p:spPr>
          <a:xfrm>
            <a:off x="462739" y="6122476"/>
            <a:ext cx="11164597" cy="454996"/>
          </a:xfrm>
          <a:prstGeom prst="rect">
            <a:avLst/>
          </a:prstGeom>
          <a:solidFill>
            <a:schemeClr val="bg1"/>
          </a:solidFill>
        </p:spPr>
        <p:txBody>
          <a:bodyPr wrap="square" lIns="0" tIns="0" rIns="0" bIns="0" rtlCol="0">
            <a:spAutoFit/>
          </a:bodyPr>
          <a:lstStyle/>
          <a:p>
            <a:pPr marL="259118" indent="-259118">
              <a:spcBef>
                <a:spcPts val="544"/>
              </a:spcBef>
              <a:buSzPct val="100000"/>
              <a:buFont typeface="Arial" panose="020B0604020202020204" pitchFamily="34" charset="0"/>
              <a:buChar char="•"/>
            </a:pPr>
            <a:r>
              <a:rPr lang="en-GB" sz="1270" dirty="0">
                <a:solidFill>
                  <a:srgbClr val="313131"/>
                </a:solidFill>
              </a:rPr>
              <a:t>No tariff revision since 28 Oct 2016</a:t>
            </a:r>
          </a:p>
          <a:p>
            <a:pPr marL="259118" indent="-259118">
              <a:spcBef>
                <a:spcPts val="544"/>
              </a:spcBef>
              <a:buSzPct val="100000"/>
              <a:buFont typeface="Arial" panose="020B0604020202020204" pitchFamily="34" charset="0"/>
              <a:buChar char="•"/>
            </a:pPr>
            <a:r>
              <a:rPr lang="en-GB" sz="1270" dirty="0">
                <a:solidFill>
                  <a:srgbClr val="313131"/>
                </a:solidFill>
              </a:rPr>
              <a:t>In addition to irregular tariff revision, </a:t>
            </a:r>
            <a:r>
              <a:rPr lang="en-GB" sz="1270" b="1" dirty="0">
                <a:solidFill>
                  <a:srgbClr val="313131"/>
                </a:solidFill>
              </a:rPr>
              <a:t>WBERC is yet to issue True-up Orders for FY 2013-14 onwards</a:t>
            </a:r>
          </a:p>
        </p:txBody>
      </p:sp>
      <p:sp>
        <p:nvSpPr>
          <p:cNvPr id="72" name="TextBox 71"/>
          <p:cNvSpPr txBox="1"/>
          <p:nvPr/>
        </p:nvSpPr>
        <p:spPr>
          <a:xfrm>
            <a:off x="7574724" y="6650396"/>
            <a:ext cx="3913124" cy="139590"/>
          </a:xfrm>
          <a:prstGeom prst="rect">
            <a:avLst/>
          </a:prstGeom>
          <a:noFill/>
        </p:spPr>
        <p:txBody>
          <a:bodyPr wrap="square" lIns="0" tIns="0" rIns="0" bIns="0" rtlCol="0">
            <a:spAutoFit/>
          </a:bodyPr>
          <a:lstStyle/>
          <a:p>
            <a:pPr algn="r">
              <a:spcBef>
                <a:spcPts val="544"/>
              </a:spcBef>
              <a:buSzPct val="100000"/>
            </a:pPr>
            <a:r>
              <a:rPr lang="en-GB" sz="907" i="1" dirty="0">
                <a:solidFill>
                  <a:srgbClr val="313131"/>
                </a:solidFill>
              </a:rPr>
              <a:t>Data source: WBSEDCL Tariff Orders</a:t>
            </a:r>
          </a:p>
        </p:txBody>
      </p:sp>
      <p:sp>
        <p:nvSpPr>
          <p:cNvPr id="48" name="TextBox 47"/>
          <p:cNvSpPr txBox="1"/>
          <p:nvPr/>
        </p:nvSpPr>
        <p:spPr>
          <a:xfrm>
            <a:off x="3695548" y="1293907"/>
            <a:ext cx="1227269" cy="326895"/>
          </a:xfrm>
          <a:prstGeom prst="chevron">
            <a:avLst/>
          </a:prstGeom>
          <a:solidFill>
            <a:srgbClr val="012169"/>
          </a:solidFill>
        </p:spPr>
        <p:txBody>
          <a:bodyPr wrap="square" lIns="0" tIns="0" rIns="0" bIns="0" rtlCol="0" anchor="ctr" anchorCtr="0">
            <a:noAutofit/>
          </a:bodyPr>
          <a:lstStyle/>
          <a:p>
            <a:pPr algn="ctr">
              <a:spcBef>
                <a:spcPts val="544"/>
              </a:spcBef>
              <a:buSzPct val="100000"/>
            </a:pPr>
            <a:r>
              <a:rPr lang="en-GB" sz="1270" dirty="0">
                <a:solidFill>
                  <a:schemeClr val="bg1"/>
                </a:solidFill>
              </a:rPr>
              <a:t>FY13</a:t>
            </a:r>
          </a:p>
        </p:txBody>
      </p:sp>
      <p:sp>
        <p:nvSpPr>
          <p:cNvPr id="49" name="TextBox 48"/>
          <p:cNvSpPr txBox="1"/>
          <p:nvPr/>
        </p:nvSpPr>
        <p:spPr>
          <a:xfrm>
            <a:off x="2537050" y="1293907"/>
            <a:ext cx="1227269" cy="326895"/>
          </a:xfrm>
          <a:prstGeom prst="chevron">
            <a:avLst/>
          </a:prstGeom>
          <a:solidFill>
            <a:srgbClr val="012169"/>
          </a:solidFill>
        </p:spPr>
        <p:txBody>
          <a:bodyPr wrap="square" lIns="0" tIns="0" rIns="0" bIns="0" rtlCol="0" anchor="ctr" anchorCtr="0">
            <a:noAutofit/>
          </a:bodyPr>
          <a:lstStyle/>
          <a:p>
            <a:pPr algn="ctr">
              <a:spcBef>
                <a:spcPts val="544"/>
              </a:spcBef>
              <a:buSzPct val="100000"/>
            </a:pPr>
            <a:r>
              <a:rPr lang="en-GB" sz="1270" dirty="0">
                <a:solidFill>
                  <a:schemeClr val="bg1"/>
                </a:solidFill>
              </a:rPr>
              <a:t>FY12</a:t>
            </a:r>
          </a:p>
        </p:txBody>
      </p:sp>
      <p:sp>
        <p:nvSpPr>
          <p:cNvPr id="50" name="TextBox 49"/>
          <p:cNvSpPr txBox="1"/>
          <p:nvPr/>
        </p:nvSpPr>
        <p:spPr>
          <a:xfrm>
            <a:off x="4854046" y="1293907"/>
            <a:ext cx="1227269" cy="326895"/>
          </a:xfrm>
          <a:prstGeom prst="chevron">
            <a:avLst/>
          </a:prstGeom>
          <a:solidFill>
            <a:srgbClr val="012169"/>
          </a:solidFill>
        </p:spPr>
        <p:txBody>
          <a:bodyPr wrap="square" lIns="0" tIns="0" rIns="0" bIns="0" rtlCol="0" anchor="ctr" anchorCtr="0">
            <a:noAutofit/>
          </a:bodyPr>
          <a:lstStyle/>
          <a:p>
            <a:pPr algn="ctr">
              <a:spcBef>
                <a:spcPts val="544"/>
              </a:spcBef>
              <a:buSzPct val="100000"/>
            </a:pPr>
            <a:r>
              <a:rPr lang="en-GB" sz="1270" dirty="0">
                <a:solidFill>
                  <a:schemeClr val="bg1"/>
                </a:solidFill>
              </a:rPr>
              <a:t>FY14</a:t>
            </a:r>
          </a:p>
        </p:txBody>
      </p:sp>
      <p:cxnSp>
        <p:nvCxnSpPr>
          <p:cNvPr id="4" name="Straight Connector 3"/>
          <p:cNvCxnSpPr>
            <a:stCxn id="51" idx="0"/>
          </p:cNvCxnSpPr>
          <p:nvPr/>
        </p:nvCxnSpPr>
        <p:spPr>
          <a:xfrm flipH="1" flipV="1">
            <a:off x="856751" y="1649623"/>
            <a:ext cx="4641" cy="524186"/>
          </a:xfrm>
          <a:prstGeom prst="line">
            <a:avLst/>
          </a:prstGeom>
          <a:ln>
            <a:solidFill>
              <a:schemeClr val="accent3">
                <a:lumMod val="50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402213" y="3130550"/>
            <a:ext cx="916555" cy="334835"/>
          </a:xfrm>
          <a:prstGeom prst="rect">
            <a:avLst/>
          </a:prstGeom>
          <a:solidFill>
            <a:schemeClr val="bg1"/>
          </a:solidFill>
        </p:spPr>
        <p:txBody>
          <a:bodyPr wrap="square" lIns="0" tIns="0" rIns="0" bIns="0" rtlCol="0">
            <a:spAutoFit/>
          </a:bodyPr>
          <a:lstStyle/>
          <a:p>
            <a:pPr algn="ctr">
              <a:spcBef>
                <a:spcPts val="544"/>
              </a:spcBef>
              <a:buSzPct val="100000"/>
            </a:pPr>
            <a:r>
              <a:rPr lang="en-GB" sz="1088" i="1" dirty="0">
                <a:solidFill>
                  <a:schemeClr val="accent4"/>
                </a:solidFill>
              </a:rPr>
              <a:t>Time lag: 185 days</a:t>
            </a:r>
          </a:p>
        </p:txBody>
      </p:sp>
      <p:cxnSp>
        <p:nvCxnSpPr>
          <p:cNvPr id="58" name="Straight Connector 57"/>
          <p:cNvCxnSpPr>
            <a:stCxn id="56" idx="0"/>
          </p:cNvCxnSpPr>
          <p:nvPr/>
        </p:nvCxnSpPr>
        <p:spPr>
          <a:xfrm flipH="1" flipV="1">
            <a:off x="3787409" y="1649623"/>
            <a:ext cx="4640" cy="524186"/>
          </a:xfrm>
          <a:prstGeom prst="line">
            <a:avLst/>
          </a:prstGeom>
          <a:ln>
            <a:solidFill>
              <a:schemeClr val="accent3">
                <a:lumMod val="50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3332871" y="3130550"/>
            <a:ext cx="916555" cy="334835"/>
          </a:xfrm>
          <a:prstGeom prst="rect">
            <a:avLst/>
          </a:prstGeom>
          <a:solidFill>
            <a:schemeClr val="bg1"/>
          </a:solidFill>
        </p:spPr>
        <p:txBody>
          <a:bodyPr wrap="square" lIns="0" tIns="0" rIns="0" bIns="0" rtlCol="0">
            <a:spAutoFit/>
          </a:bodyPr>
          <a:lstStyle/>
          <a:p>
            <a:pPr algn="ctr">
              <a:spcBef>
                <a:spcPts val="544"/>
              </a:spcBef>
              <a:buSzPct val="100000"/>
            </a:pPr>
            <a:r>
              <a:rPr lang="en-GB" sz="1088" i="1" dirty="0">
                <a:solidFill>
                  <a:schemeClr val="accent4"/>
                </a:solidFill>
              </a:rPr>
              <a:t>Time lag: 492 days</a:t>
            </a:r>
          </a:p>
        </p:txBody>
      </p:sp>
      <p:cxnSp>
        <p:nvCxnSpPr>
          <p:cNvPr id="62" name="Straight Connector 61"/>
          <p:cNvCxnSpPr>
            <a:stCxn id="61" idx="0"/>
          </p:cNvCxnSpPr>
          <p:nvPr/>
        </p:nvCxnSpPr>
        <p:spPr>
          <a:xfrm flipH="1" flipV="1">
            <a:off x="5800443" y="1646240"/>
            <a:ext cx="4640" cy="524187"/>
          </a:xfrm>
          <a:prstGeom prst="line">
            <a:avLst/>
          </a:prstGeom>
          <a:ln>
            <a:solidFill>
              <a:schemeClr val="accent3">
                <a:lumMod val="50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5345905" y="3127168"/>
            <a:ext cx="916555" cy="334835"/>
          </a:xfrm>
          <a:prstGeom prst="rect">
            <a:avLst/>
          </a:prstGeom>
          <a:solidFill>
            <a:schemeClr val="bg1"/>
          </a:solidFill>
        </p:spPr>
        <p:txBody>
          <a:bodyPr wrap="square" lIns="0" tIns="0" rIns="0" bIns="0" rtlCol="0">
            <a:spAutoFit/>
          </a:bodyPr>
          <a:lstStyle/>
          <a:p>
            <a:pPr algn="ctr">
              <a:buSzPct val="100000"/>
            </a:pPr>
            <a:r>
              <a:rPr lang="en-GB" sz="1088" i="1" dirty="0">
                <a:solidFill>
                  <a:schemeClr val="accent4"/>
                </a:solidFill>
              </a:rPr>
              <a:t>Time lag:</a:t>
            </a:r>
          </a:p>
          <a:p>
            <a:pPr algn="ctr">
              <a:buSzPct val="100000"/>
            </a:pPr>
            <a:r>
              <a:rPr lang="en-GB" sz="1088" i="1" dirty="0">
                <a:solidFill>
                  <a:schemeClr val="accent4"/>
                </a:solidFill>
              </a:rPr>
              <a:t>86 days</a:t>
            </a:r>
          </a:p>
        </p:txBody>
      </p:sp>
      <p:cxnSp>
        <p:nvCxnSpPr>
          <p:cNvPr id="65" name="Straight Connector 64"/>
          <p:cNvCxnSpPr>
            <a:stCxn id="64" idx="0"/>
          </p:cNvCxnSpPr>
          <p:nvPr/>
        </p:nvCxnSpPr>
        <p:spPr>
          <a:xfrm flipH="1" flipV="1">
            <a:off x="9161638" y="1646240"/>
            <a:ext cx="4640" cy="524187"/>
          </a:xfrm>
          <a:prstGeom prst="line">
            <a:avLst/>
          </a:prstGeom>
          <a:ln>
            <a:solidFill>
              <a:schemeClr val="accent3">
                <a:lumMod val="50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8707100" y="3127168"/>
            <a:ext cx="916555" cy="334835"/>
          </a:xfrm>
          <a:prstGeom prst="rect">
            <a:avLst/>
          </a:prstGeom>
          <a:solidFill>
            <a:schemeClr val="bg1"/>
          </a:solidFill>
        </p:spPr>
        <p:txBody>
          <a:bodyPr wrap="square" lIns="0" tIns="0" rIns="0" bIns="0" rtlCol="0">
            <a:spAutoFit/>
          </a:bodyPr>
          <a:lstStyle/>
          <a:p>
            <a:pPr algn="ctr">
              <a:buSzPct val="100000"/>
            </a:pPr>
            <a:r>
              <a:rPr lang="en-GB" sz="1088" i="1" dirty="0">
                <a:solidFill>
                  <a:schemeClr val="accent4"/>
                </a:solidFill>
              </a:rPr>
              <a:t>Time lag:</a:t>
            </a:r>
          </a:p>
          <a:p>
            <a:pPr algn="ctr">
              <a:buSzPct val="100000"/>
            </a:pPr>
            <a:r>
              <a:rPr lang="en-GB" sz="1088" i="1" dirty="0">
                <a:solidFill>
                  <a:schemeClr val="accent4"/>
                </a:solidFill>
              </a:rPr>
              <a:t>22 days</a:t>
            </a:r>
          </a:p>
        </p:txBody>
      </p:sp>
      <p:cxnSp>
        <p:nvCxnSpPr>
          <p:cNvPr id="74" name="Straight Connector 73"/>
          <p:cNvCxnSpPr/>
          <p:nvPr/>
        </p:nvCxnSpPr>
        <p:spPr>
          <a:xfrm flipV="1">
            <a:off x="1624468" y="1646235"/>
            <a:ext cx="0" cy="2252494"/>
          </a:xfrm>
          <a:prstGeom prst="line">
            <a:avLst/>
          </a:prstGeom>
          <a:ln>
            <a:solidFill>
              <a:schemeClr val="accent1">
                <a:lumMod val="75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165290" y="4835887"/>
            <a:ext cx="916555" cy="334835"/>
          </a:xfrm>
          <a:prstGeom prst="rect">
            <a:avLst/>
          </a:prstGeom>
          <a:solidFill>
            <a:schemeClr val="bg1"/>
          </a:solidFill>
        </p:spPr>
        <p:txBody>
          <a:bodyPr wrap="square" lIns="0" tIns="0" rIns="0" bIns="0" rtlCol="0">
            <a:spAutoFit/>
          </a:bodyPr>
          <a:lstStyle/>
          <a:p>
            <a:pPr algn="ctr">
              <a:spcBef>
                <a:spcPts val="544"/>
              </a:spcBef>
              <a:buSzPct val="100000"/>
            </a:pPr>
            <a:r>
              <a:rPr lang="en-GB" sz="1088" i="1" dirty="0">
                <a:solidFill>
                  <a:schemeClr val="accent1">
                    <a:lumMod val="50000"/>
                  </a:schemeClr>
                </a:solidFill>
              </a:rPr>
              <a:t>Time lag: 120 days</a:t>
            </a:r>
          </a:p>
        </p:txBody>
      </p:sp>
      <p:sp>
        <p:nvSpPr>
          <p:cNvPr id="76" name="TextBox 75"/>
          <p:cNvSpPr txBox="1"/>
          <p:nvPr/>
        </p:nvSpPr>
        <p:spPr>
          <a:xfrm>
            <a:off x="2741845" y="3876929"/>
            <a:ext cx="1034319" cy="903016"/>
          </a:xfrm>
          <a:prstGeom prst="rect">
            <a:avLst/>
          </a:prstGeom>
          <a:solidFill>
            <a:schemeClr val="accent1">
              <a:lumMod val="20000"/>
              <a:lumOff val="80000"/>
            </a:schemeClr>
          </a:solidFill>
        </p:spPr>
        <p:txBody>
          <a:bodyPr wrap="square" lIns="32645" tIns="32645" rIns="32645" bIns="32645" rtlCol="0">
            <a:spAutoFit/>
          </a:bodyPr>
          <a:lstStyle/>
          <a:p>
            <a:pPr algn="ctr">
              <a:buSzPct val="100000"/>
            </a:pPr>
            <a:r>
              <a:rPr lang="en-GB" sz="1088" dirty="0">
                <a:solidFill>
                  <a:srgbClr val="313131"/>
                </a:solidFill>
              </a:rPr>
              <a:t>Tariff re-determined for FY11</a:t>
            </a:r>
          </a:p>
          <a:p>
            <a:pPr algn="ctr">
              <a:buSzPct val="100000"/>
            </a:pPr>
            <a:r>
              <a:rPr lang="en-GB" sz="1088" dirty="0">
                <a:solidFill>
                  <a:srgbClr val="313131"/>
                </a:solidFill>
              </a:rPr>
              <a:t>on</a:t>
            </a:r>
          </a:p>
          <a:p>
            <a:pPr algn="ctr">
              <a:buSzPct val="100000"/>
            </a:pPr>
            <a:r>
              <a:rPr lang="en-GB" sz="1088" dirty="0">
                <a:solidFill>
                  <a:srgbClr val="313131"/>
                </a:solidFill>
              </a:rPr>
              <a:t>30 Dec 2011</a:t>
            </a:r>
          </a:p>
        </p:txBody>
      </p:sp>
      <p:cxnSp>
        <p:nvCxnSpPr>
          <p:cNvPr id="41" name="Straight Connector 40"/>
          <p:cNvCxnSpPr/>
          <p:nvPr/>
        </p:nvCxnSpPr>
        <p:spPr>
          <a:xfrm>
            <a:off x="3332871" y="1632647"/>
            <a:ext cx="0" cy="383807"/>
          </a:xfrm>
          <a:prstGeom prst="line">
            <a:avLst/>
          </a:prstGeom>
          <a:ln>
            <a:solidFill>
              <a:schemeClr val="accent1">
                <a:lumMod val="75000"/>
              </a:schemeClr>
            </a:solidFill>
            <a:headEnd type="oval" w="lg" len="lg"/>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H="1">
            <a:off x="2979812" y="1992763"/>
            <a:ext cx="353059"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2991657" y="2004608"/>
            <a:ext cx="0" cy="169753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2979812" y="3689869"/>
            <a:ext cx="295078"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3274889" y="3685025"/>
            <a:ext cx="0" cy="228514"/>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flipV="1">
            <a:off x="4568114" y="1648719"/>
            <a:ext cx="0" cy="2252494"/>
          </a:xfrm>
          <a:prstGeom prst="line">
            <a:avLst/>
          </a:prstGeom>
          <a:ln>
            <a:solidFill>
              <a:schemeClr val="accent1">
                <a:lumMod val="75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4108936" y="4838368"/>
            <a:ext cx="916555" cy="334835"/>
          </a:xfrm>
          <a:prstGeom prst="rect">
            <a:avLst/>
          </a:prstGeom>
          <a:solidFill>
            <a:schemeClr val="bg1"/>
          </a:solidFill>
        </p:spPr>
        <p:txBody>
          <a:bodyPr wrap="square" lIns="0" tIns="0" rIns="0" bIns="0" rtlCol="0">
            <a:spAutoFit/>
          </a:bodyPr>
          <a:lstStyle/>
          <a:p>
            <a:pPr algn="ctr">
              <a:spcBef>
                <a:spcPts val="544"/>
              </a:spcBef>
              <a:buSzPct val="100000"/>
            </a:pPr>
            <a:r>
              <a:rPr lang="en-GB" sz="1088" i="1" dirty="0">
                <a:solidFill>
                  <a:schemeClr val="accent1">
                    <a:lumMod val="50000"/>
                  </a:schemeClr>
                </a:solidFill>
              </a:rPr>
              <a:t>Time lag: 611 days</a:t>
            </a:r>
          </a:p>
        </p:txBody>
      </p:sp>
      <p:sp>
        <p:nvSpPr>
          <p:cNvPr id="93" name="TextBox 92"/>
          <p:cNvSpPr txBox="1"/>
          <p:nvPr/>
        </p:nvSpPr>
        <p:spPr>
          <a:xfrm>
            <a:off x="5461993" y="4828795"/>
            <a:ext cx="916555" cy="334835"/>
          </a:xfrm>
          <a:prstGeom prst="rect">
            <a:avLst/>
          </a:prstGeom>
          <a:solidFill>
            <a:schemeClr val="bg1"/>
          </a:solidFill>
        </p:spPr>
        <p:txBody>
          <a:bodyPr wrap="square" lIns="0" tIns="0" rIns="0" bIns="0" rtlCol="0">
            <a:spAutoFit/>
          </a:bodyPr>
          <a:lstStyle/>
          <a:p>
            <a:pPr algn="ctr">
              <a:spcBef>
                <a:spcPts val="544"/>
              </a:spcBef>
              <a:buSzPct val="100000"/>
            </a:pPr>
            <a:r>
              <a:rPr lang="en-GB" sz="1088" i="1" dirty="0">
                <a:solidFill>
                  <a:schemeClr val="accent1">
                    <a:lumMod val="50000"/>
                  </a:schemeClr>
                </a:solidFill>
              </a:rPr>
              <a:t>Time lag: 270 days</a:t>
            </a:r>
          </a:p>
        </p:txBody>
      </p:sp>
      <p:cxnSp>
        <p:nvCxnSpPr>
          <p:cNvPr id="94" name="Straight Connector 93"/>
          <p:cNvCxnSpPr/>
          <p:nvPr/>
        </p:nvCxnSpPr>
        <p:spPr>
          <a:xfrm>
            <a:off x="5669228" y="1649657"/>
            <a:ext cx="0" cy="383807"/>
          </a:xfrm>
          <a:prstGeom prst="line">
            <a:avLst/>
          </a:prstGeom>
          <a:ln>
            <a:solidFill>
              <a:schemeClr val="accent1">
                <a:lumMod val="75000"/>
              </a:schemeClr>
            </a:solidFill>
            <a:headEnd type="oval" w="lg" len="lg"/>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H="1">
            <a:off x="5152158" y="2018885"/>
            <a:ext cx="522317"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a:off x="5136667" y="2021618"/>
            <a:ext cx="0" cy="169753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5143044" y="3706878"/>
            <a:ext cx="457028"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5611246" y="3702035"/>
            <a:ext cx="0" cy="228514"/>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V="1">
            <a:off x="7000404" y="1641339"/>
            <a:ext cx="0" cy="2219849"/>
          </a:xfrm>
          <a:prstGeom prst="line">
            <a:avLst/>
          </a:prstGeom>
          <a:ln>
            <a:solidFill>
              <a:schemeClr val="accent1">
                <a:lumMod val="75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6677903" y="4830985"/>
            <a:ext cx="916555" cy="334835"/>
          </a:xfrm>
          <a:prstGeom prst="rect">
            <a:avLst/>
          </a:prstGeom>
          <a:solidFill>
            <a:schemeClr val="bg1"/>
          </a:solidFill>
        </p:spPr>
        <p:txBody>
          <a:bodyPr wrap="square" lIns="0" tIns="0" rIns="0" bIns="0" rtlCol="0">
            <a:spAutoFit/>
          </a:bodyPr>
          <a:lstStyle/>
          <a:p>
            <a:pPr algn="ctr">
              <a:spcBef>
                <a:spcPts val="544"/>
              </a:spcBef>
              <a:buSzPct val="100000"/>
            </a:pPr>
            <a:r>
              <a:rPr lang="en-GB" sz="1088" i="1" dirty="0">
                <a:solidFill>
                  <a:schemeClr val="accent1">
                    <a:lumMod val="50000"/>
                  </a:schemeClr>
                </a:solidFill>
              </a:rPr>
              <a:t>Time lag: 338 days</a:t>
            </a:r>
          </a:p>
        </p:txBody>
      </p:sp>
      <p:sp>
        <p:nvSpPr>
          <p:cNvPr id="105" name="TextBox 104"/>
          <p:cNvSpPr txBox="1"/>
          <p:nvPr/>
        </p:nvSpPr>
        <p:spPr>
          <a:xfrm>
            <a:off x="197257" y="1293907"/>
            <a:ext cx="1227269" cy="326895"/>
          </a:xfrm>
          <a:prstGeom prst="homePlate">
            <a:avLst/>
          </a:prstGeom>
          <a:noFill/>
          <a:ln>
            <a:solidFill>
              <a:schemeClr val="tx1"/>
            </a:solidFill>
            <a:prstDash val="dash"/>
          </a:ln>
        </p:spPr>
        <p:txBody>
          <a:bodyPr wrap="square" lIns="0" tIns="0" rIns="0" bIns="0" rtlCol="0" anchor="ctr" anchorCtr="0">
            <a:noAutofit/>
          </a:bodyPr>
          <a:lstStyle>
            <a:defPPr>
              <a:defRPr lang="en-US"/>
            </a:defPPr>
            <a:lvl1pPr algn="ctr">
              <a:spcBef>
                <a:spcPts val="600"/>
              </a:spcBef>
              <a:buSzPct val="100000"/>
              <a:defRPr sz="1400">
                <a:solidFill>
                  <a:schemeClr val="bg1"/>
                </a:solidFill>
              </a:defRPr>
            </a:lvl1pPr>
          </a:lstStyle>
          <a:p>
            <a:r>
              <a:rPr lang="en-GB" sz="1270" dirty="0">
                <a:solidFill>
                  <a:schemeClr val="tx1"/>
                </a:solidFill>
              </a:rPr>
              <a:t>FY09-FY10</a:t>
            </a:r>
          </a:p>
        </p:txBody>
      </p:sp>
      <p:sp>
        <p:nvSpPr>
          <p:cNvPr id="108" name="TextBox 107"/>
          <p:cNvSpPr txBox="1"/>
          <p:nvPr/>
        </p:nvSpPr>
        <p:spPr>
          <a:xfrm>
            <a:off x="7813219" y="4838368"/>
            <a:ext cx="916555" cy="334835"/>
          </a:xfrm>
          <a:prstGeom prst="rect">
            <a:avLst/>
          </a:prstGeom>
          <a:solidFill>
            <a:schemeClr val="bg1"/>
          </a:solidFill>
        </p:spPr>
        <p:txBody>
          <a:bodyPr wrap="square" lIns="0" tIns="0" rIns="0" bIns="0" rtlCol="0">
            <a:spAutoFit/>
          </a:bodyPr>
          <a:lstStyle/>
          <a:p>
            <a:pPr algn="ctr">
              <a:spcBef>
                <a:spcPts val="544"/>
              </a:spcBef>
              <a:buSzPct val="100000"/>
            </a:pPr>
            <a:r>
              <a:rPr lang="en-GB" sz="1088" i="1" dirty="0">
                <a:solidFill>
                  <a:schemeClr val="accent1">
                    <a:lumMod val="50000"/>
                  </a:schemeClr>
                </a:solidFill>
              </a:rPr>
              <a:t>Time lag: 132 days</a:t>
            </a:r>
          </a:p>
        </p:txBody>
      </p:sp>
      <p:cxnSp>
        <p:nvCxnSpPr>
          <p:cNvPr id="110" name="Elbow Connector 109"/>
          <p:cNvCxnSpPr>
            <a:stCxn id="106" idx="0"/>
          </p:cNvCxnSpPr>
          <p:nvPr/>
        </p:nvCxnSpPr>
        <p:spPr>
          <a:xfrm rot="16200000" flipV="1">
            <a:off x="6875489" y="2484718"/>
            <a:ext cx="2260823" cy="532994"/>
          </a:xfrm>
          <a:prstGeom prst="bentConnector3">
            <a:avLst/>
          </a:prstGeom>
          <a:ln>
            <a:solidFill>
              <a:schemeClr val="accent1">
                <a:lumMod val="75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112" name="TextBox 111"/>
          <p:cNvSpPr txBox="1"/>
          <p:nvPr/>
        </p:nvSpPr>
        <p:spPr>
          <a:xfrm>
            <a:off x="8981217" y="4835887"/>
            <a:ext cx="916555" cy="334835"/>
          </a:xfrm>
          <a:prstGeom prst="rect">
            <a:avLst/>
          </a:prstGeom>
          <a:solidFill>
            <a:schemeClr val="bg1"/>
          </a:solidFill>
        </p:spPr>
        <p:txBody>
          <a:bodyPr wrap="square" lIns="0" tIns="0" rIns="0" bIns="0" rtlCol="0">
            <a:spAutoFit/>
          </a:bodyPr>
          <a:lstStyle/>
          <a:p>
            <a:pPr algn="ctr">
              <a:spcBef>
                <a:spcPts val="544"/>
              </a:spcBef>
              <a:buSzPct val="100000"/>
            </a:pPr>
            <a:r>
              <a:rPr lang="en-GB" sz="1088" i="1" dirty="0">
                <a:solidFill>
                  <a:schemeClr val="accent1">
                    <a:lumMod val="50000"/>
                  </a:schemeClr>
                </a:solidFill>
              </a:rPr>
              <a:t>Time lag: 211 days</a:t>
            </a:r>
          </a:p>
        </p:txBody>
      </p:sp>
      <p:cxnSp>
        <p:nvCxnSpPr>
          <p:cNvPr id="113" name="Straight Connector 112"/>
          <p:cNvCxnSpPr/>
          <p:nvPr/>
        </p:nvCxnSpPr>
        <p:spPr>
          <a:xfrm>
            <a:off x="9020853" y="1654110"/>
            <a:ext cx="0" cy="383807"/>
          </a:xfrm>
          <a:prstGeom prst="line">
            <a:avLst/>
          </a:prstGeom>
          <a:ln>
            <a:solidFill>
              <a:schemeClr val="accent1">
                <a:lumMod val="75000"/>
              </a:schemeClr>
            </a:solidFill>
            <a:headEnd type="oval" w="lg" len="lg"/>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8503784" y="2023338"/>
            <a:ext cx="522317"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a:off x="8488292" y="2026071"/>
            <a:ext cx="0" cy="169753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a:off x="8494670" y="3711332"/>
            <a:ext cx="94670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a:off x="9436682" y="3706488"/>
            <a:ext cx="0" cy="228514"/>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V="1">
            <a:off x="10940582" y="1648719"/>
            <a:ext cx="0" cy="2252494"/>
          </a:xfrm>
          <a:prstGeom prst="line">
            <a:avLst/>
          </a:prstGeom>
          <a:ln>
            <a:solidFill>
              <a:schemeClr val="accent1">
                <a:lumMod val="75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123" name="TextBox 122"/>
          <p:cNvSpPr txBox="1"/>
          <p:nvPr/>
        </p:nvSpPr>
        <p:spPr>
          <a:xfrm>
            <a:off x="10481404" y="4838370"/>
            <a:ext cx="916555" cy="334835"/>
          </a:xfrm>
          <a:prstGeom prst="rect">
            <a:avLst/>
          </a:prstGeom>
          <a:solidFill>
            <a:schemeClr val="bg1"/>
          </a:solidFill>
        </p:spPr>
        <p:txBody>
          <a:bodyPr wrap="square" lIns="0" tIns="0" rIns="0" bIns="0" rtlCol="0">
            <a:spAutoFit/>
          </a:bodyPr>
          <a:lstStyle/>
          <a:p>
            <a:pPr algn="ctr">
              <a:spcBef>
                <a:spcPts val="544"/>
              </a:spcBef>
              <a:buSzPct val="100000"/>
            </a:pPr>
            <a:r>
              <a:rPr lang="en-GB" sz="1088" i="1" dirty="0">
                <a:solidFill>
                  <a:schemeClr val="accent1">
                    <a:lumMod val="50000"/>
                  </a:schemeClr>
                </a:solidFill>
              </a:rPr>
              <a:t>Time lag: 460 days</a:t>
            </a:r>
          </a:p>
        </p:txBody>
      </p:sp>
      <p:cxnSp>
        <p:nvCxnSpPr>
          <p:cNvPr id="87" name="Straight Arrow Connector 86"/>
          <p:cNvCxnSpPr/>
          <p:nvPr/>
        </p:nvCxnSpPr>
        <p:spPr>
          <a:xfrm>
            <a:off x="4782986" y="5843369"/>
            <a:ext cx="1109924" cy="0"/>
          </a:xfrm>
          <a:prstGeom prst="straightConnector1">
            <a:avLst/>
          </a:prstGeom>
          <a:ln>
            <a:solidFill>
              <a:schemeClr val="tx2"/>
            </a:solidFill>
            <a:prstDash val="dash"/>
            <a:tailEnd type="arrow" w="med" len="lg"/>
          </a:ln>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4969298" y="5768294"/>
            <a:ext cx="754611" cy="167418"/>
          </a:xfrm>
          <a:prstGeom prst="rect">
            <a:avLst/>
          </a:prstGeom>
          <a:solidFill>
            <a:schemeClr val="bg1"/>
          </a:solidFill>
        </p:spPr>
        <p:txBody>
          <a:bodyPr wrap="square" lIns="0" tIns="0" rIns="0" bIns="0" rtlCol="0">
            <a:spAutoFit/>
          </a:bodyPr>
          <a:lstStyle/>
          <a:p>
            <a:pPr algn="ctr">
              <a:buSzPct val="100000"/>
            </a:pPr>
            <a:r>
              <a:rPr lang="en-GB" sz="1088" i="1" dirty="0">
                <a:solidFill>
                  <a:srgbClr val="313131"/>
                </a:solidFill>
              </a:rPr>
              <a:t>0.3% hike</a:t>
            </a:r>
          </a:p>
        </p:txBody>
      </p:sp>
      <p:cxnSp>
        <p:nvCxnSpPr>
          <p:cNvPr id="103" name="Straight Arrow Connector 102"/>
          <p:cNvCxnSpPr/>
          <p:nvPr/>
        </p:nvCxnSpPr>
        <p:spPr>
          <a:xfrm>
            <a:off x="6074720" y="5842823"/>
            <a:ext cx="1011990" cy="0"/>
          </a:xfrm>
          <a:prstGeom prst="straightConnector1">
            <a:avLst/>
          </a:prstGeom>
          <a:ln>
            <a:solidFill>
              <a:schemeClr val="tx2"/>
            </a:solidFill>
            <a:prstDash val="dash"/>
            <a:tailEnd type="arrow" w="med" len="lg"/>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6244512" y="5767749"/>
            <a:ext cx="623645" cy="167418"/>
          </a:xfrm>
          <a:prstGeom prst="rect">
            <a:avLst/>
          </a:prstGeom>
          <a:solidFill>
            <a:schemeClr val="bg1"/>
          </a:solidFill>
        </p:spPr>
        <p:txBody>
          <a:bodyPr wrap="square" lIns="0" tIns="0" rIns="0" bIns="0" rtlCol="0">
            <a:spAutoFit/>
          </a:bodyPr>
          <a:lstStyle/>
          <a:p>
            <a:pPr algn="ctr">
              <a:buSzPct val="100000"/>
            </a:pPr>
            <a:r>
              <a:rPr lang="en-GB" sz="1088" i="1" dirty="0">
                <a:solidFill>
                  <a:srgbClr val="313131"/>
                </a:solidFill>
              </a:rPr>
              <a:t>8% hike</a:t>
            </a:r>
          </a:p>
        </p:txBody>
      </p:sp>
      <p:cxnSp>
        <p:nvCxnSpPr>
          <p:cNvPr id="107" name="Straight Arrow Connector 106"/>
          <p:cNvCxnSpPr/>
          <p:nvPr/>
        </p:nvCxnSpPr>
        <p:spPr>
          <a:xfrm>
            <a:off x="7268520" y="5842823"/>
            <a:ext cx="1011990" cy="0"/>
          </a:xfrm>
          <a:prstGeom prst="straightConnector1">
            <a:avLst/>
          </a:prstGeom>
          <a:ln>
            <a:solidFill>
              <a:schemeClr val="tx2"/>
            </a:solidFill>
            <a:prstDash val="dash"/>
            <a:tailEnd type="arrow" w="med" len="lg"/>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7438312" y="5767749"/>
            <a:ext cx="623645" cy="167418"/>
          </a:xfrm>
          <a:prstGeom prst="rect">
            <a:avLst/>
          </a:prstGeom>
          <a:solidFill>
            <a:schemeClr val="bg1"/>
          </a:solidFill>
        </p:spPr>
        <p:txBody>
          <a:bodyPr wrap="square" lIns="0" tIns="0" rIns="0" bIns="0" rtlCol="0">
            <a:spAutoFit/>
          </a:bodyPr>
          <a:lstStyle/>
          <a:p>
            <a:pPr algn="ctr">
              <a:buSzPct val="100000"/>
            </a:pPr>
            <a:r>
              <a:rPr lang="en-GB" sz="1088" i="1" dirty="0">
                <a:solidFill>
                  <a:srgbClr val="313131"/>
                </a:solidFill>
              </a:rPr>
              <a:t>0% hike</a:t>
            </a:r>
          </a:p>
        </p:txBody>
      </p:sp>
      <p:cxnSp>
        <p:nvCxnSpPr>
          <p:cNvPr id="118" name="Straight Arrow Connector 117"/>
          <p:cNvCxnSpPr/>
          <p:nvPr/>
        </p:nvCxnSpPr>
        <p:spPr>
          <a:xfrm>
            <a:off x="8417240" y="5842823"/>
            <a:ext cx="1011990" cy="0"/>
          </a:xfrm>
          <a:prstGeom prst="straightConnector1">
            <a:avLst/>
          </a:prstGeom>
          <a:ln>
            <a:solidFill>
              <a:schemeClr val="tx2"/>
            </a:solidFill>
            <a:prstDash val="dash"/>
            <a:tailEnd type="arrow" w="med" len="lg"/>
          </a:ln>
        </p:spPr>
        <p:style>
          <a:lnRef idx="1">
            <a:schemeClr val="accent1"/>
          </a:lnRef>
          <a:fillRef idx="0">
            <a:schemeClr val="accent1"/>
          </a:fillRef>
          <a:effectRef idx="0">
            <a:schemeClr val="accent1"/>
          </a:effectRef>
          <a:fontRef idx="minor">
            <a:schemeClr val="tx1"/>
          </a:fontRef>
        </p:style>
      </p:cxnSp>
      <p:sp>
        <p:nvSpPr>
          <p:cNvPr id="119" name="TextBox 118"/>
          <p:cNvSpPr txBox="1"/>
          <p:nvPr/>
        </p:nvSpPr>
        <p:spPr>
          <a:xfrm>
            <a:off x="8587032" y="5767749"/>
            <a:ext cx="623645" cy="167418"/>
          </a:xfrm>
          <a:prstGeom prst="rect">
            <a:avLst/>
          </a:prstGeom>
          <a:solidFill>
            <a:schemeClr val="bg1"/>
          </a:solidFill>
        </p:spPr>
        <p:txBody>
          <a:bodyPr wrap="square" lIns="0" tIns="0" rIns="0" bIns="0" rtlCol="0">
            <a:spAutoFit/>
          </a:bodyPr>
          <a:lstStyle/>
          <a:p>
            <a:pPr algn="ctr">
              <a:buSzPct val="100000"/>
            </a:pPr>
            <a:r>
              <a:rPr lang="en-GB" sz="1088" i="1" dirty="0">
                <a:solidFill>
                  <a:srgbClr val="313131"/>
                </a:solidFill>
              </a:rPr>
              <a:t>5% hike</a:t>
            </a:r>
          </a:p>
        </p:txBody>
      </p:sp>
      <p:cxnSp>
        <p:nvCxnSpPr>
          <p:cNvPr id="120" name="Straight Arrow Connector 119"/>
          <p:cNvCxnSpPr/>
          <p:nvPr/>
        </p:nvCxnSpPr>
        <p:spPr>
          <a:xfrm>
            <a:off x="9566081" y="5844342"/>
            <a:ext cx="1403728" cy="0"/>
          </a:xfrm>
          <a:prstGeom prst="straightConnector1">
            <a:avLst/>
          </a:prstGeom>
          <a:ln>
            <a:solidFill>
              <a:schemeClr val="tx2"/>
            </a:solidFill>
            <a:prstDash val="dash"/>
            <a:tailEnd type="arrow" w="med" len="lg"/>
          </a:ln>
        </p:spPr>
        <p:style>
          <a:lnRef idx="1">
            <a:schemeClr val="accent1"/>
          </a:lnRef>
          <a:fillRef idx="0">
            <a:schemeClr val="accent1"/>
          </a:fillRef>
          <a:effectRef idx="0">
            <a:schemeClr val="accent1"/>
          </a:effectRef>
          <a:fontRef idx="minor">
            <a:schemeClr val="tx1"/>
          </a:fontRef>
        </p:style>
      </p:cxnSp>
      <p:sp>
        <p:nvSpPr>
          <p:cNvPr id="124" name="TextBox 123"/>
          <p:cNvSpPr txBox="1"/>
          <p:nvPr/>
        </p:nvSpPr>
        <p:spPr>
          <a:xfrm>
            <a:off x="9936332" y="5769268"/>
            <a:ext cx="623645" cy="167418"/>
          </a:xfrm>
          <a:prstGeom prst="rect">
            <a:avLst/>
          </a:prstGeom>
          <a:solidFill>
            <a:schemeClr val="bg1"/>
          </a:solidFill>
        </p:spPr>
        <p:txBody>
          <a:bodyPr wrap="square" lIns="0" tIns="0" rIns="0" bIns="0" rtlCol="0">
            <a:spAutoFit/>
          </a:bodyPr>
          <a:lstStyle/>
          <a:p>
            <a:pPr algn="ctr">
              <a:buSzPct val="100000"/>
            </a:pPr>
            <a:r>
              <a:rPr lang="en-GB" sz="1088" i="1" dirty="0">
                <a:solidFill>
                  <a:srgbClr val="313131"/>
                </a:solidFill>
              </a:rPr>
              <a:t>0% hike</a:t>
            </a:r>
          </a:p>
        </p:txBody>
      </p:sp>
      <p:cxnSp>
        <p:nvCxnSpPr>
          <p:cNvPr id="7" name="Straight Connector 6"/>
          <p:cNvCxnSpPr/>
          <p:nvPr/>
        </p:nvCxnSpPr>
        <p:spPr>
          <a:xfrm>
            <a:off x="1673337" y="5590187"/>
            <a:ext cx="0" cy="246972"/>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3169202" y="5591706"/>
            <a:ext cx="0" cy="246972"/>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3334733" y="5593228"/>
            <a:ext cx="0" cy="246972"/>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4365893" y="5603859"/>
            <a:ext cx="0" cy="246972"/>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4783523" y="5593228"/>
            <a:ext cx="0" cy="246972"/>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5878459" y="5603859"/>
            <a:ext cx="0" cy="246972"/>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6062214" y="5605380"/>
            <a:ext cx="0" cy="246972"/>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7075145" y="5606902"/>
            <a:ext cx="0" cy="246972"/>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7258899" y="5590196"/>
            <a:ext cx="0" cy="246972"/>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8271833" y="5591716"/>
            <a:ext cx="0" cy="246972"/>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8419141" y="5593236"/>
            <a:ext cx="0" cy="246972"/>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9413844" y="5594756"/>
            <a:ext cx="0" cy="246972"/>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9561152" y="5605387"/>
            <a:ext cx="0" cy="246972"/>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0965900" y="5597795"/>
            <a:ext cx="0" cy="246972"/>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1365863" y="5403277"/>
            <a:ext cx="515409" cy="167418"/>
          </a:xfrm>
          <a:prstGeom prst="rect">
            <a:avLst/>
          </a:prstGeom>
          <a:solidFill>
            <a:schemeClr val="bg1"/>
          </a:solidFill>
        </p:spPr>
        <p:txBody>
          <a:bodyPr wrap="square" lIns="0" tIns="0" rIns="0" bIns="0" rtlCol="0">
            <a:spAutoFit/>
          </a:bodyPr>
          <a:lstStyle/>
          <a:p>
            <a:pPr algn="ctr">
              <a:spcBef>
                <a:spcPts val="544"/>
              </a:spcBef>
              <a:buSzPct val="100000"/>
            </a:pPr>
            <a:r>
              <a:rPr lang="en-GB" sz="1088" b="1" dirty="0">
                <a:solidFill>
                  <a:srgbClr val="313131"/>
                </a:solidFill>
              </a:rPr>
              <a:t>4.72</a:t>
            </a:r>
          </a:p>
        </p:txBody>
      </p:sp>
      <p:sp>
        <p:nvSpPr>
          <p:cNvPr id="37" name="TextBox 36"/>
          <p:cNvSpPr txBox="1"/>
          <p:nvPr/>
        </p:nvSpPr>
        <p:spPr>
          <a:xfrm>
            <a:off x="6877495" y="5406317"/>
            <a:ext cx="517371" cy="167418"/>
          </a:xfrm>
          <a:prstGeom prst="rect">
            <a:avLst/>
          </a:prstGeom>
          <a:solidFill>
            <a:schemeClr val="bg1"/>
          </a:solidFill>
        </p:spPr>
        <p:txBody>
          <a:bodyPr wrap="square" lIns="0" tIns="0" rIns="0" bIns="0" rtlCol="0">
            <a:spAutoFit/>
          </a:bodyPr>
          <a:lstStyle/>
          <a:p>
            <a:pPr algn="ctr">
              <a:spcBef>
                <a:spcPts val="544"/>
              </a:spcBef>
              <a:buSzPct val="100000"/>
            </a:pPr>
            <a:r>
              <a:rPr lang="en-GB" sz="1088" b="1" dirty="0">
                <a:solidFill>
                  <a:srgbClr val="313131"/>
                </a:solidFill>
              </a:rPr>
              <a:t>6.56</a:t>
            </a:r>
          </a:p>
        </p:txBody>
      </p:sp>
      <p:sp>
        <p:nvSpPr>
          <p:cNvPr id="38" name="TextBox 37"/>
          <p:cNvSpPr txBox="1"/>
          <p:nvPr/>
        </p:nvSpPr>
        <p:spPr>
          <a:xfrm>
            <a:off x="8012811" y="5406317"/>
            <a:ext cx="517371" cy="167418"/>
          </a:xfrm>
          <a:prstGeom prst="rect">
            <a:avLst/>
          </a:prstGeom>
          <a:solidFill>
            <a:schemeClr val="bg1"/>
          </a:solidFill>
        </p:spPr>
        <p:txBody>
          <a:bodyPr wrap="square" lIns="0" tIns="0" rIns="0" bIns="0" rtlCol="0">
            <a:spAutoFit/>
          </a:bodyPr>
          <a:lstStyle/>
          <a:p>
            <a:pPr algn="ctr">
              <a:spcBef>
                <a:spcPts val="544"/>
              </a:spcBef>
              <a:buSzPct val="100000"/>
            </a:pPr>
            <a:r>
              <a:rPr lang="en-GB" sz="1088" b="1" dirty="0">
                <a:solidFill>
                  <a:srgbClr val="313131"/>
                </a:solidFill>
              </a:rPr>
              <a:t>6.55</a:t>
            </a:r>
          </a:p>
        </p:txBody>
      </p:sp>
      <p:sp>
        <p:nvSpPr>
          <p:cNvPr id="39" name="TextBox 38"/>
          <p:cNvSpPr txBox="1"/>
          <p:nvPr/>
        </p:nvSpPr>
        <p:spPr>
          <a:xfrm>
            <a:off x="9171703" y="5406317"/>
            <a:ext cx="517371" cy="167418"/>
          </a:xfrm>
          <a:prstGeom prst="rect">
            <a:avLst/>
          </a:prstGeom>
          <a:solidFill>
            <a:schemeClr val="bg1"/>
          </a:solidFill>
        </p:spPr>
        <p:txBody>
          <a:bodyPr wrap="square" lIns="0" tIns="0" rIns="0" bIns="0" rtlCol="0">
            <a:spAutoFit/>
          </a:bodyPr>
          <a:lstStyle/>
          <a:p>
            <a:pPr algn="ctr">
              <a:spcBef>
                <a:spcPts val="544"/>
              </a:spcBef>
              <a:buSzPct val="100000"/>
            </a:pPr>
            <a:r>
              <a:rPr lang="en-GB" sz="1088" b="1" dirty="0">
                <a:solidFill>
                  <a:srgbClr val="313131"/>
                </a:solidFill>
              </a:rPr>
              <a:t>6.89</a:t>
            </a:r>
          </a:p>
        </p:txBody>
      </p:sp>
      <p:sp>
        <p:nvSpPr>
          <p:cNvPr id="40" name="TextBox 39"/>
          <p:cNvSpPr txBox="1"/>
          <p:nvPr/>
        </p:nvSpPr>
        <p:spPr>
          <a:xfrm>
            <a:off x="10742799" y="5406317"/>
            <a:ext cx="517371" cy="167418"/>
          </a:xfrm>
          <a:prstGeom prst="rect">
            <a:avLst/>
          </a:prstGeom>
          <a:solidFill>
            <a:schemeClr val="bg1"/>
          </a:solidFill>
        </p:spPr>
        <p:txBody>
          <a:bodyPr wrap="square" lIns="0" tIns="0" rIns="0" bIns="0" rtlCol="0">
            <a:spAutoFit/>
          </a:bodyPr>
          <a:lstStyle/>
          <a:p>
            <a:pPr algn="ctr">
              <a:spcBef>
                <a:spcPts val="544"/>
              </a:spcBef>
              <a:buSzPct val="100000"/>
            </a:pPr>
            <a:r>
              <a:rPr lang="en-GB" sz="1088" b="1" dirty="0">
                <a:solidFill>
                  <a:srgbClr val="313131"/>
                </a:solidFill>
              </a:rPr>
              <a:t>6.89</a:t>
            </a:r>
          </a:p>
        </p:txBody>
      </p:sp>
      <p:sp>
        <p:nvSpPr>
          <p:cNvPr id="84" name="TextBox 83"/>
          <p:cNvSpPr txBox="1"/>
          <p:nvPr/>
        </p:nvSpPr>
        <p:spPr>
          <a:xfrm>
            <a:off x="3000319" y="5406085"/>
            <a:ext cx="517371" cy="167418"/>
          </a:xfrm>
          <a:prstGeom prst="rect">
            <a:avLst/>
          </a:prstGeom>
          <a:solidFill>
            <a:schemeClr val="bg1"/>
          </a:solidFill>
        </p:spPr>
        <p:txBody>
          <a:bodyPr wrap="square" lIns="0" tIns="0" rIns="0" bIns="0" rtlCol="0">
            <a:spAutoFit/>
          </a:bodyPr>
          <a:lstStyle/>
          <a:p>
            <a:pPr algn="ctr">
              <a:spcBef>
                <a:spcPts val="544"/>
              </a:spcBef>
              <a:buSzPct val="100000"/>
            </a:pPr>
            <a:r>
              <a:rPr lang="en-GB" sz="1088" b="1" dirty="0">
                <a:solidFill>
                  <a:srgbClr val="313131"/>
                </a:solidFill>
              </a:rPr>
              <a:t>4.96</a:t>
            </a:r>
          </a:p>
        </p:txBody>
      </p:sp>
      <p:sp>
        <p:nvSpPr>
          <p:cNvPr id="85" name="TextBox 84"/>
          <p:cNvSpPr txBox="1"/>
          <p:nvPr/>
        </p:nvSpPr>
        <p:spPr>
          <a:xfrm>
            <a:off x="4063619" y="5322589"/>
            <a:ext cx="1007188" cy="334835"/>
          </a:xfrm>
          <a:prstGeom prst="rect">
            <a:avLst/>
          </a:prstGeom>
          <a:solidFill>
            <a:schemeClr val="bg1"/>
          </a:solidFill>
        </p:spPr>
        <p:txBody>
          <a:bodyPr wrap="square" lIns="0" tIns="0" rIns="0" bIns="0" rtlCol="0">
            <a:spAutoFit/>
          </a:bodyPr>
          <a:lstStyle/>
          <a:p>
            <a:pPr algn="ctr">
              <a:buSzPct val="100000"/>
            </a:pPr>
            <a:r>
              <a:rPr lang="en-GB" sz="1088" b="1" dirty="0">
                <a:solidFill>
                  <a:srgbClr val="313131"/>
                </a:solidFill>
              </a:rPr>
              <a:t>6.05 (FY12)</a:t>
            </a:r>
          </a:p>
          <a:p>
            <a:pPr algn="ctr">
              <a:buSzPct val="100000"/>
            </a:pPr>
            <a:r>
              <a:rPr lang="en-GB" sz="1088" b="1" dirty="0">
                <a:solidFill>
                  <a:srgbClr val="313131"/>
                </a:solidFill>
              </a:rPr>
              <a:t>6.07 (FY13)</a:t>
            </a:r>
          </a:p>
        </p:txBody>
      </p:sp>
      <p:sp>
        <p:nvSpPr>
          <p:cNvPr id="86" name="TextBox 85"/>
          <p:cNvSpPr txBox="1"/>
          <p:nvPr/>
        </p:nvSpPr>
        <p:spPr>
          <a:xfrm>
            <a:off x="5669228" y="5406317"/>
            <a:ext cx="517371" cy="167418"/>
          </a:xfrm>
          <a:prstGeom prst="rect">
            <a:avLst/>
          </a:prstGeom>
          <a:solidFill>
            <a:schemeClr val="bg1"/>
          </a:solidFill>
        </p:spPr>
        <p:txBody>
          <a:bodyPr wrap="square" lIns="0" tIns="0" rIns="0" bIns="0" rtlCol="0">
            <a:spAutoFit/>
          </a:bodyPr>
          <a:lstStyle/>
          <a:p>
            <a:pPr algn="ctr">
              <a:spcBef>
                <a:spcPts val="544"/>
              </a:spcBef>
              <a:buSzPct val="100000"/>
            </a:pPr>
            <a:r>
              <a:rPr lang="en-GB" sz="1088" b="1" dirty="0">
                <a:solidFill>
                  <a:srgbClr val="313131"/>
                </a:solidFill>
              </a:rPr>
              <a:t>6.09</a:t>
            </a:r>
          </a:p>
        </p:txBody>
      </p:sp>
      <p:sp>
        <p:nvSpPr>
          <p:cNvPr id="73" name="TextBox 72"/>
          <p:cNvSpPr txBox="1"/>
          <p:nvPr/>
        </p:nvSpPr>
        <p:spPr>
          <a:xfrm>
            <a:off x="1107309" y="3879145"/>
            <a:ext cx="1034319" cy="903016"/>
          </a:xfrm>
          <a:prstGeom prst="rect">
            <a:avLst/>
          </a:prstGeom>
          <a:solidFill>
            <a:schemeClr val="accent1">
              <a:lumMod val="20000"/>
              <a:lumOff val="80000"/>
            </a:schemeClr>
          </a:solidFill>
        </p:spPr>
        <p:txBody>
          <a:bodyPr wrap="square" lIns="32645" tIns="32645" rIns="32645" bIns="32645" rtlCol="0">
            <a:spAutoFit/>
          </a:bodyPr>
          <a:lstStyle/>
          <a:p>
            <a:pPr algn="ctr">
              <a:buSzPct val="100000"/>
            </a:pPr>
            <a:r>
              <a:rPr lang="en-GB" sz="1088" dirty="0">
                <a:solidFill>
                  <a:srgbClr val="313131"/>
                </a:solidFill>
              </a:rPr>
              <a:t>Tariff Order for</a:t>
            </a:r>
          </a:p>
          <a:p>
            <a:pPr algn="ctr">
              <a:buSzPct val="100000"/>
            </a:pPr>
            <a:r>
              <a:rPr lang="en-GB" sz="1088" dirty="0">
                <a:solidFill>
                  <a:srgbClr val="313131"/>
                </a:solidFill>
              </a:rPr>
              <a:t>FY11</a:t>
            </a:r>
          </a:p>
          <a:p>
            <a:pPr algn="ctr">
              <a:buSzPct val="100000"/>
            </a:pPr>
            <a:r>
              <a:rPr lang="en-GB" sz="1088" dirty="0">
                <a:solidFill>
                  <a:srgbClr val="313131"/>
                </a:solidFill>
              </a:rPr>
              <a:t>issued on</a:t>
            </a:r>
          </a:p>
          <a:p>
            <a:pPr algn="ctr">
              <a:buSzPct val="100000"/>
            </a:pPr>
            <a:r>
              <a:rPr lang="en-GB" sz="1088" dirty="0">
                <a:solidFill>
                  <a:srgbClr val="313131"/>
                </a:solidFill>
              </a:rPr>
              <a:t>29 Jul 2010</a:t>
            </a:r>
          </a:p>
        </p:txBody>
      </p:sp>
      <p:sp>
        <p:nvSpPr>
          <p:cNvPr id="89" name="TextBox 88"/>
          <p:cNvSpPr txBox="1"/>
          <p:nvPr/>
        </p:nvSpPr>
        <p:spPr>
          <a:xfrm>
            <a:off x="4050954" y="3881626"/>
            <a:ext cx="1034319" cy="903016"/>
          </a:xfrm>
          <a:prstGeom prst="rect">
            <a:avLst/>
          </a:prstGeom>
          <a:solidFill>
            <a:schemeClr val="accent1">
              <a:lumMod val="20000"/>
              <a:lumOff val="80000"/>
            </a:schemeClr>
          </a:solidFill>
        </p:spPr>
        <p:txBody>
          <a:bodyPr wrap="square" lIns="32645" tIns="32645" rIns="32645" bIns="32645" rtlCol="0">
            <a:spAutoFit/>
          </a:bodyPr>
          <a:lstStyle/>
          <a:p>
            <a:pPr algn="ctr">
              <a:buSzPct val="100000"/>
            </a:pPr>
            <a:r>
              <a:rPr lang="en-GB" sz="1088" dirty="0">
                <a:solidFill>
                  <a:srgbClr val="313131"/>
                </a:solidFill>
              </a:rPr>
              <a:t>Tariff Order for</a:t>
            </a:r>
          </a:p>
          <a:p>
            <a:pPr algn="ctr">
              <a:buSzPct val="100000"/>
            </a:pPr>
            <a:r>
              <a:rPr lang="en-GB" sz="1088" dirty="0">
                <a:solidFill>
                  <a:srgbClr val="313131"/>
                </a:solidFill>
              </a:rPr>
              <a:t>FY12 &amp; FY13</a:t>
            </a:r>
          </a:p>
          <a:p>
            <a:pPr algn="ctr">
              <a:buSzPct val="100000"/>
            </a:pPr>
            <a:r>
              <a:rPr lang="en-GB" sz="1088" dirty="0">
                <a:solidFill>
                  <a:srgbClr val="313131"/>
                </a:solidFill>
              </a:rPr>
              <a:t>issued on</a:t>
            </a:r>
          </a:p>
          <a:p>
            <a:pPr algn="ctr">
              <a:buSzPct val="100000"/>
            </a:pPr>
            <a:r>
              <a:rPr lang="en-GB" sz="1088" dirty="0">
                <a:solidFill>
                  <a:srgbClr val="313131"/>
                </a:solidFill>
              </a:rPr>
              <a:t>01 Dec 2012</a:t>
            </a:r>
          </a:p>
        </p:txBody>
      </p:sp>
      <p:sp>
        <p:nvSpPr>
          <p:cNvPr id="92" name="TextBox 91"/>
          <p:cNvSpPr txBox="1"/>
          <p:nvPr/>
        </p:nvSpPr>
        <p:spPr>
          <a:xfrm>
            <a:off x="5404011" y="3872054"/>
            <a:ext cx="1034319" cy="903016"/>
          </a:xfrm>
          <a:prstGeom prst="rect">
            <a:avLst/>
          </a:prstGeom>
          <a:solidFill>
            <a:schemeClr val="accent1">
              <a:lumMod val="20000"/>
              <a:lumOff val="80000"/>
            </a:schemeClr>
          </a:solidFill>
        </p:spPr>
        <p:txBody>
          <a:bodyPr wrap="square" lIns="32645" tIns="32645" rIns="32645" bIns="32645" rtlCol="0">
            <a:spAutoFit/>
          </a:bodyPr>
          <a:lstStyle/>
          <a:p>
            <a:pPr algn="ctr">
              <a:buSzPct val="100000"/>
            </a:pPr>
            <a:r>
              <a:rPr lang="en-GB" sz="1088" dirty="0">
                <a:solidFill>
                  <a:srgbClr val="313131"/>
                </a:solidFill>
              </a:rPr>
              <a:t>Tariff Order for</a:t>
            </a:r>
          </a:p>
          <a:p>
            <a:pPr algn="ctr">
              <a:buSzPct val="100000"/>
            </a:pPr>
            <a:r>
              <a:rPr lang="en-GB" sz="1088" dirty="0">
                <a:solidFill>
                  <a:srgbClr val="313131"/>
                </a:solidFill>
              </a:rPr>
              <a:t>FY14</a:t>
            </a:r>
          </a:p>
          <a:p>
            <a:pPr algn="ctr">
              <a:buSzPct val="100000"/>
            </a:pPr>
            <a:r>
              <a:rPr lang="en-GB" sz="1088" dirty="0">
                <a:solidFill>
                  <a:srgbClr val="313131"/>
                </a:solidFill>
              </a:rPr>
              <a:t>issued on</a:t>
            </a:r>
          </a:p>
          <a:p>
            <a:pPr algn="ctr">
              <a:buSzPct val="100000"/>
            </a:pPr>
            <a:r>
              <a:rPr lang="en-GB" sz="1088" dirty="0">
                <a:solidFill>
                  <a:srgbClr val="313131"/>
                </a:solidFill>
              </a:rPr>
              <a:t>26 Dec 2013</a:t>
            </a:r>
          </a:p>
        </p:txBody>
      </p:sp>
      <p:sp>
        <p:nvSpPr>
          <p:cNvPr id="99" name="TextBox 98"/>
          <p:cNvSpPr txBox="1"/>
          <p:nvPr/>
        </p:nvSpPr>
        <p:spPr>
          <a:xfrm>
            <a:off x="6619922" y="3874244"/>
            <a:ext cx="1034319" cy="903016"/>
          </a:xfrm>
          <a:prstGeom prst="rect">
            <a:avLst/>
          </a:prstGeom>
          <a:solidFill>
            <a:schemeClr val="accent1">
              <a:lumMod val="20000"/>
              <a:lumOff val="80000"/>
            </a:schemeClr>
          </a:solidFill>
        </p:spPr>
        <p:txBody>
          <a:bodyPr wrap="square" lIns="32645" tIns="32645" rIns="32645" bIns="32645" rtlCol="0">
            <a:spAutoFit/>
          </a:bodyPr>
          <a:lstStyle/>
          <a:p>
            <a:pPr algn="ctr">
              <a:buSzPct val="100000"/>
            </a:pPr>
            <a:r>
              <a:rPr lang="en-GB" sz="1088" dirty="0">
                <a:solidFill>
                  <a:srgbClr val="313131"/>
                </a:solidFill>
              </a:rPr>
              <a:t>Tariff Order for</a:t>
            </a:r>
          </a:p>
          <a:p>
            <a:pPr algn="ctr">
              <a:buSzPct val="100000"/>
            </a:pPr>
            <a:r>
              <a:rPr lang="en-GB" sz="1088" dirty="0">
                <a:solidFill>
                  <a:srgbClr val="313131"/>
                </a:solidFill>
              </a:rPr>
              <a:t>FY15</a:t>
            </a:r>
          </a:p>
          <a:p>
            <a:pPr algn="ctr">
              <a:buSzPct val="100000"/>
            </a:pPr>
            <a:r>
              <a:rPr lang="en-GB" sz="1088" dirty="0">
                <a:solidFill>
                  <a:srgbClr val="313131"/>
                </a:solidFill>
              </a:rPr>
              <a:t>issued on</a:t>
            </a:r>
          </a:p>
          <a:p>
            <a:pPr algn="ctr">
              <a:buSzPct val="100000"/>
            </a:pPr>
            <a:r>
              <a:rPr lang="en-GB" sz="1088" dirty="0">
                <a:solidFill>
                  <a:srgbClr val="313131"/>
                </a:solidFill>
              </a:rPr>
              <a:t>04 Mar 2015</a:t>
            </a:r>
          </a:p>
        </p:txBody>
      </p:sp>
      <p:sp>
        <p:nvSpPr>
          <p:cNvPr id="106" name="TextBox 105"/>
          <p:cNvSpPr txBox="1"/>
          <p:nvPr/>
        </p:nvSpPr>
        <p:spPr>
          <a:xfrm>
            <a:off x="7755237" y="3881626"/>
            <a:ext cx="1034319" cy="903016"/>
          </a:xfrm>
          <a:prstGeom prst="rect">
            <a:avLst/>
          </a:prstGeom>
          <a:solidFill>
            <a:schemeClr val="accent1">
              <a:lumMod val="20000"/>
              <a:lumOff val="80000"/>
            </a:schemeClr>
          </a:solidFill>
        </p:spPr>
        <p:txBody>
          <a:bodyPr wrap="square" lIns="32645" tIns="32645" rIns="32645" bIns="32645" rtlCol="0">
            <a:spAutoFit/>
          </a:bodyPr>
          <a:lstStyle/>
          <a:p>
            <a:pPr algn="ctr">
              <a:buSzPct val="100000"/>
            </a:pPr>
            <a:r>
              <a:rPr lang="en-GB" sz="1088" dirty="0">
                <a:solidFill>
                  <a:srgbClr val="313131"/>
                </a:solidFill>
              </a:rPr>
              <a:t>Tariff Order for</a:t>
            </a:r>
          </a:p>
          <a:p>
            <a:pPr algn="ctr">
              <a:buSzPct val="100000"/>
            </a:pPr>
            <a:r>
              <a:rPr lang="en-GB" sz="1088" dirty="0">
                <a:solidFill>
                  <a:srgbClr val="313131"/>
                </a:solidFill>
              </a:rPr>
              <a:t>FY16</a:t>
            </a:r>
          </a:p>
          <a:p>
            <a:pPr algn="ctr">
              <a:buSzPct val="100000"/>
            </a:pPr>
            <a:r>
              <a:rPr lang="en-GB" sz="1088" dirty="0">
                <a:solidFill>
                  <a:srgbClr val="313131"/>
                </a:solidFill>
              </a:rPr>
              <a:t>issued on</a:t>
            </a:r>
          </a:p>
          <a:p>
            <a:pPr algn="ctr">
              <a:buSzPct val="100000"/>
            </a:pPr>
            <a:r>
              <a:rPr lang="en-GB" sz="1088" dirty="0">
                <a:solidFill>
                  <a:srgbClr val="313131"/>
                </a:solidFill>
              </a:rPr>
              <a:t>10 Aug 2015</a:t>
            </a:r>
          </a:p>
        </p:txBody>
      </p:sp>
      <p:sp>
        <p:nvSpPr>
          <p:cNvPr id="111" name="TextBox 110"/>
          <p:cNvSpPr txBox="1"/>
          <p:nvPr/>
        </p:nvSpPr>
        <p:spPr>
          <a:xfrm>
            <a:off x="8923235" y="3879145"/>
            <a:ext cx="1034319" cy="903016"/>
          </a:xfrm>
          <a:prstGeom prst="rect">
            <a:avLst/>
          </a:prstGeom>
          <a:solidFill>
            <a:schemeClr val="accent1">
              <a:lumMod val="20000"/>
              <a:lumOff val="80000"/>
            </a:schemeClr>
          </a:solidFill>
        </p:spPr>
        <p:txBody>
          <a:bodyPr wrap="square" lIns="32645" tIns="32645" rIns="32645" bIns="32645" rtlCol="0">
            <a:spAutoFit/>
          </a:bodyPr>
          <a:lstStyle/>
          <a:p>
            <a:pPr algn="ctr">
              <a:buSzPct val="100000"/>
            </a:pPr>
            <a:r>
              <a:rPr lang="en-GB" sz="1088" dirty="0">
                <a:solidFill>
                  <a:srgbClr val="313131"/>
                </a:solidFill>
              </a:rPr>
              <a:t>Tariff Order for</a:t>
            </a:r>
          </a:p>
          <a:p>
            <a:pPr algn="ctr">
              <a:buSzPct val="100000"/>
            </a:pPr>
            <a:r>
              <a:rPr lang="en-GB" sz="1088" dirty="0">
                <a:solidFill>
                  <a:srgbClr val="313131"/>
                </a:solidFill>
              </a:rPr>
              <a:t>FY17</a:t>
            </a:r>
          </a:p>
          <a:p>
            <a:pPr algn="ctr">
              <a:buSzPct val="100000"/>
            </a:pPr>
            <a:r>
              <a:rPr lang="en-GB" sz="1088" dirty="0">
                <a:solidFill>
                  <a:srgbClr val="313131"/>
                </a:solidFill>
              </a:rPr>
              <a:t>issued on</a:t>
            </a:r>
          </a:p>
          <a:p>
            <a:pPr algn="ctr">
              <a:buSzPct val="100000"/>
            </a:pPr>
            <a:r>
              <a:rPr lang="en-GB" sz="1088" dirty="0">
                <a:solidFill>
                  <a:srgbClr val="313131"/>
                </a:solidFill>
              </a:rPr>
              <a:t>28 Oct 2016</a:t>
            </a:r>
          </a:p>
        </p:txBody>
      </p:sp>
      <p:sp>
        <p:nvSpPr>
          <p:cNvPr id="121" name="TextBox 120"/>
          <p:cNvSpPr txBox="1"/>
          <p:nvPr/>
        </p:nvSpPr>
        <p:spPr>
          <a:xfrm>
            <a:off x="10423422" y="3881629"/>
            <a:ext cx="1034319" cy="903016"/>
          </a:xfrm>
          <a:prstGeom prst="rect">
            <a:avLst/>
          </a:prstGeom>
          <a:solidFill>
            <a:schemeClr val="accent1">
              <a:lumMod val="20000"/>
              <a:lumOff val="80000"/>
            </a:schemeClr>
          </a:solidFill>
        </p:spPr>
        <p:txBody>
          <a:bodyPr wrap="square" lIns="32645" tIns="32645" rIns="32645" bIns="32645" rtlCol="0">
            <a:spAutoFit/>
          </a:bodyPr>
          <a:lstStyle/>
          <a:p>
            <a:pPr algn="ctr">
              <a:buSzPct val="100000"/>
            </a:pPr>
            <a:r>
              <a:rPr lang="en-GB" sz="1088" dirty="0">
                <a:solidFill>
                  <a:srgbClr val="313131"/>
                </a:solidFill>
              </a:rPr>
              <a:t>Tariff Order for</a:t>
            </a:r>
          </a:p>
          <a:p>
            <a:pPr algn="ctr">
              <a:buSzPct val="100000"/>
            </a:pPr>
            <a:r>
              <a:rPr lang="en-GB" sz="1088" dirty="0">
                <a:solidFill>
                  <a:srgbClr val="313131"/>
                </a:solidFill>
              </a:rPr>
              <a:t>FY18</a:t>
            </a:r>
          </a:p>
          <a:p>
            <a:pPr algn="ctr">
              <a:buSzPct val="100000"/>
            </a:pPr>
            <a:r>
              <a:rPr lang="en-GB" sz="1088" dirty="0">
                <a:solidFill>
                  <a:srgbClr val="313131"/>
                </a:solidFill>
              </a:rPr>
              <a:t>issued on</a:t>
            </a:r>
          </a:p>
          <a:p>
            <a:pPr algn="ctr">
              <a:buSzPct val="100000"/>
            </a:pPr>
            <a:r>
              <a:rPr lang="en-GB" sz="1088" dirty="0">
                <a:solidFill>
                  <a:srgbClr val="313131"/>
                </a:solidFill>
              </a:rPr>
              <a:t>04 Jul 2018</a:t>
            </a:r>
          </a:p>
        </p:txBody>
      </p:sp>
      <p:sp>
        <p:nvSpPr>
          <p:cNvPr id="51" name="TextBox 50"/>
          <p:cNvSpPr txBox="1"/>
          <p:nvPr/>
        </p:nvSpPr>
        <p:spPr>
          <a:xfrm>
            <a:off x="344232" y="2173809"/>
            <a:ext cx="1034319" cy="903016"/>
          </a:xfrm>
          <a:prstGeom prst="rect">
            <a:avLst/>
          </a:prstGeom>
          <a:solidFill>
            <a:schemeClr val="accent3">
              <a:lumMod val="20000"/>
              <a:lumOff val="80000"/>
            </a:schemeClr>
          </a:solidFill>
        </p:spPr>
        <p:txBody>
          <a:bodyPr wrap="square" lIns="32645" tIns="32645" rIns="32645" bIns="32645" rtlCol="0">
            <a:spAutoFit/>
          </a:bodyPr>
          <a:lstStyle/>
          <a:p>
            <a:pPr algn="ctr">
              <a:buSzPct val="100000"/>
            </a:pPr>
            <a:r>
              <a:rPr lang="en-GB" sz="1088" dirty="0">
                <a:solidFill>
                  <a:srgbClr val="313131"/>
                </a:solidFill>
              </a:rPr>
              <a:t>MYT Petition for</a:t>
            </a:r>
          </a:p>
          <a:p>
            <a:pPr algn="ctr">
              <a:buSzPct val="100000"/>
            </a:pPr>
            <a:r>
              <a:rPr lang="en-GB" sz="1088" dirty="0">
                <a:solidFill>
                  <a:srgbClr val="313131"/>
                </a:solidFill>
              </a:rPr>
              <a:t>FY09 – FY11</a:t>
            </a:r>
          </a:p>
          <a:p>
            <a:pPr algn="ctr">
              <a:buSzPct val="100000"/>
            </a:pPr>
            <a:r>
              <a:rPr lang="en-GB" sz="1088" dirty="0">
                <a:solidFill>
                  <a:srgbClr val="313131"/>
                </a:solidFill>
              </a:rPr>
              <a:t>filed on</a:t>
            </a:r>
          </a:p>
          <a:p>
            <a:pPr algn="ctr">
              <a:buSzPct val="100000"/>
            </a:pPr>
            <a:r>
              <a:rPr lang="en-GB" sz="1088" dirty="0">
                <a:solidFill>
                  <a:srgbClr val="313131"/>
                </a:solidFill>
              </a:rPr>
              <a:t>02 Jun 2008</a:t>
            </a:r>
          </a:p>
        </p:txBody>
      </p:sp>
      <p:sp>
        <p:nvSpPr>
          <p:cNvPr id="56" name="TextBox 55"/>
          <p:cNvSpPr txBox="1"/>
          <p:nvPr/>
        </p:nvSpPr>
        <p:spPr>
          <a:xfrm>
            <a:off x="3274889" y="2173809"/>
            <a:ext cx="1034319" cy="903016"/>
          </a:xfrm>
          <a:prstGeom prst="rect">
            <a:avLst/>
          </a:prstGeom>
          <a:solidFill>
            <a:schemeClr val="accent3">
              <a:lumMod val="20000"/>
              <a:lumOff val="80000"/>
            </a:schemeClr>
          </a:solidFill>
        </p:spPr>
        <p:txBody>
          <a:bodyPr wrap="square" lIns="32645" tIns="32645" rIns="32645" bIns="32645" rtlCol="0">
            <a:spAutoFit/>
          </a:bodyPr>
          <a:lstStyle/>
          <a:p>
            <a:pPr algn="ctr">
              <a:buSzPct val="100000"/>
            </a:pPr>
            <a:r>
              <a:rPr lang="en-GB" sz="1088" dirty="0">
                <a:solidFill>
                  <a:srgbClr val="313131"/>
                </a:solidFill>
              </a:rPr>
              <a:t>MYT Petition for</a:t>
            </a:r>
          </a:p>
          <a:p>
            <a:pPr algn="ctr">
              <a:buSzPct val="100000"/>
            </a:pPr>
            <a:r>
              <a:rPr lang="en-GB" sz="1088" dirty="0">
                <a:solidFill>
                  <a:srgbClr val="313131"/>
                </a:solidFill>
              </a:rPr>
              <a:t>FY12 – FY14</a:t>
            </a:r>
          </a:p>
          <a:p>
            <a:pPr algn="ctr">
              <a:buSzPct val="100000"/>
            </a:pPr>
            <a:r>
              <a:rPr lang="en-GB" sz="1088" dirty="0">
                <a:solidFill>
                  <a:srgbClr val="313131"/>
                </a:solidFill>
              </a:rPr>
              <a:t>filed on</a:t>
            </a:r>
          </a:p>
          <a:p>
            <a:pPr algn="ctr">
              <a:buSzPct val="100000"/>
            </a:pPr>
            <a:r>
              <a:rPr lang="en-GB" sz="1088" dirty="0">
                <a:solidFill>
                  <a:srgbClr val="313131"/>
                </a:solidFill>
              </a:rPr>
              <a:t>05 Apr 2012</a:t>
            </a:r>
          </a:p>
        </p:txBody>
      </p:sp>
      <p:sp>
        <p:nvSpPr>
          <p:cNvPr id="61" name="TextBox 60"/>
          <p:cNvSpPr txBox="1"/>
          <p:nvPr/>
        </p:nvSpPr>
        <p:spPr>
          <a:xfrm>
            <a:off x="5287923" y="2170427"/>
            <a:ext cx="1034319" cy="903016"/>
          </a:xfrm>
          <a:prstGeom prst="rect">
            <a:avLst/>
          </a:prstGeom>
          <a:solidFill>
            <a:schemeClr val="accent3">
              <a:lumMod val="20000"/>
              <a:lumOff val="80000"/>
            </a:schemeClr>
          </a:solidFill>
        </p:spPr>
        <p:txBody>
          <a:bodyPr wrap="square" lIns="32645" tIns="32645" rIns="32645" bIns="32645" rtlCol="0">
            <a:spAutoFit/>
          </a:bodyPr>
          <a:lstStyle/>
          <a:p>
            <a:pPr algn="ctr">
              <a:buSzPct val="100000"/>
            </a:pPr>
            <a:r>
              <a:rPr lang="en-GB" sz="1088" dirty="0">
                <a:solidFill>
                  <a:srgbClr val="313131"/>
                </a:solidFill>
              </a:rPr>
              <a:t>MYT Petition for</a:t>
            </a:r>
          </a:p>
          <a:p>
            <a:pPr algn="ctr">
              <a:buSzPct val="100000"/>
            </a:pPr>
            <a:r>
              <a:rPr lang="en-GB" sz="1088" dirty="0">
                <a:solidFill>
                  <a:srgbClr val="313131"/>
                </a:solidFill>
              </a:rPr>
              <a:t>FY15 – FY17</a:t>
            </a:r>
          </a:p>
          <a:p>
            <a:pPr algn="ctr">
              <a:buSzPct val="100000"/>
            </a:pPr>
            <a:r>
              <a:rPr lang="en-GB" sz="1088" dirty="0">
                <a:solidFill>
                  <a:srgbClr val="313131"/>
                </a:solidFill>
              </a:rPr>
              <a:t>filed on</a:t>
            </a:r>
          </a:p>
          <a:p>
            <a:pPr algn="ctr">
              <a:buSzPct val="100000"/>
            </a:pPr>
            <a:r>
              <a:rPr lang="en-GB" sz="1088" dirty="0">
                <a:solidFill>
                  <a:srgbClr val="313131"/>
                </a:solidFill>
              </a:rPr>
              <a:t>24 Feb 2014</a:t>
            </a:r>
          </a:p>
        </p:txBody>
      </p:sp>
      <p:sp>
        <p:nvSpPr>
          <p:cNvPr id="64" name="TextBox 63"/>
          <p:cNvSpPr txBox="1"/>
          <p:nvPr/>
        </p:nvSpPr>
        <p:spPr>
          <a:xfrm>
            <a:off x="8649118" y="2170427"/>
            <a:ext cx="1034319" cy="903016"/>
          </a:xfrm>
          <a:prstGeom prst="rect">
            <a:avLst/>
          </a:prstGeom>
          <a:solidFill>
            <a:schemeClr val="accent3">
              <a:lumMod val="20000"/>
              <a:lumOff val="80000"/>
            </a:schemeClr>
          </a:solidFill>
        </p:spPr>
        <p:txBody>
          <a:bodyPr wrap="square" lIns="32645" tIns="32645" rIns="32645" bIns="32645" rtlCol="0">
            <a:spAutoFit/>
          </a:bodyPr>
          <a:lstStyle/>
          <a:p>
            <a:pPr algn="ctr">
              <a:buSzPct val="100000"/>
            </a:pPr>
            <a:r>
              <a:rPr lang="en-GB" sz="1088" dirty="0">
                <a:solidFill>
                  <a:srgbClr val="313131"/>
                </a:solidFill>
              </a:rPr>
              <a:t>Tariff Petition for</a:t>
            </a:r>
          </a:p>
          <a:p>
            <a:pPr algn="ctr">
              <a:buSzPct val="100000"/>
            </a:pPr>
            <a:r>
              <a:rPr lang="en-GB" sz="1088" dirty="0">
                <a:solidFill>
                  <a:srgbClr val="313131"/>
                </a:solidFill>
              </a:rPr>
              <a:t>FY18</a:t>
            </a:r>
          </a:p>
          <a:p>
            <a:pPr algn="ctr">
              <a:buSzPct val="100000"/>
            </a:pPr>
            <a:r>
              <a:rPr lang="en-GB" sz="1088" dirty="0">
                <a:solidFill>
                  <a:srgbClr val="313131"/>
                </a:solidFill>
              </a:rPr>
              <a:t>filed on</a:t>
            </a:r>
          </a:p>
          <a:p>
            <a:pPr algn="ctr">
              <a:buSzPct val="100000"/>
            </a:pPr>
            <a:r>
              <a:rPr lang="en-GB" sz="1088" dirty="0">
                <a:solidFill>
                  <a:srgbClr val="313131"/>
                </a:solidFill>
              </a:rPr>
              <a:t>22 Dec 2016</a:t>
            </a:r>
          </a:p>
        </p:txBody>
      </p:sp>
    </p:spTree>
    <p:extLst>
      <p:ext uri="{BB962C8B-B14F-4D97-AF65-F5344CB8AC3E}">
        <p14:creationId xmlns:p14="http://schemas.microsoft.com/office/powerpoint/2010/main" val="1649330604"/>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5" name="Rectangle 4" hidden="1"/>
          <p:cNvSpPr/>
          <p:nvPr>
            <p:custDataLst>
              <p:tags r:id="rId2"/>
            </p:custDataLst>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rtlCol="0" anchor="ctr"/>
          <a:lstStyle/>
          <a:p>
            <a:pPr algn="ctr" defTabSz="945677">
              <a:spcBef>
                <a:spcPct val="0"/>
              </a:spcBef>
              <a:spcAft>
                <a:spcPct val="0"/>
              </a:spcAft>
              <a:defRPr/>
            </a:pPr>
            <a:endParaRPr lang="en-US" sz="2282" dirty="0">
              <a:solidFill>
                <a:prstClr val="white"/>
              </a:solidFill>
              <a:latin typeface="Verdana" panose="020B0604030504040204" pitchFamily="34" charset="0"/>
              <a:sym typeface="Verdana" panose="020B0604030504040204" pitchFamily="34" charset="0"/>
            </a:endParaRPr>
          </a:p>
        </p:txBody>
      </p:sp>
      <p:sp>
        <p:nvSpPr>
          <p:cNvPr id="3" name="Title 2"/>
          <p:cNvSpPr>
            <a:spLocks noGrp="1"/>
          </p:cNvSpPr>
          <p:nvPr>
            <p:ph type="title"/>
          </p:nvPr>
        </p:nvSpPr>
        <p:spPr/>
        <p:txBody>
          <a:bodyPr/>
          <a:lstStyle/>
          <a:p>
            <a:r>
              <a:rPr lang="en-US" dirty="0"/>
              <a:t>Regulatory Asset has caused increasing burden of short-term loan and interest on WBSEDCL</a:t>
            </a:r>
            <a:endParaRPr lang="en-IN" sz="2176" dirty="0"/>
          </a:p>
        </p:txBody>
      </p:sp>
      <p:graphicFrame>
        <p:nvGraphicFramePr>
          <p:cNvPr id="12" name="Chart 11"/>
          <p:cNvGraphicFramePr/>
          <p:nvPr/>
        </p:nvGraphicFramePr>
        <p:xfrm>
          <a:off x="501872" y="1674969"/>
          <a:ext cx="10970674" cy="3198261"/>
        </p:xfrm>
        <a:graphic>
          <a:graphicData uri="http://schemas.openxmlformats.org/drawingml/2006/chart">
            <c:chart xmlns:c="http://schemas.openxmlformats.org/drawingml/2006/chart" xmlns:r="http://schemas.openxmlformats.org/officeDocument/2006/relationships" r:id="rId6"/>
          </a:graphicData>
        </a:graphic>
      </p:graphicFrame>
      <p:sp>
        <p:nvSpPr>
          <p:cNvPr id="13" name="TextBox 12"/>
          <p:cNvSpPr txBox="1"/>
          <p:nvPr/>
        </p:nvSpPr>
        <p:spPr>
          <a:xfrm>
            <a:off x="6560776" y="6650396"/>
            <a:ext cx="4927072" cy="139590"/>
          </a:xfrm>
          <a:prstGeom prst="rect">
            <a:avLst/>
          </a:prstGeom>
          <a:noFill/>
        </p:spPr>
        <p:txBody>
          <a:bodyPr wrap="square" lIns="0" tIns="0" rIns="0" bIns="0" rtlCol="0">
            <a:spAutoFit/>
          </a:bodyPr>
          <a:lstStyle/>
          <a:p>
            <a:pPr algn="r">
              <a:spcBef>
                <a:spcPts val="544"/>
              </a:spcBef>
              <a:buSzPct val="100000"/>
            </a:pPr>
            <a:r>
              <a:rPr lang="en-GB" sz="907" i="1" dirty="0">
                <a:solidFill>
                  <a:srgbClr val="313131"/>
                </a:solidFill>
              </a:rPr>
              <a:t>Data source: WBSEDCL’s Annual Reports</a:t>
            </a:r>
          </a:p>
        </p:txBody>
      </p:sp>
      <p:sp>
        <p:nvSpPr>
          <p:cNvPr id="14" name="TextBox 13"/>
          <p:cNvSpPr txBox="1"/>
          <p:nvPr/>
        </p:nvSpPr>
        <p:spPr>
          <a:xfrm>
            <a:off x="462739" y="5411754"/>
            <a:ext cx="11164597" cy="195438"/>
          </a:xfrm>
          <a:prstGeom prst="rect">
            <a:avLst/>
          </a:prstGeom>
          <a:solidFill>
            <a:schemeClr val="bg1"/>
          </a:solidFill>
        </p:spPr>
        <p:txBody>
          <a:bodyPr wrap="square" lIns="0" tIns="0" rIns="0" bIns="0" rtlCol="0">
            <a:spAutoFit/>
          </a:bodyPr>
          <a:lstStyle/>
          <a:p>
            <a:pPr>
              <a:spcBef>
                <a:spcPts val="544"/>
              </a:spcBef>
              <a:buSzPct val="100000"/>
            </a:pPr>
            <a:r>
              <a:rPr lang="en-GB" sz="1270" dirty="0">
                <a:solidFill>
                  <a:srgbClr val="313131"/>
                </a:solidFill>
              </a:rPr>
              <a:t>Increasing interest is adversely impacting WBSEDCL’s profitability</a:t>
            </a:r>
            <a:endParaRPr lang="en-GB" sz="1270" b="1" dirty="0">
              <a:solidFill>
                <a:srgbClr val="313131"/>
              </a:solidFill>
            </a:endParaRPr>
          </a:p>
        </p:txBody>
      </p:sp>
    </p:spTree>
    <p:extLst>
      <p:ext uri="{BB962C8B-B14F-4D97-AF65-F5344CB8AC3E}">
        <p14:creationId xmlns:p14="http://schemas.microsoft.com/office/powerpoint/2010/main" val="3369540872"/>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5" name="Rectangle 4" hidden="1"/>
          <p:cNvSpPr/>
          <p:nvPr>
            <p:custDataLst>
              <p:tags r:id="rId2"/>
            </p:custDataLst>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rtlCol="0" anchor="ctr"/>
          <a:lstStyle/>
          <a:p>
            <a:pPr algn="ctr" defTabSz="945677">
              <a:spcBef>
                <a:spcPct val="0"/>
              </a:spcBef>
              <a:spcAft>
                <a:spcPct val="0"/>
              </a:spcAft>
              <a:defRPr/>
            </a:pPr>
            <a:endParaRPr lang="en-US" sz="2282" dirty="0">
              <a:solidFill>
                <a:prstClr val="white"/>
              </a:solidFill>
              <a:latin typeface="Verdana" panose="020B0604030504040204" pitchFamily="34" charset="0"/>
              <a:sym typeface="Verdana" panose="020B0604030504040204" pitchFamily="34" charset="0"/>
            </a:endParaRPr>
          </a:p>
        </p:txBody>
      </p:sp>
      <p:sp>
        <p:nvSpPr>
          <p:cNvPr id="3" name="Title 2"/>
          <p:cNvSpPr>
            <a:spLocks noGrp="1"/>
          </p:cNvSpPr>
          <p:nvPr>
            <p:ph type="title"/>
          </p:nvPr>
        </p:nvSpPr>
        <p:spPr/>
        <p:txBody>
          <a:bodyPr/>
          <a:lstStyle/>
          <a:p>
            <a:r>
              <a:rPr lang="en-US" dirty="0"/>
              <a:t>Around 50% of WBSEDCL’s funding need over last five years has been met by Govt. Grants; Current position is still highly leveraged (D:E Ratio: 3:1)</a:t>
            </a:r>
            <a:endParaRPr lang="en-IN" sz="2176" dirty="0"/>
          </a:p>
        </p:txBody>
      </p:sp>
      <p:graphicFrame>
        <p:nvGraphicFramePr>
          <p:cNvPr id="7" name="Chart 6"/>
          <p:cNvGraphicFramePr/>
          <p:nvPr/>
        </p:nvGraphicFramePr>
        <p:xfrm>
          <a:off x="499185" y="1284371"/>
          <a:ext cx="8093534" cy="4679228"/>
        </p:xfrm>
        <a:graphic>
          <a:graphicData uri="http://schemas.openxmlformats.org/drawingml/2006/chart">
            <c:chart xmlns:c="http://schemas.openxmlformats.org/drawingml/2006/chart" xmlns:r="http://schemas.openxmlformats.org/officeDocument/2006/relationships" r:id="rId6"/>
          </a:graphicData>
        </a:graphic>
      </p:graphicFrame>
      <p:sp>
        <p:nvSpPr>
          <p:cNvPr id="10" name="TextBox 9"/>
          <p:cNvSpPr txBox="1"/>
          <p:nvPr/>
        </p:nvSpPr>
        <p:spPr>
          <a:xfrm>
            <a:off x="6560776" y="6650396"/>
            <a:ext cx="4927072" cy="139590"/>
          </a:xfrm>
          <a:prstGeom prst="rect">
            <a:avLst/>
          </a:prstGeom>
          <a:noFill/>
        </p:spPr>
        <p:txBody>
          <a:bodyPr wrap="square" lIns="0" tIns="0" rIns="0" bIns="0" rtlCol="0">
            <a:spAutoFit/>
          </a:bodyPr>
          <a:lstStyle/>
          <a:p>
            <a:pPr algn="r">
              <a:spcBef>
                <a:spcPts val="544"/>
              </a:spcBef>
              <a:buSzPct val="100000"/>
            </a:pPr>
            <a:r>
              <a:rPr lang="en-GB" sz="907" i="1" dirty="0">
                <a:solidFill>
                  <a:srgbClr val="313131"/>
                </a:solidFill>
              </a:rPr>
              <a:t>Data source: WBSEDCL’s Annual Reports and APR Petitions</a:t>
            </a:r>
          </a:p>
        </p:txBody>
      </p:sp>
      <p:graphicFrame>
        <p:nvGraphicFramePr>
          <p:cNvPr id="8" name="Chart 7"/>
          <p:cNvGraphicFramePr/>
          <p:nvPr/>
        </p:nvGraphicFramePr>
        <p:xfrm>
          <a:off x="8770356" y="1962661"/>
          <a:ext cx="3006793" cy="3344052"/>
        </p:xfrm>
        <a:graphic>
          <a:graphicData uri="http://schemas.openxmlformats.org/drawingml/2006/chart">
            <c:chart xmlns:c="http://schemas.openxmlformats.org/drawingml/2006/chart" xmlns:r="http://schemas.openxmlformats.org/officeDocument/2006/relationships" r:id="rId7"/>
          </a:graphicData>
        </a:graphic>
      </p:graphicFrame>
      <p:sp>
        <p:nvSpPr>
          <p:cNvPr id="11" name="TextBox 10"/>
          <p:cNvSpPr txBox="1"/>
          <p:nvPr/>
        </p:nvSpPr>
        <p:spPr>
          <a:xfrm>
            <a:off x="8770355" y="1307565"/>
            <a:ext cx="3006793" cy="586314"/>
          </a:xfrm>
          <a:prstGeom prst="rect">
            <a:avLst/>
          </a:prstGeom>
          <a:solidFill>
            <a:schemeClr val="bg1"/>
          </a:solidFill>
        </p:spPr>
        <p:txBody>
          <a:bodyPr wrap="square" lIns="0" tIns="0" rIns="0" bIns="0" rtlCol="0">
            <a:spAutoFit/>
          </a:bodyPr>
          <a:lstStyle/>
          <a:p>
            <a:pPr algn="ctr">
              <a:spcBef>
                <a:spcPts val="544"/>
              </a:spcBef>
              <a:buSzPct val="100000"/>
            </a:pPr>
            <a:r>
              <a:rPr lang="en-GB" sz="1270" dirty="0">
                <a:solidFill>
                  <a:srgbClr val="313131"/>
                </a:solidFill>
              </a:rPr>
              <a:t>Long-term debt and shareholders’ equity (</a:t>
            </a:r>
            <a:r>
              <a:rPr lang="en-GB" sz="1270" dirty="0" err="1">
                <a:solidFill>
                  <a:srgbClr val="313131"/>
                </a:solidFill>
              </a:rPr>
              <a:t>Rs</a:t>
            </a:r>
            <a:r>
              <a:rPr lang="en-GB" sz="1270" dirty="0">
                <a:solidFill>
                  <a:srgbClr val="313131"/>
                </a:solidFill>
              </a:rPr>
              <a:t>. Lakh) – FY19 Closing Balance</a:t>
            </a:r>
          </a:p>
        </p:txBody>
      </p:sp>
      <p:sp>
        <p:nvSpPr>
          <p:cNvPr id="12" name="TextBox 11"/>
          <p:cNvSpPr txBox="1"/>
          <p:nvPr/>
        </p:nvSpPr>
        <p:spPr>
          <a:xfrm>
            <a:off x="8683749" y="5425292"/>
            <a:ext cx="3180008" cy="454996"/>
          </a:xfrm>
          <a:prstGeom prst="rect">
            <a:avLst/>
          </a:prstGeom>
          <a:solidFill>
            <a:schemeClr val="bg1"/>
          </a:solidFill>
        </p:spPr>
        <p:txBody>
          <a:bodyPr wrap="square" lIns="0" tIns="0" rIns="0" bIns="0" rtlCol="0">
            <a:spAutoFit/>
          </a:bodyPr>
          <a:lstStyle/>
          <a:p>
            <a:pPr algn="ctr">
              <a:spcBef>
                <a:spcPts val="544"/>
              </a:spcBef>
              <a:buSzPct val="100000"/>
            </a:pPr>
            <a:r>
              <a:rPr lang="en-GB" sz="1270" dirty="0">
                <a:solidFill>
                  <a:srgbClr val="313131"/>
                </a:solidFill>
              </a:rPr>
              <a:t>Long-term debt to Equity ratio : 3:1</a:t>
            </a:r>
          </a:p>
          <a:p>
            <a:pPr algn="ctr">
              <a:spcBef>
                <a:spcPts val="544"/>
              </a:spcBef>
              <a:buSzPct val="100000"/>
            </a:pPr>
            <a:r>
              <a:rPr lang="en-GB" sz="1270" dirty="0">
                <a:solidFill>
                  <a:srgbClr val="313131"/>
                </a:solidFill>
              </a:rPr>
              <a:t>(as on 31.03.2019)</a:t>
            </a:r>
          </a:p>
        </p:txBody>
      </p:sp>
    </p:spTree>
    <p:extLst>
      <p:ext uri="{BB962C8B-B14F-4D97-AF65-F5344CB8AC3E}">
        <p14:creationId xmlns:p14="http://schemas.microsoft.com/office/powerpoint/2010/main" val="1373492082"/>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5" name="Rectangle 4" hidden="1"/>
          <p:cNvSpPr/>
          <p:nvPr>
            <p:custDataLst>
              <p:tags r:id="rId2"/>
            </p:custDataLst>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rtlCol="0" anchor="ctr"/>
          <a:lstStyle/>
          <a:p>
            <a:pPr algn="ctr" defTabSz="945677">
              <a:spcBef>
                <a:spcPct val="0"/>
              </a:spcBef>
              <a:spcAft>
                <a:spcPct val="0"/>
              </a:spcAft>
              <a:defRPr/>
            </a:pPr>
            <a:endParaRPr lang="en-US" sz="2282" dirty="0">
              <a:solidFill>
                <a:prstClr val="white"/>
              </a:solidFill>
              <a:latin typeface="Verdana" panose="020B0604030504040204" pitchFamily="34" charset="0"/>
              <a:sym typeface="Verdana" panose="020B0604030504040204" pitchFamily="34" charset="0"/>
            </a:endParaRPr>
          </a:p>
        </p:txBody>
      </p:sp>
      <p:sp>
        <p:nvSpPr>
          <p:cNvPr id="3" name="Title 2"/>
          <p:cNvSpPr>
            <a:spLocks noGrp="1"/>
          </p:cNvSpPr>
          <p:nvPr>
            <p:ph type="title"/>
          </p:nvPr>
        </p:nvSpPr>
        <p:spPr/>
        <p:txBody>
          <a:bodyPr/>
          <a:lstStyle/>
          <a:p>
            <a:r>
              <a:rPr lang="en-US" dirty="0"/>
              <a:t>Power purchase cost is the largest component in WBSEDCL’s cost structure, and is showing upward trend in last two years</a:t>
            </a:r>
            <a:endParaRPr lang="en-IN" sz="2176" dirty="0"/>
          </a:p>
        </p:txBody>
      </p:sp>
      <p:sp>
        <p:nvSpPr>
          <p:cNvPr id="10" name="TextBox 9"/>
          <p:cNvSpPr txBox="1"/>
          <p:nvPr/>
        </p:nvSpPr>
        <p:spPr>
          <a:xfrm>
            <a:off x="6560776" y="6650396"/>
            <a:ext cx="4927072" cy="139590"/>
          </a:xfrm>
          <a:prstGeom prst="rect">
            <a:avLst/>
          </a:prstGeom>
          <a:noFill/>
        </p:spPr>
        <p:txBody>
          <a:bodyPr wrap="square" lIns="0" tIns="0" rIns="0" bIns="0" rtlCol="0">
            <a:spAutoFit/>
          </a:bodyPr>
          <a:lstStyle/>
          <a:p>
            <a:pPr algn="r">
              <a:spcBef>
                <a:spcPts val="544"/>
              </a:spcBef>
              <a:buSzPct val="100000"/>
            </a:pPr>
            <a:r>
              <a:rPr lang="en-GB" sz="907" i="1" dirty="0">
                <a:solidFill>
                  <a:srgbClr val="313131"/>
                </a:solidFill>
              </a:rPr>
              <a:t>Data source: WBSEDCL’s Annual Reports</a:t>
            </a:r>
          </a:p>
        </p:txBody>
      </p:sp>
      <p:graphicFrame>
        <p:nvGraphicFramePr>
          <p:cNvPr id="9" name="Chart 8"/>
          <p:cNvGraphicFramePr/>
          <p:nvPr/>
        </p:nvGraphicFramePr>
        <p:xfrm>
          <a:off x="1581802" y="1545827"/>
          <a:ext cx="9028396" cy="218720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3" name="Chart 12"/>
          <p:cNvGraphicFramePr/>
          <p:nvPr/>
        </p:nvGraphicFramePr>
        <p:xfrm>
          <a:off x="1581802" y="4219879"/>
          <a:ext cx="9028396" cy="2187204"/>
        </p:xfrm>
        <a:graphic>
          <a:graphicData uri="http://schemas.openxmlformats.org/drawingml/2006/chart">
            <c:chart xmlns:c="http://schemas.openxmlformats.org/drawingml/2006/chart" xmlns:r="http://schemas.openxmlformats.org/officeDocument/2006/relationships" r:id="rId7"/>
          </a:graphicData>
        </a:graphic>
      </p:graphicFrame>
      <p:cxnSp>
        <p:nvCxnSpPr>
          <p:cNvPr id="14" name="Straight Arrow Connector 13"/>
          <p:cNvCxnSpPr/>
          <p:nvPr/>
        </p:nvCxnSpPr>
        <p:spPr>
          <a:xfrm flipV="1">
            <a:off x="601622" y="1323044"/>
            <a:ext cx="10970674" cy="0"/>
          </a:xfrm>
          <a:prstGeom prst="straightConnector1">
            <a:avLst/>
          </a:prstGeom>
          <a:ln>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582086" y="1211407"/>
            <a:ext cx="9027828" cy="223266"/>
          </a:xfrm>
          <a:prstGeom prst="rect">
            <a:avLst/>
          </a:prstGeom>
          <a:solidFill>
            <a:schemeClr val="bg1"/>
          </a:solidFill>
        </p:spPr>
        <p:txBody>
          <a:bodyPr wrap="square" lIns="0" tIns="0" rIns="0" bIns="0" rtlCol="0">
            <a:spAutoFit/>
          </a:bodyPr>
          <a:lstStyle/>
          <a:p>
            <a:pPr algn="ctr">
              <a:spcBef>
                <a:spcPts val="544"/>
              </a:spcBef>
              <a:buSzPct val="100000"/>
            </a:pPr>
            <a:r>
              <a:rPr lang="en-GB" sz="1451" b="1" dirty="0">
                <a:solidFill>
                  <a:srgbClr val="313131"/>
                </a:solidFill>
              </a:rPr>
              <a:t>Power purchase cost has remained ~70% of WBSEDCL’s total cost in the recent years</a:t>
            </a:r>
          </a:p>
        </p:txBody>
      </p:sp>
      <p:cxnSp>
        <p:nvCxnSpPr>
          <p:cNvPr id="16" name="Straight Arrow Connector 15"/>
          <p:cNvCxnSpPr/>
          <p:nvPr/>
        </p:nvCxnSpPr>
        <p:spPr>
          <a:xfrm flipV="1">
            <a:off x="601337" y="4036338"/>
            <a:ext cx="10970674" cy="0"/>
          </a:xfrm>
          <a:prstGeom prst="straightConnector1">
            <a:avLst/>
          </a:prstGeom>
          <a:ln>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92158" y="3924701"/>
            <a:ext cx="8207116" cy="223266"/>
          </a:xfrm>
          <a:prstGeom prst="rect">
            <a:avLst/>
          </a:prstGeom>
          <a:solidFill>
            <a:schemeClr val="bg1"/>
          </a:solidFill>
        </p:spPr>
        <p:txBody>
          <a:bodyPr wrap="square" lIns="0" tIns="0" rIns="0" bIns="0" rtlCol="0">
            <a:spAutoFit/>
          </a:bodyPr>
          <a:lstStyle/>
          <a:p>
            <a:pPr algn="ctr">
              <a:spcBef>
                <a:spcPts val="544"/>
              </a:spcBef>
              <a:buSzPct val="100000"/>
            </a:pPr>
            <a:r>
              <a:rPr lang="en-GB" sz="1451" b="1" dirty="0">
                <a:solidFill>
                  <a:srgbClr val="313131"/>
                </a:solidFill>
              </a:rPr>
              <a:t>Per-unit power purchase cost of WBSEDCL is increasing over last two years</a:t>
            </a:r>
          </a:p>
        </p:txBody>
      </p:sp>
    </p:spTree>
    <p:extLst>
      <p:ext uri="{BB962C8B-B14F-4D97-AF65-F5344CB8AC3E}">
        <p14:creationId xmlns:p14="http://schemas.microsoft.com/office/powerpoint/2010/main" val="2362062741"/>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5" name="Rectangle 4" hidden="1"/>
          <p:cNvSpPr/>
          <p:nvPr>
            <p:custDataLst>
              <p:tags r:id="rId2"/>
            </p:custDataLst>
          </p:nvPr>
        </p:nvSpPr>
        <p:spPr bwMode="gray">
          <a:xfrm>
            <a:off x="240" y="0"/>
            <a:ext cx="143955" cy="143955"/>
          </a:xfrm>
          <a:prstGeom prst="rect">
            <a:avLst/>
          </a:prstGeom>
          <a:solidFill>
            <a:schemeClr val="accent3"/>
          </a:solidFill>
          <a:ln w="19050" algn="ctr">
            <a:noFill/>
            <a:miter lim="800000"/>
            <a:headEnd/>
            <a:tailEnd/>
          </a:ln>
        </p:spPr>
        <p:txBody>
          <a:bodyPr wrap="none" lIns="0" tIns="0" rIns="0" bIns="0" rtlCol="0" anchor="ctr"/>
          <a:lstStyle/>
          <a:p>
            <a:pPr algn="ctr" defTabSz="945677">
              <a:spcBef>
                <a:spcPct val="0"/>
              </a:spcBef>
              <a:spcAft>
                <a:spcPct val="0"/>
              </a:spcAft>
              <a:defRPr/>
            </a:pPr>
            <a:endParaRPr lang="en-US" sz="2282" dirty="0">
              <a:solidFill>
                <a:prstClr val="white"/>
              </a:solidFill>
              <a:latin typeface="Verdana" panose="020B0604030504040204" pitchFamily="34" charset="0"/>
              <a:sym typeface="Verdana" panose="020B0604030504040204" pitchFamily="34" charset="0"/>
            </a:endParaRPr>
          </a:p>
        </p:txBody>
      </p:sp>
      <p:sp>
        <p:nvSpPr>
          <p:cNvPr id="3" name="Title 2"/>
          <p:cNvSpPr>
            <a:spLocks noGrp="1"/>
          </p:cNvSpPr>
          <p:nvPr>
            <p:ph type="title"/>
          </p:nvPr>
        </p:nvSpPr>
        <p:spPr/>
        <p:txBody>
          <a:bodyPr/>
          <a:lstStyle/>
          <a:p>
            <a:r>
              <a:rPr lang="en-US" dirty="0"/>
              <a:t>WBPDCL, the state-owned coal </a:t>
            </a:r>
            <a:r>
              <a:rPr lang="en-US" dirty="0" err="1"/>
              <a:t>genco</a:t>
            </a:r>
            <a:r>
              <a:rPr lang="en-US" dirty="0"/>
              <a:t>, is the major source for WBSEDCL’s power purchase, and contributes to WBSEDCL’s upward power purchase cost</a:t>
            </a:r>
            <a:endParaRPr lang="en-IN" sz="2176" dirty="0"/>
          </a:p>
        </p:txBody>
      </p:sp>
      <p:sp>
        <p:nvSpPr>
          <p:cNvPr id="10" name="TextBox 9"/>
          <p:cNvSpPr txBox="1"/>
          <p:nvPr/>
        </p:nvSpPr>
        <p:spPr>
          <a:xfrm>
            <a:off x="6560776" y="6650396"/>
            <a:ext cx="4927072" cy="139590"/>
          </a:xfrm>
          <a:prstGeom prst="rect">
            <a:avLst/>
          </a:prstGeom>
          <a:noFill/>
        </p:spPr>
        <p:txBody>
          <a:bodyPr wrap="square" lIns="0" tIns="0" rIns="0" bIns="0" rtlCol="0">
            <a:spAutoFit/>
          </a:bodyPr>
          <a:lstStyle/>
          <a:p>
            <a:pPr algn="r">
              <a:spcBef>
                <a:spcPts val="544"/>
              </a:spcBef>
              <a:buSzPct val="100000"/>
            </a:pPr>
            <a:r>
              <a:rPr lang="en-GB" sz="907" i="1" dirty="0">
                <a:solidFill>
                  <a:srgbClr val="313131"/>
                </a:solidFill>
              </a:rPr>
              <a:t>Data source: WBSEDCL’s Annual Reports</a:t>
            </a:r>
          </a:p>
        </p:txBody>
      </p:sp>
      <p:graphicFrame>
        <p:nvGraphicFramePr>
          <p:cNvPr id="9" name="Chart 8"/>
          <p:cNvGraphicFramePr/>
          <p:nvPr/>
        </p:nvGraphicFramePr>
        <p:xfrm>
          <a:off x="501873" y="1566358"/>
          <a:ext cx="5424232" cy="218720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3" name="Chart 12"/>
          <p:cNvGraphicFramePr/>
          <p:nvPr/>
        </p:nvGraphicFramePr>
        <p:xfrm>
          <a:off x="501872" y="4219879"/>
          <a:ext cx="11161911" cy="2187204"/>
        </p:xfrm>
        <a:graphic>
          <a:graphicData uri="http://schemas.openxmlformats.org/drawingml/2006/chart">
            <c:chart xmlns:c="http://schemas.openxmlformats.org/drawingml/2006/chart" xmlns:r="http://schemas.openxmlformats.org/officeDocument/2006/relationships" r:id="rId7"/>
          </a:graphicData>
        </a:graphic>
      </p:graphicFrame>
      <p:cxnSp>
        <p:nvCxnSpPr>
          <p:cNvPr id="14" name="Straight Arrow Connector 13"/>
          <p:cNvCxnSpPr/>
          <p:nvPr/>
        </p:nvCxnSpPr>
        <p:spPr>
          <a:xfrm flipV="1">
            <a:off x="601622" y="1323044"/>
            <a:ext cx="10970674" cy="0"/>
          </a:xfrm>
          <a:prstGeom prst="straightConnector1">
            <a:avLst/>
          </a:prstGeom>
          <a:ln>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537713" y="1211407"/>
            <a:ext cx="7116574" cy="223266"/>
          </a:xfrm>
          <a:prstGeom prst="rect">
            <a:avLst/>
          </a:prstGeom>
          <a:solidFill>
            <a:schemeClr val="bg1"/>
          </a:solidFill>
        </p:spPr>
        <p:txBody>
          <a:bodyPr wrap="square" lIns="0" tIns="0" rIns="0" bIns="0" rtlCol="0">
            <a:spAutoFit/>
          </a:bodyPr>
          <a:lstStyle/>
          <a:p>
            <a:pPr algn="ctr">
              <a:spcBef>
                <a:spcPts val="544"/>
              </a:spcBef>
              <a:buSzPct val="100000"/>
            </a:pPr>
            <a:r>
              <a:rPr lang="en-GB" sz="1451" b="1" dirty="0">
                <a:solidFill>
                  <a:srgbClr val="313131"/>
                </a:solidFill>
              </a:rPr>
              <a:t>Over 50% of WBSEDCL’s power purchase is sourced from WBPDCL</a:t>
            </a:r>
          </a:p>
        </p:txBody>
      </p:sp>
      <p:cxnSp>
        <p:nvCxnSpPr>
          <p:cNvPr id="16" name="Straight Arrow Connector 15"/>
          <p:cNvCxnSpPr/>
          <p:nvPr/>
        </p:nvCxnSpPr>
        <p:spPr>
          <a:xfrm flipV="1">
            <a:off x="601337" y="4036338"/>
            <a:ext cx="10970674" cy="0"/>
          </a:xfrm>
          <a:prstGeom prst="straightConnector1">
            <a:avLst/>
          </a:prstGeom>
          <a:ln>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411466" y="3924701"/>
            <a:ext cx="9369068" cy="223266"/>
          </a:xfrm>
          <a:prstGeom prst="rect">
            <a:avLst/>
          </a:prstGeom>
          <a:solidFill>
            <a:schemeClr val="bg1"/>
          </a:solidFill>
        </p:spPr>
        <p:txBody>
          <a:bodyPr wrap="square" lIns="0" tIns="0" rIns="0" bIns="0" rtlCol="0">
            <a:spAutoFit/>
          </a:bodyPr>
          <a:lstStyle/>
          <a:p>
            <a:pPr algn="ctr">
              <a:spcBef>
                <a:spcPts val="544"/>
              </a:spcBef>
              <a:buSzPct val="100000"/>
            </a:pPr>
            <a:r>
              <a:rPr lang="en-GB" sz="1451" b="1" dirty="0">
                <a:solidFill>
                  <a:srgbClr val="313131"/>
                </a:solidFill>
              </a:rPr>
              <a:t>WBPDCL’s power cost has been majorly driving WBSEDCL’s overall power purchase cost</a:t>
            </a:r>
          </a:p>
        </p:txBody>
      </p:sp>
      <p:graphicFrame>
        <p:nvGraphicFramePr>
          <p:cNvPr id="18" name="Chart 17"/>
          <p:cNvGraphicFramePr/>
          <p:nvPr/>
        </p:nvGraphicFramePr>
        <p:xfrm>
          <a:off x="6239551" y="1566358"/>
          <a:ext cx="5424232" cy="2187204"/>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442386981"/>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5121&quot;/&gt;&lt;CPresentation id=&quot;1&quot;&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RD6gpKghSCG6RYhJshi8V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zKJHs8hbROSbR_bd6j2xx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YCeo1uxhS2SIlrhC9JZAF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R2B0xUzzRayi20qJY5iE5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dPcIktnJPin_Jmsushpl8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NBLJQVrLjMM9kGzpuYPxw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ilDIGrLyJoCokdjj79.oH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Fa8z1wPua4A2.IrQNvKoI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ebA0khDwvPINE8PpPtfJh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CVX_m7BGbIK7uMEOCeLFY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UDlc7R5g0K_5d5WK_cEWt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FI3gJsTC2eNRqU0MDzelm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EOri5L4ZklQz7zQAU34JK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QJkfnHEXJ5pBCUk6bbXXU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bYZQ2O_VF.bCfjbUs8kPf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oupKfsUj19yUbUz3A_BLr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TH7F8GSN1Q42XfOlYHCvp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10wut2h2W.OOXPxcoNRrS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bgUlkZh21DdZh9TR7I1Tj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bijeKClKCBz42KNxwLq8R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5.O5T0zqrNBFPvEHAuYYd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cQrNE_QSVCpWB02W8gc0r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RXCkmHiEvwhi2KJ7K4Mdag"/>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ygXbecZyUb8iEnZb1Cr1W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IkeWfJZR3aiTIuitahVSa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ygXbecZyUb8iEnZb1Cr1Ww"/>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IkeWfJZR3aiTIuitahVSa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NBLJQVrLjMM9kGzpuYPxwQ"/>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Fa8z1wPua4A2.IrQNvKoIA"/>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ebA0khDwvPINE8PpPtfJh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NBLJQVrLjMM9kGzpuYPxw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Fa8z1wPua4A2.IrQNvKoI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ebA0khDwvPINE8PpPtfJh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NBLJQVrLjMM9kGzpuYPxw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Fa8z1wPua4A2.IrQNvKoIA"/>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ebA0khDwvPINE8PpPtfJh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NBLJQVrLjMM9kGzpuYPxwQ"/>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Fa8z1wPua4A2.IrQNvKoI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ebA0khDwvPINE8PpPtfJh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R2B0xUzzRayi20qJY5iE5A"/>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33DmucY_0i3fE91Ez27sPg"/>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ABizLaKFGwTPvlEUIXjmHg"/>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GaCntY9PWKMRSt_DXmjghQ"/>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EUxONWtiXnK7lqxwI9ETUA"/>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U9k6OSEHwQror6Lalm92xg"/>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BF1x4HjsHo7gkmKHJrl2Pw"/>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PrAI2QQohbXuZ_Q6StbUow"/>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B8JrDsA1flbs6aorcn_QnQ"/>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zBJAsMyn_JrQUX6AlRASyw"/>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rf5obaqD3CDhQfJ1rzc.hA"/>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ZdfLdcqZi2rSKrmBulxiz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CLr0zKD_5WPSWvdHW6EpV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NCbAEzjdZCxq0yb2hnrLA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J9zhDKhxmZPnSsw1IhVlj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BRyzUMvlzR_Amf8NRfX.x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JvpTAqRUdvHTtuONiMHf2A"/>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wdd4PLCsiTB3AEmhMOxQ"/>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TRPhDv.9FEDBgR3ktEqCNw"/>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JUwM6QyqqKzj.b8K65yue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dq4lTsRb_59p4UP7qiU9FA"/>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D6PsKyzAj30nyj7os.No8Q"/>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R2B0xUzzRayi20qJY5iE5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k5NTJMqoE44wbi84IMzgXA"/>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_DIiN6u8FvIC6yYBux5kOA"/>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la2RJ5JByjj3pXnH_u1L_g"/>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BqF8uJW0gf0UlPmHFsBm7A"/>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zNKhzNpr8_A1Bjd.mtWwVg"/>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FuuQfNag7NAUoJr7aLenKA"/>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Gn_umPb9uRiA52plk_2QO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0iRSecDz7zOx7nohyr1LDQ"/>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I6ERUE2HW84Kg9_5QcErl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_9NoVYvJ52jHhcOziwlYOw"/>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PLroQjyp_HU.oDZAxUGqwg"/>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wW9jJjm1KIKnsXQ_uQja6g"/>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rGihGXySYkmOdR_1l4l11Q"/>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idex2N9H4Koo4qPp.Rgcbg"/>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SshkNV_XA4Vmgzz3YLhPGA"/>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f9DHJYShOoAkzmTQ7S1iJQ"/>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bh3Tl8ZBvYeuevrQ_cAwW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whvUvkAFGg.EqMMTHrNCnA"/>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1iJBMNfGfBAmT5Uy4liElA"/>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4deQI2LePKz2ubxNOMoKdw"/>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Eikm5t3JJ4bPe5xQLO3Giw"/>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o03c3yIdE.lEU6RVTYd.Xw"/>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Snof6Zzicc_mIgGvSfBMiQ"/>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_sv0HnIRR5Z8_jd77oRhH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yJ8MkArUl.vJVwf3o6ZuoA"/>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1stS9aRtw88M2qGXirozdQ"/>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XsHRvZgsB_0x0yYtIIgCXg"/>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E.SSwgDzKlyCOCBEy8kw"/>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VvHH4Tp1gwltzD9MqMZTkA"/>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6wfBLP5kOUqRmOZk71Mxwg"/>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iGr83UlPrmnHbuvdQufdkQ"/>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8aA0cXo6hDDmkhIyez6IC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nSHV9.xe1qJdC0EwaQ84VA"/>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FgGZdSz2ToDo3Cn9HFf9IA"/>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lRHZY5.csT43pSID5JNuqA"/>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_nWacNVoJEmnaK.g5cdUcA"/>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X_xhOFningQ7b720NeuRg"/>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QhMZ5qZTpM5zlfEZlUfsLg"/>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e42tvf2_Vwxaa0R91Uwunw"/>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rm0ebP6EQn4WvCEit4Sktg"/>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xd4K.H0_Mb5ez3Jm3DgJiA"/>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w6Co4dYImA4LF2AtQd3OSQ"/>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ivqTScTt05Mt4oEdxxxMew"/>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j5czVJIYPuB42R5tTlYRDw"/>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r_XhDAR_lR_rUGYLtmqRvQ"/>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8Tc6Xg8b9e_uVuEtvs7VAw"/>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a5fKoFvBdExtaR_geCfeLg"/>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dldRCTE1wdVjzGDfM3ihBA"/>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IW7UUjCB_m6Djy1XFHbk5g"/>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tj1CZZ2rXIvYIrpyGObczA"/>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R2B0xUzzRayi20qJY5iE5A"/>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R2B0xUzzRayi20qJY5iE5A"/>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6_1nbj8wRE6BIzz0.0_BFA"/>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pkhbUMu1NZUmZwJM3VtP.oQ"/>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pNGlFChzttkuwXnYiBKvvhg"/>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pTRW6vsrAnE.ByQ0fCSCIRg"/>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pwsHhU28N8EGPNav81qgGHA"/>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p2ES7cFyfzEqS2QzDxqtLVw"/>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pWU6yHTbDEEyZH.gBiR9ejA"/>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poXrVH0ld.kqPe.GOdWwH1A"/>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p3ZJX5qC8MkWIXbeKoUeQyA"/>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p5AfTCnmIn06cLTN5M5PeMw"/>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pyv8p_1EZxEuOjsBfPGzwGQ"/>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pm6_qiGFpYE2tyzoXW0mTWQ"/>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kMtXL6HpQXKqftWiPQd16g"/>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kMtXL6HpQXKqftWiPQd16g"/>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fOihHZ4hYLfu9IM5gCIoSw"/>
</p:tagLst>
</file>

<file path=ppt/tags/tag164.xml><?xml version="1.0" encoding="utf-8"?>
<p:tagLst xmlns:a="http://schemas.openxmlformats.org/drawingml/2006/main" xmlns:r="http://schemas.openxmlformats.org/officeDocument/2006/relationships" xmlns:p="http://schemas.openxmlformats.org/presentationml/2006/main">
  <p:tag name="TEMPLAFYSLIDEID" val="636090605918013724"/>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d98SILndTr2UUVyyPYM3tw"/>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d98SILndTr2UUVyyPYM3tw"/>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d98SILndTr2UUVyyPYM3tw"/>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d98SILndTr2UUVyyPYM3tw"/>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d98SILndTr2UUVyyPYM3tw"/>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d98SILndTr2UUVyyPYM3tw"/>
</p:tagLst>
</file>

<file path=ppt/theme/theme1.xml><?xml version="1.0" encoding="utf-8"?>
<a:theme xmlns:a="http://schemas.openxmlformats.org/drawingml/2006/main" name="1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2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3.xml><?xml version="1.0" encoding="utf-8"?>
<a:theme xmlns:a="http://schemas.openxmlformats.org/drawingml/2006/main" name="1_Deloitte_UK_Onscreen">
  <a:themeElements>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solidFill>
            <a:schemeClr val="accent3"/>
          </a:solidFill>
          <a:miter lim="800000"/>
          <a:headEnd/>
          <a:tailEnd/>
        </a:ln>
      </a:spPr>
      <a:bodyPr wrap="square" lIns="88900" tIns="88900" rIns="88900" bIns="88900" rtlCol="0" anchor="ctr"/>
      <a:lstStyle>
        <a:defPPr algn="ctr">
          <a:lnSpc>
            <a:spcPct val="106000"/>
          </a:lnSpc>
          <a:buFont typeface="Wingdings 2" pitchFamily="18" charset="2"/>
          <a:buNone/>
          <a:defRPr sz="1600" b="1" noProof="0" dirty="0" err="1">
            <a:solidFill>
              <a:schemeClr val="bg1"/>
            </a:solidFill>
          </a:defRPr>
        </a:defPPr>
      </a:lstStyle>
    </a:spDef>
    <a:lnDef>
      <a:spPr>
        <a:ln>
          <a:solidFill>
            <a:srgbClr val="4454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34000" indent="-234000">
          <a:spcBef>
            <a:spcPts val="0"/>
          </a:spcBef>
          <a:spcAft>
            <a:spcPts val="1333"/>
          </a:spcAft>
          <a:buSzPct val="100000"/>
          <a:buFont typeface="Arial"/>
          <a:buChar char="•"/>
          <a:defRPr sz="1200" noProof="0" dirty="0" err="1">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 widescreen (16-9).potx" id="{D15CC715-B911-44C1-9E94-DDBA3AD356C4}" vid="{6A3836AB-5DCF-4D2F-8285-FE1EF7A83340}"/>
    </a:ext>
  </a:extLst>
</a:theme>
</file>

<file path=ppt/theme/theme4.xml><?xml version="1.0" encoding="utf-8"?>
<a:theme xmlns:a="http://schemas.openxmlformats.org/drawingml/2006/main" name="3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54D36E-9EF4-45FB-A110-F5062C6023D7}">
  <ds:schemaRefs>
    <ds:schemaRef ds:uri="http://purl.org/dc/dcmitype/"/>
    <ds:schemaRef ds:uri="http://purl.org/dc/terms/"/>
    <ds:schemaRef ds:uri="86e0598b-b165-4e10-9942-c445ed7b2dd4"/>
    <ds:schemaRef ds:uri="http://schemas.openxmlformats.org/package/2006/metadata/core-properties"/>
    <ds:schemaRef ds:uri="56e355e2-a369-4830-a51e-04ce08b6bb22"/>
    <ds:schemaRef ds:uri="http://purl.org/dc/elements/1.1/"/>
    <ds:schemaRef ds:uri="http://schemas.microsoft.com/office/2006/documentManagement/types"/>
    <ds:schemaRef ds:uri="http://www.w3.org/XML/1998/namespace"/>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124D7DF5-2DEA-4939-A487-A40714D422A9}">
  <ds:schemaRefs>
    <ds:schemaRef ds:uri="http://schemas.microsoft.com/sharepoint/v3/contenttype/forms"/>
  </ds:schemaRefs>
</ds:datastoreItem>
</file>

<file path=customXml/itemProps3.xml><?xml version="1.0" encoding="utf-8"?>
<ds:datastoreItem xmlns:ds="http://schemas.openxmlformats.org/officeDocument/2006/customXml" ds:itemID="{BBF96FB1-AF17-4B73-B4F1-C00B90516848}"/>
</file>

<file path=docProps/app.xml><?xml version="1.0" encoding="utf-8"?>
<Properties xmlns="http://schemas.openxmlformats.org/officeDocument/2006/extended-properties" xmlns:vt="http://schemas.openxmlformats.org/officeDocument/2006/docPropsVTypes">
  <Template>4_3 Deloitte Consulting PPT Template</Template>
  <TotalTime>37611</TotalTime>
  <Words>8087</Words>
  <Application>Microsoft Office PowerPoint</Application>
  <PresentationFormat>Widescreen</PresentationFormat>
  <Paragraphs>1364</Paragraphs>
  <Slides>42</Slides>
  <Notes>8</Notes>
  <HiddenSlides>0</HiddenSlides>
  <MMClips>0</MMClips>
  <ScaleCrop>false</ScaleCrop>
  <HeadingPairs>
    <vt:vector size="8" baseType="variant">
      <vt:variant>
        <vt:lpstr>Fonts Used</vt:lpstr>
      </vt:variant>
      <vt:variant>
        <vt:i4>7</vt:i4>
      </vt:variant>
      <vt:variant>
        <vt:lpstr>Theme</vt:lpstr>
      </vt:variant>
      <vt:variant>
        <vt:i4>4</vt:i4>
      </vt:variant>
      <vt:variant>
        <vt:lpstr>Embedded OLE Servers</vt:lpstr>
      </vt:variant>
      <vt:variant>
        <vt:i4>1</vt:i4>
      </vt:variant>
      <vt:variant>
        <vt:lpstr>Slide Titles</vt:lpstr>
      </vt:variant>
      <vt:variant>
        <vt:i4>42</vt:i4>
      </vt:variant>
    </vt:vector>
  </HeadingPairs>
  <TitlesOfParts>
    <vt:vector size="54" baseType="lpstr">
      <vt:lpstr>Arial</vt:lpstr>
      <vt:lpstr>Calibri</vt:lpstr>
      <vt:lpstr>Calibri Light</vt:lpstr>
      <vt:lpstr>Open Sans Light</vt:lpstr>
      <vt:lpstr>Verdana</vt:lpstr>
      <vt:lpstr>Wingdings</vt:lpstr>
      <vt:lpstr>Wingdings 2</vt:lpstr>
      <vt:lpstr>1_Deloitte 16_9 onscreen</vt:lpstr>
      <vt:lpstr>2_Deloitte 16_9 onscreen</vt:lpstr>
      <vt:lpstr>1_Deloitte_UK_Onscreen</vt:lpstr>
      <vt:lpstr>3_Deloitte 16_9 onscreen</vt:lpstr>
      <vt:lpstr>think-cell Slide</vt:lpstr>
      <vt:lpstr>Headline Verdana Bold</vt:lpstr>
      <vt:lpstr>Our understanding of the West Bengal Power Sector Context and Scope of Work </vt:lpstr>
      <vt:lpstr>Since unbundling of WBSEB in 2007, the West Bengal power sector has doubled the Installed Capacity and Electricity Supply, and achieved 100% electrification rate</vt:lpstr>
      <vt:lpstr>The growth in the sector has come amidst some challenges like high AT&amp;C losses, and regulatory asset build-up</vt:lpstr>
      <vt:lpstr>This has led to decline in profitability of WBSEDCL and liquidity issues; WBPDCL is facing operational challenges </vt:lpstr>
      <vt:lpstr>PowerPoint Presentation</vt:lpstr>
      <vt:lpstr>PowerPoint Presentation</vt:lpstr>
      <vt:lpstr>Our Understanding of Project Objective and Statement of Work</vt:lpstr>
      <vt:lpstr>Proposed approach &amp; methodology, tools, and work plan</vt:lpstr>
      <vt:lpstr>Detailed approach</vt:lpstr>
      <vt:lpstr>Module-1: Diagnostic Review &amp; Causal Analysis</vt:lpstr>
      <vt:lpstr>Module-2: Development of Strategic Vision 2030(1/2)</vt:lpstr>
      <vt:lpstr>Module-2: Development of Strategic Vision 2030(2/2)</vt:lpstr>
      <vt:lpstr>PowerPoint Presentation</vt:lpstr>
      <vt:lpstr>PowerPoint Presentation</vt:lpstr>
      <vt:lpstr>Team Structure</vt:lpstr>
      <vt:lpstr>Engagement Team – Team Leadership (1/2)</vt:lpstr>
      <vt:lpstr>Engagement Team – Senior Resources (2/2)</vt:lpstr>
      <vt:lpstr>PowerPoint Presentation</vt:lpstr>
      <vt:lpstr>Our Select Credentials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Study : A leading public sector company in India</vt:lpstr>
      <vt:lpstr>PowerPoint Presentation</vt:lpstr>
      <vt:lpstr>WBSEDCL’s profitability has declined over the years</vt:lpstr>
      <vt:lpstr>Irregular tariff revision and truing-up have contributed to the declining profitability of WBSEDCL</vt:lpstr>
      <vt:lpstr>Regulatory Asset has caused increasing burden of short-term loan and interest on WBSEDCL</vt:lpstr>
      <vt:lpstr>Around 50% of WBSEDCL’s funding need over last five years has been met by Govt. Grants; Current position is still highly leveraged (D:E Ratio: 3:1)</vt:lpstr>
      <vt:lpstr>Power purchase cost is the largest component in WBSEDCL’s cost structure, and is showing upward trend in last two years</vt:lpstr>
      <vt:lpstr>WBPDCL, the state-owned coal genco, is the major source for WBSEDCL’s power purchase, and contributes to WBSEDCL’s upward power purchase cost</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subject/>
  <dc:creator>Chirag Kadam</dc:creator>
  <cp:keywords/>
  <cp:lastModifiedBy>Khiroria, Adit</cp:lastModifiedBy>
  <cp:revision>1201</cp:revision>
  <cp:lastPrinted>2014-06-25T02:16:22Z</cp:lastPrinted>
  <dcterms:created xsi:type="dcterms:W3CDTF">2016-11-09T03:29:25Z</dcterms:created>
  <dcterms:modified xsi:type="dcterms:W3CDTF">2023-04-18T06:49:08Z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Local Content Type">
    <vt:lpwstr/>
  </property>
  <property fmtid="{D5CDD505-2E9C-101B-9397-08002B2CF9AE}" pid="4" name="TaxKeyword">
    <vt:lpwstr/>
  </property>
  <property fmtid="{D5CDD505-2E9C-101B-9397-08002B2CF9AE}" pid="5" name="Global Client Services">
    <vt:lpwstr/>
  </property>
  <property fmtid="{D5CDD505-2E9C-101B-9397-08002B2CF9AE}" pid="6" name="Geography">
    <vt:lpwstr>19;#Global (2542)|163e196f-7511-4639-90b6-ed85c9d9c37c</vt:lpwstr>
  </property>
  <property fmtid="{D5CDD505-2E9C-101B-9397-08002B2CF9AE}" pid="7" name="Local Industry">
    <vt:lpwstr/>
  </property>
  <property fmtid="{D5CDD505-2E9C-101B-9397-08002B2CF9AE}" pid="8" name="Global Industry">
    <vt:lpwstr/>
  </property>
  <property fmtid="{D5CDD505-2E9C-101B-9397-08002B2CF9AE}" pid="9" name="Global Content Type">
    <vt:lpwstr/>
  </property>
  <property fmtid="{D5CDD505-2E9C-101B-9397-08002B2CF9AE}" pid="10" name="LanguageB">
    <vt:lpwstr>2;#English|b169a262-1aaa-4ccb-9acf-78a36c1d9bab</vt:lpwstr>
  </property>
  <property fmtid="{D5CDD505-2E9C-101B-9397-08002B2CF9AE}" pid="11" name="Local Client Services">
    <vt:lpwstr/>
  </property>
  <property fmtid="{D5CDD505-2E9C-101B-9397-08002B2CF9AE}" pid="12" name="MSIP_Label_ea60d57e-af5b-4752-ac57-3e4f28ca11dc_Enabled">
    <vt:lpwstr>true</vt:lpwstr>
  </property>
  <property fmtid="{D5CDD505-2E9C-101B-9397-08002B2CF9AE}" pid="13" name="MSIP_Label_ea60d57e-af5b-4752-ac57-3e4f28ca11dc_SetDate">
    <vt:lpwstr>2023-04-17T13:06:37Z</vt:lpwstr>
  </property>
  <property fmtid="{D5CDD505-2E9C-101B-9397-08002B2CF9AE}" pid="14" name="MSIP_Label_ea60d57e-af5b-4752-ac57-3e4f28ca11dc_Method">
    <vt:lpwstr>Standard</vt:lpwstr>
  </property>
  <property fmtid="{D5CDD505-2E9C-101B-9397-08002B2CF9AE}" pid="15" name="MSIP_Label_ea60d57e-af5b-4752-ac57-3e4f28ca11dc_Name">
    <vt:lpwstr>ea60d57e-af5b-4752-ac57-3e4f28ca11dc</vt:lpwstr>
  </property>
  <property fmtid="{D5CDD505-2E9C-101B-9397-08002B2CF9AE}" pid="16" name="MSIP_Label_ea60d57e-af5b-4752-ac57-3e4f28ca11dc_SiteId">
    <vt:lpwstr>36da45f1-dd2c-4d1f-af13-5abe46b99921</vt:lpwstr>
  </property>
  <property fmtid="{D5CDD505-2E9C-101B-9397-08002B2CF9AE}" pid="17" name="MSIP_Label_ea60d57e-af5b-4752-ac57-3e4f28ca11dc_ActionId">
    <vt:lpwstr>ef7e0a16-b5b1-4024-8f3b-12dc75dfc7cc</vt:lpwstr>
  </property>
  <property fmtid="{D5CDD505-2E9C-101B-9397-08002B2CF9AE}" pid="18" name="MSIP_Label_ea60d57e-af5b-4752-ac57-3e4f28ca11dc_ContentBits">
    <vt:lpwstr>0</vt:lpwstr>
  </property>
</Properties>
</file>