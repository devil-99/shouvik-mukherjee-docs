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media/image1.bin" ContentType="image/x-emf"/>
  <Override PartName="/ppt/media/image2.bin" ContentType="image/jpeg"/>
  <Override PartName="/ppt/tags/tag3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  <p:sldMasterId id="2147483845" r:id="rId5"/>
  </p:sldMasterIdLst>
  <p:notesMasterIdLst>
    <p:notesMasterId r:id="rId8"/>
  </p:notesMasterIdLst>
  <p:handoutMasterIdLst>
    <p:handoutMasterId r:id="rId9"/>
  </p:handoutMasterIdLst>
  <p:sldIdLst>
    <p:sldId id="637" r:id="rId6"/>
    <p:sldId id="639" r:id="rId7"/>
  </p:sldIdLst>
  <p:sldSz cx="12192000" cy="6858000"/>
  <p:notesSz cx="7315200" cy="9601200"/>
  <p:custDataLst>
    <p:tags r:id="rId10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310" userDrawn="1">
          <p15:clr>
            <a:srgbClr val="A4A3A4"/>
          </p15:clr>
        </p15:guide>
        <p15:guide id="11" orient="horz" pos="2024" userDrawn="1">
          <p15:clr>
            <a:srgbClr val="A4A3A4"/>
          </p15:clr>
        </p15:guide>
        <p15:guide id="12" orient="horz" pos="3453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113" userDrawn="1">
          <p15:clr>
            <a:srgbClr val="A4A3A4"/>
          </p15:clr>
        </p15:guide>
        <p15:guide id="15" orient="horz" pos="35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eddy, Chandra" initials="BC" lastIdx="36" clrIdx="0">
    <p:extLst>
      <p:ext uri="{19B8F6BF-5375-455C-9EA6-DF929625EA0E}">
        <p15:presenceInfo xmlns:p15="http://schemas.microsoft.com/office/powerpoint/2012/main" userId="S-1-5-21-776561741-1482476501-682003330-386381" providerId="AD"/>
      </p:ext>
    </p:extLst>
  </p:cmAuthor>
  <p:cmAuthor id="2" name="Shah, Pranav" initials="SP" lastIdx="18" clrIdx="1">
    <p:extLst>
      <p:ext uri="{19B8F6BF-5375-455C-9EA6-DF929625EA0E}">
        <p15:presenceInfo xmlns:p15="http://schemas.microsoft.com/office/powerpoint/2012/main" userId="S-1-5-21-776561741-1482476501-682003330-12835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1F5"/>
    <a:srgbClr val="86BC25"/>
    <a:srgbClr val="17618C"/>
    <a:srgbClr val="EBF5F1"/>
    <a:srgbClr val="F7E5EE"/>
    <a:srgbClr val="E0F0FA"/>
    <a:srgbClr val="F2D6E4"/>
    <a:srgbClr val="993366"/>
    <a:srgbClr val="00B050"/>
    <a:srgbClr val="E95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42" autoAdjust="0"/>
    <p:restoredTop sz="94226" autoAdjust="0"/>
  </p:normalViewPr>
  <p:slideViewPr>
    <p:cSldViewPr snapToGrid="0" showGuides="1">
      <p:cViewPr>
        <p:scale>
          <a:sx n="59" d="100"/>
          <a:sy n="59" d="100"/>
        </p:scale>
        <p:origin x="540" y="60"/>
      </p:cViewPr>
      <p:guideLst>
        <p:guide pos="7310"/>
        <p:guide orient="horz" pos="2024"/>
        <p:guide orient="horz" pos="3453"/>
        <p:guide orient="horz" pos="2568"/>
        <p:guide orient="horz" pos="3113"/>
        <p:guide orient="horz" pos="3543"/>
      </p:guideLst>
    </p:cSldViewPr>
  </p:slideViewPr>
  <p:outlineViewPr>
    <p:cViewPr>
      <p:scale>
        <a:sx n="33" d="100"/>
        <a:sy n="33" d="100"/>
      </p:scale>
      <p:origin x="0" y="-4483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1" d="100"/>
          <a:sy n="61" d="100"/>
        </p:scale>
        <p:origin x="3082" y="53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8/8/2023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8/8/2023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 Picture 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600" cy="6858000"/>
          </a:xfrm>
          <a:prstGeom prst="rect">
            <a:avLst/>
          </a:prstGeom>
        </p:spPr>
      </p:pic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75200" y="5480578"/>
            <a:ext cx="5620800" cy="3240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Presentation  title runs here</a:t>
            </a:r>
            <a:endParaRPr lang="en-GB" noProof="0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620800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pPr lvl="0"/>
            <a:r>
              <a:rPr lang="en-GB" dirty="0"/>
              <a:t>Subtitle here two lines max</a:t>
            </a:r>
            <a:endParaRPr lang="en-GB"/>
          </a:p>
        </p:txBody>
      </p:sp>
      <p:sp>
        <p:nvSpPr>
          <p:cNvPr id="18" name="SD_ART_Logo_White"/>
          <p:cNvSpPr/>
          <p:nvPr userDrawn="1"/>
        </p:nvSpPr>
        <p:spPr>
          <a:xfrm>
            <a:off x="475438" y="464400"/>
            <a:ext cx="2286000" cy="100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78483047" name="LogoFrontSl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503999"/>
            <a:ext cx="1655999" cy="725867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2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744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lored background"/>
          <p:cNvSpPr/>
          <p:nvPr userDrawn="1"/>
        </p:nvSpPr>
        <p:spPr bwMode="gray">
          <a:xfrm>
            <a:off x="0" y="0"/>
            <a:ext cx="12189600" cy="6858000"/>
          </a:xfrm>
          <a:prstGeom prst="rect">
            <a:avLst/>
          </a:prstGeom>
          <a:solidFill>
            <a:srgbClr val="0000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65988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GB" sz="650" noProof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GB" sz="650" noProof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01649" y="6654807"/>
            <a:ext cx="5355168" cy="201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spcBef>
                <a:spcPts val="717"/>
              </a:spcBef>
              <a:buSzPct val="100000"/>
              <a:buFont typeface="Arial"/>
              <a:buNone/>
            </a:pPr>
            <a:r>
              <a:rPr lang="fr-FR" sz="650" noProof="0" dirty="0">
                <a:solidFill>
                  <a:schemeClr val="tx1"/>
                </a:solidFill>
              </a:rPr>
              <a:t>© 2020 Deloitte Touche Tohmatsu India LLP</a:t>
            </a:r>
          </a:p>
        </p:txBody>
      </p:sp>
    </p:spTree>
    <p:extLst>
      <p:ext uri="{BB962C8B-B14F-4D97-AF65-F5344CB8AC3E}">
        <p14:creationId xmlns:p14="http://schemas.microsoft.com/office/powerpoint/2010/main" val="1801559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  <a:p>
            <a:pPr lvl="2"/>
            <a:r>
              <a:rPr lang="en-GB" noProof="0"/>
              <a:t>Third level</a:t>
            </a:r>
            <a:endParaRPr lang="en-GB"/>
          </a:p>
          <a:p>
            <a:pPr lvl="3"/>
            <a:r>
              <a:rPr lang="en-GB" noProof="0"/>
              <a:t>Fourth level</a:t>
            </a:r>
            <a:endParaRPr lang="en-GB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951206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  <a:p>
            <a:pPr lvl="2"/>
            <a:r>
              <a:rPr lang="en-GB" noProof="0"/>
              <a:t>Third level</a:t>
            </a:r>
            <a:endParaRPr lang="en-GB"/>
          </a:p>
          <a:p>
            <a:pPr lvl="3"/>
            <a:r>
              <a:rPr lang="en-GB" noProof="0"/>
              <a:t>Fourth level</a:t>
            </a:r>
            <a:endParaRPr lang="en-GB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2377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  <a:p>
            <a:pPr lvl="2"/>
            <a:r>
              <a:rPr lang="en-GB" noProof="0"/>
              <a:t>Third level</a:t>
            </a:r>
            <a:endParaRPr lang="en-GB"/>
          </a:p>
          <a:p>
            <a:pPr lvl="3"/>
            <a:r>
              <a:rPr lang="en-GB" noProof="0"/>
              <a:t>Fourth level</a:t>
            </a:r>
            <a:endParaRPr lang="en-GB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24556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84868"/>
            <a:ext cx="11252200" cy="357187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0" y="5982790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36656"/>
            <a:ext cx="11252200" cy="3946134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Click icon to add chart</a:t>
            </a:r>
            <a:endParaRPr lang="en-GB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25638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spcAft>
                <a:spcPts val="500"/>
              </a:spcAft>
              <a:tabLst>
                <a:tab pos="6705432" algn="r"/>
              </a:tabLst>
              <a:defRPr sz="1100"/>
            </a:lvl1pPr>
            <a:lvl2pPr>
              <a:spcAft>
                <a:spcPts val="500"/>
              </a:spcAft>
              <a:tabLst>
                <a:tab pos="6705432" algn="r"/>
              </a:tabLst>
              <a:defRPr sz="1100"/>
            </a:lvl2pPr>
            <a:lvl3pPr>
              <a:spcAft>
                <a:spcPts val="500"/>
              </a:spcAft>
              <a:tabLst>
                <a:tab pos="6705432" algn="r"/>
              </a:tabLst>
              <a:defRPr sz="1100"/>
            </a:lvl3pPr>
            <a:lvl4pPr>
              <a:spcAft>
                <a:spcPts val="500"/>
              </a:spcAft>
              <a:tabLst>
                <a:tab pos="6705432" algn="r"/>
              </a:tabLst>
              <a:defRPr sz="1100"/>
            </a:lvl4pPr>
            <a:lvl5pPr>
              <a:spcAft>
                <a:spcPts val="500"/>
              </a:spcAft>
              <a:tabLst>
                <a:tab pos="6705432" algn="r"/>
              </a:tabLst>
              <a:defRPr sz="1100" baseline="0"/>
            </a:lvl5pPr>
          </a:lstStyle>
          <a:p>
            <a:pPr lvl="0"/>
            <a:r>
              <a:rPr lang="en-GB" noProof="0" dirty="0"/>
              <a:t>Edit Master text styles</a:t>
            </a:r>
            <a:endParaRPr lang="en-GB" dirty="0"/>
          </a:p>
          <a:p>
            <a:pPr lvl="1"/>
            <a:r>
              <a:rPr lang="en-GB" noProof="0" dirty="0"/>
              <a:t>Second level</a:t>
            </a:r>
            <a:endParaRPr lang="en-GB" dirty="0"/>
          </a:p>
          <a:p>
            <a:pPr lvl="2"/>
            <a:r>
              <a:rPr lang="en-GB" noProof="0" dirty="0"/>
              <a:t>Third level</a:t>
            </a:r>
            <a:endParaRPr lang="en-GB" dirty="0"/>
          </a:p>
          <a:p>
            <a:pPr lvl="3"/>
            <a:r>
              <a:rPr lang="en-GB" noProof="0" dirty="0"/>
              <a:t>Fourth level</a:t>
            </a:r>
            <a:endParaRPr lang="en-GB" dirty="0"/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spcAft>
                <a:spcPts val="500"/>
              </a:spcAft>
              <a:tabLst>
                <a:tab pos="6705432" algn="r"/>
              </a:tabLst>
              <a:defRPr sz="1100"/>
            </a:lvl1pPr>
            <a:lvl2pPr>
              <a:spcAft>
                <a:spcPts val="500"/>
              </a:spcAft>
              <a:tabLst>
                <a:tab pos="6705432" algn="r"/>
              </a:tabLst>
              <a:defRPr sz="1100"/>
            </a:lvl2pPr>
            <a:lvl3pPr>
              <a:spcAft>
                <a:spcPts val="500"/>
              </a:spcAft>
              <a:tabLst>
                <a:tab pos="6705432" algn="r"/>
              </a:tabLst>
              <a:defRPr sz="1100"/>
            </a:lvl3pPr>
            <a:lvl4pPr>
              <a:spcAft>
                <a:spcPts val="500"/>
              </a:spcAft>
              <a:tabLst>
                <a:tab pos="6705432" algn="r"/>
              </a:tabLst>
              <a:defRPr sz="1100"/>
            </a:lvl4pPr>
            <a:lvl5pPr>
              <a:spcAft>
                <a:spcPts val="500"/>
              </a:spcAft>
              <a:tabLst>
                <a:tab pos="6705432" algn="r"/>
              </a:tabLst>
              <a:defRPr sz="1100" baseline="0"/>
            </a:lvl5pPr>
          </a:lstStyle>
          <a:p>
            <a:pPr lvl="0"/>
            <a:r>
              <a:rPr lang="en-GB" noProof="0" dirty="0"/>
              <a:t>Edit Master text styles</a:t>
            </a:r>
            <a:endParaRPr lang="en-GB" dirty="0"/>
          </a:p>
          <a:p>
            <a:pPr lvl="1"/>
            <a:r>
              <a:rPr lang="en-GB" noProof="0" dirty="0"/>
              <a:t>Second level</a:t>
            </a:r>
            <a:endParaRPr lang="en-GB" dirty="0"/>
          </a:p>
          <a:p>
            <a:pPr lvl="2"/>
            <a:r>
              <a:rPr lang="en-GB" noProof="0" dirty="0"/>
              <a:t>Third level</a:t>
            </a:r>
            <a:endParaRPr lang="en-GB" dirty="0"/>
          </a:p>
          <a:p>
            <a:pPr lvl="3"/>
            <a:r>
              <a:rPr lang="en-GB" noProof="0" dirty="0"/>
              <a:t>Fourth level</a:t>
            </a:r>
            <a:endParaRPr lang="en-GB" dirty="0"/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1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1210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GB" noProof="0"/>
              <a:t>Click icon to add chart</a:t>
            </a:r>
            <a:endParaRPr lang="en-GB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GB" noProof="0"/>
              <a:t>Click icon to add chart</a:t>
            </a:r>
            <a:endParaRPr lang="en-GB" noProof="0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0" y="5982790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6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603881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GB" noProof="0"/>
              <a:t>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  <a:p>
            <a:pPr lvl="2"/>
            <a:r>
              <a:rPr lang="en-GB" noProof="0"/>
              <a:t>Third level</a:t>
            </a:r>
            <a:endParaRPr lang="en-GB"/>
          </a:p>
          <a:p>
            <a:pPr lvl="3"/>
            <a:r>
              <a:rPr lang="en-GB" noProof="0"/>
              <a:t>Fourth level</a:t>
            </a:r>
            <a:endParaRPr lang="en-GB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31895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GB" noProof="0" dirty="0"/>
              <a:t>Click to add subtitle</a:t>
            </a:r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0825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76250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02597" y="4102100"/>
            <a:ext cx="2319503" cy="1725448"/>
          </a:xfrm>
        </p:spPr>
        <p:txBody>
          <a:bodyPr anchor="ctr" anchorCtr="0"/>
          <a:lstStyle>
            <a:lvl1pPr algn="ctr">
              <a:defRPr sz="1200"/>
            </a:lvl1pPr>
          </a:lstStyle>
          <a:p>
            <a:r>
              <a:rPr lang="en-GB" sz="1200" noProof="0" dirty="0"/>
              <a:t>Insert sponsorship mark here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402598" y="5935479"/>
            <a:ext cx="2319501" cy="363723"/>
          </a:xfrm>
        </p:spPr>
        <p:txBody>
          <a:bodyPr anchor="b" anchorCtr="0"/>
          <a:lstStyle>
            <a:lvl1pPr>
              <a:lnSpc>
                <a:spcPct val="100000"/>
              </a:lnSpc>
              <a:defRPr sz="1267"/>
            </a:lvl1pPr>
          </a:lstStyle>
          <a:p>
            <a:pPr lvl="0"/>
            <a:r>
              <a:rPr lang="en-GB" noProof="0"/>
              <a:t>Edit Master text styles</a:t>
            </a:r>
            <a:endParaRPr lang="en-GB"/>
          </a:p>
        </p:txBody>
      </p:sp>
      <p:sp>
        <p:nvSpPr>
          <p:cNvPr id="20" name="SD_ART_Logo"/>
          <p:cNvSpPr/>
          <p:nvPr userDrawn="1"/>
        </p:nvSpPr>
        <p:spPr>
          <a:xfrm>
            <a:off x="475438" y="464400"/>
            <a:ext cx="2286000" cy="100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37916276" name="LogoDisclaimer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0" y="464400"/>
            <a:ext cx="1655999" cy="72586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>
          <a:xfrm>
            <a:off x="6184900" y="6476999"/>
            <a:ext cx="4536726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3703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04800" y="266699"/>
            <a:ext cx="11560810" cy="3340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8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304800" y="6577027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tx1"/>
                </a:solidFill>
              </a:rPr>
              <a:t>©2018 Deloitte </a:t>
            </a:r>
            <a:r>
              <a:rPr lang="en-US" sz="650" noProof="0" dirty="0" err="1">
                <a:solidFill>
                  <a:schemeClr val="tx1"/>
                </a:solidFill>
              </a:rPr>
              <a:t>Touche</a:t>
            </a:r>
            <a:r>
              <a:rPr lang="en-US" sz="650" noProof="0" dirty="0">
                <a:solidFill>
                  <a:schemeClr val="tx1"/>
                </a:solidFill>
              </a:rPr>
              <a:t> Tohmatsu India LLP. All Rights Reserved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568112" y="6577027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798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2345678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403" y="1403"/>
          <a:ext cx="1400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" y="1403"/>
                        <a:ext cx="1400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2"/>
            <a:ext cx="111623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588" b="0">
                <a:solidFill>
                  <a:srgbClr val="575757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6235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941">
                <a:latin typeface="+mj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2" y="1665288"/>
            <a:ext cx="11165417" cy="471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1212"/>
              </a:spcAft>
              <a:defRPr sz="1235"/>
            </a:lvl1pPr>
            <a:lvl2pPr>
              <a:spcAft>
                <a:spcPts val="1212"/>
              </a:spcAft>
              <a:defRPr sz="1235"/>
            </a:lvl2pPr>
            <a:lvl3pPr>
              <a:spcAft>
                <a:spcPts val="1212"/>
              </a:spcAft>
              <a:defRPr sz="1235"/>
            </a:lvl3pPr>
            <a:lvl4pPr>
              <a:spcAft>
                <a:spcPts val="1212"/>
              </a:spcAft>
              <a:defRPr sz="1235"/>
            </a:lvl4pPr>
            <a:lvl5pPr>
              <a:spcAft>
                <a:spcPts val="1212"/>
              </a:spcAft>
              <a:defRPr sz="1235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908749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9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l" eaLnBrk="1"/>
            <a:endParaRPr lang="en-US" sz="2400" b="1" i="0" baseline="0" dirty="0"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464" y="1434190"/>
            <a:ext cx="11277489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52976" y="6399283"/>
            <a:ext cx="283293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04EAA1-25C4-446D-B8BE-BF07174DBF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731" y="151477"/>
            <a:ext cx="10991317" cy="19444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BREADCRUMB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9DA36B3-22EA-47CB-9DCD-C1A0BC2D23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0914" y="6162421"/>
            <a:ext cx="6219540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9pPr>
          </a:lstStyle>
          <a:p>
            <a:pPr lvl="0"/>
            <a:r>
              <a:rPr lang="en-CA" sz="800" dirty="0">
                <a:latin typeface="Manulife JH Sans Light" panose="020B0303040401060103" pitchFamily="34" charset="0"/>
                <a:cs typeface="Arial" panose="020B0604020202020204" pitchFamily="34" charset="0"/>
              </a:rPr>
              <a:t>Source text should be Segoe UI, size 8.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8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9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l" eaLnBrk="1"/>
            <a:endParaRPr lang="en-US" sz="2400" b="1" i="0" baseline="0" dirty="0"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7"/>
            <a:ext cx="11277490" cy="365760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464" y="1434190"/>
            <a:ext cx="11277489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52976" y="6399283"/>
            <a:ext cx="283293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4896F95-5170-46BD-8E28-2F3E6229C8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731" y="151477"/>
            <a:ext cx="10991317" cy="19444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604020202020204" pitchFamily="34" charset="0"/>
              <a:buNone/>
              <a:tabLst/>
              <a:defRPr sz="1400"/>
            </a:lvl1pPr>
          </a:lstStyle>
          <a:p>
            <a:r>
              <a:rPr lang="en-US" dirty="0"/>
              <a:t>BREADCRUMB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DE9F8E0-BCC7-4049-9B66-CBD41765F7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20914" y="6160981"/>
            <a:ext cx="6219540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9pPr>
          </a:lstStyle>
          <a:p>
            <a:pPr lvl="0"/>
            <a:r>
              <a:rPr lang="en-CA" sz="800" dirty="0">
                <a:latin typeface="Manulife JH Sans Light" panose="020B0303040401060103" pitchFamily="34" charset="0"/>
                <a:cs typeface="Arial" panose="020B0604020202020204" pitchFamily="34" charset="0"/>
              </a:rPr>
              <a:t>Source text should be Segoe UI, size 8. 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66464" y="856203"/>
            <a:ext cx="11277490" cy="512064"/>
          </a:xfrm>
        </p:spPr>
        <p:txBody>
          <a:bodyPr/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417525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9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l" eaLnBrk="1"/>
            <a:endParaRPr lang="en-US" sz="2400" b="1" i="0" baseline="0" dirty="0"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464" y="472438"/>
            <a:ext cx="1127749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464" y="1463675"/>
            <a:ext cx="11277489" cy="455535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Click icon to add table or chart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52976" y="6399283"/>
            <a:ext cx="283293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2785E85-9BDF-4E3D-876F-7076764F29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731" y="151477"/>
            <a:ext cx="10991317" cy="19444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BREADCRUMB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DE9F8E0-BCC7-4049-9B66-CBD41765F7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20914" y="6160981"/>
            <a:ext cx="6219540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0000400000000000000" pitchFamily="2" charset="0"/>
              </a:defRPr>
            </a:lvl9pPr>
          </a:lstStyle>
          <a:p>
            <a:pPr lvl="0"/>
            <a:r>
              <a:rPr lang="en-CA" sz="800" dirty="0">
                <a:latin typeface="Manulife JH Sans Light" panose="020B0303040401060103" pitchFamily="34" charset="0"/>
                <a:cs typeface="Arial" panose="020B0604020202020204" pitchFamily="34" charset="0"/>
              </a:rPr>
              <a:t>Source text should be Manulife JH Sans Light, size 8.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284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1" y="5845182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799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8804" indent="0" algn="ctr">
              <a:buNone/>
              <a:defRPr sz="2399"/>
            </a:lvl3pPr>
            <a:lvl4pPr marL="1828205" indent="0" algn="ctr">
              <a:buNone/>
              <a:defRPr sz="2132"/>
            </a:lvl4pPr>
            <a:lvl5pPr marL="2437607" indent="0" algn="ctr">
              <a:buNone/>
              <a:defRPr sz="2132"/>
            </a:lvl5pPr>
            <a:lvl6pPr marL="3047010" indent="0" algn="ctr">
              <a:buNone/>
              <a:defRPr sz="2132"/>
            </a:lvl6pPr>
            <a:lvl7pPr marL="3656412" indent="0" algn="ctr">
              <a:buNone/>
              <a:defRPr sz="2132"/>
            </a:lvl7pPr>
            <a:lvl8pPr marL="4265813" indent="0" algn="ctr">
              <a:buNone/>
              <a:defRPr sz="2132"/>
            </a:lvl8pPr>
            <a:lvl9pPr marL="4875215" indent="0" algn="ctr">
              <a:buNone/>
              <a:defRPr sz="2132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1" y="6362701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599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0162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Layout" Target="../slideLayouts/slideLayout17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91394284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270" imgH="270" progId="TCLayout.ActiveDocument.1">
                  <p:embed/>
                </p:oleObj>
              </mc:Choice>
              <mc:Fallback>
                <p:oleObj name="think-cell Slide" r:id="rId1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  <a:p>
            <a:pPr lvl="2"/>
            <a:r>
              <a:rPr lang="en-GB" noProof="0"/>
              <a:t>Third level</a:t>
            </a:r>
            <a:endParaRPr lang="en-GB"/>
          </a:p>
          <a:p>
            <a:pPr lvl="3"/>
            <a:r>
              <a:rPr lang="en-GB" noProof="0"/>
              <a:t>Fourth level</a:t>
            </a:r>
            <a:endParaRPr lang="en-GB"/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10953" y="6656294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GB" sz="650" noProof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GB" sz="650" noProof="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01649" y="6654807"/>
            <a:ext cx="5355168" cy="201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spcBef>
                <a:spcPts val="717"/>
              </a:spcBef>
              <a:buSzPct val="100000"/>
              <a:buFont typeface="Arial"/>
              <a:buNone/>
            </a:pPr>
            <a:r>
              <a:rPr lang="fr-FR" sz="650" noProof="0" dirty="0">
                <a:solidFill>
                  <a:schemeClr val="tx1"/>
                </a:solidFill>
              </a:rPr>
              <a:t>© 2020 Deloitte Touche Tohmatsu India LLP</a:t>
            </a:r>
          </a:p>
        </p:txBody>
      </p:sp>
    </p:spTree>
    <p:extLst>
      <p:ext uri="{BB962C8B-B14F-4D97-AF65-F5344CB8AC3E}">
        <p14:creationId xmlns:p14="http://schemas.microsoft.com/office/powerpoint/2010/main" val="399830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851" r:id="rId14"/>
  </p:sldLayoutIdLst>
  <p:transition>
    <p:fade/>
  </p:transition>
  <p:hf sldNum="0"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​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​"/>
        <a:defRPr lang="en-US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235194" indent="-235194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475188" indent="-235194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defRPr lang="en-US" sz="12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10382" indent="-235194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tabLst/>
        <a:defRPr lang="en-US" sz="12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3968">
          <p15:clr>
            <a:srgbClr val="F26B43"/>
          </p15:clr>
        </p15:guide>
        <p15:guide id="4" pos="296">
          <p15:clr>
            <a:srgbClr val="F26B43"/>
          </p15:clr>
        </p15:guide>
        <p15:guide id="5" pos="7384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45">
          <p15:clr>
            <a:srgbClr val="F26B43"/>
          </p15:clr>
        </p15:guide>
        <p15:guide id="8" orient="horz" pos="4081">
          <p15:clr>
            <a:srgbClr val="F26B43"/>
          </p15:clr>
        </p15:guide>
        <p15:guide id="10" pos="4986">
          <p15:clr>
            <a:srgbClr val="F26B43"/>
          </p15:clr>
        </p15:guide>
        <p15:guide id="12" pos="1382">
          <p15:clr>
            <a:srgbClr val="F26B43"/>
          </p15:clr>
        </p15:guide>
        <p15:guide id="13" pos="1496">
          <p15:clr>
            <a:srgbClr val="F26B43"/>
          </p15:clr>
        </p15:guide>
        <p15:guide id="14" pos="2581">
          <p15:clr>
            <a:srgbClr val="F26B43"/>
          </p15:clr>
        </p15:guide>
        <p15:guide id="15" pos="2695">
          <p15:clr>
            <a:srgbClr val="F26B43"/>
          </p15:clr>
        </p15:guide>
        <p15:guide id="16" pos="6185">
          <p15:clr>
            <a:srgbClr val="F26B43"/>
          </p15:clr>
        </p15:guide>
        <p15:guide id="17" pos="3783">
          <p15:clr>
            <a:srgbClr val="F26B43"/>
          </p15:clr>
        </p15:guide>
        <p15:guide id="18" pos="3896">
          <p15:clr>
            <a:srgbClr val="F26B43"/>
          </p15:clr>
        </p15:guide>
        <p15:guide id="19" pos="3840">
          <p15:clr>
            <a:srgbClr val="F26B43"/>
          </p15:clr>
        </p15:guide>
        <p15:guide id="20" pos="6299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1">
          <p15:clr>
            <a:srgbClr val="F26B43"/>
          </p15:clr>
        </p15:guide>
        <p15:guide id="23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8311F6F-D8AF-4C05-88A0-D447713295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8311F6F-D8AF-4C05-88A0-D447713295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9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l" eaLnBrk="1"/>
            <a:endParaRPr lang="en-US" sz="2400" b="1" i="0" baseline="0" dirty="0"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464" y="472438"/>
            <a:ext cx="11277490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dirty="0"/>
              <a:t>Slide</a:t>
            </a:r>
            <a:r>
              <a:rPr lang="en-US" dirty="0"/>
              <a:t> </a:t>
            </a:r>
            <a:r>
              <a:rPr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464" y="1434190"/>
            <a:ext cx="11277489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dirty="0"/>
              <a:t>Click to add main bullet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  <a:p>
            <a:pPr lvl="5"/>
            <a:r>
              <a:rPr lang="en-US" dirty="0"/>
              <a:t>Sixth </a:t>
            </a:r>
            <a:r>
              <a:rPr lang="en-CA" dirty="0"/>
              <a:t>level</a:t>
            </a:r>
          </a:p>
          <a:p>
            <a:pPr lvl="6"/>
            <a:r>
              <a:rPr lang="en-US" dirty="0"/>
              <a:t>Seventh </a:t>
            </a:r>
            <a:r>
              <a:rPr lang="en-CA" dirty="0"/>
              <a:t>level</a:t>
            </a:r>
          </a:p>
          <a:p>
            <a:pPr lvl="7"/>
            <a:r>
              <a:rPr lang="en-US" dirty="0"/>
              <a:t>Eighth </a:t>
            </a:r>
            <a:r>
              <a:rPr lang="en-CA" dirty="0"/>
              <a:t>level</a:t>
            </a:r>
          </a:p>
          <a:p>
            <a:pPr lvl="8"/>
            <a:r>
              <a:rPr lang="en-US" dirty="0"/>
              <a:t>Ninth </a:t>
            </a:r>
            <a:r>
              <a:rPr lang="en-CA" dirty="0"/>
              <a:t>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08708" y="6634246"/>
            <a:ext cx="283293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Segoe UI" panose="020B0502040204020203" pitchFamily="34" charset="0"/>
                <a:sym typeface="Segoe UI" panose="020B0502040204020203" pitchFamily="34" charset="0"/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35" name="Rectangle 34"/>
          <p:cNvSpPr/>
          <p:nvPr userDrawn="1"/>
        </p:nvSpPr>
        <p:spPr>
          <a:xfrm>
            <a:off x="93457" y="6686830"/>
            <a:ext cx="310977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182880" rtlCol="0" anchor="ctr"/>
          <a:lstStyle/>
          <a:p>
            <a:pPr>
              <a:spcBef>
                <a:spcPts val="599"/>
              </a:spcBef>
              <a:buSzPct val="100000"/>
            </a:pPr>
            <a:r>
              <a:rPr lang="en-US" sz="800" dirty="0">
                <a:solidFill>
                  <a:srgbClr val="313131"/>
                </a:solidFill>
              </a:rPr>
              <a:t>@ 2020 Deloitte </a:t>
            </a:r>
            <a:r>
              <a:rPr lang="en-US" sz="800" dirty="0" err="1">
                <a:solidFill>
                  <a:srgbClr val="313131"/>
                </a:solidFill>
              </a:rPr>
              <a:t>Touche</a:t>
            </a:r>
            <a:r>
              <a:rPr lang="en-US" sz="800" dirty="0">
                <a:solidFill>
                  <a:srgbClr val="313131"/>
                </a:solidFill>
              </a:rPr>
              <a:t> Tohmatsu India LLP. All rights reserved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69D819-7E5F-471A-9FEF-A174CCB5B58F}"/>
              </a:ext>
            </a:extLst>
          </p:cNvPr>
          <p:cNvGrpSpPr/>
          <p:nvPr userDrawn="1"/>
        </p:nvGrpSpPr>
        <p:grpSpPr>
          <a:xfrm>
            <a:off x="-927269" y="0"/>
            <a:ext cx="828582" cy="2738786"/>
            <a:chOff x="-927027" y="0"/>
            <a:chExt cx="828366" cy="27387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259EAB-76C0-490D-82C5-C8A53109A79D}"/>
                </a:ext>
              </a:extLst>
            </p:cNvPr>
            <p:cNvSpPr/>
            <p:nvPr/>
          </p:nvSpPr>
          <p:spPr>
            <a:xfrm>
              <a:off x="-327261" y="0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06CE0E-A9BA-4BB5-BB3E-4E2B7C229CBE}"/>
                </a:ext>
              </a:extLst>
            </p:cNvPr>
            <p:cNvSpPr/>
            <p:nvPr/>
          </p:nvSpPr>
          <p:spPr>
            <a:xfrm>
              <a:off x="-327261" y="313773"/>
              <a:ext cx="22860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52AA35-28B2-42CE-8D4B-79651A6C0E2B}"/>
                </a:ext>
              </a:extLst>
            </p:cNvPr>
            <p:cNvSpPr/>
            <p:nvPr/>
          </p:nvSpPr>
          <p:spPr>
            <a:xfrm>
              <a:off x="-327261" y="627546"/>
              <a:ext cx="228600" cy="228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266C9A-6947-4028-BA90-2FAFA8CD2FAB}"/>
                </a:ext>
              </a:extLst>
            </p:cNvPr>
            <p:cNvSpPr/>
            <p:nvPr/>
          </p:nvSpPr>
          <p:spPr>
            <a:xfrm>
              <a:off x="-327261" y="941319"/>
              <a:ext cx="228600" cy="228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9C8B32-E353-4801-9519-90DCBF2A9946}"/>
                </a:ext>
              </a:extLst>
            </p:cNvPr>
            <p:cNvSpPr/>
            <p:nvPr/>
          </p:nvSpPr>
          <p:spPr>
            <a:xfrm>
              <a:off x="-327261" y="1255092"/>
              <a:ext cx="228600" cy="228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30E3D3-C16E-4A29-9847-81E47DCD4641}"/>
                </a:ext>
              </a:extLst>
            </p:cNvPr>
            <p:cNvSpPr/>
            <p:nvPr/>
          </p:nvSpPr>
          <p:spPr>
            <a:xfrm>
              <a:off x="-329669" y="1568865"/>
              <a:ext cx="228600" cy="228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05ABBC-1660-40FB-AB7E-1CF7B868F8FA}"/>
                </a:ext>
              </a:extLst>
            </p:cNvPr>
            <p:cNvSpPr/>
            <p:nvPr/>
          </p:nvSpPr>
          <p:spPr>
            <a:xfrm>
              <a:off x="-329669" y="1882638"/>
              <a:ext cx="228600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6FB4BF-6E68-4A07-8390-B6589FDBB2BB}"/>
                </a:ext>
              </a:extLst>
            </p:cNvPr>
            <p:cNvSpPr/>
            <p:nvPr/>
          </p:nvSpPr>
          <p:spPr>
            <a:xfrm>
              <a:off x="-329669" y="2196411"/>
              <a:ext cx="228600" cy="228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03E0B2-98E5-492D-9B04-04AB9DD0CF7D}"/>
                </a:ext>
              </a:extLst>
            </p:cNvPr>
            <p:cNvSpPr/>
            <p:nvPr/>
          </p:nvSpPr>
          <p:spPr>
            <a:xfrm>
              <a:off x="-329669" y="2510186"/>
              <a:ext cx="228600" cy="2286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1CE63F-A74D-4A52-A439-6C95E494318A}"/>
                </a:ext>
              </a:extLst>
            </p:cNvPr>
            <p:cNvSpPr/>
            <p:nvPr userDrawn="1"/>
          </p:nvSpPr>
          <p:spPr>
            <a:xfrm>
              <a:off x="-627144" y="0"/>
              <a:ext cx="228600" cy="228600"/>
            </a:xfrm>
            <a:prstGeom prst="rect">
              <a:avLst/>
            </a:prstGeom>
            <a:solidFill>
              <a:srgbClr val="0461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7ECA58-BC39-4AA8-9FC8-4B6958CC2D6C}"/>
                </a:ext>
              </a:extLst>
            </p:cNvPr>
            <p:cNvSpPr/>
            <p:nvPr userDrawn="1"/>
          </p:nvSpPr>
          <p:spPr>
            <a:xfrm>
              <a:off x="-927027" y="3176"/>
              <a:ext cx="228600" cy="228600"/>
            </a:xfrm>
            <a:prstGeom prst="rect">
              <a:avLst/>
            </a:prstGeom>
            <a:solidFill>
              <a:srgbClr val="ACE5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E6523A-833A-44A0-AF80-E579D7CAD046}"/>
                </a:ext>
              </a:extLst>
            </p:cNvPr>
            <p:cNvSpPr/>
            <p:nvPr userDrawn="1"/>
          </p:nvSpPr>
          <p:spPr>
            <a:xfrm>
              <a:off x="-627144" y="313773"/>
              <a:ext cx="228600" cy="228600"/>
            </a:xfrm>
            <a:prstGeom prst="rect">
              <a:avLst/>
            </a:prstGeom>
            <a:solidFill>
              <a:srgbClr val="000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F5989FE-CAD9-462D-9BA6-0F7ED3FFA942}"/>
                </a:ext>
              </a:extLst>
            </p:cNvPr>
            <p:cNvSpPr/>
            <p:nvPr userDrawn="1"/>
          </p:nvSpPr>
          <p:spPr>
            <a:xfrm>
              <a:off x="-927027" y="313773"/>
              <a:ext cx="228600" cy="228600"/>
            </a:xfrm>
            <a:prstGeom prst="rect">
              <a:avLst/>
            </a:prstGeom>
            <a:solidFill>
              <a:srgbClr val="C1D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246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Segoe UI" panose="020B0502040204020203" pitchFamily="34" charset="0"/>
          <a:ea typeface="+mj-ea"/>
          <a:cs typeface="+mj-cs"/>
          <a:sym typeface="Segoe UI" panose="020B0502040204020203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100000"/>
        </a:lnSpc>
        <a:spcBef>
          <a:spcPts val="15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1pPr>
      <a:lvl2pPr marL="576072" indent="-237744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3pPr>
      <a:lvl4pPr marL="1252728" indent="-237744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4pPr>
      <a:lvl5pPr marL="1598613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5pPr>
      <a:lvl6pPr marL="1598613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6pPr>
      <a:lvl7pPr marL="1598613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7pPr>
      <a:lvl8pPr marL="1598613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8pPr>
      <a:lvl9pPr marL="1598613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Manulife JH Sans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  <a:sym typeface="Segoe UI" panose="020B0502040204020203" pitchFamily="34" charset="0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39">
          <p15:clr>
            <a:srgbClr val="F26B43"/>
          </p15:clr>
        </p15:guide>
        <p15:guide id="3" pos="287">
          <p15:clr>
            <a:srgbClr val="F26B43"/>
          </p15:clr>
        </p15:guide>
        <p15:guide id="4" pos="7391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9430838"/>
              </p:ext>
            </p:extLst>
          </p:nvPr>
        </p:nvGraphicFramePr>
        <p:xfrm>
          <a:off x="1401" y="1401"/>
          <a:ext cx="1401" cy="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0" imgH="469" progId="TCLayout.ActiveDocument.1">
                  <p:embed/>
                </p:oleObj>
              </mc:Choice>
              <mc:Fallback>
                <p:oleObj name="think-cell Slide" r:id="rId5" imgW="470" imgH="469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1" y="1401"/>
                        <a:ext cx="1401" cy="1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40074" cy="140074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1941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09640"/>
              </p:ext>
            </p:extLst>
          </p:nvPr>
        </p:nvGraphicFramePr>
        <p:xfrm>
          <a:off x="228601" y="965883"/>
          <a:ext cx="11658614" cy="5339820"/>
        </p:xfrm>
        <a:graphic>
          <a:graphicData uri="http://schemas.openxmlformats.org/drawingml/2006/table">
            <a:tbl>
              <a:tblPr firstRow="1" bandRow="1"/>
              <a:tblGrid>
                <a:gridCol w="258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598322878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71804474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394301132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980651256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4524224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398934351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65314693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16872383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4196402603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956207144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925233625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408832690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076340142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986012652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89948459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664130805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66291108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1591194165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809148855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989345252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4226121706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677418776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75718339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508264178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491050977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989035967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14443751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3441035730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700541871"/>
                    </a:ext>
                  </a:extLst>
                </a:gridCol>
                <a:gridCol w="251943">
                  <a:extLst>
                    <a:ext uri="{9D8B030D-6E8A-4147-A177-3AD203B41FA5}">
                      <a16:colId xmlns:a16="http://schemas.microsoft.com/office/drawing/2014/main" val="2227329863"/>
                    </a:ext>
                  </a:extLst>
                </a:gridCol>
              </a:tblGrid>
              <a:tr h="12275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+mj-lt"/>
                        </a:rPr>
                        <a:t>Key Activities</a:t>
                      </a:r>
                      <a:endParaRPr lang="en-US" sz="11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3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30" b="1" dirty="0">
                          <a:solidFill>
                            <a:schemeClr val="bg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381722" rtl="0" eaLnBrk="1" latinLnBrk="0" hangingPunct="1"/>
                      <a:r>
                        <a:rPr lang="en-US" sz="43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21744"/>
                  </a:ext>
                </a:extLst>
              </a:tr>
              <a:tr h="11109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j-lt"/>
                        </a:rPr>
                        <a:t>Kick off and Bid Evaluation Support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8A2E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04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900" dirty="0">
                          <a:latin typeface="+mj-lt"/>
                        </a:rPr>
                        <a:t>Kickoff</a:t>
                      </a:r>
                      <a:r>
                        <a:rPr lang="en-US" sz="900" baseline="0" dirty="0">
                          <a:latin typeface="+mj-lt"/>
                        </a:rPr>
                        <a:t> meeting and stakeholder alignment</a:t>
                      </a:r>
                      <a:endParaRPr lang="en-US" sz="90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9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358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+mj-lt"/>
                        </a:rPr>
                        <a:t>AMISP Technical Bid Evaluation Support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pPr marL="0" marR="0" indent="0" algn="l" defTabSz="9358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+mj-lt"/>
                        </a:rPr>
                        <a:t>AMISP Financial Bid Evaluation Support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05431"/>
                  </a:ext>
                </a:extLst>
              </a:tr>
              <a:tr h="129565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Submission of Final Bid Evaluation Report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2088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Management</a:t>
                      </a:r>
                      <a:endParaRPr lang="en-US" sz="9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8A2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401285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pPr marL="0" marR="0" lvl="0" indent="0" algn="l" defTabSz="1008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Tech specification finalization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616281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pPr marL="0" marR="0" lvl="0" indent="0" algn="l" defTabSz="1008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Quality Assurance assessment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550470"/>
                  </a:ext>
                </a:extLst>
              </a:tr>
              <a:tr h="18104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Coordination with stakeholders for Supply Chain monitoring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878893"/>
                  </a:ext>
                </a:extLst>
              </a:tr>
              <a:tr h="11109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Identification of possible Bottlenecks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Preparation of Remedial Action Plan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88397"/>
                  </a:ext>
                </a:extLst>
              </a:tr>
              <a:tr h="18104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900" dirty="0">
                          <a:latin typeface="+mj-lt"/>
                        </a:rPr>
                        <a:t>Coordination and reporting to various stakeholders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1097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Fund flow management support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047">
                <a:tc>
                  <a:txBody>
                    <a:bodyPr/>
                    <a:lstStyle/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cloud-based monitoring tool for SM monitoring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4430"/>
                  </a:ext>
                </a:extLst>
              </a:tr>
              <a:tr h="111097">
                <a:tc>
                  <a:txBody>
                    <a:bodyPr/>
                    <a:lstStyle/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Project Supervision functions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735702"/>
                  </a:ext>
                </a:extLst>
              </a:tr>
              <a:tr h="181047">
                <a:tc>
                  <a:txBody>
                    <a:bodyPr/>
                    <a:lstStyle/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Support in System Integration Tests (SIT) and User Acceptance Testing (UAT) 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950391"/>
                  </a:ext>
                </a:extLst>
              </a:tr>
              <a:tr h="181047">
                <a:tc>
                  <a:txBody>
                    <a:bodyPr/>
                    <a:lstStyle/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Preparation and follow-up of deficiency lists for contractors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46781"/>
                  </a:ext>
                </a:extLst>
              </a:tr>
              <a:tr h="181047">
                <a:tc>
                  <a:txBody>
                    <a:bodyPr/>
                    <a:lstStyle/>
                    <a:p>
                      <a:pPr marL="0" marR="0" lvl="1" indent="0" algn="l" defTabSz="859512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Conducting site supervision to countercheck project quality</a:t>
                      </a: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660871"/>
                  </a:ext>
                </a:extLst>
              </a:tr>
              <a:tr h="159071"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MIS, Progress Reports</a:t>
                      </a: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31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59512" rtl="0" eaLnBrk="1" latinLnBrk="0" hangingPunct="1"/>
                      <a:endParaRPr lang="en-US" sz="85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>
                      <a:lvl1pPr marL="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2975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859512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28926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719024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148780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578536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008291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438048" algn="l" defTabSz="859512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50" dirty="0">
                        <a:latin typeface="+mj-lt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62707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2523891" y="6569569"/>
            <a:ext cx="1912344" cy="251187"/>
            <a:chOff x="3155831" y="5491692"/>
            <a:chExt cx="1912344" cy="251187"/>
          </a:xfrm>
        </p:grpSpPr>
        <p:grpSp>
          <p:nvGrpSpPr>
            <p:cNvPr id="5" name="Group 4"/>
            <p:cNvGrpSpPr/>
            <p:nvPr/>
          </p:nvGrpSpPr>
          <p:grpSpPr>
            <a:xfrm>
              <a:off x="4215215" y="5491692"/>
              <a:ext cx="852960" cy="235001"/>
              <a:chOff x="4516437" y="5822915"/>
              <a:chExt cx="852960" cy="235001"/>
            </a:xfrm>
          </p:grpSpPr>
          <p:sp>
            <p:nvSpPr>
              <p:cNvPr id="14" name="Isosceles Triangle 13"/>
              <p:cNvSpPr/>
              <p:nvPr/>
            </p:nvSpPr>
            <p:spPr>
              <a:xfrm>
                <a:off x="4516437" y="5867138"/>
                <a:ext cx="108879" cy="134471"/>
              </a:xfrm>
              <a:prstGeom prst="triangle">
                <a:avLst/>
              </a:prstGeom>
              <a:solidFill>
                <a:srgbClr val="FFC000"/>
              </a:solidFill>
              <a:ln w="25400" cap="flat" cmpd="sng" algn="ctr">
                <a:solidFill>
                  <a:srgbClr val="FFC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825776">
                  <a:defRPr/>
                </a:pPr>
                <a:endParaRPr lang="en-US" sz="1412" kern="0" dirty="0">
                  <a:solidFill>
                    <a:prstClr val="white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4682349" y="5822915"/>
                <a:ext cx="687048" cy="2350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0">
                <a:spAutoFit/>
              </a:bodyPr>
              <a:lstStyle/>
              <a:p>
                <a:pPr defTabSz="806867">
                  <a:defRPr/>
                </a:pPr>
                <a:r>
                  <a:rPr lang="en-US" sz="927" dirty="0">
                    <a:solidFill>
                      <a:srgbClr val="000000"/>
                    </a:solidFill>
                    <a:latin typeface="+mj-lt"/>
                    <a:cs typeface="Arial" charset="0"/>
                  </a:rPr>
                  <a:t>Workshop</a:t>
                </a: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3155831" y="5507878"/>
              <a:ext cx="1225296" cy="235001"/>
              <a:chOff x="4725323" y="5552379"/>
              <a:chExt cx="1225296" cy="235001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4974253" y="5552379"/>
                <a:ext cx="976366" cy="23500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defTabSz="806867">
                  <a:defRPr/>
                </a:pPr>
                <a:r>
                  <a:rPr lang="en-US" sz="927" dirty="0">
                    <a:solidFill>
                      <a:srgbClr val="000000"/>
                    </a:solidFill>
                    <a:latin typeface="+mj-lt"/>
                    <a:cs typeface="Arial" charset="0"/>
                  </a:rPr>
                  <a:t>Deliverable</a:t>
                </a:r>
                <a:endParaRPr lang="en-US" sz="927" i="1" dirty="0">
                  <a:solidFill>
                    <a:srgbClr val="000000"/>
                  </a:solidFill>
                  <a:latin typeface="+mj-lt"/>
                  <a:cs typeface="Arial" charset="0"/>
                </a:endParaRPr>
              </a:p>
            </p:txBody>
          </p:sp>
          <p:sp>
            <p:nvSpPr>
              <p:cNvPr id="21" name="Diamond 20"/>
              <p:cNvSpPr/>
              <p:nvPr/>
            </p:nvSpPr>
            <p:spPr bwMode="auto">
              <a:xfrm>
                <a:off x="4725323" y="5580416"/>
                <a:ext cx="220413" cy="190500"/>
              </a:xfrm>
              <a:prstGeom prst="diamond">
                <a:avLst/>
              </a:prstGeom>
              <a:solidFill>
                <a:srgbClr val="000000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80682" tIns="40341" rIns="80682" bIns="40341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80686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3883" dirty="0">
                  <a:ln>
                    <a:solidFill>
                      <a:srgbClr val="FFB240">
                        <a:lumMod val="50000"/>
                        <a:lumOff val="50000"/>
                      </a:srgbClr>
                    </a:solidFill>
                  </a:ln>
                  <a:solidFill>
                    <a:srgbClr val="000000"/>
                  </a:solidFill>
                  <a:latin typeface="+mj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Proposed project Work plan</a:t>
            </a:r>
            <a:endParaRPr lang="en-IN" dirty="0"/>
          </a:p>
        </p:txBody>
      </p:sp>
      <p:grpSp>
        <p:nvGrpSpPr>
          <p:cNvPr id="76" name="Group 75"/>
          <p:cNvGrpSpPr/>
          <p:nvPr/>
        </p:nvGrpSpPr>
        <p:grpSpPr>
          <a:xfrm>
            <a:off x="4404175" y="6585755"/>
            <a:ext cx="144000" cy="216000"/>
            <a:chOff x="7703820" y="6212177"/>
            <a:chExt cx="220980" cy="341023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7734300" y="6212177"/>
              <a:ext cx="0" cy="341023"/>
            </a:xfrm>
            <a:prstGeom prst="line">
              <a:avLst/>
            </a:prstGeom>
            <a:ln>
              <a:solidFill>
                <a:srgbClr val="86BC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lowchart: Punched Tape 77"/>
            <p:cNvSpPr/>
            <p:nvPr/>
          </p:nvSpPr>
          <p:spPr bwMode="gray">
            <a:xfrm>
              <a:off x="7703820" y="6233693"/>
              <a:ext cx="220980" cy="180000"/>
            </a:xfrm>
            <a:prstGeom prst="flowChartPunchedTape">
              <a:avLst/>
            </a:prstGeom>
            <a:solidFill>
              <a:srgbClr val="86BC2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4373465" y="6631262"/>
            <a:ext cx="2355946" cy="1431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  <a:buSzPct val="100000"/>
            </a:pPr>
            <a:r>
              <a:rPr lang="en-US" sz="930" dirty="0"/>
              <a:t>Presentation to CMD/Directors</a:t>
            </a:r>
            <a:endParaRPr lang="en-IN" sz="930" noProof="0" dirty="0" err="1">
              <a:solidFill>
                <a:schemeClr val="tx1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AA9E9414-D291-56F9-77C0-25AE31C97A13}"/>
              </a:ext>
            </a:extLst>
          </p:cNvPr>
          <p:cNvSpPr/>
          <p:nvPr/>
        </p:nvSpPr>
        <p:spPr bwMode="auto">
          <a:xfrm>
            <a:off x="3188704" y="2225134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65A2E5F-74FF-7C52-785A-8302B4669B1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82979" y="638490"/>
            <a:ext cx="1414170" cy="235001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80686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27" b="1" kern="0" dirty="0">
                <a:solidFill>
                  <a:srgbClr val="CC0000"/>
                </a:solidFill>
              </a:rPr>
              <a:t>We are here today</a:t>
            </a:r>
            <a:endParaRPr lang="fr-FR" sz="927" b="1" kern="0" dirty="0">
              <a:solidFill>
                <a:srgbClr val="CC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7BCD1D-3BC2-75E0-476A-6C65530AAB40}"/>
              </a:ext>
            </a:extLst>
          </p:cNvPr>
          <p:cNvCxnSpPr>
            <a:cxnSpLocks/>
          </p:cNvCxnSpPr>
          <p:nvPr/>
        </p:nvCxnSpPr>
        <p:spPr bwMode="auto">
          <a:xfrm>
            <a:off x="2992141" y="818255"/>
            <a:ext cx="0" cy="147627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2CA721-30C0-878C-A8ED-144880EAD0F4}"/>
              </a:ext>
            </a:extLst>
          </p:cNvPr>
          <p:cNvSpPr txBox="1"/>
          <p:nvPr/>
        </p:nvSpPr>
        <p:spPr>
          <a:xfrm>
            <a:off x="10996519" y="650487"/>
            <a:ext cx="667482" cy="235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5776">
              <a:defRPr/>
            </a:pPr>
            <a:r>
              <a:rPr lang="en-US" sz="927" b="1" dirty="0">
                <a:solidFill>
                  <a:prstClr val="black"/>
                </a:solidFill>
                <a:latin typeface="+mj-lt"/>
                <a:cs typeface="Arial" charset="0"/>
              </a:rPr>
              <a:t>Months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0852715-BEB3-8308-EC0B-76B3B81EB06B}"/>
              </a:ext>
            </a:extLst>
          </p:cNvPr>
          <p:cNvSpPr/>
          <p:nvPr/>
        </p:nvSpPr>
        <p:spPr bwMode="auto">
          <a:xfrm>
            <a:off x="2830449" y="609010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4BD56598-6735-1C04-30D5-A1C8376FAF94}"/>
              </a:ext>
            </a:extLst>
          </p:cNvPr>
          <p:cNvSpPr/>
          <p:nvPr/>
        </p:nvSpPr>
        <p:spPr bwMode="auto">
          <a:xfrm>
            <a:off x="3078498" y="609545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9B8682F6-DA1F-39CA-EB0C-2B690D575CAD}"/>
              </a:ext>
            </a:extLst>
          </p:cNvPr>
          <p:cNvSpPr/>
          <p:nvPr/>
        </p:nvSpPr>
        <p:spPr bwMode="auto">
          <a:xfrm>
            <a:off x="3337241" y="609010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EADED2EC-B79A-A39C-A2F9-EE4608A76A61}"/>
              </a:ext>
            </a:extLst>
          </p:cNvPr>
          <p:cNvSpPr/>
          <p:nvPr/>
        </p:nvSpPr>
        <p:spPr bwMode="auto">
          <a:xfrm>
            <a:off x="3601331" y="609799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CD1C2AA8-7F45-1D66-8F89-E94FCF935083}"/>
              </a:ext>
            </a:extLst>
          </p:cNvPr>
          <p:cNvSpPr/>
          <p:nvPr/>
        </p:nvSpPr>
        <p:spPr bwMode="auto">
          <a:xfrm>
            <a:off x="3844033" y="609526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31369336-CAE3-5264-7E03-626D2F6E9C97}"/>
              </a:ext>
            </a:extLst>
          </p:cNvPr>
          <p:cNvSpPr/>
          <p:nvPr/>
        </p:nvSpPr>
        <p:spPr bwMode="auto">
          <a:xfrm>
            <a:off x="4099492" y="609770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D83068E5-94F8-3489-3F10-868F397501B5}"/>
              </a:ext>
            </a:extLst>
          </p:cNvPr>
          <p:cNvSpPr/>
          <p:nvPr/>
        </p:nvSpPr>
        <p:spPr bwMode="auto">
          <a:xfrm>
            <a:off x="4347541" y="610304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94C1E83B-3389-0DCF-62DB-25526A8C1AE9}"/>
              </a:ext>
            </a:extLst>
          </p:cNvPr>
          <p:cNvSpPr/>
          <p:nvPr/>
        </p:nvSpPr>
        <p:spPr bwMode="auto">
          <a:xfrm>
            <a:off x="4606284" y="609770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0E1E9005-8931-1A43-D447-70B4F09DFFEE}"/>
              </a:ext>
            </a:extLst>
          </p:cNvPr>
          <p:cNvSpPr/>
          <p:nvPr/>
        </p:nvSpPr>
        <p:spPr bwMode="auto">
          <a:xfrm>
            <a:off x="4870374" y="610558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34887999-C7AE-B524-384E-CD87CC65FF2A}"/>
              </a:ext>
            </a:extLst>
          </p:cNvPr>
          <p:cNvSpPr/>
          <p:nvPr/>
        </p:nvSpPr>
        <p:spPr bwMode="auto">
          <a:xfrm>
            <a:off x="5113076" y="610286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84C0FFC1-9BE0-8646-5513-BA08690385C4}"/>
              </a:ext>
            </a:extLst>
          </p:cNvPr>
          <p:cNvSpPr/>
          <p:nvPr/>
        </p:nvSpPr>
        <p:spPr bwMode="auto">
          <a:xfrm>
            <a:off x="5355778" y="610501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5FFAC6BE-8A5C-5D46-C7BB-3CFDF18947AD}"/>
              </a:ext>
            </a:extLst>
          </p:cNvPr>
          <p:cNvSpPr/>
          <p:nvPr/>
        </p:nvSpPr>
        <p:spPr bwMode="auto">
          <a:xfrm>
            <a:off x="5603827" y="611036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677A4465-86D4-A114-EED9-2B6918B86654}"/>
              </a:ext>
            </a:extLst>
          </p:cNvPr>
          <p:cNvSpPr/>
          <p:nvPr/>
        </p:nvSpPr>
        <p:spPr bwMode="auto">
          <a:xfrm>
            <a:off x="5862570" y="610501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EF83C55D-FB7F-C16A-0CEA-53FB69C21123}"/>
              </a:ext>
            </a:extLst>
          </p:cNvPr>
          <p:cNvSpPr/>
          <p:nvPr/>
        </p:nvSpPr>
        <p:spPr bwMode="auto">
          <a:xfrm>
            <a:off x="6126660" y="611290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0969814-A80A-2214-1116-479A59D562A6}"/>
              </a:ext>
            </a:extLst>
          </p:cNvPr>
          <p:cNvSpPr/>
          <p:nvPr/>
        </p:nvSpPr>
        <p:spPr bwMode="auto">
          <a:xfrm>
            <a:off x="6369362" y="611017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B88DA8D8-F8AD-81C9-DCB5-F6E241651565}"/>
              </a:ext>
            </a:extLst>
          </p:cNvPr>
          <p:cNvSpPr/>
          <p:nvPr/>
        </p:nvSpPr>
        <p:spPr bwMode="auto">
          <a:xfrm>
            <a:off x="6624821" y="611261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DF160318-7378-2063-38BE-D4C97809F857}"/>
              </a:ext>
            </a:extLst>
          </p:cNvPr>
          <p:cNvSpPr/>
          <p:nvPr/>
        </p:nvSpPr>
        <p:spPr bwMode="auto">
          <a:xfrm>
            <a:off x="6872870" y="611795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DD96D84F-8BD0-0C1F-190B-2BC9C9B599A3}"/>
              </a:ext>
            </a:extLst>
          </p:cNvPr>
          <p:cNvSpPr/>
          <p:nvPr/>
        </p:nvSpPr>
        <p:spPr bwMode="auto">
          <a:xfrm>
            <a:off x="7131613" y="6112610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6C46D987-8D63-DD35-EAA3-927A3F68D18F}"/>
              </a:ext>
            </a:extLst>
          </p:cNvPr>
          <p:cNvSpPr/>
          <p:nvPr/>
        </p:nvSpPr>
        <p:spPr bwMode="auto">
          <a:xfrm>
            <a:off x="7395703" y="612049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B44D1D6D-9097-C664-9D92-4293FFCE2405}"/>
              </a:ext>
            </a:extLst>
          </p:cNvPr>
          <p:cNvSpPr/>
          <p:nvPr/>
        </p:nvSpPr>
        <p:spPr bwMode="auto">
          <a:xfrm>
            <a:off x="7638405" y="611777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5943C8F2-717D-9319-9C6D-0459139AB311}"/>
              </a:ext>
            </a:extLst>
          </p:cNvPr>
          <p:cNvSpPr/>
          <p:nvPr/>
        </p:nvSpPr>
        <p:spPr bwMode="auto">
          <a:xfrm>
            <a:off x="7889738" y="610891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5BFF7BEF-BB38-9E3C-EE6C-9E619CD4B1C0}"/>
              </a:ext>
            </a:extLst>
          </p:cNvPr>
          <p:cNvSpPr/>
          <p:nvPr/>
        </p:nvSpPr>
        <p:spPr bwMode="auto">
          <a:xfrm>
            <a:off x="8137787" y="611426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424D89B5-1C60-F68E-96CC-77DFB33BEE70}"/>
              </a:ext>
            </a:extLst>
          </p:cNvPr>
          <p:cNvSpPr/>
          <p:nvPr/>
        </p:nvSpPr>
        <p:spPr bwMode="auto">
          <a:xfrm>
            <a:off x="8396530" y="610891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55A2D85-E4BE-708C-3AFB-2A4C240458EE}"/>
              </a:ext>
            </a:extLst>
          </p:cNvPr>
          <p:cNvSpPr/>
          <p:nvPr/>
        </p:nvSpPr>
        <p:spPr bwMode="auto">
          <a:xfrm>
            <a:off x="8660620" y="611680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6E983692-565E-8C6B-9A6E-04F11F4524CA}"/>
              </a:ext>
            </a:extLst>
          </p:cNvPr>
          <p:cNvSpPr/>
          <p:nvPr/>
        </p:nvSpPr>
        <p:spPr bwMode="auto">
          <a:xfrm>
            <a:off x="8903322" y="6114085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26F8E1F6-0528-429C-F955-813942C15BAF}"/>
              </a:ext>
            </a:extLst>
          </p:cNvPr>
          <p:cNvSpPr/>
          <p:nvPr/>
        </p:nvSpPr>
        <p:spPr bwMode="auto">
          <a:xfrm>
            <a:off x="9158781" y="611651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9C1F28F9-D377-5E66-E254-4EF517ABCEB7}"/>
              </a:ext>
            </a:extLst>
          </p:cNvPr>
          <p:cNvSpPr/>
          <p:nvPr/>
        </p:nvSpPr>
        <p:spPr bwMode="auto">
          <a:xfrm>
            <a:off x="9406830" y="612186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9A60A37F-B39F-5CBC-0552-704A61BA5813}"/>
              </a:ext>
            </a:extLst>
          </p:cNvPr>
          <p:cNvSpPr/>
          <p:nvPr/>
        </p:nvSpPr>
        <p:spPr bwMode="auto">
          <a:xfrm>
            <a:off x="9665573" y="611651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4C6E99C4-B4CC-6C28-A47C-7F290E3423BD}"/>
              </a:ext>
            </a:extLst>
          </p:cNvPr>
          <p:cNvSpPr/>
          <p:nvPr/>
        </p:nvSpPr>
        <p:spPr bwMode="auto">
          <a:xfrm>
            <a:off x="9929663" y="6124403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E402762E-4FCE-2DF1-FEA3-F54233E39C0C}"/>
              </a:ext>
            </a:extLst>
          </p:cNvPr>
          <p:cNvSpPr/>
          <p:nvPr/>
        </p:nvSpPr>
        <p:spPr bwMode="auto">
          <a:xfrm>
            <a:off x="10172365" y="6121682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9" name="Diamond 68">
            <a:extLst>
              <a:ext uri="{FF2B5EF4-FFF2-40B4-BE49-F238E27FC236}">
                <a16:creationId xmlns:a16="http://schemas.microsoft.com/office/drawing/2014/main" id="{B3D8482B-2846-0572-5EB5-48AA386CACC8}"/>
              </a:ext>
            </a:extLst>
          </p:cNvPr>
          <p:cNvSpPr/>
          <p:nvPr/>
        </p:nvSpPr>
        <p:spPr bwMode="auto">
          <a:xfrm>
            <a:off x="10415067" y="612382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F5CC4A43-558B-E96D-F0AE-B97E56B8F870}"/>
              </a:ext>
            </a:extLst>
          </p:cNvPr>
          <p:cNvSpPr/>
          <p:nvPr/>
        </p:nvSpPr>
        <p:spPr bwMode="auto">
          <a:xfrm>
            <a:off x="10663116" y="612917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862B9512-1B1B-25E3-3A4E-5C7A12BB5748}"/>
              </a:ext>
            </a:extLst>
          </p:cNvPr>
          <p:cNvSpPr/>
          <p:nvPr/>
        </p:nvSpPr>
        <p:spPr bwMode="auto">
          <a:xfrm>
            <a:off x="10921859" y="6123829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35C168F2-E3D1-544D-0D7C-E7E7661141E0}"/>
              </a:ext>
            </a:extLst>
          </p:cNvPr>
          <p:cNvSpPr/>
          <p:nvPr/>
        </p:nvSpPr>
        <p:spPr bwMode="auto">
          <a:xfrm>
            <a:off x="11185949" y="6131716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91" name="Diamond 90">
            <a:extLst>
              <a:ext uri="{FF2B5EF4-FFF2-40B4-BE49-F238E27FC236}">
                <a16:creationId xmlns:a16="http://schemas.microsoft.com/office/drawing/2014/main" id="{AE4F5FA3-93E7-32F7-BAEB-BDC0F182601F}"/>
              </a:ext>
            </a:extLst>
          </p:cNvPr>
          <p:cNvSpPr/>
          <p:nvPr/>
        </p:nvSpPr>
        <p:spPr bwMode="auto">
          <a:xfrm>
            <a:off x="11425231" y="612049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92" name="Diamond 91">
            <a:extLst>
              <a:ext uri="{FF2B5EF4-FFF2-40B4-BE49-F238E27FC236}">
                <a16:creationId xmlns:a16="http://schemas.microsoft.com/office/drawing/2014/main" id="{7812E697-2D50-087E-8748-278C10275D7E}"/>
              </a:ext>
            </a:extLst>
          </p:cNvPr>
          <p:cNvSpPr/>
          <p:nvPr/>
        </p:nvSpPr>
        <p:spPr bwMode="auto">
          <a:xfrm>
            <a:off x="11655312" y="6120497"/>
            <a:ext cx="220413" cy="190500"/>
          </a:xfrm>
          <a:prstGeom prst="diamond">
            <a:avLst/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883" dirty="0">
              <a:ln>
                <a:solidFill>
                  <a:srgbClr val="FFB240">
                    <a:lumMod val="50000"/>
                    <a:lumOff val="50000"/>
                  </a:srgbClr>
                </a:solidFill>
              </a:ln>
              <a:solidFill>
                <a:srgbClr val="000000"/>
              </a:solidFill>
              <a:latin typeface="+mj-lt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9A0159D-A24E-0801-25E6-31CEF9ABB8F6}"/>
              </a:ext>
            </a:extLst>
          </p:cNvPr>
          <p:cNvGrpSpPr/>
          <p:nvPr/>
        </p:nvGrpSpPr>
        <p:grpSpPr>
          <a:xfrm>
            <a:off x="2856950" y="1465737"/>
            <a:ext cx="144000" cy="216000"/>
            <a:chOff x="7703820" y="6212177"/>
            <a:chExt cx="220980" cy="341023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DF32785-6AF6-8D6D-5879-56265D027124}"/>
                </a:ext>
              </a:extLst>
            </p:cNvPr>
            <p:cNvCxnSpPr/>
            <p:nvPr/>
          </p:nvCxnSpPr>
          <p:spPr>
            <a:xfrm>
              <a:off x="7734300" y="6212177"/>
              <a:ext cx="0" cy="341023"/>
            </a:xfrm>
            <a:prstGeom prst="line">
              <a:avLst/>
            </a:prstGeom>
            <a:ln>
              <a:solidFill>
                <a:srgbClr val="86BC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Flowchart: Punched Tape 94">
              <a:extLst>
                <a:ext uri="{FF2B5EF4-FFF2-40B4-BE49-F238E27FC236}">
                  <a16:creationId xmlns:a16="http://schemas.microsoft.com/office/drawing/2014/main" id="{AEFFD133-A8BE-0EF5-924B-D18032C0DC7A}"/>
                </a:ext>
              </a:extLst>
            </p:cNvPr>
            <p:cNvSpPr/>
            <p:nvPr/>
          </p:nvSpPr>
          <p:spPr bwMode="gray">
            <a:xfrm>
              <a:off x="7703820" y="6233693"/>
              <a:ext cx="220980" cy="180000"/>
            </a:xfrm>
            <a:prstGeom prst="flowChartPunchedTape">
              <a:avLst/>
            </a:prstGeom>
            <a:solidFill>
              <a:srgbClr val="86BC2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id="{242BAF2B-8037-36C0-A99A-1F93835A7841}"/>
              </a:ext>
            </a:extLst>
          </p:cNvPr>
          <p:cNvSpPr/>
          <p:nvPr/>
        </p:nvSpPr>
        <p:spPr>
          <a:xfrm>
            <a:off x="6983076" y="6626519"/>
            <a:ext cx="108879" cy="134471"/>
          </a:xfrm>
          <a:prstGeom prst="triangle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algn="ctr" defTabSz="825776">
              <a:defRPr/>
            </a:pPr>
            <a:endParaRPr lang="en-US" sz="1412" kern="0" dirty="0">
              <a:solidFill>
                <a:prstClr val="white"/>
              </a:solidFill>
              <a:latin typeface="+mj-lt"/>
              <a:cs typeface="Arial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2AFD1CD-B441-71C6-E6D2-692E4FB765AE}"/>
              </a:ext>
            </a:extLst>
          </p:cNvPr>
          <p:cNvSpPr txBox="1"/>
          <p:nvPr/>
        </p:nvSpPr>
        <p:spPr>
          <a:xfrm>
            <a:off x="293917" y="6319675"/>
            <a:ext cx="116586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  <a:buSzPct val="100000"/>
            </a:pPr>
            <a:r>
              <a:rPr lang="en-US" sz="900" b="1" i="1" noProof="0" dirty="0">
                <a:solidFill>
                  <a:schemeClr val="tx1"/>
                </a:solidFill>
              </a:rPr>
              <a:t>Note:</a:t>
            </a:r>
            <a:r>
              <a:rPr lang="en-US" sz="900" i="1" noProof="0" dirty="0">
                <a:solidFill>
                  <a:schemeClr val="tx1"/>
                </a:solidFill>
              </a:rPr>
              <a:t> Further scope for furnishing Quarterly reports or any others report as per the scheme Guidelines and instructions that may be issued by the Ministry of Power/Nodal Agency from time to time and based on the data/inputs to be provided by the DISCOM</a:t>
            </a:r>
          </a:p>
        </p:txBody>
      </p:sp>
    </p:spTree>
    <p:extLst>
      <p:ext uri="{BB962C8B-B14F-4D97-AF65-F5344CB8AC3E}">
        <p14:creationId xmlns:p14="http://schemas.microsoft.com/office/powerpoint/2010/main" val="266037606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0902599"/>
              </p:ext>
            </p:extLst>
          </p:nvPr>
        </p:nvGraphicFramePr>
        <p:xfrm>
          <a:off x="1401" y="1401"/>
          <a:ext cx="1401" cy="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1" y="1401"/>
                        <a:ext cx="1401" cy="1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Oval 74">
            <a:extLst>
              <a:ext uri="{FF2B5EF4-FFF2-40B4-BE49-F238E27FC236}">
                <a16:creationId xmlns:a16="http://schemas.microsoft.com/office/drawing/2014/main" id="{634145FA-3074-1B44-BAD2-D270A63EC32C}"/>
              </a:ext>
            </a:extLst>
          </p:cNvPr>
          <p:cNvSpPr/>
          <p:nvPr/>
        </p:nvSpPr>
        <p:spPr bwMode="gray">
          <a:xfrm>
            <a:off x="10535234" y="3447631"/>
            <a:ext cx="189503" cy="177751"/>
          </a:xfrm>
          <a:prstGeom prst="ellipse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dirty="0" err="1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C3416E7-CC45-923F-0270-AAAE72218566}"/>
              </a:ext>
            </a:extLst>
          </p:cNvPr>
          <p:cNvSpPr/>
          <p:nvPr/>
        </p:nvSpPr>
        <p:spPr bwMode="gray">
          <a:xfrm>
            <a:off x="8178422" y="3827941"/>
            <a:ext cx="189503" cy="177751"/>
          </a:xfrm>
          <a:prstGeom prst="ellipse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dirty="0" err="1">
              <a:solidFill>
                <a:schemeClr val="bg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AC4FAF3-D9BB-1454-F4F9-BF7A76170BE2}"/>
              </a:ext>
            </a:extLst>
          </p:cNvPr>
          <p:cNvSpPr/>
          <p:nvPr/>
        </p:nvSpPr>
        <p:spPr bwMode="gray">
          <a:xfrm>
            <a:off x="5869850" y="3437584"/>
            <a:ext cx="189503" cy="177751"/>
          </a:xfrm>
          <a:prstGeom prst="ellipse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dirty="0" err="1">
              <a:solidFill>
                <a:schemeClr val="bg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93738B3-6ED6-51E2-B186-483D73581DE7}"/>
              </a:ext>
            </a:extLst>
          </p:cNvPr>
          <p:cNvSpPr/>
          <p:nvPr/>
        </p:nvSpPr>
        <p:spPr bwMode="gray">
          <a:xfrm>
            <a:off x="3637917" y="3827874"/>
            <a:ext cx="189503" cy="177751"/>
          </a:xfrm>
          <a:prstGeom prst="ellipse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dirty="0" err="1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43FA49A-6598-58F5-7297-8407379B5A9C}"/>
              </a:ext>
            </a:extLst>
          </p:cNvPr>
          <p:cNvSpPr/>
          <p:nvPr/>
        </p:nvSpPr>
        <p:spPr bwMode="gray">
          <a:xfrm>
            <a:off x="1404255" y="3438575"/>
            <a:ext cx="189503" cy="177751"/>
          </a:xfrm>
          <a:prstGeom prst="ellipse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 dirty="0" err="1">
              <a:solidFill>
                <a:schemeClr val="bg1"/>
              </a:solidFill>
            </a:endParaRPr>
          </a:p>
        </p:txBody>
      </p:sp>
      <p:sp>
        <p:nvSpPr>
          <p:cNvPr id="13" name="Rectangle 12" hidden="1"/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40074" cy="140074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US" sz="1941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Our work experience with WBSEDCL</a:t>
            </a:r>
            <a:endParaRPr lang="en-IN" dirty="0"/>
          </a:p>
        </p:txBody>
      </p:sp>
      <p:sp>
        <p:nvSpPr>
          <p:cNvPr id="43" name="Right Arrow 8">
            <a:extLst>
              <a:ext uri="{FF2B5EF4-FFF2-40B4-BE49-F238E27FC236}">
                <a16:creationId xmlns:a16="http://schemas.microsoft.com/office/drawing/2014/main" id="{9DC17FEA-31B6-4BEB-926A-5D8359335222}"/>
              </a:ext>
            </a:extLst>
          </p:cNvPr>
          <p:cNvSpPr/>
          <p:nvPr/>
        </p:nvSpPr>
        <p:spPr bwMode="gray">
          <a:xfrm>
            <a:off x="516812" y="3639258"/>
            <a:ext cx="11533671" cy="192511"/>
          </a:xfrm>
          <a:prstGeom prst="rightArrow">
            <a:avLst>
              <a:gd name="adj1" fmla="val 50000"/>
              <a:gd name="adj2" fmla="val 171323"/>
            </a:avLst>
          </a:prstGeom>
          <a:solidFill>
            <a:srgbClr val="86BC25"/>
          </a:solidFill>
          <a:ln w="19050" algn="ctr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793C0E2-1D53-4F6E-89B2-6335B50CA752}"/>
              </a:ext>
            </a:extLst>
          </p:cNvPr>
          <p:cNvSpPr/>
          <p:nvPr/>
        </p:nvSpPr>
        <p:spPr bwMode="gray">
          <a:xfrm rot="5400000">
            <a:off x="2146751" y="3633573"/>
            <a:ext cx="1004537" cy="189502"/>
          </a:xfrm>
          <a:prstGeom prst="triangle">
            <a:avLst/>
          </a:prstGeom>
          <a:solidFill>
            <a:srgbClr val="046A38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7B7609F-4A5A-7EF7-7986-4EE5959F0F3A}"/>
              </a:ext>
            </a:extLst>
          </p:cNvPr>
          <p:cNvSpPr/>
          <p:nvPr/>
        </p:nvSpPr>
        <p:spPr bwMode="gray">
          <a:xfrm>
            <a:off x="490722" y="1044404"/>
            <a:ext cx="2006081" cy="1961533"/>
          </a:xfrm>
          <a:prstGeom prst="roundRect">
            <a:avLst/>
          </a:prstGeom>
          <a:noFill/>
          <a:ln w="28575" algn="ctr">
            <a:solidFill>
              <a:schemeClr val="tx1">
                <a:lumMod val="85000"/>
                <a:lumOff val="15000"/>
              </a:schemeClr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GB" sz="12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Consultancy services for providing assistance to WBSEDCL in all regulatory areas on retainership basis</a:t>
            </a:r>
            <a:endParaRPr lang="en-US" sz="1200" b="1" noProof="0" dirty="0" err="1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5C9F8A3-BBCF-DC71-BE63-0486C47BBF7D}"/>
              </a:ext>
            </a:extLst>
          </p:cNvPr>
          <p:cNvSpPr/>
          <p:nvPr/>
        </p:nvSpPr>
        <p:spPr bwMode="gray">
          <a:xfrm>
            <a:off x="2674589" y="4466215"/>
            <a:ext cx="2104243" cy="2058786"/>
          </a:xfrm>
          <a:prstGeom prst="roundRect">
            <a:avLst/>
          </a:prstGeom>
          <a:noFill/>
          <a:ln w="28575" algn="ctr">
            <a:solidFill>
              <a:schemeClr val="tx1">
                <a:lumMod val="85000"/>
                <a:lumOff val="15000"/>
              </a:schemeClr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World Bank Project with respect to Financial health Assessment of WBSEDCL</a:t>
            </a:r>
            <a:endParaRPr lang="en-US" sz="1200" dirty="0" err="1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2E77472B-EF29-E2B6-1717-E011FB8A3DA0}"/>
              </a:ext>
            </a:extLst>
          </p:cNvPr>
          <p:cNvSpPr/>
          <p:nvPr/>
        </p:nvSpPr>
        <p:spPr bwMode="gray">
          <a:xfrm rot="5400000">
            <a:off x="4436070" y="3629107"/>
            <a:ext cx="1004537" cy="189502"/>
          </a:xfrm>
          <a:prstGeom prst="triangle">
            <a:avLst/>
          </a:prstGeom>
          <a:solidFill>
            <a:srgbClr val="046A38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09934A2-2E4C-AB80-32B7-3687BC43F68F}"/>
              </a:ext>
            </a:extLst>
          </p:cNvPr>
          <p:cNvSpPr/>
          <p:nvPr/>
        </p:nvSpPr>
        <p:spPr bwMode="gray">
          <a:xfrm>
            <a:off x="4872636" y="957504"/>
            <a:ext cx="2176714" cy="2004005"/>
          </a:xfrm>
          <a:prstGeom prst="roundRect">
            <a:avLst/>
          </a:prstGeom>
          <a:noFill/>
          <a:ln w="28575" algn="ctr">
            <a:solidFill>
              <a:schemeClr val="tx1">
                <a:lumMod val="85000"/>
                <a:lumOff val="15000"/>
              </a:schemeClr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World Bank Project on Impact Assessment of Energy Transition w.r.t WBSEDCL</a:t>
            </a:r>
            <a:endParaRPr lang="en-US" sz="1200" dirty="0" err="1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CFEC140C-A176-36C8-3657-6C17E52C9FDC}"/>
              </a:ext>
            </a:extLst>
          </p:cNvPr>
          <p:cNvSpPr/>
          <p:nvPr/>
        </p:nvSpPr>
        <p:spPr bwMode="gray">
          <a:xfrm rot="5400000">
            <a:off x="6612784" y="3649783"/>
            <a:ext cx="1004537" cy="189502"/>
          </a:xfrm>
          <a:prstGeom prst="triangle">
            <a:avLst/>
          </a:prstGeom>
          <a:solidFill>
            <a:srgbClr val="046A38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A1B8D4B4-569D-D0E9-B6FF-33E6C423F41D}"/>
              </a:ext>
            </a:extLst>
          </p:cNvPr>
          <p:cNvSpPr/>
          <p:nvPr/>
        </p:nvSpPr>
        <p:spPr bwMode="gray">
          <a:xfrm rot="5400000">
            <a:off x="8975520" y="3653411"/>
            <a:ext cx="1004537" cy="189502"/>
          </a:xfrm>
          <a:prstGeom prst="triangle">
            <a:avLst/>
          </a:prstGeom>
          <a:solidFill>
            <a:srgbClr val="046A38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841618E-49F0-2B59-6B92-F3C2EFD850ED}"/>
              </a:ext>
            </a:extLst>
          </p:cNvPr>
          <p:cNvSpPr/>
          <p:nvPr/>
        </p:nvSpPr>
        <p:spPr bwMode="gray">
          <a:xfrm>
            <a:off x="7020301" y="4429156"/>
            <a:ext cx="2552239" cy="2111343"/>
          </a:xfrm>
          <a:prstGeom prst="roundRect">
            <a:avLst/>
          </a:prstGeom>
          <a:noFill/>
          <a:ln w="28575" algn="ctr">
            <a:solidFill>
              <a:schemeClr val="tx1">
                <a:lumMod val="85000"/>
                <a:lumOff val="15000"/>
              </a:schemeClr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Engagement by WB Dept. of Power. Major assignments/ support given w.r.t WBSEDCL inter alia: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As-is Study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Additional Borrowing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RDSS Action Plan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Vision and Mission formulation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Policy draft support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1645582-ADED-57E3-9F52-832BCF5CB9EA}"/>
              </a:ext>
            </a:extLst>
          </p:cNvPr>
          <p:cNvSpPr/>
          <p:nvPr/>
        </p:nvSpPr>
        <p:spPr bwMode="gray">
          <a:xfrm>
            <a:off x="9615564" y="990162"/>
            <a:ext cx="2006081" cy="2004005"/>
          </a:xfrm>
          <a:prstGeom prst="roundRect">
            <a:avLst/>
          </a:prstGeom>
          <a:noFill/>
          <a:ln w="28575" algn="ctr">
            <a:solidFill>
              <a:schemeClr val="tx1">
                <a:lumMod val="85000"/>
                <a:lumOff val="15000"/>
              </a:schemeClr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WBSEDCL EV Accelerator Cell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92FDCF0-E44E-86C9-6187-62CEA9DBCCC8}"/>
              </a:ext>
            </a:extLst>
          </p:cNvPr>
          <p:cNvSpPr/>
          <p:nvPr/>
        </p:nvSpPr>
        <p:spPr bwMode="gray">
          <a:xfrm>
            <a:off x="675777" y="3545959"/>
            <a:ext cx="1657166" cy="35579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 algn="ctr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noProof="0" dirty="0">
                <a:solidFill>
                  <a:schemeClr val="bg1"/>
                </a:solidFill>
              </a:rPr>
              <a:t>2015-2019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5664689-183C-2590-FAF8-3F40B6ECAF5B}"/>
              </a:ext>
            </a:extLst>
          </p:cNvPr>
          <p:cNvSpPr/>
          <p:nvPr/>
        </p:nvSpPr>
        <p:spPr bwMode="gray">
          <a:xfrm>
            <a:off x="2884595" y="3545959"/>
            <a:ext cx="1657166" cy="35579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 algn="ctr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noProof="0" dirty="0">
                <a:solidFill>
                  <a:schemeClr val="bg1"/>
                </a:solidFill>
              </a:rPr>
              <a:t>2019-2020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6F440BE-C0F7-6832-4BC6-18BA0B4E03EF}"/>
              </a:ext>
            </a:extLst>
          </p:cNvPr>
          <p:cNvSpPr/>
          <p:nvPr/>
        </p:nvSpPr>
        <p:spPr bwMode="gray">
          <a:xfrm>
            <a:off x="5126874" y="3545959"/>
            <a:ext cx="1657166" cy="35579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 algn="ctr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noProof="0" dirty="0">
                <a:solidFill>
                  <a:schemeClr val="bg1"/>
                </a:solidFill>
              </a:rPr>
              <a:t>2020-2021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A778726-90D7-6AD0-D608-8DD44D00D2F9}"/>
              </a:ext>
            </a:extLst>
          </p:cNvPr>
          <p:cNvSpPr/>
          <p:nvPr/>
        </p:nvSpPr>
        <p:spPr bwMode="gray">
          <a:xfrm>
            <a:off x="7454248" y="3545959"/>
            <a:ext cx="1657166" cy="35579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 algn="ctr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noProof="0" dirty="0">
                <a:solidFill>
                  <a:schemeClr val="bg1"/>
                </a:solidFill>
              </a:rPr>
              <a:t>2021 - Ongoing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E1FDB78-BA21-04B7-EDC3-59D625093A93}"/>
              </a:ext>
            </a:extLst>
          </p:cNvPr>
          <p:cNvSpPr/>
          <p:nvPr/>
        </p:nvSpPr>
        <p:spPr bwMode="gray">
          <a:xfrm>
            <a:off x="9836051" y="3544863"/>
            <a:ext cx="1657166" cy="35579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 algn="ctr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noProof="0" dirty="0">
                <a:solidFill>
                  <a:schemeClr val="bg1"/>
                </a:solidFill>
              </a:rPr>
              <a:t>2023 - Ongoing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A93EFF9-62EE-DA8E-FB9B-7D732E6B8612}"/>
              </a:ext>
            </a:extLst>
          </p:cNvPr>
          <p:cNvCxnSpPr/>
          <p:nvPr/>
        </p:nvCxnSpPr>
        <p:spPr>
          <a:xfrm>
            <a:off x="1491350" y="3006124"/>
            <a:ext cx="0" cy="435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2A49C18-E362-D793-82AC-0EF3AA246348}"/>
              </a:ext>
            </a:extLst>
          </p:cNvPr>
          <p:cNvCxnSpPr/>
          <p:nvPr/>
        </p:nvCxnSpPr>
        <p:spPr>
          <a:xfrm>
            <a:off x="3726710" y="3993300"/>
            <a:ext cx="0" cy="435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FCBBBC4-425A-9A33-90B9-7152FEA6CCAB}"/>
              </a:ext>
            </a:extLst>
          </p:cNvPr>
          <p:cNvCxnSpPr/>
          <p:nvPr/>
        </p:nvCxnSpPr>
        <p:spPr>
          <a:xfrm>
            <a:off x="5955457" y="2983281"/>
            <a:ext cx="0" cy="435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3BFE05E-83AD-3819-49D8-C315CACF3779}"/>
              </a:ext>
            </a:extLst>
          </p:cNvPr>
          <p:cNvCxnSpPr/>
          <p:nvPr/>
        </p:nvCxnSpPr>
        <p:spPr>
          <a:xfrm>
            <a:off x="8265186" y="3993300"/>
            <a:ext cx="0" cy="435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6ECE3E3-0896-E840-8719-526F246C4B19}"/>
              </a:ext>
            </a:extLst>
          </p:cNvPr>
          <p:cNvCxnSpPr/>
          <p:nvPr/>
        </p:nvCxnSpPr>
        <p:spPr>
          <a:xfrm>
            <a:off x="10635644" y="3011775"/>
            <a:ext cx="0" cy="435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65148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T0fPb4UFL8aEoQoJi_F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cDvHnZI8K4frJhRW_RC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tstrXgY5JW6sNIvCExz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ZqkhZcKtimm62nbKGuj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j8yyZJS6KC.ojEw_tYE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y8Tz36iJECAfYrXE1EXm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j8yyZJS6KC.ojEw_tYEw"/>
</p:tagLst>
</file>

<file path=ppt/theme/theme1.xml><?xml version="1.0" encoding="utf-8"?>
<a:theme xmlns:a="http://schemas.openxmlformats.org/drawingml/2006/main" name="1_Deloitte_UK_Onscreen">
  <a:themeElements>
    <a:clrScheme name="Deloitte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954F72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solidFill>
            <a:schemeClr val="accent3"/>
          </a:solidFill>
          <a:miter lim="800000"/>
          <a:headEnd/>
          <a:tailEnd/>
        </a:ln>
      </a:spPr>
      <a:bodyPr wrap="square" lIns="88900" tIns="88900" rIns="88900" bIns="88900" rtlCol="0" anchor="ctr"/>
      <a:lstStyle>
        <a:defPPr algn="ctr">
          <a:lnSpc>
            <a:spcPct val="106000"/>
          </a:lnSpc>
          <a:buFont typeface="Wingdings 2" pitchFamily="18" charset="2"/>
          <a:buNone/>
          <a:defRPr sz="1600" b="1" noProof="0" dirty="0" err="1">
            <a:solidFill>
              <a:schemeClr val="bg1"/>
            </a:solidFill>
          </a:defRPr>
        </a:defPPr>
      </a:lstStyle>
    </a:spDef>
    <a:lnDef>
      <a:spPr>
        <a:ln>
          <a:solidFill>
            <a:srgbClr val="44546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4000" indent="-234000">
          <a:spcBef>
            <a:spcPts val="0"/>
          </a:spcBef>
          <a:spcAft>
            <a:spcPts val="1333"/>
          </a:spcAft>
          <a:buSzPct val="100000"/>
          <a:buFont typeface="Arial"/>
          <a:buChar char="•"/>
          <a:defRPr sz="1200" noProof="0" dirty="0" err="1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 widescreen (16-9).potx" id="{D15CC715-B911-44C1-9E94-DDBA3AD356C4}" vid="{6A3836AB-5DCF-4D2F-8285-FE1EF7A83340}"/>
    </a:ext>
  </a:extLst>
</a:theme>
</file>

<file path=ppt/theme/theme2.xml><?xml version="1.0" encoding="utf-8"?>
<a:theme xmlns:a="http://schemas.openxmlformats.org/drawingml/2006/main" name="Manulife layouts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Manulife Templat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182880" rIns="182880" rtlCol="0" anchor="ctr"/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1026722 - Corporate PPT Template_16x9_MP 1026722 E_0818_v14" id="{3527DC7A-8C8D-4E9E-9B6E-A1046016BC1D}" vid="{5393119F-6D4A-4296-9D2C-28F94A85A1E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DE9690-2440-4D18-A4BB-A2E507416844}"/>
</file>

<file path=customXml/itemProps2.xml><?xml version="1.0" encoding="utf-8"?>
<ds:datastoreItem xmlns:ds="http://schemas.openxmlformats.org/officeDocument/2006/customXml" ds:itemID="{8F999809-4D1F-4DC5-ADF3-AF215BF91F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B0CEA29-9E61-4AA9-BCCC-558C0CF81B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11642</TotalTime>
  <Words>302</Words>
  <Application>Microsoft Office PowerPoint</Application>
  <PresentationFormat>Widescreen</PresentationFormat>
  <Paragraphs>79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Arial</vt:lpstr>
      <vt:lpstr>Manulife JH Sans</vt:lpstr>
      <vt:lpstr>Manulife JH Sans Light</vt:lpstr>
      <vt:lpstr>Open Sans Light</vt:lpstr>
      <vt:lpstr>Segoe UI</vt:lpstr>
      <vt:lpstr>Verdana</vt:lpstr>
      <vt:lpstr>Wingdings</vt:lpstr>
      <vt:lpstr>Wingdings 2</vt:lpstr>
      <vt:lpstr>1_Deloitte_UK_Onscreen</vt:lpstr>
      <vt:lpstr>Manulife layouts</vt:lpstr>
      <vt:lpstr>think-cell Slide</vt:lpstr>
      <vt:lpstr>Proposed project Work plan</vt:lpstr>
      <vt:lpstr>Our work experience with WBSEDCL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Pawar, Rajas</dc:creator>
  <cp:lastModifiedBy>Banerjee, Rajeswar</cp:lastModifiedBy>
  <cp:revision>1580</cp:revision>
  <dcterms:modified xsi:type="dcterms:W3CDTF">2023-08-08T12:56:15Z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2016-05-12T18:47:00.1929907</vt:lpwstr>
  </property>
  <property fmtid="{D5CDD505-2E9C-101B-9397-08002B2CF9AE}" pid="3" name="CustomerId">
    <vt:lpwstr>deloitteindia</vt:lpwstr>
  </property>
  <property fmtid="{D5CDD505-2E9C-101B-9397-08002B2CF9AE}" pid="4" name="TemplateId">
    <vt:lpwstr>635986756201929906</vt:lpwstr>
  </property>
  <property fmtid="{D5CDD505-2E9C-101B-9397-08002B2CF9AE}" pid="5" name="UserProfileId">
    <vt:lpwstr>636681349781846700</vt:lpwstr>
  </property>
  <property fmtid="{D5CDD505-2E9C-101B-9397-08002B2CF9AE}" pid="6" name="MSIP_Label_ea60d57e-af5b-4752-ac57-3e4f28ca11dc_Enabled">
    <vt:lpwstr>true</vt:lpwstr>
  </property>
  <property fmtid="{D5CDD505-2E9C-101B-9397-08002B2CF9AE}" pid="7" name="MSIP_Label_ea60d57e-af5b-4752-ac57-3e4f28ca11dc_SetDate">
    <vt:lpwstr>2023-08-08T08:10:27Z</vt:lpwstr>
  </property>
  <property fmtid="{D5CDD505-2E9C-101B-9397-08002B2CF9AE}" pid="8" name="MSIP_Label_ea60d57e-af5b-4752-ac57-3e4f28ca11dc_Method">
    <vt:lpwstr>Standard</vt:lpwstr>
  </property>
  <property fmtid="{D5CDD505-2E9C-101B-9397-08002B2CF9AE}" pid="9" name="MSIP_Label_ea60d57e-af5b-4752-ac57-3e4f28ca11dc_Name">
    <vt:lpwstr>ea60d57e-af5b-4752-ac57-3e4f28ca11dc</vt:lpwstr>
  </property>
  <property fmtid="{D5CDD505-2E9C-101B-9397-08002B2CF9AE}" pid="10" name="MSIP_Label_ea60d57e-af5b-4752-ac57-3e4f28ca11dc_SiteId">
    <vt:lpwstr>36da45f1-dd2c-4d1f-af13-5abe46b99921</vt:lpwstr>
  </property>
  <property fmtid="{D5CDD505-2E9C-101B-9397-08002B2CF9AE}" pid="11" name="MSIP_Label_ea60d57e-af5b-4752-ac57-3e4f28ca11dc_ActionId">
    <vt:lpwstr>988bdb2a-6f27-48e7-b2da-972b00def2aa</vt:lpwstr>
  </property>
  <property fmtid="{D5CDD505-2E9C-101B-9397-08002B2CF9AE}" pid="12" name="MSIP_Label_ea60d57e-af5b-4752-ac57-3e4f28ca11dc_ContentBits">
    <vt:lpwstr>0</vt:lpwstr>
  </property>
  <property fmtid="{D5CDD505-2E9C-101B-9397-08002B2CF9AE}" pid="13" name="ContentTypeId">
    <vt:lpwstr>0x01010046EABACCD3B39C49923CC76F9A3899B0</vt:lpwstr>
  </property>
</Properties>
</file>