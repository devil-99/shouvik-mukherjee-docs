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ags/tag2.xml" ContentType="application/vnd.openxmlformats-officedocument.presentationml.tags+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3792" r:id="rId5"/>
  </p:sldMasterIdLst>
  <p:notesMasterIdLst>
    <p:notesMasterId r:id="rId48"/>
  </p:notesMasterIdLst>
  <p:handoutMasterIdLst>
    <p:handoutMasterId r:id="rId49"/>
  </p:handoutMasterIdLst>
  <p:sldIdLst>
    <p:sldId id="858" r:id="rId6"/>
    <p:sldId id="1045" r:id="rId7"/>
    <p:sldId id="910" r:id="rId8"/>
    <p:sldId id="1111" r:id="rId9"/>
    <p:sldId id="1139" r:id="rId10"/>
    <p:sldId id="1143" r:id="rId11"/>
    <p:sldId id="1132" r:id="rId12"/>
    <p:sldId id="1133" r:id="rId13"/>
    <p:sldId id="1137" r:id="rId14"/>
    <p:sldId id="1047" r:id="rId15"/>
    <p:sldId id="1138" r:id="rId16"/>
    <p:sldId id="1068" r:id="rId17"/>
    <p:sldId id="1116" r:id="rId18"/>
    <p:sldId id="1119" r:id="rId19"/>
    <p:sldId id="1121" r:id="rId20"/>
    <p:sldId id="1123" r:id="rId21"/>
    <p:sldId id="1140" r:id="rId22"/>
    <p:sldId id="1141" r:id="rId23"/>
    <p:sldId id="1144" r:id="rId24"/>
    <p:sldId id="1142" r:id="rId25"/>
    <p:sldId id="1109" r:id="rId26"/>
    <p:sldId id="1120" r:id="rId27"/>
    <p:sldId id="1136" r:id="rId28"/>
    <p:sldId id="1135" r:id="rId29"/>
    <p:sldId id="1115" r:id="rId30"/>
    <p:sldId id="1127" r:id="rId31"/>
    <p:sldId id="1128" r:id="rId32"/>
    <p:sldId id="1129" r:id="rId33"/>
    <p:sldId id="1130" r:id="rId34"/>
    <p:sldId id="1131" r:id="rId35"/>
    <p:sldId id="1145" r:id="rId36"/>
    <p:sldId id="1146" r:id="rId37"/>
    <p:sldId id="1147" r:id="rId38"/>
    <p:sldId id="1148" r:id="rId39"/>
    <p:sldId id="1149" r:id="rId40"/>
    <p:sldId id="1150" r:id="rId41"/>
    <p:sldId id="1151" r:id="rId42"/>
    <p:sldId id="1152" r:id="rId43"/>
    <p:sldId id="1153" r:id="rId44"/>
    <p:sldId id="1154" r:id="rId45"/>
    <p:sldId id="1155" r:id="rId46"/>
    <p:sldId id="912" r:id="rId47"/>
  </p:sldIdLst>
  <p:sldSz cx="10688638" cy="7562850"/>
  <p:notesSz cx="6735763" cy="9866313"/>
  <p:custDataLst>
    <p:tags r:id="rId50"/>
  </p:custDataLst>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382" userDrawn="1">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wivedi, Anujesh (IN - Delhi)" initials="DA(-D" lastIdx="1" clrIdx="0">
    <p:extLst>
      <p:ext uri="{19B8F6BF-5375-455C-9EA6-DF929625EA0E}">
        <p15:presenceInfo xmlns:p15="http://schemas.microsoft.com/office/powerpoint/2012/main" userId="S-1-5-21-776561741-1482476501-682003330-3810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00"/>
    <a:srgbClr val="FF9900"/>
    <a:srgbClr val="ED8B00"/>
    <a:srgbClr val="000000"/>
    <a:srgbClr val="DB291C"/>
    <a:srgbClr val="C00000"/>
    <a:srgbClr val="3C8A2E"/>
    <a:srgbClr val="DCDCDC"/>
    <a:srgbClr val="B4B4B4"/>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343" autoAdjust="0"/>
  </p:normalViewPr>
  <p:slideViewPr>
    <p:cSldViewPr snapToGrid="0" showGuides="1">
      <p:cViewPr varScale="1">
        <p:scale>
          <a:sx n="70" d="100"/>
          <a:sy n="70" d="100"/>
        </p:scale>
        <p:origin x="1406" y="62"/>
      </p:cViewPr>
      <p:guideLst>
        <p:guide/>
        <p:guide orient="horz" pos="2382"/>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0" d="100"/>
        <a:sy n="80" d="100"/>
      </p:scale>
      <p:origin x="0" y="-600"/>
    </p:cViewPr>
  </p:sorterViewPr>
  <p:notesViewPr>
    <p:cSldViewPr snapToGrid="0" showGuides="1">
      <p:cViewPr varScale="1">
        <p:scale>
          <a:sx n="57" d="100"/>
          <a:sy n="57" d="100"/>
        </p:scale>
        <p:origin x="1992" y="90"/>
      </p:cViewPr>
      <p:guideLst>
        <p:guide orient="horz" pos="3108"/>
        <p:guide pos="212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56"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herjee, Shouvik" userId="8a0946e8-3a6b-4d5c-947d-73f4cd578335" providerId="ADAL" clId="{30D23DC6-A482-4E8B-959D-A1EF8D5359D1}"/>
    <pc:docChg chg="modSld">
      <pc:chgData name="Mukherjee, Shouvik" userId="8a0946e8-3a6b-4d5c-947d-73f4cd578335" providerId="ADAL" clId="{30D23DC6-A482-4E8B-959D-A1EF8D5359D1}" dt="2023-08-08T12:12:36.209" v="0" actId="207"/>
      <pc:docMkLst>
        <pc:docMk/>
      </pc:docMkLst>
      <pc:sldChg chg="modSp mod">
        <pc:chgData name="Mukherjee, Shouvik" userId="8a0946e8-3a6b-4d5c-947d-73f4cd578335" providerId="ADAL" clId="{30D23DC6-A482-4E8B-959D-A1EF8D5359D1}" dt="2023-08-08T12:12:36.209" v="0" actId="207"/>
        <pc:sldMkLst>
          <pc:docMk/>
          <pc:sldMk cId="56700352" sldId="1146"/>
        </pc:sldMkLst>
        <pc:spChg chg="mod">
          <ac:chgData name="Mukherjee, Shouvik" userId="8a0946e8-3a6b-4d5c-947d-73f4cd578335" providerId="ADAL" clId="{30D23DC6-A482-4E8B-959D-A1EF8D5359D1}" dt="2023-08-08T12:12:36.209" v="0" actId="207"/>
          <ac:spMkLst>
            <pc:docMk/>
            <pc:sldMk cId="56700352" sldId="1146"/>
            <ac:spMk id="6"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732425-C153-441D-9A12-10CE2D5BF4B2}" type="doc">
      <dgm:prSet loTypeId="urn:microsoft.com/office/officeart/2005/8/layout/chevron1" loCatId="process" qsTypeId="urn:microsoft.com/office/officeart/2005/8/quickstyle/simple1" qsCatId="simple" csTypeId="urn:microsoft.com/office/officeart/2005/8/colors/accent1_2" csCatId="accent1" phldr="1"/>
      <dgm:spPr/>
    </dgm:pt>
    <dgm:pt modelId="{8D5B39C7-996A-4E3F-A3E1-6C0EC6C876DA}">
      <dgm:prSet phldrT="[Text]" custT="1"/>
      <dgm:spPr/>
      <dgm:t>
        <a:bodyPr/>
        <a:lstStyle/>
        <a:p>
          <a:r>
            <a:rPr lang="en-US" sz="1200" b="1" dirty="0">
              <a:latin typeface="Verdana" panose="020B0604030504040204" pitchFamily="34" charset="0"/>
              <a:ea typeface="Verdana" panose="020B0604030504040204" pitchFamily="34" charset="0"/>
              <a:cs typeface="Verdana" panose="020B0604030504040204" pitchFamily="34" charset="0"/>
            </a:rPr>
            <a:t>Development of Interface</a:t>
          </a:r>
        </a:p>
      </dgm:t>
    </dgm:pt>
    <dgm:pt modelId="{6E5985F9-398A-405D-8630-9DB9883D6D8B}" type="parTrans" cxnId="{28F2DE93-78C7-46C7-A63E-4D6CC283036E}">
      <dgm:prSet/>
      <dgm:spPr/>
      <dgm:t>
        <a:bodyPr/>
        <a:lstStyle/>
        <a:p>
          <a:endParaRPr lang="en-US" sz="1200" b="1"/>
        </a:p>
      </dgm:t>
    </dgm:pt>
    <dgm:pt modelId="{8B9DAA52-A846-429B-9373-C7E41084AA27}" type="sibTrans" cxnId="{28F2DE93-78C7-46C7-A63E-4D6CC283036E}">
      <dgm:prSet/>
      <dgm:spPr/>
      <dgm:t>
        <a:bodyPr/>
        <a:lstStyle/>
        <a:p>
          <a:endParaRPr lang="en-US" sz="1200" b="1"/>
        </a:p>
      </dgm:t>
    </dgm:pt>
    <dgm:pt modelId="{F904A376-B69F-4748-AB0E-CF9774D92D47}">
      <dgm:prSet phldrT="[Text]" custT="1"/>
      <dgm:spPr/>
      <dgm:t>
        <a:bodyPr/>
        <a:lstStyle/>
        <a:p>
          <a:r>
            <a:rPr lang="en-US" sz="1200" b="1" dirty="0">
              <a:latin typeface="Verdana" panose="020B0604030504040204" pitchFamily="34" charset="0"/>
              <a:ea typeface="Verdana" panose="020B0604030504040204" pitchFamily="34" charset="0"/>
              <a:cs typeface="Verdana" panose="020B0604030504040204" pitchFamily="34" charset="0"/>
            </a:rPr>
            <a:t>Building Energy Calculator </a:t>
          </a:r>
        </a:p>
      </dgm:t>
    </dgm:pt>
    <dgm:pt modelId="{2DB8FBBB-5D3B-40DE-8344-266D6A17A632}" type="parTrans" cxnId="{4E162AA9-93B1-43D1-8AC0-53349A86F917}">
      <dgm:prSet/>
      <dgm:spPr/>
      <dgm:t>
        <a:bodyPr/>
        <a:lstStyle/>
        <a:p>
          <a:endParaRPr lang="en-US" sz="1200" b="1"/>
        </a:p>
      </dgm:t>
    </dgm:pt>
    <dgm:pt modelId="{8FDEA418-AB18-4C77-846F-34FC38480DC8}" type="sibTrans" cxnId="{4E162AA9-93B1-43D1-8AC0-53349A86F917}">
      <dgm:prSet/>
      <dgm:spPr/>
      <dgm:t>
        <a:bodyPr/>
        <a:lstStyle/>
        <a:p>
          <a:endParaRPr lang="en-US" sz="1200" b="1"/>
        </a:p>
      </dgm:t>
    </dgm:pt>
    <dgm:pt modelId="{4BF83358-4BB3-43B4-8111-421AB7CAC626}">
      <dgm:prSet custT="1"/>
      <dgm:spPr/>
      <dgm:t>
        <a:bodyPr/>
        <a:lstStyle/>
        <a:p>
          <a:r>
            <a:rPr lang="en-US" sz="1200" b="1" dirty="0">
              <a:latin typeface="Verdana" panose="020B0604030504040204" pitchFamily="34" charset="0"/>
              <a:ea typeface="Verdana" panose="020B0604030504040204" pitchFamily="34" charset="0"/>
              <a:cs typeface="Verdana" panose="020B0604030504040204" pitchFamily="34" charset="0"/>
            </a:rPr>
            <a:t>Calling LEAP</a:t>
          </a:r>
        </a:p>
      </dgm:t>
    </dgm:pt>
    <dgm:pt modelId="{4CBCC192-0696-4F69-9827-AA23DE6BC03C}" type="parTrans" cxnId="{ABCF60F3-39B1-42D1-828D-620EF0FD083A}">
      <dgm:prSet/>
      <dgm:spPr/>
      <dgm:t>
        <a:bodyPr/>
        <a:lstStyle/>
        <a:p>
          <a:endParaRPr lang="en-US" sz="1200" b="1"/>
        </a:p>
      </dgm:t>
    </dgm:pt>
    <dgm:pt modelId="{008CE049-F153-4E5C-AB5E-F4C7846B24AD}" type="sibTrans" cxnId="{ABCF60F3-39B1-42D1-828D-620EF0FD083A}">
      <dgm:prSet/>
      <dgm:spPr/>
      <dgm:t>
        <a:bodyPr/>
        <a:lstStyle/>
        <a:p>
          <a:endParaRPr lang="en-US" sz="1200" b="1"/>
        </a:p>
      </dgm:t>
    </dgm:pt>
    <dgm:pt modelId="{2A3F2F40-7C29-4BE1-B014-63ABB691C2B0}" type="pres">
      <dgm:prSet presAssocID="{1D732425-C153-441D-9A12-10CE2D5BF4B2}" presName="Name0" presStyleCnt="0">
        <dgm:presLayoutVars>
          <dgm:dir/>
          <dgm:animLvl val="lvl"/>
          <dgm:resizeHandles val="exact"/>
        </dgm:presLayoutVars>
      </dgm:prSet>
      <dgm:spPr/>
    </dgm:pt>
    <dgm:pt modelId="{BA74A673-F9B8-41A1-8BDB-8A14FE94778E}" type="pres">
      <dgm:prSet presAssocID="{8D5B39C7-996A-4E3F-A3E1-6C0EC6C876DA}" presName="parTxOnly" presStyleLbl="node1" presStyleIdx="0" presStyleCnt="3" custScaleX="100000" custLinFactNeighborY="-1194">
        <dgm:presLayoutVars>
          <dgm:chMax val="0"/>
          <dgm:chPref val="0"/>
          <dgm:bulletEnabled val="1"/>
        </dgm:presLayoutVars>
      </dgm:prSet>
      <dgm:spPr/>
    </dgm:pt>
    <dgm:pt modelId="{7C56E5ED-9EC4-48CB-8AA1-23499F89ADD1}" type="pres">
      <dgm:prSet presAssocID="{8B9DAA52-A846-429B-9373-C7E41084AA27}" presName="parTxOnlySpace" presStyleCnt="0"/>
      <dgm:spPr/>
    </dgm:pt>
    <dgm:pt modelId="{085C6C7B-659C-43ED-923B-F70BA9D2E732}" type="pres">
      <dgm:prSet presAssocID="{4BF83358-4BB3-43B4-8111-421AB7CAC626}" presName="parTxOnly" presStyleLbl="node1" presStyleIdx="1" presStyleCnt="3">
        <dgm:presLayoutVars>
          <dgm:chMax val="0"/>
          <dgm:chPref val="0"/>
          <dgm:bulletEnabled val="1"/>
        </dgm:presLayoutVars>
      </dgm:prSet>
      <dgm:spPr/>
    </dgm:pt>
    <dgm:pt modelId="{8000501C-CA4F-4FB1-9024-077C15DDB7CC}" type="pres">
      <dgm:prSet presAssocID="{008CE049-F153-4E5C-AB5E-F4C7846B24AD}" presName="parTxOnlySpace" presStyleCnt="0"/>
      <dgm:spPr/>
    </dgm:pt>
    <dgm:pt modelId="{30C4B99A-2B4B-47C5-84A4-0DD7B2801617}" type="pres">
      <dgm:prSet presAssocID="{F904A376-B69F-4748-AB0E-CF9774D92D47}" presName="parTxOnly" presStyleLbl="node1" presStyleIdx="2" presStyleCnt="3">
        <dgm:presLayoutVars>
          <dgm:chMax val="0"/>
          <dgm:chPref val="0"/>
          <dgm:bulletEnabled val="1"/>
        </dgm:presLayoutVars>
      </dgm:prSet>
      <dgm:spPr/>
    </dgm:pt>
  </dgm:ptLst>
  <dgm:cxnLst>
    <dgm:cxn modelId="{C034C346-9B18-41A8-B656-5868339FD881}" type="presOf" srcId="{4BF83358-4BB3-43B4-8111-421AB7CAC626}" destId="{085C6C7B-659C-43ED-923B-F70BA9D2E732}" srcOrd="0" destOrd="0" presId="urn:microsoft.com/office/officeart/2005/8/layout/chevron1"/>
    <dgm:cxn modelId="{28F2DE93-78C7-46C7-A63E-4D6CC283036E}" srcId="{1D732425-C153-441D-9A12-10CE2D5BF4B2}" destId="{8D5B39C7-996A-4E3F-A3E1-6C0EC6C876DA}" srcOrd="0" destOrd="0" parTransId="{6E5985F9-398A-405D-8630-9DB9883D6D8B}" sibTransId="{8B9DAA52-A846-429B-9373-C7E41084AA27}"/>
    <dgm:cxn modelId="{4E162AA9-93B1-43D1-8AC0-53349A86F917}" srcId="{1D732425-C153-441D-9A12-10CE2D5BF4B2}" destId="{F904A376-B69F-4748-AB0E-CF9774D92D47}" srcOrd="2" destOrd="0" parTransId="{2DB8FBBB-5D3B-40DE-8344-266D6A17A632}" sibTransId="{8FDEA418-AB18-4C77-846F-34FC38480DC8}"/>
    <dgm:cxn modelId="{A972BAC4-4F96-4227-AC47-9796BE4F3F90}" type="presOf" srcId="{F904A376-B69F-4748-AB0E-CF9774D92D47}" destId="{30C4B99A-2B4B-47C5-84A4-0DD7B2801617}" srcOrd="0" destOrd="0" presId="urn:microsoft.com/office/officeart/2005/8/layout/chevron1"/>
    <dgm:cxn modelId="{091F46E6-96D7-4B98-A634-5190B25172E4}" type="presOf" srcId="{8D5B39C7-996A-4E3F-A3E1-6C0EC6C876DA}" destId="{BA74A673-F9B8-41A1-8BDB-8A14FE94778E}" srcOrd="0" destOrd="0" presId="urn:microsoft.com/office/officeart/2005/8/layout/chevron1"/>
    <dgm:cxn modelId="{ABCF60F3-39B1-42D1-828D-620EF0FD083A}" srcId="{1D732425-C153-441D-9A12-10CE2D5BF4B2}" destId="{4BF83358-4BB3-43B4-8111-421AB7CAC626}" srcOrd="1" destOrd="0" parTransId="{4CBCC192-0696-4F69-9827-AA23DE6BC03C}" sibTransId="{008CE049-F153-4E5C-AB5E-F4C7846B24AD}"/>
    <dgm:cxn modelId="{D2C878FB-4AB3-4298-A026-18D2ACBCCC52}" type="presOf" srcId="{1D732425-C153-441D-9A12-10CE2D5BF4B2}" destId="{2A3F2F40-7C29-4BE1-B014-63ABB691C2B0}" srcOrd="0" destOrd="0" presId="urn:microsoft.com/office/officeart/2005/8/layout/chevron1"/>
    <dgm:cxn modelId="{EA4E2855-4646-493C-82D7-E2C503473C35}" type="presParOf" srcId="{2A3F2F40-7C29-4BE1-B014-63ABB691C2B0}" destId="{BA74A673-F9B8-41A1-8BDB-8A14FE94778E}" srcOrd="0" destOrd="0" presId="urn:microsoft.com/office/officeart/2005/8/layout/chevron1"/>
    <dgm:cxn modelId="{FC63B1A1-3531-44D9-AC15-3F54FF05B86D}" type="presParOf" srcId="{2A3F2F40-7C29-4BE1-B014-63ABB691C2B0}" destId="{7C56E5ED-9EC4-48CB-8AA1-23499F89ADD1}" srcOrd="1" destOrd="0" presId="urn:microsoft.com/office/officeart/2005/8/layout/chevron1"/>
    <dgm:cxn modelId="{0EA05942-FF43-471F-B5C2-8454CF64D24F}" type="presParOf" srcId="{2A3F2F40-7C29-4BE1-B014-63ABB691C2B0}" destId="{085C6C7B-659C-43ED-923B-F70BA9D2E732}" srcOrd="2" destOrd="0" presId="urn:microsoft.com/office/officeart/2005/8/layout/chevron1"/>
    <dgm:cxn modelId="{158650F6-93C4-4086-9EB2-391010E32D1A}" type="presParOf" srcId="{2A3F2F40-7C29-4BE1-B014-63ABB691C2B0}" destId="{8000501C-CA4F-4FB1-9024-077C15DDB7CC}" srcOrd="3" destOrd="0" presId="urn:microsoft.com/office/officeart/2005/8/layout/chevron1"/>
    <dgm:cxn modelId="{CB24185F-AFDE-4623-ACFD-90737DDD0E69}" type="presParOf" srcId="{2A3F2F40-7C29-4BE1-B014-63ABB691C2B0}" destId="{30C4B99A-2B4B-47C5-84A4-0DD7B2801617}" srcOrd="4"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74A673-F9B8-41A1-8BDB-8A14FE94778E}">
      <dsp:nvSpPr>
        <dsp:cNvPr id="0" name=""/>
        <dsp:cNvSpPr/>
      </dsp:nvSpPr>
      <dsp:spPr>
        <a:xfrm>
          <a:off x="2700" y="0"/>
          <a:ext cx="3290480" cy="31207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Verdana" panose="020B0604030504040204" pitchFamily="34" charset="0"/>
              <a:ea typeface="Verdana" panose="020B0604030504040204" pitchFamily="34" charset="0"/>
              <a:cs typeface="Verdana" panose="020B0604030504040204" pitchFamily="34" charset="0"/>
            </a:rPr>
            <a:t>Development of Interface</a:t>
          </a:r>
        </a:p>
      </dsp:txBody>
      <dsp:txXfrm>
        <a:off x="158737" y="0"/>
        <a:ext cx="2978406" cy="312074"/>
      </dsp:txXfrm>
    </dsp:sp>
    <dsp:sp modelId="{085C6C7B-659C-43ED-923B-F70BA9D2E732}">
      <dsp:nvSpPr>
        <dsp:cNvPr id="0" name=""/>
        <dsp:cNvSpPr/>
      </dsp:nvSpPr>
      <dsp:spPr>
        <a:xfrm>
          <a:off x="2964133" y="0"/>
          <a:ext cx="3290480" cy="31207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Verdana" panose="020B0604030504040204" pitchFamily="34" charset="0"/>
              <a:ea typeface="Verdana" panose="020B0604030504040204" pitchFamily="34" charset="0"/>
              <a:cs typeface="Verdana" panose="020B0604030504040204" pitchFamily="34" charset="0"/>
            </a:rPr>
            <a:t>Calling LEAP</a:t>
          </a:r>
        </a:p>
      </dsp:txBody>
      <dsp:txXfrm>
        <a:off x="3120170" y="0"/>
        <a:ext cx="2978406" cy="312074"/>
      </dsp:txXfrm>
    </dsp:sp>
    <dsp:sp modelId="{30C4B99A-2B4B-47C5-84A4-0DD7B2801617}">
      <dsp:nvSpPr>
        <dsp:cNvPr id="0" name=""/>
        <dsp:cNvSpPr/>
      </dsp:nvSpPr>
      <dsp:spPr>
        <a:xfrm>
          <a:off x="5925565" y="0"/>
          <a:ext cx="3290480" cy="31207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Verdana" panose="020B0604030504040204" pitchFamily="34" charset="0"/>
              <a:ea typeface="Verdana" panose="020B0604030504040204" pitchFamily="34" charset="0"/>
              <a:cs typeface="Verdana" panose="020B0604030504040204" pitchFamily="34" charset="0"/>
            </a:rPr>
            <a:t>Building Energy Calculator </a:t>
          </a:r>
        </a:p>
      </dsp:txBody>
      <dsp:txXfrm>
        <a:off x="6081602" y="0"/>
        <a:ext cx="2978406" cy="31207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2"/>
            <a:ext cx="2919031" cy="492780"/>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15226" y="2"/>
            <a:ext cx="2919031" cy="492780"/>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8/8/2023</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372004"/>
            <a:ext cx="2919031" cy="492780"/>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15226" y="9372004"/>
            <a:ext cx="2919031" cy="492780"/>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18831" cy="493316"/>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15375" y="1"/>
            <a:ext cx="2918831" cy="493316"/>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8/8/2023</a:t>
            </a:fld>
            <a:endParaRPr lang="en-US" dirty="0"/>
          </a:p>
        </p:txBody>
      </p:sp>
      <p:sp>
        <p:nvSpPr>
          <p:cNvPr id="4" name="Slide Image Placeholder 3"/>
          <p:cNvSpPr>
            <a:spLocks noGrp="1" noRot="1" noChangeAspect="1"/>
          </p:cNvSpPr>
          <p:nvPr>
            <p:ph type="sldImg" idx="2"/>
          </p:nvPr>
        </p:nvSpPr>
        <p:spPr>
          <a:xfrm>
            <a:off x="755650" y="741363"/>
            <a:ext cx="5224463" cy="3697287"/>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673577" y="4686500"/>
            <a:ext cx="5388610" cy="4439841"/>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371286"/>
            <a:ext cx="2918831" cy="493316"/>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15375" y="9371286"/>
            <a:ext cx="2918831" cy="493316"/>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042873" rtl="0" eaLnBrk="1" latinLnBrk="0" hangingPunct="1">
      <a:defRPr sz="1369" kern="1200">
        <a:solidFill>
          <a:schemeClr val="tx1"/>
        </a:solidFill>
        <a:latin typeface="Arial" panose="020B0604020202020204" pitchFamily="34" charset="0"/>
        <a:ea typeface="+mn-ea"/>
        <a:cs typeface="+mn-cs"/>
      </a:defRPr>
    </a:lvl1pPr>
    <a:lvl2pPr marL="521437" algn="l" defTabSz="1042873" rtl="0" eaLnBrk="1" latinLnBrk="0" hangingPunct="1">
      <a:defRPr sz="1369" kern="1200">
        <a:solidFill>
          <a:schemeClr val="tx1"/>
        </a:solidFill>
        <a:latin typeface="Arial" panose="020B0604020202020204" pitchFamily="34" charset="0"/>
        <a:ea typeface="+mn-ea"/>
        <a:cs typeface="+mn-cs"/>
      </a:defRPr>
    </a:lvl2pPr>
    <a:lvl3pPr marL="1042873" algn="l" defTabSz="1042873" rtl="0" eaLnBrk="1" latinLnBrk="0" hangingPunct="1">
      <a:defRPr sz="1369" kern="1200">
        <a:solidFill>
          <a:schemeClr val="tx1"/>
        </a:solidFill>
        <a:latin typeface="Arial" panose="020B0604020202020204" pitchFamily="34" charset="0"/>
        <a:ea typeface="+mn-ea"/>
        <a:cs typeface="+mn-cs"/>
      </a:defRPr>
    </a:lvl3pPr>
    <a:lvl4pPr marL="1564310" algn="l" defTabSz="1042873" rtl="0" eaLnBrk="1" latinLnBrk="0" hangingPunct="1">
      <a:defRPr sz="1369" kern="1200">
        <a:solidFill>
          <a:schemeClr val="tx1"/>
        </a:solidFill>
        <a:latin typeface="Arial" panose="020B0604020202020204" pitchFamily="34" charset="0"/>
        <a:ea typeface="+mn-ea"/>
        <a:cs typeface="+mn-cs"/>
      </a:defRPr>
    </a:lvl4pPr>
    <a:lvl5pPr marL="2085746" algn="l" defTabSz="1042873" rtl="0" eaLnBrk="1" latinLnBrk="0" hangingPunct="1">
      <a:defRPr sz="1369" kern="1200">
        <a:solidFill>
          <a:schemeClr val="tx1"/>
        </a:solidFill>
        <a:latin typeface="Arial" panose="020B0604020202020204" pitchFamily="34" charset="0"/>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6013" y="720725"/>
            <a:ext cx="508317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66833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93738"/>
            <a:ext cx="48926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3798405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93738"/>
            <a:ext cx="48926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3</a:t>
            </a:fld>
            <a:endParaRPr lang="en-US" dirty="0"/>
          </a:p>
        </p:txBody>
      </p:sp>
    </p:spTree>
    <p:extLst>
      <p:ext uri="{BB962C8B-B14F-4D97-AF65-F5344CB8AC3E}">
        <p14:creationId xmlns:p14="http://schemas.microsoft.com/office/powerpoint/2010/main" val="2710104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93738"/>
            <a:ext cx="48926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5</a:t>
            </a:fld>
            <a:endParaRPr lang="en-US" dirty="0"/>
          </a:p>
        </p:txBody>
      </p:sp>
    </p:spTree>
    <p:extLst>
      <p:ext uri="{BB962C8B-B14F-4D97-AF65-F5344CB8AC3E}">
        <p14:creationId xmlns:p14="http://schemas.microsoft.com/office/powerpoint/2010/main" val="608372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93738"/>
            <a:ext cx="4892675" cy="34607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6</a:t>
            </a:fld>
            <a:endParaRPr lang="en-US" dirty="0"/>
          </a:p>
        </p:txBody>
      </p:sp>
    </p:spTree>
    <p:extLst>
      <p:ext uri="{BB962C8B-B14F-4D97-AF65-F5344CB8AC3E}">
        <p14:creationId xmlns:p14="http://schemas.microsoft.com/office/powerpoint/2010/main" val="3808558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1-Annexure</a:t>
            </a:r>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17</a:t>
            </a:fld>
            <a:endParaRPr lang="en-US" dirty="0"/>
          </a:p>
        </p:txBody>
      </p:sp>
    </p:spTree>
    <p:extLst>
      <p:ext uri="{BB962C8B-B14F-4D97-AF65-F5344CB8AC3E}">
        <p14:creationId xmlns:p14="http://schemas.microsoft.com/office/powerpoint/2010/main" val="678552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a:t>
            </a:r>
            <a:r>
              <a:rPr lang="en-US" baseline="0" dirty="0"/>
              <a:t> Technologies” being those </a:t>
            </a:r>
            <a:r>
              <a:rPr lang="en-US" dirty="0"/>
              <a:t>that have not been commercially proven yet but will likely be necessary to help meet the 2050 greenhouse gas goal, and to mitigate the risk of other greenhouse gas reduction solutions falling short</a:t>
            </a:r>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106291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19</a:t>
            </a:fld>
            <a:endParaRPr lang="en-US" dirty="0"/>
          </a:p>
        </p:txBody>
      </p:sp>
    </p:spTree>
    <p:extLst>
      <p:ext uri="{BB962C8B-B14F-4D97-AF65-F5344CB8AC3E}">
        <p14:creationId xmlns:p14="http://schemas.microsoft.com/office/powerpoint/2010/main" val="1148099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a:t>
            </a:r>
            <a:r>
              <a:rPr lang="en-US" baseline="0" dirty="0"/>
              <a:t> Technologies” being those </a:t>
            </a:r>
            <a:r>
              <a:rPr lang="en-US" dirty="0"/>
              <a:t>that have not been commercially proven yet but will likely be necessary to help meet the 2050 greenhouse gas goal, and to mitigate the risk of other greenhouse gas reduction solutions falling short</a:t>
            </a:r>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20</a:t>
            </a:fld>
            <a:endParaRPr lang="en-US" dirty="0"/>
          </a:p>
        </p:txBody>
      </p:sp>
    </p:spTree>
    <p:extLst>
      <p:ext uri="{BB962C8B-B14F-4D97-AF65-F5344CB8AC3E}">
        <p14:creationId xmlns:p14="http://schemas.microsoft.com/office/powerpoint/2010/main" val="2926201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21</a:t>
            </a:fld>
            <a:endParaRPr lang="en-US" dirty="0"/>
          </a:p>
        </p:txBody>
      </p:sp>
    </p:spTree>
    <p:extLst>
      <p:ext uri="{BB962C8B-B14F-4D97-AF65-F5344CB8AC3E}">
        <p14:creationId xmlns:p14="http://schemas.microsoft.com/office/powerpoint/2010/main" val="1800088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6013" y="720725"/>
            <a:ext cx="508317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1277388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Same tree as passenger transport</a:t>
            </a:r>
            <a:endParaRPr lang="en-IN" dirty="0"/>
          </a:p>
        </p:txBody>
      </p:sp>
      <p:sp>
        <p:nvSpPr>
          <p:cNvPr id="4" name="Slide Number Placeholder 3"/>
          <p:cNvSpPr>
            <a:spLocks noGrp="1"/>
          </p:cNvSpPr>
          <p:nvPr>
            <p:ph type="sldNum" sz="quarter" idx="10"/>
          </p:nvPr>
        </p:nvSpPr>
        <p:spPr/>
        <p:txBody>
          <a:bodyPr/>
          <a:lstStyle/>
          <a:p>
            <a:fld id="{6B17CA0A-7A4B-4CD1-92F5-878826EA1879}" type="slidenum">
              <a:rPr lang="en-IN" smtClean="0"/>
              <a:t>34</a:t>
            </a:fld>
            <a:endParaRPr lang="en-IN"/>
          </a:p>
        </p:txBody>
      </p:sp>
    </p:spTree>
    <p:extLst>
      <p:ext uri="{BB962C8B-B14F-4D97-AF65-F5344CB8AC3E}">
        <p14:creationId xmlns:p14="http://schemas.microsoft.com/office/powerpoint/2010/main" val="2433501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TED- Technology and Environment</a:t>
            </a:r>
            <a:r>
              <a:rPr lang="en-US" baseline="0" dirty="0"/>
              <a:t> Database</a:t>
            </a:r>
            <a:endParaRPr lang="en-IN" dirty="0"/>
          </a:p>
        </p:txBody>
      </p:sp>
      <p:sp>
        <p:nvSpPr>
          <p:cNvPr id="4" name="Slide Number Placeholder 3"/>
          <p:cNvSpPr>
            <a:spLocks noGrp="1"/>
          </p:cNvSpPr>
          <p:nvPr>
            <p:ph type="sldNum" sz="quarter" idx="10"/>
          </p:nvPr>
        </p:nvSpPr>
        <p:spPr/>
        <p:txBody>
          <a:bodyPr/>
          <a:lstStyle/>
          <a:p>
            <a:fld id="{6B17CA0A-7A4B-4CD1-92F5-878826EA1879}" type="slidenum">
              <a:rPr lang="en-IN" smtClean="0"/>
              <a:t>35</a:t>
            </a:fld>
            <a:endParaRPr lang="en-IN"/>
          </a:p>
        </p:txBody>
      </p:sp>
    </p:spTree>
    <p:extLst>
      <p:ext uri="{BB962C8B-B14F-4D97-AF65-F5344CB8AC3E}">
        <p14:creationId xmlns:p14="http://schemas.microsoft.com/office/powerpoint/2010/main" val="386562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B17CA0A-7A4B-4CD1-92F5-878826EA1879}" type="slidenum">
              <a:rPr lang="en-IN" smtClean="0"/>
              <a:t>36</a:t>
            </a:fld>
            <a:endParaRPr lang="en-IN"/>
          </a:p>
        </p:txBody>
      </p:sp>
    </p:spTree>
    <p:extLst>
      <p:ext uri="{BB962C8B-B14F-4D97-AF65-F5344CB8AC3E}">
        <p14:creationId xmlns:p14="http://schemas.microsoft.com/office/powerpoint/2010/main" val="417202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B17CA0A-7A4B-4CD1-92F5-878826EA1879}" type="slidenum">
              <a:rPr lang="en-IN" smtClean="0"/>
              <a:t>38</a:t>
            </a:fld>
            <a:endParaRPr lang="en-IN"/>
          </a:p>
        </p:txBody>
      </p:sp>
    </p:spTree>
    <p:extLst>
      <p:ext uri="{BB962C8B-B14F-4D97-AF65-F5344CB8AC3E}">
        <p14:creationId xmlns:p14="http://schemas.microsoft.com/office/powerpoint/2010/main" val="569176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42</a:t>
            </a:fld>
            <a:endParaRPr lang="en-GB" dirty="0"/>
          </a:p>
        </p:txBody>
      </p:sp>
    </p:spTree>
    <p:extLst>
      <p:ext uri="{BB962C8B-B14F-4D97-AF65-F5344CB8AC3E}">
        <p14:creationId xmlns:p14="http://schemas.microsoft.com/office/powerpoint/2010/main" val="2706879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82801" y="801940"/>
            <a:ext cx="6312188" cy="5955000"/>
          </a:xfrm>
          <a:prstGeom prst="rect">
            <a:avLst/>
          </a:prstGeom>
        </p:spPr>
        <p:txBody>
          <a:bodyPr/>
          <a:lstStyle/>
          <a:p>
            <a:r>
              <a:rPr lang="en-US" dirty="0"/>
              <a:t>Click icon to add picture</a:t>
            </a:r>
            <a:endParaRPr lang="en-GB" dirty="0"/>
          </a:p>
        </p:txBody>
      </p:sp>
      <p:sp>
        <p:nvSpPr>
          <p:cNvPr id="2" name="Title 1"/>
          <p:cNvSpPr>
            <a:spLocks noGrp="1"/>
          </p:cNvSpPr>
          <p:nvPr>
            <p:ph type="ctrTitle"/>
          </p:nvPr>
        </p:nvSpPr>
        <p:spPr bwMode="gray">
          <a:xfrm>
            <a:off x="439794" y="6119799"/>
            <a:ext cx="4904525" cy="357300"/>
          </a:xfrm>
        </p:spPr>
        <p:txBody>
          <a:bodyPr anchor="t" anchorCtr="0">
            <a:noAutofit/>
          </a:bodyPr>
          <a:lstStyle>
            <a:lvl1pPr algn="l">
              <a:lnSpc>
                <a:spcPct val="100000"/>
              </a:lnSpc>
              <a:defRPr sz="1985"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39794" y="6466942"/>
            <a:ext cx="4904524" cy="557614"/>
          </a:xfrm>
          <a:prstGeom prst="rect">
            <a:avLst/>
          </a:prstGeom>
        </p:spPr>
        <p:txBody>
          <a:bodyPr lIns="0" tIns="0" rIns="0" bIns="0">
            <a:noAutofit/>
          </a:bodyPr>
          <a:lstStyle>
            <a:lvl1pPr marL="0" indent="0" algn="l">
              <a:lnSpc>
                <a:spcPct val="100000"/>
              </a:lnSpc>
              <a:spcAft>
                <a:spcPts val="0"/>
              </a:spcAft>
              <a:buNone/>
              <a:defRPr sz="1764">
                <a:solidFill>
                  <a:schemeClr val="tx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p:nvGrpSpPr>
        <p:grpSpPr>
          <a:xfrm>
            <a:off x="441843" y="416850"/>
            <a:ext cx="1893656" cy="339629"/>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grpSp>
    </p:spTree>
    <p:extLst>
      <p:ext uri="{BB962C8B-B14F-4D97-AF65-F5344CB8AC3E}">
        <p14:creationId xmlns:p14="http://schemas.microsoft.com/office/powerpoint/2010/main" val="327535240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39794" y="6466942"/>
            <a:ext cx="4904524" cy="557614"/>
          </a:xfrm>
          <a:prstGeom prst="rect">
            <a:avLst/>
          </a:prstGeom>
        </p:spPr>
        <p:txBody>
          <a:bodyPr lIns="0" tIns="0" rIns="0" bIns="0">
            <a:noAutofit/>
          </a:bodyPr>
          <a:lstStyle>
            <a:lvl1pPr marL="0" indent="0" algn="l">
              <a:lnSpc>
                <a:spcPct val="100000"/>
              </a:lnSpc>
              <a:spcAft>
                <a:spcPts val="0"/>
              </a:spcAft>
              <a:buNone/>
              <a:defRPr sz="1764">
                <a:solidFill>
                  <a:schemeClr val="tx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p:nvGrpSpPr>
        <p:grpSpPr>
          <a:xfrm>
            <a:off x="441843" y="416850"/>
            <a:ext cx="1893656" cy="339629"/>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grpSp>
      <p:grpSp>
        <p:nvGrpSpPr>
          <p:cNvPr id="19" name="Group 18"/>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3192566273"/>
      </p:ext>
    </p:extLst>
  </p:cSld>
  <p:clrMapOvr>
    <a:masterClrMapping/>
  </p:clrMapOvr>
  <p:transition>
    <p:fade/>
  </p:transition>
  <p:extLst>
    <p:ext uri="{DCECCB84-F9BA-43D5-87BE-67443E8EF086}">
      <p15:sldGuideLst xmlns:p15="http://schemas.microsoft.com/office/powerpoint/2012/main">
        <p15:guide id="0" orient="horz" pos="4508" userDrawn="1">
          <p15:clr>
            <a:srgbClr val="FBAE40"/>
          </p15:clr>
        </p15:guide>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7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70">
                <a:solidFill>
                  <a:schemeClr val="tx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420867351"/>
      </p:ext>
    </p:extLst>
  </p:cSld>
  <p:clrMapOvr>
    <a:masterClrMapping/>
  </p:clrMapOvr>
  <p:transition>
    <p:fade/>
  </p:transition>
  <p:extLst>
    <p:ext uri="{DCECCB84-F9BA-43D5-87BE-67443E8EF086}">
      <p15:sldGuideLst xmlns:p15="http://schemas.microsoft.com/office/powerpoint/2012/main">
        <p15:guide id="0" orient="horz" pos="2382" userDrawn="1">
          <p15:clr>
            <a:srgbClr val="FBAE40"/>
          </p15:clr>
        </p15:guide>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rmAutofit/>
          </a:bodyPr>
          <a:lstStyle>
            <a:lvl1pPr>
              <a:spcBef>
                <a:spcPts val="3970"/>
              </a:spcBef>
              <a:defRPr sz="2426">
                <a:solidFill>
                  <a:schemeClr val="tx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92336696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7769475" y="447649"/>
            <a:ext cx="2458387" cy="1133391"/>
          </a:xfrm>
        </p:spPr>
        <p:txBody>
          <a:bodyPr/>
          <a:lstStyle>
            <a:lvl1pPr>
              <a:spcBef>
                <a:spcPts val="204"/>
              </a:spcBef>
              <a:defRPr sz="1018">
                <a:solidFill>
                  <a:schemeClr val="tx1"/>
                </a:solidFill>
              </a:defRPr>
            </a:lvl1pPr>
            <a:lvl2pPr>
              <a:defRPr sz="1069">
                <a:solidFill>
                  <a:schemeClr val="tx2"/>
                </a:solidFill>
              </a:defRPr>
            </a:lvl2pPr>
            <a:lvl3pPr>
              <a:defRPr sz="1069">
                <a:solidFill>
                  <a:schemeClr val="tx2"/>
                </a:solidFill>
              </a:defRPr>
            </a:lvl3pPr>
            <a:lvl4pPr>
              <a:defRPr sz="1018">
                <a:solidFill>
                  <a:schemeClr val="tx2"/>
                </a:solidFill>
              </a:defRPr>
            </a:lvl4pPr>
            <a:lvl5pPr>
              <a:defRPr sz="1018">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60778" y="1874958"/>
            <a:ext cx="2425155" cy="5135454"/>
          </a:xfrm>
        </p:spPr>
        <p:txBody>
          <a:bodyPr/>
          <a:lstStyle>
            <a:lvl1pPr>
              <a:spcBef>
                <a:spcPts val="0"/>
              </a:spcBef>
              <a:spcAft>
                <a:spcPts val="611"/>
              </a:spcAft>
              <a:defRPr sz="1069"/>
            </a:lvl1pPr>
            <a:lvl2pPr>
              <a:spcBef>
                <a:spcPts val="305"/>
              </a:spcBef>
              <a:defRPr/>
            </a:lvl2pPr>
            <a:lvl3pPr>
              <a:spcBef>
                <a:spcPts val="305"/>
              </a:spcBef>
              <a:defRPr/>
            </a:lvl3pPr>
            <a:lvl4pPr>
              <a:spcBef>
                <a:spcPts val="305"/>
              </a:spcBef>
              <a:defRPr/>
            </a:lvl4pPr>
            <a:lvl5pPr>
              <a:spcBef>
                <a:spcPts val="305"/>
              </a:spcBef>
              <a:defRPr/>
            </a:lvl5pPr>
          </a:lstStyle>
          <a:p>
            <a:pPr lvl="0"/>
            <a:r>
              <a:rPr lang="en-US"/>
              <a:t>Click to edit Master text styles</a:t>
            </a:r>
          </a:p>
        </p:txBody>
      </p:sp>
      <p:sp>
        <p:nvSpPr>
          <p:cNvPr id="9" name="Text Placeholder 8"/>
          <p:cNvSpPr>
            <a:spLocks noGrp="1"/>
          </p:cNvSpPr>
          <p:nvPr>
            <p:ph type="body" sz="quarter" idx="12"/>
          </p:nvPr>
        </p:nvSpPr>
        <p:spPr>
          <a:xfrm>
            <a:off x="3314222" y="1874956"/>
            <a:ext cx="6913642" cy="5136437"/>
          </a:xfrm>
        </p:spPr>
        <p:txBody>
          <a:bodyPr/>
          <a:lstStyle>
            <a:lvl1pPr>
              <a:spcBef>
                <a:spcPts val="1833"/>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p:cNvGrpSpPr/>
          <p:nvPr/>
        </p:nvGrpSpPr>
        <p:grpSpPr>
          <a:xfrm>
            <a:off x="441843" y="416850"/>
            <a:ext cx="1893656" cy="339629"/>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grpSp>
    </p:spTree>
    <p:extLst>
      <p:ext uri="{BB962C8B-B14F-4D97-AF65-F5344CB8AC3E}">
        <p14:creationId xmlns:p14="http://schemas.microsoft.com/office/powerpoint/2010/main" val="347800944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39793" y="1836443"/>
            <a:ext cx="8133385" cy="5201211"/>
          </a:xfrm>
          <a:prstGeom prst="rect">
            <a:avLst/>
          </a:prstGeom>
        </p:spPr>
        <p:txBody>
          <a:bodyPr/>
          <a:lstStyle>
            <a:lvl1pPr>
              <a:tabLst>
                <a:tab pos="7421197" algn="r"/>
              </a:tabLst>
              <a:defRPr/>
            </a:lvl1pPr>
            <a:lvl2pPr>
              <a:tabLst>
                <a:tab pos="7421197" algn="r"/>
              </a:tabLst>
              <a:defRPr/>
            </a:lvl2pPr>
            <a:lvl3pPr>
              <a:tabLst>
                <a:tab pos="7421197" algn="r"/>
              </a:tabLst>
              <a:defRPr/>
            </a:lvl3pPr>
            <a:lvl4pPr>
              <a:tabLst>
                <a:tab pos="7421197" algn="r"/>
              </a:tabLst>
              <a:defRPr/>
            </a:lvl4pPr>
            <a:lvl5pPr>
              <a:tabLst>
                <a:tab pos="5546202" algn="r"/>
              </a:tabLst>
              <a:defRPr baseline="0"/>
            </a:lvl5pPr>
            <a:lvl6pPr>
              <a:tabLst>
                <a:tab pos="7421197" algn="r"/>
              </a:tabLst>
              <a:defRPr/>
            </a:lvl6pPr>
            <a:lvl7pPr>
              <a:tabLst>
                <a:tab pos="7421197" algn="r"/>
              </a:tabLst>
              <a:defRPr/>
            </a:lvl7pPr>
            <a:lvl8pPr>
              <a:tabLst>
                <a:tab pos="7421197" algn="r"/>
              </a:tabLst>
              <a:defRPr/>
            </a:lvl8pPr>
            <a:lvl9pPr>
              <a:tabLst>
                <a:tab pos="7421197"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439795" y="350132"/>
            <a:ext cx="9801628"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44331510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3"/>
            <a:ext cx="9809052"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778283" y="1876708"/>
            <a:ext cx="5470563" cy="5160945"/>
          </a:xfrm>
        </p:spPr>
        <p:txBody>
          <a:bodyPr/>
          <a:lstStyle/>
          <a:p>
            <a:r>
              <a:rPr lang="en-US" noProof="0" dirty="0"/>
              <a:t>Click icon to add picture</a:t>
            </a:r>
          </a:p>
        </p:txBody>
      </p:sp>
      <p:sp>
        <p:nvSpPr>
          <p:cNvPr id="6" name="Content Placeholder 3"/>
          <p:cNvSpPr>
            <a:spLocks noGrp="1"/>
          </p:cNvSpPr>
          <p:nvPr>
            <p:ph sz="quarter" idx="10"/>
          </p:nvPr>
        </p:nvSpPr>
        <p:spPr>
          <a:xfrm>
            <a:off x="439794" y="1836443"/>
            <a:ext cx="3906919"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21447973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a:t>Click to edit Master title style</a:t>
            </a:r>
            <a:endParaRPr lang="en-US" dirty="0"/>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27202105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2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439793" y="350132"/>
            <a:ext cx="9785951" cy="770291"/>
          </a:xfrm>
          <a:prstGeom prst="rect">
            <a:avLst/>
          </a:prstGeom>
        </p:spPr>
        <p:txBody>
          <a:bodyPr vert="horz" lIns="0" tIns="0" rIns="0" bIns="0" rtlCol="0" anchor="t" anchorCtr="0">
            <a:noAutofit/>
          </a:bodyPr>
          <a:lstStyle>
            <a:lvl1pPr>
              <a:defRPr sz="2200"/>
            </a:lvl1pPr>
          </a:lstStyle>
          <a:p>
            <a:r>
              <a:rPr lang="en-US" noProof="0" dirty="0"/>
              <a:t>Click to edit Master title style</a:t>
            </a:r>
          </a:p>
        </p:txBody>
      </p:sp>
      <p:sp>
        <p:nvSpPr>
          <p:cNvPr id="8" name="Text Placeholder 18"/>
          <p:cNvSpPr>
            <a:spLocks noGrp="1"/>
          </p:cNvSpPr>
          <p:nvPr>
            <p:ph idx="1"/>
          </p:nvPr>
        </p:nvSpPr>
        <p:spPr>
          <a:xfrm>
            <a:off x="439794" y="1874957"/>
            <a:ext cx="9788639" cy="515988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26143448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206"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2"/>
            <a:ext cx="9785951" cy="77029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9794" y="1874957"/>
            <a:ext cx="9788639" cy="5159882"/>
          </a:xfrm>
          <a:prstGeom prst="rect">
            <a:avLst/>
          </a:prstGeom>
        </p:spPr>
        <p:txBody>
          <a:bodyPr vert="horz" lIns="0" tIns="0" rIns="0" bIns="0" rtlCol="0">
            <a:normAutofit/>
          </a:bodyPr>
          <a:lstStyle>
            <a:lvl1pPr>
              <a:defRPr sz="1764"/>
            </a:lvl1pPr>
            <a:lvl2pPr>
              <a:defRPr sz="1764"/>
            </a:lvl2pPr>
            <a:lvl3pPr>
              <a:defRPr sz="1764"/>
            </a:lvl3pPr>
            <a:lvl4pPr>
              <a:defRPr sz="1764"/>
            </a:lvl4pPr>
            <a:lvl5pPr>
              <a:defRPr sz="1764"/>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276757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439793" y="350132"/>
            <a:ext cx="9809052" cy="77029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439795" y="2262900"/>
            <a:ext cx="9809051" cy="4487217"/>
          </a:xfrm>
          <a:prstGeom prst="rect">
            <a:avLst/>
          </a:prstGeom>
        </p:spPr>
        <p:txBody>
          <a:bodyPr/>
          <a:lstStyle/>
          <a:p>
            <a:r>
              <a:rPr lang="en-US" dirty="0"/>
              <a:t>Click icon to add chart</a:t>
            </a:r>
            <a:endParaRPr lang="en-GB" dirty="0"/>
          </a:p>
        </p:txBody>
      </p:sp>
      <p:sp>
        <p:nvSpPr>
          <p:cNvPr id="18" name="Text Placeholder 8"/>
          <p:cNvSpPr>
            <a:spLocks noGrp="1"/>
          </p:cNvSpPr>
          <p:nvPr>
            <p:ph type="body" sz="quarter" idx="18"/>
          </p:nvPr>
        </p:nvSpPr>
        <p:spPr>
          <a:xfrm>
            <a:off x="439795" y="1874958"/>
            <a:ext cx="9809051" cy="393898"/>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439794" y="6750118"/>
            <a:ext cx="9809052" cy="287535"/>
          </a:xfrm>
        </p:spPr>
        <p:txBody>
          <a:bodyPr>
            <a:normAutofit/>
          </a:bodyPr>
          <a:lstStyle>
            <a:lvl1pPr>
              <a:spcAft>
                <a:spcPts val="0"/>
              </a:spcAft>
              <a:defRPr sz="993"/>
            </a:lvl1pPr>
          </a:lstStyle>
          <a:p>
            <a:pPr lvl="0"/>
            <a:r>
              <a:rPr lang="en-US"/>
              <a:t>Click to edit Master text styles</a:t>
            </a:r>
          </a:p>
        </p:txBody>
      </p:sp>
    </p:spTree>
    <p:extLst>
      <p:ext uri="{BB962C8B-B14F-4D97-AF65-F5344CB8AC3E}">
        <p14:creationId xmlns:p14="http://schemas.microsoft.com/office/powerpoint/2010/main" val="234196521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4"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439793" y="350132"/>
            <a:ext cx="9809052" cy="77029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441853" y="2262899"/>
            <a:ext cx="3111864" cy="4487218"/>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3" y="1836444"/>
            <a:ext cx="3123087" cy="4324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3772570" y="2262899"/>
            <a:ext cx="3122443" cy="4487218"/>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3772571" y="1836444"/>
            <a:ext cx="3122442" cy="4324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7124353" y="2262899"/>
            <a:ext cx="3124492" cy="4487218"/>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7124353" y="1829668"/>
            <a:ext cx="3124493" cy="439188"/>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439792" y="6750118"/>
            <a:ext cx="9788642" cy="287535"/>
          </a:xfrm>
        </p:spPr>
        <p:txBody>
          <a:bodyPr>
            <a:normAutofit/>
          </a:bodyPr>
          <a:lstStyle>
            <a:lvl1pPr>
              <a:spcAft>
                <a:spcPts val="0"/>
              </a:spcAft>
              <a:defRPr sz="993"/>
            </a:lvl1pPr>
          </a:lstStyle>
          <a:p>
            <a:pPr lvl="0"/>
            <a:r>
              <a:rPr lang="en-US" noProof="0"/>
              <a:t>Click to edit Master text styles</a:t>
            </a:r>
          </a:p>
        </p:txBody>
      </p:sp>
    </p:spTree>
    <p:extLst>
      <p:ext uri="{BB962C8B-B14F-4D97-AF65-F5344CB8AC3E}">
        <p14:creationId xmlns:p14="http://schemas.microsoft.com/office/powerpoint/2010/main" val="161238701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39793" y="350132"/>
            <a:ext cx="9821299" cy="77029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9" name="Text Placeholder 8"/>
          <p:cNvSpPr>
            <a:spLocks noGrp="1"/>
          </p:cNvSpPr>
          <p:nvPr>
            <p:ph type="body" sz="quarter" idx="13" hasCustomPrompt="1"/>
          </p:nvPr>
        </p:nvSpPr>
        <p:spPr>
          <a:xfrm>
            <a:off x="439793" y="718571"/>
            <a:ext cx="9821299"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13" name="Content Placeholder 3"/>
          <p:cNvSpPr>
            <a:spLocks noGrp="1"/>
          </p:cNvSpPr>
          <p:nvPr>
            <p:ph sz="quarter" idx="10"/>
          </p:nvPr>
        </p:nvSpPr>
        <p:spPr>
          <a:xfrm>
            <a:off x="439794" y="1836443"/>
            <a:ext cx="4651362"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5594649" y="1836443"/>
            <a:ext cx="4666444"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5096146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8" name="Title Placeholder 1"/>
          <p:cNvSpPr>
            <a:spLocks noGrp="1"/>
          </p:cNvSpPr>
          <p:nvPr>
            <p:ph type="title" hasCustomPrompt="1"/>
          </p:nvPr>
        </p:nvSpPr>
        <p:spPr>
          <a:xfrm>
            <a:off x="439793" y="350132"/>
            <a:ext cx="9809052" cy="77029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1" name="Content Placeholder 3"/>
          <p:cNvSpPr>
            <a:spLocks noGrp="1"/>
          </p:cNvSpPr>
          <p:nvPr>
            <p:ph sz="quarter" idx="10"/>
          </p:nvPr>
        </p:nvSpPr>
        <p:spPr>
          <a:xfrm>
            <a:off x="439793" y="1836443"/>
            <a:ext cx="4651364" cy="5201208"/>
          </a:xfrm>
          <a:prstGeom prst="rect">
            <a:avLst/>
          </a:prstGeom>
        </p:spPr>
        <p:txBody>
          <a:bodyPr>
            <a:norm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5596806" y="1836443"/>
            <a:ext cx="4652039" cy="5201208"/>
          </a:xfrm>
          <a:prstGeom prst="rect">
            <a:avLst/>
          </a:prstGeom>
        </p:spPr>
        <p:txBody>
          <a:bodyPr>
            <a:norm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559461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39794" y="1836443"/>
            <a:ext cx="4694835" cy="491367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5559304" y="2343417"/>
            <a:ext cx="4689542"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4" y="1836443"/>
            <a:ext cx="4689542"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439793" y="350132"/>
            <a:ext cx="9809052" cy="77029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439793" y="6750118"/>
            <a:ext cx="9809052" cy="287535"/>
          </a:xfrm>
        </p:spPr>
        <p:txBody>
          <a:bodyPr>
            <a:normAutofit/>
          </a:bodyPr>
          <a:lstStyle>
            <a:lvl1pPr>
              <a:spcAft>
                <a:spcPts val="0"/>
              </a:spcAft>
              <a:defRPr sz="993"/>
            </a:lvl1pPr>
          </a:lstStyle>
          <a:p>
            <a:pPr lvl="0"/>
            <a:r>
              <a:rPr lang="en-US"/>
              <a:t>Click to edit Master text styles</a:t>
            </a:r>
          </a:p>
        </p:txBody>
      </p:sp>
    </p:spTree>
    <p:extLst>
      <p:ext uri="{BB962C8B-B14F-4D97-AF65-F5344CB8AC3E}">
        <p14:creationId xmlns:p14="http://schemas.microsoft.com/office/powerpoint/2010/main" val="184987955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5559302" y="2343417"/>
            <a:ext cx="4689543" cy="4406700"/>
          </a:xfrm>
        </p:spPr>
        <p:txBody>
          <a:bodyPr/>
          <a:lstStyle/>
          <a:p>
            <a:r>
              <a:rPr lang="en-US" dirty="0"/>
              <a:t>Click icon to add chart</a:t>
            </a:r>
            <a:endParaRPr lang="en-GB" dirty="0"/>
          </a:p>
        </p:txBody>
      </p:sp>
      <p:sp>
        <p:nvSpPr>
          <p:cNvPr id="6" name="Text Placeholder 5"/>
          <p:cNvSpPr>
            <a:spLocks noGrp="1"/>
          </p:cNvSpPr>
          <p:nvPr>
            <p:ph type="body" sz="quarter" idx="22"/>
          </p:nvPr>
        </p:nvSpPr>
        <p:spPr>
          <a:xfrm>
            <a:off x="5559303" y="1836443"/>
            <a:ext cx="4689543"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439793" y="350132"/>
            <a:ext cx="9809052" cy="77029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439792" y="6750118"/>
            <a:ext cx="9788642" cy="287535"/>
          </a:xfrm>
        </p:spPr>
        <p:txBody>
          <a:bodyPr>
            <a:normAutofit/>
          </a:bodyPr>
          <a:lstStyle>
            <a:lvl1pPr>
              <a:spcAft>
                <a:spcPts val="0"/>
              </a:spcAft>
              <a:defRPr sz="993"/>
            </a:lvl1pPr>
          </a:lstStyle>
          <a:p>
            <a:pPr lvl="0"/>
            <a:r>
              <a:rPr lang="en-US"/>
              <a:t>Click to edit Master text styles</a:t>
            </a:r>
          </a:p>
        </p:txBody>
      </p:sp>
      <p:sp>
        <p:nvSpPr>
          <p:cNvPr id="9" name="Chart Placeholder 2"/>
          <p:cNvSpPr>
            <a:spLocks noGrp="1"/>
          </p:cNvSpPr>
          <p:nvPr>
            <p:ph type="chart" sz="quarter" idx="24"/>
          </p:nvPr>
        </p:nvSpPr>
        <p:spPr>
          <a:xfrm>
            <a:off x="439794" y="2343417"/>
            <a:ext cx="4680718" cy="4406700"/>
          </a:xfrm>
        </p:spPr>
        <p:txBody>
          <a:bodyPr/>
          <a:lstStyle/>
          <a:p>
            <a:r>
              <a:rPr lang="en-US" dirty="0"/>
              <a:t>Click icon to add chart</a:t>
            </a:r>
            <a:endParaRPr lang="en-GB" dirty="0"/>
          </a:p>
        </p:txBody>
      </p:sp>
      <p:sp>
        <p:nvSpPr>
          <p:cNvPr id="12" name="Text Placeholder 5"/>
          <p:cNvSpPr>
            <a:spLocks noGrp="1"/>
          </p:cNvSpPr>
          <p:nvPr>
            <p:ph type="body" sz="quarter" idx="25"/>
          </p:nvPr>
        </p:nvSpPr>
        <p:spPr>
          <a:xfrm>
            <a:off x="439792" y="1836443"/>
            <a:ext cx="4680719" cy="463924"/>
          </a:xfrm>
        </p:spPr>
        <p:txBody>
          <a:bodyPr/>
          <a:lstStyle/>
          <a:p>
            <a:pPr lvl="0"/>
            <a:r>
              <a:rPr lang="en-US" noProof="0"/>
              <a:t>Click to edit Master text styles</a:t>
            </a:r>
          </a:p>
        </p:txBody>
      </p:sp>
    </p:spTree>
    <p:extLst>
      <p:ext uri="{BB962C8B-B14F-4D97-AF65-F5344CB8AC3E}">
        <p14:creationId xmlns:p14="http://schemas.microsoft.com/office/powerpoint/2010/main" val="126006885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5" y="350132"/>
            <a:ext cx="9809051" cy="77029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439793" y="1836443"/>
            <a:ext cx="3885377"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4778282" y="1874958"/>
            <a:ext cx="5470563" cy="516269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65431235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2"/>
            <a:ext cx="9809052" cy="77029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6643474" y="1829155"/>
            <a:ext cx="3605371" cy="5208499"/>
          </a:xfrm>
          <a:prstGeom prst="rect">
            <a:avLst/>
          </a:prstGeom>
        </p:spPr>
        <p:txBody>
          <a:bodyPr>
            <a:normAutofit/>
          </a:bodyPr>
          <a:lstStyle>
            <a:lvl1pPr>
              <a:tabLst>
                <a:tab pos="5546202" algn="r"/>
              </a:tabLst>
              <a:defRPr sz="2426">
                <a:solidFill>
                  <a:schemeClr val="accent3"/>
                </a:solidFill>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39794" y="1836443"/>
            <a:ext cx="5704068" cy="5201209"/>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5" y="718571"/>
            <a:ext cx="9809051"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68660301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770290"/>
          </a:xfrm>
        </p:spPr>
        <p:txBody>
          <a:bodyPr/>
          <a:lstStyle/>
          <a:p>
            <a:r>
              <a:rPr lang="en-US"/>
              <a:t>Click to edit Master title style</a:t>
            </a:r>
            <a:endParaRPr lang="en-GB" dirty="0"/>
          </a:p>
        </p:txBody>
      </p:sp>
      <p:sp>
        <p:nvSpPr>
          <p:cNvPr id="4" name="Picture Placeholder 6"/>
          <p:cNvSpPr>
            <a:spLocks noGrp="1"/>
          </p:cNvSpPr>
          <p:nvPr>
            <p:ph type="pic" sz="quarter" idx="13"/>
          </p:nvPr>
        </p:nvSpPr>
        <p:spPr>
          <a:xfrm>
            <a:off x="439792" y="1874957"/>
            <a:ext cx="2377591" cy="13895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2916946" y="1874957"/>
            <a:ext cx="2377591" cy="13895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5394100" y="1874957"/>
            <a:ext cx="2377591" cy="13895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7871255" y="1874957"/>
            <a:ext cx="2377591" cy="13895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39793" y="3445298"/>
            <a:ext cx="2385015" cy="3592352"/>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5391628" y="3441274"/>
            <a:ext cx="2377591" cy="3596378"/>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2919422" y="3445298"/>
            <a:ext cx="2377591" cy="3592353"/>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7884246" y="3427994"/>
            <a:ext cx="2364600" cy="3609656"/>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439793" y="718571"/>
            <a:ext cx="9809053"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53716211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770290"/>
          </a:xfrm>
        </p:spPr>
        <p:txBody>
          <a:bodyPr/>
          <a:lstStyle/>
          <a:p>
            <a:r>
              <a:rPr lang="en-US" noProof="0"/>
              <a:t>Click to edit Master title style</a:t>
            </a:r>
            <a:endParaRPr lang="en-US" noProof="0" dirty="0"/>
          </a:p>
        </p:txBody>
      </p:sp>
      <p:sp>
        <p:nvSpPr>
          <p:cNvPr id="4" name="Rectangle 3"/>
          <p:cNvSpPr/>
          <p:nvPr/>
        </p:nvSpPr>
        <p:spPr>
          <a:xfrm>
            <a:off x="441853" y="188263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13" dirty="0">
              <a:solidFill>
                <a:schemeClr val="bg1"/>
              </a:solidFill>
            </a:endParaRPr>
          </a:p>
        </p:txBody>
      </p:sp>
      <p:sp>
        <p:nvSpPr>
          <p:cNvPr id="5" name="Rectangle 4"/>
          <p:cNvSpPr/>
          <p:nvPr/>
        </p:nvSpPr>
        <p:spPr>
          <a:xfrm>
            <a:off x="5456611" y="1874957"/>
            <a:ext cx="4799951"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13" dirty="0">
              <a:solidFill>
                <a:schemeClr val="bg1"/>
              </a:solidFill>
            </a:endParaRPr>
          </a:p>
        </p:txBody>
      </p:sp>
      <p:sp>
        <p:nvSpPr>
          <p:cNvPr id="6" name="Rectangle 5"/>
          <p:cNvSpPr/>
          <p:nvPr/>
        </p:nvSpPr>
        <p:spPr>
          <a:xfrm>
            <a:off x="441853" y="448298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13" dirty="0">
              <a:solidFill>
                <a:schemeClr val="bg1"/>
              </a:solidFill>
            </a:endParaRPr>
          </a:p>
        </p:txBody>
      </p:sp>
      <p:sp>
        <p:nvSpPr>
          <p:cNvPr id="7" name="Rectangle 6"/>
          <p:cNvSpPr/>
          <p:nvPr/>
        </p:nvSpPr>
        <p:spPr>
          <a:xfrm>
            <a:off x="5456611" y="4482982"/>
            <a:ext cx="479995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13" dirty="0">
              <a:solidFill>
                <a:schemeClr val="bg1"/>
              </a:solidFill>
            </a:endParaRPr>
          </a:p>
        </p:txBody>
      </p:sp>
      <p:sp>
        <p:nvSpPr>
          <p:cNvPr id="8" name="Picture Placeholder 11"/>
          <p:cNvSpPr>
            <a:spLocks noGrp="1"/>
          </p:cNvSpPr>
          <p:nvPr>
            <p:ph type="pic" sz="quarter" idx="25"/>
          </p:nvPr>
        </p:nvSpPr>
        <p:spPr>
          <a:xfrm>
            <a:off x="441853" y="2073457"/>
            <a:ext cx="1725331" cy="1627700"/>
          </a:xfrm>
        </p:spPr>
        <p:txBody>
          <a:bodyPr/>
          <a:lstStyle>
            <a:lvl1pPr algn="ctr">
              <a:defRPr/>
            </a:lvl1pPr>
          </a:lstStyle>
          <a:p>
            <a:r>
              <a:rPr lang="en-US" dirty="0"/>
              <a:t>Click icon to add picture</a:t>
            </a:r>
            <a:endParaRPr lang="en-GB" dirty="0"/>
          </a:p>
        </p:txBody>
      </p:sp>
      <p:sp>
        <p:nvSpPr>
          <p:cNvPr id="9" name="Picture Placeholder 11"/>
          <p:cNvSpPr>
            <a:spLocks noGrp="1"/>
          </p:cNvSpPr>
          <p:nvPr>
            <p:ph type="pic" sz="quarter" idx="27"/>
          </p:nvPr>
        </p:nvSpPr>
        <p:spPr>
          <a:xfrm>
            <a:off x="5456611" y="2073457"/>
            <a:ext cx="1725331" cy="1627700"/>
          </a:xfrm>
        </p:spPr>
        <p:txBody>
          <a:bodyPr/>
          <a:lstStyle>
            <a:lvl1pPr algn="ctr">
              <a:defRPr/>
            </a:lvl1pPr>
          </a:lstStyle>
          <a:p>
            <a:r>
              <a:rPr lang="en-US" dirty="0"/>
              <a:t>Click icon to add picture</a:t>
            </a:r>
            <a:endParaRPr lang="en-GB" dirty="0"/>
          </a:p>
        </p:txBody>
      </p:sp>
      <p:sp>
        <p:nvSpPr>
          <p:cNvPr id="10" name="Picture Placeholder 11"/>
          <p:cNvSpPr>
            <a:spLocks noGrp="1"/>
          </p:cNvSpPr>
          <p:nvPr>
            <p:ph type="pic" sz="quarter" idx="29"/>
          </p:nvPr>
        </p:nvSpPr>
        <p:spPr>
          <a:xfrm>
            <a:off x="441853" y="4693657"/>
            <a:ext cx="1725331" cy="1627700"/>
          </a:xfrm>
        </p:spPr>
        <p:txBody>
          <a:bodyPr/>
          <a:lstStyle>
            <a:lvl1pPr algn="ctr">
              <a:defRPr/>
            </a:lvl1pPr>
          </a:lstStyle>
          <a:p>
            <a:r>
              <a:rPr lang="en-US" dirty="0"/>
              <a:t>Click icon to add picture</a:t>
            </a:r>
            <a:endParaRPr lang="en-GB" dirty="0"/>
          </a:p>
        </p:txBody>
      </p:sp>
      <p:sp>
        <p:nvSpPr>
          <p:cNvPr id="11" name="Picture Placeholder 11"/>
          <p:cNvSpPr>
            <a:spLocks noGrp="1"/>
          </p:cNvSpPr>
          <p:nvPr>
            <p:ph type="pic" sz="quarter" idx="31"/>
          </p:nvPr>
        </p:nvSpPr>
        <p:spPr>
          <a:xfrm>
            <a:off x="5456611" y="4693657"/>
            <a:ext cx="1725331" cy="1627700"/>
          </a:xfrm>
        </p:spPr>
        <p:txBody>
          <a:bodyPr/>
          <a:lstStyle>
            <a:lvl1pPr algn="ctr">
              <a:defRPr/>
            </a:lvl1pPr>
          </a:lstStyle>
          <a:p>
            <a:r>
              <a:rPr lang="en-US" dirty="0"/>
              <a:t>Click icon to add picture</a:t>
            </a:r>
            <a:endParaRPr lang="en-GB" dirty="0"/>
          </a:p>
        </p:txBody>
      </p:sp>
      <p:sp>
        <p:nvSpPr>
          <p:cNvPr id="13" name="Text Placeholder 12"/>
          <p:cNvSpPr>
            <a:spLocks noGrp="1"/>
          </p:cNvSpPr>
          <p:nvPr>
            <p:ph type="body" sz="quarter" idx="32"/>
          </p:nvPr>
        </p:nvSpPr>
        <p:spPr>
          <a:xfrm>
            <a:off x="2352590" y="2073457"/>
            <a:ext cx="2882566" cy="21438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7361204" y="2073457"/>
            <a:ext cx="2895358" cy="21438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352590" y="4693657"/>
            <a:ext cx="2882566" cy="21438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7361204" y="4693657"/>
            <a:ext cx="2895358" cy="21438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7"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206" b="0">
                <a:solidFill>
                  <a:srgbClr val="575757"/>
                </a:solidFill>
              </a:defRPr>
            </a:lvl1pPr>
          </a:lstStyle>
          <a:p>
            <a:pPr lvl="0"/>
            <a:r>
              <a:rPr lang="en-US" noProof="0" dirty="0"/>
              <a:t>Click to add subtitle</a:t>
            </a:r>
          </a:p>
        </p:txBody>
      </p:sp>
      <p:sp>
        <p:nvSpPr>
          <p:cNvPr id="18" name="Rectangle 17"/>
          <p:cNvSpPr/>
          <p:nvPr userDrawn="1"/>
        </p:nvSpPr>
        <p:spPr>
          <a:xfrm>
            <a:off x="441853" y="188263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19" name="Rectangle 18"/>
          <p:cNvSpPr/>
          <p:nvPr userDrawn="1"/>
        </p:nvSpPr>
        <p:spPr>
          <a:xfrm>
            <a:off x="5456611" y="1874957"/>
            <a:ext cx="4799951"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20" name="Rectangle 19"/>
          <p:cNvSpPr/>
          <p:nvPr userDrawn="1"/>
        </p:nvSpPr>
        <p:spPr>
          <a:xfrm>
            <a:off x="441853" y="448298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21" name="Rectangle 20"/>
          <p:cNvSpPr/>
          <p:nvPr userDrawn="1"/>
        </p:nvSpPr>
        <p:spPr>
          <a:xfrm>
            <a:off x="5456611" y="4482982"/>
            <a:ext cx="479995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Tree>
    <p:extLst>
      <p:ext uri="{BB962C8B-B14F-4D97-AF65-F5344CB8AC3E}">
        <p14:creationId xmlns:p14="http://schemas.microsoft.com/office/powerpoint/2010/main" val="3793825304"/>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77028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439794" y="1874958"/>
            <a:ext cx="3239993" cy="2174319"/>
          </a:xfrm>
        </p:spPr>
        <p:txBody>
          <a:bodyPr/>
          <a:lstStyle/>
          <a:p>
            <a:r>
              <a:rPr lang="en-US" noProof="0" dirty="0"/>
              <a:t>Click icon to add picture</a:t>
            </a:r>
          </a:p>
        </p:txBody>
      </p:sp>
      <p:sp>
        <p:nvSpPr>
          <p:cNvPr id="5" name="Picture Placeholder 7"/>
          <p:cNvSpPr>
            <a:spLocks noGrp="1"/>
          </p:cNvSpPr>
          <p:nvPr>
            <p:ph type="pic" sz="quarter" idx="14"/>
          </p:nvPr>
        </p:nvSpPr>
        <p:spPr>
          <a:xfrm>
            <a:off x="7019151" y="1874958"/>
            <a:ext cx="3229695" cy="2174319"/>
          </a:xfrm>
        </p:spPr>
        <p:txBody>
          <a:bodyPr/>
          <a:lstStyle/>
          <a:p>
            <a:r>
              <a:rPr lang="en-US" noProof="0" dirty="0"/>
              <a:t>Click icon to add picture</a:t>
            </a:r>
          </a:p>
        </p:txBody>
      </p:sp>
      <p:sp>
        <p:nvSpPr>
          <p:cNvPr id="6" name="Picture Placeholder 7"/>
          <p:cNvSpPr>
            <a:spLocks noGrp="1"/>
          </p:cNvSpPr>
          <p:nvPr>
            <p:ph type="pic" sz="quarter" idx="15"/>
          </p:nvPr>
        </p:nvSpPr>
        <p:spPr>
          <a:xfrm>
            <a:off x="3746174" y="1874958"/>
            <a:ext cx="3206591" cy="2174319"/>
          </a:xfrm>
        </p:spPr>
        <p:txBody>
          <a:bodyPr/>
          <a:lstStyle/>
          <a:p>
            <a:r>
              <a:rPr lang="en-US" noProof="0" dirty="0"/>
              <a:t>Click icon to add picture</a:t>
            </a:r>
          </a:p>
        </p:txBody>
      </p:sp>
      <p:sp>
        <p:nvSpPr>
          <p:cNvPr id="9" name="Text Placeholder 18"/>
          <p:cNvSpPr>
            <a:spLocks noGrp="1"/>
          </p:cNvSpPr>
          <p:nvPr>
            <p:ph idx="1" hasCustomPrompt="1"/>
          </p:nvPr>
        </p:nvSpPr>
        <p:spPr>
          <a:xfrm>
            <a:off x="439793" y="4226093"/>
            <a:ext cx="3229692" cy="231054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741024" y="4226093"/>
            <a:ext cx="3206591" cy="231054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7019151" y="4226093"/>
            <a:ext cx="3229695" cy="231054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439793" y="718571"/>
            <a:ext cx="9785951" cy="835084"/>
          </a:xfrm>
          <a:prstGeom prst="rect">
            <a:avLst/>
          </a:prstGeom>
        </p:spPr>
        <p:txBody>
          <a:bodyPr lIns="0" tIns="0" rIns="0" bIns="0">
            <a:noAutofit/>
          </a:bodyPr>
          <a:lstStyle>
            <a:lvl1pPr marL="0" indent="0">
              <a:buNone/>
              <a:defRPr sz="220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59217392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439793" y="350132"/>
            <a:ext cx="9809052"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59333511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5475994" y="2048842"/>
            <a:ext cx="4772852"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770289"/>
          </a:xfrm>
        </p:spPr>
        <p:txBody>
          <a:bodyPr/>
          <a:lstStyle/>
          <a:p>
            <a:r>
              <a:rPr lang="en-US" noProof="0"/>
              <a:t>Click to edit Master title style</a:t>
            </a:r>
            <a:endParaRPr lang="en-US" noProof="0" dirty="0"/>
          </a:p>
        </p:txBody>
      </p:sp>
      <p:sp>
        <p:nvSpPr>
          <p:cNvPr id="4" name="Rectangle 3"/>
          <p:cNvSpPr/>
          <p:nvPr/>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6"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noProof="0" dirty="0"/>
              <a:t>Click to add subtitle</a:t>
            </a:r>
          </a:p>
        </p:txBody>
      </p:sp>
      <p:sp>
        <p:nvSpPr>
          <p:cNvPr id="10" name="Rectangle 9"/>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1" name="Rectangle 10"/>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Tree>
    <p:extLst>
      <p:ext uri="{BB962C8B-B14F-4D97-AF65-F5344CB8AC3E}">
        <p14:creationId xmlns:p14="http://schemas.microsoft.com/office/powerpoint/2010/main" val="77121093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4581"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21"/>
          </p:nvPr>
        </p:nvSpPr>
        <p:spPr>
          <a:xfrm>
            <a:off x="5475994" y="2048842"/>
            <a:ext cx="4782068"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439794" y="350133"/>
            <a:ext cx="9809052" cy="769615"/>
          </a:xfrm>
        </p:spPr>
        <p:txBody>
          <a:bodyPr/>
          <a:lstStyle/>
          <a:p>
            <a:r>
              <a:rPr lang="en-US"/>
              <a:t>Click to edit Master title style</a:t>
            </a:r>
            <a:endParaRPr lang="en-GB"/>
          </a:p>
        </p:txBody>
      </p:sp>
      <p:sp>
        <p:nvSpPr>
          <p:cNvPr id="4" name="Rectangle 3"/>
          <p:cNvSpPr/>
          <p:nvPr/>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GB" sz="1213" dirty="0">
              <a:solidFill>
                <a:schemeClr val="bg1"/>
              </a:solidFill>
            </a:endParaRPr>
          </a:p>
        </p:txBody>
      </p:sp>
      <p:sp>
        <p:nvSpPr>
          <p:cNvPr id="5" name="Rectangle 4"/>
          <p:cNvSpPr/>
          <p:nvPr/>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GB" sz="1213" dirty="0">
              <a:solidFill>
                <a:schemeClr val="bg1"/>
              </a:solidFill>
            </a:endParaRPr>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dirty="0">
                <a:solidFill>
                  <a:schemeClr val="bg1"/>
                </a:solidFill>
              </a:rPr>
              <a:t>Co-brand</a:t>
            </a:r>
            <a:br>
              <a:rPr lang="en-US" sz="1323" dirty="0">
                <a:solidFill>
                  <a:schemeClr val="bg1"/>
                </a:solidFill>
              </a:rPr>
            </a:br>
            <a:r>
              <a:rPr lang="en-US" sz="1323" dirty="0">
                <a:solidFill>
                  <a:schemeClr val="bg1"/>
                </a:solidFill>
              </a:rPr>
              <a:t>Logo</a:t>
            </a:r>
          </a:p>
          <a:p>
            <a:endParaRPr lang="en-GB" dirty="0"/>
          </a:p>
        </p:txBody>
      </p:sp>
      <p:sp>
        <p:nvSpPr>
          <p:cNvPr id="10" name="Text Placeholder 8"/>
          <p:cNvSpPr>
            <a:spLocks noGrp="1"/>
          </p:cNvSpPr>
          <p:nvPr>
            <p:ph type="body" sz="quarter" idx="22"/>
          </p:nvPr>
        </p:nvSpPr>
        <p:spPr>
          <a:xfrm>
            <a:off x="441853" y="4686455"/>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p:cNvSpPr>
            <a:spLocks noGrp="1"/>
          </p:cNvSpPr>
          <p:nvPr>
            <p:ph type="body" sz="quarter" idx="23"/>
          </p:nvPr>
        </p:nvSpPr>
        <p:spPr>
          <a:xfrm>
            <a:off x="5475993" y="4686455"/>
            <a:ext cx="4780569"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p:cNvSpPr/>
          <p:nvPr/>
        </p:nvSpPr>
        <p:spPr>
          <a:xfrm>
            <a:off x="441854" y="4525268"/>
            <a:ext cx="479458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GB" sz="1213" dirty="0">
              <a:solidFill>
                <a:schemeClr val="bg1"/>
              </a:solidFill>
            </a:endParaRPr>
          </a:p>
        </p:txBody>
      </p:sp>
      <p:sp>
        <p:nvSpPr>
          <p:cNvPr id="13" name="Rectangle 12"/>
          <p:cNvSpPr/>
          <p:nvPr/>
        </p:nvSpPr>
        <p:spPr>
          <a:xfrm>
            <a:off x="5475993" y="4525268"/>
            <a:ext cx="477334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GB" sz="1213" dirty="0">
              <a:solidFill>
                <a:schemeClr val="bg1"/>
              </a:solidFill>
            </a:endParaRPr>
          </a:p>
        </p:txBody>
      </p:sp>
      <p:sp>
        <p:nvSpPr>
          <p:cNvPr id="14" name="Picture Placeholder 29"/>
          <p:cNvSpPr>
            <a:spLocks noGrp="1"/>
          </p:cNvSpPr>
          <p:nvPr>
            <p:ph type="pic" sz="quarter" idx="24" hasCustomPrompt="1"/>
          </p:nvPr>
        </p:nvSpPr>
        <p:spPr>
          <a:xfrm>
            <a:off x="4168230" y="4693099"/>
            <a:ext cx="108655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dirty="0">
                <a:solidFill>
                  <a:schemeClr val="bg1"/>
                </a:solidFill>
              </a:rPr>
              <a:t>Co-brand</a:t>
            </a:r>
            <a:br>
              <a:rPr lang="en-US" sz="1323" dirty="0">
                <a:solidFill>
                  <a:schemeClr val="bg1"/>
                </a:solidFill>
              </a:rPr>
            </a:br>
            <a:r>
              <a:rPr lang="en-US" sz="1323"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9139186" y="4686456"/>
            <a:ext cx="1090746"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dirty="0">
                <a:solidFill>
                  <a:schemeClr val="bg1"/>
                </a:solidFill>
              </a:rPr>
              <a:t>Co-brand</a:t>
            </a:r>
            <a:br>
              <a:rPr lang="en-US" sz="1323" dirty="0">
                <a:solidFill>
                  <a:schemeClr val="bg1"/>
                </a:solidFill>
              </a:rPr>
            </a:br>
            <a:r>
              <a:rPr lang="en-US" sz="1323" dirty="0">
                <a:solidFill>
                  <a:schemeClr val="bg1"/>
                </a:solidFill>
              </a:rPr>
              <a:t>Logo</a:t>
            </a:r>
          </a:p>
          <a:p>
            <a:endParaRPr lang="en-GB" dirty="0"/>
          </a:p>
        </p:txBody>
      </p:sp>
      <p:sp>
        <p:nvSpPr>
          <p:cNvPr id="16" name="Text Placeholder 8"/>
          <p:cNvSpPr>
            <a:spLocks noGrp="1"/>
          </p:cNvSpPr>
          <p:nvPr>
            <p:ph type="body" sz="quarter" idx="13" hasCustomPrompt="1"/>
          </p:nvPr>
        </p:nvSpPr>
        <p:spPr>
          <a:xfrm>
            <a:off x="439794" y="718571"/>
            <a:ext cx="9816768"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17"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dirty="0">
                <a:solidFill>
                  <a:schemeClr val="bg1"/>
                </a:solidFill>
              </a:rPr>
              <a:t>Co-brand</a:t>
            </a:r>
            <a:br>
              <a:rPr lang="en-US" sz="1323" dirty="0">
                <a:solidFill>
                  <a:schemeClr val="bg1"/>
                </a:solidFill>
              </a:rPr>
            </a:br>
            <a:r>
              <a:rPr lang="en-US" sz="1323" dirty="0">
                <a:solidFill>
                  <a:schemeClr val="bg1"/>
                </a:solidFill>
              </a:rPr>
              <a:t>Logo</a:t>
            </a:r>
          </a:p>
          <a:p>
            <a:endParaRPr lang="en-GB" dirty="0"/>
          </a:p>
        </p:txBody>
      </p:sp>
      <p:sp>
        <p:nvSpPr>
          <p:cNvPr id="18" name="Rectangle 17"/>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9" name="Rectangle 18"/>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20" name="Rectangle 19"/>
          <p:cNvSpPr/>
          <p:nvPr userDrawn="1"/>
        </p:nvSpPr>
        <p:spPr>
          <a:xfrm>
            <a:off x="441854" y="4525268"/>
            <a:ext cx="479458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21" name="Rectangle 20"/>
          <p:cNvSpPr/>
          <p:nvPr userDrawn="1"/>
        </p:nvSpPr>
        <p:spPr>
          <a:xfrm>
            <a:off x="5475993" y="4525268"/>
            <a:ext cx="477334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Tree>
    <p:extLst>
      <p:ext uri="{BB962C8B-B14F-4D97-AF65-F5344CB8AC3E}">
        <p14:creationId xmlns:p14="http://schemas.microsoft.com/office/powerpoint/2010/main" val="284499232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
        <p:nvSpPr>
          <p:cNvPr id="4" name="Rectangle 3"/>
          <p:cNvSpPr/>
          <p:nvPr/>
        </p:nvSpPr>
        <p:spPr>
          <a:xfrm>
            <a:off x="3787313" y="1881304"/>
            <a:ext cx="311762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5" name="Rectangle 4"/>
          <p:cNvSpPr/>
          <p:nvPr/>
        </p:nvSpPr>
        <p:spPr>
          <a:xfrm>
            <a:off x="441853" y="1874958"/>
            <a:ext cx="3121026"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6" name="Rectangle 5"/>
          <p:cNvSpPr/>
          <p:nvPr/>
        </p:nvSpPr>
        <p:spPr>
          <a:xfrm>
            <a:off x="7114625" y="1881304"/>
            <a:ext cx="31419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7" name="Text Placeholder 8"/>
          <p:cNvSpPr>
            <a:spLocks noGrp="1"/>
          </p:cNvSpPr>
          <p:nvPr>
            <p:ph type="body" sz="quarter" idx="17"/>
          </p:nvPr>
        </p:nvSpPr>
        <p:spPr>
          <a:xfrm>
            <a:off x="3792320" y="2041728"/>
            <a:ext cx="3103998"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41853" y="2041728"/>
            <a:ext cx="3121026"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7125758" y="2041728"/>
            <a:ext cx="3130804"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206" b="0">
                <a:solidFill>
                  <a:srgbClr val="575757"/>
                </a:solidFill>
              </a:defRPr>
            </a:lvl1pPr>
          </a:lstStyle>
          <a:p>
            <a:pPr lvl="0"/>
            <a:r>
              <a:rPr lang="en-US" noProof="0" dirty="0"/>
              <a:t>Click to add subtitle</a:t>
            </a:r>
          </a:p>
        </p:txBody>
      </p:sp>
      <p:sp>
        <p:nvSpPr>
          <p:cNvPr id="11" name="Rectangle 10"/>
          <p:cNvSpPr/>
          <p:nvPr userDrawn="1"/>
        </p:nvSpPr>
        <p:spPr>
          <a:xfrm>
            <a:off x="3787313" y="1881304"/>
            <a:ext cx="311762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12" name="Rectangle 11"/>
          <p:cNvSpPr/>
          <p:nvPr userDrawn="1"/>
        </p:nvSpPr>
        <p:spPr>
          <a:xfrm>
            <a:off x="441853" y="1874958"/>
            <a:ext cx="3121026"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13" name="Rectangle 12"/>
          <p:cNvSpPr/>
          <p:nvPr userDrawn="1"/>
        </p:nvSpPr>
        <p:spPr>
          <a:xfrm>
            <a:off x="7114625" y="1881304"/>
            <a:ext cx="31419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Tree>
    <p:extLst>
      <p:ext uri="{BB962C8B-B14F-4D97-AF65-F5344CB8AC3E}">
        <p14:creationId xmlns:p14="http://schemas.microsoft.com/office/powerpoint/2010/main" val="223011180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7661"/>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7975130"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952945"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4038"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24304646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9" name="Title Placeholder 1"/>
          <p:cNvSpPr>
            <a:spLocks noGrp="1"/>
          </p:cNvSpPr>
          <p:nvPr>
            <p:ph type="title" hasCustomPrompt="1"/>
          </p:nvPr>
        </p:nvSpPr>
        <p:spPr>
          <a:xfrm>
            <a:off x="439793" y="350132"/>
            <a:ext cx="9809052" cy="77029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439793" y="1836443"/>
            <a:ext cx="4904527" cy="5201211"/>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10355331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9161882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12521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39795" y="4644850"/>
            <a:ext cx="7477256" cy="2392803"/>
          </a:xfrm>
        </p:spPr>
        <p:txBody>
          <a:bodyPr anchor="b" anchorCtr="0"/>
          <a:lstStyle>
            <a:lvl1pPr>
              <a:lnSpc>
                <a:spcPct val="100000"/>
              </a:lnSpc>
              <a:spcAft>
                <a:spcPts val="662"/>
              </a:spcAft>
              <a:defRPr sz="993"/>
            </a:lvl1pPr>
          </a:lstStyle>
          <a:p>
            <a:pPr lvl="0"/>
            <a:r>
              <a:rPr lang="en-US"/>
              <a:t>Click to edit Master text styles</a:t>
            </a:r>
          </a:p>
        </p:txBody>
      </p:sp>
      <p:sp>
        <p:nvSpPr>
          <p:cNvPr id="3" name="Picture Placeholder 2"/>
          <p:cNvSpPr>
            <a:spLocks noGrp="1"/>
          </p:cNvSpPr>
          <p:nvPr>
            <p:ph type="pic" sz="quarter" idx="14" hasCustomPrompt="1"/>
          </p:nvPr>
        </p:nvSpPr>
        <p:spPr>
          <a:xfrm>
            <a:off x="8215354" y="4644850"/>
            <a:ext cx="2033491" cy="1902786"/>
          </a:xfrm>
        </p:spPr>
        <p:txBody>
          <a:bodyPr anchor="ctr" anchorCtr="0"/>
          <a:lstStyle>
            <a:lvl1pPr algn="ctr">
              <a:defRPr sz="993"/>
            </a:lvl1pPr>
          </a:lstStyle>
          <a:p>
            <a:r>
              <a:rPr lang="en-GB" sz="993" dirty="0"/>
              <a:t>Insert sponsorship mark here</a:t>
            </a:r>
            <a:endParaRPr lang="en-GB" dirty="0"/>
          </a:p>
        </p:txBody>
      </p:sp>
      <p:sp>
        <p:nvSpPr>
          <p:cNvPr id="8" name="Text Placeholder 7"/>
          <p:cNvSpPr>
            <a:spLocks noGrp="1"/>
          </p:cNvSpPr>
          <p:nvPr>
            <p:ph type="body" sz="quarter" idx="15"/>
          </p:nvPr>
        </p:nvSpPr>
        <p:spPr>
          <a:xfrm>
            <a:off x="8215356" y="6636547"/>
            <a:ext cx="2033490" cy="401105"/>
          </a:xfrm>
        </p:spPr>
        <p:txBody>
          <a:bodyPr anchor="b" anchorCtr="0"/>
          <a:lstStyle>
            <a:lvl1pPr>
              <a:lnSpc>
                <a:spcPct val="100000"/>
              </a:lnSpc>
              <a:defRPr sz="1048"/>
            </a:lvl1pPr>
          </a:lstStyle>
          <a:p>
            <a:pPr lvl="0"/>
            <a:r>
              <a:rPr lang="en-US"/>
              <a:t>Click to edit Master text styles</a:t>
            </a:r>
          </a:p>
        </p:txBody>
      </p:sp>
      <p:grpSp>
        <p:nvGrpSpPr>
          <p:cNvPr id="9" name="Group 8"/>
          <p:cNvGrpSpPr/>
          <p:nvPr/>
        </p:nvGrpSpPr>
        <p:grpSpPr>
          <a:xfrm>
            <a:off x="441843" y="416850"/>
            <a:ext cx="1893656" cy="339629"/>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4" dirty="0">
                <a:solidFill>
                  <a:schemeClr val="bg1"/>
                </a:solidFill>
              </a:endParaRPr>
            </a:p>
          </p:txBody>
        </p:sp>
      </p:grpSp>
    </p:spTree>
    <p:extLst>
      <p:ext uri="{BB962C8B-B14F-4D97-AF65-F5344CB8AC3E}">
        <p14:creationId xmlns:p14="http://schemas.microsoft.com/office/powerpoint/2010/main" val="449003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96866" y="801940"/>
            <a:ext cx="6312188" cy="5955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bg1"/>
                </a:solidFill>
              </a:defRPr>
            </a:lvl1pPr>
            <a:lvl2pPr marL="0" marR="0" indent="0" algn="l" defTabSz="1008400" rtl="0" eaLnBrk="1" fontAlgn="auto" latinLnBrk="0" hangingPunct="1">
              <a:lnSpc>
                <a:spcPct val="100000"/>
              </a:lnSpc>
              <a:spcBef>
                <a:spcPts val="0"/>
              </a:spcBef>
              <a:spcAft>
                <a:spcPts val="0"/>
              </a:spcAft>
              <a:buClrTx/>
              <a:buSzPct val="100000"/>
              <a:buFont typeface="Arial"/>
              <a:buNone/>
              <a:tabLst/>
              <a:defRPr sz="1764" b="0">
                <a:solidFill>
                  <a:schemeClr val="bg1"/>
                </a:solidFill>
              </a:defRPr>
            </a:lvl2pPr>
            <a:lvl3pPr marL="0" indent="0" algn="l">
              <a:spcAft>
                <a:spcPts val="0"/>
              </a:spcAft>
              <a:buNone/>
              <a:defRPr sz="1764">
                <a:solidFill>
                  <a:schemeClr val="bg1"/>
                </a:solidFill>
              </a:defRPr>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marL="0" marR="0" lvl="1" indent="0" algn="l" defTabSz="100840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bg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16650087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hasCustomPrompt="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tx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Institutional Strengthening of Rajasthan </a:t>
            </a:r>
            <a:r>
              <a:rPr lang="en-US" noProof="0" dirty="0" err="1"/>
              <a:t>Discoms</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3258162802"/>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7" name="TextBox 6"/>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2016 Deloitte Touche Tohmatsu India LLP</a:t>
            </a:r>
          </a:p>
        </p:txBody>
      </p:sp>
      <p:sp>
        <p:nvSpPr>
          <p:cNvPr id="8" name="TextBox 7"/>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3" y="3781425"/>
            <a:ext cx="9243907"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3" name="TextBox 12"/>
          <p:cNvSpPr txBox="1"/>
          <p:nvPr userDrawn="1"/>
        </p:nvSpPr>
        <p:spPr>
          <a:xfrm>
            <a:off x="5554010" y="7142692"/>
            <a:ext cx="4292779" cy="11035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Institutional Strengthening of DISCOMs in Rajasthan under 24x7 Power for All Program</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2016 Deloitte Touche Tohmatsu India LLP</a:t>
            </a: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11035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Institutional Strengthening of DISCOMs in Rajasthan under 24x7 Power for All Program</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2016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tx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4" y="1796176"/>
            <a:ext cx="8023816"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11035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Institutional Strengthening of DISCOMs in Rajasthan under 24x7 Power for All Program</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2016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4440"/>
            <a:ext cx="8133385" cy="5248763"/>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11035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Institutional Strengthening of DISCOMs in Rajasthan under 24x7 Power for All Program</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2016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11035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Institutional Strengthening of DISCOMs in Rajasthan under 24x7 Power for All Program</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2016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tx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39793" y="1836443"/>
            <a:ext cx="8133385" cy="5201211"/>
          </a:xfrm>
          <a:prstGeom prst="rect">
            <a:avLst/>
          </a:prstGeom>
        </p:spPr>
        <p:txBody>
          <a:bodyPr/>
          <a:lstStyle>
            <a:lvl1pPr>
              <a:tabLst>
                <a:tab pos="7421197" algn="r"/>
              </a:tabLst>
              <a:defRPr/>
            </a:lvl1pPr>
            <a:lvl2pPr>
              <a:tabLst>
                <a:tab pos="7421197" algn="r"/>
              </a:tabLst>
              <a:defRPr/>
            </a:lvl2pPr>
            <a:lvl3pPr>
              <a:tabLst>
                <a:tab pos="7421197" algn="r"/>
              </a:tabLst>
              <a:defRPr/>
            </a:lvl3pPr>
            <a:lvl4pPr>
              <a:tabLst>
                <a:tab pos="7421197" algn="r"/>
              </a:tabLst>
              <a:defRPr/>
            </a:lvl4pPr>
            <a:lvl5pPr>
              <a:tabLst>
                <a:tab pos="5546202" algn="r"/>
              </a:tabLst>
              <a:defRPr baseline="0"/>
            </a:lvl5pPr>
            <a:lvl6pPr>
              <a:tabLst>
                <a:tab pos="7421197" algn="r"/>
              </a:tabLst>
              <a:defRPr/>
            </a:lvl6pPr>
            <a:lvl7pPr>
              <a:tabLst>
                <a:tab pos="7421197" algn="r"/>
              </a:tabLst>
              <a:defRPr/>
            </a:lvl7pPr>
            <a:lvl8pPr>
              <a:tabLst>
                <a:tab pos="7421197" algn="r"/>
              </a:tabLst>
              <a:defRPr/>
            </a:lvl8pPr>
            <a:lvl9pPr>
              <a:tabLst>
                <a:tab pos="7421197"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439795" y="350132"/>
            <a:ext cx="9801628"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3"/>
            <a:ext cx="9809052"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778283" y="1876708"/>
            <a:ext cx="5470563" cy="5160945"/>
          </a:xfrm>
        </p:spPr>
        <p:txBody>
          <a:bodyPr/>
          <a:lstStyle/>
          <a:p>
            <a:r>
              <a:rPr lang="en-US" noProof="0" dirty="0"/>
              <a:t>Click icon to add picture</a:t>
            </a:r>
          </a:p>
        </p:txBody>
      </p:sp>
      <p:sp>
        <p:nvSpPr>
          <p:cNvPr id="6" name="Content Placeholder 3"/>
          <p:cNvSpPr>
            <a:spLocks noGrp="1"/>
          </p:cNvSpPr>
          <p:nvPr>
            <p:ph sz="quarter" idx="10"/>
          </p:nvPr>
        </p:nvSpPr>
        <p:spPr>
          <a:xfrm>
            <a:off x="439794" y="1836443"/>
            <a:ext cx="3906919"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9794" y="1836443"/>
            <a:ext cx="9788639" cy="519839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9794" y="1874957"/>
            <a:ext cx="9788639" cy="5159882"/>
          </a:xfrm>
          <a:prstGeom prst="rect">
            <a:avLst/>
          </a:prstGeom>
        </p:spPr>
        <p:txBody>
          <a:bodyPr vert="horz" lIns="0" tIns="0" rIns="0" bIns="0" rtlCol="0">
            <a:noAutofit/>
          </a:bodyPr>
          <a:lstStyle>
            <a:lvl1pPr>
              <a:defRPr sz="1764"/>
            </a:lvl1pPr>
            <a:lvl2pPr>
              <a:defRPr sz="1764"/>
            </a:lvl2pPr>
            <a:lvl3pPr>
              <a:defRPr sz="1764"/>
            </a:lvl3pPr>
            <a:lvl4pPr>
              <a:defRPr sz="1764"/>
            </a:lvl4pPr>
            <a:lvl5pPr>
              <a:defRPr sz="1764"/>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39795" y="2262900"/>
            <a:ext cx="9809051" cy="4487217"/>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5" y="1836444"/>
            <a:ext cx="9809051" cy="4324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439794" y="6750118"/>
            <a:ext cx="9809052" cy="287535"/>
          </a:xfrm>
        </p:spPr>
        <p:txBody>
          <a:bodyPr>
            <a:no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4"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41853" y="2262899"/>
            <a:ext cx="3111864" cy="4487218"/>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3" y="1836444"/>
            <a:ext cx="3123087" cy="4324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3772570" y="2262899"/>
            <a:ext cx="3122443" cy="4487218"/>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3772571" y="1836444"/>
            <a:ext cx="3122442" cy="4324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7124353" y="2262899"/>
            <a:ext cx="3124492" cy="4487218"/>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7124353" y="1829668"/>
            <a:ext cx="3124493" cy="439188"/>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439792" y="6750118"/>
            <a:ext cx="9788642" cy="287535"/>
          </a:xfrm>
        </p:spPr>
        <p:txBody>
          <a:bodyPr>
            <a:no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39793" y="350131"/>
            <a:ext cx="9821299"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439793" y="718571"/>
            <a:ext cx="9821299"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439794" y="1836443"/>
            <a:ext cx="4651362"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5594649" y="1836443"/>
            <a:ext cx="4666444"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439793"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439793" y="1836443"/>
            <a:ext cx="4651364"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5596806" y="1836443"/>
            <a:ext cx="4652039"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39794" y="1836443"/>
            <a:ext cx="4694835" cy="491367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5559304" y="2343417"/>
            <a:ext cx="4689542"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4" y="1836443"/>
            <a:ext cx="4689542"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3" y="6750118"/>
            <a:ext cx="9809052" cy="287535"/>
          </a:xfrm>
        </p:spPr>
        <p:txBody>
          <a:bodyPr>
            <a:norm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5559302" y="2343417"/>
            <a:ext cx="4689543"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3" y="1836443"/>
            <a:ext cx="4689543"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2" y="6750118"/>
            <a:ext cx="9788642" cy="287535"/>
          </a:xfrm>
        </p:spPr>
        <p:txBody>
          <a:bodyPr>
            <a:normAutofit/>
          </a:bodyPr>
          <a:lstStyle>
            <a:lvl1pPr>
              <a:spcAft>
                <a:spcPts val="0"/>
              </a:spcAft>
              <a:defRPr sz="1000"/>
            </a:lvl1pPr>
          </a:lstStyle>
          <a:p>
            <a:pPr lvl="0"/>
            <a:r>
              <a:rPr lang="en-US" noProof="0"/>
              <a:t>Click to edit Master text styles</a:t>
            </a:r>
          </a:p>
        </p:txBody>
      </p:sp>
      <p:sp>
        <p:nvSpPr>
          <p:cNvPr id="9" name="Chart Placeholder 2"/>
          <p:cNvSpPr>
            <a:spLocks noGrp="1"/>
          </p:cNvSpPr>
          <p:nvPr>
            <p:ph type="chart" sz="quarter" idx="24"/>
          </p:nvPr>
        </p:nvSpPr>
        <p:spPr>
          <a:xfrm>
            <a:off x="439794" y="2343417"/>
            <a:ext cx="4680718" cy="4406700"/>
          </a:xfrm>
        </p:spPr>
        <p:txBody>
          <a:bodyPr/>
          <a:lstStyle/>
          <a:p>
            <a:r>
              <a:rPr lang="en-US" noProof="0" dirty="0"/>
              <a:t>Click icon to add chart</a:t>
            </a:r>
          </a:p>
        </p:txBody>
      </p:sp>
      <p:sp>
        <p:nvSpPr>
          <p:cNvPr id="12" name="Text Placeholder 5"/>
          <p:cNvSpPr>
            <a:spLocks noGrp="1"/>
          </p:cNvSpPr>
          <p:nvPr>
            <p:ph type="body" sz="quarter" idx="25"/>
          </p:nvPr>
        </p:nvSpPr>
        <p:spPr>
          <a:xfrm>
            <a:off x="439792" y="1836443"/>
            <a:ext cx="4680719" cy="463924"/>
          </a:xfrm>
        </p:spPr>
        <p:txBody>
          <a:bodyPr/>
          <a:lstStyle/>
          <a:p>
            <a:pPr lvl="0"/>
            <a:r>
              <a:rPr lang="en-US" noProof="0"/>
              <a:t>Click to edit Master text styles</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5" y="350131"/>
            <a:ext cx="9809051"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439793" y="1836443"/>
            <a:ext cx="3885377"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4778282" y="1874958"/>
            <a:ext cx="5470563" cy="516269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6643474" y="1829155"/>
            <a:ext cx="3605371" cy="5208499"/>
          </a:xfrm>
          <a:prstGeom prst="rect">
            <a:avLst/>
          </a:prstGeom>
        </p:spPr>
        <p:txBody>
          <a:bodyPr>
            <a:noAutofit/>
          </a:bodyPr>
          <a:lstStyle>
            <a:lvl1pPr>
              <a:tabLst>
                <a:tab pos="5546202" algn="r"/>
              </a:tabLst>
              <a:defRPr sz="2647">
                <a:solidFill>
                  <a:schemeClr val="accent3"/>
                </a:solidFill>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39794" y="1836443"/>
            <a:ext cx="5704068" cy="5201209"/>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5" y="718571"/>
            <a:ext cx="98090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439792" y="1874957"/>
            <a:ext cx="2377591" cy="13895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2916946" y="1874957"/>
            <a:ext cx="2377591" cy="13895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5394100" y="1874957"/>
            <a:ext cx="2377591" cy="13895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7871255" y="1874957"/>
            <a:ext cx="2377591" cy="13895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39793" y="3445298"/>
            <a:ext cx="2385015" cy="3592352"/>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5391628" y="3441274"/>
            <a:ext cx="2377591" cy="3596378"/>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2919422" y="3445298"/>
            <a:ext cx="2377591" cy="3592353"/>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7884246" y="3427994"/>
            <a:ext cx="2364600" cy="3609656"/>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439793" y="718571"/>
            <a:ext cx="9809053"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a:t>Click to edit Master title style</a:t>
            </a:r>
            <a:endParaRPr lang="en-US" noProof="0" dirty="0"/>
          </a:p>
        </p:txBody>
      </p:sp>
      <p:sp>
        <p:nvSpPr>
          <p:cNvPr id="4" name="Rectangle 3"/>
          <p:cNvSpPr/>
          <p:nvPr userDrawn="1"/>
        </p:nvSpPr>
        <p:spPr>
          <a:xfrm>
            <a:off x="441853" y="188263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5" name="Rectangle 4"/>
          <p:cNvSpPr/>
          <p:nvPr userDrawn="1"/>
        </p:nvSpPr>
        <p:spPr>
          <a:xfrm>
            <a:off x="5456611" y="1874957"/>
            <a:ext cx="4799951"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6" name="Rectangle 5"/>
          <p:cNvSpPr/>
          <p:nvPr userDrawn="1"/>
        </p:nvSpPr>
        <p:spPr>
          <a:xfrm>
            <a:off x="441853" y="448298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7" name="Rectangle 6"/>
          <p:cNvSpPr/>
          <p:nvPr userDrawn="1"/>
        </p:nvSpPr>
        <p:spPr>
          <a:xfrm>
            <a:off x="5456611" y="4482982"/>
            <a:ext cx="479995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8" name="Picture Placeholder 11"/>
          <p:cNvSpPr>
            <a:spLocks noGrp="1"/>
          </p:cNvSpPr>
          <p:nvPr>
            <p:ph type="pic" sz="quarter" idx="25"/>
          </p:nvPr>
        </p:nvSpPr>
        <p:spPr>
          <a:xfrm>
            <a:off x="441853" y="2073457"/>
            <a:ext cx="1725331" cy="16277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5456611" y="2073457"/>
            <a:ext cx="1725331" cy="16277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41853" y="4693657"/>
            <a:ext cx="1725331" cy="16277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5456611" y="4693657"/>
            <a:ext cx="1725331" cy="16277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352590" y="2073457"/>
            <a:ext cx="2882566" cy="2143800"/>
          </a:xfrm>
        </p:spPr>
        <p:txBody>
          <a:bodyPr/>
          <a:lstStyle>
            <a:lvl1pPr>
              <a:spcAft>
                <a:spcPts val="0"/>
              </a:spcAft>
              <a:defRPr b="1"/>
            </a:lvl1pPr>
            <a:lvl2pPr>
              <a:spcAft>
                <a:spcPts val="0"/>
              </a:spcAft>
              <a:defRPr b="0"/>
            </a:lvl2pPr>
          </a:lstStyle>
          <a:p>
            <a:pPr lvl="0"/>
            <a:r>
              <a:rPr lang="en-US" noProof="0" dirty="0"/>
              <a:t>Click to edit Master text styles</a:t>
            </a:r>
          </a:p>
          <a:p>
            <a:pPr lvl="1"/>
            <a:r>
              <a:rPr lang="en-US" noProof="0" dirty="0"/>
              <a:t>Second level</a:t>
            </a:r>
          </a:p>
        </p:txBody>
      </p:sp>
      <p:sp>
        <p:nvSpPr>
          <p:cNvPr id="14" name="Text Placeholder 12"/>
          <p:cNvSpPr>
            <a:spLocks noGrp="1"/>
          </p:cNvSpPr>
          <p:nvPr>
            <p:ph type="body" sz="quarter" idx="33"/>
          </p:nvPr>
        </p:nvSpPr>
        <p:spPr>
          <a:xfrm>
            <a:off x="7361204" y="2073457"/>
            <a:ext cx="2895358"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352590" y="4693657"/>
            <a:ext cx="2882566"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7361204" y="4693657"/>
            <a:ext cx="2895358"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439794" y="1874958"/>
            <a:ext cx="3239993" cy="2174319"/>
          </a:xfrm>
        </p:spPr>
        <p:txBody>
          <a:bodyPr/>
          <a:lstStyle/>
          <a:p>
            <a:r>
              <a:rPr lang="en-US" noProof="0" dirty="0"/>
              <a:t>Click icon to add picture</a:t>
            </a:r>
          </a:p>
        </p:txBody>
      </p:sp>
      <p:sp>
        <p:nvSpPr>
          <p:cNvPr id="5" name="Picture Placeholder 7"/>
          <p:cNvSpPr>
            <a:spLocks noGrp="1"/>
          </p:cNvSpPr>
          <p:nvPr>
            <p:ph type="pic" sz="quarter" idx="14"/>
          </p:nvPr>
        </p:nvSpPr>
        <p:spPr>
          <a:xfrm>
            <a:off x="7019151" y="1874958"/>
            <a:ext cx="3229695" cy="2174319"/>
          </a:xfrm>
        </p:spPr>
        <p:txBody>
          <a:bodyPr/>
          <a:lstStyle/>
          <a:p>
            <a:r>
              <a:rPr lang="en-US" noProof="0" dirty="0"/>
              <a:t>Click icon to add picture</a:t>
            </a:r>
          </a:p>
        </p:txBody>
      </p:sp>
      <p:sp>
        <p:nvSpPr>
          <p:cNvPr id="6" name="Picture Placeholder 7"/>
          <p:cNvSpPr>
            <a:spLocks noGrp="1"/>
          </p:cNvSpPr>
          <p:nvPr>
            <p:ph type="pic" sz="quarter" idx="15"/>
          </p:nvPr>
        </p:nvSpPr>
        <p:spPr>
          <a:xfrm>
            <a:off x="3746174" y="1874958"/>
            <a:ext cx="3206591" cy="2174319"/>
          </a:xfrm>
        </p:spPr>
        <p:txBody>
          <a:bodyPr/>
          <a:lstStyle/>
          <a:p>
            <a:r>
              <a:rPr lang="en-US" noProof="0" dirty="0"/>
              <a:t>Click icon to add picture</a:t>
            </a:r>
          </a:p>
        </p:txBody>
      </p:sp>
      <p:sp>
        <p:nvSpPr>
          <p:cNvPr id="9" name="Text Placeholder 18"/>
          <p:cNvSpPr>
            <a:spLocks noGrp="1"/>
          </p:cNvSpPr>
          <p:nvPr>
            <p:ph idx="1" hasCustomPrompt="1"/>
          </p:nvPr>
        </p:nvSpPr>
        <p:spPr>
          <a:xfrm>
            <a:off x="439793" y="4226093"/>
            <a:ext cx="3229692"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741024" y="4226093"/>
            <a:ext cx="3206591"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7019151" y="4226093"/>
            <a:ext cx="3229695"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5475994" y="2048842"/>
            <a:ext cx="4772852"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6"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4581"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5475994" y="2048842"/>
            <a:ext cx="4782068"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41853" y="4686455"/>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5475993" y="4686455"/>
            <a:ext cx="4780569"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41854" y="4525268"/>
            <a:ext cx="479458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3" name="Rectangle 12"/>
          <p:cNvSpPr/>
          <p:nvPr userDrawn="1"/>
        </p:nvSpPr>
        <p:spPr>
          <a:xfrm>
            <a:off x="5475993" y="4525268"/>
            <a:ext cx="477334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4" name="Picture Placeholder 29"/>
          <p:cNvSpPr>
            <a:spLocks noGrp="1"/>
          </p:cNvSpPr>
          <p:nvPr>
            <p:ph type="pic" sz="quarter" idx="24" hasCustomPrompt="1"/>
          </p:nvPr>
        </p:nvSpPr>
        <p:spPr>
          <a:xfrm>
            <a:off x="4168230" y="4693099"/>
            <a:ext cx="108655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9139186" y="4686456"/>
            <a:ext cx="1090746"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4" y="718571"/>
            <a:ext cx="9816768"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3787313" y="1881304"/>
            <a:ext cx="311762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5" name="Rectangle 4"/>
          <p:cNvSpPr/>
          <p:nvPr userDrawn="1"/>
        </p:nvSpPr>
        <p:spPr>
          <a:xfrm>
            <a:off x="441853" y="1874958"/>
            <a:ext cx="3121026"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6" name="Rectangle 5"/>
          <p:cNvSpPr/>
          <p:nvPr userDrawn="1"/>
        </p:nvSpPr>
        <p:spPr>
          <a:xfrm>
            <a:off x="7114625" y="1881304"/>
            <a:ext cx="31419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7" name="Text Placeholder 8"/>
          <p:cNvSpPr>
            <a:spLocks noGrp="1"/>
          </p:cNvSpPr>
          <p:nvPr>
            <p:ph type="body" sz="quarter" idx="17"/>
          </p:nvPr>
        </p:nvSpPr>
        <p:spPr>
          <a:xfrm>
            <a:off x="3792320" y="2041728"/>
            <a:ext cx="3103998"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41853" y="2041728"/>
            <a:ext cx="3121026"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7125758" y="2041728"/>
            <a:ext cx="3130804"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7975130"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952945"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4038"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793" y="350132"/>
            <a:ext cx="9809053" cy="408241"/>
          </a:xfrm>
        </p:spPr>
        <p:txBody>
          <a:bodyPr/>
          <a:lstStyle>
            <a:lvl1pPr>
              <a:defRPr>
                <a:solidFill>
                  <a:schemeClr val="bg1"/>
                </a:solidFill>
              </a:defRPr>
            </a:lvl1pPr>
          </a:lstStyle>
          <a:p>
            <a:r>
              <a:rPr lang="en-US" noProof="0" dirty="0"/>
              <a:t>Click to edit Master title style</a:t>
            </a:r>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8"/>
          <p:cNvSpPr>
            <a:spLocks noGrp="1"/>
          </p:cNvSpPr>
          <p:nvPr>
            <p:ph type="body" sz="quarter" idx="18"/>
          </p:nvPr>
        </p:nvSpPr>
        <p:spPr>
          <a:xfrm>
            <a:off x="797856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p:cNvSpPr>
            <a:spLocks noGrp="1"/>
          </p:cNvSpPr>
          <p:nvPr>
            <p:ph type="body" sz="quarter" idx="19"/>
          </p:nvPr>
        </p:nvSpPr>
        <p:spPr>
          <a:xfrm>
            <a:off x="2954090"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6326"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8"/>
          <p:cNvSpPr>
            <a:spLocks noGrp="1"/>
          </p:cNvSpPr>
          <p:nvPr>
            <p:ph type="body" sz="quarter" idx="13" hasCustomPrompt="1"/>
          </p:nvPr>
        </p:nvSpPr>
        <p:spPr>
          <a:xfrm>
            <a:off x="439793" y="758374"/>
            <a:ext cx="9809053" cy="835084"/>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2016 Deloitte Touche Tohmatsu India LLP</a:t>
            </a: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439793" y="1836443"/>
            <a:ext cx="4904527"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82801" y="801940"/>
            <a:ext cx="6312188" cy="5955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tx1"/>
                </a:solidFill>
              </a:defRPr>
            </a:lvl1pPr>
            <a:lvl2pPr marL="0" indent="0" algn="l">
              <a:buNone/>
              <a:defRPr sz="1764" b="0"/>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75874190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3965" y="1312727"/>
            <a:ext cx="4840838" cy="5755920"/>
          </a:xfrm>
        </p:spPr>
        <p:txBody>
          <a:bodyPr/>
          <a:lstStyle>
            <a:lvl1pPr>
              <a:defRPr sz="2757"/>
            </a:lvl1pPr>
            <a:lvl2pPr>
              <a:defRPr sz="2426"/>
            </a:lvl2pPr>
            <a:lvl3pPr>
              <a:defRPr sz="1985"/>
            </a:lvl3pPr>
            <a:lvl4pPr>
              <a:defRPr sz="1764"/>
            </a:lvl4pPr>
            <a:lvl5pPr>
              <a:defRPr sz="1764"/>
            </a:lvl5pPr>
            <a:lvl6pPr>
              <a:defRPr sz="1764"/>
            </a:lvl6pPr>
            <a:lvl7pPr>
              <a:defRPr sz="1764"/>
            </a:lvl7pPr>
            <a:lvl8pPr>
              <a:defRPr sz="1764"/>
            </a:lvl8pPr>
            <a:lvl9pPr>
              <a:defRPr sz="17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76726" y="1312727"/>
            <a:ext cx="4842525" cy="5755920"/>
          </a:xfrm>
        </p:spPr>
        <p:txBody>
          <a:bodyPr/>
          <a:lstStyle>
            <a:lvl1pPr>
              <a:defRPr sz="2757"/>
            </a:lvl1pPr>
            <a:lvl2pPr>
              <a:defRPr sz="2426"/>
            </a:lvl2pPr>
            <a:lvl3pPr>
              <a:defRPr sz="1985"/>
            </a:lvl3pPr>
            <a:lvl4pPr>
              <a:defRPr sz="1764"/>
            </a:lvl4pPr>
            <a:lvl5pPr>
              <a:defRPr sz="1764"/>
            </a:lvl5pPr>
            <a:lvl6pPr>
              <a:defRPr sz="1764"/>
            </a:lvl6pPr>
            <a:lvl7pPr>
              <a:defRPr sz="1764"/>
            </a:lvl7pPr>
            <a:lvl8pPr>
              <a:defRPr sz="1764"/>
            </a:lvl8pPr>
            <a:lvl9pPr>
              <a:defRPr sz="17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p:txBody>
          <a:bodyPr/>
          <a:lstStyle>
            <a:lvl1pPr>
              <a:defRPr/>
            </a:lvl1pPr>
          </a:lstStyle>
          <a:p>
            <a:pPr>
              <a:defRPr/>
            </a:pPr>
            <a:fld id="{975E941A-EA4C-43C7-A01D-C1C5986537C8}" type="slidenum">
              <a:rPr lang="en-US">
                <a:solidFill>
                  <a:srgbClr val="002776"/>
                </a:solidFill>
              </a:rPr>
              <a:pPr>
                <a:defRPr/>
              </a:pPr>
              <a:t>‹#›</a:t>
            </a:fld>
            <a:endParaRPr lang="en-US" dirty="0">
              <a:solidFill>
                <a:srgbClr val="002776"/>
              </a:solidFill>
            </a:endParaRPr>
          </a:p>
        </p:txBody>
      </p:sp>
      <p:sp>
        <p:nvSpPr>
          <p:cNvPr id="7" name="Footer Placeholder 10"/>
          <p:cNvSpPr>
            <a:spLocks noGrp="1"/>
          </p:cNvSpPr>
          <p:nvPr>
            <p:ph type="ftr" sz="quarter" idx="3"/>
          </p:nvPr>
        </p:nvSpPr>
        <p:spPr>
          <a:xfrm>
            <a:off x="902387" y="7227719"/>
            <a:ext cx="5046615" cy="159072"/>
          </a:xfrm>
          <a:prstGeom prst="rect">
            <a:avLst/>
          </a:prstGeom>
        </p:spPr>
        <p:txBody>
          <a:bodyPr vert="horz" wrap="square" lIns="0" tIns="0" rIns="0" bIns="0" numCol="1" anchor="t" anchorCtr="0" compatLnSpc="1">
            <a:prstTxWarp prst="textNoShape">
              <a:avLst/>
            </a:prstTxWarp>
            <a:noAutofit/>
          </a:bodyPr>
          <a:lstStyle>
            <a:lvl1pPr>
              <a:lnSpc>
                <a:spcPts val="1188"/>
              </a:lnSpc>
              <a:defRPr sz="993" smtClean="0">
                <a:solidFill>
                  <a:schemeClr val="tx2"/>
                </a:solidFill>
              </a:defRPr>
            </a:lvl1pPr>
          </a:lstStyle>
          <a:p>
            <a:pPr>
              <a:defRPr/>
            </a:pPr>
            <a:r>
              <a:rPr lang="en-US" dirty="0">
                <a:solidFill>
                  <a:srgbClr val="002060"/>
                </a:solidFill>
                <a:cs typeface="Times New Roman" pitchFamily="18" charset="0"/>
              </a:rPr>
              <a:t>Consultancy for preparation of PFC’s Corporate Plan 2012-32</a:t>
            </a:r>
            <a:endParaRPr lang="en-US" dirty="0">
              <a:solidFill>
                <a:srgbClr val="002776"/>
              </a:solidFill>
            </a:endParaRPr>
          </a:p>
        </p:txBody>
      </p:sp>
    </p:spTree>
    <p:extLst>
      <p:ext uri="{BB962C8B-B14F-4D97-AF65-F5344CB8AC3E}">
        <p14:creationId xmlns:p14="http://schemas.microsoft.com/office/powerpoint/2010/main" val="427321689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Monitor 2007 Title,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448923" y="1391565"/>
            <a:ext cx="9801481" cy="5717515"/>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10"/>
          <p:cNvSpPr>
            <a:spLocks noGrp="1"/>
          </p:cNvSpPr>
          <p:nvPr>
            <p:ph type="ftr" sz="quarter" idx="3"/>
          </p:nvPr>
        </p:nvSpPr>
        <p:spPr>
          <a:xfrm>
            <a:off x="902387" y="7227719"/>
            <a:ext cx="5046615" cy="159072"/>
          </a:xfrm>
          <a:prstGeom prst="rect">
            <a:avLst/>
          </a:prstGeom>
        </p:spPr>
        <p:txBody>
          <a:bodyPr vert="horz" wrap="square" lIns="0" tIns="0" rIns="0" bIns="0" numCol="1" anchor="t" anchorCtr="0" compatLnSpc="1">
            <a:prstTxWarp prst="textNoShape">
              <a:avLst/>
            </a:prstTxWarp>
            <a:noAutofit/>
          </a:bodyPr>
          <a:lstStyle>
            <a:lvl1pPr>
              <a:lnSpc>
                <a:spcPts val="1168"/>
              </a:lnSpc>
              <a:defRPr sz="973" smtClean="0">
                <a:solidFill>
                  <a:schemeClr val="tx2"/>
                </a:solidFill>
              </a:defRPr>
            </a:lvl1pPr>
          </a:lstStyle>
          <a:p>
            <a:pPr>
              <a:defRPr/>
            </a:pPr>
            <a:r>
              <a:rPr lang="en-US" dirty="0">
                <a:solidFill>
                  <a:srgbClr val="002060"/>
                </a:solidFill>
                <a:cs typeface="Times New Roman" pitchFamily="18" charset="0"/>
              </a:rPr>
              <a:t>Preparation of business/corporate Plan and Roadmap for IPO</a:t>
            </a:r>
            <a:endParaRPr lang="en-US" dirty="0"/>
          </a:p>
        </p:txBody>
      </p:sp>
      <p:sp>
        <p:nvSpPr>
          <p:cNvPr id="6" name="Slide Number Placeholder 9"/>
          <p:cNvSpPr>
            <a:spLocks noGrp="1"/>
          </p:cNvSpPr>
          <p:nvPr>
            <p:ph type="sldNum" sz="quarter" idx="11"/>
          </p:nvPr>
        </p:nvSpPr>
        <p:spPr>
          <a:xfrm>
            <a:off x="485771" y="7227719"/>
            <a:ext cx="330594" cy="159072"/>
          </a:xfrm>
        </p:spPr>
        <p:txBody>
          <a:bodyPr/>
          <a:lstStyle>
            <a:lvl1pPr>
              <a:defRPr/>
            </a:lvl1pPr>
          </a:lstStyle>
          <a:p>
            <a:pPr>
              <a:defRPr/>
            </a:pPr>
            <a:fld id="{9E5C8181-43ED-4D5C-94F9-90E4463FB844}" type="slidenum">
              <a:rPr lang="en-US">
                <a:solidFill>
                  <a:srgbClr val="002776"/>
                </a:solidFill>
              </a:rPr>
              <a:pPr>
                <a:defRPr/>
              </a:pPr>
              <a:t>‹#›</a:t>
            </a:fld>
            <a:endParaRPr lang="en-US">
              <a:solidFill>
                <a:srgbClr val="002776"/>
              </a:solidFill>
            </a:endParaRPr>
          </a:p>
        </p:txBody>
      </p:sp>
    </p:spTree>
    <p:extLst>
      <p:ext uri="{BB962C8B-B14F-4D97-AF65-F5344CB8AC3E}">
        <p14:creationId xmlns:p14="http://schemas.microsoft.com/office/powerpoint/2010/main" val="25393011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2894" y="718571"/>
            <a:ext cx="9762850" cy="835084"/>
          </a:xfrm>
          <a:prstGeom prst="rect">
            <a:avLst/>
          </a:prstGeom>
        </p:spPr>
        <p:txBody>
          <a:bodyPr lIns="0" tIns="0" rIns="0" bIns="0">
            <a:noAutofit/>
          </a:bodyPr>
          <a:lstStyle>
            <a:lvl1pPr marL="0" indent="0">
              <a:buNone/>
              <a:defRPr sz="2206"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462894" y="326073"/>
            <a:ext cx="9762850" cy="517745"/>
          </a:xfrm>
          <a:prstGeom prst="rect">
            <a:avLst/>
          </a:prstGeom>
        </p:spPr>
        <p:txBody>
          <a:bodyPr vert="horz" lIns="0" tIns="0" rIns="0" bIns="0" rtlCol="0" anchor="t" anchorCtr="0">
            <a:noAutofit/>
          </a:bodyPr>
          <a:lstStyle>
            <a:lvl1pPr>
              <a:defRPr/>
            </a:lvl1pPr>
          </a:lstStyle>
          <a:p>
            <a:r>
              <a:rPr lang="en-US" dirty="0"/>
              <a:t>Click to add title</a:t>
            </a:r>
          </a:p>
        </p:txBody>
      </p:sp>
      <p:sp>
        <p:nvSpPr>
          <p:cNvPr id="2" name="Footer Placeholder 1"/>
          <p:cNvSpPr>
            <a:spLocks noGrp="1"/>
          </p:cNvSpPr>
          <p:nvPr>
            <p:ph type="ftr" sz="quarter" idx="14"/>
          </p:nvPr>
        </p:nvSpPr>
        <p:spPr>
          <a:xfrm>
            <a:off x="3540612" y="7009643"/>
            <a:ext cx="3607415" cy="402652"/>
          </a:xfrm>
          <a:prstGeom prst="rect">
            <a:avLst/>
          </a:prstGeom>
        </p:spPr>
        <p:txBody>
          <a:bodyPr/>
          <a:lstStyle/>
          <a:p>
            <a:r>
              <a:rPr lang="en-GB"/>
              <a:t>Deloitte</a:t>
            </a:r>
            <a:endParaRPr lang="en-GB" dirty="0"/>
          </a:p>
        </p:txBody>
      </p:sp>
      <p:sp>
        <p:nvSpPr>
          <p:cNvPr id="3" name="Slide Number Placeholder 2"/>
          <p:cNvSpPr>
            <a:spLocks noGrp="1"/>
          </p:cNvSpPr>
          <p:nvPr>
            <p:ph type="sldNum" sz="quarter" idx="15"/>
          </p:nvPr>
        </p:nvSpPr>
        <p:spPr>
          <a:xfrm>
            <a:off x="7548850" y="7009643"/>
            <a:ext cx="2404944" cy="402652"/>
          </a:xfrm>
          <a:prstGeom prst="rect">
            <a:avLst/>
          </a:prstGeom>
        </p:spPr>
        <p:txBody>
          <a:bodyPr/>
          <a:lstStyle/>
          <a:p>
            <a:fld id="{313880FF-B11A-4FA9-B5CC-7226C1B8517C}" type="slidenum">
              <a:rPr lang="en-GB" smtClean="0"/>
              <a:pPr/>
              <a:t>‹#›</a:t>
            </a:fld>
            <a:endParaRPr lang="en-GB"/>
          </a:p>
        </p:txBody>
      </p:sp>
    </p:spTree>
    <p:extLst>
      <p:ext uri="{BB962C8B-B14F-4D97-AF65-F5344CB8AC3E}">
        <p14:creationId xmlns:p14="http://schemas.microsoft.com/office/powerpoint/2010/main" val="149171225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2016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845042331"/>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E7B2E2-60EE-47BF-8C23-9573B8D7060E}" type="datetimeFigureOut">
              <a:rPr lang="en-IN" smtClean="0"/>
              <a:t>08-08-2023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1810AC-7E2E-4E6E-BD2F-0F71D22CBA63}" type="slidenum">
              <a:rPr lang="en-IN" smtClean="0"/>
              <a:t>‹#›</a:t>
            </a:fld>
            <a:endParaRPr lang="en-IN"/>
          </a:p>
        </p:txBody>
      </p:sp>
    </p:spTree>
    <p:extLst>
      <p:ext uri="{BB962C8B-B14F-4D97-AF65-F5344CB8AC3E}">
        <p14:creationId xmlns:p14="http://schemas.microsoft.com/office/powerpoint/2010/main" val="31828768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36675" y="1238250"/>
            <a:ext cx="8015288" cy="2632075"/>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336675" y="3971925"/>
            <a:ext cx="8015288"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US" dirty="0"/>
              <a:t>Consultancy for preparation of PFC’s Corporate Plan 2012-32</a:t>
            </a:r>
            <a:endParaRPr lang="en-IN" dirty="0"/>
          </a:p>
        </p:txBody>
      </p:sp>
      <p:sp>
        <p:nvSpPr>
          <p:cNvPr id="6" name="Slide Number Placeholder 5"/>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8749706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US" dirty="0"/>
              <a:t>Consultancy for preparation of PFC’s Corporate Plan 2012-32</a:t>
            </a:r>
            <a:endParaRPr lang="en-IN" dirty="0"/>
          </a:p>
        </p:txBody>
      </p:sp>
      <p:sp>
        <p:nvSpPr>
          <p:cNvPr id="6" name="Slide Number Placeholder 5"/>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232992736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8663" y="1885950"/>
            <a:ext cx="9220200" cy="3144838"/>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728663" y="5060950"/>
            <a:ext cx="9220200" cy="16541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US" dirty="0"/>
              <a:t>Consultancy for preparation of PFC’s Corporate Plan 2012-32</a:t>
            </a:r>
            <a:endParaRPr lang="en-IN" dirty="0"/>
          </a:p>
        </p:txBody>
      </p:sp>
      <p:sp>
        <p:nvSpPr>
          <p:cNvPr id="6" name="Slide Number Placeholder 5"/>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56375387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735013" y="2012950"/>
            <a:ext cx="4532312" cy="4799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419725" y="2012950"/>
            <a:ext cx="4533900" cy="4799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r>
              <a:rPr lang="en-US" dirty="0"/>
              <a:t>Consultancy for preparation of PFC’s Corporate Plan 2012-32</a:t>
            </a:r>
            <a:endParaRPr lang="en-IN" dirty="0"/>
          </a:p>
        </p:txBody>
      </p:sp>
      <p:sp>
        <p:nvSpPr>
          <p:cNvPr id="7" name="Slide Number Placeholder 6"/>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40041071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600" y="403225"/>
            <a:ext cx="9218613" cy="1460500"/>
          </a:xfrm>
        </p:spPr>
        <p:txBody>
          <a:bodyPr/>
          <a:lstStyle/>
          <a:p>
            <a:r>
              <a:rPr lang="en-US"/>
              <a:t>Click to edit Master title style</a:t>
            </a:r>
            <a:endParaRPr lang="en-IN"/>
          </a:p>
        </p:txBody>
      </p:sp>
      <p:sp>
        <p:nvSpPr>
          <p:cNvPr id="3" name="Text Placeholder 2"/>
          <p:cNvSpPr>
            <a:spLocks noGrp="1"/>
          </p:cNvSpPr>
          <p:nvPr>
            <p:ph type="body" idx="1"/>
          </p:nvPr>
        </p:nvSpPr>
        <p:spPr>
          <a:xfrm>
            <a:off x="736600" y="1854200"/>
            <a:ext cx="4521200"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36600" y="2762250"/>
            <a:ext cx="4521200" cy="406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411788" y="1854200"/>
            <a:ext cx="4543425"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11788" y="2762250"/>
            <a:ext cx="4543425" cy="406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dirty="0"/>
          </a:p>
        </p:txBody>
      </p:sp>
      <p:sp>
        <p:nvSpPr>
          <p:cNvPr id="8" name="Footer Placeholder 7"/>
          <p:cNvSpPr>
            <a:spLocks noGrp="1"/>
          </p:cNvSpPr>
          <p:nvPr>
            <p:ph type="ftr" sz="quarter" idx="11"/>
          </p:nvPr>
        </p:nvSpPr>
        <p:spPr/>
        <p:txBody>
          <a:bodyPr/>
          <a:lstStyle/>
          <a:p>
            <a:r>
              <a:rPr lang="en-US" dirty="0"/>
              <a:t>Consultancy for preparation of PFC’s Corporate Plan 2012-32</a:t>
            </a:r>
            <a:endParaRPr lang="en-IN" dirty="0"/>
          </a:p>
        </p:txBody>
      </p:sp>
      <p:sp>
        <p:nvSpPr>
          <p:cNvPr id="9" name="Slide Number Placeholder 8"/>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176510630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dirty="0"/>
          </a:p>
        </p:txBody>
      </p:sp>
      <p:sp>
        <p:nvSpPr>
          <p:cNvPr id="4" name="Footer Placeholder 3"/>
          <p:cNvSpPr>
            <a:spLocks noGrp="1"/>
          </p:cNvSpPr>
          <p:nvPr>
            <p:ph type="ftr" sz="quarter" idx="11"/>
          </p:nvPr>
        </p:nvSpPr>
        <p:spPr/>
        <p:txBody>
          <a:bodyPr/>
          <a:lstStyle/>
          <a:p>
            <a:r>
              <a:rPr lang="en-US" dirty="0"/>
              <a:t>Consultancy for preparation of PFC’s Corporate Plan 2012-32</a:t>
            </a:r>
            <a:endParaRPr lang="en-IN" dirty="0"/>
          </a:p>
        </p:txBody>
      </p:sp>
      <p:sp>
        <p:nvSpPr>
          <p:cNvPr id="5" name="Slide Number Placeholder 4"/>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22577519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dirty="0"/>
          </a:p>
        </p:txBody>
      </p:sp>
      <p:sp>
        <p:nvSpPr>
          <p:cNvPr id="3" name="Footer Placeholder 2"/>
          <p:cNvSpPr>
            <a:spLocks noGrp="1"/>
          </p:cNvSpPr>
          <p:nvPr>
            <p:ph type="ftr" sz="quarter" idx="11"/>
          </p:nvPr>
        </p:nvSpPr>
        <p:spPr/>
        <p:txBody>
          <a:bodyPr/>
          <a:lstStyle/>
          <a:p>
            <a:r>
              <a:rPr lang="en-US" dirty="0"/>
              <a:t>Consultancy for preparation of PFC’s Corporate Plan 2012-32</a:t>
            </a:r>
            <a:endParaRPr lang="en-IN" dirty="0"/>
          </a:p>
        </p:txBody>
      </p:sp>
      <p:sp>
        <p:nvSpPr>
          <p:cNvPr id="4" name="Slide Number Placeholder 3"/>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106315159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600" y="504825"/>
            <a:ext cx="3446463" cy="1763713"/>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4543425" y="1089025"/>
            <a:ext cx="5411788" cy="53736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736600" y="2268538"/>
            <a:ext cx="3446463" cy="42037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r>
              <a:rPr lang="en-US" dirty="0"/>
              <a:t>Consultancy for preparation of PFC’s Corporate Plan 2012-32</a:t>
            </a:r>
            <a:endParaRPr lang="en-IN" dirty="0"/>
          </a:p>
        </p:txBody>
      </p:sp>
      <p:sp>
        <p:nvSpPr>
          <p:cNvPr id="7" name="Slide Number Placeholder 6"/>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408093889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600" y="504825"/>
            <a:ext cx="3446463" cy="1763713"/>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4543425" y="1089025"/>
            <a:ext cx="5411788" cy="53736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736600" y="2268538"/>
            <a:ext cx="3446463" cy="42037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r>
              <a:rPr lang="en-US" dirty="0"/>
              <a:t>Consultancy for preparation of PFC’s Corporate Plan 2012-32</a:t>
            </a:r>
            <a:endParaRPr lang="en-IN" dirty="0"/>
          </a:p>
        </p:txBody>
      </p:sp>
      <p:sp>
        <p:nvSpPr>
          <p:cNvPr id="7" name="Slide Number Placeholder 6"/>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26809539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US" dirty="0"/>
              <a:t>Consultancy for preparation of PFC’s Corporate Plan 2012-32</a:t>
            </a:r>
            <a:endParaRPr lang="en-IN" dirty="0"/>
          </a:p>
        </p:txBody>
      </p:sp>
      <p:sp>
        <p:nvSpPr>
          <p:cNvPr id="6" name="Slide Number Placeholder 5"/>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12063217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0163" y="403225"/>
            <a:ext cx="2303462" cy="64087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735013" y="403225"/>
            <a:ext cx="6762750" cy="64087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US" dirty="0"/>
              <a:t>Consultancy for preparation of PFC’s Corporate Plan 2012-32</a:t>
            </a:r>
            <a:endParaRPr lang="en-IN" dirty="0"/>
          </a:p>
        </p:txBody>
      </p:sp>
      <p:sp>
        <p:nvSpPr>
          <p:cNvPr id="6" name="Slide Number Placeholder 5"/>
          <p:cNvSpPr>
            <a:spLocks noGrp="1"/>
          </p:cNvSpPr>
          <p:nvPr>
            <p:ph type="sldNum" sz="quarter" idx="12"/>
          </p:nvPr>
        </p:nvSpPr>
        <p:spPr/>
        <p:txBody>
          <a:bodyPr/>
          <a:lstStyle/>
          <a:p>
            <a:fld id="{245E7376-F8A3-492A-8F40-40C192D6A6AB}" type="slidenum">
              <a:rPr lang="en-IN" smtClean="0"/>
              <a:t>‹#›</a:t>
            </a:fld>
            <a:endParaRPr lang="en-IN" dirty="0"/>
          </a:p>
        </p:txBody>
      </p:sp>
    </p:spTree>
    <p:extLst>
      <p:ext uri="{BB962C8B-B14F-4D97-AF65-F5344CB8AC3E}">
        <p14:creationId xmlns:p14="http://schemas.microsoft.com/office/powerpoint/2010/main" val="351163563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image" Target="../media/image1.emf"/><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oleObject" Target="../embeddings/oleObject1.bin"/><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81.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theme" Target="../theme/theme2.xml"/><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5"/>
            </p:custDataLst>
            <p:extLst>
              <p:ext uri="{D42A27DB-BD31-4B8C-83A1-F6EECF244321}">
                <p14:modId xmlns:p14="http://schemas.microsoft.com/office/powerpoint/2010/main" val="2215483295"/>
              </p:ext>
            </p:extLst>
          </p:nvPr>
        </p:nvGraphicFramePr>
        <p:xfrm>
          <a:off x="1857" y="1752"/>
          <a:ext cx="1855" cy="1750"/>
        </p:xfrm>
        <a:graphic>
          <a:graphicData uri="http://schemas.openxmlformats.org/presentationml/2006/ole">
            <mc:AlternateContent xmlns:mc="http://schemas.openxmlformats.org/markup-compatibility/2006">
              <mc:Choice xmlns:v="urn:schemas-microsoft-com:vml" Requires="v">
                <p:oleObj name="think-cell Slide" r:id="rId76" imgW="270" imgH="270" progId="TCLayout.ActiveDocument.1">
                  <p:embed/>
                </p:oleObj>
              </mc:Choice>
              <mc:Fallback>
                <p:oleObj name="think-cell Slide" r:id="rId76" imgW="270" imgH="270" progId="TCLayout.ActiveDocument.1">
                  <p:embed/>
                  <p:pic>
                    <p:nvPicPr>
                      <p:cNvPr id="4" name="Object 3" hidden="1"/>
                      <p:cNvPicPr/>
                      <p:nvPr/>
                    </p:nvPicPr>
                    <p:blipFill>
                      <a:blip r:embed="rId77"/>
                      <a:stretch>
                        <a:fillRect/>
                      </a:stretch>
                    </p:blipFill>
                    <p:spPr>
                      <a:xfrm>
                        <a:off x="1857" y="1752"/>
                        <a:ext cx="1855" cy="1750"/>
                      </a:xfrm>
                      <a:prstGeom prst="rect">
                        <a:avLst/>
                      </a:prstGeom>
                    </p:spPr>
                  </p:pic>
                </p:oleObj>
              </mc:Fallback>
            </mc:AlternateContent>
          </a:graphicData>
        </a:graphic>
      </p:graphicFrame>
      <p:sp>
        <p:nvSpPr>
          <p:cNvPr id="2" name="Title Placeholder 1"/>
          <p:cNvSpPr>
            <a:spLocks noGrp="1"/>
          </p:cNvSpPr>
          <p:nvPr>
            <p:ph type="title"/>
          </p:nvPr>
        </p:nvSpPr>
        <p:spPr bwMode="gray">
          <a:xfrm>
            <a:off x="439794" y="350133"/>
            <a:ext cx="9809052" cy="763288"/>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39793" y="1836444"/>
            <a:ext cx="9809052" cy="5201209"/>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tx1"/>
                </a:solidFill>
              </a:rPr>
              <a:pPr marL="0" indent="0" algn="r">
                <a:spcBef>
                  <a:spcPts val="662"/>
                </a:spcBef>
                <a:buSzPct val="100000"/>
                <a:buFont typeface="Arial"/>
                <a:buNone/>
              </a:pPr>
              <a:t>‹#›</a:t>
            </a:fld>
            <a:endParaRPr lang="en-US" sz="717" noProof="0" dirty="0">
              <a:solidFill>
                <a:schemeClr val="tx1"/>
              </a:solidFill>
            </a:endParaRPr>
          </a:p>
        </p:txBody>
      </p:sp>
      <p:sp>
        <p:nvSpPr>
          <p:cNvPr id="10" name="TextBox 9"/>
          <p:cNvSpPr txBox="1"/>
          <p:nvPr userDrawn="1"/>
        </p:nvSpPr>
        <p:spPr>
          <a:xfrm>
            <a:off x="9978847" y="7142692"/>
            <a:ext cx="269999" cy="110308"/>
          </a:xfrm>
          <a:prstGeom prst="rect">
            <a:avLst/>
          </a:prstGeom>
          <a:noFill/>
        </p:spPr>
        <p:txBody>
          <a:bodyPr wrap="square" lIns="0" tIns="0" rIns="0" bIns="0" rtlCol="0">
            <a:noAutofit/>
          </a:bodyPr>
          <a:lstStyle/>
          <a:p>
            <a:pPr marL="0" indent="0" algn="r">
              <a:spcBef>
                <a:spcPts val="662"/>
              </a:spcBef>
              <a:buSzPct val="100000"/>
              <a:buFont typeface="Arial"/>
              <a:buNone/>
            </a:pPr>
            <a:fld id="{C58DF478-B544-4ED8-9ED4-6A2648E2D233}" type="slidenum">
              <a:rPr lang="en-US" sz="700" noProof="0" smtClean="0">
                <a:solidFill>
                  <a:schemeClr val="tx1"/>
                </a:solidFill>
              </a:rPr>
              <a:pPr marL="0" indent="0" algn="r">
                <a:spcBef>
                  <a:spcPts val="662"/>
                </a:spcBef>
                <a:buSzPct val="100000"/>
                <a:buFont typeface="Arial"/>
                <a:buNone/>
              </a:pPr>
              <a:t>‹#›</a:t>
            </a:fld>
            <a:endParaRPr lang="en-US" sz="700" noProof="0" dirty="0">
              <a:solidFill>
                <a:schemeClr val="tx1"/>
              </a:solidFill>
            </a:endParaRPr>
          </a:p>
        </p:txBody>
      </p:sp>
      <p:sp>
        <p:nvSpPr>
          <p:cNvPr id="11" name="TextBox 10"/>
          <p:cNvSpPr txBox="1"/>
          <p:nvPr userDrawn="1"/>
        </p:nvSpPr>
        <p:spPr>
          <a:xfrm>
            <a:off x="439792" y="7142692"/>
            <a:ext cx="4694837" cy="221945"/>
          </a:xfrm>
          <a:prstGeom prst="rect">
            <a:avLst/>
          </a:prstGeom>
          <a:noFill/>
        </p:spPr>
        <p:txBody>
          <a:bodyPr wrap="square" lIns="0" tIns="0" rIns="0" bIns="0" rtlCol="0">
            <a:noAutofit/>
          </a:bodyPr>
          <a:lstStyle/>
          <a:p>
            <a:pPr marL="0" indent="0">
              <a:spcBef>
                <a:spcPts val="662"/>
              </a:spcBef>
              <a:buSzPct val="100000"/>
              <a:buFont typeface="Arial"/>
              <a:buNone/>
            </a:pPr>
            <a:r>
              <a:rPr lang="fr-FR" sz="700" noProof="0" dirty="0">
                <a:solidFill>
                  <a:schemeClr val="tx1"/>
                </a:solidFill>
              </a:rPr>
              <a:t>© 2018 Deloitte Touche Tohmatsu India LLP</a:t>
            </a:r>
          </a:p>
        </p:txBody>
      </p:sp>
    </p:spTree>
    <p:extLst>
      <p:ext uri="{BB962C8B-B14F-4D97-AF65-F5344CB8AC3E}">
        <p14:creationId xmlns:p14="http://schemas.microsoft.com/office/powerpoint/2010/main" val="2748758098"/>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01" r:id="rId31"/>
    <p:sldLayoutId id="2147483756" r:id="rId32"/>
    <p:sldLayoutId id="2147483755" r:id="rId33"/>
    <p:sldLayoutId id="2147483703" r:id="rId34"/>
    <p:sldLayoutId id="2147483704" r:id="rId35"/>
    <p:sldLayoutId id="2147483707" r:id="rId36"/>
    <p:sldLayoutId id="2147483713" r:id="rId37"/>
    <p:sldLayoutId id="2147483708" r:id="rId38"/>
    <p:sldLayoutId id="2147483710" r:id="rId39"/>
    <p:sldLayoutId id="2147483754" r:id="rId40"/>
    <p:sldLayoutId id="2147483711" r:id="rId41"/>
    <p:sldLayoutId id="2147483753" r:id="rId42"/>
    <p:sldLayoutId id="2147483679" r:id="rId43"/>
    <p:sldLayoutId id="2147483712" r:id="rId44"/>
    <p:sldLayoutId id="2147483678" r:id="rId45"/>
    <p:sldLayoutId id="2147483681" r:id="rId46"/>
    <p:sldLayoutId id="2147483735" r:id="rId47"/>
    <p:sldLayoutId id="2147483699" r:id="rId48"/>
    <p:sldLayoutId id="2147483714" r:id="rId49"/>
    <p:sldLayoutId id="2147483697" r:id="rId50"/>
    <p:sldLayoutId id="2147483715" r:id="rId51"/>
    <p:sldLayoutId id="2147483716" r:id="rId52"/>
    <p:sldLayoutId id="2147483717" r:id="rId53"/>
    <p:sldLayoutId id="2147483718" r:id="rId54"/>
    <p:sldLayoutId id="2147483728" r:id="rId55"/>
    <p:sldLayoutId id="2147483720" r:id="rId56"/>
    <p:sldLayoutId id="2147483721" r:id="rId57"/>
    <p:sldLayoutId id="2147483722" r:id="rId58"/>
    <p:sldLayoutId id="2147483695" r:id="rId59"/>
    <p:sldLayoutId id="2147483751" r:id="rId60"/>
    <p:sldLayoutId id="2147483724" r:id="rId61"/>
    <p:sldLayoutId id="2147483725" r:id="rId62"/>
    <p:sldLayoutId id="2147483726" r:id="rId63"/>
    <p:sldLayoutId id="2147483727" r:id="rId64"/>
    <p:sldLayoutId id="2147483698" r:id="rId65"/>
    <p:sldLayoutId id="2147483752" r:id="rId66"/>
    <p:sldLayoutId id="2147483696" r:id="rId67"/>
    <p:sldLayoutId id="2147483790" r:id="rId68"/>
    <p:sldLayoutId id="2147483806" r:id="rId69"/>
    <p:sldLayoutId id="2147483822" r:id="rId70"/>
    <p:sldLayoutId id="2147483820" r:id="rId71"/>
    <p:sldLayoutId id="2147483821" r:id="rId72"/>
    <p:sldLayoutId id="2147483823" r:id="rId73"/>
  </p:sldLayoutIdLst>
  <p:transition>
    <p:fade/>
  </p:transition>
  <p:hf sldNum="0" hdr="0" ftr="0" dt="0"/>
  <p:txStyles>
    <p:titleStyle>
      <a:lvl1pPr algn="l" defTabSz="1008400" rtl="0" eaLnBrk="1" latinLnBrk="0" hangingPunct="1">
        <a:spcBef>
          <a:spcPct val="0"/>
        </a:spcBef>
        <a:buNone/>
        <a:defRPr sz="2206" kern="1200">
          <a:solidFill>
            <a:schemeClr val="tx1"/>
          </a:solidFill>
          <a:latin typeface="+mj-lt"/>
          <a:ea typeface="+mj-ea"/>
          <a:cs typeface="+mj-cs"/>
        </a:defRPr>
      </a:lvl1pPr>
    </p:titleStyle>
    <p:body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4443" userDrawn="1">
          <p15:clr>
            <a:srgbClr val="F26B43"/>
          </p15:clr>
        </p15:guide>
        <p15:guide id="1" pos="3834">
          <p15:clr>
            <a:srgbClr val="F26B43"/>
          </p15:clr>
        </p15:guide>
        <p15:guide id="2" orient="horz" pos="2160">
          <p15:clr>
            <a:srgbClr val="F26B43"/>
          </p15:clr>
        </p15:guide>
        <p15:guide id="3" orient="horz" pos="4020">
          <p15:clr>
            <a:srgbClr val="F26B43"/>
          </p15:clr>
        </p15:guide>
        <p15:guide id="4" pos="237">
          <p15:clr>
            <a:srgbClr val="F26B43"/>
          </p15:clr>
        </p15:guide>
        <p15:guide id="5" pos="5523">
          <p15:clr>
            <a:srgbClr val="F26B43"/>
          </p15:clr>
        </p15:guide>
        <p15:guide id="6" orient="horz" pos="1071">
          <p15:clr>
            <a:srgbClr val="F26B43"/>
          </p15:clr>
        </p15:guide>
        <p15:guide id="7" orient="horz" pos="200">
          <p15:clr>
            <a:srgbClr val="F26B43"/>
          </p15:clr>
        </p15:guide>
        <p15:guide id="8" orient="horz" pos="4080">
          <p15:clr>
            <a:srgbClr val="F26B43"/>
          </p15:clr>
        </p15:guide>
        <p15:guide id="9" pos="3721">
          <p15:clr>
            <a:srgbClr val="F26B43"/>
          </p15:clr>
        </p15:guide>
        <p15:guide id="10" orient="horz" pos="236">
          <p15:clr>
            <a:srgbClr val="F26B43"/>
          </p15:clr>
        </p15:guide>
        <p15:guide id="11" pos="1022">
          <p15:clr>
            <a:srgbClr val="F26B43"/>
          </p15:clr>
        </p15:guide>
        <p15:guide id="12" pos="1137">
          <p15:clr>
            <a:srgbClr val="F26B43"/>
          </p15:clr>
        </p15:guide>
        <p15:guide id="13" pos="1920">
          <p15:clr>
            <a:srgbClr val="F26B43"/>
          </p15:clr>
        </p15:guide>
        <p15:guide id="14" pos="2033">
          <p15:clr>
            <a:srgbClr val="F26B43"/>
          </p15:clr>
        </p15:guide>
        <p15:guide id="15" pos="4620">
          <p15:clr>
            <a:srgbClr val="F26B43"/>
          </p15:clr>
        </p15:guide>
        <p15:guide id="16" pos="2823">
          <p15:clr>
            <a:srgbClr val="F26B43"/>
          </p15:clr>
        </p15:guide>
        <p15:guide id="17" pos="2937">
          <p15:clr>
            <a:srgbClr val="F26B43"/>
          </p15:clr>
        </p15:guide>
        <p15:guide id="18" pos="2880">
          <p15:clr>
            <a:srgbClr val="F26B43"/>
          </p15:clr>
        </p15:guide>
        <p15:guide id="19" pos="4734">
          <p15:clr>
            <a:srgbClr val="F26B43"/>
          </p15:clr>
        </p15:guide>
        <p15:guide id="20" orient="horz" pos="1049">
          <p15:clr>
            <a:srgbClr val="F26B43"/>
          </p15:clr>
        </p15:guide>
        <p15:guide id="21" orient="horz" pos="640">
          <p15:clr>
            <a:srgbClr val="F26B43"/>
          </p15:clr>
        </p15:guide>
        <p15:guide id="22" pos="277" userDrawn="1">
          <p15:clr>
            <a:srgbClr val="F26B43"/>
          </p15:clr>
        </p15:guide>
        <p15:guide id="23" pos="6464" userDrawn="1">
          <p15:clr>
            <a:srgbClr val="F26B43"/>
          </p15:clr>
        </p15:guide>
        <p15:guide id="24" orient="horz" pos="219" userDrawn="1">
          <p15:clr>
            <a:srgbClr val="F26B43"/>
          </p15:clr>
        </p15:guide>
        <p15:guide id="25" orient="horz" pos="115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13" y="403225"/>
            <a:ext cx="9218612" cy="14605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735013" y="2012950"/>
            <a:ext cx="9218612" cy="47990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735013" y="7010400"/>
            <a:ext cx="2405062" cy="401638"/>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p:cNvSpPr>
            <a:spLocks noGrp="1"/>
          </p:cNvSpPr>
          <p:nvPr>
            <p:ph type="ftr" sz="quarter" idx="3"/>
          </p:nvPr>
        </p:nvSpPr>
        <p:spPr>
          <a:xfrm>
            <a:off x="3540125" y="7010400"/>
            <a:ext cx="3608388" cy="401638"/>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Consultancy for preparation of PFC’s Corporate Plan 2012-32</a:t>
            </a:r>
            <a:endParaRPr lang="en-IN" dirty="0"/>
          </a:p>
        </p:txBody>
      </p:sp>
      <p:sp>
        <p:nvSpPr>
          <p:cNvPr id="6" name="Slide Number Placeholder 5"/>
          <p:cNvSpPr>
            <a:spLocks noGrp="1"/>
          </p:cNvSpPr>
          <p:nvPr>
            <p:ph type="sldNum" sz="quarter" idx="4"/>
          </p:nvPr>
        </p:nvSpPr>
        <p:spPr>
          <a:xfrm>
            <a:off x="7548563" y="7010400"/>
            <a:ext cx="2405062" cy="401638"/>
          </a:xfrm>
          <a:prstGeom prst="rect">
            <a:avLst/>
          </a:prstGeom>
        </p:spPr>
        <p:txBody>
          <a:bodyPr vert="horz" lIns="91440" tIns="45720" rIns="91440" bIns="45720" rtlCol="0" anchor="ctr"/>
          <a:lstStyle>
            <a:lvl1pPr algn="r">
              <a:defRPr sz="1200">
                <a:solidFill>
                  <a:schemeClr val="tx1">
                    <a:tint val="75000"/>
                  </a:schemeClr>
                </a:solidFill>
              </a:defRPr>
            </a:lvl1pPr>
          </a:lstStyle>
          <a:p>
            <a:fld id="{245E7376-F8A3-492A-8F40-40C192D6A6AB}" type="slidenum">
              <a:rPr lang="en-IN" smtClean="0"/>
              <a:t>‹#›</a:t>
            </a:fld>
            <a:endParaRPr lang="en-IN" dirty="0"/>
          </a:p>
        </p:txBody>
      </p:sp>
    </p:spTree>
    <p:extLst>
      <p:ext uri="{BB962C8B-B14F-4D97-AF65-F5344CB8AC3E}">
        <p14:creationId xmlns:p14="http://schemas.microsoft.com/office/powerpoint/2010/main" val="200648927"/>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21.jpeg"/><Relationship Id="rId5" Type="http://schemas.openxmlformats.org/officeDocument/2006/relationships/image" Target="../media/image20.jpeg"/><Relationship Id="rId10" Type="http://schemas.openxmlformats.org/officeDocument/2006/relationships/image" Target="../media/image25.jpeg"/><Relationship Id="rId4" Type="http://schemas.openxmlformats.org/officeDocument/2006/relationships/image" Target="../media/image19.jpeg"/><Relationship Id="rId9" Type="http://schemas.openxmlformats.org/officeDocument/2006/relationships/image" Target="../media/image2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3" Type="http://schemas.openxmlformats.org/officeDocument/2006/relationships/image" Target="../media/image37.png"/><Relationship Id="rId18" Type="http://schemas.openxmlformats.org/officeDocument/2006/relationships/image" Target="../media/image42.png"/><Relationship Id="rId26" Type="http://schemas.openxmlformats.org/officeDocument/2006/relationships/image" Target="../media/image50.png"/><Relationship Id="rId39" Type="http://schemas.openxmlformats.org/officeDocument/2006/relationships/image" Target="../media/image63.png"/><Relationship Id="rId21" Type="http://schemas.openxmlformats.org/officeDocument/2006/relationships/image" Target="../media/image45.png"/><Relationship Id="rId34" Type="http://schemas.openxmlformats.org/officeDocument/2006/relationships/image" Target="../media/image58.png"/><Relationship Id="rId7" Type="http://schemas.openxmlformats.org/officeDocument/2006/relationships/image" Target="../media/image31.jpg"/><Relationship Id="rId12" Type="http://schemas.openxmlformats.org/officeDocument/2006/relationships/image" Target="../media/image36.jpg"/><Relationship Id="rId17" Type="http://schemas.openxmlformats.org/officeDocument/2006/relationships/image" Target="../media/image41.png"/><Relationship Id="rId25" Type="http://schemas.openxmlformats.org/officeDocument/2006/relationships/image" Target="../media/image49.png"/><Relationship Id="rId33" Type="http://schemas.openxmlformats.org/officeDocument/2006/relationships/image" Target="../media/image57.png"/><Relationship Id="rId38" Type="http://schemas.openxmlformats.org/officeDocument/2006/relationships/image" Target="../media/image62.png"/><Relationship Id="rId2" Type="http://schemas.openxmlformats.org/officeDocument/2006/relationships/image" Target="../media/image26.jpg"/><Relationship Id="rId16" Type="http://schemas.openxmlformats.org/officeDocument/2006/relationships/image" Target="../media/image40.jpg"/><Relationship Id="rId20" Type="http://schemas.openxmlformats.org/officeDocument/2006/relationships/image" Target="../media/image44.jpeg"/><Relationship Id="rId29" Type="http://schemas.openxmlformats.org/officeDocument/2006/relationships/image" Target="../media/image53.jpg"/><Relationship Id="rId1" Type="http://schemas.openxmlformats.org/officeDocument/2006/relationships/slideLayout" Target="../slideLayouts/slideLayout29.xml"/><Relationship Id="rId6" Type="http://schemas.openxmlformats.org/officeDocument/2006/relationships/image" Target="../media/image30.jpg"/><Relationship Id="rId11" Type="http://schemas.openxmlformats.org/officeDocument/2006/relationships/image" Target="../media/image35.png"/><Relationship Id="rId24" Type="http://schemas.openxmlformats.org/officeDocument/2006/relationships/image" Target="../media/image48.png"/><Relationship Id="rId32" Type="http://schemas.openxmlformats.org/officeDocument/2006/relationships/image" Target="../media/image56.png"/><Relationship Id="rId37" Type="http://schemas.openxmlformats.org/officeDocument/2006/relationships/image" Target="../media/image61.png"/><Relationship Id="rId40" Type="http://schemas.openxmlformats.org/officeDocument/2006/relationships/image" Target="../media/image64.png"/><Relationship Id="rId5" Type="http://schemas.openxmlformats.org/officeDocument/2006/relationships/image" Target="../media/image29.jpg"/><Relationship Id="rId15" Type="http://schemas.openxmlformats.org/officeDocument/2006/relationships/image" Target="../media/image39.jpg"/><Relationship Id="rId23" Type="http://schemas.openxmlformats.org/officeDocument/2006/relationships/image" Target="../media/image47.png"/><Relationship Id="rId28" Type="http://schemas.openxmlformats.org/officeDocument/2006/relationships/image" Target="../media/image52.png"/><Relationship Id="rId36" Type="http://schemas.openxmlformats.org/officeDocument/2006/relationships/image" Target="../media/image60.png"/><Relationship Id="rId10" Type="http://schemas.openxmlformats.org/officeDocument/2006/relationships/image" Target="../media/image34.png"/><Relationship Id="rId19" Type="http://schemas.openxmlformats.org/officeDocument/2006/relationships/image" Target="../media/image43.jpg"/><Relationship Id="rId31" Type="http://schemas.openxmlformats.org/officeDocument/2006/relationships/image" Target="../media/image55.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 Id="rId22" Type="http://schemas.openxmlformats.org/officeDocument/2006/relationships/image" Target="../media/image46.png"/><Relationship Id="rId27" Type="http://schemas.openxmlformats.org/officeDocument/2006/relationships/image" Target="../media/image51.png"/><Relationship Id="rId30" Type="http://schemas.openxmlformats.org/officeDocument/2006/relationships/image" Target="../media/image54.png"/><Relationship Id="rId35" Type="http://schemas.openxmlformats.org/officeDocument/2006/relationships/image" Target="../media/image59.png"/><Relationship Id="rId8" Type="http://schemas.openxmlformats.org/officeDocument/2006/relationships/image" Target="../media/image32.jpg"/><Relationship Id="rId3"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xml"/><Relationship Id="rId1" Type="http://schemas.openxmlformats.org/officeDocument/2006/relationships/slideLayout" Target="../slideLayouts/slideLayout29.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xml"/><Relationship Id="rId1" Type="http://schemas.openxmlformats.org/officeDocument/2006/relationships/slideLayout" Target="../slideLayouts/slideLayout29.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66.png"/></Relationships>
</file>

<file path=ppt/slides/_rels/slide1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3.pn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10.xml"/><Relationship Id="rId1" Type="http://schemas.openxmlformats.org/officeDocument/2006/relationships/slideLayout" Target="../slideLayouts/slideLayout69.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8.jpeg"/><Relationship Id="rId1" Type="http://schemas.openxmlformats.org/officeDocument/2006/relationships/slideLayout" Target="../slideLayouts/slideLayout70.xml"/></Relationships>
</file>

<file path=ppt/slides/_rels/slide27.xml.rels><?xml version="1.0" encoding="UTF-8" standalone="yes"?>
<Relationships xmlns="http://schemas.openxmlformats.org/package/2006/relationships"><Relationship Id="rId3" Type="http://schemas.openxmlformats.org/officeDocument/2006/relationships/image" Target="cid:image001.jpg@01D1CC9E.7AADBAC0" TargetMode="External"/><Relationship Id="rId2" Type="http://schemas.openxmlformats.org/officeDocument/2006/relationships/image" Target="../media/image77.jpeg"/><Relationship Id="rId1" Type="http://schemas.openxmlformats.org/officeDocument/2006/relationships/slideLayout" Target="../slideLayouts/slideLayout70.xml"/><Relationship Id="rId4" Type="http://schemas.openxmlformats.org/officeDocument/2006/relationships/image" Target="../media/image6.jpeg"/></Relationships>
</file>

<file path=ppt/slides/_rels/slide2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png"/><Relationship Id="rId1" Type="http://schemas.openxmlformats.org/officeDocument/2006/relationships/slideLayout" Target="../slideLayouts/slideLayout70.xml"/></Relationships>
</file>

<file path=ppt/slides/_rels/slide2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7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84.png"/><Relationship Id="rId1" Type="http://schemas.openxmlformats.org/officeDocument/2006/relationships/slideLayout" Target="../slideLayouts/slideLayout73.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3.xml"/><Relationship Id="rId1" Type="http://schemas.openxmlformats.org/officeDocument/2006/relationships/slideLayout" Target="../slideLayouts/slideLayout73.xml"/><Relationship Id="rId5" Type="http://schemas.openxmlformats.org/officeDocument/2006/relationships/image" Target="../media/image97.png"/><Relationship Id="rId4" Type="http://schemas.openxmlformats.org/officeDocument/2006/relationships/image" Target="../media/image96.png"/></Relationships>
</file>

<file path=ppt/slides/_rels/slide3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4.xml"/><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3.xml"/><Relationship Id="rId4" Type="http://schemas.openxmlformats.org/officeDocument/2006/relationships/image" Target="../media/image101.png"/></Relationships>
</file>

<file path=ppt/slides/_rels/slide3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5.xml"/><Relationship Id="rId1" Type="http://schemas.openxmlformats.org/officeDocument/2006/relationships/slideLayout" Target="../slideLayouts/slideLayout73.xml"/></Relationships>
</file>

<file path=ppt/slides/_rels/slide3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3.xml"/><Relationship Id="rId4" Type="http://schemas.openxmlformats.org/officeDocument/2006/relationships/image" Target="../media/image104.png"/></Relationships>
</file>

<file path=ppt/slides/_rels/slide4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73.xml"/><Relationship Id="rId4" Type="http://schemas.openxmlformats.org/officeDocument/2006/relationships/image" Target="../media/image107.png"/></Relationships>
</file>

<file path=ppt/slides/_rels/slide4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3"/>
          <p:cNvSpPr>
            <a:spLocks noGrp="1"/>
          </p:cNvSpPr>
          <p:nvPr>
            <p:ph type="subTitle" idx="1"/>
          </p:nvPr>
        </p:nvSpPr>
        <p:spPr>
          <a:xfrm>
            <a:off x="439794" y="6034554"/>
            <a:ext cx="8737457" cy="816359"/>
          </a:xfrm>
        </p:spPr>
        <p:txBody>
          <a:bodyPr anchor="t"/>
          <a:lstStyle/>
          <a:p>
            <a:r>
              <a:rPr lang="en-US" sz="2400" dirty="0"/>
              <a:t>Development of Energy Plan and Energy Action Plan for the state of West Bengal</a:t>
            </a:r>
          </a:p>
          <a:p>
            <a:endParaRPr lang="en-US" sz="2400" dirty="0"/>
          </a:p>
        </p:txBody>
      </p:sp>
      <p:sp>
        <p:nvSpPr>
          <p:cNvPr id="5" name="Text Placeholder 4"/>
          <p:cNvSpPr>
            <a:spLocks noGrp="1"/>
          </p:cNvSpPr>
          <p:nvPr>
            <p:ph type="body" sz="quarter" idx="10"/>
          </p:nvPr>
        </p:nvSpPr>
        <p:spPr/>
        <p:txBody>
          <a:bodyPr/>
          <a:lstStyle/>
          <a:p>
            <a:r>
              <a:rPr lang="en-US" sz="1000" noProof="0" dirty="0"/>
              <a:t>August 2018</a:t>
            </a:r>
          </a:p>
          <a:p>
            <a:r>
              <a:rPr lang="en-US" sz="1000" noProof="0" dirty="0"/>
              <a:t>Deloitte Touché Tohmatsu India LLP</a:t>
            </a:r>
          </a:p>
        </p:txBody>
      </p:sp>
      <p:grpSp>
        <p:nvGrpSpPr>
          <p:cNvPr id="7" name="Group 6"/>
          <p:cNvGrpSpPr/>
          <p:nvPr/>
        </p:nvGrpSpPr>
        <p:grpSpPr>
          <a:xfrm>
            <a:off x="346308" y="1008324"/>
            <a:ext cx="2446767" cy="521218"/>
            <a:chOff x="381000" y="1143000"/>
            <a:chExt cx="1981200" cy="385849"/>
          </a:xfrm>
        </p:grpSpPr>
        <p:sp>
          <p:nvSpPr>
            <p:cNvPr id="8" name="Text Box 5"/>
            <p:cNvSpPr txBox="1">
              <a:spLocks noChangeArrowheads="1"/>
            </p:cNvSpPr>
            <p:nvPr/>
          </p:nvSpPr>
          <p:spPr bwMode="auto">
            <a:xfrm>
              <a:off x="381000" y="1168400"/>
              <a:ext cx="1981200" cy="360449"/>
            </a:xfrm>
            <a:prstGeom prst="rect">
              <a:avLst/>
            </a:prstGeom>
            <a:noFill/>
            <a:ln w="9525">
              <a:noFill/>
              <a:miter lim="800000"/>
              <a:headEnd/>
              <a:tailEnd/>
            </a:ln>
          </p:spPr>
          <p:txBody>
            <a:bodyPr>
              <a:spAutoFit/>
            </a:bodyPr>
            <a:lstStyle/>
            <a:p>
              <a:pPr algn="ctr">
                <a:spcBef>
                  <a:spcPct val="50000"/>
                </a:spcBef>
              </a:pPr>
              <a:r>
                <a:rPr lang="en-US" sz="1000" dirty="0">
                  <a:solidFill>
                    <a:srgbClr val="FF0000"/>
                  </a:solidFill>
                </a:rPr>
                <a:t>Strictly Private and Confidential</a:t>
              </a:r>
            </a:p>
          </p:txBody>
        </p:sp>
        <p:sp>
          <p:nvSpPr>
            <p:cNvPr id="9" name="Line 6"/>
            <p:cNvSpPr>
              <a:spLocks noChangeShapeType="1"/>
            </p:cNvSpPr>
            <p:nvPr/>
          </p:nvSpPr>
          <p:spPr bwMode="auto">
            <a:xfrm>
              <a:off x="381000" y="1143000"/>
              <a:ext cx="1943100" cy="0"/>
            </a:xfrm>
            <a:prstGeom prst="line">
              <a:avLst/>
            </a:prstGeom>
            <a:noFill/>
            <a:ln w="9525">
              <a:solidFill>
                <a:srgbClr val="FF0000"/>
              </a:solidFill>
              <a:round/>
              <a:headEnd/>
              <a:tailEnd/>
            </a:ln>
          </p:spPr>
          <p:txBody>
            <a:bodyPr/>
            <a:lstStyle/>
            <a:p>
              <a:endParaRPr lang="en-US" sz="1000" dirty="0"/>
            </a:p>
          </p:txBody>
        </p:sp>
        <p:sp>
          <p:nvSpPr>
            <p:cNvPr id="11" name="Line 6"/>
            <p:cNvSpPr>
              <a:spLocks noChangeShapeType="1"/>
            </p:cNvSpPr>
            <p:nvPr/>
          </p:nvSpPr>
          <p:spPr bwMode="auto">
            <a:xfrm>
              <a:off x="381000" y="1447800"/>
              <a:ext cx="1943100" cy="0"/>
            </a:xfrm>
            <a:prstGeom prst="line">
              <a:avLst/>
            </a:prstGeom>
            <a:noFill/>
            <a:ln w="9525">
              <a:solidFill>
                <a:srgbClr val="FF0000"/>
              </a:solidFill>
              <a:round/>
              <a:headEnd/>
              <a:tailEnd/>
            </a:ln>
          </p:spPr>
          <p:txBody>
            <a:bodyPr/>
            <a:lstStyle/>
            <a:p>
              <a:endParaRPr lang="en-US" sz="1000" dirty="0"/>
            </a:p>
          </p:txBody>
        </p:sp>
      </p:grpSp>
      <p:pic>
        <p:nvPicPr>
          <p:cNvPr id="12" name="Picture 1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746022" y="783890"/>
            <a:ext cx="5689600" cy="5689600"/>
          </a:xfrm>
          <a:prstGeom prst="rect">
            <a:avLst/>
          </a:prstGeom>
        </p:spPr>
      </p:pic>
      <p:pic>
        <p:nvPicPr>
          <p:cNvPr id="10" name="Picture 9"/>
          <p:cNvPicPr/>
          <p:nvPr/>
        </p:nvPicPr>
        <p:blipFill>
          <a:blip r:embed="rId4">
            <a:extLst>
              <a:ext uri="{28A0092B-C50C-407E-A947-70E740481C1C}">
                <a14:useLocalDpi xmlns:a14="http://schemas.microsoft.com/office/drawing/2010/main" val="0"/>
              </a:ext>
            </a:extLst>
          </a:blip>
          <a:srcRect/>
          <a:stretch>
            <a:fillRect/>
          </a:stretch>
        </p:blipFill>
        <p:spPr bwMode="auto">
          <a:xfrm>
            <a:off x="6967104" y="402534"/>
            <a:ext cx="3474720" cy="605790"/>
          </a:xfrm>
          <a:prstGeom prst="rect">
            <a:avLst/>
          </a:prstGeom>
          <a:noFill/>
        </p:spPr>
      </p:pic>
    </p:spTree>
    <p:extLst>
      <p:ext uri="{BB962C8B-B14F-4D97-AF65-F5344CB8AC3E}">
        <p14:creationId xmlns:p14="http://schemas.microsoft.com/office/powerpoint/2010/main" val="413711732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p:cNvSpPr>
            <a:spLocks noGrp="1"/>
          </p:cNvSpPr>
          <p:nvPr>
            <p:ph type="title"/>
          </p:nvPr>
        </p:nvSpPr>
        <p:spPr/>
        <p:txBody>
          <a:bodyPr/>
          <a:lstStyle/>
          <a:p>
            <a:r>
              <a:rPr lang="en-US" sz="2400" dirty="0"/>
              <a:t>Our Team Today</a:t>
            </a:r>
            <a:endParaRPr lang="en-IN" sz="2400" dirty="0"/>
          </a:p>
        </p:txBody>
      </p:sp>
      <p:sp>
        <p:nvSpPr>
          <p:cNvPr id="12" name="TextBox 11"/>
          <p:cNvSpPr txBox="1"/>
          <p:nvPr/>
        </p:nvSpPr>
        <p:spPr>
          <a:xfrm>
            <a:off x="2808459" y="1885984"/>
            <a:ext cx="2021691" cy="900246"/>
          </a:xfrm>
          <a:prstGeom prst="rect">
            <a:avLst/>
          </a:prstGeom>
          <a:noFill/>
        </p:spPr>
        <p:txBody>
          <a:bodyPr wrap="square" lIns="0" tIns="0" rIns="0" bIns="0" rtlCol="0">
            <a:spAutoFit/>
          </a:bodyPr>
          <a:lstStyle/>
          <a:p>
            <a:pPr lvl="0" defTabSz="1018824">
              <a:spcAft>
                <a:spcPts val="300"/>
              </a:spcAft>
              <a:buSzPct val="100000"/>
              <a:defRPr/>
            </a:pPr>
            <a:r>
              <a:rPr lang="en-US" sz="1400" b="1" dirty="0" err="1">
                <a:latin typeface="Verdana" panose="020B0604030504040204" pitchFamily="34" charset="0"/>
                <a:ea typeface="Verdana" panose="020B0604030504040204" pitchFamily="34" charset="0"/>
                <a:cs typeface="Verdana" panose="020B0604030504040204" pitchFamily="34" charset="0"/>
              </a:rPr>
              <a:t>Shubranshu</a:t>
            </a:r>
            <a:r>
              <a:rPr lang="en-US" sz="1400" b="1" dirty="0">
                <a:latin typeface="Verdana" panose="020B0604030504040204" pitchFamily="34" charset="0"/>
                <a:ea typeface="Verdana" panose="020B0604030504040204" pitchFamily="34" charset="0"/>
                <a:cs typeface="Verdana" panose="020B0604030504040204" pitchFamily="34" charset="0"/>
              </a:rPr>
              <a:t> Patnaik</a:t>
            </a:r>
          </a:p>
          <a:p>
            <a:pPr lvl="0" defTabSz="1018824">
              <a:spcAft>
                <a:spcPts val="300"/>
              </a:spcAft>
              <a:buSzPct val="100000"/>
              <a:defRPr/>
            </a:pPr>
            <a:br>
              <a:rPr lang="en-US" sz="1400" dirty="0">
                <a:latin typeface="Verdana" panose="020B0604030504040204" pitchFamily="34" charset="0"/>
                <a:ea typeface="Verdana" panose="020B0604030504040204" pitchFamily="34" charset="0"/>
                <a:cs typeface="Verdana" panose="020B0604030504040204" pitchFamily="34" charset="0"/>
              </a:rPr>
            </a:br>
            <a:r>
              <a:rPr lang="en-US" sz="1400" dirty="0">
                <a:latin typeface="Verdana" panose="020B0604030504040204" pitchFamily="34" charset="0"/>
                <a:ea typeface="Verdana" panose="020B0604030504040204" pitchFamily="34" charset="0"/>
                <a:cs typeface="Verdana" panose="020B0604030504040204" pitchFamily="34" charset="0"/>
              </a:rPr>
              <a:t>Partner &amp; Energy Sector Expert</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cxnSp>
        <p:nvCxnSpPr>
          <p:cNvPr id="13" name="Straight Connector 12"/>
          <p:cNvCxnSpPr/>
          <p:nvPr/>
        </p:nvCxnSpPr>
        <p:spPr>
          <a:xfrm>
            <a:off x="2671649" y="2257664"/>
            <a:ext cx="2088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Round Single Corner Rectangle 13"/>
          <p:cNvSpPr/>
          <p:nvPr/>
        </p:nvSpPr>
        <p:spPr bwMode="gray">
          <a:xfrm>
            <a:off x="1418525" y="1681600"/>
            <a:ext cx="3490878" cy="1514902"/>
          </a:xfrm>
          <a:prstGeom prst="round1Rect">
            <a:avLst/>
          </a:prstGeom>
          <a:noFill/>
          <a:ln w="28575" algn="ctr">
            <a:solidFill>
              <a:schemeClr val="tx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a:solidFill>
                <a:schemeClr val="bg1"/>
              </a:solidFill>
            </a:endParaRPr>
          </a:p>
        </p:txBody>
      </p:sp>
      <p:sp>
        <p:nvSpPr>
          <p:cNvPr id="15" name="Oval 14"/>
          <p:cNvSpPr/>
          <p:nvPr/>
        </p:nvSpPr>
        <p:spPr bwMode="gray">
          <a:xfrm>
            <a:off x="4603969" y="2851862"/>
            <a:ext cx="176971" cy="17697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a:solidFill>
                <a:schemeClr val="bg1"/>
              </a:solidFill>
            </a:endParaRPr>
          </a:p>
        </p:txBody>
      </p:sp>
      <p:sp>
        <p:nvSpPr>
          <p:cNvPr id="16" name="TextBox 15"/>
          <p:cNvSpPr txBox="1"/>
          <p:nvPr/>
        </p:nvSpPr>
        <p:spPr>
          <a:xfrm>
            <a:off x="6627194" y="3876513"/>
            <a:ext cx="2021691" cy="1115690"/>
          </a:xfrm>
          <a:prstGeom prst="rect">
            <a:avLst/>
          </a:prstGeom>
          <a:noFill/>
        </p:spPr>
        <p:txBody>
          <a:bodyPr wrap="square" lIns="0" tIns="0" rIns="0" bIns="0" rtlCol="0">
            <a:spAutoFit/>
          </a:bodyPr>
          <a:lstStyle/>
          <a:p>
            <a:pPr marL="0" marR="0" lvl="0" indent="0" algn="l" defTabSz="1018824" rtl="0" eaLnBrk="1" fontAlgn="auto" latinLnBrk="0" hangingPunct="1">
              <a:lnSpc>
                <a:spcPct val="100000"/>
              </a:lnSpc>
              <a:spcBef>
                <a:spcPts val="0"/>
              </a:spcBef>
              <a:spcAft>
                <a:spcPts val="300"/>
              </a:spcAft>
              <a:buClrTx/>
              <a:buSzPct val="100000"/>
              <a:buFontTx/>
              <a:buNone/>
              <a:tabLst/>
              <a:defRPr/>
            </a:pPr>
            <a:r>
              <a:rPr kumimoji="0" lang="en-US" sz="1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Dr. </a:t>
            </a:r>
            <a:r>
              <a:rPr kumimoji="0" lang="en-US" sz="1400" b="1" i="0" u="none" strike="noStrike" kern="1200" cap="none" spc="0" normalizeH="0" baseline="0" noProof="0" dirty="0" err="1">
                <a:ln>
                  <a:noFill/>
                </a:ln>
                <a:effectLst/>
                <a:uLnTx/>
                <a:uFillTx/>
                <a:latin typeface="Verdana" panose="020B0604030504040204" pitchFamily="34" charset="0"/>
                <a:ea typeface="Verdana" panose="020B0604030504040204" pitchFamily="34" charset="0"/>
                <a:cs typeface="Verdana" panose="020B0604030504040204" pitchFamily="34" charset="0"/>
              </a:rPr>
              <a:t>Indrajeet</a:t>
            </a:r>
            <a:r>
              <a:rPr kumimoji="0" lang="en-US" sz="1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Singh</a:t>
            </a:r>
          </a:p>
          <a:p>
            <a:pPr lvl="0" defTabSz="1018824">
              <a:spcAft>
                <a:spcPts val="300"/>
              </a:spcAft>
              <a:buSzPct val="100000"/>
              <a:defRPr/>
            </a:pPr>
            <a:br>
              <a:rPr lang="en-US" sz="1400" dirty="0">
                <a:latin typeface="Verdana" panose="020B0604030504040204" pitchFamily="34" charset="0"/>
                <a:ea typeface="Verdana" panose="020B0604030504040204" pitchFamily="34" charset="0"/>
                <a:cs typeface="Verdana" panose="020B0604030504040204" pitchFamily="34" charset="0"/>
              </a:rPr>
            </a:br>
            <a:r>
              <a:rPr lang="en-US" sz="1400" dirty="0">
                <a:latin typeface="Verdana" panose="020B0604030504040204" pitchFamily="34" charset="0"/>
                <a:ea typeface="Verdana" panose="020B0604030504040204" pitchFamily="34" charset="0"/>
                <a:cs typeface="Verdana" panose="020B0604030504040204" pitchFamily="34" charset="0"/>
              </a:rPr>
              <a:t>Director &amp; Climate and Energy Efficiency Expert</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cxnSp>
        <p:nvCxnSpPr>
          <p:cNvPr id="17" name="Straight Connector 16"/>
          <p:cNvCxnSpPr/>
          <p:nvPr/>
        </p:nvCxnSpPr>
        <p:spPr>
          <a:xfrm>
            <a:off x="6539594" y="4262926"/>
            <a:ext cx="2088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Round Single Corner Rectangle 17"/>
          <p:cNvSpPr/>
          <p:nvPr/>
        </p:nvSpPr>
        <p:spPr bwMode="gray">
          <a:xfrm>
            <a:off x="5286470" y="3686862"/>
            <a:ext cx="3490878" cy="1514902"/>
          </a:xfrm>
          <a:prstGeom prst="round1Rect">
            <a:avLst/>
          </a:prstGeom>
          <a:noFill/>
          <a:ln w="28575" algn="ctr">
            <a:solidFill>
              <a:schemeClr val="tx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a:solidFill>
                <a:schemeClr val="bg1"/>
              </a:solidFill>
            </a:endParaRPr>
          </a:p>
        </p:txBody>
      </p:sp>
      <p:sp>
        <p:nvSpPr>
          <p:cNvPr id="19" name="Oval 18"/>
          <p:cNvSpPr/>
          <p:nvPr/>
        </p:nvSpPr>
        <p:spPr bwMode="gray">
          <a:xfrm>
            <a:off x="8471914" y="4857124"/>
            <a:ext cx="176971" cy="17697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a:solidFill>
                <a:schemeClr val="bg1"/>
              </a:solidFill>
            </a:endParaRPr>
          </a:p>
        </p:txBody>
      </p:sp>
      <p:sp>
        <p:nvSpPr>
          <p:cNvPr id="20" name="TextBox 19"/>
          <p:cNvSpPr txBox="1"/>
          <p:nvPr/>
        </p:nvSpPr>
        <p:spPr>
          <a:xfrm>
            <a:off x="2281634" y="3884598"/>
            <a:ext cx="2021691" cy="1115690"/>
          </a:xfrm>
          <a:prstGeom prst="rect">
            <a:avLst/>
          </a:prstGeom>
          <a:noFill/>
        </p:spPr>
        <p:txBody>
          <a:bodyPr wrap="square" lIns="0" tIns="0" rIns="0" bIns="0" rtlCol="0">
            <a:spAutoFit/>
          </a:bodyPr>
          <a:lstStyle/>
          <a:p>
            <a:pPr marL="0" marR="0" lvl="0" indent="0" algn="l" defTabSz="1018824" rtl="0" eaLnBrk="1" fontAlgn="auto" latinLnBrk="0" hangingPunct="1">
              <a:lnSpc>
                <a:spcPct val="100000"/>
              </a:lnSpc>
              <a:spcBef>
                <a:spcPts val="0"/>
              </a:spcBef>
              <a:spcAft>
                <a:spcPts val="300"/>
              </a:spcAft>
              <a:buClrTx/>
              <a:buSzPct val="100000"/>
              <a:buFontTx/>
              <a:buNone/>
              <a:tabLst/>
              <a:defRPr/>
            </a:pPr>
            <a:r>
              <a:rPr kumimoji="0" lang="en-US" sz="1400" b="1" i="0" u="none" strike="noStrike" kern="1200" cap="none" spc="0" normalizeH="0" baseline="0" noProof="0" dirty="0" err="1">
                <a:ln>
                  <a:noFill/>
                </a:ln>
                <a:effectLst/>
                <a:uLnTx/>
                <a:uFillTx/>
                <a:latin typeface="Verdana" panose="020B0604030504040204" pitchFamily="34" charset="0"/>
                <a:ea typeface="Verdana" panose="020B0604030504040204" pitchFamily="34" charset="0"/>
                <a:cs typeface="Verdana" panose="020B0604030504040204" pitchFamily="34" charset="0"/>
              </a:rPr>
              <a:t>Sayantan</a:t>
            </a:r>
            <a:r>
              <a:rPr kumimoji="0" lang="en-US" sz="1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Banerjee</a:t>
            </a:r>
          </a:p>
          <a:p>
            <a:pPr lvl="0" defTabSz="1018824">
              <a:spcAft>
                <a:spcPts val="300"/>
              </a:spcAft>
              <a:buSzPct val="100000"/>
              <a:defRPr/>
            </a:pPr>
            <a:br>
              <a:rPr lang="en-US" sz="1400" dirty="0">
                <a:latin typeface="Verdana" panose="020B0604030504040204" pitchFamily="34" charset="0"/>
                <a:ea typeface="Verdana" panose="020B0604030504040204" pitchFamily="34" charset="0"/>
                <a:cs typeface="Verdana" panose="020B0604030504040204" pitchFamily="34" charset="0"/>
              </a:rPr>
            </a:br>
            <a:r>
              <a:rPr lang="en-US" sz="1400" dirty="0">
                <a:latin typeface="Verdana" panose="020B0604030504040204" pitchFamily="34" charset="0"/>
                <a:ea typeface="Verdana" panose="020B0604030504040204" pitchFamily="34" charset="0"/>
                <a:cs typeface="Verdana" panose="020B0604030504040204" pitchFamily="34" charset="0"/>
              </a:rPr>
              <a:t>Director &amp; Energy Sector and </a:t>
            </a:r>
            <a:r>
              <a:rPr lang="en-US" sz="1400" dirty="0" err="1">
                <a:latin typeface="Verdana" panose="020B0604030504040204" pitchFamily="34" charset="0"/>
                <a:ea typeface="Verdana" panose="020B0604030504040204" pitchFamily="34" charset="0"/>
                <a:cs typeface="Verdana" panose="020B0604030504040204" pitchFamily="34" charset="0"/>
              </a:rPr>
              <a:t>Liasing</a:t>
            </a:r>
            <a:r>
              <a:rPr lang="en-US" sz="1400" dirty="0">
                <a:latin typeface="Verdana" panose="020B0604030504040204" pitchFamily="34" charset="0"/>
                <a:ea typeface="Verdana" panose="020B0604030504040204" pitchFamily="34" charset="0"/>
                <a:cs typeface="Verdana" panose="020B0604030504040204" pitchFamily="34" charset="0"/>
              </a:rPr>
              <a:t> Expert</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cxnSp>
        <p:nvCxnSpPr>
          <p:cNvPr id="21" name="Straight Connector 20"/>
          <p:cNvCxnSpPr/>
          <p:nvPr/>
        </p:nvCxnSpPr>
        <p:spPr>
          <a:xfrm>
            <a:off x="2243225" y="4270347"/>
            <a:ext cx="2088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2" name="Round Single Corner Rectangle 21"/>
          <p:cNvSpPr/>
          <p:nvPr/>
        </p:nvSpPr>
        <p:spPr bwMode="gray">
          <a:xfrm>
            <a:off x="990101" y="3694283"/>
            <a:ext cx="3490878" cy="1514902"/>
          </a:xfrm>
          <a:prstGeom prst="round1Rect">
            <a:avLst/>
          </a:prstGeom>
          <a:noFill/>
          <a:ln w="28575" algn="ctr">
            <a:solidFill>
              <a:schemeClr val="tx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a:solidFill>
                <a:schemeClr val="bg1"/>
              </a:solidFill>
            </a:endParaRPr>
          </a:p>
        </p:txBody>
      </p:sp>
      <p:sp>
        <p:nvSpPr>
          <p:cNvPr id="23" name="Oval 22"/>
          <p:cNvSpPr/>
          <p:nvPr/>
        </p:nvSpPr>
        <p:spPr bwMode="gray">
          <a:xfrm>
            <a:off x="4175545" y="4864545"/>
            <a:ext cx="176971" cy="17697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a:solidFill>
                <a:schemeClr val="bg1"/>
              </a:solidFill>
            </a:endParaRPr>
          </a:p>
        </p:txBody>
      </p:sp>
      <p:sp>
        <p:nvSpPr>
          <p:cNvPr id="29" name="TextBox 28"/>
          <p:cNvSpPr txBox="1"/>
          <p:nvPr/>
        </p:nvSpPr>
        <p:spPr>
          <a:xfrm>
            <a:off x="7137174" y="1907172"/>
            <a:ext cx="2021691" cy="900246"/>
          </a:xfrm>
          <a:prstGeom prst="rect">
            <a:avLst/>
          </a:prstGeom>
          <a:noFill/>
        </p:spPr>
        <p:txBody>
          <a:bodyPr wrap="square" lIns="0" tIns="0" rIns="0" bIns="0" rtlCol="0">
            <a:spAutoFit/>
          </a:bodyPr>
          <a:lstStyle/>
          <a:p>
            <a:pPr marL="0" marR="0" lvl="0" indent="0" algn="l" defTabSz="1018824" rtl="0" eaLnBrk="1" fontAlgn="auto" latinLnBrk="0" hangingPunct="1">
              <a:lnSpc>
                <a:spcPct val="100000"/>
              </a:lnSpc>
              <a:spcBef>
                <a:spcPts val="0"/>
              </a:spcBef>
              <a:spcAft>
                <a:spcPts val="300"/>
              </a:spcAft>
              <a:buClrTx/>
              <a:buSzPct val="100000"/>
              <a:buFontTx/>
              <a:buNone/>
              <a:tabLst/>
              <a:defRPr/>
            </a:pPr>
            <a:r>
              <a:rPr kumimoji="0" lang="en-US" sz="1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Anish</a:t>
            </a:r>
            <a:r>
              <a:rPr kumimoji="0" lang="en-US" sz="14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Mandal</a:t>
            </a:r>
            <a:endParaRPr kumimoji="0" lang="en-US" sz="1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a:p>
            <a:pPr lvl="0" defTabSz="1018824">
              <a:spcAft>
                <a:spcPts val="300"/>
              </a:spcAft>
              <a:buSzPct val="100000"/>
              <a:defRPr/>
            </a:pPr>
            <a:br>
              <a:rPr lang="en-US" sz="1400" dirty="0">
                <a:latin typeface="Verdana" panose="020B0604030504040204" pitchFamily="34" charset="0"/>
                <a:ea typeface="Verdana" panose="020B0604030504040204" pitchFamily="34" charset="0"/>
                <a:cs typeface="Verdana" panose="020B0604030504040204" pitchFamily="34" charset="0"/>
              </a:rPr>
            </a:br>
            <a:r>
              <a:rPr lang="en-US" sz="1400" dirty="0">
                <a:latin typeface="Verdana" panose="020B0604030504040204" pitchFamily="34" charset="0"/>
                <a:ea typeface="Verdana" panose="020B0604030504040204" pitchFamily="34" charset="0"/>
                <a:cs typeface="Verdana" panose="020B0604030504040204" pitchFamily="34" charset="0"/>
              </a:rPr>
              <a:t>Director &amp; Power Sector Expert</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cxnSp>
        <p:nvCxnSpPr>
          <p:cNvPr id="30" name="Straight Connector 29"/>
          <p:cNvCxnSpPr/>
          <p:nvPr/>
        </p:nvCxnSpPr>
        <p:spPr>
          <a:xfrm>
            <a:off x="7098765" y="2292921"/>
            <a:ext cx="2088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1" name="Round Single Corner Rectangle 30"/>
          <p:cNvSpPr/>
          <p:nvPr/>
        </p:nvSpPr>
        <p:spPr bwMode="gray">
          <a:xfrm>
            <a:off x="5845641" y="1716857"/>
            <a:ext cx="3490878" cy="1514902"/>
          </a:xfrm>
          <a:prstGeom prst="round1Rect">
            <a:avLst/>
          </a:prstGeom>
          <a:noFill/>
          <a:ln w="28575" algn="ctr">
            <a:solidFill>
              <a:schemeClr val="tx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a:solidFill>
                <a:schemeClr val="bg1"/>
              </a:solidFill>
            </a:endParaRPr>
          </a:p>
        </p:txBody>
      </p:sp>
      <p:sp>
        <p:nvSpPr>
          <p:cNvPr id="32" name="Oval 31"/>
          <p:cNvSpPr/>
          <p:nvPr/>
        </p:nvSpPr>
        <p:spPr bwMode="gray">
          <a:xfrm>
            <a:off x="9031085" y="2887119"/>
            <a:ext cx="176971" cy="17697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a:solidFill>
                <a:schemeClr val="bg1"/>
              </a:solidFill>
            </a:endParaRPr>
          </a:p>
        </p:txBody>
      </p:sp>
      <p:pic>
        <p:nvPicPr>
          <p:cNvPr id="36" name="Picture 35"/>
          <p:cNvPicPr>
            <a:picLocks noChangeAspect="1"/>
          </p:cNvPicPr>
          <p:nvPr/>
        </p:nvPicPr>
        <p:blipFill>
          <a:blip r:embed="rId3"/>
          <a:stretch>
            <a:fillRect/>
          </a:stretch>
        </p:blipFill>
        <p:spPr>
          <a:xfrm>
            <a:off x="5933534" y="1825860"/>
            <a:ext cx="1077339" cy="1238229"/>
          </a:xfrm>
          <a:prstGeom prst="rect">
            <a:avLst/>
          </a:prstGeom>
        </p:spPr>
      </p:pic>
      <p:pic>
        <p:nvPicPr>
          <p:cNvPr id="24" name="Picture 23"/>
          <p:cNvPicPr/>
          <p:nvPr/>
        </p:nvPicPr>
        <p:blipFill>
          <a:blip r:embed="rId4" cstate="email">
            <a:extLst>
              <a:ext uri="{28A0092B-C50C-407E-A947-70E740481C1C}">
                <a14:useLocalDpi xmlns:a14="http://schemas.microsoft.com/office/drawing/2010/main"/>
              </a:ext>
            </a:extLst>
          </a:blip>
          <a:srcRect/>
          <a:stretch>
            <a:fillRect/>
          </a:stretch>
        </p:blipFill>
        <p:spPr bwMode="auto">
          <a:xfrm>
            <a:off x="5332768" y="3781472"/>
            <a:ext cx="1223509" cy="1372323"/>
          </a:xfrm>
          <a:prstGeom prst="rect">
            <a:avLst/>
          </a:prstGeom>
          <a:noFill/>
        </p:spPr>
      </p:pic>
      <p:pic>
        <p:nvPicPr>
          <p:cNvPr id="25" name="Picture 24"/>
          <p:cNvPicPr/>
          <p:nvPr/>
        </p:nvPicPr>
        <p:blipFill>
          <a:blip r:embed="rId5"/>
          <a:stretch>
            <a:fillRect/>
          </a:stretch>
        </p:blipFill>
        <p:spPr>
          <a:xfrm>
            <a:off x="1082519" y="3820927"/>
            <a:ext cx="1034398" cy="1250799"/>
          </a:xfrm>
          <a:prstGeom prst="rect">
            <a:avLst/>
          </a:prstGeom>
        </p:spPr>
      </p:pic>
      <p:pic>
        <p:nvPicPr>
          <p:cNvPr id="26" name="Picture 2" descr="Description: Description: S Patnaik"/>
          <p:cNvPicPr>
            <a:picLocks noChangeAspect="1" noChangeArrowheads="1"/>
          </p:cNvPicPr>
          <p:nvPr/>
        </p:nvPicPr>
        <p:blipFill>
          <a:blip r:embed="rId6" cstate="print">
            <a:extLst>
              <a:ext uri="{28A0092B-C50C-407E-A947-70E740481C1C}">
                <a14:useLocalDpi xmlns:a14="http://schemas.microsoft.com/office/drawing/2010/main" val="0"/>
              </a:ext>
            </a:extLst>
          </a:blip>
          <a:srcRect b="10365"/>
          <a:stretch>
            <a:fillRect/>
          </a:stretch>
        </p:blipFill>
        <p:spPr bwMode="auto">
          <a:xfrm>
            <a:off x="1546962" y="1825860"/>
            <a:ext cx="1135196" cy="1260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07921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9794" y="122781"/>
            <a:ext cx="9241218" cy="1756067"/>
          </a:xfrm>
        </p:spPr>
        <p:txBody>
          <a:bodyPr/>
          <a:lstStyle/>
          <a:p>
            <a:r>
              <a:rPr lang="en-US" dirty="0"/>
              <a:t>Agenda</a:t>
            </a:r>
          </a:p>
        </p:txBody>
      </p:sp>
      <p:sp>
        <p:nvSpPr>
          <p:cNvPr id="9" name="Content Placeholder 1"/>
          <p:cNvSpPr>
            <a:spLocks noGrp="1"/>
          </p:cNvSpPr>
          <p:nvPr>
            <p:ph type="body" idx="1"/>
          </p:nvPr>
        </p:nvSpPr>
        <p:spPr>
          <a:xfrm>
            <a:off x="439794" y="2993311"/>
            <a:ext cx="5495493" cy="2409962"/>
          </a:xfrm>
        </p:spPr>
        <p:txBody>
          <a:bodyPr>
            <a:noAutofit/>
          </a:bodyPr>
          <a:lstStyle/>
          <a:p>
            <a:pPr marL="207949" indent="-207949">
              <a:lnSpc>
                <a:spcPct val="150000"/>
              </a:lnSpc>
              <a:spcAft>
                <a:spcPts val="1077"/>
              </a:spcAft>
              <a:buFont typeface="Arial" pitchFamily="34" charset="0"/>
              <a:buChar char="•"/>
            </a:pPr>
            <a:r>
              <a:rPr lang="en-US" sz="1400" b="1" dirty="0"/>
              <a:t>Deloitte and E3 advantage</a:t>
            </a:r>
          </a:p>
          <a:p>
            <a:pPr marL="207949" indent="-207949">
              <a:lnSpc>
                <a:spcPct val="150000"/>
              </a:lnSpc>
              <a:spcAft>
                <a:spcPts val="1077"/>
              </a:spcAft>
              <a:buFont typeface="Arial" pitchFamily="34" charset="0"/>
              <a:buChar char="•"/>
            </a:pPr>
            <a:r>
              <a:rPr lang="en-US" sz="1400" b="1" dirty="0"/>
              <a:t>Understanding the objectives of Integrated Energy Plan</a:t>
            </a:r>
          </a:p>
          <a:p>
            <a:pPr marL="207949" indent="-207949">
              <a:lnSpc>
                <a:spcPct val="150000"/>
              </a:lnSpc>
              <a:spcAft>
                <a:spcPts val="1077"/>
              </a:spcAft>
              <a:buFont typeface="Arial" pitchFamily="34" charset="0"/>
              <a:buChar char="•"/>
            </a:pPr>
            <a:r>
              <a:rPr lang="en-US" sz="1400" b="1" dirty="0"/>
              <a:t>Our Approach &amp; Methodology</a:t>
            </a:r>
          </a:p>
          <a:p>
            <a:pPr marL="207949" indent="-207949">
              <a:lnSpc>
                <a:spcPct val="150000"/>
              </a:lnSpc>
              <a:spcAft>
                <a:spcPts val="1077"/>
              </a:spcAft>
              <a:buFont typeface="Arial" pitchFamily="34" charset="0"/>
              <a:buChar char="•"/>
            </a:pPr>
            <a:r>
              <a:rPr lang="en-US" sz="1400" b="1" dirty="0"/>
              <a:t>Resource Plan Strategy</a:t>
            </a:r>
          </a:p>
          <a:p>
            <a:pPr marL="207949" indent="-207949">
              <a:lnSpc>
                <a:spcPct val="150000"/>
              </a:lnSpc>
              <a:spcAft>
                <a:spcPts val="1077"/>
              </a:spcAft>
              <a:buFont typeface="Arial" pitchFamily="34" charset="0"/>
              <a:buChar char="•"/>
            </a:pPr>
            <a:endParaRPr lang="en-US" sz="1400" b="1" dirty="0"/>
          </a:p>
        </p:txBody>
      </p:sp>
      <p:pic>
        <p:nvPicPr>
          <p:cNvPr id="5" name="Picture 4"/>
          <p:cNvPicPr>
            <a:picLocks noChangeAspect="1"/>
          </p:cNvPicPr>
          <p:nvPr/>
        </p:nvPicPr>
        <p:blipFill>
          <a:blip r:embed="rId3"/>
          <a:stretch>
            <a:fillRect/>
          </a:stretch>
        </p:blipFill>
        <p:spPr>
          <a:xfrm>
            <a:off x="6123738" y="-23728"/>
            <a:ext cx="4581525" cy="7586577"/>
          </a:xfrm>
          <a:prstGeom prst="rect">
            <a:avLst/>
          </a:prstGeom>
        </p:spPr>
      </p:pic>
    </p:spTree>
    <p:extLst>
      <p:ext uri="{BB962C8B-B14F-4D97-AF65-F5344CB8AC3E}">
        <p14:creationId xmlns:p14="http://schemas.microsoft.com/office/powerpoint/2010/main" val="14000232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7152"/>
            <a:ext cx="7380133" cy="7570002"/>
          </a:xfrm>
          <a:prstGeom prst="rect">
            <a:avLst/>
          </a:prstGeom>
        </p:spPr>
      </p:pic>
      <p:cxnSp>
        <p:nvCxnSpPr>
          <p:cNvPr id="6" name="Straight Connector 5"/>
          <p:cNvCxnSpPr/>
          <p:nvPr/>
        </p:nvCxnSpPr>
        <p:spPr>
          <a:xfrm flipH="1">
            <a:off x="7555040" y="6517178"/>
            <a:ext cx="3133600" cy="1662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555040" y="5390528"/>
            <a:ext cx="3308505" cy="934358"/>
          </a:xfrm>
          <a:prstGeom prst="rect">
            <a:avLst/>
          </a:prstGeom>
        </p:spPr>
        <p:txBody>
          <a:bodyPr wrap="square" anchor="ctr">
            <a:spAutoFit/>
          </a:bodyPr>
          <a:lstStyle/>
          <a:p>
            <a:pPr>
              <a:lnSpc>
                <a:spcPct val="114000"/>
              </a:lnSpc>
              <a:spcAft>
                <a:spcPts val="3000"/>
              </a:spcAft>
            </a:pPr>
            <a:r>
              <a:rPr lang="en-US" sz="2400" b="1" dirty="0">
                <a:solidFill>
                  <a:schemeClr val="accent1"/>
                </a:solidFill>
                <a:latin typeface="Verdana" panose="020B0604030504040204" pitchFamily="34" charset="0"/>
                <a:ea typeface="Verdana" panose="020B0604030504040204" pitchFamily="34" charset="0"/>
                <a:cs typeface="Verdana" panose="020B0604030504040204" pitchFamily="34" charset="0"/>
              </a:rPr>
              <a:t>Deloitte &amp; E3 Advantage</a:t>
            </a:r>
          </a:p>
        </p:txBody>
      </p:sp>
      <p:sp>
        <p:nvSpPr>
          <p:cNvPr id="8" name="TextBox 7"/>
          <p:cNvSpPr txBox="1"/>
          <p:nvPr/>
        </p:nvSpPr>
        <p:spPr>
          <a:xfrm>
            <a:off x="7797299" y="3965917"/>
            <a:ext cx="1551067" cy="1323439"/>
          </a:xfrm>
          <a:prstGeom prst="rect">
            <a:avLst/>
          </a:prstGeom>
          <a:noFill/>
        </p:spPr>
        <p:txBody>
          <a:bodyPr wrap="none" lIns="45720" rIns="45720" rtlCol="0">
            <a:spAutoFit/>
          </a:bodyPr>
          <a:lstStyle/>
          <a:p>
            <a:pPr algn="ctr">
              <a:spcBef>
                <a:spcPts val="400"/>
              </a:spcBef>
            </a:pPr>
            <a:r>
              <a:rPr lang="en-US" sz="8000" b="1" dirty="0">
                <a:solidFill>
                  <a:schemeClr val="accent1"/>
                </a:solidFill>
                <a:latin typeface="Verdana" panose="020B0604030504040204" pitchFamily="34" charset="0"/>
                <a:ea typeface="Verdana" panose="020B0604030504040204" pitchFamily="34" charset="0"/>
                <a:cs typeface="Verdana" panose="020B0604030504040204" pitchFamily="34" charset="0"/>
              </a:rPr>
              <a:t>01</a:t>
            </a:r>
            <a:endParaRPr lang="en-IN" sz="8000" b="1"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3" name="Straight Connector 12"/>
          <p:cNvCxnSpPr/>
          <p:nvPr/>
        </p:nvCxnSpPr>
        <p:spPr>
          <a:xfrm flipH="1">
            <a:off x="7555040" y="5372313"/>
            <a:ext cx="3133598" cy="2323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0296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5"/>
          <p:cNvSpPr>
            <a:spLocks noGrp="1"/>
          </p:cNvSpPr>
          <p:nvPr>
            <p:ph type="body" sz="quarter" idx="13"/>
          </p:nvPr>
        </p:nvSpPr>
        <p:spPr>
          <a:xfrm>
            <a:off x="439795" y="718571"/>
            <a:ext cx="9809051" cy="615554"/>
          </a:xfrm>
        </p:spPr>
        <p:txBody>
          <a:bodyPr/>
          <a:lstStyle/>
          <a:p>
            <a:r>
              <a:rPr lang="en-US" sz="1600" dirty="0"/>
              <a:t>Deloitte is the world's largest professional services firms; our consulting practice has been rated #1 globally by multiple analysts</a:t>
            </a:r>
            <a:endParaRPr lang="en-US" sz="1600" noProof="0" dirty="0"/>
          </a:p>
        </p:txBody>
      </p:sp>
      <p:sp>
        <p:nvSpPr>
          <p:cNvPr id="7" name="Title 2"/>
          <p:cNvSpPr>
            <a:spLocks noGrp="1"/>
          </p:cNvSpPr>
          <p:nvPr>
            <p:ph type="title"/>
          </p:nvPr>
        </p:nvSpPr>
        <p:spPr>
          <a:xfrm>
            <a:off x="439794" y="350132"/>
            <a:ext cx="9809052" cy="368438"/>
          </a:xfrm>
        </p:spPr>
        <p:txBody>
          <a:bodyPr/>
          <a:lstStyle/>
          <a:p>
            <a:r>
              <a:rPr lang="en-US" b="1" dirty="0"/>
              <a:t>About Deloitte</a:t>
            </a:r>
            <a:endParaRPr lang="en-US" b="1" noProof="0" dirty="0"/>
          </a:p>
        </p:txBody>
      </p:sp>
      <p:pic>
        <p:nvPicPr>
          <p:cNvPr id="10" name="Picture 9"/>
          <p:cNvPicPr>
            <a:picLocks noChangeAspect="1"/>
          </p:cNvPicPr>
          <p:nvPr/>
        </p:nvPicPr>
        <p:blipFill>
          <a:blip r:embed="rId3"/>
          <a:stretch>
            <a:fillRect/>
          </a:stretch>
        </p:blipFill>
        <p:spPr>
          <a:xfrm>
            <a:off x="354932" y="1394084"/>
            <a:ext cx="1518838" cy="725101"/>
          </a:xfrm>
          <a:prstGeom prst="rect">
            <a:avLst/>
          </a:prstGeom>
        </p:spPr>
      </p:pic>
      <p:pic>
        <p:nvPicPr>
          <p:cNvPr id="11" name="Picture 10"/>
          <p:cNvPicPr>
            <a:picLocks noChangeAspect="1"/>
          </p:cNvPicPr>
          <p:nvPr/>
        </p:nvPicPr>
        <p:blipFill>
          <a:blip r:embed="rId4"/>
          <a:stretch>
            <a:fillRect/>
          </a:stretch>
        </p:blipFill>
        <p:spPr>
          <a:xfrm>
            <a:off x="4129553" y="1394084"/>
            <a:ext cx="1279580" cy="725101"/>
          </a:xfrm>
          <a:prstGeom prst="rect">
            <a:avLst/>
          </a:prstGeom>
        </p:spPr>
      </p:pic>
      <p:pic>
        <p:nvPicPr>
          <p:cNvPr id="12" name="Picture 11"/>
          <p:cNvPicPr>
            <a:picLocks noChangeAspect="1"/>
          </p:cNvPicPr>
          <p:nvPr/>
        </p:nvPicPr>
        <p:blipFill>
          <a:blip r:embed="rId5"/>
          <a:stretch>
            <a:fillRect/>
          </a:stretch>
        </p:blipFill>
        <p:spPr>
          <a:xfrm>
            <a:off x="7121115" y="1394084"/>
            <a:ext cx="1032639" cy="725101"/>
          </a:xfrm>
          <a:prstGeom prst="rect">
            <a:avLst/>
          </a:prstGeom>
        </p:spPr>
      </p:pic>
      <p:sp>
        <p:nvSpPr>
          <p:cNvPr id="14" name="TextBox 13"/>
          <p:cNvSpPr txBox="1"/>
          <p:nvPr/>
        </p:nvSpPr>
        <p:spPr>
          <a:xfrm>
            <a:off x="1873770" y="1563363"/>
            <a:ext cx="2152833" cy="446276"/>
          </a:xfrm>
          <a:prstGeom prst="rect">
            <a:avLst/>
          </a:prstGeom>
          <a:noFill/>
        </p:spPr>
        <p:txBody>
          <a:bodyPr wrap="none" lIns="0" tIns="0" rIns="0" bIns="0" rtlCol="0">
            <a:spAutoFit/>
          </a:bodyPr>
          <a:lstStyle/>
          <a:p>
            <a:pPr marL="120650" indent="-120650">
              <a:spcBef>
                <a:spcPts val="600"/>
              </a:spcBef>
              <a:buSzPct val="100000"/>
              <a:buFont typeface="Arial" panose="020B0604020202020204" pitchFamily="34" charset="0"/>
              <a:buChar char="•"/>
            </a:pPr>
            <a:r>
              <a:rPr lang="en-US" sz="1200" dirty="0">
                <a:solidFill>
                  <a:srgbClr val="313131"/>
                </a:solidFill>
              </a:rPr>
              <a:t>263,900+ professionals</a:t>
            </a:r>
          </a:p>
          <a:p>
            <a:pPr marL="120650" indent="-120650">
              <a:spcBef>
                <a:spcPts val="600"/>
              </a:spcBef>
              <a:buSzPct val="100000"/>
              <a:buFont typeface="Arial" panose="020B0604020202020204" pitchFamily="34" charset="0"/>
              <a:buChar char="•"/>
            </a:pPr>
            <a:r>
              <a:rPr lang="en-US" sz="1200" dirty="0">
                <a:solidFill>
                  <a:srgbClr val="313131"/>
                </a:solidFill>
              </a:rPr>
              <a:t>Located in 154+ countries</a:t>
            </a:r>
          </a:p>
        </p:txBody>
      </p:sp>
      <p:sp>
        <p:nvSpPr>
          <p:cNvPr id="15" name="TextBox 14"/>
          <p:cNvSpPr txBox="1"/>
          <p:nvPr/>
        </p:nvSpPr>
        <p:spPr>
          <a:xfrm>
            <a:off x="5409133" y="1503516"/>
            <a:ext cx="1282402" cy="446276"/>
          </a:xfrm>
          <a:prstGeom prst="rect">
            <a:avLst/>
          </a:prstGeom>
          <a:noFill/>
        </p:spPr>
        <p:txBody>
          <a:bodyPr wrap="none" lIns="0" tIns="0" rIns="0" bIns="0" rtlCol="0">
            <a:spAutoFit/>
          </a:bodyPr>
          <a:lstStyle/>
          <a:p>
            <a:pPr>
              <a:spcBef>
                <a:spcPts val="600"/>
              </a:spcBef>
              <a:buSzPct val="100000"/>
            </a:pPr>
            <a:r>
              <a:rPr lang="en-US" sz="1200" dirty="0">
                <a:solidFill>
                  <a:srgbClr val="313131"/>
                </a:solidFill>
              </a:rPr>
              <a:t>Revenue of </a:t>
            </a:r>
          </a:p>
          <a:p>
            <a:pPr>
              <a:spcBef>
                <a:spcPts val="600"/>
              </a:spcBef>
              <a:buSzPct val="100000"/>
            </a:pPr>
            <a:r>
              <a:rPr lang="en-US" sz="1200" dirty="0">
                <a:solidFill>
                  <a:srgbClr val="313131"/>
                </a:solidFill>
              </a:rPr>
              <a:t>US$ 38.8 billion </a:t>
            </a:r>
          </a:p>
        </p:txBody>
      </p:sp>
      <p:sp>
        <p:nvSpPr>
          <p:cNvPr id="17" name="TextBox 16"/>
          <p:cNvSpPr txBox="1"/>
          <p:nvPr/>
        </p:nvSpPr>
        <p:spPr>
          <a:xfrm>
            <a:off x="8153755" y="1339521"/>
            <a:ext cx="2279400" cy="738664"/>
          </a:xfrm>
          <a:prstGeom prst="rect">
            <a:avLst/>
          </a:prstGeom>
          <a:noFill/>
        </p:spPr>
        <p:txBody>
          <a:bodyPr wrap="square" lIns="0" tIns="0" rIns="0" bIns="0" rtlCol="0">
            <a:spAutoFit/>
          </a:bodyPr>
          <a:lstStyle/>
          <a:p>
            <a:pPr>
              <a:spcBef>
                <a:spcPts val="600"/>
              </a:spcBef>
              <a:buSzPct val="100000"/>
            </a:pPr>
            <a:r>
              <a:rPr lang="en-US" sz="1200" dirty="0">
                <a:ea typeface="Verdana" panose="020B0604030504040204" pitchFamily="34" charset="0"/>
                <a:cs typeface="Times New Roman" panose="02020603050405020304" pitchFamily="18" charset="0"/>
              </a:rPr>
              <a:t>Deloitte serves 73% of the 95 Fortune Global 500 companies operating in Energy and Resources space</a:t>
            </a:r>
            <a:r>
              <a:rPr lang="en-US" sz="1200" dirty="0">
                <a:solidFill>
                  <a:srgbClr val="313131"/>
                </a:solidFill>
              </a:rPr>
              <a:t> </a:t>
            </a:r>
          </a:p>
        </p:txBody>
      </p:sp>
      <p:sp>
        <p:nvSpPr>
          <p:cNvPr id="18" name="TextBox 17"/>
          <p:cNvSpPr txBox="1"/>
          <p:nvPr/>
        </p:nvSpPr>
        <p:spPr>
          <a:xfrm>
            <a:off x="439794" y="2399922"/>
            <a:ext cx="2873032" cy="738664"/>
          </a:xfrm>
          <a:prstGeom prst="rect">
            <a:avLst/>
          </a:prstGeom>
          <a:noFill/>
        </p:spPr>
        <p:txBody>
          <a:bodyPr wrap="square" lIns="0" tIns="0" rIns="0" bIns="0" rtlCol="0">
            <a:spAutoFit/>
          </a:bodyPr>
          <a:lstStyle/>
          <a:p>
            <a:pPr>
              <a:spcBef>
                <a:spcPts val="600"/>
              </a:spcBef>
              <a:buSzPct val="100000"/>
            </a:pPr>
            <a:r>
              <a:rPr lang="en-US" sz="1200" i="1" dirty="0">
                <a:solidFill>
                  <a:srgbClr val="313131"/>
                </a:solidFill>
              </a:rPr>
              <a:t>For the fifth consecutive year, industry analysts have maintained their perspective on Deloitte Consulting practices globally..</a:t>
            </a:r>
          </a:p>
        </p:txBody>
      </p:sp>
      <p:sp>
        <p:nvSpPr>
          <p:cNvPr id="19" name="Right Arrow 18"/>
          <p:cNvSpPr/>
          <p:nvPr/>
        </p:nvSpPr>
        <p:spPr bwMode="gray">
          <a:xfrm>
            <a:off x="3434449" y="2586898"/>
            <a:ext cx="433013" cy="366164"/>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 name="Rectangle 19"/>
          <p:cNvSpPr/>
          <p:nvPr/>
        </p:nvSpPr>
        <p:spPr bwMode="gray">
          <a:xfrm>
            <a:off x="4081284" y="2399922"/>
            <a:ext cx="2780913" cy="615507"/>
          </a:xfrm>
          <a:prstGeom prst="rect">
            <a:avLst/>
          </a:prstGeom>
          <a:solidFill>
            <a:schemeClr val="accent3">
              <a:lumMod val="20000"/>
              <a:lumOff val="80000"/>
            </a:schemeClr>
          </a:solidFill>
          <a:ln w="19050" algn="ctr">
            <a:solidFill>
              <a:schemeClr val="accent3">
                <a:lumMod val="20000"/>
                <a:lumOff val="80000"/>
              </a:schemeClr>
            </a:solidFill>
            <a:miter lim="800000"/>
            <a:headEnd/>
            <a:tailEnd/>
          </a:ln>
        </p:spPr>
        <p:txBody>
          <a:bodyPr wrap="square" lIns="88900" tIns="88900" rIns="88900" bIns="88900" rtlCol="0" anchor="ctr"/>
          <a:lstStyle/>
          <a:p>
            <a:pPr marL="465138">
              <a:lnSpc>
                <a:spcPct val="106000"/>
              </a:lnSpc>
              <a:buFont typeface="Wingdings 2" pitchFamily="18" charset="2"/>
              <a:buNone/>
            </a:pPr>
            <a:r>
              <a:rPr lang="en-US" sz="1200" b="1" dirty="0"/>
              <a:t>Globally in Consulting based by Gartner</a:t>
            </a:r>
          </a:p>
        </p:txBody>
      </p:sp>
      <p:sp>
        <p:nvSpPr>
          <p:cNvPr id="21" name="Rectangle 20"/>
          <p:cNvSpPr/>
          <p:nvPr/>
        </p:nvSpPr>
        <p:spPr bwMode="gray">
          <a:xfrm>
            <a:off x="7121115" y="2384932"/>
            <a:ext cx="3312039" cy="852944"/>
          </a:xfrm>
          <a:prstGeom prst="rect">
            <a:avLst/>
          </a:prstGeom>
          <a:solidFill>
            <a:schemeClr val="accent3">
              <a:lumMod val="20000"/>
              <a:lumOff val="80000"/>
            </a:schemeClr>
          </a:solidFill>
          <a:ln w="19050" algn="ctr">
            <a:solidFill>
              <a:schemeClr val="accent3">
                <a:lumMod val="20000"/>
                <a:lumOff val="80000"/>
              </a:schemeClr>
            </a:solidFill>
            <a:miter lim="800000"/>
            <a:headEnd/>
            <a:tailEnd/>
          </a:ln>
        </p:spPr>
        <p:txBody>
          <a:bodyPr wrap="square" lIns="88900" tIns="88900" rIns="88900" bIns="88900" rtlCol="0" anchor="ctr"/>
          <a:lstStyle/>
          <a:p>
            <a:pPr>
              <a:lnSpc>
                <a:spcPct val="106000"/>
              </a:lnSpc>
              <a:buFont typeface="Wingdings 2" pitchFamily="18" charset="2"/>
              <a:buNone/>
            </a:pPr>
            <a:r>
              <a:rPr lang="en-US" sz="1200" b="1" dirty="0"/>
              <a:t>A worldwide leader</a:t>
            </a:r>
          </a:p>
          <a:p>
            <a:pPr>
              <a:lnSpc>
                <a:spcPct val="106000"/>
              </a:lnSpc>
              <a:buFont typeface="Wingdings 2" pitchFamily="18" charset="2"/>
              <a:buNone/>
            </a:pPr>
            <a:r>
              <a:rPr lang="en-US" sz="1200" b="1" dirty="0"/>
              <a:t>in Business Consulting Services based on capability and strategy by IDC </a:t>
            </a:r>
            <a:r>
              <a:rPr lang="en-US" sz="1200" b="1" dirty="0" err="1"/>
              <a:t>MarketScape</a:t>
            </a:r>
            <a:endParaRPr lang="en-US" sz="1200" b="1" dirty="0"/>
          </a:p>
        </p:txBody>
      </p:sp>
      <p:sp>
        <p:nvSpPr>
          <p:cNvPr id="22" name="TextBox 21"/>
          <p:cNvSpPr txBox="1"/>
          <p:nvPr/>
        </p:nvSpPr>
        <p:spPr>
          <a:xfrm>
            <a:off x="4126380" y="2673303"/>
            <a:ext cx="323807" cy="246221"/>
          </a:xfrm>
          <a:prstGeom prst="rect">
            <a:avLst/>
          </a:prstGeom>
          <a:noFill/>
        </p:spPr>
        <p:txBody>
          <a:bodyPr wrap="none" lIns="0" tIns="0" rIns="0" bIns="0" rtlCol="0">
            <a:spAutoFit/>
          </a:bodyPr>
          <a:lstStyle/>
          <a:p>
            <a:pPr>
              <a:spcBef>
                <a:spcPts val="600"/>
              </a:spcBef>
              <a:buSzPct val="100000"/>
            </a:pPr>
            <a:r>
              <a:rPr lang="en-US" sz="1600" b="1" dirty="0">
                <a:solidFill>
                  <a:srgbClr val="313131"/>
                </a:solidFill>
              </a:rPr>
              <a:t>#1</a:t>
            </a:r>
          </a:p>
        </p:txBody>
      </p:sp>
      <p:sp>
        <p:nvSpPr>
          <p:cNvPr id="23" name="Rectangle 22"/>
          <p:cNvSpPr/>
          <p:nvPr/>
        </p:nvSpPr>
        <p:spPr bwMode="gray">
          <a:xfrm>
            <a:off x="439794" y="3448014"/>
            <a:ext cx="9993360" cy="299803"/>
          </a:xfrm>
          <a:prstGeom prst="rect">
            <a:avLst/>
          </a:prstGeom>
          <a:solidFill>
            <a:schemeClr val="accent6">
              <a:lumMod val="40000"/>
              <a:lumOff val="60000"/>
            </a:schemeClr>
          </a:solidFill>
          <a:ln w="19050" algn="ctr">
            <a:solidFill>
              <a:schemeClr val="accent6">
                <a:lumMod val="40000"/>
                <a:lumOff val="6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Deloitte in India</a:t>
            </a:r>
          </a:p>
        </p:txBody>
      </p:sp>
      <p:grpSp>
        <p:nvGrpSpPr>
          <p:cNvPr id="2" name="Group 1"/>
          <p:cNvGrpSpPr/>
          <p:nvPr/>
        </p:nvGrpSpPr>
        <p:grpSpPr>
          <a:xfrm>
            <a:off x="6822349" y="4653282"/>
            <a:ext cx="1941507" cy="2074583"/>
            <a:chOff x="90512" y="4033586"/>
            <a:chExt cx="2922511" cy="2679253"/>
          </a:xfrm>
        </p:grpSpPr>
        <p:pic>
          <p:nvPicPr>
            <p:cNvPr id="24" name="Picture 23"/>
            <p:cNvPicPr>
              <a:picLocks noChangeAspect="1"/>
            </p:cNvPicPr>
            <p:nvPr/>
          </p:nvPicPr>
          <p:blipFill>
            <a:blip r:embed="rId6"/>
            <a:stretch>
              <a:fillRect/>
            </a:stretch>
          </p:blipFill>
          <p:spPr>
            <a:xfrm>
              <a:off x="439794" y="4033586"/>
              <a:ext cx="2573229" cy="2679253"/>
            </a:xfrm>
            <a:prstGeom prst="rect">
              <a:avLst/>
            </a:prstGeom>
          </p:spPr>
        </p:pic>
        <p:sp>
          <p:nvSpPr>
            <p:cNvPr id="25" name="Rectangle 24"/>
            <p:cNvSpPr/>
            <p:nvPr/>
          </p:nvSpPr>
          <p:spPr>
            <a:xfrm>
              <a:off x="1264468" y="4487366"/>
              <a:ext cx="1101375" cy="357735"/>
            </a:xfrm>
            <a:prstGeom prst="rect">
              <a:avLst/>
            </a:prstGeom>
          </p:spPr>
          <p:txBody>
            <a:bodyPr wrap="none">
              <a:spAutoFit/>
            </a:bodyPr>
            <a:lstStyle/>
            <a:p>
              <a:r>
                <a:rPr lang="en-US" sz="1200" b="1" dirty="0">
                  <a:solidFill>
                    <a:srgbClr val="000000"/>
                  </a:solidFill>
                  <a:latin typeface="Calibri" panose="020F0502020204030204" pitchFamily="34" charset="0"/>
                </a:rPr>
                <a:t>Gurgaon</a:t>
              </a:r>
              <a:endParaRPr lang="en-US" sz="1200" b="1" dirty="0"/>
            </a:p>
          </p:txBody>
        </p:sp>
        <p:sp>
          <p:nvSpPr>
            <p:cNvPr id="26" name="Rectangle 25"/>
            <p:cNvSpPr/>
            <p:nvPr/>
          </p:nvSpPr>
          <p:spPr>
            <a:xfrm>
              <a:off x="1915864" y="4909193"/>
              <a:ext cx="962123" cy="276999"/>
            </a:xfrm>
            <a:prstGeom prst="rect">
              <a:avLst/>
            </a:prstGeom>
          </p:spPr>
          <p:txBody>
            <a:bodyPr wrap="none">
              <a:spAutoFit/>
            </a:bodyPr>
            <a:lstStyle/>
            <a:p>
              <a:r>
                <a:rPr lang="en-US" sz="1200" b="1" dirty="0">
                  <a:solidFill>
                    <a:srgbClr val="000000"/>
                  </a:solidFill>
                  <a:latin typeface="Calibri" panose="020F0502020204030204" pitchFamily="34" charset="0"/>
                </a:rPr>
                <a:t>Jamshedpur</a:t>
              </a:r>
              <a:endParaRPr lang="en-US" sz="1200" b="1" dirty="0"/>
            </a:p>
          </p:txBody>
        </p:sp>
        <p:sp>
          <p:nvSpPr>
            <p:cNvPr id="27" name="Rectangle 26"/>
            <p:cNvSpPr/>
            <p:nvPr/>
          </p:nvSpPr>
          <p:spPr>
            <a:xfrm>
              <a:off x="1873770" y="5323103"/>
              <a:ext cx="661528" cy="276999"/>
            </a:xfrm>
            <a:prstGeom prst="rect">
              <a:avLst/>
            </a:prstGeom>
          </p:spPr>
          <p:txBody>
            <a:bodyPr wrap="none">
              <a:spAutoFit/>
            </a:bodyPr>
            <a:lstStyle/>
            <a:p>
              <a:r>
                <a:rPr lang="en-US" sz="1200" b="1" dirty="0">
                  <a:solidFill>
                    <a:srgbClr val="000000"/>
                  </a:solidFill>
                  <a:latin typeface="Calibri" panose="020F0502020204030204" pitchFamily="34" charset="0"/>
                </a:rPr>
                <a:t>Kolkata</a:t>
              </a:r>
              <a:endParaRPr lang="en-US" sz="1200" b="1" dirty="0"/>
            </a:p>
          </p:txBody>
        </p:sp>
        <p:sp>
          <p:nvSpPr>
            <p:cNvPr id="28" name="Rectangle 27"/>
            <p:cNvSpPr/>
            <p:nvPr/>
          </p:nvSpPr>
          <p:spPr>
            <a:xfrm>
              <a:off x="1379554" y="5584707"/>
              <a:ext cx="881652" cy="276999"/>
            </a:xfrm>
            <a:prstGeom prst="rect">
              <a:avLst/>
            </a:prstGeom>
          </p:spPr>
          <p:txBody>
            <a:bodyPr wrap="none">
              <a:spAutoFit/>
            </a:bodyPr>
            <a:lstStyle/>
            <a:p>
              <a:r>
                <a:rPr lang="en-US" sz="1200" b="1" dirty="0">
                  <a:solidFill>
                    <a:srgbClr val="000000"/>
                  </a:solidFill>
                  <a:latin typeface="Calibri" panose="020F0502020204030204" pitchFamily="34" charset="0"/>
                </a:rPr>
                <a:t>Hyderabad</a:t>
              </a:r>
              <a:endParaRPr lang="en-US" sz="1200" b="1" dirty="0"/>
            </a:p>
          </p:txBody>
        </p:sp>
        <p:sp>
          <p:nvSpPr>
            <p:cNvPr id="29" name="Rectangle 28"/>
            <p:cNvSpPr/>
            <p:nvPr/>
          </p:nvSpPr>
          <p:spPr>
            <a:xfrm>
              <a:off x="1538788" y="6046809"/>
              <a:ext cx="707245" cy="276999"/>
            </a:xfrm>
            <a:prstGeom prst="rect">
              <a:avLst/>
            </a:prstGeom>
          </p:spPr>
          <p:txBody>
            <a:bodyPr wrap="none">
              <a:spAutoFit/>
            </a:bodyPr>
            <a:lstStyle/>
            <a:p>
              <a:r>
                <a:rPr lang="en-US" sz="1200" b="1" dirty="0">
                  <a:solidFill>
                    <a:srgbClr val="000000"/>
                  </a:solidFill>
                  <a:latin typeface="Calibri" panose="020F0502020204030204" pitchFamily="34" charset="0"/>
                </a:rPr>
                <a:t>Chennai</a:t>
              </a:r>
              <a:endParaRPr lang="en-US" sz="1200" b="1" dirty="0"/>
            </a:p>
          </p:txBody>
        </p:sp>
        <p:sp>
          <p:nvSpPr>
            <p:cNvPr id="30" name="Rectangle 29"/>
            <p:cNvSpPr/>
            <p:nvPr/>
          </p:nvSpPr>
          <p:spPr>
            <a:xfrm>
              <a:off x="1379554" y="6292261"/>
              <a:ext cx="935064" cy="276999"/>
            </a:xfrm>
            <a:prstGeom prst="rect">
              <a:avLst/>
            </a:prstGeom>
          </p:spPr>
          <p:txBody>
            <a:bodyPr wrap="none">
              <a:spAutoFit/>
            </a:bodyPr>
            <a:lstStyle/>
            <a:p>
              <a:r>
                <a:rPr lang="en-US" sz="1200" b="1" dirty="0">
                  <a:solidFill>
                    <a:srgbClr val="000000"/>
                  </a:solidFill>
                  <a:latin typeface="Calibri" panose="020F0502020204030204" pitchFamily="34" charset="0"/>
                </a:rPr>
                <a:t>Coimbatore</a:t>
              </a:r>
              <a:endParaRPr lang="en-US" sz="1200" b="1" dirty="0"/>
            </a:p>
          </p:txBody>
        </p:sp>
        <p:sp>
          <p:nvSpPr>
            <p:cNvPr id="31" name="Rectangle 30"/>
            <p:cNvSpPr/>
            <p:nvPr/>
          </p:nvSpPr>
          <p:spPr>
            <a:xfrm>
              <a:off x="641460" y="6323808"/>
              <a:ext cx="536429" cy="276999"/>
            </a:xfrm>
            <a:prstGeom prst="rect">
              <a:avLst/>
            </a:prstGeom>
          </p:spPr>
          <p:txBody>
            <a:bodyPr wrap="none">
              <a:spAutoFit/>
            </a:bodyPr>
            <a:lstStyle/>
            <a:p>
              <a:r>
                <a:rPr lang="en-US" sz="1200" b="1" dirty="0">
                  <a:solidFill>
                    <a:srgbClr val="000000"/>
                  </a:solidFill>
                  <a:latin typeface="Calibri" panose="020F0502020204030204" pitchFamily="34" charset="0"/>
                </a:rPr>
                <a:t>Kochi</a:t>
              </a:r>
              <a:endParaRPr lang="en-US" sz="1200" b="1" dirty="0"/>
            </a:p>
          </p:txBody>
        </p:sp>
        <p:sp>
          <p:nvSpPr>
            <p:cNvPr id="32" name="Rectangle 31"/>
            <p:cNvSpPr/>
            <p:nvPr/>
          </p:nvSpPr>
          <p:spPr>
            <a:xfrm>
              <a:off x="422077" y="6013221"/>
              <a:ext cx="837665" cy="276999"/>
            </a:xfrm>
            <a:prstGeom prst="rect">
              <a:avLst/>
            </a:prstGeom>
          </p:spPr>
          <p:txBody>
            <a:bodyPr wrap="none">
              <a:spAutoFit/>
            </a:bodyPr>
            <a:lstStyle/>
            <a:p>
              <a:r>
                <a:rPr lang="en-US" sz="1200" b="1" dirty="0">
                  <a:solidFill>
                    <a:srgbClr val="000000"/>
                  </a:solidFill>
                  <a:latin typeface="Calibri" panose="020F0502020204030204" pitchFamily="34" charset="0"/>
                </a:rPr>
                <a:t>Bengaluru</a:t>
              </a:r>
              <a:endParaRPr lang="en-US" sz="1200" b="1" dirty="0"/>
            </a:p>
          </p:txBody>
        </p:sp>
        <p:sp>
          <p:nvSpPr>
            <p:cNvPr id="33" name="Rectangle 32"/>
            <p:cNvSpPr/>
            <p:nvPr/>
          </p:nvSpPr>
          <p:spPr>
            <a:xfrm>
              <a:off x="468528" y="5762689"/>
              <a:ext cx="441146" cy="276999"/>
            </a:xfrm>
            <a:prstGeom prst="rect">
              <a:avLst/>
            </a:prstGeom>
          </p:spPr>
          <p:txBody>
            <a:bodyPr wrap="none">
              <a:spAutoFit/>
            </a:bodyPr>
            <a:lstStyle/>
            <a:p>
              <a:r>
                <a:rPr lang="en-US" sz="1200" b="1" dirty="0">
                  <a:solidFill>
                    <a:srgbClr val="000000"/>
                  </a:solidFill>
                  <a:latin typeface="Calibri" panose="020F0502020204030204" pitchFamily="34" charset="0"/>
                </a:rPr>
                <a:t>Goa</a:t>
              </a:r>
              <a:endParaRPr lang="en-US" sz="1200" b="1" dirty="0"/>
            </a:p>
          </p:txBody>
        </p:sp>
        <p:sp>
          <p:nvSpPr>
            <p:cNvPr id="34" name="Rectangle 33"/>
            <p:cNvSpPr/>
            <p:nvPr/>
          </p:nvSpPr>
          <p:spPr>
            <a:xfrm>
              <a:off x="176951" y="5403990"/>
              <a:ext cx="724878" cy="276999"/>
            </a:xfrm>
            <a:prstGeom prst="rect">
              <a:avLst/>
            </a:prstGeom>
          </p:spPr>
          <p:txBody>
            <a:bodyPr wrap="none">
              <a:spAutoFit/>
            </a:bodyPr>
            <a:lstStyle/>
            <a:p>
              <a:r>
                <a:rPr lang="en-US" sz="1200" b="1" dirty="0">
                  <a:solidFill>
                    <a:srgbClr val="000000"/>
                  </a:solidFill>
                  <a:latin typeface="Calibri" panose="020F0502020204030204" pitchFamily="34" charset="0"/>
                </a:rPr>
                <a:t>Mumbai</a:t>
              </a:r>
              <a:endParaRPr lang="en-US" sz="1200" b="1" dirty="0"/>
            </a:p>
          </p:txBody>
        </p:sp>
        <p:sp>
          <p:nvSpPr>
            <p:cNvPr id="35" name="Rectangle 34"/>
            <p:cNvSpPr/>
            <p:nvPr/>
          </p:nvSpPr>
          <p:spPr>
            <a:xfrm>
              <a:off x="995679" y="5345464"/>
              <a:ext cx="510076" cy="276999"/>
            </a:xfrm>
            <a:prstGeom prst="rect">
              <a:avLst/>
            </a:prstGeom>
          </p:spPr>
          <p:txBody>
            <a:bodyPr wrap="none">
              <a:spAutoFit/>
            </a:bodyPr>
            <a:lstStyle/>
            <a:p>
              <a:r>
                <a:rPr lang="en-US" sz="1200" b="1" dirty="0">
                  <a:solidFill>
                    <a:srgbClr val="000000"/>
                  </a:solidFill>
                  <a:latin typeface="Calibri" panose="020F0502020204030204" pitchFamily="34" charset="0"/>
                </a:rPr>
                <a:t>Pune</a:t>
              </a:r>
              <a:endParaRPr lang="en-US" sz="1200" b="1" dirty="0"/>
            </a:p>
          </p:txBody>
        </p:sp>
        <p:sp>
          <p:nvSpPr>
            <p:cNvPr id="36" name="Rectangle 35"/>
            <p:cNvSpPr/>
            <p:nvPr/>
          </p:nvSpPr>
          <p:spPr>
            <a:xfrm>
              <a:off x="90512" y="4882837"/>
              <a:ext cx="963725" cy="276999"/>
            </a:xfrm>
            <a:prstGeom prst="rect">
              <a:avLst/>
            </a:prstGeom>
          </p:spPr>
          <p:txBody>
            <a:bodyPr wrap="none">
              <a:spAutoFit/>
            </a:bodyPr>
            <a:lstStyle/>
            <a:p>
              <a:r>
                <a:rPr lang="en-US" sz="1200" b="1" dirty="0">
                  <a:solidFill>
                    <a:srgbClr val="000000"/>
                  </a:solidFill>
                  <a:latin typeface="Calibri" panose="020F0502020204030204" pitchFamily="34" charset="0"/>
                </a:rPr>
                <a:t>Ahmedabad</a:t>
              </a:r>
              <a:endParaRPr lang="en-US" sz="1200" b="1" dirty="0"/>
            </a:p>
          </p:txBody>
        </p:sp>
        <p:sp>
          <p:nvSpPr>
            <p:cNvPr id="37" name="Rectangle 36"/>
            <p:cNvSpPr/>
            <p:nvPr/>
          </p:nvSpPr>
          <p:spPr>
            <a:xfrm>
              <a:off x="970910" y="5078215"/>
              <a:ext cx="641266" cy="276999"/>
            </a:xfrm>
            <a:prstGeom prst="rect">
              <a:avLst/>
            </a:prstGeom>
          </p:spPr>
          <p:txBody>
            <a:bodyPr wrap="none">
              <a:spAutoFit/>
            </a:bodyPr>
            <a:lstStyle/>
            <a:p>
              <a:r>
                <a:rPr lang="en-US" sz="1200" b="1" dirty="0">
                  <a:solidFill>
                    <a:srgbClr val="000000"/>
                  </a:solidFill>
                  <a:latin typeface="Calibri" panose="020F0502020204030204" pitchFamily="34" charset="0"/>
                </a:rPr>
                <a:t>Baroda</a:t>
              </a:r>
              <a:endParaRPr lang="en-US" sz="1200" b="1" dirty="0"/>
            </a:p>
          </p:txBody>
        </p:sp>
      </p:grpSp>
      <p:pic>
        <p:nvPicPr>
          <p:cNvPr id="38" name="Picture 37"/>
          <p:cNvPicPr>
            <a:picLocks noChangeAspect="1"/>
          </p:cNvPicPr>
          <p:nvPr/>
        </p:nvPicPr>
        <p:blipFill>
          <a:blip r:embed="rId7"/>
          <a:stretch>
            <a:fillRect/>
          </a:stretch>
        </p:blipFill>
        <p:spPr>
          <a:xfrm>
            <a:off x="5273677" y="4130043"/>
            <a:ext cx="1884805" cy="508835"/>
          </a:xfrm>
          <a:prstGeom prst="rect">
            <a:avLst/>
          </a:prstGeom>
        </p:spPr>
      </p:pic>
      <p:graphicFrame>
        <p:nvGraphicFramePr>
          <p:cNvPr id="40" name="Table 39"/>
          <p:cNvGraphicFramePr>
            <a:graphicFrameLocks noGrp="1"/>
          </p:cNvGraphicFramePr>
          <p:nvPr>
            <p:extLst>
              <p:ext uri="{D42A27DB-BD31-4B8C-83A1-F6EECF244321}">
                <p14:modId xmlns:p14="http://schemas.microsoft.com/office/powerpoint/2010/main" val="61388637"/>
              </p:ext>
            </p:extLst>
          </p:nvPr>
        </p:nvGraphicFramePr>
        <p:xfrm>
          <a:off x="5269477" y="4750233"/>
          <a:ext cx="1707237" cy="1676400"/>
        </p:xfrm>
        <a:graphic>
          <a:graphicData uri="http://schemas.openxmlformats.org/drawingml/2006/table">
            <a:tbl>
              <a:tblPr>
                <a:tableStyleId>{2D5ABB26-0587-4C30-8999-92F81FD0307C}</a:tableStyleId>
              </a:tblPr>
              <a:tblGrid>
                <a:gridCol w="1707237">
                  <a:extLst>
                    <a:ext uri="{9D8B030D-6E8A-4147-A177-3AD203B41FA5}">
                      <a16:colId xmlns:a16="http://schemas.microsoft.com/office/drawing/2014/main" val="20000"/>
                    </a:ext>
                  </a:extLst>
                </a:gridCol>
              </a:tblGrid>
              <a:tr h="246615">
                <a:tc>
                  <a:txBody>
                    <a:bodyPr/>
                    <a:lstStyle/>
                    <a:p>
                      <a:r>
                        <a:rPr lang="en-US" sz="1600" b="1" i="1" dirty="0">
                          <a:solidFill>
                            <a:schemeClr val="tx1"/>
                          </a:solidFill>
                        </a:rPr>
                        <a:t>30,000+ </a:t>
                      </a:r>
                      <a:r>
                        <a:rPr lang="en-US" sz="1100" b="1" i="1" dirty="0">
                          <a:solidFill>
                            <a:schemeClr val="tx1"/>
                          </a:solidFill>
                        </a:rPr>
                        <a:t>professionals</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6615">
                <a:tc>
                  <a:txBody>
                    <a:bodyPr/>
                    <a:lstStyle/>
                    <a:p>
                      <a:r>
                        <a:rPr lang="en-US" sz="1100" b="1" i="1" dirty="0">
                          <a:solidFill>
                            <a:schemeClr val="tx1"/>
                          </a:solidFill>
                        </a:rPr>
                        <a:t>across </a:t>
                      </a:r>
                      <a:r>
                        <a:rPr lang="en-US" sz="1600" b="1" i="1" dirty="0">
                          <a:solidFill>
                            <a:schemeClr val="tx1"/>
                          </a:solidFill>
                        </a:rPr>
                        <a:t>13</a:t>
                      </a:r>
                      <a:r>
                        <a:rPr lang="en-US" sz="1600" b="1" i="1" baseline="0" dirty="0">
                          <a:solidFill>
                            <a:schemeClr val="tx1"/>
                          </a:solidFill>
                        </a:rPr>
                        <a:t> </a:t>
                      </a:r>
                      <a:r>
                        <a:rPr lang="en-US" sz="1100" b="1" i="1" baseline="0" dirty="0">
                          <a:solidFill>
                            <a:schemeClr val="tx1"/>
                          </a:solidFill>
                        </a:rPr>
                        <a:t>locations</a:t>
                      </a:r>
                      <a:endParaRPr lang="en-US" sz="1100" b="1" i="1"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3603">
                <a:tc>
                  <a:txBody>
                    <a:bodyPr/>
                    <a:lstStyle/>
                    <a:p>
                      <a:r>
                        <a:rPr lang="en-US" sz="1600" b="1" i="1" dirty="0">
                          <a:solidFill>
                            <a:schemeClr val="tx1"/>
                          </a:solidFill>
                        </a:rPr>
                        <a:t>120 </a:t>
                      </a:r>
                      <a:r>
                        <a:rPr lang="en-US" sz="1100" b="1" i="1" dirty="0">
                          <a:solidFill>
                            <a:schemeClr val="tx1"/>
                          </a:solidFill>
                        </a:rPr>
                        <a:t>years of successful client service</a:t>
                      </a: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41" name="Rectangle 40"/>
          <p:cNvSpPr/>
          <p:nvPr/>
        </p:nvSpPr>
        <p:spPr bwMode="gray">
          <a:xfrm>
            <a:off x="347640" y="6828002"/>
            <a:ext cx="9993360" cy="299803"/>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nSpc>
                <a:spcPct val="106000"/>
              </a:lnSpc>
              <a:buFont typeface="Wingdings 2" pitchFamily="18" charset="2"/>
              <a:buNone/>
            </a:pPr>
            <a:r>
              <a:rPr lang="en-US" sz="1400" b="1" i="1" dirty="0">
                <a:solidFill>
                  <a:schemeClr val="bg1"/>
                </a:solidFill>
              </a:rPr>
              <a:t>Right combination of global talent and expertise with regional experience and local insights</a:t>
            </a:r>
          </a:p>
        </p:txBody>
      </p:sp>
      <p:sp>
        <p:nvSpPr>
          <p:cNvPr id="44" name="Text Box 2"/>
          <p:cNvSpPr txBox="1">
            <a:spLocks noChangeArrowheads="1"/>
          </p:cNvSpPr>
          <p:nvPr/>
        </p:nvSpPr>
        <p:spPr bwMode="auto">
          <a:xfrm>
            <a:off x="8950131" y="4180402"/>
            <a:ext cx="1390869" cy="2547463"/>
          </a:xfrm>
          <a:prstGeom prst="rect">
            <a:avLst/>
          </a:prstGeom>
          <a:solidFill>
            <a:schemeClr val="accent1">
              <a:lumMod val="20000"/>
              <a:lumOff val="80000"/>
            </a:schemeClr>
          </a:solidFill>
          <a:ln w="9525">
            <a:solidFill>
              <a:srgbClr val="00B050"/>
            </a:solidFill>
            <a:prstDash val="dash"/>
            <a:miter lim="800000"/>
            <a:headEnd/>
            <a:tailEnd/>
          </a:ln>
        </p:spPr>
        <p:txBody>
          <a:bodyPr rot="0" vert="horz" wrap="square" lIns="91440" tIns="45720" rIns="91440" bIns="45720" anchor="t" anchorCtr="0">
            <a:noAutofit/>
          </a:bodyPr>
          <a:lstStyle/>
          <a:p>
            <a:pPr>
              <a:lnSpc>
                <a:spcPts val="1200"/>
              </a:lnSpc>
              <a:spcAft>
                <a:spcPts val="0"/>
              </a:spcAft>
            </a:pPr>
            <a:r>
              <a:rPr lang="en-IN" sz="1000" b="1" dirty="0">
                <a:effectLst/>
                <a:ea typeface="Calibri" panose="020F0502020204030204" pitchFamily="34" charset="0"/>
                <a:cs typeface="Times New Roman" panose="02020603050405020304" pitchFamily="18" charset="0"/>
              </a:rPr>
              <a:t>Our Presence in West Bengal-</a:t>
            </a:r>
            <a:endParaRPr lang="en-IN" sz="1200" dirty="0">
              <a:effectLst/>
              <a:ea typeface="Calibri" panose="020F0502020204030204" pitchFamily="34" charset="0"/>
              <a:cs typeface="Times New Roman" panose="02020603050405020304" pitchFamily="18" charset="0"/>
            </a:endParaRPr>
          </a:p>
          <a:p>
            <a:pPr>
              <a:lnSpc>
                <a:spcPts val="1200"/>
              </a:lnSpc>
              <a:spcAft>
                <a:spcPts val="0"/>
              </a:spcAft>
            </a:pPr>
            <a:r>
              <a:rPr lang="en-IN" sz="900" dirty="0">
                <a:effectLst/>
                <a:ea typeface="Calibri" panose="020F0502020204030204" pitchFamily="34" charset="0"/>
                <a:cs typeface="Times New Roman" panose="02020603050405020304" pitchFamily="18" charset="0"/>
              </a:rPr>
              <a:t>With 350+ professional strength and 30+ professionals focusing exclusively in Energy &amp; Resources, Deloitte in Kolkata brings unparalleled experience and exemplary relationships with Government of West Bengal</a:t>
            </a:r>
            <a:endParaRPr lang="en-IN" sz="1200" dirty="0">
              <a:effectLst/>
              <a:ea typeface="Calibri" panose="020F0502020204030204" pitchFamily="34" charset="0"/>
              <a:cs typeface="Times New Roman" panose="02020603050405020304" pitchFamily="18" charset="0"/>
            </a:endParaRPr>
          </a:p>
          <a:p>
            <a:pPr>
              <a:lnSpc>
                <a:spcPts val="1200"/>
              </a:lnSpc>
              <a:spcAft>
                <a:spcPts val="0"/>
              </a:spcAft>
            </a:pPr>
            <a:r>
              <a:rPr lang="en-IN" sz="900" dirty="0">
                <a:effectLst/>
                <a:ea typeface="Calibri" panose="020F0502020204030204" pitchFamily="34" charset="0"/>
                <a:cs typeface="Times New Roman" panose="02020603050405020304" pitchFamily="18" charset="0"/>
              </a:rPr>
              <a:t> </a:t>
            </a:r>
            <a:endParaRPr lang="en-IN" sz="1200" dirty="0">
              <a:effectLst/>
              <a:ea typeface="Calibri" panose="020F0502020204030204" pitchFamily="34" charset="0"/>
              <a:cs typeface="Times New Roman" panose="02020603050405020304" pitchFamily="18" charset="0"/>
            </a:endParaRPr>
          </a:p>
          <a:p>
            <a:pPr>
              <a:lnSpc>
                <a:spcPts val="1200"/>
              </a:lnSpc>
              <a:spcAft>
                <a:spcPts val="0"/>
              </a:spcAft>
            </a:pPr>
            <a:r>
              <a:rPr lang="en-IN" sz="1000" dirty="0">
                <a:effectLst/>
                <a:ea typeface="Calibri" panose="020F0502020204030204" pitchFamily="34" charset="0"/>
                <a:cs typeface="Times New Roman" panose="02020603050405020304" pitchFamily="18" charset="0"/>
              </a:rPr>
              <a:t> </a:t>
            </a:r>
            <a:endParaRPr lang="en-IN" sz="1200" dirty="0">
              <a:effectLst/>
              <a:ea typeface="Calibri" panose="020F0502020204030204" pitchFamily="34" charset="0"/>
              <a:cs typeface="Times New Roman" panose="02020603050405020304" pitchFamily="18" charset="0"/>
            </a:endParaRPr>
          </a:p>
        </p:txBody>
      </p:sp>
      <p:cxnSp>
        <p:nvCxnSpPr>
          <p:cNvPr id="4" name="Straight Arrow Connector 3"/>
          <p:cNvCxnSpPr/>
          <p:nvPr/>
        </p:nvCxnSpPr>
        <p:spPr>
          <a:xfrm flipV="1">
            <a:off x="8166787" y="4532009"/>
            <a:ext cx="770854" cy="110586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75" name="Picture 74"/>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0835" y="3942353"/>
            <a:ext cx="4693285" cy="1153795"/>
          </a:xfrm>
          <a:prstGeom prst="rect">
            <a:avLst/>
          </a:prstGeom>
          <a:noFill/>
        </p:spPr>
      </p:pic>
      <p:pic>
        <p:nvPicPr>
          <p:cNvPr id="76" name="Picture 75"/>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47970" y="5148853"/>
            <a:ext cx="4707255" cy="857250"/>
          </a:xfrm>
          <a:prstGeom prst="rect">
            <a:avLst/>
          </a:prstGeom>
          <a:noFill/>
        </p:spPr>
      </p:pic>
      <p:sp>
        <p:nvSpPr>
          <p:cNvPr id="77" name="Rectangle 76"/>
          <p:cNvSpPr/>
          <p:nvPr/>
        </p:nvSpPr>
        <p:spPr>
          <a:xfrm>
            <a:off x="439794" y="6182486"/>
            <a:ext cx="5343525" cy="461665"/>
          </a:xfrm>
          <a:prstGeom prst="rect">
            <a:avLst/>
          </a:prstGeom>
        </p:spPr>
        <p:txBody>
          <a:bodyPr>
            <a:spAutoFit/>
          </a:bodyPr>
          <a:lstStyle/>
          <a:p>
            <a:r>
              <a:rPr lang="en-US" sz="1200" b="1" i="1">
                <a:solidFill>
                  <a:schemeClr val="accent1"/>
                </a:solidFill>
                <a:latin typeface="Verdana" panose="020B0604030504040204" pitchFamily="34" charset="0"/>
                <a:ea typeface="Times New Roman" panose="02020603050405020304" pitchFamily="18" charset="0"/>
                <a:cs typeface="Times New Roman" panose="02020603050405020304" pitchFamily="18" charset="0"/>
              </a:rPr>
              <a:t>In India, Deloitte serves 36 of 52 BT500 Energy &amp; Resources Companies. </a:t>
            </a:r>
            <a:endParaRPr lang="en-IN" sz="1200" i="1" dirty="0">
              <a:solidFill>
                <a:schemeClr val="accent1"/>
              </a:solidFill>
            </a:endParaRPr>
          </a:p>
        </p:txBody>
      </p:sp>
    </p:spTree>
    <p:extLst>
      <p:ext uri="{BB962C8B-B14F-4D97-AF65-F5344CB8AC3E}">
        <p14:creationId xmlns:p14="http://schemas.microsoft.com/office/powerpoint/2010/main" val="380952687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5"/>
          <p:cNvSpPr>
            <a:spLocks noGrp="1"/>
          </p:cNvSpPr>
          <p:nvPr>
            <p:ph type="body" sz="quarter" idx="13"/>
          </p:nvPr>
        </p:nvSpPr>
        <p:spPr>
          <a:xfrm>
            <a:off x="439795" y="718571"/>
            <a:ext cx="9809051" cy="615554"/>
          </a:xfrm>
        </p:spPr>
        <p:txBody>
          <a:bodyPr/>
          <a:lstStyle/>
          <a:p>
            <a:r>
              <a:rPr lang="en-US" sz="1600" dirty="0"/>
              <a:t>E3’s modeling expertise extends to both energy system models and more specific modeling tools used in the electricity sector</a:t>
            </a:r>
            <a:endParaRPr lang="en-US" sz="1600" noProof="0" dirty="0"/>
          </a:p>
        </p:txBody>
      </p:sp>
      <p:sp>
        <p:nvSpPr>
          <p:cNvPr id="7" name="Title 2"/>
          <p:cNvSpPr>
            <a:spLocks noGrp="1"/>
          </p:cNvSpPr>
          <p:nvPr>
            <p:ph type="title"/>
          </p:nvPr>
        </p:nvSpPr>
        <p:spPr>
          <a:xfrm>
            <a:off x="439794" y="350132"/>
            <a:ext cx="9809052" cy="368438"/>
          </a:xfrm>
        </p:spPr>
        <p:txBody>
          <a:bodyPr/>
          <a:lstStyle/>
          <a:p>
            <a:r>
              <a:rPr lang="en-US" b="1" dirty="0"/>
              <a:t>About E3</a:t>
            </a:r>
            <a:endParaRPr lang="en-US" b="1" noProof="0" dirty="0"/>
          </a:p>
        </p:txBody>
      </p:sp>
      <p:sp>
        <p:nvSpPr>
          <p:cNvPr id="39" name="Title 2"/>
          <p:cNvSpPr txBox="1">
            <a:spLocks/>
          </p:cNvSpPr>
          <p:nvPr/>
        </p:nvSpPr>
        <p:spPr>
          <a:xfrm>
            <a:off x="377173" y="1250765"/>
            <a:ext cx="9934294" cy="695880"/>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1400" i="1" dirty="0">
                <a:solidFill>
                  <a:schemeClr val="accent1"/>
                </a:solidFill>
                <a:latin typeface="+mn-lt"/>
              </a:rPr>
              <a:t>Energy and Environmental Economics, Inc. (E3) is a fast-growing energy consulting firm Founded in 1989  Based out of San Francisco, California. It has international presence in  China, India, the Middle East, United states &amp; South Africa.</a:t>
            </a:r>
            <a:endParaRPr lang="en-US" sz="1400" i="1" dirty="0">
              <a:solidFill>
                <a:schemeClr val="accent1"/>
              </a:solidFill>
              <a:latin typeface="+mn-lt"/>
              <a:ea typeface="+mn-ea"/>
              <a:cs typeface="+mn-cs"/>
            </a:endParaRPr>
          </a:p>
        </p:txBody>
      </p:sp>
      <p:grpSp>
        <p:nvGrpSpPr>
          <p:cNvPr id="52" name="Group 51"/>
          <p:cNvGrpSpPr/>
          <p:nvPr/>
        </p:nvGrpSpPr>
        <p:grpSpPr>
          <a:xfrm>
            <a:off x="6028342" y="2083369"/>
            <a:ext cx="4122525" cy="2713089"/>
            <a:chOff x="6145639" y="2699047"/>
            <a:chExt cx="2983624" cy="3393234"/>
          </a:xfrm>
        </p:grpSpPr>
        <p:sp>
          <p:nvSpPr>
            <p:cNvPr id="6" name="Freeform 5"/>
            <p:cNvSpPr/>
            <p:nvPr/>
          </p:nvSpPr>
          <p:spPr>
            <a:xfrm>
              <a:off x="7222975" y="2699047"/>
              <a:ext cx="828951" cy="848015"/>
            </a:xfrm>
            <a:custGeom>
              <a:avLst/>
              <a:gdLst>
                <a:gd name="connsiteX0" fmla="*/ 0 w 848015"/>
                <a:gd name="connsiteY0" fmla="*/ 424008 h 848015"/>
                <a:gd name="connsiteX1" fmla="*/ 424008 w 848015"/>
                <a:gd name="connsiteY1" fmla="*/ 0 h 848015"/>
                <a:gd name="connsiteX2" fmla="*/ 848016 w 848015"/>
                <a:gd name="connsiteY2" fmla="*/ 424008 h 848015"/>
                <a:gd name="connsiteX3" fmla="*/ 424008 w 848015"/>
                <a:gd name="connsiteY3" fmla="*/ 848016 h 848015"/>
                <a:gd name="connsiteX4" fmla="*/ 0 w 848015"/>
                <a:gd name="connsiteY4" fmla="*/ 424008 h 84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015" h="848015">
                  <a:moveTo>
                    <a:pt x="0" y="424008"/>
                  </a:moveTo>
                  <a:cubicBezTo>
                    <a:pt x="0" y="189835"/>
                    <a:pt x="189835" y="0"/>
                    <a:pt x="424008" y="0"/>
                  </a:cubicBezTo>
                  <a:cubicBezTo>
                    <a:pt x="658181" y="0"/>
                    <a:pt x="848016" y="189835"/>
                    <a:pt x="848016" y="424008"/>
                  </a:cubicBezTo>
                  <a:cubicBezTo>
                    <a:pt x="848016" y="658181"/>
                    <a:pt x="658181" y="848016"/>
                    <a:pt x="424008" y="848016"/>
                  </a:cubicBezTo>
                  <a:cubicBezTo>
                    <a:pt x="189835" y="848016"/>
                    <a:pt x="0" y="658181"/>
                    <a:pt x="0" y="424008"/>
                  </a:cubicBez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3079" tIns="133079" rIns="133079" bIns="133079" numCol="1" spcCol="1270" anchor="ctr" anchorCtr="0">
              <a:noAutofit/>
            </a:bodyPr>
            <a:lstStyle/>
            <a:p>
              <a:pPr lvl="0" algn="ctr" defTabSz="311150">
                <a:lnSpc>
                  <a:spcPct val="90000"/>
                </a:lnSpc>
                <a:spcBef>
                  <a:spcPct val="0"/>
                </a:spcBef>
                <a:spcAft>
                  <a:spcPct val="35000"/>
                </a:spcAft>
              </a:pPr>
              <a:r>
                <a:rPr lang="en-US" sz="1000" b="1" kern="1200" dirty="0">
                  <a:solidFill>
                    <a:schemeClr val="bg1"/>
                  </a:solidFill>
                </a:rPr>
                <a:t>Asset valuation</a:t>
              </a:r>
            </a:p>
          </p:txBody>
        </p:sp>
        <p:sp>
          <p:nvSpPr>
            <p:cNvPr id="9" name="Freeform 8"/>
            <p:cNvSpPr/>
            <p:nvPr/>
          </p:nvSpPr>
          <p:spPr>
            <a:xfrm rot="1800000">
              <a:off x="8060740" y="3294922"/>
              <a:ext cx="219976" cy="286205"/>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7241" rIns="67509"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13" name="Freeform 12"/>
            <p:cNvSpPr/>
            <p:nvPr/>
          </p:nvSpPr>
          <p:spPr>
            <a:xfrm>
              <a:off x="8300312" y="3335352"/>
              <a:ext cx="828951" cy="848015"/>
            </a:xfrm>
            <a:custGeom>
              <a:avLst/>
              <a:gdLst>
                <a:gd name="connsiteX0" fmla="*/ 0 w 848015"/>
                <a:gd name="connsiteY0" fmla="*/ 424008 h 848015"/>
                <a:gd name="connsiteX1" fmla="*/ 424008 w 848015"/>
                <a:gd name="connsiteY1" fmla="*/ 0 h 848015"/>
                <a:gd name="connsiteX2" fmla="*/ 848016 w 848015"/>
                <a:gd name="connsiteY2" fmla="*/ 424008 h 848015"/>
                <a:gd name="connsiteX3" fmla="*/ 424008 w 848015"/>
                <a:gd name="connsiteY3" fmla="*/ 848016 h 848015"/>
                <a:gd name="connsiteX4" fmla="*/ 0 w 848015"/>
                <a:gd name="connsiteY4" fmla="*/ 424008 h 84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015" h="848015">
                  <a:moveTo>
                    <a:pt x="0" y="424008"/>
                  </a:moveTo>
                  <a:cubicBezTo>
                    <a:pt x="0" y="189835"/>
                    <a:pt x="189835" y="0"/>
                    <a:pt x="424008" y="0"/>
                  </a:cubicBezTo>
                  <a:cubicBezTo>
                    <a:pt x="658181" y="0"/>
                    <a:pt x="848016" y="189835"/>
                    <a:pt x="848016" y="424008"/>
                  </a:cubicBezTo>
                  <a:cubicBezTo>
                    <a:pt x="848016" y="658181"/>
                    <a:pt x="658181" y="848016"/>
                    <a:pt x="424008" y="848016"/>
                  </a:cubicBezTo>
                  <a:cubicBezTo>
                    <a:pt x="189835" y="848016"/>
                    <a:pt x="0" y="658181"/>
                    <a:pt x="0" y="424008"/>
                  </a:cubicBez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3079" tIns="133079" rIns="133079" bIns="133079" numCol="1" spcCol="1270" anchor="ctr" anchorCtr="0">
              <a:noAutofit/>
            </a:bodyPr>
            <a:lstStyle/>
            <a:p>
              <a:pPr lvl="0" algn="ctr" defTabSz="311150">
                <a:lnSpc>
                  <a:spcPct val="90000"/>
                </a:lnSpc>
                <a:spcBef>
                  <a:spcPct val="0"/>
                </a:spcBef>
                <a:spcAft>
                  <a:spcPct val="35000"/>
                </a:spcAft>
              </a:pPr>
              <a:r>
                <a:rPr lang="en-US" sz="1000" b="1" kern="1200" dirty="0">
                  <a:solidFill>
                    <a:schemeClr val="bg1"/>
                  </a:solidFill>
                </a:rPr>
                <a:t>Electricity markets</a:t>
              </a:r>
              <a:endParaRPr lang="en-IN" sz="1000" b="1" kern="1200" dirty="0">
                <a:solidFill>
                  <a:schemeClr val="bg1"/>
                </a:solidFill>
              </a:endParaRPr>
            </a:p>
          </p:txBody>
        </p:sp>
        <p:sp>
          <p:nvSpPr>
            <p:cNvPr id="16" name="Freeform 15"/>
            <p:cNvSpPr/>
            <p:nvPr/>
          </p:nvSpPr>
          <p:spPr>
            <a:xfrm rot="5400000">
              <a:off x="8602270" y="4249412"/>
              <a:ext cx="225035" cy="279771"/>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7240" rIns="67510" bIns="57242" numCol="1" spcCol="1270" anchor="ctr" anchorCtr="0">
              <a:noAutofit/>
            </a:bodyPr>
            <a:lstStyle/>
            <a:p>
              <a:pPr lvl="0" algn="ctr" defTabSz="222250">
                <a:lnSpc>
                  <a:spcPct val="90000"/>
                </a:lnSpc>
                <a:spcBef>
                  <a:spcPct val="0"/>
                </a:spcBef>
                <a:spcAft>
                  <a:spcPct val="35000"/>
                </a:spcAft>
              </a:pPr>
              <a:endParaRPr lang="en-US" sz="800" kern="1200"/>
            </a:p>
          </p:txBody>
        </p:sp>
        <p:sp>
          <p:nvSpPr>
            <p:cNvPr id="43" name="Freeform 42"/>
            <p:cNvSpPr/>
            <p:nvPr/>
          </p:nvSpPr>
          <p:spPr>
            <a:xfrm>
              <a:off x="8300312" y="4607961"/>
              <a:ext cx="828951" cy="848015"/>
            </a:xfrm>
            <a:custGeom>
              <a:avLst/>
              <a:gdLst>
                <a:gd name="connsiteX0" fmla="*/ 0 w 848015"/>
                <a:gd name="connsiteY0" fmla="*/ 424008 h 848015"/>
                <a:gd name="connsiteX1" fmla="*/ 424008 w 848015"/>
                <a:gd name="connsiteY1" fmla="*/ 0 h 848015"/>
                <a:gd name="connsiteX2" fmla="*/ 848016 w 848015"/>
                <a:gd name="connsiteY2" fmla="*/ 424008 h 848015"/>
                <a:gd name="connsiteX3" fmla="*/ 424008 w 848015"/>
                <a:gd name="connsiteY3" fmla="*/ 848016 h 848015"/>
                <a:gd name="connsiteX4" fmla="*/ 0 w 848015"/>
                <a:gd name="connsiteY4" fmla="*/ 424008 h 84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015" h="848015">
                  <a:moveTo>
                    <a:pt x="0" y="424008"/>
                  </a:moveTo>
                  <a:cubicBezTo>
                    <a:pt x="0" y="189835"/>
                    <a:pt x="189835" y="0"/>
                    <a:pt x="424008" y="0"/>
                  </a:cubicBezTo>
                  <a:cubicBezTo>
                    <a:pt x="658181" y="0"/>
                    <a:pt x="848016" y="189835"/>
                    <a:pt x="848016" y="424008"/>
                  </a:cubicBezTo>
                  <a:cubicBezTo>
                    <a:pt x="848016" y="658181"/>
                    <a:pt x="658181" y="848016"/>
                    <a:pt x="424008" y="848016"/>
                  </a:cubicBezTo>
                  <a:cubicBezTo>
                    <a:pt x="189835" y="848016"/>
                    <a:pt x="0" y="658181"/>
                    <a:pt x="0" y="424008"/>
                  </a:cubicBez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3079" tIns="133079" rIns="133079" bIns="133079" numCol="1" spcCol="1270" anchor="ctr" anchorCtr="0">
              <a:noAutofit/>
            </a:bodyPr>
            <a:lstStyle/>
            <a:p>
              <a:pPr lvl="0" algn="ctr" defTabSz="311150">
                <a:lnSpc>
                  <a:spcPct val="90000"/>
                </a:lnSpc>
                <a:spcBef>
                  <a:spcPct val="0"/>
                </a:spcBef>
                <a:spcAft>
                  <a:spcPct val="35000"/>
                </a:spcAft>
              </a:pPr>
              <a:r>
                <a:rPr lang="en-US" sz="1000" b="1" kern="1200" dirty="0">
                  <a:solidFill>
                    <a:schemeClr val="bg1"/>
                  </a:solidFill>
                </a:rPr>
                <a:t>Rate design</a:t>
              </a:r>
            </a:p>
          </p:txBody>
        </p:sp>
        <p:sp>
          <p:nvSpPr>
            <p:cNvPr id="45" name="Freeform 44"/>
            <p:cNvSpPr/>
            <p:nvPr/>
          </p:nvSpPr>
          <p:spPr>
            <a:xfrm rot="19800000">
              <a:off x="8071523" y="5203833"/>
              <a:ext cx="219977" cy="286206"/>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225035" y="228964"/>
                  </a:moveTo>
                  <a:lnTo>
                    <a:pt x="112517" y="228964"/>
                  </a:lnTo>
                  <a:lnTo>
                    <a:pt x="112517" y="286205"/>
                  </a:lnTo>
                  <a:lnTo>
                    <a:pt x="0" y="143102"/>
                  </a:lnTo>
                  <a:lnTo>
                    <a:pt x="112517" y="0"/>
                  </a:lnTo>
                  <a:lnTo>
                    <a:pt x="112517" y="57241"/>
                  </a:lnTo>
                  <a:lnTo>
                    <a:pt x="225035" y="57241"/>
                  </a:lnTo>
                  <a:lnTo>
                    <a:pt x="225035" y="22896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7509" tIns="57242" rIns="1"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46" name="Freeform 45"/>
            <p:cNvSpPr/>
            <p:nvPr/>
          </p:nvSpPr>
          <p:spPr>
            <a:xfrm>
              <a:off x="7222975" y="5244266"/>
              <a:ext cx="828951" cy="848015"/>
            </a:xfrm>
            <a:custGeom>
              <a:avLst/>
              <a:gdLst>
                <a:gd name="connsiteX0" fmla="*/ 0 w 848015"/>
                <a:gd name="connsiteY0" fmla="*/ 424008 h 848015"/>
                <a:gd name="connsiteX1" fmla="*/ 424008 w 848015"/>
                <a:gd name="connsiteY1" fmla="*/ 0 h 848015"/>
                <a:gd name="connsiteX2" fmla="*/ 848016 w 848015"/>
                <a:gd name="connsiteY2" fmla="*/ 424008 h 848015"/>
                <a:gd name="connsiteX3" fmla="*/ 424008 w 848015"/>
                <a:gd name="connsiteY3" fmla="*/ 848016 h 848015"/>
                <a:gd name="connsiteX4" fmla="*/ 0 w 848015"/>
                <a:gd name="connsiteY4" fmla="*/ 424008 h 84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015" h="848015">
                  <a:moveTo>
                    <a:pt x="0" y="424008"/>
                  </a:moveTo>
                  <a:cubicBezTo>
                    <a:pt x="0" y="189835"/>
                    <a:pt x="189835" y="0"/>
                    <a:pt x="424008" y="0"/>
                  </a:cubicBezTo>
                  <a:cubicBezTo>
                    <a:pt x="658181" y="0"/>
                    <a:pt x="848016" y="189835"/>
                    <a:pt x="848016" y="424008"/>
                  </a:cubicBezTo>
                  <a:cubicBezTo>
                    <a:pt x="848016" y="658181"/>
                    <a:pt x="658181" y="848016"/>
                    <a:pt x="424008" y="848016"/>
                  </a:cubicBezTo>
                  <a:cubicBezTo>
                    <a:pt x="189835" y="848016"/>
                    <a:pt x="0" y="658181"/>
                    <a:pt x="0" y="424008"/>
                  </a:cubicBez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4349" tIns="134349" rIns="134349" bIns="134349" numCol="1" spcCol="1270" anchor="ctr" anchorCtr="0">
              <a:noAutofit/>
            </a:bodyPr>
            <a:lstStyle/>
            <a:p>
              <a:pPr lvl="0" algn="ctr" defTabSz="355600">
                <a:lnSpc>
                  <a:spcPct val="90000"/>
                </a:lnSpc>
                <a:spcBef>
                  <a:spcPct val="0"/>
                </a:spcBef>
                <a:spcAft>
                  <a:spcPct val="35000"/>
                </a:spcAft>
              </a:pPr>
              <a:r>
                <a:rPr lang="en-US" sz="1050" b="1" kern="1200" dirty="0">
                  <a:solidFill>
                    <a:schemeClr val="bg1"/>
                  </a:solidFill>
                </a:rPr>
                <a:t>Planning</a:t>
              </a:r>
            </a:p>
            <a:p>
              <a:pPr lvl="0" algn="ctr" defTabSz="355600">
                <a:lnSpc>
                  <a:spcPct val="90000"/>
                </a:lnSpc>
                <a:spcBef>
                  <a:spcPct val="0"/>
                </a:spcBef>
                <a:spcAft>
                  <a:spcPct val="35000"/>
                </a:spcAft>
              </a:pPr>
              <a:r>
                <a:rPr lang="en-US" sz="1050" b="1" kern="1200" dirty="0">
                  <a:solidFill>
                    <a:schemeClr val="bg1"/>
                  </a:solidFill>
                </a:rPr>
                <a:t>electricity</a:t>
              </a:r>
              <a:endParaRPr lang="en-IN" sz="1050" b="1" kern="1200" dirty="0">
                <a:solidFill>
                  <a:schemeClr val="bg1"/>
                </a:solidFill>
              </a:endParaRPr>
            </a:p>
          </p:txBody>
        </p:sp>
        <p:sp>
          <p:nvSpPr>
            <p:cNvPr id="47" name="Freeform 46"/>
            <p:cNvSpPr/>
            <p:nvPr/>
          </p:nvSpPr>
          <p:spPr>
            <a:xfrm rot="1800000">
              <a:off x="6994186" y="5210202"/>
              <a:ext cx="219977" cy="286206"/>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225035" y="228964"/>
                  </a:moveTo>
                  <a:lnTo>
                    <a:pt x="112517" y="228964"/>
                  </a:lnTo>
                  <a:lnTo>
                    <a:pt x="112517" y="286205"/>
                  </a:lnTo>
                  <a:lnTo>
                    <a:pt x="0" y="143102"/>
                  </a:lnTo>
                  <a:lnTo>
                    <a:pt x="112517" y="0"/>
                  </a:lnTo>
                  <a:lnTo>
                    <a:pt x="112517" y="57241"/>
                  </a:lnTo>
                  <a:lnTo>
                    <a:pt x="225035" y="57241"/>
                  </a:lnTo>
                  <a:lnTo>
                    <a:pt x="225035" y="22896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7510" tIns="57242" rIns="0"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48" name="Freeform 47"/>
            <p:cNvSpPr/>
            <p:nvPr/>
          </p:nvSpPr>
          <p:spPr>
            <a:xfrm>
              <a:off x="6145639" y="4607961"/>
              <a:ext cx="828951" cy="848015"/>
            </a:xfrm>
            <a:custGeom>
              <a:avLst/>
              <a:gdLst>
                <a:gd name="connsiteX0" fmla="*/ 0 w 848015"/>
                <a:gd name="connsiteY0" fmla="*/ 424008 h 848015"/>
                <a:gd name="connsiteX1" fmla="*/ 424008 w 848015"/>
                <a:gd name="connsiteY1" fmla="*/ 0 h 848015"/>
                <a:gd name="connsiteX2" fmla="*/ 848016 w 848015"/>
                <a:gd name="connsiteY2" fmla="*/ 424008 h 848015"/>
                <a:gd name="connsiteX3" fmla="*/ 424008 w 848015"/>
                <a:gd name="connsiteY3" fmla="*/ 848016 h 848015"/>
                <a:gd name="connsiteX4" fmla="*/ 0 w 848015"/>
                <a:gd name="connsiteY4" fmla="*/ 424008 h 84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015" h="848015">
                  <a:moveTo>
                    <a:pt x="0" y="424008"/>
                  </a:moveTo>
                  <a:cubicBezTo>
                    <a:pt x="0" y="189835"/>
                    <a:pt x="189835" y="0"/>
                    <a:pt x="424008" y="0"/>
                  </a:cubicBezTo>
                  <a:cubicBezTo>
                    <a:pt x="658181" y="0"/>
                    <a:pt x="848016" y="189835"/>
                    <a:pt x="848016" y="424008"/>
                  </a:cubicBezTo>
                  <a:cubicBezTo>
                    <a:pt x="848016" y="658181"/>
                    <a:pt x="658181" y="848016"/>
                    <a:pt x="424008" y="848016"/>
                  </a:cubicBezTo>
                  <a:cubicBezTo>
                    <a:pt x="189835" y="848016"/>
                    <a:pt x="0" y="658181"/>
                    <a:pt x="0" y="424008"/>
                  </a:cubicBez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3079" tIns="133079" rIns="133079" bIns="133079" numCol="1" spcCol="1270" anchor="ctr" anchorCtr="0">
              <a:noAutofit/>
            </a:bodyPr>
            <a:lstStyle/>
            <a:p>
              <a:pPr lvl="0" algn="ctr" defTabSz="311150">
                <a:lnSpc>
                  <a:spcPct val="90000"/>
                </a:lnSpc>
                <a:spcBef>
                  <a:spcPct val="0"/>
                </a:spcBef>
                <a:spcAft>
                  <a:spcPct val="35000"/>
                </a:spcAft>
              </a:pPr>
              <a:r>
                <a:rPr lang="en-US" sz="1000" b="1" kern="1200" dirty="0">
                  <a:solidFill>
                    <a:schemeClr val="bg1"/>
                  </a:solidFill>
                </a:rPr>
                <a:t>Clean energy</a:t>
              </a:r>
            </a:p>
          </p:txBody>
        </p:sp>
        <p:sp>
          <p:nvSpPr>
            <p:cNvPr id="49" name="Freeform 48"/>
            <p:cNvSpPr/>
            <p:nvPr/>
          </p:nvSpPr>
          <p:spPr>
            <a:xfrm rot="16200000">
              <a:off x="6447597" y="4262147"/>
              <a:ext cx="225035" cy="279771"/>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57241" rIns="67511" bIns="57241" numCol="1" spcCol="1270" anchor="ctr" anchorCtr="0">
              <a:noAutofit/>
            </a:bodyPr>
            <a:lstStyle/>
            <a:p>
              <a:pPr lvl="0" algn="ctr" defTabSz="222250">
                <a:lnSpc>
                  <a:spcPct val="90000"/>
                </a:lnSpc>
                <a:spcBef>
                  <a:spcPct val="0"/>
                </a:spcBef>
                <a:spcAft>
                  <a:spcPct val="35000"/>
                </a:spcAft>
              </a:pPr>
              <a:endParaRPr lang="en-US" sz="800" kern="1200"/>
            </a:p>
          </p:txBody>
        </p:sp>
        <p:sp>
          <p:nvSpPr>
            <p:cNvPr id="50" name="Freeform 49"/>
            <p:cNvSpPr/>
            <p:nvPr/>
          </p:nvSpPr>
          <p:spPr>
            <a:xfrm>
              <a:off x="6145639" y="3335352"/>
              <a:ext cx="828951" cy="848015"/>
            </a:xfrm>
            <a:custGeom>
              <a:avLst/>
              <a:gdLst>
                <a:gd name="connsiteX0" fmla="*/ 0 w 848015"/>
                <a:gd name="connsiteY0" fmla="*/ 424008 h 848015"/>
                <a:gd name="connsiteX1" fmla="*/ 424008 w 848015"/>
                <a:gd name="connsiteY1" fmla="*/ 0 h 848015"/>
                <a:gd name="connsiteX2" fmla="*/ 848016 w 848015"/>
                <a:gd name="connsiteY2" fmla="*/ 424008 h 848015"/>
                <a:gd name="connsiteX3" fmla="*/ 424008 w 848015"/>
                <a:gd name="connsiteY3" fmla="*/ 848016 h 848015"/>
                <a:gd name="connsiteX4" fmla="*/ 0 w 848015"/>
                <a:gd name="connsiteY4" fmla="*/ 424008 h 84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015" h="848015">
                  <a:moveTo>
                    <a:pt x="0" y="424008"/>
                  </a:moveTo>
                  <a:cubicBezTo>
                    <a:pt x="0" y="189835"/>
                    <a:pt x="189835" y="0"/>
                    <a:pt x="424008" y="0"/>
                  </a:cubicBezTo>
                  <a:cubicBezTo>
                    <a:pt x="658181" y="0"/>
                    <a:pt x="848016" y="189835"/>
                    <a:pt x="848016" y="424008"/>
                  </a:cubicBezTo>
                  <a:cubicBezTo>
                    <a:pt x="848016" y="658181"/>
                    <a:pt x="658181" y="848016"/>
                    <a:pt x="424008" y="848016"/>
                  </a:cubicBezTo>
                  <a:cubicBezTo>
                    <a:pt x="189835" y="848016"/>
                    <a:pt x="0" y="658181"/>
                    <a:pt x="0" y="424008"/>
                  </a:cubicBez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3079" tIns="133079" rIns="133079" bIns="133079" numCol="1" spcCol="1270" anchor="ctr" anchorCtr="0">
              <a:noAutofit/>
            </a:bodyPr>
            <a:lstStyle/>
            <a:p>
              <a:pPr lvl="0" algn="ctr" defTabSz="311150">
                <a:lnSpc>
                  <a:spcPct val="90000"/>
                </a:lnSpc>
                <a:spcBef>
                  <a:spcPct val="0"/>
                </a:spcBef>
                <a:spcAft>
                  <a:spcPct val="35000"/>
                </a:spcAft>
              </a:pPr>
              <a:r>
                <a:rPr lang="en-US" sz="1000" b="1" kern="1200" dirty="0">
                  <a:solidFill>
                    <a:schemeClr val="bg1"/>
                  </a:solidFill>
                </a:rPr>
                <a:t>Distributed energy resources</a:t>
              </a:r>
            </a:p>
          </p:txBody>
        </p:sp>
        <p:sp>
          <p:nvSpPr>
            <p:cNvPr id="51" name="Freeform 50"/>
            <p:cNvSpPr/>
            <p:nvPr/>
          </p:nvSpPr>
          <p:spPr>
            <a:xfrm rot="19800000">
              <a:off x="6983402" y="3301291"/>
              <a:ext cx="219976" cy="286205"/>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57241" rIns="67510"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60" name="Freeform 59"/>
            <p:cNvSpPr/>
            <p:nvPr/>
          </p:nvSpPr>
          <p:spPr>
            <a:xfrm rot="1800000">
              <a:off x="8060739" y="3294920"/>
              <a:ext cx="219976" cy="286205"/>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7241" rIns="67509"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61" name="Freeform 60"/>
            <p:cNvSpPr/>
            <p:nvPr/>
          </p:nvSpPr>
          <p:spPr>
            <a:xfrm rot="5400000">
              <a:off x="8602269" y="4249410"/>
              <a:ext cx="225035" cy="279771"/>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7240" rIns="67510" bIns="57242" numCol="1" spcCol="1270" anchor="ctr" anchorCtr="0">
              <a:noAutofit/>
            </a:bodyPr>
            <a:lstStyle/>
            <a:p>
              <a:pPr lvl="0" algn="ctr" defTabSz="222250">
                <a:lnSpc>
                  <a:spcPct val="90000"/>
                </a:lnSpc>
                <a:spcBef>
                  <a:spcPct val="0"/>
                </a:spcBef>
                <a:spcAft>
                  <a:spcPct val="35000"/>
                </a:spcAft>
              </a:pPr>
              <a:endParaRPr lang="en-US" sz="800" kern="1200"/>
            </a:p>
          </p:txBody>
        </p:sp>
        <p:sp>
          <p:nvSpPr>
            <p:cNvPr id="62" name="Freeform 61"/>
            <p:cNvSpPr/>
            <p:nvPr/>
          </p:nvSpPr>
          <p:spPr>
            <a:xfrm rot="19800000">
              <a:off x="8071522" y="5203832"/>
              <a:ext cx="219977" cy="286206"/>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225035" y="228964"/>
                  </a:moveTo>
                  <a:lnTo>
                    <a:pt x="112517" y="228964"/>
                  </a:lnTo>
                  <a:lnTo>
                    <a:pt x="112517" y="286205"/>
                  </a:lnTo>
                  <a:lnTo>
                    <a:pt x="0" y="143102"/>
                  </a:lnTo>
                  <a:lnTo>
                    <a:pt x="112517" y="0"/>
                  </a:lnTo>
                  <a:lnTo>
                    <a:pt x="112517" y="57241"/>
                  </a:lnTo>
                  <a:lnTo>
                    <a:pt x="225035" y="57241"/>
                  </a:lnTo>
                  <a:lnTo>
                    <a:pt x="225035" y="22896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7509" tIns="57242" rIns="1"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63" name="Freeform 62"/>
            <p:cNvSpPr/>
            <p:nvPr/>
          </p:nvSpPr>
          <p:spPr>
            <a:xfrm rot="19800000">
              <a:off x="6983401" y="3301290"/>
              <a:ext cx="219976" cy="286205"/>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57241" rIns="67510"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64" name="Freeform 63"/>
            <p:cNvSpPr/>
            <p:nvPr/>
          </p:nvSpPr>
          <p:spPr>
            <a:xfrm rot="1800000">
              <a:off x="6994187" y="5210202"/>
              <a:ext cx="219977" cy="286206"/>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225035" y="228964"/>
                  </a:moveTo>
                  <a:lnTo>
                    <a:pt x="112517" y="228964"/>
                  </a:lnTo>
                  <a:lnTo>
                    <a:pt x="112517" y="286205"/>
                  </a:lnTo>
                  <a:lnTo>
                    <a:pt x="0" y="143102"/>
                  </a:lnTo>
                  <a:lnTo>
                    <a:pt x="112517" y="0"/>
                  </a:lnTo>
                  <a:lnTo>
                    <a:pt x="112517" y="57241"/>
                  </a:lnTo>
                  <a:lnTo>
                    <a:pt x="225035" y="57241"/>
                  </a:lnTo>
                  <a:lnTo>
                    <a:pt x="225035" y="228964"/>
                  </a:lnTo>
                  <a:close/>
                </a:path>
              </a:pathLst>
            </a:custGeom>
            <a:solidFill>
              <a:schemeClr val="accent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7510" tIns="57242" rIns="0"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65" name="Freeform 64"/>
            <p:cNvSpPr/>
            <p:nvPr/>
          </p:nvSpPr>
          <p:spPr>
            <a:xfrm rot="16200000">
              <a:off x="6447598" y="4262146"/>
              <a:ext cx="225035" cy="279771"/>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a:solidFill>
              <a:schemeClr val="accent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57241" rIns="67511" bIns="57241" numCol="1" spcCol="1270" anchor="ctr" anchorCtr="0">
              <a:noAutofit/>
            </a:bodyPr>
            <a:lstStyle/>
            <a:p>
              <a:pPr lvl="0" algn="ctr" defTabSz="222250">
                <a:lnSpc>
                  <a:spcPct val="90000"/>
                </a:lnSpc>
                <a:spcBef>
                  <a:spcPct val="0"/>
                </a:spcBef>
                <a:spcAft>
                  <a:spcPct val="35000"/>
                </a:spcAft>
              </a:pPr>
              <a:endParaRPr lang="en-US" sz="800" kern="1200"/>
            </a:p>
          </p:txBody>
        </p:sp>
        <p:sp>
          <p:nvSpPr>
            <p:cNvPr id="66" name="Freeform 65"/>
            <p:cNvSpPr/>
            <p:nvPr/>
          </p:nvSpPr>
          <p:spPr>
            <a:xfrm rot="1800000">
              <a:off x="8060740" y="3294920"/>
              <a:ext cx="219976" cy="286205"/>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a:solidFill>
              <a:schemeClr val="accent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7241" rIns="67509"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67" name="Freeform 66"/>
            <p:cNvSpPr/>
            <p:nvPr/>
          </p:nvSpPr>
          <p:spPr>
            <a:xfrm rot="5400000">
              <a:off x="8602270" y="4249410"/>
              <a:ext cx="225035" cy="279771"/>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a:solidFill>
              <a:schemeClr val="accent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7240" rIns="67510" bIns="57242" numCol="1" spcCol="1270" anchor="ctr" anchorCtr="0">
              <a:noAutofit/>
            </a:bodyPr>
            <a:lstStyle/>
            <a:p>
              <a:pPr lvl="0" algn="ctr" defTabSz="222250">
                <a:lnSpc>
                  <a:spcPct val="90000"/>
                </a:lnSpc>
                <a:spcBef>
                  <a:spcPct val="0"/>
                </a:spcBef>
                <a:spcAft>
                  <a:spcPct val="35000"/>
                </a:spcAft>
              </a:pPr>
              <a:endParaRPr lang="en-US" sz="800" kern="1200"/>
            </a:p>
          </p:txBody>
        </p:sp>
        <p:sp>
          <p:nvSpPr>
            <p:cNvPr id="68" name="Freeform 67"/>
            <p:cNvSpPr/>
            <p:nvPr/>
          </p:nvSpPr>
          <p:spPr>
            <a:xfrm rot="19800000">
              <a:off x="8071523" y="5203832"/>
              <a:ext cx="219977" cy="286206"/>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225035" y="228964"/>
                  </a:moveTo>
                  <a:lnTo>
                    <a:pt x="112517" y="228964"/>
                  </a:lnTo>
                  <a:lnTo>
                    <a:pt x="112517" y="286205"/>
                  </a:lnTo>
                  <a:lnTo>
                    <a:pt x="0" y="143102"/>
                  </a:lnTo>
                  <a:lnTo>
                    <a:pt x="112517" y="0"/>
                  </a:lnTo>
                  <a:lnTo>
                    <a:pt x="112517" y="57241"/>
                  </a:lnTo>
                  <a:lnTo>
                    <a:pt x="225035" y="57241"/>
                  </a:lnTo>
                  <a:lnTo>
                    <a:pt x="225035" y="228964"/>
                  </a:lnTo>
                  <a:close/>
                </a:path>
              </a:pathLst>
            </a:custGeom>
            <a:solidFill>
              <a:schemeClr val="accent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7509" tIns="57242" rIns="1" bIns="57240" numCol="1" spcCol="1270" anchor="ctr" anchorCtr="0">
              <a:noAutofit/>
            </a:bodyPr>
            <a:lstStyle/>
            <a:p>
              <a:pPr lvl="0" algn="ctr" defTabSz="222250">
                <a:lnSpc>
                  <a:spcPct val="90000"/>
                </a:lnSpc>
                <a:spcBef>
                  <a:spcPct val="0"/>
                </a:spcBef>
                <a:spcAft>
                  <a:spcPct val="35000"/>
                </a:spcAft>
              </a:pPr>
              <a:endParaRPr lang="en-US" sz="800" kern="1200"/>
            </a:p>
          </p:txBody>
        </p:sp>
        <p:sp>
          <p:nvSpPr>
            <p:cNvPr id="69" name="Freeform 68"/>
            <p:cNvSpPr/>
            <p:nvPr/>
          </p:nvSpPr>
          <p:spPr>
            <a:xfrm rot="19800000">
              <a:off x="6983401" y="3301290"/>
              <a:ext cx="219976" cy="286205"/>
            </a:xfrm>
            <a:custGeom>
              <a:avLst/>
              <a:gdLst>
                <a:gd name="connsiteX0" fmla="*/ 0 w 225035"/>
                <a:gd name="connsiteY0" fmla="*/ 57241 h 286205"/>
                <a:gd name="connsiteX1" fmla="*/ 112518 w 225035"/>
                <a:gd name="connsiteY1" fmla="*/ 57241 h 286205"/>
                <a:gd name="connsiteX2" fmla="*/ 112518 w 225035"/>
                <a:gd name="connsiteY2" fmla="*/ 0 h 286205"/>
                <a:gd name="connsiteX3" fmla="*/ 225035 w 225035"/>
                <a:gd name="connsiteY3" fmla="*/ 143103 h 286205"/>
                <a:gd name="connsiteX4" fmla="*/ 112518 w 225035"/>
                <a:gd name="connsiteY4" fmla="*/ 286205 h 286205"/>
                <a:gd name="connsiteX5" fmla="*/ 112518 w 225035"/>
                <a:gd name="connsiteY5" fmla="*/ 228964 h 286205"/>
                <a:gd name="connsiteX6" fmla="*/ 0 w 225035"/>
                <a:gd name="connsiteY6" fmla="*/ 228964 h 286205"/>
                <a:gd name="connsiteX7" fmla="*/ 0 w 225035"/>
                <a:gd name="connsiteY7" fmla="*/ 57241 h 2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035" h="286205">
                  <a:moveTo>
                    <a:pt x="0" y="57241"/>
                  </a:moveTo>
                  <a:lnTo>
                    <a:pt x="112518" y="57241"/>
                  </a:lnTo>
                  <a:lnTo>
                    <a:pt x="112518" y="0"/>
                  </a:lnTo>
                  <a:lnTo>
                    <a:pt x="225035" y="143103"/>
                  </a:lnTo>
                  <a:lnTo>
                    <a:pt x="112518" y="286205"/>
                  </a:lnTo>
                  <a:lnTo>
                    <a:pt x="112518" y="228964"/>
                  </a:lnTo>
                  <a:lnTo>
                    <a:pt x="0" y="228964"/>
                  </a:lnTo>
                  <a:lnTo>
                    <a:pt x="0" y="57241"/>
                  </a:lnTo>
                  <a:close/>
                </a:path>
              </a:pathLst>
            </a:custGeom>
            <a:solidFill>
              <a:schemeClr val="accent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57241" rIns="67510" bIns="57240" numCol="1" spcCol="1270" anchor="ctr" anchorCtr="0">
              <a:noAutofit/>
            </a:bodyPr>
            <a:lstStyle/>
            <a:p>
              <a:pPr lvl="0" algn="ctr" defTabSz="222250">
                <a:lnSpc>
                  <a:spcPct val="90000"/>
                </a:lnSpc>
                <a:spcBef>
                  <a:spcPct val="0"/>
                </a:spcBef>
                <a:spcAft>
                  <a:spcPct val="35000"/>
                </a:spcAft>
              </a:pPr>
              <a:endParaRPr lang="en-US" sz="800" kern="1200"/>
            </a:p>
          </p:txBody>
        </p:sp>
      </p:grpSp>
      <p:sp>
        <p:nvSpPr>
          <p:cNvPr id="56" name="Rectangle 55"/>
          <p:cNvSpPr/>
          <p:nvPr/>
        </p:nvSpPr>
        <p:spPr bwMode="gray">
          <a:xfrm>
            <a:off x="439794" y="4796458"/>
            <a:ext cx="6079696" cy="239161"/>
          </a:xfrm>
          <a:prstGeom prst="rect">
            <a:avLst/>
          </a:prstGeom>
          <a:solidFill>
            <a:schemeClr val="accent1">
              <a:lumMod val="50000"/>
            </a:schemeClr>
          </a:solidFill>
          <a:ln w="19050" algn="ctr">
            <a:solidFill>
              <a:schemeClr val="accent6">
                <a:lumMod val="40000"/>
                <a:lumOff val="60000"/>
              </a:schemeClr>
            </a:solidFill>
            <a:miter lim="800000"/>
            <a:headEnd/>
            <a:tailEnd/>
          </a:ln>
        </p:spPr>
        <p:txBody>
          <a:bodyPr wrap="square" lIns="88900" tIns="88900" rIns="88900" bIns="88900" rtlCol="0" anchor="ctr"/>
          <a:lstStyle/>
          <a:p>
            <a:pPr>
              <a:lnSpc>
                <a:spcPct val="106000"/>
              </a:lnSpc>
              <a:buFont typeface="Wingdings 2" pitchFamily="18" charset="2"/>
              <a:buNone/>
            </a:pPr>
            <a:r>
              <a:rPr lang="en-US" sz="1400" b="1" dirty="0">
                <a:solidFill>
                  <a:schemeClr val="bg1"/>
                </a:solidFill>
              </a:rPr>
              <a:t>E3 Global Experience</a:t>
            </a:r>
          </a:p>
        </p:txBody>
      </p:sp>
      <p:graphicFrame>
        <p:nvGraphicFramePr>
          <p:cNvPr id="57" name="Table 56"/>
          <p:cNvGraphicFramePr>
            <a:graphicFrameLocks noGrp="1"/>
          </p:cNvGraphicFramePr>
          <p:nvPr>
            <p:extLst>
              <p:ext uri="{D42A27DB-BD31-4B8C-83A1-F6EECF244321}">
                <p14:modId xmlns:p14="http://schemas.microsoft.com/office/powerpoint/2010/main" val="2792145757"/>
              </p:ext>
            </p:extLst>
          </p:nvPr>
        </p:nvGraphicFramePr>
        <p:xfrm>
          <a:off x="439794" y="5035619"/>
          <a:ext cx="9711073" cy="2032951"/>
        </p:xfrm>
        <a:graphic>
          <a:graphicData uri="http://schemas.openxmlformats.org/drawingml/2006/table">
            <a:tbl>
              <a:tblPr firstCol="1" bandCol="1">
                <a:tableStyleId>{69012ECD-51FC-41F1-AA8D-1B2483CD663E}</a:tableStyleId>
              </a:tblPr>
              <a:tblGrid>
                <a:gridCol w="1058507">
                  <a:extLst>
                    <a:ext uri="{9D8B030D-6E8A-4147-A177-3AD203B41FA5}">
                      <a16:colId xmlns:a16="http://schemas.microsoft.com/office/drawing/2014/main" val="611778799"/>
                    </a:ext>
                  </a:extLst>
                </a:gridCol>
                <a:gridCol w="8652566">
                  <a:extLst>
                    <a:ext uri="{9D8B030D-6E8A-4147-A177-3AD203B41FA5}">
                      <a16:colId xmlns:a16="http://schemas.microsoft.com/office/drawing/2014/main" val="2477972356"/>
                    </a:ext>
                  </a:extLst>
                </a:gridCol>
              </a:tblGrid>
              <a:tr h="355275">
                <a:tc>
                  <a:txBody>
                    <a:bodyPr/>
                    <a:lstStyle/>
                    <a:p>
                      <a:pPr algn="just">
                        <a:lnSpc>
                          <a:spcPct val="107000"/>
                        </a:lnSpc>
                        <a:spcAft>
                          <a:spcPts val="0"/>
                        </a:spcAft>
                      </a:pPr>
                      <a:r>
                        <a:rPr lang="en-US" sz="1000" dirty="0">
                          <a:effectLst/>
                        </a:rPr>
                        <a:t>U.S. States</a:t>
                      </a:r>
                      <a:endParaRPr lang="en-IN"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tc>
                  <a:txBody>
                    <a:bodyPr/>
                    <a:lstStyle/>
                    <a:p>
                      <a:pPr algn="just">
                        <a:lnSpc>
                          <a:spcPct val="105000"/>
                        </a:lnSpc>
                        <a:spcAft>
                          <a:spcPts val="0"/>
                        </a:spcAft>
                      </a:pPr>
                      <a:r>
                        <a:rPr lang="en-US" sz="1000" dirty="0">
                          <a:effectLst/>
                        </a:rPr>
                        <a:t>Support to NYSERDA in developing a detailed greenhouse gas (GHG) analysis with cost implications in different scenarios by using LEAP for continued use.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nchor="ctr">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extLst>
                  <a:ext uri="{0D108BD9-81ED-4DB2-BD59-A6C34878D82A}">
                    <a16:rowId xmlns:a16="http://schemas.microsoft.com/office/drawing/2014/main" val="4070090592"/>
                  </a:ext>
                </a:extLst>
              </a:tr>
              <a:tr h="376488">
                <a:tc>
                  <a:txBody>
                    <a:bodyPr/>
                    <a:lstStyle/>
                    <a:p>
                      <a:pPr algn="just">
                        <a:lnSpc>
                          <a:spcPct val="107000"/>
                        </a:lnSpc>
                        <a:spcAft>
                          <a:spcPts val="0"/>
                        </a:spcAft>
                      </a:pPr>
                      <a:r>
                        <a:rPr lang="en-US" sz="1000">
                          <a:effectLst/>
                        </a:rPr>
                        <a:t>California</a:t>
                      </a:r>
                      <a:endParaRPr lang="en-IN" sz="1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tc>
                  <a:txBody>
                    <a:bodyPr/>
                    <a:lstStyle/>
                    <a:p>
                      <a:pPr algn="just">
                        <a:lnSpc>
                          <a:spcPct val="105000"/>
                        </a:lnSpc>
                        <a:spcAft>
                          <a:spcPts val="0"/>
                        </a:spcAft>
                      </a:pPr>
                      <a:r>
                        <a:rPr lang="en-US" sz="1000" dirty="0">
                          <a:effectLst/>
                        </a:rPr>
                        <a:t>Supported development of the state’s 2030 GHG targets and the California Air Resources Board’s 2017 Climate Change Scoping Plan, UN Deep De-carbonization Pathways Project.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nchor="ctr">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extLst>
                  <a:ext uri="{0D108BD9-81ED-4DB2-BD59-A6C34878D82A}">
                    <a16:rowId xmlns:a16="http://schemas.microsoft.com/office/drawing/2014/main" val="536164703"/>
                  </a:ext>
                </a:extLst>
              </a:tr>
              <a:tr h="193225">
                <a:tc>
                  <a:txBody>
                    <a:bodyPr/>
                    <a:lstStyle/>
                    <a:p>
                      <a:pPr algn="just">
                        <a:lnSpc>
                          <a:spcPct val="107000"/>
                        </a:lnSpc>
                        <a:spcAft>
                          <a:spcPts val="0"/>
                        </a:spcAft>
                      </a:pPr>
                      <a:r>
                        <a:rPr lang="en-US" sz="1000">
                          <a:effectLst/>
                        </a:rPr>
                        <a:t>India</a:t>
                      </a:r>
                      <a:endParaRPr lang="en-IN" sz="1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tc>
                  <a:txBody>
                    <a:bodyPr/>
                    <a:lstStyle/>
                    <a:p>
                      <a:pPr algn="just">
                        <a:lnSpc>
                          <a:spcPct val="105000"/>
                        </a:lnSpc>
                        <a:spcAft>
                          <a:spcPts val="0"/>
                        </a:spcAft>
                      </a:pPr>
                      <a:r>
                        <a:rPr lang="en-US" sz="1000" dirty="0">
                          <a:effectLst/>
                        </a:rPr>
                        <a:t>Supporting the development of long-term planning tools for electricity distribution utilities.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extLst>
                  <a:ext uri="{0D108BD9-81ED-4DB2-BD59-A6C34878D82A}">
                    <a16:rowId xmlns:a16="http://schemas.microsoft.com/office/drawing/2014/main" val="3990852512"/>
                  </a:ext>
                </a:extLst>
              </a:tr>
              <a:tr h="382669">
                <a:tc>
                  <a:txBody>
                    <a:bodyPr/>
                    <a:lstStyle/>
                    <a:p>
                      <a:pPr algn="just">
                        <a:lnSpc>
                          <a:spcPct val="107000"/>
                        </a:lnSpc>
                        <a:spcAft>
                          <a:spcPts val="0"/>
                        </a:spcAft>
                      </a:pPr>
                      <a:r>
                        <a:rPr lang="en-US" sz="1000" dirty="0">
                          <a:effectLst/>
                        </a:rPr>
                        <a:t>China</a:t>
                      </a:r>
                      <a:endParaRPr lang="en-IN"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tc>
                  <a:txBody>
                    <a:bodyPr/>
                    <a:lstStyle/>
                    <a:p>
                      <a:pPr>
                        <a:lnSpc>
                          <a:spcPct val="107000"/>
                        </a:lnSpc>
                        <a:spcAft>
                          <a:spcPts val="0"/>
                        </a:spcAft>
                      </a:pPr>
                      <a:r>
                        <a:rPr lang="en-US" sz="1000" dirty="0">
                          <a:effectLst/>
                        </a:rPr>
                        <a:t>Energy sector support &amp; technical assistance to SERC’S GHG targets for the electricity sector. </a:t>
                      </a:r>
                      <a:endParaRPr lang="en-IN" sz="1400" dirty="0">
                        <a:effectLst/>
                      </a:endParaRPr>
                    </a:p>
                    <a:p>
                      <a:pPr>
                        <a:lnSpc>
                          <a:spcPct val="107000"/>
                        </a:lnSpc>
                        <a:spcAft>
                          <a:spcPts val="0"/>
                        </a:spcAft>
                      </a:pPr>
                      <a:r>
                        <a:rPr lang="en-US" sz="1000" dirty="0">
                          <a:effectLst/>
                        </a:rPr>
                        <a:t>Study on engaging utilities in Transportation Electrification in The US, Europe and China.</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nchor="ctr">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extLst>
                  <a:ext uri="{0D108BD9-81ED-4DB2-BD59-A6C34878D82A}">
                    <a16:rowId xmlns:a16="http://schemas.microsoft.com/office/drawing/2014/main" val="1498065719"/>
                  </a:ext>
                </a:extLst>
              </a:tr>
              <a:tr h="193225">
                <a:tc>
                  <a:txBody>
                    <a:bodyPr/>
                    <a:lstStyle/>
                    <a:p>
                      <a:pPr algn="just">
                        <a:lnSpc>
                          <a:spcPct val="107000"/>
                        </a:lnSpc>
                        <a:spcAft>
                          <a:spcPts val="0"/>
                        </a:spcAft>
                      </a:pPr>
                      <a:r>
                        <a:rPr lang="en-US" sz="1000">
                          <a:effectLst/>
                        </a:rPr>
                        <a:t>Mongolia </a:t>
                      </a:r>
                      <a:endParaRPr lang="en-IN" sz="1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tc>
                  <a:txBody>
                    <a:bodyPr/>
                    <a:lstStyle/>
                    <a:p>
                      <a:pPr algn="just">
                        <a:lnSpc>
                          <a:spcPct val="105000"/>
                        </a:lnSpc>
                        <a:spcAft>
                          <a:spcPts val="0"/>
                        </a:spcAft>
                      </a:pPr>
                      <a:r>
                        <a:rPr lang="en-US" sz="1000" dirty="0">
                          <a:effectLst/>
                        </a:rPr>
                        <a:t>Renewable energy cost model and power purchase agreement training for Mongolia</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nchor="ctr">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extLst>
                  <a:ext uri="{0D108BD9-81ED-4DB2-BD59-A6C34878D82A}">
                    <a16:rowId xmlns:a16="http://schemas.microsoft.com/office/drawing/2014/main" val="2689634675"/>
                  </a:ext>
                </a:extLst>
              </a:tr>
              <a:tr h="532069">
                <a:tc>
                  <a:txBody>
                    <a:bodyPr/>
                    <a:lstStyle/>
                    <a:p>
                      <a:pPr algn="just">
                        <a:lnSpc>
                          <a:spcPct val="107000"/>
                        </a:lnSpc>
                        <a:spcAft>
                          <a:spcPts val="0"/>
                        </a:spcAft>
                      </a:pPr>
                      <a:r>
                        <a:rPr lang="en-US" sz="1000" dirty="0" err="1">
                          <a:effectLst/>
                        </a:rPr>
                        <a:t>Oregan</a:t>
                      </a:r>
                      <a:endParaRPr lang="en-IN"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tc>
                  <a:txBody>
                    <a:bodyPr/>
                    <a:lstStyle/>
                    <a:p>
                      <a:pPr algn="just">
                        <a:lnSpc>
                          <a:spcPct val="105000"/>
                        </a:lnSpc>
                        <a:spcAft>
                          <a:spcPts val="0"/>
                        </a:spcAft>
                      </a:pPr>
                      <a:r>
                        <a:rPr lang="en-US" sz="1000" dirty="0">
                          <a:effectLst/>
                        </a:rPr>
                        <a:t>Supported Oregon Department of Environmental Quality in performing economic analysis of a market-based carbon reduction program by energy-accounting model LEAP and the impacts of the carbon market using the IMPLAN macroeconomic model.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2230" marR="62230" marT="9525" marB="0" anchor="ctr">
                    <a:lnL w="12700" cap="flat" cmpd="sng" algn="ctr">
                      <a:solidFill>
                        <a:schemeClr val="accent2"/>
                      </a:solidFill>
                      <a:prstDash val="sysDot"/>
                      <a:round/>
                      <a:headEnd type="none" w="med" len="med"/>
                      <a:tailEnd type="none" w="med" len="med"/>
                    </a:lnL>
                    <a:lnR w="12700" cap="flat" cmpd="sng" algn="ctr">
                      <a:solidFill>
                        <a:schemeClr val="accent2"/>
                      </a:solidFill>
                      <a:prstDash val="sysDot"/>
                      <a:round/>
                      <a:headEnd type="none" w="med" len="med"/>
                      <a:tailEnd type="none" w="med" len="med"/>
                    </a:lnR>
                    <a:lnT w="12700" cap="flat" cmpd="sng" algn="ctr">
                      <a:solidFill>
                        <a:schemeClr val="accent2"/>
                      </a:solidFill>
                      <a:prstDash val="sysDot"/>
                      <a:round/>
                      <a:headEnd type="none" w="med" len="med"/>
                      <a:tailEnd type="none" w="med" len="med"/>
                    </a:lnT>
                    <a:lnB w="12700" cap="flat" cmpd="sng" algn="ctr">
                      <a:solidFill>
                        <a:schemeClr val="accent2"/>
                      </a:solidFill>
                      <a:prstDash val="sysDot"/>
                      <a:round/>
                      <a:headEnd type="none" w="med" len="med"/>
                      <a:tailEnd type="none" w="med" len="med"/>
                    </a:lnB>
                  </a:tcPr>
                </a:tc>
                <a:extLst>
                  <a:ext uri="{0D108BD9-81ED-4DB2-BD59-A6C34878D82A}">
                    <a16:rowId xmlns:a16="http://schemas.microsoft.com/office/drawing/2014/main" val="3695832917"/>
                  </a:ext>
                </a:extLst>
              </a:tr>
            </a:tbl>
          </a:graphicData>
        </a:graphic>
      </p:graphicFrame>
      <p:sp>
        <p:nvSpPr>
          <p:cNvPr id="53" name="Oval 52"/>
          <p:cNvSpPr/>
          <p:nvPr/>
        </p:nvSpPr>
        <p:spPr bwMode="gray">
          <a:xfrm>
            <a:off x="7486832" y="2977333"/>
            <a:ext cx="1171254" cy="932170"/>
          </a:xfrm>
          <a:prstGeom prst="ellips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59" name="TextBox 58"/>
          <p:cNvSpPr txBox="1"/>
          <p:nvPr/>
        </p:nvSpPr>
        <p:spPr>
          <a:xfrm>
            <a:off x="7496630" y="3343303"/>
            <a:ext cx="1162404" cy="215444"/>
          </a:xfrm>
          <a:prstGeom prst="rect">
            <a:avLst/>
          </a:prstGeom>
          <a:noFill/>
        </p:spPr>
        <p:txBody>
          <a:bodyPr wrap="square" lIns="0" tIns="0" rIns="0" bIns="0" rtlCol="0">
            <a:spAutoFit/>
          </a:bodyPr>
          <a:lstStyle/>
          <a:p>
            <a:pPr algn="ctr">
              <a:spcBef>
                <a:spcPts val="600"/>
              </a:spcBef>
              <a:buSzPct val="100000"/>
            </a:pPr>
            <a:r>
              <a:rPr lang="en-US" sz="1400" b="1" dirty="0">
                <a:solidFill>
                  <a:schemeClr val="bg1"/>
                </a:solidFill>
              </a:rPr>
              <a:t>Core areas</a:t>
            </a:r>
            <a:endParaRPr lang="en-IN" sz="1400" b="1" dirty="0">
              <a:solidFill>
                <a:schemeClr val="bg1"/>
              </a:solidFill>
            </a:endParaRPr>
          </a:p>
        </p:txBody>
      </p:sp>
      <p:grpSp>
        <p:nvGrpSpPr>
          <p:cNvPr id="93" name="Group 92"/>
          <p:cNvGrpSpPr/>
          <p:nvPr/>
        </p:nvGrpSpPr>
        <p:grpSpPr>
          <a:xfrm>
            <a:off x="679136" y="2220477"/>
            <a:ext cx="5191788" cy="2390330"/>
            <a:chOff x="679136" y="2220477"/>
            <a:chExt cx="5191788" cy="2390330"/>
          </a:xfrm>
        </p:grpSpPr>
        <p:sp>
          <p:nvSpPr>
            <p:cNvPr id="81" name="Rectangle 80"/>
            <p:cNvSpPr/>
            <p:nvPr/>
          </p:nvSpPr>
          <p:spPr>
            <a:xfrm>
              <a:off x="3856366" y="3964476"/>
              <a:ext cx="1703591" cy="646331"/>
            </a:xfrm>
            <a:prstGeom prst="rect">
              <a:avLst/>
            </a:prstGeom>
          </p:spPr>
          <p:txBody>
            <a:bodyPr wrap="square">
              <a:spAutoFit/>
            </a:bodyPr>
            <a:lstStyle/>
            <a:p>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RESTORE: Energy Storage Dispatch Model </a:t>
              </a:r>
              <a:endParaRPr lang="en-IN"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endParaRPr>
            </a:p>
          </p:txBody>
        </p:sp>
        <p:grpSp>
          <p:nvGrpSpPr>
            <p:cNvPr id="84" name="Group 83"/>
            <p:cNvGrpSpPr/>
            <p:nvPr/>
          </p:nvGrpSpPr>
          <p:grpSpPr>
            <a:xfrm>
              <a:off x="679136" y="2220477"/>
              <a:ext cx="5191788" cy="2390330"/>
              <a:chOff x="1152330" y="2313182"/>
              <a:chExt cx="5191788" cy="2390330"/>
            </a:xfrm>
          </p:grpSpPr>
          <p:pic>
            <p:nvPicPr>
              <p:cNvPr id="85" name="Picture 84" descr="C:\Users\pgoinka\Desktop\GIZ Proposal\E3\tool-thumb-acm-new.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2330" y="2313182"/>
                <a:ext cx="719455" cy="467995"/>
              </a:xfrm>
              <a:prstGeom prst="rect">
                <a:avLst/>
              </a:prstGeom>
              <a:noFill/>
              <a:ln>
                <a:noFill/>
              </a:ln>
            </p:spPr>
          </p:pic>
          <p:pic>
            <p:nvPicPr>
              <p:cNvPr id="86" name="Picture 85" descr="C:\Users\pgoinka\Desktop\GIZ Proposal\E3\tool-thumb-idsm-new.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9891" y="2951984"/>
                <a:ext cx="719455" cy="467995"/>
              </a:xfrm>
              <a:prstGeom prst="rect">
                <a:avLst/>
              </a:prstGeom>
              <a:noFill/>
              <a:ln>
                <a:noFill/>
              </a:ln>
            </p:spPr>
          </p:pic>
          <p:pic>
            <p:nvPicPr>
              <p:cNvPr id="87" name="Picture 86" descr="C:\Users\pgoinka\Desktop\GIZ Proposal\E3\tool-thumb-pathways-new3.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9891" y="3556631"/>
                <a:ext cx="719455" cy="467995"/>
              </a:xfrm>
              <a:prstGeom prst="rect">
                <a:avLst/>
              </a:prstGeom>
              <a:noFill/>
              <a:ln>
                <a:noFill/>
              </a:ln>
            </p:spPr>
          </p:pic>
          <p:pic>
            <p:nvPicPr>
              <p:cNvPr id="88" name="Picture 87" descr="C:\Users\pgoinka\Desktop\GIZ Proposal\E3\tool-thumb-recap-new.jp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59891" y="4125792"/>
                <a:ext cx="719455" cy="467995"/>
              </a:xfrm>
              <a:prstGeom prst="rect">
                <a:avLst/>
              </a:prstGeom>
              <a:noFill/>
              <a:ln>
                <a:noFill/>
              </a:ln>
            </p:spPr>
          </p:pic>
          <p:pic>
            <p:nvPicPr>
              <p:cNvPr id="89" name="Picture 88" descr="C:\Users\pgoinka\Desktop\GIZ Proposal\E3\tool-thumb-ev.jpg"/>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81223" y="2339233"/>
                <a:ext cx="719455" cy="415925"/>
              </a:xfrm>
              <a:prstGeom prst="rect">
                <a:avLst/>
              </a:prstGeom>
              <a:noFill/>
              <a:ln>
                <a:noFill/>
              </a:ln>
            </p:spPr>
          </p:pic>
          <p:pic>
            <p:nvPicPr>
              <p:cNvPr id="90" name="Picture 89" descr="C:\Users\pgoinka\Desktop\GIZ Proposal\E3\tool-thumb-reflex-new.jpg"/>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75088" y="2888449"/>
                <a:ext cx="719455" cy="467995"/>
              </a:xfrm>
              <a:prstGeom prst="rect">
                <a:avLst/>
              </a:prstGeom>
              <a:noFill/>
              <a:ln>
                <a:noFill/>
              </a:ln>
            </p:spPr>
          </p:pic>
          <p:pic>
            <p:nvPicPr>
              <p:cNvPr id="91" name="Picture 90" descr="C:\Users\pgoinka\Desktop\GIZ Proposal\E3\tool-thumb-resolve-new (1).jpg"/>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75088" y="3537636"/>
                <a:ext cx="719455" cy="467995"/>
              </a:xfrm>
              <a:prstGeom prst="rect">
                <a:avLst/>
              </a:prstGeom>
              <a:noFill/>
              <a:ln>
                <a:noFill/>
              </a:ln>
            </p:spPr>
          </p:pic>
          <p:pic>
            <p:nvPicPr>
              <p:cNvPr id="92" name="Picture 91" descr="C:\Users\pgoinka\Desktop\GIZ Proposal\E3\tool-thumb-restore-new.jpg"/>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575088" y="4183938"/>
                <a:ext cx="719455" cy="467995"/>
              </a:xfrm>
              <a:prstGeom prst="rect">
                <a:avLst/>
              </a:prstGeom>
              <a:noFill/>
              <a:ln>
                <a:noFill/>
              </a:ln>
            </p:spPr>
          </p:pic>
          <p:sp>
            <p:nvSpPr>
              <p:cNvPr id="55" name="Rectangle 54"/>
              <p:cNvSpPr/>
              <p:nvPr/>
            </p:nvSpPr>
            <p:spPr>
              <a:xfrm>
                <a:off x="1986745" y="2343721"/>
                <a:ext cx="1284471" cy="461665"/>
              </a:xfrm>
              <a:prstGeom prst="rect">
                <a:avLst/>
              </a:prstGeom>
            </p:spPr>
            <p:txBody>
              <a:bodyPr wrap="square">
                <a:spAutoFit/>
              </a:bodyPr>
              <a:lstStyle/>
              <a:p>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ACM: Avoided Cost Model </a:t>
                </a:r>
                <a:endParaRPr lang="en-IN" sz="1200" dirty="0">
                  <a:solidFill>
                    <a:schemeClr val="accent2"/>
                  </a:solidFill>
                </a:endParaRPr>
              </a:p>
            </p:txBody>
          </p:sp>
          <p:sp>
            <p:nvSpPr>
              <p:cNvPr id="94" name="Rectangle 93"/>
              <p:cNvSpPr/>
              <p:nvPr/>
            </p:nvSpPr>
            <p:spPr>
              <a:xfrm>
                <a:off x="1985543" y="2886275"/>
                <a:ext cx="1394494" cy="830997"/>
              </a:xfrm>
              <a:prstGeom prst="rect">
                <a:avLst/>
              </a:prstGeom>
            </p:spPr>
            <p:txBody>
              <a:bodyPr wrap="square">
                <a:spAutoFit/>
              </a:bodyPr>
              <a:lstStyle/>
              <a:p>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IDSM: Integrated Demand Side </a:t>
                </a:r>
                <a:r>
                  <a:rPr lang="en-US" sz="1200" dirty="0" err="1">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Mnmgt</a:t>
                </a:r>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 Model </a:t>
                </a:r>
                <a:endParaRPr lang="en-IN" sz="1200" dirty="0">
                  <a:solidFill>
                    <a:schemeClr val="accent2"/>
                  </a:solidFill>
                </a:endParaRPr>
              </a:p>
            </p:txBody>
          </p:sp>
          <p:sp>
            <p:nvSpPr>
              <p:cNvPr id="58" name="Rectangle 57"/>
              <p:cNvSpPr/>
              <p:nvPr/>
            </p:nvSpPr>
            <p:spPr>
              <a:xfrm>
                <a:off x="4363492" y="2338245"/>
                <a:ext cx="1863676" cy="461665"/>
              </a:xfrm>
              <a:prstGeom prst="rect">
                <a:avLst/>
              </a:prstGeom>
            </p:spPr>
            <p:txBody>
              <a:bodyPr wrap="square">
                <a:spAutoFit/>
              </a:bodyPr>
              <a:lstStyle/>
              <a:p>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Electric Vehicle Grid Impacts Model </a:t>
                </a:r>
                <a:endParaRPr lang="en-IN"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endParaRPr>
              </a:p>
            </p:txBody>
          </p:sp>
          <p:sp>
            <p:nvSpPr>
              <p:cNvPr id="79" name="Rectangle 78"/>
              <p:cNvSpPr/>
              <p:nvPr/>
            </p:nvSpPr>
            <p:spPr>
              <a:xfrm>
                <a:off x="4343618" y="2853410"/>
                <a:ext cx="1968763" cy="646331"/>
              </a:xfrm>
              <a:prstGeom prst="rect">
                <a:avLst/>
              </a:prstGeom>
            </p:spPr>
            <p:txBody>
              <a:bodyPr wrap="square">
                <a:spAutoFit/>
              </a:bodyPr>
              <a:lstStyle/>
              <a:p>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REFLEX: Renewable Energy Flexibility Model </a:t>
                </a:r>
                <a:endParaRPr lang="en-IN"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endParaRPr>
              </a:p>
            </p:txBody>
          </p:sp>
          <p:sp>
            <p:nvSpPr>
              <p:cNvPr id="80" name="Rectangle 79"/>
              <p:cNvSpPr/>
              <p:nvPr/>
            </p:nvSpPr>
            <p:spPr>
              <a:xfrm>
                <a:off x="4329560" y="3553241"/>
                <a:ext cx="2014558" cy="461665"/>
              </a:xfrm>
              <a:prstGeom prst="rect">
                <a:avLst/>
              </a:prstGeom>
            </p:spPr>
            <p:txBody>
              <a:bodyPr wrap="square">
                <a:spAutoFit/>
              </a:bodyPr>
              <a:lstStyle/>
              <a:p>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RESOLVE: Renewable Energy Solutions Model </a:t>
                </a:r>
                <a:endParaRPr lang="en-IN"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endParaRPr>
              </a:p>
            </p:txBody>
          </p:sp>
          <p:sp>
            <p:nvSpPr>
              <p:cNvPr id="82" name="Rectangle 81"/>
              <p:cNvSpPr/>
              <p:nvPr/>
            </p:nvSpPr>
            <p:spPr>
              <a:xfrm>
                <a:off x="1932063" y="3693388"/>
                <a:ext cx="1590307" cy="276999"/>
              </a:xfrm>
              <a:prstGeom prst="rect">
                <a:avLst/>
              </a:prstGeom>
            </p:spPr>
            <p:txBody>
              <a:bodyPr wrap="none">
                <a:spAutoFit/>
              </a:bodyPr>
              <a:lstStyle/>
              <a:p>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PATHWAYS Model </a:t>
                </a:r>
                <a:endParaRPr lang="en-IN"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endParaRPr>
              </a:p>
            </p:txBody>
          </p:sp>
          <p:sp>
            <p:nvSpPr>
              <p:cNvPr id="83" name="Rectangle 82"/>
              <p:cNvSpPr/>
              <p:nvPr/>
            </p:nvSpPr>
            <p:spPr>
              <a:xfrm>
                <a:off x="1922708" y="4057181"/>
                <a:ext cx="1691729" cy="646331"/>
              </a:xfrm>
              <a:prstGeom prst="rect">
                <a:avLst/>
              </a:prstGeom>
            </p:spPr>
            <p:txBody>
              <a:bodyPr wrap="square">
                <a:spAutoFit/>
              </a:bodyPr>
              <a:lstStyle/>
              <a:p>
                <a:r>
                  <a:rPr lang="en-US"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rPr>
                  <a:t>RECAP: Renewable Energy Capacity Planning Model </a:t>
                </a:r>
                <a:endParaRPr lang="en-IN" sz="1200" dirty="0">
                  <a:solidFill>
                    <a:schemeClr val="accent2"/>
                  </a:solidFill>
                  <a:latin typeface="Verdana" panose="020B0604030504040204" pitchFamily="34" charset="0"/>
                  <a:ea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81023062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txBox="1">
            <a:spLocks/>
          </p:cNvSpPr>
          <p:nvPr/>
        </p:nvSpPr>
        <p:spPr>
          <a:xfrm>
            <a:off x="439792" y="627192"/>
            <a:ext cx="9934294" cy="1114522"/>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pPr algn="just"/>
            <a:endParaRPr lang="en-US" sz="1600" dirty="0">
              <a:solidFill>
                <a:srgbClr val="575757"/>
              </a:solidFill>
              <a:latin typeface="+mn-lt"/>
              <a:ea typeface="+mn-ea"/>
              <a:cs typeface="+mn-cs"/>
            </a:endParaRPr>
          </a:p>
        </p:txBody>
      </p:sp>
      <p:sp>
        <p:nvSpPr>
          <p:cNvPr id="4" name="Block Arc 3"/>
          <p:cNvSpPr/>
          <p:nvPr/>
        </p:nvSpPr>
        <p:spPr>
          <a:xfrm>
            <a:off x="-3104147" y="627192"/>
            <a:ext cx="4405486" cy="6936447"/>
          </a:xfrm>
          <a:prstGeom prst="blockArc">
            <a:avLst>
              <a:gd name="adj1" fmla="val 18930675"/>
              <a:gd name="adj2" fmla="val 2700000"/>
              <a:gd name="adj3" fmla="val 310"/>
            </a:avLst>
          </a:prstGeom>
          <a:solidFill>
            <a:schemeClr val="accent6"/>
          </a:solidFill>
          <a:ln>
            <a:solidFill>
              <a:schemeClr val="accent6"/>
            </a:solidFill>
          </a:ln>
        </p:spPr>
        <p:style>
          <a:lnRef idx="2">
            <a:schemeClr val="accent3">
              <a:hueOff val="0"/>
              <a:satOff val="0"/>
              <a:lumOff val="0"/>
              <a:alphaOff val="0"/>
            </a:schemeClr>
          </a:lnRef>
          <a:fillRef idx="0">
            <a:schemeClr val="accent2">
              <a:tint val="90000"/>
              <a:hueOff val="0"/>
              <a:satOff val="0"/>
              <a:lumOff val="0"/>
              <a:alphaOff val="0"/>
            </a:schemeClr>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5" name="Freeform 4"/>
          <p:cNvSpPr/>
          <p:nvPr/>
        </p:nvSpPr>
        <p:spPr>
          <a:xfrm>
            <a:off x="1099211" y="1726423"/>
            <a:ext cx="2030652" cy="544180"/>
          </a:xfrm>
          <a:custGeom>
            <a:avLst/>
            <a:gdLst>
              <a:gd name="connsiteX0" fmla="*/ 0 w 3647683"/>
              <a:gd name="connsiteY0" fmla="*/ 0 h 544180"/>
              <a:gd name="connsiteX1" fmla="*/ 3647683 w 3647683"/>
              <a:gd name="connsiteY1" fmla="*/ 0 h 544180"/>
              <a:gd name="connsiteX2" fmla="*/ 3647683 w 3647683"/>
              <a:gd name="connsiteY2" fmla="*/ 544180 h 544180"/>
              <a:gd name="connsiteX3" fmla="*/ 0 w 3647683"/>
              <a:gd name="connsiteY3" fmla="*/ 544180 h 544180"/>
              <a:gd name="connsiteX4" fmla="*/ 0 w 3647683"/>
              <a:gd name="connsiteY4" fmla="*/ 0 h 544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7683" h="544180">
                <a:moveTo>
                  <a:pt x="0" y="0"/>
                </a:moveTo>
                <a:lnTo>
                  <a:pt x="3647683" y="0"/>
                </a:lnTo>
                <a:lnTo>
                  <a:pt x="3647683" y="544180"/>
                </a:lnTo>
                <a:lnTo>
                  <a:pt x="0" y="544180"/>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8000" tIns="33020" rIns="33020" bIns="33020" numCol="1" spcCol="1270" anchor="ctr" anchorCtr="0">
            <a:noAutofit/>
          </a:bodyPr>
          <a:lstStyle/>
          <a:p>
            <a:pPr lvl="0" algn="l" defTabSz="577850">
              <a:lnSpc>
                <a:spcPct val="90000"/>
              </a:lnSpc>
              <a:spcBef>
                <a:spcPct val="0"/>
              </a:spcBef>
              <a:spcAft>
                <a:spcPct val="35000"/>
              </a:spcAft>
            </a:pPr>
            <a:r>
              <a:rPr lang="en-IN" sz="1200" b="1" kern="1200" dirty="0"/>
              <a:t>Energy Plan &amp; Integrated Energy Modelling</a:t>
            </a:r>
            <a:endParaRPr lang="en-US" sz="1200" kern="1200" dirty="0"/>
          </a:p>
        </p:txBody>
      </p:sp>
      <p:sp>
        <p:nvSpPr>
          <p:cNvPr id="6" name="Oval 5"/>
          <p:cNvSpPr/>
          <p:nvPr/>
        </p:nvSpPr>
        <p:spPr>
          <a:xfrm>
            <a:off x="370378" y="1712641"/>
            <a:ext cx="680225" cy="680225"/>
          </a:xfrm>
          <a:prstGeom prst="ellipse">
            <a:avLst/>
          </a:pr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5" name="Freeform 14"/>
          <p:cNvSpPr/>
          <p:nvPr/>
        </p:nvSpPr>
        <p:spPr>
          <a:xfrm>
            <a:off x="1529833" y="2571195"/>
            <a:ext cx="1896990" cy="544180"/>
          </a:xfrm>
          <a:custGeom>
            <a:avLst/>
            <a:gdLst>
              <a:gd name="connsiteX0" fmla="*/ 0 w 3200058"/>
              <a:gd name="connsiteY0" fmla="*/ 0 h 544180"/>
              <a:gd name="connsiteX1" fmla="*/ 3200058 w 3200058"/>
              <a:gd name="connsiteY1" fmla="*/ 0 h 544180"/>
              <a:gd name="connsiteX2" fmla="*/ 3200058 w 3200058"/>
              <a:gd name="connsiteY2" fmla="*/ 544180 h 544180"/>
              <a:gd name="connsiteX3" fmla="*/ 0 w 3200058"/>
              <a:gd name="connsiteY3" fmla="*/ 544180 h 544180"/>
              <a:gd name="connsiteX4" fmla="*/ 0 w 3200058"/>
              <a:gd name="connsiteY4" fmla="*/ 0 h 544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058" h="544180">
                <a:moveTo>
                  <a:pt x="0" y="0"/>
                </a:moveTo>
                <a:lnTo>
                  <a:pt x="3200058" y="0"/>
                </a:lnTo>
                <a:lnTo>
                  <a:pt x="3200058" y="544180"/>
                </a:lnTo>
                <a:lnTo>
                  <a:pt x="0" y="544180"/>
                </a:lnTo>
                <a:lnTo>
                  <a:pt x="0" y="0"/>
                </a:lnTo>
                <a:close/>
              </a:path>
            </a:pathLst>
          </a:custGeom>
        </p:spPr>
        <p:style>
          <a:lnRef idx="2">
            <a:schemeClr val="lt1">
              <a:hueOff val="0"/>
              <a:satOff val="0"/>
              <a:lumOff val="0"/>
              <a:alphaOff val="0"/>
            </a:schemeClr>
          </a:lnRef>
          <a:fillRef idx="1">
            <a:schemeClr val="accent2">
              <a:hueOff val="764542"/>
              <a:satOff val="13969"/>
              <a:lumOff val="3843"/>
              <a:alphaOff val="0"/>
            </a:schemeClr>
          </a:fillRef>
          <a:effectRef idx="0">
            <a:schemeClr val="accent2">
              <a:hueOff val="764542"/>
              <a:satOff val="13969"/>
              <a:lumOff val="3843"/>
              <a:alphaOff val="0"/>
            </a:schemeClr>
          </a:effectRef>
          <a:fontRef idx="minor">
            <a:schemeClr val="lt1"/>
          </a:fontRef>
        </p:style>
        <p:txBody>
          <a:bodyPr spcFirstLastPara="0" vert="horz" wrap="square" lIns="144000" tIns="33020" rIns="72000" bIns="33020" numCol="1" spcCol="1270" anchor="ctr" anchorCtr="0">
            <a:noAutofit/>
          </a:bodyPr>
          <a:lstStyle/>
          <a:p>
            <a:pPr defTabSz="577850">
              <a:lnSpc>
                <a:spcPct val="90000"/>
              </a:lnSpc>
              <a:spcBef>
                <a:spcPct val="0"/>
              </a:spcBef>
              <a:spcAft>
                <a:spcPct val="35000"/>
              </a:spcAft>
            </a:pPr>
            <a:r>
              <a:rPr lang="en-IN" sz="1200" b="1" dirty="0"/>
              <a:t>Energy Related Programme or policies</a:t>
            </a:r>
          </a:p>
        </p:txBody>
      </p:sp>
      <p:sp>
        <p:nvSpPr>
          <p:cNvPr id="16" name="Oval 15"/>
          <p:cNvSpPr/>
          <p:nvPr/>
        </p:nvSpPr>
        <p:spPr>
          <a:xfrm>
            <a:off x="818003" y="2528808"/>
            <a:ext cx="680225" cy="680225"/>
          </a:xfrm>
          <a:prstGeom prst="ellipse">
            <a:avLst/>
          </a:prstGeom>
        </p:spPr>
        <p:style>
          <a:lnRef idx="2">
            <a:schemeClr val="accent2">
              <a:hueOff val="764542"/>
              <a:satOff val="13969"/>
              <a:lumOff val="3843"/>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3" name="Freeform 22"/>
          <p:cNvSpPr/>
          <p:nvPr/>
        </p:nvSpPr>
        <p:spPr>
          <a:xfrm>
            <a:off x="1740400" y="3435221"/>
            <a:ext cx="2017821" cy="544180"/>
          </a:xfrm>
          <a:custGeom>
            <a:avLst/>
            <a:gdLst>
              <a:gd name="connsiteX0" fmla="*/ 0 w 2995370"/>
              <a:gd name="connsiteY0" fmla="*/ 0 h 544180"/>
              <a:gd name="connsiteX1" fmla="*/ 2995370 w 2995370"/>
              <a:gd name="connsiteY1" fmla="*/ 0 h 544180"/>
              <a:gd name="connsiteX2" fmla="*/ 2995370 w 2995370"/>
              <a:gd name="connsiteY2" fmla="*/ 544180 h 544180"/>
              <a:gd name="connsiteX3" fmla="*/ 0 w 2995370"/>
              <a:gd name="connsiteY3" fmla="*/ 544180 h 544180"/>
              <a:gd name="connsiteX4" fmla="*/ 0 w 2995370"/>
              <a:gd name="connsiteY4" fmla="*/ 0 h 544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5370" h="544180">
                <a:moveTo>
                  <a:pt x="0" y="0"/>
                </a:moveTo>
                <a:lnTo>
                  <a:pt x="2995370" y="0"/>
                </a:lnTo>
                <a:lnTo>
                  <a:pt x="2995370" y="544180"/>
                </a:lnTo>
                <a:lnTo>
                  <a:pt x="0" y="544180"/>
                </a:lnTo>
                <a:lnTo>
                  <a:pt x="0" y="0"/>
                </a:lnTo>
                <a:close/>
              </a:path>
            </a:pathLst>
          </a:custGeom>
        </p:spPr>
        <p:style>
          <a:lnRef idx="2">
            <a:schemeClr val="lt1">
              <a:hueOff val="0"/>
              <a:satOff val="0"/>
              <a:lumOff val="0"/>
              <a:alphaOff val="0"/>
            </a:schemeClr>
          </a:lnRef>
          <a:fillRef idx="1">
            <a:schemeClr val="accent2">
              <a:hueOff val="1529084"/>
              <a:satOff val="27937"/>
              <a:lumOff val="7686"/>
              <a:alphaOff val="0"/>
            </a:schemeClr>
          </a:fillRef>
          <a:effectRef idx="0">
            <a:schemeClr val="accent2">
              <a:hueOff val="1529084"/>
              <a:satOff val="27937"/>
              <a:lumOff val="7686"/>
              <a:alphaOff val="0"/>
            </a:schemeClr>
          </a:effectRef>
          <a:fontRef idx="minor">
            <a:schemeClr val="lt1"/>
          </a:fontRef>
        </p:style>
        <p:txBody>
          <a:bodyPr spcFirstLastPara="0" vert="horz" wrap="square" lIns="144000" tIns="33020" rIns="33020" bIns="33020" numCol="1" spcCol="1270" anchor="ctr" anchorCtr="0">
            <a:noAutofit/>
          </a:bodyPr>
          <a:lstStyle/>
          <a:p>
            <a:pPr lvl="0" algn="l" defTabSz="577850">
              <a:lnSpc>
                <a:spcPct val="90000"/>
              </a:lnSpc>
              <a:spcBef>
                <a:spcPct val="0"/>
              </a:spcBef>
              <a:spcAft>
                <a:spcPct val="35000"/>
              </a:spcAft>
            </a:pPr>
            <a:r>
              <a:rPr lang="en-IN" sz="1200" b="1" kern="1200" dirty="0"/>
              <a:t>Energy Planning/Modelling tools/</a:t>
            </a:r>
            <a:r>
              <a:rPr lang="en-IN" sz="1200" b="1" kern="1200" dirty="0" err="1"/>
              <a:t>softwares</a:t>
            </a:r>
            <a:endParaRPr lang="en-IN" sz="1200" b="1" kern="1200" dirty="0"/>
          </a:p>
        </p:txBody>
      </p:sp>
      <p:sp>
        <p:nvSpPr>
          <p:cNvPr id="24" name="Oval 23"/>
          <p:cNvSpPr/>
          <p:nvPr/>
        </p:nvSpPr>
        <p:spPr>
          <a:xfrm>
            <a:off x="1022691" y="3344975"/>
            <a:ext cx="680225" cy="680225"/>
          </a:xfrm>
          <a:prstGeom prst="ellipse">
            <a:avLst/>
          </a:prstGeom>
        </p:spPr>
        <p:style>
          <a:lnRef idx="2">
            <a:schemeClr val="accent2">
              <a:hueOff val="1529084"/>
              <a:satOff val="27937"/>
              <a:lumOff val="7686"/>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5" name="Freeform 24"/>
          <p:cNvSpPr/>
          <p:nvPr/>
        </p:nvSpPr>
        <p:spPr>
          <a:xfrm>
            <a:off x="1743034" y="4350648"/>
            <a:ext cx="1928795" cy="544180"/>
          </a:xfrm>
          <a:custGeom>
            <a:avLst/>
            <a:gdLst>
              <a:gd name="connsiteX0" fmla="*/ 0 w 2995370"/>
              <a:gd name="connsiteY0" fmla="*/ 0 h 544180"/>
              <a:gd name="connsiteX1" fmla="*/ 2995370 w 2995370"/>
              <a:gd name="connsiteY1" fmla="*/ 0 h 544180"/>
              <a:gd name="connsiteX2" fmla="*/ 2995370 w 2995370"/>
              <a:gd name="connsiteY2" fmla="*/ 544180 h 544180"/>
              <a:gd name="connsiteX3" fmla="*/ 0 w 2995370"/>
              <a:gd name="connsiteY3" fmla="*/ 544180 h 544180"/>
              <a:gd name="connsiteX4" fmla="*/ 0 w 2995370"/>
              <a:gd name="connsiteY4" fmla="*/ 0 h 544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5370" h="544180">
                <a:moveTo>
                  <a:pt x="0" y="0"/>
                </a:moveTo>
                <a:lnTo>
                  <a:pt x="2995370" y="0"/>
                </a:lnTo>
                <a:lnTo>
                  <a:pt x="2995370" y="544180"/>
                </a:lnTo>
                <a:lnTo>
                  <a:pt x="0" y="544180"/>
                </a:lnTo>
                <a:lnTo>
                  <a:pt x="0" y="0"/>
                </a:lnTo>
                <a:close/>
              </a:path>
            </a:pathLst>
          </a:custGeom>
        </p:spPr>
        <p:style>
          <a:lnRef idx="2">
            <a:schemeClr val="lt1">
              <a:hueOff val="0"/>
              <a:satOff val="0"/>
              <a:lumOff val="0"/>
              <a:alphaOff val="0"/>
            </a:schemeClr>
          </a:lnRef>
          <a:fillRef idx="1">
            <a:schemeClr val="accent2">
              <a:hueOff val="2293626"/>
              <a:satOff val="41906"/>
              <a:lumOff val="11528"/>
              <a:alphaOff val="0"/>
            </a:schemeClr>
          </a:fillRef>
          <a:effectRef idx="0">
            <a:schemeClr val="accent2">
              <a:hueOff val="2293626"/>
              <a:satOff val="41906"/>
              <a:lumOff val="11528"/>
              <a:alphaOff val="0"/>
            </a:schemeClr>
          </a:effectRef>
          <a:fontRef idx="minor">
            <a:schemeClr val="lt1"/>
          </a:fontRef>
        </p:style>
        <p:txBody>
          <a:bodyPr spcFirstLastPara="0" vert="horz" wrap="square" lIns="144000" tIns="33020" rIns="33020" bIns="33020" numCol="1" spcCol="1270" anchor="ctr" anchorCtr="0">
            <a:noAutofit/>
          </a:bodyPr>
          <a:lstStyle/>
          <a:p>
            <a:pPr lvl="0" algn="l" defTabSz="577850">
              <a:lnSpc>
                <a:spcPct val="90000"/>
              </a:lnSpc>
              <a:spcBef>
                <a:spcPct val="0"/>
              </a:spcBef>
              <a:spcAft>
                <a:spcPct val="35000"/>
              </a:spcAft>
            </a:pPr>
            <a:r>
              <a:rPr lang="en-IN" sz="1200" b="1" kern="1200" dirty="0"/>
              <a:t>Training &amp; Capacity Building</a:t>
            </a:r>
          </a:p>
        </p:txBody>
      </p:sp>
      <p:sp>
        <p:nvSpPr>
          <p:cNvPr id="26" name="Oval 25"/>
          <p:cNvSpPr/>
          <p:nvPr/>
        </p:nvSpPr>
        <p:spPr>
          <a:xfrm>
            <a:off x="1022691" y="4160626"/>
            <a:ext cx="680225" cy="680225"/>
          </a:xfrm>
          <a:prstGeom prst="ellipse">
            <a:avLst/>
          </a:prstGeom>
        </p:spPr>
        <p:style>
          <a:lnRef idx="2">
            <a:schemeClr val="accent2">
              <a:hueOff val="2293626"/>
              <a:satOff val="41906"/>
              <a:lumOff val="11528"/>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7" name="Freeform 26"/>
          <p:cNvSpPr/>
          <p:nvPr/>
        </p:nvSpPr>
        <p:spPr>
          <a:xfrm>
            <a:off x="1544036" y="5228019"/>
            <a:ext cx="1868584" cy="544180"/>
          </a:xfrm>
          <a:custGeom>
            <a:avLst/>
            <a:gdLst>
              <a:gd name="connsiteX0" fmla="*/ 0 w 3200058"/>
              <a:gd name="connsiteY0" fmla="*/ 0 h 544180"/>
              <a:gd name="connsiteX1" fmla="*/ 3200058 w 3200058"/>
              <a:gd name="connsiteY1" fmla="*/ 0 h 544180"/>
              <a:gd name="connsiteX2" fmla="*/ 3200058 w 3200058"/>
              <a:gd name="connsiteY2" fmla="*/ 544180 h 544180"/>
              <a:gd name="connsiteX3" fmla="*/ 0 w 3200058"/>
              <a:gd name="connsiteY3" fmla="*/ 544180 h 544180"/>
              <a:gd name="connsiteX4" fmla="*/ 0 w 3200058"/>
              <a:gd name="connsiteY4" fmla="*/ 0 h 544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058" h="544180">
                <a:moveTo>
                  <a:pt x="0" y="0"/>
                </a:moveTo>
                <a:lnTo>
                  <a:pt x="3200058" y="0"/>
                </a:lnTo>
                <a:lnTo>
                  <a:pt x="3200058" y="544180"/>
                </a:lnTo>
                <a:lnTo>
                  <a:pt x="0" y="544180"/>
                </a:lnTo>
                <a:lnTo>
                  <a:pt x="0" y="0"/>
                </a:lnTo>
                <a:close/>
              </a:path>
            </a:pathLst>
          </a:custGeom>
        </p:spPr>
        <p:style>
          <a:lnRef idx="2">
            <a:schemeClr val="lt1">
              <a:hueOff val="0"/>
              <a:satOff val="0"/>
              <a:lumOff val="0"/>
              <a:alphaOff val="0"/>
            </a:schemeClr>
          </a:lnRef>
          <a:fillRef idx="1">
            <a:schemeClr val="accent2">
              <a:hueOff val="3058168"/>
              <a:satOff val="55874"/>
              <a:lumOff val="15371"/>
              <a:alphaOff val="0"/>
            </a:schemeClr>
          </a:fillRef>
          <a:effectRef idx="0">
            <a:schemeClr val="accent2">
              <a:hueOff val="3058168"/>
              <a:satOff val="55874"/>
              <a:lumOff val="15371"/>
              <a:alphaOff val="0"/>
            </a:schemeClr>
          </a:effectRef>
          <a:fontRef idx="minor">
            <a:schemeClr val="lt1"/>
          </a:fontRef>
        </p:style>
        <p:txBody>
          <a:bodyPr spcFirstLastPara="0" vert="horz" wrap="square" lIns="144000" tIns="33020" rIns="33020" bIns="33020" numCol="1" spcCol="1270" anchor="ctr" anchorCtr="0">
            <a:noAutofit/>
          </a:bodyPr>
          <a:lstStyle/>
          <a:p>
            <a:pPr lvl="0" algn="l" defTabSz="577850">
              <a:lnSpc>
                <a:spcPct val="90000"/>
              </a:lnSpc>
              <a:spcBef>
                <a:spcPct val="0"/>
              </a:spcBef>
              <a:spcAft>
                <a:spcPct val="35000"/>
              </a:spcAft>
            </a:pPr>
            <a:r>
              <a:rPr lang="en-US" sz="1200" b="1" kern="1200" dirty="0"/>
              <a:t>Liaison </a:t>
            </a:r>
            <a:r>
              <a:rPr lang="en-IN" sz="1200" b="1" kern="1200" dirty="0"/>
              <a:t>experience with Government </a:t>
            </a:r>
            <a:r>
              <a:rPr lang="en-IN" sz="1200" b="1" dirty="0"/>
              <a:t>De</a:t>
            </a:r>
            <a:r>
              <a:rPr lang="en-IN" sz="1200" b="1" kern="1200" dirty="0"/>
              <a:t>partments</a:t>
            </a:r>
          </a:p>
        </p:txBody>
      </p:sp>
      <p:sp>
        <p:nvSpPr>
          <p:cNvPr id="28" name="Oval 27"/>
          <p:cNvSpPr/>
          <p:nvPr/>
        </p:nvSpPr>
        <p:spPr>
          <a:xfrm>
            <a:off x="818003" y="4976793"/>
            <a:ext cx="680225" cy="680225"/>
          </a:xfrm>
          <a:prstGeom prst="ellipse">
            <a:avLst/>
          </a:prstGeom>
        </p:spPr>
        <p:style>
          <a:lnRef idx="2">
            <a:schemeClr val="accent2">
              <a:hueOff val="3058168"/>
              <a:satOff val="55874"/>
              <a:lumOff val="15371"/>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9" name="Freeform 28"/>
          <p:cNvSpPr/>
          <p:nvPr/>
        </p:nvSpPr>
        <p:spPr>
          <a:xfrm>
            <a:off x="1158115" y="6056100"/>
            <a:ext cx="2030652" cy="544180"/>
          </a:xfrm>
          <a:custGeom>
            <a:avLst/>
            <a:gdLst>
              <a:gd name="connsiteX0" fmla="*/ 0 w 3647683"/>
              <a:gd name="connsiteY0" fmla="*/ 0 h 544180"/>
              <a:gd name="connsiteX1" fmla="*/ 3647683 w 3647683"/>
              <a:gd name="connsiteY1" fmla="*/ 0 h 544180"/>
              <a:gd name="connsiteX2" fmla="*/ 3647683 w 3647683"/>
              <a:gd name="connsiteY2" fmla="*/ 544180 h 544180"/>
              <a:gd name="connsiteX3" fmla="*/ 0 w 3647683"/>
              <a:gd name="connsiteY3" fmla="*/ 544180 h 544180"/>
              <a:gd name="connsiteX4" fmla="*/ 0 w 3647683"/>
              <a:gd name="connsiteY4" fmla="*/ 0 h 544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7683" h="544180">
                <a:moveTo>
                  <a:pt x="0" y="0"/>
                </a:moveTo>
                <a:lnTo>
                  <a:pt x="3647683" y="0"/>
                </a:lnTo>
                <a:lnTo>
                  <a:pt x="3647683" y="544180"/>
                </a:lnTo>
                <a:lnTo>
                  <a:pt x="0" y="544180"/>
                </a:lnTo>
                <a:lnTo>
                  <a:pt x="0" y="0"/>
                </a:lnTo>
                <a:close/>
              </a:path>
            </a:pathLst>
          </a:custGeom>
        </p:spPr>
        <p:style>
          <a:lnRef idx="2">
            <a:schemeClr val="lt1">
              <a:hueOff val="0"/>
              <a:satOff val="0"/>
              <a:lumOff val="0"/>
              <a:alphaOff val="0"/>
            </a:schemeClr>
          </a:lnRef>
          <a:fillRef idx="1">
            <a:schemeClr val="accent2">
              <a:hueOff val="3822710"/>
              <a:satOff val="69843"/>
              <a:lumOff val="19214"/>
              <a:alphaOff val="0"/>
            </a:schemeClr>
          </a:fillRef>
          <a:effectRef idx="0">
            <a:schemeClr val="accent2">
              <a:hueOff val="3822710"/>
              <a:satOff val="69843"/>
              <a:lumOff val="19214"/>
              <a:alphaOff val="0"/>
            </a:schemeClr>
          </a:effectRef>
          <a:fontRef idx="minor">
            <a:schemeClr val="lt1"/>
          </a:fontRef>
        </p:style>
        <p:txBody>
          <a:bodyPr spcFirstLastPara="0" vert="horz" wrap="square" lIns="144000" tIns="33020" rIns="33020" bIns="33020" numCol="1" spcCol="1270" anchor="ctr" anchorCtr="0">
            <a:noAutofit/>
          </a:bodyPr>
          <a:lstStyle/>
          <a:p>
            <a:pPr lvl="0" algn="l" defTabSz="577850">
              <a:lnSpc>
                <a:spcPct val="90000"/>
              </a:lnSpc>
              <a:spcBef>
                <a:spcPct val="0"/>
              </a:spcBef>
              <a:spcAft>
                <a:spcPct val="35000"/>
              </a:spcAft>
            </a:pPr>
            <a:r>
              <a:rPr lang="en-IN" sz="1200" b="1" kern="1200" dirty="0"/>
              <a:t>Official  Developmental Assistance </a:t>
            </a:r>
            <a:endParaRPr lang="en-IN" sz="1200" kern="1200" dirty="0"/>
          </a:p>
        </p:txBody>
      </p:sp>
      <p:sp>
        <p:nvSpPr>
          <p:cNvPr id="30" name="Oval 29"/>
          <p:cNvSpPr/>
          <p:nvPr/>
        </p:nvSpPr>
        <p:spPr>
          <a:xfrm>
            <a:off x="370378" y="5792961"/>
            <a:ext cx="680225" cy="680225"/>
          </a:xfrm>
          <a:prstGeom prst="ellipse">
            <a:avLst/>
          </a:prstGeom>
        </p:spPr>
        <p:style>
          <a:lnRef idx="2">
            <a:schemeClr val="accent2">
              <a:hueOff val="3822710"/>
              <a:satOff val="69843"/>
              <a:lumOff val="1921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Text Placeholder 5"/>
          <p:cNvSpPr txBox="1">
            <a:spLocks/>
          </p:cNvSpPr>
          <p:nvPr/>
        </p:nvSpPr>
        <p:spPr>
          <a:xfrm>
            <a:off x="3821429" y="1471713"/>
            <a:ext cx="6263922" cy="2605314"/>
          </a:xfrm>
          <a:prstGeom prst="rect">
            <a:avLst/>
          </a:prstGeom>
          <a:solidFill>
            <a:schemeClr val="bg1">
              <a:lumMod val="95000"/>
            </a:schemeClr>
          </a:solidFill>
          <a:ln w="12700">
            <a:noFill/>
          </a:ln>
        </p:spPr>
        <p:txBody>
          <a:bodyPr wrap="square" lIns="91440" tIns="91440" rIns="91440" bIns="9144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marL="285750" indent="-285750">
              <a:lnSpc>
                <a:spcPts val="1500"/>
              </a:lnSpc>
              <a:spcBef>
                <a:spcPts val="0"/>
              </a:spcBef>
              <a:buFont typeface="Arial" panose="020B0604020202020204" pitchFamily="34" charset="0"/>
              <a:buChar char="•"/>
            </a:pPr>
            <a:r>
              <a:rPr lang="en-GB" sz="1200" dirty="0"/>
              <a:t>Greenhouse gas mitigation planning in China’s electricity sector.</a:t>
            </a:r>
          </a:p>
          <a:p>
            <a:pPr marL="285750" indent="-285750">
              <a:lnSpc>
                <a:spcPts val="1500"/>
              </a:lnSpc>
              <a:spcBef>
                <a:spcPts val="0"/>
              </a:spcBef>
              <a:buFont typeface="Arial" panose="020B0604020202020204" pitchFamily="34" charset="0"/>
              <a:buChar char="•"/>
            </a:pPr>
            <a:r>
              <a:rPr lang="en-GB" sz="1200" dirty="0"/>
              <a:t>Future directions for grid planning and renewable energy development to meet goals in India.</a:t>
            </a:r>
          </a:p>
          <a:p>
            <a:pPr marL="285750" indent="-285750">
              <a:lnSpc>
                <a:spcPts val="1500"/>
              </a:lnSpc>
              <a:spcBef>
                <a:spcPts val="0"/>
              </a:spcBef>
              <a:buFont typeface="Arial" panose="020B0604020202020204" pitchFamily="34" charset="0"/>
              <a:buChar char="•"/>
            </a:pPr>
            <a:r>
              <a:rPr lang="en-GB" sz="1200" dirty="0"/>
              <a:t>electricity price forecasting study in Turkey.</a:t>
            </a:r>
          </a:p>
          <a:p>
            <a:pPr marL="285750" indent="-285750">
              <a:lnSpc>
                <a:spcPts val="1500"/>
              </a:lnSpc>
              <a:spcBef>
                <a:spcPts val="0"/>
              </a:spcBef>
              <a:buFont typeface="Arial" panose="020B0604020202020204" pitchFamily="34" charset="0"/>
              <a:buChar char="•"/>
            </a:pPr>
            <a:r>
              <a:rPr lang="en-US" sz="1200" dirty="0"/>
              <a:t>Developing a strategy for low emission &amp; </a:t>
            </a:r>
            <a:r>
              <a:rPr lang="en-GB" sz="1200" dirty="0"/>
              <a:t>Increasing energy efficiency adoption and compliance in energy-intensive sectors in Vietnam.</a:t>
            </a:r>
          </a:p>
          <a:p>
            <a:pPr marL="285750" indent="-285750">
              <a:lnSpc>
                <a:spcPts val="1500"/>
              </a:lnSpc>
              <a:spcBef>
                <a:spcPts val="0"/>
              </a:spcBef>
              <a:buFont typeface="Arial" panose="020B0604020202020204" pitchFamily="34" charset="0"/>
              <a:buChar char="•"/>
            </a:pPr>
            <a:r>
              <a:rPr lang="en-GB" sz="1200" dirty="0"/>
              <a:t>Demand Assessment for oil and gas products in India.</a:t>
            </a:r>
          </a:p>
          <a:p>
            <a:pPr marL="285750" indent="-285750">
              <a:lnSpc>
                <a:spcPts val="1500"/>
              </a:lnSpc>
              <a:spcBef>
                <a:spcPts val="0"/>
              </a:spcBef>
              <a:buFont typeface="Arial" panose="020B0604020202020204" pitchFamily="34" charset="0"/>
              <a:buChar char="•"/>
            </a:pPr>
            <a:r>
              <a:rPr lang="en-GB" sz="1200" dirty="0"/>
              <a:t>Increase institutional capacity by imparting training to NEA employees in Nepal.</a:t>
            </a:r>
          </a:p>
          <a:p>
            <a:pPr marL="285750" indent="-285750">
              <a:lnSpc>
                <a:spcPts val="1500"/>
              </a:lnSpc>
              <a:spcBef>
                <a:spcPts val="0"/>
              </a:spcBef>
              <a:buFont typeface="Arial" panose="020B0604020202020204" pitchFamily="34" charset="0"/>
              <a:buChar char="•"/>
            </a:pPr>
            <a:r>
              <a:rPr lang="en-GB" sz="1200" dirty="0"/>
              <a:t>Development of an RE integration plan with the implementation strategy in Maldives.</a:t>
            </a:r>
          </a:p>
          <a:p>
            <a:pPr marL="285750" indent="-285750">
              <a:lnSpc>
                <a:spcPts val="1500"/>
              </a:lnSpc>
              <a:spcBef>
                <a:spcPts val="0"/>
              </a:spcBef>
              <a:buFont typeface="Arial" panose="020B0604020202020204" pitchFamily="34" charset="0"/>
              <a:buChar char="•"/>
            </a:pPr>
            <a:r>
              <a:rPr lang="en-GB" sz="1200" dirty="0"/>
              <a:t>Projections of regional energy requirements till 2030 in South East Asian countries.</a:t>
            </a:r>
            <a:endParaRPr lang="en-GB" sz="1600" dirty="0"/>
          </a:p>
          <a:p>
            <a:pPr marL="285750" indent="-285750">
              <a:lnSpc>
                <a:spcPts val="1500"/>
              </a:lnSpc>
              <a:spcBef>
                <a:spcPts val="0"/>
              </a:spcBef>
              <a:buFont typeface="Arial" panose="020B0604020202020204" pitchFamily="34" charset="0"/>
              <a:buChar char="•"/>
            </a:pPr>
            <a:endParaRPr lang="en-GB" sz="1600" dirty="0"/>
          </a:p>
          <a:p>
            <a:pPr marL="285750" indent="-285750">
              <a:lnSpc>
                <a:spcPts val="1500"/>
              </a:lnSpc>
              <a:spcBef>
                <a:spcPts val="0"/>
              </a:spcBef>
              <a:buFont typeface="Arial" panose="020B0604020202020204" pitchFamily="34" charset="0"/>
              <a:buChar char="•"/>
            </a:pPr>
            <a:endParaRPr lang="en-US" sz="1050" dirty="0">
              <a:solidFill>
                <a:schemeClr val="tx1"/>
              </a:solidFill>
            </a:endParaRPr>
          </a:p>
        </p:txBody>
      </p:sp>
      <p:sp>
        <p:nvSpPr>
          <p:cNvPr id="12" name="Text Box 10"/>
          <p:cNvSpPr txBox="1">
            <a:spLocks noChangeArrowheads="1"/>
          </p:cNvSpPr>
          <p:nvPr/>
        </p:nvSpPr>
        <p:spPr bwMode="auto">
          <a:xfrm>
            <a:off x="3805479" y="4218511"/>
            <a:ext cx="6295822" cy="249031"/>
          </a:xfrm>
          <a:prstGeom prst="rect">
            <a:avLst/>
          </a:prstGeom>
          <a:solidFill>
            <a:schemeClr val="tx1"/>
          </a:solidFill>
          <a:ln w="12700" algn="ctr">
            <a:noFill/>
            <a:miter lim="800000"/>
            <a:headEnd/>
            <a:tailEnd type="none" w="sm" len="med"/>
          </a:ln>
        </p:spPr>
        <p:txBody>
          <a:bodyPr lIns="91440" tIns="91440" rIns="91440" bIns="91440" anchor="ctr" anchorCtr="0"/>
          <a:lstStyle/>
          <a:p>
            <a:pPr defTabSz="957263"/>
            <a:r>
              <a:rPr lang="en-US" sz="1400" b="1" dirty="0">
                <a:solidFill>
                  <a:schemeClr val="bg1"/>
                </a:solidFill>
              </a:rPr>
              <a:t>Our major Global experience</a:t>
            </a:r>
          </a:p>
        </p:txBody>
      </p:sp>
      <p:sp>
        <p:nvSpPr>
          <p:cNvPr id="13" name="Text Placeholder 5"/>
          <p:cNvSpPr txBox="1">
            <a:spLocks/>
          </p:cNvSpPr>
          <p:nvPr/>
        </p:nvSpPr>
        <p:spPr>
          <a:xfrm>
            <a:off x="3805479" y="4467544"/>
            <a:ext cx="6295822" cy="2760444"/>
          </a:xfrm>
          <a:prstGeom prst="rect">
            <a:avLst/>
          </a:prstGeom>
          <a:solidFill>
            <a:schemeClr val="bg1">
              <a:lumMod val="95000"/>
            </a:schemeClr>
          </a:solidFill>
          <a:ln w="12700">
            <a:noFill/>
          </a:ln>
        </p:spPr>
        <p:txBody>
          <a:bodyPr wrap="square" lIns="91440" tIns="91440" rIns="91440" bIns="9144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marL="285750" indent="-285750" algn="just">
              <a:lnSpc>
                <a:spcPts val="1500"/>
              </a:lnSpc>
              <a:spcBef>
                <a:spcPts val="0"/>
              </a:spcBef>
              <a:buFont typeface="Arial" panose="020B0604020202020204" pitchFamily="34" charset="0"/>
              <a:buChar char="•"/>
            </a:pPr>
            <a:r>
              <a:rPr lang="en-GB" sz="1200" dirty="0"/>
              <a:t>Drafted the 2007 Idaho Energy Plan in USA.</a:t>
            </a:r>
          </a:p>
          <a:p>
            <a:pPr marL="285750" indent="-285750" algn="just">
              <a:lnSpc>
                <a:spcPts val="1500"/>
              </a:lnSpc>
              <a:spcBef>
                <a:spcPts val="0"/>
              </a:spcBef>
              <a:buFont typeface="Arial" panose="020B0604020202020204" pitchFamily="34" charset="0"/>
              <a:buChar char="•"/>
            </a:pPr>
            <a:r>
              <a:rPr lang="en-GB" sz="1200" dirty="0"/>
              <a:t>exploring the feasibility, timing, and cost of achieving a 100% renewable energy future in New York. </a:t>
            </a:r>
          </a:p>
          <a:p>
            <a:pPr marL="285750" indent="-285750" algn="just">
              <a:lnSpc>
                <a:spcPts val="1500"/>
              </a:lnSpc>
              <a:spcBef>
                <a:spcPts val="0"/>
              </a:spcBef>
              <a:buFont typeface="Arial" panose="020B0604020202020204" pitchFamily="34" charset="0"/>
              <a:buChar char="•"/>
            </a:pPr>
            <a:r>
              <a:rPr lang="en-GB" sz="1200" dirty="0"/>
              <a:t>Studied scenarios for achieving deep decarbonisation in U.S.</a:t>
            </a:r>
          </a:p>
          <a:p>
            <a:pPr marL="285750" indent="-285750" algn="just">
              <a:lnSpc>
                <a:spcPts val="1500"/>
              </a:lnSpc>
              <a:spcBef>
                <a:spcPts val="0"/>
              </a:spcBef>
              <a:buFont typeface="Arial" panose="020B0604020202020204" pitchFamily="34" charset="0"/>
              <a:buChar char="•"/>
            </a:pPr>
            <a:r>
              <a:rPr lang="en-IN" sz="1200" dirty="0"/>
              <a:t>Investigation of Least Cost Policy Decisions to Achieve Hawaii’s Renewable Portfolio Standard (RPS) Goals.</a:t>
            </a:r>
          </a:p>
          <a:p>
            <a:pPr marL="285750" indent="-285750" algn="just">
              <a:lnSpc>
                <a:spcPts val="1500"/>
              </a:lnSpc>
              <a:spcBef>
                <a:spcPts val="0"/>
              </a:spcBef>
              <a:buFont typeface="Arial" panose="020B0604020202020204" pitchFamily="34" charset="0"/>
              <a:buChar char="•"/>
            </a:pPr>
            <a:r>
              <a:rPr lang="en-GB" sz="1200" dirty="0"/>
              <a:t>Design 2025 Energy Policy in Angola.</a:t>
            </a:r>
          </a:p>
          <a:p>
            <a:pPr marL="285750" indent="-285750" algn="just">
              <a:lnSpc>
                <a:spcPts val="1500"/>
              </a:lnSpc>
              <a:spcBef>
                <a:spcPts val="0"/>
              </a:spcBef>
              <a:buFont typeface="Arial" panose="020B0604020202020204" pitchFamily="34" charset="0"/>
              <a:buChar char="•"/>
            </a:pPr>
            <a:r>
              <a:rPr lang="en-GB" sz="1200" dirty="0"/>
              <a:t>Impact assessment and economic forecast for energy consumption in Belgium</a:t>
            </a:r>
          </a:p>
          <a:p>
            <a:pPr marL="285750" indent="-285750" algn="just">
              <a:lnSpc>
                <a:spcPts val="1500"/>
              </a:lnSpc>
              <a:spcBef>
                <a:spcPts val="0"/>
              </a:spcBef>
              <a:buFont typeface="Arial" panose="020B0604020202020204" pitchFamily="34" charset="0"/>
              <a:buChar char="•"/>
            </a:pPr>
            <a:r>
              <a:rPr lang="en-GB" sz="1200" dirty="0"/>
              <a:t>Gather energy consumption and GHG data and energy costs to Develop a framework to meet the energy reduction target in Canada.</a:t>
            </a:r>
          </a:p>
          <a:p>
            <a:pPr marL="285750" indent="-285750" algn="just">
              <a:lnSpc>
                <a:spcPts val="1500"/>
              </a:lnSpc>
              <a:spcBef>
                <a:spcPts val="0"/>
              </a:spcBef>
              <a:buFont typeface="Arial" panose="020B0604020202020204" pitchFamily="34" charset="0"/>
              <a:buChar char="•"/>
            </a:pPr>
            <a:r>
              <a:rPr lang="en-IN" sz="1200" dirty="0"/>
              <a:t> </a:t>
            </a:r>
            <a:r>
              <a:rPr lang="en-GB" sz="1200" dirty="0"/>
              <a:t>Long-term Forecasting Model (LFM) to Produce annual forecasts out to 20 years in Australia.</a:t>
            </a:r>
          </a:p>
          <a:p>
            <a:pPr marL="285750" indent="-285750" algn="just">
              <a:lnSpc>
                <a:spcPts val="1500"/>
              </a:lnSpc>
              <a:spcBef>
                <a:spcPts val="0"/>
              </a:spcBef>
              <a:buFont typeface="Arial" panose="020B0604020202020204" pitchFamily="34" charset="0"/>
              <a:buChar char="•"/>
            </a:pPr>
            <a:r>
              <a:rPr lang="en-IN" sz="1200" dirty="0"/>
              <a:t>Sustainable Energy Model development for Spain in 2050.</a:t>
            </a:r>
            <a:endParaRPr lang="en-IN" sz="1200" dirty="0">
              <a:ea typeface="Calibri" panose="020F0502020204030204" pitchFamily="34" charset="0"/>
              <a:cs typeface="Times New Roman" panose="02020603050405020304" pitchFamily="18" charset="0"/>
            </a:endParaRPr>
          </a:p>
          <a:p>
            <a:pPr marL="285750" indent="-285750" algn="just">
              <a:lnSpc>
                <a:spcPts val="1500"/>
              </a:lnSpc>
              <a:spcBef>
                <a:spcPts val="0"/>
              </a:spcBef>
              <a:buFont typeface="Arial" panose="020B0604020202020204" pitchFamily="34" charset="0"/>
              <a:buChar char="•"/>
            </a:pPr>
            <a:endParaRPr lang="en-GB" sz="1200" dirty="0"/>
          </a:p>
          <a:p>
            <a:pPr marL="285750" indent="-285750" algn="just">
              <a:lnSpc>
                <a:spcPts val="1500"/>
              </a:lnSpc>
              <a:spcBef>
                <a:spcPts val="0"/>
              </a:spcBef>
              <a:buFont typeface="Arial" panose="020B0604020202020204" pitchFamily="34" charset="0"/>
              <a:buChar char="•"/>
            </a:pPr>
            <a:endParaRPr lang="en-IN" sz="1200" dirty="0">
              <a:ea typeface="Calibri" panose="020F0502020204030204" pitchFamily="34" charset="0"/>
              <a:cs typeface="Times New Roman" panose="02020603050405020304" pitchFamily="18" charset="0"/>
            </a:endParaRPr>
          </a:p>
          <a:p>
            <a:pPr marL="285750" indent="-285750">
              <a:lnSpc>
                <a:spcPts val="1500"/>
              </a:lnSpc>
              <a:spcBef>
                <a:spcPts val="0"/>
              </a:spcBef>
              <a:buFont typeface="Arial" panose="020B0604020202020204" pitchFamily="34" charset="0"/>
              <a:buChar char="•"/>
            </a:pPr>
            <a:endParaRPr lang="en-GB" sz="1200" dirty="0"/>
          </a:p>
          <a:p>
            <a:pPr marL="285750" indent="-285750">
              <a:lnSpc>
                <a:spcPts val="1500"/>
              </a:lnSpc>
              <a:spcBef>
                <a:spcPts val="0"/>
              </a:spcBef>
              <a:buFont typeface="Arial" panose="020B0604020202020204" pitchFamily="34" charset="0"/>
              <a:buChar char="•"/>
            </a:pPr>
            <a:endParaRPr lang="en-IN" sz="1200" dirty="0">
              <a:ea typeface="Calibri" panose="020F0502020204030204" pitchFamily="34" charset="0"/>
              <a:cs typeface="Times New Roman" panose="02020603050405020304" pitchFamily="18" charset="0"/>
            </a:endParaRPr>
          </a:p>
          <a:p>
            <a:pPr marL="285750" indent="-285750">
              <a:lnSpc>
                <a:spcPts val="1500"/>
              </a:lnSpc>
              <a:spcBef>
                <a:spcPts val="0"/>
              </a:spcBef>
              <a:buFont typeface="Arial" panose="020B0604020202020204" pitchFamily="34" charset="0"/>
              <a:buChar char="•"/>
            </a:pPr>
            <a:endParaRPr lang="en-GB" sz="1200" dirty="0"/>
          </a:p>
          <a:p>
            <a:pPr marL="285750" indent="-285750">
              <a:lnSpc>
                <a:spcPts val="1500"/>
              </a:lnSpc>
              <a:spcBef>
                <a:spcPts val="0"/>
              </a:spcBef>
              <a:buFont typeface="Arial" panose="020B0604020202020204" pitchFamily="34" charset="0"/>
              <a:buChar char="•"/>
            </a:pPr>
            <a:endParaRPr lang="en-GB" sz="1200" dirty="0"/>
          </a:p>
          <a:p>
            <a:pPr marL="285750" indent="-285750">
              <a:lnSpc>
                <a:spcPts val="1500"/>
              </a:lnSpc>
              <a:spcBef>
                <a:spcPts val="0"/>
              </a:spcBef>
              <a:buFont typeface="Arial" panose="020B0604020202020204" pitchFamily="34" charset="0"/>
              <a:buChar char="•"/>
            </a:pPr>
            <a:endParaRPr lang="en-US" sz="1200" dirty="0">
              <a:solidFill>
                <a:schemeClr val="tx1"/>
              </a:solidFill>
            </a:endParaRPr>
          </a:p>
        </p:txBody>
      </p:sp>
      <p:sp>
        <p:nvSpPr>
          <p:cNvPr id="31" name="Text Box 10"/>
          <p:cNvSpPr txBox="1">
            <a:spLocks noChangeArrowheads="1"/>
          </p:cNvSpPr>
          <p:nvPr/>
        </p:nvSpPr>
        <p:spPr bwMode="auto">
          <a:xfrm>
            <a:off x="3828589" y="1247620"/>
            <a:ext cx="6272712" cy="249189"/>
          </a:xfrm>
          <a:prstGeom prst="rect">
            <a:avLst/>
          </a:prstGeom>
          <a:solidFill>
            <a:schemeClr val="tx1"/>
          </a:solidFill>
          <a:ln w="12700" algn="ctr">
            <a:noFill/>
            <a:miter lim="800000"/>
            <a:headEnd/>
            <a:tailEnd type="none" w="sm" len="med"/>
          </a:ln>
        </p:spPr>
        <p:txBody>
          <a:bodyPr lIns="91440" tIns="91440" rIns="91440" bIns="91440" anchor="ctr" anchorCtr="0"/>
          <a:lstStyle/>
          <a:p>
            <a:pPr defTabSz="957263"/>
            <a:r>
              <a:rPr lang="en-US" sz="1400" b="1" dirty="0">
                <a:solidFill>
                  <a:schemeClr val="bg1"/>
                </a:solidFill>
              </a:rPr>
              <a:t>Our major experience in the Asian Countries</a:t>
            </a:r>
          </a:p>
        </p:txBody>
      </p:sp>
      <p:sp>
        <p:nvSpPr>
          <p:cNvPr id="32" name="Freeform 611"/>
          <p:cNvSpPr>
            <a:spLocks noChangeAspect="1" noEditPoints="1"/>
          </p:cNvSpPr>
          <p:nvPr/>
        </p:nvSpPr>
        <p:spPr bwMode="auto">
          <a:xfrm>
            <a:off x="804989" y="2518018"/>
            <a:ext cx="693239" cy="69323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49 w 512"/>
              <a:gd name="T11" fmla="*/ 362 h 512"/>
              <a:gd name="T12" fmla="*/ 128 w 512"/>
              <a:gd name="T13" fmla="*/ 362 h 512"/>
              <a:gd name="T14" fmla="*/ 117 w 512"/>
              <a:gd name="T15" fmla="*/ 352 h 512"/>
              <a:gd name="T16" fmla="*/ 128 w 512"/>
              <a:gd name="T17" fmla="*/ 341 h 512"/>
              <a:gd name="T18" fmla="*/ 149 w 512"/>
              <a:gd name="T19" fmla="*/ 341 h 512"/>
              <a:gd name="T20" fmla="*/ 160 w 512"/>
              <a:gd name="T21" fmla="*/ 352 h 512"/>
              <a:gd name="T22" fmla="*/ 149 w 512"/>
              <a:gd name="T23" fmla="*/ 362 h 512"/>
              <a:gd name="T24" fmla="*/ 149 w 512"/>
              <a:gd name="T25" fmla="*/ 298 h 512"/>
              <a:gd name="T26" fmla="*/ 128 w 512"/>
              <a:gd name="T27" fmla="*/ 298 h 512"/>
              <a:gd name="T28" fmla="*/ 117 w 512"/>
              <a:gd name="T29" fmla="*/ 288 h 512"/>
              <a:gd name="T30" fmla="*/ 128 w 512"/>
              <a:gd name="T31" fmla="*/ 277 h 512"/>
              <a:gd name="T32" fmla="*/ 149 w 512"/>
              <a:gd name="T33" fmla="*/ 277 h 512"/>
              <a:gd name="T34" fmla="*/ 160 w 512"/>
              <a:gd name="T35" fmla="*/ 288 h 512"/>
              <a:gd name="T36" fmla="*/ 149 w 512"/>
              <a:gd name="T37" fmla="*/ 298 h 512"/>
              <a:gd name="T38" fmla="*/ 149 w 512"/>
              <a:gd name="T39" fmla="*/ 234 h 512"/>
              <a:gd name="T40" fmla="*/ 128 w 512"/>
              <a:gd name="T41" fmla="*/ 234 h 512"/>
              <a:gd name="T42" fmla="*/ 117 w 512"/>
              <a:gd name="T43" fmla="*/ 224 h 512"/>
              <a:gd name="T44" fmla="*/ 128 w 512"/>
              <a:gd name="T45" fmla="*/ 213 h 512"/>
              <a:gd name="T46" fmla="*/ 149 w 512"/>
              <a:gd name="T47" fmla="*/ 213 h 512"/>
              <a:gd name="T48" fmla="*/ 160 w 512"/>
              <a:gd name="T49" fmla="*/ 224 h 512"/>
              <a:gd name="T50" fmla="*/ 149 w 512"/>
              <a:gd name="T51" fmla="*/ 234 h 512"/>
              <a:gd name="T52" fmla="*/ 149 w 512"/>
              <a:gd name="T53" fmla="*/ 170 h 512"/>
              <a:gd name="T54" fmla="*/ 128 w 512"/>
              <a:gd name="T55" fmla="*/ 170 h 512"/>
              <a:gd name="T56" fmla="*/ 117 w 512"/>
              <a:gd name="T57" fmla="*/ 160 h 512"/>
              <a:gd name="T58" fmla="*/ 128 w 512"/>
              <a:gd name="T59" fmla="*/ 149 h 512"/>
              <a:gd name="T60" fmla="*/ 149 w 512"/>
              <a:gd name="T61" fmla="*/ 149 h 512"/>
              <a:gd name="T62" fmla="*/ 160 w 512"/>
              <a:gd name="T63" fmla="*/ 160 h 512"/>
              <a:gd name="T64" fmla="*/ 149 w 512"/>
              <a:gd name="T65" fmla="*/ 170 h 512"/>
              <a:gd name="T66" fmla="*/ 384 w 512"/>
              <a:gd name="T67" fmla="*/ 362 h 512"/>
              <a:gd name="T68" fmla="*/ 202 w 512"/>
              <a:gd name="T69" fmla="*/ 362 h 512"/>
              <a:gd name="T70" fmla="*/ 192 w 512"/>
              <a:gd name="T71" fmla="*/ 352 h 512"/>
              <a:gd name="T72" fmla="*/ 202 w 512"/>
              <a:gd name="T73" fmla="*/ 341 h 512"/>
              <a:gd name="T74" fmla="*/ 384 w 512"/>
              <a:gd name="T75" fmla="*/ 341 h 512"/>
              <a:gd name="T76" fmla="*/ 394 w 512"/>
              <a:gd name="T77" fmla="*/ 352 h 512"/>
              <a:gd name="T78" fmla="*/ 384 w 512"/>
              <a:gd name="T79" fmla="*/ 362 h 512"/>
              <a:gd name="T80" fmla="*/ 384 w 512"/>
              <a:gd name="T81" fmla="*/ 298 h 512"/>
              <a:gd name="T82" fmla="*/ 202 w 512"/>
              <a:gd name="T83" fmla="*/ 298 h 512"/>
              <a:gd name="T84" fmla="*/ 192 w 512"/>
              <a:gd name="T85" fmla="*/ 288 h 512"/>
              <a:gd name="T86" fmla="*/ 202 w 512"/>
              <a:gd name="T87" fmla="*/ 277 h 512"/>
              <a:gd name="T88" fmla="*/ 384 w 512"/>
              <a:gd name="T89" fmla="*/ 277 h 512"/>
              <a:gd name="T90" fmla="*/ 394 w 512"/>
              <a:gd name="T91" fmla="*/ 288 h 512"/>
              <a:gd name="T92" fmla="*/ 384 w 512"/>
              <a:gd name="T93" fmla="*/ 298 h 512"/>
              <a:gd name="T94" fmla="*/ 384 w 512"/>
              <a:gd name="T95" fmla="*/ 234 h 512"/>
              <a:gd name="T96" fmla="*/ 202 w 512"/>
              <a:gd name="T97" fmla="*/ 234 h 512"/>
              <a:gd name="T98" fmla="*/ 192 w 512"/>
              <a:gd name="T99" fmla="*/ 224 h 512"/>
              <a:gd name="T100" fmla="*/ 202 w 512"/>
              <a:gd name="T101" fmla="*/ 213 h 512"/>
              <a:gd name="T102" fmla="*/ 384 w 512"/>
              <a:gd name="T103" fmla="*/ 213 h 512"/>
              <a:gd name="T104" fmla="*/ 394 w 512"/>
              <a:gd name="T105" fmla="*/ 224 h 512"/>
              <a:gd name="T106" fmla="*/ 384 w 512"/>
              <a:gd name="T107" fmla="*/ 234 h 512"/>
              <a:gd name="T108" fmla="*/ 384 w 512"/>
              <a:gd name="T109" fmla="*/ 170 h 512"/>
              <a:gd name="T110" fmla="*/ 202 w 512"/>
              <a:gd name="T111" fmla="*/ 170 h 512"/>
              <a:gd name="T112" fmla="*/ 192 w 512"/>
              <a:gd name="T113" fmla="*/ 160 h 512"/>
              <a:gd name="T114" fmla="*/ 202 w 512"/>
              <a:gd name="T115" fmla="*/ 149 h 512"/>
              <a:gd name="T116" fmla="*/ 384 w 512"/>
              <a:gd name="T117" fmla="*/ 149 h 512"/>
              <a:gd name="T118" fmla="*/ 394 w 512"/>
              <a:gd name="T119" fmla="*/ 160 h 512"/>
              <a:gd name="T120" fmla="*/ 384 w 512"/>
              <a:gd name="T12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49" y="362"/>
                </a:moveTo>
                <a:cubicBezTo>
                  <a:pt x="128" y="362"/>
                  <a:pt x="128" y="362"/>
                  <a:pt x="128" y="362"/>
                </a:cubicBezTo>
                <a:cubicBezTo>
                  <a:pt x="122" y="362"/>
                  <a:pt x="117" y="358"/>
                  <a:pt x="117" y="352"/>
                </a:cubicBezTo>
                <a:cubicBezTo>
                  <a:pt x="117" y="346"/>
                  <a:pt x="122" y="341"/>
                  <a:pt x="128" y="341"/>
                </a:cubicBezTo>
                <a:cubicBezTo>
                  <a:pt x="149" y="341"/>
                  <a:pt x="149" y="341"/>
                  <a:pt x="149" y="341"/>
                </a:cubicBezTo>
                <a:cubicBezTo>
                  <a:pt x="155" y="341"/>
                  <a:pt x="160" y="346"/>
                  <a:pt x="160" y="352"/>
                </a:cubicBezTo>
                <a:cubicBezTo>
                  <a:pt x="160" y="358"/>
                  <a:pt x="155" y="362"/>
                  <a:pt x="149" y="362"/>
                </a:cubicBezTo>
                <a:close/>
                <a:moveTo>
                  <a:pt x="149" y="298"/>
                </a:moveTo>
                <a:cubicBezTo>
                  <a:pt x="128" y="298"/>
                  <a:pt x="128" y="298"/>
                  <a:pt x="128" y="298"/>
                </a:cubicBezTo>
                <a:cubicBezTo>
                  <a:pt x="122" y="298"/>
                  <a:pt x="117" y="294"/>
                  <a:pt x="117" y="288"/>
                </a:cubicBezTo>
                <a:cubicBezTo>
                  <a:pt x="117" y="282"/>
                  <a:pt x="122" y="277"/>
                  <a:pt x="128" y="277"/>
                </a:cubicBezTo>
                <a:cubicBezTo>
                  <a:pt x="149" y="277"/>
                  <a:pt x="149" y="277"/>
                  <a:pt x="149" y="277"/>
                </a:cubicBezTo>
                <a:cubicBezTo>
                  <a:pt x="155" y="277"/>
                  <a:pt x="160" y="282"/>
                  <a:pt x="160" y="288"/>
                </a:cubicBezTo>
                <a:cubicBezTo>
                  <a:pt x="160" y="294"/>
                  <a:pt x="155" y="298"/>
                  <a:pt x="149" y="298"/>
                </a:cubicBezTo>
                <a:close/>
                <a:moveTo>
                  <a:pt x="149" y="234"/>
                </a:moveTo>
                <a:cubicBezTo>
                  <a:pt x="128" y="234"/>
                  <a:pt x="128" y="234"/>
                  <a:pt x="128" y="234"/>
                </a:cubicBezTo>
                <a:cubicBezTo>
                  <a:pt x="122" y="234"/>
                  <a:pt x="117" y="230"/>
                  <a:pt x="117" y="224"/>
                </a:cubicBezTo>
                <a:cubicBezTo>
                  <a:pt x="117" y="218"/>
                  <a:pt x="122" y="213"/>
                  <a:pt x="128" y="213"/>
                </a:cubicBezTo>
                <a:cubicBezTo>
                  <a:pt x="149" y="213"/>
                  <a:pt x="149" y="213"/>
                  <a:pt x="149" y="213"/>
                </a:cubicBezTo>
                <a:cubicBezTo>
                  <a:pt x="155" y="213"/>
                  <a:pt x="160" y="218"/>
                  <a:pt x="160" y="224"/>
                </a:cubicBezTo>
                <a:cubicBezTo>
                  <a:pt x="160" y="230"/>
                  <a:pt x="155" y="234"/>
                  <a:pt x="149" y="234"/>
                </a:cubicBezTo>
                <a:close/>
                <a:moveTo>
                  <a:pt x="149" y="170"/>
                </a:moveTo>
                <a:cubicBezTo>
                  <a:pt x="128" y="170"/>
                  <a:pt x="128" y="170"/>
                  <a:pt x="128" y="170"/>
                </a:cubicBezTo>
                <a:cubicBezTo>
                  <a:pt x="122" y="170"/>
                  <a:pt x="117" y="166"/>
                  <a:pt x="117" y="160"/>
                </a:cubicBezTo>
                <a:cubicBezTo>
                  <a:pt x="117" y="154"/>
                  <a:pt x="122" y="149"/>
                  <a:pt x="128" y="149"/>
                </a:cubicBezTo>
                <a:cubicBezTo>
                  <a:pt x="149" y="149"/>
                  <a:pt x="149" y="149"/>
                  <a:pt x="149" y="149"/>
                </a:cubicBezTo>
                <a:cubicBezTo>
                  <a:pt x="155" y="149"/>
                  <a:pt x="160" y="154"/>
                  <a:pt x="160" y="160"/>
                </a:cubicBezTo>
                <a:cubicBezTo>
                  <a:pt x="160" y="166"/>
                  <a:pt x="155" y="170"/>
                  <a:pt x="149" y="170"/>
                </a:cubicBezTo>
                <a:close/>
                <a:moveTo>
                  <a:pt x="384" y="362"/>
                </a:moveTo>
                <a:cubicBezTo>
                  <a:pt x="202" y="362"/>
                  <a:pt x="202" y="362"/>
                  <a:pt x="202" y="362"/>
                </a:cubicBezTo>
                <a:cubicBezTo>
                  <a:pt x="196" y="362"/>
                  <a:pt x="192" y="358"/>
                  <a:pt x="192" y="352"/>
                </a:cubicBezTo>
                <a:cubicBezTo>
                  <a:pt x="192" y="346"/>
                  <a:pt x="196" y="341"/>
                  <a:pt x="202" y="341"/>
                </a:cubicBezTo>
                <a:cubicBezTo>
                  <a:pt x="384" y="341"/>
                  <a:pt x="384" y="341"/>
                  <a:pt x="384" y="341"/>
                </a:cubicBezTo>
                <a:cubicBezTo>
                  <a:pt x="390" y="341"/>
                  <a:pt x="394" y="346"/>
                  <a:pt x="394" y="352"/>
                </a:cubicBezTo>
                <a:cubicBezTo>
                  <a:pt x="394" y="358"/>
                  <a:pt x="390" y="362"/>
                  <a:pt x="384" y="362"/>
                </a:cubicBezTo>
                <a:close/>
                <a:moveTo>
                  <a:pt x="384" y="298"/>
                </a:moveTo>
                <a:cubicBezTo>
                  <a:pt x="202" y="298"/>
                  <a:pt x="202" y="298"/>
                  <a:pt x="202" y="298"/>
                </a:cubicBezTo>
                <a:cubicBezTo>
                  <a:pt x="196" y="298"/>
                  <a:pt x="192" y="294"/>
                  <a:pt x="192" y="288"/>
                </a:cubicBezTo>
                <a:cubicBezTo>
                  <a:pt x="192" y="282"/>
                  <a:pt x="196" y="277"/>
                  <a:pt x="202" y="277"/>
                </a:cubicBezTo>
                <a:cubicBezTo>
                  <a:pt x="384" y="277"/>
                  <a:pt x="384" y="277"/>
                  <a:pt x="384" y="277"/>
                </a:cubicBezTo>
                <a:cubicBezTo>
                  <a:pt x="390" y="277"/>
                  <a:pt x="394" y="282"/>
                  <a:pt x="394" y="288"/>
                </a:cubicBezTo>
                <a:cubicBezTo>
                  <a:pt x="394" y="294"/>
                  <a:pt x="390" y="298"/>
                  <a:pt x="384" y="298"/>
                </a:cubicBezTo>
                <a:close/>
                <a:moveTo>
                  <a:pt x="384" y="234"/>
                </a:moveTo>
                <a:cubicBezTo>
                  <a:pt x="202" y="234"/>
                  <a:pt x="202" y="234"/>
                  <a:pt x="202" y="234"/>
                </a:cubicBezTo>
                <a:cubicBezTo>
                  <a:pt x="196" y="234"/>
                  <a:pt x="192" y="230"/>
                  <a:pt x="192" y="224"/>
                </a:cubicBezTo>
                <a:cubicBezTo>
                  <a:pt x="192" y="218"/>
                  <a:pt x="196" y="213"/>
                  <a:pt x="202" y="213"/>
                </a:cubicBezTo>
                <a:cubicBezTo>
                  <a:pt x="384" y="213"/>
                  <a:pt x="384" y="213"/>
                  <a:pt x="384" y="213"/>
                </a:cubicBezTo>
                <a:cubicBezTo>
                  <a:pt x="390" y="213"/>
                  <a:pt x="394" y="218"/>
                  <a:pt x="394" y="224"/>
                </a:cubicBezTo>
                <a:cubicBezTo>
                  <a:pt x="394" y="230"/>
                  <a:pt x="390" y="234"/>
                  <a:pt x="384" y="234"/>
                </a:cubicBezTo>
                <a:close/>
                <a:moveTo>
                  <a:pt x="384" y="170"/>
                </a:moveTo>
                <a:cubicBezTo>
                  <a:pt x="202" y="170"/>
                  <a:pt x="202" y="170"/>
                  <a:pt x="202" y="170"/>
                </a:cubicBezTo>
                <a:cubicBezTo>
                  <a:pt x="196" y="170"/>
                  <a:pt x="192" y="166"/>
                  <a:pt x="192" y="160"/>
                </a:cubicBezTo>
                <a:cubicBezTo>
                  <a:pt x="192" y="154"/>
                  <a:pt x="196" y="149"/>
                  <a:pt x="202" y="149"/>
                </a:cubicBezTo>
                <a:cubicBezTo>
                  <a:pt x="384" y="149"/>
                  <a:pt x="384" y="149"/>
                  <a:pt x="384" y="149"/>
                </a:cubicBezTo>
                <a:cubicBezTo>
                  <a:pt x="390" y="149"/>
                  <a:pt x="394" y="154"/>
                  <a:pt x="394" y="160"/>
                </a:cubicBezTo>
                <a:cubicBezTo>
                  <a:pt x="394" y="166"/>
                  <a:pt x="390" y="170"/>
                  <a:pt x="384" y="170"/>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3" name="Freeform 189"/>
          <p:cNvSpPr>
            <a:spLocks noChangeAspect="1" noEditPoints="1"/>
          </p:cNvSpPr>
          <p:nvPr/>
        </p:nvSpPr>
        <p:spPr bwMode="auto">
          <a:xfrm>
            <a:off x="815263" y="4974785"/>
            <a:ext cx="679243" cy="679241"/>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34" name="Group 331"/>
          <p:cNvGrpSpPr>
            <a:grpSpLocks noChangeAspect="1"/>
          </p:cNvGrpSpPr>
          <p:nvPr/>
        </p:nvGrpSpPr>
        <p:grpSpPr bwMode="auto">
          <a:xfrm>
            <a:off x="373872" y="5792096"/>
            <a:ext cx="681089" cy="681089"/>
            <a:chOff x="3832" y="1197"/>
            <a:chExt cx="340" cy="340"/>
          </a:xfrm>
          <a:solidFill>
            <a:srgbClr val="004F59"/>
          </a:solidFill>
        </p:grpSpPr>
        <p:sp>
          <p:nvSpPr>
            <p:cNvPr id="35" name="Freeform 332"/>
            <p:cNvSpPr>
              <a:spLocks noEditPoints="1"/>
            </p:cNvSpPr>
            <p:nvPr/>
          </p:nvSpPr>
          <p:spPr bwMode="auto">
            <a:xfrm>
              <a:off x="3832" y="1197"/>
              <a:ext cx="340" cy="340"/>
            </a:xfrm>
            <a:custGeom>
              <a:avLst/>
              <a:gdLst>
                <a:gd name="T0" fmla="*/ 337 w 512"/>
                <a:gd name="T1" fmla="*/ 171 h 512"/>
                <a:gd name="T2" fmla="*/ 299 w 512"/>
                <a:gd name="T3" fmla="*/ 171 h 512"/>
                <a:gd name="T4" fmla="*/ 299 w 512"/>
                <a:gd name="T5" fmla="*/ 133 h 512"/>
                <a:gd name="T6" fmla="*/ 337 w 512"/>
                <a:gd name="T7" fmla="*/ 171 h 512"/>
                <a:gd name="T8" fmla="*/ 288 w 512"/>
                <a:gd name="T9" fmla="*/ 192 h 512"/>
                <a:gd name="T10" fmla="*/ 352 w 512"/>
                <a:gd name="T11" fmla="*/ 192 h 512"/>
                <a:gd name="T12" fmla="*/ 352 w 512"/>
                <a:gd name="T13" fmla="*/ 395 h 512"/>
                <a:gd name="T14" fmla="*/ 160 w 512"/>
                <a:gd name="T15" fmla="*/ 395 h 512"/>
                <a:gd name="T16" fmla="*/ 160 w 512"/>
                <a:gd name="T17" fmla="*/ 118 h 512"/>
                <a:gd name="T18" fmla="*/ 277 w 512"/>
                <a:gd name="T19" fmla="*/ 118 h 512"/>
                <a:gd name="T20" fmla="*/ 277 w 512"/>
                <a:gd name="T21" fmla="*/ 182 h 512"/>
                <a:gd name="T22" fmla="*/ 288 w 512"/>
                <a:gd name="T23" fmla="*/ 192 h 512"/>
                <a:gd name="T24" fmla="*/ 331 w 512"/>
                <a:gd name="T25" fmla="*/ 363 h 512"/>
                <a:gd name="T26" fmla="*/ 320 w 512"/>
                <a:gd name="T27" fmla="*/ 352 h 512"/>
                <a:gd name="T28" fmla="*/ 192 w 512"/>
                <a:gd name="T29" fmla="*/ 352 h 512"/>
                <a:gd name="T30" fmla="*/ 181 w 512"/>
                <a:gd name="T31" fmla="*/ 363 h 512"/>
                <a:gd name="T32" fmla="*/ 192 w 512"/>
                <a:gd name="T33" fmla="*/ 374 h 512"/>
                <a:gd name="T34" fmla="*/ 320 w 512"/>
                <a:gd name="T35" fmla="*/ 374 h 512"/>
                <a:gd name="T36" fmla="*/ 331 w 512"/>
                <a:gd name="T37" fmla="*/ 363 h 512"/>
                <a:gd name="T38" fmla="*/ 331 w 512"/>
                <a:gd name="T39" fmla="*/ 320 h 512"/>
                <a:gd name="T40" fmla="*/ 320 w 512"/>
                <a:gd name="T41" fmla="*/ 310 h 512"/>
                <a:gd name="T42" fmla="*/ 192 w 512"/>
                <a:gd name="T43" fmla="*/ 310 h 512"/>
                <a:gd name="T44" fmla="*/ 181 w 512"/>
                <a:gd name="T45" fmla="*/ 320 h 512"/>
                <a:gd name="T46" fmla="*/ 192 w 512"/>
                <a:gd name="T47" fmla="*/ 331 h 512"/>
                <a:gd name="T48" fmla="*/ 320 w 512"/>
                <a:gd name="T49" fmla="*/ 331 h 512"/>
                <a:gd name="T50" fmla="*/ 331 w 512"/>
                <a:gd name="T51" fmla="*/ 320 h 512"/>
                <a:gd name="T52" fmla="*/ 331 w 512"/>
                <a:gd name="T53" fmla="*/ 278 h 512"/>
                <a:gd name="T54" fmla="*/ 320 w 512"/>
                <a:gd name="T55" fmla="*/ 267 h 512"/>
                <a:gd name="T56" fmla="*/ 192 w 512"/>
                <a:gd name="T57" fmla="*/ 267 h 512"/>
                <a:gd name="T58" fmla="*/ 181 w 512"/>
                <a:gd name="T59" fmla="*/ 278 h 512"/>
                <a:gd name="T60" fmla="*/ 192 w 512"/>
                <a:gd name="T61" fmla="*/ 288 h 512"/>
                <a:gd name="T62" fmla="*/ 320 w 512"/>
                <a:gd name="T63" fmla="*/ 288 h 512"/>
                <a:gd name="T64" fmla="*/ 331 w 512"/>
                <a:gd name="T65" fmla="*/ 278 h 512"/>
                <a:gd name="T66" fmla="*/ 320 w 512"/>
                <a:gd name="T67" fmla="*/ 224 h 512"/>
                <a:gd name="T68" fmla="*/ 192 w 512"/>
                <a:gd name="T69" fmla="*/ 224 h 512"/>
                <a:gd name="T70" fmla="*/ 181 w 512"/>
                <a:gd name="T71" fmla="*/ 235 h 512"/>
                <a:gd name="T72" fmla="*/ 192 w 512"/>
                <a:gd name="T73" fmla="*/ 246 h 512"/>
                <a:gd name="T74" fmla="*/ 320 w 512"/>
                <a:gd name="T75" fmla="*/ 246 h 512"/>
                <a:gd name="T76" fmla="*/ 331 w 512"/>
                <a:gd name="T77" fmla="*/ 235 h 512"/>
                <a:gd name="T78" fmla="*/ 320 w 512"/>
                <a:gd name="T79" fmla="*/ 224 h 512"/>
                <a:gd name="T80" fmla="*/ 512 w 512"/>
                <a:gd name="T81" fmla="*/ 256 h 512"/>
                <a:gd name="T82" fmla="*/ 256 w 512"/>
                <a:gd name="T83" fmla="*/ 512 h 512"/>
                <a:gd name="T84" fmla="*/ 0 w 512"/>
                <a:gd name="T85" fmla="*/ 256 h 512"/>
                <a:gd name="T86" fmla="*/ 256 w 512"/>
                <a:gd name="T87" fmla="*/ 0 h 512"/>
                <a:gd name="T88" fmla="*/ 512 w 512"/>
                <a:gd name="T89" fmla="*/ 256 h 512"/>
                <a:gd name="T90" fmla="*/ 373 w 512"/>
                <a:gd name="T91" fmla="*/ 182 h 512"/>
                <a:gd name="T92" fmla="*/ 373 w 512"/>
                <a:gd name="T93" fmla="*/ 178 h 512"/>
                <a:gd name="T94" fmla="*/ 370 w 512"/>
                <a:gd name="T95" fmla="*/ 174 h 512"/>
                <a:gd name="T96" fmla="*/ 296 w 512"/>
                <a:gd name="T97" fmla="*/ 99 h 512"/>
                <a:gd name="T98" fmla="*/ 292 w 512"/>
                <a:gd name="T99" fmla="*/ 97 h 512"/>
                <a:gd name="T100" fmla="*/ 288 w 512"/>
                <a:gd name="T101" fmla="*/ 96 h 512"/>
                <a:gd name="T102" fmla="*/ 149 w 512"/>
                <a:gd name="T103" fmla="*/ 96 h 512"/>
                <a:gd name="T104" fmla="*/ 139 w 512"/>
                <a:gd name="T105" fmla="*/ 107 h 512"/>
                <a:gd name="T106" fmla="*/ 139 w 512"/>
                <a:gd name="T107" fmla="*/ 406 h 512"/>
                <a:gd name="T108" fmla="*/ 149 w 512"/>
                <a:gd name="T109" fmla="*/ 416 h 512"/>
                <a:gd name="T110" fmla="*/ 363 w 512"/>
                <a:gd name="T111" fmla="*/ 416 h 512"/>
                <a:gd name="T112" fmla="*/ 373 w 512"/>
                <a:gd name="T113" fmla="*/ 406 h 512"/>
                <a:gd name="T114" fmla="*/ 373 w 512"/>
                <a:gd name="T11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337" y="171"/>
                  </a:moveTo>
                  <a:cubicBezTo>
                    <a:pt x="299" y="171"/>
                    <a:pt x="299" y="171"/>
                    <a:pt x="299" y="171"/>
                  </a:cubicBezTo>
                  <a:cubicBezTo>
                    <a:pt x="299" y="133"/>
                    <a:pt x="299" y="133"/>
                    <a:pt x="299" y="133"/>
                  </a:cubicBezTo>
                  <a:lnTo>
                    <a:pt x="337" y="171"/>
                  </a:lnTo>
                  <a:close/>
                  <a:moveTo>
                    <a:pt x="288" y="192"/>
                  </a:moveTo>
                  <a:cubicBezTo>
                    <a:pt x="352" y="192"/>
                    <a:pt x="352" y="192"/>
                    <a:pt x="352" y="192"/>
                  </a:cubicBezTo>
                  <a:cubicBezTo>
                    <a:pt x="352" y="395"/>
                    <a:pt x="352" y="395"/>
                    <a:pt x="352" y="395"/>
                  </a:cubicBezTo>
                  <a:cubicBezTo>
                    <a:pt x="160" y="395"/>
                    <a:pt x="160" y="395"/>
                    <a:pt x="160" y="395"/>
                  </a:cubicBezTo>
                  <a:cubicBezTo>
                    <a:pt x="160" y="118"/>
                    <a:pt x="160" y="118"/>
                    <a:pt x="160" y="118"/>
                  </a:cubicBezTo>
                  <a:cubicBezTo>
                    <a:pt x="277" y="118"/>
                    <a:pt x="277" y="118"/>
                    <a:pt x="277" y="118"/>
                  </a:cubicBezTo>
                  <a:cubicBezTo>
                    <a:pt x="277" y="182"/>
                    <a:pt x="277" y="182"/>
                    <a:pt x="277" y="182"/>
                  </a:cubicBezTo>
                  <a:cubicBezTo>
                    <a:pt x="277" y="188"/>
                    <a:pt x="282" y="192"/>
                    <a:pt x="288" y="192"/>
                  </a:cubicBezTo>
                  <a:close/>
                  <a:moveTo>
                    <a:pt x="331" y="363"/>
                  </a:moveTo>
                  <a:cubicBezTo>
                    <a:pt x="331" y="357"/>
                    <a:pt x="326" y="352"/>
                    <a:pt x="320" y="352"/>
                  </a:cubicBezTo>
                  <a:cubicBezTo>
                    <a:pt x="192" y="352"/>
                    <a:pt x="192" y="352"/>
                    <a:pt x="192" y="352"/>
                  </a:cubicBezTo>
                  <a:cubicBezTo>
                    <a:pt x="186" y="352"/>
                    <a:pt x="181" y="357"/>
                    <a:pt x="181" y="363"/>
                  </a:cubicBezTo>
                  <a:cubicBezTo>
                    <a:pt x="181" y="369"/>
                    <a:pt x="186" y="374"/>
                    <a:pt x="192" y="374"/>
                  </a:cubicBezTo>
                  <a:cubicBezTo>
                    <a:pt x="320" y="374"/>
                    <a:pt x="320" y="374"/>
                    <a:pt x="320" y="374"/>
                  </a:cubicBezTo>
                  <a:cubicBezTo>
                    <a:pt x="326" y="374"/>
                    <a:pt x="331" y="369"/>
                    <a:pt x="331" y="363"/>
                  </a:cubicBezTo>
                  <a:close/>
                  <a:moveTo>
                    <a:pt x="331" y="320"/>
                  </a:moveTo>
                  <a:cubicBezTo>
                    <a:pt x="331" y="314"/>
                    <a:pt x="326" y="310"/>
                    <a:pt x="320" y="310"/>
                  </a:cubicBezTo>
                  <a:cubicBezTo>
                    <a:pt x="192" y="310"/>
                    <a:pt x="192" y="310"/>
                    <a:pt x="192" y="310"/>
                  </a:cubicBezTo>
                  <a:cubicBezTo>
                    <a:pt x="186" y="310"/>
                    <a:pt x="181" y="314"/>
                    <a:pt x="181" y="320"/>
                  </a:cubicBezTo>
                  <a:cubicBezTo>
                    <a:pt x="181" y="326"/>
                    <a:pt x="186" y="331"/>
                    <a:pt x="192" y="331"/>
                  </a:cubicBezTo>
                  <a:cubicBezTo>
                    <a:pt x="320" y="331"/>
                    <a:pt x="320" y="331"/>
                    <a:pt x="320" y="331"/>
                  </a:cubicBezTo>
                  <a:cubicBezTo>
                    <a:pt x="326" y="331"/>
                    <a:pt x="331" y="326"/>
                    <a:pt x="331" y="320"/>
                  </a:cubicBezTo>
                  <a:close/>
                  <a:moveTo>
                    <a:pt x="331" y="278"/>
                  </a:moveTo>
                  <a:cubicBezTo>
                    <a:pt x="331" y="272"/>
                    <a:pt x="326" y="267"/>
                    <a:pt x="320" y="267"/>
                  </a:cubicBezTo>
                  <a:cubicBezTo>
                    <a:pt x="192" y="267"/>
                    <a:pt x="192" y="267"/>
                    <a:pt x="192" y="267"/>
                  </a:cubicBezTo>
                  <a:cubicBezTo>
                    <a:pt x="186" y="267"/>
                    <a:pt x="181" y="272"/>
                    <a:pt x="181" y="278"/>
                  </a:cubicBezTo>
                  <a:cubicBezTo>
                    <a:pt x="181" y="284"/>
                    <a:pt x="186" y="288"/>
                    <a:pt x="192" y="288"/>
                  </a:cubicBezTo>
                  <a:cubicBezTo>
                    <a:pt x="320" y="288"/>
                    <a:pt x="320" y="288"/>
                    <a:pt x="320" y="288"/>
                  </a:cubicBezTo>
                  <a:cubicBezTo>
                    <a:pt x="326" y="288"/>
                    <a:pt x="331" y="284"/>
                    <a:pt x="331" y="278"/>
                  </a:cubicBezTo>
                  <a:close/>
                  <a:moveTo>
                    <a:pt x="320" y="224"/>
                  </a:moveTo>
                  <a:cubicBezTo>
                    <a:pt x="192" y="224"/>
                    <a:pt x="192" y="224"/>
                    <a:pt x="192" y="224"/>
                  </a:cubicBezTo>
                  <a:cubicBezTo>
                    <a:pt x="186" y="224"/>
                    <a:pt x="181" y="229"/>
                    <a:pt x="181" y="235"/>
                  </a:cubicBezTo>
                  <a:cubicBezTo>
                    <a:pt x="181" y="241"/>
                    <a:pt x="186" y="246"/>
                    <a:pt x="192" y="246"/>
                  </a:cubicBezTo>
                  <a:cubicBezTo>
                    <a:pt x="320" y="246"/>
                    <a:pt x="320" y="246"/>
                    <a:pt x="320" y="246"/>
                  </a:cubicBezTo>
                  <a:cubicBezTo>
                    <a:pt x="326" y="246"/>
                    <a:pt x="331" y="241"/>
                    <a:pt x="331" y="235"/>
                  </a:cubicBezTo>
                  <a:cubicBezTo>
                    <a:pt x="331" y="229"/>
                    <a:pt x="326" y="224"/>
                    <a:pt x="320" y="224"/>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73" y="182"/>
                  </a:moveTo>
                  <a:cubicBezTo>
                    <a:pt x="373" y="180"/>
                    <a:pt x="373" y="179"/>
                    <a:pt x="373" y="178"/>
                  </a:cubicBezTo>
                  <a:cubicBezTo>
                    <a:pt x="372" y="176"/>
                    <a:pt x="371" y="175"/>
                    <a:pt x="370" y="174"/>
                  </a:cubicBezTo>
                  <a:cubicBezTo>
                    <a:pt x="296" y="99"/>
                    <a:pt x="296" y="99"/>
                    <a:pt x="296" y="99"/>
                  </a:cubicBezTo>
                  <a:cubicBezTo>
                    <a:pt x="295" y="98"/>
                    <a:pt x="293" y="98"/>
                    <a:pt x="292" y="97"/>
                  </a:cubicBezTo>
                  <a:cubicBezTo>
                    <a:pt x="291" y="97"/>
                    <a:pt x="289" y="96"/>
                    <a:pt x="288" y="96"/>
                  </a:cubicBezTo>
                  <a:cubicBezTo>
                    <a:pt x="149" y="96"/>
                    <a:pt x="149" y="96"/>
                    <a:pt x="149" y="96"/>
                  </a:cubicBezTo>
                  <a:cubicBezTo>
                    <a:pt x="143" y="96"/>
                    <a:pt x="139" y="101"/>
                    <a:pt x="139" y="107"/>
                  </a:cubicBezTo>
                  <a:cubicBezTo>
                    <a:pt x="139" y="406"/>
                    <a:pt x="139" y="406"/>
                    <a:pt x="139" y="406"/>
                  </a:cubicBezTo>
                  <a:cubicBezTo>
                    <a:pt x="139" y="412"/>
                    <a:pt x="143" y="416"/>
                    <a:pt x="149" y="416"/>
                  </a:cubicBezTo>
                  <a:cubicBezTo>
                    <a:pt x="363" y="416"/>
                    <a:pt x="363" y="416"/>
                    <a:pt x="363" y="416"/>
                  </a:cubicBezTo>
                  <a:cubicBezTo>
                    <a:pt x="369" y="416"/>
                    <a:pt x="373" y="412"/>
                    <a:pt x="373" y="406"/>
                  </a:cubicBezTo>
                  <a:lnTo>
                    <a:pt x="373" y="1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33"/>
            <p:cNvSpPr>
              <a:spLocks noEditPoints="1"/>
            </p:cNvSpPr>
            <p:nvPr/>
          </p:nvSpPr>
          <p:spPr bwMode="auto">
            <a:xfrm>
              <a:off x="3832" y="1197"/>
              <a:ext cx="340" cy="340"/>
            </a:xfrm>
            <a:custGeom>
              <a:avLst/>
              <a:gdLst>
                <a:gd name="T0" fmla="*/ 337 w 512"/>
                <a:gd name="T1" fmla="*/ 171 h 512"/>
                <a:gd name="T2" fmla="*/ 299 w 512"/>
                <a:gd name="T3" fmla="*/ 171 h 512"/>
                <a:gd name="T4" fmla="*/ 299 w 512"/>
                <a:gd name="T5" fmla="*/ 133 h 512"/>
                <a:gd name="T6" fmla="*/ 337 w 512"/>
                <a:gd name="T7" fmla="*/ 171 h 512"/>
                <a:gd name="T8" fmla="*/ 288 w 512"/>
                <a:gd name="T9" fmla="*/ 192 h 512"/>
                <a:gd name="T10" fmla="*/ 352 w 512"/>
                <a:gd name="T11" fmla="*/ 192 h 512"/>
                <a:gd name="T12" fmla="*/ 352 w 512"/>
                <a:gd name="T13" fmla="*/ 395 h 512"/>
                <a:gd name="T14" fmla="*/ 160 w 512"/>
                <a:gd name="T15" fmla="*/ 395 h 512"/>
                <a:gd name="T16" fmla="*/ 160 w 512"/>
                <a:gd name="T17" fmla="*/ 118 h 512"/>
                <a:gd name="T18" fmla="*/ 277 w 512"/>
                <a:gd name="T19" fmla="*/ 118 h 512"/>
                <a:gd name="T20" fmla="*/ 277 w 512"/>
                <a:gd name="T21" fmla="*/ 182 h 512"/>
                <a:gd name="T22" fmla="*/ 288 w 512"/>
                <a:gd name="T23" fmla="*/ 192 h 512"/>
                <a:gd name="T24" fmla="*/ 331 w 512"/>
                <a:gd name="T25" fmla="*/ 363 h 512"/>
                <a:gd name="T26" fmla="*/ 320 w 512"/>
                <a:gd name="T27" fmla="*/ 352 h 512"/>
                <a:gd name="T28" fmla="*/ 192 w 512"/>
                <a:gd name="T29" fmla="*/ 352 h 512"/>
                <a:gd name="T30" fmla="*/ 181 w 512"/>
                <a:gd name="T31" fmla="*/ 363 h 512"/>
                <a:gd name="T32" fmla="*/ 192 w 512"/>
                <a:gd name="T33" fmla="*/ 374 h 512"/>
                <a:gd name="T34" fmla="*/ 320 w 512"/>
                <a:gd name="T35" fmla="*/ 374 h 512"/>
                <a:gd name="T36" fmla="*/ 331 w 512"/>
                <a:gd name="T37" fmla="*/ 363 h 512"/>
                <a:gd name="T38" fmla="*/ 331 w 512"/>
                <a:gd name="T39" fmla="*/ 320 h 512"/>
                <a:gd name="T40" fmla="*/ 320 w 512"/>
                <a:gd name="T41" fmla="*/ 310 h 512"/>
                <a:gd name="T42" fmla="*/ 192 w 512"/>
                <a:gd name="T43" fmla="*/ 310 h 512"/>
                <a:gd name="T44" fmla="*/ 181 w 512"/>
                <a:gd name="T45" fmla="*/ 320 h 512"/>
                <a:gd name="T46" fmla="*/ 192 w 512"/>
                <a:gd name="T47" fmla="*/ 331 h 512"/>
                <a:gd name="T48" fmla="*/ 320 w 512"/>
                <a:gd name="T49" fmla="*/ 331 h 512"/>
                <a:gd name="T50" fmla="*/ 331 w 512"/>
                <a:gd name="T51" fmla="*/ 320 h 512"/>
                <a:gd name="T52" fmla="*/ 331 w 512"/>
                <a:gd name="T53" fmla="*/ 278 h 512"/>
                <a:gd name="T54" fmla="*/ 320 w 512"/>
                <a:gd name="T55" fmla="*/ 267 h 512"/>
                <a:gd name="T56" fmla="*/ 192 w 512"/>
                <a:gd name="T57" fmla="*/ 267 h 512"/>
                <a:gd name="T58" fmla="*/ 181 w 512"/>
                <a:gd name="T59" fmla="*/ 278 h 512"/>
                <a:gd name="T60" fmla="*/ 192 w 512"/>
                <a:gd name="T61" fmla="*/ 288 h 512"/>
                <a:gd name="T62" fmla="*/ 320 w 512"/>
                <a:gd name="T63" fmla="*/ 288 h 512"/>
                <a:gd name="T64" fmla="*/ 331 w 512"/>
                <a:gd name="T65" fmla="*/ 278 h 512"/>
                <a:gd name="T66" fmla="*/ 320 w 512"/>
                <a:gd name="T67" fmla="*/ 224 h 512"/>
                <a:gd name="T68" fmla="*/ 192 w 512"/>
                <a:gd name="T69" fmla="*/ 224 h 512"/>
                <a:gd name="T70" fmla="*/ 181 w 512"/>
                <a:gd name="T71" fmla="*/ 235 h 512"/>
                <a:gd name="T72" fmla="*/ 192 w 512"/>
                <a:gd name="T73" fmla="*/ 246 h 512"/>
                <a:gd name="T74" fmla="*/ 320 w 512"/>
                <a:gd name="T75" fmla="*/ 246 h 512"/>
                <a:gd name="T76" fmla="*/ 331 w 512"/>
                <a:gd name="T77" fmla="*/ 235 h 512"/>
                <a:gd name="T78" fmla="*/ 320 w 512"/>
                <a:gd name="T79" fmla="*/ 224 h 512"/>
                <a:gd name="T80" fmla="*/ 512 w 512"/>
                <a:gd name="T81" fmla="*/ 256 h 512"/>
                <a:gd name="T82" fmla="*/ 256 w 512"/>
                <a:gd name="T83" fmla="*/ 512 h 512"/>
                <a:gd name="T84" fmla="*/ 0 w 512"/>
                <a:gd name="T85" fmla="*/ 256 h 512"/>
                <a:gd name="T86" fmla="*/ 256 w 512"/>
                <a:gd name="T87" fmla="*/ 0 h 512"/>
                <a:gd name="T88" fmla="*/ 512 w 512"/>
                <a:gd name="T89" fmla="*/ 256 h 512"/>
                <a:gd name="T90" fmla="*/ 373 w 512"/>
                <a:gd name="T91" fmla="*/ 182 h 512"/>
                <a:gd name="T92" fmla="*/ 373 w 512"/>
                <a:gd name="T93" fmla="*/ 178 h 512"/>
                <a:gd name="T94" fmla="*/ 370 w 512"/>
                <a:gd name="T95" fmla="*/ 174 h 512"/>
                <a:gd name="T96" fmla="*/ 296 w 512"/>
                <a:gd name="T97" fmla="*/ 99 h 512"/>
                <a:gd name="T98" fmla="*/ 292 w 512"/>
                <a:gd name="T99" fmla="*/ 97 h 512"/>
                <a:gd name="T100" fmla="*/ 288 w 512"/>
                <a:gd name="T101" fmla="*/ 96 h 512"/>
                <a:gd name="T102" fmla="*/ 149 w 512"/>
                <a:gd name="T103" fmla="*/ 96 h 512"/>
                <a:gd name="T104" fmla="*/ 139 w 512"/>
                <a:gd name="T105" fmla="*/ 107 h 512"/>
                <a:gd name="T106" fmla="*/ 139 w 512"/>
                <a:gd name="T107" fmla="*/ 406 h 512"/>
                <a:gd name="T108" fmla="*/ 149 w 512"/>
                <a:gd name="T109" fmla="*/ 416 h 512"/>
                <a:gd name="T110" fmla="*/ 363 w 512"/>
                <a:gd name="T111" fmla="*/ 416 h 512"/>
                <a:gd name="T112" fmla="*/ 373 w 512"/>
                <a:gd name="T113" fmla="*/ 406 h 512"/>
                <a:gd name="T114" fmla="*/ 373 w 512"/>
                <a:gd name="T11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337" y="171"/>
                  </a:moveTo>
                  <a:cubicBezTo>
                    <a:pt x="299" y="171"/>
                    <a:pt x="299" y="171"/>
                    <a:pt x="299" y="171"/>
                  </a:cubicBezTo>
                  <a:cubicBezTo>
                    <a:pt x="299" y="133"/>
                    <a:pt x="299" y="133"/>
                    <a:pt x="299" y="133"/>
                  </a:cubicBezTo>
                  <a:lnTo>
                    <a:pt x="337" y="171"/>
                  </a:lnTo>
                  <a:close/>
                  <a:moveTo>
                    <a:pt x="288" y="192"/>
                  </a:moveTo>
                  <a:cubicBezTo>
                    <a:pt x="352" y="192"/>
                    <a:pt x="352" y="192"/>
                    <a:pt x="352" y="192"/>
                  </a:cubicBezTo>
                  <a:cubicBezTo>
                    <a:pt x="352" y="395"/>
                    <a:pt x="352" y="395"/>
                    <a:pt x="352" y="395"/>
                  </a:cubicBezTo>
                  <a:cubicBezTo>
                    <a:pt x="160" y="395"/>
                    <a:pt x="160" y="395"/>
                    <a:pt x="160" y="395"/>
                  </a:cubicBezTo>
                  <a:cubicBezTo>
                    <a:pt x="160" y="118"/>
                    <a:pt x="160" y="118"/>
                    <a:pt x="160" y="118"/>
                  </a:cubicBezTo>
                  <a:cubicBezTo>
                    <a:pt x="277" y="118"/>
                    <a:pt x="277" y="118"/>
                    <a:pt x="277" y="118"/>
                  </a:cubicBezTo>
                  <a:cubicBezTo>
                    <a:pt x="277" y="182"/>
                    <a:pt x="277" y="182"/>
                    <a:pt x="277" y="182"/>
                  </a:cubicBezTo>
                  <a:cubicBezTo>
                    <a:pt x="277" y="188"/>
                    <a:pt x="282" y="192"/>
                    <a:pt x="288" y="192"/>
                  </a:cubicBezTo>
                  <a:close/>
                  <a:moveTo>
                    <a:pt x="331" y="363"/>
                  </a:moveTo>
                  <a:cubicBezTo>
                    <a:pt x="331" y="357"/>
                    <a:pt x="326" y="352"/>
                    <a:pt x="320" y="352"/>
                  </a:cubicBezTo>
                  <a:cubicBezTo>
                    <a:pt x="192" y="352"/>
                    <a:pt x="192" y="352"/>
                    <a:pt x="192" y="352"/>
                  </a:cubicBezTo>
                  <a:cubicBezTo>
                    <a:pt x="186" y="352"/>
                    <a:pt x="181" y="357"/>
                    <a:pt x="181" y="363"/>
                  </a:cubicBezTo>
                  <a:cubicBezTo>
                    <a:pt x="181" y="369"/>
                    <a:pt x="186" y="374"/>
                    <a:pt x="192" y="374"/>
                  </a:cubicBezTo>
                  <a:cubicBezTo>
                    <a:pt x="320" y="374"/>
                    <a:pt x="320" y="374"/>
                    <a:pt x="320" y="374"/>
                  </a:cubicBezTo>
                  <a:cubicBezTo>
                    <a:pt x="326" y="374"/>
                    <a:pt x="331" y="369"/>
                    <a:pt x="331" y="363"/>
                  </a:cubicBezTo>
                  <a:close/>
                  <a:moveTo>
                    <a:pt x="331" y="320"/>
                  </a:moveTo>
                  <a:cubicBezTo>
                    <a:pt x="331" y="314"/>
                    <a:pt x="326" y="310"/>
                    <a:pt x="320" y="310"/>
                  </a:cubicBezTo>
                  <a:cubicBezTo>
                    <a:pt x="192" y="310"/>
                    <a:pt x="192" y="310"/>
                    <a:pt x="192" y="310"/>
                  </a:cubicBezTo>
                  <a:cubicBezTo>
                    <a:pt x="186" y="310"/>
                    <a:pt x="181" y="314"/>
                    <a:pt x="181" y="320"/>
                  </a:cubicBezTo>
                  <a:cubicBezTo>
                    <a:pt x="181" y="326"/>
                    <a:pt x="186" y="331"/>
                    <a:pt x="192" y="331"/>
                  </a:cubicBezTo>
                  <a:cubicBezTo>
                    <a:pt x="320" y="331"/>
                    <a:pt x="320" y="331"/>
                    <a:pt x="320" y="331"/>
                  </a:cubicBezTo>
                  <a:cubicBezTo>
                    <a:pt x="326" y="331"/>
                    <a:pt x="331" y="326"/>
                    <a:pt x="331" y="320"/>
                  </a:cubicBezTo>
                  <a:close/>
                  <a:moveTo>
                    <a:pt x="331" y="278"/>
                  </a:moveTo>
                  <a:cubicBezTo>
                    <a:pt x="331" y="272"/>
                    <a:pt x="326" y="267"/>
                    <a:pt x="320" y="267"/>
                  </a:cubicBezTo>
                  <a:cubicBezTo>
                    <a:pt x="192" y="267"/>
                    <a:pt x="192" y="267"/>
                    <a:pt x="192" y="267"/>
                  </a:cubicBezTo>
                  <a:cubicBezTo>
                    <a:pt x="186" y="267"/>
                    <a:pt x="181" y="272"/>
                    <a:pt x="181" y="278"/>
                  </a:cubicBezTo>
                  <a:cubicBezTo>
                    <a:pt x="181" y="284"/>
                    <a:pt x="186" y="288"/>
                    <a:pt x="192" y="288"/>
                  </a:cubicBezTo>
                  <a:cubicBezTo>
                    <a:pt x="320" y="288"/>
                    <a:pt x="320" y="288"/>
                    <a:pt x="320" y="288"/>
                  </a:cubicBezTo>
                  <a:cubicBezTo>
                    <a:pt x="326" y="288"/>
                    <a:pt x="331" y="284"/>
                    <a:pt x="331" y="278"/>
                  </a:cubicBezTo>
                  <a:close/>
                  <a:moveTo>
                    <a:pt x="320" y="224"/>
                  </a:moveTo>
                  <a:cubicBezTo>
                    <a:pt x="192" y="224"/>
                    <a:pt x="192" y="224"/>
                    <a:pt x="192" y="224"/>
                  </a:cubicBezTo>
                  <a:cubicBezTo>
                    <a:pt x="186" y="224"/>
                    <a:pt x="181" y="229"/>
                    <a:pt x="181" y="235"/>
                  </a:cubicBezTo>
                  <a:cubicBezTo>
                    <a:pt x="181" y="241"/>
                    <a:pt x="186" y="246"/>
                    <a:pt x="192" y="246"/>
                  </a:cubicBezTo>
                  <a:cubicBezTo>
                    <a:pt x="320" y="246"/>
                    <a:pt x="320" y="246"/>
                    <a:pt x="320" y="246"/>
                  </a:cubicBezTo>
                  <a:cubicBezTo>
                    <a:pt x="326" y="246"/>
                    <a:pt x="331" y="241"/>
                    <a:pt x="331" y="235"/>
                  </a:cubicBezTo>
                  <a:cubicBezTo>
                    <a:pt x="331" y="229"/>
                    <a:pt x="326" y="224"/>
                    <a:pt x="320" y="224"/>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73" y="182"/>
                  </a:moveTo>
                  <a:cubicBezTo>
                    <a:pt x="373" y="180"/>
                    <a:pt x="373" y="179"/>
                    <a:pt x="373" y="178"/>
                  </a:cubicBezTo>
                  <a:cubicBezTo>
                    <a:pt x="372" y="176"/>
                    <a:pt x="371" y="175"/>
                    <a:pt x="370" y="174"/>
                  </a:cubicBezTo>
                  <a:cubicBezTo>
                    <a:pt x="296" y="99"/>
                    <a:pt x="296" y="99"/>
                    <a:pt x="296" y="99"/>
                  </a:cubicBezTo>
                  <a:cubicBezTo>
                    <a:pt x="295" y="98"/>
                    <a:pt x="293" y="98"/>
                    <a:pt x="292" y="97"/>
                  </a:cubicBezTo>
                  <a:cubicBezTo>
                    <a:pt x="291" y="97"/>
                    <a:pt x="289" y="96"/>
                    <a:pt x="288" y="96"/>
                  </a:cubicBezTo>
                  <a:cubicBezTo>
                    <a:pt x="149" y="96"/>
                    <a:pt x="149" y="96"/>
                    <a:pt x="149" y="96"/>
                  </a:cubicBezTo>
                  <a:cubicBezTo>
                    <a:pt x="143" y="96"/>
                    <a:pt x="139" y="101"/>
                    <a:pt x="139" y="107"/>
                  </a:cubicBezTo>
                  <a:cubicBezTo>
                    <a:pt x="139" y="406"/>
                    <a:pt x="139" y="406"/>
                    <a:pt x="139" y="406"/>
                  </a:cubicBezTo>
                  <a:cubicBezTo>
                    <a:pt x="139" y="412"/>
                    <a:pt x="143" y="416"/>
                    <a:pt x="149" y="416"/>
                  </a:cubicBezTo>
                  <a:cubicBezTo>
                    <a:pt x="363" y="416"/>
                    <a:pt x="363" y="416"/>
                    <a:pt x="363" y="416"/>
                  </a:cubicBezTo>
                  <a:cubicBezTo>
                    <a:pt x="369" y="416"/>
                    <a:pt x="373" y="412"/>
                    <a:pt x="373" y="406"/>
                  </a:cubicBezTo>
                  <a:lnTo>
                    <a:pt x="373" y="1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7" name="Freeform 5"/>
          <p:cNvSpPr>
            <a:spLocks noChangeAspect="1" noEditPoints="1"/>
          </p:cNvSpPr>
          <p:nvPr/>
        </p:nvSpPr>
        <p:spPr bwMode="auto">
          <a:xfrm>
            <a:off x="1018704" y="3354595"/>
            <a:ext cx="689550" cy="689552"/>
          </a:xfrm>
          <a:custGeom>
            <a:avLst/>
            <a:gdLst>
              <a:gd name="T0" fmla="*/ 341 w 512"/>
              <a:gd name="T1" fmla="*/ 232 h 512"/>
              <a:gd name="T2" fmla="*/ 373 w 512"/>
              <a:gd name="T3" fmla="*/ 200 h 512"/>
              <a:gd name="T4" fmla="*/ 364 w 512"/>
              <a:gd name="T5" fmla="*/ 237 h 512"/>
              <a:gd name="T6" fmla="*/ 364 w 512"/>
              <a:gd name="T7" fmla="*/ 237 h 512"/>
              <a:gd name="T8" fmla="*/ 354 w 512"/>
              <a:gd name="T9" fmla="*/ 249 h 512"/>
              <a:gd name="T10" fmla="*/ 288 w 512"/>
              <a:gd name="T11" fmla="*/ 264 h 512"/>
              <a:gd name="T12" fmla="*/ 276 w 512"/>
              <a:gd name="T13" fmla="*/ 267 h 512"/>
              <a:gd name="T14" fmla="*/ 167 w 512"/>
              <a:gd name="T15" fmla="*/ 376 h 512"/>
              <a:gd name="T16" fmla="*/ 137 w 512"/>
              <a:gd name="T17" fmla="*/ 376 h 512"/>
              <a:gd name="T18" fmla="*/ 131 w 512"/>
              <a:gd name="T19" fmla="*/ 361 h 512"/>
              <a:gd name="T20" fmla="*/ 137 w 512"/>
              <a:gd name="T21" fmla="*/ 346 h 512"/>
              <a:gd name="T22" fmla="*/ 246 w 512"/>
              <a:gd name="T23" fmla="*/ 237 h 512"/>
              <a:gd name="T24" fmla="*/ 249 w 512"/>
              <a:gd name="T25" fmla="*/ 225 h 512"/>
              <a:gd name="T26" fmla="*/ 264 w 512"/>
              <a:gd name="T27" fmla="*/ 159 h 512"/>
              <a:gd name="T28" fmla="*/ 276 w 512"/>
              <a:gd name="T29" fmla="*/ 149 h 512"/>
              <a:gd name="T30" fmla="*/ 309 w 512"/>
              <a:gd name="T31" fmla="*/ 140 h 512"/>
              <a:gd name="T32" fmla="*/ 312 w 512"/>
              <a:gd name="T33" fmla="*/ 140 h 512"/>
              <a:gd name="T34" fmla="*/ 281 w 512"/>
              <a:gd name="T35" fmla="*/ 171 h 512"/>
              <a:gd name="T36" fmla="*/ 280 w 512"/>
              <a:gd name="T37" fmla="*/ 185 h 512"/>
              <a:gd name="T38" fmla="*/ 301 w 512"/>
              <a:gd name="T39" fmla="*/ 211 h 512"/>
              <a:gd name="T40" fmla="*/ 328 w 512"/>
              <a:gd name="T41" fmla="*/ 233 h 512"/>
              <a:gd name="T42" fmla="*/ 341 w 512"/>
              <a:gd name="T43" fmla="*/ 232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89 w 512"/>
              <a:gd name="T55" fmla="*/ 175 h 512"/>
              <a:gd name="T56" fmla="*/ 382 w 512"/>
              <a:gd name="T57" fmla="*/ 169 h 512"/>
              <a:gd name="T58" fmla="*/ 372 w 512"/>
              <a:gd name="T59" fmla="*/ 171 h 512"/>
              <a:gd name="T60" fmla="*/ 333 w 512"/>
              <a:gd name="T61" fmla="*/ 210 h 512"/>
              <a:gd name="T62" fmla="*/ 317 w 512"/>
              <a:gd name="T63" fmla="*/ 196 h 512"/>
              <a:gd name="T64" fmla="*/ 303 w 512"/>
              <a:gd name="T65" fmla="*/ 180 h 512"/>
              <a:gd name="T66" fmla="*/ 342 w 512"/>
              <a:gd name="T67" fmla="*/ 141 h 512"/>
              <a:gd name="T68" fmla="*/ 344 w 512"/>
              <a:gd name="T69" fmla="*/ 131 h 512"/>
              <a:gd name="T70" fmla="*/ 338 w 512"/>
              <a:gd name="T71" fmla="*/ 124 h 512"/>
              <a:gd name="T72" fmla="*/ 265 w 512"/>
              <a:gd name="T73" fmla="*/ 131 h 512"/>
              <a:gd name="T74" fmla="*/ 249 w 512"/>
              <a:gd name="T75" fmla="*/ 144 h 512"/>
              <a:gd name="T76" fmla="*/ 227 w 512"/>
              <a:gd name="T77" fmla="*/ 226 h 512"/>
              <a:gd name="T78" fmla="*/ 122 w 512"/>
              <a:gd name="T79" fmla="*/ 331 h 512"/>
              <a:gd name="T80" fmla="*/ 109 w 512"/>
              <a:gd name="T81" fmla="*/ 361 h 512"/>
              <a:gd name="T82" fmla="*/ 122 w 512"/>
              <a:gd name="T83" fmla="*/ 391 h 512"/>
              <a:gd name="T84" fmla="*/ 152 w 512"/>
              <a:gd name="T85" fmla="*/ 404 h 512"/>
              <a:gd name="T86" fmla="*/ 182 w 512"/>
              <a:gd name="T87" fmla="*/ 391 h 512"/>
              <a:gd name="T88" fmla="*/ 287 w 512"/>
              <a:gd name="T89" fmla="*/ 286 h 512"/>
              <a:gd name="T90" fmla="*/ 369 w 512"/>
              <a:gd name="T91" fmla="*/ 264 h 512"/>
              <a:gd name="T92" fmla="*/ 382 w 512"/>
              <a:gd name="T93" fmla="*/ 248 h 512"/>
              <a:gd name="T94" fmla="*/ 389 w 512"/>
              <a:gd name="T95" fmla="*/ 17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341" y="232"/>
                </a:moveTo>
                <a:cubicBezTo>
                  <a:pt x="373" y="200"/>
                  <a:pt x="373" y="200"/>
                  <a:pt x="373" y="200"/>
                </a:cubicBezTo>
                <a:cubicBezTo>
                  <a:pt x="374" y="213"/>
                  <a:pt x="370" y="226"/>
                  <a:pt x="364" y="237"/>
                </a:cubicBezTo>
                <a:cubicBezTo>
                  <a:pt x="364" y="237"/>
                  <a:pt x="364" y="237"/>
                  <a:pt x="364" y="237"/>
                </a:cubicBezTo>
                <a:cubicBezTo>
                  <a:pt x="361" y="242"/>
                  <a:pt x="358" y="246"/>
                  <a:pt x="354" y="249"/>
                </a:cubicBezTo>
                <a:cubicBezTo>
                  <a:pt x="337" y="267"/>
                  <a:pt x="311" y="272"/>
                  <a:pt x="288" y="264"/>
                </a:cubicBezTo>
                <a:cubicBezTo>
                  <a:pt x="284" y="263"/>
                  <a:pt x="279" y="264"/>
                  <a:pt x="276" y="267"/>
                </a:cubicBezTo>
                <a:cubicBezTo>
                  <a:pt x="167" y="376"/>
                  <a:pt x="167" y="376"/>
                  <a:pt x="167" y="376"/>
                </a:cubicBezTo>
                <a:cubicBezTo>
                  <a:pt x="159" y="384"/>
                  <a:pt x="145" y="384"/>
                  <a:pt x="137" y="376"/>
                </a:cubicBezTo>
                <a:cubicBezTo>
                  <a:pt x="133" y="372"/>
                  <a:pt x="131" y="367"/>
                  <a:pt x="131" y="361"/>
                </a:cubicBezTo>
                <a:cubicBezTo>
                  <a:pt x="131" y="355"/>
                  <a:pt x="133" y="350"/>
                  <a:pt x="137" y="346"/>
                </a:cubicBezTo>
                <a:cubicBezTo>
                  <a:pt x="246" y="237"/>
                  <a:pt x="246" y="237"/>
                  <a:pt x="246" y="237"/>
                </a:cubicBezTo>
                <a:cubicBezTo>
                  <a:pt x="249" y="234"/>
                  <a:pt x="250" y="229"/>
                  <a:pt x="249" y="225"/>
                </a:cubicBezTo>
                <a:cubicBezTo>
                  <a:pt x="241" y="202"/>
                  <a:pt x="246" y="176"/>
                  <a:pt x="264" y="159"/>
                </a:cubicBezTo>
                <a:cubicBezTo>
                  <a:pt x="267" y="155"/>
                  <a:pt x="271" y="152"/>
                  <a:pt x="276" y="149"/>
                </a:cubicBezTo>
                <a:cubicBezTo>
                  <a:pt x="286" y="143"/>
                  <a:pt x="297" y="140"/>
                  <a:pt x="309" y="140"/>
                </a:cubicBezTo>
                <a:cubicBezTo>
                  <a:pt x="310" y="140"/>
                  <a:pt x="311" y="140"/>
                  <a:pt x="312" y="140"/>
                </a:cubicBezTo>
                <a:cubicBezTo>
                  <a:pt x="281" y="171"/>
                  <a:pt x="281" y="171"/>
                  <a:pt x="281" y="171"/>
                </a:cubicBezTo>
                <a:cubicBezTo>
                  <a:pt x="277" y="175"/>
                  <a:pt x="277" y="181"/>
                  <a:pt x="280" y="185"/>
                </a:cubicBezTo>
                <a:cubicBezTo>
                  <a:pt x="286" y="194"/>
                  <a:pt x="293" y="203"/>
                  <a:pt x="301" y="211"/>
                </a:cubicBezTo>
                <a:cubicBezTo>
                  <a:pt x="310" y="220"/>
                  <a:pt x="318" y="227"/>
                  <a:pt x="328" y="233"/>
                </a:cubicBezTo>
                <a:cubicBezTo>
                  <a:pt x="332" y="236"/>
                  <a:pt x="338" y="235"/>
                  <a:pt x="341" y="232"/>
                </a:cubicBezTo>
                <a:close/>
                <a:moveTo>
                  <a:pt x="512" y="256"/>
                </a:moveTo>
                <a:cubicBezTo>
                  <a:pt x="512" y="397"/>
                  <a:pt x="397" y="512"/>
                  <a:pt x="256" y="512"/>
                </a:cubicBezTo>
                <a:cubicBezTo>
                  <a:pt x="115" y="512"/>
                  <a:pt x="0" y="397"/>
                  <a:pt x="0" y="256"/>
                </a:cubicBezTo>
                <a:cubicBezTo>
                  <a:pt x="0" y="114"/>
                  <a:pt x="115" y="0"/>
                  <a:pt x="256" y="0"/>
                </a:cubicBezTo>
                <a:cubicBezTo>
                  <a:pt x="397" y="0"/>
                  <a:pt x="512" y="114"/>
                  <a:pt x="512" y="256"/>
                </a:cubicBezTo>
                <a:close/>
                <a:moveTo>
                  <a:pt x="389" y="175"/>
                </a:moveTo>
                <a:cubicBezTo>
                  <a:pt x="388" y="172"/>
                  <a:pt x="385" y="169"/>
                  <a:pt x="382" y="169"/>
                </a:cubicBezTo>
                <a:cubicBezTo>
                  <a:pt x="378" y="168"/>
                  <a:pt x="374" y="169"/>
                  <a:pt x="372" y="171"/>
                </a:cubicBezTo>
                <a:cubicBezTo>
                  <a:pt x="333" y="210"/>
                  <a:pt x="333" y="210"/>
                  <a:pt x="333" y="210"/>
                </a:cubicBezTo>
                <a:cubicBezTo>
                  <a:pt x="327" y="206"/>
                  <a:pt x="322" y="201"/>
                  <a:pt x="317" y="196"/>
                </a:cubicBezTo>
                <a:cubicBezTo>
                  <a:pt x="311" y="191"/>
                  <a:pt x="307" y="186"/>
                  <a:pt x="303" y="180"/>
                </a:cubicBezTo>
                <a:cubicBezTo>
                  <a:pt x="342" y="141"/>
                  <a:pt x="342" y="141"/>
                  <a:pt x="342" y="141"/>
                </a:cubicBezTo>
                <a:cubicBezTo>
                  <a:pt x="344" y="139"/>
                  <a:pt x="345" y="135"/>
                  <a:pt x="344" y="131"/>
                </a:cubicBezTo>
                <a:cubicBezTo>
                  <a:pt x="344" y="128"/>
                  <a:pt x="341" y="125"/>
                  <a:pt x="338" y="124"/>
                </a:cubicBezTo>
                <a:cubicBezTo>
                  <a:pt x="313" y="115"/>
                  <a:pt x="287" y="118"/>
                  <a:pt x="265" y="131"/>
                </a:cubicBezTo>
                <a:cubicBezTo>
                  <a:pt x="259" y="135"/>
                  <a:pt x="253" y="139"/>
                  <a:pt x="249" y="144"/>
                </a:cubicBezTo>
                <a:cubicBezTo>
                  <a:pt x="227" y="165"/>
                  <a:pt x="219" y="197"/>
                  <a:pt x="227" y="226"/>
                </a:cubicBezTo>
                <a:cubicBezTo>
                  <a:pt x="122" y="331"/>
                  <a:pt x="122" y="331"/>
                  <a:pt x="122" y="331"/>
                </a:cubicBezTo>
                <a:cubicBezTo>
                  <a:pt x="114" y="339"/>
                  <a:pt x="109" y="350"/>
                  <a:pt x="109" y="361"/>
                </a:cubicBezTo>
                <a:cubicBezTo>
                  <a:pt x="109" y="372"/>
                  <a:pt x="114" y="383"/>
                  <a:pt x="122" y="391"/>
                </a:cubicBezTo>
                <a:cubicBezTo>
                  <a:pt x="130" y="399"/>
                  <a:pt x="140" y="404"/>
                  <a:pt x="152" y="404"/>
                </a:cubicBezTo>
                <a:cubicBezTo>
                  <a:pt x="163" y="404"/>
                  <a:pt x="174" y="399"/>
                  <a:pt x="182" y="391"/>
                </a:cubicBezTo>
                <a:cubicBezTo>
                  <a:pt x="287" y="286"/>
                  <a:pt x="287" y="286"/>
                  <a:pt x="287" y="286"/>
                </a:cubicBezTo>
                <a:cubicBezTo>
                  <a:pt x="316" y="294"/>
                  <a:pt x="348" y="286"/>
                  <a:pt x="369" y="264"/>
                </a:cubicBezTo>
                <a:cubicBezTo>
                  <a:pt x="374" y="260"/>
                  <a:pt x="378" y="254"/>
                  <a:pt x="382" y="248"/>
                </a:cubicBezTo>
                <a:cubicBezTo>
                  <a:pt x="395" y="226"/>
                  <a:pt x="398" y="200"/>
                  <a:pt x="389" y="175"/>
                </a:cubicBezTo>
                <a:close/>
              </a:path>
            </a:pathLst>
          </a:custGeom>
          <a:solidFill>
            <a:srgbClr val="009A44"/>
          </a:solidFill>
          <a:ln>
            <a:noFill/>
          </a:ln>
        </p:spPr>
        <p:txBody>
          <a:bodyPr vert="horz" wrap="square" lIns="91440" tIns="45720" rIns="91440" bIns="45720" numCol="1" anchor="t" anchorCtr="0" compatLnSpc="1">
            <a:prstTxWarp prst="textNoShape">
              <a:avLst/>
            </a:prstTxWarp>
          </a:bodyPr>
          <a:lstStyle/>
          <a:p>
            <a:endParaRPr lang="en-GB"/>
          </a:p>
        </p:txBody>
      </p:sp>
      <p:sp>
        <p:nvSpPr>
          <p:cNvPr id="38" name="Freeform 393"/>
          <p:cNvSpPr>
            <a:spLocks noChangeAspect="1" noEditPoints="1"/>
          </p:cNvSpPr>
          <p:nvPr/>
        </p:nvSpPr>
        <p:spPr bwMode="auto">
          <a:xfrm>
            <a:off x="1025526" y="4156867"/>
            <a:ext cx="667116" cy="669078"/>
          </a:xfrm>
          <a:custGeom>
            <a:avLst/>
            <a:gdLst>
              <a:gd name="T0" fmla="*/ 0 w 512"/>
              <a:gd name="T1" fmla="*/ 256 h 512"/>
              <a:gd name="T2" fmla="*/ 512 w 512"/>
              <a:gd name="T3" fmla="*/ 256 h 512"/>
              <a:gd name="T4" fmla="*/ 231 w 512"/>
              <a:gd name="T5" fmla="*/ 381 h 512"/>
              <a:gd name="T6" fmla="*/ 216 w 512"/>
              <a:gd name="T7" fmla="*/ 382 h 512"/>
              <a:gd name="T8" fmla="*/ 177 w 512"/>
              <a:gd name="T9" fmla="*/ 372 h 512"/>
              <a:gd name="T10" fmla="*/ 161 w 512"/>
              <a:gd name="T11" fmla="*/ 324 h 512"/>
              <a:gd name="T12" fmla="*/ 172 w 512"/>
              <a:gd name="T13" fmla="*/ 250 h 512"/>
              <a:gd name="T14" fmla="*/ 149 w 512"/>
              <a:gd name="T15" fmla="*/ 240 h 512"/>
              <a:gd name="T16" fmla="*/ 125 w 512"/>
              <a:gd name="T17" fmla="*/ 250 h 512"/>
              <a:gd name="T18" fmla="*/ 136 w 512"/>
              <a:gd name="T19" fmla="*/ 324 h 512"/>
              <a:gd name="T20" fmla="*/ 121 w 512"/>
              <a:gd name="T21" fmla="*/ 372 h 512"/>
              <a:gd name="T22" fmla="*/ 107 w 512"/>
              <a:gd name="T23" fmla="*/ 366 h 512"/>
              <a:gd name="T24" fmla="*/ 118 w 512"/>
              <a:gd name="T25" fmla="*/ 336 h 512"/>
              <a:gd name="T26" fmla="*/ 109 w 512"/>
              <a:gd name="T27" fmla="*/ 237 h 512"/>
              <a:gd name="T28" fmla="*/ 149 w 512"/>
              <a:gd name="T29" fmla="*/ 218 h 512"/>
              <a:gd name="T30" fmla="*/ 149 w 512"/>
              <a:gd name="T31" fmla="*/ 218 h 512"/>
              <a:gd name="T32" fmla="*/ 189 w 512"/>
              <a:gd name="T33" fmla="*/ 237 h 512"/>
              <a:gd name="T34" fmla="*/ 180 w 512"/>
              <a:gd name="T35" fmla="*/ 336 h 512"/>
              <a:gd name="T36" fmla="*/ 198 w 512"/>
              <a:gd name="T37" fmla="*/ 355 h 512"/>
              <a:gd name="T38" fmla="*/ 231 w 512"/>
              <a:gd name="T39" fmla="*/ 381 h 512"/>
              <a:gd name="T40" fmla="*/ 405 w 512"/>
              <a:gd name="T41" fmla="*/ 330 h 512"/>
              <a:gd name="T42" fmla="*/ 213 w 512"/>
              <a:gd name="T43" fmla="*/ 320 h 512"/>
              <a:gd name="T44" fmla="*/ 394 w 512"/>
              <a:gd name="T45" fmla="*/ 309 h 512"/>
              <a:gd name="T46" fmla="*/ 170 w 512"/>
              <a:gd name="T47" fmla="*/ 181 h 512"/>
              <a:gd name="T48" fmla="*/ 160 w 512"/>
              <a:gd name="T49" fmla="*/ 202 h 512"/>
              <a:gd name="T50" fmla="*/ 149 w 512"/>
              <a:gd name="T51" fmla="*/ 170 h 512"/>
              <a:gd name="T52" fmla="*/ 405 w 512"/>
              <a:gd name="T53" fmla="*/ 160 h 512"/>
              <a:gd name="T54" fmla="*/ 416 w 512"/>
              <a:gd name="T55" fmla="*/ 320 h 512"/>
              <a:gd name="T56" fmla="*/ 362 w 512"/>
              <a:gd name="T57" fmla="*/ 256 h 512"/>
              <a:gd name="T58" fmla="*/ 362 w 512"/>
              <a:gd name="T59" fmla="*/ 277 h 512"/>
              <a:gd name="T60" fmla="*/ 224 w 512"/>
              <a:gd name="T61" fmla="*/ 266 h 512"/>
              <a:gd name="T62" fmla="*/ 224 w 512"/>
              <a:gd name="T63" fmla="*/ 224 h 512"/>
              <a:gd name="T64" fmla="*/ 362 w 512"/>
              <a:gd name="T65" fmla="*/ 213 h 512"/>
              <a:gd name="T66" fmla="*/ 362 w 512"/>
              <a:gd name="T67" fmla="*/ 234 h 512"/>
              <a:gd name="T68" fmla="*/ 224 w 512"/>
              <a:gd name="T69" fmla="*/ 22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31" y="381"/>
                </a:moveTo>
                <a:cubicBezTo>
                  <a:pt x="229" y="383"/>
                  <a:pt x="226" y="384"/>
                  <a:pt x="223" y="384"/>
                </a:cubicBezTo>
                <a:cubicBezTo>
                  <a:pt x="221" y="384"/>
                  <a:pt x="218" y="383"/>
                  <a:pt x="216" y="382"/>
                </a:cubicBezTo>
                <a:cubicBezTo>
                  <a:pt x="213" y="379"/>
                  <a:pt x="200" y="377"/>
                  <a:pt x="194" y="376"/>
                </a:cubicBezTo>
                <a:cubicBezTo>
                  <a:pt x="187" y="375"/>
                  <a:pt x="181" y="374"/>
                  <a:pt x="177" y="372"/>
                </a:cubicBezTo>
                <a:cubicBezTo>
                  <a:pt x="167" y="369"/>
                  <a:pt x="162" y="357"/>
                  <a:pt x="160" y="350"/>
                </a:cubicBezTo>
                <a:cubicBezTo>
                  <a:pt x="159" y="343"/>
                  <a:pt x="156" y="332"/>
                  <a:pt x="161" y="324"/>
                </a:cubicBezTo>
                <a:cubicBezTo>
                  <a:pt x="167" y="317"/>
                  <a:pt x="173" y="302"/>
                  <a:pt x="176" y="291"/>
                </a:cubicBezTo>
                <a:cubicBezTo>
                  <a:pt x="180" y="272"/>
                  <a:pt x="179" y="258"/>
                  <a:pt x="172" y="250"/>
                </a:cubicBezTo>
                <a:cubicBezTo>
                  <a:pt x="164" y="240"/>
                  <a:pt x="149" y="240"/>
                  <a:pt x="149" y="240"/>
                </a:cubicBezTo>
                <a:cubicBezTo>
                  <a:pt x="149" y="240"/>
                  <a:pt x="149" y="240"/>
                  <a:pt x="149" y="240"/>
                </a:cubicBezTo>
                <a:cubicBezTo>
                  <a:pt x="149" y="240"/>
                  <a:pt x="149" y="240"/>
                  <a:pt x="149" y="240"/>
                </a:cubicBezTo>
                <a:cubicBezTo>
                  <a:pt x="148" y="240"/>
                  <a:pt x="134" y="240"/>
                  <a:pt x="125" y="250"/>
                </a:cubicBezTo>
                <a:cubicBezTo>
                  <a:pt x="119" y="259"/>
                  <a:pt x="118" y="272"/>
                  <a:pt x="122" y="291"/>
                </a:cubicBezTo>
                <a:cubicBezTo>
                  <a:pt x="125" y="302"/>
                  <a:pt x="131" y="317"/>
                  <a:pt x="136" y="324"/>
                </a:cubicBezTo>
                <a:cubicBezTo>
                  <a:pt x="142" y="332"/>
                  <a:pt x="139" y="344"/>
                  <a:pt x="137" y="350"/>
                </a:cubicBezTo>
                <a:cubicBezTo>
                  <a:pt x="135" y="357"/>
                  <a:pt x="131" y="369"/>
                  <a:pt x="121" y="372"/>
                </a:cubicBezTo>
                <a:cubicBezTo>
                  <a:pt x="120" y="373"/>
                  <a:pt x="118" y="373"/>
                  <a:pt x="117" y="373"/>
                </a:cubicBezTo>
                <a:cubicBezTo>
                  <a:pt x="113" y="373"/>
                  <a:pt x="109" y="370"/>
                  <a:pt x="107" y="366"/>
                </a:cubicBezTo>
                <a:cubicBezTo>
                  <a:pt x="105" y="361"/>
                  <a:pt x="108" y="354"/>
                  <a:pt x="113" y="352"/>
                </a:cubicBezTo>
                <a:cubicBezTo>
                  <a:pt x="115" y="351"/>
                  <a:pt x="119" y="340"/>
                  <a:pt x="118" y="336"/>
                </a:cubicBezTo>
                <a:cubicBezTo>
                  <a:pt x="112" y="326"/>
                  <a:pt x="105" y="310"/>
                  <a:pt x="101" y="296"/>
                </a:cubicBezTo>
                <a:cubicBezTo>
                  <a:pt x="95" y="270"/>
                  <a:pt x="98" y="250"/>
                  <a:pt x="109" y="237"/>
                </a:cubicBezTo>
                <a:cubicBezTo>
                  <a:pt x="123" y="219"/>
                  <a:pt x="146" y="218"/>
                  <a:pt x="149" y="218"/>
                </a:cubicBezTo>
                <a:cubicBezTo>
                  <a:pt x="149" y="218"/>
                  <a:pt x="149" y="218"/>
                  <a:pt x="149" y="218"/>
                </a:cubicBezTo>
                <a:cubicBezTo>
                  <a:pt x="149" y="218"/>
                  <a:pt x="149" y="218"/>
                  <a:pt x="149" y="218"/>
                </a:cubicBezTo>
                <a:cubicBezTo>
                  <a:pt x="149" y="218"/>
                  <a:pt x="149" y="218"/>
                  <a:pt x="149" y="218"/>
                </a:cubicBezTo>
                <a:cubicBezTo>
                  <a:pt x="149" y="218"/>
                  <a:pt x="149" y="218"/>
                  <a:pt x="149" y="218"/>
                </a:cubicBezTo>
                <a:cubicBezTo>
                  <a:pt x="153" y="218"/>
                  <a:pt x="175" y="219"/>
                  <a:pt x="189" y="237"/>
                </a:cubicBezTo>
                <a:cubicBezTo>
                  <a:pt x="200" y="250"/>
                  <a:pt x="203" y="270"/>
                  <a:pt x="196" y="296"/>
                </a:cubicBezTo>
                <a:cubicBezTo>
                  <a:pt x="193" y="310"/>
                  <a:pt x="186" y="326"/>
                  <a:pt x="180" y="336"/>
                </a:cubicBezTo>
                <a:cubicBezTo>
                  <a:pt x="179" y="340"/>
                  <a:pt x="183" y="351"/>
                  <a:pt x="185" y="353"/>
                </a:cubicBezTo>
                <a:cubicBezTo>
                  <a:pt x="187" y="353"/>
                  <a:pt x="193" y="354"/>
                  <a:pt x="198" y="355"/>
                </a:cubicBezTo>
                <a:cubicBezTo>
                  <a:pt x="210" y="357"/>
                  <a:pt x="223" y="359"/>
                  <a:pt x="230" y="366"/>
                </a:cubicBezTo>
                <a:cubicBezTo>
                  <a:pt x="235" y="370"/>
                  <a:pt x="235" y="376"/>
                  <a:pt x="231" y="381"/>
                </a:cubicBezTo>
                <a:close/>
                <a:moveTo>
                  <a:pt x="416" y="320"/>
                </a:moveTo>
                <a:cubicBezTo>
                  <a:pt x="416" y="326"/>
                  <a:pt x="411" y="330"/>
                  <a:pt x="405" y="330"/>
                </a:cubicBezTo>
                <a:cubicBezTo>
                  <a:pt x="224" y="330"/>
                  <a:pt x="224" y="330"/>
                  <a:pt x="224" y="330"/>
                </a:cubicBezTo>
                <a:cubicBezTo>
                  <a:pt x="218" y="330"/>
                  <a:pt x="213" y="326"/>
                  <a:pt x="213" y="320"/>
                </a:cubicBezTo>
                <a:cubicBezTo>
                  <a:pt x="213" y="314"/>
                  <a:pt x="218" y="309"/>
                  <a:pt x="224" y="309"/>
                </a:cubicBezTo>
                <a:cubicBezTo>
                  <a:pt x="394" y="309"/>
                  <a:pt x="394" y="309"/>
                  <a:pt x="394" y="309"/>
                </a:cubicBezTo>
                <a:cubicBezTo>
                  <a:pt x="394" y="181"/>
                  <a:pt x="394" y="181"/>
                  <a:pt x="394" y="181"/>
                </a:cubicBezTo>
                <a:cubicBezTo>
                  <a:pt x="170" y="181"/>
                  <a:pt x="170" y="181"/>
                  <a:pt x="170" y="181"/>
                </a:cubicBezTo>
                <a:cubicBezTo>
                  <a:pt x="170" y="192"/>
                  <a:pt x="170" y="192"/>
                  <a:pt x="170" y="192"/>
                </a:cubicBezTo>
                <a:cubicBezTo>
                  <a:pt x="170" y="198"/>
                  <a:pt x="166" y="202"/>
                  <a:pt x="160" y="202"/>
                </a:cubicBezTo>
                <a:cubicBezTo>
                  <a:pt x="154" y="202"/>
                  <a:pt x="149" y="198"/>
                  <a:pt x="149" y="192"/>
                </a:cubicBezTo>
                <a:cubicBezTo>
                  <a:pt x="149" y="170"/>
                  <a:pt x="149" y="170"/>
                  <a:pt x="149" y="170"/>
                </a:cubicBezTo>
                <a:cubicBezTo>
                  <a:pt x="149" y="164"/>
                  <a:pt x="154" y="160"/>
                  <a:pt x="160" y="160"/>
                </a:cubicBezTo>
                <a:cubicBezTo>
                  <a:pt x="405" y="160"/>
                  <a:pt x="405" y="160"/>
                  <a:pt x="405" y="160"/>
                </a:cubicBezTo>
                <a:cubicBezTo>
                  <a:pt x="411" y="160"/>
                  <a:pt x="416" y="164"/>
                  <a:pt x="416" y="170"/>
                </a:cubicBezTo>
                <a:lnTo>
                  <a:pt x="416" y="320"/>
                </a:lnTo>
                <a:close/>
                <a:moveTo>
                  <a:pt x="234" y="256"/>
                </a:moveTo>
                <a:cubicBezTo>
                  <a:pt x="362" y="256"/>
                  <a:pt x="362" y="256"/>
                  <a:pt x="362" y="256"/>
                </a:cubicBezTo>
                <a:cubicBezTo>
                  <a:pt x="368" y="256"/>
                  <a:pt x="373" y="260"/>
                  <a:pt x="373" y="266"/>
                </a:cubicBezTo>
                <a:cubicBezTo>
                  <a:pt x="373" y="272"/>
                  <a:pt x="368" y="277"/>
                  <a:pt x="362" y="277"/>
                </a:cubicBezTo>
                <a:cubicBezTo>
                  <a:pt x="234" y="277"/>
                  <a:pt x="234" y="277"/>
                  <a:pt x="234" y="277"/>
                </a:cubicBezTo>
                <a:cubicBezTo>
                  <a:pt x="228" y="277"/>
                  <a:pt x="224" y="272"/>
                  <a:pt x="224" y="266"/>
                </a:cubicBezTo>
                <a:cubicBezTo>
                  <a:pt x="224" y="260"/>
                  <a:pt x="228" y="256"/>
                  <a:pt x="234" y="256"/>
                </a:cubicBezTo>
                <a:close/>
                <a:moveTo>
                  <a:pt x="224" y="224"/>
                </a:moveTo>
                <a:cubicBezTo>
                  <a:pt x="224" y="218"/>
                  <a:pt x="228" y="213"/>
                  <a:pt x="234" y="213"/>
                </a:cubicBezTo>
                <a:cubicBezTo>
                  <a:pt x="362" y="213"/>
                  <a:pt x="362" y="213"/>
                  <a:pt x="362" y="213"/>
                </a:cubicBezTo>
                <a:cubicBezTo>
                  <a:pt x="368" y="213"/>
                  <a:pt x="373" y="218"/>
                  <a:pt x="373" y="224"/>
                </a:cubicBezTo>
                <a:cubicBezTo>
                  <a:pt x="373" y="230"/>
                  <a:pt x="368" y="234"/>
                  <a:pt x="362" y="234"/>
                </a:cubicBezTo>
                <a:cubicBezTo>
                  <a:pt x="234" y="234"/>
                  <a:pt x="234" y="234"/>
                  <a:pt x="234" y="234"/>
                </a:cubicBezTo>
                <a:cubicBezTo>
                  <a:pt x="228" y="234"/>
                  <a:pt x="224" y="230"/>
                  <a:pt x="224" y="224"/>
                </a:cubicBezTo>
                <a:close/>
              </a:path>
            </a:pathLst>
          </a:custGeom>
          <a:solidFill>
            <a:srgbClr val="00ABAB"/>
          </a:solidFill>
          <a:ln>
            <a:noFill/>
          </a:ln>
        </p:spPr>
        <p:txBody>
          <a:bodyPr vert="horz" wrap="square" lIns="91440" tIns="45720" rIns="91440" bIns="45720" numCol="1" anchor="t" anchorCtr="0" compatLnSpc="1">
            <a:prstTxWarp prst="textNoShape">
              <a:avLst/>
            </a:prstTxWarp>
          </a:bodyPr>
          <a:lstStyle/>
          <a:p>
            <a:endParaRPr lang="en-GB"/>
          </a:p>
        </p:txBody>
      </p:sp>
      <p:sp>
        <p:nvSpPr>
          <p:cNvPr id="39" name="Freeform 584"/>
          <p:cNvSpPr>
            <a:spLocks noChangeAspect="1" noEditPoints="1"/>
          </p:cNvSpPr>
          <p:nvPr/>
        </p:nvSpPr>
        <p:spPr bwMode="auto">
          <a:xfrm>
            <a:off x="361944" y="1710887"/>
            <a:ext cx="673856" cy="673856"/>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373 h 512"/>
              <a:gd name="T12" fmla="*/ 106 w 512"/>
              <a:gd name="T13" fmla="*/ 373 h 512"/>
              <a:gd name="T14" fmla="*/ 96 w 512"/>
              <a:gd name="T15" fmla="*/ 362 h 512"/>
              <a:gd name="T16" fmla="*/ 96 w 512"/>
              <a:gd name="T17" fmla="*/ 149 h 512"/>
              <a:gd name="T18" fmla="*/ 106 w 512"/>
              <a:gd name="T19" fmla="*/ 138 h 512"/>
              <a:gd name="T20" fmla="*/ 117 w 512"/>
              <a:gd name="T21" fmla="*/ 149 h 512"/>
              <a:gd name="T22" fmla="*/ 117 w 512"/>
              <a:gd name="T23" fmla="*/ 352 h 512"/>
              <a:gd name="T24" fmla="*/ 405 w 512"/>
              <a:gd name="T25" fmla="*/ 352 h 512"/>
              <a:gd name="T26" fmla="*/ 416 w 512"/>
              <a:gd name="T27" fmla="*/ 362 h 512"/>
              <a:gd name="T28" fmla="*/ 405 w 512"/>
              <a:gd name="T29" fmla="*/ 373 h 512"/>
              <a:gd name="T30" fmla="*/ 413 w 512"/>
              <a:gd name="T31" fmla="*/ 178 h 512"/>
              <a:gd name="T32" fmla="*/ 295 w 512"/>
              <a:gd name="T33" fmla="*/ 295 h 512"/>
              <a:gd name="T34" fmla="*/ 280 w 512"/>
              <a:gd name="T35" fmla="*/ 295 h 512"/>
              <a:gd name="T36" fmla="*/ 224 w 512"/>
              <a:gd name="T37" fmla="*/ 239 h 512"/>
              <a:gd name="T38" fmla="*/ 157 w 512"/>
              <a:gd name="T39" fmla="*/ 306 h 512"/>
              <a:gd name="T40" fmla="*/ 149 w 512"/>
              <a:gd name="T41" fmla="*/ 309 h 512"/>
              <a:gd name="T42" fmla="*/ 141 w 512"/>
              <a:gd name="T43" fmla="*/ 306 h 512"/>
              <a:gd name="T44" fmla="*/ 141 w 512"/>
              <a:gd name="T45" fmla="*/ 291 h 512"/>
              <a:gd name="T46" fmla="*/ 216 w 512"/>
              <a:gd name="T47" fmla="*/ 216 h 512"/>
              <a:gd name="T48" fmla="*/ 231 w 512"/>
              <a:gd name="T49" fmla="*/ 216 h 512"/>
              <a:gd name="T50" fmla="*/ 288 w 512"/>
              <a:gd name="T51" fmla="*/ 273 h 512"/>
              <a:gd name="T52" fmla="*/ 397 w 512"/>
              <a:gd name="T53" fmla="*/ 163 h 512"/>
              <a:gd name="T54" fmla="*/ 413 w 512"/>
              <a:gd name="T55" fmla="*/ 163 h 512"/>
              <a:gd name="T56" fmla="*/ 413 w 512"/>
              <a:gd name="T57" fmla="*/ 17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373"/>
                </a:moveTo>
                <a:cubicBezTo>
                  <a:pt x="106" y="373"/>
                  <a:pt x="106" y="373"/>
                  <a:pt x="106" y="373"/>
                </a:cubicBezTo>
                <a:cubicBezTo>
                  <a:pt x="100" y="373"/>
                  <a:pt x="96" y="368"/>
                  <a:pt x="96" y="362"/>
                </a:cubicBezTo>
                <a:cubicBezTo>
                  <a:pt x="96" y="149"/>
                  <a:pt x="96" y="149"/>
                  <a:pt x="96" y="149"/>
                </a:cubicBezTo>
                <a:cubicBezTo>
                  <a:pt x="96" y="143"/>
                  <a:pt x="100" y="138"/>
                  <a:pt x="106" y="138"/>
                </a:cubicBezTo>
                <a:cubicBezTo>
                  <a:pt x="112" y="138"/>
                  <a:pt x="117" y="143"/>
                  <a:pt x="117" y="149"/>
                </a:cubicBezTo>
                <a:cubicBezTo>
                  <a:pt x="117" y="352"/>
                  <a:pt x="117" y="352"/>
                  <a:pt x="117" y="352"/>
                </a:cubicBezTo>
                <a:cubicBezTo>
                  <a:pt x="405" y="352"/>
                  <a:pt x="405" y="352"/>
                  <a:pt x="405" y="352"/>
                </a:cubicBezTo>
                <a:cubicBezTo>
                  <a:pt x="411" y="352"/>
                  <a:pt x="416" y="356"/>
                  <a:pt x="416" y="362"/>
                </a:cubicBezTo>
                <a:cubicBezTo>
                  <a:pt x="416" y="368"/>
                  <a:pt x="411" y="373"/>
                  <a:pt x="405" y="373"/>
                </a:cubicBezTo>
                <a:close/>
                <a:moveTo>
                  <a:pt x="413" y="178"/>
                </a:moveTo>
                <a:cubicBezTo>
                  <a:pt x="295" y="295"/>
                  <a:pt x="295" y="295"/>
                  <a:pt x="295" y="295"/>
                </a:cubicBezTo>
                <a:cubicBezTo>
                  <a:pt x="291" y="299"/>
                  <a:pt x="284" y="299"/>
                  <a:pt x="280" y="295"/>
                </a:cubicBezTo>
                <a:cubicBezTo>
                  <a:pt x="224" y="239"/>
                  <a:pt x="224" y="239"/>
                  <a:pt x="224" y="239"/>
                </a:cubicBezTo>
                <a:cubicBezTo>
                  <a:pt x="157" y="306"/>
                  <a:pt x="157" y="306"/>
                  <a:pt x="157" y="306"/>
                </a:cubicBezTo>
                <a:cubicBezTo>
                  <a:pt x="154" y="308"/>
                  <a:pt x="152" y="309"/>
                  <a:pt x="149" y="309"/>
                </a:cubicBezTo>
                <a:cubicBezTo>
                  <a:pt x="146" y="309"/>
                  <a:pt x="144" y="308"/>
                  <a:pt x="141" y="306"/>
                </a:cubicBezTo>
                <a:cubicBezTo>
                  <a:pt x="137" y="302"/>
                  <a:pt x="137" y="295"/>
                  <a:pt x="141" y="291"/>
                </a:cubicBezTo>
                <a:cubicBezTo>
                  <a:pt x="216" y="216"/>
                  <a:pt x="216" y="216"/>
                  <a:pt x="216" y="216"/>
                </a:cubicBezTo>
                <a:cubicBezTo>
                  <a:pt x="220" y="212"/>
                  <a:pt x="227" y="212"/>
                  <a:pt x="231" y="216"/>
                </a:cubicBezTo>
                <a:cubicBezTo>
                  <a:pt x="288" y="273"/>
                  <a:pt x="288" y="273"/>
                  <a:pt x="288" y="273"/>
                </a:cubicBezTo>
                <a:cubicBezTo>
                  <a:pt x="397" y="163"/>
                  <a:pt x="397" y="163"/>
                  <a:pt x="397" y="163"/>
                </a:cubicBezTo>
                <a:cubicBezTo>
                  <a:pt x="402" y="159"/>
                  <a:pt x="408" y="159"/>
                  <a:pt x="413" y="163"/>
                </a:cubicBezTo>
                <a:cubicBezTo>
                  <a:pt x="417" y="167"/>
                  <a:pt x="417" y="174"/>
                  <a:pt x="413" y="178"/>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42"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Our Credentials</a:t>
            </a:r>
          </a:p>
        </p:txBody>
      </p:sp>
      <p:sp>
        <p:nvSpPr>
          <p:cNvPr id="43"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We have worked on multiple engagements and have served clients across the globe</a:t>
            </a:r>
          </a:p>
        </p:txBody>
      </p:sp>
    </p:spTree>
    <p:extLst>
      <p:ext uri="{BB962C8B-B14F-4D97-AF65-F5344CB8AC3E}">
        <p14:creationId xmlns:p14="http://schemas.microsoft.com/office/powerpoint/2010/main" val="110889321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txBox="1">
            <a:spLocks/>
          </p:cNvSpPr>
          <p:nvPr/>
        </p:nvSpPr>
        <p:spPr>
          <a:xfrm>
            <a:off x="439792" y="627192"/>
            <a:ext cx="9934294" cy="45719"/>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1600" dirty="0">
                <a:solidFill>
                  <a:srgbClr val="575757"/>
                </a:solidFill>
                <a:latin typeface="+mn-lt"/>
                <a:ea typeface="+mn-ea"/>
                <a:cs typeface="+mn-cs"/>
              </a:rPr>
              <a:t> </a:t>
            </a:r>
          </a:p>
        </p:txBody>
      </p:sp>
      <p:pic>
        <p:nvPicPr>
          <p:cNvPr id="115" name="Picture 1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252" y="4567025"/>
            <a:ext cx="790104" cy="657929"/>
          </a:xfrm>
          <a:prstGeom prst="rect">
            <a:avLst/>
          </a:prstGeom>
        </p:spPr>
      </p:pic>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2758" y="5229912"/>
            <a:ext cx="930256" cy="801964"/>
          </a:xfrm>
          <a:prstGeom prst="rect">
            <a:avLst/>
          </a:prstGeom>
        </p:spPr>
      </p:pic>
      <p:pic>
        <p:nvPicPr>
          <p:cNvPr id="117" name="Picture 1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5834" y="5312139"/>
            <a:ext cx="1333896" cy="953936"/>
          </a:xfrm>
          <a:prstGeom prst="rect">
            <a:avLst/>
          </a:prstGeom>
        </p:spPr>
      </p:pic>
      <p:pic>
        <p:nvPicPr>
          <p:cNvPr id="118" name="Picture 1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0111" y="4618039"/>
            <a:ext cx="1565738" cy="555900"/>
          </a:xfrm>
          <a:prstGeom prst="rect">
            <a:avLst/>
          </a:prstGeom>
        </p:spPr>
      </p:pic>
      <p:pic>
        <p:nvPicPr>
          <p:cNvPr id="119" name="Picture 1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18507" y="5496628"/>
            <a:ext cx="1543760" cy="660992"/>
          </a:xfrm>
          <a:prstGeom prst="rect">
            <a:avLst/>
          </a:prstGeom>
        </p:spPr>
      </p:pic>
      <p:pic>
        <p:nvPicPr>
          <p:cNvPr id="120" name="Picture 1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50812" y="5388490"/>
            <a:ext cx="1225342" cy="891027"/>
          </a:xfrm>
          <a:prstGeom prst="rect">
            <a:avLst/>
          </a:prstGeom>
        </p:spPr>
      </p:pic>
      <p:pic>
        <p:nvPicPr>
          <p:cNvPr id="121" name="Picture 12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540" y="5361338"/>
            <a:ext cx="1544044" cy="954687"/>
          </a:xfrm>
          <a:prstGeom prst="rect">
            <a:avLst/>
          </a:prstGeom>
        </p:spPr>
      </p:pic>
      <p:pic>
        <p:nvPicPr>
          <p:cNvPr id="122" name="Picture 12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04430" y="4604735"/>
            <a:ext cx="1562475" cy="624401"/>
          </a:xfrm>
          <a:prstGeom prst="rect">
            <a:avLst/>
          </a:prstGeom>
        </p:spPr>
      </p:pic>
      <p:pic>
        <p:nvPicPr>
          <p:cNvPr id="123" name="Picture 12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50079" y="4641699"/>
            <a:ext cx="1522495" cy="583255"/>
          </a:xfrm>
          <a:prstGeom prst="rect">
            <a:avLst/>
          </a:prstGeom>
        </p:spPr>
      </p:pic>
      <p:pic>
        <p:nvPicPr>
          <p:cNvPr id="124" name="Picture 12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609446" y="5388490"/>
            <a:ext cx="1179342" cy="707254"/>
          </a:xfrm>
          <a:prstGeom prst="rect">
            <a:avLst/>
          </a:prstGeom>
        </p:spPr>
      </p:pic>
      <p:pic>
        <p:nvPicPr>
          <p:cNvPr id="125" name="Picture 124"/>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287703" y="4484729"/>
            <a:ext cx="1978600" cy="742519"/>
          </a:xfrm>
          <a:prstGeom prst="rect">
            <a:avLst/>
          </a:prstGeom>
        </p:spPr>
      </p:pic>
      <p:grpSp>
        <p:nvGrpSpPr>
          <p:cNvPr id="2" name="Group 1"/>
          <p:cNvGrpSpPr/>
          <p:nvPr/>
        </p:nvGrpSpPr>
        <p:grpSpPr>
          <a:xfrm>
            <a:off x="7857603" y="4587970"/>
            <a:ext cx="1306717" cy="657929"/>
            <a:chOff x="332308" y="3404077"/>
            <a:chExt cx="1661723" cy="731092"/>
          </a:xfrm>
        </p:grpSpPr>
        <p:sp>
          <p:nvSpPr>
            <p:cNvPr id="50" name="Rectangle 49"/>
            <p:cNvSpPr/>
            <p:nvPr/>
          </p:nvSpPr>
          <p:spPr>
            <a:xfrm>
              <a:off x="332308" y="3404077"/>
              <a:ext cx="1661723" cy="73109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rgbClr val="000000"/>
                </a:solidFill>
                <a:latin typeface="Verdana" panose="020B0604030504040204" pitchFamily="34" charset="0"/>
              </a:endParaRPr>
            </a:p>
          </p:txBody>
        </p:sp>
        <p:pic>
          <p:nvPicPr>
            <p:cNvPr id="51" name="Picture 4" descr="https://upload.wikimedia.org/wikipedia/commons/thumb/b/bd/Steag_Logo.svg/2000px-Steag_Logo.svg.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81091" y="3659128"/>
              <a:ext cx="764308" cy="23196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p:cNvPicPr>
              <a:picLocks noChangeAspect="1"/>
            </p:cNvPicPr>
            <p:nvPr/>
          </p:nvPicPr>
          <p:blipFill>
            <a:blip r:embed="rId14"/>
            <a:stretch>
              <a:fillRect/>
            </a:stretch>
          </p:blipFill>
          <p:spPr>
            <a:xfrm>
              <a:off x="1190099" y="3570116"/>
              <a:ext cx="756070" cy="381963"/>
            </a:xfrm>
            <a:prstGeom prst="rect">
              <a:avLst/>
            </a:prstGeom>
          </p:spPr>
        </p:pic>
      </p:grpSp>
      <p:pic>
        <p:nvPicPr>
          <p:cNvPr id="54" name="Picture 5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08276" y="6342693"/>
            <a:ext cx="1307684" cy="374516"/>
          </a:xfrm>
          <a:prstGeom prst="rect">
            <a:avLst/>
          </a:prstGeom>
        </p:spPr>
      </p:pic>
      <p:pic>
        <p:nvPicPr>
          <p:cNvPr id="55" name="Picture 54"/>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643584" y="6220499"/>
            <a:ext cx="902369" cy="676777"/>
          </a:xfrm>
          <a:prstGeom prst="rect">
            <a:avLst/>
          </a:prstGeom>
        </p:spPr>
      </p:pic>
      <p:pic>
        <p:nvPicPr>
          <p:cNvPr id="56" name="Picture 55"/>
          <p:cNvPicPr>
            <a:picLocks noChangeAspect="1"/>
          </p:cNvPicPr>
          <p:nvPr/>
        </p:nvPicPr>
        <p:blipFill>
          <a:blip r:embed="rId17"/>
          <a:stretch>
            <a:fillRect/>
          </a:stretch>
        </p:blipFill>
        <p:spPr>
          <a:xfrm>
            <a:off x="7591986" y="5560428"/>
            <a:ext cx="1436788" cy="569027"/>
          </a:xfrm>
          <a:prstGeom prst="rect">
            <a:avLst/>
          </a:prstGeom>
        </p:spPr>
      </p:pic>
      <p:pic>
        <p:nvPicPr>
          <p:cNvPr id="57" name="Picture 56"/>
          <p:cNvPicPr>
            <a:picLocks noChangeAspect="1"/>
          </p:cNvPicPr>
          <p:nvPr/>
        </p:nvPicPr>
        <p:blipFill>
          <a:blip r:embed="rId18"/>
          <a:stretch>
            <a:fillRect/>
          </a:stretch>
        </p:blipFill>
        <p:spPr>
          <a:xfrm>
            <a:off x="2620166" y="6129455"/>
            <a:ext cx="755559" cy="466438"/>
          </a:xfrm>
          <a:prstGeom prst="rect">
            <a:avLst/>
          </a:prstGeom>
        </p:spPr>
      </p:pic>
      <p:pic>
        <p:nvPicPr>
          <p:cNvPr id="58" name="Picture 57"/>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478858" y="6316025"/>
            <a:ext cx="1376094" cy="664615"/>
          </a:xfrm>
          <a:prstGeom prst="rect">
            <a:avLst/>
          </a:prstGeom>
        </p:spPr>
      </p:pic>
      <p:pic>
        <p:nvPicPr>
          <p:cNvPr id="59" name="Picture 4" descr="http://www.tnb.com.my/tnb/application/uploads/assets/cache/7_273_273_90.jpg"/>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l="4651" t="4571" r="7126" b="4685"/>
          <a:stretch/>
        </p:blipFill>
        <p:spPr bwMode="auto">
          <a:xfrm>
            <a:off x="9296498" y="4651333"/>
            <a:ext cx="557686" cy="57362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p:cNvPicPr>
            <a:picLocks noChangeAspect="1"/>
          </p:cNvPicPr>
          <p:nvPr/>
        </p:nvPicPr>
        <p:blipFill>
          <a:blip r:embed="rId21"/>
          <a:stretch>
            <a:fillRect/>
          </a:stretch>
        </p:blipFill>
        <p:spPr>
          <a:xfrm>
            <a:off x="4912388" y="6427229"/>
            <a:ext cx="1353915" cy="442206"/>
          </a:xfrm>
          <a:prstGeom prst="rect">
            <a:avLst/>
          </a:prstGeom>
        </p:spPr>
      </p:pic>
      <p:pic>
        <p:nvPicPr>
          <p:cNvPr id="61" name="Picture 60"/>
          <p:cNvPicPr>
            <a:picLocks noChangeAspect="1"/>
          </p:cNvPicPr>
          <p:nvPr/>
        </p:nvPicPr>
        <p:blipFill>
          <a:blip r:embed="rId22"/>
          <a:stretch>
            <a:fillRect/>
          </a:stretch>
        </p:blipFill>
        <p:spPr>
          <a:xfrm>
            <a:off x="6525210" y="6266075"/>
            <a:ext cx="731911" cy="677189"/>
          </a:xfrm>
          <a:prstGeom prst="rect">
            <a:avLst/>
          </a:prstGeom>
        </p:spPr>
      </p:pic>
      <p:pic>
        <p:nvPicPr>
          <p:cNvPr id="62" name="Picture 61"/>
          <p:cNvPicPr>
            <a:picLocks noChangeAspect="1"/>
          </p:cNvPicPr>
          <p:nvPr/>
        </p:nvPicPr>
        <p:blipFill rotWithShape="1">
          <a:blip r:embed="rId23"/>
          <a:srcRect b="7488"/>
          <a:stretch/>
        </p:blipFill>
        <p:spPr>
          <a:xfrm>
            <a:off x="7380153" y="6354874"/>
            <a:ext cx="1108441" cy="443369"/>
          </a:xfrm>
          <a:prstGeom prst="rect">
            <a:avLst/>
          </a:prstGeom>
        </p:spPr>
      </p:pic>
      <p:pic>
        <p:nvPicPr>
          <p:cNvPr id="63" name="Picture 62"/>
          <p:cNvPicPr>
            <a:picLocks noChangeAspect="1"/>
          </p:cNvPicPr>
          <p:nvPr/>
        </p:nvPicPr>
        <p:blipFill>
          <a:blip r:embed="rId24"/>
          <a:stretch>
            <a:fillRect/>
          </a:stretch>
        </p:blipFill>
        <p:spPr>
          <a:xfrm>
            <a:off x="8636052" y="6384410"/>
            <a:ext cx="1438849" cy="440517"/>
          </a:xfrm>
          <a:prstGeom prst="rect">
            <a:avLst/>
          </a:prstGeom>
        </p:spPr>
      </p:pic>
      <p:pic>
        <p:nvPicPr>
          <p:cNvPr id="64" name="Picture 63"/>
          <p:cNvPicPr>
            <a:picLocks noChangeAspect="1"/>
          </p:cNvPicPr>
          <p:nvPr/>
        </p:nvPicPr>
        <p:blipFill>
          <a:blip r:embed="rId25"/>
          <a:stretch>
            <a:fillRect/>
          </a:stretch>
        </p:blipFill>
        <p:spPr>
          <a:xfrm>
            <a:off x="9174585" y="5453366"/>
            <a:ext cx="1042152" cy="325421"/>
          </a:xfrm>
          <a:prstGeom prst="rect">
            <a:avLst/>
          </a:prstGeom>
        </p:spPr>
      </p:pic>
      <p:pic>
        <p:nvPicPr>
          <p:cNvPr id="65" name="Picture 2" descr="image003"/>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9235705" y="5991343"/>
            <a:ext cx="919911" cy="180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p:nvPr/>
        </p:nvGrpSpPr>
        <p:grpSpPr>
          <a:xfrm>
            <a:off x="238469" y="1656887"/>
            <a:ext cx="9693359" cy="2394713"/>
            <a:chOff x="160825" y="1467562"/>
            <a:chExt cx="10335182" cy="2657710"/>
          </a:xfrm>
        </p:grpSpPr>
        <p:pic>
          <p:nvPicPr>
            <p:cNvPr id="67" name="Picture 66"/>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1569869" y="1907569"/>
              <a:ext cx="797083" cy="627697"/>
            </a:xfrm>
            <a:prstGeom prst="rect">
              <a:avLst/>
            </a:prstGeom>
          </p:spPr>
        </p:pic>
        <p:pic>
          <p:nvPicPr>
            <p:cNvPr id="68" name="Picture 67"/>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787808" y="1804936"/>
              <a:ext cx="1208025" cy="760146"/>
            </a:xfrm>
            <a:prstGeom prst="rect">
              <a:avLst/>
            </a:prstGeom>
          </p:spPr>
        </p:pic>
        <p:pic>
          <p:nvPicPr>
            <p:cNvPr id="69" name="Picture 68"/>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6301654" y="1866293"/>
              <a:ext cx="1104986" cy="514023"/>
            </a:xfrm>
            <a:prstGeom prst="rect">
              <a:avLst/>
            </a:prstGeom>
          </p:spPr>
        </p:pic>
        <p:pic>
          <p:nvPicPr>
            <p:cNvPr id="70" name="Picture 69"/>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4455062" y="1925030"/>
              <a:ext cx="1358985" cy="455286"/>
            </a:xfrm>
            <a:prstGeom prst="rect">
              <a:avLst/>
            </a:prstGeom>
          </p:spPr>
        </p:pic>
        <p:pic>
          <p:nvPicPr>
            <p:cNvPr id="73" name="Picture 72"/>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7812868" y="1840892"/>
              <a:ext cx="1351452" cy="539424"/>
            </a:xfrm>
            <a:prstGeom prst="rect">
              <a:avLst/>
            </a:prstGeom>
          </p:spPr>
        </p:pic>
        <p:pic>
          <p:nvPicPr>
            <p:cNvPr id="76" name="Picture 20" descr="us"/>
            <p:cNvPicPr>
              <a:picLocks noChangeAspect="1" noChangeArrowheads="1"/>
            </p:cNvPicPr>
            <p:nvPr/>
          </p:nvPicPr>
          <p:blipFill>
            <a:blip r:embed="rId32" cstate="print"/>
            <a:srcRect/>
            <a:stretch>
              <a:fillRect/>
            </a:stretch>
          </p:blipFill>
          <p:spPr bwMode="auto">
            <a:xfrm>
              <a:off x="389556" y="2815020"/>
              <a:ext cx="685800" cy="437434"/>
            </a:xfrm>
            <a:prstGeom prst="rect">
              <a:avLst/>
            </a:prstGeom>
            <a:noFill/>
            <a:ln w="9525">
              <a:solidFill>
                <a:schemeClr val="bg1">
                  <a:lumMod val="50000"/>
                </a:schemeClr>
              </a:solidFill>
              <a:miter lim="800000"/>
              <a:headEnd/>
              <a:tailEnd/>
            </a:ln>
          </p:spPr>
        </p:pic>
        <p:pic>
          <p:nvPicPr>
            <p:cNvPr id="77" name="Picture 6" descr="cn"/>
            <p:cNvPicPr>
              <a:picLocks noChangeAspect="1" noChangeArrowheads="1"/>
            </p:cNvPicPr>
            <p:nvPr/>
          </p:nvPicPr>
          <p:blipFill>
            <a:blip r:embed="rId33" cstate="print"/>
            <a:srcRect/>
            <a:stretch>
              <a:fillRect/>
            </a:stretch>
          </p:blipFill>
          <p:spPr bwMode="auto">
            <a:xfrm>
              <a:off x="389556" y="1989702"/>
              <a:ext cx="685800" cy="390614"/>
            </a:xfrm>
            <a:prstGeom prst="rect">
              <a:avLst/>
            </a:prstGeom>
            <a:noFill/>
            <a:ln w="9525">
              <a:solidFill>
                <a:schemeClr val="bg1">
                  <a:lumMod val="50000"/>
                </a:schemeClr>
              </a:solidFill>
              <a:miter lim="800000"/>
              <a:headEnd/>
              <a:tailEnd/>
            </a:ln>
          </p:spPr>
        </p:pic>
        <p:pic>
          <p:nvPicPr>
            <p:cNvPr id="78" name="Picture 17" descr="es"/>
            <p:cNvPicPr>
              <a:picLocks noChangeAspect="1" noChangeArrowheads="1"/>
            </p:cNvPicPr>
            <p:nvPr/>
          </p:nvPicPr>
          <p:blipFill>
            <a:blip r:embed="rId34" cstate="print"/>
            <a:srcRect/>
            <a:stretch>
              <a:fillRect/>
            </a:stretch>
          </p:blipFill>
          <p:spPr bwMode="auto">
            <a:xfrm>
              <a:off x="1622084" y="2815020"/>
              <a:ext cx="797083" cy="437434"/>
            </a:xfrm>
            <a:prstGeom prst="rect">
              <a:avLst/>
            </a:prstGeom>
            <a:noFill/>
            <a:ln w="9525">
              <a:solidFill>
                <a:schemeClr val="bg1">
                  <a:lumMod val="50000"/>
                </a:schemeClr>
              </a:solidFill>
              <a:miter lim="800000"/>
              <a:headEnd/>
              <a:tailEnd/>
            </a:ln>
          </p:spPr>
        </p:pic>
        <p:pic>
          <p:nvPicPr>
            <p:cNvPr id="79" name="Picture 5" descr="ca"/>
            <p:cNvPicPr>
              <a:picLocks noChangeAspect="1" noChangeArrowheads="1"/>
            </p:cNvPicPr>
            <p:nvPr/>
          </p:nvPicPr>
          <p:blipFill>
            <a:blip r:embed="rId35" cstate="print"/>
            <a:srcRect/>
            <a:stretch>
              <a:fillRect/>
            </a:stretch>
          </p:blipFill>
          <p:spPr bwMode="auto">
            <a:xfrm>
              <a:off x="2855619" y="2815020"/>
              <a:ext cx="1111835" cy="437434"/>
            </a:xfrm>
            <a:prstGeom prst="rect">
              <a:avLst/>
            </a:prstGeom>
            <a:noFill/>
            <a:ln w="9525">
              <a:solidFill>
                <a:schemeClr val="bg1">
                  <a:lumMod val="50000"/>
                </a:schemeClr>
              </a:solidFill>
              <a:miter lim="800000"/>
              <a:headEnd/>
              <a:tailEnd/>
            </a:ln>
          </p:spPr>
        </p:pic>
        <p:pic>
          <p:nvPicPr>
            <p:cNvPr id="80" name="Picture 4" descr="au"/>
            <p:cNvPicPr>
              <a:picLocks noChangeAspect="1" noChangeArrowheads="1"/>
            </p:cNvPicPr>
            <p:nvPr/>
          </p:nvPicPr>
          <p:blipFill>
            <a:blip r:embed="rId36" cstate="print"/>
            <a:srcRect/>
            <a:stretch>
              <a:fillRect/>
            </a:stretch>
          </p:blipFill>
          <p:spPr bwMode="auto">
            <a:xfrm>
              <a:off x="4455062" y="2815020"/>
              <a:ext cx="1358985" cy="437434"/>
            </a:xfrm>
            <a:prstGeom prst="rect">
              <a:avLst/>
            </a:prstGeom>
            <a:noFill/>
            <a:ln w="9525">
              <a:solidFill>
                <a:schemeClr val="bg1">
                  <a:lumMod val="50000"/>
                </a:schemeClr>
              </a:solidFill>
              <a:miter lim="800000"/>
              <a:headEnd/>
              <a:tailEnd/>
            </a:ln>
          </p:spPr>
        </p:pic>
        <p:pic>
          <p:nvPicPr>
            <p:cNvPr id="83" name="Picture 82"/>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6301654" y="2769022"/>
              <a:ext cx="955467" cy="483431"/>
            </a:xfrm>
            <a:prstGeom prst="rect">
              <a:avLst/>
            </a:prstGeom>
          </p:spPr>
        </p:pic>
        <p:pic>
          <p:nvPicPr>
            <p:cNvPr id="84" name="Picture 83"/>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7898289" y="2815020"/>
              <a:ext cx="890111" cy="437434"/>
            </a:xfrm>
            <a:prstGeom prst="rect">
              <a:avLst/>
            </a:prstGeom>
          </p:spPr>
        </p:pic>
        <p:pic>
          <p:nvPicPr>
            <p:cNvPr id="85" name="Picture 84"/>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9357360" y="1729238"/>
              <a:ext cx="1138646" cy="538064"/>
            </a:xfrm>
            <a:prstGeom prst="rect">
              <a:avLst/>
            </a:prstGeom>
          </p:spPr>
        </p:pic>
        <p:pic>
          <p:nvPicPr>
            <p:cNvPr id="86" name="Picture 85"/>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9193753" y="2656009"/>
              <a:ext cx="1302254" cy="483431"/>
            </a:xfrm>
            <a:prstGeom prst="rect">
              <a:avLst/>
            </a:prstGeom>
          </p:spPr>
        </p:pic>
        <p:sp>
          <p:nvSpPr>
            <p:cNvPr id="89" name="Rectangle 88"/>
            <p:cNvSpPr/>
            <p:nvPr/>
          </p:nvSpPr>
          <p:spPr>
            <a:xfrm>
              <a:off x="389556" y="2544791"/>
              <a:ext cx="585417" cy="261610"/>
            </a:xfrm>
            <a:prstGeom prst="rect">
              <a:avLst/>
            </a:prstGeom>
          </p:spPr>
          <p:txBody>
            <a:bodyPr wrap="none">
              <a:spAutoFit/>
            </a:bodyPr>
            <a:lstStyle/>
            <a:p>
              <a:pPr algn="ctr"/>
              <a:r>
                <a:rPr lang="en-US" sz="1100" dirty="0">
                  <a:ea typeface="MS PGothic" pitchFamily="34" charset="-128"/>
                </a:rPr>
                <a:t>China</a:t>
              </a:r>
              <a:endParaRPr lang="en-IN" sz="1100" dirty="0"/>
            </a:p>
          </p:txBody>
        </p:sp>
        <p:sp>
          <p:nvSpPr>
            <p:cNvPr id="92" name="Rectangle 91"/>
            <p:cNvSpPr/>
            <p:nvPr/>
          </p:nvSpPr>
          <p:spPr>
            <a:xfrm>
              <a:off x="1747954" y="2504150"/>
              <a:ext cx="545341" cy="261610"/>
            </a:xfrm>
            <a:prstGeom prst="rect">
              <a:avLst/>
            </a:prstGeom>
          </p:spPr>
          <p:txBody>
            <a:bodyPr wrap="none">
              <a:spAutoFit/>
            </a:bodyPr>
            <a:lstStyle/>
            <a:p>
              <a:pPr algn="ctr"/>
              <a:r>
                <a:rPr lang="en-US" sz="1100" dirty="0">
                  <a:ea typeface="MS PGothic" pitchFamily="34" charset="-128"/>
                </a:rPr>
                <a:t>India</a:t>
              </a:r>
              <a:endParaRPr lang="en-IN" sz="1100" dirty="0"/>
            </a:p>
          </p:txBody>
        </p:sp>
        <p:sp>
          <p:nvSpPr>
            <p:cNvPr id="93" name="Rectangle 92"/>
            <p:cNvSpPr/>
            <p:nvPr/>
          </p:nvSpPr>
          <p:spPr>
            <a:xfrm>
              <a:off x="2997946" y="2504150"/>
              <a:ext cx="671979" cy="261610"/>
            </a:xfrm>
            <a:prstGeom prst="rect">
              <a:avLst/>
            </a:prstGeom>
          </p:spPr>
          <p:txBody>
            <a:bodyPr wrap="none">
              <a:spAutoFit/>
            </a:bodyPr>
            <a:lstStyle/>
            <a:p>
              <a:pPr algn="ctr"/>
              <a:r>
                <a:rPr lang="en-US" sz="1100" dirty="0">
                  <a:ea typeface="MS PGothic" pitchFamily="34" charset="-128"/>
                </a:rPr>
                <a:t>Turkey</a:t>
              </a:r>
              <a:endParaRPr lang="en-IN" sz="1100" dirty="0"/>
            </a:p>
          </p:txBody>
        </p:sp>
        <p:sp>
          <p:nvSpPr>
            <p:cNvPr id="94" name="Rectangle 93"/>
            <p:cNvSpPr/>
            <p:nvPr/>
          </p:nvSpPr>
          <p:spPr>
            <a:xfrm>
              <a:off x="4712003" y="2504150"/>
              <a:ext cx="845103" cy="261610"/>
            </a:xfrm>
            <a:prstGeom prst="rect">
              <a:avLst/>
            </a:prstGeom>
          </p:spPr>
          <p:txBody>
            <a:bodyPr wrap="none">
              <a:spAutoFit/>
            </a:bodyPr>
            <a:lstStyle/>
            <a:p>
              <a:pPr algn="ctr"/>
              <a:r>
                <a:rPr lang="en-US" sz="1100" dirty="0">
                  <a:ea typeface="MS PGothic" pitchFamily="34" charset="-128"/>
                </a:rPr>
                <a:t>Myanmar</a:t>
              </a:r>
              <a:endParaRPr lang="en-IN" sz="1100" dirty="0"/>
            </a:p>
          </p:txBody>
        </p:sp>
        <p:sp>
          <p:nvSpPr>
            <p:cNvPr id="95" name="Rectangle 94"/>
            <p:cNvSpPr/>
            <p:nvPr/>
          </p:nvSpPr>
          <p:spPr>
            <a:xfrm>
              <a:off x="5611246" y="2465506"/>
              <a:ext cx="2485801" cy="261610"/>
            </a:xfrm>
            <a:prstGeom prst="rect">
              <a:avLst/>
            </a:prstGeom>
          </p:spPr>
          <p:txBody>
            <a:bodyPr wrap="square">
              <a:spAutoFit/>
            </a:bodyPr>
            <a:lstStyle/>
            <a:p>
              <a:pPr algn="ctr"/>
              <a:r>
                <a:rPr lang="en-US" sz="1100" dirty="0">
                  <a:ea typeface="MS PGothic" pitchFamily="34" charset="-128"/>
                </a:rPr>
                <a:t>South East Asia</a:t>
              </a:r>
              <a:endParaRPr lang="en-IN" sz="1100" dirty="0"/>
            </a:p>
          </p:txBody>
        </p:sp>
        <p:sp>
          <p:nvSpPr>
            <p:cNvPr id="96" name="Rectangle 95"/>
            <p:cNvSpPr/>
            <p:nvPr/>
          </p:nvSpPr>
          <p:spPr>
            <a:xfrm>
              <a:off x="8050635" y="2452711"/>
              <a:ext cx="585417" cy="261610"/>
            </a:xfrm>
            <a:prstGeom prst="rect">
              <a:avLst/>
            </a:prstGeom>
          </p:spPr>
          <p:txBody>
            <a:bodyPr wrap="none">
              <a:spAutoFit/>
            </a:bodyPr>
            <a:lstStyle/>
            <a:p>
              <a:pPr algn="ctr"/>
              <a:r>
                <a:rPr lang="en-US" sz="1100" dirty="0">
                  <a:ea typeface="MS PGothic" pitchFamily="34" charset="-128"/>
                </a:rPr>
                <a:t>Nepal</a:t>
              </a:r>
              <a:endParaRPr lang="en-IN" sz="1100" dirty="0"/>
            </a:p>
          </p:txBody>
        </p:sp>
        <p:sp>
          <p:nvSpPr>
            <p:cNvPr id="98" name="Rectangle 97"/>
            <p:cNvSpPr/>
            <p:nvPr/>
          </p:nvSpPr>
          <p:spPr>
            <a:xfrm>
              <a:off x="9600311" y="2452711"/>
              <a:ext cx="652743" cy="261610"/>
            </a:xfrm>
            <a:prstGeom prst="rect">
              <a:avLst/>
            </a:prstGeom>
          </p:spPr>
          <p:txBody>
            <a:bodyPr wrap="none">
              <a:spAutoFit/>
            </a:bodyPr>
            <a:lstStyle/>
            <a:p>
              <a:pPr algn="ctr"/>
              <a:r>
                <a:rPr lang="en-US" sz="1100" dirty="0">
                  <a:ea typeface="MS PGothic" pitchFamily="34" charset="-128"/>
                </a:rPr>
                <a:t>Hawaii</a:t>
              </a:r>
              <a:endParaRPr lang="en-IN" sz="1100" dirty="0"/>
            </a:p>
          </p:txBody>
        </p:sp>
        <p:sp>
          <p:nvSpPr>
            <p:cNvPr id="99" name="Rectangle 98"/>
            <p:cNvSpPr/>
            <p:nvPr/>
          </p:nvSpPr>
          <p:spPr>
            <a:xfrm>
              <a:off x="160825" y="3489405"/>
              <a:ext cx="1143262" cy="261610"/>
            </a:xfrm>
            <a:prstGeom prst="rect">
              <a:avLst/>
            </a:prstGeom>
          </p:spPr>
          <p:txBody>
            <a:bodyPr wrap="none">
              <a:spAutoFit/>
            </a:bodyPr>
            <a:lstStyle/>
            <a:p>
              <a:pPr algn="ctr"/>
              <a:r>
                <a:rPr lang="en-US" sz="1100" dirty="0">
                  <a:ea typeface="MS PGothic" pitchFamily="34" charset="-128"/>
                </a:rPr>
                <a:t>United States</a:t>
              </a:r>
              <a:endParaRPr lang="en-IN" sz="1100" dirty="0"/>
            </a:p>
          </p:txBody>
        </p:sp>
        <p:sp>
          <p:nvSpPr>
            <p:cNvPr id="100" name="Rectangle 99"/>
            <p:cNvSpPr/>
            <p:nvPr/>
          </p:nvSpPr>
          <p:spPr>
            <a:xfrm>
              <a:off x="1747954" y="3489405"/>
              <a:ext cx="582211" cy="261610"/>
            </a:xfrm>
            <a:prstGeom prst="rect">
              <a:avLst/>
            </a:prstGeom>
          </p:spPr>
          <p:txBody>
            <a:bodyPr wrap="none">
              <a:spAutoFit/>
            </a:bodyPr>
            <a:lstStyle/>
            <a:p>
              <a:pPr algn="ctr"/>
              <a:r>
                <a:rPr lang="en-US" sz="1100" dirty="0">
                  <a:ea typeface="MS PGothic" pitchFamily="34" charset="-128"/>
                </a:rPr>
                <a:t>Spain</a:t>
              </a:r>
              <a:endParaRPr lang="en-IN" sz="1100" dirty="0"/>
            </a:p>
          </p:txBody>
        </p:sp>
        <p:sp>
          <p:nvSpPr>
            <p:cNvPr id="101" name="Rectangle 100"/>
            <p:cNvSpPr/>
            <p:nvPr/>
          </p:nvSpPr>
          <p:spPr>
            <a:xfrm>
              <a:off x="2976305" y="3489405"/>
              <a:ext cx="715259" cy="261610"/>
            </a:xfrm>
            <a:prstGeom prst="rect">
              <a:avLst/>
            </a:prstGeom>
          </p:spPr>
          <p:txBody>
            <a:bodyPr wrap="none">
              <a:spAutoFit/>
            </a:bodyPr>
            <a:lstStyle/>
            <a:p>
              <a:pPr algn="ctr"/>
              <a:r>
                <a:rPr lang="en-US" sz="1100" dirty="0">
                  <a:ea typeface="MS PGothic" pitchFamily="34" charset="-128"/>
                </a:rPr>
                <a:t>Canada</a:t>
              </a:r>
              <a:endParaRPr lang="en-IN" sz="1100" dirty="0"/>
            </a:p>
          </p:txBody>
        </p:sp>
        <p:sp>
          <p:nvSpPr>
            <p:cNvPr id="102" name="Rectangle 101"/>
            <p:cNvSpPr/>
            <p:nvPr/>
          </p:nvSpPr>
          <p:spPr>
            <a:xfrm>
              <a:off x="4730437" y="3489405"/>
              <a:ext cx="808234" cy="261610"/>
            </a:xfrm>
            <a:prstGeom prst="rect">
              <a:avLst/>
            </a:prstGeom>
          </p:spPr>
          <p:txBody>
            <a:bodyPr wrap="none">
              <a:spAutoFit/>
            </a:bodyPr>
            <a:lstStyle/>
            <a:p>
              <a:pPr algn="ctr"/>
              <a:r>
                <a:rPr lang="en-US" sz="1100" dirty="0">
                  <a:ea typeface="MS PGothic" pitchFamily="34" charset="-128"/>
                </a:rPr>
                <a:t>Australia</a:t>
              </a:r>
              <a:endParaRPr lang="en-IN" sz="1100" dirty="0"/>
            </a:p>
          </p:txBody>
        </p:sp>
        <p:sp>
          <p:nvSpPr>
            <p:cNvPr id="103" name="Rectangle 102"/>
            <p:cNvSpPr/>
            <p:nvPr/>
          </p:nvSpPr>
          <p:spPr>
            <a:xfrm>
              <a:off x="6301654" y="3489405"/>
              <a:ext cx="917238" cy="261610"/>
            </a:xfrm>
            <a:prstGeom prst="rect">
              <a:avLst/>
            </a:prstGeom>
          </p:spPr>
          <p:txBody>
            <a:bodyPr wrap="none">
              <a:spAutoFit/>
            </a:bodyPr>
            <a:lstStyle/>
            <a:p>
              <a:pPr algn="ctr"/>
              <a:r>
                <a:rPr lang="en-US" sz="1100" dirty="0">
                  <a:ea typeface="MS PGothic" pitchFamily="34" charset="-128"/>
                </a:rPr>
                <a:t>Zimbabwe</a:t>
              </a:r>
              <a:endParaRPr lang="en-IN" sz="1100" dirty="0"/>
            </a:p>
          </p:txBody>
        </p:sp>
        <p:sp>
          <p:nvSpPr>
            <p:cNvPr id="104" name="Rectangle 103"/>
            <p:cNvSpPr/>
            <p:nvPr/>
          </p:nvSpPr>
          <p:spPr>
            <a:xfrm>
              <a:off x="7964874" y="3489405"/>
              <a:ext cx="756938" cy="261610"/>
            </a:xfrm>
            <a:prstGeom prst="rect">
              <a:avLst/>
            </a:prstGeom>
          </p:spPr>
          <p:txBody>
            <a:bodyPr wrap="none">
              <a:spAutoFit/>
            </a:bodyPr>
            <a:lstStyle/>
            <a:p>
              <a:pPr algn="ctr"/>
              <a:r>
                <a:rPr lang="en-US" sz="1100" dirty="0">
                  <a:ea typeface="MS PGothic" pitchFamily="34" charset="-128"/>
                </a:rPr>
                <a:t>Belgium</a:t>
              </a:r>
              <a:endParaRPr lang="en-IN" sz="1100" dirty="0"/>
            </a:p>
          </p:txBody>
        </p:sp>
        <p:sp>
          <p:nvSpPr>
            <p:cNvPr id="105" name="Rectangle 104"/>
            <p:cNvSpPr/>
            <p:nvPr/>
          </p:nvSpPr>
          <p:spPr>
            <a:xfrm>
              <a:off x="9357360" y="3489405"/>
              <a:ext cx="753732" cy="261610"/>
            </a:xfrm>
            <a:prstGeom prst="rect">
              <a:avLst/>
            </a:prstGeom>
          </p:spPr>
          <p:txBody>
            <a:bodyPr wrap="none">
              <a:spAutoFit/>
            </a:bodyPr>
            <a:lstStyle/>
            <a:p>
              <a:pPr algn="ctr"/>
              <a:r>
                <a:rPr lang="en-US" sz="1100" dirty="0">
                  <a:ea typeface="MS PGothic" pitchFamily="34" charset="-128"/>
                </a:rPr>
                <a:t>Jamaica</a:t>
              </a:r>
              <a:endParaRPr lang="en-IN" sz="1100" dirty="0"/>
            </a:p>
          </p:txBody>
        </p:sp>
        <p:sp>
          <p:nvSpPr>
            <p:cNvPr id="107" name="Rectangle 106"/>
            <p:cNvSpPr/>
            <p:nvPr/>
          </p:nvSpPr>
          <p:spPr>
            <a:xfrm>
              <a:off x="3275395" y="3663607"/>
              <a:ext cx="184731" cy="461665"/>
            </a:xfrm>
            <a:prstGeom prst="rect">
              <a:avLst/>
            </a:prstGeom>
          </p:spPr>
          <p:txBody>
            <a:bodyPr wrap="none">
              <a:spAutoFit/>
            </a:bodyPr>
            <a:lstStyle/>
            <a:p>
              <a:endParaRPr lang="en-US" sz="2400" dirty="0">
                <a:solidFill>
                  <a:srgbClr val="575757"/>
                </a:solidFill>
              </a:endParaRPr>
            </a:p>
          </p:txBody>
        </p:sp>
        <p:sp>
          <p:nvSpPr>
            <p:cNvPr id="3" name="Rectangle 2"/>
            <p:cNvSpPr/>
            <p:nvPr/>
          </p:nvSpPr>
          <p:spPr>
            <a:xfrm>
              <a:off x="265005" y="1467562"/>
              <a:ext cx="2787944" cy="307778"/>
            </a:xfrm>
            <a:prstGeom prst="rect">
              <a:avLst/>
            </a:prstGeom>
          </p:spPr>
          <p:txBody>
            <a:bodyPr wrap="none">
              <a:spAutoFit/>
            </a:bodyPr>
            <a:lstStyle/>
            <a:p>
              <a:r>
                <a:rPr lang="en-US" sz="1400" b="1" i="1" dirty="0">
                  <a:solidFill>
                    <a:schemeClr val="accent1"/>
                  </a:solidFill>
                </a:rPr>
                <a:t>Countries we have served</a:t>
              </a:r>
            </a:p>
          </p:txBody>
        </p:sp>
      </p:grpSp>
      <p:sp>
        <p:nvSpPr>
          <p:cNvPr id="4" name="Rectangle 3"/>
          <p:cNvSpPr/>
          <p:nvPr/>
        </p:nvSpPr>
        <p:spPr>
          <a:xfrm>
            <a:off x="285252" y="4076589"/>
            <a:ext cx="2507418" cy="307777"/>
          </a:xfrm>
          <a:prstGeom prst="rect">
            <a:avLst/>
          </a:prstGeom>
        </p:spPr>
        <p:txBody>
          <a:bodyPr wrap="none">
            <a:spAutoFit/>
          </a:bodyPr>
          <a:lstStyle/>
          <a:p>
            <a:r>
              <a:rPr lang="en-US" sz="1400" b="1" i="1" dirty="0">
                <a:solidFill>
                  <a:schemeClr val="accent1"/>
                </a:solidFill>
              </a:rPr>
              <a:t>Clients we have served</a:t>
            </a:r>
          </a:p>
        </p:txBody>
      </p:sp>
      <p:sp>
        <p:nvSpPr>
          <p:cNvPr id="72"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Our Credentials</a:t>
            </a:r>
          </a:p>
        </p:txBody>
      </p:sp>
      <p:sp>
        <p:nvSpPr>
          <p:cNvPr id="75"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We have worked on multiple engagements and have served clients across the globe</a:t>
            </a:r>
          </a:p>
        </p:txBody>
      </p:sp>
    </p:spTree>
    <p:extLst>
      <p:ext uri="{BB962C8B-B14F-4D97-AF65-F5344CB8AC3E}">
        <p14:creationId xmlns:p14="http://schemas.microsoft.com/office/powerpoint/2010/main" val="266391895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72720" y="1524000"/>
            <a:ext cx="3401943" cy="4572000"/>
            <a:chOff x="1957161" y="2247300"/>
            <a:chExt cx="3574663" cy="3595160"/>
          </a:xfrm>
          <a:solidFill>
            <a:schemeClr val="bg1">
              <a:lumMod val="95000"/>
            </a:schemeClr>
          </a:solidFill>
        </p:grpSpPr>
        <p:sp>
          <p:nvSpPr>
            <p:cNvPr id="12" name="Freeform 11"/>
            <p:cNvSpPr/>
            <p:nvPr/>
          </p:nvSpPr>
          <p:spPr>
            <a:xfrm rot="21298612">
              <a:off x="2068600" y="2717745"/>
              <a:ext cx="82868" cy="110904"/>
            </a:xfrm>
            <a:custGeom>
              <a:avLst/>
              <a:gdLst>
                <a:gd name="connsiteX0" fmla="*/ 70923 w 83588"/>
                <a:gd name="connsiteY0" fmla="*/ 0 h 93719"/>
                <a:gd name="connsiteX1" fmla="*/ 7599 w 83588"/>
                <a:gd name="connsiteY1" fmla="*/ 32928 h 93719"/>
                <a:gd name="connsiteX2" fmla="*/ 10132 w 83588"/>
                <a:gd name="connsiteY2" fmla="*/ 45593 h 93719"/>
                <a:gd name="connsiteX3" fmla="*/ 0 w 83588"/>
                <a:gd name="connsiteY3" fmla="*/ 65857 h 93719"/>
                <a:gd name="connsiteX4" fmla="*/ 58259 w 83588"/>
                <a:gd name="connsiteY4" fmla="*/ 93719 h 93719"/>
                <a:gd name="connsiteX5" fmla="*/ 73456 w 83588"/>
                <a:gd name="connsiteY5" fmla="*/ 88654 h 93719"/>
                <a:gd name="connsiteX6" fmla="*/ 83588 w 83588"/>
                <a:gd name="connsiteY6" fmla="*/ 70923 h 93719"/>
                <a:gd name="connsiteX7" fmla="*/ 70923 w 83588"/>
                <a:gd name="connsiteY7" fmla="*/ 0 h 93719"/>
                <a:gd name="connsiteX0" fmla="*/ 70923 w 83588"/>
                <a:gd name="connsiteY0" fmla="*/ 0 h 93719"/>
                <a:gd name="connsiteX1" fmla="*/ 35521 w 83588"/>
                <a:gd name="connsiteY1" fmla="*/ 14386 h 93719"/>
                <a:gd name="connsiteX2" fmla="*/ 7599 w 83588"/>
                <a:gd name="connsiteY2" fmla="*/ 32928 h 93719"/>
                <a:gd name="connsiteX3" fmla="*/ 10132 w 83588"/>
                <a:gd name="connsiteY3" fmla="*/ 45593 h 93719"/>
                <a:gd name="connsiteX4" fmla="*/ 0 w 83588"/>
                <a:gd name="connsiteY4" fmla="*/ 65857 h 93719"/>
                <a:gd name="connsiteX5" fmla="*/ 58259 w 83588"/>
                <a:gd name="connsiteY5" fmla="*/ 93719 h 93719"/>
                <a:gd name="connsiteX6" fmla="*/ 73456 w 83588"/>
                <a:gd name="connsiteY6" fmla="*/ 88654 h 93719"/>
                <a:gd name="connsiteX7" fmla="*/ 83588 w 83588"/>
                <a:gd name="connsiteY7" fmla="*/ 70923 h 93719"/>
                <a:gd name="connsiteX8" fmla="*/ 70923 w 83588"/>
                <a:gd name="connsiteY8" fmla="*/ 0 h 93719"/>
                <a:gd name="connsiteX0" fmla="*/ 70923 w 83588"/>
                <a:gd name="connsiteY0" fmla="*/ 11808 h 105527"/>
                <a:gd name="connsiteX1" fmla="*/ 21234 w 83588"/>
                <a:gd name="connsiteY1" fmla="*/ 0 h 105527"/>
                <a:gd name="connsiteX2" fmla="*/ 7599 w 83588"/>
                <a:gd name="connsiteY2" fmla="*/ 44736 h 105527"/>
                <a:gd name="connsiteX3" fmla="*/ 10132 w 83588"/>
                <a:gd name="connsiteY3" fmla="*/ 57401 h 105527"/>
                <a:gd name="connsiteX4" fmla="*/ 0 w 83588"/>
                <a:gd name="connsiteY4" fmla="*/ 77665 h 105527"/>
                <a:gd name="connsiteX5" fmla="*/ 58259 w 83588"/>
                <a:gd name="connsiteY5" fmla="*/ 105527 h 105527"/>
                <a:gd name="connsiteX6" fmla="*/ 73456 w 83588"/>
                <a:gd name="connsiteY6" fmla="*/ 100462 h 105527"/>
                <a:gd name="connsiteX7" fmla="*/ 83588 w 83588"/>
                <a:gd name="connsiteY7" fmla="*/ 82731 h 105527"/>
                <a:gd name="connsiteX8" fmla="*/ 70923 w 83588"/>
                <a:gd name="connsiteY8" fmla="*/ 11808 h 10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588" h="105527">
                  <a:moveTo>
                    <a:pt x="70923" y="11808"/>
                  </a:moveTo>
                  <a:lnTo>
                    <a:pt x="21234" y="0"/>
                  </a:lnTo>
                  <a:lnTo>
                    <a:pt x="7599" y="44736"/>
                  </a:lnTo>
                  <a:lnTo>
                    <a:pt x="10132" y="57401"/>
                  </a:lnTo>
                  <a:lnTo>
                    <a:pt x="0" y="77665"/>
                  </a:lnTo>
                  <a:lnTo>
                    <a:pt x="58259" y="105527"/>
                  </a:lnTo>
                  <a:lnTo>
                    <a:pt x="73456" y="100462"/>
                  </a:lnTo>
                  <a:lnTo>
                    <a:pt x="83588" y="82731"/>
                  </a:lnTo>
                  <a:lnTo>
                    <a:pt x="70923" y="11808"/>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13" name="Freeform 12"/>
            <p:cNvSpPr/>
            <p:nvPr/>
          </p:nvSpPr>
          <p:spPr>
            <a:xfrm rot="21298612">
              <a:off x="2207104" y="2247300"/>
              <a:ext cx="511549" cy="544439"/>
            </a:xfrm>
            <a:custGeom>
              <a:avLst/>
              <a:gdLst>
                <a:gd name="connsiteX0" fmla="*/ 0 w 509588"/>
                <a:gd name="connsiteY0" fmla="*/ 180975 h 514350"/>
                <a:gd name="connsiteX1" fmla="*/ 54769 w 509588"/>
                <a:gd name="connsiteY1" fmla="*/ 264319 h 514350"/>
                <a:gd name="connsiteX2" fmla="*/ 80963 w 509588"/>
                <a:gd name="connsiteY2" fmla="*/ 271463 h 514350"/>
                <a:gd name="connsiteX3" fmla="*/ 88107 w 509588"/>
                <a:gd name="connsiteY3" fmla="*/ 326231 h 514350"/>
                <a:gd name="connsiteX4" fmla="*/ 66675 w 509588"/>
                <a:gd name="connsiteY4" fmla="*/ 426244 h 514350"/>
                <a:gd name="connsiteX5" fmla="*/ 111919 w 509588"/>
                <a:gd name="connsiteY5" fmla="*/ 433388 h 514350"/>
                <a:gd name="connsiteX6" fmla="*/ 178594 w 509588"/>
                <a:gd name="connsiteY6" fmla="*/ 414338 h 514350"/>
                <a:gd name="connsiteX7" fmla="*/ 221457 w 509588"/>
                <a:gd name="connsiteY7" fmla="*/ 433388 h 514350"/>
                <a:gd name="connsiteX8" fmla="*/ 330994 w 509588"/>
                <a:gd name="connsiteY8" fmla="*/ 509588 h 514350"/>
                <a:gd name="connsiteX9" fmla="*/ 395288 w 509588"/>
                <a:gd name="connsiteY9" fmla="*/ 514350 h 514350"/>
                <a:gd name="connsiteX10" fmla="*/ 414338 w 509588"/>
                <a:gd name="connsiteY10" fmla="*/ 495300 h 514350"/>
                <a:gd name="connsiteX11" fmla="*/ 385763 w 509588"/>
                <a:gd name="connsiteY11" fmla="*/ 473869 h 514350"/>
                <a:gd name="connsiteX12" fmla="*/ 385763 w 509588"/>
                <a:gd name="connsiteY12" fmla="*/ 440531 h 514350"/>
                <a:gd name="connsiteX13" fmla="*/ 423863 w 509588"/>
                <a:gd name="connsiteY13" fmla="*/ 419100 h 514350"/>
                <a:gd name="connsiteX14" fmla="*/ 431007 w 509588"/>
                <a:gd name="connsiteY14" fmla="*/ 376238 h 514350"/>
                <a:gd name="connsiteX15" fmla="*/ 435769 w 509588"/>
                <a:gd name="connsiteY15" fmla="*/ 335756 h 514350"/>
                <a:gd name="connsiteX16" fmla="*/ 497682 w 509588"/>
                <a:gd name="connsiteY16" fmla="*/ 278606 h 514350"/>
                <a:gd name="connsiteX17" fmla="*/ 509588 w 509588"/>
                <a:gd name="connsiteY17" fmla="*/ 200025 h 514350"/>
                <a:gd name="connsiteX18" fmla="*/ 390525 w 509588"/>
                <a:gd name="connsiteY18" fmla="*/ 95250 h 514350"/>
                <a:gd name="connsiteX19" fmla="*/ 323850 w 509588"/>
                <a:gd name="connsiteY19" fmla="*/ 100013 h 514350"/>
                <a:gd name="connsiteX20" fmla="*/ 295275 w 509588"/>
                <a:gd name="connsiteY20" fmla="*/ 76200 h 514350"/>
                <a:gd name="connsiteX21" fmla="*/ 283369 w 509588"/>
                <a:gd name="connsiteY21" fmla="*/ 42863 h 514350"/>
                <a:gd name="connsiteX22" fmla="*/ 266700 w 509588"/>
                <a:gd name="connsiteY22" fmla="*/ 16669 h 514350"/>
                <a:gd name="connsiteX23" fmla="*/ 192882 w 509588"/>
                <a:gd name="connsiteY23" fmla="*/ 0 h 514350"/>
                <a:gd name="connsiteX24" fmla="*/ 195263 w 509588"/>
                <a:gd name="connsiteY24" fmla="*/ 21431 h 514350"/>
                <a:gd name="connsiteX25" fmla="*/ 159544 w 509588"/>
                <a:gd name="connsiteY25" fmla="*/ 33338 h 514350"/>
                <a:gd name="connsiteX26" fmla="*/ 100013 w 509588"/>
                <a:gd name="connsiteY26" fmla="*/ 16669 h 514350"/>
                <a:gd name="connsiteX27" fmla="*/ 38100 w 509588"/>
                <a:gd name="connsiteY27" fmla="*/ 52388 h 514350"/>
                <a:gd name="connsiteX28" fmla="*/ 42863 w 509588"/>
                <a:gd name="connsiteY28" fmla="*/ 109538 h 514350"/>
                <a:gd name="connsiteX29" fmla="*/ 0 w 509588"/>
                <a:gd name="connsiteY29" fmla="*/ 180975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09588" h="514350">
                  <a:moveTo>
                    <a:pt x="0" y="180975"/>
                  </a:moveTo>
                  <a:lnTo>
                    <a:pt x="54769" y="264319"/>
                  </a:lnTo>
                  <a:lnTo>
                    <a:pt x="80963" y="271463"/>
                  </a:lnTo>
                  <a:lnTo>
                    <a:pt x="88107" y="326231"/>
                  </a:lnTo>
                  <a:lnTo>
                    <a:pt x="66675" y="426244"/>
                  </a:lnTo>
                  <a:lnTo>
                    <a:pt x="111919" y="433388"/>
                  </a:lnTo>
                  <a:lnTo>
                    <a:pt x="178594" y="414338"/>
                  </a:lnTo>
                  <a:lnTo>
                    <a:pt x="221457" y="433388"/>
                  </a:lnTo>
                  <a:lnTo>
                    <a:pt x="330994" y="509588"/>
                  </a:lnTo>
                  <a:lnTo>
                    <a:pt x="395288" y="514350"/>
                  </a:lnTo>
                  <a:lnTo>
                    <a:pt x="414338" y="495300"/>
                  </a:lnTo>
                  <a:lnTo>
                    <a:pt x="385763" y="473869"/>
                  </a:lnTo>
                  <a:lnTo>
                    <a:pt x="385763" y="440531"/>
                  </a:lnTo>
                  <a:lnTo>
                    <a:pt x="423863" y="419100"/>
                  </a:lnTo>
                  <a:lnTo>
                    <a:pt x="431007" y="376238"/>
                  </a:lnTo>
                  <a:lnTo>
                    <a:pt x="435769" y="335756"/>
                  </a:lnTo>
                  <a:lnTo>
                    <a:pt x="497682" y="278606"/>
                  </a:lnTo>
                  <a:lnTo>
                    <a:pt x="509588" y="200025"/>
                  </a:lnTo>
                  <a:lnTo>
                    <a:pt x="390525" y="95250"/>
                  </a:lnTo>
                  <a:lnTo>
                    <a:pt x="323850" y="100013"/>
                  </a:lnTo>
                  <a:lnTo>
                    <a:pt x="295275" y="76200"/>
                  </a:lnTo>
                  <a:lnTo>
                    <a:pt x="283369" y="42863"/>
                  </a:lnTo>
                  <a:lnTo>
                    <a:pt x="266700" y="16669"/>
                  </a:lnTo>
                  <a:lnTo>
                    <a:pt x="192882" y="0"/>
                  </a:lnTo>
                  <a:lnTo>
                    <a:pt x="195263" y="21431"/>
                  </a:lnTo>
                  <a:lnTo>
                    <a:pt x="159544" y="33338"/>
                  </a:lnTo>
                  <a:lnTo>
                    <a:pt x="100013" y="16669"/>
                  </a:lnTo>
                  <a:lnTo>
                    <a:pt x="38100" y="52388"/>
                  </a:lnTo>
                  <a:lnTo>
                    <a:pt x="42863" y="109538"/>
                  </a:lnTo>
                  <a:lnTo>
                    <a:pt x="0" y="180975"/>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14" name="Freeform 13"/>
            <p:cNvSpPr/>
            <p:nvPr/>
          </p:nvSpPr>
          <p:spPr>
            <a:xfrm rot="21298612">
              <a:off x="2107008" y="2421589"/>
              <a:ext cx="1230268" cy="1272039"/>
            </a:xfrm>
            <a:custGeom>
              <a:avLst/>
              <a:gdLst>
                <a:gd name="connsiteX0" fmla="*/ 0 w 1226344"/>
                <a:gd name="connsiteY0" fmla="*/ 452438 h 1152525"/>
                <a:gd name="connsiteX1" fmla="*/ 28575 w 1226344"/>
                <a:gd name="connsiteY1" fmla="*/ 526257 h 1152525"/>
                <a:gd name="connsiteX2" fmla="*/ 73819 w 1226344"/>
                <a:gd name="connsiteY2" fmla="*/ 564357 h 1152525"/>
                <a:gd name="connsiteX3" fmla="*/ 109537 w 1226344"/>
                <a:gd name="connsiteY3" fmla="*/ 657225 h 1152525"/>
                <a:gd name="connsiteX4" fmla="*/ 128587 w 1226344"/>
                <a:gd name="connsiteY4" fmla="*/ 685800 h 1152525"/>
                <a:gd name="connsiteX5" fmla="*/ 142875 w 1226344"/>
                <a:gd name="connsiteY5" fmla="*/ 666750 h 1152525"/>
                <a:gd name="connsiteX6" fmla="*/ 142875 w 1226344"/>
                <a:gd name="connsiteY6" fmla="*/ 633413 h 1152525"/>
                <a:gd name="connsiteX7" fmla="*/ 180975 w 1226344"/>
                <a:gd name="connsiteY7" fmla="*/ 666750 h 1152525"/>
                <a:gd name="connsiteX8" fmla="*/ 240506 w 1226344"/>
                <a:gd name="connsiteY8" fmla="*/ 673894 h 1152525"/>
                <a:gd name="connsiteX9" fmla="*/ 271462 w 1226344"/>
                <a:gd name="connsiteY9" fmla="*/ 702469 h 1152525"/>
                <a:gd name="connsiteX10" fmla="*/ 326231 w 1226344"/>
                <a:gd name="connsiteY10" fmla="*/ 721519 h 1152525"/>
                <a:gd name="connsiteX11" fmla="*/ 338137 w 1226344"/>
                <a:gd name="connsiteY11" fmla="*/ 762000 h 1152525"/>
                <a:gd name="connsiteX12" fmla="*/ 321469 w 1226344"/>
                <a:gd name="connsiteY12" fmla="*/ 781050 h 1152525"/>
                <a:gd name="connsiteX13" fmla="*/ 311944 w 1226344"/>
                <a:gd name="connsiteY13" fmla="*/ 807244 h 1152525"/>
                <a:gd name="connsiteX14" fmla="*/ 266700 w 1226344"/>
                <a:gd name="connsiteY14" fmla="*/ 826294 h 1152525"/>
                <a:gd name="connsiteX15" fmla="*/ 219075 w 1226344"/>
                <a:gd name="connsiteY15" fmla="*/ 900113 h 1152525"/>
                <a:gd name="connsiteX16" fmla="*/ 204787 w 1226344"/>
                <a:gd name="connsiteY16" fmla="*/ 909638 h 1152525"/>
                <a:gd name="connsiteX17" fmla="*/ 192881 w 1226344"/>
                <a:gd name="connsiteY17" fmla="*/ 973932 h 1152525"/>
                <a:gd name="connsiteX18" fmla="*/ 152400 w 1226344"/>
                <a:gd name="connsiteY18" fmla="*/ 1042988 h 1152525"/>
                <a:gd name="connsiteX19" fmla="*/ 157162 w 1226344"/>
                <a:gd name="connsiteY19" fmla="*/ 1071563 h 1152525"/>
                <a:gd name="connsiteX20" fmla="*/ 204787 w 1226344"/>
                <a:gd name="connsiteY20" fmla="*/ 1083469 h 1152525"/>
                <a:gd name="connsiteX21" fmla="*/ 233362 w 1226344"/>
                <a:gd name="connsiteY21" fmla="*/ 1133475 h 1152525"/>
                <a:gd name="connsiteX22" fmla="*/ 247650 w 1226344"/>
                <a:gd name="connsiteY22" fmla="*/ 1133475 h 1152525"/>
                <a:gd name="connsiteX23" fmla="*/ 266700 w 1226344"/>
                <a:gd name="connsiteY23" fmla="*/ 1102519 h 1152525"/>
                <a:gd name="connsiteX24" fmla="*/ 257175 w 1226344"/>
                <a:gd name="connsiteY24" fmla="*/ 1081088 h 1152525"/>
                <a:gd name="connsiteX25" fmla="*/ 230981 w 1226344"/>
                <a:gd name="connsiteY25" fmla="*/ 1076325 h 1152525"/>
                <a:gd name="connsiteX26" fmla="*/ 230981 w 1226344"/>
                <a:gd name="connsiteY26" fmla="*/ 1052513 h 1152525"/>
                <a:gd name="connsiteX27" fmla="*/ 228600 w 1226344"/>
                <a:gd name="connsiteY27" fmla="*/ 1009650 h 1152525"/>
                <a:gd name="connsiteX28" fmla="*/ 216694 w 1226344"/>
                <a:gd name="connsiteY28" fmla="*/ 976313 h 1152525"/>
                <a:gd name="connsiteX29" fmla="*/ 223837 w 1226344"/>
                <a:gd name="connsiteY29" fmla="*/ 940594 h 1152525"/>
                <a:gd name="connsiteX30" fmla="*/ 266700 w 1226344"/>
                <a:gd name="connsiteY30" fmla="*/ 900113 h 1152525"/>
                <a:gd name="connsiteX31" fmla="*/ 278606 w 1226344"/>
                <a:gd name="connsiteY31" fmla="*/ 897732 h 1152525"/>
                <a:gd name="connsiteX32" fmla="*/ 290512 w 1226344"/>
                <a:gd name="connsiteY32" fmla="*/ 938213 h 1152525"/>
                <a:gd name="connsiteX33" fmla="*/ 302419 w 1226344"/>
                <a:gd name="connsiteY33" fmla="*/ 938213 h 1152525"/>
                <a:gd name="connsiteX34" fmla="*/ 321469 w 1226344"/>
                <a:gd name="connsiteY34" fmla="*/ 962025 h 1152525"/>
                <a:gd name="connsiteX35" fmla="*/ 338137 w 1226344"/>
                <a:gd name="connsiteY35" fmla="*/ 957263 h 1152525"/>
                <a:gd name="connsiteX36" fmla="*/ 359569 w 1226344"/>
                <a:gd name="connsiteY36" fmla="*/ 942975 h 1152525"/>
                <a:gd name="connsiteX37" fmla="*/ 483394 w 1226344"/>
                <a:gd name="connsiteY37" fmla="*/ 954882 h 1152525"/>
                <a:gd name="connsiteX38" fmla="*/ 516731 w 1226344"/>
                <a:gd name="connsiteY38" fmla="*/ 947738 h 1152525"/>
                <a:gd name="connsiteX39" fmla="*/ 545306 w 1226344"/>
                <a:gd name="connsiteY39" fmla="*/ 964407 h 1152525"/>
                <a:gd name="connsiteX40" fmla="*/ 561975 w 1226344"/>
                <a:gd name="connsiteY40" fmla="*/ 978694 h 1152525"/>
                <a:gd name="connsiteX41" fmla="*/ 604837 w 1226344"/>
                <a:gd name="connsiteY41" fmla="*/ 981075 h 1152525"/>
                <a:gd name="connsiteX42" fmla="*/ 640556 w 1226344"/>
                <a:gd name="connsiteY42" fmla="*/ 1021557 h 1152525"/>
                <a:gd name="connsiteX43" fmla="*/ 659606 w 1226344"/>
                <a:gd name="connsiteY43" fmla="*/ 1019175 h 1152525"/>
                <a:gd name="connsiteX44" fmla="*/ 702469 w 1226344"/>
                <a:gd name="connsiteY44" fmla="*/ 976313 h 1152525"/>
                <a:gd name="connsiteX45" fmla="*/ 735806 w 1226344"/>
                <a:gd name="connsiteY45" fmla="*/ 1000125 h 1152525"/>
                <a:gd name="connsiteX46" fmla="*/ 752475 w 1226344"/>
                <a:gd name="connsiteY46" fmla="*/ 1023938 h 1152525"/>
                <a:gd name="connsiteX47" fmla="*/ 785812 w 1226344"/>
                <a:gd name="connsiteY47" fmla="*/ 1021557 h 1152525"/>
                <a:gd name="connsiteX48" fmla="*/ 819150 w 1226344"/>
                <a:gd name="connsiteY48" fmla="*/ 1042988 h 1152525"/>
                <a:gd name="connsiteX49" fmla="*/ 823912 w 1226344"/>
                <a:gd name="connsiteY49" fmla="*/ 1064419 h 1152525"/>
                <a:gd name="connsiteX50" fmla="*/ 842962 w 1226344"/>
                <a:gd name="connsiteY50" fmla="*/ 1066800 h 1152525"/>
                <a:gd name="connsiteX51" fmla="*/ 904875 w 1226344"/>
                <a:gd name="connsiteY51" fmla="*/ 1073944 h 1152525"/>
                <a:gd name="connsiteX52" fmla="*/ 933450 w 1226344"/>
                <a:gd name="connsiteY52" fmla="*/ 1112044 h 1152525"/>
                <a:gd name="connsiteX53" fmla="*/ 938212 w 1226344"/>
                <a:gd name="connsiteY53" fmla="*/ 1140619 h 1152525"/>
                <a:gd name="connsiteX54" fmla="*/ 940594 w 1226344"/>
                <a:gd name="connsiteY54" fmla="*/ 1152525 h 1152525"/>
                <a:gd name="connsiteX55" fmla="*/ 1042987 w 1226344"/>
                <a:gd name="connsiteY55" fmla="*/ 1150144 h 1152525"/>
                <a:gd name="connsiteX56" fmla="*/ 1071562 w 1226344"/>
                <a:gd name="connsiteY56" fmla="*/ 1069182 h 1152525"/>
                <a:gd name="connsiteX57" fmla="*/ 1062037 w 1226344"/>
                <a:gd name="connsiteY57" fmla="*/ 1045369 h 1152525"/>
                <a:gd name="connsiteX58" fmla="*/ 1059656 w 1226344"/>
                <a:gd name="connsiteY58" fmla="*/ 1012032 h 1152525"/>
                <a:gd name="connsiteX59" fmla="*/ 1066800 w 1226344"/>
                <a:gd name="connsiteY59" fmla="*/ 992982 h 1152525"/>
                <a:gd name="connsiteX60" fmla="*/ 1083469 w 1226344"/>
                <a:gd name="connsiteY60" fmla="*/ 973932 h 1152525"/>
                <a:gd name="connsiteX61" fmla="*/ 1107281 w 1226344"/>
                <a:gd name="connsiteY61" fmla="*/ 964407 h 1152525"/>
                <a:gd name="connsiteX62" fmla="*/ 1133475 w 1226344"/>
                <a:gd name="connsiteY62" fmla="*/ 921544 h 1152525"/>
                <a:gd name="connsiteX63" fmla="*/ 1150144 w 1226344"/>
                <a:gd name="connsiteY63" fmla="*/ 921544 h 1152525"/>
                <a:gd name="connsiteX64" fmla="*/ 1197769 w 1226344"/>
                <a:gd name="connsiteY64" fmla="*/ 940594 h 1152525"/>
                <a:gd name="connsiteX65" fmla="*/ 1226344 w 1226344"/>
                <a:gd name="connsiteY65" fmla="*/ 904875 h 1152525"/>
                <a:gd name="connsiteX66" fmla="*/ 1195387 w 1226344"/>
                <a:gd name="connsiteY66" fmla="*/ 852488 h 1152525"/>
                <a:gd name="connsiteX67" fmla="*/ 1159669 w 1226344"/>
                <a:gd name="connsiteY67" fmla="*/ 804863 h 1152525"/>
                <a:gd name="connsiteX68" fmla="*/ 1162050 w 1226344"/>
                <a:gd name="connsiteY68" fmla="*/ 762000 h 1152525"/>
                <a:gd name="connsiteX69" fmla="*/ 1216819 w 1226344"/>
                <a:gd name="connsiteY69" fmla="*/ 702469 h 1152525"/>
                <a:gd name="connsiteX70" fmla="*/ 1219200 w 1226344"/>
                <a:gd name="connsiteY70" fmla="*/ 676275 h 1152525"/>
                <a:gd name="connsiteX71" fmla="*/ 1181100 w 1226344"/>
                <a:gd name="connsiteY71" fmla="*/ 661988 h 1152525"/>
                <a:gd name="connsiteX72" fmla="*/ 1150144 w 1226344"/>
                <a:gd name="connsiteY72" fmla="*/ 635794 h 1152525"/>
                <a:gd name="connsiteX73" fmla="*/ 1133475 w 1226344"/>
                <a:gd name="connsiteY73" fmla="*/ 602457 h 1152525"/>
                <a:gd name="connsiteX74" fmla="*/ 1083469 w 1226344"/>
                <a:gd name="connsiteY74" fmla="*/ 604838 h 1152525"/>
                <a:gd name="connsiteX75" fmla="*/ 1033462 w 1226344"/>
                <a:gd name="connsiteY75" fmla="*/ 604838 h 1152525"/>
                <a:gd name="connsiteX76" fmla="*/ 1014412 w 1226344"/>
                <a:gd name="connsiteY76" fmla="*/ 583407 h 1152525"/>
                <a:gd name="connsiteX77" fmla="*/ 950119 w 1226344"/>
                <a:gd name="connsiteY77" fmla="*/ 578644 h 1152525"/>
                <a:gd name="connsiteX78" fmla="*/ 933450 w 1226344"/>
                <a:gd name="connsiteY78" fmla="*/ 561975 h 1152525"/>
                <a:gd name="connsiteX79" fmla="*/ 933450 w 1226344"/>
                <a:gd name="connsiteY79" fmla="*/ 547688 h 1152525"/>
                <a:gd name="connsiteX80" fmla="*/ 859631 w 1226344"/>
                <a:gd name="connsiteY80" fmla="*/ 511969 h 1152525"/>
                <a:gd name="connsiteX81" fmla="*/ 850106 w 1226344"/>
                <a:gd name="connsiteY81" fmla="*/ 492919 h 1152525"/>
                <a:gd name="connsiteX82" fmla="*/ 828675 w 1226344"/>
                <a:gd name="connsiteY82" fmla="*/ 476250 h 1152525"/>
                <a:gd name="connsiteX83" fmla="*/ 795337 w 1226344"/>
                <a:gd name="connsiteY83" fmla="*/ 478632 h 1152525"/>
                <a:gd name="connsiteX84" fmla="*/ 773906 w 1226344"/>
                <a:gd name="connsiteY84" fmla="*/ 471488 h 1152525"/>
                <a:gd name="connsiteX85" fmla="*/ 728662 w 1226344"/>
                <a:gd name="connsiteY85" fmla="*/ 428625 h 1152525"/>
                <a:gd name="connsiteX86" fmla="*/ 700087 w 1226344"/>
                <a:gd name="connsiteY86" fmla="*/ 421482 h 1152525"/>
                <a:gd name="connsiteX87" fmla="*/ 666750 w 1226344"/>
                <a:gd name="connsiteY87" fmla="*/ 383382 h 1152525"/>
                <a:gd name="connsiteX88" fmla="*/ 626269 w 1226344"/>
                <a:gd name="connsiteY88" fmla="*/ 369094 h 1152525"/>
                <a:gd name="connsiteX89" fmla="*/ 585787 w 1226344"/>
                <a:gd name="connsiteY89" fmla="*/ 335757 h 1152525"/>
                <a:gd name="connsiteX90" fmla="*/ 564356 w 1226344"/>
                <a:gd name="connsiteY90" fmla="*/ 311944 h 1152525"/>
                <a:gd name="connsiteX91" fmla="*/ 550069 w 1226344"/>
                <a:gd name="connsiteY91" fmla="*/ 330994 h 1152525"/>
                <a:gd name="connsiteX92" fmla="*/ 478631 w 1226344"/>
                <a:gd name="connsiteY92" fmla="*/ 328613 h 1152525"/>
                <a:gd name="connsiteX93" fmla="*/ 330994 w 1226344"/>
                <a:gd name="connsiteY93" fmla="*/ 230982 h 1152525"/>
                <a:gd name="connsiteX94" fmla="*/ 259556 w 1226344"/>
                <a:gd name="connsiteY94" fmla="*/ 254794 h 1152525"/>
                <a:gd name="connsiteX95" fmla="*/ 221456 w 1226344"/>
                <a:gd name="connsiteY95" fmla="*/ 245269 h 1152525"/>
                <a:gd name="connsiteX96" fmla="*/ 238125 w 1226344"/>
                <a:gd name="connsiteY96" fmla="*/ 150019 h 1152525"/>
                <a:gd name="connsiteX97" fmla="*/ 228600 w 1226344"/>
                <a:gd name="connsiteY97" fmla="*/ 95250 h 1152525"/>
                <a:gd name="connsiteX98" fmla="*/ 197644 w 1226344"/>
                <a:gd name="connsiteY98" fmla="*/ 78582 h 1152525"/>
                <a:gd name="connsiteX99" fmla="*/ 145256 w 1226344"/>
                <a:gd name="connsiteY99" fmla="*/ 0 h 1152525"/>
                <a:gd name="connsiteX100" fmla="*/ 88106 w 1226344"/>
                <a:gd name="connsiteY100" fmla="*/ 30957 h 1152525"/>
                <a:gd name="connsiteX101" fmla="*/ 83344 w 1226344"/>
                <a:gd name="connsiteY101" fmla="*/ 54769 h 1152525"/>
                <a:gd name="connsiteX102" fmla="*/ 90487 w 1226344"/>
                <a:gd name="connsiteY102" fmla="*/ 100013 h 1152525"/>
                <a:gd name="connsiteX103" fmla="*/ 71437 w 1226344"/>
                <a:gd name="connsiteY103" fmla="*/ 135732 h 1152525"/>
                <a:gd name="connsiteX104" fmla="*/ 66675 w 1226344"/>
                <a:gd name="connsiteY104" fmla="*/ 145257 h 1152525"/>
                <a:gd name="connsiteX105" fmla="*/ 97631 w 1226344"/>
                <a:gd name="connsiteY105" fmla="*/ 185738 h 1152525"/>
                <a:gd name="connsiteX106" fmla="*/ 83344 w 1226344"/>
                <a:gd name="connsiteY106" fmla="*/ 223838 h 1152525"/>
                <a:gd name="connsiteX107" fmla="*/ 59531 w 1226344"/>
                <a:gd name="connsiteY107" fmla="*/ 240507 h 1152525"/>
                <a:gd name="connsiteX108" fmla="*/ 69056 w 1226344"/>
                <a:gd name="connsiteY108" fmla="*/ 309563 h 1152525"/>
                <a:gd name="connsiteX109" fmla="*/ 92869 w 1226344"/>
                <a:gd name="connsiteY109" fmla="*/ 321469 h 1152525"/>
                <a:gd name="connsiteX110" fmla="*/ 85725 w 1226344"/>
                <a:gd name="connsiteY110" fmla="*/ 369094 h 1152525"/>
                <a:gd name="connsiteX111" fmla="*/ 42862 w 1226344"/>
                <a:gd name="connsiteY111" fmla="*/ 421482 h 1152525"/>
                <a:gd name="connsiteX112" fmla="*/ 0 w 1226344"/>
                <a:gd name="connsiteY112" fmla="*/ 452438 h 1152525"/>
                <a:gd name="connsiteX0" fmla="*/ 0 w 1226344"/>
                <a:gd name="connsiteY0" fmla="*/ 452438 h 1152525"/>
                <a:gd name="connsiteX1" fmla="*/ 28575 w 1226344"/>
                <a:gd name="connsiteY1" fmla="*/ 526257 h 1152525"/>
                <a:gd name="connsiteX2" fmla="*/ 73819 w 1226344"/>
                <a:gd name="connsiteY2" fmla="*/ 564357 h 1152525"/>
                <a:gd name="connsiteX3" fmla="*/ 109537 w 1226344"/>
                <a:gd name="connsiteY3" fmla="*/ 657225 h 1152525"/>
                <a:gd name="connsiteX4" fmla="*/ 128587 w 1226344"/>
                <a:gd name="connsiteY4" fmla="*/ 685800 h 1152525"/>
                <a:gd name="connsiteX5" fmla="*/ 142875 w 1226344"/>
                <a:gd name="connsiteY5" fmla="*/ 666750 h 1152525"/>
                <a:gd name="connsiteX6" fmla="*/ 142875 w 1226344"/>
                <a:gd name="connsiteY6" fmla="*/ 633413 h 1152525"/>
                <a:gd name="connsiteX7" fmla="*/ 180975 w 1226344"/>
                <a:gd name="connsiteY7" fmla="*/ 666750 h 1152525"/>
                <a:gd name="connsiteX8" fmla="*/ 240506 w 1226344"/>
                <a:gd name="connsiteY8" fmla="*/ 673894 h 1152525"/>
                <a:gd name="connsiteX9" fmla="*/ 271462 w 1226344"/>
                <a:gd name="connsiteY9" fmla="*/ 702469 h 1152525"/>
                <a:gd name="connsiteX10" fmla="*/ 326231 w 1226344"/>
                <a:gd name="connsiteY10" fmla="*/ 721519 h 1152525"/>
                <a:gd name="connsiteX11" fmla="*/ 338137 w 1226344"/>
                <a:gd name="connsiteY11" fmla="*/ 762000 h 1152525"/>
                <a:gd name="connsiteX12" fmla="*/ 321469 w 1226344"/>
                <a:gd name="connsiteY12" fmla="*/ 781050 h 1152525"/>
                <a:gd name="connsiteX13" fmla="*/ 311944 w 1226344"/>
                <a:gd name="connsiteY13" fmla="*/ 807244 h 1152525"/>
                <a:gd name="connsiteX14" fmla="*/ 266700 w 1226344"/>
                <a:gd name="connsiteY14" fmla="*/ 826294 h 1152525"/>
                <a:gd name="connsiteX15" fmla="*/ 219075 w 1226344"/>
                <a:gd name="connsiteY15" fmla="*/ 900113 h 1152525"/>
                <a:gd name="connsiteX16" fmla="*/ 204787 w 1226344"/>
                <a:gd name="connsiteY16" fmla="*/ 909638 h 1152525"/>
                <a:gd name="connsiteX17" fmla="*/ 192881 w 1226344"/>
                <a:gd name="connsiteY17" fmla="*/ 973932 h 1152525"/>
                <a:gd name="connsiteX18" fmla="*/ 152400 w 1226344"/>
                <a:gd name="connsiteY18" fmla="*/ 1042988 h 1152525"/>
                <a:gd name="connsiteX19" fmla="*/ 157162 w 1226344"/>
                <a:gd name="connsiteY19" fmla="*/ 1071563 h 1152525"/>
                <a:gd name="connsiteX20" fmla="*/ 204787 w 1226344"/>
                <a:gd name="connsiteY20" fmla="*/ 1083469 h 1152525"/>
                <a:gd name="connsiteX21" fmla="*/ 233362 w 1226344"/>
                <a:gd name="connsiteY21" fmla="*/ 1133475 h 1152525"/>
                <a:gd name="connsiteX22" fmla="*/ 247650 w 1226344"/>
                <a:gd name="connsiteY22" fmla="*/ 1133475 h 1152525"/>
                <a:gd name="connsiteX23" fmla="*/ 266700 w 1226344"/>
                <a:gd name="connsiteY23" fmla="*/ 1102519 h 1152525"/>
                <a:gd name="connsiteX24" fmla="*/ 257175 w 1226344"/>
                <a:gd name="connsiteY24" fmla="*/ 1081088 h 1152525"/>
                <a:gd name="connsiteX25" fmla="*/ 230981 w 1226344"/>
                <a:gd name="connsiteY25" fmla="*/ 1076325 h 1152525"/>
                <a:gd name="connsiteX26" fmla="*/ 230981 w 1226344"/>
                <a:gd name="connsiteY26" fmla="*/ 1052513 h 1152525"/>
                <a:gd name="connsiteX27" fmla="*/ 228600 w 1226344"/>
                <a:gd name="connsiteY27" fmla="*/ 1009650 h 1152525"/>
                <a:gd name="connsiteX28" fmla="*/ 216694 w 1226344"/>
                <a:gd name="connsiteY28" fmla="*/ 976313 h 1152525"/>
                <a:gd name="connsiteX29" fmla="*/ 223837 w 1226344"/>
                <a:gd name="connsiteY29" fmla="*/ 940594 h 1152525"/>
                <a:gd name="connsiteX30" fmla="*/ 266700 w 1226344"/>
                <a:gd name="connsiteY30" fmla="*/ 900113 h 1152525"/>
                <a:gd name="connsiteX31" fmla="*/ 278606 w 1226344"/>
                <a:gd name="connsiteY31" fmla="*/ 897732 h 1152525"/>
                <a:gd name="connsiteX32" fmla="*/ 290512 w 1226344"/>
                <a:gd name="connsiteY32" fmla="*/ 938213 h 1152525"/>
                <a:gd name="connsiteX33" fmla="*/ 302419 w 1226344"/>
                <a:gd name="connsiteY33" fmla="*/ 938213 h 1152525"/>
                <a:gd name="connsiteX34" fmla="*/ 321469 w 1226344"/>
                <a:gd name="connsiteY34" fmla="*/ 962025 h 1152525"/>
                <a:gd name="connsiteX35" fmla="*/ 338137 w 1226344"/>
                <a:gd name="connsiteY35" fmla="*/ 957263 h 1152525"/>
                <a:gd name="connsiteX36" fmla="*/ 359569 w 1226344"/>
                <a:gd name="connsiteY36" fmla="*/ 942975 h 1152525"/>
                <a:gd name="connsiteX37" fmla="*/ 483394 w 1226344"/>
                <a:gd name="connsiteY37" fmla="*/ 954882 h 1152525"/>
                <a:gd name="connsiteX38" fmla="*/ 516731 w 1226344"/>
                <a:gd name="connsiteY38" fmla="*/ 947738 h 1152525"/>
                <a:gd name="connsiteX39" fmla="*/ 545306 w 1226344"/>
                <a:gd name="connsiteY39" fmla="*/ 964407 h 1152525"/>
                <a:gd name="connsiteX40" fmla="*/ 561975 w 1226344"/>
                <a:gd name="connsiteY40" fmla="*/ 978694 h 1152525"/>
                <a:gd name="connsiteX41" fmla="*/ 604837 w 1226344"/>
                <a:gd name="connsiteY41" fmla="*/ 981075 h 1152525"/>
                <a:gd name="connsiteX42" fmla="*/ 640556 w 1226344"/>
                <a:gd name="connsiteY42" fmla="*/ 1021557 h 1152525"/>
                <a:gd name="connsiteX43" fmla="*/ 659606 w 1226344"/>
                <a:gd name="connsiteY43" fmla="*/ 1019175 h 1152525"/>
                <a:gd name="connsiteX44" fmla="*/ 702469 w 1226344"/>
                <a:gd name="connsiteY44" fmla="*/ 976313 h 1152525"/>
                <a:gd name="connsiteX45" fmla="*/ 735806 w 1226344"/>
                <a:gd name="connsiteY45" fmla="*/ 1000125 h 1152525"/>
                <a:gd name="connsiteX46" fmla="*/ 752475 w 1226344"/>
                <a:gd name="connsiteY46" fmla="*/ 1023938 h 1152525"/>
                <a:gd name="connsiteX47" fmla="*/ 785812 w 1226344"/>
                <a:gd name="connsiteY47" fmla="*/ 1021557 h 1152525"/>
                <a:gd name="connsiteX48" fmla="*/ 819150 w 1226344"/>
                <a:gd name="connsiteY48" fmla="*/ 1042988 h 1152525"/>
                <a:gd name="connsiteX49" fmla="*/ 823912 w 1226344"/>
                <a:gd name="connsiteY49" fmla="*/ 1064419 h 1152525"/>
                <a:gd name="connsiteX50" fmla="*/ 842962 w 1226344"/>
                <a:gd name="connsiteY50" fmla="*/ 1066800 h 1152525"/>
                <a:gd name="connsiteX51" fmla="*/ 904875 w 1226344"/>
                <a:gd name="connsiteY51" fmla="*/ 1073944 h 1152525"/>
                <a:gd name="connsiteX52" fmla="*/ 933450 w 1226344"/>
                <a:gd name="connsiteY52" fmla="*/ 1112044 h 1152525"/>
                <a:gd name="connsiteX53" fmla="*/ 938212 w 1226344"/>
                <a:gd name="connsiteY53" fmla="*/ 1140619 h 1152525"/>
                <a:gd name="connsiteX54" fmla="*/ 940594 w 1226344"/>
                <a:gd name="connsiteY54" fmla="*/ 1152525 h 1152525"/>
                <a:gd name="connsiteX55" fmla="*/ 990600 w 1226344"/>
                <a:gd name="connsiteY55" fmla="*/ 1150144 h 1152525"/>
                <a:gd name="connsiteX56" fmla="*/ 1042987 w 1226344"/>
                <a:gd name="connsiteY56" fmla="*/ 1150144 h 1152525"/>
                <a:gd name="connsiteX57" fmla="*/ 1071562 w 1226344"/>
                <a:gd name="connsiteY57" fmla="*/ 1069182 h 1152525"/>
                <a:gd name="connsiteX58" fmla="*/ 1062037 w 1226344"/>
                <a:gd name="connsiteY58" fmla="*/ 1045369 h 1152525"/>
                <a:gd name="connsiteX59" fmla="*/ 1059656 w 1226344"/>
                <a:gd name="connsiteY59" fmla="*/ 1012032 h 1152525"/>
                <a:gd name="connsiteX60" fmla="*/ 1066800 w 1226344"/>
                <a:gd name="connsiteY60" fmla="*/ 992982 h 1152525"/>
                <a:gd name="connsiteX61" fmla="*/ 1083469 w 1226344"/>
                <a:gd name="connsiteY61" fmla="*/ 973932 h 1152525"/>
                <a:gd name="connsiteX62" fmla="*/ 1107281 w 1226344"/>
                <a:gd name="connsiteY62" fmla="*/ 964407 h 1152525"/>
                <a:gd name="connsiteX63" fmla="*/ 1133475 w 1226344"/>
                <a:gd name="connsiteY63" fmla="*/ 921544 h 1152525"/>
                <a:gd name="connsiteX64" fmla="*/ 1150144 w 1226344"/>
                <a:gd name="connsiteY64" fmla="*/ 921544 h 1152525"/>
                <a:gd name="connsiteX65" fmla="*/ 1197769 w 1226344"/>
                <a:gd name="connsiteY65" fmla="*/ 940594 h 1152525"/>
                <a:gd name="connsiteX66" fmla="*/ 1226344 w 1226344"/>
                <a:gd name="connsiteY66" fmla="*/ 904875 h 1152525"/>
                <a:gd name="connsiteX67" fmla="*/ 1195387 w 1226344"/>
                <a:gd name="connsiteY67" fmla="*/ 852488 h 1152525"/>
                <a:gd name="connsiteX68" fmla="*/ 1159669 w 1226344"/>
                <a:gd name="connsiteY68" fmla="*/ 804863 h 1152525"/>
                <a:gd name="connsiteX69" fmla="*/ 1162050 w 1226344"/>
                <a:gd name="connsiteY69" fmla="*/ 762000 h 1152525"/>
                <a:gd name="connsiteX70" fmla="*/ 1216819 w 1226344"/>
                <a:gd name="connsiteY70" fmla="*/ 702469 h 1152525"/>
                <a:gd name="connsiteX71" fmla="*/ 1219200 w 1226344"/>
                <a:gd name="connsiteY71" fmla="*/ 676275 h 1152525"/>
                <a:gd name="connsiteX72" fmla="*/ 1181100 w 1226344"/>
                <a:gd name="connsiteY72" fmla="*/ 661988 h 1152525"/>
                <a:gd name="connsiteX73" fmla="*/ 1150144 w 1226344"/>
                <a:gd name="connsiteY73" fmla="*/ 635794 h 1152525"/>
                <a:gd name="connsiteX74" fmla="*/ 1133475 w 1226344"/>
                <a:gd name="connsiteY74" fmla="*/ 602457 h 1152525"/>
                <a:gd name="connsiteX75" fmla="*/ 1083469 w 1226344"/>
                <a:gd name="connsiteY75" fmla="*/ 604838 h 1152525"/>
                <a:gd name="connsiteX76" fmla="*/ 1033462 w 1226344"/>
                <a:gd name="connsiteY76" fmla="*/ 604838 h 1152525"/>
                <a:gd name="connsiteX77" fmla="*/ 1014412 w 1226344"/>
                <a:gd name="connsiteY77" fmla="*/ 583407 h 1152525"/>
                <a:gd name="connsiteX78" fmla="*/ 950119 w 1226344"/>
                <a:gd name="connsiteY78" fmla="*/ 578644 h 1152525"/>
                <a:gd name="connsiteX79" fmla="*/ 933450 w 1226344"/>
                <a:gd name="connsiteY79" fmla="*/ 561975 h 1152525"/>
                <a:gd name="connsiteX80" fmla="*/ 933450 w 1226344"/>
                <a:gd name="connsiteY80" fmla="*/ 547688 h 1152525"/>
                <a:gd name="connsiteX81" fmla="*/ 859631 w 1226344"/>
                <a:gd name="connsiteY81" fmla="*/ 511969 h 1152525"/>
                <a:gd name="connsiteX82" fmla="*/ 850106 w 1226344"/>
                <a:gd name="connsiteY82" fmla="*/ 492919 h 1152525"/>
                <a:gd name="connsiteX83" fmla="*/ 828675 w 1226344"/>
                <a:gd name="connsiteY83" fmla="*/ 476250 h 1152525"/>
                <a:gd name="connsiteX84" fmla="*/ 795337 w 1226344"/>
                <a:gd name="connsiteY84" fmla="*/ 478632 h 1152525"/>
                <a:gd name="connsiteX85" fmla="*/ 773906 w 1226344"/>
                <a:gd name="connsiteY85" fmla="*/ 471488 h 1152525"/>
                <a:gd name="connsiteX86" fmla="*/ 728662 w 1226344"/>
                <a:gd name="connsiteY86" fmla="*/ 428625 h 1152525"/>
                <a:gd name="connsiteX87" fmla="*/ 700087 w 1226344"/>
                <a:gd name="connsiteY87" fmla="*/ 421482 h 1152525"/>
                <a:gd name="connsiteX88" fmla="*/ 666750 w 1226344"/>
                <a:gd name="connsiteY88" fmla="*/ 383382 h 1152525"/>
                <a:gd name="connsiteX89" fmla="*/ 626269 w 1226344"/>
                <a:gd name="connsiteY89" fmla="*/ 369094 h 1152525"/>
                <a:gd name="connsiteX90" fmla="*/ 585787 w 1226344"/>
                <a:gd name="connsiteY90" fmla="*/ 335757 h 1152525"/>
                <a:gd name="connsiteX91" fmla="*/ 564356 w 1226344"/>
                <a:gd name="connsiteY91" fmla="*/ 311944 h 1152525"/>
                <a:gd name="connsiteX92" fmla="*/ 550069 w 1226344"/>
                <a:gd name="connsiteY92" fmla="*/ 330994 h 1152525"/>
                <a:gd name="connsiteX93" fmla="*/ 478631 w 1226344"/>
                <a:gd name="connsiteY93" fmla="*/ 328613 h 1152525"/>
                <a:gd name="connsiteX94" fmla="*/ 330994 w 1226344"/>
                <a:gd name="connsiteY94" fmla="*/ 230982 h 1152525"/>
                <a:gd name="connsiteX95" fmla="*/ 259556 w 1226344"/>
                <a:gd name="connsiteY95" fmla="*/ 254794 h 1152525"/>
                <a:gd name="connsiteX96" fmla="*/ 221456 w 1226344"/>
                <a:gd name="connsiteY96" fmla="*/ 245269 h 1152525"/>
                <a:gd name="connsiteX97" fmla="*/ 238125 w 1226344"/>
                <a:gd name="connsiteY97" fmla="*/ 150019 h 1152525"/>
                <a:gd name="connsiteX98" fmla="*/ 228600 w 1226344"/>
                <a:gd name="connsiteY98" fmla="*/ 95250 h 1152525"/>
                <a:gd name="connsiteX99" fmla="*/ 197644 w 1226344"/>
                <a:gd name="connsiteY99" fmla="*/ 78582 h 1152525"/>
                <a:gd name="connsiteX100" fmla="*/ 145256 w 1226344"/>
                <a:gd name="connsiteY100" fmla="*/ 0 h 1152525"/>
                <a:gd name="connsiteX101" fmla="*/ 88106 w 1226344"/>
                <a:gd name="connsiteY101" fmla="*/ 30957 h 1152525"/>
                <a:gd name="connsiteX102" fmla="*/ 83344 w 1226344"/>
                <a:gd name="connsiteY102" fmla="*/ 54769 h 1152525"/>
                <a:gd name="connsiteX103" fmla="*/ 90487 w 1226344"/>
                <a:gd name="connsiteY103" fmla="*/ 100013 h 1152525"/>
                <a:gd name="connsiteX104" fmla="*/ 71437 w 1226344"/>
                <a:gd name="connsiteY104" fmla="*/ 135732 h 1152525"/>
                <a:gd name="connsiteX105" fmla="*/ 66675 w 1226344"/>
                <a:gd name="connsiteY105" fmla="*/ 145257 h 1152525"/>
                <a:gd name="connsiteX106" fmla="*/ 97631 w 1226344"/>
                <a:gd name="connsiteY106" fmla="*/ 185738 h 1152525"/>
                <a:gd name="connsiteX107" fmla="*/ 83344 w 1226344"/>
                <a:gd name="connsiteY107" fmla="*/ 223838 h 1152525"/>
                <a:gd name="connsiteX108" fmla="*/ 59531 w 1226344"/>
                <a:gd name="connsiteY108" fmla="*/ 240507 h 1152525"/>
                <a:gd name="connsiteX109" fmla="*/ 69056 w 1226344"/>
                <a:gd name="connsiteY109" fmla="*/ 309563 h 1152525"/>
                <a:gd name="connsiteX110" fmla="*/ 92869 w 1226344"/>
                <a:gd name="connsiteY110" fmla="*/ 321469 h 1152525"/>
                <a:gd name="connsiteX111" fmla="*/ 85725 w 1226344"/>
                <a:gd name="connsiteY111" fmla="*/ 369094 h 1152525"/>
                <a:gd name="connsiteX112" fmla="*/ 42862 w 1226344"/>
                <a:gd name="connsiteY112" fmla="*/ 421482 h 1152525"/>
                <a:gd name="connsiteX113" fmla="*/ 0 w 1226344"/>
                <a:gd name="connsiteY113" fmla="*/ 452438 h 1152525"/>
                <a:gd name="connsiteX0" fmla="*/ 0 w 1226344"/>
                <a:gd name="connsiteY0" fmla="*/ 452438 h 1200150"/>
                <a:gd name="connsiteX1" fmla="*/ 28575 w 1226344"/>
                <a:gd name="connsiteY1" fmla="*/ 526257 h 1200150"/>
                <a:gd name="connsiteX2" fmla="*/ 73819 w 1226344"/>
                <a:gd name="connsiteY2" fmla="*/ 564357 h 1200150"/>
                <a:gd name="connsiteX3" fmla="*/ 109537 w 1226344"/>
                <a:gd name="connsiteY3" fmla="*/ 657225 h 1200150"/>
                <a:gd name="connsiteX4" fmla="*/ 128587 w 1226344"/>
                <a:gd name="connsiteY4" fmla="*/ 685800 h 1200150"/>
                <a:gd name="connsiteX5" fmla="*/ 142875 w 1226344"/>
                <a:gd name="connsiteY5" fmla="*/ 666750 h 1200150"/>
                <a:gd name="connsiteX6" fmla="*/ 142875 w 1226344"/>
                <a:gd name="connsiteY6" fmla="*/ 633413 h 1200150"/>
                <a:gd name="connsiteX7" fmla="*/ 180975 w 1226344"/>
                <a:gd name="connsiteY7" fmla="*/ 666750 h 1200150"/>
                <a:gd name="connsiteX8" fmla="*/ 240506 w 1226344"/>
                <a:gd name="connsiteY8" fmla="*/ 673894 h 1200150"/>
                <a:gd name="connsiteX9" fmla="*/ 271462 w 1226344"/>
                <a:gd name="connsiteY9" fmla="*/ 702469 h 1200150"/>
                <a:gd name="connsiteX10" fmla="*/ 326231 w 1226344"/>
                <a:gd name="connsiteY10" fmla="*/ 721519 h 1200150"/>
                <a:gd name="connsiteX11" fmla="*/ 338137 w 1226344"/>
                <a:gd name="connsiteY11" fmla="*/ 762000 h 1200150"/>
                <a:gd name="connsiteX12" fmla="*/ 321469 w 1226344"/>
                <a:gd name="connsiteY12" fmla="*/ 781050 h 1200150"/>
                <a:gd name="connsiteX13" fmla="*/ 311944 w 1226344"/>
                <a:gd name="connsiteY13" fmla="*/ 807244 h 1200150"/>
                <a:gd name="connsiteX14" fmla="*/ 266700 w 1226344"/>
                <a:gd name="connsiteY14" fmla="*/ 826294 h 1200150"/>
                <a:gd name="connsiteX15" fmla="*/ 219075 w 1226344"/>
                <a:gd name="connsiteY15" fmla="*/ 900113 h 1200150"/>
                <a:gd name="connsiteX16" fmla="*/ 204787 w 1226344"/>
                <a:gd name="connsiteY16" fmla="*/ 909638 h 1200150"/>
                <a:gd name="connsiteX17" fmla="*/ 192881 w 1226344"/>
                <a:gd name="connsiteY17" fmla="*/ 973932 h 1200150"/>
                <a:gd name="connsiteX18" fmla="*/ 152400 w 1226344"/>
                <a:gd name="connsiteY18" fmla="*/ 1042988 h 1200150"/>
                <a:gd name="connsiteX19" fmla="*/ 157162 w 1226344"/>
                <a:gd name="connsiteY19" fmla="*/ 1071563 h 1200150"/>
                <a:gd name="connsiteX20" fmla="*/ 204787 w 1226344"/>
                <a:gd name="connsiteY20" fmla="*/ 1083469 h 1200150"/>
                <a:gd name="connsiteX21" fmla="*/ 233362 w 1226344"/>
                <a:gd name="connsiteY21" fmla="*/ 1133475 h 1200150"/>
                <a:gd name="connsiteX22" fmla="*/ 247650 w 1226344"/>
                <a:gd name="connsiteY22" fmla="*/ 1133475 h 1200150"/>
                <a:gd name="connsiteX23" fmla="*/ 266700 w 1226344"/>
                <a:gd name="connsiteY23" fmla="*/ 1102519 h 1200150"/>
                <a:gd name="connsiteX24" fmla="*/ 257175 w 1226344"/>
                <a:gd name="connsiteY24" fmla="*/ 1081088 h 1200150"/>
                <a:gd name="connsiteX25" fmla="*/ 230981 w 1226344"/>
                <a:gd name="connsiteY25" fmla="*/ 1076325 h 1200150"/>
                <a:gd name="connsiteX26" fmla="*/ 230981 w 1226344"/>
                <a:gd name="connsiteY26" fmla="*/ 1052513 h 1200150"/>
                <a:gd name="connsiteX27" fmla="*/ 228600 w 1226344"/>
                <a:gd name="connsiteY27" fmla="*/ 1009650 h 1200150"/>
                <a:gd name="connsiteX28" fmla="*/ 216694 w 1226344"/>
                <a:gd name="connsiteY28" fmla="*/ 976313 h 1200150"/>
                <a:gd name="connsiteX29" fmla="*/ 223837 w 1226344"/>
                <a:gd name="connsiteY29" fmla="*/ 940594 h 1200150"/>
                <a:gd name="connsiteX30" fmla="*/ 266700 w 1226344"/>
                <a:gd name="connsiteY30" fmla="*/ 900113 h 1200150"/>
                <a:gd name="connsiteX31" fmla="*/ 278606 w 1226344"/>
                <a:gd name="connsiteY31" fmla="*/ 897732 h 1200150"/>
                <a:gd name="connsiteX32" fmla="*/ 290512 w 1226344"/>
                <a:gd name="connsiteY32" fmla="*/ 938213 h 1200150"/>
                <a:gd name="connsiteX33" fmla="*/ 302419 w 1226344"/>
                <a:gd name="connsiteY33" fmla="*/ 938213 h 1200150"/>
                <a:gd name="connsiteX34" fmla="*/ 321469 w 1226344"/>
                <a:gd name="connsiteY34" fmla="*/ 962025 h 1200150"/>
                <a:gd name="connsiteX35" fmla="*/ 338137 w 1226344"/>
                <a:gd name="connsiteY35" fmla="*/ 957263 h 1200150"/>
                <a:gd name="connsiteX36" fmla="*/ 359569 w 1226344"/>
                <a:gd name="connsiteY36" fmla="*/ 942975 h 1200150"/>
                <a:gd name="connsiteX37" fmla="*/ 483394 w 1226344"/>
                <a:gd name="connsiteY37" fmla="*/ 954882 h 1200150"/>
                <a:gd name="connsiteX38" fmla="*/ 516731 w 1226344"/>
                <a:gd name="connsiteY38" fmla="*/ 947738 h 1200150"/>
                <a:gd name="connsiteX39" fmla="*/ 545306 w 1226344"/>
                <a:gd name="connsiteY39" fmla="*/ 964407 h 1200150"/>
                <a:gd name="connsiteX40" fmla="*/ 561975 w 1226344"/>
                <a:gd name="connsiteY40" fmla="*/ 978694 h 1200150"/>
                <a:gd name="connsiteX41" fmla="*/ 604837 w 1226344"/>
                <a:gd name="connsiteY41" fmla="*/ 981075 h 1200150"/>
                <a:gd name="connsiteX42" fmla="*/ 640556 w 1226344"/>
                <a:gd name="connsiteY42" fmla="*/ 1021557 h 1200150"/>
                <a:gd name="connsiteX43" fmla="*/ 659606 w 1226344"/>
                <a:gd name="connsiteY43" fmla="*/ 1019175 h 1200150"/>
                <a:gd name="connsiteX44" fmla="*/ 702469 w 1226344"/>
                <a:gd name="connsiteY44" fmla="*/ 976313 h 1200150"/>
                <a:gd name="connsiteX45" fmla="*/ 735806 w 1226344"/>
                <a:gd name="connsiteY45" fmla="*/ 1000125 h 1200150"/>
                <a:gd name="connsiteX46" fmla="*/ 752475 w 1226344"/>
                <a:gd name="connsiteY46" fmla="*/ 1023938 h 1200150"/>
                <a:gd name="connsiteX47" fmla="*/ 785812 w 1226344"/>
                <a:gd name="connsiteY47" fmla="*/ 1021557 h 1200150"/>
                <a:gd name="connsiteX48" fmla="*/ 819150 w 1226344"/>
                <a:gd name="connsiteY48" fmla="*/ 1042988 h 1200150"/>
                <a:gd name="connsiteX49" fmla="*/ 823912 w 1226344"/>
                <a:gd name="connsiteY49" fmla="*/ 1064419 h 1200150"/>
                <a:gd name="connsiteX50" fmla="*/ 842962 w 1226344"/>
                <a:gd name="connsiteY50" fmla="*/ 1066800 h 1200150"/>
                <a:gd name="connsiteX51" fmla="*/ 904875 w 1226344"/>
                <a:gd name="connsiteY51" fmla="*/ 1073944 h 1200150"/>
                <a:gd name="connsiteX52" fmla="*/ 933450 w 1226344"/>
                <a:gd name="connsiteY52" fmla="*/ 1112044 h 1200150"/>
                <a:gd name="connsiteX53" fmla="*/ 938212 w 1226344"/>
                <a:gd name="connsiteY53" fmla="*/ 1140619 h 1200150"/>
                <a:gd name="connsiteX54" fmla="*/ 940594 w 1226344"/>
                <a:gd name="connsiteY54" fmla="*/ 1152525 h 1200150"/>
                <a:gd name="connsiteX55" fmla="*/ 954882 w 1226344"/>
                <a:gd name="connsiteY55" fmla="*/ 1200150 h 1200150"/>
                <a:gd name="connsiteX56" fmla="*/ 1042987 w 1226344"/>
                <a:gd name="connsiteY56" fmla="*/ 1150144 h 1200150"/>
                <a:gd name="connsiteX57" fmla="*/ 1071562 w 1226344"/>
                <a:gd name="connsiteY57" fmla="*/ 1069182 h 1200150"/>
                <a:gd name="connsiteX58" fmla="*/ 1062037 w 1226344"/>
                <a:gd name="connsiteY58" fmla="*/ 1045369 h 1200150"/>
                <a:gd name="connsiteX59" fmla="*/ 1059656 w 1226344"/>
                <a:gd name="connsiteY59" fmla="*/ 1012032 h 1200150"/>
                <a:gd name="connsiteX60" fmla="*/ 1066800 w 1226344"/>
                <a:gd name="connsiteY60" fmla="*/ 992982 h 1200150"/>
                <a:gd name="connsiteX61" fmla="*/ 1083469 w 1226344"/>
                <a:gd name="connsiteY61" fmla="*/ 973932 h 1200150"/>
                <a:gd name="connsiteX62" fmla="*/ 1107281 w 1226344"/>
                <a:gd name="connsiteY62" fmla="*/ 964407 h 1200150"/>
                <a:gd name="connsiteX63" fmla="*/ 1133475 w 1226344"/>
                <a:gd name="connsiteY63" fmla="*/ 921544 h 1200150"/>
                <a:gd name="connsiteX64" fmla="*/ 1150144 w 1226344"/>
                <a:gd name="connsiteY64" fmla="*/ 921544 h 1200150"/>
                <a:gd name="connsiteX65" fmla="*/ 1197769 w 1226344"/>
                <a:gd name="connsiteY65" fmla="*/ 940594 h 1200150"/>
                <a:gd name="connsiteX66" fmla="*/ 1226344 w 1226344"/>
                <a:gd name="connsiteY66" fmla="*/ 904875 h 1200150"/>
                <a:gd name="connsiteX67" fmla="*/ 1195387 w 1226344"/>
                <a:gd name="connsiteY67" fmla="*/ 852488 h 1200150"/>
                <a:gd name="connsiteX68" fmla="*/ 1159669 w 1226344"/>
                <a:gd name="connsiteY68" fmla="*/ 804863 h 1200150"/>
                <a:gd name="connsiteX69" fmla="*/ 1162050 w 1226344"/>
                <a:gd name="connsiteY69" fmla="*/ 762000 h 1200150"/>
                <a:gd name="connsiteX70" fmla="*/ 1216819 w 1226344"/>
                <a:gd name="connsiteY70" fmla="*/ 702469 h 1200150"/>
                <a:gd name="connsiteX71" fmla="*/ 1219200 w 1226344"/>
                <a:gd name="connsiteY71" fmla="*/ 676275 h 1200150"/>
                <a:gd name="connsiteX72" fmla="*/ 1181100 w 1226344"/>
                <a:gd name="connsiteY72" fmla="*/ 661988 h 1200150"/>
                <a:gd name="connsiteX73" fmla="*/ 1150144 w 1226344"/>
                <a:gd name="connsiteY73" fmla="*/ 635794 h 1200150"/>
                <a:gd name="connsiteX74" fmla="*/ 1133475 w 1226344"/>
                <a:gd name="connsiteY74" fmla="*/ 602457 h 1200150"/>
                <a:gd name="connsiteX75" fmla="*/ 1083469 w 1226344"/>
                <a:gd name="connsiteY75" fmla="*/ 604838 h 1200150"/>
                <a:gd name="connsiteX76" fmla="*/ 1033462 w 1226344"/>
                <a:gd name="connsiteY76" fmla="*/ 604838 h 1200150"/>
                <a:gd name="connsiteX77" fmla="*/ 1014412 w 1226344"/>
                <a:gd name="connsiteY77" fmla="*/ 583407 h 1200150"/>
                <a:gd name="connsiteX78" fmla="*/ 950119 w 1226344"/>
                <a:gd name="connsiteY78" fmla="*/ 578644 h 1200150"/>
                <a:gd name="connsiteX79" fmla="*/ 933450 w 1226344"/>
                <a:gd name="connsiteY79" fmla="*/ 561975 h 1200150"/>
                <a:gd name="connsiteX80" fmla="*/ 933450 w 1226344"/>
                <a:gd name="connsiteY80" fmla="*/ 547688 h 1200150"/>
                <a:gd name="connsiteX81" fmla="*/ 859631 w 1226344"/>
                <a:gd name="connsiteY81" fmla="*/ 511969 h 1200150"/>
                <a:gd name="connsiteX82" fmla="*/ 850106 w 1226344"/>
                <a:gd name="connsiteY82" fmla="*/ 492919 h 1200150"/>
                <a:gd name="connsiteX83" fmla="*/ 828675 w 1226344"/>
                <a:gd name="connsiteY83" fmla="*/ 476250 h 1200150"/>
                <a:gd name="connsiteX84" fmla="*/ 795337 w 1226344"/>
                <a:gd name="connsiteY84" fmla="*/ 478632 h 1200150"/>
                <a:gd name="connsiteX85" fmla="*/ 773906 w 1226344"/>
                <a:gd name="connsiteY85" fmla="*/ 471488 h 1200150"/>
                <a:gd name="connsiteX86" fmla="*/ 728662 w 1226344"/>
                <a:gd name="connsiteY86" fmla="*/ 428625 h 1200150"/>
                <a:gd name="connsiteX87" fmla="*/ 700087 w 1226344"/>
                <a:gd name="connsiteY87" fmla="*/ 421482 h 1200150"/>
                <a:gd name="connsiteX88" fmla="*/ 666750 w 1226344"/>
                <a:gd name="connsiteY88" fmla="*/ 383382 h 1200150"/>
                <a:gd name="connsiteX89" fmla="*/ 626269 w 1226344"/>
                <a:gd name="connsiteY89" fmla="*/ 369094 h 1200150"/>
                <a:gd name="connsiteX90" fmla="*/ 585787 w 1226344"/>
                <a:gd name="connsiteY90" fmla="*/ 335757 h 1200150"/>
                <a:gd name="connsiteX91" fmla="*/ 564356 w 1226344"/>
                <a:gd name="connsiteY91" fmla="*/ 311944 h 1200150"/>
                <a:gd name="connsiteX92" fmla="*/ 550069 w 1226344"/>
                <a:gd name="connsiteY92" fmla="*/ 330994 h 1200150"/>
                <a:gd name="connsiteX93" fmla="*/ 478631 w 1226344"/>
                <a:gd name="connsiteY93" fmla="*/ 328613 h 1200150"/>
                <a:gd name="connsiteX94" fmla="*/ 330994 w 1226344"/>
                <a:gd name="connsiteY94" fmla="*/ 230982 h 1200150"/>
                <a:gd name="connsiteX95" fmla="*/ 259556 w 1226344"/>
                <a:gd name="connsiteY95" fmla="*/ 254794 h 1200150"/>
                <a:gd name="connsiteX96" fmla="*/ 221456 w 1226344"/>
                <a:gd name="connsiteY96" fmla="*/ 245269 h 1200150"/>
                <a:gd name="connsiteX97" fmla="*/ 238125 w 1226344"/>
                <a:gd name="connsiteY97" fmla="*/ 150019 h 1200150"/>
                <a:gd name="connsiteX98" fmla="*/ 228600 w 1226344"/>
                <a:gd name="connsiteY98" fmla="*/ 95250 h 1200150"/>
                <a:gd name="connsiteX99" fmla="*/ 197644 w 1226344"/>
                <a:gd name="connsiteY99" fmla="*/ 78582 h 1200150"/>
                <a:gd name="connsiteX100" fmla="*/ 145256 w 1226344"/>
                <a:gd name="connsiteY100" fmla="*/ 0 h 1200150"/>
                <a:gd name="connsiteX101" fmla="*/ 88106 w 1226344"/>
                <a:gd name="connsiteY101" fmla="*/ 30957 h 1200150"/>
                <a:gd name="connsiteX102" fmla="*/ 83344 w 1226344"/>
                <a:gd name="connsiteY102" fmla="*/ 54769 h 1200150"/>
                <a:gd name="connsiteX103" fmla="*/ 90487 w 1226344"/>
                <a:gd name="connsiteY103" fmla="*/ 100013 h 1200150"/>
                <a:gd name="connsiteX104" fmla="*/ 71437 w 1226344"/>
                <a:gd name="connsiteY104" fmla="*/ 135732 h 1200150"/>
                <a:gd name="connsiteX105" fmla="*/ 66675 w 1226344"/>
                <a:gd name="connsiteY105" fmla="*/ 145257 h 1200150"/>
                <a:gd name="connsiteX106" fmla="*/ 97631 w 1226344"/>
                <a:gd name="connsiteY106" fmla="*/ 185738 h 1200150"/>
                <a:gd name="connsiteX107" fmla="*/ 83344 w 1226344"/>
                <a:gd name="connsiteY107" fmla="*/ 223838 h 1200150"/>
                <a:gd name="connsiteX108" fmla="*/ 59531 w 1226344"/>
                <a:gd name="connsiteY108" fmla="*/ 240507 h 1200150"/>
                <a:gd name="connsiteX109" fmla="*/ 69056 w 1226344"/>
                <a:gd name="connsiteY109" fmla="*/ 309563 h 1200150"/>
                <a:gd name="connsiteX110" fmla="*/ 92869 w 1226344"/>
                <a:gd name="connsiteY110" fmla="*/ 321469 h 1200150"/>
                <a:gd name="connsiteX111" fmla="*/ 85725 w 1226344"/>
                <a:gd name="connsiteY111" fmla="*/ 369094 h 1200150"/>
                <a:gd name="connsiteX112" fmla="*/ 42862 w 1226344"/>
                <a:gd name="connsiteY112" fmla="*/ 421482 h 1200150"/>
                <a:gd name="connsiteX113" fmla="*/ 0 w 1226344"/>
                <a:gd name="connsiteY113" fmla="*/ 452438 h 1200150"/>
                <a:gd name="connsiteX0" fmla="*/ 0 w 1226344"/>
                <a:gd name="connsiteY0" fmla="*/ 452438 h 1200150"/>
                <a:gd name="connsiteX1" fmla="*/ 28575 w 1226344"/>
                <a:gd name="connsiteY1" fmla="*/ 526257 h 1200150"/>
                <a:gd name="connsiteX2" fmla="*/ 73819 w 1226344"/>
                <a:gd name="connsiteY2" fmla="*/ 564357 h 1200150"/>
                <a:gd name="connsiteX3" fmla="*/ 109537 w 1226344"/>
                <a:gd name="connsiteY3" fmla="*/ 657225 h 1200150"/>
                <a:gd name="connsiteX4" fmla="*/ 128587 w 1226344"/>
                <a:gd name="connsiteY4" fmla="*/ 685800 h 1200150"/>
                <a:gd name="connsiteX5" fmla="*/ 142875 w 1226344"/>
                <a:gd name="connsiteY5" fmla="*/ 666750 h 1200150"/>
                <a:gd name="connsiteX6" fmla="*/ 142875 w 1226344"/>
                <a:gd name="connsiteY6" fmla="*/ 633413 h 1200150"/>
                <a:gd name="connsiteX7" fmla="*/ 180975 w 1226344"/>
                <a:gd name="connsiteY7" fmla="*/ 666750 h 1200150"/>
                <a:gd name="connsiteX8" fmla="*/ 240506 w 1226344"/>
                <a:gd name="connsiteY8" fmla="*/ 673894 h 1200150"/>
                <a:gd name="connsiteX9" fmla="*/ 271462 w 1226344"/>
                <a:gd name="connsiteY9" fmla="*/ 702469 h 1200150"/>
                <a:gd name="connsiteX10" fmla="*/ 326231 w 1226344"/>
                <a:gd name="connsiteY10" fmla="*/ 721519 h 1200150"/>
                <a:gd name="connsiteX11" fmla="*/ 338137 w 1226344"/>
                <a:gd name="connsiteY11" fmla="*/ 762000 h 1200150"/>
                <a:gd name="connsiteX12" fmla="*/ 321469 w 1226344"/>
                <a:gd name="connsiteY12" fmla="*/ 781050 h 1200150"/>
                <a:gd name="connsiteX13" fmla="*/ 311944 w 1226344"/>
                <a:gd name="connsiteY13" fmla="*/ 807244 h 1200150"/>
                <a:gd name="connsiteX14" fmla="*/ 266700 w 1226344"/>
                <a:gd name="connsiteY14" fmla="*/ 826294 h 1200150"/>
                <a:gd name="connsiteX15" fmla="*/ 219075 w 1226344"/>
                <a:gd name="connsiteY15" fmla="*/ 900113 h 1200150"/>
                <a:gd name="connsiteX16" fmla="*/ 204787 w 1226344"/>
                <a:gd name="connsiteY16" fmla="*/ 909638 h 1200150"/>
                <a:gd name="connsiteX17" fmla="*/ 192881 w 1226344"/>
                <a:gd name="connsiteY17" fmla="*/ 973932 h 1200150"/>
                <a:gd name="connsiteX18" fmla="*/ 152400 w 1226344"/>
                <a:gd name="connsiteY18" fmla="*/ 1042988 h 1200150"/>
                <a:gd name="connsiteX19" fmla="*/ 157162 w 1226344"/>
                <a:gd name="connsiteY19" fmla="*/ 1071563 h 1200150"/>
                <a:gd name="connsiteX20" fmla="*/ 204787 w 1226344"/>
                <a:gd name="connsiteY20" fmla="*/ 1083469 h 1200150"/>
                <a:gd name="connsiteX21" fmla="*/ 233362 w 1226344"/>
                <a:gd name="connsiteY21" fmla="*/ 1133475 h 1200150"/>
                <a:gd name="connsiteX22" fmla="*/ 247650 w 1226344"/>
                <a:gd name="connsiteY22" fmla="*/ 1133475 h 1200150"/>
                <a:gd name="connsiteX23" fmla="*/ 266700 w 1226344"/>
                <a:gd name="connsiteY23" fmla="*/ 1102519 h 1200150"/>
                <a:gd name="connsiteX24" fmla="*/ 257175 w 1226344"/>
                <a:gd name="connsiteY24" fmla="*/ 1081088 h 1200150"/>
                <a:gd name="connsiteX25" fmla="*/ 230981 w 1226344"/>
                <a:gd name="connsiteY25" fmla="*/ 1076325 h 1200150"/>
                <a:gd name="connsiteX26" fmla="*/ 230981 w 1226344"/>
                <a:gd name="connsiteY26" fmla="*/ 1052513 h 1200150"/>
                <a:gd name="connsiteX27" fmla="*/ 228600 w 1226344"/>
                <a:gd name="connsiteY27" fmla="*/ 1009650 h 1200150"/>
                <a:gd name="connsiteX28" fmla="*/ 216694 w 1226344"/>
                <a:gd name="connsiteY28" fmla="*/ 976313 h 1200150"/>
                <a:gd name="connsiteX29" fmla="*/ 223837 w 1226344"/>
                <a:gd name="connsiteY29" fmla="*/ 940594 h 1200150"/>
                <a:gd name="connsiteX30" fmla="*/ 266700 w 1226344"/>
                <a:gd name="connsiteY30" fmla="*/ 900113 h 1200150"/>
                <a:gd name="connsiteX31" fmla="*/ 278606 w 1226344"/>
                <a:gd name="connsiteY31" fmla="*/ 897732 h 1200150"/>
                <a:gd name="connsiteX32" fmla="*/ 290512 w 1226344"/>
                <a:gd name="connsiteY32" fmla="*/ 938213 h 1200150"/>
                <a:gd name="connsiteX33" fmla="*/ 302419 w 1226344"/>
                <a:gd name="connsiteY33" fmla="*/ 938213 h 1200150"/>
                <a:gd name="connsiteX34" fmla="*/ 321469 w 1226344"/>
                <a:gd name="connsiteY34" fmla="*/ 962025 h 1200150"/>
                <a:gd name="connsiteX35" fmla="*/ 338137 w 1226344"/>
                <a:gd name="connsiteY35" fmla="*/ 957263 h 1200150"/>
                <a:gd name="connsiteX36" fmla="*/ 359569 w 1226344"/>
                <a:gd name="connsiteY36" fmla="*/ 942975 h 1200150"/>
                <a:gd name="connsiteX37" fmla="*/ 483394 w 1226344"/>
                <a:gd name="connsiteY37" fmla="*/ 954882 h 1200150"/>
                <a:gd name="connsiteX38" fmla="*/ 516731 w 1226344"/>
                <a:gd name="connsiteY38" fmla="*/ 947738 h 1200150"/>
                <a:gd name="connsiteX39" fmla="*/ 545306 w 1226344"/>
                <a:gd name="connsiteY39" fmla="*/ 964407 h 1200150"/>
                <a:gd name="connsiteX40" fmla="*/ 561975 w 1226344"/>
                <a:gd name="connsiteY40" fmla="*/ 978694 h 1200150"/>
                <a:gd name="connsiteX41" fmla="*/ 604837 w 1226344"/>
                <a:gd name="connsiteY41" fmla="*/ 981075 h 1200150"/>
                <a:gd name="connsiteX42" fmla="*/ 640556 w 1226344"/>
                <a:gd name="connsiteY42" fmla="*/ 1021557 h 1200150"/>
                <a:gd name="connsiteX43" fmla="*/ 659606 w 1226344"/>
                <a:gd name="connsiteY43" fmla="*/ 1019175 h 1200150"/>
                <a:gd name="connsiteX44" fmla="*/ 702469 w 1226344"/>
                <a:gd name="connsiteY44" fmla="*/ 976313 h 1200150"/>
                <a:gd name="connsiteX45" fmla="*/ 735806 w 1226344"/>
                <a:gd name="connsiteY45" fmla="*/ 1000125 h 1200150"/>
                <a:gd name="connsiteX46" fmla="*/ 752475 w 1226344"/>
                <a:gd name="connsiteY46" fmla="*/ 1023938 h 1200150"/>
                <a:gd name="connsiteX47" fmla="*/ 785812 w 1226344"/>
                <a:gd name="connsiteY47" fmla="*/ 1021557 h 1200150"/>
                <a:gd name="connsiteX48" fmla="*/ 819150 w 1226344"/>
                <a:gd name="connsiteY48" fmla="*/ 1042988 h 1200150"/>
                <a:gd name="connsiteX49" fmla="*/ 823912 w 1226344"/>
                <a:gd name="connsiteY49" fmla="*/ 1064419 h 1200150"/>
                <a:gd name="connsiteX50" fmla="*/ 842962 w 1226344"/>
                <a:gd name="connsiteY50" fmla="*/ 1066800 h 1200150"/>
                <a:gd name="connsiteX51" fmla="*/ 904875 w 1226344"/>
                <a:gd name="connsiteY51" fmla="*/ 1073944 h 1200150"/>
                <a:gd name="connsiteX52" fmla="*/ 933450 w 1226344"/>
                <a:gd name="connsiteY52" fmla="*/ 1112044 h 1200150"/>
                <a:gd name="connsiteX53" fmla="*/ 938212 w 1226344"/>
                <a:gd name="connsiteY53" fmla="*/ 1140619 h 1200150"/>
                <a:gd name="connsiteX54" fmla="*/ 940594 w 1226344"/>
                <a:gd name="connsiteY54" fmla="*/ 1152525 h 1200150"/>
                <a:gd name="connsiteX55" fmla="*/ 954882 w 1226344"/>
                <a:gd name="connsiteY55" fmla="*/ 1200150 h 1200150"/>
                <a:gd name="connsiteX56" fmla="*/ 1002506 w 1226344"/>
                <a:gd name="connsiteY56" fmla="*/ 1173956 h 1200150"/>
                <a:gd name="connsiteX57" fmla="*/ 1042987 w 1226344"/>
                <a:gd name="connsiteY57" fmla="*/ 1150144 h 1200150"/>
                <a:gd name="connsiteX58" fmla="*/ 1071562 w 1226344"/>
                <a:gd name="connsiteY58" fmla="*/ 1069182 h 1200150"/>
                <a:gd name="connsiteX59" fmla="*/ 1062037 w 1226344"/>
                <a:gd name="connsiteY59" fmla="*/ 1045369 h 1200150"/>
                <a:gd name="connsiteX60" fmla="*/ 1059656 w 1226344"/>
                <a:gd name="connsiteY60" fmla="*/ 1012032 h 1200150"/>
                <a:gd name="connsiteX61" fmla="*/ 1066800 w 1226344"/>
                <a:gd name="connsiteY61" fmla="*/ 992982 h 1200150"/>
                <a:gd name="connsiteX62" fmla="*/ 1083469 w 1226344"/>
                <a:gd name="connsiteY62" fmla="*/ 973932 h 1200150"/>
                <a:gd name="connsiteX63" fmla="*/ 1107281 w 1226344"/>
                <a:gd name="connsiteY63" fmla="*/ 964407 h 1200150"/>
                <a:gd name="connsiteX64" fmla="*/ 1133475 w 1226344"/>
                <a:gd name="connsiteY64" fmla="*/ 921544 h 1200150"/>
                <a:gd name="connsiteX65" fmla="*/ 1150144 w 1226344"/>
                <a:gd name="connsiteY65" fmla="*/ 921544 h 1200150"/>
                <a:gd name="connsiteX66" fmla="*/ 1197769 w 1226344"/>
                <a:gd name="connsiteY66" fmla="*/ 940594 h 1200150"/>
                <a:gd name="connsiteX67" fmla="*/ 1226344 w 1226344"/>
                <a:gd name="connsiteY67" fmla="*/ 904875 h 1200150"/>
                <a:gd name="connsiteX68" fmla="*/ 1195387 w 1226344"/>
                <a:gd name="connsiteY68" fmla="*/ 852488 h 1200150"/>
                <a:gd name="connsiteX69" fmla="*/ 1159669 w 1226344"/>
                <a:gd name="connsiteY69" fmla="*/ 804863 h 1200150"/>
                <a:gd name="connsiteX70" fmla="*/ 1162050 w 1226344"/>
                <a:gd name="connsiteY70" fmla="*/ 762000 h 1200150"/>
                <a:gd name="connsiteX71" fmla="*/ 1216819 w 1226344"/>
                <a:gd name="connsiteY71" fmla="*/ 702469 h 1200150"/>
                <a:gd name="connsiteX72" fmla="*/ 1219200 w 1226344"/>
                <a:gd name="connsiteY72" fmla="*/ 676275 h 1200150"/>
                <a:gd name="connsiteX73" fmla="*/ 1181100 w 1226344"/>
                <a:gd name="connsiteY73" fmla="*/ 661988 h 1200150"/>
                <a:gd name="connsiteX74" fmla="*/ 1150144 w 1226344"/>
                <a:gd name="connsiteY74" fmla="*/ 635794 h 1200150"/>
                <a:gd name="connsiteX75" fmla="*/ 1133475 w 1226344"/>
                <a:gd name="connsiteY75" fmla="*/ 602457 h 1200150"/>
                <a:gd name="connsiteX76" fmla="*/ 1083469 w 1226344"/>
                <a:gd name="connsiteY76" fmla="*/ 604838 h 1200150"/>
                <a:gd name="connsiteX77" fmla="*/ 1033462 w 1226344"/>
                <a:gd name="connsiteY77" fmla="*/ 604838 h 1200150"/>
                <a:gd name="connsiteX78" fmla="*/ 1014412 w 1226344"/>
                <a:gd name="connsiteY78" fmla="*/ 583407 h 1200150"/>
                <a:gd name="connsiteX79" fmla="*/ 950119 w 1226344"/>
                <a:gd name="connsiteY79" fmla="*/ 578644 h 1200150"/>
                <a:gd name="connsiteX80" fmla="*/ 933450 w 1226344"/>
                <a:gd name="connsiteY80" fmla="*/ 561975 h 1200150"/>
                <a:gd name="connsiteX81" fmla="*/ 933450 w 1226344"/>
                <a:gd name="connsiteY81" fmla="*/ 547688 h 1200150"/>
                <a:gd name="connsiteX82" fmla="*/ 859631 w 1226344"/>
                <a:gd name="connsiteY82" fmla="*/ 511969 h 1200150"/>
                <a:gd name="connsiteX83" fmla="*/ 850106 w 1226344"/>
                <a:gd name="connsiteY83" fmla="*/ 492919 h 1200150"/>
                <a:gd name="connsiteX84" fmla="*/ 828675 w 1226344"/>
                <a:gd name="connsiteY84" fmla="*/ 476250 h 1200150"/>
                <a:gd name="connsiteX85" fmla="*/ 795337 w 1226344"/>
                <a:gd name="connsiteY85" fmla="*/ 478632 h 1200150"/>
                <a:gd name="connsiteX86" fmla="*/ 773906 w 1226344"/>
                <a:gd name="connsiteY86" fmla="*/ 471488 h 1200150"/>
                <a:gd name="connsiteX87" fmla="*/ 728662 w 1226344"/>
                <a:gd name="connsiteY87" fmla="*/ 428625 h 1200150"/>
                <a:gd name="connsiteX88" fmla="*/ 700087 w 1226344"/>
                <a:gd name="connsiteY88" fmla="*/ 421482 h 1200150"/>
                <a:gd name="connsiteX89" fmla="*/ 666750 w 1226344"/>
                <a:gd name="connsiteY89" fmla="*/ 383382 h 1200150"/>
                <a:gd name="connsiteX90" fmla="*/ 626269 w 1226344"/>
                <a:gd name="connsiteY90" fmla="*/ 369094 h 1200150"/>
                <a:gd name="connsiteX91" fmla="*/ 585787 w 1226344"/>
                <a:gd name="connsiteY91" fmla="*/ 335757 h 1200150"/>
                <a:gd name="connsiteX92" fmla="*/ 564356 w 1226344"/>
                <a:gd name="connsiteY92" fmla="*/ 311944 h 1200150"/>
                <a:gd name="connsiteX93" fmla="*/ 550069 w 1226344"/>
                <a:gd name="connsiteY93" fmla="*/ 330994 h 1200150"/>
                <a:gd name="connsiteX94" fmla="*/ 478631 w 1226344"/>
                <a:gd name="connsiteY94" fmla="*/ 328613 h 1200150"/>
                <a:gd name="connsiteX95" fmla="*/ 330994 w 1226344"/>
                <a:gd name="connsiteY95" fmla="*/ 230982 h 1200150"/>
                <a:gd name="connsiteX96" fmla="*/ 259556 w 1226344"/>
                <a:gd name="connsiteY96" fmla="*/ 254794 h 1200150"/>
                <a:gd name="connsiteX97" fmla="*/ 221456 w 1226344"/>
                <a:gd name="connsiteY97" fmla="*/ 245269 h 1200150"/>
                <a:gd name="connsiteX98" fmla="*/ 238125 w 1226344"/>
                <a:gd name="connsiteY98" fmla="*/ 150019 h 1200150"/>
                <a:gd name="connsiteX99" fmla="*/ 228600 w 1226344"/>
                <a:gd name="connsiteY99" fmla="*/ 95250 h 1200150"/>
                <a:gd name="connsiteX100" fmla="*/ 197644 w 1226344"/>
                <a:gd name="connsiteY100" fmla="*/ 78582 h 1200150"/>
                <a:gd name="connsiteX101" fmla="*/ 145256 w 1226344"/>
                <a:gd name="connsiteY101" fmla="*/ 0 h 1200150"/>
                <a:gd name="connsiteX102" fmla="*/ 88106 w 1226344"/>
                <a:gd name="connsiteY102" fmla="*/ 30957 h 1200150"/>
                <a:gd name="connsiteX103" fmla="*/ 83344 w 1226344"/>
                <a:gd name="connsiteY103" fmla="*/ 54769 h 1200150"/>
                <a:gd name="connsiteX104" fmla="*/ 90487 w 1226344"/>
                <a:gd name="connsiteY104" fmla="*/ 100013 h 1200150"/>
                <a:gd name="connsiteX105" fmla="*/ 71437 w 1226344"/>
                <a:gd name="connsiteY105" fmla="*/ 135732 h 1200150"/>
                <a:gd name="connsiteX106" fmla="*/ 66675 w 1226344"/>
                <a:gd name="connsiteY106" fmla="*/ 145257 h 1200150"/>
                <a:gd name="connsiteX107" fmla="*/ 97631 w 1226344"/>
                <a:gd name="connsiteY107" fmla="*/ 185738 h 1200150"/>
                <a:gd name="connsiteX108" fmla="*/ 83344 w 1226344"/>
                <a:gd name="connsiteY108" fmla="*/ 223838 h 1200150"/>
                <a:gd name="connsiteX109" fmla="*/ 59531 w 1226344"/>
                <a:gd name="connsiteY109" fmla="*/ 240507 h 1200150"/>
                <a:gd name="connsiteX110" fmla="*/ 69056 w 1226344"/>
                <a:gd name="connsiteY110" fmla="*/ 309563 h 1200150"/>
                <a:gd name="connsiteX111" fmla="*/ 92869 w 1226344"/>
                <a:gd name="connsiteY111" fmla="*/ 321469 h 1200150"/>
                <a:gd name="connsiteX112" fmla="*/ 85725 w 1226344"/>
                <a:gd name="connsiteY112" fmla="*/ 369094 h 1200150"/>
                <a:gd name="connsiteX113" fmla="*/ 42862 w 1226344"/>
                <a:gd name="connsiteY113" fmla="*/ 421482 h 1200150"/>
                <a:gd name="connsiteX114" fmla="*/ 0 w 1226344"/>
                <a:gd name="connsiteY114" fmla="*/ 452438 h 1200150"/>
                <a:gd name="connsiteX0" fmla="*/ 0 w 1226344"/>
                <a:gd name="connsiteY0" fmla="*/ 452438 h 1202531"/>
                <a:gd name="connsiteX1" fmla="*/ 28575 w 1226344"/>
                <a:gd name="connsiteY1" fmla="*/ 526257 h 1202531"/>
                <a:gd name="connsiteX2" fmla="*/ 73819 w 1226344"/>
                <a:gd name="connsiteY2" fmla="*/ 564357 h 1202531"/>
                <a:gd name="connsiteX3" fmla="*/ 109537 w 1226344"/>
                <a:gd name="connsiteY3" fmla="*/ 657225 h 1202531"/>
                <a:gd name="connsiteX4" fmla="*/ 128587 w 1226344"/>
                <a:gd name="connsiteY4" fmla="*/ 685800 h 1202531"/>
                <a:gd name="connsiteX5" fmla="*/ 142875 w 1226344"/>
                <a:gd name="connsiteY5" fmla="*/ 666750 h 1202531"/>
                <a:gd name="connsiteX6" fmla="*/ 142875 w 1226344"/>
                <a:gd name="connsiteY6" fmla="*/ 633413 h 1202531"/>
                <a:gd name="connsiteX7" fmla="*/ 180975 w 1226344"/>
                <a:gd name="connsiteY7" fmla="*/ 666750 h 1202531"/>
                <a:gd name="connsiteX8" fmla="*/ 240506 w 1226344"/>
                <a:gd name="connsiteY8" fmla="*/ 673894 h 1202531"/>
                <a:gd name="connsiteX9" fmla="*/ 271462 w 1226344"/>
                <a:gd name="connsiteY9" fmla="*/ 702469 h 1202531"/>
                <a:gd name="connsiteX10" fmla="*/ 326231 w 1226344"/>
                <a:gd name="connsiteY10" fmla="*/ 721519 h 1202531"/>
                <a:gd name="connsiteX11" fmla="*/ 338137 w 1226344"/>
                <a:gd name="connsiteY11" fmla="*/ 762000 h 1202531"/>
                <a:gd name="connsiteX12" fmla="*/ 321469 w 1226344"/>
                <a:gd name="connsiteY12" fmla="*/ 781050 h 1202531"/>
                <a:gd name="connsiteX13" fmla="*/ 311944 w 1226344"/>
                <a:gd name="connsiteY13" fmla="*/ 807244 h 1202531"/>
                <a:gd name="connsiteX14" fmla="*/ 266700 w 1226344"/>
                <a:gd name="connsiteY14" fmla="*/ 826294 h 1202531"/>
                <a:gd name="connsiteX15" fmla="*/ 219075 w 1226344"/>
                <a:gd name="connsiteY15" fmla="*/ 900113 h 1202531"/>
                <a:gd name="connsiteX16" fmla="*/ 204787 w 1226344"/>
                <a:gd name="connsiteY16" fmla="*/ 909638 h 1202531"/>
                <a:gd name="connsiteX17" fmla="*/ 192881 w 1226344"/>
                <a:gd name="connsiteY17" fmla="*/ 973932 h 1202531"/>
                <a:gd name="connsiteX18" fmla="*/ 152400 w 1226344"/>
                <a:gd name="connsiteY18" fmla="*/ 1042988 h 1202531"/>
                <a:gd name="connsiteX19" fmla="*/ 157162 w 1226344"/>
                <a:gd name="connsiteY19" fmla="*/ 1071563 h 1202531"/>
                <a:gd name="connsiteX20" fmla="*/ 204787 w 1226344"/>
                <a:gd name="connsiteY20" fmla="*/ 1083469 h 1202531"/>
                <a:gd name="connsiteX21" fmla="*/ 233362 w 1226344"/>
                <a:gd name="connsiteY21" fmla="*/ 1133475 h 1202531"/>
                <a:gd name="connsiteX22" fmla="*/ 247650 w 1226344"/>
                <a:gd name="connsiteY22" fmla="*/ 1133475 h 1202531"/>
                <a:gd name="connsiteX23" fmla="*/ 266700 w 1226344"/>
                <a:gd name="connsiteY23" fmla="*/ 1102519 h 1202531"/>
                <a:gd name="connsiteX24" fmla="*/ 257175 w 1226344"/>
                <a:gd name="connsiteY24" fmla="*/ 1081088 h 1202531"/>
                <a:gd name="connsiteX25" fmla="*/ 230981 w 1226344"/>
                <a:gd name="connsiteY25" fmla="*/ 1076325 h 1202531"/>
                <a:gd name="connsiteX26" fmla="*/ 230981 w 1226344"/>
                <a:gd name="connsiteY26" fmla="*/ 1052513 h 1202531"/>
                <a:gd name="connsiteX27" fmla="*/ 228600 w 1226344"/>
                <a:gd name="connsiteY27" fmla="*/ 1009650 h 1202531"/>
                <a:gd name="connsiteX28" fmla="*/ 216694 w 1226344"/>
                <a:gd name="connsiteY28" fmla="*/ 976313 h 1202531"/>
                <a:gd name="connsiteX29" fmla="*/ 223837 w 1226344"/>
                <a:gd name="connsiteY29" fmla="*/ 940594 h 1202531"/>
                <a:gd name="connsiteX30" fmla="*/ 266700 w 1226344"/>
                <a:gd name="connsiteY30" fmla="*/ 900113 h 1202531"/>
                <a:gd name="connsiteX31" fmla="*/ 278606 w 1226344"/>
                <a:gd name="connsiteY31" fmla="*/ 897732 h 1202531"/>
                <a:gd name="connsiteX32" fmla="*/ 290512 w 1226344"/>
                <a:gd name="connsiteY32" fmla="*/ 938213 h 1202531"/>
                <a:gd name="connsiteX33" fmla="*/ 302419 w 1226344"/>
                <a:gd name="connsiteY33" fmla="*/ 938213 h 1202531"/>
                <a:gd name="connsiteX34" fmla="*/ 321469 w 1226344"/>
                <a:gd name="connsiteY34" fmla="*/ 962025 h 1202531"/>
                <a:gd name="connsiteX35" fmla="*/ 338137 w 1226344"/>
                <a:gd name="connsiteY35" fmla="*/ 957263 h 1202531"/>
                <a:gd name="connsiteX36" fmla="*/ 359569 w 1226344"/>
                <a:gd name="connsiteY36" fmla="*/ 942975 h 1202531"/>
                <a:gd name="connsiteX37" fmla="*/ 483394 w 1226344"/>
                <a:gd name="connsiteY37" fmla="*/ 954882 h 1202531"/>
                <a:gd name="connsiteX38" fmla="*/ 516731 w 1226344"/>
                <a:gd name="connsiteY38" fmla="*/ 947738 h 1202531"/>
                <a:gd name="connsiteX39" fmla="*/ 545306 w 1226344"/>
                <a:gd name="connsiteY39" fmla="*/ 964407 h 1202531"/>
                <a:gd name="connsiteX40" fmla="*/ 561975 w 1226344"/>
                <a:gd name="connsiteY40" fmla="*/ 978694 h 1202531"/>
                <a:gd name="connsiteX41" fmla="*/ 604837 w 1226344"/>
                <a:gd name="connsiteY41" fmla="*/ 981075 h 1202531"/>
                <a:gd name="connsiteX42" fmla="*/ 640556 w 1226344"/>
                <a:gd name="connsiteY42" fmla="*/ 1021557 h 1202531"/>
                <a:gd name="connsiteX43" fmla="*/ 659606 w 1226344"/>
                <a:gd name="connsiteY43" fmla="*/ 1019175 h 1202531"/>
                <a:gd name="connsiteX44" fmla="*/ 702469 w 1226344"/>
                <a:gd name="connsiteY44" fmla="*/ 976313 h 1202531"/>
                <a:gd name="connsiteX45" fmla="*/ 735806 w 1226344"/>
                <a:gd name="connsiteY45" fmla="*/ 1000125 h 1202531"/>
                <a:gd name="connsiteX46" fmla="*/ 752475 w 1226344"/>
                <a:gd name="connsiteY46" fmla="*/ 1023938 h 1202531"/>
                <a:gd name="connsiteX47" fmla="*/ 785812 w 1226344"/>
                <a:gd name="connsiteY47" fmla="*/ 1021557 h 1202531"/>
                <a:gd name="connsiteX48" fmla="*/ 819150 w 1226344"/>
                <a:gd name="connsiteY48" fmla="*/ 1042988 h 1202531"/>
                <a:gd name="connsiteX49" fmla="*/ 823912 w 1226344"/>
                <a:gd name="connsiteY49" fmla="*/ 1064419 h 1202531"/>
                <a:gd name="connsiteX50" fmla="*/ 842962 w 1226344"/>
                <a:gd name="connsiteY50" fmla="*/ 1066800 h 1202531"/>
                <a:gd name="connsiteX51" fmla="*/ 904875 w 1226344"/>
                <a:gd name="connsiteY51" fmla="*/ 1073944 h 1202531"/>
                <a:gd name="connsiteX52" fmla="*/ 933450 w 1226344"/>
                <a:gd name="connsiteY52" fmla="*/ 1112044 h 1202531"/>
                <a:gd name="connsiteX53" fmla="*/ 938212 w 1226344"/>
                <a:gd name="connsiteY53" fmla="*/ 1140619 h 1202531"/>
                <a:gd name="connsiteX54" fmla="*/ 940594 w 1226344"/>
                <a:gd name="connsiteY54" fmla="*/ 1152525 h 1202531"/>
                <a:gd name="connsiteX55" fmla="*/ 954882 w 1226344"/>
                <a:gd name="connsiteY55" fmla="*/ 1200150 h 1202531"/>
                <a:gd name="connsiteX56" fmla="*/ 990599 w 1226344"/>
                <a:gd name="connsiteY56" fmla="*/ 1202531 h 1202531"/>
                <a:gd name="connsiteX57" fmla="*/ 1042987 w 1226344"/>
                <a:gd name="connsiteY57" fmla="*/ 1150144 h 1202531"/>
                <a:gd name="connsiteX58" fmla="*/ 1071562 w 1226344"/>
                <a:gd name="connsiteY58" fmla="*/ 1069182 h 1202531"/>
                <a:gd name="connsiteX59" fmla="*/ 1062037 w 1226344"/>
                <a:gd name="connsiteY59" fmla="*/ 1045369 h 1202531"/>
                <a:gd name="connsiteX60" fmla="*/ 1059656 w 1226344"/>
                <a:gd name="connsiteY60" fmla="*/ 1012032 h 1202531"/>
                <a:gd name="connsiteX61" fmla="*/ 1066800 w 1226344"/>
                <a:gd name="connsiteY61" fmla="*/ 992982 h 1202531"/>
                <a:gd name="connsiteX62" fmla="*/ 1083469 w 1226344"/>
                <a:gd name="connsiteY62" fmla="*/ 973932 h 1202531"/>
                <a:gd name="connsiteX63" fmla="*/ 1107281 w 1226344"/>
                <a:gd name="connsiteY63" fmla="*/ 964407 h 1202531"/>
                <a:gd name="connsiteX64" fmla="*/ 1133475 w 1226344"/>
                <a:gd name="connsiteY64" fmla="*/ 921544 h 1202531"/>
                <a:gd name="connsiteX65" fmla="*/ 1150144 w 1226344"/>
                <a:gd name="connsiteY65" fmla="*/ 921544 h 1202531"/>
                <a:gd name="connsiteX66" fmla="*/ 1197769 w 1226344"/>
                <a:gd name="connsiteY66" fmla="*/ 940594 h 1202531"/>
                <a:gd name="connsiteX67" fmla="*/ 1226344 w 1226344"/>
                <a:gd name="connsiteY67" fmla="*/ 904875 h 1202531"/>
                <a:gd name="connsiteX68" fmla="*/ 1195387 w 1226344"/>
                <a:gd name="connsiteY68" fmla="*/ 852488 h 1202531"/>
                <a:gd name="connsiteX69" fmla="*/ 1159669 w 1226344"/>
                <a:gd name="connsiteY69" fmla="*/ 804863 h 1202531"/>
                <a:gd name="connsiteX70" fmla="*/ 1162050 w 1226344"/>
                <a:gd name="connsiteY70" fmla="*/ 762000 h 1202531"/>
                <a:gd name="connsiteX71" fmla="*/ 1216819 w 1226344"/>
                <a:gd name="connsiteY71" fmla="*/ 702469 h 1202531"/>
                <a:gd name="connsiteX72" fmla="*/ 1219200 w 1226344"/>
                <a:gd name="connsiteY72" fmla="*/ 676275 h 1202531"/>
                <a:gd name="connsiteX73" fmla="*/ 1181100 w 1226344"/>
                <a:gd name="connsiteY73" fmla="*/ 661988 h 1202531"/>
                <a:gd name="connsiteX74" fmla="*/ 1150144 w 1226344"/>
                <a:gd name="connsiteY74" fmla="*/ 635794 h 1202531"/>
                <a:gd name="connsiteX75" fmla="*/ 1133475 w 1226344"/>
                <a:gd name="connsiteY75" fmla="*/ 602457 h 1202531"/>
                <a:gd name="connsiteX76" fmla="*/ 1083469 w 1226344"/>
                <a:gd name="connsiteY76" fmla="*/ 604838 h 1202531"/>
                <a:gd name="connsiteX77" fmla="*/ 1033462 w 1226344"/>
                <a:gd name="connsiteY77" fmla="*/ 604838 h 1202531"/>
                <a:gd name="connsiteX78" fmla="*/ 1014412 w 1226344"/>
                <a:gd name="connsiteY78" fmla="*/ 583407 h 1202531"/>
                <a:gd name="connsiteX79" fmla="*/ 950119 w 1226344"/>
                <a:gd name="connsiteY79" fmla="*/ 578644 h 1202531"/>
                <a:gd name="connsiteX80" fmla="*/ 933450 w 1226344"/>
                <a:gd name="connsiteY80" fmla="*/ 561975 h 1202531"/>
                <a:gd name="connsiteX81" fmla="*/ 933450 w 1226344"/>
                <a:gd name="connsiteY81" fmla="*/ 547688 h 1202531"/>
                <a:gd name="connsiteX82" fmla="*/ 859631 w 1226344"/>
                <a:gd name="connsiteY82" fmla="*/ 511969 h 1202531"/>
                <a:gd name="connsiteX83" fmla="*/ 850106 w 1226344"/>
                <a:gd name="connsiteY83" fmla="*/ 492919 h 1202531"/>
                <a:gd name="connsiteX84" fmla="*/ 828675 w 1226344"/>
                <a:gd name="connsiteY84" fmla="*/ 476250 h 1202531"/>
                <a:gd name="connsiteX85" fmla="*/ 795337 w 1226344"/>
                <a:gd name="connsiteY85" fmla="*/ 478632 h 1202531"/>
                <a:gd name="connsiteX86" fmla="*/ 773906 w 1226344"/>
                <a:gd name="connsiteY86" fmla="*/ 471488 h 1202531"/>
                <a:gd name="connsiteX87" fmla="*/ 728662 w 1226344"/>
                <a:gd name="connsiteY87" fmla="*/ 428625 h 1202531"/>
                <a:gd name="connsiteX88" fmla="*/ 700087 w 1226344"/>
                <a:gd name="connsiteY88" fmla="*/ 421482 h 1202531"/>
                <a:gd name="connsiteX89" fmla="*/ 666750 w 1226344"/>
                <a:gd name="connsiteY89" fmla="*/ 383382 h 1202531"/>
                <a:gd name="connsiteX90" fmla="*/ 626269 w 1226344"/>
                <a:gd name="connsiteY90" fmla="*/ 369094 h 1202531"/>
                <a:gd name="connsiteX91" fmla="*/ 585787 w 1226344"/>
                <a:gd name="connsiteY91" fmla="*/ 335757 h 1202531"/>
                <a:gd name="connsiteX92" fmla="*/ 564356 w 1226344"/>
                <a:gd name="connsiteY92" fmla="*/ 311944 h 1202531"/>
                <a:gd name="connsiteX93" fmla="*/ 550069 w 1226344"/>
                <a:gd name="connsiteY93" fmla="*/ 330994 h 1202531"/>
                <a:gd name="connsiteX94" fmla="*/ 478631 w 1226344"/>
                <a:gd name="connsiteY94" fmla="*/ 328613 h 1202531"/>
                <a:gd name="connsiteX95" fmla="*/ 330994 w 1226344"/>
                <a:gd name="connsiteY95" fmla="*/ 230982 h 1202531"/>
                <a:gd name="connsiteX96" fmla="*/ 259556 w 1226344"/>
                <a:gd name="connsiteY96" fmla="*/ 254794 h 1202531"/>
                <a:gd name="connsiteX97" fmla="*/ 221456 w 1226344"/>
                <a:gd name="connsiteY97" fmla="*/ 245269 h 1202531"/>
                <a:gd name="connsiteX98" fmla="*/ 238125 w 1226344"/>
                <a:gd name="connsiteY98" fmla="*/ 150019 h 1202531"/>
                <a:gd name="connsiteX99" fmla="*/ 228600 w 1226344"/>
                <a:gd name="connsiteY99" fmla="*/ 95250 h 1202531"/>
                <a:gd name="connsiteX100" fmla="*/ 197644 w 1226344"/>
                <a:gd name="connsiteY100" fmla="*/ 78582 h 1202531"/>
                <a:gd name="connsiteX101" fmla="*/ 145256 w 1226344"/>
                <a:gd name="connsiteY101" fmla="*/ 0 h 1202531"/>
                <a:gd name="connsiteX102" fmla="*/ 88106 w 1226344"/>
                <a:gd name="connsiteY102" fmla="*/ 30957 h 1202531"/>
                <a:gd name="connsiteX103" fmla="*/ 83344 w 1226344"/>
                <a:gd name="connsiteY103" fmla="*/ 54769 h 1202531"/>
                <a:gd name="connsiteX104" fmla="*/ 90487 w 1226344"/>
                <a:gd name="connsiteY104" fmla="*/ 100013 h 1202531"/>
                <a:gd name="connsiteX105" fmla="*/ 71437 w 1226344"/>
                <a:gd name="connsiteY105" fmla="*/ 135732 h 1202531"/>
                <a:gd name="connsiteX106" fmla="*/ 66675 w 1226344"/>
                <a:gd name="connsiteY106" fmla="*/ 145257 h 1202531"/>
                <a:gd name="connsiteX107" fmla="*/ 97631 w 1226344"/>
                <a:gd name="connsiteY107" fmla="*/ 185738 h 1202531"/>
                <a:gd name="connsiteX108" fmla="*/ 83344 w 1226344"/>
                <a:gd name="connsiteY108" fmla="*/ 223838 h 1202531"/>
                <a:gd name="connsiteX109" fmla="*/ 59531 w 1226344"/>
                <a:gd name="connsiteY109" fmla="*/ 240507 h 1202531"/>
                <a:gd name="connsiteX110" fmla="*/ 69056 w 1226344"/>
                <a:gd name="connsiteY110" fmla="*/ 309563 h 1202531"/>
                <a:gd name="connsiteX111" fmla="*/ 92869 w 1226344"/>
                <a:gd name="connsiteY111" fmla="*/ 321469 h 1202531"/>
                <a:gd name="connsiteX112" fmla="*/ 85725 w 1226344"/>
                <a:gd name="connsiteY112" fmla="*/ 369094 h 1202531"/>
                <a:gd name="connsiteX113" fmla="*/ 42862 w 1226344"/>
                <a:gd name="connsiteY113" fmla="*/ 421482 h 1202531"/>
                <a:gd name="connsiteX114" fmla="*/ 0 w 1226344"/>
                <a:gd name="connsiteY114" fmla="*/ 452438 h 120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226344" h="1202531">
                  <a:moveTo>
                    <a:pt x="0" y="452438"/>
                  </a:moveTo>
                  <a:lnTo>
                    <a:pt x="28575" y="526257"/>
                  </a:lnTo>
                  <a:lnTo>
                    <a:pt x="73819" y="564357"/>
                  </a:lnTo>
                  <a:lnTo>
                    <a:pt x="109537" y="657225"/>
                  </a:lnTo>
                  <a:lnTo>
                    <a:pt x="128587" y="685800"/>
                  </a:lnTo>
                  <a:lnTo>
                    <a:pt x="142875" y="666750"/>
                  </a:lnTo>
                  <a:lnTo>
                    <a:pt x="142875" y="633413"/>
                  </a:lnTo>
                  <a:lnTo>
                    <a:pt x="180975" y="666750"/>
                  </a:lnTo>
                  <a:lnTo>
                    <a:pt x="240506" y="673894"/>
                  </a:lnTo>
                  <a:lnTo>
                    <a:pt x="271462" y="702469"/>
                  </a:lnTo>
                  <a:lnTo>
                    <a:pt x="326231" y="721519"/>
                  </a:lnTo>
                  <a:lnTo>
                    <a:pt x="338137" y="762000"/>
                  </a:lnTo>
                  <a:lnTo>
                    <a:pt x="321469" y="781050"/>
                  </a:lnTo>
                  <a:lnTo>
                    <a:pt x="311944" y="807244"/>
                  </a:lnTo>
                  <a:lnTo>
                    <a:pt x="266700" y="826294"/>
                  </a:lnTo>
                  <a:lnTo>
                    <a:pt x="219075" y="900113"/>
                  </a:lnTo>
                  <a:lnTo>
                    <a:pt x="204787" y="909638"/>
                  </a:lnTo>
                  <a:lnTo>
                    <a:pt x="192881" y="973932"/>
                  </a:lnTo>
                  <a:lnTo>
                    <a:pt x="152400" y="1042988"/>
                  </a:lnTo>
                  <a:lnTo>
                    <a:pt x="157162" y="1071563"/>
                  </a:lnTo>
                  <a:lnTo>
                    <a:pt x="204787" y="1083469"/>
                  </a:lnTo>
                  <a:lnTo>
                    <a:pt x="233362" y="1133475"/>
                  </a:lnTo>
                  <a:lnTo>
                    <a:pt x="247650" y="1133475"/>
                  </a:lnTo>
                  <a:lnTo>
                    <a:pt x="266700" y="1102519"/>
                  </a:lnTo>
                  <a:lnTo>
                    <a:pt x="257175" y="1081088"/>
                  </a:lnTo>
                  <a:lnTo>
                    <a:pt x="230981" y="1076325"/>
                  </a:lnTo>
                  <a:lnTo>
                    <a:pt x="230981" y="1052513"/>
                  </a:lnTo>
                  <a:lnTo>
                    <a:pt x="228600" y="1009650"/>
                  </a:lnTo>
                  <a:lnTo>
                    <a:pt x="216694" y="976313"/>
                  </a:lnTo>
                  <a:lnTo>
                    <a:pt x="223837" y="940594"/>
                  </a:lnTo>
                  <a:lnTo>
                    <a:pt x="266700" y="900113"/>
                  </a:lnTo>
                  <a:lnTo>
                    <a:pt x="278606" y="897732"/>
                  </a:lnTo>
                  <a:lnTo>
                    <a:pt x="290512" y="938213"/>
                  </a:lnTo>
                  <a:lnTo>
                    <a:pt x="302419" y="938213"/>
                  </a:lnTo>
                  <a:lnTo>
                    <a:pt x="321469" y="962025"/>
                  </a:lnTo>
                  <a:lnTo>
                    <a:pt x="338137" y="957263"/>
                  </a:lnTo>
                  <a:lnTo>
                    <a:pt x="359569" y="942975"/>
                  </a:lnTo>
                  <a:lnTo>
                    <a:pt x="483394" y="954882"/>
                  </a:lnTo>
                  <a:lnTo>
                    <a:pt x="516731" y="947738"/>
                  </a:lnTo>
                  <a:lnTo>
                    <a:pt x="545306" y="964407"/>
                  </a:lnTo>
                  <a:lnTo>
                    <a:pt x="561975" y="978694"/>
                  </a:lnTo>
                  <a:lnTo>
                    <a:pt x="604837" y="981075"/>
                  </a:lnTo>
                  <a:lnTo>
                    <a:pt x="640556" y="1021557"/>
                  </a:lnTo>
                  <a:lnTo>
                    <a:pt x="659606" y="1019175"/>
                  </a:lnTo>
                  <a:lnTo>
                    <a:pt x="702469" y="976313"/>
                  </a:lnTo>
                  <a:lnTo>
                    <a:pt x="735806" y="1000125"/>
                  </a:lnTo>
                  <a:lnTo>
                    <a:pt x="752475" y="1023938"/>
                  </a:lnTo>
                  <a:lnTo>
                    <a:pt x="785812" y="1021557"/>
                  </a:lnTo>
                  <a:lnTo>
                    <a:pt x="819150" y="1042988"/>
                  </a:lnTo>
                  <a:lnTo>
                    <a:pt x="823912" y="1064419"/>
                  </a:lnTo>
                  <a:lnTo>
                    <a:pt x="842962" y="1066800"/>
                  </a:lnTo>
                  <a:lnTo>
                    <a:pt x="904875" y="1073944"/>
                  </a:lnTo>
                  <a:lnTo>
                    <a:pt x="933450" y="1112044"/>
                  </a:lnTo>
                  <a:lnTo>
                    <a:pt x="938212" y="1140619"/>
                  </a:lnTo>
                  <a:lnTo>
                    <a:pt x="940594" y="1152525"/>
                  </a:lnTo>
                  <a:lnTo>
                    <a:pt x="954882" y="1200150"/>
                  </a:lnTo>
                  <a:lnTo>
                    <a:pt x="990599" y="1202531"/>
                  </a:lnTo>
                  <a:lnTo>
                    <a:pt x="1042987" y="1150144"/>
                  </a:lnTo>
                  <a:lnTo>
                    <a:pt x="1071562" y="1069182"/>
                  </a:lnTo>
                  <a:lnTo>
                    <a:pt x="1062037" y="1045369"/>
                  </a:lnTo>
                  <a:lnTo>
                    <a:pt x="1059656" y="1012032"/>
                  </a:lnTo>
                  <a:lnTo>
                    <a:pt x="1066800" y="992982"/>
                  </a:lnTo>
                  <a:lnTo>
                    <a:pt x="1083469" y="973932"/>
                  </a:lnTo>
                  <a:lnTo>
                    <a:pt x="1107281" y="964407"/>
                  </a:lnTo>
                  <a:lnTo>
                    <a:pt x="1133475" y="921544"/>
                  </a:lnTo>
                  <a:lnTo>
                    <a:pt x="1150144" y="921544"/>
                  </a:lnTo>
                  <a:lnTo>
                    <a:pt x="1197769" y="940594"/>
                  </a:lnTo>
                  <a:lnTo>
                    <a:pt x="1226344" y="904875"/>
                  </a:lnTo>
                  <a:lnTo>
                    <a:pt x="1195387" y="852488"/>
                  </a:lnTo>
                  <a:lnTo>
                    <a:pt x="1159669" y="804863"/>
                  </a:lnTo>
                  <a:lnTo>
                    <a:pt x="1162050" y="762000"/>
                  </a:lnTo>
                  <a:lnTo>
                    <a:pt x="1216819" y="702469"/>
                  </a:lnTo>
                  <a:lnTo>
                    <a:pt x="1219200" y="676275"/>
                  </a:lnTo>
                  <a:lnTo>
                    <a:pt x="1181100" y="661988"/>
                  </a:lnTo>
                  <a:lnTo>
                    <a:pt x="1150144" y="635794"/>
                  </a:lnTo>
                  <a:lnTo>
                    <a:pt x="1133475" y="602457"/>
                  </a:lnTo>
                  <a:lnTo>
                    <a:pt x="1083469" y="604838"/>
                  </a:lnTo>
                  <a:lnTo>
                    <a:pt x="1033462" y="604838"/>
                  </a:lnTo>
                  <a:lnTo>
                    <a:pt x="1014412" y="583407"/>
                  </a:lnTo>
                  <a:lnTo>
                    <a:pt x="950119" y="578644"/>
                  </a:lnTo>
                  <a:lnTo>
                    <a:pt x="933450" y="561975"/>
                  </a:lnTo>
                  <a:lnTo>
                    <a:pt x="933450" y="547688"/>
                  </a:lnTo>
                  <a:lnTo>
                    <a:pt x="859631" y="511969"/>
                  </a:lnTo>
                  <a:lnTo>
                    <a:pt x="850106" y="492919"/>
                  </a:lnTo>
                  <a:lnTo>
                    <a:pt x="828675" y="476250"/>
                  </a:lnTo>
                  <a:lnTo>
                    <a:pt x="795337" y="478632"/>
                  </a:lnTo>
                  <a:lnTo>
                    <a:pt x="773906" y="471488"/>
                  </a:lnTo>
                  <a:lnTo>
                    <a:pt x="728662" y="428625"/>
                  </a:lnTo>
                  <a:lnTo>
                    <a:pt x="700087" y="421482"/>
                  </a:lnTo>
                  <a:lnTo>
                    <a:pt x="666750" y="383382"/>
                  </a:lnTo>
                  <a:lnTo>
                    <a:pt x="626269" y="369094"/>
                  </a:lnTo>
                  <a:lnTo>
                    <a:pt x="585787" y="335757"/>
                  </a:lnTo>
                  <a:lnTo>
                    <a:pt x="564356" y="311944"/>
                  </a:lnTo>
                  <a:lnTo>
                    <a:pt x="550069" y="330994"/>
                  </a:lnTo>
                  <a:lnTo>
                    <a:pt x="478631" y="328613"/>
                  </a:lnTo>
                  <a:lnTo>
                    <a:pt x="330994" y="230982"/>
                  </a:lnTo>
                  <a:lnTo>
                    <a:pt x="259556" y="254794"/>
                  </a:lnTo>
                  <a:lnTo>
                    <a:pt x="221456" y="245269"/>
                  </a:lnTo>
                  <a:lnTo>
                    <a:pt x="238125" y="150019"/>
                  </a:lnTo>
                  <a:lnTo>
                    <a:pt x="228600" y="95250"/>
                  </a:lnTo>
                  <a:lnTo>
                    <a:pt x="197644" y="78582"/>
                  </a:lnTo>
                  <a:lnTo>
                    <a:pt x="145256" y="0"/>
                  </a:lnTo>
                  <a:lnTo>
                    <a:pt x="88106" y="30957"/>
                  </a:lnTo>
                  <a:lnTo>
                    <a:pt x="83344" y="54769"/>
                  </a:lnTo>
                  <a:lnTo>
                    <a:pt x="90487" y="100013"/>
                  </a:lnTo>
                  <a:lnTo>
                    <a:pt x="71437" y="135732"/>
                  </a:lnTo>
                  <a:lnTo>
                    <a:pt x="66675" y="145257"/>
                  </a:lnTo>
                  <a:lnTo>
                    <a:pt x="97631" y="185738"/>
                  </a:lnTo>
                  <a:lnTo>
                    <a:pt x="83344" y="223838"/>
                  </a:lnTo>
                  <a:lnTo>
                    <a:pt x="59531" y="240507"/>
                  </a:lnTo>
                  <a:lnTo>
                    <a:pt x="69056" y="309563"/>
                  </a:lnTo>
                  <a:lnTo>
                    <a:pt x="92869" y="321469"/>
                  </a:lnTo>
                  <a:lnTo>
                    <a:pt x="85725" y="369094"/>
                  </a:lnTo>
                  <a:lnTo>
                    <a:pt x="42862" y="421482"/>
                  </a:lnTo>
                  <a:lnTo>
                    <a:pt x="0" y="452438"/>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17" name="Freeform 16"/>
            <p:cNvSpPr/>
            <p:nvPr/>
          </p:nvSpPr>
          <p:spPr>
            <a:xfrm rot="21298612">
              <a:off x="3190584" y="2942487"/>
              <a:ext cx="769714" cy="626778"/>
            </a:xfrm>
            <a:custGeom>
              <a:avLst/>
              <a:gdLst>
                <a:gd name="connsiteX0" fmla="*/ 0 w 766763"/>
                <a:gd name="connsiteY0" fmla="*/ 559594 h 592932"/>
                <a:gd name="connsiteX1" fmla="*/ 97631 w 766763"/>
                <a:gd name="connsiteY1" fmla="*/ 564357 h 592932"/>
                <a:gd name="connsiteX2" fmla="*/ 111919 w 766763"/>
                <a:gd name="connsiteY2" fmla="*/ 573882 h 592932"/>
                <a:gd name="connsiteX3" fmla="*/ 123825 w 766763"/>
                <a:gd name="connsiteY3" fmla="*/ 571500 h 592932"/>
                <a:gd name="connsiteX4" fmla="*/ 154781 w 766763"/>
                <a:gd name="connsiteY4" fmla="*/ 592932 h 592932"/>
                <a:gd name="connsiteX5" fmla="*/ 192881 w 766763"/>
                <a:gd name="connsiteY5" fmla="*/ 566738 h 592932"/>
                <a:gd name="connsiteX6" fmla="*/ 192881 w 766763"/>
                <a:gd name="connsiteY6" fmla="*/ 566738 h 592932"/>
                <a:gd name="connsiteX7" fmla="*/ 269081 w 766763"/>
                <a:gd name="connsiteY7" fmla="*/ 588169 h 592932"/>
                <a:gd name="connsiteX8" fmla="*/ 290513 w 766763"/>
                <a:gd name="connsiteY8" fmla="*/ 550069 h 592932"/>
                <a:gd name="connsiteX9" fmla="*/ 350044 w 766763"/>
                <a:gd name="connsiteY9" fmla="*/ 550069 h 592932"/>
                <a:gd name="connsiteX10" fmla="*/ 385763 w 766763"/>
                <a:gd name="connsiteY10" fmla="*/ 523875 h 592932"/>
                <a:gd name="connsiteX11" fmla="*/ 414338 w 766763"/>
                <a:gd name="connsiteY11" fmla="*/ 521494 h 592932"/>
                <a:gd name="connsiteX12" fmla="*/ 464344 w 766763"/>
                <a:gd name="connsiteY12" fmla="*/ 540544 h 592932"/>
                <a:gd name="connsiteX13" fmla="*/ 497681 w 766763"/>
                <a:gd name="connsiteY13" fmla="*/ 561975 h 592932"/>
                <a:gd name="connsiteX14" fmla="*/ 550069 w 766763"/>
                <a:gd name="connsiteY14" fmla="*/ 528638 h 592932"/>
                <a:gd name="connsiteX15" fmla="*/ 590550 w 766763"/>
                <a:gd name="connsiteY15" fmla="*/ 533400 h 592932"/>
                <a:gd name="connsiteX16" fmla="*/ 604838 w 766763"/>
                <a:gd name="connsiteY16" fmla="*/ 464344 h 592932"/>
                <a:gd name="connsiteX17" fmla="*/ 602456 w 766763"/>
                <a:gd name="connsiteY17" fmla="*/ 445294 h 592932"/>
                <a:gd name="connsiteX18" fmla="*/ 688181 w 766763"/>
                <a:gd name="connsiteY18" fmla="*/ 395288 h 592932"/>
                <a:gd name="connsiteX19" fmla="*/ 702469 w 766763"/>
                <a:gd name="connsiteY19" fmla="*/ 381000 h 592932"/>
                <a:gd name="connsiteX20" fmla="*/ 762000 w 766763"/>
                <a:gd name="connsiteY20" fmla="*/ 361950 h 592932"/>
                <a:gd name="connsiteX21" fmla="*/ 762000 w 766763"/>
                <a:gd name="connsiteY21" fmla="*/ 316707 h 592932"/>
                <a:gd name="connsiteX22" fmla="*/ 733425 w 766763"/>
                <a:gd name="connsiteY22" fmla="*/ 307182 h 592932"/>
                <a:gd name="connsiteX23" fmla="*/ 719138 w 766763"/>
                <a:gd name="connsiteY23" fmla="*/ 283369 h 592932"/>
                <a:gd name="connsiteX24" fmla="*/ 726281 w 766763"/>
                <a:gd name="connsiteY24" fmla="*/ 254794 h 592932"/>
                <a:gd name="connsiteX25" fmla="*/ 762000 w 766763"/>
                <a:gd name="connsiteY25" fmla="*/ 245269 h 592932"/>
                <a:gd name="connsiteX26" fmla="*/ 766763 w 766763"/>
                <a:gd name="connsiteY26" fmla="*/ 223838 h 592932"/>
                <a:gd name="connsiteX27" fmla="*/ 754856 w 766763"/>
                <a:gd name="connsiteY27" fmla="*/ 214313 h 592932"/>
                <a:gd name="connsiteX28" fmla="*/ 754856 w 766763"/>
                <a:gd name="connsiteY28" fmla="*/ 183357 h 592932"/>
                <a:gd name="connsiteX29" fmla="*/ 650081 w 766763"/>
                <a:gd name="connsiteY29" fmla="*/ 214313 h 592932"/>
                <a:gd name="connsiteX30" fmla="*/ 631031 w 766763"/>
                <a:gd name="connsiteY30" fmla="*/ 214313 h 592932"/>
                <a:gd name="connsiteX31" fmla="*/ 592931 w 766763"/>
                <a:gd name="connsiteY31" fmla="*/ 180975 h 592932"/>
                <a:gd name="connsiteX32" fmla="*/ 561975 w 766763"/>
                <a:gd name="connsiteY32" fmla="*/ 188119 h 592932"/>
                <a:gd name="connsiteX33" fmla="*/ 540544 w 766763"/>
                <a:gd name="connsiteY33" fmla="*/ 202407 h 592932"/>
                <a:gd name="connsiteX34" fmla="*/ 509588 w 766763"/>
                <a:gd name="connsiteY34" fmla="*/ 195263 h 592932"/>
                <a:gd name="connsiteX35" fmla="*/ 473869 w 766763"/>
                <a:gd name="connsiteY35" fmla="*/ 190500 h 592932"/>
                <a:gd name="connsiteX36" fmla="*/ 414338 w 766763"/>
                <a:gd name="connsiteY36" fmla="*/ 185738 h 592932"/>
                <a:gd name="connsiteX37" fmla="*/ 392906 w 766763"/>
                <a:gd name="connsiteY37" fmla="*/ 154782 h 592932"/>
                <a:gd name="connsiteX38" fmla="*/ 371475 w 766763"/>
                <a:gd name="connsiteY38" fmla="*/ 126207 h 592932"/>
                <a:gd name="connsiteX39" fmla="*/ 342900 w 766763"/>
                <a:gd name="connsiteY39" fmla="*/ 126207 h 592932"/>
                <a:gd name="connsiteX40" fmla="*/ 311944 w 766763"/>
                <a:gd name="connsiteY40" fmla="*/ 142875 h 592932"/>
                <a:gd name="connsiteX41" fmla="*/ 283369 w 766763"/>
                <a:gd name="connsiteY41" fmla="*/ 135732 h 592932"/>
                <a:gd name="connsiteX42" fmla="*/ 259556 w 766763"/>
                <a:gd name="connsiteY42" fmla="*/ 97632 h 592932"/>
                <a:gd name="connsiteX43" fmla="*/ 233363 w 766763"/>
                <a:gd name="connsiteY43" fmla="*/ 76200 h 592932"/>
                <a:gd name="connsiteX44" fmla="*/ 221456 w 766763"/>
                <a:gd name="connsiteY44" fmla="*/ 73819 h 592932"/>
                <a:gd name="connsiteX45" fmla="*/ 180975 w 766763"/>
                <a:gd name="connsiteY45" fmla="*/ 21432 h 592932"/>
                <a:gd name="connsiteX46" fmla="*/ 159544 w 766763"/>
                <a:gd name="connsiteY46" fmla="*/ 0 h 592932"/>
                <a:gd name="connsiteX47" fmla="*/ 107156 w 766763"/>
                <a:gd name="connsiteY47" fmla="*/ 2382 h 592932"/>
                <a:gd name="connsiteX48" fmla="*/ 83344 w 766763"/>
                <a:gd name="connsiteY48" fmla="*/ 42863 h 592932"/>
                <a:gd name="connsiteX49" fmla="*/ 85725 w 766763"/>
                <a:gd name="connsiteY49" fmla="*/ 69057 h 592932"/>
                <a:gd name="connsiteX50" fmla="*/ 104775 w 766763"/>
                <a:gd name="connsiteY50" fmla="*/ 90488 h 592932"/>
                <a:gd name="connsiteX51" fmla="*/ 116681 w 766763"/>
                <a:gd name="connsiteY51" fmla="*/ 102394 h 592932"/>
                <a:gd name="connsiteX52" fmla="*/ 145256 w 766763"/>
                <a:gd name="connsiteY52" fmla="*/ 109538 h 592932"/>
                <a:gd name="connsiteX53" fmla="*/ 161925 w 766763"/>
                <a:gd name="connsiteY53" fmla="*/ 121444 h 592932"/>
                <a:gd name="connsiteX54" fmla="*/ 159544 w 766763"/>
                <a:gd name="connsiteY54" fmla="*/ 138113 h 592932"/>
                <a:gd name="connsiteX55" fmla="*/ 104775 w 766763"/>
                <a:gd name="connsiteY55" fmla="*/ 200025 h 592932"/>
                <a:gd name="connsiteX56" fmla="*/ 107156 w 766763"/>
                <a:gd name="connsiteY56" fmla="*/ 245269 h 592932"/>
                <a:gd name="connsiteX57" fmla="*/ 140494 w 766763"/>
                <a:gd name="connsiteY57" fmla="*/ 300038 h 592932"/>
                <a:gd name="connsiteX58" fmla="*/ 166688 w 766763"/>
                <a:gd name="connsiteY58" fmla="*/ 338138 h 592932"/>
                <a:gd name="connsiteX59" fmla="*/ 133350 w 766763"/>
                <a:gd name="connsiteY59" fmla="*/ 381000 h 592932"/>
                <a:gd name="connsiteX60" fmla="*/ 80963 w 766763"/>
                <a:gd name="connsiteY60" fmla="*/ 359569 h 592932"/>
                <a:gd name="connsiteX61" fmla="*/ 50006 w 766763"/>
                <a:gd name="connsiteY61" fmla="*/ 404813 h 592932"/>
                <a:gd name="connsiteX62" fmla="*/ 19050 w 766763"/>
                <a:gd name="connsiteY62" fmla="*/ 421482 h 592932"/>
                <a:gd name="connsiteX63" fmla="*/ 4763 w 766763"/>
                <a:gd name="connsiteY63" fmla="*/ 457200 h 592932"/>
                <a:gd name="connsiteX64" fmla="*/ 0 w 766763"/>
                <a:gd name="connsiteY64" fmla="*/ 559594 h 592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66763" h="592932">
                  <a:moveTo>
                    <a:pt x="0" y="559594"/>
                  </a:moveTo>
                  <a:lnTo>
                    <a:pt x="97631" y="564357"/>
                  </a:lnTo>
                  <a:lnTo>
                    <a:pt x="111919" y="573882"/>
                  </a:lnTo>
                  <a:lnTo>
                    <a:pt x="123825" y="571500"/>
                  </a:lnTo>
                  <a:lnTo>
                    <a:pt x="154781" y="592932"/>
                  </a:lnTo>
                  <a:lnTo>
                    <a:pt x="192881" y="566738"/>
                  </a:lnTo>
                  <a:lnTo>
                    <a:pt x="192881" y="566738"/>
                  </a:lnTo>
                  <a:lnTo>
                    <a:pt x="269081" y="588169"/>
                  </a:lnTo>
                  <a:lnTo>
                    <a:pt x="290513" y="550069"/>
                  </a:lnTo>
                  <a:lnTo>
                    <a:pt x="350044" y="550069"/>
                  </a:lnTo>
                  <a:lnTo>
                    <a:pt x="385763" y="523875"/>
                  </a:lnTo>
                  <a:lnTo>
                    <a:pt x="414338" y="521494"/>
                  </a:lnTo>
                  <a:lnTo>
                    <a:pt x="464344" y="540544"/>
                  </a:lnTo>
                  <a:lnTo>
                    <a:pt x="497681" y="561975"/>
                  </a:lnTo>
                  <a:lnTo>
                    <a:pt x="550069" y="528638"/>
                  </a:lnTo>
                  <a:lnTo>
                    <a:pt x="590550" y="533400"/>
                  </a:lnTo>
                  <a:lnTo>
                    <a:pt x="604838" y="464344"/>
                  </a:lnTo>
                  <a:lnTo>
                    <a:pt x="602456" y="445294"/>
                  </a:lnTo>
                  <a:lnTo>
                    <a:pt x="688181" y="395288"/>
                  </a:lnTo>
                  <a:lnTo>
                    <a:pt x="702469" y="381000"/>
                  </a:lnTo>
                  <a:lnTo>
                    <a:pt x="762000" y="361950"/>
                  </a:lnTo>
                  <a:lnTo>
                    <a:pt x="762000" y="316707"/>
                  </a:lnTo>
                  <a:lnTo>
                    <a:pt x="733425" y="307182"/>
                  </a:lnTo>
                  <a:lnTo>
                    <a:pt x="719138" y="283369"/>
                  </a:lnTo>
                  <a:lnTo>
                    <a:pt x="726281" y="254794"/>
                  </a:lnTo>
                  <a:lnTo>
                    <a:pt x="762000" y="245269"/>
                  </a:lnTo>
                  <a:lnTo>
                    <a:pt x="766763" y="223838"/>
                  </a:lnTo>
                  <a:lnTo>
                    <a:pt x="754856" y="214313"/>
                  </a:lnTo>
                  <a:lnTo>
                    <a:pt x="754856" y="183357"/>
                  </a:lnTo>
                  <a:lnTo>
                    <a:pt x="650081" y="214313"/>
                  </a:lnTo>
                  <a:lnTo>
                    <a:pt x="631031" y="214313"/>
                  </a:lnTo>
                  <a:lnTo>
                    <a:pt x="592931" y="180975"/>
                  </a:lnTo>
                  <a:lnTo>
                    <a:pt x="561975" y="188119"/>
                  </a:lnTo>
                  <a:lnTo>
                    <a:pt x="540544" y="202407"/>
                  </a:lnTo>
                  <a:lnTo>
                    <a:pt x="509588" y="195263"/>
                  </a:lnTo>
                  <a:lnTo>
                    <a:pt x="473869" y="190500"/>
                  </a:lnTo>
                  <a:lnTo>
                    <a:pt x="414338" y="185738"/>
                  </a:lnTo>
                  <a:lnTo>
                    <a:pt x="392906" y="154782"/>
                  </a:lnTo>
                  <a:lnTo>
                    <a:pt x="371475" y="126207"/>
                  </a:lnTo>
                  <a:lnTo>
                    <a:pt x="342900" y="126207"/>
                  </a:lnTo>
                  <a:lnTo>
                    <a:pt x="311944" y="142875"/>
                  </a:lnTo>
                  <a:lnTo>
                    <a:pt x="283369" y="135732"/>
                  </a:lnTo>
                  <a:lnTo>
                    <a:pt x="259556" y="97632"/>
                  </a:lnTo>
                  <a:lnTo>
                    <a:pt x="233363" y="76200"/>
                  </a:lnTo>
                  <a:lnTo>
                    <a:pt x="221456" y="73819"/>
                  </a:lnTo>
                  <a:lnTo>
                    <a:pt x="180975" y="21432"/>
                  </a:lnTo>
                  <a:lnTo>
                    <a:pt x="159544" y="0"/>
                  </a:lnTo>
                  <a:lnTo>
                    <a:pt x="107156" y="2382"/>
                  </a:lnTo>
                  <a:lnTo>
                    <a:pt x="83344" y="42863"/>
                  </a:lnTo>
                  <a:lnTo>
                    <a:pt x="85725" y="69057"/>
                  </a:lnTo>
                  <a:lnTo>
                    <a:pt x="104775" y="90488"/>
                  </a:lnTo>
                  <a:lnTo>
                    <a:pt x="116681" y="102394"/>
                  </a:lnTo>
                  <a:lnTo>
                    <a:pt x="145256" y="109538"/>
                  </a:lnTo>
                  <a:lnTo>
                    <a:pt x="161925" y="121444"/>
                  </a:lnTo>
                  <a:lnTo>
                    <a:pt x="159544" y="138113"/>
                  </a:lnTo>
                  <a:lnTo>
                    <a:pt x="104775" y="200025"/>
                  </a:lnTo>
                  <a:lnTo>
                    <a:pt x="107156" y="245269"/>
                  </a:lnTo>
                  <a:lnTo>
                    <a:pt x="140494" y="300038"/>
                  </a:lnTo>
                  <a:lnTo>
                    <a:pt x="166688" y="338138"/>
                  </a:lnTo>
                  <a:lnTo>
                    <a:pt x="133350" y="381000"/>
                  </a:lnTo>
                  <a:lnTo>
                    <a:pt x="80963" y="359569"/>
                  </a:lnTo>
                  <a:lnTo>
                    <a:pt x="50006" y="404813"/>
                  </a:lnTo>
                  <a:lnTo>
                    <a:pt x="19050" y="421482"/>
                  </a:lnTo>
                  <a:lnTo>
                    <a:pt x="4763" y="457200"/>
                  </a:lnTo>
                  <a:lnTo>
                    <a:pt x="0" y="559594"/>
                  </a:lnTo>
                  <a:close/>
                </a:path>
              </a:pathLst>
            </a:custGeom>
            <a:solidFill>
              <a:schemeClr val="accent5">
                <a:lumMod val="40000"/>
                <a:lumOff val="60000"/>
              </a:schemeClr>
            </a:solid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18" name="Freeform 17"/>
            <p:cNvSpPr/>
            <p:nvPr/>
          </p:nvSpPr>
          <p:spPr>
            <a:xfrm rot="21298612">
              <a:off x="3947860" y="2793617"/>
              <a:ext cx="129082" cy="201644"/>
            </a:xfrm>
            <a:custGeom>
              <a:avLst/>
              <a:gdLst>
                <a:gd name="connsiteX0" fmla="*/ 2382 w 128588"/>
                <a:gd name="connsiteY0" fmla="*/ 11906 h 183356"/>
                <a:gd name="connsiteX1" fmla="*/ 16669 w 128588"/>
                <a:gd name="connsiteY1" fmla="*/ 71437 h 183356"/>
                <a:gd name="connsiteX2" fmla="*/ 16669 w 128588"/>
                <a:gd name="connsiteY2" fmla="*/ 95250 h 183356"/>
                <a:gd name="connsiteX3" fmla="*/ 4763 w 128588"/>
                <a:gd name="connsiteY3" fmla="*/ 114300 h 183356"/>
                <a:gd name="connsiteX4" fmla="*/ 0 w 128588"/>
                <a:gd name="connsiteY4" fmla="*/ 169068 h 183356"/>
                <a:gd name="connsiteX5" fmla="*/ 26194 w 128588"/>
                <a:gd name="connsiteY5" fmla="*/ 183356 h 183356"/>
                <a:gd name="connsiteX6" fmla="*/ 61913 w 128588"/>
                <a:gd name="connsiteY6" fmla="*/ 178593 h 183356"/>
                <a:gd name="connsiteX7" fmla="*/ 61913 w 128588"/>
                <a:gd name="connsiteY7" fmla="*/ 178593 h 183356"/>
                <a:gd name="connsiteX8" fmla="*/ 95250 w 128588"/>
                <a:gd name="connsiteY8" fmla="*/ 142875 h 183356"/>
                <a:gd name="connsiteX9" fmla="*/ 128588 w 128588"/>
                <a:gd name="connsiteY9" fmla="*/ 107156 h 183356"/>
                <a:gd name="connsiteX10" fmla="*/ 119063 w 128588"/>
                <a:gd name="connsiteY10" fmla="*/ 85725 h 183356"/>
                <a:gd name="connsiteX11" fmla="*/ 114300 w 128588"/>
                <a:gd name="connsiteY11" fmla="*/ 28575 h 183356"/>
                <a:gd name="connsiteX12" fmla="*/ 88107 w 128588"/>
                <a:gd name="connsiteY12" fmla="*/ 7143 h 183356"/>
                <a:gd name="connsiteX13" fmla="*/ 54769 w 128588"/>
                <a:gd name="connsiteY13" fmla="*/ 0 h 183356"/>
                <a:gd name="connsiteX14" fmla="*/ 2382 w 128588"/>
                <a:gd name="connsiteY14" fmla="*/ 11906 h 183356"/>
                <a:gd name="connsiteX0" fmla="*/ 2382 w 128588"/>
                <a:gd name="connsiteY0" fmla="*/ 11906 h 183356"/>
                <a:gd name="connsiteX1" fmla="*/ 16669 w 128588"/>
                <a:gd name="connsiteY1" fmla="*/ 71437 h 183356"/>
                <a:gd name="connsiteX2" fmla="*/ 16669 w 128588"/>
                <a:gd name="connsiteY2" fmla="*/ 95250 h 183356"/>
                <a:gd name="connsiteX3" fmla="*/ 4763 w 128588"/>
                <a:gd name="connsiteY3" fmla="*/ 114300 h 183356"/>
                <a:gd name="connsiteX4" fmla="*/ 0 w 128588"/>
                <a:gd name="connsiteY4" fmla="*/ 169068 h 183356"/>
                <a:gd name="connsiteX5" fmla="*/ 26194 w 128588"/>
                <a:gd name="connsiteY5" fmla="*/ 183356 h 183356"/>
                <a:gd name="connsiteX6" fmla="*/ 61913 w 128588"/>
                <a:gd name="connsiteY6" fmla="*/ 178593 h 183356"/>
                <a:gd name="connsiteX7" fmla="*/ 61913 w 128588"/>
                <a:gd name="connsiteY7" fmla="*/ 178593 h 183356"/>
                <a:gd name="connsiteX8" fmla="*/ 90488 w 128588"/>
                <a:gd name="connsiteY8" fmla="*/ 171450 h 183356"/>
                <a:gd name="connsiteX9" fmla="*/ 128588 w 128588"/>
                <a:gd name="connsiteY9" fmla="*/ 107156 h 183356"/>
                <a:gd name="connsiteX10" fmla="*/ 119063 w 128588"/>
                <a:gd name="connsiteY10" fmla="*/ 85725 h 183356"/>
                <a:gd name="connsiteX11" fmla="*/ 114300 w 128588"/>
                <a:gd name="connsiteY11" fmla="*/ 28575 h 183356"/>
                <a:gd name="connsiteX12" fmla="*/ 88107 w 128588"/>
                <a:gd name="connsiteY12" fmla="*/ 7143 h 183356"/>
                <a:gd name="connsiteX13" fmla="*/ 54769 w 128588"/>
                <a:gd name="connsiteY13" fmla="*/ 0 h 183356"/>
                <a:gd name="connsiteX14" fmla="*/ 2382 w 128588"/>
                <a:gd name="connsiteY14" fmla="*/ 11906 h 183356"/>
                <a:gd name="connsiteX0" fmla="*/ 2382 w 128588"/>
                <a:gd name="connsiteY0" fmla="*/ 11906 h 188118"/>
                <a:gd name="connsiteX1" fmla="*/ 16669 w 128588"/>
                <a:gd name="connsiteY1" fmla="*/ 71437 h 188118"/>
                <a:gd name="connsiteX2" fmla="*/ 16669 w 128588"/>
                <a:gd name="connsiteY2" fmla="*/ 95250 h 188118"/>
                <a:gd name="connsiteX3" fmla="*/ 4763 w 128588"/>
                <a:gd name="connsiteY3" fmla="*/ 114300 h 188118"/>
                <a:gd name="connsiteX4" fmla="*/ 0 w 128588"/>
                <a:gd name="connsiteY4" fmla="*/ 169068 h 188118"/>
                <a:gd name="connsiteX5" fmla="*/ 26194 w 128588"/>
                <a:gd name="connsiteY5" fmla="*/ 183356 h 188118"/>
                <a:gd name="connsiteX6" fmla="*/ 61913 w 128588"/>
                <a:gd name="connsiteY6" fmla="*/ 178593 h 188118"/>
                <a:gd name="connsiteX7" fmla="*/ 66675 w 128588"/>
                <a:gd name="connsiteY7" fmla="*/ 188118 h 188118"/>
                <a:gd name="connsiteX8" fmla="*/ 90488 w 128588"/>
                <a:gd name="connsiteY8" fmla="*/ 171450 h 188118"/>
                <a:gd name="connsiteX9" fmla="*/ 128588 w 128588"/>
                <a:gd name="connsiteY9" fmla="*/ 107156 h 188118"/>
                <a:gd name="connsiteX10" fmla="*/ 119063 w 128588"/>
                <a:gd name="connsiteY10" fmla="*/ 85725 h 188118"/>
                <a:gd name="connsiteX11" fmla="*/ 114300 w 128588"/>
                <a:gd name="connsiteY11" fmla="*/ 28575 h 188118"/>
                <a:gd name="connsiteX12" fmla="*/ 88107 w 128588"/>
                <a:gd name="connsiteY12" fmla="*/ 7143 h 188118"/>
                <a:gd name="connsiteX13" fmla="*/ 54769 w 128588"/>
                <a:gd name="connsiteY13" fmla="*/ 0 h 188118"/>
                <a:gd name="connsiteX14" fmla="*/ 2382 w 128588"/>
                <a:gd name="connsiteY14" fmla="*/ 11906 h 188118"/>
                <a:gd name="connsiteX0" fmla="*/ 2382 w 128588"/>
                <a:gd name="connsiteY0" fmla="*/ 11906 h 190940"/>
                <a:gd name="connsiteX1" fmla="*/ 16669 w 128588"/>
                <a:gd name="connsiteY1" fmla="*/ 71437 h 190940"/>
                <a:gd name="connsiteX2" fmla="*/ 16669 w 128588"/>
                <a:gd name="connsiteY2" fmla="*/ 95250 h 190940"/>
                <a:gd name="connsiteX3" fmla="*/ 4763 w 128588"/>
                <a:gd name="connsiteY3" fmla="*/ 114300 h 190940"/>
                <a:gd name="connsiteX4" fmla="*/ 0 w 128588"/>
                <a:gd name="connsiteY4" fmla="*/ 169068 h 190940"/>
                <a:gd name="connsiteX5" fmla="*/ 26194 w 128588"/>
                <a:gd name="connsiteY5" fmla="*/ 183356 h 190940"/>
                <a:gd name="connsiteX6" fmla="*/ 57151 w 128588"/>
                <a:gd name="connsiteY6" fmla="*/ 190499 h 190940"/>
                <a:gd name="connsiteX7" fmla="*/ 66675 w 128588"/>
                <a:gd name="connsiteY7" fmla="*/ 188118 h 190940"/>
                <a:gd name="connsiteX8" fmla="*/ 90488 w 128588"/>
                <a:gd name="connsiteY8" fmla="*/ 171450 h 190940"/>
                <a:gd name="connsiteX9" fmla="*/ 128588 w 128588"/>
                <a:gd name="connsiteY9" fmla="*/ 107156 h 190940"/>
                <a:gd name="connsiteX10" fmla="*/ 119063 w 128588"/>
                <a:gd name="connsiteY10" fmla="*/ 85725 h 190940"/>
                <a:gd name="connsiteX11" fmla="*/ 114300 w 128588"/>
                <a:gd name="connsiteY11" fmla="*/ 28575 h 190940"/>
                <a:gd name="connsiteX12" fmla="*/ 88107 w 128588"/>
                <a:gd name="connsiteY12" fmla="*/ 7143 h 190940"/>
                <a:gd name="connsiteX13" fmla="*/ 54769 w 128588"/>
                <a:gd name="connsiteY13" fmla="*/ 0 h 190940"/>
                <a:gd name="connsiteX14" fmla="*/ 2382 w 128588"/>
                <a:gd name="connsiteY14" fmla="*/ 11906 h 19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588" h="190940">
                  <a:moveTo>
                    <a:pt x="2382" y="11906"/>
                  </a:moveTo>
                  <a:lnTo>
                    <a:pt x="16669" y="71437"/>
                  </a:lnTo>
                  <a:lnTo>
                    <a:pt x="16669" y="95250"/>
                  </a:lnTo>
                  <a:lnTo>
                    <a:pt x="4763" y="114300"/>
                  </a:lnTo>
                  <a:lnTo>
                    <a:pt x="0" y="169068"/>
                  </a:lnTo>
                  <a:lnTo>
                    <a:pt x="26194" y="183356"/>
                  </a:lnTo>
                  <a:cubicBezTo>
                    <a:pt x="38100" y="181768"/>
                    <a:pt x="50404" y="189705"/>
                    <a:pt x="57151" y="190499"/>
                  </a:cubicBezTo>
                  <a:cubicBezTo>
                    <a:pt x="63898" y="191293"/>
                    <a:pt x="61119" y="191293"/>
                    <a:pt x="66675" y="188118"/>
                  </a:cubicBezTo>
                  <a:cubicBezTo>
                    <a:pt x="72231" y="184943"/>
                    <a:pt x="80169" y="184944"/>
                    <a:pt x="90488" y="171450"/>
                  </a:cubicBezTo>
                  <a:cubicBezTo>
                    <a:pt x="100807" y="157956"/>
                    <a:pt x="115888" y="128587"/>
                    <a:pt x="128588" y="107156"/>
                  </a:cubicBezTo>
                  <a:lnTo>
                    <a:pt x="119063" y="85725"/>
                  </a:lnTo>
                  <a:lnTo>
                    <a:pt x="114300" y="28575"/>
                  </a:lnTo>
                  <a:lnTo>
                    <a:pt x="88107" y="7143"/>
                  </a:lnTo>
                  <a:lnTo>
                    <a:pt x="54769" y="0"/>
                  </a:lnTo>
                  <a:lnTo>
                    <a:pt x="2382" y="11906"/>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19" name="Freeform 18"/>
            <p:cNvSpPr/>
            <p:nvPr/>
          </p:nvSpPr>
          <p:spPr>
            <a:xfrm rot="21298612">
              <a:off x="3588191" y="2908690"/>
              <a:ext cx="766527" cy="1151053"/>
            </a:xfrm>
            <a:custGeom>
              <a:avLst/>
              <a:gdLst>
                <a:gd name="connsiteX0" fmla="*/ 319088 w 764382"/>
                <a:gd name="connsiteY0" fmla="*/ 392907 h 1088232"/>
                <a:gd name="connsiteX1" fmla="*/ 350044 w 764382"/>
                <a:gd name="connsiteY1" fmla="*/ 466725 h 1088232"/>
                <a:gd name="connsiteX2" fmla="*/ 340519 w 764382"/>
                <a:gd name="connsiteY2" fmla="*/ 509588 h 1088232"/>
                <a:gd name="connsiteX3" fmla="*/ 333375 w 764382"/>
                <a:gd name="connsiteY3" fmla="*/ 559594 h 1088232"/>
                <a:gd name="connsiteX4" fmla="*/ 247650 w 764382"/>
                <a:gd name="connsiteY4" fmla="*/ 633413 h 1088232"/>
                <a:gd name="connsiteX5" fmla="*/ 238125 w 764382"/>
                <a:gd name="connsiteY5" fmla="*/ 690563 h 1088232"/>
                <a:gd name="connsiteX6" fmla="*/ 135732 w 764382"/>
                <a:gd name="connsiteY6" fmla="*/ 711994 h 1088232"/>
                <a:gd name="connsiteX7" fmla="*/ 116682 w 764382"/>
                <a:gd name="connsiteY7" fmla="*/ 738188 h 1088232"/>
                <a:gd name="connsiteX8" fmla="*/ 30957 w 764382"/>
                <a:gd name="connsiteY8" fmla="*/ 707232 h 1088232"/>
                <a:gd name="connsiteX9" fmla="*/ 16669 w 764382"/>
                <a:gd name="connsiteY9" fmla="*/ 707232 h 1088232"/>
                <a:gd name="connsiteX10" fmla="*/ 7144 w 764382"/>
                <a:gd name="connsiteY10" fmla="*/ 735807 h 1088232"/>
                <a:gd name="connsiteX11" fmla="*/ 0 w 764382"/>
                <a:gd name="connsiteY11" fmla="*/ 752475 h 1088232"/>
                <a:gd name="connsiteX12" fmla="*/ 26194 w 764382"/>
                <a:gd name="connsiteY12" fmla="*/ 781050 h 1088232"/>
                <a:gd name="connsiteX13" fmla="*/ 45244 w 764382"/>
                <a:gd name="connsiteY13" fmla="*/ 778669 h 1088232"/>
                <a:gd name="connsiteX14" fmla="*/ 52388 w 764382"/>
                <a:gd name="connsiteY14" fmla="*/ 819150 h 1088232"/>
                <a:gd name="connsiteX15" fmla="*/ 66675 w 764382"/>
                <a:gd name="connsiteY15" fmla="*/ 840582 h 1088232"/>
                <a:gd name="connsiteX16" fmla="*/ 92869 w 764382"/>
                <a:gd name="connsiteY16" fmla="*/ 831057 h 1088232"/>
                <a:gd name="connsiteX17" fmla="*/ 109538 w 764382"/>
                <a:gd name="connsiteY17" fmla="*/ 819150 h 1088232"/>
                <a:gd name="connsiteX18" fmla="*/ 133350 w 764382"/>
                <a:gd name="connsiteY18" fmla="*/ 819150 h 1088232"/>
                <a:gd name="connsiteX19" fmla="*/ 142875 w 764382"/>
                <a:gd name="connsiteY19" fmla="*/ 912019 h 1088232"/>
                <a:gd name="connsiteX20" fmla="*/ 171450 w 764382"/>
                <a:gd name="connsiteY20" fmla="*/ 933450 h 1088232"/>
                <a:gd name="connsiteX21" fmla="*/ 180975 w 764382"/>
                <a:gd name="connsiteY21" fmla="*/ 966788 h 1088232"/>
                <a:gd name="connsiteX22" fmla="*/ 221457 w 764382"/>
                <a:gd name="connsiteY22" fmla="*/ 992982 h 1088232"/>
                <a:gd name="connsiteX23" fmla="*/ 254794 w 764382"/>
                <a:gd name="connsiteY23" fmla="*/ 1035844 h 1088232"/>
                <a:gd name="connsiteX24" fmla="*/ 280988 w 764382"/>
                <a:gd name="connsiteY24" fmla="*/ 1054894 h 1088232"/>
                <a:gd name="connsiteX25" fmla="*/ 307182 w 764382"/>
                <a:gd name="connsiteY25" fmla="*/ 1081088 h 1088232"/>
                <a:gd name="connsiteX26" fmla="*/ 319088 w 764382"/>
                <a:gd name="connsiteY26" fmla="*/ 1088232 h 1088232"/>
                <a:gd name="connsiteX27" fmla="*/ 347663 w 764382"/>
                <a:gd name="connsiteY27" fmla="*/ 1076325 h 1088232"/>
                <a:gd name="connsiteX28" fmla="*/ 357188 w 764382"/>
                <a:gd name="connsiteY28" fmla="*/ 1050132 h 1088232"/>
                <a:gd name="connsiteX29" fmla="*/ 392907 w 764382"/>
                <a:gd name="connsiteY29" fmla="*/ 1033463 h 1088232"/>
                <a:gd name="connsiteX30" fmla="*/ 414338 w 764382"/>
                <a:gd name="connsiteY30" fmla="*/ 1033463 h 1088232"/>
                <a:gd name="connsiteX31" fmla="*/ 438150 w 764382"/>
                <a:gd name="connsiteY31" fmla="*/ 1045369 h 1088232"/>
                <a:gd name="connsiteX32" fmla="*/ 461963 w 764382"/>
                <a:gd name="connsiteY32" fmla="*/ 1073944 h 1088232"/>
                <a:gd name="connsiteX33" fmla="*/ 461963 w 764382"/>
                <a:gd name="connsiteY33" fmla="*/ 1073944 h 1088232"/>
                <a:gd name="connsiteX34" fmla="*/ 511969 w 764382"/>
                <a:gd name="connsiteY34" fmla="*/ 1033463 h 1088232"/>
                <a:gd name="connsiteX35" fmla="*/ 547688 w 764382"/>
                <a:gd name="connsiteY35" fmla="*/ 1033463 h 1088232"/>
                <a:gd name="connsiteX36" fmla="*/ 585788 w 764382"/>
                <a:gd name="connsiteY36" fmla="*/ 1012032 h 1088232"/>
                <a:gd name="connsiteX37" fmla="*/ 583407 w 764382"/>
                <a:gd name="connsiteY37" fmla="*/ 964407 h 1088232"/>
                <a:gd name="connsiteX38" fmla="*/ 578644 w 764382"/>
                <a:gd name="connsiteY38" fmla="*/ 947738 h 1088232"/>
                <a:gd name="connsiteX39" fmla="*/ 583407 w 764382"/>
                <a:gd name="connsiteY39" fmla="*/ 902494 h 1088232"/>
                <a:gd name="connsiteX40" fmla="*/ 581025 w 764382"/>
                <a:gd name="connsiteY40" fmla="*/ 842963 h 1088232"/>
                <a:gd name="connsiteX41" fmla="*/ 573882 w 764382"/>
                <a:gd name="connsiteY41" fmla="*/ 812007 h 1088232"/>
                <a:gd name="connsiteX42" fmla="*/ 542925 w 764382"/>
                <a:gd name="connsiteY42" fmla="*/ 778669 h 1088232"/>
                <a:gd name="connsiteX43" fmla="*/ 526257 w 764382"/>
                <a:gd name="connsiteY43" fmla="*/ 762000 h 1088232"/>
                <a:gd name="connsiteX44" fmla="*/ 531019 w 764382"/>
                <a:gd name="connsiteY44" fmla="*/ 742950 h 1088232"/>
                <a:gd name="connsiteX45" fmla="*/ 526257 w 764382"/>
                <a:gd name="connsiteY45" fmla="*/ 726282 h 1088232"/>
                <a:gd name="connsiteX46" fmla="*/ 519113 w 764382"/>
                <a:gd name="connsiteY46" fmla="*/ 700088 h 1088232"/>
                <a:gd name="connsiteX47" fmla="*/ 531019 w 764382"/>
                <a:gd name="connsiteY47" fmla="*/ 673894 h 1088232"/>
                <a:gd name="connsiteX48" fmla="*/ 542925 w 764382"/>
                <a:gd name="connsiteY48" fmla="*/ 659607 h 1088232"/>
                <a:gd name="connsiteX49" fmla="*/ 528638 w 764382"/>
                <a:gd name="connsiteY49" fmla="*/ 640557 h 1088232"/>
                <a:gd name="connsiteX50" fmla="*/ 519113 w 764382"/>
                <a:gd name="connsiteY50" fmla="*/ 616744 h 1088232"/>
                <a:gd name="connsiteX51" fmla="*/ 502444 w 764382"/>
                <a:gd name="connsiteY51" fmla="*/ 611982 h 1088232"/>
                <a:gd name="connsiteX52" fmla="*/ 488157 w 764382"/>
                <a:gd name="connsiteY52" fmla="*/ 604838 h 1088232"/>
                <a:gd name="connsiteX53" fmla="*/ 481013 w 764382"/>
                <a:gd name="connsiteY53" fmla="*/ 607219 h 1088232"/>
                <a:gd name="connsiteX54" fmla="*/ 464344 w 764382"/>
                <a:gd name="connsiteY54" fmla="*/ 557213 h 1088232"/>
                <a:gd name="connsiteX55" fmla="*/ 450057 w 764382"/>
                <a:gd name="connsiteY55" fmla="*/ 540544 h 1088232"/>
                <a:gd name="connsiteX56" fmla="*/ 445294 w 764382"/>
                <a:gd name="connsiteY56" fmla="*/ 492919 h 1088232"/>
                <a:gd name="connsiteX57" fmla="*/ 464344 w 764382"/>
                <a:gd name="connsiteY57" fmla="*/ 473869 h 1088232"/>
                <a:gd name="connsiteX58" fmla="*/ 476250 w 764382"/>
                <a:gd name="connsiteY58" fmla="*/ 438150 h 1088232"/>
                <a:gd name="connsiteX59" fmla="*/ 528638 w 764382"/>
                <a:gd name="connsiteY59" fmla="*/ 428625 h 1088232"/>
                <a:gd name="connsiteX60" fmla="*/ 557213 w 764382"/>
                <a:gd name="connsiteY60" fmla="*/ 426244 h 1088232"/>
                <a:gd name="connsiteX61" fmla="*/ 559594 w 764382"/>
                <a:gd name="connsiteY61" fmla="*/ 395288 h 1088232"/>
                <a:gd name="connsiteX62" fmla="*/ 540544 w 764382"/>
                <a:gd name="connsiteY62" fmla="*/ 364332 h 1088232"/>
                <a:gd name="connsiteX63" fmla="*/ 521494 w 764382"/>
                <a:gd name="connsiteY63" fmla="*/ 364332 h 1088232"/>
                <a:gd name="connsiteX64" fmla="*/ 497682 w 764382"/>
                <a:gd name="connsiteY64" fmla="*/ 335757 h 1088232"/>
                <a:gd name="connsiteX65" fmla="*/ 461963 w 764382"/>
                <a:gd name="connsiteY65" fmla="*/ 323850 h 1088232"/>
                <a:gd name="connsiteX66" fmla="*/ 433388 w 764382"/>
                <a:gd name="connsiteY66" fmla="*/ 319088 h 1088232"/>
                <a:gd name="connsiteX67" fmla="*/ 445294 w 764382"/>
                <a:gd name="connsiteY67" fmla="*/ 278607 h 1088232"/>
                <a:gd name="connsiteX68" fmla="*/ 442913 w 764382"/>
                <a:gd name="connsiteY68" fmla="*/ 250032 h 1088232"/>
                <a:gd name="connsiteX69" fmla="*/ 457200 w 764382"/>
                <a:gd name="connsiteY69" fmla="*/ 202407 h 1088232"/>
                <a:gd name="connsiteX70" fmla="*/ 500063 w 764382"/>
                <a:gd name="connsiteY70" fmla="*/ 200025 h 1088232"/>
                <a:gd name="connsiteX71" fmla="*/ 531019 w 764382"/>
                <a:gd name="connsiteY71" fmla="*/ 216694 h 1088232"/>
                <a:gd name="connsiteX72" fmla="*/ 578644 w 764382"/>
                <a:gd name="connsiteY72" fmla="*/ 233363 h 1088232"/>
                <a:gd name="connsiteX73" fmla="*/ 604838 w 764382"/>
                <a:gd name="connsiteY73" fmla="*/ 252413 h 1088232"/>
                <a:gd name="connsiteX74" fmla="*/ 614363 w 764382"/>
                <a:gd name="connsiteY74" fmla="*/ 271463 h 1088232"/>
                <a:gd name="connsiteX75" fmla="*/ 626269 w 764382"/>
                <a:gd name="connsiteY75" fmla="*/ 280988 h 1088232"/>
                <a:gd name="connsiteX76" fmla="*/ 650082 w 764382"/>
                <a:gd name="connsiteY76" fmla="*/ 271463 h 1088232"/>
                <a:gd name="connsiteX77" fmla="*/ 671513 w 764382"/>
                <a:gd name="connsiteY77" fmla="*/ 259557 h 1088232"/>
                <a:gd name="connsiteX78" fmla="*/ 683419 w 764382"/>
                <a:gd name="connsiteY78" fmla="*/ 230982 h 1088232"/>
                <a:gd name="connsiteX79" fmla="*/ 697707 w 764382"/>
                <a:gd name="connsiteY79" fmla="*/ 204788 h 1088232"/>
                <a:gd name="connsiteX80" fmla="*/ 716757 w 764382"/>
                <a:gd name="connsiteY80" fmla="*/ 166688 h 1088232"/>
                <a:gd name="connsiteX81" fmla="*/ 719138 w 764382"/>
                <a:gd name="connsiteY81" fmla="*/ 150019 h 1088232"/>
                <a:gd name="connsiteX82" fmla="*/ 750094 w 764382"/>
                <a:gd name="connsiteY82" fmla="*/ 140494 h 1088232"/>
                <a:gd name="connsiteX83" fmla="*/ 764382 w 764382"/>
                <a:gd name="connsiteY83" fmla="*/ 119063 h 1088232"/>
                <a:gd name="connsiteX84" fmla="*/ 759619 w 764382"/>
                <a:gd name="connsiteY84" fmla="*/ 102394 h 1088232"/>
                <a:gd name="connsiteX85" fmla="*/ 728663 w 764382"/>
                <a:gd name="connsiteY85" fmla="*/ 100013 h 1088232"/>
                <a:gd name="connsiteX86" fmla="*/ 704850 w 764382"/>
                <a:gd name="connsiteY86" fmla="*/ 107157 h 1088232"/>
                <a:gd name="connsiteX87" fmla="*/ 695325 w 764382"/>
                <a:gd name="connsiteY87" fmla="*/ 126207 h 1088232"/>
                <a:gd name="connsiteX88" fmla="*/ 661988 w 764382"/>
                <a:gd name="connsiteY88" fmla="*/ 121444 h 1088232"/>
                <a:gd name="connsiteX89" fmla="*/ 633413 w 764382"/>
                <a:gd name="connsiteY89" fmla="*/ 114300 h 1088232"/>
                <a:gd name="connsiteX90" fmla="*/ 602457 w 764382"/>
                <a:gd name="connsiteY90" fmla="*/ 102394 h 1088232"/>
                <a:gd name="connsiteX91" fmla="*/ 581025 w 764382"/>
                <a:gd name="connsiteY91" fmla="*/ 83344 h 1088232"/>
                <a:gd name="connsiteX92" fmla="*/ 569119 w 764382"/>
                <a:gd name="connsiteY92" fmla="*/ 50007 h 1088232"/>
                <a:gd name="connsiteX93" fmla="*/ 559594 w 764382"/>
                <a:gd name="connsiteY93" fmla="*/ 16669 h 1088232"/>
                <a:gd name="connsiteX94" fmla="*/ 550069 w 764382"/>
                <a:gd name="connsiteY94" fmla="*/ 0 h 1088232"/>
                <a:gd name="connsiteX95" fmla="*/ 535782 w 764382"/>
                <a:gd name="connsiteY95" fmla="*/ 9525 h 1088232"/>
                <a:gd name="connsiteX96" fmla="*/ 481013 w 764382"/>
                <a:gd name="connsiteY96" fmla="*/ 83344 h 1088232"/>
                <a:gd name="connsiteX97" fmla="*/ 433388 w 764382"/>
                <a:gd name="connsiteY97" fmla="*/ 80963 h 1088232"/>
                <a:gd name="connsiteX98" fmla="*/ 414338 w 764382"/>
                <a:gd name="connsiteY98" fmla="*/ 71438 h 1088232"/>
                <a:gd name="connsiteX99" fmla="*/ 404813 w 764382"/>
                <a:gd name="connsiteY99" fmla="*/ 61913 h 1088232"/>
                <a:gd name="connsiteX100" fmla="*/ 411957 w 764382"/>
                <a:gd name="connsiteY100" fmla="*/ 107157 h 1088232"/>
                <a:gd name="connsiteX101" fmla="*/ 421482 w 764382"/>
                <a:gd name="connsiteY101" fmla="*/ 130969 h 1088232"/>
                <a:gd name="connsiteX102" fmla="*/ 421482 w 764382"/>
                <a:gd name="connsiteY102" fmla="*/ 159544 h 1088232"/>
                <a:gd name="connsiteX103" fmla="*/ 411957 w 764382"/>
                <a:gd name="connsiteY103" fmla="*/ 180975 h 1088232"/>
                <a:gd name="connsiteX104" fmla="*/ 383382 w 764382"/>
                <a:gd name="connsiteY104" fmla="*/ 192882 h 1088232"/>
                <a:gd name="connsiteX105" fmla="*/ 388144 w 764382"/>
                <a:gd name="connsiteY105" fmla="*/ 221457 h 1088232"/>
                <a:gd name="connsiteX106" fmla="*/ 385763 w 764382"/>
                <a:gd name="connsiteY106" fmla="*/ 238125 h 1088232"/>
                <a:gd name="connsiteX107" fmla="*/ 376238 w 764382"/>
                <a:gd name="connsiteY107" fmla="*/ 254794 h 1088232"/>
                <a:gd name="connsiteX108" fmla="*/ 350044 w 764382"/>
                <a:gd name="connsiteY108" fmla="*/ 264319 h 1088232"/>
                <a:gd name="connsiteX109" fmla="*/ 347663 w 764382"/>
                <a:gd name="connsiteY109" fmla="*/ 292894 h 1088232"/>
                <a:gd name="connsiteX110" fmla="*/ 347663 w 764382"/>
                <a:gd name="connsiteY110" fmla="*/ 292894 h 1088232"/>
                <a:gd name="connsiteX111" fmla="*/ 385763 w 764382"/>
                <a:gd name="connsiteY111" fmla="*/ 314325 h 1088232"/>
                <a:gd name="connsiteX112" fmla="*/ 385763 w 764382"/>
                <a:gd name="connsiteY112" fmla="*/ 359569 h 1088232"/>
                <a:gd name="connsiteX113" fmla="*/ 319088 w 764382"/>
                <a:gd name="connsiteY113" fmla="*/ 392907 h 108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764382" h="1088232">
                  <a:moveTo>
                    <a:pt x="319088" y="392907"/>
                  </a:moveTo>
                  <a:lnTo>
                    <a:pt x="350044" y="466725"/>
                  </a:lnTo>
                  <a:lnTo>
                    <a:pt x="340519" y="509588"/>
                  </a:lnTo>
                  <a:lnTo>
                    <a:pt x="333375" y="559594"/>
                  </a:lnTo>
                  <a:lnTo>
                    <a:pt x="247650" y="633413"/>
                  </a:lnTo>
                  <a:lnTo>
                    <a:pt x="238125" y="690563"/>
                  </a:lnTo>
                  <a:lnTo>
                    <a:pt x="135732" y="711994"/>
                  </a:lnTo>
                  <a:lnTo>
                    <a:pt x="116682" y="738188"/>
                  </a:lnTo>
                  <a:lnTo>
                    <a:pt x="30957" y="707232"/>
                  </a:lnTo>
                  <a:lnTo>
                    <a:pt x="16669" y="707232"/>
                  </a:lnTo>
                  <a:lnTo>
                    <a:pt x="7144" y="735807"/>
                  </a:lnTo>
                  <a:lnTo>
                    <a:pt x="0" y="752475"/>
                  </a:lnTo>
                  <a:lnTo>
                    <a:pt x="26194" y="781050"/>
                  </a:lnTo>
                  <a:lnTo>
                    <a:pt x="45244" y="778669"/>
                  </a:lnTo>
                  <a:lnTo>
                    <a:pt x="52388" y="819150"/>
                  </a:lnTo>
                  <a:lnTo>
                    <a:pt x="66675" y="840582"/>
                  </a:lnTo>
                  <a:lnTo>
                    <a:pt x="92869" y="831057"/>
                  </a:lnTo>
                  <a:lnTo>
                    <a:pt x="109538" y="819150"/>
                  </a:lnTo>
                  <a:lnTo>
                    <a:pt x="133350" y="819150"/>
                  </a:lnTo>
                  <a:lnTo>
                    <a:pt x="142875" y="912019"/>
                  </a:lnTo>
                  <a:lnTo>
                    <a:pt x="171450" y="933450"/>
                  </a:lnTo>
                  <a:lnTo>
                    <a:pt x="180975" y="966788"/>
                  </a:lnTo>
                  <a:lnTo>
                    <a:pt x="221457" y="992982"/>
                  </a:lnTo>
                  <a:lnTo>
                    <a:pt x="254794" y="1035844"/>
                  </a:lnTo>
                  <a:lnTo>
                    <a:pt x="280988" y="1054894"/>
                  </a:lnTo>
                  <a:lnTo>
                    <a:pt x="307182" y="1081088"/>
                  </a:lnTo>
                  <a:lnTo>
                    <a:pt x="319088" y="1088232"/>
                  </a:lnTo>
                  <a:lnTo>
                    <a:pt x="347663" y="1076325"/>
                  </a:lnTo>
                  <a:lnTo>
                    <a:pt x="357188" y="1050132"/>
                  </a:lnTo>
                  <a:lnTo>
                    <a:pt x="392907" y="1033463"/>
                  </a:lnTo>
                  <a:lnTo>
                    <a:pt x="414338" y="1033463"/>
                  </a:lnTo>
                  <a:lnTo>
                    <a:pt x="438150" y="1045369"/>
                  </a:lnTo>
                  <a:lnTo>
                    <a:pt x="461963" y="1073944"/>
                  </a:lnTo>
                  <a:lnTo>
                    <a:pt x="461963" y="1073944"/>
                  </a:lnTo>
                  <a:lnTo>
                    <a:pt x="511969" y="1033463"/>
                  </a:lnTo>
                  <a:lnTo>
                    <a:pt x="547688" y="1033463"/>
                  </a:lnTo>
                  <a:lnTo>
                    <a:pt x="585788" y="1012032"/>
                  </a:lnTo>
                  <a:lnTo>
                    <a:pt x="583407" y="964407"/>
                  </a:lnTo>
                  <a:lnTo>
                    <a:pt x="578644" y="947738"/>
                  </a:lnTo>
                  <a:lnTo>
                    <a:pt x="583407" y="902494"/>
                  </a:lnTo>
                  <a:lnTo>
                    <a:pt x="581025" y="842963"/>
                  </a:lnTo>
                  <a:lnTo>
                    <a:pt x="573882" y="812007"/>
                  </a:lnTo>
                  <a:lnTo>
                    <a:pt x="542925" y="778669"/>
                  </a:lnTo>
                  <a:lnTo>
                    <a:pt x="526257" y="762000"/>
                  </a:lnTo>
                  <a:lnTo>
                    <a:pt x="531019" y="742950"/>
                  </a:lnTo>
                  <a:lnTo>
                    <a:pt x="526257" y="726282"/>
                  </a:lnTo>
                  <a:lnTo>
                    <a:pt x="519113" y="700088"/>
                  </a:lnTo>
                  <a:lnTo>
                    <a:pt x="531019" y="673894"/>
                  </a:lnTo>
                  <a:lnTo>
                    <a:pt x="542925" y="659607"/>
                  </a:lnTo>
                  <a:lnTo>
                    <a:pt x="528638" y="640557"/>
                  </a:lnTo>
                  <a:lnTo>
                    <a:pt x="519113" y="616744"/>
                  </a:lnTo>
                  <a:lnTo>
                    <a:pt x="502444" y="611982"/>
                  </a:lnTo>
                  <a:lnTo>
                    <a:pt x="488157" y="604838"/>
                  </a:lnTo>
                  <a:lnTo>
                    <a:pt x="481013" y="607219"/>
                  </a:lnTo>
                  <a:lnTo>
                    <a:pt x="464344" y="557213"/>
                  </a:lnTo>
                  <a:lnTo>
                    <a:pt x="450057" y="540544"/>
                  </a:lnTo>
                  <a:lnTo>
                    <a:pt x="445294" y="492919"/>
                  </a:lnTo>
                  <a:lnTo>
                    <a:pt x="464344" y="473869"/>
                  </a:lnTo>
                  <a:lnTo>
                    <a:pt x="476250" y="438150"/>
                  </a:lnTo>
                  <a:lnTo>
                    <a:pt x="528638" y="428625"/>
                  </a:lnTo>
                  <a:lnTo>
                    <a:pt x="557213" y="426244"/>
                  </a:lnTo>
                  <a:lnTo>
                    <a:pt x="559594" y="395288"/>
                  </a:lnTo>
                  <a:lnTo>
                    <a:pt x="540544" y="364332"/>
                  </a:lnTo>
                  <a:lnTo>
                    <a:pt x="521494" y="364332"/>
                  </a:lnTo>
                  <a:lnTo>
                    <a:pt x="497682" y="335757"/>
                  </a:lnTo>
                  <a:lnTo>
                    <a:pt x="461963" y="323850"/>
                  </a:lnTo>
                  <a:lnTo>
                    <a:pt x="433388" y="319088"/>
                  </a:lnTo>
                  <a:lnTo>
                    <a:pt x="445294" y="278607"/>
                  </a:lnTo>
                  <a:lnTo>
                    <a:pt x="442913" y="250032"/>
                  </a:lnTo>
                  <a:lnTo>
                    <a:pt x="457200" y="202407"/>
                  </a:lnTo>
                  <a:lnTo>
                    <a:pt x="500063" y="200025"/>
                  </a:lnTo>
                  <a:lnTo>
                    <a:pt x="531019" y="216694"/>
                  </a:lnTo>
                  <a:lnTo>
                    <a:pt x="578644" y="233363"/>
                  </a:lnTo>
                  <a:lnTo>
                    <a:pt x="604838" y="252413"/>
                  </a:lnTo>
                  <a:lnTo>
                    <a:pt x="614363" y="271463"/>
                  </a:lnTo>
                  <a:lnTo>
                    <a:pt x="626269" y="280988"/>
                  </a:lnTo>
                  <a:lnTo>
                    <a:pt x="650082" y="271463"/>
                  </a:lnTo>
                  <a:lnTo>
                    <a:pt x="671513" y="259557"/>
                  </a:lnTo>
                  <a:lnTo>
                    <a:pt x="683419" y="230982"/>
                  </a:lnTo>
                  <a:lnTo>
                    <a:pt x="697707" y="204788"/>
                  </a:lnTo>
                  <a:lnTo>
                    <a:pt x="716757" y="166688"/>
                  </a:lnTo>
                  <a:lnTo>
                    <a:pt x="719138" y="150019"/>
                  </a:lnTo>
                  <a:lnTo>
                    <a:pt x="750094" y="140494"/>
                  </a:lnTo>
                  <a:lnTo>
                    <a:pt x="764382" y="119063"/>
                  </a:lnTo>
                  <a:lnTo>
                    <a:pt x="759619" y="102394"/>
                  </a:lnTo>
                  <a:lnTo>
                    <a:pt x="728663" y="100013"/>
                  </a:lnTo>
                  <a:lnTo>
                    <a:pt x="704850" y="107157"/>
                  </a:lnTo>
                  <a:lnTo>
                    <a:pt x="695325" y="126207"/>
                  </a:lnTo>
                  <a:lnTo>
                    <a:pt x="661988" y="121444"/>
                  </a:lnTo>
                  <a:lnTo>
                    <a:pt x="633413" y="114300"/>
                  </a:lnTo>
                  <a:lnTo>
                    <a:pt x="602457" y="102394"/>
                  </a:lnTo>
                  <a:lnTo>
                    <a:pt x="581025" y="83344"/>
                  </a:lnTo>
                  <a:lnTo>
                    <a:pt x="569119" y="50007"/>
                  </a:lnTo>
                  <a:lnTo>
                    <a:pt x="559594" y="16669"/>
                  </a:lnTo>
                  <a:lnTo>
                    <a:pt x="550069" y="0"/>
                  </a:lnTo>
                  <a:lnTo>
                    <a:pt x="535782" y="9525"/>
                  </a:lnTo>
                  <a:lnTo>
                    <a:pt x="481013" y="83344"/>
                  </a:lnTo>
                  <a:lnTo>
                    <a:pt x="433388" y="80963"/>
                  </a:lnTo>
                  <a:lnTo>
                    <a:pt x="414338" y="71438"/>
                  </a:lnTo>
                  <a:lnTo>
                    <a:pt x="404813" y="61913"/>
                  </a:lnTo>
                  <a:lnTo>
                    <a:pt x="411957" y="107157"/>
                  </a:lnTo>
                  <a:lnTo>
                    <a:pt x="421482" y="130969"/>
                  </a:lnTo>
                  <a:lnTo>
                    <a:pt x="421482" y="159544"/>
                  </a:lnTo>
                  <a:lnTo>
                    <a:pt x="411957" y="180975"/>
                  </a:lnTo>
                  <a:lnTo>
                    <a:pt x="383382" y="192882"/>
                  </a:lnTo>
                  <a:lnTo>
                    <a:pt x="388144" y="221457"/>
                  </a:lnTo>
                  <a:lnTo>
                    <a:pt x="385763" y="238125"/>
                  </a:lnTo>
                  <a:lnTo>
                    <a:pt x="376238" y="254794"/>
                  </a:lnTo>
                  <a:lnTo>
                    <a:pt x="350044" y="264319"/>
                  </a:lnTo>
                  <a:lnTo>
                    <a:pt x="347663" y="292894"/>
                  </a:lnTo>
                  <a:lnTo>
                    <a:pt x="347663" y="292894"/>
                  </a:lnTo>
                  <a:lnTo>
                    <a:pt x="385763" y="314325"/>
                  </a:lnTo>
                  <a:lnTo>
                    <a:pt x="385763" y="359569"/>
                  </a:lnTo>
                  <a:lnTo>
                    <a:pt x="319088" y="392907"/>
                  </a:lnTo>
                  <a:close/>
                </a:path>
              </a:pathLst>
            </a:custGeom>
            <a:solidFill>
              <a:schemeClr val="accent1">
                <a:lumMod val="40000"/>
                <a:lumOff val="60000"/>
              </a:schemeClr>
            </a:solid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26" name="Freeform 25"/>
            <p:cNvSpPr/>
            <p:nvPr/>
          </p:nvSpPr>
          <p:spPr>
            <a:xfrm rot="21298612">
              <a:off x="1957161" y="4456157"/>
              <a:ext cx="1568114" cy="1386303"/>
            </a:xfrm>
            <a:custGeom>
              <a:avLst/>
              <a:gdLst>
                <a:gd name="connsiteX0" fmla="*/ 688181 w 1562100"/>
                <a:gd name="connsiteY0" fmla="*/ 1000125 h 1126331"/>
                <a:gd name="connsiteX1" fmla="*/ 688181 w 1562100"/>
                <a:gd name="connsiteY1" fmla="*/ 914400 h 1126331"/>
                <a:gd name="connsiteX2" fmla="*/ 692944 w 1562100"/>
                <a:gd name="connsiteY2" fmla="*/ 871537 h 1126331"/>
                <a:gd name="connsiteX3" fmla="*/ 692944 w 1562100"/>
                <a:gd name="connsiteY3" fmla="*/ 826294 h 1126331"/>
                <a:gd name="connsiteX4" fmla="*/ 676275 w 1562100"/>
                <a:gd name="connsiteY4" fmla="*/ 802481 h 1126331"/>
                <a:gd name="connsiteX5" fmla="*/ 690563 w 1562100"/>
                <a:gd name="connsiteY5" fmla="*/ 750094 h 1126331"/>
                <a:gd name="connsiteX6" fmla="*/ 685800 w 1562100"/>
                <a:gd name="connsiteY6" fmla="*/ 723900 h 1126331"/>
                <a:gd name="connsiteX7" fmla="*/ 697706 w 1562100"/>
                <a:gd name="connsiteY7" fmla="*/ 678656 h 1126331"/>
                <a:gd name="connsiteX8" fmla="*/ 714375 w 1562100"/>
                <a:gd name="connsiteY8" fmla="*/ 654844 h 1126331"/>
                <a:gd name="connsiteX9" fmla="*/ 721519 w 1562100"/>
                <a:gd name="connsiteY9" fmla="*/ 621506 h 1126331"/>
                <a:gd name="connsiteX10" fmla="*/ 735806 w 1562100"/>
                <a:gd name="connsiteY10" fmla="*/ 602456 h 1126331"/>
                <a:gd name="connsiteX11" fmla="*/ 792956 w 1562100"/>
                <a:gd name="connsiteY11" fmla="*/ 592931 h 1126331"/>
                <a:gd name="connsiteX12" fmla="*/ 838200 w 1562100"/>
                <a:gd name="connsiteY12" fmla="*/ 576262 h 1126331"/>
                <a:gd name="connsiteX13" fmla="*/ 876300 w 1562100"/>
                <a:gd name="connsiteY13" fmla="*/ 535781 h 1126331"/>
                <a:gd name="connsiteX14" fmla="*/ 923925 w 1562100"/>
                <a:gd name="connsiteY14" fmla="*/ 521494 h 1126331"/>
                <a:gd name="connsiteX15" fmla="*/ 995363 w 1562100"/>
                <a:gd name="connsiteY15" fmla="*/ 516731 h 1126331"/>
                <a:gd name="connsiteX16" fmla="*/ 1040606 w 1562100"/>
                <a:gd name="connsiteY16" fmla="*/ 507206 h 1126331"/>
                <a:gd name="connsiteX17" fmla="*/ 1119188 w 1562100"/>
                <a:gd name="connsiteY17" fmla="*/ 400050 h 1126331"/>
                <a:gd name="connsiteX18" fmla="*/ 1126331 w 1562100"/>
                <a:gd name="connsiteY18" fmla="*/ 366712 h 1126331"/>
                <a:gd name="connsiteX19" fmla="*/ 1152525 w 1562100"/>
                <a:gd name="connsiteY19" fmla="*/ 338137 h 1126331"/>
                <a:gd name="connsiteX20" fmla="*/ 1197769 w 1562100"/>
                <a:gd name="connsiteY20" fmla="*/ 328612 h 1126331"/>
                <a:gd name="connsiteX21" fmla="*/ 1290638 w 1562100"/>
                <a:gd name="connsiteY21" fmla="*/ 252412 h 1126331"/>
                <a:gd name="connsiteX22" fmla="*/ 1314450 w 1562100"/>
                <a:gd name="connsiteY22" fmla="*/ 250031 h 1126331"/>
                <a:gd name="connsiteX23" fmla="*/ 1409700 w 1562100"/>
                <a:gd name="connsiteY23" fmla="*/ 169069 h 1126331"/>
                <a:gd name="connsiteX24" fmla="*/ 1414463 w 1562100"/>
                <a:gd name="connsiteY24" fmla="*/ 150019 h 1126331"/>
                <a:gd name="connsiteX25" fmla="*/ 1507331 w 1562100"/>
                <a:gd name="connsiteY25" fmla="*/ 95250 h 1126331"/>
                <a:gd name="connsiteX26" fmla="*/ 1543050 w 1562100"/>
                <a:gd name="connsiteY26" fmla="*/ 50006 h 1126331"/>
                <a:gd name="connsiteX27" fmla="*/ 1562100 w 1562100"/>
                <a:gd name="connsiteY27" fmla="*/ 11906 h 1126331"/>
                <a:gd name="connsiteX28" fmla="*/ 1512094 w 1562100"/>
                <a:gd name="connsiteY28" fmla="*/ 30956 h 1126331"/>
                <a:gd name="connsiteX29" fmla="*/ 1478756 w 1562100"/>
                <a:gd name="connsiteY29" fmla="*/ 30956 h 1126331"/>
                <a:gd name="connsiteX30" fmla="*/ 1452563 w 1562100"/>
                <a:gd name="connsiteY30" fmla="*/ 69056 h 1126331"/>
                <a:gd name="connsiteX31" fmla="*/ 1421606 w 1562100"/>
                <a:gd name="connsiteY31" fmla="*/ 66675 h 1126331"/>
                <a:gd name="connsiteX32" fmla="*/ 1366838 w 1562100"/>
                <a:gd name="connsiteY32" fmla="*/ 35719 h 1126331"/>
                <a:gd name="connsiteX33" fmla="*/ 1323975 w 1562100"/>
                <a:gd name="connsiteY33" fmla="*/ 23812 h 1126331"/>
                <a:gd name="connsiteX34" fmla="*/ 1238250 w 1562100"/>
                <a:gd name="connsiteY34" fmla="*/ 59531 h 1126331"/>
                <a:gd name="connsiteX35" fmla="*/ 1223963 w 1562100"/>
                <a:gd name="connsiteY35" fmla="*/ 97631 h 1126331"/>
                <a:gd name="connsiteX36" fmla="*/ 1195388 w 1562100"/>
                <a:gd name="connsiteY36" fmla="*/ 154781 h 1126331"/>
                <a:gd name="connsiteX37" fmla="*/ 1109663 w 1562100"/>
                <a:gd name="connsiteY37" fmla="*/ 116681 h 1126331"/>
                <a:gd name="connsiteX38" fmla="*/ 1097756 w 1562100"/>
                <a:gd name="connsiteY38" fmla="*/ 159544 h 1126331"/>
                <a:gd name="connsiteX39" fmla="*/ 1083469 w 1562100"/>
                <a:gd name="connsiteY39" fmla="*/ 192881 h 1126331"/>
                <a:gd name="connsiteX40" fmla="*/ 959644 w 1562100"/>
                <a:gd name="connsiteY40" fmla="*/ 223837 h 1126331"/>
                <a:gd name="connsiteX41" fmla="*/ 945356 w 1562100"/>
                <a:gd name="connsiteY41" fmla="*/ 219075 h 1126331"/>
                <a:gd name="connsiteX42" fmla="*/ 926306 w 1562100"/>
                <a:gd name="connsiteY42" fmla="*/ 240506 h 1126331"/>
                <a:gd name="connsiteX43" fmla="*/ 890588 w 1562100"/>
                <a:gd name="connsiteY43" fmla="*/ 247650 h 1126331"/>
                <a:gd name="connsiteX44" fmla="*/ 854869 w 1562100"/>
                <a:gd name="connsiteY44" fmla="*/ 197644 h 1126331"/>
                <a:gd name="connsiteX45" fmla="*/ 835819 w 1562100"/>
                <a:gd name="connsiteY45" fmla="*/ 185737 h 1126331"/>
                <a:gd name="connsiteX46" fmla="*/ 826294 w 1562100"/>
                <a:gd name="connsiteY46" fmla="*/ 140494 h 1126331"/>
                <a:gd name="connsiteX47" fmla="*/ 792956 w 1562100"/>
                <a:gd name="connsiteY47" fmla="*/ 123825 h 1126331"/>
                <a:gd name="connsiteX48" fmla="*/ 759619 w 1562100"/>
                <a:gd name="connsiteY48" fmla="*/ 116681 h 1126331"/>
                <a:gd name="connsiteX49" fmla="*/ 740569 w 1562100"/>
                <a:gd name="connsiteY49" fmla="*/ 111919 h 1126331"/>
                <a:gd name="connsiteX50" fmla="*/ 728663 w 1562100"/>
                <a:gd name="connsiteY50" fmla="*/ 102394 h 1126331"/>
                <a:gd name="connsiteX51" fmla="*/ 735806 w 1562100"/>
                <a:gd name="connsiteY51" fmla="*/ 76200 h 1126331"/>
                <a:gd name="connsiteX52" fmla="*/ 742950 w 1562100"/>
                <a:gd name="connsiteY52" fmla="*/ 52387 h 1126331"/>
                <a:gd name="connsiteX53" fmla="*/ 700088 w 1562100"/>
                <a:gd name="connsiteY53" fmla="*/ 2381 h 1126331"/>
                <a:gd name="connsiteX54" fmla="*/ 328613 w 1562100"/>
                <a:gd name="connsiteY54" fmla="*/ 0 h 1126331"/>
                <a:gd name="connsiteX55" fmla="*/ 292894 w 1562100"/>
                <a:gd name="connsiteY55" fmla="*/ 102394 h 1126331"/>
                <a:gd name="connsiteX56" fmla="*/ 264319 w 1562100"/>
                <a:gd name="connsiteY56" fmla="*/ 109537 h 1126331"/>
                <a:gd name="connsiteX57" fmla="*/ 261938 w 1562100"/>
                <a:gd name="connsiteY57" fmla="*/ 123825 h 1126331"/>
                <a:gd name="connsiteX58" fmla="*/ 261938 w 1562100"/>
                <a:gd name="connsiteY58" fmla="*/ 157162 h 1126331"/>
                <a:gd name="connsiteX59" fmla="*/ 228600 w 1562100"/>
                <a:gd name="connsiteY59" fmla="*/ 200025 h 1126331"/>
                <a:gd name="connsiteX60" fmla="*/ 271463 w 1562100"/>
                <a:gd name="connsiteY60" fmla="*/ 216694 h 1126331"/>
                <a:gd name="connsiteX61" fmla="*/ 278606 w 1562100"/>
                <a:gd name="connsiteY61" fmla="*/ 235744 h 1126331"/>
                <a:gd name="connsiteX62" fmla="*/ 257175 w 1562100"/>
                <a:gd name="connsiteY62" fmla="*/ 271462 h 1126331"/>
                <a:gd name="connsiteX63" fmla="*/ 221456 w 1562100"/>
                <a:gd name="connsiteY63" fmla="*/ 280987 h 1126331"/>
                <a:gd name="connsiteX64" fmla="*/ 221456 w 1562100"/>
                <a:gd name="connsiteY64" fmla="*/ 321469 h 1126331"/>
                <a:gd name="connsiteX65" fmla="*/ 254794 w 1562100"/>
                <a:gd name="connsiteY65" fmla="*/ 359569 h 1126331"/>
                <a:gd name="connsiteX66" fmla="*/ 226219 w 1562100"/>
                <a:gd name="connsiteY66" fmla="*/ 423862 h 1126331"/>
                <a:gd name="connsiteX67" fmla="*/ 180975 w 1562100"/>
                <a:gd name="connsiteY67" fmla="*/ 452437 h 1126331"/>
                <a:gd name="connsiteX68" fmla="*/ 183356 w 1562100"/>
                <a:gd name="connsiteY68" fmla="*/ 469106 h 1126331"/>
                <a:gd name="connsiteX69" fmla="*/ 204788 w 1562100"/>
                <a:gd name="connsiteY69" fmla="*/ 478631 h 1126331"/>
                <a:gd name="connsiteX70" fmla="*/ 219075 w 1562100"/>
                <a:gd name="connsiteY70" fmla="*/ 488156 h 1126331"/>
                <a:gd name="connsiteX71" fmla="*/ 223838 w 1562100"/>
                <a:gd name="connsiteY71" fmla="*/ 507206 h 1126331"/>
                <a:gd name="connsiteX72" fmla="*/ 195263 w 1562100"/>
                <a:gd name="connsiteY72" fmla="*/ 533400 h 1126331"/>
                <a:gd name="connsiteX73" fmla="*/ 123825 w 1562100"/>
                <a:gd name="connsiteY73" fmla="*/ 578644 h 1126331"/>
                <a:gd name="connsiteX74" fmla="*/ 123825 w 1562100"/>
                <a:gd name="connsiteY74" fmla="*/ 614362 h 1126331"/>
                <a:gd name="connsiteX75" fmla="*/ 135731 w 1562100"/>
                <a:gd name="connsiteY75" fmla="*/ 645319 h 1126331"/>
                <a:gd name="connsiteX76" fmla="*/ 123825 w 1562100"/>
                <a:gd name="connsiteY76" fmla="*/ 685800 h 1126331"/>
                <a:gd name="connsiteX77" fmla="*/ 76200 w 1562100"/>
                <a:gd name="connsiteY77" fmla="*/ 681037 h 1126331"/>
                <a:gd name="connsiteX78" fmla="*/ 52388 w 1562100"/>
                <a:gd name="connsiteY78" fmla="*/ 626269 h 1126331"/>
                <a:gd name="connsiteX79" fmla="*/ 33338 w 1562100"/>
                <a:gd name="connsiteY79" fmla="*/ 619125 h 1126331"/>
                <a:gd name="connsiteX80" fmla="*/ 23813 w 1562100"/>
                <a:gd name="connsiteY80" fmla="*/ 657225 h 1126331"/>
                <a:gd name="connsiteX81" fmla="*/ 21431 w 1562100"/>
                <a:gd name="connsiteY81" fmla="*/ 666750 h 1126331"/>
                <a:gd name="connsiteX82" fmla="*/ 7144 w 1562100"/>
                <a:gd name="connsiteY82" fmla="*/ 683419 h 1126331"/>
                <a:gd name="connsiteX83" fmla="*/ 0 w 1562100"/>
                <a:gd name="connsiteY83" fmla="*/ 740569 h 1126331"/>
                <a:gd name="connsiteX84" fmla="*/ 23813 w 1562100"/>
                <a:gd name="connsiteY84" fmla="*/ 769144 h 1126331"/>
                <a:gd name="connsiteX85" fmla="*/ 16669 w 1562100"/>
                <a:gd name="connsiteY85" fmla="*/ 809625 h 1126331"/>
                <a:gd name="connsiteX86" fmla="*/ 35719 w 1562100"/>
                <a:gd name="connsiteY86" fmla="*/ 814387 h 1126331"/>
                <a:gd name="connsiteX87" fmla="*/ 69056 w 1562100"/>
                <a:gd name="connsiteY87" fmla="*/ 814387 h 1126331"/>
                <a:gd name="connsiteX88" fmla="*/ 85725 w 1562100"/>
                <a:gd name="connsiteY88" fmla="*/ 804862 h 1126331"/>
                <a:gd name="connsiteX89" fmla="*/ 135731 w 1562100"/>
                <a:gd name="connsiteY89" fmla="*/ 862012 h 1126331"/>
                <a:gd name="connsiteX90" fmla="*/ 123825 w 1562100"/>
                <a:gd name="connsiteY90" fmla="*/ 881062 h 1126331"/>
                <a:gd name="connsiteX91" fmla="*/ 133350 w 1562100"/>
                <a:gd name="connsiteY91" fmla="*/ 909637 h 1126331"/>
                <a:gd name="connsiteX92" fmla="*/ 164306 w 1562100"/>
                <a:gd name="connsiteY92" fmla="*/ 928687 h 1126331"/>
                <a:gd name="connsiteX93" fmla="*/ 190500 w 1562100"/>
                <a:gd name="connsiteY93" fmla="*/ 938212 h 1126331"/>
                <a:gd name="connsiteX94" fmla="*/ 216694 w 1562100"/>
                <a:gd name="connsiteY94" fmla="*/ 945356 h 1126331"/>
                <a:gd name="connsiteX95" fmla="*/ 228600 w 1562100"/>
                <a:gd name="connsiteY95" fmla="*/ 947737 h 1126331"/>
                <a:gd name="connsiteX96" fmla="*/ 240506 w 1562100"/>
                <a:gd name="connsiteY96" fmla="*/ 909637 h 1126331"/>
                <a:gd name="connsiteX97" fmla="*/ 269081 w 1562100"/>
                <a:gd name="connsiteY97" fmla="*/ 914400 h 1126331"/>
                <a:gd name="connsiteX98" fmla="*/ 288131 w 1562100"/>
                <a:gd name="connsiteY98" fmla="*/ 902494 h 1126331"/>
                <a:gd name="connsiteX99" fmla="*/ 307181 w 1562100"/>
                <a:gd name="connsiteY99" fmla="*/ 952500 h 1126331"/>
                <a:gd name="connsiteX100" fmla="*/ 330994 w 1562100"/>
                <a:gd name="connsiteY100" fmla="*/ 966787 h 1126331"/>
                <a:gd name="connsiteX101" fmla="*/ 340519 w 1562100"/>
                <a:gd name="connsiteY101" fmla="*/ 995362 h 1126331"/>
                <a:gd name="connsiteX102" fmla="*/ 357188 w 1562100"/>
                <a:gd name="connsiteY102" fmla="*/ 1004887 h 1126331"/>
                <a:gd name="connsiteX103" fmla="*/ 364331 w 1562100"/>
                <a:gd name="connsiteY103" fmla="*/ 1035844 h 1126331"/>
                <a:gd name="connsiteX104" fmla="*/ 335756 w 1562100"/>
                <a:gd name="connsiteY104" fmla="*/ 1062037 h 1126331"/>
                <a:gd name="connsiteX105" fmla="*/ 309563 w 1562100"/>
                <a:gd name="connsiteY105" fmla="*/ 1078706 h 1126331"/>
                <a:gd name="connsiteX106" fmla="*/ 297656 w 1562100"/>
                <a:gd name="connsiteY106" fmla="*/ 1102519 h 1126331"/>
                <a:gd name="connsiteX107" fmla="*/ 302419 w 1562100"/>
                <a:gd name="connsiteY107" fmla="*/ 1126331 h 1126331"/>
                <a:gd name="connsiteX108" fmla="*/ 342900 w 1562100"/>
                <a:gd name="connsiteY108" fmla="*/ 1126331 h 1126331"/>
                <a:gd name="connsiteX109" fmla="*/ 390525 w 1562100"/>
                <a:gd name="connsiteY109" fmla="*/ 1121569 h 1126331"/>
                <a:gd name="connsiteX110" fmla="*/ 428625 w 1562100"/>
                <a:gd name="connsiteY110" fmla="*/ 1112044 h 1126331"/>
                <a:gd name="connsiteX111" fmla="*/ 454819 w 1562100"/>
                <a:gd name="connsiteY111" fmla="*/ 1119187 h 1126331"/>
                <a:gd name="connsiteX112" fmla="*/ 473869 w 1562100"/>
                <a:gd name="connsiteY112" fmla="*/ 1097756 h 1126331"/>
                <a:gd name="connsiteX113" fmla="*/ 492919 w 1562100"/>
                <a:gd name="connsiteY113" fmla="*/ 1097756 h 1126331"/>
                <a:gd name="connsiteX114" fmla="*/ 507206 w 1562100"/>
                <a:gd name="connsiteY114" fmla="*/ 1066800 h 1126331"/>
                <a:gd name="connsiteX115" fmla="*/ 557213 w 1562100"/>
                <a:gd name="connsiteY115" fmla="*/ 1052512 h 1126331"/>
                <a:gd name="connsiteX116" fmla="*/ 583406 w 1562100"/>
                <a:gd name="connsiteY116" fmla="*/ 1033462 h 1126331"/>
                <a:gd name="connsiteX117" fmla="*/ 590550 w 1562100"/>
                <a:gd name="connsiteY117" fmla="*/ 995362 h 1126331"/>
                <a:gd name="connsiteX118" fmla="*/ 607219 w 1562100"/>
                <a:gd name="connsiteY118" fmla="*/ 969169 h 1126331"/>
                <a:gd name="connsiteX119" fmla="*/ 688181 w 1562100"/>
                <a:gd name="connsiteY119" fmla="*/ 1000125 h 1126331"/>
                <a:gd name="connsiteX0" fmla="*/ 688181 w 1562100"/>
                <a:gd name="connsiteY0" fmla="*/ 1000125 h 1126331"/>
                <a:gd name="connsiteX1" fmla="*/ 688181 w 1562100"/>
                <a:gd name="connsiteY1" fmla="*/ 914400 h 1126331"/>
                <a:gd name="connsiteX2" fmla="*/ 692944 w 1562100"/>
                <a:gd name="connsiteY2" fmla="*/ 871537 h 1126331"/>
                <a:gd name="connsiteX3" fmla="*/ 692944 w 1562100"/>
                <a:gd name="connsiteY3" fmla="*/ 826294 h 1126331"/>
                <a:gd name="connsiteX4" fmla="*/ 676275 w 1562100"/>
                <a:gd name="connsiteY4" fmla="*/ 802481 h 1126331"/>
                <a:gd name="connsiteX5" fmla="*/ 690563 w 1562100"/>
                <a:gd name="connsiteY5" fmla="*/ 750094 h 1126331"/>
                <a:gd name="connsiteX6" fmla="*/ 685800 w 1562100"/>
                <a:gd name="connsiteY6" fmla="*/ 723900 h 1126331"/>
                <a:gd name="connsiteX7" fmla="*/ 697706 w 1562100"/>
                <a:gd name="connsiteY7" fmla="*/ 678656 h 1126331"/>
                <a:gd name="connsiteX8" fmla="*/ 714375 w 1562100"/>
                <a:gd name="connsiteY8" fmla="*/ 654844 h 1126331"/>
                <a:gd name="connsiteX9" fmla="*/ 721519 w 1562100"/>
                <a:gd name="connsiteY9" fmla="*/ 621506 h 1126331"/>
                <a:gd name="connsiteX10" fmla="*/ 735806 w 1562100"/>
                <a:gd name="connsiteY10" fmla="*/ 602456 h 1126331"/>
                <a:gd name="connsiteX11" fmla="*/ 792956 w 1562100"/>
                <a:gd name="connsiteY11" fmla="*/ 592931 h 1126331"/>
                <a:gd name="connsiteX12" fmla="*/ 838200 w 1562100"/>
                <a:gd name="connsiteY12" fmla="*/ 576262 h 1126331"/>
                <a:gd name="connsiteX13" fmla="*/ 876300 w 1562100"/>
                <a:gd name="connsiteY13" fmla="*/ 535781 h 1126331"/>
                <a:gd name="connsiteX14" fmla="*/ 923925 w 1562100"/>
                <a:gd name="connsiteY14" fmla="*/ 521494 h 1126331"/>
                <a:gd name="connsiteX15" fmla="*/ 995363 w 1562100"/>
                <a:gd name="connsiteY15" fmla="*/ 516731 h 1126331"/>
                <a:gd name="connsiteX16" fmla="*/ 1040606 w 1562100"/>
                <a:gd name="connsiteY16" fmla="*/ 507206 h 1126331"/>
                <a:gd name="connsiteX17" fmla="*/ 1119188 w 1562100"/>
                <a:gd name="connsiteY17" fmla="*/ 400050 h 1126331"/>
                <a:gd name="connsiteX18" fmla="*/ 1126331 w 1562100"/>
                <a:gd name="connsiteY18" fmla="*/ 366712 h 1126331"/>
                <a:gd name="connsiteX19" fmla="*/ 1152525 w 1562100"/>
                <a:gd name="connsiteY19" fmla="*/ 338137 h 1126331"/>
                <a:gd name="connsiteX20" fmla="*/ 1197769 w 1562100"/>
                <a:gd name="connsiteY20" fmla="*/ 328612 h 1126331"/>
                <a:gd name="connsiteX21" fmla="*/ 1290638 w 1562100"/>
                <a:gd name="connsiteY21" fmla="*/ 252412 h 1126331"/>
                <a:gd name="connsiteX22" fmla="*/ 1314450 w 1562100"/>
                <a:gd name="connsiteY22" fmla="*/ 250031 h 1126331"/>
                <a:gd name="connsiteX23" fmla="*/ 1409700 w 1562100"/>
                <a:gd name="connsiteY23" fmla="*/ 169069 h 1126331"/>
                <a:gd name="connsiteX24" fmla="*/ 1414463 w 1562100"/>
                <a:gd name="connsiteY24" fmla="*/ 150019 h 1126331"/>
                <a:gd name="connsiteX25" fmla="*/ 1507331 w 1562100"/>
                <a:gd name="connsiteY25" fmla="*/ 95250 h 1126331"/>
                <a:gd name="connsiteX26" fmla="*/ 1543050 w 1562100"/>
                <a:gd name="connsiteY26" fmla="*/ 50006 h 1126331"/>
                <a:gd name="connsiteX27" fmla="*/ 1562100 w 1562100"/>
                <a:gd name="connsiteY27" fmla="*/ 11906 h 1126331"/>
                <a:gd name="connsiteX28" fmla="*/ 1512094 w 1562100"/>
                <a:gd name="connsiteY28" fmla="*/ 30956 h 1126331"/>
                <a:gd name="connsiteX29" fmla="*/ 1478756 w 1562100"/>
                <a:gd name="connsiteY29" fmla="*/ 30956 h 1126331"/>
                <a:gd name="connsiteX30" fmla="*/ 1452563 w 1562100"/>
                <a:gd name="connsiteY30" fmla="*/ 69056 h 1126331"/>
                <a:gd name="connsiteX31" fmla="*/ 1421606 w 1562100"/>
                <a:gd name="connsiteY31" fmla="*/ 66675 h 1126331"/>
                <a:gd name="connsiteX32" fmla="*/ 1366838 w 1562100"/>
                <a:gd name="connsiteY32" fmla="*/ 35719 h 1126331"/>
                <a:gd name="connsiteX33" fmla="*/ 1323975 w 1562100"/>
                <a:gd name="connsiteY33" fmla="*/ 23812 h 1126331"/>
                <a:gd name="connsiteX34" fmla="*/ 1238250 w 1562100"/>
                <a:gd name="connsiteY34" fmla="*/ 59531 h 1126331"/>
                <a:gd name="connsiteX35" fmla="*/ 1223963 w 1562100"/>
                <a:gd name="connsiteY35" fmla="*/ 97631 h 1126331"/>
                <a:gd name="connsiteX36" fmla="*/ 1195388 w 1562100"/>
                <a:gd name="connsiteY36" fmla="*/ 154781 h 1126331"/>
                <a:gd name="connsiteX37" fmla="*/ 1109663 w 1562100"/>
                <a:gd name="connsiteY37" fmla="*/ 116681 h 1126331"/>
                <a:gd name="connsiteX38" fmla="*/ 1097756 w 1562100"/>
                <a:gd name="connsiteY38" fmla="*/ 159544 h 1126331"/>
                <a:gd name="connsiteX39" fmla="*/ 1083469 w 1562100"/>
                <a:gd name="connsiteY39" fmla="*/ 192881 h 1126331"/>
                <a:gd name="connsiteX40" fmla="*/ 959644 w 1562100"/>
                <a:gd name="connsiteY40" fmla="*/ 223837 h 1126331"/>
                <a:gd name="connsiteX41" fmla="*/ 945356 w 1562100"/>
                <a:gd name="connsiteY41" fmla="*/ 219075 h 1126331"/>
                <a:gd name="connsiteX42" fmla="*/ 926306 w 1562100"/>
                <a:gd name="connsiteY42" fmla="*/ 240506 h 1126331"/>
                <a:gd name="connsiteX43" fmla="*/ 890588 w 1562100"/>
                <a:gd name="connsiteY43" fmla="*/ 247650 h 1126331"/>
                <a:gd name="connsiteX44" fmla="*/ 854869 w 1562100"/>
                <a:gd name="connsiteY44" fmla="*/ 197644 h 1126331"/>
                <a:gd name="connsiteX45" fmla="*/ 835819 w 1562100"/>
                <a:gd name="connsiteY45" fmla="*/ 185737 h 1126331"/>
                <a:gd name="connsiteX46" fmla="*/ 826294 w 1562100"/>
                <a:gd name="connsiteY46" fmla="*/ 140494 h 1126331"/>
                <a:gd name="connsiteX47" fmla="*/ 792956 w 1562100"/>
                <a:gd name="connsiteY47" fmla="*/ 123825 h 1126331"/>
                <a:gd name="connsiteX48" fmla="*/ 759619 w 1562100"/>
                <a:gd name="connsiteY48" fmla="*/ 116681 h 1126331"/>
                <a:gd name="connsiteX49" fmla="*/ 740569 w 1562100"/>
                <a:gd name="connsiteY49" fmla="*/ 111919 h 1126331"/>
                <a:gd name="connsiteX50" fmla="*/ 728663 w 1562100"/>
                <a:gd name="connsiteY50" fmla="*/ 102394 h 1126331"/>
                <a:gd name="connsiteX51" fmla="*/ 735806 w 1562100"/>
                <a:gd name="connsiteY51" fmla="*/ 76200 h 1126331"/>
                <a:gd name="connsiteX52" fmla="*/ 742950 w 1562100"/>
                <a:gd name="connsiteY52" fmla="*/ 52387 h 1126331"/>
                <a:gd name="connsiteX53" fmla="*/ 700088 w 1562100"/>
                <a:gd name="connsiteY53" fmla="*/ 2381 h 1126331"/>
                <a:gd name="connsiteX54" fmla="*/ 378619 w 1562100"/>
                <a:gd name="connsiteY54" fmla="*/ 2381 h 1126331"/>
                <a:gd name="connsiteX55" fmla="*/ 328613 w 1562100"/>
                <a:gd name="connsiteY55" fmla="*/ 0 h 1126331"/>
                <a:gd name="connsiteX56" fmla="*/ 292894 w 1562100"/>
                <a:gd name="connsiteY56" fmla="*/ 102394 h 1126331"/>
                <a:gd name="connsiteX57" fmla="*/ 264319 w 1562100"/>
                <a:gd name="connsiteY57" fmla="*/ 109537 h 1126331"/>
                <a:gd name="connsiteX58" fmla="*/ 261938 w 1562100"/>
                <a:gd name="connsiteY58" fmla="*/ 123825 h 1126331"/>
                <a:gd name="connsiteX59" fmla="*/ 261938 w 1562100"/>
                <a:gd name="connsiteY59" fmla="*/ 157162 h 1126331"/>
                <a:gd name="connsiteX60" fmla="*/ 228600 w 1562100"/>
                <a:gd name="connsiteY60" fmla="*/ 200025 h 1126331"/>
                <a:gd name="connsiteX61" fmla="*/ 271463 w 1562100"/>
                <a:gd name="connsiteY61" fmla="*/ 216694 h 1126331"/>
                <a:gd name="connsiteX62" fmla="*/ 278606 w 1562100"/>
                <a:gd name="connsiteY62" fmla="*/ 235744 h 1126331"/>
                <a:gd name="connsiteX63" fmla="*/ 257175 w 1562100"/>
                <a:gd name="connsiteY63" fmla="*/ 271462 h 1126331"/>
                <a:gd name="connsiteX64" fmla="*/ 221456 w 1562100"/>
                <a:gd name="connsiteY64" fmla="*/ 280987 h 1126331"/>
                <a:gd name="connsiteX65" fmla="*/ 221456 w 1562100"/>
                <a:gd name="connsiteY65" fmla="*/ 321469 h 1126331"/>
                <a:gd name="connsiteX66" fmla="*/ 254794 w 1562100"/>
                <a:gd name="connsiteY66" fmla="*/ 359569 h 1126331"/>
                <a:gd name="connsiteX67" fmla="*/ 226219 w 1562100"/>
                <a:gd name="connsiteY67" fmla="*/ 423862 h 1126331"/>
                <a:gd name="connsiteX68" fmla="*/ 180975 w 1562100"/>
                <a:gd name="connsiteY68" fmla="*/ 452437 h 1126331"/>
                <a:gd name="connsiteX69" fmla="*/ 183356 w 1562100"/>
                <a:gd name="connsiteY69" fmla="*/ 469106 h 1126331"/>
                <a:gd name="connsiteX70" fmla="*/ 204788 w 1562100"/>
                <a:gd name="connsiteY70" fmla="*/ 478631 h 1126331"/>
                <a:gd name="connsiteX71" fmla="*/ 219075 w 1562100"/>
                <a:gd name="connsiteY71" fmla="*/ 488156 h 1126331"/>
                <a:gd name="connsiteX72" fmla="*/ 223838 w 1562100"/>
                <a:gd name="connsiteY72" fmla="*/ 507206 h 1126331"/>
                <a:gd name="connsiteX73" fmla="*/ 195263 w 1562100"/>
                <a:gd name="connsiteY73" fmla="*/ 533400 h 1126331"/>
                <a:gd name="connsiteX74" fmla="*/ 123825 w 1562100"/>
                <a:gd name="connsiteY74" fmla="*/ 578644 h 1126331"/>
                <a:gd name="connsiteX75" fmla="*/ 123825 w 1562100"/>
                <a:gd name="connsiteY75" fmla="*/ 614362 h 1126331"/>
                <a:gd name="connsiteX76" fmla="*/ 135731 w 1562100"/>
                <a:gd name="connsiteY76" fmla="*/ 645319 h 1126331"/>
                <a:gd name="connsiteX77" fmla="*/ 123825 w 1562100"/>
                <a:gd name="connsiteY77" fmla="*/ 685800 h 1126331"/>
                <a:gd name="connsiteX78" fmla="*/ 76200 w 1562100"/>
                <a:gd name="connsiteY78" fmla="*/ 681037 h 1126331"/>
                <a:gd name="connsiteX79" fmla="*/ 52388 w 1562100"/>
                <a:gd name="connsiteY79" fmla="*/ 626269 h 1126331"/>
                <a:gd name="connsiteX80" fmla="*/ 33338 w 1562100"/>
                <a:gd name="connsiteY80" fmla="*/ 619125 h 1126331"/>
                <a:gd name="connsiteX81" fmla="*/ 23813 w 1562100"/>
                <a:gd name="connsiteY81" fmla="*/ 657225 h 1126331"/>
                <a:gd name="connsiteX82" fmla="*/ 21431 w 1562100"/>
                <a:gd name="connsiteY82" fmla="*/ 666750 h 1126331"/>
                <a:gd name="connsiteX83" fmla="*/ 7144 w 1562100"/>
                <a:gd name="connsiteY83" fmla="*/ 683419 h 1126331"/>
                <a:gd name="connsiteX84" fmla="*/ 0 w 1562100"/>
                <a:gd name="connsiteY84" fmla="*/ 740569 h 1126331"/>
                <a:gd name="connsiteX85" fmla="*/ 23813 w 1562100"/>
                <a:gd name="connsiteY85" fmla="*/ 769144 h 1126331"/>
                <a:gd name="connsiteX86" fmla="*/ 16669 w 1562100"/>
                <a:gd name="connsiteY86" fmla="*/ 809625 h 1126331"/>
                <a:gd name="connsiteX87" fmla="*/ 35719 w 1562100"/>
                <a:gd name="connsiteY87" fmla="*/ 814387 h 1126331"/>
                <a:gd name="connsiteX88" fmla="*/ 69056 w 1562100"/>
                <a:gd name="connsiteY88" fmla="*/ 814387 h 1126331"/>
                <a:gd name="connsiteX89" fmla="*/ 85725 w 1562100"/>
                <a:gd name="connsiteY89" fmla="*/ 804862 h 1126331"/>
                <a:gd name="connsiteX90" fmla="*/ 135731 w 1562100"/>
                <a:gd name="connsiteY90" fmla="*/ 862012 h 1126331"/>
                <a:gd name="connsiteX91" fmla="*/ 123825 w 1562100"/>
                <a:gd name="connsiteY91" fmla="*/ 881062 h 1126331"/>
                <a:gd name="connsiteX92" fmla="*/ 133350 w 1562100"/>
                <a:gd name="connsiteY92" fmla="*/ 909637 h 1126331"/>
                <a:gd name="connsiteX93" fmla="*/ 164306 w 1562100"/>
                <a:gd name="connsiteY93" fmla="*/ 928687 h 1126331"/>
                <a:gd name="connsiteX94" fmla="*/ 190500 w 1562100"/>
                <a:gd name="connsiteY94" fmla="*/ 938212 h 1126331"/>
                <a:gd name="connsiteX95" fmla="*/ 216694 w 1562100"/>
                <a:gd name="connsiteY95" fmla="*/ 945356 h 1126331"/>
                <a:gd name="connsiteX96" fmla="*/ 228600 w 1562100"/>
                <a:gd name="connsiteY96" fmla="*/ 947737 h 1126331"/>
                <a:gd name="connsiteX97" fmla="*/ 240506 w 1562100"/>
                <a:gd name="connsiteY97" fmla="*/ 909637 h 1126331"/>
                <a:gd name="connsiteX98" fmla="*/ 269081 w 1562100"/>
                <a:gd name="connsiteY98" fmla="*/ 914400 h 1126331"/>
                <a:gd name="connsiteX99" fmla="*/ 288131 w 1562100"/>
                <a:gd name="connsiteY99" fmla="*/ 902494 h 1126331"/>
                <a:gd name="connsiteX100" fmla="*/ 307181 w 1562100"/>
                <a:gd name="connsiteY100" fmla="*/ 952500 h 1126331"/>
                <a:gd name="connsiteX101" fmla="*/ 330994 w 1562100"/>
                <a:gd name="connsiteY101" fmla="*/ 966787 h 1126331"/>
                <a:gd name="connsiteX102" fmla="*/ 340519 w 1562100"/>
                <a:gd name="connsiteY102" fmla="*/ 995362 h 1126331"/>
                <a:gd name="connsiteX103" fmla="*/ 357188 w 1562100"/>
                <a:gd name="connsiteY103" fmla="*/ 1004887 h 1126331"/>
                <a:gd name="connsiteX104" fmla="*/ 364331 w 1562100"/>
                <a:gd name="connsiteY104" fmla="*/ 1035844 h 1126331"/>
                <a:gd name="connsiteX105" fmla="*/ 335756 w 1562100"/>
                <a:gd name="connsiteY105" fmla="*/ 1062037 h 1126331"/>
                <a:gd name="connsiteX106" fmla="*/ 309563 w 1562100"/>
                <a:gd name="connsiteY106" fmla="*/ 1078706 h 1126331"/>
                <a:gd name="connsiteX107" fmla="*/ 297656 w 1562100"/>
                <a:gd name="connsiteY107" fmla="*/ 1102519 h 1126331"/>
                <a:gd name="connsiteX108" fmla="*/ 302419 w 1562100"/>
                <a:gd name="connsiteY108" fmla="*/ 1126331 h 1126331"/>
                <a:gd name="connsiteX109" fmla="*/ 342900 w 1562100"/>
                <a:gd name="connsiteY109" fmla="*/ 1126331 h 1126331"/>
                <a:gd name="connsiteX110" fmla="*/ 390525 w 1562100"/>
                <a:gd name="connsiteY110" fmla="*/ 1121569 h 1126331"/>
                <a:gd name="connsiteX111" fmla="*/ 428625 w 1562100"/>
                <a:gd name="connsiteY111" fmla="*/ 1112044 h 1126331"/>
                <a:gd name="connsiteX112" fmla="*/ 454819 w 1562100"/>
                <a:gd name="connsiteY112" fmla="*/ 1119187 h 1126331"/>
                <a:gd name="connsiteX113" fmla="*/ 473869 w 1562100"/>
                <a:gd name="connsiteY113" fmla="*/ 1097756 h 1126331"/>
                <a:gd name="connsiteX114" fmla="*/ 492919 w 1562100"/>
                <a:gd name="connsiteY114" fmla="*/ 1097756 h 1126331"/>
                <a:gd name="connsiteX115" fmla="*/ 507206 w 1562100"/>
                <a:gd name="connsiteY115" fmla="*/ 1066800 h 1126331"/>
                <a:gd name="connsiteX116" fmla="*/ 557213 w 1562100"/>
                <a:gd name="connsiteY116" fmla="*/ 1052512 h 1126331"/>
                <a:gd name="connsiteX117" fmla="*/ 583406 w 1562100"/>
                <a:gd name="connsiteY117" fmla="*/ 1033462 h 1126331"/>
                <a:gd name="connsiteX118" fmla="*/ 590550 w 1562100"/>
                <a:gd name="connsiteY118" fmla="*/ 995362 h 1126331"/>
                <a:gd name="connsiteX119" fmla="*/ 607219 w 1562100"/>
                <a:gd name="connsiteY119" fmla="*/ 969169 h 1126331"/>
                <a:gd name="connsiteX120" fmla="*/ 688181 w 1562100"/>
                <a:gd name="connsiteY120" fmla="*/ 1000125 h 1126331"/>
                <a:gd name="connsiteX0" fmla="*/ 688181 w 1562100"/>
                <a:gd name="connsiteY0" fmla="*/ 1078707 h 1204913"/>
                <a:gd name="connsiteX1" fmla="*/ 688181 w 1562100"/>
                <a:gd name="connsiteY1" fmla="*/ 992982 h 1204913"/>
                <a:gd name="connsiteX2" fmla="*/ 692944 w 1562100"/>
                <a:gd name="connsiteY2" fmla="*/ 950119 h 1204913"/>
                <a:gd name="connsiteX3" fmla="*/ 692944 w 1562100"/>
                <a:gd name="connsiteY3" fmla="*/ 904876 h 1204913"/>
                <a:gd name="connsiteX4" fmla="*/ 676275 w 1562100"/>
                <a:gd name="connsiteY4" fmla="*/ 881063 h 1204913"/>
                <a:gd name="connsiteX5" fmla="*/ 690563 w 1562100"/>
                <a:gd name="connsiteY5" fmla="*/ 828676 h 1204913"/>
                <a:gd name="connsiteX6" fmla="*/ 685800 w 1562100"/>
                <a:gd name="connsiteY6" fmla="*/ 802482 h 1204913"/>
                <a:gd name="connsiteX7" fmla="*/ 697706 w 1562100"/>
                <a:gd name="connsiteY7" fmla="*/ 757238 h 1204913"/>
                <a:gd name="connsiteX8" fmla="*/ 714375 w 1562100"/>
                <a:gd name="connsiteY8" fmla="*/ 733426 h 1204913"/>
                <a:gd name="connsiteX9" fmla="*/ 721519 w 1562100"/>
                <a:gd name="connsiteY9" fmla="*/ 700088 h 1204913"/>
                <a:gd name="connsiteX10" fmla="*/ 735806 w 1562100"/>
                <a:gd name="connsiteY10" fmla="*/ 681038 h 1204913"/>
                <a:gd name="connsiteX11" fmla="*/ 792956 w 1562100"/>
                <a:gd name="connsiteY11" fmla="*/ 671513 h 1204913"/>
                <a:gd name="connsiteX12" fmla="*/ 838200 w 1562100"/>
                <a:gd name="connsiteY12" fmla="*/ 654844 h 1204913"/>
                <a:gd name="connsiteX13" fmla="*/ 876300 w 1562100"/>
                <a:gd name="connsiteY13" fmla="*/ 614363 h 1204913"/>
                <a:gd name="connsiteX14" fmla="*/ 923925 w 1562100"/>
                <a:gd name="connsiteY14" fmla="*/ 600076 h 1204913"/>
                <a:gd name="connsiteX15" fmla="*/ 995363 w 1562100"/>
                <a:gd name="connsiteY15" fmla="*/ 595313 h 1204913"/>
                <a:gd name="connsiteX16" fmla="*/ 1040606 w 1562100"/>
                <a:gd name="connsiteY16" fmla="*/ 585788 h 1204913"/>
                <a:gd name="connsiteX17" fmla="*/ 1119188 w 1562100"/>
                <a:gd name="connsiteY17" fmla="*/ 478632 h 1204913"/>
                <a:gd name="connsiteX18" fmla="*/ 1126331 w 1562100"/>
                <a:gd name="connsiteY18" fmla="*/ 445294 h 1204913"/>
                <a:gd name="connsiteX19" fmla="*/ 1152525 w 1562100"/>
                <a:gd name="connsiteY19" fmla="*/ 416719 h 1204913"/>
                <a:gd name="connsiteX20" fmla="*/ 1197769 w 1562100"/>
                <a:gd name="connsiteY20" fmla="*/ 407194 h 1204913"/>
                <a:gd name="connsiteX21" fmla="*/ 1290638 w 1562100"/>
                <a:gd name="connsiteY21" fmla="*/ 330994 h 1204913"/>
                <a:gd name="connsiteX22" fmla="*/ 1314450 w 1562100"/>
                <a:gd name="connsiteY22" fmla="*/ 328613 h 1204913"/>
                <a:gd name="connsiteX23" fmla="*/ 1409700 w 1562100"/>
                <a:gd name="connsiteY23" fmla="*/ 247651 h 1204913"/>
                <a:gd name="connsiteX24" fmla="*/ 1414463 w 1562100"/>
                <a:gd name="connsiteY24" fmla="*/ 228601 h 1204913"/>
                <a:gd name="connsiteX25" fmla="*/ 1507331 w 1562100"/>
                <a:gd name="connsiteY25" fmla="*/ 173832 h 1204913"/>
                <a:gd name="connsiteX26" fmla="*/ 1543050 w 1562100"/>
                <a:gd name="connsiteY26" fmla="*/ 128588 h 1204913"/>
                <a:gd name="connsiteX27" fmla="*/ 1562100 w 1562100"/>
                <a:gd name="connsiteY27" fmla="*/ 90488 h 1204913"/>
                <a:gd name="connsiteX28" fmla="*/ 1512094 w 1562100"/>
                <a:gd name="connsiteY28" fmla="*/ 109538 h 1204913"/>
                <a:gd name="connsiteX29" fmla="*/ 1478756 w 1562100"/>
                <a:gd name="connsiteY29" fmla="*/ 109538 h 1204913"/>
                <a:gd name="connsiteX30" fmla="*/ 1452563 w 1562100"/>
                <a:gd name="connsiteY30" fmla="*/ 147638 h 1204913"/>
                <a:gd name="connsiteX31" fmla="*/ 1421606 w 1562100"/>
                <a:gd name="connsiteY31" fmla="*/ 145257 h 1204913"/>
                <a:gd name="connsiteX32" fmla="*/ 1366838 w 1562100"/>
                <a:gd name="connsiteY32" fmla="*/ 114301 h 1204913"/>
                <a:gd name="connsiteX33" fmla="*/ 1323975 w 1562100"/>
                <a:gd name="connsiteY33" fmla="*/ 102394 h 1204913"/>
                <a:gd name="connsiteX34" fmla="*/ 1238250 w 1562100"/>
                <a:gd name="connsiteY34" fmla="*/ 138113 h 1204913"/>
                <a:gd name="connsiteX35" fmla="*/ 1223963 w 1562100"/>
                <a:gd name="connsiteY35" fmla="*/ 176213 h 1204913"/>
                <a:gd name="connsiteX36" fmla="*/ 1195388 w 1562100"/>
                <a:gd name="connsiteY36" fmla="*/ 233363 h 1204913"/>
                <a:gd name="connsiteX37" fmla="*/ 1109663 w 1562100"/>
                <a:gd name="connsiteY37" fmla="*/ 195263 h 1204913"/>
                <a:gd name="connsiteX38" fmla="*/ 1097756 w 1562100"/>
                <a:gd name="connsiteY38" fmla="*/ 238126 h 1204913"/>
                <a:gd name="connsiteX39" fmla="*/ 1083469 w 1562100"/>
                <a:gd name="connsiteY39" fmla="*/ 271463 h 1204913"/>
                <a:gd name="connsiteX40" fmla="*/ 959644 w 1562100"/>
                <a:gd name="connsiteY40" fmla="*/ 302419 h 1204913"/>
                <a:gd name="connsiteX41" fmla="*/ 945356 w 1562100"/>
                <a:gd name="connsiteY41" fmla="*/ 297657 h 1204913"/>
                <a:gd name="connsiteX42" fmla="*/ 926306 w 1562100"/>
                <a:gd name="connsiteY42" fmla="*/ 319088 h 1204913"/>
                <a:gd name="connsiteX43" fmla="*/ 890588 w 1562100"/>
                <a:gd name="connsiteY43" fmla="*/ 326232 h 1204913"/>
                <a:gd name="connsiteX44" fmla="*/ 854869 w 1562100"/>
                <a:gd name="connsiteY44" fmla="*/ 276226 h 1204913"/>
                <a:gd name="connsiteX45" fmla="*/ 835819 w 1562100"/>
                <a:gd name="connsiteY45" fmla="*/ 264319 h 1204913"/>
                <a:gd name="connsiteX46" fmla="*/ 826294 w 1562100"/>
                <a:gd name="connsiteY46" fmla="*/ 219076 h 1204913"/>
                <a:gd name="connsiteX47" fmla="*/ 792956 w 1562100"/>
                <a:gd name="connsiteY47" fmla="*/ 202407 h 1204913"/>
                <a:gd name="connsiteX48" fmla="*/ 759619 w 1562100"/>
                <a:gd name="connsiteY48" fmla="*/ 195263 h 1204913"/>
                <a:gd name="connsiteX49" fmla="*/ 740569 w 1562100"/>
                <a:gd name="connsiteY49" fmla="*/ 190501 h 1204913"/>
                <a:gd name="connsiteX50" fmla="*/ 728663 w 1562100"/>
                <a:gd name="connsiteY50" fmla="*/ 180976 h 1204913"/>
                <a:gd name="connsiteX51" fmla="*/ 735806 w 1562100"/>
                <a:gd name="connsiteY51" fmla="*/ 154782 h 1204913"/>
                <a:gd name="connsiteX52" fmla="*/ 742950 w 1562100"/>
                <a:gd name="connsiteY52" fmla="*/ 130969 h 1204913"/>
                <a:gd name="connsiteX53" fmla="*/ 700088 w 1562100"/>
                <a:gd name="connsiteY53" fmla="*/ 80963 h 1204913"/>
                <a:gd name="connsiteX54" fmla="*/ 314326 w 1562100"/>
                <a:gd name="connsiteY54" fmla="*/ 0 h 1204913"/>
                <a:gd name="connsiteX55" fmla="*/ 328613 w 1562100"/>
                <a:gd name="connsiteY55" fmla="*/ 78582 h 1204913"/>
                <a:gd name="connsiteX56" fmla="*/ 292894 w 1562100"/>
                <a:gd name="connsiteY56" fmla="*/ 180976 h 1204913"/>
                <a:gd name="connsiteX57" fmla="*/ 264319 w 1562100"/>
                <a:gd name="connsiteY57" fmla="*/ 188119 h 1204913"/>
                <a:gd name="connsiteX58" fmla="*/ 261938 w 1562100"/>
                <a:gd name="connsiteY58" fmla="*/ 202407 h 1204913"/>
                <a:gd name="connsiteX59" fmla="*/ 261938 w 1562100"/>
                <a:gd name="connsiteY59" fmla="*/ 235744 h 1204913"/>
                <a:gd name="connsiteX60" fmla="*/ 228600 w 1562100"/>
                <a:gd name="connsiteY60" fmla="*/ 278607 h 1204913"/>
                <a:gd name="connsiteX61" fmla="*/ 271463 w 1562100"/>
                <a:gd name="connsiteY61" fmla="*/ 295276 h 1204913"/>
                <a:gd name="connsiteX62" fmla="*/ 278606 w 1562100"/>
                <a:gd name="connsiteY62" fmla="*/ 314326 h 1204913"/>
                <a:gd name="connsiteX63" fmla="*/ 257175 w 1562100"/>
                <a:gd name="connsiteY63" fmla="*/ 350044 h 1204913"/>
                <a:gd name="connsiteX64" fmla="*/ 221456 w 1562100"/>
                <a:gd name="connsiteY64" fmla="*/ 359569 h 1204913"/>
                <a:gd name="connsiteX65" fmla="*/ 221456 w 1562100"/>
                <a:gd name="connsiteY65" fmla="*/ 400051 h 1204913"/>
                <a:gd name="connsiteX66" fmla="*/ 254794 w 1562100"/>
                <a:gd name="connsiteY66" fmla="*/ 438151 h 1204913"/>
                <a:gd name="connsiteX67" fmla="*/ 226219 w 1562100"/>
                <a:gd name="connsiteY67" fmla="*/ 502444 h 1204913"/>
                <a:gd name="connsiteX68" fmla="*/ 180975 w 1562100"/>
                <a:gd name="connsiteY68" fmla="*/ 531019 h 1204913"/>
                <a:gd name="connsiteX69" fmla="*/ 183356 w 1562100"/>
                <a:gd name="connsiteY69" fmla="*/ 547688 h 1204913"/>
                <a:gd name="connsiteX70" fmla="*/ 204788 w 1562100"/>
                <a:gd name="connsiteY70" fmla="*/ 557213 h 1204913"/>
                <a:gd name="connsiteX71" fmla="*/ 219075 w 1562100"/>
                <a:gd name="connsiteY71" fmla="*/ 566738 h 1204913"/>
                <a:gd name="connsiteX72" fmla="*/ 223838 w 1562100"/>
                <a:gd name="connsiteY72" fmla="*/ 585788 h 1204913"/>
                <a:gd name="connsiteX73" fmla="*/ 195263 w 1562100"/>
                <a:gd name="connsiteY73" fmla="*/ 611982 h 1204913"/>
                <a:gd name="connsiteX74" fmla="*/ 123825 w 1562100"/>
                <a:gd name="connsiteY74" fmla="*/ 657226 h 1204913"/>
                <a:gd name="connsiteX75" fmla="*/ 123825 w 1562100"/>
                <a:gd name="connsiteY75" fmla="*/ 692944 h 1204913"/>
                <a:gd name="connsiteX76" fmla="*/ 135731 w 1562100"/>
                <a:gd name="connsiteY76" fmla="*/ 723901 h 1204913"/>
                <a:gd name="connsiteX77" fmla="*/ 123825 w 1562100"/>
                <a:gd name="connsiteY77" fmla="*/ 764382 h 1204913"/>
                <a:gd name="connsiteX78" fmla="*/ 76200 w 1562100"/>
                <a:gd name="connsiteY78" fmla="*/ 759619 h 1204913"/>
                <a:gd name="connsiteX79" fmla="*/ 52388 w 1562100"/>
                <a:gd name="connsiteY79" fmla="*/ 704851 h 1204913"/>
                <a:gd name="connsiteX80" fmla="*/ 33338 w 1562100"/>
                <a:gd name="connsiteY80" fmla="*/ 697707 h 1204913"/>
                <a:gd name="connsiteX81" fmla="*/ 23813 w 1562100"/>
                <a:gd name="connsiteY81" fmla="*/ 735807 h 1204913"/>
                <a:gd name="connsiteX82" fmla="*/ 21431 w 1562100"/>
                <a:gd name="connsiteY82" fmla="*/ 745332 h 1204913"/>
                <a:gd name="connsiteX83" fmla="*/ 7144 w 1562100"/>
                <a:gd name="connsiteY83" fmla="*/ 762001 h 1204913"/>
                <a:gd name="connsiteX84" fmla="*/ 0 w 1562100"/>
                <a:gd name="connsiteY84" fmla="*/ 819151 h 1204913"/>
                <a:gd name="connsiteX85" fmla="*/ 23813 w 1562100"/>
                <a:gd name="connsiteY85" fmla="*/ 847726 h 1204913"/>
                <a:gd name="connsiteX86" fmla="*/ 16669 w 1562100"/>
                <a:gd name="connsiteY86" fmla="*/ 888207 h 1204913"/>
                <a:gd name="connsiteX87" fmla="*/ 35719 w 1562100"/>
                <a:gd name="connsiteY87" fmla="*/ 892969 h 1204913"/>
                <a:gd name="connsiteX88" fmla="*/ 69056 w 1562100"/>
                <a:gd name="connsiteY88" fmla="*/ 892969 h 1204913"/>
                <a:gd name="connsiteX89" fmla="*/ 85725 w 1562100"/>
                <a:gd name="connsiteY89" fmla="*/ 883444 h 1204913"/>
                <a:gd name="connsiteX90" fmla="*/ 135731 w 1562100"/>
                <a:gd name="connsiteY90" fmla="*/ 940594 h 1204913"/>
                <a:gd name="connsiteX91" fmla="*/ 123825 w 1562100"/>
                <a:gd name="connsiteY91" fmla="*/ 959644 h 1204913"/>
                <a:gd name="connsiteX92" fmla="*/ 133350 w 1562100"/>
                <a:gd name="connsiteY92" fmla="*/ 988219 h 1204913"/>
                <a:gd name="connsiteX93" fmla="*/ 164306 w 1562100"/>
                <a:gd name="connsiteY93" fmla="*/ 1007269 h 1204913"/>
                <a:gd name="connsiteX94" fmla="*/ 190500 w 1562100"/>
                <a:gd name="connsiteY94" fmla="*/ 1016794 h 1204913"/>
                <a:gd name="connsiteX95" fmla="*/ 216694 w 1562100"/>
                <a:gd name="connsiteY95" fmla="*/ 1023938 h 1204913"/>
                <a:gd name="connsiteX96" fmla="*/ 228600 w 1562100"/>
                <a:gd name="connsiteY96" fmla="*/ 1026319 h 1204913"/>
                <a:gd name="connsiteX97" fmla="*/ 240506 w 1562100"/>
                <a:gd name="connsiteY97" fmla="*/ 988219 h 1204913"/>
                <a:gd name="connsiteX98" fmla="*/ 269081 w 1562100"/>
                <a:gd name="connsiteY98" fmla="*/ 992982 h 1204913"/>
                <a:gd name="connsiteX99" fmla="*/ 288131 w 1562100"/>
                <a:gd name="connsiteY99" fmla="*/ 981076 h 1204913"/>
                <a:gd name="connsiteX100" fmla="*/ 307181 w 1562100"/>
                <a:gd name="connsiteY100" fmla="*/ 1031082 h 1204913"/>
                <a:gd name="connsiteX101" fmla="*/ 330994 w 1562100"/>
                <a:gd name="connsiteY101" fmla="*/ 1045369 h 1204913"/>
                <a:gd name="connsiteX102" fmla="*/ 340519 w 1562100"/>
                <a:gd name="connsiteY102" fmla="*/ 1073944 h 1204913"/>
                <a:gd name="connsiteX103" fmla="*/ 357188 w 1562100"/>
                <a:gd name="connsiteY103" fmla="*/ 1083469 h 1204913"/>
                <a:gd name="connsiteX104" fmla="*/ 364331 w 1562100"/>
                <a:gd name="connsiteY104" fmla="*/ 1114426 h 1204913"/>
                <a:gd name="connsiteX105" fmla="*/ 335756 w 1562100"/>
                <a:gd name="connsiteY105" fmla="*/ 1140619 h 1204913"/>
                <a:gd name="connsiteX106" fmla="*/ 309563 w 1562100"/>
                <a:gd name="connsiteY106" fmla="*/ 1157288 h 1204913"/>
                <a:gd name="connsiteX107" fmla="*/ 297656 w 1562100"/>
                <a:gd name="connsiteY107" fmla="*/ 1181101 h 1204913"/>
                <a:gd name="connsiteX108" fmla="*/ 302419 w 1562100"/>
                <a:gd name="connsiteY108" fmla="*/ 1204913 h 1204913"/>
                <a:gd name="connsiteX109" fmla="*/ 342900 w 1562100"/>
                <a:gd name="connsiteY109" fmla="*/ 1204913 h 1204913"/>
                <a:gd name="connsiteX110" fmla="*/ 390525 w 1562100"/>
                <a:gd name="connsiteY110" fmla="*/ 1200151 h 1204913"/>
                <a:gd name="connsiteX111" fmla="*/ 428625 w 1562100"/>
                <a:gd name="connsiteY111" fmla="*/ 1190626 h 1204913"/>
                <a:gd name="connsiteX112" fmla="*/ 454819 w 1562100"/>
                <a:gd name="connsiteY112" fmla="*/ 1197769 h 1204913"/>
                <a:gd name="connsiteX113" fmla="*/ 473869 w 1562100"/>
                <a:gd name="connsiteY113" fmla="*/ 1176338 h 1204913"/>
                <a:gd name="connsiteX114" fmla="*/ 492919 w 1562100"/>
                <a:gd name="connsiteY114" fmla="*/ 1176338 h 1204913"/>
                <a:gd name="connsiteX115" fmla="*/ 507206 w 1562100"/>
                <a:gd name="connsiteY115" fmla="*/ 1145382 h 1204913"/>
                <a:gd name="connsiteX116" fmla="*/ 557213 w 1562100"/>
                <a:gd name="connsiteY116" fmla="*/ 1131094 h 1204913"/>
                <a:gd name="connsiteX117" fmla="*/ 583406 w 1562100"/>
                <a:gd name="connsiteY117" fmla="*/ 1112044 h 1204913"/>
                <a:gd name="connsiteX118" fmla="*/ 590550 w 1562100"/>
                <a:gd name="connsiteY118" fmla="*/ 1073944 h 1204913"/>
                <a:gd name="connsiteX119" fmla="*/ 607219 w 1562100"/>
                <a:gd name="connsiteY119" fmla="*/ 1047751 h 1204913"/>
                <a:gd name="connsiteX120" fmla="*/ 688181 w 1562100"/>
                <a:gd name="connsiteY120" fmla="*/ 1078707 h 1204913"/>
                <a:gd name="connsiteX0" fmla="*/ 688181 w 1562100"/>
                <a:gd name="connsiteY0" fmla="*/ 1078707 h 1204913"/>
                <a:gd name="connsiteX1" fmla="*/ 688181 w 1562100"/>
                <a:gd name="connsiteY1" fmla="*/ 992982 h 1204913"/>
                <a:gd name="connsiteX2" fmla="*/ 692944 w 1562100"/>
                <a:gd name="connsiteY2" fmla="*/ 950119 h 1204913"/>
                <a:gd name="connsiteX3" fmla="*/ 692944 w 1562100"/>
                <a:gd name="connsiteY3" fmla="*/ 904876 h 1204913"/>
                <a:gd name="connsiteX4" fmla="*/ 676275 w 1562100"/>
                <a:gd name="connsiteY4" fmla="*/ 881063 h 1204913"/>
                <a:gd name="connsiteX5" fmla="*/ 690563 w 1562100"/>
                <a:gd name="connsiteY5" fmla="*/ 828676 h 1204913"/>
                <a:gd name="connsiteX6" fmla="*/ 685800 w 1562100"/>
                <a:gd name="connsiteY6" fmla="*/ 802482 h 1204913"/>
                <a:gd name="connsiteX7" fmla="*/ 697706 w 1562100"/>
                <a:gd name="connsiteY7" fmla="*/ 757238 h 1204913"/>
                <a:gd name="connsiteX8" fmla="*/ 714375 w 1562100"/>
                <a:gd name="connsiteY8" fmla="*/ 733426 h 1204913"/>
                <a:gd name="connsiteX9" fmla="*/ 721519 w 1562100"/>
                <a:gd name="connsiteY9" fmla="*/ 700088 h 1204913"/>
                <a:gd name="connsiteX10" fmla="*/ 735806 w 1562100"/>
                <a:gd name="connsiteY10" fmla="*/ 681038 h 1204913"/>
                <a:gd name="connsiteX11" fmla="*/ 792956 w 1562100"/>
                <a:gd name="connsiteY11" fmla="*/ 671513 h 1204913"/>
                <a:gd name="connsiteX12" fmla="*/ 838200 w 1562100"/>
                <a:gd name="connsiteY12" fmla="*/ 654844 h 1204913"/>
                <a:gd name="connsiteX13" fmla="*/ 876300 w 1562100"/>
                <a:gd name="connsiteY13" fmla="*/ 614363 h 1204913"/>
                <a:gd name="connsiteX14" fmla="*/ 923925 w 1562100"/>
                <a:gd name="connsiteY14" fmla="*/ 600076 h 1204913"/>
                <a:gd name="connsiteX15" fmla="*/ 995363 w 1562100"/>
                <a:gd name="connsiteY15" fmla="*/ 595313 h 1204913"/>
                <a:gd name="connsiteX16" fmla="*/ 1040606 w 1562100"/>
                <a:gd name="connsiteY16" fmla="*/ 585788 h 1204913"/>
                <a:gd name="connsiteX17" fmla="*/ 1119188 w 1562100"/>
                <a:gd name="connsiteY17" fmla="*/ 478632 h 1204913"/>
                <a:gd name="connsiteX18" fmla="*/ 1126331 w 1562100"/>
                <a:gd name="connsiteY18" fmla="*/ 445294 h 1204913"/>
                <a:gd name="connsiteX19" fmla="*/ 1152525 w 1562100"/>
                <a:gd name="connsiteY19" fmla="*/ 416719 h 1204913"/>
                <a:gd name="connsiteX20" fmla="*/ 1197769 w 1562100"/>
                <a:gd name="connsiteY20" fmla="*/ 407194 h 1204913"/>
                <a:gd name="connsiteX21" fmla="*/ 1290638 w 1562100"/>
                <a:gd name="connsiteY21" fmla="*/ 330994 h 1204913"/>
                <a:gd name="connsiteX22" fmla="*/ 1314450 w 1562100"/>
                <a:gd name="connsiteY22" fmla="*/ 328613 h 1204913"/>
                <a:gd name="connsiteX23" fmla="*/ 1409700 w 1562100"/>
                <a:gd name="connsiteY23" fmla="*/ 247651 h 1204913"/>
                <a:gd name="connsiteX24" fmla="*/ 1414463 w 1562100"/>
                <a:gd name="connsiteY24" fmla="*/ 228601 h 1204913"/>
                <a:gd name="connsiteX25" fmla="*/ 1507331 w 1562100"/>
                <a:gd name="connsiteY25" fmla="*/ 173832 h 1204913"/>
                <a:gd name="connsiteX26" fmla="*/ 1543050 w 1562100"/>
                <a:gd name="connsiteY26" fmla="*/ 128588 h 1204913"/>
                <a:gd name="connsiteX27" fmla="*/ 1562100 w 1562100"/>
                <a:gd name="connsiteY27" fmla="*/ 90488 h 1204913"/>
                <a:gd name="connsiteX28" fmla="*/ 1512094 w 1562100"/>
                <a:gd name="connsiteY28" fmla="*/ 109538 h 1204913"/>
                <a:gd name="connsiteX29" fmla="*/ 1478756 w 1562100"/>
                <a:gd name="connsiteY29" fmla="*/ 109538 h 1204913"/>
                <a:gd name="connsiteX30" fmla="*/ 1452563 w 1562100"/>
                <a:gd name="connsiteY30" fmla="*/ 147638 h 1204913"/>
                <a:gd name="connsiteX31" fmla="*/ 1421606 w 1562100"/>
                <a:gd name="connsiteY31" fmla="*/ 145257 h 1204913"/>
                <a:gd name="connsiteX32" fmla="*/ 1366838 w 1562100"/>
                <a:gd name="connsiteY32" fmla="*/ 114301 h 1204913"/>
                <a:gd name="connsiteX33" fmla="*/ 1323975 w 1562100"/>
                <a:gd name="connsiteY33" fmla="*/ 102394 h 1204913"/>
                <a:gd name="connsiteX34" fmla="*/ 1238250 w 1562100"/>
                <a:gd name="connsiteY34" fmla="*/ 138113 h 1204913"/>
                <a:gd name="connsiteX35" fmla="*/ 1223963 w 1562100"/>
                <a:gd name="connsiteY35" fmla="*/ 176213 h 1204913"/>
                <a:gd name="connsiteX36" fmla="*/ 1195388 w 1562100"/>
                <a:gd name="connsiteY36" fmla="*/ 233363 h 1204913"/>
                <a:gd name="connsiteX37" fmla="*/ 1109663 w 1562100"/>
                <a:gd name="connsiteY37" fmla="*/ 195263 h 1204913"/>
                <a:gd name="connsiteX38" fmla="*/ 1097756 w 1562100"/>
                <a:gd name="connsiteY38" fmla="*/ 238126 h 1204913"/>
                <a:gd name="connsiteX39" fmla="*/ 1083469 w 1562100"/>
                <a:gd name="connsiteY39" fmla="*/ 271463 h 1204913"/>
                <a:gd name="connsiteX40" fmla="*/ 959644 w 1562100"/>
                <a:gd name="connsiteY40" fmla="*/ 302419 h 1204913"/>
                <a:gd name="connsiteX41" fmla="*/ 945356 w 1562100"/>
                <a:gd name="connsiteY41" fmla="*/ 297657 h 1204913"/>
                <a:gd name="connsiteX42" fmla="*/ 926306 w 1562100"/>
                <a:gd name="connsiteY42" fmla="*/ 319088 h 1204913"/>
                <a:gd name="connsiteX43" fmla="*/ 890588 w 1562100"/>
                <a:gd name="connsiteY43" fmla="*/ 326232 h 1204913"/>
                <a:gd name="connsiteX44" fmla="*/ 854869 w 1562100"/>
                <a:gd name="connsiteY44" fmla="*/ 276226 h 1204913"/>
                <a:gd name="connsiteX45" fmla="*/ 835819 w 1562100"/>
                <a:gd name="connsiteY45" fmla="*/ 264319 h 1204913"/>
                <a:gd name="connsiteX46" fmla="*/ 826294 w 1562100"/>
                <a:gd name="connsiteY46" fmla="*/ 219076 h 1204913"/>
                <a:gd name="connsiteX47" fmla="*/ 792956 w 1562100"/>
                <a:gd name="connsiteY47" fmla="*/ 202407 h 1204913"/>
                <a:gd name="connsiteX48" fmla="*/ 759619 w 1562100"/>
                <a:gd name="connsiteY48" fmla="*/ 195263 h 1204913"/>
                <a:gd name="connsiteX49" fmla="*/ 740569 w 1562100"/>
                <a:gd name="connsiteY49" fmla="*/ 190501 h 1204913"/>
                <a:gd name="connsiteX50" fmla="*/ 728663 w 1562100"/>
                <a:gd name="connsiteY50" fmla="*/ 180976 h 1204913"/>
                <a:gd name="connsiteX51" fmla="*/ 735806 w 1562100"/>
                <a:gd name="connsiteY51" fmla="*/ 154782 h 1204913"/>
                <a:gd name="connsiteX52" fmla="*/ 742950 w 1562100"/>
                <a:gd name="connsiteY52" fmla="*/ 130969 h 1204913"/>
                <a:gd name="connsiteX53" fmla="*/ 700088 w 1562100"/>
                <a:gd name="connsiteY53" fmla="*/ 80963 h 1204913"/>
                <a:gd name="connsiteX54" fmla="*/ 392906 w 1562100"/>
                <a:gd name="connsiteY54" fmla="*/ 19051 h 1204913"/>
                <a:gd name="connsiteX55" fmla="*/ 314326 w 1562100"/>
                <a:gd name="connsiteY55" fmla="*/ 0 h 1204913"/>
                <a:gd name="connsiteX56" fmla="*/ 328613 w 1562100"/>
                <a:gd name="connsiteY56" fmla="*/ 78582 h 1204913"/>
                <a:gd name="connsiteX57" fmla="*/ 292894 w 1562100"/>
                <a:gd name="connsiteY57" fmla="*/ 180976 h 1204913"/>
                <a:gd name="connsiteX58" fmla="*/ 264319 w 1562100"/>
                <a:gd name="connsiteY58" fmla="*/ 188119 h 1204913"/>
                <a:gd name="connsiteX59" fmla="*/ 261938 w 1562100"/>
                <a:gd name="connsiteY59" fmla="*/ 202407 h 1204913"/>
                <a:gd name="connsiteX60" fmla="*/ 261938 w 1562100"/>
                <a:gd name="connsiteY60" fmla="*/ 235744 h 1204913"/>
                <a:gd name="connsiteX61" fmla="*/ 228600 w 1562100"/>
                <a:gd name="connsiteY61" fmla="*/ 278607 h 1204913"/>
                <a:gd name="connsiteX62" fmla="*/ 271463 w 1562100"/>
                <a:gd name="connsiteY62" fmla="*/ 295276 h 1204913"/>
                <a:gd name="connsiteX63" fmla="*/ 278606 w 1562100"/>
                <a:gd name="connsiteY63" fmla="*/ 314326 h 1204913"/>
                <a:gd name="connsiteX64" fmla="*/ 257175 w 1562100"/>
                <a:gd name="connsiteY64" fmla="*/ 350044 h 1204913"/>
                <a:gd name="connsiteX65" fmla="*/ 221456 w 1562100"/>
                <a:gd name="connsiteY65" fmla="*/ 359569 h 1204913"/>
                <a:gd name="connsiteX66" fmla="*/ 221456 w 1562100"/>
                <a:gd name="connsiteY66" fmla="*/ 400051 h 1204913"/>
                <a:gd name="connsiteX67" fmla="*/ 254794 w 1562100"/>
                <a:gd name="connsiteY67" fmla="*/ 438151 h 1204913"/>
                <a:gd name="connsiteX68" fmla="*/ 226219 w 1562100"/>
                <a:gd name="connsiteY68" fmla="*/ 502444 h 1204913"/>
                <a:gd name="connsiteX69" fmla="*/ 180975 w 1562100"/>
                <a:gd name="connsiteY69" fmla="*/ 531019 h 1204913"/>
                <a:gd name="connsiteX70" fmla="*/ 183356 w 1562100"/>
                <a:gd name="connsiteY70" fmla="*/ 547688 h 1204913"/>
                <a:gd name="connsiteX71" fmla="*/ 204788 w 1562100"/>
                <a:gd name="connsiteY71" fmla="*/ 557213 h 1204913"/>
                <a:gd name="connsiteX72" fmla="*/ 219075 w 1562100"/>
                <a:gd name="connsiteY72" fmla="*/ 566738 h 1204913"/>
                <a:gd name="connsiteX73" fmla="*/ 223838 w 1562100"/>
                <a:gd name="connsiteY73" fmla="*/ 585788 h 1204913"/>
                <a:gd name="connsiteX74" fmla="*/ 195263 w 1562100"/>
                <a:gd name="connsiteY74" fmla="*/ 611982 h 1204913"/>
                <a:gd name="connsiteX75" fmla="*/ 123825 w 1562100"/>
                <a:gd name="connsiteY75" fmla="*/ 657226 h 1204913"/>
                <a:gd name="connsiteX76" fmla="*/ 123825 w 1562100"/>
                <a:gd name="connsiteY76" fmla="*/ 692944 h 1204913"/>
                <a:gd name="connsiteX77" fmla="*/ 135731 w 1562100"/>
                <a:gd name="connsiteY77" fmla="*/ 723901 h 1204913"/>
                <a:gd name="connsiteX78" fmla="*/ 123825 w 1562100"/>
                <a:gd name="connsiteY78" fmla="*/ 764382 h 1204913"/>
                <a:gd name="connsiteX79" fmla="*/ 76200 w 1562100"/>
                <a:gd name="connsiteY79" fmla="*/ 759619 h 1204913"/>
                <a:gd name="connsiteX80" fmla="*/ 52388 w 1562100"/>
                <a:gd name="connsiteY80" fmla="*/ 704851 h 1204913"/>
                <a:gd name="connsiteX81" fmla="*/ 33338 w 1562100"/>
                <a:gd name="connsiteY81" fmla="*/ 697707 h 1204913"/>
                <a:gd name="connsiteX82" fmla="*/ 23813 w 1562100"/>
                <a:gd name="connsiteY82" fmla="*/ 735807 h 1204913"/>
                <a:gd name="connsiteX83" fmla="*/ 21431 w 1562100"/>
                <a:gd name="connsiteY83" fmla="*/ 745332 h 1204913"/>
                <a:gd name="connsiteX84" fmla="*/ 7144 w 1562100"/>
                <a:gd name="connsiteY84" fmla="*/ 762001 h 1204913"/>
                <a:gd name="connsiteX85" fmla="*/ 0 w 1562100"/>
                <a:gd name="connsiteY85" fmla="*/ 819151 h 1204913"/>
                <a:gd name="connsiteX86" fmla="*/ 23813 w 1562100"/>
                <a:gd name="connsiteY86" fmla="*/ 847726 h 1204913"/>
                <a:gd name="connsiteX87" fmla="*/ 16669 w 1562100"/>
                <a:gd name="connsiteY87" fmla="*/ 888207 h 1204913"/>
                <a:gd name="connsiteX88" fmla="*/ 35719 w 1562100"/>
                <a:gd name="connsiteY88" fmla="*/ 892969 h 1204913"/>
                <a:gd name="connsiteX89" fmla="*/ 69056 w 1562100"/>
                <a:gd name="connsiteY89" fmla="*/ 892969 h 1204913"/>
                <a:gd name="connsiteX90" fmla="*/ 85725 w 1562100"/>
                <a:gd name="connsiteY90" fmla="*/ 883444 h 1204913"/>
                <a:gd name="connsiteX91" fmla="*/ 135731 w 1562100"/>
                <a:gd name="connsiteY91" fmla="*/ 940594 h 1204913"/>
                <a:gd name="connsiteX92" fmla="*/ 123825 w 1562100"/>
                <a:gd name="connsiteY92" fmla="*/ 959644 h 1204913"/>
                <a:gd name="connsiteX93" fmla="*/ 133350 w 1562100"/>
                <a:gd name="connsiteY93" fmla="*/ 988219 h 1204913"/>
                <a:gd name="connsiteX94" fmla="*/ 164306 w 1562100"/>
                <a:gd name="connsiteY94" fmla="*/ 1007269 h 1204913"/>
                <a:gd name="connsiteX95" fmla="*/ 190500 w 1562100"/>
                <a:gd name="connsiteY95" fmla="*/ 1016794 h 1204913"/>
                <a:gd name="connsiteX96" fmla="*/ 216694 w 1562100"/>
                <a:gd name="connsiteY96" fmla="*/ 1023938 h 1204913"/>
                <a:gd name="connsiteX97" fmla="*/ 228600 w 1562100"/>
                <a:gd name="connsiteY97" fmla="*/ 1026319 h 1204913"/>
                <a:gd name="connsiteX98" fmla="*/ 240506 w 1562100"/>
                <a:gd name="connsiteY98" fmla="*/ 988219 h 1204913"/>
                <a:gd name="connsiteX99" fmla="*/ 269081 w 1562100"/>
                <a:gd name="connsiteY99" fmla="*/ 992982 h 1204913"/>
                <a:gd name="connsiteX100" fmla="*/ 288131 w 1562100"/>
                <a:gd name="connsiteY100" fmla="*/ 981076 h 1204913"/>
                <a:gd name="connsiteX101" fmla="*/ 307181 w 1562100"/>
                <a:gd name="connsiteY101" fmla="*/ 1031082 h 1204913"/>
                <a:gd name="connsiteX102" fmla="*/ 330994 w 1562100"/>
                <a:gd name="connsiteY102" fmla="*/ 1045369 h 1204913"/>
                <a:gd name="connsiteX103" fmla="*/ 340519 w 1562100"/>
                <a:gd name="connsiteY103" fmla="*/ 1073944 h 1204913"/>
                <a:gd name="connsiteX104" fmla="*/ 357188 w 1562100"/>
                <a:gd name="connsiteY104" fmla="*/ 1083469 h 1204913"/>
                <a:gd name="connsiteX105" fmla="*/ 364331 w 1562100"/>
                <a:gd name="connsiteY105" fmla="*/ 1114426 h 1204913"/>
                <a:gd name="connsiteX106" fmla="*/ 335756 w 1562100"/>
                <a:gd name="connsiteY106" fmla="*/ 1140619 h 1204913"/>
                <a:gd name="connsiteX107" fmla="*/ 309563 w 1562100"/>
                <a:gd name="connsiteY107" fmla="*/ 1157288 h 1204913"/>
                <a:gd name="connsiteX108" fmla="*/ 297656 w 1562100"/>
                <a:gd name="connsiteY108" fmla="*/ 1181101 h 1204913"/>
                <a:gd name="connsiteX109" fmla="*/ 302419 w 1562100"/>
                <a:gd name="connsiteY109" fmla="*/ 1204913 h 1204913"/>
                <a:gd name="connsiteX110" fmla="*/ 342900 w 1562100"/>
                <a:gd name="connsiteY110" fmla="*/ 1204913 h 1204913"/>
                <a:gd name="connsiteX111" fmla="*/ 390525 w 1562100"/>
                <a:gd name="connsiteY111" fmla="*/ 1200151 h 1204913"/>
                <a:gd name="connsiteX112" fmla="*/ 428625 w 1562100"/>
                <a:gd name="connsiteY112" fmla="*/ 1190626 h 1204913"/>
                <a:gd name="connsiteX113" fmla="*/ 454819 w 1562100"/>
                <a:gd name="connsiteY113" fmla="*/ 1197769 h 1204913"/>
                <a:gd name="connsiteX114" fmla="*/ 473869 w 1562100"/>
                <a:gd name="connsiteY114" fmla="*/ 1176338 h 1204913"/>
                <a:gd name="connsiteX115" fmla="*/ 492919 w 1562100"/>
                <a:gd name="connsiteY115" fmla="*/ 1176338 h 1204913"/>
                <a:gd name="connsiteX116" fmla="*/ 507206 w 1562100"/>
                <a:gd name="connsiteY116" fmla="*/ 1145382 h 1204913"/>
                <a:gd name="connsiteX117" fmla="*/ 557213 w 1562100"/>
                <a:gd name="connsiteY117" fmla="*/ 1131094 h 1204913"/>
                <a:gd name="connsiteX118" fmla="*/ 583406 w 1562100"/>
                <a:gd name="connsiteY118" fmla="*/ 1112044 h 1204913"/>
                <a:gd name="connsiteX119" fmla="*/ 590550 w 1562100"/>
                <a:gd name="connsiteY119" fmla="*/ 1073944 h 1204913"/>
                <a:gd name="connsiteX120" fmla="*/ 607219 w 1562100"/>
                <a:gd name="connsiteY120" fmla="*/ 1047751 h 1204913"/>
                <a:gd name="connsiteX121" fmla="*/ 688181 w 1562100"/>
                <a:gd name="connsiteY121" fmla="*/ 1078707 h 1204913"/>
                <a:gd name="connsiteX0" fmla="*/ 688181 w 1562100"/>
                <a:gd name="connsiteY0" fmla="*/ 1078707 h 1204913"/>
                <a:gd name="connsiteX1" fmla="*/ 688181 w 1562100"/>
                <a:gd name="connsiteY1" fmla="*/ 992982 h 1204913"/>
                <a:gd name="connsiteX2" fmla="*/ 692944 w 1562100"/>
                <a:gd name="connsiteY2" fmla="*/ 950119 h 1204913"/>
                <a:gd name="connsiteX3" fmla="*/ 692944 w 1562100"/>
                <a:gd name="connsiteY3" fmla="*/ 904876 h 1204913"/>
                <a:gd name="connsiteX4" fmla="*/ 676275 w 1562100"/>
                <a:gd name="connsiteY4" fmla="*/ 881063 h 1204913"/>
                <a:gd name="connsiteX5" fmla="*/ 690563 w 1562100"/>
                <a:gd name="connsiteY5" fmla="*/ 828676 h 1204913"/>
                <a:gd name="connsiteX6" fmla="*/ 685800 w 1562100"/>
                <a:gd name="connsiteY6" fmla="*/ 802482 h 1204913"/>
                <a:gd name="connsiteX7" fmla="*/ 697706 w 1562100"/>
                <a:gd name="connsiteY7" fmla="*/ 757238 h 1204913"/>
                <a:gd name="connsiteX8" fmla="*/ 714375 w 1562100"/>
                <a:gd name="connsiteY8" fmla="*/ 733426 h 1204913"/>
                <a:gd name="connsiteX9" fmla="*/ 721519 w 1562100"/>
                <a:gd name="connsiteY9" fmla="*/ 700088 h 1204913"/>
                <a:gd name="connsiteX10" fmla="*/ 735806 w 1562100"/>
                <a:gd name="connsiteY10" fmla="*/ 681038 h 1204913"/>
                <a:gd name="connsiteX11" fmla="*/ 792956 w 1562100"/>
                <a:gd name="connsiteY11" fmla="*/ 671513 h 1204913"/>
                <a:gd name="connsiteX12" fmla="*/ 838200 w 1562100"/>
                <a:gd name="connsiteY12" fmla="*/ 654844 h 1204913"/>
                <a:gd name="connsiteX13" fmla="*/ 876300 w 1562100"/>
                <a:gd name="connsiteY13" fmla="*/ 614363 h 1204913"/>
                <a:gd name="connsiteX14" fmla="*/ 923925 w 1562100"/>
                <a:gd name="connsiteY14" fmla="*/ 600076 h 1204913"/>
                <a:gd name="connsiteX15" fmla="*/ 995363 w 1562100"/>
                <a:gd name="connsiteY15" fmla="*/ 595313 h 1204913"/>
                <a:gd name="connsiteX16" fmla="*/ 1040606 w 1562100"/>
                <a:gd name="connsiteY16" fmla="*/ 585788 h 1204913"/>
                <a:gd name="connsiteX17" fmla="*/ 1119188 w 1562100"/>
                <a:gd name="connsiteY17" fmla="*/ 478632 h 1204913"/>
                <a:gd name="connsiteX18" fmla="*/ 1126331 w 1562100"/>
                <a:gd name="connsiteY18" fmla="*/ 445294 h 1204913"/>
                <a:gd name="connsiteX19" fmla="*/ 1152525 w 1562100"/>
                <a:gd name="connsiteY19" fmla="*/ 416719 h 1204913"/>
                <a:gd name="connsiteX20" fmla="*/ 1197769 w 1562100"/>
                <a:gd name="connsiteY20" fmla="*/ 407194 h 1204913"/>
                <a:gd name="connsiteX21" fmla="*/ 1290638 w 1562100"/>
                <a:gd name="connsiteY21" fmla="*/ 330994 h 1204913"/>
                <a:gd name="connsiteX22" fmla="*/ 1314450 w 1562100"/>
                <a:gd name="connsiteY22" fmla="*/ 328613 h 1204913"/>
                <a:gd name="connsiteX23" fmla="*/ 1409700 w 1562100"/>
                <a:gd name="connsiteY23" fmla="*/ 247651 h 1204913"/>
                <a:gd name="connsiteX24" fmla="*/ 1414463 w 1562100"/>
                <a:gd name="connsiteY24" fmla="*/ 228601 h 1204913"/>
                <a:gd name="connsiteX25" fmla="*/ 1507331 w 1562100"/>
                <a:gd name="connsiteY25" fmla="*/ 173832 h 1204913"/>
                <a:gd name="connsiteX26" fmla="*/ 1543050 w 1562100"/>
                <a:gd name="connsiteY26" fmla="*/ 128588 h 1204913"/>
                <a:gd name="connsiteX27" fmla="*/ 1562100 w 1562100"/>
                <a:gd name="connsiteY27" fmla="*/ 90488 h 1204913"/>
                <a:gd name="connsiteX28" fmla="*/ 1512094 w 1562100"/>
                <a:gd name="connsiteY28" fmla="*/ 109538 h 1204913"/>
                <a:gd name="connsiteX29" fmla="*/ 1478756 w 1562100"/>
                <a:gd name="connsiteY29" fmla="*/ 109538 h 1204913"/>
                <a:gd name="connsiteX30" fmla="*/ 1452563 w 1562100"/>
                <a:gd name="connsiteY30" fmla="*/ 147638 h 1204913"/>
                <a:gd name="connsiteX31" fmla="*/ 1421606 w 1562100"/>
                <a:gd name="connsiteY31" fmla="*/ 145257 h 1204913"/>
                <a:gd name="connsiteX32" fmla="*/ 1366838 w 1562100"/>
                <a:gd name="connsiteY32" fmla="*/ 114301 h 1204913"/>
                <a:gd name="connsiteX33" fmla="*/ 1323975 w 1562100"/>
                <a:gd name="connsiteY33" fmla="*/ 102394 h 1204913"/>
                <a:gd name="connsiteX34" fmla="*/ 1238250 w 1562100"/>
                <a:gd name="connsiteY34" fmla="*/ 138113 h 1204913"/>
                <a:gd name="connsiteX35" fmla="*/ 1223963 w 1562100"/>
                <a:gd name="connsiteY35" fmla="*/ 176213 h 1204913"/>
                <a:gd name="connsiteX36" fmla="*/ 1195388 w 1562100"/>
                <a:gd name="connsiteY36" fmla="*/ 233363 h 1204913"/>
                <a:gd name="connsiteX37" fmla="*/ 1109663 w 1562100"/>
                <a:gd name="connsiteY37" fmla="*/ 195263 h 1204913"/>
                <a:gd name="connsiteX38" fmla="*/ 1097756 w 1562100"/>
                <a:gd name="connsiteY38" fmla="*/ 238126 h 1204913"/>
                <a:gd name="connsiteX39" fmla="*/ 1083469 w 1562100"/>
                <a:gd name="connsiteY39" fmla="*/ 271463 h 1204913"/>
                <a:gd name="connsiteX40" fmla="*/ 959644 w 1562100"/>
                <a:gd name="connsiteY40" fmla="*/ 302419 h 1204913"/>
                <a:gd name="connsiteX41" fmla="*/ 945356 w 1562100"/>
                <a:gd name="connsiteY41" fmla="*/ 297657 h 1204913"/>
                <a:gd name="connsiteX42" fmla="*/ 926306 w 1562100"/>
                <a:gd name="connsiteY42" fmla="*/ 319088 h 1204913"/>
                <a:gd name="connsiteX43" fmla="*/ 890588 w 1562100"/>
                <a:gd name="connsiteY43" fmla="*/ 326232 h 1204913"/>
                <a:gd name="connsiteX44" fmla="*/ 854869 w 1562100"/>
                <a:gd name="connsiteY44" fmla="*/ 276226 h 1204913"/>
                <a:gd name="connsiteX45" fmla="*/ 835819 w 1562100"/>
                <a:gd name="connsiteY45" fmla="*/ 264319 h 1204913"/>
                <a:gd name="connsiteX46" fmla="*/ 826294 w 1562100"/>
                <a:gd name="connsiteY46" fmla="*/ 219076 h 1204913"/>
                <a:gd name="connsiteX47" fmla="*/ 792956 w 1562100"/>
                <a:gd name="connsiteY47" fmla="*/ 202407 h 1204913"/>
                <a:gd name="connsiteX48" fmla="*/ 759619 w 1562100"/>
                <a:gd name="connsiteY48" fmla="*/ 195263 h 1204913"/>
                <a:gd name="connsiteX49" fmla="*/ 740569 w 1562100"/>
                <a:gd name="connsiteY49" fmla="*/ 190501 h 1204913"/>
                <a:gd name="connsiteX50" fmla="*/ 728663 w 1562100"/>
                <a:gd name="connsiteY50" fmla="*/ 180976 h 1204913"/>
                <a:gd name="connsiteX51" fmla="*/ 735806 w 1562100"/>
                <a:gd name="connsiteY51" fmla="*/ 154782 h 1204913"/>
                <a:gd name="connsiteX52" fmla="*/ 742950 w 1562100"/>
                <a:gd name="connsiteY52" fmla="*/ 130969 h 1204913"/>
                <a:gd name="connsiteX53" fmla="*/ 700088 w 1562100"/>
                <a:gd name="connsiteY53" fmla="*/ 80963 h 1204913"/>
                <a:gd name="connsiteX54" fmla="*/ 392906 w 1562100"/>
                <a:gd name="connsiteY54" fmla="*/ 19051 h 1204913"/>
                <a:gd name="connsiteX55" fmla="*/ 314326 w 1562100"/>
                <a:gd name="connsiteY55" fmla="*/ 0 h 1204913"/>
                <a:gd name="connsiteX56" fmla="*/ 328613 w 1562100"/>
                <a:gd name="connsiteY56" fmla="*/ 78582 h 1204913"/>
                <a:gd name="connsiteX57" fmla="*/ 292894 w 1562100"/>
                <a:gd name="connsiteY57" fmla="*/ 180976 h 1204913"/>
                <a:gd name="connsiteX58" fmla="*/ 264319 w 1562100"/>
                <a:gd name="connsiteY58" fmla="*/ 188119 h 1204913"/>
                <a:gd name="connsiteX59" fmla="*/ 261938 w 1562100"/>
                <a:gd name="connsiteY59" fmla="*/ 202407 h 1204913"/>
                <a:gd name="connsiteX60" fmla="*/ 261938 w 1562100"/>
                <a:gd name="connsiteY60" fmla="*/ 235744 h 1204913"/>
                <a:gd name="connsiteX61" fmla="*/ 228600 w 1562100"/>
                <a:gd name="connsiteY61" fmla="*/ 278607 h 1204913"/>
                <a:gd name="connsiteX62" fmla="*/ 271463 w 1562100"/>
                <a:gd name="connsiteY62" fmla="*/ 295276 h 1204913"/>
                <a:gd name="connsiteX63" fmla="*/ 278606 w 1562100"/>
                <a:gd name="connsiteY63" fmla="*/ 314326 h 1204913"/>
                <a:gd name="connsiteX64" fmla="*/ 257175 w 1562100"/>
                <a:gd name="connsiteY64" fmla="*/ 350044 h 1204913"/>
                <a:gd name="connsiteX65" fmla="*/ 221456 w 1562100"/>
                <a:gd name="connsiteY65" fmla="*/ 359569 h 1204913"/>
                <a:gd name="connsiteX66" fmla="*/ 221456 w 1562100"/>
                <a:gd name="connsiteY66" fmla="*/ 400051 h 1204913"/>
                <a:gd name="connsiteX67" fmla="*/ 254794 w 1562100"/>
                <a:gd name="connsiteY67" fmla="*/ 438151 h 1204913"/>
                <a:gd name="connsiteX68" fmla="*/ 226219 w 1562100"/>
                <a:gd name="connsiteY68" fmla="*/ 502444 h 1204913"/>
                <a:gd name="connsiteX69" fmla="*/ 180975 w 1562100"/>
                <a:gd name="connsiteY69" fmla="*/ 531019 h 1204913"/>
                <a:gd name="connsiteX70" fmla="*/ 183356 w 1562100"/>
                <a:gd name="connsiteY70" fmla="*/ 547688 h 1204913"/>
                <a:gd name="connsiteX71" fmla="*/ 204788 w 1562100"/>
                <a:gd name="connsiteY71" fmla="*/ 557213 h 1204913"/>
                <a:gd name="connsiteX72" fmla="*/ 219075 w 1562100"/>
                <a:gd name="connsiteY72" fmla="*/ 566738 h 1204913"/>
                <a:gd name="connsiteX73" fmla="*/ 223838 w 1562100"/>
                <a:gd name="connsiteY73" fmla="*/ 585788 h 1204913"/>
                <a:gd name="connsiteX74" fmla="*/ 195263 w 1562100"/>
                <a:gd name="connsiteY74" fmla="*/ 611982 h 1204913"/>
                <a:gd name="connsiteX75" fmla="*/ 123825 w 1562100"/>
                <a:gd name="connsiteY75" fmla="*/ 657226 h 1204913"/>
                <a:gd name="connsiteX76" fmla="*/ 123825 w 1562100"/>
                <a:gd name="connsiteY76" fmla="*/ 692944 h 1204913"/>
                <a:gd name="connsiteX77" fmla="*/ 135731 w 1562100"/>
                <a:gd name="connsiteY77" fmla="*/ 723901 h 1204913"/>
                <a:gd name="connsiteX78" fmla="*/ 123825 w 1562100"/>
                <a:gd name="connsiteY78" fmla="*/ 764382 h 1204913"/>
                <a:gd name="connsiteX79" fmla="*/ 76200 w 1562100"/>
                <a:gd name="connsiteY79" fmla="*/ 759619 h 1204913"/>
                <a:gd name="connsiteX80" fmla="*/ 52388 w 1562100"/>
                <a:gd name="connsiteY80" fmla="*/ 704851 h 1204913"/>
                <a:gd name="connsiteX81" fmla="*/ 33338 w 1562100"/>
                <a:gd name="connsiteY81" fmla="*/ 697707 h 1204913"/>
                <a:gd name="connsiteX82" fmla="*/ 23813 w 1562100"/>
                <a:gd name="connsiteY82" fmla="*/ 735807 h 1204913"/>
                <a:gd name="connsiteX83" fmla="*/ 21431 w 1562100"/>
                <a:gd name="connsiteY83" fmla="*/ 745332 h 1204913"/>
                <a:gd name="connsiteX84" fmla="*/ 7144 w 1562100"/>
                <a:gd name="connsiteY84" fmla="*/ 762001 h 1204913"/>
                <a:gd name="connsiteX85" fmla="*/ 0 w 1562100"/>
                <a:gd name="connsiteY85" fmla="*/ 819151 h 1204913"/>
                <a:gd name="connsiteX86" fmla="*/ 23813 w 1562100"/>
                <a:gd name="connsiteY86" fmla="*/ 847726 h 1204913"/>
                <a:gd name="connsiteX87" fmla="*/ 16669 w 1562100"/>
                <a:gd name="connsiteY87" fmla="*/ 888207 h 1204913"/>
                <a:gd name="connsiteX88" fmla="*/ 35719 w 1562100"/>
                <a:gd name="connsiteY88" fmla="*/ 892969 h 1204913"/>
                <a:gd name="connsiteX89" fmla="*/ 69056 w 1562100"/>
                <a:gd name="connsiteY89" fmla="*/ 892969 h 1204913"/>
                <a:gd name="connsiteX90" fmla="*/ 85725 w 1562100"/>
                <a:gd name="connsiteY90" fmla="*/ 883444 h 1204913"/>
                <a:gd name="connsiteX91" fmla="*/ 135731 w 1562100"/>
                <a:gd name="connsiteY91" fmla="*/ 940594 h 1204913"/>
                <a:gd name="connsiteX92" fmla="*/ 123825 w 1562100"/>
                <a:gd name="connsiteY92" fmla="*/ 959644 h 1204913"/>
                <a:gd name="connsiteX93" fmla="*/ 133350 w 1562100"/>
                <a:gd name="connsiteY93" fmla="*/ 988219 h 1204913"/>
                <a:gd name="connsiteX94" fmla="*/ 164306 w 1562100"/>
                <a:gd name="connsiteY94" fmla="*/ 1007269 h 1204913"/>
                <a:gd name="connsiteX95" fmla="*/ 190500 w 1562100"/>
                <a:gd name="connsiteY95" fmla="*/ 1016794 h 1204913"/>
                <a:gd name="connsiteX96" fmla="*/ 216694 w 1562100"/>
                <a:gd name="connsiteY96" fmla="*/ 1023938 h 1204913"/>
                <a:gd name="connsiteX97" fmla="*/ 228600 w 1562100"/>
                <a:gd name="connsiteY97" fmla="*/ 1026319 h 1204913"/>
                <a:gd name="connsiteX98" fmla="*/ 240506 w 1562100"/>
                <a:gd name="connsiteY98" fmla="*/ 988219 h 1204913"/>
                <a:gd name="connsiteX99" fmla="*/ 269081 w 1562100"/>
                <a:gd name="connsiteY99" fmla="*/ 992982 h 1204913"/>
                <a:gd name="connsiteX100" fmla="*/ 288131 w 1562100"/>
                <a:gd name="connsiteY100" fmla="*/ 981076 h 1204913"/>
                <a:gd name="connsiteX101" fmla="*/ 307181 w 1562100"/>
                <a:gd name="connsiteY101" fmla="*/ 1031082 h 1204913"/>
                <a:gd name="connsiteX102" fmla="*/ 330994 w 1562100"/>
                <a:gd name="connsiteY102" fmla="*/ 1045369 h 1204913"/>
                <a:gd name="connsiteX103" fmla="*/ 340519 w 1562100"/>
                <a:gd name="connsiteY103" fmla="*/ 1073944 h 1204913"/>
                <a:gd name="connsiteX104" fmla="*/ 357188 w 1562100"/>
                <a:gd name="connsiteY104" fmla="*/ 1083469 h 1204913"/>
                <a:gd name="connsiteX105" fmla="*/ 364331 w 1562100"/>
                <a:gd name="connsiteY105" fmla="*/ 1114426 h 1204913"/>
                <a:gd name="connsiteX106" fmla="*/ 335756 w 1562100"/>
                <a:gd name="connsiteY106" fmla="*/ 1140619 h 1204913"/>
                <a:gd name="connsiteX107" fmla="*/ 309563 w 1562100"/>
                <a:gd name="connsiteY107" fmla="*/ 1157288 h 1204913"/>
                <a:gd name="connsiteX108" fmla="*/ 297656 w 1562100"/>
                <a:gd name="connsiteY108" fmla="*/ 1181101 h 1204913"/>
                <a:gd name="connsiteX109" fmla="*/ 302419 w 1562100"/>
                <a:gd name="connsiteY109" fmla="*/ 1204913 h 1204913"/>
                <a:gd name="connsiteX110" fmla="*/ 342900 w 1562100"/>
                <a:gd name="connsiteY110" fmla="*/ 1204913 h 1204913"/>
                <a:gd name="connsiteX111" fmla="*/ 390525 w 1562100"/>
                <a:gd name="connsiteY111" fmla="*/ 1200151 h 1204913"/>
                <a:gd name="connsiteX112" fmla="*/ 428625 w 1562100"/>
                <a:gd name="connsiteY112" fmla="*/ 1190626 h 1204913"/>
                <a:gd name="connsiteX113" fmla="*/ 454819 w 1562100"/>
                <a:gd name="connsiteY113" fmla="*/ 1197769 h 1204913"/>
                <a:gd name="connsiteX114" fmla="*/ 473869 w 1562100"/>
                <a:gd name="connsiteY114" fmla="*/ 1176338 h 1204913"/>
                <a:gd name="connsiteX115" fmla="*/ 492919 w 1562100"/>
                <a:gd name="connsiteY115" fmla="*/ 1176338 h 1204913"/>
                <a:gd name="connsiteX116" fmla="*/ 507206 w 1562100"/>
                <a:gd name="connsiteY116" fmla="*/ 1145382 h 1204913"/>
                <a:gd name="connsiteX117" fmla="*/ 557213 w 1562100"/>
                <a:gd name="connsiteY117" fmla="*/ 1131094 h 1204913"/>
                <a:gd name="connsiteX118" fmla="*/ 583406 w 1562100"/>
                <a:gd name="connsiteY118" fmla="*/ 1112044 h 1204913"/>
                <a:gd name="connsiteX119" fmla="*/ 590550 w 1562100"/>
                <a:gd name="connsiteY119" fmla="*/ 1073944 h 1204913"/>
                <a:gd name="connsiteX120" fmla="*/ 607219 w 1562100"/>
                <a:gd name="connsiteY120" fmla="*/ 1047751 h 1204913"/>
                <a:gd name="connsiteX121" fmla="*/ 688181 w 1562100"/>
                <a:gd name="connsiteY121" fmla="*/ 1078707 h 1204913"/>
                <a:gd name="connsiteX0" fmla="*/ 688181 w 1562100"/>
                <a:gd name="connsiteY0" fmla="*/ 1089758 h 1215964"/>
                <a:gd name="connsiteX1" fmla="*/ 688181 w 1562100"/>
                <a:gd name="connsiteY1" fmla="*/ 1004033 h 1215964"/>
                <a:gd name="connsiteX2" fmla="*/ 692944 w 1562100"/>
                <a:gd name="connsiteY2" fmla="*/ 961170 h 1215964"/>
                <a:gd name="connsiteX3" fmla="*/ 692944 w 1562100"/>
                <a:gd name="connsiteY3" fmla="*/ 915927 h 1215964"/>
                <a:gd name="connsiteX4" fmla="*/ 676275 w 1562100"/>
                <a:gd name="connsiteY4" fmla="*/ 892114 h 1215964"/>
                <a:gd name="connsiteX5" fmla="*/ 690563 w 1562100"/>
                <a:gd name="connsiteY5" fmla="*/ 839727 h 1215964"/>
                <a:gd name="connsiteX6" fmla="*/ 685800 w 1562100"/>
                <a:gd name="connsiteY6" fmla="*/ 813533 h 1215964"/>
                <a:gd name="connsiteX7" fmla="*/ 697706 w 1562100"/>
                <a:gd name="connsiteY7" fmla="*/ 768289 h 1215964"/>
                <a:gd name="connsiteX8" fmla="*/ 714375 w 1562100"/>
                <a:gd name="connsiteY8" fmla="*/ 744477 h 1215964"/>
                <a:gd name="connsiteX9" fmla="*/ 721519 w 1562100"/>
                <a:gd name="connsiteY9" fmla="*/ 711139 h 1215964"/>
                <a:gd name="connsiteX10" fmla="*/ 735806 w 1562100"/>
                <a:gd name="connsiteY10" fmla="*/ 692089 h 1215964"/>
                <a:gd name="connsiteX11" fmla="*/ 792956 w 1562100"/>
                <a:gd name="connsiteY11" fmla="*/ 682564 h 1215964"/>
                <a:gd name="connsiteX12" fmla="*/ 838200 w 1562100"/>
                <a:gd name="connsiteY12" fmla="*/ 665895 h 1215964"/>
                <a:gd name="connsiteX13" fmla="*/ 876300 w 1562100"/>
                <a:gd name="connsiteY13" fmla="*/ 625414 h 1215964"/>
                <a:gd name="connsiteX14" fmla="*/ 923925 w 1562100"/>
                <a:gd name="connsiteY14" fmla="*/ 611127 h 1215964"/>
                <a:gd name="connsiteX15" fmla="*/ 995363 w 1562100"/>
                <a:gd name="connsiteY15" fmla="*/ 606364 h 1215964"/>
                <a:gd name="connsiteX16" fmla="*/ 1040606 w 1562100"/>
                <a:gd name="connsiteY16" fmla="*/ 596839 h 1215964"/>
                <a:gd name="connsiteX17" fmla="*/ 1119188 w 1562100"/>
                <a:gd name="connsiteY17" fmla="*/ 489683 h 1215964"/>
                <a:gd name="connsiteX18" fmla="*/ 1126331 w 1562100"/>
                <a:gd name="connsiteY18" fmla="*/ 456345 h 1215964"/>
                <a:gd name="connsiteX19" fmla="*/ 1152525 w 1562100"/>
                <a:gd name="connsiteY19" fmla="*/ 427770 h 1215964"/>
                <a:gd name="connsiteX20" fmla="*/ 1197769 w 1562100"/>
                <a:gd name="connsiteY20" fmla="*/ 418245 h 1215964"/>
                <a:gd name="connsiteX21" fmla="*/ 1290638 w 1562100"/>
                <a:gd name="connsiteY21" fmla="*/ 342045 h 1215964"/>
                <a:gd name="connsiteX22" fmla="*/ 1314450 w 1562100"/>
                <a:gd name="connsiteY22" fmla="*/ 339664 h 1215964"/>
                <a:gd name="connsiteX23" fmla="*/ 1409700 w 1562100"/>
                <a:gd name="connsiteY23" fmla="*/ 258702 h 1215964"/>
                <a:gd name="connsiteX24" fmla="*/ 1414463 w 1562100"/>
                <a:gd name="connsiteY24" fmla="*/ 239652 h 1215964"/>
                <a:gd name="connsiteX25" fmla="*/ 1507331 w 1562100"/>
                <a:gd name="connsiteY25" fmla="*/ 184883 h 1215964"/>
                <a:gd name="connsiteX26" fmla="*/ 1543050 w 1562100"/>
                <a:gd name="connsiteY26" fmla="*/ 139639 h 1215964"/>
                <a:gd name="connsiteX27" fmla="*/ 1562100 w 1562100"/>
                <a:gd name="connsiteY27" fmla="*/ 101539 h 1215964"/>
                <a:gd name="connsiteX28" fmla="*/ 1512094 w 1562100"/>
                <a:gd name="connsiteY28" fmla="*/ 120589 h 1215964"/>
                <a:gd name="connsiteX29" fmla="*/ 1478756 w 1562100"/>
                <a:gd name="connsiteY29" fmla="*/ 120589 h 1215964"/>
                <a:gd name="connsiteX30" fmla="*/ 1452563 w 1562100"/>
                <a:gd name="connsiteY30" fmla="*/ 158689 h 1215964"/>
                <a:gd name="connsiteX31" fmla="*/ 1421606 w 1562100"/>
                <a:gd name="connsiteY31" fmla="*/ 156308 h 1215964"/>
                <a:gd name="connsiteX32" fmla="*/ 1366838 w 1562100"/>
                <a:gd name="connsiteY32" fmla="*/ 125352 h 1215964"/>
                <a:gd name="connsiteX33" fmla="*/ 1323975 w 1562100"/>
                <a:gd name="connsiteY33" fmla="*/ 113445 h 1215964"/>
                <a:gd name="connsiteX34" fmla="*/ 1238250 w 1562100"/>
                <a:gd name="connsiteY34" fmla="*/ 149164 h 1215964"/>
                <a:gd name="connsiteX35" fmla="*/ 1223963 w 1562100"/>
                <a:gd name="connsiteY35" fmla="*/ 187264 h 1215964"/>
                <a:gd name="connsiteX36" fmla="*/ 1195388 w 1562100"/>
                <a:gd name="connsiteY36" fmla="*/ 244414 h 1215964"/>
                <a:gd name="connsiteX37" fmla="*/ 1109663 w 1562100"/>
                <a:gd name="connsiteY37" fmla="*/ 206314 h 1215964"/>
                <a:gd name="connsiteX38" fmla="*/ 1097756 w 1562100"/>
                <a:gd name="connsiteY38" fmla="*/ 249177 h 1215964"/>
                <a:gd name="connsiteX39" fmla="*/ 1083469 w 1562100"/>
                <a:gd name="connsiteY39" fmla="*/ 282514 h 1215964"/>
                <a:gd name="connsiteX40" fmla="*/ 959644 w 1562100"/>
                <a:gd name="connsiteY40" fmla="*/ 313470 h 1215964"/>
                <a:gd name="connsiteX41" fmla="*/ 945356 w 1562100"/>
                <a:gd name="connsiteY41" fmla="*/ 308708 h 1215964"/>
                <a:gd name="connsiteX42" fmla="*/ 926306 w 1562100"/>
                <a:gd name="connsiteY42" fmla="*/ 330139 h 1215964"/>
                <a:gd name="connsiteX43" fmla="*/ 890588 w 1562100"/>
                <a:gd name="connsiteY43" fmla="*/ 337283 h 1215964"/>
                <a:gd name="connsiteX44" fmla="*/ 854869 w 1562100"/>
                <a:gd name="connsiteY44" fmla="*/ 287277 h 1215964"/>
                <a:gd name="connsiteX45" fmla="*/ 835819 w 1562100"/>
                <a:gd name="connsiteY45" fmla="*/ 275370 h 1215964"/>
                <a:gd name="connsiteX46" fmla="*/ 826294 w 1562100"/>
                <a:gd name="connsiteY46" fmla="*/ 230127 h 1215964"/>
                <a:gd name="connsiteX47" fmla="*/ 792956 w 1562100"/>
                <a:gd name="connsiteY47" fmla="*/ 213458 h 1215964"/>
                <a:gd name="connsiteX48" fmla="*/ 759619 w 1562100"/>
                <a:gd name="connsiteY48" fmla="*/ 206314 h 1215964"/>
                <a:gd name="connsiteX49" fmla="*/ 740569 w 1562100"/>
                <a:gd name="connsiteY49" fmla="*/ 201552 h 1215964"/>
                <a:gd name="connsiteX50" fmla="*/ 728663 w 1562100"/>
                <a:gd name="connsiteY50" fmla="*/ 192027 h 1215964"/>
                <a:gd name="connsiteX51" fmla="*/ 735806 w 1562100"/>
                <a:gd name="connsiteY51" fmla="*/ 165833 h 1215964"/>
                <a:gd name="connsiteX52" fmla="*/ 742950 w 1562100"/>
                <a:gd name="connsiteY52" fmla="*/ 142020 h 1215964"/>
                <a:gd name="connsiteX53" fmla="*/ 700088 w 1562100"/>
                <a:gd name="connsiteY53" fmla="*/ 92014 h 1215964"/>
                <a:gd name="connsiteX54" fmla="*/ 376238 w 1562100"/>
                <a:gd name="connsiteY54" fmla="*/ 11052 h 1215964"/>
                <a:gd name="connsiteX55" fmla="*/ 314326 w 1562100"/>
                <a:gd name="connsiteY55" fmla="*/ 11051 h 1215964"/>
                <a:gd name="connsiteX56" fmla="*/ 328613 w 1562100"/>
                <a:gd name="connsiteY56" fmla="*/ 89633 h 1215964"/>
                <a:gd name="connsiteX57" fmla="*/ 292894 w 1562100"/>
                <a:gd name="connsiteY57" fmla="*/ 192027 h 1215964"/>
                <a:gd name="connsiteX58" fmla="*/ 264319 w 1562100"/>
                <a:gd name="connsiteY58" fmla="*/ 199170 h 1215964"/>
                <a:gd name="connsiteX59" fmla="*/ 261938 w 1562100"/>
                <a:gd name="connsiteY59" fmla="*/ 213458 h 1215964"/>
                <a:gd name="connsiteX60" fmla="*/ 261938 w 1562100"/>
                <a:gd name="connsiteY60" fmla="*/ 246795 h 1215964"/>
                <a:gd name="connsiteX61" fmla="*/ 228600 w 1562100"/>
                <a:gd name="connsiteY61" fmla="*/ 289658 h 1215964"/>
                <a:gd name="connsiteX62" fmla="*/ 271463 w 1562100"/>
                <a:gd name="connsiteY62" fmla="*/ 306327 h 1215964"/>
                <a:gd name="connsiteX63" fmla="*/ 278606 w 1562100"/>
                <a:gd name="connsiteY63" fmla="*/ 325377 h 1215964"/>
                <a:gd name="connsiteX64" fmla="*/ 257175 w 1562100"/>
                <a:gd name="connsiteY64" fmla="*/ 361095 h 1215964"/>
                <a:gd name="connsiteX65" fmla="*/ 221456 w 1562100"/>
                <a:gd name="connsiteY65" fmla="*/ 370620 h 1215964"/>
                <a:gd name="connsiteX66" fmla="*/ 221456 w 1562100"/>
                <a:gd name="connsiteY66" fmla="*/ 411102 h 1215964"/>
                <a:gd name="connsiteX67" fmla="*/ 254794 w 1562100"/>
                <a:gd name="connsiteY67" fmla="*/ 449202 h 1215964"/>
                <a:gd name="connsiteX68" fmla="*/ 226219 w 1562100"/>
                <a:gd name="connsiteY68" fmla="*/ 513495 h 1215964"/>
                <a:gd name="connsiteX69" fmla="*/ 180975 w 1562100"/>
                <a:gd name="connsiteY69" fmla="*/ 542070 h 1215964"/>
                <a:gd name="connsiteX70" fmla="*/ 183356 w 1562100"/>
                <a:gd name="connsiteY70" fmla="*/ 558739 h 1215964"/>
                <a:gd name="connsiteX71" fmla="*/ 204788 w 1562100"/>
                <a:gd name="connsiteY71" fmla="*/ 568264 h 1215964"/>
                <a:gd name="connsiteX72" fmla="*/ 219075 w 1562100"/>
                <a:gd name="connsiteY72" fmla="*/ 577789 h 1215964"/>
                <a:gd name="connsiteX73" fmla="*/ 223838 w 1562100"/>
                <a:gd name="connsiteY73" fmla="*/ 596839 h 1215964"/>
                <a:gd name="connsiteX74" fmla="*/ 195263 w 1562100"/>
                <a:gd name="connsiteY74" fmla="*/ 623033 h 1215964"/>
                <a:gd name="connsiteX75" fmla="*/ 123825 w 1562100"/>
                <a:gd name="connsiteY75" fmla="*/ 668277 h 1215964"/>
                <a:gd name="connsiteX76" fmla="*/ 123825 w 1562100"/>
                <a:gd name="connsiteY76" fmla="*/ 703995 h 1215964"/>
                <a:gd name="connsiteX77" fmla="*/ 135731 w 1562100"/>
                <a:gd name="connsiteY77" fmla="*/ 734952 h 1215964"/>
                <a:gd name="connsiteX78" fmla="*/ 123825 w 1562100"/>
                <a:gd name="connsiteY78" fmla="*/ 775433 h 1215964"/>
                <a:gd name="connsiteX79" fmla="*/ 76200 w 1562100"/>
                <a:gd name="connsiteY79" fmla="*/ 770670 h 1215964"/>
                <a:gd name="connsiteX80" fmla="*/ 52388 w 1562100"/>
                <a:gd name="connsiteY80" fmla="*/ 715902 h 1215964"/>
                <a:gd name="connsiteX81" fmla="*/ 33338 w 1562100"/>
                <a:gd name="connsiteY81" fmla="*/ 708758 h 1215964"/>
                <a:gd name="connsiteX82" fmla="*/ 23813 w 1562100"/>
                <a:gd name="connsiteY82" fmla="*/ 746858 h 1215964"/>
                <a:gd name="connsiteX83" fmla="*/ 21431 w 1562100"/>
                <a:gd name="connsiteY83" fmla="*/ 756383 h 1215964"/>
                <a:gd name="connsiteX84" fmla="*/ 7144 w 1562100"/>
                <a:gd name="connsiteY84" fmla="*/ 773052 h 1215964"/>
                <a:gd name="connsiteX85" fmla="*/ 0 w 1562100"/>
                <a:gd name="connsiteY85" fmla="*/ 830202 h 1215964"/>
                <a:gd name="connsiteX86" fmla="*/ 23813 w 1562100"/>
                <a:gd name="connsiteY86" fmla="*/ 858777 h 1215964"/>
                <a:gd name="connsiteX87" fmla="*/ 16669 w 1562100"/>
                <a:gd name="connsiteY87" fmla="*/ 899258 h 1215964"/>
                <a:gd name="connsiteX88" fmla="*/ 35719 w 1562100"/>
                <a:gd name="connsiteY88" fmla="*/ 904020 h 1215964"/>
                <a:gd name="connsiteX89" fmla="*/ 69056 w 1562100"/>
                <a:gd name="connsiteY89" fmla="*/ 904020 h 1215964"/>
                <a:gd name="connsiteX90" fmla="*/ 85725 w 1562100"/>
                <a:gd name="connsiteY90" fmla="*/ 894495 h 1215964"/>
                <a:gd name="connsiteX91" fmla="*/ 135731 w 1562100"/>
                <a:gd name="connsiteY91" fmla="*/ 951645 h 1215964"/>
                <a:gd name="connsiteX92" fmla="*/ 123825 w 1562100"/>
                <a:gd name="connsiteY92" fmla="*/ 970695 h 1215964"/>
                <a:gd name="connsiteX93" fmla="*/ 133350 w 1562100"/>
                <a:gd name="connsiteY93" fmla="*/ 999270 h 1215964"/>
                <a:gd name="connsiteX94" fmla="*/ 164306 w 1562100"/>
                <a:gd name="connsiteY94" fmla="*/ 1018320 h 1215964"/>
                <a:gd name="connsiteX95" fmla="*/ 190500 w 1562100"/>
                <a:gd name="connsiteY95" fmla="*/ 1027845 h 1215964"/>
                <a:gd name="connsiteX96" fmla="*/ 216694 w 1562100"/>
                <a:gd name="connsiteY96" fmla="*/ 1034989 h 1215964"/>
                <a:gd name="connsiteX97" fmla="*/ 228600 w 1562100"/>
                <a:gd name="connsiteY97" fmla="*/ 1037370 h 1215964"/>
                <a:gd name="connsiteX98" fmla="*/ 240506 w 1562100"/>
                <a:gd name="connsiteY98" fmla="*/ 999270 h 1215964"/>
                <a:gd name="connsiteX99" fmla="*/ 269081 w 1562100"/>
                <a:gd name="connsiteY99" fmla="*/ 1004033 h 1215964"/>
                <a:gd name="connsiteX100" fmla="*/ 288131 w 1562100"/>
                <a:gd name="connsiteY100" fmla="*/ 992127 h 1215964"/>
                <a:gd name="connsiteX101" fmla="*/ 307181 w 1562100"/>
                <a:gd name="connsiteY101" fmla="*/ 1042133 h 1215964"/>
                <a:gd name="connsiteX102" fmla="*/ 330994 w 1562100"/>
                <a:gd name="connsiteY102" fmla="*/ 1056420 h 1215964"/>
                <a:gd name="connsiteX103" fmla="*/ 340519 w 1562100"/>
                <a:gd name="connsiteY103" fmla="*/ 1084995 h 1215964"/>
                <a:gd name="connsiteX104" fmla="*/ 357188 w 1562100"/>
                <a:gd name="connsiteY104" fmla="*/ 1094520 h 1215964"/>
                <a:gd name="connsiteX105" fmla="*/ 364331 w 1562100"/>
                <a:gd name="connsiteY105" fmla="*/ 1125477 h 1215964"/>
                <a:gd name="connsiteX106" fmla="*/ 335756 w 1562100"/>
                <a:gd name="connsiteY106" fmla="*/ 1151670 h 1215964"/>
                <a:gd name="connsiteX107" fmla="*/ 309563 w 1562100"/>
                <a:gd name="connsiteY107" fmla="*/ 1168339 h 1215964"/>
                <a:gd name="connsiteX108" fmla="*/ 297656 w 1562100"/>
                <a:gd name="connsiteY108" fmla="*/ 1192152 h 1215964"/>
                <a:gd name="connsiteX109" fmla="*/ 302419 w 1562100"/>
                <a:gd name="connsiteY109" fmla="*/ 1215964 h 1215964"/>
                <a:gd name="connsiteX110" fmla="*/ 342900 w 1562100"/>
                <a:gd name="connsiteY110" fmla="*/ 1215964 h 1215964"/>
                <a:gd name="connsiteX111" fmla="*/ 390525 w 1562100"/>
                <a:gd name="connsiteY111" fmla="*/ 1211202 h 1215964"/>
                <a:gd name="connsiteX112" fmla="*/ 428625 w 1562100"/>
                <a:gd name="connsiteY112" fmla="*/ 1201677 h 1215964"/>
                <a:gd name="connsiteX113" fmla="*/ 454819 w 1562100"/>
                <a:gd name="connsiteY113" fmla="*/ 1208820 h 1215964"/>
                <a:gd name="connsiteX114" fmla="*/ 473869 w 1562100"/>
                <a:gd name="connsiteY114" fmla="*/ 1187389 h 1215964"/>
                <a:gd name="connsiteX115" fmla="*/ 492919 w 1562100"/>
                <a:gd name="connsiteY115" fmla="*/ 1187389 h 1215964"/>
                <a:gd name="connsiteX116" fmla="*/ 507206 w 1562100"/>
                <a:gd name="connsiteY116" fmla="*/ 1156433 h 1215964"/>
                <a:gd name="connsiteX117" fmla="*/ 557213 w 1562100"/>
                <a:gd name="connsiteY117" fmla="*/ 1142145 h 1215964"/>
                <a:gd name="connsiteX118" fmla="*/ 583406 w 1562100"/>
                <a:gd name="connsiteY118" fmla="*/ 1123095 h 1215964"/>
                <a:gd name="connsiteX119" fmla="*/ 590550 w 1562100"/>
                <a:gd name="connsiteY119" fmla="*/ 1084995 h 1215964"/>
                <a:gd name="connsiteX120" fmla="*/ 607219 w 1562100"/>
                <a:gd name="connsiteY120" fmla="*/ 1058802 h 1215964"/>
                <a:gd name="connsiteX121" fmla="*/ 688181 w 1562100"/>
                <a:gd name="connsiteY121" fmla="*/ 1089758 h 1215964"/>
                <a:gd name="connsiteX0" fmla="*/ 688181 w 1562100"/>
                <a:gd name="connsiteY0" fmla="*/ 1089758 h 1215964"/>
                <a:gd name="connsiteX1" fmla="*/ 688181 w 1562100"/>
                <a:gd name="connsiteY1" fmla="*/ 1004033 h 1215964"/>
                <a:gd name="connsiteX2" fmla="*/ 692944 w 1562100"/>
                <a:gd name="connsiteY2" fmla="*/ 961170 h 1215964"/>
                <a:gd name="connsiteX3" fmla="*/ 692944 w 1562100"/>
                <a:gd name="connsiteY3" fmla="*/ 915927 h 1215964"/>
                <a:gd name="connsiteX4" fmla="*/ 676275 w 1562100"/>
                <a:gd name="connsiteY4" fmla="*/ 892114 h 1215964"/>
                <a:gd name="connsiteX5" fmla="*/ 690563 w 1562100"/>
                <a:gd name="connsiteY5" fmla="*/ 839727 h 1215964"/>
                <a:gd name="connsiteX6" fmla="*/ 685800 w 1562100"/>
                <a:gd name="connsiteY6" fmla="*/ 813533 h 1215964"/>
                <a:gd name="connsiteX7" fmla="*/ 697706 w 1562100"/>
                <a:gd name="connsiteY7" fmla="*/ 768289 h 1215964"/>
                <a:gd name="connsiteX8" fmla="*/ 714375 w 1562100"/>
                <a:gd name="connsiteY8" fmla="*/ 744477 h 1215964"/>
                <a:gd name="connsiteX9" fmla="*/ 721519 w 1562100"/>
                <a:gd name="connsiteY9" fmla="*/ 711139 h 1215964"/>
                <a:gd name="connsiteX10" fmla="*/ 735806 w 1562100"/>
                <a:gd name="connsiteY10" fmla="*/ 692089 h 1215964"/>
                <a:gd name="connsiteX11" fmla="*/ 792956 w 1562100"/>
                <a:gd name="connsiteY11" fmla="*/ 682564 h 1215964"/>
                <a:gd name="connsiteX12" fmla="*/ 838200 w 1562100"/>
                <a:gd name="connsiteY12" fmla="*/ 665895 h 1215964"/>
                <a:gd name="connsiteX13" fmla="*/ 876300 w 1562100"/>
                <a:gd name="connsiteY13" fmla="*/ 625414 h 1215964"/>
                <a:gd name="connsiteX14" fmla="*/ 923925 w 1562100"/>
                <a:gd name="connsiteY14" fmla="*/ 611127 h 1215964"/>
                <a:gd name="connsiteX15" fmla="*/ 995363 w 1562100"/>
                <a:gd name="connsiteY15" fmla="*/ 606364 h 1215964"/>
                <a:gd name="connsiteX16" fmla="*/ 1040606 w 1562100"/>
                <a:gd name="connsiteY16" fmla="*/ 596839 h 1215964"/>
                <a:gd name="connsiteX17" fmla="*/ 1119188 w 1562100"/>
                <a:gd name="connsiteY17" fmla="*/ 489683 h 1215964"/>
                <a:gd name="connsiteX18" fmla="*/ 1126331 w 1562100"/>
                <a:gd name="connsiteY18" fmla="*/ 456345 h 1215964"/>
                <a:gd name="connsiteX19" fmla="*/ 1152525 w 1562100"/>
                <a:gd name="connsiteY19" fmla="*/ 427770 h 1215964"/>
                <a:gd name="connsiteX20" fmla="*/ 1197769 w 1562100"/>
                <a:gd name="connsiteY20" fmla="*/ 418245 h 1215964"/>
                <a:gd name="connsiteX21" fmla="*/ 1290638 w 1562100"/>
                <a:gd name="connsiteY21" fmla="*/ 342045 h 1215964"/>
                <a:gd name="connsiteX22" fmla="*/ 1314450 w 1562100"/>
                <a:gd name="connsiteY22" fmla="*/ 339664 h 1215964"/>
                <a:gd name="connsiteX23" fmla="*/ 1409700 w 1562100"/>
                <a:gd name="connsiteY23" fmla="*/ 258702 h 1215964"/>
                <a:gd name="connsiteX24" fmla="*/ 1414463 w 1562100"/>
                <a:gd name="connsiteY24" fmla="*/ 239652 h 1215964"/>
                <a:gd name="connsiteX25" fmla="*/ 1507331 w 1562100"/>
                <a:gd name="connsiteY25" fmla="*/ 184883 h 1215964"/>
                <a:gd name="connsiteX26" fmla="*/ 1543050 w 1562100"/>
                <a:gd name="connsiteY26" fmla="*/ 139639 h 1215964"/>
                <a:gd name="connsiteX27" fmla="*/ 1562100 w 1562100"/>
                <a:gd name="connsiteY27" fmla="*/ 101539 h 1215964"/>
                <a:gd name="connsiteX28" fmla="*/ 1512094 w 1562100"/>
                <a:gd name="connsiteY28" fmla="*/ 120589 h 1215964"/>
                <a:gd name="connsiteX29" fmla="*/ 1478756 w 1562100"/>
                <a:gd name="connsiteY29" fmla="*/ 120589 h 1215964"/>
                <a:gd name="connsiteX30" fmla="*/ 1452563 w 1562100"/>
                <a:gd name="connsiteY30" fmla="*/ 158689 h 1215964"/>
                <a:gd name="connsiteX31" fmla="*/ 1421606 w 1562100"/>
                <a:gd name="connsiteY31" fmla="*/ 156308 h 1215964"/>
                <a:gd name="connsiteX32" fmla="*/ 1366838 w 1562100"/>
                <a:gd name="connsiteY32" fmla="*/ 125352 h 1215964"/>
                <a:gd name="connsiteX33" fmla="*/ 1323975 w 1562100"/>
                <a:gd name="connsiteY33" fmla="*/ 113445 h 1215964"/>
                <a:gd name="connsiteX34" fmla="*/ 1238250 w 1562100"/>
                <a:gd name="connsiteY34" fmla="*/ 149164 h 1215964"/>
                <a:gd name="connsiteX35" fmla="*/ 1223963 w 1562100"/>
                <a:gd name="connsiteY35" fmla="*/ 187264 h 1215964"/>
                <a:gd name="connsiteX36" fmla="*/ 1195388 w 1562100"/>
                <a:gd name="connsiteY36" fmla="*/ 244414 h 1215964"/>
                <a:gd name="connsiteX37" fmla="*/ 1109663 w 1562100"/>
                <a:gd name="connsiteY37" fmla="*/ 206314 h 1215964"/>
                <a:gd name="connsiteX38" fmla="*/ 1097756 w 1562100"/>
                <a:gd name="connsiteY38" fmla="*/ 249177 h 1215964"/>
                <a:gd name="connsiteX39" fmla="*/ 1083469 w 1562100"/>
                <a:gd name="connsiteY39" fmla="*/ 282514 h 1215964"/>
                <a:gd name="connsiteX40" fmla="*/ 959644 w 1562100"/>
                <a:gd name="connsiteY40" fmla="*/ 313470 h 1215964"/>
                <a:gd name="connsiteX41" fmla="*/ 945356 w 1562100"/>
                <a:gd name="connsiteY41" fmla="*/ 308708 h 1215964"/>
                <a:gd name="connsiteX42" fmla="*/ 926306 w 1562100"/>
                <a:gd name="connsiteY42" fmla="*/ 330139 h 1215964"/>
                <a:gd name="connsiteX43" fmla="*/ 890588 w 1562100"/>
                <a:gd name="connsiteY43" fmla="*/ 337283 h 1215964"/>
                <a:gd name="connsiteX44" fmla="*/ 854869 w 1562100"/>
                <a:gd name="connsiteY44" fmla="*/ 287277 h 1215964"/>
                <a:gd name="connsiteX45" fmla="*/ 835819 w 1562100"/>
                <a:gd name="connsiteY45" fmla="*/ 275370 h 1215964"/>
                <a:gd name="connsiteX46" fmla="*/ 826294 w 1562100"/>
                <a:gd name="connsiteY46" fmla="*/ 230127 h 1215964"/>
                <a:gd name="connsiteX47" fmla="*/ 792956 w 1562100"/>
                <a:gd name="connsiteY47" fmla="*/ 213458 h 1215964"/>
                <a:gd name="connsiteX48" fmla="*/ 759619 w 1562100"/>
                <a:gd name="connsiteY48" fmla="*/ 206314 h 1215964"/>
                <a:gd name="connsiteX49" fmla="*/ 740569 w 1562100"/>
                <a:gd name="connsiteY49" fmla="*/ 201552 h 1215964"/>
                <a:gd name="connsiteX50" fmla="*/ 728663 w 1562100"/>
                <a:gd name="connsiteY50" fmla="*/ 192027 h 1215964"/>
                <a:gd name="connsiteX51" fmla="*/ 735806 w 1562100"/>
                <a:gd name="connsiteY51" fmla="*/ 165833 h 1215964"/>
                <a:gd name="connsiteX52" fmla="*/ 742950 w 1562100"/>
                <a:gd name="connsiteY52" fmla="*/ 142020 h 1215964"/>
                <a:gd name="connsiteX53" fmla="*/ 700088 w 1562100"/>
                <a:gd name="connsiteY53" fmla="*/ 92014 h 1215964"/>
                <a:gd name="connsiteX54" fmla="*/ 447675 w 1562100"/>
                <a:gd name="connsiteY54" fmla="*/ 22958 h 1215964"/>
                <a:gd name="connsiteX55" fmla="*/ 376238 w 1562100"/>
                <a:gd name="connsiteY55" fmla="*/ 11052 h 1215964"/>
                <a:gd name="connsiteX56" fmla="*/ 314326 w 1562100"/>
                <a:gd name="connsiteY56" fmla="*/ 11051 h 1215964"/>
                <a:gd name="connsiteX57" fmla="*/ 328613 w 1562100"/>
                <a:gd name="connsiteY57" fmla="*/ 89633 h 1215964"/>
                <a:gd name="connsiteX58" fmla="*/ 292894 w 1562100"/>
                <a:gd name="connsiteY58" fmla="*/ 192027 h 1215964"/>
                <a:gd name="connsiteX59" fmla="*/ 264319 w 1562100"/>
                <a:gd name="connsiteY59" fmla="*/ 199170 h 1215964"/>
                <a:gd name="connsiteX60" fmla="*/ 261938 w 1562100"/>
                <a:gd name="connsiteY60" fmla="*/ 213458 h 1215964"/>
                <a:gd name="connsiteX61" fmla="*/ 261938 w 1562100"/>
                <a:gd name="connsiteY61" fmla="*/ 246795 h 1215964"/>
                <a:gd name="connsiteX62" fmla="*/ 228600 w 1562100"/>
                <a:gd name="connsiteY62" fmla="*/ 289658 h 1215964"/>
                <a:gd name="connsiteX63" fmla="*/ 271463 w 1562100"/>
                <a:gd name="connsiteY63" fmla="*/ 306327 h 1215964"/>
                <a:gd name="connsiteX64" fmla="*/ 278606 w 1562100"/>
                <a:gd name="connsiteY64" fmla="*/ 325377 h 1215964"/>
                <a:gd name="connsiteX65" fmla="*/ 257175 w 1562100"/>
                <a:gd name="connsiteY65" fmla="*/ 361095 h 1215964"/>
                <a:gd name="connsiteX66" fmla="*/ 221456 w 1562100"/>
                <a:gd name="connsiteY66" fmla="*/ 370620 h 1215964"/>
                <a:gd name="connsiteX67" fmla="*/ 221456 w 1562100"/>
                <a:gd name="connsiteY67" fmla="*/ 411102 h 1215964"/>
                <a:gd name="connsiteX68" fmla="*/ 254794 w 1562100"/>
                <a:gd name="connsiteY68" fmla="*/ 449202 h 1215964"/>
                <a:gd name="connsiteX69" fmla="*/ 226219 w 1562100"/>
                <a:gd name="connsiteY69" fmla="*/ 513495 h 1215964"/>
                <a:gd name="connsiteX70" fmla="*/ 180975 w 1562100"/>
                <a:gd name="connsiteY70" fmla="*/ 542070 h 1215964"/>
                <a:gd name="connsiteX71" fmla="*/ 183356 w 1562100"/>
                <a:gd name="connsiteY71" fmla="*/ 558739 h 1215964"/>
                <a:gd name="connsiteX72" fmla="*/ 204788 w 1562100"/>
                <a:gd name="connsiteY72" fmla="*/ 568264 h 1215964"/>
                <a:gd name="connsiteX73" fmla="*/ 219075 w 1562100"/>
                <a:gd name="connsiteY73" fmla="*/ 577789 h 1215964"/>
                <a:gd name="connsiteX74" fmla="*/ 223838 w 1562100"/>
                <a:gd name="connsiteY74" fmla="*/ 596839 h 1215964"/>
                <a:gd name="connsiteX75" fmla="*/ 195263 w 1562100"/>
                <a:gd name="connsiteY75" fmla="*/ 623033 h 1215964"/>
                <a:gd name="connsiteX76" fmla="*/ 123825 w 1562100"/>
                <a:gd name="connsiteY76" fmla="*/ 668277 h 1215964"/>
                <a:gd name="connsiteX77" fmla="*/ 123825 w 1562100"/>
                <a:gd name="connsiteY77" fmla="*/ 703995 h 1215964"/>
                <a:gd name="connsiteX78" fmla="*/ 135731 w 1562100"/>
                <a:gd name="connsiteY78" fmla="*/ 734952 h 1215964"/>
                <a:gd name="connsiteX79" fmla="*/ 123825 w 1562100"/>
                <a:gd name="connsiteY79" fmla="*/ 775433 h 1215964"/>
                <a:gd name="connsiteX80" fmla="*/ 76200 w 1562100"/>
                <a:gd name="connsiteY80" fmla="*/ 770670 h 1215964"/>
                <a:gd name="connsiteX81" fmla="*/ 52388 w 1562100"/>
                <a:gd name="connsiteY81" fmla="*/ 715902 h 1215964"/>
                <a:gd name="connsiteX82" fmla="*/ 33338 w 1562100"/>
                <a:gd name="connsiteY82" fmla="*/ 708758 h 1215964"/>
                <a:gd name="connsiteX83" fmla="*/ 23813 w 1562100"/>
                <a:gd name="connsiteY83" fmla="*/ 746858 h 1215964"/>
                <a:gd name="connsiteX84" fmla="*/ 21431 w 1562100"/>
                <a:gd name="connsiteY84" fmla="*/ 756383 h 1215964"/>
                <a:gd name="connsiteX85" fmla="*/ 7144 w 1562100"/>
                <a:gd name="connsiteY85" fmla="*/ 773052 h 1215964"/>
                <a:gd name="connsiteX86" fmla="*/ 0 w 1562100"/>
                <a:gd name="connsiteY86" fmla="*/ 830202 h 1215964"/>
                <a:gd name="connsiteX87" fmla="*/ 23813 w 1562100"/>
                <a:gd name="connsiteY87" fmla="*/ 858777 h 1215964"/>
                <a:gd name="connsiteX88" fmla="*/ 16669 w 1562100"/>
                <a:gd name="connsiteY88" fmla="*/ 899258 h 1215964"/>
                <a:gd name="connsiteX89" fmla="*/ 35719 w 1562100"/>
                <a:gd name="connsiteY89" fmla="*/ 904020 h 1215964"/>
                <a:gd name="connsiteX90" fmla="*/ 69056 w 1562100"/>
                <a:gd name="connsiteY90" fmla="*/ 904020 h 1215964"/>
                <a:gd name="connsiteX91" fmla="*/ 85725 w 1562100"/>
                <a:gd name="connsiteY91" fmla="*/ 894495 h 1215964"/>
                <a:gd name="connsiteX92" fmla="*/ 135731 w 1562100"/>
                <a:gd name="connsiteY92" fmla="*/ 951645 h 1215964"/>
                <a:gd name="connsiteX93" fmla="*/ 123825 w 1562100"/>
                <a:gd name="connsiteY93" fmla="*/ 970695 h 1215964"/>
                <a:gd name="connsiteX94" fmla="*/ 133350 w 1562100"/>
                <a:gd name="connsiteY94" fmla="*/ 999270 h 1215964"/>
                <a:gd name="connsiteX95" fmla="*/ 164306 w 1562100"/>
                <a:gd name="connsiteY95" fmla="*/ 1018320 h 1215964"/>
                <a:gd name="connsiteX96" fmla="*/ 190500 w 1562100"/>
                <a:gd name="connsiteY96" fmla="*/ 1027845 h 1215964"/>
                <a:gd name="connsiteX97" fmla="*/ 216694 w 1562100"/>
                <a:gd name="connsiteY97" fmla="*/ 1034989 h 1215964"/>
                <a:gd name="connsiteX98" fmla="*/ 228600 w 1562100"/>
                <a:gd name="connsiteY98" fmla="*/ 1037370 h 1215964"/>
                <a:gd name="connsiteX99" fmla="*/ 240506 w 1562100"/>
                <a:gd name="connsiteY99" fmla="*/ 999270 h 1215964"/>
                <a:gd name="connsiteX100" fmla="*/ 269081 w 1562100"/>
                <a:gd name="connsiteY100" fmla="*/ 1004033 h 1215964"/>
                <a:gd name="connsiteX101" fmla="*/ 288131 w 1562100"/>
                <a:gd name="connsiteY101" fmla="*/ 992127 h 1215964"/>
                <a:gd name="connsiteX102" fmla="*/ 307181 w 1562100"/>
                <a:gd name="connsiteY102" fmla="*/ 1042133 h 1215964"/>
                <a:gd name="connsiteX103" fmla="*/ 330994 w 1562100"/>
                <a:gd name="connsiteY103" fmla="*/ 1056420 h 1215964"/>
                <a:gd name="connsiteX104" fmla="*/ 340519 w 1562100"/>
                <a:gd name="connsiteY104" fmla="*/ 1084995 h 1215964"/>
                <a:gd name="connsiteX105" fmla="*/ 357188 w 1562100"/>
                <a:gd name="connsiteY105" fmla="*/ 1094520 h 1215964"/>
                <a:gd name="connsiteX106" fmla="*/ 364331 w 1562100"/>
                <a:gd name="connsiteY106" fmla="*/ 1125477 h 1215964"/>
                <a:gd name="connsiteX107" fmla="*/ 335756 w 1562100"/>
                <a:gd name="connsiteY107" fmla="*/ 1151670 h 1215964"/>
                <a:gd name="connsiteX108" fmla="*/ 309563 w 1562100"/>
                <a:gd name="connsiteY108" fmla="*/ 1168339 h 1215964"/>
                <a:gd name="connsiteX109" fmla="*/ 297656 w 1562100"/>
                <a:gd name="connsiteY109" fmla="*/ 1192152 h 1215964"/>
                <a:gd name="connsiteX110" fmla="*/ 302419 w 1562100"/>
                <a:gd name="connsiteY110" fmla="*/ 1215964 h 1215964"/>
                <a:gd name="connsiteX111" fmla="*/ 342900 w 1562100"/>
                <a:gd name="connsiteY111" fmla="*/ 1215964 h 1215964"/>
                <a:gd name="connsiteX112" fmla="*/ 390525 w 1562100"/>
                <a:gd name="connsiteY112" fmla="*/ 1211202 h 1215964"/>
                <a:gd name="connsiteX113" fmla="*/ 428625 w 1562100"/>
                <a:gd name="connsiteY113" fmla="*/ 1201677 h 1215964"/>
                <a:gd name="connsiteX114" fmla="*/ 454819 w 1562100"/>
                <a:gd name="connsiteY114" fmla="*/ 1208820 h 1215964"/>
                <a:gd name="connsiteX115" fmla="*/ 473869 w 1562100"/>
                <a:gd name="connsiteY115" fmla="*/ 1187389 h 1215964"/>
                <a:gd name="connsiteX116" fmla="*/ 492919 w 1562100"/>
                <a:gd name="connsiteY116" fmla="*/ 1187389 h 1215964"/>
                <a:gd name="connsiteX117" fmla="*/ 507206 w 1562100"/>
                <a:gd name="connsiteY117" fmla="*/ 1156433 h 1215964"/>
                <a:gd name="connsiteX118" fmla="*/ 557213 w 1562100"/>
                <a:gd name="connsiteY118" fmla="*/ 1142145 h 1215964"/>
                <a:gd name="connsiteX119" fmla="*/ 583406 w 1562100"/>
                <a:gd name="connsiteY119" fmla="*/ 1123095 h 1215964"/>
                <a:gd name="connsiteX120" fmla="*/ 590550 w 1562100"/>
                <a:gd name="connsiteY120" fmla="*/ 1084995 h 1215964"/>
                <a:gd name="connsiteX121" fmla="*/ 607219 w 1562100"/>
                <a:gd name="connsiteY121" fmla="*/ 1058802 h 1215964"/>
                <a:gd name="connsiteX122" fmla="*/ 688181 w 1562100"/>
                <a:gd name="connsiteY122" fmla="*/ 1089758 h 1215964"/>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28625 w 1562100"/>
                <a:gd name="connsiteY54" fmla="*/ 0 h 1309687"/>
                <a:gd name="connsiteX55" fmla="*/ 376238 w 1562100"/>
                <a:gd name="connsiteY55" fmla="*/ 104775 h 1309687"/>
                <a:gd name="connsiteX56" fmla="*/ 314326 w 1562100"/>
                <a:gd name="connsiteY56" fmla="*/ 104774 h 1309687"/>
                <a:gd name="connsiteX57" fmla="*/ 328613 w 1562100"/>
                <a:gd name="connsiteY57" fmla="*/ 183356 h 1309687"/>
                <a:gd name="connsiteX58" fmla="*/ 292894 w 1562100"/>
                <a:gd name="connsiteY58" fmla="*/ 285750 h 1309687"/>
                <a:gd name="connsiteX59" fmla="*/ 264319 w 1562100"/>
                <a:gd name="connsiteY59" fmla="*/ 292893 h 1309687"/>
                <a:gd name="connsiteX60" fmla="*/ 261938 w 1562100"/>
                <a:gd name="connsiteY60" fmla="*/ 307181 h 1309687"/>
                <a:gd name="connsiteX61" fmla="*/ 261938 w 1562100"/>
                <a:gd name="connsiteY61" fmla="*/ 340518 h 1309687"/>
                <a:gd name="connsiteX62" fmla="*/ 228600 w 1562100"/>
                <a:gd name="connsiteY62" fmla="*/ 383381 h 1309687"/>
                <a:gd name="connsiteX63" fmla="*/ 271463 w 1562100"/>
                <a:gd name="connsiteY63" fmla="*/ 400050 h 1309687"/>
                <a:gd name="connsiteX64" fmla="*/ 278606 w 1562100"/>
                <a:gd name="connsiteY64" fmla="*/ 419100 h 1309687"/>
                <a:gd name="connsiteX65" fmla="*/ 257175 w 1562100"/>
                <a:gd name="connsiteY65" fmla="*/ 454818 h 1309687"/>
                <a:gd name="connsiteX66" fmla="*/ 221456 w 1562100"/>
                <a:gd name="connsiteY66" fmla="*/ 464343 h 1309687"/>
                <a:gd name="connsiteX67" fmla="*/ 221456 w 1562100"/>
                <a:gd name="connsiteY67" fmla="*/ 504825 h 1309687"/>
                <a:gd name="connsiteX68" fmla="*/ 254794 w 1562100"/>
                <a:gd name="connsiteY68" fmla="*/ 542925 h 1309687"/>
                <a:gd name="connsiteX69" fmla="*/ 226219 w 1562100"/>
                <a:gd name="connsiteY69" fmla="*/ 607218 h 1309687"/>
                <a:gd name="connsiteX70" fmla="*/ 180975 w 1562100"/>
                <a:gd name="connsiteY70" fmla="*/ 635793 h 1309687"/>
                <a:gd name="connsiteX71" fmla="*/ 183356 w 1562100"/>
                <a:gd name="connsiteY71" fmla="*/ 652462 h 1309687"/>
                <a:gd name="connsiteX72" fmla="*/ 204788 w 1562100"/>
                <a:gd name="connsiteY72" fmla="*/ 661987 h 1309687"/>
                <a:gd name="connsiteX73" fmla="*/ 219075 w 1562100"/>
                <a:gd name="connsiteY73" fmla="*/ 671512 h 1309687"/>
                <a:gd name="connsiteX74" fmla="*/ 223838 w 1562100"/>
                <a:gd name="connsiteY74" fmla="*/ 690562 h 1309687"/>
                <a:gd name="connsiteX75" fmla="*/ 195263 w 1562100"/>
                <a:gd name="connsiteY75" fmla="*/ 716756 h 1309687"/>
                <a:gd name="connsiteX76" fmla="*/ 123825 w 1562100"/>
                <a:gd name="connsiteY76" fmla="*/ 762000 h 1309687"/>
                <a:gd name="connsiteX77" fmla="*/ 123825 w 1562100"/>
                <a:gd name="connsiteY77" fmla="*/ 797718 h 1309687"/>
                <a:gd name="connsiteX78" fmla="*/ 135731 w 1562100"/>
                <a:gd name="connsiteY78" fmla="*/ 828675 h 1309687"/>
                <a:gd name="connsiteX79" fmla="*/ 123825 w 1562100"/>
                <a:gd name="connsiteY79" fmla="*/ 869156 h 1309687"/>
                <a:gd name="connsiteX80" fmla="*/ 76200 w 1562100"/>
                <a:gd name="connsiteY80" fmla="*/ 864393 h 1309687"/>
                <a:gd name="connsiteX81" fmla="*/ 52388 w 1562100"/>
                <a:gd name="connsiteY81" fmla="*/ 809625 h 1309687"/>
                <a:gd name="connsiteX82" fmla="*/ 33338 w 1562100"/>
                <a:gd name="connsiteY82" fmla="*/ 802481 h 1309687"/>
                <a:gd name="connsiteX83" fmla="*/ 23813 w 1562100"/>
                <a:gd name="connsiteY83" fmla="*/ 840581 h 1309687"/>
                <a:gd name="connsiteX84" fmla="*/ 21431 w 1562100"/>
                <a:gd name="connsiteY84" fmla="*/ 850106 h 1309687"/>
                <a:gd name="connsiteX85" fmla="*/ 7144 w 1562100"/>
                <a:gd name="connsiteY85" fmla="*/ 866775 h 1309687"/>
                <a:gd name="connsiteX86" fmla="*/ 0 w 1562100"/>
                <a:gd name="connsiteY86" fmla="*/ 923925 h 1309687"/>
                <a:gd name="connsiteX87" fmla="*/ 23813 w 1562100"/>
                <a:gd name="connsiteY87" fmla="*/ 952500 h 1309687"/>
                <a:gd name="connsiteX88" fmla="*/ 16669 w 1562100"/>
                <a:gd name="connsiteY88" fmla="*/ 992981 h 1309687"/>
                <a:gd name="connsiteX89" fmla="*/ 35719 w 1562100"/>
                <a:gd name="connsiteY89" fmla="*/ 997743 h 1309687"/>
                <a:gd name="connsiteX90" fmla="*/ 69056 w 1562100"/>
                <a:gd name="connsiteY90" fmla="*/ 997743 h 1309687"/>
                <a:gd name="connsiteX91" fmla="*/ 85725 w 1562100"/>
                <a:gd name="connsiteY91" fmla="*/ 988218 h 1309687"/>
                <a:gd name="connsiteX92" fmla="*/ 135731 w 1562100"/>
                <a:gd name="connsiteY92" fmla="*/ 1045368 h 1309687"/>
                <a:gd name="connsiteX93" fmla="*/ 123825 w 1562100"/>
                <a:gd name="connsiteY93" fmla="*/ 1064418 h 1309687"/>
                <a:gd name="connsiteX94" fmla="*/ 133350 w 1562100"/>
                <a:gd name="connsiteY94" fmla="*/ 1092993 h 1309687"/>
                <a:gd name="connsiteX95" fmla="*/ 164306 w 1562100"/>
                <a:gd name="connsiteY95" fmla="*/ 1112043 h 1309687"/>
                <a:gd name="connsiteX96" fmla="*/ 190500 w 1562100"/>
                <a:gd name="connsiteY96" fmla="*/ 1121568 h 1309687"/>
                <a:gd name="connsiteX97" fmla="*/ 216694 w 1562100"/>
                <a:gd name="connsiteY97" fmla="*/ 1128712 h 1309687"/>
                <a:gd name="connsiteX98" fmla="*/ 228600 w 1562100"/>
                <a:gd name="connsiteY98" fmla="*/ 1131093 h 1309687"/>
                <a:gd name="connsiteX99" fmla="*/ 240506 w 1562100"/>
                <a:gd name="connsiteY99" fmla="*/ 1092993 h 1309687"/>
                <a:gd name="connsiteX100" fmla="*/ 269081 w 1562100"/>
                <a:gd name="connsiteY100" fmla="*/ 1097756 h 1309687"/>
                <a:gd name="connsiteX101" fmla="*/ 288131 w 1562100"/>
                <a:gd name="connsiteY101" fmla="*/ 1085850 h 1309687"/>
                <a:gd name="connsiteX102" fmla="*/ 307181 w 1562100"/>
                <a:gd name="connsiteY102" fmla="*/ 1135856 h 1309687"/>
                <a:gd name="connsiteX103" fmla="*/ 330994 w 1562100"/>
                <a:gd name="connsiteY103" fmla="*/ 1150143 h 1309687"/>
                <a:gd name="connsiteX104" fmla="*/ 340519 w 1562100"/>
                <a:gd name="connsiteY104" fmla="*/ 1178718 h 1309687"/>
                <a:gd name="connsiteX105" fmla="*/ 357188 w 1562100"/>
                <a:gd name="connsiteY105" fmla="*/ 1188243 h 1309687"/>
                <a:gd name="connsiteX106" fmla="*/ 364331 w 1562100"/>
                <a:gd name="connsiteY106" fmla="*/ 1219200 h 1309687"/>
                <a:gd name="connsiteX107" fmla="*/ 335756 w 1562100"/>
                <a:gd name="connsiteY107" fmla="*/ 1245393 h 1309687"/>
                <a:gd name="connsiteX108" fmla="*/ 309563 w 1562100"/>
                <a:gd name="connsiteY108" fmla="*/ 1262062 h 1309687"/>
                <a:gd name="connsiteX109" fmla="*/ 297656 w 1562100"/>
                <a:gd name="connsiteY109" fmla="*/ 1285875 h 1309687"/>
                <a:gd name="connsiteX110" fmla="*/ 302419 w 1562100"/>
                <a:gd name="connsiteY110" fmla="*/ 1309687 h 1309687"/>
                <a:gd name="connsiteX111" fmla="*/ 342900 w 1562100"/>
                <a:gd name="connsiteY111" fmla="*/ 1309687 h 1309687"/>
                <a:gd name="connsiteX112" fmla="*/ 390525 w 1562100"/>
                <a:gd name="connsiteY112" fmla="*/ 1304925 h 1309687"/>
                <a:gd name="connsiteX113" fmla="*/ 428625 w 1562100"/>
                <a:gd name="connsiteY113" fmla="*/ 1295400 h 1309687"/>
                <a:gd name="connsiteX114" fmla="*/ 454819 w 1562100"/>
                <a:gd name="connsiteY114" fmla="*/ 1302543 h 1309687"/>
                <a:gd name="connsiteX115" fmla="*/ 473869 w 1562100"/>
                <a:gd name="connsiteY115" fmla="*/ 1281112 h 1309687"/>
                <a:gd name="connsiteX116" fmla="*/ 492919 w 1562100"/>
                <a:gd name="connsiteY116" fmla="*/ 1281112 h 1309687"/>
                <a:gd name="connsiteX117" fmla="*/ 507206 w 1562100"/>
                <a:gd name="connsiteY117" fmla="*/ 1250156 h 1309687"/>
                <a:gd name="connsiteX118" fmla="*/ 557213 w 1562100"/>
                <a:gd name="connsiteY118" fmla="*/ 1235868 h 1309687"/>
                <a:gd name="connsiteX119" fmla="*/ 583406 w 1562100"/>
                <a:gd name="connsiteY119" fmla="*/ 1216818 h 1309687"/>
                <a:gd name="connsiteX120" fmla="*/ 590550 w 1562100"/>
                <a:gd name="connsiteY120" fmla="*/ 1178718 h 1309687"/>
                <a:gd name="connsiteX121" fmla="*/ 607219 w 1562100"/>
                <a:gd name="connsiteY121" fmla="*/ 1152525 h 1309687"/>
                <a:gd name="connsiteX122" fmla="*/ 688181 w 1562100"/>
                <a:gd name="connsiteY122"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61963 w 1562100"/>
                <a:gd name="connsiteY54" fmla="*/ 23813 h 1309687"/>
                <a:gd name="connsiteX55" fmla="*/ 428625 w 1562100"/>
                <a:gd name="connsiteY55" fmla="*/ 0 h 1309687"/>
                <a:gd name="connsiteX56" fmla="*/ 376238 w 1562100"/>
                <a:gd name="connsiteY56" fmla="*/ 104775 h 1309687"/>
                <a:gd name="connsiteX57" fmla="*/ 314326 w 1562100"/>
                <a:gd name="connsiteY57" fmla="*/ 104774 h 1309687"/>
                <a:gd name="connsiteX58" fmla="*/ 328613 w 1562100"/>
                <a:gd name="connsiteY58" fmla="*/ 183356 h 1309687"/>
                <a:gd name="connsiteX59" fmla="*/ 292894 w 1562100"/>
                <a:gd name="connsiteY59" fmla="*/ 285750 h 1309687"/>
                <a:gd name="connsiteX60" fmla="*/ 264319 w 1562100"/>
                <a:gd name="connsiteY60" fmla="*/ 292893 h 1309687"/>
                <a:gd name="connsiteX61" fmla="*/ 261938 w 1562100"/>
                <a:gd name="connsiteY61" fmla="*/ 307181 h 1309687"/>
                <a:gd name="connsiteX62" fmla="*/ 261938 w 1562100"/>
                <a:gd name="connsiteY62" fmla="*/ 340518 h 1309687"/>
                <a:gd name="connsiteX63" fmla="*/ 228600 w 1562100"/>
                <a:gd name="connsiteY63" fmla="*/ 383381 h 1309687"/>
                <a:gd name="connsiteX64" fmla="*/ 271463 w 1562100"/>
                <a:gd name="connsiteY64" fmla="*/ 400050 h 1309687"/>
                <a:gd name="connsiteX65" fmla="*/ 278606 w 1562100"/>
                <a:gd name="connsiteY65" fmla="*/ 419100 h 1309687"/>
                <a:gd name="connsiteX66" fmla="*/ 257175 w 1562100"/>
                <a:gd name="connsiteY66" fmla="*/ 454818 h 1309687"/>
                <a:gd name="connsiteX67" fmla="*/ 221456 w 1562100"/>
                <a:gd name="connsiteY67" fmla="*/ 464343 h 1309687"/>
                <a:gd name="connsiteX68" fmla="*/ 221456 w 1562100"/>
                <a:gd name="connsiteY68" fmla="*/ 504825 h 1309687"/>
                <a:gd name="connsiteX69" fmla="*/ 254794 w 1562100"/>
                <a:gd name="connsiteY69" fmla="*/ 542925 h 1309687"/>
                <a:gd name="connsiteX70" fmla="*/ 226219 w 1562100"/>
                <a:gd name="connsiteY70" fmla="*/ 607218 h 1309687"/>
                <a:gd name="connsiteX71" fmla="*/ 180975 w 1562100"/>
                <a:gd name="connsiteY71" fmla="*/ 635793 h 1309687"/>
                <a:gd name="connsiteX72" fmla="*/ 183356 w 1562100"/>
                <a:gd name="connsiteY72" fmla="*/ 652462 h 1309687"/>
                <a:gd name="connsiteX73" fmla="*/ 204788 w 1562100"/>
                <a:gd name="connsiteY73" fmla="*/ 661987 h 1309687"/>
                <a:gd name="connsiteX74" fmla="*/ 219075 w 1562100"/>
                <a:gd name="connsiteY74" fmla="*/ 671512 h 1309687"/>
                <a:gd name="connsiteX75" fmla="*/ 223838 w 1562100"/>
                <a:gd name="connsiteY75" fmla="*/ 690562 h 1309687"/>
                <a:gd name="connsiteX76" fmla="*/ 195263 w 1562100"/>
                <a:gd name="connsiteY76" fmla="*/ 716756 h 1309687"/>
                <a:gd name="connsiteX77" fmla="*/ 123825 w 1562100"/>
                <a:gd name="connsiteY77" fmla="*/ 762000 h 1309687"/>
                <a:gd name="connsiteX78" fmla="*/ 123825 w 1562100"/>
                <a:gd name="connsiteY78" fmla="*/ 797718 h 1309687"/>
                <a:gd name="connsiteX79" fmla="*/ 135731 w 1562100"/>
                <a:gd name="connsiteY79" fmla="*/ 828675 h 1309687"/>
                <a:gd name="connsiteX80" fmla="*/ 123825 w 1562100"/>
                <a:gd name="connsiteY80" fmla="*/ 869156 h 1309687"/>
                <a:gd name="connsiteX81" fmla="*/ 76200 w 1562100"/>
                <a:gd name="connsiteY81" fmla="*/ 864393 h 1309687"/>
                <a:gd name="connsiteX82" fmla="*/ 52388 w 1562100"/>
                <a:gd name="connsiteY82" fmla="*/ 809625 h 1309687"/>
                <a:gd name="connsiteX83" fmla="*/ 33338 w 1562100"/>
                <a:gd name="connsiteY83" fmla="*/ 802481 h 1309687"/>
                <a:gd name="connsiteX84" fmla="*/ 23813 w 1562100"/>
                <a:gd name="connsiteY84" fmla="*/ 840581 h 1309687"/>
                <a:gd name="connsiteX85" fmla="*/ 21431 w 1562100"/>
                <a:gd name="connsiteY85" fmla="*/ 850106 h 1309687"/>
                <a:gd name="connsiteX86" fmla="*/ 7144 w 1562100"/>
                <a:gd name="connsiteY86" fmla="*/ 866775 h 1309687"/>
                <a:gd name="connsiteX87" fmla="*/ 0 w 1562100"/>
                <a:gd name="connsiteY87" fmla="*/ 923925 h 1309687"/>
                <a:gd name="connsiteX88" fmla="*/ 23813 w 1562100"/>
                <a:gd name="connsiteY88" fmla="*/ 952500 h 1309687"/>
                <a:gd name="connsiteX89" fmla="*/ 16669 w 1562100"/>
                <a:gd name="connsiteY89" fmla="*/ 992981 h 1309687"/>
                <a:gd name="connsiteX90" fmla="*/ 35719 w 1562100"/>
                <a:gd name="connsiteY90" fmla="*/ 997743 h 1309687"/>
                <a:gd name="connsiteX91" fmla="*/ 69056 w 1562100"/>
                <a:gd name="connsiteY91" fmla="*/ 997743 h 1309687"/>
                <a:gd name="connsiteX92" fmla="*/ 85725 w 1562100"/>
                <a:gd name="connsiteY92" fmla="*/ 988218 h 1309687"/>
                <a:gd name="connsiteX93" fmla="*/ 135731 w 1562100"/>
                <a:gd name="connsiteY93" fmla="*/ 1045368 h 1309687"/>
                <a:gd name="connsiteX94" fmla="*/ 123825 w 1562100"/>
                <a:gd name="connsiteY94" fmla="*/ 1064418 h 1309687"/>
                <a:gd name="connsiteX95" fmla="*/ 133350 w 1562100"/>
                <a:gd name="connsiteY95" fmla="*/ 1092993 h 1309687"/>
                <a:gd name="connsiteX96" fmla="*/ 164306 w 1562100"/>
                <a:gd name="connsiteY96" fmla="*/ 1112043 h 1309687"/>
                <a:gd name="connsiteX97" fmla="*/ 190500 w 1562100"/>
                <a:gd name="connsiteY97" fmla="*/ 1121568 h 1309687"/>
                <a:gd name="connsiteX98" fmla="*/ 216694 w 1562100"/>
                <a:gd name="connsiteY98" fmla="*/ 1128712 h 1309687"/>
                <a:gd name="connsiteX99" fmla="*/ 228600 w 1562100"/>
                <a:gd name="connsiteY99" fmla="*/ 1131093 h 1309687"/>
                <a:gd name="connsiteX100" fmla="*/ 240506 w 1562100"/>
                <a:gd name="connsiteY100" fmla="*/ 1092993 h 1309687"/>
                <a:gd name="connsiteX101" fmla="*/ 269081 w 1562100"/>
                <a:gd name="connsiteY101" fmla="*/ 1097756 h 1309687"/>
                <a:gd name="connsiteX102" fmla="*/ 288131 w 1562100"/>
                <a:gd name="connsiteY102" fmla="*/ 1085850 h 1309687"/>
                <a:gd name="connsiteX103" fmla="*/ 307181 w 1562100"/>
                <a:gd name="connsiteY103" fmla="*/ 1135856 h 1309687"/>
                <a:gd name="connsiteX104" fmla="*/ 330994 w 1562100"/>
                <a:gd name="connsiteY104" fmla="*/ 1150143 h 1309687"/>
                <a:gd name="connsiteX105" fmla="*/ 340519 w 1562100"/>
                <a:gd name="connsiteY105" fmla="*/ 1178718 h 1309687"/>
                <a:gd name="connsiteX106" fmla="*/ 357188 w 1562100"/>
                <a:gd name="connsiteY106" fmla="*/ 1188243 h 1309687"/>
                <a:gd name="connsiteX107" fmla="*/ 364331 w 1562100"/>
                <a:gd name="connsiteY107" fmla="*/ 1219200 h 1309687"/>
                <a:gd name="connsiteX108" fmla="*/ 335756 w 1562100"/>
                <a:gd name="connsiteY108" fmla="*/ 1245393 h 1309687"/>
                <a:gd name="connsiteX109" fmla="*/ 309563 w 1562100"/>
                <a:gd name="connsiteY109" fmla="*/ 1262062 h 1309687"/>
                <a:gd name="connsiteX110" fmla="*/ 297656 w 1562100"/>
                <a:gd name="connsiteY110" fmla="*/ 1285875 h 1309687"/>
                <a:gd name="connsiteX111" fmla="*/ 302419 w 1562100"/>
                <a:gd name="connsiteY111" fmla="*/ 1309687 h 1309687"/>
                <a:gd name="connsiteX112" fmla="*/ 342900 w 1562100"/>
                <a:gd name="connsiteY112" fmla="*/ 1309687 h 1309687"/>
                <a:gd name="connsiteX113" fmla="*/ 390525 w 1562100"/>
                <a:gd name="connsiteY113" fmla="*/ 1304925 h 1309687"/>
                <a:gd name="connsiteX114" fmla="*/ 428625 w 1562100"/>
                <a:gd name="connsiteY114" fmla="*/ 1295400 h 1309687"/>
                <a:gd name="connsiteX115" fmla="*/ 454819 w 1562100"/>
                <a:gd name="connsiteY115" fmla="*/ 1302543 h 1309687"/>
                <a:gd name="connsiteX116" fmla="*/ 473869 w 1562100"/>
                <a:gd name="connsiteY116" fmla="*/ 1281112 h 1309687"/>
                <a:gd name="connsiteX117" fmla="*/ 492919 w 1562100"/>
                <a:gd name="connsiteY117" fmla="*/ 1281112 h 1309687"/>
                <a:gd name="connsiteX118" fmla="*/ 507206 w 1562100"/>
                <a:gd name="connsiteY118" fmla="*/ 1250156 h 1309687"/>
                <a:gd name="connsiteX119" fmla="*/ 557213 w 1562100"/>
                <a:gd name="connsiteY119" fmla="*/ 1235868 h 1309687"/>
                <a:gd name="connsiteX120" fmla="*/ 583406 w 1562100"/>
                <a:gd name="connsiteY120" fmla="*/ 1216818 h 1309687"/>
                <a:gd name="connsiteX121" fmla="*/ 590550 w 1562100"/>
                <a:gd name="connsiteY121" fmla="*/ 1178718 h 1309687"/>
                <a:gd name="connsiteX122" fmla="*/ 607219 w 1562100"/>
                <a:gd name="connsiteY122" fmla="*/ 1152525 h 1309687"/>
                <a:gd name="connsiteX123" fmla="*/ 688181 w 1562100"/>
                <a:gd name="connsiteY123"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50056 w 1562100"/>
                <a:gd name="connsiteY54" fmla="*/ 2382 h 1309687"/>
                <a:gd name="connsiteX55" fmla="*/ 428625 w 1562100"/>
                <a:gd name="connsiteY55" fmla="*/ 0 h 1309687"/>
                <a:gd name="connsiteX56" fmla="*/ 376238 w 1562100"/>
                <a:gd name="connsiteY56" fmla="*/ 104775 h 1309687"/>
                <a:gd name="connsiteX57" fmla="*/ 314326 w 1562100"/>
                <a:gd name="connsiteY57" fmla="*/ 104774 h 1309687"/>
                <a:gd name="connsiteX58" fmla="*/ 328613 w 1562100"/>
                <a:gd name="connsiteY58" fmla="*/ 183356 h 1309687"/>
                <a:gd name="connsiteX59" fmla="*/ 292894 w 1562100"/>
                <a:gd name="connsiteY59" fmla="*/ 285750 h 1309687"/>
                <a:gd name="connsiteX60" fmla="*/ 264319 w 1562100"/>
                <a:gd name="connsiteY60" fmla="*/ 292893 h 1309687"/>
                <a:gd name="connsiteX61" fmla="*/ 261938 w 1562100"/>
                <a:gd name="connsiteY61" fmla="*/ 307181 h 1309687"/>
                <a:gd name="connsiteX62" fmla="*/ 261938 w 1562100"/>
                <a:gd name="connsiteY62" fmla="*/ 340518 h 1309687"/>
                <a:gd name="connsiteX63" fmla="*/ 228600 w 1562100"/>
                <a:gd name="connsiteY63" fmla="*/ 383381 h 1309687"/>
                <a:gd name="connsiteX64" fmla="*/ 271463 w 1562100"/>
                <a:gd name="connsiteY64" fmla="*/ 400050 h 1309687"/>
                <a:gd name="connsiteX65" fmla="*/ 278606 w 1562100"/>
                <a:gd name="connsiteY65" fmla="*/ 419100 h 1309687"/>
                <a:gd name="connsiteX66" fmla="*/ 257175 w 1562100"/>
                <a:gd name="connsiteY66" fmla="*/ 454818 h 1309687"/>
                <a:gd name="connsiteX67" fmla="*/ 221456 w 1562100"/>
                <a:gd name="connsiteY67" fmla="*/ 464343 h 1309687"/>
                <a:gd name="connsiteX68" fmla="*/ 221456 w 1562100"/>
                <a:gd name="connsiteY68" fmla="*/ 504825 h 1309687"/>
                <a:gd name="connsiteX69" fmla="*/ 254794 w 1562100"/>
                <a:gd name="connsiteY69" fmla="*/ 542925 h 1309687"/>
                <a:gd name="connsiteX70" fmla="*/ 226219 w 1562100"/>
                <a:gd name="connsiteY70" fmla="*/ 607218 h 1309687"/>
                <a:gd name="connsiteX71" fmla="*/ 180975 w 1562100"/>
                <a:gd name="connsiteY71" fmla="*/ 635793 h 1309687"/>
                <a:gd name="connsiteX72" fmla="*/ 183356 w 1562100"/>
                <a:gd name="connsiteY72" fmla="*/ 652462 h 1309687"/>
                <a:gd name="connsiteX73" fmla="*/ 204788 w 1562100"/>
                <a:gd name="connsiteY73" fmla="*/ 661987 h 1309687"/>
                <a:gd name="connsiteX74" fmla="*/ 219075 w 1562100"/>
                <a:gd name="connsiteY74" fmla="*/ 671512 h 1309687"/>
                <a:gd name="connsiteX75" fmla="*/ 223838 w 1562100"/>
                <a:gd name="connsiteY75" fmla="*/ 690562 h 1309687"/>
                <a:gd name="connsiteX76" fmla="*/ 195263 w 1562100"/>
                <a:gd name="connsiteY76" fmla="*/ 716756 h 1309687"/>
                <a:gd name="connsiteX77" fmla="*/ 123825 w 1562100"/>
                <a:gd name="connsiteY77" fmla="*/ 762000 h 1309687"/>
                <a:gd name="connsiteX78" fmla="*/ 123825 w 1562100"/>
                <a:gd name="connsiteY78" fmla="*/ 797718 h 1309687"/>
                <a:gd name="connsiteX79" fmla="*/ 135731 w 1562100"/>
                <a:gd name="connsiteY79" fmla="*/ 828675 h 1309687"/>
                <a:gd name="connsiteX80" fmla="*/ 123825 w 1562100"/>
                <a:gd name="connsiteY80" fmla="*/ 869156 h 1309687"/>
                <a:gd name="connsiteX81" fmla="*/ 76200 w 1562100"/>
                <a:gd name="connsiteY81" fmla="*/ 864393 h 1309687"/>
                <a:gd name="connsiteX82" fmla="*/ 52388 w 1562100"/>
                <a:gd name="connsiteY82" fmla="*/ 809625 h 1309687"/>
                <a:gd name="connsiteX83" fmla="*/ 33338 w 1562100"/>
                <a:gd name="connsiteY83" fmla="*/ 802481 h 1309687"/>
                <a:gd name="connsiteX84" fmla="*/ 23813 w 1562100"/>
                <a:gd name="connsiteY84" fmla="*/ 840581 h 1309687"/>
                <a:gd name="connsiteX85" fmla="*/ 21431 w 1562100"/>
                <a:gd name="connsiteY85" fmla="*/ 850106 h 1309687"/>
                <a:gd name="connsiteX86" fmla="*/ 7144 w 1562100"/>
                <a:gd name="connsiteY86" fmla="*/ 866775 h 1309687"/>
                <a:gd name="connsiteX87" fmla="*/ 0 w 1562100"/>
                <a:gd name="connsiteY87" fmla="*/ 923925 h 1309687"/>
                <a:gd name="connsiteX88" fmla="*/ 23813 w 1562100"/>
                <a:gd name="connsiteY88" fmla="*/ 952500 h 1309687"/>
                <a:gd name="connsiteX89" fmla="*/ 16669 w 1562100"/>
                <a:gd name="connsiteY89" fmla="*/ 992981 h 1309687"/>
                <a:gd name="connsiteX90" fmla="*/ 35719 w 1562100"/>
                <a:gd name="connsiteY90" fmla="*/ 997743 h 1309687"/>
                <a:gd name="connsiteX91" fmla="*/ 69056 w 1562100"/>
                <a:gd name="connsiteY91" fmla="*/ 997743 h 1309687"/>
                <a:gd name="connsiteX92" fmla="*/ 85725 w 1562100"/>
                <a:gd name="connsiteY92" fmla="*/ 988218 h 1309687"/>
                <a:gd name="connsiteX93" fmla="*/ 135731 w 1562100"/>
                <a:gd name="connsiteY93" fmla="*/ 1045368 h 1309687"/>
                <a:gd name="connsiteX94" fmla="*/ 123825 w 1562100"/>
                <a:gd name="connsiteY94" fmla="*/ 1064418 h 1309687"/>
                <a:gd name="connsiteX95" fmla="*/ 133350 w 1562100"/>
                <a:gd name="connsiteY95" fmla="*/ 1092993 h 1309687"/>
                <a:gd name="connsiteX96" fmla="*/ 164306 w 1562100"/>
                <a:gd name="connsiteY96" fmla="*/ 1112043 h 1309687"/>
                <a:gd name="connsiteX97" fmla="*/ 190500 w 1562100"/>
                <a:gd name="connsiteY97" fmla="*/ 1121568 h 1309687"/>
                <a:gd name="connsiteX98" fmla="*/ 216694 w 1562100"/>
                <a:gd name="connsiteY98" fmla="*/ 1128712 h 1309687"/>
                <a:gd name="connsiteX99" fmla="*/ 228600 w 1562100"/>
                <a:gd name="connsiteY99" fmla="*/ 1131093 h 1309687"/>
                <a:gd name="connsiteX100" fmla="*/ 240506 w 1562100"/>
                <a:gd name="connsiteY100" fmla="*/ 1092993 h 1309687"/>
                <a:gd name="connsiteX101" fmla="*/ 269081 w 1562100"/>
                <a:gd name="connsiteY101" fmla="*/ 1097756 h 1309687"/>
                <a:gd name="connsiteX102" fmla="*/ 288131 w 1562100"/>
                <a:gd name="connsiteY102" fmla="*/ 1085850 h 1309687"/>
                <a:gd name="connsiteX103" fmla="*/ 307181 w 1562100"/>
                <a:gd name="connsiteY103" fmla="*/ 1135856 h 1309687"/>
                <a:gd name="connsiteX104" fmla="*/ 330994 w 1562100"/>
                <a:gd name="connsiteY104" fmla="*/ 1150143 h 1309687"/>
                <a:gd name="connsiteX105" fmla="*/ 340519 w 1562100"/>
                <a:gd name="connsiteY105" fmla="*/ 1178718 h 1309687"/>
                <a:gd name="connsiteX106" fmla="*/ 357188 w 1562100"/>
                <a:gd name="connsiteY106" fmla="*/ 1188243 h 1309687"/>
                <a:gd name="connsiteX107" fmla="*/ 364331 w 1562100"/>
                <a:gd name="connsiteY107" fmla="*/ 1219200 h 1309687"/>
                <a:gd name="connsiteX108" fmla="*/ 335756 w 1562100"/>
                <a:gd name="connsiteY108" fmla="*/ 1245393 h 1309687"/>
                <a:gd name="connsiteX109" fmla="*/ 309563 w 1562100"/>
                <a:gd name="connsiteY109" fmla="*/ 1262062 h 1309687"/>
                <a:gd name="connsiteX110" fmla="*/ 297656 w 1562100"/>
                <a:gd name="connsiteY110" fmla="*/ 1285875 h 1309687"/>
                <a:gd name="connsiteX111" fmla="*/ 302419 w 1562100"/>
                <a:gd name="connsiteY111" fmla="*/ 1309687 h 1309687"/>
                <a:gd name="connsiteX112" fmla="*/ 342900 w 1562100"/>
                <a:gd name="connsiteY112" fmla="*/ 1309687 h 1309687"/>
                <a:gd name="connsiteX113" fmla="*/ 390525 w 1562100"/>
                <a:gd name="connsiteY113" fmla="*/ 1304925 h 1309687"/>
                <a:gd name="connsiteX114" fmla="*/ 428625 w 1562100"/>
                <a:gd name="connsiteY114" fmla="*/ 1295400 h 1309687"/>
                <a:gd name="connsiteX115" fmla="*/ 454819 w 1562100"/>
                <a:gd name="connsiteY115" fmla="*/ 1302543 h 1309687"/>
                <a:gd name="connsiteX116" fmla="*/ 473869 w 1562100"/>
                <a:gd name="connsiteY116" fmla="*/ 1281112 h 1309687"/>
                <a:gd name="connsiteX117" fmla="*/ 492919 w 1562100"/>
                <a:gd name="connsiteY117" fmla="*/ 1281112 h 1309687"/>
                <a:gd name="connsiteX118" fmla="*/ 507206 w 1562100"/>
                <a:gd name="connsiteY118" fmla="*/ 1250156 h 1309687"/>
                <a:gd name="connsiteX119" fmla="*/ 557213 w 1562100"/>
                <a:gd name="connsiteY119" fmla="*/ 1235868 h 1309687"/>
                <a:gd name="connsiteX120" fmla="*/ 583406 w 1562100"/>
                <a:gd name="connsiteY120" fmla="*/ 1216818 h 1309687"/>
                <a:gd name="connsiteX121" fmla="*/ 590550 w 1562100"/>
                <a:gd name="connsiteY121" fmla="*/ 1178718 h 1309687"/>
                <a:gd name="connsiteX122" fmla="*/ 607219 w 1562100"/>
                <a:gd name="connsiteY122" fmla="*/ 1152525 h 1309687"/>
                <a:gd name="connsiteX123" fmla="*/ 688181 w 1562100"/>
                <a:gd name="connsiteY123"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50056 w 1562100"/>
                <a:gd name="connsiteY54" fmla="*/ 2382 h 1309687"/>
                <a:gd name="connsiteX55" fmla="*/ 428625 w 1562100"/>
                <a:gd name="connsiteY55" fmla="*/ 0 h 1309687"/>
                <a:gd name="connsiteX56" fmla="*/ 376238 w 1562100"/>
                <a:gd name="connsiteY56" fmla="*/ 104775 h 1309687"/>
                <a:gd name="connsiteX57" fmla="*/ 314326 w 1562100"/>
                <a:gd name="connsiteY57" fmla="*/ 104774 h 1309687"/>
                <a:gd name="connsiteX58" fmla="*/ 328613 w 1562100"/>
                <a:gd name="connsiteY58" fmla="*/ 183356 h 1309687"/>
                <a:gd name="connsiteX59" fmla="*/ 292894 w 1562100"/>
                <a:gd name="connsiteY59" fmla="*/ 285750 h 1309687"/>
                <a:gd name="connsiteX60" fmla="*/ 264319 w 1562100"/>
                <a:gd name="connsiteY60" fmla="*/ 292893 h 1309687"/>
                <a:gd name="connsiteX61" fmla="*/ 261938 w 1562100"/>
                <a:gd name="connsiteY61" fmla="*/ 307181 h 1309687"/>
                <a:gd name="connsiteX62" fmla="*/ 261938 w 1562100"/>
                <a:gd name="connsiteY62" fmla="*/ 340518 h 1309687"/>
                <a:gd name="connsiteX63" fmla="*/ 228600 w 1562100"/>
                <a:gd name="connsiteY63" fmla="*/ 383381 h 1309687"/>
                <a:gd name="connsiteX64" fmla="*/ 271463 w 1562100"/>
                <a:gd name="connsiteY64" fmla="*/ 400050 h 1309687"/>
                <a:gd name="connsiteX65" fmla="*/ 278606 w 1562100"/>
                <a:gd name="connsiteY65" fmla="*/ 419100 h 1309687"/>
                <a:gd name="connsiteX66" fmla="*/ 257175 w 1562100"/>
                <a:gd name="connsiteY66" fmla="*/ 454818 h 1309687"/>
                <a:gd name="connsiteX67" fmla="*/ 221456 w 1562100"/>
                <a:gd name="connsiteY67" fmla="*/ 464343 h 1309687"/>
                <a:gd name="connsiteX68" fmla="*/ 221456 w 1562100"/>
                <a:gd name="connsiteY68" fmla="*/ 504825 h 1309687"/>
                <a:gd name="connsiteX69" fmla="*/ 254794 w 1562100"/>
                <a:gd name="connsiteY69" fmla="*/ 542925 h 1309687"/>
                <a:gd name="connsiteX70" fmla="*/ 226219 w 1562100"/>
                <a:gd name="connsiteY70" fmla="*/ 607218 h 1309687"/>
                <a:gd name="connsiteX71" fmla="*/ 180975 w 1562100"/>
                <a:gd name="connsiteY71" fmla="*/ 635793 h 1309687"/>
                <a:gd name="connsiteX72" fmla="*/ 183356 w 1562100"/>
                <a:gd name="connsiteY72" fmla="*/ 652462 h 1309687"/>
                <a:gd name="connsiteX73" fmla="*/ 204788 w 1562100"/>
                <a:gd name="connsiteY73" fmla="*/ 661987 h 1309687"/>
                <a:gd name="connsiteX74" fmla="*/ 219075 w 1562100"/>
                <a:gd name="connsiteY74" fmla="*/ 671512 h 1309687"/>
                <a:gd name="connsiteX75" fmla="*/ 223838 w 1562100"/>
                <a:gd name="connsiteY75" fmla="*/ 690562 h 1309687"/>
                <a:gd name="connsiteX76" fmla="*/ 195263 w 1562100"/>
                <a:gd name="connsiteY76" fmla="*/ 716756 h 1309687"/>
                <a:gd name="connsiteX77" fmla="*/ 123825 w 1562100"/>
                <a:gd name="connsiteY77" fmla="*/ 762000 h 1309687"/>
                <a:gd name="connsiteX78" fmla="*/ 123825 w 1562100"/>
                <a:gd name="connsiteY78" fmla="*/ 797718 h 1309687"/>
                <a:gd name="connsiteX79" fmla="*/ 135731 w 1562100"/>
                <a:gd name="connsiteY79" fmla="*/ 828675 h 1309687"/>
                <a:gd name="connsiteX80" fmla="*/ 123825 w 1562100"/>
                <a:gd name="connsiteY80" fmla="*/ 869156 h 1309687"/>
                <a:gd name="connsiteX81" fmla="*/ 76200 w 1562100"/>
                <a:gd name="connsiteY81" fmla="*/ 864393 h 1309687"/>
                <a:gd name="connsiteX82" fmla="*/ 52388 w 1562100"/>
                <a:gd name="connsiteY82" fmla="*/ 809625 h 1309687"/>
                <a:gd name="connsiteX83" fmla="*/ 33338 w 1562100"/>
                <a:gd name="connsiteY83" fmla="*/ 802481 h 1309687"/>
                <a:gd name="connsiteX84" fmla="*/ 23813 w 1562100"/>
                <a:gd name="connsiteY84" fmla="*/ 840581 h 1309687"/>
                <a:gd name="connsiteX85" fmla="*/ 21431 w 1562100"/>
                <a:gd name="connsiteY85" fmla="*/ 850106 h 1309687"/>
                <a:gd name="connsiteX86" fmla="*/ 7144 w 1562100"/>
                <a:gd name="connsiteY86" fmla="*/ 866775 h 1309687"/>
                <a:gd name="connsiteX87" fmla="*/ 0 w 1562100"/>
                <a:gd name="connsiteY87" fmla="*/ 923925 h 1309687"/>
                <a:gd name="connsiteX88" fmla="*/ 23813 w 1562100"/>
                <a:gd name="connsiteY88" fmla="*/ 952500 h 1309687"/>
                <a:gd name="connsiteX89" fmla="*/ 16669 w 1562100"/>
                <a:gd name="connsiteY89" fmla="*/ 992981 h 1309687"/>
                <a:gd name="connsiteX90" fmla="*/ 35719 w 1562100"/>
                <a:gd name="connsiteY90" fmla="*/ 997743 h 1309687"/>
                <a:gd name="connsiteX91" fmla="*/ 69056 w 1562100"/>
                <a:gd name="connsiteY91" fmla="*/ 997743 h 1309687"/>
                <a:gd name="connsiteX92" fmla="*/ 85725 w 1562100"/>
                <a:gd name="connsiteY92" fmla="*/ 988218 h 1309687"/>
                <a:gd name="connsiteX93" fmla="*/ 135731 w 1562100"/>
                <a:gd name="connsiteY93" fmla="*/ 1045368 h 1309687"/>
                <a:gd name="connsiteX94" fmla="*/ 123825 w 1562100"/>
                <a:gd name="connsiteY94" fmla="*/ 1064418 h 1309687"/>
                <a:gd name="connsiteX95" fmla="*/ 133350 w 1562100"/>
                <a:gd name="connsiteY95" fmla="*/ 1092993 h 1309687"/>
                <a:gd name="connsiteX96" fmla="*/ 164306 w 1562100"/>
                <a:gd name="connsiteY96" fmla="*/ 1112043 h 1309687"/>
                <a:gd name="connsiteX97" fmla="*/ 190500 w 1562100"/>
                <a:gd name="connsiteY97" fmla="*/ 1121568 h 1309687"/>
                <a:gd name="connsiteX98" fmla="*/ 216694 w 1562100"/>
                <a:gd name="connsiteY98" fmla="*/ 1128712 h 1309687"/>
                <a:gd name="connsiteX99" fmla="*/ 228600 w 1562100"/>
                <a:gd name="connsiteY99" fmla="*/ 1131093 h 1309687"/>
                <a:gd name="connsiteX100" fmla="*/ 240506 w 1562100"/>
                <a:gd name="connsiteY100" fmla="*/ 1092993 h 1309687"/>
                <a:gd name="connsiteX101" fmla="*/ 269081 w 1562100"/>
                <a:gd name="connsiteY101" fmla="*/ 1097756 h 1309687"/>
                <a:gd name="connsiteX102" fmla="*/ 288131 w 1562100"/>
                <a:gd name="connsiteY102" fmla="*/ 1085850 h 1309687"/>
                <a:gd name="connsiteX103" fmla="*/ 307181 w 1562100"/>
                <a:gd name="connsiteY103" fmla="*/ 1135856 h 1309687"/>
                <a:gd name="connsiteX104" fmla="*/ 330994 w 1562100"/>
                <a:gd name="connsiteY104" fmla="*/ 1150143 h 1309687"/>
                <a:gd name="connsiteX105" fmla="*/ 340519 w 1562100"/>
                <a:gd name="connsiteY105" fmla="*/ 1178718 h 1309687"/>
                <a:gd name="connsiteX106" fmla="*/ 357188 w 1562100"/>
                <a:gd name="connsiteY106" fmla="*/ 1188243 h 1309687"/>
                <a:gd name="connsiteX107" fmla="*/ 364331 w 1562100"/>
                <a:gd name="connsiteY107" fmla="*/ 1219200 h 1309687"/>
                <a:gd name="connsiteX108" fmla="*/ 335756 w 1562100"/>
                <a:gd name="connsiteY108" fmla="*/ 1245393 h 1309687"/>
                <a:gd name="connsiteX109" fmla="*/ 309563 w 1562100"/>
                <a:gd name="connsiteY109" fmla="*/ 1262062 h 1309687"/>
                <a:gd name="connsiteX110" fmla="*/ 297656 w 1562100"/>
                <a:gd name="connsiteY110" fmla="*/ 1285875 h 1309687"/>
                <a:gd name="connsiteX111" fmla="*/ 302419 w 1562100"/>
                <a:gd name="connsiteY111" fmla="*/ 1309687 h 1309687"/>
                <a:gd name="connsiteX112" fmla="*/ 342900 w 1562100"/>
                <a:gd name="connsiteY112" fmla="*/ 1309687 h 1309687"/>
                <a:gd name="connsiteX113" fmla="*/ 390525 w 1562100"/>
                <a:gd name="connsiteY113" fmla="*/ 1304925 h 1309687"/>
                <a:gd name="connsiteX114" fmla="*/ 428625 w 1562100"/>
                <a:gd name="connsiteY114" fmla="*/ 1295400 h 1309687"/>
                <a:gd name="connsiteX115" fmla="*/ 454819 w 1562100"/>
                <a:gd name="connsiteY115" fmla="*/ 1302543 h 1309687"/>
                <a:gd name="connsiteX116" fmla="*/ 473869 w 1562100"/>
                <a:gd name="connsiteY116" fmla="*/ 1281112 h 1309687"/>
                <a:gd name="connsiteX117" fmla="*/ 492919 w 1562100"/>
                <a:gd name="connsiteY117" fmla="*/ 1281112 h 1309687"/>
                <a:gd name="connsiteX118" fmla="*/ 507206 w 1562100"/>
                <a:gd name="connsiteY118" fmla="*/ 1250156 h 1309687"/>
                <a:gd name="connsiteX119" fmla="*/ 557213 w 1562100"/>
                <a:gd name="connsiteY119" fmla="*/ 1235868 h 1309687"/>
                <a:gd name="connsiteX120" fmla="*/ 583406 w 1562100"/>
                <a:gd name="connsiteY120" fmla="*/ 1216818 h 1309687"/>
                <a:gd name="connsiteX121" fmla="*/ 590550 w 1562100"/>
                <a:gd name="connsiteY121" fmla="*/ 1178718 h 1309687"/>
                <a:gd name="connsiteX122" fmla="*/ 607219 w 1562100"/>
                <a:gd name="connsiteY122" fmla="*/ 1152525 h 1309687"/>
                <a:gd name="connsiteX123" fmla="*/ 688181 w 1562100"/>
                <a:gd name="connsiteY123"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552450 w 1562100"/>
                <a:gd name="connsiteY54" fmla="*/ 78582 h 1309687"/>
                <a:gd name="connsiteX55" fmla="*/ 450056 w 1562100"/>
                <a:gd name="connsiteY55" fmla="*/ 2382 h 1309687"/>
                <a:gd name="connsiteX56" fmla="*/ 428625 w 1562100"/>
                <a:gd name="connsiteY56" fmla="*/ 0 h 1309687"/>
                <a:gd name="connsiteX57" fmla="*/ 376238 w 1562100"/>
                <a:gd name="connsiteY57" fmla="*/ 104775 h 1309687"/>
                <a:gd name="connsiteX58" fmla="*/ 314326 w 1562100"/>
                <a:gd name="connsiteY58" fmla="*/ 104774 h 1309687"/>
                <a:gd name="connsiteX59" fmla="*/ 328613 w 1562100"/>
                <a:gd name="connsiteY59" fmla="*/ 183356 h 1309687"/>
                <a:gd name="connsiteX60" fmla="*/ 292894 w 1562100"/>
                <a:gd name="connsiteY60" fmla="*/ 285750 h 1309687"/>
                <a:gd name="connsiteX61" fmla="*/ 264319 w 1562100"/>
                <a:gd name="connsiteY61" fmla="*/ 292893 h 1309687"/>
                <a:gd name="connsiteX62" fmla="*/ 261938 w 1562100"/>
                <a:gd name="connsiteY62" fmla="*/ 307181 h 1309687"/>
                <a:gd name="connsiteX63" fmla="*/ 261938 w 1562100"/>
                <a:gd name="connsiteY63" fmla="*/ 340518 h 1309687"/>
                <a:gd name="connsiteX64" fmla="*/ 228600 w 1562100"/>
                <a:gd name="connsiteY64" fmla="*/ 383381 h 1309687"/>
                <a:gd name="connsiteX65" fmla="*/ 271463 w 1562100"/>
                <a:gd name="connsiteY65" fmla="*/ 400050 h 1309687"/>
                <a:gd name="connsiteX66" fmla="*/ 278606 w 1562100"/>
                <a:gd name="connsiteY66" fmla="*/ 419100 h 1309687"/>
                <a:gd name="connsiteX67" fmla="*/ 257175 w 1562100"/>
                <a:gd name="connsiteY67" fmla="*/ 454818 h 1309687"/>
                <a:gd name="connsiteX68" fmla="*/ 221456 w 1562100"/>
                <a:gd name="connsiteY68" fmla="*/ 464343 h 1309687"/>
                <a:gd name="connsiteX69" fmla="*/ 221456 w 1562100"/>
                <a:gd name="connsiteY69" fmla="*/ 504825 h 1309687"/>
                <a:gd name="connsiteX70" fmla="*/ 254794 w 1562100"/>
                <a:gd name="connsiteY70" fmla="*/ 542925 h 1309687"/>
                <a:gd name="connsiteX71" fmla="*/ 226219 w 1562100"/>
                <a:gd name="connsiteY71" fmla="*/ 607218 h 1309687"/>
                <a:gd name="connsiteX72" fmla="*/ 180975 w 1562100"/>
                <a:gd name="connsiteY72" fmla="*/ 635793 h 1309687"/>
                <a:gd name="connsiteX73" fmla="*/ 183356 w 1562100"/>
                <a:gd name="connsiteY73" fmla="*/ 652462 h 1309687"/>
                <a:gd name="connsiteX74" fmla="*/ 204788 w 1562100"/>
                <a:gd name="connsiteY74" fmla="*/ 661987 h 1309687"/>
                <a:gd name="connsiteX75" fmla="*/ 219075 w 1562100"/>
                <a:gd name="connsiteY75" fmla="*/ 671512 h 1309687"/>
                <a:gd name="connsiteX76" fmla="*/ 223838 w 1562100"/>
                <a:gd name="connsiteY76" fmla="*/ 690562 h 1309687"/>
                <a:gd name="connsiteX77" fmla="*/ 195263 w 1562100"/>
                <a:gd name="connsiteY77" fmla="*/ 716756 h 1309687"/>
                <a:gd name="connsiteX78" fmla="*/ 123825 w 1562100"/>
                <a:gd name="connsiteY78" fmla="*/ 762000 h 1309687"/>
                <a:gd name="connsiteX79" fmla="*/ 123825 w 1562100"/>
                <a:gd name="connsiteY79" fmla="*/ 797718 h 1309687"/>
                <a:gd name="connsiteX80" fmla="*/ 135731 w 1562100"/>
                <a:gd name="connsiteY80" fmla="*/ 828675 h 1309687"/>
                <a:gd name="connsiteX81" fmla="*/ 123825 w 1562100"/>
                <a:gd name="connsiteY81" fmla="*/ 869156 h 1309687"/>
                <a:gd name="connsiteX82" fmla="*/ 76200 w 1562100"/>
                <a:gd name="connsiteY82" fmla="*/ 864393 h 1309687"/>
                <a:gd name="connsiteX83" fmla="*/ 52388 w 1562100"/>
                <a:gd name="connsiteY83" fmla="*/ 809625 h 1309687"/>
                <a:gd name="connsiteX84" fmla="*/ 33338 w 1562100"/>
                <a:gd name="connsiteY84" fmla="*/ 802481 h 1309687"/>
                <a:gd name="connsiteX85" fmla="*/ 23813 w 1562100"/>
                <a:gd name="connsiteY85" fmla="*/ 840581 h 1309687"/>
                <a:gd name="connsiteX86" fmla="*/ 21431 w 1562100"/>
                <a:gd name="connsiteY86" fmla="*/ 850106 h 1309687"/>
                <a:gd name="connsiteX87" fmla="*/ 7144 w 1562100"/>
                <a:gd name="connsiteY87" fmla="*/ 866775 h 1309687"/>
                <a:gd name="connsiteX88" fmla="*/ 0 w 1562100"/>
                <a:gd name="connsiteY88" fmla="*/ 923925 h 1309687"/>
                <a:gd name="connsiteX89" fmla="*/ 23813 w 1562100"/>
                <a:gd name="connsiteY89" fmla="*/ 952500 h 1309687"/>
                <a:gd name="connsiteX90" fmla="*/ 16669 w 1562100"/>
                <a:gd name="connsiteY90" fmla="*/ 992981 h 1309687"/>
                <a:gd name="connsiteX91" fmla="*/ 35719 w 1562100"/>
                <a:gd name="connsiteY91" fmla="*/ 997743 h 1309687"/>
                <a:gd name="connsiteX92" fmla="*/ 69056 w 1562100"/>
                <a:gd name="connsiteY92" fmla="*/ 997743 h 1309687"/>
                <a:gd name="connsiteX93" fmla="*/ 85725 w 1562100"/>
                <a:gd name="connsiteY93" fmla="*/ 988218 h 1309687"/>
                <a:gd name="connsiteX94" fmla="*/ 135731 w 1562100"/>
                <a:gd name="connsiteY94" fmla="*/ 1045368 h 1309687"/>
                <a:gd name="connsiteX95" fmla="*/ 123825 w 1562100"/>
                <a:gd name="connsiteY95" fmla="*/ 1064418 h 1309687"/>
                <a:gd name="connsiteX96" fmla="*/ 133350 w 1562100"/>
                <a:gd name="connsiteY96" fmla="*/ 1092993 h 1309687"/>
                <a:gd name="connsiteX97" fmla="*/ 164306 w 1562100"/>
                <a:gd name="connsiteY97" fmla="*/ 1112043 h 1309687"/>
                <a:gd name="connsiteX98" fmla="*/ 190500 w 1562100"/>
                <a:gd name="connsiteY98" fmla="*/ 1121568 h 1309687"/>
                <a:gd name="connsiteX99" fmla="*/ 216694 w 1562100"/>
                <a:gd name="connsiteY99" fmla="*/ 1128712 h 1309687"/>
                <a:gd name="connsiteX100" fmla="*/ 228600 w 1562100"/>
                <a:gd name="connsiteY100" fmla="*/ 1131093 h 1309687"/>
                <a:gd name="connsiteX101" fmla="*/ 240506 w 1562100"/>
                <a:gd name="connsiteY101" fmla="*/ 1092993 h 1309687"/>
                <a:gd name="connsiteX102" fmla="*/ 269081 w 1562100"/>
                <a:gd name="connsiteY102" fmla="*/ 1097756 h 1309687"/>
                <a:gd name="connsiteX103" fmla="*/ 288131 w 1562100"/>
                <a:gd name="connsiteY103" fmla="*/ 1085850 h 1309687"/>
                <a:gd name="connsiteX104" fmla="*/ 307181 w 1562100"/>
                <a:gd name="connsiteY104" fmla="*/ 1135856 h 1309687"/>
                <a:gd name="connsiteX105" fmla="*/ 330994 w 1562100"/>
                <a:gd name="connsiteY105" fmla="*/ 1150143 h 1309687"/>
                <a:gd name="connsiteX106" fmla="*/ 340519 w 1562100"/>
                <a:gd name="connsiteY106" fmla="*/ 1178718 h 1309687"/>
                <a:gd name="connsiteX107" fmla="*/ 357188 w 1562100"/>
                <a:gd name="connsiteY107" fmla="*/ 1188243 h 1309687"/>
                <a:gd name="connsiteX108" fmla="*/ 364331 w 1562100"/>
                <a:gd name="connsiteY108" fmla="*/ 1219200 h 1309687"/>
                <a:gd name="connsiteX109" fmla="*/ 335756 w 1562100"/>
                <a:gd name="connsiteY109" fmla="*/ 1245393 h 1309687"/>
                <a:gd name="connsiteX110" fmla="*/ 309563 w 1562100"/>
                <a:gd name="connsiteY110" fmla="*/ 1262062 h 1309687"/>
                <a:gd name="connsiteX111" fmla="*/ 297656 w 1562100"/>
                <a:gd name="connsiteY111" fmla="*/ 1285875 h 1309687"/>
                <a:gd name="connsiteX112" fmla="*/ 302419 w 1562100"/>
                <a:gd name="connsiteY112" fmla="*/ 1309687 h 1309687"/>
                <a:gd name="connsiteX113" fmla="*/ 342900 w 1562100"/>
                <a:gd name="connsiteY113" fmla="*/ 1309687 h 1309687"/>
                <a:gd name="connsiteX114" fmla="*/ 390525 w 1562100"/>
                <a:gd name="connsiteY114" fmla="*/ 1304925 h 1309687"/>
                <a:gd name="connsiteX115" fmla="*/ 428625 w 1562100"/>
                <a:gd name="connsiteY115" fmla="*/ 1295400 h 1309687"/>
                <a:gd name="connsiteX116" fmla="*/ 454819 w 1562100"/>
                <a:gd name="connsiteY116" fmla="*/ 1302543 h 1309687"/>
                <a:gd name="connsiteX117" fmla="*/ 473869 w 1562100"/>
                <a:gd name="connsiteY117" fmla="*/ 1281112 h 1309687"/>
                <a:gd name="connsiteX118" fmla="*/ 492919 w 1562100"/>
                <a:gd name="connsiteY118" fmla="*/ 1281112 h 1309687"/>
                <a:gd name="connsiteX119" fmla="*/ 507206 w 1562100"/>
                <a:gd name="connsiteY119" fmla="*/ 1250156 h 1309687"/>
                <a:gd name="connsiteX120" fmla="*/ 557213 w 1562100"/>
                <a:gd name="connsiteY120" fmla="*/ 1235868 h 1309687"/>
                <a:gd name="connsiteX121" fmla="*/ 583406 w 1562100"/>
                <a:gd name="connsiteY121" fmla="*/ 1216818 h 1309687"/>
                <a:gd name="connsiteX122" fmla="*/ 590550 w 1562100"/>
                <a:gd name="connsiteY122" fmla="*/ 1178718 h 1309687"/>
                <a:gd name="connsiteX123" fmla="*/ 607219 w 1562100"/>
                <a:gd name="connsiteY123" fmla="*/ 1152525 h 1309687"/>
                <a:gd name="connsiteX124" fmla="*/ 688181 w 1562100"/>
                <a:gd name="connsiteY124"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97681 w 1562100"/>
                <a:gd name="connsiteY54" fmla="*/ 119063 h 1309687"/>
                <a:gd name="connsiteX55" fmla="*/ 450056 w 1562100"/>
                <a:gd name="connsiteY55" fmla="*/ 2382 h 1309687"/>
                <a:gd name="connsiteX56" fmla="*/ 428625 w 1562100"/>
                <a:gd name="connsiteY56" fmla="*/ 0 h 1309687"/>
                <a:gd name="connsiteX57" fmla="*/ 376238 w 1562100"/>
                <a:gd name="connsiteY57" fmla="*/ 104775 h 1309687"/>
                <a:gd name="connsiteX58" fmla="*/ 314326 w 1562100"/>
                <a:gd name="connsiteY58" fmla="*/ 104774 h 1309687"/>
                <a:gd name="connsiteX59" fmla="*/ 328613 w 1562100"/>
                <a:gd name="connsiteY59" fmla="*/ 183356 h 1309687"/>
                <a:gd name="connsiteX60" fmla="*/ 292894 w 1562100"/>
                <a:gd name="connsiteY60" fmla="*/ 285750 h 1309687"/>
                <a:gd name="connsiteX61" fmla="*/ 264319 w 1562100"/>
                <a:gd name="connsiteY61" fmla="*/ 292893 h 1309687"/>
                <a:gd name="connsiteX62" fmla="*/ 261938 w 1562100"/>
                <a:gd name="connsiteY62" fmla="*/ 307181 h 1309687"/>
                <a:gd name="connsiteX63" fmla="*/ 261938 w 1562100"/>
                <a:gd name="connsiteY63" fmla="*/ 340518 h 1309687"/>
                <a:gd name="connsiteX64" fmla="*/ 228600 w 1562100"/>
                <a:gd name="connsiteY64" fmla="*/ 383381 h 1309687"/>
                <a:gd name="connsiteX65" fmla="*/ 271463 w 1562100"/>
                <a:gd name="connsiteY65" fmla="*/ 400050 h 1309687"/>
                <a:gd name="connsiteX66" fmla="*/ 278606 w 1562100"/>
                <a:gd name="connsiteY66" fmla="*/ 419100 h 1309687"/>
                <a:gd name="connsiteX67" fmla="*/ 257175 w 1562100"/>
                <a:gd name="connsiteY67" fmla="*/ 454818 h 1309687"/>
                <a:gd name="connsiteX68" fmla="*/ 221456 w 1562100"/>
                <a:gd name="connsiteY68" fmla="*/ 464343 h 1309687"/>
                <a:gd name="connsiteX69" fmla="*/ 221456 w 1562100"/>
                <a:gd name="connsiteY69" fmla="*/ 504825 h 1309687"/>
                <a:gd name="connsiteX70" fmla="*/ 254794 w 1562100"/>
                <a:gd name="connsiteY70" fmla="*/ 542925 h 1309687"/>
                <a:gd name="connsiteX71" fmla="*/ 226219 w 1562100"/>
                <a:gd name="connsiteY71" fmla="*/ 607218 h 1309687"/>
                <a:gd name="connsiteX72" fmla="*/ 180975 w 1562100"/>
                <a:gd name="connsiteY72" fmla="*/ 635793 h 1309687"/>
                <a:gd name="connsiteX73" fmla="*/ 183356 w 1562100"/>
                <a:gd name="connsiteY73" fmla="*/ 652462 h 1309687"/>
                <a:gd name="connsiteX74" fmla="*/ 204788 w 1562100"/>
                <a:gd name="connsiteY74" fmla="*/ 661987 h 1309687"/>
                <a:gd name="connsiteX75" fmla="*/ 219075 w 1562100"/>
                <a:gd name="connsiteY75" fmla="*/ 671512 h 1309687"/>
                <a:gd name="connsiteX76" fmla="*/ 223838 w 1562100"/>
                <a:gd name="connsiteY76" fmla="*/ 690562 h 1309687"/>
                <a:gd name="connsiteX77" fmla="*/ 195263 w 1562100"/>
                <a:gd name="connsiteY77" fmla="*/ 716756 h 1309687"/>
                <a:gd name="connsiteX78" fmla="*/ 123825 w 1562100"/>
                <a:gd name="connsiteY78" fmla="*/ 762000 h 1309687"/>
                <a:gd name="connsiteX79" fmla="*/ 123825 w 1562100"/>
                <a:gd name="connsiteY79" fmla="*/ 797718 h 1309687"/>
                <a:gd name="connsiteX80" fmla="*/ 135731 w 1562100"/>
                <a:gd name="connsiteY80" fmla="*/ 828675 h 1309687"/>
                <a:gd name="connsiteX81" fmla="*/ 123825 w 1562100"/>
                <a:gd name="connsiteY81" fmla="*/ 869156 h 1309687"/>
                <a:gd name="connsiteX82" fmla="*/ 76200 w 1562100"/>
                <a:gd name="connsiteY82" fmla="*/ 864393 h 1309687"/>
                <a:gd name="connsiteX83" fmla="*/ 52388 w 1562100"/>
                <a:gd name="connsiteY83" fmla="*/ 809625 h 1309687"/>
                <a:gd name="connsiteX84" fmla="*/ 33338 w 1562100"/>
                <a:gd name="connsiteY84" fmla="*/ 802481 h 1309687"/>
                <a:gd name="connsiteX85" fmla="*/ 23813 w 1562100"/>
                <a:gd name="connsiteY85" fmla="*/ 840581 h 1309687"/>
                <a:gd name="connsiteX86" fmla="*/ 21431 w 1562100"/>
                <a:gd name="connsiteY86" fmla="*/ 850106 h 1309687"/>
                <a:gd name="connsiteX87" fmla="*/ 7144 w 1562100"/>
                <a:gd name="connsiteY87" fmla="*/ 866775 h 1309687"/>
                <a:gd name="connsiteX88" fmla="*/ 0 w 1562100"/>
                <a:gd name="connsiteY88" fmla="*/ 923925 h 1309687"/>
                <a:gd name="connsiteX89" fmla="*/ 23813 w 1562100"/>
                <a:gd name="connsiteY89" fmla="*/ 952500 h 1309687"/>
                <a:gd name="connsiteX90" fmla="*/ 16669 w 1562100"/>
                <a:gd name="connsiteY90" fmla="*/ 992981 h 1309687"/>
                <a:gd name="connsiteX91" fmla="*/ 35719 w 1562100"/>
                <a:gd name="connsiteY91" fmla="*/ 997743 h 1309687"/>
                <a:gd name="connsiteX92" fmla="*/ 69056 w 1562100"/>
                <a:gd name="connsiteY92" fmla="*/ 997743 h 1309687"/>
                <a:gd name="connsiteX93" fmla="*/ 85725 w 1562100"/>
                <a:gd name="connsiteY93" fmla="*/ 988218 h 1309687"/>
                <a:gd name="connsiteX94" fmla="*/ 135731 w 1562100"/>
                <a:gd name="connsiteY94" fmla="*/ 1045368 h 1309687"/>
                <a:gd name="connsiteX95" fmla="*/ 123825 w 1562100"/>
                <a:gd name="connsiteY95" fmla="*/ 1064418 h 1309687"/>
                <a:gd name="connsiteX96" fmla="*/ 133350 w 1562100"/>
                <a:gd name="connsiteY96" fmla="*/ 1092993 h 1309687"/>
                <a:gd name="connsiteX97" fmla="*/ 164306 w 1562100"/>
                <a:gd name="connsiteY97" fmla="*/ 1112043 h 1309687"/>
                <a:gd name="connsiteX98" fmla="*/ 190500 w 1562100"/>
                <a:gd name="connsiteY98" fmla="*/ 1121568 h 1309687"/>
                <a:gd name="connsiteX99" fmla="*/ 216694 w 1562100"/>
                <a:gd name="connsiteY99" fmla="*/ 1128712 h 1309687"/>
                <a:gd name="connsiteX100" fmla="*/ 228600 w 1562100"/>
                <a:gd name="connsiteY100" fmla="*/ 1131093 h 1309687"/>
                <a:gd name="connsiteX101" fmla="*/ 240506 w 1562100"/>
                <a:gd name="connsiteY101" fmla="*/ 1092993 h 1309687"/>
                <a:gd name="connsiteX102" fmla="*/ 269081 w 1562100"/>
                <a:gd name="connsiteY102" fmla="*/ 1097756 h 1309687"/>
                <a:gd name="connsiteX103" fmla="*/ 288131 w 1562100"/>
                <a:gd name="connsiteY103" fmla="*/ 1085850 h 1309687"/>
                <a:gd name="connsiteX104" fmla="*/ 307181 w 1562100"/>
                <a:gd name="connsiteY104" fmla="*/ 1135856 h 1309687"/>
                <a:gd name="connsiteX105" fmla="*/ 330994 w 1562100"/>
                <a:gd name="connsiteY105" fmla="*/ 1150143 h 1309687"/>
                <a:gd name="connsiteX106" fmla="*/ 340519 w 1562100"/>
                <a:gd name="connsiteY106" fmla="*/ 1178718 h 1309687"/>
                <a:gd name="connsiteX107" fmla="*/ 357188 w 1562100"/>
                <a:gd name="connsiteY107" fmla="*/ 1188243 h 1309687"/>
                <a:gd name="connsiteX108" fmla="*/ 364331 w 1562100"/>
                <a:gd name="connsiteY108" fmla="*/ 1219200 h 1309687"/>
                <a:gd name="connsiteX109" fmla="*/ 335756 w 1562100"/>
                <a:gd name="connsiteY109" fmla="*/ 1245393 h 1309687"/>
                <a:gd name="connsiteX110" fmla="*/ 309563 w 1562100"/>
                <a:gd name="connsiteY110" fmla="*/ 1262062 h 1309687"/>
                <a:gd name="connsiteX111" fmla="*/ 297656 w 1562100"/>
                <a:gd name="connsiteY111" fmla="*/ 1285875 h 1309687"/>
                <a:gd name="connsiteX112" fmla="*/ 302419 w 1562100"/>
                <a:gd name="connsiteY112" fmla="*/ 1309687 h 1309687"/>
                <a:gd name="connsiteX113" fmla="*/ 342900 w 1562100"/>
                <a:gd name="connsiteY113" fmla="*/ 1309687 h 1309687"/>
                <a:gd name="connsiteX114" fmla="*/ 390525 w 1562100"/>
                <a:gd name="connsiteY114" fmla="*/ 1304925 h 1309687"/>
                <a:gd name="connsiteX115" fmla="*/ 428625 w 1562100"/>
                <a:gd name="connsiteY115" fmla="*/ 1295400 h 1309687"/>
                <a:gd name="connsiteX116" fmla="*/ 454819 w 1562100"/>
                <a:gd name="connsiteY116" fmla="*/ 1302543 h 1309687"/>
                <a:gd name="connsiteX117" fmla="*/ 473869 w 1562100"/>
                <a:gd name="connsiteY117" fmla="*/ 1281112 h 1309687"/>
                <a:gd name="connsiteX118" fmla="*/ 492919 w 1562100"/>
                <a:gd name="connsiteY118" fmla="*/ 1281112 h 1309687"/>
                <a:gd name="connsiteX119" fmla="*/ 507206 w 1562100"/>
                <a:gd name="connsiteY119" fmla="*/ 1250156 h 1309687"/>
                <a:gd name="connsiteX120" fmla="*/ 557213 w 1562100"/>
                <a:gd name="connsiteY120" fmla="*/ 1235868 h 1309687"/>
                <a:gd name="connsiteX121" fmla="*/ 583406 w 1562100"/>
                <a:gd name="connsiteY121" fmla="*/ 1216818 h 1309687"/>
                <a:gd name="connsiteX122" fmla="*/ 590550 w 1562100"/>
                <a:gd name="connsiteY122" fmla="*/ 1178718 h 1309687"/>
                <a:gd name="connsiteX123" fmla="*/ 607219 w 1562100"/>
                <a:gd name="connsiteY123" fmla="*/ 1152525 h 1309687"/>
                <a:gd name="connsiteX124" fmla="*/ 688181 w 1562100"/>
                <a:gd name="connsiteY124"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500062 w 1562100"/>
                <a:gd name="connsiteY54" fmla="*/ 66676 h 1309687"/>
                <a:gd name="connsiteX55" fmla="*/ 450056 w 1562100"/>
                <a:gd name="connsiteY55" fmla="*/ 2382 h 1309687"/>
                <a:gd name="connsiteX56" fmla="*/ 428625 w 1562100"/>
                <a:gd name="connsiteY56" fmla="*/ 0 h 1309687"/>
                <a:gd name="connsiteX57" fmla="*/ 376238 w 1562100"/>
                <a:gd name="connsiteY57" fmla="*/ 104775 h 1309687"/>
                <a:gd name="connsiteX58" fmla="*/ 314326 w 1562100"/>
                <a:gd name="connsiteY58" fmla="*/ 104774 h 1309687"/>
                <a:gd name="connsiteX59" fmla="*/ 328613 w 1562100"/>
                <a:gd name="connsiteY59" fmla="*/ 183356 h 1309687"/>
                <a:gd name="connsiteX60" fmla="*/ 292894 w 1562100"/>
                <a:gd name="connsiteY60" fmla="*/ 285750 h 1309687"/>
                <a:gd name="connsiteX61" fmla="*/ 264319 w 1562100"/>
                <a:gd name="connsiteY61" fmla="*/ 292893 h 1309687"/>
                <a:gd name="connsiteX62" fmla="*/ 261938 w 1562100"/>
                <a:gd name="connsiteY62" fmla="*/ 307181 h 1309687"/>
                <a:gd name="connsiteX63" fmla="*/ 261938 w 1562100"/>
                <a:gd name="connsiteY63" fmla="*/ 340518 h 1309687"/>
                <a:gd name="connsiteX64" fmla="*/ 228600 w 1562100"/>
                <a:gd name="connsiteY64" fmla="*/ 383381 h 1309687"/>
                <a:gd name="connsiteX65" fmla="*/ 271463 w 1562100"/>
                <a:gd name="connsiteY65" fmla="*/ 400050 h 1309687"/>
                <a:gd name="connsiteX66" fmla="*/ 278606 w 1562100"/>
                <a:gd name="connsiteY66" fmla="*/ 419100 h 1309687"/>
                <a:gd name="connsiteX67" fmla="*/ 257175 w 1562100"/>
                <a:gd name="connsiteY67" fmla="*/ 454818 h 1309687"/>
                <a:gd name="connsiteX68" fmla="*/ 221456 w 1562100"/>
                <a:gd name="connsiteY68" fmla="*/ 464343 h 1309687"/>
                <a:gd name="connsiteX69" fmla="*/ 221456 w 1562100"/>
                <a:gd name="connsiteY69" fmla="*/ 504825 h 1309687"/>
                <a:gd name="connsiteX70" fmla="*/ 254794 w 1562100"/>
                <a:gd name="connsiteY70" fmla="*/ 542925 h 1309687"/>
                <a:gd name="connsiteX71" fmla="*/ 226219 w 1562100"/>
                <a:gd name="connsiteY71" fmla="*/ 607218 h 1309687"/>
                <a:gd name="connsiteX72" fmla="*/ 180975 w 1562100"/>
                <a:gd name="connsiteY72" fmla="*/ 635793 h 1309687"/>
                <a:gd name="connsiteX73" fmla="*/ 183356 w 1562100"/>
                <a:gd name="connsiteY73" fmla="*/ 652462 h 1309687"/>
                <a:gd name="connsiteX74" fmla="*/ 204788 w 1562100"/>
                <a:gd name="connsiteY74" fmla="*/ 661987 h 1309687"/>
                <a:gd name="connsiteX75" fmla="*/ 219075 w 1562100"/>
                <a:gd name="connsiteY75" fmla="*/ 671512 h 1309687"/>
                <a:gd name="connsiteX76" fmla="*/ 223838 w 1562100"/>
                <a:gd name="connsiteY76" fmla="*/ 690562 h 1309687"/>
                <a:gd name="connsiteX77" fmla="*/ 195263 w 1562100"/>
                <a:gd name="connsiteY77" fmla="*/ 716756 h 1309687"/>
                <a:gd name="connsiteX78" fmla="*/ 123825 w 1562100"/>
                <a:gd name="connsiteY78" fmla="*/ 762000 h 1309687"/>
                <a:gd name="connsiteX79" fmla="*/ 123825 w 1562100"/>
                <a:gd name="connsiteY79" fmla="*/ 797718 h 1309687"/>
                <a:gd name="connsiteX80" fmla="*/ 135731 w 1562100"/>
                <a:gd name="connsiteY80" fmla="*/ 828675 h 1309687"/>
                <a:gd name="connsiteX81" fmla="*/ 123825 w 1562100"/>
                <a:gd name="connsiteY81" fmla="*/ 869156 h 1309687"/>
                <a:gd name="connsiteX82" fmla="*/ 76200 w 1562100"/>
                <a:gd name="connsiteY82" fmla="*/ 864393 h 1309687"/>
                <a:gd name="connsiteX83" fmla="*/ 52388 w 1562100"/>
                <a:gd name="connsiteY83" fmla="*/ 809625 h 1309687"/>
                <a:gd name="connsiteX84" fmla="*/ 33338 w 1562100"/>
                <a:gd name="connsiteY84" fmla="*/ 802481 h 1309687"/>
                <a:gd name="connsiteX85" fmla="*/ 23813 w 1562100"/>
                <a:gd name="connsiteY85" fmla="*/ 840581 h 1309687"/>
                <a:gd name="connsiteX86" fmla="*/ 21431 w 1562100"/>
                <a:gd name="connsiteY86" fmla="*/ 850106 h 1309687"/>
                <a:gd name="connsiteX87" fmla="*/ 7144 w 1562100"/>
                <a:gd name="connsiteY87" fmla="*/ 866775 h 1309687"/>
                <a:gd name="connsiteX88" fmla="*/ 0 w 1562100"/>
                <a:gd name="connsiteY88" fmla="*/ 923925 h 1309687"/>
                <a:gd name="connsiteX89" fmla="*/ 23813 w 1562100"/>
                <a:gd name="connsiteY89" fmla="*/ 952500 h 1309687"/>
                <a:gd name="connsiteX90" fmla="*/ 16669 w 1562100"/>
                <a:gd name="connsiteY90" fmla="*/ 992981 h 1309687"/>
                <a:gd name="connsiteX91" fmla="*/ 35719 w 1562100"/>
                <a:gd name="connsiteY91" fmla="*/ 997743 h 1309687"/>
                <a:gd name="connsiteX92" fmla="*/ 69056 w 1562100"/>
                <a:gd name="connsiteY92" fmla="*/ 997743 h 1309687"/>
                <a:gd name="connsiteX93" fmla="*/ 85725 w 1562100"/>
                <a:gd name="connsiteY93" fmla="*/ 988218 h 1309687"/>
                <a:gd name="connsiteX94" fmla="*/ 135731 w 1562100"/>
                <a:gd name="connsiteY94" fmla="*/ 1045368 h 1309687"/>
                <a:gd name="connsiteX95" fmla="*/ 123825 w 1562100"/>
                <a:gd name="connsiteY95" fmla="*/ 1064418 h 1309687"/>
                <a:gd name="connsiteX96" fmla="*/ 133350 w 1562100"/>
                <a:gd name="connsiteY96" fmla="*/ 1092993 h 1309687"/>
                <a:gd name="connsiteX97" fmla="*/ 164306 w 1562100"/>
                <a:gd name="connsiteY97" fmla="*/ 1112043 h 1309687"/>
                <a:gd name="connsiteX98" fmla="*/ 190500 w 1562100"/>
                <a:gd name="connsiteY98" fmla="*/ 1121568 h 1309687"/>
                <a:gd name="connsiteX99" fmla="*/ 216694 w 1562100"/>
                <a:gd name="connsiteY99" fmla="*/ 1128712 h 1309687"/>
                <a:gd name="connsiteX100" fmla="*/ 228600 w 1562100"/>
                <a:gd name="connsiteY100" fmla="*/ 1131093 h 1309687"/>
                <a:gd name="connsiteX101" fmla="*/ 240506 w 1562100"/>
                <a:gd name="connsiteY101" fmla="*/ 1092993 h 1309687"/>
                <a:gd name="connsiteX102" fmla="*/ 269081 w 1562100"/>
                <a:gd name="connsiteY102" fmla="*/ 1097756 h 1309687"/>
                <a:gd name="connsiteX103" fmla="*/ 288131 w 1562100"/>
                <a:gd name="connsiteY103" fmla="*/ 1085850 h 1309687"/>
                <a:gd name="connsiteX104" fmla="*/ 307181 w 1562100"/>
                <a:gd name="connsiteY104" fmla="*/ 1135856 h 1309687"/>
                <a:gd name="connsiteX105" fmla="*/ 330994 w 1562100"/>
                <a:gd name="connsiteY105" fmla="*/ 1150143 h 1309687"/>
                <a:gd name="connsiteX106" fmla="*/ 340519 w 1562100"/>
                <a:gd name="connsiteY106" fmla="*/ 1178718 h 1309687"/>
                <a:gd name="connsiteX107" fmla="*/ 357188 w 1562100"/>
                <a:gd name="connsiteY107" fmla="*/ 1188243 h 1309687"/>
                <a:gd name="connsiteX108" fmla="*/ 364331 w 1562100"/>
                <a:gd name="connsiteY108" fmla="*/ 1219200 h 1309687"/>
                <a:gd name="connsiteX109" fmla="*/ 335756 w 1562100"/>
                <a:gd name="connsiteY109" fmla="*/ 1245393 h 1309687"/>
                <a:gd name="connsiteX110" fmla="*/ 309563 w 1562100"/>
                <a:gd name="connsiteY110" fmla="*/ 1262062 h 1309687"/>
                <a:gd name="connsiteX111" fmla="*/ 297656 w 1562100"/>
                <a:gd name="connsiteY111" fmla="*/ 1285875 h 1309687"/>
                <a:gd name="connsiteX112" fmla="*/ 302419 w 1562100"/>
                <a:gd name="connsiteY112" fmla="*/ 1309687 h 1309687"/>
                <a:gd name="connsiteX113" fmla="*/ 342900 w 1562100"/>
                <a:gd name="connsiteY113" fmla="*/ 1309687 h 1309687"/>
                <a:gd name="connsiteX114" fmla="*/ 390525 w 1562100"/>
                <a:gd name="connsiteY114" fmla="*/ 1304925 h 1309687"/>
                <a:gd name="connsiteX115" fmla="*/ 428625 w 1562100"/>
                <a:gd name="connsiteY115" fmla="*/ 1295400 h 1309687"/>
                <a:gd name="connsiteX116" fmla="*/ 454819 w 1562100"/>
                <a:gd name="connsiteY116" fmla="*/ 1302543 h 1309687"/>
                <a:gd name="connsiteX117" fmla="*/ 473869 w 1562100"/>
                <a:gd name="connsiteY117" fmla="*/ 1281112 h 1309687"/>
                <a:gd name="connsiteX118" fmla="*/ 492919 w 1562100"/>
                <a:gd name="connsiteY118" fmla="*/ 1281112 h 1309687"/>
                <a:gd name="connsiteX119" fmla="*/ 507206 w 1562100"/>
                <a:gd name="connsiteY119" fmla="*/ 1250156 h 1309687"/>
                <a:gd name="connsiteX120" fmla="*/ 557213 w 1562100"/>
                <a:gd name="connsiteY120" fmla="*/ 1235868 h 1309687"/>
                <a:gd name="connsiteX121" fmla="*/ 583406 w 1562100"/>
                <a:gd name="connsiteY121" fmla="*/ 1216818 h 1309687"/>
                <a:gd name="connsiteX122" fmla="*/ 590550 w 1562100"/>
                <a:gd name="connsiteY122" fmla="*/ 1178718 h 1309687"/>
                <a:gd name="connsiteX123" fmla="*/ 607219 w 1562100"/>
                <a:gd name="connsiteY123" fmla="*/ 1152525 h 1309687"/>
                <a:gd name="connsiteX124" fmla="*/ 688181 w 1562100"/>
                <a:gd name="connsiteY124"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02456 w 1562100"/>
                <a:gd name="connsiteY54" fmla="*/ 133351 h 1309687"/>
                <a:gd name="connsiteX55" fmla="*/ 500062 w 1562100"/>
                <a:gd name="connsiteY55" fmla="*/ 66676 h 1309687"/>
                <a:gd name="connsiteX56" fmla="*/ 450056 w 1562100"/>
                <a:gd name="connsiteY56" fmla="*/ 2382 h 1309687"/>
                <a:gd name="connsiteX57" fmla="*/ 428625 w 1562100"/>
                <a:gd name="connsiteY57" fmla="*/ 0 h 1309687"/>
                <a:gd name="connsiteX58" fmla="*/ 376238 w 1562100"/>
                <a:gd name="connsiteY58" fmla="*/ 104775 h 1309687"/>
                <a:gd name="connsiteX59" fmla="*/ 314326 w 1562100"/>
                <a:gd name="connsiteY59" fmla="*/ 104774 h 1309687"/>
                <a:gd name="connsiteX60" fmla="*/ 328613 w 1562100"/>
                <a:gd name="connsiteY60" fmla="*/ 183356 h 1309687"/>
                <a:gd name="connsiteX61" fmla="*/ 292894 w 1562100"/>
                <a:gd name="connsiteY61" fmla="*/ 285750 h 1309687"/>
                <a:gd name="connsiteX62" fmla="*/ 264319 w 1562100"/>
                <a:gd name="connsiteY62" fmla="*/ 292893 h 1309687"/>
                <a:gd name="connsiteX63" fmla="*/ 261938 w 1562100"/>
                <a:gd name="connsiteY63" fmla="*/ 307181 h 1309687"/>
                <a:gd name="connsiteX64" fmla="*/ 261938 w 1562100"/>
                <a:gd name="connsiteY64" fmla="*/ 340518 h 1309687"/>
                <a:gd name="connsiteX65" fmla="*/ 228600 w 1562100"/>
                <a:gd name="connsiteY65" fmla="*/ 383381 h 1309687"/>
                <a:gd name="connsiteX66" fmla="*/ 271463 w 1562100"/>
                <a:gd name="connsiteY66" fmla="*/ 400050 h 1309687"/>
                <a:gd name="connsiteX67" fmla="*/ 278606 w 1562100"/>
                <a:gd name="connsiteY67" fmla="*/ 419100 h 1309687"/>
                <a:gd name="connsiteX68" fmla="*/ 257175 w 1562100"/>
                <a:gd name="connsiteY68" fmla="*/ 454818 h 1309687"/>
                <a:gd name="connsiteX69" fmla="*/ 221456 w 1562100"/>
                <a:gd name="connsiteY69" fmla="*/ 464343 h 1309687"/>
                <a:gd name="connsiteX70" fmla="*/ 221456 w 1562100"/>
                <a:gd name="connsiteY70" fmla="*/ 504825 h 1309687"/>
                <a:gd name="connsiteX71" fmla="*/ 254794 w 1562100"/>
                <a:gd name="connsiteY71" fmla="*/ 542925 h 1309687"/>
                <a:gd name="connsiteX72" fmla="*/ 226219 w 1562100"/>
                <a:gd name="connsiteY72" fmla="*/ 607218 h 1309687"/>
                <a:gd name="connsiteX73" fmla="*/ 180975 w 1562100"/>
                <a:gd name="connsiteY73" fmla="*/ 635793 h 1309687"/>
                <a:gd name="connsiteX74" fmla="*/ 183356 w 1562100"/>
                <a:gd name="connsiteY74" fmla="*/ 652462 h 1309687"/>
                <a:gd name="connsiteX75" fmla="*/ 204788 w 1562100"/>
                <a:gd name="connsiteY75" fmla="*/ 661987 h 1309687"/>
                <a:gd name="connsiteX76" fmla="*/ 219075 w 1562100"/>
                <a:gd name="connsiteY76" fmla="*/ 671512 h 1309687"/>
                <a:gd name="connsiteX77" fmla="*/ 223838 w 1562100"/>
                <a:gd name="connsiteY77" fmla="*/ 690562 h 1309687"/>
                <a:gd name="connsiteX78" fmla="*/ 195263 w 1562100"/>
                <a:gd name="connsiteY78" fmla="*/ 716756 h 1309687"/>
                <a:gd name="connsiteX79" fmla="*/ 123825 w 1562100"/>
                <a:gd name="connsiteY79" fmla="*/ 762000 h 1309687"/>
                <a:gd name="connsiteX80" fmla="*/ 123825 w 1562100"/>
                <a:gd name="connsiteY80" fmla="*/ 797718 h 1309687"/>
                <a:gd name="connsiteX81" fmla="*/ 135731 w 1562100"/>
                <a:gd name="connsiteY81" fmla="*/ 828675 h 1309687"/>
                <a:gd name="connsiteX82" fmla="*/ 123825 w 1562100"/>
                <a:gd name="connsiteY82" fmla="*/ 869156 h 1309687"/>
                <a:gd name="connsiteX83" fmla="*/ 76200 w 1562100"/>
                <a:gd name="connsiteY83" fmla="*/ 864393 h 1309687"/>
                <a:gd name="connsiteX84" fmla="*/ 52388 w 1562100"/>
                <a:gd name="connsiteY84" fmla="*/ 809625 h 1309687"/>
                <a:gd name="connsiteX85" fmla="*/ 33338 w 1562100"/>
                <a:gd name="connsiteY85" fmla="*/ 802481 h 1309687"/>
                <a:gd name="connsiteX86" fmla="*/ 23813 w 1562100"/>
                <a:gd name="connsiteY86" fmla="*/ 840581 h 1309687"/>
                <a:gd name="connsiteX87" fmla="*/ 21431 w 1562100"/>
                <a:gd name="connsiteY87" fmla="*/ 850106 h 1309687"/>
                <a:gd name="connsiteX88" fmla="*/ 7144 w 1562100"/>
                <a:gd name="connsiteY88" fmla="*/ 866775 h 1309687"/>
                <a:gd name="connsiteX89" fmla="*/ 0 w 1562100"/>
                <a:gd name="connsiteY89" fmla="*/ 923925 h 1309687"/>
                <a:gd name="connsiteX90" fmla="*/ 23813 w 1562100"/>
                <a:gd name="connsiteY90" fmla="*/ 952500 h 1309687"/>
                <a:gd name="connsiteX91" fmla="*/ 16669 w 1562100"/>
                <a:gd name="connsiteY91" fmla="*/ 992981 h 1309687"/>
                <a:gd name="connsiteX92" fmla="*/ 35719 w 1562100"/>
                <a:gd name="connsiteY92" fmla="*/ 997743 h 1309687"/>
                <a:gd name="connsiteX93" fmla="*/ 69056 w 1562100"/>
                <a:gd name="connsiteY93" fmla="*/ 997743 h 1309687"/>
                <a:gd name="connsiteX94" fmla="*/ 85725 w 1562100"/>
                <a:gd name="connsiteY94" fmla="*/ 988218 h 1309687"/>
                <a:gd name="connsiteX95" fmla="*/ 135731 w 1562100"/>
                <a:gd name="connsiteY95" fmla="*/ 1045368 h 1309687"/>
                <a:gd name="connsiteX96" fmla="*/ 123825 w 1562100"/>
                <a:gd name="connsiteY96" fmla="*/ 1064418 h 1309687"/>
                <a:gd name="connsiteX97" fmla="*/ 133350 w 1562100"/>
                <a:gd name="connsiteY97" fmla="*/ 1092993 h 1309687"/>
                <a:gd name="connsiteX98" fmla="*/ 164306 w 1562100"/>
                <a:gd name="connsiteY98" fmla="*/ 1112043 h 1309687"/>
                <a:gd name="connsiteX99" fmla="*/ 190500 w 1562100"/>
                <a:gd name="connsiteY99" fmla="*/ 1121568 h 1309687"/>
                <a:gd name="connsiteX100" fmla="*/ 216694 w 1562100"/>
                <a:gd name="connsiteY100" fmla="*/ 1128712 h 1309687"/>
                <a:gd name="connsiteX101" fmla="*/ 228600 w 1562100"/>
                <a:gd name="connsiteY101" fmla="*/ 1131093 h 1309687"/>
                <a:gd name="connsiteX102" fmla="*/ 240506 w 1562100"/>
                <a:gd name="connsiteY102" fmla="*/ 1092993 h 1309687"/>
                <a:gd name="connsiteX103" fmla="*/ 269081 w 1562100"/>
                <a:gd name="connsiteY103" fmla="*/ 1097756 h 1309687"/>
                <a:gd name="connsiteX104" fmla="*/ 288131 w 1562100"/>
                <a:gd name="connsiteY104" fmla="*/ 1085850 h 1309687"/>
                <a:gd name="connsiteX105" fmla="*/ 307181 w 1562100"/>
                <a:gd name="connsiteY105" fmla="*/ 1135856 h 1309687"/>
                <a:gd name="connsiteX106" fmla="*/ 330994 w 1562100"/>
                <a:gd name="connsiteY106" fmla="*/ 1150143 h 1309687"/>
                <a:gd name="connsiteX107" fmla="*/ 340519 w 1562100"/>
                <a:gd name="connsiteY107" fmla="*/ 1178718 h 1309687"/>
                <a:gd name="connsiteX108" fmla="*/ 357188 w 1562100"/>
                <a:gd name="connsiteY108" fmla="*/ 1188243 h 1309687"/>
                <a:gd name="connsiteX109" fmla="*/ 364331 w 1562100"/>
                <a:gd name="connsiteY109" fmla="*/ 1219200 h 1309687"/>
                <a:gd name="connsiteX110" fmla="*/ 335756 w 1562100"/>
                <a:gd name="connsiteY110" fmla="*/ 1245393 h 1309687"/>
                <a:gd name="connsiteX111" fmla="*/ 309563 w 1562100"/>
                <a:gd name="connsiteY111" fmla="*/ 1262062 h 1309687"/>
                <a:gd name="connsiteX112" fmla="*/ 297656 w 1562100"/>
                <a:gd name="connsiteY112" fmla="*/ 1285875 h 1309687"/>
                <a:gd name="connsiteX113" fmla="*/ 302419 w 1562100"/>
                <a:gd name="connsiteY113" fmla="*/ 1309687 h 1309687"/>
                <a:gd name="connsiteX114" fmla="*/ 342900 w 1562100"/>
                <a:gd name="connsiteY114" fmla="*/ 1309687 h 1309687"/>
                <a:gd name="connsiteX115" fmla="*/ 390525 w 1562100"/>
                <a:gd name="connsiteY115" fmla="*/ 1304925 h 1309687"/>
                <a:gd name="connsiteX116" fmla="*/ 428625 w 1562100"/>
                <a:gd name="connsiteY116" fmla="*/ 1295400 h 1309687"/>
                <a:gd name="connsiteX117" fmla="*/ 454819 w 1562100"/>
                <a:gd name="connsiteY117" fmla="*/ 1302543 h 1309687"/>
                <a:gd name="connsiteX118" fmla="*/ 473869 w 1562100"/>
                <a:gd name="connsiteY118" fmla="*/ 1281112 h 1309687"/>
                <a:gd name="connsiteX119" fmla="*/ 492919 w 1562100"/>
                <a:gd name="connsiteY119" fmla="*/ 1281112 h 1309687"/>
                <a:gd name="connsiteX120" fmla="*/ 507206 w 1562100"/>
                <a:gd name="connsiteY120" fmla="*/ 1250156 h 1309687"/>
                <a:gd name="connsiteX121" fmla="*/ 557213 w 1562100"/>
                <a:gd name="connsiteY121" fmla="*/ 1235868 h 1309687"/>
                <a:gd name="connsiteX122" fmla="*/ 583406 w 1562100"/>
                <a:gd name="connsiteY122" fmla="*/ 1216818 h 1309687"/>
                <a:gd name="connsiteX123" fmla="*/ 590550 w 1562100"/>
                <a:gd name="connsiteY123" fmla="*/ 1178718 h 1309687"/>
                <a:gd name="connsiteX124" fmla="*/ 607219 w 1562100"/>
                <a:gd name="connsiteY124" fmla="*/ 1152525 h 1309687"/>
                <a:gd name="connsiteX125" fmla="*/ 688181 w 1562100"/>
                <a:gd name="connsiteY125"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02456 w 1562100"/>
                <a:gd name="connsiteY54" fmla="*/ 133351 h 1309687"/>
                <a:gd name="connsiteX55" fmla="*/ 628650 w 1562100"/>
                <a:gd name="connsiteY55" fmla="*/ 88107 h 1309687"/>
                <a:gd name="connsiteX56" fmla="*/ 500062 w 1562100"/>
                <a:gd name="connsiteY56" fmla="*/ 66676 h 1309687"/>
                <a:gd name="connsiteX57" fmla="*/ 450056 w 1562100"/>
                <a:gd name="connsiteY57" fmla="*/ 2382 h 1309687"/>
                <a:gd name="connsiteX58" fmla="*/ 428625 w 1562100"/>
                <a:gd name="connsiteY58" fmla="*/ 0 h 1309687"/>
                <a:gd name="connsiteX59" fmla="*/ 376238 w 1562100"/>
                <a:gd name="connsiteY59" fmla="*/ 104775 h 1309687"/>
                <a:gd name="connsiteX60" fmla="*/ 314326 w 1562100"/>
                <a:gd name="connsiteY60" fmla="*/ 104774 h 1309687"/>
                <a:gd name="connsiteX61" fmla="*/ 328613 w 1562100"/>
                <a:gd name="connsiteY61" fmla="*/ 183356 h 1309687"/>
                <a:gd name="connsiteX62" fmla="*/ 292894 w 1562100"/>
                <a:gd name="connsiteY62" fmla="*/ 285750 h 1309687"/>
                <a:gd name="connsiteX63" fmla="*/ 264319 w 1562100"/>
                <a:gd name="connsiteY63" fmla="*/ 292893 h 1309687"/>
                <a:gd name="connsiteX64" fmla="*/ 261938 w 1562100"/>
                <a:gd name="connsiteY64" fmla="*/ 307181 h 1309687"/>
                <a:gd name="connsiteX65" fmla="*/ 261938 w 1562100"/>
                <a:gd name="connsiteY65" fmla="*/ 340518 h 1309687"/>
                <a:gd name="connsiteX66" fmla="*/ 228600 w 1562100"/>
                <a:gd name="connsiteY66" fmla="*/ 383381 h 1309687"/>
                <a:gd name="connsiteX67" fmla="*/ 271463 w 1562100"/>
                <a:gd name="connsiteY67" fmla="*/ 400050 h 1309687"/>
                <a:gd name="connsiteX68" fmla="*/ 278606 w 1562100"/>
                <a:gd name="connsiteY68" fmla="*/ 419100 h 1309687"/>
                <a:gd name="connsiteX69" fmla="*/ 257175 w 1562100"/>
                <a:gd name="connsiteY69" fmla="*/ 454818 h 1309687"/>
                <a:gd name="connsiteX70" fmla="*/ 221456 w 1562100"/>
                <a:gd name="connsiteY70" fmla="*/ 464343 h 1309687"/>
                <a:gd name="connsiteX71" fmla="*/ 221456 w 1562100"/>
                <a:gd name="connsiteY71" fmla="*/ 504825 h 1309687"/>
                <a:gd name="connsiteX72" fmla="*/ 254794 w 1562100"/>
                <a:gd name="connsiteY72" fmla="*/ 542925 h 1309687"/>
                <a:gd name="connsiteX73" fmla="*/ 226219 w 1562100"/>
                <a:gd name="connsiteY73" fmla="*/ 607218 h 1309687"/>
                <a:gd name="connsiteX74" fmla="*/ 180975 w 1562100"/>
                <a:gd name="connsiteY74" fmla="*/ 635793 h 1309687"/>
                <a:gd name="connsiteX75" fmla="*/ 183356 w 1562100"/>
                <a:gd name="connsiteY75" fmla="*/ 652462 h 1309687"/>
                <a:gd name="connsiteX76" fmla="*/ 204788 w 1562100"/>
                <a:gd name="connsiteY76" fmla="*/ 661987 h 1309687"/>
                <a:gd name="connsiteX77" fmla="*/ 219075 w 1562100"/>
                <a:gd name="connsiteY77" fmla="*/ 671512 h 1309687"/>
                <a:gd name="connsiteX78" fmla="*/ 223838 w 1562100"/>
                <a:gd name="connsiteY78" fmla="*/ 690562 h 1309687"/>
                <a:gd name="connsiteX79" fmla="*/ 195263 w 1562100"/>
                <a:gd name="connsiteY79" fmla="*/ 716756 h 1309687"/>
                <a:gd name="connsiteX80" fmla="*/ 123825 w 1562100"/>
                <a:gd name="connsiteY80" fmla="*/ 762000 h 1309687"/>
                <a:gd name="connsiteX81" fmla="*/ 123825 w 1562100"/>
                <a:gd name="connsiteY81" fmla="*/ 797718 h 1309687"/>
                <a:gd name="connsiteX82" fmla="*/ 135731 w 1562100"/>
                <a:gd name="connsiteY82" fmla="*/ 828675 h 1309687"/>
                <a:gd name="connsiteX83" fmla="*/ 123825 w 1562100"/>
                <a:gd name="connsiteY83" fmla="*/ 869156 h 1309687"/>
                <a:gd name="connsiteX84" fmla="*/ 76200 w 1562100"/>
                <a:gd name="connsiteY84" fmla="*/ 864393 h 1309687"/>
                <a:gd name="connsiteX85" fmla="*/ 52388 w 1562100"/>
                <a:gd name="connsiteY85" fmla="*/ 809625 h 1309687"/>
                <a:gd name="connsiteX86" fmla="*/ 33338 w 1562100"/>
                <a:gd name="connsiteY86" fmla="*/ 802481 h 1309687"/>
                <a:gd name="connsiteX87" fmla="*/ 23813 w 1562100"/>
                <a:gd name="connsiteY87" fmla="*/ 840581 h 1309687"/>
                <a:gd name="connsiteX88" fmla="*/ 21431 w 1562100"/>
                <a:gd name="connsiteY88" fmla="*/ 850106 h 1309687"/>
                <a:gd name="connsiteX89" fmla="*/ 7144 w 1562100"/>
                <a:gd name="connsiteY89" fmla="*/ 866775 h 1309687"/>
                <a:gd name="connsiteX90" fmla="*/ 0 w 1562100"/>
                <a:gd name="connsiteY90" fmla="*/ 923925 h 1309687"/>
                <a:gd name="connsiteX91" fmla="*/ 23813 w 1562100"/>
                <a:gd name="connsiteY91" fmla="*/ 952500 h 1309687"/>
                <a:gd name="connsiteX92" fmla="*/ 16669 w 1562100"/>
                <a:gd name="connsiteY92" fmla="*/ 992981 h 1309687"/>
                <a:gd name="connsiteX93" fmla="*/ 35719 w 1562100"/>
                <a:gd name="connsiteY93" fmla="*/ 997743 h 1309687"/>
                <a:gd name="connsiteX94" fmla="*/ 69056 w 1562100"/>
                <a:gd name="connsiteY94" fmla="*/ 997743 h 1309687"/>
                <a:gd name="connsiteX95" fmla="*/ 85725 w 1562100"/>
                <a:gd name="connsiteY95" fmla="*/ 988218 h 1309687"/>
                <a:gd name="connsiteX96" fmla="*/ 135731 w 1562100"/>
                <a:gd name="connsiteY96" fmla="*/ 1045368 h 1309687"/>
                <a:gd name="connsiteX97" fmla="*/ 123825 w 1562100"/>
                <a:gd name="connsiteY97" fmla="*/ 1064418 h 1309687"/>
                <a:gd name="connsiteX98" fmla="*/ 133350 w 1562100"/>
                <a:gd name="connsiteY98" fmla="*/ 1092993 h 1309687"/>
                <a:gd name="connsiteX99" fmla="*/ 164306 w 1562100"/>
                <a:gd name="connsiteY99" fmla="*/ 1112043 h 1309687"/>
                <a:gd name="connsiteX100" fmla="*/ 190500 w 1562100"/>
                <a:gd name="connsiteY100" fmla="*/ 1121568 h 1309687"/>
                <a:gd name="connsiteX101" fmla="*/ 216694 w 1562100"/>
                <a:gd name="connsiteY101" fmla="*/ 1128712 h 1309687"/>
                <a:gd name="connsiteX102" fmla="*/ 228600 w 1562100"/>
                <a:gd name="connsiteY102" fmla="*/ 1131093 h 1309687"/>
                <a:gd name="connsiteX103" fmla="*/ 240506 w 1562100"/>
                <a:gd name="connsiteY103" fmla="*/ 1092993 h 1309687"/>
                <a:gd name="connsiteX104" fmla="*/ 269081 w 1562100"/>
                <a:gd name="connsiteY104" fmla="*/ 1097756 h 1309687"/>
                <a:gd name="connsiteX105" fmla="*/ 288131 w 1562100"/>
                <a:gd name="connsiteY105" fmla="*/ 1085850 h 1309687"/>
                <a:gd name="connsiteX106" fmla="*/ 307181 w 1562100"/>
                <a:gd name="connsiteY106" fmla="*/ 1135856 h 1309687"/>
                <a:gd name="connsiteX107" fmla="*/ 330994 w 1562100"/>
                <a:gd name="connsiteY107" fmla="*/ 1150143 h 1309687"/>
                <a:gd name="connsiteX108" fmla="*/ 340519 w 1562100"/>
                <a:gd name="connsiteY108" fmla="*/ 1178718 h 1309687"/>
                <a:gd name="connsiteX109" fmla="*/ 357188 w 1562100"/>
                <a:gd name="connsiteY109" fmla="*/ 1188243 h 1309687"/>
                <a:gd name="connsiteX110" fmla="*/ 364331 w 1562100"/>
                <a:gd name="connsiteY110" fmla="*/ 1219200 h 1309687"/>
                <a:gd name="connsiteX111" fmla="*/ 335756 w 1562100"/>
                <a:gd name="connsiteY111" fmla="*/ 1245393 h 1309687"/>
                <a:gd name="connsiteX112" fmla="*/ 309563 w 1562100"/>
                <a:gd name="connsiteY112" fmla="*/ 1262062 h 1309687"/>
                <a:gd name="connsiteX113" fmla="*/ 297656 w 1562100"/>
                <a:gd name="connsiteY113" fmla="*/ 1285875 h 1309687"/>
                <a:gd name="connsiteX114" fmla="*/ 302419 w 1562100"/>
                <a:gd name="connsiteY114" fmla="*/ 1309687 h 1309687"/>
                <a:gd name="connsiteX115" fmla="*/ 342900 w 1562100"/>
                <a:gd name="connsiteY115" fmla="*/ 1309687 h 1309687"/>
                <a:gd name="connsiteX116" fmla="*/ 390525 w 1562100"/>
                <a:gd name="connsiteY116" fmla="*/ 1304925 h 1309687"/>
                <a:gd name="connsiteX117" fmla="*/ 428625 w 1562100"/>
                <a:gd name="connsiteY117" fmla="*/ 1295400 h 1309687"/>
                <a:gd name="connsiteX118" fmla="*/ 454819 w 1562100"/>
                <a:gd name="connsiteY118" fmla="*/ 1302543 h 1309687"/>
                <a:gd name="connsiteX119" fmla="*/ 473869 w 1562100"/>
                <a:gd name="connsiteY119" fmla="*/ 1281112 h 1309687"/>
                <a:gd name="connsiteX120" fmla="*/ 492919 w 1562100"/>
                <a:gd name="connsiteY120" fmla="*/ 1281112 h 1309687"/>
                <a:gd name="connsiteX121" fmla="*/ 507206 w 1562100"/>
                <a:gd name="connsiteY121" fmla="*/ 1250156 h 1309687"/>
                <a:gd name="connsiteX122" fmla="*/ 557213 w 1562100"/>
                <a:gd name="connsiteY122" fmla="*/ 1235868 h 1309687"/>
                <a:gd name="connsiteX123" fmla="*/ 583406 w 1562100"/>
                <a:gd name="connsiteY123" fmla="*/ 1216818 h 1309687"/>
                <a:gd name="connsiteX124" fmla="*/ 590550 w 1562100"/>
                <a:gd name="connsiteY124" fmla="*/ 1178718 h 1309687"/>
                <a:gd name="connsiteX125" fmla="*/ 607219 w 1562100"/>
                <a:gd name="connsiteY125" fmla="*/ 1152525 h 1309687"/>
                <a:gd name="connsiteX126" fmla="*/ 688181 w 1562100"/>
                <a:gd name="connsiteY126"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57225 w 1562100"/>
                <a:gd name="connsiteY54" fmla="*/ 64294 h 1309687"/>
                <a:gd name="connsiteX55" fmla="*/ 628650 w 1562100"/>
                <a:gd name="connsiteY55" fmla="*/ 88107 h 1309687"/>
                <a:gd name="connsiteX56" fmla="*/ 500062 w 1562100"/>
                <a:gd name="connsiteY56" fmla="*/ 66676 h 1309687"/>
                <a:gd name="connsiteX57" fmla="*/ 450056 w 1562100"/>
                <a:gd name="connsiteY57" fmla="*/ 2382 h 1309687"/>
                <a:gd name="connsiteX58" fmla="*/ 428625 w 1562100"/>
                <a:gd name="connsiteY58" fmla="*/ 0 h 1309687"/>
                <a:gd name="connsiteX59" fmla="*/ 376238 w 1562100"/>
                <a:gd name="connsiteY59" fmla="*/ 104775 h 1309687"/>
                <a:gd name="connsiteX60" fmla="*/ 314326 w 1562100"/>
                <a:gd name="connsiteY60" fmla="*/ 104774 h 1309687"/>
                <a:gd name="connsiteX61" fmla="*/ 328613 w 1562100"/>
                <a:gd name="connsiteY61" fmla="*/ 183356 h 1309687"/>
                <a:gd name="connsiteX62" fmla="*/ 292894 w 1562100"/>
                <a:gd name="connsiteY62" fmla="*/ 285750 h 1309687"/>
                <a:gd name="connsiteX63" fmla="*/ 264319 w 1562100"/>
                <a:gd name="connsiteY63" fmla="*/ 292893 h 1309687"/>
                <a:gd name="connsiteX64" fmla="*/ 261938 w 1562100"/>
                <a:gd name="connsiteY64" fmla="*/ 307181 h 1309687"/>
                <a:gd name="connsiteX65" fmla="*/ 261938 w 1562100"/>
                <a:gd name="connsiteY65" fmla="*/ 340518 h 1309687"/>
                <a:gd name="connsiteX66" fmla="*/ 228600 w 1562100"/>
                <a:gd name="connsiteY66" fmla="*/ 383381 h 1309687"/>
                <a:gd name="connsiteX67" fmla="*/ 271463 w 1562100"/>
                <a:gd name="connsiteY67" fmla="*/ 400050 h 1309687"/>
                <a:gd name="connsiteX68" fmla="*/ 278606 w 1562100"/>
                <a:gd name="connsiteY68" fmla="*/ 419100 h 1309687"/>
                <a:gd name="connsiteX69" fmla="*/ 257175 w 1562100"/>
                <a:gd name="connsiteY69" fmla="*/ 454818 h 1309687"/>
                <a:gd name="connsiteX70" fmla="*/ 221456 w 1562100"/>
                <a:gd name="connsiteY70" fmla="*/ 464343 h 1309687"/>
                <a:gd name="connsiteX71" fmla="*/ 221456 w 1562100"/>
                <a:gd name="connsiteY71" fmla="*/ 504825 h 1309687"/>
                <a:gd name="connsiteX72" fmla="*/ 254794 w 1562100"/>
                <a:gd name="connsiteY72" fmla="*/ 542925 h 1309687"/>
                <a:gd name="connsiteX73" fmla="*/ 226219 w 1562100"/>
                <a:gd name="connsiteY73" fmla="*/ 607218 h 1309687"/>
                <a:gd name="connsiteX74" fmla="*/ 180975 w 1562100"/>
                <a:gd name="connsiteY74" fmla="*/ 635793 h 1309687"/>
                <a:gd name="connsiteX75" fmla="*/ 183356 w 1562100"/>
                <a:gd name="connsiteY75" fmla="*/ 652462 h 1309687"/>
                <a:gd name="connsiteX76" fmla="*/ 204788 w 1562100"/>
                <a:gd name="connsiteY76" fmla="*/ 661987 h 1309687"/>
                <a:gd name="connsiteX77" fmla="*/ 219075 w 1562100"/>
                <a:gd name="connsiteY77" fmla="*/ 671512 h 1309687"/>
                <a:gd name="connsiteX78" fmla="*/ 223838 w 1562100"/>
                <a:gd name="connsiteY78" fmla="*/ 690562 h 1309687"/>
                <a:gd name="connsiteX79" fmla="*/ 195263 w 1562100"/>
                <a:gd name="connsiteY79" fmla="*/ 716756 h 1309687"/>
                <a:gd name="connsiteX80" fmla="*/ 123825 w 1562100"/>
                <a:gd name="connsiteY80" fmla="*/ 762000 h 1309687"/>
                <a:gd name="connsiteX81" fmla="*/ 123825 w 1562100"/>
                <a:gd name="connsiteY81" fmla="*/ 797718 h 1309687"/>
                <a:gd name="connsiteX82" fmla="*/ 135731 w 1562100"/>
                <a:gd name="connsiteY82" fmla="*/ 828675 h 1309687"/>
                <a:gd name="connsiteX83" fmla="*/ 123825 w 1562100"/>
                <a:gd name="connsiteY83" fmla="*/ 869156 h 1309687"/>
                <a:gd name="connsiteX84" fmla="*/ 76200 w 1562100"/>
                <a:gd name="connsiteY84" fmla="*/ 864393 h 1309687"/>
                <a:gd name="connsiteX85" fmla="*/ 52388 w 1562100"/>
                <a:gd name="connsiteY85" fmla="*/ 809625 h 1309687"/>
                <a:gd name="connsiteX86" fmla="*/ 33338 w 1562100"/>
                <a:gd name="connsiteY86" fmla="*/ 802481 h 1309687"/>
                <a:gd name="connsiteX87" fmla="*/ 23813 w 1562100"/>
                <a:gd name="connsiteY87" fmla="*/ 840581 h 1309687"/>
                <a:gd name="connsiteX88" fmla="*/ 21431 w 1562100"/>
                <a:gd name="connsiteY88" fmla="*/ 850106 h 1309687"/>
                <a:gd name="connsiteX89" fmla="*/ 7144 w 1562100"/>
                <a:gd name="connsiteY89" fmla="*/ 866775 h 1309687"/>
                <a:gd name="connsiteX90" fmla="*/ 0 w 1562100"/>
                <a:gd name="connsiteY90" fmla="*/ 923925 h 1309687"/>
                <a:gd name="connsiteX91" fmla="*/ 23813 w 1562100"/>
                <a:gd name="connsiteY91" fmla="*/ 952500 h 1309687"/>
                <a:gd name="connsiteX92" fmla="*/ 16669 w 1562100"/>
                <a:gd name="connsiteY92" fmla="*/ 992981 h 1309687"/>
                <a:gd name="connsiteX93" fmla="*/ 35719 w 1562100"/>
                <a:gd name="connsiteY93" fmla="*/ 997743 h 1309687"/>
                <a:gd name="connsiteX94" fmla="*/ 69056 w 1562100"/>
                <a:gd name="connsiteY94" fmla="*/ 997743 h 1309687"/>
                <a:gd name="connsiteX95" fmla="*/ 85725 w 1562100"/>
                <a:gd name="connsiteY95" fmla="*/ 988218 h 1309687"/>
                <a:gd name="connsiteX96" fmla="*/ 135731 w 1562100"/>
                <a:gd name="connsiteY96" fmla="*/ 1045368 h 1309687"/>
                <a:gd name="connsiteX97" fmla="*/ 123825 w 1562100"/>
                <a:gd name="connsiteY97" fmla="*/ 1064418 h 1309687"/>
                <a:gd name="connsiteX98" fmla="*/ 133350 w 1562100"/>
                <a:gd name="connsiteY98" fmla="*/ 1092993 h 1309687"/>
                <a:gd name="connsiteX99" fmla="*/ 164306 w 1562100"/>
                <a:gd name="connsiteY99" fmla="*/ 1112043 h 1309687"/>
                <a:gd name="connsiteX100" fmla="*/ 190500 w 1562100"/>
                <a:gd name="connsiteY100" fmla="*/ 1121568 h 1309687"/>
                <a:gd name="connsiteX101" fmla="*/ 216694 w 1562100"/>
                <a:gd name="connsiteY101" fmla="*/ 1128712 h 1309687"/>
                <a:gd name="connsiteX102" fmla="*/ 228600 w 1562100"/>
                <a:gd name="connsiteY102" fmla="*/ 1131093 h 1309687"/>
                <a:gd name="connsiteX103" fmla="*/ 240506 w 1562100"/>
                <a:gd name="connsiteY103" fmla="*/ 1092993 h 1309687"/>
                <a:gd name="connsiteX104" fmla="*/ 269081 w 1562100"/>
                <a:gd name="connsiteY104" fmla="*/ 1097756 h 1309687"/>
                <a:gd name="connsiteX105" fmla="*/ 288131 w 1562100"/>
                <a:gd name="connsiteY105" fmla="*/ 1085850 h 1309687"/>
                <a:gd name="connsiteX106" fmla="*/ 307181 w 1562100"/>
                <a:gd name="connsiteY106" fmla="*/ 1135856 h 1309687"/>
                <a:gd name="connsiteX107" fmla="*/ 330994 w 1562100"/>
                <a:gd name="connsiteY107" fmla="*/ 1150143 h 1309687"/>
                <a:gd name="connsiteX108" fmla="*/ 340519 w 1562100"/>
                <a:gd name="connsiteY108" fmla="*/ 1178718 h 1309687"/>
                <a:gd name="connsiteX109" fmla="*/ 357188 w 1562100"/>
                <a:gd name="connsiteY109" fmla="*/ 1188243 h 1309687"/>
                <a:gd name="connsiteX110" fmla="*/ 364331 w 1562100"/>
                <a:gd name="connsiteY110" fmla="*/ 1219200 h 1309687"/>
                <a:gd name="connsiteX111" fmla="*/ 335756 w 1562100"/>
                <a:gd name="connsiteY111" fmla="*/ 1245393 h 1309687"/>
                <a:gd name="connsiteX112" fmla="*/ 309563 w 1562100"/>
                <a:gd name="connsiteY112" fmla="*/ 1262062 h 1309687"/>
                <a:gd name="connsiteX113" fmla="*/ 297656 w 1562100"/>
                <a:gd name="connsiteY113" fmla="*/ 1285875 h 1309687"/>
                <a:gd name="connsiteX114" fmla="*/ 302419 w 1562100"/>
                <a:gd name="connsiteY114" fmla="*/ 1309687 h 1309687"/>
                <a:gd name="connsiteX115" fmla="*/ 342900 w 1562100"/>
                <a:gd name="connsiteY115" fmla="*/ 1309687 h 1309687"/>
                <a:gd name="connsiteX116" fmla="*/ 390525 w 1562100"/>
                <a:gd name="connsiteY116" fmla="*/ 1304925 h 1309687"/>
                <a:gd name="connsiteX117" fmla="*/ 428625 w 1562100"/>
                <a:gd name="connsiteY117" fmla="*/ 1295400 h 1309687"/>
                <a:gd name="connsiteX118" fmla="*/ 454819 w 1562100"/>
                <a:gd name="connsiteY118" fmla="*/ 1302543 h 1309687"/>
                <a:gd name="connsiteX119" fmla="*/ 473869 w 1562100"/>
                <a:gd name="connsiteY119" fmla="*/ 1281112 h 1309687"/>
                <a:gd name="connsiteX120" fmla="*/ 492919 w 1562100"/>
                <a:gd name="connsiteY120" fmla="*/ 1281112 h 1309687"/>
                <a:gd name="connsiteX121" fmla="*/ 507206 w 1562100"/>
                <a:gd name="connsiteY121" fmla="*/ 1250156 h 1309687"/>
                <a:gd name="connsiteX122" fmla="*/ 557213 w 1562100"/>
                <a:gd name="connsiteY122" fmla="*/ 1235868 h 1309687"/>
                <a:gd name="connsiteX123" fmla="*/ 583406 w 1562100"/>
                <a:gd name="connsiteY123" fmla="*/ 1216818 h 1309687"/>
                <a:gd name="connsiteX124" fmla="*/ 590550 w 1562100"/>
                <a:gd name="connsiteY124" fmla="*/ 1178718 h 1309687"/>
                <a:gd name="connsiteX125" fmla="*/ 607219 w 1562100"/>
                <a:gd name="connsiteY125" fmla="*/ 1152525 h 1309687"/>
                <a:gd name="connsiteX126" fmla="*/ 688181 w 1562100"/>
                <a:gd name="connsiteY126"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71513 w 1562100"/>
                <a:gd name="connsiteY54" fmla="*/ 92869 h 1309687"/>
                <a:gd name="connsiteX55" fmla="*/ 657225 w 1562100"/>
                <a:gd name="connsiteY55" fmla="*/ 64294 h 1309687"/>
                <a:gd name="connsiteX56" fmla="*/ 628650 w 1562100"/>
                <a:gd name="connsiteY56" fmla="*/ 88107 h 1309687"/>
                <a:gd name="connsiteX57" fmla="*/ 500062 w 1562100"/>
                <a:gd name="connsiteY57" fmla="*/ 66676 h 1309687"/>
                <a:gd name="connsiteX58" fmla="*/ 450056 w 1562100"/>
                <a:gd name="connsiteY58" fmla="*/ 2382 h 1309687"/>
                <a:gd name="connsiteX59" fmla="*/ 428625 w 1562100"/>
                <a:gd name="connsiteY59" fmla="*/ 0 h 1309687"/>
                <a:gd name="connsiteX60" fmla="*/ 376238 w 1562100"/>
                <a:gd name="connsiteY60" fmla="*/ 104775 h 1309687"/>
                <a:gd name="connsiteX61" fmla="*/ 314326 w 1562100"/>
                <a:gd name="connsiteY61" fmla="*/ 104774 h 1309687"/>
                <a:gd name="connsiteX62" fmla="*/ 328613 w 1562100"/>
                <a:gd name="connsiteY62" fmla="*/ 183356 h 1309687"/>
                <a:gd name="connsiteX63" fmla="*/ 292894 w 1562100"/>
                <a:gd name="connsiteY63" fmla="*/ 285750 h 1309687"/>
                <a:gd name="connsiteX64" fmla="*/ 264319 w 1562100"/>
                <a:gd name="connsiteY64" fmla="*/ 292893 h 1309687"/>
                <a:gd name="connsiteX65" fmla="*/ 261938 w 1562100"/>
                <a:gd name="connsiteY65" fmla="*/ 307181 h 1309687"/>
                <a:gd name="connsiteX66" fmla="*/ 261938 w 1562100"/>
                <a:gd name="connsiteY66" fmla="*/ 340518 h 1309687"/>
                <a:gd name="connsiteX67" fmla="*/ 228600 w 1562100"/>
                <a:gd name="connsiteY67" fmla="*/ 383381 h 1309687"/>
                <a:gd name="connsiteX68" fmla="*/ 271463 w 1562100"/>
                <a:gd name="connsiteY68" fmla="*/ 400050 h 1309687"/>
                <a:gd name="connsiteX69" fmla="*/ 278606 w 1562100"/>
                <a:gd name="connsiteY69" fmla="*/ 419100 h 1309687"/>
                <a:gd name="connsiteX70" fmla="*/ 257175 w 1562100"/>
                <a:gd name="connsiteY70" fmla="*/ 454818 h 1309687"/>
                <a:gd name="connsiteX71" fmla="*/ 221456 w 1562100"/>
                <a:gd name="connsiteY71" fmla="*/ 464343 h 1309687"/>
                <a:gd name="connsiteX72" fmla="*/ 221456 w 1562100"/>
                <a:gd name="connsiteY72" fmla="*/ 504825 h 1309687"/>
                <a:gd name="connsiteX73" fmla="*/ 254794 w 1562100"/>
                <a:gd name="connsiteY73" fmla="*/ 542925 h 1309687"/>
                <a:gd name="connsiteX74" fmla="*/ 226219 w 1562100"/>
                <a:gd name="connsiteY74" fmla="*/ 607218 h 1309687"/>
                <a:gd name="connsiteX75" fmla="*/ 180975 w 1562100"/>
                <a:gd name="connsiteY75" fmla="*/ 635793 h 1309687"/>
                <a:gd name="connsiteX76" fmla="*/ 183356 w 1562100"/>
                <a:gd name="connsiteY76" fmla="*/ 652462 h 1309687"/>
                <a:gd name="connsiteX77" fmla="*/ 204788 w 1562100"/>
                <a:gd name="connsiteY77" fmla="*/ 661987 h 1309687"/>
                <a:gd name="connsiteX78" fmla="*/ 219075 w 1562100"/>
                <a:gd name="connsiteY78" fmla="*/ 671512 h 1309687"/>
                <a:gd name="connsiteX79" fmla="*/ 223838 w 1562100"/>
                <a:gd name="connsiteY79" fmla="*/ 690562 h 1309687"/>
                <a:gd name="connsiteX80" fmla="*/ 195263 w 1562100"/>
                <a:gd name="connsiteY80" fmla="*/ 716756 h 1309687"/>
                <a:gd name="connsiteX81" fmla="*/ 123825 w 1562100"/>
                <a:gd name="connsiteY81" fmla="*/ 762000 h 1309687"/>
                <a:gd name="connsiteX82" fmla="*/ 123825 w 1562100"/>
                <a:gd name="connsiteY82" fmla="*/ 797718 h 1309687"/>
                <a:gd name="connsiteX83" fmla="*/ 135731 w 1562100"/>
                <a:gd name="connsiteY83" fmla="*/ 828675 h 1309687"/>
                <a:gd name="connsiteX84" fmla="*/ 123825 w 1562100"/>
                <a:gd name="connsiteY84" fmla="*/ 869156 h 1309687"/>
                <a:gd name="connsiteX85" fmla="*/ 76200 w 1562100"/>
                <a:gd name="connsiteY85" fmla="*/ 864393 h 1309687"/>
                <a:gd name="connsiteX86" fmla="*/ 52388 w 1562100"/>
                <a:gd name="connsiteY86" fmla="*/ 809625 h 1309687"/>
                <a:gd name="connsiteX87" fmla="*/ 33338 w 1562100"/>
                <a:gd name="connsiteY87" fmla="*/ 802481 h 1309687"/>
                <a:gd name="connsiteX88" fmla="*/ 23813 w 1562100"/>
                <a:gd name="connsiteY88" fmla="*/ 840581 h 1309687"/>
                <a:gd name="connsiteX89" fmla="*/ 21431 w 1562100"/>
                <a:gd name="connsiteY89" fmla="*/ 850106 h 1309687"/>
                <a:gd name="connsiteX90" fmla="*/ 7144 w 1562100"/>
                <a:gd name="connsiteY90" fmla="*/ 866775 h 1309687"/>
                <a:gd name="connsiteX91" fmla="*/ 0 w 1562100"/>
                <a:gd name="connsiteY91" fmla="*/ 923925 h 1309687"/>
                <a:gd name="connsiteX92" fmla="*/ 23813 w 1562100"/>
                <a:gd name="connsiteY92" fmla="*/ 952500 h 1309687"/>
                <a:gd name="connsiteX93" fmla="*/ 16669 w 1562100"/>
                <a:gd name="connsiteY93" fmla="*/ 992981 h 1309687"/>
                <a:gd name="connsiteX94" fmla="*/ 35719 w 1562100"/>
                <a:gd name="connsiteY94" fmla="*/ 997743 h 1309687"/>
                <a:gd name="connsiteX95" fmla="*/ 69056 w 1562100"/>
                <a:gd name="connsiteY95" fmla="*/ 997743 h 1309687"/>
                <a:gd name="connsiteX96" fmla="*/ 85725 w 1562100"/>
                <a:gd name="connsiteY96" fmla="*/ 988218 h 1309687"/>
                <a:gd name="connsiteX97" fmla="*/ 135731 w 1562100"/>
                <a:gd name="connsiteY97" fmla="*/ 1045368 h 1309687"/>
                <a:gd name="connsiteX98" fmla="*/ 123825 w 1562100"/>
                <a:gd name="connsiteY98" fmla="*/ 1064418 h 1309687"/>
                <a:gd name="connsiteX99" fmla="*/ 133350 w 1562100"/>
                <a:gd name="connsiteY99" fmla="*/ 1092993 h 1309687"/>
                <a:gd name="connsiteX100" fmla="*/ 164306 w 1562100"/>
                <a:gd name="connsiteY100" fmla="*/ 1112043 h 1309687"/>
                <a:gd name="connsiteX101" fmla="*/ 190500 w 1562100"/>
                <a:gd name="connsiteY101" fmla="*/ 1121568 h 1309687"/>
                <a:gd name="connsiteX102" fmla="*/ 216694 w 1562100"/>
                <a:gd name="connsiteY102" fmla="*/ 1128712 h 1309687"/>
                <a:gd name="connsiteX103" fmla="*/ 228600 w 1562100"/>
                <a:gd name="connsiteY103" fmla="*/ 1131093 h 1309687"/>
                <a:gd name="connsiteX104" fmla="*/ 240506 w 1562100"/>
                <a:gd name="connsiteY104" fmla="*/ 1092993 h 1309687"/>
                <a:gd name="connsiteX105" fmla="*/ 269081 w 1562100"/>
                <a:gd name="connsiteY105" fmla="*/ 1097756 h 1309687"/>
                <a:gd name="connsiteX106" fmla="*/ 288131 w 1562100"/>
                <a:gd name="connsiteY106" fmla="*/ 1085850 h 1309687"/>
                <a:gd name="connsiteX107" fmla="*/ 307181 w 1562100"/>
                <a:gd name="connsiteY107" fmla="*/ 1135856 h 1309687"/>
                <a:gd name="connsiteX108" fmla="*/ 330994 w 1562100"/>
                <a:gd name="connsiteY108" fmla="*/ 1150143 h 1309687"/>
                <a:gd name="connsiteX109" fmla="*/ 340519 w 1562100"/>
                <a:gd name="connsiteY109" fmla="*/ 1178718 h 1309687"/>
                <a:gd name="connsiteX110" fmla="*/ 357188 w 1562100"/>
                <a:gd name="connsiteY110" fmla="*/ 1188243 h 1309687"/>
                <a:gd name="connsiteX111" fmla="*/ 364331 w 1562100"/>
                <a:gd name="connsiteY111" fmla="*/ 1219200 h 1309687"/>
                <a:gd name="connsiteX112" fmla="*/ 335756 w 1562100"/>
                <a:gd name="connsiteY112" fmla="*/ 1245393 h 1309687"/>
                <a:gd name="connsiteX113" fmla="*/ 309563 w 1562100"/>
                <a:gd name="connsiteY113" fmla="*/ 1262062 h 1309687"/>
                <a:gd name="connsiteX114" fmla="*/ 297656 w 1562100"/>
                <a:gd name="connsiteY114" fmla="*/ 1285875 h 1309687"/>
                <a:gd name="connsiteX115" fmla="*/ 302419 w 1562100"/>
                <a:gd name="connsiteY115" fmla="*/ 1309687 h 1309687"/>
                <a:gd name="connsiteX116" fmla="*/ 342900 w 1562100"/>
                <a:gd name="connsiteY116" fmla="*/ 1309687 h 1309687"/>
                <a:gd name="connsiteX117" fmla="*/ 390525 w 1562100"/>
                <a:gd name="connsiteY117" fmla="*/ 1304925 h 1309687"/>
                <a:gd name="connsiteX118" fmla="*/ 428625 w 1562100"/>
                <a:gd name="connsiteY118" fmla="*/ 1295400 h 1309687"/>
                <a:gd name="connsiteX119" fmla="*/ 454819 w 1562100"/>
                <a:gd name="connsiteY119" fmla="*/ 1302543 h 1309687"/>
                <a:gd name="connsiteX120" fmla="*/ 473869 w 1562100"/>
                <a:gd name="connsiteY120" fmla="*/ 1281112 h 1309687"/>
                <a:gd name="connsiteX121" fmla="*/ 492919 w 1562100"/>
                <a:gd name="connsiteY121" fmla="*/ 1281112 h 1309687"/>
                <a:gd name="connsiteX122" fmla="*/ 507206 w 1562100"/>
                <a:gd name="connsiteY122" fmla="*/ 1250156 h 1309687"/>
                <a:gd name="connsiteX123" fmla="*/ 557213 w 1562100"/>
                <a:gd name="connsiteY123" fmla="*/ 1235868 h 1309687"/>
                <a:gd name="connsiteX124" fmla="*/ 583406 w 1562100"/>
                <a:gd name="connsiteY124" fmla="*/ 1216818 h 1309687"/>
                <a:gd name="connsiteX125" fmla="*/ 590550 w 1562100"/>
                <a:gd name="connsiteY125" fmla="*/ 1178718 h 1309687"/>
                <a:gd name="connsiteX126" fmla="*/ 607219 w 1562100"/>
                <a:gd name="connsiteY126" fmla="*/ 1152525 h 1309687"/>
                <a:gd name="connsiteX127" fmla="*/ 688181 w 1562100"/>
                <a:gd name="connsiteY127"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704851 w 1562100"/>
                <a:gd name="connsiteY54" fmla="*/ 92869 h 1309687"/>
                <a:gd name="connsiteX55" fmla="*/ 657225 w 1562100"/>
                <a:gd name="connsiteY55" fmla="*/ 64294 h 1309687"/>
                <a:gd name="connsiteX56" fmla="*/ 628650 w 1562100"/>
                <a:gd name="connsiteY56" fmla="*/ 88107 h 1309687"/>
                <a:gd name="connsiteX57" fmla="*/ 500062 w 1562100"/>
                <a:gd name="connsiteY57" fmla="*/ 66676 h 1309687"/>
                <a:gd name="connsiteX58" fmla="*/ 450056 w 1562100"/>
                <a:gd name="connsiteY58" fmla="*/ 2382 h 1309687"/>
                <a:gd name="connsiteX59" fmla="*/ 428625 w 1562100"/>
                <a:gd name="connsiteY59" fmla="*/ 0 h 1309687"/>
                <a:gd name="connsiteX60" fmla="*/ 376238 w 1562100"/>
                <a:gd name="connsiteY60" fmla="*/ 104775 h 1309687"/>
                <a:gd name="connsiteX61" fmla="*/ 314326 w 1562100"/>
                <a:gd name="connsiteY61" fmla="*/ 104774 h 1309687"/>
                <a:gd name="connsiteX62" fmla="*/ 328613 w 1562100"/>
                <a:gd name="connsiteY62" fmla="*/ 183356 h 1309687"/>
                <a:gd name="connsiteX63" fmla="*/ 292894 w 1562100"/>
                <a:gd name="connsiteY63" fmla="*/ 285750 h 1309687"/>
                <a:gd name="connsiteX64" fmla="*/ 264319 w 1562100"/>
                <a:gd name="connsiteY64" fmla="*/ 292893 h 1309687"/>
                <a:gd name="connsiteX65" fmla="*/ 261938 w 1562100"/>
                <a:gd name="connsiteY65" fmla="*/ 307181 h 1309687"/>
                <a:gd name="connsiteX66" fmla="*/ 261938 w 1562100"/>
                <a:gd name="connsiteY66" fmla="*/ 340518 h 1309687"/>
                <a:gd name="connsiteX67" fmla="*/ 228600 w 1562100"/>
                <a:gd name="connsiteY67" fmla="*/ 383381 h 1309687"/>
                <a:gd name="connsiteX68" fmla="*/ 271463 w 1562100"/>
                <a:gd name="connsiteY68" fmla="*/ 400050 h 1309687"/>
                <a:gd name="connsiteX69" fmla="*/ 278606 w 1562100"/>
                <a:gd name="connsiteY69" fmla="*/ 419100 h 1309687"/>
                <a:gd name="connsiteX70" fmla="*/ 257175 w 1562100"/>
                <a:gd name="connsiteY70" fmla="*/ 454818 h 1309687"/>
                <a:gd name="connsiteX71" fmla="*/ 221456 w 1562100"/>
                <a:gd name="connsiteY71" fmla="*/ 464343 h 1309687"/>
                <a:gd name="connsiteX72" fmla="*/ 221456 w 1562100"/>
                <a:gd name="connsiteY72" fmla="*/ 504825 h 1309687"/>
                <a:gd name="connsiteX73" fmla="*/ 254794 w 1562100"/>
                <a:gd name="connsiteY73" fmla="*/ 542925 h 1309687"/>
                <a:gd name="connsiteX74" fmla="*/ 226219 w 1562100"/>
                <a:gd name="connsiteY74" fmla="*/ 607218 h 1309687"/>
                <a:gd name="connsiteX75" fmla="*/ 180975 w 1562100"/>
                <a:gd name="connsiteY75" fmla="*/ 635793 h 1309687"/>
                <a:gd name="connsiteX76" fmla="*/ 183356 w 1562100"/>
                <a:gd name="connsiteY76" fmla="*/ 652462 h 1309687"/>
                <a:gd name="connsiteX77" fmla="*/ 204788 w 1562100"/>
                <a:gd name="connsiteY77" fmla="*/ 661987 h 1309687"/>
                <a:gd name="connsiteX78" fmla="*/ 219075 w 1562100"/>
                <a:gd name="connsiteY78" fmla="*/ 671512 h 1309687"/>
                <a:gd name="connsiteX79" fmla="*/ 223838 w 1562100"/>
                <a:gd name="connsiteY79" fmla="*/ 690562 h 1309687"/>
                <a:gd name="connsiteX80" fmla="*/ 195263 w 1562100"/>
                <a:gd name="connsiteY80" fmla="*/ 716756 h 1309687"/>
                <a:gd name="connsiteX81" fmla="*/ 123825 w 1562100"/>
                <a:gd name="connsiteY81" fmla="*/ 762000 h 1309687"/>
                <a:gd name="connsiteX82" fmla="*/ 123825 w 1562100"/>
                <a:gd name="connsiteY82" fmla="*/ 797718 h 1309687"/>
                <a:gd name="connsiteX83" fmla="*/ 135731 w 1562100"/>
                <a:gd name="connsiteY83" fmla="*/ 828675 h 1309687"/>
                <a:gd name="connsiteX84" fmla="*/ 123825 w 1562100"/>
                <a:gd name="connsiteY84" fmla="*/ 869156 h 1309687"/>
                <a:gd name="connsiteX85" fmla="*/ 76200 w 1562100"/>
                <a:gd name="connsiteY85" fmla="*/ 864393 h 1309687"/>
                <a:gd name="connsiteX86" fmla="*/ 52388 w 1562100"/>
                <a:gd name="connsiteY86" fmla="*/ 809625 h 1309687"/>
                <a:gd name="connsiteX87" fmla="*/ 33338 w 1562100"/>
                <a:gd name="connsiteY87" fmla="*/ 802481 h 1309687"/>
                <a:gd name="connsiteX88" fmla="*/ 23813 w 1562100"/>
                <a:gd name="connsiteY88" fmla="*/ 840581 h 1309687"/>
                <a:gd name="connsiteX89" fmla="*/ 21431 w 1562100"/>
                <a:gd name="connsiteY89" fmla="*/ 850106 h 1309687"/>
                <a:gd name="connsiteX90" fmla="*/ 7144 w 1562100"/>
                <a:gd name="connsiteY90" fmla="*/ 866775 h 1309687"/>
                <a:gd name="connsiteX91" fmla="*/ 0 w 1562100"/>
                <a:gd name="connsiteY91" fmla="*/ 923925 h 1309687"/>
                <a:gd name="connsiteX92" fmla="*/ 23813 w 1562100"/>
                <a:gd name="connsiteY92" fmla="*/ 952500 h 1309687"/>
                <a:gd name="connsiteX93" fmla="*/ 16669 w 1562100"/>
                <a:gd name="connsiteY93" fmla="*/ 992981 h 1309687"/>
                <a:gd name="connsiteX94" fmla="*/ 35719 w 1562100"/>
                <a:gd name="connsiteY94" fmla="*/ 997743 h 1309687"/>
                <a:gd name="connsiteX95" fmla="*/ 69056 w 1562100"/>
                <a:gd name="connsiteY95" fmla="*/ 997743 h 1309687"/>
                <a:gd name="connsiteX96" fmla="*/ 85725 w 1562100"/>
                <a:gd name="connsiteY96" fmla="*/ 988218 h 1309687"/>
                <a:gd name="connsiteX97" fmla="*/ 135731 w 1562100"/>
                <a:gd name="connsiteY97" fmla="*/ 1045368 h 1309687"/>
                <a:gd name="connsiteX98" fmla="*/ 123825 w 1562100"/>
                <a:gd name="connsiteY98" fmla="*/ 1064418 h 1309687"/>
                <a:gd name="connsiteX99" fmla="*/ 133350 w 1562100"/>
                <a:gd name="connsiteY99" fmla="*/ 1092993 h 1309687"/>
                <a:gd name="connsiteX100" fmla="*/ 164306 w 1562100"/>
                <a:gd name="connsiteY100" fmla="*/ 1112043 h 1309687"/>
                <a:gd name="connsiteX101" fmla="*/ 190500 w 1562100"/>
                <a:gd name="connsiteY101" fmla="*/ 1121568 h 1309687"/>
                <a:gd name="connsiteX102" fmla="*/ 216694 w 1562100"/>
                <a:gd name="connsiteY102" fmla="*/ 1128712 h 1309687"/>
                <a:gd name="connsiteX103" fmla="*/ 228600 w 1562100"/>
                <a:gd name="connsiteY103" fmla="*/ 1131093 h 1309687"/>
                <a:gd name="connsiteX104" fmla="*/ 240506 w 1562100"/>
                <a:gd name="connsiteY104" fmla="*/ 1092993 h 1309687"/>
                <a:gd name="connsiteX105" fmla="*/ 269081 w 1562100"/>
                <a:gd name="connsiteY105" fmla="*/ 1097756 h 1309687"/>
                <a:gd name="connsiteX106" fmla="*/ 288131 w 1562100"/>
                <a:gd name="connsiteY106" fmla="*/ 1085850 h 1309687"/>
                <a:gd name="connsiteX107" fmla="*/ 307181 w 1562100"/>
                <a:gd name="connsiteY107" fmla="*/ 1135856 h 1309687"/>
                <a:gd name="connsiteX108" fmla="*/ 330994 w 1562100"/>
                <a:gd name="connsiteY108" fmla="*/ 1150143 h 1309687"/>
                <a:gd name="connsiteX109" fmla="*/ 340519 w 1562100"/>
                <a:gd name="connsiteY109" fmla="*/ 1178718 h 1309687"/>
                <a:gd name="connsiteX110" fmla="*/ 357188 w 1562100"/>
                <a:gd name="connsiteY110" fmla="*/ 1188243 h 1309687"/>
                <a:gd name="connsiteX111" fmla="*/ 364331 w 1562100"/>
                <a:gd name="connsiteY111" fmla="*/ 1219200 h 1309687"/>
                <a:gd name="connsiteX112" fmla="*/ 335756 w 1562100"/>
                <a:gd name="connsiteY112" fmla="*/ 1245393 h 1309687"/>
                <a:gd name="connsiteX113" fmla="*/ 309563 w 1562100"/>
                <a:gd name="connsiteY113" fmla="*/ 1262062 h 1309687"/>
                <a:gd name="connsiteX114" fmla="*/ 297656 w 1562100"/>
                <a:gd name="connsiteY114" fmla="*/ 1285875 h 1309687"/>
                <a:gd name="connsiteX115" fmla="*/ 302419 w 1562100"/>
                <a:gd name="connsiteY115" fmla="*/ 1309687 h 1309687"/>
                <a:gd name="connsiteX116" fmla="*/ 342900 w 1562100"/>
                <a:gd name="connsiteY116" fmla="*/ 1309687 h 1309687"/>
                <a:gd name="connsiteX117" fmla="*/ 390525 w 1562100"/>
                <a:gd name="connsiteY117" fmla="*/ 1304925 h 1309687"/>
                <a:gd name="connsiteX118" fmla="*/ 428625 w 1562100"/>
                <a:gd name="connsiteY118" fmla="*/ 1295400 h 1309687"/>
                <a:gd name="connsiteX119" fmla="*/ 454819 w 1562100"/>
                <a:gd name="connsiteY119" fmla="*/ 1302543 h 1309687"/>
                <a:gd name="connsiteX120" fmla="*/ 473869 w 1562100"/>
                <a:gd name="connsiteY120" fmla="*/ 1281112 h 1309687"/>
                <a:gd name="connsiteX121" fmla="*/ 492919 w 1562100"/>
                <a:gd name="connsiteY121" fmla="*/ 1281112 h 1309687"/>
                <a:gd name="connsiteX122" fmla="*/ 507206 w 1562100"/>
                <a:gd name="connsiteY122" fmla="*/ 1250156 h 1309687"/>
                <a:gd name="connsiteX123" fmla="*/ 557213 w 1562100"/>
                <a:gd name="connsiteY123" fmla="*/ 1235868 h 1309687"/>
                <a:gd name="connsiteX124" fmla="*/ 583406 w 1562100"/>
                <a:gd name="connsiteY124" fmla="*/ 1216818 h 1309687"/>
                <a:gd name="connsiteX125" fmla="*/ 590550 w 1562100"/>
                <a:gd name="connsiteY125" fmla="*/ 1178718 h 1309687"/>
                <a:gd name="connsiteX126" fmla="*/ 607219 w 1562100"/>
                <a:gd name="connsiteY126" fmla="*/ 1152525 h 1309687"/>
                <a:gd name="connsiteX127" fmla="*/ 688181 w 1562100"/>
                <a:gd name="connsiteY127"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702469 w 1562100"/>
                <a:gd name="connsiteY54" fmla="*/ 152401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702469 w 1562100"/>
                <a:gd name="connsiteY54" fmla="*/ 152401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81038 w 1562100"/>
                <a:gd name="connsiteY54" fmla="*/ 157164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81038 w 1562100"/>
                <a:gd name="connsiteY54" fmla="*/ 157164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92944 w 1562100"/>
                <a:gd name="connsiteY54" fmla="*/ 157164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704851 w 1562100"/>
                <a:gd name="connsiteY54" fmla="*/ 92869 h 1309687"/>
                <a:gd name="connsiteX55" fmla="*/ 657225 w 1562100"/>
                <a:gd name="connsiteY55" fmla="*/ 64294 h 1309687"/>
                <a:gd name="connsiteX56" fmla="*/ 628650 w 1562100"/>
                <a:gd name="connsiteY56" fmla="*/ 88107 h 1309687"/>
                <a:gd name="connsiteX57" fmla="*/ 500062 w 1562100"/>
                <a:gd name="connsiteY57" fmla="*/ 66676 h 1309687"/>
                <a:gd name="connsiteX58" fmla="*/ 450056 w 1562100"/>
                <a:gd name="connsiteY58" fmla="*/ 2382 h 1309687"/>
                <a:gd name="connsiteX59" fmla="*/ 428625 w 1562100"/>
                <a:gd name="connsiteY59" fmla="*/ 0 h 1309687"/>
                <a:gd name="connsiteX60" fmla="*/ 376238 w 1562100"/>
                <a:gd name="connsiteY60" fmla="*/ 104775 h 1309687"/>
                <a:gd name="connsiteX61" fmla="*/ 314326 w 1562100"/>
                <a:gd name="connsiteY61" fmla="*/ 104774 h 1309687"/>
                <a:gd name="connsiteX62" fmla="*/ 328613 w 1562100"/>
                <a:gd name="connsiteY62" fmla="*/ 183356 h 1309687"/>
                <a:gd name="connsiteX63" fmla="*/ 292894 w 1562100"/>
                <a:gd name="connsiteY63" fmla="*/ 285750 h 1309687"/>
                <a:gd name="connsiteX64" fmla="*/ 264319 w 1562100"/>
                <a:gd name="connsiteY64" fmla="*/ 292893 h 1309687"/>
                <a:gd name="connsiteX65" fmla="*/ 261938 w 1562100"/>
                <a:gd name="connsiteY65" fmla="*/ 307181 h 1309687"/>
                <a:gd name="connsiteX66" fmla="*/ 261938 w 1562100"/>
                <a:gd name="connsiteY66" fmla="*/ 340518 h 1309687"/>
                <a:gd name="connsiteX67" fmla="*/ 228600 w 1562100"/>
                <a:gd name="connsiteY67" fmla="*/ 383381 h 1309687"/>
                <a:gd name="connsiteX68" fmla="*/ 271463 w 1562100"/>
                <a:gd name="connsiteY68" fmla="*/ 400050 h 1309687"/>
                <a:gd name="connsiteX69" fmla="*/ 278606 w 1562100"/>
                <a:gd name="connsiteY69" fmla="*/ 419100 h 1309687"/>
                <a:gd name="connsiteX70" fmla="*/ 257175 w 1562100"/>
                <a:gd name="connsiteY70" fmla="*/ 454818 h 1309687"/>
                <a:gd name="connsiteX71" fmla="*/ 221456 w 1562100"/>
                <a:gd name="connsiteY71" fmla="*/ 464343 h 1309687"/>
                <a:gd name="connsiteX72" fmla="*/ 221456 w 1562100"/>
                <a:gd name="connsiteY72" fmla="*/ 504825 h 1309687"/>
                <a:gd name="connsiteX73" fmla="*/ 254794 w 1562100"/>
                <a:gd name="connsiteY73" fmla="*/ 542925 h 1309687"/>
                <a:gd name="connsiteX74" fmla="*/ 226219 w 1562100"/>
                <a:gd name="connsiteY74" fmla="*/ 607218 h 1309687"/>
                <a:gd name="connsiteX75" fmla="*/ 180975 w 1562100"/>
                <a:gd name="connsiteY75" fmla="*/ 635793 h 1309687"/>
                <a:gd name="connsiteX76" fmla="*/ 183356 w 1562100"/>
                <a:gd name="connsiteY76" fmla="*/ 652462 h 1309687"/>
                <a:gd name="connsiteX77" fmla="*/ 204788 w 1562100"/>
                <a:gd name="connsiteY77" fmla="*/ 661987 h 1309687"/>
                <a:gd name="connsiteX78" fmla="*/ 219075 w 1562100"/>
                <a:gd name="connsiteY78" fmla="*/ 671512 h 1309687"/>
                <a:gd name="connsiteX79" fmla="*/ 223838 w 1562100"/>
                <a:gd name="connsiteY79" fmla="*/ 690562 h 1309687"/>
                <a:gd name="connsiteX80" fmla="*/ 195263 w 1562100"/>
                <a:gd name="connsiteY80" fmla="*/ 716756 h 1309687"/>
                <a:gd name="connsiteX81" fmla="*/ 123825 w 1562100"/>
                <a:gd name="connsiteY81" fmla="*/ 762000 h 1309687"/>
                <a:gd name="connsiteX82" fmla="*/ 123825 w 1562100"/>
                <a:gd name="connsiteY82" fmla="*/ 797718 h 1309687"/>
                <a:gd name="connsiteX83" fmla="*/ 135731 w 1562100"/>
                <a:gd name="connsiteY83" fmla="*/ 828675 h 1309687"/>
                <a:gd name="connsiteX84" fmla="*/ 123825 w 1562100"/>
                <a:gd name="connsiteY84" fmla="*/ 869156 h 1309687"/>
                <a:gd name="connsiteX85" fmla="*/ 76200 w 1562100"/>
                <a:gd name="connsiteY85" fmla="*/ 864393 h 1309687"/>
                <a:gd name="connsiteX86" fmla="*/ 52388 w 1562100"/>
                <a:gd name="connsiteY86" fmla="*/ 809625 h 1309687"/>
                <a:gd name="connsiteX87" fmla="*/ 33338 w 1562100"/>
                <a:gd name="connsiteY87" fmla="*/ 802481 h 1309687"/>
                <a:gd name="connsiteX88" fmla="*/ 23813 w 1562100"/>
                <a:gd name="connsiteY88" fmla="*/ 840581 h 1309687"/>
                <a:gd name="connsiteX89" fmla="*/ 21431 w 1562100"/>
                <a:gd name="connsiteY89" fmla="*/ 850106 h 1309687"/>
                <a:gd name="connsiteX90" fmla="*/ 7144 w 1562100"/>
                <a:gd name="connsiteY90" fmla="*/ 866775 h 1309687"/>
                <a:gd name="connsiteX91" fmla="*/ 0 w 1562100"/>
                <a:gd name="connsiteY91" fmla="*/ 923925 h 1309687"/>
                <a:gd name="connsiteX92" fmla="*/ 23813 w 1562100"/>
                <a:gd name="connsiteY92" fmla="*/ 952500 h 1309687"/>
                <a:gd name="connsiteX93" fmla="*/ 16669 w 1562100"/>
                <a:gd name="connsiteY93" fmla="*/ 992981 h 1309687"/>
                <a:gd name="connsiteX94" fmla="*/ 35719 w 1562100"/>
                <a:gd name="connsiteY94" fmla="*/ 997743 h 1309687"/>
                <a:gd name="connsiteX95" fmla="*/ 69056 w 1562100"/>
                <a:gd name="connsiteY95" fmla="*/ 997743 h 1309687"/>
                <a:gd name="connsiteX96" fmla="*/ 85725 w 1562100"/>
                <a:gd name="connsiteY96" fmla="*/ 988218 h 1309687"/>
                <a:gd name="connsiteX97" fmla="*/ 135731 w 1562100"/>
                <a:gd name="connsiteY97" fmla="*/ 1045368 h 1309687"/>
                <a:gd name="connsiteX98" fmla="*/ 123825 w 1562100"/>
                <a:gd name="connsiteY98" fmla="*/ 1064418 h 1309687"/>
                <a:gd name="connsiteX99" fmla="*/ 133350 w 1562100"/>
                <a:gd name="connsiteY99" fmla="*/ 1092993 h 1309687"/>
                <a:gd name="connsiteX100" fmla="*/ 164306 w 1562100"/>
                <a:gd name="connsiteY100" fmla="*/ 1112043 h 1309687"/>
                <a:gd name="connsiteX101" fmla="*/ 190500 w 1562100"/>
                <a:gd name="connsiteY101" fmla="*/ 1121568 h 1309687"/>
                <a:gd name="connsiteX102" fmla="*/ 216694 w 1562100"/>
                <a:gd name="connsiteY102" fmla="*/ 1128712 h 1309687"/>
                <a:gd name="connsiteX103" fmla="*/ 228600 w 1562100"/>
                <a:gd name="connsiteY103" fmla="*/ 1131093 h 1309687"/>
                <a:gd name="connsiteX104" fmla="*/ 240506 w 1562100"/>
                <a:gd name="connsiteY104" fmla="*/ 1092993 h 1309687"/>
                <a:gd name="connsiteX105" fmla="*/ 269081 w 1562100"/>
                <a:gd name="connsiteY105" fmla="*/ 1097756 h 1309687"/>
                <a:gd name="connsiteX106" fmla="*/ 288131 w 1562100"/>
                <a:gd name="connsiteY106" fmla="*/ 1085850 h 1309687"/>
                <a:gd name="connsiteX107" fmla="*/ 307181 w 1562100"/>
                <a:gd name="connsiteY107" fmla="*/ 1135856 h 1309687"/>
                <a:gd name="connsiteX108" fmla="*/ 330994 w 1562100"/>
                <a:gd name="connsiteY108" fmla="*/ 1150143 h 1309687"/>
                <a:gd name="connsiteX109" fmla="*/ 340519 w 1562100"/>
                <a:gd name="connsiteY109" fmla="*/ 1178718 h 1309687"/>
                <a:gd name="connsiteX110" fmla="*/ 357188 w 1562100"/>
                <a:gd name="connsiteY110" fmla="*/ 1188243 h 1309687"/>
                <a:gd name="connsiteX111" fmla="*/ 364331 w 1562100"/>
                <a:gd name="connsiteY111" fmla="*/ 1219200 h 1309687"/>
                <a:gd name="connsiteX112" fmla="*/ 335756 w 1562100"/>
                <a:gd name="connsiteY112" fmla="*/ 1245393 h 1309687"/>
                <a:gd name="connsiteX113" fmla="*/ 309563 w 1562100"/>
                <a:gd name="connsiteY113" fmla="*/ 1262062 h 1309687"/>
                <a:gd name="connsiteX114" fmla="*/ 297656 w 1562100"/>
                <a:gd name="connsiteY114" fmla="*/ 1285875 h 1309687"/>
                <a:gd name="connsiteX115" fmla="*/ 302419 w 1562100"/>
                <a:gd name="connsiteY115" fmla="*/ 1309687 h 1309687"/>
                <a:gd name="connsiteX116" fmla="*/ 342900 w 1562100"/>
                <a:gd name="connsiteY116" fmla="*/ 1309687 h 1309687"/>
                <a:gd name="connsiteX117" fmla="*/ 390525 w 1562100"/>
                <a:gd name="connsiteY117" fmla="*/ 1304925 h 1309687"/>
                <a:gd name="connsiteX118" fmla="*/ 428625 w 1562100"/>
                <a:gd name="connsiteY118" fmla="*/ 1295400 h 1309687"/>
                <a:gd name="connsiteX119" fmla="*/ 454819 w 1562100"/>
                <a:gd name="connsiteY119" fmla="*/ 1302543 h 1309687"/>
                <a:gd name="connsiteX120" fmla="*/ 473869 w 1562100"/>
                <a:gd name="connsiteY120" fmla="*/ 1281112 h 1309687"/>
                <a:gd name="connsiteX121" fmla="*/ 492919 w 1562100"/>
                <a:gd name="connsiteY121" fmla="*/ 1281112 h 1309687"/>
                <a:gd name="connsiteX122" fmla="*/ 507206 w 1562100"/>
                <a:gd name="connsiteY122" fmla="*/ 1250156 h 1309687"/>
                <a:gd name="connsiteX123" fmla="*/ 557213 w 1562100"/>
                <a:gd name="connsiteY123" fmla="*/ 1235868 h 1309687"/>
                <a:gd name="connsiteX124" fmla="*/ 583406 w 1562100"/>
                <a:gd name="connsiteY124" fmla="*/ 1216818 h 1309687"/>
                <a:gd name="connsiteX125" fmla="*/ 590550 w 1562100"/>
                <a:gd name="connsiteY125" fmla="*/ 1178718 h 1309687"/>
                <a:gd name="connsiteX126" fmla="*/ 607219 w 1562100"/>
                <a:gd name="connsiteY126" fmla="*/ 1152525 h 1309687"/>
                <a:gd name="connsiteX127" fmla="*/ 688181 w 1562100"/>
                <a:gd name="connsiteY127" fmla="*/ 1183481 h 130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562100" h="1309687">
                  <a:moveTo>
                    <a:pt x="688181" y="1183481"/>
                  </a:moveTo>
                  <a:lnTo>
                    <a:pt x="688181" y="1097756"/>
                  </a:lnTo>
                  <a:lnTo>
                    <a:pt x="692944" y="1054893"/>
                  </a:lnTo>
                  <a:lnTo>
                    <a:pt x="692944" y="1009650"/>
                  </a:lnTo>
                  <a:lnTo>
                    <a:pt x="676275" y="985837"/>
                  </a:lnTo>
                  <a:lnTo>
                    <a:pt x="690563" y="933450"/>
                  </a:lnTo>
                  <a:lnTo>
                    <a:pt x="685800" y="907256"/>
                  </a:lnTo>
                  <a:lnTo>
                    <a:pt x="697706" y="862012"/>
                  </a:lnTo>
                  <a:lnTo>
                    <a:pt x="714375" y="838200"/>
                  </a:lnTo>
                  <a:lnTo>
                    <a:pt x="721519" y="804862"/>
                  </a:lnTo>
                  <a:lnTo>
                    <a:pt x="735806" y="785812"/>
                  </a:lnTo>
                  <a:lnTo>
                    <a:pt x="792956" y="776287"/>
                  </a:lnTo>
                  <a:lnTo>
                    <a:pt x="838200" y="759618"/>
                  </a:lnTo>
                  <a:lnTo>
                    <a:pt x="876300" y="719137"/>
                  </a:lnTo>
                  <a:lnTo>
                    <a:pt x="923925" y="704850"/>
                  </a:lnTo>
                  <a:lnTo>
                    <a:pt x="995363" y="700087"/>
                  </a:lnTo>
                  <a:lnTo>
                    <a:pt x="1040606" y="690562"/>
                  </a:lnTo>
                  <a:lnTo>
                    <a:pt x="1119188" y="583406"/>
                  </a:lnTo>
                  <a:lnTo>
                    <a:pt x="1126331" y="550068"/>
                  </a:lnTo>
                  <a:lnTo>
                    <a:pt x="1152525" y="521493"/>
                  </a:lnTo>
                  <a:lnTo>
                    <a:pt x="1197769" y="511968"/>
                  </a:lnTo>
                  <a:lnTo>
                    <a:pt x="1290638" y="435768"/>
                  </a:lnTo>
                  <a:lnTo>
                    <a:pt x="1314450" y="433387"/>
                  </a:lnTo>
                  <a:lnTo>
                    <a:pt x="1409700" y="352425"/>
                  </a:lnTo>
                  <a:lnTo>
                    <a:pt x="1414463" y="333375"/>
                  </a:lnTo>
                  <a:lnTo>
                    <a:pt x="1507331" y="278606"/>
                  </a:lnTo>
                  <a:lnTo>
                    <a:pt x="1543050" y="233362"/>
                  </a:lnTo>
                  <a:lnTo>
                    <a:pt x="1562100" y="195262"/>
                  </a:lnTo>
                  <a:lnTo>
                    <a:pt x="1512094" y="214312"/>
                  </a:lnTo>
                  <a:lnTo>
                    <a:pt x="1478756" y="214312"/>
                  </a:lnTo>
                  <a:lnTo>
                    <a:pt x="1452563" y="252412"/>
                  </a:lnTo>
                  <a:lnTo>
                    <a:pt x="1421606" y="250031"/>
                  </a:lnTo>
                  <a:lnTo>
                    <a:pt x="1366838" y="219075"/>
                  </a:lnTo>
                  <a:lnTo>
                    <a:pt x="1323975" y="207168"/>
                  </a:lnTo>
                  <a:lnTo>
                    <a:pt x="1238250" y="242887"/>
                  </a:lnTo>
                  <a:lnTo>
                    <a:pt x="1223963" y="280987"/>
                  </a:lnTo>
                  <a:lnTo>
                    <a:pt x="1195388" y="338137"/>
                  </a:lnTo>
                  <a:lnTo>
                    <a:pt x="1109663" y="300037"/>
                  </a:lnTo>
                  <a:lnTo>
                    <a:pt x="1097756" y="342900"/>
                  </a:lnTo>
                  <a:lnTo>
                    <a:pt x="1083469" y="376237"/>
                  </a:lnTo>
                  <a:lnTo>
                    <a:pt x="959644" y="407193"/>
                  </a:lnTo>
                  <a:lnTo>
                    <a:pt x="945356" y="402431"/>
                  </a:lnTo>
                  <a:lnTo>
                    <a:pt x="926306" y="423862"/>
                  </a:lnTo>
                  <a:lnTo>
                    <a:pt x="890588" y="431006"/>
                  </a:lnTo>
                  <a:lnTo>
                    <a:pt x="854869" y="381000"/>
                  </a:lnTo>
                  <a:lnTo>
                    <a:pt x="835819" y="369093"/>
                  </a:lnTo>
                  <a:lnTo>
                    <a:pt x="826294" y="323850"/>
                  </a:lnTo>
                  <a:lnTo>
                    <a:pt x="792956" y="307181"/>
                  </a:lnTo>
                  <a:lnTo>
                    <a:pt x="759619" y="300037"/>
                  </a:lnTo>
                  <a:lnTo>
                    <a:pt x="740569" y="295275"/>
                  </a:lnTo>
                  <a:lnTo>
                    <a:pt x="728663" y="285750"/>
                  </a:lnTo>
                  <a:lnTo>
                    <a:pt x="735806" y="259556"/>
                  </a:lnTo>
                  <a:lnTo>
                    <a:pt x="742950" y="235743"/>
                  </a:lnTo>
                  <a:lnTo>
                    <a:pt x="700088" y="185737"/>
                  </a:lnTo>
                  <a:cubicBezTo>
                    <a:pt x="693738" y="161925"/>
                    <a:pt x="711995" y="113109"/>
                    <a:pt x="704851" y="92869"/>
                  </a:cubicBezTo>
                  <a:lnTo>
                    <a:pt x="657225" y="64294"/>
                  </a:lnTo>
                  <a:cubicBezTo>
                    <a:pt x="653256" y="63500"/>
                    <a:pt x="632619" y="88901"/>
                    <a:pt x="628650" y="88107"/>
                  </a:cubicBezTo>
                  <a:lnTo>
                    <a:pt x="500062" y="66676"/>
                  </a:lnTo>
                  <a:lnTo>
                    <a:pt x="450056" y="2382"/>
                  </a:lnTo>
                  <a:lnTo>
                    <a:pt x="428625" y="0"/>
                  </a:lnTo>
                  <a:lnTo>
                    <a:pt x="376238" y="104775"/>
                  </a:lnTo>
                  <a:cubicBezTo>
                    <a:pt x="361951" y="76994"/>
                    <a:pt x="340519" y="111124"/>
                    <a:pt x="314326" y="104774"/>
                  </a:cubicBezTo>
                  <a:lnTo>
                    <a:pt x="328613" y="183356"/>
                  </a:lnTo>
                  <a:lnTo>
                    <a:pt x="292894" y="285750"/>
                  </a:lnTo>
                  <a:lnTo>
                    <a:pt x="264319" y="292893"/>
                  </a:lnTo>
                  <a:lnTo>
                    <a:pt x="261938" y="307181"/>
                  </a:lnTo>
                  <a:lnTo>
                    <a:pt x="261938" y="340518"/>
                  </a:lnTo>
                  <a:lnTo>
                    <a:pt x="228600" y="383381"/>
                  </a:lnTo>
                  <a:lnTo>
                    <a:pt x="271463" y="400050"/>
                  </a:lnTo>
                  <a:lnTo>
                    <a:pt x="278606" y="419100"/>
                  </a:lnTo>
                  <a:lnTo>
                    <a:pt x="257175" y="454818"/>
                  </a:lnTo>
                  <a:lnTo>
                    <a:pt x="221456" y="464343"/>
                  </a:lnTo>
                  <a:lnTo>
                    <a:pt x="221456" y="504825"/>
                  </a:lnTo>
                  <a:lnTo>
                    <a:pt x="254794" y="542925"/>
                  </a:lnTo>
                  <a:lnTo>
                    <a:pt x="226219" y="607218"/>
                  </a:lnTo>
                  <a:lnTo>
                    <a:pt x="180975" y="635793"/>
                  </a:lnTo>
                  <a:lnTo>
                    <a:pt x="183356" y="652462"/>
                  </a:lnTo>
                  <a:lnTo>
                    <a:pt x="204788" y="661987"/>
                  </a:lnTo>
                  <a:lnTo>
                    <a:pt x="219075" y="671512"/>
                  </a:lnTo>
                  <a:lnTo>
                    <a:pt x="223838" y="690562"/>
                  </a:lnTo>
                  <a:lnTo>
                    <a:pt x="195263" y="716756"/>
                  </a:lnTo>
                  <a:lnTo>
                    <a:pt x="123825" y="762000"/>
                  </a:lnTo>
                  <a:lnTo>
                    <a:pt x="123825" y="797718"/>
                  </a:lnTo>
                  <a:lnTo>
                    <a:pt x="135731" y="828675"/>
                  </a:lnTo>
                  <a:lnTo>
                    <a:pt x="123825" y="869156"/>
                  </a:lnTo>
                  <a:lnTo>
                    <a:pt x="76200" y="864393"/>
                  </a:lnTo>
                  <a:lnTo>
                    <a:pt x="52388" y="809625"/>
                  </a:lnTo>
                  <a:lnTo>
                    <a:pt x="33338" y="802481"/>
                  </a:lnTo>
                  <a:lnTo>
                    <a:pt x="23813" y="840581"/>
                  </a:lnTo>
                  <a:lnTo>
                    <a:pt x="21431" y="850106"/>
                  </a:lnTo>
                  <a:lnTo>
                    <a:pt x="7144" y="866775"/>
                  </a:lnTo>
                  <a:lnTo>
                    <a:pt x="0" y="923925"/>
                  </a:lnTo>
                  <a:lnTo>
                    <a:pt x="23813" y="952500"/>
                  </a:lnTo>
                  <a:lnTo>
                    <a:pt x="16669" y="992981"/>
                  </a:lnTo>
                  <a:lnTo>
                    <a:pt x="35719" y="997743"/>
                  </a:lnTo>
                  <a:lnTo>
                    <a:pt x="69056" y="997743"/>
                  </a:lnTo>
                  <a:lnTo>
                    <a:pt x="85725" y="988218"/>
                  </a:lnTo>
                  <a:lnTo>
                    <a:pt x="135731" y="1045368"/>
                  </a:lnTo>
                  <a:lnTo>
                    <a:pt x="123825" y="1064418"/>
                  </a:lnTo>
                  <a:lnTo>
                    <a:pt x="133350" y="1092993"/>
                  </a:lnTo>
                  <a:lnTo>
                    <a:pt x="164306" y="1112043"/>
                  </a:lnTo>
                  <a:lnTo>
                    <a:pt x="190500" y="1121568"/>
                  </a:lnTo>
                  <a:lnTo>
                    <a:pt x="216694" y="1128712"/>
                  </a:lnTo>
                  <a:lnTo>
                    <a:pt x="228600" y="1131093"/>
                  </a:lnTo>
                  <a:lnTo>
                    <a:pt x="240506" y="1092993"/>
                  </a:lnTo>
                  <a:lnTo>
                    <a:pt x="269081" y="1097756"/>
                  </a:lnTo>
                  <a:lnTo>
                    <a:pt x="288131" y="1085850"/>
                  </a:lnTo>
                  <a:lnTo>
                    <a:pt x="307181" y="1135856"/>
                  </a:lnTo>
                  <a:lnTo>
                    <a:pt x="330994" y="1150143"/>
                  </a:lnTo>
                  <a:lnTo>
                    <a:pt x="340519" y="1178718"/>
                  </a:lnTo>
                  <a:lnTo>
                    <a:pt x="357188" y="1188243"/>
                  </a:lnTo>
                  <a:lnTo>
                    <a:pt x="364331" y="1219200"/>
                  </a:lnTo>
                  <a:lnTo>
                    <a:pt x="335756" y="1245393"/>
                  </a:lnTo>
                  <a:lnTo>
                    <a:pt x="309563" y="1262062"/>
                  </a:lnTo>
                  <a:lnTo>
                    <a:pt x="297656" y="1285875"/>
                  </a:lnTo>
                  <a:lnTo>
                    <a:pt x="302419" y="1309687"/>
                  </a:lnTo>
                  <a:lnTo>
                    <a:pt x="342900" y="1309687"/>
                  </a:lnTo>
                  <a:lnTo>
                    <a:pt x="390525" y="1304925"/>
                  </a:lnTo>
                  <a:lnTo>
                    <a:pt x="428625" y="1295400"/>
                  </a:lnTo>
                  <a:lnTo>
                    <a:pt x="454819" y="1302543"/>
                  </a:lnTo>
                  <a:lnTo>
                    <a:pt x="473869" y="1281112"/>
                  </a:lnTo>
                  <a:lnTo>
                    <a:pt x="492919" y="1281112"/>
                  </a:lnTo>
                  <a:lnTo>
                    <a:pt x="507206" y="1250156"/>
                  </a:lnTo>
                  <a:lnTo>
                    <a:pt x="557213" y="1235868"/>
                  </a:lnTo>
                  <a:lnTo>
                    <a:pt x="583406" y="1216818"/>
                  </a:lnTo>
                  <a:lnTo>
                    <a:pt x="590550" y="1178718"/>
                  </a:lnTo>
                  <a:lnTo>
                    <a:pt x="607219" y="1152525"/>
                  </a:lnTo>
                  <a:lnTo>
                    <a:pt x="688181" y="1183481"/>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27" name="Freeform 26"/>
            <p:cNvSpPr/>
            <p:nvPr/>
          </p:nvSpPr>
          <p:spPr>
            <a:xfrm rot="21298612">
              <a:off x="2619289" y="3621233"/>
              <a:ext cx="774495" cy="1266998"/>
            </a:xfrm>
            <a:custGeom>
              <a:avLst/>
              <a:gdLst>
                <a:gd name="connsiteX0" fmla="*/ 202407 w 771525"/>
                <a:gd name="connsiteY0" fmla="*/ 1131094 h 1135856"/>
                <a:gd name="connsiteX1" fmla="*/ 221457 w 771525"/>
                <a:gd name="connsiteY1" fmla="*/ 1064419 h 1135856"/>
                <a:gd name="connsiteX2" fmla="*/ 238125 w 771525"/>
                <a:gd name="connsiteY2" fmla="*/ 1042987 h 1135856"/>
                <a:gd name="connsiteX3" fmla="*/ 247650 w 771525"/>
                <a:gd name="connsiteY3" fmla="*/ 1012031 h 1135856"/>
                <a:gd name="connsiteX4" fmla="*/ 283369 w 771525"/>
                <a:gd name="connsiteY4" fmla="*/ 985837 h 1135856"/>
                <a:gd name="connsiteX5" fmla="*/ 319088 w 771525"/>
                <a:gd name="connsiteY5" fmla="*/ 962025 h 1135856"/>
                <a:gd name="connsiteX6" fmla="*/ 350044 w 771525"/>
                <a:gd name="connsiteY6" fmla="*/ 928687 h 1135856"/>
                <a:gd name="connsiteX7" fmla="*/ 354807 w 771525"/>
                <a:gd name="connsiteY7" fmla="*/ 900112 h 1135856"/>
                <a:gd name="connsiteX8" fmla="*/ 321469 w 771525"/>
                <a:gd name="connsiteY8" fmla="*/ 854869 h 1135856"/>
                <a:gd name="connsiteX9" fmla="*/ 323850 w 771525"/>
                <a:gd name="connsiteY9" fmla="*/ 785812 h 1135856"/>
                <a:gd name="connsiteX10" fmla="*/ 280988 w 771525"/>
                <a:gd name="connsiteY10" fmla="*/ 735806 h 1135856"/>
                <a:gd name="connsiteX11" fmla="*/ 288132 w 771525"/>
                <a:gd name="connsiteY11" fmla="*/ 697706 h 1135856"/>
                <a:gd name="connsiteX12" fmla="*/ 316707 w 771525"/>
                <a:gd name="connsiteY12" fmla="*/ 681037 h 1135856"/>
                <a:gd name="connsiteX13" fmla="*/ 330994 w 771525"/>
                <a:gd name="connsiteY13" fmla="*/ 707231 h 1135856"/>
                <a:gd name="connsiteX14" fmla="*/ 354807 w 771525"/>
                <a:gd name="connsiteY14" fmla="*/ 726281 h 1135856"/>
                <a:gd name="connsiteX15" fmla="*/ 369094 w 771525"/>
                <a:gd name="connsiteY15" fmla="*/ 745331 h 1135856"/>
                <a:gd name="connsiteX16" fmla="*/ 378619 w 771525"/>
                <a:gd name="connsiteY16" fmla="*/ 781050 h 1135856"/>
                <a:gd name="connsiteX17" fmla="*/ 395288 w 771525"/>
                <a:gd name="connsiteY17" fmla="*/ 797719 h 1135856"/>
                <a:gd name="connsiteX18" fmla="*/ 409575 w 771525"/>
                <a:gd name="connsiteY18" fmla="*/ 792956 h 1135856"/>
                <a:gd name="connsiteX19" fmla="*/ 426244 w 771525"/>
                <a:gd name="connsiteY19" fmla="*/ 785812 h 1135856"/>
                <a:gd name="connsiteX20" fmla="*/ 423863 w 771525"/>
                <a:gd name="connsiteY20" fmla="*/ 676275 h 1135856"/>
                <a:gd name="connsiteX21" fmla="*/ 409575 w 771525"/>
                <a:gd name="connsiteY21" fmla="*/ 640556 h 1135856"/>
                <a:gd name="connsiteX22" fmla="*/ 411957 w 771525"/>
                <a:gd name="connsiteY22" fmla="*/ 614362 h 1135856"/>
                <a:gd name="connsiteX23" fmla="*/ 426244 w 771525"/>
                <a:gd name="connsiteY23" fmla="*/ 566737 h 1135856"/>
                <a:gd name="connsiteX24" fmla="*/ 473869 w 771525"/>
                <a:gd name="connsiteY24" fmla="*/ 566737 h 1135856"/>
                <a:gd name="connsiteX25" fmla="*/ 488157 w 771525"/>
                <a:gd name="connsiteY25" fmla="*/ 552450 h 1135856"/>
                <a:gd name="connsiteX26" fmla="*/ 509588 w 771525"/>
                <a:gd name="connsiteY26" fmla="*/ 502444 h 1135856"/>
                <a:gd name="connsiteX27" fmla="*/ 604838 w 771525"/>
                <a:gd name="connsiteY27" fmla="*/ 457200 h 1135856"/>
                <a:gd name="connsiteX28" fmla="*/ 628650 w 771525"/>
                <a:gd name="connsiteY28" fmla="*/ 447675 h 1135856"/>
                <a:gd name="connsiteX29" fmla="*/ 638175 w 771525"/>
                <a:gd name="connsiteY29" fmla="*/ 402431 h 1135856"/>
                <a:gd name="connsiteX30" fmla="*/ 638175 w 771525"/>
                <a:gd name="connsiteY30" fmla="*/ 361950 h 1135856"/>
                <a:gd name="connsiteX31" fmla="*/ 640557 w 771525"/>
                <a:gd name="connsiteY31" fmla="*/ 340519 h 1135856"/>
                <a:gd name="connsiteX32" fmla="*/ 652463 w 771525"/>
                <a:gd name="connsiteY32" fmla="*/ 333375 h 1135856"/>
                <a:gd name="connsiteX33" fmla="*/ 742950 w 771525"/>
                <a:gd name="connsiteY33" fmla="*/ 297656 h 1135856"/>
                <a:gd name="connsiteX34" fmla="*/ 766763 w 771525"/>
                <a:gd name="connsiteY34" fmla="*/ 280987 h 1135856"/>
                <a:gd name="connsiteX35" fmla="*/ 754857 w 771525"/>
                <a:gd name="connsiteY35" fmla="*/ 252412 h 1135856"/>
                <a:gd name="connsiteX36" fmla="*/ 742950 w 771525"/>
                <a:gd name="connsiteY36" fmla="*/ 221456 h 1135856"/>
                <a:gd name="connsiteX37" fmla="*/ 771525 w 771525"/>
                <a:gd name="connsiteY37" fmla="*/ 192881 h 1135856"/>
                <a:gd name="connsiteX38" fmla="*/ 752475 w 771525"/>
                <a:gd name="connsiteY38" fmla="*/ 161925 h 1135856"/>
                <a:gd name="connsiteX39" fmla="*/ 752475 w 771525"/>
                <a:gd name="connsiteY39" fmla="*/ 119062 h 1135856"/>
                <a:gd name="connsiteX40" fmla="*/ 719138 w 771525"/>
                <a:gd name="connsiteY40" fmla="*/ 85725 h 1135856"/>
                <a:gd name="connsiteX41" fmla="*/ 671513 w 771525"/>
                <a:gd name="connsiteY41" fmla="*/ 52387 h 1135856"/>
                <a:gd name="connsiteX42" fmla="*/ 645319 w 771525"/>
                <a:gd name="connsiteY42" fmla="*/ 35719 h 1135856"/>
                <a:gd name="connsiteX43" fmla="*/ 642938 w 771525"/>
                <a:gd name="connsiteY43" fmla="*/ 4762 h 1135856"/>
                <a:gd name="connsiteX44" fmla="*/ 609600 w 771525"/>
                <a:gd name="connsiteY44" fmla="*/ 0 h 1135856"/>
                <a:gd name="connsiteX45" fmla="*/ 583407 w 771525"/>
                <a:gd name="connsiteY45" fmla="*/ 23812 h 1135856"/>
                <a:gd name="connsiteX46" fmla="*/ 564357 w 771525"/>
                <a:gd name="connsiteY46" fmla="*/ 19050 h 1135856"/>
                <a:gd name="connsiteX47" fmla="*/ 554832 w 771525"/>
                <a:gd name="connsiteY47" fmla="*/ 42862 h 1135856"/>
                <a:gd name="connsiteX48" fmla="*/ 509588 w 771525"/>
                <a:gd name="connsiteY48" fmla="*/ 76200 h 1135856"/>
                <a:gd name="connsiteX49" fmla="*/ 407194 w 771525"/>
                <a:gd name="connsiteY49" fmla="*/ 114300 h 1135856"/>
                <a:gd name="connsiteX50" fmla="*/ 381000 w 771525"/>
                <a:gd name="connsiteY50" fmla="*/ 152400 h 1135856"/>
                <a:gd name="connsiteX51" fmla="*/ 340519 w 771525"/>
                <a:gd name="connsiteY51" fmla="*/ 140494 h 1135856"/>
                <a:gd name="connsiteX52" fmla="*/ 245269 w 771525"/>
                <a:gd name="connsiteY52" fmla="*/ 145256 h 1135856"/>
                <a:gd name="connsiteX53" fmla="*/ 250032 w 771525"/>
                <a:gd name="connsiteY53" fmla="*/ 154781 h 1135856"/>
                <a:gd name="connsiteX54" fmla="*/ 309563 w 771525"/>
                <a:gd name="connsiteY54" fmla="*/ 204787 h 1135856"/>
                <a:gd name="connsiteX55" fmla="*/ 211932 w 771525"/>
                <a:gd name="connsiteY55" fmla="*/ 328612 h 1135856"/>
                <a:gd name="connsiteX56" fmla="*/ 173832 w 771525"/>
                <a:gd name="connsiteY56" fmla="*/ 319087 h 1135856"/>
                <a:gd name="connsiteX57" fmla="*/ 80963 w 771525"/>
                <a:gd name="connsiteY57" fmla="*/ 452437 h 1135856"/>
                <a:gd name="connsiteX58" fmla="*/ 97632 w 771525"/>
                <a:gd name="connsiteY58" fmla="*/ 464344 h 1135856"/>
                <a:gd name="connsiteX59" fmla="*/ 114300 w 771525"/>
                <a:gd name="connsiteY59" fmla="*/ 504825 h 1135856"/>
                <a:gd name="connsiteX60" fmla="*/ 92869 w 771525"/>
                <a:gd name="connsiteY60" fmla="*/ 566737 h 1135856"/>
                <a:gd name="connsiteX61" fmla="*/ 102394 w 771525"/>
                <a:gd name="connsiteY61" fmla="*/ 640556 h 1135856"/>
                <a:gd name="connsiteX62" fmla="*/ 73819 w 771525"/>
                <a:gd name="connsiteY62" fmla="*/ 678656 h 1135856"/>
                <a:gd name="connsiteX63" fmla="*/ 73819 w 771525"/>
                <a:gd name="connsiteY63" fmla="*/ 704850 h 1135856"/>
                <a:gd name="connsiteX64" fmla="*/ 61913 w 771525"/>
                <a:gd name="connsiteY64" fmla="*/ 733425 h 1135856"/>
                <a:gd name="connsiteX65" fmla="*/ 88107 w 771525"/>
                <a:gd name="connsiteY65" fmla="*/ 762000 h 1135856"/>
                <a:gd name="connsiteX66" fmla="*/ 135732 w 771525"/>
                <a:gd name="connsiteY66" fmla="*/ 850106 h 1135856"/>
                <a:gd name="connsiteX67" fmla="*/ 69057 w 771525"/>
                <a:gd name="connsiteY67" fmla="*/ 876300 h 1135856"/>
                <a:gd name="connsiteX68" fmla="*/ 45244 w 771525"/>
                <a:gd name="connsiteY68" fmla="*/ 928687 h 1135856"/>
                <a:gd name="connsiteX69" fmla="*/ 33338 w 771525"/>
                <a:gd name="connsiteY69" fmla="*/ 983456 h 1135856"/>
                <a:gd name="connsiteX70" fmla="*/ 2382 w 771525"/>
                <a:gd name="connsiteY70" fmla="*/ 973931 h 1135856"/>
                <a:gd name="connsiteX71" fmla="*/ 0 w 771525"/>
                <a:gd name="connsiteY71" fmla="*/ 1021556 h 1135856"/>
                <a:gd name="connsiteX72" fmla="*/ 16669 w 771525"/>
                <a:gd name="connsiteY72" fmla="*/ 1031081 h 1135856"/>
                <a:gd name="connsiteX73" fmla="*/ 57150 w 771525"/>
                <a:gd name="connsiteY73" fmla="*/ 1040606 h 1135856"/>
                <a:gd name="connsiteX74" fmla="*/ 85725 w 771525"/>
                <a:gd name="connsiteY74" fmla="*/ 1054894 h 1135856"/>
                <a:gd name="connsiteX75" fmla="*/ 102394 w 771525"/>
                <a:gd name="connsiteY75" fmla="*/ 1109662 h 1135856"/>
                <a:gd name="connsiteX76" fmla="*/ 130969 w 771525"/>
                <a:gd name="connsiteY76" fmla="*/ 1135856 h 1135856"/>
                <a:gd name="connsiteX77" fmla="*/ 202407 w 771525"/>
                <a:gd name="connsiteY77" fmla="*/ 1131094 h 1135856"/>
                <a:gd name="connsiteX0" fmla="*/ 202407 w 771525"/>
                <a:gd name="connsiteY0" fmla="*/ 1131094 h 1135856"/>
                <a:gd name="connsiteX1" fmla="*/ 221457 w 771525"/>
                <a:gd name="connsiteY1" fmla="*/ 1064419 h 1135856"/>
                <a:gd name="connsiteX2" fmla="*/ 238125 w 771525"/>
                <a:gd name="connsiteY2" fmla="*/ 1042987 h 1135856"/>
                <a:gd name="connsiteX3" fmla="*/ 247650 w 771525"/>
                <a:gd name="connsiteY3" fmla="*/ 1012031 h 1135856"/>
                <a:gd name="connsiteX4" fmla="*/ 283369 w 771525"/>
                <a:gd name="connsiteY4" fmla="*/ 985837 h 1135856"/>
                <a:gd name="connsiteX5" fmla="*/ 319088 w 771525"/>
                <a:gd name="connsiteY5" fmla="*/ 962025 h 1135856"/>
                <a:gd name="connsiteX6" fmla="*/ 350044 w 771525"/>
                <a:gd name="connsiteY6" fmla="*/ 928687 h 1135856"/>
                <a:gd name="connsiteX7" fmla="*/ 354807 w 771525"/>
                <a:gd name="connsiteY7" fmla="*/ 900112 h 1135856"/>
                <a:gd name="connsiteX8" fmla="*/ 321469 w 771525"/>
                <a:gd name="connsiteY8" fmla="*/ 854869 h 1135856"/>
                <a:gd name="connsiteX9" fmla="*/ 323850 w 771525"/>
                <a:gd name="connsiteY9" fmla="*/ 785812 h 1135856"/>
                <a:gd name="connsiteX10" fmla="*/ 280988 w 771525"/>
                <a:gd name="connsiteY10" fmla="*/ 735806 h 1135856"/>
                <a:gd name="connsiteX11" fmla="*/ 288132 w 771525"/>
                <a:gd name="connsiteY11" fmla="*/ 697706 h 1135856"/>
                <a:gd name="connsiteX12" fmla="*/ 316707 w 771525"/>
                <a:gd name="connsiteY12" fmla="*/ 681037 h 1135856"/>
                <a:gd name="connsiteX13" fmla="*/ 330994 w 771525"/>
                <a:gd name="connsiteY13" fmla="*/ 707231 h 1135856"/>
                <a:gd name="connsiteX14" fmla="*/ 354807 w 771525"/>
                <a:gd name="connsiteY14" fmla="*/ 726281 h 1135856"/>
                <a:gd name="connsiteX15" fmla="*/ 369094 w 771525"/>
                <a:gd name="connsiteY15" fmla="*/ 745331 h 1135856"/>
                <a:gd name="connsiteX16" fmla="*/ 378619 w 771525"/>
                <a:gd name="connsiteY16" fmla="*/ 781050 h 1135856"/>
                <a:gd name="connsiteX17" fmla="*/ 395288 w 771525"/>
                <a:gd name="connsiteY17" fmla="*/ 797719 h 1135856"/>
                <a:gd name="connsiteX18" fmla="*/ 409575 w 771525"/>
                <a:gd name="connsiteY18" fmla="*/ 792956 h 1135856"/>
                <a:gd name="connsiteX19" fmla="*/ 426244 w 771525"/>
                <a:gd name="connsiteY19" fmla="*/ 785812 h 1135856"/>
                <a:gd name="connsiteX20" fmla="*/ 423863 w 771525"/>
                <a:gd name="connsiteY20" fmla="*/ 676275 h 1135856"/>
                <a:gd name="connsiteX21" fmla="*/ 409575 w 771525"/>
                <a:gd name="connsiteY21" fmla="*/ 640556 h 1135856"/>
                <a:gd name="connsiteX22" fmla="*/ 411957 w 771525"/>
                <a:gd name="connsiteY22" fmla="*/ 614362 h 1135856"/>
                <a:gd name="connsiteX23" fmla="*/ 426244 w 771525"/>
                <a:gd name="connsiteY23" fmla="*/ 566737 h 1135856"/>
                <a:gd name="connsiteX24" fmla="*/ 473869 w 771525"/>
                <a:gd name="connsiteY24" fmla="*/ 566737 h 1135856"/>
                <a:gd name="connsiteX25" fmla="*/ 488157 w 771525"/>
                <a:gd name="connsiteY25" fmla="*/ 552450 h 1135856"/>
                <a:gd name="connsiteX26" fmla="*/ 509588 w 771525"/>
                <a:gd name="connsiteY26" fmla="*/ 502444 h 1135856"/>
                <a:gd name="connsiteX27" fmla="*/ 604838 w 771525"/>
                <a:gd name="connsiteY27" fmla="*/ 457200 h 1135856"/>
                <a:gd name="connsiteX28" fmla="*/ 628650 w 771525"/>
                <a:gd name="connsiteY28" fmla="*/ 447675 h 1135856"/>
                <a:gd name="connsiteX29" fmla="*/ 638175 w 771525"/>
                <a:gd name="connsiteY29" fmla="*/ 402431 h 1135856"/>
                <a:gd name="connsiteX30" fmla="*/ 638175 w 771525"/>
                <a:gd name="connsiteY30" fmla="*/ 361950 h 1135856"/>
                <a:gd name="connsiteX31" fmla="*/ 640557 w 771525"/>
                <a:gd name="connsiteY31" fmla="*/ 340519 h 1135856"/>
                <a:gd name="connsiteX32" fmla="*/ 652463 w 771525"/>
                <a:gd name="connsiteY32" fmla="*/ 333375 h 1135856"/>
                <a:gd name="connsiteX33" fmla="*/ 742950 w 771525"/>
                <a:gd name="connsiteY33" fmla="*/ 297656 h 1135856"/>
                <a:gd name="connsiteX34" fmla="*/ 766763 w 771525"/>
                <a:gd name="connsiteY34" fmla="*/ 280987 h 1135856"/>
                <a:gd name="connsiteX35" fmla="*/ 754857 w 771525"/>
                <a:gd name="connsiteY35" fmla="*/ 252412 h 1135856"/>
                <a:gd name="connsiteX36" fmla="*/ 742950 w 771525"/>
                <a:gd name="connsiteY36" fmla="*/ 221456 h 1135856"/>
                <a:gd name="connsiteX37" fmla="*/ 771525 w 771525"/>
                <a:gd name="connsiteY37" fmla="*/ 192881 h 1135856"/>
                <a:gd name="connsiteX38" fmla="*/ 752475 w 771525"/>
                <a:gd name="connsiteY38" fmla="*/ 161925 h 1135856"/>
                <a:gd name="connsiteX39" fmla="*/ 752475 w 771525"/>
                <a:gd name="connsiteY39" fmla="*/ 119062 h 1135856"/>
                <a:gd name="connsiteX40" fmla="*/ 719138 w 771525"/>
                <a:gd name="connsiteY40" fmla="*/ 85725 h 1135856"/>
                <a:gd name="connsiteX41" fmla="*/ 671513 w 771525"/>
                <a:gd name="connsiteY41" fmla="*/ 52387 h 1135856"/>
                <a:gd name="connsiteX42" fmla="*/ 645319 w 771525"/>
                <a:gd name="connsiteY42" fmla="*/ 35719 h 1135856"/>
                <a:gd name="connsiteX43" fmla="*/ 642938 w 771525"/>
                <a:gd name="connsiteY43" fmla="*/ 4762 h 1135856"/>
                <a:gd name="connsiteX44" fmla="*/ 609600 w 771525"/>
                <a:gd name="connsiteY44" fmla="*/ 0 h 1135856"/>
                <a:gd name="connsiteX45" fmla="*/ 583407 w 771525"/>
                <a:gd name="connsiteY45" fmla="*/ 23812 h 1135856"/>
                <a:gd name="connsiteX46" fmla="*/ 564357 w 771525"/>
                <a:gd name="connsiteY46" fmla="*/ 19050 h 1135856"/>
                <a:gd name="connsiteX47" fmla="*/ 554832 w 771525"/>
                <a:gd name="connsiteY47" fmla="*/ 42862 h 1135856"/>
                <a:gd name="connsiteX48" fmla="*/ 509588 w 771525"/>
                <a:gd name="connsiteY48" fmla="*/ 76200 h 1135856"/>
                <a:gd name="connsiteX49" fmla="*/ 407194 w 771525"/>
                <a:gd name="connsiteY49" fmla="*/ 114300 h 1135856"/>
                <a:gd name="connsiteX50" fmla="*/ 381000 w 771525"/>
                <a:gd name="connsiteY50" fmla="*/ 152400 h 1135856"/>
                <a:gd name="connsiteX51" fmla="*/ 340519 w 771525"/>
                <a:gd name="connsiteY51" fmla="*/ 140494 h 1135856"/>
                <a:gd name="connsiteX52" fmla="*/ 245269 w 771525"/>
                <a:gd name="connsiteY52" fmla="*/ 145256 h 1135856"/>
                <a:gd name="connsiteX53" fmla="*/ 250032 w 771525"/>
                <a:gd name="connsiteY53" fmla="*/ 154781 h 1135856"/>
                <a:gd name="connsiteX54" fmla="*/ 309563 w 771525"/>
                <a:gd name="connsiteY54" fmla="*/ 204787 h 1135856"/>
                <a:gd name="connsiteX55" fmla="*/ 211932 w 771525"/>
                <a:gd name="connsiteY55" fmla="*/ 328612 h 1135856"/>
                <a:gd name="connsiteX56" fmla="*/ 173832 w 771525"/>
                <a:gd name="connsiteY56" fmla="*/ 319087 h 1135856"/>
                <a:gd name="connsiteX57" fmla="*/ 80963 w 771525"/>
                <a:gd name="connsiteY57" fmla="*/ 452437 h 1135856"/>
                <a:gd name="connsiteX58" fmla="*/ 97632 w 771525"/>
                <a:gd name="connsiteY58" fmla="*/ 464344 h 1135856"/>
                <a:gd name="connsiteX59" fmla="*/ 114300 w 771525"/>
                <a:gd name="connsiteY59" fmla="*/ 504825 h 1135856"/>
                <a:gd name="connsiteX60" fmla="*/ 92869 w 771525"/>
                <a:gd name="connsiteY60" fmla="*/ 566737 h 1135856"/>
                <a:gd name="connsiteX61" fmla="*/ 102394 w 771525"/>
                <a:gd name="connsiteY61" fmla="*/ 640556 h 1135856"/>
                <a:gd name="connsiteX62" fmla="*/ 73819 w 771525"/>
                <a:gd name="connsiteY62" fmla="*/ 678656 h 1135856"/>
                <a:gd name="connsiteX63" fmla="*/ 73819 w 771525"/>
                <a:gd name="connsiteY63" fmla="*/ 704850 h 1135856"/>
                <a:gd name="connsiteX64" fmla="*/ 61913 w 771525"/>
                <a:gd name="connsiteY64" fmla="*/ 733425 h 1135856"/>
                <a:gd name="connsiteX65" fmla="*/ 88107 w 771525"/>
                <a:gd name="connsiteY65" fmla="*/ 762000 h 1135856"/>
                <a:gd name="connsiteX66" fmla="*/ 135732 w 771525"/>
                <a:gd name="connsiteY66" fmla="*/ 850106 h 1135856"/>
                <a:gd name="connsiteX67" fmla="*/ 69057 w 771525"/>
                <a:gd name="connsiteY67" fmla="*/ 876300 h 1135856"/>
                <a:gd name="connsiteX68" fmla="*/ 45244 w 771525"/>
                <a:gd name="connsiteY68" fmla="*/ 928687 h 1135856"/>
                <a:gd name="connsiteX69" fmla="*/ 33338 w 771525"/>
                <a:gd name="connsiteY69" fmla="*/ 983456 h 1135856"/>
                <a:gd name="connsiteX70" fmla="*/ 2382 w 771525"/>
                <a:gd name="connsiteY70" fmla="*/ 973931 h 1135856"/>
                <a:gd name="connsiteX71" fmla="*/ 0 w 771525"/>
                <a:gd name="connsiteY71" fmla="*/ 1021556 h 1135856"/>
                <a:gd name="connsiteX72" fmla="*/ 16669 w 771525"/>
                <a:gd name="connsiteY72" fmla="*/ 1031081 h 1135856"/>
                <a:gd name="connsiteX73" fmla="*/ 57150 w 771525"/>
                <a:gd name="connsiteY73" fmla="*/ 1040606 h 1135856"/>
                <a:gd name="connsiteX74" fmla="*/ 85725 w 771525"/>
                <a:gd name="connsiteY74" fmla="*/ 1054894 h 1135856"/>
                <a:gd name="connsiteX75" fmla="*/ 102394 w 771525"/>
                <a:gd name="connsiteY75" fmla="*/ 1109662 h 1135856"/>
                <a:gd name="connsiteX76" fmla="*/ 130969 w 771525"/>
                <a:gd name="connsiteY76" fmla="*/ 1135856 h 1135856"/>
                <a:gd name="connsiteX77" fmla="*/ 157163 w 771525"/>
                <a:gd name="connsiteY77" fmla="*/ 1135856 h 1135856"/>
                <a:gd name="connsiteX78" fmla="*/ 202407 w 771525"/>
                <a:gd name="connsiteY78" fmla="*/ 1131094 h 1135856"/>
                <a:gd name="connsiteX0" fmla="*/ 202407 w 771525"/>
                <a:gd name="connsiteY0" fmla="*/ 1131094 h 1164431"/>
                <a:gd name="connsiteX1" fmla="*/ 221457 w 771525"/>
                <a:gd name="connsiteY1" fmla="*/ 1064419 h 1164431"/>
                <a:gd name="connsiteX2" fmla="*/ 238125 w 771525"/>
                <a:gd name="connsiteY2" fmla="*/ 1042987 h 1164431"/>
                <a:gd name="connsiteX3" fmla="*/ 247650 w 771525"/>
                <a:gd name="connsiteY3" fmla="*/ 1012031 h 1164431"/>
                <a:gd name="connsiteX4" fmla="*/ 283369 w 771525"/>
                <a:gd name="connsiteY4" fmla="*/ 985837 h 1164431"/>
                <a:gd name="connsiteX5" fmla="*/ 319088 w 771525"/>
                <a:gd name="connsiteY5" fmla="*/ 962025 h 1164431"/>
                <a:gd name="connsiteX6" fmla="*/ 350044 w 771525"/>
                <a:gd name="connsiteY6" fmla="*/ 928687 h 1164431"/>
                <a:gd name="connsiteX7" fmla="*/ 354807 w 771525"/>
                <a:gd name="connsiteY7" fmla="*/ 900112 h 1164431"/>
                <a:gd name="connsiteX8" fmla="*/ 321469 w 771525"/>
                <a:gd name="connsiteY8" fmla="*/ 854869 h 1164431"/>
                <a:gd name="connsiteX9" fmla="*/ 323850 w 771525"/>
                <a:gd name="connsiteY9" fmla="*/ 785812 h 1164431"/>
                <a:gd name="connsiteX10" fmla="*/ 280988 w 771525"/>
                <a:gd name="connsiteY10" fmla="*/ 735806 h 1164431"/>
                <a:gd name="connsiteX11" fmla="*/ 288132 w 771525"/>
                <a:gd name="connsiteY11" fmla="*/ 697706 h 1164431"/>
                <a:gd name="connsiteX12" fmla="*/ 316707 w 771525"/>
                <a:gd name="connsiteY12" fmla="*/ 681037 h 1164431"/>
                <a:gd name="connsiteX13" fmla="*/ 330994 w 771525"/>
                <a:gd name="connsiteY13" fmla="*/ 707231 h 1164431"/>
                <a:gd name="connsiteX14" fmla="*/ 354807 w 771525"/>
                <a:gd name="connsiteY14" fmla="*/ 726281 h 1164431"/>
                <a:gd name="connsiteX15" fmla="*/ 369094 w 771525"/>
                <a:gd name="connsiteY15" fmla="*/ 745331 h 1164431"/>
                <a:gd name="connsiteX16" fmla="*/ 378619 w 771525"/>
                <a:gd name="connsiteY16" fmla="*/ 781050 h 1164431"/>
                <a:gd name="connsiteX17" fmla="*/ 395288 w 771525"/>
                <a:gd name="connsiteY17" fmla="*/ 797719 h 1164431"/>
                <a:gd name="connsiteX18" fmla="*/ 409575 w 771525"/>
                <a:gd name="connsiteY18" fmla="*/ 792956 h 1164431"/>
                <a:gd name="connsiteX19" fmla="*/ 426244 w 771525"/>
                <a:gd name="connsiteY19" fmla="*/ 785812 h 1164431"/>
                <a:gd name="connsiteX20" fmla="*/ 423863 w 771525"/>
                <a:gd name="connsiteY20" fmla="*/ 676275 h 1164431"/>
                <a:gd name="connsiteX21" fmla="*/ 409575 w 771525"/>
                <a:gd name="connsiteY21" fmla="*/ 640556 h 1164431"/>
                <a:gd name="connsiteX22" fmla="*/ 411957 w 771525"/>
                <a:gd name="connsiteY22" fmla="*/ 614362 h 1164431"/>
                <a:gd name="connsiteX23" fmla="*/ 426244 w 771525"/>
                <a:gd name="connsiteY23" fmla="*/ 566737 h 1164431"/>
                <a:gd name="connsiteX24" fmla="*/ 473869 w 771525"/>
                <a:gd name="connsiteY24" fmla="*/ 566737 h 1164431"/>
                <a:gd name="connsiteX25" fmla="*/ 488157 w 771525"/>
                <a:gd name="connsiteY25" fmla="*/ 552450 h 1164431"/>
                <a:gd name="connsiteX26" fmla="*/ 509588 w 771525"/>
                <a:gd name="connsiteY26" fmla="*/ 502444 h 1164431"/>
                <a:gd name="connsiteX27" fmla="*/ 604838 w 771525"/>
                <a:gd name="connsiteY27" fmla="*/ 457200 h 1164431"/>
                <a:gd name="connsiteX28" fmla="*/ 628650 w 771525"/>
                <a:gd name="connsiteY28" fmla="*/ 447675 h 1164431"/>
                <a:gd name="connsiteX29" fmla="*/ 638175 w 771525"/>
                <a:gd name="connsiteY29" fmla="*/ 402431 h 1164431"/>
                <a:gd name="connsiteX30" fmla="*/ 638175 w 771525"/>
                <a:gd name="connsiteY30" fmla="*/ 361950 h 1164431"/>
                <a:gd name="connsiteX31" fmla="*/ 640557 w 771525"/>
                <a:gd name="connsiteY31" fmla="*/ 340519 h 1164431"/>
                <a:gd name="connsiteX32" fmla="*/ 652463 w 771525"/>
                <a:gd name="connsiteY32" fmla="*/ 333375 h 1164431"/>
                <a:gd name="connsiteX33" fmla="*/ 742950 w 771525"/>
                <a:gd name="connsiteY33" fmla="*/ 297656 h 1164431"/>
                <a:gd name="connsiteX34" fmla="*/ 766763 w 771525"/>
                <a:gd name="connsiteY34" fmla="*/ 280987 h 1164431"/>
                <a:gd name="connsiteX35" fmla="*/ 754857 w 771525"/>
                <a:gd name="connsiteY35" fmla="*/ 252412 h 1164431"/>
                <a:gd name="connsiteX36" fmla="*/ 742950 w 771525"/>
                <a:gd name="connsiteY36" fmla="*/ 221456 h 1164431"/>
                <a:gd name="connsiteX37" fmla="*/ 771525 w 771525"/>
                <a:gd name="connsiteY37" fmla="*/ 192881 h 1164431"/>
                <a:gd name="connsiteX38" fmla="*/ 752475 w 771525"/>
                <a:gd name="connsiteY38" fmla="*/ 161925 h 1164431"/>
                <a:gd name="connsiteX39" fmla="*/ 752475 w 771525"/>
                <a:gd name="connsiteY39" fmla="*/ 119062 h 1164431"/>
                <a:gd name="connsiteX40" fmla="*/ 719138 w 771525"/>
                <a:gd name="connsiteY40" fmla="*/ 85725 h 1164431"/>
                <a:gd name="connsiteX41" fmla="*/ 671513 w 771525"/>
                <a:gd name="connsiteY41" fmla="*/ 52387 h 1164431"/>
                <a:gd name="connsiteX42" fmla="*/ 645319 w 771525"/>
                <a:gd name="connsiteY42" fmla="*/ 35719 h 1164431"/>
                <a:gd name="connsiteX43" fmla="*/ 642938 w 771525"/>
                <a:gd name="connsiteY43" fmla="*/ 4762 h 1164431"/>
                <a:gd name="connsiteX44" fmla="*/ 609600 w 771525"/>
                <a:gd name="connsiteY44" fmla="*/ 0 h 1164431"/>
                <a:gd name="connsiteX45" fmla="*/ 583407 w 771525"/>
                <a:gd name="connsiteY45" fmla="*/ 23812 h 1164431"/>
                <a:gd name="connsiteX46" fmla="*/ 564357 w 771525"/>
                <a:gd name="connsiteY46" fmla="*/ 19050 h 1164431"/>
                <a:gd name="connsiteX47" fmla="*/ 554832 w 771525"/>
                <a:gd name="connsiteY47" fmla="*/ 42862 h 1164431"/>
                <a:gd name="connsiteX48" fmla="*/ 509588 w 771525"/>
                <a:gd name="connsiteY48" fmla="*/ 76200 h 1164431"/>
                <a:gd name="connsiteX49" fmla="*/ 407194 w 771525"/>
                <a:gd name="connsiteY49" fmla="*/ 114300 h 1164431"/>
                <a:gd name="connsiteX50" fmla="*/ 381000 w 771525"/>
                <a:gd name="connsiteY50" fmla="*/ 152400 h 1164431"/>
                <a:gd name="connsiteX51" fmla="*/ 340519 w 771525"/>
                <a:gd name="connsiteY51" fmla="*/ 140494 h 1164431"/>
                <a:gd name="connsiteX52" fmla="*/ 245269 w 771525"/>
                <a:gd name="connsiteY52" fmla="*/ 145256 h 1164431"/>
                <a:gd name="connsiteX53" fmla="*/ 250032 w 771525"/>
                <a:gd name="connsiteY53" fmla="*/ 154781 h 1164431"/>
                <a:gd name="connsiteX54" fmla="*/ 309563 w 771525"/>
                <a:gd name="connsiteY54" fmla="*/ 204787 h 1164431"/>
                <a:gd name="connsiteX55" fmla="*/ 211932 w 771525"/>
                <a:gd name="connsiteY55" fmla="*/ 328612 h 1164431"/>
                <a:gd name="connsiteX56" fmla="*/ 173832 w 771525"/>
                <a:gd name="connsiteY56" fmla="*/ 319087 h 1164431"/>
                <a:gd name="connsiteX57" fmla="*/ 80963 w 771525"/>
                <a:gd name="connsiteY57" fmla="*/ 452437 h 1164431"/>
                <a:gd name="connsiteX58" fmla="*/ 97632 w 771525"/>
                <a:gd name="connsiteY58" fmla="*/ 464344 h 1164431"/>
                <a:gd name="connsiteX59" fmla="*/ 114300 w 771525"/>
                <a:gd name="connsiteY59" fmla="*/ 504825 h 1164431"/>
                <a:gd name="connsiteX60" fmla="*/ 92869 w 771525"/>
                <a:gd name="connsiteY60" fmla="*/ 566737 h 1164431"/>
                <a:gd name="connsiteX61" fmla="*/ 102394 w 771525"/>
                <a:gd name="connsiteY61" fmla="*/ 640556 h 1164431"/>
                <a:gd name="connsiteX62" fmla="*/ 73819 w 771525"/>
                <a:gd name="connsiteY62" fmla="*/ 678656 h 1164431"/>
                <a:gd name="connsiteX63" fmla="*/ 73819 w 771525"/>
                <a:gd name="connsiteY63" fmla="*/ 704850 h 1164431"/>
                <a:gd name="connsiteX64" fmla="*/ 61913 w 771525"/>
                <a:gd name="connsiteY64" fmla="*/ 733425 h 1164431"/>
                <a:gd name="connsiteX65" fmla="*/ 88107 w 771525"/>
                <a:gd name="connsiteY65" fmla="*/ 762000 h 1164431"/>
                <a:gd name="connsiteX66" fmla="*/ 135732 w 771525"/>
                <a:gd name="connsiteY66" fmla="*/ 850106 h 1164431"/>
                <a:gd name="connsiteX67" fmla="*/ 69057 w 771525"/>
                <a:gd name="connsiteY67" fmla="*/ 876300 h 1164431"/>
                <a:gd name="connsiteX68" fmla="*/ 45244 w 771525"/>
                <a:gd name="connsiteY68" fmla="*/ 928687 h 1164431"/>
                <a:gd name="connsiteX69" fmla="*/ 33338 w 771525"/>
                <a:gd name="connsiteY69" fmla="*/ 983456 h 1164431"/>
                <a:gd name="connsiteX70" fmla="*/ 2382 w 771525"/>
                <a:gd name="connsiteY70" fmla="*/ 973931 h 1164431"/>
                <a:gd name="connsiteX71" fmla="*/ 0 w 771525"/>
                <a:gd name="connsiteY71" fmla="*/ 1021556 h 1164431"/>
                <a:gd name="connsiteX72" fmla="*/ 16669 w 771525"/>
                <a:gd name="connsiteY72" fmla="*/ 1031081 h 1164431"/>
                <a:gd name="connsiteX73" fmla="*/ 57150 w 771525"/>
                <a:gd name="connsiteY73" fmla="*/ 1040606 h 1164431"/>
                <a:gd name="connsiteX74" fmla="*/ 85725 w 771525"/>
                <a:gd name="connsiteY74" fmla="*/ 1054894 h 1164431"/>
                <a:gd name="connsiteX75" fmla="*/ 102394 w 771525"/>
                <a:gd name="connsiteY75" fmla="*/ 1109662 h 1164431"/>
                <a:gd name="connsiteX76" fmla="*/ 130969 w 771525"/>
                <a:gd name="connsiteY76" fmla="*/ 1135856 h 1164431"/>
                <a:gd name="connsiteX77" fmla="*/ 157163 w 771525"/>
                <a:gd name="connsiteY77" fmla="*/ 1164431 h 1164431"/>
                <a:gd name="connsiteX78" fmla="*/ 202407 w 771525"/>
                <a:gd name="connsiteY78" fmla="*/ 1131094 h 1164431"/>
                <a:gd name="connsiteX0" fmla="*/ 202407 w 771525"/>
                <a:gd name="connsiteY0" fmla="*/ 1131094 h 1164431"/>
                <a:gd name="connsiteX1" fmla="*/ 221457 w 771525"/>
                <a:gd name="connsiteY1" fmla="*/ 1064419 h 1164431"/>
                <a:gd name="connsiteX2" fmla="*/ 238125 w 771525"/>
                <a:gd name="connsiteY2" fmla="*/ 1042987 h 1164431"/>
                <a:gd name="connsiteX3" fmla="*/ 247650 w 771525"/>
                <a:gd name="connsiteY3" fmla="*/ 1012031 h 1164431"/>
                <a:gd name="connsiteX4" fmla="*/ 283369 w 771525"/>
                <a:gd name="connsiteY4" fmla="*/ 985837 h 1164431"/>
                <a:gd name="connsiteX5" fmla="*/ 319088 w 771525"/>
                <a:gd name="connsiteY5" fmla="*/ 962025 h 1164431"/>
                <a:gd name="connsiteX6" fmla="*/ 350044 w 771525"/>
                <a:gd name="connsiteY6" fmla="*/ 928687 h 1164431"/>
                <a:gd name="connsiteX7" fmla="*/ 354807 w 771525"/>
                <a:gd name="connsiteY7" fmla="*/ 900112 h 1164431"/>
                <a:gd name="connsiteX8" fmla="*/ 321469 w 771525"/>
                <a:gd name="connsiteY8" fmla="*/ 854869 h 1164431"/>
                <a:gd name="connsiteX9" fmla="*/ 323850 w 771525"/>
                <a:gd name="connsiteY9" fmla="*/ 785812 h 1164431"/>
                <a:gd name="connsiteX10" fmla="*/ 280988 w 771525"/>
                <a:gd name="connsiteY10" fmla="*/ 735806 h 1164431"/>
                <a:gd name="connsiteX11" fmla="*/ 288132 w 771525"/>
                <a:gd name="connsiteY11" fmla="*/ 697706 h 1164431"/>
                <a:gd name="connsiteX12" fmla="*/ 316707 w 771525"/>
                <a:gd name="connsiteY12" fmla="*/ 681037 h 1164431"/>
                <a:gd name="connsiteX13" fmla="*/ 330994 w 771525"/>
                <a:gd name="connsiteY13" fmla="*/ 707231 h 1164431"/>
                <a:gd name="connsiteX14" fmla="*/ 354807 w 771525"/>
                <a:gd name="connsiteY14" fmla="*/ 726281 h 1164431"/>
                <a:gd name="connsiteX15" fmla="*/ 369094 w 771525"/>
                <a:gd name="connsiteY15" fmla="*/ 745331 h 1164431"/>
                <a:gd name="connsiteX16" fmla="*/ 378619 w 771525"/>
                <a:gd name="connsiteY16" fmla="*/ 781050 h 1164431"/>
                <a:gd name="connsiteX17" fmla="*/ 395288 w 771525"/>
                <a:gd name="connsiteY17" fmla="*/ 797719 h 1164431"/>
                <a:gd name="connsiteX18" fmla="*/ 409575 w 771525"/>
                <a:gd name="connsiteY18" fmla="*/ 792956 h 1164431"/>
                <a:gd name="connsiteX19" fmla="*/ 426244 w 771525"/>
                <a:gd name="connsiteY19" fmla="*/ 785812 h 1164431"/>
                <a:gd name="connsiteX20" fmla="*/ 423863 w 771525"/>
                <a:gd name="connsiteY20" fmla="*/ 676275 h 1164431"/>
                <a:gd name="connsiteX21" fmla="*/ 409575 w 771525"/>
                <a:gd name="connsiteY21" fmla="*/ 640556 h 1164431"/>
                <a:gd name="connsiteX22" fmla="*/ 411957 w 771525"/>
                <a:gd name="connsiteY22" fmla="*/ 614362 h 1164431"/>
                <a:gd name="connsiteX23" fmla="*/ 426244 w 771525"/>
                <a:gd name="connsiteY23" fmla="*/ 566737 h 1164431"/>
                <a:gd name="connsiteX24" fmla="*/ 473869 w 771525"/>
                <a:gd name="connsiteY24" fmla="*/ 566737 h 1164431"/>
                <a:gd name="connsiteX25" fmla="*/ 488157 w 771525"/>
                <a:gd name="connsiteY25" fmla="*/ 552450 h 1164431"/>
                <a:gd name="connsiteX26" fmla="*/ 509588 w 771525"/>
                <a:gd name="connsiteY26" fmla="*/ 502444 h 1164431"/>
                <a:gd name="connsiteX27" fmla="*/ 604838 w 771525"/>
                <a:gd name="connsiteY27" fmla="*/ 457200 h 1164431"/>
                <a:gd name="connsiteX28" fmla="*/ 628650 w 771525"/>
                <a:gd name="connsiteY28" fmla="*/ 447675 h 1164431"/>
                <a:gd name="connsiteX29" fmla="*/ 638175 w 771525"/>
                <a:gd name="connsiteY29" fmla="*/ 402431 h 1164431"/>
                <a:gd name="connsiteX30" fmla="*/ 638175 w 771525"/>
                <a:gd name="connsiteY30" fmla="*/ 361950 h 1164431"/>
                <a:gd name="connsiteX31" fmla="*/ 640557 w 771525"/>
                <a:gd name="connsiteY31" fmla="*/ 340519 h 1164431"/>
                <a:gd name="connsiteX32" fmla="*/ 652463 w 771525"/>
                <a:gd name="connsiteY32" fmla="*/ 333375 h 1164431"/>
                <a:gd name="connsiteX33" fmla="*/ 742950 w 771525"/>
                <a:gd name="connsiteY33" fmla="*/ 297656 h 1164431"/>
                <a:gd name="connsiteX34" fmla="*/ 766763 w 771525"/>
                <a:gd name="connsiteY34" fmla="*/ 280987 h 1164431"/>
                <a:gd name="connsiteX35" fmla="*/ 754857 w 771525"/>
                <a:gd name="connsiteY35" fmla="*/ 252412 h 1164431"/>
                <a:gd name="connsiteX36" fmla="*/ 742950 w 771525"/>
                <a:gd name="connsiteY36" fmla="*/ 221456 h 1164431"/>
                <a:gd name="connsiteX37" fmla="*/ 771525 w 771525"/>
                <a:gd name="connsiteY37" fmla="*/ 192881 h 1164431"/>
                <a:gd name="connsiteX38" fmla="*/ 752475 w 771525"/>
                <a:gd name="connsiteY38" fmla="*/ 161925 h 1164431"/>
                <a:gd name="connsiteX39" fmla="*/ 752475 w 771525"/>
                <a:gd name="connsiteY39" fmla="*/ 119062 h 1164431"/>
                <a:gd name="connsiteX40" fmla="*/ 719138 w 771525"/>
                <a:gd name="connsiteY40" fmla="*/ 85725 h 1164431"/>
                <a:gd name="connsiteX41" fmla="*/ 671513 w 771525"/>
                <a:gd name="connsiteY41" fmla="*/ 52387 h 1164431"/>
                <a:gd name="connsiteX42" fmla="*/ 645319 w 771525"/>
                <a:gd name="connsiteY42" fmla="*/ 35719 h 1164431"/>
                <a:gd name="connsiteX43" fmla="*/ 642938 w 771525"/>
                <a:gd name="connsiteY43" fmla="*/ 4762 h 1164431"/>
                <a:gd name="connsiteX44" fmla="*/ 609600 w 771525"/>
                <a:gd name="connsiteY44" fmla="*/ 0 h 1164431"/>
                <a:gd name="connsiteX45" fmla="*/ 583407 w 771525"/>
                <a:gd name="connsiteY45" fmla="*/ 23812 h 1164431"/>
                <a:gd name="connsiteX46" fmla="*/ 564357 w 771525"/>
                <a:gd name="connsiteY46" fmla="*/ 19050 h 1164431"/>
                <a:gd name="connsiteX47" fmla="*/ 554832 w 771525"/>
                <a:gd name="connsiteY47" fmla="*/ 42862 h 1164431"/>
                <a:gd name="connsiteX48" fmla="*/ 509588 w 771525"/>
                <a:gd name="connsiteY48" fmla="*/ 76200 h 1164431"/>
                <a:gd name="connsiteX49" fmla="*/ 407194 w 771525"/>
                <a:gd name="connsiteY49" fmla="*/ 114300 h 1164431"/>
                <a:gd name="connsiteX50" fmla="*/ 381000 w 771525"/>
                <a:gd name="connsiteY50" fmla="*/ 152400 h 1164431"/>
                <a:gd name="connsiteX51" fmla="*/ 340519 w 771525"/>
                <a:gd name="connsiteY51" fmla="*/ 140494 h 1164431"/>
                <a:gd name="connsiteX52" fmla="*/ 245269 w 771525"/>
                <a:gd name="connsiteY52" fmla="*/ 145256 h 1164431"/>
                <a:gd name="connsiteX53" fmla="*/ 250032 w 771525"/>
                <a:gd name="connsiteY53" fmla="*/ 154781 h 1164431"/>
                <a:gd name="connsiteX54" fmla="*/ 309563 w 771525"/>
                <a:gd name="connsiteY54" fmla="*/ 204787 h 1164431"/>
                <a:gd name="connsiteX55" fmla="*/ 211932 w 771525"/>
                <a:gd name="connsiteY55" fmla="*/ 328612 h 1164431"/>
                <a:gd name="connsiteX56" fmla="*/ 173832 w 771525"/>
                <a:gd name="connsiteY56" fmla="*/ 319087 h 1164431"/>
                <a:gd name="connsiteX57" fmla="*/ 80963 w 771525"/>
                <a:gd name="connsiteY57" fmla="*/ 452437 h 1164431"/>
                <a:gd name="connsiteX58" fmla="*/ 97632 w 771525"/>
                <a:gd name="connsiteY58" fmla="*/ 464344 h 1164431"/>
                <a:gd name="connsiteX59" fmla="*/ 114300 w 771525"/>
                <a:gd name="connsiteY59" fmla="*/ 504825 h 1164431"/>
                <a:gd name="connsiteX60" fmla="*/ 92869 w 771525"/>
                <a:gd name="connsiteY60" fmla="*/ 566737 h 1164431"/>
                <a:gd name="connsiteX61" fmla="*/ 102394 w 771525"/>
                <a:gd name="connsiteY61" fmla="*/ 640556 h 1164431"/>
                <a:gd name="connsiteX62" fmla="*/ 73819 w 771525"/>
                <a:gd name="connsiteY62" fmla="*/ 678656 h 1164431"/>
                <a:gd name="connsiteX63" fmla="*/ 73819 w 771525"/>
                <a:gd name="connsiteY63" fmla="*/ 704850 h 1164431"/>
                <a:gd name="connsiteX64" fmla="*/ 61913 w 771525"/>
                <a:gd name="connsiteY64" fmla="*/ 733425 h 1164431"/>
                <a:gd name="connsiteX65" fmla="*/ 88107 w 771525"/>
                <a:gd name="connsiteY65" fmla="*/ 762000 h 1164431"/>
                <a:gd name="connsiteX66" fmla="*/ 135732 w 771525"/>
                <a:gd name="connsiteY66" fmla="*/ 850106 h 1164431"/>
                <a:gd name="connsiteX67" fmla="*/ 69057 w 771525"/>
                <a:gd name="connsiteY67" fmla="*/ 876300 h 1164431"/>
                <a:gd name="connsiteX68" fmla="*/ 45244 w 771525"/>
                <a:gd name="connsiteY68" fmla="*/ 928687 h 1164431"/>
                <a:gd name="connsiteX69" fmla="*/ 33338 w 771525"/>
                <a:gd name="connsiteY69" fmla="*/ 983456 h 1164431"/>
                <a:gd name="connsiteX70" fmla="*/ 2382 w 771525"/>
                <a:gd name="connsiteY70" fmla="*/ 973931 h 1164431"/>
                <a:gd name="connsiteX71" fmla="*/ 0 w 771525"/>
                <a:gd name="connsiteY71" fmla="*/ 1021556 h 1164431"/>
                <a:gd name="connsiteX72" fmla="*/ 16669 w 771525"/>
                <a:gd name="connsiteY72" fmla="*/ 1031081 h 1164431"/>
                <a:gd name="connsiteX73" fmla="*/ 57150 w 771525"/>
                <a:gd name="connsiteY73" fmla="*/ 1040606 h 1164431"/>
                <a:gd name="connsiteX74" fmla="*/ 85725 w 771525"/>
                <a:gd name="connsiteY74" fmla="*/ 1054894 h 1164431"/>
                <a:gd name="connsiteX75" fmla="*/ 102394 w 771525"/>
                <a:gd name="connsiteY75" fmla="*/ 1109662 h 1164431"/>
                <a:gd name="connsiteX76" fmla="*/ 130969 w 771525"/>
                <a:gd name="connsiteY76" fmla="*/ 1135856 h 1164431"/>
                <a:gd name="connsiteX77" fmla="*/ 157163 w 771525"/>
                <a:gd name="connsiteY77" fmla="*/ 1164431 h 1164431"/>
                <a:gd name="connsiteX78" fmla="*/ 185738 w 771525"/>
                <a:gd name="connsiteY78" fmla="*/ 1140619 h 1164431"/>
                <a:gd name="connsiteX79" fmla="*/ 202407 w 771525"/>
                <a:gd name="connsiteY79" fmla="*/ 1131094 h 1164431"/>
                <a:gd name="connsiteX0" fmla="*/ 202407 w 771525"/>
                <a:gd name="connsiteY0" fmla="*/ 1131094 h 1164431"/>
                <a:gd name="connsiteX1" fmla="*/ 221457 w 771525"/>
                <a:gd name="connsiteY1" fmla="*/ 1064419 h 1164431"/>
                <a:gd name="connsiteX2" fmla="*/ 238125 w 771525"/>
                <a:gd name="connsiteY2" fmla="*/ 1042987 h 1164431"/>
                <a:gd name="connsiteX3" fmla="*/ 247650 w 771525"/>
                <a:gd name="connsiteY3" fmla="*/ 1012031 h 1164431"/>
                <a:gd name="connsiteX4" fmla="*/ 283369 w 771525"/>
                <a:gd name="connsiteY4" fmla="*/ 985837 h 1164431"/>
                <a:gd name="connsiteX5" fmla="*/ 319088 w 771525"/>
                <a:gd name="connsiteY5" fmla="*/ 962025 h 1164431"/>
                <a:gd name="connsiteX6" fmla="*/ 350044 w 771525"/>
                <a:gd name="connsiteY6" fmla="*/ 928687 h 1164431"/>
                <a:gd name="connsiteX7" fmla="*/ 354807 w 771525"/>
                <a:gd name="connsiteY7" fmla="*/ 900112 h 1164431"/>
                <a:gd name="connsiteX8" fmla="*/ 321469 w 771525"/>
                <a:gd name="connsiteY8" fmla="*/ 854869 h 1164431"/>
                <a:gd name="connsiteX9" fmla="*/ 323850 w 771525"/>
                <a:gd name="connsiteY9" fmla="*/ 785812 h 1164431"/>
                <a:gd name="connsiteX10" fmla="*/ 280988 w 771525"/>
                <a:gd name="connsiteY10" fmla="*/ 735806 h 1164431"/>
                <a:gd name="connsiteX11" fmla="*/ 288132 w 771525"/>
                <a:gd name="connsiteY11" fmla="*/ 697706 h 1164431"/>
                <a:gd name="connsiteX12" fmla="*/ 316707 w 771525"/>
                <a:gd name="connsiteY12" fmla="*/ 681037 h 1164431"/>
                <a:gd name="connsiteX13" fmla="*/ 330994 w 771525"/>
                <a:gd name="connsiteY13" fmla="*/ 707231 h 1164431"/>
                <a:gd name="connsiteX14" fmla="*/ 354807 w 771525"/>
                <a:gd name="connsiteY14" fmla="*/ 726281 h 1164431"/>
                <a:gd name="connsiteX15" fmla="*/ 369094 w 771525"/>
                <a:gd name="connsiteY15" fmla="*/ 745331 h 1164431"/>
                <a:gd name="connsiteX16" fmla="*/ 378619 w 771525"/>
                <a:gd name="connsiteY16" fmla="*/ 781050 h 1164431"/>
                <a:gd name="connsiteX17" fmla="*/ 395288 w 771525"/>
                <a:gd name="connsiteY17" fmla="*/ 797719 h 1164431"/>
                <a:gd name="connsiteX18" fmla="*/ 409575 w 771525"/>
                <a:gd name="connsiteY18" fmla="*/ 792956 h 1164431"/>
                <a:gd name="connsiteX19" fmla="*/ 426244 w 771525"/>
                <a:gd name="connsiteY19" fmla="*/ 785812 h 1164431"/>
                <a:gd name="connsiteX20" fmla="*/ 423863 w 771525"/>
                <a:gd name="connsiteY20" fmla="*/ 676275 h 1164431"/>
                <a:gd name="connsiteX21" fmla="*/ 409575 w 771525"/>
                <a:gd name="connsiteY21" fmla="*/ 640556 h 1164431"/>
                <a:gd name="connsiteX22" fmla="*/ 411957 w 771525"/>
                <a:gd name="connsiteY22" fmla="*/ 614362 h 1164431"/>
                <a:gd name="connsiteX23" fmla="*/ 426244 w 771525"/>
                <a:gd name="connsiteY23" fmla="*/ 566737 h 1164431"/>
                <a:gd name="connsiteX24" fmla="*/ 473869 w 771525"/>
                <a:gd name="connsiteY24" fmla="*/ 566737 h 1164431"/>
                <a:gd name="connsiteX25" fmla="*/ 488157 w 771525"/>
                <a:gd name="connsiteY25" fmla="*/ 552450 h 1164431"/>
                <a:gd name="connsiteX26" fmla="*/ 509588 w 771525"/>
                <a:gd name="connsiteY26" fmla="*/ 502444 h 1164431"/>
                <a:gd name="connsiteX27" fmla="*/ 604838 w 771525"/>
                <a:gd name="connsiteY27" fmla="*/ 457200 h 1164431"/>
                <a:gd name="connsiteX28" fmla="*/ 628650 w 771525"/>
                <a:gd name="connsiteY28" fmla="*/ 447675 h 1164431"/>
                <a:gd name="connsiteX29" fmla="*/ 638175 w 771525"/>
                <a:gd name="connsiteY29" fmla="*/ 402431 h 1164431"/>
                <a:gd name="connsiteX30" fmla="*/ 638175 w 771525"/>
                <a:gd name="connsiteY30" fmla="*/ 361950 h 1164431"/>
                <a:gd name="connsiteX31" fmla="*/ 640557 w 771525"/>
                <a:gd name="connsiteY31" fmla="*/ 340519 h 1164431"/>
                <a:gd name="connsiteX32" fmla="*/ 652463 w 771525"/>
                <a:gd name="connsiteY32" fmla="*/ 333375 h 1164431"/>
                <a:gd name="connsiteX33" fmla="*/ 742950 w 771525"/>
                <a:gd name="connsiteY33" fmla="*/ 297656 h 1164431"/>
                <a:gd name="connsiteX34" fmla="*/ 766763 w 771525"/>
                <a:gd name="connsiteY34" fmla="*/ 280987 h 1164431"/>
                <a:gd name="connsiteX35" fmla="*/ 754857 w 771525"/>
                <a:gd name="connsiteY35" fmla="*/ 252412 h 1164431"/>
                <a:gd name="connsiteX36" fmla="*/ 742950 w 771525"/>
                <a:gd name="connsiteY36" fmla="*/ 221456 h 1164431"/>
                <a:gd name="connsiteX37" fmla="*/ 771525 w 771525"/>
                <a:gd name="connsiteY37" fmla="*/ 192881 h 1164431"/>
                <a:gd name="connsiteX38" fmla="*/ 752475 w 771525"/>
                <a:gd name="connsiteY38" fmla="*/ 161925 h 1164431"/>
                <a:gd name="connsiteX39" fmla="*/ 752475 w 771525"/>
                <a:gd name="connsiteY39" fmla="*/ 119062 h 1164431"/>
                <a:gd name="connsiteX40" fmla="*/ 719138 w 771525"/>
                <a:gd name="connsiteY40" fmla="*/ 85725 h 1164431"/>
                <a:gd name="connsiteX41" fmla="*/ 671513 w 771525"/>
                <a:gd name="connsiteY41" fmla="*/ 52387 h 1164431"/>
                <a:gd name="connsiteX42" fmla="*/ 645319 w 771525"/>
                <a:gd name="connsiteY42" fmla="*/ 35719 h 1164431"/>
                <a:gd name="connsiteX43" fmla="*/ 642938 w 771525"/>
                <a:gd name="connsiteY43" fmla="*/ 4762 h 1164431"/>
                <a:gd name="connsiteX44" fmla="*/ 609600 w 771525"/>
                <a:gd name="connsiteY44" fmla="*/ 0 h 1164431"/>
                <a:gd name="connsiteX45" fmla="*/ 583407 w 771525"/>
                <a:gd name="connsiteY45" fmla="*/ 23812 h 1164431"/>
                <a:gd name="connsiteX46" fmla="*/ 564357 w 771525"/>
                <a:gd name="connsiteY46" fmla="*/ 19050 h 1164431"/>
                <a:gd name="connsiteX47" fmla="*/ 554832 w 771525"/>
                <a:gd name="connsiteY47" fmla="*/ 42862 h 1164431"/>
                <a:gd name="connsiteX48" fmla="*/ 509588 w 771525"/>
                <a:gd name="connsiteY48" fmla="*/ 76200 h 1164431"/>
                <a:gd name="connsiteX49" fmla="*/ 407194 w 771525"/>
                <a:gd name="connsiteY49" fmla="*/ 114300 h 1164431"/>
                <a:gd name="connsiteX50" fmla="*/ 381000 w 771525"/>
                <a:gd name="connsiteY50" fmla="*/ 152400 h 1164431"/>
                <a:gd name="connsiteX51" fmla="*/ 340519 w 771525"/>
                <a:gd name="connsiteY51" fmla="*/ 140494 h 1164431"/>
                <a:gd name="connsiteX52" fmla="*/ 245269 w 771525"/>
                <a:gd name="connsiteY52" fmla="*/ 145256 h 1164431"/>
                <a:gd name="connsiteX53" fmla="*/ 250032 w 771525"/>
                <a:gd name="connsiteY53" fmla="*/ 154781 h 1164431"/>
                <a:gd name="connsiteX54" fmla="*/ 309563 w 771525"/>
                <a:gd name="connsiteY54" fmla="*/ 204787 h 1164431"/>
                <a:gd name="connsiteX55" fmla="*/ 211932 w 771525"/>
                <a:gd name="connsiteY55" fmla="*/ 328612 h 1164431"/>
                <a:gd name="connsiteX56" fmla="*/ 173832 w 771525"/>
                <a:gd name="connsiteY56" fmla="*/ 319087 h 1164431"/>
                <a:gd name="connsiteX57" fmla="*/ 80963 w 771525"/>
                <a:gd name="connsiteY57" fmla="*/ 452437 h 1164431"/>
                <a:gd name="connsiteX58" fmla="*/ 97632 w 771525"/>
                <a:gd name="connsiteY58" fmla="*/ 464344 h 1164431"/>
                <a:gd name="connsiteX59" fmla="*/ 114300 w 771525"/>
                <a:gd name="connsiteY59" fmla="*/ 504825 h 1164431"/>
                <a:gd name="connsiteX60" fmla="*/ 92869 w 771525"/>
                <a:gd name="connsiteY60" fmla="*/ 566737 h 1164431"/>
                <a:gd name="connsiteX61" fmla="*/ 102394 w 771525"/>
                <a:gd name="connsiteY61" fmla="*/ 640556 h 1164431"/>
                <a:gd name="connsiteX62" fmla="*/ 73819 w 771525"/>
                <a:gd name="connsiteY62" fmla="*/ 678656 h 1164431"/>
                <a:gd name="connsiteX63" fmla="*/ 73819 w 771525"/>
                <a:gd name="connsiteY63" fmla="*/ 704850 h 1164431"/>
                <a:gd name="connsiteX64" fmla="*/ 61913 w 771525"/>
                <a:gd name="connsiteY64" fmla="*/ 733425 h 1164431"/>
                <a:gd name="connsiteX65" fmla="*/ 88107 w 771525"/>
                <a:gd name="connsiteY65" fmla="*/ 762000 h 1164431"/>
                <a:gd name="connsiteX66" fmla="*/ 135732 w 771525"/>
                <a:gd name="connsiteY66" fmla="*/ 850106 h 1164431"/>
                <a:gd name="connsiteX67" fmla="*/ 69057 w 771525"/>
                <a:gd name="connsiteY67" fmla="*/ 876300 h 1164431"/>
                <a:gd name="connsiteX68" fmla="*/ 45244 w 771525"/>
                <a:gd name="connsiteY68" fmla="*/ 928687 h 1164431"/>
                <a:gd name="connsiteX69" fmla="*/ 33338 w 771525"/>
                <a:gd name="connsiteY69" fmla="*/ 983456 h 1164431"/>
                <a:gd name="connsiteX70" fmla="*/ 2382 w 771525"/>
                <a:gd name="connsiteY70" fmla="*/ 973931 h 1164431"/>
                <a:gd name="connsiteX71" fmla="*/ 0 w 771525"/>
                <a:gd name="connsiteY71" fmla="*/ 1021556 h 1164431"/>
                <a:gd name="connsiteX72" fmla="*/ 16669 w 771525"/>
                <a:gd name="connsiteY72" fmla="*/ 1031081 h 1164431"/>
                <a:gd name="connsiteX73" fmla="*/ 57150 w 771525"/>
                <a:gd name="connsiteY73" fmla="*/ 1040606 h 1164431"/>
                <a:gd name="connsiteX74" fmla="*/ 85725 w 771525"/>
                <a:gd name="connsiteY74" fmla="*/ 1054894 h 1164431"/>
                <a:gd name="connsiteX75" fmla="*/ 102394 w 771525"/>
                <a:gd name="connsiteY75" fmla="*/ 1109662 h 1164431"/>
                <a:gd name="connsiteX76" fmla="*/ 130969 w 771525"/>
                <a:gd name="connsiteY76" fmla="*/ 1135856 h 1164431"/>
                <a:gd name="connsiteX77" fmla="*/ 157163 w 771525"/>
                <a:gd name="connsiteY77" fmla="*/ 1164431 h 1164431"/>
                <a:gd name="connsiteX78" fmla="*/ 192882 w 771525"/>
                <a:gd name="connsiteY78" fmla="*/ 1157288 h 1164431"/>
                <a:gd name="connsiteX79" fmla="*/ 202407 w 771525"/>
                <a:gd name="connsiteY79" fmla="*/ 1131094 h 1164431"/>
                <a:gd name="connsiteX0" fmla="*/ 202407 w 771525"/>
                <a:gd name="connsiteY0" fmla="*/ 1164432 h 1197769"/>
                <a:gd name="connsiteX1" fmla="*/ 221457 w 771525"/>
                <a:gd name="connsiteY1" fmla="*/ 1097757 h 1197769"/>
                <a:gd name="connsiteX2" fmla="*/ 238125 w 771525"/>
                <a:gd name="connsiteY2" fmla="*/ 1076325 h 1197769"/>
                <a:gd name="connsiteX3" fmla="*/ 247650 w 771525"/>
                <a:gd name="connsiteY3" fmla="*/ 1045369 h 1197769"/>
                <a:gd name="connsiteX4" fmla="*/ 283369 w 771525"/>
                <a:gd name="connsiteY4" fmla="*/ 1019175 h 1197769"/>
                <a:gd name="connsiteX5" fmla="*/ 319088 w 771525"/>
                <a:gd name="connsiteY5" fmla="*/ 995363 h 1197769"/>
                <a:gd name="connsiteX6" fmla="*/ 350044 w 771525"/>
                <a:gd name="connsiteY6" fmla="*/ 962025 h 1197769"/>
                <a:gd name="connsiteX7" fmla="*/ 354807 w 771525"/>
                <a:gd name="connsiteY7" fmla="*/ 933450 h 1197769"/>
                <a:gd name="connsiteX8" fmla="*/ 321469 w 771525"/>
                <a:gd name="connsiteY8" fmla="*/ 888207 h 1197769"/>
                <a:gd name="connsiteX9" fmla="*/ 323850 w 771525"/>
                <a:gd name="connsiteY9" fmla="*/ 819150 h 1197769"/>
                <a:gd name="connsiteX10" fmla="*/ 280988 w 771525"/>
                <a:gd name="connsiteY10" fmla="*/ 769144 h 1197769"/>
                <a:gd name="connsiteX11" fmla="*/ 288132 w 771525"/>
                <a:gd name="connsiteY11" fmla="*/ 731044 h 1197769"/>
                <a:gd name="connsiteX12" fmla="*/ 316707 w 771525"/>
                <a:gd name="connsiteY12" fmla="*/ 714375 h 1197769"/>
                <a:gd name="connsiteX13" fmla="*/ 330994 w 771525"/>
                <a:gd name="connsiteY13" fmla="*/ 740569 h 1197769"/>
                <a:gd name="connsiteX14" fmla="*/ 354807 w 771525"/>
                <a:gd name="connsiteY14" fmla="*/ 759619 h 1197769"/>
                <a:gd name="connsiteX15" fmla="*/ 369094 w 771525"/>
                <a:gd name="connsiteY15" fmla="*/ 778669 h 1197769"/>
                <a:gd name="connsiteX16" fmla="*/ 378619 w 771525"/>
                <a:gd name="connsiteY16" fmla="*/ 814388 h 1197769"/>
                <a:gd name="connsiteX17" fmla="*/ 395288 w 771525"/>
                <a:gd name="connsiteY17" fmla="*/ 831057 h 1197769"/>
                <a:gd name="connsiteX18" fmla="*/ 409575 w 771525"/>
                <a:gd name="connsiteY18" fmla="*/ 826294 h 1197769"/>
                <a:gd name="connsiteX19" fmla="*/ 426244 w 771525"/>
                <a:gd name="connsiteY19" fmla="*/ 819150 h 1197769"/>
                <a:gd name="connsiteX20" fmla="*/ 423863 w 771525"/>
                <a:gd name="connsiteY20" fmla="*/ 709613 h 1197769"/>
                <a:gd name="connsiteX21" fmla="*/ 409575 w 771525"/>
                <a:gd name="connsiteY21" fmla="*/ 673894 h 1197769"/>
                <a:gd name="connsiteX22" fmla="*/ 411957 w 771525"/>
                <a:gd name="connsiteY22" fmla="*/ 647700 h 1197769"/>
                <a:gd name="connsiteX23" fmla="*/ 426244 w 771525"/>
                <a:gd name="connsiteY23" fmla="*/ 600075 h 1197769"/>
                <a:gd name="connsiteX24" fmla="*/ 473869 w 771525"/>
                <a:gd name="connsiteY24" fmla="*/ 600075 h 1197769"/>
                <a:gd name="connsiteX25" fmla="*/ 488157 w 771525"/>
                <a:gd name="connsiteY25" fmla="*/ 585788 h 1197769"/>
                <a:gd name="connsiteX26" fmla="*/ 509588 w 771525"/>
                <a:gd name="connsiteY26" fmla="*/ 535782 h 1197769"/>
                <a:gd name="connsiteX27" fmla="*/ 604838 w 771525"/>
                <a:gd name="connsiteY27" fmla="*/ 490538 h 1197769"/>
                <a:gd name="connsiteX28" fmla="*/ 628650 w 771525"/>
                <a:gd name="connsiteY28" fmla="*/ 481013 h 1197769"/>
                <a:gd name="connsiteX29" fmla="*/ 638175 w 771525"/>
                <a:gd name="connsiteY29" fmla="*/ 435769 h 1197769"/>
                <a:gd name="connsiteX30" fmla="*/ 638175 w 771525"/>
                <a:gd name="connsiteY30" fmla="*/ 395288 h 1197769"/>
                <a:gd name="connsiteX31" fmla="*/ 640557 w 771525"/>
                <a:gd name="connsiteY31" fmla="*/ 373857 h 1197769"/>
                <a:gd name="connsiteX32" fmla="*/ 652463 w 771525"/>
                <a:gd name="connsiteY32" fmla="*/ 366713 h 1197769"/>
                <a:gd name="connsiteX33" fmla="*/ 742950 w 771525"/>
                <a:gd name="connsiteY33" fmla="*/ 330994 h 1197769"/>
                <a:gd name="connsiteX34" fmla="*/ 766763 w 771525"/>
                <a:gd name="connsiteY34" fmla="*/ 314325 h 1197769"/>
                <a:gd name="connsiteX35" fmla="*/ 754857 w 771525"/>
                <a:gd name="connsiteY35" fmla="*/ 285750 h 1197769"/>
                <a:gd name="connsiteX36" fmla="*/ 742950 w 771525"/>
                <a:gd name="connsiteY36" fmla="*/ 254794 h 1197769"/>
                <a:gd name="connsiteX37" fmla="*/ 771525 w 771525"/>
                <a:gd name="connsiteY37" fmla="*/ 226219 h 1197769"/>
                <a:gd name="connsiteX38" fmla="*/ 752475 w 771525"/>
                <a:gd name="connsiteY38" fmla="*/ 195263 h 1197769"/>
                <a:gd name="connsiteX39" fmla="*/ 752475 w 771525"/>
                <a:gd name="connsiteY39" fmla="*/ 152400 h 1197769"/>
                <a:gd name="connsiteX40" fmla="*/ 719138 w 771525"/>
                <a:gd name="connsiteY40" fmla="*/ 119063 h 1197769"/>
                <a:gd name="connsiteX41" fmla="*/ 671513 w 771525"/>
                <a:gd name="connsiteY41" fmla="*/ 85725 h 1197769"/>
                <a:gd name="connsiteX42" fmla="*/ 645319 w 771525"/>
                <a:gd name="connsiteY42" fmla="*/ 69057 h 1197769"/>
                <a:gd name="connsiteX43" fmla="*/ 642938 w 771525"/>
                <a:gd name="connsiteY43" fmla="*/ 0 h 1197769"/>
                <a:gd name="connsiteX44" fmla="*/ 609600 w 771525"/>
                <a:gd name="connsiteY44" fmla="*/ 33338 h 1197769"/>
                <a:gd name="connsiteX45" fmla="*/ 583407 w 771525"/>
                <a:gd name="connsiteY45" fmla="*/ 57150 h 1197769"/>
                <a:gd name="connsiteX46" fmla="*/ 564357 w 771525"/>
                <a:gd name="connsiteY46" fmla="*/ 52388 h 1197769"/>
                <a:gd name="connsiteX47" fmla="*/ 554832 w 771525"/>
                <a:gd name="connsiteY47" fmla="*/ 76200 h 1197769"/>
                <a:gd name="connsiteX48" fmla="*/ 509588 w 771525"/>
                <a:gd name="connsiteY48" fmla="*/ 109538 h 1197769"/>
                <a:gd name="connsiteX49" fmla="*/ 407194 w 771525"/>
                <a:gd name="connsiteY49" fmla="*/ 147638 h 1197769"/>
                <a:gd name="connsiteX50" fmla="*/ 381000 w 771525"/>
                <a:gd name="connsiteY50" fmla="*/ 185738 h 1197769"/>
                <a:gd name="connsiteX51" fmla="*/ 340519 w 771525"/>
                <a:gd name="connsiteY51" fmla="*/ 173832 h 1197769"/>
                <a:gd name="connsiteX52" fmla="*/ 245269 w 771525"/>
                <a:gd name="connsiteY52" fmla="*/ 178594 h 1197769"/>
                <a:gd name="connsiteX53" fmla="*/ 250032 w 771525"/>
                <a:gd name="connsiteY53" fmla="*/ 188119 h 1197769"/>
                <a:gd name="connsiteX54" fmla="*/ 309563 w 771525"/>
                <a:gd name="connsiteY54" fmla="*/ 238125 h 1197769"/>
                <a:gd name="connsiteX55" fmla="*/ 211932 w 771525"/>
                <a:gd name="connsiteY55" fmla="*/ 361950 h 1197769"/>
                <a:gd name="connsiteX56" fmla="*/ 173832 w 771525"/>
                <a:gd name="connsiteY56" fmla="*/ 352425 h 1197769"/>
                <a:gd name="connsiteX57" fmla="*/ 80963 w 771525"/>
                <a:gd name="connsiteY57" fmla="*/ 485775 h 1197769"/>
                <a:gd name="connsiteX58" fmla="*/ 97632 w 771525"/>
                <a:gd name="connsiteY58" fmla="*/ 497682 h 1197769"/>
                <a:gd name="connsiteX59" fmla="*/ 114300 w 771525"/>
                <a:gd name="connsiteY59" fmla="*/ 538163 h 1197769"/>
                <a:gd name="connsiteX60" fmla="*/ 92869 w 771525"/>
                <a:gd name="connsiteY60" fmla="*/ 600075 h 1197769"/>
                <a:gd name="connsiteX61" fmla="*/ 102394 w 771525"/>
                <a:gd name="connsiteY61" fmla="*/ 673894 h 1197769"/>
                <a:gd name="connsiteX62" fmla="*/ 73819 w 771525"/>
                <a:gd name="connsiteY62" fmla="*/ 711994 h 1197769"/>
                <a:gd name="connsiteX63" fmla="*/ 73819 w 771525"/>
                <a:gd name="connsiteY63" fmla="*/ 738188 h 1197769"/>
                <a:gd name="connsiteX64" fmla="*/ 61913 w 771525"/>
                <a:gd name="connsiteY64" fmla="*/ 766763 h 1197769"/>
                <a:gd name="connsiteX65" fmla="*/ 88107 w 771525"/>
                <a:gd name="connsiteY65" fmla="*/ 795338 h 1197769"/>
                <a:gd name="connsiteX66" fmla="*/ 135732 w 771525"/>
                <a:gd name="connsiteY66" fmla="*/ 883444 h 1197769"/>
                <a:gd name="connsiteX67" fmla="*/ 69057 w 771525"/>
                <a:gd name="connsiteY67" fmla="*/ 909638 h 1197769"/>
                <a:gd name="connsiteX68" fmla="*/ 45244 w 771525"/>
                <a:gd name="connsiteY68" fmla="*/ 962025 h 1197769"/>
                <a:gd name="connsiteX69" fmla="*/ 33338 w 771525"/>
                <a:gd name="connsiteY69" fmla="*/ 1016794 h 1197769"/>
                <a:gd name="connsiteX70" fmla="*/ 2382 w 771525"/>
                <a:gd name="connsiteY70" fmla="*/ 1007269 h 1197769"/>
                <a:gd name="connsiteX71" fmla="*/ 0 w 771525"/>
                <a:gd name="connsiteY71" fmla="*/ 1054894 h 1197769"/>
                <a:gd name="connsiteX72" fmla="*/ 16669 w 771525"/>
                <a:gd name="connsiteY72" fmla="*/ 1064419 h 1197769"/>
                <a:gd name="connsiteX73" fmla="*/ 57150 w 771525"/>
                <a:gd name="connsiteY73" fmla="*/ 1073944 h 1197769"/>
                <a:gd name="connsiteX74" fmla="*/ 85725 w 771525"/>
                <a:gd name="connsiteY74" fmla="*/ 1088232 h 1197769"/>
                <a:gd name="connsiteX75" fmla="*/ 102394 w 771525"/>
                <a:gd name="connsiteY75" fmla="*/ 1143000 h 1197769"/>
                <a:gd name="connsiteX76" fmla="*/ 130969 w 771525"/>
                <a:gd name="connsiteY76" fmla="*/ 1169194 h 1197769"/>
                <a:gd name="connsiteX77" fmla="*/ 157163 w 771525"/>
                <a:gd name="connsiteY77" fmla="*/ 1197769 h 1197769"/>
                <a:gd name="connsiteX78" fmla="*/ 192882 w 771525"/>
                <a:gd name="connsiteY78" fmla="*/ 1190626 h 1197769"/>
                <a:gd name="connsiteX79" fmla="*/ 202407 w 771525"/>
                <a:gd name="connsiteY79" fmla="*/ 1164432 h 1197769"/>
                <a:gd name="connsiteX0" fmla="*/ 202407 w 771525"/>
                <a:gd name="connsiteY0" fmla="*/ 1164432 h 1197769"/>
                <a:gd name="connsiteX1" fmla="*/ 221457 w 771525"/>
                <a:gd name="connsiteY1" fmla="*/ 1097757 h 1197769"/>
                <a:gd name="connsiteX2" fmla="*/ 238125 w 771525"/>
                <a:gd name="connsiteY2" fmla="*/ 1076325 h 1197769"/>
                <a:gd name="connsiteX3" fmla="*/ 247650 w 771525"/>
                <a:gd name="connsiteY3" fmla="*/ 1045369 h 1197769"/>
                <a:gd name="connsiteX4" fmla="*/ 283369 w 771525"/>
                <a:gd name="connsiteY4" fmla="*/ 1019175 h 1197769"/>
                <a:gd name="connsiteX5" fmla="*/ 319088 w 771525"/>
                <a:gd name="connsiteY5" fmla="*/ 995363 h 1197769"/>
                <a:gd name="connsiteX6" fmla="*/ 350044 w 771525"/>
                <a:gd name="connsiteY6" fmla="*/ 962025 h 1197769"/>
                <a:gd name="connsiteX7" fmla="*/ 354807 w 771525"/>
                <a:gd name="connsiteY7" fmla="*/ 933450 h 1197769"/>
                <a:gd name="connsiteX8" fmla="*/ 321469 w 771525"/>
                <a:gd name="connsiteY8" fmla="*/ 888207 h 1197769"/>
                <a:gd name="connsiteX9" fmla="*/ 323850 w 771525"/>
                <a:gd name="connsiteY9" fmla="*/ 819150 h 1197769"/>
                <a:gd name="connsiteX10" fmla="*/ 280988 w 771525"/>
                <a:gd name="connsiteY10" fmla="*/ 769144 h 1197769"/>
                <a:gd name="connsiteX11" fmla="*/ 288132 w 771525"/>
                <a:gd name="connsiteY11" fmla="*/ 731044 h 1197769"/>
                <a:gd name="connsiteX12" fmla="*/ 316707 w 771525"/>
                <a:gd name="connsiteY12" fmla="*/ 714375 h 1197769"/>
                <a:gd name="connsiteX13" fmla="*/ 330994 w 771525"/>
                <a:gd name="connsiteY13" fmla="*/ 740569 h 1197769"/>
                <a:gd name="connsiteX14" fmla="*/ 354807 w 771525"/>
                <a:gd name="connsiteY14" fmla="*/ 759619 h 1197769"/>
                <a:gd name="connsiteX15" fmla="*/ 369094 w 771525"/>
                <a:gd name="connsiteY15" fmla="*/ 778669 h 1197769"/>
                <a:gd name="connsiteX16" fmla="*/ 378619 w 771525"/>
                <a:gd name="connsiteY16" fmla="*/ 814388 h 1197769"/>
                <a:gd name="connsiteX17" fmla="*/ 395288 w 771525"/>
                <a:gd name="connsiteY17" fmla="*/ 831057 h 1197769"/>
                <a:gd name="connsiteX18" fmla="*/ 409575 w 771525"/>
                <a:gd name="connsiteY18" fmla="*/ 826294 h 1197769"/>
                <a:gd name="connsiteX19" fmla="*/ 426244 w 771525"/>
                <a:gd name="connsiteY19" fmla="*/ 819150 h 1197769"/>
                <a:gd name="connsiteX20" fmla="*/ 423863 w 771525"/>
                <a:gd name="connsiteY20" fmla="*/ 709613 h 1197769"/>
                <a:gd name="connsiteX21" fmla="*/ 409575 w 771525"/>
                <a:gd name="connsiteY21" fmla="*/ 673894 h 1197769"/>
                <a:gd name="connsiteX22" fmla="*/ 411957 w 771525"/>
                <a:gd name="connsiteY22" fmla="*/ 647700 h 1197769"/>
                <a:gd name="connsiteX23" fmla="*/ 426244 w 771525"/>
                <a:gd name="connsiteY23" fmla="*/ 600075 h 1197769"/>
                <a:gd name="connsiteX24" fmla="*/ 473869 w 771525"/>
                <a:gd name="connsiteY24" fmla="*/ 600075 h 1197769"/>
                <a:gd name="connsiteX25" fmla="*/ 488157 w 771525"/>
                <a:gd name="connsiteY25" fmla="*/ 585788 h 1197769"/>
                <a:gd name="connsiteX26" fmla="*/ 509588 w 771525"/>
                <a:gd name="connsiteY26" fmla="*/ 535782 h 1197769"/>
                <a:gd name="connsiteX27" fmla="*/ 604838 w 771525"/>
                <a:gd name="connsiteY27" fmla="*/ 490538 h 1197769"/>
                <a:gd name="connsiteX28" fmla="*/ 628650 w 771525"/>
                <a:gd name="connsiteY28" fmla="*/ 481013 h 1197769"/>
                <a:gd name="connsiteX29" fmla="*/ 638175 w 771525"/>
                <a:gd name="connsiteY29" fmla="*/ 435769 h 1197769"/>
                <a:gd name="connsiteX30" fmla="*/ 638175 w 771525"/>
                <a:gd name="connsiteY30" fmla="*/ 395288 h 1197769"/>
                <a:gd name="connsiteX31" fmla="*/ 640557 w 771525"/>
                <a:gd name="connsiteY31" fmla="*/ 373857 h 1197769"/>
                <a:gd name="connsiteX32" fmla="*/ 652463 w 771525"/>
                <a:gd name="connsiteY32" fmla="*/ 366713 h 1197769"/>
                <a:gd name="connsiteX33" fmla="*/ 742950 w 771525"/>
                <a:gd name="connsiteY33" fmla="*/ 330994 h 1197769"/>
                <a:gd name="connsiteX34" fmla="*/ 766763 w 771525"/>
                <a:gd name="connsiteY34" fmla="*/ 314325 h 1197769"/>
                <a:gd name="connsiteX35" fmla="*/ 754857 w 771525"/>
                <a:gd name="connsiteY35" fmla="*/ 285750 h 1197769"/>
                <a:gd name="connsiteX36" fmla="*/ 742950 w 771525"/>
                <a:gd name="connsiteY36" fmla="*/ 254794 h 1197769"/>
                <a:gd name="connsiteX37" fmla="*/ 771525 w 771525"/>
                <a:gd name="connsiteY37" fmla="*/ 226219 h 1197769"/>
                <a:gd name="connsiteX38" fmla="*/ 752475 w 771525"/>
                <a:gd name="connsiteY38" fmla="*/ 195263 h 1197769"/>
                <a:gd name="connsiteX39" fmla="*/ 752475 w 771525"/>
                <a:gd name="connsiteY39" fmla="*/ 152400 h 1197769"/>
                <a:gd name="connsiteX40" fmla="*/ 719138 w 771525"/>
                <a:gd name="connsiteY40" fmla="*/ 119063 h 1197769"/>
                <a:gd name="connsiteX41" fmla="*/ 695325 w 771525"/>
                <a:gd name="connsiteY41" fmla="*/ 97632 h 1197769"/>
                <a:gd name="connsiteX42" fmla="*/ 671513 w 771525"/>
                <a:gd name="connsiteY42" fmla="*/ 85725 h 1197769"/>
                <a:gd name="connsiteX43" fmla="*/ 645319 w 771525"/>
                <a:gd name="connsiteY43" fmla="*/ 69057 h 1197769"/>
                <a:gd name="connsiteX44" fmla="*/ 642938 w 771525"/>
                <a:gd name="connsiteY44" fmla="*/ 0 h 1197769"/>
                <a:gd name="connsiteX45" fmla="*/ 609600 w 771525"/>
                <a:gd name="connsiteY45" fmla="*/ 33338 h 1197769"/>
                <a:gd name="connsiteX46" fmla="*/ 583407 w 771525"/>
                <a:gd name="connsiteY46" fmla="*/ 57150 h 1197769"/>
                <a:gd name="connsiteX47" fmla="*/ 564357 w 771525"/>
                <a:gd name="connsiteY47" fmla="*/ 52388 h 1197769"/>
                <a:gd name="connsiteX48" fmla="*/ 554832 w 771525"/>
                <a:gd name="connsiteY48" fmla="*/ 76200 h 1197769"/>
                <a:gd name="connsiteX49" fmla="*/ 509588 w 771525"/>
                <a:gd name="connsiteY49" fmla="*/ 109538 h 1197769"/>
                <a:gd name="connsiteX50" fmla="*/ 407194 w 771525"/>
                <a:gd name="connsiteY50" fmla="*/ 147638 h 1197769"/>
                <a:gd name="connsiteX51" fmla="*/ 381000 w 771525"/>
                <a:gd name="connsiteY51" fmla="*/ 185738 h 1197769"/>
                <a:gd name="connsiteX52" fmla="*/ 340519 w 771525"/>
                <a:gd name="connsiteY52" fmla="*/ 173832 h 1197769"/>
                <a:gd name="connsiteX53" fmla="*/ 245269 w 771525"/>
                <a:gd name="connsiteY53" fmla="*/ 178594 h 1197769"/>
                <a:gd name="connsiteX54" fmla="*/ 250032 w 771525"/>
                <a:gd name="connsiteY54" fmla="*/ 188119 h 1197769"/>
                <a:gd name="connsiteX55" fmla="*/ 309563 w 771525"/>
                <a:gd name="connsiteY55" fmla="*/ 238125 h 1197769"/>
                <a:gd name="connsiteX56" fmla="*/ 211932 w 771525"/>
                <a:gd name="connsiteY56" fmla="*/ 361950 h 1197769"/>
                <a:gd name="connsiteX57" fmla="*/ 173832 w 771525"/>
                <a:gd name="connsiteY57" fmla="*/ 352425 h 1197769"/>
                <a:gd name="connsiteX58" fmla="*/ 80963 w 771525"/>
                <a:gd name="connsiteY58" fmla="*/ 485775 h 1197769"/>
                <a:gd name="connsiteX59" fmla="*/ 97632 w 771525"/>
                <a:gd name="connsiteY59" fmla="*/ 497682 h 1197769"/>
                <a:gd name="connsiteX60" fmla="*/ 114300 w 771525"/>
                <a:gd name="connsiteY60" fmla="*/ 538163 h 1197769"/>
                <a:gd name="connsiteX61" fmla="*/ 92869 w 771525"/>
                <a:gd name="connsiteY61" fmla="*/ 600075 h 1197769"/>
                <a:gd name="connsiteX62" fmla="*/ 102394 w 771525"/>
                <a:gd name="connsiteY62" fmla="*/ 673894 h 1197769"/>
                <a:gd name="connsiteX63" fmla="*/ 73819 w 771525"/>
                <a:gd name="connsiteY63" fmla="*/ 711994 h 1197769"/>
                <a:gd name="connsiteX64" fmla="*/ 73819 w 771525"/>
                <a:gd name="connsiteY64" fmla="*/ 738188 h 1197769"/>
                <a:gd name="connsiteX65" fmla="*/ 61913 w 771525"/>
                <a:gd name="connsiteY65" fmla="*/ 766763 h 1197769"/>
                <a:gd name="connsiteX66" fmla="*/ 88107 w 771525"/>
                <a:gd name="connsiteY66" fmla="*/ 795338 h 1197769"/>
                <a:gd name="connsiteX67" fmla="*/ 135732 w 771525"/>
                <a:gd name="connsiteY67" fmla="*/ 883444 h 1197769"/>
                <a:gd name="connsiteX68" fmla="*/ 69057 w 771525"/>
                <a:gd name="connsiteY68" fmla="*/ 909638 h 1197769"/>
                <a:gd name="connsiteX69" fmla="*/ 45244 w 771525"/>
                <a:gd name="connsiteY69" fmla="*/ 962025 h 1197769"/>
                <a:gd name="connsiteX70" fmla="*/ 33338 w 771525"/>
                <a:gd name="connsiteY70" fmla="*/ 1016794 h 1197769"/>
                <a:gd name="connsiteX71" fmla="*/ 2382 w 771525"/>
                <a:gd name="connsiteY71" fmla="*/ 1007269 h 1197769"/>
                <a:gd name="connsiteX72" fmla="*/ 0 w 771525"/>
                <a:gd name="connsiteY72" fmla="*/ 1054894 h 1197769"/>
                <a:gd name="connsiteX73" fmla="*/ 16669 w 771525"/>
                <a:gd name="connsiteY73" fmla="*/ 1064419 h 1197769"/>
                <a:gd name="connsiteX74" fmla="*/ 57150 w 771525"/>
                <a:gd name="connsiteY74" fmla="*/ 1073944 h 1197769"/>
                <a:gd name="connsiteX75" fmla="*/ 85725 w 771525"/>
                <a:gd name="connsiteY75" fmla="*/ 1088232 h 1197769"/>
                <a:gd name="connsiteX76" fmla="*/ 102394 w 771525"/>
                <a:gd name="connsiteY76" fmla="*/ 1143000 h 1197769"/>
                <a:gd name="connsiteX77" fmla="*/ 130969 w 771525"/>
                <a:gd name="connsiteY77" fmla="*/ 1169194 h 1197769"/>
                <a:gd name="connsiteX78" fmla="*/ 157163 w 771525"/>
                <a:gd name="connsiteY78" fmla="*/ 1197769 h 1197769"/>
                <a:gd name="connsiteX79" fmla="*/ 192882 w 771525"/>
                <a:gd name="connsiteY79" fmla="*/ 1190626 h 1197769"/>
                <a:gd name="connsiteX80" fmla="*/ 202407 w 771525"/>
                <a:gd name="connsiteY80" fmla="*/ 1164432 h 1197769"/>
                <a:gd name="connsiteX0" fmla="*/ 202407 w 771525"/>
                <a:gd name="connsiteY0" fmla="*/ 1164432 h 1197769"/>
                <a:gd name="connsiteX1" fmla="*/ 221457 w 771525"/>
                <a:gd name="connsiteY1" fmla="*/ 1097757 h 1197769"/>
                <a:gd name="connsiteX2" fmla="*/ 238125 w 771525"/>
                <a:gd name="connsiteY2" fmla="*/ 1076325 h 1197769"/>
                <a:gd name="connsiteX3" fmla="*/ 247650 w 771525"/>
                <a:gd name="connsiteY3" fmla="*/ 1045369 h 1197769"/>
                <a:gd name="connsiteX4" fmla="*/ 283369 w 771525"/>
                <a:gd name="connsiteY4" fmla="*/ 1019175 h 1197769"/>
                <a:gd name="connsiteX5" fmla="*/ 319088 w 771525"/>
                <a:gd name="connsiteY5" fmla="*/ 995363 h 1197769"/>
                <a:gd name="connsiteX6" fmla="*/ 350044 w 771525"/>
                <a:gd name="connsiteY6" fmla="*/ 962025 h 1197769"/>
                <a:gd name="connsiteX7" fmla="*/ 354807 w 771525"/>
                <a:gd name="connsiteY7" fmla="*/ 933450 h 1197769"/>
                <a:gd name="connsiteX8" fmla="*/ 321469 w 771525"/>
                <a:gd name="connsiteY8" fmla="*/ 888207 h 1197769"/>
                <a:gd name="connsiteX9" fmla="*/ 323850 w 771525"/>
                <a:gd name="connsiteY9" fmla="*/ 819150 h 1197769"/>
                <a:gd name="connsiteX10" fmla="*/ 280988 w 771525"/>
                <a:gd name="connsiteY10" fmla="*/ 769144 h 1197769"/>
                <a:gd name="connsiteX11" fmla="*/ 288132 w 771525"/>
                <a:gd name="connsiteY11" fmla="*/ 731044 h 1197769"/>
                <a:gd name="connsiteX12" fmla="*/ 316707 w 771525"/>
                <a:gd name="connsiteY12" fmla="*/ 714375 h 1197769"/>
                <a:gd name="connsiteX13" fmla="*/ 330994 w 771525"/>
                <a:gd name="connsiteY13" fmla="*/ 740569 h 1197769"/>
                <a:gd name="connsiteX14" fmla="*/ 354807 w 771525"/>
                <a:gd name="connsiteY14" fmla="*/ 759619 h 1197769"/>
                <a:gd name="connsiteX15" fmla="*/ 369094 w 771525"/>
                <a:gd name="connsiteY15" fmla="*/ 778669 h 1197769"/>
                <a:gd name="connsiteX16" fmla="*/ 378619 w 771525"/>
                <a:gd name="connsiteY16" fmla="*/ 814388 h 1197769"/>
                <a:gd name="connsiteX17" fmla="*/ 395288 w 771525"/>
                <a:gd name="connsiteY17" fmla="*/ 831057 h 1197769"/>
                <a:gd name="connsiteX18" fmla="*/ 409575 w 771525"/>
                <a:gd name="connsiteY18" fmla="*/ 826294 h 1197769"/>
                <a:gd name="connsiteX19" fmla="*/ 426244 w 771525"/>
                <a:gd name="connsiteY19" fmla="*/ 819150 h 1197769"/>
                <a:gd name="connsiteX20" fmla="*/ 423863 w 771525"/>
                <a:gd name="connsiteY20" fmla="*/ 709613 h 1197769"/>
                <a:gd name="connsiteX21" fmla="*/ 409575 w 771525"/>
                <a:gd name="connsiteY21" fmla="*/ 673894 h 1197769"/>
                <a:gd name="connsiteX22" fmla="*/ 411957 w 771525"/>
                <a:gd name="connsiteY22" fmla="*/ 647700 h 1197769"/>
                <a:gd name="connsiteX23" fmla="*/ 426244 w 771525"/>
                <a:gd name="connsiteY23" fmla="*/ 600075 h 1197769"/>
                <a:gd name="connsiteX24" fmla="*/ 473869 w 771525"/>
                <a:gd name="connsiteY24" fmla="*/ 600075 h 1197769"/>
                <a:gd name="connsiteX25" fmla="*/ 488157 w 771525"/>
                <a:gd name="connsiteY25" fmla="*/ 585788 h 1197769"/>
                <a:gd name="connsiteX26" fmla="*/ 509588 w 771525"/>
                <a:gd name="connsiteY26" fmla="*/ 535782 h 1197769"/>
                <a:gd name="connsiteX27" fmla="*/ 604838 w 771525"/>
                <a:gd name="connsiteY27" fmla="*/ 490538 h 1197769"/>
                <a:gd name="connsiteX28" fmla="*/ 628650 w 771525"/>
                <a:gd name="connsiteY28" fmla="*/ 481013 h 1197769"/>
                <a:gd name="connsiteX29" fmla="*/ 638175 w 771525"/>
                <a:gd name="connsiteY29" fmla="*/ 435769 h 1197769"/>
                <a:gd name="connsiteX30" fmla="*/ 638175 w 771525"/>
                <a:gd name="connsiteY30" fmla="*/ 395288 h 1197769"/>
                <a:gd name="connsiteX31" fmla="*/ 640557 w 771525"/>
                <a:gd name="connsiteY31" fmla="*/ 373857 h 1197769"/>
                <a:gd name="connsiteX32" fmla="*/ 652463 w 771525"/>
                <a:gd name="connsiteY32" fmla="*/ 366713 h 1197769"/>
                <a:gd name="connsiteX33" fmla="*/ 742950 w 771525"/>
                <a:gd name="connsiteY33" fmla="*/ 330994 h 1197769"/>
                <a:gd name="connsiteX34" fmla="*/ 766763 w 771525"/>
                <a:gd name="connsiteY34" fmla="*/ 314325 h 1197769"/>
                <a:gd name="connsiteX35" fmla="*/ 754857 w 771525"/>
                <a:gd name="connsiteY35" fmla="*/ 285750 h 1197769"/>
                <a:gd name="connsiteX36" fmla="*/ 742950 w 771525"/>
                <a:gd name="connsiteY36" fmla="*/ 254794 h 1197769"/>
                <a:gd name="connsiteX37" fmla="*/ 771525 w 771525"/>
                <a:gd name="connsiteY37" fmla="*/ 226219 h 1197769"/>
                <a:gd name="connsiteX38" fmla="*/ 752475 w 771525"/>
                <a:gd name="connsiteY38" fmla="*/ 195263 h 1197769"/>
                <a:gd name="connsiteX39" fmla="*/ 752475 w 771525"/>
                <a:gd name="connsiteY39" fmla="*/ 152400 h 1197769"/>
                <a:gd name="connsiteX40" fmla="*/ 719138 w 771525"/>
                <a:gd name="connsiteY40" fmla="*/ 119063 h 1197769"/>
                <a:gd name="connsiteX41" fmla="*/ 707231 w 771525"/>
                <a:gd name="connsiteY41" fmla="*/ 92870 h 1197769"/>
                <a:gd name="connsiteX42" fmla="*/ 671513 w 771525"/>
                <a:gd name="connsiteY42" fmla="*/ 85725 h 1197769"/>
                <a:gd name="connsiteX43" fmla="*/ 645319 w 771525"/>
                <a:gd name="connsiteY43" fmla="*/ 69057 h 1197769"/>
                <a:gd name="connsiteX44" fmla="*/ 642938 w 771525"/>
                <a:gd name="connsiteY44" fmla="*/ 0 h 1197769"/>
                <a:gd name="connsiteX45" fmla="*/ 609600 w 771525"/>
                <a:gd name="connsiteY45" fmla="*/ 33338 h 1197769"/>
                <a:gd name="connsiteX46" fmla="*/ 583407 w 771525"/>
                <a:gd name="connsiteY46" fmla="*/ 57150 h 1197769"/>
                <a:gd name="connsiteX47" fmla="*/ 564357 w 771525"/>
                <a:gd name="connsiteY47" fmla="*/ 52388 h 1197769"/>
                <a:gd name="connsiteX48" fmla="*/ 554832 w 771525"/>
                <a:gd name="connsiteY48" fmla="*/ 76200 h 1197769"/>
                <a:gd name="connsiteX49" fmla="*/ 509588 w 771525"/>
                <a:gd name="connsiteY49" fmla="*/ 109538 h 1197769"/>
                <a:gd name="connsiteX50" fmla="*/ 407194 w 771525"/>
                <a:gd name="connsiteY50" fmla="*/ 147638 h 1197769"/>
                <a:gd name="connsiteX51" fmla="*/ 381000 w 771525"/>
                <a:gd name="connsiteY51" fmla="*/ 185738 h 1197769"/>
                <a:gd name="connsiteX52" fmla="*/ 340519 w 771525"/>
                <a:gd name="connsiteY52" fmla="*/ 173832 h 1197769"/>
                <a:gd name="connsiteX53" fmla="*/ 245269 w 771525"/>
                <a:gd name="connsiteY53" fmla="*/ 178594 h 1197769"/>
                <a:gd name="connsiteX54" fmla="*/ 250032 w 771525"/>
                <a:gd name="connsiteY54" fmla="*/ 188119 h 1197769"/>
                <a:gd name="connsiteX55" fmla="*/ 309563 w 771525"/>
                <a:gd name="connsiteY55" fmla="*/ 238125 h 1197769"/>
                <a:gd name="connsiteX56" fmla="*/ 211932 w 771525"/>
                <a:gd name="connsiteY56" fmla="*/ 361950 h 1197769"/>
                <a:gd name="connsiteX57" fmla="*/ 173832 w 771525"/>
                <a:gd name="connsiteY57" fmla="*/ 352425 h 1197769"/>
                <a:gd name="connsiteX58" fmla="*/ 80963 w 771525"/>
                <a:gd name="connsiteY58" fmla="*/ 485775 h 1197769"/>
                <a:gd name="connsiteX59" fmla="*/ 97632 w 771525"/>
                <a:gd name="connsiteY59" fmla="*/ 497682 h 1197769"/>
                <a:gd name="connsiteX60" fmla="*/ 114300 w 771525"/>
                <a:gd name="connsiteY60" fmla="*/ 538163 h 1197769"/>
                <a:gd name="connsiteX61" fmla="*/ 92869 w 771525"/>
                <a:gd name="connsiteY61" fmla="*/ 600075 h 1197769"/>
                <a:gd name="connsiteX62" fmla="*/ 102394 w 771525"/>
                <a:gd name="connsiteY62" fmla="*/ 673894 h 1197769"/>
                <a:gd name="connsiteX63" fmla="*/ 73819 w 771525"/>
                <a:gd name="connsiteY63" fmla="*/ 711994 h 1197769"/>
                <a:gd name="connsiteX64" fmla="*/ 73819 w 771525"/>
                <a:gd name="connsiteY64" fmla="*/ 738188 h 1197769"/>
                <a:gd name="connsiteX65" fmla="*/ 61913 w 771525"/>
                <a:gd name="connsiteY65" fmla="*/ 766763 h 1197769"/>
                <a:gd name="connsiteX66" fmla="*/ 88107 w 771525"/>
                <a:gd name="connsiteY66" fmla="*/ 795338 h 1197769"/>
                <a:gd name="connsiteX67" fmla="*/ 135732 w 771525"/>
                <a:gd name="connsiteY67" fmla="*/ 883444 h 1197769"/>
                <a:gd name="connsiteX68" fmla="*/ 69057 w 771525"/>
                <a:gd name="connsiteY68" fmla="*/ 909638 h 1197769"/>
                <a:gd name="connsiteX69" fmla="*/ 45244 w 771525"/>
                <a:gd name="connsiteY69" fmla="*/ 962025 h 1197769"/>
                <a:gd name="connsiteX70" fmla="*/ 33338 w 771525"/>
                <a:gd name="connsiteY70" fmla="*/ 1016794 h 1197769"/>
                <a:gd name="connsiteX71" fmla="*/ 2382 w 771525"/>
                <a:gd name="connsiteY71" fmla="*/ 1007269 h 1197769"/>
                <a:gd name="connsiteX72" fmla="*/ 0 w 771525"/>
                <a:gd name="connsiteY72" fmla="*/ 1054894 h 1197769"/>
                <a:gd name="connsiteX73" fmla="*/ 16669 w 771525"/>
                <a:gd name="connsiteY73" fmla="*/ 1064419 h 1197769"/>
                <a:gd name="connsiteX74" fmla="*/ 57150 w 771525"/>
                <a:gd name="connsiteY74" fmla="*/ 1073944 h 1197769"/>
                <a:gd name="connsiteX75" fmla="*/ 85725 w 771525"/>
                <a:gd name="connsiteY75" fmla="*/ 1088232 h 1197769"/>
                <a:gd name="connsiteX76" fmla="*/ 102394 w 771525"/>
                <a:gd name="connsiteY76" fmla="*/ 1143000 h 1197769"/>
                <a:gd name="connsiteX77" fmla="*/ 130969 w 771525"/>
                <a:gd name="connsiteY77" fmla="*/ 1169194 h 1197769"/>
                <a:gd name="connsiteX78" fmla="*/ 157163 w 771525"/>
                <a:gd name="connsiteY78" fmla="*/ 1197769 h 1197769"/>
                <a:gd name="connsiteX79" fmla="*/ 192882 w 771525"/>
                <a:gd name="connsiteY79" fmla="*/ 1190626 h 1197769"/>
                <a:gd name="connsiteX80" fmla="*/ 202407 w 771525"/>
                <a:gd name="connsiteY80" fmla="*/ 1164432 h 119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771525" h="1197769">
                  <a:moveTo>
                    <a:pt x="202407" y="1164432"/>
                  </a:moveTo>
                  <a:lnTo>
                    <a:pt x="221457" y="1097757"/>
                  </a:lnTo>
                  <a:lnTo>
                    <a:pt x="238125" y="1076325"/>
                  </a:lnTo>
                  <a:lnTo>
                    <a:pt x="247650" y="1045369"/>
                  </a:lnTo>
                  <a:lnTo>
                    <a:pt x="283369" y="1019175"/>
                  </a:lnTo>
                  <a:lnTo>
                    <a:pt x="319088" y="995363"/>
                  </a:lnTo>
                  <a:lnTo>
                    <a:pt x="350044" y="962025"/>
                  </a:lnTo>
                  <a:lnTo>
                    <a:pt x="354807" y="933450"/>
                  </a:lnTo>
                  <a:lnTo>
                    <a:pt x="321469" y="888207"/>
                  </a:lnTo>
                  <a:cubicBezTo>
                    <a:pt x="322263" y="865188"/>
                    <a:pt x="323056" y="842169"/>
                    <a:pt x="323850" y="819150"/>
                  </a:cubicBezTo>
                  <a:lnTo>
                    <a:pt x="280988" y="769144"/>
                  </a:lnTo>
                  <a:lnTo>
                    <a:pt x="288132" y="731044"/>
                  </a:lnTo>
                  <a:lnTo>
                    <a:pt x="316707" y="714375"/>
                  </a:lnTo>
                  <a:lnTo>
                    <a:pt x="330994" y="740569"/>
                  </a:lnTo>
                  <a:lnTo>
                    <a:pt x="354807" y="759619"/>
                  </a:lnTo>
                  <a:lnTo>
                    <a:pt x="369094" y="778669"/>
                  </a:lnTo>
                  <a:lnTo>
                    <a:pt x="378619" y="814388"/>
                  </a:lnTo>
                  <a:lnTo>
                    <a:pt x="395288" y="831057"/>
                  </a:lnTo>
                  <a:lnTo>
                    <a:pt x="409575" y="826294"/>
                  </a:lnTo>
                  <a:lnTo>
                    <a:pt x="426244" y="819150"/>
                  </a:lnTo>
                  <a:cubicBezTo>
                    <a:pt x="425450" y="782638"/>
                    <a:pt x="424657" y="746125"/>
                    <a:pt x="423863" y="709613"/>
                  </a:cubicBezTo>
                  <a:lnTo>
                    <a:pt x="409575" y="673894"/>
                  </a:lnTo>
                  <a:lnTo>
                    <a:pt x="411957" y="647700"/>
                  </a:lnTo>
                  <a:lnTo>
                    <a:pt x="426244" y="600075"/>
                  </a:lnTo>
                  <a:lnTo>
                    <a:pt x="473869" y="600075"/>
                  </a:lnTo>
                  <a:lnTo>
                    <a:pt x="488157" y="585788"/>
                  </a:lnTo>
                  <a:lnTo>
                    <a:pt x="509588" y="535782"/>
                  </a:lnTo>
                  <a:lnTo>
                    <a:pt x="604838" y="490538"/>
                  </a:lnTo>
                  <a:lnTo>
                    <a:pt x="628650" y="481013"/>
                  </a:lnTo>
                  <a:lnTo>
                    <a:pt x="638175" y="435769"/>
                  </a:lnTo>
                  <a:lnTo>
                    <a:pt x="638175" y="395288"/>
                  </a:lnTo>
                  <a:lnTo>
                    <a:pt x="640557" y="373857"/>
                  </a:lnTo>
                  <a:lnTo>
                    <a:pt x="652463" y="366713"/>
                  </a:lnTo>
                  <a:lnTo>
                    <a:pt x="742950" y="330994"/>
                  </a:lnTo>
                  <a:lnTo>
                    <a:pt x="766763" y="314325"/>
                  </a:lnTo>
                  <a:lnTo>
                    <a:pt x="754857" y="285750"/>
                  </a:lnTo>
                  <a:lnTo>
                    <a:pt x="742950" y="254794"/>
                  </a:lnTo>
                  <a:lnTo>
                    <a:pt x="771525" y="226219"/>
                  </a:lnTo>
                  <a:lnTo>
                    <a:pt x="752475" y="195263"/>
                  </a:lnTo>
                  <a:lnTo>
                    <a:pt x="752475" y="152400"/>
                  </a:lnTo>
                  <a:lnTo>
                    <a:pt x="719138" y="119063"/>
                  </a:lnTo>
                  <a:lnTo>
                    <a:pt x="707231" y="92870"/>
                  </a:lnTo>
                  <a:lnTo>
                    <a:pt x="671513" y="85725"/>
                  </a:lnTo>
                  <a:lnTo>
                    <a:pt x="645319" y="69057"/>
                  </a:lnTo>
                  <a:cubicBezTo>
                    <a:pt x="644525" y="46038"/>
                    <a:pt x="643732" y="23019"/>
                    <a:pt x="642938" y="0"/>
                  </a:cubicBezTo>
                  <a:lnTo>
                    <a:pt x="609600" y="33338"/>
                  </a:lnTo>
                  <a:lnTo>
                    <a:pt x="583407" y="57150"/>
                  </a:lnTo>
                  <a:lnTo>
                    <a:pt x="564357" y="52388"/>
                  </a:lnTo>
                  <a:lnTo>
                    <a:pt x="554832" y="76200"/>
                  </a:lnTo>
                  <a:lnTo>
                    <a:pt x="509588" y="109538"/>
                  </a:lnTo>
                  <a:lnTo>
                    <a:pt x="407194" y="147638"/>
                  </a:lnTo>
                  <a:lnTo>
                    <a:pt x="381000" y="185738"/>
                  </a:lnTo>
                  <a:lnTo>
                    <a:pt x="340519" y="173832"/>
                  </a:lnTo>
                  <a:lnTo>
                    <a:pt x="245269" y="178594"/>
                  </a:lnTo>
                  <a:lnTo>
                    <a:pt x="250032" y="188119"/>
                  </a:lnTo>
                  <a:lnTo>
                    <a:pt x="309563" y="238125"/>
                  </a:lnTo>
                  <a:lnTo>
                    <a:pt x="211932" y="361950"/>
                  </a:lnTo>
                  <a:lnTo>
                    <a:pt x="173832" y="352425"/>
                  </a:lnTo>
                  <a:lnTo>
                    <a:pt x="80963" y="485775"/>
                  </a:lnTo>
                  <a:lnTo>
                    <a:pt x="97632" y="497682"/>
                  </a:lnTo>
                  <a:lnTo>
                    <a:pt x="114300" y="538163"/>
                  </a:lnTo>
                  <a:lnTo>
                    <a:pt x="92869" y="600075"/>
                  </a:lnTo>
                  <a:lnTo>
                    <a:pt x="102394" y="673894"/>
                  </a:lnTo>
                  <a:lnTo>
                    <a:pt x="73819" y="711994"/>
                  </a:lnTo>
                  <a:lnTo>
                    <a:pt x="73819" y="738188"/>
                  </a:lnTo>
                  <a:lnTo>
                    <a:pt x="61913" y="766763"/>
                  </a:lnTo>
                  <a:lnTo>
                    <a:pt x="88107" y="795338"/>
                  </a:lnTo>
                  <a:lnTo>
                    <a:pt x="135732" y="883444"/>
                  </a:lnTo>
                  <a:lnTo>
                    <a:pt x="69057" y="909638"/>
                  </a:lnTo>
                  <a:lnTo>
                    <a:pt x="45244" y="962025"/>
                  </a:lnTo>
                  <a:lnTo>
                    <a:pt x="33338" y="1016794"/>
                  </a:lnTo>
                  <a:lnTo>
                    <a:pt x="2382" y="1007269"/>
                  </a:lnTo>
                  <a:lnTo>
                    <a:pt x="0" y="1054894"/>
                  </a:lnTo>
                  <a:lnTo>
                    <a:pt x="16669" y="1064419"/>
                  </a:lnTo>
                  <a:lnTo>
                    <a:pt x="57150" y="1073944"/>
                  </a:lnTo>
                  <a:lnTo>
                    <a:pt x="85725" y="1088232"/>
                  </a:lnTo>
                  <a:lnTo>
                    <a:pt x="102394" y="1143000"/>
                  </a:lnTo>
                  <a:lnTo>
                    <a:pt x="130969" y="1169194"/>
                  </a:lnTo>
                  <a:lnTo>
                    <a:pt x="157163" y="1197769"/>
                  </a:lnTo>
                  <a:lnTo>
                    <a:pt x="192882" y="1190626"/>
                  </a:lnTo>
                  <a:lnTo>
                    <a:pt x="202407" y="1164432"/>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28" name="Freeform 27"/>
            <p:cNvSpPr/>
            <p:nvPr/>
          </p:nvSpPr>
          <p:spPr>
            <a:xfrm rot="21298612">
              <a:off x="2833361" y="3914491"/>
              <a:ext cx="1142620" cy="912439"/>
            </a:xfrm>
            <a:custGeom>
              <a:avLst/>
              <a:gdLst>
                <a:gd name="connsiteX0" fmla="*/ 631031 w 1114425"/>
                <a:gd name="connsiteY0" fmla="*/ 650081 h 862012"/>
                <a:gd name="connsiteX1" fmla="*/ 678656 w 1114425"/>
                <a:gd name="connsiteY1" fmla="*/ 585787 h 862012"/>
                <a:gd name="connsiteX2" fmla="*/ 702468 w 1114425"/>
                <a:gd name="connsiteY2" fmla="*/ 573881 h 862012"/>
                <a:gd name="connsiteX3" fmla="*/ 733425 w 1114425"/>
                <a:gd name="connsiteY3" fmla="*/ 573881 h 862012"/>
                <a:gd name="connsiteX4" fmla="*/ 778668 w 1114425"/>
                <a:gd name="connsiteY4" fmla="*/ 554831 h 862012"/>
                <a:gd name="connsiteX5" fmla="*/ 833437 w 1114425"/>
                <a:gd name="connsiteY5" fmla="*/ 528637 h 862012"/>
                <a:gd name="connsiteX6" fmla="*/ 883443 w 1114425"/>
                <a:gd name="connsiteY6" fmla="*/ 495300 h 862012"/>
                <a:gd name="connsiteX7" fmla="*/ 900112 w 1114425"/>
                <a:gd name="connsiteY7" fmla="*/ 490537 h 862012"/>
                <a:gd name="connsiteX8" fmla="*/ 919162 w 1114425"/>
                <a:gd name="connsiteY8" fmla="*/ 485775 h 862012"/>
                <a:gd name="connsiteX9" fmla="*/ 916781 w 1114425"/>
                <a:gd name="connsiteY9" fmla="*/ 447675 h 862012"/>
                <a:gd name="connsiteX10" fmla="*/ 954881 w 1114425"/>
                <a:gd name="connsiteY10" fmla="*/ 428625 h 862012"/>
                <a:gd name="connsiteX11" fmla="*/ 985837 w 1114425"/>
                <a:gd name="connsiteY11" fmla="*/ 407194 h 862012"/>
                <a:gd name="connsiteX12" fmla="*/ 1000125 w 1114425"/>
                <a:gd name="connsiteY12" fmla="*/ 347662 h 862012"/>
                <a:gd name="connsiteX13" fmla="*/ 981075 w 1114425"/>
                <a:gd name="connsiteY13" fmla="*/ 316706 h 862012"/>
                <a:gd name="connsiteX14" fmla="*/ 997743 w 1114425"/>
                <a:gd name="connsiteY14" fmla="*/ 271462 h 862012"/>
                <a:gd name="connsiteX15" fmla="*/ 1033462 w 1114425"/>
                <a:gd name="connsiteY15" fmla="*/ 233362 h 862012"/>
                <a:gd name="connsiteX16" fmla="*/ 1097756 w 1114425"/>
                <a:gd name="connsiteY16" fmla="*/ 209550 h 862012"/>
                <a:gd name="connsiteX17" fmla="*/ 1114425 w 1114425"/>
                <a:gd name="connsiteY17" fmla="*/ 190500 h 862012"/>
                <a:gd name="connsiteX18" fmla="*/ 1100137 w 1114425"/>
                <a:gd name="connsiteY18" fmla="*/ 161925 h 862012"/>
                <a:gd name="connsiteX19" fmla="*/ 1052512 w 1114425"/>
                <a:gd name="connsiteY19" fmla="*/ 107156 h 862012"/>
                <a:gd name="connsiteX20" fmla="*/ 1009650 w 1114425"/>
                <a:gd name="connsiteY20" fmla="*/ 73819 h 862012"/>
                <a:gd name="connsiteX21" fmla="*/ 995362 w 1114425"/>
                <a:gd name="connsiteY21" fmla="*/ 47625 h 862012"/>
                <a:gd name="connsiteX22" fmla="*/ 983456 w 1114425"/>
                <a:gd name="connsiteY22" fmla="*/ 64294 h 862012"/>
                <a:gd name="connsiteX23" fmla="*/ 966787 w 1114425"/>
                <a:gd name="connsiteY23" fmla="*/ 69056 h 862012"/>
                <a:gd name="connsiteX24" fmla="*/ 935831 w 1114425"/>
                <a:gd name="connsiteY24" fmla="*/ 59531 h 862012"/>
                <a:gd name="connsiteX25" fmla="*/ 904875 w 1114425"/>
                <a:gd name="connsiteY25" fmla="*/ 23812 h 862012"/>
                <a:gd name="connsiteX26" fmla="*/ 888206 w 1114425"/>
                <a:gd name="connsiteY26" fmla="*/ 0 h 862012"/>
                <a:gd name="connsiteX27" fmla="*/ 869156 w 1114425"/>
                <a:gd name="connsiteY27" fmla="*/ 28575 h 862012"/>
                <a:gd name="connsiteX28" fmla="*/ 871537 w 1114425"/>
                <a:gd name="connsiteY28" fmla="*/ 69056 h 862012"/>
                <a:gd name="connsiteX29" fmla="*/ 847725 w 1114425"/>
                <a:gd name="connsiteY29" fmla="*/ 100012 h 862012"/>
                <a:gd name="connsiteX30" fmla="*/ 826293 w 1114425"/>
                <a:gd name="connsiteY30" fmla="*/ 97631 h 862012"/>
                <a:gd name="connsiteX31" fmla="*/ 800100 w 1114425"/>
                <a:gd name="connsiteY31" fmla="*/ 71437 h 862012"/>
                <a:gd name="connsiteX32" fmla="*/ 783431 w 1114425"/>
                <a:gd name="connsiteY32" fmla="*/ 57150 h 862012"/>
                <a:gd name="connsiteX33" fmla="*/ 764381 w 1114425"/>
                <a:gd name="connsiteY33" fmla="*/ 61912 h 862012"/>
                <a:gd name="connsiteX34" fmla="*/ 747712 w 1114425"/>
                <a:gd name="connsiteY34" fmla="*/ 92869 h 862012"/>
                <a:gd name="connsiteX35" fmla="*/ 742950 w 1114425"/>
                <a:gd name="connsiteY35" fmla="*/ 107156 h 862012"/>
                <a:gd name="connsiteX36" fmla="*/ 714375 w 1114425"/>
                <a:gd name="connsiteY36" fmla="*/ 107156 h 862012"/>
                <a:gd name="connsiteX37" fmla="*/ 700087 w 1114425"/>
                <a:gd name="connsiteY37" fmla="*/ 95250 h 862012"/>
                <a:gd name="connsiteX38" fmla="*/ 700087 w 1114425"/>
                <a:gd name="connsiteY38" fmla="*/ 66675 h 862012"/>
                <a:gd name="connsiteX39" fmla="*/ 704850 w 1114425"/>
                <a:gd name="connsiteY39" fmla="*/ 38100 h 862012"/>
                <a:gd name="connsiteX40" fmla="*/ 692943 w 1114425"/>
                <a:gd name="connsiteY40" fmla="*/ 23812 h 862012"/>
                <a:gd name="connsiteX41" fmla="*/ 669131 w 1114425"/>
                <a:gd name="connsiteY41" fmla="*/ 26194 h 862012"/>
                <a:gd name="connsiteX42" fmla="*/ 640556 w 1114425"/>
                <a:gd name="connsiteY42" fmla="*/ 19050 h 862012"/>
                <a:gd name="connsiteX43" fmla="*/ 604837 w 1114425"/>
                <a:gd name="connsiteY43" fmla="*/ 4762 h 862012"/>
                <a:gd name="connsiteX44" fmla="*/ 569118 w 1114425"/>
                <a:gd name="connsiteY44" fmla="*/ 4762 h 862012"/>
                <a:gd name="connsiteX45" fmla="*/ 557212 w 1114425"/>
                <a:gd name="connsiteY45" fmla="*/ 11906 h 862012"/>
                <a:gd name="connsiteX46" fmla="*/ 438150 w 1114425"/>
                <a:gd name="connsiteY46" fmla="*/ 69056 h 862012"/>
                <a:gd name="connsiteX47" fmla="*/ 421481 w 1114425"/>
                <a:gd name="connsiteY47" fmla="*/ 169069 h 862012"/>
                <a:gd name="connsiteX48" fmla="*/ 304800 w 1114425"/>
                <a:gd name="connsiteY48" fmla="*/ 228600 h 862012"/>
                <a:gd name="connsiteX49" fmla="*/ 276225 w 1114425"/>
                <a:gd name="connsiteY49" fmla="*/ 290512 h 862012"/>
                <a:gd name="connsiteX50" fmla="*/ 228600 w 1114425"/>
                <a:gd name="connsiteY50" fmla="*/ 285750 h 862012"/>
                <a:gd name="connsiteX51" fmla="*/ 211931 w 1114425"/>
                <a:gd name="connsiteY51" fmla="*/ 357187 h 862012"/>
                <a:gd name="connsiteX52" fmla="*/ 207168 w 1114425"/>
                <a:gd name="connsiteY52" fmla="*/ 369094 h 862012"/>
                <a:gd name="connsiteX53" fmla="*/ 223837 w 1114425"/>
                <a:gd name="connsiteY53" fmla="*/ 404812 h 862012"/>
                <a:gd name="connsiteX54" fmla="*/ 219075 w 1114425"/>
                <a:gd name="connsiteY54" fmla="*/ 511969 h 862012"/>
                <a:gd name="connsiteX55" fmla="*/ 195262 w 1114425"/>
                <a:gd name="connsiteY55" fmla="*/ 521494 h 862012"/>
                <a:gd name="connsiteX56" fmla="*/ 180975 w 1114425"/>
                <a:gd name="connsiteY56" fmla="*/ 502444 h 862012"/>
                <a:gd name="connsiteX57" fmla="*/ 161925 w 1114425"/>
                <a:gd name="connsiteY57" fmla="*/ 457200 h 862012"/>
                <a:gd name="connsiteX58" fmla="*/ 128587 w 1114425"/>
                <a:gd name="connsiteY58" fmla="*/ 433387 h 862012"/>
                <a:gd name="connsiteX59" fmla="*/ 116681 w 1114425"/>
                <a:gd name="connsiteY59" fmla="*/ 409575 h 862012"/>
                <a:gd name="connsiteX60" fmla="*/ 83343 w 1114425"/>
                <a:gd name="connsiteY60" fmla="*/ 421481 h 862012"/>
                <a:gd name="connsiteX61" fmla="*/ 78581 w 1114425"/>
                <a:gd name="connsiteY61" fmla="*/ 466725 h 862012"/>
                <a:gd name="connsiteX62" fmla="*/ 116681 w 1114425"/>
                <a:gd name="connsiteY62" fmla="*/ 514350 h 862012"/>
                <a:gd name="connsiteX63" fmla="*/ 123825 w 1114425"/>
                <a:gd name="connsiteY63" fmla="*/ 583406 h 862012"/>
                <a:gd name="connsiteX64" fmla="*/ 152400 w 1114425"/>
                <a:gd name="connsiteY64" fmla="*/ 631031 h 862012"/>
                <a:gd name="connsiteX65" fmla="*/ 142875 w 1114425"/>
                <a:gd name="connsiteY65" fmla="*/ 657225 h 862012"/>
                <a:gd name="connsiteX66" fmla="*/ 107156 w 1114425"/>
                <a:gd name="connsiteY66" fmla="*/ 697706 h 862012"/>
                <a:gd name="connsiteX67" fmla="*/ 42862 w 1114425"/>
                <a:gd name="connsiteY67" fmla="*/ 735806 h 862012"/>
                <a:gd name="connsiteX68" fmla="*/ 35718 w 1114425"/>
                <a:gd name="connsiteY68" fmla="*/ 769144 h 862012"/>
                <a:gd name="connsiteX69" fmla="*/ 19050 w 1114425"/>
                <a:gd name="connsiteY69" fmla="*/ 795337 h 862012"/>
                <a:gd name="connsiteX70" fmla="*/ 0 w 1114425"/>
                <a:gd name="connsiteY70" fmla="*/ 859631 h 862012"/>
                <a:gd name="connsiteX71" fmla="*/ 19050 w 1114425"/>
                <a:gd name="connsiteY71" fmla="*/ 862012 h 862012"/>
                <a:gd name="connsiteX72" fmla="*/ 154781 w 1114425"/>
                <a:gd name="connsiteY72" fmla="*/ 828675 h 862012"/>
                <a:gd name="connsiteX73" fmla="*/ 171450 w 1114425"/>
                <a:gd name="connsiteY73" fmla="*/ 757237 h 862012"/>
                <a:gd name="connsiteX74" fmla="*/ 259556 w 1114425"/>
                <a:gd name="connsiteY74" fmla="*/ 800100 h 862012"/>
                <a:gd name="connsiteX75" fmla="*/ 297656 w 1114425"/>
                <a:gd name="connsiteY75" fmla="*/ 700087 h 862012"/>
                <a:gd name="connsiteX76" fmla="*/ 385762 w 1114425"/>
                <a:gd name="connsiteY76" fmla="*/ 666750 h 862012"/>
                <a:gd name="connsiteX77" fmla="*/ 435768 w 1114425"/>
                <a:gd name="connsiteY77" fmla="*/ 681037 h 862012"/>
                <a:gd name="connsiteX78" fmla="*/ 473868 w 1114425"/>
                <a:gd name="connsiteY78" fmla="*/ 702469 h 862012"/>
                <a:gd name="connsiteX79" fmla="*/ 500062 w 1114425"/>
                <a:gd name="connsiteY79" fmla="*/ 707231 h 862012"/>
                <a:gd name="connsiteX80" fmla="*/ 516731 w 1114425"/>
                <a:gd name="connsiteY80" fmla="*/ 702469 h 862012"/>
                <a:gd name="connsiteX81" fmla="*/ 545306 w 1114425"/>
                <a:gd name="connsiteY81" fmla="*/ 671512 h 862012"/>
                <a:gd name="connsiteX82" fmla="*/ 576262 w 1114425"/>
                <a:gd name="connsiteY82" fmla="*/ 671512 h 862012"/>
                <a:gd name="connsiteX83" fmla="*/ 631031 w 1114425"/>
                <a:gd name="connsiteY83" fmla="*/ 650081 h 862012"/>
                <a:gd name="connsiteX0" fmla="*/ 631031 w 1138238"/>
                <a:gd name="connsiteY0" fmla="*/ 650081 h 862012"/>
                <a:gd name="connsiteX1" fmla="*/ 678656 w 1138238"/>
                <a:gd name="connsiteY1" fmla="*/ 585787 h 862012"/>
                <a:gd name="connsiteX2" fmla="*/ 702468 w 1138238"/>
                <a:gd name="connsiteY2" fmla="*/ 573881 h 862012"/>
                <a:gd name="connsiteX3" fmla="*/ 733425 w 1138238"/>
                <a:gd name="connsiteY3" fmla="*/ 573881 h 862012"/>
                <a:gd name="connsiteX4" fmla="*/ 778668 w 1138238"/>
                <a:gd name="connsiteY4" fmla="*/ 554831 h 862012"/>
                <a:gd name="connsiteX5" fmla="*/ 833437 w 1138238"/>
                <a:gd name="connsiteY5" fmla="*/ 528637 h 862012"/>
                <a:gd name="connsiteX6" fmla="*/ 883443 w 1138238"/>
                <a:gd name="connsiteY6" fmla="*/ 495300 h 862012"/>
                <a:gd name="connsiteX7" fmla="*/ 900112 w 1138238"/>
                <a:gd name="connsiteY7" fmla="*/ 490537 h 862012"/>
                <a:gd name="connsiteX8" fmla="*/ 919162 w 1138238"/>
                <a:gd name="connsiteY8" fmla="*/ 485775 h 862012"/>
                <a:gd name="connsiteX9" fmla="*/ 916781 w 1138238"/>
                <a:gd name="connsiteY9" fmla="*/ 447675 h 862012"/>
                <a:gd name="connsiteX10" fmla="*/ 954881 w 1138238"/>
                <a:gd name="connsiteY10" fmla="*/ 428625 h 862012"/>
                <a:gd name="connsiteX11" fmla="*/ 985837 w 1138238"/>
                <a:gd name="connsiteY11" fmla="*/ 407194 h 862012"/>
                <a:gd name="connsiteX12" fmla="*/ 1000125 w 1138238"/>
                <a:gd name="connsiteY12" fmla="*/ 347662 h 862012"/>
                <a:gd name="connsiteX13" fmla="*/ 981075 w 1138238"/>
                <a:gd name="connsiteY13" fmla="*/ 316706 h 862012"/>
                <a:gd name="connsiteX14" fmla="*/ 997743 w 1138238"/>
                <a:gd name="connsiteY14" fmla="*/ 271462 h 862012"/>
                <a:gd name="connsiteX15" fmla="*/ 1033462 w 1138238"/>
                <a:gd name="connsiteY15" fmla="*/ 233362 h 862012"/>
                <a:gd name="connsiteX16" fmla="*/ 1097756 w 1138238"/>
                <a:gd name="connsiteY16" fmla="*/ 209550 h 862012"/>
                <a:gd name="connsiteX17" fmla="*/ 1138238 w 1138238"/>
                <a:gd name="connsiteY17" fmla="*/ 185737 h 862012"/>
                <a:gd name="connsiteX18" fmla="*/ 1100137 w 1138238"/>
                <a:gd name="connsiteY18" fmla="*/ 161925 h 862012"/>
                <a:gd name="connsiteX19" fmla="*/ 1052512 w 1138238"/>
                <a:gd name="connsiteY19" fmla="*/ 107156 h 862012"/>
                <a:gd name="connsiteX20" fmla="*/ 1009650 w 1138238"/>
                <a:gd name="connsiteY20" fmla="*/ 73819 h 862012"/>
                <a:gd name="connsiteX21" fmla="*/ 995362 w 1138238"/>
                <a:gd name="connsiteY21" fmla="*/ 47625 h 862012"/>
                <a:gd name="connsiteX22" fmla="*/ 983456 w 1138238"/>
                <a:gd name="connsiteY22" fmla="*/ 64294 h 862012"/>
                <a:gd name="connsiteX23" fmla="*/ 966787 w 1138238"/>
                <a:gd name="connsiteY23" fmla="*/ 69056 h 862012"/>
                <a:gd name="connsiteX24" fmla="*/ 935831 w 1138238"/>
                <a:gd name="connsiteY24" fmla="*/ 59531 h 862012"/>
                <a:gd name="connsiteX25" fmla="*/ 904875 w 1138238"/>
                <a:gd name="connsiteY25" fmla="*/ 23812 h 862012"/>
                <a:gd name="connsiteX26" fmla="*/ 888206 w 1138238"/>
                <a:gd name="connsiteY26" fmla="*/ 0 h 862012"/>
                <a:gd name="connsiteX27" fmla="*/ 869156 w 1138238"/>
                <a:gd name="connsiteY27" fmla="*/ 28575 h 862012"/>
                <a:gd name="connsiteX28" fmla="*/ 871537 w 1138238"/>
                <a:gd name="connsiteY28" fmla="*/ 69056 h 862012"/>
                <a:gd name="connsiteX29" fmla="*/ 847725 w 1138238"/>
                <a:gd name="connsiteY29" fmla="*/ 100012 h 862012"/>
                <a:gd name="connsiteX30" fmla="*/ 826293 w 1138238"/>
                <a:gd name="connsiteY30" fmla="*/ 97631 h 862012"/>
                <a:gd name="connsiteX31" fmla="*/ 800100 w 1138238"/>
                <a:gd name="connsiteY31" fmla="*/ 71437 h 862012"/>
                <a:gd name="connsiteX32" fmla="*/ 783431 w 1138238"/>
                <a:gd name="connsiteY32" fmla="*/ 57150 h 862012"/>
                <a:gd name="connsiteX33" fmla="*/ 764381 w 1138238"/>
                <a:gd name="connsiteY33" fmla="*/ 61912 h 862012"/>
                <a:gd name="connsiteX34" fmla="*/ 747712 w 1138238"/>
                <a:gd name="connsiteY34" fmla="*/ 92869 h 862012"/>
                <a:gd name="connsiteX35" fmla="*/ 742950 w 1138238"/>
                <a:gd name="connsiteY35" fmla="*/ 107156 h 862012"/>
                <a:gd name="connsiteX36" fmla="*/ 714375 w 1138238"/>
                <a:gd name="connsiteY36" fmla="*/ 107156 h 862012"/>
                <a:gd name="connsiteX37" fmla="*/ 700087 w 1138238"/>
                <a:gd name="connsiteY37" fmla="*/ 95250 h 862012"/>
                <a:gd name="connsiteX38" fmla="*/ 700087 w 1138238"/>
                <a:gd name="connsiteY38" fmla="*/ 66675 h 862012"/>
                <a:gd name="connsiteX39" fmla="*/ 704850 w 1138238"/>
                <a:gd name="connsiteY39" fmla="*/ 38100 h 862012"/>
                <a:gd name="connsiteX40" fmla="*/ 692943 w 1138238"/>
                <a:gd name="connsiteY40" fmla="*/ 23812 h 862012"/>
                <a:gd name="connsiteX41" fmla="*/ 669131 w 1138238"/>
                <a:gd name="connsiteY41" fmla="*/ 26194 h 862012"/>
                <a:gd name="connsiteX42" fmla="*/ 640556 w 1138238"/>
                <a:gd name="connsiteY42" fmla="*/ 19050 h 862012"/>
                <a:gd name="connsiteX43" fmla="*/ 604837 w 1138238"/>
                <a:gd name="connsiteY43" fmla="*/ 4762 h 862012"/>
                <a:gd name="connsiteX44" fmla="*/ 569118 w 1138238"/>
                <a:gd name="connsiteY44" fmla="*/ 4762 h 862012"/>
                <a:gd name="connsiteX45" fmla="*/ 557212 w 1138238"/>
                <a:gd name="connsiteY45" fmla="*/ 11906 h 862012"/>
                <a:gd name="connsiteX46" fmla="*/ 438150 w 1138238"/>
                <a:gd name="connsiteY46" fmla="*/ 69056 h 862012"/>
                <a:gd name="connsiteX47" fmla="*/ 421481 w 1138238"/>
                <a:gd name="connsiteY47" fmla="*/ 169069 h 862012"/>
                <a:gd name="connsiteX48" fmla="*/ 304800 w 1138238"/>
                <a:gd name="connsiteY48" fmla="*/ 228600 h 862012"/>
                <a:gd name="connsiteX49" fmla="*/ 276225 w 1138238"/>
                <a:gd name="connsiteY49" fmla="*/ 290512 h 862012"/>
                <a:gd name="connsiteX50" fmla="*/ 228600 w 1138238"/>
                <a:gd name="connsiteY50" fmla="*/ 285750 h 862012"/>
                <a:gd name="connsiteX51" fmla="*/ 211931 w 1138238"/>
                <a:gd name="connsiteY51" fmla="*/ 357187 h 862012"/>
                <a:gd name="connsiteX52" fmla="*/ 207168 w 1138238"/>
                <a:gd name="connsiteY52" fmla="*/ 369094 h 862012"/>
                <a:gd name="connsiteX53" fmla="*/ 223837 w 1138238"/>
                <a:gd name="connsiteY53" fmla="*/ 404812 h 862012"/>
                <a:gd name="connsiteX54" fmla="*/ 219075 w 1138238"/>
                <a:gd name="connsiteY54" fmla="*/ 511969 h 862012"/>
                <a:gd name="connsiteX55" fmla="*/ 195262 w 1138238"/>
                <a:gd name="connsiteY55" fmla="*/ 521494 h 862012"/>
                <a:gd name="connsiteX56" fmla="*/ 180975 w 1138238"/>
                <a:gd name="connsiteY56" fmla="*/ 502444 h 862012"/>
                <a:gd name="connsiteX57" fmla="*/ 161925 w 1138238"/>
                <a:gd name="connsiteY57" fmla="*/ 457200 h 862012"/>
                <a:gd name="connsiteX58" fmla="*/ 128587 w 1138238"/>
                <a:gd name="connsiteY58" fmla="*/ 433387 h 862012"/>
                <a:gd name="connsiteX59" fmla="*/ 116681 w 1138238"/>
                <a:gd name="connsiteY59" fmla="*/ 409575 h 862012"/>
                <a:gd name="connsiteX60" fmla="*/ 83343 w 1138238"/>
                <a:gd name="connsiteY60" fmla="*/ 421481 h 862012"/>
                <a:gd name="connsiteX61" fmla="*/ 78581 w 1138238"/>
                <a:gd name="connsiteY61" fmla="*/ 466725 h 862012"/>
                <a:gd name="connsiteX62" fmla="*/ 116681 w 1138238"/>
                <a:gd name="connsiteY62" fmla="*/ 514350 h 862012"/>
                <a:gd name="connsiteX63" fmla="*/ 123825 w 1138238"/>
                <a:gd name="connsiteY63" fmla="*/ 583406 h 862012"/>
                <a:gd name="connsiteX64" fmla="*/ 152400 w 1138238"/>
                <a:gd name="connsiteY64" fmla="*/ 631031 h 862012"/>
                <a:gd name="connsiteX65" fmla="*/ 142875 w 1138238"/>
                <a:gd name="connsiteY65" fmla="*/ 657225 h 862012"/>
                <a:gd name="connsiteX66" fmla="*/ 107156 w 1138238"/>
                <a:gd name="connsiteY66" fmla="*/ 697706 h 862012"/>
                <a:gd name="connsiteX67" fmla="*/ 42862 w 1138238"/>
                <a:gd name="connsiteY67" fmla="*/ 735806 h 862012"/>
                <a:gd name="connsiteX68" fmla="*/ 35718 w 1138238"/>
                <a:gd name="connsiteY68" fmla="*/ 769144 h 862012"/>
                <a:gd name="connsiteX69" fmla="*/ 19050 w 1138238"/>
                <a:gd name="connsiteY69" fmla="*/ 795337 h 862012"/>
                <a:gd name="connsiteX70" fmla="*/ 0 w 1138238"/>
                <a:gd name="connsiteY70" fmla="*/ 859631 h 862012"/>
                <a:gd name="connsiteX71" fmla="*/ 19050 w 1138238"/>
                <a:gd name="connsiteY71" fmla="*/ 862012 h 862012"/>
                <a:gd name="connsiteX72" fmla="*/ 154781 w 1138238"/>
                <a:gd name="connsiteY72" fmla="*/ 828675 h 862012"/>
                <a:gd name="connsiteX73" fmla="*/ 171450 w 1138238"/>
                <a:gd name="connsiteY73" fmla="*/ 757237 h 862012"/>
                <a:gd name="connsiteX74" fmla="*/ 259556 w 1138238"/>
                <a:gd name="connsiteY74" fmla="*/ 800100 h 862012"/>
                <a:gd name="connsiteX75" fmla="*/ 297656 w 1138238"/>
                <a:gd name="connsiteY75" fmla="*/ 700087 h 862012"/>
                <a:gd name="connsiteX76" fmla="*/ 385762 w 1138238"/>
                <a:gd name="connsiteY76" fmla="*/ 666750 h 862012"/>
                <a:gd name="connsiteX77" fmla="*/ 435768 w 1138238"/>
                <a:gd name="connsiteY77" fmla="*/ 681037 h 862012"/>
                <a:gd name="connsiteX78" fmla="*/ 473868 w 1138238"/>
                <a:gd name="connsiteY78" fmla="*/ 702469 h 862012"/>
                <a:gd name="connsiteX79" fmla="*/ 500062 w 1138238"/>
                <a:gd name="connsiteY79" fmla="*/ 707231 h 862012"/>
                <a:gd name="connsiteX80" fmla="*/ 516731 w 1138238"/>
                <a:gd name="connsiteY80" fmla="*/ 702469 h 862012"/>
                <a:gd name="connsiteX81" fmla="*/ 545306 w 1138238"/>
                <a:gd name="connsiteY81" fmla="*/ 671512 h 862012"/>
                <a:gd name="connsiteX82" fmla="*/ 576262 w 1138238"/>
                <a:gd name="connsiteY82" fmla="*/ 671512 h 862012"/>
                <a:gd name="connsiteX83" fmla="*/ 631031 w 1138238"/>
                <a:gd name="connsiteY83" fmla="*/ 650081 h 862012"/>
                <a:gd name="connsiteX0" fmla="*/ 631031 w 1138238"/>
                <a:gd name="connsiteY0" fmla="*/ 650081 h 862012"/>
                <a:gd name="connsiteX1" fmla="*/ 678656 w 1138238"/>
                <a:gd name="connsiteY1" fmla="*/ 585787 h 862012"/>
                <a:gd name="connsiteX2" fmla="*/ 702468 w 1138238"/>
                <a:gd name="connsiteY2" fmla="*/ 573881 h 862012"/>
                <a:gd name="connsiteX3" fmla="*/ 733425 w 1138238"/>
                <a:gd name="connsiteY3" fmla="*/ 573881 h 862012"/>
                <a:gd name="connsiteX4" fmla="*/ 778668 w 1138238"/>
                <a:gd name="connsiteY4" fmla="*/ 554831 h 862012"/>
                <a:gd name="connsiteX5" fmla="*/ 833437 w 1138238"/>
                <a:gd name="connsiteY5" fmla="*/ 528637 h 862012"/>
                <a:gd name="connsiteX6" fmla="*/ 883443 w 1138238"/>
                <a:gd name="connsiteY6" fmla="*/ 495300 h 862012"/>
                <a:gd name="connsiteX7" fmla="*/ 900112 w 1138238"/>
                <a:gd name="connsiteY7" fmla="*/ 490537 h 862012"/>
                <a:gd name="connsiteX8" fmla="*/ 919162 w 1138238"/>
                <a:gd name="connsiteY8" fmla="*/ 485775 h 862012"/>
                <a:gd name="connsiteX9" fmla="*/ 916781 w 1138238"/>
                <a:gd name="connsiteY9" fmla="*/ 447675 h 862012"/>
                <a:gd name="connsiteX10" fmla="*/ 954881 w 1138238"/>
                <a:gd name="connsiteY10" fmla="*/ 428625 h 862012"/>
                <a:gd name="connsiteX11" fmla="*/ 985837 w 1138238"/>
                <a:gd name="connsiteY11" fmla="*/ 407194 h 862012"/>
                <a:gd name="connsiteX12" fmla="*/ 1000125 w 1138238"/>
                <a:gd name="connsiteY12" fmla="*/ 347662 h 862012"/>
                <a:gd name="connsiteX13" fmla="*/ 981075 w 1138238"/>
                <a:gd name="connsiteY13" fmla="*/ 316706 h 862012"/>
                <a:gd name="connsiteX14" fmla="*/ 997743 w 1138238"/>
                <a:gd name="connsiteY14" fmla="*/ 271462 h 862012"/>
                <a:gd name="connsiteX15" fmla="*/ 1033462 w 1138238"/>
                <a:gd name="connsiteY15" fmla="*/ 233362 h 862012"/>
                <a:gd name="connsiteX16" fmla="*/ 1097756 w 1138238"/>
                <a:gd name="connsiteY16" fmla="*/ 209550 h 862012"/>
                <a:gd name="connsiteX17" fmla="*/ 1138238 w 1138238"/>
                <a:gd name="connsiteY17" fmla="*/ 185737 h 862012"/>
                <a:gd name="connsiteX18" fmla="*/ 1107281 w 1138238"/>
                <a:gd name="connsiteY18" fmla="*/ 154781 h 862012"/>
                <a:gd name="connsiteX19" fmla="*/ 1052512 w 1138238"/>
                <a:gd name="connsiteY19" fmla="*/ 107156 h 862012"/>
                <a:gd name="connsiteX20" fmla="*/ 1009650 w 1138238"/>
                <a:gd name="connsiteY20" fmla="*/ 73819 h 862012"/>
                <a:gd name="connsiteX21" fmla="*/ 995362 w 1138238"/>
                <a:gd name="connsiteY21" fmla="*/ 47625 h 862012"/>
                <a:gd name="connsiteX22" fmla="*/ 983456 w 1138238"/>
                <a:gd name="connsiteY22" fmla="*/ 64294 h 862012"/>
                <a:gd name="connsiteX23" fmla="*/ 966787 w 1138238"/>
                <a:gd name="connsiteY23" fmla="*/ 69056 h 862012"/>
                <a:gd name="connsiteX24" fmla="*/ 935831 w 1138238"/>
                <a:gd name="connsiteY24" fmla="*/ 59531 h 862012"/>
                <a:gd name="connsiteX25" fmla="*/ 904875 w 1138238"/>
                <a:gd name="connsiteY25" fmla="*/ 23812 h 862012"/>
                <a:gd name="connsiteX26" fmla="*/ 888206 w 1138238"/>
                <a:gd name="connsiteY26" fmla="*/ 0 h 862012"/>
                <a:gd name="connsiteX27" fmla="*/ 869156 w 1138238"/>
                <a:gd name="connsiteY27" fmla="*/ 28575 h 862012"/>
                <a:gd name="connsiteX28" fmla="*/ 871537 w 1138238"/>
                <a:gd name="connsiteY28" fmla="*/ 69056 h 862012"/>
                <a:gd name="connsiteX29" fmla="*/ 847725 w 1138238"/>
                <a:gd name="connsiteY29" fmla="*/ 100012 h 862012"/>
                <a:gd name="connsiteX30" fmla="*/ 826293 w 1138238"/>
                <a:gd name="connsiteY30" fmla="*/ 97631 h 862012"/>
                <a:gd name="connsiteX31" fmla="*/ 800100 w 1138238"/>
                <a:gd name="connsiteY31" fmla="*/ 71437 h 862012"/>
                <a:gd name="connsiteX32" fmla="*/ 783431 w 1138238"/>
                <a:gd name="connsiteY32" fmla="*/ 57150 h 862012"/>
                <a:gd name="connsiteX33" fmla="*/ 764381 w 1138238"/>
                <a:gd name="connsiteY33" fmla="*/ 61912 h 862012"/>
                <a:gd name="connsiteX34" fmla="*/ 747712 w 1138238"/>
                <a:gd name="connsiteY34" fmla="*/ 92869 h 862012"/>
                <a:gd name="connsiteX35" fmla="*/ 742950 w 1138238"/>
                <a:gd name="connsiteY35" fmla="*/ 107156 h 862012"/>
                <a:gd name="connsiteX36" fmla="*/ 714375 w 1138238"/>
                <a:gd name="connsiteY36" fmla="*/ 107156 h 862012"/>
                <a:gd name="connsiteX37" fmla="*/ 700087 w 1138238"/>
                <a:gd name="connsiteY37" fmla="*/ 95250 h 862012"/>
                <a:gd name="connsiteX38" fmla="*/ 700087 w 1138238"/>
                <a:gd name="connsiteY38" fmla="*/ 66675 h 862012"/>
                <a:gd name="connsiteX39" fmla="*/ 704850 w 1138238"/>
                <a:gd name="connsiteY39" fmla="*/ 38100 h 862012"/>
                <a:gd name="connsiteX40" fmla="*/ 692943 w 1138238"/>
                <a:gd name="connsiteY40" fmla="*/ 23812 h 862012"/>
                <a:gd name="connsiteX41" fmla="*/ 669131 w 1138238"/>
                <a:gd name="connsiteY41" fmla="*/ 26194 h 862012"/>
                <a:gd name="connsiteX42" fmla="*/ 640556 w 1138238"/>
                <a:gd name="connsiteY42" fmla="*/ 19050 h 862012"/>
                <a:gd name="connsiteX43" fmla="*/ 604837 w 1138238"/>
                <a:gd name="connsiteY43" fmla="*/ 4762 h 862012"/>
                <a:gd name="connsiteX44" fmla="*/ 569118 w 1138238"/>
                <a:gd name="connsiteY44" fmla="*/ 4762 h 862012"/>
                <a:gd name="connsiteX45" fmla="*/ 557212 w 1138238"/>
                <a:gd name="connsiteY45" fmla="*/ 11906 h 862012"/>
                <a:gd name="connsiteX46" fmla="*/ 438150 w 1138238"/>
                <a:gd name="connsiteY46" fmla="*/ 69056 h 862012"/>
                <a:gd name="connsiteX47" fmla="*/ 421481 w 1138238"/>
                <a:gd name="connsiteY47" fmla="*/ 169069 h 862012"/>
                <a:gd name="connsiteX48" fmla="*/ 304800 w 1138238"/>
                <a:gd name="connsiteY48" fmla="*/ 228600 h 862012"/>
                <a:gd name="connsiteX49" fmla="*/ 276225 w 1138238"/>
                <a:gd name="connsiteY49" fmla="*/ 290512 h 862012"/>
                <a:gd name="connsiteX50" fmla="*/ 228600 w 1138238"/>
                <a:gd name="connsiteY50" fmla="*/ 285750 h 862012"/>
                <a:gd name="connsiteX51" fmla="*/ 211931 w 1138238"/>
                <a:gd name="connsiteY51" fmla="*/ 357187 h 862012"/>
                <a:gd name="connsiteX52" fmla="*/ 207168 w 1138238"/>
                <a:gd name="connsiteY52" fmla="*/ 369094 h 862012"/>
                <a:gd name="connsiteX53" fmla="*/ 223837 w 1138238"/>
                <a:gd name="connsiteY53" fmla="*/ 404812 h 862012"/>
                <a:gd name="connsiteX54" fmla="*/ 219075 w 1138238"/>
                <a:gd name="connsiteY54" fmla="*/ 511969 h 862012"/>
                <a:gd name="connsiteX55" fmla="*/ 195262 w 1138238"/>
                <a:gd name="connsiteY55" fmla="*/ 521494 h 862012"/>
                <a:gd name="connsiteX56" fmla="*/ 180975 w 1138238"/>
                <a:gd name="connsiteY56" fmla="*/ 502444 h 862012"/>
                <a:gd name="connsiteX57" fmla="*/ 161925 w 1138238"/>
                <a:gd name="connsiteY57" fmla="*/ 457200 h 862012"/>
                <a:gd name="connsiteX58" fmla="*/ 128587 w 1138238"/>
                <a:gd name="connsiteY58" fmla="*/ 433387 h 862012"/>
                <a:gd name="connsiteX59" fmla="*/ 116681 w 1138238"/>
                <a:gd name="connsiteY59" fmla="*/ 409575 h 862012"/>
                <a:gd name="connsiteX60" fmla="*/ 83343 w 1138238"/>
                <a:gd name="connsiteY60" fmla="*/ 421481 h 862012"/>
                <a:gd name="connsiteX61" fmla="*/ 78581 w 1138238"/>
                <a:gd name="connsiteY61" fmla="*/ 466725 h 862012"/>
                <a:gd name="connsiteX62" fmla="*/ 116681 w 1138238"/>
                <a:gd name="connsiteY62" fmla="*/ 514350 h 862012"/>
                <a:gd name="connsiteX63" fmla="*/ 123825 w 1138238"/>
                <a:gd name="connsiteY63" fmla="*/ 583406 h 862012"/>
                <a:gd name="connsiteX64" fmla="*/ 152400 w 1138238"/>
                <a:gd name="connsiteY64" fmla="*/ 631031 h 862012"/>
                <a:gd name="connsiteX65" fmla="*/ 142875 w 1138238"/>
                <a:gd name="connsiteY65" fmla="*/ 657225 h 862012"/>
                <a:gd name="connsiteX66" fmla="*/ 107156 w 1138238"/>
                <a:gd name="connsiteY66" fmla="*/ 697706 h 862012"/>
                <a:gd name="connsiteX67" fmla="*/ 42862 w 1138238"/>
                <a:gd name="connsiteY67" fmla="*/ 735806 h 862012"/>
                <a:gd name="connsiteX68" fmla="*/ 35718 w 1138238"/>
                <a:gd name="connsiteY68" fmla="*/ 769144 h 862012"/>
                <a:gd name="connsiteX69" fmla="*/ 19050 w 1138238"/>
                <a:gd name="connsiteY69" fmla="*/ 795337 h 862012"/>
                <a:gd name="connsiteX70" fmla="*/ 0 w 1138238"/>
                <a:gd name="connsiteY70" fmla="*/ 859631 h 862012"/>
                <a:gd name="connsiteX71" fmla="*/ 19050 w 1138238"/>
                <a:gd name="connsiteY71" fmla="*/ 862012 h 862012"/>
                <a:gd name="connsiteX72" fmla="*/ 154781 w 1138238"/>
                <a:gd name="connsiteY72" fmla="*/ 828675 h 862012"/>
                <a:gd name="connsiteX73" fmla="*/ 171450 w 1138238"/>
                <a:gd name="connsiteY73" fmla="*/ 757237 h 862012"/>
                <a:gd name="connsiteX74" fmla="*/ 259556 w 1138238"/>
                <a:gd name="connsiteY74" fmla="*/ 800100 h 862012"/>
                <a:gd name="connsiteX75" fmla="*/ 297656 w 1138238"/>
                <a:gd name="connsiteY75" fmla="*/ 700087 h 862012"/>
                <a:gd name="connsiteX76" fmla="*/ 385762 w 1138238"/>
                <a:gd name="connsiteY76" fmla="*/ 666750 h 862012"/>
                <a:gd name="connsiteX77" fmla="*/ 435768 w 1138238"/>
                <a:gd name="connsiteY77" fmla="*/ 681037 h 862012"/>
                <a:gd name="connsiteX78" fmla="*/ 473868 w 1138238"/>
                <a:gd name="connsiteY78" fmla="*/ 702469 h 862012"/>
                <a:gd name="connsiteX79" fmla="*/ 500062 w 1138238"/>
                <a:gd name="connsiteY79" fmla="*/ 707231 h 862012"/>
                <a:gd name="connsiteX80" fmla="*/ 516731 w 1138238"/>
                <a:gd name="connsiteY80" fmla="*/ 702469 h 862012"/>
                <a:gd name="connsiteX81" fmla="*/ 545306 w 1138238"/>
                <a:gd name="connsiteY81" fmla="*/ 671512 h 862012"/>
                <a:gd name="connsiteX82" fmla="*/ 576262 w 1138238"/>
                <a:gd name="connsiteY82" fmla="*/ 671512 h 862012"/>
                <a:gd name="connsiteX83" fmla="*/ 631031 w 1138238"/>
                <a:gd name="connsiteY83" fmla="*/ 650081 h 862012"/>
                <a:gd name="connsiteX0" fmla="*/ 631031 w 1138238"/>
                <a:gd name="connsiteY0" fmla="*/ 650081 h 862012"/>
                <a:gd name="connsiteX1" fmla="*/ 678656 w 1138238"/>
                <a:gd name="connsiteY1" fmla="*/ 585787 h 862012"/>
                <a:gd name="connsiteX2" fmla="*/ 702468 w 1138238"/>
                <a:gd name="connsiteY2" fmla="*/ 573881 h 862012"/>
                <a:gd name="connsiteX3" fmla="*/ 733425 w 1138238"/>
                <a:gd name="connsiteY3" fmla="*/ 573881 h 862012"/>
                <a:gd name="connsiteX4" fmla="*/ 778668 w 1138238"/>
                <a:gd name="connsiteY4" fmla="*/ 554831 h 862012"/>
                <a:gd name="connsiteX5" fmla="*/ 833437 w 1138238"/>
                <a:gd name="connsiteY5" fmla="*/ 528637 h 862012"/>
                <a:gd name="connsiteX6" fmla="*/ 883443 w 1138238"/>
                <a:gd name="connsiteY6" fmla="*/ 495300 h 862012"/>
                <a:gd name="connsiteX7" fmla="*/ 900112 w 1138238"/>
                <a:gd name="connsiteY7" fmla="*/ 490537 h 862012"/>
                <a:gd name="connsiteX8" fmla="*/ 919162 w 1138238"/>
                <a:gd name="connsiteY8" fmla="*/ 485775 h 862012"/>
                <a:gd name="connsiteX9" fmla="*/ 916781 w 1138238"/>
                <a:gd name="connsiteY9" fmla="*/ 447675 h 862012"/>
                <a:gd name="connsiteX10" fmla="*/ 954881 w 1138238"/>
                <a:gd name="connsiteY10" fmla="*/ 428625 h 862012"/>
                <a:gd name="connsiteX11" fmla="*/ 985837 w 1138238"/>
                <a:gd name="connsiteY11" fmla="*/ 407194 h 862012"/>
                <a:gd name="connsiteX12" fmla="*/ 1000125 w 1138238"/>
                <a:gd name="connsiteY12" fmla="*/ 347662 h 862012"/>
                <a:gd name="connsiteX13" fmla="*/ 981075 w 1138238"/>
                <a:gd name="connsiteY13" fmla="*/ 316706 h 862012"/>
                <a:gd name="connsiteX14" fmla="*/ 997743 w 1138238"/>
                <a:gd name="connsiteY14" fmla="*/ 271462 h 862012"/>
                <a:gd name="connsiteX15" fmla="*/ 1033462 w 1138238"/>
                <a:gd name="connsiteY15" fmla="*/ 233362 h 862012"/>
                <a:gd name="connsiteX16" fmla="*/ 1097756 w 1138238"/>
                <a:gd name="connsiteY16" fmla="*/ 209550 h 862012"/>
                <a:gd name="connsiteX17" fmla="*/ 1138238 w 1138238"/>
                <a:gd name="connsiteY17" fmla="*/ 185737 h 862012"/>
                <a:gd name="connsiteX18" fmla="*/ 1107281 w 1138238"/>
                <a:gd name="connsiteY18" fmla="*/ 154781 h 862012"/>
                <a:gd name="connsiteX19" fmla="*/ 1052512 w 1138238"/>
                <a:gd name="connsiteY19" fmla="*/ 97631 h 862012"/>
                <a:gd name="connsiteX20" fmla="*/ 1009650 w 1138238"/>
                <a:gd name="connsiteY20" fmla="*/ 73819 h 862012"/>
                <a:gd name="connsiteX21" fmla="*/ 995362 w 1138238"/>
                <a:gd name="connsiteY21" fmla="*/ 47625 h 862012"/>
                <a:gd name="connsiteX22" fmla="*/ 983456 w 1138238"/>
                <a:gd name="connsiteY22" fmla="*/ 64294 h 862012"/>
                <a:gd name="connsiteX23" fmla="*/ 966787 w 1138238"/>
                <a:gd name="connsiteY23" fmla="*/ 69056 h 862012"/>
                <a:gd name="connsiteX24" fmla="*/ 935831 w 1138238"/>
                <a:gd name="connsiteY24" fmla="*/ 59531 h 862012"/>
                <a:gd name="connsiteX25" fmla="*/ 904875 w 1138238"/>
                <a:gd name="connsiteY25" fmla="*/ 23812 h 862012"/>
                <a:gd name="connsiteX26" fmla="*/ 888206 w 1138238"/>
                <a:gd name="connsiteY26" fmla="*/ 0 h 862012"/>
                <a:gd name="connsiteX27" fmla="*/ 869156 w 1138238"/>
                <a:gd name="connsiteY27" fmla="*/ 28575 h 862012"/>
                <a:gd name="connsiteX28" fmla="*/ 871537 w 1138238"/>
                <a:gd name="connsiteY28" fmla="*/ 69056 h 862012"/>
                <a:gd name="connsiteX29" fmla="*/ 847725 w 1138238"/>
                <a:gd name="connsiteY29" fmla="*/ 100012 h 862012"/>
                <a:gd name="connsiteX30" fmla="*/ 826293 w 1138238"/>
                <a:gd name="connsiteY30" fmla="*/ 97631 h 862012"/>
                <a:gd name="connsiteX31" fmla="*/ 800100 w 1138238"/>
                <a:gd name="connsiteY31" fmla="*/ 71437 h 862012"/>
                <a:gd name="connsiteX32" fmla="*/ 783431 w 1138238"/>
                <a:gd name="connsiteY32" fmla="*/ 57150 h 862012"/>
                <a:gd name="connsiteX33" fmla="*/ 764381 w 1138238"/>
                <a:gd name="connsiteY33" fmla="*/ 61912 h 862012"/>
                <a:gd name="connsiteX34" fmla="*/ 747712 w 1138238"/>
                <a:gd name="connsiteY34" fmla="*/ 92869 h 862012"/>
                <a:gd name="connsiteX35" fmla="*/ 742950 w 1138238"/>
                <a:gd name="connsiteY35" fmla="*/ 107156 h 862012"/>
                <a:gd name="connsiteX36" fmla="*/ 714375 w 1138238"/>
                <a:gd name="connsiteY36" fmla="*/ 107156 h 862012"/>
                <a:gd name="connsiteX37" fmla="*/ 700087 w 1138238"/>
                <a:gd name="connsiteY37" fmla="*/ 95250 h 862012"/>
                <a:gd name="connsiteX38" fmla="*/ 700087 w 1138238"/>
                <a:gd name="connsiteY38" fmla="*/ 66675 h 862012"/>
                <a:gd name="connsiteX39" fmla="*/ 704850 w 1138238"/>
                <a:gd name="connsiteY39" fmla="*/ 38100 h 862012"/>
                <a:gd name="connsiteX40" fmla="*/ 692943 w 1138238"/>
                <a:gd name="connsiteY40" fmla="*/ 23812 h 862012"/>
                <a:gd name="connsiteX41" fmla="*/ 669131 w 1138238"/>
                <a:gd name="connsiteY41" fmla="*/ 26194 h 862012"/>
                <a:gd name="connsiteX42" fmla="*/ 640556 w 1138238"/>
                <a:gd name="connsiteY42" fmla="*/ 19050 h 862012"/>
                <a:gd name="connsiteX43" fmla="*/ 604837 w 1138238"/>
                <a:gd name="connsiteY43" fmla="*/ 4762 h 862012"/>
                <a:gd name="connsiteX44" fmla="*/ 569118 w 1138238"/>
                <a:gd name="connsiteY44" fmla="*/ 4762 h 862012"/>
                <a:gd name="connsiteX45" fmla="*/ 557212 w 1138238"/>
                <a:gd name="connsiteY45" fmla="*/ 11906 h 862012"/>
                <a:gd name="connsiteX46" fmla="*/ 438150 w 1138238"/>
                <a:gd name="connsiteY46" fmla="*/ 69056 h 862012"/>
                <a:gd name="connsiteX47" fmla="*/ 421481 w 1138238"/>
                <a:gd name="connsiteY47" fmla="*/ 169069 h 862012"/>
                <a:gd name="connsiteX48" fmla="*/ 304800 w 1138238"/>
                <a:gd name="connsiteY48" fmla="*/ 228600 h 862012"/>
                <a:gd name="connsiteX49" fmla="*/ 276225 w 1138238"/>
                <a:gd name="connsiteY49" fmla="*/ 290512 h 862012"/>
                <a:gd name="connsiteX50" fmla="*/ 228600 w 1138238"/>
                <a:gd name="connsiteY50" fmla="*/ 285750 h 862012"/>
                <a:gd name="connsiteX51" fmla="*/ 211931 w 1138238"/>
                <a:gd name="connsiteY51" fmla="*/ 357187 h 862012"/>
                <a:gd name="connsiteX52" fmla="*/ 207168 w 1138238"/>
                <a:gd name="connsiteY52" fmla="*/ 369094 h 862012"/>
                <a:gd name="connsiteX53" fmla="*/ 223837 w 1138238"/>
                <a:gd name="connsiteY53" fmla="*/ 404812 h 862012"/>
                <a:gd name="connsiteX54" fmla="*/ 219075 w 1138238"/>
                <a:gd name="connsiteY54" fmla="*/ 511969 h 862012"/>
                <a:gd name="connsiteX55" fmla="*/ 195262 w 1138238"/>
                <a:gd name="connsiteY55" fmla="*/ 521494 h 862012"/>
                <a:gd name="connsiteX56" fmla="*/ 180975 w 1138238"/>
                <a:gd name="connsiteY56" fmla="*/ 502444 h 862012"/>
                <a:gd name="connsiteX57" fmla="*/ 161925 w 1138238"/>
                <a:gd name="connsiteY57" fmla="*/ 457200 h 862012"/>
                <a:gd name="connsiteX58" fmla="*/ 128587 w 1138238"/>
                <a:gd name="connsiteY58" fmla="*/ 433387 h 862012"/>
                <a:gd name="connsiteX59" fmla="*/ 116681 w 1138238"/>
                <a:gd name="connsiteY59" fmla="*/ 409575 h 862012"/>
                <a:gd name="connsiteX60" fmla="*/ 83343 w 1138238"/>
                <a:gd name="connsiteY60" fmla="*/ 421481 h 862012"/>
                <a:gd name="connsiteX61" fmla="*/ 78581 w 1138238"/>
                <a:gd name="connsiteY61" fmla="*/ 466725 h 862012"/>
                <a:gd name="connsiteX62" fmla="*/ 116681 w 1138238"/>
                <a:gd name="connsiteY62" fmla="*/ 514350 h 862012"/>
                <a:gd name="connsiteX63" fmla="*/ 123825 w 1138238"/>
                <a:gd name="connsiteY63" fmla="*/ 583406 h 862012"/>
                <a:gd name="connsiteX64" fmla="*/ 152400 w 1138238"/>
                <a:gd name="connsiteY64" fmla="*/ 631031 h 862012"/>
                <a:gd name="connsiteX65" fmla="*/ 142875 w 1138238"/>
                <a:gd name="connsiteY65" fmla="*/ 657225 h 862012"/>
                <a:gd name="connsiteX66" fmla="*/ 107156 w 1138238"/>
                <a:gd name="connsiteY66" fmla="*/ 697706 h 862012"/>
                <a:gd name="connsiteX67" fmla="*/ 42862 w 1138238"/>
                <a:gd name="connsiteY67" fmla="*/ 735806 h 862012"/>
                <a:gd name="connsiteX68" fmla="*/ 35718 w 1138238"/>
                <a:gd name="connsiteY68" fmla="*/ 769144 h 862012"/>
                <a:gd name="connsiteX69" fmla="*/ 19050 w 1138238"/>
                <a:gd name="connsiteY69" fmla="*/ 795337 h 862012"/>
                <a:gd name="connsiteX70" fmla="*/ 0 w 1138238"/>
                <a:gd name="connsiteY70" fmla="*/ 859631 h 862012"/>
                <a:gd name="connsiteX71" fmla="*/ 19050 w 1138238"/>
                <a:gd name="connsiteY71" fmla="*/ 862012 h 862012"/>
                <a:gd name="connsiteX72" fmla="*/ 154781 w 1138238"/>
                <a:gd name="connsiteY72" fmla="*/ 828675 h 862012"/>
                <a:gd name="connsiteX73" fmla="*/ 171450 w 1138238"/>
                <a:gd name="connsiteY73" fmla="*/ 757237 h 862012"/>
                <a:gd name="connsiteX74" fmla="*/ 259556 w 1138238"/>
                <a:gd name="connsiteY74" fmla="*/ 800100 h 862012"/>
                <a:gd name="connsiteX75" fmla="*/ 297656 w 1138238"/>
                <a:gd name="connsiteY75" fmla="*/ 700087 h 862012"/>
                <a:gd name="connsiteX76" fmla="*/ 385762 w 1138238"/>
                <a:gd name="connsiteY76" fmla="*/ 666750 h 862012"/>
                <a:gd name="connsiteX77" fmla="*/ 435768 w 1138238"/>
                <a:gd name="connsiteY77" fmla="*/ 681037 h 862012"/>
                <a:gd name="connsiteX78" fmla="*/ 473868 w 1138238"/>
                <a:gd name="connsiteY78" fmla="*/ 702469 h 862012"/>
                <a:gd name="connsiteX79" fmla="*/ 500062 w 1138238"/>
                <a:gd name="connsiteY79" fmla="*/ 707231 h 862012"/>
                <a:gd name="connsiteX80" fmla="*/ 516731 w 1138238"/>
                <a:gd name="connsiteY80" fmla="*/ 702469 h 862012"/>
                <a:gd name="connsiteX81" fmla="*/ 545306 w 1138238"/>
                <a:gd name="connsiteY81" fmla="*/ 671512 h 862012"/>
                <a:gd name="connsiteX82" fmla="*/ 576262 w 1138238"/>
                <a:gd name="connsiteY82" fmla="*/ 671512 h 862012"/>
                <a:gd name="connsiteX83" fmla="*/ 631031 w 1138238"/>
                <a:gd name="connsiteY83" fmla="*/ 650081 h 86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138238" h="862012">
                  <a:moveTo>
                    <a:pt x="631031" y="650081"/>
                  </a:moveTo>
                  <a:lnTo>
                    <a:pt x="678656" y="585787"/>
                  </a:lnTo>
                  <a:lnTo>
                    <a:pt x="702468" y="573881"/>
                  </a:lnTo>
                  <a:lnTo>
                    <a:pt x="733425" y="573881"/>
                  </a:lnTo>
                  <a:lnTo>
                    <a:pt x="778668" y="554831"/>
                  </a:lnTo>
                  <a:lnTo>
                    <a:pt x="833437" y="528637"/>
                  </a:lnTo>
                  <a:lnTo>
                    <a:pt x="883443" y="495300"/>
                  </a:lnTo>
                  <a:lnTo>
                    <a:pt x="900112" y="490537"/>
                  </a:lnTo>
                  <a:lnTo>
                    <a:pt x="919162" y="485775"/>
                  </a:lnTo>
                  <a:lnTo>
                    <a:pt x="916781" y="447675"/>
                  </a:lnTo>
                  <a:lnTo>
                    <a:pt x="954881" y="428625"/>
                  </a:lnTo>
                  <a:lnTo>
                    <a:pt x="985837" y="407194"/>
                  </a:lnTo>
                  <a:lnTo>
                    <a:pt x="1000125" y="347662"/>
                  </a:lnTo>
                  <a:lnTo>
                    <a:pt x="981075" y="316706"/>
                  </a:lnTo>
                  <a:lnTo>
                    <a:pt x="997743" y="271462"/>
                  </a:lnTo>
                  <a:lnTo>
                    <a:pt x="1033462" y="233362"/>
                  </a:lnTo>
                  <a:lnTo>
                    <a:pt x="1097756" y="209550"/>
                  </a:lnTo>
                  <a:lnTo>
                    <a:pt x="1138238" y="185737"/>
                  </a:lnTo>
                  <a:lnTo>
                    <a:pt x="1107281" y="154781"/>
                  </a:lnTo>
                  <a:lnTo>
                    <a:pt x="1052512" y="97631"/>
                  </a:lnTo>
                  <a:lnTo>
                    <a:pt x="1009650" y="73819"/>
                  </a:lnTo>
                  <a:lnTo>
                    <a:pt x="995362" y="47625"/>
                  </a:lnTo>
                  <a:lnTo>
                    <a:pt x="983456" y="64294"/>
                  </a:lnTo>
                  <a:lnTo>
                    <a:pt x="966787" y="69056"/>
                  </a:lnTo>
                  <a:lnTo>
                    <a:pt x="935831" y="59531"/>
                  </a:lnTo>
                  <a:lnTo>
                    <a:pt x="904875" y="23812"/>
                  </a:lnTo>
                  <a:lnTo>
                    <a:pt x="888206" y="0"/>
                  </a:lnTo>
                  <a:lnTo>
                    <a:pt x="869156" y="28575"/>
                  </a:lnTo>
                  <a:lnTo>
                    <a:pt x="871537" y="69056"/>
                  </a:lnTo>
                  <a:lnTo>
                    <a:pt x="847725" y="100012"/>
                  </a:lnTo>
                  <a:lnTo>
                    <a:pt x="826293" y="97631"/>
                  </a:lnTo>
                  <a:lnTo>
                    <a:pt x="800100" y="71437"/>
                  </a:lnTo>
                  <a:lnTo>
                    <a:pt x="783431" y="57150"/>
                  </a:lnTo>
                  <a:lnTo>
                    <a:pt x="764381" y="61912"/>
                  </a:lnTo>
                  <a:lnTo>
                    <a:pt x="747712" y="92869"/>
                  </a:lnTo>
                  <a:lnTo>
                    <a:pt x="742950" y="107156"/>
                  </a:lnTo>
                  <a:lnTo>
                    <a:pt x="714375" y="107156"/>
                  </a:lnTo>
                  <a:lnTo>
                    <a:pt x="700087" y="95250"/>
                  </a:lnTo>
                  <a:lnTo>
                    <a:pt x="700087" y="66675"/>
                  </a:lnTo>
                  <a:lnTo>
                    <a:pt x="704850" y="38100"/>
                  </a:lnTo>
                  <a:lnTo>
                    <a:pt x="692943" y="23812"/>
                  </a:lnTo>
                  <a:lnTo>
                    <a:pt x="669131" y="26194"/>
                  </a:lnTo>
                  <a:lnTo>
                    <a:pt x="640556" y="19050"/>
                  </a:lnTo>
                  <a:lnTo>
                    <a:pt x="604837" y="4762"/>
                  </a:lnTo>
                  <a:lnTo>
                    <a:pt x="569118" y="4762"/>
                  </a:lnTo>
                  <a:lnTo>
                    <a:pt x="557212" y="11906"/>
                  </a:lnTo>
                  <a:lnTo>
                    <a:pt x="438150" y="69056"/>
                  </a:lnTo>
                  <a:lnTo>
                    <a:pt x="421481" y="169069"/>
                  </a:lnTo>
                  <a:lnTo>
                    <a:pt x="304800" y="228600"/>
                  </a:lnTo>
                  <a:lnTo>
                    <a:pt x="276225" y="290512"/>
                  </a:lnTo>
                  <a:lnTo>
                    <a:pt x="228600" y="285750"/>
                  </a:lnTo>
                  <a:lnTo>
                    <a:pt x="211931" y="357187"/>
                  </a:lnTo>
                  <a:lnTo>
                    <a:pt x="207168" y="369094"/>
                  </a:lnTo>
                  <a:lnTo>
                    <a:pt x="223837" y="404812"/>
                  </a:lnTo>
                  <a:lnTo>
                    <a:pt x="219075" y="511969"/>
                  </a:lnTo>
                  <a:lnTo>
                    <a:pt x="195262" y="521494"/>
                  </a:lnTo>
                  <a:lnTo>
                    <a:pt x="180975" y="502444"/>
                  </a:lnTo>
                  <a:lnTo>
                    <a:pt x="161925" y="457200"/>
                  </a:lnTo>
                  <a:lnTo>
                    <a:pt x="128587" y="433387"/>
                  </a:lnTo>
                  <a:lnTo>
                    <a:pt x="116681" y="409575"/>
                  </a:lnTo>
                  <a:lnTo>
                    <a:pt x="83343" y="421481"/>
                  </a:lnTo>
                  <a:lnTo>
                    <a:pt x="78581" y="466725"/>
                  </a:lnTo>
                  <a:lnTo>
                    <a:pt x="116681" y="514350"/>
                  </a:lnTo>
                  <a:lnTo>
                    <a:pt x="123825" y="583406"/>
                  </a:lnTo>
                  <a:lnTo>
                    <a:pt x="152400" y="631031"/>
                  </a:lnTo>
                  <a:lnTo>
                    <a:pt x="142875" y="657225"/>
                  </a:lnTo>
                  <a:lnTo>
                    <a:pt x="107156" y="697706"/>
                  </a:lnTo>
                  <a:lnTo>
                    <a:pt x="42862" y="735806"/>
                  </a:lnTo>
                  <a:lnTo>
                    <a:pt x="35718" y="769144"/>
                  </a:lnTo>
                  <a:lnTo>
                    <a:pt x="19050" y="795337"/>
                  </a:lnTo>
                  <a:lnTo>
                    <a:pt x="0" y="859631"/>
                  </a:lnTo>
                  <a:lnTo>
                    <a:pt x="19050" y="862012"/>
                  </a:lnTo>
                  <a:lnTo>
                    <a:pt x="154781" y="828675"/>
                  </a:lnTo>
                  <a:lnTo>
                    <a:pt x="171450" y="757237"/>
                  </a:lnTo>
                  <a:lnTo>
                    <a:pt x="259556" y="800100"/>
                  </a:lnTo>
                  <a:lnTo>
                    <a:pt x="297656" y="700087"/>
                  </a:lnTo>
                  <a:lnTo>
                    <a:pt x="385762" y="666750"/>
                  </a:lnTo>
                  <a:lnTo>
                    <a:pt x="435768" y="681037"/>
                  </a:lnTo>
                  <a:lnTo>
                    <a:pt x="473868" y="702469"/>
                  </a:lnTo>
                  <a:lnTo>
                    <a:pt x="500062" y="707231"/>
                  </a:lnTo>
                  <a:lnTo>
                    <a:pt x="516731" y="702469"/>
                  </a:lnTo>
                  <a:lnTo>
                    <a:pt x="545306" y="671512"/>
                  </a:lnTo>
                  <a:lnTo>
                    <a:pt x="576262" y="671512"/>
                  </a:lnTo>
                  <a:lnTo>
                    <a:pt x="631031" y="650081"/>
                  </a:lnTo>
                  <a:close/>
                </a:path>
              </a:pathLst>
            </a:custGeom>
            <a:solidFill>
              <a:schemeClr val="accent5">
                <a:lumMod val="40000"/>
                <a:lumOff val="60000"/>
              </a:schemeClr>
            </a:solid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29" name="Freeform 28"/>
            <p:cNvSpPr/>
            <p:nvPr/>
          </p:nvSpPr>
          <p:spPr>
            <a:xfrm rot="21298612">
              <a:off x="3217345" y="3363293"/>
              <a:ext cx="737843" cy="650303"/>
            </a:xfrm>
            <a:custGeom>
              <a:avLst/>
              <a:gdLst>
                <a:gd name="connsiteX0" fmla="*/ 123825 w 735806"/>
                <a:gd name="connsiteY0" fmla="*/ 504825 h 611981"/>
                <a:gd name="connsiteX1" fmla="*/ 207169 w 735806"/>
                <a:gd name="connsiteY1" fmla="*/ 528638 h 611981"/>
                <a:gd name="connsiteX2" fmla="*/ 235744 w 735806"/>
                <a:gd name="connsiteY2" fmla="*/ 535781 h 611981"/>
                <a:gd name="connsiteX3" fmla="*/ 257175 w 735806"/>
                <a:gd name="connsiteY3" fmla="*/ 531019 h 611981"/>
                <a:gd name="connsiteX4" fmla="*/ 259556 w 735806"/>
                <a:gd name="connsiteY4" fmla="*/ 547688 h 611981"/>
                <a:gd name="connsiteX5" fmla="*/ 266700 w 735806"/>
                <a:gd name="connsiteY5" fmla="*/ 604838 h 611981"/>
                <a:gd name="connsiteX6" fmla="*/ 276225 w 735806"/>
                <a:gd name="connsiteY6" fmla="*/ 611981 h 611981"/>
                <a:gd name="connsiteX7" fmla="*/ 276225 w 735806"/>
                <a:gd name="connsiteY7" fmla="*/ 611981 h 611981"/>
                <a:gd name="connsiteX8" fmla="*/ 311944 w 735806"/>
                <a:gd name="connsiteY8" fmla="*/ 592931 h 611981"/>
                <a:gd name="connsiteX9" fmla="*/ 323850 w 735806"/>
                <a:gd name="connsiteY9" fmla="*/ 566738 h 611981"/>
                <a:gd name="connsiteX10" fmla="*/ 340519 w 735806"/>
                <a:gd name="connsiteY10" fmla="*/ 561975 h 611981"/>
                <a:gd name="connsiteX11" fmla="*/ 364331 w 735806"/>
                <a:gd name="connsiteY11" fmla="*/ 585788 h 611981"/>
                <a:gd name="connsiteX12" fmla="*/ 381000 w 735806"/>
                <a:gd name="connsiteY12" fmla="*/ 600075 h 611981"/>
                <a:gd name="connsiteX13" fmla="*/ 400050 w 735806"/>
                <a:gd name="connsiteY13" fmla="*/ 607219 h 611981"/>
                <a:gd name="connsiteX14" fmla="*/ 426244 w 735806"/>
                <a:gd name="connsiteY14" fmla="*/ 573881 h 611981"/>
                <a:gd name="connsiteX15" fmla="*/ 433387 w 735806"/>
                <a:gd name="connsiteY15" fmla="*/ 533400 h 611981"/>
                <a:gd name="connsiteX16" fmla="*/ 447675 w 735806"/>
                <a:gd name="connsiteY16" fmla="*/ 504825 h 611981"/>
                <a:gd name="connsiteX17" fmla="*/ 473869 w 735806"/>
                <a:gd name="connsiteY17" fmla="*/ 542925 h 611981"/>
                <a:gd name="connsiteX18" fmla="*/ 495300 w 735806"/>
                <a:gd name="connsiteY18" fmla="*/ 561975 h 611981"/>
                <a:gd name="connsiteX19" fmla="*/ 516731 w 735806"/>
                <a:gd name="connsiteY19" fmla="*/ 578644 h 611981"/>
                <a:gd name="connsiteX20" fmla="*/ 550069 w 735806"/>
                <a:gd name="connsiteY20" fmla="*/ 566738 h 611981"/>
                <a:gd name="connsiteX21" fmla="*/ 557212 w 735806"/>
                <a:gd name="connsiteY21" fmla="*/ 547688 h 611981"/>
                <a:gd name="connsiteX22" fmla="*/ 557212 w 735806"/>
                <a:gd name="connsiteY22" fmla="*/ 535781 h 611981"/>
                <a:gd name="connsiteX23" fmla="*/ 531019 w 735806"/>
                <a:gd name="connsiteY23" fmla="*/ 511969 h 611981"/>
                <a:gd name="connsiteX24" fmla="*/ 514350 w 735806"/>
                <a:gd name="connsiteY24" fmla="*/ 421481 h 611981"/>
                <a:gd name="connsiteX25" fmla="*/ 514350 w 735806"/>
                <a:gd name="connsiteY25" fmla="*/ 421481 h 611981"/>
                <a:gd name="connsiteX26" fmla="*/ 464344 w 735806"/>
                <a:gd name="connsiteY26" fmla="*/ 445294 h 611981"/>
                <a:gd name="connsiteX27" fmla="*/ 438150 w 735806"/>
                <a:gd name="connsiteY27" fmla="*/ 431006 h 611981"/>
                <a:gd name="connsiteX28" fmla="*/ 426244 w 735806"/>
                <a:gd name="connsiteY28" fmla="*/ 385763 h 611981"/>
                <a:gd name="connsiteX29" fmla="*/ 411956 w 735806"/>
                <a:gd name="connsiteY29" fmla="*/ 381000 h 611981"/>
                <a:gd name="connsiteX30" fmla="*/ 388144 w 735806"/>
                <a:gd name="connsiteY30" fmla="*/ 350044 h 611981"/>
                <a:gd name="connsiteX31" fmla="*/ 409575 w 735806"/>
                <a:gd name="connsiteY31" fmla="*/ 314325 h 611981"/>
                <a:gd name="connsiteX32" fmla="*/ 507206 w 735806"/>
                <a:gd name="connsiteY32" fmla="*/ 338138 h 611981"/>
                <a:gd name="connsiteX33" fmla="*/ 528637 w 735806"/>
                <a:gd name="connsiteY33" fmla="*/ 311944 h 611981"/>
                <a:gd name="connsiteX34" fmla="*/ 626269 w 735806"/>
                <a:gd name="connsiteY34" fmla="*/ 290513 h 611981"/>
                <a:gd name="connsiteX35" fmla="*/ 631031 w 735806"/>
                <a:gd name="connsiteY35" fmla="*/ 240506 h 611981"/>
                <a:gd name="connsiteX36" fmla="*/ 714375 w 735806"/>
                <a:gd name="connsiteY36" fmla="*/ 166688 h 611981"/>
                <a:gd name="connsiteX37" fmla="*/ 735806 w 735806"/>
                <a:gd name="connsiteY37" fmla="*/ 71438 h 611981"/>
                <a:gd name="connsiteX38" fmla="*/ 707231 w 735806"/>
                <a:gd name="connsiteY38" fmla="*/ 0 h 611981"/>
                <a:gd name="connsiteX39" fmla="*/ 614362 w 735806"/>
                <a:gd name="connsiteY39" fmla="*/ 47625 h 611981"/>
                <a:gd name="connsiteX40" fmla="*/ 614362 w 735806"/>
                <a:gd name="connsiteY40" fmla="*/ 66675 h 611981"/>
                <a:gd name="connsiteX41" fmla="*/ 597694 w 735806"/>
                <a:gd name="connsiteY41" fmla="*/ 135731 h 611981"/>
                <a:gd name="connsiteX42" fmla="*/ 566737 w 735806"/>
                <a:gd name="connsiteY42" fmla="*/ 130969 h 611981"/>
                <a:gd name="connsiteX43" fmla="*/ 514350 w 735806"/>
                <a:gd name="connsiteY43" fmla="*/ 164306 h 611981"/>
                <a:gd name="connsiteX44" fmla="*/ 433387 w 735806"/>
                <a:gd name="connsiteY44" fmla="*/ 123825 h 611981"/>
                <a:gd name="connsiteX45" fmla="*/ 402431 w 735806"/>
                <a:gd name="connsiteY45" fmla="*/ 128588 h 611981"/>
                <a:gd name="connsiteX46" fmla="*/ 359569 w 735806"/>
                <a:gd name="connsiteY46" fmla="*/ 154781 h 611981"/>
                <a:gd name="connsiteX47" fmla="*/ 307181 w 735806"/>
                <a:gd name="connsiteY47" fmla="*/ 154781 h 611981"/>
                <a:gd name="connsiteX48" fmla="*/ 280987 w 735806"/>
                <a:gd name="connsiteY48" fmla="*/ 188119 h 611981"/>
                <a:gd name="connsiteX49" fmla="*/ 209550 w 735806"/>
                <a:gd name="connsiteY49" fmla="*/ 171450 h 611981"/>
                <a:gd name="connsiteX50" fmla="*/ 154781 w 735806"/>
                <a:gd name="connsiteY50" fmla="*/ 197644 h 611981"/>
                <a:gd name="connsiteX51" fmla="*/ 126206 w 735806"/>
                <a:gd name="connsiteY51" fmla="*/ 176213 h 611981"/>
                <a:gd name="connsiteX52" fmla="*/ 111919 w 735806"/>
                <a:gd name="connsiteY52" fmla="*/ 176213 h 611981"/>
                <a:gd name="connsiteX53" fmla="*/ 107156 w 735806"/>
                <a:gd name="connsiteY53" fmla="*/ 164306 h 611981"/>
                <a:gd name="connsiteX54" fmla="*/ 9525 w 735806"/>
                <a:gd name="connsiteY54" fmla="*/ 159544 h 611981"/>
                <a:gd name="connsiteX55" fmla="*/ 0 w 735806"/>
                <a:gd name="connsiteY55" fmla="*/ 190500 h 611981"/>
                <a:gd name="connsiteX56" fmla="*/ 2381 w 735806"/>
                <a:gd name="connsiteY56" fmla="*/ 261938 h 611981"/>
                <a:gd name="connsiteX57" fmla="*/ 30956 w 735806"/>
                <a:gd name="connsiteY57" fmla="*/ 278606 h 611981"/>
                <a:gd name="connsiteX58" fmla="*/ 47625 w 735806"/>
                <a:gd name="connsiteY58" fmla="*/ 285750 h 611981"/>
                <a:gd name="connsiteX59" fmla="*/ 69056 w 735806"/>
                <a:gd name="connsiteY59" fmla="*/ 292894 h 611981"/>
                <a:gd name="connsiteX60" fmla="*/ 80962 w 735806"/>
                <a:gd name="connsiteY60" fmla="*/ 319088 h 611981"/>
                <a:gd name="connsiteX61" fmla="*/ 109537 w 735806"/>
                <a:gd name="connsiteY61" fmla="*/ 340519 h 611981"/>
                <a:gd name="connsiteX62" fmla="*/ 111919 w 735806"/>
                <a:gd name="connsiteY62" fmla="*/ 390525 h 611981"/>
                <a:gd name="connsiteX63" fmla="*/ 128587 w 735806"/>
                <a:gd name="connsiteY63" fmla="*/ 428625 h 611981"/>
                <a:gd name="connsiteX64" fmla="*/ 104775 w 735806"/>
                <a:gd name="connsiteY64" fmla="*/ 445294 h 611981"/>
                <a:gd name="connsiteX65" fmla="*/ 123825 w 735806"/>
                <a:gd name="connsiteY65" fmla="*/ 504825 h 611981"/>
                <a:gd name="connsiteX0" fmla="*/ 123825 w 735806"/>
                <a:gd name="connsiteY0" fmla="*/ 504825 h 614362"/>
                <a:gd name="connsiteX1" fmla="*/ 207169 w 735806"/>
                <a:gd name="connsiteY1" fmla="*/ 528638 h 614362"/>
                <a:gd name="connsiteX2" fmla="*/ 235744 w 735806"/>
                <a:gd name="connsiteY2" fmla="*/ 535781 h 614362"/>
                <a:gd name="connsiteX3" fmla="*/ 257175 w 735806"/>
                <a:gd name="connsiteY3" fmla="*/ 531019 h 614362"/>
                <a:gd name="connsiteX4" fmla="*/ 259556 w 735806"/>
                <a:gd name="connsiteY4" fmla="*/ 547688 h 614362"/>
                <a:gd name="connsiteX5" fmla="*/ 266700 w 735806"/>
                <a:gd name="connsiteY5" fmla="*/ 604838 h 614362"/>
                <a:gd name="connsiteX6" fmla="*/ 276225 w 735806"/>
                <a:gd name="connsiteY6" fmla="*/ 611981 h 614362"/>
                <a:gd name="connsiteX7" fmla="*/ 276225 w 735806"/>
                <a:gd name="connsiteY7" fmla="*/ 611981 h 614362"/>
                <a:gd name="connsiteX8" fmla="*/ 311944 w 735806"/>
                <a:gd name="connsiteY8" fmla="*/ 614362 h 614362"/>
                <a:gd name="connsiteX9" fmla="*/ 323850 w 735806"/>
                <a:gd name="connsiteY9" fmla="*/ 566738 h 614362"/>
                <a:gd name="connsiteX10" fmla="*/ 340519 w 735806"/>
                <a:gd name="connsiteY10" fmla="*/ 561975 h 614362"/>
                <a:gd name="connsiteX11" fmla="*/ 364331 w 735806"/>
                <a:gd name="connsiteY11" fmla="*/ 585788 h 614362"/>
                <a:gd name="connsiteX12" fmla="*/ 381000 w 735806"/>
                <a:gd name="connsiteY12" fmla="*/ 600075 h 614362"/>
                <a:gd name="connsiteX13" fmla="*/ 400050 w 735806"/>
                <a:gd name="connsiteY13" fmla="*/ 607219 h 614362"/>
                <a:gd name="connsiteX14" fmla="*/ 426244 w 735806"/>
                <a:gd name="connsiteY14" fmla="*/ 573881 h 614362"/>
                <a:gd name="connsiteX15" fmla="*/ 433387 w 735806"/>
                <a:gd name="connsiteY15" fmla="*/ 533400 h 614362"/>
                <a:gd name="connsiteX16" fmla="*/ 447675 w 735806"/>
                <a:gd name="connsiteY16" fmla="*/ 504825 h 614362"/>
                <a:gd name="connsiteX17" fmla="*/ 473869 w 735806"/>
                <a:gd name="connsiteY17" fmla="*/ 542925 h 614362"/>
                <a:gd name="connsiteX18" fmla="*/ 495300 w 735806"/>
                <a:gd name="connsiteY18" fmla="*/ 561975 h 614362"/>
                <a:gd name="connsiteX19" fmla="*/ 516731 w 735806"/>
                <a:gd name="connsiteY19" fmla="*/ 578644 h 614362"/>
                <a:gd name="connsiteX20" fmla="*/ 550069 w 735806"/>
                <a:gd name="connsiteY20" fmla="*/ 566738 h 614362"/>
                <a:gd name="connsiteX21" fmla="*/ 557212 w 735806"/>
                <a:gd name="connsiteY21" fmla="*/ 547688 h 614362"/>
                <a:gd name="connsiteX22" fmla="*/ 557212 w 735806"/>
                <a:gd name="connsiteY22" fmla="*/ 535781 h 614362"/>
                <a:gd name="connsiteX23" fmla="*/ 531019 w 735806"/>
                <a:gd name="connsiteY23" fmla="*/ 511969 h 614362"/>
                <a:gd name="connsiteX24" fmla="*/ 514350 w 735806"/>
                <a:gd name="connsiteY24" fmla="*/ 421481 h 614362"/>
                <a:gd name="connsiteX25" fmla="*/ 514350 w 735806"/>
                <a:gd name="connsiteY25" fmla="*/ 421481 h 614362"/>
                <a:gd name="connsiteX26" fmla="*/ 464344 w 735806"/>
                <a:gd name="connsiteY26" fmla="*/ 445294 h 614362"/>
                <a:gd name="connsiteX27" fmla="*/ 438150 w 735806"/>
                <a:gd name="connsiteY27" fmla="*/ 431006 h 614362"/>
                <a:gd name="connsiteX28" fmla="*/ 426244 w 735806"/>
                <a:gd name="connsiteY28" fmla="*/ 385763 h 614362"/>
                <a:gd name="connsiteX29" fmla="*/ 411956 w 735806"/>
                <a:gd name="connsiteY29" fmla="*/ 381000 h 614362"/>
                <a:gd name="connsiteX30" fmla="*/ 388144 w 735806"/>
                <a:gd name="connsiteY30" fmla="*/ 350044 h 614362"/>
                <a:gd name="connsiteX31" fmla="*/ 409575 w 735806"/>
                <a:gd name="connsiteY31" fmla="*/ 314325 h 614362"/>
                <a:gd name="connsiteX32" fmla="*/ 507206 w 735806"/>
                <a:gd name="connsiteY32" fmla="*/ 338138 h 614362"/>
                <a:gd name="connsiteX33" fmla="*/ 528637 w 735806"/>
                <a:gd name="connsiteY33" fmla="*/ 311944 h 614362"/>
                <a:gd name="connsiteX34" fmla="*/ 626269 w 735806"/>
                <a:gd name="connsiteY34" fmla="*/ 290513 h 614362"/>
                <a:gd name="connsiteX35" fmla="*/ 631031 w 735806"/>
                <a:gd name="connsiteY35" fmla="*/ 240506 h 614362"/>
                <a:gd name="connsiteX36" fmla="*/ 714375 w 735806"/>
                <a:gd name="connsiteY36" fmla="*/ 166688 h 614362"/>
                <a:gd name="connsiteX37" fmla="*/ 735806 w 735806"/>
                <a:gd name="connsiteY37" fmla="*/ 71438 h 614362"/>
                <a:gd name="connsiteX38" fmla="*/ 707231 w 735806"/>
                <a:gd name="connsiteY38" fmla="*/ 0 h 614362"/>
                <a:gd name="connsiteX39" fmla="*/ 614362 w 735806"/>
                <a:gd name="connsiteY39" fmla="*/ 47625 h 614362"/>
                <a:gd name="connsiteX40" fmla="*/ 614362 w 735806"/>
                <a:gd name="connsiteY40" fmla="*/ 66675 h 614362"/>
                <a:gd name="connsiteX41" fmla="*/ 597694 w 735806"/>
                <a:gd name="connsiteY41" fmla="*/ 135731 h 614362"/>
                <a:gd name="connsiteX42" fmla="*/ 566737 w 735806"/>
                <a:gd name="connsiteY42" fmla="*/ 130969 h 614362"/>
                <a:gd name="connsiteX43" fmla="*/ 514350 w 735806"/>
                <a:gd name="connsiteY43" fmla="*/ 164306 h 614362"/>
                <a:gd name="connsiteX44" fmla="*/ 433387 w 735806"/>
                <a:gd name="connsiteY44" fmla="*/ 123825 h 614362"/>
                <a:gd name="connsiteX45" fmla="*/ 402431 w 735806"/>
                <a:gd name="connsiteY45" fmla="*/ 128588 h 614362"/>
                <a:gd name="connsiteX46" fmla="*/ 359569 w 735806"/>
                <a:gd name="connsiteY46" fmla="*/ 154781 h 614362"/>
                <a:gd name="connsiteX47" fmla="*/ 307181 w 735806"/>
                <a:gd name="connsiteY47" fmla="*/ 154781 h 614362"/>
                <a:gd name="connsiteX48" fmla="*/ 280987 w 735806"/>
                <a:gd name="connsiteY48" fmla="*/ 188119 h 614362"/>
                <a:gd name="connsiteX49" fmla="*/ 209550 w 735806"/>
                <a:gd name="connsiteY49" fmla="*/ 171450 h 614362"/>
                <a:gd name="connsiteX50" fmla="*/ 154781 w 735806"/>
                <a:gd name="connsiteY50" fmla="*/ 197644 h 614362"/>
                <a:gd name="connsiteX51" fmla="*/ 126206 w 735806"/>
                <a:gd name="connsiteY51" fmla="*/ 176213 h 614362"/>
                <a:gd name="connsiteX52" fmla="*/ 111919 w 735806"/>
                <a:gd name="connsiteY52" fmla="*/ 176213 h 614362"/>
                <a:gd name="connsiteX53" fmla="*/ 107156 w 735806"/>
                <a:gd name="connsiteY53" fmla="*/ 164306 h 614362"/>
                <a:gd name="connsiteX54" fmla="*/ 9525 w 735806"/>
                <a:gd name="connsiteY54" fmla="*/ 159544 h 614362"/>
                <a:gd name="connsiteX55" fmla="*/ 0 w 735806"/>
                <a:gd name="connsiteY55" fmla="*/ 190500 h 614362"/>
                <a:gd name="connsiteX56" fmla="*/ 2381 w 735806"/>
                <a:gd name="connsiteY56" fmla="*/ 261938 h 614362"/>
                <a:gd name="connsiteX57" fmla="*/ 30956 w 735806"/>
                <a:gd name="connsiteY57" fmla="*/ 278606 h 614362"/>
                <a:gd name="connsiteX58" fmla="*/ 47625 w 735806"/>
                <a:gd name="connsiteY58" fmla="*/ 285750 h 614362"/>
                <a:gd name="connsiteX59" fmla="*/ 69056 w 735806"/>
                <a:gd name="connsiteY59" fmla="*/ 292894 h 614362"/>
                <a:gd name="connsiteX60" fmla="*/ 80962 w 735806"/>
                <a:gd name="connsiteY60" fmla="*/ 319088 h 614362"/>
                <a:gd name="connsiteX61" fmla="*/ 109537 w 735806"/>
                <a:gd name="connsiteY61" fmla="*/ 340519 h 614362"/>
                <a:gd name="connsiteX62" fmla="*/ 111919 w 735806"/>
                <a:gd name="connsiteY62" fmla="*/ 390525 h 614362"/>
                <a:gd name="connsiteX63" fmla="*/ 128587 w 735806"/>
                <a:gd name="connsiteY63" fmla="*/ 428625 h 614362"/>
                <a:gd name="connsiteX64" fmla="*/ 104775 w 735806"/>
                <a:gd name="connsiteY64" fmla="*/ 445294 h 614362"/>
                <a:gd name="connsiteX65" fmla="*/ 123825 w 735806"/>
                <a:gd name="connsiteY65" fmla="*/ 504825 h 614362"/>
                <a:gd name="connsiteX0" fmla="*/ 123825 w 735806"/>
                <a:gd name="connsiteY0" fmla="*/ 504825 h 614362"/>
                <a:gd name="connsiteX1" fmla="*/ 207169 w 735806"/>
                <a:gd name="connsiteY1" fmla="*/ 528638 h 614362"/>
                <a:gd name="connsiteX2" fmla="*/ 235744 w 735806"/>
                <a:gd name="connsiteY2" fmla="*/ 535781 h 614362"/>
                <a:gd name="connsiteX3" fmla="*/ 257175 w 735806"/>
                <a:gd name="connsiteY3" fmla="*/ 531019 h 614362"/>
                <a:gd name="connsiteX4" fmla="*/ 259556 w 735806"/>
                <a:gd name="connsiteY4" fmla="*/ 547688 h 614362"/>
                <a:gd name="connsiteX5" fmla="*/ 259556 w 735806"/>
                <a:gd name="connsiteY5" fmla="*/ 592932 h 614362"/>
                <a:gd name="connsiteX6" fmla="*/ 276225 w 735806"/>
                <a:gd name="connsiteY6" fmla="*/ 611981 h 614362"/>
                <a:gd name="connsiteX7" fmla="*/ 276225 w 735806"/>
                <a:gd name="connsiteY7" fmla="*/ 611981 h 614362"/>
                <a:gd name="connsiteX8" fmla="*/ 311944 w 735806"/>
                <a:gd name="connsiteY8" fmla="*/ 614362 h 614362"/>
                <a:gd name="connsiteX9" fmla="*/ 323850 w 735806"/>
                <a:gd name="connsiteY9" fmla="*/ 566738 h 614362"/>
                <a:gd name="connsiteX10" fmla="*/ 340519 w 735806"/>
                <a:gd name="connsiteY10" fmla="*/ 561975 h 614362"/>
                <a:gd name="connsiteX11" fmla="*/ 364331 w 735806"/>
                <a:gd name="connsiteY11" fmla="*/ 585788 h 614362"/>
                <a:gd name="connsiteX12" fmla="*/ 381000 w 735806"/>
                <a:gd name="connsiteY12" fmla="*/ 600075 h 614362"/>
                <a:gd name="connsiteX13" fmla="*/ 400050 w 735806"/>
                <a:gd name="connsiteY13" fmla="*/ 607219 h 614362"/>
                <a:gd name="connsiteX14" fmla="*/ 426244 w 735806"/>
                <a:gd name="connsiteY14" fmla="*/ 573881 h 614362"/>
                <a:gd name="connsiteX15" fmla="*/ 433387 w 735806"/>
                <a:gd name="connsiteY15" fmla="*/ 533400 h 614362"/>
                <a:gd name="connsiteX16" fmla="*/ 447675 w 735806"/>
                <a:gd name="connsiteY16" fmla="*/ 504825 h 614362"/>
                <a:gd name="connsiteX17" fmla="*/ 473869 w 735806"/>
                <a:gd name="connsiteY17" fmla="*/ 542925 h 614362"/>
                <a:gd name="connsiteX18" fmla="*/ 495300 w 735806"/>
                <a:gd name="connsiteY18" fmla="*/ 561975 h 614362"/>
                <a:gd name="connsiteX19" fmla="*/ 516731 w 735806"/>
                <a:gd name="connsiteY19" fmla="*/ 578644 h 614362"/>
                <a:gd name="connsiteX20" fmla="*/ 550069 w 735806"/>
                <a:gd name="connsiteY20" fmla="*/ 566738 h 614362"/>
                <a:gd name="connsiteX21" fmla="*/ 557212 w 735806"/>
                <a:gd name="connsiteY21" fmla="*/ 547688 h 614362"/>
                <a:gd name="connsiteX22" fmla="*/ 557212 w 735806"/>
                <a:gd name="connsiteY22" fmla="*/ 535781 h 614362"/>
                <a:gd name="connsiteX23" fmla="*/ 531019 w 735806"/>
                <a:gd name="connsiteY23" fmla="*/ 511969 h 614362"/>
                <a:gd name="connsiteX24" fmla="*/ 514350 w 735806"/>
                <a:gd name="connsiteY24" fmla="*/ 421481 h 614362"/>
                <a:gd name="connsiteX25" fmla="*/ 514350 w 735806"/>
                <a:gd name="connsiteY25" fmla="*/ 421481 h 614362"/>
                <a:gd name="connsiteX26" fmla="*/ 464344 w 735806"/>
                <a:gd name="connsiteY26" fmla="*/ 445294 h 614362"/>
                <a:gd name="connsiteX27" fmla="*/ 438150 w 735806"/>
                <a:gd name="connsiteY27" fmla="*/ 431006 h 614362"/>
                <a:gd name="connsiteX28" fmla="*/ 426244 w 735806"/>
                <a:gd name="connsiteY28" fmla="*/ 385763 h 614362"/>
                <a:gd name="connsiteX29" fmla="*/ 411956 w 735806"/>
                <a:gd name="connsiteY29" fmla="*/ 381000 h 614362"/>
                <a:gd name="connsiteX30" fmla="*/ 388144 w 735806"/>
                <a:gd name="connsiteY30" fmla="*/ 350044 h 614362"/>
                <a:gd name="connsiteX31" fmla="*/ 409575 w 735806"/>
                <a:gd name="connsiteY31" fmla="*/ 314325 h 614362"/>
                <a:gd name="connsiteX32" fmla="*/ 507206 w 735806"/>
                <a:gd name="connsiteY32" fmla="*/ 338138 h 614362"/>
                <a:gd name="connsiteX33" fmla="*/ 528637 w 735806"/>
                <a:gd name="connsiteY33" fmla="*/ 311944 h 614362"/>
                <a:gd name="connsiteX34" fmla="*/ 626269 w 735806"/>
                <a:gd name="connsiteY34" fmla="*/ 290513 h 614362"/>
                <a:gd name="connsiteX35" fmla="*/ 631031 w 735806"/>
                <a:gd name="connsiteY35" fmla="*/ 240506 h 614362"/>
                <a:gd name="connsiteX36" fmla="*/ 714375 w 735806"/>
                <a:gd name="connsiteY36" fmla="*/ 166688 h 614362"/>
                <a:gd name="connsiteX37" fmla="*/ 735806 w 735806"/>
                <a:gd name="connsiteY37" fmla="*/ 71438 h 614362"/>
                <a:gd name="connsiteX38" fmla="*/ 707231 w 735806"/>
                <a:gd name="connsiteY38" fmla="*/ 0 h 614362"/>
                <a:gd name="connsiteX39" fmla="*/ 614362 w 735806"/>
                <a:gd name="connsiteY39" fmla="*/ 47625 h 614362"/>
                <a:gd name="connsiteX40" fmla="*/ 614362 w 735806"/>
                <a:gd name="connsiteY40" fmla="*/ 66675 h 614362"/>
                <a:gd name="connsiteX41" fmla="*/ 597694 w 735806"/>
                <a:gd name="connsiteY41" fmla="*/ 135731 h 614362"/>
                <a:gd name="connsiteX42" fmla="*/ 566737 w 735806"/>
                <a:gd name="connsiteY42" fmla="*/ 130969 h 614362"/>
                <a:gd name="connsiteX43" fmla="*/ 514350 w 735806"/>
                <a:gd name="connsiteY43" fmla="*/ 164306 h 614362"/>
                <a:gd name="connsiteX44" fmla="*/ 433387 w 735806"/>
                <a:gd name="connsiteY44" fmla="*/ 123825 h 614362"/>
                <a:gd name="connsiteX45" fmla="*/ 402431 w 735806"/>
                <a:gd name="connsiteY45" fmla="*/ 128588 h 614362"/>
                <a:gd name="connsiteX46" fmla="*/ 359569 w 735806"/>
                <a:gd name="connsiteY46" fmla="*/ 154781 h 614362"/>
                <a:gd name="connsiteX47" fmla="*/ 307181 w 735806"/>
                <a:gd name="connsiteY47" fmla="*/ 154781 h 614362"/>
                <a:gd name="connsiteX48" fmla="*/ 280987 w 735806"/>
                <a:gd name="connsiteY48" fmla="*/ 188119 h 614362"/>
                <a:gd name="connsiteX49" fmla="*/ 209550 w 735806"/>
                <a:gd name="connsiteY49" fmla="*/ 171450 h 614362"/>
                <a:gd name="connsiteX50" fmla="*/ 154781 w 735806"/>
                <a:gd name="connsiteY50" fmla="*/ 197644 h 614362"/>
                <a:gd name="connsiteX51" fmla="*/ 126206 w 735806"/>
                <a:gd name="connsiteY51" fmla="*/ 176213 h 614362"/>
                <a:gd name="connsiteX52" fmla="*/ 111919 w 735806"/>
                <a:gd name="connsiteY52" fmla="*/ 176213 h 614362"/>
                <a:gd name="connsiteX53" fmla="*/ 107156 w 735806"/>
                <a:gd name="connsiteY53" fmla="*/ 164306 h 614362"/>
                <a:gd name="connsiteX54" fmla="*/ 9525 w 735806"/>
                <a:gd name="connsiteY54" fmla="*/ 159544 h 614362"/>
                <a:gd name="connsiteX55" fmla="*/ 0 w 735806"/>
                <a:gd name="connsiteY55" fmla="*/ 190500 h 614362"/>
                <a:gd name="connsiteX56" fmla="*/ 2381 w 735806"/>
                <a:gd name="connsiteY56" fmla="*/ 261938 h 614362"/>
                <a:gd name="connsiteX57" fmla="*/ 30956 w 735806"/>
                <a:gd name="connsiteY57" fmla="*/ 278606 h 614362"/>
                <a:gd name="connsiteX58" fmla="*/ 47625 w 735806"/>
                <a:gd name="connsiteY58" fmla="*/ 285750 h 614362"/>
                <a:gd name="connsiteX59" fmla="*/ 69056 w 735806"/>
                <a:gd name="connsiteY59" fmla="*/ 292894 h 614362"/>
                <a:gd name="connsiteX60" fmla="*/ 80962 w 735806"/>
                <a:gd name="connsiteY60" fmla="*/ 319088 h 614362"/>
                <a:gd name="connsiteX61" fmla="*/ 109537 w 735806"/>
                <a:gd name="connsiteY61" fmla="*/ 340519 h 614362"/>
                <a:gd name="connsiteX62" fmla="*/ 111919 w 735806"/>
                <a:gd name="connsiteY62" fmla="*/ 390525 h 614362"/>
                <a:gd name="connsiteX63" fmla="*/ 128587 w 735806"/>
                <a:gd name="connsiteY63" fmla="*/ 428625 h 614362"/>
                <a:gd name="connsiteX64" fmla="*/ 104775 w 735806"/>
                <a:gd name="connsiteY64" fmla="*/ 445294 h 614362"/>
                <a:gd name="connsiteX65" fmla="*/ 123825 w 735806"/>
                <a:gd name="connsiteY65" fmla="*/ 504825 h 61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735806" h="614362">
                  <a:moveTo>
                    <a:pt x="123825" y="504825"/>
                  </a:moveTo>
                  <a:lnTo>
                    <a:pt x="207169" y="528638"/>
                  </a:lnTo>
                  <a:lnTo>
                    <a:pt x="235744" y="535781"/>
                  </a:lnTo>
                  <a:lnTo>
                    <a:pt x="257175" y="531019"/>
                  </a:lnTo>
                  <a:lnTo>
                    <a:pt x="259556" y="547688"/>
                  </a:lnTo>
                  <a:lnTo>
                    <a:pt x="259556" y="592932"/>
                  </a:lnTo>
                  <a:lnTo>
                    <a:pt x="276225" y="611981"/>
                  </a:lnTo>
                  <a:lnTo>
                    <a:pt x="276225" y="611981"/>
                  </a:lnTo>
                  <a:lnTo>
                    <a:pt x="311944" y="614362"/>
                  </a:lnTo>
                  <a:lnTo>
                    <a:pt x="323850" y="566738"/>
                  </a:lnTo>
                  <a:lnTo>
                    <a:pt x="340519" y="561975"/>
                  </a:lnTo>
                  <a:lnTo>
                    <a:pt x="364331" y="585788"/>
                  </a:lnTo>
                  <a:lnTo>
                    <a:pt x="381000" y="600075"/>
                  </a:lnTo>
                  <a:lnTo>
                    <a:pt x="400050" y="607219"/>
                  </a:lnTo>
                  <a:lnTo>
                    <a:pt x="426244" y="573881"/>
                  </a:lnTo>
                  <a:lnTo>
                    <a:pt x="433387" y="533400"/>
                  </a:lnTo>
                  <a:lnTo>
                    <a:pt x="447675" y="504825"/>
                  </a:lnTo>
                  <a:lnTo>
                    <a:pt x="473869" y="542925"/>
                  </a:lnTo>
                  <a:lnTo>
                    <a:pt x="495300" y="561975"/>
                  </a:lnTo>
                  <a:lnTo>
                    <a:pt x="516731" y="578644"/>
                  </a:lnTo>
                  <a:lnTo>
                    <a:pt x="550069" y="566738"/>
                  </a:lnTo>
                  <a:lnTo>
                    <a:pt x="557212" y="547688"/>
                  </a:lnTo>
                  <a:lnTo>
                    <a:pt x="557212" y="535781"/>
                  </a:lnTo>
                  <a:lnTo>
                    <a:pt x="531019" y="511969"/>
                  </a:lnTo>
                  <a:lnTo>
                    <a:pt x="514350" y="421481"/>
                  </a:lnTo>
                  <a:lnTo>
                    <a:pt x="514350" y="421481"/>
                  </a:lnTo>
                  <a:lnTo>
                    <a:pt x="464344" y="445294"/>
                  </a:lnTo>
                  <a:lnTo>
                    <a:pt x="438150" y="431006"/>
                  </a:lnTo>
                  <a:lnTo>
                    <a:pt x="426244" y="385763"/>
                  </a:lnTo>
                  <a:lnTo>
                    <a:pt x="411956" y="381000"/>
                  </a:lnTo>
                  <a:lnTo>
                    <a:pt x="388144" y="350044"/>
                  </a:lnTo>
                  <a:lnTo>
                    <a:pt x="409575" y="314325"/>
                  </a:lnTo>
                  <a:lnTo>
                    <a:pt x="507206" y="338138"/>
                  </a:lnTo>
                  <a:lnTo>
                    <a:pt x="528637" y="311944"/>
                  </a:lnTo>
                  <a:lnTo>
                    <a:pt x="626269" y="290513"/>
                  </a:lnTo>
                  <a:lnTo>
                    <a:pt x="631031" y="240506"/>
                  </a:lnTo>
                  <a:lnTo>
                    <a:pt x="714375" y="166688"/>
                  </a:lnTo>
                  <a:lnTo>
                    <a:pt x="735806" y="71438"/>
                  </a:lnTo>
                  <a:lnTo>
                    <a:pt x="707231" y="0"/>
                  </a:lnTo>
                  <a:lnTo>
                    <a:pt x="614362" y="47625"/>
                  </a:lnTo>
                  <a:lnTo>
                    <a:pt x="614362" y="66675"/>
                  </a:lnTo>
                  <a:lnTo>
                    <a:pt x="597694" y="135731"/>
                  </a:lnTo>
                  <a:lnTo>
                    <a:pt x="566737" y="130969"/>
                  </a:lnTo>
                  <a:lnTo>
                    <a:pt x="514350" y="164306"/>
                  </a:lnTo>
                  <a:lnTo>
                    <a:pt x="433387" y="123825"/>
                  </a:lnTo>
                  <a:lnTo>
                    <a:pt x="402431" y="128588"/>
                  </a:lnTo>
                  <a:lnTo>
                    <a:pt x="359569" y="154781"/>
                  </a:lnTo>
                  <a:lnTo>
                    <a:pt x="307181" y="154781"/>
                  </a:lnTo>
                  <a:lnTo>
                    <a:pt x="280987" y="188119"/>
                  </a:lnTo>
                  <a:lnTo>
                    <a:pt x="209550" y="171450"/>
                  </a:lnTo>
                  <a:lnTo>
                    <a:pt x="154781" y="197644"/>
                  </a:lnTo>
                  <a:lnTo>
                    <a:pt x="126206" y="176213"/>
                  </a:lnTo>
                  <a:lnTo>
                    <a:pt x="111919" y="176213"/>
                  </a:lnTo>
                  <a:lnTo>
                    <a:pt x="107156" y="164306"/>
                  </a:lnTo>
                  <a:lnTo>
                    <a:pt x="9525" y="159544"/>
                  </a:lnTo>
                  <a:lnTo>
                    <a:pt x="0" y="190500"/>
                  </a:lnTo>
                  <a:cubicBezTo>
                    <a:pt x="794" y="214313"/>
                    <a:pt x="1587" y="238125"/>
                    <a:pt x="2381" y="261938"/>
                  </a:cubicBezTo>
                  <a:lnTo>
                    <a:pt x="30956" y="278606"/>
                  </a:lnTo>
                  <a:lnTo>
                    <a:pt x="47625" y="285750"/>
                  </a:lnTo>
                  <a:lnTo>
                    <a:pt x="69056" y="292894"/>
                  </a:lnTo>
                  <a:lnTo>
                    <a:pt x="80962" y="319088"/>
                  </a:lnTo>
                  <a:lnTo>
                    <a:pt x="109537" y="340519"/>
                  </a:lnTo>
                  <a:lnTo>
                    <a:pt x="111919" y="390525"/>
                  </a:lnTo>
                  <a:lnTo>
                    <a:pt x="128587" y="428625"/>
                  </a:lnTo>
                  <a:lnTo>
                    <a:pt x="104775" y="445294"/>
                  </a:lnTo>
                  <a:lnTo>
                    <a:pt x="123825" y="504825"/>
                  </a:lnTo>
                  <a:close/>
                </a:path>
              </a:pathLst>
            </a:custGeom>
            <a:solidFill>
              <a:schemeClr val="accent5">
                <a:lumMod val="40000"/>
                <a:lumOff val="60000"/>
              </a:schemeClr>
            </a:solid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30" name="Freeform 29"/>
            <p:cNvSpPr/>
            <p:nvPr/>
          </p:nvSpPr>
          <p:spPr>
            <a:xfrm rot="21298612">
              <a:off x="4532498" y="3472719"/>
              <a:ext cx="208764" cy="312549"/>
            </a:xfrm>
            <a:custGeom>
              <a:avLst/>
              <a:gdLst>
                <a:gd name="connsiteX0" fmla="*/ 195262 w 207168"/>
                <a:gd name="connsiteY0" fmla="*/ 0 h 295275"/>
                <a:gd name="connsiteX1" fmla="*/ 64293 w 207168"/>
                <a:gd name="connsiteY1" fmla="*/ 45244 h 295275"/>
                <a:gd name="connsiteX2" fmla="*/ 9525 w 207168"/>
                <a:gd name="connsiteY2" fmla="*/ 90488 h 295275"/>
                <a:gd name="connsiteX3" fmla="*/ 2381 w 207168"/>
                <a:gd name="connsiteY3" fmla="*/ 152400 h 295275"/>
                <a:gd name="connsiteX4" fmla="*/ 0 w 207168"/>
                <a:gd name="connsiteY4" fmla="*/ 197644 h 295275"/>
                <a:gd name="connsiteX5" fmla="*/ 7143 w 207168"/>
                <a:gd name="connsiteY5" fmla="*/ 204788 h 295275"/>
                <a:gd name="connsiteX6" fmla="*/ 4762 w 207168"/>
                <a:gd name="connsiteY6" fmla="*/ 228600 h 295275"/>
                <a:gd name="connsiteX7" fmla="*/ 30956 w 207168"/>
                <a:gd name="connsiteY7" fmla="*/ 252413 h 295275"/>
                <a:gd name="connsiteX8" fmla="*/ 52387 w 207168"/>
                <a:gd name="connsiteY8" fmla="*/ 295275 h 295275"/>
                <a:gd name="connsiteX9" fmla="*/ 69056 w 207168"/>
                <a:gd name="connsiteY9" fmla="*/ 288131 h 295275"/>
                <a:gd name="connsiteX10" fmla="*/ 69056 w 207168"/>
                <a:gd name="connsiteY10" fmla="*/ 259556 h 295275"/>
                <a:gd name="connsiteX11" fmla="*/ 88106 w 207168"/>
                <a:gd name="connsiteY11" fmla="*/ 233363 h 295275"/>
                <a:gd name="connsiteX12" fmla="*/ 104775 w 207168"/>
                <a:gd name="connsiteY12" fmla="*/ 228600 h 295275"/>
                <a:gd name="connsiteX13" fmla="*/ 176212 w 207168"/>
                <a:gd name="connsiteY13" fmla="*/ 161925 h 295275"/>
                <a:gd name="connsiteX14" fmla="*/ 180975 w 207168"/>
                <a:gd name="connsiteY14" fmla="*/ 128588 h 295275"/>
                <a:gd name="connsiteX15" fmla="*/ 185737 w 207168"/>
                <a:gd name="connsiteY15" fmla="*/ 97631 h 295275"/>
                <a:gd name="connsiteX16" fmla="*/ 185737 w 207168"/>
                <a:gd name="connsiteY16" fmla="*/ 88106 h 295275"/>
                <a:gd name="connsiteX17" fmla="*/ 207168 w 207168"/>
                <a:gd name="connsiteY17" fmla="*/ 59531 h 295275"/>
                <a:gd name="connsiteX18" fmla="*/ 195262 w 207168"/>
                <a:gd name="connsiteY18" fmla="*/ 0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7168" h="295275">
                  <a:moveTo>
                    <a:pt x="195262" y="0"/>
                  </a:moveTo>
                  <a:lnTo>
                    <a:pt x="64293" y="45244"/>
                  </a:lnTo>
                  <a:lnTo>
                    <a:pt x="9525" y="90488"/>
                  </a:lnTo>
                  <a:lnTo>
                    <a:pt x="2381" y="152400"/>
                  </a:lnTo>
                  <a:lnTo>
                    <a:pt x="0" y="197644"/>
                  </a:lnTo>
                  <a:lnTo>
                    <a:pt x="7143" y="204788"/>
                  </a:lnTo>
                  <a:lnTo>
                    <a:pt x="4762" y="228600"/>
                  </a:lnTo>
                  <a:lnTo>
                    <a:pt x="30956" y="252413"/>
                  </a:lnTo>
                  <a:lnTo>
                    <a:pt x="52387" y="295275"/>
                  </a:lnTo>
                  <a:lnTo>
                    <a:pt x="69056" y="288131"/>
                  </a:lnTo>
                  <a:lnTo>
                    <a:pt x="69056" y="259556"/>
                  </a:lnTo>
                  <a:lnTo>
                    <a:pt x="88106" y="233363"/>
                  </a:lnTo>
                  <a:lnTo>
                    <a:pt x="104775" y="228600"/>
                  </a:lnTo>
                  <a:lnTo>
                    <a:pt x="176212" y="161925"/>
                  </a:lnTo>
                  <a:lnTo>
                    <a:pt x="180975" y="128588"/>
                  </a:lnTo>
                  <a:lnTo>
                    <a:pt x="185737" y="97631"/>
                  </a:lnTo>
                  <a:lnTo>
                    <a:pt x="185737" y="88106"/>
                  </a:lnTo>
                  <a:lnTo>
                    <a:pt x="207168" y="59531"/>
                  </a:lnTo>
                  <a:lnTo>
                    <a:pt x="195262" y="0"/>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31" name="Freeform 30"/>
            <p:cNvSpPr/>
            <p:nvPr/>
          </p:nvSpPr>
          <p:spPr>
            <a:xfrm rot="21298612">
              <a:off x="4707975" y="3440250"/>
              <a:ext cx="218325" cy="438577"/>
            </a:xfrm>
            <a:custGeom>
              <a:avLst/>
              <a:gdLst>
                <a:gd name="connsiteX0" fmla="*/ 0 w 216693"/>
                <a:gd name="connsiteY0" fmla="*/ 183356 h 411956"/>
                <a:gd name="connsiteX1" fmla="*/ 40481 w 216693"/>
                <a:gd name="connsiteY1" fmla="*/ 254793 h 411956"/>
                <a:gd name="connsiteX2" fmla="*/ 59531 w 216693"/>
                <a:gd name="connsiteY2" fmla="*/ 276225 h 411956"/>
                <a:gd name="connsiteX3" fmla="*/ 71437 w 216693"/>
                <a:gd name="connsiteY3" fmla="*/ 309562 h 411956"/>
                <a:gd name="connsiteX4" fmla="*/ 73818 w 216693"/>
                <a:gd name="connsiteY4" fmla="*/ 342900 h 411956"/>
                <a:gd name="connsiteX5" fmla="*/ 111918 w 216693"/>
                <a:gd name="connsiteY5" fmla="*/ 392906 h 411956"/>
                <a:gd name="connsiteX6" fmla="*/ 130968 w 216693"/>
                <a:gd name="connsiteY6" fmla="*/ 388143 h 411956"/>
                <a:gd name="connsiteX7" fmla="*/ 157162 w 216693"/>
                <a:gd name="connsiteY7" fmla="*/ 411956 h 411956"/>
                <a:gd name="connsiteX8" fmla="*/ 192881 w 216693"/>
                <a:gd name="connsiteY8" fmla="*/ 402431 h 411956"/>
                <a:gd name="connsiteX9" fmla="*/ 185737 w 216693"/>
                <a:gd name="connsiteY9" fmla="*/ 309562 h 411956"/>
                <a:gd name="connsiteX10" fmla="*/ 216693 w 216693"/>
                <a:gd name="connsiteY10" fmla="*/ 257175 h 411956"/>
                <a:gd name="connsiteX11" fmla="*/ 216693 w 216693"/>
                <a:gd name="connsiteY11" fmla="*/ 128587 h 411956"/>
                <a:gd name="connsiteX12" fmla="*/ 211931 w 216693"/>
                <a:gd name="connsiteY12" fmla="*/ 80962 h 411956"/>
                <a:gd name="connsiteX13" fmla="*/ 142875 w 216693"/>
                <a:gd name="connsiteY13" fmla="*/ 28575 h 411956"/>
                <a:gd name="connsiteX14" fmla="*/ 116681 w 216693"/>
                <a:gd name="connsiteY14" fmla="*/ 7143 h 411956"/>
                <a:gd name="connsiteX15" fmla="*/ 78581 w 216693"/>
                <a:gd name="connsiteY15" fmla="*/ 4762 h 411956"/>
                <a:gd name="connsiteX16" fmla="*/ 42862 w 216693"/>
                <a:gd name="connsiteY16" fmla="*/ 0 h 411956"/>
                <a:gd name="connsiteX17" fmla="*/ 35718 w 216693"/>
                <a:gd name="connsiteY17" fmla="*/ 19050 h 411956"/>
                <a:gd name="connsiteX18" fmla="*/ 35718 w 216693"/>
                <a:gd name="connsiteY18" fmla="*/ 19050 h 411956"/>
                <a:gd name="connsiteX19" fmla="*/ 38100 w 216693"/>
                <a:gd name="connsiteY19" fmla="*/ 88106 h 411956"/>
                <a:gd name="connsiteX20" fmla="*/ 11906 w 216693"/>
                <a:gd name="connsiteY20" fmla="*/ 114300 h 411956"/>
                <a:gd name="connsiteX21" fmla="*/ 0 w 216693"/>
                <a:gd name="connsiteY21" fmla="*/ 183356 h 411956"/>
                <a:gd name="connsiteX0" fmla="*/ 0 w 216693"/>
                <a:gd name="connsiteY0" fmla="*/ 183356 h 411956"/>
                <a:gd name="connsiteX1" fmla="*/ 40481 w 216693"/>
                <a:gd name="connsiteY1" fmla="*/ 254793 h 411956"/>
                <a:gd name="connsiteX2" fmla="*/ 59531 w 216693"/>
                <a:gd name="connsiteY2" fmla="*/ 276225 h 411956"/>
                <a:gd name="connsiteX3" fmla="*/ 71437 w 216693"/>
                <a:gd name="connsiteY3" fmla="*/ 309562 h 411956"/>
                <a:gd name="connsiteX4" fmla="*/ 73818 w 216693"/>
                <a:gd name="connsiteY4" fmla="*/ 342900 h 411956"/>
                <a:gd name="connsiteX5" fmla="*/ 111918 w 216693"/>
                <a:gd name="connsiteY5" fmla="*/ 392906 h 411956"/>
                <a:gd name="connsiteX6" fmla="*/ 130968 w 216693"/>
                <a:gd name="connsiteY6" fmla="*/ 388143 h 411956"/>
                <a:gd name="connsiteX7" fmla="*/ 157162 w 216693"/>
                <a:gd name="connsiteY7" fmla="*/ 411956 h 411956"/>
                <a:gd name="connsiteX8" fmla="*/ 192881 w 216693"/>
                <a:gd name="connsiteY8" fmla="*/ 402431 h 411956"/>
                <a:gd name="connsiteX9" fmla="*/ 185737 w 216693"/>
                <a:gd name="connsiteY9" fmla="*/ 309562 h 411956"/>
                <a:gd name="connsiteX10" fmla="*/ 216693 w 216693"/>
                <a:gd name="connsiteY10" fmla="*/ 257175 h 411956"/>
                <a:gd name="connsiteX11" fmla="*/ 216693 w 216693"/>
                <a:gd name="connsiteY11" fmla="*/ 128587 h 411956"/>
                <a:gd name="connsiteX12" fmla="*/ 211931 w 216693"/>
                <a:gd name="connsiteY12" fmla="*/ 80962 h 411956"/>
                <a:gd name="connsiteX13" fmla="*/ 142875 w 216693"/>
                <a:gd name="connsiteY13" fmla="*/ 28575 h 411956"/>
                <a:gd name="connsiteX14" fmla="*/ 116681 w 216693"/>
                <a:gd name="connsiteY14" fmla="*/ 7143 h 411956"/>
                <a:gd name="connsiteX15" fmla="*/ 78581 w 216693"/>
                <a:gd name="connsiteY15" fmla="*/ 4762 h 411956"/>
                <a:gd name="connsiteX16" fmla="*/ 42862 w 216693"/>
                <a:gd name="connsiteY16" fmla="*/ 0 h 411956"/>
                <a:gd name="connsiteX17" fmla="*/ 35718 w 216693"/>
                <a:gd name="connsiteY17" fmla="*/ 19050 h 411956"/>
                <a:gd name="connsiteX18" fmla="*/ 26193 w 216693"/>
                <a:gd name="connsiteY18" fmla="*/ 26194 h 411956"/>
                <a:gd name="connsiteX19" fmla="*/ 38100 w 216693"/>
                <a:gd name="connsiteY19" fmla="*/ 88106 h 411956"/>
                <a:gd name="connsiteX20" fmla="*/ 11906 w 216693"/>
                <a:gd name="connsiteY20" fmla="*/ 114300 h 411956"/>
                <a:gd name="connsiteX21" fmla="*/ 0 w 216693"/>
                <a:gd name="connsiteY21" fmla="*/ 183356 h 411956"/>
                <a:gd name="connsiteX0" fmla="*/ 0 w 216693"/>
                <a:gd name="connsiteY0" fmla="*/ 185737 h 414337"/>
                <a:gd name="connsiteX1" fmla="*/ 40481 w 216693"/>
                <a:gd name="connsiteY1" fmla="*/ 257174 h 414337"/>
                <a:gd name="connsiteX2" fmla="*/ 59531 w 216693"/>
                <a:gd name="connsiteY2" fmla="*/ 278606 h 414337"/>
                <a:gd name="connsiteX3" fmla="*/ 71437 w 216693"/>
                <a:gd name="connsiteY3" fmla="*/ 311943 h 414337"/>
                <a:gd name="connsiteX4" fmla="*/ 73818 w 216693"/>
                <a:gd name="connsiteY4" fmla="*/ 345281 h 414337"/>
                <a:gd name="connsiteX5" fmla="*/ 111918 w 216693"/>
                <a:gd name="connsiteY5" fmla="*/ 395287 h 414337"/>
                <a:gd name="connsiteX6" fmla="*/ 130968 w 216693"/>
                <a:gd name="connsiteY6" fmla="*/ 390524 h 414337"/>
                <a:gd name="connsiteX7" fmla="*/ 157162 w 216693"/>
                <a:gd name="connsiteY7" fmla="*/ 414337 h 414337"/>
                <a:gd name="connsiteX8" fmla="*/ 192881 w 216693"/>
                <a:gd name="connsiteY8" fmla="*/ 404812 h 414337"/>
                <a:gd name="connsiteX9" fmla="*/ 185737 w 216693"/>
                <a:gd name="connsiteY9" fmla="*/ 311943 h 414337"/>
                <a:gd name="connsiteX10" fmla="*/ 216693 w 216693"/>
                <a:gd name="connsiteY10" fmla="*/ 259556 h 414337"/>
                <a:gd name="connsiteX11" fmla="*/ 216693 w 216693"/>
                <a:gd name="connsiteY11" fmla="*/ 130968 h 414337"/>
                <a:gd name="connsiteX12" fmla="*/ 211931 w 216693"/>
                <a:gd name="connsiteY12" fmla="*/ 83343 h 414337"/>
                <a:gd name="connsiteX13" fmla="*/ 142875 w 216693"/>
                <a:gd name="connsiteY13" fmla="*/ 30956 h 414337"/>
                <a:gd name="connsiteX14" fmla="*/ 116681 w 216693"/>
                <a:gd name="connsiteY14" fmla="*/ 9524 h 414337"/>
                <a:gd name="connsiteX15" fmla="*/ 78581 w 216693"/>
                <a:gd name="connsiteY15" fmla="*/ 7143 h 414337"/>
                <a:gd name="connsiteX16" fmla="*/ 30956 w 216693"/>
                <a:gd name="connsiteY16" fmla="*/ 0 h 414337"/>
                <a:gd name="connsiteX17" fmla="*/ 35718 w 216693"/>
                <a:gd name="connsiteY17" fmla="*/ 21431 h 414337"/>
                <a:gd name="connsiteX18" fmla="*/ 26193 w 216693"/>
                <a:gd name="connsiteY18" fmla="*/ 28575 h 414337"/>
                <a:gd name="connsiteX19" fmla="*/ 38100 w 216693"/>
                <a:gd name="connsiteY19" fmla="*/ 90487 h 414337"/>
                <a:gd name="connsiteX20" fmla="*/ 11906 w 216693"/>
                <a:gd name="connsiteY20" fmla="*/ 116681 h 414337"/>
                <a:gd name="connsiteX21" fmla="*/ 0 w 216693"/>
                <a:gd name="connsiteY21" fmla="*/ 185737 h 414337"/>
                <a:gd name="connsiteX0" fmla="*/ 0 w 216693"/>
                <a:gd name="connsiteY0" fmla="*/ 185737 h 414337"/>
                <a:gd name="connsiteX1" fmla="*/ 40481 w 216693"/>
                <a:gd name="connsiteY1" fmla="*/ 257174 h 414337"/>
                <a:gd name="connsiteX2" fmla="*/ 59531 w 216693"/>
                <a:gd name="connsiteY2" fmla="*/ 278606 h 414337"/>
                <a:gd name="connsiteX3" fmla="*/ 71437 w 216693"/>
                <a:gd name="connsiteY3" fmla="*/ 311943 h 414337"/>
                <a:gd name="connsiteX4" fmla="*/ 73818 w 216693"/>
                <a:gd name="connsiteY4" fmla="*/ 345281 h 414337"/>
                <a:gd name="connsiteX5" fmla="*/ 111918 w 216693"/>
                <a:gd name="connsiteY5" fmla="*/ 395287 h 414337"/>
                <a:gd name="connsiteX6" fmla="*/ 130968 w 216693"/>
                <a:gd name="connsiteY6" fmla="*/ 390524 h 414337"/>
                <a:gd name="connsiteX7" fmla="*/ 157162 w 216693"/>
                <a:gd name="connsiteY7" fmla="*/ 414337 h 414337"/>
                <a:gd name="connsiteX8" fmla="*/ 192881 w 216693"/>
                <a:gd name="connsiteY8" fmla="*/ 404812 h 414337"/>
                <a:gd name="connsiteX9" fmla="*/ 185737 w 216693"/>
                <a:gd name="connsiteY9" fmla="*/ 311943 h 414337"/>
                <a:gd name="connsiteX10" fmla="*/ 216693 w 216693"/>
                <a:gd name="connsiteY10" fmla="*/ 259556 h 414337"/>
                <a:gd name="connsiteX11" fmla="*/ 216693 w 216693"/>
                <a:gd name="connsiteY11" fmla="*/ 130968 h 414337"/>
                <a:gd name="connsiteX12" fmla="*/ 211931 w 216693"/>
                <a:gd name="connsiteY12" fmla="*/ 83343 h 414337"/>
                <a:gd name="connsiteX13" fmla="*/ 142875 w 216693"/>
                <a:gd name="connsiteY13" fmla="*/ 30956 h 414337"/>
                <a:gd name="connsiteX14" fmla="*/ 116681 w 216693"/>
                <a:gd name="connsiteY14" fmla="*/ 9524 h 414337"/>
                <a:gd name="connsiteX15" fmla="*/ 78581 w 216693"/>
                <a:gd name="connsiteY15" fmla="*/ 7143 h 414337"/>
                <a:gd name="connsiteX16" fmla="*/ 30956 w 216693"/>
                <a:gd name="connsiteY16" fmla="*/ 0 h 414337"/>
                <a:gd name="connsiteX17" fmla="*/ 23812 w 216693"/>
                <a:gd name="connsiteY17" fmla="*/ 19050 h 414337"/>
                <a:gd name="connsiteX18" fmla="*/ 26193 w 216693"/>
                <a:gd name="connsiteY18" fmla="*/ 28575 h 414337"/>
                <a:gd name="connsiteX19" fmla="*/ 38100 w 216693"/>
                <a:gd name="connsiteY19" fmla="*/ 90487 h 414337"/>
                <a:gd name="connsiteX20" fmla="*/ 11906 w 216693"/>
                <a:gd name="connsiteY20" fmla="*/ 116681 h 414337"/>
                <a:gd name="connsiteX21" fmla="*/ 0 w 216693"/>
                <a:gd name="connsiteY21" fmla="*/ 185737 h 414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693" h="414337">
                  <a:moveTo>
                    <a:pt x="0" y="185737"/>
                  </a:moveTo>
                  <a:lnTo>
                    <a:pt x="40481" y="257174"/>
                  </a:lnTo>
                  <a:lnTo>
                    <a:pt x="59531" y="278606"/>
                  </a:lnTo>
                  <a:lnTo>
                    <a:pt x="71437" y="311943"/>
                  </a:lnTo>
                  <a:lnTo>
                    <a:pt x="73818" y="345281"/>
                  </a:lnTo>
                  <a:lnTo>
                    <a:pt x="111918" y="395287"/>
                  </a:lnTo>
                  <a:lnTo>
                    <a:pt x="130968" y="390524"/>
                  </a:lnTo>
                  <a:lnTo>
                    <a:pt x="157162" y="414337"/>
                  </a:lnTo>
                  <a:lnTo>
                    <a:pt x="192881" y="404812"/>
                  </a:lnTo>
                  <a:lnTo>
                    <a:pt x="185737" y="311943"/>
                  </a:lnTo>
                  <a:lnTo>
                    <a:pt x="216693" y="259556"/>
                  </a:lnTo>
                  <a:lnTo>
                    <a:pt x="216693" y="130968"/>
                  </a:lnTo>
                  <a:lnTo>
                    <a:pt x="211931" y="83343"/>
                  </a:lnTo>
                  <a:lnTo>
                    <a:pt x="142875" y="30956"/>
                  </a:lnTo>
                  <a:lnTo>
                    <a:pt x="116681" y="9524"/>
                  </a:lnTo>
                  <a:lnTo>
                    <a:pt x="78581" y="7143"/>
                  </a:lnTo>
                  <a:lnTo>
                    <a:pt x="30956" y="0"/>
                  </a:lnTo>
                  <a:cubicBezTo>
                    <a:pt x="28575" y="6350"/>
                    <a:pt x="24606" y="14288"/>
                    <a:pt x="23812" y="19050"/>
                  </a:cubicBezTo>
                  <a:cubicBezTo>
                    <a:pt x="23018" y="23812"/>
                    <a:pt x="23812" y="16669"/>
                    <a:pt x="26193" y="28575"/>
                  </a:cubicBezTo>
                  <a:cubicBezTo>
                    <a:pt x="28574" y="40481"/>
                    <a:pt x="34131" y="69850"/>
                    <a:pt x="38100" y="90487"/>
                  </a:cubicBezTo>
                  <a:lnTo>
                    <a:pt x="11906" y="116681"/>
                  </a:lnTo>
                  <a:cubicBezTo>
                    <a:pt x="11112" y="139700"/>
                    <a:pt x="10319" y="162718"/>
                    <a:pt x="0" y="185737"/>
                  </a:cubicBez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32" name="Freeform 31"/>
            <p:cNvSpPr/>
            <p:nvPr/>
          </p:nvSpPr>
          <p:spPr>
            <a:xfrm rot="21298612">
              <a:off x="4794934" y="3194409"/>
              <a:ext cx="336252" cy="319270"/>
            </a:xfrm>
            <a:custGeom>
              <a:avLst/>
              <a:gdLst>
                <a:gd name="connsiteX0" fmla="*/ 104775 w 335757"/>
                <a:gd name="connsiteY0" fmla="*/ 302419 h 302419"/>
                <a:gd name="connsiteX1" fmla="*/ 247650 w 335757"/>
                <a:gd name="connsiteY1" fmla="*/ 276225 h 302419"/>
                <a:gd name="connsiteX2" fmla="*/ 280988 w 335757"/>
                <a:gd name="connsiteY2" fmla="*/ 209550 h 302419"/>
                <a:gd name="connsiteX3" fmla="*/ 302419 w 335757"/>
                <a:gd name="connsiteY3" fmla="*/ 173832 h 302419"/>
                <a:gd name="connsiteX4" fmla="*/ 316707 w 335757"/>
                <a:gd name="connsiteY4" fmla="*/ 138113 h 302419"/>
                <a:gd name="connsiteX5" fmla="*/ 335757 w 335757"/>
                <a:gd name="connsiteY5" fmla="*/ 114300 h 302419"/>
                <a:gd name="connsiteX6" fmla="*/ 314325 w 335757"/>
                <a:gd name="connsiteY6" fmla="*/ 66675 h 302419"/>
                <a:gd name="connsiteX7" fmla="*/ 309563 w 335757"/>
                <a:gd name="connsiteY7" fmla="*/ 30957 h 302419"/>
                <a:gd name="connsiteX8" fmla="*/ 252413 w 335757"/>
                <a:gd name="connsiteY8" fmla="*/ 7144 h 302419"/>
                <a:gd name="connsiteX9" fmla="*/ 216694 w 335757"/>
                <a:gd name="connsiteY9" fmla="*/ 0 h 302419"/>
                <a:gd name="connsiteX10" fmla="*/ 169069 w 335757"/>
                <a:gd name="connsiteY10" fmla="*/ 16669 h 302419"/>
                <a:gd name="connsiteX11" fmla="*/ 135732 w 335757"/>
                <a:gd name="connsiteY11" fmla="*/ 40482 h 302419"/>
                <a:gd name="connsiteX12" fmla="*/ 66675 w 335757"/>
                <a:gd name="connsiteY12" fmla="*/ 102394 h 302419"/>
                <a:gd name="connsiteX13" fmla="*/ 76200 w 335757"/>
                <a:gd name="connsiteY13" fmla="*/ 176213 h 302419"/>
                <a:gd name="connsiteX14" fmla="*/ 0 w 335757"/>
                <a:gd name="connsiteY14" fmla="*/ 221457 h 302419"/>
                <a:gd name="connsiteX15" fmla="*/ 104775 w 335757"/>
                <a:gd name="connsiteY15" fmla="*/ 302419 h 302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757" h="302419">
                  <a:moveTo>
                    <a:pt x="104775" y="302419"/>
                  </a:moveTo>
                  <a:lnTo>
                    <a:pt x="247650" y="276225"/>
                  </a:lnTo>
                  <a:lnTo>
                    <a:pt x="280988" y="209550"/>
                  </a:lnTo>
                  <a:lnTo>
                    <a:pt x="302419" y="173832"/>
                  </a:lnTo>
                  <a:lnTo>
                    <a:pt x="316707" y="138113"/>
                  </a:lnTo>
                  <a:lnTo>
                    <a:pt x="335757" y="114300"/>
                  </a:lnTo>
                  <a:lnTo>
                    <a:pt x="314325" y="66675"/>
                  </a:lnTo>
                  <a:lnTo>
                    <a:pt x="309563" y="30957"/>
                  </a:lnTo>
                  <a:lnTo>
                    <a:pt x="252413" y="7144"/>
                  </a:lnTo>
                  <a:lnTo>
                    <a:pt x="216694" y="0"/>
                  </a:lnTo>
                  <a:lnTo>
                    <a:pt x="169069" y="16669"/>
                  </a:lnTo>
                  <a:lnTo>
                    <a:pt x="135732" y="40482"/>
                  </a:lnTo>
                  <a:lnTo>
                    <a:pt x="66675" y="102394"/>
                  </a:lnTo>
                  <a:lnTo>
                    <a:pt x="76200" y="176213"/>
                  </a:lnTo>
                  <a:lnTo>
                    <a:pt x="0" y="221457"/>
                  </a:lnTo>
                  <a:lnTo>
                    <a:pt x="104775" y="302419"/>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33" name="Freeform 32"/>
            <p:cNvSpPr/>
            <p:nvPr/>
          </p:nvSpPr>
          <p:spPr>
            <a:xfrm rot="21298612">
              <a:off x="4166426" y="2676151"/>
              <a:ext cx="1123496" cy="779691"/>
            </a:xfrm>
            <a:custGeom>
              <a:avLst/>
              <a:gdLst>
                <a:gd name="connsiteX0" fmla="*/ 723900 w 1119188"/>
                <a:gd name="connsiteY0" fmla="*/ 554831 h 735806"/>
                <a:gd name="connsiteX1" fmla="*/ 716757 w 1119188"/>
                <a:gd name="connsiteY1" fmla="*/ 497681 h 735806"/>
                <a:gd name="connsiteX2" fmla="*/ 702469 w 1119188"/>
                <a:gd name="connsiteY2" fmla="*/ 473869 h 735806"/>
                <a:gd name="connsiteX3" fmla="*/ 716757 w 1119188"/>
                <a:gd name="connsiteY3" fmla="*/ 459581 h 735806"/>
                <a:gd name="connsiteX4" fmla="*/ 766763 w 1119188"/>
                <a:gd name="connsiteY4" fmla="*/ 461963 h 735806"/>
                <a:gd name="connsiteX5" fmla="*/ 764382 w 1119188"/>
                <a:gd name="connsiteY5" fmla="*/ 426244 h 735806"/>
                <a:gd name="connsiteX6" fmla="*/ 773907 w 1119188"/>
                <a:gd name="connsiteY6" fmla="*/ 407194 h 735806"/>
                <a:gd name="connsiteX7" fmla="*/ 819150 w 1119188"/>
                <a:gd name="connsiteY7" fmla="*/ 376238 h 735806"/>
                <a:gd name="connsiteX8" fmla="*/ 816769 w 1119188"/>
                <a:gd name="connsiteY8" fmla="*/ 283369 h 735806"/>
                <a:gd name="connsiteX9" fmla="*/ 840582 w 1119188"/>
                <a:gd name="connsiteY9" fmla="*/ 273844 h 735806"/>
                <a:gd name="connsiteX10" fmla="*/ 881063 w 1119188"/>
                <a:gd name="connsiteY10" fmla="*/ 321469 h 735806"/>
                <a:gd name="connsiteX11" fmla="*/ 909638 w 1119188"/>
                <a:gd name="connsiteY11" fmla="*/ 307181 h 735806"/>
                <a:gd name="connsiteX12" fmla="*/ 919163 w 1119188"/>
                <a:gd name="connsiteY12" fmla="*/ 264319 h 735806"/>
                <a:gd name="connsiteX13" fmla="*/ 952500 w 1119188"/>
                <a:gd name="connsiteY13" fmla="*/ 259556 h 735806"/>
                <a:gd name="connsiteX14" fmla="*/ 1004888 w 1119188"/>
                <a:gd name="connsiteY14" fmla="*/ 204788 h 735806"/>
                <a:gd name="connsiteX15" fmla="*/ 1035844 w 1119188"/>
                <a:gd name="connsiteY15" fmla="*/ 180975 h 735806"/>
                <a:gd name="connsiteX16" fmla="*/ 1104900 w 1119188"/>
                <a:gd name="connsiteY16" fmla="*/ 157163 h 735806"/>
                <a:gd name="connsiteX17" fmla="*/ 1116807 w 1119188"/>
                <a:gd name="connsiteY17" fmla="*/ 83344 h 735806"/>
                <a:gd name="connsiteX18" fmla="*/ 1116807 w 1119188"/>
                <a:gd name="connsiteY18" fmla="*/ 57150 h 735806"/>
                <a:gd name="connsiteX19" fmla="*/ 1119188 w 1119188"/>
                <a:gd name="connsiteY19" fmla="*/ 35719 h 735806"/>
                <a:gd name="connsiteX20" fmla="*/ 1104900 w 1119188"/>
                <a:gd name="connsiteY20" fmla="*/ 0 h 735806"/>
                <a:gd name="connsiteX21" fmla="*/ 1069182 w 1119188"/>
                <a:gd name="connsiteY21" fmla="*/ 7144 h 735806"/>
                <a:gd name="connsiteX22" fmla="*/ 992982 w 1119188"/>
                <a:gd name="connsiteY22" fmla="*/ 9525 h 735806"/>
                <a:gd name="connsiteX23" fmla="*/ 954882 w 1119188"/>
                <a:gd name="connsiteY23" fmla="*/ 38100 h 735806"/>
                <a:gd name="connsiteX24" fmla="*/ 931069 w 1119188"/>
                <a:gd name="connsiteY24" fmla="*/ 42863 h 735806"/>
                <a:gd name="connsiteX25" fmla="*/ 904875 w 1119188"/>
                <a:gd name="connsiteY25" fmla="*/ 42863 h 735806"/>
                <a:gd name="connsiteX26" fmla="*/ 831057 w 1119188"/>
                <a:gd name="connsiteY26" fmla="*/ 85725 h 735806"/>
                <a:gd name="connsiteX27" fmla="*/ 776288 w 1119188"/>
                <a:gd name="connsiteY27" fmla="*/ 104775 h 735806"/>
                <a:gd name="connsiteX28" fmla="*/ 707232 w 1119188"/>
                <a:gd name="connsiteY28" fmla="*/ 180975 h 735806"/>
                <a:gd name="connsiteX29" fmla="*/ 692944 w 1119188"/>
                <a:gd name="connsiteY29" fmla="*/ 195263 h 735806"/>
                <a:gd name="connsiteX30" fmla="*/ 626269 w 1119188"/>
                <a:gd name="connsiteY30" fmla="*/ 192881 h 735806"/>
                <a:gd name="connsiteX31" fmla="*/ 619125 w 1119188"/>
                <a:gd name="connsiteY31" fmla="*/ 207169 h 735806"/>
                <a:gd name="connsiteX32" fmla="*/ 519113 w 1119188"/>
                <a:gd name="connsiteY32" fmla="*/ 211931 h 735806"/>
                <a:gd name="connsiteX33" fmla="*/ 492919 w 1119188"/>
                <a:gd name="connsiteY33" fmla="*/ 230981 h 735806"/>
                <a:gd name="connsiteX34" fmla="*/ 459582 w 1119188"/>
                <a:gd name="connsiteY34" fmla="*/ 245269 h 735806"/>
                <a:gd name="connsiteX35" fmla="*/ 433388 w 1119188"/>
                <a:gd name="connsiteY35" fmla="*/ 271463 h 735806"/>
                <a:gd name="connsiteX36" fmla="*/ 416719 w 1119188"/>
                <a:gd name="connsiteY36" fmla="*/ 278606 h 735806"/>
                <a:gd name="connsiteX37" fmla="*/ 378619 w 1119188"/>
                <a:gd name="connsiteY37" fmla="*/ 278606 h 735806"/>
                <a:gd name="connsiteX38" fmla="*/ 335757 w 1119188"/>
                <a:gd name="connsiteY38" fmla="*/ 250031 h 735806"/>
                <a:gd name="connsiteX39" fmla="*/ 250032 w 1119188"/>
                <a:gd name="connsiteY39" fmla="*/ 250031 h 735806"/>
                <a:gd name="connsiteX40" fmla="*/ 211932 w 1119188"/>
                <a:gd name="connsiteY40" fmla="*/ 240506 h 735806"/>
                <a:gd name="connsiteX41" fmla="*/ 188119 w 1119188"/>
                <a:gd name="connsiteY41" fmla="*/ 221456 h 735806"/>
                <a:gd name="connsiteX42" fmla="*/ 171450 w 1119188"/>
                <a:gd name="connsiteY42" fmla="*/ 207169 h 735806"/>
                <a:gd name="connsiteX43" fmla="*/ 150019 w 1119188"/>
                <a:gd name="connsiteY43" fmla="*/ 202406 h 735806"/>
                <a:gd name="connsiteX44" fmla="*/ 126207 w 1119188"/>
                <a:gd name="connsiteY44" fmla="*/ 209550 h 735806"/>
                <a:gd name="connsiteX45" fmla="*/ 85725 w 1119188"/>
                <a:gd name="connsiteY45" fmla="*/ 226219 h 735806"/>
                <a:gd name="connsiteX46" fmla="*/ 54769 w 1119188"/>
                <a:gd name="connsiteY46" fmla="*/ 245269 h 735806"/>
                <a:gd name="connsiteX47" fmla="*/ 16669 w 1119188"/>
                <a:gd name="connsiteY47" fmla="*/ 254794 h 735806"/>
                <a:gd name="connsiteX48" fmla="*/ 0 w 1119188"/>
                <a:gd name="connsiteY48" fmla="*/ 261938 h 735806"/>
                <a:gd name="connsiteX49" fmla="*/ 28575 w 1119188"/>
                <a:gd name="connsiteY49" fmla="*/ 278606 h 735806"/>
                <a:gd name="connsiteX50" fmla="*/ 59532 w 1119188"/>
                <a:gd name="connsiteY50" fmla="*/ 278606 h 735806"/>
                <a:gd name="connsiteX51" fmla="*/ 80963 w 1119188"/>
                <a:gd name="connsiteY51" fmla="*/ 278606 h 735806"/>
                <a:gd name="connsiteX52" fmla="*/ 88107 w 1119188"/>
                <a:gd name="connsiteY52" fmla="*/ 276225 h 735806"/>
                <a:gd name="connsiteX53" fmla="*/ 100013 w 1119188"/>
                <a:gd name="connsiteY53" fmla="*/ 261938 h 735806"/>
                <a:gd name="connsiteX54" fmla="*/ 119063 w 1119188"/>
                <a:gd name="connsiteY54" fmla="*/ 259556 h 735806"/>
                <a:gd name="connsiteX55" fmla="*/ 142875 w 1119188"/>
                <a:gd name="connsiteY55" fmla="*/ 257175 h 735806"/>
                <a:gd name="connsiteX56" fmla="*/ 154782 w 1119188"/>
                <a:gd name="connsiteY56" fmla="*/ 271463 h 735806"/>
                <a:gd name="connsiteX57" fmla="*/ 145257 w 1119188"/>
                <a:gd name="connsiteY57" fmla="*/ 292894 h 735806"/>
                <a:gd name="connsiteX58" fmla="*/ 114300 w 1119188"/>
                <a:gd name="connsiteY58" fmla="*/ 304800 h 735806"/>
                <a:gd name="connsiteX59" fmla="*/ 78582 w 1119188"/>
                <a:gd name="connsiteY59" fmla="*/ 397669 h 735806"/>
                <a:gd name="connsiteX60" fmla="*/ 97632 w 1119188"/>
                <a:gd name="connsiteY60" fmla="*/ 421481 h 735806"/>
                <a:gd name="connsiteX61" fmla="*/ 102394 w 1119188"/>
                <a:gd name="connsiteY61" fmla="*/ 464344 h 735806"/>
                <a:gd name="connsiteX62" fmla="*/ 107157 w 1119188"/>
                <a:gd name="connsiteY62" fmla="*/ 481013 h 735806"/>
                <a:gd name="connsiteX63" fmla="*/ 142875 w 1119188"/>
                <a:gd name="connsiteY63" fmla="*/ 471488 h 735806"/>
                <a:gd name="connsiteX64" fmla="*/ 178594 w 1119188"/>
                <a:gd name="connsiteY64" fmla="*/ 459581 h 735806"/>
                <a:gd name="connsiteX65" fmla="*/ 228600 w 1119188"/>
                <a:gd name="connsiteY65" fmla="*/ 471488 h 735806"/>
                <a:gd name="connsiteX66" fmla="*/ 266700 w 1119188"/>
                <a:gd name="connsiteY66" fmla="*/ 481013 h 735806"/>
                <a:gd name="connsiteX67" fmla="*/ 319088 w 1119188"/>
                <a:gd name="connsiteY67" fmla="*/ 478631 h 735806"/>
                <a:gd name="connsiteX68" fmla="*/ 359569 w 1119188"/>
                <a:gd name="connsiteY68" fmla="*/ 461963 h 735806"/>
                <a:gd name="connsiteX69" fmla="*/ 395288 w 1119188"/>
                <a:gd name="connsiteY69" fmla="*/ 442913 h 735806"/>
                <a:gd name="connsiteX70" fmla="*/ 433388 w 1119188"/>
                <a:gd name="connsiteY70" fmla="*/ 450056 h 735806"/>
                <a:gd name="connsiteX71" fmla="*/ 473869 w 1119188"/>
                <a:gd name="connsiteY71" fmla="*/ 469106 h 735806"/>
                <a:gd name="connsiteX72" fmla="*/ 519113 w 1119188"/>
                <a:gd name="connsiteY72" fmla="*/ 495300 h 735806"/>
                <a:gd name="connsiteX73" fmla="*/ 550069 w 1119188"/>
                <a:gd name="connsiteY73" fmla="*/ 521494 h 735806"/>
                <a:gd name="connsiteX74" fmla="*/ 554832 w 1119188"/>
                <a:gd name="connsiteY74" fmla="*/ 559594 h 735806"/>
                <a:gd name="connsiteX75" fmla="*/ 550069 w 1119188"/>
                <a:gd name="connsiteY75" fmla="*/ 614363 h 735806"/>
                <a:gd name="connsiteX76" fmla="*/ 545307 w 1119188"/>
                <a:gd name="connsiteY76" fmla="*/ 645319 h 735806"/>
                <a:gd name="connsiteX77" fmla="*/ 519113 w 1119188"/>
                <a:gd name="connsiteY77" fmla="*/ 657225 h 735806"/>
                <a:gd name="connsiteX78" fmla="*/ 502444 w 1119188"/>
                <a:gd name="connsiteY78" fmla="*/ 673894 h 735806"/>
                <a:gd name="connsiteX79" fmla="*/ 504825 w 1119188"/>
                <a:gd name="connsiteY79" fmla="*/ 707231 h 735806"/>
                <a:gd name="connsiteX80" fmla="*/ 523875 w 1119188"/>
                <a:gd name="connsiteY80" fmla="*/ 731044 h 735806"/>
                <a:gd name="connsiteX81" fmla="*/ 604838 w 1119188"/>
                <a:gd name="connsiteY81" fmla="*/ 735806 h 735806"/>
                <a:gd name="connsiteX82" fmla="*/ 671513 w 1119188"/>
                <a:gd name="connsiteY82" fmla="*/ 685800 h 735806"/>
                <a:gd name="connsiteX83" fmla="*/ 671513 w 1119188"/>
                <a:gd name="connsiteY83" fmla="*/ 604838 h 735806"/>
                <a:gd name="connsiteX84" fmla="*/ 723900 w 1119188"/>
                <a:gd name="connsiteY84" fmla="*/ 554831 h 735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119188" h="735806">
                  <a:moveTo>
                    <a:pt x="723900" y="554831"/>
                  </a:moveTo>
                  <a:lnTo>
                    <a:pt x="716757" y="497681"/>
                  </a:lnTo>
                  <a:lnTo>
                    <a:pt x="702469" y="473869"/>
                  </a:lnTo>
                  <a:lnTo>
                    <a:pt x="716757" y="459581"/>
                  </a:lnTo>
                  <a:lnTo>
                    <a:pt x="766763" y="461963"/>
                  </a:lnTo>
                  <a:lnTo>
                    <a:pt x="764382" y="426244"/>
                  </a:lnTo>
                  <a:lnTo>
                    <a:pt x="773907" y="407194"/>
                  </a:lnTo>
                  <a:lnTo>
                    <a:pt x="819150" y="376238"/>
                  </a:lnTo>
                  <a:cubicBezTo>
                    <a:pt x="818356" y="345282"/>
                    <a:pt x="817563" y="314325"/>
                    <a:pt x="816769" y="283369"/>
                  </a:cubicBezTo>
                  <a:lnTo>
                    <a:pt x="840582" y="273844"/>
                  </a:lnTo>
                  <a:lnTo>
                    <a:pt x="881063" y="321469"/>
                  </a:lnTo>
                  <a:lnTo>
                    <a:pt x="909638" y="307181"/>
                  </a:lnTo>
                  <a:lnTo>
                    <a:pt x="919163" y="264319"/>
                  </a:lnTo>
                  <a:lnTo>
                    <a:pt x="952500" y="259556"/>
                  </a:lnTo>
                  <a:lnTo>
                    <a:pt x="1004888" y="204788"/>
                  </a:lnTo>
                  <a:lnTo>
                    <a:pt x="1035844" y="180975"/>
                  </a:lnTo>
                  <a:lnTo>
                    <a:pt x="1104900" y="157163"/>
                  </a:lnTo>
                  <a:lnTo>
                    <a:pt x="1116807" y="83344"/>
                  </a:lnTo>
                  <a:lnTo>
                    <a:pt x="1116807" y="57150"/>
                  </a:lnTo>
                  <a:lnTo>
                    <a:pt x="1119188" y="35719"/>
                  </a:lnTo>
                  <a:lnTo>
                    <a:pt x="1104900" y="0"/>
                  </a:lnTo>
                  <a:lnTo>
                    <a:pt x="1069182" y="7144"/>
                  </a:lnTo>
                  <a:lnTo>
                    <a:pt x="992982" y="9525"/>
                  </a:lnTo>
                  <a:lnTo>
                    <a:pt x="954882" y="38100"/>
                  </a:lnTo>
                  <a:lnTo>
                    <a:pt x="931069" y="42863"/>
                  </a:lnTo>
                  <a:lnTo>
                    <a:pt x="904875" y="42863"/>
                  </a:lnTo>
                  <a:lnTo>
                    <a:pt x="831057" y="85725"/>
                  </a:lnTo>
                  <a:lnTo>
                    <a:pt x="776288" y="104775"/>
                  </a:lnTo>
                  <a:lnTo>
                    <a:pt x="707232" y="180975"/>
                  </a:lnTo>
                  <a:lnTo>
                    <a:pt x="692944" y="195263"/>
                  </a:lnTo>
                  <a:lnTo>
                    <a:pt x="626269" y="192881"/>
                  </a:lnTo>
                  <a:lnTo>
                    <a:pt x="619125" y="207169"/>
                  </a:lnTo>
                  <a:lnTo>
                    <a:pt x="519113" y="211931"/>
                  </a:lnTo>
                  <a:lnTo>
                    <a:pt x="492919" y="230981"/>
                  </a:lnTo>
                  <a:lnTo>
                    <a:pt x="459582" y="245269"/>
                  </a:lnTo>
                  <a:lnTo>
                    <a:pt x="433388" y="271463"/>
                  </a:lnTo>
                  <a:lnTo>
                    <a:pt x="416719" y="278606"/>
                  </a:lnTo>
                  <a:lnTo>
                    <a:pt x="378619" y="278606"/>
                  </a:lnTo>
                  <a:lnTo>
                    <a:pt x="335757" y="250031"/>
                  </a:lnTo>
                  <a:lnTo>
                    <a:pt x="250032" y="250031"/>
                  </a:lnTo>
                  <a:lnTo>
                    <a:pt x="211932" y="240506"/>
                  </a:lnTo>
                  <a:lnTo>
                    <a:pt x="188119" y="221456"/>
                  </a:lnTo>
                  <a:lnTo>
                    <a:pt x="171450" y="207169"/>
                  </a:lnTo>
                  <a:lnTo>
                    <a:pt x="150019" y="202406"/>
                  </a:lnTo>
                  <a:lnTo>
                    <a:pt x="126207" y="209550"/>
                  </a:lnTo>
                  <a:lnTo>
                    <a:pt x="85725" y="226219"/>
                  </a:lnTo>
                  <a:lnTo>
                    <a:pt x="54769" y="245269"/>
                  </a:lnTo>
                  <a:lnTo>
                    <a:pt x="16669" y="254794"/>
                  </a:lnTo>
                  <a:lnTo>
                    <a:pt x="0" y="261938"/>
                  </a:lnTo>
                  <a:lnTo>
                    <a:pt x="28575" y="278606"/>
                  </a:lnTo>
                  <a:lnTo>
                    <a:pt x="59532" y="278606"/>
                  </a:lnTo>
                  <a:lnTo>
                    <a:pt x="80963" y="278606"/>
                  </a:lnTo>
                  <a:lnTo>
                    <a:pt x="88107" y="276225"/>
                  </a:lnTo>
                  <a:lnTo>
                    <a:pt x="100013" y="261938"/>
                  </a:lnTo>
                  <a:lnTo>
                    <a:pt x="119063" y="259556"/>
                  </a:lnTo>
                  <a:lnTo>
                    <a:pt x="142875" y="257175"/>
                  </a:lnTo>
                  <a:lnTo>
                    <a:pt x="154782" y="271463"/>
                  </a:lnTo>
                  <a:lnTo>
                    <a:pt x="145257" y="292894"/>
                  </a:lnTo>
                  <a:lnTo>
                    <a:pt x="114300" y="304800"/>
                  </a:lnTo>
                  <a:lnTo>
                    <a:pt x="78582" y="397669"/>
                  </a:lnTo>
                  <a:lnTo>
                    <a:pt x="97632" y="421481"/>
                  </a:lnTo>
                  <a:lnTo>
                    <a:pt x="102394" y="464344"/>
                  </a:lnTo>
                  <a:lnTo>
                    <a:pt x="107157" y="481013"/>
                  </a:lnTo>
                  <a:lnTo>
                    <a:pt x="142875" y="471488"/>
                  </a:lnTo>
                  <a:lnTo>
                    <a:pt x="178594" y="459581"/>
                  </a:lnTo>
                  <a:lnTo>
                    <a:pt x="228600" y="471488"/>
                  </a:lnTo>
                  <a:lnTo>
                    <a:pt x="266700" y="481013"/>
                  </a:lnTo>
                  <a:lnTo>
                    <a:pt x="319088" y="478631"/>
                  </a:lnTo>
                  <a:lnTo>
                    <a:pt x="359569" y="461963"/>
                  </a:lnTo>
                  <a:lnTo>
                    <a:pt x="395288" y="442913"/>
                  </a:lnTo>
                  <a:lnTo>
                    <a:pt x="433388" y="450056"/>
                  </a:lnTo>
                  <a:lnTo>
                    <a:pt x="473869" y="469106"/>
                  </a:lnTo>
                  <a:lnTo>
                    <a:pt x="519113" y="495300"/>
                  </a:lnTo>
                  <a:lnTo>
                    <a:pt x="550069" y="521494"/>
                  </a:lnTo>
                  <a:lnTo>
                    <a:pt x="554832" y="559594"/>
                  </a:lnTo>
                  <a:lnTo>
                    <a:pt x="550069" y="614363"/>
                  </a:lnTo>
                  <a:lnTo>
                    <a:pt x="545307" y="645319"/>
                  </a:lnTo>
                  <a:lnTo>
                    <a:pt x="519113" y="657225"/>
                  </a:lnTo>
                  <a:lnTo>
                    <a:pt x="502444" y="673894"/>
                  </a:lnTo>
                  <a:lnTo>
                    <a:pt x="504825" y="707231"/>
                  </a:lnTo>
                  <a:lnTo>
                    <a:pt x="523875" y="731044"/>
                  </a:lnTo>
                  <a:lnTo>
                    <a:pt x="604838" y="735806"/>
                  </a:lnTo>
                  <a:lnTo>
                    <a:pt x="671513" y="685800"/>
                  </a:lnTo>
                  <a:lnTo>
                    <a:pt x="671513" y="604838"/>
                  </a:lnTo>
                  <a:lnTo>
                    <a:pt x="723900" y="554831"/>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34" name="Freeform 33"/>
            <p:cNvSpPr/>
            <p:nvPr/>
          </p:nvSpPr>
          <p:spPr>
            <a:xfrm rot="21298612">
              <a:off x="4281305" y="3164680"/>
              <a:ext cx="462147" cy="225169"/>
            </a:xfrm>
            <a:custGeom>
              <a:avLst/>
              <a:gdLst>
                <a:gd name="connsiteX0" fmla="*/ 0 w 459581"/>
                <a:gd name="connsiteY0" fmla="*/ 42862 h 211931"/>
                <a:gd name="connsiteX1" fmla="*/ 7143 w 459581"/>
                <a:gd name="connsiteY1" fmla="*/ 104775 h 211931"/>
                <a:gd name="connsiteX2" fmla="*/ 30956 w 459581"/>
                <a:gd name="connsiteY2" fmla="*/ 119062 h 211931"/>
                <a:gd name="connsiteX3" fmla="*/ 33337 w 459581"/>
                <a:gd name="connsiteY3" fmla="*/ 171450 h 211931"/>
                <a:gd name="connsiteX4" fmla="*/ 38100 w 459581"/>
                <a:gd name="connsiteY4" fmla="*/ 188118 h 211931"/>
                <a:gd name="connsiteX5" fmla="*/ 88106 w 459581"/>
                <a:gd name="connsiteY5" fmla="*/ 204787 h 211931"/>
                <a:gd name="connsiteX6" fmla="*/ 88106 w 459581"/>
                <a:gd name="connsiteY6" fmla="*/ 204787 h 211931"/>
                <a:gd name="connsiteX7" fmla="*/ 147637 w 459581"/>
                <a:gd name="connsiteY7" fmla="*/ 211931 h 211931"/>
                <a:gd name="connsiteX8" fmla="*/ 180975 w 459581"/>
                <a:gd name="connsiteY8" fmla="*/ 197643 h 211931"/>
                <a:gd name="connsiteX9" fmla="*/ 214312 w 459581"/>
                <a:gd name="connsiteY9" fmla="*/ 192881 h 211931"/>
                <a:gd name="connsiteX10" fmla="*/ 242887 w 459581"/>
                <a:gd name="connsiteY10" fmla="*/ 204787 h 211931"/>
                <a:gd name="connsiteX11" fmla="*/ 261937 w 459581"/>
                <a:gd name="connsiteY11" fmla="*/ 204787 h 211931"/>
                <a:gd name="connsiteX12" fmla="*/ 321468 w 459581"/>
                <a:gd name="connsiteY12" fmla="*/ 178593 h 211931"/>
                <a:gd name="connsiteX13" fmla="*/ 350043 w 459581"/>
                <a:gd name="connsiteY13" fmla="*/ 180975 h 211931"/>
                <a:gd name="connsiteX14" fmla="*/ 402431 w 459581"/>
                <a:gd name="connsiteY14" fmla="*/ 161925 h 211931"/>
                <a:gd name="connsiteX15" fmla="*/ 457200 w 459581"/>
                <a:gd name="connsiteY15" fmla="*/ 173831 h 211931"/>
                <a:gd name="connsiteX16" fmla="*/ 459581 w 459581"/>
                <a:gd name="connsiteY16" fmla="*/ 128587 h 211931"/>
                <a:gd name="connsiteX17" fmla="*/ 450056 w 459581"/>
                <a:gd name="connsiteY17" fmla="*/ 83343 h 211931"/>
                <a:gd name="connsiteX18" fmla="*/ 423862 w 459581"/>
                <a:gd name="connsiteY18" fmla="*/ 52387 h 211931"/>
                <a:gd name="connsiteX19" fmla="*/ 357187 w 459581"/>
                <a:gd name="connsiteY19" fmla="*/ 19050 h 211931"/>
                <a:gd name="connsiteX20" fmla="*/ 319087 w 459581"/>
                <a:gd name="connsiteY20" fmla="*/ 0 h 211931"/>
                <a:gd name="connsiteX21" fmla="*/ 295275 w 459581"/>
                <a:gd name="connsiteY21" fmla="*/ 0 h 211931"/>
                <a:gd name="connsiteX22" fmla="*/ 240506 w 459581"/>
                <a:gd name="connsiteY22" fmla="*/ 33337 h 211931"/>
                <a:gd name="connsiteX23" fmla="*/ 176212 w 459581"/>
                <a:gd name="connsiteY23" fmla="*/ 45243 h 211931"/>
                <a:gd name="connsiteX24" fmla="*/ 95250 w 459581"/>
                <a:gd name="connsiteY24" fmla="*/ 19050 h 211931"/>
                <a:gd name="connsiteX25" fmla="*/ 78581 w 459581"/>
                <a:gd name="connsiteY25" fmla="*/ 16668 h 211931"/>
                <a:gd name="connsiteX26" fmla="*/ 0 w 459581"/>
                <a:gd name="connsiteY26" fmla="*/ 42862 h 21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9581" h="211931">
                  <a:moveTo>
                    <a:pt x="0" y="42862"/>
                  </a:moveTo>
                  <a:lnTo>
                    <a:pt x="7143" y="104775"/>
                  </a:lnTo>
                  <a:lnTo>
                    <a:pt x="30956" y="119062"/>
                  </a:lnTo>
                  <a:lnTo>
                    <a:pt x="33337" y="171450"/>
                  </a:lnTo>
                  <a:lnTo>
                    <a:pt x="38100" y="188118"/>
                  </a:lnTo>
                  <a:lnTo>
                    <a:pt x="88106" y="204787"/>
                  </a:lnTo>
                  <a:lnTo>
                    <a:pt x="88106" y="204787"/>
                  </a:lnTo>
                  <a:lnTo>
                    <a:pt x="147637" y="211931"/>
                  </a:lnTo>
                  <a:lnTo>
                    <a:pt x="180975" y="197643"/>
                  </a:lnTo>
                  <a:lnTo>
                    <a:pt x="214312" y="192881"/>
                  </a:lnTo>
                  <a:lnTo>
                    <a:pt x="242887" y="204787"/>
                  </a:lnTo>
                  <a:lnTo>
                    <a:pt x="261937" y="204787"/>
                  </a:lnTo>
                  <a:lnTo>
                    <a:pt x="321468" y="178593"/>
                  </a:lnTo>
                  <a:lnTo>
                    <a:pt x="350043" y="180975"/>
                  </a:lnTo>
                  <a:lnTo>
                    <a:pt x="402431" y="161925"/>
                  </a:lnTo>
                  <a:lnTo>
                    <a:pt x="457200" y="173831"/>
                  </a:lnTo>
                  <a:lnTo>
                    <a:pt x="459581" y="128587"/>
                  </a:lnTo>
                  <a:lnTo>
                    <a:pt x="450056" y="83343"/>
                  </a:lnTo>
                  <a:lnTo>
                    <a:pt x="423862" y="52387"/>
                  </a:lnTo>
                  <a:lnTo>
                    <a:pt x="357187" y="19050"/>
                  </a:lnTo>
                  <a:lnTo>
                    <a:pt x="319087" y="0"/>
                  </a:lnTo>
                  <a:lnTo>
                    <a:pt x="295275" y="0"/>
                  </a:lnTo>
                  <a:lnTo>
                    <a:pt x="240506" y="33337"/>
                  </a:lnTo>
                  <a:lnTo>
                    <a:pt x="176212" y="45243"/>
                  </a:lnTo>
                  <a:lnTo>
                    <a:pt x="95250" y="19050"/>
                  </a:lnTo>
                  <a:lnTo>
                    <a:pt x="78581" y="16668"/>
                  </a:lnTo>
                  <a:lnTo>
                    <a:pt x="0" y="42862"/>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35" name="Freeform 34"/>
            <p:cNvSpPr/>
            <p:nvPr/>
          </p:nvSpPr>
          <p:spPr>
            <a:xfrm rot="21298612">
              <a:off x="4467291" y="2351686"/>
              <a:ext cx="1064533" cy="596531"/>
            </a:xfrm>
            <a:custGeom>
              <a:avLst/>
              <a:gdLst>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2462 w 1059656"/>
                <a:gd name="connsiteY79" fmla="*/ 481012 h 531019"/>
                <a:gd name="connsiteX80" fmla="*/ 697706 w 1059656"/>
                <a:gd name="connsiteY80"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2462 w 1059656"/>
                <a:gd name="connsiteY79" fmla="*/ 481012 h 531019"/>
                <a:gd name="connsiteX80" fmla="*/ 676275 w 1059656"/>
                <a:gd name="connsiteY80" fmla="*/ 500062 h 531019"/>
                <a:gd name="connsiteX81" fmla="*/ 697706 w 1059656"/>
                <a:gd name="connsiteY81"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9605 w 1059656"/>
                <a:gd name="connsiteY79" fmla="*/ 471487 h 531019"/>
                <a:gd name="connsiteX80" fmla="*/ 676275 w 1059656"/>
                <a:gd name="connsiteY80" fmla="*/ 500062 h 531019"/>
                <a:gd name="connsiteX81" fmla="*/ 697706 w 1059656"/>
                <a:gd name="connsiteY81"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7224 w 1059656"/>
                <a:gd name="connsiteY79" fmla="*/ 483393 h 531019"/>
                <a:gd name="connsiteX80" fmla="*/ 676275 w 1059656"/>
                <a:gd name="connsiteY80" fmla="*/ 500062 h 531019"/>
                <a:gd name="connsiteX81" fmla="*/ 697706 w 1059656"/>
                <a:gd name="connsiteY81"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7224 w 1059656"/>
                <a:gd name="connsiteY79" fmla="*/ 483393 h 531019"/>
                <a:gd name="connsiteX80" fmla="*/ 654844 w 1059656"/>
                <a:gd name="connsiteY80" fmla="*/ 495300 h 531019"/>
                <a:gd name="connsiteX81" fmla="*/ 697706 w 1059656"/>
                <a:gd name="connsiteY81"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2461 w 1059656"/>
                <a:gd name="connsiteY79" fmla="*/ 476249 h 531019"/>
                <a:gd name="connsiteX80" fmla="*/ 654844 w 1059656"/>
                <a:gd name="connsiteY80" fmla="*/ 495300 h 531019"/>
                <a:gd name="connsiteX81" fmla="*/ 697706 w 1059656"/>
                <a:gd name="connsiteY81" fmla="*/ 531019 h 531019"/>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33437 w 1059656"/>
                <a:gd name="connsiteY25" fmla="*/ 0 h 564357"/>
                <a:gd name="connsiteX26" fmla="*/ 809625 w 1059656"/>
                <a:gd name="connsiteY26" fmla="*/ 33338 h 564357"/>
                <a:gd name="connsiteX27" fmla="*/ 797718 w 1059656"/>
                <a:gd name="connsiteY27" fmla="*/ 50007 h 564357"/>
                <a:gd name="connsiteX28" fmla="*/ 757237 w 1059656"/>
                <a:gd name="connsiteY28" fmla="*/ 45244 h 564357"/>
                <a:gd name="connsiteX29" fmla="*/ 735806 w 1059656"/>
                <a:gd name="connsiteY29" fmla="*/ 50007 h 564357"/>
                <a:gd name="connsiteX30" fmla="*/ 719137 w 1059656"/>
                <a:gd name="connsiteY30" fmla="*/ 78582 h 564357"/>
                <a:gd name="connsiteX31" fmla="*/ 723900 w 1059656"/>
                <a:gd name="connsiteY31" fmla="*/ 97632 h 564357"/>
                <a:gd name="connsiteX32" fmla="*/ 707231 w 1059656"/>
                <a:gd name="connsiteY32" fmla="*/ 111919 h 564357"/>
                <a:gd name="connsiteX33" fmla="*/ 631031 w 1059656"/>
                <a:gd name="connsiteY33" fmla="*/ 114300 h 564357"/>
                <a:gd name="connsiteX34" fmla="*/ 597693 w 1059656"/>
                <a:gd name="connsiteY34" fmla="*/ 100013 h 564357"/>
                <a:gd name="connsiteX35" fmla="*/ 569118 w 1059656"/>
                <a:gd name="connsiteY35" fmla="*/ 71438 h 564357"/>
                <a:gd name="connsiteX36" fmla="*/ 531018 w 1059656"/>
                <a:gd name="connsiteY36" fmla="*/ 66675 h 564357"/>
                <a:gd name="connsiteX37" fmla="*/ 497681 w 1059656"/>
                <a:gd name="connsiteY37" fmla="*/ 90488 h 564357"/>
                <a:gd name="connsiteX38" fmla="*/ 481012 w 1059656"/>
                <a:gd name="connsiteY38" fmla="*/ 109538 h 564357"/>
                <a:gd name="connsiteX39" fmla="*/ 466725 w 1059656"/>
                <a:gd name="connsiteY39" fmla="*/ 126207 h 564357"/>
                <a:gd name="connsiteX40" fmla="*/ 450056 w 1059656"/>
                <a:gd name="connsiteY40" fmla="*/ 145257 h 564357"/>
                <a:gd name="connsiteX41" fmla="*/ 454818 w 1059656"/>
                <a:gd name="connsiteY41" fmla="*/ 171450 h 564357"/>
                <a:gd name="connsiteX42" fmla="*/ 423862 w 1059656"/>
                <a:gd name="connsiteY42" fmla="*/ 195263 h 564357"/>
                <a:gd name="connsiteX43" fmla="*/ 371475 w 1059656"/>
                <a:gd name="connsiteY43" fmla="*/ 204788 h 564357"/>
                <a:gd name="connsiteX44" fmla="*/ 330993 w 1059656"/>
                <a:gd name="connsiteY44" fmla="*/ 223838 h 564357"/>
                <a:gd name="connsiteX45" fmla="*/ 321468 w 1059656"/>
                <a:gd name="connsiteY45" fmla="*/ 261938 h 564357"/>
                <a:gd name="connsiteX46" fmla="*/ 319087 w 1059656"/>
                <a:gd name="connsiteY46" fmla="*/ 269082 h 564357"/>
                <a:gd name="connsiteX47" fmla="*/ 266700 w 1059656"/>
                <a:gd name="connsiteY47" fmla="*/ 285750 h 564357"/>
                <a:gd name="connsiteX48" fmla="*/ 180975 w 1059656"/>
                <a:gd name="connsiteY48" fmla="*/ 316707 h 564357"/>
                <a:gd name="connsiteX49" fmla="*/ 157162 w 1059656"/>
                <a:gd name="connsiteY49" fmla="*/ 309563 h 564357"/>
                <a:gd name="connsiteX50" fmla="*/ 128587 w 1059656"/>
                <a:gd name="connsiteY50" fmla="*/ 300038 h 564357"/>
                <a:gd name="connsiteX51" fmla="*/ 130968 w 1059656"/>
                <a:gd name="connsiteY51" fmla="*/ 359569 h 564357"/>
                <a:gd name="connsiteX52" fmla="*/ 169068 w 1059656"/>
                <a:gd name="connsiteY52" fmla="*/ 388144 h 564357"/>
                <a:gd name="connsiteX53" fmla="*/ 185737 w 1059656"/>
                <a:gd name="connsiteY53" fmla="*/ 411957 h 564357"/>
                <a:gd name="connsiteX54" fmla="*/ 180975 w 1059656"/>
                <a:gd name="connsiteY54" fmla="*/ 442913 h 564357"/>
                <a:gd name="connsiteX55" fmla="*/ 173831 w 1059656"/>
                <a:gd name="connsiteY55" fmla="*/ 471488 h 564357"/>
                <a:gd name="connsiteX56" fmla="*/ 130968 w 1059656"/>
                <a:gd name="connsiteY56" fmla="*/ 473869 h 564357"/>
                <a:gd name="connsiteX57" fmla="*/ 95250 w 1059656"/>
                <a:gd name="connsiteY57" fmla="*/ 488157 h 564357"/>
                <a:gd name="connsiteX58" fmla="*/ 71437 w 1059656"/>
                <a:gd name="connsiteY58" fmla="*/ 492919 h 564357"/>
                <a:gd name="connsiteX59" fmla="*/ 50006 w 1059656"/>
                <a:gd name="connsiteY59" fmla="*/ 504825 h 564357"/>
                <a:gd name="connsiteX60" fmla="*/ 30956 w 1059656"/>
                <a:gd name="connsiteY60" fmla="*/ 521494 h 564357"/>
                <a:gd name="connsiteX61" fmla="*/ 7143 w 1059656"/>
                <a:gd name="connsiteY61" fmla="*/ 528638 h 564357"/>
                <a:gd name="connsiteX62" fmla="*/ 0 w 1059656"/>
                <a:gd name="connsiteY62" fmla="*/ 533400 h 564357"/>
                <a:gd name="connsiteX63" fmla="*/ 38100 w 1059656"/>
                <a:gd name="connsiteY63" fmla="*/ 561975 h 564357"/>
                <a:gd name="connsiteX64" fmla="*/ 80962 w 1059656"/>
                <a:gd name="connsiteY64" fmla="*/ 559594 h 564357"/>
                <a:gd name="connsiteX65" fmla="*/ 116681 w 1059656"/>
                <a:gd name="connsiteY65" fmla="*/ 526257 h 564357"/>
                <a:gd name="connsiteX66" fmla="*/ 171450 w 1059656"/>
                <a:gd name="connsiteY66" fmla="*/ 500063 h 564357"/>
                <a:gd name="connsiteX67" fmla="*/ 278606 w 1059656"/>
                <a:gd name="connsiteY67" fmla="*/ 492919 h 564357"/>
                <a:gd name="connsiteX68" fmla="*/ 292893 w 1059656"/>
                <a:gd name="connsiteY68" fmla="*/ 481013 h 564357"/>
                <a:gd name="connsiteX69" fmla="*/ 357187 w 1059656"/>
                <a:gd name="connsiteY69" fmla="*/ 481013 h 564357"/>
                <a:gd name="connsiteX70" fmla="*/ 433387 w 1059656"/>
                <a:gd name="connsiteY70" fmla="*/ 388144 h 564357"/>
                <a:gd name="connsiteX71" fmla="*/ 559593 w 1059656"/>
                <a:gd name="connsiteY71" fmla="*/ 328613 h 564357"/>
                <a:gd name="connsiteX72" fmla="*/ 619125 w 1059656"/>
                <a:gd name="connsiteY72" fmla="*/ 321469 h 564357"/>
                <a:gd name="connsiteX73" fmla="*/ 654843 w 1059656"/>
                <a:gd name="connsiteY73" fmla="*/ 295275 h 564357"/>
                <a:gd name="connsiteX74" fmla="*/ 716756 w 1059656"/>
                <a:gd name="connsiteY74" fmla="*/ 292894 h 564357"/>
                <a:gd name="connsiteX75" fmla="*/ 771525 w 1059656"/>
                <a:gd name="connsiteY75" fmla="*/ 285750 h 564357"/>
                <a:gd name="connsiteX76" fmla="*/ 781050 w 1059656"/>
                <a:gd name="connsiteY76" fmla="*/ 323850 h 564357"/>
                <a:gd name="connsiteX77" fmla="*/ 773906 w 1059656"/>
                <a:gd name="connsiteY77" fmla="*/ 445294 h 564357"/>
                <a:gd name="connsiteX78" fmla="*/ 707231 w 1059656"/>
                <a:gd name="connsiteY78" fmla="*/ 461963 h 564357"/>
                <a:gd name="connsiteX79" fmla="*/ 652461 w 1059656"/>
                <a:gd name="connsiteY79" fmla="*/ 509587 h 564357"/>
                <a:gd name="connsiteX80" fmla="*/ 654844 w 1059656"/>
                <a:gd name="connsiteY80" fmla="*/ 528638 h 564357"/>
                <a:gd name="connsiteX81" fmla="*/ 697706 w 1059656"/>
                <a:gd name="connsiteY81"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35818 w 1059656"/>
                <a:gd name="connsiteY25" fmla="*/ 52388 h 564357"/>
                <a:gd name="connsiteX26" fmla="*/ 833437 w 1059656"/>
                <a:gd name="connsiteY26" fmla="*/ 0 h 564357"/>
                <a:gd name="connsiteX27" fmla="*/ 809625 w 1059656"/>
                <a:gd name="connsiteY27" fmla="*/ 33338 h 564357"/>
                <a:gd name="connsiteX28" fmla="*/ 797718 w 1059656"/>
                <a:gd name="connsiteY28" fmla="*/ 50007 h 564357"/>
                <a:gd name="connsiteX29" fmla="*/ 757237 w 1059656"/>
                <a:gd name="connsiteY29" fmla="*/ 45244 h 564357"/>
                <a:gd name="connsiteX30" fmla="*/ 735806 w 1059656"/>
                <a:gd name="connsiteY30" fmla="*/ 50007 h 564357"/>
                <a:gd name="connsiteX31" fmla="*/ 719137 w 1059656"/>
                <a:gd name="connsiteY31" fmla="*/ 78582 h 564357"/>
                <a:gd name="connsiteX32" fmla="*/ 723900 w 1059656"/>
                <a:gd name="connsiteY32" fmla="*/ 97632 h 564357"/>
                <a:gd name="connsiteX33" fmla="*/ 707231 w 1059656"/>
                <a:gd name="connsiteY33" fmla="*/ 111919 h 564357"/>
                <a:gd name="connsiteX34" fmla="*/ 631031 w 1059656"/>
                <a:gd name="connsiteY34" fmla="*/ 114300 h 564357"/>
                <a:gd name="connsiteX35" fmla="*/ 597693 w 1059656"/>
                <a:gd name="connsiteY35" fmla="*/ 100013 h 564357"/>
                <a:gd name="connsiteX36" fmla="*/ 569118 w 1059656"/>
                <a:gd name="connsiteY36" fmla="*/ 71438 h 564357"/>
                <a:gd name="connsiteX37" fmla="*/ 531018 w 1059656"/>
                <a:gd name="connsiteY37" fmla="*/ 66675 h 564357"/>
                <a:gd name="connsiteX38" fmla="*/ 497681 w 1059656"/>
                <a:gd name="connsiteY38" fmla="*/ 90488 h 564357"/>
                <a:gd name="connsiteX39" fmla="*/ 481012 w 1059656"/>
                <a:gd name="connsiteY39" fmla="*/ 109538 h 564357"/>
                <a:gd name="connsiteX40" fmla="*/ 466725 w 1059656"/>
                <a:gd name="connsiteY40" fmla="*/ 126207 h 564357"/>
                <a:gd name="connsiteX41" fmla="*/ 450056 w 1059656"/>
                <a:gd name="connsiteY41" fmla="*/ 145257 h 564357"/>
                <a:gd name="connsiteX42" fmla="*/ 454818 w 1059656"/>
                <a:gd name="connsiteY42" fmla="*/ 171450 h 564357"/>
                <a:gd name="connsiteX43" fmla="*/ 423862 w 1059656"/>
                <a:gd name="connsiteY43" fmla="*/ 195263 h 564357"/>
                <a:gd name="connsiteX44" fmla="*/ 371475 w 1059656"/>
                <a:gd name="connsiteY44" fmla="*/ 204788 h 564357"/>
                <a:gd name="connsiteX45" fmla="*/ 330993 w 1059656"/>
                <a:gd name="connsiteY45" fmla="*/ 223838 h 564357"/>
                <a:gd name="connsiteX46" fmla="*/ 321468 w 1059656"/>
                <a:gd name="connsiteY46" fmla="*/ 261938 h 564357"/>
                <a:gd name="connsiteX47" fmla="*/ 319087 w 1059656"/>
                <a:gd name="connsiteY47" fmla="*/ 269082 h 564357"/>
                <a:gd name="connsiteX48" fmla="*/ 266700 w 1059656"/>
                <a:gd name="connsiteY48" fmla="*/ 285750 h 564357"/>
                <a:gd name="connsiteX49" fmla="*/ 180975 w 1059656"/>
                <a:gd name="connsiteY49" fmla="*/ 316707 h 564357"/>
                <a:gd name="connsiteX50" fmla="*/ 157162 w 1059656"/>
                <a:gd name="connsiteY50" fmla="*/ 309563 h 564357"/>
                <a:gd name="connsiteX51" fmla="*/ 128587 w 1059656"/>
                <a:gd name="connsiteY51" fmla="*/ 300038 h 564357"/>
                <a:gd name="connsiteX52" fmla="*/ 130968 w 1059656"/>
                <a:gd name="connsiteY52" fmla="*/ 359569 h 564357"/>
                <a:gd name="connsiteX53" fmla="*/ 169068 w 1059656"/>
                <a:gd name="connsiteY53" fmla="*/ 388144 h 564357"/>
                <a:gd name="connsiteX54" fmla="*/ 185737 w 1059656"/>
                <a:gd name="connsiteY54" fmla="*/ 411957 h 564357"/>
                <a:gd name="connsiteX55" fmla="*/ 180975 w 1059656"/>
                <a:gd name="connsiteY55" fmla="*/ 442913 h 564357"/>
                <a:gd name="connsiteX56" fmla="*/ 173831 w 1059656"/>
                <a:gd name="connsiteY56" fmla="*/ 471488 h 564357"/>
                <a:gd name="connsiteX57" fmla="*/ 130968 w 1059656"/>
                <a:gd name="connsiteY57" fmla="*/ 473869 h 564357"/>
                <a:gd name="connsiteX58" fmla="*/ 95250 w 1059656"/>
                <a:gd name="connsiteY58" fmla="*/ 488157 h 564357"/>
                <a:gd name="connsiteX59" fmla="*/ 71437 w 1059656"/>
                <a:gd name="connsiteY59" fmla="*/ 492919 h 564357"/>
                <a:gd name="connsiteX60" fmla="*/ 50006 w 1059656"/>
                <a:gd name="connsiteY60" fmla="*/ 504825 h 564357"/>
                <a:gd name="connsiteX61" fmla="*/ 30956 w 1059656"/>
                <a:gd name="connsiteY61" fmla="*/ 521494 h 564357"/>
                <a:gd name="connsiteX62" fmla="*/ 7143 w 1059656"/>
                <a:gd name="connsiteY62" fmla="*/ 528638 h 564357"/>
                <a:gd name="connsiteX63" fmla="*/ 0 w 1059656"/>
                <a:gd name="connsiteY63" fmla="*/ 533400 h 564357"/>
                <a:gd name="connsiteX64" fmla="*/ 38100 w 1059656"/>
                <a:gd name="connsiteY64" fmla="*/ 561975 h 564357"/>
                <a:gd name="connsiteX65" fmla="*/ 80962 w 1059656"/>
                <a:gd name="connsiteY65" fmla="*/ 559594 h 564357"/>
                <a:gd name="connsiteX66" fmla="*/ 116681 w 1059656"/>
                <a:gd name="connsiteY66" fmla="*/ 526257 h 564357"/>
                <a:gd name="connsiteX67" fmla="*/ 171450 w 1059656"/>
                <a:gd name="connsiteY67" fmla="*/ 500063 h 564357"/>
                <a:gd name="connsiteX68" fmla="*/ 278606 w 1059656"/>
                <a:gd name="connsiteY68" fmla="*/ 492919 h 564357"/>
                <a:gd name="connsiteX69" fmla="*/ 292893 w 1059656"/>
                <a:gd name="connsiteY69" fmla="*/ 481013 h 564357"/>
                <a:gd name="connsiteX70" fmla="*/ 357187 w 1059656"/>
                <a:gd name="connsiteY70" fmla="*/ 481013 h 564357"/>
                <a:gd name="connsiteX71" fmla="*/ 433387 w 1059656"/>
                <a:gd name="connsiteY71" fmla="*/ 388144 h 564357"/>
                <a:gd name="connsiteX72" fmla="*/ 559593 w 1059656"/>
                <a:gd name="connsiteY72" fmla="*/ 328613 h 564357"/>
                <a:gd name="connsiteX73" fmla="*/ 619125 w 1059656"/>
                <a:gd name="connsiteY73" fmla="*/ 321469 h 564357"/>
                <a:gd name="connsiteX74" fmla="*/ 654843 w 1059656"/>
                <a:gd name="connsiteY74" fmla="*/ 295275 h 564357"/>
                <a:gd name="connsiteX75" fmla="*/ 716756 w 1059656"/>
                <a:gd name="connsiteY75" fmla="*/ 292894 h 564357"/>
                <a:gd name="connsiteX76" fmla="*/ 771525 w 1059656"/>
                <a:gd name="connsiteY76" fmla="*/ 285750 h 564357"/>
                <a:gd name="connsiteX77" fmla="*/ 781050 w 1059656"/>
                <a:gd name="connsiteY77" fmla="*/ 323850 h 564357"/>
                <a:gd name="connsiteX78" fmla="*/ 773906 w 1059656"/>
                <a:gd name="connsiteY78" fmla="*/ 445294 h 564357"/>
                <a:gd name="connsiteX79" fmla="*/ 707231 w 1059656"/>
                <a:gd name="connsiteY79" fmla="*/ 461963 h 564357"/>
                <a:gd name="connsiteX80" fmla="*/ 652461 w 1059656"/>
                <a:gd name="connsiteY80" fmla="*/ 509587 h 564357"/>
                <a:gd name="connsiteX81" fmla="*/ 654844 w 1059656"/>
                <a:gd name="connsiteY81" fmla="*/ 528638 h 564357"/>
                <a:gd name="connsiteX82" fmla="*/ 697706 w 1059656"/>
                <a:gd name="connsiteY82"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57249 w 1059656"/>
                <a:gd name="connsiteY25" fmla="*/ 28576 h 564357"/>
                <a:gd name="connsiteX26" fmla="*/ 833437 w 1059656"/>
                <a:gd name="connsiteY26" fmla="*/ 0 h 564357"/>
                <a:gd name="connsiteX27" fmla="*/ 809625 w 1059656"/>
                <a:gd name="connsiteY27" fmla="*/ 33338 h 564357"/>
                <a:gd name="connsiteX28" fmla="*/ 797718 w 1059656"/>
                <a:gd name="connsiteY28" fmla="*/ 50007 h 564357"/>
                <a:gd name="connsiteX29" fmla="*/ 757237 w 1059656"/>
                <a:gd name="connsiteY29" fmla="*/ 45244 h 564357"/>
                <a:gd name="connsiteX30" fmla="*/ 735806 w 1059656"/>
                <a:gd name="connsiteY30" fmla="*/ 50007 h 564357"/>
                <a:gd name="connsiteX31" fmla="*/ 719137 w 1059656"/>
                <a:gd name="connsiteY31" fmla="*/ 78582 h 564357"/>
                <a:gd name="connsiteX32" fmla="*/ 723900 w 1059656"/>
                <a:gd name="connsiteY32" fmla="*/ 97632 h 564357"/>
                <a:gd name="connsiteX33" fmla="*/ 707231 w 1059656"/>
                <a:gd name="connsiteY33" fmla="*/ 111919 h 564357"/>
                <a:gd name="connsiteX34" fmla="*/ 631031 w 1059656"/>
                <a:gd name="connsiteY34" fmla="*/ 114300 h 564357"/>
                <a:gd name="connsiteX35" fmla="*/ 597693 w 1059656"/>
                <a:gd name="connsiteY35" fmla="*/ 100013 h 564357"/>
                <a:gd name="connsiteX36" fmla="*/ 569118 w 1059656"/>
                <a:gd name="connsiteY36" fmla="*/ 71438 h 564357"/>
                <a:gd name="connsiteX37" fmla="*/ 531018 w 1059656"/>
                <a:gd name="connsiteY37" fmla="*/ 66675 h 564357"/>
                <a:gd name="connsiteX38" fmla="*/ 497681 w 1059656"/>
                <a:gd name="connsiteY38" fmla="*/ 90488 h 564357"/>
                <a:gd name="connsiteX39" fmla="*/ 481012 w 1059656"/>
                <a:gd name="connsiteY39" fmla="*/ 109538 h 564357"/>
                <a:gd name="connsiteX40" fmla="*/ 466725 w 1059656"/>
                <a:gd name="connsiteY40" fmla="*/ 126207 h 564357"/>
                <a:gd name="connsiteX41" fmla="*/ 450056 w 1059656"/>
                <a:gd name="connsiteY41" fmla="*/ 145257 h 564357"/>
                <a:gd name="connsiteX42" fmla="*/ 454818 w 1059656"/>
                <a:gd name="connsiteY42" fmla="*/ 171450 h 564357"/>
                <a:gd name="connsiteX43" fmla="*/ 423862 w 1059656"/>
                <a:gd name="connsiteY43" fmla="*/ 195263 h 564357"/>
                <a:gd name="connsiteX44" fmla="*/ 371475 w 1059656"/>
                <a:gd name="connsiteY44" fmla="*/ 204788 h 564357"/>
                <a:gd name="connsiteX45" fmla="*/ 330993 w 1059656"/>
                <a:gd name="connsiteY45" fmla="*/ 223838 h 564357"/>
                <a:gd name="connsiteX46" fmla="*/ 321468 w 1059656"/>
                <a:gd name="connsiteY46" fmla="*/ 261938 h 564357"/>
                <a:gd name="connsiteX47" fmla="*/ 319087 w 1059656"/>
                <a:gd name="connsiteY47" fmla="*/ 269082 h 564357"/>
                <a:gd name="connsiteX48" fmla="*/ 266700 w 1059656"/>
                <a:gd name="connsiteY48" fmla="*/ 285750 h 564357"/>
                <a:gd name="connsiteX49" fmla="*/ 180975 w 1059656"/>
                <a:gd name="connsiteY49" fmla="*/ 316707 h 564357"/>
                <a:gd name="connsiteX50" fmla="*/ 157162 w 1059656"/>
                <a:gd name="connsiteY50" fmla="*/ 309563 h 564357"/>
                <a:gd name="connsiteX51" fmla="*/ 128587 w 1059656"/>
                <a:gd name="connsiteY51" fmla="*/ 300038 h 564357"/>
                <a:gd name="connsiteX52" fmla="*/ 130968 w 1059656"/>
                <a:gd name="connsiteY52" fmla="*/ 359569 h 564357"/>
                <a:gd name="connsiteX53" fmla="*/ 169068 w 1059656"/>
                <a:gd name="connsiteY53" fmla="*/ 388144 h 564357"/>
                <a:gd name="connsiteX54" fmla="*/ 185737 w 1059656"/>
                <a:gd name="connsiteY54" fmla="*/ 411957 h 564357"/>
                <a:gd name="connsiteX55" fmla="*/ 180975 w 1059656"/>
                <a:gd name="connsiteY55" fmla="*/ 442913 h 564357"/>
                <a:gd name="connsiteX56" fmla="*/ 173831 w 1059656"/>
                <a:gd name="connsiteY56" fmla="*/ 471488 h 564357"/>
                <a:gd name="connsiteX57" fmla="*/ 130968 w 1059656"/>
                <a:gd name="connsiteY57" fmla="*/ 473869 h 564357"/>
                <a:gd name="connsiteX58" fmla="*/ 95250 w 1059656"/>
                <a:gd name="connsiteY58" fmla="*/ 488157 h 564357"/>
                <a:gd name="connsiteX59" fmla="*/ 71437 w 1059656"/>
                <a:gd name="connsiteY59" fmla="*/ 492919 h 564357"/>
                <a:gd name="connsiteX60" fmla="*/ 50006 w 1059656"/>
                <a:gd name="connsiteY60" fmla="*/ 504825 h 564357"/>
                <a:gd name="connsiteX61" fmla="*/ 30956 w 1059656"/>
                <a:gd name="connsiteY61" fmla="*/ 521494 h 564357"/>
                <a:gd name="connsiteX62" fmla="*/ 7143 w 1059656"/>
                <a:gd name="connsiteY62" fmla="*/ 528638 h 564357"/>
                <a:gd name="connsiteX63" fmla="*/ 0 w 1059656"/>
                <a:gd name="connsiteY63" fmla="*/ 533400 h 564357"/>
                <a:gd name="connsiteX64" fmla="*/ 38100 w 1059656"/>
                <a:gd name="connsiteY64" fmla="*/ 561975 h 564357"/>
                <a:gd name="connsiteX65" fmla="*/ 80962 w 1059656"/>
                <a:gd name="connsiteY65" fmla="*/ 559594 h 564357"/>
                <a:gd name="connsiteX66" fmla="*/ 116681 w 1059656"/>
                <a:gd name="connsiteY66" fmla="*/ 526257 h 564357"/>
                <a:gd name="connsiteX67" fmla="*/ 171450 w 1059656"/>
                <a:gd name="connsiteY67" fmla="*/ 500063 h 564357"/>
                <a:gd name="connsiteX68" fmla="*/ 278606 w 1059656"/>
                <a:gd name="connsiteY68" fmla="*/ 492919 h 564357"/>
                <a:gd name="connsiteX69" fmla="*/ 292893 w 1059656"/>
                <a:gd name="connsiteY69" fmla="*/ 481013 h 564357"/>
                <a:gd name="connsiteX70" fmla="*/ 357187 w 1059656"/>
                <a:gd name="connsiteY70" fmla="*/ 481013 h 564357"/>
                <a:gd name="connsiteX71" fmla="*/ 433387 w 1059656"/>
                <a:gd name="connsiteY71" fmla="*/ 388144 h 564357"/>
                <a:gd name="connsiteX72" fmla="*/ 559593 w 1059656"/>
                <a:gd name="connsiteY72" fmla="*/ 328613 h 564357"/>
                <a:gd name="connsiteX73" fmla="*/ 619125 w 1059656"/>
                <a:gd name="connsiteY73" fmla="*/ 321469 h 564357"/>
                <a:gd name="connsiteX74" fmla="*/ 654843 w 1059656"/>
                <a:gd name="connsiteY74" fmla="*/ 295275 h 564357"/>
                <a:gd name="connsiteX75" fmla="*/ 716756 w 1059656"/>
                <a:gd name="connsiteY75" fmla="*/ 292894 h 564357"/>
                <a:gd name="connsiteX76" fmla="*/ 771525 w 1059656"/>
                <a:gd name="connsiteY76" fmla="*/ 285750 h 564357"/>
                <a:gd name="connsiteX77" fmla="*/ 781050 w 1059656"/>
                <a:gd name="connsiteY77" fmla="*/ 323850 h 564357"/>
                <a:gd name="connsiteX78" fmla="*/ 773906 w 1059656"/>
                <a:gd name="connsiteY78" fmla="*/ 445294 h 564357"/>
                <a:gd name="connsiteX79" fmla="*/ 707231 w 1059656"/>
                <a:gd name="connsiteY79" fmla="*/ 461963 h 564357"/>
                <a:gd name="connsiteX80" fmla="*/ 652461 w 1059656"/>
                <a:gd name="connsiteY80" fmla="*/ 509587 h 564357"/>
                <a:gd name="connsiteX81" fmla="*/ 654844 w 1059656"/>
                <a:gd name="connsiteY81" fmla="*/ 528638 h 564357"/>
                <a:gd name="connsiteX82" fmla="*/ 697706 w 1059656"/>
                <a:gd name="connsiteY82"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45343 w 1059656"/>
                <a:gd name="connsiteY25" fmla="*/ 61913 h 564357"/>
                <a:gd name="connsiteX26" fmla="*/ 857249 w 1059656"/>
                <a:gd name="connsiteY26" fmla="*/ 28576 h 564357"/>
                <a:gd name="connsiteX27" fmla="*/ 833437 w 1059656"/>
                <a:gd name="connsiteY27" fmla="*/ 0 h 564357"/>
                <a:gd name="connsiteX28" fmla="*/ 809625 w 1059656"/>
                <a:gd name="connsiteY28" fmla="*/ 33338 h 564357"/>
                <a:gd name="connsiteX29" fmla="*/ 797718 w 1059656"/>
                <a:gd name="connsiteY29" fmla="*/ 50007 h 564357"/>
                <a:gd name="connsiteX30" fmla="*/ 757237 w 1059656"/>
                <a:gd name="connsiteY30" fmla="*/ 45244 h 564357"/>
                <a:gd name="connsiteX31" fmla="*/ 735806 w 1059656"/>
                <a:gd name="connsiteY31" fmla="*/ 50007 h 564357"/>
                <a:gd name="connsiteX32" fmla="*/ 719137 w 1059656"/>
                <a:gd name="connsiteY32" fmla="*/ 78582 h 564357"/>
                <a:gd name="connsiteX33" fmla="*/ 723900 w 1059656"/>
                <a:gd name="connsiteY33" fmla="*/ 97632 h 564357"/>
                <a:gd name="connsiteX34" fmla="*/ 707231 w 1059656"/>
                <a:gd name="connsiteY34" fmla="*/ 111919 h 564357"/>
                <a:gd name="connsiteX35" fmla="*/ 631031 w 1059656"/>
                <a:gd name="connsiteY35" fmla="*/ 114300 h 564357"/>
                <a:gd name="connsiteX36" fmla="*/ 597693 w 1059656"/>
                <a:gd name="connsiteY36" fmla="*/ 100013 h 564357"/>
                <a:gd name="connsiteX37" fmla="*/ 569118 w 1059656"/>
                <a:gd name="connsiteY37" fmla="*/ 71438 h 564357"/>
                <a:gd name="connsiteX38" fmla="*/ 531018 w 1059656"/>
                <a:gd name="connsiteY38" fmla="*/ 66675 h 564357"/>
                <a:gd name="connsiteX39" fmla="*/ 497681 w 1059656"/>
                <a:gd name="connsiteY39" fmla="*/ 90488 h 564357"/>
                <a:gd name="connsiteX40" fmla="*/ 481012 w 1059656"/>
                <a:gd name="connsiteY40" fmla="*/ 109538 h 564357"/>
                <a:gd name="connsiteX41" fmla="*/ 466725 w 1059656"/>
                <a:gd name="connsiteY41" fmla="*/ 126207 h 564357"/>
                <a:gd name="connsiteX42" fmla="*/ 450056 w 1059656"/>
                <a:gd name="connsiteY42" fmla="*/ 145257 h 564357"/>
                <a:gd name="connsiteX43" fmla="*/ 454818 w 1059656"/>
                <a:gd name="connsiteY43" fmla="*/ 171450 h 564357"/>
                <a:gd name="connsiteX44" fmla="*/ 423862 w 1059656"/>
                <a:gd name="connsiteY44" fmla="*/ 195263 h 564357"/>
                <a:gd name="connsiteX45" fmla="*/ 371475 w 1059656"/>
                <a:gd name="connsiteY45" fmla="*/ 204788 h 564357"/>
                <a:gd name="connsiteX46" fmla="*/ 330993 w 1059656"/>
                <a:gd name="connsiteY46" fmla="*/ 223838 h 564357"/>
                <a:gd name="connsiteX47" fmla="*/ 321468 w 1059656"/>
                <a:gd name="connsiteY47" fmla="*/ 261938 h 564357"/>
                <a:gd name="connsiteX48" fmla="*/ 319087 w 1059656"/>
                <a:gd name="connsiteY48" fmla="*/ 269082 h 564357"/>
                <a:gd name="connsiteX49" fmla="*/ 266700 w 1059656"/>
                <a:gd name="connsiteY49" fmla="*/ 285750 h 564357"/>
                <a:gd name="connsiteX50" fmla="*/ 180975 w 1059656"/>
                <a:gd name="connsiteY50" fmla="*/ 316707 h 564357"/>
                <a:gd name="connsiteX51" fmla="*/ 157162 w 1059656"/>
                <a:gd name="connsiteY51" fmla="*/ 309563 h 564357"/>
                <a:gd name="connsiteX52" fmla="*/ 128587 w 1059656"/>
                <a:gd name="connsiteY52" fmla="*/ 300038 h 564357"/>
                <a:gd name="connsiteX53" fmla="*/ 130968 w 1059656"/>
                <a:gd name="connsiteY53" fmla="*/ 359569 h 564357"/>
                <a:gd name="connsiteX54" fmla="*/ 169068 w 1059656"/>
                <a:gd name="connsiteY54" fmla="*/ 388144 h 564357"/>
                <a:gd name="connsiteX55" fmla="*/ 185737 w 1059656"/>
                <a:gd name="connsiteY55" fmla="*/ 411957 h 564357"/>
                <a:gd name="connsiteX56" fmla="*/ 180975 w 1059656"/>
                <a:gd name="connsiteY56" fmla="*/ 442913 h 564357"/>
                <a:gd name="connsiteX57" fmla="*/ 173831 w 1059656"/>
                <a:gd name="connsiteY57" fmla="*/ 471488 h 564357"/>
                <a:gd name="connsiteX58" fmla="*/ 130968 w 1059656"/>
                <a:gd name="connsiteY58" fmla="*/ 473869 h 564357"/>
                <a:gd name="connsiteX59" fmla="*/ 95250 w 1059656"/>
                <a:gd name="connsiteY59" fmla="*/ 488157 h 564357"/>
                <a:gd name="connsiteX60" fmla="*/ 71437 w 1059656"/>
                <a:gd name="connsiteY60" fmla="*/ 492919 h 564357"/>
                <a:gd name="connsiteX61" fmla="*/ 50006 w 1059656"/>
                <a:gd name="connsiteY61" fmla="*/ 504825 h 564357"/>
                <a:gd name="connsiteX62" fmla="*/ 30956 w 1059656"/>
                <a:gd name="connsiteY62" fmla="*/ 521494 h 564357"/>
                <a:gd name="connsiteX63" fmla="*/ 7143 w 1059656"/>
                <a:gd name="connsiteY63" fmla="*/ 528638 h 564357"/>
                <a:gd name="connsiteX64" fmla="*/ 0 w 1059656"/>
                <a:gd name="connsiteY64" fmla="*/ 533400 h 564357"/>
                <a:gd name="connsiteX65" fmla="*/ 38100 w 1059656"/>
                <a:gd name="connsiteY65" fmla="*/ 561975 h 564357"/>
                <a:gd name="connsiteX66" fmla="*/ 80962 w 1059656"/>
                <a:gd name="connsiteY66" fmla="*/ 559594 h 564357"/>
                <a:gd name="connsiteX67" fmla="*/ 116681 w 1059656"/>
                <a:gd name="connsiteY67" fmla="*/ 526257 h 564357"/>
                <a:gd name="connsiteX68" fmla="*/ 171450 w 1059656"/>
                <a:gd name="connsiteY68" fmla="*/ 500063 h 564357"/>
                <a:gd name="connsiteX69" fmla="*/ 278606 w 1059656"/>
                <a:gd name="connsiteY69" fmla="*/ 492919 h 564357"/>
                <a:gd name="connsiteX70" fmla="*/ 292893 w 1059656"/>
                <a:gd name="connsiteY70" fmla="*/ 481013 h 564357"/>
                <a:gd name="connsiteX71" fmla="*/ 357187 w 1059656"/>
                <a:gd name="connsiteY71" fmla="*/ 481013 h 564357"/>
                <a:gd name="connsiteX72" fmla="*/ 433387 w 1059656"/>
                <a:gd name="connsiteY72" fmla="*/ 388144 h 564357"/>
                <a:gd name="connsiteX73" fmla="*/ 559593 w 1059656"/>
                <a:gd name="connsiteY73" fmla="*/ 328613 h 564357"/>
                <a:gd name="connsiteX74" fmla="*/ 619125 w 1059656"/>
                <a:gd name="connsiteY74" fmla="*/ 321469 h 564357"/>
                <a:gd name="connsiteX75" fmla="*/ 654843 w 1059656"/>
                <a:gd name="connsiteY75" fmla="*/ 295275 h 564357"/>
                <a:gd name="connsiteX76" fmla="*/ 716756 w 1059656"/>
                <a:gd name="connsiteY76" fmla="*/ 292894 h 564357"/>
                <a:gd name="connsiteX77" fmla="*/ 771525 w 1059656"/>
                <a:gd name="connsiteY77" fmla="*/ 285750 h 564357"/>
                <a:gd name="connsiteX78" fmla="*/ 781050 w 1059656"/>
                <a:gd name="connsiteY78" fmla="*/ 323850 h 564357"/>
                <a:gd name="connsiteX79" fmla="*/ 773906 w 1059656"/>
                <a:gd name="connsiteY79" fmla="*/ 445294 h 564357"/>
                <a:gd name="connsiteX80" fmla="*/ 707231 w 1059656"/>
                <a:gd name="connsiteY80" fmla="*/ 461963 h 564357"/>
                <a:gd name="connsiteX81" fmla="*/ 652461 w 1059656"/>
                <a:gd name="connsiteY81" fmla="*/ 509587 h 564357"/>
                <a:gd name="connsiteX82" fmla="*/ 654844 w 1059656"/>
                <a:gd name="connsiteY82" fmla="*/ 528638 h 564357"/>
                <a:gd name="connsiteX83" fmla="*/ 697706 w 1059656"/>
                <a:gd name="connsiteY83"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59630 w 1059656"/>
                <a:gd name="connsiteY25" fmla="*/ 66676 h 564357"/>
                <a:gd name="connsiteX26" fmla="*/ 857249 w 1059656"/>
                <a:gd name="connsiteY26" fmla="*/ 28576 h 564357"/>
                <a:gd name="connsiteX27" fmla="*/ 833437 w 1059656"/>
                <a:gd name="connsiteY27" fmla="*/ 0 h 564357"/>
                <a:gd name="connsiteX28" fmla="*/ 809625 w 1059656"/>
                <a:gd name="connsiteY28" fmla="*/ 33338 h 564357"/>
                <a:gd name="connsiteX29" fmla="*/ 797718 w 1059656"/>
                <a:gd name="connsiteY29" fmla="*/ 50007 h 564357"/>
                <a:gd name="connsiteX30" fmla="*/ 757237 w 1059656"/>
                <a:gd name="connsiteY30" fmla="*/ 45244 h 564357"/>
                <a:gd name="connsiteX31" fmla="*/ 735806 w 1059656"/>
                <a:gd name="connsiteY31" fmla="*/ 50007 h 564357"/>
                <a:gd name="connsiteX32" fmla="*/ 719137 w 1059656"/>
                <a:gd name="connsiteY32" fmla="*/ 78582 h 564357"/>
                <a:gd name="connsiteX33" fmla="*/ 723900 w 1059656"/>
                <a:gd name="connsiteY33" fmla="*/ 97632 h 564357"/>
                <a:gd name="connsiteX34" fmla="*/ 707231 w 1059656"/>
                <a:gd name="connsiteY34" fmla="*/ 111919 h 564357"/>
                <a:gd name="connsiteX35" fmla="*/ 631031 w 1059656"/>
                <a:gd name="connsiteY35" fmla="*/ 114300 h 564357"/>
                <a:gd name="connsiteX36" fmla="*/ 597693 w 1059656"/>
                <a:gd name="connsiteY36" fmla="*/ 100013 h 564357"/>
                <a:gd name="connsiteX37" fmla="*/ 569118 w 1059656"/>
                <a:gd name="connsiteY37" fmla="*/ 71438 h 564357"/>
                <a:gd name="connsiteX38" fmla="*/ 531018 w 1059656"/>
                <a:gd name="connsiteY38" fmla="*/ 66675 h 564357"/>
                <a:gd name="connsiteX39" fmla="*/ 497681 w 1059656"/>
                <a:gd name="connsiteY39" fmla="*/ 90488 h 564357"/>
                <a:gd name="connsiteX40" fmla="*/ 481012 w 1059656"/>
                <a:gd name="connsiteY40" fmla="*/ 109538 h 564357"/>
                <a:gd name="connsiteX41" fmla="*/ 466725 w 1059656"/>
                <a:gd name="connsiteY41" fmla="*/ 126207 h 564357"/>
                <a:gd name="connsiteX42" fmla="*/ 450056 w 1059656"/>
                <a:gd name="connsiteY42" fmla="*/ 145257 h 564357"/>
                <a:gd name="connsiteX43" fmla="*/ 454818 w 1059656"/>
                <a:gd name="connsiteY43" fmla="*/ 171450 h 564357"/>
                <a:gd name="connsiteX44" fmla="*/ 423862 w 1059656"/>
                <a:gd name="connsiteY44" fmla="*/ 195263 h 564357"/>
                <a:gd name="connsiteX45" fmla="*/ 371475 w 1059656"/>
                <a:gd name="connsiteY45" fmla="*/ 204788 h 564357"/>
                <a:gd name="connsiteX46" fmla="*/ 330993 w 1059656"/>
                <a:gd name="connsiteY46" fmla="*/ 223838 h 564357"/>
                <a:gd name="connsiteX47" fmla="*/ 321468 w 1059656"/>
                <a:gd name="connsiteY47" fmla="*/ 261938 h 564357"/>
                <a:gd name="connsiteX48" fmla="*/ 319087 w 1059656"/>
                <a:gd name="connsiteY48" fmla="*/ 269082 h 564357"/>
                <a:gd name="connsiteX49" fmla="*/ 266700 w 1059656"/>
                <a:gd name="connsiteY49" fmla="*/ 285750 h 564357"/>
                <a:gd name="connsiteX50" fmla="*/ 180975 w 1059656"/>
                <a:gd name="connsiteY50" fmla="*/ 316707 h 564357"/>
                <a:gd name="connsiteX51" fmla="*/ 157162 w 1059656"/>
                <a:gd name="connsiteY51" fmla="*/ 309563 h 564357"/>
                <a:gd name="connsiteX52" fmla="*/ 128587 w 1059656"/>
                <a:gd name="connsiteY52" fmla="*/ 300038 h 564357"/>
                <a:gd name="connsiteX53" fmla="*/ 130968 w 1059656"/>
                <a:gd name="connsiteY53" fmla="*/ 359569 h 564357"/>
                <a:gd name="connsiteX54" fmla="*/ 169068 w 1059656"/>
                <a:gd name="connsiteY54" fmla="*/ 388144 h 564357"/>
                <a:gd name="connsiteX55" fmla="*/ 185737 w 1059656"/>
                <a:gd name="connsiteY55" fmla="*/ 411957 h 564357"/>
                <a:gd name="connsiteX56" fmla="*/ 180975 w 1059656"/>
                <a:gd name="connsiteY56" fmla="*/ 442913 h 564357"/>
                <a:gd name="connsiteX57" fmla="*/ 173831 w 1059656"/>
                <a:gd name="connsiteY57" fmla="*/ 471488 h 564357"/>
                <a:gd name="connsiteX58" fmla="*/ 130968 w 1059656"/>
                <a:gd name="connsiteY58" fmla="*/ 473869 h 564357"/>
                <a:gd name="connsiteX59" fmla="*/ 95250 w 1059656"/>
                <a:gd name="connsiteY59" fmla="*/ 488157 h 564357"/>
                <a:gd name="connsiteX60" fmla="*/ 71437 w 1059656"/>
                <a:gd name="connsiteY60" fmla="*/ 492919 h 564357"/>
                <a:gd name="connsiteX61" fmla="*/ 50006 w 1059656"/>
                <a:gd name="connsiteY61" fmla="*/ 504825 h 564357"/>
                <a:gd name="connsiteX62" fmla="*/ 30956 w 1059656"/>
                <a:gd name="connsiteY62" fmla="*/ 521494 h 564357"/>
                <a:gd name="connsiteX63" fmla="*/ 7143 w 1059656"/>
                <a:gd name="connsiteY63" fmla="*/ 528638 h 564357"/>
                <a:gd name="connsiteX64" fmla="*/ 0 w 1059656"/>
                <a:gd name="connsiteY64" fmla="*/ 533400 h 564357"/>
                <a:gd name="connsiteX65" fmla="*/ 38100 w 1059656"/>
                <a:gd name="connsiteY65" fmla="*/ 561975 h 564357"/>
                <a:gd name="connsiteX66" fmla="*/ 80962 w 1059656"/>
                <a:gd name="connsiteY66" fmla="*/ 559594 h 564357"/>
                <a:gd name="connsiteX67" fmla="*/ 116681 w 1059656"/>
                <a:gd name="connsiteY67" fmla="*/ 526257 h 564357"/>
                <a:gd name="connsiteX68" fmla="*/ 171450 w 1059656"/>
                <a:gd name="connsiteY68" fmla="*/ 500063 h 564357"/>
                <a:gd name="connsiteX69" fmla="*/ 278606 w 1059656"/>
                <a:gd name="connsiteY69" fmla="*/ 492919 h 564357"/>
                <a:gd name="connsiteX70" fmla="*/ 292893 w 1059656"/>
                <a:gd name="connsiteY70" fmla="*/ 481013 h 564357"/>
                <a:gd name="connsiteX71" fmla="*/ 357187 w 1059656"/>
                <a:gd name="connsiteY71" fmla="*/ 481013 h 564357"/>
                <a:gd name="connsiteX72" fmla="*/ 433387 w 1059656"/>
                <a:gd name="connsiteY72" fmla="*/ 388144 h 564357"/>
                <a:gd name="connsiteX73" fmla="*/ 559593 w 1059656"/>
                <a:gd name="connsiteY73" fmla="*/ 328613 h 564357"/>
                <a:gd name="connsiteX74" fmla="*/ 619125 w 1059656"/>
                <a:gd name="connsiteY74" fmla="*/ 321469 h 564357"/>
                <a:gd name="connsiteX75" fmla="*/ 654843 w 1059656"/>
                <a:gd name="connsiteY75" fmla="*/ 295275 h 564357"/>
                <a:gd name="connsiteX76" fmla="*/ 716756 w 1059656"/>
                <a:gd name="connsiteY76" fmla="*/ 292894 h 564357"/>
                <a:gd name="connsiteX77" fmla="*/ 771525 w 1059656"/>
                <a:gd name="connsiteY77" fmla="*/ 285750 h 564357"/>
                <a:gd name="connsiteX78" fmla="*/ 781050 w 1059656"/>
                <a:gd name="connsiteY78" fmla="*/ 323850 h 564357"/>
                <a:gd name="connsiteX79" fmla="*/ 773906 w 1059656"/>
                <a:gd name="connsiteY79" fmla="*/ 445294 h 564357"/>
                <a:gd name="connsiteX80" fmla="*/ 707231 w 1059656"/>
                <a:gd name="connsiteY80" fmla="*/ 461963 h 564357"/>
                <a:gd name="connsiteX81" fmla="*/ 652461 w 1059656"/>
                <a:gd name="connsiteY81" fmla="*/ 509587 h 564357"/>
                <a:gd name="connsiteX82" fmla="*/ 654844 w 1059656"/>
                <a:gd name="connsiteY82" fmla="*/ 528638 h 564357"/>
                <a:gd name="connsiteX83" fmla="*/ 697706 w 1059656"/>
                <a:gd name="connsiteY83"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52488 w 1059656"/>
                <a:gd name="connsiteY24" fmla="*/ 92869 h 564357"/>
                <a:gd name="connsiteX25" fmla="*/ 859630 w 1059656"/>
                <a:gd name="connsiteY25" fmla="*/ 66676 h 564357"/>
                <a:gd name="connsiteX26" fmla="*/ 857249 w 1059656"/>
                <a:gd name="connsiteY26" fmla="*/ 28576 h 564357"/>
                <a:gd name="connsiteX27" fmla="*/ 833437 w 1059656"/>
                <a:gd name="connsiteY27" fmla="*/ 0 h 564357"/>
                <a:gd name="connsiteX28" fmla="*/ 809625 w 1059656"/>
                <a:gd name="connsiteY28" fmla="*/ 33338 h 564357"/>
                <a:gd name="connsiteX29" fmla="*/ 797718 w 1059656"/>
                <a:gd name="connsiteY29" fmla="*/ 50007 h 564357"/>
                <a:gd name="connsiteX30" fmla="*/ 757237 w 1059656"/>
                <a:gd name="connsiteY30" fmla="*/ 45244 h 564357"/>
                <a:gd name="connsiteX31" fmla="*/ 735806 w 1059656"/>
                <a:gd name="connsiteY31" fmla="*/ 50007 h 564357"/>
                <a:gd name="connsiteX32" fmla="*/ 719137 w 1059656"/>
                <a:gd name="connsiteY32" fmla="*/ 78582 h 564357"/>
                <a:gd name="connsiteX33" fmla="*/ 723900 w 1059656"/>
                <a:gd name="connsiteY33" fmla="*/ 97632 h 564357"/>
                <a:gd name="connsiteX34" fmla="*/ 707231 w 1059656"/>
                <a:gd name="connsiteY34" fmla="*/ 111919 h 564357"/>
                <a:gd name="connsiteX35" fmla="*/ 631031 w 1059656"/>
                <a:gd name="connsiteY35" fmla="*/ 114300 h 564357"/>
                <a:gd name="connsiteX36" fmla="*/ 597693 w 1059656"/>
                <a:gd name="connsiteY36" fmla="*/ 100013 h 564357"/>
                <a:gd name="connsiteX37" fmla="*/ 569118 w 1059656"/>
                <a:gd name="connsiteY37" fmla="*/ 71438 h 564357"/>
                <a:gd name="connsiteX38" fmla="*/ 531018 w 1059656"/>
                <a:gd name="connsiteY38" fmla="*/ 66675 h 564357"/>
                <a:gd name="connsiteX39" fmla="*/ 497681 w 1059656"/>
                <a:gd name="connsiteY39" fmla="*/ 90488 h 564357"/>
                <a:gd name="connsiteX40" fmla="*/ 481012 w 1059656"/>
                <a:gd name="connsiteY40" fmla="*/ 109538 h 564357"/>
                <a:gd name="connsiteX41" fmla="*/ 466725 w 1059656"/>
                <a:gd name="connsiteY41" fmla="*/ 126207 h 564357"/>
                <a:gd name="connsiteX42" fmla="*/ 450056 w 1059656"/>
                <a:gd name="connsiteY42" fmla="*/ 145257 h 564357"/>
                <a:gd name="connsiteX43" fmla="*/ 454818 w 1059656"/>
                <a:gd name="connsiteY43" fmla="*/ 171450 h 564357"/>
                <a:gd name="connsiteX44" fmla="*/ 423862 w 1059656"/>
                <a:gd name="connsiteY44" fmla="*/ 195263 h 564357"/>
                <a:gd name="connsiteX45" fmla="*/ 371475 w 1059656"/>
                <a:gd name="connsiteY45" fmla="*/ 204788 h 564357"/>
                <a:gd name="connsiteX46" fmla="*/ 330993 w 1059656"/>
                <a:gd name="connsiteY46" fmla="*/ 223838 h 564357"/>
                <a:gd name="connsiteX47" fmla="*/ 321468 w 1059656"/>
                <a:gd name="connsiteY47" fmla="*/ 261938 h 564357"/>
                <a:gd name="connsiteX48" fmla="*/ 319087 w 1059656"/>
                <a:gd name="connsiteY48" fmla="*/ 269082 h 564357"/>
                <a:gd name="connsiteX49" fmla="*/ 266700 w 1059656"/>
                <a:gd name="connsiteY49" fmla="*/ 285750 h 564357"/>
                <a:gd name="connsiteX50" fmla="*/ 180975 w 1059656"/>
                <a:gd name="connsiteY50" fmla="*/ 316707 h 564357"/>
                <a:gd name="connsiteX51" fmla="*/ 157162 w 1059656"/>
                <a:gd name="connsiteY51" fmla="*/ 309563 h 564357"/>
                <a:gd name="connsiteX52" fmla="*/ 128587 w 1059656"/>
                <a:gd name="connsiteY52" fmla="*/ 300038 h 564357"/>
                <a:gd name="connsiteX53" fmla="*/ 130968 w 1059656"/>
                <a:gd name="connsiteY53" fmla="*/ 359569 h 564357"/>
                <a:gd name="connsiteX54" fmla="*/ 169068 w 1059656"/>
                <a:gd name="connsiteY54" fmla="*/ 388144 h 564357"/>
                <a:gd name="connsiteX55" fmla="*/ 185737 w 1059656"/>
                <a:gd name="connsiteY55" fmla="*/ 411957 h 564357"/>
                <a:gd name="connsiteX56" fmla="*/ 180975 w 1059656"/>
                <a:gd name="connsiteY56" fmla="*/ 442913 h 564357"/>
                <a:gd name="connsiteX57" fmla="*/ 173831 w 1059656"/>
                <a:gd name="connsiteY57" fmla="*/ 471488 h 564357"/>
                <a:gd name="connsiteX58" fmla="*/ 130968 w 1059656"/>
                <a:gd name="connsiteY58" fmla="*/ 473869 h 564357"/>
                <a:gd name="connsiteX59" fmla="*/ 95250 w 1059656"/>
                <a:gd name="connsiteY59" fmla="*/ 488157 h 564357"/>
                <a:gd name="connsiteX60" fmla="*/ 71437 w 1059656"/>
                <a:gd name="connsiteY60" fmla="*/ 492919 h 564357"/>
                <a:gd name="connsiteX61" fmla="*/ 50006 w 1059656"/>
                <a:gd name="connsiteY61" fmla="*/ 504825 h 564357"/>
                <a:gd name="connsiteX62" fmla="*/ 30956 w 1059656"/>
                <a:gd name="connsiteY62" fmla="*/ 521494 h 564357"/>
                <a:gd name="connsiteX63" fmla="*/ 7143 w 1059656"/>
                <a:gd name="connsiteY63" fmla="*/ 528638 h 564357"/>
                <a:gd name="connsiteX64" fmla="*/ 0 w 1059656"/>
                <a:gd name="connsiteY64" fmla="*/ 533400 h 564357"/>
                <a:gd name="connsiteX65" fmla="*/ 38100 w 1059656"/>
                <a:gd name="connsiteY65" fmla="*/ 561975 h 564357"/>
                <a:gd name="connsiteX66" fmla="*/ 80962 w 1059656"/>
                <a:gd name="connsiteY66" fmla="*/ 559594 h 564357"/>
                <a:gd name="connsiteX67" fmla="*/ 116681 w 1059656"/>
                <a:gd name="connsiteY67" fmla="*/ 526257 h 564357"/>
                <a:gd name="connsiteX68" fmla="*/ 171450 w 1059656"/>
                <a:gd name="connsiteY68" fmla="*/ 500063 h 564357"/>
                <a:gd name="connsiteX69" fmla="*/ 278606 w 1059656"/>
                <a:gd name="connsiteY69" fmla="*/ 492919 h 564357"/>
                <a:gd name="connsiteX70" fmla="*/ 292893 w 1059656"/>
                <a:gd name="connsiteY70" fmla="*/ 481013 h 564357"/>
                <a:gd name="connsiteX71" fmla="*/ 357187 w 1059656"/>
                <a:gd name="connsiteY71" fmla="*/ 481013 h 564357"/>
                <a:gd name="connsiteX72" fmla="*/ 433387 w 1059656"/>
                <a:gd name="connsiteY72" fmla="*/ 388144 h 564357"/>
                <a:gd name="connsiteX73" fmla="*/ 559593 w 1059656"/>
                <a:gd name="connsiteY73" fmla="*/ 328613 h 564357"/>
                <a:gd name="connsiteX74" fmla="*/ 619125 w 1059656"/>
                <a:gd name="connsiteY74" fmla="*/ 321469 h 564357"/>
                <a:gd name="connsiteX75" fmla="*/ 654843 w 1059656"/>
                <a:gd name="connsiteY75" fmla="*/ 295275 h 564357"/>
                <a:gd name="connsiteX76" fmla="*/ 716756 w 1059656"/>
                <a:gd name="connsiteY76" fmla="*/ 292894 h 564357"/>
                <a:gd name="connsiteX77" fmla="*/ 771525 w 1059656"/>
                <a:gd name="connsiteY77" fmla="*/ 285750 h 564357"/>
                <a:gd name="connsiteX78" fmla="*/ 781050 w 1059656"/>
                <a:gd name="connsiteY78" fmla="*/ 323850 h 564357"/>
                <a:gd name="connsiteX79" fmla="*/ 773906 w 1059656"/>
                <a:gd name="connsiteY79" fmla="*/ 445294 h 564357"/>
                <a:gd name="connsiteX80" fmla="*/ 707231 w 1059656"/>
                <a:gd name="connsiteY80" fmla="*/ 461963 h 564357"/>
                <a:gd name="connsiteX81" fmla="*/ 652461 w 1059656"/>
                <a:gd name="connsiteY81" fmla="*/ 509587 h 564357"/>
                <a:gd name="connsiteX82" fmla="*/ 654844 w 1059656"/>
                <a:gd name="connsiteY82" fmla="*/ 528638 h 564357"/>
                <a:gd name="connsiteX83" fmla="*/ 697706 w 1059656"/>
                <a:gd name="connsiteY83" fmla="*/ 564357 h 564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059656" h="564357">
                  <a:moveTo>
                    <a:pt x="697706" y="564357"/>
                  </a:moveTo>
                  <a:lnTo>
                    <a:pt x="778668" y="492919"/>
                  </a:lnTo>
                  <a:lnTo>
                    <a:pt x="816768" y="473869"/>
                  </a:lnTo>
                  <a:lnTo>
                    <a:pt x="852487" y="471488"/>
                  </a:lnTo>
                  <a:lnTo>
                    <a:pt x="916781" y="457200"/>
                  </a:lnTo>
                  <a:lnTo>
                    <a:pt x="950118" y="459582"/>
                  </a:lnTo>
                  <a:lnTo>
                    <a:pt x="988218" y="476250"/>
                  </a:lnTo>
                  <a:lnTo>
                    <a:pt x="1019175" y="445294"/>
                  </a:lnTo>
                  <a:lnTo>
                    <a:pt x="992981" y="414338"/>
                  </a:lnTo>
                  <a:lnTo>
                    <a:pt x="988218" y="383382"/>
                  </a:lnTo>
                  <a:lnTo>
                    <a:pt x="995362" y="345282"/>
                  </a:lnTo>
                  <a:lnTo>
                    <a:pt x="1023937" y="304800"/>
                  </a:lnTo>
                  <a:lnTo>
                    <a:pt x="1052512" y="295275"/>
                  </a:lnTo>
                  <a:lnTo>
                    <a:pt x="1059656" y="266700"/>
                  </a:lnTo>
                  <a:lnTo>
                    <a:pt x="1047750" y="238125"/>
                  </a:lnTo>
                  <a:lnTo>
                    <a:pt x="1019175" y="228600"/>
                  </a:lnTo>
                  <a:lnTo>
                    <a:pt x="992981" y="235744"/>
                  </a:lnTo>
                  <a:lnTo>
                    <a:pt x="935831" y="254794"/>
                  </a:lnTo>
                  <a:lnTo>
                    <a:pt x="900112" y="259557"/>
                  </a:lnTo>
                  <a:lnTo>
                    <a:pt x="878681" y="242888"/>
                  </a:lnTo>
                  <a:lnTo>
                    <a:pt x="873918" y="228600"/>
                  </a:lnTo>
                  <a:lnTo>
                    <a:pt x="881062" y="185738"/>
                  </a:lnTo>
                  <a:lnTo>
                    <a:pt x="888206" y="150019"/>
                  </a:lnTo>
                  <a:lnTo>
                    <a:pt x="871537" y="111919"/>
                  </a:lnTo>
                  <a:lnTo>
                    <a:pt x="852488" y="92869"/>
                  </a:lnTo>
                  <a:lnTo>
                    <a:pt x="859630" y="66676"/>
                  </a:lnTo>
                  <a:lnTo>
                    <a:pt x="857249" y="28576"/>
                  </a:lnTo>
                  <a:lnTo>
                    <a:pt x="833437" y="0"/>
                  </a:lnTo>
                  <a:lnTo>
                    <a:pt x="809625" y="33338"/>
                  </a:lnTo>
                  <a:lnTo>
                    <a:pt x="797718" y="50007"/>
                  </a:lnTo>
                  <a:lnTo>
                    <a:pt x="757237" y="45244"/>
                  </a:lnTo>
                  <a:lnTo>
                    <a:pt x="735806" y="50007"/>
                  </a:lnTo>
                  <a:lnTo>
                    <a:pt x="719137" y="78582"/>
                  </a:lnTo>
                  <a:lnTo>
                    <a:pt x="723900" y="97632"/>
                  </a:lnTo>
                  <a:lnTo>
                    <a:pt x="707231" y="111919"/>
                  </a:lnTo>
                  <a:lnTo>
                    <a:pt x="631031" y="114300"/>
                  </a:lnTo>
                  <a:lnTo>
                    <a:pt x="597693" y="100013"/>
                  </a:lnTo>
                  <a:lnTo>
                    <a:pt x="569118" y="71438"/>
                  </a:lnTo>
                  <a:lnTo>
                    <a:pt x="531018" y="66675"/>
                  </a:lnTo>
                  <a:lnTo>
                    <a:pt x="497681" y="90488"/>
                  </a:lnTo>
                  <a:lnTo>
                    <a:pt x="481012" y="109538"/>
                  </a:lnTo>
                  <a:lnTo>
                    <a:pt x="466725" y="126207"/>
                  </a:lnTo>
                  <a:lnTo>
                    <a:pt x="450056" y="145257"/>
                  </a:lnTo>
                  <a:lnTo>
                    <a:pt x="454818" y="171450"/>
                  </a:lnTo>
                  <a:lnTo>
                    <a:pt x="423862" y="195263"/>
                  </a:lnTo>
                  <a:lnTo>
                    <a:pt x="371475" y="204788"/>
                  </a:lnTo>
                  <a:lnTo>
                    <a:pt x="330993" y="223838"/>
                  </a:lnTo>
                  <a:lnTo>
                    <a:pt x="321468" y="261938"/>
                  </a:lnTo>
                  <a:lnTo>
                    <a:pt x="319087" y="269082"/>
                  </a:lnTo>
                  <a:lnTo>
                    <a:pt x="266700" y="285750"/>
                  </a:lnTo>
                  <a:lnTo>
                    <a:pt x="180975" y="316707"/>
                  </a:lnTo>
                  <a:lnTo>
                    <a:pt x="157162" y="309563"/>
                  </a:lnTo>
                  <a:lnTo>
                    <a:pt x="128587" y="300038"/>
                  </a:lnTo>
                  <a:cubicBezTo>
                    <a:pt x="129381" y="319882"/>
                    <a:pt x="130174" y="339725"/>
                    <a:pt x="130968" y="359569"/>
                  </a:cubicBezTo>
                  <a:lnTo>
                    <a:pt x="169068" y="388144"/>
                  </a:lnTo>
                  <a:lnTo>
                    <a:pt x="185737" y="411957"/>
                  </a:lnTo>
                  <a:lnTo>
                    <a:pt x="180975" y="442913"/>
                  </a:lnTo>
                  <a:lnTo>
                    <a:pt x="173831" y="471488"/>
                  </a:lnTo>
                  <a:lnTo>
                    <a:pt x="130968" y="473869"/>
                  </a:lnTo>
                  <a:lnTo>
                    <a:pt x="95250" y="488157"/>
                  </a:lnTo>
                  <a:lnTo>
                    <a:pt x="71437" y="492919"/>
                  </a:lnTo>
                  <a:lnTo>
                    <a:pt x="50006" y="504825"/>
                  </a:lnTo>
                  <a:lnTo>
                    <a:pt x="30956" y="521494"/>
                  </a:lnTo>
                  <a:lnTo>
                    <a:pt x="7143" y="528638"/>
                  </a:lnTo>
                  <a:lnTo>
                    <a:pt x="0" y="533400"/>
                  </a:lnTo>
                  <a:lnTo>
                    <a:pt x="38100" y="561975"/>
                  </a:lnTo>
                  <a:lnTo>
                    <a:pt x="80962" y="559594"/>
                  </a:lnTo>
                  <a:lnTo>
                    <a:pt x="116681" y="526257"/>
                  </a:lnTo>
                  <a:lnTo>
                    <a:pt x="171450" y="500063"/>
                  </a:lnTo>
                  <a:lnTo>
                    <a:pt x="278606" y="492919"/>
                  </a:lnTo>
                  <a:lnTo>
                    <a:pt x="292893" y="481013"/>
                  </a:lnTo>
                  <a:lnTo>
                    <a:pt x="357187" y="481013"/>
                  </a:lnTo>
                  <a:lnTo>
                    <a:pt x="433387" y="388144"/>
                  </a:lnTo>
                  <a:lnTo>
                    <a:pt x="559593" y="328613"/>
                  </a:lnTo>
                  <a:lnTo>
                    <a:pt x="619125" y="321469"/>
                  </a:lnTo>
                  <a:lnTo>
                    <a:pt x="654843" y="295275"/>
                  </a:lnTo>
                  <a:lnTo>
                    <a:pt x="716756" y="292894"/>
                  </a:lnTo>
                  <a:lnTo>
                    <a:pt x="771525" y="285750"/>
                  </a:lnTo>
                  <a:lnTo>
                    <a:pt x="781050" y="323850"/>
                  </a:lnTo>
                  <a:lnTo>
                    <a:pt x="773906" y="445294"/>
                  </a:lnTo>
                  <a:lnTo>
                    <a:pt x="707231" y="461963"/>
                  </a:lnTo>
                  <a:lnTo>
                    <a:pt x="652461" y="509587"/>
                  </a:lnTo>
                  <a:lnTo>
                    <a:pt x="654844" y="528638"/>
                  </a:lnTo>
                  <a:lnTo>
                    <a:pt x="697706" y="564357"/>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36" name="Freeform 35"/>
            <p:cNvSpPr/>
            <p:nvPr/>
          </p:nvSpPr>
          <p:spPr>
            <a:xfrm rot="21298612">
              <a:off x="4879780" y="2889069"/>
              <a:ext cx="321910" cy="349517"/>
            </a:xfrm>
            <a:custGeom>
              <a:avLst/>
              <a:gdLst>
                <a:gd name="connsiteX0" fmla="*/ 190500 w 314325"/>
                <a:gd name="connsiteY0" fmla="*/ 302419 h 330994"/>
                <a:gd name="connsiteX1" fmla="*/ 221456 w 314325"/>
                <a:gd name="connsiteY1" fmla="*/ 240506 h 330994"/>
                <a:gd name="connsiteX2" fmla="*/ 250031 w 314325"/>
                <a:gd name="connsiteY2" fmla="*/ 214312 h 330994"/>
                <a:gd name="connsiteX3" fmla="*/ 266700 w 314325"/>
                <a:gd name="connsiteY3" fmla="*/ 169069 h 330994"/>
                <a:gd name="connsiteX4" fmla="*/ 273844 w 314325"/>
                <a:gd name="connsiteY4" fmla="*/ 119062 h 330994"/>
                <a:gd name="connsiteX5" fmla="*/ 314325 w 314325"/>
                <a:gd name="connsiteY5" fmla="*/ 52387 h 330994"/>
                <a:gd name="connsiteX6" fmla="*/ 295275 w 314325"/>
                <a:gd name="connsiteY6" fmla="*/ 14287 h 330994"/>
                <a:gd name="connsiteX7" fmla="*/ 285750 w 314325"/>
                <a:gd name="connsiteY7" fmla="*/ 21431 h 330994"/>
                <a:gd name="connsiteX8" fmla="*/ 273844 w 314325"/>
                <a:gd name="connsiteY8" fmla="*/ 0 h 330994"/>
                <a:gd name="connsiteX9" fmla="*/ 245269 w 314325"/>
                <a:gd name="connsiteY9" fmla="*/ 33337 h 330994"/>
                <a:gd name="connsiteX10" fmla="*/ 211931 w 314325"/>
                <a:gd name="connsiteY10" fmla="*/ 45244 h 330994"/>
                <a:gd name="connsiteX11" fmla="*/ 202406 w 314325"/>
                <a:gd name="connsiteY11" fmla="*/ 85725 h 330994"/>
                <a:gd name="connsiteX12" fmla="*/ 178594 w 314325"/>
                <a:gd name="connsiteY12" fmla="*/ 95250 h 330994"/>
                <a:gd name="connsiteX13" fmla="*/ 135731 w 314325"/>
                <a:gd name="connsiteY13" fmla="*/ 47625 h 330994"/>
                <a:gd name="connsiteX14" fmla="*/ 104775 w 314325"/>
                <a:gd name="connsiteY14" fmla="*/ 64294 h 330994"/>
                <a:gd name="connsiteX15" fmla="*/ 109537 w 314325"/>
                <a:gd name="connsiteY15" fmla="*/ 154781 h 330994"/>
                <a:gd name="connsiteX16" fmla="*/ 78581 w 314325"/>
                <a:gd name="connsiteY16" fmla="*/ 176212 h 330994"/>
                <a:gd name="connsiteX17" fmla="*/ 59531 w 314325"/>
                <a:gd name="connsiteY17" fmla="*/ 195262 h 330994"/>
                <a:gd name="connsiteX18" fmla="*/ 59531 w 314325"/>
                <a:gd name="connsiteY18" fmla="*/ 195262 h 330994"/>
                <a:gd name="connsiteX19" fmla="*/ 61912 w 314325"/>
                <a:gd name="connsiteY19" fmla="*/ 240506 h 330994"/>
                <a:gd name="connsiteX20" fmla="*/ 9525 w 314325"/>
                <a:gd name="connsiteY20" fmla="*/ 233362 h 330994"/>
                <a:gd name="connsiteX21" fmla="*/ 0 w 314325"/>
                <a:gd name="connsiteY21" fmla="*/ 254794 h 330994"/>
                <a:gd name="connsiteX22" fmla="*/ 14287 w 314325"/>
                <a:gd name="connsiteY22" fmla="*/ 330994 h 330994"/>
                <a:gd name="connsiteX23" fmla="*/ 59531 w 314325"/>
                <a:gd name="connsiteY23" fmla="*/ 302419 h 330994"/>
                <a:gd name="connsiteX24" fmla="*/ 100012 w 314325"/>
                <a:gd name="connsiteY24" fmla="*/ 285750 h 330994"/>
                <a:gd name="connsiteX25" fmla="*/ 126206 w 314325"/>
                <a:gd name="connsiteY25" fmla="*/ 288131 h 330994"/>
                <a:gd name="connsiteX26" fmla="*/ 190500 w 314325"/>
                <a:gd name="connsiteY26" fmla="*/ 302419 h 330994"/>
                <a:gd name="connsiteX0" fmla="*/ 190500 w 321468"/>
                <a:gd name="connsiteY0" fmla="*/ 302419 h 330994"/>
                <a:gd name="connsiteX1" fmla="*/ 221456 w 321468"/>
                <a:gd name="connsiteY1" fmla="*/ 240506 h 330994"/>
                <a:gd name="connsiteX2" fmla="*/ 250031 w 321468"/>
                <a:gd name="connsiteY2" fmla="*/ 214312 h 330994"/>
                <a:gd name="connsiteX3" fmla="*/ 266700 w 321468"/>
                <a:gd name="connsiteY3" fmla="*/ 169069 h 330994"/>
                <a:gd name="connsiteX4" fmla="*/ 273844 w 321468"/>
                <a:gd name="connsiteY4" fmla="*/ 119062 h 330994"/>
                <a:gd name="connsiteX5" fmla="*/ 321468 w 321468"/>
                <a:gd name="connsiteY5" fmla="*/ 61912 h 330994"/>
                <a:gd name="connsiteX6" fmla="*/ 295275 w 321468"/>
                <a:gd name="connsiteY6" fmla="*/ 14287 h 330994"/>
                <a:gd name="connsiteX7" fmla="*/ 285750 w 321468"/>
                <a:gd name="connsiteY7" fmla="*/ 21431 h 330994"/>
                <a:gd name="connsiteX8" fmla="*/ 273844 w 321468"/>
                <a:gd name="connsiteY8" fmla="*/ 0 h 330994"/>
                <a:gd name="connsiteX9" fmla="*/ 245269 w 321468"/>
                <a:gd name="connsiteY9" fmla="*/ 33337 h 330994"/>
                <a:gd name="connsiteX10" fmla="*/ 211931 w 321468"/>
                <a:gd name="connsiteY10" fmla="*/ 45244 h 330994"/>
                <a:gd name="connsiteX11" fmla="*/ 202406 w 321468"/>
                <a:gd name="connsiteY11" fmla="*/ 85725 h 330994"/>
                <a:gd name="connsiteX12" fmla="*/ 178594 w 321468"/>
                <a:gd name="connsiteY12" fmla="*/ 95250 h 330994"/>
                <a:gd name="connsiteX13" fmla="*/ 135731 w 321468"/>
                <a:gd name="connsiteY13" fmla="*/ 47625 h 330994"/>
                <a:gd name="connsiteX14" fmla="*/ 104775 w 321468"/>
                <a:gd name="connsiteY14" fmla="*/ 64294 h 330994"/>
                <a:gd name="connsiteX15" fmla="*/ 109537 w 321468"/>
                <a:gd name="connsiteY15" fmla="*/ 154781 h 330994"/>
                <a:gd name="connsiteX16" fmla="*/ 78581 w 321468"/>
                <a:gd name="connsiteY16" fmla="*/ 176212 h 330994"/>
                <a:gd name="connsiteX17" fmla="*/ 59531 w 321468"/>
                <a:gd name="connsiteY17" fmla="*/ 195262 h 330994"/>
                <a:gd name="connsiteX18" fmla="*/ 59531 w 321468"/>
                <a:gd name="connsiteY18" fmla="*/ 195262 h 330994"/>
                <a:gd name="connsiteX19" fmla="*/ 61912 w 321468"/>
                <a:gd name="connsiteY19" fmla="*/ 240506 h 330994"/>
                <a:gd name="connsiteX20" fmla="*/ 9525 w 321468"/>
                <a:gd name="connsiteY20" fmla="*/ 233362 h 330994"/>
                <a:gd name="connsiteX21" fmla="*/ 0 w 321468"/>
                <a:gd name="connsiteY21" fmla="*/ 254794 h 330994"/>
                <a:gd name="connsiteX22" fmla="*/ 14287 w 321468"/>
                <a:gd name="connsiteY22" fmla="*/ 330994 h 330994"/>
                <a:gd name="connsiteX23" fmla="*/ 59531 w 321468"/>
                <a:gd name="connsiteY23" fmla="*/ 302419 h 330994"/>
                <a:gd name="connsiteX24" fmla="*/ 100012 w 321468"/>
                <a:gd name="connsiteY24" fmla="*/ 285750 h 330994"/>
                <a:gd name="connsiteX25" fmla="*/ 126206 w 321468"/>
                <a:gd name="connsiteY25" fmla="*/ 288131 h 330994"/>
                <a:gd name="connsiteX26" fmla="*/ 190500 w 321468"/>
                <a:gd name="connsiteY26" fmla="*/ 302419 h 33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1468" h="330994">
                  <a:moveTo>
                    <a:pt x="190500" y="302419"/>
                  </a:moveTo>
                  <a:lnTo>
                    <a:pt x="221456" y="240506"/>
                  </a:lnTo>
                  <a:lnTo>
                    <a:pt x="250031" y="214312"/>
                  </a:lnTo>
                  <a:lnTo>
                    <a:pt x="266700" y="169069"/>
                  </a:lnTo>
                  <a:lnTo>
                    <a:pt x="273844" y="119062"/>
                  </a:lnTo>
                  <a:lnTo>
                    <a:pt x="321468" y="61912"/>
                  </a:lnTo>
                  <a:lnTo>
                    <a:pt x="295275" y="14287"/>
                  </a:lnTo>
                  <a:lnTo>
                    <a:pt x="285750" y="21431"/>
                  </a:lnTo>
                  <a:lnTo>
                    <a:pt x="273844" y="0"/>
                  </a:lnTo>
                  <a:lnTo>
                    <a:pt x="245269" y="33337"/>
                  </a:lnTo>
                  <a:lnTo>
                    <a:pt x="211931" y="45244"/>
                  </a:lnTo>
                  <a:lnTo>
                    <a:pt x="202406" y="85725"/>
                  </a:lnTo>
                  <a:lnTo>
                    <a:pt x="178594" y="95250"/>
                  </a:lnTo>
                  <a:lnTo>
                    <a:pt x="135731" y="47625"/>
                  </a:lnTo>
                  <a:lnTo>
                    <a:pt x="104775" y="64294"/>
                  </a:lnTo>
                  <a:lnTo>
                    <a:pt x="109537" y="154781"/>
                  </a:lnTo>
                  <a:lnTo>
                    <a:pt x="78581" y="176212"/>
                  </a:lnTo>
                  <a:lnTo>
                    <a:pt x="59531" y="195262"/>
                  </a:lnTo>
                  <a:lnTo>
                    <a:pt x="59531" y="195262"/>
                  </a:lnTo>
                  <a:lnTo>
                    <a:pt x="61912" y="240506"/>
                  </a:lnTo>
                  <a:lnTo>
                    <a:pt x="9525" y="233362"/>
                  </a:lnTo>
                  <a:lnTo>
                    <a:pt x="0" y="254794"/>
                  </a:lnTo>
                  <a:lnTo>
                    <a:pt x="14287" y="330994"/>
                  </a:lnTo>
                  <a:lnTo>
                    <a:pt x="59531" y="302419"/>
                  </a:lnTo>
                  <a:lnTo>
                    <a:pt x="100012" y="285750"/>
                  </a:lnTo>
                  <a:lnTo>
                    <a:pt x="126206" y="288131"/>
                  </a:lnTo>
                  <a:lnTo>
                    <a:pt x="190500" y="302419"/>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grpSp>
      <p:sp>
        <p:nvSpPr>
          <p:cNvPr id="24" name="Oval 23"/>
          <p:cNvSpPr>
            <a:spLocks noChangeArrowheads="1"/>
          </p:cNvSpPr>
          <p:nvPr/>
        </p:nvSpPr>
        <p:spPr bwMode="gray">
          <a:xfrm flipH="1">
            <a:off x="1454263" y="3381425"/>
            <a:ext cx="92476" cy="106801"/>
          </a:xfrm>
          <a:prstGeom prst="ellipse">
            <a:avLst/>
          </a:prstGeom>
          <a:solidFill>
            <a:schemeClr val="accent4">
              <a:lumMod val="60000"/>
              <a:lumOff val="40000"/>
            </a:schemeClr>
          </a:solidFill>
          <a:ln w="12700">
            <a:solidFill>
              <a:schemeClr val="bg1"/>
            </a:solidFill>
            <a:round/>
            <a:headEnd/>
            <a:tailEnd/>
          </a:ln>
          <a:effectLst>
            <a:outerShdw dist="35921" dir="2700000" sx="66000" sy="66000" algn="ctr" rotWithShape="0">
              <a:srgbClr val="1C1C1C">
                <a:alpha val="50000"/>
              </a:srgbClr>
            </a:outerShdw>
          </a:effectLst>
        </p:spPr>
        <p:txBody>
          <a:bodyPr wrap="none" anchor="ct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dirty="0">
              <a:solidFill>
                <a:sysClr val="windowText" lastClr="000000"/>
              </a:solidFill>
              <a:latin typeface="Calibri" pitchFamily="34" charset="0"/>
            </a:endParaRPr>
          </a:p>
        </p:txBody>
      </p:sp>
      <p:sp>
        <p:nvSpPr>
          <p:cNvPr id="25" name="Oval 24"/>
          <p:cNvSpPr>
            <a:spLocks noChangeArrowheads="1"/>
          </p:cNvSpPr>
          <p:nvPr/>
        </p:nvSpPr>
        <p:spPr bwMode="gray">
          <a:xfrm flipH="1">
            <a:off x="1625599" y="2812752"/>
            <a:ext cx="92476" cy="106801"/>
          </a:xfrm>
          <a:prstGeom prst="ellipse">
            <a:avLst/>
          </a:prstGeom>
          <a:solidFill>
            <a:schemeClr val="accent4">
              <a:lumMod val="60000"/>
              <a:lumOff val="40000"/>
            </a:schemeClr>
          </a:solidFill>
          <a:ln w="12700">
            <a:solidFill>
              <a:schemeClr val="bg1"/>
            </a:solidFill>
            <a:round/>
            <a:headEnd/>
            <a:tailEnd/>
          </a:ln>
          <a:effectLst>
            <a:outerShdw dist="35921" dir="2700000" sx="66000" sy="66000" algn="ctr" rotWithShape="0">
              <a:srgbClr val="1C1C1C">
                <a:alpha val="50000"/>
              </a:srgbClr>
            </a:outerShdw>
          </a:effectLst>
        </p:spPr>
        <p:txBody>
          <a:bodyPr wrap="none" anchor="ct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dirty="0">
              <a:solidFill>
                <a:sysClr val="windowText" lastClr="000000"/>
              </a:solidFill>
              <a:latin typeface="Calibri" pitchFamily="34" charset="0"/>
            </a:endParaRPr>
          </a:p>
        </p:txBody>
      </p:sp>
      <p:sp>
        <p:nvSpPr>
          <p:cNvPr id="37" name="Oval 36"/>
          <p:cNvSpPr>
            <a:spLocks noChangeArrowheads="1"/>
          </p:cNvSpPr>
          <p:nvPr/>
        </p:nvSpPr>
        <p:spPr bwMode="gray">
          <a:xfrm flipH="1">
            <a:off x="1179157" y="4358735"/>
            <a:ext cx="92476" cy="106801"/>
          </a:xfrm>
          <a:prstGeom prst="ellipse">
            <a:avLst/>
          </a:prstGeom>
          <a:solidFill>
            <a:schemeClr val="accent4">
              <a:lumMod val="60000"/>
              <a:lumOff val="40000"/>
            </a:schemeClr>
          </a:solidFill>
          <a:ln w="12700">
            <a:solidFill>
              <a:schemeClr val="bg1"/>
            </a:solidFill>
            <a:round/>
            <a:headEnd/>
            <a:tailEnd/>
          </a:ln>
          <a:effectLst>
            <a:outerShdw dist="35921" dir="2700000" sx="66000" sy="66000" algn="ctr" rotWithShape="0">
              <a:srgbClr val="1C1C1C">
                <a:alpha val="50000"/>
              </a:srgbClr>
            </a:outerShdw>
          </a:effectLst>
        </p:spPr>
        <p:txBody>
          <a:bodyPr wrap="none" anchor="ct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dirty="0">
              <a:solidFill>
                <a:sysClr val="windowText" lastClr="000000"/>
              </a:solidFill>
              <a:latin typeface="Calibri" pitchFamily="34" charset="0"/>
            </a:endParaRPr>
          </a:p>
        </p:txBody>
      </p:sp>
      <p:sp>
        <p:nvSpPr>
          <p:cNvPr id="38" name="Oval 37"/>
          <p:cNvSpPr>
            <a:spLocks noChangeArrowheads="1"/>
          </p:cNvSpPr>
          <p:nvPr/>
        </p:nvSpPr>
        <p:spPr bwMode="gray">
          <a:xfrm flipH="1">
            <a:off x="1974506" y="3442797"/>
            <a:ext cx="92476" cy="106801"/>
          </a:xfrm>
          <a:prstGeom prst="ellipse">
            <a:avLst/>
          </a:prstGeom>
          <a:solidFill>
            <a:schemeClr val="accent4">
              <a:lumMod val="60000"/>
              <a:lumOff val="40000"/>
            </a:schemeClr>
          </a:solidFill>
          <a:ln w="12700">
            <a:solidFill>
              <a:schemeClr val="bg1"/>
            </a:solidFill>
            <a:round/>
            <a:headEnd/>
            <a:tailEnd/>
          </a:ln>
          <a:effectLst>
            <a:outerShdw dist="35921" dir="2700000" sx="66000" sy="66000" algn="ctr" rotWithShape="0">
              <a:srgbClr val="1C1C1C">
                <a:alpha val="50000"/>
              </a:srgbClr>
            </a:outerShdw>
          </a:effectLst>
        </p:spPr>
        <p:txBody>
          <a:bodyPr wrap="none" anchor="ct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dirty="0">
              <a:solidFill>
                <a:sysClr val="windowText" lastClr="000000"/>
              </a:solidFill>
              <a:latin typeface="Calibri" pitchFamily="34" charset="0"/>
            </a:endParaRPr>
          </a:p>
        </p:txBody>
      </p:sp>
      <p:sp>
        <p:nvSpPr>
          <p:cNvPr id="39" name="Text Box 10"/>
          <p:cNvSpPr txBox="1">
            <a:spLocks noChangeArrowheads="1"/>
          </p:cNvSpPr>
          <p:nvPr/>
        </p:nvSpPr>
        <p:spPr bwMode="auto">
          <a:xfrm>
            <a:off x="4277246" y="1390167"/>
            <a:ext cx="5938224" cy="195768"/>
          </a:xfrm>
          <a:prstGeom prst="rect">
            <a:avLst/>
          </a:prstGeom>
          <a:solidFill>
            <a:schemeClr val="accent1">
              <a:lumMod val="50000"/>
            </a:schemeClr>
          </a:solidFill>
          <a:ln w="12700" algn="ctr">
            <a:noFill/>
            <a:miter lim="800000"/>
            <a:headEnd/>
            <a:tailEnd type="none" w="sm" len="med"/>
          </a:ln>
        </p:spPr>
        <p:txBody>
          <a:bodyPr lIns="91440" tIns="91440" rIns="91440" bIns="91440" anchor="ctr" anchorCtr="0"/>
          <a:lstStyle/>
          <a:p>
            <a:pPr defTabSz="957263"/>
            <a:r>
              <a:rPr lang="en-US" sz="1200" b="1" dirty="0">
                <a:solidFill>
                  <a:schemeClr val="bg1"/>
                </a:solidFill>
              </a:rPr>
              <a:t>WEST BENGAL</a:t>
            </a:r>
          </a:p>
        </p:txBody>
      </p:sp>
      <p:sp>
        <p:nvSpPr>
          <p:cNvPr id="40" name="Text Placeholder 5"/>
          <p:cNvSpPr txBox="1">
            <a:spLocks/>
          </p:cNvSpPr>
          <p:nvPr/>
        </p:nvSpPr>
        <p:spPr>
          <a:xfrm>
            <a:off x="4262594" y="1580531"/>
            <a:ext cx="5938224" cy="2665266"/>
          </a:xfrm>
          <a:prstGeom prst="rect">
            <a:avLst/>
          </a:prstGeom>
          <a:noFill/>
          <a:ln w="12700">
            <a:solidFill>
              <a:schemeClr val="accent1">
                <a:lumMod val="50000"/>
              </a:schemeClr>
            </a:solidFill>
          </a:ln>
        </p:spPr>
        <p:txBody>
          <a:bodyPr wrap="square" lIns="91440" tIns="91440" rIns="91440" bIns="9144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marL="171450" indent="-171450" algn="just">
              <a:spcBef>
                <a:spcPts val="0"/>
              </a:spcBef>
              <a:buFont typeface="Arial" panose="020B0604020202020204" pitchFamily="34" charset="0"/>
              <a:buChar char="•"/>
            </a:pPr>
            <a:r>
              <a:rPr lang="en-US" sz="1200" dirty="0">
                <a:solidFill>
                  <a:schemeClr val="accent2"/>
                </a:solidFill>
              </a:rPr>
              <a:t>Preparation of Power For All Roadmap for the State of West Bengal.</a:t>
            </a:r>
          </a:p>
          <a:p>
            <a:pPr marL="171450" indent="-171450" algn="just">
              <a:spcBef>
                <a:spcPts val="0"/>
              </a:spcBef>
              <a:buFont typeface="Arial" panose="020B0604020202020204" pitchFamily="34" charset="0"/>
              <a:buChar char="•"/>
            </a:pPr>
            <a:r>
              <a:rPr lang="en-US" sz="1200" dirty="0">
                <a:solidFill>
                  <a:schemeClr val="accent2"/>
                </a:solidFill>
              </a:rPr>
              <a:t>Designing Integrated Skill Development Scheme of Ministry of Textiles in 2015.</a:t>
            </a:r>
          </a:p>
          <a:p>
            <a:pPr marL="171450" indent="-171450" algn="just">
              <a:spcBef>
                <a:spcPts val="0"/>
              </a:spcBef>
              <a:buFont typeface="Arial" panose="020B0604020202020204" pitchFamily="34" charset="0"/>
              <a:buChar char="•"/>
            </a:pPr>
            <a:r>
              <a:rPr lang="en-GB" sz="1200" dirty="0">
                <a:solidFill>
                  <a:schemeClr val="accent2"/>
                </a:solidFill>
              </a:rPr>
              <a:t>Development of an electricity demand model with sensitive analysis basis consumption patterns, State’s projected GDP and various schemes.</a:t>
            </a:r>
          </a:p>
          <a:p>
            <a:pPr marL="171450" indent="-171450" algn="just">
              <a:spcBef>
                <a:spcPts val="0"/>
              </a:spcBef>
              <a:buFont typeface="Arial" panose="020B0604020202020204" pitchFamily="34" charset="0"/>
              <a:buChar char="•"/>
            </a:pPr>
            <a:r>
              <a:rPr lang="en-US" sz="1200" dirty="0">
                <a:solidFill>
                  <a:schemeClr val="accent2"/>
                </a:solidFill>
              </a:rPr>
              <a:t>Advisory Services for Preparation of MYT Petition WBSEDCL.</a:t>
            </a:r>
          </a:p>
          <a:p>
            <a:pPr marL="171450" indent="-171450" algn="just">
              <a:spcBef>
                <a:spcPts val="0"/>
              </a:spcBef>
              <a:buFont typeface="Arial" panose="020B0604020202020204" pitchFamily="34" charset="0"/>
              <a:buChar char="•"/>
            </a:pPr>
            <a:r>
              <a:rPr lang="en-US" sz="1200" dirty="0">
                <a:solidFill>
                  <a:schemeClr val="accent2"/>
                </a:solidFill>
              </a:rPr>
              <a:t>Development of Vision, Mission and Long and Short Term Perspective Plans for Department of Planning, Statistics &amp; Programme Monitoring.</a:t>
            </a:r>
            <a:endParaRPr lang="en-IN" sz="1200" dirty="0">
              <a:solidFill>
                <a:schemeClr val="accent2"/>
              </a:solidFill>
            </a:endParaRPr>
          </a:p>
          <a:p>
            <a:pPr marL="171450" indent="-171450">
              <a:spcBef>
                <a:spcPts val="0"/>
              </a:spcBef>
              <a:buFont typeface="Arial" panose="020B0604020202020204" pitchFamily="34" charset="0"/>
              <a:buChar char="•"/>
            </a:pPr>
            <a:r>
              <a:rPr lang="en-US" sz="1200" dirty="0">
                <a:solidFill>
                  <a:schemeClr val="accent2"/>
                </a:solidFill>
              </a:rPr>
              <a:t>Retainer ship services for providing assistance to WBSEDCL in all regulatory areas </a:t>
            </a:r>
            <a:endParaRPr lang="en-IN" sz="1200" dirty="0">
              <a:solidFill>
                <a:schemeClr val="accent2"/>
              </a:solidFill>
            </a:endParaRPr>
          </a:p>
          <a:p>
            <a:pPr marL="171450" indent="-171450">
              <a:spcBef>
                <a:spcPts val="0"/>
              </a:spcBef>
              <a:buFont typeface="Arial" panose="020B0604020202020204" pitchFamily="34" charset="0"/>
              <a:buChar char="•"/>
            </a:pPr>
            <a:r>
              <a:rPr lang="en-US" sz="1200" dirty="0">
                <a:solidFill>
                  <a:schemeClr val="accent2"/>
                </a:solidFill>
              </a:rPr>
              <a:t>Revival of Ceramic Centre for Rural Development for Department of MSME and Textiles</a:t>
            </a:r>
            <a:endParaRPr lang="en-IN" sz="1200" dirty="0">
              <a:solidFill>
                <a:schemeClr val="accent2"/>
              </a:solidFill>
            </a:endParaRPr>
          </a:p>
          <a:p>
            <a:pPr>
              <a:spcBef>
                <a:spcPts val="0"/>
              </a:spcBef>
            </a:pPr>
            <a:endParaRPr lang="en-US" sz="1050" dirty="0">
              <a:solidFill>
                <a:schemeClr val="tx1"/>
              </a:solidFill>
            </a:endParaRPr>
          </a:p>
        </p:txBody>
      </p:sp>
      <p:sp>
        <p:nvSpPr>
          <p:cNvPr id="42" name="Text Box 10"/>
          <p:cNvSpPr txBox="1">
            <a:spLocks noChangeArrowheads="1"/>
          </p:cNvSpPr>
          <p:nvPr/>
        </p:nvSpPr>
        <p:spPr bwMode="auto">
          <a:xfrm>
            <a:off x="4287520" y="4353848"/>
            <a:ext cx="5953760" cy="208745"/>
          </a:xfrm>
          <a:prstGeom prst="rect">
            <a:avLst/>
          </a:prstGeom>
          <a:solidFill>
            <a:schemeClr val="accent5"/>
          </a:solidFill>
          <a:ln w="12700" algn="ctr">
            <a:noFill/>
            <a:miter lim="800000"/>
            <a:headEnd/>
            <a:tailEnd type="none" w="sm" len="med"/>
          </a:ln>
        </p:spPr>
        <p:txBody>
          <a:bodyPr lIns="91440" tIns="91440" rIns="91440" bIns="91440" anchor="ctr" anchorCtr="0"/>
          <a:lstStyle/>
          <a:p>
            <a:pPr defTabSz="957263"/>
            <a:r>
              <a:rPr lang="en-US" sz="1200" b="1" dirty="0">
                <a:solidFill>
                  <a:schemeClr val="bg1"/>
                </a:solidFill>
              </a:rPr>
              <a:t>Other Eastern States</a:t>
            </a:r>
          </a:p>
        </p:txBody>
      </p:sp>
      <p:sp>
        <p:nvSpPr>
          <p:cNvPr id="43" name="Text Placeholder 5"/>
          <p:cNvSpPr txBox="1">
            <a:spLocks/>
          </p:cNvSpPr>
          <p:nvPr/>
        </p:nvSpPr>
        <p:spPr>
          <a:xfrm>
            <a:off x="4287520" y="4554775"/>
            <a:ext cx="5938224" cy="2486412"/>
          </a:xfrm>
          <a:prstGeom prst="rect">
            <a:avLst/>
          </a:prstGeom>
          <a:noFill/>
          <a:ln w="12700">
            <a:solidFill>
              <a:schemeClr val="accent5"/>
            </a:solidFill>
          </a:ln>
        </p:spPr>
        <p:txBody>
          <a:bodyPr wrap="square" lIns="91440" tIns="91440" rIns="91440" bIns="9144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marL="171450" indent="-171450" algn="just">
              <a:spcBef>
                <a:spcPts val="600"/>
              </a:spcBef>
              <a:buFont typeface="Arial" panose="020B0604020202020204" pitchFamily="34" charset="0"/>
              <a:buChar char="•"/>
            </a:pPr>
            <a:r>
              <a:rPr lang="en-US" sz="1200" dirty="0">
                <a:solidFill>
                  <a:schemeClr val="accent2"/>
                </a:solidFill>
              </a:rPr>
              <a:t>Assistance to JBVNL in Monitoring of PFA, UDAY and Similar Schemes of Central and State Government.</a:t>
            </a:r>
          </a:p>
          <a:p>
            <a:pPr marL="171450" indent="-171450" algn="just">
              <a:spcBef>
                <a:spcPts val="600"/>
              </a:spcBef>
              <a:buFont typeface="Arial" panose="020B0604020202020204" pitchFamily="34" charset="0"/>
              <a:buChar char="•"/>
            </a:pPr>
            <a:r>
              <a:rPr lang="en-US" sz="1200" dirty="0">
                <a:solidFill>
                  <a:schemeClr val="accent2"/>
                </a:solidFill>
              </a:rPr>
              <a:t>Odisha Street Lighting Greenfield project on PPP </a:t>
            </a:r>
            <a:endParaRPr lang="en-IN" sz="1200" dirty="0">
              <a:solidFill>
                <a:schemeClr val="accent2"/>
              </a:solidFill>
            </a:endParaRPr>
          </a:p>
          <a:p>
            <a:pPr marL="171450" indent="-171450" algn="just">
              <a:spcBef>
                <a:spcPts val="600"/>
              </a:spcBef>
              <a:buFont typeface="Arial" panose="020B0604020202020204" pitchFamily="34" charset="0"/>
              <a:buChar char="•"/>
            </a:pPr>
            <a:r>
              <a:rPr lang="en-US" sz="1200" dirty="0">
                <a:solidFill>
                  <a:schemeClr val="accent2"/>
                </a:solidFill>
              </a:rPr>
              <a:t>Assistance to Odisha’s Nodal agency for Solar (GEDCOL &amp; OREDA) on various solar PV assignments.</a:t>
            </a:r>
          </a:p>
          <a:p>
            <a:pPr marL="171450" indent="-171450" algn="just">
              <a:spcBef>
                <a:spcPts val="600"/>
              </a:spcBef>
              <a:buFont typeface="Arial" panose="020B0604020202020204" pitchFamily="34" charset="0"/>
              <a:buChar char="•"/>
            </a:pPr>
            <a:r>
              <a:rPr lang="en-US" sz="1200" dirty="0">
                <a:solidFill>
                  <a:schemeClr val="accent2"/>
                </a:solidFill>
              </a:rPr>
              <a:t>Assessment of Renewable Energy Technology Deployment under Enhancing Teacher Effectiveness in Bihar.</a:t>
            </a:r>
          </a:p>
          <a:p>
            <a:pPr marL="171450" indent="-171450" algn="just">
              <a:spcBef>
                <a:spcPts val="600"/>
              </a:spcBef>
              <a:buFont typeface="Arial" panose="020B0604020202020204" pitchFamily="34" charset="0"/>
              <a:buChar char="•"/>
            </a:pPr>
            <a:r>
              <a:rPr lang="en-US" sz="1200" dirty="0">
                <a:solidFill>
                  <a:schemeClr val="accent2"/>
                </a:solidFill>
              </a:rPr>
              <a:t>Institutional strengthening of Jharkhand </a:t>
            </a:r>
            <a:r>
              <a:rPr lang="en-US" sz="1200" dirty="0" err="1">
                <a:solidFill>
                  <a:schemeClr val="accent2"/>
                </a:solidFill>
              </a:rPr>
              <a:t>Discom</a:t>
            </a:r>
            <a:r>
              <a:rPr lang="en-US" sz="1200" dirty="0">
                <a:solidFill>
                  <a:schemeClr val="accent2"/>
                </a:solidFill>
              </a:rPr>
              <a:t> and </a:t>
            </a:r>
            <a:r>
              <a:rPr lang="en-US" sz="1200" dirty="0" err="1">
                <a:solidFill>
                  <a:schemeClr val="accent2"/>
                </a:solidFill>
              </a:rPr>
              <a:t>Transo</a:t>
            </a:r>
            <a:endParaRPr lang="en-US" sz="1200" dirty="0">
              <a:solidFill>
                <a:schemeClr val="accent2"/>
              </a:solidFill>
            </a:endParaRPr>
          </a:p>
          <a:p>
            <a:pPr marL="171450" indent="-171450" algn="just">
              <a:spcBef>
                <a:spcPts val="600"/>
              </a:spcBef>
              <a:buFont typeface="Arial" panose="020B0604020202020204" pitchFamily="34" charset="0"/>
              <a:buChar char="•"/>
            </a:pPr>
            <a:r>
              <a:rPr lang="en-US" sz="1200" dirty="0">
                <a:solidFill>
                  <a:schemeClr val="accent2"/>
                </a:solidFill>
              </a:rPr>
              <a:t>Regulatory assistance  to the BSPHCL/ erstwhile BSEB in filing Business Plan and tariff petitions and performing voltage wise </a:t>
            </a:r>
            <a:r>
              <a:rPr lang="en-US" sz="1200" dirty="0" err="1">
                <a:solidFill>
                  <a:schemeClr val="accent2"/>
                </a:solidFill>
              </a:rPr>
              <a:t>CoS</a:t>
            </a:r>
            <a:r>
              <a:rPr lang="en-US" sz="1200" dirty="0">
                <a:solidFill>
                  <a:schemeClr val="accent2"/>
                </a:solidFill>
              </a:rPr>
              <a:t> study</a:t>
            </a:r>
            <a:endParaRPr lang="en-IN" sz="1200" dirty="0"/>
          </a:p>
          <a:p>
            <a:pPr>
              <a:spcBef>
                <a:spcPts val="600"/>
              </a:spcBef>
            </a:pPr>
            <a:endParaRPr lang="en-US" sz="1200" dirty="0">
              <a:solidFill>
                <a:schemeClr val="tx1"/>
              </a:solidFill>
            </a:endParaRPr>
          </a:p>
        </p:txBody>
      </p:sp>
      <p:cxnSp>
        <p:nvCxnSpPr>
          <p:cNvPr id="48" name="Elbow Connector 47"/>
          <p:cNvCxnSpPr/>
          <p:nvPr/>
        </p:nvCxnSpPr>
        <p:spPr>
          <a:xfrm rot="16200000" flipH="1">
            <a:off x="1612218" y="2979172"/>
            <a:ext cx="2734920" cy="2615683"/>
          </a:xfrm>
          <a:prstGeom prst="bentConnector2">
            <a:avLst/>
          </a:prstGeom>
          <a:ln>
            <a:solidFill>
              <a:schemeClr val="accent6">
                <a:alpha val="52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p:cNvCxnSpPr/>
          <p:nvPr/>
        </p:nvCxnSpPr>
        <p:spPr>
          <a:xfrm flipV="1">
            <a:off x="2005658" y="1580528"/>
            <a:ext cx="2242286" cy="1867310"/>
          </a:xfrm>
          <a:prstGeom prst="bentConnector3">
            <a:avLst>
              <a:gd name="adj1" fmla="val 514"/>
            </a:avLst>
          </a:prstGeom>
          <a:ln w="12700">
            <a:solidFill>
              <a:srgbClr val="FFCD00">
                <a:alpha val="52000"/>
              </a:srgbClr>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172720" y="1524001"/>
            <a:ext cx="3401943" cy="4572000"/>
            <a:chOff x="1957161" y="2247300"/>
            <a:chExt cx="3574663" cy="3595160"/>
          </a:xfrm>
          <a:solidFill>
            <a:schemeClr val="bg1">
              <a:lumMod val="95000"/>
            </a:schemeClr>
          </a:solidFill>
        </p:grpSpPr>
        <p:sp>
          <p:nvSpPr>
            <p:cNvPr id="46" name="Freeform 45"/>
            <p:cNvSpPr/>
            <p:nvPr/>
          </p:nvSpPr>
          <p:spPr>
            <a:xfrm rot="21298612">
              <a:off x="2068600" y="2717745"/>
              <a:ext cx="82868" cy="110904"/>
            </a:xfrm>
            <a:custGeom>
              <a:avLst/>
              <a:gdLst>
                <a:gd name="connsiteX0" fmla="*/ 70923 w 83588"/>
                <a:gd name="connsiteY0" fmla="*/ 0 h 93719"/>
                <a:gd name="connsiteX1" fmla="*/ 7599 w 83588"/>
                <a:gd name="connsiteY1" fmla="*/ 32928 h 93719"/>
                <a:gd name="connsiteX2" fmla="*/ 10132 w 83588"/>
                <a:gd name="connsiteY2" fmla="*/ 45593 h 93719"/>
                <a:gd name="connsiteX3" fmla="*/ 0 w 83588"/>
                <a:gd name="connsiteY3" fmla="*/ 65857 h 93719"/>
                <a:gd name="connsiteX4" fmla="*/ 58259 w 83588"/>
                <a:gd name="connsiteY4" fmla="*/ 93719 h 93719"/>
                <a:gd name="connsiteX5" fmla="*/ 73456 w 83588"/>
                <a:gd name="connsiteY5" fmla="*/ 88654 h 93719"/>
                <a:gd name="connsiteX6" fmla="*/ 83588 w 83588"/>
                <a:gd name="connsiteY6" fmla="*/ 70923 h 93719"/>
                <a:gd name="connsiteX7" fmla="*/ 70923 w 83588"/>
                <a:gd name="connsiteY7" fmla="*/ 0 h 93719"/>
                <a:gd name="connsiteX0" fmla="*/ 70923 w 83588"/>
                <a:gd name="connsiteY0" fmla="*/ 0 h 93719"/>
                <a:gd name="connsiteX1" fmla="*/ 35521 w 83588"/>
                <a:gd name="connsiteY1" fmla="*/ 14386 h 93719"/>
                <a:gd name="connsiteX2" fmla="*/ 7599 w 83588"/>
                <a:gd name="connsiteY2" fmla="*/ 32928 h 93719"/>
                <a:gd name="connsiteX3" fmla="*/ 10132 w 83588"/>
                <a:gd name="connsiteY3" fmla="*/ 45593 h 93719"/>
                <a:gd name="connsiteX4" fmla="*/ 0 w 83588"/>
                <a:gd name="connsiteY4" fmla="*/ 65857 h 93719"/>
                <a:gd name="connsiteX5" fmla="*/ 58259 w 83588"/>
                <a:gd name="connsiteY5" fmla="*/ 93719 h 93719"/>
                <a:gd name="connsiteX6" fmla="*/ 73456 w 83588"/>
                <a:gd name="connsiteY6" fmla="*/ 88654 h 93719"/>
                <a:gd name="connsiteX7" fmla="*/ 83588 w 83588"/>
                <a:gd name="connsiteY7" fmla="*/ 70923 h 93719"/>
                <a:gd name="connsiteX8" fmla="*/ 70923 w 83588"/>
                <a:gd name="connsiteY8" fmla="*/ 0 h 93719"/>
                <a:gd name="connsiteX0" fmla="*/ 70923 w 83588"/>
                <a:gd name="connsiteY0" fmla="*/ 11808 h 105527"/>
                <a:gd name="connsiteX1" fmla="*/ 21234 w 83588"/>
                <a:gd name="connsiteY1" fmla="*/ 0 h 105527"/>
                <a:gd name="connsiteX2" fmla="*/ 7599 w 83588"/>
                <a:gd name="connsiteY2" fmla="*/ 44736 h 105527"/>
                <a:gd name="connsiteX3" fmla="*/ 10132 w 83588"/>
                <a:gd name="connsiteY3" fmla="*/ 57401 h 105527"/>
                <a:gd name="connsiteX4" fmla="*/ 0 w 83588"/>
                <a:gd name="connsiteY4" fmla="*/ 77665 h 105527"/>
                <a:gd name="connsiteX5" fmla="*/ 58259 w 83588"/>
                <a:gd name="connsiteY5" fmla="*/ 105527 h 105527"/>
                <a:gd name="connsiteX6" fmla="*/ 73456 w 83588"/>
                <a:gd name="connsiteY6" fmla="*/ 100462 h 105527"/>
                <a:gd name="connsiteX7" fmla="*/ 83588 w 83588"/>
                <a:gd name="connsiteY7" fmla="*/ 82731 h 105527"/>
                <a:gd name="connsiteX8" fmla="*/ 70923 w 83588"/>
                <a:gd name="connsiteY8" fmla="*/ 11808 h 10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588" h="105527">
                  <a:moveTo>
                    <a:pt x="70923" y="11808"/>
                  </a:moveTo>
                  <a:lnTo>
                    <a:pt x="21234" y="0"/>
                  </a:lnTo>
                  <a:lnTo>
                    <a:pt x="7599" y="44736"/>
                  </a:lnTo>
                  <a:lnTo>
                    <a:pt x="10132" y="57401"/>
                  </a:lnTo>
                  <a:lnTo>
                    <a:pt x="0" y="77665"/>
                  </a:lnTo>
                  <a:lnTo>
                    <a:pt x="58259" y="105527"/>
                  </a:lnTo>
                  <a:lnTo>
                    <a:pt x="73456" y="100462"/>
                  </a:lnTo>
                  <a:lnTo>
                    <a:pt x="83588" y="82731"/>
                  </a:lnTo>
                  <a:lnTo>
                    <a:pt x="70923" y="11808"/>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47" name="Freeform 46"/>
            <p:cNvSpPr/>
            <p:nvPr/>
          </p:nvSpPr>
          <p:spPr>
            <a:xfrm rot="21298612">
              <a:off x="2207104" y="2247300"/>
              <a:ext cx="511549" cy="544439"/>
            </a:xfrm>
            <a:custGeom>
              <a:avLst/>
              <a:gdLst>
                <a:gd name="connsiteX0" fmla="*/ 0 w 509588"/>
                <a:gd name="connsiteY0" fmla="*/ 180975 h 514350"/>
                <a:gd name="connsiteX1" fmla="*/ 54769 w 509588"/>
                <a:gd name="connsiteY1" fmla="*/ 264319 h 514350"/>
                <a:gd name="connsiteX2" fmla="*/ 80963 w 509588"/>
                <a:gd name="connsiteY2" fmla="*/ 271463 h 514350"/>
                <a:gd name="connsiteX3" fmla="*/ 88107 w 509588"/>
                <a:gd name="connsiteY3" fmla="*/ 326231 h 514350"/>
                <a:gd name="connsiteX4" fmla="*/ 66675 w 509588"/>
                <a:gd name="connsiteY4" fmla="*/ 426244 h 514350"/>
                <a:gd name="connsiteX5" fmla="*/ 111919 w 509588"/>
                <a:gd name="connsiteY5" fmla="*/ 433388 h 514350"/>
                <a:gd name="connsiteX6" fmla="*/ 178594 w 509588"/>
                <a:gd name="connsiteY6" fmla="*/ 414338 h 514350"/>
                <a:gd name="connsiteX7" fmla="*/ 221457 w 509588"/>
                <a:gd name="connsiteY7" fmla="*/ 433388 h 514350"/>
                <a:gd name="connsiteX8" fmla="*/ 330994 w 509588"/>
                <a:gd name="connsiteY8" fmla="*/ 509588 h 514350"/>
                <a:gd name="connsiteX9" fmla="*/ 395288 w 509588"/>
                <a:gd name="connsiteY9" fmla="*/ 514350 h 514350"/>
                <a:gd name="connsiteX10" fmla="*/ 414338 w 509588"/>
                <a:gd name="connsiteY10" fmla="*/ 495300 h 514350"/>
                <a:gd name="connsiteX11" fmla="*/ 385763 w 509588"/>
                <a:gd name="connsiteY11" fmla="*/ 473869 h 514350"/>
                <a:gd name="connsiteX12" fmla="*/ 385763 w 509588"/>
                <a:gd name="connsiteY12" fmla="*/ 440531 h 514350"/>
                <a:gd name="connsiteX13" fmla="*/ 423863 w 509588"/>
                <a:gd name="connsiteY13" fmla="*/ 419100 h 514350"/>
                <a:gd name="connsiteX14" fmla="*/ 431007 w 509588"/>
                <a:gd name="connsiteY14" fmla="*/ 376238 h 514350"/>
                <a:gd name="connsiteX15" fmla="*/ 435769 w 509588"/>
                <a:gd name="connsiteY15" fmla="*/ 335756 h 514350"/>
                <a:gd name="connsiteX16" fmla="*/ 497682 w 509588"/>
                <a:gd name="connsiteY16" fmla="*/ 278606 h 514350"/>
                <a:gd name="connsiteX17" fmla="*/ 509588 w 509588"/>
                <a:gd name="connsiteY17" fmla="*/ 200025 h 514350"/>
                <a:gd name="connsiteX18" fmla="*/ 390525 w 509588"/>
                <a:gd name="connsiteY18" fmla="*/ 95250 h 514350"/>
                <a:gd name="connsiteX19" fmla="*/ 323850 w 509588"/>
                <a:gd name="connsiteY19" fmla="*/ 100013 h 514350"/>
                <a:gd name="connsiteX20" fmla="*/ 295275 w 509588"/>
                <a:gd name="connsiteY20" fmla="*/ 76200 h 514350"/>
                <a:gd name="connsiteX21" fmla="*/ 283369 w 509588"/>
                <a:gd name="connsiteY21" fmla="*/ 42863 h 514350"/>
                <a:gd name="connsiteX22" fmla="*/ 266700 w 509588"/>
                <a:gd name="connsiteY22" fmla="*/ 16669 h 514350"/>
                <a:gd name="connsiteX23" fmla="*/ 192882 w 509588"/>
                <a:gd name="connsiteY23" fmla="*/ 0 h 514350"/>
                <a:gd name="connsiteX24" fmla="*/ 195263 w 509588"/>
                <a:gd name="connsiteY24" fmla="*/ 21431 h 514350"/>
                <a:gd name="connsiteX25" fmla="*/ 159544 w 509588"/>
                <a:gd name="connsiteY25" fmla="*/ 33338 h 514350"/>
                <a:gd name="connsiteX26" fmla="*/ 100013 w 509588"/>
                <a:gd name="connsiteY26" fmla="*/ 16669 h 514350"/>
                <a:gd name="connsiteX27" fmla="*/ 38100 w 509588"/>
                <a:gd name="connsiteY27" fmla="*/ 52388 h 514350"/>
                <a:gd name="connsiteX28" fmla="*/ 42863 w 509588"/>
                <a:gd name="connsiteY28" fmla="*/ 109538 h 514350"/>
                <a:gd name="connsiteX29" fmla="*/ 0 w 509588"/>
                <a:gd name="connsiteY29" fmla="*/ 180975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09588" h="514350">
                  <a:moveTo>
                    <a:pt x="0" y="180975"/>
                  </a:moveTo>
                  <a:lnTo>
                    <a:pt x="54769" y="264319"/>
                  </a:lnTo>
                  <a:lnTo>
                    <a:pt x="80963" y="271463"/>
                  </a:lnTo>
                  <a:lnTo>
                    <a:pt x="88107" y="326231"/>
                  </a:lnTo>
                  <a:lnTo>
                    <a:pt x="66675" y="426244"/>
                  </a:lnTo>
                  <a:lnTo>
                    <a:pt x="111919" y="433388"/>
                  </a:lnTo>
                  <a:lnTo>
                    <a:pt x="178594" y="414338"/>
                  </a:lnTo>
                  <a:lnTo>
                    <a:pt x="221457" y="433388"/>
                  </a:lnTo>
                  <a:lnTo>
                    <a:pt x="330994" y="509588"/>
                  </a:lnTo>
                  <a:lnTo>
                    <a:pt x="395288" y="514350"/>
                  </a:lnTo>
                  <a:lnTo>
                    <a:pt x="414338" y="495300"/>
                  </a:lnTo>
                  <a:lnTo>
                    <a:pt x="385763" y="473869"/>
                  </a:lnTo>
                  <a:lnTo>
                    <a:pt x="385763" y="440531"/>
                  </a:lnTo>
                  <a:lnTo>
                    <a:pt x="423863" y="419100"/>
                  </a:lnTo>
                  <a:lnTo>
                    <a:pt x="431007" y="376238"/>
                  </a:lnTo>
                  <a:lnTo>
                    <a:pt x="435769" y="335756"/>
                  </a:lnTo>
                  <a:lnTo>
                    <a:pt x="497682" y="278606"/>
                  </a:lnTo>
                  <a:lnTo>
                    <a:pt x="509588" y="200025"/>
                  </a:lnTo>
                  <a:lnTo>
                    <a:pt x="390525" y="95250"/>
                  </a:lnTo>
                  <a:lnTo>
                    <a:pt x="323850" y="100013"/>
                  </a:lnTo>
                  <a:lnTo>
                    <a:pt x="295275" y="76200"/>
                  </a:lnTo>
                  <a:lnTo>
                    <a:pt x="283369" y="42863"/>
                  </a:lnTo>
                  <a:lnTo>
                    <a:pt x="266700" y="16669"/>
                  </a:lnTo>
                  <a:lnTo>
                    <a:pt x="192882" y="0"/>
                  </a:lnTo>
                  <a:lnTo>
                    <a:pt x="195263" y="21431"/>
                  </a:lnTo>
                  <a:lnTo>
                    <a:pt x="159544" y="33338"/>
                  </a:lnTo>
                  <a:lnTo>
                    <a:pt x="100013" y="16669"/>
                  </a:lnTo>
                  <a:lnTo>
                    <a:pt x="38100" y="52388"/>
                  </a:lnTo>
                  <a:lnTo>
                    <a:pt x="42863" y="109538"/>
                  </a:lnTo>
                  <a:lnTo>
                    <a:pt x="0" y="180975"/>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49" name="Freeform 48"/>
            <p:cNvSpPr/>
            <p:nvPr/>
          </p:nvSpPr>
          <p:spPr>
            <a:xfrm rot="21298612">
              <a:off x="2107008" y="2421589"/>
              <a:ext cx="1230268" cy="1272039"/>
            </a:xfrm>
            <a:custGeom>
              <a:avLst/>
              <a:gdLst>
                <a:gd name="connsiteX0" fmla="*/ 0 w 1226344"/>
                <a:gd name="connsiteY0" fmla="*/ 452438 h 1152525"/>
                <a:gd name="connsiteX1" fmla="*/ 28575 w 1226344"/>
                <a:gd name="connsiteY1" fmla="*/ 526257 h 1152525"/>
                <a:gd name="connsiteX2" fmla="*/ 73819 w 1226344"/>
                <a:gd name="connsiteY2" fmla="*/ 564357 h 1152525"/>
                <a:gd name="connsiteX3" fmla="*/ 109537 w 1226344"/>
                <a:gd name="connsiteY3" fmla="*/ 657225 h 1152525"/>
                <a:gd name="connsiteX4" fmla="*/ 128587 w 1226344"/>
                <a:gd name="connsiteY4" fmla="*/ 685800 h 1152525"/>
                <a:gd name="connsiteX5" fmla="*/ 142875 w 1226344"/>
                <a:gd name="connsiteY5" fmla="*/ 666750 h 1152525"/>
                <a:gd name="connsiteX6" fmla="*/ 142875 w 1226344"/>
                <a:gd name="connsiteY6" fmla="*/ 633413 h 1152525"/>
                <a:gd name="connsiteX7" fmla="*/ 180975 w 1226344"/>
                <a:gd name="connsiteY7" fmla="*/ 666750 h 1152525"/>
                <a:gd name="connsiteX8" fmla="*/ 240506 w 1226344"/>
                <a:gd name="connsiteY8" fmla="*/ 673894 h 1152525"/>
                <a:gd name="connsiteX9" fmla="*/ 271462 w 1226344"/>
                <a:gd name="connsiteY9" fmla="*/ 702469 h 1152525"/>
                <a:gd name="connsiteX10" fmla="*/ 326231 w 1226344"/>
                <a:gd name="connsiteY10" fmla="*/ 721519 h 1152525"/>
                <a:gd name="connsiteX11" fmla="*/ 338137 w 1226344"/>
                <a:gd name="connsiteY11" fmla="*/ 762000 h 1152525"/>
                <a:gd name="connsiteX12" fmla="*/ 321469 w 1226344"/>
                <a:gd name="connsiteY12" fmla="*/ 781050 h 1152525"/>
                <a:gd name="connsiteX13" fmla="*/ 311944 w 1226344"/>
                <a:gd name="connsiteY13" fmla="*/ 807244 h 1152525"/>
                <a:gd name="connsiteX14" fmla="*/ 266700 w 1226344"/>
                <a:gd name="connsiteY14" fmla="*/ 826294 h 1152525"/>
                <a:gd name="connsiteX15" fmla="*/ 219075 w 1226344"/>
                <a:gd name="connsiteY15" fmla="*/ 900113 h 1152525"/>
                <a:gd name="connsiteX16" fmla="*/ 204787 w 1226344"/>
                <a:gd name="connsiteY16" fmla="*/ 909638 h 1152525"/>
                <a:gd name="connsiteX17" fmla="*/ 192881 w 1226344"/>
                <a:gd name="connsiteY17" fmla="*/ 973932 h 1152525"/>
                <a:gd name="connsiteX18" fmla="*/ 152400 w 1226344"/>
                <a:gd name="connsiteY18" fmla="*/ 1042988 h 1152525"/>
                <a:gd name="connsiteX19" fmla="*/ 157162 w 1226344"/>
                <a:gd name="connsiteY19" fmla="*/ 1071563 h 1152525"/>
                <a:gd name="connsiteX20" fmla="*/ 204787 w 1226344"/>
                <a:gd name="connsiteY20" fmla="*/ 1083469 h 1152525"/>
                <a:gd name="connsiteX21" fmla="*/ 233362 w 1226344"/>
                <a:gd name="connsiteY21" fmla="*/ 1133475 h 1152525"/>
                <a:gd name="connsiteX22" fmla="*/ 247650 w 1226344"/>
                <a:gd name="connsiteY22" fmla="*/ 1133475 h 1152525"/>
                <a:gd name="connsiteX23" fmla="*/ 266700 w 1226344"/>
                <a:gd name="connsiteY23" fmla="*/ 1102519 h 1152525"/>
                <a:gd name="connsiteX24" fmla="*/ 257175 w 1226344"/>
                <a:gd name="connsiteY24" fmla="*/ 1081088 h 1152525"/>
                <a:gd name="connsiteX25" fmla="*/ 230981 w 1226344"/>
                <a:gd name="connsiteY25" fmla="*/ 1076325 h 1152525"/>
                <a:gd name="connsiteX26" fmla="*/ 230981 w 1226344"/>
                <a:gd name="connsiteY26" fmla="*/ 1052513 h 1152525"/>
                <a:gd name="connsiteX27" fmla="*/ 228600 w 1226344"/>
                <a:gd name="connsiteY27" fmla="*/ 1009650 h 1152525"/>
                <a:gd name="connsiteX28" fmla="*/ 216694 w 1226344"/>
                <a:gd name="connsiteY28" fmla="*/ 976313 h 1152525"/>
                <a:gd name="connsiteX29" fmla="*/ 223837 w 1226344"/>
                <a:gd name="connsiteY29" fmla="*/ 940594 h 1152525"/>
                <a:gd name="connsiteX30" fmla="*/ 266700 w 1226344"/>
                <a:gd name="connsiteY30" fmla="*/ 900113 h 1152525"/>
                <a:gd name="connsiteX31" fmla="*/ 278606 w 1226344"/>
                <a:gd name="connsiteY31" fmla="*/ 897732 h 1152525"/>
                <a:gd name="connsiteX32" fmla="*/ 290512 w 1226344"/>
                <a:gd name="connsiteY32" fmla="*/ 938213 h 1152525"/>
                <a:gd name="connsiteX33" fmla="*/ 302419 w 1226344"/>
                <a:gd name="connsiteY33" fmla="*/ 938213 h 1152525"/>
                <a:gd name="connsiteX34" fmla="*/ 321469 w 1226344"/>
                <a:gd name="connsiteY34" fmla="*/ 962025 h 1152525"/>
                <a:gd name="connsiteX35" fmla="*/ 338137 w 1226344"/>
                <a:gd name="connsiteY35" fmla="*/ 957263 h 1152525"/>
                <a:gd name="connsiteX36" fmla="*/ 359569 w 1226344"/>
                <a:gd name="connsiteY36" fmla="*/ 942975 h 1152525"/>
                <a:gd name="connsiteX37" fmla="*/ 483394 w 1226344"/>
                <a:gd name="connsiteY37" fmla="*/ 954882 h 1152525"/>
                <a:gd name="connsiteX38" fmla="*/ 516731 w 1226344"/>
                <a:gd name="connsiteY38" fmla="*/ 947738 h 1152525"/>
                <a:gd name="connsiteX39" fmla="*/ 545306 w 1226344"/>
                <a:gd name="connsiteY39" fmla="*/ 964407 h 1152525"/>
                <a:gd name="connsiteX40" fmla="*/ 561975 w 1226344"/>
                <a:gd name="connsiteY40" fmla="*/ 978694 h 1152525"/>
                <a:gd name="connsiteX41" fmla="*/ 604837 w 1226344"/>
                <a:gd name="connsiteY41" fmla="*/ 981075 h 1152525"/>
                <a:gd name="connsiteX42" fmla="*/ 640556 w 1226344"/>
                <a:gd name="connsiteY42" fmla="*/ 1021557 h 1152525"/>
                <a:gd name="connsiteX43" fmla="*/ 659606 w 1226344"/>
                <a:gd name="connsiteY43" fmla="*/ 1019175 h 1152525"/>
                <a:gd name="connsiteX44" fmla="*/ 702469 w 1226344"/>
                <a:gd name="connsiteY44" fmla="*/ 976313 h 1152525"/>
                <a:gd name="connsiteX45" fmla="*/ 735806 w 1226344"/>
                <a:gd name="connsiteY45" fmla="*/ 1000125 h 1152525"/>
                <a:gd name="connsiteX46" fmla="*/ 752475 w 1226344"/>
                <a:gd name="connsiteY46" fmla="*/ 1023938 h 1152525"/>
                <a:gd name="connsiteX47" fmla="*/ 785812 w 1226344"/>
                <a:gd name="connsiteY47" fmla="*/ 1021557 h 1152525"/>
                <a:gd name="connsiteX48" fmla="*/ 819150 w 1226344"/>
                <a:gd name="connsiteY48" fmla="*/ 1042988 h 1152525"/>
                <a:gd name="connsiteX49" fmla="*/ 823912 w 1226344"/>
                <a:gd name="connsiteY49" fmla="*/ 1064419 h 1152525"/>
                <a:gd name="connsiteX50" fmla="*/ 842962 w 1226344"/>
                <a:gd name="connsiteY50" fmla="*/ 1066800 h 1152525"/>
                <a:gd name="connsiteX51" fmla="*/ 904875 w 1226344"/>
                <a:gd name="connsiteY51" fmla="*/ 1073944 h 1152525"/>
                <a:gd name="connsiteX52" fmla="*/ 933450 w 1226344"/>
                <a:gd name="connsiteY52" fmla="*/ 1112044 h 1152525"/>
                <a:gd name="connsiteX53" fmla="*/ 938212 w 1226344"/>
                <a:gd name="connsiteY53" fmla="*/ 1140619 h 1152525"/>
                <a:gd name="connsiteX54" fmla="*/ 940594 w 1226344"/>
                <a:gd name="connsiteY54" fmla="*/ 1152525 h 1152525"/>
                <a:gd name="connsiteX55" fmla="*/ 1042987 w 1226344"/>
                <a:gd name="connsiteY55" fmla="*/ 1150144 h 1152525"/>
                <a:gd name="connsiteX56" fmla="*/ 1071562 w 1226344"/>
                <a:gd name="connsiteY56" fmla="*/ 1069182 h 1152525"/>
                <a:gd name="connsiteX57" fmla="*/ 1062037 w 1226344"/>
                <a:gd name="connsiteY57" fmla="*/ 1045369 h 1152525"/>
                <a:gd name="connsiteX58" fmla="*/ 1059656 w 1226344"/>
                <a:gd name="connsiteY58" fmla="*/ 1012032 h 1152525"/>
                <a:gd name="connsiteX59" fmla="*/ 1066800 w 1226344"/>
                <a:gd name="connsiteY59" fmla="*/ 992982 h 1152525"/>
                <a:gd name="connsiteX60" fmla="*/ 1083469 w 1226344"/>
                <a:gd name="connsiteY60" fmla="*/ 973932 h 1152525"/>
                <a:gd name="connsiteX61" fmla="*/ 1107281 w 1226344"/>
                <a:gd name="connsiteY61" fmla="*/ 964407 h 1152525"/>
                <a:gd name="connsiteX62" fmla="*/ 1133475 w 1226344"/>
                <a:gd name="connsiteY62" fmla="*/ 921544 h 1152525"/>
                <a:gd name="connsiteX63" fmla="*/ 1150144 w 1226344"/>
                <a:gd name="connsiteY63" fmla="*/ 921544 h 1152525"/>
                <a:gd name="connsiteX64" fmla="*/ 1197769 w 1226344"/>
                <a:gd name="connsiteY64" fmla="*/ 940594 h 1152525"/>
                <a:gd name="connsiteX65" fmla="*/ 1226344 w 1226344"/>
                <a:gd name="connsiteY65" fmla="*/ 904875 h 1152525"/>
                <a:gd name="connsiteX66" fmla="*/ 1195387 w 1226344"/>
                <a:gd name="connsiteY66" fmla="*/ 852488 h 1152525"/>
                <a:gd name="connsiteX67" fmla="*/ 1159669 w 1226344"/>
                <a:gd name="connsiteY67" fmla="*/ 804863 h 1152525"/>
                <a:gd name="connsiteX68" fmla="*/ 1162050 w 1226344"/>
                <a:gd name="connsiteY68" fmla="*/ 762000 h 1152525"/>
                <a:gd name="connsiteX69" fmla="*/ 1216819 w 1226344"/>
                <a:gd name="connsiteY69" fmla="*/ 702469 h 1152525"/>
                <a:gd name="connsiteX70" fmla="*/ 1219200 w 1226344"/>
                <a:gd name="connsiteY70" fmla="*/ 676275 h 1152525"/>
                <a:gd name="connsiteX71" fmla="*/ 1181100 w 1226344"/>
                <a:gd name="connsiteY71" fmla="*/ 661988 h 1152525"/>
                <a:gd name="connsiteX72" fmla="*/ 1150144 w 1226344"/>
                <a:gd name="connsiteY72" fmla="*/ 635794 h 1152525"/>
                <a:gd name="connsiteX73" fmla="*/ 1133475 w 1226344"/>
                <a:gd name="connsiteY73" fmla="*/ 602457 h 1152525"/>
                <a:gd name="connsiteX74" fmla="*/ 1083469 w 1226344"/>
                <a:gd name="connsiteY74" fmla="*/ 604838 h 1152525"/>
                <a:gd name="connsiteX75" fmla="*/ 1033462 w 1226344"/>
                <a:gd name="connsiteY75" fmla="*/ 604838 h 1152525"/>
                <a:gd name="connsiteX76" fmla="*/ 1014412 w 1226344"/>
                <a:gd name="connsiteY76" fmla="*/ 583407 h 1152525"/>
                <a:gd name="connsiteX77" fmla="*/ 950119 w 1226344"/>
                <a:gd name="connsiteY77" fmla="*/ 578644 h 1152525"/>
                <a:gd name="connsiteX78" fmla="*/ 933450 w 1226344"/>
                <a:gd name="connsiteY78" fmla="*/ 561975 h 1152525"/>
                <a:gd name="connsiteX79" fmla="*/ 933450 w 1226344"/>
                <a:gd name="connsiteY79" fmla="*/ 547688 h 1152525"/>
                <a:gd name="connsiteX80" fmla="*/ 859631 w 1226344"/>
                <a:gd name="connsiteY80" fmla="*/ 511969 h 1152525"/>
                <a:gd name="connsiteX81" fmla="*/ 850106 w 1226344"/>
                <a:gd name="connsiteY81" fmla="*/ 492919 h 1152525"/>
                <a:gd name="connsiteX82" fmla="*/ 828675 w 1226344"/>
                <a:gd name="connsiteY82" fmla="*/ 476250 h 1152525"/>
                <a:gd name="connsiteX83" fmla="*/ 795337 w 1226344"/>
                <a:gd name="connsiteY83" fmla="*/ 478632 h 1152525"/>
                <a:gd name="connsiteX84" fmla="*/ 773906 w 1226344"/>
                <a:gd name="connsiteY84" fmla="*/ 471488 h 1152525"/>
                <a:gd name="connsiteX85" fmla="*/ 728662 w 1226344"/>
                <a:gd name="connsiteY85" fmla="*/ 428625 h 1152525"/>
                <a:gd name="connsiteX86" fmla="*/ 700087 w 1226344"/>
                <a:gd name="connsiteY86" fmla="*/ 421482 h 1152525"/>
                <a:gd name="connsiteX87" fmla="*/ 666750 w 1226344"/>
                <a:gd name="connsiteY87" fmla="*/ 383382 h 1152525"/>
                <a:gd name="connsiteX88" fmla="*/ 626269 w 1226344"/>
                <a:gd name="connsiteY88" fmla="*/ 369094 h 1152525"/>
                <a:gd name="connsiteX89" fmla="*/ 585787 w 1226344"/>
                <a:gd name="connsiteY89" fmla="*/ 335757 h 1152525"/>
                <a:gd name="connsiteX90" fmla="*/ 564356 w 1226344"/>
                <a:gd name="connsiteY90" fmla="*/ 311944 h 1152525"/>
                <a:gd name="connsiteX91" fmla="*/ 550069 w 1226344"/>
                <a:gd name="connsiteY91" fmla="*/ 330994 h 1152525"/>
                <a:gd name="connsiteX92" fmla="*/ 478631 w 1226344"/>
                <a:gd name="connsiteY92" fmla="*/ 328613 h 1152525"/>
                <a:gd name="connsiteX93" fmla="*/ 330994 w 1226344"/>
                <a:gd name="connsiteY93" fmla="*/ 230982 h 1152525"/>
                <a:gd name="connsiteX94" fmla="*/ 259556 w 1226344"/>
                <a:gd name="connsiteY94" fmla="*/ 254794 h 1152525"/>
                <a:gd name="connsiteX95" fmla="*/ 221456 w 1226344"/>
                <a:gd name="connsiteY95" fmla="*/ 245269 h 1152525"/>
                <a:gd name="connsiteX96" fmla="*/ 238125 w 1226344"/>
                <a:gd name="connsiteY96" fmla="*/ 150019 h 1152525"/>
                <a:gd name="connsiteX97" fmla="*/ 228600 w 1226344"/>
                <a:gd name="connsiteY97" fmla="*/ 95250 h 1152525"/>
                <a:gd name="connsiteX98" fmla="*/ 197644 w 1226344"/>
                <a:gd name="connsiteY98" fmla="*/ 78582 h 1152525"/>
                <a:gd name="connsiteX99" fmla="*/ 145256 w 1226344"/>
                <a:gd name="connsiteY99" fmla="*/ 0 h 1152525"/>
                <a:gd name="connsiteX100" fmla="*/ 88106 w 1226344"/>
                <a:gd name="connsiteY100" fmla="*/ 30957 h 1152525"/>
                <a:gd name="connsiteX101" fmla="*/ 83344 w 1226344"/>
                <a:gd name="connsiteY101" fmla="*/ 54769 h 1152525"/>
                <a:gd name="connsiteX102" fmla="*/ 90487 w 1226344"/>
                <a:gd name="connsiteY102" fmla="*/ 100013 h 1152525"/>
                <a:gd name="connsiteX103" fmla="*/ 71437 w 1226344"/>
                <a:gd name="connsiteY103" fmla="*/ 135732 h 1152525"/>
                <a:gd name="connsiteX104" fmla="*/ 66675 w 1226344"/>
                <a:gd name="connsiteY104" fmla="*/ 145257 h 1152525"/>
                <a:gd name="connsiteX105" fmla="*/ 97631 w 1226344"/>
                <a:gd name="connsiteY105" fmla="*/ 185738 h 1152525"/>
                <a:gd name="connsiteX106" fmla="*/ 83344 w 1226344"/>
                <a:gd name="connsiteY106" fmla="*/ 223838 h 1152525"/>
                <a:gd name="connsiteX107" fmla="*/ 59531 w 1226344"/>
                <a:gd name="connsiteY107" fmla="*/ 240507 h 1152525"/>
                <a:gd name="connsiteX108" fmla="*/ 69056 w 1226344"/>
                <a:gd name="connsiteY108" fmla="*/ 309563 h 1152525"/>
                <a:gd name="connsiteX109" fmla="*/ 92869 w 1226344"/>
                <a:gd name="connsiteY109" fmla="*/ 321469 h 1152525"/>
                <a:gd name="connsiteX110" fmla="*/ 85725 w 1226344"/>
                <a:gd name="connsiteY110" fmla="*/ 369094 h 1152525"/>
                <a:gd name="connsiteX111" fmla="*/ 42862 w 1226344"/>
                <a:gd name="connsiteY111" fmla="*/ 421482 h 1152525"/>
                <a:gd name="connsiteX112" fmla="*/ 0 w 1226344"/>
                <a:gd name="connsiteY112" fmla="*/ 452438 h 1152525"/>
                <a:gd name="connsiteX0" fmla="*/ 0 w 1226344"/>
                <a:gd name="connsiteY0" fmla="*/ 452438 h 1152525"/>
                <a:gd name="connsiteX1" fmla="*/ 28575 w 1226344"/>
                <a:gd name="connsiteY1" fmla="*/ 526257 h 1152525"/>
                <a:gd name="connsiteX2" fmla="*/ 73819 w 1226344"/>
                <a:gd name="connsiteY2" fmla="*/ 564357 h 1152525"/>
                <a:gd name="connsiteX3" fmla="*/ 109537 w 1226344"/>
                <a:gd name="connsiteY3" fmla="*/ 657225 h 1152525"/>
                <a:gd name="connsiteX4" fmla="*/ 128587 w 1226344"/>
                <a:gd name="connsiteY4" fmla="*/ 685800 h 1152525"/>
                <a:gd name="connsiteX5" fmla="*/ 142875 w 1226344"/>
                <a:gd name="connsiteY5" fmla="*/ 666750 h 1152525"/>
                <a:gd name="connsiteX6" fmla="*/ 142875 w 1226344"/>
                <a:gd name="connsiteY6" fmla="*/ 633413 h 1152525"/>
                <a:gd name="connsiteX7" fmla="*/ 180975 w 1226344"/>
                <a:gd name="connsiteY7" fmla="*/ 666750 h 1152525"/>
                <a:gd name="connsiteX8" fmla="*/ 240506 w 1226344"/>
                <a:gd name="connsiteY8" fmla="*/ 673894 h 1152525"/>
                <a:gd name="connsiteX9" fmla="*/ 271462 w 1226344"/>
                <a:gd name="connsiteY9" fmla="*/ 702469 h 1152525"/>
                <a:gd name="connsiteX10" fmla="*/ 326231 w 1226344"/>
                <a:gd name="connsiteY10" fmla="*/ 721519 h 1152525"/>
                <a:gd name="connsiteX11" fmla="*/ 338137 w 1226344"/>
                <a:gd name="connsiteY11" fmla="*/ 762000 h 1152525"/>
                <a:gd name="connsiteX12" fmla="*/ 321469 w 1226344"/>
                <a:gd name="connsiteY12" fmla="*/ 781050 h 1152525"/>
                <a:gd name="connsiteX13" fmla="*/ 311944 w 1226344"/>
                <a:gd name="connsiteY13" fmla="*/ 807244 h 1152525"/>
                <a:gd name="connsiteX14" fmla="*/ 266700 w 1226344"/>
                <a:gd name="connsiteY14" fmla="*/ 826294 h 1152525"/>
                <a:gd name="connsiteX15" fmla="*/ 219075 w 1226344"/>
                <a:gd name="connsiteY15" fmla="*/ 900113 h 1152525"/>
                <a:gd name="connsiteX16" fmla="*/ 204787 w 1226344"/>
                <a:gd name="connsiteY16" fmla="*/ 909638 h 1152525"/>
                <a:gd name="connsiteX17" fmla="*/ 192881 w 1226344"/>
                <a:gd name="connsiteY17" fmla="*/ 973932 h 1152525"/>
                <a:gd name="connsiteX18" fmla="*/ 152400 w 1226344"/>
                <a:gd name="connsiteY18" fmla="*/ 1042988 h 1152525"/>
                <a:gd name="connsiteX19" fmla="*/ 157162 w 1226344"/>
                <a:gd name="connsiteY19" fmla="*/ 1071563 h 1152525"/>
                <a:gd name="connsiteX20" fmla="*/ 204787 w 1226344"/>
                <a:gd name="connsiteY20" fmla="*/ 1083469 h 1152525"/>
                <a:gd name="connsiteX21" fmla="*/ 233362 w 1226344"/>
                <a:gd name="connsiteY21" fmla="*/ 1133475 h 1152525"/>
                <a:gd name="connsiteX22" fmla="*/ 247650 w 1226344"/>
                <a:gd name="connsiteY22" fmla="*/ 1133475 h 1152525"/>
                <a:gd name="connsiteX23" fmla="*/ 266700 w 1226344"/>
                <a:gd name="connsiteY23" fmla="*/ 1102519 h 1152525"/>
                <a:gd name="connsiteX24" fmla="*/ 257175 w 1226344"/>
                <a:gd name="connsiteY24" fmla="*/ 1081088 h 1152525"/>
                <a:gd name="connsiteX25" fmla="*/ 230981 w 1226344"/>
                <a:gd name="connsiteY25" fmla="*/ 1076325 h 1152525"/>
                <a:gd name="connsiteX26" fmla="*/ 230981 w 1226344"/>
                <a:gd name="connsiteY26" fmla="*/ 1052513 h 1152525"/>
                <a:gd name="connsiteX27" fmla="*/ 228600 w 1226344"/>
                <a:gd name="connsiteY27" fmla="*/ 1009650 h 1152525"/>
                <a:gd name="connsiteX28" fmla="*/ 216694 w 1226344"/>
                <a:gd name="connsiteY28" fmla="*/ 976313 h 1152525"/>
                <a:gd name="connsiteX29" fmla="*/ 223837 w 1226344"/>
                <a:gd name="connsiteY29" fmla="*/ 940594 h 1152525"/>
                <a:gd name="connsiteX30" fmla="*/ 266700 w 1226344"/>
                <a:gd name="connsiteY30" fmla="*/ 900113 h 1152525"/>
                <a:gd name="connsiteX31" fmla="*/ 278606 w 1226344"/>
                <a:gd name="connsiteY31" fmla="*/ 897732 h 1152525"/>
                <a:gd name="connsiteX32" fmla="*/ 290512 w 1226344"/>
                <a:gd name="connsiteY32" fmla="*/ 938213 h 1152525"/>
                <a:gd name="connsiteX33" fmla="*/ 302419 w 1226344"/>
                <a:gd name="connsiteY33" fmla="*/ 938213 h 1152525"/>
                <a:gd name="connsiteX34" fmla="*/ 321469 w 1226344"/>
                <a:gd name="connsiteY34" fmla="*/ 962025 h 1152525"/>
                <a:gd name="connsiteX35" fmla="*/ 338137 w 1226344"/>
                <a:gd name="connsiteY35" fmla="*/ 957263 h 1152525"/>
                <a:gd name="connsiteX36" fmla="*/ 359569 w 1226344"/>
                <a:gd name="connsiteY36" fmla="*/ 942975 h 1152525"/>
                <a:gd name="connsiteX37" fmla="*/ 483394 w 1226344"/>
                <a:gd name="connsiteY37" fmla="*/ 954882 h 1152525"/>
                <a:gd name="connsiteX38" fmla="*/ 516731 w 1226344"/>
                <a:gd name="connsiteY38" fmla="*/ 947738 h 1152525"/>
                <a:gd name="connsiteX39" fmla="*/ 545306 w 1226344"/>
                <a:gd name="connsiteY39" fmla="*/ 964407 h 1152525"/>
                <a:gd name="connsiteX40" fmla="*/ 561975 w 1226344"/>
                <a:gd name="connsiteY40" fmla="*/ 978694 h 1152525"/>
                <a:gd name="connsiteX41" fmla="*/ 604837 w 1226344"/>
                <a:gd name="connsiteY41" fmla="*/ 981075 h 1152525"/>
                <a:gd name="connsiteX42" fmla="*/ 640556 w 1226344"/>
                <a:gd name="connsiteY42" fmla="*/ 1021557 h 1152525"/>
                <a:gd name="connsiteX43" fmla="*/ 659606 w 1226344"/>
                <a:gd name="connsiteY43" fmla="*/ 1019175 h 1152525"/>
                <a:gd name="connsiteX44" fmla="*/ 702469 w 1226344"/>
                <a:gd name="connsiteY44" fmla="*/ 976313 h 1152525"/>
                <a:gd name="connsiteX45" fmla="*/ 735806 w 1226344"/>
                <a:gd name="connsiteY45" fmla="*/ 1000125 h 1152525"/>
                <a:gd name="connsiteX46" fmla="*/ 752475 w 1226344"/>
                <a:gd name="connsiteY46" fmla="*/ 1023938 h 1152525"/>
                <a:gd name="connsiteX47" fmla="*/ 785812 w 1226344"/>
                <a:gd name="connsiteY47" fmla="*/ 1021557 h 1152525"/>
                <a:gd name="connsiteX48" fmla="*/ 819150 w 1226344"/>
                <a:gd name="connsiteY48" fmla="*/ 1042988 h 1152525"/>
                <a:gd name="connsiteX49" fmla="*/ 823912 w 1226344"/>
                <a:gd name="connsiteY49" fmla="*/ 1064419 h 1152525"/>
                <a:gd name="connsiteX50" fmla="*/ 842962 w 1226344"/>
                <a:gd name="connsiteY50" fmla="*/ 1066800 h 1152525"/>
                <a:gd name="connsiteX51" fmla="*/ 904875 w 1226344"/>
                <a:gd name="connsiteY51" fmla="*/ 1073944 h 1152525"/>
                <a:gd name="connsiteX52" fmla="*/ 933450 w 1226344"/>
                <a:gd name="connsiteY52" fmla="*/ 1112044 h 1152525"/>
                <a:gd name="connsiteX53" fmla="*/ 938212 w 1226344"/>
                <a:gd name="connsiteY53" fmla="*/ 1140619 h 1152525"/>
                <a:gd name="connsiteX54" fmla="*/ 940594 w 1226344"/>
                <a:gd name="connsiteY54" fmla="*/ 1152525 h 1152525"/>
                <a:gd name="connsiteX55" fmla="*/ 990600 w 1226344"/>
                <a:gd name="connsiteY55" fmla="*/ 1150144 h 1152525"/>
                <a:gd name="connsiteX56" fmla="*/ 1042987 w 1226344"/>
                <a:gd name="connsiteY56" fmla="*/ 1150144 h 1152525"/>
                <a:gd name="connsiteX57" fmla="*/ 1071562 w 1226344"/>
                <a:gd name="connsiteY57" fmla="*/ 1069182 h 1152525"/>
                <a:gd name="connsiteX58" fmla="*/ 1062037 w 1226344"/>
                <a:gd name="connsiteY58" fmla="*/ 1045369 h 1152525"/>
                <a:gd name="connsiteX59" fmla="*/ 1059656 w 1226344"/>
                <a:gd name="connsiteY59" fmla="*/ 1012032 h 1152525"/>
                <a:gd name="connsiteX60" fmla="*/ 1066800 w 1226344"/>
                <a:gd name="connsiteY60" fmla="*/ 992982 h 1152525"/>
                <a:gd name="connsiteX61" fmla="*/ 1083469 w 1226344"/>
                <a:gd name="connsiteY61" fmla="*/ 973932 h 1152525"/>
                <a:gd name="connsiteX62" fmla="*/ 1107281 w 1226344"/>
                <a:gd name="connsiteY62" fmla="*/ 964407 h 1152525"/>
                <a:gd name="connsiteX63" fmla="*/ 1133475 w 1226344"/>
                <a:gd name="connsiteY63" fmla="*/ 921544 h 1152525"/>
                <a:gd name="connsiteX64" fmla="*/ 1150144 w 1226344"/>
                <a:gd name="connsiteY64" fmla="*/ 921544 h 1152525"/>
                <a:gd name="connsiteX65" fmla="*/ 1197769 w 1226344"/>
                <a:gd name="connsiteY65" fmla="*/ 940594 h 1152525"/>
                <a:gd name="connsiteX66" fmla="*/ 1226344 w 1226344"/>
                <a:gd name="connsiteY66" fmla="*/ 904875 h 1152525"/>
                <a:gd name="connsiteX67" fmla="*/ 1195387 w 1226344"/>
                <a:gd name="connsiteY67" fmla="*/ 852488 h 1152525"/>
                <a:gd name="connsiteX68" fmla="*/ 1159669 w 1226344"/>
                <a:gd name="connsiteY68" fmla="*/ 804863 h 1152525"/>
                <a:gd name="connsiteX69" fmla="*/ 1162050 w 1226344"/>
                <a:gd name="connsiteY69" fmla="*/ 762000 h 1152525"/>
                <a:gd name="connsiteX70" fmla="*/ 1216819 w 1226344"/>
                <a:gd name="connsiteY70" fmla="*/ 702469 h 1152525"/>
                <a:gd name="connsiteX71" fmla="*/ 1219200 w 1226344"/>
                <a:gd name="connsiteY71" fmla="*/ 676275 h 1152525"/>
                <a:gd name="connsiteX72" fmla="*/ 1181100 w 1226344"/>
                <a:gd name="connsiteY72" fmla="*/ 661988 h 1152525"/>
                <a:gd name="connsiteX73" fmla="*/ 1150144 w 1226344"/>
                <a:gd name="connsiteY73" fmla="*/ 635794 h 1152525"/>
                <a:gd name="connsiteX74" fmla="*/ 1133475 w 1226344"/>
                <a:gd name="connsiteY74" fmla="*/ 602457 h 1152525"/>
                <a:gd name="connsiteX75" fmla="*/ 1083469 w 1226344"/>
                <a:gd name="connsiteY75" fmla="*/ 604838 h 1152525"/>
                <a:gd name="connsiteX76" fmla="*/ 1033462 w 1226344"/>
                <a:gd name="connsiteY76" fmla="*/ 604838 h 1152525"/>
                <a:gd name="connsiteX77" fmla="*/ 1014412 w 1226344"/>
                <a:gd name="connsiteY77" fmla="*/ 583407 h 1152525"/>
                <a:gd name="connsiteX78" fmla="*/ 950119 w 1226344"/>
                <a:gd name="connsiteY78" fmla="*/ 578644 h 1152525"/>
                <a:gd name="connsiteX79" fmla="*/ 933450 w 1226344"/>
                <a:gd name="connsiteY79" fmla="*/ 561975 h 1152525"/>
                <a:gd name="connsiteX80" fmla="*/ 933450 w 1226344"/>
                <a:gd name="connsiteY80" fmla="*/ 547688 h 1152525"/>
                <a:gd name="connsiteX81" fmla="*/ 859631 w 1226344"/>
                <a:gd name="connsiteY81" fmla="*/ 511969 h 1152525"/>
                <a:gd name="connsiteX82" fmla="*/ 850106 w 1226344"/>
                <a:gd name="connsiteY82" fmla="*/ 492919 h 1152525"/>
                <a:gd name="connsiteX83" fmla="*/ 828675 w 1226344"/>
                <a:gd name="connsiteY83" fmla="*/ 476250 h 1152525"/>
                <a:gd name="connsiteX84" fmla="*/ 795337 w 1226344"/>
                <a:gd name="connsiteY84" fmla="*/ 478632 h 1152525"/>
                <a:gd name="connsiteX85" fmla="*/ 773906 w 1226344"/>
                <a:gd name="connsiteY85" fmla="*/ 471488 h 1152525"/>
                <a:gd name="connsiteX86" fmla="*/ 728662 w 1226344"/>
                <a:gd name="connsiteY86" fmla="*/ 428625 h 1152525"/>
                <a:gd name="connsiteX87" fmla="*/ 700087 w 1226344"/>
                <a:gd name="connsiteY87" fmla="*/ 421482 h 1152525"/>
                <a:gd name="connsiteX88" fmla="*/ 666750 w 1226344"/>
                <a:gd name="connsiteY88" fmla="*/ 383382 h 1152525"/>
                <a:gd name="connsiteX89" fmla="*/ 626269 w 1226344"/>
                <a:gd name="connsiteY89" fmla="*/ 369094 h 1152525"/>
                <a:gd name="connsiteX90" fmla="*/ 585787 w 1226344"/>
                <a:gd name="connsiteY90" fmla="*/ 335757 h 1152525"/>
                <a:gd name="connsiteX91" fmla="*/ 564356 w 1226344"/>
                <a:gd name="connsiteY91" fmla="*/ 311944 h 1152525"/>
                <a:gd name="connsiteX92" fmla="*/ 550069 w 1226344"/>
                <a:gd name="connsiteY92" fmla="*/ 330994 h 1152525"/>
                <a:gd name="connsiteX93" fmla="*/ 478631 w 1226344"/>
                <a:gd name="connsiteY93" fmla="*/ 328613 h 1152525"/>
                <a:gd name="connsiteX94" fmla="*/ 330994 w 1226344"/>
                <a:gd name="connsiteY94" fmla="*/ 230982 h 1152525"/>
                <a:gd name="connsiteX95" fmla="*/ 259556 w 1226344"/>
                <a:gd name="connsiteY95" fmla="*/ 254794 h 1152525"/>
                <a:gd name="connsiteX96" fmla="*/ 221456 w 1226344"/>
                <a:gd name="connsiteY96" fmla="*/ 245269 h 1152525"/>
                <a:gd name="connsiteX97" fmla="*/ 238125 w 1226344"/>
                <a:gd name="connsiteY97" fmla="*/ 150019 h 1152525"/>
                <a:gd name="connsiteX98" fmla="*/ 228600 w 1226344"/>
                <a:gd name="connsiteY98" fmla="*/ 95250 h 1152525"/>
                <a:gd name="connsiteX99" fmla="*/ 197644 w 1226344"/>
                <a:gd name="connsiteY99" fmla="*/ 78582 h 1152525"/>
                <a:gd name="connsiteX100" fmla="*/ 145256 w 1226344"/>
                <a:gd name="connsiteY100" fmla="*/ 0 h 1152525"/>
                <a:gd name="connsiteX101" fmla="*/ 88106 w 1226344"/>
                <a:gd name="connsiteY101" fmla="*/ 30957 h 1152525"/>
                <a:gd name="connsiteX102" fmla="*/ 83344 w 1226344"/>
                <a:gd name="connsiteY102" fmla="*/ 54769 h 1152525"/>
                <a:gd name="connsiteX103" fmla="*/ 90487 w 1226344"/>
                <a:gd name="connsiteY103" fmla="*/ 100013 h 1152525"/>
                <a:gd name="connsiteX104" fmla="*/ 71437 w 1226344"/>
                <a:gd name="connsiteY104" fmla="*/ 135732 h 1152525"/>
                <a:gd name="connsiteX105" fmla="*/ 66675 w 1226344"/>
                <a:gd name="connsiteY105" fmla="*/ 145257 h 1152525"/>
                <a:gd name="connsiteX106" fmla="*/ 97631 w 1226344"/>
                <a:gd name="connsiteY106" fmla="*/ 185738 h 1152525"/>
                <a:gd name="connsiteX107" fmla="*/ 83344 w 1226344"/>
                <a:gd name="connsiteY107" fmla="*/ 223838 h 1152525"/>
                <a:gd name="connsiteX108" fmla="*/ 59531 w 1226344"/>
                <a:gd name="connsiteY108" fmla="*/ 240507 h 1152525"/>
                <a:gd name="connsiteX109" fmla="*/ 69056 w 1226344"/>
                <a:gd name="connsiteY109" fmla="*/ 309563 h 1152525"/>
                <a:gd name="connsiteX110" fmla="*/ 92869 w 1226344"/>
                <a:gd name="connsiteY110" fmla="*/ 321469 h 1152525"/>
                <a:gd name="connsiteX111" fmla="*/ 85725 w 1226344"/>
                <a:gd name="connsiteY111" fmla="*/ 369094 h 1152525"/>
                <a:gd name="connsiteX112" fmla="*/ 42862 w 1226344"/>
                <a:gd name="connsiteY112" fmla="*/ 421482 h 1152525"/>
                <a:gd name="connsiteX113" fmla="*/ 0 w 1226344"/>
                <a:gd name="connsiteY113" fmla="*/ 452438 h 1152525"/>
                <a:gd name="connsiteX0" fmla="*/ 0 w 1226344"/>
                <a:gd name="connsiteY0" fmla="*/ 452438 h 1200150"/>
                <a:gd name="connsiteX1" fmla="*/ 28575 w 1226344"/>
                <a:gd name="connsiteY1" fmla="*/ 526257 h 1200150"/>
                <a:gd name="connsiteX2" fmla="*/ 73819 w 1226344"/>
                <a:gd name="connsiteY2" fmla="*/ 564357 h 1200150"/>
                <a:gd name="connsiteX3" fmla="*/ 109537 w 1226344"/>
                <a:gd name="connsiteY3" fmla="*/ 657225 h 1200150"/>
                <a:gd name="connsiteX4" fmla="*/ 128587 w 1226344"/>
                <a:gd name="connsiteY4" fmla="*/ 685800 h 1200150"/>
                <a:gd name="connsiteX5" fmla="*/ 142875 w 1226344"/>
                <a:gd name="connsiteY5" fmla="*/ 666750 h 1200150"/>
                <a:gd name="connsiteX6" fmla="*/ 142875 w 1226344"/>
                <a:gd name="connsiteY6" fmla="*/ 633413 h 1200150"/>
                <a:gd name="connsiteX7" fmla="*/ 180975 w 1226344"/>
                <a:gd name="connsiteY7" fmla="*/ 666750 h 1200150"/>
                <a:gd name="connsiteX8" fmla="*/ 240506 w 1226344"/>
                <a:gd name="connsiteY8" fmla="*/ 673894 h 1200150"/>
                <a:gd name="connsiteX9" fmla="*/ 271462 w 1226344"/>
                <a:gd name="connsiteY9" fmla="*/ 702469 h 1200150"/>
                <a:gd name="connsiteX10" fmla="*/ 326231 w 1226344"/>
                <a:gd name="connsiteY10" fmla="*/ 721519 h 1200150"/>
                <a:gd name="connsiteX11" fmla="*/ 338137 w 1226344"/>
                <a:gd name="connsiteY11" fmla="*/ 762000 h 1200150"/>
                <a:gd name="connsiteX12" fmla="*/ 321469 w 1226344"/>
                <a:gd name="connsiteY12" fmla="*/ 781050 h 1200150"/>
                <a:gd name="connsiteX13" fmla="*/ 311944 w 1226344"/>
                <a:gd name="connsiteY13" fmla="*/ 807244 h 1200150"/>
                <a:gd name="connsiteX14" fmla="*/ 266700 w 1226344"/>
                <a:gd name="connsiteY14" fmla="*/ 826294 h 1200150"/>
                <a:gd name="connsiteX15" fmla="*/ 219075 w 1226344"/>
                <a:gd name="connsiteY15" fmla="*/ 900113 h 1200150"/>
                <a:gd name="connsiteX16" fmla="*/ 204787 w 1226344"/>
                <a:gd name="connsiteY16" fmla="*/ 909638 h 1200150"/>
                <a:gd name="connsiteX17" fmla="*/ 192881 w 1226344"/>
                <a:gd name="connsiteY17" fmla="*/ 973932 h 1200150"/>
                <a:gd name="connsiteX18" fmla="*/ 152400 w 1226344"/>
                <a:gd name="connsiteY18" fmla="*/ 1042988 h 1200150"/>
                <a:gd name="connsiteX19" fmla="*/ 157162 w 1226344"/>
                <a:gd name="connsiteY19" fmla="*/ 1071563 h 1200150"/>
                <a:gd name="connsiteX20" fmla="*/ 204787 w 1226344"/>
                <a:gd name="connsiteY20" fmla="*/ 1083469 h 1200150"/>
                <a:gd name="connsiteX21" fmla="*/ 233362 w 1226344"/>
                <a:gd name="connsiteY21" fmla="*/ 1133475 h 1200150"/>
                <a:gd name="connsiteX22" fmla="*/ 247650 w 1226344"/>
                <a:gd name="connsiteY22" fmla="*/ 1133475 h 1200150"/>
                <a:gd name="connsiteX23" fmla="*/ 266700 w 1226344"/>
                <a:gd name="connsiteY23" fmla="*/ 1102519 h 1200150"/>
                <a:gd name="connsiteX24" fmla="*/ 257175 w 1226344"/>
                <a:gd name="connsiteY24" fmla="*/ 1081088 h 1200150"/>
                <a:gd name="connsiteX25" fmla="*/ 230981 w 1226344"/>
                <a:gd name="connsiteY25" fmla="*/ 1076325 h 1200150"/>
                <a:gd name="connsiteX26" fmla="*/ 230981 w 1226344"/>
                <a:gd name="connsiteY26" fmla="*/ 1052513 h 1200150"/>
                <a:gd name="connsiteX27" fmla="*/ 228600 w 1226344"/>
                <a:gd name="connsiteY27" fmla="*/ 1009650 h 1200150"/>
                <a:gd name="connsiteX28" fmla="*/ 216694 w 1226344"/>
                <a:gd name="connsiteY28" fmla="*/ 976313 h 1200150"/>
                <a:gd name="connsiteX29" fmla="*/ 223837 w 1226344"/>
                <a:gd name="connsiteY29" fmla="*/ 940594 h 1200150"/>
                <a:gd name="connsiteX30" fmla="*/ 266700 w 1226344"/>
                <a:gd name="connsiteY30" fmla="*/ 900113 h 1200150"/>
                <a:gd name="connsiteX31" fmla="*/ 278606 w 1226344"/>
                <a:gd name="connsiteY31" fmla="*/ 897732 h 1200150"/>
                <a:gd name="connsiteX32" fmla="*/ 290512 w 1226344"/>
                <a:gd name="connsiteY32" fmla="*/ 938213 h 1200150"/>
                <a:gd name="connsiteX33" fmla="*/ 302419 w 1226344"/>
                <a:gd name="connsiteY33" fmla="*/ 938213 h 1200150"/>
                <a:gd name="connsiteX34" fmla="*/ 321469 w 1226344"/>
                <a:gd name="connsiteY34" fmla="*/ 962025 h 1200150"/>
                <a:gd name="connsiteX35" fmla="*/ 338137 w 1226344"/>
                <a:gd name="connsiteY35" fmla="*/ 957263 h 1200150"/>
                <a:gd name="connsiteX36" fmla="*/ 359569 w 1226344"/>
                <a:gd name="connsiteY36" fmla="*/ 942975 h 1200150"/>
                <a:gd name="connsiteX37" fmla="*/ 483394 w 1226344"/>
                <a:gd name="connsiteY37" fmla="*/ 954882 h 1200150"/>
                <a:gd name="connsiteX38" fmla="*/ 516731 w 1226344"/>
                <a:gd name="connsiteY38" fmla="*/ 947738 h 1200150"/>
                <a:gd name="connsiteX39" fmla="*/ 545306 w 1226344"/>
                <a:gd name="connsiteY39" fmla="*/ 964407 h 1200150"/>
                <a:gd name="connsiteX40" fmla="*/ 561975 w 1226344"/>
                <a:gd name="connsiteY40" fmla="*/ 978694 h 1200150"/>
                <a:gd name="connsiteX41" fmla="*/ 604837 w 1226344"/>
                <a:gd name="connsiteY41" fmla="*/ 981075 h 1200150"/>
                <a:gd name="connsiteX42" fmla="*/ 640556 w 1226344"/>
                <a:gd name="connsiteY42" fmla="*/ 1021557 h 1200150"/>
                <a:gd name="connsiteX43" fmla="*/ 659606 w 1226344"/>
                <a:gd name="connsiteY43" fmla="*/ 1019175 h 1200150"/>
                <a:gd name="connsiteX44" fmla="*/ 702469 w 1226344"/>
                <a:gd name="connsiteY44" fmla="*/ 976313 h 1200150"/>
                <a:gd name="connsiteX45" fmla="*/ 735806 w 1226344"/>
                <a:gd name="connsiteY45" fmla="*/ 1000125 h 1200150"/>
                <a:gd name="connsiteX46" fmla="*/ 752475 w 1226344"/>
                <a:gd name="connsiteY46" fmla="*/ 1023938 h 1200150"/>
                <a:gd name="connsiteX47" fmla="*/ 785812 w 1226344"/>
                <a:gd name="connsiteY47" fmla="*/ 1021557 h 1200150"/>
                <a:gd name="connsiteX48" fmla="*/ 819150 w 1226344"/>
                <a:gd name="connsiteY48" fmla="*/ 1042988 h 1200150"/>
                <a:gd name="connsiteX49" fmla="*/ 823912 w 1226344"/>
                <a:gd name="connsiteY49" fmla="*/ 1064419 h 1200150"/>
                <a:gd name="connsiteX50" fmla="*/ 842962 w 1226344"/>
                <a:gd name="connsiteY50" fmla="*/ 1066800 h 1200150"/>
                <a:gd name="connsiteX51" fmla="*/ 904875 w 1226344"/>
                <a:gd name="connsiteY51" fmla="*/ 1073944 h 1200150"/>
                <a:gd name="connsiteX52" fmla="*/ 933450 w 1226344"/>
                <a:gd name="connsiteY52" fmla="*/ 1112044 h 1200150"/>
                <a:gd name="connsiteX53" fmla="*/ 938212 w 1226344"/>
                <a:gd name="connsiteY53" fmla="*/ 1140619 h 1200150"/>
                <a:gd name="connsiteX54" fmla="*/ 940594 w 1226344"/>
                <a:gd name="connsiteY54" fmla="*/ 1152525 h 1200150"/>
                <a:gd name="connsiteX55" fmla="*/ 954882 w 1226344"/>
                <a:gd name="connsiteY55" fmla="*/ 1200150 h 1200150"/>
                <a:gd name="connsiteX56" fmla="*/ 1042987 w 1226344"/>
                <a:gd name="connsiteY56" fmla="*/ 1150144 h 1200150"/>
                <a:gd name="connsiteX57" fmla="*/ 1071562 w 1226344"/>
                <a:gd name="connsiteY57" fmla="*/ 1069182 h 1200150"/>
                <a:gd name="connsiteX58" fmla="*/ 1062037 w 1226344"/>
                <a:gd name="connsiteY58" fmla="*/ 1045369 h 1200150"/>
                <a:gd name="connsiteX59" fmla="*/ 1059656 w 1226344"/>
                <a:gd name="connsiteY59" fmla="*/ 1012032 h 1200150"/>
                <a:gd name="connsiteX60" fmla="*/ 1066800 w 1226344"/>
                <a:gd name="connsiteY60" fmla="*/ 992982 h 1200150"/>
                <a:gd name="connsiteX61" fmla="*/ 1083469 w 1226344"/>
                <a:gd name="connsiteY61" fmla="*/ 973932 h 1200150"/>
                <a:gd name="connsiteX62" fmla="*/ 1107281 w 1226344"/>
                <a:gd name="connsiteY62" fmla="*/ 964407 h 1200150"/>
                <a:gd name="connsiteX63" fmla="*/ 1133475 w 1226344"/>
                <a:gd name="connsiteY63" fmla="*/ 921544 h 1200150"/>
                <a:gd name="connsiteX64" fmla="*/ 1150144 w 1226344"/>
                <a:gd name="connsiteY64" fmla="*/ 921544 h 1200150"/>
                <a:gd name="connsiteX65" fmla="*/ 1197769 w 1226344"/>
                <a:gd name="connsiteY65" fmla="*/ 940594 h 1200150"/>
                <a:gd name="connsiteX66" fmla="*/ 1226344 w 1226344"/>
                <a:gd name="connsiteY66" fmla="*/ 904875 h 1200150"/>
                <a:gd name="connsiteX67" fmla="*/ 1195387 w 1226344"/>
                <a:gd name="connsiteY67" fmla="*/ 852488 h 1200150"/>
                <a:gd name="connsiteX68" fmla="*/ 1159669 w 1226344"/>
                <a:gd name="connsiteY68" fmla="*/ 804863 h 1200150"/>
                <a:gd name="connsiteX69" fmla="*/ 1162050 w 1226344"/>
                <a:gd name="connsiteY69" fmla="*/ 762000 h 1200150"/>
                <a:gd name="connsiteX70" fmla="*/ 1216819 w 1226344"/>
                <a:gd name="connsiteY70" fmla="*/ 702469 h 1200150"/>
                <a:gd name="connsiteX71" fmla="*/ 1219200 w 1226344"/>
                <a:gd name="connsiteY71" fmla="*/ 676275 h 1200150"/>
                <a:gd name="connsiteX72" fmla="*/ 1181100 w 1226344"/>
                <a:gd name="connsiteY72" fmla="*/ 661988 h 1200150"/>
                <a:gd name="connsiteX73" fmla="*/ 1150144 w 1226344"/>
                <a:gd name="connsiteY73" fmla="*/ 635794 h 1200150"/>
                <a:gd name="connsiteX74" fmla="*/ 1133475 w 1226344"/>
                <a:gd name="connsiteY74" fmla="*/ 602457 h 1200150"/>
                <a:gd name="connsiteX75" fmla="*/ 1083469 w 1226344"/>
                <a:gd name="connsiteY75" fmla="*/ 604838 h 1200150"/>
                <a:gd name="connsiteX76" fmla="*/ 1033462 w 1226344"/>
                <a:gd name="connsiteY76" fmla="*/ 604838 h 1200150"/>
                <a:gd name="connsiteX77" fmla="*/ 1014412 w 1226344"/>
                <a:gd name="connsiteY77" fmla="*/ 583407 h 1200150"/>
                <a:gd name="connsiteX78" fmla="*/ 950119 w 1226344"/>
                <a:gd name="connsiteY78" fmla="*/ 578644 h 1200150"/>
                <a:gd name="connsiteX79" fmla="*/ 933450 w 1226344"/>
                <a:gd name="connsiteY79" fmla="*/ 561975 h 1200150"/>
                <a:gd name="connsiteX80" fmla="*/ 933450 w 1226344"/>
                <a:gd name="connsiteY80" fmla="*/ 547688 h 1200150"/>
                <a:gd name="connsiteX81" fmla="*/ 859631 w 1226344"/>
                <a:gd name="connsiteY81" fmla="*/ 511969 h 1200150"/>
                <a:gd name="connsiteX82" fmla="*/ 850106 w 1226344"/>
                <a:gd name="connsiteY82" fmla="*/ 492919 h 1200150"/>
                <a:gd name="connsiteX83" fmla="*/ 828675 w 1226344"/>
                <a:gd name="connsiteY83" fmla="*/ 476250 h 1200150"/>
                <a:gd name="connsiteX84" fmla="*/ 795337 w 1226344"/>
                <a:gd name="connsiteY84" fmla="*/ 478632 h 1200150"/>
                <a:gd name="connsiteX85" fmla="*/ 773906 w 1226344"/>
                <a:gd name="connsiteY85" fmla="*/ 471488 h 1200150"/>
                <a:gd name="connsiteX86" fmla="*/ 728662 w 1226344"/>
                <a:gd name="connsiteY86" fmla="*/ 428625 h 1200150"/>
                <a:gd name="connsiteX87" fmla="*/ 700087 w 1226344"/>
                <a:gd name="connsiteY87" fmla="*/ 421482 h 1200150"/>
                <a:gd name="connsiteX88" fmla="*/ 666750 w 1226344"/>
                <a:gd name="connsiteY88" fmla="*/ 383382 h 1200150"/>
                <a:gd name="connsiteX89" fmla="*/ 626269 w 1226344"/>
                <a:gd name="connsiteY89" fmla="*/ 369094 h 1200150"/>
                <a:gd name="connsiteX90" fmla="*/ 585787 w 1226344"/>
                <a:gd name="connsiteY90" fmla="*/ 335757 h 1200150"/>
                <a:gd name="connsiteX91" fmla="*/ 564356 w 1226344"/>
                <a:gd name="connsiteY91" fmla="*/ 311944 h 1200150"/>
                <a:gd name="connsiteX92" fmla="*/ 550069 w 1226344"/>
                <a:gd name="connsiteY92" fmla="*/ 330994 h 1200150"/>
                <a:gd name="connsiteX93" fmla="*/ 478631 w 1226344"/>
                <a:gd name="connsiteY93" fmla="*/ 328613 h 1200150"/>
                <a:gd name="connsiteX94" fmla="*/ 330994 w 1226344"/>
                <a:gd name="connsiteY94" fmla="*/ 230982 h 1200150"/>
                <a:gd name="connsiteX95" fmla="*/ 259556 w 1226344"/>
                <a:gd name="connsiteY95" fmla="*/ 254794 h 1200150"/>
                <a:gd name="connsiteX96" fmla="*/ 221456 w 1226344"/>
                <a:gd name="connsiteY96" fmla="*/ 245269 h 1200150"/>
                <a:gd name="connsiteX97" fmla="*/ 238125 w 1226344"/>
                <a:gd name="connsiteY97" fmla="*/ 150019 h 1200150"/>
                <a:gd name="connsiteX98" fmla="*/ 228600 w 1226344"/>
                <a:gd name="connsiteY98" fmla="*/ 95250 h 1200150"/>
                <a:gd name="connsiteX99" fmla="*/ 197644 w 1226344"/>
                <a:gd name="connsiteY99" fmla="*/ 78582 h 1200150"/>
                <a:gd name="connsiteX100" fmla="*/ 145256 w 1226344"/>
                <a:gd name="connsiteY100" fmla="*/ 0 h 1200150"/>
                <a:gd name="connsiteX101" fmla="*/ 88106 w 1226344"/>
                <a:gd name="connsiteY101" fmla="*/ 30957 h 1200150"/>
                <a:gd name="connsiteX102" fmla="*/ 83344 w 1226344"/>
                <a:gd name="connsiteY102" fmla="*/ 54769 h 1200150"/>
                <a:gd name="connsiteX103" fmla="*/ 90487 w 1226344"/>
                <a:gd name="connsiteY103" fmla="*/ 100013 h 1200150"/>
                <a:gd name="connsiteX104" fmla="*/ 71437 w 1226344"/>
                <a:gd name="connsiteY104" fmla="*/ 135732 h 1200150"/>
                <a:gd name="connsiteX105" fmla="*/ 66675 w 1226344"/>
                <a:gd name="connsiteY105" fmla="*/ 145257 h 1200150"/>
                <a:gd name="connsiteX106" fmla="*/ 97631 w 1226344"/>
                <a:gd name="connsiteY106" fmla="*/ 185738 h 1200150"/>
                <a:gd name="connsiteX107" fmla="*/ 83344 w 1226344"/>
                <a:gd name="connsiteY107" fmla="*/ 223838 h 1200150"/>
                <a:gd name="connsiteX108" fmla="*/ 59531 w 1226344"/>
                <a:gd name="connsiteY108" fmla="*/ 240507 h 1200150"/>
                <a:gd name="connsiteX109" fmla="*/ 69056 w 1226344"/>
                <a:gd name="connsiteY109" fmla="*/ 309563 h 1200150"/>
                <a:gd name="connsiteX110" fmla="*/ 92869 w 1226344"/>
                <a:gd name="connsiteY110" fmla="*/ 321469 h 1200150"/>
                <a:gd name="connsiteX111" fmla="*/ 85725 w 1226344"/>
                <a:gd name="connsiteY111" fmla="*/ 369094 h 1200150"/>
                <a:gd name="connsiteX112" fmla="*/ 42862 w 1226344"/>
                <a:gd name="connsiteY112" fmla="*/ 421482 h 1200150"/>
                <a:gd name="connsiteX113" fmla="*/ 0 w 1226344"/>
                <a:gd name="connsiteY113" fmla="*/ 452438 h 1200150"/>
                <a:gd name="connsiteX0" fmla="*/ 0 w 1226344"/>
                <a:gd name="connsiteY0" fmla="*/ 452438 h 1200150"/>
                <a:gd name="connsiteX1" fmla="*/ 28575 w 1226344"/>
                <a:gd name="connsiteY1" fmla="*/ 526257 h 1200150"/>
                <a:gd name="connsiteX2" fmla="*/ 73819 w 1226344"/>
                <a:gd name="connsiteY2" fmla="*/ 564357 h 1200150"/>
                <a:gd name="connsiteX3" fmla="*/ 109537 w 1226344"/>
                <a:gd name="connsiteY3" fmla="*/ 657225 h 1200150"/>
                <a:gd name="connsiteX4" fmla="*/ 128587 w 1226344"/>
                <a:gd name="connsiteY4" fmla="*/ 685800 h 1200150"/>
                <a:gd name="connsiteX5" fmla="*/ 142875 w 1226344"/>
                <a:gd name="connsiteY5" fmla="*/ 666750 h 1200150"/>
                <a:gd name="connsiteX6" fmla="*/ 142875 w 1226344"/>
                <a:gd name="connsiteY6" fmla="*/ 633413 h 1200150"/>
                <a:gd name="connsiteX7" fmla="*/ 180975 w 1226344"/>
                <a:gd name="connsiteY7" fmla="*/ 666750 h 1200150"/>
                <a:gd name="connsiteX8" fmla="*/ 240506 w 1226344"/>
                <a:gd name="connsiteY8" fmla="*/ 673894 h 1200150"/>
                <a:gd name="connsiteX9" fmla="*/ 271462 w 1226344"/>
                <a:gd name="connsiteY9" fmla="*/ 702469 h 1200150"/>
                <a:gd name="connsiteX10" fmla="*/ 326231 w 1226344"/>
                <a:gd name="connsiteY10" fmla="*/ 721519 h 1200150"/>
                <a:gd name="connsiteX11" fmla="*/ 338137 w 1226344"/>
                <a:gd name="connsiteY11" fmla="*/ 762000 h 1200150"/>
                <a:gd name="connsiteX12" fmla="*/ 321469 w 1226344"/>
                <a:gd name="connsiteY12" fmla="*/ 781050 h 1200150"/>
                <a:gd name="connsiteX13" fmla="*/ 311944 w 1226344"/>
                <a:gd name="connsiteY13" fmla="*/ 807244 h 1200150"/>
                <a:gd name="connsiteX14" fmla="*/ 266700 w 1226344"/>
                <a:gd name="connsiteY14" fmla="*/ 826294 h 1200150"/>
                <a:gd name="connsiteX15" fmla="*/ 219075 w 1226344"/>
                <a:gd name="connsiteY15" fmla="*/ 900113 h 1200150"/>
                <a:gd name="connsiteX16" fmla="*/ 204787 w 1226344"/>
                <a:gd name="connsiteY16" fmla="*/ 909638 h 1200150"/>
                <a:gd name="connsiteX17" fmla="*/ 192881 w 1226344"/>
                <a:gd name="connsiteY17" fmla="*/ 973932 h 1200150"/>
                <a:gd name="connsiteX18" fmla="*/ 152400 w 1226344"/>
                <a:gd name="connsiteY18" fmla="*/ 1042988 h 1200150"/>
                <a:gd name="connsiteX19" fmla="*/ 157162 w 1226344"/>
                <a:gd name="connsiteY19" fmla="*/ 1071563 h 1200150"/>
                <a:gd name="connsiteX20" fmla="*/ 204787 w 1226344"/>
                <a:gd name="connsiteY20" fmla="*/ 1083469 h 1200150"/>
                <a:gd name="connsiteX21" fmla="*/ 233362 w 1226344"/>
                <a:gd name="connsiteY21" fmla="*/ 1133475 h 1200150"/>
                <a:gd name="connsiteX22" fmla="*/ 247650 w 1226344"/>
                <a:gd name="connsiteY22" fmla="*/ 1133475 h 1200150"/>
                <a:gd name="connsiteX23" fmla="*/ 266700 w 1226344"/>
                <a:gd name="connsiteY23" fmla="*/ 1102519 h 1200150"/>
                <a:gd name="connsiteX24" fmla="*/ 257175 w 1226344"/>
                <a:gd name="connsiteY24" fmla="*/ 1081088 h 1200150"/>
                <a:gd name="connsiteX25" fmla="*/ 230981 w 1226344"/>
                <a:gd name="connsiteY25" fmla="*/ 1076325 h 1200150"/>
                <a:gd name="connsiteX26" fmla="*/ 230981 w 1226344"/>
                <a:gd name="connsiteY26" fmla="*/ 1052513 h 1200150"/>
                <a:gd name="connsiteX27" fmla="*/ 228600 w 1226344"/>
                <a:gd name="connsiteY27" fmla="*/ 1009650 h 1200150"/>
                <a:gd name="connsiteX28" fmla="*/ 216694 w 1226344"/>
                <a:gd name="connsiteY28" fmla="*/ 976313 h 1200150"/>
                <a:gd name="connsiteX29" fmla="*/ 223837 w 1226344"/>
                <a:gd name="connsiteY29" fmla="*/ 940594 h 1200150"/>
                <a:gd name="connsiteX30" fmla="*/ 266700 w 1226344"/>
                <a:gd name="connsiteY30" fmla="*/ 900113 h 1200150"/>
                <a:gd name="connsiteX31" fmla="*/ 278606 w 1226344"/>
                <a:gd name="connsiteY31" fmla="*/ 897732 h 1200150"/>
                <a:gd name="connsiteX32" fmla="*/ 290512 w 1226344"/>
                <a:gd name="connsiteY32" fmla="*/ 938213 h 1200150"/>
                <a:gd name="connsiteX33" fmla="*/ 302419 w 1226344"/>
                <a:gd name="connsiteY33" fmla="*/ 938213 h 1200150"/>
                <a:gd name="connsiteX34" fmla="*/ 321469 w 1226344"/>
                <a:gd name="connsiteY34" fmla="*/ 962025 h 1200150"/>
                <a:gd name="connsiteX35" fmla="*/ 338137 w 1226344"/>
                <a:gd name="connsiteY35" fmla="*/ 957263 h 1200150"/>
                <a:gd name="connsiteX36" fmla="*/ 359569 w 1226344"/>
                <a:gd name="connsiteY36" fmla="*/ 942975 h 1200150"/>
                <a:gd name="connsiteX37" fmla="*/ 483394 w 1226344"/>
                <a:gd name="connsiteY37" fmla="*/ 954882 h 1200150"/>
                <a:gd name="connsiteX38" fmla="*/ 516731 w 1226344"/>
                <a:gd name="connsiteY38" fmla="*/ 947738 h 1200150"/>
                <a:gd name="connsiteX39" fmla="*/ 545306 w 1226344"/>
                <a:gd name="connsiteY39" fmla="*/ 964407 h 1200150"/>
                <a:gd name="connsiteX40" fmla="*/ 561975 w 1226344"/>
                <a:gd name="connsiteY40" fmla="*/ 978694 h 1200150"/>
                <a:gd name="connsiteX41" fmla="*/ 604837 w 1226344"/>
                <a:gd name="connsiteY41" fmla="*/ 981075 h 1200150"/>
                <a:gd name="connsiteX42" fmla="*/ 640556 w 1226344"/>
                <a:gd name="connsiteY42" fmla="*/ 1021557 h 1200150"/>
                <a:gd name="connsiteX43" fmla="*/ 659606 w 1226344"/>
                <a:gd name="connsiteY43" fmla="*/ 1019175 h 1200150"/>
                <a:gd name="connsiteX44" fmla="*/ 702469 w 1226344"/>
                <a:gd name="connsiteY44" fmla="*/ 976313 h 1200150"/>
                <a:gd name="connsiteX45" fmla="*/ 735806 w 1226344"/>
                <a:gd name="connsiteY45" fmla="*/ 1000125 h 1200150"/>
                <a:gd name="connsiteX46" fmla="*/ 752475 w 1226344"/>
                <a:gd name="connsiteY46" fmla="*/ 1023938 h 1200150"/>
                <a:gd name="connsiteX47" fmla="*/ 785812 w 1226344"/>
                <a:gd name="connsiteY47" fmla="*/ 1021557 h 1200150"/>
                <a:gd name="connsiteX48" fmla="*/ 819150 w 1226344"/>
                <a:gd name="connsiteY48" fmla="*/ 1042988 h 1200150"/>
                <a:gd name="connsiteX49" fmla="*/ 823912 w 1226344"/>
                <a:gd name="connsiteY49" fmla="*/ 1064419 h 1200150"/>
                <a:gd name="connsiteX50" fmla="*/ 842962 w 1226344"/>
                <a:gd name="connsiteY50" fmla="*/ 1066800 h 1200150"/>
                <a:gd name="connsiteX51" fmla="*/ 904875 w 1226344"/>
                <a:gd name="connsiteY51" fmla="*/ 1073944 h 1200150"/>
                <a:gd name="connsiteX52" fmla="*/ 933450 w 1226344"/>
                <a:gd name="connsiteY52" fmla="*/ 1112044 h 1200150"/>
                <a:gd name="connsiteX53" fmla="*/ 938212 w 1226344"/>
                <a:gd name="connsiteY53" fmla="*/ 1140619 h 1200150"/>
                <a:gd name="connsiteX54" fmla="*/ 940594 w 1226344"/>
                <a:gd name="connsiteY54" fmla="*/ 1152525 h 1200150"/>
                <a:gd name="connsiteX55" fmla="*/ 954882 w 1226344"/>
                <a:gd name="connsiteY55" fmla="*/ 1200150 h 1200150"/>
                <a:gd name="connsiteX56" fmla="*/ 1002506 w 1226344"/>
                <a:gd name="connsiteY56" fmla="*/ 1173956 h 1200150"/>
                <a:gd name="connsiteX57" fmla="*/ 1042987 w 1226344"/>
                <a:gd name="connsiteY57" fmla="*/ 1150144 h 1200150"/>
                <a:gd name="connsiteX58" fmla="*/ 1071562 w 1226344"/>
                <a:gd name="connsiteY58" fmla="*/ 1069182 h 1200150"/>
                <a:gd name="connsiteX59" fmla="*/ 1062037 w 1226344"/>
                <a:gd name="connsiteY59" fmla="*/ 1045369 h 1200150"/>
                <a:gd name="connsiteX60" fmla="*/ 1059656 w 1226344"/>
                <a:gd name="connsiteY60" fmla="*/ 1012032 h 1200150"/>
                <a:gd name="connsiteX61" fmla="*/ 1066800 w 1226344"/>
                <a:gd name="connsiteY61" fmla="*/ 992982 h 1200150"/>
                <a:gd name="connsiteX62" fmla="*/ 1083469 w 1226344"/>
                <a:gd name="connsiteY62" fmla="*/ 973932 h 1200150"/>
                <a:gd name="connsiteX63" fmla="*/ 1107281 w 1226344"/>
                <a:gd name="connsiteY63" fmla="*/ 964407 h 1200150"/>
                <a:gd name="connsiteX64" fmla="*/ 1133475 w 1226344"/>
                <a:gd name="connsiteY64" fmla="*/ 921544 h 1200150"/>
                <a:gd name="connsiteX65" fmla="*/ 1150144 w 1226344"/>
                <a:gd name="connsiteY65" fmla="*/ 921544 h 1200150"/>
                <a:gd name="connsiteX66" fmla="*/ 1197769 w 1226344"/>
                <a:gd name="connsiteY66" fmla="*/ 940594 h 1200150"/>
                <a:gd name="connsiteX67" fmla="*/ 1226344 w 1226344"/>
                <a:gd name="connsiteY67" fmla="*/ 904875 h 1200150"/>
                <a:gd name="connsiteX68" fmla="*/ 1195387 w 1226344"/>
                <a:gd name="connsiteY68" fmla="*/ 852488 h 1200150"/>
                <a:gd name="connsiteX69" fmla="*/ 1159669 w 1226344"/>
                <a:gd name="connsiteY69" fmla="*/ 804863 h 1200150"/>
                <a:gd name="connsiteX70" fmla="*/ 1162050 w 1226344"/>
                <a:gd name="connsiteY70" fmla="*/ 762000 h 1200150"/>
                <a:gd name="connsiteX71" fmla="*/ 1216819 w 1226344"/>
                <a:gd name="connsiteY71" fmla="*/ 702469 h 1200150"/>
                <a:gd name="connsiteX72" fmla="*/ 1219200 w 1226344"/>
                <a:gd name="connsiteY72" fmla="*/ 676275 h 1200150"/>
                <a:gd name="connsiteX73" fmla="*/ 1181100 w 1226344"/>
                <a:gd name="connsiteY73" fmla="*/ 661988 h 1200150"/>
                <a:gd name="connsiteX74" fmla="*/ 1150144 w 1226344"/>
                <a:gd name="connsiteY74" fmla="*/ 635794 h 1200150"/>
                <a:gd name="connsiteX75" fmla="*/ 1133475 w 1226344"/>
                <a:gd name="connsiteY75" fmla="*/ 602457 h 1200150"/>
                <a:gd name="connsiteX76" fmla="*/ 1083469 w 1226344"/>
                <a:gd name="connsiteY76" fmla="*/ 604838 h 1200150"/>
                <a:gd name="connsiteX77" fmla="*/ 1033462 w 1226344"/>
                <a:gd name="connsiteY77" fmla="*/ 604838 h 1200150"/>
                <a:gd name="connsiteX78" fmla="*/ 1014412 w 1226344"/>
                <a:gd name="connsiteY78" fmla="*/ 583407 h 1200150"/>
                <a:gd name="connsiteX79" fmla="*/ 950119 w 1226344"/>
                <a:gd name="connsiteY79" fmla="*/ 578644 h 1200150"/>
                <a:gd name="connsiteX80" fmla="*/ 933450 w 1226344"/>
                <a:gd name="connsiteY80" fmla="*/ 561975 h 1200150"/>
                <a:gd name="connsiteX81" fmla="*/ 933450 w 1226344"/>
                <a:gd name="connsiteY81" fmla="*/ 547688 h 1200150"/>
                <a:gd name="connsiteX82" fmla="*/ 859631 w 1226344"/>
                <a:gd name="connsiteY82" fmla="*/ 511969 h 1200150"/>
                <a:gd name="connsiteX83" fmla="*/ 850106 w 1226344"/>
                <a:gd name="connsiteY83" fmla="*/ 492919 h 1200150"/>
                <a:gd name="connsiteX84" fmla="*/ 828675 w 1226344"/>
                <a:gd name="connsiteY84" fmla="*/ 476250 h 1200150"/>
                <a:gd name="connsiteX85" fmla="*/ 795337 w 1226344"/>
                <a:gd name="connsiteY85" fmla="*/ 478632 h 1200150"/>
                <a:gd name="connsiteX86" fmla="*/ 773906 w 1226344"/>
                <a:gd name="connsiteY86" fmla="*/ 471488 h 1200150"/>
                <a:gd name="connsiteX87" fmla="*/ 728662 w 1226344"/>
                <a:gd name="connsiteY87" fmla="*/ 428625 h 1200150"/>
                <a:gd name="connsiteX88" fmla="*/ 700087 w 1226344"/>
                <a:gd name="connsiteY88" fmla="*/ 421482 h 1200150"/>
                <a:gd name="connsiteX89" fmla="*/ 666750 w 1226344"/>
                <a:gd name="connsiteY89" fmla="*/ 383382 h 1200150"/>
                <a:gd name="connsiteX90" fmla="*/ 626269 w 1226344"/>
                <a:gd name="connsiteY90" fmla="*/ 369094 h 1200150"/>
                <a:gd name="connsiteX91" fmla="*/ 585787 w 1226344"/>
                <a:gd name="connsiteY91" fmla="*/ 335757 h 1200150"/>
                <a:gd name="connsiteX92" fmla="*/ 564356 w 1226344"/>
                <a:gd name="connsiteY92" fmla="*/ 311944 h 1200150"/>
                <a:gd name="connsiteX93" fmla="*/ 550069 w 1226344"/>
                <a:gd name="connsiteY93" fmla="*/ 330994 h 1200150"/>
                <a:gd name="connsiteX94" fmla="*/ 478631 w 1226344"/>
                <a:gd name="connsiteY94" fmla="*/ 328613 h 1200150"/>
                <a:gd name="connsiteX95" fmla="*/ 330994 w 1226344"/>
                <a:gd name="connsiteY95" fmla="*/ 230982 h 1200150"/>
                <a:gd name="connsiteX96" fmla="*/ 259556 w 1226344"/>
                <a:gd name="connsiteY96" fmla="*/ 254794 h 1200150"/>
                <a:gd name="connsiteX97" fmla="*/ 221456 w 1226344"/>
                <a:gd name="connsiteY97" fmla="*/ 245269 h 1200150"/>
                <a:gd name="connsiteX98" fmla="*/ 238125 w 1226344"/>
                <a:gd name="connsiteY98" fmla="*/ 150019 h 1200150"/>
                <a:gd name="connsiteX99" fmla="*/ 228600 w 1226344"/>
                <a:gd name="connsiteY99" fmla="*/ 95250 h 1200150"/>
                <a:gd name="connsiteX100" fmla="*/ 197644 w 1226344"/>
                <a:gd name="connsiteY100" fmla="*/ 78582 h 1200150"/>
                <a:gd name="connsiteX101" fmla="*/ 145256 w 1226344"/>
                <a:gd name="connsiteY101" fmla="*/ 0 h 1200150"/>
                <a:gd name="connsiteX102" fmla="*/ 88106 w 1226344"/>
                <a:gd name="connsiteY102" fmla="*/ 30957 h 1200150"/>
                <a:gd name="connsiteX103" fmla="*/ 83344 w 1226344"/>
                <a:gd name="connsiteY103" fmla="*/ 54769 h 1200150"/>
                <a:gd name="connsiteX104" fmla="*/ 90487 w 1226344"/>
                <a:gd name="connsiteY104" fmla="*/ 100013 h 1200150"/>
                <a:gd name="connsiteX105" fmla="*/ 71437 w 1226344"/>
                <a:gd name="connsiteY105" fmla="*/ 135732 h 1200150"/>
                <a:gd name="connsiteX106" fmla="*/ 66675 w 1226344"/>
                <a:gd name="connsiteY106" fmla="*/ 145257 h 1200150"/>
                <a:gd name="connsiteX107" fmla="*/ 97631 w 1226344"/>
                <a:gd name="connsiteY107" fmla="*/ 185738 h 1200150"/>
                <a:gd name="connsiteX108" fmla="*/ 83344 w 1226344"/>
                <a:gd name="connsiteY108" fmla="*/ 223838 h 1200150"/>
                <a:gd name="connsiteX109" fmla="*/ 59531 w 1226344"/>
                <a:gd name="connsiteY109" fmla="*/ 240507 h 1200150"/>
                <a:gd name="connsiteX110" fmla="*/ 69056 w 1226344"/>
                <a:gd name="connsiteY110" fmla="*/ 309563 h 1200150"/>
                <a:gd name="connsiteX111" fmla="*/ 92869 w 1226344"/>
                <a:gd name="connsiteY111" fmla="*/ 321469 h 1200150"/>
                <a:gd name="connsiteX112" fmla="*/ 85725 w 1226344"/>
                <a:gd name="connsiteY112" fmla="*/ 369094 h 1200150"/>
                <a:gd name="connsiteX113" fmla="*/ 42862 w 1226344"/>
                <a:gd name="connsiteY113" fmla="*/ 421482 h 1200150"/>
                <a:gd name="connsiteX114" fmla="*/ 0 w 1226344"/>
                <a:gd name="connsiteY114" fmla="*/ 452438 h 1200150"/>
                <a:gd name="connsiteX0" fmla="*/ 0 w 1226344"/>
                <a:gd name="connsiteY0" fmla="*/ 452438 h 1202531"/>
                <a:gd name="connsiteX1" fmla="*/ 28575 w 1226344"/>
                <a:gd name="connsiteY1" fmla="*/ 526257 h 1202531"/>
                <a:gd name="connsiteX2" fmla="*/ 73819 w 1226344"/>
                <a:gd name="connsiteY2" fmla="*/ 564357 h 1202531"/>
                <a:gd name="connsiteX3" fmla="*/ 109537 w 1226344"/>
                <a:gd name="connsiteY3" fmla="*/ 657225 h 1202531"/>
                <a:gd name="connsiteX4" fmla="*/ 128587 w 1226344"/>
                <a:gd name="connsiteY4" fmla="*/ 685800 h 1202531"/>
                <a:gd name="connsiteX5" fmla="*/ 142875 w 1226344"/>
                <a:gd name="connsiteY5" fmla="*/ 666750 h 1202531"/>
                <a:gd name="connsiteX6" fmla="*/ 142875 w 1226344"/>
                <a:gd name="connsiteY6" fmla="*/ 633413 h 1202531"/>
                <a:gd name="connsiteX7" fmla="*/ 180975 w 1226344"/>
                <a:gd name="connsiteY7" fmla="*/ 666750 h 1202531"/>
                <a:gd name="connsiteX8" fmla="*/ 240506 w 1226344"/>
                <a:gd name="connsiteY8" fmla="*/ 673894 h 1202531"/>
                <a:gd name="connsiteX9" fmla="*/ 271462 w 1226344"/>
                <a:gd name="connsiteY9" fmla="*/ 702469 h 1202531"/>
                <a:gd name="connsiteX10" fmla="*/ 326231 w 1226344"/>
                <a:gd name="connsiteY10" fmla="*/ 721519 h 1202531"/>
                <a:gd name="connsiteX11" fmla="*/ 338137 w 1226344"/>
                <a:gd name="connsiteY11" fmla="*/ 762000 h 1202531"/>
                <a:gd name="connsiteX12" fmla="*/ 321469 w 1226344"/>
                <a:gd name="connsiteY12" fmla="*/ 781050 h 1202531"/>
                <a:gd name="connsiteX13" fmla="*/ 311944 w 1226344"/>
                <a:gd name="connsiteY13" fmla="*/ 807244 h 1202531"/>
                <a:gd name="connsiteX14" fmla="*/ 266700 w 1226344"/>
                <a:gd name="connsiteY14" fmla="*/ 826294 h 1202531"/>
                <a:gd name="connsiteX15" fmla="*/ 219075 w 1226344"/>
                <a:gd name="connsiteY15" fmla="*/ 900113 h 1202531"/>
                <a:gd name="connsiteX16" fmla="*/ 204787 w 1226344"/>
                <a:gd name="connsiteY16" fmla="*/ 909638 h 1202531"/>
                <a:gd name="connsiteX17" fmla="*/ 192881 w 1226344"/>
                <a:gd name="connsiteY17" fmla="*/ 973932 h 1202531"/>
                <a:gd name="connsiteX18" fmla="*/ 152400 w 1226344"/>
                <a:gd name="connsiteY18" fmla="*/ 1042988 h 1202531"/>
                <a:gd name="connsiteX19" fmla="*/ 157162 w 1226344"/>
                <a:gd name="connsiteY19" fmla="*/ 1071563 h 1202531"/>
                <a:gd name="connsiteX20" fmla="*/ 204787 w 1226344"/>
                <a:gd name="connsiteY20" fmla="*/ 1083469 h 1202531"/>
                <a:gd name="connsiteX21" fmla="*/ 233362 w 1226344"/>
                <a:gd name="connsiteY21" fmla="*/ 1133475 h 1202531"/>
                <a:gd name="connsiteX22" fmla="*/ 247650 w 1226344"/>
                <a:gd name="connsiteY22" fmla="*/ 1133475 h 1202531"/>
                <a:gd name="connsiteX23" fmla="*/ 266700 w 1226344"/>
                <a:gd name="connsiteY23" fmla="*/ 1102519 h 1202531"/>
                <a:gd name="connsiteX24" fmla="*/ 257175 w 1226344"/>
                <a:gd name="connsiteY24" fmla="*/ 1081088 h 1202531"/>
                <a:gd name="connsiteX25" fmla="*/ 230981 w 1226344"/>
                <a:gd name="connsiteY25" fmla="*/ 1076325 h 1202531"/>
                <a:gd name="connsiteX26" fmla="*/ 230981 w 1226344"/>
                <a:gd name="connsiteY26" fmla="*/ 1052513 h 1202531"/>
                <a:gd name="connsiteX27" fmla="*/ 228600 w 1226344"/>
                <a:gd name="connsiteY27" fmla="*/ 1009650 h 1202531"/>
                <a:gd name="connsiteX28" fmla="*/ 216694 w 1226344"/>
                <a:gd name="connsiteY28" fmla="*/ 976313 h 1202531"/>
                <a:gd name="connsiteX29" fmla="*/ 223837 w 1226344"/>
                <a:gd name="connsiteY29" fmla="*/ 940594 h 1202531"/>
                <a:gd name="connsiteX30" fmla="*/ 266700 w 1226344"/>
                <a:gd name="connsiteY30" fmla="*/ 900113 h 1202531"/>
                <a:gd name="connsiteX31" fmla="*/ 278606 w 1226344"/>
                <a:gd name="connsiteY31" fmla="*/ 897732 h 1202531"/>
                <a:gd name="connsiteX32" fmla="*/ 290512 w 1226344"/>
                <a:gd name="connsiteY32" fmla="*/ 938213 h 1202531"/>
                <a:gd name="connsiteX33" fmla="*/ 302419 w 1226344"/>
                <a:gd name="connsiteY33" fmla="*/ 938213 h 1202531"/>
                <a:gd name="connsiteX34" fmla="*/ 321469 w 1226344"/>
                <a:gd name="connsiteY34" fmla="*/ 962025 h 1202531"/>
                <a:gd name="connsiteX35" fmla="*/ 338137 w 1226344"/>
                <a:gd name="connsiteY35" fmla="*/ 957263 h 1202531"/>
                <a:gd name="connsiteX36" fmla="*/ 359569 w 1226344"/>
                <a:gd name="connsiteY36" fmla="*/ 942975 h 1202531"/>
                <a:gd name="connsiteX37" fmla="*/ 483394 w 1226344"/>
                <a:gd name="connsiteY37" fmla="*/ 954882 h 1202531"/>
                <a:gd name="connsiteX38" fmla="*/ 516731 w 1226344"/>
                <a:gd name="connsiteY38" fmla="*/ 947738 h 1202531"/>
                <a:gd name="connsiteX39" fmla="*/ 545306 w 1226344"/>
                <a:gd name="connsiteY39" fmla="*/ 964407 h 1202531"/>
                <a:gd name="connsiteX40" fmla="*/ 561975 w 1226344"/>
                <a:gd name="connsiteY40" fmla="*/ 978694 h 1202531"/>
                <a:gd name="connsiteX41" fmla="*/ 604837 w 1226344"/>
                <a:gd name="connsiteY41" fmla="*/ 981075 h 1202531"/>
                <a:gd name="connsiteX42" fmla="*/ 640556 w 1226344"/>
                <a:gd name="connsiteY42" fmla="*/ 1021557 h 1202531"/>
                <a:gd name="connsiteX43" fmla="*/ 659606 w 1226344"/>
                <a:gd name="connsiteY43" fmla="*/ 1019175 h 1202531"/>
                <a:gd name="connsiteX44" fmla="*/ 702469 w 1226344"/>
                <a:gd name="connsiteY44" fmla="*/ 976313 h 1202531"/>
                <a:gd name="connsiteX45" fmla="*/ 735806 w 1226344"/>
                <a:gd name="connsiteY45" fmla="*/ 1000125 h 1202531"/>
                <a:gd name="connsiteX46" fmla="*/ 752475 w 1226344"/>
                <a:gd name="connsiteY46" fmla="*/ 1023938 h 1202531"/>
                <a:gd name="connsiteX47" fmla="*/ 785812 w 1226344"/>
                <a:gd name="connsiteY47" fmla="*/ 1021557 h 1202531"/>
                <a:gd name="connsiteX48" fmla="*/ 819150 w 1226344"/>
                <a:gd name="connsiteY48" fmla="*/ 1042988 h 1202531"/>
                <a:gd name="connsiteX49" fmla="*/ 823912 w 1226344"/>
                <a:gd name="connsiteY49" fmla="*/ 1064419 h 1202531"/>
                <a:gd name="connsiteX50" fmla="*/ 842962 w 1226344"/>
                <a:gd name="connsiteY50" fmla="*/ 1066800 h 1202531"/>
                <a:gd name="connsiteX51" fmla="*/ 904875 w 1226344"/>
                <a:gd name="connsiteY51" fmla="*/ 1073944 h 1202531"/>
                <a:gd name="connsiteX52" fmla="*/ 933450 w 1226344"/>
                <a:gd name="connsiteY52" fmla="*/ 1112044 h 1202531"/>
                <a:gd name="connsiteX53" fmla="*/ 938212 w 1226344"/>
                <a:gd name="connsiteY53" fmla="*/ 1140619 h 1202531"/>
                <a:gd name="connsiteX54" fmla="*/ 940594 w 1226344"/>
                <a:gd name="connsiteY54" fmla="*/ 1152525 h 1202531"/>
                <a:gd name="connsiteX55" fmla="*/ 954882 w 1226344"/>
                <a:gd name="connsiteY55" fmla="*/ 1200150 h 1202531"/>
                <a:gd name="connsiteX56" fmla="*/ 990599 w 1226344"/>
                <a:gd name="connsiteY56" fmla="*/ 1202531 h 1202531"/>
                <a:gd name="connsiteX57" fmla="*/ 1042987 w 1226344"/>
                <a:gd name="connsiteY57" fmla="*/ 1150144 h 1202531"/>
                <a:gd name="connsiteX58" fmla="*/ 1071562 w 1226344"/>
                <a:gd name="connsiteY58" fmla="*/ 1069182 h 1202531"/>
                <a:gd name="connsiteX59" fmla="*/ 1062037 w 1226344"/>
                <a:gd name="connsiteY59" fmla="*/ 1045369 h 1202531"/>
                <a:gd name="connsiteX60" fmla="*/ 1059656 w 1226344"/>
                <a:gd name="connsiteY60" fmla="*/ 1012032 h 1202531"/>
                <a:gd name="connsiteX61" fmla="*/ 1066800 w 1226344"/>
                <a:gd name="connsiteY61" fmla="*/ 992982 h 1202531"/>
                <a:gd name="connsiteX62" fmla="*/ 1083469 w 1226344"/>
                <a:gd name="connsiteY62" fmla="*/ 973932 h 1202531"/>
                <a:gd name="connsiteX63" fmla="*/ 1107281 w 1226344"/>
                <a:gd name="connsiteY63" fmla="*/ 964407 h 1202531"/>
                <a:gd name="connsiteX64" fmla="*/ 1133475 w 1226344"/>
                <a:gd name="connsiteY64" fmla="*/ 921544 h 1202531"/>
                <a:gd name="connsiteX65" fmla="*/ 1150144 w 1226344"/>
                <a:gd name="connsiteY65" fmla="*/ 921544 h 1202531"/>
                <a:gd name="connsiteX66" fmla="*/ 1197769 w 1226344"/>
                <a:gd name="connsiteY66" fmla="*/ 940594 h 1202531"/>
                <a:gd name="connsiteX67" fmla="*/ 1226344 w 1226344"/>
                <a:gd name="connsiteY67" fmla="*/ 904875 h 1202531"/>
                <a:gd name="connsiteX68" fmla="*/ 1195387 w 1226344"/>
                <a:gd name="connsiteY68" fmla="*/ 852488 h 1202531"/>
                <a:gd name="connsiteX69" fmla="*/ 1159669 w 1226344"/>
                <a:gd name="connsiteY69" fmla="*/ 804863 h 1202531"/>
                <a:gd name="connsiteX70" fmla="*/ 1162050 w 1226344"/>
                <a:gd name="connsiteY70" fmla="*/ 762000 h 1202531"/>
                <a:gd name="connsiteX71" fmla="*/ 1216819 w 1226344"/>
                <a:gd name="connsiteY71" fmla="*/ 702469 h 1202531"/>
                <a:gd name="connsiteX72" fmla="*/ 1219200 w 1226344"/>
                <a:gd name="connsiteY72" fmla="*/ 676275 h 1202531"/>
                <a:gd name="connsiteX73" fmla="*/ 1181100 w 1226344"/>
                <a:gd name="connsiteY73" fmla="*/ 661988 h 1202531"/>
                <a:gd name="connsiteX74" fmla="*/ 1150144 w 1226344"/>
                <a:gd name="connsiteY74" fmla="*/ 635794 h 1202531"/>
                <a:gd name="connsiteX75" fmla="*/ 1133475 w 1226344"/>
                <a:gd name="connsiteY75" fmla="*/ 602457 h 1202531"/>
                <a:gd name="connsiteX76" fmla="*/ 1083469 w 1226344"/>
                <a:gd name="connsiteY76" fmla="*/ 604838 h 1202531"/>
                <a:gd name="connsiteX77" fmla="*/ 1033462 w 1226344"/>
                <a:gd name="connsiteY77" fmla="*/ 604838 h 1202531"/>
                <a:gd name="connsiteX78" fmla="*/ 1014412 w 1226344"/>
                <a:gd name="connsiteY78" fmla="*/ 583407 h 1202531"/>
                <a:gd name="connsiteX79" fmla="*/ 950119 w 1226344"/>
                <a:gd name="connsiteY79" fmla="*/ 578644 h 1202531"/>
                <a:gd name="connsiteX80" fmla="*/ 933450 w 1226344"/>
                <a:gd name="connsiteY80" fmla="*/ 561975 h 1202531"/>
                <a:gd name="connsiteX81" fmla="*/ 933450 w 1226344"/>
                <a:gd name="connsiteY81" fmla="*/ 547688 h 1202531"/>
                <a:gd name="connsiteX82" fmla="*/ 859631 w 1226344"/>
                <a:gd name="connsiteY82" fmla="*/ 511969 h 1202531"/>
                <a:gd name="connsiteX83" fmla="*/ 850106 w 1226344"/>
                <a:gd name="connsiteY83" fmla="*/ 492919 h 1202531"/>
                <a:gd name="connsiteX84" fmla="*/ 828675 w 1226344"/>
                <a:gd name="connsiteY84" fmla="*/ 476250 h 1202531"/>
                <a:gd name="connsiteX85" fmla="*/ 795337 w 1226344"/>
                <a:gd name="connsiteY85" fmla="*/ 478632 h 1202531"/>
                <a:gd name="connsiteX86" fmla="*/ 773906 w 1226344"/>
                <a:gd name="connsiteY86" fmla="*/ 471488 h 1202531"/>
                <a:gd name="connsiteX87" fmla="*/ 728662 w 1226344"/>
                <a:gd name="connsiteY87" fmla="*/ 428625 h 1202531"/>
                <a:gd name="connsiteX88" fmla="*/ 700087 w 1226344"/>
                <a:gd name="connsiteY88" fmla="*/ 421482 h 1202531"/>
                <a:gd name="connsiteX89" fmla="*/ 666750 w 1226344"/>
                <a:gd name="connsiteY89" fmla="*/ 383382 h 1202531"/>
                <a:gd name="connsiteX90" fmla="*/ 626269 w 1226344"/>
                <a:gd name="connsiteY90" fmla="*/ 369094 h 1202531"/>
                <a:gd name="connsiteX91" fmla="*/ 585787 w 1226344"/>
                <a:gd name="connsiteY91" fmla="*/ 335757 h 1202531"/>
                <a:gd name="connsiteX92" fmla="*/ 564356 w 1226344"/>
                <a:gd name="connsiteY92" fmla="*/ 311944 h 1202531"/>
                <a:gd name="connsiteX93" fmla="*/ 550069 w 1226344"/>
                <a:gd name="connsiteY93" fmla="*/ 330994 h 1202531"/>
                <a:gd name="connsiteX94" fmla="*/ 478631 w 1226344"/>
                <a:gd name="connsiteY94" fmla="*/ 328613 h 1202531"/>
                <a:gd name="connsiteX95" fmla="*/ 330994 w 1226344"/>
                <a:gd name="connsiteY95" fmla="*/ 230982 h 1202531"/>
                <a:gd name="connsiteX96" fmla="*/ 259556 w 1226344"/>
                <a:gd name="connsiteY96" fmla="*/ 254794 h 1202531"/>
                <a:gd name="connsiteX97" fmla="*/ 221456 w 1226344"/>
                <a:gd name="connsiteY97" fmla="*/ 245269 h 1202531"/>
                <a:gd name="connsiteX98" fmla="*/ 238125 w 1226344"/>
                <a:gd name="connsiteY98" fmla="*/ 150019 h 1202531"/>
                <a:gd name="connsiteX99" fmla="*/ 228600 w 1226344"/>
                <a:gd name="connsiteY99" fmla="*/ 95250 h 1202531"/>
                <a:gd name="connsiteX100" fmla="*/ 197644 w 1226344"/>
                <a:gd name="connsiteY100" fmla="*/ 78582 h 1202531"/>
                <a:gd name="connsiteX101" fmla="*/ 145256 w 1226344"/>
                <a:gd name="connsiteY101" fmla="*/ 0 h 1202531"/>
                <a:gd name="connsiteX102" fmla="*/ 88106 w 1226344"/>
                <a:gd name="connsiteY102" fmla="*/ 30957 h 1202531"/>
                <a:gd name="connsiteX103" fmla="*/ 83344 w 1226344"/>
                <a:gd name="connsiteY103" fmla="*/ 54769 h 1202531"/>
                <a:gd name="connsiteX104" fmla="*/ 90487 w 1226344"/>
                <a:gd name="connsiteY104" fmla="*/ 100013 h 1202531"/>
                <a:gd name="connsiteX105" fmla="*/ 71437 w 1226344"/>
                <a:gd name="connsiteY105" fmla="*/ 135732 h 1202531"/>
                <a:gd name="connsiteX106" fmla="*/ 66675 w 1226344"/>
                <a:gd name="connsiteY106" fmla="*/ 145257 h 1202531"/>
                <a:gd name="connsiteX107" fmla="*/ 97631 w 1226344"/>
                <a:gd name="connsiteY107" fmla="*/ 185738 h 1202531"/>
                <a:gd name="connsiteX108" fmla="*/ 83344 w 1226344"/>
                <a:gd name="connsiteY108" fmla="*/ 223838 h 1202531"/>
                <a:gd name="connsiteX109" fmla="*/ 59531 w 1226344"/>
                <a:gd name="connsiteY109" fmla="*/ 240507 h 1202531"/>
                <a:gd name="connsiteX110" fmla="*/ 69056 w 1226344"/>
                <a:gd name="connsiteY110" fmla="*/ 309563 h 1202531"/>
                <a:gd name="connsiteX111" fmla="*/ 92869 w 1226344"/>
                <a:gd name="connsiteY111" fmla="*/ 321469 h 1202531"/>
                <a:gd name="connsiteX112" fmla="*/ 85725 w 1226344"/>
                <a:gd name="connsiteY112" fmla="*/ 369094 h 1202531"/>
                <a:gd name="connsiteX113" fmla="*/ 42862 w 1226344"/>
                <a:gd name="connsiteY113" fmla="*/ 421482 h 1202531"/>
                <a:gd name="connsiteX114" fmla="*/ 0 w 1226344"/>
                <a:gd name="connsiteY114" fmla="*/ 452438 h 120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226344" h="1202531">
                  <a:moveTo>
                    <a:pt x="0" y="452438"/>
                  </a:moveTo>
                  <a:lnTo>
                    <a:pt x="28575" y="526257"/>
                  </a:lnTo>
                  <a:lnTo>
                    <a:pt x="73819" y="564357"/>
                  </a:lnTo>
                  <a:lnTo>
                    <a:pt x="109537" y="657225"/>
                  </a:lnTo>
                  <a:lnTo>
                    <a:pt x="128587" y="685800"/>
                  </a:lnTo>
                  <a:lnTo>
                    <a:pt x="142875" y="666750"/>
                  </a:lnTo>
                  <a:lnTo>
                    <a:pt x="142875" y="633413"/>
                  </a:lnTo>
                  <a:lnTo>
                    <a:pt x="180975" y="666750"/>
                  </a:lnTo>
                  <a:lnTo>
                    <a:pt x="240506" y="673894"/>
                  </a:lnTo>
                  <a:lnTo>
                    <a:pt x="271462" y="702469"/>
                  </a:lnTo>
                  <a:lnTo>
                    <a:pt x="326231" y="721519"/>
                  </a:lnTo>
                  <a:lnTo>
                    <a:pt x="338137" y="762000"/>
                  </a:lnTo>
                  <a:lnTo>
                    <a:pt x="321469" y="781050"/>
                  </a:lnTo>
                  <a:lnTo>
                    <a:pt x="311944" y="807244"/>
                  </a:lnTo>
                  <a:lnTo>
                    <a:pt x="266700" y="826294"/>
                  </a:lnTo>
                  <a:lnTo>
                    <a:pt x="219075" y="900113"/>
                  </a:lnTo>
                  <a:lnTo>
                    <a:pt x="204787" y="909638"/>
                  </a:lnTo>
                  <a:lnTo>
                    <a:pt x="192881" y="973932"/>
                  </a:lnTo>
                  <a:lnTo>
                    <a:pt x="152400" y="1042988"/>
                  </a:lnTo>
                  <a:lnTo>
                    <a:pt x="157162" y="1071563"/>
                  </a:lnTo>
                  <a:lnTo>
                    <a:pt x="204787" y="1083469"/>
                  </a:lnTo>
                  <a:lnTo>
                    <a:pt x="233362" y="1133475"/>
                  </a:lnTo>
                  <a:lnTo>
                    <a:pt x="247650" y="1133475"/>
                  </a:lnTo>
                  <a:lnTo>
                    <a:pt x="266700" y="1102519"/>
                  </a:lnTo>
                  <a:lnTo>
                    <a:pt x="257175" y="1081088"/>
                  </a:lnTo>
                  <a:lnTo>
                    <a:pt x="230981" y="1076325"/>
                  </a:lnTo>
                  <a:lnTo>
                    <a:pt x="230981" y="1052513"/>
                  </a:lnTo>
                  <a:lnTo>
                    <a:pt x="228600" y="1009650"/>
                  </a:lnTo>
                  <a:lnTo>
                    <a:pt x="216694" y="976313"/>
                  </a:lnTo>
                  <a:lnTo>
                    <a:pt x="223837" y="940594"/>
                  </a:lnTo>
                  <a:lnTo>
                    <a:pt x="266700" y="900113"/>
                  </a:lnTo>
                  <a:lnTo>
                    <a:pt x="278606" y="897732"/>
                  </a:lnTo>
                  <a:lnTo>
                    <a:pt x="290512" y="938213"/>
                  </a:lnTo>
                  <a:lnTo>
                    <a:pt x="302419" y="938213"/>
                  </a:lnTo>
                  <a:lnTo>
                    <a:pt x="321469" y="962025"/>
                  </a:lnTo>
                  <a:lnTo>
                    <a:pt x="338137" y="957263"/>
                  </a:lnTo>
                  <a:lnTo>
                    <a:pt x="359569" y="942975"/>
                  </a:lnTo>
                  <a:lnTo>
                    <a:pt x="483394" y="954882"/>
                  </a:lnTo>
                  <a:lnTo>
                    <a:pt x="516731" y="947738"/>
                  </a:lnTo>
                  <a:lnTo>
                    <a:pt x="545306" y="964407"/>
                  </a:lnTo>
                  <a:lnTo>
                    <a:pt x="561975" y="978694"/>
                  </a:lnTo>
                  <a:lnTo>
                    <a:pt x="604837" y="981075"/>
                  </a:lnTo>
                  <a:lnTo>
                    <a:pt x="640556" y="1021557"/>
                  </a:lnTo>
                  <a:lnTo>
                    <a:pt x="659606" y="1019175"/>
                  </a:lnTo>
                  <a:lnTo>
                    <a:pt x="702469" y="976313"/>
                  </a:lnTo>
                  <a:lnTo>
                    <a:pt x="735806" y="1000125"/>
                  </a:lnTo>
                  <a:lnTo>
                    <a:pt x="752475" y="1023938"/>
                  </a:lnTo>
                  <a:lnTo>
                    <a:pt x="785812" y="1021557"/>
                  </a:lnTo>
                  <a:lnTo>
                    <a:pt x="819150" y="1042988"/>
                  </a:lnTo>
                  <a:lnTo>
                    <a:pt x="823912" y="1064419"/>
                  </a:lnTo>
                  <a:lnTo>
                    <a:pt x="842962" y="1066800"/>
                  </a:lnTo>
                  <a:lnTo>
                    <a:pt x="904875" y="1073944"/>
                  </a:lnTo>
                  <a:lnTo>
                    <a:pt x="933450" y="1112044"/>
                  </a:lnTo>
                  <a:lnTo>
                    <a:pt x="938212" y="1140619"/>
                  </a:lnTo>
                  <a:lnTo>
                    <a:pt x="940594" y="1152525"/>
                  </a:lnTo>
                  <a:lnTo>
                    <a:pt x="954882" y="1200150"/>
                  </a:lnTo>
                  <a:lnTo>
                    <a:pt x="990599" y="1202531"/>
                  </a:lnTo>
                  <a:lnTo>
                    <a:pt x="1042987" y="1150144"/>
                  </a:lnTo>
                  <a:lnTo>
                    <a:pt x="1071562" y="1069182"/>
                  </a:lnTo>
                  <a:lnTo>
                    <a:pt x="1062037" y="1045369"/>
                  </a:lnTo>
                  <a:lnTo>
                    <a:pt x="1059656" y="1012032"/>
                  </a:lnTo>
                  <a:lnTo>
                    <a:pt x="1066800" y="992982"/>
                  </a:lnTo>
                  <a:lnTo>
                    <a:pt x="1083469" y="973932"/>
                  </a:lnTo>
                  <a:lnTo>
                    <a:pt x="1107281" y="964407"/>
                  </a:lnTo>
                  <a:lnTo>
                    <a:pt x="1133475" y="921544"/>
                  </a:lnTo>
                  <a:lnTo>
                    <a:pt x="1150144" y="921544"/>
                  </a:lnTo>
                  <a:lnTo>
                    <a:pt x="1197769" y="940594"/>
                  </a:lnTo>
                  <a:lnTo>
                    <a:pt x="1226344" y="904875"/>
                  </a:lnTo>
                  <a:lnTo>
                    <a:pt x="1195387" y="852488"/>
                  </a:lnTo>
                  <a:lnTo>
                    <a:pt x="1159669" y="804863"/>
                  </a:lnTo>
                  <a:lnTo>
                    <a:pt x="1162050" y="762000"/>
                  </a:lnTo>
                  <a:lnTo>
                    <a:pt x="1216819" y="702469"/>
                  </a:lnTo>
                  <a:lnTo>
                    <a:pt x="1219200" y="676275"/>
                  </a:lnTo>
                  <a:lnTo>
                    <a:pt x="1181100" y="661988"/>
                  </a:lnTo>
                  <a:lnTo>
                    <a:pt x="1150144" y="635794"/>
                  </a:lnTo>
                  <a:lnTo>
                    <a:pt x="1133475" y="602457"/>
                  </a:lnTo>
                  <a:lnTo>
                    <a:pt x="1083469" y="604838"/>
                  </a:lnTo>
                  <a:lnTo>
                    <a:pt x="1033462" y="604838"/>
                  </a:lnTo>
                  <a:lnTo>
                    <a:pt x="1014412" y="583407"/>
                  </a:lnTo>
                  <a:lnTo>
                    <a:pt x="950119" y="578644"/>
                  </a:lnTo>
                  <a:lnTo>
                    <a:pt x="933450" y="561975"/>
                  </a:lnTo>
                  <a:lnTo>
                    <a:pt x="933450" y="547688"/>
                  </a:lnTo>
                  <a:lnTo>
                    <a:pt x="859631" y="511969"/>
                  </a:lnTo>
                  <a:lnTo>
                    <a:pt x="850106" y="492919"/>
                  </a:lnTo>
                  <a:lnTo>
                    <a:pt x="828675" y="476250"/>
                  </a:lnTo>
                  <a:lnTo>
                    <a:pt x="795337" y="478632"/>
                  </a:lnTo>
                  <a:lnTo>
                    <a:pt x="773906" y="471488"/>
                  </a:lnTo>
                  <a:lnTo>
                    <a:pt x="728662" y="428625"/>
                  </a:lnTo>
                  <a:lnTo>
                    <a:pt x="700087" y="421482"/>
                  </a:lnTo>
                  <a:lnTo>
                    <a:pt x="666750" y="383382"/>
                  </a:lnTo>
                  <a:lnTo>
                    <a:pt x="626269" y="369094"/>
                  </a:lnTo>
                  <a:lnTo>
                    <a:pt x="585787" y="335757"/>
                  </a:lnTo>
                  <a:lnTo>
                    <a:pt x="564356" y="311944"/>
                  </a:lnTo>
                  <a:lnTo>
                    <a:pt x="550069" y="330994"/>
                  </a:lnTo>
                  <a:lnTo>
                    <a:pt x="478631" y="328613"/>
                  </a:lnTo>
                  <a:lnTo>
                    <a:pt x="330994" y="230982"/>
                  </a:lnTo>
                  <a:lnTo>
                    <a:pt x="259556" y="254794"/>
                  </a:lnTo>
                  <a:lnTo>
                    <a:pt x="221456" y="245269"/>
                  </a:lnTo>
                  <a:lnTo>
                    <a:pt x="238125" y="150019"/>
                  </a:lnTo>
                  <a:lnTo>
                    <a:pt x="228600" y="95250"/>
                  </a:lnTo>
                  <a:lnTo>
                    <a:pt x="197644" y="78582"/>
                  </a:lnTo>
                  <a:lnTo>
                    <a:pt x="145256" y="0"/>
                  </a:lnTo>
                  <a:lnTo>
                    <a:pt x="88106" y="30957"/>
                  </a:lnTo>
                  <a:lnTo>
                    <a:pt x="83344" y="54769"/>
                  </a:lnTo>
                  <a:lnTo>
                    <a:pt x="90487" y="100013"/>
                  </a:lnTo>
                  <a:lnTo>
                    <a:pt x="71437" y="135732"/>
                  </a:lnTo>
                  <a:lnTo>
                    <a:pt x="66675" y="145257"/>
                  </a:lnTo>
                  <a:lnTo>
                    <a:pt x="97631" y="185738"/>
                  </a:lnTo>
                  <a:lnTo>
                    <a:pt x="83344" y="223838"/>
                  </a:lnTo>
                  <a:lnTo>
                    <a:pt x="59531" y="240507"/>
                  </a:lnTo>
                  <a:lnTo>
                    <a:pt x="69056" y="309563"/>
                  </a:lnTo>
                  <a:lnTo>
                    <a:pt x="92869" y="321469"/>
                  </a:lnTo>
                  <a:lnTo>
                    <a:pt x="85725" y="369094"/>
                  </a:lnTo>
                  <a:lnTo>
                    <a:pt x="42862" y="421482"/>
                  </a:lnTo>
                  <a:lnTo>
                    <a:pt x="0" y="452438"/>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50" name="Freeform 49"/>
            <p:cNvSpPr/>
            <p:nvPr/>
          </p:nvSpPr>
          <p:spPr>
            <a:xfrm rot="21298612">
              <a:off x="3190584" y="2942487"/>
              <a:ext cx="769714" cy="626778"/>
            </a:xfrm>
            <a:custGeom>
              <a:avLst/>
              <a:gdLst>
                <a:gd name="connsiteX0" fmla="*/ 0 w 766763"/>
                <a:gd name="connsiteY0" fmla="*/ 559594 h 592932"/>
                <a:gd name="connsiteX1" fmla="*/ 97631 w 766763"/>
                <a:gd name="connsiteY1" fmla="*/ 564357 h 592932"/>
                <a:gd name="connsiteX2" fmla="*/ 111919 w 766763"/>
                <a:gd name="connsiteY2" fmla="*/ 573882 h 592932"/>
                <a:gd name="connsiteX3" fmla="*/ 123825 w 766763"/>
                <a:gd name="connsiteY3" fmla="*/ 571500 h 592932"/>
                <a:gd name="connsiteX4" fmla="*/ 154781 w 766763"/>
                <a:gd name="connsiteY4" fmla="*/ 592932 h 592932"/>
                <a:gd name="connsiteX5" fmla="*/ 192881 w 766763"/>
                <a:gd name="connsiteY5" fmla="*/ 566738 h 592932"/>
                <a:gd name="connsiteX6" fmla="*/ 192881 w 766763"/>
                <a:gd name="connsiteY6" fmla="*/ 566738 h 592932"/>
                <a:gd name="connsiteX7" fmla="*/ 269081 w 766763"/>
                <a:gd name="connsiteY7" fmla="*/ 588169 h 592932"/>
                <a:gd name="connsiteX8" fmla="*/ 290513 w 766763"/>
                <a:gd name="connsiteY8" fmla="*/ 550069 h 592932"/>
                <a:gd name="connsiteX9" fmla="*/ 350044 w 766763"/>
                <a:gd name="connsiteY9" fmla="*/ 550069 h 592932"/>
                <a:gd name="connsiteX10" fmla="*/ 385763 w 766763"/>
                <a:gd name="connsiteY10" fmla="*/ 523875 h 592932"/>
                <a:gd name="connsiteX11" fmla="*/ 414338 w 766763"/>
                <a:gd name="connsiteY11" fmla="*/ 521494 h 592932"/>
                <a:gd name="connsiteX12" fmla="*/ 464344 w 766763"/>
                <a:gd name="connsiteY12" fmla="*/ 540544 h 592932"/>
                <a:gd name="connsiteX13" fmla="*/ 497681 w 766763"/>
                <a:gd name="connsiteY13" fmla="*/ 561975 h 592932"/>
                <a:gd name="connsiteX14" fmla="*/ 550069 w 766763"/>
                <a:gd name="connsiteY14" fmla="*/ 528638 h 592932"/>
                <a:gd name="connsiteX15" fmla="*/ 590550 w 766763"/>
                <a:gd name="connsiteY15" fmla="*/ 533400 h 592932"/>
                <a:gd name="connsiteX16" fmla="*/ 604838 w 766763"/>
                <a:gd name="connsiteY16" fmla="*/ 464344 h 592932"/>
                <a:gd name="connsiteX17" fmla="*/ 602456 w 766763"/>
                <a:gd name="connsiteY17" fmla="*/ 445294 h 592932"/>
                <a:gd name="connsiteX18" fmla="*/ 688181 w 766763"/>
                <a:gd name="connsiteY18" fmla="*/ 395288 h 592932"/>
                <a:gd name="connsiteX19" fmla="*/ 702469 w 766763"/>
                <a:gd name="connsiteY19" fmla="*/ 381000 h 592932"/>
                <a:gd name="connsiteX20" fmla="*/ 762000 w 766763"/>
                <a:gd name="connsiteY20" fmla="*/ 361950 h 592932"/>
                <a:gd name="connsiteX21" fmla="*/ 762000 w 766763"/>
                <a:gd name="connsiteY21" fmla="*/ 316707 h 592932"/>
                <a:gd name="connsiteX22" fmla="*/ 733425 w 766763"/>
                <a:gd name="connsiteY22" fmla="*/ 307182 h 592932"/>
                <a:gd name="connsiteX23" fmla="*/ 719138 w 766763"/>
                <a:gd name="connsiteY23" fmla="*/ 283369 h 592932"/>
                <a:gd name="connsiteX24" fmla="*/ 726281 w 766763"/>
                <a:gd name="connsiteY24" fmla="*/ 254794 h 592932"/>
                <a:gd name="connsiteX25" fmla="*/ 762000 w 766763"/>
                <a:gd name="connsiteY25" fmla="*/ 245269 h 592932"/>
                <a:gd name="connsiteX26" fmla="*/ 766763 w 766763"/>
                <a:gd name="connsiteY26" fmla="*/ 223838 h 592932"/>
                <a:gd name="connsiteX27" fmla="*/ 754856 w 766763"/>
                <a:gd name="connsiteY27" fmla="*/ 214313 h 592932"/>
                <a:gd name="connsiteX28" fmla="*/ 754856 w 766763"/>
                <a:gd name="connsiteY28" fmla="*/ 183357 h 592932"/>
                <a:gd name="connsiteX29" fmla="*/ 650081 w 766763"/>
                <a:gd name="connsiteY29" fmla="*/ 214313 h 592932"/>
                <a:gd name="connsiteX30" fmla="*/ 631031 w 766763"/>
                <a:gd name="connsiteY30" fmla="*/ 214313 h 592932"/>
                <a:gd name="connsiteX31" fmla="*/ 592931 w 766763"/>
                <a:gd name="connsiteY31" fmla="*/ 180975 h 592932"/>
                <a:gd name="connsiteX32" fmla="*/ 561975 w 766763"/>
                <a:gd name="connsiteY32" fmla="*/ 188119 h 592932"/>
                <a:gd name="connsiteX33" fmla="*/ 540544 w 766763"/>
                <a:gd name="connsiteY33" fmla="*/ 202407 h 592932"/>
                <a:gd name="connsiteX34" fmla="*/ 509588 w 766763"/>
                <a:gd name="connsiteY34" fmla="*/ 195263 h 592932"/>
                <a:gd name="connsiteX35" fmla="*/ 473869 w 766763"/>
                <a:gd name="connsiteY35" fmla="*/ 190500 h 592932"/>
                <a:gd name="connsiteX36" fmla="*/ 414338 w 766763"/>
                <a:gd name="connsiteY36" fmla="*/ 185738 h 592932"/>
                <a:gd name="connsiteX37" fmla="*/ 392906 w 766763"/>
                <a:gd name="connsiteY37" fmla="*/ 154782 h 592932"/>
                <a:gd name="connsiteX38" fmla="*/ 371475 w 766763"/>
                <a:gd name="connsiteY38" fmla="*/ 126207 h 592932"/>
                <a:gd name="connsiteX39" fmla="*/ 342900 w 766763"/>
                <a:gd name="connsiteY39" fmla="*/ 126207 h 592932"/>
                <a:gd name="connsiteX40" fmla="*/ 311944 w 766763"/>
                <a:gd name="connsiteY40" fmla="*/ 142875 h 592932"/>
                <a:gd name="connsiteX41" fmla="*/ 283369 w 766763"/>
                <a:gd name="connsiteY41" fmla="*/ 135732 h 592932"/>
                <a:gd name="connsiteX42" fmla="*/ 259556 w 766763"/>
                <a:gd name="connsiteY42" fmla="*/ 97632 h 592932"/>
                <a:gd name="connsiteX43" fmla="*/ 233363 w 766763"/>
                <a:gd name="connsiteY43" fmla="*/ 76200 h 592932"/>
                <a:gd name="connsiteX44" fmla="*/ 221456 w 766763"/>
                <a:gd name="connsiteY44" fmla="*/ 73819 h 592932"/>
                <a:gd name="connsiteX45" fmla="*/ 180975 w 766763"/>
                <a:gd name="connsiteY45" fmla="*/ 21432 h 592932"/>
                <a:gd name="connsiteX46" fmla="*/ 159544 w 766763"/>
                <a:gd name="connsiteY46" fmla="*/ 0 h 592932"/>
                <a:gd name="connsiteX47" fmla="*/ 107156 w 766763"/>
                <a:gd name="connsiteY47" fmla="*/ 2382 h 592932"/>
                <a:gd name="connsiteX48" fmla="*/ 83344 w 766763"/>
                <a:gd name="connsiteY48" fmla="*/ 42863 h 592932"/>
                <a:gd name="connsiteX49" fmla="*/ 85725 w 766763"/>
                <a:gd name="connsiteY49" fmla="*/ 69057 h 592932"/>
                <a:gd name="connsiteX50" fmla="*/ 104775 w 766763"/>
                <a:gd name="connsiteY50" fmla="*/ 90488 h 592932"/>
                <a:gd name="connsiteX51" fmla="*/ 116681 w 766763"/>
                <a:gd name="connsiteY51" fmla="*/ 102394 h 592932"/>
                <a:gd name="connsiteX52" fmla="*/ 145256 w 766763"/>
                <a:gd name="connsiteY52" fmla="*/ 109538 h 592932"/>
                <a:gd name="connsiteX53" fmla="*/ 161925 w 766763"/>
                <a:gd name="connsiteY53" fmla="*/ 121444 h 592932"/>
                <a:gd name="connsiteX54" fmla="*/ 159544 w 766763"/>
                <a:gd name="connsiteY54" fmla="*/ 138113 h 592932"/>
                <a:gd name="connsiteX55" fmla="*/ 104775 w 766763"/>
                <a:gd name="connsiteY55" fmla="*/ 200025 h 592932"/>
                <a:gd name="connsiteX56" fmla="*/ 107156 w 766763"/>
                <a:gd name="connsiteY56" fmla="*/ 245269 h 592932"/>
                <a:gd name="connsiteX57" fmla="*/ 140494 w 766763"/>
                <a:gd name="connsiteY57" fmla="*/ 300038 h 592932"/>
                <a:gd name="connsiteX58" fmla="*/ 166688 w 766763"/>
                <a:gd name="connsiteY58" fmla="*/ 338138 h 592932"/>
                <a:gd name="connsiteX59" fmla="*/ 133350 w 766763"/>
                <a:gd name="connsiteY59" fmla="*/ 381000 h 592932"/>
                <a:gd name="connsiteX60" fmla="*/ 80963 w 766763"/>
                <a:gd name="connsiteY60" fmla="*/ 359569 h 592932"/>
                <a:gd name="connsiteX61" fmla="*/ 50006 w 766763"/>
                <a:gd name="connsiteY61" fmla="*/ 404813 h 592932"/>
                <a:gd name="connsiteX62" fmla="*/ 19050 w 766763"/>
                <a:gd name="connsiteY62" fmla="*/ 421482 h 592932"/>
                <a:gd name="connsiteX63" fmla="*/ 4763 w 766763"/>
                <a:gd name="connsiteY63" fmla="*/ 457200 h 592932"/>
                <a:gd name="connsiteX64" fmla="*/ 0 w 766763"/>
                <a:gd name="connsiteY64" fmla="*/ 559594 h 592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66763" h="592932">
                  <a:moveTo>
                    <a:pt x="0" y="559594"/>
                  </a:moveTo>
                  <a:lnTo>
                    <a:pt x="97631" y="564357"/>
                  </a:lnTo>
                  <a:lnTo>
                    <a:pt x="111919" y="573882"/>
                  </a:lnTo>
                  <a:lnTo>
                    <a:pt x="123825" y="571500"/>
                  </a:lnTo>
                  <a:lnTo>
                    <a:pt x="154781" y="592932"/>
                  </a:lnTo>
                  <a:lnTo>
                    <a:pt x="192881" y="566738"/>
                  </a:lnTo>
                  <a:lnTo>
                    <a:pt x="192881" y="566738"/>
                  </a:lnTo>
                  <a:lnTo>
                    <a:pt x="269081" y="588169"/>
                  </a:lnTo>
                  <a:lnTo>
                    <a:pt x="290513" y="550069"/>
                  </a:lnTo>
                  <a:lnTo>
                    <a:pt x="350044" y="550069"/>
                  </a:lnTo>
                  <a:lnTo>
                    <a:pt x="385763" y="523875"/>
                  </a:lnTo>
                  <a:lnTo>
                    <a:pt x="414338" y="521494"/>
                  </a:lnTo>
                  <a:lnTo>
                    <a:pt x="464344" y="540544"/>
                  </a:lnTo>
                  <a:lnTo>
                    <a:pt x="497681" y="561975"/>
                  </a:lnTo>
                  <a:lnTo>
                    <a:pt x="550069" y="528638"/>
                  </a:lnTo>
                  <a:lnTo>
                    <a:pt x="590550" y="533400"/>
                  </a:lnTo>
                  <a:lnTo>
                    <a:pt x="604838" y="464344"/>
                  </a:lnTo>
                  <a:lnTo>
                    <a:pt x="602456" y="445294"/>
                  </a:lnTo>
                  <a:lnTo>
                    <a:pt x="688181" y="395288"/>
                  </a:lnTo>
                  <a:lnTo>
                    <a:pt x="702469" y="381000"/>
                  </a:lnTo>
                  <a:lnTo>
                    <a:pt x="762000" y="361950"/>
                  </a:lnTo>
                  <a:lnTo>
                    <a:pt x="762000" y="316707"/>
                  </a:lnTo>
                  <a:lnTo>
                    <a:pt x="733425" y="307182"/>
                  </a:lnTo>
                  <a:lnTo>
                    <a:pt x="719138" y="283369"/>
                  </a:lnTo>
                  <a:lnTo>
                    <a:pt x="726281" y="254794"/>
                  </a:lnTo>
                  <a:lnTo>
                    <a:pt x="762000" y="245269"/>
                  </a:lnTo>
                  <a:lnTo>
                    <a:pt x="766763" y="223838"/>
                  </a:lnTo>
                  <a:lnTo>
                    <a:pt x="754856" y="214313"/>
                  </a:lnTo>
                  <a:lnTo>
                    <a:pt x="754856" y="183357"/>
                  </a:lnTo>
                  <a:lnTo>
                    <a:pt x="650081" y="214313"/>
                  </a:lnTo>
                  <a:lnTo>
                    <a:pt x="631031" y="214313"/>
                  </a:lnTo>
                  <a:lnTo>
                    <a:pt x="592931" y="180975"/>
                  </a:lnTo>
                  <a:lnTo>
                    <a:pt x="561975" y="188119"/>
                  </a:lnTo>
                  <a:lnTo>
                    <a:pt x="540544" y="202407"/>
                  </a:lnTo>
                  <a:lnTo>
                    <a:pt x="509588" y="195263"/>
                  </a:lnTo>
                  <a:lnTo>
                    <a:pt x="473869" y="190500"/>
                  </a:lnTo>
                  <a:lnTo>
                    <a:pt x="414338" y="185738"/>
                  </a:lnTo>
                  <a:lnTo>
                    <a:pt x="392906" y="154782"/>
                  </a:lnTo>
                  <a:lnTo>
                    <a:pt x="371475" y="126207"/>
                  </a:lnTo>
                  <a:lnTo>
                    <a:pt x="342900" y="126207"/>
                  </a:lnTo>
                  <a:lnTo>
                    <a:pt x="311944" y="142875"/>
                  </a:lnTo>
                  <a:lnTo>
                    <a:pt x="283369" y="135732"/>
                  </a:lnTo>
                  <a:lnTo>
                    <a:pt x="259556" y="97632"/>
                  </a:lnTo>
                  <a:lnTo>
                    <a:pt x="233363" y="76200"/>
                  </a:lnTo>
                  <a:lnTo>
                    <a:pt x="221456" y="73819"/>
                  </a:lnTo>
                  <a:lnTo>
                    <a:pt x="180975" y="21432"/>
                  </a:lnTo>
                  <a:lnTo>
                    <a:pt x="159544" y="0"/>
                  </a:lnTo>
                  <a:lnTo>
                    <a:pt x="107156" y="2382"/>
                  </a:lnTo>
                  <a:lnTo>
                    <a:pt x="83344" y="42863"/>
                  </a:lnTo>
                  <a:lnTo>
                    <a:pt x="85725" y="69057"/>
                  </a:lnTo>
                  <a:lnTo>
                    <a:pt x="104775" y="90488"/>
                  </a:lnTo>
                  <a:lnTo>
                    <a:pt x="116681" y="102394"/>
                  </a:lnTo>
                  <a:lnTo>
                    <a:pt x="145256" y="109538"/>
                  </a:lnTo>
                  <a:lnTo>
                    <a:pt x="161925" y="121444"/>
                  </a:lnTo>
                  <a:lnTo>
                    <a:pt x="159544" y="138113"/>
                  </a:lnTo>
                  <a:lnTo>
                    <a:pt x="104775" y="200025"/>
                  </a:lnTo>
                  <a:lnTo>
                    <a:pt x="107156" y="245269"/>
                  </a:lnTo>
                  <a:lnTo>
                    <a:pt x="140494" y="300038"/>
                  </a:lnTo>
                  <a:lnTo>
                    <a:pt x="166688" y="338138"/>
                  </a:lnTo>
                  <a:lnTo>
                    <a:pt x="133350" y="381000"/>
                  </a:lnTo>
                  <a:lnTo>
                    <a:pt x="80963" y="359569"/>
                  </a:lnTo>
                  <a:lnTo>
                    <a:pt x="50006" y="404813"/>
                  </a:lnTo>
                  <a:lnTo>
                    <a:pt x="19050" y="421482"/>
                  </a:lnTo>
                  <a:lnTo>
                    <a:pt x="4763" y="457200"/>
                  </a:lnTo>
                  <a:lnTo>
                    <a:pt x="0" y="559594"/>
                  </a:lnTo>
                  <a:close/>
                </a:path>
              </a:pathLst>
            </a:custGeom>
            <a:solidFill>
              <a:schemeClr val="accent5"/>
            </a:solid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51" name="Freeform 50"/>
            <p:cNvSpPr/>
            <p:nvPr/>
          </p:nvSpPr>
          <p:spPr>
            <a:xfrm rot="21298612">
              <a:off x="3947860" y="2793617"/>
              <a:ext cx="129082" cy="201644"/>
            </a:xfrm>
            <a:custGeom>
              <a:avLst/>
              <a:gdLst>
                <a:gd name="connsiteX0" fmla="*/ 2382 w 128588"/>
                <a:gd name="connsiteY0" fmla="*/ 11906 h 183356"/>
                <a:gd name="connsiteX1" fmla="*/ 16669 w 128588"/>
                <a:gd name="connsiteY1" fmla="*/ 71437 h 183356"/>
                <a:gd name="connsiteX2" fmla="*/ 16669 w 128588"/>
                <a:gd name="connsiteY2" fmla="*/ 95250 h 183356"/>
                <a:gd name="connsiteX3" fmla="*/ 4763 w 128588"/>
                <a:gd name="connsiteY3" fmla="*/ 114300 h 183356"/>
                <a:gd name="connsiteX4" fmla="*/ 0 w 128588"/>
                <a:gd name="connsiteY4" fmla="*/ 169068 h 183356"/>
                <a:gd name="connsiteX5" fmla="*/ 26194 w 128588"/>
                <a:gd name="connsiteY5" fmla="*/ 183356 h 183356"/>
                <a:gd name="connsiteX6" fmla="*/ 61913 w 128588"/>
                <a:gd name="connsiteY6" fmla="*/ 178593 h 183356"/>
                <a:gd name="connsiteX7" fmla="*/ 61913 w 128588"/>
                <a:gd name="connsiteY7" fmla="*/ 178593 h 183356"/>
                <a:gd name="connsiteX8" fmla="*/ 95250 w 128588"/>
                <a:gd name="connsiteY8" fmla="*/ 142875 h 183356"/>
                <a:gd name="connsiteX9" fmla="*/ 128588 w 128588"/>
                <a:gd name="connsiteY9" fmla="*/ 107156 h 183356"/>
                <a:gd name="connsiteX10" fmla="*/ 119063 w 128588"/>
                <a:gd name="connsiteY10" fmla="*/ 85725 h 183356"/>
                <a:gd name="connsiteX11" fmla="*/ 114300 w 128588"/>
                <a:gd name="connsiteY11" fmla="*/ 28575 h 183356"/>
                <a:gd name="connsiteX12" fmla="*/ 88107 w 128588"/>
                <a:gd name="connsiteY12" fmla="*/ 7143 h 183356"/>
                <a:gd name="connsiteX13" fmla="*/ 54769 w 128588"/>
                <a:gd name="connsiteY13" fmla="*/ 0 h 183356"/>
                <a:gd name="connsiteX14" fmla="*/ 2382 w 128588"/>
                <a:gd name="connsiteY14" fmla="*/ 11906 h 183356"/>
                <a:gd name="connsiteX0" fmla="*/ 2382 w 128588"/>
                <a:gd name="connsiteY0" fmla="*/ 11906 h 183356"/>
                <a:gd name="connsiteX1" fmla="*/ 16669 w 128588"/>
                <a:gd name="connsiteY1" fmla="*/ 71437 h 183356"/>
                <a:gd name="connsiteX2" fmla="*/ 16669 w 128588"/>
                <a:gd name="connsiteY2" fmla="*/ 95250 h 183356"/>
                <a:gd name="connsiteX3" fmla="*/ 4763 w 128588"/>
                <a:gd name="connsiteY3" fmla="*/ 114300 h 183356"/>
                <a:gd name="connsiteX4" fmla="*/ 0 w 128588"/>
                <a:gd name="connsiteY4" fmla="*/ 169068 h 183356"/>
                <a:gd name="connsiteX5" fmla="*/ 26194 w 128588"/>
                <a:gd name="connsiteY5" fmla="*/ 183356 h 183356"/>
                <a:gd name="connsiteX6" fmla="*/ 61913 w 128588"/>
                <a:gd name="connsiteY6" fmla="*/ 178593 h 183356"/>
                <a:gd name="connsiteX7" fmla="*/ 61913 w 128588"/>
                <a:gd name="connsiteY7" fmla="*/ 178593 h 183356"/>
                <a:gd name="connsiteX8" fmla="*/ 90488 w 128588"/>
                <a:gd name="connsiteY8" fmla="*/ 171450 h 183356"/>
                <a:gd name="connsiteX9" fmla="*/ 128588 w 128588"/>
                <a:gd name="connsiteY9" fmla="*/ 107156 h 183356"/>
                <a:gd name="connsiteX10" fmla="*/ 119063 w 128588"/>
                <a:gd name="connsiteY10" fmla="*/ 85725 h 183356"/>
                <a:gd name="connsiteX11" fmla="*/ 114300 w 128588"/>
                <a:gd name="connsiteY11" fmla="*/ 28575 h 183356"/>
                <a:gd name="connsiteX12" fmla="*/ 88107 w 128588"/>
                <a:gd name="connsiteY12" fmla="*/ 7143 h 183356"/>
                <a:gd name="connsiteX13" fmla="*/ 54769 w 128588"/>
                <a:gd name="connsiteY13" fmla="*/ 0 h 183356"/>
                <a:gd name="connsiteX14" fmla="*/ 2382 w 128588"/>
                <a:gd name="connsiteY14" fmla="*/ 11906 h 183356"/>
                <a:gd name="connsiteX0" fmla="*/ 2382 w 128588"/>
                <a:gd name="connsiteY0" fmla="*/ 11906 h 188118"/>
                <a:gd name="connsiteX1" fmla="*/ 16669 w 128588"/>
                <a:gd name="connsiteY1" fmla="*/ 71437 h 188118"/>
                <a:gd name="connsiteX2" fmla="*/ 16669 w 128588"/>
                <a:gd name="connsiteY2" fmla="*/ 95250 h 188118"/>
                <a:gd name="connsiteX3" fmla="*/ 4763 w 128588"/>
                <a:gd name="connsiteY3" fmla="*/ 114300 h 188118"/>
                <a:gd name="connsiteX4" fmla="*/ 0 w 128588"/>
                <a:gd name="connsiteY4" fmla="*/ 169068 h 188118"/>
                <a:gd name="connsiteX5" fmla="*/ 26194 w 128588"/>
                <a:gd name="connsiteY5" fmla="*/ 183356 h 188118"/>
                <a:gd name="connsiteX6" fmla="*/ 61913 w 128588"/>
                <a:gd name="connsiteY6" fmla="*/ 178593 h 188118"/>
                <a:gd name="connsiteX7" fmla="*/ 66675 w 128588"/>
                <a:gd name="connsiteY7" fmla="*/ 188118 h 188118"/>
                <a:gd name="connsiteX8" fmla="*/ 90488 w 128588"/>
                <a:gd name="connsiteY8" fmla="*/ 171450 h 188118"/>
                <a:gd name="connsiteX9" fmla="*/ 128588 w 128588"/>
                <a:gd name="connsiteY9" fmla="*/ 107156 h 188118"/>
                <a:gd name="connsiteX10" fmla="*/ 119063 w 128588"/>
                <a:gd name="connsiteY10" fmla="*/ 85725 h 188118"/>
                <a:gd name="connsiteX11" fmla="*/ 114300 w 128588"/>
                <a:gd name="connsiteY11" fmla="*/ 28575 h 188118"/>
                <a:gd name="connsiteX12" fmla="*/ 88107 w 128588"/>
                <a:gd name="connsiteY12" fmla="*/ 7143 h 188118"/>
                <a:gd name="connsiteX13" fmla="*/ 54769 w 128588"/>
                <a:gd name="connsiteY13" fmla="*/ 0 h 188118"/>
                <a:gd name="connsiteX14" fmla="*/ 2382 w 128588"/>
                <a:gd name="connsiteY14" fmla="*/ 11906 h 188118"/>
                <a:gd name="connsiteX0" fmla="*/ 2382 w 128588"/>
                <a:gd name="connsiteY0" fmla="*/ 11906 h 190940"/>
                <a:gd name="connsiteX1" fmla="*/ 16669 w 128588"/>
                <a:gd name="connsiteY1" fmla="*/ 71437 h 190940"/>
                <a:gd name="connsiteX2" fmla="*/ 16669 w 128588"/>
                <a:gd name="connsiteY2" fmla="*/ 95250 h 190940"/>
                <a:gd name="connsiteX3" fmla="*/ 4763 w 128588"/>
                <a:gd name="connsiteY3" fmla="*/ 114300 h 190940"/>
                <a:gd name="connsiteX4" fmla="*/ 0 w 128588"/>
                <a:gd name="connsiteY4" fmla="*/ 169068 h 190940"/>
                <a:gd name="connsiteX5" fmla="*/ 26194 w 128588"/>
                <a:gd name="connsiteY5" fmla="*/ 183356 h 190940"/>
                <a:gd name="connsiteX6" fmla="*/ 57151 w 128588"/>
                <a:gd name="connsiteY6" fmla="*/ 190499 h 190940"/>
                <a:gd name="connsiteX7" fmla="*/ 66675 w 128588"/>
                <a:gd name="connsiteY7" fmla="*/ 188118 h 190940"/>
                <a:gd name="connsiteX8" fmla="*/ 90488 w 128588"/>
                <a:gd name="connsiteY8" fmla="*/ 171450 h 190940"/>
                <a:gd name="connsiteX9" fmla="*/ 128588 w 128588"/>
                <a:gd name="connsiteY9" fmla="*/ 107156 h 190940"/>
                <a:gd name="connsiteX10" fmla="*/ 119063 w 128588"/>
                <a:gd name="connsiteY10" fmla="*/ 85725 h 190940"/>
                <a:gd name="connsiteX11" fmla="*/ 114300 w 128588"/>
                <a:gd name="connsiteY11" fmla="*/ 28575 h 190940"/>
                <a:gd name="connsiteX12" fmla="*/ 88107 w 128588"/>
                <a:gd name="connsiteY12" fmla="*/ 7143 h 190940"/>
                <a:gd name="connsiteX13" fmla="*/ 54769 w 128588"/>
                <a:gd name="connsiteY13" fmla="*/ 0 h 190940"/>
                <a:gd name="connsiteX14" fmla="*/ 2382 w 128588"/>
                <a:gd name="connsiteY14" fmla="*/ 11906 h 19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588" h="190940">
                  <a:moveTo>
                    <a:pt x="2382" y="11906"/>
                  </a:moveTo>
                  <a:lnTo>
                    <a:pt x="16669" y="71437"/>
                  </a:lnTo>
                  <a:lnTo>
                    <a:pt x="16669" y="95250"/>
                  </a:lnTo>
                  <a:lnTo>
                    <a:pt x="4763" y="114300"/>
                  </a:lnTo>
                  <a:lnTo>
                    <a:pt x="0" y="169068"/>
                  </a:lnTo>
                  <a:lnTo>
                    <a:pt x="26194" y="183356"/>
                  </a:lnTo>
                  <a:cubicBezTo>
                    <a:pt x="38100" y="181768"/>
                    <a:pt x="50404" y="189705"/>
                    <a:pt x="57151" y="190499"/>
                  </a:cubicBezTo>
                  <a:cubicBezTo>
                    <a:pt x="63898" y="191293"/>
                    <a:pt x="61119" y="191293"/>
                    <a:pt x="66675" y="188118"/>
                  </a:cubicBezTo>
                  <a:cubicBezTo>
                    <a:pt x="72231" y="184943"/>
                    <a:pt x="80169" y="184944"/>
                    <a:pt x="90488" y="171450"/>
                  </a:cubicBezTo>
                  <a:cubicBezTo>
                    <a:pt x="100807" y="157956"/>
                    <a:pt x="115888" y="128587"/>
                    <a:pt x="128588" y="107156"/>
                  </a:cubicBezTo>
                  <a:lnTo>
                    <a:pt x="119063" y="85725"/>
                  </a:lnTo>
                  <a:lnTo>
                    <a:pt x="114300" y="28575"/>
                  </a:lnTo>
                  <a:lnTo>
                    <a:pt x="88107" y="7143"/>
                  </a:lnTo>
                  <a:lnTo>
                    <a:pt x="54769" y="0"/>
                  </a:lnTo>
                  <a:lnTo>
                    <a:pt x="2382" y="11906"/>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53" name="Freeform 52"/>
            <p:cNvSpPr/>
            <p:nvPr/>
          </p:nvSpPr>
          <p:spPr>
            <a:xfrm rot="21298612">
              <a:off x="3588191" y="2908690"/>
              <a:ext cx="766527" cy="1151053"/>
            </a:xfrm>
            <a:custGeom>
              <a:avLst/>
              <a:gdLst>
                <a:gd name="connsiteX0" fmla="*/ 319088 w 764382"/>
                <a:gd name="connsiteY0" fmla="*/ 392907 h 1088232"/>
                <a:gd name="connsiteX1" fmla="*/ 350044 w 764382"/>
                <a:gd name="connsiteY1" fmla="*/ 466725 h 1088232"/>
                <a:gd name="connsiteX2" fmla="*/ 340519 w 764382"/>
                <a:gd name="connsiteY2" fmla="*/ 509588 h 1088232"/>
                <a:gd name="connsiteX3" fmla="*/ 333375 w 764382"/>
                <a:gd name="connsiteY3" fmla="*/ 559594 h 1088232"/>
                <a:gd name="connsiteX4" fmla="*/ 247650 w 764382"/>
                <a:gd name="connsiteY4" fmla="*/ 633413 h 1088232"/>
                <a:gd name="connsiteX5" fmla="*/ 238125 w 764382"/>
                <a:gd name="connsiteY5" fmla="*/ 690563 h 1088232"/>
                <a:gd name="connsiteX6" fmla="*/ 135732 w 764382"/>
                <a:gd name="connsiteY6" fmla="*/ 711994 h 1088232"/>
                <a:gd name="connsiteX7" fmla="*/ 116682 w 764382"/>
                <a:gd name="connsiteY7" fmla="*/ 738188 h 1088232"/>
                <a:gd name="connsiteX8" fmla="*/ 30957 w 764382"/>
                <a:gd name="connsiteY8" fmla="*/ 707232 h 1088232"/>
                <a:gd name="connsiteX9" fmla="*/ 16669 w 764382"/>
                <a:gd name="connsiteY9" fmla="*/ 707232 h 1088232"/>
                <a:gd name="connsiteX10" fmla="*/ 7144 w 764382"/>
                <a:gd name="connsiteY10" fmla="*/ 735807 h 1088232"/>
                <a:gd name="connsiteX11" fmla="*/ 0 w 764382"/>
                <a:gd name="connsiteY11" fmla="*/ 752475 h 1088232"/>
                <a:gd name="connsiteX12" fmla="*/ 26194 w 764382"/>
                <a:gd name="connsiteY12" fmla="*/ 781050 h 1088232"/>
                <a:gd name="connsiteX13" fmla="*/ 45244 w 764382"/>
                <a:gd name="connsiteY13" fmla="*/ 778669 h 1088232"/>
                <a:gd name="connsiteX14" fmla="*/ 52388 w 764382"/>
                <a:gd name="connsiteY14" fmla="*/ 819150 h 1088232"/>
                <a:gd name="connsiteX15" fmla="*/ 66675 w 764382"/>
                <a:gd name="connsiteY15" fmla="*/ 840582 h 1088232"/>
                <a:gd name="connsiteX16" fmla="*/ 92869 w 764382"/>
                <a:gd name="connsiteY16" fmla="*/ 831057 h 1088232"/>
                <a:gd name="connsiteX17" fmla="*/ 109538 w 764382"/>
                <a:gd name="connsiteY17" fmla="*/ 819150 h 1088232"/>
                <a:gd name="connsiteX18" fmla="*/ 133350 w 764382"/>
                <a:gd name="connsiteY18" fmla="*/ 819150 h 1088232"/>
                <a:gd name="connsiteX19" fmla="*/ 142875 w 764382"/>
                <a:gd name="connsiteY19" fmla="*/ 912019 h 1088232"/>
                <a:gd name="connsiteX20" fmla="*/ 171450 w 764382"/>
                <a:gd name="connsiteY20" fmla="*/ 933450 h 1088232"/>
                <a:gd name="connsiteX21" fmla="*/ 180975 w 764382"/>
                <a:gd name="connsiteY21" fmla="*/ 966788 h 1088232"/>
                <a:gd name="connsiteX22" fmla="*/ 221457 w 764382"/>
                <a:gd name="connsiteY22" fmla="*/ 992982 h 1088232"/>
                <a:gd name="connsiteX23" fmla="*/ 254794 w 764382"/>
                <a:gd name="connsiteY23" fmla="*/ 1035844 h 1088232"/>
                <a:gd name="connsiteX24" fmla="*/ 280988 w 764382"/>
                <a:gd name="connsiteY24" fmla="*/ 1054894 h 1088232"/>
                <a:gd name="connsiteX25" fmla="*/ 307182 w 764382"/>
                <a:gd name="connsiteY25" fmla="*/ 1081088 h 1088232"/>
                <a:gd name="connsiteX26" fmla="*/ 319088 w 764382"/>
                <a:gd name="connsiteY26" fmla="*/ 1088232 h 1088232"/>
                <a:gd name="connsiteX27" fmla="*/ 347663 w 764382"/>
                <a:gd name="connsiteY27" fmla="*/ 1076325 h 1088232"/>
                <a:gd name="connsiteX28" fmla="*/ 357188 w 764382"/>
                <a:gd name="connsiteY28" fmla="*/ 1050132 h 1088232"/>
                <a:gd name="connsiteX29" fmla="*/ 392907 w 764382"/>
                <a:gd name="connsiteY29" fmla="*/ 1033463 h 1088232"/>
                <a:gd name="connsiteX30" fmla="*/ 414338 w 764382"/>
                <a:gd name="connsiteY30" fmla="*/ 1033463 h 1088232"/>
                <a:gd name="connsiteX31" fmla="*/ 438150 w 764382"/>
                <a:gd name="connsiteY31" fmla="*/ 1045369 h 1088232"/>
                <a:gd name="connsiteX32" fmla="*/ 461963 w 764382"/>
                <a:gd name="connsiteY32" fmla="*/ 1073944 h 1088232"/>
                <a:gd name="connsiteX33" fmla="*/ 461963 w 764382"/>
                <a:gd name="connsiteY33" fmla="*/ 1073944 h 1088232"/>
                <a:gd name="connsiteX34" fmla="*/ 511969 w 764382"/>
                <a:gd name="connsiteY34" fmla="*/ 1033463 h 1088232"/>
                <a:gd name="connsiteX35" fmla="*/ 547688 w 764382"/>
                <a:gd name="connsiteY35" fmla="*/ 1033463 h 1088232"/>
                <a:gd name="connsiteX36" fmla="*/ 585788 w 764382"/>
                <a:gd name="connsiteY36" fmla="*/ 1012032 h 1088232"/>
                <a:gd name="connsiteX37" fmla="*/ 583407 w 764382"/>
                <a:gd name="connsiteY37" fmla="*/ 964407 h 1088232"/>
                <a:gd name="connsiteX38" fmla="*/ 578644 w 764382"/>
                <a:gd name="connsiteY38" fmla="*/ 947738 h 1088232"/>
                <a:gd name="connsiteX39" fmla="*/ 583407 w 764382"/>
                <a:gd name="connsiteY39" fmla="*/ 902494 h 1088232"/>
                <a:gd name="connsiteX40" fmla="*/ 581025 w 764382"/>
                <a:gd name="connsiteY40" fmla="*/ 842963 h 1088232"/>
                <a:gd name="connsiteX41" fmla="*/ 573882 w 764382"/>
                <a:gd name="connsiteY41" fmla="*/ 812007 h 1088232"/>
                <a:gd name="connsiteX42" fmla="*/ 542925 w 764382"/>
                <a:gd name="connsiteY42" fmla="*/ 778669 h 1088232"/>
                <a:gd name="connsiteX43" fmla="*/ 526257 w 764382"/>
                <a:gd name="connsiteY43" fmla="*/ 762000 h 1088232"/>
                <a:gd name="connsiteX44" fmla="*/ 531019 w 764382"/>
                <a:gd name="connsiteY44" fmla="*/ 742950 h 1088232"/>
                <a:gd name="connsiteX45" fmla="*/ 526257 w 764382"/>
                <a:gd name="connsiteY45" fmla="*/ 726282 h 1088232"/>
                <a:gd name="connsiteX46" fmla="*/ 519113 w 764382"/>
                <a:gd name="connsiteY46" fmla="*/ 700088 h 1088232"/>
                <a:gd name="connsiteX47" fmla="*/ 531019 w 764382"/>
                <a:gd name="connsiteY47" fmla="*/ 673894 h 1088232"/>
                <a:gd name="connsiteX48" fmla="*/ 542925 w 764382"/>
                <a:gd name="connsiteY48" fmla="*/ 659607 h 1088232"/>
                <a:gd name="connsiteX49" fmla="*/ 528638 w 764382"/>
                <a:gd name="connsiteY49" fmla="*/ 640557 h 1088232"/>
                <a:gd name="connsiteX50" fmla="*/ 519113 w 764382"/>
                <a:gd name="connsiteY50" fmla="*/ 616744 h 1088232"/>
                <a:gd name="connsiteX51" fmla="*/ 502444 w 764382"/>
                <a:gd name="connsiteY51" fmla="*/ 611982 h 1088232"/>
                <a:gd name="connsiteX52" fmla="*/ 488157 w 764382"/>
                <a:gd name="connsiteY52" fmla="*/ 604838 h 1088232"/>
                <a:gd name="connsiteX53" fmla="*/ 481013 w 764382"/>
                <a:gd name="connsiteY53" fmla="*/ 607219 h 1088232"/>
                <a:gd name="connsiteX54" fmla="*/ 464344 w 764382"/>
                <a:gd name="connsiteY54" fmla="*/ 557213 h 1088232"/>
                <a:gd name="connsiteX55" fmla="*/ 450057 w 764382"/>
                <a:gd name="connsiteY55" fmla="*/ 540544 h 1088232"/>
                <a:gd name="connsiteX56" fmla="*/ 445294 w 764382"/>
                <a:gd name="connsiteY56" fmla="*/ 492919 h 1088232"/>
                <a:gd name="connsiteX57" fmla="*/ 464344 w 764382"/>
                <a:gd name="connsiteY57" fmla="*/ 473869 h 1088232"/>
                <a:gd name="connsiteX58" fmla="*/ 476250 w 764382"/>
                <a:gd name="connsiteY58" fmla="*/ 438150 h 1088232"/>
                <a:gd name="connsiteX59" fmla="*/ 528638 w 764382"/>
                <a:gd name="connsiteY59" fmla="*/ 428625 h 1088232"/>
                <a:gd name="connsiteX60" fmla="*/ 557213 w 764382"/>
                <a:gd name="connsiteY60" fmla="*/ 426244 h 1088232"/>
                <a:gd name="connsiteX61" fmla="*/ 559594 w 764382"/>
                <a:gd name="connsiteY61" fmla="*/ 395288 h 1088232"/>
                <a:gd name="connsiteX62" fmla="*/ 540544 w 764382"/>
                <a:gd name="connsiteY62" fmla="*/ 364332 h 1088232"/>
                <a:gd name="connsiteX63" fmla="*/ 521494 w 764382"/>
                <a:gd name="connsiteY63" fmla="*/ 364332 h 1088232"/>
                <a:gd name="connsiteX64" fmla="*/ 497682 w 764382"/>
                <a:gd name="connsiteY64" fmla="*/ 335757 h 1088232"/>
                <a:gd name="connsiteX65" fmla="*/ 461963 w 764382"/>
                <a:gd name="connsiteY65" fmla="*/ 323850 h 1088232"/>
                <a:gd name="connsiteX66" fmla="*/ 433388 w 764382"/>
                <a:gd name="connsiteY66" fmla="*/ 319088 h 1088232"/>
                <a:gd name="connsiteX67" fmla="*/ 445294 w 764382"/>
                <a:gd name="connsiteY67" fmla="*/ 278607 h 1088232"/>
                <a:gd name="connsiteX68" fmla="*/ 442913 w 764382"/>
                <a:gd name="connsiteY68" fmla="*/ 250032 h 1088232"/>
                <a:gd name="connsiteX69" fmla="*/ 457200 w 764382"/>
                <a:gd name="connsiteY69" fmla="*/ 202407 h 1088232"/>
                <a:gd name="connsiteX70" fmla="*/ 500063 w 764382"/>
                <a:gd name="connsiteY70" fmla="*/ 200025 h 1088232"/>
                <a:gd name="connsiteX71" fmla="*/ 531019 w 764382"/>
                <a:gd name="connsiteY71" fmla="*/ 216694 h 1088232"/>
                <a:gd name="connsiteX72" fmla="*/ 578644 w 764382"/>
                <a:gd name="connsiteY72" fmla="*/ 233363 h 1088232"/>
                <a:gd name="connsiteX73" fmla="*/ 604838 w 764382"/>
                <a:gd name="connsiteY73" fmla="*/ 252413 h 1088232"/>
                <a:gd name="connsiteX74" fmla="*/ 614363 w 764382"/>
                <a:gd name="connsiteY74" fmla="*/ 271463 h 1088232"/>
                <a:gd name="connsiteX75" fmla="*/ 626269 w 764382"/>
                <a:gd name="connsiteY75" fmla="*/ 280988 h 1088232"/>
                <a:gd name="connsiteX76" fmla="*/ 650082 w 764382"/>
                <a:gd name="connsiteY76" fmla="*/ 271463 h 1088232"/>
                <a:gd name="connsiteX77" fmla="*/ 671513 w 764382"/>
                <a:gd name="connsiteY77" fmla="*/ 259557 h 1088232"/>
                <a:gd name="connsiteX78" fmla="*/ 683419 w 764382"/>
                <a:gd name="connsiteY78" fmla="*/ 230982 h 1088232"/>
                <a:gd name="connsiteX79" fmla="*/ 697707 w 764382"/>
                <a:gd name="connsiteY79" fmla="*/ 204788 h 1088232"/>
                <a:gd name="connsiteX80" fmla="*/ 716757 w 764382"/>
                <a:gd name="connsiteY80" fmla="*/ 166688 h 1088232"/>
                <a:gd name="connsiteX81" fmla="*/ 719138 w 764382"/>
                <a:gd name="connsiteY81" fmla="*/ 150019 h 1088232"/>
                <a:gd name="connsiteX82" fmla="*/ 750094 w 764382"/>
                <a:gd name="connsiteY82" fmla="*/ 140494 h 1088232"/>
                <a:gd name="connsiteX83" fmla="*/ 764382 w 764382"/>
                <a:gd name="connsiteY83" fmla="*/ 119063 h 1088232"/>
                <a:gd name="connsiteX84" fmla="*/ 759619 w 764382"/>
                <a:gd name="connsiteY84" fmla="*/ 102394 h 1088232"/>
                <a:gd name="connsiteX85" fmla="*/ 728663 w 764382"/>
                <a:gd name="connsiteY85" fmla="*/ 100013 h 1088232"/>
                <a:gd name="connsiteX86" fmla="*/ 704850 w 764382"/>
                <a:gd name="connsiteY86" fmla="*/ 107157 h 1088232"/>
                <a:gd name="connsiteX87" fmla="*/ 695325 w 764382"/>
                <a:gd name="connsiteY87" fmla="*/ 126207 h 1088232"/>
                <a:gd name="connsiteX88" fmla="*/ 661988 w 764382"/>
                <a:gd name="connsiteY88" fmla="*/ 121444 h 1088232"/>
                <a:gd name="connsiteX89" fmla="*/ 633413 w 764382"/>
                <a:gd name="connsiteY89" fmla="*/ 114300 h 1088232"/>
                <a:gd name="connsiteX90" fmla="*/ 602457 w 764382"/>
                <a:gd name="connsiteY90" fmla="*/ 102394 h 1088232"/>
                <a:gd name="connsiteX91" fmla="*/ 581025 w 764382"/>
                <a:gd name="connsiteY91" fmla="*/ 83344 h 1088232"/>
                <a:gd name="connsiteX92" fmla="*/ 569119 w 764382"/>
                <a:gd name="connsiteY92" fmla="*/ 50007 h 1088232"/>
                <a:gd name="connsiteX93" fmla="*/ 559594 w 764382"/>
                <a:gd name="connsiteY93" fmla="*/ 16669 h 1088232"/>
                <a:gd name="connsiteX94" fmla="*/ 550069 w 764382"/>
                <a:gd name="connsiteY94" fmla="*/ 0 h 1088232"/>
                <a:gd name="connsiteX95" fmla="*/ 535782 w 764382"/>
                <a:gd name="connsiteY95" fmla="*/ 9525 h 1088232"/>
                <a:gd name="connsiteX96" fmla="*/ 481013 w 764382"/>
                <a:gd name="connsiteY96" fmla="*/ 83344 h 1088232"/>
                <a:gd name="connsiteX97" fmla="*/ 433388 w 764382"/>
                <a:gd name="connsiteY97" fmla="*/ 80963 h 1088232"/>
                <a:gd name="connsiteX98" fmla="*/ 414338 w 764382"/>
                <a:gd name="connsiteY98" fmla="*/ 71438 h 1088232"/>
                <a:gd name="connsiteX99" fmla="*/ 404813 w 764382"/>
                <a:gd name="connsiteY99" fmla="*/ 61913 h 1088232"/>
                <a:gd name="connsiteX100" fmla="*/ 411957 w 764382"/>
                <a:gd name="connsiteY100" fmla="*/ 107157 h 1088232"/>
                <a:gd name="connsiteX101" fmla="*/ 421482 w 764382"/>
                <a:gd name="connsiteY101" fmla="*/ 130969 h 1088232"/>
                <a:gd name="connsiteX102" fmla="*/ 421482 w 764382"/>
                <a:gd name="connsiteY102" fmla="*/ 159544 h 1088232"/>
                <a:gd name="connsiteX103" fmla="*/ 411957 w 764382"/>
                <a:gd name="connsiteY103" fmla="*/ 180975 h 1088232"/>
                <a:gd name="connsiteX104" fmla="*/ 383382 w 764382"/>
                <a:gd name="connsiteY104" fmla="*/ 192882 h 1088232"/>
                <a:gd name="connsiteX105" fmla="*/ 388144 w 764382"/>
                <a:gd name="connsiteY105" fmla="*/ 221457 h 1088232"/>
                <a:gd name="connsiteX106" fmla="*/ 385763 w 764382"/>
                <a:gd name="connsiteY106" fmla="*/ 238125 h 1088232"/>
                <a:gd name="connsiteX107" fmla="*/ 376238 w 764382"/>
                <a:gd name="connsiteY107" fmla="*/ 254794 h 1088232"/>
                <a:gd name="connsiteX108" fmla="*/ 350044 w 764382"/>
                <a:gd name="connsiteY108" fmla="*/ 264319 h 1088232"/>
                <a:gd name="connsiteX109" fmla="*/ 347663 w 764382"/>
                <a:gd name="connsiteY109" fmla="*/ 292894 h 1088232"/>
                <a:gd name="connsiteX110" fmla="*/ 347663 w 764382"/>
                <a:gd name="connsiteY110" fmla="*/ 292894 h 1088232"/>
                <a:gd name="connsiteX111" fmla="*/ 385763 w 764382"/>
                <a:gd name="connsiteY111" fmla="*/ 314325 h 1088232"/>
                <a:gd name="connsiteX112" fmla="*/ 385763 w 764382"/>
                <a:gd name="connsiteY112" fmla="*/ 359569 h 1088232"/>
                <a:gd name="connsiteX113" fmla="*/ 319088 w 764382"/>
                <a:gd name="connsiteY113" fmla="*/ 392907 h 108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764382" h="1088232">
                  <a:moveTo>
                    <a:pt x="319088" y="392907"/>
                  </a:moveTo>
                  <a:lnTo>
                    <a:pt x="350044" y="466725"/>
                  </a:lnTo>
                  <a:lnTo>
                    <a:pt x="340519" y="509588"/>
                  </a:lnTo>
                  <a:lnTo>
                    <a:pt x="333375" y="559594"/>
                  </a:lnTo>
                  <a:lnTo>
                    <a:pt x="247650" y="633413"/>
                  </a:lnTo>
                  <a:lnTo>
                    <a:pt x="238125" y="690563"/>
                  </a:lnTo>
                  <a:lnTo>
                    <a:pt x="135732" y="711994"/>
                  </a:lnTo>
                  <a:lnTo>
                    <a:pt x="116682" y="738188"/>
                  </a:lnTo>
                  <a:lnTo>
                    <a:pt x="30957" y="707232"/>
                  </a:lnTo>
                  <a:lnTo>
                    <a:pt x="16669" y="707232"/>
                  </a:lnTo>
                  <a:lnTo>
                    <a:pt x="7144" y="735807"/>
                  </a:lnTo>
                  <a:lnTo>
                    <a:pt x="0" y="752475"/>
                  </a:lnTo>
                  <a:lnTo>
                    <a:pt x="26194" y="781050"/>
                  </a:lnTo>
                  <a:lnTo>
                    <a:pt x="45244" y="778669"/>
                  </a:lnTo>
                  <a:lnTo>
                    <a:pt x="52388" y="819150"/>
                  </a:lnTo>
                  <a:lnTo>
                    <a:pt x="66675" y="840582"/>
                  </a:lnTo>
                  <a:lnTo>
                    <a:pt x="92869" y="831057"/>
                  </a:lnTo>
                  <a:lnTo>
                    <a:pt x="109538" y="819150"/>
                  </a:lnTo>
                  <a:lnTo>
                    <a:pt x="133350" y="819150"/>
                  </a:lnTo>
                  <a:lnTo>
                    <a:pt x="142875" y="912019"/>
                  </a:lnTo>
                  <a:lnTo>
                    <a:pt x="171450" y="933450"/>
                  </a:lnTo>
                  <a:lnTo>
                    <a:pt x="180975" y="966788"/>
                  </a:lnTo>
                  <a:lnTo>
                    <a:pt x="221457" y="992982"/>
                  </a:lnTo>
                  <a:lnTo>
                    <a:pt x="254794" y="1035844"/>
                  </a:lnTo>
                  <a:lnTo>
                    <a:pt x="280988" y="1054894"/>
                  </a:lnTo>
                  <a:lnTo>
                    <a:pt x="307182" y="1081088"/>
                  </a:lnTo>
                  <a:lnTo>
                    <a:pt x="319088" y="1088232"/>
                  </a:lnTo>
                  <a:lnTo>
                    <a:pt x="347663" y="1076325"/>
                  </a:lnTo>
                  <a:lnTo>
                    <a:pt x="357188" y="1050132"/>
                  </a:lnTo>
                  <a:lnTo>
                    <a:pt x="392907" y="1033463"/>
                  </a:lnTo>
                  <a:lnTo>
                    <a:pt x="414338" y="1033463"/>
                  </a:lnTo>
                  <a:lnTo>
                    <a:pt x="438150" y="1045369"/>
                  </a:lnTo>
                  <a:lnTo>
                    <a:pt x="461963" y="1073944"/>
                  </a:lnTo>
                  <a:lnTo>
                    <a:pt x="461963" y="1073944"/>
                  </a:lnTo>
                  <a:lnTo>
                    <a:pt x="511969" y="1033463"/>
                  </a:lnTo>
                  <a:lnTo>
                    <a:pt x="547688" y="1033463"/>
                  </a:lnTo>
                  <a:lnTo>
                    <a:pt x="585788" y="1012032"/>
                  </a:lnTo>
                  <a:lnTo>
                    <a:pt x="583407" y="964407"/>
                  </a:lnTo>
                  <a:lnTo>
                    <a:pt x="578644" y="947738"/>
                  </a:lnTo>
                  <a:lnTo>
                    <a:pt x="583407" y="902494"/>
                  </a:lnTo>
                  <a:lnTo>
                    <a:pt x="581025" y="842963"/>
                  </a:lnTo>
                  <a:lnTo>
                    <a:pt x="573882" y="812007"/>
                  </a:lnTo>
                  <a:lnTo>
                    <a:pt x="542925" y="778669"/>
                  </a:lnTo>
                  <a:lnTo>
                    <a:pt x="526257" y="762000"/>
                  </a:lnTo>
                  <a:lnTo>
                    <a:pt x="531019" y="742950"/>
                  </a:lnTo>
                  <a:lnTo>
                    <a:pt x="526257" y="726282"/>
                  </a:lnTo>
                  <a:lnTo>
                    <a:pt x="519113" y="700088"/>
                  </a:lnTo>
                  <a:lnTo>
                    <a:pt x="531019" y="673894"/>
                  </a:lnTo>
                  <a:lnTo>
                    <a:pt x="542925" y="659607"/>
                  </a:lnTo>
                  <a:lnTo>
                    <a:pt x="528638" y="640557"/>
                  </a:lnTo>
                  <a:lnTo>
                    <a:pt x="519113" y="616744"/>
                  </a:lnTo>
                  <a:lnTo>
                    <a:pt x="502444" y="611982"/>
                  </a:lnTo>
                  <a:lnTo>
                    <a:pt x="488157" y="604838"/>
                  </a:lnTo>
                  <a:lnTo>
                    <a:pt x="481013" y="607219"/>
                  </a:lnTo>
                  <a:lnTo>
                    <a:pt x="464344" y="557213"/>
                  </a:lnTo>
                  <a:lnTo>
                    <a:pt x="450057" y="540544"/>
                  </a:lnTo>
                  <a:lnTo>
                    <a:pt x="445294" y="492919"/>
                  </a:lnTo>
                  <a:lnTo>
                    <a:pt x="464344" y="473869"/>
                  </a:lnTo>
                  <a:lnTo>
                    <a:pt x="476250" y="438150"/>
                  </a:lnTo>
                  <a:lnTo>
                    <a:pt x="528638" y="428625"/>
                  </a:lnTo>
                  <a:lnTo>
                    <a:pt x="557213" y="426244"/>
                  </a:lnTo>
                  <a:lnTo>
                    <a:pt x="559594" y="395288"/>
                  </a:lnTo>
                  <a:lnTo>
                    <a:pt x="540544" y="364332"/>
                  </a:lnTo>
                  <a:lnTo>
                    <a:pt x="521494" y="364332"/>
                  </a:lnTo>
                  <a:lnTo>
                    <a:pt x="497682" y="335757"/>
                  </a:lnTo>
                  <a:lnTo>
                    <a:pt x="461963" y="323850"/>
                  </a:lnTo>
                  <a:lnTo>
                    <a:pt x="433388" y="319088"/>
                  </a:lnTo>
                  <a:lnTo>
                    <a:pt x="445294" y="278607"/>
                  </a:lnTo>
                  <a:lnTo>
                    <a:pt x="442913" y="250032"/>
                  </a:lnTo>
                  <a:lnTo>
                    <a:pt x="457200" y="202407"/>
                  </a:lnTo>
                  <a:lnTo>
                    <a:pt x="500063" y="200025"/>
                  </a:lnTo>
                  <a:lnTo>
                    <a:pt x="531019" y="216694"/>
                  </a:lnTo>
                  <a:lnTo>
                    <a:pt x="578644" y="233363"/>
                  </a:lnTo>
                  <a:lnTo>
                    <a:pt x="604838" y="252413"/>
                  </a:lnTo>
                  <a:lnTo>
                    <a:pt x="614363" y="271463"/>
                  </a:lnTo>
                  <a:lnTo>
                    <a:pt x="626269" y="280988"/>
                  </a:lnTo>
                  <a:lnTo>
                    <a:pt x="650082" y="271463"/>
                  </a:lnTo>
                  <a:lnTo>
                    <a:pt x="671513" y="259557"/>
                  </a:lnTo>
                  <a:lnTo>
                    <a:pt x="683419" y="230982"/>
                  </a:lnTo>
                  <a:lnTo>
                    <a:pt x="697707" y="204788"/>
                  </a:lnTo>
                  <a:lnTo>
                    <a:pt x="716757" y="166688"/>
                  </a:lnTo>
                  <a:lnTo>
                    <a:pt x="719138" y="150019"/>
                  </a:lnTo>
                  <a:lnTo>
                    <a:pt x="750094" y="140494"/>
                  </a:lnTo>
                  <a:lnTo>
                    <a:pt x="764382" y="119063"/>
                  </a:lnTo>
                  <a:lnTo>
                    <a:pt x="759619" y="102394"/>
                  </a:lnTo>
                  <a:lnTo>
                    <a:pt x="728663" y="100013"/>
                  </a:lnTo>
                  <a:lnTo>
                    <a:pt x="704850" y="107157"/>
                  </a:lnTo>
                  <a:lnTo>
                    <a:pt x="695325" y="126207"/>
                  </a:lnTo>
                  <a:lnTo>
                    <a:pt x="661988" y="121444"/>
                  </a:lnTo>
                  <a:lnTo>
                    <a:pt x="633413" y="114300"/>
                  </a:lnTo>
                  <a:lnTo>
                    <a:pt x="602457" y="102394"/>
                  </a:lnTo>
                  <a:lnTo>
                    <a:pt x="581025" y="83344"/>
                  </a:lnTo>
                  <a:lnTo>
                    <a:pt x="569119" y="50007"/>
                  </a:lnTo>
                  <a:lnTo>
                    <a:pt x="559594" y="16669"/>
                  </a:lnTo>
                  <a:lnTo>
                    <a:pt x="550069" y="0"/>
                  </a:lnTo>
                  <a:lnTo>
                    <a:pt x="535782" y="9525"/>
                  </a:lnTo>
                  <a:lnTo>
                    <a:pt x="481013" y="83344"/>
                  </a:lnTo>
                  <a:lnTo>
                    <a:pt x="433388" y="80963"/>
                  </a:lnTo>
                  <a:lnTo>
                    <a:pt x="414338" y="71438"/>
                  </a:lnTo>
                  <a:lnTo>
                    <a:pt x="404813" y="61913"/>
                  </a:lnTo>
                  <a:lnTo>
                    <a:pt x="411957" y="107157"/>
                  </a:lnTo>
                  <a:lnTo>
                    <a:pt x="421482" y="130969"/>
                  </a:lnTo>
                  <a:lnTo>
                    <a:pt x="421482" y="159544"/>
                  </a:lnTo>
                  <a:lnTo>
                    <a:pt x="411957" y="180975"/>
                  </a:lnTo>
                  <a:lnTo>
                    <a:pt x="383382" y="192882"/>
                  </a:lnTo>
                  <a:lnTo>
                    <a:pt x="388144" y="221457"/>
                  </a:lnTo>
                  <a:lnTo>
                    <a:pt x="385763" y="238125"/>
                  </a:lnTo>
                  <a:lnTo>
                    <a:pt x="376238" y="254794"/>
                  </a:lnTo>
                  <a:lnTo>
                    <a:pt x="350044" y="264319"/>
                  </a:lnTo>
                  <a:lnTo>
                    <a:pt x="347663" y="292894"/>
                  </a:lnTo>
                  <a:lnTo>
                    <a:pt x="347663" y="292894"/>
                  </a:lnTo>
                  <a:lnTo>
                    <a:pt x="385763" y="314325"/>
                  </a:lnTo>
                  <a:lnTo>
                    <a:pt x="385763" y="359569"/>
                  </a:lnTo>
                  <a:lnTo>
                    <a:pt x="319088" y="392907"/>
                  </a:lnTo>
                  <a:close/>
                </a:path>
              </a:pathLst>
            </a:custGeom>
            <a:solidFill>
              <a:schemeClr val="accent1">
                <a:lumMod val="50000"/>
              </a:schemeClr>
            </a:solid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54" name="Freeform 53"/>
            <p:cNvSpPr/>
            <p:nvPr/>
          </p:nvSpPr>
          <p:spPr>
            <a:xfrm rot="21298612">
              <a:off x="1957161" y="4456157"/>
              <a:ext cx="1568114" cy="1386303"/>
            </a:xfrm>
            <a:custGeom>
              <a:avLst/>
              <a:gdLst>
                <a:gd name="connsiteX0" fmla="*/ 688181 w 1562100"/>
                <a:gd name="connsiteY0" fmla="*/ 1000125 h 1126331"/>
                <a:gd name="connsiteX1" fmla="*/ 688181 w 1562100"/>
                <a:gd name="connsiteY1" fmla="*/ 914400 h 1126331"/>
                <a:gd name="connsiteX2" fmla="*/ 692944 w 1562100"/>
                <a:gd name="connsiteY2" fmla="*/ 871537 h 1126331"/>
                <a:gd name="connsiteX3" fmla="*/ 692944 w 1562100"/>
                <a:gd name="connsiteY3" fmla="*/ 826294 h 1126331"/>
                <a:gd name="connsiteX4" fmla="*/ 676275 w 1562100"/>
                <a:gd name="connsiteY4" fmla="*/ 802481 h 1126331"/>
                <a:gd name="connsiteX5" fmla="*/ 690563 w 1562100"/>
                <a:gd name="connsiteY5" fmla="*/ 750094 h 1126331"/>
                <a:gd name="connsiteX6" fmla="*/ 685800 w 1562100"/>
                <a:gd name="connsiteY6" fmla="*/ 723900 h 1126331"/>
                <a:gd name="connsiteX7" fmla="*/ 697706 w 1562100"/>
                <a:gd name="connsiteY7" fmla="*/ 678656 h 1126331"/>
                <a:gd name="connsiteX8" fmla="*/ 714375 w 1562100"/>
                <a:gd name="connsiteY8" fmla="*/ 654844 h 1126331"/>
                <a:gd name="connsiteX9" fmla="*/ 721519 w 1562100"/>
                <a:gd name="connsiteY9" fmla="*/ 621506 h 1126331"/>
                <a:gd name="connsiteX10" fmla="*/ 735806 w 1562100"/>
                <a:gd name="connsiteY10" fmla="*/ 602456 h 1126331"/>
                <a:gd name="connsiteX11" fmla="*/ 792956 w 1562100"/>
                <a:gd name="connsiteY11" fmla="*/ 592931 h 1126331"/>
                <a:gd name="connsiteX12" fmla="*/ 838200 w 1562100"/>
                <a:gd name="connsiteY12" fmla="*/ 576262 h 1126331"/>
                <a:gd name="connsiteX13" fmla="*/ 876300 w 1562100"/>
                <a:gd name="connsiteY13" fmla="*/ 535781 h 1126331"/>
                <a:gd name="connsiteX14" fmla="*/ 923925 w 1562100"/>
                <a:gd name="connsiteY14" fmla="*/ 521494 h 1126331"/>
                <a:gd name="connsiteX15" fmla="*/ 995363 w 1562100"/>
                <a:gd name="connsiteY15" fmla="*/ 516731 h 1126331"/>
                <a:gd name="connsiteX16" fmla="*/ 1040606 w 1562100"/>
                <a:gd name="connsiteY16" fmla="*/ 507206 h 1126331"/>
                <a:gd name="connsiteX17" fmla="*/ 1119188 w 1562100"/>
                <a:gd name="connsiteY17" fmla="*/ 400050 h 1126331"/>
                <a:gd name="connsiteX18" fmla="*/ 1126331 w 1562100"/>
                <a:gd name="connsiteY18" fmla="*/ 366712 h 1126331"/>
                <a:gd name="connsiteX19" fmla="*/ 1152525 w 1562100"/>
                <a:gd name="connsiteY19" fmla="*/ 338137 h 1126331"/>
                <a:gd name="connsiteX20" fmla="*/ 1197769 w 1562100"/>
                <a:gd name="connsiteY20" fmla="*/ 328612 h 1126331"/>
                <a:gd name="connsiteX21" fmla="*/ 1290638 w 1562100"/>
                <a:gd name="connsiteY21" fmla="*/ 252412 h 1126331"/>
                <a:gd name="connsiteX22" fmla="*/ 1314450 w 1562100"/>
                <a:gd name="connsiteY22" fmla="*/ 250031 h 1126331"/>
                <a:gd name="connsiteX23" fmla="*/ 1409700 w 1562100"/>
                <a:gd name="connsiteY23" fmla="*/ 169069 h 1126331"/>
                <a:gd name="connsiteX24" fmla="*/ 1414463 w 1562100"/>
                <a:gd name="connsiteY24" fmla="*/ 150019 h 1126331"/>
                <a:gd name="connsiteX25" fmla="*/ 1507331 w 1562100"/>
                <a:gd name="connsiteY25" fmla="*/ 95250 h 1126331"/>
                <a:gd name="connsiteX26" fmla="*/ 1543050 w 1562100"/>
                <a:gd name="connsiteY26" fmla="*/ 50006 h 1126331"/>
                <a:gd name="connsiteX27" fmla="*/ 1562100 w 1562100"/>
                <a:gd name="connsiteY27" fmla="*/ 11906 h 1126331"/>
                <a:gd name="connsiteX28" fmla="*/ 1512094 w 1562100"/>
                <a:gd name="connsiteY28" fmla="*/ 30956 h 1126331"/>
                <a:gd name="connsiteX29" fmla="*/ 1478756 w 1562100"/>
                <a:gd name="connsiteY29" fmla="*/ 30956 h 1126331"/>
                <a:gd name="connsiteX30" fmla="*/ 1452563 w 1562100"/>
                <a:gd name="connsiteY30" fmla="*/ 69056 h 1126331"/>
                <a:gd name="connsiteX31" fmla="*/ 1421606 w 1562100"/>
                <a:gd name="connsiteY31" fmla="*/ 66675 h 1126331"/>
                <a:gd name="connsiteX32" fmla="*/ 1366838 w 1562100"/>
                <a:gd name="connsiteY32" fmla="*/ 35719 h 1126331"/>
                <a:gd name="connsiteX33" fmla="*/ 1323975 w 1562100"/>
                <a:gd name="connsiteY33" fmla="*/ 23812 h 1126331"/>
                <a:gd name="connsiteX34" fmla="*/ 1238250 w 1562100"/>
                <a:gd name="connsiteY34" fmla="*/ 59531 h 1126331"/>
                <a:gd name="connsiteX35" fmla="*/ 1223963 w 1562100"/>
                <a:gd name="connsiteY35" fmla="*/ 97631 h 1126331"/>
                <a:gd name="connsiteX36" fmla="*/ 1195388 w 1562100"/>
                <a:gd name="connsiteY36" fmla="*/ 154781 h 1126331"/>
                <a:gd name="connsiteX37" fmla="*/ 1109663 w 1562100"/>
                <a:gd name="connsiteY37" fmla="*/ 116681 h 1126331"/>
                <a:gd name="connsiteX38" fmla="*/ 1097756 w 1562100"/>
                <a:gd name="connsiteY38" fmla="*/ 159544 h 1126331"/>
                <a:gd name="connsiteX39" fmla="*/ 1083469 w 1562100"/>
                <a:gd name="connsiteY39" fmla="*/ 192881 h 1126331"/>
                <a:gd name="connsiteX40" fmla="*/ 959644 w 1562100"/>
                <a:gd name="connsiteY40" fmla="*/ 223837 h 1126331"/>
                <a:gd name="connsiteX41" fmla="*/ 945356 w 1562100"/>
                <a:gd name="connsiteY41" fmla="*/ 219075 h 1126331"/>
                <a:gd name="connsiteX42" fmla="*/ 926306 w 1562100"/>
                <a:gd name="connsiteY42" fmla="*/ 240506 h 1126331"/>
                <a:gd name="connsiteX43" fmla="*/ 890588 w 1562100"/>
                <a:gd name="connsiteY43" fmla="*/ 247650 h 1126331"/>
                <a:gd name="connsiteX44" fmla="*/ 854869 w 1562100"/>
                <a:gd name="connsiteY44" fmla="*/ 197644 h 1126331"/>
                <a:gd name="connsiteX45" fmla="*/ 835819 w 1562100"/>
                <a:gd name="connsiteY45" fmla="*/ 185737 h 1126331"/>
                <a:gd name="connsiteX46" fmla="*/ 826294 w 1562100"/>
                <a:gd name="connsiteY46" fmla="*/ 140494 h 1126331"/>
                <a:gd name="connsiteX47" fmla="*/ 792956 w 1562100"/>
                <a:gd name="connsiteY47" fmla="*/ 123825 h 1126331"/>
                <a:gd name="connsiteX48" fmla="*/ 759619 w 1562100"/>
                <a:gd name="connsiteY48" fmla="*/ 116681 h 1126331"/>
                <a:gd name="connsiteX49" fmla="*/ 740569 w 1562100"/>
                <a:gd name="connsiteY49" fmla="*/ 111919 h 1126331"/>
                <a:gd name="connsiteX50" fmla="*/ 728663 w 1562100"/>
                <a:gd name="connsiteY50" fmla="*/ 102394 h 1126331"/>
                <a:gd name="connsiteX51" fmla="*/ 735806 w 1562100"/>
                <a:gd name="connsiteY51" fmla="*/ 76200 h 1126331"/>
                <a:gd name="connsiteX52" fmla="*/ 742950 w 1562100"/>
                <a:gd name="connsiteY52" fmla="*/ 52387 h 1126331"/>
                <a:gd name="connsiteX53" fmla="*/ 700088 w 1562100"/>
                <a:gd name="connsiteY53" fmla="*/ 2381 h 1126331"/>
                <a:gd name="connsiteX54" fmla="*/ 328613 w 1562100"/>
                <a:gd name="connsiteY54" fmla="*/ 0 h 1126331"/>
                <a:gd name="connsiteX55" fmla="*/ 292894 w 1562100"/>
                <a:gd name="connsiteY55" fmla="*/ 102394 h 1126331"/>
                <a:gd name="connsiteX56" fmla="*/ 264319 w 1562100"/>
                <a:gd name="connsiteY56" fmla="*/ 109537 h 1126331"/>
                <a:gd name="connsiteX57" fmla="*/ 261938 w 1562100"/>
                <a:gd name="connsiteY57" fmla="*/ 123825 h 1126331"/>
                <a:gd name="connsiteX58" fmla="*/ 261938 w 1562100"/>
                <a:gd name="connsiteY58" fmla="*/ 157162 h 1126331"/>
                <a:gd name="connsiteX59" fmla="*/ 228600 w 1562100"/>
                <a:gd name="connsiteY59" fmla="*/ 200025 h 1126331"/>
                <a:gd name="connsiteX60" fmla="*/ 271463 w 1562100"/>
                <a:gd name="connsiteY60" fmla="*/ 216694 h 1126331"/>
                <a:gd name="connsiteX61" fmla="*/ 278606 w 1562100"/>
                <a:gd name="connsiteY61" fmla="*/ 235744 h 1126331"/>
                <a:gd name="connsiteX62" fmla="*/ 257175 w 1562100"/>
                <a:gd name="connsiteY62" fmla="*/ 271462 h 1126331"/>
                <a:gd name="connsiteX63" fmla="*/ 221456 w 1562100"/>
                <a:gd name="connsiteY63" fmla="*/ 280987 h 1126331"/>
                <a:gd name="connsiteX64" fmla="*/ 221456 w 1562100"/>
                <a:gd name="connsiteY64" fmla="*/ 321469 h 1126331"/>
                <a:gd name="connsiteX65" fmla="*/ 254794 w 1562100"/>
                <a:gd name="connsiteY65" fmla="*/ 359569 h 1126331"/>
                <a:gd name="connsiteX66" fmla="*/ 226219 w 1562100"/>
                <a:gd name="connsiteY66" fmla="*/ 423862 h 1126331"/>
                <a:gd name="connsiteX67" fmla="*/ 180975 w 1562100"/>
                <a:gd name="connsiteY67" fmla="*/ 452437 h 1126331"/>
                <a:gd name="connsiteX68" fmla="*/ 183356 w 1562100"/>
                <a:gd name="connsiteY68" fmla="*/ 469106 h 1126331"/>
                <a:gd name="connsiteX69" fmla="*/ 204788 w 1562100"/>
                <a:gd name="connsiteY69" fmla="*/ 478631 h 1126331"/>
                <a:gd name="connsiteX70" fmla="*/ 219075 w 1562100"/>
                <a:gd name="connsiteY70" fmla="*/ 488156 h 1126331"/>
                <a:gd name="connsiteX71" fmla="*/ 223838 w 1562100"/>
                <a:gd name="connsiteY71" fmla="*/ 507206 h 1126331"/>
                <a:gd name="connsiteX72" fmla="*/ 195263 w 1562100"/>
                <a:gd name="connsiteY72" fmla="*/ 533400 h 1126331"/>
                <a:gd name="connsiteX73" fmla="*/ 123825 w 1562100"/>
                <a:gd name="connsiteY73" fmla="*/ 578644 h 1126331"/>
                <a:gd name="connsiteX74" fmla="*/ 123825 w 1562100"/>
                <a:gd name="connsiteY74" fmla="*/ 614362 h 1126331"/>
                <a:gd name="connsiteX75" fmla="*/ 135731 w 1562100"/>
                <a:gd name="connsiteY75" fmla="*/ 645319 h 1126331"/>
                <a:gd name="connsiteX76" fmla="*/ 123825 w 1562100"/>
                <a:gd name="connsiteY76" fmla="*/ 685800 h 1126331"/>
                <a:gd name="connsiteX77" fmla="*/ 76200 w 1562100"/>
                <a:gd name="connsiteY77" fmla="*/ 681037 h 1126331"/>
                <a:gd name="connsiteX78" fmla="*/ 52388 w 1562100"/>
                <a:gd name="connsiteY78" fmla="*/ 626269 h 1126331"/>
                <a:gd name="connsiteX79" fmla="*/ 33338 w 1562100"/>
                <a:gd name="connsiteY79" fmla="*/ 619125 h 1126331"/>
                <a:gd name="connsiteX80" fmla="*/ 23813 w 1562100"/>
                <a:gd name="connsiteY80" fmla="*/ 657225 h 1126331"/>
                <a:gd name="connsiteX81" fmla="*/ 21431 w 1562100"/>
                <a:gd name="connsiteY81" fmla="*/ 666750 h 1126331"/>
                <a:gd name="connsiteX82" fmla="*/ 7144 w 1562100"/>
                <a:gd name="connsiteY82" fmla="*/ 683419 h 1126331"/>
                <a:gd name="connsiteX83" fmla="*/ 0 w 1562100"/>
                <a:gd name="connsiteY83" fmla="*/ 740569 h 1126331"/>
                <a:gd name="connsiteX84" fmla="*/ 23813 w 1562100"/>
                <a:gd name="connsiteY84" fmla="*/ 769144 h 1126331"/>
                <a:gd name="connsiteX85" fmla="*/ 16669 w 1562100"/>
                <a:gd name="connsiteY85" fmla="*/ 809625 h 1126331"/>
                <a:gd name="connsiteX86" fmla="*/ 35719 w 1562100"/>
                <a:gd name="connsiteY86" fmla="*/ 814387 h 1126331"/>
                <a:gd name="connsiteX87" fmla="*/ 69056 w 1562100"/>
                <a:gd name="connsiteY87" fmla="*/ 814387 h 1126331"/>
                <a:gd name="connsiteX88" fmla="*/ 85725 w 1562100"/>
                <a:gd name="connsiteY88" fmla="*/ 804862 h 1126331"/>
                <a:gd name="connsiteX89" fmla="*/ 135731 w 1562100"/>
                <a:gd name="connsiteY89" fmla="*/ 862012 h 1126331"/>
                <a:gd name="connsiteX90" fmla="*/ 123825 w 1562100"/>
                <a:gd name="connsiteY90" fmla="*/ 881062 h 1126331"/>
                <a:gd name="connsiteX91" fmla="*/ 133350 w 1562100"/>
                <a:gd name="connsiteY91" fmla="*/ 909637 h 1126331"/>
                <a:gd name="connsiteX92" fmla="*/ 164306 w 1562100"/>
                <a:gd name="connsiteY92" fmla="*/ 928687 h 1126331"/>
                <a:gd name="connsiteX93" fmla="*/ 190500 w 1562100"/>
                <a:gd name="connsiteY93" fmla="*/ 938212 h 1126331"/>
                <a:gd name="connsiteX94" fmla="*/ 216694 w 1562100"/>
                <a:gd name="connsiteY94" fmla="*/ 945356 h 1126331"/>
                <a:gd name="connsiteX95" fmla="*/ 228600 w 1562100"/>
                <a:gd name="connsiteY95" fmla="*/ 947737 h 1126331"/>
                <a:gd name="connsiteX96" fmla="*/ 240506 w 1562100"/>
                <a:gd name="connsiteY96" fmla="*/ 909637 h 1126331"/>
                <a:gd name="connsiteX97" fmla="*/ 269081 w 1562100"/>
                <a:gd name="connsiteY97" fmla="*/ 914400 h 1126331"/>
                <a:gd name="connsiteX98" fmla="*/ 288131 w 1562100"/>
                <a:gd name="connsiteY98" fmla="*/ 902494 h 1126331"/>
                <a:gd name="connsiteX99" fmla="*/ 307181 w 1562100"/>
                <a:gd name="connsiteY99" fmla="*/ 952500 h 1126331"/>
                <a:gd name="connsiteX100" fmla="*/ 330994 w 1562100"/>
                <a:gd name="connsiteY100" fmla="*/ 966787 h 1126331"/>
                <a:gd name="connsiteX101" fmla="*/ 340519 w 1562100"/>
                <a:gd name="connsiteY101" fmla="*/ 995362 h 1126331"/>
                <a:gd name="connsiteX102" fmla="*/ 357188 w 1562100"/>
                <a:gd name="connsiteY102" fmla="*/ 1004887 h 1126331"/>
                <a:gd name="connsiteX103" fmla="*/ 364331 w 1562100"/>
                <a:gd name="connsiteY103" fmla="*/ 1035844 h 1126331"/>
                <a:gd name="connsiteX104" fmla="*/ 335756 w 1562100"/>
                <a:gd name="connsiteY104" fmla="*/ 1062037 h 1126331"/>
                <a:gd name="connsiteX105" fmla="*/ 309563 w 1562100"/>
                <a:gd name="connsiteY105" fmla="*/ 1078706 h 1126331"/>
                <a:gd name="connsiteX106" fmla="*/ 297656 w 1562100"/>
                <a:gd name="connsiteY106" fmla="*/ 1102519 h 1126331"/>
                <a:gd name="connsiteX107" fmla="*/ 302419 w 1562100"/>
                <a:gd name="connsiteY107" fmla="*/ 1126331 h 1126331"/>
                <a:gd name="connsiteX108" fmla="*/ 342900 w 1562100"/>
                <a:gd name="connsiteY108" fmla="*/ 1126331 h 1126331"/>
                <a:gd name="connsiteX109" fmla="*/ 390525 w 1562100"/>
                <a:gd name="connsiteY109" fmla="*/ 1121569 h 1126331"/>
                <a:gd name="connsiteX110" fmla="*/ 428625 w 1562100"/>
                <a:gd name="connsiteY110" fmla="*/ 1112044 h 1126331"/>
                <a:gd name="connsiteX111" fmla="*/ 454819 w 1562100"/>
                <a:gd name="connsiteY111" fmla="*/ 1119187 h 1126331"/>
                <a:gd name="connsiteX112" fmla="*/ 473869 w 1562100"/>
                <a:gd name="connsiteY112" fmla="*/ 1097756 h 1126331"/>
                <a:gd name="connsiteX113" fmla="*/ 492919 w 1562100"/>
                <a:gd name="connsiteY113" fmla="*/ 1097756 h 1126331"/>
                <a:gd name="connsiteX114" fmla="*/ 507206 w 1562100"/>
                <a:gd name="connsiteY114" fmla="*/ 1066800 h 1126331"/>
                <a:gd name="connsiteX115" fmla="*/ 557213 w 1562100"/>
                <a:gd name="connsiteY115" fmla="*/ 1052512 h 1126331"/>
                <a:gd name="connsiteX116" fmla="*/ 583406 w 1562100"/>
                <a:gd name="connsiteY116" fmla="*/ 1033462 h 1126331"/>
                <a:gd name="connsiteX117" fmla="*/ 590550 w 1562100"/>
                <a:gd name="connsiteY117" fmla="*/ 995362 h 1126331"/>
                <a:gd name="connsiteX118" fmla="*/ 607219 w 1562100"/>
                <a:gd name="connsiteY118" fmla="*/ 969169 h 1126331"/>
                <a:gd name="connsiteX119" fmla="*/ 688181 w 1562100"/>
                <a:gd name="connsiteY119" fmla="*/ 1000125 h 1126331"/>
                <a:gd name="connsiteX0" fmla="*/ 688181 w 1562100"/>
                <a:gd name="connsiteY0" fmla="*/ 1000125 h 1126331"/>
                <a:gd name="connsiteX1" fmla="*/ 688181 w 1562100"/>
                <a:gd name="connsiteY1" fmla="*/ 914400 h 1126331"/>
                <a:gd name="connsiteX2" fmla="*/ 692944 w 1562100"/>
                <a:gd name="connsiteY2" fmla="*/ 871537 h 1126331"/>
                <a:gd name="connsiteX3" fmla="*/ 692944 w 1562100"/>
                <a:gd name="connsiteY3" fmla="*/ 826294 h 1126331"/>
                <a:gd name="connsiteX4" fmla="*/ 676275 w 1562100"/>
                <a:gd name="connsiteY4" fmla="*/ 802481 h 1126331"/>
                <a:gd name="connsiteX5" fmla="*/ 690563 w 1562100"/>
                <a:gd name="connsiteY5" fmla="*/ 750094 h 1126331"/>
                <a:gd name="connsiteX6" fmla="*/ 685800 w 1562100"/>
                <a:gd name="connsiteY6" fmla="*/ 723900 h 1126331"/>
                <a:gd name="connsiteX7" fmla="*/ 697706 w 1562100"/>
                <a:gd name="connsiteY7" fmla="*/ 678656 h 1126331"/>
                <a:gd name="connsiteX8" fmla="*/ 714375 w 1562100"/>
                <a:gd name="connsiteY8" fmla="*/ 654844 h 1126331"/>
                <a:gd name="connsiteX9" fmla="*/ 721519 w 1562100"/>
                <a:gd name="connsiteY9" fmla="*/ 621506 h 1126331"/>
                <a:gd name="connsiteX10" fmla="*/ 735806 w 1562100"/>
                <a:gd name="connsiteY10" fmla="*/ 602456 h 1126331"/>
                <a:gd name="connsiteX11" fmla="*/ 792956 w 1562100"/>
                <a:gd name="connsiteY11" fmla="*/ 592931 h 1126331"/>
                <a:gd name="connsiteX12" fmla="*/ 838200 w 1562100"/>
                <a:gd name="connsiteY12" fmla="*/ 576262 h 1126331"/>
                <a:gd name="connsiteX13" fmla="*/ 876300 w 1562100"/>
                <a:gd name="connsiteY13" fmla="*/ 535781 h 1126331"/>
                <a:gd name="connsiteX14" fmla="*/ 923925 w 1562100"/>
                <a:gd name="connsiteY14" fmla="*/ 521494 h 1126331"/>
                <a:gd name="connsiteX15" fmla="*/ 995363 w 1562100"/>
                <a:gd name="connsiteY15" fmla="*/ 516731 h 1126331"/>
                <a:gd name="connsiteX16" fmla="*/ 1040606 w 1562100"/>
                <a:gd name="connsiteY16" fmla="*/ 507206 h 1126331"/>
                <a:gd name="connsiteX17" fmla="*/ 1119188 w 1562100"/>
                <a:gd name="connsiteY17" fmla="*/ 400050 h 1126331"/>
                <a:gd name="connsiteX18" fmla="*/ 1126331 w 1562100"/>
                <a:gd name="connsiteY18" fmla="*/ 366712 h 1126331"/>
                <a:gd name="connsiteX19" fmla="*/ 1152525 w 1562100"/>
                <a:gd name="connsiteY19" fmla="*/ 338137 h 1126331"/>
                <a:gd name="connsiteX20" fmla="*/ 1197769 w 1562100"/>
                <a:gd name="connsiteY20" fmla="*/ 328612 h 1126331"/>
                <a:gd name="connsiteX21" fmla="*/ 1290638 w 1562100"/>
                <a:gd name="connsiteY21" fmla="*/ 252412 h 1126331"/>
                <a:gd name="connsiteX22" fmla="*/ 1314450 w 1562100"/>
                <a:gd name="connsiteY22" fmla="*/ 250031 h 1126331"/>
                <a:gd name="connsiteX23" fmla="*/ 1409700 w 1562100"/>
                <a:gd name="connsiteY23" fmla="*/ 169069 h 1126331"/>
                <a:gd name="connsiteX24" fmla="*/ 1414463 w 1562100"/>
                <a:gd name="connsiteY24" fmla="*/ 150019 h 1126331"/>
                <a:gd name="connsiteX25" fmla="*/ 1507331 w 1562100"/>
                <a:gd name="connsiteY25" fmla="*/ 95250 h 1126331"/>
                <a:gd name="connsiteX26" fmla="*/ 1543050 w 1562100"/>
                <a:gd name="connsiteY26" fmla="*/ 50006 h 1126331"/>
                <a:gd name="connsiteX27" fmla="*/ 1562100 w 1562100"/>
                <a:gd name="connsiteY27" fmla="*/ 11906 h 1126331"/>
                <a:gd name="connsiteX28" fmla="*/ 1512094 w 1562100"/>
                <a:gd name="connsiteY28" fmla="*/ 30956 h 1126331"/>
                <a:gd name="connsiteX29" fmla="*/ 1478756 w 1562100"/>
                <a:gd name="connsiteY29" fmla="*/ 30956 h 1126331"/>
                <a:gd name="connsiteX30" fmla="*/ 1452563 w 1562100"/>
                <a:gd name="connsiteY30" fmla="*/ 69056 h 1126331"/>
                <a:gd name="connsiteX31" fmla="*/ 1421606 w 1562100"/>
                <a:gd name="connsiteY31" fmla="*/ 66675 h 1126331"/>
                <a:gd name="connsiteX32" fmla="*/ 1366838 w 1562100"/>
                <a:gd name="connsiteY32" fmla="*/ 35719 h 1126331"/>
                <a:gd name="connsiteX33" fmla="*/ 1323975 w 1562100"/>
                <a:gd name="connsiteY33" fmla="*/ 23812 h 1126331"/>
                <a:gd name="connsiteX34" fmla="*/ 1238250 w 1562100"/>
                <a:gd name="connsiteY34" fmla="*/ 59531 h 1126331"/>
                <a:gd name="connsiteX35" fmla="*/ 1223963 w 1562100"/>
                <a:gd name="connsiteY35" fmla="*/ 97631 h 1126331"/>
                <a:gd name="connsiteX36" fmla="*/ 1195388 w 1562100"/>
                <a:gd name="connsiteY36" fmla="*/ 154781 h 1126331"/>
                <a:gd name="connsiteX37" fmla="*/ 1109663 w 1562100"/>
                <a:gd name="connsiteY37" fmla="*/ 116681 h 1126331"/>
                <a:gd name="connsiteX38" fmla="*/ 1097756 w 1562100"/>
                <a:gd name="connsiteY38" fmla="*/ 159544 h 1126331"/>
                <a:gd name="connsiteX39" fmla="*/ 1083469 w 1562100"/>
                <a:gd name="connsiteY39" fmla="*/ 192881 h 1126331"/>
                <a:gd name="connsiteX40" fmla="*/ 959644 w 1562100"/>
                <a:gd name="connsiteY40" fmla="*/ 223837 h 1126331"/>
                <a:gd name="connsiteX41" fmla="*/ 945356 w 1562100"/>
                <a:gd name="connsiteY41" fmla="*/ 219075 h 1126331"/>
                <a:gd name="connsiteX42" fmla="*/ 926306 w 1562100"/>
                <a:gd name="connsiteY42" fmla="*/ 240506 h 1126331"/>
                <a:gd name="connsiteX43" fmla="*/ 890588 w 1562100"/>
                <a:gd name="connsiteY43" fmla="*/ 247650 h 1126331"/>
                <a:gd name="connsiteX44" fmla="*/ 854869 w 1562100"/>
                <a:gd name="connsiteY44" fmla="*/ 197644 h 1126331"/>
                <a:gd name="connsiteX45" fmla="*/ 835819 w 1562100"/>
                <a:gd name="connsiteY45" fmla="*/ 185737 h 1126331"/>
                <a:gd name="connsiteX46" fmla="*/ 826294 w 1562100"/>
                <a:gd name="connsiteY46" fmla="*/ 140494 h 1126331"/>
                <a:gd name="connsiteX47" fmla="*/ 792956 w 1562100"/>
                <a:gd name="connsiteY47" fmla="*/ 123825 h 1126331"/>
                <a:gd name="connsiteX48" fmla="*/ 759619 w 1562100"/>
                <a:gd name="connsiteY48" fmla="*/ 116681 h 1126331"/>
                <a:gd name="connsiteX49" fmla="*/ 740569 w 1562100"/>
                <a:gd name="connsiteY49" fmla="*/ 111919 h 1126331"/>
                <a:gd name="connsiteX50" fmla="*/ 728663 w 1562100"/>
                <a:gd name="connsiteY50" fmla="*/ 102394 h 1126331"/>
                <a:gd name="connsiteX51" fmla="*/ 735806 w 1562100"/>
                <a:gd name="connsiteY51" fmla="*/ 76200 h 1126331"/>
                <a:gd name="connsiteX52" fmla="*/ 742950 w 1562100"/>
                <a:gd name="connsiteY52" fmla="*/ 52387 h 1126331"/>
                <a:gd name="connsiteX53" fmla="*/ 700088 w 1562100"/>
                <a:gd name="connsiteY53" fmla="*/ 2381 h 1126331"/>
                <a:gd name="connsiteX54" fmla="*/ 378619 w 1562100"/>
                <a:gd name="connsiteY54" fmla="*/ 2381 h 1126331"/>
                <a:gd name="connsiteX55" fmla="*/ 328613 w 1562100"/>
                <a:gd name="connsiteY55" fmla="*/ 0 h 1126331"/>
                <a:gd name="connsiteX56" fmla="*/ 292894 w 1562100"/>
                <a:gd name="connsiteY56" fmla="*/ 102394 h 1126331"/>
                <a:gd name="connsiteX57" fmla="*/ 264319 w 1562100"/>
                <a:gd name="connsiteY57" fmla="*/ 109537 h 1126331"/>
                <a:gd name="connsiteX58" fmla="*/ 261938 w 1562100"/>
                <a:gd name="connsiteY58" fmla="*/ 123825 h 1126331"/>
                <a:gd name="connsiteX59" fmla="*/ 261938 w 1562100"/>
                <a:gd name="connsiteY59" fmla="*/ 157162 h 1126331"/>
                <a:gd name="connsiteX60" fmla="*/ 228600 w 1562100"/>
                <a:gd name="connsiteY60" fmla="*/ 200025 h 1126331"/>
                <a:gd name="connsiteX61" fmla="*/ 271463 w 1562100"/>
                <a:gd name="connsiteY61" fmla="*/ 216694 h 1126331"/>
                <a:gd name="connsiteX62" fmla="*/ 278606 w 1562100"/>
                <a:gd name="connsiteY62" fmla="*/ 235744 h 1126331"/>
                <a:gd name="connsiteX63" fmla="*/ 257175 w 1562100"/>
                <a:gd name="connsiteY63" fmla="*/ 271462 h 1126331"/>
                <a:gd name="connsiteX64" fmla="*/ 221456 w 1562100"/>
                <a:gd name="connsiteY64" fmla="*/ 280987 h 1126331"/>
                <a:gd name="connsiteX65" fmla="*/ 221456 w 1562100"/>
                <a:gd name="connsiteY65" fmla="*/ 321469 h 1126331"/>
                <a:gd name="connsiteX66" fmla="*/ 254794 w 1562100"/>
                <a:gd name="connsiteY66" fmla="*/ 359569 h 1126331"/>
                <a:gd name="connsiteX67" fmla="*/ 226219 w 1562100"/>
                <a:gd name="connsiteY67" fmla="*/ 423862 h 1126331"/>
                <a:gd name="connsiteX68" fmla="*/ 180975 w 1562100"/>
                <a:gd name="connsiteY68" fmla="*/ 452437 h 1126331"/>
                <a:gd name="connsiteX69" fmla="*/ 183356 w 1562100"/>
                <a:gd name="connsiteY69" fmla="*/ 469106 h 1126331"/>
                <a:gd name="connsiteX70" fmla="*/ 204788 w 1562100"/>
                <a:gd name="connsiteY70" fmla="*/ 478631 h 1126331"/>
                <a:gd name="connsiteX71" fmla="*/ 219075 w 1562100"/>
                <a:gd name="connsiteY71" fmla="*/ 488156 h 1126331"/>
                <a:gd name="connsiteX72" fmla="*/ 223838 w 1562100"/>
                <a:gd name="connsiteY72" fmla="*/ 507206 h 1126331"/>
                <a:gd name="connsiteX73" fmla="*/ 195263 w 1562100"/>
                <a:gd name="connsiteY73" fmla="*/ 533400 h 1126331"/>
                <a:gd name="connsiteX74" fmla="*/ 123825 w 1562100"/>
                <a:gd name="connsiteY74" fmla="*/ 578644 h 1126331"/>
                <a:gd name="connsiteX75" fmla="*/ 123825 w 1562100"/>
                <a:gd name="connsiteY75" fmla="*/ 614362 h 1126331"/>
                <a:gd name="connsiteX76" fmla="*/ 135731 w 1562100"/>
                <a:gd name="connsiteY76" fmla="*/ 645319 h 1126331"/>
                <a:gd name="connsiteX77" fmla="*/ 123825 w 1562100"/>
                <a:gd name="connsiteY77" fmla="*/ 685800 h 1126331"/>
                <a:gd name="connsiteX78" fmla="*/ 76200 w 1562100"/>
                <a:gd name="connsiteY78" fmla="*/ 681037 h 1126331"/>
                <a:gd name="connsiteX79" fmla="*/ 52388 w 1562100"/>
                <a:gd name="connsiteY79" fmla="*/ 626269 h 1126331"/>
                <a:gd name="connsiteX80" fmla="*/ 33338 w 1562100"/>
                <a:gd name="connsiteY80" fmla="*/ 619125 h 1126331"/>
                <a:gd name="connsiteX81" fmla="*/ 23813 w 1562100"/>
                <a:gd name="connsiteY81" fmla="*/ 657225 h 1126331"/>
                <a:gd name="connsiteX82" fmla="*/ 21431 w 1562100"/>
                <a:gd name="connsiteY82" fmla="*/ 666750 h 1126331"/>
                <a:gd name="connsiteX83" fmla="*/ 7144 w 1562100"/>
                <a:gd name="connsiteY83" fmla="*/ 683419 h 1126331"/>
                <a:gd name="connsiteX84" fmla="*/ 0 w 1562100"/>
                <a:gd name="connsiteY84" fmla="*/ 740569 h 1126331"/>
                <a:gd name="connsiteX85" fmla="*/ 23813 w 1562100"/>
                <a:gd name="connsiteY85" fmla="*/ 769144 h 1126331"/>
                <a:gd name="connsiteX86" fmla="*/ 16669 w 1562100"/>
                <a:gd name="connsiteY86" fmla="*/ 809625 h 1126331"/>
                <a:gd name="connsiteX87" fmla="*/ 35719 w 1562100"/>
                <a:gd name="connsiteY87" fmla="*/ 814387 h 1126331"/>
                <a:gd name="connsiteX88" fmla="*/ 69056 w 1562100"/>
                <a:gd name="connsiteY88" fmla="*/ 814387 h 1126331"/>
                <a:gd name="connsiteX89" fmla="*/ 85725 w 1562100"/>
                <a:gd name="connsiteY89" fmla="*/ 804862 h 1126331"/>
                <a:gd name="connsiteX90" fmla="*/ 135731 w 1562100"/>
                <a:gd name="connsiteY90" fmla="*/ 862012 h 1126331"/>
                <a:gd name="connsiteX91" fmla="*/ 123825 w 1562100"/>
                <a:gd name="connsiteY91" fmla="*/ 881062 h 1126331"/>
                <a:gd name="connsiteX92" fmla="*/ 133350 w 1562100"/>
                <a:gd name="connsiteY92" fmla="*/ 909637 h 1126331"/>
                <a:gd name="connsiteX93" fmla="*/ 164306 w 1562100"/>
                <a:gd name="connsiteY93" fmla="*/ 928687 h 1126331"/>
                <a:gd name="connsiteX94" fmla="*/ 190500 w 1562100"/>
                <a:gd name="connsiteY94" fmla="*/ 938212 h 1126331"/>
                <a:gd name="connsiteX95" fmla="*/ 216694 w 1562100"/>
                <a:gd name="connsiteY95" fmla="*/ 945356 h 1126331"/>
                <a:gd name="connsiteX96" fmla="*/ 228600 w 1562100"/>
                <a:gd name="connsiteY96" fmla="*/ 947737 h 1126331"/>
                <a:gd name="connsiteX97" fmla="*/ 240506 w 1562100"/>
                <a:gd name="connsiteY97" fmla="*/ 909637 h 1126331"/>
                <a:gd name="connsiteX98" fmla="*/ 269081 w 1562100"/>
                <a:gd name="connsiteY98" fmla="*/ 914400 h 1126331"/>
                <a:gd name="connsiteX99" fmla="*/ 288131 w 1562100"/>
                <a:gd name="connsiteY99" fmla="*/ 902494 h 1126331"/>
                <a:gd name="connsiteX100" fmla="*/ 307181 w 1562100"/>
                <a:gd name="connsiteY100" fmla="*/ 952500 h 1126331"/>
                <a:gd name="connsiteX101" fmla="*/ 330994 w 1562100"/>
                <a:gd name="connsiteY101" fmla="*/ 966787 h 1126331"/>
                <a:gd name="connsiteX102" fmla="*/ 340519 w 1562100"/>
                <a:gd name="connsiteY102" fmla="*/ 995362 h 1126331"/>
                <a:gd name="connsiteX103" fmla="*/ 357188 w 1562100"/>
                <a:gd name="connsiteY103" fmla="*/ 1004887 h 1126331"/>
                <a:gd name="connsiteX104" fmla="*/ 364331 w 1562100"/>
                <a:gd name="connsiteY104" fmla="*/ 1035844 h 1126331"/>
                <a:gd name="connsiteX105" fmla="*/ 335756 w 1562100"/>
                <a:gd name="connsiteY105" fmla="*/ 1062037 h 1126331"/>
                <a:gd name="connsiteX106" fmla="*/ 309563 w 1562100"/>
                <a:gd name="connsiteY106" fmla="*/ 1078706 h 1126331"/>
                <a:gd name="connsiteX107" fmla="*/ 297656 w 1562100"/>
                <a:gd name="connsiteY107" fmla="*/ 1102519 h 1126331"/>
                <a:gd name="connsiteX108" fmla="*/ 302419 w 1562100"/>
                <a:gd name="connsiteY108" fmla="*/ 1126331 h 1126331"/>
                <a:gd name="connsiteX109" fmla="*/ 342900 w 1562100"/>
                <a:gd name="connsiteY109" fmla="*/ 1126331 h 1126331"/>
                <a:gd name="connsiteX110" fmla="*/ 390525 w 1562100"/>
                <a:gd name="connsiteY110" fmla="*/ 1121569 h 1126331"/>
                <a:gd name="connsiteX111" fmla="*/ 428625 w 1562100"/>
                <a:gd name="connsiteY111" fmla="*/ 1112044 h 1126331"/>
                <a:gd name="connsiteX112" fmla="*/ 454819 w 1562100"/>
                <a:gd name="connsiteY112" fmla="*/ 1119187 h 1126331"/>
                <a:gd name="connsiteX113" fmla="*/ 473869 w 1562100"/>
                <a:gd name="connsiteY113" fmla="*/ 1097756 h 1126331"/>
                <a:gd name="connsiteX114" fmla="*/ 492919 w 1562100"/>
                <a:gd name="connsiteY114" fmla="*/ 1097756 h 1126331"/>
                <a:gd name="connsiteX115" fmla="*/ 507206 w 1562100"/>
                <a:gd name="connsiteY115" fmla="*/ 1066800 h 1126331"/>
                <a:gd name="connsiteX116" fmla="*/ 557213 w 1562100"/>
                <a:gd name="connsiteY116" fmla="*/ 1052512 h 1126331"/>
                <a:gd name="connsiteX117" fmla="*/ 583406 w 1562100"/>
                <a:gd name="connsiteY117" fmla="*/ 1033462 h 1126331"/>
                <a:gd name="connsiteX118" fmla="*/ 590550 w 1562100"/>
                <a:gd name="connsiteY118" fmla="*/ 995362 h 1126331"/>
                <a:gd name="connsiteX119" fmla="*/ 607219 w 1562100"/>
                <a:gd name="connsiteY119" fmla="*/ 969169 h 1126331"/>
                <a:gd name="connsiteX120" fmla="*/ 688181 w 1562100"/>
                <a:gd name="connsiteY120" fmla="*/ 1000125 h 1126331"/>
                <a:gd name="connsiteX0" fmla="*/ 688181 w 1562100"/>
                <a:gd name="connsiteY0" fmla="*/ 1078707 h 1204913"/>
                <a:gd name="connsiteX1" fmla="*/ 688181 w 1562100"/>
                <a:gd name="connsiteY1" fmla="*/ 992982 h 1204913"/>
                <a:gd name="connsiteX2" fmla="*/ 692944 w 1562100"/>
                <a:gd name="connsiteY2" fmla="*/ 950119 h 1204913"/>
                <a:gd name="connsiteX3" fmla="*/ 692944 w 1562100"/>
                <a:gd name="connsiteY3" fmla="*/ 904876 h 1204913"/>
                <a:gd name="connsiteX4" fmla="*/ 676275 w 1562100"/>
                <a:gd name="connsiteY4" fmla="*/ 881063 h 1204913"/>
                <a:gd name="connsiteX5" fmla="*/ 690563 w 1562100"/>
                <a:gd name="connsiteY5" fmla="*/ 828676 h 1204913"/>
                <a:gd name="connsiteX6" fmla="*/ 685800 w 1562100"/>
                <a:gd name="connsiteY6" fmla="*/ 802482 h 1204913"/>
                <a:gd name="connsiteX7" fmla="*/ 697706 w 1562100"/>
                <a:gd name="connsiteY7" fmla="*/ 757238 h 1204913"/>
                <a:gd name="connsiteX8" fmla="*/ 714375 w 1562100"/>
                <a:gd name="connsiteY8" fmla="*/ 733426 h 1204913"/>
                <a:gd name="connsiteX9" fmla="*/ 721519 w 1562100"/>
                <a:gd name="connsiteY9" fmla="*/ 700088 h 1204913"/>
                <a:gd name="connsiteX10" fmla="*/ 735806 w 1562100"/>
                <a:gd name="connsiteY10" fmla="*/ 681038 h 1204913"/>
                <a:gd name="connsiteX11" fmla="*/ 792956 w 1562100"/>
                <a:gd name="connsiteY11" fmla="*/ 671513 h 1204913"/>
                <a:gd name="connsiteX12" fmla="*/ 838200 w 1562100"/>
                <a:gd name="connsiteY12" fmla="*/ 654844 h 1204913"/>
                <a:gd name="connsiteX13" fmla="*/ 876300 w 1562100"/>
                <a:gd name="connsiteY13" fmla="*/ 614363 h 1204913"/>
                <a:gd name="connsiteX14" fmla="*/ 923925 w 1562100"/>
                <a:gd name="connsiteY14" fmla="*/ 600076 h 1204913"/>
                <a:gd name="connsiteX15" fmla="*/ 995363 w 1562100"/>
                <a:gd name="connsiteY15" fmla="*/ 595313 h 1204913"/>
                <a:gd name="connsiteX16" fmla="*/ 1040606 w 1562100"/>
                <a:gd name="connsiteY16" fmla="*/ 585788 h 1204913"/>
                <a:gd name="connsiteX17" fmla="*/ 1119188 w 1562100"/>
                <a:gd name="connsiteY17" fmla="*/ 478632 h 1204913"/>
                <a:gd name="connsiteX18" fmla="*/ 1126331 w 1562100"/>
                <a:gd name="connsiteY18" fmla="*/ 445294 h 1204913"/>
                <a:gd name="connsiteX19" fmla="*/ 1152525 w 1562100"/>
                <a:gd name="connsiteY19" fmla="*/ 416719 h 1204913"/>
                <a:gd name="connsiteX20" fmla="*/ 1197769 w 1562100"/>
                <a:gd name="connsiteY20" fmla="*/ 407194 h 1204913"/>
                <a:gd name="connsiteX21" fmla="*/ 1290638 w 1562100"/>
                <a:gd name="connsiteY21" fmla="*/ 330994 h 1204913"/>
                <a:gd name="connsiteX22" fmla="*/ 1314450 w 1562100"/>
                <a:gd name="connsiteY22" fmla="*/ 328613 h 1204913"/>
                <a:gd name="connsiteX23" fmla="*/ 1409700 w 1562100"/>
                <a:gd name="connsiteY23" fmla="*/ 247651 h 1204913"/>
                <a:gd name="connsiteX24" fmla="*/ 1414463 w 1562100"/>
                <a:gd name="connsiteY24" fmla="*/ 228601 h 1204913"/>
                <a:gd name="connsiteX25" fmla="*/ 1507331 w 1562100"/>
                <a:gd name="connsiteY25" fmla="*/ 173832 h 1204913"/>
                <a:gd name="connsiteX26" fmla="*/ 1543050 w 1562100"/>
                <a:gd name="connsiteY26" fmla="*/ 128588 h 1204913"/>
                <a:gd name="connsiteX27" fmla="*/ 1562100 w 1562100"/>
                <a:gd name="connsiteY27" fmla="*/ 90488 h 1204913"/>
                <a:gd name="connsiteX28" fmla="*/ 1512094 w 1562100"/>
                <a:gd name="connsiteY28" fmla="*/ 109538 h 1204913"/>
                <a:gd name="connsiteX29" fmla="*/ 1478756 w 1562100"/>
                <a:gd name="connsiteY29" fmla="*/ 109538 h 1204913"/>
                <a:gd name="connsiteX30" fmla="*/ 1452563 w 1562100"/>
                <a:gd name="connsiteY30" fmla="*/ 147638 h 1204913"/>
                <a:gd name="connsiteX31" fmla="*/ 1421606 w 1562100"/>
                <a:gd name="connsiteY31" fmla="*/ 145257 h 1204913"/>
                <a:gd name="connsiteX32" fmla="*/ 1366838 w 1562100"/>
                <a:gd name="connsiteY32" fmla="*/ 114301 h 1204913"/>
                <a:gd name="connsiteX33" fmla="*/ 1323975 w 1562100"/>
                <a:gd name="connsiteY33" fmla="*/ 102394 h 1204913"/>
                <a:gd name="connsiteX34" fmla="*/ 1238250 w 1562100"/>
                <a:gd name="connsiteY34" fmla="*/ 138113 h 1204913"/>
                <a:gd name="connsiteX35" fmla="*/ 1223963 w 1562100"/>
                <a:gd name="connsiteY35" fmla="*/ 176213 h 1204913"/>
                <a:gd name="connsiteX36" fmla="*/ 1195388 w 1562100"/>
                <a:gd name="connsiteY36" fmla="*/ 233363 h 1204913"/>
                <a:gd name="connsiteX37" fmla="*/ 1109663 w 1562100"/>
                <a:gd name="connsiteY37" fmla="*/ 195263 h 1204913"/>
                <a:gd name="connsiteX38" fmla="*/ 1097756 w 1562100"/>
                <a:gd name="connsiteY38" fmla="*/ 238126 h 1204913"/>
                <a:gd name="connsiteX39" fmla="*/ 1083469 w 1562100"/>
                <a:gd name="connsiteY39" fmla="*/ 271463 h 1204913"/>
                <a:gd name="connsiteX40" fmla="*/ 959644 w 1562100"/>
                <a:gd name="connsiteY40" fmla="*/ 302419 h 1204913"/>
                <a:gd name="connsiteX41" fmla="*/ 945356 w 1562100"/>
                <a:gd name="connsiteY41" fmla="*/ 297657 h 1204913"/>
                <a:gd name="connsiteX42" fmla="*/ 926306 w 1562100"/>
                <a:gd name="connsiteY42" fmla="*/ 319088 h 1204913"/>
                <a:gd name="connsiteX43" fmla="*/ 890588 w 1562100"/>
                <a:gd name="connsiteY43" fmla="*/ 326232 h 1204913"/>
                <a:gd name="connsiteX44" fmla="*/ 854869 w 1562100"/>
                <a:gd name="connsiteY44" fmla="*/ 276226 h 1204913"/>
                <a:gd name="connsiteX45" fmla="*/ 835819 w 1562100"/>
                <a:gd name="connsiteY45" fmla="*/ 264319 h 1204913"/>
                <a:gd name="connsiteX46" fmla="*/ 826294 w 1562100"/>
                <a:gd name="connsiteY46" fmla="*/ 219076 h 1204913"/>
                <a:gd name="connsiteX47" fmla="*/ 792956 w 1562100"/>
                <a:gd name="connsiteY47" fmla="*/ 202407 h 1204913"/>
                <a:gd name="connsiteX48" fmla="*/ 759619 w 1562100"/>
                <a:gd name="connsiteY48" fmla="*/ 195263 h 1204913"/>
                <a:gd name="connsiteX49" fmla="*/ 740569 w 1562100"/>
                <a:gd name="connsiteY49" fmla="*/ 190501 h 1204913"/>
                <a:gd name="connsiteX50" fmla="*/ 728663 w 1562100"/>
                <a:gd name="connsiteY50" fmla="*/ 180976 h 1204913"/>
                <a:gd name="connsiteX51" fmla="*/ 735806 w 1562100"/>
                <a:gd name="connsiteY51" fmla="*/ 154782 h 1204913"/>
                <a:gd name="connsiteX52" fmla="*/ 742950 w 1562100"/>
                <a:gd name="connsiteY52" fmla="*/ 130969 h 1204913"/>
                <a:gd name="connsiteX53" fmla="*/ 700088 w 1562100"/>
                <a:gd name="connsiteY53" fmla="*/ 80963 h 1204913"/>
                <a:gd name="connsiteX54" fmla="*/ 314326 w 1562100"/>
                <a:gd name="connsiteY54" fmla="*/ 0 h 1204913"/>
                <a:gd name="connsiteX55" fmla="*/ 328613 w 1562100"/>
                <a:gd name="connsiteY55" fmla="*/ 78582 h 1204913"/>
                <a:gd name="connsiteX56" fmla="*/ 292894 w 1562100"/>
                <a:gd name="connsiteY56" fmla="*/ 180976 h 1204913"/>
                <a:gd name="connsiteX57" fmla="*/ 264319 w 1562100"/>
                <a:gd name="connsiteY57" fmla="*/ 188119 h 1204913"/>
                <a:gd name="connsiteX58" fmla="*/ 261938 w 1562100"/>
                <a:gd name="connsiteY58" fmla="*/ 202407 h 1204913"/>
                <a:gd name="connsiteX59" fmla="*/ 261938 w 1562100"/>
                <a:gd name="connsiteY59" fmla="*/ 235744 h 1204913"/>
                <a:gd name="connsiteX60" fmla="*/ 228600 w 1562100"/>
                <a:gd name="connsiteY60" fmla="*/ 278607 h 1204913"/>
                <a:gd name="connsiteX61" fmla="*/ 271463 w 1562100"/>
                <a:gd name="connsiteY61" fmla="*/ 295276 h 1204913"/>
                <a:gd name="connsiteX62" fmla="*/ 278606 w 1562100"/>
                <a:gd name="connsiteY62" fmla="*/ 314326 h 1204913"/>
                <a:gd name="connsiteX63" fmla="*/ 257175 w 1562100"/>
                <a:gd name="connsiteY63" fmla="*/ 350044 h 1204913"/>
                <a:gd name="connsiteX64" fmla="*/ 221456 w 1562100"/>
                <a:gd name="connsiteY64" fmla="*/ 359569 h 1204913"/>
                <a:gd name="connsiteX65" fmla="*/ 221456 w 1562100"/>
                <a:gd name="connsiteY65" fmla="*/ 400051 h 1204913"/>
                <a:gd name="connsiteX66" fmla="*/ 254794 w 1562100"/>
                <a:gd name="connsiteY66" fmla="*/ 438151 h 1204913"/>
                <a:gd name="connsiteX67" fmla="*/ 226219 w 1562100"/>
                <a:gd name="connsiteY67" fmla="*/ 502444 h 1204913"/>
                <a:gd name="connsiteX68" fmla="*/ 180975 w 1562100"/>
                <a:gd name="connsiteY68" fmla="*/ 531019 h 1204913"/>
                <a:gd name="connsiteX69" fmla="*/ 183356 w 1562100"/>
                <a:gd name="connsiteY69" fmla="*/ 547688 h 1204913"/>
                <a:gd name="connsiteX70" fmla="*/ 204788 w 1562100"/>
                <a:gd name="connsiteY70" fmla="*/ 557213 h 1204913"/>
                <a:gd name="connsiteX71" fmla="*/ 219075 w 1562100"/>
                <a:gd name="connsiteY71" fmla="*/ 566738 h 1204913"/>
                <a:gd name="connsiteX72" fmla="*/ 223838 w 1562100"/>
                <a:gd name="connsiteY72" fmla="*/ 585788 h 1204913"/>
                <a:gd name="connsiteX73" fmla="*/ 195263 w 1562100"/>
                <a:gd name="connsiteY73" fmla="*/ 611982 h 1204913"/>
                <a:gd name="connsiteX74" fmla="*/ 123825 w 1562100"/>
                <a:gd name="connsiteY74" fmla="*/ 657226 h 1204913"/>
                <a:gd name="connsiteX75" fmla="*/ 123825 w 1562100"/>
                <a:gd name="connsiteY75" fmla="*/ 692944 h 1204913"/>
                <a:gd name="connsiteX76" fmla="*/ 135731 w 1562100"/>
                <a:gd name="connsiteY76" fmla="*/ 723901 h 1204913"/>
                <a:gd name="connsiteX77" fmla="*/ 123825 w 1562100"/>
                <a:gd name="connsiteY77" fmla="*/ 764382 h 1204913"/>
                <a:gd name="connsiteX78" fmla="*/ 76200 w 1562100"/>
                <a:gd name="connsiteY78" fmla="*/ 759619 h 1204913"/>
                <a:gd name="connsiteX79" fmla="*/ 52388 w 1562100"/>
                <a:gd name="connsiteY79" fmla="*/ 704851 h 1204913"/>
                <a:gd name="connsiteX80" fmla="*/ 33338 w 1562100"/>
                <a:gd name="connsiteY80" fmla="*/ 697707 h 1204913"/>
                <a:gd name="connsiteX81" fmla="*/ 23813 w 1562100"/>
                <a:gd name="connsiteY81" fmla="*/ 735807 h 1204913"/>
                <a:gd name="connsiteX82" fmla="*/ 21431 w 1562100"/>
                <a:gd name="connsiteY82" fmla="*/ 745332 h 1204913"/>
                <a:gd name="connsiteX83" fmla="*/ 7144 w 1562100"/>
                <a:gd name="connsiteY83" fmla="*/ 762001 h 1204913"/>
                <a:gd name="connsiteX84" fmla="*/ 0 w 1562100"/>
                <a:gd name="connsiteY84" fmla="*/ 819151 h 1204913"/>
                <a:gd name="connsiteX85" fmla="*/ 23813 w 1562100"/>
                <a:gd name="connsiteY85" fmla="*/ 847726 h 1204913"/>
                <a:gd name="connsiteX86" fmla="*/ 16669 w 1562100"/>
                <a:gd name="connsiteY86" fmla="*/ 888207 h 1204913"/>
                <a:gd name="connsiteX87" fmla="*/ 35719 w 1562100"/>
                <a:gd name="connsiteY87" fmla="*/ 892969 h 1204913"/>
                <a:gd name="connsiteX88" fmla="*/ 69056 w 1562100"/>
                <a:gd name="connsiteY88" fmla="*/ 892969 h 1204913"/>
                <a:gd name="connsiteX89" fmla="*/ 85725 w 1562100"/>
                <a:gd name="connsiteY89" fmla="*/ 883444 h 1204913"/>
                <a:gd name="connsiteX90" fmla="*/ 135731 w 1562100"/>
                <a:gd name="connsiteY90" fmla="*/ 940594 h 1204913"/>
                <a:gd name="connsiteX91" fmla="*/ 123825 w 1562100"/>
                <a:gd name="connsiteY91" fmla="*/ 959644 h 1204913"/>
                <a:gd name="connsiteX92" fmla="*/ 133350 w 1562100"/>
                <a:gd name="connsiteY92" fmla="*/ 988219 h 1204913"/>
                <a:gd name="connsiteX93" fmla="*/ 164306 w 1562100"/>
                <a:gd name="connsiteY93" fmla="*/ 1007269 h 1204913"/>
                <a:gd name="connsiteX94" fmla="*/ 190500 w 1562100"/>
                <a:gd name="connsiteY94" fmla="*/ 1016794 h 1204913"/>
                <a:gd name="connsiteX95" fmla="*/ 216694 w 1562100"/>
                <a:gd name="connsiteY95" fmla="*/ 1023938 h 1204913"/>
                <a:gd name="connsiteX96" fmla="*/ 228600 w 1562100"/>
                <a:gd name="connsiteY96" fmla="*/ 1026319 h 1204913"/>
                <a:gd name="connsiteX97" fmla="*/ 240506 w 1562100"/>
                <a:gd name="connsiteY97" fmla="*/ 988219 h 1204913"/>
                <a:gd name="connsiteX98" fmla="*/ 269081 w 1562100"/>
                <a:gd name="connsiteY98" fmla="*/ 992982 h 1204913"/>
                <a:gd name="connsiteX99" fmla="*/ 288131 w 1562100"/>
                <a:gd name="connsiteY99" fmla="*/ 981076 h 1204913"/>
                <a:gd name="connsiteX100" fmla="*/ 307181 w 1562100"/>
                <a:gd name="connsiteY100" fmla="*/ 1031082 h 1204913"/>
                <a:gd name="connsiteX101" fmla="*/ 330994 w 1562100"/>
                <a:gd name="connsiteY101" fmla="*/ 1045369 h 1204913"/>
                <a:gd name="connsiteX102" fmla="*/ 340519 w 1562100"/>
                <a:gd name="connsiteY102" fmla="*/ 1073944 h 1204913"/>
                <a:gd name="connsiteX103" fmla="*/ 357188 w 1562100"/>
                <a:gd name="connsiteY103" fmla="*/ 1083469 h 1204913"/>
                <a:gd name="connsiteX104" fmla="*/ 364331 w 1562100"/>
                <a:gd name="connsiteY104" fmla="*/ 1114426 h 1204913"/>
                <a:gd name="connsiteX105" fmla="*/ 335756 w 1562100"/>
                <a:gd name="connsiteY105" fmla="*/ 1140619 h 1204913"/>
                <a:gd name="connsiteX106" fmla="*/ 309563 w 1562100"/>
                <a:gd name="connsiteY106" fmla="*/ 1157288 h 1204913"/>
                <a:gd name="connsiteX107" fmla="*/ 297656 w 1562100"/>
                <a:gd name="connsiteY107" fmla="*/ 1181101 h 1204913"/>
                <a:gd name="connsiteX108" fmla="*/ 302419 w 1562100"/>
                <a:gd name="connsiteY108" fmla="*/ 1204913 h 1204913"/>
                <a:gd name="connsiteX109" fmla="*/ 342900 w 1562100"/>
                <a:gd name="connsiteY109" fmla="*/ 1204913 h 1204913"/>
                <a:gd name="connsiteX110" fmla="*/ 390525 w 1562100"/>
                <a:gd name="connsiteY110" fmla="*/ 1200151 h 1204913"/>
                <a:gd name="connsiteX111" fmla="*/ 428625 w 1562100"/>
                <a:gd name="connsiteY111" fmla="*/ 1190626 h 1204913"/>
                <a:gd name="connsiteX112" fmla="*/ 454819 w 1562100"/>
                <a:gd name="connsiteY112" fmla="*/ 1197769 h 1204913"/>
                <a:gd name="connsiteX113" fmla="*/ 473869 w 1562100"/>
                <a:gd name="connsiteY113" fmla="*/ 1176338 h 1204913"/>
                <a:gd name="connsiteX114" fmla="*/ 492919 w 1562100"/>
                <a:gd name="connsiteY114" fmla="*/ 1176338 h 1204913"/>
                <a:gd name="connsiteX115" fmla="*/ 507206 w 1562100"/>
                <a:gd name="connsiteY115" fmla="*/ 1145382 h 1204913"/>
                <a:gd name="connsiteX116" fmla="*/ 557213 w 1562100"/>
                <a:gd name="connsiteY116" fmla="*/ 1131094 h 1204913"/>
                <a:gd name="connsiteX117" fmla="*/ 583406 w 1562100"/>
                <a:gd name="connsiteY117" fmla="*/ 1112044 h 1204913"/>
                <a:gd name="connsiteX118" fmla="*/ 590550 w 1562100"/>
                <a:gd name="connsiteY118" fmla="*/ 1073944 h 1204913"/>
                <a:gd name="connsiteX119" fmla="*/ 607219 w 1562100"/>
                <a:gd name="connsiteY119" fmla="*/ 1047751 h 1204913"/>
                <a:gd name="connsiteX120" fmla="*/ 688181 w 1562100"/>
                <a:gd name="connsiteY120" fmla="*/ 1078707 h 1204913"/>
                <a:gd name="connsiteX0" fmla="*/ 688181 w 1562100"/>
                <a:gd name="connsiteY0" fmla="*/ 1078707 h 1204913"/>
                <a:gd name="connsiteX1" fmla="*/ 688181 w 1562100"/>
                <a:gd name="connsiteY1" fmla="*/ 992982 h 1204913"/>
                <a:gd name="connsiteX2" fmla="*/ 692944 w 1562100"/>
                <a:gd name="connsiteY2" fmla="*/ 950119 h 1204913"/>
                <a:gd name="connsiteX3" fmla="*/ 692944 w 1562100"/>
                <a:gd name="connsiteY3" fmla="*/ 904876 h 1204913"/>
                <a:gd name="connsiteX4" fmla="*/ 676275 w 1562100"/>
                <a:gd name="connsiteY4" fmla="*/ 881063 h 1204913"/>
                <a:gd name="connsiteX5" fmla="*/ 690563 w 1562100"/>
                <a:gd name="connsiteY5" fmla="*/ 828676 h 1204913"/>
                <a:gd name="connsiteX6" fmla="*/ 685800 w 1562100"/>
                <a:gd name="connsiteY6" fmla="*/ 802482 h 1204913"/>
                <a:gd name="connsiteX7" fmla="*/ 697706 w 1562100"/>
                <a:gd name="connsiteY7" fmla="*/ 757238 h 1204913"/>
                <a:gd name="connsiteX8" fmla="*/ 714375 w 1562100"/>
                <a:gd name="connsiteY8" fmla="*/ 733426 h 1204913"/>
                <a:gd name="connsiteX9" fmla="*/ 721519 w 1562100"/>
                <a:gd name="connsiteY9" fmla="*/ 700088 h 1204913"/>
                <a:gd name="connsiteX10" fmla="*/ 735806 w 1562100"/>
                <a:gd name="connsiteY10" fmla="*/ 681038 h 1204913"/>
                <a:gd name="connsiteX11" fmla="*/ 792956 w 1562100"/>
                <a:gd name="connsiteY11" fmla="*/ 671513 h 1204913"/>
                <a:gd name="connsiteX12" fmla="*/ 838200 w 1562100"/>
                <a:gd name="connsiteY12" fmla="*/ 654844 h 1204913"/>
                <a:gd name="connsiteX13" fmla="*/ 876300 w 1562100"/>
                <a:gd name="connsiteY13" fmla="*/ 614363 h 1204913"/>
                <a:gd name="connsiteX14" fmla="*/ 923925 w 1562100"/>
                <a:gd name="connsiteY14" fmla="*/ 600076 h 1204913"/>
                <a:gd name="connsiteX15" fmla="*/ 995363 w 1562100"/>
                <a:gd name="connsiteY15" fmla="*/ 595313 h 1204913"/>
                <a:gd name="connsiteX16" fmla="*/ 1040606 w 1562100"/>
                <a:gd name="connsiteY16" fmla="*/ 585788 h 1204913"/>
                <a:gd name="connsiteX17" fmla="*/ 1119188 w 1562100"/>
                <a:gd name="connsiteY17" fmla="*/ 478632 h 1204913"/>
                <a:gd name="connsiteX18" fmla="*/ 1126331 w 1562100"/>
                <a:gd name="connsiteY18" fmla="*/ 445294 h 1204913"/>
                <a:gd name="connsiteX19" fmla="*/ 1152525 w 1562100"/>
                <a:gd name="connsiteY19" fmla="*/ 416719 h 1204913"/>
                <a:gd name="connsiteX20" fmla="*/ 1197769 w 1562100"/>
                <a:gd name="connsiteY20" fmla="*/ 407194 h 1204913"/>
                <a:gd name="connsiteX21" fmla="*/ 1290638 w 1562100"/>
                <a:gd name="connsiteY21" fmla="*/ 330994 h 1204913"/>
                <a:gd name="connsiteX22" fmla="*/ 1314450 w 1562100"/>
                <a:gd name="connsiteY22" fmla="*/ 328613 h 1204913"/>
                <a:gd name="connsiteX23" fmla="*/ 1409700 w 1562100"/>
                <a:gd name="connsiteY23" fmla="*/ 247651 h 1204913"/>
                <a:gd name="connsiteX24" fmla="*/ 1414463 w 1562100"/>
                <a:gd name="connsiteY24" fmla="*/ 228601 h 1204913"/>
                <a:gd name="connsiteX25" fmla="*/ 1507331 w 1562100"/>
                <a:gd name="connsiteY25" fmla="*/ 173832 h 1204913"/>
                <a:gd name="connsiteX26" fmla="*/ 1543050 w 1562100"/>
                <a:gd name="connsiteY26" fmla="*/ 128588 h 1204913"/>
                <a:gd name="connsiteX27" fmla="*/ 1562100 w 1562100"/>
                <a:gd name="connsiteY27" fmla="*/ 90488 h 1204913"/>
                <a:gd name="connsiteX28" fmla="*/ 1512094 w 1562100"/>
                <a:gd name="connsiteY28" fmla="*/ 109538 h 1204913"/>
                <a:gd name="connsiteX29" fmla="*/ 1478756 w 1562100"/>
                <a:gd name="connsiteY29" fmla="*/ 109538 h 1204913"/>
                <a:gd name="connsiteX30" fmla="*/ 1452563 w 1562100"/>
                <a:gd name="connsiteY30" fmla="*/ 147638 h 1204913"/>
                <a:gd name="connsiteX31" fmla="*/ 1421606 w 1562100"/>
                <a:gd name="connsiteY31" fmla="*/ 145257 h 1204913"/>
                <a:gd name="connsiteX32" fmla="*/ 1366838 w 1562100"/>
                <a:gd name="connsiteY32" fmla="*/ 114301 h 1204913"/>
                <a:gd name="connsiteX33" fmla="*/ 1323975 w 1562100"/>
                <a:gd name="connsiteY33" fmla="*/ 102394 h 1204913"/>
                <a:gd name="connsiteX34" fmla="*/ 1238250 w 1562100"/>
                <a:gd name="connsiteY34" fmla="*/ 138113 h 1204913"/>
                <a:gd name="connsiteX35" fmla="*/ 1223963 w 1562100"/>
                <a:gd name="connsiteY35" fmla="*/ 176213 h 1204913"/>
                <a:gd name="connsiteX36" fmla="*/ 1195388 w 1562100"/>
                <a:gd name="connsiteY36" fmla="*/ 233363 h 1204913"/>
                <a:gd name="connsiteX37" fmla="*/ 1109663 w 1562100"/>
                <a:gd name="connsiteY37" fmla="*/ 195263 h 1204913"/>
                <a:gd name="connsiteX38" fmla="*/ 1097756 w 1562100"/>
                <a:gd name="connsiteY38" fmla="*/ 238126 h 1204913"/>
                <a:gd name="connsiteX39" fmla="*/ 1083469 w 1562100"/>
                <a:gd name="connsiteY39" fmla="*/ 271463 h 1204913"/>
                <a:gd name="connsiteX40" fmla="*/ 959644 w 1562100"/>
                <a:gd name="connsiteY40" fmla="*/ 302419 h 1204913"/>
                <a:gd name="connsiteX41" fmla="*/ 945356 w 1562100"/>
                <a:gd name="connsiteY41" fmla="*/ 297657 h 1204913"/>
                <a:gd name="connsiteX42" fmla="*/ 926306 w 1562100"/>
                <a:gd name="connsiteY42" fmla="*/ 319088 h 1204913"/>
                <a:gd name="connsiteX43" fmla="*/ 890588 w 1562100"/>
                <a:gd name="connsiteY43" fmla="*/ 326232 h 1204913"/>
                <a:gd name="connsiteX44" fmla="*/ 854869 w 1562100"/>
                <a:gd name="connsiteY44" fmla="*/ 276226 h 1204913"/>
                <a:gd name="connsiteX45" fmla="*/ 835819 w 1562100"/>
                <a:gd name="connsiteY45" fmla="*/ 264319 h 1204913"/>
                <a:gd name="connsiteX46" fmla="*/ 826294 w 1562100"/>
                <a:gd name="connsiteY46" fmla="*/ 219076 h 1204913"/>
                <a:gd name="connsiteX47" fmla="*/ 792956 w 1562100"/>
                <a:gd name="connsiteY47" fmla="*/ 202407 h 1204913"/>
                <a:gd name="connsiteX48" fmla="*/ 759619 w 1562100"/>
                <a:gd name="connsiteY48" fmla="*/ 195263 h 1204913"/>
                <a:gd name="connsiteX49" fmla="*/ 740569 w 1562100"/>
                <a:gd name="connsiteY49" fmla="*/ 190501 h 1204913"/>
                <a:gd name="connsiteX50" fmla="*/ 728663 w 1562100"/>
                <a:gd name="connsiteY50" fmla="*/ 180976 h 1204913"/>
                <a:gd name="connsiteX51" fmla="*/ 735806 w 1562100"/>
                <a:gd name="connsiteY51" fmla="*/ 154782 h 1204913"/>
                <a:gd name="connsiteX52" fmla="*/ 742950 w 1562100"/>
                <a:gd name="connsiteY52" fmla="*/ 130969 h 1204913"/>
                <a:gd name="connsiteX53" fmla="*/ 700088 w 1562100"/>
                <a:gd name="connsiteY53" fmla="*/ 80963 h 1204913"/>
                <a:gd name="connsiteX54" fmla="*/ 392906 w 1562100"/>
                <a:gd name="connsiteY54" fmla="*/ 19051 h 1204913"/>
                <a:gd name="connsiteX55" fmla="*/ 314326 w 1562100"/>
                <a:gd name="connsiteY55" fmla="*/ 0 h 1204913"/>
                <a:gd name="connsiteX56" fmla="*/ 328613 w 1562100"/>
                <a:gd name="connsiteY56" fmla="*/ 78582 h 1204913"/>
                <a:gd name="connsiteX57" fmla="*/ 292894 w 1562100"/>
                <a:gd name="connsiteY57" fmla="*/ 180976 h 1204913"/>
                <a:gd name="connsiteX58" fmla="*/ 264319 w 1562100"/>
                <a:gd name="connsiteY58" fmla="*/ 188119 h 1204913"/>
                <a:gd name="connsiteX59" fmla="*/ 261938 w 1562100"/>
                <a:gd name="connsiteY59" fmla="*/ 202407 h 1204913"/>
                <a:gd name="connsiteX60" fmla="*/ 261938 w 1562100"/>
                <a:gd name="connsiteY60" fmla="*/ 235744 h 1204913"/>
                <a:gd name="connsiteX61" fmla="*/ 228600 w 1562100"/>
                <a:gd name="connsiteY61" fmla="*/ 278607 h 1204913"/>
                <a:gd name="connsiteX62" fmla="*/ 271463 w 1562100"/>
                <a:gd name="connsiteY62" fmla="*/ 295276 h 1204913"/>
                <a:gd name="connsiteX63" fmla="*/ 278606 w 1562100"/>
                <a:gd name="connsiteY63" fmla="*/ 314326 h 1204913"/>
                <a:gd name="connsiteX64" fmla="*/ 257175 w 1562100"/>
                <a:gd name="connsiteY64" fmla="*/ 350044 h 1204913"/>
                <a:gd name="connsiteX65" fmla="*/ 221456 w 1562100"/>
                <a:gd name="connsiteY65" fmla="*/ 359569 h 1204913"/>
                <a:gd name="connsiteX66" fmla="*/ 221456 w 1562100"/>
                <a:gd name="connsiteY66" fmla="*/ 400051 h 1204913"/>
                <a:gd name="connsiteX67" fmla="*/ 254794 w 1562100"/>
                <a:gd name="connsiteY67" fmla="*/ 438151 h 1204913"/>
                <a:gd name="connsiteX68" fmla="*/ 226219 w 1562100"/>
                <a:gd name="connsiteY68" fmla="*/ 502444 h 1204913"/>
                <a:gd name="connsiteX69" fmla="*/ 180975 w 1562100"/>
                <a:gd name="connsiteY69" fmla="*/ 531019 h 1204913"/>
                <a:gd name="connsiteX70" fmla="*/ 183356 w 1562100"/>
                <a:gd name="connsiteY70" fmla="*/ 547688 h 1204913"/>
                <a:gd name="connsiteX71" fmla="*/ 204788 w 1562100"/>
                <a:gd name="connsiteY71" fmla="*/ 557213 h 1204913"/>
                <a:gd name="connsiteX72" fmla="*/ 219075 w 1562100"/>
                <a:gd name="connsiteY72" fmla="*/ 566738 h 1204913"/>
                <a:gd name="connsiteX73" fmla="*/ 223838 w 1562100"/>
                <a:gd name="connsiteY73" fmla="*/ 585788 h 1204913"/>
                <a:gd name="connsiteX74" fmla="*/ 195263 w 1562100"/>
                <a:gd name="connsiteY74" fmla="*/ 611982 h 1204913"/>
                <a:gd name="connsiteX75" fmla="*/ 123825 w 1562100"/>
                <a:gd name="connsiteY75" fmla="*/ 657226 h 1204913"/>
                <a:gd name="connsiteX76" fmla="*/ 123825 w 1562100"/>
                <a:gd name="connsiteY76" fmla="*/ 692944 h 1204913"/>
                <a:gd name="connsiteX77" fmla="*/ 135731 w 1562100"/>
                <a:gd name="connsiteY77" fmla="*/ 723901 h 1204913"/>
                <a:gd name="connsiteX78" fmla="*/ 123825 w 1562100"/>
                <a:gd name="connsiteY78" fmla="*/ 764382 h 1204913"/>
                <a:gd name="connsiteX79" fmla="*/ 76200 w 1562100"/>
                <a:gd name="connsiteY79" fmla="*/ 759619 h 1204913"/>
                <a:gd name="connsiteX80" fmla="*/ 52388 w 1562100"/>
                <a:gd name="connsiteY80" fmla="*/ 704851 h 1204913"/>
                <a:gd name="connsiteX81" fmla="*/ 33338 w 1562100"/>
                <a:gd name="connsiteY81" fmla="*/ 697707 h 1204913"/>
                <a:gd name="connsiteX82" fmla="*/ 23813 w 1562100"/>
                <a:gd name="connsiteY82" fmla="*/ 735807 h 1204913"/>
                <a:gd name="connsiteX83" fmla="*/ 21431 w 1562100"/>
                <a:gd name="connsiteY83" fmla="*/ 745332 h 1204913"/>
                <a:gd name="connsiteX84" fmla="*/ 7144 w 1562100"/>
                <a:gd name="connsiteY84" fmla="*/ 762001 h 1204913"/>
                <a:gd name="connsiteX85" fmla="*/ 0 w 1562100"/>
                <a:gd name="connsiteY85" fmla="*/ 819151 h 1204913"/>
                <a:gd name="connsiteX86" fmla="*/ 23813 w 1562100"/>
                <a:gd name="connsiteY86" fmla="*/ 847726 h 1204913"/>
                <a:gd name="connsiteX87" fmla="*/ 16669 w 1562100"/>
                <a:gd name="connsiteY87" fmla="*/ 888207 h 1204913"/>
                <a:gd name="connsiteX88" fmla="*/ 35719 w 1562100"/>
                <a:gd name="connsiteY88" fmla="*/ 892969 h 1204913"/>
                <a:gd name="connsiteX89" fmla="*/ 69056 w 1562100"/>
                <a:gd name="connsiteY89" fmla="*/ 892969 h 1204913"/>
                <a:gd name="connsiteX90" fmla="*/ 85725 w 1562100"/>
                <a:gd name="connsiteY90" fmla="*/ 883444 h 1204913"/>
                <a:gd name="connsiteX91" fmla="*/ 135731 w 1562100"/>
                <a:gd name="connsiteY91" fmla="*/ 940594 h 1204913"/>
                <a:gd name="connsiteX92" fmla="*/ 123825 w 1562100"/>
                <a:gd name="connsiteY92" fmla="*/ 959644 h 1204913"/>
                <a:gd name="connsiteX93" fmla="*/ 133350 w 1562100"/>
                <a:gd name="connsiteY93" fmla="*/ 988219 h 1204913"/>
                <a:gd name="connsiteX94" fmla="*/ 164306 w 1562100"/>
                <a:gd name="connsiteY94" fmla="*/ 1007269 h 1204913"/>
                <a:gd name="connsiteX95" fmla="*/ 190500 w 1562100"/>
                <a:gd name="connsiteY95" fmla="*/ 1016794 h 1204913"/>
                <a:gd name="connsiteX96" fmla="*/ 216694 w 1562100"/>
                <a:gd name="connsiteY96" fmla="*/ 1023938 h 1204913"/>
                <a:gd name="connsiteX97" fmla="*/ 228600 w 1562100"/>
                <a:gd name="connsiteY97" fmla="*/ 1026319 h 1204913"/>
                <a:gd name="connsiteX98" fmla="*/ 240506 w 1562100"/>
                <a:gd name="connsiteY98" fmla="*/ 988219 h 1204913"/>
                <a:gd name="connsiteX99" fmla="*/ 269081 w 1562100"/>
                <a:gd name="connsiteY99" fmla="*/ 992982 h 1204913"/>
                <a:gd name="connsiteX100" fmla="*/ 288131 w 1562100"/>
                <a:gd name="connsiteY100" fmla="*/ 981076 h 1204913"/>
                <a:gd name="connsiteX101" fmla="*/ 307181 w 1562100"/>
                <a:gd name="connsiteY101" fmla="*/ 1031082 h 1204913"/>
                <a:gd name="connsiteX102" fmla="*/ 330994 w 1562100"/>
                <a:gd name="connsiteY102" fmla="*/ 1045369 h 1204913"/>
                <a:gd name="connsiteX103" fmla="*/ 340519 w 1562100"/>
                <a:gd name="connsiteY103" fmla="*/ 1073944 h 1204913"/>
                <a:gd name="connsiteX104" fmla="*/ 357188 w 1562100"/>
                <a:gd name="connsiteY104" fmla="*/ 1083469 h 1204913"/>
                <a:gd name="connsiteX105" fmla="*/ 364331 w 1562100"/>
                <a:gd name="connsiteY105" fmla="*/ 1114426 h 1204913"/>
                <a:gd name="connsiteX106" fmla="*/ 335756 w 1562100"/>
                <a:gd name="connsiteY106" fmla="*/ 1140619 h 1204913"/>
                <a:gd name="connsiteX107" fmla="*/ 309563 w 1562100"/>
                <a:gd name="connsiteY107" fmla="*/ 1157288 h 1204913"/>
                <a:gd name="connsiteX108" fmla="*/ 297656 w 1562100"/>
                <a:gd name="connsiteY108" fmla="*/ 1181101 h 1204913"/>
                <a:gd name="connsiteX109" fmla="*/ 302419 w 1562100"/>
                <a:gd name="connsiteY109" fmla="*/ 1204913 h 1204913"/>
                <a:gd name="connsiteX110" fmla="*/ 342900 w 1562100"/>
                <a:gd name="connsiteY110" fmla="*/ 1204913 h 1204913"/>
                <a:gd name="connsiteX111" fmla="*/ 390525 w 1562100"/>
                <a:gd name="connsiteY111" fmla="*/ 1200151 h 1204913"/>
                <a:gd name="connsiteX112" fmla="*/ 428625 w 1562100"/>
                <a:gd name="connsiteY112" fmla="*/ 1190626 h 1204913"/>
                <a:gd name="connsiteX113" fmla="*/ 454819 w 1562100"/>
                <a:gd name="connsiteY113" fmla="*/ 1197769 h 1204913"/>
                <a:gd name="connsiteX114" fmla="*/ 473869 w 1562100"/>
                <a:gd name="connsiteY114" fmla="*/ 1176338 h 1204913"/>
                <a:gd name="connsiteX115" fmla="*/ 492919 w 1562100"/>
                <a:gd name="connsiteY115" fmla="*/ 1176338 h 1204913"/>
                <a:gd name="connsiteX116" fmla="*/ 507206 w 1562100"/>
                <a:gd name="connsiteY116" fmla="*/ 1145382 h 1204913"/>
                <a:gd name="connsiteX117" fmla="*/ 557213 w 1562100"/>
                <a:gd name="connsiteY117" fmla="*/ 1131094 h 1204913"/>
                <a:gd name="connsiteX118" fmla="*/ 583406 w 1562100"/>
                <a:gd name="connsiteY118" fmla="*/ 1112044 h 1204913"/>
                <a:gd name="connsiteX119" fmla="*/ 590550 w 1562100"/>
                <a:gd name="connsiteY119" fmla="*/ 1073944 h 1204913"/>
                <a:gd name="connsiteX120" fmla="*/ 607219 w 1562100"/>
                <a:gd name="connsiteY120" fmla="*/ 1047751 h 1204913"/>
                <a:gd name="connsiteX121" fmla="*/ 688181 w 1562100"/>
                <a:gd name="connsiteY121" fmla="*/ 1078707 h 1204913"/>
                <a:gd name="connsiteX0" fmla="*/ 688181 w 1562100"/>
                <a:gd name="connsiteY0" fmla="*/ 1078707 h 1204913"/>
                <a:gd name="connsiteX1" fmla="*/ 688181 w 1562100"/>
                <a:gd name="connsiteY1" fmla="*/ 992982 h 1204913"/>
                <a:gd name="connsiteX2" fmla="*/ 692944 w 1562100"/>
                <a:gd name="connsiteY2" fmla="*/ 950119 h 1204913"/>
                <a:gd name="connsiteX3" fmla="*/ 692944 w 1562100"/>
                <a:gd name="connsiteY3" fmla="*/ 904876 h 1204913"/>
                <a:gd name="connsiteX4" fmla="*/ 676275 w 1562100"/>
                <a:gd name="connsiteY4" fmla="*/ 881063 h 1204913"/>
                <a:gd name="connsiteX5" fmla="*/ 690563 w 1562100"/>
                <a:gd name="connsiteY5" fmla="*/ 828676 h 1204913"/>
                <a:gd name="connsiteX6" fmla="*/ 685800 w 1562100"/>
                <a:gd name="connsiteY6" fmla="*/ 802482 h 1204913"/>
                <a:gd name="connsiteX7" fmla="*/ 697706 w 1562100"/>
                <a:gd name="connsiteY7" fmla="*/ 757238 h 1204913"/>
                <a:gd name="connsiteX8" fmla="*/ 714375 w 1562100"/>
                <a:gd name="connsiteY8" fmla="*/ 733426 h 1204913"/>
                <a:gd name="connsiteX9" fmla="*/ 721519 w 1562100"/>
                <a:gd name="connsiteY9" fmla="*/ 700088 h 1204913"/>
                <a:gd name="connsiteX10" fmla="*/ 735806 w 1562100"/>
                <a:gd name="connsiteY10" fmla="*/ 681038 h 1204913"/>
                <a:gd name="connsiteX11" fmla="*/ 792956 w 1562100"/>
                <a:gd name="connsiteY11" fmla="*/ 671513 h 1204913"/>
                <a:gd name="connsiteX12" fmla="*/ 838200 w 1562100"/>
                <a:gd name="connsiteY12" fmla="*/ 654844 h 1204913"/>
                <a:gd name="connsiteX13" fmla="*/ 876300 w 1562100"/>
                <a:gd name="connsiteY13" fmla="*/ 614363 h 1204913"/>
                <a:gd name="connsiteX14" fmla="*/ 923925 w 1562100"/>
                <a:gd name="connsiteY14" fmla="*/ 600076 h 1204913"/>
                <a:gd name="connsiteX15" fmla="*/ 995363 w 1562100"/>
                <a:gd name="connsiteY15" fmla="*/ 595313 h 1204913"/>
                <a:gd name="connsiteX16" fmla="*/ 1040606 w 1562100"/>
                <a:gd name="connsiteY16" fmla="*/ 585788 h 1204913"/>
                <a:gd name="connsiteX17" fmla="*/ 1119188 w 1562100"/>
                <a:gd name="connsiteY17" fmla="*/ 478632 h 1204913"/>
                <a:gd name="connsiteX18" fmla="*/ 1126331 w 1562100"/>
                <a:gd name="connsiteY18" fmla="*/ 445294 h 1204913"/>
                <a:gd name="connsiteX19" fmla="*/ 1152525 w 1562100"/>
                <a:gd name="connsiteY19" fmla="*/ 416719 h 1204913"/>
                <a:gd name="connsiteX20" fmla="*/ 1197769 w 1562100"/>
                <a:gd name="connsiteY20" fmla="*/ 407194 h 1204913"/>
                <a:gd name="connsiteX21" fmla="*/ 1290638 w 1562100"/>
                <a:gd name="connsiteY21" fmla="*/ 330994 h 1204913"/>
                <a:gd name="connsiteX22" fmla="*/ 1314450 w 1562100"/>
                <a:gd name="connsiteY22" fmla="*/ 328613 h 1204913"/>
                <a:gd name="connsiteX23" fmla="*/ 1409700 w 1562100"/>
                <a:gd name="connsiteY23" fmla="*/ 247651 h 1204913"/>
                <a:gd name="connsiteX24" fmla="*/ 1414463 w 1562100"/>
                <a:gd name="connsiteY24" fmla="*/ 228601 h 1204913"/>
                <a:gd name="connsiteX25" fmla="*/ 1507331 w 1562100"/>
                <a:gd name="connsiteY25" fmla="*/ 173832 h 1204913"/>
                <a:gd name="connsiteX26" fmla="*/ 1543050 w 1562100"/>
                <a:gd name="connsiteY26" fmla="*/ 128588 h 1204913"/>
                <a:gd name="connsiteX27" fmla="*/ 1562100 w 1562100"/>
                <a:gd name="connsiteY27" fmla="*/ 90488 h 1204913"/>
                <a:gd name="connsiteX28" fmla="*/ 1512094 w 1562100"/>
                <a:gd name="connsiteY28" fmla="*/ 109538 h 1204913"/>
                <a:gd name="connsiteX29" fmla="*/ 1478756 w 1562100"/>
                <a:gd name="connsiteY29" fmla="*/ 109538 h 1204913"/>
                <a:gd name="connsiteX30" fmla="*/ 1452563 w 1562100"/>
                <a:gd name="connsiteY30" fmla="*/ 147638 h 1204913"/>
                <a:gd name="connsiteX31" fmla="*/ 1421606 w 1562100"/>
                <a:gd name="connsiteY31" fmla="*/ 145257 h 1204913"/>
                <a:gd name="connsiteX32" fmla="*/ 1366838 w 1562100"/>
                <a:gd name="connsiteY32" fmla="*/ 114301 h 1204913"/>
                <a:gd name="connsiteX33" fmla="*/ 1323975 w 1562100"/>
                <a:gd name="connsiteY33" fmla="*/ 102394 h 1204913"/>
                <a:gd name="connsiteX34" fmla="*/ 1238250 w 1562100"/>
                <a:gd name="connsiteY34" fmla="*/ 138113 h 1204913"/>
                <a:gd name="connsiteX35" fmla="*/ 1223963 w 1562100"/>
                <a:gd name="connsiteY35" fmla="*/ 176213 h 1204913"/>
                <a:gd name="connsiteX36" fmla="*/ 1195388 w 1562100"/>
                <a:gd name="connsiteY36" fmla="*/ 233363 h 1204913"/>
                <a:gd name="connsiteX37" fmla="*/ 1109663 w 1562100"/>
                <a:gd name="connsiteY37" fmla="*/ 195263 h 1204913"/>
                <a:gd name="connsiteX38" fmla="*/ 1097756 w 1562100"/>
                <a:gd name="connsiteY38" fmla="*/ 238126 h 1204913"/>
                <a:gd name="connsiteX39" fmla="*/ 1083469 w 1562100"/>
                <a:gd name="connsiteY39" fmla="*/ 271463 h 1204913"/>
                <a:gd name="connsiteX40" fmla="*/ 959644 w 1562100"/>
                <a:gd name="connsiteY40" fmla="*/ 302419 h 1204913"/>
                <a:gd name="connsiteX41" fmla="*/ 945356 w 1562100"/>
                <a:gd name="connsiteY41" fmla="*/ 297657 h 1204913"/>
                <a:gd name="connsiteX42" fmla="*/ 926306 w 1562100"/>
                <a:gd name="connsiteY42" fmla="*/ 319088 h 1204913"/>
                <a:gd name="connsiteX43" fmla="*/ 890588 w 1562100"/>
                <a:gd name="connsiteY43" fmla="*/ 326232 h 1204913"/>
                <a:gd name="connsiteX44" fmla="*/ 854869 w 1562100"/>
                <a:gd name="connsiteY44" fmla="*/ 276226 h 1204913"/>
                <a:gd name="connsiteX45" fmla="*/ 835819 w 1562100"/>
                <a:gd name="connsiteY45" fmla="*/ 264319 h 1204913"/>
                <a:gd name="connsiteX46" fmla="*/ 826294 w 1562100"/>
                <a:gd name="connsiteY46" fmla="*/ 219076 h 1204913"/>
                <a:gd name="connsiteX47" fmla="*/ 792956 w 1562100"/>
                <a:gd name="connsiteY47" fmla="*/ 202407 h 1204913"/>
                <a:gd name="connsiteX48" fmla="*/ 759619 w 1562100"/>
                <a:gd name="connsiteY48" fmla="*/ 195263 h 1204913"/>
                <a:gd name="connsiteX49" fmla="*/ 740569 w 1562100"/>
                <a:gd name="connsiteY49" fmla="*/ 190501 h 1204913"/>
                <a:gd name="connsiteX50" fmla="*/ 728663 w 1562100"/>
                <a:gd name="connsiteY50" fmla="*/ 180976 h 1204913"/>
                <a:gd name="connsiteX51" fmla="*/ 735806 w 1562100"/>
                <a:gd name="connsiteY51" fmla="*/ 154782 h 1204913"/>
                <a:gd name="connsiteX52" fmla="*/ 742950 w 1562100"/>
                <a:gd name="connsiteY52" fmla="*/ 130969 h 1204913"/>
                <a:gd name="connsiteX53" fmla="*/ 700088 w 1562100"/>
                <a:gd name="connsiteY53" fmla="*/ 80963 h 1204913"/>
                <a:gd name="connsiteX54" fmla="*/ 392906 w 1562100"/>
                <a:gd name="connsiteY54" fmla="*/ 19051 h 1204913"/>
                <a:gd name="connsiteX55" fmla="*/ 314326 w 1562100"/>
                <a:gd name="connsiteY55" fmla="*/ 0 h 1204913"/>
                <a:gd name="connsiteX56" fmla="*/ 328613 w 1562100"/>
                <a:gd name="connsiteY56" fmla="*/ 78582 h 1204913"/>
                <a:gd name="connsiteX57" fmla="*/ 292894 w 1562100"/>
                <a:gd name="connsiteY57" fmla="*/ 180976 h 1204913"/>
                <a:gd name="connsiteX58" fmla="*/ 264319 w 1562100"/>
                <a:gd name="connsiteY58" fmla="*/ 188119 h 1204913"/>
                <a:gd name="connsiteX59" fmla="*/ 261938 w 1562100"/>
                <a:gd name="connsiteY59" fmla="*/ 202407 h 1204913"/>
                <a:gd name="connsiteX60" fmla="*/ 261938 w 1562100"/>
                <a:gd name="connsiteY60" fmla="*/ 235744 h 1204913"/>
                <a:gd name="connsiteX61" fmla="*/ 228600 w 1562100"/>
                <a:gd name="connsiteY61" fmla="*/ 278607 h 1204913"/>
                <a:gd name="connsiteX62" fmla="*/ 271463 w 1562100"/>
                <a:gd name="connsiteY62" fmla="*/ 295276 h 1204913"/>
                <a:gd name="connsiteX63" fmla="*/ 278606 w 1562100"/>
                <a:gd name="connsiteY63" fmla="*/ 314326 h 1204913"/>
                <a:gd name="connsiteX64" fmla="*/ 257175 w 1562100"/>
                <a:gd name="connsiteY64" fmla="*/ 350044 h 1204913"/>
                <a:gd name="connsiteX65" fmla="*/ 221456 w 1562100"/>
                <a:gd name="connsiteY65" fmla="*/ 359569 h 1204913"/>
                <a:gd name="connsiteX66" fmla="*/ 221456 w 1562100"/>
                <a:gd name="connsiteY66" fmla="*/ 400051 h 1204913"/>
                <a:gd name="connsiteX67" fmla="*/ 254794 w 1562100"/>
                <a:gd name="connsiteY67" fmla="*/ 438151 h 1204913"/>
                <a:gd name="connsiteX68" fmla="*/ 226219 w 1562100"/>
                <a:gd name="connsiteY68" fmla="*/ 502444 h 1204913"/>
                <a:gd name="connsiteX69" fmla="*/ 180975 w 1562100"/>
                <a:gd name="connsiteY69" fmla="*/ 531019 h 1204913"/>
                <a:gd name="connsiteX70" fmla="*/ 183356 w 1562100"/>
                <a:gd name="connsiteY70" fmla="*/ 547688 h 1204913"/>
                <a:gd name="connsiteX71" fmla="*/ 204788 w 1562100"/>
                <a:gd name="connsiteY71" fmla="*/ 557213 h 1204913"/>
                <a:gd name="connsiteX72" fmla="*/ 219075 w 1562100"/>
                <a:gd name="connsiteY72" fmla="*/ 566738 h 1204913"/>
                <a:gd name="connsiteX73" fmla="*/ 223838 w 1562100"/>
                <a:gd name="connsiteY73" fmla="*/ 585788 h 1204913"/>
                <a:gd name="connsiteX74" fmla="*/ 195263 w 1562100"/>
                <a:gd name="connsiteY74" fmla="*/ 611982 h 1204913"/>
                <a:gd name="connsiteX75" fmla="*/ 123825 w 1562100"/>
                <a:gd name="connsiteY75" fmla="*/ 657226 h 1204913"/>
                <a:gd name="connsiteX76" fmla="*/ 123825 w 1562100"/>
                <a:gd name="connsiteY76" fmla="*/ 692944 h 1204913"/>
                <a:gd name="connsiteX77" fmla="*/ 135731 w 1562100"/>
                <a:gd name="connsiteY77" fmla="*/ 723901 h 1204913"/>
                <a:gd name="connsiteX78" fmla="*/ 123825 w 1562100"/>
                <a:gd name="connsiteY78" fmla="*/ 764382 h 1204913"/>
                <a:gd name="connsiteX79" fmla="*/ 76200 w 1562100"/>
                <a:gd name="connsiteY79" fmla="*/ 759619 h 1204913"/>
                <a:gd name="connsiteX80" fmla="*/ 52388 w 1562100"/>
                <a:gd name="connsiteY80" fmla="*/ 704851 h 1204913"/>
                <a:gd name="connsiteX81" fmla="*/ 33338 w 1562100"/>
                <a:gd name="connsiteY81" fmla="*/ 697707 h 1204913"/>
                <a:gd name="connsiteX82" fmla="*/ 23813 w 1562100"/>
                <a:gd name="connsiteY82" fmla="*/ 735807 h 1204913"/>
                <a:gd name="connsiteX83" fmla="*/ 21431 w 1562100"/>
                <a:gd name="connsiteY83" fmla="*/ 745332 h 1204913"/>
                <a:gd name="connsiteX84" fmla="*/ 7144 w 1562100"/>
                <a:gd name="connsiteY84" fmla="*/ 762001 h 1204913"/>
                <a:gd name="connsiteX85" fmla="*/ 0 w 1562100"/>
                <a:gd name="connsiteY85" fmla="*/ 819151 h 1204913"/>
                <a:gd name="connsiteX86" fmla="*/ 23813 w 1562100"/>
                <a:gd name="connsiteY86" fmla="*/ 847726 h 1204913"/>
                <a:gd name="connsiteX87" fmla="*/ 16669 w 1562100"/>
                <a:gd name="connsiteY87" fmla="*/ 888207 h 1204913"/>
                <a:gd name="connsiteX88" fmla="*/ 35719 w 1562100"/>
                <a:gd name="connsiteY88" fmla="*/ 892969 h 1204913"/>
                <a:gd name="connsiteX89" fmla="*/ 69056 w 1562100"/>
                <a:gd name="connsiteY89" fmla="*/ 892969 h 1204913"/>
                <a:gd name="connsiteX90" fmla="*/ 85725 w 1562100"/>
                <a:gd name="connsiteY90" fmla="*/ 883444 h 1204913"/>
                <a:gd name="connsiteX91" fmla="*/ 135731 w 1562100"/>
                <a:gd name="connsiteY91" fmla="*/ 940594 h 1204913"/>
                <a:gd name="connsiteX92" fmla="*/ 123825 w 1562100"/>
                <a:gd name="connsiteY92" fmla="*/ 959644 h 1204913"/>
                <a:gd name="connsiteX93" fmla="*/ 133350 w 1562100"/>
                <a:gd name="connsiteY93" fmla="*/ 988219 h 1204913"/>
                <a:gd name="connsiteX94" fmla="*/ 164306 w 1562100"/>
                <a:gd name="connsiteY94" fmla="*/ 1007269 h 1204913"/>
                <a:gd name="connsiteX95" fmla="*/ 190500 w 1562100"/>
                <a:gd name="connsiteY95" fmla="*/ 1016794 h 1204913"/>
                <a:gd name="connsiteX96" fmla="*/ 216694 w 1562100"/>
                <a:gd name="connsiteY96" fmla="*/ 1023938 h 1204913"/>
                <a:gd name="connsiteX97" fmla="*/ 228600 w 1562100"/>
                <a:gd name="connsiteY97" fmla="*/ 1026319 h 1204913"/>
                <a:gd name="connsiteX98" fmla="*/ 240506 w 1562100"/>
                <a:gd name="connsiteY98" fmla="*/ 988219 h 1204913"/>
                <a:gd name="connsiteX99" fmla="*/ 269081 w 1562100"/>
                <a:gd name="connsiteY99" fmla="*/ 992982 h 1204913"/>
                <a:gd name="connsiteX100" fmla="*/ 288131 w 1562100"/>
                <a:gd name="connsiteY100" fmla="*/ 981076 h 1204913"/>
                <a:gd name="connsiteX101" fmla="*/ 307181 w 1562100"/>
                <a:gd name="connsiteY101" fmla="*/ 1031082 h 1204913"/>
                <a:gd name="connsiteX102" fmla="*/ 330994 w 1562100"/>
                <a:gd name="connsiteY102" fmla="*/ 1045369 h 1204913"/>
                <a:gd name="connsiteX103" fmla="*/ 340519 w 1562100"/>
                <a:gd name="connsiteY103" fmla="*/ 1073944 h 1204913"/>
                <a:gd name="connsiteX104" fmla="*/ 357188 w 1562100"/>
                <a:gd name="connsiteY104" fmla="*/ 1083469 h 1204913"/>
                <a:gd name="connsiteX105" fmla="*/ 364331 w 1562100"/>
                <a:gd name="connsiteY105" fmla="*/ 1114426 h 1204913"/>
                <a:gd name="connsiteX106" fmla="*/ 335756 w 1562100"/>
                <a:gd name="connsiteY106" fmla="*/ 1140619 h 1204913"/>
                <a:gd name="connsiteX107" fmla="*/ 309563 w 1562100"/>
                <a:gd name="connsiteY107" fmla="*/ 1157288 h 1204913"/>
                <a:gd name="connsiteX108" fmla="*/ 297656 w 1562100"/>
                <a:gd name="connsiteY108" fmla="*/ 1181101 h 1204913"/>
                <a:gd name="connsiteX109" fmla="*/ 302419 w 1562100"/>
                <a:gd name="connsiteY109" fmla="*/ 1204913 h 1204913"/>
                <a:gd name="connsiteX110" fmla="*/ 342900 w 1562100"/>
                <a:gd name="connsiteY110" fmla="*/ 1204913 h 1204913"/>
                <a:gd name="connsiteX111" fmla="*/ 390525 w 1562100"/>
                <a:gd name="connsiteY111" fmla="*/ 1200151 h 1204913"/>
                <a:gd name="connsiteX112" fmla="*/ 428625 w 1562100"/>
                <a:gd name="connsiteY112" fmla="*/ 1190626 h 1204913"/>
                <a:gd name="connsiteX113" fmla="*/ 454819 w 1562100"/>
                <a:gd name="connsiteY113" fmla="*/ 1197769 h 1204913"/>
                <a:gd name="connsiteX114" fmla="*/ 473869 w 1562100"/>
                <a:gd name="connsiteY114" fmla="*/ 1176338 h 1204913"/>
                <a:gd name="connsiteX115" fmla="*/ 492919 w 1562100"/>
                <a:gd name="connsiteY115" fmla="*/ 1176338 h 1204913"/>
                <a:gd name="connsiteX116" fmla="*/ 507206 w 1562100"/>
                <a:gd name="connsiteY116" fmla="*/ 1145382 h 1204913"/>
                <a:gd name="connsiteX117" fmla="*/ 557213 w 1562100"/>
                <a:gd name="connsiteY117" fmla="*/ 1131094 h 1204913"/>
                <a:gd name="connsiteX118" fmla="*/ 583406 w 1562100"/>
                <a:gd name="connsiteY118" fmla="*/ 1112044 h 1204913"/>
                <a:gd name="connsiteX119" fmla="*/ 590550 w 1562100"/>
                <a:gd name="connsiteY119" fmla="*/ 1073944 h 1204913"/>
                <a:gd name="connsiteX120" fmla="*/ 607219 w 1562100"/>
                <a:gd name="connsiteY120" fmla="*/ 1047751 h 1204913"/>
                <a:gd name="connsiteX121" fmla="*/ 688181 w 1562100"/>
                <a:gd name="connsiteY121" fmla="*/ 1078707 h 1204913"/>
                <a:gd name="connsiteX0" fmla="*/ 688181 w 1562100"/>
                <a:gd name="connsiteY0" fmla="*/ 1089758 h 1215964"/>
                <a:gd name="connsiteX1" fmla="*/ 688181 w 1562100"/>
                <a:gd name="connsiteY1" fmla="*/ 1004033 h 1215964"/>
                <a:gd name="connsiteX2" fmla="*/ 692944 w 1562100"/>
                <a:gd name="connsiteY2" fmla="*/ 961170 h 1215964"/>
                <a:gd name="connsiteX3" fmla="*/ 692944 w 1562100"/>
                <a:gd name="connsiteY3" fmla="*/ 915927 h 1215964"/>
                <a:gd name="connsiteX4" fmla="*/ 676275 w 1562100"/>
                <a:gd name="connsiteY4" fmla="*/ 892114 h 1215964"/>
                <a:gd name="connsiteX5" fmla="*/ 690563 w 1562100"/>
                <a:gd name="connsiteY5" fmla="*/ 839727 h 1215964"/>
                <a:gd name="connsiteX6" fmla="*/ 685800 w 1562100"/>
                <a:gd name="connsiteY6" fmla="*/ 813533 h 1215964"/>
                <a:gd name="connsiteX7" fmla="*/ 697706 w 1562100"/>
                <a:gd name="connsiteY7" fmla="*/ 768289 h 1215964"/>
                <a:gd name="connsiteX8" fmla="*/ 714375 w 1562100"/>
                <a:gd name="connsiteY8" fmla="*/ 744477 h 1215964"/>
                <a:gd name="connsiteX9" fmla="*/ 721519 w 1562100"/>
                <a:gd name="connsiteY9" fmla="*/ 711139 h 1215964"/>
                <a:gd name="connsiteX10" fmla="*/ 735806 w 1562100"/>
                <a:gd name="connsiteY10" fmla="*/ 692089 h 1215964"/>
                <a:gd name="connsiteX11" fmla="*/ 792956 w 1562100"/>
                <a:gd name="connsiteY11" fmla="*/ 682564 h 1215964"/>
                <a:gd name="connsiteX12" fmla="*/ 838200 w 1562100"/>
                <a:gd name="connsiteY12" fmla="*/ 665895 h 1215964"/>
                <a:gd name="connsiteX13" fmla="*/ 876300 w 1562100"/>
                <a:gd name="connsiteY13" fmla="*/ 625414 h 1215964"/>
                <a:gd name="connsiteX14" fmla="*/ 923925 w 1562100"/>
                <a:gd name="connsiteY14" fmla="*/ 611127 h 1215964"/>
                <a:gd name="connsiteX15" fmla="*/ 995363 w 1562100"/>
                <a:gd name="connsiteY15" fmla="*/ 606364 h 1215964"/>
                <a:gd name="connsiteX16" fmla="*/ 1040606 w 1562100"/>
                <a:gd name="connsiteY16" fmla="*/ 596839 h 1215964"/>
                <a:gd name="connsiteX17" fmla="*/ 1119188 w 1562100"/>
                <a:gd name="connsiteY17" fmla="*/ 489683 h 1215964"/>
                <a:gd name="connsiteX18" fmla="*/ 1126331 w 1562100"/>
                <a:gd name="connsiteY18" fmla="*/ 456345 h 1215964"/>
                <a:gd name="connsiteX19" fmla="*/ 1152525 w 1562100"/>
                <a:gd name="connsiteY19" fmla="*/ 427770 h 1215964"/>
                <a:gd name="connsiteX20" fmla="*/ 1197769 w 1562100"/>
                <a:gd name="connsiteY20" fmla="*/ 418245 h 1215964"/>
                <a:gd name="connsiteX21" fmla="*/ 1290638 w 1562100"/>
                <a:gd name="connsiteY21" fmla="*/ 342045 h 1215964"/>
                <a:gd name="connsiteX22" fmla="*/ 1314450 w 1562100"/>
                <a:gd name="connsiteY22" fmla="*/ 339664 h 1215964"/>
                <a:gd name="connsiteX23" fmla="*/ 1409700 w 1562100"/>
                <a:gd name="connsiteY23" fmla="*/ 258702 h 1215964"/>
                <a:gd name="connsiteX24" fmla="*/ 1414463 w 1562100"/>
                <a:gd name="connsiteY24" fmla="*/ 239652 h 1215964"/>
                <a:gd name="connsiteX25" fmla="*/ 1507331 w 1562100"/>
                <a:gd name="connsiteY25" fmla="*/ 184883 h 1215964"/>
                <a:gd name="connsiteX26" fmla="*/ 1543050 w 1562100"/>
                <a:gd name="connsiteY26" fmla="*/ 139639 h 1215964"/>
                <a:gd name="connsiteX27" fmla="*/ 1562100 w 1562100"/>
                <a:gd name="connsiteY27" fmla="*/ 101539 h 1215964"/>
                <a:gd name="connsiteX28" fmla="*/ 1512094 w 1562100"/>
                <a:gd name="connsiteY28" fmla="*/ 120589 h 1215964"/>
                <a:gd name="connsiteX29" fmla="*/ 1478756 w 1562100"/>
                <a:gd name="connsiteY29" fmla="*/ 120589 h 1215964"/>
                <a:gd name="connsiteX30" fmla="*/ 1452563 w 1562100"/>
                <a:gd name="connsiteY30" fmla="*/ 158689 h 1215964"/>
                <a:gd name="connsiteX31" fmla="*/ 1421606 w 1562100"/>
                <a:gd name="connsiteY31" fmla="*/ 156308 h 1215964"/>
                <a:gd name="connsiteX32" fmla="*/ 1366838 w 1562100"/>
                <a:gd name="connsiteY32" fmla="*/ 125352 h 1215964"/>
                <a:gd name="connsiteX33" fmla="*/ 1323975 w 1562100"/>
                <a:gd name="connsiteY33" fmla="*/ 113445 h 1215964"/>
                <a:gd name="connsiteX34" fmla="*/ 1238250 w 1562100"/>
                <a:gd name="connsiteY34" fmla="*/ 149164 h 1215964"/>
                <a:gd name="connsiteX35" fmla="*/ 1223963 w 1562100"/>
                <a:gd name="connsiteY35" fmla="*/ 187264 h 1215964"/>
                <a:gd name="connsiteX36" fmla="*/ 1195388 w 1562100"/>
                <a:gd name="connsiteY36" fmla="*/ 244414 h 1215964"/>
                <a:gd name="connsiteX37" fmla="*/ 1109663 w 1562100"/>
                <a:gd name="connsiteY37" fmla="*/ 206314 h 1215964"/>
                <a:gd name="connsiteX38" fmla="*/ 1097756 w 1562100"/>
                <a:gd name="connsiteY38" fmla="*/ 249177 h 1215964"/>
                <a:gd name="connsiteX39" fmla="*/ 1083469 w 1562100"/>
                <a:gd name="connsiteY39" fmla="*/ 282514 h 1215964"/>
                <a:gd name="connsiteX40" fmla="*/ 959644 w 1562100"/>
                <a:gd name="connsiteY40" fmla="*/ 313470 h 1215964"/>
                <a:gd name="connsiteX41" fmla="*/ 945356 w 1562100"/>
                <a:gd name="connsiteY41" fmla="*/ 308708 h 1215964"/>
                <a:gd name="connsiteX42" fmla="*/ 926306 w 1562100"/>
                <a:gd name="connsiteY42" fmla="*/ 330139 h 1215964"/>
                <a:gd name="connsiteX43" fmla="*/ 890588 w 1562100"/>
                <a:gd name="connsiteY43" fmla="*/ 337283 h 1215964"/>
                <a:gd name="connsiteX44" fmla="*/ 854869 w 1562100"/>
                <a:gd name="connsiteY44" fmla="*/ 287277 h 1215964"/>
                <a:gd name="connsiteX45" fmla="*/ 835819 w 1562100"/>
                <a:gd name="connsiteY45" fmla="*/ 275370 h 1215964"/>
                <a:gd name="connsiteX46" fmla="*/ 826294 w 1562100"/>
                <a:gd name="connsiteY46" fmla="*/ 230127 h 1215964"/>
                <a:gd name="connsiteX47" fmla="*/ 792956 w 1562100"/>
                <a:gd name="connsiteY47" fmla="*/ 213458 h 1215964"/>
                <a:gd name="connsiteX48" fmla="*/ 759619 w 1562100"/>
                <a:gd name="connsiteY48" fmla="*/ 206314 h 1215964"/>
                <a:gd name="connsiteX49" fmla="*/ 740569 w 1562100"/>
                <a:gd name="connsiteY49" fmla="*/ 201552 h 1215964"/>
                <a:gd name="connsiteX50" fmla="*/ 728663 w 1562100"/>
                <a:gd name="connsiteY50" fmla="*/ 192027 h 1215964"/>
                <a:gd name="connsiteX51" fmla="*/ 735806 w 1562100"/>
                <a:gd name="connsiteY51" fmla="*/ 165833 h 1215964"/>
                <a:gd name="connsiteX52" fmla="*/ 742950 w 1562100"/>
                <a:gd name="connsiteY52" fmla="*/ 142020 h 1215964"/>
                <a:gd name="connsiteX53" fmla="*/ 700088 w 1562100"/>
                <a:gd name="connsiteY53" fmla="*/ 92014 h 1215964"/>
                <a:gd name="connsiteX54" fmla="*/ 376238 w 1562100"/>
                <a:gd name="connsiteY54" fmla="*/ 11052 h 1215964"/>
                <a:gd name="connsiteX55" fmla="*/ 314326 w 1562100"/>
                <a:gd name="connsiteY55" fmla="*/ 11051 h 1215964"/>
                <a:gd name="connsiteX56" fmla="*/ 328613 w 1562100"/>
                <a:gd name="connsiteY56" fmla="*/ 89633 h 1215964"/>
                <a:gd name="connsiteX57" fmla="*/ 292894 w 1562100"/>
                <a:gd name="connsiteY57" fmla="*/ 192027 h 1215964"/>
                <a:gd name="connsiteX58" fmla="*/ 264319 w 1562100"/>
                <a:gd name="connsiteY58" fmla="*/ 199170 h 1215964"/>
                <a:gd name="connsiteX59" fmla="*/ 261938 w 1562100"/>
                <a:gd name="connsiteY59" fmla="*/ 213458 h 1215964"/>
                <a:gd name="connsiteX60" fmla="*/ 261938 w 1562100"/>
                <a:gd name="connsiteY60" fmla="*/ 246795 h 1215964"/>
                <a:gd name="connsiteX61" fmla="*/ 228600 w 1562100"/>
                <a:gd name="connsiteY61" fmla="*/ 289658 h 1215964"/>
                <a:gd name="connsiteX62" fmla="*/ 271463 w 1562100"/>
                <a:gd name="connsiteY62" fmla="*/ 306327 h 1215964"/>
                <a:gd name="connsiteX63" fmla="*/ 278606 w 1562100"/>
                <a:gd name="connsiteY63" fmla="*/ 325377 h 1215964"/>
                <a:gd name="connsiteX64" fmla="*/ 257175 w 1562100"/>
                <a:gd name="connsiteY64" fmla="*/ 361095 h 1215964"/>
                <a:gd name="connsiteX65" fmla="*/ 221456 w 1562100"/>
                <a:gd name="connsiteY65" fmla="*/ 370620 h 1215964"/>
                <a:gd name="connsiteX66" fmla="*/ 221456 w 1562100"/>
                <a:gd name="connsiteY66" fmla="*/ 411102 h 1215964"/>
                <a:gd name="connsiteX67" fmla="*/ 254794 w 1562100"/>
                <a:gd name="connsiteY67" fmla="*/ 449202 h 1215964"/>
                <a:gd name="connsiteX68" fmla="*/ 226219 w 1562100"/>
                <a:gd name="connsiteY68" fmla="*/ 513495 h 1215964"/>
                <a:gd name="connsiteX69" fmla="*/ 180975 w 1562100"/>
                <a:gd name="connsiteY69" fmla="*/ 542070 h 1215964"/>
                <a:gd name="connsiteX70" fmla="*/ 183356 w 1562100"/>
                <a:gd name="connsiteY70" fmla="*/ 558739 h 1215964"/>
                <a:gd name="connsiteX71" fmla="*/ 204788 w 1562100"/>
                <a:gd name="connsiteY71" fmla="*/ 568264 h 1215964"/>
                <a:gd name="connsiteX72" fmla="*/ 219075 w 1562100"/>
                <a:gd name="connsiteY72" fmla="*/ 577789 h 1215964"/>
                <a:gd name="connsiteX73" fmla="*/ 223838 w 1562100"/>
                <a:gd name="connsiteY73" fmla="*/ 596839 h 1215964"/>
                <a:gd name="connsiteX74" fmla="*/ 195263 w 1562100"/>
                <a:gd name="connsiteY74" fmla="*/ 623033 h 1215964"/>
                <a:gd name="connsiteX75" fmla="*/ 123825 w 1562100"/>
                <a:gd name="connsiteY75" fmla="*/ 668277 h 1215964"/>
                <a:gd name="connsiteX76" fmla="*/ 123825 w 1562100"/>
                <a:gd name="connsiteY76" fmla="*/ 703995 h 1215964"/>
                <a:gd name="connsiteX77" fmla="*/ 135731 w 1562100"/>
                <a:gd name="connsiteY77" fmla="*/ 734952 h 1215964"/>
                <a:gd name="connsiteX78" fmla="*/ 123825 w 1562100"/>
                <a:gd name="connsiteY78" fmla="*/ 775433 h 1215964"/>
                <a:gd name="connsiteX79" fmla="*/ 76200 w 1562100"/>
                <a:gd name="connsiteY79" fmla="*/ 770670 h 1215964"/>
                <a:gd name="connsiteX80" fmla="*/ 52388 w 1562100"/>
                <a:gd name="connsiteY80" fmla="*/ 715902 h 1215964"/>
                <a:gd name="connsiteX81" fmla="*/ 33338 w 1562100"/>
                <a:gd name="connsiteY81" fmla="*/ 708758 h 1215964"/>
                <a:gd name="connsiteX82" fmla="*/ 23813 w 1562100"/>
                <a:gd name="connsiteY82" fmla="*/ 746858 h 1215964"/>
                <a:gd name="connsiteX83" fmla="*/ 21431 w 1562100"/>
                <a:gd name="connsiteY83" fmla="*/ 756383 h 1215964"/>
                <a:gd name="connsiteX84" fmla="*/ 7144 w 1562100"/>
                <a:gd name="connsiteY84" fmla="*/ 773052 h 1215964"/>
                <a:gd name="connsiteX85" fmla="*/ 0 w 1562100"/>
                <a:gd name="connsiteY85" fmla="*/ 830202 h 1215964"/>
                <a:gd name="connsiteX86" fmla="*/ 23813 w 1562100"/>
                <a:gd name="connsiteY86" fmla="*/ 858777 h 1215964"/>
                <a:gd name="connsiteX87" fmla="*/ 16669 w 1562100"/>
                <a:gd name="connsiteY87" fmla="*/ 899258 h 1215964"/>
                <a:gd name="connsiteX88" fmla="*/ 35719 w 1562100"/>
                <a:gd name="connsiteY88" fmla="*/ 904020 h 1215964"/>
                <a:gd name="connsiteX89" fmla="*/ 69056 w 1562100"/>
                <a:gd name="connsiteY89" fmla="*/ 904020 h 1215964"/>
                <a:gd name="connsiteX90" fmla="*/ 85725 w 1562100"/>
                <a:gd name="connsiteY90" fmla="*/ 894495 h 1215964"/>
                <a:gd name="connsiteX91" fmla="*/ 135731 w 1562100"/>
                <a:gd name="connsiteY91" fmla="*/ 951645 h 1215964"/>
                <a:gd name="connsiteX92" fmla="*/ 123825 w 1562100"/>
                <a:gd name="connsiteY92" fmla="*/ 970695 h 1215964"/>
                <a:gd name="connsiteX93" fmla="*/ 133350 w 1562100"/>
                <a:gd name="connsiteY93" fmla="*/ 999270 h 1215964"/>
                <a:gd name="connsiteX94" fmla="*/ 164306 w 1562100"/>
                <a:gd name="connsiteY94" fmla="*/ 1018320 h 1215964"/>
                <a:gd name="connsiteX95" fmla="*/ 190500 w 1562100"/>
                <a:gd name="connsiteY95" fmla="*/ 1027845 h 1215964"/>
                <a:gd name="connsiteX96" fmla="*/ 216694 w 1562100"/>
                <a:gd name="connsiteY96" fmla="*/ 1034989 h 1215964"/>
                <a:gd name="connsiteX97" fmla="*/ 228600 w 1562100"/>
                <a:gd name="connsiteY97" fmla="*/ 1037370 h 1215964"/>
                <a:gd name="connsiteX98" fmla="*/ 240506 w 1562100"/>
                <a:gd name="connsiteY98" fmla="*/ 999270 h 1215964"/>
                <a:gd name="connsiteX99" fmla="*/ 269081 w 1562100"/>
                <a:gd name="connsiteY99" fmla="*/ 1004033 h 1215964"/>
                <a:gd name="connsiteX100" fmla="*/ 288131 w 1562100"/>
                <a:gd name="connsiteY100" fmla="*/ 992127 h 1215964"/>
                <a:gd name="connsiteX101" fmla="*/ 307181 w 1562100"/>
                <a:gd name="connsiteY101" fmla="*/ 1042133 h 1215964"/>
                <a:gd name="connsiteX102" fmla="*/ 330994 w 1562100"/>
                <a:gd name="connsiteY102" fmla="*/ 1056420 h 1215964"/>
                <a:gd name="connsiteX103" fmla="*/ 340519 w 1562100"/>
                <a:gd name="connsiteY103" fmla="*/ 1084995 h 1215964"/>
                <a:gd name="connsiteX104" fmla="*/ 357188 w 1562100"/>
                <a:gd name="connsiteY104" fmla="*/ 1094520 h 1215964"/>
                <a:gd name="connsiteX105" fmla="*/ 364331 w 1562100"/>
                <a:gd name="connsiteY105" fmla="*/ 1125477 h 1215964"/>
                <a:gd name="connsiteX106" fmla="*/ 335756 w 1562100"/>
                <a:gd name="connsiteY106" fmla="*/ 1151670 h 1215964"/>
                <a:gd name="connsiteX107" fmla="*/ 309563 w 1562100"/>
                <a:gd name="connsiteY107" fmla="*/ 1168339 h 1215964"/>
                <a:gd name="connsiteX108" fmla="*/ 297656 w 1562100"/>
                <a:gd name="connsiteY108" fmla="*/ 1192152 h 1215964"/>
                <a:gd name="connsiteX109" fmla="*/ 302419 w 1562100"/>
                <a:gd name="connsiteY109" fmla="*/ 1215964 h 1215964"/>
                <a:gd name="connsiteX110" fmla="*/ 342900 w 1562100"/>
                <a:gd name="connsiteY110" fmla="*/ 1215964 h 1215964"/>
                <a:gd name="connsiteX111" fmla="*/ 390525 w 1562100"/>
                <a:gd name="connsiteY111" fmla="*/ 1211202 h 1215964"/>
                <a:gd name="connsiteX112" fmla="*/ 428625 w 1562100"/>
                <a:gd name="connsiteY112" fmla="*/ 1201677 h 1215964"/>
                <a:gd name="connsiteX113" fmla="*/ 454819 w 1562100"/>
                <a:gd name="connsiteY113" fmla="*/ 1208820 h 1215964"/>
                <a:gd name="connsiteX114" fmla="*/ 473869 w 1562100"/>
                <a:gd name="connsiteY114" fmla="*/ 1187389 h 1215964"/>
                <a:gd name="connsiteX115" fmla="*/ 492919 w 1562100"/>
                <a:gd name="connsiteY115" fmla="*/ 1187389 h 1215964"/>
                <a:gd name="connsiteX116" fmla="*/ 507206 w 1562100"/>
                <a:gd name="connsiteY116" fmla="*/ 1156433 h 1215964"/>
                <a:gd name="connsiteX117" fmla="*/ 557213 w 1562100"/>
                <a:gd name="connsiteY117" fmla="*/ 1142145 h 1215964"/>
                <a:gd name="connsiteX118" fmla="*/ 583406 w 1562100"/>
                <a:gd name="connsiteY118" fmla="*/ 1123095 h 1215964"/>
                <a:gd name="connsiteX119" fmla="*/ 590550 w 1562100"/>
                <a:gd name="connsiteY119" fmla="*/ 1084995 h 1215964"/>
                <a:gd name="connsiteX120" fmla="*/ 607219 w 1562100"/>
                <a:gd name="connsiteY120" fmla="*/ 1058802 h 1215964"/>
                <a:gd name="connsiteX121" fmla="*/ 688181 w 1562100"/>
                <a:gd name="connsiteY121" fmla="*/ 1089758 h 1215964"/>
                <a:gd name="connsiteX0" fmla="*/ 688181 w 1562100"/>
                <a:gd name="connsiteY0" fmla="*/ 1089758 h 1215964"/>
                <a:gd name="connsiteX1" fmla="*/ 688181 w 1562100"/>
                <a:gd name="connsiteY1" fmla="*/ 1004033 h 1215964"/>
                <a:gd name="connsiteX2" fmla="*/ 692944 w 1562100"/>
                <a:gd name="connsiteY2" fmla="*/ 961170 h 1215964"/>
                <a:gd name="connsiteX3" fmla="*/ 692944 w 1562100"/>
                <a:gd name="connsiteY3" fmla="*/ 915927 h 1215964"/>
                <a:gd name="connsiteX4" fmla="*/ 676275 w 1562100"/>
                <a:gd name="connsiteY4" fmla="*/ 892114 h 1215964"/>
                <a:gd name="connsiteX5" fmla="*/ 690563 w 1562100"/>
                <a:gd name="connsiteY5" fmla="*/ 839727 h 1215964"/>
                <a:gd name="connsiteX6" fmla="*/ 685800 w 1562100"/>
                <a:gd name="connsiteY6" fmla="*/ 813533 h 1215964"/>
                <a:gd name="connsiteX7" fmla="*/ 697706 w 1562100"/>
                <a:gd name="connsiteY7" fmla="*/ 768289 h 1215964"/>
                <a:gd name="connsiteX8" fmla="*/ 714375 w 1562100"/>
                <a:gd name="connsiteY8" fmla="*/ 744477 h 1215964"/>
                <a:gd name="connsiteX9" fmla="*/ 721519 w 1562100"/>
                <a:gd name="connsiteY9" fmla="*/ 711139 h 1215964"/>
                <a:gd name="connsiteX10" fmla="*/ 735806 w 1562100"/>
                <a:gd name="connsiteY10" fmla="*/ 692089 h 1215964"/>
                <a:gd name="connsiteX11" fmla="*/ 792956 w 1562100"/>
                <a:gd name="connsiteY11" fmla="*/ 682564 h 1215964"/>
                <a:gd name="connsiteX12" fmla="*/ 838200 w 1562100"/>
                <a:gd name="connsiteY12" fmla="*/ 665895 h 1215964"/>
                <a:gd name="connsiteX13" fmla="*/ 876300 w 1562100"/>
                <a:gd name="connsiteY13" fmla="*/ 625414 h 1215964"/>
                <a:gd name="connsiteX14" fmla="*/ 923925 w 1562100"/>
                <a:gd name="connsiteY14" fmla="*/ 611127 h 1215964"/>
                <a:gd name="connsiteX15" fmla="*/ 995363 w 1562100"/>
                <a:gd name="connsiteY15" fmla="*/ 606364 h 1215964"/>
                <a:gd name="connsiteX16" fmla="*/ 1040606 w 1562100"/>
                <a:gd name="connsiteY16" fmla="*/ 596839 h 1215964"/>
                <a:gd name="connsiteX17" fmla="*/ 1119188 w 1562100"/>
                <a:gd name="connsiteY17" fmla="*/ 489683 h 1215964"/>
                <a:gd name="connsiteX18" fmla="*/ 1126331 w 1562100"/>
                <a:gd name="connsiteY18" fmla="*/ 456345 h 1215964"/>
                <a:gd name="connsiteX19" fmla="*/ 1152525 w 1562100"/>
                <a:gd name="connsiteY19" fmla="*/ 427770 h 1215964"/>
                <a:gd name="connsiteX20" fmla="*/ 1197769 w 1562100"/>
                <a:gd name="connsiteY20" fmla="*/ 418245 h 1215964"/>
                <a:gd name="connsiteX21" fmla="*/ 1290638 w 1562100"/>
                <a:gd name="connsiteY21" fmla="*/ 342045 h 1215964"/>
                <a:gd name="connsiteX22" fmla="*/ 1314450 w 1562100"/>
                <a:gd name="connsiteY22" fmla="*/ 339664 h 1215964"/>
                <a:gd name="connsiteX23" fmla="*/ 1409700 w 1562100"/>
                <a:gd name="connsiteY23" fmla="*/ 258702 h 1215964"/>
                <a:gd name="connsiteX24" fmla="*/ 1414463 w 1562100"/>
                <a:gd name="connsiteY24" fmla="*/ 239652 h 1215964"/>
                <a:gd name="connsiteX25" fmla="*/ 1507331 w 1562100"/>
                <a:gd name="connsiteY25" fmla="*/ 184883 h 1215964"/>
                <a:gd name="connsiteX26" fmla="*/ 1543050 w 1562100"/>
                <a:gd name="connsiteY26" fmla="*/ 139639 h 1215964"/>
                <a:gd name="connsiteX27" fmla="*/ 1562100 w 1562100"/>
                <a:gd name="connsiteY27" fmla="*/ 101539 h 1215964"/>
                <a:gd name="connsiteX28" fmla="*/ 1512094 w 1562100"/>
                <a:gd name="connsiteY28" fmla="*/ 120589 h 1215964"/>
                <a:gd name="connsiteX29" fmla="*/ 1478756 w 1562100"/>
                <a:gd name="connsiteY29" fmla="*/ 120589 h 1215964"/>
                <a:gd name="connsiteX30" fmla="*/ 1452563 w 1562100"/>
                <a:gd name="connsiteY30" fmla="*/ 158689 h 1215964"/>
                <a:gd name="connsiteX31" fmla="*/ 1421606 w 1562100"/>
                <a:gd name="connsiteY31" fmla="*/ 156308 h 1215964"/>
                <a:gd name="connsiteX32" fmla="*/ 1366838 w 1562100"/>
                <a:gd name="connsiteY32" fmla="*/ 125352 h 1215964"/>
                <a:gd name="connsiteX33" fmla="*/ 1323975 w 1562100"/>
                <a:gd name="connsiteY33" fmla="*/ 113445 h 1215964"/>
                <a:gd name="connsiteX34" fmla="*/ 1238250 w 1562100"/>
                <a:gd name="connsiteY34" fmla="*/ 149164 h 1215964"/>
                <a:gd name="connsiteX35" fmla="*/ 1223963 w 1562100"/>
                <a:gd name="connsiteY35" fmla="*/ 187264 h 1215964"/>
                <a:gd name="connsiteX36" fmla="*/ 1195388 w 1562100"/>
                <a:gd name="connsiteY36" fmla="*/ 244414 h 1215964"/>
                <a:gd name="connsiteX37" fmla="*/ 1109663 w 1562100"/>
                <a:gd name="connsiteY37" fmla="*/ 206314 h 1215964"/>
                <a:gd name="connsiteX38" fmla="*/ 1097756 w 1562100"/>
                <a:gd name="connsiteY38" fmla="*/ 249177 h 1215964"/>
                <a:gd name="connsiteX39" fmla="*/ 1083469 w 1562100"/>
                <a:gd name="connsiteY39" fmla="*/ 282514 h 1215964"/>
                <a:gd name="connsiteX40" fmla="*/ 959644 w 1562100"/>
                <a:gd name="connsiteY40" fmla="*/ 313470 h 1215964"/>
                <a:gd name="connsiteX41" fmla="*/ 945356 w 1562100"/>
                <a:gd name="connsiteY41" fmla="*/ 308708 h 1215964"/>
                <a:gd name="connsiteX42" fmla="*/ 926306 w 1562100"/>
                <a:gd name="connsiteY42" fmla="*/ 330139 h 1215964"/>
                <a:gd name="connsiteX43" fmla="*/ 890588 w 1562100"/>
                <a:gd name="connsiteY43" fmla="*/ 337283 h 1215964"/>
                <a:gd name="connsiteX44" fmla="*/ 854869 w 1562100"/>
                <a:gd name="connsiteY44" fmla="*/ 287277 h 1215964"/>
                <a:gd name="connsiteX45" fmla="*/ 835819 w 1562100"/>
                <a:gd name="connsiteY45" fmla="*/ 275370 h 1215964"/>
                <a:gd name="connsiteX46" fmla="*/ 826294 w 1562100"/>
                <a:gd name="connsiteY46" fmla="*/ 230127 h 1215964"/>
                <a:gd name="connsiteX47" fmla="*/ 792956 w 1562100"/>
                <a:gd name="connsiteY47" fmla="*/ 213458 h 1215964"/>
                <a:gd name="connsiteX48" fmla="*/ 759619 w 1562100"/>
                <a:gd name="connsiteY48" fmla="*/ 206314 h 1215964"/>
                <a:gd name="connsiteX49" fmla="*/ 740569 w 1562100"/>
                <a:gd name="connsiteY49" fmla="*/ 201552 h 1215964"/>
                <a:gd name="connsiteX50" fmla="*/ 728663 w 1562100"/>
                <a:gd name="connsiteY50" fmla="*/ 192027 h 1215964"/>
                <a:gd name="connsiteX51" fmla="*/ 735806 w 1562100"/>
                <a:gd name="connsiteY51" fmla="*/ 165833 h 1215964"/>
                <a:gd name="connsiteX52" fmla="*/ 742950 w 1562100"/>
                <a:gd name="connsiteY52" fmla="*/ 142020 h 1215964"/>
                <a:gd name="connsiteX53" fmla="*/ 700088 w 1562100"/>
                <a:gd name="connsiteY53" fmla="*/ 92014 h 1215964"/>
                <a:gd name="connsiteX54" fmla="*/ 447675 w 1562100"/>
                <a:gd name="connsiteY54" fmla="*/ 22958 h 1215964"/>
                <a:gd name="connsiteX55" fmla="*/ 376238 w 1562100"/>
                <a:gd name="connsiteY55" fmla="*/ 11052 h 1215964"/>
                <a:gd name="connsiteX56" fmla="*/ 314326 w 1562100"/>
                <a:gd name="connsiteY56" fmla="*/ 11051 h 1215964"/>
                <a:gd name="connsiteX57" fmla="*/ 328613 w 1562100"/>
                <a:gd name="connsiteY57" fmla="*/ 89633 h 1215964"/>
                <a:gd name="connsiteX58" fmla="*/ 292894 w 1562100"/>
                <a:gd name="connsiteY58" fmla="*/ 192027 h 1215964"/>
                <a:gd name="connsiteX59" fmla="*/ 264319 w 1562100"/>
                <a:gd name="connsiteY59" fmla="*/ 199170 h 1215964"/>
                <a:gd name="connsiteX60" fmla="*/ 261938 w 1562100"/>
                <a:gd name="connsiteY60" fmla="*/ 213458 h 1215964"/>
                <a:gd name="connsiteX61" fmla="*/ 261938 w 1562100"/>
                <a:gd name="connsiteY61" fmla="*/ 246795 h 1215964"/>
                <a:gd name="connsiteX62" fmla="*/ 228600 w 1562100"/>
                <a:gd name="connsiteY62" fmla="*/ 289658 h 1215964"/>
                <a:gd name="connsiteX63" fmla="*/ 271463 w 1562100"/>
                <a:gd name="connsiteY63" fmla="*/ 306327 h 1215964"/>
                <a:gd name="connsiteX64" fmla="*/ 278606 w 1562100"/>
                <a:gd name="connsiteY64" fmla="*/ 325377 h 1215964"/>
                <a:gd name="connsiteX65" fmla="*/ 257175 w 1562100"/>
                <a:gd name="connsiteY65" fmla="*/ 361095 h 1215964"/>
                <a:gd name="connsiteX66" fmla="*/ 221456 w 1562100"/>
                <a:gd name="connsiteY66" fmla="*/ 370620 h 1215964"/>
                <a:gd name="connsiteX67" fmla="*/ 221456 w 1562100"/>
                <a:gd name="connsiteY67" fmla="*/ 411102 h 1215964"/>
                <a:gd name="connsiteX68" fmla="*/ 254794 w 1562100"/>
                <a:gd name="connsiteY68" fmla="*/ 449202 h 1215964"/>
                <a:gd name="connsiteX69" fmla="*/ 226219 w 1562100"/>
                <a:gd name="connsiteY69" fmla="*/ 513495 h 1215964"/>
                <a:gd name="connsiteX70" fmla="*/ 180975 w 1562100"/>
                <a:gd name="connsiteY70" fmla="*/ 542070 h 1215964"/>
                <a:gd name="connsiteX71" fmla="*/ 183356 w 1562100"/>
                <a:gd name="connsiteY71" fmla="*/ 558739 h 1215964"/>
                <a:gd name="connsiteX72" fmla="*/ 204788 w 1562100"/>
                <a:gd name="connsiteY72" fmla="*/ 568264 h 1215964"/>
                <a:gd name="connsiteX73" fmla="*/ 219075 w 1562100"/>
                <a:gd name="connsiteY73" fmla="*/ 577789 h 1215964"/>
                <a:gd name="connsiteX74" fmla="*/ 223838 w 1562100"/>
                <a:gd name="connsiteY74" fmla="*/ 596839 h 1215964"/>
                <a:gd name="connsiteX75" fmla="*/ 195263 w 1562100"/>
                <a:gd name="connsiteY75" fmla="*/ 623033 h 1215964"/>
                <a:gd name="connsiteX76" fmla="*/ 123825 w 1562100"/>
                <a:gd name="connsiteY76" fmla="*/ 668277 h 1215964"/>
                <a:gd name="connsiteX77" fmla="*/ 123825 w 1562100"/>
                <a:gd name="connsiteY77" fmla="*/ 703995 h 1215964"/>
                <a:gd name="connsiteX78" fmla="*/ 135731 w 1562100"/>
                <a:gd name="connsiteY78" fmla="*/ 734952 h 1215964"/>
                <a:gd name="connsiteX79" fmla="*/ 123825 w 1562100"/>
                <a:gd name="connsiteY79" fmla="*/ 775433 h 1215964"/>
                <a:gd name="connsiteX80" fmla="*/ 76200 w 1562100"/>
                <a:gd name="connsiteY80" fmla="*/ 770670 h 1215964"/>
                <a:gd name="connsiteX81" fmla="*/ 52388 w 1562100"/>
                <a:gd name="connsiteY81" fmla="*/ 715902 h 1215964"/>
                <a:gd name="connsiteX82" fmla="*/ 33338 w 1562100"/>
                <a:gd name="connsiteY82" fmla="*/ 708758 h 1215964"/>
                <a:gd name="connsiteX83" fmla="*/ 23813 w 1562100"/>
                <a:gd name="connsiteY83" fmla="*/ 746858 h 1215964"/>
                <a:gd name="connsiteX84" fmla="*/ 21431 w 1562100"/>
                <a:gd name="connsiteY84" fmla="*/ 756383 h 1215964"/>
                <a:gd name="connsiteX85" fmla="*/ 7144 w 1562100"/>
                <a:gd name="connsiteY85" fmla="*/ 773052 h 1215964"/>
                <a:gd name="connsiteX86" fmla="*/ 0 w 1562100"/>
                <a:gd name="connsiteY86" fmla="*/ 830202 h 1215964"/>
                <a:gd name="connsiteX87" fmla="*/ 23813 w 1562100"/>
                <a:gd name="connsiteY87" fmla="*/ 858777 h 1215964"/>
                <a:gd name="connsiteX88" fmla="*/ 16669 w 1562100"/>
                <a:gd name="connsiteY88" fmla="*/ 899258 h 1215964"/>
                <a:gd name="connsiteX89" fmla="*/ 35719 w 1562100"/>
                <a:gd name="connsiteY89" fmla="*/ 904020 h 1215964"/>
                <a:gd name="connsiteX90" fmla="*/ 69056 w 1562100"/>
                <a:gd name="connsiteY90" fmla="*/ 904020 h 1215964"/>
                <a:gd name="connsiteX91" fmla="*/ 85725 w 1562100"/>
                <a:gd name="connsiteY91" fmla="*/ 894495 h 1215964"/>
                <a:gd name="connsiteX92" fmla="*/ 135731 w 1562100"/>
                <a:gd name="connsiteY92" fmla="*/ 951645 h 1215964"/>
                <a:gd name="connsiteX93" fmla="*/ 123825 w 1562100"/>
                <a:gd name="connsiteY93" fmla="*/ 970695 h 1215964"/>
                <a:gd name="connsiteX94" fmla="*/ 133350 w 1562100"/>
                <a:gd name="connsiteY94" fmla="*/ 999270 h 1215964"/>
                <a:gd name="connsiteX95" fmla="*/ 164306 w 1562100"/>
                <a:gd name="connsiteY95" fmla="*/ 1018320 h 1215964"/>
                <a:gd name="connsiteX96" fmla="*/ 190500 w 1562100"/>
                <a:gd name="connsiteY96" fmla="*/ 1027845 h 1215964"/>
                <a:gd name="connsiteX97" fmla="*/ 216694 w 1562100"/>
                <a:gd name="connsiteY97" fmla="*/ 1034989 h 1215964"/>
                <a:gd name="connsiteX98" fmla="*/ 228600 w 1562100"/>
                <a:gd name="connsiteY98" fmla="*/ 1037370 h 1215964"/>
                <a:gd name="connsiteX99" fmla="*/ 240506 w 1562100"/>
                <a:gd name="connsiteY99" fmla="*/ 999270 h 1215964"/>
                <a:gd name="connsiteX100" fmla="*/ 269081 w 1562100"/>
                <a:gd name="connsiteY100" fmla="*/ 1004033 h 1215964"/>
                <a:gd name="connsiteX101" fmla="*/ 288131 w 1562100"/>
                <a:gd name="connsiteY101" fmla="*/ 992127 h 1215964"/>
                <a:gd name="connsiteX102" fmla="*/ 307181 w 1562100"/>
                <a:gd name="connsiteY102" fmla="*/ 1042133 h 1215964"/>
                <a:gd name="connsiteX103" fmla="*/ 330994 w 1562100"/>
                <a:gd name="connsiteY103" fmla="*/ 1056420 h 1215964"/>
                <a:gd name="connsiteX104" fmla="*/ 340519 w 1562100"/>
                <a:gd name="connsiteY104" fmla="*/ 1084995 h 1215964"/>
                <a:gd name="connsiteX105" fmla="*/ 357188 w 1562100"/>
                <a:gd name="connsiteY105" fmla="*/ 1094520 h 1215964"/>
                <a:gd name="connsiteX106" fmla="*/ 364331 w 1562100"/>
                <a:gd name="connsiteY106" fmla="*/ 1125477 h 1215964"/>
                <a:gd name="connsiteX107" fmla="*/ 335756 w 1562100"/>
                <a:gd name="connsiteY107" fmla="*/ 1151670 h 1215964"/>
                <a:gd name="connsiteX108" fmla="*/ 309563 w 1562100"/>
                <a:gd name="connsiteY108" fmla="*/ 1168339 h 1215964"/>
                <a:gd name="connsiteX109" fmla="*/ 297656 w 1562100"/>
                <a:gd name="connsiteY109" fmla="*/ 1192152 h 1215964"/>
                <a:gd name="connsiteX110" fmla="*/ 302419 w 1562100"/>
                <a:gd name="connsiteY110" fmla="*/ 1215964 h 1215964"/>
                <a:gd name="connsiteX111" fmla="*/ 342900 w 1562100"/>
                <a:gd name="connsiteY111" fmla="*/ 1215964 h 1215964"/>
                <a:gd name="connsiteX112" fmla="*/ 390525 w 1562100"/>
                <a:gd name="connsiteY112" fmla="*/ 1211202 h 1215964"/>
                <a:gd name="connsiteX113" fmla="*/ 428625 w 1562100"/>
                <a:gd name="connsiteY113" fmla="*/ 1201677 h 1215964"/>
                <a:gd name="connsiteX114" fmla="*/ 454819 w 1562100"/>
                <a:gd name="connsiteY114" fmla="*/ 1208820 h 1215964"/>
                <a:gd name="connsiteX115" fmla="*/ 473869 w 1562100"/>
                <a:gd name="connsiteY115" fmla="*/ 1187389 h 1215964"/>
                <a:gd name="connsiteX116" fmla="*/ 492919 w 1562100"/>
                <a:gd name="connsiteY116" fmla="*/ 1187389 h 1215964"/>
                <a:gd name="connsiteX117" fmla="*/ 507206 w 1562100"/>
                <a:gd name="connsiteY117" fmla="*/ 1156433 h 1215964"/>
                <a:gd name="connsiteX118" fmla="*/ 557213 w 1562100"/>
                <a:gd name="connsiteY118" fmla="*/ 1142145 h 1215964"/>
                <a:gd name="connsiteX119" fmla="*/ 583406 w 1562100"/>
                <a:gd name="connsiteY119" fmla="*/ 1123095 h 1215964"/>
                <a:gd name="connsiteX120" fmla="*/ 590550 w 1562100"/>
                <a:gd name="connsiteY120" fmla="*/ 1084995 h 1215964"/>
                <a:gd name="connsiteX121" fmla="*/ 607219 w 1562100"/>
                <a:gd name="connsiteY121" fmla="*/ 1058802 h 1215964"/>
                <a:gd name="connsiteX122" fmla="*/ 688181 w 1562100"/>
                <a:gd name="connsiteY122" fmla="*/ 1089758 h 1215964"/>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28625 w 1562100"/>
                <a:gd name="connsiteY54" fmla="*/ 0 h 1309687"/>
                <a:gd name="connsiteX55" fmla="*/ 376238 w 1562100"/>
                <a:gd name="connsiteY55" fmla="*/ 104775 h 1309687"/>
                <a:gd name="connsiteX56" fmla="*/ 314326 w 1562100"/>
                <a:gd name="connsiteY56" fmla="*/ 104774 h 1309687"/>
                <a:gd name="connsiteX57" fmla="*/ 328613 w 1562100"/>
                <a:gd name="connsiteY57" fmla="*/ 183356 h 1309687"/>
                <a:gd name="connsiteX58" fmla="*/ 292894 w 1562100"/>
                <a:gd name="connsiteY58" fmla="*/ 285750 h 1309687"/>
                <a:gd name="connsiteX59" fmla="*/ 264319 w 1562100"/>
                <a:gd name="connsiteY59" fmla="*/ 292893 h 1309687"/>
                <a:gd name="connsiteX60" fmla="*/ 261938 w 1562100"/>
                <a:gd name="connsiteY60" fmla="*/ 307181 h 1309687"/>
                <a:gd name="connsiteX61" fmla="*/ 261938 w 1562100"/>
                <a:gd name="connsiteY61" fmla="*/ 340518 h 1309687"/>
                <a:gd name="connsiteX62" fmla="*/ 228600 w 1562100"/>
                <a:gd name="connsiteY62" fmla="*/ 383381 h 1309687"/>
                <a:gd name="connsiteX63" fmla="*/ 271463 w 1562100"/>
                <a:gd name="connsiteY63" fmla="*/ 400050 h 1309687"/>
                <a:gd name="connsiteX64" fmla="*/ 278606 w 1562100"/>
                <a:gd name="connsiteY64" fmla="*/ 419100 h 1309687"/>
                <a:gd name="connsiteX65" fmla="*/ 257175 w 1562100"/>
                <a:gd name="connsiteY65" fmla="*/ 454818 h 1309687"/>
                <a:gd name="connsiteX66" fmla="*/ 221456 w 1562100"/>
                <a:gd name="connsiteY66" fmla="*/ 464343 h 1309687"/>
                <a:gd name="connsiteX67" fmla="*/ 221456 w 1562100"/>
                <a:gd name="connsiteY67" fmla="*/ 504825 h 1309687"/>
                <a:gd name="connsiteX68" fmla="*/ 254794 w 1562100"/>
                <a:gd name="connsiteY68" fmla="*/ 542925 h 1309687"/>
                <a:gd name="connsiteX69" fmla="*/ 226219 w 1562100"/>
                <a:gd name="connsiteY69" fmla="*/ 607218 h 1309687"/>
                <a:gd name="connsiteX70" fmla="*/ 180975 w 1562100"/>
                <a:gd name="connsiteY70" fmla="*/ 635793 h 1309687"/>
                <a:gd name="connsiteX71" fmla="*/ 183356 w 1562100"/>
                <a:gd name="connsiteY71" fmla="*/ 652462 h 1309687"/>
                <a:gd name="connsiteX72" fmla="*/ 204788 w 1562100"/>
                <a:gd name="connsiteY72" fmla="*/ 661987 h 1309687"/>
                <a:gd name="connsiteX73" fmla="*/ 219075 w 1562100"/>
                <a:gd name="connsiteY73" fmla="*/ 671512 h 1309687"/>
                <a:gd name="connsiteX74" fmla="*/ 223838 w 1562100"/>
                <a:gd name="connsiteY74" fmla="*/ 690562 h 1309687"/>
                <a:gd name="connsiteX75" fmla="*/ 195263 w 1562100"/>
                <a:gd name="connsiteY75" fmla="*/ 716756 h 1309687"/>
                <a:gd name="connsiteX76" fmla="*/ 123825 w 1562100"/>
                <a:gd name="connsiteY76" fmla="*/ 762000 h 1309687"/>
                <a:gd name="connsiteX77" fmla="*/ 123825 w 1562100"/>
                <a:gd name="connsiteY77" fmla="*/ 797718 h 1309687"/>
                <a:gd name="connsiteX78" fmla="*/ 135731 w 1562100"/>
                <a:gd name="connsiteY78" fmla="*/ 828675 h 1309687"/>
                <a:gd name="connsiteX79" fmla="*/ 123825 w 1562100"/>
                <a:gd name="connsiteY79" fmla="*/ 869156 h 1309687"/>
                <a:gd name="connsiteX80" fmla="*/ 76200 w 1562100"/>
                <a:gd name="connsiteY80" fmla="*/ 864393 h 1309687"/>
                <a:gd name="connsiteX81" fmla="*/ 52388 w 1562100"/>
                <a:gd name="connsiteY81" fmla="*/ 809625 h 1309687"/>
                <a:gd name="connsiteX82" fmla="*/ 33338 w 1562100"/>
                <a:gd name="connsiteY82" fmla="*/ 802481 h 1309687"/>
                <a:gd name="connsiteX83" fmla="*/ 23813 w 1562100"/>
                <a:gd name="connsiteY83" fmla="*/ 840581 h 1309687"/>
                <a:gd name="connsiteX84" fmla="*/ 21431 w 1562100"/>
                <a:gd name="connsiteY84" fmla="*/ 850106 h 1309687"/>
                <a:gd name="connsiteX85" fmla="*/ 7144 w 1562100"/>
                <a:gd name="connsiteY85" fmla="*/ 866775 h 1309687"/>
                <a:gd name="connsiteX86" fmla="*/ 0 w 1562100"/>
                <a:gd name="connsiteY86" fmla="*/ 923925 h 1309687"/>
                <a:gd name="connsiteX87" fmla="*/ 23813 w 1562100"/>
                <a:gd name="connsiteY87" fmla="*/ 952500 h 1309687"/>
                <a:gd name="connsiteX88" fmla="*/ 16669 w 1562100"/>
                <a:gd name="connsiteY88" fmla="*/ 992981 h 1309687"/>
                <a:gd name="connsiteX89" fmla="*/ 35719 w 1562100"/>
                <a:gd name="connsiteY89" fmla="*/ 997743 h 1309687"/>
                <a:gd name="connsiteX90" fmla="*/ 69056 w 1562100"/>
                <a:gd name="connsiteY90" fmla="*/ 997743 h 1309687"/>
                <a:gd name="connsiteX91" fmla="*/ 85725 w 1562100"/>
                <a:gd name="connsiteY91" fmla="*/ 988218 h 1309687"/>
                <a:gd name="connsiteX92" fmla="*/ 135731 w 1562100"/>
                <a:gd name="connsiteY92" fmla="*/ 1045368 h 1309687"/>
                <a:gd name="connsiteX93" fmla="*/ 123825 w 1562100"/>
                <a:gd name="connsiteY93" fmla="*/ 1064418 h 1309687"/>
                <a:gd name="connsiteX94" fmla="*/ 133350 w 1562100"/>
                <a:gd name="connsiteY94" fmla="*/ 1092993 h 1309687"/>
                <a:gd name="connsiteX95" fmla="*/ 164306 w 1562100"/>
                <a:gd name="connsiteY95" fmla="*/ 1112043 h 1309687"/>
                <a:gd name="connsiteX96" fmla="*/ 190500 w 1562100"/>
                <a:gd name="connsiteY96" fmla="*/ 1121568 h 1309687"/>
                <a:gd name="connsiteX97" fmla="*/ 216694 w 1562100"/>
                <a:gd name="connsiteY97" fmla="*/ 1128712 h 1309687"/>
                <a:gd name="connsiteX98" fmla="*/ 228600 w 1562100"/>
                <a:gd name="connsiteY98" fmla="*/ 1131093 h 1309687"/>
                <a:gd name="connsiteX99" fmla="*/ 240506 w 1562100"/>
                <a:gd name="connsiteY99" fmla="*/ 1092993 h 1309687"/>
                <a:gd name="connsiteX100" fmla="*/ 269081 w 1562100"/>
                <a:gd name="connsiteY100" fmla="*/ 1097756 h 1309687"/>
                <a:gd name="connsiteX101" fmla="*/ 288131 w 1562100"/>
                <a:gd name="connsiteY101" fmla="*/ 1085850 h 1309687"/>
                <a:gd name="connsiteX102" fmla="*/ 307181 w 1562100"/>
                <a:gd name="connsiteY102" fmla="*/ 1135856 h 1309687"/>
                <a:gd name="connsiteX103" fmla="*/ 330994 w 1562100"/>
                <a:gd name="connsiteY103" fmla="*/ 1150143 h 1309687"/>
                <a:gd name="connsiteX104" fmla="*/ 340519 w 1562100"/>
                <a:gd name="connsiteY104" fmla="*/ 1178718 h 1309687"/>
                <a:gd name="connsiteX105" fmla="*/ 357188 w 1562100"/>
                <a:gd name="connsiteY105" fmla="*/ 1188243 h 1309687"/>
                <a:gd name="connsiteX106" fmla="*/ 364331 w 1562100"/>
                <a:gd name="connsiteY106" fmla="*/ 1219200 h 1309687"/>
                <a:gd name="connsiteX107" fmla="*/ 335756 w 1562100"/>
                <a:gd name="connsiteY107" fmla="*/ 1245393 h 1309687"/>
                <a:gd name="connsiteX108" fmla="*/ 309563 w 1562100"/>
                <a:gd name="connsiteY108" fmla="*/ 1262062 h 1309687"/>
                <a:gd name="connsiteX109" fmla="*/ 297656 w 1562100"/>
                <a:gd name="connsiteY109" fmla="*/ 1285875 h 1309687"/>
                <a:gd name="connsiteX110" fmla="*/ 302419 w 1562100"/>
                <a:gd name="connsiteY110" fmla="*/ 1309687 h 1309687"/>
                <a:gd name="connsiteX111" fmla="*/ 342900 w 1562100"/>
                <a:gd name="connsiteY111" fmla="*/ 1309687 h 1309687"/>
                <a:gd name="connsiteX112" fmla="*/ 390525 w 1562100"/>
                <a:gd name="connsiteY112" fmla="*/ 1304925 h 1309687"/>
                <a:gd name="connsiteX113" fmla="*/ 428625 w 1562100"/>
                <a:gd name="connsiteY113" fmla="*/ 1295400 h 1309687"/>
                <a:gd name="connsiteX114" fmla="*/ 454819 w 1562100"/>
                <a:gd name="connsiteY114" fmla="*/ 1302543 h 1309687"/>
                <a:gd name="connsiteX115" fmla="*/ 473869 w 1562100"/>
                <a:gd name="connsiteY115" fmla="*/ 1281112 h 1309687"/>
                <a:gd name="connsiteX116" fmla="*/ 492919 w 1562100"/>
                <a:gd name="connsiteY116" fmla="*/ 1281112 h 1309687"/>
                <a:gd name="connsiteX117" fmla="*/ 507206 w 1562100"/>
                <a:gd name="connsiteY117" fmla="*/ 1250156 h 1309687"/>
                <a:gd name="connsiteX118" fmla="*/ 557213 w 1562100"/>
                <a:gd name="connsiteY118" fmla="*/ 1235868 h 1309687"/>
                <a:gd name="connsiteX119" fmla="*/ 583406 w 1562100"/>
                <a:gd name="connsiteY119" fmla="*/ 1216818 h 1309687"/>
                <a:gd name="connsiteX120" fmla="*/ 590550 w 1562100"/>
                <a:gd name="connsiteY120" fmla="*/ 1178718 h 1309687"/>
                <a:gd name="connsiteX121" fmla="*/ 607219 w 1562100"/>
                <a:gd name="connsiteY121" fmla="*/ 1152525 h 1309687"/>
                <a:gd name="connsiteX122" fmla="*/ 688181 w 1562100"/>
                <a:gd name="connsiteY122"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61963 w 1562100"/>
                <a:gd name="connsiteY54" fmla="*/ 23813 h 1309687"/>
                <a:gd name="connsiteX55" fmla="*/ 428625 w 1562100"/>
                <a:gd name="connsiteY55" fmla="*/ 0 h 1309687"/>
                <a:gd name="connsiteX56" fmla="*/ 376238 w 1562100"/>
                <a:gd name="connsiteY56" fmla="*/ 104775 h 1309687"/>
                <a:gd name="connsiteX57" fmla="*/ 314326 w 1562100"/>
                <a:gd name="connsiteY57" fmla="*/ 104774 h 1309687"/>
                <a:gd name="connsiteX58" fmla="*/ 328613 w 1562100"/>
                <a:gd name="connsiteY58" fmla="*/ 183356 h 1309687"/>
                <a:gd name="connsiteX59" fmla="*/ 292894 w 1562100"/>
                <a:gd name="connsiteY59" fmla="*/ 285750 h 1309687"/>
                <a:gd name="connsiteX60" fmla="*/ 264319 w 1562100"/>
                <a:gd name="connsiteY60" fmla="*/ 292893 h 1309687"/>
                <a:gd name="connsiteX61" fmla="*/ 261938 w 1562100"/>
                <a:gd name="connsiteY61" fmla="*/ 307181 h 1309687"/>
                <a:gd name="connsiteX62" fmla="*/ 261938 w 1562100"/>
                <a:gd name="connsiteY62" fmla="*/ 340518 h 1309687"/>
                <a:gd name="connsiteX63" fmla="*/ 228600 w 1562100"/>
                <a:gd name="connsiteY63" fmla="*/ 383381 h 1309687"/>
                <a:gd name="connsiteX64" fmla="*/ 271463 w 1562100"/>
                <a:gd name="connsiteY64" fmla="*/ 400050 h 1309687"/>
                <a:gd name="connsiteX65" fmla="*/ 278606 w 1562100"/>
                <a:gd name="connsiteY65" fmla="*/ 419100 h 1309687"/>
                <a:gd name="connsiteX66" fmla="*/ 257175 w 1562100"/>
                <a:gd name="connsiteY66" fmla="*/ 454818 h 1309687"/>
                <a:gd name="connsiteX67" fmla="*/ 221456 w 1562100"/>
                <a:gd name="connsiteY67" fmla="*/ 464343 h 1309687"/>
                <a:gd name="connsiteX68" fmla="*/ 221456 w 1562100"/>
                <a:gd name="connsiteY68" fmla="*/ 504825 h 1309687"/>
                <a:gd name="connsiteX69" fmla="*/ 254794 w 1562100"/>
                <a:gd name="connsiteY69" fmla="*/ 542925 h 1309687"/>
                <a:gd name="connsiteX70" fmla="*/ 226219 w 1562100"/>
                <a:gd name="connsiteY70" fmla="*/ 607218 h 1309687"/>
                <a:gd name="connsiteX71" fmla="*/ 180975 w 1562100"/>
                <a:gd name="connsiteY71" fmla="*/ 635793 h 1309687"/>
                <a:gd name="connsiteX72" fmla="*/ 183356 w 1562100"/>
                <a:gd name="connsiteY72" fmla="*/ 652462 h 1309687"/>
                <a:gd name="connsiteX73" fmla="*/ 204788 w 1562100"/>
                <a:gd name="connsiteY73" fmla="*/ 661987 h 1309687"/>
                <a:gd name="connsiteX74" fmla="*/ 219075 w 1562100"/>
                <a:gd name="connsiteY74" fmla="*/ 671512 h 1309687"/>
                <a:gd name="connsiteX75" fmla="*/ 223838 w 1562100"/>
                <a:gd name="connsiteY75" fmla="*/ 690562 h 1309687"/>
                <a:gd name="connsiteX76" fmla="*/ 195263 w 1562100"/>
                <a:gd name="connsiteY76" fmla="*/ 716756 h 1309687"/>
                <a:gd name="connsiteX77" fmla="*/ 123825 w 1562100"/>
                <a:gd name="connsiteY77" fmla="*/ 762000 h 1309687"/>
                <a:gd name="connsiteX78" fmla="*/ 123825 w 1562100"/>
                <a:gd name="connsiteY78" fmla="*/ 797718 h 1309687"/>
                <a:gd name="connsiteX79" fmla="*/ 135731 w 1562100"/>
                <a:gd name="connsiteY79" fmla="*/ 828675 h 1309687"/>
                <a:gd name="connsiteX80" fmla="*/ 123825 w 1562100"/>
                <a:gd name="connsiteY80" fmla="*/ 869156 h 1309687"/>
                <a:gd name="connsiteX81" fmla="*/ 76200 w 1562100"/>
                <a:gd name="connsiteY81" fmla="*/ 864393 h 1309687"/>
                <a:gd name="connsiteX82" fmla="*/ 52388 w 1562100"/>
                <a:gd name="connsiteY82" fmla="*/ 809625 h 1309687"/>
                <a:gd name="connsiteX83" fmla="*/ 33338 w 1562100"/>
                <a:gd name="connsiteY83" fmla="*/ 802481 h 1309687"/>
                <a:gd name="connsiteX84" fmla="*/ 23813 w 1562100"/>
                <a:gd name="connsiteY84" fmla="*/ 840581 h 1309687"/>
                <a:gd name="connsiteX85" fmla="*/ 21431 w 1562100"/>
                <a:gd name="connsiteY85" fmla="*/ 850106 h 1309687"/>
                <a:gd name="connsiteX86" fmla="*/ 7144 w 1562100"/>
                <a:gd name="connsiteY86" fmla="*/ 866775 h 1309687"/>
                <a:gd name="connsiteX87" fmla="*/ 0 w 1562100"/>
                <a:gd name="connsiteY87" fmla="*/ 923925 h 1309687"/>
                <a:gd name="connsiteX88" fmla="*/ 23813 w 1562100"/>
                <a:gd name="connsiteY88" fmla="*/ 952500 h 1309687"/>
                <a:gd name="connsiteX89" fmla="*/ 16669 w 1562100"/>
                <a:gd name="connsiteY89" fmla="*/ 992981 h 1309687"/>
                <a:gd name="connsiteX90" fmla="*/ 35719 w 1562100"/>
                <a:gd name="connsiteY90" fmla="*/ 997743 h 1309687"/>
                <a:gd name="connsiteX91" fmla="*/ 69056 w 1562100"/>
                <a:gd name="connsiteY91" fmla="*/ 997743 h 1309687"/>
                <a:gd name="connsiteX92" fmla="*/ 85725 w 1562100"/>
                <a:gd name="connsiteY92" fmla="*/ 988218 h 1309687"/>
                <a:gd name="connsiteX93" fmla="*/ 135731 w 1562100"/>
                <a:gd name="connsiteY93" fmla="*/ 1045368 h 1309687"/>
                <a:gd name="connsiteX94" fmla="*/ 123825 w 1562100"/>
                <a:gd name="connsiteY94" fmla="*/ 1064418 h 1309687"/>
                <a:gd name="connsiteX95" fmla="*/ 133350 w 1562100"/>
                <a:gd name="connsiteY95" fmla="*/ 1092993 h 1309687"/>
                <a:gd name="connsiteX96" fmla="*/ 164306 w 1562100"/>
                <a:gd name="connsiteY96" fmla="*/ 1112043 h 1309687"/>
                <a:gd name="connsiteX97" fmla="*/ 190500 w 1562100"/>
                <a:gd name="connsiteY97" fmla="*/ 1121568 h 1309687"/>
                <a:gd name="connsiteX98" fmla="*/ 216694 w 1562100"/>
                <a:gd name="connsiteY98" fmla="*/ 1128712 h 1309687"/>
                <a:gd name="connsiteX99" fmla="*/ 228600 w 1562100"/>
                <a:gd name="connsiteY99" fmla="*/ 1131093 h 1309687"/>
                <a:gd name="connsiteX100" fmla="*/ 240506 w 1562100"/>
                <a:gd name="connsiteY100" fmla="*/ 1092993 h 1309687"/>
                <a:gd name="connsiteX101" fmla="*/ 269081 w 1562100"/>
                <a:gd name="connsiteY101" fmla="*/ 1097756 h 1309687"/>
                <a:gd name="connsiteX102" fmla="*/ 288131 w 1562100"/>
                <a:gd name="connsiteY102" fmla="*/ 1085850 h 1309687"/>
                <a:gd name="connsiteX103" fmla="*/ 307181 w 1562100"/>
                <a:gd name="connsiteY103" fmla="*/ 1135856 h 1309687"/>
                <a:gd name="connsiteX104" fmla="*/ 330994 w 1562100"/>
                <a:gd name="connsiteY104" fmla="*/ 1150143 h 1309687"/>
                <a:gd name="connsiteX105" fmla="*/ 340519 w 1562100"/>
                <a:gd name="connsiteY105" fmla="*/ 1178718 h 1309687"/>
                <a:gd name="connsiteX106" fmla="*/ 357188 w 1562100"/>
                <a:gd name="connsiteY106" fmla="*/ 1188243 h 1309687"/>
                <a:gd name="connsiteX107" fmla="*/ 364331 w 1562100"/>
                <a:gd name="connsiteY107" fmla="*/ 1219200 h 1309687"/>
                <a:gd name="connsiteX108" fmla="*/ 335756 w 1562100"/>
                <a:gd name="connsiteY108" fmla="*/ 1245393 h 1309687"/>
                <a:gd name="connsiteX109" fmla="*/ 309563 w 1562100"/>
                <a:gd name="connsiteY109" fmla="*/ 1262062 h 1309687"/>
                <a:gd name="connsiteX110" fmla="*/ 297656 w 1562100"/>
                <a:gd name="connsiteY110" fmla="*/ 1285875 h 1309687"/>
                <a:gd name="connsiteX111" fmla="*/ 302419 w 1562100"/>
                <a:gd name="connsiteY111" fmla="*/ 1309687 h 1309687"/>
                <a:gd name="connsiteX112" fmla="*/ 342900 w 1562100"/>
                <a:gd name="connsiteY112" fmla="*/ 1309687 h 1309687"/>
                <a:gd name="connsiteX113" fmla="*/ 390525 w 1562100"/>
                <a:gd name="connsiteY113" fmla="*/ 1304925 h 1309687"/>
                <a:gd name="connsiteX114" fmla="*/ 428625 w 1562100"/>
                <a:gd name="connsiteY114" fmla="*/ 1295400 h 1309687"/>
                <a:gd name="connsiteX115" fmla="*/ 454819 w 1562100"/>
                <a:gd name="connsiteY115" fmla="*/ 1302543 h 1309687"/>
                <a:gd name="connsiteX116" fmla="*/ 473869 w 1562100"/>
                <a:gd name="connsiteY116" fmla="*/ 1281112 h 1309687"/>
                <a:gd name="connsiteX117" fmla="*/ 492919 w 1562100"/>
                <a:gd name="connsiteY117" fmla="*/ 1281112 h 1309687"/>
                <a:gd name="connsiteX118" fmla="*/ 507206 w 1562100"/>
                <a:gd name="connsiteY118" fmla="*/ 1250156 h 1309687"/>
                <a:gd name="connsiteX119" fmla="*/ 557213 w 1562100"/>
                <a:gd name="connsiteY119" fmla="*/ 1235868 h 1309687"/>
                <a:gd name="connsiteX120" fmla="*/ 583406 w 1562100"/>
                <a:gd name="connsiteY120" fmla="*/ 1216818 h 1309687"/>
                <a:gd name="connsiteX121" fmla="*/ 590550 w 1562100"/>
                <a:gd name="connsiteY121" fmla="*/ 1178718 h 1309687"/>
                <a:gd name="connsiteX122" fmla="*/ 607219 w 1562100"/>
                <a:gd name="connsiteY122" fmla="*/ 1152525 h 1309687"/>
                <a:gd name="connsiteX123" fmla="*/ 688181 w 1562100"/>
                <a:gd name="connsiteY123"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50056 w 1562100"/>
                <a:gd name="connsiteY54" fmla="*/ 2382 h 1309687"/>
                <a:gd name="connsiteX55" fmla="*/ 428625 w 1562100"/>
                <a:gd name="connsiteY55" fmla="*/ 0 h 1309687"/>
                <a:gd name="connsiteX56" fmla="*/ 376238 w 1562100"/>
                <a:gd name="connsiteY56" fmla="*/ 104775 h 1309687"/>
                <a:gd name="connsiteX57" fmla="*/ 314326 w 1562100"/>
                <a:gd name="connsiteY57" fmla="*/ 104774 h 1309687"/>
                <a:gd name="connsiteX58" fmla="*/ 328613 w 1562100"/>
                <a:gd name="connsiteY58" fmla="*/ 183356 h 1309687"/>
                <a:gd name="connsiteX59" fmla="*/ 292894 w 1562100"/>
                <a:gd name="connsiteY59" fmla="*/ 285750 h 1309687"/>
                <a:gd name="connsiteX60" fmla="*/ 264319 w 1562100"/>
                <a:gd name="connsiteY60" fmla="*/ 292893 h 1309687"/>
                <a:gd name="connsiteX61" fmla="*/ 261938 w 1562100"/>
                <a:gd name="connsiteY61" fmla="*/ 307181 h 1309687"/>
                <a:gd name="connsiteX62" fmla="*/ 261938 w 1562100"/>
                <a:gd name="connsiteY62" fmla="*/ 340518 h 1309687"/>
                <a:gd name="connsiteX63" fmla="*/ 228600 w 1562100"/>
                <a:gd name="connsiteY63" fmla="*/ 383381 h 1309687"/>
                <a:gd name="connsiteX64" fmla="*/ 271463 w 1562100"/>
                <a:gd name="connsiteY64" fmla="*/ 400050 h 1309687"/>
                <a:gd name="connsiteX65" fmla="*/ 278606 w 1562100"/>
                <a:gd name="connsiteY65" fmla="*/ 419100 h 1309687"/>
                <a:gd name="connsiteX66" fmla="*/ 257175 w 1562100"/>
                <a:gd name="connsiteY66" fmla="*/ 454818 h 1309687"/>
                <a:gd name="connsiteX67" fmla="*/ 221456 w 1562100"/>
                <a:gd name="connsiteY67" fmla="*/ 464343 h 1309687"/>
                <a:gd name="connsiteX68" fmla="*/ 221456 w 1562100"/>
                <a:gd name="connsiteY68" fmla="*/ 504825 h 1309687"/>
                <a:gd name="connsiteX69" fmla="*/ 254794 w 1562100"/>
                <a:gd name="connsiteY69" fmla="*/ 542925 h 1309687"/>
                <a:gd name="connsiteX70" fmla="*/ 226219 w 1562100"/>
                <a:gd name="connsiteY70" fmla="*/ 607218 h 1309687"/>
                <a:gd name="connsiteX71" fmla="*/ 180975 w 1562100"/>
                <a:gd name="connsiteY71" fmla="*/ 635793 h 1309687"/>
                <a:gd name="connsiteX72" fmla="*/ 183356 w 1562100"/>
                <a:gd name="connsiteY72" fmla="*/ 652462 h 1309687"/>
                <a:gd name="connsiteX73" fmla="*/ 204788 w 1562100"/>
                <a:gd name="connsiteY73" fmla="*/ 661987 h 1309687"/>
                <a:gd name="connsiteX74" fmla="*/ 219075 w 1562100"/>
                <a:gd name="connsiteY74" fmla="*/ 671512 h 1309687"/>
                <a:gd name="connsiteX75" fmla="*/ 223838 w 1562100"/>
                <a:gd name="connsiteY75" fmla="*/ 690562 h 1309687"/>
                <a:gd name="connsiteX76" fmla="*/ 195263 w 1562100"/>
                <a:gd name="connsiteY76" fmla="*/ 716756 h 1309687"/>
                <a:gd name="connsiteX77" fmla="*/ 123825 w 1562100"/>
                <a:gd name="connsiteY77" fmla="*/ 762000 h 1309687"/>
                <a:gd name="connsiteX78" fmla="*/ 123825 w 1562100"/>
                <a:gd name="connsiteY78" fmla="*/ 797718 h 1309687"/>
                <a:gd name="connsiteX79" fmla="*/ 135731 w 1562100"/>
                <a:gd name="connsiteY79" fmla="*/ 828675 h 1309687"/>
                <a:gd name="connsiteX80" fmla="*/ 123825 w 1562100"/>
                <a:gd name="connsiteY80" fmla="*/ 869156 h 1309687"/>
                <a:gd name="connsiteX81" fmla="*/ 76200 w 1562100"/>
                <a:gd name="connsiteY81" fmla="*/ 864393 h 1309687"/>
                <a:gd name="connsiteX82" fmla="*/ 52388 w 1562100"/>
                <a:gd name="connsiteY82" fmla="*/ 809625 h 1309687"/>
                <a:gd name="connsiteX83" fmla="*/ 33338 w 1562100"/>
                <a:gd name="connsiteY83" fmla="*/ 802481 h 1309687"/>
                <a:gd name="connsiteX84" fmla="*/ 23813 w 1562100"/>
                <a:gd name="connsiteY84" fmla="*/ 840581 h 1309687"/>
                <a:gd name="connsiteX85" fmla="*/ 21431 w 1562100"/>
                <a:gd name="connsiteY85" fmla="*/ 850106 h 1309687"/>
                <a:gd name="connsiteX86" fmla="*/ 7144 w 1562100"/>
                <a:gd name="connsiteY86" fmla="*/ 866775 h 1309687"/>
                <a:gd name="connsiteX87" fmla="*/ 0 w 1562100"/>
                <a:gd name="connsiteY87" fmla="*/ 923925 h 1309687"/>
                <a:gd name="connsiteX88" fmla="*/ 23813 w 1562100"/>
                <a:gd name="connsiteY88" fmla="*/ 952500 h 1309687"/>
                <a:gd name="connsiteX89" fmla="*/ 16669 w 1562100"/>
                <a:gd name="connsiteY89" fmla="*/ 992981 h 1309687"/>
                <a:gd name="connsiteX90" fmla="*/ 35719 w 1562100"/>
                <a:gd name="connsiteY90" fmla="*/ 997743 h 1309687"/>
                <a:gd name="connsiteX91" fmla="*/ 69056 w 1562100"/>
                <a:gd name="connsiteY91" fmla="*/ 997743 h 1309687"/>
                <a:gd name="connsiteX92" fmla="*/ 85725 w 1562100"/>
                <a:gd name="connsiteY92" fmla="*/ 988218 h 1309687"/>
                <a:gd name="connsiteX93" fmla="*/ 135731 w 1562100"/>
                <a:gd name="connsiteY93" fmla="*/ 1045368 h 1309687"/>
                <a:gd name="connsiteX94" fmla="*/ 123825 w 1562100"/>
                <a:gd name="connsiteY94" fmla="*/ 1064418 h 1309687"/>
                <a:gd name="connsiteX95" fmla="*/ 133350 w 1562100"/>
                <a:gd name="connsiteY95" fmla="*/ 1092993 h 1309687"/>
                <a:gd name="connsiteX96" fmla="*/ 164306 w 1562100"/>
                <a:gd name="connsiteY96" fmla="*/ 1112043 h 1309687"/>
                <a:gd name="connsiteX97" fmla="*/ 190500 w 1562100"/>
                <a:gd name="connsiteY97" fmla="*/ 1121568 h 1309687"/>
                <a:gd name="connsiteX98" fmla="*/ 216694 w 1562100"/>
                <a:gd name="connsiteY98" fmla="*/ 1128712 h 1309687"/>
                <a:gd name="connsiteX99" fmla="*/ 228600 w 1562100"/>
                <a:gd name="connsiteY99" fmla="*/ 1131093 h 1309687"/>
                <a:gd name="connsiteX100" fmla="*/ 240506 w 1562100"/>
                <a:gd name="connsiteY100" fmla="*/ 1092993 h 1309687"/>
                <a:gd name="connsiteX101" fmla="*/ 269081 w 1562100"/>
                <a:gd name="connsiteY101" fmla="*/ 1097756 h 1309687"/>
                <a:gd name="connsiteX102" fmla="*/ 288131 w 1562100"/>
                <a:gd name="connsiteY102" fmla="*/ 1085850 h 1309687"/>
                <a:gd name="connsiteX103" fmla="*/ 307181 w 1562100"/>
                <a:gd name="connsiteY103" fmla="*/ 1135856 h 1309687"/>
                <a:gd name="connsiteX104" fmla="*/ 330994 w 1562100"/>
                <a:gd name="connsiteY104" fmla="*/ 1150143 h 1309687"/>
                <a:gd name="connsiteX105" fmla="*/ 340519 w 1562100"/>
                <a:gd name="connsiteY105" fmla="*/ 1178718 h 1309687"/>
                <a:gd name="connsiteX106" fmla="*/ 357188 w 1562100"/>
                <a:gd name="connsiteY106" fmla="*/ 1188243 h 1309687"/>
                <a:gd name="connsiteX107" fmla="*/ 364331 w 1562100"/>
                <a:gd name="connsiteY107" fmla="*/ 1219200 h 1309687"/>
                <a:gd name="connsiteX108" fmla="*/ 335756 w 1562100"/>
                <a:gd name="connsiteY108" fmla="*/ 1245393 h 1309687"/>
                <a:gd name="connsiteX109" fmla="*/ 309563 w 1562100"/>
                <a:gd name="connsiteY109" fmla="*/ 1262062 h 1309687"/>
                <a:gd name="connsiteX110" fmla="*/ 297656 w 1562100"/>
                <a:gd name="connsiteY110" fmla="*/ 1285875 h 1309687"/>
                <a:gd name="connsiteX111" fmla="*/ 302419 w 1562100"/>
                <a:gd name="connsiteY111" fmla="*/ 1309687 h 1309687"/>
                <a:gd name="connsiteX112" fmla="*/ 342900 w 1562100"/>
                <a:gd name="connsiteY112" fmla="*/ 1309687 h 1309687"/>
                <a:gd name="connsiteX113" fmla="*/ 390525 w 1562100"/>
                <a:gd name="connsiteY113" fmla="*/ 1304925 h 1309687"/>
                <a:gd name="connsiteX114" fmla="*/ 428625 w 1562100"/>
                <a:gd name="connsiteY114" fmla="*/ 1295400 h 1309687"/>
                <a:gd name="connsiteX115" fmla="*/ 454819 w 1562100"/>
                <a:gd name="connsiteY115" fmla="*/ 1302543 h 1309687"/>
                <a:gd name="connsiteX116" fmla="*/ 473869 w 1562100"/>
                <a:gd name="connsiteY116" fmla="*/ 1281112 h 1309687"/>
                <a:gd name="connsiteX117" fmla="*/ 492919 w 1562100"/>
                <a:gd name="connsiteY117" fmla="*/ 1281112 h 1309687"/>
                <a:gd name="connsiteX118" fmla="*/ 507206 w 1562100"/>
                <a:gd name="connsiteY118" fmla="*/ 1250156 h 1309687"/>
                <a:gd name="connsiteX119" fmla="*/ 557213 w 1562100"/>
                <a:gd name="connsiteY119" fmla="*/ 1235868 h 1309687"/>
                <a:gd name="connsiteX120" fmla="*/ 583406 w 1562100"/>
                <a:gd name="connsiteY120" fmla="*/ 1216818 h 1309687"/>
                <a:gd name="connsiteX121" fmla="*/ 590550 w 1562100"/>
                <a:gd name="connsiteY121" fmla="*/ 1178718 h 1309687"/>
                <a:gd name="connsiteX122" fmla="*/ 607219 w 1562100"/>
                <a:gd name="connsiteY122" fmla="*/ 1152525 h 1309687"/>
                <a:gd name="connsiteX123" fmla="*/ 688181 w 1562100"/>
                <a:gd name="connsiteY123"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50056 w 1562100"/>
                <a:gd name="connsiteY54" fmla="*/ 2382 h 1309687"/>
                <a:gd name="connsiteX55" fmla="*/ 428625 w 1562100"/>
                <a:gd name="connsiteY55" fmla="*/ 0 h 1309687"/>
                <a:gd name="connsiteX56" fmla="*/ 376238 w 1562100"/>
                <a:gd name="connsiteY56" fmla="*/ 104775 h 1309687"/>
                <a:gd name="connsiteX57" fmla="*/ 314326 w 1562100"/>
                <a:gd name="connsiteY57" fmla="*/ 104774 h 1309687"/>
                <a:gd name="connsiteX58" fmla="*/ 328613 w 1562100"/>
                <a:gd name="connsiteY58" fmla="*/ 183356 h 1309687"/>
                <a:gd name="connsiteX59" fmla="*/ 292894 w 1562100"/>
                <a:gd name="connsiteY59" fmla="*/ 285750 h 1309687"/>
                <a:gd name="connsiteX60" fmla="*/ 264319 w 1562100"/>
                <a:gd name="connsiteY60" fmla="*/ 292893 h 1309687"/>
                <a:gd name="connsiteX61" fmla="*/ 261938 w 1562100"/>
                <a:gd name="connsiteY61" fmla="*/ 307181 h 1309687"/>
                <a:gd name="connsiteX62" fmla="*/ 261938 w 1562100"/>
                <a:gd name="connsiteY62" fmla="*/ 340518 h 1309687"/>
                <a:gd name="connsiteX63" fmla="*/ 228600 w 1562100"/>
                <a:gd name="connsiteY63" fmla="*/ 383381 h 1309687"/>
                <a:gd name="connsiteX64" fmla="*/ 271463 w 1562100"/>
                <a:gd name="connsiteY64" fmla="*/ 400050 h 1309687"/>
                <a:gd name="connsiteX65" fmla="*/ 278606 w 1562100"/>
                <a:gd name="connsiteY65" fmla="*/ 419100 h 1309687"/>
                <a:gd name="connsiteX66" fmla="*/ 257175 w 1562100"/>
                <a:gd name="connsiteY66" fmla="*/ 454818 h 1309687"/>
                <a:gd name="connsiteX67" fmla="*/ 221456 w 1562100"/>
                <a:gd name="connsiteY67" fmla="*/ 464343 h 1309687"/>
                <a:gd name="connsiteX68" fmla="*/ 221456 w 1562100"/>
                <a:gd name="connsiteY68" fmla="*/ 504825 h 1309687"/>
                <a:gd name="connsiteX69" fmla="*/ 254794 w 1562100"/>
                <a:gd name="connsiteY69" fmla="*/ 542925 h 1309687"/>
                <a:gd name="connsiteX70" fmla="*/ 226219 w 1562100"/>
                <a:gd name="connsiteY70" fmla="*/ 607218 h 1309687"/>
                <a:gd name="connsiteX71" fmla="*/ 180975 w 1562100"/>
                <a:gd name="connsiteY71" fmla="*/ 635793 h 1309687"/>
                <a:gd name="connsiteX72" fmla="*/ 183356 w 1562100"/>
                <a:gd name="connsiteY72" fmla="*/ 652462 h 1309687"/>
                <a:gd name="connsiteX73" fmla="*/ 204788 w 1562100"/>
                <a:gd name="connsiteY73" fmla="*/ 661987 h 1309687"/>
                <a:gd name="connsiteX74" fmla="*/ 219075 w 1562100"/>
                <a:gd name="connsiteY74" fmla="*/ 671512 h 1309687"/>
                <a:gd name="connsiteX75" fmla="*/ 223838 w 1562100"/>
                <a:gd name="connsiteY75" fmla="*/ 690562 h 1309687"/>
                <a:gd name="connsiteX76" fmla="*/ 195263 w 1562100"/>
                <a:gd name="connsiteY76" fmla="*/ 716756 h 1309687"/>
                <a:gd name="connsiteX77" fmla="*/ 123825 w 1562100"/>
                <a:gd name="connsiteY77" fmla="*/ 762000 h 1309687"/>
                <a:gd name="connsiteX78" fmla="*/ 123825 w 1562100"/>
                <a:gd name="connsiteY78" fmla="*/ 797718 h 1309687"/>
                <a:gd name="connsiteX79" fmla="*/ 135731 w 1562100"/>
                <a:gd name="connsiteY79" fmla="*/ 828675 h 1309687"/>
                <a:gd name="connsiteX80" fmla="*/ 123825 w 1562100"/>
                <a:gd name="connsiteY80" fmla="*/ 869156 h 1309687"/>
                <a:gd name="connsiteX81" fmla="*/ 76200 w 1562100"/>
                <a:gd name="connsiteY81" fmla="*/ 864393 h 1309687"/>
                <a:gd name="connsiteX82" fmla="*/ 52388 w 1562100"/>
                <a:gd name="connsiteY82" fmla="*/ 809625 h 1309687"/>
                <a:gd name="connsiteX83" fmla="*/ 33338 w 1562100"/>
                <a:gd name="connsiteY83" fmla="*/ 802481 h 1309687"/>
                <a:gd name="connsiteX84" fmla="*/ 23813 w 1562100"/>
                <a:gd name="connsiteY84" fmla="*/ 840581 h 1309687"/>
                <a:gd name="connsiteX85" fmla="*/ 21431 w 1562100"/>
                <a:gd name="connsiteY85" fmla="*/ 850106 h 1309687"/>
                <a:gd name="connsiteX86" fmla="*/ 7144 w 1562100"/>
                <a:gd name="connsiteY86" fmla="*/ 866775 h 1309687"/>
                <a:gd name="connsiteX87" fmla="*/ 0 w 1562100"/>
                <a:gd name="connsiteY87" fmla="*/ 923925 h 1309687"/>
                <a:gd name="connsiteX88" fmla="*/ 23813 w 1562100"/>
                <a:gd name="connsiteY88" fmla="*/ 952500 h 1309687"/>
                <a:gd name="connsiteX89" fmla="*/ 16669 w 1562100"/>
                <a:gd name="connsiteY89" fmla="*/ 992981 h 1309687"/>
                <a:gd name="connsiteX90" fmla="*/ 35719 w 1562100"/>
                <a:gd name="connsiteY90" fmla="*/ 997743 h 1309687"/>
                <a:gd name="connsiteX91" fmla="*/ 69056 w 1562100"/>
                <a:gd name="connsiteY91" fmla="*/ 997743 h 1309687"/>
                <a:gd name="connsiteX92" fmla="*/ 85725 w 1562100"/>
                <a:gd name="connsiteY92" fmla="*/ 988218 h 1309687"/>
                <a:gd name="connsiteX93" fmla="*/ 135731 w 1562100"/>
                <a:gd name="connsiteY93" fmla="*/ 1045368 h 1309687"/>
                <a:gd name="connsiteX94" fmla="*/ 123825 w 1562100"/>
                <a:gd name="connsiteY94" fmla="*/ 1064418 h 1309687"/>
                <a:gd name="connsiteX95" fmla="*/ 133350 w 1562100"/>
                <a:gd name="connsiteY95" fmla="*/ 1092993 h 1309687"/>
                <a:gd name="connsiteX96" fmla="*/ 164306 w 1562100"/>
                <a:gd name="connsiteY96" fmla="*/ 1112043 h 1309687"/>
                <a:gd name="connsiteX97" fmla="*/ 190500 w 1562100"/>
                <a:gd name="connsiteY97" fmla="*/ 1121568 h 1309687"/>
                <a:gd name="connsiteX98" fmla="*/ 216694 w 1562100"/>
                <a:gd name="connsiteY98" fmla="*/ 1128712 h 1309687"/>
                <a:gd name="connsiteX99" fmla="*/ 228600 w 1562100"/>
                <a:gd name="connsiteY99" fmla="*/ 1131093 h 1309687"/>
                <a:gd name="connsiteX100" fmla="*/ 240506 w 1562100"/>
                <a:gd name="connsiteY100" fmla="*/ 1092993 h 1309687"/>
                <a:gd name="connsiteX101" fmla="*/ 269081 w 1562100"/>
                <a:gd name="connsiteY101" fmla="*/ 1097756 h 1309687"/>
                <a:gd name="connsiteX102" fmla="*/ 288131 w 1562100"/>
                <a:gd name="connsiteY102" fmla="*/ 1085850 h 1309687"/>
                <a:gd name="connsiteX103" fmla="*/ 307181 w 1562100"/>
                <a:gd name="connsiteY103" fmla="*/ 1135856 h 1309687"/>
                <a:gd name="connsiteX104" fmla="*/ 330994 w 1562100"/>
                <a:gd name="connsiteY104" fmla="*/ 1150143 h 1309687"/>
                <a:gd name="connsiteX105" fmla="*/ 340519 w 1562100"/>
                <a:gd name="connsiteY105" fmla="*/ 1178718 h 1309687"/>
                <a:gd name="connsiteX106" fmla="*/ 357188 w 1562100"/>
                <a:gd name="connsiteY106" fmla="*/ 1188243 h 1309687"/>
                <a:gd name="connsiteX107" fmla="*/ 364331 w 1562100"/>
                <a:gd name="connsiteY107" fmla="*/ 1219200 h 1309687"/>
                <a:gd name="connsiteX108" fmla="*/ 335756 w 1562100"/>
                <a:gd name="connsiteY108" fmla="*/ 1245393 h 1309687"/>
                <a:gd name="connsiteX109" fmla="*/ 309563 w 1562100"/>
                <a:gd name="connsiteY109" fmla="*/ 1262062 h 1309687"/>
                <a:gd name="connsiteX110" fmla="*/ 297656 w 1562100"/>
                <a:gd name="connsiteY110" fmla="*/ 1285875 h 1309687"/>
                <a:gd name="connsiteX111" fmla="*/ 302419 w 1562100"/>
                <a:gd name="connsiteY111" fmla="*/ 1309687 h 1309687"/>
                <a:gd name="connsiteX112" fmla="*/ 342900 w 1562100"/>
                <a:gd name="connsiteY112" fmla="*/ 1309687 h 1309687"/>
                <a:gd name="connsiteX113" fmla="*/ 390525 w 1562100"/>
                <a:gd name="connsiteY113" fmla="*/ 1304925 h 1309687"/>
                <a:gd name="connsiteX114" fmla="*/ 428625 w 1562100"/>
                <a:gd name="connsiteY114" fmla="*/ 1295400 h 1309687"/>
                <a:gd name="connsiteX115" fmla="*/ 454819 w 1562100"/>
                <a:gd name="connsiteY115" fmla="*/ 1302543 h 1309687"/>
                <a:gd name="connsiteX116" fmla="*/ 473869 w 1562100"/>
                <a:gd name="connsiteY116" fmla="*/ 1281112 h 1309687"/>
                <a:gd name="connsiteX117" fmla="*/ 492919 w 1562100"/>
                <a:gd name="connsiteY117" fmla="*/ 1281112 h 1309687"/>
                <a:gd name="connsiteX118" fmla="*/ 507206 w 1562100"/>
                <a:gd name="connsiteY118" fmla="*/ 1250156 h 1309687"/>
                <a:gd name="connsiteX119" fmla="*/ 557213 w 1562100"/>
                <a:gd name="connsiteY119" fmla="*/ 1235868 h 1309687"/>
                <a:gd name="connsiteX120" fmla="*/ 583406 w 1562100"/>
                <a:gd name="connsiteY120" fmla="*/ 1216818 h 1309687"/>
                <a:gd name="connsiteX121" fmla="*/ 590550 w 1562100"/>
                <a:gd name="connsiteY121" fmla="*/ 1178718 h 1309687"/>
                <a:gd name="connsiteX122" fmla="*/ 607219 w 1562100"/>
                <a:gd name="connsiteY122" fmla="*/ 1152525 h 1309687"/>
                <a:gd name="connsiteX123" fmla="*/ 688181 w 1562100"/>
                <a:gd name="connsiteY123"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552450 w 1562100"/>
                <a:gd name="connsiteY54" fmla="*/ 78582 h 1309687"/>
                <a:gd name="connsiteX55" fmla="*/ 450056 w 1562100"/>
                <a:gd name="connsiteY55" fmla="*/ 2382 h 1309687"/>
                <a:gd name="connsiteX56" fmla="*/ 428625 w 1562100"/>
                <a:gd name="connsiteY56" fmla="*/ 0 h 1309687"/>
                <a:gd name="connsiteX57" fmla="*/ 376238 w 1562100"/>
                <a:gd name="connsiteY57" fmla="*/ 104775 h 1309687"/>
                <a:gd name="connsiteX58" fmla="*/ 314326 w 1562100"/>
                <a:gd name="connsiteY58" fmla="*/ 104774 h 1309687"/>
                <a:gd name="connsiteX59" fmla="*/ 328613 w 1562100"/>
                <a:gd name="connsiteY59" fmla="*/ 183356 h 1309687"/>
                <a:gd name="connsiteX60" fmla="*/ 292894 w 1562100"/>
                <a:gd name="connsiteY60" fmla="*/ 285750 h 1309687"/>
                <a:gd name="connsiteX61" fmla="*/ 264319 w 1562100"/>
                <a:gd name="connsiteY61" fmla="*/ 292893 h 1309687"/>
                <a:gd name="connsiteX62" fmla="*/ 261938 w 1562100"/>
                <a:gd name="connsiteY62" fmla="*/ 307181 h 1309687"/>
                <a:gd name="connsiteX63" fmla="*/ 261938 w 1562100"/>
                <a:gd name="connsiteY63" fmla="*/ 340518 h 1309687"/>
                <a:gd name="connsiteX64" fmla="*/ 228600 w 1562100"/>
                <a:gd name="connsiteY64" fmla="*/ 383381 h 1309687"/>
                <a:gd name="connsiteX65" fmla="*/ 271463 w 1562100"/>
                <a:gd name="connsiteY65" fmla="*/ 400050 h 1309687"/>
                <a:gd name="connsiteX66" fmla="*/ 278606 w 1562100"/>
                <a:gd name="connsiteY66" fmla="*/ 419100 h 1309687"/>
                <a:gd name="connsiteX67" fmla="*/ 257175 w 1562100"/>
                <a:gd name="connsiteY67" fmla="*/ 454818 h 1309687"/>
                <a:gd name="connsiteX68" fmla="*/ 221456 w 1562100"/>
                <a:gd name="connsiteY68" fmla="*/ 464343 h 1309687"/>
                <a:gd name="connsiteX69" fmla="*/ 221456 w 1562100"/>
                <a:gd name="connsiteY69" fmla="*/ 504825 h 1309687"/>
                <a:gd name="connsiteX70" fmla="*/ 254794 w 1562100"/>
                <a:gd name="connsiteY70" fmla="*/ 542925 h 1309687"/>
                <a:gd name="connsiteX71" fmla="*/ 226219 w 1562100"/>
                <a:gd name="connsiteY71" fmla="*/ 607218 h 1309687"/>
                <a:gd name="connsiteX72" fmla="*/ 180975 w 1562100"/>
                <a:gd name="connsiteY72" fmla="*/ 635793 h 1309687"/>
                <a:gd name="connsiteX73" fmla="*/ 183356 w 1562100"/>
                <a:gd name="connsiteY73" fmla="*/ 652462 h 1309687"/>
                <a:gd name="connsiteX74" fmla="*/ 204788 w 1562100"/>
                <a:gd name="connsiteY74" fmla="*/ 661987 h 1309687"/>
                <a:gd name="connsiteX75" fmla="*/ 219075 w 1562100"/>
                <a:gd name="connsiteY75" fmla="*/ 671512 h 1309687"/>
                <a:gd name="connsiteX76" fmla="*/ 223838 w 1562100"/>
                <a:gd name="connsiteY76" fmla="*/ 690562 h 1309687"/>
                <a:gd name="connsiteX77" fmla="*/ 195263 w 1562100"/>
                <a:gd name="connsiteY77" fmla="*/ 716756 h 1309687"/>
                <a:gd name="connsiteX78" fmla="*/ 123825 w 1562100"/>
                <a:gd name="connsiteY78" fmla="*/ 762000 h 1309687"/>
                <a:gd name="connsiteX79" fmla="*/ 123825 w 1562100"/>
                <a:gd name="connsiteY79" fmla="*/ 797718 h 1309687"/>
                <a:gd name="connsiteX80" fmla="*/ 135731 w 1562100"/>
                <a:gd name="connsiteY80" fmla="*/ 828675 h 1309687"/>
                <a:gd name="connsiteX81" fmla="*/ 123825 w 1562100"/>
                <a:gd name="connsiteY81" fmla="*/ 869156 h 1309687"/>
                <a:gd name="connsiteX82" fmla="*/ 76200 w 1562100"/>
                <a:gd name="connsiteY82" fmla="*/ 864393 h 1309687"/>
                <a:gd name="connsiteX83" fmla="*/ 52388 w 1562100"/>
                <a:gd name="connsiteY83" fmla="*/ 809625 h 1309687"/>
                <a:gd name="connsiteX84" fmla="*/ 33338 w 1562100"/>
                <a:gd name="connsiteY84" fmla="*/ 802481 h 1309687"/>
                <a:gd name="connsiteX85" fmla="*/ 23813 w 1562100"/>
                <a:gd name="connsiteY85" fmla="*/ 840581 h 1309687"/>
                <a:gd name="connsiteX86" fmla="*/ 21431 w 1562100"/>
                <a:gd name="connsiteY86" fmla="*/ 850106 h 1309687"/>
                <a:gd name="connsiteX87" fmla="*/ 7144 w 1562100"/>
                <a:gd name="connsiteY87" fmla="*/ 866775 h 1309687"/>
                <a:gd name="connsiteX88" fmla="*/ 0 w 1562100"/>
                <a:gd name="connsiteY88" fmla="*/ 923925 h 1309687"/>
                <a:gd name="connsiteX89" fmla="*/ 23813 w 1562100"/>
                <a:gd name="connsiteY89" fmla="*/ 952500 h 1309687"/>
                <a:gd name="connsiteX90" fmla="*/ 16669 w 1562100"/>
                <a:gd name="connsiteY90" fmla="*/ 992981 h 1309687"/>
                <a:gd name="connsiteX91" fmla="*/ 35719 w 1562100"/>
                <a:gd name="connsiteY91" fmla="*/ 997743 h 1309687"/>
                <a:gd name="connsiteX92" fmla="*/ 69056 w 1562100"/>
                <a:gd name="connsiteY92" fmla="*/ 997743 h 1309687"/>
                <a:gd name="connsiteX93" fmla="*/ 85725 w 1562100"/>
                <a:gd name="connsiteY93" fmla="*/ 988218 h 1309687"/>
                <a:gd name="connsiteX94" fmla="*/ 135731 w 1562100"/>
                <a:gd name="connsiteY94" fmla="*/ 1045368 h 1309687"/>
                <a:gd name="connsiteX95" fmla="*/ 123825 w 1562100"/>
                <a:gd name="connsiteY95" fmla="*/ 1064418 h 1309687"/>
                <a:gd name="connsiteX96" fmla="*/ 133350 w 1562100"/>
                <a:gd name="connsiteY96" fmla="*/ 1092993 h 1309687"/>
                <a:gd name="connsiteX97" fmla="*/ 164306 w 1562100"/>
                <a:gd name="connsiteY97" fmla="*/ 1112043 h 1309687"/>
                <a:gd name="connsiteX98" fmla="*/ 190500 w 1562100"/>
                <a:gd name="connsiteY98" fmla="*/ 1121568 h 1309687"/>
                <a:gd name="connsiteX99" fmla="*/ 216694 w 1562100"/>
                <a:gd name="connsiteY99" fmla="*/ 1128712 h 1309687"/>
                <a:gd name="connsiteX100" fmla="*/ 228600 w 1562100"/>
                <a:gd name="connsiteY100" fmla="*/ 1131093 h 1309687"/>
                <a:gd name="connsiteX101" fmla="*/ 240506 w 1562100"/>
                <a:gd name="connsiteY101" fmla="*/ 1092993 h 1309687"/>
                <a:gd name="connsiteX102" fmla="*/ 269081 w 1562100"/>
                <a:gd name="connsiteY102" fmla="*/ 1097756 h 1309687"/>
                <a:gd name="connsiteX103" fmla="*/ 288131 w 1562100"/>
                <a:gd name="connsiteY103" fmla="*/ 1085850 h 1309687"/>
                <a:gd name="connsiteX104" fmla="*/ 307181 w 1562100"/>
                <a:gd name="connsiteY104" fmla="*/ 1135856 h 1309687"/>
                <a:gd name="connsiteX105" fmla="*/ 330994 w 1562100"/>
                <a:gd name="connsiteY105" fmla="*/ 1150143 h 1309687"/>
                <a:gd name="connsiteX106" fmla="*/ 340519 w 1562100"/>
                <a:gd name="connsiteY106" fmla="*/ 1178718 h 1309687"/>
                <a:gd name="connsiteX107" fmla="*/ 357188 w 1562100"/>
                <a:gd name="connsiteY107" fmla="*/ 1188243 h 1309687"/>
                <a:gd name="connsiteX108" fmla="*/ 364331 w 1562100"/>
                <a:gd name="connsiteY108" fmla="*/ 1219200 h 1309687"/>
                <a:gd name="connsiteX109" fmla="*/ 335756 w 1562100"/>
                <a:gd name="connsiteY109" fmla="*/ 1245393 h 1309687"/>
                <a:gd name="connsiteX110" fmla="*/ 309563 w 1562100"/>
                <a:gd name="connsiteY110" fmla="*/ 1262062 h 1309687"/>
                <a:gd name="connsiteX111" fmla="*/ 297656 w 1562100"/>
                <a:gd name="connsiteY111" fmla="*/ 1285875 h 1309687"/>
                <a:gd name="connsiteX112" fmla="*/ 302419 w 1562100"/>
                <a:gd name="connsiteY112" fmla="*/ 1309687 h 1309687"/>
                <a:gd name="connsiteX113" fmla="*/ 342900 w 1562100"/>
                <a:gd name="connsiteY113" fmla="*/ 1309687 h 1309687"/>
                <a:gd name="connsiteX114" fmla="*/ 390525 w 1562100"/>
                <a:gd name="connsiteY114" fmla="*/ 1304925 h 1309687"/>
                <a:gd name="connsiteX115" fmla="*/ 428625 w 1562100"/>
                <a:gd name="connsiteY115" fmla="*/ 1295400 h 1309687"/>
                <a:gd name="connsiteX116" fmla="*/ 454819 w 1562100"/>
                <a:gd name="connsiteY116" fmla="*/ 1302543 h 1309687"/>
                <a:gd name="connsiteX117" fmla="*/ 473869 w 1562100"/>
                <a:gd name="connsiteY117" fmla="*/ 1281112 h 1309687"/>
                <a:gd name="connsiteX118" fmla="*/ 492919 w 1562100"/>
                <a:gd name="connsiteY118" fmla="*/ 1281112 h 1309687"/>
                <a:gd name="connsiteX119" fmla="*/ 507206 w 1562100"/>
                <a:gd name="connsiteY119" fmla="*/ 1250156 h 1309687"/>
                <a:gd name="connsiteX120" fmla="*/ 557213 w 1562100"/>
                <a:gd name="connsiteY120" fmla="*/ 1235868 h 1309687"/>
                <a:gd name="connsiteX121" fmla="*/ 583406 w 1562100"/>
                <a:gd name="connsiteY121" fmla="*/ 1216818 h 1309687"/>
                <a:gd name="connsiteX122" fmla="*/ 590550 w 1562100"/>
                <a:gd name="connsiteY122" fmla="*/ 1178718 h 1309687"/>
                <a:gd name="connsiteX123" fmla="*/ 607219 w 1562100"/>
                <a:gd name="connsiteY123" fmla="*/ 1152525 h 1309687"/>
                <a:gd name="connsiteX124" fmla="*/ 688181 w 1562100"/>
                <a:gd name="connsiteY124"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497681 w 1562100"/>
                <a:gd name="connsiteY54" fmla="*/ 119063 h 1309687"/>
                <a:gd name="connsiteX55" fmla="*/ 450056 w 1562100"/>
                <a:gd name="connsiteY55" fmla="*/ 2382 h 1309687"/>
                <a:gd name="connsiteX56" fmla="*/ 428625 w 1562100"/>
                <a:gd name="connsiteY56" fmla="*/ 0 h 1309687"/>
                <a:gd name="connsiteX57" fmla="*/ 376238 w 1562100"/>
                <a:gd name="connsiteY57" fmla="*/ 104775 h 1309687"/>
                <a:gd name="connsiteX58" fmla="*/ 314326 w 1562100"/>
                <a:gd name="connsiteY58" fmla="*/ 104774 h 1309687"/>
                <a:gd name="connsiteX59" fmla="*/ 328613 w 1562100"/>
                <a:gd name="connsiteY59" fmla="*/ 183356 h 1309687"/>
                <a:gd name="connsiteX60" fmla="*/ 292894 w 1562100"/>
                <a:gd name="connsiteY60" fmla="*/ 285750 h 1309687"/>
                <a:gd name="connsiteX61" fmla="*/ 264319 w 1562100"/>
                <a:gd name="connsiteY61" fmla="*/ 292893 h 1309687"/>
                <a:gd name="connsiteX62" fmla="*/ 261938 w 1562100"/>
                <a:gd name="connsiteY62" fmla="*/ 307181 h 1309687"/>
                <a:gd name="connsiteX63" fmla="*/ 261938 w 1562100"/>
                <a:gd name="connsiteY63" fmla="*/ 340518 h 1309687"/>
                <a:gd name="connsiteX64" fmla="*/ 228600 w 1562100"/>
                <a:gd name="connsiteY64" fmla="*/ 383381 h 1309687"/>
                <a:gd name="connsiteX65" fmla="*/ 271463 w 1562100"/>
                <a:gd name="connsiteY65" fmla="*/ 400050 h 1309687"/>
                <a:gd name="connsiteX66" fmla="*/ 278606 w 1562100"/>
                <a:gd name="connsiteY66" fmla="*/ 419100 h 1309687"/>
                <a:gd name="connsiteX67" fmla="*/ 257175 w 1562100"/>
                <a:gd name="connsiteY67" fmla="*/ 454818 h 1309687"/>
                <a:gd name="connsiteX68" fmla="*/ 221456 w 1562100"/>
                <a:gd name="connsiteY68" fmla="*/ 464343 h 1309687"/>
                <a:gd name="connsiteX69" fmla="*/ 221456 w 1562100"/>
                <a:gd name="connsiteY69" fmla="*/ 504825 h 1309687"/>
                <a:gd name="connsiteX70" fmla="*/ 254794 w 1562100"/>
                <a:gd name="connsiteY70" fmla="*/ 542925 h 1309687"/>
                <a:gd name="connsiteX71" fmla="*/ 226219 w 1562100"/>
                <a:gd name="connsiteY71" fmla="*/ 607218 h 1309687"/>
                <a:gd name="connsiteX72" fmla="*/ 180975 w 1562100"/>
                <a:gd name="connsiteY72" fmla="*/ 635793 h 1309687"/>
                <a:gd name="connsiteX73" fmla="*/ 183356 w 1562100"/>
                <a:gd name="connsiteY73" fmla="*/ 652462 h 1309687"/>
                <a:gd name="connsiteX74" fmla="*/ 204788 w 1562100"/>
                <a:gd name="connsiteY74" fmla="*/ 661987 h 1309687"/>
                <a:gd name="connsiteX75" fmla="*/ 219075 w 1562100"/>
                <a:gd name="connsiteY75" fmla="*/ 671512 h 1309687"/>
                <a:gd name="connsiteX76" fmla="*/ 223838 w 1562100"/>
                <a:gd name="connsiteY76" fmla="*/ 690562 h 1309687"/>
                <a:gd name="connsiteX77" fmla="*/ 195263 w 1562100"/>
                <a:gd name="connsiteY77" fmla="*/ 716756 h 1309687"/>
                <a:gd name="connsiteX78" fmla="*/ 123825 w 1562100"/>
                <a:gd name="connsiteY78" fmla="*/ 762000 h 1309687"/>
                <a:gd name="connsiteX79" fmla="*/ 123825 w 1562100"/>
                <a:gd name="connsiteY79" fmla="*/ 797718 h 1309687"/>
                <a:gd name="connsiteX80" fmla="*/ 135731 w 1562100"/>
                <a:gd name="connsiteY80" fmla="*/ 828675 h 1309687"/>
                <a:gd name="connsiteX81" fmla="*/ 123825 w 1562100"/>
                <a:gd name="connsiteY81" fmla="*/ 869156 h 1309687"/>
                <a:gd name="connsiteX82" fmla="*/ 76200 w 1562100"/>
                <a:gd name="connsiteY82" fmla="*/ 864393 h 1309687"/>
                <a:gd name="connsiteX83" fmla="*/ 52388 w 1562100"/>
                <a:gd name="connsiteY83" fmla="*/ 809625 h 1309687"/>
                <a:gd name="connsiteX84" fmla="*/ 33338 w 1562100"/>
                <a:gd name="connsiteY84" fmla="*/ 802481 h 1309687"/>
                <a:gd name="connsiteX85" fmla="*/ 23813 w 1562100"/>
                <a:gd name="connsiteY85" fmla="*/ 840581 h 1309687"/>
                <a:gd name="connsiteX86" fmla="*/ 21431 w 1562100"/>
                <a:gd name="connsiteY86" fmla="*/ 850106 h 1309687"/>
                <a:gd name="connsiteX87" fmla="*/ 7144 w 1562100"/>
                <a:gd name="connsiteY87" fmla="*/ 866775 h 1309687"/>
                <a:gd name="connsiteX88" fmla="*/ 0 w 1562100"/>
                <a:gd name="connsiteY88" fmla="*/ 923925 h 1309687"/>
                <a:gd name="connsiteX89" fmla="*/ 23813 w 1562100"/>
                <a:gd name="connsiteY89" fmla="*/ 952500 h 1309687"/>
                <a:gd name="connsiteX90" fmla="*/ 16669 w 1562100"/>
                <a:gd name="connsiteY90" fmla="*/ 992981 h 1309687"/>
                <a:gd name="connsiteX91" fmla="*/ 35719 w 1562100"/>
                <a:gd name="connsiteY91" fmla="*/ 997743 h 1309687"/>
                <a:gd name="connsiteX92" fmla="*/ 69056 w 1562100"/>
                <a:gd name="connsiteY92" fmla="*/ 997743 h 1309687"/>
                <a:gd name="connsiteX93" fmla="*/ 85725 w 1562100"/>
                <a:gd name="connsiteY93" fmla="*/ 988218 h 1309687"/>
                <a:gd name="connsiteX94" fmla="*/ 135731 w 1562100"/>
                <a:gd name="connsiteY94" fmla="*/ 1045368 h 1309687"/>
                <a:gd name="connsiteX95" fmla="*/ 123825 w 1562100"/>
                <a:gd name="connsiteY95" fmla="*/ 1064418 h 1309687"/>
                <a:gd name="connsiteX96" fmla="*/ 133350 w 1562100"/>
                <a:gd name="connsiteY96" fmla="*/ 1092993 h 1309687"/>
                <a:gd name="connsiteX97" fmla="*/ 164306 w 1562100"/>
                <a:gd name="connsiteY97" fmla="*/ 1112043 h 1309687"/>
                <a:gd name="connsiteX98" fmla="*/ 190500 w 1562100"/>
                <a:gd name="connsiteY98" fmla="*/ 1121568 h 1309687"/>
                <a:gd name="connsiteX99" fmla="*/ 216694 w 1562100"/>
                <a:gd name="connsiteY99" fmla="*/ 1128712 h 1309687"/>
                <a:gd name="connsiteX100" fmla="*/ 228600 w 1562100"/>
                <a:gd name="connsiteY100" fmla="*/ 1131093 h 1309687"/>
                <a:gd name="connsiteX101" fmla="*/ 240506 w 1562100"/>
                <a:gd name="connsiteY101" fmla="*/ 1092993 h 1309687"/>
                <a:gd name="connsiteX102" fmla="*/ 269081 w 1562100"/>
                <a:gd name="connsiteY102" fmla="*/ 1097756 h 1309687"/>
                <a:gd name="connsiteX103" fmla="*/ 288131 w 1562100"/>
                <a:gd name="connsiteY103" fmla="*/ 1085850 h 1309687"/>
                <a:gd name="connsiteX104" fmla="*/ 307181 w 1562100"/>
                <a:gd name="connsiteY104" fmla="*/ 1135856 h 1309687"/>
                <a:gd name="connsiteX105" fmla="*/ 330994 w 1562100"/>
                <a:gd name="connsiteY105" fmla="*/ 1150143 h 1309687"/>
                <a:gd name="connsiteX106" fmla="*/ 340519 w 1562100"/>
                <a:gd name="connsiteY106" fmla="*/ 1178718 h 1309687"/>
                <a:gd name="connsiteX107" fmla="*/ 357188 w 1562100"/>
                <a:gd name="connsiteY107" fmla="*/ 1188243 h 1309687"/>
                <a:gd name="connsiteX108" fmla="*/ 364331 w 1562100"/>
                <a:gd name="connsiteY108" fmla="*/ 1219200 h 1309687"/>
                <a:gd name="connsiteX109" fmla="*/ 335756 w 1562100"/>
                <a:gd name="connsiteY109" fmla="*/ 1245393 h 1309687"/>
                <a:gd name="connsiteX110" fmla="*/ 309563 w 1562100"/>
                <a:gd name="connsiteY110" fmla="*/ 1262062 h 1309687"/>
                <a:gd name="connsiteX111" fmla="*/ 297656 w 1562100"/>
                <a:gd name="connsiteY111" fmla="*/ 1285875 h 1309687"/>
                <a:gd name="connsiteX112" fmla="*/ 302419 w 1562100"/>
                <a:gd name="connsiteY112" fmla="*/ 1309687 h 1309687"/>
                <a:gd name="connsiteX113" fmla="*/ 342900 w 1562100"/>
                <a:gd name="connsiteY113" fmla="*/ 1309687 h 1309687"/>
                <a:gd name="connsiteX114" fmla="*/ 390525 w 1562100"/>
                <a:gd name="connsiteY114" fmla="*/ 1304925 h 1309687"/>
                <a:gd name="connsiteX115" fmla="*/ 428625 w 1562100"/>
                <a:gd name="connsiteY115" fmla="*/ 1295400 h 1309687"/>
                <a:gd name="connsiteX116" fmla="*/ 454819 w 1562100"/>
                <a:gd name="connsiteY116" fmla="*/ 1302543 h 1309687"/>
                <a:gd name="connsiteX117" fmla="*/ 473869 w 1562100"/>
                <a:gd name="connsiteY117" fmla="*/ 1281112 h 1309687"/>
                <a:gd name="connsiteX118" fmla="*/ 492919 w 1562100"/>
                <a:gd name="connsiteY118" fmla="*/ 1281112 h 1309687"/>
                <a:gd name="connsiteX119" fmla="*/ 507206 w 1562100"/>
                <a:gd name="connsiteY119" fmla="*/ 1250156 h 1309687"/>
                <a:gd name="connsiteX120" fmla="*/ 557213 w 1562100"/>
                <a:gd name="connsiteY120" fmla="*/ 1235868 h 1309687"/>
                <a:gd name="connsiteX121" fmla="*/ 583406 w 1562100"/>
                <a:gd name="connsiteY121" fmla="*/ 1216818 h 1309687"/>
                <a:gd name="connsiteX122" fmla="*/ 590550 w 1562100"/>
                <a:gd name="connsiteY122" fmla="*/ 1178718 h 1309687"/>
                <a:gd name="connsiteX123" fmla="*/ 607219 w 1562100"/>
                <a:gd name="connsiteY123" fmla="*/ 1152525 h 1309687"/>
                <a:gd name="connsiteX124" fmla="*/ 688181 w 1562100"/>
                <a:gd name="connsiteY124"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500062 w 1562100"/>
                <a:gd name="connsiteY54" fmla="*/ 66676 h 1309687"/>
                <a:gd name="connsiteX55" fmla="*/ 450056 w 1562100"/>
                <a:gd name="connsiteY55" fmla="*/ 2382 h 1309687"/>
                <a:gd name="connsiteX56" fmla="*/ 428625 w 1562100"/>
                <a:gd name="connsiteY56" fmla="*/ 0 h 1309687"/>
                <a:gd name="connsiteX57" fmla="*/ 376238 w 1562100"/>
                <a:gd name="connsiteY57" fmla="*/ 104775 h 1309687"/>
                <a:gd name="connsiteX58" fmla="*/ 314326 w 1562100"/>
                <a:gd name="connsiteY58" fmla="*/ 104774 h 1309687"/>
                <a:gd name="connsiteX59" fmla="*/ 328613 w 1562100"/>
                <a:gd name="connsiteY59" fmla="*/ 183356 h 1309687"/>
                <a:gd name="connsiteX60" fmla="*/ 292894 w 1562100"/>
                <a:gd name="connsiteY60" fmla="*/ 285750 h 1309687"/>
                <a:gd name="connsiteX61" fmla="*/ 264319 w 1562100"/>
                <a:gd name="connsiteY61" fmla="*/ 292893 h 1309687"/>
                <a:gd name="connsiteX62" fmla="*/ 261938 w 1562100"/>
                <a:gd name="connsiteY62" fmla="*/ 307181 h 1309687"/>
                <a:gd name="connsiteX63" fmla="*/ 261938 w 1562100"/>
                <a:gd name="connsiteY63" fmla="*/ 340518 h 1309687"/>
                <a:gd name="connsiteX64" fmla="*/ 228600 w 1562100"/>
                <a:gd name="connsiteY64" fmla="*/ 383381 h 1309687"/>
                <a:gd name="connsiteX65" fmla="*/ 271463 w 1562100"/>
                <a:gd name="connsiteY65" fmla="*/ 400050 h 1309687"/>
                <a:gd name="connsiteX66" fmla="*/ 278606 w 1562100"/>
                <a:gd name="connsiteY66" fmla="*/ 419100 h 1309687"/>
                <a:gd name="connsiteX67" fmla="*/ 257175 w 1562100"/>
                <a:gd name="connsiteY67" fmla="*/ 454818 h 1309687"/>
                <a:gd name="connsiteX68" fmla="*/ 221456 w 1562100"/>
                <a:gd name="connsiteY68" fmla="*/ 464343 h 1309687"/>
                <a:gd name="connsiteX69" fmla="*/ 221456 w 1562100"/>
                <a:gd name="connsiteY69" fmla="*/ 504825 h 1309687"/>
                <a:gd name="connsiteX70" fmla="*/ 254794 w 1562100"/>
                <a:gd name="connsiteY70" fmla="*/ 542925 h 1309687"/>
                <a:gd name="connsiteX71" fmla="*/ 226219 w 1562100"/>
                <a:gd name="connsiteY71" fmla="*/ 607218 h 1309687"/>
                <a:gd name="connsiteX72" fmla="*/ 180975 w 1562100"/>
                <a:gd name="connsiteY72" fmla="*/ 635793 h 1309687"/>
                <a:gd name="connsiteX73" fmla="*/ 183356 w 1562100"/>
                <a:gd name="connsiteY73" fmla="*/ 652462 h 1309687"/>
                <a:gd name="connsiteX74" fmla="*/ 204788 w 1562100"/>
                <a:gd name="connsiteY74" fmla="*/ 661987 h 1309687"/>
                <a:gd name="connsiteX75" fmla="*/ 219075 w 1562100"/>
                <a:gd name="connsiteY75" fmla="*/ 671512 h 1309687"/>
                <a:gd name="connsiteX76" fmla="*/ 223838 w 1562100"/>
                <a:gd name="connsiteY76" fmla="*/ 690562 h 1309687"/>
                <a:gd name="connsiteX77" fmla="*/ 195263 w 1562100"/>
                <a:gd name="connsiteY77" fmla="*/ 716756 h 1309687"/>
                <a:gd name="connsiteX78" fmla="*/ 123825 w 1562100"/>
                <a:gd name="connsiteY78" fmla="*/ 762000 h 1309687"/>
                <a:gd name="connsiteX79" fmla="*/ 123825 w 1562100"/>
                <a:gd name="connsiteY79" fmla="*/ 797718 h 1309687"/>
                <a:gd name="connsiteX80" fmla="*/ 135731 w 1562100"/>
                <a:gd name="connsiteY80" fmla="*/ 828675 h 1309687"/>
                <a:gd name="connsiteX81" fmla="*/ 123825 w 1562100"/>
                <a:gd name="connsiteY81" fmla="*/ 869156 h 1309687"/>
                <a:gd name="connsiteX82" fmla="*/ 76200 w 1562100"/>
                <a:gd name="connsiteY82" fmla="*/ 864393 h 1309687"/>
                <a:gd name="connsiteX83" fmla="*/ 52388 w 1562100"/>
                <a:gd name="connsiteY83" fmla="*/ 809625 h 1309687"/>
                <a:gd name="connsiteX84" fmla="*/ 33338 w 1562100"/>
                <a:gd name="connsiteY84" fmla="*/ 802481 h 1309687"/>
                <a:gd name="connsiteX85" fmla="*/ 23813 w 1562100"/>
                <a:gd name="connsiteY85" fmla="*/ 840581 h 1309687"/>
                <a:gd name="connsiteX86" fmla="*/ 21431 w 1562100"/>
                <a:gd name="connsiteY86" fmla="*/ 850106 h 1309687"/>
                <a:gd name="connsiteX87" fmla="*/ 7144 w 1562100"/>
                <a:gd name="connsiteY87" fmla="*/ 866775 h 1309687"/>
                <a:gd name="connsiteX88" fmla="*/ 0 w 1562100"/>
                <a:gd name="connsiteY88" fmla="*/ 923925 h 1309687"/>
                <a:gd name="connsiteX89" fmla="*/ 23813 w 1562100"/>
                <a:gd name="connsiteY89" fmla="*/ 952500 h 1309687"/>
                <a:gd name="connsiteX90" fmla="*/ 16669 w 1562100"/>
                <a:gd name="connsiteY90" fmla="*/ 992981 h 1309687"/>
                <a:gd name="connsiteX91" fmla="*/ 35719 w 1562100"/>
                <a:gd name="connsiteY91" fmla="*/ 997743 h 1309687"/>
                <a:gd name="connsiteX92" fmla="*/ 69056 w 1562100"/>
                <a:gd name="connsiteY92" fmla="*/ 997743 h 1309687"/>
                <a:gd name="connsiteX93" fmla="*/ 85725 w 1562100"/>
                <a:gd name="connsiteY93" fmla="*/ 988218 h 1309687"/>
                <a:gd name="connsiteX94" fmla="*/ 135731 w 1562100"/>
                <a:gd name="connsiteY94" fmla="*/ 1045368 h 1309687"/>
                <a:gd name="connsiteX95" fmla="*/ 123825 w 1562100"/>
                <a:gd name="connsiteY95" fmla="*/ 1064418 h 1309687"/>
                <a:gd name="connsiteX96" fmla="*/ 133350 w 1562100"/>
                <a:gd name="connsiteY96" fmla="*/ 1092993 h 1309687"/>
                <a:gd name="connsiteX97" fmla="*/ 164306 w 1562100"/>
                <a:gd name="connsiteY97" fmla="*/ 1112043 h 1309687"/>
                <a:gd name="connsiteX98" fmla="*/ 190500 w 1562100"/>
                <a:gd name="connsiteY98" fmla="*/ 1121568 h 1309687"/>
                <a:gd name="connsiteX99" fmla="*/ 216694 w 1562100"/>
                <a:gd name="connsiteY99" fmla="*/ 1128712 h 1309687"/>
                <a:gd name="connsiteX100" fmla="*/ 228600 w 1562100"/>
                <a:gd name="connsiteY100" fmla="*/ 1131093 h 1309687"/>
                <a:gd name="connsiteX101" fmla="*/ 240506 w 1562100"/>
                <a:gd name="connsiteY101" fmla="*/ 1092993 h 1309687"/>
                <a:gd name="connsiteX102" fmla="*/ 269081 w 1562100"/>
                <a:gd name="connsiteY102" fmla="*/ 1097756 h 1309687"/>
                <a:gd name="connsiteX103" fmla="*/ 288131 w 1562100"/>
                <a:gd name="connsiteY103" fmla="*/ 1085850 h 1309687"/>
                <a:gd name="connsiteX104" fmla="*/ 307181 w 1562100"/>
                <a:gd name="connsiteY104" fmla="*/ 1135856 h 1309687"/>
                <a:gd name="connsiteX105" fmla="*/ 330994 w 1562100"/>
                <a:gd name="connsiteY105" fmla="*/ 1150143 h 1309687"/>
                <a:gd name="connsiteX106" fmla="*/ 340519 w 1562100"/>
                <a:gd name="connsiteY106" fmla="*/ 1178718 h 1309687"/>
                <a:gd name="connsiteX107" fmla="*/ 357188 w 1562100"/>
                <a:gd name="connsiteY107" fmla="*/ 1188243 h 1309687"/>
                <a:gd name="connsiteX108" fmla="*/ 364331 w 1562100"/>
                <a:gd name="connsiteY108" fmla="*/ 1219200 h 1309687"/>
                <a:gd name="connsiteX109" fmla="*/ 335756 w 1562100"/>
                <a:gd name="connsiteY109" fmla="*/ 1245393 h 1309687"/>
                <a:gd name="connsiteX110" fmla="*/ 309563 w 1562100"/>
                <a:gd name="connsiteY110" fmla="*/ 1262062 h 1309687"/>
                <a:gd name="connsiteX111" fmla="*/ 297656 w 1562100"/>
                <a:gd name="connsiteY111" fmla="*/ 1285875 h 1309687"/>
                <a:gd name="connsiteX112" fmla="*/ 302419 w 1562100"/>
                <a:gd name="connsiteY112" fmla="*/ 1309687 h 1309687"/>
                <a:gd name="connsiteX113" fmla="*/ 342900 w 1562100"/>
                <a:gd name="connsiteY113" fmla="*/ 1309687 h 1309687"/>
                <a:gd name="connsiteX114" fmla="*/ 390525 w 1562100"/>
                <a:gd name="connsiteY114" fmla="*/ 1304925 h 1309687"/>
                <a:gd name="connsiteX115" fmla="*/ 428625 w 1562100"/>
                <a:gd name="connsiteY115" fmla="*/ 1295400 h 1309687"/>
                <a:gd name="connsiteX116" fmla="*/ 454819 w 1562100"/>
                <a:gd name="connsiteY116" fmla="*/ 1302543 h 1309687"/>
                <a:gd name="connsiteX117" fmla="*/ 473869 w 1562100"/>
                <a:gd name="connsiteY117" fmla="*/ 1281112 h 1309687"/>
                <a:gd name="connsiteX118" fmla="*/ 492919 w 1562100"/>
                <a:gd name="connsiteY118" fmla="*/ 1281112 h 1309687"/>
                <a:gd name="connsiteX119" fmla="*/ 507206 w 1562100"/>
                <a:gd name="connsiteY119" fmla="*/ 1250156 h 1309687"/>
                <a:gd name="connsiteX120" fmla="*/ 557213 w 1562100"/>
                <a:gd name="connsiteY120" fmla="*/ 1235868 h 1309687"/>
                <a:gd name="connsiteX121" fmla="*/ 583406 w 1562100"/>
                <a:gd name="connsiteY121" fmla="*/ 1216818 h 1309687"/>
                <a:gd name="connsiteX122" fmla="*/ 590550 w 1562100"/>
                <a:gd name="connsiteY122" fmla="*/ 1178718 h 1309687"/>
                <a:gd name="connsiteX123" fmla="*/ 607219 w 1562100"/>
                <a:gd name="connsiteY123" fmla="*/ 1152525 h 1309687"/>
                <a:gd name="connsiteX124" fmla="*/ 688181 w 1562100"/>
                <a:gd name="connsiteY124"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02456 w 1562100"/>
                <a:gd name="connsiteY54" fmla="*/ 133351 h 1309687"/>
                <a:gd name="connsiteX55" fmla="*/ 500062 w 1562100"/>
                <a:gd name="connsiteY55" fmla="*/ 66676 h 1309687"/>
                <a:gd name="connsiteX56" fmla="*/ 450056 w 1562100"/>
                <a:gd name="connsiteY56" fmla="*/ 2382 h 1309687"/>
                <a:gd name="connsiteX57" fmla="*/ 428625 w 1562100"/>
                <a:gd name="connsiteY57" fmla="*/ 0 h 1309687"/>
                <a:gd name="connsiteX58" fmla="*/ 376238 w 1562100"/>
                <a:gd name="connsiteY58" fmla="*/ 104775 h 1309687"/>
                <a:gd name="connsiteX59" fmla="*/ 314326 w 1562100"/>
                <a:gd name="connsiteY59" fmla="*/ 104774 h 1309687"/>
                <a:gd name="connsiteX60" fmla="*/ 328613 w 1562100"/>
                <a:gd name="connsiteY60" fmla="*/ 183356 h 1309687"/>
                <a:gd name="connsiteX61" fmla="*/ 292894 w 1562100"/>
                <a:gd name="connsiteY61" fmla="*/ 285750 h 1309687"/>
                <a:gd name="connsiteX62" fmla="*/ 264319 w 1562100"/>
                <a:gd name="connsiteY62" fmla="*/ 292893 h 1309687"/>
                <a:gd name="connsiteX63" fmla="*/ 261938 w 1562100"/>
                <a:gd name="connsiteY63" fmla="*/ 307181 h 1309687"/>
                <a:gd name="connsiteX64" fmla="*/ 261938 w 1562100"/>
                <a:gd name="connsiteY64" fmla="*/ 340518 h 1309687"/>
                <a:gd name="connsiteX65" fmla="*/ 228600 w 1562100"/>
                <a:gd name="connsiteY65" fmla="*/ 383381 h 1309687"/>
                <a:gd name="connsiteX66" fmla="*/ 271463 w 1562100"/>
                <a:gd name="connsiteY66" fmla="*/ 400050 h 1309687"/>
                <a:gd name="connsiteX67" fmla="*/ 278606 w 1562100"/>
                <a:gd name="connsiteY67" fmla="*/ 419100 h 1309687"/>
                <a:gd name="connsiteX68" fmla="*/ 257175 w 1562100"/>
                <a:gd name="connsiteY68" fmla="*/ 454818 h 1309687"/>
                <a:gd name="connsiteX69" fmla="*/ 221456 w 1562100"/>
                <a:gd name="connsiteY69" fmla="*/ 464343 h 1309687"/>
                <a:gd name="connsiteX70" fmla="*/ 221456 w 1562100"/>
                <a:gd name="connsiteY70" fmla="*/ 504825 h 1309687"/>
                <a:gd name="connsiteX71" fmla="*/ 254794 w 1562100"/>
                <a:gd name="connsiteY71" fmla="*/ 542925 h 1309687"/>
                <a:gd name="connsiteX72" fmla="*/ 226219 w 1562100"/>
                <a:gd name="connsiteY72" fmla="*/ 607218 h 1309687"/>
                <a:gd name="connsiteX73" fmla="*/ 180975 w 1562100"/>
                <a:gd name="connsiteY73" fmla="*/ 635793 h 1309687"/>
                <a:gd name="connsiteX74" fmla="*/ 183356 w 1562100"/>
                <a:gd name="connsiteY74" fmla="*/ 652462 h 1309687"/>
                <a:gd name="connsiteX75" fmla="*/ 204788 w 1562100"/>
                <a:gd name="connsiteY75" fmla="*/ 661987 h 1309687"/>
                <a:gd name="connsiteX76" fmla="*/ 219075 w 1562100"/>
                <a:gd name="connsiteY76" fmla="*/ 671512 h 1309687"/>
                <a:gd name="connsiteX77" fmla="*/ 223838 w 1562100"/>
                <a:gd name="connsiteY77" fmla="*/ 690562 h 1309687"/>
                <a:gd name="connsiteX78" fmla="*/ 195263 w 1562100"/>
                <a:gd name="connsiteY78" fmla="*/ 716756 h 1309687"/>
                <a:gd name="connsiteX79" fmla="*/ 123825 w 1562100"/>
                <a:gd name="connsiteY79" fmla="*/ 762000 h 1309687"/>
                <a:gd name="connsiteX80" fmla="*/ 123825 w 1562100"/>
                <a:gd name="connsiteY80" fmla="*/ 797718 h 1309687"/>
                <a:gd name="connsiteX81" fmla="*/ 135731 w 1562100"/>
                <a:gd name="connsiteY81" fmla="*/ 828675 h 1309687"/>
                <a:gd name="connsiteX82" fmla="*/ 123825 w 1562100"/>
                <a:gd name="connsiteY82" fmla="*/ 869156 h 1309687"/>
                <a:gd name="connsiteX83" fmla="*/ 76200 w 1562100"/>
                <a:gd name="connsiteY83" fmla="*/ 864393 h 1309687"/>
                <a:gd name="connsiteX84" fmla="*/ 52388 w 1562100"/>
                <a:gd name="connsiteY84" fmla="*/ 809625 h 1309687"/>
                <a:gd name="connsiteX85" fmla="*/ 33338 w 1562100"/>
                <a:gd name="connsiteY85" fmla="*/ 802481 h 1309687"/>
                <a:gd name="connsiteX86" fmla="*/ 23813 w 1562100"/>
                <a:gd name="connsiteY86" fmla="*/ 840581 h 1309687"/>
                <a:gd name="connsiteX87" fmla="*/ 21431 w 1562100"/>
                <a:gd name="connsiteY87" fmla="*/ 850106 h 1309687"/>
                <a:gd name="connsiteX88" fmla="*/ 7144 w 1562100"/>
                <a:gd name="connsiteY88" fmla="*/ 866775 h 1309687"/>
                <a:gd name="connsiteX89" fmla="*/ 0 w 1562100"/>
                <a:gd name="connsiteY89" fmla="*/ 923925 h 1309687"/>
                <a:gd name="connsiteX90" fmla="*/ 23813 w 1562100"/>
                <a:gd name="connsiteY90" fmla="*/ 952500 h 1309687"/>
                <a:gd name="connsiteX91" fmla="*/ 16669 w 1562100"/>
                <a:gd name="connsiteY91" fmla="*/ 992981 h 1309687"/>
                <a:gd name="connsiteX92" fmla="*/ 35719 w 1562100"/>
                <a:gd name="connsiteY92" fmla="*/ 997743 h 1309687"/>
                <a:gd name="connsiteX93" fmla="*/ 69056 w 1562100"/>
                <a:gd name="connsiteY93" fmla="*/ 997743 h 1309687"/>
                <a:gd name="connsiteX94" fmla="*/ 85725 w 1562100"/>
                <a:gd name="connsiteY94" fmla="*/ 988218 h 1309687"/>
                <a:gd name="connsiteX95" fmla="*/ 135731 w 1562100"/>
                <a:gd name="connsiteY95" fmla="*/ 1045368 h 1309687"/>
                <a:gd name="connsiteX96" fmla="*/ 123825 w 1562100"/>
                <a:gd name="connsiteY96" fmla="*/ 1064418 h 1309687"/>
                <a:gd name="connsiteX97" fmla="*/ 133350 w 1562100"/>
                <a:gd name="connsiteY97" fmla="*/ 1092993 h 1309687"/>
                <a:gd name="connsiteX98" fmla="*/ 164306 w 1562100"/>
                <a:gd name="connsiteY98" fmla="*/ 1112043 h 1309687"/>
                <a:gd name="connsiteX99" fmla="*/ 190500 w 1562100"/>
                <a:gd name="connsiteY99" fmla="*/ 1121568 h 1309687"/>
                <a:gd name="connsiteX100" fmla="*/ 216694 w 1562100"/>
                <a:gd name="connsiteY100" fmla="*/ 1128712 h 1309687"/>
                <a:gd name="connsiteX101" fmla="*/ 228600 w 1562100"/>
                <a:gd name="connsiteY101" fmla="*/ 1131093 h 1309687"/>
                <a:gd name="connsiteX102" fmla="*/ 240506 w 1562100"/>
                <a:gd name="connsiteY102" fmla="*/ 1092993 h 1309687"/>
                <a:gd name="connsiteX103" fmla="*/ 269081 w 1562100"/>
                <a:gd name="connsiteY103" fmla="*/ 1097756 h 1309687"/>
                <a:gd name="connsiteX104" fmla="*/ 288131 w 1562100"/>
                <a:gd name="connsiteY104" fmla="*/ 1085850 h 1309687"/>
                <a:gd name="connsiteX105" fmla="*/ 307181 w 1562100"/>
                <a:gd name="connsiteY105" fmla="*/ 1135856 h 1309687"/>
                <a:gd name="connsiteX106" fmla="*/ 330994 w 1562100"/>
                <a:gd name="connsiteY106" fmla="*/ 1150143 h 1309687"/>
                <a:gd name="connsiteX107" fmla="*/ 340519 w 1562100"/>
                <a:gd name="connsiteY107" fmla="*/ 1178718 h 1309687"/>
                <a:gd name="connsiteX108" fmla="*/ 357188 w 1562100"/>
                <a:gd name="connsiteY108" fmla="*/ 1188243 h 1309687"/>
                <a:gd name="connsiteX109" fmla="*/ 364331 w 1562100"/>
                <a:gd name="connsiteY109" fmla="*/ 1219200 h 1309687"/>
                <a:gd name="connsiteX110" fmla="*/ 335756 w 1562100"/>
                <a:gd name="connsiteY110" fmla="*/ 1245393 h 1309687"/>
                <a:gd name="connsiteX111" fmla="*/ 309563 w 1562100"/>
                <a:gd name="connsiteY111" fmla="*/ 1262062 h 1309687"/>
                <a:gd name="connsiteX112" fmla="*/ 297656 w 1562100"/>
                <a:gd name="connsiteY112" fmla="*/ 1285875 h 1309687"/>
                <a:gd name="connsiteX113" fmla="*/ 302419 w 1562100"/>
                <a:gd name="connsiteY113" fmla="*/ 1309687 h 1309687"/>
                <a:gd name="connsiteX114" fmla="*/ 342900 w 1562100"/>
                <a:gd name="connsiteY114" fmla="*/ 1309687 h 1309687"/>
                <a:gd name="connsiteX115" fmla="*/ 390525 w 1562100"/>
                <a:gd name="connsiteY115" fmla="*/ 1304925 h 1309687"/>
                <a:gd name="connsiteX116" fmla="*/ 428625 w 1562100"/>
                <a:gd name="connsiteY116" fmla="*/ 1295400 h 1309687"/>
                <a:gd name="connsiteX117" fmla="*/ 454819 w 1562100"/>
                <a:gd name="connsiteY117" fmla="*/ 1302543 h 1309687"/>
                <a:gd name="connsiteX118" fmla="*/ 473869 w 1562100"/>
                <a:gd name="connsiteY118" fmla="*/ 1281112 h 1309687"/>
                <a:gd name="connsiteX119" fmla="*/ 492919 w 1562100"/>
                <a:gd name="connsiteY119" fmla="*/ 1281112 h 1309687"/>
                <a:gd name="connsiteX120" fmla="*/ 507206 w 1562100"/>
                <a:gd name="connsiteY120" fmla="*/ 1250156 h 1309687"/>
                <a:gd name="connsiteX121" fmla="*/ 557213 w 1562100"/>
                <a:gd name="connsiteY121" fmla="*/ 1235868 h 1309687"/>
                <a:gd name="connsiteX122" fmla="*/ 583406 w 1562100"/>
                <a:gd name="connsiteY122" fmla="*/ 1216818 h 1309687"/>
                <a:gd name="connsiteX123" fmla="*/ 590550 w 1562100"/>
                <a:gd name="connsiteY123" fmla="*/ 1178718 h 1309687"/>
                <a:gd name="connsiteX124" fmla="*/ 607219 w 1562100"/>
                <a:gd name="connsiteY124" fmla="*/ 1152525 h 1309687"/>
                <a:gd name="connsiteX125" fmla="*/ 688181 w 1562100"/>
                <a:gd name="connsiteY125"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02456 w 1562100"/>
                <a:gd name="connsiteY54" fmla="*/ 133351 h 1309687"/>
                <a:gd name="connsiteX55" fmla="*/ 628650 w 1562100"/>
                <a:gd name="connsiteY55" fmla="*/ 88107 h 1309687"/>
                <a:gd name="connsiteX56" fmla="*/ 500062 w 1562100"/>
                <a:gd name="connsiteY56" fmla="*/ 66676 h 1309687"/>
                <a:gd name="connsiteX57" fmla="*/ 450056 w 1562100"/>
                <a:gd name="connsiteY57" fmla="*/ 2382 h 1309687"/>
                <a:gd name="connsiteX58" fmla="*/ 428625 w 1562100"/>
                <a:gd name="connsiteY58" fmla="*/ 0 h 1309687"/>
                <a:gd name="connsiteX59" fmla="*/ 376238 w 1562100"/>
                <a:gd name="connsiteY59" fmla="*/ 104775 h 1309687"/>
                <a:gd name="connsiteX60" fmla="*/ 314326 w 1562100"/>
                <a:gd name="connsiteY60" fmla="*/ 104774 h 1309687"/>
                <a:gd name="connsiteX61" fmla="*/ 328613 w 1562100"/>
                <a:gd name="connsiteY61" fmla="*/ 183356 h 1309687"/>
                <a:gd name="connsiteX62" fmla="*/ 292894 w 1562100"/>
                <a:gd name="connsiteY62" fmla="*/ 285750 h 1309687"/>
                <a:gd name="connsiteX63" fmla="*/ 264319 w 1562100"/>
                <a:gd name="connsiteY63" fmla="*/ 292893 h 1309687"/>
                <a:gd name="connsiteX64" fmla="*/ 261938 w 1562100"/>
                <a:gd name="connsiteY64" fmla="*/ 307181 h 1309687"/>
                <a:gd name="connsiteX65" fmla="*/ 261938 w 1562100"/>
                <a:gd name="connsiteY65" fmla="*/ 340518 h 1309687"/>
                <a:gd name="connsiteX66" fmla="*/ 228600 w 1562100"/>
                <a:gd name="connsiteY66" fmla="*/ 383381 h 1309687"/>
                <a:gd name="connsiteX67" fmla="*/ 271463 w 1562100"/>
                <a:gd name="connsiteY67" fmla="*/ 400050 h 1309687"/>
                <a:gd name="connsiteX68" fmla="*/ 278606 w 1562100"/>
                <a:gd name="connsiteY68" fmla="*/ 419100 h 1309687"/>
                <a:gd name="connsiteX69" fmla="*/ 257175 w 1562100"/>
                <a:gd name="connsiteY69" fmla="*/ 454818 h 1309687"/>
                <a:gd name="connsiteX70" fmla="*/ 221456 w 1562100"/>
                <a:gd name="connsiteY70" fmla="*/ 464343 h 1309687"/>
                <a:gd name="connsiteX71" fmla="*/ 221456 w 1562100"/>
                <a:gd name="connsiteY71" fmla="*/ 504825 h 1309687"/>
                <a:gd name="connsiteX72" fmla="*/ 254794 w 1562100"/>
                <a:gd name="connsiteY72" fmla="*/ 542925 h 1309687"/>
                <a:gd name="connsiteX73" fmla="*/ 226219 w 1562100"/>
                <a:gd name="connsiteY73" fmla="*/ 607218 h 1309687"/>
                <a:gd name="connsiteX74" fmla="*/ 180975 w 1562100"/>
                <a:gd name="connsiteY74" fmla="*/ 635793 h 1309687"/>
                <a:gd name="connsiteX75" fmla="*/ 183356 w 1562100"/>
                <a:gd name="connsiteY75" fmla="*/ 652462 h 1309687"/>
                <a:gd name="connsiteX76" fmla="*/ 204788 w 1562100"/>
                <a:gd name="connsiteY76" fmla="*/ 661987 h 1309687"/>
                <a:gd name="connsiteX77" fmla="*/ 219075 w 1562100"/>
                <a:gd name="connsiteY77" fmla="*/ 671512 h 1309687"/>
                <a:gd name="connsiteX78" fmla="*/ 223838 w 1562100"/>
                <a:gd name="connsiteY78" fmla="*/ 690562 h 1309687"/>
                <a:gd name="connsiteX79" fmla="*/ 195263 w 1562100"/>
                <a:gd name="connsiteY79" fmla="*/ 716756 h 1309687"/>
                <a:gd name="connsiteX80" fmla="*/ 123825 w 1562100"/>
                <a:gd name="connsiteY80" fmla="*/ 762000 h 1309687"/>
                <a:gd name="connsiteX81" fmla="*/ 123825 w 1562100"/>
                <a:gd name="connsiteY81" fmla="*/ 797718 h 1309687"/>
                <a:gd name="connsiteX82" fmla="*/ 135731 w 1562100"/>
                <a:gd name="connsiteY82" fmla="*/ 828675 h 1309687"/>
                <a:gd name="connsiteX83" fmla="*/ 123825 w 1562100"/>
                <a:gd name="connsiteY83" fmla="*/ 869156 h 1309687"/>
                <a:gd name="connsiteX84" fmla="*/ 76200 w 1562100"/>
                <a:gd name="connsiteY84" fmla="*/ 864393 h 1309687"/>
                <a:gd name="connsiteX85" fmla="*/ 52388 w 1562100"/>
                <a:gd name="connsiteY85" fmla="*/ 809625 h 1309687"/>
                <a:gd name="connsiteX86" fmla="*/ 33338 w 1562100"/>
                <a:gd name="connsiteY86" fmla="*/ 802481 h 1309687"/>
                <a:gd name="connsiteX87" fmla="*/ 23813 w 1562100"/>
                <a:gd name="connsiteY87" fmla="*/ 840581 h 1309687"/>
                <a:gd name="connsiteX88" fmla="*/ 21431 w 1562100"/>
                <a:gd name="connsiteY88" fmla="*/ 850106 h 1309687"/>
                <a:gd name="connsiteX89" fmla="*/ 7144 w 1562100"/>
                <a:gd name="connsiteY89" fmla="*/ 866775 h 1309687"/>
                <a:gd name="connsiteX90" fmla="*/ 0 w 1562100"/>
                <a:gd name="connsiteY90" fmla="*/ 923925 h 1309687"/>
                <a:gd name="connsiteX91" fmla="*/ 23813 w 1562100"/>
                <a:gd name="connsiteY91" fmla="*/ 952500 h 1309687"/>
                <a:gd name="connsiteX92" fmla="*/ 16669 w 1562100"/>
                <a:gd name="connsiteY92" fmla="*/ 992981 h 1309687"/>
                <a:gd name="connsiteX93" fmla="*/ 35719 w 1562100"/>
                <a:gd name="connsiteY93" fmla="*/ 997743 h 1309687"/>
                <a:gd name="connsiteX94" fmla="*/ 69056 w 1562100"/>
                <a:gd name="connsiteY94" fmla="*/ 997743 h 1309687"/>
                <a:gd name="connsiteX95" fmla="*/ 85725 w 1562100"/>
                <a:gd name="connsiteY95" fmla="*/ 988218 h 1309687"/>
                <a:gd name="connsiteX96" fmla="*/ 135731 w 1562100"/>
                <a:gd name="connsiteY96" fmla="*/ 1045368 h 1309687"/>
                <a:gd name="connsiteX97" fmla="*/ 123825 w 1562100"/>
                <a:gd name="connsiteY97" fmla="*/ 1064418 h 1309687"/>
                <a:gd name="connsiteX98" fmla="*/ 133350 w 1562100"/>
                <a:gd name="connsiteY98" fmla="*/ 1092993 h 1309687"/>
                <a:gd name="connsiteX99" fmla="*/ 164306 w 1562100"/>
                <a:gd name="connsiteY99" fmla="*/ 1112043 h 1309687"/>
                <a:gd name="connsiteX100" fmla="*/ 190500 w 1562100"/>
                <a:gd name="connsiteY100" fmla="*/ 1121568 h 1309687"/>
                <a:gd name="connsiteX101" fmla="*/ 216694 w 1562100"/>
                <a:gd name="connsiteY101" fmla="*/ 1128712 h 1309687"/>
                <a:gd name="connsiteX102" fmla="*/ 228600 w 1562100"/>
                <a:gd name="connsiteY102" fmla="*/ 1131093 h 1309687"/>
                <a:gd name="connsiteX103" fmla="*/ 240506 w 1562100"/>
                <a:gd name="connsiteY103" fmla="*/ 1092993 h 1309687"/>
                <a:gd name="connsiteX104" fmla="*/ 269081 w 1562100"/>
                <a:gd name="connsiteY104" fmla="*/ 1097756 h 1309687"/>
                <a:gd name="connsiteX105" fmla="*/ 288131 w 1562100"/>
                <a:gd name="connsiteY105" fmla="*/ 1085850 h 1309687"/>
                <a:gd name="connsiteX106" fmla="*/ 307181 w 1562100"/>
                <a:gd name="connsiteY106" fmla="*/ 1135856 h 1309687"/>
                <a:gd name="connsiteX107" fmla="*/ 330994 w 1562100"/>
                <a:gd name="connsiteY107" fmla="*/ 1150143 h 1309687"/>
                <a:gd name="connsiteX108" fmla="*/ 340519 w 1562100"/>
                <a:gd name="connsiteY108" fmla="*/ 1178718 h 1309687"/>
                <a:gd name="connsiteX109" fmla="*/ 357188 w 1562100"/>
                <a:gd name="connsiteY109" fmla="*/ 1188243 h 1309687"/>
                <a:gd name="connsiteX110" fmla="*/ 364331 w 1562100"/>
                <a:gd name="connsiteY110" fmla="*/ 1219200 h 1309687"/>
                <a:gd name="connsiteX111" fmla="*/ 335756 w 1562100"/>
                <a:gd name="connsiteY111" fmla="*/ 1245393 h 1309687"/>
                <a:gd name="connsiteX112" fmla="*/ 309563 w 1562100"/>
                <a:gd name="connsiteY112" fmla="*/ 1262062 h 1309687"/>
                <a:gd name="connsiteX113" fmla="*/ 297656 w 1562100"/>
                <a:gd name="connsiteY113" fmla="*/ 1285875 h 1309687"/>
                <a:gd name="connsiteX114" fmla="*/ 302419 w 1562100"/>
                <a:gd name="connsiteY114" fmla="*/ 1309687 h 1309687"/>
                <a:gd name="connsiteX115" fmla="*/ 342900 w 1562100"/>
                <a:gd name="connsiteY115" fmla="*/ 1309687 h 1309687"/>
                <a:gd name="connsiteX116" fmla="*/ 390525 w 1562100"/>
                <a:gd name="connsiteY116" fmla="*/ 1304925 h 1309687"/>
                <a:gd name="connsiteX117" fmla="*/ 428625 w 1562100"/>
                <a:gd name="connsiteY117" fmla="*/ 1295400 h 1309687"/>
                <a:gd name="connsiteX118" fmla="*/ 454819 w 1562100"/>
                <a:gd name="connsiteY118" fmla="*/ 1302543 h 1309687"/>
                <a:gd name="connsiteX119" fmla="*/ 473869 w 1562100"/>
                <a:gd name="connsiteY119" fmla="*/ 1281112 h 1309687"/>
                <a:gd name="connsiteX120" fmla="*/ 492919 w 1562100"/>
                <a:gd name="connsiteY120" fmla="*/ 1281112 h 1309687"/>
                <a:gd name="connsiteX121" fmla="*/ 507206 w 1562100"/>
                <a:gd name="connsiteY121" fmla="*/ 1250156 h 1309687"/>
                <a:gd name="connsiteX122" fmla="*/ 557213 w 1562100"/>
                <a:gd name="connsiteY122" fmla="*/ 1235868 h 1309687"/>
                <a:gd name="connsiteX123" fmla="*/ 583406 w 1562100"/>
                <a:gd name="connsiteY123" fmla="*/ 1216818 h 1309687"/>
                <a:gd name="connsiteX124" fmla="*/ 590550 w 1562100"/>
                <a:gd name="connsiteY124" fmla="*/ 1178718 h 1309687"/>
                <a:gd name="connsiteX125" fmla="*/ 607219 w 1562100"/>
                <a:gd name="connsiteY125" fmla="*/ 1152525 h 1309687"/>
                <a:gd name="connsiteX126" fmla="*/ 688181 w 1562100"/>
                <a:gd name="connsiteY126"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57225 w 1562100"/>
                <a:gd name="connsiteY54" fmla="*/ 64294 h 1309687"/>
                <a:gd name="connsiteX55" fmla="*/ 628650 w 1562100"/>
                <a:gd name="connsiteY55" fmla="*/ 88107 h 1309687"/>
                <a:gd name="connsiteX56" fmla="*/ 500062 w 1562100"/>
                <a:gd name="connsiteY56" fmla="*/ 66676 h 1309687"/>
                <a:gd name="connsiteX57" fmla="*/ 450056 w 1562100"/>
                <a:gd name="connsiteY57" fmla="*/ 2382 h 1309687"/>
                <a:gd name="connsiteX58" fmla="*/ 428625 w 1562100"/>
                <a:gd name="connsiteY58" fmla="*/ 0 h 1309687"/>
                <a:gd name="connsiteX59" fmla="*/ 376238 w 1562100"/>
                <a:gd name="connsiteY59" fmla="*/ 104775 h 1309687"/>
                <a:gd name="connsiteX60" fmla="*/ 314326 w 1562100"/>
                <a:gd name="connsiteY60" fmla="*/ 104774 h 1309687"/>
                <a:gd name="connsiteX61" fmla="*/ 328613 w 1562100"/>
                <a:gd name="connsiteY61" fmla="*/ 183356 h 1309687"/>
                <a:gd name="connsiteX62" fmla="*/ 292894 w 1562100"/>
                <a:gd name="connsiteY62" fmla="*/ 285750 h 1309687"/>
                <a:gd name="connsiteX63" fmla="*/ 264319 w 1562100"/>
                <a:gd name="connsiteY63" fmla="*/ 292893 h 1309687"/>
                <a:gd name="connsiteX64" fmla="*/ 261938 w 1562100"/>
                <a:gd name="connsiteY64" fmla="*/ 307181 h 1309687"/>
                <a:gd name="connsiteX65" fmla="*/ 261938 w 1562100"/>
                <a:gd name="connsiteY65" fmla="*/ 340518 h 1309687"/>
                <a:gd name="connsiteX66" fmla="*/ 228600 w 1562100"/>
                <a:gd name="connsiteY66" fmla="*/ 383381 h 1309687"/>
                <a:gd name="connsiteX67" fmla="*/ 271463 w 1562100"/>
                <a:gd name="connsiteY67" fmla="*/ 400050 h 1309687"/>
                <a:gd name="connsiteX68" fmla="*/ 278606 w 1562100"/>
                <a:gd name="connsiteY68" fmla="*/ 419100 h 1309687"/>
                <a:gd name="connsiteX69" fmla="*/ 257175 w 1562100"/>
                <a:gd name="connsiteY69" fmla="*/ 454818 h 1309687"/>
                <a:gd name="connsiteX70" fmla="*/ 221456 w 1562100"/>
                <a:gd name="connsiteY70" fmla="*/ 464343 h 1309687"/>
                <a:gd name="connsiteX71" fmla="*/ 221456 w 1562100"/>
                <a:gd name="connsiteY71" fmla="*/ 504825 h 1309687"/>
                <a:gd name="connsiteX72" fmla="*/ 254794 w 1562100"/>
                <a:gd name="connsiteY72" fmla="*/ 542925 h 1309687"/>
                <a:gd name="connsiteX73" fmla="*/ 226219 w 1562100"/>
                <a:gd name="connsiteY73" fmla="*/ 607218 h 1309687"/>
                <a:gd name="connsiteX74" fmla="*/ 180975 w 1562100"/>
                <a:gd name="connsiteY74" fmla="*/ 635793 h 1309687"/>
                <a:gd name="connsiteX75" fmla="*/ 183356 w 1562100"/>
                <a:gd name="connsiteY75" fmla="*/ 652462 h 1309687"/>
                <a:gd name="connsiteX76" fmla="*/ 204788 w 1562100"/>
                <a:gd name="connsiteY76" fmla="*/ 661987 h 1309687"/>
                <a:gd name="connsiteX77" fmla="*/ 219075 w 1562100"/>
                <a:gd name="connsiteY77" fmla="*/ 671512 h 1309687"/>
                <a:gd name="connsiteX78" fmla="*/ 223838 w 1562100"/>
                <a:gd name="connsiteY78" fmla="*/ 690562 h 1309687"/>
                <a:gd name="connsiteX79" fmla="*/ 195263 w 1562100"/>
                <a:gd name="connsiteY79" fmla="*/ 716756 h 1309687"/>
                <a:gd name="connsiteX80" fmla="*/ 123825 w 1562100"/>
                <a:gd name="connsiteY80" fmla="*/ 762000 h 1309687"/>
                <a:gd name="connsiteX81" fmla="*/ 123825 w 1562100"/>
                <a:gd name="connsiteY81" fmla="*/ 797718 h 1309687"/>
                <a:gd name="connsiteX82" fmla="*/ 135731 w 1562100"/>
                <a:gd name="connsiteY82" fmla="*/ 828675 h 1309687"/>
                <a:gd name="connsiteX83" fmla="*/ 123825 w 1562100"/>
                <a:gd name="connsiteY83" fmla="*/ 869156 h 1309687"/>
                <a:gd name="connsiteX84" fmla="*/ 76200 w 1562100"/>
                <a:gd name="connsiteY84" fmla="*/ 864393 h 1309687"/>
                <a:gd name="connsiteX85" fmla="*/ 52388 w 1562100"/>
                <a:gd name="connsiteY85" fmla="*/ 809625 h 1309687"/>
                <a:gd name="connsiteX86" fmla="*/ 33338 w 1562100"/>
                <a:gd name="connsiteY86" fmla="*/ 802481 h 1309687"/>
                <a:gd name="connsiteX87" fmla="*/ 23813 w 1562100"/>
                <a:gd name="connsiteY87" fmla="*/ 840581 h 1309687"/>
                <a:gd name="connsiteX88" fmla="*/ 21431 w 1562100"/>
                <a:gd name="connsiteY88" fmla="*/ 850106 h 1309687"/>
                <a:gd name="connsiteX89" fmla="*/ 7144 w 1562100"/>
                <a:gd name="connsiteY89" fmla="*/ 866775 h 1309687"/>
                <a:gd name="connsiteX90" fmla="*/ 0 w 1562100"/>
                <a:gd name="connsiteY90" fmla="*/ 923925 h 1309687"/>
                <a:gd name="connsiteX91" fmla="*/ 23813 w 1562100"/>
                <a:gd name="connsiteY91" fmla="*/ 952500 h 1309687"/>
                <a:gd name="connsiteX92" fmla="*/ 16669 w 1562100"/>
                <a:gd name="connsiteY92" fmla="*/ 992981 h 1309687"/>
                <a:gd name="connsiteX93" fmla="*/ 35719 w 1562100"/>
                <a:gd name="connsiteY93" fmla="*/ 997743 h 1309687"/>
                <a:gd name="connsiteX94" fmla="*/ 69056 w 1562100"/>
                <a:gd name="connsiteY94" fmla="*/ 997743 h 1309687"/>
                <a:gd name="connsiteX95" fmla="*/ 85725 w 1562100"/>
                <a:gd name="connsiteY95" fmla="*/ 988218 h 1309687"/>
                <a:gd name="connsiteX96" fmla="*/ 135731 w 1562100"/>
                <a:gd name="connsiteY96" fmla="*/ 1045368 h 1309687"/>
                <a:gd name="connsiteX97" fmla="*/ 123825 w 1562100"/>
                <a:gd name="connsiteY97" fmla="*/ 1064418 h 1309687"/>
                <a:gd name="connsiteX98" fmla="*/ 133350 w 1562100"/>
                <a:gd name="connsiteY98" fmla="*/ 1092993 h 1309687"/>
                <a:gd name="connsiteX99" fmla="*/ 164306 w 1562100"/>
                <a:gd name="connsiteY99" fmla="*/ 1112043 h 1309687"/>
                <a:gd name="connsiteX100" fmla="*/ 190500 w 1562100"/>
                <a:gd name="connsiteY100" fmla="*/ 1121568 h 1309687"/>
                <a:gd name="connsiteX101" fmla="*/ 216694 w 1562100"/>
                <a:gd name="connsiteY101" fmla="*/ 1128712 h 1309687"/>
                <a:gd name="connsiteX102" fmla="*/ 228600 w 1562100"/>
                <a:gd name="connsiteY102" fmla="*/ 1131093 h 1309687"/>
                <a:gd name="connsiteX103" fmla="*/ 240506 w 1562100"/>
                <a:gd name="connsiteY103" fmla="*/ 1092993 h 1309687"/>
                <a:gd name="connsiteX104" fmla="*/ 269081 w 1562100"/>
                <a:gd name="connsiteY104" fmla="*/ 1097756 h 1309687"/>
                <a:gd name="connsiteX105" fmla="*/ 288131 w 1562100"/>
                <a:gd name="connsiteY105" fmla="*/ 1085850 h 1309687"/>
                <a:gd name="connsiteX106" fmla="*/ 307181 w 1562100"/>
                <a:gd name="connsiteY106" fmla="*/ 1135856 h 1309687"/>
                <a:gd name="connsiteX107" fmla="*/ 330994 w 1562100"/>
                <a:gd name="connsiteY107" fmla="*/ 1150143 h 1309687"/>
                <a:gd name="connsiteX108" fmla="*/ 340519 w 1562100"/>
                <a:gd name="connsiteY108" fmla="*/ 1178718 h 1309687"/>
                <a:gd name="connsiteX109" fmla="*/ 357188 w 1562100"/>
                <a:gd name="connsiteY109" fmla="*/ 1188243 h 1309687"/>
                <a:gd name="connsiteX110" fmla="*/ 364331 w 1562100"/>
                <a:gd name="connsiteY110" fmla="*/ 1219200 h 1309687"/>
                <a:gd name="connsiteX111" fmla="*/ 335756 w 1562100"/>
                <a:gd name="connsiteY111" fmla="*/ 1245393 h 1309687"/>
                <a:gd name="connsiteX112" fmla="*/ 309563 w 1562100"/>
                <a:gd name="connsiteY112" fmla="*/ 1262062 h 1309687"/>
                <a:gd name="connsiteX113" fmla="*/ 297656 w 1562100"/>
                <a:gd name="connsiteY113" fmla="*/ 1285875 h 1309687"/>
                <a:gd name="connsiteX114" fmla="*/ 302419 w 1562100"/>
                <a:gd name="connsiteY114" fmla="*/ 1309687 h 1309687"/>
                <a:gd name="connsiteX115" fmla="*/ 342900 w 1562100"/>
                <a:gd name="connsiteY115" fmla="*/ 1309687 h 1309687"/>
                <a:gd name="connsiteX116" fmla="*/ 390525 w 1562100"/>
                <a:gd name="connsiteY116" fmla="*/ 1304925 h 1309687"/>
                <a:gd name="connsiteX117" fmla="*/ 428625 w 1562100"/>
                <a:gd name="connsiteY117" fmla="*/ 1295400 h 1309687"/>
                <a:gd name="connsiteX118" fmla="*/ 454819 w 1562100"/>
                <a:gd name="connsiteY118" fmla="*/ 1302543 h 1309687"/>
                <a:gd name="connsiteX119" fmla="*/ 473869 w 1562100"/>
                <a:gd name="connsiteY119" fmla="*/ 1281112 h 1309687"/>
                <a:gd name="connsiteX120" fmla="*/ 492919 w 1562100"/>
                <a:gd name="connsiteY120" fmla="*/ 1281112 h 1309687"/>
                <a:gd name="connsiteX121" fmla="*/ 507206 w 1562100"/>
                <a:gd name="connsiteY121" fmla="*/ 1250156 h 1309687"/>
                <a:gd name="connsiteX122" fmla="*/ 557213 w 1562100"/>
                <a:gd name="connsiteY122" fmla="*/ 1235868 h 1309687"/>
                <a:gd name="connsiteX123" fmla="*/ 583406 w 1562100"/>
                <a:gd name="connsiteY123" fmla="*/ 1216818 h 1309687"/>
                <a:gd name="connsiteX124" fmla="*/ 590550 w 1562100"/>
                <a:gd name="connsiteY124" fmla="*/ 1178718 h 1309687"/>
                <a:gd name="connsiteX125" fmla="*/ 607219 w 1562100"/>
                <a:gd name="connsiteY125" fmla="*/ 1152525 h 1309687"/>
                <a:gd name="connsiteX126" fmla="*/ 688181 w 1562100"/>
                <a:gd name="connsiteY126"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71513 w 1562100"/>
                <a:gd name="connsiteY54" fmla="*/ 92869 h 1309687"/>
                <a:gd name="connsiteX55" fmla="*/ 657225 w 1562100"/>
                <a:gd name="connsiteY55" fmla="*/ 64294 h 1309687"/>
                <a:gd name="connsiteX56" fmla="*/ 628650 w 1562100"/>
                <a:gd name="connsiteY56" fmla="*/ 88107 h 1309687"/>
                <a:gd name="connsiteX57" fmla="*/ 500062 w 1562100"/>
                <a:gd name="connsiteY57" fmla="*/ 66676 h 1309687"/>
                <a:gd name="connsiteX58" fmla="*/ 450056 w 1562100"/>
                <a:gd name="connsiteY58" fmla="*/ 2382 h 1309687"/>
                <a:gd name="connsiteX59" fmla="*/ 428625 w 1562100"/>
                <a:gd name="connsiteY59" fmla="*/ 0 h 1309687"/>
                <a:gd name="connsiteX60" fmla="*/ 376238 w 1562100"/>
                <a:gd name="connsiteY60" fmla="*/ 104775 h 1309687"/>
                <a:gd name="connsiteX61" fmla="*/ 314326 w 1562100"/>
                <a:gd name="connsiteY61" fmla="*/ 104774 h 1309687"/>
                <a:gd name="connsiteX62" fmla="*/ 328613 w 1562100"/>
                <a:gd name="connsiteY62" fmla="*/ 183356 h 1309687"/>
                <a:gd name="connsiteX63" fmla="*/ 292894 w 1562100"/>
                <a:gd name="connsiteY63" fmla="*/ 285750 h 1309687"/>
                <a:gd name="connsiteX64" fmla="*/ 264319 w 1562100"/>
                <a:gd name="connsiteY64" fmla="*/ 292893 h 1309687"/>
                <a:gd name="connsiteX65" fmla="*/ 261938 w 1562100"/>
                <a:gd name="connsiteY65" fmla="*/ 307181 h 1309687"/>
                <a:gd name="connsiteX66" fmla="*/ 261938 w 1562100"/>
                <a:gd name="connsiteY66" fmla="*/ 340518 h 1309687"/>
                <a:gd name="connsiteX67" fmla="*/ 228600 w 1562100"/>
                <a:gd name="connsiteY67" fmla="*/ 383381 h 1309687"/>
                <a:gd name="connsiteX68" fmla="*/ 271463 w 1562100"/>
                <a:gd name="connsiteY68" fmla="*/ 400050 h 1309687"/>
                <a:gd name="connsiteX69" fmla="*/ 278606 w 1562100"/>
                <a:gd name="connsiteY69" fmla="*/ 419100 h 1309687"/>
                <a:gd name="connsiteX70" fmla="*/ 257175 w 1562100"/>
                <a:gd name="connsiteY70" fmla="*/ 454818 h 1309687"/>
                <a:gd name="connsiteX71" fmla="*/ 221456 w 1562100"/>
                <a:gd name="connsiteY71" fmla="*/ 464343 h 1309687"/>
                <a:gd name="connsiteX72" fmla="*/ 221456 w 1562100"/>
                <a:gd name="connsiteY72" fmla="*/ 504825 h 1309687"/>
                <a:gd name="connsiteX73" fmla="*/ 254794 w 1562100"/>
                <a:gd name="connsiteY73" fmla="*/ 542925 h 1309687"/>
                <a:gd name="connsiteX74" fmla="*/ 226219 w 1562100"/>
                <a:gd name="connsiteY74" fmla="*/ 607218 h 1309687"/>
                <a:gd name="connsiteX75" fmla="*/ 180975 w 1562100"/>
                <a:gd name="connsiteY75" fmla="*/ 635793 h 1309687"/>
                <a:gd name="connsiteX76" fmla="*/ 183356 w 1562100"/>
                <a:gd name="connsiteY76" fmla="*/ 652462 h 1309687"/>
                <a:gd name="connsiteX77" fmla="*/ 204788 w 1562100"/>
                <a:gd name="connsiteY77" fmla="*/ 661987 h 1309687"/>
                <a:gd name="connsiteX78" fmla="*/ 219075 w 1562100"/>
                <a:gd name="connsiteY78" fmla="*/ 671512 h 1309687"/>
                <a:gd name="connsiteX79" fmla="*/ 223838 w 1562100"/>
                <a:gd name="connsiteY79" fmla="*/ 690562 h 1309687"/>
                <a:gd name="connsiteX80" fmla="*/ 195263 w 1562100"/>
                <a:gd name="connsiteY80" fmla="*/ 716756 h 1309687"/>
                <a:gd name="connsiteX81" fmla="*/ 123825 w 1562100"/>
                <a:gd name="connsiteY81" fmla="*/ 762000 h 1309687"/>
                <a:gd name="connsiteX82" fmla="*/ 123825 w 1562100"/>
                <a:gd name="connsiteY82" fmla="*/ 797718 h 1309687"/>
                <a:gd name="connsiteX83" fmla="*/ 135731 w 1562100"/>
                <a:gd name="connsiteY83" fmla="*/ 828675 h 1309687"/>
                <a:gd name="connsiteX84" fmla="*/ 123825 w 1562100"/>
                <a:gd name="connsiteY84" fmla="*/ 869156 h 1309687"/>
                <a:gd name="connsiteX85" fmla="*/ 76200 w 1562100"/>
                <a:gd name="connsiteY85" fmla="*/ 864393 h 1309687"/>
                <a:gd name="connsiteX86" fmla="*/ 52388 w 1562100"/>
                <a:gd name="connsiteY86" fmla="*/ 809625 h 1309687"/>
                <a:gd name="connsiteX87" fmla="*/ 33338 w 1562100"/>
                <a:gd name="connsiteY87" fmla="*/ 802481 h 1309687"/>
                <a:gd name="connsiteX88" fmla="*/ 23813 w 1562100"/>
                <a:gd name="connsiteY88" fmla="*/ 840581 h 1309687"/>
                <a:gd name="connsiteX89" fmla="*/ 21431 w 1562100"/>
                <a:gd name="connsiteY89" fmla="*/ 850106 h 1309687"/>
                <a:gd name="connsiteX90" fmla="*/ 7144 w 1562100"/>
                <a:gd name="connsiteY90" fmla="*/ 866775 h 1309687"/>
                <a:gd name="connsiteX91" fmla="*/ 0 w 1562100"/>
                <a:gd name="connsiteY91" fmla="*/ 923925 h 1309687"/>
                <a:gd name="connsiteX92" fmla="*/ 23813 w 1562100"/>
                <a:gd name="connsiteY92" fmla="*/ 952500 h 1309687"/>
                <a:gd name="connsiteX93" fmla="*/ 16669 w 1562100"/>
                <a:gd name="connsiteY93" fmla="*/ 992981 h 1309687"/>
                <a:gd name="connsiteX94" fmla="*/ 35719 w 1562100"/>
                <a:gd name="connsiteY94" fmla="*/ 997743 h 1309687"/>
                <a:gd name="connsiteX95" fmla="*/ 69056 w 1562100"/>
                <a:gd name="connsiteY95" fmla="*/ 997743 h 1309687"/>
                <a:gd name="connsiteX96" fmla="*/ 85725 w 1562100"/>
                <a:gd name="connsiteY96" fmla="*/ 988218 h 1309687"/>
                <a:gd name="connsiteX97" fmla="*/ 135731 w 1562100"/>
                <a:gd name="connsiteY97" fmla="*/ 1045368 h 1309687"/>
                <a:gd name="connsiteX98" fmla="*/ 123825 w 1562100"/>
                <a:gd name="connsiteY98" fmla="*/ 1064418 h 1309687"/>
                <a:gd name="connsiteX99" fmla="*/ 133350 w 1562100"/>
                <a:gd name="connsiteY99" fmla="*/ 1092993 h 1309687"/>
                <a:gd name="connsiteX100" fmla="*/ 164306 w 1562100"/>
                <a:gd name="connsiteY100" fmla="*/ 1112043 h 1309687"/>
                <a:gd name="connsiteX101" fmla="*/ 190500 w 1562100"/>
                <a:gd name="connsiteY101" fmla="*/ 1121568 h 1309687"/>
                <a:gd name="connsiteX102" fmla="*/ 216694 w 1562100"/>
                <a:gd name="connsiteY102" fmla="*/ 1128712 h 1309687"/>
                <a:gd name="connsiteX103" fmla="*/ 228600 w 1562100"/>
                <a:gd name="connsiteY103" fmla="*/ 1131093 h 1309687"/>
                <a:gd name="connsiteX104" fmla="*/ 240506 w 1562100"/>
                <a:gd name="connsiteY104" fmla="*/ 1092993 h 1309687"/>
                <a:gd name="connsiteX105" fmla="*/ 269081 w 1562100"/>
                <a:gd name="connsiteY105" fmla="*/ 1097756 h 1309687"/>
                <a:gd name="connsiteX106" fmla="*/ 288131 w 1562100"/>
                <a:gd name="connsiteY106" fmla="*/ 1085850 h 1309687"/>
                <a:gd name="connsiteX107" fmla="*/ 307181 w 1562100"/>
                <a:gd name="connsiteY107" fmla="*/ 1135856 h 1309687"/>
                <a:gd name="connsiteX108" fmla="*/ 330994 w 1562100"/>
                <a:gd name="connsiteY108" fmla="*/ 1150143 h 1309687"/>
                <a:gd name="connsiteX109" fmla="*/ 340519 w 1562100"/>
                <a:gd name="connsiteY109" fmla="*/ 1178718 h 1309687"/>
                <a:gd name="connsiteX110" fmla="*/ 357188 w 1562100"/>
                <a:gd name="connsiteY110" fmla="*/ 1188243 h 1309687"/>
                <a:gd name="connsiteX111" fmla="*/ 364331 w 1562100"/>
                <a:gd name="connsiteY111" fmla="*/ 1219200 h 1309687"/>
                <a:gd name="connsiteX112" fmla="*/ 335756 w 1562100"/>
                <a:gd name="connsiteY112" fmla="*/ 1245393 h 1309687"/>
                <a:gd name="connsiteX113" fmla="*/ 309563 w 1562100"/>
                <a:gd name="connsiteY113" fmla="*/ 1262062 h 1309687"/>
                <a:gd name="connsiteX114" fmla="*/ 297656 w 1562100"/>
                <a:gd name="connsiteY114" fmla="*/ 1285875 h 1309687"/>
                <a:gd name="connsiteX115" fmla="*/ 302419 w 1562100"/>
                <a:gd name="connsiteY115" fmla="*/ 1309687 h 1309687"/>
                <a:gd name="connsiteX116" fmla="*/ 342900 w 1562100"/>
                <a:gd name="connsiteY116" fmla="*/ 1309687 h 1309687"/>
                <a:gd name="connsiteX117" fmla="*/ 390525 w 1562100"/>
                <a:gd name="connsiteY117" fmla="*/ 1304925 h 1309687"/>
                <a:gd name="connsiteX118" fmla="*/ 428625 w 1562100"/>
                <a:gd name="connsiteY118" fmla="*/ 1295400 h 1309687"/>
                <a:gd name="connsiteX119" fmla="*/ 454819 w 1562100"/>
                <a:gd name="connsiteY119" fmla="*/ 1302543 h 1309687"/>
                <a:gd name="connsiteX120" fmla="*/ 473869 w 1562100"/>
                <a:gd name="connsiteY120" fmla="*/ 1281112 h 1309687"/>
                <a:gd name="connsiteX121" fmla="*/ 492919 w 1562100"/>
                <a:gd name="connsiteY121" fmla="*/ 1281112 h 1309687"/>
                <a:gd name="connsiteX122" fmla="*/ 507206 w 1562100"/>
                <a:gd name="connsiteY122" fmla="*/ 1250156 h 1309687"/>
                <a:gd name="connsiteX123" fmla="*/ 557213 w 1562100"/>
                <a:gd name="connsiteY123" fmla="*/ 1235868 h 1309687"/>
                <a:gd name="connsiteX124" fmla="*/ 583406 w 1562100"/>
                <a:gd name="connsiteY124" fmla="*/ 1216818 h 1309687"/>
                <a:gd name="connsiteX125" fmla="*/ 590550 w 1562100"/>
                <a:gd name="connsiteY125" fmla="*/ 1178718 h 1309687"/>
                <a:gd name="connsiteX126" fmla="*/ 607219 w 1562100"/>
                <a:gd name="connsiteY126" fmla="*/ 1152525 h 1309687"/>
                <a:gd name="connsiteX127" fmla="*/ 688181 w 1562100"/>
                <a:gd name="connsiteY127"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704851 w 1562100"/>
                <a:gd name="connsiteY54" fmla="*/ 92869 h 1309687"/>
                <a:gd name="connsiteX55" fmla="*/ 657225 w 1562100"/>
                <a:gd name="connsiteY55" fmla="*/ 64294 h 1309687"/>
                <a:gd name="connsiteX56" fmla="*/ 628650 w 1562100"/>
                <a:gd name="connsiteY56" fmla="*/ 88107 h 1309687"/>
                <a:gd name="connsiteX57" fmla="*/ 500062 w 1562100"/>
                <a:gd name="connsiteY57" fmla="*/ 66676 h 1309687"/>
                <a:gd name="connsiteX58" fmla="*/ 450056 w 1562100"/>
                <a:gd name="connsiteY58" fmla="*/ 2382 h 1309687"/>
                <a:gd name="connsiteX59" fmla="*/ 428625 w 1562100"/>
                <a:gd name="connsiteY59" fmla="*/ 0 h 1309687"/>
                <a:gd name="connsiteX60" fmla="*/ 376238 w 1562100"/>
                <a:gd name="connsiteY60" fmla="*/ 104775 h 1309687"/>
                <a:gd name="connsiteX61" fmla="*/ 314326 w 1562100"/>
                <a:gd name="connsiteY61" fmla="*/ 104774 h 1309687"/>
                <a:gd name="connsiteX62" fmla="*/ 328613 w 1562100"/>
                <a:gd name="connsiteY62" fmla="*/ 183356 h 1309687"/>
                <a:gd name="connsiteX63" fmla="*/ 292894 w 1562100"/>
                <a:gd name="connsiteY63" fmla="*/ 285750 h 1309687"/>
                <a:gd name="connsiteX64" fmla="*/ 264319 w 1562100"/>
                <a:gd name="connsiteY64" fmla="*/ 292893 h 1309687"/>
                <a:gd name="connsiteX65" fmla="*/ 261938 w 1562100"/>
                <a:gd name="connsiteY65" fmla="*/ 307181 h 1309687"/>
                <a:gd name="connsiteX66" fmla="*/ 261938 w 1562100"/>
                <a:gd name="connsiteY66" fmla="*/ 340518 h 1309687"/>
                <a:gd name="connsiteX67" fmla="*/ 228600 w 1562100"/>
                <a:gd name="connsiteY67" fmla="*/ 383381 h 1309687"/>
                <a:gd name="connsiteX68" fmla="*/ 271463 w 1562100"/>
                <a:gd name="connsiteY68" fmla="*/ 400050 h 1309687"/>
                <a:gd name="connsiteX69" fmla="*/ 278606 w 1562100"/>
                <a:gd name="connsiteY69" fmla="*/ 419100 h 1309687"/>
                <a:gd name="connsiteX70" fmla="*/ 257175 w 1562100"/>
                <a:gd name="connsiteY70" fmla="*/ 454818 h 1309687"/>
                <a:gd name="connsiteX71" fmla="*/ 221456 w 1562100"/>
                <a:gd name="connsiteY71" fmla="*/ 464343 h 1309687"/>
                <a:gd name="connsiteX72" fmla="*/ 221456 w 1562100"/>
                <a:gd name="connsiteY72" fmla="*/ 504825 h 1309687"/>
                <a:gd name="connsiteX73" fmla="*/ 254794 w 1562100"/>
                <a:gd name="connsiteY73" fmla="*/ 542925 h 1309687"/>
                <a:gd name="connsiteX74" fmla="*/ 226219 w 1562100"/>
                <a:gd name="connsiteY74" fmla="*/ 607218 h 1309687"/>
                <a:gd name="connsiteX75" fmla="*/ 180975 w 1562100"/>
                <a:gd name="connsiteY75" fmla="*/ 635793 h 1309687"/>
                <a:gd name="connsiteX76" fmla="*/ 183356 w 1562100"/>
                <a:gd name="connsiteY76" fmla="*/ 652462 h 1309687"/>
                <a:gd name="connsiteX77" fmla="*/ 204788 w 1562100"/>
                <a:gd name="connsiteY77" fmla="*/ 661987 h 1309687"/>
                <a:gd name="connsiteX78" fmla="*/ 219075 w 1562100"/>
                <a:gd name="connsiteY78" fmla="*/ 671512 h 1309687"/>
                <a:gd name="connsiteX79" fmla="*/ 223838 w 1562100"/>
                <a:gd name="connsiteY79" fmla="*/ 690562 h 1309687"/>
                <a:gd name="connsiteX80" fmla="*/ 195263 w 1562100"/>
                <a:gd name="connsiteY80" fmla="*/ 716756 h 1309687"/>
                <a:gd name="connsiteX81" fmla="*/ 123825 w 1562100"/>
                <a:gd name="connsiteY81" fmla="*/ 762000 h 1309687"/>
                <a:gd name="connsiteX82" fmla="*/ 123825 w 1562100"/>
                <a:gd name="connsiteY82" fmla="*/ 797718 h 1309687"/>
                <a:gd name="connsiteX83" fmla="*/ 135731 w 1562100"/>
                <a:gd name="connsiteY83" fmla="*/ 828675 h 1309687"/>
                <a:gd name="connsiteX84" fmla="*/ 123825 w 1562100"/>
                <a:gd name="connsiteY84" fmla="*/ 869156 h 1309687"/>
                <a:gd name="connsiteX85" fmla="*/ 76200 w 1562100"/>
                <a:gd name="connsiteY85" fmla="*/ 864393 h 1309687"/>
                <a:gd name="connsiteX86" fmla="*/ 52388 w 1562100"/>
                <a:gd name="connsiteY86" fmla="*/ 809625 h 1309687"/>
                <a:gd name="connsiteX87" fmla="*/ 33338 w 1562100"/>
                <a:gd name="connsiteY87" fmla="*/ 802481 h 1309687"/>
                <a:gd name="connsiteX88" fmla="*/ 23813 w 1562100"/>
                <a:gd name="connsiteY88" fmla="*/ 840581 h 1309687"/>
                <a:gd name="connsiteX89" fmla="*/ 21431 w 1562100"/>
                <a:gd name="connsiteY89" fmla="*/ 850106 h 1309687"/>
                <a:gd name="connsiteX90" fmla="*/ 7144 w 1562100"/>
                <a:gd name="connsiteY90" fmla="*/ 866775 h 1309687"/>
                <a:gd name="connsiteX91" fmla="*/ 0 w 1562100"/>
                <a:gd name="connsiteY91" fmla="*/ 923925 h 1309687"/>
                <a:gd name="connsiteX92" fmla="*/ 23813 w 1562100"/>
                <a:gd name="connsiteY92" fmla="*/ 952500 h 1309687"/>
                <a:gd name="connsiteX93" fmla="*/ 16669 w 1562100"/>
                <a:gd name="connsiteY93" fmla="*/ 992981 h 1309687"/>
                <a:gd name="connsiteX94" fmla="*/ 35719 w 1562100"/>
                <a:gd name="connsiteY94" fmla="*/ 997743 h 1309687"/>
                <a:gd name="connsiteX95" fmla="*/ 69056 w 1562100"/>
                <a:gd name="connsiteY95" fmla="*/ 997743 h 1309687"/>
                <a:gd name="connsiteX96" fmla="*/ 85725 w 1562100"/>
                <a:gd name="connsiteY96" fmla="*/ 988218 h 1309687"/>
                <a:gd name="connsiteX97" fmla="*/ 135731 w 1562100"/>
                <a:gd name="connsiteY97" fmla="*/ 1045368 h 1309687"/>
                <a:gd name="connsiteX98" fmla="*/ 123825 w 1562100"/>
                <a:gd name="connsiteY98" fmla="*/ 1064418 h 1309687"/>
                <a:gd name="connsiteX99" fmla="*/ 133350 w 1562100"/>
                <a:gd name="connsiteY99" fmla="*/ 1092993 h 1309687"/>
                <a:gd name="connsiteX100" fmla="*/ 164306 w 1562100"/>
                <a:gd name="connsiteY100" fmla="*/ 1112043 h 1309687"/>
                <a:gd name="connsiteX101" fmla="*/ 190500 w 1562100"/>
                <a:gd name="connsiteY101" fmla="*/ 1121568 h 1309687"/>
                <a:gd name="connsiteX102" fmla="*/ 216694 w 1562100"/>
                <a:gd name="connsiteY102" fmla="*/ 1128712 h 1309687"/>
                <a:gd name="connsiteX103" fmla="*/ 228600 w 1562100"/>
                <a:gd name="connsiteY103" fmla="*/ 1131093 h 1309687"/>
                <a:gd name="connsiteX104" fmla="*/ 240506 w 1562100"/>
                <a:gd name="connsiteY104" fmla="*/ 1092993 h 1309687"/>
                <a:gd name="connsiteX105" fmla="*/ 269081 w 1562100"/>
                <a:gd name="connsiteY105" fmla="*/ 1097756 h 1309687"/>
                <a:gd name="connsiteX106" fmla="*/ 288131 w 1562100"/>
                <a:gd name="connsiteY106" fmla="*/ 1085850 h 1309687"/>
                <a:gd name="connsiteX107" fmla="*/ 307181 w 1562100"/>
                <a:gd name="connsiteY107" fmla="*/ 1135856 h 1309687"/>
                <a:gd name="connsiteX108" fmla="*/ 330994 w 1562100"/>
                <a:gd name="connsiteY108" fmla="*/ 1150143 h 1309687"/>
                <a:gd name="connsiteX109" fmla="*/ 340519 w 1562100"/>
                <a:gd name="connsiteY109" fmla="*/ 1178718 h 1309687"/>
                <a:gd name="connsiteX110" fmla="*/ 357188 w 1562100"/>
                <a:gd name="connsiteY110" fmla="*/ 1188243 h 1309687"/>
                <a:gd name="connsiteX111" fmla="*/ 364331 w 1562100"/>
                <a:gd name="connsiteY111" fmla="*/ 1219200 h 1309687"/>
                <a:gd name="connsiteX112" fmla="*/ 335756 w 1562100"/>
                <a:gd name="connsiteY112" fmla="*/ 1245393 h 1309687"/>
                <a:gd name="connsiteX113" fmla="*/ 309563 w 1562100"/>
                <a:gd name="connsiteY113" fmla="*/ 1262062 h 1309687"/>
                <a:gd name="connsiteX114" fmla="*/ 297656 w 1562100"/>
                <a:gd name="connsiteY114" fmla="*/ 1285875 h 1309687"/>
                <a:gd name="connsiteX115" fmla="*/ 302419 w 1562100"/>
                <a:gd name="connsiteY115" fmla="*/ 1309687 h 1309687"/>
                <a:gd name="connsiteX116" fmla="*/ 342900 w 1562100"/>
                <a:gd name="connsiteY116" fmla="*/ 1309687 h 1309687"/>
                <a:gd name="connsiteX117" fmla="*/ 390525 w 1562100"/>
                <a:gd name="connsiteY117" fmla="*/ 1304925 h 1309687"/>
                <a:gd name="connsiteX118" fmla="*/ 428625 w 1562100"/>
                <a:gd name="connsiteY118" fmla="*/ 1295400 h 1309687"/>
                <a:gd name="connsiteX119" fmla="*/ 454819 w 1562100"/>
                <a:gd name="connsiteY119" fmla="*/ 1302543 h 1309687"/>
                <a:gd name="connsiteX120" fmla="*/ 473869 w 1562100"/>
                <a:gd name="connsiteY120" fmla="*/ 1281112 h 1309687"/>
                <a:gd name="connsiteX121" fmla="*/ 492919 w 1562100"/>
                <a:gd name="connsiteY121" fmla="*/ 1281112 h 1309687"/>
                <a:gd name="connsiteX122" fmla="*/ 507206 w 1562100"/>
                <a:gd name="connsiteY122" fmla="*/ 1250156 h 1309687"/>
                <a:gd name="connsiteX123" fmla="*/ 557213 w 1562100"/>
                <a:gd name="connsiteY123" fmla="*/ 1235868 h 1309687"/>
                <a:gd name="connsiteX124" fmla="*/ 583406 w 1562100"/>
                <a:gd name="connsiteY124" fmla="*/ 1216818 h 1309687"/>
                <a:gd name="connsiteX125" fmla="*/ 590550 w 1562100"/>
                <a:gd name="connsiteY125" fmla="*/ 1178718 h 1309687"/>
                <a:gd name="connsiteX126" fmla="*/ 607219 w 1562100"/>
                <a:gd name="connsiteY126" fmla="*/ 1152525 h 1309687"/>
                <a:gd name="connsiteX127" fmla="*/ 688181 w 1562100"/>
                <a:gd name="connsiteY127"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702469 w 1562100"/>
                <a:gd name="connsiteY54" fmla="*/ 152401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702469 w 1562100"/>
                <a:gd name="connsiteY54" fmla="*/ 152401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81038 w 1562100"/>
                <a:gd name="connsiteY54" fmla="*/ 157164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81038 w 1562100"/>
                <a:gd name="connsiteY54" fmla="*/ 157164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692944 w 1562100"/>
                <a:gd name="connsiteY54" fmla="*/ 157164 h 1309687"/>
                <a:gd name="connsiteX55" fmla="*/ 704851 w 1562100"/>
                <a:gd name="connsiteY55" fmla="*/ 92869 h 1309687"/>
                <a:gd name="connsiteX56" fmla="*/ 657225 w 1562100"/>
                <a:gd name="connsiteY56" fmla="*/ 64294 h 1309687"/>
                <a:gd name="connsiteX57" fmla="*/ 628650 w 1562100"/>
                <a:gd name="connsiteY57" fmla="*/ 88107 h 1309687"/>
                <a:gd name="connsiteX58" fmla="*/ 500062 w 1562100"/>
                <a:gd name="connsiteY58" fmla="*/ 66676 h 1309687"/>
                <a:gd name="connsiteX59" fmla="*/ 450056 w 1562100"/>
                <a:gd name="connsiteY59" fmla="*/ 2382 h 1309687"/>
                <a:gd name="connsiteX60" fmla="*/ 428625 w 1562100"/>
                <a:gd name="connsiteY60" fmla="*/ 0 h 1309687"/>
                <a:gd name="connsiteX61" fmla="*/ 376238 w 1562100"/>
                <a:gd name="connsiteY61" fmla="*/ 104775 h 1309687"/>
                <a:gd name="connsiteX62" fmla="*/ 314326 w 1562100"/>
                <a:gd name="connsiteY62" fmla="*/ 104774 h 1309687"/>
                <a:gd name="connsiteX63" fmla="*/ 328613 w 1562100"/>
                <a:gd name="connsiteY63" fmla="*/ 183356 h 1309687"/>
                <a:gd name="connsiteX64" fmla="*/ 292894 w 1562100"/>
                <a:gd name="connsiteY64" fmla="*/ 285750 h 1309687"/>
                <a:gd name="connsiteX65" fmla="*/ 264319 w 1562100"/>
                <a:gd name="connsiteY65" fmla="*/ 292893 h 1309687"/>
                <a:gd name="connsiteX66" fmla="*/ 261938 w 1562100"/>
                <a:gd name="connsiteY66" fmla="*/ 307181 h 1309687"/>
                <a:gd name="connsiteX67" fmla="*/ 261938 w 1562100"/>
                <a:gd name="connsiteY67" fmla="*/ 340518 h 1309687"/>
                <a:gd name="connsiteX68" fmla="*/ 228600 w 1562100"/>
                <a:gd name="connsiteY68" fmla="*/ 383381 h 1309687"/>
                <a:gd name="connsiteX69" fmla="*/ 271463 w 1562100"/>
                <a:gd name="connsiteY69" fmla="*/ 400050 h 1309687"/>
                <a:gd name="connsiteX70" fmla="*/ 278606 w 1562100"/>
                <a:gd name="connsiteY70" fmla="*/ 419100 h 1309687"/>
                <a:gd name="connsiteX71" fmla="*/ 257175 w 1562100"/>
                <a:gd name="connsiteY71" fmla="*/ 454818 h 1309687"/>
                <a:gd name="connsiteX72" fmla="*/ 221456 w 1562100"/>
                <a:gd name="connsiteY72" fmla="*/ 464343 h 1309687"/>
                <a:gd name="connsiteX73" fmla="*/ 221456 w 1562100"/>
                <a:gd name="connsiteY73" fmla="*/ 504825 h 1309687"/>
                <a:gd name="connsiteX74" fmla="*/ 254794 w 1562100"/>
                <a:gd name="connsiteY74" fmla="*/ 542925 h 1309687"/>
                <a:gd name="connsiteX75" fmla="*/ 226219 w 1562100"/>
                <a:gd name="connsiteY75" fmla="*/ 607218 h 1309687"/>
                <a:gd name="connsiteX76" fmla="*/ 180975 w 1562100"/>
                <a:gd name="connsiteY76" fmla="*/ 635793 h 1309687"/>
                <a:gd name="connsiteX77" fmla="*/ 183356 w 1562100"/>
                <a:gd name="connsiteY77" fmla="*/ 652462 h 1309687"/>
                <a:gd name="connsiteX78" fmla="*/ 204788 w 1562100"/>
                <a:gd name="connsiteY78" fmla="*/ 661987 h 1309687"/>
                <a:gd name="connsiteX79" fmla="*/ 219075 w 1562100"/>
                <a:gd name="connsiteY79" fmla="*/ 671512 h 1309687"/>
                <a:gd name="connsiteX80" fmla="*/ 223838 w 1562100"/>
                <a:gd name="connsiteY80" fmla="*/ 690562 h 1309687"/>
                <a:gd name="connsiteX81" fmla="*/ 195263 w 1562100"/>
                <a:gd name="connsiteY81" fmla="*/ 716756 h 1309687"/>
                <a:gd name="connsiteX82" fmla="*/ 123825 w 1562100"/>
                <a:gd name="connsiteY82" fmla="*/ 762000 h 1309687"/>
                <a:gd name="connsiteX83" fmla="*/ 123825 w 1562100"/>
                <a:gd name="connsiteY83" fmla="*/ 797718 h 1309687"/>
                <a:gd name="connsiteX84" fmla="*/ 135731 w 1562100"/>
                <a:gd name="connsiteY84" fmla="*/ 828675 h 1309687"/>
                <a:gd name="connsiteX85" fmla="*/ 123825 w 1562100"/>
                <a:gd name="connsiteY85" fmla="*/ 869156 h 1309687"/>
                <a:gd name="connsiteX86" fmla="*/ 76200 w 1562100"/>
                <a:gd name="connsiteY86" fmla="*/ 864393 h 1309687"/>
                <a:gd name="connsiteX87" fmla="*/ 52388 w 1562100"/>
                <a:gd name="connsiteY87" fmla="*/ 809625 h 1309687"/>
                <a:gd name="connsiteX88" fmla="*/ 33338 w 1562100"/>
                <a:gd name="connsiteY88" fmla="*/ 802481 h 1309687"/>
                <a:gd name="connsiteX89" fmla="*/ 23813 w 1562100"/>
                <a:gd name="connsiteY89" fmla="*/ 840581 h 1309687"/>
                <a:gd name="connsiteX90" fmla="*/ 21431 w 1562100"/>
                <a:gd name="connsiteY90" fmla="*/ 850106 h 1309687"/>
                <a:gd name="connsiteX91" fmla="*/ 7144 w 1562100"/>
                <a:gd name="connsiteY91" fmla="*/ 866775 h 1309687"/>
                <a:gd name="connsiteX92" fmla="*/ 0 w 1562100"/>
                <a:gd name="connsiteY92" fmla="*/ 923925 h 1309687"/>
                <a:gd name="connsiteX93" fmla="*/ 23813 w 1562100"/>
                <a:gd name="connsiteY93" fmla="*/ 952500 h 1309687"/>
                <a:gd name="connsiteX94" fmla="*/ 16669 w 1562100"/>
                <a:gd name="connsiteY94" fmla="*/ 992981 h 1309687"/>
                <a:gd name="connsiteX95" fmla="*/ 35719 w 1562100"/>
                <a:gd name="connsiteY95" fmla="*/ 997743 h 1309687"/>
                <a:gd name="connsiteX96" fmla="*/ 69056 w 1562100"/>
                <a:gd name="connsiteY96" fmla="*/ 997743 h 1309687"/>
                <a:gd name="connsiteX97" fmla="*/ 85725 w 1562100"/>
                <a:gd name="connsiteY97" fmla="*/ 988218 h 1309687"/>
                <a:gd name="connsiteX98" fmla="*/ 135731 w 1562100"/>
                <a:gd name="connsiteY98" fmla="*/ 1045368 h 1309687"/>
                <a:gd name="connsiteX99" fmla="*/ 123825 w 1562100"/>
                <a:gd name="connsiteY99" fmla="*/ 1064418 h 1309687"/>
                <a:gd name="connsiteX100" fmla="*/ 133350 w 1562100"/>
                <a:gd name="connsiteY100" fmla="*/ 1092993 h 1309687"/>
                <a:gd name="connsiteX101" fmla="*/ 164306 w 1562100"/>
                <a:gd name="connsiteY101" fmla="*/ 1112043 h 1309687"/>
                <a:gd name="connsiteX102" fmla="*/ 190500 w 1562100"/>
                <a:gd name="connsiteY102" fmla="*/ 1121568 h 1309687"/>
                <a:gd name="connsiteX103" fmla="*/ 216694 w 1562100"/>
                <a:gd name="connsiteY103" fmla="*/ 1128712 h 1309687"/>
                <a:gd name="connsiteX104" fmla="*/ 228600 w 1562100"/>
                <a:gd name="connsiteY104" fmla="*/ 1131093 h 1309687"/>
                <a:gd name="connsiteX105" fmla="*/ 240506 w 1562100"/>
                <a:gd name="connsiteY105" fmla="*/ 1092993 h 1309687"/>
                <a:gd name="connsiteX106" fmla="*/ 269081 w 1562100"/>
                <a:gd name="connsiteY106" fmla="*/ 1097756 h 1309687"/>
                <a:gd name="connsiteX107" fmla="*/ 288131 w 1562100"/>
                <a:gd name="connsiteY107" fmla="*/ 1085850 h 1309687"/>
                <a:gd name="connsiteX108" fmla="*/ 307181 w 1562100"/>
                <a:gd name="connsiteY108" fmla="*/ 1135856 h 1309687"/>
                <a:gd name="connsiteX109" fmla="*/ 330994 w 1562100"/>
                <a:gd name="connsiteY109" fmla="*/ 1150143 h 1309687"/>
                <a:gd name="connsiteX110" fmla="*/ 340519 w 1562100"/>
                <a:gd name="connsiteY110" fmla="*/ 1178718 h 1309687"/>
                <a:gd name="connsiteX111" fmla="*/ 357188 w 1562100"/>
                <a:gd name="connsiteY111" fmla="*/ 1188243 h 1309687"/>
                <a:gd name="connsiteX112" fmla="*/ 364331 w 1562100"/>
                <a:gd name="connsiteY112" fmla="*/ 1219200 h 1309687"/>
                <a:gd name="connsiteX113" fmla="*/ 335756 w 1562100"/>
                <a:gd name="connsiteY113" fmla="*/ 1245393 h 1309687"/>
                <a:gd name="connsiteX114" fmla="*/ 309563 w 1562100"/>
                <a:gd name="connsiteY114" fmla="*/ 1262062 h 1309687"/>
                <a:gd name="connsiteX115" fmla="*/ 297656 w 1562100"/>
                <a:gd name="connsiteY115" fmla="*/ 1285875 h 1309687"/>
                <a:gd name="connsiteX116" fmla="*/ 302419 w 1562100"/>
                <a:gd name="connsiteY116" fmla="*/ 1309687 h 1309687"/>
                <a:gd name="connsiteX117" fmla="*/ 342900 w 1562100"/>
                <a:gd name="connsiteY117" fmla="*/ 1309687 h 1309687"/>
                <a:gd name="connsiteX118" fmla="*/ 390525 w 1562100"/>
                <a:gd name="connsiteY118" fmla="*/ 1304925 h 1309687"/>
                <a:gd name="connsiteX119" fmla="*/ 428625 w 1562100"/>
                <a:gd name="connsiteY119" fmla="*/ 1295400 h 1309687"/>
                <a:gd name="connsiteX120" fmla="*/ 454819 w 1562100"/>
                <a:gd name="connsiteY120" fmla="*/ 1302543 h 1309687"/>
                <a:gd name="connsiteX121" fmla="*/ 473869 w 1562100"/>
                <a:gd name="connsiteY121" fmla="*/ 1281112 h 1309687"/>
                <a:gd name="connsiteX122" fmla="*/ 492919 w 1562100"/>
                <a:gd name="connsiteY122" fmla="*/ 1281112 h 1309687"/>
                <a:gd name="connsiteX123" fmla="*/ 507206 w 1562100"/>
                <a:gd name="connsiteY123" fmla="*/ 1250156 h 1309687"/>
                <a:gd name="connsiteX124" fmla="*/ 557213 w 1562100"/>
                <a:gd name="connsiteY124" fmla="*/ 1235868 h 1309687"/>
                <a:gd name="connsiteX125" fmla="*/ 583406 w 1562100"/>
                <a:gd name="connsiteY125" fmla="*/ 1216818 h 1309687"/>
                <a:gd name="connsiteX126" fmla="*/ 590550 w 1562100"/>
                <a:gd name="connsiteY126" fmla="*/ 1178718 h 1309687"/>
                <a:gd name="connsiteX127" fmla="*/ 607219 w 1562100"/>
                <a:gd name="connsiteY127" fmla="*/ 1152525 h 1309687"/>
                <a:gd name="connsiteX128" fmla="*/ 688181 w 1562100"/>
                <a:gd name="connsiteY128" fmla="*/ 1183481 h 1309687"/>
                <a:gd name="connsiteX0" fmla="*/ 688181 w 1562100"/>
                <a:gd name="connsiteY0" fmla="*/ 1183481 h 1309687"/>
                <a:gd name="connsiteX1" fmla="*/ 688181 w 1562100"/>
                <a:gd name="connsiteY1" fmla="*/ 1097756 h 1309687"/>
                <a:gd name="connsiteX2" fmla="*/ 692944 w 1562100"/>
                <a:gd name="connsiteY2" fmla="*/ 1054893 h 1309687"/>
                <a:gd name="connsiteX3" fmla="*/ 692944 w 1562100"/>
                <a:gd name="connsiteY3" fmla="*/ 1009650 h 1309687"/>
                <a:gd name="connsiteX4" fmla="*/ 676275 w 1562100"/>
                <a:gd name="connsiteY4" fmla="*/ 985837 h 1309687"/>
                <a:gd name="connsiteX5" fmla="*/ 690563 w 1562100"/>
                <a:gd name="connsiteY5" fmla="*/ 933450 h 1309687"/>
                <a:gd name="connsiteX6" fmla="*/ 685800 w 1562100"/>
                <a:gd name="connsiteY6" fmla="*/ 907256 h 1309687"/>
                <a:gd name="connsiteX7" fmla="*/ 697706 w 1562100"/>
                <a:gd name="connsiteY7" fmla="*/ 862012 h 1309687"/>
                <a:gd name="connsiteX8" fmla="*/ 714375 w 1562100"/>
                <a:gd name="connsiteY8" fmla="*/ 838200 h 1309687"/>
                <a:gd name="connsiteX9" fmla="*/ 721519 w 1562100"/>
                <a:gd name="connsiteY9" fmla="*/ 804862 h 1309687"/>
                <a:gd name="connsiteX10" fmla="*/ 735806 w 1562100"/>
                <a:gd name="connsiteY10" fmla="*/ 785812 h 1309687"/>
                <a:gd name="connsiteX11" fmla="*/ 792956 w 1562100"/>
                <a:gd name="connsiteY11" fmla="*/ 776287 h 1309687"/>
                <a:gd name="connsiteX12" fmla="*/ 838200 w 1562100"/>
                <a:gd name="connsiteY12" fmla="*/ 759618 h 1309687"/>
                <a:gd name="connsiteX13" fmla="*/ 876300 w 1562100"/>
                <a:gd name="connsiteY13" fmla="*/ 719137 h 1309687"/>
                <a:gd name="connsiteX14" fmla="*/ 923925 w 1562100"/>
                <a:gd name="connsiteY14" fmla="*/ 704850 h 1309687"/>
                <a:gd name="connsiteX15" fmla="*/ 995363 w 1562100"/>
                <a:gd name="connsiteY15" fmla="*/ 700087 h 1309687"/>
                <a:gd name="connsiteX16" fmla="*/ 1040606 w 1562100"/>
                <a:gd name="connsiteY16" fmla="*/ 690562 h 1309687"/>
                <a:gd name="connsiteX17" fmla="*/ 1119188 w 1562100"/>
                <a:gd name="connsiteY17" fmla="*/ 583406 h 1309687"/>
                <a:gd name="connsiteX18" fmla="*/ 1126331 w 1562100"/>
                <a:gd name="connsiteY18" fmla="*/ 550068 h 1309687"/>
                <a:gd name="connsiteX19" fmla="*/ 1152525 w 1562100"/>
                <a:gd name="connsiteY19" fmla="*/ 521493 h 1309687"/>
                <a:gd name="connsiteX20" fmla="*/ 1197769 w 1562100"/>
                <a:gd name="connsiteY20" fmla="*/ 511968 h 1309687"/>
                <a:gd name="connsiteX21" fmla="*/ 1290638 w 1562100"/>
                <a:gd name="connsiteY21" fmla="*/ 435768 h 1309687"/>
                <a:gd name="connsiteX22" fmla="*/ 1314450 w 1562100"/>
                <a:gd name="connsiteY22" fmla="*/ 433387 h 1309687"/>
                <a:gd name="connsiteX23" fmla="*/ 1409700 w 1562100"/>
                <a:gd name="connsiteY23" fmla="*/ 352425 h 1309687"/>
                <a:gd name="connsiteX24" fmla="*/ 1414463 w 1562100"/>
                <a:gd name="connsiteY24" fmla="*/ 333375 h 1309687"/>
                <a:gd name="connsiteX25" fmla="*/ 1507331 w 1562100"/>
                <a:gd name="connsiteY25" fmla="*/ 278606 h 1309687"/>
                <a:gd name="connsiteX26" fmla="*/ 1543050 w 1562100"/>
                <a:gd name="connsiteY26" fmla="*/ 233362 h 1309687"/>
                <a:gd name="connsiteX27" fmla="*/ 1562100 w 1562100"/>
                <a:gd name="connsiteY27" fmla="*/ 195262 h 1309687"/>
                <a:gd name="connsiteX28" fmla="*/ 1512094 w 1562100"/>
                <a:gd name="connsiteY28" fmla="*/ 214312 h 1309687"/>
                <a:gd name="connsiteX29" fmla="*/ 1478756 w 1562100"/>
                <a:gd name="connsiteY29" fmla="*/ 214312 h 1309687"/>
                <a:gd name="connsiteX30" fmla="*/ 1452563 w 1562100"/>
                <a:gd name="connsiteY30" fmla="*/ 252412 h 1309687"/>
                <a:gd name="connsiteX31" fmla="*/ 1421606 w 1562100"/>
                <a:gd name="connsiteY31" fmla="*/ 250031 h 1309687"/>
                <a:gd name="connsiteX32" fmla="*/ 1366838 w 1562100"/>
                <a:gd name="connsiteY32" fmla="*/ 219075 h 1309687"/>
                <a:gd name="connsiteX33" fmla="*/ 1323975 w 1562100"/>
                <a:gd name="connsiteY33" fmla="*/ 207168 h 1309687"/>
                <a:gd name="connsiteX34" fmla="*/ 1238250 w 1562100"/>
                <a:gd name="connsiteY34" fmla="*/ 242887 h 1309687"/>
                <a:gd name="connsiteX35" fmla="*/ 1223963 w 1562100"/>
                <a:gd name="connsiteY35" fmla="*/ 280987 h 1309687"/>
                <a:gd name="connsiteX36" fmla="*/ 1195388 w 1562100"/>
                <a:gd name="connsiteY36" fmla="*/ 338137 h 1309687"/>
                <a:gd name="connsiteX37" fmla="*/ 1109663 w 1562100"/>
                <a:gd name="connsiteY37" fmla="*/ 300037 h 1309687"/>
                <a:gd name="connsiteX38" fmla="*/ 1097756 w 1562100"/>
                <a:gd name="connsiteY38" fmla="*/ 342900 h 1309687"/>
                <a:gd name="connsiteX39" fmla="*/ 1083469 w 1562100"/>
                <a:gd name="connsiteY39" fmla="*/ 376237 h 1309687"/>
                <a:gd name="connsiteX40" fmla="*/ 959644 w 1562100"/>
                <a:gd name="connsiteY40" fmla="*/ 407193 h 1309687"/>
                <a:gd name="connsiteX41" fmla="*/ 945356 w 1562100"/>
                <a:gd name="connsiteY41" fmla="*/ 402431 h 1309687"/>
                <a:gd name="connsiteX42" fmla="*/ 926306 w 1562100"/>
                <a:gd name="connsiteY42" fmla="*/ 423862 h 1309687"/>
                <a:gd name="connsiteX43" fmla="*/ 890588 w 1562100"/>
                <a:gd name="connsiteY43" fmla="*/ 431006 h 1309687"/>
                <a:gd name="connsiteX44" fmla="*/ 854869 w 1562100"/>
                <a:gd name="connsiteY44" fmla="*/ 381000 h 1309687"/>
                <a:gd name="connsiteX45" fmla="*/ 835819 w 1562100"/>
                <a:gd name="connsiteY45" fmla="*/ 369093 h 1309687"/>
                <a:gd name="connsiteX46" fmla="*/ 826294 w 1562100"/>
                <a:gd name="connsiteY46" fmla="*/ 323850 h 1309687"/>
                <a:gd name="connsiteX47" fmla="*/ 792956 w 1562100"/>
                <a:gd name="connsiteY47" fmla="*/ 307181 h 1309687"/>
                <a:gd name="connsiteX48" fmla="*/ 759619 w 1562100"/>
                <a:gd name="connsiteY48" fmla="*/ 300037 h 1309687"/>
                <a:gd name="connsiteX49" fmla="*/ 740569 w 1562100"/>
                <a:gd name="connsiteY49" fmla="*/ 295275 h 1309687"/>
                <a:gd name="connsiteX50" fmla="*/ 728663 w 1562100"/>
                <a:gd name="connsiteY50" fmla="*/ 285750 h 1309687"/>
                <a:gd name="connsiteX51" fmla="*/ 735806 w 1562100"/>
                <a:gd name="connsiteY51" fmla="*/ 259556 h 1309687"/>
                <a:gd name="connsiteX52" fmla="*/ 742950 w 1562100"/>
                <a:gd name="connsiteY52" fmla="*/ 235743 h 1309687"/>
                <a:gd name="connsiteX53" fmla="*/ 700088 w 1562100"/>
                <a:gd name="connsiteY53" fmla="*/ 185737 h 1309687"/>
                <a:gd name="connsiteX54" fmla="*/ 704851 w 1562100"/>
                <a:gd name="connsiteY54" fmla="*/ 92869 h 1309687"/>
                <a:gd name="connsiteX55" fmla="*/ 657225 w 1562100"/>
                <a:gd name="connsiteY55" fmla="*/ 64294 h 1309687"/>
                <a:gd name="connsiteX56" fmla="*/ 628650 w 1562100"/>
                <a:gd name="connsiteY56" fmla="*/ 88107 h 1309687"/>
                <a:gd name="connsiteX57" fmla="*/ 500062 w 1562100"/>
                <a:gd name="connsiteY57" fmla="*/ 66676 h 1309687"/>
                <a:gd name="connsiteX58" fmla="*/ 450056 w 1562100"/>
                <a:gd name="connsiteY58" fmla="*/ 2382 h 1309687"/>
                <a:gd name="connsiteX59" fmla="*/ 428625 w 1562100"/>
                <a:gd name="connsiteY59" fmla="*/ 0 h 1309687"/>
                <a:gd name="connsiteX60" fmla="*/ 376238 w 1562100"/>
                <a:gd name="connsiteY60" fmla="*/ 104775 h 1309687"/>
                <a:gd name="connsiteX61" fmla="*/ 314326 w 1562100"/>
                <a:gd name="connsiteY61" fmla="*/ 104774 h 1309687"/>
                <a:gd name="connsiteX62" fmla="*/ 328613 w 1562100"/>
                <a:gd name="connsiteY62" fmla="*/ 183356 h 1309687"/>
                <a:gd name="connsiteX63" fmla="*/ 292894 w 1562100"/>
                <a:gd name="connsiteY63" fmla="*/ 285750 h 1309687"/>
                <a:gd name="connsiteX64" fmla="*/ 264319 w 1562100"/>
                <a:gd name="connsiteY64" fmla="*/ 292893 h 1309687"/>
                <a:gd name="connsiteX65" fmla="*/ 261938 w 1562100"/>
                <a:gd name="connsiteY65" fmla="*/ 307181 h 1309687"/>
                <a:gd name="connsiteX66" fmla="*/ 261938 w 1562100"/>
                <a:gd name="connsiteY66" fmla="*/ 340518 h 1309687"/>
                <a:gd name="connsiteX67" fmla="*/ 228600 w 1562100"/>
                <a:gd name="connsiteY67" fmla="*/ 383381 h 1309687"/>
                <a:gd name="connsiteX68" fmla="*/ 271463 w 1562100"/>
                <a:gd name="connsiteY68" fmla="*/ 400050 h 1309687"/>
                <a:gd name="connsiteX69" fmla="*/ 278606 w 1562100"/>
                <a:gd name="connsiteY69" fmla="*/ 419100 h 1309687"/>
                <a:gd name="connsiteX70" fmla="*/ 257175 w 1562100"/>
                <a:gd name="connsiteY70" fmla="*/ 454818 h 1309687"/>
                <a:gd name="connsiteX71" fmla="*/ 221456 w 1562100"/>
                <a:gd name="connsiteY71" fmla="*/ 464343 h 1309687"/>
                <a:gd name="connsiteX72" fmla="*/ 221456 w 1562100"/>
                <a:gd name="connsiteY72" fmla="*/ 504825 h 1309687"/>
                <a:gd name="connsiteX73" fmla="*/ 254794 w 1562100"/>
                <a:gd name="connsiteY73" fmla="*/ 542925 h 1309687"/>
                <a:gd name="connsiteX74" fmla="*/ 226219 w 1562100"/>
                <a:gd name="connsiteY74" fmla="*/ 607218 h 1309687"/>
                <a:gd name="connsiteX75" fmla="*/ 180975 w 1562100"/>
                <a:gd name="connsiteY75" fmla="*/ 635793 h 1309687"/>
                <a:gd name="connsiteX76" fmla="*/ 183356 w 1562100"/>
                <a:gd name="connsiteY76" fmla="*/ 652462 h 1309687"/>
                <a:gd name="connsiteX77" fmla="*/ 204788 w 1562100"/>
                <a:gd name="connsiteY77" fmla="*/ 661987 h 1309687"/>
                <a:gd name="connsiteX78" fmla="*/ 219075 w 1562100"/>
                <a:gd name="connsiteY78" fmla="*/ 671512 h 1309687"/>
                <a:gd name="connsiteX79" fmla="*/ 223838 w 1562100"/>
                <a:gd name="connsiteY79" fmla="*/ 690562 h 1309687"/>
                <a:gd name="connsiteX80" fmla="*/ 195263 w 1562100"/>
                <a:gd name="connsiteY80" fmla="*/ 716756 h 1309687"/>
                <a:gd name="connsiteX81" fmla="*/ 123825 w 1562100"/>
                <a:gd name="connsiteY81" fmla="*/ 762000 h 1309687"/>
                <a:gd name="connsiteX82" fmla="*/ 123825 w 1562100"/>
                <a:gd name="connsiteY82" fmla="*/ 797718 h 1309687"/>
                <a:gd name="connsiteX83" fmla="*/ 135731 w 1562100"/>
                <a:gd name="connsiteY83" fmla="*/ 828675 h 1309687"/>
                <a:gd name="connsiteX84" fmla="*/ 123825 w 1562100"/>
                <a:gd name="connsiteY84" fmla="*/ 869156 h 1309687"/>
                <a:gd name="connsiteX85" fmla="*/ 76200 w 1562100"/>
                <a:gd name="connsiteY85" fmla="*/ 864393 h 1309687"/>
                <a:gd name="connsiteX86" fmla="*/ 52388 w 1562100"/>
                <a:gd name="connsiteY86" fmla="*/ 809625 h 1309687"/>
                <a:gd name="connsiteX87" fmla="*/ 33338 w 1562100"/>
                <a:gd name="connsiteY87" fmla="*/ 802481 h 1309687"/>
                <a:gd name="connsiteX88" fmla="*/ 23813 w 1562100"/>
                <a:gd name="connsiteY88" fmla="*/ 840581 h 1309687"/>
                <a:gd name="connsiteX89" fmla="*/ 21431 w 1562100"/>
                <a:gd name="connsiteY89" fmla="*/ 850106 h 1309687"/>
                <a:gd name="connsiteX90" fmla="*/ 7144 w 1562100"/>
                <a:gd name="connsiteY90" fmla="*/ 866775 h 1309687"/>
                <a:gd name="connsiteX91" fmla="*/ 0 w 1562100"/>
                <a:gd name="connsiteY91" fmla="*/ 923925 h 1309687"/>
                <a:gd name="connsiteX92" fmla="*/ 23813 w 1562100"/>
                <a:gd name="connsiteY92" fmla="*/ 952500 h 1309687"/>
                <a:gd name="connsiteX93" fmla="*/ 16669 w 1562100"/>
                <a:gd name="connsiteY93" fmla="*/ 992981 h 1309687"/>
                <a:gd name="connsiteX94" fmla="*/ 35719 w 1562100"/>
                <a:gd name="connsiteY94" fmla="*/ 997743 h 1309687"/>
                <a:gd name="connsiteX95" fmla="*/ 69056 w 1562100"/>
                <a:gd name="connsiteY95" fmla="*/ 997743 h 1309687"/>
                <a:gd name="connsiteX96" fmla="*/ 85725 w 1562100"/>
                <a:gd name="connsiteY96" fmla="*/ 988218 h 1309687"/>
                <a:gd name="connsiteX97" fmla="*/ 135731 w 1562100"/>
                <a:gd name="connsiteY97" fmla="*/ 1045368 h 1309687"/>
                <a:gd name="connsiteX98" fmla="*/ 123825 w 1562100"/>
                <a:gd name="connsiteY98" fmla="*/ 1064418 h 1309687"/>
                <a:gd name="connsiteX99" fmla="*/ 133350 w 1562100"/>
                <a:gd name="connsiteY99" fmla="*/ 1092993 h 1309687"/>
                <a:gd name="connsiteX100" fmla="*/ 164306 w 1562100"/>
                <a:gd name="connsiteY100" fmla="*/ 1112043 h 1309687"/>
                <a:gd name="connsiteX101" fmla="*/ 190500 w 1562100"/>
                <a:gd name="connsiteY101" fmla="*/ 1121568 h 1309687"/>
                <a:gd name="connsiteX102" fmla="*/ 216694 w 1562100"/>
                <a:gd name="connsiteY102" fmla="*/ 1128712 h 1309687"/>
                <a:gd name="connsiteX103" fmla="*/ 228600 w 1562100"/>
                <a:gd name="connsiteY103" fmla="*/ 1131093 h 1309687"/>
                <a:gd name="connsiteX104" fmla="*/ 240506 w 1562100"/>
                <a:gd name="connsiteY104" fmla="*/ 1092993 h 1309687"/>
                <a:gd name="connsiteX105" fmla="*/ 269081 w 1562100"/>
                <a:gd name="connsiteY105" fmla="*/ 1097756 h 1309687"/>
                <a:gd name="connsiteX106" fmla="*/ 288131 w 1562100"/>
                <a:gd name="connsiteY106" fmla="*/ 1085850 h 1309687"/>
                <a:gd name="connsiteX107" fmla="*/ 307181 w 1562100"/>
                <a:gd name="connsiteY107" fmla="*/ 1135856 h 1309687"/>
                <a:gd name="connsiteX108" fmla="*/ 330994 w 1562100"/>
                <a:gd name="connsiteY108" fmla="*/ 1150143 h 1309687"/>
                <a:gd name="connsiteX109" fmla="*/ 340519 w 1562100"/>
                <a:gd name="connsiteY109" fmla="*/ 1178718 h 1309687"/>
                <a:gd name="connsiteX110" fmla="*/ 357188 w 1562100"/>
                <a:gd name="connsiteY110" fmla="*/ 1188243 h 1309687"/>
                <a:gd name="connsiteX111" fmla="*/ 364331 w 1562100"/>
                <a:gd name="connsiteY111" fmla="*/ 1219200 h 1309687"/>
                <a:gd name="connsiteX112" fmla="*/ 335756 w 1562100"/>
                <a:gd name="connsiteY112" fmla="*/ 1245393 h 1309687"/>
                <a:gd name="connsiteX113" fmla="*/ 309563 w 1562100"/>
                <a:gd name="connsiteY113" fmla="*/ 1262062 h 1309687"/>
                <a:gd name="connsiteX114" fmla="*/ 297656 w 1562100"/>
                <a:gd name="connsiteY114" fmla="*/ 1285875 h 1309687"/>
                <a:gd name="connsiteX115" fmla="*/ 302419 w 1562100"/>
                <a:gd name="connsiteY115" fmla="*/ 1309687 h 1309687"/>
                <a:gd name="connsiteX116" fmla="*/ 342900 w 1562100"/>
                <a:gd name="connsiteY116" fmla="*/ 1309687 h 1309687"/>
                <a:gd name="connsiteX117" fmla="*/ 390525 w 1562100"/>
                <a:gd name="connsiteY117" fmla="*/ 1304925 h 1309687"/>
                <a:gd name="connsiteX118" fmla="*/ 428625 w 1562100"/>
                <a:gd name="connsiteY118" fmla="*/ 1295400 h 1309687"/>
                <a:gd name="connsiteX119" fmla="*/ 454819 w 1562100"/>
                <a:gd name="connsiteY119" fmla="*/ 1302543 h 1309687"/>
                <a:gd name="connsiteX120" fmla="*/ 473869 w 1562100"/>
                <a:gd name="connsiteY120" fmla="*/ 1281112 h 1309687"/>
                <a:gd name="connsiteX121" fmla="*/ 492919 w 1562100"/>
                <a:gd name="connsiteY121" fmla="*/ 1281112 h 1309687"/>
                <a:gd name="connsiteX122" fmla="*/ 507206 w 1562100"/>
                <a:gd name="connsiteY122" fmla="*/ 1250156 h 1309687"/>
                <a:gd name="connsiteX123" fmla="*/ 557213 w 1562100"/>
                <a:gd name="connsiteY123" fmla="*/ 1235868 h 1309687"/>
                <a:gd name="connsiteX124" fmla="*/ 583406 w 1562100"/>
                <a:gd name="connsiteY124" fmla="*/ 1216818 h 1309687"/>
                <a:gd name="connsiteX125" fmla="*/ 590550 w 1562100"/>
                <a:gd name="connsiteY125" fmla="*/ 1178718 h 1309687"/>
                <a:gd name="connsiteX126" fmla="*/ 607219 w 1562100"/>
                <a:gd name="connsiteY126" fmla="*/ 1152525 h 1309687"/>
                <a:gd name="connsiteX127" fmla="*/ 688181 w 1562100"/>
                <a:gd name="connsiteY127" fmla="*/ 1183481 h 130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562100" h="1309687">
                  <a:moveTo>
                    <a:pt x="688181" y="1183481"/>
                  </a:moveTo>
                  <a:lnTo>
                    <a:pt x="688181" y="1097756"/>
                  </a:lnTo>
                  <a:lnTo>
                    <a:pt x="692944" y="1054893"/>
                  </a:lnTo>
                  <a:lnTo>
                    <a:pt x="692944" y="1009650"/>
                  </a:lnTo>
                  <a:lnTo>
                    <a:pt x="676275" y="985837"/>
                  </a:lnTo>
                  <a:lnTo>
                    <a:pt x="690563" y="933450"/>
                  </a:lnTo>
                  <a:lnTo>
                    <a:pt x="685800" y="907256"/>
                  </a:lnTo>
                  <a:lnTo>
                    <a:pt x="697706" y="862012"/>
                  </a:lnTo>
                  <a:lnTo>
                    <a:pt x="714375" y="838200"/>
                  </a:lnTo>
                  <a:lnTo>
                    <a:pt x="721519" y="804862"/>
                  </a:lnTo>
                  <a:lnTo>
                    <a:pt x="735806" y="785812"/>
                  </a:lnTo>
                  <a:lnTo>
                    <a:pt x="792956" y="776287"/>
                  </a:lnTo>
                  <a:lnTo>
                    <a:pt x="838200" y="759618"/>
                  </a:lnTo>
                  <a:lnTo>
                    <a:pt x="876300" y="719137"/>
                  </a:lnTo>
                  <a:lnTo>
                    <a:pt x="923925" y="704850"/>
                  </a:lnTo>
                  <a:lnTo>
                    <a:pt x="995363" y="700087"/>
                  </a:lnTo>
                  <a:lnTo>
                    <a:pt x="1040606" y="690562"/>
                  </a:lnTo>
                  <a:lnTo>
                    <a:pt x="1119188" y="583406"/>
                  </a:lnTo>
                  <a:lnTo>
                    <a:pt x="1126331" y="550068"/>
                  </a:lnTo>
                  <a:lnTo>
                    <a:pt x="1152525" y="521493"/>
                  </a:lnTo>
                  <a:lnTo>
                    <a:pt x="1197769" y="511968"/>
                  </a:lnTo>
                  <a:lnTo>
                    <a:pt x="1290638" y="435768"/>
                  </a:lnTo>
                  <a:lnTo>
                    <a:pt x="1314450" y="433387"/>
                  </a:lnTo>
                  <a:lnTo>
                    <a:pt x="1409700" y="352425"/>
                  </a:lnTo>
                  <a:lnTo>
                    <a:pt x="1414463" y="333375"/>
                  </a:lnTo>
                  <a:lnTo>
                    <a:pt x="1507331" y="278606"/>
                  </a:lnTo>
                  <a:lnTo>
                    <a:pt x="1543050" y="233362"/>
                  </a:lnTo>
                  <a:lnTo>
                    <a:pt x="1562100" y="195262"/>
                  </a:lnTo>
                  <a:lnTo>
                    <a:pt x="1512094" y="214312"/>
                  </a:lnTo>
                  <a:lnTo>
                    <a:pt x="1478756" y="214312"/>
                  </a:lnTo>
                  <a:lnTo>
                    <a:pt x="1452563" y="252412"/>
                  </a:lnTo>
                  <a:lnTo>
                    <a:pt x="1421606" y="250031"/>
                  </a:lnTo>
                  <a:lnTo>
                    <a:pt x="1366838" y="219075"/>
                  </a:lnTo>
                  <a:lnTo>
                    <a:pt x="1323975" y="207168"/>
                  </a:lnTo>
                  <a:lnTo>
                    <a:pt x="1238250" y="242887"/>
                  </a:lnTo>
                  <a:lnTo>
                    <a:pt x="1223963" y="280987"/>
                  </a:lnTo>
                  <a:lnTo>
                    <a:pt x="1195388" y="338137"/>
                  </a:lnTo>
                  <a:lnTo>
                    <a:pt x="1109663" y="300037"/>
                  </a:lnTo>
                  <a:lnTo>
                    <a:pt x="1097756" y="342900"/>
                  </a:lnTo>
                  <a:lnTo>
                    <a:pt x="1083469" y="376237"/>
                  </a:lnTo>
                  <a:lnTo>
                    <a:pt x="959644" y="407193"/>
                  </a:lnTo>
                  <a:lnTo>
                    <a:pt x="945356" y="402431"/>
                  </a:lnTo>
                  <a:lnTo>
                    <a:pt x="926306" y="423862"/>
                  </a:lnTo>
                  <a:lnTo>
                    <a:pt x="890588" y="431006"/>
                  </a:lnTo>
                  <a:lnTo>
                    <a:pt x="854869" y="381000"/>
                  </a:lnTo>
                  <a:lnTo>
                    <a:pt x="835819" y="369093"/>
                  </a:lnTo>
                  <a:lnTo>
                    <a:pt x="826294" y="323850"/>
                  </a:lnTo>
                  <a:lnTo>
                    <a:pt x="792956" y="307181"/>
                  </a:lnTo>
                  <a:lnTo>
                    <a:pt x="759619" y="300037"/>
                  </a:lnTo>
                  <a:lnTo>
                    <a:pt x="740569" y="295275"/>
                  </a:lnTo>
                  <a:lnTo>
                    <a:pt x="728663" y="285750"/>
                  </a:lnTo>
                  <a:lnTo>
                    <a:pt x="735806" y="259556"/>
                  </a:lnTo>
                  <a:lnTo>
                    <a:pt x="742950" y="235743"/>
                  </a:lnTo>
                  <a:lnTo>
                    <a:pt x="700088" y="185737"/>
                  </a:lnTo>
                  <a:cubicBezTo>
                    <a:pt x="693738" y="161925"/>
                    <a:pt x="711995" y="113109"/>
                    <a:pt x="704851" y="92869"/>
                  </a:cubicBezTo>
                  <a:lnTo>
                    <a:pt x="657225" y="64294"/>
                  </a:lnTo>
                  <a:cubicBezTo>
                    <a:pt x="653256" y="63500"/>
                    <a:pt x="632619" y="88901"/>
                    <a:pt x="628650" y="88107"/>
                  </a:cubicBezTo>
                  <a:lnTo>
                    <a:pt x="500062" y="66676"/>
                  </a:lnTo>
                  <a:lnTo>
                    <a:pt x="450056" y="2382"/>
                  </a:lnTo>
                  <a:lnTo>
                    <a:pt x="428625" y="0"/>
                  </a:lnTo>
                  <a:lnTo>
                    <a:pt x="376238" y="104775"/>
                  </a:lnTo>
                  <a:cubicBezTo>
                    <a:pt x="361951" y="76994"/>
                    <a:pt x="340519" y="111124"/>
                    <a:pt x="314326" y="104774"/>
                  </a:cubicBezTo>
                  <a:lnTo>
                    <a:pt x="328613" y="183356"/>
                  </a:lnTo>
                  <a:lnTo>
                    <a:pt x="292894" y="285750"/>
                  </a:lnTo>
                  <a:lnTo>
                    <a:pt x="264319" y="292893"/>
                  </a:lnTo>
                  <a:lnTo>
                    <a:pt x="261938" y="307181"/>
                  </a:lnTo>
                  <a:lnTo>
                    <a:pt x="261938" y="340518"/>
                  </a:lnTo>
                  <a:lnTo>
                    <a:pt x="228600" y="383381"/>
                  </a:lnTo>
                  <a:lnTo>
                    <a:pt x="271463" y="400050"/>
                  </a:lnTo>
                  <a:lnTo>
                    <a:pt x="278606" y="419100"/>
                  </a:lnTo>
                  <a:lnTo>
                    <a:pt x="257175" y="454818"/>
                  </a:lnTo>
                  <a:lnTo>
                    <a:pt x="221456" y="464343"/>
                  </a:lnTo>
                  <a:lnTo>
                    <a:pt x="221456" y="504825"/>
                  </a:lnTo>
                  <a:lnTo>
                    <a:pt x="254794" y="542925"/>
                  </a:lnTo>
                  <a:lnTo>
                    <a:pt x="226219" y="607218"/>
                  </a:lnTo>
                  <a:lnTo>
                    <a:pt x="180975" y="635793"/>
                  </a:lnTo>
                  <a:lnTo>
                    <a:pt x="183356" y="652462"/>
                  </a:lnTo>
                  <a:lnTo>
                    <a:pt x="204788" y="661987"/>
                  </a:lnTo>
                  <a:lnTo>
                    <a:pt x="219075" y="671512"/>
                  </a:lnTo>
                  <a:lnTo>
                    <a:pt x="223838" y="690562"/>
                  </a:lnTo>
                  <a:lnTo>
                    <a:pt x="195263" y="716756"/>
                  </a:lnTo>
                  <a:lnTo>
                    <a:pt x="123825" y="762000"/>
                  </a:lnTo>
                  <a:lnTo>
                    <a:pt x="123825" y="797718"/>
                  </a:lnTo>
                  <a:lnTo>
                    <a:pt x="135731" y="828675"/>
                  </a:lnTo>
                  <a:lnTo>
                    <a:pt x="123825" y="869156"/>
                  </a:lnTo>
                  <a:lnTo>
                    <a:pt x="76200" y="864393"/>
                  </a:lnTo>
                  <a:lnTo>
                    <a:pt x="52388" y="809625"/>
                  </a:lnTo>
                  <a:lnTo>
                    <a:pt x="33338" y="802481"/>
                  </a:lnTo>
                  <a:lnTo>
                    <a:pt x="23813" y="840581"/>
                  </a:lnTo>
                  <a:lnTo>
                    <a:pt x="21431" y="850106"/>
                  </a:lnTo>
                  <a:lnTo>
                    <a:pt x="7144" y="866775"/>
                  </a:lnTo>
                  <a:lnTo>
                    <a:pt x="0" y="923925"/>
                  </a:lnTo>
                  <a:lnTo>
                    <a:pt x="23813" y="952500"/>
                  </a:lnTo>
                  <a:lnTo>
                    <a:pt x="16669" y="992981"/>
                  </a:lnTo>
                  <a:lnTo>
                    <a:pt x="35719" y="997743"/>
                  </a:lnTo>
                  <a:lnTo>
                    <a:pt x="69056" y="997743"/>
                  </a:lnTo>
                  <a:lnTo>
                    <a:pt x="85725" y="988218"/>
                  </a:lnTo>
                  <a:lnTo>
                    <a:pt x="135731" y="1045368"/>
                  </a:lnTo>
                  <a:lnTo>
                    <a:pt x="123825" y="1064418"/>
                  </a:lnTo>
                  <a:lnTo>
                    <a:pt x="133350" y="1092993"/>
                  </a:lnTo>
                  <a:lnTo>
                    <a:pt x="164306" y="1112043"/>
                  </a:lnTo>
                  <a:lnTo>
                    <a:pt x="190500" y="1121568"/>
                  </a:lnTo>
                  <a:lnTo>
                    <a:pt x="216694" y="1128712"/>
                  </a:lnTo>
                  <a:lnTo>
                    <a:pt x="228600" y="1131093"/>
                  </a:lnTo>
                  <a:lnTo>
                    <a:pt x="240506" y="1092993"/>
                  </a:lnTo>
                  <a:lnTo>
                    <a:pt x="269081" y="1097756"/>
                  </a:lnTo>
                  <a:lnTo>
                    <a:pt x="288131" y="1085850"/>
                  </a:lnTo>
                  <a:lnTo>
                    <a:pt x="307181" y="1135856"/>
                  </a:lnTo>
                  <a:lnTo>
                    <a:pt x="330994" y="1150143"/>
                  </a:lnTo>
                  <a:lnTo>
                    <a:pt x="340519" y="1178718"/>
                  </a:lnTo>
                  <a:lnTo>
                    <a:pt x="357188" y="1188243"/>
                  </a:lnTo>
                  <a:lnTo>
                    <a:pt x="364331" y="1219200"/>
                  </a:lnTo>
                  <a:lnTo>
                    <a:pt x="335756" y="1245393"/>
                  </a:lnTo>
                  <a:lnTo>
                    <a:pt x="309563" y="1262062"/>
                  </a:lnTo>
                  <a:lnTo>
                    <a:pt x="297656" y="1285875"/>
                  </a:lnTo>
                  <a:lnTo>
                    <a:pt x="302419" y="1309687"/>
                  </a:lnTo>
                  <a:lnTo>
                    <a:pt x="342900" y="1309687"/>
                  </a:lnTo>
                  <a:lnTo>
                    <a:pt x="390525" y="1304925"/>
                  </a:lnTo>
                  <a:lnTo>
                    <a:pt x="428625" y="1295400"/>
                  </a:lnTo>
                  <a:lnTo>
                    <a:pt x="454819" y="1302543"/>
                  </a:lnTo>
                  <a:lnTo>
                    <a:pt x="473869" y="1281112"/>
                  </a:lnTo>
                  <a:lnTo>
                    <a:pt x="492919" y="1281112"/>
                  </a:lnTo>
                  <a:lnTo>
                    <a:pt x="507206" y="1250156"/>
                  </a:lnTo>
                  <a:lnTo>
                    <a:pt x="557213" y="1235868"/>
                  </a:lnTo>
                  <a:lnTo>
                    <a:pt x="583406" y="1216818"/>
                  </a:lnTo>
                  <a:lnTo>
                    <a:pt x="590550" y="1178718"/>
                  </a:lnTo>
                  <a:lnTo>
                    <a:pt x="607219" y="1152525"/>
                  </a:lnTo>
                  <a:lnTo>
                    <a:pt x="688181" y="1183481"/>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55" name="Freeform 54"/>
            <p:cNvSpPr/>
            <p:nvPr/>
          </p:nvSpPr>
          <p:spPr>
            <a:xfrm rot="21298612">
              <a:off x="2619289" y="3621233"/>
              <a:ext cx="774495" cy="1266998"/>
            </a:xfrm>
            <a:custGeom>
              <a:avLst/>
              <a:gdLst>
                <a:gd name="connsiteX0" fmla="*/ 202407 w 771525"/>
                <a:gd name="connsiteY0" fmla="*/ 1131094 h 1135856"/>
                <a:gd name="connsiteX1" fmla="*/ 221457 w 771525"/>
                <a:gd name="connsiteY1" fmla="*/ 1064419 h 1135856"/>
                <a:gd name="connsiteX2" fmla="*/ 238125 w 771525"/>
                <a:gd name="connsiteY2" fmla="*/ 1042987 h 1135856"/>
                <a:gd name="connsiteX3" fmla="*/ 247650 w 771525"/>
                <a:gd name="connsiteY3" fmla="*/ 1012031 h 1135856"/>
                <a:gd name="connsiteX4" fmla="*/ 283369 w 771525"/>
                <a:gd name="connsiteY4" fmla="*/ 985837 h 1135856"/>
                <a:gd name="connsiteX5" fmla="*/ 319088 w 771525"/>
                <a:gd name="connsiteY5" fmla="*/ 962025 h 1135856"/>
                <a:gd name="connsiteX6" fmla="*/ 350044 w 771525"/>
                <a:gd name="connsiteY6" fmla="*/ 928687 h 1135856"/>
                <a:gd name="connsiteX7" fmla="*/ 354807 w 771525"/>
                <a:gd name="connsiteY7" fmla="*/ 900112 h 1135856"/>
                <a:gd name="connsiteX8" fmla="*/ 321469 w 771525"/>
                <a:gd name="connsiteY8" fmla="*/ 854869 h 1135856"/>
                <a:gd name="connsiteX9" fmla="*/ 323850 w 771525"/>
                <a:gd name="connsiteY9" fmla="*/ 785812 h 1135856"/>
                <a:gd name="connsiteX10" fmla="*/ 280988 w 771525"/>
                <a:gd name="connsiteY10" fmla="*/ 735806 h 1135856"/>
                <a:gd name="connsiteX11" fmla="*/ 288132 w 771525"/>
                <a:gd name="connsiteY11" fmla="*/ 697706 h 1135856"/>
                <a:gd name="connsiteX12" fmla="*/ 316707 w 771525"/>
                <a:gd name="connsiteY12" fmla="*/ 681037 h 1135856"/>
                <a:gd name="connsiteX13" fmla="*/ 330994 w 771525"/>
                <a:gd name="connsiteY13" fmla="*/ 707231 h 1135856"/>
                <a:gd name="connsiteX14" fmla="*/ 354807 w 771525"/>
                <a:gd name="connsiteY14" fmla="*/ 726281 h 1135856"/>
                <a:gd name="connsiteX15" fmla="*/ 369094 w 771525"/>
                <a:gd name="connsiteY15" fmla="*/ 745331 h 1135856"/>
                <a:gd name="connsiteX16" fmla="*/ 378619 w 771525"/>
                <a:gd name="connsiteY16" fmla="*/ 781050 h 1135856"/>
                <a:gd name="connsiteX17" fmla="*/ 395288 w 771525"/>
                <a:gd name="connsiteY17" fmla="*/ 797719 h 1135856"/>
                <a:gd name="connsiteX18" fmla="*/ 409575 w 771525"/>
                <a:gd name="connsiteY18" fmla="*/ 792956 h 1135856"/>
                <a:gd name="connsiteX19" fmla="*/ 426244 w 771525"/>
                <a:gd name="connsiteY19" fmla="*/ 785812 h 1135856"/>
                <a:gd name="connsiteX20" fmla="*/ 423863 w 771525"/>
                <a:gd name="connsiteY20" fmla="*/ 676275 h 1135856"/>
                <a:gd name="connsiteX21" fmla="*/ 409575 w 771525"/>
                <a:gd name="connsiteY21" fmla="*/ 640556 h 1135856"/>
                <a:gd name="connsiteX22" fmla="*/ 411957 w 771525"/>
                <a:gd name="connsiteY22" fmla="*/ 614362 h 1135856"/>
                <a:gd name="connsiteX23" fmla="*/ 426244 w 771525"/>
                <a:gd name="connsiteY23" fmla="*/ 566737 h 1135856"/>
                <a:gd name="connsiteX24" fmla="*/ 473869 w 771525"/>
                <a:gd name="connsiteY24" fmla="*/ 566737 h 1135856"/>
                <a:gd name="connsiteX25" fmla="*/ 488157 w 771525"/>
                <a:gd name="connsiteY25" fmla="*/ 552450 h 1135856"/>
                <a:gd name="connsiteX26" fmla="*/ 509588 w 771525"/>
                <a:gd name="connsiteY26" fmla="*/ 502444 h 1135856"/>
                <a:gd name="connsiteX27" fmla="*/ 604838 w 771525"/>
                <a:gd name="connsiteY27" fmla="*/ 457200 h 1135856"/>
                <a:gd name="connsiteX28" fmla="*/ 628650 w 771525"/>
                <a:gd name="connsiteY28" fmla="*/ 447675 h 1135856"/>
                <a:gd name="connsiteX29" fmla="*/ 638175 w 771525"/>
                <a:gd name="connsiteY29" fmla="*/ 402431 h 1135856"/>
                <a:gd name="connsiteX30" fmla="*/ 638175 w 771525"/>
                <a:gd name="connsiteY30" fmla="*/ 361950 h 1135856"/>
                <a:gd name="connsiteX31" fmla="*/ 640557 w 771525"/>
                <a:gd name="connsiteY31" fmla="*/ 340519 h 1135856"/>
                <a:gd name="connsiteX32" fmla="*/ 652463 w 771525"/>
                <a:gd name="connsiteY32" fmla="*/ 333375 h 1135856"/>
                <a:gd name="connsiteX33" fmla="*/ 742950 w 771525"/>
                <a:gd name="connsiteY33" fmla="*/ 297656 h 1135856"/>
                <a:gd name="connsiteX34" fmla="*/ 766763 w 771525"/>
                <a:gd name="connsiteY34" fmla="*/ 280987 h 1135856"/>
                <a:gd name="connsiteX35" fmla="*/ 754857 w 771525"/>
                <a:gd name="connsiteY35" fmla="*/ 252412 h 1135856"/>
                <a:gd name="connsiteX36" fmla="*/ 742950 w 771525"/>
                <a:gd name="connsiteY36" fmla="*/ 221456 h 1135856"/>
                <a:gd name="connsiteX37" fmla="*/ 771525 w 771525"/>
                <a:gd name="connsiteY37" fmla="*/ 192881 h 1135856"/>
                <a:gd name="connsiteX38" fmla="*/ 752475 w 771525"/>
                <a:gd name="connsiteY38" fmla="*/ 161925 h 1135856"/>
                <a:gd name="connsiteX39" fmla="*/ 752475 w 771525"/>
                <a:gd name="connsiteY39" fmla="*/ 119062 h 1135856"/>
                <a:gd name="connsiteX40" fmla="*/ 719138 w 771525"/>
                <a:gd name="connsiteY40" fmla="*/ 85725 h 1135856"/>
                <a:gd name="connsiteX41" fmla="*/ 671513 w 771525"/>
                <a:gd name="connsiteY41" fmla="*/ 52387 h 1135856"/>
                <a:gd name="connsiteX42" fmla="*/ 645319 w 771525"/>
                <a:gd name="connsiteY42" fmla="*/ 35719 h 1135856"/>
                <a:gd name="connsiteX43" fmla="*/ 642938 w 771525"/>
                <a:gd name="connsiteY43" fmla="*/ 4762 h 1135856"/>
                <a:gd name="connsiteX44" fmla="*/ 609600 w 771525"/>
                <a:gd name="connsiteY44" fmla="*/ 0 h 1135856"/>
                <a:gd name="connsiteX45" fmla="*/ 583407 w 771525"/>
                <a:gd name="connsiteY45" fmla="*/ 23812 h 1135856"/>
                <a:gd name="connsiteX46" fmla="*/ 564357 w 771525"/>
                <a:gd name="connsiteY46" fmla="*/ 19050 h 1135856"/>
                <a:gd name="connsiteX47" fmla="*/ 554832 w 771525"/>
                <a:gd name="connsiteY47" fmla="*/ 42862 h 1135856"/>
                <a:gd name="connsiteX48" fmla="*/ 509588 w 771525"/>
                <a:gd name="connsiteY48" fmla="*/ 76200 h 1135856"/>
                <a:gd name="connsiteX49" fmla="*/ 407194 w 771525"/>
                <a:gd name="connsiteY49" fmla="*/ 114300 h 1135856"/>
                <a:gd name="connsiteX50" fmla="*/ 381000 w 771525"/>
                <a:gd name="connsiteY50" fmla="*/ 152400 h 1135856"/>
                <a:gd name="connsiteX51" fmla="*/ 340519 w 771525"/>
                <a:gd name="connsiteY51" fmla="*/ 140494 h 1135856"/>
                <a:gd name="connsiteX52" fmla="*/ 245269 w 771525"/>
                <a:gd name="connsiteY52" fmla="*/ 145256 h 1135856"/>
                <a:gd name="connsiteX53" fmla="*/ 250032 w 771525"/>
                <a:gd name="connsiteY53" fmla="*/ 154781 h 1135856"/>
                <a:gd name="connsiteX54" fmla="*/ 309563 w 771525"/>
                <a:gd name="connsiteY54" fmla="*/ 204787 h 1135856"/>
                <a:gd name="connsiteX55" fmla="*/ 211932 w 771525"/>
                <a:gd name="connsiteY55" fmla="*/ 328612 h 1135856"/>
                <a:gd name="connsiteX56" fmla="*/ 173832 w 771525"/>
                <a:gd name="connsiteY56" fmla="*/ 319087 h 1135856"/>
                <a:gd name="connsiteX57" fmla="*/ 80963 w 771525"/>
                <a:gd name="connsiteY57" fmla="*/ 452437 h 1135856"/>
                <a:gd name="connsiteX58" fmla="*/ 97632 w 771525"/>
                <a:gd name="connsiteY58" fmla="*/ 464344 h 1135856"/>
                <a:gd name="connsiteX59" fmla="*/ 114300 w 771525"/>
                <a:gd name="connsiteY59" fmla="*/ 504825 h 1135856"/>
                <a:gd name="connsiteX60" fmla="*/ 92869 w 771525"/>
                <a:gd name="connsiteY60" fmla="*/ 566737 h 1135856"/>
                <a:gd name="connsiteX61" fmla="*/ 102394 w 771525"/>
                <a:gd name="connsiteY61" fmla="*/ 640556 h 1135856"/>
                <a:gd name="connsiteX62" fmla="*/ 73819 w 771525"/>
                <a:gd name="connsiteY62" fmla="*/ 678656 h 1135856"/>
                <a:gd name="connsiteX63" fmla="*/ 73819 w 771525"/>
                <a:gd name="connsiteY63" fmla="*/ 704850 h 1135856"/>
                <a:gd name="connsiteX64" fmla="*/ 61913 w 771525"/>
                <a:gd name="connsiteY64" fmla="*/ 733425 h 1135856"/>
                <a:gd name="connsiteX65" fmla="*/ 88107 w 771525"/>
                <a:gd name="connsiteY65" fmla="*/ 762000 h 1135856"/>
                <a:gd name="connsiteX66" fmla="*/ 135732 w 771525"/>
                <a:gd name="connsiteY66" fmla="*/ 850106 h 1135856"/>
                <a:gd name="connsiteX67" fmla="*/ 69057 w 771525"/>
                <a:gd name="connsiteY67" fmla="*/ 876300 h 1135856"/>
                <a:gd name="connsiteX68" fmla="*/ 45244 w 771525"/>
                <a:gd name="connsiteY68" fmla="*/ 928687 h 1135856"/>
                <a:gd name="connsiteX69" fmla="*/ 33338 w 771525"/>
                <a:gd name="connsiteY69" fmla="*/ 983456 h 1135856"/>
                <a:gd name="connsiteX70" fmla="*/ 2382 w 771525"/>
                <a:gd name="connsiteY70" fmla="*/ 973931 h 1135856"/>
                <a:gd name="connsiteX71" fmla="*/ 0 w 771525"/>
                <a:gd name="connsiteY71" fmla="*/ 1021556 h 1135856"/>
                <a:gd name="connsiteX72" fmla="*/ 16669 w 771525"/>
                <a:gd name="connsiteY72" fmla="*/ 1031081 h 1135856"/>
                <a:gd name="connsiteX73" fmla="*/ 57150 w 771525"/>
                <a:gd name="connsiteY73" fmla="*/ 1040606 h 1135856"/>
                <a:gd name="connsiteX74" fmla="*/ 85725 w 771525"/>
                <a:gd name="connsiteY74" fmla="*/ 1054894 h 1135856"/>
                <a:gd name="connsiteX75" fmla="*/ 102394 w 771525"/>
                <a:gd name="connsiteY75" fmla="*/ 1109662 h 1135856"/>
                <a:gd name="connsiteX76" fmla="*/ 130969 w 771525"/>
                <a:gd name="connsiteY76" fmla="*/ 1135856 h 1135856"/>
                <a:gd name="connsiteX77" fmla="*/ 202407 w 771525"/>
                <a:gd name="connsiteY77" fmla="*/ 1131094 h 1135856"/>
                <a:gd name="connsiteX0" fmla="*/ 202407 w 771525"/>
                <a:gd name="connsiteY0" fmla="*/ 1131094 h 1135856"/>
                <a:gd name="connsiteX1" fmla="*/ 221457 w 771525"/>
                <a:gd name="connsiteY1" fmla="*/ 1064419 h 1135856"/>
                <a:gd name="connsiteX2" fmla="*/ 238125 w 771525"/>
                <a:gd name="connsiteY2" fmla="*/ 1042987 h 1135856"/>
                <a:gd name="connsiteX3" fmla="*/ 247650 w 771525"/>
                <a:gd name="connsiteY3" fmla="*/ 1012031 h 1135856"/>
                <a:gd name="connsiteX4" fmla="*/ 283369 w 771525"/>
                <a:gd name="connsiteY4" fmla="*/ 985837 h 1135856"/>
                <a:gd name="connsiteX5" fmla="*/ 319088 w 771525"/>
                <a:gd name="connsiteY5" fmla="*/ 962025 h 1135856"/>
                <a:gd name="connsiteX6" fmla="*/ 350044 w 771525"/>
                <a:gd name="connsiteY6" fmla="*/ 928687 h 1135856"/>
                <a:gd name="connsiteX7" fmla="*/ 354807 w 771525"/>
                <a:gd name="connsiteY7" fmla="*/ 900112 h 1135856"/>
                <a:gd name="connsiteX8" fmla="*/ 321469 w 771525"/>
                <a:gd name="connsiteY8" fmla="*/ 854869 h 1135856"/>
                <a:gd name="connsiteX9" fmla="*/ 323850 w 771525"/>
                <a:gd name="connsiteY9" fmla="*/ 785812 h 1135856"/>
                <a:gd name="connsiteX10" fmla="*/ 280988 w 771525"/>
                <a:gd name="connsiteY10" fmla="*/ 735806 h 1135856"/>
                <a:gd name="connsiteX11" fmla="*/ 288132 w 771525"/>
                <a:gd name="connsiteY11" fmla="*/ 697706 h 1135856"/>
                <a:gd name="connsiteX12" fmla="*/ 316707 w 771525"/>
                <a:gd name="connsiteY12" fmla="*/ 681037 h 1135856"/>
                <a:gd name="connsiteX13" fmla="*/ 330994 w 771525"/>
                <a:gd name="connsiteY13" fmla="*/ 707231 h 1135856"/>
                <a:gd name="connsiteX14" fmla="*/ 354807 w 771525"/>
                <a:gd name="connsiteY14" fmla="*/ 726281 h 1135856"/>
                <a:gd name="connsiteX15" fmla="*/ 369094 w 771525"/>
                <a:gd name="connsiteY15" fmla="*/ 745331 h 1135856"/>
                <a:gd name="connsiteX16" fmla="*/ 378619 w 771525"/>
                <a:gd name="connsiteY16" fmla="*/ 781050 h 1135856"/>
                <a:gd name="connsiteX17" fmla="*/ 395288 w 771525"/>
                <a:gd name="connsiteY17" fmla="*/ 797719 h 1135856"/>
                <a:gd name="connsiteX18" fmla="*/ 409575 w 771525"/>
                <a:gd name="connsiteY18" fmla="*/ 792956 h 1135856"/>
                <a:gd name="connsiteX19" fmla="*/ 426244 w 771525"/>
                <a:gd name="connsiteY19" fmla="*/ 785812 h 1135856"/>
                <a:gd name="connsiteX20" fmla="*/ 423863 w 771525"/>
                <a:gd name="connsiteY20" fmla="*/ 676275 h 1135856"/>
                <a:gd name="connsiteX21" fmla="*/ 409575 w 771525"/>
                <a:gd name="connsiteY21" fmla="*/ 640556 h 1135856"/>
                <a:gd name="connsiteX22" fmla="*/ 411957 w 771525"/>
                <a:gd name="connsiteY22" fmla="*/ 614362 h 1135856"/>
                <a:gd name="connsiteX23" fmla="*/ 426244 w 771525"/>
                <a:gd name="connsiteY23" fmla="*/ 566737 h 1135856"/>
                <a:gd name="connsiteX24" fmla="*/ 473869 w 771525"/>
                <a:gd name="connsiteY24" fmla="*/ 566737 h 1135856"/>
                <a:gd name="connsiteX25" fmla="*/ 488157 w 771525"/>
                <a:gd name="connsiteY25" fmla="*/ 552450 h 1135856"/>
                <a:gd name="connsiteX26" fmla="*/ 509588 w 771525"/>
                <a:gd name="connsiteY26" fmla="*/ 502444 h 1135856"/>
                <a:gd name="connsiteX27" fmla="*/ 604838 w 771525"/>
                <a:gd name="connsiteY27" fmla="*/ 457200 h 1135856"/>
                <a:gd name="connsiteX28" fmla="*/ 628650 w 771525"/>
                <a:gd name="connsiteY28" fmla="*/ 447675 h 1135856"/>
                <a:gd name="connsiteX29" fmla="*/ 638175 w 771525"/>
                <a:gd name="connsiteY29" fmla="*/ 402431 h 1135856"/>
                <a:gd name="connsiteX30" fmla="*/ 638175 w 771525"/>
                <a:gd name="connsiteY30" fmla="*/ 361950 h 1135856"/>
                <a:gd name="connsiteX31" fmla="*/ 640557 w 771525"/>
                <a:gd name="connsiteY31" fmla="*/ 340519 h 1135856"/>
                <a:gd name="connsiteX32" fmla="*/ 652463 w 771525"/>
                <a:gd name="connsiteY32" fmla="*/ 333375 h 1135856"/>
                <a:gd name="connsiteX33" fmla="*/ 742950 w 771525"/>
                <a:gd name="connsiteY33" fmla="*/ 297656 h 1135856"/>
                <a:gd name="connsiteX34" fmla="*/ 766763 w 771525"/>
                <a:gd name="connsiteY34" fmla="*/ 280987 h 1135856"/>
                <a:gd name="connsiteX35" fmla="*/ 754857 w 771525"/>
                <a:gd name="connsiteY35" fmla="*/ 252412 h 1135856"/>
                <a:gd name="connsiteX36" fmla="*/ 742950 w 771525"/>
                <a:gd name="connsiteY36" fmla="*/ 221456 h 1135856"/>
                <a:gd name="connsiteX37" fmla="*/ 771525 w 771525"/>
                <a:gd name="connsiteY37" fmla="*/ 192881 h 1135856"/>
                <a:gd name="connsiteX38" fmla="*/ 752475 w 771525"/>
                <a:gd name="connsiteY38" fmla="*/ 161925 h 1135856"/>
                <a:gd name="connsiteX39" fmla="*/ 752475 w 771525"/>
                <a:gd name="connsiteY39" fmla="*/ 119062 h 1135856"/>
                <a:gd name="connsiteX40" fmla="*/ 719138 w 771525"/>
                <a:gd name="connsiteY40" fmla="*/ 85725 h 1135856"/>
                <a:gd name="connsiteX41" fmla="*/ 671513 w 771525"/>
                <a:gd name="connsiteY41" fmla="*/ 52387 h 1135856"/>
                <a:gd name="connsiteX42" fmla="*/ 645319 w 771525"/>
                <a:gd name="connsiteY42" fmla="*/ 35719 h 1135856"/>
                <a:gd name="connsiteX43" fmla="*/ 642938 w 771525"/>
                <a:gd name="connsiteY43" fmla="*/ 4762 h 1135856"/>
                <a:gd name="connsiteX44" fmla="*/ 609600 w 771525"/>
                <a:gd name="connsiteY44" fmla="*/ 0 h 1135856"/>
                <a:gd name="connsiteX45" fmla="*/ 583407 w 771525"/>
                <a:gd name="connsiteY45" fmla="*/ 23812 h 1135856"/>
                <a:gd name="connsiteX46" fmla="*/ 564357 w 771525"/>
                <a:gd name="connsiteY46" fmla="*/ 19050 h 1135856"/>
                <a:gd name="connsiteX47" fmla="*/ 554832 w 771525"/>
                <a:gd name="connsiteY47" fmla="*/ 42862 h 1135856"/>
                <a:gd name="connsiteX48" fmla="*/ 509588 w 771525"/>
                <a:gd name="connsiteY48" fmla="*/ 76200 h 1135856"/>
                <a:gd name="connsiteX49" fmla="*/ 407194 w 771525"/>
                <a:gd name="connsiteY49" fmla="*/ 114300 h 1135856"/>
                <a:gd name="connsiteX50" fmla="*/ 381000 w 771525"/>
                <a:gd name="connsiteY50" fmla="*/ 152400 h 1135856"/>
                <a:gd name="connsiteX51" fmla="*/ 340519 w 771525"/>
                <a:gd name="connsiteY51" fmla="*/ 140494 h 1135856"/>
                <a:gd name="connsiteX52" fmla="*/ 245269 w 771525"/>
                <a:gd name="connsiteY52" fmla="*/ 145256 h 1135856"/>
                <a:gd name="connsiteX53" fmla="*/ 250032 w 771525"/>
                <a:gd name="connsiteY53" fmla="*/ 154781 h 1135856"/>
                <a:gd name="connsiteX54" fmla="*/ 309563 w 771525"/>
                <a:gd name="connsiteY54" fmla="*/ 204787 h 1135856"/>
                <a:gd name="connsiteX55" fmla="*/ 211932 w 771525"/>
                <a:gd name="connsiteY55" fmla="*/ 328612 h 1135856"/>
                <a:gd name="connsiteX56" fmla="*/ 173832 w 771525"/>
                <a:gd name="connsiteY56" fmla="*/ 319087 h 1135856"/>
                <a:gd name="connsiteX57" fmla="*/ 80963 w 771525"/>
                <a:gd name="connsiteY57" fmla="*/ 452437 h 1135856"/>
                <a:gd name="connsiteX58" fmla="*/ 97632 w 771525"/>
                <a:gd name="connsiteY58" fmla="*/ 464344 h 1135856"/>
                <a:gd name="connsiteX59" fmla="*/ 114300 w 771525"/>
                <a:gd name="connsiteY59" fmla="*/ 504825 h 1135856"/>
                <a:gd name="connsiteX60" fmla="*/ 92869 w 771525"/>
                <a:gd name="connsiteY60" fmla="*/ 566737 h 1135856"/>
                <a:gd name="connsiteX61" fmla="*/ 102394 w 771525"/>
                <a:gd name="connsiteY61" fmla="*/ 640556 h 1135856"/>
                <a:gd name="connsiteX62" fmla="*/ 73819 w 771525"/>
                <a:gd name="connsiteY62" fmla="*/ 678656 h 1135856"/>
                <a:gd name="connsiteX63" fmla="*/ 73819 w 771525"/>
                <a:gd name="connsiteY63" fmla="*/ 704850 h 1135856"/>
                <a:gd name="connsiteX64" fmla="*/ 61913 w 771525"/>
                <a:gd name="connsiteY64" fmla="*/ 733425 h 1135856"/>
                <a:gd name="connsiteX65" fmla="*/ 88107 w 771525"/>
                <a:gd name="connsiteY65" fmla="*/ 762000 h 1135856"/>
                <a:gd name="connsiteX66" fmla="*/ 135732 w 771525"/>
                <a:gd name="connsiteY66" fmla="*/ 850106 h 1135856"/>
                <a:gd name="connsiteX67" fmla="*/ 69057 w 771525"/>
                <a:gd name="connsiteY67" fmla="*/ 876300 h 1135856"/>
                <a:gd name="connsiteX68" fmla="*/ 45244 w 771525"/>
                <a:gd name="connsiteY68" fmla="*/ 928687 h 1135856"/>
                <a:gd name="connsiteX69" fmla="*/ 33338 w 771525"/>
                <a:gd name="connsiteY69" fmla="*/ 983456 h 1135856"/>
                <a:gd name="connsiteX70" fmla="*/ 2382 w 771525"/>
                <a:gd name="connsiteY70" fmla="*/ 973931 h 1135856"/>
                <a:gd name="connsiteX71" fmla="*/ 0 w 771525"/>
                <a:gd name="connsiteY71" fmla="*/ 1021556 h 1135856"/>
                <a:gd name="connsiteX72" fmla="*/ 16669 w 771525"/>
                <a:gd name="connsiteY72" fmla="*/ 1031081 h 1135856"/>
                <a:gd name="connsiteX73" fmla="*/ 57150 w 771525"/>
                <a:gd name="connsiteY73" fmla="*/ 1040606 h 1135856"/>
                <a:gd name="connsiteX74" fmla="*/ 85725 w 771525"/>
                <a:gd name="connsiteY74" fmla="*/ 1054894 h 1135856"/>
                <a:gd name="connsiteX75" fmla="*/ 102394 w 771525"/>
                <a:gd name="connsiteY75" fmla="*/ 1109662 h 1135856"/>
                <a:gd name="connsiteX76" fmla="*/ 130969 w 771525"/>
                <a:gd name="connsiteY76" fmla="*/ 1135856 h 1135856"/>
                <a:gd name="connsiteX77" fmla="*/ 157163 w 771525"/>
                <a:gd name="connsiteY77" fmla="*/ 1135856 h 1135856"/>
                <a:gd name="connsiteX78" fmla="*/ 202407 w 771525"/>
                <a:gd name="connsiteY78" fmla="*/ 1131094 h 1135856"/>
                <a:gd name="connsiteX0" fmla="*/ 202407 w 771525"/>
                <a:gd name="connsiteY0" fmla="*/ 1131094 h 1164431"/>
                <a:gd name="connsiteX1" fmla="*/ 221457 w 771525"/>
                <a:gd name="connsiteY1" fmla="*/ 1064419 h 1164431"/>
                <a:gd name="connsiteX2" fmla="*/ 238125 w 771525"/>
                <a:gd name="connsiteY2" fmla="*/ 1042987 h 1164431"/>
                <a:gd name="connsiteX3" fmla="*/ 247650 w 771525"/>
                <a:gd name="connsiteY3" fmla="*/ 1012031 h 1164431"/>
                <a:gd name="connsiteX4" fmla="*/ 283369 w 771525"/>
                <a:gd name="connsiteY4" fmla="*/ 985837 h 1164431"/>
                <a:gd name="connsiteX5" fmla="*/ 319088 w 771525"/>
                <a:gd name="connsiteY5" fmla="*/ 962025 h 1164431"/>
                <a:gd name="connsiteX6" fmla="*/ 350044 w 771525"/>
                <a:gd name="connsiteY6" fmla="*/ 928687 h 1164431"/>
                <a:gd name="connsiteX7" fmla="*/ 354807 w 771525"/>
                <a:gd name="connsiteY7" fmla="*/ 900112 h 1164431"/>
                <a:gd name="connsiteX8" fmla="*/ 321469 w 771525"/>
                <a:gd name="connsiteY8" fmla="*/ 854869 h 1164431"/>
                <a:gd name="connsiteX9" fmla="*/ 323850 w 771525"/>
                <a:gd name="connsiteY9" fmla="*/ 785812 h 1164431"/>
                <a:gd name="connsiteX10" fmla="*/ 280988 w 771525"/>
                <a:gd name="connsiteY10" fmla="*/ 735806 h 1164431"/>
                <a:gd name="connsiteX11" fmla="*/ 288132 w 771525"/>
                <a:gd name="connsiteY11" fmla="*/ 697706 h 1164431"/>
                <a:gd name="connsiteX12" fmla="*/ 316707 w 771525"/>
                <a:gd name="connsiteY12" fmla="*/ 681037 h 1164431"/>
                <a:gd name="connsiteX13" fmla="*/ 330994 w 771525"/>
                <a:gd name="connsiteY13" fmla="*/ 707231 h 1164431"/>
                <a:gd name="connsiteX14" fmla="*/ 354807 w 771525"/>
                <a:gd name="connsiteY14" fmla="*/ 726281 h 1164431"/>
                <a:gd name="connsiteX15" fmla="*/ 369094 w 771525"/>
                <a:gd name="connsiteY15" fmla="*/ 745331 h 1164431"/>
                <a:gd name="connsiteX16" fmla="*/ 378619 w 771525"/>
                <a:gd name="connsiteY16" fmla="*/ 781050 h 1164431"/>
                <a:gd name="connsiteX17" fmla="*/ 395288 w 771525"/>
                <a:gd name="connsiteY17" fmla="*/ 797719 h 1164431"/>
                <a:gd name="connsiteX18" fmla="*/ 409575 w 771525"/>
                <a:gd name="connsiteY18" fmla="*/ 792956 h 1164431"/>
                <a:gd name="connsiteX19" fmla="*/ 426244 w 771525"/>
                <a:gd name="connsiteY19" fmla="*/ 785812 h 1164431"/>
                <a:gd name="connsiteX20" fmla="*/ 423863 w 771525"/>
                <a:gd name="connsiteY20" fmla="*/ 676275 h 1164431"/>
                <a:gd name="connsiteX21" fmla="*/ 409575 w 771525"/>
                <a:gd name="connsiteY21" fmla="*/ 640556 h 1164431"/>
                <a:gd name="connsiteX22" fmla="*/ 411957 w 771525"/>
                <a:gd name="connsiteY22" fmla="*/ 614362 h 1164431"/>
                <a:gd name="connsiteX23" fmla="*/ 426244 w 771525"/>
                <a:gd name="connsiteY23" fmla="*/ 566737 h 1164431"/>
                <a:gd name="connsiteX24" fmla="*/ 473869 w 771525"/>
                <a:gd name="connsiteY24" fmla="*/ 566737 h 1164431"/>
                <a:gd name="connsiteX25" fmla="*/ 488157 w 771525"/>
                <a:gd name="connsiteY25" fmla="*/ 552450 h 1164431"/>
                <a:gd name="connsiteX26" fmla="*/ 509588 w 771525"/>
                <a:gd name="connsiteY26" fmla="*/ 502444 h 1164431"/>
                <a:gd name="connsiteX27" fmla="*/ 604838 w 771525"/>
                <a:gd name="connsiteY27" fmla="*/ 457200 h 1164431"/>
                <a:gd name="connsiteX28" fmla="*/ 628650 w 771525"/>
                <a:gd name="connsiteY28" fmla="*/ 447675 h 1164431"/>
                <a:gd name="connsiteX29" fmla="*/ 638175 w 771525"/>
                <a:gd name="connsiteY29" fmla="*/ 402431 h 1164431"/>
                <a:gd name="connsiteX30" fmla="*/ 638175 w 771525"/>
                <a:gd name="connsiteY30" fmla="*/ 361950 h 1164431"/>
                <a:gd name="connsiteX31" fmla="*/ 640557 w 771525"/>
                <a:gd name="connsiteY31" fmla="*/ 340519 h 1164431"/>
                <a:gd name="connsiteX32" fmla="*/ 652463 w 771525"/>
                <a:gd name="connsiteY32" fmla="*/ 333375 h 1164431"/>
                <a:gd name="connsiteX33" fmla="*/ 742950 w 771525"/>
                <a:gd name="connsiteY33" fmla="*/ 297656 h 1164431"/>
                <a:gd name="connsiteX34" fmla="*/ 766763 w 771525"/>
                <a:gd name="connsiteY34" fmla="*/ 280987 h 1164431"/>
                <a:gd name="connsiteX35" fmla="*/ 754857 w 771525"/>
                <a:gd name="connsiteY35" fmla="*/ 252412 h 1164431"/>
                <a:gd name="connsiteX36" fmla="*/ 742950 w 771525"/>
                <a:gd name="connsiteY36" fmla="*/ 221456 h 1164431"/>
                <a:gd name="connsiteX37" fmla="*/ 771525 w 771525"/>
                <a:gd name="connsiteY37" fmla="*/ 192881 h 1164431"/>
                <a:gd name="connsiteX38" fmla="*/ 752475 w 771525"/>
                <a:gd name="connsiteY38" fmla="*/ 161925 h 1164431"/>
                <a:gd name="connsiteX39" fmla="*/ 752475 w 771525"/>
                <a:gd name="connsiteY39" fmla="*/ 119062 h 1164431"/>
                <a:gd name="connsiteX40" fmla="*/ 719138 w 771525"/>
                <a:gd name="connsiteY40" fmla="*/ 85725 h 1164431"/>
                <a:gd name="connsiteX41" fmla="*/ 671513 w 771525"/>
                <a:gd name="connsiteY41" fmla="*/ 52387 h 1164431"/>
                <a:gd name="connsiteX42" fmla="*/ 645319 w 771525"/>
                <a:gd name="connsiteY42" fmla="*/ 35719 h 1164431"/>
                <a:gd name="connsiteX43" fmla="*/ 642938 w 771525"/>
                <a:gd name="connsiteY43" fmla="*/ 4762 h 1164431"/>
                <a:gd name="connsiteX44" fmla="*/ 609600 w 771525"/>
                <a:gd name="connsiteY44" fmla="*/ 0 h 1164431"/>
                <a:gd name="connsiteX45" fmla="*/ 583407 w 771525"/>
                <a:gd name="connsiteY45" fmla="*/ 23812 h 1164431"/>
                <a:gd name="connsiteX46" fmla="*/ 564357 w 771525"/>
                <a:gd name="connsiteY46" fmla="*/ 19050 h 1164431"/>
                <a:gd name="connsiteX47" fmla="*/ 554832 w 771525"/>
                <a:gd name="connsiteY47" fmla="*/ 42862 h 1164431"/>
                <a:gd name="connsiteX48" fmla="*/ 509588 w 771525"/>
                <a:gd name="connsiteY48" fmla="*/ 76200 h 1164431"/>
                <a:gd name="connsiteX49" fmla="*/ 407194 w 771525"/>
                <a:gd name="connsiteY49" fmla="*/ 114300 h 1164431"/>
                <a:gd name="connsiteX50" fmla="*/ 381000 w 771525"/>
                <a:gd name="connsiteY50" fmla="*/ 152400 h 1164431"/>
                <a:gd name="connsiteX51" fmla="*/ 340519 w 771525"/>
                <a:gd name="connsiteY51" fmla="*/ 140494 h 1164431"/>
                <a:gd name="connsiteX52" fmla="*/ 245269 w 771525"/>
                <a:gd name="connsiteY52" fmla="*/ 145256 h 1164431"/>
                <a:gd name="connsiteX53" fmla="*/ 250032 w 771525"/>
                <a:gd name="connsiteY53" fmla="*/ 154781 h 1164431"/>
                <a:gd name="connsiteX54" fmla="*/ 309563 w 771525"/>
                <a:gd name="connsiteY54" fmla="*/ 204787 h 1164431"/>
                <a:gd name="connsiteX55" fmla="*/ 211932 w 771525"/>
                <a:gd name="connsiteY55" fmla="*/ 328612 h 1164431"/>
                <a:gd name="connsiteX56" fmla="*/ 173832 w 771525"/>
                <a:gd name="connsiteY56" fmla="*/ 319087 h 1164431"/>
                <a:gd name="connsiteX57" fmla="*/ 80963 w 771525"/>
                <a:gd name="connsiteY57" fmla="*/ 452437 h 1164431"/>
                <a:gd name="connsiteX58" fmla="*/ 97632 w 771525"/>
                <a:gd name="connsiteY58" fmla="*/ 464344 h 1164431"/>
                <a:gd name="connsiteX59" fmla="*/ 114300 w 771525"/>
                <a:gd name="connsiteY59" fmla="*/ 504825 h 1164431"/>
                <a:gd name="connsiteX60" fmla="*/ 92869 w 771525"/>
                <a:gd name="connsiteY60" fmla="*/ 566737 h 1164431"/>
                <a:gd name="connsiteX61" fmla="*/ 102394 w 771525"/>
                <a:gd name="connsiteY61" fmla="*/ 640556 h 1164431"/>
                <a:gd name="connsiteX62" fmla="*/ 73819 w 771525"/>
                <a:gd name="connsiteY62" fmla="*/ 678656 h 1164431"/>
                <a:gd name="connsiteX63" fmla="*/ 73819 w 771525"/>
                <a:gd name="connsiteY63" fmla="*/ 704850 h 1164431"/>
                <a:gd name="connsiteX64" fmla="*/ 61913 w 771525"/>
                <a:gd name="connsiteY64" fmla="*/ 733425 h 1164431"/>
                <a:gd name="connsiteX65" fmla="*/ 88107 w 771525"/>
                <a:gd name="connsiteY65" fmla="*/ 762000 h 1164431"/>
                <a:gd name="connsiteX66" fmla="*/ 135732 w 771525"/>
                <a:gd name="connsiteY66" fmla="*/ 850106 h 1164431"/>
                <a:gd name="connsiteX67" fmla="*/ 69057 w 771525"/>
                <a:gd name="connsiteY67" fmla="*/ 876300 h 1164431"/>
                <a:gd name="connsiteX68" fmla="*/ 45244 w 771525"/>
                <a:gd name="connsiteY68" fmla="*/ 928687 h 1164431"/>
                <a:gd name="connsiteX69" fmla="*/ 33338 w 771525"/>
                <a:gd name="connsiteY69" fmla="*/ 983456 h 1164431"/>
                <a:gd name="connsiteX70" fmla="*/ 2382 w 771525"/>
                <a:gd name="connsiteY70" fmla="*/ 973931 h 1164431"/>
                <a:gd name="connsiteX71" fmla="*/ 0 w 771525"/>
                <a:gd name="connsiteY71" fmla="*/ 1021556 h 1164431"/>
                <a:gd name="connsiteX72" fmla="*/ 16669 w 771525"/>
                <a:gd name="connsiteY72" fmla="*/ 1031081 h 1164431"/>
                <a:gd name="connsiteX73" fmla="*/ 57150 w 771525"/>
                <a:gd name="connsiteY73" fmla="*/ 1040606 h 1164431"/>
                <a:gd name="connsiteX74" fmla="*/ 85725 w 771525"/>
                <a:gd name="connsiteY74" fmla="*/ 1054894 h 1164431"/>
                <a:gd name="connsiteX75" fmla="*/ 102394 w 771525"/>
                <a:gd name="connsiteY75" fmla="*/ 1109662 h 1164431"/>
                <a:gd name="connsiteX76" fmla="*/ 130969 w 771525"/>
                <a:gd name="connsiteY76" fmla="*/ 1135856 h 1164431"/>
                <a:gd name="connsiteX77" fmla="*/ 157163 w 771525"/>
                <a:gd name="connsiteY77" fmla="*/ 1164431 h 1164431"/>
                <a:gd name="connsiteX78" fmla="*/ 202407 w 771525"/>
                <a:gd name="connsiteY78" fmla="*/ 1131094 h 1164431"/>
                <a:gd name="connsiteX0" fmla="*/ 202407 w 771525"/>
                <a:gd name="connsiteY0" fmla="*/ 1131094 h 1164431"/>
                <a:gd name="connsiteX1" fmla="*/ 221457 w 771525"/>
                <a:gd name="connsiteY1" fmla="*/ 1064419 h 1164431"/>
                <a:gd name="connsiteX2" fmla="*/ 238125 w 771525"/>
                <a:gd name="connsiteY2" fmla="*/ 1042987 h 1164431"/>
                <a:gd name="connsiteX3" fmla="*/ 247650 w 771525"/>
                <a:gd name="connsiteY3" fmla="*/ 1012031 h 1164431"/>
                <a:gd name="connsiteX4" fmla="*/ 283369 w 771525"/>
                <a:gd name="connsiteY4" fmla="*/ 985837 h 1164431"/>
                <a:gd name="connsiteX5" fmla="*/ 319088 w 771525"/>
                <a:gd name="connsiteY5" fmla="*/ 962025 h 1164431"/>
                <a:gd name="connsiteX6" fmla="*/ 350044 w 771525"/>
                <a:gd name="connsiteY6" fmla="*/ 928687 h 1164431"/>
                <a:gd name="connsiteX7" fmla="*/ 354807 w 771525"/>
                <a:gd name="connsiteY7" fmla="*/ 900112 h 1164431"/>
                <a:gd name="connsiteX8" fmla="*/ 321469 w 771525"/>
                <a:gd name="connsiteY8" fmla="*/ 854869 h 1164431"/>
                <a:gd name="connsiteX9" fmla="*/ 323850 w 771525"/>
                <a:gd name="connsiteY9" fmla="*/ 785812 h 1164431"/>
                <a:gd name="connsiteX10" fmla="*/ 280988 w 771525"/>
                <a:gd name="connsiteY10" fmla="*/ 735806 h 1164431"/>
                <a:gd name="connsiteX11" fmla="*/ 288132 w 771525"/>
                <a:gd name="connsiteY11" fmla="*/ 697706 h 1164431"/>
                <a:gd name="connsiteX12" fmla="*/ 316707 w 771525"/>
                <a:gd name="connsiteY12" fmla="*/ 681037 h 1164431"/>
                <a:gd name="connsiteX13" fmla="*/ 330994 w 771525"/>
                <a:gd name="connsiteY13" fmla="*/ 707231 h 1164431"/>
                <a:gd name="connsiteX14" fmla="*/ 354807 w 771525"/>
                <a:gd name="connsiteY14" fmla="*/ 726281 h 1164431"/>
                <a:gd name="connsiteX15" fmla="*/ 369094 w 771525"/>
                <a:gd name="connsiteY15" fmla="*/ 745331 h 1164431"/>
                <a:gd name="connsiteX16" fmla="*/ 378619 w 771525"/>
                <a:gd name="connsiteY16" fmla="*/ 781050 h 1164431"/>
                <a:gd name="connsiteX17" fmla="*/ 395288 w 771525"/>
                <a:gd name="connsiteY17" fmla="*/ 797719 h 1164431"/>
                <a:gd name="connsiteX18" fmla="*/ 409575 w 771525"/>
                <a:gd name="connsiteY18" fmla="*/ 792956 h 1164431"/>
                <a:gd name="connsiteX19" fmla="*/ 426244 w 771525"/>
                <a:gd name="connsiteY19" fmla="*/ 785812 h 1164431"/>
                <a:gd name="connsiteX20" fmla="*/ 423863 w 771525"/>
                <a:gd name="connsiteY20" fmla="*/ 676275 h 1164431"/>
                <a:gd name="connsiteX21" fmla="*/ 409575 w 771525"/>
                <a:gd name="connsiteY21" fmla="*/ 640556 h 1164431"/>
                <a:gd name="connsiteX22" fmla="*/ 411957 w 771525"/>
                <a:gd name="connsiteY22" fmla="*/ 614362 h 1164431"/>
                <a:gd name="connsiteX23" fmla="*/ 426244 w 771525"/>
                <a:gd name="connsiteY23" fmla="*/ 566737 h 1164431"/>
                <a:gd name="connsiteX24" fmla="*/ 473869 w 771525"/>
                <a:gd name="connsiteY24" fmla="*/ 566737 h 1164431"/>
                <a:gd name="connsiteX25" fmla="*/ 488157 w 771525"/>
                <a:gd name="connsiteY25" fmla="*/ 552450 h 1164431"/>
                <a:gd name="connsiteX26" fmla="*/ 509588 w 771525"/>
                <a:gd name="connsiteY26" fmla="*/ 502444 h 1164431"/>
                <a:gd name="connsiteX27" fmla="*/ 604838 w 771525"/>
                <a:gd name="connsiteY27" fmla="*/ 457200 h 1164431"/>
                <a:gd name="connsiteX28" fmla="*/ 628650 w 771525"/>
                <a:gd name="connsiteY28" fmla="*/ 447675 h 1164431"/>
                <a:gd name="connsiteX29" fmla="*/ 638175 w 771525"/>
                <a:gd name="connsiteY29" fmla="*/ 402431 h 1164431"/>
                <a:gd name="connsiteX30" fmla="*/ 638175 w 771525"/>
                <a:gd name="connsiteY30" fmla="*/ 361950 h 1164431"/>
                <a:gd name="connsiteX31" fmla="*/ 640557 w 771525"/>
                <a:gd name="connsiteY31" fmla="*/ 340519 h 1164431"/>
                <a:gd name="connsiteX32" fmla="*/ 652463 w 771525"/>
                <a:gd name="connsiteY32" fmla="*/ 333375 h 1164431"/>
                <a:gd name="connsiteX33" fmla="*/ 742950 w 771525"/>
                <a:gd name="connsiteY33" fmla="*/ 297656 h 1164431"/>
                <a:gd name="connsiteX34" fmla="*/ 766763 w 771525"/>
                <a:gd name="connsiteY34" fmla="*/ 280987 h 1164431"/>
                <a:gd name="connsiteX35" fmla="*/ 754857 w 771525"/>
                <a:gd name="connsiteY35" fmla="*/ 252412 h 1164431"/>
                <a:gd name="connsiteX36" fmla="*/ 742950 w 771525"/>
                <a:gd name="connsiteY36" fmla="*/ 221456 h 1164431"/>
                <a:gd name="connsiteX37" fmla="*/ 771525 w 771525"/>
                <a:gd name="connsiteY37" fmla="*/ 192881 h 1164431"/>
                <a:gd name="connsiteX38" fmla="*/ 752475 w 771525"/>
                <a:gd name="connsiteY38" fmla="*/ 161925 h 1164431"/>
                <a:gd name="connsiteX39" fmla="*/ 752475 w 771525"/>
                <a:gd name="connsiteY39" fmla="*/ 119062 h 1164431"/>
                <a:gd name="connsiteX40" fmla="*/ 719138 w 771525"/>
                <a:gd name="connsiteY40" fmla="*/ 85725 h 1164431"/>
                <a:gd name="connsiteX41" fmla="*/ 671513 w 771525"/>
                <a:gd name="connsiteY41" fmla="*/ 52387 h 1164431"/>
                <a:gd name="connsiteX42" fmla="*/ 645319 w 771525"/>
                <a:gd name="connsiteY42" fmla="*/ 35719 h 1164431"/>
                <a:gd name="connsiteX43" fmla="*/ 642938 w 771525"/>
                <a:gd name="connsiteY43" fmla="*/ 4762 h 1164431"/>
                <a:gd name="connsiteX44" fmla="*/ 609600 w 771525"/>
                <a:gd name="connsiteY44" fmla="*/ 0 h 1164431"/>
                <a:gd name="connsiteX45" fmla="*/ 583407 w 771525"/>
                <a:gd name="connsiteY45" fmla="*/ 23812 h 1164431"/>
                <a:gd name="connsiteX46" fmla="*/ 564357 w 771525"/>
                <a:gd name="connsiteY46" fmla="*/ 19050 h 1164431"/>
                <a:gd name="connsiteX47" fmla="*/ 554832 w 771525"/>
                <a:gd name="connsiteY47" fmla="*/ 42862 h 1164431"/>
                <a:gd name="connsiteX48" fmla="*/ 509588 w 771525"/>
                <a:gd name="connsiteY48" fmla="*/ 76200 h 1164431"/>
                <a:gd name="connsiteX49" fmla="*/ 407194 w 771525"/>
                <a:gd name="connsiteY49" fmla="*/ 114300 h 1164431"/>
                <a:gd name="connsiteX50" fmla="*/ 381000 w 771525"/>
                <a:gd name="connsiteY50" fmla="*/ 152400 h 1164431"/>
                <a:gd name="connsiteX51" fmla="*/ 340519 w 771525"/>
                <a:gd name="connsiteY51" fmla="*/ 140494 h 1164431"/>
                <a:gd name="connsiteX52" fmla="*/ 245269 w 771525"/>
                <a:gd name="connsiteY52" fmla="*/ 145256 h 1164431"/>
                <a:gd name="connsiteX53" fmla="*/ 250032 w 771525"/>
                <a:gd name="connsiteY53" fmla="*/ 154781 h 1164431"/>
                <a:gd name="connsiteX54" fmla="*/ 309563 w 771525"/>
                <a:gd name="connsiteY54" fmla="*/ 204787 h 1164431"/>
                <a:gd name="connsiteX55" fmla="*/ 211932 w 771525"/>
                <a:gd name="connsiteY55" fmla="*/ 328612 h 1164431"/>
                <a:gd name="connsiteX56" fmla="*/ 173832 w 771525"/>
                <a:gd name="connsiteY56" fmla="*/ 319087 h 1164431"/>
                <a:gd name="connsiteX57" fmla="*/ 80963 w 771525"/>
                <a:gd name="connsiteY57" fmla="*/ 452437 h 1164431"/>
                <a:gd name="connsiteX58" fmla="*/ 97632 w 771525"/>
                <a:gd name="connsiteY58" fmla="*/ 464344 h 1164431"/>
                <a:gd name="connsiteX59" fmla="*/ 114300 w 771525"/>
                <a:gd name="connsiteY59" fmla="*/ 504825 h 1164431"/>
                <a:gd name="connsiteX60" fmla="*/ 92869 w 771525"/>
                <a:gd name="connsiteY60" fmla="*/ 566737 h 1164431"/>
                <a:gd name="connsiteX61" fmla="*/ 102394 w 771525"/>
                <a:gd name="connsiteY61" fmla="*/ 640556 h 1164431"/>
                <a:gd name="connsiteX62" fmla="*/ 73819 w 771525"/>
                <a:gd name="connsiteY62" fmla="*/ 678656 h 1164431"/>
                <a:gd name="connsiteX63" fmla="*/ 73819 w 771525"/>
                <a:gd name="connsiteY63" fmla="*/ 704850 h 1164431"/>
                <a:gd name="connsiteX64" fmla="*/ 61913 w 771525"/>
                <a:gd name="connsiteY64" fmla="*/ 733425 h 1164431"/>
                <a:gd name="connsiteX65" fmla="*/ 88107 w 771525"/>
                <a:gd name="connsiteY65" fmla="*/ 762000 h 1164431"/>
                <a:gd name="connsiteX66" fmla="*/ 135732 w 771525"/>
                <a:gd name="connsiteY66" fmla="*/ 850106 h 1164431"/>
                <a:gd name="connsiteX67" fmla="*/ 69057 w 771525"/>
                <a:gd name="connsiteY67" fmla="*/ 876300 h 1164431"/>
                <a:gd name="connsiteX68" fmla="*/ 45244 w 771525"/>
                <a:gd name="connsiteY68" fmla="*/ 928687 h 1164431"/>
                <a:gd name="connsiteX69" fmla="*/ 33338 w 771525"/>
                <a:gd name="connsiteY69" fmla="*/ 983456 h 1164431"/>
                <a:gd name="connsiteX70" fmla="*/ 2382 w 771525"/>
                <a:gd name="connsiteY70" fmla="*/ 973931 h 1164431"/>
                <a:gd name="connsiteX71" fmla="*/ 0 w 771525"/>
                <a:gd name="connsiteY71" fmla="*/ 1021556 h 1164431"/>
                <a:gd name="connsiteX72" fmla="*/ 16669 w 771525"/>
                <a:gd name="connsiteY72" fmla="*/ 1031081 h 1164431"/>
                <a:gd name="connsiteX73" fmla="*/ 57150 w 771525"/>
                <a:gd name="connsiteY73" fmla="*/ 1040606 h 1164431"/>
                <a:gd name="connsiteX74" fmla="*/ 85725 w 771525"/>
                <a:gd name="connsiteY74" fmla="*/ 1054894 h 1164431"/>
                <a:gd name="connsiteX75" fmla="*/ 102394 w 771525"/>
                <a:gd name="connsiteY75" fmla="*/ 1109662 h 1164431"/>
                <a:gd name="connsiteX76" fmla="*/ 130969 w 771525"/>
                <a:gd name="connsiteY76" fmla="*/ 1135856 h 1164431"/>
                <a:gd name="connsiteX77" fmla="*/ 157163 w 771525"/>
                <a:gd name="connsiteY77" fmla="*/ 1164431 h 1164431"/>
                <a:gd name="connsiteX78" fmla="*/ 185738 w 771525"/>
                <a:gd name="connsiteY78" fmla="*/ 1140619 h 1164431"/>
                <a:gd name="connsiteX79" fmla="*/ 202407 w 771525"/>
                <a:gd name="connsiteY79" fmla="*/ 1131094 h 1164431"/>
                <a:gd name="connsiteX0" fmla="*/ 202407 w 771525"/>
                <a:gd name="connsiteY0" fmla="*/ 1131094 h 1164431"/>
                <a:gd name="connsiteX1" fmla="*/ 221457 w 771525"/>
                <a:gd name="connsiteY1" fmla="*/ 1064419 h 1164431"/>
                <a:gd name="connsiteX2" fmla="*/ 238125 w 771525"/>
                <a:gd name="connsiteY2" fmla="*/ 1042987 h 1164431"/>
                <a:gd name="connsiteX3" fmla="*/ 247650 w 771525"/>
                <a:gd name="connsiteY3" fmla="*/ 1012031 h 1164431"/>
                <a:gd name="connsiteX4" fmla="*/ 283369 w 771525"/>
                <a:gd name="connsiteY4" fmla="*/ 985837 h 1164431"/>
                <a:gd name="connsiteX5" fmla="*/ 319088 w 771525"/>
                <a:gd name="connsiteY5" fmla="*/ 962025 h 1164431"/>
                <a:gd name="connsiteX6" fmla="*/ 350044 w 771525"/>
                <a:gd name="connsiteY6" fmla="*/ 928687 h 1164431"/>
                <a:gd name="connsiteX7" fmla="*/ 354807 w 771525"/>
                <a:gd name="connsiteY7" fmla="*/ 900112 h 1164431"/>
                <a:gd name="connsiteX8" fmla="*/ 321469 w 771525"/>
                <a:gd name="connsiteY8" fmla="*/ 854869 h 1164431"/>
                <a:gd name="connsiteX9" fmla="*/ 323850 w 771525"/>
                <a:gd name="connsiteY9" fmla="*/ 785812 h 1164431"/>
                <a:gd name="connsiteX10" fmla="*/ 280988 w 771525"/>
                <a:gd name="connsiteY10" fmla="*/ 735806 h 1164431"/>
                <a:gd name="connsiteX11" fmla="*/ 288132 w 771525"/>
                <a:gd name="connsiteY11" fmla="*/ 697706 h 1164431"/>
                <a:gd name="connsiteX12" fmla="*/ 316707 w 771525"/>
                <a:gd name="connsiteY12" fmla="*/ 681037 h 1164431"/>
                <a:gd name="connsiteX13" fmla="*/ 330994 w 771525"/>
                <a:gd name="connsiteY13" fmla="*/ 707231 h 1164431"/>
                <a:gd name="connsiteX14" fmla="*/ 354807 w 771525"/>
                <a:gd name="connsiteY14" fmla="*/ 726281 h 1164431"/>
                <a:gd name="connsiteX15" fmla="*/ 369094 w 771525"/>
                <a:gd name="connsiteY15" fmla="*/ 745331 h 1164431"/>
                <a:gd name="connsiteX16" fmla="*/ 378619 w 771525"/>
                <a:gd name="connsiteY16" fmla="*/ 781050 h 1164431"/>
                <a:gd name="connsiteX17" fmla="*/ 395288 w 771525"/>
                <a:gd name="connsiteY17" fmla="*/ 797719 h 1164431"/>
                <a:gd name="connsiteX18" fmla="*/ 409575 w 771525"/>
                <a:gd name="connsiteY18" fmla="*/ 792956 h 1164431"/>
                <a:gd name="connsiteX19" fmla="*/ 426244 w 771525"/>
                <a:gd name="connsiteY19" fmla="*/ 785812 h 1164431"/>
                <a:gd name="connsiteX20" fmla="*/ 423863 w 771525"/>
                <a:gd name="connsiteY20" fmla="*/ 676275 h 1164431"/>
                <a:gd name="connsiteX21" fmla="*/ 409575 w 771525"/>
                <a:gd name="connsiteY21" fmla="*/ 640556 h 1164431"/>
                <a:gd name="connsiteX22" fmla="*/ 411957 w 771525"/>
                <a:gd name="connsiteY22" fmla="*/ 614362 h 1164431"/>
                <a:gd name="connsiteX23" fmla="*/ 426244 w 771525"/>
                <a:gd name="connsiteY23" fmla="*/ 566737 h 1164431"/>
                <a:gd name="connsiteX24" fmla="*/ 473869 w 771525"/>
                <a:gd name="connsiteY24" fmla="*/ 566737 h 1164431"/>
                <a:gd name="connsiteX25" fmla="*/ 488157 w 771525"/>
                <a:gd name="connsiteY25" fmla="*/ 552450 h 1164431"/>
                <a:gd name="connsiteX26" fmla="*/ 509588 w 771525"/>
                <a:gd name="connsiteY26" fmla="*/ 502444 h 1164431"/>
                <a:gd name="connsiteX27" fmla="*/ 604838 w 771525"/>
                <a:gd name="connsiteY27" fmla="*/ 457200 h 1164431"/>
                <a:gd name="connsiteX28" fmla="*/ 628650 w 771525"/>
                <a:gd name="connsiteY28" fmla="*/ 447675 h 1164431"/>
                <a:gd name="connsiteX29" fmla="*/ 638175 w 771525"/>
                <a:gd name="connsiteY29" fmla="*/ 402431 h 1164431"/>
                <a:gd name="connsiteX30" fmla="*/ 638175 w 771525"/>
                <a:gd name="connsiteY30" fmla="*/ 361950 h 1164431"/>
                <a:gd name="connsiteX31" fmla="*/ 640557 w 771525"/>
                <a:gd name="connsiteY31" fmla="*/ 340519 h 1164431"/>
                <a:gd name="connsiteX32" fmla="*/ 652463 w 771525"/>
                <a:gd name="connsiteY32" fmla="*/ 333375 h 1164431"/>
                <a:gd name="connsiteX33" fmla="*/ 742950 w 771525"/>
                <a:gd name="connsiteY33" fmla="*/ 297656 h 1164431"/>
                <a:gd name="connsiteX34" fmla="*/ 766763 w 771525"/>
                <a:gd name="connsiteY34" fmla="*/ 280987 h 1164431"/>
                <a:gd name="connsiteX35" fmla="*/ 754857 w 771525"/>
                <a:gd name="connsiteY35" fmla="*/ 252412 h 1164431"/>
                <a:gd name="connsiteX36" fmla="*/ 742950 w 771525"/>
                <a:gd name="connsiteY36" fmla="*/ 221456 h 1164431"/>
                <a:gd name="connsiteX37" fmla="*/ 771525 w 771525"/>
                <a:gd name="connsiteY37" fmla="*/ 192881 h 1164431"/>
                <a:gd name="connsiteX38" fmla="*/ 752475 w 771525"/>
                <a:gd name="connsiteY38" fmla="*/ 161925 h 1164431"/>
                <a:gd name="connsiteX39" fmla="*/ 752475 w 771525"/>
                <a:gd name="connsiteY39" fmla="*/ 119062 h 1164431"/>
                <a:gd name="connsiteX40" fmla="*/ 719138 w 771525"/>
                <a:gd name="connsiteY40" fmla="*/ 85725 h 1164431"/>
                <a:gd name="connsiteX41" fmla="*/ 671513 w 771525"/>
                <a:gd name="connsiteY41" fmla="*/ 52387 h 1164431"/>
                <a:gd name="connsiteX42" fmla="*/ 645319 w 771525"/>
                <a:gd name="connsiteY42" fmla="*/ 35719 h 1164431"/>
                <a:gd name="connsiteX43" fmla="*/ 642938 w 771525"/>
                <a:gd name="connsiteY43" fmla="*/ 4762 h 1164431"/>
                <a:gd name="connsiteX44" fmla="*/ 609600 w 771525"/>
                <a:gd name="connsiteY44" fmla="*/ 0 h 1164431"/>
                <a:gd name="connsiteX45" fmla="*/ 583407 w 771525"/>
                <a:gd name="connsiteY45" fmla="*/ 23812 h 1164431"/>
                <a:gd name="connsiteX46" fmla="*/ 564357 w 771525"/>
                <a:gd name="connsiteY46" fmla="*/ 19050 h 1164431"/>
                <a:gd name="connsiteX47" fmla="*/ 554832 w 771525"/>
                <a:gd name="connsiteY47" fmla="*/ 42862 h 1164431"/>
                <a:gd name="connsiteX48" fmla="*/ 509588 w 771525"/>
                <a:gd name="connsiteY48" fmla="*/ 76200 h 1164431"/>
                <a:gd name="connsiteX49" fmla="*/ 407194 w 771525"/>
                <a:gd name="connsiteY49" fmla="*/ 114300 h 1164431"/>
                <a:gd name="connsiteX50" fmla="*/ 381000 w 771525"/>
                <a:gd name="connsiteY50" fmla="*/ 152400 h 1164431"/>
                <a:gd name="connsiteX51" fmla="*/ 340519 w 771525"/>
                <a:gd name="connsiteY51" fmla="*/ 140494 h 1164431"/>
                <a:gd name="connsiteX52" fmla="*/ 245269 w 771525"/>
                <a:gd name="connsiteY52" fmla="*/ 145256 h 1164431"/>
                <a:gd name="connsiteX53" fmla="*/ 250032 w 771525"/>
                <a:gd name="connsiteY53" fmla="*/ 154781 h 1164431"/>
                <a:gd name="connsiteX54" fmla="*/ 309563 w 771525"/>
                <a:gd name="connsiteY54" fmla="*/ 204787 h 1164431"/>
                <a:gd name="connsiteX55" fmla="*/ 211932 w 771525"/>
                <a:gd name="connsiteY55" fmla="*/ 328612 h 1164431"/>
                <a:gd name="connsiteX56" fmla="*/ 173832 w 771525"/>
                <a:gd name="connsiteY56" fmla="*/ 319087 h 1164431"/>
                <a:gd name="connsiteX57" fmla="*/ 80963 w 771525"/>
                <a:gd name="connsiteY57" fmla="*/ 452437 h 1164431"/>
                <a:gd name="connsiteX58" fmla="*/ 97632 w 771525"/>
                <a:gd name="connsiteY58" fmla="*/ 464344 h 1164431"/>
                <a:gd name="connsiteX59" fmla="*/ 114300 w 771525"/>
                <a:gd name="connsiteY59" fmla="*/ 504825 h 1164431"/>
                <a:gd name="connsiteX60" fmla="*/ 92869 w 771525"/>
                <a:gd name="connsiteY60" fmla="*/ 566737 h 1164431"/>
                <a:gd name="connsiteX61" fmla="*/ 102394 w 771525"/>
                <a:gd name="connsiteY61" fmla="*/ 640556 h 1164431"/>
                <a:gd name="connsiteX62" fmla="*/ 73819 w 771525"/>
                <a:gd name="connsiteY62" fmla="*/ 678656 h 1164431"/>
                <a:gd name="connsiteX63" fmla="*/ 73819 w 771525"/>
                <a:gd name="connsiteY63" fmla="*/ 704850 h 1164431"/>
                <a:gd name="connsiteX64" fmla="*/ 61913 w 771525"/>
                <a:gd name="connsiteY64" fmla="*/ 733425 h 1164431"/>
                <a:gd name="connsiteX65" fmla="*/ 88107 w 771525"/>
                <a:gd name="connsiteY65" fmla="*/ 762000 h 1164431"/>
                <a:gd name="connsiteX66" fmla="*/ 135732 w 771525"/>
                <a:gd name="connsiteY66" fmla="*/ 850106 h 1164431"/>
                <a:gd name="connsiteX67" fmla="*/ 69057 w 771525"/>
                <a:gd name="connsiteY67" fmla="*/ 876300 h 1164431"/>
                <a:gd name="connsiteX68" fmla="*/ 45244 w 771525"/>
                <a:gd name="connsiteY68" fmla="*/ 928687 h 1164431"/>
                <a:gd name="connsiteX69" fmla="*/ 33338 w 771525"/>
                <a:gd name="connsiteY69" fmla="*/ 983456 h 1164431"/>
                <a:gd name="connsiteX70" fmla="*/ 2382 w 771525"/>
                <a:gd name="connsiteY70" fmla="*/ 973931 h 1164431"/>
                <a:gd name="connsiteX71" fmla="*/ 0 w 771525"/>
                <a:gd name="connsiteY71" fmla="*/ 1021556 h 1164431"/>
                <a:gd name="connsiteX72" fmla="*/ 16669 w 771525"/>
                <a:gd name="connsiteY72" fmla="*/ 1031081 h 1164431"/>
                <a:gd name="connsiteX73" fmla="*/ 57150 w 771525"/>
                <a:gd name="connsiteY73" fmla="*/ 1040606 h 1164431"/>
                <a:gd name="connsiteX74" fmla="*/ 85725 w 771525"/>
                <a:gd name="connsiteY74" fmla="*/ 1054894 h 1164431"/>
                <a:gd name="connsiteX75" fmla="*/ 102394 w 771525"/>
                <a:gd name="connsiteY75" fmla="*/ 1109662 h 1164431"/>
                <a:gd name="connsiteX76" fmla="*/ 130969 w 771525"/>
                <a:gd name="connsiteY76" fmla="*/ 1135856 h 1164431"/>
                <a:gd name="connsiteX77" fmla="*/ 157163 w 771525"/>
                <a:gd name="connsiteY77" fmla="*/ 1164431 h 1164431"/>
                <a:gd name="connsiteX78" fmla="*/ 192882 w 771525"/>
                <a:gd name="connsiteY78" fmla="*/ 1157288 h 1164431"/>
                <a:gd name="connsiteX79" fmla="*/ 202407 w 771525"/>
                <a:gd name="connsiteY79" fmla="*/ 1131094 h 1164431"/>
                <a:gd name="connsiteX0" fmla="*/ 202407 w 771525"/>
                <a:gd name="connsiteY0" fmla="*/ 1164432 h 1197769"/>
                <a:gd name="connsiteX1" fmla="*/ 221457 w 771525"/>
                <a:gd name="connsiteY1" fmla="*/ 1097757 h 1197769"/>
                <a:gd name="connsiteX2" fmla="*/ 238125 w 771525"/>
                <a:gd name="connsiteY2" fmla="*/ 1076325 h 1197769"/>
                <a:gd name="connsiteX3" fmla="*/ 247650 w 771525"/>
                <a:gd name="connsiteY3" fmla="*/ 1045369 h 1197769"/>
                <a:gd name="connsiteX4" fmla="*/ 283369 w 771525"/>
                <a:gd name="connsiteY4" fmla="*/ 1019175 h 1197769"/>
                <a:gd name="connsiteX5" fmla="*/ 319088 w 771525"/>
                <a:gd name="connsiteY5" fmla="*/ 995363 h 1197769"/>
                <a:gd name="connsiteX6" fmla="*/ 350044 w 771525"/>
                <a:gd name="connsiteY6" fmla="*/ 962025 h 1197769"/>
                <a:gd name="connsiteX7" fmla="*/ 354807 w 771525"/>
                <a:gd name="connsiteY7" fmla="*/ 933450 h 1197769"/>
                <a:gd name="connsiteX8" fmla="*/ 321469 w 771525"/>
                <a:gd name="connsiteY8" fmla="*/ 888207 h 1197769"/>
                <a:gd name="connsiteX9" fmla="*/ 323850 w 771525"/>
                <a:gd name="connsiteY9" fmla="*/ 819150 h 1197769"/>
                <a:gd name="connsiteX10" fmla="*/ 280988 w 771525"/>
                <a:gd name="connsiteY10" fmla="*/ 769144 h 1197769"/>
                <a:gd name="connsiteX11" fmla="*/ 288132 w 771525"/>
                <a:gd name="connsiteY11" fmla="*/ 731044 h 1197769"/>
                <a:gd name="connsiteX12" fmla="*/ 316707 w 771525"/>
                <a:gd name="connsiteY12" fmla="*/ 714375 h 1197769"/>
                <a:gd name="connsiteX13" fmla="*/ 330994 w 771525"/>
                <a:gd name="connsiteY13" fmla="*/ 740569 h 1197769"/>
                <a:gd name="connsiteX14" fmla="*/ 354807 w 771525"/>
                <a:gd name="connsiteY14" fmla="*/ 759619 h 1197769"/>
                <a:gd name="connsiteX15" fmla="*/ 369094 w 771525"/>
                <a:gd name="connsiteY15" fmla="*/ 778669 h 1197769"/>
                <a:gd name="connsiteX16" fmla="*/ 378619 w 771525"/>
                <a:gd name="connsiteY16" fmla="*/ 814388 h 1197769"/>
                <a:gd name="connsiteX17" fmla="*/ 395288 w 771525"/>
                <a:gd name="connsiteY17" fmla="*/ 831057 h 1197769"/>
                <a:gd name="connsiteX18" fmla="*/ 409575 w 771525"/>
                <a:gd name="connsiteY18" fmla="*/ 826294 h 1197769"/>
                <a:gd name="connsiteX19" fmla="*/ 426244 w 771525"/>
                <a:gd name="connsiteY19" fmla="*/ 819150 h 1197769"/>
                <a:gd name="connsiteX20" fmla="*/ 423863 w 771525"/>
                <a:gd name="connsiteY20" fmla="*/ 709613 h 1197769"/>
                <a:gd name="connsiteX21" fmla="*/ 409575 w 771525"/>
                <a:gd name="connsiteY21" fmla="*/ 673894 h 1197769"/>
                <a:gd name="connsiteX22" fmla="*/ 411957 w 771525"/>
                <a:gd name="connsiteY22" fmla="*/ 647700 h 1197769"/>
                <a:gd name="connsiteX23" fmla="*/ 426244 w 771525"/>
                <a:gd name="connsiteY23" fmla="*/ 600075 h 1197769"/>
                <a:gd name="connsiteX24" fmla="*/ 473869 w 771525"/>
                <a:gd name="connsiteY24" fmla="*/ 600075 h 1197769"/>
                <a:gd name="connsiteX25" fmla="*/ 488157 w 771525"/>
                <a:gd name="connsiteY25" fmla="*/ 585788 h 1197769"/>
                <a:gd name="connsiteX26" fmla="*/ 509588 w 771525"/>
                <a:gd name="connsiteY26" fmla="*/ 535782 h 1197769"/>
                <a:gd name="connsiteX27" fmla="*/ 604838 w 771525"/>
                <a:gd name="connsiteY27" fmla="*/ 490538 h 1197769"/>
                <a:gd name="connsiteX28" fmla="*/ 628650 w 771525"/>
                <a:gd name="connsiteY28" fmla="*/ 481013 h 1197769"/>
                <a:gd name="connsiteX29" fmla="*/ 638175 w 771525"/>
                <a:gd name="connsiteY29" fmla="*/ 435769 h 1197769"/>
                <a:gd name="connsiteX30" fmla="*/ 638175 w 771525"/>
                <a:gd name="connsiteY30" fmla="*/ 395288 h 1197769"/>
                <a:gd name="connsiteX31" fmla="*/ 640557 w 771525"/>
                <a:gd name="connsiteY31" fmla="*/ 373857 h 1197769"/>
                <a:gd name="connsiteX32" fmla="*/ 652463 w 771525"/>
                <a:gd name="connsiteY32" fmla="*/ 366713 h 1197769"/>
                <a:gd name="connsiteX33" fmla="*/ 742950 w 771525"/>
                <a:gd name="connsiteY33" fmla="*/ 330994 h 1197769"/>
                <a:gd name="connsiteX34" fmla="*/ 766763 w 771525"/>
                <a:gd name="connsiteY34" fmla="*/ 314325 h 1197769"/>
                <a:gd name="connsiteX35" fmla="*/ 754857 w 771525"/>
                <a:gd name="connsiteY35" fmla="*/ 285750 h 1197769"/>
                <a:gd name="connsiteX36" fmla="*/ 742950 w 771525"/>
                <a:gd name="connsiteY36" fmla="*/ 254794 h 1197769"/>
                <a:gd name="connsiteX37" fmla="*/ 771525 w 771525"/>
                <a:gd name="connsiteY37" fmla="*/ 226219 h 1197769"/>
                <a:gd name="connsiteX38" fmla="*/ 752475 w 771525"/>
                <a:gd name="connsiteY38" fmla="*/ 195263 h 1197769"/>
                <a:gd name="connsiteX39" fmla="*/ 752475 w 771525"/>
                <a:gd name="connsiteY39" fmla="*/ 152400 h 1197769"/>
                <a:gd name="connsiteX40" fmla="*/ 719138 w 771525"/>
                <a:gd name="connsiteY40" fmla="*/ 119063 h 1197769"/>
                <a:gd name="connsiteX41" fmla="*/ 671513 w 771525"/>
                <a:gd name="connsiteY41" fmla="*/ 85725 h 1197769"/>
                <a:gd name="connsiteX42" fmla="*/ 645319 w 771525"/>
                <a:gd name="connsiteY42" fmla="*/ 69057 h 1197769"/>
                <a:gd name="connsiteX43" fmla="*/ 642938 w 771525"/>
                <a:gd name="connsiteY43" fmla="*/ 0 h 1197769"/>
                <a:gd name="connsiteX44" fmla="*/ 609600 w 771525"/>
                <a:gd name="connsiteY44" fmla="*/ 33338 h 1197769"/>
                <a:gd name="connsiteX45" fmla="*/ 583407 w 771525"/>
                <a:gd name="connsiteY45" fmla="*/ 57150 h 1197769"/>
                <a:gd name="connsiteX46" fmla="*/ 564357 w 771525"/>
                <a:gd name="connsiteY46" fmla="*/ 52388 h 1197769"/>
                <a:gd name="connsiteX47" fmla="*/ 554832 w 771525"/>
                <a:gd name="connsiteY47" fmla="*/ 76200 h 1197769"/>
                <a:gd name="connsiteX48" fmla="*/ 509588 w 771525"/>
                <a:gd name="connsiteY48" fmla="*/ 109538 h 1197769"/>
                <a:gd name="connsiteX49" fmla="*/ 407194 w 771525"/>
                <a:gd name="connsiteY49" fmla="*/ 147638 h 1197769"/>
                <a:gd name="connsiteX50" fmla="*/ 381000 w 771525"/>
                <a:gd name="connsiteY50" fmla="*/ 185738 h 1197769"/>
                <a:gd name="connsiteX51" fmla="*/ 340519 w 771525"/>
                <a:gd name="connsiteY51" fmla="*/ 173832 h 1197769"/>
                <a:gd name="connsiteX52" fmla="*/ 245269 w 771525"/>
                <a:gd name="connsiteY52" fmla="*/ 178594 h 1197769"/>
                <a:gd name="connsiteX53" fmla="*/ 250032 w 771525"/>
                <a:gd name="connsiteY53" fmla="*/ 188119 h 1197769"/>
                <a:gd name="connsiteX54" fmla="*/ 309563 w 771525"/>
                <a:gd name="connsiteY54" fmla="*/ 238125 h 1197769"/>
                <a:gd name="connsiteX55" fmla="*/ 211932 w 771525"/>
                <a:gd name="connsiteY55" fmla="*/ 361950 h 1197769"/>
                <a:gd name="connsiteX56" fmla="*/ 173832 w 771525"/>
                <a:gd name="connsiteY56" fmla="*/ 352425 h 1197769"/>
                <a:gd name="connsiteX57" fmla="*/ 80963 w 771525"/>
                <a:gd name="connsiteY57" fmla="*/ 485775 h 1197769"/>
                <a:gd name="connsiteX58" fmla="*/ 97632 w 771525"/>
                <a:gd name="connsiteY58" fmla="*/ 497682 h 1197769"/>
                <a:gd name="connsiteX59" fmla="*/ 114300 w 771525"/>
                <a:gd name="connsiteY59" fmla="*/ 538163 h 1197769"/>
                <a:gd name="connsiteX60" fmla="*/ 92869 w 771525"/>
                <a:gd name="connsiteY60" fmla="*/ 600075 h 1197769"/>
                <a:gd name="connsiteX61" fmla="*/ 102394 w 771525"/>
                <a:gd name="connsiteY61" fmla="*/ 673894 h 1197769"/>
                <a:gd name="connsiteX62" fmla="*/ 73819 w 771525"/>
                <a:gd name="connsiteY62" fmla="*/ 711994 h 1197769"/>
                <a:gd name="connsiteX63" fmla="*/ 73819 w 771525"/>
                <a:gd name="connsiteY63" fmla="*/ 738188 h 1197769"/>
                <a:gd name="connsiteX64" fmla="*/ 61913 w 771525"/>
                <a:gd name="connsiteY64" fmla="*/ 766763 h 1197769"/>
                <a:gd name="connsiteX65" fmla="*/ 88107 w 771525"/>
                <a:gd name="connsiteY65" fmla="*/ 795338 h 1197769"/>
                <a:gd name="connsiteX66" fmla="*/ 135732 w 771525"/>
                <a:gd name="connsiteY66" fmla="*/ 883444 h 1197769"/>
                <a:gd name="connsiteX67" fmla="*/ 69057 w 771525"/>
                <a:gd name="connsiteY67" fmla="*/ 909638 h 1197769"/>
                <a:gd name="connsiteX68" fmla="*/ 45244 w 771525"/>
                <a:gd name="connsiteY68" fmla="*/ 962025 h 1197769"/>
                <a:gd name="connsiteX69" fmla="*/ 33338 w 771525"/>
                <a:gd name="connsiteY69" fmla="*/ 1016794 h 1197769"/>
                <a:gd name="connsiteX70" fmla="*/ 2382 w 771525"/>
                <a:gd name="connsiteY70" fmla="*/ 1007269 h 1197769"/>
                <a:gd name="connsiteX71" fmla="*/ 0 w 771525"/>
                <a:gd name="connsiteY71" fmla="*/ 1054894 h 1197769"/>
                <a:gd name="connsiteX72" fmla="*/ 16669 w 771525"/>
                <a:gd name="connsiteY72" fmla="*/ 1064419 h 1197769"/>
                <a:gd name="connsiteX73" fmla="*/ 57150 w 771525"/>
                <a:gd name="connsiteY73" fmla="*/ 1073944 h 1197769"/>
                <a:gd name="connsiteX74" fmla="*/ 85725 w 771525"/>
                <a:gd name="connsiteY74" fmla="*/ 1088232 h 1197769"/>
                <a:gd name="connsiteX75" fmla="*/ 102394 w 771525"/>
                <a:gd name="connsiteY75" fmla="*/ 1143000 h 1197769"/>
                <a:gd name="connsiteX76" fmla="*/ 130969 w 771525"/>
                <a:gd name="connsiteY76" fmla="*/ 1169194 h 1197769"/>
                <a:gd name="connsiteX77" fmla="*/ 157163 w 771525"/>
                <a:gd name="connsiteY77" fmla="*/ 1197769 h 1197769"/>
                <a:gd name="connsiteX78" fmla="*/ 192882 w 771525"/>
                <a:gd name="connsiteY78" fmla="*/ 1190626 h 1197769"/>
                <a:gd name="connsiteX79" fmla="*/ 202407 w 771525"/>
                <a:gd name="connsiteY79" fmla="*/ 1164432 h 1197769"/>
                <a:gd name="connsiteX0" fmla="*/ 202407 w 771525"/>
                <a:gd name="connsiteY0" fmla="*/ 1164432 h 1197769"/>
                <a:gd name="connsiteX1" fmla="*/ 221457 w 771525"/>
                <a:gd name="connsiteY1" fmla="*/ 1097757 h 1197769"/>
                <a:gd name="connsiteX2" fmla="*/ 238125 w 771525"/>
                <a:gd name="connsiteY2" fmla="*/ 1076325 h 1197769"/>
                <a:gd name="connsiteX3" fmla="*/ 247650 w 771525"/>
                <a:gd name="connsiteY3" fmla="*/ 1045369 h 1197769"/>
                <a:gd name="connsiteX4" fmla="*/ 283369 w 771525"/>
                <a:gd name="connsiteY4" fmla="*/ 1019175 h 1197769"/>
                <a:gd name="connsiteX5" fmla="*/ 319088 w 771525"/>
                <a:gd name="connsiteY5" fmla="*/ 995363 h 1197769"/>
                <a:gd name="connsiteX6" fmla="*/ 350044 w 771525"/>
                <a:gd name="connsiteY6" fmla="*/ 962025 h 1197769"/>
                <a:gd name="connsiteX7" fmla="*/ 354807 w 771525"/>
                <a:gd name="connsiteY7" fmla="*/ 933450 h 1197769"/>
                <a:gd name="connsiteX8" fmla="*/ 321469 w 771525"/>
                <a:gd name="connsiteY8" fmla="*/ 888207 h 1197769"/>
                <a:gd name="connsiteX9" fmla="*/ 323850 w 771525"/>
                <a:gd name="connsiteY9" fmla="*/ 819150 h 1197769"/>
                <a:gd name="connsiteX10" fmla="*/ 280988 w 771525"/>
                <a:gd name="connsiteY10" fmla="*/ 769144 h 1197769"/>
                <a:gd name="connsiteX11" fmla="*/ 288132 w 771525"/>
                <a:gd name="connsiteY11" fmla="*/ 731044 h 1197769"/>
                <a:gd name="connsiteX12" fmla="*/ 316707 w 771525"/>
                <a:gd name="connsiteY12" fmla="*/ 714375 h 1197769"/>
                <a:gd name="connsiteX13" fmla="*/ 330994 w 771525"/>
                <a:gd name="connsiteY13" fmla="*/ 740569 h 1197769"/>
                <a:gd name="connsiteX14" fmla="*/ 354807 w 771525"/>
                <a:gd name="connsiteY14" fmla="*/ 759619 h 1197769"/>
                <a:gd name="connsiteX15" fmla="*/ 369094 w 771525"/>
                <a:gd name="connsiteY15" fmla="*/ 778669 h 1197769"/>
                <a:gd name="connsiteX16" fmla="*/ 378619 w 771525"/>
                <a:gd name="connsiteY16" fmla="*/ 814388 h 1197769"/>
                <a:gd name="connsiteX17" fmla="*/ 395288 w 771525"/>
                <a:gd name="connsiteY17" fmla="*/ 831057 h 1197769"/>
                <a:gd name="connsiteX18" fmla="*/ 409575 w 771525"/>
                <a:gd name="connsiteY18" fmla="*/ 826294 h 1197769"/>
                <a:gd name="connsiteX19" fmla="*/ 426244 w 771525"/>
                <a:gd name="connsiteY19" fmla="*/ 819150 h 1197769"/>
                <a:gd name="connsiteX20" fmla="*/ 423863 w 771525"/>
                <a:gd name="connsiteY20" fmla="*/ 709613 h 1197769"/>
                <a:gd name="connsiteX21" fmla="*/ 409575 w 771525"/>
                <a:gd name="connsiteY21" fmla="*/ 673894 h 1197769"/>
                <a:gd name="connsiteX22" fmla="*/ 411957 w 771525"/>
                <a:gd name="connsiteY22" fmla="*/ 647700 h 1197769"/>
                <a:gd name="connsiteX23" fmla="*/ 426244 w 771525"/>
                <a:gd name="connsiteY23" fmla="*/ 600075 h 1197769"/>
                <a:gd name="connsiteX24" fmla="*/ 473869 w 771525"/>
                <a:gd name="connsiteY24" fmla="*/ 600075 h 1197769"/>
                <a:gd name="connsiteX25" fmla="*/ 488157 w 771525"/>
                <a:gd name="connsiteY25" fmla="*/ 585788 h 1197769"/>
                <a:gd name="connsiteX26" fmla="*/ 509588 w 771525"/>
                <a:gd name="connsiteY26" fmla="*/ 535782 h 1197769"/>
                <a:gd name="connsiteX27" fmla="*/ 604838 w 771525"/>
                <a:gd name="connsiteY27" fmla="*/ 490538 h 1197769"/>
                <a:gd name="connsiteX28" fmla="*/ 628650 w 771525"/>
                <a:gd name="connsiteY28" fmla="*/ 481013 h 1197769"/>
                <a:gd name="connsiteX29" fmla="*/ 638175 w 771525"/>
                <a:gd name="connsiteY29" fmla="*/ 435769 h 1197769"/>
                <a:gd name="connsiteX30" fmla="*/ 638175 w 771525"/>
                <a:gd name="connsiteY30" fmla="*/ 395288 h 1197769"/>
                <a:gd name="connsiteX31" fmla="*/ 640557 w 771525"/>
                <a:gd name="connsiteY31" fmla="*/ 373857 h 1197769"/>
                <a:gd name="connsiteX32" fmla="*/ 652463 w 771525"/>
                <a:gd name="connsiteY32" fmla="*/ 366713 h 1197769"/>
                <a:gd name="connsiteX33" fmla="*/ 742950 w 771525"/>
                <a:gd name="connsiteY33" fmla="*/ 330994 h 1197769"/>
                <a:gd name="connsiteX34" fmla="*/ 766763 w 771525"/>
                <a:gd name="connsiteY34" fmla="*/ 314325 h 1197769"/>
                <a:gd name="connsiteX35" fmla="*/ 754857 w 771525"/>
                <a:gd name="connsiteY35" fmla="*/ 285750 h 1197769"/>
                <a:gd name="connsiteX36" fmla="*/ 742950 w 771525"/>
                <a:gd name="connsiteY36" fmla="*/ 254794 h 1197769"/>
                <a:gd name="connsiteX37" fmla="*/ 771525 w 771525"/>
                <a:gd name="connsiteY37" fmla="*/ 226219 h 1197769"/>
                <a:gd name="connsiteX38" fmla="*/ 752475 w 771525"/>
                <a:gd name="connsiteY38" fmla="*/ 195263 h 1197769"/>
                <a:gd name="connsiteX39" fmla="*/ 752475 w 771525"/>
                <a:gd name="connsiteY39" fmla="*/ 152400 h 1197769"/>
                <a:gd name="connsiteX40" fmla="*/ 719138 w 771525"/>
                <a:gd name="connsiteY40" fmla="*/ 119063 h 1197769"/>
                <a:gd name="connsiteX41" fmla="*/ 695325 w 771525"/>
                <a:gd name="connsiteY41" fmla="*/ 97632 h 1197769"/>
                <a:gd name="connsiteX42" fmla="*/ 671513 w 771525"/>
                <a:gd name="connsiteY42" fmla="*/ 85725 h 1197769"/>
                <a:gd name="connsiteX43" fmla="*/ 645319 w 771525"/>
                <a:gd name="connsiteY43" fmla="*/ 69057 h 1197769"/>
                <a:gd name="connsiteX44" fmla="*/ 642938 w 771525"/>
                <a:gd name="connsiteY44" fmla="*/ 0 h 1197769"/>
                <a:gd name="connsiteX45" fmla="*/ 609600 w 771525"/>
                <a:gd name="connsiteY45" fmla="*/ 33338 h 1197769"/>
                <a:gd name="connsiteX46" fmla="*/ 583407 w 771525"/>
                <a:gd name="connsiteY46" fmla="*/ 57150 h 1197769"/>
                <a:gd name="connsiteX47" fmla="*/ 564357 w 771525"/>
                <a:gd name="connsiteY47" fmla="*/ 52388 h 1197769"/>
                <a:gd name="connsiteX48" fmla="*/ 554832 w 771525"/>
                <a:gd name="connsiteY48" fmla="*/ 76200 h 1197769"/>
                <a:gd name="connsiteX49" fmla="*/ 509588 w 771525"/>
                <a:gd name="connsiteY49" fmla="*/ 109538 h 1197769"/>
                <a:gd name="connsiteX50" fmla="*/ 407194 w 771525"/>
                <a:gd name="connsiteY50" fmla="*/ 147638 h 1197769"/>
                <a:gd name="connsiteX51" fmla="*/ 381000 w 771525"/>
                <a:gd name="connsiteY51" fmla="*/ 185738 h 1197769"/>
                <a:gd name="connsiteX52" fmla="*/ 340519 w 771525"/>
                <a:gd name="connsiteY52" fmla="*/ 173832 h 1197769"/>
                <a:gd name="connsiteX53" fmla="*/ 245269 w 771525"/>
                <a:gd name="connsiteY53" fmla="*/ 178594 h 1197769"/>
                <a:gd name="connsiteX54" fmla="*/ 250032 w 771525"/>
                <a:gd name="connsiteY54" fmla="*/ 188119 h 1197769"/>
                <a:gd name="connsiteX55" fmla="*/ 309563 w 771525"/>
                <a:gd name="connsiteY55" fmla="*/ 238125 h 1197769"/>
                <a:gd name="connsiteX56" fmla="*/ 211932 w 771525"/>
                <a:gd name="connsiteY56" fmla="*/ 361950 h 1197769"/>
                <a:gd name="connsiteX57" fmla="*/ 173832 w 771525"/>
                <a:gd name="connsiteY57" fmla="*/ 352425 h 1197769"/>
                <a:gd name="connsiteX58" fmla="*/ 80963 w 771525"/>
                <a:gd name="connsiteY58" fmla="*/ 485775 h 1197769"/>
                <a:gd name="connsiteX59" fmla="*/ 97632 w 771525"/>
                <a:gd name="connsiteY59" fmla="*/ 497682 h 1197769"/>
                <a:gd name="connsiteX60" fmla="*/ 114300 w 771525"/>
                <a:gd name="connsiteY60" fmla="*/ 538163 h 1197769"/>
                <a:gd name="connsiteX61" fmla="*/ 92869 w 771525"/>
                <a:gd name="connsiteY61" fmla="*/ 600075 h 1197769"/>
                <a:gd name="connsiteX62" fmla="*/ 102394 w 771525"/>
                <a:gd name="connsiteY62" fmla="*/ 673894 h 1197769"/>
                <a:gd name="connsiteX63" fmla="*/ 73819 w 771525"/>
                <a:gd name="connsiteY63" fmla="*/ 711994 h 1197769"/>
                <a:gd name="connsiteX64" fmla="*/ 73819 w 771525"/>
                <a:gd name="connsiteY64" fmla="*/ 738188 h 1197769"/>
                <a:gd name="connsiteX65" fmla="*/ 61913 w 771525"/>
                <a:gd name="connsiteY65" fmla="*/ 766763 h 1197769"/>
                <a:gd name="connsiteX66" fmla="*/ 88107 w 771525"/>
                <a:gd name="connsiteY66" fmla="*/ 795338 h 1197769"/>
                <a:gd name="connsiteX67" fmla="*/ 135732 w 771525"/>
                <a:gd name="connsiteY67" fmla="*/ 883444 h 1197769"/>
                <a:gd name="connsiteX68" fmla="*/ 69057 w 771525"/>
                <a:gd name="connsiteY68" fmla="*/ 909638 h 1197769"/>
                <a:gd name="connsiteX69" fmla="*/ 45244 w 771525"/>
                <a:gd name="connsiteY69" fmla="*/ 962025 h 1197769"/>
                <a:gd name="connsiteX70" fmla="*/ 33338 w 771525"/>
                <a:gd name="connsiteY70" fmla="*/ 1016794 h 1197769"/>
                <a:gd name="connsiteX71" fmla="*/ 2382 w 771525"/>
                <a:gd name="connsiteY71" fmla="*/ 1007269 h 1197769"/>
                <a:gd name="connsiteX72" fmla="*/ 0 w 771525"/>
                <a:gd name="connsiteY72" fmla="*/ 1054894 h 1197769"/>
                <a:gd name="connsiteX73" fmla="*/ 16669 w 771525"/>
                <a:gd name="connsiteY73" fmla="*/ 1064419 h 1197769"/>
                <a:gd name="connsiteX74" fmla="*/ 57150 w 771525"/>
                <a:gd name="connsiteY74" fmla="*/ 1073944 h 1197769"/>
                <a:gd name="connsiteX75" fmla="*/ 85725 w 771525"/>
                <a:gd name="connsiteY75" fmla="*/ 1088232 h 1197769"/>
                <a:gd name="connsiteX76" fmla="*/ 102394 w 771525"/>
                <a:gd name="connsiteY76" fmla="*/ 1143000 h 1197769"/>
                <a:gd name="connsiteX77" fmla="*/ 130969 w 771525"/>
                <a:gd name="connsiteY77" fmla="*/ 1169194 h 1197769"/>
                <a:gd name="connsiteX78" fmla="*/ 157163 w 771525"/>
                <a:gd name="connsiteY78" fmla="*/ 1197769 h 1197769"/>
                <a:gd name="connsiteX79" fmla="*/ 192882 w 771525"/>
                <a:gd name="connsiteY79" fmla="*/ 1190626 h 1197769"/>
                <a:gd name="connsiteX80" fmla="*/ 202407 w 771525"/>
                <a:gd name="connsiteY80" fmla="*/ 1164432 h 1197769"/>
                <a:gd name="connsiteX0" fmla="*/ 202407 w 771525"/>
                <a:gd name="connsiteY0" fmla="*/ 1164432 h 1197769"/>
                <a:gd name="connsiteX1" fmla="*/ 221457 w 771525"/>
                <a:gd name="connsiteY1" fmla="*/ 1097757 h 1197769"/>
                <a:gd name="connsiteX2" fmla="*/ 238125 w 771525"/>
                <a:gd name="connsiteY2" fmla="*/ 1076325 h 1197769"/>
                <a:gd name="connsiteX3" fmla="*/ 247650 w 771525"/>
                <a:gd name="connsiteY3" fmla="*/ 1045369 h 1197769"/>
                <a:gd name="connsiteX4" fmla="*/ 283369 w 771525"/>
                <a:gd name="connsiteY4" fmla="*/ 1019175 h 1197769"/>
                <a:gd name="connsiteX5" fmla="*/ 319088 w 771525"/>
                <a:gd name="connsiteY5" fmla="*/ 995363 h 1197769"/>
                <a:gd name="connsiteX6" fmla="*/ 350044 w 771525"/>
                <a:gd name="connsiteY6" fmla="*/ 962025 h 1197769"/>
                <a:gd name="connsiteX7" fmla="*/ 354807 w 771525"/>
                <a:gd name="connsiteY7" fmla="*/ 933450 h 1197769"/>
                <a:gd name="connsiteX8" fmla="*/ 321469 w 771525"/>
                <a:gd name="connsiteY8" fmla="*/ 888207 h 1197769"/>
                <a:gd name="connsiteX9" fmla="*/ 323850 w 771525"/>
                <a:gd name="connsiteY9" fmla="*/ 819150 h 1197769"/>
                <a:gd name="connsiteX10" fmla="*/ 280988 w 771525"/>
                <a:gd name="connsiteY10" fmla="*/ 769144 h 1197769"/>
                <a:gd name="connsiteX11" fmla="*/ 288132 w 771525"/>
                <a:gd name="connsiteY11" fmla="*/ 731044 h 1197769"/>
                <a:gd name="connsiteX12" fmla="*/ 316707 w 771525"/>
                <a:gd name="connsiteY12" fmla="*/ 714375 h 1197769"/>
                <a:gd name="connsiteX13" fmla="*/ 330994 w 771525"/>
                <a:gd name="connsiteY13" fmla="*/ 740569 h 1197769"/>
                <a:gd name="connsiteX14" fmla="*/ 354807 w 771525"/>
                <a:gd name="connsiteY14" fmla="*/ 759619 h 1197769"/>
                <a:gd name="connsiteX15" fmla="*/ 369094 w 771525"/>
                <a:gd name="connsiteY15" fmla="*/ 778669 h 1197769"/>
                <a:gd name="connsiteX16" fmla="*/ 378619 w 771525"/>
                <a:gd name="connsiteY16" fmla="*/ 814388 h 1197769"/>
                <a:gd name="connsiteX17" fmla="*/ 395288 w 771525"/>
                <a:gd name="connsiteY17" fmla="*/ 831057 h 1197769"/>
                <a:gd name="connsiteX18" fmla="*/ 409575 w 771525"/>
                <a:gd name="connsiteY18" fmla="*/ 826294 h 1197769"/>
                <a:gd name="connsiteX19" fmla="*/ 426244 w 771525"/>
                <a:gd name="connsiteY19" fmla="*/ 819150 h 1197769"/>
                <a:gd name="connsiteX20" fmla="*/ 423863 w 771525"/>
                <a:gd name="connsiteY20" fmla="*/ 709613 h 1197769"/>
                <a:gd name="connsiteX21" fmla="*/ 409575 w 771525"/>
                <a:gd name="connsiteY21" fmla="*/ 673894 h 1197769"/>
                <a:gd name="connsiteX22" fmla="*/ 411957 w 771525"/>
                <a:gd name="connsiteY22" fmla="*/ 647700 h 1197769"/>
                <a:gd name="connsiteX23" fmla="*/ 426244 w 771525"/>
                <a:gd name="connsiteY23" fmla="*/ 600075 h 1197769"/>
                <a:gd name="connsiteX24" fmla="*/ 473869 w 771525"/>
                <a:gd name="connsiteY24" fmla="*/ 600075 h 1197769"/>
                <a:gd name="connsiteX25" fmla="*/ 488157 w 771525"/>
                <a:gd name="connsiteY25" fmla="*/ 585788 h 1197769"/>
                <a:gd name="connsiteX26" fmla="*/ 509588 w 771525"/>
                <a:gd name="connsiteY26" fmla="*/ 535782 h 1197769"/>
                <a:gd name="connsiteX27" fmla="*/ 604838 w 771525"/>
                <a:gd name="connsiteY27" fmla="*/ 490538 h 1197769"/>
                <a:gd name="connsiteX28" fmla="*/ 628650 w 771525"/>
                <a:gd name="connsiteY28" fmla="*/ 481013 h 1197769"/>
                <a:gd name="connsiteX29" fmla="*/ 638175 w 771525"/>
                <a:gd name="connsiteY29" fmla="*/ 435769 h 1197769"/>
                <a:gd name="connsiteX30" fmla="*/ 638175 w 771525"/>
                <a:gd name="connsiteY30" fmla="*/ 395288 h 1197769"/>
                <a:gd name="connsiteX31" fmla="*/ 640557 w 771525"/>
                <a:gd name="connsiteY31" fmla="*/ 373857 h 1197769"/>
                <a:gd name="connsiteX32" fmla="*/ 652463 w 771525"/>
                <a:gd name="connsiteY32" fmla="*/ 366713 h 1197769"/>
                <a:gd name="connsiteX33" fmla="*/ 742950 w 771525"/>
                <a:gd name="connsiteY33" fmla="*/ 330994 h 1197769"/>
                <a:gd name="connsiteX34" fmla="*/ 766763 w 771525"/>
                <a:gd name="connsiteY34" fmla="*/ 314325 h 1197769"/>
                <a:gd name="connsiteX35" fmla="*/ 754857 w 771525"/>
                <a:gd name="connsiteY35" fmla="*/ 285750 h 1197769"/>
                <a:gd name="connsiteX36" fmla="*/ 742950 w 771525"/>
                <a:gd name="connsiteY36" fmla="*/ 254794 h 1197769"/>
                <a:gd name="connsiteX37" fmla="*/ 771525 w 771525"/>
                <a:gd name="connsiteY37" fmla="*/ 226219 h 1197769"/>
                <a:gd name="connsiteX38" fmla="*/ 752475 w 771525"/>
                <a:gd name="connsiteY38" fmla="*/ 195263 h 1197769"/>
                <a:gd name="connsiteX39" fmla="*/ 752475 w 771525"/>
                <a:gd name="connsiteY39" fmla="*/ 152400 h 1197769"/>
                <a:gd name="connsiteX40" fmla="*/ 719138 w 771525"/>
                <a:gd name="connsiteY40" fmla="*/ 119063 h 1197769"/>
                <a:gd name="connsiteX41" fmla="*/ 707231 w 771525"/>
                <a:gd name="connsiteY41" fmla="*/ 92870 h 1197769"/>
                <a:gd name="connsiteX42" fmla="*/ 671513 w 771525"/>
                <a:gd name="connsiteY42" fmla="*/ 85725 h 1197769"/>
                <a:gd name="connsiteX43" fmla="*/ 645319 w 771525"/>
                <a:gd name="connsiteY43" fmla="*/ 69057 h 1197769"/>
                <a:gd name="connsiteX44" fmla="*/ 642938 w 771525"/>
                <a:gd name="connsiteY44" fmla="*/ 0 h 1197769"/>
                <a:gd name="connsiteX45" fmla="*/ 609600 w 771525"/>
                <a:gd name="connsiteY45" fmla="*/ 33338 h 1197769"/>
                <a:gd name="connsiteX46" fmla="*/ 583407 w 771525"/>
                <a:gd name="connsiteY46" fmla="*/ 57150 h 1197769"/>
                <a:gd name="connsiteX47" fmla="*/ 564357 w 771525"/>
                <a:gd name="connsiteY47" fmla="*/ 52388 h 1197769"/>
                <a:gd name="connsiteX48" fmla="*/ 554832 w 771525"/>
                <a:gd name="connsiteY48" fmla="*/ 76200 h 1197769"/>
                <a:gd name="connsiteX49" fmla="*/ 509588 w 771525"/>
                <a:gd name="connsiteY49" fmla="*/ 109538 h 1197769"/>
                <a:gd name="connsiteX50" fmla="*/ 407194 w 771525"/>
                <a:gd name="connsiteY50" fmla="*/ 147638 h 1197769"/>
                <a:gd name="connsiteX51" fmla="*/ 381000 w 771525"/>
                <a:gd name="connsiteY51" fmla="*/ 185738 h 1197769"/>
                <a:gd name="connsiteX52" fmla="*/ 340519 w 771525"/>
                <a:gd name="connsiteY52" fmla="*/ 173832 h 1197769"/>
                <a:gd name="connsiteX53" fmla="*/ 245269 w 771525"/>
                <a:gd name="connsiteY53" fmla="*/ 178594 h 1197769"/>
                <a:gd name="connsiteX54" fmla="*/ 250032 w 771525"/>
                <a:gd name="connsiteY54" fmla="*/ 188119 h 1197769"/>
                <a:gd name="connsiteX55" fmla="*/ 309563 w 771525"/>
                <a:gd name="connsiteY55" fmla="*/ 238125 h 1197769"/>
                <a:gd name="connsiteX56" fmla="*/ 211932 w 771525"/>
                <a:gd name="connsiteY56" fmla="*/ 361950 h 1197769"/>
                <a:gd name="connsiteX57" fmla="*/ 173832 w 771525"/>
                <a:gd name="connsiteY57" fmla="*/ 352425 h 1197769"/>
                <a:gd name="connsiteX58" fmla="*/ 80963 w 771525"/>
                <a:gd name="connsiteY58" fmla="*/ 485775 h 1197769"/>
                <a:gd name="connsiteX59" fmla="*/ 97632 w 771525"/>
                <a:gd name="connsiteY59" fmla="*/ 497682 h 1197769"/>
                <a:gd name="connsiteX60" fmla="*/ 114300 w 771525"/>
                <a:gd name="connsiteY60" fmla="*/ 538163 h 1197769"/>
                <a:gd name="connsiteX61" fmla="*/ 92869 w 771525"/>
                <a:gd name="connsiteY61" fmla="*/ 600075 h 1197769"/>
                <a:gd name="connsiteX62" fmla="*/ 102394 w 771525"/>
                <a:gd name="connsiteY62" fmla="*/ 673894 h 1197769"/>
                <a:gd name="connsiteX63" fmla="*/ 73819 w 771525"/>
                <a:gd name="connsiteY63" fmla="*/ 711994 h 1197769"/>
                <a:gd name="connsiteX64" fmla="*/ 73819 w 771525"/>
                <a:gd name="connsiteY64" fmla="*/ 738188 h 1197769"/>
                <a:gd name="connsiteX65" fmla="*/ 61913 w 771525"/>
                <a:gd name="connsiteY65" fmla="*/ 766763 h 1197769"/>
                <a:gd name="connsiteX66" fmla="*/ 88107 w 771525"/>
                <a:gd name="connsiteY66" fmla="*/ 795338 h 1197769"/>
                <a:gd name="connsiteX67" fmla="*/ 135732 w 771525"/>
                <a:gd name="connsiteY67" fmla="*/ 883444 h 1197769"/>
                <a:gd name="connsiteX68" fmla="*/ 69057 w 771525"/>
                <a:gd name="connsiteY68" fmla="*/ 909638 h 1197769"/>
                <a:gd name="connsiteX69" fmla="*/ 45244 w 771525"/>
                <a:gd name="connsiteY69" fmla="*/ 962025 h 1197769"/>
                <a:gd name="connsiteX70" fmla="*/ 33338 w 771525"/>
                <a:gd name="connsiteY70" fmla="*/ 1016794 h 1197769"/>
                <a:gd name="connsiteX71" fmla="*/ 2382 w 771525"/>
                <a:gd name="connsiteY71" fmla="*/ 1007269 h 1197769"/>
                <a:gd name="connsiteX72" fmla="*/ 0 w 771525"/>
                <a:gd name="connsiteY72" fmla="*/ 1054894 h 1197769"/>
                <a:gd name="connsiteX73" fmla="*/ 16669 w 771525"/>
                <a:gd name="connsiteY73" fmla="*/ 1064419 h 1197769"/>
                <a:gd name="connsiteX74" fmla="*/ 57150 w 771525"/>
                <a:gd name="connsiteY74" fmla="*/ 1073944 h 1197769"/>
                <a:gd name="connsiteX75" fmla="*/ 85725 w 771525"/>
                <a:gd name="connsiteY75" fmla="*/ 1088232 h 1197769"/>
                <a:gd name="connsiteX76" fmla="*/ 102394 w 771525"/>
                <a:gd name="connsiteY76" fmla="*/ 1143000 h 1197769"/>
                <a:gd name="connsiteX77" fmla="*/ 130969 w 771525"/>
                <a:gd name="connsiteY77" fmla="*/ 1169194 h 1197769"/>
                <a:gd name="connsiteX78" fmla="*/ 157163 w 771525"/>
                <a:gd name="connsiteY78" fmla="*/ 1197769 h 1197769"/>
                <a:gd name="connsiteX79" fmla="*/ 192882 w 771525"/>
                <a:gd name="connsiteY79" fmla="*/ 1190626 h 1197769"/>
                <a:gd name="connsiteX80" fmla="*/ 202407 w 771525"/>
                <a:gd name="connsiteY80" fmla="*/ 1164432 h 119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771525" h="1197769">
                  <a:moveTo>
                    <a:pt x="202407" y="1164432"/>
                  </a:moveTo>
                  <a:lnTo>
                    <a:pt x="221457" y="1097757"/>
                  </a:lnTo>
                  <a:lnTo>
                    <a:pt x="238125" y="1076325"/>
                  </a:lnTo>
                  <a:lnTo>
                    <a:pt x="247650" y="1045369"/>
                  </a:lnTo>
                  <a:lnTo>
                    <a:pt x="283369" y="1019175"/>
                  </a:lnTo>
                  <a:lnTo>
                    <a:pt x="319088" y="995363"/>
                  </a:lnTo>
                  <a:lnTo>
                    <a:pt x="350044" y="962025"/>
                  </a:lnTo>
                  <a:lnTo>
                    <a:pt x="354807" y="933450"/>
                  </a:lnTo>
                  <a:lnTo>
                    <a:pt x="321469" y="888207"/>
                  </a:lnTo>
                  <a:cubicBezTo>
                    <a:pt x="322263" y="865188"/>
                    <a:pt x="323056" y="842169"/>
                    <a:pt x="323850" y="819150"/>
                  </a:cubicBezTo>
                  <a:lnTo>
                    <a:pt x="280988" y="769144"/>
                  </a:lnTo>
                  <a:lnTo>
                    <a:pt x="288132" y="731044"/>
                  </a:lnTo>
                  <a:lnTo>
                    <a:pt x="316707" y="714375"/>
                  </a:lnTo>
                  <a:lnTo>
                    <a:pt x="330994" y="740569"/>
                  </a:lnTo>
                  <a:lnTo>
                    <a:pt x="354807" y="759619"/>
                  </a:lnTo>
                  <a:lnTo>
                    <a:pt x="369094" y="778669"/>
                  </a:lnTo>
                  <a:lnTo>
                    <a:pt x="378619" y="814388"/>
                  </a:lnTo>
                  <a:lnTo>
                    <a:pt x="395288" y="831057"/>
                  </a:lnTo>
                  <a:lnTo>
                    <a:pt x="409575" y="826294"/>
                  </a:lnTo>
                  <a:lnTo>
                    <a:pt x="426244" y="819150"/>
                  </a:lnTo>
                  <a:cubicBezTo>
                    <a:pt x="425450" y="782638"/>
                    <a:pt x="424657" y="746125"/>
                    <a:pt x="423863" y="709613"/>
                  </a:cubicBezTo>
                  <a:lnTo>
                    <a:pt x="409575" y="673894"/>
                  </a:lnTo>
                  <a:lnTo>
                    <a:pt x="411957" y="647700"/>
                  </a:lnTo>
                  <a:lnTo>
                    <a:pt x="426244" y="600075"/>
                  </a:lnTo>
                  <a:lnTo>
                    <a:pt x="473869" y="600075"/>
                  </a:lnTo>
                  <a:lnTo>
                    <a:pt x="488157" y="585788"/>
                  </a:lnTo>
                  <a:lnTo>
                    <a:pt x="509588" y="535782"/>
                  </a:lnTo>
                  <a:lnTo>
                    <a:pt x="604838" y="490538"/>
                  </a:lnTo>
                  <a:lnTo>
                    <a:pt x="628650" y="481013"/>
                  </a:lnTo>
                  <a:lnTo>
                    <a:pt x="638175" y="435769"/>
                  </a:lnTo>
                  <a:lnTo>
                    <a:pt x="638175" y="395288"/>
                  </a:lnTo>
                  <a:lnTo>
                    <a:pt x="640557" y="373857"/>
                  </a:lnTo>
                  <a:lnTo>
                    <a:pt x="652463" y="366713"/>
                  </a:lnTo>
                  <a:lnTo>
                    <a:pt x="742950" y="330994"/>
                  </a:lnTo>
                  <a:lnTo>
                    <a:pt x="766763" y="314325"/>
                  </a:lnTo>
                  <a:lnTo>
                    <a:pt x="754857" y="285750"/>
                  </a:lnTo>
                  <a:lnTo>
                    <a:pt x="742950" y="254794"/>
                  </a:lnTo>
                  <a:lnTo>
                    <a:pt x="771525" y="226219"/>
                  </a:lnTo>
                  <a:lnTo>
                    <a:pt x="752475" y="195263"/>
                  </a:lnTo>
                  <a:lnTo>
                    <a:pt x="752475" y="152400"/>
                  </a:lnTo>
                  <a:lnTo>
                    <a:pt x="719138" y="119063"/>
                  </a:lnTo>
                  <a:lnTo>
                    <a:pt x="707231" y="92870"/>
                  </a:lnTo>
                  <a:lnTo>
                    <a:pt x="671513" y="85725"/>
                  </a:lnTo>
                  <a:lnTo>
                    <a:pt x="645319" y="69057"/>
                  </a:lnTo>
                  <a:cubicBezTo>
                    <a:pt x="644525" y="46038"/>
                    <a:pt x="643732" y="23019"/>
                    <a:pt x="642938" y="0"/>
                  </a:cubicBezTo>
                  <a:lnTo>
                    <a:pt x="609600" y="33338"/>
                  </a:lnTo>
                  <a:lnTo>
                    <a:pt x="583407" y="57150"/>
                  </a:lnTo>
                  <a:lnTo>
                    <a:pt x="564357" y="52388"/>
                  </a:lnTo>
                  <a:lnTo>
                    <a:pt x="554832" y="76200"/>
                  </a:lnTo>
                  <a:lnTo>
                    <a:pt x="509588" y="109538"/>
                  </a:lnTo>
                  <a:lnTo>
                    <a:pt x="407194" y="147638"/>
                  </a:lnTo>
                  <a:lnTo>
                    <a:pt x="381000" y="185738"/>
                  </a:lnTo>
                  <a:lnTo>
                    <a:pt x="340519" y="173832"/>
                  </a:lnTo>
                  <a:lnTo>
                    <a:pt x="245269" y="178594"/>
                  </a:lnTo>
                  <a:lnTo>
                    <a:pt x="250032" y="188119"/>
                  </a:lnTo>
                  <a:lnTo>
                    <a:pt x="309563" y="238125"/>
                  </a:lnTo>
                  <a:lnTo>
                    <a:pt x="211932" y="361950"/>
                  </a:lnTo>
                  <a:lnTo>
                    <a:pt x="173832" y="352425"/>
                  </a:lnTo>
                  <a:lnTo>
                    <a:pt x="80963" y="485775"/>
                  </a:lnTo>
                  <a:lnTo>
                    <a:pt x="97632" y="497682"/>
                  </a:lnTo>
                  <a:lnTo>
                    <a:pt x="114300" y="538163"/>
                  </a:lnTo>
                  <a:lnTo>
                    <a:pt x="92869" y="600075"/>
                  </a:lnTo>
                  <a:lnTo>
                    <a:pt x="102394" y="673894"/>
                  </a:lnTo>
                  <a:lnTo>
                    <a:pt x="73819" y="711994"/>
                  </a:lnTo>
                  <a:lnTo>
                    <a:pt x="73819" y="738188"/>
                  </a:lnTo>
                  <a:lnTo>
                    <a:pt x="61913" y="766763"/>
                  </a:lnTo>
                  <a:lnTo>
                    <a:pt x="88107" y="795338"/>
                  </a:lnTo>
                  <a:lnTo>
                    <a:pt x="135732" y="883444"/>
                  </a:lnTo>
                  <a:lnTo>
                    <a:pt x="69057" y="909638"/>
                  </a:lnTo>
                  <a:lnTo>
                    <a:pt x="45244" y="962025"/>
                  </a:lnTo>
                  <a:lnTo>
                    <a:pt x="33338" y="1016794"/>
                  </a:lnTo>
                  <a:lnTo>
                    <a:pt x="2382" y="1007269"/>
                  </a:lnTo>
                  <a:lnTo>
                    <a:pt x="0" y="1054894"/>
                  </a:lnTo>
                  <a:lnTo>
                    <a:pt x="16669" y="1064419"/>
                  </a:lnTo>
                  <a:lnTo>
                    <a:pt x="57150" y="1073944"/>
                  </a:lnTo>
                  <a:lnTo>
                    <a:pt x="85725" y="1088232"/>
                  </a:lnTo>
                  <a:lnTo>
                    <a:pt x="102394" y="1143000"/>
                  </a:lnTo>
                  <a:lnTo>
                    <a:pt x="130969" y="1169194"/>
                  </a:lnTo>
                  <a:lnTo>
                    <a:pt x="157163" y="1197769"/>
                  </a:lnTo>
                  <a:lnTo>
                    <a:pt x="192882" y="1190626"/>
                  </a:lnTo>
                  <a:lnTo>
                    <a:pt x="202407" y="1164432"/>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56" name="Freeform 55"/>
            <p:cNvSpPr/>
            <p:nvPr/>
          </p:nvSpPr>
          <p:spPr>
            <a:xfrm rot="21298612">
              <a:off x="2833361" y="3914491"/>
              <a:ext cx="1142620" cy="912439"/>
            </a:xfrm>
            <a:custGeom>
              <a:avLst/>
              <a:gdLst>
                <a:gd name="connsiteX0" fmla="*/ 631031 w 1114425"/>
                <a:gd name="connsiteY0" fmla="*/ 650081 h 862012"/>
                <a:gd name="connsiteX1" fmla="*/ 678656 w 1114425"/>
                <a:gd name="connsiteY1" fmla="*/ 585787 h 862012"/>
                <a:gd name="connsiteX2" fmla="*/ 702468 w 1114425"/>
                <a:gd name="connsiteY2" fmla="*/ 573881 h 862012"/>
                <a:gd name="connsiteX3" fmla="*/ 733425 w 1114425"/>
                <a:gd name="connsiteY3" fmla="*/ 573881 h 862012"/>
                <a:gd name="connsiteX4" fmla="*/ 778668 w 1114425"/>
                <a:gd name="connsiteY4" fmla="*/ 554831 h 862012"/>
                <a:gd name="connsiteX5" fmla="*/ 833437 w 1114425"/>
                <a:gd name="connsiteY5" fmla="*/ 528637 h 862012"/>
                <a:gd name="connsiteX6" fmla="*/ 883443 w 1114425"/>
                <a:gd name="connsiteY6" fmla="*/ 495300 h 862012"/>
                <a:gd name="connsiteX7" fmla="*/ 900112 w 1114425"/>
                <a:gd name="connsiteY7" fmla="*/ 490537 h 862012"/>
                <a:gd name="connsiteX8" fmla="*/ 919162 w 1114425"/>
                <a:gd name="connsiteY8" fmla="*/ 485775 h 862012"/>
                <a:gd name="connsiteX9" fmla="*/ 916781 w 1114425"/>
                <a:gd name="connsiteY9" fmla="*/ 447675 h 862012"/>
                <a:gd name="connsiteX10" fmla="*/ 954881 w 1114425"/>
                <a:gd name="connsiteY10" fmla="*/ 428625 h 862012"/>
                <a:gd name="connsiteX11" fmla="*/ 985837 w 1114425"/>
                <a:gd name="connsiteY11" fmla="*/ 407194 h 862012"/>
                <a:gd name="connsiteX12" fmla="*/ 1000125 w 1114425"/>
                <a:gd name="connsiteY12" fmla="*/ 347662 h 862012"/>
                <a:gd name="connsiteX13" fmla="*/ 981075 w 1114425"/>
                <a:gd name="connsiteY13" fmla="*/ 316706 h 862012"/>
                <a:gd name="connsiteX14" fmla="*/ 997743 w 1114425"/>
                <a:gd name="connsiteY14" fmla="*/ 271462 h 862012"/>
                <a:gd name="connsiteX15" fmla="*/ 1033462 w 1114425"/>
                <a:gd name="connsiteY15" fmla="*/ 233362 h 862012"/>
                <a:gd name="connsiteX16" fmla="*/ 1097756 w 1114425"/>
                <a:gd name="connsiteY16" fmla="*/ 209550 h 862012"/>
                <a:gd name="connsiteX17" fmla="*/ 1114425 w 1114425"/>
                <a:gd name="connsiteY17" fmla="*/ 190500 h 862012"/>
                <a:gd name="connsiteX18" fmla="*/ 1100137 w 1114425"/>
                <a:gd name="connsiteY18" fmla="*/ 161925 h 862012"/>
                <a:gd name="connsiteX19" fmla="*/ 1052512 w 1114425"/>
                <a:gd name="connsiteY19" fmla="*/ 107156 h 862012"/>
                <a:gd name="connsiteX20" fmla="*/ 1009650 w 1114425"/>
                <a:gd name="connsiteY20" fmla="*/ 73819 h 862012"/>
                <a:gd name="connsiteX21" fmla="*/ 995362 w 1114425"/>
                <a:gd name="connsiteY21" fmla="*/ 47625 h 862012"/>
                <a:gd name="connsiteX22" fmla="*/ 983456 w 1114425"/>
                <a:gd name="connsiteY22" fmla="*/ 64294 h 862012"/>
                <a:gd name="connsiteX23" fmla="*/ 966787 w 1114425"/>
                <a:gd name="connsiteY23" fmla="*/ 69056 h 862012"/>
                <a:gd name="connsiteX24" fmla="*/ 935831 w 1114425"/>
                <a:gd name="connsiteY24" fmla="*/ 59531 h 862012"/>
                <a:gd name="connsiteX25" fmla="*/ 904875 w 1114425"/>
                <a:gd name="connsiteY25" fmla="*/ 23812 h 862012"/>
                <a:gd name="connsiteX26" fmla="*/ 888206 w 1114425"/>
                <a:gd name="connsiteY26" fmla="*/ 0 h 862012"/>
                <a:gd name="connsiteX27" fmla="*/ 869156 w 1114425"/>
                <a:gd name="connsiteY27" fmla="*/ 28575 h 862012"/>
                <a:gd name="connsiteX28" fmla="*/ 871537 w 1114425"/>
                <a:gd name="connsiteY28" fmla="*/ 69056 h 862012"/>
                <a:gd name="connsiteX29" fmla="*/ 847725 w 1114425"/>
                <a:gd name="connsiteY29" fmla="*/ 100012 h 862012"/>
                <a:gd name="connsiteX30" fmla="*/ 826293 w 1114425"/>
                <a:gd name="connsiteY30" fmla="*/ 97631 h 862012"/>
                <a:gd name="connsiteX31" fmla="*/ 800100 w 1114425"/>
                <a:gd name="connsiteY31" fmla="*/ 71437 h 862012"/>
                <a:gd name="connsiteX32" fmla="*/ 783431 w 1114425"/>
                <a:gd name="connsiteY32" fmla="*/ 57150 h 862012"/>
                <a:gd name="connsiteX33" fmla="*/ 764381 w 1114425"/>
                <a:gd name="connsiteY33" fmla="*/ 61912 h 862012"/>
                <a:gd name="connsiteX34" fmla="*/ 747712 w 1114425"/>
                <a:gd name="connsiteY34" fmla="*/ 92869 h 862012"/>
                <a:gd name="connsiteX35" fmla="*/ 742950 w 1114425"/>
                <a:gd name="connsiteY35" fmla="*/ 107156 h 862012"/>
                <a:gd name="connsiteX36" fmla="*/ 714375 w 1114425"/>
                <a:gd name="connsiteY36" fmla="*/ 107156 h 862012"/>
                <a:gd name="connsiteX37" fmla="*/ 700087 w 1114425"/>
                <a:gd name="connsiteY37" fmla="*/ 95250 h 862012"/>
                <a:gd name="connsiteX38" fmla="*/ 700087 w 1114425"/>
                <a:gd name="connsiteY38" fmla="*/ 66675 h 862012"/>
                <a:gd name="connsiteX39" fmla="*/ 704850 w 1114425"/>
                <a:gd name="connsiteY39" fmla="*/ 38100 h 862012"/>
                <a:gd name="connsiteX40" fmla="*/ 692943 w 1114425"/>
                <a:gd name="connsiteY40" fmla="*/ 23812 h 862012"/>
                <a:gd name="connsiteX41" fmla="*/ 669131 w 1114425"/>
                <a:gd name="connsiteY41" fmla="*/ 26194 h 862012"/>
                <a:gd name="connsiteX42" fmla="*/ 640556 w 1114425"/>
                <a:gd name="connsiteY42" fmla="*/ 19050 h 862012"/>
                <a:gd name="connsiteX43" fmla="*/ 604837 w 1114425"/>
                <a:gd name="connsiteY43" fmla="*/ 4762 h 862012"/>
                <a:gd name="connsiteX44" fmla="*/ 569118 w 1114425"/>
                <a:gd name="connsiteY44" fmla="*/ 4762 h 862012"/>
                <a:gd name="connsiteX45" fmla="*/ 557212 w 1114425"/>
                <a:gd name="connsiteY45" fmla="*/ 11906 h 862012"/>
                <a:gd name="connsiteX46" fmla="*/ 438150 w 1114425"/>
                <a:gd name="connsiteY46" fmla="*/ 69056 h 862012"/>
                <a:gd name="connsiteX47" fmla="*/ 421481 w 1114425"/>
                <a:gd name="connsiteY47" fmla="*/ 169069 h 862012"/>
                <a:gd name="connsiteX48" fmla="*/ 304800 w 1114425"/>
                <a:gd name="connsiteY48" fmla="*/ 228600 h 862012"/>
                <a:gd name="connsiteX49" fmla="*/ 276225 w 1114425"/>
                <a:gd name="connsiteY49" fmla="*/ 290512 h 862012"/>
                <a:gd name="connsiteX50" fmla="*/ 228600 w 1114425"/>
                <a:gd name="connsiteY50" fmla="*/ 285750 h 862012"/>
                <a:gd name="connsiteX51" fmla="*/ 211931 w 1114425"/>
                <a:gd name="connsiteY51" fmla="*/ 357187 h 862012"/>
                <a:gd name="connsiteX52" fmla="*/ 207168 w 1114425"/>
                <a:gd name="connsiteY52" fmla="*/ 369094 h 862012"/>
                <a:gd name="connsiteX53" fmla="*/ 223837 w 1114425"/>
                <a:gd name="connsiteY53" fmla="*/ 404812 h 862012"/>
                <a:gd name="connsiteX54" fmla="*/ 219075 w 1114425"/>
                <a:gd name="connsiteY54" fmla="*/ 511969 h 862012"/>
                <a:gd name="connsiteX55" fmla="*/ 195262 w 1114425"/>
                <a:gd name="connsiteY55" fmla="*/ 521494 h 862012"/>
                <a:gd name="connsiteX56" fmla="*/ 180975 w 1114425"/>
                <a:gd name="connsiteY56" fmla="*/ 502444 h 862012"/>
                <a:gd name="connsiteX57" fmla="*/ 161925 w 1114425"/>
                <a:gd name="connsiteY57" fmla="*/ 457200 h 862012"/>
                <a:gd name="connsiteX58" fmla="*/ 128587 w 1114425"/>
                <a:gd name="connsiteY58" fmla="*/ 433387 h 862012"/>
                <a:gd name="connsiteX59" fmla="*/ 116681 w 1114425"/>
                <a:gd name="connsiteY59" fmla="*/ 409575 h 862012"/>
                <a:gd name="connsiteX60" fmla="*/ 83343 w 1114425"/>
                <a:gd name="connsiteY60" fmla="*/ 421481 h 862012"/>
                <a:gd name="connsiteX61" fmla="*/ 78581 w 1114425"/>
                <a:gd name="connsiteY61" fmla="*/ 466725 h 862012"/>
                <a:gd name="connsiteX62" fmla="*/ 116681 w 1114425"/>
                <a:gd name="connsiteY62" fmla="*/ 514350 h 862012"/>
                <a:gd name="connsiteX63" fmla="*/ 123825 w 1114425"/>
                <a:gd name="connsiteY63" fmla="*/ 583406 h 862012"/>
                <a:gd name="connsiteX64" fmla="*/ 152400 w 1114425"/>
                <a:gd name="connsiteY64" fmla="*/ 631031 h 862012"/>
                <a:gd name="connsiteX65" fmla="*/ 142875 w 1114425"/>
                <a:gd name="connsiteY65" fmla="*/ 657225 h 862012"/>
                <a:gd name="connsiteX66" fmla="*/ 107156 w 1114425"/>
                <a:gd name="connsiteY66" fmla="*/ 697706 h 862012"/>
                <a:gd name="connsiteX67" fmla="*/ 42862 w 1114425"/>
                <a:gd name="connsiteY67" fmla="*/ 735806 h 862012"/>
                <a:gd name="connsiteX68" fmla="*/ 35718 w 1114425"/>
                <a:gd name="connsiteY68" fmla="*/ 769144 h 862012"/>
                <a:gd name="connsiteX69" fmla="*/ 19050 w 1114425"/>
                <a:gd name="connsiteY69" fmla="*/ 795337 h 862012"/>
                <a:gd name="connsiteX70" fmla="*/ 0 w 1114425"/>
                <a:gd name="connsiteY70" fmla="*/ 859631 h 862012"/>
                <a:gd name="connsiteX71" fmla="*/ 19050 w 1114425"/>
                <a:gd name="connsiteY71" fmla="*/ 862012 h 862012"/>
                <a:gd name="connsiteX72" fmla="*/ 154781 w 1114425"/>
                <a:gd name="connsiteY72" fmla="*/ 828675 h 862012"/>
                <a:gd name="connsiteX73" fmla="*/ 171450 w 1114425"/>
                <a:gd name="connsiteY73" fmla="*/ 757237 h 862012"/>
                <a:gd name="connsiteX74" fmla="*/ 259556 w 1114425"/>
                <a:gd name="connsiteY74" fmla="*/ 800100 h 862012"/>
                <a:gd name="connsiteX75" fmla="*/ 297656 w 1114425"/>
                <a:gd name="connsiteY75" fmla="*/ 700087 h 862012"/>
                <a:gd name="connsiteX76" fmla="*/ 385762 w 1114425"/>
                <a:gd name="connsiteY76" fmla="*/ 666750 h 862012"/>
                <a:gd name="connsiteX77" fmla="*/ 435768 w 1114425"/>
                <a:gd name="connsiteY77" fmla="*/ 681037 h 862012"/>
                <a:gd name="connsiteX78" fmla="*/ 473868 w 1114425"/>
                <a:gd name="connsiteY78" fmla="*/ 702469 h 862012"/>
                <a:gd name="connsiteX79" fmla="*/ 500062 w 1114425"/>
                <a:gd name="connsiteY79" fmla="*/ 707231 h 862012"/>
                <a:gd name="connsiteX80" fmla="*/ 516731 w 1114425"/>
                <a:gd name="connsiteY80" fmla="*/ 702469 h 862012"/>
                <a:gd name="connsiteX81" fmla="*/ 545306 w 1114425"/>
                <a:gd name="connsiteY81" fmla="*/ 671512 h 862012"/>
                <a:gd name="connsiteX82" fmla="*/ 576262 w 1114425"/>
                <a:gd name="connsiteY82" fmla="*/ 671512 h 862012"/>
                <a:gd name="connsiteX83" fmla="*/ 631031 w 1114425"/>
                <a:gd name="connsiteY83" fmla="*/ 650081 h 862012"/>
                <a:gd name="connsiteX0" fmla="*/ 631031 w 1138238"/>
                <a:gd name="connsiteY0" fmla="*/ 650081 h 862012"/>
                <a:gd name="connsiteX1" fmla="*/ 678656 w 1138238"/>
                <a:gd name="connsiteY1" fmla="*/ 585787 h 862012"/>
                <a:gd name="connsiteX2" fmla="*/ 702468 w 1138238"/>
                <a:gd name="connsiteY2" fmla="*/ 573881 h 862012"/>
                <a:gd name="connsiteX3" fmla="*/ 733425 w 1138238"/>
                <a:gd name="connsiteY3" fmla="*/ 573881 h 862012"/>
                <a:gd name="connsiteX4" fmla="*/ 778668 w 1138238"/>
                <a:gd name="connsiteY4" fmla="*/ 554831 h 862012"/>
                <a:gd name="connsiteX5" fmla="*/ 833437 w 1138238"/>
                <a:gd name="connsiteY5" fmla="*/ 528637 h 862012"/>
                <a:gd name="connsiteX6" fmla="*/ 883443 w 1138238"/>
                <a:gd name="connsiteY6" fmla="*/ 495300 h 862012"/>
                <a:gd name="connsiteX7" fmla="*/ 900112 w 1138238"/>
                <a:gd name="connsiteY7" fmla="*/ 490537 h 862012"/>
                <a:gd name="connsiteX8" fmla="*/ 919162 w 1138238"/>
                <a:gd name="connsiteY8" fmla="*/ 485775 h 862012"/>
                <a:gd name="connsiteX9" fmla="*/ 916781 w 1138238"/>
                <a:gd name="connsiteY9" fmla="*/ 447675 h 862012"/>
                <a:gd name="connsiteX10" fmla="*/ 954881 w 1138238"/>
                <a:gd name="connsiteY10" fmla="*/ 428625 h 862012"/>
                <a:gd name="connsiteX11" fmla="*/ 985837 w 1138238"/>
                <a:gd name="connsiteY11" fmla="*/ 407194 h 862012"/>
                <a:gd name="connsiteX12" fmla="*/ 1000125 w 1138238"/>
                <a:gd name="connsiteY12" fmla="*/ 347662 h 862012"/>
                <a:gd name="connsiteX13" fmla="*/ 981075 w 1138238"/>
                <a:gd name="connsiteY13" fmla="*/ 316706 h 862012"/>
                <a:gd name="connsiteX14" fmla="*/ 997743 w 1138238"/>
                <a:gd name="connsiteY14" fmla="*/ 271462 h 862012"/>
                <a:gd name="connsiteX15" fmla="*/ 1033462 w 1138238"/>
                <a:gd name="connsiteY15" fmla="*/ 233362 h 862012"/>
                <a:gd name="connsiteX16" fmla="*/ 1097756 w 1138238"/>
                <a:gd name="connsiteY16" fmla="*/ 209550 h 862012"/>
                <a:gd name="connsiteX17" fmla="*/ 1138238 w 1138238"/>
                <a:gd name="connsiteY17" fmla="*/ 185737 h 862012"/>
                <a:gd name="connsiteX18" fmla="*/ 1100137 w 1138238"/>
                <a:gd name="connsiteY18" fmla="*/ 161925 h 862012"/>
                <a:gd name="connsiteX19" fmla="*/ 1052512 w 1138238"/>
                <a:gd name="connsiteY19" fmla="*/ 107156 h 862012"/>
                <a:gd name="connsiteX20" fmla="*/ 1009650 w 1138238"/>
                <a:gd name="connsiteY20" fmla="*/ 73819 h 862012"/>
                <a:gd name="connsiteX21" fmla="*/ 995362 w 1138238"/>
                <a:gd name="connsiteY21" fmla="*/ 47625 h 862012"/>
                <a:gd name="connsiteX22" fmla="*/ 983456 w 1138238"/>
                <a:gd name="connsiteY22" fmla="*/ 64294 h 862012"/>
                <a:gd name="connsiteX23" fmla="*/ 966787 w 1138238"/>
                <a:gd name="connsiteY23" fmla="*/ 69056 h 862012"/>
                <a:gd name="connsiteX24" fmla="*/ 935831 w 1138238"/>
                <a:gd name="connsiteY24" fmla="*/ 59531 h 862012"/>
                <a:gd name="connsiteX25" fmla="*/ 904875 w 1138238"/>
                <a:gd name="connsiteY25" fmla="*/ 23812 h 862012"/>
                <a:gd name="connsiteX26" fmla="*/ 888206 w 1138238"/>
                <a:gd name="connsiteY26" fmla="*/ 0 h 862012"/>
                <a:gd name="connsiteX27" fmla="*/ 869156 w 1138238"/>
                <a:gd name="connsiteY27" fmla="*/ 28575 h 862012"/>
                <a:gd name="connsiteX28" fmla="*/ 871537 w 1138238"/>
                <a:gd name="connsiteY28" fmla="*/ 69056 h 862012"/>
                <a:gd name="connsiteX29" fmla="*/ 847725 w 1138238"/>
                <a:gd name="connsiteY29" fmla="*/ 100012 h 862012"/>
                <a:gd name="connsiteX30" fmla="*/ 826293 w 1138238"/>
                <a:gd name="connsiteY30" fmla="*/ 97631 h 862012"/>
                <a:gd name="connsiteX31" fmla="*/ 800100 w 1138238"/>
                <a:gd name="connsiteY31" fmla="*/ 71437 h 862012"/>
                <a:gd name="connsiteX32" fmla="*/ 783431 w 1138238"/>
                <a:gd name="connsiteY32" fmla="*/ 57150 h 862012"/>
                <a:gd name="connsiteX33" fmla="*/ 764381 w 1138238"/>
                <a:gd name="connsiteY33" fmla="*/ 61912 h 862012"/>
                <a:gd name="connsiteX34" fmla="*/ 747712 w 1138238"/>
                <a:gd name="connsiteY34" fmla="*/ 92869 h 862012"/>
                <a:gd name="connsiteX35" fmla="*/ 742950 w 1138238"/>
                <a:gd name="connsiteY35" fmla="*/ 107156 h 862012"/>
                <a:gd name="connsiteX36" fmla="*/ 714375 w 1138238"/>
                <a:gd name="connsiteY36" fmla="*/ 107156 h 862012"/>
                <a:gd name="connsiteX37" fmla="*/ 700087 w 1138238"/>
                <a:gd name="connsiteY37" fmla="*/ 95250 h 862012"/>
                <a:gd name="connsiteX38" fmla="*/ 700087 w 1138238"/>
                <a:gd name="connsiteY38" fmla="*/ 66675 h 862012"/>
                <a:gd name="connsiteX39" fmla="*/ 704850 w 1138238"/>
                <a:gd name="connsiteY39" fmla="*/ 38100 h 862012"/>
                <a:gd name="connsiteX40" fmla="*/ 692943 w 1138238"/>
                <a:gd name="connsiteY40" fmla="*/ 23812 h 862012"/>
                <a:gd name="connsiteX41" fmla="*/ 669131 w 1138238"/>
                <a:gd name="connsiteY41" fmla="*/ 26194 h 862012"/>
                <a:gd name="connsiteX42" fmla="*/ 640556 w 1138238"/>
                <a:gd name="connsiteY42" fmla="*/ 19050 h 862012"/>
                <a:gd name="connsiteX43" fmla="*/ 604837 w 1138238"/>
                <a:gd name="connsiteY43" fmla="*/ 4762 h 862012"/>
                <a:gd name="connsiteX44" fmla="*/ 569118 w 1138238"/>
                <a:gd name="connsiteY44" fmla="*/ 4762 h 862012"/>
                <a:gd name="connsiteX45" fmla="*/ 557212 w 1138238"/>
                <a:gd name="connsiteY45" fmla="*/ 11906 h 862012"/>
                <a:gd name="connsiteX46" fmla="*/ 438150 w 1138238"/>
                <a:gd name="connsiteY46" fmla="*/ 69056 h 862012"/>
                <a:gd name="connsiteX47" fmla="*/ 421481 w 1138238"/>
                <a:gd name="connsiteY47" fmla="*/ 169069 h 862012"/>
                <a:gd name="connsiteX48" fmla="*/ 304800 w 1138238"/>
                <a:gd name="connsiteY48" fmla="*/ 228600 h 862012"/>
                <a:gd name="connsiteX49" fmla="*/ 276225 w 1138238"/>
                <a:gd name="connsiteY49" fmla="*/ 290512 h 862012"/>
                <a:gd name="connsiteX50" fmla="*/ 228600 w 1138238"/>
                <a:gd name="connsiteY50" fmla="*/ 285750 h 862012"/>
                <a:gd name="connsiteX51" fmla="*/ 211931 w 1138238"/>
                <a:gd name="connsiteY51" fmla="*/ 357187 h 862012"/>
                <a:gd name="connsiteX52" fmla="*/ 207168 w 1138238"/>
                <a:gd name="connsiteY52" fmla="*/ 369094 h 862012"/>
                <a:gd name="connsiteX53" fmla="*/ 223837 w 1138238"/>
                <a:gd name="connsiteY53" fmla="*/ 404812 h 862012"/>
                <a:gd name="connsiteX54" fmla="*/ 219075 w 1138238"/>
                <a:gd name="connsiteY54" fmla="*/ 511969 h 862012"/>
                <a:gd name="connsiteX55" fmla="*/ 195262 w 1138238"/>
                <a:gd name="connsiteY55" fmla="*/ 521494 h 862012"/>
                <a:gd name="connsiteX56" fmla="*/ 180975 w 1138238"/>
                <a:gd name="connsiteY56" fmla="*/ 502444 h 862012"/>
                <a:gd name="connsiteX57" fmla="*/ 161925 w 1138238"/>
                <a:gd name="connsiteY57" fmla="*/ 457200 h 862012"/>
                <a:gd name="connsiteX58" fmla="*/ 128587 w 1138238"/>
                <a:gd name="connsiteY58" fmla="*/ 433387 h 862012"/>
                <a:gd name="connsiteX59" fmla="*/ 116681 w 1138238"/>
                <a:gd name="connsiteY59" fmla="*/ 409575 h 862012"/>
                <a:gd name="connsiteX60" fmla="*/ 83343 w 1138238"/>
                <a:gd name="connsiteY60" fmla="*/ 421481 h 862012"/>
                <a:gd name="connsiteX61" fmla="*/ 78581 w 1138238"/>
                <a:gd name="connsiteY61" fmla="*/ 466725 h 862012"/>
                <a:gd name="connsiteX62" fmla="*/ 116681 w 1138238"/>
                <a:gd name="connsiteY62" fmla="*/ 514350 h 862012"/>
                <a:gd name="connsiteX63" fmla="*/ 123825 w 1138238"/>
                <a:gd name="connsiteY63" fmla="*/ 583406 h 862012"/>
                <a:gd name="connsiteX64" fmla="*/ 152400 w 1138238"/>
                <a:gd name="connsiteY64" fmla="*/ 631031 h 862012"/>
                <a:gd name="connsiteX65" fmla="*/ 142875 w 1138238"/>
                <a:gd name="connsiteY65" fmla="*/ 657225 h 862012"/>
                <a:gd name="connsiteX66" fmla="*/ 107156 w 1138238"/>
                <a:gd name="connsiteY66" fmla="*/ 697706 h 862012"/>
                <a:gd name="connsiteX67" fmla="*/ 42862 w 1138238"/>
                <a:gd name="connsiteY67" fmla="*/ 735806 h 862012"/>
                <a:gd name="connsiteX68" fmla="*/ 35718 w 1138238"/>
                <a:gd name="connsiteY68" fmla="*/ 769144 h 862012"/>
                <a:gd name="connsiteX69" fmla="*/ 19050 w 1138238"/>
                <a:gd name="connsiteY69" fmla="*/ 795337 h 862012"/>
                <a:gd name="connsiteX70" fmla="*/ 0 w 1138238"/>
                <a:gd name="connsiteY70" fmla="*/ 859631 h 862012"/>
                <a:gd name="connsiteX71" fmla="*/ 19050 w 1138238"/>
                <a:gd name="connsiteY71" fmla="*/ 862012 h 862012"/>
                <a:gd name="connsiteX72" fmla="*/ 154781 w 1138238"/>
                <a:gd name="connsiteY72" fmla="*/ 828675 h 862012"/>
                <a:gd name="connsiteX73" fmla="*/ 171450 w 1138238"/>
                <a:gd name="connsiteY73" fmla="*/ 757237 h 862012"/>
                <a:gd name="connsiteX74" fmla="*/ 259556 w 1138238"/>
                <a:gd name="connsiteY74" fmla="*/ 800100 h 862012"/>
                <a:gd name="connsiteX75" fmla="*/ 297656 w 1138238"/>
                <a:gd name="connsiteY75" fmla="*/ 700087 h 862012"/>
                <a:gd name="connsiteX76" fmla="*/ 385762 w 1138238"/>
                <a:gd name="connsiteY76" fmla="*/ 666750 h 862012"/>
                <a:gd name="connsiteX77" fmla="*/ 435768 w 1138238"/>
                <a:gd name="connsiteY77" fmla="*/ 681037 h 862012"/>
                <a:gd name="connsiteX78" fmla="*/ 473868 w 1138238"/>
                <a:gd name="connsiteY78" fmla="*/ 702469 h 862012"/>
                <a:gd name="connsiteX79" fmla="*/ 500062 w 1138238"/>
                <a:gd name="connsiteY79" fmla="*/ 707231 h 862012"/>
                <a:gd name="connsiteX80" fmla="*/ 516731 w 1138238"/>
                <a:gd name="connsiteY80" fmla="*/ 702469 h 862012"/>
                <a:gd name="connsiteX81" fmla="*/ 545306 w 1138238"/>
                <a:gd name="connsiteY81" fmla="*/ 671512 h 862012"/>
                <a:gd name="connsiteX82" fmla="*/ 576262 w 1138238"/>
                <a:gd name="connsiteY82" fmla="*/ 671512 h 862012"/>
                <a:gd name="connsiteX83" fmla="*/ 631031 w 1138238"/>
                <a:gd name="connsiteY83" fmla="*/ 650081 h 862012"/>
                <a:gd name="connsiteX0" fmla="*/ 631031 w 1138238"/>
                <a:gd name="connsiteY0" fmla="*/ 650081 h 862012"/>
                <a:gd name="connsiteX1" fmla="*/ 678656 w 1138238"/>
                <a:gd name="connsiteY1" fmla="*/ 585787 h 862012"/>
                <a:gd name="connsiteX2" fmla="*/ 702468 w 1138238"/>
                <a:gd name="connsiteY2" fmla="*/ 573881 h 862012"/>
                <a:gd name="connsiteX3" fmla="*/ 733425 w 1138238"/>
                <a:gd name="connsiteY3" fmla="*/ 573881 h 862012"/>
                <a:gd name="connsiteX4" fmla="*/ 778668 w 1138238"/>
                <a:gd name="connsiteY4" fmla="*/ 554831 h 862012"/>
                <a:gd name="connsiteX5" fmla="*/ 833437 w 1138238"/>
                <a:gd name="connsiteY5" fmla="*/ 528637 h 862012"/>
                <a:gd name="connsiteX6" fmla="*/ 883443 w 1138238"/>
                <a:gd name="connsiteY6" fmla="*/ 495300 h 862012"/>
                <a:gd name="connsiteX7" fmla="*/ 900112 w 1138238"/>
                <a:gd name="connsiteY7" fmla="*/ 490537 h 862012"/>
                <a:gd name="connsiteX8" fmla="*/ 919162 w 1138238"/>
                <a:gd name="connsiteY8" fmla="*/ 485775 h 862012"/>
                <a:gd name="connsiteX9" fmla="*/ 916781 w 1138238"/>
                <a:gd name="connsiteY9" fmla="*/ 447675 h 862012"/>
                <a:gd name="connsiteX10" fmla="*/ 954881 w 1138238"/>
                <a:gd name="connsiteY10" fmla="*/ 428625 h 862012"/>
                <a:gd name="connsiteX11" fmla="*/ 985837 w 1138238"/>
                <a:gd name="connsiteY11" fmla="*/ 407194 h 862012"/>
                <a:gd name="connsiteX12" fmla="*/ 1000125 w 1138238"/>
                <a:gd name="connsiteY12" fmla="*/ 347662 h 862012"/>
                <a:gd name="connsiteX13" fmla="*/ 981075 w 1138238"/>
                <a:gd name="connsiteY13" fmla="*/ 316706 h 862012"/>
                <a:gd name="connsiteX14" fmla="*/ 997743 w 1138238"/>
                <a:gd name="connsiteY14" fmla="*/ 271462 h 862012"/>
                <a:gd name="connsiteX15" fmla="*/ 1033462 w 1138238"/>
                <a:gd name="connsiteY15" fmla="*/ 233362 h 862012"/>
                <a:gd name="connsiteX16" fmla="*/ 1097756 w 1138238"/>
                <a:gd name="connsiteY16" fmla="*/ 209550 h 862012"/>
                <a:gd name="connsiteX17" fmla="*/ 1138238 w 1138238"/>
                <a:gd name="connsiteY17" fmla="*/ 185737 h 862012"/>
                <a:gd name="connsiteX18" fmla="*/ 1107281 w 1138238"/>
                <a:gd name="connsiteY18" fmla="*/ 154781 h 862012"/>
                <a:gd name="connsiteX19" fmla="*/ 1052512 w 1138238"/>
                <a:gd name="connsiteY19" fmla="*/ 107156 h 862012"/>
                <a:gd name="connsiteX20" fmla="*/ 1009650 w 1138238"/>
                <a:gd name="connsiteY20" fmla="*/ 73819 h 862012"/>
                <a:gd name="connsiteX21" fmla="*/ 995362 w 1138238"/>
                <a:gd name="connsiteY21" fmla="*/ 47625 h 862012"/>
                <a:gd name="connsiteX22" fmla="*/ 983456 w 1138238"/>
                <a:gd name="connsiteY22" fmla="*/ 64294 h 862012"/>
                <a:gd name="connsiteX23" fmla="*/ 966787 w 1138238"/>
                <a:gd name="connsiteY23" fmla="*/ 69056 h 862012"/>
                <a:gd name="connsiteX24" fmla="*/ 935831 w 1138238"/>
                <a:gd name="connsiteY24" fmla="*/ 59531 h 862012"/>
                <a:gd name="connsiteX25" fmla="*/ 904875 w 1138238"/>
                <a:gd name="connsiteY25" fmla="*/ 23812 h 862012"/>
                <a:gd name="connsiteX26" fmla="*/ 888206 w 1138238"/>
                <a:gd name="connsiteY26" fmla="*/ 0 h 862012"/>
                <a:gd name="connsiteX27" fmla="*/ 869156 w 1138238"/>
                <a:gd name="connsiteY27" fmla="*/ 28575 h 862012"/>
                <a:gd name="connsiteX28" fmla="*/ 871537 w 1138238"/>
                <a:gd name="connsiteY28" fmla="*/ 69056 h 862012"/>
                <a:gd name="connsiteX29" fmla="*/ 847725 w 1138238"/>
                <a:gd name="connsiteY29" fmla="*/ 100012 h 862012"/>
                <a:gd name="connsiteX30" fmla="*/ 826293 w 1138238"/>
                <a:gd name="connsiteY30" fmla="*/ 97631 h 862012"/>
                <a:gd name="connsiteX31" fmla="*/ 800100 w 1138238"/>
                <a:gd name="connsiteY31" fmla="*/ 71437 h 862012"/>
                <a:gd name="connsiteX32" fmla="*/ 783431 w 1138238"/>
                <a:gd name="connsiteY32" fmla="*/ 57150 h 862012"/>
                <a:gd name="connsiteX33" fmla="*/ 764381 w 1138238"/>
                <a:gd name="connsiteY33" fmla="*/ 61912 h 862012"/>
                <a:gd name="connsiteX34" fmla="*/ 747712 w 1138238"/>
                <a:gd name="connsiteY34" fmla="*/ 92869 h 862012"/>
                <a:gd name="connsiteX35" fmla="*/ 742950 w 1138238"/>
                <a:gd name="connsiteY35" fmla="*/ 107156 h 862012"/>
                <a:gd name="connsiteX36" fmla="*/ 714375 w 1138238"/>
                <a:gd name="connsiteY36" fmla="*/ 107156 h 862012"/>
                <a:gd name="connsiteX37" fmla="*/ 700087 w 1138238"/>
                <a:gd name="connsiteY37" fmla="*/ 95250 h 862012"/>
                <a:gd name="connsiteX38" fmla="*/ 700087 w 1138238"/>
                <a:gd name="connsiteY38" fmla="*/ 66675 h 862012"/>
                <a:gd name="connsiteX39" fmla="*/ 704850 w 1138238"/>
                <a:gd name="connsiteY39" fmla="*/ 38100 h 862012"/>
                <a:gd name="connsiteX40" fmla="*/ 692943 w 1138238"/>
                <a:gd name="connsiteY40" fmla="*/ 23812 h 862012"/>
                <a:gd name="connsiteX41" fmla="*/ 669131 w 1138238"/>
                <a:gd name="connsiteY41" fmla="*/ 26194 h 862012"/>
                <a:gd name="connsiteX42" fmla="*/ 640556 w 1138238"/>
                <a:gd name="connsiteY42" fmla="*/ 19050 h 862012"/>
                <a:gd name="connsiteX43" fmla="*/ 604837 w 1138238"/>
                <a:gd name="connsiteY43" fmla="*/ 4762 h 862012"/>
                <a:gd name="connsiteX44" fmla="*/ 569118 w 1138238"/>
                <a:gd name="connsiteY44" fmla="*/ 4762 h 862012"/>
                <a:gd name="connsiteX45" fmla="*/ 557212 w 1138238"/>
                <a:gd name="connsiteY45" fmla="*/ 11906 h 862012"/>
                <a:gd name="connsiteX46" fmla="*/ 438150 w 1138238"/>
                <a:gd name="connsiteY46" fmla="*/ 69056 h 862012"/>
                <a:gd name="connsiteX47" fmla="*/ 421481 w 1138238"/>
                <a:gd name="connsiteY47" fmla="*/ 169069 h 862012"/>
                <a:gd name="connsiteX48" fmla="*/ 304800 w 1138238"/>
                <a:gd name="connsiteY48" fmla="*/ 228600 h 862012"/>
                <a:gd name="connsiteX49" fmla="*/ 276225 w 1138238"/>
                <a:gd name="connsiteY49" fmla="*/ 290512 h 862012"/>
                <a:gd name="connsiteX50" fmla="*/ 228600 w 1138238"/>
                <a:gd name="connsiteY50" fmla="*/ 285750 h 862012"/>
                <a:gd name="connsiteX51" fmla="*/ 211931 w 1138238"/>
                <a:gd name="connsiteY51" fmla="*/ 357187 h 862012"/>
                <a:gd name="connsiteX52" fmla="*/ 207168 w 1138238"/>
                <a:gd name="connsiteY52" fmla="*/ 369094 h 862012"/>
                <a:gd name="connsiteX53" fmla="*/ 223837 w 1138238"/>
                <a:gd name="connsiteY53" fmla="*/ 404812 h 862012"/>
                <a:gd name="connsiteX54" fmla="*/ 219075 w 1138238"/>
                <a:gd name="connsiteY54" fmla="*/ 511969 h 862012"/>
                <a:gd name="connsiteX55" fmla="*/ 195262 w 1138238"/>
                <a:gd name="connsiteY55" fmla="*/ 521494 h 862012"/>
                <a:gd name="connsiteX56" fmla="*/ 180975 w 1138238"/>
                <a:gd name="connsiteY56" fmla="*/ 502444 h 862012"/>
                <a:gd name="connsiteX57" fmla="*/ 161925 w 1138238"/>
                <a:gd name="connsiteY57" fmla="*/ 457200 h 862012"/>
                <a:gd name="connsiteX58" fmla="*/ 128587 w 1138238"/>
                <a:gd name="connsiteY58" fmla="*/ 433387 h 862012"/>
                <a:gd name="connsiteX59" fmla="*/ 116681 w 1138238"/>
                <a:gd name="connsiteY59" fmla="*/ 409575 h 862012"/>
                <a:gd name="connsiteX60" fmla="*/ 83343 w 1138238"/>
                <a:gd name="connsiteY60" fmla="*/ 421481 h 862012"/>
                <a:gd name="connsiteX61" fmla="*/ 78581 w 1138238"/>
                <a:gd name="connsiteY61" fmla="*/ 466725 h 862012"/>
                <a:gd name="connsiteX62" fmla="*/ 116681 w 1138238"/>
                <a:gd name="connsiteY62" fmla="*/ 514350 h 862012"/>
                <a:gd name="connsiteX63" fmla="*/ 123825 w 1138238"/>
                <a:gd name="connsiteY63" fmla="*/ 583406 h 862012"/>
                <a:gd name="connsiteX64" fmla="*/ 152400 w 1138238"/>
                <a:gd name="connsiteY64" fmla="*/ 631031 h 862012"/>
                <a:gd name="connsiteX65" fmla="*/ 142875 w 1138238"/>
                <a:gd name="connsiteY65" fmla="*/ 657225 h 862012"/>
                <a:gd name="connsiteX66" fmla="*/ 107156 w 1138238"/>
                <a:gd name="connsiteY66" fmla="*/ 697706 h 862012"/>
                <a:gd name="connsiteX67" fmla="*/ 42862 w 1138238"/>
                <a:gd name="connsiteY67" fmla="*/ 735806 h 862012"/>
                <a:gd name="connsiteX68" fmla="*/ 35718 w 1138238"/>
                <a:gd name="connsiteY68" fmla="*/ 769144 h 862012"/>
                <a:gd name="connsiteX69" fmla="*/ 19050 w 1138238"/>
                <a:gd name="connsiteY69" fmla="*/ 795337 h 862012"/>
                <a:gd name="connsiteX70" fmla="*/ 0 w 1138238"/>
                <a:gd name="connsiteY70" fmla="*/ 859631 h 862012"/>
                <a:gd name="connsiteX71" fmla="*/ 19050 w 1138238"/>
                <a:gd name="connsiteY71" fmla="*/ 862012 h 862012"/>
                <a:gd name="connsiteX72" fmla="*/ 154781 w 1138238"/>
                <a:gd name="connsiteY72" fmla="*/ 828675 h 862012"/>
                <a:gd name="connsiteX73" fmla="*/ 171450 w 1138238"/>
                <a:gd name="connsiteY73" fmla="*/ 757237 h 862012"/>
                <a:gd name="connsiteX74" fmla="*/ 259556 w 1138238"/>
                <a:gd name="connsiteY74" fmla="*/ 800100 h 862012"/>
                <a:gd name="connsiteX75" fmla="*/ 297656 w 1138238"/>
                <a:gd name="connsiteY75" fmla="*/ 700087 h 862012"/>
                <a:gd name="connsiteX76" fmla="*/ 385762 w 1138238"/>
                <a:gd name="connsiteY76" fmla="*/ 666750 h 862012"/>
                <a:gd name="connsiteX77" fmla="*/ 435768 w 1138238"/>
                <a:gd name="connsiteY77" fmla="*/ 681037 h 862012"/>
                <a:gd name="connsiteX78" fmla="*/ 473868 w 1138238"/>
                <a:gd name="connsiteY78" fmla="*/ 702469 h 862012"/>
                <a:gd name="connsiteX79" fmla="*/ 500062 w 1138238"/>
                <a:gd name="connsiteY79" fmla="*/ 707231 h 862012"/>
                <a:gd name="connsiteX80" fmla="*/ 516731 w 1138238"/>
                <a:gd name="connsiteY80" fmla="*/ 702469 h 862012"/>
                <a:gd name="connsiteX81" fmla="*/ 545306 w 1138238"/>
                <a:gd name="connsiteY81" fmla="*/ 671512 h 862012"/>
                <a:gd name="connsiteX82" fmla="*/ 576262 w 1138238"/>
                <a:gd name="connsiteY82" fmla="*/ 671512 h 862012"/>
                <a:gd name="connsiteX83" fmla="*/ 631031 w 1138238"/>
                <a:gd name="connsiteY83" fmla="*/ 650081 h 862012"/>
                <a:gd name="connsiteX0" fmla="*/ 631031 w 1138238"/>
                <a:gd name="connsiteY0" fmla="*/ 650081 h 862012"/>
                <a:gd name="connsiteX1" fmla="*/ 678656 w 1138238"/>
                <a:gd name="connsiteY1" fmla="*/ 585787 h 862012"/>
                <a:gd name="connsiteX2" fmla="*/ 702468 w 1138238"/>
                <a:gd name="connsiteY2" fmla="*/ 573881 h 862012"/>
                <a:gd name="connsiteX3" fmla="*/ 733425 w 1138238"/>
                <a:gd name="connsiteY3" fmla="*/ 573881 h 862012"/>
                <a:gd name="connsiteX4" fmla="*/ 778668 w 1138238"/>
                <a:gd name="connsiteY4" fmla="*/ 554831 h 862012"/>
                <a:gd name="connsiteX5" fmla="*/ 833437 w 1138238"/>
                <a:gd name="connsiteY5" fmla="*/ 528637 h 862012"/>
                <a:gd name="connsiteX6" fmla="*/ 883443 w 1138238"/>
                <a:gd name="connsiteY6" fmla="*/ 495300 h 862012"/>
                <a:gd name="connsiteX7" fmla="*/ 900112 w 1138238"/>
                <a:gd name="connsiteY7" fmla="*/ 490537 h 862012"/>
                <a:gd name="connsiteX8" fmla="*/ 919162 w 1138238"/>
                <a:gd name="connsiteY8" fmla="*/ 485775 h 862012"/>
                <a:gd name="connsiteX9" fmla="*/ 916781 w 1138238"/>
                <a:gd name="connsiteY9" fmla="*/ 447675 h 862012"/>
                <a:gd name="connsiteX10" fmla="*/ 954881 w 1138238"/>
                <a:gd name="connsiteY10" fmla="*/ 428625 h 862012"/>
                <a:gd name="connsiteX11" fmla="*/ 985837 w 1138238"/>
                <a:gd name="connsiteY11" fmla="*/ 407194 h 862012"/>
                <a:gd name="connsiteX12" fmla="*/ 1000125 w 1138238"/>
                <a:gd name="connsiteY12" fmla="*/ 347662 h 862012"/>
                <a:gd name="connsiteX13" fmla="*/ 981075 w 1138238"/>
                <a:gd name="connsiteY13" fmla="*/ 316706 h 862012"/>
                <a:gd name="connsiteX14" fmla="*/ 997743 w 1138238"/>
                <a:gd name="connsiteY14" fmla="*/ 271462 h 862012"/>
                <a:gd name="connsiteX15" fmla="*/ 1033462 w 1138238"/>
                <a:gd name="connsiteY15" fmla="*/ 233362 h 862012"/>
                <a:gd name="connsiteX16" fmla="*/ 1097756 w 1138238"/>
                <a:gd name="connsiteY16" fmla="*/ 209550 h 862012"/>
                <a:gd name="connsiteX17" fmla="*/ 1138238 w 1138238"/>
                <a:gd name="connsiteY17" fmla="*/ 185737 h 862012"/>
                <a:gd name="connsiteX18" fmla="*/ 1107281 w 1138238"/>
                <a:gd name="connsiteY18" fmla="*/ 154781 h 862012"/>
                <a:gd name="connsiteX19" fmla="*/ 1052512 w 1138238"/>
                <a:gd name="connsiteY19" fmla="*/ 97631 h 862012"/>
                <a:gd name="connsiteX20" fmla="*/ 1009650 w 1138238"/>
                <a:gd name="connsiteY20" fmla="*/ 73819 h 862012"/>
                <a:gd name="connsiteX21" fmla="*/ 995362 w 1138238"/>
                <a:gd name="connsiteY21" fmla="*/ 47625 h 862012"/>
                <a:gd name="connsiteX22" fmla="*/ 983456 w 1138238"/>
                <a:gd name="connsiteY22" fmla="*/ 64294 h 862012"/>
                <a:gd name="connsiteX23" fmla="*/ 966787 w 1138238"/>
                <a:gd name="connsiteY23" fmla="*/ 69056 h 862012"/>
                <a:gd name="connsiteX24" fmla="*/ 935831 w 1138238"/>
                <a:gd name="connsiteY24" fmla="*/ 59531 h 862012"/>
                <a:gd name="connsiteX25" fmla="*/ 904875 w 1138238"/>
                <a:gd name="connsiteY25" fmla="*/ 23812 h 862012"/>
                <a:gd name="connsiteX26" fmla="*/ 888206 w 1138238"/>
                <a:gd name="connsiteY26" fmla="*/ 0 h 862012"/>
                <a:gd name="connsiteX27" fmla="*/ 869156 w 1138238"/>
                <a:gd name="connsiteY27" fmla="*/ 28575 h 862012"/>
                <a:gd name="connsiteX28" fmla="*/ 871537 w 1138238"/>
                <a:gd name="connsiteY28" fmla="*/ 69056 h 862012"/>
                <a:gd name="connsiteX29" fmla="*/ 847725 w 1138238"/>
                <a:gd name="connsiteY29" fmla="*/ 100012 h 862012"/>
                <a:gd name="connsiteX30" fmla="*/ 826293 w 1138238"/>
                <a:gd name="connsiteY30" fmla="*/ 97631 h 862012"/>
                <a:gd name="connsiteX31" fmla="*/ 800100 w 1138238"/>
                <a:gd name="connsiteY31" fmla="*/ 71437 h 862012"/>
                <a:gd name="connsiteX32" fmla="*/ 783431 w 1138238"/>
                <a:gd name="connsiteY32" fmla="*/ 57150 h 862012"/>
                <a:gd name="connsiteX33" fmla="*/ 764381 w 1138238"/>
                <a:gd name="connsiteY33" fmla="*/ 61912 h 862012"/>
                <a:gd name="connsiteX34" fmla="*/ 747712 w 1138238"/>
                <a:gd name="connsiteY34" fmla="*/ 92869 h 862012"/>
                <a:gd name="connsiteX35" fmla="*/ 742950 w 1138238"/>
                <a:gd name="connsiteY35" fmla="*/ 107156 h 862012"/>
                <a:gd name="connsiteX36" fmla="*/ 714375 w 1138238"/>
                <a:gd name="connsiteY36" fmla="*/ 107156 h 862012"/>
                <a:gd name="connsiteX37" fmla="*/ 700087 w 1138238"/>
                <a:gd name="connsiteY37" fmla="*/ 95250 h 862012"/>
                <a:gd name="connsiteX38" fmla="*/ 700087 w 1138238"/>
                <a:gd name="connsiteY38" fmla="*/ 66675 h 862012"/>
                <a:gd name="connsiteX39" fmla="*/ 704850 w 1138238"/>
                <a:gd name="connsiteY39" fmla="*/ 38100 h 862012"/>
                <a:gd name="connsiteX40" fmla="*/ 692943 w 1138238"/>
                <a:gd name="connsiteY40" fmla="*/ 23812 h 862012"/>
                <a:gd name="connsiteX41" fmla="*/ 669131 w 1138238"/>
                <a:gd name="connsiteY41" fmla="*/ 26194 h 862012"/>
                <a:gd name="connsiteX42" fmla="*/ 640556 w 1138238"/>
                <a:gd name="connsiteY42" fmla="*/ 19050 h 862012"/>
                <a:gd name="connsiteX43" fmla="*/ 604837 w 1138238"/>
                <a:gd name="connsiteY43" fmla="*/ 4762 h 862012"/>
                <a:gd name="connsiteX44" fmla="*/ 569118 w 1138238"/>
                <a:gd name="connsiteY44" fmla="*/ 4762 h 862012"/>
                <a:gd name="connsiteX45" fmla="*/ 557212 w 1138238"/>
                <a:gd name="connsiteY45" fmla="*/ 11906 h 862012"/>
                <a:gd name="connsiteX46" fmla="*/ 438150 w 1138238"/>
                <a:gd name="connsiteY46" fmla="*/ 69056 h 862012"/>
                <a:gd name="connsiteX47" fmla="*/ 421481 w 1138238"/>
                <a:gd name="connsiteY47" fmla="*/ 169069 h 862012"/>
                <a:gd name="connsiteX48" fmla="*/ 304800 w 1138238"/>
                <a:gd name="connsiteY48" fmla="*/ 228600 h 862012"/>
                <a:gd name="connsiteX49" fmla="*/ 276225 w 1138238"/>
                <a:gd name="connsiteY49" fmla="*/ 290512 h 862012"/>
                <a:gd name="connsiteX50" fmla="*/ 228600 w 1138238"/>
                <a:gd name="connsiteY50" fmla="*/ 285750 h 862012"/>
                <a:gd name="connsiteX51" fmla="*/ 211931 w 1138238"/>
                <a:gd name="connsiteY51" fmla="*/ 357187 h 862012"/>
                <a:gd name="connsiteX52" fmla="*/ 207168 w 1138238"/>
                <a:gd name="connsiteY52" fmla="*/ 369094 h 862012"/>
                <a:gd name="connsiteX53" fmla="*/ 223837 w 1138238"/>
                <a:gd name="connsiteY53" fmla="*/ 404812 h 862012"/>
                <a:gd name="connsiteX54" fmla="*/ 219075 w 1138238"/>
                <a:gd name="connsiteY54" fmla="*/ 511969 h 862012"/>
                <a:gd name="connsiteX55" fmla="*/ 195262 w 1138238"/>
                <a:gd name="connsiteY55" fmla="*/ 521494 h 862012"/>
                <a:gd name="connsiteX56" fmla="*/ 180975 w 1138238"/>
                <a:gd name="connsiteY56" fmla="*/ 502444 h 862012"/>
                <a:gd name="connsiteX57" fmla="*/ 161925 w 1138238"/>
                <a:gd name="connsiteY57" fmla="*/ 457200 h 862012"/>
                <a:gd name="connsiteX58" fmla="*/ 128587 w 1138238"/>
                <a:gd name="connsiteY58" fmla="*/ 433387 h 862012"/>
                <a:gd name="connsiteX59" fmla="*/ 116681 w 1138238"/>
                <a:gd name="connsiteY59" fmla="*/ 409575 h 862012"/>
                <a:gd name="connsiteX60" fmla="*/ 83343 w 1138238"/>
                <a:gd name="connsiteY60" fmla="*/ 421481 h 862012"/>
                <a:gd name="connsiteX61" fmla="*/ 78581 w 1138238"/>
                <a:gd name="connsiteY61" fmla="*/ 466725 h 862012"/>
                <a:gd name="connsiteX62" fmla="*/ 116681 w 1138238"/>
                <a:gd name="connsiteY62" fmla="*/ 514350 h 862012"/>
                <a:gd name="connsiteX63" fmla="*/ 123825 w 1138238"/>
                <a:gd name="connsiteY63" fmla="*/ 583406 h 862012"/>
                <a:gd name="connsiteX64" fmla="*/ 152400 w 1138238"/>
                <a:gd name="connsiteY64" fmla="*/ 631031 h 862012"/>
                <a:gd name="connsiteX65" fmla="*/ 142875 w 1138238"/>
                <a:gd name="connsiteY65" fmla="*/ 657225 h 862012"/>
                <a:gd name="connsiteX66" fmla="*/ 107156 w 1138238"/>
                <a:gd name="connsiteY66" fmla="*/ 697706 h 862012"/>
                <a:gd name="connsiteX67" fmla="*/ 42862 w 1138238"/>
                <a:gd name="connsiteY67" fmla="*/ 735806 h 862012"/>
                <a:gd name="connsiteX68" fmla="*/ 35718 w 1138238"/>
                <a:gd name="connsiteY68" fmla="*/ 769144 h 862012"/>
                <a:gd name="connsiteX69" fmla="*/ 19050 w 1138238"/>
                <a:gd name="connsiteY69" fmla="*/ 795337 h 862012"/>
                <a:gd name="connsiteX70" fmla="*/ 0 w 1138238"/>
                <a:gd name="connsiteY70" fmla="*/ 859631 h 862012"/>
                <a:gd name="connsiteX71" fmla="*/ 19050 w 1138238"/>
                <a:gd name="connsiteY71" fmla="*/ 862012 h 862012"/>
                <a:gd name="connsiteX72" fmla="*/ 154781 w 1138238"/>
                <a:gd name="connsiteY72" fmla="*/ 828675 h 862012"/>
                <a:gd name="connsiteX73" fmla="*/ 171450 w 1138238"/>
                <a:gd name="connsiteY73" fmla="*/ 757237 h 862012"/>
                <a:gd name="connsiteX74" fmla="*/ 259556 w 1138238"/>
                <a:gd name="connsiteY74" fmla="*/ 800100 h 862012"/>
                <a:gd name="connsiteX75" fmla="*/ 297656 w 1138238"/>
                <a:gd name="connsiteY75" fmla="*/ 700087 h 862012"/>
                <a:gd name="connsiteX76" fmla="*/ 385762 w 1138238"/>
                <a:gd name="connsiteY76" fmla="*/ 666750 h 862012"/>
                <a:gd name="connsiteX77" fmla="*/ 435768 w 1138238"/>
                <a:gd name="connsiteY77" fmla="*/ 681037 h 862012"/>
                <a:gd name="connsiteX78" fmla="*/ 473868 w 1138238"/>
                <a:gd name="connsiteY78" fmla="*/ 702469 h 862012"/>
                <a:gd name="connsiteX79" fmla="*/ 500062 w 1138238"/>
                <a:gd name="connsiteY79" fmla="*/ 707231 h 862012"/>
                <a:gd name="connsiteX80" fmla="*/ 516731 w 1138238"/>
                <a:gd name="connsiteY80" fmla="*/ 702469 h 862012"/>
                <a:gd name="connsiteX81" fmla="*/ 545306 w 1138238"/>
                <a:gd name="connsiteY81" fmla="*/ 671512 h 862012"/>
                <a:gd name="connsiteX82" fmla="*/ 576262 w 1138238"/>
                <a:gd name="connsiteY82" fmla="*/ 671512 h 862012"/>
                <a:gd name="connsiteX83" fmla="*/ 631031 w 1138238"/>
                <a:gd name="connsiteY83" fmla="*/ 650081 h 86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138238" h="862012">
                  <a:moveTo>
                    <a:pt x="631031" y="650081"/>
                  </a:moveTo>
                  <a:lnTo>
                    <a:pt x="678656" y="585787"/>
                  </a:lnTo>
                  <a:lnTo>
                    <a:pt x="702468" y="573881"/>
                  </a:lnTo>
                  <a:lnTo>
                    <a:pt x="733425" y="573881"/>
                  </a:lnTo>
                  <a:lnTo>
                    <a:pt x="778668" y="554831"/>
                  </a:lnTo>
                  <a:lnTo>
                    <a:pt x="833437" y="528637"/>
                  </a:lnTo>
                  <a:lnTo>
                    <a:pt x="883443" y="495300"/>
                  </a:lnTo>
                  <a:lnTo>
                    <a:pt x="900112" y="490537"/>
                  </a:lnTo>
                  <a:lnTo>
                    <a:pt x="919162" y="485775"/>
                  </a:lnTo>
                  <a:lnTo>
                    <a:pt x="916781" y="447675"/>
                  </a:lnTo>
                  <a:lnTo>
                    <a:pt x="954881" y="428625"/>
                  </a:lnTo>
                  <a:lnTo>
                    <a:pt x="985837" y="407194"/>
                  </a:lnTo>
                  <a:lnTo>
                    <a:pt x="1000125" y="347662"/>
                  </a:lnTo>
                  <a:lnTo>
                    <a:pt x="981075" y="316706"/>
                  </a:lnTo>
                  <a:lnTo>
                    <a:pt x="997743" y="271462"/>
                  </a:lnTo>
                  <a:lnTo>
                    <a:pt x="1033462" y="233362"/>
                  </a:lnTo>
                  <a:lnTo>
                    <a:pt x="1097756" y="209550"/>
                  </a:lnTo>
                  <a:lnTo>
                    <a:pt x="1138238" y="185737"/>
                  </a:lnTo>
                  <a:lnTo>
                    <a:pt x="1107281" y="154781"/>
                  </a:lnTo>
                  <a:lnTo>
                    <a:pt x="1052512" y="97631"/>
                  </a:lnTo>
                  <a:lnTo>
                    <a:pt x="1009650" y="73819"/>
                  </a:lnTo>
                  <a:lnTo>
                    <a:pt x="995362" y="47625"/>
                  </a:lnTo>
                  <a:lnTo>
                    <a:pt x="983456" y="64294"/>
                  </a:lnTo>
                  <a:lnTo>
                    <a:pt x="966787" y="69056"/>
                  </a:lnTo>
                  <a:lnTo>
                    <a:pt x="935831" y="59531"/>
                  </a:lnTo>
                  <a:lnTo>
                    <a:pt x="904875" y="23812"/>
                  </a:lnTo>
                  <a:lnTo>
                    <a:pt x="888206" y="0"/>
                  </a:lnTo>
                  <a:lnTo>
                    <a:pt x="869156" y="28575"/>
                  </a:lnTo>
                  <a:lnTo>
                    <a:pt x="871537" y="69056"/>
                  </a:lnTo>
                  <a:lnTo>
                    <a:pt x="847725" y="100012"/>
                  </a:lnTo>
                  <a:lnTo>
                    <a:pt x="826293" y="97631"/>
                  </a:lnTo>
                  <a:lnTo>
                    <a:pt x="800100" y="71437"/>
                  </a:lnTo>
                  <a:lnTo>
                    <a:pt x="783431" y="57150"/>
                  </a:lnTo>
                  <a:lnTo>
                    <a:pt x="764381" y="61912"/>
                  </a:lnTo>
                  <a:lnTo>
                    <a:pt x="747712" y="92869"/>
                  </a:lnTo>
                  <a:lnTo>
                    <a:pt x="742950" y="107156"/>
                  </a:lnTo>
                  <a:lnTo>
                    <a:pt x="714375" y="107156"/>
                  </a:lnTo>
                  <a:lnTo>
                    <a:pt x="700087" y="95250"/>
                  </a:lnTo>
                  <a:lnTo>
                    <a:pt x="700087" y="66675"/>
                  </a:lnTo>
                  <a:lnTo>
                    <a:pt x="704850" y="38100"/>
                  </a:lnTo>
                  <a:lnTo>
                    <a:pt x="692943" y="23812"/>
                  </a:lnTo>
                  <a:lnTo>
                    <a:pt x="669131" y="26194"/>
                  </a:lnTo>
                  <a:lnTo>
                    <a:pt x="640556" y="19050"/>
                  </a:lnTo>
                  <a:lnTo>
                    <a:pt x="604837" y="4762"/>
                  </a:lnTo>
                  <a:lnTo>
                    <a:pt x="569118" y="4762"/>
                  </a:lnTo>
                  <a:lnTo>
                    <a:pt x="557212" y="11906"/>
                  </a:lnTo>
                  <a:lnTo>
                    <a:pt x="438150" y="69056"/>
                  </a:lnTo>
                  <a:lnTo>
                    <a:pt x="421481" y="169069"/>
                  </a:lnTo>
                  <a:lnTo>
                    <a:pt x="304800" y="228600"/>
                  </a:lnTo>
                  <a:lnTo>
                    <a:pt x="276225" y="290512"/>
                  </a:lnTo>
                  <a:lnTo>
                    <a:pt x="228600" y="285750"/>
                  </a:lnTo>
                  <a:lnTo>
                    <a:pt x="211931" y="357187"/>
                  </a:lnTo>
                  <a:lnTo>
                    <a:pt x="207168" y="369094"/>
                  </a:lnTo>
                  <a:lnTo>
                    <a:pt x="223837" y="404812"/>
                  </a:lnTo>
                  <a:lnTo>
                    <a:pt x="219075" y="511969"/>
                  </a:lnTo>
                  <a:lnTo>
                    <a:pt x="195262" y="521494"/>
                  </a:lnTo>
                  <a:lnTo>
                    <a:pt x="180975" y="502444"/>
                  </a:lnTo>
                  <a:lnTo>
                    <a:pt x="161925" y="457200"/>
                  </a:lnTo>
                  <a:lnTo>
                    <a:pt x="128587" y="433387"/>
                  </a:lnTo>
                  <a:lnTo>
                    <a:pt x="116681" y="409575"/>
                  </a:lnTo>
                  <a:lnTo>
                    <a:pt x="83343" y="421481"/>
                  </a:lnTo>
                  <a:lnTo>
                    <a:pt x="78581" y="466725"/>
                  </a:lnTo>
                  <a:lnTo>
                    <a:pt x="116681" y="514350"/>
                  </a:lnTo>
                  <a:lnTo>
                    <a:pt x="123825" y="583406"/>
                  </a:lnTo>
                  <a:lnTo>
                    <a:pt x="152400" y="631031"/>
                  </a:lnTo>
                  <a:lnTo>
                    <a:pt x="142875" y="657225"/>
                  </a:lnTo>
                  <a:lnTo>
                    <a:pt x="107156" y="697706"/>
                  </a:lnTo>
                  <a:lnTo>
                    <a:pt x="42862" y="735806"/>
                  </a:lnTo>
                  <a:lnTo>
                    <a:pt x="35718" y="769144"/>
                  </a:lnTo>
                  <a:lnTo>
                    <a:pt x="19050" y="795337"/>
                  </a:lnTo>
                  <a:lnTo>
                    <a:pt x="0" y="859631"/>
                  </a:lnTo>
                  <a:lnTo>
                    <a:pt x="19050" y="862012"/>
                  </a:lnTo>
                  <a:lnTo>
                    <a:pt x="154781" y="828675"/>
                  </a:lnTo>
                  <a:lnTo>
                    <a:pt x="171450" y="757237"/>
                  </a:lnTo>
                  <a:lnTo>
                    <a:pt x="259556" y="800100"/>
                  </a:lnTo>
                  <a:lnTo>
                    <a:pt x="297656" y="700087"/>
                  </a:lnTo>
                  <a:lnTo>
                    <a:pt x="385762" y="666750"/>
                  </a:lnTo>
                  <a:lnTo>
                    <a:pt x="435768" y="681037"/>
                  </a:lnTo>
                  <a:lnTo>
                    <a:pt x="473868" y="702469"/>
                  </a:lnTo>
                  <a:lnTo>
                    <a:pt x="500062" y="707231"/>
                  </a:lnTo>
                  <a:lnTo>
                    <a:pt x="516731" y="702469"/>
                  </a:lnTo>
                  <a:lnTo>
                    <a:pt x="545306" y="671512"/>
                  </a:lnTo>
                  <a:lnTo>
                    <a:pt x="576262" y="671512"/>
                  </a:lnTo>
                  <a:lnTo>
                    <a:pt x="631031" y="650081"/>
                  </a:lnTo>
                  <a:close/>
                </a:path>
              </a:pathLst>
            </a:custGeom>
            <a:solidFill>
              <a:schemeClr val="accent5"/>
            </a:solid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57" name="Freeform 56"/>
            <p:cNvSpPr/>
            <p:nvPr/>
          </p:nvSpPr>
          <p:spPr>
            <a:xfrm rot="21298612">
              <a:off x="3217345" y="3363293"/>
              <a:ext cx="737843" cy="650303"/>
            </a:xfrm>
            <a:custGeom>
              <a:avLst/>
              <a:gdLst>
                <a:gd name="connsiteX0" fmla="*/ 123825 w 735806"/>
                <a:gd name="connsiteY0" fmla="*/ 504825 h 611981"/>
                <a:gd name="connsiteX1" fmla="*/ 207169 w 735806"/>
                <a:gd name="connsiteY1" fmla="*/ 528638 h 611981"/>
                <a:gd name="connsiteX2" fmla="*/ 235744 w 735806"/>
                <a:gd name="connsiteY2" fmla="*/ 535781 h 611981"/>
                <a:gd name="connsiteX3" fmla="*/ 257175 w 735806"/>
                <a:gd name="connsiteY3" fmla="*/ 531019 h 611981"/>
                <a:gd name="connsiteX4" fmla="*/ 259556 w 735806"/>
                <a:gd name="connsiteY4" fmla="*/ 547688 h 611981"/>
                <a:gd name="connsiteX5" fmla="*/ 266700 w 735806"/>
                <a:gd name="connsiteY5" fmla="*/ 604838 h 611981"/>
                <a:gd name="connsiteX6" fmla="*/ 276225 w 735806"/>
                <a:gd name="connsiteY6" fmla="*/ 611981 h 611981"/>
                <a:gd name="connsiteX7" fmla="*/ 276225 w 735806"/>
                <a:gd name="connsiteY7" fmla="*/ 611981 h 611981"/>
                <a:gd name="connsiteX8" fmla="*/ 311944 w 735806"/>
                <a:gd name="connsiteY8" fmla="*/ 592931 h 611981"/>
                <a:gd name="connsiteX9" fmla="*/ 323850 w 735806"/>
                <a:gd name="connsiteY9" fmla="*/ 566738 h 611981"/>
                <a:gd name="connsiteX10" fmla="*/ 340519 w 735806"/>
                <a:gd name="connsiteY10" fmla="*/ 561975 h 611981"/>
                <a:gd name="connsiteX11" fmla="*/ 364331 w 735806"/>
                <a:gd name="connsiteY11" fmla="*/ 585788 h 611981"/>
                <a:gd name="connsiteX12" fmla="*/ 381000 w 735806"/>
                <a:gd name="connsiteY12" fmla="*/ 600075 h 611981"/>
                <a:gd name="connsiteX13" fmla="*/ 400050 w 735806"/>
                <a:gd name="connsiteY13" fmla="*/ 607219 h 611981"/>
                <a:gd name="connsiteX14" fmla="*/ 426244 w 735806"/>
                <a:gd name="connsiteY14" fmla="*/ 573881 h 611981"/>
                <a:gd name="connsiteX15" fmla="*/ 433387 w 735806"/>
                <a:gd name="connsiteY15" fmla="*/ 533400 h 611981"/>
                <a:gd name="connsiteX16" fmla="*/ 447675 w 735806"/>
                <a:gd name="connsiteY16" fmla="*/ 504825 h 611981"/>
                <a:gd name="connsiteX17" fmla="*/ 473869 w 735806"/>
                <a:gd name="connsiteY17" fmla="*/ 542925 h 611981"/>
                <a:gd name="connsiteX18" fmla="*/ 495300 w 735806"/>
                <a:gd name="connsiteY18" fmla="*/ 561975 h 611981"/>
                <a:gd name="connsiteX19" fmla="*/ 516731 w 735806"/>
                <a:gd name="connsiteY19" fmla="*/ 578644 h 611981"/>
                <a:gd name="connsiteX20" fmla="*/ 550069 w 735806"/>
                <a:gd name="connsiteY20" fmla="*/ 566738 h 611981"/>
                <a:gd name="connsiteX21" fmla="*/ 557212 w 735806"/>
                <a:gd name="connsiteY21" fmla="*/ 547688 h 611981"/>
                <a:gd name="connsiteX22" fmla="*/ 557212 w 735806"/>
                <a:gd name="connsiteY22" fmla="*/ 535781 h 611981"/>
                <a:gd name="connsiteX23" fmla="*/ 531019 w 735806"/>
                <a:gd name="connsiteY23" fmla="*/ 511969 h 611981"/>
                <a:gd name="connsiteX24" fmla="*/ 514350 w 735806"/>
                <a:gd name="connsiteY24" fmla="*/ 421481 h 611981"/>
                <a:gd name="connsiteX25" fmla="*/ 514350 w 735806"/>
                <a:gd name="connsiteY25" fmla="*/ 421481 h 611981"/>
                <a:gd name="connsiteX26" fmla="*/ 464344 w 735806"/>
                <a:gd name="connsiteY26" fmla="*/ 445294 h 611981"/>
                <a:gd name="connsiteX27" fmla="*/ 438150 w 735806"/>
                <a:gd name="connsiteY27" fmla="*/ 431006 h 611981"/>
                <a:gd name="connsiteX28" fmla="*/ 426244 w 735806"/>
                <a:gd name="connsiteY28" fmla="*/ 385763 h 611981"/>
                <a:gd name="connsiteX29" fmla="*/ 411956 w 735806"/>
                <a:gd name="connsiteY29" fmla="*/ 381000 h 611981"/>
                <a:gd name="connsiteX30" fmla="*/ 388144 w 735806"/>
                <a:gd name="connsiteY30" fmla="*/ 350044 h 611981"/>
                <a:gd name="connsiteX31" fmla="*/ 409575 w 735806"/>
                <a:gd name="connsiteY31" fmla="*/ 314325 h 611981"/>
                <a:gd name="connsiteX32" fmla="*/ 507206 w 735806"/>
                <a:gd name="connsiteY32" fmla="*/ 338138 h 611981"/>
                <a:gd name="connsiteX33" fmla="*/ 528637 w 735806"/>
                <a:gd name="connsiteY33" fmla="*/ 311944 h 611981"/>
                <a:gd name="connsiteX34" fmla="*/ 626269 w 735806"/>
                <a:gd name="connsiteY34" fmla="*/ 290513 h 611981"/>
                <a:gd name="connsiteX35" fmla="*/ 631031 w 735806"/>
                <a:gd name="connsiteY35" fmla="*/ 240506 h 611981"/>
                <a:gd name="connsiteX36" fmla="*/ 714375 w 735806"/>
                <a:gd name="connsiteY36" fmla="*/ 166688 h 611981"/>
                <a:gd name="connsiteX37" fmla="*/ 735806 w 735806"/>
                <a:gd name="connsiteY37" fmla="*/ 71438 h 611981"/>
                <a:gd name="connsiteX38" fmla="*/ 707231 w 735806"/>
                <a:gd name="connsiteY38" fmla="*/ 0 h 611981"/>
                <a:gd name="connsiteX39" fmla="*/ 614362 w 735806"/>
                <a:gd name="connsiteY39" fmla="*/ 47625 h 611981"/>
                <a:gd name="connsiteX40" fmla="*/ 614362 w 735806"/>
                <a:gd name="connsiteY40" fmla="*/ 66675 h 611981"/>
                <a:gd name="connsiteX41" fmla="*/ 597694 w 735806"/>
                <a:gd name="connsiteY41" fmla="*/ 135731 h 611981"/>
                <a:gd name="connsiteX42" fmla="*/ 566737 w 735806"/>
                <a:gd name="connsiteY42" fmla="*/ 130969 h 611981"/>
                <a:gd name="connsiteX43" fmla="*/ 514350 w 735806"/>
                <a:gd name="connsiteY43" fmla="*/ 164306 h 611981"/>
                <a:gd name="connsiteX44" fmla="*/ 433387 w 735806"/>
                <a:gd name="connsiteY44" fmla="*/ 123825 h 611981"/>
                <a:gd name="connsiteX45" fmla="*/ 402431 w 735806"/>
                <a:gd name="connsiteY45" fmla="*/ 128588 h 611981"/>
                <a:gd name="connsiteX46" fmla="*/ 359569 w 735806"/>
                <a:gd name="connsiteY46" fmla="*/ 154781 h 611981"/>
                <a:gd name="connsiteX47" fmla="*/ 307181 w 735806"/>
                <a:gd name="connsiteY47" fmla="*/ 154781 h 611981"/>
                <a:gd name="connsiteX48" fmla="*/ 280987 w 735806"/>
                <a:gd name="connsiteY48" fmla="*/ 188119 h 611981"/>
                <a:gd name="connsiteX49" fmla="*/ 209550 w 735806"/>
                <a:gd name="connsiteY49" fmla="*/ 171450 h 611981"/>
                <a:gd name="connsiteX50" fmla="*/ 154781 w 735806"/>
                <a:gd name="connsiteY50" fmla="*/ 197644 h 611981"/>
                <a:gd name="connsiteX51" fmla="*/ 126206 w 735806"/>
                <a:gd name="connsiteY51" fmla="*/ 176213 h 611981"/>
                <a:gd name="connsiteX52" fmla="*/ 111919 w 735806"/>
                <a:gd name="connsiteY52" fmla="*/ 176213 h 611981"/>
                <a:gd name="connsiteX53" fmla="*/ 107156 w 735806"/>
                <a:gd name="connsiteY53" fmla="*/ 164306 h 611981"/>
                <a:gd name="connsiteX54" fmla="*/ 9525 w 735806"/>
                <a:gd name="connsiteY54" fmla="*/ 159544 h 611981"/>
                <a:gd name="connsiteX55" fmla="*/ 0 w 735806"/>
                <a:gd name="connsiteY55" fmla="*/ 190500 h 611981"/>
                <a:gd name="connsiteX56" fmla="*/ 2381 w 735806"/>
                <a:gd name="connsiteY56" fmla="*/ 261938 h 611981"/>
                <a:gd name="connsiteX57" fmla="*/ 30956 w 735806"/>
                <a:gd name="connsiteY57" fmla="*/ 278606 h 611981"/>
                <a:gd name="connsiteX58" fmla="*/ 47625 w 735806"/>
                <a:gd name="connsiteY58" fmla="*/ 285750 h 611981"/>
                <a:gd name="connsiteX59" fmla="*/ 69056 w 735806"/>
                <a:gd name="connsiteY59" fmla="*/ 292894 h 611981"/>
                <a:gd name="connsiteX60" fmla="*/ 80962 w 735806"/>
                <a:gd name="connsiteY60" fmla="*/ 319088 h 611981"/>
                <a:gd name="connsiteX61" fmla="*/ 109537 w 735806"/>
                <a:gd name="connsiteY61" fmla="*/ 340519 h 611981"/>
                <a:gd name="connsiteX62" fmla="*/ 111919 w 735806"/>
                <a:gd name="connsiteY62" fmla="*/ 390525 h 611981"/>
                <a:gd name="connsiteX63" fmla="*/ 128587 w 735806"/>
                <a:gd name="connsiteY63" fmla="*/ 428625 h 611981"/>
                <a:gd name="connsiteX64" fmla="*/ 104775 w 735806"/>
                <a:gd name="connsiteY64" fmla="*/ 445294 h 611981"/>
                <a:gd name="connsiteX65" fmla="*/ 123825 w 735806"/>
                <a:gd name="connsiteY65" fmla="*/ 504825 h 611981"/>
                <a:gd name="connsiteX0" fmla="*/ 123825 w 735806"/>
                <a:gd name="connsiteY0" fmla="*/ 504825 h 614362"/>
                <a:gd name="connsiteX1" fmla="*/ 207169 w 735806"/>
                <a:gd name="connsiteY1" fmla="*/ 528638 h 614362"/>
                <a:gd name="connsiteX2" fmla="*/ 235744 w 735806"/>
                <a:gd name="connsiteY2" fmla="*/ 535781 h 614362"/>
                <a:gd name="connsiteX3" fmla="*/ 257175 w 735806"/>
                <a:gd name="connsiteY3" fmla="*/ 531019 h 614362"/>
                <a:gd name="connsiteX4" fmla="*/ 259556 w 735806"/>
                <a:gd name="connsiteY4" fmla="*/ 547688 h 614362"/>
                <a:gd name="connsiteX5" fmla="*/ 266700 w 735806"/>
                <a:gd name="connsiteY5" fmla="*/ 604838 h 614362"/>
                <a:gd name="connsiteX6" fmla="*/ 276225 w 735806"/>
                <a:gd name="connsiteY6" fmla="*/ 611981 h 614362"/>
                <a:gd name="connsiteX7" fmla="*/ 276225 w 735806"/>
                <a:gd name="connsiteY7" fmla="*/ 611981 h 614362"/>
                <a:gd name="connsiteX8" fmla="*/ 311944 w 735806"/>
                <a:gd name="connsiteY8" fmla="*/ 614362 h 614362"/>
                <a:gd name="connsiteX9" fmla="*/ 323850 w 735806"/>
                <a:gd name="connsiteY9" fmla="*/ 566738 h 614362"/>
                <a:gd name="connsiteX10" fmla="*/ 340519 w 735806"/>
                <a:gd name="connsiteY10" fmla="*/ 561975 h 614362"/>
                <a:gd name="connsiteX11" fmla="*/ 364331 w 735806"/>
                <a:gd name="connsiteY11" fmla="*/ 585788 h 614362"/>
                <a:gd name="connsiteX12" fmla="*/ 381000 w 735806"/>
                <a:gd name="connsiteY12" fmla="*/ 600075 h 614362"/>
                <a:gd name="connsiteX13" fmla="*/ 400050 w 735806"/>
                <a:gd name="connsiteY13" fmla="*/ 607219 h 614362"/>
                <a:gd name="connsiteX14" fmla="*/ 426244 w 735806"/>
                <a:gd name="connsiteY14" fmla="*/ 573881 h 614362"/>
                <a:gd name="connsiteX15" fmla="*/ 433387 w 735806"/>
                <a:gd name="connsiteY15" fmla="*/ 533400 h 614362"/>
                <a:gd name="connsiteX16" fmla="*/ 447675 w 735806"/>
                <a:gd name="connsiteY16" fmla="*/ 504825 h 614362"/>
                <a:gd name="connsiteX17" fmla="*/ 473869 w 735806"/>
                <a:gd name="connsiteY17" fmla="*/ 542925 h 614362"/>
                <a:gd name="connsiteX18" fmla="*/ 495300 w 735806"/>
                <a:gd name="connsiteY18" fmla="*/ 561975 h 614362"/>
                <a:gd name="connsiteX19" fmla="*/ 516731 w 735806"/>
                <a:gd name="connsiteY19" fmla="*/ 578644 h 614362"/>
                <a:gd name="connsiteX20" fmla="*/ 550069 w 735806"/>
                <a:gd name="connsiteY20" fmla="*/ 566738 h 614362"/>
                <a:gd name="connsiteX21" fmla="*/ 557212 w 735806"/>
                <a:gd name="connsiteY21" fmla="*/ 547688 h 614362"/>
                <a:gd name="connsiteX22" fmla="*/ 557212 w 735806"/>
                <a:gd name="connsiteY22" fmla="*/ 535781 h 614362"/>
                <a:gd name="connsiteX23" fmla="*/ 531019 w 735806"/>
                <a:gd name="connsiteY23" fmla="*/ 511969 h 614362"/>
                <a:gd name="connsiteX24" fmla="*/ 514350 w 735806"/>
                <a:gd name="connsiteY24" fmla="*/ 421481 h 614362"/>
                <a:gd name="connsiteX25" fmla="*/ 514350 w 735806"/>
                <a:gd name="connsiteY25" fmla="*/ 421481 h 614362"/>
                <a:gd name="connsiteX26" fmla="*/ 464344 w 735806"/>
                <a:gd name="connsiteY26" fmla="*/ 445294 h 614362"/>
                <a:gd name="connsiteX27" fmla="*/ 438150 w 735806"/>
                <a:gd name="connsiteY27" fmla="*/ 431006 h 614362"/>
                <a:gd name="connsiteX28" fmla="*/ 426244 w 735806"/>
                <a:gd name="connsiteY28" fmla="*/ 385763 h 614362"/>
                <a:gd name="connsiteX29" fmla="*/ 411956 w 735806"/>
                <a:gd name="connsiteY29" fmla="*/ 381000 h 614362"/>
                <a:gd name="connsiteX30" fmla="*/ 388144 w 735806"/>
                <a:gd name="connsiteY30" fmla="*/ 350044 h 614362"/>
                <a:gd name="connsiteX31" fmla="*/ 409575 w 735806"/>
                <a:gd name="connsiteY31" fmla="*/ 314325 h 614362"/>
                <a:gd name="connsiteX32" fmla="*/ 507206 w 735806"/>
                <a:gd name="connsiteY32" fmla="*/ 338138 h 614362"/>
                <a:gd name="connsiteX33" fmla="*/ 528637 w 735806"/>
                <a:gd name="connsiteY33" fmla="*/ 311944 h 614362"/>
                <a:gd name="connsiteX34" fmla="*/ 626269 w 735806"/>
                <a:gd name="connsiteY34" fmla="*/ 290513 h 614362"/>
                <a:gd name="connsiteX35" fmla="*/ 631031 w 735806"/>
                <a:gd name="connsiteY35" fmla="*/ 240506 h 614362"/>
                <a:gd name="connsiteX36" fmla="*/ 714375 w 735806"/>
                <a:gd name="connsiteY36" fmla="*/ 166688 h 614362"/>
                <a:gd name="connsiteX37" fmla="*/ 735806 w 735806"/>
                <a:gd name="connsiteY37" fmla="*/ 71438 h 614362"/>
                <a:gd name="connsiteX38" fmla="*/ 707231 w 735806"/>
                <a:gd name="connsiteY38" fmla="*/ 0 h 614362"/>
                <a:gd name="connsiteX39" fmla="*/ 614362 w 735806"/>
                <a:gd name="connsiteY39" fmla="*/ 47625 h 614362"/>
                <a:gd name="connsiteX40" fmla="*/ 614362 w 735806"/>
                <a:gd name="connsiteY40" fmla="*/ 66675 h 614362"/>
                <a:gd name="connsiteX41" fmla="*/ 597694 w 735806"/>
                <a:gd name="connsiteY41" fmla="*/ 135731 h 614362"/>
                <a:gd name="connsiteX42" fmla="*/ 566737 w 735806"/>
                <a:gd name="connsiteY42" fmla="*/ 130969 h 614362"/>
                <a:gd name="connsiteX43" fmla="*/ 514350 w 735806"/>
                <a:gd name="connsiteY43" fmla="*/ 164306 h 614362"/>
                <a:gd name="connsiteX44" fmla="*/ 433387 w 735806"/>
                <a:gd name="connsiteY44" fmla="*/ 123825 h 614362"/>
                <a:gd name="connsiteX45" fmla="*/ 402431 w 735806"/>
                <a:gd name="connsiteY45" fmla="*/ 128588 h 614362"/>
                <a:gd name="connsiteX46" fmla="*/ 359569 w 735806"/>
                <a:gd name="connsiteY46" fmla="*/ 154781 h 614362"/>
                <a:gd name="connsiteX47" fmla="*/ 307181 w 735806"/>
                <a:gd name="connsiteY47" fmla="*/ 154781 h 614362"/>
                <a:gd name="connsiteX48" fmla="*/ 280987 w 735806"/>
                <a:gd name="connsiteY48" fmla="*/ 188119 h 614362"/>
                <a:gd name="connsiteX49" fmla="*/ 209550 w 735806"/>
                <a:gd name="connsiteY49" fmla="*/ 171450 h 614362"/>
                <a:gd name="connsiteX50" fmla="*/ 154781 w 735806"/>
                <a:gd name="connsiteY50" fmla="*/ 197644 h 614362"/>
                <a:gd name="connsiteX51" fmla="*/ 126206 w 735806"/>
                <a:gd name="connsiteY51" fmla="*/ 176213 h 614362"/>
                <a:gd name="connsiteX52" fmla="*/ 111919 w 735806"/>
                <a:gd name="connsiteY52" fmla="*/ 176213 h 614362"/>
                <a:gd name="connsiteX53" fmla="*/ 107156 w 735806"/>
                <a:gd name="connsiteY53" fmla="*/ 164306 h 614362"/>
                <a:gd name="connsiteX54" fmla="*/ 9525 w 735806"/>
                <a:gd name="connsiteY54" fmla="*/ 159544 h 614362"/>
                <a:gd name="connsiteX55" fmla="*/ 0 w 735806"/>
                <a:gd name="connsiteY55" fmla="*/ 190500 h 614362"/>
                <a:gd name="connsiteX56" fmla="*/ 2381 w 735806"/>
                <a:gd name="connsiteY56" fmla="*/ 261938 h 614362"/>
                <a:gd name="connsiteX57" fmla="*/ 30956 w 735806"/>
                <a:gd name="connsiteY57" fmla="*/ 278606 h 614362"/>
                <a:gd name="connsiteX58" fmla="*/ 47625 w 735806"/>
                <a:gd name="connsiteY58" fmla="*/ 285750 h 614362"/>
                <a:gd name="connsiteX59" fmla="*/ 69056 w 735806"/>
                <a:gd name="connsiteY59" fmla="*/ 292894 h 614362"/>
                <a:gd name="connsiteX60" fmla="*/ 80962 w 735806"/>
                <a:gd name="connsiteY60" fmla="*/ 319088 h 614362"/>
                <a:gd name="connsiteX61" fmla="*/ 109537 w 735806"/>
                <a:gd name="connsiteY61" fmla="*/ 340519 h 614362"/>
                <a:gd name="connsiteX62" fmla="*/ 111919 w 735806"/>
                <a:gd name="connsiteY62" fmla="*/ 390525 h 614362"/>
                <a:gd name="connsiteX63" fmla="*/ 128587 w 735806"/>
                <a:gd name="connsiteY63" fmla="*/ 428625 h 614362"/>
                <a:gd name="connsiteX64" fmla="*/ 104775 w 735806"/>
                <a:gd name="connsiteY64" fmla="*/ 445294 h 614362"/>
                <a:gd name="connsiteX65" fmla="*/ 123825 w 735806"/>
                <a:gd name="connsiteY65" fmla="*/ 504825 h 614362"/>
                <a:gd name="connsiteX0" fmla="*/ 123825 w 735806"/>
                <a:gd name="connsiteY0" fmla="*/ 504825 h 614362"/>
                <a:gd name="connsiteX1" fmla="*/ 207169 w 735806"/>
                <a:gd name="connsiteY1" fmla="*/ 528638 h 614362"/>
                <a:gd name="connsiteX2" fmla="*/ 235744 w 735806"/>
                <a:gd name="connsiteY2" fmla="*/ 535781 h 614362"/>
                <a:gd name="connsiteX3" fmla="*/ 257175 w 735806"/>
                <a:gd name="connsiteY3" fmla="*/ 531019 h 614362"/>
                <a:gd name="connsiteX4" fmla="*/ 259556 w 735806"/>
                <a:gd name="connsiteY4" fmla="*/ 547688 h 614362"/>
                <a:gd name="connsiteX5" fmla="*/ 259556 w 735806"/>
                <a:gd name="connsiteY5" fmla="*/ 592932 h 614362"/>
                <a:gd name="connsiteX6" fmla="*/ 276225 w 735806"/>
                <a:gd name="connsiteY6" fmla="*/ 611981 h 614362"/>
                <a:gd name="connsiteX7" fmla="*/ 276225 w 735806"/>
                <a:gd name="connsiteY7" fmla="*/ 611981 h 614362"/>
                <a:gd name="connsiteX8" fmla="*/ 311944 w 735806"/>
                <a:gd name="connsiteY8" fmla="*/ 614362 h 614362"/>
                <a:gd name="connsiteX9" fmla="*/ 323850 w 735806"/>
                <a:gd name="connsiteY9" fmla="*/ 566738 h 614362"/>
                <a:gd name="connsiteX10" fmla="*/ 340519 w 735806"/>
                <a:gd name="connsiteY10" fmla="*/ 561975 h 614362"/>
                <a:gd name="connsiteX11" fmla="*/ 364331 w 735806"/>
                <a:gd name="connsiteY11" fmla="*/ 585788 h 614362"/>
                <a:gd name="connsiteX12" fmla="*/ 381000 w 735806"/>
                <a:gd name="connsiteY12" fmla="*/ 600075 h 614362"/>
                <a:gd name="connsiteX13" fmla="*/ 400050 w 735806"/>
                <a:gd name="connsiteY13" fmla="*/ 607219 h 614362"/>
                <a:gd name="connsiteX14" fmla="*/ 426244 w 735806"/>
                <a:gd name="connsiteY14" fmla="*/ 573881 h 614362"/>
                <a:gd name="connsiteX15" fmla="*/ 433387 w 735806"/>
                <a:gd name="connsiteY15" fmla="*/ 533400 h 614362"/>
                <a:gd name="connsiteX16" fmla="*/ 447675 w 735806"/>
                <a:gd name="connsiteY16" fmla="*/ 504825 h 614362"/>
                <a:gd name="connsiteX17" fmla="*/ 473869 w 735806"/>
                <a:gd name="connsiteY17" fmla="*/ 542925 h 614362"/>
                <a:gd name="connsiteX18" fmla="*/ 495300 w 735806"/>
                <a:gd name="connsiteY18" fmla="*/ 561975 h 614362"/>
                <a:gd name="connsiteX19" fmla="*/ 516731 w 735806"/>
                <a:gd name="connsiteY19" fmla="*/ 578644 h 614362"/>
                <a:gd name="connsiteX20" fmla="*/ 550069 w 735806"/>
                <a:gd name="connsiteY20" fmla="*/ 566738 h 614362"/>
                <a:gd name="connsiteX21" fmla="*/ 557212 w 735806"/>
                <a:gd name="connsiteY21" fmla="*/ 547688 h 614362"/>
                <a:gd name="connsiteX22" fmla="*/ 557212 w 735806"/>
                <a:gd name="connsiteY22" fmla="*/ 535781 h 614362"/>
                <a:gd name="connsiteX23" fmla="*/ 531019 w 735806"/>
                <a:gd name="connsiteY23" fmla="*/ 511969 h 614362"/>
                <a:gd name="connsiteX24" fmla="*/ 514350 w 735806"/>
                <a:gd name="connsiteY24" fmla="*/ 421481 h 614362"/>
                <a:gd name="connsiteX25" fmla="*/ 514350 w 735806"/>
                <a:gd name="connsiteY25" fmla="*/ 421481 h 614362"/>
                <a:gd name="connsiteX26" fmla="*/ 464344 w 735806"/>
                <a:gd name="connsiteY26" fmla="*/ 445294 h 614362"/>
                <a:gd name="connsiteX27" fmla="*/ 438150 w 735806"/>
                <a:gd name="connsiteY27" fmla="*/ 431006 h 614362"/>
                <a:gd name="connsiteX28" fmla="*/ 426244 w 735806"/>
                <a:gd name="connsiteY28" fmla="*/ 385763 h 614362"/>
                <a:gd name="connsiteX29" fmla="*/ 411956 w 735806"/>
                <a:gd name="connsiteY29" fmla="*/ 381000 h 614362"/>
                <a:gd name="connsiteX30" fmla="*/ 388144 w 735806"/>
                <a:gd name="connsiteY30" fmla="*/ 350044 h 614362"/>
                <a:gd name="connsiteX31" fmla="*/ 409575 w 735806"/>
                <a:gd name="connsiteY31" fmla="*/ 314325 h 614362"/>
                <a:gd name="connsiteX32" fmla="*/ 507206 w 735806"/>
                <a:gd name="connsiteY32" fmla="*/ 338138 h 614362"/>
                <a:gd name="connsiteX33" fmla="*/ 528637 w 735806"/>
                <a:gd name="connsiteY33" fmla="*/ 311944 h 614362"/>
                <a:gd name="connsiteX34" fmla="*/ 626269 w 735806"/>
                <a:gd name="connsiteY34" fmla="*/ 290513 h 614362"/>
                <a:gd name="connsiteX35" fmla="*/ 631031 w 735806"/>
                <a:gd name="connsiteY35" fmla="*/ 240506 h 614362"/>
                <a:gd name="connsiteX36" fmla="*/ 714375 w 735806"/>
                <a:gd name="connsiteY36" fmla="*/ 166688 h 614362"/>
                <a:gd name="connsiteX37" fmla="*/ 735806 w 735806"/>
                <a:gd name="connsiteY37" fmla="*/ 71438 h 614362"/>
                <a:gd name="connsiteX38" fmla="*/ 707231 w 735806"/>
                <a:gd name="connsiteY38" fmla="*/ 0 h 614362"/>
                <a:gd name="connsiteX39" fmla="*/ 614362 w 735806"/>
                <a:gd name="connsiteY39" fmla="*/ 47625 h 614362"/>
                <a:gd name="connsiteX40" fmla="*/ 614362 w 735806"/>
                <a:gd name="connsiteY40" fmla="*/ 66675 h 614362"/>
                <a:gd name="connsiteX41" fmla="*/ 597694 w 735806"/>
                <a:gd name="connsiteY41" fmla="*/ 135731 h 614362"/>
                <a:gd name="connsiteX42" fmla="*/ 566737 w 735806"/>
                <a:gd name="connsiteY42" fmla="*/ 130969 h 614362"/>
                <a:gd name="connsiteX43" fmla="*/ 514350 w 735806"/>
                <a:gd name="connsiteY43" fmla="*/ 164306 h 614362"/>
                <a:gd name="connsiteX44" fmla="*/ 433387 w 735806"/>
                <a:gd name="connsiteY44" fmla="*/ 123825 h 614362"/>
                <a:gd name="connsiteX45" fmla="*/ 402431 w 735806"/>
                <a:gd name="connsiteY45" fmla="*/ 128588 h 614362"/>
                <a:gd name="connsiteX46" fmla="*/ 359569 w 735806"/>
                <a:gd name="connsiteY46" fmla="*/ 154781 h 614362"/>
                <a:gd name="connsiteX47" fmla="*/ 307181 w 735806"/>
                <a:gd name="connsiteY47" fmla="*/ 154781 h 614362"/>
                <a:gd name="connsiteX48" fmla="*/ 280987 w 735806"/>
                <a:gd name="connsiteY48" fmla="*/ 188119 h 614362"/>
                <a:gd name="connsiteX49" fmla="*/ 209550 w 735806"/>
                <a:gd name="connsiteY49" fmla="*/ 171450 h 614362"/>
                <a:gd name="connsiteX50" fmla="*/ 154781 w 735806"/>
                <a:gd name="connsiteY50" fmla="*/ 197644 h 614362"/>
                <a:gd name="connsiteX51" fmla="*/ 126206 w 735806"/>
                <a:gd name="connsiteY51" fmla="*/ 176213 h 614362"/>
                <a:gd name="connsiteX52" fmla="*/ 111919 w 735806"/>
                <a:gd name="connsiteY52" fmla="*/ 176213 h 614362"/>
                <a:gd name="connsiteX53" fmla="*/ 107156 w 735806"/>
                <a:gd name="connsiteY53" fmla="*/ 164306 h 614362"/>
                <a:gd name="connsiteX54" fmla="*/ 9525 w 735806"/>
                <a:gd name="connsiteY54" fmla="*/ 159544 h 614362"/>
                <a:gd name="connsiteX55" fmla="*/ 0 w 735806"/>
                <a:gd name="connsiteY55" fmla="*/ 190500 h 614362"/>
                <a:gd name="connsiteX56" fmla="*/ 2381 w 735806"/>
                <a:gd name="connsiteY56" fmla="*/ 261938 h 614362"/>
                <a:gd name="connsiteX57" fmla="*/ 30956 w 735806"/>
                <a:gd name="connsiteY57" fmla="*/ 278606 h 614362"/>
                <a:gd name="connsiteX58" fmla="*/ 47625 w 735806"/>
                <a:gd name="connsiteY58" fmla="*/ 285750 h 614362"/>
                <a:gd name="connsiteX59" fmla="*/ 69056 w 735806"/>
                <a:gd name="connsiteY59" fmla="*/ 292894 h 614362"/>
                <a:gd name="connsiteX60" fmla="*/ 80962 w 735806"/>
                <a:gd name="connsiteY60" fmla="*/ 319088 h 614362"/>
                <a:gd name="connsiteX61" fmla="*/ 109537 w 735806"/>
                <a:gd name="connsiteY61" fmla="*/ 340519 h 614362"/>
                <a:gd name="connsiteX62" fmla="*/ 111919 w 735806"/>
                <a:gd name="connsiteY62" fmla="*/ 390525 h 614362"/>
                <a:gd name="connsiteX63" fmla="*/ 128587 w 735806"/>
                <a:gd name="connsiteY63" fmla="*/ 428625 h 614362"/>
                <a:gd name="connsiteX64" fmla="*/ 104775 w 735806"/>
                <a:gd name="connsiteY64" fmla="*/ 445294 h 614362"/>
                <a:gd name="connsiteX65" fmla="*/ 123825 w 735806"/>
                <a:gd name="connsiteY65" fmla="*/ 504825 h 61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735806" h="614362">
                  <a:moveTo>
                    <a:pt x="123825" y="504825"/>
                  </a:moveTo>
                  <a:lnTo>
                    <a:pt x="207169" y="528638"/>
                  </a:lnTo>
                  <a:lnTo>
                    <a:pt x="235744" y="535781"/>
                  </a:lnTo>
                  <a:lnTo>
                    <a:pt x="257175" y="531019"/>
                  </a:lnTo>
                  <a:lnTo>
                    <a:pt x="259556" y="547688"/>
                  </a:lnTo>
                  <a:lnTo>
                    <a:pt x="259556" y="592932"/>
                  </a:lnTo>
                  <a:lnTo>
                    <a:pt x="276225" y="611981"/>
                  </a:lnTo>
                  <a:lnTo>
                    <a:pt x="276225" y="611981"/>
                  </a:lnTo>
                  <a:lnTo>
                    <a:pt x="311944" y="614362"/>
                  </a:lnTo>
                  <a:lnTo>
                    <a:pt x="323850" y="566738"/>
                  </a:lnTo>
                  <a:lnTo>
                    <a:pt x="340519" y="561975"/>
                  </a:lnTo>
                  <a:lnTo>
                    <a:pt x="364331" y="585788"/>
                  </a:lnTo>
                  <a:lnTo>
                    <a:pt x="381000" y="600075"/>
                  </a:lnTo>
                  <a:lnTo>
                    <a:pt x="400050" y="607219"/>
                  </a:lnTo>
                  <a:lnTo>
                    <a:pt x="426244" y="573881"/>
                  </a:lnTo>
                  <a:lnTo>
                    <a:pt x="433387" y="533400"/>
                  </a:lnTo>
                  <a:lnTo>
                    <a:pt x="447675" y="504825"/>
                  </a:lnTo>
                  <a:lnTo>
                    <a:pt x="473869" y="542925"/>
                  </a:lnTo>
                  <a:lnTo>
                    <a:pt x="495300" y="561975"/>
                  </a:lnTo>
                  <a:lnTo>
                    <a:pt x="516731" y="578644"/>
                  </a:lnTo>
                  <a:lnTo>
                    <a:pt x="550069" y="566738"/>
                  </a:lnTo>
                  <a:lnTo>
                    <a:pt x="557212" y="547688"/>
                  </a:lnTo>
                  <a:lnTo>
                    <a:pt x="557212" y="535781"/>
                  </a:lnTo>
                  <a:lnTo>
                    <a:pt x="531019" y="511969"/>
                  </a:lnTo>
                  <a:lnTo>
                    <a:pt x="514350" y="421481"/>
                  </a:lnTo>
                  <a:lnTo>
                    <a:pt x="514350" y="421481"/>
                  </a:lnTo>
                  <a:lnTo>
                    <a:pt x="464344" y="445294"/>
                  </a:lnTo>
                  <a:lnTo>
                    <a:pt x="438150" y="431006"/>
                  </a:lnTo>
                  <a:lnTo>
                    <a:pt x="426244" y="385763"/>
                  </a:lnTo>
                  <a:lnTo>
                    <a:pt x="411956" y="381000"/>
                  </a:lnTo>
                  <a:lnTo>
                    <a:pt x="388144" y="350044"/>
                  </a:lnTo>
                  <a:lnTo>
                    <a:pt x="409575" y="314325"/>
                  </a:lnTo>
                  <a:lnTo>
                    <a:pt x="507206" y="338138"/>
                  </a:lnTo>
                  <a:lnTo>
                    <a:pt x="528637" y="311944"/>
                  </a:lnTo>
                  <a:lnTo>
                    <a:pt x="626269" y="290513"/>
                  </a:lnTo>
                  <a:lnTo>
                    <a:pt x="631031" y="240506"/>
                  </a:lnTo>
                  <a:lnTo>
                    <a:pt x="714375" y="166688"/>
                  </a:lnTo>
                  <a:lnTo>
                    <a:pt x="735806" y="71438"/>
                  </a:lnTo>
                  <a:lnTo>
                    <a:pt x="707231" y="0"/>
                  </a:lnTo>
                  <a:lnTo>
                    <a:pt x="614362" y="47625"/>
                  </a:lnTo>
                  <a:lnTo>
                    <a:pt x="614362" y="66675"/>
                  </a:lnTo>
                  <a:lnTo>
                    <a:pt x="597694" y="135731"/>
                  </a:lnTo>
                  <a:lnTo>
                    <a:pt x="566737" y="130969"/>
                  </a:lnTo>
                  <a:lnTo>
                    <a:pt x="514350" y="164306"/>
                  </a:lnTo>
                  <a:lnTo>
                    <a:pt x="433387" y="123825"/>
                  </a:lnTo>
                  <a:lnTo>
                    <a:pt x="402431" y="128588"/>
                  </a:lnTo>
                  <a:lnTo>
                    <a:pt x="359569" y="154781"/>
                  </a:lnTo>
                  <a:lnTo>
                    <a:pt x="307181" y="154781"/>
                  </a:lnTo>
                  <a:lnTo>
                    <a:pt x="280987" y="188119"/>
                  </a:lnTo>
                  <a:lnTo>
                    <a:pt x="209550" y="171450"/>
                  </a:lnTo>
                  <a:lnTo>
                    <a:pt x="154781" y="197644"/>
                  </a:lnTo>
                  <a:lnTo>
                    <a:pt x="126206" y="176213"/>
                  </a:lnTo>
                  <a:lnTo>
                    <a:pt x="111919" y="176213"/>
                  </a:lnTo>
                  <a:lnTo>
                    <a:pt x="107156" y="164306"/>
                  </a:lnTo>
                  <a:lnTo>
                    <a:pt x="9525" y="159544"/>
                  </a:lnTo>
                  <a:lnTo>
                    <a:pt x="0" y="190500"/>
                  </a:lnTo>
                  <a:cubicBezTo>
                    <a:pt x="794" y="214313"/>
                    <a:pt x="1587" y="238125"/>
                    <a:pt x="2381" y="261938"/>
                  </a:cubicBezTo>
                  <a:lnTo>
                    <a:pt x="30956" y="278606"/>
                  </a:lnTo>
                  <a:lnTo>
                    <a:pt x="47625" y="285750"/>
                  </a:lnTo>
                  <a:lnTo>
                    <a:pt x="69056" y="292894"/>
                  </a:lnTo>
                  <a:lnTo>
                    <a:pt x="80962" y="319088"/>
                  </a:lnTo>
                  <a:lnTo>
                    <a:pt x="109537" y="340519"/>
                  </a:lnTo>
                  <a:lnTo>
                    <a:pt x="111919" y="390525"/>
                  </a:lnTo>
                  <a:lnTo>
                    <a:pt x="128587" y="428625"/>
                  </a:lnTo>
                  <a:lnTo>
                    <a:pt x="104775" y="445294"/>
                  </a:lnTo>
                  <a:lnTo>
                    <a:pt x="123825" y="504825"/>
                  </a:lnTo>
                  <a:close/>
                </a:path>
              </a:pathLst>
            </a:custGeom>
            <a:solidFill>
              <a:schemeClr val="accent5"/>
            </a:solid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59" name="Freeform 58"/>
            <p:cNvSpPr/>
            <p:nvPr/>
          </p:nvSpPr>
          <p:spPr>
            <a:xfrm rot="21298612">
              <a:off x="4532498" y="3472719"/>
              <a:ext cx="208764" cy="312549"/>
            </a:xfrm>
            <a:custGeom>
              <a:avLst/>
              <a:gdLst>
                <a:gd name="connsiteX0" fmla="*/ 195262 w 207168"/>
                <a:gd name="connsiteY0" fmla="*/ 0 h 295275"/>
                <a:gd name="connsiteX1" fmla="*/ 64293 w 207168"/>
                <a:gd name="connsiteY1" fmla="*/ 45244 h 295275"/>
                <a:gd name="connsiteX2" fmla="*/ 9525 w 207168"/>
                <a:gd name="connsiteY2" fmla="*/ 90488 h 295275"/>
                <a:gd name="connsiteX3" fmla="*/ 2381 w 207168"/>
                <a:gd name="connsiteY3" fmla="*/ 152400 h 295275"/>
                <a:gd name="connsiteX4" fmla="*/ 0 w 207168"/>
                <a:gd name="connsiteY4" fmla="*/ 197644 h 295275"/>
                <a:gd name="connsiteX5" fmla="*/ 7143 w 207168"/>
                <a:gd name="connsiteY5" fmla="*/ 204788 h 295275"/>
                <a:gd name="connsiteX6" fmla="*/ 4762 w 207168"/>
                <a:gd name="connsiteY6" fmla="*/ 228600 h 295275"/>
                <a:gd name="connsiteX7" fmla="*/ 30956 w 207168"/>
                <a:gd name="connsiteY7" fmla="*/ 252413 h 295275"/>
                <a:gd name="connsiteX8" fmla="*/ 52387 w 207168"/>
                <a:gd name="connsiteY8" fmla="*/ 295275 h 295275"/>
                <a:gd name="connsiteX9" fmla="*/ 69056 w 207168"/>
                <a:gd name="connsiteY9" fmla="*/ 288131 h 295275"/>
                <a:gd name="connsiteX10" fmla="*/ 69056 w 207168"/>
                <a:gd name="connsiteY10" fmla="*/ 259556 h 295275"/>
                <a:gd name="connsiteX11" fmla="*/ 88106 w 207168"/>
                <a:gd name="connsiteY11" fmla="*/ 233363 h 295275"/>
                <a:gd name="connsiteX12" fmla="*/ 104775 w 207168"/>
                <a:gd name="connsiteY12" fmla="*/ 228600 h 295275"/>
                <a:gd name="connsiteX13" fmla="*/ 176212 w 207168"/>
                <a:gd name="connsiteY13" fmla="*/ 161925 h 295275"/>
                <a:gd name="connsiteX14" fmla="*/ 180975 w 207168"/>
                <a:gd name="connsiteY14" fmla="*/ 128588 h 295275"/>
                <a:gd name="connsiteX15" fmla="*/ 185737 w 207168"/>
                <a:gd name="connsiteY15" fmla="*/ 97631 h 295275"/>
                <a:gd name="connsiteX16" fmla="*/ 185737 w 207168"/>
                <a:gd name="connsiteY16" fmla="*/ 88106 h 295275"/>
                <a:gd name="connsiteX17" fmla="*/ 207168 w 207168"/>
                <a:gd name="connsiteY17" fmla="*/ 59531 h 295275"/>
                <a:gd name="connsiteX18" fmla="*/ 195262 w 207168"/>
                <a:gd name="connsiteY18" fmla="*/ 0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7168" h="295275">
                  <a:moveTo>
                    <a:pt x="195262" y="0"/>
                  </a:moveTo>
                  <a:lnTo>
                    <a:pt x="64293" y="45244"/>
                  </a:lnTo>
                  <a:lnTo>
                    <a:pt x="9525" y="90488"/>
                  </a:lnTo>
                  <a:lnTo>
                    <a:pt x="2381" y="152400"/>
                  </a:lnTo>
                  <a:lnTo>
                    <a:pt x="0" y="197644"/>
                  </a:lnTo>
                  <a:lnTo>
                    <a:pt x="7143" y="204788"/>
                  </a:lnTo>
                  <a:lnTo>
                    <a:pt x="4762" y="228600"/>
                  </a:lnTo>
                  <a:lnTo>
                    <a:pt x="30956" y="252413"/>
                  </a:lnTo>
                  <a:lnTo>
                    <a:pt x="52387" y="295275"/>
                  </a:lnTo>
                  <a:lnTo>
                    <a:pt x="69056" y="288131"/>
                  </a:lnTo>
                  <a:lnTo>
                    <a:pt x="69056" y="259556"/>
                  </a:lnTo>
                  <a:lnTo>
                    <a:pt x="88106" y="233363"/>
                  </a:lnTo>
                  <a:lnTo>
                    <a:pt x="104775" y="228600"/>
                  </a:lnTo>
                  <a:lnTo>
                    <a:pt x="176212" y="161925"/>
                  </a:lnTo>
                  <a:lnTo>
                    <a:pt x="180975" y="128588"/>
                  </a:lnTo>
                  <a:lnTo>
                    <a:pt x="185737" y="97631"/>
                  </a:lnTo>
                  <a:lnTo>
                    <a:pt x="185737" y="88106"/>
                  </a:lnTo>
                  <a:lnTo>
                    <a:pt x="207168" y="59531"/>
                  </a:lnTo>
                  <a:lnTo>
                    <a:pt x="195262" y="0"/>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60" name="Freeform 59"/>
            <p:cNvSpPr/>
            <p:nvPr/>
          </p:nvSpPr>
          <p:spPr>
            <a:xfrm rot="21298612">
              <a:off x="4707975" y="3440250"/>
              <a:ext cx="218325" cy="438577"/>
            </a:xfrm>
            <a:custGeom>
              <a:avLst/>
              <a:gdLst>
                <a:gd name="connsiteX0" fmla="*/ 0 w 216693"/>
                <a:gd name="connsiteY0" fmla="*/ 183356 h 411956"/>
                <a:gd name="connsiteX1" fmla="*/ 40481 w 216693"/>
                <a:gd name="connsiteY1" fmla="*/ 254793 h 411956"/>
                <a:gd name="connsiteX2" fmla="*/ 59531 w 216693"/>
                <a:gd name="connsiteY2" fmla="*/ 276225 h 411956"/>
                <a:gd name="connsiteX3" fmla="*/ 71437 w 216693"/>
                <a:gd name="connsiteY3" fmla="*/ 309562 h 411956"/>
                <a:gd name="connsiteX4" fmla="*/ 73818 w 216693"/>
                <a:gd name="connsiteY4" fmla="*/ 342900 h 411956"/>
                <a:gd name="connsiteX5" fmla="*/ 111918 w 216693"/>
                <a:gd name="connsiteY5" fmla="*/ 392906 h 411956"/>
                <a:gd name="connsiteX6" fmla="*/ 130968 w 216693"/>
                <a:gd name="connsiteY6" fmla="*/ 388143 h 411956"/>
                <a:gd name="connsiteX7" fmla="*/ 157162 w 216693"/>
                <a:gd name="connsiteY7" fmla="*/ 411956 h 411956"/>
                <a:gd name="connsiteX8" fmla="*/ 192881 w 216693"/>
                <a:gd name="connsiteY8" fmla="*/ 402431 h 411956"/>
                <a:gd name="connsiteX9" fmla="*/ 185737 w 216693"/>
                <a:gd name="connsiteY9" fmla="*/ 309562 h 411956"/>
                <a:gd name="connsiteX10" fmla="*/ 216693 w 216693"/>
                <a:gd name="connsiteY10" fmla="*/ 257175 h 411956"/>
                <a:gd name="connsiteX11" fmla="*/ 216693 w 216693"/>
                <a:gd name="connsiteY11" fmla="*/ 128587 h 411956"/>
                <a:gd name="connsiteX12" fmla="*/ 211931 w 216693"/>
                <a:gd name="connsiteY12" fmla="*/ 80962 h 411956"/>
                <a:gd name="connsiteX13" fmla="*/ 142875 w 216693"/>
                <a:gd name="connsiteY13" fmla="*/ 28575 h 411956"/>
                <a:gd name="connsiteX14" fmla="*/ 116681 w 216693"/>
                <a:gd name="connsiteY14" fmla="*/ 7143 h 411956"/>
                <a:gd name="connsiteX15" fmla="*/ 78581 w 216693"/>
                <a:gd name="connsiteY15" fmla="*/ 4762 h 411956"/>
                <a:gd name="connsiteX16" fmla="*/ 42862 w 216693"/>
                <a:gd name="connsiteY16" fmla="*/ 0 h 411956"/>
                <a:gd name="connsiteX17" fmla="*/ 35718 w 216693"/>
                <a:gd name="connsiteY17" fmla="*/ 19050 h 411956"/>
                <a:gd name="connsiteX18" fmla="*/ 35718 w 216693"/>
                <a:gd name="connsiteY18" fmla="*/ 19050 h 411956"/>
                <a:gd name="connsiteX19" fmla="*/ 38100 w 216693"/>
                <a:gd name="connsiteY19" fmla="*/ 88106 h 411956"/>
                <a:gd name="connsiteX20" fmla="*/ 11906 w 216693"/>
                <a:gd name="connsiteY20" fmla="*/ 114300 h 411956"/>
                <a:gd name="connsiteX21" fmla="*/ 0 w 216693"/>
                <a:gd name="connsiteY21" fmla="*/ 183356 h 411956"/>
                <a:gd name="connsiteX0" fmla="*/ 0 w 216693"/>
                <a:gd name="connsiteY0" fmla="*/ 183356 h 411956"/>
                <a:gd name="connsiteX1" fmla="*/ 40481 w 216693"/>
                <a:gd name="connsiteY1" fmla="*/ 254793 h 411956"/>
                <a:gd name="connsiteX2" fmla="*/ 59531 w 216693"/>
                <a:gd name="connsiteY2" fmla="*/ 276225 h 411956"/>
                <a:gd name="connsiteX3" fmla="*/ 71437 w 216693"/>
                <a:gd name="connsiteY3" fmla="*/ 309562 h 411956"/>
                <a:gd name="connsiteX4" fmla="*/ 73818 w 216693"/>
                <a:gd name="connsiteY4" fmla="*/ 342900 h 411956"/>
                <a:gd name="connsiteX5" fmla="*/ 111918 w 216693"/>
                <a:gd name="connsiteY5" fmla="*/ 392906 h 411956"/>
                <a:gd name="connsiteX6" fmla="*/ 130968 w 216693"/>
                <a:gd name="connsiteY6" fmla="*/ 388143 h 411956"/>
                <a:gd name="connsiteX7" fmla="*/ 157162 w 216693"/>
                <a:gd name="connsiteY7" fmla="*/ 411956 h 411956"/>
                <a:gd name="connsiteX8" fmla="*/ 192881 w 216693"/>
                <a:gd name="connsiteY8" fmla="*/ 402431 h 411956"/>
                <a:gd name="connsiteX9" fmla="*/ 185737 w 216693"/>
                <a:gd name="connsiteY9" fmla="*/ 309562 h 411956"/>
                <a:gd name="connsiteX10" fmla="*/ 216693 w 216693"/>
                <a:gd name="connsiteY10" fmla="*/ 257175 h 411956"/>
                <a:gd name="connsiteX11" fmla="*/ 216693 w 216693"/>
                <a:gd name="connsiteY11" fmla="*/ 128587 h 411956"/>
                <a:gd name="connsiteX12" fmla="*/ 211931 w 216693"/>
                <a:gd name="connsiteY12" fmla="*/ 80962 h 411956"/>
                <a:gd name="connsiteX13" fmla="*/ 142875 w 216693"/>
                <a:gd name="connsiteY13" fmla="*/ 28575 h 411956"/>
                <a:gd name="connsiteX14" fmla="*/ 116681 w 216693"/>
                <a:gd name="connsiteY14" fmla="*/ 7143 h 411956"/>
                <a:gd name="connsiteX15" fmla="*/ 78581 w 216693"/>
                <a:gd name="connsiteY15" fmla="*/ 4762 h 411956"/>
                <a:gd name="connsiteX16" fmla="*/ 42862 w 216693"/>
                <a:gd name="connsiteY16" fmla="*/ 0 h 411956"/>
                <a:gd name="connsiteX17" fmla="*/ 35718 w 216693"/>
                <a:gd name="connsiteY17" fmla="*/ 19050 h 411956"/>
                <a:gd name="connsiteX18" fmla="*/ 26193 w 216693"/>
                <a:gd name="connsiteY18" fmla="*/ 26194 h 411956"/>
                <a:gd name="connsiteX19" fmla="*/ 38100 w 216693"/>
                <a:gd name="connsiteY19" fmla="*/ 88106 h 411956"/>
                <a:gd name="connsiteX20" fmla="*/ 11906 w 216693"/>
                <a:gd name="connsiteY20" fmla="*/ 114300 h 411956"/>
                <a:gd name="connsiteX21" fmla="*/ 0 w 216693"/>
                <a:gd name="connsiteY21" fmla="*/ 183356 h 411956"/>
                <a:gd name="connsiteX0" fmla="*/ 0 w 216693"/>
                <a:gd name="connsiteY0" fmla="*/ 185737 h 414337"/>
                <a:gd name="connsiteX1" fmla="*/ 40481 w 216693"/>
                <a:gd name="connsiteY1" fmla="*/ 257174 h 414337"/>
                <a:gd name="connsiteX2" fmla="*/ 59531 w 216693"/>
                <a:gd name="connsiteY2" fmla="*/ 278606 h 414337"/>
                <a:gd name="connsiteX3" fmla="*/ 71437 w 216693"/>
                <a:gd name="connsiteY3" fmla="*/ 311943 h 414337"/>
                <a:gd name="connsiteX4" fmla="*/ 73818 w 216693"/>
                <a:gd name="connsiteY4" fmla="*/ 345281 h 414337"/>
                <a:gd name="connsiteX5" fmla="*/ 111918 w 216693"/>
                <a:gd name="connsiteY5" fmla="*/ 395287 h 414337"/>
                <a:gd name="connsiteX6" fmla="*/ 130968 w 216693"/>
                <a:gd name="connsiteY6" fmla="*/ 390524 h 414337"/>
                <a:gd name="connsiteX7" fmla="*/ 157162 w 216693"/>
                <a:gd name="connsiteY7" fmla="*/ 414337 h 414337"/>
                <a:gd name="connsiteX8" fmla="*/ 192881 w 216693"/>
                <a:gd name="connsiteY8" fmla="*/ 404812 h 414337"/>
                <a:gd name="connsiteX9" fmla="*/ 185737 w 216693"/>
                <a:gd name="connsiteY9" fmla="*/ 311943 h 414337"/>
                <a:gd name="connsiteX10" fmla="*/ 216693 w 216693"/>
                <a:gd name="connsiteY10" fmla="*/ 259556 h 414337"/>
                <a:gd name="connsiteX11" fmla="*/ 216693 w 216693"/>
                <a:gd name="connsiteY11" fmla="*/ 130968 h 414337"/>
                <a:gd name="connsiteX12" fmla="*/ 211931 w 216693"/>
                <a:gd name="connsiteY12" fmla="*/ 83343 h 414337"/>
                <a:gd name="connsiteX13" fmla="*/ 142875 w 216693"/>
                <a:gd name="connsiteY13" fmla="*/ 30956 h 414337"/>
                <a:gd name="connsiteX14" fmla="*/ 116681 w 216693"/>
                <a:gd name="connsiteY14" fmla="*/ 9524 h 414337"/>
                <a:gd name="connsiteX15" fmla="*/ 78581 w 216693"/>
                <a:gd name="connsiteY15" fmla="*/ 7143 h 414337"/>
                <a:gd name="connsiteX16" fmla="*/ 30956 w 216693"/>
                <a:gd name="connsiteY16" fmla="*/ 0 h 414337"/>
                <a:gd name="connsiteX17" fmla="*/ 35718 w 216693"/>
                <a:gd name="connsiteY17" fmla="*/ 21431 h 414337"/>
                <a:gd name="connsiteX18" fmla="*/ 26193 w 216693"/>
                <a:gd name="connsiteY18" fmla="*/ 28575 h 414337"/>
                <a:gd name="connsiteX19" fmla="*/ 38100 w 216693"/>
                <a:gd name="connsiteY19" fmla="*/ 90487 h 414337"/>
                <a:gd name="connsiteX20" fmla="*/ 11906 w 216693"/>
                <a:gd name="connsiteY20" fmla="*/ 116681 h 414337"/>
                <a:gd name="connsiteX21" fmla="*/ 0 w 216693"/>
                <a:gd name="connsiteY21" fmla="*/ 185737 h 414337"/>
                <a:gd name="connsiteX0" fmla="*/ 0 w 216693"/>
                <a:gd name="connsiteY0" fmla="*/ 185737 h 414337"/>
                <a:gd name="connsiteX1" fmla="*/ 40481 w 216693"/>
                <a:gd name="connsiteY1" fmla="*/ 257174 h 414337"/>
                <a:gd name="connsiteX2" fmla="*/ 59531 w 216693"/>
                <a:gd name="connsiteY2" fmla="*/ 278606 h 414337"/>
                <a:gd name="connsiteX3" fmla="*/ 71437 w 216693"/>
                <a:gd name="connsiteY3" fmla="*/ 311943 h 414337"/>
                <a:gd name="connsiteX4" fmla="*/ 73818 w 216693"/>
                <a:gd name="connsiteY4" fmla="*/ 345281 h 414337"/>
                <a:gd name="connsiteX5" fmla="*/ 111918 w 216693"/>
                <a:gd name="connsiteY5" fmla="*/ 395287 h 414337"/>
                <a:gd name="connsiteX6" fmla="*/ 130968 w 216693"/>
                <a:gd name="connsiteY6" fmla="*/ 390524 h 414337"/>
                <a:gd name="connsiteX7" fmla="*/ 157162 w 216693"/>
                <a:gd name="connsiteY7" fmla="*/ 414337 h 414337"/>
                <a:gd name="connsiteX8" fmla="*/ 192881 w 216693"/>
                <a:gd name="connsiteY8" fmla="*/ 404812 h 414337"/>
                <a:gd name="connsiteX9" fmla="*/ 185737 w 216693"/>
                <a:gd name="connsiteY9" fmla="*/ 311943 h 414337"/>
                <a:gd name="connsiteX10" fmla="*/ 216693 w 216693"/>
                <a:gd name="connsiteY10" fmla="*/ 259556 h 414337"/>
                <a:gd name="connsiteX11" fmla="*/ 216693 w 216693"/>
                <a:gd name="connsiteY11" fmla="*/ 130968 h 414337"/>
                <a:gd name="connsiteX12" fmla="*/ 211931 w 216693"/>
                <a:gd name="connsiteY12" fmla="*/ 83343 h 414337"/>
                <a:gd name="connsiteX13" fmla="*/ 142875 w 216693"/>
                <a:gd name="connsiteY13" fmla="*/ 30956 h 414337"/>
                <a:gd name="connsiteX14" fmla="*/ 116681 w 216693"/>
                <a:gd name="connsiteY14" fmla="*/ 9524 h 414337"/>
                <a:gd name="connsiteX15" fmla="*/ 78581 w 216693"/>
                <a:gd name="connsiteY15" fmla="*/ 7143 h 414337"/>
                <a:gd name="connsiteX16" fmla="*/ 30956 w 216693"/>
                <a:gd name="connsiteY16" fmla="*/ 0 h 414337"/>
                <a:gd name="connsiteX17" fmla="*/ 23812 w 216693"/>
                <a:gd name="connsiteY17" fmla="*/ 19050 h 414337"/>
                <a:gd name="connsiteX18" fmla="*/ 26193 w 216693"/>
                <a:gd name="connsiteY18" fmla="*/ 28575 h 414337"/>
                <a:gd name="connsiteX19" fmla="*/ 38100 w 216693"/>
                <a:gd name="connsiteY19" fmla="*/ 90487 h 414337"/>
                <a:gd name="connsiteX20" fmla="*/ 11906 w 216693"/>
                <a:gd name="connsiteY20" fmla="*/ 116681 h 414337"/>
                <a:gd name="connsiteX21" fmla="*/ 0 w 216693"/>
                <a:gd name="connsiteY21" fmla="*/ 185737 h 414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693" h="414337">
                  <a:moveTo>
                    <a:pt x="0" y="185737"/>
                  </a:moveTo>
                  <a:lnTo>
                    <a:pt x="40481" y="257174"/>
                  </a:lnTo>
                  <a:lnTo>
                    <a:pt x="59531" y="278606"/>
                  </a:lnTo>
                  <a:lnTo>
                    <a:pt x="71437" y="311943"/>
                  </a:lnTo>
                  <a:lnTo>
                    <a:pt x="73818" y="345281"/>
                  </a:lnTo>
                  <a:lnTo>
                    <a:pt x="111918" y="395287"/>
                  </a:lnTo>
                  <a:lnTo>
                    <a:pt x="130968" y="390524"/>
                  </a:lnTo>
                  <a:lnTo>
                    <a:pt x="157162" y="414337"/>
                  </a:lnTo>
                  <a:lnTo>
                    <a:pt x="192881" y="404812"/>
                  </a:lnTo>
                  <a:lnTo>
                    <a:pt x="185737" y="311943"/>
                  </a:lnTo>
                  <a:lnTo>
                    <a:pt x="216693" y="259556"/>
                  </a:lnTo>
                  <a:lnTo>
                    <a:pt x="216693" y="130968"/>
                  </a:lnTo>
                  <a:lnTo>
                    <a:pt x="211931" y="83343"/>
                  </a:lnTo>
                  <a:lnTo>
                    <a:pt x="142875" y="30956"/>
                  </a:lnTo>
                  <a:lnTo>
                    <a:pt x="116681" y="9524"/>
                  </a:lnTo>
                  <a:lnTo>
                    <a:pt x="78581" y="7143"/>
                  </a:lnTo>
                  <a:lnTo>
                    <a:pt x="30956" y="0"/>
                  </a:lnTo>
                  <a:cubicBezTo>
                    <a:pt x="28575" y="6350"/>
                    <a:pt x="24606" y="14288"/>
                    <a:pt x="23812" y="19050"/>
                  </a:cubicBezTo>
                  <a:cubicBezTo>
                    <a:pt x="23018" y="23812"/>
                    <a:pt x="23812" y="16669"/>
                    <a:pt x="26193" y="28575"/>
                  </a:cubicBezTo>
                  <a:cubicBezTo>
                    <a:pt x="28574" y="40481"/>
                    <a:pt x="34131" y="69850"/>
                    <a:pt x="38100" y="90487"/>
                  </a:cubicBezTo>
                  <a:lnTo>
                    <a:pt x="11906" y="116681"/>
                  </a:lnTo>
                  <a:cubicBezTo>
                    <a:pt x="11112" y="139700"/>
                    <a:pt x="10319" y="162718"/>
                    <a:pt x="0" y="185737"/>
                  </a:cubicBez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61" name="Freeform 60"/>
            <p:cNvSpPr/>
            <p:nvPr/>
          </p:nvSpPr>
          <p:spPr>
            <a:xfrm rot="21298612">
              <a:off x="4794934" y="3194409"/>
              <a:ext cx="336252" cy="319270"/>
            </a:xfrm>
            <a:custGeom>
              <a:avLst/>
              <a:gdLst>
                <a:gd name="connsiteX0" fmla="*/ 104775 w 335757"/>
                <a:gd name="connsiteY0" fmla="*/ 302419 h 302419"/>
                <a:gd name="connsiteX1" fmla="*/ 247650 w 335757"/>
                <a:gd name="connsiteY1" fmla="*/ 276225 h 302419"/>
                <a:gd name="connsiteX2" fmla="*/ 280988 w 335757"/>
                <a:gd name="connsiteY2" fmla="*/ 209550 h 302419"/>
                <a:gd name="connsiteX3" fmla="*/ 302419 w 335757"/>
                <a:gd name="connsiteY3" fmla="*/ 173832 h 302419"/>
                <a:gd name="connsiteX4" fmla="*/ 316707 w 335757"/>
                <a:gd name="connsiteY4" fmla="*/ 138113 h 302419"/>
                <a:gd name="connsiteX5" fmla="*/ 335757 w 335757"/>
                <a:gd name="connsiteY5" fmla="*/ 114300 h 302419"/>
                <a:gd name="connsiteX6" fmla="*/ 314325 w 335757"/>
                <a:gd name="connsiteY6" fmla="*/ 66675 h 302419"/>
                <a:gd name="connsiteX7" fmla="*/ 309563 w 335757"/>
                <a:gd name="connsiteY7" fmla="*/ 30957 h 302419"/>
                <a:gd name="connsiteX8" fmla="*/ 252413 w 335757"/>
                <a:gd name="connsiteY8" fmla="*/ 7144 h 302419"/>
                <a:gd name="connsiteX9" fmla="*/ 216694 w 335757"/>
                <a:gd name="connsiteY9" fmla="*/ 0 h 302419"/>
                <a:gd name="connsiteX10" fmla="*/ 169069 w 335757"/>
                <a:gd name="connsiteY10" fmla="*/ 16669 h 302419"/>
                <a:gd name="connsiteX11" fmla="*/ 135732 w 335757"/>
                <a:gd name="connsiteY11" fmla="*/ 40482 h 302419"/>
                <a:gd name="connsiteX12" fmla="*/ 66675 w 335757"/>
                <a:gd name="connsiteY12" fmla="*/ 102394 h 302419"/>
                <a:gd name="connsiteX13" fmla="*/ 76200 w 335757"/>
                <a:gd name="connsiteY13" fmla="*/ 176213 h 302419"/>
                <a:gd name="connsiteX14" fmla="*/ 0 w 335757"/>
                <a:gd name="connsiteY14" fmla="*/ 221457 h 302419"/>
                <a:gd name="connsiteX15" fmla="*/ 104775 w 335757"/>
                <a:gd name="connsiteY15" fmla="*/ 302419 h 302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757" h="302419">
                  <a:moveTo>
                    <a:pt x="104775" y="302419"/>
                  </a:moveTo>
                  <a:lnTo>
                    <a:pt x="247650" y="276225"/>
                  </a:lnTo>
                  <a:lnTo>
                    <a:pt x="280988" y="209550"/>
                  </a:lnTo>
                  <a:lnTo>
                    <a:pt x="302419" y="173832"/>
                  </a:lnTo>
                  <a:lnTo>
                    <a:pt x="316707" y="138113"/>
                  </a:lnTo>
                  <a:lnTo>
                    <a:pt x="335757" y="114300"/>
                  </a:lnTo>
                  <a:lnTo>
                    <a:pt x="314325" y="66675"/>
                  </a:lnTo>
                  <a:lnTo>
                    <a:pt x="309563" y="30957"/>
                  </a:lnTo>
                  <a:lnTo>
                    <a:pt x="252413" y="7144"/>
                  </a:lnTo>
                  <a:lnTo>
                    <a:pt x="216694" y="0"/>
                  </a:lnTo>
                  <a:lnTo>
                    <a:pt x="169069" y="16669"/>
                  </a:lnTo>
                  <a:lnTo>
                    <a:pt x="135732" y="40482"/>
                  </a:lnTo>
                  <a:lnTo>
                    <a:pt x="66675" y="102394"/>
                  </a:lnTo>
                  <a:lnTo>
                    <a:pt x="76200" y="176213"/>
                  </a:lnTo>
                  <a:lnTo>
                    <a:pt x="0" y="221457"/>
                  </a:lnTo>
                  <a:lnTo>
                    <a:pt x="104775" y="302419"/>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62" name="Freeform 61"/>
            <p:cNvSpPr/>
            <p:nvPr/>
          </p:nvSpPr>
          <p:spPr>
            <a:xfrm rot="21298612">
              <a:off x="4166426" y="2676151"/>
              <a:ext cx="1123496" cy="779691"/>
            </a:xfrm>
            <a:custGeom>
              <a:avLst/>
              <a:gdLst>
                <a:gd name="connsiteX0" fmla="*/ 723900 w 1119188"/>
                <a:gd name="connsiteY0" fmla="*/ 554831 h 735806"/>
                <a:gd name="connsiteX1" fmla="*/ 716757 w 1119188"/>
                <a:gd name="connsiteY1" fmla="*/ 497681 h 735806"/>
                <a:gd name="connsiteX2" fmla="*/ 702469 w 1119188"/>
                <a:gd name="connsiteY2" fmla="*/ 473869 h 735806"/>
                <a:gd name="connsiteX3" fmla="*/ 716757 w 1119188"/>
                <a:gd name="connsiteY3" fmla="*/ 459581 h 735806"/>
                <a:gd name="connsiteX4" fmla="*/ 766763 w 1119188"/>
                <a:gd name="connsiteY4" fmla="*/ 461963 h 735806"/>
                <a:gd name="connsiteX5" fmla="*/ 764382 w 1119188"/>
                <a:gd name="connsiteY5" fmla="*/ 426244 h 735806"/>
                <a:gd name="connsiteX6" fmla="*/ 773907 w 1119188"/>
                <a:gd name="connsiteY6" fmla="*/ 407194 h 735806"/>
                <a:gd name="connsiteX7" fmla="*/ 819150 w 1119188"/>
                <a:gd name="connsiteY7" fmla="*/ 376238 h 735806"/>
                <a:gd name="connsiteX8" fmla="*/ 816769 w 1119188"/>
                <a:gd name="connsiteY8" fmla="*/ 283369 h 735806"/>
                <a:gd name="connsiteX9" fmla="*/ 840582 w 1119188"/>
                <a:gd name="connsiteY9" fmla="*/ 273844 h 735806"/>
                <a:gd name="connsiteX10" fmla="*/ 881063 w 1119188"/>
                <a:gd name="connsiteY10" fmla="*/ 321469 h 735806"/>
                <a:gd name="connsiteX11" fmla="*/ 909638 w 1119188"/>
                <a:gd name="connsiteY11" fmla="*/ 307181 h 735806"/>
                <a:gd name="connsiteX12" fmla="*/ 919163 w 1119188"/>
                <a:gd name="connsiteY12" fmla="*/ 264319 h 735806"/>
                <a:gd name="connsiteX13" fmla="*/ 952500 w 1119188"/>
                <a:gd name="connsiteY13" fmla="*/ 259556 h 735806"/>
                <a:gd name="connsiteX14" fmla="*/ 1004888 w 1119188"/>
                <a:gd name="connsiteY14" fmla="*/ 204788 h 735806"/>
                <a:gd name="connsiteX15" fmla="*/ 1035844 w 1119188"/>
                <a:gd name="connsiteY15" fmla="*/ 180975 h 735806"/>
                <a:gd name="connsiteX16" fmla="*/ 1104900 w 1119188"/>
                <a:gd name="connsiteY16" fmla="*/ 157163 h 735806"/>
                <a:gd name="connsiteX17" fmla="*/ 1116807 w 1119188"/>
                <a:gd name="connsiteY17" fmla="*/ 83344 h 735806"/>
                <a:gd name="connsiteX18" fmla="*/ 1116807 w 1119188"/>
                <a:gd name="connsiteY18" fmla="*/ 57150 h 735806"/>
                <a:gd name="connsiteX19" fmla="*/ 1119188 w 1119188"/>
                <a:gd name="connsiteY19" fmla="*/ 35719 h 735806"/>
                <a:gd name="connsiteX20" fmla="*/ 1104900 w 1119188"/>
                <a:gd name="connsiteY20" fmla="*/ 0 h 735806"/>
                <a:gd name="connsiteX21" fmla="*/ 1069182 w 1119188"/>
                <a:gd name="connsiteY21" fmla="*/ 7144 h 735806"/>
                <a:gd name="connsiteX22" fmla="*/ 992982 w 1119188"/>
                <a:gd name="connsiteY22" fmla="*/ 9525 h 735806"/>
                <a:gd name="connsiteX23" fmla="*/ 954882 w 1119188"/>
                <a:gd name="connsiteY23" fmla="*/ 38100 h 735806"/>
                <a:gd name="connsiteX24" fmla="*/ 931069 w 1119188"/>
                <a:gd name="connsiteY24" fmla="*/ 42863 h 735806"/>
                <a:gd name="connsiteX25" fmla="*/ 904875 w 1119188"/>
                <a:gd name="connsiteY25" fmla="*/ 42863 h 735806"/>
                <a:gd name="connsiteX26" fmla="*/ 831057 w 1119188"/>
                <a:gd name="connsiteY26" fmla="*/ 85725 h 735806"/>
                <a:gd name="connsiteX27" fmla="*/ 776288 w 1119188"/>
                <a:gd name="connsiteY27" fmla="*/ 104775 h 735806"/>
                <a:gd name="connsiteX28" fmla="*/ 707232 w 1119188"/>
                <a:gd name="connsiteY28" fmla="*/ 180975 h 735806"/>
                <a:gd name="connsiteX29" fmla="*/ 692944 w 1119188"/>
                <a:gd name="connsiteY29" fmla="*/ 195263 h 735806"/>
                <a:gd name="connsiteX30" fmla="*/ 626269 w 1119188"/>
                <a:gd name="connsiteY30" fmla="*/ 192881 h 735806"/>
                <a:gd name="connsiteX31" fmla="*/ 619125 w 1119188"/>
                <a:gd name="connsiteY31" fmla="*/ 207169 h 735806"/>
                <a:gd name="connsiteX32" fmla="*/ 519113 w 1119188"/>
                <a:gd name="connsiteY32" fmla="*/ 211931 h 735806"/>
                <a:gd name="connsiteX33" fmla="*/ 492919 w 1119188"/>
                <a:gd name="connsiteY33" fmla="*/ 230981 h 735806"/>
                <a:gd name="connsiteX34" fmla="*/ 459582 w 1119188"/>
                <a:gd name="connsiteY34" fmla="*/ 245269 h 735806"/>
                <a:gd name="connsiteX35" fmla="*/ 433388 w 1119188"/>
                <a:gd name="connsiteY35" fmla="*/ 271463 h 735806"/>
                <a:gd name="connsiteX36" fmla="*/ 416719 w 1119188"/>
                <a:gd name="connsiteY36" fmla="*/ 278606 h 735806"/>
                <a:gd name="connsiteX37" fmla="*/ 378619 w 1119188"/>
                <a:gd name="connsiteY37" fmla="*/ 278606 h 735806"/>
                <a:gd name="connsiteX38" fmla="*/ 335757 w 1119188"/>
                <a:gd name="connsiteY38" fmla="*/ 250031 h 735806"/>
                <a:gd name="connsiteX39" fmla="*/ 250032 w 1119188"/>
                <a:gd name="connsiteY39" fmla="*/ 250031 h 735806"/>
                <a:gd name="connsiteX40" fmla="*/ 211932 w 1119188"/>
                <a:gd name="connsiteY40" fmla="*/ 240506 h 735806"/>
                <a:gd name="connsiteX41" fmla="*/ 188119 w 1119188"/>
                <a:gd name="connsiteY41" fmla="*/ 221456 h 735806"/>
                <a:gd name="connsiteX42" fmla="*/ 171450 w 1119188"/>
                <a:gd name="connsiteY42" fmla="*/ 207169 h 735806"/>
                <a:gd name="connsiteX43" fmla="*/ 150019 w 1119188"/>
                <a:gd name="connsiteY43" fmla="*/ 202406 h 735806"/>
                <a:gd name="connsiteX44" fmla="*/ 126207 w 1119188"/>
                <a:gd name="connsiteY44" fmla="*/ 209550 h 735806"/>
                <a:gd name="connsiteX45" fmla="*/ 85725 w 1119188"/>
                <a:gd name="connsiteY45" fmla="*/ 226219 h 735806"/>
                <a:gd name="connsiteX46" fmla="*/ 54769 w 1119188"/>
                <a:gd name="connsiteY46" fmla="*/ 245269 h 735806"/>
                <a:gd name="connsiteX47" fmla="*/ 16669 w 1119188"/>
                <a:gd name="connsiteY47" fmla="*/ 254794 h 735806"/>
                <a:gd name="connsiteX48" fmla="*/ 0 w 1119188"/>
                <a:gd name="connsiteY48" fmla="*/ 261938 h 735806"/>
                <a:gd name="connsiteX49" fmla="*/ 28575 w 1119188"/>
                <a:gd name="connsiteY49" fmla="*/ 278606 h 735806"/>
                <a:gd name="connsiteX50" fmla="*/ 59532 w 1119188"/>
                <a:gd name="connsiteY50" fmla="*/ 278606 h 735806"/>
                <a:gd name="connsiteX51" fmla="*/ 80963 w 1119188"/>
                <a:gd name="connsiteY51" fmla="*/ 278606 h 735806"/>
                <a:gd name="connsiteX52" fmla="*/ 88107 w 1119188"/>
                <a:gd name="connsiteY52" fmla="*/ 276225 h 735806"/>
                <a:gd name="connsiteX53" fmla="*/ 100013 w 1119188"/>
                <a:gd name="connsiteY53" fmla="*/ 261938 h 735806"/>
                <a:gd name="connsiteX54" fmla="*/ 119063 w 1119188"/>
                <a:gd name="connsiteY54" fmla="*/ 259556 h 735806"/>
                <a:gd name="connsiteX55" fmla="*/ 142875 w 1119188"/>
                <a:gd name="connsiteY55" fmla="*/ 257175 h 735806"/>
                <a:gd name="connsiteX56" fmla="*/ 154782 w 1119188"/>
                <a:gd name="connsiteY56" fmla="*/ 271463 h 735806"/>
                <a:gd name="connsiteX57" fmla="*/ 145257 w 1119188"/>
                <a:gd name="connsiteY57" fmla="*/ 292894 h 735806"/>
                <a:gd name="connsiteX58" fmla="*/ 114300 w 1119188"/>
                <a:gd name="connsiteY58" fmla="*/ 304800 h 735806"/>
                <a:gd name="connsiteX59" fmla="*/ 78582 w 1119188"/>
                <a:gd name="connsiteY59" fmla="*/ 397669 h 735806"/>
                <a:gd name="connsiteX60" fmla="*/ 97632 w 1119188"/>
                <a:gd name="connsiteY60" fmla="*/ 421481 h 735806"/>
                <a:gd name="connsiteX61" fmla="*/ 102394 w 1119188"/>
                <a:gd name="connsiteY61" fmla="*/ 464344 h 735806"/>
                <a:gd name="connsiteX62" fmla="*/ 107157 w 1119188"/>
                <a:gd name="connsiteY62" fmla="*/ 481013 h 735806"/>
                <a:gd name="connsiteX63" fmla="*/ 142875 w 1119188"/>
                <a:gd name="connsiteY63" fmla="*/ 471488 h 735806"/>
                <a:gd name="connsiteX64" fmla="*/ 178594 w 1119188"/>
                <a:gd name="connsiteY64" fmla="*/ 459581 h 735806"/>
                <a:gd name="connsiteX65" fmla="*/ 228600 w 1119188"/>
                <a:gd name="connsiteY65" fmla="*/ 471488 h 735806"/>
                <a:gd name="connsiteX66" fmla="*/ 266700 w 1119188"/>
                <a:gd name="connsiteY66" fmla="*/ 481013 h 735806"/>
                <a:gd name="connsiteX67" fmla="*/ 319088 w 1119188"/>
                <a:gd name="connsiteY67" fmla="*/ 478631 h 735806"/>
                <a:gd name="connsiteX68" fmla="*/ 359569 w 1119188"/>
                <a:gd name="connsiteY68" fmla="*/ 461963 h 735806"/>
                <a:gd name="connsiteX69" fmla="*/ 395288 w 1119188"/>
                <a:gd name="connsiteY69" fmla="*/ 442913 h 735806"/>
                <a:gd name="connsiteX70" fmla="*/ 433388 w 1119188"/>
                <a:gd name="connsiteY70" fmla="*/ 450056 h 735806"/>
                <a:gd name="connsiteX71" fmla="*/ 473869 w 1119188"/>
                <a:gd name="connsiteY71" fmla="*/ 469106 h 735806"/>
                <a:gd name="connsiteX72" fmla="*/ 519113 w 1119188"/>
                <a:gd name="connsiteY72" fmla="*/ 495300 h 735806"/>
                <a:gd name="connsiteX73" fmla="*/ 550069 w 1119188"/>
                <a:gd name="connsiteY73" fmla="*/ 521494 h 735806"/>
                <a:gd name="connsiteX74" fmla="*/ 554832 w 1119188"/>
                <a:gd name="connsiteY74" fmla="*/ 559594 h 735806"/>
                <a:gd name="connsiteX75" fmla="*/ 550069 w 1119188"/>
                <a:gd name="connsiteY75" fmla="*/ 614363 h 735806"/>
                <a:gd name="connsiteX76" fmla="*/ 545307 w 1119188"/>
                <a:gd name="connsiteY76" fmla="*/ 645319 h 735806"/>
                <a:gd name="connsiteX77" fmla="*/ 519113 w 1119188"/>
                <a:gd name="connsiteY77" fmla="*/ 657225 h 735806"/>
                <a:gd name="connsiteX78" fmla="*/ 502444 w 1119188"/>
                <a:gd name="connsiteY78" fmla="*/ 673894 h 735806"/>
                <a:gd name="connsiteX79" fmla="*/ 504825 w 1119188"/>
                <a:gd name="connsiteY79" fmla="*/ 707231 h 735806"/>
                <a:gd name="connsiteX80" fmla="*/ 523875 w 1119188"/>
                <a:gd name="connsiteY80" fmla="*/ 731044 h 735806"/>
                <a:gd name="connsiteX81" fmla="*/ 604838 w 1119188"/>
                <a:gd name="connsiteY81" fmla="*/ 735806 h 735806"/>
                <a:gd name="connsiteX82" fmla="*/ 671513 w 1119188"/>
                <a:gd name="connsiteY82" fmla="*/ 685800 h 735806"/>
                <a:gd name="connsiteX83" fmla="*/ 671513 w 1119188"/>
                <a:gd name="connsiteY83" fmla="*/ 604838 h 735806"/>
                <a:gd name="connsiteX84" fmla="*/ 723900 w 1119188"/>
                <a:gd name="connsiteY84" fmla="*/ 554831 h 735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119188" h="735806">
                  <a:moveTo>
                    <a:pt x="723900" y="554831"/>
                  </a:moveTo>
                  <a:lnTo>
                    <a:pt x="716757" y="497681"/>
                  </a:lnTo>
                  <a:lnTo>
                    <a:pt x="702469" y="473869"/>
                  </a:lnTo>
                  <a:lnTo>
                    <a:pt x="716757" y="459581"/>
                  </a:lnTo>
                  <a:lnTo>
                    <a:pt x="766763" y="461963"/>
                  </a:lnTo>
                  <a:lnTo>
                    <a:pt x="764382" y="426244"/>
                  </a:lnTo>
                  <a:lnTo>
                    <a:pt x="773907" y="407194"/>
                  </a:lnTo>
                  <a:lnTo>
                    <a:pt x="819150" y="376238"/>
                  </a:lnTo>
                  <a:cubicBezTo>
                    <a:pt x="818356" y="345282"/>
                    <a:pt x="817563" y="314325"/>
                    <a:pt x="816769" y="283369"/>
                  </a:cubicBezTo>
                  <a:lnTo>
                    <a:pt x="840582" y="273844"/>
                  </a:lnTo>
                  <a:lnTo>
                    <a:pt x="881063" y="321469"/>
                  </a:lnTo>
                  <a:lnTo>
                    <a:pt x="909638" y="307181"/>
                  </a:lnTo>
                  <a:lnTo>
                    <a:pt x="919163" y="264319"/>
                  </a:lnTo>
                  <a:lnTo>
                    <a:pt x="952500" y="259556"/>
                  </a:lnTo>
                  <a:lnTo>
                    <a:pt x="1004888" y="204788"/>
                  </a:lnTo>
                  <a:lnTo>
                    <a:pt x="1035844" y="180975"/>
                  </a:lnTo>
                  <a:lnTo>
                    <a:pt x="1104900" y="157163"/>
                  </a:lnTo>
                  <a:lnTo>
                    <a:pt x="1116807" y="83344"/>
                  </a:lnTo>
                  <a:lnTo>
                    <a:pt x="1116807" y="57150"/>
                  </a:lnTo>
                  <a:lnTo>
                    <a:pt x="1119188" y="35719"/>
                  </a:lnTo>
                  <a:lnTo>
                    <a:pt x="1104900" y="0"/>
                  </a:lnTo>
                  <a:lnTo>
                    <a:pt x="1069182" y="7144"/>
                  </a:lnTo>
                  <a:lnTo>
                    <a:pt x="992982" y="9525"/>
                  </a:lnTo>
                  <a:lnTo>
                    <a:pt x="954882" y="38100"/>
                  </a:lnTo>
                  <a:lnTo>
                    <a:pt x="931069" y="42863"/>
                  </a:lnTo>
                  <a:lnTo>
                    <a:pt x="904875" y="42863"/>
                  </a:lnTo>
                  <a:lnTo>
                    <a:pt x="831057" y="85725"/>
                  </a:lnTo>
                  <a:lnTo>
                    <a:pt x="776288" y="104775"/>
                  </a:lnTo>
                  <a:lnTo>
                    <a:pt x="707232" y="180975"/>
                  </a:lnTo>
                  <a:lnTo>
                    <a:pt x="692944" y="195263"/>
                  </a:lnTo>
                  <a:lnTo>
                    <a:pt x="626269" y="192881"/>
                  </a:lnTo>
                  <a:lnTo>
                    <a:pt x="619125" y="207169"/>
                  </a:lnTo>
                  <a:lnTo>
                    <a:pt x="519113" y="211931"/>
                  </a:lnTo>
                  <a:lnTo>
                    <a:pt x="492919" y="230981"/>
                  </a:lnTo>
                  <a:lnTo>
                    <a:pt x="459582" y="245269"/>
                  </a:lnTo>
                  <a:lnTo>
                    <a:pt x="433388" y="271463"/>
                  </a:lnTo>
                  <a:lnTo>
                    <a:pt x="416719" y="278606"/>
                  </a:lnTo>
                  <a:lnTo>
                    <a:pt x="378619" y="278606"/>
                  </a:lnTo>
                  <a:lnTo>
                    <a:pt x="335757" y="250031"/>
                  </a:lnTo>
                  <a:lnTo>
                    <a:pt x="250032" y="250031"/>
                  </a:lnTo>
                  <a:lnTo>
                    <a:pt x="211932" y="240506"/>
                  </a:lnTo>
                  <a:lnTo>
                    <a:pt x="188119" y="221456"/>
                  </a:lnTo>
                  <a:lnTo>
                    <a:pt x="171450" y="207169"/>
                  </a:lnTo>
                  <a:lnTo>
                    <a:pt x="150019" y="202406"/>
                  </a:lnTo>
                  <a:lnTo>
                    <a:pt x="126207" y="209550"/>
                  </a:lnTo>
                  <a:lnTo>
                    <a:pt x="85725" y="226219"/>
                  </a:lnTo>
                  <a:lnTo>
                    <a:pt x="54769" y="245269"/>
                  </a:lnTo>
                  <a:lnTo>
                    <a:pt x="16669" y="254794"/>
                  </a:lnTo>
                  <a:lnTo>
                    <a:pt x="0" y="261938"/>
                  </a:lnTo>
                  <a:lnTo>
                    <a:pt x="28575" y="278606"/>
                  </a:lnTo>
                  <a:lnTo>
                    <a:pt x="59532" y="278606"/>
                  </a:lnTo>
                  <a:lnTo>
                    <a:pt x="80963" y="278606"/>
                  </a:lnTo>
                  <a:lnTo>
                    <a:pt x="88107" y="276225"/>
                  </a:lnTo>
                  <a:lnTo>
                    <a:pt x="100013" y="261938"/>
                  </a:lnTo>
                  <a:lnTo>
                    <a:pt x="119063" y="259556"/>
                  </a:lnTo>
                  <a:lnTo>
                    <a:pt x="142875" y="257175"/>
                  </a:lnTo>
                  <a:lnTo>
                    <a:pt x="154782" y="271463"/>
                  </a:lnTo>
                  <a:lnTo>
                    <a:pt x="145257" y="292894"/>
                  </a:lnTo>
                  <a:lnTo>
                    <a:pt x="114300" y="304800"/>
                  </a:lnTo>
                  <a:lnTo>
                    <a:pt x="78582" y="397669"/>
                  </a:lnTo>
                  <a:lnTo>
                    <a:pt x="97632" y="421481"/>
                  </a:lnTo>
                  <a:lnTo>
                    <a:pt x="102394" y="464344"/>
                  </a:lnTo>
                  <a:lnTo>
                    <a:pt x="107157" y="481013"/>
                  </a:lnTo>
                  <a:lnTo>
                    <a:pt x="142875" y="471488"/>
                  </a:lnTo>
                  <a:lnTo>
                    <a:pt x="178594" y="459581"/>
                  </a:lnTo>
                  <a:lnTo>
                    <a:pt x="228600" y="471488"/>
                  </a:lnTo>
                  <a:lnTo>
                    <a:pt x="266700" y="481013"/>
                  </a:lnTo>
                  <a:lnTo>
                    <a:pt x="319088" y="478631"/>
                  </a:lnTo>
                  <a:lnTo>
                    <a:pt x="359569" y="461963"/>
                  </a:lnTo>
                  <a:lnTo>
                    <a:pt x="395288" y="442913"/>
                  </a:lnTo>
                  <a:lnTo>
                    <a:pt x="433388" y="450056"/>
                  </a:lnTo>
                  <a:lnTo>
                    <a:pt x="473869" y="469106"/>
                  </a:lnTo>
                  <a:lnTo>
                    <a:pt x="519113" y="495300"/>
                  </a:lnTo>
                  <a:lnTo>
                    <a:pt x="550069" y="521494"/>
                  </a:lnTo>
                  <a:lnTo>
                    <a:pt x="554832" y="559594"/>
                  </a:lnTo>
                  <a:lnTo>
                    <a:pt x="550069" y="614363"/>
                  </a:lnTo>
                  <a:lnTo>
                    <a:pt x="545307" y="645319"/>
                  </a:lnTo>
                  <a:lnTo>
                    <a:pt x="519113" y="657225"/>
                  </a:lnTo>
                  <a:lnTo>
                    <a:pt x="502444" y="673894"/>
                  </a:lnTo>
                  <a:lnTo>
                    <a:pt x="504825" y="707231"/>
                  </a:lnTo>
                  <a:lnTo>
                    <a:pt x="523875" y="731044"/>
                  </a:lnTo>
                  <a:lnTo>
                    <a:pt x="604838" y="735806"/>
                  </a:lnTo>
                  <a:lnTo>
                    <a:pt x="671513" y="685800"/>
                  </a:lnTo>
                  <a:lnTo>
                    <a:pt x="671513" y="604838"/>
                  </a:lnTo>
                  <a:lnTo>
                    <a:pt x="723900" y="554831"/>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63" name="Freeform 62"/>
            <p:cNvSpPr/>
            <p:nvPr/>
          </p:nvSpPr>
          <p:spPr>
            <a:xfrm rot="21298612">
              <a:off x="4281305" y="3164680"/>
              <a:ext cx="462147" cy="225169"/>
            </a:xfrm>
            <a:custGeom>
              <a:avLst/>
              <a:gdLst>
                <a:gd name="connsiteX0" fmla="*/ 0 w 459581"/>
                <a:gd name="connsiteY0" fmla="*/ 42862 h 211931"/>
                <a:gd name="connsiteX1" fmla="*/ 7143 w 459581"/>
                <a:gd name="connsiteY1" fmla="*/ 104775 h 211931"/>
                <a:gd name="connsiteX2" fmla="*/ 30956 w 459581"/>
                <a:gd name="connsiteY2" fmla="*/ 119062 h 211931"/>
                <a:gd name="connsiteX3" fmla="*/ 33337 w 459581"/>
                <a:gd name="connsiteY3" fmla="*/ 171450 h 211931"/>
                <a:gd name="connsiteX4" fmla="*/ 38100 w 459581"/>
                <a:gd name="connsiteY4" fmla="*/ 188118 h 211931"/>
                <a:gd name="connsiteX5" fmla="*/ 88106 w 459581"/>
                <a:gd name="connsiteY5" fmla="*/ 204787 h 211931"/>
                <a:gd name="connsiteX6" fmla="*/ 88106 w 459581"/>
                <a:gd name="connsiteY6" fmla="*/ 204787 h 211931"/>
                <a:gd name="connsiteX7" fmla="*/ 147637 w 459581"/>
                <a:gd name="connsiteY7" fmla="*/ 211931 h 211931"/>
                <a:gd name="connsiteX8" fmla="*/ 180975 w 459581"/>
                <a:gd name="connsiteY8" fmla="*/ 197643 h 211931"/>
                <a:gd name="connsiteX9" fmla="*/ 214312 w 459581"/>
                <a:gd name="connsiteY9" fmla="*/ 192881 h 211931"/>
                <a:gd name="connsiteX10" fmla="*/ 242887 w 459581"/>
                <a:gd name="connsiteY10" fmla="*/ 204787 h 211931"/>
                <a:gd name="connsiteX11" fmla="*/ 261937 w 459581"/>
                <a:gd name="connsiteY11" fmla="*/ 204787 h 211931"/>
                <a:gd name="connsiteX12" fmla="*/ 321468 w 459581"/>
                <a:gd name="connsiteY12" fmla="*/ 178593 h 211931"/>
                <a:gd name="connsiteX13" fmla="*/ 350043 w 459581"/>
                <a:gd name="connsiteY13" fmla="*/ 180975 h 211931"/>
                <a:gd name="connsiteX14" fmla="*/ 402431 w 459581"/>
                <a:gd name="connsiteY14" fmla="*/ 161925 h 211931"/>
                <a:gd name="connsiteX15" fmla="*/ 457200 w 459581"/>
                <a:gd name="connsiteY15" fmla="*/ 173831 h 211931"/>
                <a:gd name="connsiteX16" fmla="*/ 459581 w 459581"/>
                <a:gd name="connsiteY16" fmla="*/ 128587 h 211931"/>
                <a:gd name="connsiteX17" fmla="*/ 450056 w 459581"/>
                <a:gd name="connsiteY17" fmla="*/ 83343 h 211931"/>
                <a:gd name="connsiteX18" fmla="*/ 423862 w 459581"/>
                <a:gd name="connsiteY18" fmla="*/ 52387 h 211931"/>
                <a:gd name="connsiteX19" fmla="*/ 357187 w 459581"/>
                <a:gd name="connsiteY19" fmla="*/ 19050 h 211931"/>
                <a:gd name="connsiteX20" fmla="*/ 319087 w 459581"/>
                <a:gd name="connsiteY20" fmla="*/ 0 h 211931"/>
                <a:gd name="connsiteX21" fmla="*/ 295275 w 459581"/>
                <a:gd name="connsiteY21" fmla="*/ 0 h 211931"/>
                <a:gd name="connsiteX22" fmla="*/ 240506 w 459581"/>
                <a:gd name="connsiteY22" fmla="*/ 33337 h 211931"/>
                <a:gd name="connsiteX23" fmla="*/ 176212 w 459581"/>
                <a:gd name="connsiteY23" fmla="*/ 45243 h 211931"/>
                <a:gd name="connsiteX24" fmla="*/ 95250 w 459581"/>
                <a:gd name="connsiteY24" fmla="*/ 19050 h 211931"/>
                <a:gd name="connsiteX25" fmla="*/ 78581 w 459581"/>
                <a:gd name="connsiteY25" fmla="*/ 16668 h 211931"/>
                <a:gd name="connsiteX26" fmla="*/ 0 w 459581"/>
                <a:gd name="connsiteY26" fmla="*/ 42862 h 21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9581" h="211931">
                  <a:moveTo>
                    <a:pt x="0" y="42862"/>
                  </a:moveTo>
                  <a:lnTo>
                    <a:pt x="7143" y="104775"/>
                  </a:lnTo>
                  <a:lnTo>
                    <a:pt x="30956" y="119062"/>
                  </a:lnTo>
                  <a:lnTo>
                    <a:pt x="33337" y="171450"/>
                  </a:lnTo>
                  <a:lnTo>
                    <a:pt x="38100" y="188118"/>
                  </a:lnTo>
                  <a:lnTo>
                    <a:pt x="88106" y="204787"/>
                  </a:lnTo>
                  <a:lnTo>
                    <a:pt x="88106" y="204787"/>
                  </a:lnTo>
                  <a:lnTo>
                    <a:pt x="147637" y="211931"/>
                  </a:lnTo>
                  <a:lnTo>
                    <a:pt x="180975" y="197643"/>
                  </a:lnTo>
                  <a:lnTo>
                    <a:pt x="214312" y="192881"/>
                  </a:lnTo>
                  <a:lnTo>
                    <a:pt x="242887" y="204787"/>
                  </a:lnTo>
                  <a:lnTo>
                    <a:pt x="261937" y="204787"/>
                  </a:lnTo>
                  <a:lnTo>
                    <a:pt x="321468" y="178593"/>
                  </a:lnTo>
                  <a:lnTo>
                    <a:pt x="350043" y="180975"/>
                  </a:lnTo>
                  <a:lnTo>
                    <a:pt x="402431" y="161925"/>
                  </a:lnTo>
                  <a:lnTo>
                    <a:pt x="457200" y="173831"/>
                  </a:lnTo>
                  <a:lnTo>
                    <a:pt x="459581" y="128587"/>
                  </a:lnTo>
                  <a:lnTo>
                    <a:pt x="450056" y="83343"/>
                  </a:lnTo>
                  <a:lnTo>
                    <a:pt x="423862" y="52387"/>
                  </a:lnTo>
                  <a:lnTo>
                    <a:pt x="357187" y="19050"/>
                  </a:lnTo>
                  <a:lnTo>
                    <a:pt x="319087" y="0"/>
                  </a:lnTo>
                  <a:lnTo>
                    <a:pt x="295275" y="0"/>
                  </a:lnTo>
                  <a:lnTo>
                    <a:pt x="240506" y="33337"/>
                  </a:lnTo>
                  <a:lnTo>
                    <a:pt x="176212" y="45243"/>
                  </a:lnTo>
                  <a:lnTo>
                    <a:pt x="95250" y="19050"/>
                  </a:lnTo>
                  <a:lnTo>
                    <a:pt x="78581" y="16668"/>
                  </a:lnTo>
                  <a:lnTo>
                    <a:pt x="0" y="42862"/>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64" name="Freeform 63"/>
            <p:cNvSpPr/>
            <p:nvPr/>
          </p:nvSpPr>
          <p:spPr>
            <a:xfrm rot="21298612">
              <a:off x="4467291" y="2351686"/>
              <a:ext cx="1064533" cy="596531"/>
            </a:xfrm>
            <a:custGeom>
              <a:avLst/>
              <a:gdLst>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2462 w 1059656"/>
                <a:gd name="connsiteY79" fmla="*/ 481012 h 531019"/>
                <a:gd name="connsiteX80" fmla="*/ 697706 w 1059656"/>
                <a:gd name="connsiteY80"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2462 w 1059656"/>
                <a:gd name="connsiteY79" fmla="*/ 481012 h 531019"/>
                <a:gd name="connsiteX80" fmla="*/ 676275 w 1059656"/>
                <a:gd name="connsiteY80" fmla="*/ 500062 h 531019"/>
                <a:gd name="connsiteX81" fmla="*/ 697706 w 1059656"/>
                <a:gd name="connsiteY81"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9605 w 1059656"/>
                <a:gd name="connsiteY79" fmla="*/ 471487 h 531019"/>
                <a:gd name="connsiteX80" fmla="*/ 676275 w 1059656"/>
                <a:gd name="connsiteY80" fmla="*/ 500062 h 531019"/>
                <a:gd name="connsiteX81" fmla="*/ 697706 w 1059656"/>
                <a:gd name="connsiteY81"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7224 w 1059656"/>
                <a:gd name="connsiteY79" fmla="*/ 483393 h 531019"/>
                <a:gd name="connsiteX80" fmla="*/ 676275 w 1059656"/>
                <a:gd name="connsiteY80" fmla="*/ 500062 h 531019"/>
                <a:gd name="connsiteX81" fmla="*/ 697706 w 1059656"/>
                <a:gd name="connsiteY81"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7224 w 1059656"/>
                <a:gd name="connsiteY79" fmla="*/ 483393 h 531019"/>
                <a:gd name="connsiteX80" fmla="*/ 654844 w 1059656"/>
                <a:gd name="connsiteY80" fmla="*/ 495300 h 531019"/>
                <a:gd name="connsiteX81" fmla="*/ 697706 w 1059656"/>
                <a:gd name="connsiteY81" fmla="*/ 531019 h 531019"/>
                <a:gd name="connsiteX0" fmla="*/ 697706 w 1059656"/>
                <a:gd name="connsiteY0" fmla="*/ 531019 h 531019"/>
                <a:gd name="connsiteX1" fmla="*/ 778668 w 1059656"/>
                <a:gd name="connsiteY1" fmla="*/ 459581 h 531019"/>
                <a:gd name="connsiteX2" fmla="*/ 816768 w 1059656"/>
                <a:gd name="connsiteY2" fmla="*/ 440531 h 531019"/>
                <a:gd name="connsiteX3" fmla="*/ 852487 w 1059656"/>
                <a:gd name="connsiteY3" fmla="*/ 438150 h 531019"/>
                <a:gd name="connsiteX4" fmla="*/ 916781 w 1059656"/>
                <a:gd name="connsiteY4" fmla="*/ 423862 h 531019"/>
                <a:gd name="connsiteX5" fmla="*/ 950118 w 1059656"/>
                <a:gd name="connsiteY5" fmla="*/ 426244 h 531019"/>
                <a:gd name="connsiteX6" fmla="*/ 988218 w 1059656"/>
                <a:gd name="connsiteY6" fmla="*/ 442912 h 531019"/>
                <a:gd name="connsiteX7" fmla="*/ 1019175 w 1059656"/>
                <a:gd name="connsiteY7" fmla="*/ 411956 h 531019"/>
                <a:gd name="connsiteX8" fmla="*/ 992981 w 1059656"/>
                <a:gd name="connsiteY8" fmla="*/ 381000 h 531019"/>
                <a:gd name="connsiteX9" fmla="*/ 988218 w 1059656"/>
                <a:gd name="connsiteY9" fmla="*/ 350044 h 531019"/>
                <a:gd name="connsiteX10" fmla="*/ 995362 w 1059656"/>
                <a:gd name="connsiteY10" fmla="*/ 311944 h 531019"/>
                <a:gd name="connsiteX11" fmla="*/ 1023937 w 1059656"/>
                <a:gd name="connsiteY11" fmla="*/ 271462 h 531019"/>
                <a:gd name="connsiteX12" fmla="*/ 1052512 w 1059656"/>
                <a:gd name="connsiteY12" fmla="*/ 261937 h 531019"/>
                <a:gd name="connsiteX13" fmla="*/ 1059656 w 1059656"/>
                <a:gd name="connsiteY13" fmla="*/ 233362 h 531019"/>
                <a:gd name="connsiteX14" fmla="*/ 1047750 w 1059656"/>
                <a:gd name="connsiteY14" fmla="*/ 204787 h 531019"/>
                <a:gd name="connsiteX15" fmla="*/ 1019175 w 1059656"/>
                <a:gd name="connsiteY15" fmla="*/ 195262 h 531019"/>
                <a:gd name="connsiteX16" fmla="*/ 992981 w 1059656"/>
                <a:gd name="connsiteY16" fmla="*/ 202406 h 531019"/>
                <a:gd name="connsiteX17" fmla="*/ 935831 w 1059656"/>
                <a:gd name="connsiteY17" fmla="*/ 221456 h 531019"/>
                <a:gd name="connsiteX18" fmla="*/ 900112 w 1059656"/>
                <a:gd name="connsiteY18" fmla="*/ 226219 h 531019"/>
                <a:gd name="connsiteX19" fmla="*/ 878681 w 1059656"/>
                <a:gd name="connsiteY19" fmla="*/ 209550 h 531019"/>
                <a:gd name="connsiteX20" fmla="*/ 873918 w 1059656"/>
                <a:gd name="connsiteY20" fmla="*/ 195262 h 531019"/>
                <a:gd name="connsiteX21" fmla="*/ 881062 w 1059656"/>
                <a:gd name="connsiteY21" fmla="*/ 152400 h 531019"/>
                <a:gd name="connsiteX22" fmla="*/ 888206 w 1059656"/>
                <a:gd name="connsiteY22" fmla="*/ 116681 h 531019"/>
                <a:gd name="connsiteX23" fmla="*/ 871537 w 1059656"/>
                <a:gd name="connsiteY23" fmla="*/ 78581 h 531019"/>
                <a:gd name="connsiteX24" fmla="*/ 840581 w 1059656"/>
                <a:gd name="connsiteY24" fmla="*/ 61912 h 531019"/>
                <a:gd name="connsiteX25" fmla="*/ 862012 w 1059656"/>
                <a:gd name="connsiteY25" fmla="*/ 14287 h 531019"/>
                <a:gd name="connsiteX26" fmla="*/ 809625 w 1059656"/>
                <a:gd name="connsiteY26" fmla="*/ 0 h 531019"/>
                <a:gd name="connsiteX27" fmla="*/ 797718 w 1059656"/>
                <a:gd name="connsiteY27" fmla="*/ 16669 h 531019"/>
                <a:gd name="connsiteX28" fmla="*/ 757237 w 1059656"/>
                <a:gd name="connsiteY28" fmla="*/ 11906 h 531019"/>
                <a:gd name="connsiteX29" fmla="*/ 735806 w 1059656"/>
                <a:gd name="connsiteY29" fmla="*/ 16669 h 531019"/>
                <a:gd name="connsiteX30" fmla="*/ 719137 w 1059656"/>
                <a:gd name="connsiteY30" fmla="*/ 45244 h 531019"/>
                <a:gd name="connsiteX31" fmla="*/ 723900 w 1059656"/>
                <a:gd name="connsiteY31" fmla="*/ 64294 h 531019"/>
                <a:gd name="connsiteX32" fmla="*/ 707231 w 1059656"/>
                <a:gd name="connsiteY32" fmla="*/ 78581 h 531019"/>
                <a:gd name="connsiteX33" fmla="*/ 631031 w 1059656"/>
                <a:gd name="connsiteY33" fmla="*/ 80962 h 531019"/>
                <a:gd name="connsiteX34" fmla="*/ 597693 w 1059656"/>
                <a:gd name="connsiteY34" fmla="*/ 66675 h 531019"/>
                <a:gd name="connsiteX35" fmla="*/ 569118 w 1059656"/>
                <a:gd name="connsiteY35" fmla="*/ 38100 h 531019"/>
                <a:gd name="connsiteX36" fmla="*/ 531018 w 1059656"/>
                <a:gd name="connsiteY36" fmla="*/ 33337 h 531019"/>
                <a:gd name="connsiteX37" fmla="*/ 497681 w 1059656"/>
                <a:gd name="connsiteY37" fmla="*/ 57150 h 531019"/>
                <a:gd name="connsiteX38" fmla="*/ 481012 w 1059656"/>
                <a:gd name="connsiteY38" fmla="*/ 76200 h 531019"/>
                <a:gd name="connsiteX39" fmla="*/ 466725 w 1059656"/>
                <a:gd name="connsiteY39" fmla="*/ 92869 h 531019"/>
                <a:gd name="connsiteX40" fmla="*/ 450056 w 1059656"/>
                <a:gd name="connsiteY40" fmla="*/ 111919 h 531019"/>
                <a:gd name="connsiteX41" fmla="*/ 454818 w 1059656"/>
                <a:gd name="connsiteY41" fmla="*/ 138112 h 531019"/>
                <a:gd name="connsiteX42" fmla="*/ 423862 w 1059656"/>
                <a:gd name="connsiteY42" fmla="*/ 161925 h 531019"/>
                <a:gd name="connsiteX43" fmla="*/ 371475 w 1059656"/>
                <a:gd name="connsiteY43" fmla="*/ 171450 h 531019"/>
                <a:gd name="connsiteX44" fmla="*/ 330993 w 1059656"/>
                <a:gd name="connsiteY44" fmla="*/ 190500 h 531019"/>
                <a:gd name="connsiteX45" fmla="*/ 321468 w 1059656"/>
                <a:gd name="connsiteY45" fmla="*/ 228600 h 531019"/>
                <a:gd name="connsiteX46" fmla="*/ 319087 w 1059656"/>
                <a:gd name="connsiteY46" fmla="*/ 235744 h 531019"/>
                <a:gd name="connsiteX47" fmla="*/ 266700 w 1059656"/>
                <a:gd name="connsiteY47" fmla="*/ 252412 h 531019"/>
                <a:gd name="connsiteX48" fmla="*/ 180975 w 1059656"/>
                <a:gd name="connsiteY48" fmla="*/ 283369 h 531019"/>
                <a:gd name="connsiteX49" fmla="*/ 157162 w 1059656"/>
                <a:gd name="connsiteY49" fmla="*/ 276225 h 531019"/>
                <a:gd name="connsiteX50" fmla="*/ 128587 w 1059656"/>
                <a:gd name="connsiteY50" fmla="*/ 266700 h 531019"/>
                <a:gd name="connsiteX51" fmla="*/ 130968 w 1059656"/>
                <a:gd name="connsiteY51" fmla="*/ 326231 h 531019"/>
                <a:gd name="connsiteX52" fmla="*/ 169068 w 1059656"/>
                <a:gd name="connsiteY52" fmla="*/ 354806 h 531019"/>
                <a:gd name="connsiteX53" fmla="*/ 185737 w 1059656"/>
                <a:gd name="connsiteY53" fmla="*/ 378619 h 531019"/>
                <a:gd name="connsiteX54" fmla="*/ 180975 w 1059656"/>
                <a:gd name="connsiteY54" fmla="*/ 409575 h 531019"/>
                <a:gd name="connsiteX55" fmla="*/ 173831 w 1059656"/>
                <a:gd name="connsiteY55" fmla="*/ 438150 h 531019"/>
                <a:gd name="connsiteX56" fmla="*/ 130968 w 1059656"/>
                <a:gd name="connsiteY56" fmla="*/ 440531 h 531019"/>
                <a:gd name="connsiteX57" fmla="*/ 95250 w 1059656"/>
                <a:gd name="connsiteY57" fmla="*/ 454819 h 531019"/>
                <a:gd name="connsiteX58" fmla="*/ 71437 w 1059656"/>
                <a:gd name="connsiteY58" fmla="*/ 459581 h 531019"/>
                <a:gd name="connsiteX59" fmla="*/ 50006 w 1059656"/>
                <a:gd name="connsiteY59" fmla="*/ 471487 h 531019"/>
                <a:gd name="connsiteX60" fmla="*/ 30956 w 1059656"/>
                <a:gd name="connsiteY60" fmla="*/ 488156 h 531019"/>
                <a:gd name="connsiteX61" fmla="*/ 7143 w 1059656"/>
                <a:gd name="connsiteY61" fmla="*/ 495300 h 531019"/>
                <a:gd name="connsiteX62" fmla="*/ 0 w 1059656"/>
                <a:gd name="connsiteY62" fmla="*/ 500062 h 531019"/>
                <a:gd name="connsiteX63" fmla="*/ 38100 w 1059656"/>
                <a:gd name="connsiteY63" fmla="*/ 528637 h 531019"/>
                <a:gd name="connsiteX64" fmla="*/ 80962 w 1059656"/>
                <a:gd name="connsiteY64" fmla="*/ 526256 h 531019"/>
                <a:gd name="connsiteX65" fmla="*/ 116681 w 1059656"/>
                <a:gd name="connsiteY65" fmla="*/ 492919 h 531019"/>
                <a:gd name="connsiteX66" fmla="*/ 171450 w 1059656"/>
                <a:gd name="connsiteY66" fmla="*/ 466725 h 531019"/>
                <a:gd name="connsiteX67" fmla="*/ 278606 w 1059656"/>
                <a:gd name="connsiteY67" fmla="*/ 459581 h 531019"/>
                <a:gd name="connsiteX68" fmla="*/ 292893 w 1059656"/>
                <a:gd name="connsiteY68" fmla="*/ 447675 h 531019"/>
                <a:gd name="connsiteX69" fmla="*/ 357187 w 1059656"/>
                <a:gd name="connsiteY69" fmla="*/ 447675 h 531019"/>
                <a:gd name="connsiteX70" fmla="*/ 433387 w 1059656"/>
                <a:gd name="connsiteY70" fmla="*/ 354806 h 531019"/>
                <a:gd name="connsiteX71" fmla="*/ 559593 w 1059656"/>
                <a:gd name="connsiteY71" fmla="*/ 295275 h 531019"/>
                <a:gd name="connsiteX72" fmla="*/ 619125 w 1059656"/>
                <a:gd name="connsiteY72" fmla="*/ 288131 h 531019"/>
                <a:gd name="connsiteX73" fmla="*/ 654843 w 1059656"/>
                <a:gd name="connsiteY73" fmla="*/ 261937 h 531019"/>
                <a:gd name="connsiteX74" fmla="*/ 716756 w 1059656"/>
                <a:gd name="connsiteY74" fmla="*/ 259556 h 531019"/>
                <a:gd name="connsiteX75" fmla="*/ 771525 w 1059656"/>
                <a:gd name="connsiteY75" fmla="*/ 252412 h 531019"/>
                <a:gd name="connsiteX76" fmla="*/ 781050 w 1059656"/>
                <a:gd name="connsiteY76" fmla="*/ 290512 h 531019"/>
                <a:gd name="connsiteX77" fmla="*/ 773906 w 1059656"/>
                <a:gd name="connsiteY77" fmla="*/ 411956 h 531019"/>
                <a:gd name="connsiteX78" fmla="*/ 707231 w 1059656"/>
                <a:gd name="connsiteY78" fmla="*/ 428625 h 531019"/>
                <a:gd name="connsiteX79" fmla="*/ 652461 w 1059656"/>
                <a:gd name="connsiteY79" fmla="*/ 476249 h 531019"/>
                <a:gd name="connsiteX80" fmla="*/ 654844 w 1059656"/>
                <a:gd name="connsiteY80" fmla="*/ 495300 h 531019"/>
                <a:gd name="connsiteX81" fmla="*/ 697706 w 1059656"/>
                <a:gd name="connsiteY81" fmla="*/ 531019 h 531019"/>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33437 w 1059656"/>
                <a:gd name="connsiteY25" fmla="*/ 0 h 564357"/>
                <a:gd name="connsiteX26" fmla="*/ 809625 w 1059656"/>
                <a:gd name="connsiteY26" fmla="*/ 33338 h 564357"/>
                <a:gd name="connsiteX27" fmla="*/ 797718 w 1059656"/>
                <a:gd name="connsiteY27" fmla="*/ 50007 h 564357"/>
                <a:gd name="connsiteX28" fmla="*/ 757237 w 1059656"/>
                <a:gd name="connsiteY28" fmla="*/ 45244 h 564357"/>
                <a:gd name="connsiteX29" fmla="*/ 735806 w 1059656"/>
                <a:gd name="connsiteY29" fmla="*/ 50007 h 564357"/>
                <a:gd name="connsiteX30" fmla="*/ 719137 w 1059656"/>
                <a:gd name="connsiteY30" fmla="*/ 78582 h 564357"/>
                <a:gd name="connsiteX31" fmla="*/ 723900 w 1059656"/>
                <a:gd name="connsiteY31" fmla="*/ 97632 h 564357"/>
                <a:gd name="connsiteX32" fmla="*/ 707231 w 1059656"/>
                <a:gd name="connsiteY32" fmla="*/ 111919 h 564357"/>
                <a:gd name="connsiteX33" fmla="*/ 631031 w 1059656"/>
                <a:gd name="connsiteY33" fmla="*/ 114300 h 564357"/>
                <a:gd name="connsiteX34" fmla="*/ 597693 w 1059656"/>
                <a:gd name="connsiteY34" fmla="*/ 100013 h 564357"/>
                <a:gd name="connsiteX35" fmla="*/ 569118 w 1059656"/>
                <a:gd name="connsiteY35" fmla="*/ 71438 h 564357"/>
                <a:gd name="connsiteX36" fmla="*/ 531018 w 1059656"/>
                <a:gd name="connsiteY36" fmla="*/ 66675 h 564357"/>
                <a:gd name="connsiteX37" fmla="*/ 497681 w 1059656"/>
                <a:gd name="connsiteY37" fmla="*/ 90488 h 564357"/>
                <a:gd name="connsiteX38" fmla="*/ 481012 w 1059656"/>
                <a:gd name="connsiteY38" fmla="*/ 109538 h 564357"/>
                <a:gd name="connsiteX39" fmla="*/ 466725 w 1059656"/>
                <a:gd name="connsiteY39" fmla="*/ 126207 h 564357"/>
                <a:gd name="connsiteX40" fmla="*/ 450056 w 1059656"/>
                <a:gd name="connsiteY40" fmla="*/ 145257 h 564357"/>
                <a:gd name="connsiteX41" fmla="*/ 454818 w 1059656"/>
                <a:gd name="connsiteY41" fmla="*/ 171450 h 564357"/>
                <a:gd name="connsiteX42" fmla="*/ 423862 w 1059656"/>
                <a:gd name="connsiteY42" fmla="*/ 195263 h 564357"/>
                <a:gd name="connsiteX43" fmla="*/ 371475 w 1059656"/>
                <a:gd name="connsiteY43" fmla="*/ 204788 h 564357"/>
                <a:gd name="connsiteX44" fmla="*/ 330993 w 1059656"/>
                <a:gd name="connsiteY44" fmla="*/ 223838 h 564357"/>
                <a:gd name="connsiteX45" fmla="*/ 321468 w 1059656"/>
                <a:gd name="connsiteY45" fmla="*/ 261938 h 564357"/>
                <a:gd name="connsiteX46" fmla="*/ 319087 w 1059656"/>
                <a:gd name="connsiteY46" fmla="*/ 269082 h 564357"/>
                <a:gd name="connsiteX47" fmla="*/ 266700 w 1059656"/>
                <a:gd name="connsiteY47" fmla="*/ 285750 h 564357"/>
                <a:gd name="connsiteX48" fmla="*/ 180975 w 1059656"/>
                <a:gd name="connsiteY48" fmla="*/ 316707 h 564357"/>
                <a:gd name="connsiteX49" fmla="*/ 157162 w 1059656"/>
                <a:gd name="connsiteY49" fmla="*/ 309563 h 564357"/>
                <a:gd name="connsiteX50" fmla="*/ 128587 w 1059656"/>
                <a:gd name="connsiteY50" fmla="*/ 300038 h 564357"/>
                <a:gd name="connsiteX51" fmla="*/ 130968 w 1059656"/>
                <a:gd name="connsiteY51" fmla="*/ 359569 h 564357"/>
                <a:gd name="connsiteX52" fmla="*/ 169068 w 1059656"/>
                <a:gd name="connsiteY52" fmla="*/ 388144 h 564357"/>
                <a:gd name="connsiteX53" fmla="*/ 185737 w 1059656"/>
                <a:gd name="connsiteY53" fmla="*/ 411957 h 564357"/>
                <a:gd name="connsiteX54" fmla="*/ 180975 w 1059656"/>
                <a:gd name="connsiteY54" fmla="*/ 442913 h 564357"/>
                <a:gd name="connsiteX55" fmla="*/ 173831 w 1059656"/>
                <a:gd name="connsiteY55" fmla="*/ 471488 h 564357"/>
                <a:gd name="connsiteX56" fmla="*/ 130968 w 1059656"/>
                <a:gd name="connsiteY56" fmla="*/ 473869 h 564357"/>
                <a:gd name="connsiteX57" fmla="*/ 95250 w 1059656"/>
                <a:gd name="connsiteY57" fmla="*/ 488157 h 564357"/>
                <a:gd name="connsiteX58" fmla="*/ 71437 w 1059656"/>
                <a:gd name="connsiteY58" fmla="*/ 492919 h 564357"/>
                <a:gd name="connsiteX59" fmla="*/ 50006 w 1059656"/>
                <a:gd name="connsiteY59" fmla="*/ 504825 h 564357"/>
                <a:gd name="connsiteX60" fmla="*/ 30956 w 1059656"/>
                <a:gd name="connsiteY60" fmla="*/ 521494 h 564357"/>
                <a:gd name="connsiteX61" fmla="*/ 7143 w 1059656"/>
                <a:gd name="connsiteY61" fmla="*/ 528638 h 564357"/>
                <a:gd name="connsiteX62" fmla="*/ 0 w 1059656"/>
                <a:gd name="connsiteY62" fmla="*/ 533400 h 564357"/>
                <a:gd name="connsiteX63" fmla="*/ 38100 w 1059656"/>
                <a:gd name="connsiteY63" fmla="*/ 561975 h 564357"/>
                <a:gd name="connsiteX64" fmla="*/ 80962 w 1059656"/>
                <a:gd name="connsiteY64" fmla="*/ 559594 h 564357"/>
                <a:gd name="connsiteX65" fmla="*/ 116681 w 1059656"/>
                <a:gd name="connsiteY65" fmla="*/ 526257 h 564357"/>
                <a:gd name="connsiteX66" fmla="*/ 171450 w 1059656"/>
                <a:gd name="connsiteY66" fmla="*/ 500063 h 564357"/>
                <a:gd name="connsiteX67" fmla="*/ 278606 w 1059656"/>
                <a:gd name="connsiteY67" fmla="*/ 492919 h 564357"/>
                <a:gd name="connsiteX68" fmla="*/ 292893 w 1059656"/>
                <a:gd name="connsiteY68" fmla="*/ 481013 h 564357"/>
                <a:gd name="connsiteX69" fmla="*/ 357187 w 1059656"/>
                <a:gd name="connsiteY69" fmla="*/ 481013 h 564357"/>
                <a:gd name="connsiteX70" fmla="*/ 433387 w 1059656"/>
                <a:gd name="connsiteY70" fmla="*/ 388144 h 564357"/>
                <a:gd name="connsiteX71" fmla="*/ 559593 w 1059656"/>
                <a:gd name="connsiteY71" fmla="*/ 328613 h 564357"/>
                <a:gd name="connsiteX72" fmla="*/ 619125 w 1059656"/>
                <a:gd name="connsiteY72" fmla="*/ 321469 h 564357"/>
                <a:gd name="connsiteX73" fmla="*/ 654843 w 1059656"/>
                <a:gd name="connsiteY73" fmla="*/ 295275 h 564357"/>
                <a:gd name="connsiteX74" fmla="*/ 716756 w 1059656"/>
                <a:gd name="connsiteY74" fmla="*/ 292894 h 564357"/>
                <a:gd name="connsiteX75" fmla="*/ 771525 w 1059656"/>
                <a:gd name="connsiteY75" fmla="*/ 285750 h 564357"/>
                <a:gd name="connsiteX76" fmla="*/ 781050 w 1059656"/>
                <a:gd name="connsiteY76" fmla="*/ 323850 h 564357"/>
                <a:gd name="connsiteX77" fmla="*/ 773906 w 1059656"/>
                <a:gd name="connsiteY77" fmla="*/ 445294 h 564357"/>
                <a:gd name="connsiteX78" fmla="*/ 707231 w 1059656"/>
                <a:gd name="connsiteY78" fmla="*/ 461963 h 564357"/>
                <a:gd name="connsiteX79" fmla="*/ 652461 w 1059656"/>
                <a:gd name="connsiteY79" fmla="*/ 509587 h 564357"/>
                <a:gd name="connsiteX80" fmla="*/ 654844 w 1059656"/>
                <a:gd name="connsiteY80" fmla="*/ 528638 h 564357"/>
                <a:gd name="connsiteX81" fmla="*/ 697706 w 1059656"/>
                <a:gd name="connsiteY81"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35818 w 1059656"/>
                <a:gd name="connsiteY25" fmla="*/ 52388 h 564357"/>
                <a:gd name="connsiteX26" fmla="*/ 833437 w 1059656"/>
                <a:gd name="connsiteY26" fmla="*/ 0 h 564357"/>
                <a:gd name="connsiteX27" fmla="*/ 809625 w 1059656"/>
                <a:gd name="connsiteY27" fmla="*/ 33338 h 564357"/>
                <a:gd name="connsiteX28" fmla="*/ 797718 w 1059656"/>
                <a:gd name="connsiteY28" fmla="*/ 50007 h 564357"/>
                <a:gd name="connsiteX29" fmla="*/ 757237 w 1059656"/>
                <a:gd name="connsiteY29" fmla="*/ 45244 h 564357"/>
                <a:gd name="connsiteX30" fmla="*/ 735806 w 1059656"/>
                <a:gd name="connsiteY30" fmla="*/ 50007 h 564357"/>
                <a:gd name="connsiteX31" fmla="*/ 719137 w 1059656"/>
                <a:gd name="connsiteY31" fmla="*/ 78582 h 564357"/>
                <a:gd name="connsiteX32" fmla="*/ 723900 w 1059656"/>
                <a:gd name="connsiteY32" fmla="*/ 97632 h 564357"/>
                <a:gd name="connsiteX33" fmla="*/ 707231 w 1059656"/>
                <a:gd name="connsiteY33" fmla="*/ 111919 h 564357"/>
                <a:gd name="connsiteX34" fmla="*/ 631031 w 1059656"/>
                <a:gd name="connsiteY34" fmla="*/ 114300 h 564357"/>
                <a:gd name="connsiteX35" fmla="*/ 597693 w 1059656"/>
                <a:gd name="connsiteY35" fmla="*/ 100013 h 564357"/>
                <a:gd name="connsiteX36" fmla="*/ 569118 w 1059656"/>
                <a:gd name="connsiteY36" fmla="*/ 71438 h 564357"/>
                <a:gd name="connsiteX37" fmla="*/ 531018 w 1059656"/>
                <a:gd name="connsiteY37" fmla="*/ 66675 h 564357"/>
                <a:gd name="connsiteX38" fmla="*/ 497681 w 1059656"/>
                <a:gd name="connsiteY38" fmla="*/ 90488 h 564357"/>
                <a:gd name="connsiteX39" fmla="*/ 481012 w 1059656"/>
                <a:gd name="connsiteY39" fmla="*/ 109538 h 564357"/>
                <a:gd name="connsiteX40" fmla="*/ 466725 w 1059656"/>
                <a:gd name="connsiteY40" fmla="*/ 126207 h 564357"/>
                <a:gd name="connsiteX41" fmla="*/ 450056 w 1059656"/>
                <a:gd name="connsiteY41" fmla="*/ 145257 h 564357"/>
                <a:gd name="connsiteX42" fmla="*/ 454818 w 1059656"/>
                <a:gd name="connsiteY42" fmla="*/ 171450 h 564357"/>
                <a:gd name="connsiteX43" fmla="*/ 423862 w 1059656"/>
                <a:gd name="connsiteY43" fmla="*/ 195263 h 564357"/>
                <a:gd name="connsiteX44" fmla="*/ 371475 w 1059656"/>
                <a:gd name="connsiteY44" fmla="*/ 204788 h 564357"/>
                <a:gd name="connsiteX45" fmla="*/ 330993 w 1059656"/>
                <a:gd name="connsiteY45" fmla="*/ 223838 h 564357"/>
                <a:gd name="connsiteX46" fmla="*/ 321468 w 1059656"/>
                <a:gd name="connsiteY46" fmla="*/ 261938 h 564357"/>
                <a:gd name="connsiteX47" fmla="*/ 319087 w 1059656"/>
                <a:gd name="connsiteY47" fmla="*/ 269082 h 564357"/>
                <a:gd name="connsiteX48" fmla="*/ 266700 w 1059656"/>
                <a:gd name="connsiteY48" fmla="*/ 285750 h 564357"/>
                <a:gd name="connsiteX49" fmla="*/ 180975 w 1059656"/>
                <a:gd name="connsiteY49" fmla="*/ 316707 h 564357"/>
                <a:gd name="connsiteX50" fmla="*/ 157162 w 1059656"/>
                <a:gd name="connsiteY50" fmla="*/ 309563 h 564357"/>
                <a:gd name="connsiteX51" fmla="*/ 128587 w 1059656"/>
                <a:gd name="connsiteY51" fmla="*/ 300038 h 564357"/>
                <a:gd name="connsiteX52" fmla="*/ 130968 w 1059656"/>
                <a:gd name="connsiteY52" fmla="*/ 359569 h 564357"/>
                <a:gd name="connsiteX53" fmla="*/ 169068 w 1059656"/>
                <a:gd name="connsiteY53" fmla="*/ 388144 h 564357"/>
                <a:gd name="connsiteX54" fmla="*/ 185737 w 1059656"/>
                <a:gd name="connsiteY54" fmla="*/ 411957 h 564357"/>
                <a:gd name="connsiteX55" fmla="*/ 180975 w 1059656"/>
                <a:gd name="connsiteY55" fmla="*/ 442913 h 564357"/>
                <a:gd name="connsiteX56" fmla="*/ 173831 w 1059656"/>
                <a:gd name="connsiteY56" fmla="*/ 471488 h 564357"/>
                <a:gd name="connsiteX57" fmla="*/ 130968 w 1059656"/>
                <a:gd name="connsiteY57" fmla="*/ 473869 h 564357"/>
                <a:gd name="connsiteX58" fmla="*/ 95250 w 1059656"/>
                <a:gd name="connsiteY58" fmla="*/ 488157 h 564357"/>
                <a:gd name="connsiteX59" fmla="*/ 71437 w 1059656"/>
                <a:gd name="connsiteY59" fmla="*/ 492919 h 564357"/>
                <a:gd name="connsiteX60" fmla="*/ 50006 w 1059656"/>
                <a:gd name="connsiteY60" fmla="*/ 504825 h 564357"/>
                <a:gd name="connsiteX61" fmla="*/ 30956 w 1059656"/>
                <a:gd name="connsiteY61" fmla="*/ 521494 h 564357"/>
                <a:gd name="connsiteX62" fmla="*/ 7143 w 1059656"/>
                <a:gd name="connsiteY62" fmla="*/ 528638 h 564357"/>
                <a:gd name="connsiteX63" fmla="*/ 0 w 1059656"/>
                <a:gd name="connsiteY63" fmla="*/ 533400 h 564357"/>
                <a:gd name="connsiteX64" fmla="*/ 38100 w 1059656"/>
                <a:gd name="connsiteY64" fmla="*/ 561975 h 564357"/>
                <a:gd name="connsiteX65" fmla="*/ 80962 w 1059656"/>
                <a:gd name="connsiteY65" fmla="*/ 559594 h 564357"/>
                <a:gd name="connsiteX66" fmla="*/ 116681 w 1059656"/>
                <a:gd name="connsiteY66" fmla="*/ 526257 h 564357"/>
                <a:gd name="connsiteX67" fmla="*/ 171450 w 1059656"/>
                <a:gd name="connsiteY67" fmla="*/ 500063 h 564357"/>
                <a:gd name="connsiteX68" fmla="*/ 278606 w 1059656"/>
                <a:gd name="connsiteY68" fmla="*/ 492919 h 564357"/>
                <a:gd name="connsiteX69" fmla="*/ 292893 w 1059656"/>
                <a:gd name="connsiteY69" fmla="*/ 481013 h 564357"/>
                <a:gd name="connsiteX70" fmla="*/ 357187 w 1059656"/>
                <a:gd name="connsiteY70" fmla="*/ 481013 h 564357"/>
                <a:gd name="connsiteX71" fmla="*/ 433387 w 1059656"/>
                <a:gd name="connsiteY71" fmla="*/ 388144 h 564357"/>
                <a:gd name="connsiteX72" fmla="*/ 559593 w 1059656"/>
                <a:gd name="connsiteY72" fmla="*/ 328613 h 564357"/>
                <a:gd name="connsiteX73" fmla="*/ 619125 w 1059656"/>
                <a:gd name="connsiteY73" fmla="*/ 321469 h 564357"/>
                <a:gd name="connsiteX74" fmla="*/ 654843 w 1059656"/>
                <a:gd name="connsiteY74" fmla="*/ 295275 h 564357"/>
                <a:gd name="connsiteX75" fmla="*/ 716756 w 1059656"/>
                <a:gd name="connsiteY75" fmla="*/ 292894 h 564357"/>
                <a:gd name="connsiteX76" fmla="*/ 771525 w 1059656"/>
                <a:gd name="connsiteY76" fmla="*/ 285750 h 564357"/>
                <a:gd name="connsiteX77" fmla="*/ 781050 w 1059656"/>
                <a:gd name="connsiteY77" fmla="*/ 323850 h 564357"/>
                <a:gd name="connsiteX78" fmla="*/ 773906 w 1059656"/>
                <a:gd name="connsiteY78" fmla="*/ 445294 h 564357"/>
                <a:gd name="connsiteX79" fmla="*/ 707231 w 1059656"/>
                <a:gd name="connsiteY79" fmla="*/ 461963 h 564357"/>
                <a:gd name="connsiteX80" fmla="*/ 652461 w 1059656"/>
                <a:gd name="connsiteY80" fmla="*/ 509587 h 564357"/>
                <a:gd name="connsiteX81" fmla="*/ 654844 w 1059656"/>
                <a:gd name="connsiteY81" fmla="*/ 528638 h 564357"/>
                <a:gd name="connsiteX82" fmla="*/ 697706 w 1059656"/>
                <a:gd name="connsiteY82"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57249 w 1059656"/>
                <a:gd name="connsiteY25" fmla="*/ 28576 h 564357"/>
                <a:gd name="connsiteX26" fmla="*/ 833437 w 1059656"/>
                <a:gd name="connsiteY26" fmla="*/ 0 h 564357"/>
                <a:gd name="connsiteX27" fmla="*/ 809625 w 1059656"/>
                <a:gd name="connsiteY27" fmla="*/ 33338 h 564357"/>
                <a:gd name="connsiteX28" fmla="*/ 797718 w 1059656"/>
                <a:gd name="connsiteY28" fmla="*/ 50007 h 564357"/>
                <a:gd name="connsiteX29" fmla="*/ 757237 w 1059656"/>
                <a:gd name="connsiteY29" fmla="*/ 45244 h 564357"/>
                <a:gd name="connsiteX30" fmla="*/ 735806 w 1059656"/>
                <a:gd name="connsiteY30" fmla="*/ 50007 h 564357"/>
                <a:gd name="connsiteX31" fmla="*/ 719137 w 1059656"/>
                <a:gd name="connsiteY31" fmla="*/ 78582 h 564357"/>
                <a:gd name="connsiteX32" fmla="*/ 723900 w 1059656"/>
                <a:gd name="connsiteY32" fmla="*/ 97632 h 564357"/>
                <a:gd name="connsiteX33" fmla="*/ 707231 w 1059656"/>
                <a:gd name="connsiteY33" fmla="*/ 111919 h 564357"/>
                <a:gd name="connsiteX34" fmla="*/ 631031 w 1059656"/>
                <a:gd name="connsiteY34" fmla="*/ 114300 h 564357"/>
                <a:gd name="connsiteX35" fmla="*/ 597693 w 1059656"/>
                <a:gd name="connsiteY35" fmla="*/ 100013 h 564357"/>
                <a:gd name="connsiteX36" fmla="*/ 569118 w 1059656"/>
                <a:gd name="connsiteY36" fmla="*/ 71438 h 564357"/>
                <a:gd name="connsiteX37" fmla="*/ 531018 w 1059656"/>
                <a:gd name="connsiteY37" fmla="*/ 66675 h 564357"/>
                <a:gd name="connsiteX38" fmla="*/ 497681 w 1059656"/>
                <a:gd name="connsiteY38" fmla="*/ 90488 h 564357"/>
                <a:gd name="connsiteX39" fmla="*/ 481012 w 1059656"/>
                <a:gd name="connsiteY39" fmla="*/ 109538 h 564357"/>
                <a:gd name="connsiteX40" fmla="*/ 466725 w 1059656"/>
                <a:gd name="connsiteY40" fmla="*/ 126207 h 564357"/>
                <a:gd name="connsiteX41" fmla="*/ 450056 w 1059656"/>
                <a:gd name="connsiteY41" fmla="*/ 145257 h 564357"/>
                <a:gd name="connsiteX42" fmla="*/ 454818 w 1059656"/>
                <a:gd name="connsiteY42" fmla="*/ 171450 h 564357"/>
                <a:gd name="connsiteX43" fmla="*/ 423862 w 1059656"/>
                <a:gd name="connsiteY43" fmla="*/ 195263 h 564357"/>
                <a:gd name="connsiteX44" fmla="*/ 371475 w 1059656"/>
                <a:gd name="connsiteY44" fmla="*/ 204788 h 564357"/>
                <a:gd name="connsiteX45" fmla="*/ 330993 w 1059656"/>
                <a:gd name="connsiteY45" fmla="*/ 223838 h 564357"/>
                <a:gd name="connsiteX46" fmla="*/ 321468 w 1059656"/>
                <a:gd name="connsiteY46" fmla="*/ 261938 h 564357"/>
                <a:gd name="connsiteX47" fmla="*/ 319087 w 1059656"/>
                <a:gd name="connsiteY47" fmla="*/ 269082 h 564357"/>
                <a:gd name="connsiteX48" fmla="*/ 266700 w 1059656"/>
                <a:gd name="connsiteY48" fmla="*/ 285750 h 564357"/>
                <a:gd name="connsiteX49" fmla="*/ 180975 w 1059656"/>
                <a:gd name="connsiteY49" fmla="*/ 316707 h 564357"/>
                <a:gd name="connsiteX50" fmla="*/ 157162 w 1059656"/>
                <a:gd name="connsiteY50" fmla="*/ 309563 h 564357"/>
                <a:gd name="connsiteX51" fmla="*/ 128587 w 1059656"/>
                <a:gd name="connsiteY51" fmla="*/ 300038 h 564357"/>
                <a:gd name="connsiteX52" fmla="*/ 130968 w 1059656"/>
                <a:gd name="connsiteY52" fmla="*/ 359569 h 564357"/>
                <a:gd name="connsiteX53" fmla="*/ 169068 w 1059656"/>
                <a:gd name="connsiteY53" fmla="*/ 388144 h 564357"/>
                <a:gd name="connsiteX54" fmla="*/ 185737 w 1059656"/>
                <a:gd name="connsiteY54" fmla="*/ 411957 h 564357"/>
                <a:gd name="connsiteX55" fmla="*/ 180975 w 1059656"/>
                <a:gd name="connsiteY55" fmla="*/ 442913 h 564357"/>
                <a:gd name="connsiteX56" fmla="*/ 173831 w 1059656"/>
                <a:gd name="connsiteY56" fmla="*/ 471488 h 564357"/>
                <a:gd name="connsiteX57" fmla="*/ 130968 w 1059656"/>
                <a:gd name="connsiteY57" fmla="*/ 473869 h 564357"/>
                <a:gd name="connsiteX58" fmla="*/ 95250 w 1059656"/>
                <a:gd name="connsiteY58" fmla="*/ 488157 h 564357"/>
                <a:gd name="connsiteX59" fmla="*/ 71437 w 1059656"/>
                <a:gd name="connsiteY59" fmla="*/ 492919 h 564357"/>
                <a:gd name="connsiteX60" fmla="*/ 50006 w 1059656"/>
                <a:gd name="connsiteY60" fmla="*/ 504825 h 564357"/>
                <a:gd name="connsiteX61" fmla="*/ 30956 w 1059656"/>
                <a:gd name="connsiteY61" fmla="*/ 521494 h 564357"/>
                <a:gd name="connsiteX62" fmla="*/ 7143 w 1059656"/>
                <a:gd name="connsiteY62" fmla="*/ 528638 h 564357"/>
                <a:gd name="connsiteX63" fmla="*/ 0 w 1059656"/>
                <a:gd name="connsiteY63" fmla="*/ 533400 h 564357"/>
                <a:gd name="connsiteX64" fmla="*/ 38100 w 1059656"/>
                <a:gd name="connsiteY64" fmla="*/ 561975 h 564357"/>
                <a:gd name="connsiteX65" fmla="*/ 80962 w 1059656"/>
                <a:gd name="connsiteY65" fmla="*/ 559594 h 564357"/>
                <a:gd name="connsiteX66" fmla="*/ 116681 w 1059656"/>
                <a:gd name="connsiteY66" fmla="*/ 526257 h 564357"/>
                <a:gd name="connsiteX67" fmla="*/ 171450 w 1059656"/>
                <a:gd name="connsiteY67" fmla="*/ 500063 h 564357"/>
                <a:gd name="connsiteX68" fmla="*/ 278606 w 1059656"/>
                <a:gd name="connsiteY68" fmla="*/ 492919 h 564357"/>
                <a:gd name="connsiteX69" fmla="*/ 292893 w 1059656"/>
                <a:gd name="connsiteY69" fmla="*/ 481013 h 564357"/>
                <a:gd name="connsiteX70" fmla="*/ 357187 w 1059656"/>
                <a:gd name="connsiteY70" fmla="*/ 481013 h 564357"/>
                <a:gd name="connsiteX71" fmla="*/ 433387 w 1059656"/>
                <a:gd name="connsiteY71" fmla="*/ 388144 h 564357"/>
                <a:gd name="connsiteX72" fmla="*/ 559593 w 1059656"/>
                <a:gd name="connsiteY72" fmla="*/ 328613 h 564357"/>
                <a:gd name="connsiteX73" fmla="*/ 619125 w 1059656"/>
                <a:gd name="connsiteY73" fmla="*/ 321469 h 564357"/>
                <a:gd name="connsiteX74" fmla="*/ 654843 w 1059656"/>
                <a:gd name="connsiteY74" fmla="*/ 295275 h 564357"/>
                <a:gd name="connsiteX75" fmla="*/ 716756 w 1059656"/>
                <a:gd name="connsiteY75" fmla="*/ 292894 h 564357"/>
                <a:gd name="connsiteX76" fmla="*/ 771525 w 1059656"/>
                <a:gd name="connsiteY76" fmla="*/ 285750 h 564357"/>
                <a:gd name="connsiteX77" fmla="*/ 781050 w 1059656"/>
                <a:gd name="connsiteY77" fmla="*/ 323850 h 564357"/>
                <a:gd name="connsiteX78" fmla="*/ 773906 w 1059656"/>
                <a:gd name="connsiteY78" fmla="*/ 445294 h 564357"/>
                <a:gd name="connsiteX79" fmla="*/ 707231 w 1059656"/>
                <a:gd name="connsiteY79" fmla="*/ 461963 h 564357"/>
                <a:gd name="connsiteX80" fmla="*/ 652461 w 1059656"/>
                <a:gd name="connsiteY80" fmla="*/ 509587 h 564357"/>
                <a:gd name="connsiteX81" fmla="*/ 654844 w 1059656"/>
                <a:gd name="connsiteY81" fmla="*/ 528638 h 564357"/>
                <a:gd name="connsiteX82" fmla="*/ 697706 w 1059656"/>
                <a:gd name="connsiteY82"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45343 w 1059656"/>
                <a:gd name="connsiteY25" fmla="*/ 61913 h 564357"/>
                <a:gd name="connsiteX26" fmla="*/ 857249 w 1059656"/>
                <a:gd name="connsiteY26" fmla="*/ 28576 h 564357"/>
                <a:gd name="connsiteX27" fmla="*/ 833437 w 1059656"/>
                <a:gd name="connsiteY27" fmla="*/ 0 h 564357"/>
                <a:gd name="connsiteX28" fmla="*/ 809625 w 1059656"/>
                <a:gd name="connsiteY28" fmla="*/ 33338 h 564357"/>
                <a:gd name="connsiteX29" fmla="*/ 797718 w 1059656"/>
                <a:gd name="connsiteY29" fmla="*/ 50007 h 564357"/>
                <a:gd name="connsiteX30" fmla="*/ 757237 w 1059656"/>
                <a:gd name="connsiteY30" fmla="*/ 45244 h 564357"/>
                <a:gd name="connsiteX31" fmla="*/ 735806 w 1059656"/>
                <a:gd name="connsiteY31" fmla="*/ 50007 h 564357"/>
                <a:gd name="connsiteX32" fmla="*/ 719137 w 1059656"/>
                <a:gd name="connsiteY32" fmla="*/ 78582 h 564357"/>
                <a:gd name="connsiteX33" fmla="*/ 723900 w 1059656"/>
                <a:gd name="connsiteY33" fmla="*/ 97632 h 564357"/>
                <a:gd name="connsiteX34" fmla="*/ 707231 w 1059656"/>
                <a:gd name="connsiteY34" fmla="*/ 111919 h 564357"/>
                <a:gd name="connsiteX35" fmla="*/ 631031 w 1059656"/>
                <a:gd name="connsiteY35" fmla="*/ 114300 h 564357"/>
                <a:gd name="connsiteX36" fmla="*/ 597693 w 1059656"/>
                <a:gd name="connsiteY36" fmla="*/ 100013 h 564357"/>
                <a:gd name="connsiteX37" fmla="*/ 569118 w 1059656"/>
                <a:gd name="connsiteY37" fmla="*/ 71438 h 564357"/>
                <a:gd name="connsiteX38" fmla="*/ 531018 w 1059656"/>
                <a:gd name="connsiteY38" fmla="*/ 66675 h 564357"/>
                <a:gd name="connsiteX39" fmla="*/ 497681 w 1059656"/>
                <a:gd name="connsiteY39" fmla="*/ 90488 h 564357"/>
                <a:gd name="connsiteX40" fmla="*/ 481012 w 1059656"/>
                <a:gd name="connsiteY40" fmla="*/ 109538 h 564357"/>
                <a:gd name="connsiteX41" fmla="*/ 466725 w 1059656"/>
                <a:gd name="connsiteY41" fmla="*/ 126207 h 564357"/>
                <a:gd name="connsiteX42" fmla="*/ 450056 w 1059656"/>
                <a:gd name="connsiteY42" fmla="*/ 145257 h 564357"/>
                <a:gd name="connsiteX43" fmla="*/ 454818 w 1059656"/>
                <a:gd name="connsiteY43" fmla="*/ 171450 h 564357"/>
                <a:gd name="connsiteX44" fmla="*/ 423862 w 1059656"/>
                <a:gd name="connsiteY44" fmla="*/ 195263 h 564357"/>
                <a:gd name="connsiteX45" fmla="*/ 371475 w 1059656"/>
                <a:gd name="connsiteY45" fmla="*/ 204788 h 564357"/>
                <a:gd name="connsiteX46" fmla="*/ 330993 w 1059656"/>
                <a:gd name="connsiteY46" fmla="*/ 223838 h 564357"/>
                <a:gd name="connsiteX47" fmla="*/ 321468 w 1059656"/>
                <a:gd name="connsiteY47" fmla="*/ 261938 h 564357"/>
                <a:gd name="connsiteX48" fmla="*/ 319087 w 1059656"/>
                <a:gd name="connsiteY48" fmla="*/ 269082 h 564357"/>
                <a:gd name="connsiteX49" fmla="*/ 266700 w 1059656"/>
                <a:gd name="connsiteY49" fmla="*/ 285750 h 564357"/>
                <a:gd name="connsiteX50" fmla="*/ 180975 w 1059656"/>
                <a:gd name="connsiteY50" fmla="*/ 316707 h 564357"/>
                <a:gd name="connsiteX51" fmla="*/ 157162 w 1059656"/>
                <a:gd name="connsiteY51" fmla="*/ 309563 h 564357"/>
                <a:gd name="connsiteX52" fmla="*/ 128587 w 1059656"/>
                <a:gd name="connsiteY52" fmla="*/ 300038 h 564357"/>
                <a:gd name="connsiteX53" fmla="*/ 130968 w 1059656"/>
                <a:gd name="connsiteY53" fmla="*/ 359569 h 564357"/>
                <a:gd name="connsiteX54" fmla="*/ 169068 w 1059656"/>
                <a:gd name="connsiteY54" fmla="*/ 388144 h 564357"/>
                <a:gd name="connsiteX55" fmla="*/ 185737 w 1059656"/>
                <a:gd name="connsiteY55" fmla="*/ 411957 h 564357"/>
                <a:gd name="connsiteX56" fmla="*/ 180975 w 1059656"/>
                <a:gd name="connsiteY56" fmla="*/ 442913 h 564357"/>
                <a:gd name="connsiteX57" fmla="*/ 173831 w 1059656"/>
                <a:gd name="connsiteY57" fmla="*/ 471488 h 564357"/>
                <a:gd name="connsiteX58" fmla="*/ 130968 w 1059656"/>
                <a:gd name="connsiteY58" fmla="*/ 473869 h 564357"/>
                <a:gd name="connsiteX59" fmla="*/ 95250 w 1059656"/>
                <a:gd name="connsiteY59" fmla="*/ 488157 h 564357"/>
                <a:gd name="connsiteX60" fmla="*/ 71437 w 1059656"/>
                <a:gd name="connsiteY60" fmla="*/ 492919 h 564357"/>
                <a:gd name="connsiteX61" fmla="*/ 50006 w 1059656"/>
                <a:gd name="connsiteY61" fmla="*/ 504825 h 564357"/>
                <a:gd name="connsiteX62" fmla="*/ 30956 w 1059656"/>
                <a:gd name="connsiteY62" fmla="*/ 521494 h 564357"/>
                <a:gd name="connsiteX63" fmla="*/ 7143 w 1059656"/>
                <a:gd name="connsiteY63" fmla="*/ 528638 h 564357"/>
                <a:gd name="connsiteX64" fmla="*/ 0 w 1059656"/>
                <a:gd name="connsiteY64" fmla="*/ 533400 h 564357"/>
                <a:gd name="connsiteX65" fmla="*/ 38100 w 1059656"/>
                <a:gd name="connsiteY65" fmla="*/ 561975 h 564357"/>
                <a:gd name="connsiteX66" fmla="*/ 80962 w 1059656"/>
                <a:gd name="connsiteY66" fmla="*/ 559594 h 564357"/>
                <a:gd name="connsiteX67" fmla="*/ 116681 w 1059656"/>
                <a:gd name="connsiteY67" fmla="*/ 526257 h 564357"/>
                <a:gd name="connsiteX68" fmla="*/ 171450 w 1059656"/>
                <a:gd name="connsiteY68" fmla="*/ 500063 h 564357"/>
                <a:gd name="connsiteX69" fmla="*/ 278606 w 1059656"/>
                <a:gd name="connsiteY69" fmla="*/ 492919 h 564357"/>
                <a:gd name="connsiteX70" fmla="*/ 292893 w 1059656"/>
                <a:gd name="connsiteY70" fmla="*/ 481013 h 564357"/>
                <a:gd name="connsiteX71" fmla="*/ 357187 w 1059656"/>
                <a:gd name="connsiteY71" fmla="*/ 481013 h 564357"/>
                <a:gd name="connsiteX72" fmla="*/ 433387 w 1059656"/>
                <a:gd name="connsiteY72" fmla="*/ 388144 h 564357"/>
                <a:gd name="connsiteX73" fmla="*/ 559593 w 1059656"/>
                <a:gd name="connsiteY73" fmla="*/ 328613 h 564357"/>
                <a:gd name="connsiteX74" fmla="*/ 619125 w 1059656"/>
                <a:gd name="connsiteY74" fmla="*/ 321469 h 564357"/>
                <a:gd name="connsiteX75" fmla="*/ 654843 w 1059656"/>
                <a:gd name="connsiteY75" fmla="*/ 295275 h 564357"/>
                <a:gd name="connsiteX76" fmla="*/ 716756 w 1059656"/>
                <a:gd name="connsiteY76" fmla="*/ 292894 h 564357"/>
                <a:gd name="connsiteX77" fmla="*/ 771525 w 1059656"/>
                <a:gd name="connsiteY77" fmla="*/ 285750 h 564357"/>
                <a:gd name="connsiteX78" fmla="*/ 781050 w 1059656"/>
                <a:gd name="connsiteY78" fmla="*/ 323850 h 564357"/>
                <a:gd name="connsiteX79" fmla="*/ 773906 w 1059656"/>
                <a:gd name="connsiteY79" fmla="*/ 445294 h 564357"/>
                <a:gd name="connsiteX80" fmla="*/ 707231 w 1059656"/>
                <a:gd name="connsiteY80" fmla="*/ 461963 h 564357"/>
                <a:gd name="connsiteX81" fmla="*/ 652461 w 1059656"/>
                <a:gd name="connsiteY81" fmla="*/ 509587 h 564357"/>
                <a:gd name="connsiteX82" fmla="*/ 654844 w 1059656"/>
                <a:gd name="connsiteY82" fmla="*/ 528638 h 564357"/>
                <a:gd name="connsiteX83" fmla="*/ 697706 w 1059656"/>
                <a:gd name="connsiteY83"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40581 w 1059656"/>
                <a:gd name="connsiteY24" fmla="*/ 95250 h 564357"/>
                <a:gd name="connsiteX25" fmla="*/ 859630 w 1059656"/>
                <a:gd name="connsiteY25" fmla="*/ 66676 h 564357"/>
                <a:gd name="connsiteX26" fmla="*/ 857249 w 1059656"/>
                <a:gd name="connsiteY26" fmla="*/ 28576 h 564357"/>
                <a:gd name="connsiteX27" fmla="*/ 833437 w 1059656"/>
                <a:gd name="connsiteY27" fmla="*/ 0 h 564357"/>
                <a:gd name="connsiteX28" fmla="*/ 809625 w 1059656"/>
                <a:gd name="connsiteY28" fmla="*/ 33338 h 564357"/>
                <a:gd name="connsiteX29" fmla="*/ 797718 w 1059656"/>
                <a:gd name="connsiteY29" fmla="*/ 50007 h 564357"/>
                <a:gd name="connsiteX30" fmla="*/ 757237 w 1059656"/>
                <a:gd name="connsiteY30" fmla="*/ 45244 h 564357"/>
                <a:gd name="connsiteX31" fmla="*/ 735806 w 1059656"/>
                <a:gd name="connsiteY31" fmla="*/ 50007 h 564357"/>
                <a:gd name="connsiteX32" fmla="*/ 719137 w 1059656"/>
                <a:gd name="connsiteY32" fmla="*/ 78582 h 564357"/>
                <a:gd name="connsiteX33" fmla="*/ 723900 w 1059656"/>
                <a:gd name="connsiteY33" fmla="*/ 97632 h 564357"/>
                <a:gd name="connsiteX34" fmla="*/ 707231 w 1059656"/>
                <a:gd name="connsiteY34" fmla="*/ 111919 h 564357"/>
                <a:gd name="connsiteX35" fmla="*/ 631031 w 1059656"/>
                <a:gd name="connsiteY35" fmla="*/ 114300 h 564357"/>
                <a:gd name="connsiteX36" fmla="*/ 597693 w 1059656"/>
                <a:gd name="connsiteY36" fmla="*/ 100013 h 564357"/>
                <a:gd name="connsiteX37" fmla="*/ 569118 w 1059656"/>
                <a:gd name="connsiteY37" fmla="*/ 71438 h 564357"/>
                <a:gd name="connsiteX38" fmla="*/ 531018 w 1059656"/>
                <a:gd name="connsiteY38" fmla="*/ 66675 h 564357"/>
                <a:gd name="connsiteX39" fmla="*/ 497681 w 1059656"/>
                <a:gd name="connsiteY39" fmla="*/ 90488 h 564357"/>
                <a:gd name="connsiteX40" fmla="*/ 481012 w 1059656"/>
                <a:gd name="connsiteY40" fmla="*/ 109538 h 564357"/>
                <a:gd name="connsiteX41" fmla="*/ 466725 w 1059656"/>
                <a:gd name="connsiteY41" fmla="*/ 126207 h 564357"/>
                <a:gd name="connsiteX42" fmla="*/ 450056 w 1059656"/>
                <a:gd name="connsiteY42" fmla="*/ 145257 h 564357"/>
                <a:gd name="connsiteX43" fmla="*/ 454818 w 1059656"/>
                <a:gd name="connsiteY43" fmla="*/ 171450 h 564357"/>
                <a:gd name="connsiteX44" fmla="*/ 423862 w 1059656"/>
                <a:gd name="connsiteY44" fmla="*/ 195263 h 564357"/>
                <a:gd name="connsiteX45" fmla="*/ 371475 w 1059656"/>
                <a:gd name="connsiteY45" fmla="*/ 204788 h 564357"/>
                <a:gd name="connsiteX46" fmla="*/ 330993 w 1059656"/>
                <a:gd name="connsiteY46" fmla="*/ 223838 h 564357"/>
                <a:gd name="connsiteX47" fmla="*/ 321468 w 1059656"/>
                <a:gd name="connsiteY47" fmla="*/ 261938 h 564357"/>
                <a:gd name="connsiteX48" fmla="*/ 319087 w 1059656"/>
                <a:gd name="connsiteY48" fmla="*/ 269082 h 564357"/>
                <a:gd name="connsiteX49" fmla="*/ 266700 w 1059656"/>
                <a:gd name="connsiteY49" fmla="*/ 285750 h 564357"/>
                <a:gd name="connsiteX50" fmla="*/ 180975 w 1059656"/>
                <a:gd name="connsiteY50" fmla="*/ 316707 h 564357"/>
                <a:gd name="connsiteX51" fmla="*/ 157162 w 1059656"/>
                <a:gd name="connsiteY51" fmla="*/ 309563 h 564357"/>
                <a:gd name="connsiteX52" fmla="*/ 128587 w 1059656"/>
                <a:gd name="connsiteY52" fmla="*/ 300038 h 564357"/>
                <a:gd name="connsiteX53" fmla="*/ 130968 w 1059656"/>
                <a:gd name="connsiteY53" fmla="*/ 359569 h 564357"/>
                <a:gd name="connsiteX54" fmla="*/ 169068 w 1059656"/>
                <a:gd name="connsiteY54" fmla="*/ 388144 h 564357"/>
                <a:gd name="connsiteX55" fmla="*/ 185737 w 1059656"/>
                <a:gd name="connsiteY55" fmla="*/ 411957 h 564357"/>
                <a:gd name="connsiteX56" fmla="*/ 180975 w 1059656"/>
                <a:gd name="connsiteY56" fmla="*/ 442913 h 564357"/>
                <a:gd name="connsiteX57" fmla="*/ 173831 w 1059656"/>
                <a:gd name="connsiteY57" fmla="*/ 471488 h 564357"/>
                <a:gd name="connsiteX58" fmla="*/ 130968 w 1059656"/>
                <a:gd name="connsiteY58" fmla="*/ 473869 h 564357"/>
                <a:gd name="connsiteX59" fmla="*/ 95250 w 1059656"/>
                <a:gd name="connsiteY59" fmla="*/ 488157 h 564357"/>
                <a:gd name="connsiteX60" fmla="*/ 71437 w 1059656"/>
                <a:gd name="connsiteY60" fmla="*/ 492919 h 564357"/>
                <a:gd name="connsiteX61" fmla="*/ 50006 w 1059656"/>
                <a:gd name="connsiteY61" fmla="*/ 504825 h 564357"/>
                <a:gd name="connsiteX62" fmla="*/ 30956 w 1059656"/>
                <a:gd name="connsiteY62" fmla="*/ 521494 h 564357"/>
                <a:gd name="connsiteX63" fmla="*/ 7143 w 1059656"/>
                <a:gd name="connsiteY63" fmla="*/ 528638 h 564357"/>
                <a:gd name="connsiteX64" fmla="*/ 0 w 1059656"/>
                <a:gd name="connsiteY64" fmla="*/ 533400 h 564357"/>
                <a:gd name="connsiteX65" fmla="*/ 38100 w 1059656"/>
                <a:gd name="connsiteY65" fmla="*/ 561975 h 564357"/>
                <a:gd name="connsiteX66" fmla="*/ 80962 w 1059656"/>
                <a:gd name="connsiteY66" fmla="*/ 559594 h 564357"/>
                <a:gd name="connsiteX67" fmla="*/ 116681 w 1059656"/>
                <a:gd name="connsiteY67" fmla="*/ 526257 h 564357"/>
                <a:gd name="connsiteX68" fmla="*/ 171450 w 1059656"/>
                <a:gd name="connsiteY68" fmla="*/ 500063 h 564357"/>
                <a:gd name="connsiteX69" fmla="*/ 278606 w 1059656"/>
                <a:gd name="connsiteY69" fmla="*/ 492919 h 564357"/>
                <a:gd name="connsiteX70" fmla="*/ 292893 w 1059656"/>
                <a:gd name="connsiteY70" fmla="*/ 481013 h 564357"/>
                <a:gd name="connsiteX71" fmla="*/ 357187 w 1059656"/>
                <a:gd name="connsiteY71" fmla="*/ 481013 h 564357"/>
                <a:gd name="connsiteX72" fmla="*/ 433387 w 1059656"/>
                <a:gd name="connsiteY72" fmla="*/ 388144 h 564357"/>
                <a:gd name="connsiteX73" fmla="*/ 559593 w 1059656"/>
                <a:gd name="connsiteY73" fmla="*/ 328613 h 564357"/>
                <a:gd name="connsiteX74" fmla="*/ 619125 w 1059656"/>
                <a:gd name="connsiteY74" fmla="*/ 321469 h 564357"/>
                <a:gd name="connsiteX75" fmla="*/ 654843 w 1059656"/>
                <a:gd name="connsiteY75" fmla="*/ 295275 h 564357"/>
                <a:gd name="connsiteX76" fmla="*/ 716756 w 1059656"/>
                <a:gd name="connsiteY76" fmla="*/ 292894 h 564357"/>
                <a:gd name="connsiteX77" fmla="*/ 771525 w 1059656"/>
                <a:gd name="connsiteY77" fmla="*/ 285750 h 564357"/>
                <a:gd name="connsiteX78" fmla="*/ 781050 w 1059656"/>
                <a:gd name="connsiteY78" fmla="*/ 323850 h 564357"/>
                <a:gd name="connsiteX79" fmla="*/ 773906 w 1059656"/>
                <a:gd name="connsiteY79" fmla="*/ 445294 h 564357"/>
                <a:gd name="connsiteX80" fmla="*/ 707231 w 1059656"/>
                <a:gd name="connsiteY80" fmla="*/ 461963 h 564357"/>
                <a:gd name="connsiteX81" fmla="*/ 652461 w 1059656"/>
                <a:gd name="connsiteY81" fmla="*/ 509587 h 564357"/>
                <a:gd name="connsiteX82" fmla="*/ 654844 w 1059656"/>
                <a:gd name="connsiteY82" fmla="*/ 528638 h 564357"/>
                <a:gd name="connsiteX83" fmla="*/ 697706 w 1059656"/>
                <a:gd name="connsiteY83" fmla="*/ 564357 h 564357"/>
                <a:gd name="connsiteX0" fmla="*/ 697706 w 1059656"/>
                <a:gd name="connsiteY0" fmla="*/ 564357 h 564357"/>
                <a:gd name="connsiteX1" fmla="*/ 778668 w 1059656"/>
                <a:gd name="connsiteY1" fmla="*/ 492919 h 564357"/>
                <a:gd name="connsiteX2" fmla="*/ 816768 w 1059656"/>
                <a:gd name="connsiteY2" fmla="*/ 473869 h 564357"/>
                <a:gd name="connsiteX3" fmla="*/ 852487 w 1059656"/>
                <a:gd name="connsiteY3" fmla="*/ 471488 h 564357"/>
                <a:gd name="connsiteX4" fmla="*/ 916781 w 1059656"/>
                <a:gd name="connsiteY4" fmla="*/ 457200 h 564357"/>
                <a:gd name="connsiteX5" fmla="*/ 950118 w 1059656"/>
                <a:gd name="connsiteY5" fmla="*/ 459582 h 564357"/>
                <a:gd name="connsiteX6" fmla="*/ 988218 w 1059656"/>
                <a:gd name="connsiteY6" fmla="*/ 476250 h 564357"/>
                <a:gd name="connsiteX7" fmla="*/ 1019175 w 1059656"/>
                <a:gd name="connsiteY7" fmla="*/ 445294 h 564357"/>
                <a:gd name="connsiteX8" fmla="*/ 992981 w 1059656"/>
                <a:gd name="connsiteY8" fmla="*/ 414338 h 564357"/>
                <a:gd name="connsiteX9" fmla="*/ 988218 w 1059656"/>
                <a:gd name="connsiteY9" fmla="*/ 383382 h 564357"/>
                <a:gd name="connsiteX10" fmla="*/ 995362 w 1059656"/>
                <a:gd name="connsiteY10" fmla="*/ 345282 h 564357"/>
                <a:gd name="connsiteX11" fmla="*/ 1023937 w 1059656"/>
                <a:gd name="connsiteY11" fmla="*/ 304800 h 564357"/>
                <a:gd name="connsiteX12" fmla="*/ 1052512 w 1059656"/>
                <a:gd name="connsiteY12" fmla="*/ 295275 h 564357"/>
                <a:gd name="connsiteX13" fmla="*/ 1059656 w 1059656"/>
                <a:gd name="connsiteY13" fmla="*/ 266700 h 564357"/>
                <a:gd name="connsiteX14" fmla="*/ 1047750 w 1059656"/>
                <a:gd name="connsiteY14" fmla="*/ 238125 h 564357"/>
                <a:gd name="connsiteX15" fmla="*/ 1019175 w 1059656"/>
                <a:gd name="connsiteY15" fmla="*/ 228600 h 564357"/>
                <a:gd name="connsiteX16" fmla="*/ 992981 w 1059656"/>
                <a:gd name="connsiteY16" fmla="*/ 235744 h 564357"/>
                <a:gd name="connsiteX17" fmla="*/ 935831 w 1059656"/>
                <a:gd name="connsiteY17" fmla="*/ 254794 h 564357"/>
                <a:gd name="connsiteX18" fmla="*/ 900112 w 1059656"/>
                <a:gd name="connsiteY18" fmla="*/ 259557 h 564357"/>
                <a:gd name="connsiteX19" fmla="*/ 878681 w 1059656"/>
                <a:gd name="connsiteY19" fmla="*/ 242888 h 564357"/>
                <a:gd name="connsiteX20" fmla="*/ 873918 w 1059656"/>
                <a:gd name="connsiteY20" fmla="*/ 228600 h 564357"/>
                <a:gd name="connsiteX21" fmla="*/ 881062 w 1059656"/>
                <a:gd name="connsiteY21" fmla="*/ 185738 h 564357"/>
                <a:gd name="connsiteX22" fmla="*/ 888206 w 1059656"/>
                <a:gd name="connsiteY22" fmla="*/ 150019 h 564357"/>
                <a:gd name="connsiteX23" fmla="*/ 871537 w 1059656"/>
                <a:gd name="connsiteY23" fmla="*/ 111919 h 564357"/>
                <a:gd name="connsiteX24" fmla="*/ 852488 w 1059656"/>
                <a:gd name="connsiteY24" fmla="*/ 92869 h 564357"/>
                <a:gd name="connsiteX25" fmla="*/ 859630 w 1059656"/>
                <a:gd name="connsiteY25" fmla="*/ 66676 h 564357"/>
                <a:gd name="connsiteX26" fmla="*/ 857249 w 1059656"/>
                <a:gd name="connsiteY26" fmla="*/ 28576 h 564357"/>
                <a:gd name="connsiteX27" fmla="*/ 833437 w 1059656"/>
                <a:gd name="connsiteY27" fmla="*/ 0 h 564357"/>
                <a:gd name="connsiteX28" fmla="*/ 809625 w 1059656"/>
                <a:gd name="connsiteY28" fmla="*/ 33338 h 564357"/>
                <a:gd name="connsiteX29" fmla="*/ 797718 w 1059656"/>
                <a:gd name="connsiteY29" fmla="*/ 50007 h 564357"/>
                <a:gd name="connsiteX30" fmla="*/ 757237 w 1059656"/>
                <a:gd name="connsiteY30" fmla="*/ 45244 h 564357"/>
                <a:gd name="connsiteX31" fmla="*/ 735806 w 1059656"/>
                <a:gd name="connsiteY31" fmla="*/ 50007 h 564357"/>
                <a:gd name="connsiteX32" fmla="*/ 719137 w 1059656"/>
                <a:gd name="connsiteY32" fmla="*/ 78582 h 564357"/>
                <a:gd name="connsiteX33" fmla="*/ 723900 w 1059656"/>
                <a:gd name="connsiteY33" fmla="*/ 97632 h 564357"/>
                <a:gd name="connsiteX34" fmla="*/ 707231 w 1059656"/>
                <a:gd name="connsiteY34" fmla="*/ 111919 h 564357"/>
                <a:gd name="connsiteX35" fmla="*/ 631031 w 1059656"/>
                <a:gd name="connsiteY35" fmla="*/ 114300 h 564357"/>
                <a:gd name="connsiteX36" fmla="*/ 597693 w 1059656"/>
                <a:gd name="connsiteY36" fmla="*/ 100013 h 564357"/>
                <a:gd name="connsiteX37" fmla="*/ 569118 w 1059656"/>
                <a:gd name="connsiteY37" fmla="*/ 71438 h 564357"/>
                <a:gd name="connsiteX38" fmla="*/ 531018 w 1059656"/>
                <a:gd name="connsiteY38" fmla="*/ 66675 h 564357"/>
                <a:gd name="connsiteX39" fmla="*/ 497681 w 1059656"/>
                <a:gd name="connsiteY39" fmla="*/ 90488 h 564357"/>
                <a:gd name="connsiteX40" fmla="*/ 481012 w 1059656"/>
                <a:gd name="connsiteY40" fmla="*/ 109538 h 564357"/>
                <a:gd name="connsiteX41" fmla="*/ 466725 w 1059656"/>
                <a:gd name="connsiteY41" fmla="*/ 126207 h 564357"/>
                <a:gd name="connsiteX42" fmla="*/ 450056 w 1059656"/>
                <a:gd name="connsiteY42" fmla="*/ 145257 h 564357"/>
                <a:gd name="connsiteX43" fmla="*/ 454818 w 1059656"/>
                <a:gd name="connsiteY43" fmla="*/ 171450 h 564357"/>
                <a:gd name="connsiteX44" fmla="*/ 423862 w 1059656"/>
                <a:gd name="connsiteY44" fmla="*/ 195263 h 564357"/>
                <a:gd name="connsiteX45" fmla="*/ 371475 w 1059656"/>
                <a:gd name="connsiteY45" fmla="*/ 204788 h 564357"/>
                <a:gd name="connsiteX46" fmla="*/ 330993 w 1059656"/>
                <a:gd name="connsiteY46" fmla="*/ 223838 h 564357"/>
                <a:gd name="connsiteX47" fmla="*/ 321468 w 1059656"/>
                <a:gd name="connsiteY47" fmla="*/ 261938 h 564357"/>
                <a:gd name="connsiteX48" fmla="*/ 319087 w 1059656"/>
                <a:gd name="connsiteY48" fmla="*/ 269082 h 564357"/>
                <a:gd name="connsiteX49" fmla="*/ 266700 w 1059656"/>
                <a:gd name="connsiteY49" fmla="*/ 285750 h 564357"/>
                <a:gd name="connsiteX50" fmla="*/ 180975 w 1059656"/>
                <a:gd name="connsiteY50" fmla="*/ 316707 h 564357"/>
                <a:gd name="connsiteX51" fmla="*/ 157162 w 1059656"/>
                <a:gd name="connsiteY51" fmla="*/ 309563 h 564357"/>
                <a:gd name="connsiteX52" fmla="*/ 128587 w 1059656"/>
                <a:gd name="connsiteY52" fmla="*/ 300038 h 564357"/>
                <a:gd name="connsiteX53" fmla="*/ 130968 w 1059656"/>
                <a:gd name="connsiteY53" fmla="*/ 359569 h 564357"/>
                <a:gd name="connsiteX54" fmla="*/ 169068 w 1059656"/>
                <a:gd name="connsiteY54" fmla="*/ 388144 h 564357"/>
                <a:gd name="connsiteX55" fmla="*/ 185737 w 1059656"/>
                <a:gd name="connsiteY55" fmla="*/ 411957 h 564357"/>
                <a:gd name="connsiteX56" fmla="*/ 180975 w 1059656"/>
                <a:gd name="connsiteY56" fmla="*/ 442913 h 564357"/>
                <a:gd name="connsiteX57" fmla="*/ 173831 w 1059656"/>
                <a:gd name="connsiteY57" fmla="*/ 471488 h 564357"/>
                <a:gd name="connsiteX58" fmla="*/ 130968 w 1059656"/>
                <a:gd name="connsiteY58" fmla="*/ 473869 h 564357"/>
                <a:gd name="connsiteX59" fmla="*/ 95250 w 1059656"/>
                <a:gd name="connsiteY59" fmla="*/ 488157 h 564357"/>
                <a:gd name="connsiteX60" fmla="*/ 71437 w 1059656"/>
                <a:gd name="connsiteY60" fmla="*/ 492919 h 564357"/>
                <a:gd name="connsiteX61" fmla="*/ 50006 w 1059656"/>
                <a:gd name="connsiteY61" fmla="*/ 504825 h 564357"/>
                <a:gd name="connsiteX62" fmla="*/ 30956 w 1059656"/>
                <a:gd name="connsiteY62" fmla="*/ 521494 h 564357"/>
                <a:gd name="connsiteX63" fmla="*/ 7143 w 1059656"/>
                <a:gd name="connsiteY63" fmla="*/ 528638 h 564357"/>
                <a:gd name="connsiteX64" fmla="*/ 0 w 1059656"/>
                <a:gd name="connsiteY64" fmla="*/ 533400 h 564357"/>
                <a:gd name="connsiteX65" fmla="*/ 38100 w 1059656"/>
                <a:gd name="connsiteY65" fmla="*/ 561975 h 564357"/>
                <a:gd name="connsiteX66" fmla="*/ 80962 w 1059656"/>
                <a:gd name="connsiteY66" fmla="*/ 559594 h 564357"/>
                <a:gd name="connsiteX67" fmla="*/ 116681 w 1059656"/>
                <a:gd name="connsiteY67" fmla="*/ 526257 h 564357"/>
                <a:gd name="connsiteX68" fmla="*/ 171450 w 1059656"/>
                <a:gd name="connsiteY68" fmla="*/ 500063 h 564357"/>
                <a:gd name="connsiteX69" fmla="*/ 278606 w 1059656"/>
                <a:gd name="connsiteY69" fmla="*/ 492919 h 564357"/>
                <a:gd name="connsiteX70" fmla="*/ 292893 w 1059656"/>
                <a:gd name="connsiteY70" fmla="*/ 481013 h 564357"/>
                <a:gd name="connsiteX71" fmla="*/ 357187 w 1059656"/>
                <a:gd name="connsiteY71" fmla="*/ 481013 h 564357"/>
                <a:gd name="connsiteX72" fmla="*/ 433387 w 1059656"/>
                <a:gd name="connsiteY72" fmla="*/ 388144 h 564357"/>
                <a:gd name="connsiteX73" fmla="*/ 559593 w 1059656"/>
                <a:gd name="connsiteY73" fmla="*/ 328613 h 564357"/>
                <a:gd name="connsiteX74" fmla="*/ 619125 w 1059656"/>
                <a:gd name="connsiteY74" fmla="*/ 321469 h 564357"/>
                <a:gd name="connsiteX75" fmla="*/ 654843 w 1059656"/>
                <a:gd name="connsiteY75" fmla="*/ 295275 h 564357"/>
                <a:gd name="connsiteX76" fmla="*/ 716756 w 1059656"/>
                <a:gd name="connsiteY76" fmla="*/ 292894 h 564357"/>
                <a:gd name="connsiteX77" fmla="*/ 771525 w 1059656"/>
                <a:gd name="connsiteY77" fmla="*/ 285750 h 564357"/>
                <a:gd name="connsiteX78" fmla="*/ 781050 w 1059656"/>
                <a:gd name="connsiteY78" fmla="*/ 323850 h 564357"/>
                <a:gd name="connsiteX79" fmla="*/ 773906 w 1059656"/>
                <a:gd name="connsiteY79" fmla="*/ 445294 h 564357"/>
                <a:gd name="connsiteX80" fmla="*/ 707231 w 1059656"/>
                <a:gd name="connsiteY80" fmla="*/ 461963 h 564357"/>
                <a:gd name="connsiteX81" fmla="*/ 652461 w 1059656"/>
                <a:gd name="connsiteY81" fmla="*/ 509587 h 564357"/>
                <a:gd name="connsiteX82" fmla="*/ 654844 w 1059656"/>
                <a:gd name="connsiteY82" fmla="*/ 528638 h 564357"/>
                <a:gd name="connsiteX83" fmla="*/ 697706 w 1059656"/>
                <a:gd name="connsiteY83" fmla="*/ 564357 h 564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059656" h="564357">
                  <a:moveTo>
                    <a:pt x="697706" y="564357"/>
                  </a:moveTo>
                  <a:lnTo>
                    <a:pt x="778668" y="492919"/>
                  </a:lnTo>
                  <a:lnTo>
                    <a:pt x="816768" y="473869"/>
                  </a:lnTo>
                  <a:lnTo>
                    <a:pt x="852487" y="471488"/>
                  </a:lnTo>
                  <a:lnTo>
                    <a:pt x="916781" y="457200"/>
                  </a:lnTo>
                  <a:lnTo>
                    <a:pt x="950118" y="459582"/>
                  </a:lnTo>
                  <a:lnTo>
                    <a:pt x="988218" y="476250"/>
                  </a:lnTo>
                  <a:lnTo>
                    <a:pt x="1019175" y="445294"/>
                  </a:lnTo>
                  <a:lnTo>
                    <a:pt x="992981" y="414338"/>
                  </a:lnTo>
                  <a:lnTo>
                    <a:pt x="988218" y="383382"/>
                  </a:lnTo>
                  <a:lnTo>
                    <a:pt x="995362" y="345282"/>
                  </a:lnTo>
                  <a:lnTo>
                    <a:pt x="1023937" y="304800"/>
                  </a:lnTo>
                  <a:lnTo>
                    <a:pt x="1052512" y="295275"/>
                  </a:lnTo>
                  <a:lnTo>
                    <a:pt x="1059656" y="266700"/>
                  </a:lnTo>
                  <a:lnTo>
                    <a:pt x="1047750" y="238125"/>
                  </a:lnTo>
                  <a:lnTo>
                    <a:pt x="1019175" y="228600"/>
                  </a:lnTo>
                  <a:lnTo>
                    <a:pt x="992981" y="235744"/>
                  </a:lnTo>
                  <a:lnTo>
                    <a:pt x="935831" y="254794"/>
                  </a:lnTo>
                  <a:lnTo>
                    <a:pt x="900112" y="259557"/>
                  </a:lnTo>
                  <a:lnTo>
                    <a:pt x="878681" y="242888"/>
                  </a:lnTo>
                  <a:lnTo>
                    <a:pt x="873918" y="228600"/>
                  </a:lnTo>
                  <a:lnTo>
                    <a:pt x="881062" y="185738"/>
                  </a:lnTo>
                  <a:lnTo>
                    <a:pt x="888206" y="150019"/>
                  </a:lnTo>
                  <a:lnTo>
                    <a:pt x="871537" y="111919"/>
                  </a:lnTo>
                  <a:lnTo>
                    <a:pt x="852488" y="92869"/>
                  </a:lnTo>
                  <a:lnTo>
                    <a:pt x="859630" y="66676"/>
                  </a:lnTo>
                  <a:lnTo>
                    <a:pt x="857249" y="28576"/>
                  </a:lnTo>
                  <a:lnTo>
                    <a:pt x="833437" y="0"/>
                  </a:lnTo>
                  <a:lnTo>
                    <a:pt x="809625" y="33338"/>
                  </a:lnTo>
                  <a:lnTo>
                    <a:pt x="797718" y="50007"/>
                  </a:lnTo>
                  <a:lnTo>
                    <a:pt x="757237" y="45244"/>
                  </a:lnTo>
                  <a:lnTo>
                    <a:pt x="735806" y="50007"/>
                  </a:lnTo>
                  <a:lnTo>
                    <a:pt x="719137" y="78582"/>
                  </a:lnTo>
                  <a:lnTo>
                    <a:pt x="723900" y="97632"/>
                  </a:lnTo>
                  <a:lnTo>
                    <a:pt x="707231" y="111919"/>
                  </a:lnTo>
                  <a:lnTo>
                    <a:pt x="631031" y="114300"/>
                  </a:lnTo>
                  <a:lnTo>
                    <a:pt x="597693" y="100013"/>
                  </a:lnTo>
                  <a:lnTo>
                    <a:pt x="569118" y="71438"/>
                  </a:lnTo>
                  <a:lnTo>
                    <a:pt x="531018" y="66675"/>
                  </a:lnTo>
                  <a:lnTo>
                    <a:pt x="497681" y="90488"/>
                  </a:lnTo>
                  <a:lnTo>
                    <a:pt x="481012" y="109538"/>
                  </a:lnTo>
                  <a:lnTo>
                    <a:pt x="466725" y="126207"/>
                  </a:lnTo>
                  <a:lnTo>
                    <a:pt x="450056" y="145257"/>
                  </a:lnTo>
                  <a:lnTo>
                    <a:pt x="454818" y="171450"/>
                  </a:lnTo>
                  <a:lnTo>
                    <a:pt x="423862" y="195263"/>
                  </a:lnTo>
                  <a:lnTo>
                    <a:pt x="371475" y="204788"/>
                  </a:lnTo>
                  <a:lnTo>
                    <a:pt x="330993" y="223838"/>
                  </a:lnTo>
                  <a:lnTo>
                    <a:pt x="321468" y="261938"/>
                  </a:lnTo>
                  <a:lnTo>
                    <a:pt x="319087" y="269082"/>
                  </a:lnTo>
                  <a:lnTo>
                    <a:pt x="266700" y="285750"/>
                  </a:lnTo>
                  <a:lnTo>
                    <a:pt x="180975" y="316707"/>
                  </a:lnTo>
                  <a:lnTo>
                    <a:pt x="157162" y="309563"/>
                  </a:lnTo>
                  <a:lnTo>
                    <a:pt x="128587" y="300038"/>
                  </a:lnTo>
                  <a:cubicBezTo>
                    <a:pt x="129381" y="319882"/>
                    <a:pt x="130174" y="339725"/>
                    <a:pt x="130968" y="359569"/>
                  </a:cubicBezTo>
                  <a:lnTo>
                    <a:pt x="169068" y="388144"/>
                  </a:lnTo>
                  <a:lnTo>
                    <a:pt x="185737" y="411957"/>
                  </a:lnTo>
                  <a:lnTo>
                    <a:pt x="180975" y="442913"/>
                  </a:lnTo>
                  <a:lnTo>
                    <a:pt x="173831" y="471488"/>
                  </a:lnTo>
                  <a:lnTo>
                    <a:pt x="130968" y="473869"/>
                  </a:lnTo>
                  <a:lnTo>
                    <a:pt x="95250" y="488157"/>
                  </a:lnTo>
                  <a:lnTo>
                    <a:pt x="71437" y="492919"/>
                  </a:lnTo>
                  <a:lnTo>
                    <a:pt x="50006" y="504825"/>
                  </a:lnTo>
                  <a:lnTo>
                    <a:pt x="30956" y="521494"/>
                  </a:lnTo>
                  <a:lnTo>
                    <a:pt x="7143" y="528638"/>
                  </a:lnTo>
                  <a:lnTo>
                    <a:pt x="0" y="533400"/>
                  </a:lnTo>
                  <a:lnTo>
                    <a:pt x="38100" y="561975"/>
                  </a:lnTo>
                  <a:lnTo>
                    <a:pt x="80962" y="559594"/>
                  </a:lnTo>
                  <a:lnTo>
                    <a:pt x="116681" y="526257"/>
                  </a:lnTo>
                  <a:lnTo>
                    <a:pt x="171450" y="500063"/>
                  </a:lnTo>
                  <a:lnTo>
                    <a:pt x="278606" y="492919"/>
                  </a:lnTo>
                  <a:lnTo>
                    <a:pt x="292893" y="481013"/>
                  </a:lnTo>
                  <a:lnTo>
                    <a:pt x="357187" y="481013"/>
                  </a:lnTo>
                  <a:lnTo>
                    <a:pt x="433387" y="388144"/>
                  </a:lnTo>
                  <a:lnTo>
                    <a:pt x="559593" y="328613"/>
                  </a:lnTo>
                  <a:lnTo>
                    <a:pt x="619125" y="321469"/>
                  </a:lnTo>
                  <a:lnTo>
                    <a:pt x="654843" y="295275"/>
                  </a:lnTo>
                  <a:lnTo>
                    <a:pt x="716756" y="292894"/>
                  </a:lnTo>
                  <a:lnTo>
                    <a:pt x="771525" y="285750"/>
                  </a:lnTo>
                  <a:lnTo>
                    <a:pt x="781050" y="323850"/>
                  </a:lnTo>
                  <a:lnTo>
                    <a:pt x="773906" y="445294"/>
                  </a:lnTo>
                  <a:lnTo>
                    <a:pt x="707231" y="461963"/>
                  </a:lnTo>
                  <a:lnTo>
                    <a:pt x="652461" y="509587"/>
                  </a:lnTo>
                  <a:lnTo>
                    <a:pt x="654844" y="528638"/>
                  </a:lnTo>
                  <a:lnTo>
                    <a:pt x="697706" y="564357"/>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sp>
          <p:nvSpPr>
            <p:cNvPr id="65" name="Freeform 64"/>
            <p:cNvSpPr/>
            <p:nvPr/>
          </p:nvSpPr>
          <p:spPr>
            <a:xfrm rot="21298612">
              <a:off x="4879780" y="2889069"/>
              <a:ext cx="321910" cy="349517"/>
            </a:xfrm>
            <a:custGeom>
              <a:avLst/>
              <a:gdLst>
                <a:gd name="connsiteX0" fmla="*/ 190500 w 314325"/>
                <a:gd name="connsiteY0" fmla="*/ 302419 h 330994"/>
                <a:gd name="connsiteX1" fmla="*/ 221456 w 314325"/>
                <a:gd name="connsiteY1" fmla="*/ 240506 h 330994"/>
                <a:gd name="connsiteX2" fmla="*/ 250031 w 314325"/>
                <a:gd name="connsiteY2" fmla="*/ 214312 h 330994"/>
                <a:gd name="connsiteX3" fmla="*/ 266700 w 314325"/>
                <a:gd name="connsiteY3" fmla="*/ 169069 h 330994"/>
                <a:gd name="connsiteX4" fmla="*/ 273844 w 314325"/>
                <a:gd name="connsiteY4" fmla="*/ 119062 h 330994"/>
                <a:gd name="connsiteX5" fmla="*/ 314325 w 314325"/>
                <a:gd name="connsiteY5" fmla="*/ 52387 h 330994"/>
                <a:gd name="connsiteX6" fmla="*/ 295275 w 314325"/>
                <a:gd name="connsiteY6" fmla="*/ 14287 h 330994"/>
                <a:gd name="connsiteX7" fmla="*/ 285750 w 314325"/>
                <a:gd name="connsiteY7" fmla="*/ 21431 h 330994"/>
                <a:gd name="connsiteX8" fmla="*/ 273844 w 314325"/>
                <a:gd name="connsiteY8" fmla="*/ 0 h 330994"/>
                <a:gd name="connsiteX9" fmla="*/ 245269 w 314325"/>
                <a:gd name="connsiteY9" fmla="*/ 33337 h 330994"/>
                <a:gd name="connsiteX10" fmla="*/ 211931 w 314325"/>
                <a:gd name="connsiteY10" fmla="*/ 45244 h 330994"/>
                <a:gd name="connsiteX11" fmla="*/ 202406 w 314325"/>
                <a:gd name="connsiteY11" fmla="*/ 85725 h 330994"/>
                <a:gd name="connsiteX12" fmla="*/ 178594 w 314325"/>
                <a:gd name="connsiteY12" fmla="*/ 95250 h 330994"/>
                <a:gd name="connsiteX13" fmla="*/ 135731 w 314325"/>
                <a:gd name="connsiteY13" fmla="*/ 47625 h 330994"/>
                <a:gd name="connsiteX14" fmla="*/ 104775 w 314325"/>
                <a:gd name="connsiteY14" fmla="*/ 64294 h 330994"/>
                <a:gd name="connsiteX15" fmla="*/ 109537 w 314325"/>
                <a:gd name="connsiteY15" fmla="*/ 154781 h 330994"/>
                <a:gd name="connsiteX16" fmla="*/ 78581 w 314325"/>
                <a:gd name="connsiteY16" fmla="*/ 176212 h 330994"/>
                <a:gd name="connsiteX17" fmla="*/ 59531 w 314325"/>
                <a:gd name="connsiteY17" fmla="*/ 195262 h 330994"/>
                <a:gd name="connsiteX18" fmla="*/ 59531 w 314325"/>
                <a:gd name="connsiteY18" fmla="*/ 195262 h 330994"/>
                <a:gd name="connsiteX19" fmla="*/ 61912 w 314325"/>
                <a:gd name="connsiteY19" fmla="*/ 240506 h 330994"/>
                <a:gd name="connsiteX20" fmla="*/ 9525 w 314325"/>
                <a:gd name="connsiteY20" fmla="*/ 233362 h 330994"/>
                <a:gd name="connsiteX21" fmla="*/ 0 w 314325"/>
                <a:gd name="connsiteY21" fmla="*/ 254794 h 330994"/>
                <a:gd name="connsiteX22" fmla="*/ 14287 w 314325"/>
                <a:gd name="connsiteY22" fmla="*/ 330994 h 330994"/>
                <a:gd name="connsiteX23" fmla="*/ 59531 w 314325"/>
                <a:gd name="connsiteY23" fmla="*/ 302419 h 330994"/>
                <a:gd name="connsiteX24" fmla="*/ 100012 w 314325"/>
                <a:gd name="connsiteY24" fmla="*/ 285750 h 330994"/>
                <a:gd name="connsiteX25" fmla="*/ 126206 w 314325"/>
                <a:gd name="connsiteY25" fmla="*/ 288131 h 330994"/>
                <a:gd name="connsiteX26" fmla="*/ 190500 w 314325"/>
                <a:gd name="connsiteY26" fmla="*/ 302419 h 330994"/>
                <a:gd name="connsiteX0" fmla="*/ 190500 w 321468"/>
                <a:gd name="connsiteY0" fmla="*/ 302419 h 330994"/>
                <a:gd name="connsiteX1" fmla="*/ 221456 w 321468"/>
                <a:gd name="connsiteY1" fmla="*/ 240506 h 330994"/>
                <a:gd name="connsiteX2" fmla="*/ 250031 w 321468"/>
                <a:gd name="connsiteY2" fmla="*/ 214312 h 330994"/>
                <a:gd name="connsiteX3" fmla="*/ 266700 w 321468"/>
                <a:gd name="connsiteY3" fmla="*/ 169069 h 330994"/>
                <a:gd name="connsiteX4" fmla="*/ 273844 w 321468"/>
                <a:gd name="connsiteY4" fmla="*/ 119062 h 330994"/>
                <a:gd name="connsiteX5" fmla="*/ 321468 w 321468"/>
                <a:gd name="connsiteY5" fmla="*/ 61912 h 330994"/>
                <a:gd name="connsiteX6" fmla="*/ 295275 w 321468"/>
                <a:gd name="connsiteY6" fmla="*/ 14287 h 330994"/>
                <a:gd name="connsiteX7" fmla="*/ 285750 w 321468"/>
                <a:gd name="connsiteY7" fmla="*/ 21431 h 330994"/>
                <a:gd name="connsiteX8" fmla="*/ 273844 w 321468"/>
                <a:gd name="connsiteY8" fmla="*/ 0 h 330994"/>
                <a:gd name="connsiteX9" fmla="*/ 245269 w 321468"/>
                <a:gd name="connsiteY9" fmla="*/ 33337 h 330994"/>
                <a:gd name="connsiteX10" fmla="*/ 211931 w 321468"/>
                <a:gd name="connsiteY10" fmla="*/ 45244 h 330994"/>
                <a:gd name="connsiteX11" fmla="*/ 202406 w 321468"/>
                <a:gd name="connsiteY11" fmla="*/ 85725 h 330994"/>
                <a:gd name="connsiteX12" fmla="*/ 178594 w 321468"/>
                <a:gd name="connsiteY12" fmla="*/ 95250 h 330994"/>
                <a:gd name="connsiteX13" fmla="*/ 135731 w 321468"/>
                <a:gd name="connsiteY13" fmla="*/ 47625 h 330994"/>
                <a:gd name="connsiteX14" fmla="*/ 104775 w 321468"/>
                <a:gd name="connsiteY14" fmla="*/ 64294 h 330994"/>
                <a:gd name="connsiteX15" fmla="*/ 109537 w 321468"/>
                <a:gd name="connsiteY15" fmla="*/ 154781 h 330994"/>
                <a:gd name="connsiteX16" fmla="*/ 78581 w 321468"/>
                <a:gd name="connsiteY16" fmla="*/ 176212 h 330994"/>
                <a:gd name="connsiteX17" fmla="*/ 59531 w 321468"/>
                <a:gd name="connsiteY17" fmla="*/ 195262 h 330994"/>
                <a:gd name="connsiteX18" fmla="*/ 59531 w 321468"/>
                <a:gd name="connsiteY18" fmla="*/ 195262 h 330994"/>
                <a:gd name="connsiteX19" fmla="*/ 61912 w 321468"/>
                <a:gd name="connsiteY19" fmla="*/ 240506 h 330994"/>
                <a:gd name="connsiteX20" fmla="*/ 9525 w 321468"/>
                <a:gd name="connsiteY20" fmla="*/ 233362 h 330994"/>
                <a:gd name="connsiteX21" fmla="*/ 0 w 321468"/>
                <a:gd name="connsiteY21" fmla="*/ 254794 h 330994"/>
                <a:gd name="connsiteX22" fmla="*/ 14287 w 321468"/>
                <a:gd name="connsiteY22" fmla="*/ 330994 h 330994"/>
                <a:gd name="connsiteX23" fmla="*/ 59531 w 321468"/>
                <a:gd name="connsiteY23" fmla="*/ 302419 h 330994"/>
                <a:gd name="connsiteX24" fmla="*/ 100012 w 321468"/>
                <a:gd name="connsiteY24" fmla="*/ 285750 h 330994"/>
                <a:gd name="connsiteX25" fmla="*/ 126206 w 321468"/>
                <a:gd name="connsiteY25" fmla="*/ 288131 h 330994"/>
                <a:gd name="connsiteX26" fmla="*/ 190500 w 321468"/>
                <a:gd name="connsiteY26" fmla="*/ 302419 h 33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1468" h="330994">
                  <a:moveTo>
                    <a:pt x="190500" y="302419"/>
                  </a:moveTo>
                  <a:lnTo>
                    <a:pt x="221456" y="240506"/>
                  </a:lnTo>
                  <a:lnTo>
                    <a:pt x="250031" y="214312"/>
                  </a:lnTo>
                  <a:lnTo>
                    <a:pt x="266700" y="169069"/>
                  </a:lnTo>
                  <a:lnTo>
                    <a:pt x="273844" y="119062"/>
                  </a:lnTo>
                  <a:lnTo>
                    <a:pt x="321468" y="61912"/>
                  </a:lnTo>
                  <a:lnTo>
                    <a:pt x="295275" y="14287"/>
                  </a:lnTo>
                  <a:lnTo>
                    <a:pt x="285750" y="21431"/>
                  </a:lnTo>
                  <a:lnTo>
                    <a:pt x="273844" y="0"/>
                  </a:lnTo>
                  <a:lnTo>
                    <a:pt x="245269" y="33337"/>
                  </a:lnTo>
                  <a:lnTo>
                    <a:pt x="211931" y="45244"/>
                  </a:lnTo>
                  <a:lnTo>
                    <a:pt x="202406" y="85725"/>
                  </a:lnTo>
                  <a:lnTo>
                    <a:pt x="178594" y="95250"/>
                  </a:lnTo>
                  <a:lnTo>
                    <a:pt x="135731" y="47625"/>
                  </a:lnTo>
                  <a:lnTo>
                    <a:pt x="104775" y="64294"/>
                  </a:lnTo>
                  <a:lnTo>
                    <a:pt x="109537" y="154781"/>
                  </a:lnTo>
                  <a:lnTo>
                    <a:pt x="78581" y="176212"/>
                  </a:lnTo>
                  <a:lnTo>
                    <a:pt x="59531" y="195262"/>
                  </a:lnTo>
                  <a:lnTo>
                    <a:pt x="59531" y="195262"/>
                  </a:lnTo>
                  <a:lnTo>
                    <a:pt x="61912" y="240506"/>
                  </a:lnTo>
                  <a:lnTo>
                    <a:pt x="9525" y="233362"/>
                  </a:lnTo>
                  <a:lnTo>
                    <a:pt x="0" y="254794"/>
                  </a:lnTo>
                  <a:lnTo>
                    <a:pt x="14287" y="330994"/>
                  </a:lnTo>
                  <a:lnTo>
                    <a:pt x="59531" y="302419"/>
                  </a:lnTo>
                  <a:lnTo>
                    <a:pt x="100012" y="285750"/>
                  </a:lnTo>
                  <a:lnTo>
                    <a:pt x="126206" y="288131"/>
                  </a:lnTo>
                  <a:lnTo>
                    <a:pt x="190500" y="302419"/>
                  </a:lnTo>
                  <a:close/>
                </a:path>
              </a:pathLst>
            </a:custGeom>
            <a:grpFill/>
            <a:ln w="12700">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lstStyle/>
            <a:p>
              <a:pPr>
                <a:defRPr/>
              </a:pPr>
              <a:endParaRPr lang="en-GB" dirty="0"/>
            </a:p>
          </p:txBody>
        </p:sp>
      </p:grpSp>
      <p:cxnSp>
        <p:nvCxnSpPr>
          <p:cNvPr id="66" name="Elbow Connector 65"/>
          <p:cNvCxnSpPr/>
          <p:nvPr/>
        </p:nvCxnSpPr>
        <p:spPr>
          <a:xfrm rot="16200000" flipH="1">
            <a:off x="1612218" y="2979173"/>
            <a:ext cx="2734920" cy="2615683"/>
          </a:xfrm>
          <a:prstGeom prst="bentConnector2">
            <a:avLst/>
          </a:prstGeom>
          <a:ln w="12700">
            <a:solidFill>
              <a:srgbClr val="FFCD00">
                <a:alpha val="52000"/>
              </a:srgb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rot="16200000" flipH="1">
            <a:off x="1611676" y="3364526"/>
            <a:ext cx="2531975" cy="2754324"/>
          </a:xfrm>
          <a:prstGeom prst="bentConnector2">
            <a:avLst/>
          </a:prstGeom>
          <a:ln w="12700">
            <a:solidFill>
              <a:srgbClr val="FFCD00">
                <a:alpha val="52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p:cNvCxnSpPr>
            <a:stCxn id="37" idx="4"/>
          </p:cNvCxnSpPr>
          <p:nvPr/>
        </p:nvCxnSpPr>
        <p:spPr>
          <a:xfrm rot="16200000" flipH="1">
            <a:off x="1675178" y="4015752"/>
            <a:ext cx="2162559" cy="3062125"/>
          </a:xfrm>
          <a:prstGeom prst="bentConnector2">
            <a:avLst/>
          </a:prstGeom>
          <a:ln w="12700">
            <a:solidFill>
              <a:srgbClr val="FFCD00">
                <a:alpha val="46000"/>
              </a:srgbClr>
            </a:solidFill>
            <a:headEnd w="sm" len="sm"/>
            <a:tailEnd type="triangle"/>
          </a:ln>
        </p:spPr>
        <p:style>
          <a:lnRef idx="1">
            <a:schemeClr val="accent1"/>
          </a:lnRef>
          <a:fillRef idx="0">
            <a:schemeClr val="accent1"/>
          </a:fillRef>
          <a:effectRef idx="0">
            <a:schemeClr val="accent1"/>
          </a:effectRef>
          <a:fontRef idx="minor">
            <a:schemeClr val="tx1"/>
          </a:fontRef>
        </p:style>
      </p:cxnSp>
      <p:sp>
        <p:nvSpPr>
          <p:cNvPr id="58"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Our Credentials</a:t>
            </a:r>
          </a:p>
        </p:txBody>
      </p:sp>
      <p:sp>
        <p:nvSpPr>
          <p:cNvPr id="67"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We have extensive experience with Eastern States of India and have in depth understanding of the entire Energy sector of West Bengal</a:t>
            </a:r>
          </a:p>
        </p:txBody>
      </p:sp>
    </p:spTree>
    <p:extLst>
      <p:ext uri="{BB962C8B-B14F-4D97-AF65-F5344CB8AC3E}">
        <p14:creationId xmlns:p14="http://schemas.microsoft.com/office/powerpoint/2010/main" val="328946312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7152"/>
            <a:ext cx="7380133" cy="7570002"/>
          </a:xfrm>
          <a:prstGeom prst="rect">
            <a:avLst/>
          </a:prstGeom>
        </p:spPr>
      </p:pic>
      <p:cxnSp>
        <p:nvCxnSpPr>
          <p:cNvPr id="6" name="Straight Connector 5"/>
          <p:cNvCxnSpPr/>
          <p:nvPr/>
        </p:nvCxnSpPr>
        <p:spPr>
          <a:xfrm flipH="1">
            <a:off x="7555040" y="6517178"/>
            <a:ext cx="3133600" cy="1662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555040" y="5411237"/>
            <a:ext cx="3308505" cy="892937"/>
          </a:xfrm>
          <a:prstGeom prst="rect">
            <a:avLst/>
          </a:prstGeom>
        </p:spPr>
        <p:txBody>
          <a:bodyPr wrap="square" anchor="ctr">
            <a:spAutoFit/>
          </a:bodyPr>
          <a:lstStyle/>
          <a:p>
            <a:pPr>
              <a:lnSpc>
                <a:spcPct val="114000"/>
              </a:lnSpc>
              <a:spcAft>
                <a:spcPts val="3000"/>
              </a:spcAft>
            </a:pPr>
            <a:r>
              <a:rPr lang="en-US" sz="2400" b="1" dirty="0">
                <a:solidFill>
                  <a:schemeClr val="accent1"/>
                </a:solidFill>
                <a:latin typeface="Verdana" panose="020B0604030504040204" pitchFamily="34" charset="0"/>
                <a:ea typeface="Verdana" panose="020B0604030504040204" pitchFamily="34" charset="0"/>
                <a:cs typeface="Verdana" panose="020B0604030504040204" pitchFamily="34" charset="0"/>
              </a:rPr>
              <a:t>Understanding the objectives</a:t>
            </a:r>
          </a:p>
        </p:txBody>
      </p:sp>
      <p:sp>
        <p:nvSpPr>
          <p:cNvPr id="8" name="TextBox 7"/>
          <p:cNvSpPr txBox="1"/>
          <p:nvPr/>
        </p:nvSpPr>
        <p:spPr>
          <a:xfrm>
            <a:off x="7797299" y="3965917"/>
            <a:ext cx="1551067" cy="1323439"/>
          </a:xfrm>
          <a:prstGeom prst="rect">
            <a:avLst/>
          </a:prstGeom>
          <a:noFill/>
        </p:spPr>
        <p:txBody>
          <a:bodyPr wrap="none" lIns="45720" rIns="45720" rtlCol="0">
            <a:spAutoFit/>
          </a:bodyPr>
          <a:lstStyle/>
          <a:p>
            <a:pPr algn="ctr">
              <a:spcBef>
                <a:spcPts val="400"/>
              </a:spcBef>
            </a:pPr>
            <a:r>
              <a:rPr lang="en-US" sz="8000" b="1" dirty="0">
                <a:solidFill>
                  <a:schemeClr val="accent1"/>
                </a:solidFill>
                <a:latin typeface="Verdana" panose="020B0604030504040204" pitchFamily="34" charset="0"/>
                <a:ea typeface="Verdana" panose="020B0604030504040204" pitchFamily="34" charset="0"/>
                <a:cs typeface="Verdana" panose="020B0604030504040204" pitchFamily="34" charset="0"/>
              </a:rPr>
              <a:t>02</a:t>
            </a:r>
            <a:endParaRPr lang="en-IN" sz="8000" b="1"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3" name="Straight Connector 12"/>
          <p:cNvCxnSpPr/>
          <p:nvPr/>
        </p:nvCxnSpPr>
        <p:spPr>
          <a:xfrm flipH="1">
            <a:off x="7555040" y="5372313"/>
            <a:ext cx="3133598" cy="2323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36190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extLst>
              <a:ext uri="{28A0092B-C50C-407E-A947-70E740481C1C}">
                <a14:useLocalDpi xmlns:a14="http://schemas.microsoft.com/office/drawing/2010/main" val="0"/>
              </a:ext>
            </a:extLst>
          </a:blip>
          <a:stretch>
            <a:fillRect/>
          </a:stretch>
        </p:blipFill>
        <p:spPr>
          <a:xfrm>
            <a:off x="4859079" y="1594797"/>
            <a:ext cx="5515007" cy="5177813"/>
          </a:xfrm>
          <a:prstGeom prst="rect">
            <a:avLst/>
          </a:prstGeom>
        </p:spPr>
      </p:pic>
      <p:sp>
        <p:nvSpPr>
          <p:cNvPr id="131" name="Freeform 130"/>
          <p:cNvSpPr/>
          <p:nvPr/>
        </p:nvSpPr>
        <p:spPr>
          <a:xfrm>
            <a:off x="439792" y="2192390"/>
            <a:ext cx="3960000" cy="417129"/>
          </a:xfrm>
          <a:custGeom>
            <a:avLst/>
            <a:gdLst>
              <a:gd name="connsiteX0" fmla="*/ 0 w 4185371"/>
              <a:gd name="connsiteY0" fmla="*/ 99842 h 599040"/>
              <a:gd name="connsiteX1" fmla="*/ 99842 w 4185371"/>
              <a:gd name="connsiteY1" fmla="*/ 0 h 599040"/>
              <a:gd name="connsiteX2" fmla="*/ 4085529 w 4185371"/>
              <a:gd name="connsiteY2" fmla="*/ 0 h 599040"/>
              <a:gd name="connsiteX3" fmla="*/ 4185371 w 4185371"/>
              <a:gd name="connsiteY3" fmla="*/ 99842 h 599040"/>
              <a:gd name="connsiteX4" fmla="*/ 4185371 w 4185371"/>
              <a:gd name="connsiteY4" fmla="*/ 499198 h 599040"/>
              <a:gd name="connsiteX5" fmla="*/ 4085529 w 4185371"/>
              <a:gd name="connsiteY5" fmla="*/ 599040 h 599040"/>
              <a:gd name="connsiteX6" fmla="*/ 99842 w 4185371"/>
              <a:gd name="connsiteY6" fmla="*/ 599040 h 599040"/>
              <a:gd name="connsiteX7" fmla="*/ 0 w 4185371"/>
              <a:gd name="connsiteY7" fmla="*/ 499198 h 599040"/>
              <a:gd name="connsiteX8" fmla="*/ 0 w 4185371"/>
              <a:gd name="connsiteY8" fmla="*/ 99842 h 59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85371" h="599040">
                <a:moveTo>
                  <a:pt x="0" y="99842"/>
                </a:moveTo>
                <a:cubicBezTo>
                  <a:pt x="0" y="44701"/>
                  <a:pt x="44701" y="0"/>
                  <a:pt x="99842" y="0"/>
                </a:cubicBezTo>
                <a:lnTo>
                  <a:pt x="4085529" y="0"/>
                </a:lnTo>
                <a:cubicBezTo>
                  <a:pt x="4140670" y="0"/>
                  <a:pt x="4185371" y="44701"/>
                  <a:pt x="4185371" y="99842"/>
                </a:cubicBezTo>
                <a:lnTo>
                  <a:pt x="4185371" y="499198"/>
                </a:lnTo>
                <a:cubicBezTo>
                  <a:pt x="4185371" y="554339"/>
                  <a:pt x="4140670" y="599040"/>
                  <a:pt x="4085529" y="599040"/>
                </a:cubicBezTo>
                <a:lnTo>
                  <a:pt x="99842" y="599040"/>
                </a:lnTo>
                <a:cubicBezTo>
                  <a:pt x="44701" y="599040"/>
                  <a:pt x="0" y="554339"/>
                  <a:pt x="0" y="499198"/>
                </a:cubicBezTo>
                <a:lnTo>
                  <a:pt x="0" y="99842"/>
                </a:lnTo>
                <a:close/>
              </a:path>
            </a:pathLst>
          </a:cu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2583" tIns="82583" rIns="82583" bIns="82583" numCol="1" spcCol="1270" anchor="ctr" anchorCtr="0">
            <a:noAutofit/>
          </a:bodyPr>
          <a:lstStyle/>
          <a:p>
            <a:pPr lvl="0" algn="l" defTabSz="622300">
              <a:lnSpc>
                <a:spcPct val="90000"/>
              </a:lnSpc>
              <a:spcBef>
                <a:spcPct val="0"/>
              </a:spcBef>
              <a:spcAft>
                <a:spcPct val="35000"/>
              </a:spcAft>
            </a:pPr>
            <a:r>
              <a:rPr lang="en-US" sz="1400" b="1" kern="1200" dirty="0"/>
              <a:t>Economic Development</a:t>
            </a:r>
          </a:p>
        </p:txBody>
      </p:sp>
      <p:sp>
        <p:nvSpPr>
          <p:cNvPr id="132" name="Freeform 131"/>
          <p:cNvSpPr/>
          <p:nvPr/>
        </p:nvSpPr>
        <p:spPr>
          <a:xfrm>
            <a:off x="406851" y="2691792"/>
            <a:ext cx="4185371" cy="609371"/>
          </a:xfrm>
          <a:custGeom>
            <a:avLst/>
            <a:gdLst>
              <a:gd name="connsiteX0" fmla="*/ 0 w 4185371"/>
              <a:gd name="connsiteY0" fmla="*/ 0 h 529920"/>
              <a:gd name="connsiteX1" fmla="*/ 4185371 w 4185371"/>
              <a:gd name="connsiteY1" fmla="*/ 0 h 529920"/>
              <a:gd name="connsiteX2" fmla="*/ 4185371 w 4185371"/>
              <a:gd name="connsiteY2" fmla="*/ 529920 h 529920"/>
              <a:gd name="connsiteX3" fmla="*/ 0 w 4185371"/>
              <a:gd name="connsiteY3" fmla="*/ 529920 h 529920"/>
              <a:gd name="connsiteX4" fmla="*/ 0 w 4185371"/>
              <a:gd name="connsiteY4" fmla="*/ 0 h 529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5371" h="529920">
                <a:moveTo>
                  <a:pt x="0" y="0"/>
                </a:moveTo>
                <a:lnTo>
                  <a:pt x="4185371" y="0"/>
                </a:lnTo>
                <a:lnTo>
                  <a:pt x="4185371" y="529920"/>
                </a:lnTo>
                <a:lnTo>
                  <a:pt x="0" y="52992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2886" tIns="17780" rIns="99568" bIns="17780" numCol="1" spcCol="1270" anchor="t" anchorCtr="0">
            <a:noAutofit/>
          </a:bodyPr>
          <a:lstStyle/>
          <a:p>
            <a:pPr marL="180975" lvl="1" indent="-180975" algn="l" defTabSz="622300">
              <a:lnSpc>
                <a:spcPct val="90000"/>
              </a:lnSpc>
              <a:spcBef>
                <a:spcPct val="0"/>
              </a:spcBef>
              <a:spcAft>
                <a:spcPts val="600"/>
              </a:spcAft>
              <a:buChar char="••"/>
            </a:pPr>
            <a:r>
              <a:rPr lang="en-US" sz="1400" kern="1200" dirty="0"/>
              <a:t>Promote Energy Access</a:t>
            </a:r>
          </a:p>
          <a:p>
            <a:pPr marL="180975" lvl="1" indent="-180975" algn="l" defTabSz="622300">
              <a:lnSpc>
                <a:spcPct val="90000"/>
              </a:lnSpc>
              <a:spcBef>
                <a:spcPct val="0"/>
              </a:spcBef>
              <a:spcAft>
                <a:spcPts val="600"/>
              </a:spcAft>
              <a:buChar char="••"/>
            </a:pPr>
            <a:r>
              <a:rPr lang="en-US" sz="1400" kern="1200" dirty="0"/>
              <a:t>Promote Energy Efficiency</a:t>
            </a:r>
          </a:p>
        </p:txBody>
      </p:sp>
      <p:sp>
        <p:nvSpPr>
          <p:cNvPr id="133" name="Freeform 132"/>
          <p:cNvSpPr/>
          <p:nvPr/>
        </p:nvSpPr>
        <p:spPr>
          <a:xfrm>
            <a:off x="439792" y="3490615"/>
            <a:ext cx="3960000" cy="413565"/>
          </a:xfrm>
          <a:custGeom>
            <a:avLst/>
            <a:gdLst>
              <a:gd name="connsiteX0" fmla="*/ 0 w 4185371"/>
              <a:gd name="connsiteY0" fmla="*/ 99842 h 599040"/>
              <a:gd name="connsiteX1" fmla="*/ 99842 w 4185371"/>
              <a:gd name="connsiteY1" fmla="*/ 0 h 599040"/>
              <a:gd name="connsiteX2" fmla="*/ 4085529 w 4185371"/>
              <a:gd name="connsiteY2" fmla="*/ 0 h 599040"/>
              <a:gd name="connsiteX3" fmla="*/ 4185371 w 4185371"/>
              <a:gd name="connsiteY3" fmla="*/ 99842 h 599040"/>
              <a:gd name="connsiteX4" fmla="*/ 4185371 w 4185371"/>
              <a:gd name="connsiteY4" fmla="*/ 499198 h 599040"/>
              <a:gd name="connsiteX5" fmla="*/ 4085529 w 4185371"/>
              <a:gd name="connsiteY5" fmla="*/ 599040 h 599040"/>
              <a:gd name="connsiteX6" fmla="*/ 99842 w 4185371"/>
              <a:gd name="connsiteY6" fmla="*/ 599040 h 599040"/>
              <a:gd name="connsiteX7" fmla="*/ 0 w 4185371"/>
              <a:gd name="connsiteY7" fmla="*/ 499198 h 599040"/>
              <a:gd name="connsiteX8" fmla="*/ 0 w 4185371"/>
              <a:gd name="connsiteY8" fmla="*/ 99842 h 59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85371" h="599040">
                <a:moveTo>
                  <a:pt x="0" y="99842"/>
                </a:moveTo>
                <a:cubicBezTo>
                  <a:pt x="0" y="44701"/>
                  <a:pt x="44701" y="0"/>
                  <a:pt x="99842" y="0"/>
                </a:cubicBezTo>
                <a:lnTo>
                  <a:pt x="4085529" y="0"/>
                </a:lnTo>
                <a:cubicBezTo>
                  <a:pt x="4140670" y="0"/>
                  <a:pt x="4185371" y="44701"/>
                  <a:pt x="4185371" y="99842"/>
                </a:cubicBezTo>
                <a:lnTo>
                  <a:pt x="4185371" y="499198"/>
                </a:lnTo>
                <a:cubicBezTo>
                  <a:pt x="4185371" y="554339"/>
                  <a:pt x="4140670" y="599040"/>
                  <a:pt x="4085529" y="599040"/>
                </a:cubicBezTo>
                <a:lnTo>
                  <a:pt x="99842" y="599040"/>
                </a:lnTo>
                <a:cubicBezTo>
                  <a:pt x="44701" y="599040"/>
                  <a:pt x="0" y="554339"/>
                  <a:pt x="0" y="499198"/>
                </a:cubicBezTo>
                <a:lnTo>
                  <a:pt x="0" y="99842"/>
                </a:lnTo>
                <a:close/>
              </a:path>
            </a:pathLst>
          </a:cu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2583" tIns="82583" rIns="82583" bIns="82583" numCol="1" spcCol="1270" anchor="ctr" anchorCtr="0">
            <a:noAutofit/>
          </a:bodyPr>
          <a:lstStyle/>
          <a:p>
            <a:pPr lvl="0" algn="l" defTabSz="622300">
              <a:lnSpc>
                <a:spcPct val="90000"/>
              </a:lnSpc>
              <a:spcBef>
                <a:spcPct val="0"/>
              </a:spcBef>
              <a:spcAft>
                <a:spcPct val="35000"/>
              </a:spcAft>
            </a:pPr>
            <a:r>
              <a:rPr lang="en-US" sz="1400" b="1" kern="1200" dirty="0"/>
              <a:t>Social Development</a:t>
            </a:r>
          </a:p>
        </p:txBody>
      </p:sp>
      <p:sp>
        <p:nvSpPr>
          <p:cNvPr id="134" name="Freeform 133"/>
          <p:cNvSpPr/>
          <p:nvPr/>
        </p:nvSpPr>
        <p:spPr>
          <a:xfrm>
            <a:off x="439792" y="4068148"/>
            <a:ext cx="4185371" cy="818843"/>
          </a:xfrm>
          <a:custGeom>
            <a:avLst/>
            <a:gdLst>
              <a:gd name="connsiteX0" fmla="*/ 0 w 4185371"/>
              <a:gd name="connsiteY0" fmla="*/ 0 h 712080"/>
              <a:gd name="connsiteX1" fmla="*/ 4185371 w 4185371"/>
              <a:gd name="connsiteY1" fmla="*/ 0 h 712080"/>
              <a:gd name="connsiteX2" fmla="*/ 4185371 w 4185371"/>
              <a:gd name="connsiteY2" fmla="*/ 712080 h 712080"/>
              <a:gd name="connsiteX3" fmla="*/ 0 w 4185371"/>
              <a:gd name="connsiteY3" fmla="*/ 712080 h 712080"/>
              <a:gd name="connsiteX4" fmla="*/ 0 w 4185371"/>
              <a:gd name="connsiteY4" fmla="*/ 0 h 712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5371" h="712080">
                <a:moveTo>
                  <a:pt x="0" y="0"/>
                </a:moveTo>
                <a:lnTo>
                  <a:pt x="4185371" y="0"/>
                </a:lnTo>
                <a:lnTo>
                  <a:pt x="4185371" y="712080"/>
                </a:lnTo>
                <a:lnTo>
                  <a:pt x="0" y="71208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2886" tIns="17780" rIns="99568" bIns="17780" numCol="1" spcCol="1270" anchor="t" anchorCtr="0">
            <a:noAutofit/>
          </a:bodyPr>
          <a:lstStyle/>
          <a:p>
            <a:pPr marL="180975" lvl="1" indent="-180975" algn="l" defTabSz="622300">
              <a:lnSpc>
                <a:spcPct val="90000"/>
              </a:lnSpc>
              <a:spcBef>
                <a:spcPct val="0"/>
              </a:spcBef>
              <a:spcAft>
                <a:spcPts val="600"/>
              </a:spcAft>
              <a:buChar char="••"/>
            </a:pPr>
            <a:r>
              <a:rPr lang="en-US" sz="1400" kern="1200" dirty="0"/>
              <a:t>Ensure security of supply</a:t>
            </a:r>
          </a:p>
          <a:p>
            <a:pPr marL="180975" lvl="1" indent="-180975" algn="l" defTabSz="622300">
              <a:lnSpc>
                <a:spcPct val="90000"/>
              </a:lnSpc>
              <a:spcBef>
                <a:spcPct val="0"/>
              </a:spcBef>
              <a:spcAft>
                <a:spcPts val="600"/>
              </a:spcAft>
              <a:buChar char="••"/>
            </a:pPr>
            <a:r>
              <a:rPr lang="en-US" sz="1400" kern="1200" dirty="0"/>
              <a:t>Promote job creation and localization</a:t>
            </a:r>
          </a:p>
          <a:p>
            <a:pPr marL="180975" lvl="1" indent="-180975" algn="l" defTabSz="622300">
              <a:lnSpc>
                <a:spcPct val="90000"/>
              </a:lnSpc>
              <a:spcBef>
                <a:spcPct val="0"/>
              </a:spcBef>
              <a:spcAft>
                <a:spcPts val="600"/>
              </a:spcAft>
              <a:buChar char="••"/>
            </a:pPr>
            <a:r>
              <a:rPr lang="en-US" sz="1400" kern="1200" dirty="0"/>
              <a:t>Minimize cost of energy</a:t>
            </a:r>
          </a:p>
        </p:txBody>
      </p:sp>
      <p:sp>
        <p:nvSpPr>
          <p:cNvPr id="135" name="Freeform 134"/>
          <p:cNvSpPr/>
          <p:nvPr/>
        </p:nvSpPr>
        <p:spPr>
          <a:xfrm>
            <a:off x="439792" y="5083376"/>
            <a:ext cx="3960000" cy="403024"/>
          </a:xfrm>
          <a:custGeom>
            <a:avLst/>
            <a:gdLst>
              <a:gd name="connsiteX0" fmla="*/ 0 w 4185371"/>
              <a:gd name="connsiteY0" fmla="*/ 99842 h 599040"/>
              <a:gd name="connsiteX1" fmla="*/ 99842 w 4185371"/>
              <a:gd name="connsiteY1" fmla="*/ 0 h 599040"/>
              <a:gd name="connsiteX2" fmla="*/ 4085529 w 4185371"/>
              <a:gd name="connsiteY2" fmla="*/ 0 h 599040"/>
              <a:gd name="connsiteX3" fmla="*/ 4185371 w 4185371"/>
              <a:gd name="connsiteY3" fmla="*/ 99842 h 599040"/>
              <a:gd name="connsiteX4" fmla="*/ 4185371 w 4185371"/>
              <a:gd name="connsiteY4" fmla="*/ 499198 h 599040"/>
              <a:gd name="connsiteX5" fmla="*/ 4085529 w 4185371"/>
              <a:gd name="connsiteY5" fmla="*/ 599040 h 599040"/>
              <a:gd name="connsiteX6" fmla="*/ 99842 w 4185371"/>
              <a:gd name="connsiteY6" fmla="*/ 599040 h 599040"/>
              <a:gd name="connsiteX7" fmla="*/ 0 w 4185371"/>
              <a:gd name="connsiteY7" fmla="*/ 499198 h 599040"/>
              <a:gd name="connsiteX8" fmla="*/ 0 w 4185371"/>
              <a:gd name="connsiteY8" fmla="*/ 99842 h 59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85371" h="599040">
                <a:moveTo>
                  <a:pt x="0" y="99842"/>
                </a:moveTo>
                <a:cubicBezTo>
                  <a:pt x="0" y="44701"/>
                  <a:pt x="44701" y="0"/>
                  <a:pt x="99842" y="0"/>
                </a:cubicBezTo>
                <a:lnTo>
                  <a:pt x="4085529" y="0"/>
                </a:lnTo>
                <a:cubicBezTo>
                  <a:pt x="4140670" y="0"/>
                  <a:pt x="4185371" y="44701"/>
                  <a:pt x="4185371" y="99842"/>
                </a:cubicBezTo>
                <a:lnTo>
                  <a:pt x="4185371" y="499198"/>
                </a:lnTo>
                <a:cubicBezTo>
                  <a:pt x="4185371" y="554339"/>
                  <a:pt x="4140670" y="599040"/>
                  <a:pt x="4085529" y="599040"/>
                </a:cubicBezTo>
                <a:lnTo>
                  <a:pt x="99842" y="599040"/>
                </a:lnTo>
                <a:cubicBezTo>
                  <a:pt x="44701" y="599040"/>
                  <a:pt x="0" y="554339"/>
                  <a:pt x="0" y="499198"/>
                </a:cubicBezTo>
                <a:lnTo>
                  <a:pt x="0" y="99842"/>
                </a:lnTo>
                <a:close/>
              </a:path>
            </a:pathLst>
          </a:cu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2583" tIns="82583" rIns="82583" bIns="82583" numCol="1" spcCol="1270" anchor="ctr" anchorCtr="0">
            <a:noAutofit/>
          </a:bodyPr>
          <a:lstStyle/>
          <a:p>
            <a:pPr lvl="0" algn="l" defTabSz="622300">
              <a:lnSpc>
                <a:spcPct val="90000"/>
              </a:lnSpc>
              <a:spcBef>
                <a:spcPct val="0"/>
              </a:spcBef>
              <a:spcAft>
                <a:spcPct val="35000"/>
              </a:spcAft>
            </a:pPr>
            <a:r>
              <a:rPr lang="en-US" sz="1400" b="1" kern="1200" dirty="0"/>
              <a:t>Environmental Sustainability</a:t>
            </a:r>
          </a:p>
        </p:txBody>
      </p:sp>
      <p:sp>
        <p:nvSpPr>
          <p:cNvPr id="136" name="Freeform 135"/>
          <p:cNvSpPr/>
          <p:nvPr/>
        </p:nvSpPr>
        <p:spPr>
          <a:xfrm>
            <a:off x="439792" y="5626698"/>
            <a:ext cx="4185371" cy="1085443"/>
          </a:xfrm>
          <a:custGeom>
            <a:avLst/>
            <a:gdLst>
              <a:gd name="connsiteX0" fmla="*/ 0 w 4185371"/>
              <a:gd name="connsiteY0" fmla="*/ 0 h 943920"/>
              <a:gd name="connsiteX1" fmla="*/ 4185371 w 4185371"/>
              <a:gd name="connsiteY1" fmla="*/ 0 h 943920"/>
              <a:gd name="connsiteX2" fmla="*/ 4185371 w 4185371"/>
              <a:gd name="connsiteY2" fmla="*/ 943920 h 943920"/>
              <a:gd name="connsiteX3" fmla="*/ 0 w 4185371"/>
              <a:gd name="connsiteY3" fmla="*/ 943920 h 943920"/>
              <a:gd name="connsiteX4" fmla="*/ 0 w 4185371"/>
              <a:gd name="connsiteY4" fmla="*/ 0 h 943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5371" h="943920">
                <a:moveTo>
                  <a:pt x="0" y="0"/>
                </a:moveTo>
                <a:lnTo>
                  <a:pt x="4185371" y="0"/>
                </a:lnTo>
                <a:lnTo>
                  <a:pt x="4185371" y="943920"/>
                </a:lnTo>
                <a:lnTo>
                  <a:pt x="0" y="94392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2886" tIns="17780" rIns="99568" bIns="17780" numCol="1" spcCol="1270" anchor="t" anchorCtr="0">
            <a:noAutofit/>
          </a:bodyPr>
          <a:lstStyle/>
          <a:p>
            <a:pPr marL="180975" lvl="1" indent="-180975" algn="l" defTabSz="622300">
              <a:lnSpc>
                <a:spcPct val="90000"/>
              </a:lnSpc>
              <a:spcBef>
                <a:spcPct val="0"/>
              </a:spcBef>
              <a:spcAft>
                <a:spcPts val="600"/>
              </a:spcAft>
              <a:buChar char="••"/>
            </a:pPr>
            <a:r>
              <a:rPr lang="en-US" sz="1400" kern="1200" dirty="0"/>
              <a:t>Diversify Supply Sources</a:t>
            </a:r>
          </a:p>
          <a:p>
            <a:pPr marL="180975" lvl="1" indent="-180975" algn="l" defTabSz="622300">
              <a:lnSpc>
                <a:spcPct val="90000"/>
              </a:lnSpc>
              <a:spcBef>
                <a:spcPct val="0"/>
              </a:spcBef>
              <a:spcAft>
                <a:spcPts val="600"/>
              </a:spcAft>
              <a:buChar char="••"/>
            </a:pPr>
            <a:r>
              <a:rPr lang="en-US" sz="1400" kern="1200" dirty="0"/>
              <a:t>Minimize water consumption</a:t>
            </a:r>
          </a:p>
          <a:p>
            <a:pPr marL="180975" lvl="1" indent="-180975" algn="l" defTabSz="622300">
              <a:lnSpc>
                <a:spcPct val="90000"/>
              </a:lnSpc>
              <a:spcBef>
                <a:spcPct val="0"/>
              </a:spcBef>
              <a:spcAft>
                <a:spcPts val="600"/>
              </a:spcAft>
              <a:buChar char="••"/>
            </a:pPr>
            <a:r>
              <a:rPr lang="en-US" sz="1400" kern="1200" dirty="0"/>
              <a:t>Minimize environmental impacts</a:t>
            </a:r>
          </a:p>
          <a:p>
            <a:pPr marL="114300" lvl="1" indent="-114300" algn="l" defTabSz="622300">
              <a:lnSpc>
                <a:spcPct val="90000"/>
              </a:lnSpc>
              <a:spcBef>
                <a:spcPct val="0"/>
              </a:spcBef>
              <a:spcAft>
                <a:spcPts val="600"/>
              </a:spcAft>
              <a:buChar char="••"/>
            </a:pPr>
            <a:endParaRPr lang="en-US" sz="1400" kern="1200" dirty="0"/>
          </a:p>
        </p:txBody>
      </p:sp>
      <p:sp>
        <p:nvSpPr>
          <p:cNvPr id="138" name="TextBox 137"/>
          <p:cNvSpPr txBox="1"/>
          <p:nvPr/>
        </p:nvSpPr>
        <p:spPr>
          <a:xfrm>
            <a:off x="406851" y="1594797"/>
            <a:ext cx="4025882" cy="325867"/>
          </a:xfrm>
          <a:prstGeom prst="rect">
            <a:avLst/>
          </a:prstGeom>
          <a:noFill/>
        </p:spPr>
        <p:txBody>
          <a:bodyPr wrap="square" lIns="36000" tIns="36000" rIns="36000" bIns="36000" rtlCol="0">
            <a:noAutofit/>
          </a:bodyPr>
          <a:lstStyle/>
          <a:p>
            <a:pPr algn="ctr">
              <a:spcBef>
                <a:spcPts val="600"/>
              </a:spcBef>
              <a:buSzPct val="100000"/>
            </a:pPr>
            <a:r>
              <a:rPr lang="en-US" sz="1600" b="1" dirty="0">
                <a:solidFill>
                  <a:srgbClr val="313131"/>
                </a:solidFill>
              </a:rPr>
              <a:t>Objectives of Energy Plan</a:t>
            </a:r>
            <a:endParaRPr lang="en-IN" sz="1600" b="1" dirty="0">
              <a:solidFill>
                <a:srgbClr val="313131"/>
              </a:solidFill>
            </a:endParaRPr>
          </a:p>
        </p:txBody>
      </p:sp>
      <p:sp>
        <p:nvSpPr>
          <p:cNvPr id="12"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13"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Integrated Energy Planning intends to meet the energy demand in a safe and  environmentally sustainable manner</a:t>
            </a:r>
          </a:p>
        </p:txBody>
      </p:sp>
    </p:spTree>
    <p:extLst>
      <p:ext uri="{BB962C8B-B14F-4D97-AF65-F5344CB8AC3E}">
        <p14:creationId xmlns:p14="http://schemas.microsoft.com/office/powerpoint/2010/main" val="91086151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7152"/>
            <a:ext cx="7380133" cy="7570002"/>
          </a:xfrm>
          <a:prstGeom prst="rect">
            <a:avLst/>
          </a:prstGeom>
        </p:spPr>
      </p:pic>
      <p:cxnSp>
        <p:nvCxnSpPr>
          <p:cNvPr id="6" name="Straight Connector 5"/>
          <p:cNvCxnSpPr/>
          <p:nvPr/>
        </p:nvCxnSpPr>
        <p:spPr>
          <a:xfrm flipH="1">
            <a:off x="7555040" y="6517178"/>
            <a:ext cx="3133600" cy="1662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555040" y="5411237"/>
            <a:ext cx="3308505" cy="892937"/>
          </a:xfrm>
          <a:prstGeom prst="rect">
            <a:avLst/>
          </a:prstGeom>
        </p:spPr>
        <p:txBody>
          <a:bodyPr wrap="square" anchor="ctr">
            <a:spAutoFit/>
          </a:bodyPr>
          <a:lstStyle/>
          <a:p>
            <a:pPr>
              <a:lnSpc>
                <a:spcPct val="114000"/>
              </a:lnSpc>
              <a:spcAft>
                <a:spcPts val="3000"/>
              </a:spcAft>
            </a:pPr>
            <a:r>
              <a:rPr lang="en-US" sz="2400" b="1" dirty="0">
                <a:solidFill>
                  <a:schemeClr val="accent1"/>
                </a:solidFill>
                <a:latin typeface="Verdana" panose="020B0604030504040204" pitchFamily="34" charset="0"/>
                <a:ea typeface="Verdana" panose="020B0604030504040204" pitchFamily="34" charset="0"/>
                <a:cs typeface="Verdana" panose="020B0604030504040204" pitchFamily="34" charset="0"/>
              </a:rPr>
              <a:t>Approach &amp; Methodology</a:t>
            </a:r>
          </a:p>
        </p:txBody>
      </p:sp>
      <p:sp>
        <p:nvSpPr>
          <p:cNvPr id="8" name="TextBox 7"/>
          <p:cNvSpPr txBox="1"/>
          <p:nvPr/>
        </p:nvSpPr>
        <p:spPr>
          <a:xfrm>
            <a:off x="7797299" y="3965917"/>
            <a:ext cx="1551067" cy="1323439"/>
          </a:xfrm>
          <a:prstGeom prst="rect">
            <a:avLst/>
          </a:prstGeom>
          <a:noFill/>
        </p:spPr>
        <p:txBody>
          <a:bodyPr wrap="none" lIns="45720" rIns="45720" rtlCol="0">
            <a:spAutoFit/>
          </a:bodyPr>
          <a:lstStyle/>
          <a:p>
            <a:pPr algn="ctr">
              <a:spcBef>
                <a:spcPts val="400"/>
              </a:spcBef>
            </a:pPr>
            <a:r>
              <a:rPr lang="en-US" sz="8000" b="1" dirty="0">
                <a:solidFill>
                  <a:schemeClr val="accent1"/>
                </a:solidFill>
                <a:latin typeface="Verdana" panose="020B0604030504040204" pitchFamily="34" charset="0"/>
                <a:ea typeface="Verdana" panose="020B0604030504040204" pitchFamily="34" charset="0"/>
                <a:cs typeface="Verdana" panose="020B0604030504040204" pitchFamily="34" charset="0"/>
              </a:rPr>
              <a:t>03</a:t>
            </a:r>
            <a:endParaRPr lang="en-IN" sz="8000" b="1"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3" name="Straight Connector 12"/>
          <p:cNvCxnSpPr/>
          <p:nvPr/>
        </p:nvCxnSpPr>
        <p:spPr>
          <a:xfrm flipH="1">
            <a:off x="7555040" y="5372313"/>
            <a:ext cx="3133598" cy="2323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0997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50035" y="1488063"/>
            <a:ext cx="9261511" cy="5438741"/>
            <a:chOff x="750035" y="1241487"/>
            <a:chExt cx="9261511" cy="5438741"/>
          </a:xfrm>
        </p:grpSpPr>
        <p:sp>
          <p:nvSpPr>
            <p:cNvPr id="6" name="Text Box 3"/>
            <p:cNvSpPr txBox="1">
              <a:spLocks noChangeArrowheads="1"/>
            </p:cNvSpPr>
            <p:nvPr/>
          </p:nvSpPr>
          <p:spPr bwMode="auto">
            <a:xfrm>
              <a:off x="765437" y="6308921"/>
              <a:ext cx="1141451" cy="343165"/>
            </a:xfrm>
            <a:prstGeom prst="rect">
              <a:avLst/>
            </a:prstGeom>
            <a:noFill/>
            <a:ln w="9525" algn="ctr">
              <a:noFill/>
              <a:miter lim="800000"/>
              <a:headEnd/>
              <a:tailEnd/>
            </a:ln>
          </p:spPr>
          <p:txBody>
            <a:bodyPr wrap="square" lIns="0" tIns="0" rIns="0" bIns="0">
              <a:spAutoFit/>
            </a:bodyPr>
            <a:lstStyle/>
            <a:p>
              <a:r>
                <a:rPr lang="en-US" altLang="ja-JP" sz="1100" b="1" dirty="0">
                  <a:ea typeface="ＭＳ Ｐゴシック" charset="-128"/>
                </a:rPr>
                <a:t>Project</a:t>
              </a:r>
              <a:br>
                <a:rPr lang="en-US" altLang="ja-JP" sz="1100" b="1" dirty="0">
                  <a:ea typeface="ＭＳ Ｐゴシック" charset="-128"/>
                </a:rPr>
              </a:br>
              <a:r>
                <a:rPr lang="en-US" altLang="ja-JP" sz="1100" b="1" dirty="0">
                  <a:ea typeface="ＭＳ Ｐゴシック" charset="-128"/>
                </a:rPr>
                <a:t>management</a:t>
              </a:r>
            </a:p>
          </p:txBody>
        </p:sp>
        <p:sp>
          <p:nvSpPr>
            <p:cNvPr id="7" name="AutoShape 5"/>
            <p:cNvSpPr>
              <a:spLocks noChangeArrowheads="1"/>
            </p:cNvSpPr>
            <p:nvPr/>
          </p:nvSpPr>
          <p:spPr bwMode="auto">
            <a:xfrm>
              <a:off x="7271430" y="1243975"/>
              <a:ext cx="2631621" cy="556112"/>
            </a:xfrm>
            <a:prstGeom prst="chevron">
              <a:avLst>
                <a:gd name="adj" fmla="val 36855"/>
              </a:avLst>
            </a:prstGeom>
            <a:solidFill>
              <a:schemeClr val="accent3"/>
            </a:solidFill>
            <a:ln w="6350" algn="ctr">
              <a:noFill/>
              <a:miter lim="800000"/>
              <a:headEnd type="none" w="sm" len="sm"/>
              <a:tailEnd type="none" w="sm" len="sm"/>
            </a:ln>
          </p:spPr>
          <p:txBody>
            <a:bodyPr wrap="square" lIns="88900" tIns="88900" rIns="88900" bIns="88900" anchor="ctr"/>
            <a:lstStyle/>
            <a:p>
              <a:pPr marL="171450" indent="-171450"/>
              <a:r>
                <a:rPr lang="en-US" sz="1200" dirty="0">
                  <a:solidFill>
                    <a:schemeClr val="bg1"/>
                  </a:solidFill>
                  <a:cs typeface="Arial" pitchFamily="34" charset="0"/>
                </a:rPr>
                <a:t>3. Developing the Action Plan and consensus building</a:t>
              </a:r>
            </a:p>
          </p:txBody>
        </p:sp>
        <p:sp>
          <p:nvSpPr>
            <p:cNvPr id="8" name="AutoShape 6"/>
            <p:cNvSpPr>
              <a:spLocks noChangeArrowheads="1"/>
            </p:cNvSpPr>
            <p:nvPr/>
          </p:nvSpPr>
          <p:spPr bwMode="auto">
            <a:xfrm>
              <a:off x="1914108" y="1242094"/>
              <a:ext cx="2631621" cy="556112"/>
            </a:xfrm>
            <a:prstGeom prst="homePlate">
              <a:avLst>
                <a:gd name="adj" fmla="val 38784"/>
              </a:avLst>
            </a:prstGeom>
            <a:solidFill>
              <a:schemeClr val="accent3"/>
            </a:solidFill>
            <a:ln w="6350" algn="ctr">
              <a:noFill/>
              <a:miter lim="800000"/>
              <a:headEnd type="none" w="sm" len="sm"/>
              <a:tailEnd type="none" w="sm" len="sm"/>
            </a:ln>
          </p:spPr>
          <p:txBody>
            <a:bodyPr wrap="square" lIns="88900" tIns="88900" rIns="88900" bIns="88900" anchor="ctr"/>
            <a:lstStyle/>
            <a:p>
              <a:pPr marL="228600" indent="-228600">
                <a:buAutoNum type="arabicPeriod"/>
              </a:pPr>
              <a:r>
                <a:rPr lang="en-US" sz="1200" dirty="0">
                  <a:solidFill>
                    <a:schemeClr val="bg1"/>
                  </a:solidFill>
                  <a:cs typeface="Arial" pitchFamily="34" charset="0"/>
                </a:rPr>
                <a:t>Setting the objectives and vision for the states</a:t>
              </a:r>
            </a:p>
          </p:txBody>
        </p:sp>
        <p:sp>
          <p:nvSpPr>
            <p:cNvPr id="9" name="AutoShape 7"/>
            <p:cNvSpPr>
              <a:spLocks noChangeAspect="1" noChangeArrowheads="1"/>
            </p:cNvSpPr>
            <p:nvPr/>
          </p:nvSpPr>
          <p:spPr bwMode="auto">
            <a:xfrm>
              <a:off x="4620749" y="1241487"/>
              <a:ext cx="2624637" cy="556112"/>
            </a:xfrm>
            <a:prstGeom prst="chevron">
              <a:avLst>
                <a:gd name="adj" fmla="val 36855"/>
              </a:avLst>
            </a:prstGeom>
            <a:solidFill>
              <a:schemeClr val="accent3"/>
            </a:solidFill>
            <a:ln w="6350" algn="ctr">
              <a:noFill/>
              <a:miter lim="800000"/>
              <a:headEnd type="none" w="sm" len="sm"/>
              <a:tailEnd type="none" w="sm" len="sm"/>
            </a:ln>
          </p:spPr>
          <p:txBody>
            <a:bodyPr wrap="square" lIns="88900" tIns="88900" rIns="88900" bIns="88900" anchor="ctr">
              <a:noAutofit/>
            </a:bodyPr>
            <a:lstStyle/>
            <a:p>
              <a:pPr marL="228600" indent="-228600">
                <a:buAutoNum type="arabicPeriod" startAt="2"/>
              </a:pPr>
              <a:r>
                <a:rPr lang="en-US" sz="1200" dirty="0">
                  <a:solidFill>
                    <a:schemeClr val="bg1"/>
                  </a:solidFill>
                  <a:cs typeface="Arial" pitchFamily="34" charset="0"/>
                </a:rPr>
                <a:t>Analyzing </a:t>
              </a:r>
            </a:p>
            <a:p>
              <a:r>
                <a:rPr lang="en-US" sz="1200" dirty="0">
                  <a:solidFill>
                    <a:schemeClr val="bg1"/>
                  </a:solidFill>
                  <a:cs typeface="Arial" pitchFamily="34" charset="0"/>
                </a:rPr>
                <a:t>Alternate Pathways and scenario development</a:t>
              </a:r>
            </a:p>
          </p:txBody>
        </p:sp>
        <p:sp>
          <p:nvSpPr>
            <p:cNvPr id="10" name="Rectangle 9"/>
            <p:cNvSpPr>
              <a:spLocks noChangeArrowheads="1"/>
            </p:cNvSpPr>
            <p:nvPr/>
          </p:nvSpPr>
          <p:spPr bwMode="auto">
            <a:xfrm>
              <a:off x="1906889" y="1970756"/>
              <a:ext cx="2443703" cy="532879"/>
            </a:xfrm>
            <a:prstGeom prst="rect">
              <a:avLst/>
            </a:prstGeom>
            <a:solidFill>
              <a:schemeClr val="accent1"/>
            </a:solidFill>
            <a:ln w="12700" algn="ctr">
              <a:noFill/>
              <a:miter lim="800000"/>
              <a:headEnd type="none" w="sm" len="sm"/>
              <a:tailEnd/>
            </a:ln>
          </p:spPr>
          <p:txBody>
            <a:bodyPr wrap="square" lIns="88900" tIns="88900" rIns="88900" bIns="88900" anchor="ctr">
              <a:noAutofit/>
            </a:bodyPr>
            <a:lstStyle/>
            <a:p>
              <a:pPr algn="ctr">
                <a:defRPr/>
              </a:pPr>
              <a:r>
                <a:rPr lang="en-US" altLang="ja-JP" sz="1200" dirty="0">
                  <a:solidFill>
                    <a:schemeClr val="bg1"/>
                  </a:solidFill>
                  <a:ea typeface="ＭＳ Ｐゴシック" pitchFamily="50" charset="-128"/>
                </a:rPr>
                <a:t>Document strategic </a:t>
              </a:r>
              <a:br>
                <a:rPr lang="en-US" altLang="ja-JP" sz="1200" dirty="0">
                  <a:solidFill>
                    <a:schemeClr val="bg1"/>
                  </a:solidFill>
                  <a:ea typeface="ＭＳ Ｐゴシック" pitchFamily="50" charset="-128"/>
                </a:rPr>
              </a:br>
              <a:r>
                <a:rPr lang="en-US" altLang="ja-JP" sz="1200" dirty="0">
                  <a:solidFill>
                    <a:schemeClr val="bg1"/>
                  </a:solidFill>
                  <a:ea typeface="ＭＳ Ｐゴシック" pitchFamily="50" charset="-128"/>
                </a:rPr>
                <a:t>direction and objectives</a:t>
              </a:r>
            </a:p>
          </p:txBody>
        </p:sp>
        <p:sp>
          <p:nvSpPr>
            <p:cNvPr id="12" name="Rectangle 11"/>
            <p:cNvSpPr>
              <a:spLocks noChangeArrowheads="1"/>
            </p:cNvSpPr>
            <p:nvPr/>
          </p:nvSpPr>
          <p:spPr bwMode="auto">
            <a:xfrm>
              <a:off x="1987347" y="3465818"/>
              <a:ext cx="2485492" cy="2538388"/>
            </a:xfrm>
            <a:prstGeom prst="rect">
              <a:avLst/>
            </a:prstGeom>
            <a:solidFill>
              <a:schemeClr val="bg2"/>
            </a:solidFill>
            <a:ln w="12700" algn="ctr">
              <a:noFill/>
              <a:miter lim="800000"/>
              <a:headEnd type="none" w="sm" len="sm"/>
              <a:tailEnd/>
            </a:ln>
          </p:spPr>
          <p:txBody>
            <a:bodyPr wrap="square" lIns="88900" tIns="88900" rIns="88900" bIns="88900" anchor="ctr">
              <a:noAutofit/>
            </a:bodyPr>
            <a:lstStyle/>
            <a:p>
              <a:pPr marL="228600" indent="-228600">
                <a:buAutoNum type="arabicPeriod"/>
                <a:defRPr/>
              </a:pPr>
              <a:r>
                <a:rPr lang="en-US" altLang="ja-JP" sz="1200" dirty="0">
                  <a:ea typeface="ＭＳ Ｐゴシック" pitchFamily="50" charset="-128"/>
                </a:rPr>
                <a:t>Desk Review of Existing Policies, Plans and Schemes</a:t>
              </a:r>
            </a:p>
            <a:p>
              <a:pPr marL="228600" indent="-228600">
                <a:buAutoNum type="arabicPeriod"/>
                <a:defRPr/>
              </a:pPr>
              <a:r>
                <a:rPr lang="en-US" altLang="ja-JP" sz="1200" dirty="0">
                  <a:ea typeface="ＭＳ Ｐゴシック" pitchFamily="50" charset="-128"/>
                </a:rPr>
                <a:t>Agenda-setting</a:t>
              </a:r>
            </a:p>
            <a:p>
              <a:pPr marL="228600" indent="-228600">
                <a:buAutoNum type="arabicPeriod"/>
                <a:defRPr/>
              </a:pPr>
              <a:r>
                <a:rPr lang="en-US" altLang="ja-JP" sz="1200" dirty="0">
                  <a:ea typeface="ＭＳ Ｐゴシック" pitchFamily="50" charset="-128"/>
                </a:rPr>
                <a:t>Stakeholder Analysis</a:t>
              </a:r>
            </a:p>
            <a:p>
              <a:pPr marL="228600" indent="-228600">
                <a:buFontTx/>
                <a:buAutoNum type="arabicPeriod"/>
                <a:defRPr/>
              </a:pPr>
              <a:r>
                <a:rPr lang="en-US" altLang="ja-JP" sz="1200" dirty="0">
                  <a:ea typeface="ＭＳ Ｐゴシック" pitchFamily="50" charset="-128"/>
                </a:rPr>
                <a:t>Mapping Inter-departmental Linkages</a:t>
              </a:r>
            </a:p>
            <a:p>
              <a:pPr marL="228600" indent="-228600">
                <a:buFontTx/>
                <a:buAutoNum type="arabicPeriod"/>
                <a:defRPr/>
              </a:pPr>
              <a:r>
                <a:rPr lang="en-US" altLang="ja-JP" sz="1200" dirty="0">
                  <a:ea typeface="ＭＳ Ｐゴシック" pitchFamily="50" charset="-128"/>
                </a:rPr>
                <a:t>Preparation of Database formats and baseline assessment</a:t>
              </a:r>
            </a:p>
            <a:p>
              <a:pPr marL="228600" indent="-228600">
                <a:buFontTx/>
                <a:buAutoNum type="arabicPeriod"/>
                <a:defRPr/>
              </a:pPr>
              <a:r>
                <a:rPr lang="en-US" altLang="ja-JP" sz="1200" dirty="0">
                  <a:ea typeface="ＭＳ Ｐゴシック" pitchFamily="50" charset="-128"/>
                </a:rPr>
                <a:t>Assumption building and database creation</a:t>
              </a:r>
            </a:p>
          </p:txBody>
        </p:sp>
        <p:sp>
          <p:nvSpPr>
            <p:cNvPr id="16" name="Text Box 20"/>
            <p:cNvSpPr txBox="1">
              <a:spLocks noChangeArrowheads="1"/>
            </p:cNvSpPr>
            <p:nvPr/>
          </p:nvSpPr>
          <p:spPr bwMode="auto">
            <a:xfrm>
              <a:off x="765437" y="2181798"/>
              <a:ext cx="1017018" cy="369332"/>
            </a:xfrm>
            <a:prstGeom prst="rect">
              <a:avLst/>
            </a:prstGeom>
            <a:noFill/>
            <a:ln w="9525" algn="ctr">
              <a:noFill/>
              <a:miter lim="800000"/>
              <a:headEnd/>
              <a:tailEnd/>
            </a:ln>
          </p:spPr>
          <p:txBody>
            <a:bodyPr wrap="square" lIns="0" tIns="0" rIns="0" bIns="0">
              <a:spAutoFit/>
            </a:bodyPr>
            <a:lstStyle/>
            <a:p>
              <a:r>
                <a:rPr lang="en-US" altLang="ja-JP" sz="1200" b="1" dirty="0">
                  <a:ea typeface="ＭＳ Ｐゴシック" charset="-128"/>
                </a:rPr>
                <a:t>Plan</a:t>
              </a:r>
            </a:p>
            <a:p>
              <a:r>
                <a:rPr lang="en-US" altLang="ja-JP" sz="1200" b="1" dirty="0">
                  <a:ea typeface="ＭＳ Ｐゴシック" charset="-128"/>
                </a:rPr>
                <a:t>objectives</a:t>
              </a:r>
            </a:p>
          </p:txBody>
        </p:sp>
        <p:sp>
          <p:nvSpPr>
            <p:cNvPr id="17" name="Text Box 21"/>
            <p:cNvSpPr txBox="1">
              <a:spLocks noChangeArrowheads="1"/>
            </p:cNvSpPr>
            <p:nvPr/>
          </p:nvSpPr>
          <p:spPr bwMode="auto">
            <a:xfrm>
              <a:off x="765437" y="2943591"/>
              <a:ext cx="1017018" cy="169277"/>
            </a:xfrm>
            <a:prstGeom prst="rect">
              <a:avLst/>
            </a:prstGeom>
            <a:noFill/>
            <a:ln w="9525" algn="ctr">
              <a:noFill/>
              <a:miter lim="800000"/>
              <a:headEnd/>
              <a:tailEnd/>
            </a:ln>
          </p:spPr>
          <p:txBody>
            <a:bodyPr wrap="square" lIns="0" tIns="0" rIns="0" bIns="0">
              <a:spAutoFit/>
            </a:bodyPr>
            <a:lstStyle/>
            <a:p>
              <a:endParaRPr lang="en-US" altLang="ja-JP" sz="1100" b="1" dirty="0">
                <a:ea typeface="ＭＳ Ｐゴシック" charset="-128"/>
              </a:endParaRPr>
            </a:p>
          </p:txBody>
        </p:sp>
        <p:sp>
          <p:nvSpPr>
            <p:cNvPr id="18" name="Text Box 22"/>
            <p:cNvSpPr txBox="1">
              <a:spLocks noChangeArrowheads="1"/>
            </p:cNvSpPr>
            <p:nvPr/>
          </p:nvSpPr>
          <p:spPr bwMode="auto">
            <a:xfrm>
              <a:off x="810085" y="4221072"/>
              <a:ext cx="1017018" cy="677108"/>
            </a:xfrm>
            <a:prstGeom prst="rect">
              <a:avLst/>
            </a:prstGeom>
            <a:noFill/>
            <a:ln w="9525" algn="ctr">
              <a:noFill/>
              <a:miter lim="800000"/>
              <a:headEnd/>
              <a:tailEnd/>
            </a:ln>
          </p:spPr>
          <p:txBody>
            <a:bodyPr wrap="square" lIns="0" tIns="0" rIns="0" bIns="0">
              <a:spAutoFit/>
            </a:bodyPr>
            <a:lstStyle/>
            <a:p>
              <a:r>
                <a:rPr lang="en-US" altLang="ja-JP" sz="1100" b="1" dirty="0">
                  <a:ea typeface="ＭＳ Ｐゴシック" charset="-128"/>
                </a:rPr>
                <a:t>Strategic</a:t>
              </a:r>
            </a:p>
            <a:p>
              <a:r>
                <a:rPr lang="en-US" altLang="ja-JP" sz="1100" b="1" dirty="0">
                  <a:ea typeface="ＭＳ Ｐゴシック" charset="-128"/>
                </a:rPr>
                <a:t>analysis</a:t>
              </a:r>
            </a:p>
            <a:p>
              <a:r>
                <a:rPr lang="en-US" altLang="ja-JP" sz="1100" b="1" dirty="0">
                  <a:ea typeface="ＭＳ Ｐゴシック" charset="-128"/>
                </a:rPr>
                <a:t> and Key Activities</a:t>
              </a:r>
            </a:p>
          </p:txBody>
        </p:sp>
        <p:sp>
          <p:nvSpPr>
            <p:cNvPr id="20" name="Line 24"/>
            <p:cNvSpPr>
              <a:spLocks noChangeShapeType="1"/>
            </p:cNvSpPr>
            <p:nvPr/>
          </p:nvSpPr>
          <p:spPr bwMode="auto">
            <a:xfrm>
              <a:off x="802331" y="3330148"/>
              <a:ext cx="9209215"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23" name="Line 28"/>
            <p:cNvSpPr>
              <a:spLocks noChangeShapeType="1"/>
            </p:cNvSpPr>
            <p:nvPr/>
          </p:nvSpPr>
          <p:spPr bwMode="auto">
            <a:xfrm>
              <a:off x="750035" y="6080336"/>
              <a:ext cx="9209215"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24" name="Rectangle 23"/>
            <p:cNvSpPr>
              <a:spLocks noChangeArrowheads="1"/>
            </p:cNvSpPr>
            <p:nvPr/>
          </p:nvSpPr>
          <p:spPr bwMode="auto">
            <a:xfrm>
              <a:off x="1906888" y="6247514"/>
              <a:ext cx="8052361" cy="432714"/>
            </a:xfrm>
            <a:prstGeom prst="rect">
              <a:avLst/>
            </a:prstGeom>
            <a:solidFill>
              <a:schemeClr val="accent5"/>
            </a:solidFill>
            <a:ln w="12700" algn="ctr">
              <a:noFill/>
              <a:miter lim="800000"/>
              <a:headEnd type="none" w="sm" len="sm"/>
              <a:tailEnd/>
            </a:ln>
          </p:spPr>
          <p:txBody>
            <a:bodyPr wrap="square" lIns="88900" tIns="88900" rIns="88900" bIns="88900" anchor="ctr">
              <a:noAutofit/>
            </a:bodyPr>
            <a:lstStyle/>
            <a:p>
              <a:pPr algn="ctr">
                <a:defRPr/>
              </a:pPr>
              <a:r>
                <a:rPr lang="en-US" altLang="ja-JP" sz="1200" dirty="0">
                  <a:solidFill>
                    <a:schemeClr val="bg1"/>
                  </a:solidFill>
                  <a:ea typeface="ＭＳ Ｐゴシック" pitchFamily="50" charset="-128"/>
                </a:rPr>
                <a:t>Monitoring and Execution, Stakeholder Engagement and Training of Project Monitoring Unit (PMU)</a:t>
              </a:r>
            </a:p>
          </p:txBody>
        </p:sp>
        <p:grpSp>
          <p:nvGrpSpPr>
            <p:cNvPr id="3" name="Group 2"/>
            <p:cNvGrpSpPr/>
            <p:nvPr/>
          </p:nvGrpSpPr>
          <p:grpSpPr>
            <a:xfrm>
              <a:off x="1983624" y="2536572"/>
              <a:ext cx="2366968" cy="709622"/>
              <a:chOff x="1906889" y="2159946"/>
              <a:chExt cx="2366968" cy="709622"/>
            </a:xfrm>
          </p:grpSpPr>
          <p:sp>
            <p:nvSpPr>
              <p:cNvPr id="27" name="AutoShape 55"/>
              <p:cNvSpPr>
                <a:spLocks noChangeArrowheads="1"/>
              </p:cNvSpPr>
              <p:nvPr/>
            </p:nvSpPr>
            <p:spPr bwMode="auto">
              <a:xfrm>
                <a:off x="2017286" y="2446209"/>
                <a:ext cx="1019202" cy="182452"/>
              </a:xfrm>
              <a:prstGeom prst="roundRect">
                <a:avLst>
                  <a:gd name="adj" fmla="val 50000"/>
                </a:avLst>
              </a:prstGeom>
              <a:solidFill>
                <a:schemeClr val="bg1"/>
              </a:solidFill>
              <a:ln w="6350" algn="ctr">
                <a:solidFill>
                  <a:schemeClr val="accent1"/>
                </a:solidFill>
                <a:round/>
                <a:headEnd type="none" w="sm" len="sm"/>
                <a:tailEnd type="none" w="sm" len="sm"/>
              </a:ln>
              <a:effectLst/>
            </p:spPr>
            <p:txBody>
              <a:bodyPr wrap="none" tIns="91440" bIns="91440" anchor="ctr"/>
              <a:lstStyle/>
              <a:p>
                <a:pPr algn="ctr">
                  <a:defRPr/>
                </a:pPr>
                <a:r>
                  <a:rPr lang="en-US" altLang="ja-JP" sz="1100" dirty="0">
                    <a:ea typeface="ＭＳ Ｐゴシック" pitchFamily="50" charset="-128"/>
                  </a:rPr>
                  <a:t>Least Cost</a:t>
                </a:r>
              </a:p>
            </p:txBody>
          </p:sp>
          <p:sp>
            <p:nvSpPr>
              <p:cNvPr id="28" name="AutoShape 55"/>
              <p:cNvSpPr>
                <a:spLocks noChangeArrowheads="1"/>
              </p:cNvSpPr>
              <p:nvPr/>
            </p:nvSpPr>
            <p:spPr bwMode="auto">
              <a:xfrm>
                <a:off x="2017286" y="2686720"/>
                <a:ext cx="1019202" cy="182452"/>
              </a:xfrm>
              <a:prstGeom prst="roundRect">
                <a:avLst>
                  <a:gd name="adj" fmla="val 50000"/>
                </a:avLst>
              </a:prstGeom>
              <a:solidFill>
                <a:schemeClr val="bg1"/>
              </a:solidFill>
              <a:ln w="6350" algn="ctr">
                <a:solidFill>
                  <a:schemeClr val="accent1"/>
                </a:solidFill>
                <a:round/>
                <a:headEnd type="none" w="sm" len="sm"/>
                <a:tailEnd type="none" w="sm" len="sm"/>
              </a:ln>
              <a:effectLst/>
            </p:spPr>
            <p:txBody>
              <a:bodyPr wrap="none" tIns="91440" bIns="91440" anchor="ctr"/>
              <a:lstStyle/>
              <a:p>
                <a:pPr algn="ctr">
                  <a:defRPr/>
                </a:pPr>
                <a:r>
                  <a:rPr lang="en-US" altLang="ja-JP" sz="1000" dirty="0">
                    <a:ea typeface="ＭＳ Ｐゴシック" pitchFamily="50" charset="-128"/>
                  </a:rPr>
                  <a:t>Self sufficient</a:t>
                </a:r>
              </a:p>
            </p:txBody>
          </p:sp>
          <p:sp>
            <p:nvSpPr>
              <p:cNvPr id="29" name="AutoShape 55"/>
              <p:cNvSpPr>
                <a:spLocks noChangeArrowheads="1"/>
              </p:cNvSpPr>
              <p:nvPr/>
            </p:nvSpPr>
            <p:spPr bwMode="auto">
              <a:xfrm>
                <a:off x="2017286" y="2215296"/>
                <a:ext cx="1019202" cy="182452"/>
              </a:xfrm>
              <a:prstGeom prst="roundRect">
                <a:avLst>
                  <a:gd name="adj" fmla="val 50000"/>
                </a:avLst>
              </a:prstGeom>
              <a:solidFill>
                <a:schemeClr val="bg1"/>
              </a:solidFill>
              <a:ln w="6350" algn="ctr">
                <a:solidFill>
                  <a:schemeClr val="accent1"/>
                </a:solidFill>
                <a:round/>
                <a:headEnd type="none" w="sm" len="sm"/>
                <a:tailEnd type="none" w="sm" len="sm"/>
              </a:ln>
              <a:effectLst/>
            </p:spPr>
            <p:txBody>
              <a:bodyPr wrap="none" tIns="91440" bIns="91440" anchor="ctr"/>
              <a:lstStyle/>
              <a:p>
                <a:pPr algn="ctr">
                  <a:defRPr/>
                </a:pPr>
                <a:r>
                  <a:rPr lang="en-US" altLang="ja-JP" sz="1100" dirty="0">
                    <a:ea typeface="ＭＳ Ｐゴシック" pitchFamily="50" charset="-128"/>
                  </a:rPr>
                  <a:t>Clean</a:t>
                </a:r>
              </a:p>
            </p:txBody>
          </p:sp>
          <p:sp>
            <p:nvSpPr>
              <p:cNvPr id="30" name="AutoShape 55"/>
              <p:cNvSpPr>
                <a:spLocks noChangeArrowheads="1"/>
              </p:cNvSpPr>
              <p:nvPr/>
            </p:nvSpPr>
            <p:spPr bwMode="auto">
              <a:xfrm>
                <a:off x="3254655" y="2207602"/>
                <a:ext cx="1019202" cy="182452"/>
              </a:xfrm>
              <a:prstGeom prst="roundRect">
                <a:avLst>
                  <a:gd name="adj" fmla="val 50000"/>
                </a:avLst>
              </a:prstGeom>
              <a:solidFill>
                <a:schemeClr val="bg1"/>
              </a:solidFill>
              <a:ln w="6350" algn="ctr">
                <a:solidFill>
                  <a:schemeClr val="accent1"/>
                </a:solidFill>
                <a:round/>
                <a:headEnd type="none" w="sm" len="sm"/>
                <a:tailEnd type="none" w="sm" len="sm"/>
              </a:ln>
              <a:effectLst/>
            </p:spPr>
            <p:txBody>
              <a:bodyPr wrap="none" tIns="91440" bIns="91440" anchor="ctr"/>
              <a:lstStyle/>
              <a:p>
                <a:pPr algn="ctr">
                  <a:defRPr/>
                </a:pPr>
                <a:r>
                  <a:rPr lang="en-US" altLang="ja-JP" sz="1100" dirty="0">
                    <a:ea typeface="ＭＳ Ｐゴシック" pitchFamily="50" charset="-128"/>
                  </a:rPr>
                  <a:t>Affordability</a:t>
                </a:r>
              </a:p>
            </p:txBody>
          </p:sp>
          <p:sp>
            <p:nvSpPr>
              <p:cNvPr id="31" name="AutoShape 55"/>
              <p:cNvSpPr>
                <a:spLocks noChangeArrowheads="1"/>
              </p:cNvSpPr>
              <p:nvPr/>
            </p:nvSpPr>
            <p:spPr bwMode="auto">
              <a:xfrm>
                <a:off x="3254655" y="2446209"/>
                <a:ext cx="1019202" cy="182452"/>
              </a:xfrm>
              <a:prstGeom prst="roundRect">
                <a:avLst>
                  <a:gd name="adj" fmla="val 50000"/>
                </a:avLst>
              </a:prstGeom>
              <a:solidFill>
                <a:schemeClr val="bg1"/>
              </a:solidFill>
              <a:ln w="6350" algn="ctr">
                <a:solidFill>
                  <a:schemeClr val="accent1"/>
                </a:solidFill>
                <a:round/>
                <a:headEnd type="none" w="sm" len="sm"/>
                <a:tailEnd type="none" w="sm" len="sm"/>
              </a:ln>
              <a:effectLst/>
            </p:spPr>
            <p:txBody>
              <a:bodyPr wrap="none" tIns="91440" bIns="91440" anchor="ctr"/>
              <a:lstStyle/>
              <a:p>
                <a:pPr algn="ctr">
                  <a:defRPr/>
                </a:pPr>
                <a:r>
                  <a:rPr lang="en-US" altLang="ja-JP" sz="1100" dirty="0">
                    <a:ea typeface="ＭＳ Ｐゴシック" pitchFamily="50" charset="-128"/>
                  </a:rPr>
                  <a:t>Efficiency</a:t>
                </a:r>
              </a:p>
            </p:txBody>
          </p:sp>
          <p:sp>
            <p:nvSpPr>
              <p:cNvPr id="32" name="AutoShape 55"/>
              <p:cNvSpPr>
                <a:spLocks noChangeArrowheads="1"/>
              </p:cNvSpPr>
              <p:nvPr/>
            </p:nvSpPr>
            <p:spPr bwMode="auto">
              <a:xfrm>
                <a:off x="3254655" y="2687116"/>
                <a:ext cx="1019202" cy="182452"/>
              </a:xfrm>
              <a:prstGeom prst="roundRect">
                <a:avLst>
                  <a:gd name="adj" fmla="val 50000"/>
                </a:avLst>
              </a:prstGeom>
              <a:solidFill>
                <a:schemeClr val="bg1"/>
              </a:solidFill>
              <a:ln w="6350" algn="ctr">
                <a:solidFill>
                  <a:schemeClr val="accent1"/>
                </a:solidFill>
                <a:round/>
                <a:headEnd type="none" w="sm" len="sm"/>
                <a:tailEnd type="none" w="sm" len="sm"/>
              </a:ln>
              <a:effectLst/>
            </p:spPr>
            <p:txBody>
              <a:bodyPr wrap="none" tIns="91440" bIns="91440" anchor="ctr"/>
              <a:lstStyle/>
              <a:p>
                <a:pPr algn="ctr">
                  <a:defRPr/>
                </a:pPr>
                <a:r>
                  <a:rPr lang="en-US" altLang="ja-JP" sz="1000" dirty="0">
                    <a:ea typeface="ＭＳ Ｐゴシック" pitchFamily="50" charset="-128"/>
                  </a:rPr>
                  <a:t>Sustainable</a:t>
                </a:r>
              </a:p>
            </p:txBody>
          </p:sp>
          <p:cxnSp>
            <p:nvCxnSpPr>
              <p:cNvPr id="33" name="Straight Connector 32"/>
              <p:cNvCxnSpPr/>
              <p:nvPr/>
            </p:nvCxnSpPr>
            <p:spPr>
              <a:xfrm>
                <a:off x="1906889" y="2172280"/>
                <a:ext cx="0" cy="618000"/>
              </a:xfrm>
              <a:prstGeom prst="line">
                <a:avLst/>
              </a:prstGeom>
              <a:ln w="28575">
                <a:solidFill>
                  <a:schemeClr val="accent1"/>
                </a:solidFill>
              </a:ln>
            </p:spPr>
            <p:style>
              <a:lnRef idx="1">
                <a:schemeClr val="accent4"/>
              </a:lnRef>
              <a:fillRef idx="0">
                <a:schemeClr val="accent4"/>
              </a:fillRef>
              <a:effectRef idx="0">
                <a:schemeClr val="accent4"/>
              </a:effectRef>
              <a:fontRef idx="minor">
                <a:schemeClr val="tx1"/>
              </a:fontRef>
            </p:style>
          </p:cxnSp>
          <p:cxnSp>
            <p:nvCxnSpPr>
              <p:cNvPr id="34" name="Straight Connector 33"/>
              <p:cNvCxnSpPr/>
              <p:nvPr/>
            </p:nvCxnSpPr>
            <p:spPr>
              <a:xfrm>
                <a:off x="3143631" y="2159946"/>
                <a:ext cx="0" cy="618000"/>
              </a:xfrm>
              <a:prstGeom prst="line">
                <a:avLst/>
              </a:prstGeom>
              <a:ln w="28575">
                <a:solidFill>
                  <a:schemeClr val="accent1"/>
                </a:solidFill>
              </a:ln>
            </p:spPr>
            <p:style>
              <a:lnRef idx="1">
                <a:schemeClr val="accent4"/>
              </a:lnRef>
              <a:fillRef idx="0">
                <a:schemeClr val="accent4"/>
              </a:fillRef>
              <a:effectRef idx="0">
                <a:schemeClr val="accent4"/>
              </a:effectRef>
              <a:fontRef idx="minor">
                <a:schemeClr val="tx1"/>
              </a:fontRef>
            </p:style>
          </p:cxnSp>
          <p:cxnSp>
            <p:nvCxnSpPr>
              <p:cNvPr id="35" name="Straight Connector 34"/>
              <p:cNvCxnSpPr>
                <a:stCxn id="29" idx="1"/>
              </p:cNvCxnSpPr>
              <p:nvPr/>
            </p:nvCxnSpPr>
            <p:spPr>
              <a:xfrm flipH="1">
                <a:off x="1919694" y="2306521"/>
                <a:ext cx="97592" cy="1669"/>
              </a:xfrm>
              <a:prstGeom prst="line">
                <a:avLst/>
              </a:prstGeom>
              <a:ln w="28575">
                <a:solidFill>
                  <a:schemeClr val="accent1"/>
                </a:solidFill>
              </a:ln>
            </p:spPr>
            <p:style>
              <a:lnRef idx="1">
                <a:schemeClr val="accent4"/>
              </a:lnRef>
              <a:fillRef idx="0">
                <a:schemeClr val="accent4"/>
              </a:fillRef>
              <a:effectRef idx="0">
                <a:schemeClr val="accent4"/>
              </a:effectRef>
              <a:fontRef idx="minor">
                <a:schemeClr val="tx1"/>
              </a:fontRef>
            </p:style>
          </p:cxnSp>
          <p:cxnSp>
            <p:nvCxnSpPr>
              <p:cNvPr id="36" name="Straight Connector 35"/>
              <p:cNvCxnSpPr/>
              <p:nvPr/>
            </p:nvCxnSpPr>
            <p:spPr>
              <a:xfrm flipH="1">
                <a:off x="1914919" y="2534206"/>
                <a:ext cx="97592" cy="1669"/>
              </a:xfrm>
              <a:prstGeom prst="line">
                <a:avLst/>
              </a:prstGeom>
              <a:ln w="28575">
                <a:solidFill>
                  <a:schemeClr val="accent1"/>
                </a:solidFill>
              </a:ln>
            </p:spPr>
            <p:style>
              <a:lnRef idx="1">
                <a:schemeClr val="accent4"/>
              </a:lnRef>
              <a:fillRef idx="0">
                <a:schemeClr val="accent4"/>
              </a:fillRef>
              <a:effectRef idx="0">
                <a:schemeClr val="accent4"/>
              </a:effectRef>
              <a:fontRef idx="minor">
                <a:schemeClr val="tx1"/>
              </a:fontRef>
            </p:style>
          </p:cxnSp>
          <p:cxnSp>
            <p:nvCxnSpPr>
              <p:cNvPr id="37" name="Straight Connector 36"/>
              <p:cNvCxnSpPr/>
              <p:nvPr/>
            </p:nvCxnSpPr>
            <p:spPr>
              <a:xfrm flipH="1">
                <a:off x="1907151" y="2772714"/>
                <a:ext cx="97592" cy="1669"/>
              </a:xfrm>
              <a:prstGeom prst="line">
                <a:avLst/>
              </a:prstGeom>
              <a:ln w="28575">
                <a:solidFill>
                  <a:schemeClr val="accent1"/>
                </a:solidFill>
              </a:ln>
            </p:spPr>
            <p:style>
              <a:lnRef idx="1">
                <a:schemeClr val="accent4"/>
              </a:lnRef>
              <a:fillRef idx="0">
                <a:schemeClr val="accent4"/>
              </a:fillRef>
              <a:effectRef idx="0">
                <a:schemeClr val="accent4"/>
              </a:effectRef>
              <a:fontRef idx="minor">
                <a:schemeClr val="tx1"/>
              </a:fontRef>
            </p:style>
          </p:cxnSp>
          <p:cxnSp>
            <p:nvCxnSpPr>
              <p:cNvPr id="38" name="Straight Connector 37"/>
              <p:cNvCxnSpPr/>
              <p:nvPr/>
            </p:nvCxnSpPr>
            <p:spPr>
              <a:xfrm flipH="1">
                <a:off x="3153184" y="2287018"/>
                <a:ext cx="97592" cy="1669"/>
              </a:xfrm>
              <a:prstGeom prst="line">
                <a:avLst/>
              </a:prstGeom>
              <a:ln w="28575">
                <a:solidFill>
                  <a:schemeClr val="accent1"/>
                </a:solidFill>
              </a:ln>
            </p:spPr>
            <p:style>
              <a:lnRef idx="1">
                <a:schemeClr val="accent4"/>
              </a:lnRef>
              <a:fillRef idx="0">
                <a:schemeClr val="accent4"/>
              </a:fillRef>
              <a:effectRef idx="0">
                <a:schemeClr val="accent4"/>
              </a:effectRef>
              <a:fontRef idx="minor">
                <a:schemeClr val="tx1"/>
              </a:fontRef>
            </p:style>
          </p:cxnSp>
          <p:cxnSp>
            <p:nvCxnSpPr>
              <p:cNvPr id="39" name="Straight Connector 38"/>
              <p:cNvCxnSpPr/>
              <p:nvPr/>
            </p:nvCxnSpPr>
            <p:spPr>
              <a:xfrm flipH="1">
                <a:off x="3153184" y="2525458"/>
                <a:ext cx="97592" cy="1669"/>
              </a:xfrm>
              <a:prstGeom prst="line">
                <a:avLst/>
              </a:prstGeom>
              <a:ln w="28575">
                <a:solidFill>
                  <a:schemeClr val="accent1"/>
                </a:solidFill>
              </a:ln>
            </p:spPr>
            <p:style>
              <a:lnRef idx="1">
                <a:schemeClr val="accent4"/>
              </a:lnRef>
              <a:fillRef idx="0">
                <a:schemeClr val="accent4"/>
              </a:fillRef>
              <a:effectRef idx="0">
                <a:schemeClr val="accent4"/>
              </a:effectRef>
              <a:fontRef idx="minor">
                <a:schemeClr val="tx1"/>
              </a:fontRef>
            </p:style>
          </p:cxnSp>
          <p:cxnSp>
            <p:nvCxnSpPr>
              <p:cNvPr id="40" name="Straight Connector 39"/>
              <p:cNvCxnSpPr/>
              <p:nvPr/>
            </p:nvCxnSpPr>
            <p:spPr>
              <a:xfrm flipH="1">
                <a:off x="3139118" y="2771045"/>
                <a:ext cx="97592" cy="1669"/>
              </a:xfrm>
              <a:prstGeom prst="line">
                <a:avLst/>
              </a:prstGeom>
              <a:ln w="28575">
                <a:solidFill>
                  <a:schemeClr val="accent1"/>
                </a:solidFill>
              </a:ln>
            </p:spPr>
            <p:style>
              <a:lnRef idx="1">
                <a:schemeClr val="accent4"/>
              </a:lnRef>
              <a:fillRef idx="0">
                <a:schemeClr val="accent4"/>
              </a:fillRef>
              <a:effectRef idx="0">
                <a:schemeClr val="accent4"/>
              </a:effectRef>
              <a:fontRef idx="minor">
                <a:schemeClr val="tx1"/>
              </a:fontRef>
            </p:style>
          </p:cxnSp>
        </p:grpSp>
        <p:sp>
          <p:nvSpPr>
            <p:cNvPr id="41" name="Rectangle 40"/>
            <p:cNvSpPr>
              <a:spLocks noChangeArrowheads="1"/>
            </p:cNvSpPr>
            <p:nvPr/>
          </p:nvSpPr>
          <p:spPr bwMode="auto">
            <a:xfrm>
              <a:off x="4681545" y="3465818"/>
              <a:ext cx="2460863" cy="2561061"/>
            </a:xfrm>
            <a:prstGeom prst="rect">
              <a:avLst/>
            </a:prstGeom>
            <a:solidFill>
              <a:schemeClr val="bg2"/>
            </a:solidFill>
            <a:ln w="12700" algn="ctr">
              <a:noFill/>
              <a:miter lim="800000"/>
              <a:headEnd type="none" w="sm" len="sm"/>
              <a:tailEnd/>
            </a:ln>
          </p:spPr>
          <p:txBody>
            <a:bodyPr wrap="square" lIns="88900" tIns="88900" rIns="88900" bIns="88900" anchor="ctr">
              <a:noAutofit/>
            </a:bodyPr>
            <a:lstStyle/>
            <a:p>
              <a:pPr marL="228600" indent="-228600">
                <a:buFont typeface="+mj-lt"/>
                <a:buAutoNum type="arabicPeriod"/>
                <a:defRPr/>
              </a:pPr>
              <a:r>
                <a:rPr lang="en-US" altLang="ja-JP" sz="1200" dirty="0">
                  <a:ea typeface="ＭＳ Ｐゴシック" pitchFamily="50" charset="-128"/>
                </a:rPr>
                <a:t>Identify policy alternatives, new technology paths and priorities</a:t>
              </a:r>
            </a:p>
            <a:p>
              <a:pPr marL="228600" indent="-228600">
                <a:buFont typeface="+mj-lt"/>
                <a:buAutoNum type="arabicPeriod"/>
                <a:defRPr/>
              </a:pPr>
              <a:r>
                <a:rPr lang="en-US" altLang="ja-JP" sz="1200" dirty="0">
                  <a:ea typeface="ＭＳ Ｐゴシック" pitchFamily="50" charset="-128"/>
                </a:rPr>
                <a:t>Integrated energy modelling and Least Cost Optimization</a:t>
              </a:r>
            </a:p>
            <a:p>
              <a:pPr marL="228600" indent="-228600">
                <a:buFont typeface="+mj-lt"/>
                <a:buAutoNum type="arabicPeriod"/>
                <a:defRPr/>
              </a:pPr>
              <a:r>
                <a:rPr lang="en-US" altLang="ja-JP" sz="1200" dirty="0">
                  <a:ea typeface="ＭＳ Ｐゴシック" pitchFamily="50" charset="-128"/>
                </a:rPr>
                <a:t>Simulation of various Scenarios and key policy decisions</a:t>
              </a:r>
            </a:p>
            <a:p>
              <a:pPr marL="228600" indent="-228600">
                <a:buFont typeface="+mj-lt"/>
                <a:buAutoNum type="arabicPeriod"/>
                <a:defRPr/>
              </a:pPr>
              <a:r>
                <a:rPr lang="en-US" altLang="ja-JP" sz="1200" dirty="0">
                  <a:ea typeface="ＭＳ Ｐゴシック" pitchFamily="50" charset="-128"/>
                </a:rPr>
                <a:t>Stakeholder Consultation</a:t>
              </a:r>
            </a:p>
            <a:p>
              <a:pPr marL="228600" indent="-228600">
                <a:buFont typeface="+mj-lt"/>
                <a:buAutoNum type="arabicPeriod"/>
                <a:defRPr/>
              </a:pPr>
              <a:r>
                <a:rPr lang="en-US" altLang="ja-JP" sz="1200" dirty="0">
                  <a:ea typeface="ＭＳ Ｐゴシック" pitchFamily="50" charset="-128"/>
                </a:rPr>
                <a:t>Decision Support Tool</a:t>
              </a:r>
            </a:p>
            <a:p>
              <a:pPr marL="228600" indent="-228600">
                <a:buFont typeface="+mj-lt"/>
                <a:buAutoNum type="arabicPeriod"/>
                <a:defRPr/>
              </a:pPr>
              <a:r>
                <a:rPr lang="en-US" altLang="ja-JP" sz="1200" dirty="0">
                  <a:ea typeface="ＭＳ Ｐゴシック" pitchFamily="50" charset="-128"/>
                </a:rPr>
                <a:t>Capacity Building of PMU</a:t>
              </a:r>
            </a:p>
          </p:txBody>
        </p:sp>
        <p:sp>
          <p:nvSpPr>
            <p:cNvPr id="43" name="Rectangle 42"/>
            <p:cNvSpPr>
              <a:spLocks noChangeArrowheads="1"/>
            </p:cNvSpPr>
            <p:nvPr/>
          </p:nvSpPr>
          <p:spPr bwMode="auto">
            <a:xfrm>
              <a:off x="7365390" y="2003633"/>
              <a:ext cx="2443703" cy="678879"/>
            </a:xfrm>
            <a:prstGeom prst="rect">
              <a:avLst/>
            </a:prstGeom>
            <a:solidFill>
              <a:schemeClr val="accent1"/>
            </a:solidFill>
            <a:ln w="12700" algn="ctr">
              <a:noFill/>
              <a:miter lim="800000"/>
              <a:headEnd type="none" w="sm" len="sm"/>
              <a:tailEnd/>
            </a:ln>
          </p:spPr>
          <p:txBody>
            <a:bodyPr wrap="square" lIns="88900" tIns="88900" rIns="88900" bIns="88900" anchor="ctr">
              <a:noAutofit/>
            </a:bodyPr>
            <a:lstStyle/>
            <a:p>
              <a:pPr algn="ctr">
                <a:defRPr/>
              </a:pPr>
              <a:r>
                <a:rPr lang="en-US" altLang="ja-JP" sz="1200" dirty="0">
                  <a:solidFill>
                    <a:schemeClr val="bg1"/>
                  </a:solidFill>
                  <a:ea typeface="ＭＳ Ｐゴシック" pitchFamily="50" charset="-128"/>
                </a:rPr>
                <a:t>Extensive Stakeholder engagement and coordination across Ministries and Departments</a:t>
              </a:r>
            </a:p>
          </p:txBody>
        </p:sp>
        <p:sp>
          <p:nvSpPr>
            <p:cNvPr id="46" name="Line 23"/>
            <p:cNvSpPr>
              <a:spLocks noChangeShapeType="1"/>
            </p:cNvSpPr>
            <p:nvPr/>
          </p:nvSpPr>
          <p:spPr bwMode="auto">
            <a:xfrm>
              <a:off x="750035" y="1852567"/>
              <a:ext cx="9209215"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49" name="Rectangle 48"/>
            <p:cNvSpPr>
              <a:spLocks noChangeArrowheads="1"/>
            </p:cNvSpPr>
            <p:nvPr/>
          </p:nvSpPr>
          <p:spPr bwMode="auto">
            <a:xfrm>
              <a:off x="7351114" y="3437971"/>
              <a:ext cx="2421315" cy="2588908"/>
            </a:xfrm>
            <a:prstGeom prst="rect">
              <a:avLst/>
            </a:prstGeom>
            <a:solidFill>
              <a:schemeClr val="bg2"/>
            </a:solidFill>
            <a:ln w="12700" algn="ctr">
              <a:noFill/>
              <a:miter lim="800000"/>
              <a:headEnd type="none" w="sm" len="sm"/>
              <a:tailEnd/>
            </a:ln>
          </p:spPr>
          <p:txBody>
            <a:bodyPr wrap="square" lIns="88900" tIns="88900" rIns="88900" bIns="88900" anchor="ctr">
              <a:noAutofit/>
            </a:bodyPr>
            <a:lstStyle/>
            <a:p>
              <a:pPr marL="228600" indent="-228600">
                <a:buFont typeface="+mj-lt"/>
                <a:buAutoNum type="arabicPeriod"/>
                <a:defRPr/>
              </a:pPr>
              <a:r>
                <a:rPr lang="en-US" altLang="ja-JP" sz="1200" dirty="0">
                  <a:ea typeface="ＭＳ Ｐゴシック" pitchFamily="50" charset="-128"/>
                </a:rPr>
                <a:t>Evaluate strategic options and impact analysis</a:t>
              </a:r>
            </a:p>
            <a:p>
              <a:pPr marL="228600" indent="-228600">
                <a:buFont typeface="+mj-lt"/>
                <a:buAutoNum type="arabicPeriod"/>
                <a:defRPr/>
              </a:pPr>
              <a:r>
                <a:rPr lang="en-US" altLang="ja-JP" sz="1200" dirty="0">
                  <a:ea typeface="ＭＳ Ｐゴシック" pitchFamily="50" charset="-128"/>
                </a:rPr>
                <a:t>Preparation of State Energy Action Plan and consensus building</a:t>
              </a:r>
            </a:p>
            <a:p>
              <a:pPr marL="228600" indent="-228600">
                <a:buFont typeface="+mj-lt"/>
                <a:buAutoNum type="arabicPeriod"/>
                <a:defRPr/>
              </a:pPr>
              <a:r>
                <a:rPr lang="en-US" altLang="ja-JP" sz="1200" dirty="0">
                  <a:ea typeface="ＭＳ Ｐゴシック" pitchFamily="50" charset="-128"/>
                </a:rPr>
                <a:t>Generation of time step wise activities</a:t>
              </a:r>
            </a:p>
            <a:p>
              <a:pPr marL="228600" indent="-228600">
                <a:buFont typeface="+mj-lt"/>
                <a:buAutoNum type="arabicPeriod"/>
                <a:defRPr/>
              </a:pPr>
              <a:r>
                <a:rPr lang="en-US" altLang="ja-JP" sz="1200" dirty="0">
                  <a:ea typeface="ＭＳ Ｐゴシック" pitchFamily="50" charset="-128"/>
                </a:rPr>
                <a:t>Obtaining approval </a:t>
              </a:r>
              <a:r>
                <a:rPr lang="en-US" altLang="ja-JP" sz="1200" dirty="0" err="1">
                  <a:ea typeface="ＭＳ Ｐゴシック" pitchFamily="50" charset="-128"/>
                </a:rPr>
                <a:t>anf</a:t>
              </a:r>
              <a:r>
                <a:rPr lang="en-US" altLang="ja-JP" sz="1200" dirty="0">
                  <a:ea typeface="ＭＳ Ｐゴシック" pitchFamily="50" charset="-128"/>
                </a:rPr>
                <a:t> defending the action plan</a:t>
              </a:r>
            </a:p>
            <a:p>
              <a:pPr marL="228600" indent="-228600">
                <a:buFont typeface="+mj-lt"/>
                <a:buAutoNum type="arabicPeriod"/>
                <a:defRPr/>
              </a:pPr>
              <a:r>
                <a:rPr lang="en-US" altLang="ja-JP" sz="1200" dirty="0">
                  <a:ea typeface="ＭＳ Ｐゴシック" pitchFamily="50" charset="-128"/>
                </a:rPr>
                <a:t>Capacity Building of PMU members for Monitoring and Evaluation of State Energy Action Plan</a:t>
              </a:r>
            </a:p>
          </p:txBody>
        </p:sp>
        <p:sp>
          <p:nvSpPr>
            <p:cNvPr id="50" name="Rectangle 49"/>
            <p:cNvSpPr>
              <a:spLocks noChangeArrowheads="1"/>
            </p:cNvSpPr>
            <p:nvPr/>
          </p:nvSpPr>
          <p:spPr bwMode="auto">
            <a:xfrm>
              <a:off x="7365390" y="2771961"/>
              <a:ext cx="2443703" cy="504730"/>
            </a:xfrm>
            <a:prstGeom prst="rect">
              <a:avLst/>
            </a:prstGeom>
            <a:solidFill>
              <a:schemeClr val="accent1"/>
            </a:solidFill>
            <a:ln w="12700" algn="ctr">
              <a:noFill/>
              <a:miter lim="800000"/>
              <a:headEnd type="none" w="sm" len="sm"/>
              <a:tailEnd/>
            </a:ln>
          </p:spPr>
          <p:txBody>
            <a:bodyPr wrap="square" lIns="88900" tIns="88900" rIns="88900" bIns="88900" anchor="ctr">
              <a:noAutofit/>
            </a:bodyPr>
            <a:lstStyle/>
            <a:p>
              <a:pPr algn="ctr">
                <a:defRPr/>
              </a:pPr>
              <a:r>
                <a:rPr lang="en-US" altLang="ja-JP" sz="1200" dirty="0">
                  <a:solidFill>
                    <a:schemeClr val="bg1"/>
                  </a:solidFill>
                  <a:ea typeface="ＭＳ Ｐゴシック" pitchFamily="50" charset="-128"/>
                </a:rPr>
                <a:t>Understanding expectations and setting boundary conditions</a:t>
              </a:r>
            </a:p>
          </p:txBody>
        </p:sp>
        <p:sp>
          <p:nvSpPr>
            <p:cNvPr id="51" name="Rectangle 50"/>
            <p:cNvSpPr>
              <a:spLocks noChangeArrowheads="1"/>
            </p:cNvSpPr>
            <p:nvPr/>
          </p:nvSpPr>
          <p:spPr bwMode="auto">
            <a:xfrm>
              <a:off x="4670515" y="1992204"/>
              <a:ext cx="2482921" cy="652075"/>
            </a:xfrm>
            <a:prstGeom prst="rect">
              <a:avLst/>
            </a:prstGeom>
            <a:solidFill>
              <a:schemeClr val="accent1"/>
            </a:solidFill>
            <a:ln w="12700" algn="ctr">
              <a:noFill/>
              <a:miter lim="800000"/>
              <a:headEnd type="none" w="sm" len="sm"/>
              <a:tailEnd/>
            </a:ln>
          </p:spPr>
          <p:txBody>
            <a:bodyPr wrap="square" lIns="88900" tIns="88900" rIns="88900" bIns="88900" anchor="ctr">
              <a:noAutofit/>
            </a:bodyPr>
            <a:lstStyle/>
            <a:p>
              <a:pPr algn="ctr">
                <a:defRPr/>
              </a:pPr>
              <a:r>
                <a:rPr lang="en-US" altLang="ja-JP" sz="1200" dirty="0">
                  <a:solidFill>
                    <a:schemeClr val="bg1"/>
                  </a:solidFill>
                  <a:ea typeface="ＭＳ Ｐゴシック" pitchFamily="50" charset="-128"/>
                </a:rPr>
                <a:t>Changing context and disruptions; new market model and technologies</a:t>
              </a:r>
            </a:p>
          </p:txBody>
        </p:sp>
        <p:sp>
          <p:nvSpPr>
            <p:cNvPr id="53" name="Rectangle 52"/>
            <p:cNvSpPr>
              <a:spLocks noChangeArrowheads="1"/>
            </p:cNvSpPr>
            <p:nvPr/>
          </p:nvSpPr>
          <p:spPr bwMode="auto">
            <a:xfrm>
              <a:off x="4659487" y="2762954"/>
              <a:ext cx="2482921" cy="495368"/>
            </a:xfrm>
            <a:prstGeom prst="rect">
              <a:avLst/>
            </a:prstGeom>
            <a:solidFill>
              <a:schemeClr val="accent1"/>
            </a:solidFill>
            <a:ln w="12700" algn="ctr">
              <a:noFill/>
              <a:miter lim="800000"/>
              <a:headEnd type="none" w="sm" len="sm"/>
              <a:tailEnd/>
            </a:ln>
          </p:spPr>
          <p:txBody>
            <a:bodyPr wrap="square" lIns="88900" tIns="88900" rIns="88900" bIns="88900" anchor="ctr">
              <a:noAutofit/>
            </a:bodyPr>
            <a:lstStyle/>
            <a:p>
              <a:pPr algn="ctr">
                <a:defRPr/>
              </a:pPr>
              <a:r>
                <a:rPr lang="en-US" altLang="ja-JP" sz="1200" dirty="0">
                  <a:solidFill>
                    <a:schemeClr val="bg1"/>
                  </a:solidFill>
                  <a:ea typeface="ＭＳ Ｐゴシック" pitchFamily="50" charset="-128"/>
                </a:rPr>
                <a:t>Training need analysis and orientation with tool</a:t>
              </a:r>
            </a:p>
          </p:txBody>
        </p:sp>
      </p:grpSp>
      <p:sp>
        <p:nvSpPr>
          <p:cNvPr id="42"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44"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A focused, systematic and dedicated approach will be critical for developing the State Energy Action Plan</a:t>
            </a:r>
          </a:p>
        </p:txBody>
      </p:sp>
    </p:spTree>
    <p:extLst>
      <p:ext uri="{BB962C8B-B14F-4D97-AF65-F5344CB8AC3E}">
        <p14:creationId xmlns:p14="http://schemas.microsoft.com/office/powerpoint/2010/main" val="222984188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123398" y="1870455"/>
            <a:ext cx="3946312" cy="4474445"/>
            <a:chOff x="17821" y="-952"/>
            <a:chExt cx="3243117" cy="3269541"/>
          </a:xfrm>
        </p:grpSpPr>
        <p:cxnSp>
          <p:nvCxnSpPr>
            <p:cNvPr id="10" name="Straight Connector 9"/>
            <p:cNvCxnSpPr/>
            <p:nvPr/>
          </p:nvCxnSpPr>
          <p:spPr>
            <a:xfrm>
              <a:off x="393667" y="435847"/>
              <a:ext cx="24" cy="2439454"/>
            </a:xfrm>
            <a:prstGeom prst="line">
              <a:avLst/>
            </a:prstGeom>
            <a:ln>
              <a:solidFill>
                <a:schemeClr val="accent3"/>
              </a:solidFill>
            </a:ln>
          </p:spPr>
          <p:style>
            <a:lnRef idx="3">
              <a:schemeClr val="accent5"/>
            </a:lnRef>
            <a:fillRef idx="0">
              <a:schemeClr val="accent5"/>
            </a:fillRef>
            <a:effectRef idx="2">
              <a:schemeClr val="accent5"/>
            </a:effectRef>
            <a:fontRef idx="minor">
              <a:schemeClr val="tx1"/>
            </a:fontRef>
          </p:style>
        </p:cxnSp>
        <p:sp>
          <p:nvSpPr>
            <p:cNvPr id="11" name="TextBox 11"/>
            <p:cNvSpPr txBox="1"/>
            <p:nvPr/>
          </p:nvSpPr>
          <p:spPr>
            <a:xfrm>
              <a:off x="728427" y="-952"/>
              <a:ext cx="2512193" cy="946021"/>
            </a:xfrm>
            <a:prstGeom prst="rect">
              <a:avLst/>
            </a:prstGeom>
            <a:noFill/>
            <a:ln>
              <a:noFill/>
            </a:ln>
          </p:spPr>
          <p:txBody>
            <a:bodyPr wrap="square" rtlCol="0">
              <a:noAutofit/>
            </a:bodyPr>
            <a:lstStyle/>
            <a:p>
              <a:pPr algn="just">
                <a:spcAft>
                  <a:spcPts val="0"/>
                </a:spcAft>
              </a:pPr>
              <a:r>
                <a:rPr lang="en-US" sz="1100" b="1" kern="1200" dirty="0">
                  <a:solidFill>
                    <a:srgbClr val="0097A9"/>
                  </a:solidFill>
                  <a:effectLst/>
                  <a:ea typeface="Verdana" panose="020B0604030504040204" pitchFamily="34" charset="0"/>
                  <a:cs typeface="Verdana" panose="020B0604030504040204" pitchFamily="34" charset="0"/>
                </a:rPr>
                <a:t>Engage and Sensitize the Stakeholders</a:t>
              </a:r>
              <a:endParaRPr lang="en-IN" sz="1100" dirty="0">
                <a:effectLst/>
                <a:ea typeface="Times New Roman" panose="02020603050405020304" pitchFamily="18" charset="0"/>
              </a:endParaRPr>
            </a:p>
            <a:p>
              <a:pPr algn="just">
                <a:spcAft>
                  <a:spcPts val="0"/>
                </a:spcAft>
              </a:pPr>
              <a:r>
                <a:rPr lang="en-US" sz="1100" kern="1200" dirty="0">
                  <a:solidFill>
                    <a:srgbClr val="000000"/>
                  </a:solidFill>
                  <a:effectLst/>
                  <a:ea typeface="Verdana" panose="020B0604030504040204" pitchFamily="34" charset="0"/>
                  <a:cs typeface="Verdana" panose="020B0604030504040204" pitchFamily="34" charset="0"/>
                </a:rPr>
                <a:t>Impart training on Energy Plan / Energy Action Plan and need for an integrated plan for long-term sustainability and environment safeguard </a:t>
              </a:r>
              <a:endParaRPr lang="en-IN" sz="1100" dirty="0">
                <a:effectLst/>
                <a:ea typeface="Times New Roman" panose="02020603050405020304" pitchFamily="18" charset="0"/>
              </a:endParaRPr>
            </a:p>
          </p:txBody>
        </p:sp>
        <p:sp>
          <p:nvSpPr>
            <p:cNvPr id="12" name="TextBox 13"/>
            <p:cNvSpPr txBox="1"/>
            <p:nvPr/>
          </p:nvSpPr>
          <p:spPr>
            <a:xfrm>
              <a:off x="748744" y="2499706"/>
              <a:ext cx="2512193" cy="768883"/>
            </a:xfrm>
            <a:prstGeom prst="rect">
              <a:avLst/>
            </a:prstGeom>
            <a:noFill/>
            <a:ln>
              <a:noFill/>
            </a:ln>
          </p:spPr>
          <p:txBody>
            <a:bodyPr wrap="square" rtlCol="0">
              <a:noAutofit/>
            </a:bodyPr>
            <a:lstStyle/>
            <a:p>
              <a:pPr algn="just">
                <a:spcAft>
                  <a:spcPts val="0"/>
                </a:spcAft>
              </a:pPr>
              <a:r>
                <a:rPr lang="en-US" sz="1100" b="1" kern="1200">
                  <a:solidFill>
                    <a:srgbClr val="0097A9"/>
                  </a:solidFill>
                  <a:effectLst/>
                  <a:ea typeface="Verdana" panose="020B0604030504040204" pitchFamily="34" charset="0"/>
                  <a:cs typeface="Verdana" panose="020B0604030504040204" pitchFamily="34" charset="0"/>
                </a:rPr>
                <a:t>Promote Cooperation and Coordination</a:t>
              </a:r>
              <a:endParaRPr lang="en-IN" sz="1100">
                <a:effectLst/>
                <a:ea typeface="Times New Roman" panose="02020603050405020304" pitchFamily="18" charset="0"/>
              </a:endParaRPr>
            </a:p>
            <a:p>
              <a:pPr algn="just">
                <a:spcAft>
                  <a:spcPts val="0"/>
                </a:spcAft>
              </a:pPr>
              <a:r>
                <a:rPr lang="en-US" sz="1100" kern="1200">
                  <a:solidFill>
                    <a:srgbClr val="000000"/>
                  </a:solidFill>
                  <a:effectLst/>
                  <a:ea typeface="Verdana" panose="020B0604030504040204" pitchFamily="34" charset="0"/>
                  <a:cs typeface="Verdana" panose="020B0604030504040204" pitchFamily="34" charset="0"/>
                </a:rPr>
                <a:t>Facilitate collaboration and coordination amongst the various departments in policy formulation and decision-making</a:t>
              </a:r>
              <a:endParaRPr lang="en-IN" sz="1100">
                <a:effectLst/>
                <a:ea typeface="Times New Roman" panose="02020603050405020304" pitchFamily="18" charset="0"/>
              </a:endParaRPr>
            </a:p>
          </p:txBody>
        </p:sp>
        <p:sp>
          <p:nvSpPr>
            <p:cNvPr id="13" name="TextBox 14"/>
            <p:cNvSpPr txBox="1"/>
            <p:nvPr/>
          </p:nvSpPr>
          <p:spPr>
            <a:xfrm rot="16200000">
              <a:off x="-1267267" y="1437668"/>
              <a:ext cx="2885712" cy="315535"/>
            </a:xfrm>
            <a:prstGeom prst="rect">
              <a:avLst/>
            </a:prstGeom>
            <a:solidFill>
              <a:schemeClr val="accent3"/>
            </a:solidFill>
            <a:ln>
              <a:solidFill>
                <a:schemeClr val="accent3"/>
              </a:solidFill>
            </a:ln>
            <a:effectLst>
              <a:outerShdw blurRad="50800" dist="38100" dir="2700000" algn="tl" rotWithShape="0">
                <a:prstClr val="black">
                  <a:alpha val="40000"/>
                </a:prstClr>
              </a:outerShdw>
            </a:effectLst>
          </p:spPr>
          <p:txBody>
            <a:bodyPr wrap="square" rtlCol="0">
              <a:noAutofit/>
            </a:bodyPr>
            <a:lstStyle/>
            <a:p>
              <a:pPr algn="ctr">
                <a:spcAft>
                  <a:spcPts val="0"/>
                </a:spcAft>
              </a:pPr>
              <a:r>
                <a:rPr lang="en-US" sz="1100" b="1" kern="1200" dirty="0">
                  <a:solidFill>
                    <a:srgbClr val="FFFFFF"/>
                  </a:solidFill>
                  <a:effectLst/>
                  <a:ea typeface="Verdana" panose="020B0604030504040204" pitchFamily="34" charset="0"/>
                  <a:cs typeface="Verdana" panose="020B0604030504040204" pitchFamily="34" charset="0"/>
                </a:rPr>
                <a:t>Objective of Trainings/ Workshops</a:t>
              </a:r>
              <a:endParaRPr lang="en-IN" sz="1100" dirty="0">
                <a:effectLst/>
                <a:ea typeface="Times New Roman" panose="02020603050405020304" pitchFamily="18" charset="0"/>
              </a:endParaRPr>
            </a:p>
          </p:txBody>
        </p:sp>
        <p:sp>
          <p:nvSpPr>
            <p:cNvPr id="14" name="TextBox 15"/>
            <p:cNvSpPr txBox="1"/>
            <p:nvPr/>
          </p:nvSpPr>
          <p:spPr>
            <a:xfrm>
              <a:off x="748745" y="847710"/>
              <a:ext cx="2512193" cy="751080"/>
            </a:xfrm>
            <a:prstGeom prst="rect">
              <a:avLst/>
            </a:prstGeom>
            <a:noFill/>
            <a:ln>
              <a:noFill/>
            </a:ln>
          </p:spPr>
          <p:txBody>
            <a:bodyPr wrap="square" rtlCol="0">
              <a:noAutofit/>
            </a:bodyPr>
            <a:lstStyle/>
            <a:p>
              <a:pPr algn="just">
                <a:spcAft>
                  <a:spcPts val="0"/>
                </a:spcAft>
              </a:pPr>
              <a:r>
                <a:rPr lang="en-US" sz="1100" b="1" kern="1200" dirty="0">
                  <a:solidFill>
                    <a:srgbClr val="0097A9"/>
                  </a:solidFill>
                  <a:effectLst/>
                  <a:ea typeface="Verdana" panose="020B0604030504040204" pitchFamily="34" charset="0"/>
                  <a:cs typeface="Verdana" panose="020B0604030504040204" pitchFamily="34" charset="0"/>
                </a:rPr>
                <a:t>Training Need Analysis</a:t>
              </a:r>
              <a:endParaRPr lang="en-IN" sz="1100" dirty="0">
                <a:effectLst/>
                <a:ea typeface="Times New Roman" panose="02020603050405020304" pitchFamily="18" charset="0"/>
              </a:endParaRPr>
            </a:p>
            <a:p>
              <a:pPr algn="just">
                <a:spcAft>
                  <a:spcPts val="0"/>
                </a:spcAft>
              </a:pPr>
              <a:r>
                <a:rPr lang="en-US" sz="1100" kern="1200" dirty="0">
                  <a:solidFill>
                    <a:srgbClr val="000000"/>
                  </a:solidFill>
                  <a:effectLst/>
                  <a:ea typeface="Verdana" panose="020B0604030504040204" pitchFamily="34" charset="0"/>
                  <a:cs typeface="Verdana" panose="020B0604030504040204" pitchFamily="34" charset="0"/>
                </a:rPr>
                <a:t>Analyze the existing knowledge and skill gaps of PMU members necessary for required inputs </a:t>
              </a:r>
              <a:endParaRPr lang="en-IN" sz="1100" dirty="0">
                <a:effectLst/>
                <a:ea typeface="Times New Roman" panose="02020603050405020304" pitchFamily="18" charset="0"/>
              </a:endParaRPr>
            </a:p>
          </p:txBody>
        </p:sp>
        <p:sp>
          <p:nvSpPr>
            <p:cNvPr id="15" name="TextBox 16"/>
            <p:cNvSpPr txBox="1"/>
            <p:nvPr/>
          </p:nvSpPr>
          <p:spPr>
            <a:xfrm>
              <a:off x="748745" y="1609800"/>
              <a:ext cx="2512193" cy="942701"/>
            </a:xfrm>
            <a:prstGeom prst="rect">
              <a:avLst/>
            </a:prstGeom>
            <a:noFill/>
            <a:ln>
              <a:noFill/>
            </a:ln>
          </p:spPr>
          <p:txBody>
            <a:bodyPr wrap="square" rtlCol="0">
              <a:noAutofit/>
            </a:bodyPr>
            <a:lstStyle/>
            <a:p>
              <a:pPr algn="just">
                <a:spcAft>
                  <a:spcPts val="0"/>
                </a:spcAft>
              </a:pPr>
              <a:r>
                <a:rPr lang="en-US" sz="1100" b="1" kern="1200" dirty="0">
                  <a:solidFill>
                    <a:srgbClr val="0097A9"/>
                  </a:solidFill>
                  <a:effectLst/>
                  <a:ea typeface="Verdana" panose="020B0604030504040204" pitchFamily="34" charset="0"/>
                  <a:cs typeface="Verdana" panose="020B0604030504040204" pitchFamily="34" charset="0"/>
                </a:rPr>
                <a:t>Building consensus on Vision, Goal and Action Plan</a:t>
              </a:r>
              <a:endParaRPr lang="en-IN" sz="1100" dirty="0">
                <a:effectLst/>
                <a:ea typeface="Times New Roman" panose="02020603050405020304" pitchFamily="18" charset="0"/>
              </a:endParaRPr>
            </a:p>
            <a:p>
              <a:pPr algn="just">
                <a:spcAft>
                  <a:spcPts val="0"/>
                </a:spcAft>
              </a:pPr>
              <a:r>
                <a:rPr lang="en-US" sz="1100" kern="1200" dirty="0">
                  <a:solidFill>
                    <a:srgbClr val="000000"/>
                  </a:solidFill>
                  <a:effectLst/>
                  <a:ea typeface="Verdana" panose="020B0604030504040204" pitchFamily="34" charset="0"/>
                  <a:cs typeface="Verdana" panose="020B0604030504040204" pitchFamily="34" charset="0"/>
                </a:rPr>
                <a:t>Engage various departments for discussing and building consensus on vision, goal and actions required under the Energy Action Plan </a:t>
              </a:r>
              <a:endParaRPr lang="en-IN" sz="1100" dirty="0">
                <a:effectLst/>
                <a:ea typeface="Times New Roman" panose="02020603050405020304" pitchFamily="18" charset="0"/>
              </a:endParaRPr>
            </a:p>
          </p:txBody>
        </p:sp>
        <p:cxnSp>
          <p:nvCxnSpPr>
            <p:cNvPr id="16" name="Straight Arrow Connector 15"/>
            <p:cNvCxnSpPr/>
            <p:nvPr/>
          </p:nvCxnSpPr>
          <p:spPr>
            <a:xfrm>
              <a:off x="386918" y="445893"/>
              <a:ext cx="365756" cy="0"/>
            </a:xfrm>
            <a:prstGeom prst="straightConnector1">
              <a:avLst/>
            </a:prstGeom>
            <a:ln>
              <a:solidFill>
                <a:schemeClr val="accent3"/>
              </a:solidFill>
              <a:tailEnd type="triangle"/>
            </a:ln>
          </p:spPr>
          <p:style>
            <a:lnRef idx="3">
              <a:schemeClr val="accent5"/>
            </a:lnRef>
            <a:fillRef idx="0">
              <a:schemeClr val="accent5"/>
            </a:fillRef>
            <a:effectRef idx="2">
              <a:schemeClr val="accent5"/>
            </a:effectRef>
            <a:fontRef idx="minor">
              <a:schemeClr val="tx1"/>
            </a:fontRef>
          </p:style>
        </p:cxnSp>
        <p:cxnSp>
          <p:nvCxnSpPr>
            <p:cNvPr id="17" name="Straight Arrow Connector 16"/>
            <p:cNvCxnSpPr/>
            <p:nvPr/>
          </p:nvCxnSpPr>
          <p:spPr>
            <a:xfrm>
              <a:off x="393689" y="1238026"/>
              <a:ext cx="365756" cy="0"/>
            </a:xfrm>
            <a:prstGeom prst="straightConnector1">
              <a:avLst/>
            </a:prstGeom>
            <a:ln>
              <a:solidFill>
                <a:schemeClr val="accent3"/>
              </a:solidFill>
              <a:tailEnd type="triangle"/>
            </a:ln>
          </p:spPr>
          <p:style>
            <a:lnRef idx="3">
              <a:schemeClr val="accent5"/>
            </a:lnRef>
            <a:fillRef idx="0">
              <a:schemeClr val="accent5"/>
            </a:fillRef>
            <a:effectRef idx="2">
              <a:schemeClr val="accent5"/>
            </a:effectRef>
            <a:fontRef idx="minor">
              <a:schemeClr val="tx1"/>
            </a:fontRef>
          </p:style>
        </p:cxnSp>
        <p:cxnSp>
          <p:nvCxnSpPr>
            <p:cNvPr id="18" name="Straight Arrow Connector 17"/>
            <p:cNvCxnSpPr/>
            <p:nvPr/>
          </p:nvCxnSpPr>
          <p:spPr>
            <a:xfrm>
              <a:off x="393689" y="2103657"/>
              <a:ext cx="365756" cy="0"/>
            </a:xfrm>
            <a:prstGeom prst="straightConnector1">
              <a:avLst/>
            </a:prstGeom>
            <a:ln>
              <a:solidFill>
                <a:schemeClr val="accent3"/>
              </a:solidFill>
              <a:tailEnd type="triangle"/>
            </a:ln>
          </p:spPr>
          <p:style>
            <a:lnRef idx="3">
              <a:schemeClr val="accent5"/>
            </a:lnRef>
            <a:fillRef idx="0">
              <a:schemeClr val="accent5"/>
            </a:fillRef>
            <a:effectRef idx="2">
              <a:schemeClr val="accent5"/>
            </a:effectRef>
            <a:fontRef idx="minor">
              <a:schemeClr val="tx1"/>
            </a:fontRef>
          </p:style>
        </p:cxnSp>
        <p:cxnSp>
          <p:nvCxnSpPr>
            <p:cNvPr id="19" name="Straight Arrow Connector 18"/>
            <p:cNvCxnSpPr/>
            <p:nvPr/>
          </p:nvCxnSpPr>
          <p:spPr>
            <a:xfrm>
              <a:off x="386918" y="2875301"/>
              <a:ext cx="365756" cy="0"/>
            </a:xfrm>
            <a:prstGeom prst="straightConnector1">
              <a:avLst/>
            </a:prstGeom>
            <a:ln>
              <a:solidFill>
                <a:schemeClr val="accent3"/>
              </a:solidFill>
              <a:tailEnd type="triangle"/>
            </a:ln>
          </p:spPr>
          <p:style>
            <a:lnRef idx="3">
              <a:schemeClr val="accent5"/>
            </a:lnRef>
            <a:fillRef idx="0">
              <a:schemeClr val="accent5"/>
            </a:fillRef>
            <a:effectRef idx="2">
              <a:schemeClr val="accent5"/>
            </a:effectRef>
            <a:fontRef idx="minor">
              <a:schemeClr val="tx1"/>
            </a:fontRef>
          </p:style>
        </p:cxnSp>
      </p:grpSp>
      <p:sp>
        <p:nvSpPr>
          <p:cNvPr id="20" name="AutoShape 3"/>
          <p:cNvSpPr>
            <a:spLocks noChangeArrowheads="1"/>
          </p:cNvSpPr>
          <p:nvPr/>
        </p:nvSpPr>
        <p:spPr bwMode="auto">
          <a:xfrm rot="5400000">
            <a:off x="740254" y="1697798"/>
            <a:ext cx="1278496" cy="2028754"/>
          </a:xfrm>
          <a:prstGeom prst="chevron">
            <a:avLst>
              <a:gd name="adj" fmla="val 25000"/>
            </a:avLst>
          </a:prstGeom>
          <a:solidFill>
            <a:srgbClr val="007680"/>
          </a:solidFill>
          <a:ln w="6350" algn="ctr">
            <a:noFill/>
            <a:miter lim="800000"/>
            <a:headEnd/>
            <a:tailEnd/>
          </a:ln>
        </p:spPr>
        <p:txBody>
          <a:bodyPr rot="10800000" vert="eaVert" lIns="88900" tIns="88900" rIns="88900" bIns="88900" anchor="ctr"/>
          <a:lstStyle/>
          <a:p>
            <a:pPr algn="ctr">
              <a:defRPr/>
            </a:pPr>
            <a:r>
              <a:rPr lang="en-US" sz="1400" dirty="0">
                <a:solidFill>
                  <a:schemeClr val="bg1"/>
                </a:solidFill>
                <a:cs typeface="Arial" pitchFamily="34" charset="0"/>
              </a:rPr>
              <a:t>Project Structuring – Finalization of Work plan </a:t>
            </a:r>
          </a:p>
        </p:txBody>
      </p:sp>
      <p:sp>
        <p:nvSpPr>
          <p:cNvPr id="21" name="AutoShape 4"/>
          <p:cNvSpPr>
            <a:spLocks noChangeArrowheads="1"/>
          </p:cNvSpPr>
          <p:nvPr/>
        </p:nvSpPr>
        <p:spPr bwMode="auto">
          <a:xfrm rot="5400000">
            <a:off x="791470" y="3093301"/>
            <a:ext cx="1176064" cy="2028754"/>
          </a:xfrm>
          <a:prstGeom prst="chevron">
            <a:avLst>
              <a:gd name="adj" fmla="val 25000"/>
            </a:avLst>
          </a:prstGeom>
          <a:solidFill>
            <a:srgbClr val="007680"/>
          </a:solidFill>
          <a:ln w="6350" algn="ctr">
            <a:noFill/>
            <a:miter lim="800000"/>
            <a:headEnd/>
            <a:tailEnd/>
          </a:ln>
        </p:spPr>
        <p:txBody>
          <a:bodyPr rot="10800000" vert="eaVert" lIns="88900" tIns="88900" rIns="88900" bIns="88900" anchor="ctr"/>
          <a:lstStyle/>
          <a:p>
            <a:pPr algn="ctr">
              <a:defRPr/>
            </a:pPr>
            <a:r>
              <a:rPr lang="en-US" sz="1400" dirty="0">
                <a:solidFill>
                  <a:schemeClr val="bg1"/>
                </a:solidFill>
                <a:cs typeface="Arial" pitchFamily="34" charset="0"/>
              </a:rPr>
              <a:t>Stakeholder Discussions</a:t>
            </a:r>
            <a:endParaRPr lang="en-US" sz="1400" dirty="0">
              <a:solidFill>
                <a:schemeClr val="bg1"/>
              </a:solidFill>
              <a:ea typeface="ＭＳ Ｐゴシック" pitchFamily="50" charset="-128"/>
            </a:endParaRPr>
          </a:p>
        </p:txBody>
      </p:sp>
      <p:sp>
        <p:nvSpPr>
          <p:cNvPr id="22" name="AutoShape 5"/>
          <p:cNvSpPr>
            <a:spLocks noChangeArrowheads="1"/>
          </p:cNvSpPr>
          <p:nvPr/>
        </p:nvSpPr>
        <p:spPr bwMode="auto">
          <a:xfrm rot="5400000">
            <a:off x="744632" y="4484426"/>
            <a:ext cx="1269740" cy="2028754"/>
          </a:xfrm>
          <a:prstGeom prst="chevron">
            <a:avLst>
              <a:gd name="adj" fmla="val 25000"/>
            </a:avLst>
          </a:prstGeom>
          <a:solidFill>
            <a:srgbClr val="007680"/>
          </a:solidFill>
          <a:ln w="6350" algn="ctr">
            <a:noFill/>
            <a:miter lim="800000"/>
            <a:headEnd/>
            <a:tailEnd/>
          </a:ln>
        </p:spPr>
        <p:txBody>
          <a:bodyPr rot="10800000" vert="eaVert" lIns="88900" tIns="88900" rIns="88900" bIns="88900" anchor="ctr"/>
          <a:lstStyle/>
          <a:p>
            <a:pPr algn="ctr">
              <a:defRPr/>
            </a:pPr>
            <a:r>
              <a:rPr lang="en-US" sz="1400" dirty="0">
                <a:solidFill>
                  <a:schemeClr val="bg1"/>
                </a:solidFill>
                <a:cs typeface="Arial" pitchFamily="34" charset="0"/>
              </a:rPr>
              <a:t>Development of Vision &amp; Goals for Energy Plan </a:t>
            </a:r>
          </a:p>
        </p:txBody>
      </p:sp>
      <p:sp>
        <p:nvSpPr>
          <p:cNvPr id="23" name="Text Placeholder 5"/>
          <p:cNvSpPr txBox="1">
            <a:spLocks/>
          </p:cNvSpPr>
          <p:nvPr/>
        </p:nvSpPr>
        <p:spPr>
          <a:xfrm>
            <a:off x="2452083" y="2144147"/>
            <a:ext cx="3165860" cy="738664"/>
          </a:xfrm>
          <a:prstGeom prst="rect">
            <a:avLst/>
          </a:prstGeom>
          <a:ln>
            <a:solidFill>
              <a:schemeClr val="accent5"/>
            </a:solidFill>
          </a:ln>
        </p:spPr>
        <p:txBody>
          <a:bodyPr wrap="square" lIns="0" tIns="0" rIns="0" bIns="0">
            <a:spAutoFit/>
          </a:bodyPr>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marL="311150" lvl="2" indent="-171450">
              <a:spcBef>
                <a:spcPts val="600"/>
              </a:spcBef>
              <a:buSzPct val="100000"/>
              <a:buFont typeface="Wingdings" panose="05000000000000000000" pitchFamily="2" charset="2"/>
              <a:buChar char="§"/>
            </a:pPr>
            <a:r>
              <a:rPr lang="en-US" dirty="0">
                <a:solidFill>
                  <a:schemeClr val="tx1"/>
                </a:solidFill>
              </a:rPr>
              <a:t>Detailed work plan will be prepared in coordination with DPNES, GIZ and the constituted Project Management Unit (PMU)</a:t>
            </a:r>
          </a:p>
        </p:txBody>
      </p:sp>
      <p:sp>
        <p:nvSpPr>
          <p:cNvPr id="6" name="Rectangle 5"/>
          <p:cNvSpPr/>
          <p:nvPr/>
        </p:nvSpPr>
        <p:spPr>
          <a:xfrm>
            <a:off x="439791" y="1240346"/>
            <a:ext cx="9860619" cy="523220"/>
          </a:xfrm>
          <a:prstGeom prst="rect">
            <a:avLst/>
          </a:prstGeom>
        </p:spPr>
        <p:txBody>
          <a:bodyPr wrap="square">
            <a:spAutoFit/>
          </a:bodyPr>
          <a:lstStyle/>
          <a:p>
            <a:pPr marL="0" lvl="1">
              <a:spcBef>
                <a:spcPts val="600"/>
              </a:spcBef>
              <a:buSzPct val="100000"/>
            </a:pPr>
            <a:r>
              <a:rPr lang="en-US" sz="1400" b="1" i="1" dirty="0">
                <a:solidFill>
                  <a:schemeClr val="accent1">
                    <a:lumMod val="50000"/>
                  </a:schemeClr>
                </a:solidFill>
              </a:rPr>
              <a:t>The present work package will commence from identification of key data inputs, initiation of data requirements request and scheduling the interview with Stakeholders</a:t>
            </a:r>
          </a:p>
        </p:txBody>
      </p:sp>
      <p:sp>
        <p:nvSpPr>
          <p:cNvPr id="24" name="Rectangle 23"/>
          <p:cNvSpPr/>
          <p:nvPr/>
        </p:nvSpPr>
        <p:spPr>
          <a:xfrm>
            <a:off x="439791" y="6491133"/>
            <a:ext cx="9704584" cy="533400"/>
          </a:xfrm>
          <a:prstGeom prst="rect">
            <a:avLst/>
          </a:prstGeom>
          <a:solidFill>
            <a:schemeClr val="tx1">
              <a:lumMod val="50000"/>
              <a:lumOff val="50000"/>
            </a:schemeClr>
          </a:solidFill>
          <a:ln w="6350" cap="flat" cmpd="sng" algn="ctr">
            <a:noFill/>
            <a:prstDash val="solid"/>
            <a:miter lim="800000"/>
          </a:ln>
          <a:effectLst/>
        </p:spPr>
        <p:txBody>
          <a:bodyPr rtlCol="0" anchor="ctr"/>
          <a:lstStyle/>
          <a:p>
            <a:pPr>
              <a:spcAft>
                <a:spcPts val="890"/>
              </a:spcAft>
            </a:pPr>
            <a:r>
              <a:rPr lang="en-IN" sz="1600" dirty="0">
                <a:solidFill>
                  <a:srgbClr val="FFFFFF"/>
                </a:solidFill>
                <a:effectLst/>
                <a:latin typeface="Verdana" panose="020B0604030504040204" pitchFamily="34" charset="0"/>
                <a:ea typeface="Times New Roman" panose="02020603050405020304" pitchFamily="18" charset="0"/>
              </a:rPr>
              <a:t>Deliverable for WP-I: Report comprising of approved EAP vision and goals, approved project timelines and structure, responsibility mapping</a:t>
            </a:r>
            <a:endParaRPr lang="en-IN" sz="2800" dirty="0">
              <a:solidFill>
                <a:srgbClr val="000000"/>
              </a:solidFill>
              <a:effectLst/>
              <a:latin typeface="Arial" panose="020B0604020202020204" pitchFamily="34" charset="0"/>
              <a:ea typeface="Times New Roman" panose="02020603050405020304" pitchFamily="18" charset="0"/>
            </a:endParaRPr>
          </a:p>
        </p:txBody>
      </p:sp>
      <p:sp>
        <p:nvSpPr>
          <p:cNvPr id="25" name="Text Placeholder 5"/>
          <p:cNvSpPr txBox="1">
            <a:spLocks/>
          </p:cNvSpPr>
          <p:nvPr/>
        </p:nvSpPr>
        <p:spPr>
          <a:xfrm>
            <a:off x="2484816" y="3478068"/>
            <a:ext cx="3165860" cy="1000274"/>
          </a:xfrm>
          <a:prstGeom prst="rect">
            <a:avLst/>
          </a:prstGeom>
          <a:ln>
            <a:solidFill>
              <a:schemeClr val="accent5"/>
            </a:solidFill>
          </a:ln>
        </p:spPr>
        <p:txBody>
          <a:bodyPr wrap="square" lIns="0" tIns="0" rIns="0" bIns="0">
            <a:spAutoFit/>
          </a:bodyPr>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marL="311150" lvl="2" indent="-171450">
              <a:spcBef>
                <a:spcPts val="600"/>
              </a:spcBef>
              <a:buSzPct val="100000"/>
              <a:buFont typeface="Wingdings" panose="05000000000000000000" pitchFamily="2" charset="2"/>
              <a:buChar char="§"/>
            </a:pPr>
            <a:r>
              <a:rPr lang="en-US" dirty="0">
                <a:solidFill>
                  <a:schemeClr val="tx1"/>
                </a:solidFill>
              </a:rPr>
              <a:t>Identification of State Dept. and nodal entities</a:t>
            </a:r>
          </a:p>
          <a:p>
            <a:pPr marL="311150" lvl="2" indent="-171450">
              <a:spcBef>
                <a:spcPts val="600"/>
              </a:spcBef>
              <a:buSzPct val="100000"/>
              <a:buFont typeface="Wingdings" panose="05000000000000000000" pitchFamily="2" charset="2"/>
              <a:buChar char="§"/>
            </a:pPr>
            <a:r>
              <a:rPr lang="en-US" dirty="0">
                <a:solidFill>
                  <a:schemeClr val="tx1"/>
                </a:solidFill>
              </a:rPr>
              <a:t>Training to PMU members on key data interchanges necessary for EAP development</a:t>
            </a:r>
          </a:p>
        </p:txBody>
      </p:sp>
      <p:sp>
        <p:nvSpPr>
          <p:cNvPr id="26" name="Text Placeholder 5"/>
          <p:cNvSpPr txBox="1">
            <a:spLocks/>
          </p:cNvSpPr>
          <p:nvPr/>
        </p:nvSpPr>
        <p:spPr>
          <a:xfrm>
            <a:off x="2484816" y="4964084"/>
            <a:ext cx="3165860" cy="815608"/>
          </a:xfrm>
          <a:prstGeom prst="rect">
            <a:avLst/>
          </a:prstGeom>
          <a:ln>
            <a:solidFill>
              <a:schemeClr val="accent5"/>
            </a:solidFill>
          </a:ln>
        </p:spPr>
        <p:txBody>
          <a:bodyPr wrap="square" lIns="0" tIns="0" rIns="0" bIns="0">
            <a:spAutoFit/>
          </a:bodyPr>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marL="311150" lvl="2" indent="-171450">
              <a:spcBef>
                <a:spcPts val="600"/>
              </a:spcBef>
              <a:buSzPct val="100000"/>
              <a:buFont typeface="Wingdings" panose="05000000000000000000" pitchFamily="2" charset="2"/>
              <a:buChar char="§"/>
            </a:pPr>
            <a:r>
              <a:rPr lang="en-US" dirty="0">
                <a:solidFill>
                  <a:schemeClr val="tx1"/>
                </a:solidFill>
              </a:rPr>
              <a:t>Strategy and vision workshops</a:t>
            </a:r>
          </a:p>
          <a:p>
            <a:pPr marL="311150" lvl="2" indent="-171450">
              <a:spcBef>
                <a:spcPts val="600"/>
              </a:spcBef>
              <a:buSzPct val="100000"/>
              <a:buFont typeface="Wingdings" panose="05000000000000000000" pitchFamily="2" charset="2"/>
              <a:buChar char="§"/>
            </a:pPr>
            <a:r>
              <a:rPr lang="en-US" dirty="0">
                <a:solidFill>
                  <a:schemeClr val="tx1"/>
                </a:solidFill>
              </a:rPr>
              <a:t>iterative sensing of the external environment and the internal capabilities for goal development</a:t>
            </a:r>
          </a:p>
        </p:txBody>
      </p:sp>
      <p:sp>
        <p:nvSpPr>
          <p:cNvPr id="27"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28"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Work Package-I:  Context Setting and Determining the State Vision</a:t>
            </a:r>
          </a:p>
        </p:txBody>
      </p:sp>
    </p:spTree>
    <p:extLst>
      <p:ext uri="{BB962C8B-B14F-4D97-AF65-F5344CB8AC3E}">
        <p14:creationId xmlns:p14="http://schemas.microsoft.com/office/powerpoint/2010/main" val="148353399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25624373"/>
              </p:ext>
            </p:extLst>
          </p:nvPr>
        </p:nvGraphicFramePr>
        <p:xfrm>
          <a:off x="2551429" y="2044529"/>
          <a:ext cx="7502644" cy="4858569"/>
        </p:xfrm>
        <a:graphic>
          <a:graphicData uri="http://schemas.openxmlformats.org/drawingml/2006/table">
            <a:tbl>
              <a:tblPr firstRow="1" firstCol="1"/>
              <a:tblGrid>
                <a:gridCol w="2500591">
                  <a:extLst>
                    <a:ext uri="{9D8B030D-6E8A-4147-A177-3AD203B41FA5}">
                      <a16:colId xmlns:a16="http://schemas.microsoft.com/office/drawing/2014/main" val="3174222268"/>
                    </a:ext>
                  </a:extLst>
                </a:gridCol>
                <a:gridCol w="2378683">
                  <a:extLst>
                    <a:ext uri="{9D8B030D-6E8A-4147-A177-3AD203B41FA5}">
                      <a16:colId xmlns:a16="http://schemas.microsoft.com/office/drawing/2014/main" val="3011011685"/>
                    </a:ext>
                  </a:extLst>
                </a:gridCol>
                <a:gridCol w="2623370">
                  <a:extLst>
                    <a:ext uri="{9D8B030D-6E8A-4147-A177-3AD203B41FA5}">
                      <a16:colId xmlns:a16="http://schemas.microsoft.com/office/drawing/2014/main" val="204656381"/>
                    </a:ext>
                  </a:extLst>
                </a:gridCol>
              </a:tblGrid>
              <a:tr h="568434">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Industry segregated by end product and production quantum; electricity consumption and energy as feedstock (coal, gas, wood, etc.)</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Industrial output growth projection, new industries, obsolescence; energy efficiency schemes, policies, etc.</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New technology developments and their effect is energy consumption – like paper industry consuming wood as feedstock;</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903350"/>
                  </a:ext>
                </a:extLst>
              </a:tr>
              <a:tr h="682440">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Urban-rural divide, no. of households using different cooking sources, quantum consumed, etc.</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Central schemes, state incentives, LPG penetration, etc.</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IN" sz="1100" dirty="0">
                          <a:effectLst/>
                          <a:latin typeface="Verdana" panose="020B0604030504040204" pitchFamily="34" charset="0"/>
                          <a:ea typeface="Verdana" panose="020B0604030504040204" pitchFamily="34" charset="0"/>
                          <a:cs typeface="Times New Roman" panose="02020603050405020304" pitchFamily="18" charset="0"/>
                        </a:rPr>
                        <a:t>Economic shifts of population strata, income distribution, cost implications.</a:t>
                      </a: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095135"/>
                  </a:ext>
                </a:extLst>
              </a:tr>
              <a:tr h="592521">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No of mobile towers in the state</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r>
                        <a:rPr lang="en-GB" sz="1100" kern="12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New technology shifts, future requirements, new business models</a:t>
                      </a:r>
                      <a:r>
                        <a:rPr lang="en-IN" sz="1100" kern="12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RE potential, fuel alternatives, telecom technology choices</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69836650"/>
                  </a:ext>
                </a:extLst>
              </a:tr>
              <a:tr h="373730">
                <a:tc>
                  <a:txBody>
                    <a:bodyPr/>
                    <a:lstStyle/>
                    <a:p>
                      <a:pPr>
                        <a:lnSpc>
                          <a:spcPct val="107000"/>
                        </a:lnSpc>
                        <a:spcAft>
                          <a:spcPts val="0"/>
                        </a:spcAft>
                      </a:pPr>
                      <a:r>
                        <a:rPr lang="en-GB" sz="1100">
                          <a:effectLst/>
                          <a:latin typeface="Verdana" panose="020B0604030504040204" pitchFamily="34" charset="0"/>
                          <a:ea typeface="Verdana" panose="020B0604030504040204" pitchFamily="34" charset="0"/>
                          <a:cs typeface="Times New Roman" panose="02020603050405020304" pitchFamily="18" charset="0"/>
                        </a:rPr>
                        <a:t>No of efficient and non-efficient street lights</a:t>
                      </a:r>
                      <a:endParaRPr lang="en-IN" sz="110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a:effectLst/>
                          <a:latin typeface="Verdana" panose="020B0604030504040204" pitchFamily="34" charset="0"/>
                          <a:ea typeface="Verdana" panose="020B0604030504040204" pitchFamily="34" charset="0"/>
                          <a:cs typeface="Times New Roman" panose="02020603050405020304" pitchFamily="18" charset="0"/>
                        </a:rPr>
                        <a:t>Average consumption/ light</a:t>
                      </a:r>
                      <a:endParaRPr lang="en-IN" sz="110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a:effectLst/>
                          <a:latin typeface="Verdana" panose="020B0604030504040204" pitchFamily="34" charset="0"/>
                          <a:ea typeface="Verdana" panose="020B0604030504040204" pitchFamily="34" charset="0"/>
                          <a:cs typeface="Times New Roman" panose="02020603050405020304" pitchFamily="18" charset="0"/>
                        </a:rPr>
                        <a:t>Cost implications, business models, etc.</a:t>
                      </a:r>
                      <a:endParaRPr lang="en-IN" sz="110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1754436"/>
                  </a:ext>
                </a:extLst>
              </a:tr>
              <a:tr h="836795">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No of efficient and non-efficient pump sets; crop patterns, seasonality index, etc.</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Energy efficiency schemes and policies, Distributed RE schemes and incentives,</a:t>
                      </a:r>
                      <a:r>
                        <a:rPr lang="en-GB" sz="1100" baseline="0" dirty="0">
                          <a:effectLst/>
                          <a:latin typeface="Verdana" panose="020B0604030504040204" pitchFamily="34" charset="0"/>
                          <a:ea typeface="Verdana" panose="020B0604030504040204" pitchFamily="34" charset="0"/>
                          <a:cs typeface="Times New Roman" panose="02020603050405020304" pitchFamily="18" charset="0"/>
                        </a:rPr>
                        <a:t> </a:t>
                      </a:r>
                      <a:r>
                        <a:rPr lang="en-GB" sz="1100" dirty="0">
                          <a:effectLst/>
                          <a:latin typeface="Verdana" panose="020B0604030504040204" pitchFamily="34" charset="0"/>
                          <a:ea typeface="Verdana" panose="020B0604030504040204" pitchFamily="34" charset="0"/>
                          <a:cs typeface="Times New Roman" panose="02020603050405020304" pitchFamily="18" charset="0"/>
                        </a:rPr>
                        <a:t>technologies</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Changes in global agricultural practices, predicting the contribution of agricultural in state economy, etc.</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492567"/>
                  </a:ext>
                </a:extLst>
              </a:tr>
              <a:tr h="528085">
                <a:tc>
                  <a:txBody>
                    <a:bodyPr/>
                    <a:lstStyle/>
                    <a:p>
                      <a:pPr marL="0" algn="l" defTabSz="1008400" rtl="0" eaLnBrk="1" latinLnBrk="0" hangingPunct="1">
                        <a:lnSpc>
                          <a:spcPct val="107000"/>
                        </a:lnSpc>
                        <a:spcAft>
                          <a:spcPts val="0"/>
                        </a:spcAft>
                      </a:pPr>
                      <a:r>
                        <a:rPr lang="en-GB" sz="1100" kern="120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Applicability of Cooling and heating applications, lighting appliances, etc. </a:t>
                      </a:r>
                      <a:endParaRPr lang="en-IN" sz="1100" kern="120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algn="l" defTabSz="1008400" rtl="0" eaLnBrk="1" latinLnBrk="0" hangingPunct="1">
                        <a:lnSpc>
                          <a:spcPct val="107000"/>
                        </a:lnSpc>
                        <a:spcAft>
                          <a:spcPts val="0"/>
                        </a:spcAft>
                      </a:pPr>
                      <a:r>
                        <a:rPr lang="en-GB" sz="1100" kern="120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Building bylaws, building efficiency norms and policies, change is technology</a:t>
                      </a:r>
                      <a:endParaRPr lang="en-IN" sz="1100" kern="120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algn="l" defTabSz="1008400" rtl="0" eaLnBrk="1" latinLnBrk="0" hangingPunct="1">
                        <a:lnSpc>
                          <a:spcPct val="107000"/>
                        </a:lnSpc>
                        <a:spcAft>
                          <a:spcPts val="0"/>
                        </a:spcAft>
                      </a:pPr>
                      <a:r>
                        <a:rPr lang="en-GB" sz="1100" kern="12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Urban development, affordable housing, smart cities, etc.</a:t>
                      </a:r>
                      <a:endParaRPr lang="en-IN" sz="1100" kern="12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0477736"/>
                  </a:ext>
                </a:extLst>
              </a:tr>
              <a:tr h="528085">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No of vehicles, vehicle types, person-</a:t>
                      </a:r>
                      <a:r>
                        <a:rPr lang="en-GB" sz="1100" dirty="0" err="1">
                          <a:effectLst/>
                          <a:latin typeface="Verdana" panose="020B0604030504040204" pitchFamily="34" charset="0"/>
                          <a:ea typeface="Verdana" panose="020B0604030504040204" pitchFamily="34" charset="0"/>
                          <a:cs typeface="Times New Roman" panose="02020603050405020304" pitchFamily="18" charset="0"/>
                        </a:rPr>
                        <a:t>kms</a:t>
                      </a:r>
                      <a:r>
                        <a:rPr lang="en-GB" sz="1100" dirty="0">
                          <a:effectLst/>
                          <a:latin typeface="Verdana" panose="020B0604030504040204" pitchFamily="34" charset="0"/>
                          <a:ea typeface="Verdana" panose="020B0604030504040204" pitchFamily="34" charset="0"/>
                          <a:cs typeface="Times New Roman" panose="02020603050405020304" pitchFamily="18" charset="0"/>
                        </a:rPr>
                        <a:t>, running efficiency (km/l), etc.</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GB" sz="1100" dirty="0">
                          <a:effectLst/>
                          <a:latin typeface="Verdana" panose="020B0604030504040204" pitchFamily="34" charset="0"/>
                          <a:ea typeface="Verdana" panose="020B0604030504040204" pitchFamily="34" charset="0"/>
                          <a:cs typeface="Times New Roman" panose="02020603050405020304" pitchFamily="18" charset="0"/>
                        </a:rPr>
                        <a:t>How shifts will happen between each transport mode based on technology and cost choices</a:t>
                      </a:r>
                      <a:endParaRPr lang="en-IN"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0"/>
                        </a:spcAft>
                      </a:pPr>
                      <a:r>
                        <a:rPr lang="en-IN" sz="1100" dirty="0">
                          <a:effectLst/>
                          <a:latin typeface="Verdana" panose="020B0604030504040204" pitchFamily="34" charset="0"/>
                          <a:ea typeface="Verdana" panose="020B0604030504040204" pitchFamily="34" charset="0"/>
                          <a:cs typeface="Times New Roman" panose="02020603050405020304" pitchFamily="18" charset="0"/>
                        </a:rPr>
                        <a:t>New technologies, infrastructure support requirements, cost implications.</a:t>
                      </a:r>
                    </a:p>
                  </a:txBody>
                  <a:tcPr marL="45720" marR="45720" anchor="ctr">
                    <a:lnL w="12700" cap="flat" cmpd="sng" algn="ctr">
                      <a:solidFill>
                        <a:schemeClr val="accent3"/>
                      </a:solidFill>
                      <a:prstDash val="sysDot"/>
                      <a:round/>
                      <a:headEnd type="none" w="med" len="med"/>
                      <a:tailEnd type="none" w="med" len="med"/>
                    </a:lnL>
                    <a:lnR w="12700" cap="flat" cmpd="sng" algn="ctr">
                      <a:solidFill>
                        <a:schemeClr val="accent3"/>
                      </a:solidFill>
                      <a:prstDash val="sysDot"/>
                      <a:round/>
                      <a:headEnd type="none" w="med" len="med"/>
                      <a:tailEnd type="none" w="med" len="med"/>
                    </a:lnR>
                    <a:lnT w="12700" cap="flat" cmpd="sng" algn="ctr">
                      <a:solidFill>
                        <a:schemeClr val="accent3"/>
                      </a:solidFill>
                      <a:prstDash val="sysDot"/>
                      <a:round/>
                      <a:headEnd type="none" w="med" len="med"/>
                      <a:tailEnd type="none" w="med" len="med"/>
                    </a:lnT>
                    <a:lnB w="1270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9270750"/>
                  </a:ext>
                </a:extLst>
              </a:tr>
            </a:tbl>
          </a:graphicData>
        </a:graphic>
      </p:graphicFrame>
      <p:sp>
        <p:nvSpPr>
          <p:cNvPr id="29" name="Rectangle 28"/>
          <p:cNvSpPr/>
          <p:nvPr/>
        </p:nvSpPr>
        <p:spPr bwMode="gray">
          <a:xfrm>
            <a:off x="627198" y="6461785"/>
            <a:ext cx="1752654" cy="511040"/>
          </a:xfrm>
          <a:prstGeom prst="rect">
            <a:avLst/>
          </a:prstGeom>
          <a:solidFill>
            <a:srgbClr val="2C523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800" b="1" dirty="0">
              <a:solidFill>
                <a:schemeClr val="bg1"/>
              </a:solidFill>
            </a:endParaRPr>
          </a:p>
        </p:txBody>
      </p:sp>
      <p:sp>
        <p:nvSpPr>
          <p:cNvPr id="30" name="Rectangle 29"/>
          <p:cNvSpPr/>
          <p:nvPr/>
        </p:nvSpPr>
        <p:spPr bwMode="gray">
          <a:xfrm>
            <a:off x="627198" y="5781245"/>
            <a:ext cx="1752654" cy="51104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800" b="1" dirty="0">
              <a:solidFill>
                <a:schemeClr val="bg1"/>
              </a:solidFill>
            </a:endParaRPr>
          </a:p>
        </p:txBody>
      </p:sp>
      <p:sp>
        <p:nvSpPr>
          <p:cNvPr id="31" name="Rectangle 30"/>
          <p:cNvSpPr/>
          <p:nvPr/>
        </p:nvSpPr>
        <p:spPr bwMode="gray">
          <a:xfrm>
            <a:off x="627198" y="5046916"/>
            <a:ext cx="1752654" cy="511040"/>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800" b="1" dirty="0">
              <a:solidFill>
                <a:schemeClr val="bg1"/>
              </a:solidFill>
            </a:endParaRPr>
          </a:p>
        </p:txBody>
      </p:sp>
      <p:sp>
        <p:nvSpPr>
          <p:cNvPr id="32" name="Rectangle 31"/>
          <p:cNvSpPr/>
          <p:nvPr/>
        </p:nvSpPr>
        <p:spPr bwMode="gray">
          <a:xfrm>
            <a:off x="627198" y="3099357"/>
            <a:ext cx="1752654" cy="511040"/>
          </a:xfrm>
          <a:prstGeom prst="rect">
            <a:avLst/>
          </a:prstGeom>
          <a:solidFill>
            <a:srgbClr val="D4D44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800" b="1" dirty="0">
              <a:solidFill>
                <a:schemeClr val="bg1"/>
              </a:solidFill>
            </a:endParaRPr>
          </a:p>
        </p:txBody>
      </p:sp>
      <p:sp>
        <p:nvSpPr>
          <p:cNvPr id="33" name="Rectangle 32"/>
          <p:cNvSpPr/>
          <p:nvPr/>
        </p:nvSpPr>
        <p:spPr bwMode="gray">
          <a:xfrm>
            <a:off x="627198" y="2406070"/>
            <a:ext cx="1752654" cy="51104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800" b="1" dirty="0">
              <a:solidFill>
                <a:schemeClr val="bg1"/>
              </a:solidFill>
            </a:endParaRPr>
          </a:p>
        </p:txBody>
      </p:sp>
      <p:sp>
        <p:nvSpPr>
          <p:cNvPr id="34" name="Rectangle 33"/>
          <p:cNvSpPr/>
          <p:nvPr/>
        </p:nvSpPr>
        <p:spPr bwMode="gray">
          <a:xfrm>
            <a:off x="627198" y="4400627"/>
            <a:ext cx="1752654" cy="443366"/>
          </a:xfrm>
          <a:prstGeom prst="rect">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800" b="1" dirty="0">
              <a:solidFill>
                <a:schemeClr val="bg1"/>
              </a:solidFill>
            </a:endParaRPr>
          </a:p>
        </p:txBody>
      </p:sp>
      <p:sp>
        <p:nvSpPr>
          <p:cNvPr id="35" name="Rectangle 34"/>
          <p:cNvSpPr/>
          <p:nvPr/>
        </p:nvSpPr>
        <p:spPr bwMode="gray">
          <a:xfrm>
            <a:off x="627198" y="3777738"/>
            <a:ext cx="1752654" cy="450397"/>
          </a:xfrm>
          <a:prstGeom prst="rect">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800" b="1" dirty="0">
              <a:solidFill>
                <a:schemeClr val="bg1"/>
              </a:solidFill>
            </a:endParaRPr>
          </a:p>
        </p:txBody>
      </p:sp>
      <p:sp>
        <p:nvSpPr>
          <p:cNvPr id="36" name="Freeform 261"/>
          <p:cNvSpPr>
            <a:spLocks noChangeAspect="1" noEditPoints="1"/>
          </p:cNvSpPr>
          <p:nvPr/>
        </p:nvSpPr>
        <p:spPr bwMode="auto">
          <a:xfrm>
            <a:off x="768442" y="6573770"/>
            <a:ext cx="357373" cy="302169"/>
          </a:xfrm>
          <a:custGeom>
            <a:avLst/>
            <a:gdLst>
              <a:gd name="T0" fmla="*/ 104 w 104"/>
              <a:gd name="T1" fmla="*/ 28 h 88"/>
              <a:gd name="T2" fmla="*/ 94 w 104"/>
              <a:gd name="T3" fmla="*/ 28 h 88"/>
              <a:gd name="T4" fmla="*/ 90 w 104"/>
              <a:gd name="T5" fmla="*/ 8 h 88"/>
              <a:gd name="T6" fmla="*/ 80 w 104"/>
              <a:gd name="T7" fmla="*/ 0 h 88"/>
              <a:gd name="T8" fmla="*/ 24 w 104"/>
              <a:gd name="T9" fmla="*/ 0 h 88"/>
              <a:gd name="T10" fmla="*/ 14 w 104"/>
              <a:gd name="T11" fmla="*/ 8 h 88"/>
              <a:gd name="T12" fmla="*/ 10 w 104"/>
              <a:gd name="T13" fmla="*/ 28 h 88"/>
              <a:gd name="T14" fmla="*/ 0 w 104"/>
              <a:gd name="T15" fmla="*/ 28 h 88"/>
              <a:gd name="T16" fmla="*/ 0 w 104"/>
              <a:gd name="T17" fmla="*/ 36 h 88"/>
              <a:gd name="T18" fmla="*/ 6 w 104"/>
              <a:gd name="T19" fmla="*/ 36 h 88"/>
              <a:gd name="T20" fmla="*/ 4 w 104"/>
              <a:gd name="T21" fmla="*/ 40 h 88"/>
              <a:gd name="T22" fmla="*/ 4 w 104"/>
              <a:gd name="T23" fmla="*/ 48 h 88"/>
              <a:gd name="T24" fmla="*/ 4 w 104"/>
              <a:gd name="T25" fmla="*/ 54 h 88"/>
              <a:gd name="T26" fmla="*/ 4 w 104"/>
              <a:gd name="T27" fmla="*/ 68 h 88"/>
              <a:gd name="T28" fmla="*/ 4 w 104"/>
              <a:gd name="T29" fmla="*/ 72 h 88"/>
              <a:gd name="T30" fmla="*/ 4 w 104"/>
              <a:gd name="T31" fmla="*/ 88 h 88"/>
              <a:gd name="T32" fmla="*/ 16 w 104"/>
              <a:gd name="T33" fmla="*/ 88 h 88"/>
              <a:gd name="T34" fmla="*/ 16 w 104"/>
              <a:gd name="T35" fmla="*/ 80 h 88"/>
              <a:gd name="T36" fmla="*/ 88 w 104"/>
              <a:gd name="T37" fmla="*/ 80 h 88"/>
              <a:gd name="T38" fmla="*/ 88 w 104"/>
              <a:gd name="T39" fmla="*/ 88 h 88"/>
              <a:gd name="T40" fmla="*/ 100 w 104"/>
              <a:gd name="T41" fmla="*/ 88 h 88"/>
              <a:gd name="T42" fmla="*/ 100 w 104"/>
              <a:gd name="T43" fmla="*/ 72 h 88"/>
              <a:gd name="T44" fmla="*/ 100 w 104"/>
              <a:gd name="T45" fmla="*/ 68 h 88"/>
              <a:gd name="T46" fmla="*/ 100 w 104"/>
              <a:gd name="T47" fmla="*/ 60 h 88"/>
              <a:gd name="T48" fmla="*/ 100 w 104"/>
              <a:gd name="T49" fmla="*/ 54 h 88"/>
              <a:gd name="T50" fmla="*/ 100 w 104"/>
              <a:gd name="T51" fmla="*/ 48 h 88"/>
              <a:gd name="T52" fmla="*/ 100 w 104"/>
              <a:gd name="T53" fmla="*/ 40 h 88"/>
              <a:gd name="T54" fmla="*/ 98 w 104"/>
              <a:gd name="T55" fmla="*/ 36 h 88"/>
              <a:gd name="T56" fmla="*/ 104 w 104"/>
              <a:gd name="T57" fmla="*/ 36 h 88"/>
              <a:gd name="T58" fmla="*/ 104 w 104"/>
              <a:gd name="T59" fmla="*/ 28 h 88"/>
              <a:gd name="T60" fmla="*/ 22 w 104"/>
              <a:gd name="T61" fmla="*/ 9 h 88"/>
              <a:gd name="T62" fmla="*/ 24 w 104"/>
              <a:gd name="T63" fmla="*/ 8 h 88"/>
              <a:gd name="T64" fmla="*/ 80 w 104"/>
              <a:gd name="T65" fmla="*/ 8 h 88"/>
              <a:gd name="T66" fmla="*/ 82 w 104"/>
              <a:gd name="T67" fmla="*/ 9 h 88"/>
              <a:gd name="T68" fmla="*/ 86 w 104"/>
              <a:gd name="T69" fmla="*/ 28 h 88"/>
              <a:gd name="T70" fmla="*/ 18 w 104"/>
              <a:gd name="T71" fmla="*/ 28 h 88"/>
              <a:gd name="T72" fmla="*/ 22 w 104"/>
              <a:gd name="T73" fmla="*/ 9 h 88"/>
              <a:gd name="T74" fmla="*/ 24 w 104"/>
              <a:gd name="T75" fmla="*/ 56 h 88"/>
              <a:gd name="T76" fmla="*/ 12 w 104"/>
              <a:gd name="T77" fmla="*/ 56 h 88"/>
              <a:gd name="T78" fmla="*/ 8 w 104"/>
              <a:gd name="T79" fmla="*/ 52 h 88"/>
              <a:gd name="T80" fmla="*/ 8 w 104"/>
              <a:gd name="T81" fmla="*/ 44 h 88"/>
              <a:gd name="T82" fmla="*/ 24 w 104"/>
              <a:gd name="T83" fmla="*/ 48 h 88"/>
              <a:gd name="T84" fmla="*/ 24 w 104"/>
              <a:gd name="T85" fmla="*/ 56 h 88"/>
              <a:gd name="T86" fmla="*/ 68 w 104"/>
              <a:gd name="T87" fmla="*/ 72 h 88"/>
              <a:gd name="T88" fmla="*/ 36 w 104"/>
              <a:gd name="T89" fmla="*/ 72 h 88"/>
              <a:gd name="T90" fmla="*/ 36 w 104"/>
              <a:gd name="T91" fmla="*/ 64 h 88"/>
              <a:gd name="T92" fmla="*/ 68 w 104"/>
              <a:gd name="T93" fmla="*/ 64 h 88"/>
              <a:gd name="T94" fmla="*/ 68 w 104"/>
              <a:gd name="T95" fmla="*/ 72 h 88"/>
              <a:gd name="T96" fmla="*/ 96 w 104"/>
              <a:gd name="T97" fmla="*/ 52 h 88"/>
              <a:gd name="T98" fmla="*/ 92 w 104"/>
              <a:gd name="T99" fmla="*/ 56 h 88"/>
              <a:gd name="T100" fmla="*/ 80 w 104"/>
              <a:gd name="T101" fmla="*/ 56 h 88"/>
              <a:gd name="T102" fmla="*/ 80 w 104"/>
              <a:gd name="T103" fmla="*/ 48 h 88"/>
              <a:gd name="T104" fmla="*/ 96 w 104"/>
              <a:gd name="T105" fmla="*/ 44 h 88"/>
              <a:gd name="T106" fmla="*/ 96 w 104"/>
              <a:gd name="T107" fmla="*/ 5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4" h="88">
                <a:moveTo>
                  <a:pt x="104" y="28"/>
                </a:moveTo>
                <a:cubicBezTo>
                  <a:pt x="94" y="28"/>
                  <a:pt x="94" y="28"/>
                  <a:pt x="94" y="28"/>
                </a:cubicBezTo>
                <a:cubicBezTo>
                  <a:pt x="90" y="8"/>
                  <a:pt x="90" y="8"/>
                  <a:pt x="90" y="8"/>
                </a:cubicBezTo>
                <a:cubicBezTo>
                  <a:pt x="89" y="4"/>
                  <a:pt x="84" y="0"/>
                  <a:pt x="80" y="0"/>
                </a:cubicBezTo>
                <a:cubicBezTo>
                  <a:pt x="24" y="0"/>
                  <a:pt x="24" y="0"/>
                  <a:pt x="24" y="0"/>
                </a:cubicBezTo>
                <a:cubicBezTo>
                  <a:pt x="20" y="0"/>
                  <a:pt x="15" y="4"/>
                  <a:pt x="14" y="8"/>
                </a:cubicBezTo>
                <a:cubicBezTo>
                  <a:pt x="10" y="28"/>
                  <a:pt x="10" y="28"/>
                  <a:pt x="10" y="28"/>
                </a:cubicBezTo>
                <a:cubicBezTo>
                  <a:pt x="0" y="28"/>
                  <a:pt x="0" y="28"/>
                  <a:pt x="0" y="28"/>
                </a:cubicBezTo>
                <a:cubicBezTo>
                  <a:pt x="0" y="36"/>
                  <a:pt x="0" y="36"/>
                  <a:pt x="0" y="36"/>
                </a:cubicBezTo>
                <a:cubicBezTo>
                  <a:pt x="6" y="36"/>
                  <a:pt x="6" y="36"/>
                  <a:pt x="6" y="36"/>
                </a:cubicBezTo>
                <a:cubicBezTo>
                  <a:pt x="4" y="40"/>
                  <a:pt x="4" y="40"/>
                  <a:pt x="4" y="40"/>
                </a:cubicBezTo>
                <a:cubicBezTo>
                  <a:pt x="4" y="48"/>
                  <a:pt x="4" y="48"/>
                  <a:pt x="4" y="48"/>
                </a:cubicBezTo>
                <a:cubicBezTo>
                  <a:pt x="4" y="54"/>
                  <a:pt x="4" y="54"/>
                  <a:pt x="4" y="54"/>
                </a:cubicBezTo>
                <a:cubicBezTo>
                  <a:pt x="4" y="68"/>
                  <a:pt x="4" y="68"/>
                  <a:pt x="4" y="68"/>
                </a:cubicBezTo>
                <a:cubicBezTo>
                  <a:pt x="4" y="72"/>
                  <a:pt x="4" y="72"/>
                  <a:pt x="4" y="72"/>
                </a:cubicBezTo>
                <a:cubicBezTo>
                  <a:pt x="4" y="88"/>
                  <a:pt x="4" y="88"/>
                  <a:pt x="4" y="88"/>
                </a:cubicBezTo>
                <a:cubicBezTo>
                  <a:pt x="16" y="88"/>
                  <a:pt x="16" y="88"/>
                  <a:pt x="16" y="88"/>
                </a:cubicBezTo>
                <a:cubicBezTo>
                  <a:pt x="16" y="80"/>
                  <a:pt x="16" y="80"/>
                  <a:pt x="16" y="80"/>
                </a:cubicBezTo>
                <a:cubicBezTo>
                  <a:pt x="88" y="80"/>
                  <a:pt x="88" y="80"/>
                  <a:pt x="88" y="80"/>
                </a:cubicBezTo>
                <a:cubicBezTo>
                  <a:pt x="88" y="88"/>
                  <a:pt x="88" y="88"/>
                  <a:pt x="88" y="88"/>
                </a:cubicBezTo>
                <a:cubicBezTo>
                  <a:pt x="100" y="88"/>
                  <a:pt x="100" y="88"/>
                  <a:pt x="100" y="88"/>
                </a:cubicBezTo>
                <a:cubicBezTo>
                  <a:pt x="100" y="72"/>
                  <a:pt x="100" y="72"/>
                  <a:pt x="100" y="72"/>
                </a:cubicBezTo>
                <a:cubicBezTo>
                  <a:pt x="100" y="68"/>
                  <a:pt x="100" y="68"/>
                  <a:pt x="100" y="68"/>
                </a:cubicBezTo>
                <a:cubicBezTo>
                  <a:pt x="100" y="60"/>
                  <a:pt x="100" y="60"/>
                  <a:pt x="100" y="60"/>
                </a:cubicBezTo>
                <a:cubicBezTo>
                  <a:pt x="100" y="54"/>
                  <a:pt x="100" y="54"/>
                  <a:pt x="100" y="54"/>
                </a:cubicBezTo>
                <a:cubicBezTo>
                  <a:pt x="100" y="48"/>
                  <a:pt x="100" y="48"/>
                  <a:pt x="100" y="48"/>
                </a:cubicBezTo>
                <a:cubicBezTo>
                  <a:pt x="100" y="40"/>
                  <a:pt x="100" y="40"/>
                  <a:pt x="100" y="40"/>
                </a:cubicBezTo>
                <a:cubicBezTo>
                  <a:pt x="98" y="36"/>
                  <a:pt x="98" y="36"/>
                  <a:pt x="98" y="36"/>
                </a:cubicBezTo>
                <a:cubicBezTo>
                  <a:pt x="104" y="36"/>
                  <a:pt x="104" y="36"/>
                  <a:pt x="104" y="36"/>
                </a:cubicBezTo>
                <a:cubicBezTo>
                  <a:pt x="104" y="28"/>
                  <a:pt x="104" y="28"/>
                  <a:pt x="104" y="28"/>
                </a:cubicBezTo>
                <a:moveTo>
                  <a:pt x="22" y="9"/>
                </a:moveTo>
                <a:cubicBezTo>
                  <a:pt x="22" y="9"/>
                  <a:pt x="23" y="8"/>
                  <a:pt x="24" y="8"/>
                </a:cubicBezTo>
                <a:cubicBezTo>
                  <a:pt x="80" y="8"/>
                  <a:pt x="80" y="8"/>
                  <a:pt x="80" y="8"/>
                </a:cubicBezTo>
                <a:cubicBezTo>
                  <a:pt x="81" y="8"/>
                  <a:pt x="82" y="9"/>
                  <a:pt x="82" y="9"/>
                </a:cubicBezTo>
                <a:cubicBezTo>
                  <a:pt x="86" y="28"/>
                  <a:pt x="86" y="28"/>
                  <a:pt x="86" y="28"/>
                </a:cubicBezTo>
                <a:cubicBezTo>
                  <a:pt x="18" y="28"/>
                  <a:pt x="18" y="28"/>
                  <a:pt x="18" y="28"/>
                </a:cubicBezTo>
                <a:cubicBezTo>
                  <a:pt x="22" y="9"/>
                  <a:pt x="22" y="9"/>
                  <a:pt x="22" y="9"/>
                </a:cubicBezTo>
                <a:moveTo>
                  <a:pt x="24" y="56"/>
                </a:moveTo>
                <a:cubicBezTo>
                  <a:pt x="12" y="56"/>
                  <a:pt x="12" y="56"/>
                  <a:pt x="12" y="56"/>
                </a:cubicBezTo>
                <a:cubicBezTo>
                  <a:pt x="8" y="52"/>
                  <a:pt x="8" y="52"/>
                  <a:pt x="8" y="52"/>
                </a:cubicBezTo>
                <a:cubicBezTo>
                  <a:pt x="8" y="44"/>
                  <a:pt x="8" y="44"/>
                  <a:pt x="8" y="44"/>
                </a:cubicBezTo>
                <a:cubicBezTo>
                  <a:pt x="24" y="48"/>
                  <a:pt x="24" y="48"/>
                  <a:pt x="24" y="48"/>
                </a:cubicBezTo>
                <a:cubicBezTo>
                  <a:pt x="24" y="56"/>
                  <a:pt x="24" y="56"/>
                  <a:pt x="24" y="56"/>
                </a:cubicBezTo>
                <a:moveTo>
                  <a:pt x="68" y="72"/>
                </a:moveTo>
                <a:cubicBezTo>
                  <a:pt x="36" y="72"/>
                  <a:pt x="36" y="72"/>
                  <a:pt x="36" y="72"/>
                </a:cubicBezTo>
                <a:cubicBezTo>
                  <a:pt x="36" y="64"/>
                  <a:pt x="36" y="64"/>
                  <a:pt x="36" y="64"/>
                </a:cubicBezTo>
                <a:cubicBezTo>
                  <a:pt x="68" y="64"/>
                  <a:pt x="68" y="64"/>
                  <a:pt x="68" y="64"/>
                </a:cubicBezTo>
                <a:cubicBezTo>
                  <a:pt x="68" y="72"/>
                  <a:pt x="68" y="72"/>
                  <a:pt x="68" y="72"/>
                </a:cubicBezTo>
                <a:moveTo>
                  <a:pt x="96" y="52"/>
                </a:moveTo>
                <a:cubicBezTo>
                  <a:pt x="92" y="56"/>
                  <a:pt x="92" y="56"/>
                  <a:pt x="92" y="56"/>
                </a:cubicBezTo>
                <a:cubicBezTo>
                  <a:pt x="80" y="56"/>
                  <a:pt x="80" y="56"/>
                  <a:pt x="80" y="56"/>
                </a:cubicBezTo>
                <a:cubicBezTo>
                  <a:pt x="80" y="48"/>
                  <a:pt x="80" y="48"/>
                  <a:pt x="80" y="48"/>
                </a:cubicBezTo>
                <a:cubicBezTo>
                  <a:pt x="96" y="44"/>
                  <a:pt x="96" y="44"/>
                  <a:pt x="96" y="44"/>
                </a:cubicBezTo>
                <a:cubicBezTo>
                  <a:pt x="96" y="52"/>
                  <a:pt x="96" y="52"/>
                  <a:pt x="96" y="5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2400" dirty="0">
              <a:solidFill>
                <a:schemeClr val="bg1"/>
              </a:solidFill>
              <a:latin typeface="Calibri"/>
              <a:sym typeface="Calibri"/>
            </a:endParaRPr>
          </a:p>
        </p:txBody>
      </p:sp>
      <p:sp>
        <p:nvSpPr>
          <p:cNvPr id="37" name="Rectangle 36"/>
          <p:cNvSpPr/>
          <p:nvPr/>
        </p:nvSpPr>
        <p:spPr bwMode="gray">
          <a:xfrm>
            <a:off x="1347039" y="6558096"/>
            <a:ext cx="805411" cy="307777"/>
          </a:xfrm>
          <a:prstGeom prst="rect">
            <a:avLst/>
          </a:prstGeom>
          <a:noFill/>
          <a:ln w="19050" algn="ctr">
            <a:noFill/>
            <a:miter lim="800000"/>
            <a:headEnd/>
            <a:tailEnd/>
          </a:ln>
        </p:spPr>
        <p:txBody>
          <a:bodyPr wrap="square" lIns="45720" tIns="45720" rIns="45720" bIns="45720" rtlCol="0" anchor="ctr">
            <a:spAutoFit/>
          </a:bodyPr>
          <a:lstStyle/>
          <a:p>
            <a:pPr>
              <a:buFont typeface="Wingdings 2" pitchFamily="18" charset="2"/>
              <a:buNone/>
            </a:pPr>
            <a:r>
              <a:rPr lang="en-US" sz="1400" b="1" dirty="0">
                <a:solidFill>
                  <a:schemeClr val="bg1"/>
                </a:solidFill>
                <a:latin typeface="Calibri"/>
              </a:rPr>
              <a:t>Transport</a:t>
            </a:r>
          </a:p>
        </p:txBody>
      </p:sp>
      <p:sp>
        <p:nvSpPr>
          <p:cNvPr id="38" name="Freeform 108"/>
          <p:cNvSpPr>
            <a:spLocks noChangeAspect="1" noEditPoints="1"/>
          </p:cNvSpPr>
          <p:nvPr/>
        </p:nvSpPr>
        <p:spPr bwMode="auto">
          <a:xfrm>
            <a:off x="916768" y="5893979"/>
            <a:ext cx="167925" cy="399901"/>
          </a:xfrm>
          <a:custGeom>
            <a:avLst/>
            <a:gdLst>
              <a:gd name="T0" fmla="*/ 186 w 201"/>
              <a:gd name="T1" fmla="*/ 28 h 487"/>
              <a:gd name="T2" fmla="*/ 127 w 201"/>
              <a:gd name="T3" fmla="*/ 0 h 487"/>
              <a:gd name="T4" fmla="*/ 14 w 201"/>
              <a:gd name="T5" fmla="*/ 14 h 487"/>
              <a:gd name="T6" fmla="*/ 19 w 201"/>
              <a:gd name="T7" fmla="*/ 456 h 487"/>
              <a:gd name="T8" fmla="*/ 201 w 201"/>
              <a:gd name="T9" fmla="*/ 487 h 487"/>
              <a:gd name="T10" fmla="*/ 71 w 201"/>
              <a:gd name="T11" fmla="*/ 456 h 487"/>
              <a:gd name="T12" fmla="*/ 71 w 201"/>
              <a:gd name="T13" fmla="*/ 425 h 487"/>
              <a:gd name="T14" fmla="*/ 45 w 201"/>
              <a:gd name="T15" fmla="*/ 409 h 487"/>
              <a:gd name="T16" fmla="*/ 71 w 201"/>
              <a:gd name="T17" fmla="*/ 409 h 487"/>
              <a:gd name="T18" fmla="*/ 45 w 201"/>
              <a:gd name="T19" fmla="*/ 331 h 487"/>
              <a:gd name="T20" fmla="*/ 71 w 201"/>
              <a:gd name="T21" fmla="*/ 314 h 487"/>
              <a:gd name="T22" fmla="*/ 71 w 201"/>
              <a:gd name="T23" fmla="*/ 283 h 487"/>
              <a:gd name="T24" fmla="*/ 45 w 201"/>
              <a:gd name="T25" fmla="*/ 267 h 487"/>
              <a:gd name="T26" fmla="*/ 71 w 201"/>
              <a:gd name="T27" fmla="*/ 267 h 487"/>
              <a:gd name="T28" fmla="*/ 45 w 201"/>
              <a:gd name="T29" fmla="*/ 189 h 487"/>
              <a:gd name="T30" fmla="*/ 71 w 201"/>
              <a:gd name="T31" fmla="*/ 170 h 487"/>
              <a:gd name="T32" fmla="*/ 71 w 201"/>
              <a:gd name="T33" fmla="*/ 142 h 487"/>
              <a:gd name="T34" fmla="*/ 45 w 201"/>
              <a:gd name="T35" fmla="*/ 123 h 487"/>
              <a:gd name="T36" fmla="*/ 71 w 201"/>
              <a:gd name="T37" fmla="*/ 123 h 487"/>
              <a:gd name="T38" fmla="*/ 45 w 201"/>
              <a:gd name="T39" fmla="*/ 45 h 487"/>
              <a:gd name="T40" fmla="*/ 113 w 201"/>
              <a:gd name="T41" fmla="*/ 456 h 487"/>
              <a:gd name="T42" fmla="*/ 113 w 201"/>
              <a:gd name="T43" fmla="*/ 425 h 487"/>
              <a:gd name="T44" fmla="*/ 87 w 201"/>
              <a:gd name="T45" fmla="*/ 409 h 487"/>
              <a:gd name="T46" fmla="*/ 113 w 201"/>
              <a:gd name="T47" fmla="*/ 409 h 487"/>
              <a:gd name="T48" fmla="*/ 87 w 201"/>
              <a:gd name="T49" fmla="*/ 331 h 487"/>
              <a:gd name="T50" fmla="*/ 113 w 201"/>
              <a:gd name="T51" fmla="*/ 314 h 487"/>
              <a:gd name="T52" fmla="*/ 113 w 201"/>
              <a:gd name="T53" fmla="*/ 283 h 487"/>
              <a:gd name="T54" fmla="*/ 87 w 201"/>
              <a:gd name="T55" fmla="*/ 267 h 487"/>
              <a:gd name="T56" fmla="*/ 113 w 201"/>
              <a:gd name="T57" fmla="*/ 267 h 487"/>
              <a:gd name="T58" fmla="*/ 87 w 201"/>
              <a:gd name="T59" fmla="*/ 189 h 487"/>
              <a:gd name="T60" fmla="*/ 113 w 201"/>
              <a:gd name="T61" fmla="*/ 170 h 487"/>
              <a:gd name="T62" fmla="*/ 113 w 201"/>
              <a:gd name="T63" fmla="*/ 142 h 487"/>
              <a:gd name="T64" fmla="*/ 87 w 201"/>
              <a:gd name="T65" fmla="*/ 123 h 487"/>
              <a:gd name="T66" fmla="*/ 113 w 201"/>
              <a:gd name="T67" fmla="*/ 123 h 487"/>
              <a:gd name="T68" fmla="*/ 87 w 201"/>
              <a:gd name="T69" fmla="*/ 45 h 487"/>
              <a:gd name="T70" fmla="*/ 156 w 201"/>
              <a:gd name="T71" fmla="*/ 456 h 487"/>
              <a:gd name="T72" fmla="*/ 156 w 201"/>
              <a:gd name="T73" fmla="*/ 425 h 487"/>
              <a:gd name="T74" fmla="*/ 130 w 201"/>
              <a:gd name="T75" fmla="*/ 409 h 487"/>
              <a:gd name="T76" fmla="*/ 156 w 201"/>
              <a:gd name="T77" fmla="*/ 409 h 487"/>
              <a:gd name="T78" fmla="*/ 130 w 201"/>
              <a:gd name="T79" fmla="*/ 331 h 487"/>
              <a:gd name="T80" fmla="*/ 156 w 201"/>
              <a:gd name="T81" fmla="*/ 314 h 487"/>
              <a:gd name="T82" fmla="*/ 156 w 201"/>
              <a:gd name="T83" fmla="*/ 283 h 487"/>
              <a:gd name="T84" fmla="*/ 130 w 201"/>
              <a:gd name="T85" fmla="*/ 267 h 487"/>
              <a:gd name="T86" fmla="*/ 156 w 201"/>
              <a:gd name="T87" fmla="*/ 267 h 487"/>
              <a:gd name="T88" fmla="*/ 130 w 201"/>
              <a:gd name="T89" fmla="*/ 189 h 487"/>
              <a:gd name="T90" fmla="*/ 156 w 201"/>
              <a:gd name="T91" fmla="*/ 170 h 487"/>
              <a:gd name="T92" fmla="*/ 156 w 201"/>
              <a:gd name="T93" fmla="*/ 142 h 487"/>
              <a:gd name="T94" fmla="*/ 130 w 201"/>
              <a:gd name="T95" fmla="*/ 123 h 487"/>
              <a:gd name="T96" fmla="*/ 156 w 201"/>
              <a:gd name="T97" fmla="*/ 123 h 487"/>
              <a:gd name="T98" fmla="*/ 130 w 201"/>
              <a:gd name="T99" fmla="*/ 4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 h="487">
                <a:moveTo>
                  <a:pt x="182" y="456"/>
                </a:moveTo>
                <a:lnTo>
                  <a:pt x="182" y="28"/>
                </a:lnTo>
                <a:lnTo>
                  <a:pt x="186" y="28"/>
                </a:lnTo>
                <a:lnTo>
                  <a:pt x="186" y="14"/>
                </a:lnTo>
                <a:lnTo>
                  <a:pt x="127" y="14"/>
                </a:lnTo>
                <a:lnTo>
                  <a:pt x="127" y="0"/>
                </a:lnTo>
                <a:lnTo>
                  <a:pt x="40" y="0"/>
                </a:lnTo>
                <a:lnTo>
                  <a:pt x="40" y="14"/>
                </a:lnTo>
                <a:lnTo>
                  <a:pt x="14" y="14"/>
                </a:lnTo>
                <a:lnTo>
                  <a:pt x="14" y="28"/>
                </a:lnTo>
                <a:lnTo>
                  <a:pt x="19" y="28"/>
                </a:lnTo>
                <a:lnTo>
                  <a:pt x="19" y="456"/>
                </a:lnTo>
                <a:lnTo>
                  <a:pt x="0" y="456"/>
                </a:lnTo>
                <a:lnTo>
                  <a:pt x="0" y="487"/>
                </a:lnTo>
                <a:lnTo>
                  <a:pt x="201" y="487"/>
                </a:lnTo>
                <a:lnTo>
                  <a:pt x="201" y="456"/>
                </a:lnTo>
                <a:lnTo>
                  <a:pt x="182" y="456"/>
                </a:lnTo>
                <a:close/>
                <a:moveTo>
                  <a:pt x="71" y="456"/>
                </a:moveTo>
                <a:lnTo>
                  <a:pt x="45" y="456"/>
                </a:lnTo>
                <a:lnTo>
                  <a:pt x="45" y="425"/>
                </a:lnTo>
                <a:lnTo>
                  <a:pt x="71" y="425"/>
                </a:lnTo>
                <a:lnTo>
                  <a:pt x="71" y="456"/>
                </a:lnTo>
                <a:close/>
                <a:moveTo>
                  <a:pt x="71" y="409"/>
                </a:moveTo>
                <a:lnTo>
                  <a:pt x="45" y="409"/>
                </a:lnTo>
                <a:lnTo>
                  <a:pt x="45" y="378"/>
                </a:lnTo>
                <a:lnTo>
                  <a:pt x="71" y="378"/>
                </a:lnTo>
                <a:lnTo>
                  <a:pt x="71" y="409"/>
                </a:lnTo>
                <a:close/>
                <a:moveTo>
                  <a:pt x="71" y="361"/>
                </a:moveTo>
                <a:lnTo>
                  <a:pt x="45" y="361"/>
                </a:lnTo>
                <a:lnTo>
                  <a:pt x="45" y="331"/>
                </a:lnTo>
                <a:lnTo>
                  <a:pt x="71" y="331"/>
                </a:lnTo>
                <a:lnTo>
                  <a:pt x="71" y="361"/>
                </a:lnTo>
                <a:close/>
                <a:moveTo>
                  <a:pt x="71" y="314"/>
                </a:moveTo>
                <a:lnTo>
                  <a:pt x="45" y="314"/>
                </a:lnTo>
                <a:lnTo>
                  <a:pt x="45" y="283"/>
                </a:lnTo>
                <a:lnTo>
                  <a:pt x="71" y="283"/>
                </a:lnTo>
                <a:lnTo>
                  <a:pt x="71" y="314"/>
                </a:lnTo>
                <a:close/>
                <a:moveTo>
                  <a:pt x="71" y="267"/>
                </a:moveTo>
                <a:lnTo>
                  <a:pt x="45" y="267"/>
                </a:lnTo>
                <a:lnTo>
                  <a:pt x="45" y="236"/>
                </a:lnTo>
                <a:lnTo>
                  <a:pt x="71" y="236"/>
                </a:lnTo>
                <a:lnTo>
                  <a:pt x="71" y="267"/>
                </a:lnTo>
                <a:close/>
                <a:moveTo>
                  <a:pt x="71" y="220"/>
                </a:moveTo>
                <a:lnTo>
                  <a:pt x="45" y="220"/>
                </a:lnTo>
                <a:lnTo>
                  <a:pt x="45" y="189"/>
                </a:lnTo>
                <a:lnTo>
                  <a:pt x="71" y="189"/>
                </a:lnTo>
                <a:lnTo>
                  <a:pt x="71" y="220"/>
                </a:lnTo>
                <a:close/>
                <a:moveTo>
                  <a:pt x="71" y="170"/>
                </a:moveTo>
                <a:lnTo>
                  <a:pt x="45" y="170"/>
                </a:lnTo>
                <a:lnTo>
                  <a:pt x="45" y="142"/>
                </a:lnTo>
                <a:lnTo>
                  <a:pt x="71" y="142"/>
                </a:lnTo>
                <a:lnTo>
                  <a:pt x="71" y="170"/>
                </a:lnTo>
                <a:close/>
                <a:moveTo>
                  <a:pt x="71" y="123"/>
                </a:moveTo>
                <a:lnTo>
                  <a:pt x="45" y="123"/>
                </a:lnTo>
                <a:lnTo>
                  <a:pt x="45" y="92"/>
                </a:lnTo>
                <a:lnTo>
                  <a:pt x="71" y="92"/>
                </a:lnTo>
                <a:lnTo>
                  <a:pt x="71" y="123"/>
                </a:lnTo>
                <a:close/>
                <a:moveTo>
                  <a:pt x="71" y="76"/>
                </a:moveTo>
                <a:lnTo>
                  <a:pt x="45" y="76"/>
                </a:lnTo>
                <a:lnTo>
                  <a:pt x="45" y="45"/>
                </a:lnTo>
                <a:lnTo>
                  <a:pt x="71" y="45"/>
                </a:lnTo>
                <a:lnTo>
                  <a:pt x="71" y="76"/>
                </a:lnTo>
                <a:close/>
                <a:moveTo>
                  <a:pt x="113" y="456"/>
                </a:moveTo>
                <a:lnTo>
                  <a:pt x="87" y="456"/>
                </a:lnTo>
                <a:lnTo>
                  <a:pt x="87" y="425"/>
                </a:lnTo>
                <a:lnTo>
                  <a:pt x="113" y="425"/>
                </a:lnTo>
                <a:lnTo>
                  <a:pt x="113" y="456"/>
                </a:lnTo>
                <a:close/>
                <a:moveTo>
                  <a:pt x="113" y="409"/>
                </a:moveTo>
                <a:lnTo>
                  <a:pt x="87" y="409"/>
                </a:lnTo>
                <a:lnTo>
                  <a:pt x="87" y="378"/>
                </a:lnTo>
                <a:lnTo>
                  <a:pt x="113" y="378"/>
                </a:lnTo>
                <a:lnTo>
                  <a:pt x="113" y="409"/>
                </a:lnTo>
                <a:close/>
                <a:moveTo>
                  <a:pt x="113" y="361"/>
                </a:moveTo>
                <a:lnTo>
                  <a:pt x="87" y="361"/>
                </a:lnTo>
                <a:lnTo>
                  <a:pt x="87" y="331"/>
                </a:lnTo>
                <a:lnTo>
                  <a:pt x="113" y="331"/>
                </a:lnTo>
                <a:lnTo>
                  <a:pt x="113" y="361"/>
                </a:lnTo>
                <a:close/>
                <a:moveTo>
                  <a:pt x="113" y="314"/>
                </a:moveTo>
                <a:lnTo>
                  <a:pt x="87" y="314"/>
                </a:lnTo>
                <a:lnTo>
                  <a:pt x="87" y="283"/>
                </a:lnTo>
                <a:lnTo>
                  <a:pt x="113" y="283"/>
                </a:lnTo>
                <a:lnTo>
                  <a:pt x="113" y="314"/>
                </a:lnTo>
                <a:close/>
                <a:moveTo>
                  <a:pt x="113" y="267"/>
                </a:moveTo>
                <a:lnTo>
                  <a:pt x="87" y="267"/>
                </a:lnTo>
                <a:lnTo>
                  <a:pt x="87" y="236"/>
                </a:lnTo>
                <a:lnTo>
                  <a:pt x="113" y="236"/>
                </a:lnTo>
                <a:lnTo>
                  <a:pt x="113" y="267"/>
                </a:lnTo>
                <a:close/>
                <a:moveTo>
                  <a:pt x="113" y="220"/>
                </a:moveTo>
                <a:lnTo>
                  <a:pt x="87" y="220"/>
                </a:lnTo>
                <a:lnTo>
                  <a:pt x="87" y="189"/>
                </a:lnTo>
                <a:lnTo>
                  <a:pt x="113" y="189"/>
                </a:lnTo>
                <a:lnTo>
                  <a:pt x="113" y="220"/>
                </a:lnTo>
                <a:close/>
                <a:moveTo>
                  <a:pt x="113" y="170"/>
                </a:moveTo>
                <a:lnTo>
                  <a:pt x="87" y="170"/>
                </a:lnTo>
                <a:lnTo>
                  <a:pt x="87" y="142"/>
                </a:lnTo>
                <a:lnTo>
                  <a:pt x="113" y="142"/>
                </a:lnTo>
                <a:lnTo>
                  <a:pt x="113" y="170"/>
                </a:lnTo>
                <a:close/>
                <a:moveTo>
                  <a:pt x="113" y="123"/>
                </a:moveTo>
                <a:lnTo>
                  <a:pt x="87" y="123"/>
                </a:lnTo>
                <a:lnTo>
                  <a:pt x="87" y="92"/>
                </a:lnTo>
                <a:lnTo>
                  <a:pt x="113" y="92"/>
                </a:lnTo>
                <a:lnTo>
                  <a:pt x="113" y="123"/>
                </a:lnTo>
                <a:close/>
                <a:moveTo>
                  <a:pt x="113" y="76"/>
                </a:moveTo>
                <a:lnTo>
                  <a:pt x="87" y="76"/>
                </a:lnTo>
                <a:lnTo>
                  <a:pt x="87" y="45"/>
                </a:lnTo>
                <a:lnTo>
                  <a:pt x="113" y="45"/>
                </a:lnTo>
                <a:lnTo>
                  <a:pt x="113" y="76"/>
                </a:lnTo>
                <a:close/>
                <a:moveTo>
                  <a:pt x="156" y="456"/>
                </a:moveTo>
                <a:lnTo>
                  <a:pt x="130" y="456"/>
                </a:lnTo>
                <a:lnTo>
                  <a:pt x="130" y="425"/>
                </a:lnTo>
                <a:lnTo>
                  <a:pt x="156" y="425"/>
                </a:lnTo>
                <a:lnTo>
                  <a:pt x="156" y="456"/>
                </a:lnTo>
                <a:close/>
                <a:moveTo>
                  <a:pt x="156" y="409"/>
                </a:moveTo>
                <a:lnTo>
                  <a:pt x="130" y="409"/>
                </a:lnTo>
                <a:lnTo>
                  <a:pt x="130" y="378"/>
                </a:lnTo>
                <a:lnTo>
                  <a:pt x="156" y="378"/>
                </a:lnTo>
                <a:lnTo>
                  <a:pt x="156" y="409"/>
                </a:lnTo>
                <a:close/>
                <a:moveTo>
                  <a:pt x="156" y="361"/>
                </a:moveTo>
                <a:lnTo>
                  <a:pt x="130" y="361"/>
                </a:lnTo>
                <a:lnTo>
                  <a:pt x="130" y="331"/>
                </a:lnTo>
                <a:lnTo>
                  <a:pt x="156" y="331"/>
                </a:lnTo>
                <a:lnTo>
                  <a:pt x="156" y="361"/>
                </a:lnTo>
                <a:close/>
                <a:moveTo>
                  <a:pt x="156" y="314"/>
                </a:moveTo>
                <a:lnTo>
                  <a:pt x="130" y="314"/>
                </a:lnTo>
                <a:lnTo>
                  <a:pt x="130" y="283"/>
                </a:lnTo>
                <a:lnTo>
                  <a:pt x="156" y="283"/>
                </a:lnTo>
                <a:lnTo>
                  <a:pt x="156" y="314"/>
                </a:lnTo>
                <a:close/>
                <a:moveTo>
                  <a:pt x="156" y="267"/>
                </a:moveTo>
                <a:lnTo>
                  <a:pt x="130" y="267"/>
                </a:lnTo>
                <a:lnTo>
                  <a:pt x="130" y="236"/>
                </a:lnTo>
                <a:lnTo>
                  <a:pt x="156" y="236"/>
                </a:lnTo>
                <a:lnTo>
                  <a:pt x="156" y="267"/>
                </a:lnTo>
                <a:close/>
                <a:moveTo>
                  <a:pt x="156" y="220"/>
                </a:moveTo>
                <a:lnTo>
                  <a:pt x="130" y="220"/>
                </a:lnTo>
                <a:lnTo>
                  <a:pt x="130" y="189"/>
                </a:lnTo>
                <a:lnTo>
                  <a:pt x="156" y="189"/>
                </a:lnTo>
                <a:lnTo>
                  <a:pt x="156" y="220"/>
                </a:lnTo>
                <a:close/>
                <a:moveTo>
                  <a:pt x="156" y="170"/>
                </a:moveTo>
                <a:lnTo>
                  <a:pt x="130" y="170"/>
                </a:lnTo>
                <a:lnTo>
                  <a:pt x="130" y="142"/>
                </a:lnTo>
                <a:lnTo>
                  <a:pt x="156" y="142"/>
                </a:lnTo>
                <a:lnTo>
                  <a:pt x="156" y="170"/>
                </a:lnTo>
                <a:close/>
                <a:moveTo>
                  <a:pt x="156" y="123"/>
                </a:moveTo>
                <a:lnTo>
                  <a:pt x="130" y="123"/>
                </a:lnTo>
                <a:lnTo>
                  <a:pt x="130" y="92"/>
                </a:lnTo>
                <a:lnTo>
                  <a:pt x="156" y="92"/>
                </a:lnTo>
                <a:lnTo>
                  <a:pt x="156" y="123"/>
                </a:lnTo>
                <a:close/>
                <a:moveTo>
                  <a:pt x="156" y="76"/>
                </a:moveTo>
                <a:lnTo>
                  <a:pt x="130" y="76"/>
                </a:lnTo>
                <a:lnTo>
                  <a:pt x="130" y="45"/>
                </a:lnTo>
                <a:lnTo>
                  <a:pt x="156" y="45"/>
                </a:lnTo>
                <a:lnTo>
                  <a:pt x="156" y="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2400" dirty="0">
              <a:solidFill>
                <a:schemeClr val="bg1"/>
              </a:solidFill>
              <a:latin typeface="Calibri"/>
              <a:sym typeface="Calibri"/>
            </a:endParaRPr>
          </a:p>
        </p:txBody>
      </p:sp>
      <p:sp>
        <p:nvSpPr>
          <p:cNvPr id="39" name="Rectangle 38"/>
          <p:cNvSpPr/>
          <p:nvPr/>
        </p:nvSpPr>
        <p:spPr bwMode="gray">
          <a:xfrm>
            <a:off x="1404496" y="5901340"/>
            <a:ext cx="798189" cy="307777"/>
          </a:xfrm>
          <a:prstGeom prst="rect">
            <a:avLst/>
          </a:prstGeom>
          <a:noFill/>
          <a:ln w="19050" algn="ctr">
            <a:noFill/>
            <a:miter lim="800000"/>
            <a:headEnd/>
            <a:tailEnd/>
          </a:ln>
        </p:spPr>
        <p:txBody>
          <a:bodyPr wrap="square" lIns="45720" tIns="45720" rIns="45720" bIns="45720" rtlCol="0" anchor="ctr">
            <a:spAutoFit/>
          </a:bodyPr>
          <a:lstStyle/>
          <a:p>
            <a:pPr>
              <a:buFont typeface="Wingdings 2" pitchFamily="18" charset="2"/>
              <a:buNone/>
            </a:pPr>
            <a:r>
              <a:rPr lang="en-US" sz="1400" b="1" dirty="0">
                <a:solidFill>
                  <a:schemeClr val="bg1"/>
                </a:solidFill>
                <a:latin typeface="Calibri"/>
              </a:rPr>
              <a:t>Buildings</a:t>
            </a:r>
          </a:p>
        </p:txBody>
      </p:sp>
      <p:sp>
        <p:nvSpPr>
          <p:cNvPr id="41" name="Rectangle 40"/>
          <p:cNvSpPr/>
          <p:nvPr/>
        </p:nvSpPr>
        <p:spPr bwMode="gray">
          <a:xfrm>
            <a:off x="1347039" y="5171452"/>
            <a:ext cx="1032813" cy="307777"/>
          </a:xfrm>
          <a:prstGeom prst="rect">
            <a:avLst/>
          </a:prstGeom>
          <a:noFill/>
          <a:ln w="19050" algn="ctr">
            <a:noFill/>
            <a:miter lim="800000"/>
            <a:headEnd/>
            <a:tailEnd/>
          </a:ln>
        </p:spPr>
        <p:txBody>
          <a:bodyPr wrap="square" lIns="45720" tIns="45720" rIns="45720" bIns="45720" rtlCol="0" anchor="ctr">
            <a:spAutoFit/>
          </a:bodyPr>
          <a:lstStyle/>
          <a:p>
            <a:pPr>
              <a:buFont typeface="Wingdings 2" pitchFamily="18" charset="2"/>
              <a:buNone/>
            </a:pPr>
            <a:r>
              <a:rPr lang="en-US" sz="1400" b="1" dirty="0">
                <a:solidFill>
                  <a:schemeClr val="bg1"/>
                </a:solidFill>
                <a:latin typeface="Calibri"/>
              </a:rPr>
              <a:t>Agriculture</a:t>
            </a:r>
            <a:endParaRPr lang="en-US" sz="1400" b="1" baseline="30000" dirty="0">
              <a:solidFill>
                <a:schemeClr val="bg1"/>
              </a:solidFill>
              <a:latin typeface="Calibri"/>
            </a:endParaRPr>
          </a:p>
        </p:txBody>
      </p:sp>
      <p:sp>
        <p:nvSpPr>
          <p:cNvPr id="51" name="Rectangle 50"/>
          <p:cNvSpPr/>
          <p:nvPr/>
        </p:nvSpPr>
        <p:spPr bwMode="gray">
          <a:xfrm>
            <a:off x="1396368" y="3178053"/>
            <a:ext cx="692311" cy="307777"/>
          </a:xfrm>
          <a:prstGeom prst="rect">
            <a:avLst/>
          </a:prstGeom>
          <a:noFill/>
          <a:ln w="19050" algn="ctr">
            <a:noFill/>
            <a:miter lim="800000"/>
            <a:headEnd/>
            <a:tailEnd/>
          </a:ln>
        </p:spPr>
        <p:txBody>
          <a:bodyPr wrap="square" lIns="45720" tIns="45720" rIns="45720" bIns="45720" rtlCol="0" anchor="ctr">
            <a:spAutoFit/>
          </a:bodyPr>
          <a:lstStyle/>
          <a:p>
            <a:pPr>
              <a:buFont typeface="Wingdings 2" pitchFamily="18" charset="2"/>
              <a:buNone/>
            </a:pPr>
            <a:r>
              <a:rPr lang="en-US" sz="1400" b="1" dirty="0">
                <a:solidFill>
                  <a:schemeClr val="bg1"/>
                </a:solidFill>
                <a:latin typeface="Calibri"/>
              </a:rPr>
              <a:t>Cooking</a:t>
            </a:r>
          </a:p>
        </p:txBody>
      </p:sp>
      <p:sp>
        <p:nvSpPr>
          <p:cNvPr id="55" name="Rectangle 54"/>
          <p:cNvSpPr/>
          <p:nvPr/>
        </p:nvSpPr>
        <p:spPr bwMode="gray">
          <a:xfrm>
            <a:off x="1404496" y="2520270"/>
            <a:ext cx="798189" cy="307777"/>
          </a:xfrm>
          <a:prstGeom prst="rect">
            <a:avLst/>
          </a:prstGeom>
          <a:noFill/>
          <a:ln w="19050" algn="ctr">
            <a:noFill/>
            <a:miter lim="800000"/>
            <a:headEnd/>
            <a:tailEnd/>
          </a:ln>
        </p:spPr>
        <p:txBody>
          <a:bodyPr wrap="square" lIns="45720" tIns="45720" rIns="45720" bIns="45720" rtlCol="0" anchor="ctr">
            <a:spAutoFit/>
          </a:bodyPr>
          <a:lstStyle/>
          <a:p>
            <a:pPr>
              <a:buFont typeface="Wingdings 2" pitchFamily="18" charset="2"/>
              <a:buNone/>
            </a:pPr>
            <a:r>
              <a:rPr lang="en-US" sz="1400" b="1" dirty="0">
                <a:solidFill>
                  <a:schemeClr val="bg1"/>
                </a:solidFill>
                <a:latin typeface="Calibri"/>
              </a:rPr>
              <a:t>Industry</a:t>
            </a:r>
          </a:p>
        </p:txBody>
      </p:sp>
      <p:sp>
        <p:nvSpPr>
          <p:cNvPr id="58" name="Rectangle 57"/>
          <p:cNvSpPr/>
          <p:nvPr/>
        </p:nvSpPr>
        <p:spPr bwMode="gray">
          <a:xfrm>
            <a:off x="1396367" y="4488165"/>
            <a:ext cx="829789" cy="307777"/>
          </a:xfrm>
          <a:prstGeom prst="rect">
            <a:avLst/>
          </a:prstGeom>
          <a:noFill/>
          <a:ln w="19050" algn="ctr">
            <a:noFill/>
            <a:miter lim="800000"/>
            <a:headEnd/>
            <a:tailEnd/>
          </a:ln>
        </p:spPr>
        <p:txBody>
          <a:bodyPr wrap="square" lIns="45720" tIns="45720" rIns="45720" bIns="45720" rtlCol="0" anchor="ctr">
            <a:spAutoFit/>
          </a:bodyPr>
          <a:lstStyle/>
          <a:p>
            <a:pPr>
              <a:buFont typeface="Wingdings 2" pitchFamily="18" charset="2"/>
              <a:buNone/>
            </a:pPr>
            <a:r>
              <a:rPr lang="en-US" sz="1400" b="1" dirty="0">
                <a:solidFill>
                  <a:schemeClr val="bg1"/>
                </a:solidFill>
                <a:latin typeface="Calibri"/>
              </a:rPr>
              <a:t>Municipal</a:t>
            </a:r>
          </a:p>
        </p:txBody>
      </p:sp>
      <p:sp>
        <p:nvSpPr>
          <p:cNvPr id="60" name="Rectangle 59"/>
          <p:cNvSpPr/>
          <p:nvPr/>
        </p:nvSpPr>
        <p:spPr bwMode="gray">
          <a:xfrm>
            <a:off x="1427968" y="3860053"/>
            <a:ext cx="798189" cy="307777"/>
          </a:xfrm>
          <a:prstGeom prst="rect">
            <a:avLst/>
          </a:prstGeom>
          <a:noFill/>
          <a:ln w="19050" algn="ctr">
            <a:noFill/>
            <a:miter lim="800000"/>
            <a:headEnd/>
            <a:tailEnd/>
          </a:ln>
        </p:spPr>
        <p:txBody>
          <a:bodyPr wrap="square" lIns="45720" tIns="45720" rIns="45720" bIns="45720" rtlCol="0" anchor="ctr">
            <a:spAutoFit/>
          </a:bodyPr>
          <a:lstStyle/>
          <a:p>
            <a:pPr>
              <a:buFont typeface="Wingdings 2" pitchFamily="18" charset="2"/>
              <a:buNone/>
            </a:pPr>
            <a:r>
              <a:rPr lang="en-US" sz="1400" b="1" dirty="0">
                <a:solidFill>
                  <a:schemeClr val="bg1"/>
                </a:solidFill>
                <a:latin typeface="Calibri"/>
              </a:rPr>
              <a:t>Telecom</a:t>
            </a:r>
          </a:p>
        </p:txBody>
      </p:sp>
      <p:sp>
        <p:nvSpPr>
          <p:cNvPr id="2" name="Rectangle 1"/>
          <p:cNvSpPr/>
          <p:nvPr/>
        </p:nvSpPr>
        <p:spPr>
          <a:xfrm>
            <a:off x="2551429" y="1680410"/>
            <a:ext cx="2406428" cy="276999"/>
          </a:xfrm>
          <a:prstGeom prst="rect">
            <a:avLst/>
          </a:prstGeom>
          <a:solidFill>
            <a:srgbClr val="007680"/>
          </a:solidFill>
        </p:spPr>
        <p:txBody>
          <a:bodyPr wrap="none">
            <a:spAutoFit/>
          </a:bodyPr>
          <a:lstStyle/>
          <a:p>
            <a:r>
              <a:rPr lang="en-GB" sz="1200" b="1" dirty="0">
                <a:solidFill>
                  <a:schemeClr val="bg1"/>
                </a:solidFill>
                <a:latin typeface="Verdana" panose="020B0604030504040204" pitchFamily="34" charset="0"/>
                <a:ea typeface="Verdana" panose="020B0604030504040204" pitchFamily="34" charset="0"/>
                <a:cs typeface="Times New Roman" panose="02020603050405020304" pitchFamily="18" charset="0"/>
              </a:rPr>
              <a:t>Quantity based indicators</a:t>
            </a:r>
            <a:endParaRPr lang="en-IN" sz="1200" b="1" dirty="0">
              <a:solidFill>
                <a:schemeClr val="bg1"/>
              </a:solidFill>
            </a:endParaRPr>
          </a:p>
        </p:txBody>
      </p:sp>
      <p:sp>
        <p:nvSpPr>
          <p:cNvPr id="62" name="Rectangle 61"/>
          <p:cNvSpPr/>
          <p:nvPr/>
        </p:nvSpPr>
        <p:spPr>
          <a:xfrm>
            <a:off x="5047410" y="1672790"/>
            <a:ext cx="2433680" cy="276999"/>
          </a:xfrm>
          <a:prstGeom prst="rect">
            <a:avLst/>
          </a:prstGeom>
          <a:solidFill>
            <a:srgbClr val="007680"/>
          </a:solidFill>
        </p:spPr>
        <p:txBody>
          <a:bodyPr wrap="none">
            <a:spAutoFit/>
          </a:bodyPr>
          <a:lstStyle/>
          <a:p>
            <a:r>
              <a:rPr lang="en-GB" sz="1200" b="1" dirty="0">
                <a:solidFill>
                  <a:schemeClr val="bg1"/>
                </a:solidFill>
                <a:latin typeface="Verdana" panose="020B0604030504040204" pitchFamily="34" charset="0"/>
                <a:ea typeface="Verdana" panose="020B0604030504040204" pitchFamily="34" charset="0"/>
                <a:cs typeface="Times New Roman" panose="02020603050405020304" pitchFamily="18" charset="0"/>
              </a:rPr>
              <a:t>Transformation indicators</a:t>
            </a:r>
            <a:endParaRPr lang="en-IN" sz="1200" b="1" dirty="0">
              <a:solidFill>
                <a:schemeClr val="bg1"/>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64" name="Rectangle 63"/>
          <p:cNvSpPr/>
          <p:nvPr/>
        </p:nvSpPr>
        <p:spPr>
          <a:xfrm>
            <a:off x="7570643" y="1672790"/>
            <a:ext cx="2362629" cy="276999"/>
          </a:xfrm>
          <a:prstGeom prst="rect">
            <a:avLst/>
          </a:prstGeom>
          <a:solidFill>
            <a:srgbClr val="007680"/>
          </a:solidFill>
        </p:spPr>
        <p:txBody>
          <a:bodyPr wrap="square">
            <a:spAutoFit/>
          </a:bodyPr>
          <a:lstStyle/>
          <a:p>
            <a:pPr algn="ctr"/>
            <a:r>
              <a:rPr lang="en-IN" sz="1200" b="1" dirty="0">
                <a:solidFill>
                  <a:schemeClr val="bg1"/>
                </a:solidFill>
                <a:latin typeface="Verdana" panose="020B0604030504040204" pitchFamily="34" charset="0"/>
                <a:ea typeface="Verdana" panose="020B0604030504040204" pitchFamily="34" charset="0"/>
                <a:cs typeface="Times New Roman" panose="02020603050405020304" pitchFamily="18" charset="0"/>
              </a:rPr>
              <a:t>Other elements </a:t>
            </a:r>
          </a:p>
        </p:txBody>
      </p:sp>
      <p:sp>
        <p:nvSpPr>
          <p:cNvPr id="67" name="TextBox 66"/>
          <p:cNvSpPr txBox="1"/>
          <p:nvPr/>
        </p:nvSpPr>
        <p:spPr>
          <a:xfrm>
            <a:off x="744970" y="1652322"/>
            <a:ext cx="1457715" cy="646331"/>
          </a:xfrm>
          <a:prstGeom prst="rect">
            <a:avLst/>
          </a:prstGeom>
          <a:noFill/>
        </p:spPr>
        <p:txBody>
          <a:bodyPr wrap="square" lIns="0" tIns="0" rIns="0" bIns="0" rtlCol="0">
            <a:spAutoFit/>
          </a:bodyPr>
          <a:lstStyle/>
          <a:p>
            <a:pPr algn="ctr">
              <a:spcBef>
                <a:spcPts val="600"/>
              </a:spcBef>
              <a:buSzPct val="100000"/>
            </a:pPr>
            <a:r>
              <a:rPr lang="en-US" sz="1400" b="1" i="1" dirty="0">
                <a:solidFill>
                  <a:srgbClr val="313131"/>
                </a:solidFill>
              </a:rPr>
              <a:t>Energy Consuming sectors</a:t>
            </a:r>
          </a:p>
        </p:txBody>
      </p:sp>
      <p:sp>
        <p:nvSpPr>
          <p:cNvPr id="73" name="Freeform 575"/>
          <p:cNvSpPr>
            <a:spLocks noChangeAspect="1" noEditPoints="1"/>
          </p:cNvSpPr>
          <p:nvPr/>
        </p:nvSpPr>
        <p:spPr bwMode="auto">
          <a:xfrm>
            <a:off x="833880" y="2506143"/>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74" name="Freeform 348"/>
          <p:cNvSpPr>
            <a:spLocks noChangeAspect="1" noEditPoints="1"/>
          </p:cNvSpPr>
          <p:nvPr/>
        </p:nvSpPr>
        <p:spPr bwMode="auto">
          <a:xfrm>
            <a:off x="795107" y="3151047"/>
            <a:ext cx="403402" cy="403402"/>
          </a:xfrm>
          <a:custGeom>
            <a:avLst/>
            <a:gdLst>
              <a:gd name="T0" fmla="*/ 373 w 512"/>
              <a:gd name="T1" fmla="*/ 224 h 512"/>
              <a:gd name="T2" fmla="*/ 138 w 512"/>
              <a:gd name="T3" fmla="*/ 213 h 512"/>
              <a:gd name="T4" fmla="*/ 362 w 512"/>
              <a:gd name="T5" fmla="*/ 202 h 512"/>
              <a:gd name="T6" fmla="*/ 149 w 512"/>
              <a:gd name="T7" fmla="*/ 367 h 512"/>
              <a:gd name="T8" fmla="*/ 332 w 512"/>
              <a:gd name="T9" fmla="*/ 394 h 512"/>
              <a:gd name="T10" fmla="*/ 362 w 512"/>
              <a:gd name="T11" fmla="*/ 245 h 512"/>
              <a:gd name="T12" fmla="*/ 149 w 512"/>
              <a:gd name="T13" fmla="*/ 367 h 512"/>
              <a:gd name="T14" fmla="*/ 256 w 512"/>
              <a:gd name="T15" fmla="*/ 512 h 512"/>
              <a:gd name="T16" fmla="*/ 256 w 512"/>
              <a:gd name="T17" fmla="*/ 0 h 512"/>
              <a:gd name="T18" fmla="*/ 279 w 512"/>
              <a:gd name="T19" fmla="*/ 149 h 512"/>
              <a:gd name="T20" fmla="*/ 300 w 512"/>
              <a:gd name="T21" fmla="*/ 149 h 512"/>
              <a:gd name="T22" fmla="*/ 318 w 512"/>
              <a:gd name="T23" fmla="*/ 106 h 512"/>
              <a:gd name="T24" fmla="*/ 297 w 512"/>
              <a:gd name="T25" fmla="*/ 106 h 512"/>
              <a:gd name="T26" fmla="*/ 279 w 512"/>
              <a:gd name="T27" fmla="*/ 149 h 512"/>
              <a:gd name="T28" fmla="*/ 249 w 512"/>
              <a:gd name="T29" fmla="*/ 149 h 512"/>
              <a:gd name="T30" fmla="*/ 264 w 512"/>
              <a:gd name="T31" fmla="*/ 129 h 512"/>
              <a:gd name="T32" fmla="*/ 262 w 512"/>
              <a:gd name="T33" fmla="*/ 96 h 512"/>
              <a:gd name="T34" fmla="*/ 248 w 512"/>
              <a:gd name="T35" fmla="*/ 115 h 512"/>
              <a:gd name="T36" fmla="*/ 193 w 512"/>
              <a:gd name="T37" fmla="*/ 149 h 512"/>
              <a:gd name="T38" fmla="*/ 215 w 512"/>
              <a:gd name="T39" fmla="*/ 149 h 512"/>
              <a:gd name="T40" fmla="*/ 233 w 512"/>
              <a:gd name="T41" fmla="*/ 106 h 512"/>
              <a:gd name="T42" fmla="*/ 211 w 512"/>
              <a:gd name="T43" fmla="*/ 106 h 512"/>
              <a:gd name="T44" fmla="*/ 193 w 512"/>
              <a:gd name="T45" fmla="*/ 149 h 512"/>
              <a:gd name="T46" fmla="*/ 405 w 512"/>
              <a:gd name="T47" fmla="*/ 266 h 512"/>
              <a:gd name="T48" fmla="*/ 384 w 512"/>
              <a:gd name="T49" fmla="*/ 245 h 512"/>
              <a:gd name="T50" fmla="*/ 394 w 512"/>
              <a:gd name="T51" fmla="*/ 213 h 512"/>
              <a:gd name="T52" fmla="*/ 275 w 512"/>
              <a:gd name="T53" fmla="*/ 181 h 512"/>
              <a:gd name="T54" fmla="*/ 257 w 512"/>
              <a:gd name="T55" fmla="*/ 170 h 512"/>
              <a:gd name="T56" fmla="*/ 254 w 512"/>
              <a:gd name="T57" fmla="*/ 170 h 512"/>
              <a:gd name="T58" fmla="*/ 236 w 512"/>
              <a:gd name="T59" fmla="*/ 181 h 512"/>
              <a:gd name="T60" fmla="*/ 117 w 512"/>
              <a:gd name="T61" fmla="*/ 213 h 512"/>
              <a:gd name="T62" fmla="*/ 128 w 512"/>
              <a:gd name="T63" fmla="*/ 245 h 512"/>
              <a:gd name="T64" fmla="*/ 106 w 512"/>
              <a:gd name="T65" fmla="*/ 266 h 512"/>
              <a:gd name="T66" fmla="*/ 106 w 512"/>
              <a:gd name="T67" fmla="*/ 288 h 512"/>
              <a:gd name="T68" fmla="*/ 128 w 512"/>
              <a:gd name="T69" fmla="*/ 367 h 512"/>
              <a:gd name="T70" fmla="*/ 332 w 512"/>
              <a:gd name="T71" fmla="*/ 416 h 512"/>
              <a:gd name="T72" fmla="*/ 384 w 512"/>
              <a:gd name="T73" fmla="*/ 288 h 512"/>
              <a:gd name="T74" fmla="*/ 416 w 512"/>
              <a:gd name="T75" fmla="*/ 27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373" y="213"/>
                </a:moveTo>
                <a:cubicBezTo>
                  <a:pt x="373" y="224"/>
                  <a:pt x="373" y="224"/>
                  <a:pt x="373" y="224"/>
                </a:cubicBezTo>
                <a:cubicBezTo>
                  <a:pt x="138" y="224"/>
                  <a:pt x="138" y="224"/>
                  <a:pt x="138" y="224"/>
                </a:cubicBezTo>
                <a:cubicBezTo>
                  <a:pt x="138" y="213"/>
                  <a:pt x="138" y="213"/>
                  <a:pt x="138" y="213"/>
                </a:cubicBezTo>
                <a:cubicBezTo>
                  <a:pt x="138" y="207"/>
                  <a:pt x="143" y="202"/>
                  <a:pt x="149" y="202"/>
                </a:cubicBezTo>
                <a:cubicBezTo>
                  <a:pt x="362" y="202"/>
                  <a:pt x="362" y="202"/>
                  <a:pt x="362" y="202"/>
                </a:cubicBezTo>
                <a:cubicBezTo>
                  <a:pt x="368" y="202"/>
                  <a:pt x="373" y="207"/>
                  <a:pt x="373" y="213"/>
                </a:cubicBezTo>
                <a:close/>
                <a:moveTo>
                  <a:pt x="149" y="367"/>
                </a:moveTo>
                <a:cubicBezTo>
                  <a:pt x="149" y="382"/>
                  <a:pt x="163" y="394"/>
                  <a:pt x="179" y="394"/>
                </a:cubicBezTo>
                <a:cubicBezTo>
                  <a:pt x="332" y="394"/>
                  <a:pt x="332" y="394"/>
                  <a:pt x="332" y="394"/>
                </a:cubicBezTo>
                <a:cubicBezTo>
                  <a:pt x="349" y="394"/>
                  <a:pt x="362" y="382"/>
                  <a:pt x="362" y="367"/>
                </a:cubicBezTo>
                <a:cubicBezTo>
                  <a:pt x="362" y="245"/>
                  <a:pt x="362" y="245"/>
                  <a:pt x="362" y="245"/>
                </a:cubicBezTo>
                <a:cubicBezTo>
                  <a:pt x="149" y="245"/>
                  <a:pt x="149" y="245"/>
                  <a:pt x="149" y="245"/>
                </a:cubicBezTo>
                <a:lnTo>
                  <a:pt x="149" y="36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79" y="149"/>
                </a:moveTo>
                <a:cubicBezTo>
                  <a:pt x="279" y="155"/>
                  <a:pt x="283" y="160"/>
                  <a:pt x="289" y="160"/>
                </a:cubicBezTo>
                <a:cubicBezTo>
                  <a:pt x="295" y="160"/>
                  <a:pt x="300" y="155"/>
                  <a:pt x="300" y="149"/>
                </a:cubicBezTo>
                <a:cubicBezTo>
                  <a:pt x="300" y="142"/>
                  <a:pt x="302" y="139"/>
                  <a:pt x="307" y="135"/>
                </a:cubicBezTo>
                <a:cubicBezTo>
                  <a:pt x="311" y="129"/>
                  <a:pt x="318" y="121"/>
                  <a:pt x="318" y="106"/>
                </a:cubicBezTo>
                <a:cubicBezTo>
                  <a:pt x="318" y="100"/>
                  <a:pt x="313" y="96"/>
                  <a:pt x="307" y="96"/>
                </a:cubicBezTo>
                <a:cubicBezTo>
                  <a:pt x="301" y="96"/>
                  <a:pt x="297" y="100"/>
                  <a:pt x="297" y="106"/>
                </a:cubicBezTo>
                <a:cubicBezTo>
                  <a:pt x="297" y="113"/>
                  <a:pt x="294" y="116"/>
                  <a:pt x="290" y="121"/>
                </a:cubicBezTo>
                <a:cubicBezTo>
                  <a:pt x="285" y="127"/>
                  <a:pt x="279" y="134"/>
                  <a:pt x="279" y="149"/>
                </a:cubicBezTo>
                <a:close/>
                <a:moveTo>
                  <a:pt x="238" y="138"/>
                </a:moveTo>
                <a:cubicBezTo>
                  <a:pt x="238" y="144"/>
                  <a:pt x="243" y="149"/>
                  <a:pt x="249" y="149"/>
                </a:cubicBezTo>
                <a:cubicBezTo>
                  <a:pt x="255" y="149"/>
                  <a:pt x="260" y="144"/>
                  <a:pt x="260" y="138"/>
                </a:cubicBezTo>
                <a:cubicBezTo>
                  <a:pt x="260" y="134"/>
                  <a:pt x="261" y="133"/>
                  <a:pt x="264" y="129"/>
                </a:cubicBezTo>
                <a:cubicBezTo>
                  <a:pt x="268" y="125"/>
                  <a:pt x="273" y="118"/>
                  <a:pt x="273" y="106"/>
                </a:cubicBezTo>
                <a:cubicBezTo>
                  <a:pt x="273" y="100"/>
                  <a:pt x="268" y="96"/>
                  <a:pt x="262" y="96"/>
                </a:cubicBezTo>
                <a:cubicBezTo>
                  <a:pt x="256" y="96"/>
                  <a:pt x="252" y="100"/>
                  <a:pt x="252" y="106"/>
                </a:cubicBezTo>
                <a:cubicBezTo>
                  <a:pt x="252" y="110"/>
                  <a:pt x="250" y="112"/>
                  <a:pt x="248" y="115"/>
                </a:cubicBezTo>
                <a:cubicBezTo>
                  <a:pt x="244" y="120"/>
                  <a:pt x="238" y="126"/>
                  <a:pt x="238" y="138"/>
                </a:cubicBezTo>
                <a:close/>
                <a:moveTo>
                  <a:pt x="193" y="149"/>
                </a:moveTo>
                <a:cubicBezTo>
                  <a:pt x="193" y="155"/>
                  <a:pt x="198" y="160"/>
                  <a:pt x="204" y="160"/>
                </a:cubicBezTo>
                <a:cubicBezTo>
                  <a:pt x="210" y="160"/>
                  <a:pt x="215" y="155"/>
                  <a:pt x="215" y="149"/>
                </a:cubicBezTo>
                <a:cubicBezTo>
                  <a:pt x="215" y="142"/>
                  <a:pt x="217" y="139"/>
                  <a:pt x="221" y="135"/>
                </a:cubicBezTo>
                <a:cubicBezTo>
                  <a:pt x="226" y="129"/>
                  <a:pt x="233" y="121"/>
                  <a:pt x="233" y="106"/>
                </a:cubicBezTo>
                <a:cubicBezTo>
                  <a:pt x="233" y="100"/>
                  <a:pt x="228" y="96"/>
                  <a:pt x="222" y="96"/>
                </a:cubicBezTo>
                <a:cubicBezTo>
                  <a:pt x="216" y="96"/>
                  <a:pt x="211" y="100"/>
                  <a:pt x="211" y="106"/>
                </a:cubicBezTo>
                <a:cubicBezTo>
                  <a:pt x="211" y="113"/>
                  <a:pt x="209" y="116"/>
                  <a:pt x="205" y="121"/>
                </a:cubicBezTo>
                <a:cubicBezTo>
                  <a:pt x="200" y="127"/>
                  <a:pt x="193" y="134"/>
                  <a:pt x="193" y="149"/>
                </a:cubicBezTo>
                <a:close/>
                <a:moveTo>
                  <a:pt x="416" y="277"/>
                </a:moveTo>
                <a:cubicBezTo>
                  <a:pt x="416" y="271"/>
                  <a:pt x="411" y="266"/>
                  <a:pt x="405" y="266"/>
                </a:cubicBezTo>
                <a:cubicBezTo>
                  <a:pt x="384" y="266"/>
                  <a:pt x="384" y="266"/>
                  <a:pt x="384" y="266"/>
                </a:cubicBezTo>
                <a:cubicBezTo>
                  <a:pt x="384" y="245"/>
                  <a:pt x="384" y="245"/>
                  <a:pt x="384" y="245"/>
                </a:cubicBezTo>
                <a:cubicBezTo>
                  <a:pt x="390" y="245"/>
                  <a:pt x="394" y="240"/>
                  <a:pt x="394" y="234"/>
                </a:cubicBezTo>
                <a:cubicBezTo>
                  <a:pt x="394" y="213"/>
                  <a:pt x="394" y="213"/>
                  <a:pt x="394" y="213"/>
                </a:cubicBezTo>
                <a:cubicBezTo>
                  <a:pt x="394" y="195"/>
                  <a:pt x="380" y="181"/>
                  <a:pt x="362" y="181"/>
                </a:cubicBezTo>
                <a:cubicBezTo>
                  <a:pt x="275" y="181"/>
                  <a:pt x="275" y="181"/>
                  <a:pt x="275" y="181"/>
                </a:cubicBezTo>
                <a:cubicBezTo>
                  <a:pt x="274" y="179"/>
                  <a:pt x="273" y="177"/>
                  <a:pt x="272" y="175"/>
                </a:cubicBezTo>
                <a:cubicBezTo>
                  <a:pt x="267" y="170"/>
                  <a:pt x="260" y="170"/>
                  <a:pt x="257" y="170"/>
                </a:cubicBezTo>
                <a:cubicBezTo>
                  <a:pt x="256" y="170"/>
                  <a:pt x="256" y="170"/>
                  <a:pt x="256" y="170"/>
                </a:cubicBezTo>
                <a:cubicBezTo>
                  <a:pt x="254" y="170"/>
                  <a:pt x="254" y="170"/>
                  <a:pt x="254" y="170"/>
                </a:cubicBezTo>
                <a:cubicBezTo>
                  <a:pt x="251" y="170"/>
                  <a:pt x="245" y="170"/>
                  <a:pt x="240" y="175"/>
                </a:cubicBezTo>
                <a:cubicBezTo>
                  <a:pt x="238" y="177"/>
                  <a:pt x="237" y="179"/>
                  <a:pt x="236" y="181"/>
                </a:cubicBezTo>
                <a:cubicBezTo>
                  <a:pt x="149" y="181"/>
                  <a:pt x="149" y="181"/>
                  <a:pt x="149" y="181"/>
                </a:cubicBezTo>
                <a:cubicBezTo>
                  <a:pt x="131" y="181"/>
                  <a:pt x="117" y="195"/>
                  <a:pt x="117" y="213"/>
                </a:cubicBezTo>
                <a:cubicBezTo>
                  <a:pt x="117" y="234"/>
                  <a:pt x="117" y="234"/>
                  <a:pt x="117" y="234"/>
                </a:cubicBezTo>
                <a:cubicBezTo>
                  <a:pt x="117" y="240"/>
                  <a:pt x="122" y="245"/>
                  <a:pt x="128" y="245"/>
                </a:cubicBezTo>
                <a:cubicBezTo>
                  <a:pt x="128" y="266"/>
                  <a:pt x="128" y="266"/>
                  <a:pt x="128" y="266"/>
                </a:cubicBezTo>
                <a:cubicBezTo>
                  <a:pt x="106" y="266"/>
                  <a:pt x="106" y="266"/>
                  <a:pt x="106" y="266"/>
                </a:cubicBezTo>
                <a:cubicBezTo>
                  <a:pt x="100" y="266"/>
                  <a:pt x="96" y="271"/>
                  <a:pt x="96" y="277"/>
                </a:cubicBezTo>
                <a:cubicBezTo>
                  <a:pt x="96" y="283"/>
                  <a:pt x="100" y="288"/>
                  <a:pt x="106" y="288"/>
                </a:cubicBezTo>
                <a:cubicBezTo>
                  <a:pt x="128" y="288"/>
                  <a:pt x="128" y="288"/>
                  <a:pt x="128" y="288"/>
                </a:cubicBezTo>
                <a:cubicBezTo>
                  <a:pt x="128" y="367"/>
                  <a:pt x="128" y="367"/>
                  <a:pt x="128" y="367"/>
                </a:cubicBezTo>
                <a:cubicBezTo>
                  <a:pt x="128" y="394"/>
                  <a:pt x="151" y="416"/>
                  <a:pt x="179" y="416"/>
                </a:cubicBezTo>
                <a:cubicBezTo>
                  <a:pt x="332" y="416"/>
                  <a:pt x="332" y="416"/>
                  <a:pt x="332" y="416"/>
                </a:cubicBezTo>
                <a:cubicBezTo>
                  <a:pt x="361" y="416"/>
                  <a:pt x="384" y="394"/>
                  <a:pt x="384" y="367"/>
                </a:cubicBezTo>
                <a:cubicBezTo>
                  <a:pt x="384" y="288"/>
                  <a:pt x="384" y="288"/>
                  <a:pt x="384" y="288"/>
                </a:cubicBezTo>
                <a:cubicBezTo>
                  <a:pt x="405" y="288"/>
                  <a:pt x="405" y="288"/>
                  <a:pt x="405" y="288"/>
                </a:cubicBezTo>
                <a:cubicBezTo>
                  <a:pt x="411" y="288"/>
                  <a:pt x="416" y="283"/>
                  <a:pt x="416" y="27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75" name="Freeform 544"/>
          <p:cNvSpPr>
            <a:spLocks noChangeAspect="1" noEditPoints="1"/>
          </p:cNvSpPr>
          <p:nvPr/>
        </p:nvSpPr>
        <p:spPr bwMode="auto">
          <a:xfrm>
            <a:off x="815892" y="4423004"/>
            <a:ext cx="369676" cy="370763"/>
          </a:xfrm>
          <a:custGeom>
            <a:avLst/>
            <a:gdLst>
              <a:gd name="T0" fmla="*/ 266 w 512"/>
              <a:gd name="T1" fmla="*/ 256 h 512"/>
              <a:gd name="T2" fmla="*/ 256 w 512"/>
              <a:gd name="T3" fmla="*/ 266 h 512"/>
              <a:gd name="T4" fmla="*/ 245 w 512"/>
              <a:gd name="T5" fmla="*/ 256 h 512"/>
              <a:gd name="T6" fmla="*/ 256 w 512"/>
              <a:gd name="T7" fmla="*/ 245 h 512"/>
              <a:gd name="T8" fmla="*/ 266 w 512"/>
              <a:gd name="T9" fmla="*/ 256 h 512"/>
              <a:gd name="T10" fmla="*/ 256 w 512"/>
              <a:gd name="T11" fmla="*/ 160 h 512"/>
              <a:gd name="T12" fmla="*/ 245 w 512"/>
              <a:gd name="T13" fmla="*/ 170 h 512"/>
              <a:gd name="T14" fmla="*/ 256 w 512"/>
              <a:gd name="T15" fmla="*/ 181 h 512"/>
              <a:gd name="T16" fmla="*/ 266 w 512"/>
              <a:gd name="T17" fmla="*/ 170 h 512"/>
              <a:gd name="T18" fmla="*/ 256 w 512"/>
              <a:gd name="T19" fmla="*/ 160 h 512"/>
              <a:gd name="T20" fmla="*/ 256 w 512"/>
              <a:gd name="T21" fmla="*/ 330 h 512"/>
              <a:gd name="T22" fmla="*/ 245 w 512"/>
              <a:gd name="T23" fmla="*/ 341 h 512"/>
              <a:gd name="T24" fmla="*/ 256 w 512"/>
              <a:gd name="T25" fmla="*/ 352 h 512"/>
              <a:gd name="T26" fmla="*/ 266 w 512"/>
              <a:gd name="T27" fmla="*/ 341 h 512"/>
              <a:gd name="T28" fmla="*/ 256 w 512"/>
              <a:gd name="T29" fmla="*/ 33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330 w 512"/>
              <a:gd name="T41" fmla="*/ 138 h 512"/>
              <a:gd name="T42" fmla="*/ 288 w 512"/>
              <a:gd name="T43" fmla="*/ 96 h 512"/>
              <a:gd name="T44" fmla="*/ 224 w 512"/>
              <a:gd name="T45" fmla="*/ 96 h 512"/>
              <a:gd name="T46" fmla="*/ 181 w 512"/>
              <a:gd name="T47" fmla="*/ 138 h 512"/>
              <a:gd name="T48" fmla="*/ 181 w 512"/>
              <a:gd name="T49" fmla="*/ 373 h 512"/>
              <a:gd name="T50" fmla="*/ 224 w 512"/>
              <a:gd name="T51" fmla="*/ 416 h 512"/>
              <a:gd name="T52" fmla="*/ 288 w 512"/>
              <a:gd name="T53" fmla="*/ 416 h 512"/>
              <a:gd name="T54" fmla="*/ 330 w 512"/>
              <a:gd name="T55" fmla="*/ 373 h 512"/>
              <a:gd name="T56" fmla="*/ 330 w 512"/>
              <a:gd name="T57" fmla="*/ 138 h 512"/>
              <a:gd name="T58" fmla="*/ 309 w 512"/>
              <a:gd name="T59" fmla="*/ 138 h 512"/>
              <a:gd name="T60" fmla="*/ 309 w 512"/>
              <a:gd name="T61" fmla="*/ 373 h 512"/>
              <a:gd name="T62" fmla="*/ 288 w 512"/>
              <a:gd name="T63" fmla="*/ 394 h 512"/>
              <a:gd name="T64" fmla="*/ 224 w 512"/>
              <a:gd name="T65" fmla="*/ 394 h 512"/>
              <a:gd name="T66" fmla="*/ 202 w 512"/>
              <a:gd name="T67" fmla="*/ 373 h 512"/>
              <a:gd name="T68" fmla="*/ 202 w 512"/>
              <a:gd name="T69" fmla="*/ 138 h 512"/>
              <a:gd name="T70" fmla="*/ 224 w 512"/>
              <a:gd name="T71" fmla="*/ 117 h 512"/>
              <a:gd name="T72" fmla="*/ 288 w 512"/>
              <a:gd name="T73" fmla="*/ 117 h 512"/>
              <a:gd name="T74" fmla="*/ 309 w 512"/>
              <a:gd name="T75" fmla="*/ 138 h 512"/>
              <a:gd name="T76" fmla="*/ 288 w 512"/>
              <a:gd name="T77" fmla="*/ 341 h 512"/>
              <a:gd name="T78" fmla="*/ 256 w 512"/>
              <a:gd name="T79" fmla="*/ 309 h 512"/>
              <a:gd name="T80" fmla="*/ 224 w 512"/>
              <a:gd name="T81" fmla="*/ 341 h 512"/>
              <a:gd name="T82" fmla="*/ 256 w 512"/>
              <a:gd name="T83" fmla="*/ 373 h 512"/>
              <a:gd name="T84" fmla="*/ 288 w 512"/>
              <a:gd name="T85" fmla="*/ 341 h 512"/>
              <a:gd name="T86" fmla="*/ 288 w 512"/>
              <a:gd name="T87" fmla="*/ 256 h 512"/>
              <a:gd name="T88" fmla="*/ 256 w 512"/>
              <a:gd name="T89" fmla="*/ 224 h 512"/>
              <a:gd name="T90" fmla="*/ 224 w 512"/>
              <a:gd name="T91" fmla="*/ 256 h 512"/>
              <a:gd name="T92" fmla="*/ 256 w 512"/>
              <a:gd name="T93" fmla="*/ 288 h 512"/>
              <a:gd name="T94" fmla="*/ 288 w 512"/>
              <a:gd name="T95" fmla="*/ 256 h 512"/>
              <a:gd name="T96" fmla="*/ 288 w 512"/>
              <a:gd name="T97" fmla="*/ 170 h 512"/>
              <a:gd name="T98" fmla="*/ 256 w 512"/>
              <a:gd name="T99" fmla="*/ 138 h 512"/>
              <a:gd name="T100" fmla="*/ 224 w 512"/>
              <a:gd name="T101" fmla="*/ 170 h 512"/>
              <a:gd name="T102" fmla="*/ 256 w 512"/>
              <a:gd name="T103" fmla="*/ 202 h 512"/>
              <a:gd name="T104" fmla="*/ 288 w 512"/>
              <a:gd name="T105"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66" y="256"/>
                </a:moveTo>
                <a:cubicBezTo>
                  <a:pt x="266" y="262"/>
                  <a:pt x="262" y="266"/>
                  <a:pt x="256" y="266"/>
                </a:cubicBezTo>
                <a:cubicBezTo>
                  <a:pt x="250" y="266"/>
                  <a:pt x="245" y="262"/>
                  <a:pt x="245" y="256"/>
                </a:cubicBezTo>
                <a:cubicBezTo>
                  <a:pt x="245" y="250"/>
                  <a:pt x="250" y="245"/>
                  <a:pt x="256" y="245"/>
                </a:cubicBezTo>
                <a:cubicBezTo>
                  <a:pt x="262" y="245"/>
                  <a:pt x="266" y="250"/>
                  <a:pt x="266" y="256"/>
                </a:cubicBezTo>
                <a:close/>
                <a:moveTo>
                  <a:pt x="256" y="160"/>
                </a:moveTo>
                <a:cubicBezTo>
                  <a:pt x="250" y="160"/>
                  <a:pt x="245" y="164"/>
                  <a:pt x="245" y="170"/>
                </a:cubicBezTo>
                <a:cubicBezTo>
                  <a:pt x="245" y="176"/>
                  <a:pt x="250" y="181"/>
                  <a:pt x="256" y="181"/>
                </a:cubicBezTo>
                <a:cubicBezTo>
                  <a:pt x="262" y="181"/>
                  <a:pt x="266" y="176"/>
                  <a:pt x="266" y="170"/>
                </a:cubicBezTo>
                <a:cubicBezTo>
                  <a:pt x="266" y="164"/>
                  <a:pt x="262" y="160"/>
                  <a:pt x="256" y="160"/>
                </a:cubicBezTo>
                <a:close/>
                <a:moveTo>
                  <a:pt x="256" y="330"/>
                </a:moveTo>
                <a:cubicBezTo>
                  <a:pt x="250" y="330"/>
                  <a:pt x="245" y="335"/>
                  <a:pt x="245" y="341"/>
                </a:cubicBezTo>
                <a:cubicBezTo>
                  <a:pt x="245" y="347"/>
                  <a:pt x="250" y="352"/>
                  <a:pt x="256" y="352"/>
                </a:cubicBezTo>
                <a:cubicBezTo>
                  <a:pt x="262" y="352"/>
                  <a:pt x="266" y="347"/>
                  <a:pt x="266" y="341"/>
                </a:cubicBezTo>
                <a:cubicBezTo>
                  <a:pt x="266" y="335"/>
                  <a:pt x="262" y="330"/>
                  <a:pt x="256" y="33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138"/>
                </a:moveTo>
                <a:cubicBezTo>
                  <a:pt x="330" y="115"/>
                  <a:pt x="311" y="96"/>
                  <a:pt x="288" y="96"/>
                </a:cubicBezTo>
                <a:cubicBezTo>
                  <a:pt x="224" y="96"/>
                  <a:pt x="224" y="96"/>
                  <a:pt x="224" y="96"/>
                </a:cubicBezTo>
                <a:cubicBezTo>
                  <a:pt x="200" y="96"/>
                  <a:pt x="181" y="115"/>
                  <a:pt x="181" y="138"/>
                </a:cubicBezTo>
                <a:cubicBezTo>
                  <a:pt x="181" y="373"/>
                  <a:pt x="181" y="373"/>
                  <a:pt x="181" y="373"/>
                </a:cubicBezTo>
                <a:cubicBezTo>
                  <a:pt x="181" y="397"/>
                  <a:pt x="200" y="416"/>
                  <a:pt x="224" y="416"/>
                </a:cubicBezTo>
                <a:cubicBezTo>
                  <a:pt x="288" y="416"/>
                  <a:pt x="288" y="416"/>
                  <a:pt x="288" y="416"/>
                </a:cubicBezTo>
                <a:cubicBezTo>
                  <a:pt x="311" y="416"/>
                  <a:pt x="330" y="397"/>
                  <a:pt x="330" y="373"/>
                </a:cubicBezTo>
                <a:lnTo>
                  <a:pt x="330" y="138"/>
                </a:lnTo>
                <a:close/>
                <a:moveTo>
                  <a:pt x="309" y="138"/>
                </a:moveTo>
                <a:cubicBezTo>
                  <a:pt x="309" y="373"/>
                  <a:pt x="309" y="373"/>
                  <a:pt x="309" y="373"/>
                </a:cubicBezTo>
                <a:cubicBezTo>
                  <a:pt x="309" y="385"/>
                  <a:pt x="299" y="394"/>
                  <a:pt x="288" y="394"/>
                </a:cubicBezTo>
                <a:cubicBezTo>
                  <a:pt x="224" y="394"/>
                  <a:pt x="224" y="394"/>
                  <a:pt x="224" y="394"/>
                </a:cubicBezTo>
                <a:cubicBezTo>
                  <a:pt x="212" y="394"/>
                  <a:pt x="202" y="385"/>
                  <a:pt x="202" y="373"/>
                </a:cubicBezTo>
                <a:cubicBezTo>
                  <a:pt x="202" y="138"/>
                  <a:pt x="202" y="138"/>
                  <a:pt x="202" y="138"/>
                </a:cubicBezTo>
                <a:cubicBezTo>
                  <a:pt x="202" y="127"/>
                  <a:pt x="212" y="117"/>
                  <a:pt x="224" y="117"/>
                </a:cubicBezTo>
                <a:cubicBezTo>
                  <a:pt x="288" y="117"/>
                  <a:pt x="288" y="117"/>
                  <a:pt x="288" y="117"/>
                </a:cubicBezTo>
                <a:cubicBezTo>
                  <a:pt x="299" y="117"/>
                  <a:pt x="309" y="127"/>
                  <a:pt x="309" y="138"/>
                </a:cubicBezTo>
                <a:close/>
                <a:moveTo>
                  <a:pt x="288" y="341"/>
                </a:moveTo>
                <a:cubicBezTo>
                  <a:pt x="288" y="323"/>
                  <a:pt x="273" y="309"/>
                  <a:pt x="256" y="309"/>
                </a:cubicBezTo>
                <a:cubicBezTo>
                  <a:pt x="238" y="309"/>
                  <a:pt x="224" y="323"/>
                  <a:pt x="224" y="341"/>
                </a:cubicBezTo>
                <a:cubicBezTo>
                  <a:pt x="224" y="359"/>
                  <a:pt x="238" y="373"/>
                  <a:pt x="256" y="373"/>
                </a:cubicBezTo>
                <a:cubicBezTo>
                  <a:pt x="273" y="373"/>
                  <a:pt x="288" y="359"/>
                  <a:pt x="288" y="341"/>
                </a:cubicBezTo>
                <a:close/>
                <a:moveTo>
                  <a:pt x="288" y="256"/>
                </a:moveTo>
                <a:cubicBezTo>
                  <a:pt x="288" y="238"/>
                  <a:pt x="273" y="224"/>
                  <a:pt x="256" y="224"/>
                </a:cubicBezTo>
                <a:cubicBezTo>
                  <a:pt x="238" y="224"/>
                  <a:pt x="224" y="238"/>
                  <a:pt x="224" y="256"/>
                </a:cubicBezTo>
                <a:cubicBezTo>
                  <a:pt x="224" y="273"/>
                  <a:pt x="238" y="288"/>
                  <a:pt x="256" y="288"/>
                </a:cubicBezTo>
                <a:cubicBezTo>
                  <a:pt x="273" y="288"/>
                  <a:pt x="288" y="273"/>
                  <a:pt x="288" y="256"/>
                </a:cubicBezTo>
                <a:close/>
                <a:moveTo>
                  <a:pt x="288" y="170"/>
                </a:moveTo>
                <a:cubicBezTo>
                  <a:pt x="288" y="153"/>
                  <a:pt x="273" y="138"/>
                  <a:pt x="256" y="138"/>
                </a:cubicBezTo>
                <a:cubicBezTo>
                  <a:pt x="238" y="138"/>
                  <a:pt x="224" y="153"/>
                  <a:pt x="224" y="170"/>
                </a:cubicBezTo>
                <a:cubicBezTo>
                  <a:pt x="224" y="188"/>
                  <a:pt x="238" y="202"/>
                  <a:pt x="256" y="202"/>
                </a:cubicBezTo>
                <a:cubicBezTo>
                  <a:pt x="273" y="202"/>
                  <a:pt x="288" y="188"/>
                  <a:pt x="288" y="17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76" name="Freeform 562"/>
          <p:cNvSpPr>
            <a:spLocks noChangeAspect="1" noEditPoints="1"/>
          </p:cNvSpPr>
          <p:nvPr/>
        </p:nvSpPr>
        <p:spPr bwMode="auto">
          <a:xfrm>
            <a:off x="815892" y="5117598"/>
            <a:ext cx="369676" cy="369676"/>
          </a:xfrm>
          <a:custGeom>
            <a:avLst/>
            <a:gdLst>
              <a:gd name="T0" fmla="*/ 362 w 512"/>
              <a:gd name="T1" fmla="*/ 245 h 512"/>
              <a:gd name="T2" fmla="*/ 222 w 512"/>
              <a:gd name="T3" fmla="*/ 245 h 512"/>
              <a:gd name="T4" fmla="*/ 245 w 512"/>
              <a:gd name="T5" fmla="*/ 298 h 512"/>
              <a:gd name="T6" fmla="*/ 238 w 512"/>
              <a:gd name="T7" fmla="*/ 330 h 512"/>
              <a:gd name="T8" fmla="*/ 331 w 512"/>
              <a:gd name="T9" fmla="*/ 330 h 512"/>
              <a:gd name="T10" fmla="*/ 362 w 512"/>
              <a:gd name="T11" fmla="*/ 299 h 512"/>
              <a:gd name="T12" fmla="*/ 362 w 512"/>
              <a:gd name="T13" fmla="*/ 245 h 512"/>
              <a:gd name="T14" fmla="*/ 330 w 512"/>
              <a:gd name="T15" fmla="*/ 288 h 512"/>
              <a:gd name="T16" fmla="*/ 309 w 512"/>
              <a:gd name="T17" fmla="*/ 288 h 512"/>
              <a:gd name="T18" fmla="*/ 298 w 512"/>
              <a:gd name="T19" fmla="*/ 277 h 512"/>
              <a:gd name="T20" fmla="*/ 309 w 512"/>
              <a:gd name="T21" fmla="*/ 266 h 512"/>
              <a:gd name="T22" fmla="*/ 330 w 512"/>
              <a:gd name="T23" fmla="*/ 266 h 512"/>
              <a:gd name="T24" fmla="*/ 341 w 512"/>
              <a:gd name="T25" fmla="*/ 277 h 512"/>
              <a:gd name="T26" fmla="*/ 330 w 512"/>
              <a:gd name="T27" fmla="*/ 288 h 512"/>
              <a:gd name="T28" fmla="*/ 224 w 512"/>
              <a:gd name="T29" fmla="*/ 298 h 512"/>
              <a:gd name="T30" fmla="*/ 170 w 512"/>
              <a:gd name="T31" fmla="*/ 352 h 512"/>
              <a:gd name="T32" fmla="*/ 117 w 512"/>
              <a:gd name="T33" fmla="*/ 298 h 512"/>
              <a:gd name="T34" fmla="*/ 170 w 512"/>
              <a:gd name="T35" fmla="*/ 245 h 512"/>
              <a:gd name="T36" fmla="*/ 224 w 512"/>
              <a:gd name="T37" fmla="*/ 298 h 512"/>
              <a:gd name="T38" fmla="*/ 170 w 512"/>
              <a:gd name="T39" fmla="*/ 224 h 512"/>
              <a:gd name="T40" fmla="*/ 161 w 512"/>
              <a:gd name="T41" fmla="*/ 224 h 512"/>
              <a:gd name="T42" fmla="*/ 169 w 512"/>
              <a:gd name="T43" fmla="*/ 160 h 512"/>
              <a:gd name="T44" fmla="*/ 224 w 512"/>
              <a:gd name="T45" fmla="*/ 160 h 512"/>
              <a:gd name="T46" fmla="*/ 224 w 512"/>
              <a:gd name="T47" fmla="*/ 163 h 512"/>
              <a:gd name="T48" fmla="*/ 242 w 512"/>
              <a:gd name="T49" fmla="*/ 224 h 512"/>
              <a:gd name="T50" fmla="*/ 181 w 512"/>
              <a:gd name="T51" fmla="*/ 224 h 512"/>
              <a:gd name="T52" fmla="*/ 179 w 512"/>
              <a:gd name="T53" fmla="*/ 224 h 512"/>
              <a:gd name="T54" fmla="*/ 170 w 512"/>
              <a:gd name="T55" fmla="*/ 224 h 512"/>
              <a:gd name="T56" fmla="*/ 256 w 512"/>
              <a:gd name="T57" fmla="*/ 0 h 512"/>
              <a:gd name="T58" fmla="*/ 0 w 512"/>
              <a:gd name="T59" fmla="*/ 256 h 512"/>
              <a:gd name="T60" fmla="*/ 256 w 512"/>
              <a:gd name="T61" fmla="*/ 512 h 512"/>
              <a:gd name="T62" fmla="*/ 512 w 512"/>
              <a:gd name="T63" fmla="*/ 256 h 512"/>
              <a:gd name="T64" fmla="*/ 256 w 512"/>
              <a:gd name="T65" fmla="*/ 0 h 512"/>
              <a:gd name="T66" fmla="*/ 368 w 512"/>
              <a:gd name="T67" fmla="*/ 373 h 512"/>
              <a:gd name="T68" fmla="*/ 334 w 512"/>
              <a:gd name="T69" fmla="*/ 352 h 512"/>
              <a:gd name="T70" fmla="*/ 224 w 512"/>
              <a:gd name="T71" fmla="*/ 352 h 512"/>
              <a:gd name="T72" fmla="*/ 223 w 512"/>
              <a:gd name="T73" fmla="*/ 351 h 512"/>
              <a:gd name="T74" fmla="*/ 170 w 512"/>
              <a:gd name="T75" fmla="*/ 373 h 512"/>
              <a:gd name="T76" fmla="*/ 96 w 512"/>
              <a:gd name="T77" fmla="*/ 298 h 512"/>
              <a:gd name="T78" fmla="*/ 139 w 512"/>
              <a:gd name="T79" fmla="*/ 231 h 512"/>
              <a:gd name="T80" fmla="*/ 149 w 512"/>
              <a:gd name="T81" fmla="*/ 148 h 512"/>
              <a:gd name="T82" fmla="*/ 160 w 512"/>
              <a:gd name="T83" fmla="*/ 138 h 512"/>
              <a:gd name="T84" fmla="*/ 224 w 512"/>
              <a:gd name="T85" fmla="*/ 138 h 512"/>
              <a:gd name="T86" fmla="*/ 245 w 512"/>
              <a:gd name="T87" fmla="*/ 158 h 512"/>
              <a:gd name="T88" fmla="*/ 264 w 512"/>
              <a:gd name="T89" fmla="*/ 224 h 512"/>
              <a:gd name="T90" fmla="*/ 320 w 512"/>
              <a:gd name="T91" fmla="*/ 224 h 512"/>
              <a:gd name="T92" fmla="*/ 320 w 512"/>
              <a:gd name="T93" fmla="*/ 170 h 512"/>
              <a:gd name="T94" fmla="*/ 309 w 512"/>
              <a:gd name="T95" fmla="*/ 160 h 512"/>
              <a:gd name="T96" fmla="*/ 320 w 512"/>
              <a:gd name="T97" fmla="*/ 149 h 512"/>
              <a:gd name="T98" fmla="*/ 341 w 512"/>
              <a:gd name="T99" fmla="*/ 170 h 512"/>
              <a:gd name="T100" fmla="*/ 341 w 512"/>
              <a:gd name="T101" fmla="*/ 224 h 512"/>
              <a:gd name="T102" fmla="*/ 362 w 512"/>
              <a:gd name="T103" fmla="*/ 224 h 512"/>
              <a:gd name="T104" fmla="*/ 384 w 512"/>
              <a:gd name="T105" fmla="*/ 245 h 512"/>
              <a:gd name="T106" fmla="*/ 384 w 512"/>
              <a:gd name="T107" fmla="*/ 302 h 512"/>
              <a:gd name="T108" fmla="*/ 405 w 512"/>
              <a:gd name="T109" fmla="*/ 336 h 512"/>
              <a:gd name="T110" fmla="*/ 368 w 512"/>
              <a:gd name="T111" fmla="*/ 373 h 512"/>
              <a:gd name="T112" fmla="*/ 384 w 512"/>
              <a:gd name="T113" fmla="*/ 336 h 512"/>
              <a:gd name="T114" fmla="*/ 368 w 512"/>
              <a:gd name="T115" fmla="*/ 352 h 512"/>
              <a:gd name="T116" fmla="*/ 352 w 512"/>
              <a:gd name="T117" fmla="*/ 336 h 512"/>
              <a:gd name="T118" fmla="*/ 368 w 512"/>
              <a:gd name="T119" fmla="*/ 320 h 512"/>
              <a:gd name="T120" fmla="*/ 384 w 512"/>
              <a:gd name="T121" fmla="*/ 33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362" y="245"/>
                </a:moveTo>
                <a:cubicBezTo>
                  <a:pt x="222" y="245"/>
                  <a:pt x="222" y="245"/>
                  <a:pt x="222" y="245"/>
                </a:cubicBezTo>
                <a:cubicBezTo>
                  <a:pt x="236" y="259"/>
                  <a:pt x="245" y="277"/>
                  <a:pt x="245" y="298"/>
                </a:cubicBezTo>
                <a:cubicBezTo>
                  <a:pt x="245" y="310"/>
                  <a:pt x="242" y="321"/>
                  <a:pt x="238" y="330"/>
                </a:cubicBezTo>
                <a:cubicBezTo>
                  <a:pt x="331" y="330"/>
                  <a:pt x="331" y="330"/>
                  <a:pt x="331" y="330"/>
                </a:cubicBezTo>
                <a:cubicBezTo>
                  <a:pt x="333" y="314"/>
                  <a:pt x="346" y="301"/>
                  <a:pt x="362" y="299"/>
                </a:cubicBezTo>
                <a:lnTo>
                  <a:pt x="362" y="245"/>
                </a:lnTo>
                <a:close/>
                <a:moveTo>
                  <a:pt x="330" y="288"/>
                </a:moveTo>
                <a:cubicBezTo>
                  <a:pt x="309" y="288"/>
                  <a:pt x="309" y="288"/>
                  <a:pt x="309" y="288"/>
                </a:cubicBezTo>
                <a:cubicBezTo>
                  <a:pt x="303" y="288"/>
                  <a:pt x="298" y="283"/>
                  <a:pt x="298" y="277"/>
                </a:cubicBezTo>
                <a:cubicBezTo>
                  <a:pt x="298" y="271"/>
                  <a:pt x="303" y="266"/>
                  <a:pt x="309" y="266"/>
                </a:cubicBezTo>
                <a:cubicBezTo>
                  <a:pt x="330" y="266"/>
                  <a:pt x="330" y="266"/>
                  <a:pt x="330" y="266"/>
                </a:cubicBezTo>
                <a:cubicBezTo>
                  <a:pt x="336" y="266"/>
                  <a:pt x="341" y="271"/>
                  <a:pt x="341" y="277"/>
                </a:cubicBezTo>
                <a:cubicBezTo>
                  <a:pt x="341" y="283"/>
                  <a:pt x="336" y="288"/>
                  <a:pt x="330" y="288"/>
                </a:cubicBezTo>
                <a:close/>
                <a:moveTo>
                  <a:pt x="224" y="298"/>
                </a:moveTo>
                <a:cubicBezTo>
                  <a:pt x="224" y="328"/>
                  <a:pt x="200" y="352"/>
                  <a:pt x="170" y="352"/>
                </a:cubicBezTo>
                <a:cubicBezTo>
                  <a:pt x="141" y="352"/>
                  <a:pt x="117" y="328"/>
                  <a:pt x="117" y="298"/>
                </a:cubicBezTo>
                <a:cubicBezTo>
                  <a:pt x="117" y="269"/>
                  <a:pt x="141" y="245"/>
                  <a:pt x="170" y="245"/>
                </a:cubicBezTo>
                <a:cubicBezTo>
                  <a:pt x="200" y="245"/>
                  <a:pt x="224" y="269"/>
                  <a:pt x="224" y="298"/>
                </a:cubicBezTo>
                <a:close/>
                <a:moveTo>
                  <a:pt x="170" y="224"/>
                </a:moveTo>
                <a:cubicBezTo>
                  <a:pt x="167" y="224"/>
                  <a:pt x="164" y="224"/>
                  <a:pt x="161" y="224"/>
                </a:cubicBezTo>
                <a:cubicBezTo>
                  <a:pt x="169" y="160"/>
                  <a:pt x="169" y="160"/>
                  <a:pt x="169" y="160"/>
                </a:cubicBezTo>
                <a:cubicBezTo>
                  <a:pt x="224" y="160"/>
                  <a:pt x="224" y="160"/>
                  <a:pt x="224" y="160"/>
                </a:cubicBezTo>
                <a:cubicBezTo>
                  <a:pt x="224" y="161"/>
                  <a:pt x="224" y="162"/>
                  <a:pt x="224" y="163"/>
                </a:cubicBezTo>
                <a:cubicBezTo>
                  <a:pt x="242" y="224"/>
                  <a:pt x="242" y="224"/>
                  <a:pt x="242" y="224"/>
                </a:cubicBezTo>
                <a:cubicBezTo>
                  <a:pt x="181" y="224"/>
                  <a:pt x="181" y="224"/>
                  <a:pt x="181" y="224"/>
                </a:cubicBezTo>
                <a:cubicBezTo>
                  <a:pt x="180" y="224"/>
                  <a:pt x="179" y="224"/>
                  <a:pt x="179" y="224"/>
                </a:cubicBezTo>
                <a:cubicBezTo>
                  <a:pt x="176" y="224"/>
                  <a:pt x="173" y="224"/>
                  <a:pt x="170" y="224"/>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68" y="373"/>
                </a:moveTo>
                <a:cubicBezTo>
                  <a:pt x="353" y="373"/>
                  <a:pt x="340" y="364"/>
                  <a:pt x="334" y="352"/>
                </a:cubicBezTo>
                <a:cubicBezTo>
                  <a:pt x="224" y="352"/>
                  <a:pt x="224" y="352"/>
                  <a:pt x="224" y="352"/>
                </a:cubicBezTo>
                <a:cubicBezTo>
                  <a:pt x="223" y="352"/>
                  <a:pt x="223" y="352"/>
                  <a:pt x="223" y="351"/>
                </a:cubicBezTo>
                <a:cubicBezTo>
                  <a:pt x="209" y="365"/>
                  <a:pt x="191" y="373"/>
                  <a:pt x="170" y="373"/>
                </a:cubicBezTo>
                <a:cubicBezTo>
                  <a:pt x="129" y="373"/>
                  <a:pt x="96" y="340"/>
                  <a:pt x="96" y="298"/>
                </a:cubicBezTo>
                <a:cubicBezTo>
                  <a:pt x="96" y="268"/>
                  <a:pt x="113" y="243"/>
                  <a:pt x="139" y="231"/>
                </a:cubicBezTo>
                <a:cubicBezTo>
                  <a:pt x="149" y="148"/>
                  <a:pt x="149" y="148"/>
                  <a:pt x="149" y="148"/>
                </a:cubicBezTo>
                <a:cubicBezTo>
                  <a:pt x="150" y="142"/>
                  <a:pt x="154" y="138"/>
                  <a:pt x="160" y="138"/>
                </a:cubicBezTo>
                <a:cubicBezTo>
                  <a:pt x="224" y="138"/>
                  <a:pt x="224" y="138"/>
                  <a:pt x="224" y="138"/>
                </a:cubicBezTo>
                <a:cubicBezTo>
                  <a:pt x="235" y="138"/>
                  <a:pt x="244" y="147"/>
                  <a:pt x="245" y="158"/>
                </a:cubicBezTo>
                <a:cubicBezTo>
                  <a:pt x="264" y="224"/>
                  <a:pt x="264" y="224"/>
                  <a:pt x="264" y="224"/>
                </a:cubicBezTo>
                <a:cubicBezTo>
                  <a:pt x="320" y="224"/>
                  <a:pt x="320" y="224"/>
                  <a:pt x="320" y="224"/>
                </a:cubicBezTo>
                <a:cubicBezTo>
                  <a:pt x="320" y="170"/>
                  <a:pt x="320" y="170"/>
                  <a:pt x="320" y="170"/>
                </a:cubicBezTo>
                <a:cubicBezTo>
                  <a:pt x="314" y="170"/>
                  <a:pt x="309" y="166"/>
                  <a:pt x="309" y="160"/>
                </a:cubicBezTo>
                <a:cubicBezTo>
                  <a:pt x="309" y="154"/>
                  <a:pt x="314" y="149"/>
                  <a:pt x="320" y="149"/>
                </a:cubicBezTo>
                <a:cubicBezTo>
                  <a:pt x="331" y="149"/>
                  <a:pt x="341" y="159"/>
                  <a:pt x="341" y="170"/>
                </a:cubicBezTo>
                <a:cubicBezTo>
                  <a:pt x="341" y="224"/>
                  <a:pt x="341" y="224"/>
                  <a:pt x="341" y="224"/>
                </a:cubicBezTo>
                <a:cubicBezTo>
                  <a:pt x="362" y="224"/>
                  <a:pt x="362" y="224"/>
                  <a:pt x="362" y="224"/>
                </a:cubicBezTo>
                <a:cubicBezTo>
                  <a:pt x="374" y="224"/>
                  <a:pt x="384" y="233"/>
                  <a:pt x="384" y="245"/>
                </a:cubicBezTo>
                <a:cubicBezTo>
                  <a:pt x="384" y="302"/>
                  <a:pt x="384" y="302"/>
                  <a:pt x="384" y="302"/>
                </a:cubicBezTo>
                <a:cubicBezTo>
                  <a:pt x="396" y="308"/>
                  <a:pt x="405" y="321"/>
                  <a:pt x="405" y="336"/>
                </a:cubicBezTo>
                <a:cubicBezTo>
                  <a:pt x="405" y="356"/>
                  <a:pt x="388" y="373"/>
                  <a:pt x="368" y="373"/>
                </a:cubicBezTo>
                <a:close/>
                <a:moveTo>
                  <a:pt x="384" y="336"/>
                </a:moveTo>
                <a:cubicBezTo>
                  <a:pt x="384" y="344"/>
                  <a:pt x="376" y="352"/>
                  <a:pt x="368" y="352"/>
                </a:cubicBezTo>
                <a:cubicBezTo>
                  <a:pt x="359" y="352"/>
                  <a:pt x="352" y="344"/>
                  <a:pt x="352" y="336"/>
                </a:cubicBezTo>
                <a:cubicBezTo>
                  <a:pt x="352" y="327"/>
                  <a:pt x="359" y="320"/>
                  <a:pt x="368" y="320"/>
                </a:cubicBezTo>
                <a:cubicBezTo>
                  <a:pt x="376" y="320"/>
                  <a:pt x="384" y="327"/>
                  <a:pt x="384" y="33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77" name="Freeform 5"/>
          <p:cNvSpPr>
            <a:spLocks noChangeAspect="1" noEditPoints="1"/>
          </p:cNvSpPr>
          <p:nvPr/>
        </p:nvSpPr>
        <p:spPr bwMode="auto">
          <a:xfrm>
            <a:off x="815892" y="3842552"/>
            <a:ext cx="369887" cy="3683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1 w 512"/>
              <a:gd name="T11" fmla="*/ 394 h 512"/>
              <a:gd name="T12" fmla="*/ 338 w 512"/>
              <a:gd name="T13" fmla="*/ 393 h 512"/>
              <a:gd name="T14" fmla="*/ 195 w 512"/>
              <a:gd name="T15" fmla="*/ 316 h 512"/>
              <a:gd name="T16" fmla="*/ 119 w 512"/>
              <a:gd name="T17" fmla="*/ 173 h 512"/>
              <a:gd name="T18" fmla="*/ 131 w 512"/>
              <a:gd name="T19" fmla="*/ 132 h 512"/>
              <a:gd name="T20" fmla="*/ 133 w 512"/>
              <a:gd name="T21" fmla="*/ 129 h 512"/>
              <a:gd name="T22" fmla="*/ 160 w 512"/>
              <a:gd name="T23" fmla="*/ 107 h 512"/>
              <a:gd name="T24" fmla="*/ 160 w 512"/>
              <a:gd name="T25" fmla="*/ 107 h 512"/>
              <a:gd name="T26" fmla="*/ 189 w 512"/>
              <a:gd name="T27" fmla="*/ 115 h 512"/>
              <a:gd name="T28" fmla="*/ 238 w 512"/>
              <a:gd name="T29" fmla="*/ 177 h 512"/>
              <a:gd name="T30" fmla="*/ 236 w 512"/>
              <a:gd name="T31" fmla="*/ 186 h 512"/>
              <a:gd name="T32" fmla="*/ 212 w 512"/>
              <a:gd name="T33" fmla="*/ 210 h 512"/>
              <a:gd name="T34" fmla="*/ 219 w 512"/>
              <a:gd name="T35" fmla="*/ 222 h 512"/>
              <a:gd name="T36" fmla="*/ 251 w 512"/>
              <a:gd name="T37" fmla="*/ 261 h 512"/>
              <a:gd name="T38" fmla="*/ 290 w 512"/>
              <a:gd name="T39" fmla="*/ 292 h 512"/>
              <a:gd name="T40" fmla="*/ 302 w 512"/>
              <a:gd name="T41" fmla="*/ 299 h 512"/>
              <a:gd name="T42" fmla="*/ 326 w 512"/>
              <a:gd name="T43" fmla="*/ 276 h 512"/>
              <a:gd name="T44" fmla="*/ 335 w 512"/>
              <a:gd name="T45" fmla="*/ 273 h 512"/>
              <a:gd name="T46" fmla="*/ 397 w 512"/>
              <a:gd name="T47" fmla="*/ 322 h 512"/>
              <a:gd name="T48" fmla="*/ 404 w 512"/>
              <a:gd name="T49" fmla="*/ 350 h 512"/>
              <a:gd name="T50" fmla="*/ 404 w 512"/>
              <a:gd name="T51" fmla="*/ 350 h 512"/>
              <a:gd name="T52" fmla="*/ 382 w 512"/>
              <a:gd name="T53" fmla="*/ 378 h 512"/>
              <a:gd name="T54" fmla="*/ 379 w 512"/>
              <a:gd name="T55" fmla="*/ 381 h 512"/>
              <a:gd name="T56" fmla="*/ 351 w 512"/>
              <a:gd name="T57" fmla="*/ 394 h 512"/>
              <a:gd name="T58" fmla="*/ 166 w 512"/>
              <a:gd name="T59" fmla="*/ 128 h 512"/>
              <a:gd name="T60" fmla="*/ 149 w 512"/>
              <a:gd name="T61" fmla="*/ 144 h 512"/>
              <a:gd name="T62" fmla="*/ 146 w 512"/>
              <a:gd name="T63" fmla="*/ 147 h 512"/>
              <a:gd name="T64" fmla="*/ 140 w 512"/>
              <a:gd name="T65" fmla="*/ 169 h 512"/>
              <a:gd name="T66" fmla="*/ 140 w 512"/>
              <a:gd name="T67" fmla="*/ 171 h 512"/>
              <a:gd name="T68" fmla="*/ 210 w 512"/>
              <a:gd name="T69" fmla="*/ 301 h 512"/>
              <a:gd name="T70" fmla="*/ 341 w 512"/>
              <a:gd name="T71" fmla="*/ 372 h 512"/>
              <a:gd name="T72" fmla="*/ 342 w 512"/>
              <a:gd name="T73" fmla="*/ 372 h 512"/>
              <a:gd name="T74" fmla="*/ 364 w 512"/>
              <a:gd name="T75" fmla="*/ 365 h 512"/>
              <a:gd name="T76" fmla="*/ 368 w 512"/>
              <a:gd name="T77" fmla="*/ 362 h 512"/>
              <a:gd name="T78" fmla="*/ 383 w 512"/>
              <a:gd name="T79" fmla="*/ 346 h 512"/>
              <a:gd name="T80" fmla="*/ 337 w 512"/>
              <a:gd name="T81" fmla="*/ 295 h 512"/>
              <a:gd name="T82" fmla="*/ 311 w 512"/>
              <a:gd name="T83" fmla="*/ 321 h 512"/>
              <a:gd name="T84" fmla="*/ 297 w 512"/>
              <a:gd name="T85" fmla="*/ 322 h 512"/>
              <a:gd name="T86" fmla="*/ 279 w 512"/>
              <a:gd name="T87" fmla="*/ 310 h 512"/>
              <a:gd name="T88" fmla="*/ 235 w 512"/>
              <a:gd name="T89" fmla="*/ 276 h 512"/>
              <a:gd name="T90" fmla="*/ 201 w 512"/>
              <a:gd name="T91" fmla="*/ 233 h 512"/>
              <a:gd name="T92" fmla="*/ 189 w 512"/>
              <a:gd name="T93" fmla="*/ 214 h 512"/>
              <a:gd name="T94" fmla="*/ 191 w 512"/>
              <a:gd name="T95" fmla="*/ 201 h 512"/>
              <a:gd name="T96" fmla="*/ 217 w 512"/>
              <a:gd name="T97" fmla="*/ 175 h 512"/>
              <a:gd name="T98" fmla="*/ 166 w 512"/>
              <a:gd name="T99"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51" y="394"/>
                </a:moveTo>
                <a:cubicBezTo>
                  <a:pt x="347" y="394"/>
                  <a:pt x="343" y="394"/>
                  <a:pt x="338" y="393"/>
                </a:cubicBezTo>
                <a:cubicBezTo>
                  <a:pt x="329" y="392"/>
                  <a:pt x="257" y="381"/>
                  <a:pt x="195" y="316"/>
                </a:cubicBezTo>
                <a:cubicBezTo>
                  <a:pt x="130" y="254"/>
                  <a:pt x="120" y="182"/>
                  <a:pt x="119" y="173"/>
                </a:cubicBezTo>
                <a:cubicBezTo>
                  <a:pt x="113" y="150"/>
                  <a:pt x="122" y="141"/>
                  <a:pt x="131" y="132"/>
                </a:cubicBezTo>
                <a:cubicBezTo>
                  <a:pt x="133" y="129"/>
                  <a:pt x="133" y="129"/>
                  <a:pt x="133" y="129"/>
                </a:cubicBezTo>
                <a:cubicBezTo>
                  <a:pt x="143" y="119"/>
                  <a:pt x="149" y="110"/>
                  <a:pt x="160" y="107"/>
                </a:cubicBezTo>
                <a:cubicBezTo>
                  <a:pt x="160" y="107"/>
                  <a:pt x="160" y="107"/>
                  <a:pt x="160" y="107"/>
                </a:cubicBezTo>
                <a:cubicBezTo>
                  <a:pt x="160" y="106"/>
                  <a:pt x="171" y="106"/>
                  <a:pt x="189" y="115"/>
                </a:cubicBezTo>
                <a:cubicBezTo>
                  <a:pt x="216" y="129"/>
                  <a:pt x="234" y="151"/>
                  <a:pt x="238" y="177"/>
                </a:cubicBezTo>
                <a:cubicBezTo>
                  <a:pt x="239" y="180"/>
                  <a:pt x="238" y="183"/>
                  <a:pt x="236" y="186"/>
                </a:cubicBezTo>
                <a:cubicBezTo>
                  <a:pt x="212" y="210"/>
                  <a:pt x="212" y="210"/>
                  <a:pt x="212" y="210"/>
                </a:cubicBezTo>
                <a:cubicBezTo>
                  <a:pt x="215" y="214"/>
                  <a:pt x="217" y="218"/>
                  <a:pt x="219" y="222"/>
                </a:cubicBezTo>
                <a:cubicBezTo>
                  <a:pt x="227" y="233"/>
                  <a:pt x="232" y="242"/>
                  <a:pt x="251" y="261"/>
                </a:cubicBezTo>
                <a:cubicBezTo>
                  <a:pt x="269" y="280"/>
                  <a:pt x="278" y="285"/>
                  <a:pt x="290" y="292"/>
                </a:cubicBezTo>
                <a:cubicBezTo>
                  <a:pt x="293" y="294"/>
                  <a:pt x="297" y="297"/>
                  <a:pt x="302" y="299"/>
                </a:cubicBezTo>
                <a:cubicBezTo>
                  <a:pt x="326" y="276"/>
                  <a:pt x="326" y="276"/>
                  <a:pt x="326" y="276"/>
                </a:cubicBezTo>
                <a:cubicBezTo>
                  <a:pt x="328" y="273"/>
                  <a:pt x="331" y="272"/>
                  <a:pt x="335" y="273"/>
                </a:cubicBezTo>
                <a:cubicBezTo>
                  <a:pt x="361" y="276"/>
                  <a:pt x="383" y="294"/>
                  <a:pt x="397" y="322"/>
                </a:cubicBezTo>
                <a:cubicBezTo>
                  <a:pt x="403" y="335"/>
                  <a:pt x="406" y="345"/>
                  <a:pt x="404" y="350"/>
                </a:cubicBezTo>
                <a:cubicBezTo>
                  <a:pt x="404" y="350"/>
                  <a:pt x="404" y="350"/>
                  <a:pt x="404" y="350"/>
                </a:cubicBezTo>
                <a:cubicBezTo>
                  <a:pt x="402" y="359"/>
                  <a:pt x="393" y="368"/>
                  <a:pt x="382" y="378"/>
                </a:cubicBezTo>
                <a:cubicBezTo>
                  <a:pt x="379" y="381"/>
                  <a:pt x="379" y="381"/>
                  <a:pt x="379" y="381"/>
                </a:cubicBezTo>
                <a:cubicBezTo>
                  <a:pt x="372" y="387"/>
                  <a:pt x="365" y="394"/>
                  <a:pt x="351" y="394"/>
                </a:cubicBezTo>
                <a:close/>
                <a:moveTo>
                  <a:pt x="166" y="128"/>
                </a:moveTo>
                <a:cubicBezTo>
                  <a:pt x="161" y="131"/>
                  <a:pt x="153" y="140"/>
                  <a:pt x="149" y="144"/>
                </a:cubicBezTo>
                <a:cubicBezTo>
                  <a:pt x="146" y="147"/>
                  <a:pt x="146" y="147"/>
                  <a:pt x="146" y="147"/>
                </a:cubicBezTo>
                <a:cubicBezTo>
                  <a:pt x="139" y="155"/>
                  <a:pt x="137" y="157"/>
                  <a:pt x="140" y="169"/>
                </a:cubicBezTo>
                <a:cubicBezTo>
                  <a:pt x="140" y="170"/>
                  <a:pt x="140" y="170"/>
                  <a:pt x="140" y="171"/>
                </a:cubicBezTo>
                <a:cubicBezTo>
                  <a:pt x="140" y="171"/>
                  <a:pt x="148" y="242"/>
                  <a:pt x="210" y="301"/>
                </a:cubicBezTo>
                <a:cubicBezTo>
                  <a:pt x="270" y="364"/>
                  <a:pt x="340" y="371"/>
                  <a:pt x="341" y="372"/>
                </a:cubicBezTo>
                <a:cubicBezTo>
                  <a:pt x="341" y="372"/>
                  <a:pt x="342" y="372"/>
                  <a:pt x="342" y="372"/>
                </a:cubicBezTo>
                <a:cubicBezTo>
                  <a:pt x="355" y="375"/>
                  <a:pt x="357" y="373"/>
                  <a:pt x="364" y="365"/>
                </a:cubicBezTo>
                <a:cubicBezTo>
                  <a:pt x="368" y="362"/>
                  <a:pt x="368" y="362"/>
                  <a:pt x="368" y="362"/>
                </a:cubicBezTo>
                <a:cubicBezTo>
                  <a:pt x="371" y="359"/>
                  <a:pt x="380" y="350"/>
                  <a:pt x="383" y="346"/>
                </a:cubicBezTo>
                <a:cubicBezTo>
                  <a:pt x="380" y="336"/>
                  <a:pt x="368" y="303"/>
                  <a:pt x="337" y="295"/>
                </a:cubicBezTo>
                <a:cubicBezTo>
                  <a:pt x="311" y="321"/>
                  <a:pt x="311" y="321"/>
                  <a:pt x="311" y="321"/>
                </a:cubicBezTo>
                <a:cubicBezTo>
                  <a:pt x="307" y="324"/>
                  <a:pt x="301" y="325"/>
                  <a:pt x="297" y="322"/>
                </a:cubicBezTo>
                <a:cubicBezTo>
                  <a:pt x="290" y="317"/>
                  <a:pt x="284" y="313"/>
                  <a:pt x="279" y="310"/>
                </a:cubicBezTo>
                <a:cubicBezTo>
                  <a:pt x="267" y="303"/>
                  <a:pt x="256" y="296"/>
                  <a:pt x="235" y="276"/>
                </a:cubicBezTo>
                <a:cubicBezTo>
                  <a:pt x="215" y="255"/>
                  <a:pt x="209" y="245"/>
                  <a:pt x="201" y="233"/>
                </a:cubicBezTo>
                <a:cubicBezTo>
                  <a:pt x="198" y="227"/>
                  <a:pt x="194" y="222"/>
                  <a:pt x="189" y="214"/>
                </a:cubicBezTo>
                <a:cubicBezTo>
                  <a:pt x="186" y="210"/>
                  <a:pt x="187" y="204"/>
                  <a:pt x="191" y="201"/>
                </a:cubicBezTo>
                <a:cubicBezTo>
                  <a:pt x="217" y="175"/>
                  <a:pt x="217" y="175"/>
                  <a:pt x="217" y="175"/>
                </a:cubicBezTo>
                <a:cubicBezTo>
                  <a:pt x="209" y="144"/>
                  <a:pt x="175" y="131"/>
                  <a:pt x="166" y="12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42"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43"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Work Package-II:  State Energy Database Preparation- Determining key industries having participatory role in determining the overall energy consumption of the State </a:t>
            </a:r>
          </a:p>
        </p:txBody>
      </p:sp>
    </p:spTree>
    <p:extLst>
      <p:ext uri="{BB962C8B-B14F-4D97-AF65-F5344CB8AC3E}">
        <p14:creationId xmlns:p14="http://schemas.microsoft.com/office/powerpoint/2010/main" val="207404173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3392" y="1425524"/>
            <a:ext cx="9785953" cy="584775"/>
          </a:xfrm>
          <a:prstGeom prst="rect">
            <a:avLst/>
          </a:prstGeom>
        </p:spPr>
        <p:txBody>
          <a:bodyPr wrap="square">
            <a:spAutoFit/>
          </a:bodyPr>
          <a:lstStyle/>
          <a:p>
            <a:r>
              <a:rPr lang="en-GB" sz="1600" i="1" dirty="0">
                <a:solidFill>
                  <a:schemeClr val="accent3"/>
                </a:solidFill>
                <a:latin typeface="Verdana" panose="020B0604030504040204" pitchFamily="34" charset="0"/>
                <a:ea typeface="Verdana" panose="020B0604030504040204" pitchFamily="34" charset="0"/>
                <a:cs typeface="Times New Roman" panose="02020603050405020304" pitchFamily="18" charset="0"/>
              </a:rPr>
              <a:t>We propose to segregate the various modes of transportation further into category of vehicle along with fuel sources to determine the most accurate energy demand for the sector</a:t>
            </a:r>
            <a:endParaRPr lang="en-IN" sz="1600" i="1" dirty="0">
              <a:solidFill>
                <a:schemeClr val="accent3"/>
              </a:solidFill>
            </a:endParaRPr>
          </a:p>
        </p:txBody>
      </p:sp>
      <p:grpSp>
        <p:nvGrpSpPr>
          <p:cNvPr id="94" name="Group 93"/>
          <p:cNvGrpSpPr/>
          <p:nvPr/>
        </p:nvGrpSpPr>
        <p:grpSpPr>
          <a:xfrm>
            <a:off x="439791" y="2414426"/>
            <a:ext cx="9544136" cy="4356243"/>
            <a:chOff x="189008" y="744093"/>
            <a:chExt cx="11202969" cy="5021654"/>
          </a:xfrm>
        </p:grpSpPr>
        <p:sp>
          <p:nvSpPr>
            <p:cNvPr id="95" name="Text Box 3"/>
            <p:cNvSpPr txBox="1">
              <a:spLocks noChangeArrowheads="1"/>
            </p:cNvSpPr>
            <p:nvPr/>
          </p:nvSpPr>
          <p:spPr bwMode="auto">
            <a:xfrm>
              <a:off x="198633" y="3243295"/>
              <a:ext cx="1005840" cy="931321"/>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Key Indicators for energy demand computation</a:t>
              </a:r>
            </a:p>
          </p:txBody>
        </p:sp>
        <p:sp>
          <p:nvSpPr>
            <p:cNvPr id="96" name="Rectangle 95"/>
            <p:cNvSpPr>
              <a:spLocks noChangeArrowheads="1"/>
            </p:cNvSpPr>
            <p:nvPr/>
          </p:nvSpPr>
          <p:spPr bwMode="auto">
            <a:xfrm>
              <a:off x="1452559" y="1784087"/>
              <a:ext cx="706883" cy="41148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2-Wheeler</a:t>
              </a:r>
            </a:p>
          </p:txBody>
        </p:sp>
        <p:sp>
          <p:nvSpPr>
            <p:cNvPr id="97" name="Text Box 20"/>
            <p:cNvSpPr txBox="1">
              <a:spLocks noChangeArrowheads="1"/>
            </p:cNvSpPr>
            <p:nvPr/>
          </p:nvSpPr>
          <p:spPr bwMode="auto">
            <a:xfrm>
              <a:off x="212154" y="1365366"/>
              <a:ext cx="1005840" cy="186265"/>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Category</a:t>
              </a:r>
            </a:p>
          </p:txBody>
        </p:sp>
        <p:sp>
          <p:nvSpPr>
            <p:cNvPr id="98" name="Text Box 21"/>
            <p:cNvSpPr txBox="1">
              <a:spLocks noChangeArrowheads="1"/>
            </p:cNvSpPr>
            <p:nvPr/>
          </p:nvSpPr>
          <p:spPr bwMode="auto">
            <a:xfrm>
              <a:off x="189008" y="1813075"/>
              <a:ext cx="1026776" cy="558793"/>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Modes of transportation</a:t>
              </a:r>
            </a:p>
          </p:txBody>
        </p:sp>
        <p:sp>
          <p:nvSpPr>
            <p:cNvPr id="99" name="Rectangle 98"/>
            <p:cNvSpPr>
              <a:spLocks noChangeArrowheads="1"/>
            </p:cNvSpPr>
            <p:nvPr/>
          </p:nvSpPr>
          <p:spPr bwMode="auto">
            <a:xfrm>
              <a:off x="1475397" y="744093"/>
              <a:ext cx="9885330" cy="411480"/>
            </a:xfrm>
            <a:prstGeom prst="rect">
              <a:avLst/>
            </a:prstGeom>
            <a:solidFill>
              <a:schemeClr val="tx1">
                <a:lumMod val="50000"/>
                <a:lumOff val="5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200" b="1" dirty="0">
                  <a:solidFill>
                    <a:schemeClr val="bg1"/>
                  </a:solidFill>
                  <a:ea typeface="ＭＳ Ｐゴシック" pitchFamily="50" charset="-128"/>
                </a:rPr>
                <a:t>Transport sector of West Bengal</a:t>
              </a:r>
            </a:p>
          </p:txBody>
        </p:sp>
        <p:sp>
          <p:nvSpPr>
            <p:cNvPr id="100" name="Rectangle 99"/>
            <p:cNvSpPr>
              <a:spLocks noChangeArrowheads="1"/>
            </p:cNvSpPr>
            <p:nvPr/>
          </p:nvSpPr>
          <p:spPr bwMode="auto">
            <a:xfrm>
              <a:off x="1475397" y="1212428"/>
              <a:ext cx="1443294" cy="411480"/>
            </a:xfrm>
            <a:prstGeom prst="rect">
              <a:avLst/>
            </a:prstGeom>
            <a:solidFill>
              <a:schemeClr val="tx2"/>
            </a:solidFill>
            <a:ln w="12700" algn="ctr">
              <a:noFill/>
              <a:miter lim="800000"/>
              <a:headEnd type="none" w="sm" len="sm"/>
              <a:tailEnd/>
            </a:ln>
          </p:spPr>
          <p:txBody>
            <a:bodyPr wrap="square" lIns="88900" tIns="88900" rIns="88900" bIns="88900" anchor="ctr">
              <a:noAutofit/>
            </a:bodyPr>
            <a:lstStyle/>
            <a:p>
              <a:pPr algn="ctr">
                <a:defRPr/>
              </a:pPr>
              <a:r>
                <a:rPr lang="en-US" altLang="ja-JP" sz="900" b="1" dirty="0">
                  <a:solidFill>
                    <a:schemeClr val="bg1"/>
                  </a:solidFill>
                  <a:ea typeface="ＭＳ Ｐゴシック" pitchFamily="50" charset="-128"/>
                </a:rPr>
                <a:t>Domestic</a:t>
              </a:r>
            </a:p>
          </p:txBody>
        </p:sp>
        <p:sp>
          <p:nvSpPr>
            <p:cNvPr id="101" name="Rectangle 100"/>
            <p:cNvSpPr>
              <a:spLocks noChangeArrowheads="1"/>
            </p:cNvSpPr>
            <p:nvPr/>
          </p:nvSpPr>
          <p:spPr bwMode="auto">
            <a:xfrm>
              <a:off x="3003047" y="1214944"/>
              <a:ext cx="2500595" cy="411480"/>
            </a:xfrm>
            <a:prstGeom prst="rect">
              <a:avLst/>
            </a:prstGeom>
            <a:solidFill>
              <a:schemeClr val="tx2"/>
            </a:solidFill>
            <a:ln w="12700" algn="ctr">
              <a:noFill/>
              <a:miter lim="800000"/>
              <a:headEnd type="none" w="sm" len="sm"/>
              <a:tailEnd/>
            </a:ln>
          </p:spPr>
          <p:txBody>
            <a:bodyPr wrap="square" lIns="88900" tIns="88900" rIns="88900" bIns="88900" anchor="ctr">
              <a:noAutofit/>
            </a:bodyPr>
            <a:lstStyle/>
            <a:p>
              <a:pPr algn="ctr">
                <a:defRPr/>
              </a:pPr>
              <a:r>
                <a:rPr lang="en-US" altLang="ja-JP" sz="900" b="1" dirty="0">
                  <a:solidFill>
                    <a:schemeClr val="bg1"/>
                  </a:solidFill>
                  <a:ea typeface="ＭＳ Ｐゴシック" pitchFamily="50" charset="-128"/>
                </a:rPr>
                <a:t>Commercial</a:t>
              </a:r>
            </a:p>
          </p:txBody>
        </p:sp>
        <p:sp>
          <p:nvSpPr>
            <p:cNvPr id="102" name="Rectangle 101"/>
            <p:cNvSpPr>
              <a:spLocks noChangeArrowheads="1"/>
            </p:cNvSpPr>
            <p:nvPr/>
          </p:nvSpPr>
          <p:spPr bwMode="auto">
            <a:xfrm>
              <a:off x="5587998" y="1207365"/>
              <a:ext cx="4688766" cy="411480"/>
            </a:xfrm>
            <a:prstGeom prst="rect">
              <a:avLst/>
            </a:prstGeom>
            <a:solidFill>
              <a:schemeClr val="tx2"/>
            </a:solidFill>
            <a:ln w="12700" algn="ctr">
              <a:noFill/>
              <a:miter lim="800000"/>
              <a:headEnd type="none" w="sm" len="sm"/>
              <a:tailEnd/>
            </a:ln>
          </p:spPr>
          <p:txBody>
            <a:bodyPr wrap="square" lIns="88900" tIns="88900" rIns="88900" bIns="88900" anchor="ctr">
              <a:noAutofit/>
            </a:bodyPr>
            <a:lstStyle/>
            <a:p>
              <a:pPr algn="ctr">
                <a:defRPr/>
              </a:pPr>
              <a:r>
                <a:rPr lang="en-US" altLang="ja-JP" sz="900" b="1" dirty="0">
                  <a:solidFill>
                    <a:schemeClr val="bg1"/>
                  </a:solidFill>
                  <a:ea typeface="ＭＳ Ｐゴシック" pitchFamily="50" charset="-128"/>
                </a:rPr>
                <a:t>Public Transport</a:t>
              </a:r>
            </a:p>
          </p:txBody>
        </p:sp>
        <p:sp>
          <p:nvSpPr>
            <p:cNvPr id="103" name="Rectangle 102"/>
            <p:cNvSpPr>
              <a:spLocks noChangeArrowheads="1"/>
            </p:cNvSpPr>
            <p:nvPr/>
          </p:nvSpPr>
          <p:spPr bwMode="auto">
            <a:xfrm>
              <a:off x="10343435" y="1197466"/>
              <a:ext cx="1017292" cy="411480"/>
            </a:xfrm>
            <a:prstGeom prst="rect">
              <a:avLst/>
            </a:prstGeom>
            <a:solidFill>
              <a:schemeClr val="tx2"/>
            </a:solidFill>
            <a:ln w="12700" algn="ctr">
              <a:noFill/>
              <a:miter lim="800000"/>
              <a:headEnd type="none" w="sm" len="sm"/>
              <a:tailEnd/>
            </a:ln>
          </p:spPr>
          <p:txBody>
            <a:bodyPr wrap="square" lIns="88900" tIns="88900" rIns="88900" bIns="88900" anchor="ctr">
              <a:noAutofit/>
            </a:bodyPr>
            <a:lstStyle/>
            <a:p>
              <a:pPr algn="ctr">
                <a:defRPr/>
              </a:pPr>
              <a:r>
                <a:rPr lang="en-US" altLang="ja-JP" sz="900" b="1" dirty="0">
                  <a:solidFill>
                    <a:schemeClr val="bg1"/>
                  </a:solidFill>
                  <a:ea typeface="ＭＳ Ｐゴシック" pitchFamily="50" charset="-128"/>
                </a:rPr>
                <a:t>Shipping</a:t>
              </a:r>
            </a:p>
          </p:txBody>
        </p:sp>
        <p:sp>
          <p:nvSpPr>
            <p:cNvPr id="104" name="Rectangle 103"/>
            <p:cNvSpPr>
              <a:spLocks noChangeArrowheads="1"/>
            </p:cNvSpPr>
            <p:nvPr/>
          </p:nvSpPr>
          <p:spPr bwMode="auto">
            <a:xfrm>
              <a:off x="2210937" y="1793280"/>
              <a:ext cx="705600" cy="41148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4-Wheeler</a:t>
              </a:r>
            </a:p>
          </p:txBody>
        </p:sp>
        <p:sp>
          <p:nvSpPr>
            <p:cNvPr id="105" name="Rectangle 104"/>
            <p:cNvSpPr>
              <a:spLocks noChangeArrowheads="1"/>
            </p:cNvSpPr>
            <p:nvPr/>
          </p:nvSpPr>
          <p:spPr bwMode="auto">
            <a:xfrm>
              <a:off x="3019783" y="1789042"/>
              <a:ext cx="781200" cy="41148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LCVs</a:t>
              </a:r>
            </a:p>
          </p:txBody>
        </p:sp>
        <p:sp>
          <p:nvSpPr>
            <p:cNvPr id="106" name="Rectangle 105"/>
            <p:cNvSpPr>
              <a:spLocks noChangeArrowheads="1"/>
            </p:cNvSpPr>
            <p:nvPr/>
          </p:nvSpPr>
          <p:spPr bwMode="auto">
            <a:xfrm>
              <a:off x="4719024" y="1792907"/>
              <a:ext cx="782202" cy="41148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3-Wheelers</a:t>
              </a:r>
            </a:p>
          </p:txBody>
        </p:sp>
        <p:sp>
          <p:nvSpPr>
            <p:cNvPr id="107" name="Line 23"/>
            <p:cNvSpPr>
              <a:spLocks noChangeShapeType="1"/>
            </p:cNvSpPr>
            <p:nvPr/>
          </p:nvSpPr>
          <p:spPr bwMode="auto">
            <a:xfrm flipV="1">
              <a:off x="721924" y="3056966"/>
              <a:ext cx="10638803" cy="8309"/>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050" dirty="0"/>
            </a:p>
          </p:txBody>
        </p:sp>
        <p:sp>
          <p:nvSpPr>
            <p:cNvPr id="108" name="Rectangle 107"/>
            <p:cNvSpPr>
              <a:spLocks noChangeArrowheads="1"/>
            </p:cNvSpPr>
            <p:nvPr/>
          </p:nvSpPr>
          <p:spPr bwMode="auto">
            <a:xfrm>
              <a:off x="5581911" y="1787022"/>
              <a:ext cx="692502" cy="41040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Metro</a:t>
              </a:r>
            </a:p>
          </p:txBody>
        </p:sp>
        <p:sp>
          <p:nvSpPr>
            <p:cNvPr id="109" name="Rectangle 108"/>
            <p:cNvSpPr>
              <a:spLocks noChangeArrowheads="1"/>
            </p:cNvSpPr>
            <p:nvPr/>
          </p:nvSpPr>
          <p:spPr bwMode="auto">
            <a:xfrm>
              <a:off x="6299415" y="1788882"/>
              <a:ext cx="737147" cy="41040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Bus</a:t>
              </a:r>
            </a:p>
          </p:txBody>
        </p:sp>
        <p:sp>
          <p:nvSpPr>
            <p:cNvPr id="110" name="Rectangle 109"/>
            <p:cNvSpPr>
              <a:spLocks noChangeArrowheads="1"/>
            </p:cNvSpPr>
            <p:nvPr/>
          </p:nvSpPr>
          <p:spPr bwMode="auto">
            <a:xfrm>
              <a:off x="7076958" y="1780886"/>
              <a:ext cx="781200" cy="41040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Tram</a:t>
              </a:r>
            </a:p>
          </p:txBody>
        </p:sp>
        <p:sp>
          <p:nvSpPr>
            <p:cNvPr id="111" name="Rectangle 110"/>
            <p:cNvSpPr>
              <a:spLocks noChangeArrowheads="1"/>
            </p:cNvSpPr>
            <p:nvPr/>
          </p:nvSpPr>
          <p:spPr bwMode="auto">
            <a:xfrm>
              <a:off x="9495564" y="1764274"/>
              <a:ext cx="781200" cy="41040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Air services</a:t>
              </a:r>
            </a:p>
          </p:txBody>
        </p:sp>
        <p:sp>
          <p:nvSpPr>
            <p:cNvPr id="112" name="Rectangle 111"/>
            <p:cNvSpPr>
              <a:spLocks noChangeArrowheads="1"/>
            </p:cNvSpPr>
            <p:nvPr/>
          </p:nvSpPr>
          <p:spPr bwMode="auto">
            <a:xfrm>
              <a:off x="3873428" y="1793280"/>
              <a:ext cx="781200" cy="41148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HCVs</a:t>
              </a:r>
            </a:p>
          </p:txBody>
        </p:sp>
        <p:grpSp>
          <p:nvGrpSpPr>
            <p:cNvPr id="113" name="Group 112"/>
            <p:cNvGrpSpPr/>
            <p:nvPr/>
          </p:nvGrpSpPr>
          <p:grpSpPr>
            <a:xfrm>
              <a:off x="4319869" y="5354321"/>
              <a:ext cx="7049051" cy="229302"/>
              <a:chOff x="1254153" y="5384833"/>
              <a:chExt cx="9887120" cy="321623"/>
            </a:xfrm>
          </p:grpSpPr>
          <p:sp>
            <p:nvSpPr>
              <p:cNvPr id="160" name="Oval 159"/>
              <p:cNvSpPr>
                <a:spLocks noChangeArrowheads="1"/>
              </p:cNvSpPr>
              <p:nvPr/>
            </p:nvSpPr>
            <p:spPr bwMode="auto">
              <a:xfrm>
                <a:off x="5402706" y="5406313"/>
                <a:ext cx="291100" cy="300143"/>
              </a:xfrm>
              <a:prstGeom prst="ellipse">
                <a:avLst/>
              </a:prstGeom>
              <a:solidFill>
                <a:srgbClr val="FFCD00"/>
              </a:solidFill>
              <a:ln w="6350">
                <a:noFill/>
                <a:round/>
                <a:headEnd/>
                <a:tailEnd/>
              </a:ln>
            </p:spPr>
            <p:txBody>
              <a:bodyPr wrap="none" anchor="ctr"/>
              <a:lstStyle/>
              <a:p>
                <a:pPr algn="ctr">
                  <a:defRPr/>
                </a:pPr>
                <a:endParaRPr lang="en-US" sz="900" dirty="0"/>
              </a:p>
            </p:txBody>
          </p:sp>
          <p:sp>
            <p:nvSpPr>
              <p:cNvPr id="161" name="Oval 160"/>
              <p:cNvSpPr>
                <a:spLocks noChangeArrowheads="1"/>
              </p:cNvSpPr>
              <p:nvPr/>
            </p:nvSpPr>
            <p:spPr bwMode="auto">
              <a:xfrm>
                <a:off x="3305342" y="5392218"/>
                <a:ext cx="291100" cy="300143"/>
              </a:xfrm>
              <a:prstGeom prst="ellipse">
                <a:avLst/>
              </a:prstGeom>
              <a:solidFill>
                <a:srgbClr val="009A44"/>
              </a:solidFill>
              <a:ln w="6350">
                <a:noFill/>
                <a:round/>
                <a:headEnd/>
                <a:tailEnd/>
              </a:ln>
            </p:spPr>
            <p:txBody>
              <a:bodyPr wrap="none" anchor="ctr"/>
              <a:lstStyle/>
              <a:p>
                <a:pPr algn="ctr">
                  <a:defRPr/>
                </a:pPr>
                <a:endParaRPr lang="en-US" sz="900" dirty="0"/>
              </a:p>
            </p:txBody>
          </p:sp>
          <p:sp>
            <p:nvSpPr>
              <p:cNvPr id="162" name="Oval 161"/>
              <p:cNvSpPr>
                <a:spLocks noChangeArrowheads="1"/>
              </p:cNvSpPr>
              <p:nvPr/>
            </p:nvSpPr>
            <p:spPr bwMode="auto">
              <a:xfrm>
                <a:off x="7601674" y="5392218"/>
                <a:ext cx="291100" cy="300143"/>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63" name="Oval 162"/>
              <p:cNvSpPr>
                <a:spLocks noChangeArrowheads="1"/>
              </p:cNvSpPr>
              <p:nvPr/>
            </p:nvSpPr>
            <p:spPr bwMode="auto">
              <a:xfrm>
                <a:off x="1254153" y="5393081"/>
                <a:ext cx="291100" cy="300143"/>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64" name="Oval 163"/>
              <p:cNvSpPr>
                <a:spLocks noChangeArrowheads="1"/>
              </p:cNvSpPr>
              <p:nvPr/>
            </p:nvSpPr>
            <p:spPr bwMode="auto">
              <a:xfrm>
                <a:off x="9318296" y="5384833"/>
                <a:ext cx="291100" cy="300143"/>
              </a:xfrm>
              <a:prstGeom prst="ellipse">
                <a:avLst/>
              </a:prstGeom>
              <a:solidFill>
                <a:srgbClr val="FFFF00"/>
              </a:solidFill>
              <a:ln w="6350">
                <a:noFill/>
                <a:round/>
                <a:headEnd/>
                <a:tailEnd/>
              </a:ln>
            </p:spPr>
            <p:txBody>
              <a:bodyPr wrap="none" anchor="ctr"/>
              <a:lstStyle/>
              <a:p>
                <a:pPr algn="ctr">
                  <a:defRPr/>
                </a:pPr>
                <a:endParaRPr lang="en-US" sz="900" dirty="0"/>
              </a:p>
            </p:txBody>
          </p:sp>
          <p:sp>
            <p:nvSpPr>
              <p:cNvPr id="165" name="Text Box 20"/>
              <p:cNvSpPr txBox="1">
                <a:spLocks noChangeArrowheads="1"/>
              </p:cNvSpPr>
              <p:nvPr/>
            </p:nvSpPr>
            <p:spPr bwMode="auto">
              <a:xfrm>
                <a:off x="1700043" y="5416144"/>
                <a:ext cx="1382919" cy="261257"/>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Electricity</a:t>
                </a:r>
              </a:p>
            </p:txBody>
          </p:sp>
          <p:sp>
            <p:nvSpPr>
              <p:cNvPr id="166" name="Text Box 20"/>
              <p:cNvSpPr txBox="1">
                <a:spLocks noChangeArrowheads="1"/>
              </p:cNvSpPr>
              <p:nvPr/>
            </p:nvSpPr>
            <p:spPr bwMode="auto">
              <a:xfrm>
                <a:off x="3745061" y="5411793"/>
                <a:ext cx="1005839" cy="261257"/>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CNG</a:t>
                </a:r>
              </a:p>
            </p:txBody>
          </p:sp>
          <p:sp>
            <p:nvSpPr>
              <p:cNvPr id="167" name="Text Box 20"/>
              <p:cNvSpPr txBox="1">
                <a:spLocks noChangeArrowheads="1"/>
              </p:cNvSpPr>
              <p:nvPr/>
            </p:nvSpPr>
            <p:spPr bwMode="auto">
              <a:xfrm>
                <a:off x="5818204" y="5384833"/>
                <a:ext cx="1005839" cy="261257"/>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Petrol</a:t>
                </a:r>
              </a:p>
            </p:txBody>
          </p:sp>
          <p:sp>
            <p:nvSpPr>
              <p:cNvPr id="168" name="Text Box 20"/>
              <p:cNvSpPr txBox="1">
                <a:spLocks noChangeArrowheads="1"/>
              </p:cNvSpPr>
              <p:nvPr/>
            </p:nvSpPr>
            <p:spPr bwMode="auto">
              <a:xfrm>
                <a:off x="9846848" y="5384833"/>
                <a:ext cx="1294425" cy="261258"/>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Aviation oil</a:t>
                </a:r>
              </a:p>
            </p:txBody>
          </p:sp>
          <p:sp>
            <p:nvSpPr>
              <p:cNvPr id="169" name="Text Box 20"/>
              <p:cNvSpPr txBox="1">
                <a:spLocks noChangeArrowheads="1"/>
              </p:cNvSpPr>
              <p:nvPr/>
            </p:nvSpPr>
            <p:spPr bwMode="auto">
              <a:xfrm>
                <a:off x="7983128" y="5445199"/>
                <a:ext cx="1005839" cy="261257"/>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Diesel</a:t>
                </a:r>
              </a:p>
            </p:txBody>
          </p:sp>
        </p:grpSp>
        <p:sp>
          <p:nvSpPr>
            <p:cNvPr id="114" name="Line 23"/>
            <p:cNvSpPr>
              <a:spLocks noChangeShapeType="1"/>
            </p:cNvSpPr>
            <p:nvPr/>
          </p:nvSpPr>
          <p:spPr bwMode="auto">
            <a:xfrm flipV="1">
              <a:off x="721924" y="4245103"/>
              <a:ext cx="10638803" cy="8309"/>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050" dirty="0"/>
            </a:p>
          </p:txBody>
        </p:sp>
        <p:sp>
          <p:nvSpPr>
            <p:cNvPr id="115" name="Line 23"/>
            <p:cNvSpPr>
              <a:spLocks noChangeShapeType="1"/>
            </p:cNvSpPr>
            <p:nvPr/>
          </p:nvSpPr>
          <p:spPr bwMode="auto">
            <a:xfrm flipV="1">
              <a:off x="721924" y="5217108"/>
              <a:ext cx="10638803" cy="8309"/>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050" dirty="0"/>
            </a:p>
          </p:txBody>
        </p:sp>
        <p:sp>
          <p:nvSpPr>
            <p:cNvPr id="116" name="Line 23"/>
            <p:cNvSpPr>
              <a:spLocks noChangeShapeType="1"/>
            </p:cNvSpPr>
            <p:nvPr/>
          </p:nvSpPr>
          <p:spPr bwMode="auto">
            <a:xfrm flipV="1">
              <a:off x="721924" y="1704682"/>
              <a:ext cx="10638803" cy="8309"/>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050" dirty="0"/>
            </a:p>
          </p:txBody>
        </p:sp>
        <p:sp>
          <p:nvSpPr>
            <p:cNvPr id="117" name="Rectangle 116"/>
            <p:cNvSpPr>
              <a:spLocks noChangeArrowheads="1"/>
            </p:cNvSpPr>
            <p:nvPr/>
          </p:nvSpPr>
          <p:spPr bwMode="auto">
            <a:xfrm>
              <a:off x="8689362" y="1764274"/>
              <a:ext cx="781200" cy="41040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Ferry</a:t>
              </a:r>
            </a:p>
          </p:txBody>
        </p:sp>
        <p:sp>
          <p:nvSpPr>
            <p:cNvPr id="118" name="Rectangle 117"/>
            <p:cNvSpPr>
              <a:spLocks noChangeArrowheads="1"/>
            </p:cNvSpPr>
            <p:nvPr/>
          </p:nvSpPr>
          <p:spPr bwMode="auto">
            <a:xfrm>
              <a:off x="7883160" y="1770054"/>
              <a:ext cx="781200" cy="41040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Pre-paid Taxi</a:t>
              </a:r>
            </a:p>
          </p:txBody>
        </p:sp>
        <p:sp>
          <p:nvSpPr>
            <p:cNvPr id="119" name="Rectangle 118"/>
            <p:cNvSpPr>
              <a:spLocks noChangeArrowheads="1"/>
            </p:cNvSpPr>
            <p:nvPr/>
          </p:nvSpPr>
          <p:spPr bwMode="auto">
            <a:xfrm>
              <a:off x="10437097" y="1769017"/>
              <a:ext cx="781200" cy="411480"/>
            </a:xfrm>
            <a:prstGeom prst="rect">
              <a:avLst/>
            </a:prstGeom>
            <a:solidFill>
              <a:schemeClr val="accent3">
                <a:lumMod val="60000"/>
                <a:lumOff val="40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900" dirty="0">
                  <a:ea typeface="ＭＳ Ｐゴシック" pitchFamily="50" charset="-128"/>
                </a:rPr>
                <a:t>Ships</a:t>
              </a:r>
            </a:p>
          </p:txBody>
        </p:sp>
        <p:sp>
          <p:nvSpPr>
            <p:cNvPr id="120" name="Oval 119"/>
            <p:cNvSpPr>
              <a:spLocks noChangeArrowheads="1"/>
            </p:cNvSpPr>
            <p:nvPr/>
          </p:nvSpPr>
          <p:spPr bwMode="auto">
            <a:xfrm>
              <a:off x="3176868" y="2622811"/>
              <a:ext cx="248400" cy="248400"/>
            </a:xfrm>
            <a:prstGeom prst="ellipse">
              <a:avLst/>
            </a:prstGeom>
            <a:solidFill>
              <a:srgbClr val="009A44"/>
            </a:solidFill>
            <a:ln w="6350">
              <a:noFill/>
              <a:round/>
              <a:headEnd/>
              <a:tailEnd/>
            </a:ln>
          </p:spPr>
          <p:txBody>
            <a:bodyPr wrap="none" anchor="ctr"/>
            <a:lstStyle/>
            <a:p>
              <a:pPr algn="ctr">
                <a:defRPr/>
              </a:pPr>
              <a:endParaRPr lang="en-US" sz="900" dirty="0"/>
            </a:p>
          </p:txBody>
        </p:sp>
        <p:sp>
          <p:nvSpPr>
            <p:cNvPr id="121" name="Oval 120"/>
            <p:cNvSpPr>
              <a:spLocks noChangeArrowheads="1"/>
            </p:cNvSpPr>
            <p:nvPr/>
          </p:nvSpPr>
          <p:spPr bwMode="auto">
            <a:xfrm>
              <a:off x="3456378" y="2615336"/>
              <a:ext cx="248400" cy="248400"/>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22" name="Oval 121"/>
            <p:cNvSpPr>
              <a:spLocks noChangeArrowheads="1"/>
            </p:cNvSpPr>
            <p:nvPr/>
          </p:nvSpPr>
          <p:spPr bwMode="auto">
            <a:xfrm>
              <a:off x="3461914" y="2356853"/>
              <a:ext cx="248400" cy="248400"/>
            </a:xfrm>
            <a:prstGeom prst="ellipse">
              <a:avLst/>
            </a:prstGeom>
            <a:solidFill>
              <a:srgbClr val="FFCD00"/>
            </a:solidFill>
            <a:ln w="6350">
              <a:noFill/>
              <a:round/>
              <a:headEnd/>
              <a:tailEnd/>
            </a:ln>
          </p:spPr>
          <p:txBody>
            <a:bodyPr wrap="none" anchor="ctr"/>
            <a:lstStyle/>
            <a:p>
              <a:pPr algn="ctr">
                <a:defRPr/>
              </a:pPr>
              <a:endParaRPr lang="en-US" sz="900" dirty="0"/>
            </a:p>
          </p:txBody>
        </p:sp>
        <p:sp>
          <p:nvSpPr>
            <p:cNvPr id="123" name="Oval 122"/>
            <p:cNvSpPr>
              <a:spLocks noChangeArrowheads="1"/>
            </p:cNvSpPr>
            <p:nvPr/>
          </p:nvSpPr>
          <p:spPr bwMode="auto">
            <a:xfrm>
              <a:off x="3186033" y="2356815"/>
              <a:ext cx="248400" cy="248400"/>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24" name="Oval 123"/>
            <p:cNvSpPr>
              <a:spLocks noChangeArrowheads="1"/>
            </p:cNvSpPr>
            <p:nvPr/>
          </p:nvSpPr>
          <p:spPr bwMode="auto">
            <a:xfrm>
              <a:off x="2321276" y="2627084"/>
              <a:ext cx="248400" cy="248400"/>
            </a:xfrm>
            <a:prstGeom prst="ellipse">
              <a:avLst/>
            </a:prstGeom>
            <a:solidFill>
              <a:srgbClr val="009A44"/>
            </a:solidFill>
            <a:ln w="6350">
              <a:noFill/>
              <a:round/>
              <a:headEnd/>
              <a:tailEnd/>
            </a:ln>
          </p:spPr>
          <p:txBody>
            <a:bodyPr wrap="none" anchor="ctr"/>
            <a:lstStyle/>
            <a:p>
              <a:pPr algn="ctr">
                <a:defRPr/>
              </a:pPr>
              <a:endParaRPr lang="en-US" sz="900" dirty="0"/>
            </a:p>
          </p:txBody>
        </p:sp>
        <p:sp>
          <p:nvSpPr>
            <p:cNvPr id="125" name="Oval 124"/>
            <p:cNvSpPr>
              <a:spLocks noChangeArrowheads="1"/>
            </p:cNvSpPr>
            <p:nvPr/>
          </p:nvSpPr>
          <p:spPr bwMode="auto">
            <a:xfrm>
              <a:off x="2602120" y="2623306"/>
              <a:ext cx="248400" cy="248400"/>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26" name="Oval 125"/>
            <p:cNvSpPr>
              <a:spLocks noChangeArrowheads="1"/>
            </p:cNvSpPr>
            <p:nvPr/>
          </p:nvSpPr>
          <p:spPr bwMode="auto">
            <a:xfrm>
              <a:off x="2607535" y="2361088"/>
              <a:ext cx="248400" cy="248400"/>
            </a:xfrm>
            <a:prstGeom prst="ellipse">
              <a:avLst/>
            </a:prstGeom>
            <a:solidFill>
              <a:srgbClr val="FFCD00"/>
            </a:solidFill>
            <a:ln w="6350">
              <a:noFill/>
              <a:round/>
              <a:headEnd/>
              <a:tailEnd/>
            </a:ln>
          </p:spPr>
          <p:txBody>
            <a:bodyPr wrap="none" anchor="ctr"/>
            <a:lstStyle/>
            <a:p>
              <a:pPr algn="ctr">
                <a:defRPr/>
              </a:pPr>
              <a:endParaRPr lang="en-US" sz="900" dirty="0"/>
            </a:p>
          </p:txBody>
        </p:sp>
        <p:sp>
          <p:nvSpPr>
            <p:cNvPr id="127" name="Oval 126"/>
            <p:cNvSpPr>
              <a:spLocks noChangeArrowheads="1"/>
            </p:cNvSpPr>
            <p:nvPr/>
          </p:nvSpPr>
          <p:spPr bwMode="auto">
            <a:xfrm>
              <a:off x="2321205" y="2361088"/>
              <a:ext cx="248400" cy="248400"/>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28" name="Text Box 3"/>
            <p:cNvSpPr txBox="1">
              <a:spLocks noChangeArrowheads="1"/>
            </p:cNvSpPr>
            <p:nvPr/>
          </p:nvSpPr>
          <p:spPr bwMode="auto">
            <a:xfrm>
              <a:off x="212154" y="4457540"/>
              <a:ext cx="1005840" cy="558793"/>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Other baseline parameters</a:t>
              </a:r>
            </a:p>
          </p:txBody>
        </p:sp>
        <p:sp>
          <p:nvSpPr>
            <p:cNvPr id="129" name="Oval 128"/>
            <p:cNvSpPr>
              <a:spLocks noChangeArrowheads="1"/>
            </p:cNvSpPr>
            <p:nvPr/>
          </p:nvSpPr>
          <p:spPr bwMode="auto">
            <a:xfrm>
              <a:off x="6437724" y="2614206"/>
              <a:ext cx="248400" cy="248400"/>
            </a:xfrm>
            <a:prstGeom prst="ellipse">
              <a:avLst/>
            </a:prstGeom>
            <a:solidFill>
              <a:srgbClr val="009A44"/>
            </a:solidFill>
            <a:ln w="6350">
              <a:noFill/>
              <a:round/>
              <a:headEnd/>
              <a:tailEnd/>
            </a:ln>
          </p:spPr>
          <p:txBody>
            <a:bodyPr wrap="none" anchor="ctr"/>
            <a:lstStyle/>
            <a:p>
              <a:pPr algn="ctr">
                <a:defRPr/>
              </a:pPr>
              <a:endParaRPr lang="en-US" sz="900" dirty="0"/>
            </a:p>
          </p:txBody>
        </p:sp>
        <p:sp>
          <p:nvSpPr>
            <p:cNvPr id="130" name="Oval 129"/>
            <p:cNvSpPr>
              <a:spLocks noChangeArrowheads="1"/>
            </p:cNvSpPr>
            <p:nvPr/>
          </p:nvSpPr>
          <p:spPr bwMode="auto">
            <a:xfrm>
              <a:off x="6686294" y="2348153"/>
              <a:ext cx="248400" cy="248400"/>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31" name="Oval 130"/>
            <p:cNvSpPr>
              <a:spLocks noChangeArrowheads="1"/>
            </p:cNvSpPr>
            <p:nvPr/>
          </p:nvSpPr>
          <p:spPr bwMode="auto">
            <a:xfrm>
              <a:off x="6429401" y="2348353"/>
              <a:ext cx="248400" cy="248400"/>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32" name="Oval 131"/>
            <p:cNvSpPr>
              <a:spLocks noChangeArrowheads="1"/>
            </p:cNvSpPr>
            <p:nvPr/>
          </p:nvSpPr>
          <p:spPr bwMode="auto">
            <a:xfrm>
              <a:off x="5829771" y="2367420"/>
              <a:ext cx="248469" cy="248400"/>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33" name="Oval 132"/>
            <p:cNvSpPr>
              <a:spLocks noChangeArrowheads="1"/>
            </p:cNvSpPr>
            <p:nvPr/>
          </p:nvSpPr>
          <p:spPr bwMode="auto">
            <a:xfrm>
              <a:off x="7366583" y="2370310"/>
              <a:ext cx="248469" cy="248400"/>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34" name="Oval 133"/>
            <p:cNvSpPr>
              <a:spLocks noChangeArrowheads="1"/>
            </p:cNvSpPr>
            <p:nvPr/>
          </p:nvSpPr>
          <p:spPr bwMode="auto">
            <a:xfrm>
              <a:off x="10762487" y="2352302"/>
              <a:ext cx="248400" cy="248612"/>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35" name="Oval 134"/>
            <p:cNvSpPr>
              <a:spLocks noChangeArrowheads="1"/>
            </p:cNvSpPr>
            <p:nvPr/>
          </p:nvSpPr>
          <p:spPr bwMode="auto">
            <a:xfrm>
              <a:off x="9002740" y="2366724"/>
              <a:ext cx="248400" cy="248612"/>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36" name="Oval 135"/>
            <p:cNvSpPr>
              <a:spLocks noChangeArrowheads="1"/>
            </p:cNvSpPr>
            <p:nvPr/>
          </p:nvSpPr>
          <p:spPr bwMode="auto">
            <a:xfrm>
              <a:off x="1821236" y="2361126"/>
              <a:ext cx="248470" cy="248400"/>
            </a:xfrm>
            <a:prstGeom prst="ellipse">
              <a:avLst/>
            </a:prstGeom>
            <a:solidFill>
              <a:srgbClr val="FFCD00"/>
            </a:solidFill>
            <a:ln w="6350">
              <a:noFill/>
              <a:round/>
              <a:headEnd/>
              <a:tailEnd/>
            </a:ln>
          </p:spPr>
          <p:txBody>
            <a:bodyPr wrap="none" anchor="ctr"/>
            <a:lstStyle/>
            <a:p>
              <a:pPr algn="ctr">
                <a:defRPr/>
              </a:pPr>
              <a:endParaRPr lang="en-US" sz="900" dirty="0"/>
            </a:p>
          </p:txBody>
        </p:sp>
        <p:sp>
          <p:nvSpPr>
            <p:cNvPr id="137" name="Oval 136"/>
            <p:cNvSpPr>
              <a:spLocks noChangeArrowheads="1"/>
            </p:cNvSpPr>
            <p:nvPr/>
          </p:nvSpPr>
          <p:spPr bwMode="auto">
            <a:xfrm>
              <a:off x="1545355" y="2361088"/>
              <a:ext cx="248469" cy="248400"/>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38" name="TextBox 137"/>
            <p:cNvSpPr txBox="1"/>
            <p:nvPr/>
          </p:nvSpPr>
          <p:spPr>
            <a:xfrm>
              <a:off x="1430589" y="3164440"/>
              <a:ext cx="5062952" cy="960888"/>
            </a:xfrm>
            <a:prstGeom prst="rect">
              <a:avLst/>
            </a:prstGeom>
            <a:noFill/>
            <a:ln>
              <a:solidFill>
                <a:schemeClr val="accent5"/>
              </a:solidFill>
            </a:ln>
          </p:spPr>
          <p:txBody>
            <a:bodyPr wrap="square" lIns="0" tIns="0" rIns="0" bIns="0" rtlCol="0">
              <a:spAutoFit/>
            </a:bodyPr>
            <a:lstStyle/>
            <a:p>
              <a:pPr marL="203200" indent="-107950">
                <a:lnSpc>
                  <a:spcPts val="1320"/>
                </a:lnSpc>
                <a:buSzPct val="100000"/>
                <a:buFont typeface="Arial"/>
                <a:buChar char="•"/>
              </a:pPr>
              <a:r>
                <a:rPr lang="en-US" sz="1050" dirty="0">
                  <a:solidFill>
                    <a:srgbClr val="313131"/>
                  </a:solidFill>
                </a:rPr>
                <a:t>Running efficiency (km/l) (Source- ARAI)</a:t>
              </a:r>
            </a:p>
            <a:p>
              <a:pPr marL="203200" indent="-107950">
                <a:lnSpc>
                  <a:spcPts val="1320"/>
                </a:lnSpc>
                <a:buSzPct val="100000"/>
                <a:buFont typeface="Arial"/>
                <a:buChar char="•"/>
              </a:pPr>
              <a:r>
                <a:rPr lang="en-US" sz="1050" dirty="0">
                  <a:solidFill>
                    <a:srgbClr val="313131"/>
                  </a:solidFill>
                </a:rPr>
                <a:t>No. of vehicles registered with vehicle types (Source-Department of Transport, West Bengal; </a:t>
              </a:r>
              <a:r>
                <a:rPr lang="en-US" sz="1050" dirty="0" err="1">
                  <a:solidFill>
                    <a:srgbClr val="313131"/>
                  </a:solidFill>
                </a:rPr>
                <a:t>Vahan</a:t>
              </a:r>
              <a:r>
                <a:rPr lang="en-US" sz="1050" dirty="0">
                  <a:solidFill>
                    <a:srgbClr val="313131"/>
                  </a:solidFill>
                </a:rPr>
                <a:t> Dashboard)</a:t>
              </a:r>
            </a:p>
            <a:p>
              <a:pPr marL="203200" indent="-107950">
                <a:lnSpc>
                  <a:spcPts val="1320"/>
                </a:lnSpc>
                <a:buSzPct val="100000"/>
                <a:buFont typeface="Arial"/>
                <a:buChar char="•"/>
              </a:pPr>
              <a:r>
                <a:rPr lang="en-US" sz="1050" dirty="0">
                  <a:solidFill>
                    <a:srgbClr val="313131"/>
                  </a:solidFill>
                </a:rPr>
                <a:t>Vehicle kilometer travelled (VKT) for each mode (Source-Department of Transport, West Bengal, </a:t>
              </a:r>
              <a:endParaRPr lang="en-IN" sz="1050" dirty="0">
                <a:solidFill>
                  <a:srgbClr val="313131"/>
                </a:solidFill>
              </a:endParaRPr>
            </a:p>
          </p:txBody>
        </p:sp>
        <p:sp>
          <p:nvSpPr>
            <p:cNvPr id="139" name="Text Box 21"/>
            <p:cNvSpPr txBox="1">
              <a:spLocks noChangeArrowheads="1"/>
            </p:cNvSpPr>
            <p:nvPr/>
          </p:nvSpPr>
          <p:spPr bwMode="auto">
            <a:xfrm>
              <a:off x="210338" y="2727617"/>
              <a:ext cx="964569" cy="186265"/>
            </a:xfrm>
            <a:prstGeom prst="rect">
              <a:avLst/>
            </a:prstGeom>
            <a:noFill/>
            <a:ln w="9525" algn="ctr">
              <a:noFill/>
              <a:miter lim="800000"/>
              <a:headEnd/>
              <a:tailEnd/>
            </a:ln>
          </p:spPr>
          <p:txBody>
            <a:bodyPr wrap="square" lIns="0" tIns="0" rIns="0" bIns="0">
              <a:spAutoFit/>
            </a:bodyPr>
            <a:lstStyle/>
            <a:p>
              <a:r>
                <a:rPr lang="en-US" altLang="ja-JP" sz="1050" dirty="0">
                  <a:ea typeface="ＭＳ Ｐゴシック" charset="-128"/>
                </a:rPr>
                <a:t>Fuel source</a:t>
              </a:r>
            </a:p>
          </p:txBody>
        </p:sp>
        <p:sp>
          <p:nvSpPr>
            <p:cNvPr id="140" name="Line 23"/>
            <p:cNvSpPr>
              <a:spLocks noChangeShapeType="1"/>
            </p:cNvSpPr>
            <p:nvPr/>
          </p:nvSpPr>
          <p:spPr bwMode="auto">
            <a:xfrm flipH="1" flipV="1">
              <a:off x="1173091" y="885523"/>
              <a:ext cx="28754" cy="4880224"/>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050" dirty="0"/>
            </a:p>
          </p:txBody>
        </p:sp>
        <p:sp>
          <p:nvSpPr>
            <p:cNvPr id="141" name="Right Arrow 140"/>
            <p:cNvSpPr/>
            <p:nvPr/>
          </p:nvSpPr>
          <p:spPr bwMode="gray">
            <a:xfrm>
              <a:off x="6493541" y="3451459"/>
              <a:ext cx="978408" cy="484632"/>
            </a:xfrm>
            <a:prstGeom prst="rightArrow">
              <a:avLst/>
            </a:prstGeom>
            <a:solidFill>
              <a:schemeClr val="bg1">
                <a:lumMod val="95000"/>
              </a:schemeClr>
            </a:solidFill>
            <a:ln w="9525" algn="ctr">
              <a:solidFill>
                <a:schemeClr val="accent5"/>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142" name="TextBox 141"/>
            <p:cNvSpPr txBox="1"/>
            <p:nvPr/>
          </p:nvSpPr>
          <p:spPr>
            <a:xfrm>
              <a:off x="7569235" y="3424387"/>
              <a:ext cx="2408469" cy="461226"/>
            </a:xfrm>
            <a:prstGeom prst="rect">
              <a:avLst/>
            </a:prstGeom>
            <a:noFill/>
          </p:spPr>
          <p:txBody>
            <a:bodyPr wrap="none" lIns="0" tIns="0" rIns="0" bIns="0" rtlCol="0">
              <a:spAutoFit/>
            </a:bodyPr>
            <a:lstStyle/>
            <a:p>
              <a:pPr algn="ctr">
                <a:spcBef>
                  <a:spcPts val="600"/>
                </a:spcBef>
                <a:buSzPct val="100000"/>
              </a:pPr>
              <a:r>
                <a:rPr lang="en-US" sz="1050" dirty="0">
                  <a:solidFill>
                    <a:srgbClr val="313131"/>
                  </a:solidFill>
                </a:rPr>
                <a:t>Fuel wise energy consumption</a:t>
              </a:r>
            </a:p>
            <a:p>
              <a:pPr algn="ctr">
                <a:spcBef>
                  <a:spcPts val="600"/>
                </a:spcBef>
                <a:buSzPct val="100000"/>
              </a:pPr>
              <a:r>
                <a:rPr lang="en-US" sz="1050" dirty="0">
                  <a:solidFill>
                    <a:srgbClr val="313131"/>
                  </a:solidFill>
                </a:rPr>
                <a:t>(Giga Joule)</a:t>
              </a:r>
              <a:endParaRPr lang="en-IN" sz="1050" dirty="0">
                <a:solidFill>
                  <a:srgbClr val="313131"/>
                </a:solidFill>
              </a:endParaRPr>
            </a:p>
          </p:txBody>
        </p:sp>
        <p:sp>
          <p:nvSpPr>
            <p:cNvPr id="143" name="TextBox 142"/>
            <p:cNvSpPr txBox="1"/>
            <p:nvPr/>
          </p:nvSpPr>
          <p:spPr>
            <a:xfrm>
              <a:off x="1430589" y="4280932"/>
              <a:ext cx="3362952" cy="886972"/>
            </a:xfrm>
            <a:prstGeom prst="rect">
              <a:avLst/>
            </a:prstGeom>
            <a:noFill/>
            <a:ln>
              <a:noFill/>
            </a:ln>
          </p:spPr>
          <p:txBody>
            <a:bodyPr wrap="square" lIns="0" tIns="0" rIns="0" bIns="0" rtlCol="0">
              <a:spAutoFit/>
            </a:bodyPr>
            <a:lstStyle/>
            <a:p>
              <a:pPr marL="203200" indent="-203200">
                <a:lnSpc>
                  <a:spcPts val="1200"/>
                </a:lnSpc>
                <a:spcBef>
                  <a:spcPts val="0"/>
                </a:spcBef>
                <a:buSzPct val="100000"/>
                <a:buFont typeface="Arial"/>
                <a:buChar char="•"/>
              </a:pPr>
              <a:r>
                <a:rPr lang="en-US" sz="1000" dirty="0">
                  <a:solidFill>
                    <a:srgbClr val="313131"/>
                  </a:solidFill>
                </a:rPr>
                <a:t>Development of new corridors, state highways, roads, etc.</a:t>
              </a:r>
            </a:p>
            <a:p>
              <a:pPr marL="203200" indent="-203200">
                <a:lnSpc>
                  <a:spcPts val="1200"/>
                </a:lnSpc>
                <a:spcBef>
                  <a:spcPts val="0"/>
                </a:spcBef>
                <a:buSzPct val="100000"/>
                <a:buFont typeface="Arial"/>
                <a:buChar char="•"/>
              </a:pPr>
              <a:r>
                <a:rPr lang="en-US" sz="1000" dirty="0">
                  <a:solidFill>
                    <a:srgbClr val="313131"/>
                  </a:solidFill>
                </a:rPr>
                <a:t>Increase in number of fleet strength</a:t>
              </a:r>
            </a:p>
            <a:p>
              <a:pPr marL="203200" indent="-203200">
                <a:lnSpc>
                  <a:spcPts val="1200"/>
                </a:lnSpc>
                <a:spcBef>
                  <a:spcPts val="0"/>
                </a:spcBef>
                <a:buSzPct val="100000"/>
                <a:buFont typeface="Arial"/>
                <a:buChar char="•"/>
              </a:pPr>
              <a:r>
                <a:rPr lang="en-US" sz="1000" dirty="0">
                  <a:solidFill>
                    <a:srgbClr val="313131"/>
                  </a:solidFill>
                </a:rPr>
                <a:t>Increase in number of clean fuel transportation</a:t>
              </a:r>
              <a:endParaRPr lang="en-IN" sz="1000" dirty="0">
                <a:solidFill>
                  <a:srgbClr val="313131"/>
                </a:solidFill>
              </a:endParaRPr>
            </a:p>
          </p:txBody>
        </p:sp>
        <p:sp>
          <p:nvSpPr>
            <p:cNvPr id="144" name="TextBox 143"/>
            <p:cNvSpPr txBox="1"/>
            <p:nvPr/>
          </p:nvSpPr>
          <p:spPr>
            <a:xfrm>
              <a:off x="4821973" y="4269087"/>
              <a:ext cx="2876683" cy="886972"/>
            </a:xfrm>
            <a:prstGeom prst="rect">
              <a:avLst/>
            </a:prstGeom>
            <a:noFill/>
            <a:ln>
              <a:noFill/>
            </a:ln>
          </p:spPr>
          <p:txBody>
            <a:bodyPr wrap="square" lIns="0" tIns="0" rIns="0" bIns="0" rtlCol="0">
              <a:spAutoFit/>
            </a:bodyPr>
            <a:lstStyle/>
            <a:p>
              <a:pPr marL="203200" indent="-203200">
                <a:lnSpc>
                  <a:spcPts val="1200"/>
                </a:lnSpc>
                <a:spcBef>
                  <a:spcPts val="0"/>
                </a:spcBef>
                <a:buSzPct val="100000"/>
                <a:buFont typeface="Arial"/>
                <a:buChar char="•"/>
              </a:pPr>
              <a:r>
                <a:rPr lang="en-US" sz="1000" dirty="0">
                  <a:solidFill>
                    <a:srgbClr val="313131"/>
                  </a:solidFill>
                </a:rPr>
                <a:t>Increase in Metro development</a:t>
              </a:r>
            </a:p>
            <a:p>
              <a:pPr marL="203200" indent="-203200">
                <a:lnSpc>
                  <a:spcPts val="1200"/>
                </a:lnSpc>
                <a:spcBef>
                  <a:spcPts val="0"/>
                </a:spcBef>
                <a:buSzPct val="100000"/>
                <a:buFont typeface="Arial"/>
                <a:buChar char="•"/>
              </a:pPr>
              <a:r>
                <a:rPr lang="en-US" sz="1000" dirty="0">
                  <a:solidFill>
                    <a:srgbClr val="313131"/>
                  </a:solidFill>
                </a:rPr>
                <a:t>Shift in choices of mode of transport based on technology and cost choices </a:t>
              </a:r>
            </a:p>
            <a:p>
              <a:pPr marL="203200" indent="-203200">
                <a:lnSpc>
                  <a:spcPts val="1200"/>
                </a:lnSpc>
                <a:spcBef>
                  <a:spcPts val="0"/>
                </a:spcBef>
                <a:buSzPct val="100000"/>
                <a:buFont typeface="Arial"/>
                <a:buChar char="•"/>
              </a:pPr>
              <a:r>
                <a:rPr lang="en-US" sz="1000" dirty="0">
                  <a:solidFill>
                    <a:srgbClr val="313131"/>
                  </a:solidFill>
                </a:rPr>
                <a:t>Emergence of new technologies</a:t>
              </a:r>
              <a:endParaRPr lang="en-IN" sz="1000" dirty="0">
                <a:solidFill>
                  <a:srgbClr val="313131"/>
                </a:solidFill>
              </a:endParaRPr>
            </a:p>
          </p:txBody>
        </p:sp>
        <p:sp>
          <p:nvSpPr>
            <p:cNvPr id="145" name="TextBox 144"/>
            <p:cNvSpPr txBox="1">
              <a:spLocks noChangeAspect="1"/>
            </p:cNvSpPr>
            <p:nvPr/>
          </p:nvSpPr>
          <p:spPr>
            <a:xfrm>
              <a:off x="7961822" y="4363834"/>
              <a:ext cx="1168530" cy="769442"/>
            </a:xfrm>
            <a:prstGeom prst="rect">
              <a:avLst/>
            </a:prstGeom>
            <a:noFill/>
            <a:ln>
              <a:noFill/>
            </a:ln>
          </p:spPr>
          <p:txBody>
            <a:bodyPr wrap="square" lIns="36000" tIns="0" rIns="36000" bIns="0" rtlCol="0" anchor="t" anchorCtr="0">
              <a:noAutofit/>
            </a:bodyPr>
            <a:lstStyle/>
            <a:p>
              <a:pPr>
                <a:lnSpc>
                  <a:spcPts val="1200"/>
                </a:lnSpc>
                <a:spcBef>
                  <a:spcPts val="0"/>
                </a:spcBef>
                <a:buSzPct val="100000"/>
              </a:pPr>
              <a:r>
                <a:rPr lang="en-US" sz="1000" dirty="0">
                  <a:solidFill>
                    <a:srgbClr val="313131"/>
                  </a:solidFill>
                </a:rPr>
                <a:t>Jetty development</a:t>
              </a:r>
            </a:p>
          </p:txBody>
        </p:sp>
        <p:sp>
          <p:nvSpPr>
            <p:cNvPr id="146" name="TextBox 145"/>
            <p:cNvSpPr txBox="1">
              <a:spLocks noChangeAspect="1"/>
            </p:cNvSpPr>
            <p:nvPr/>
          </p:nvSpPr>
          <p:spPr>
            <a:xfrm>
              <a:off x="9130352" y="4350539"/>
              <a:ext cx="1146412" cy="769442"/>
            </a:xfrm>
            <a:prstGeom prst="rect">
              <a:avLst/>
            </a:prstGeom>
            <a:noFill/>
            <a:ln>
              <a:noFill/>
            </a:ln>
          </p:spPr>
          <p:txBody>
            <a:bodyPr wrap="square" lIns="36000" tIns="0" rIns="36000" bIns="0" rtlCol="0" anchor="t" anchorCtr="0">
              <a:noAutofit/>
            </a:bodyPr>
            <a:lstStyle/>
            <a:p>
              <a:r>
                <a:rPr lang="en-IN" sz="1000" dirty="0"/>
                <a:t>Increase in helipad development</a:t>
              </a:r>
              <a:endParaRPr lang="en-IN" sz="1000" b="1" dirty="0"/>
            </a:p>
          </p:txBody>
        </p:sp>
        <p:sp>
          <p:nvSpPr>
            <p:cNvPr id="147" name="TextBox 146"/>
            <p:cNvSpPr txBox="1">
              <a:spLocks noChangeAspect="1"/>
            </p:cNvSpPr>
            <p:nvPr/>
          </p:nvSpPr>
          <p:spPr>
            <a:xfrm>
              <a:off x="10298882" y="4363834"/>
              <a:ext cx="1093095" cy="769442"/>
            </a:xfrm>
            <a:prstGeom prst="rect">
              <a:avLst/>
            </a:prstGeom>
            <a:noFill/>
            <a:ln>
              <a:noFill/>
            </a:ln>
          </p:spPr>
          <p:txBody>
            <a:bodyPr wrap="square" lIns="36000" tIns="0" rIns="36000" bIns="0" rtlCol="0" anchor="t" anchorCtr="0">
              <a:noAutofit/>
            </a:bodyPr>
            <a:lstStyle/>
            <a:p>
              <a:r>
                <a:rPr lang="en-IN" sz="1000" dirty="0"/>
                <a:t>Increase in construction of ships, safer boats</a:t>
              </a:r>
              <a:endParaRPr lang="en-IN" sz="1000" b="1" dirty="0"/>
            </a:p>
          </p:txBody>
        </p:sp>
        <p:sp>
          <p:nvSpPr>
            <p:cNvPr id="148" name="Oval 147"/>
            <p:cNvSpPr>
              <a:spLocks noChangeArrowheads="1"/>
            </p:cNvSpPr>
            <p:nvPr/>
          </p:nvSpPr>
          <p:spPr bwMode="auto">
            <a:xfrm>
              <a:off x="4012467" y="2610689"/>
              <a:ext cx="248400" cy="248400"/>
            </a:xfrm>
            <a:prstGeom prst="ellipse">
              <a:avLst/>
            </a:prstGeom>
            <a:solidFill>
              <a:srgbClr val="009A44"/>
            </a:solidFill>
            <a:ln w="6350">
              <a:noFill/>
              <a:round/>
              <a:headEnd/>
              <a:tailEnd/>
            </a:ln>
          </p:spPr>
          <p:txBody>
            <a:bodyPr wrap="none" anchor="ctr"/>
            <a:lstStyle/>
            <a:p>
              <a:pPr algn="ctr">
                <a:defRPr/>
              </a:pPr>
              <a:endParaRPr lang="en-US" sz="900" dirty="0"/>
            </a:p>
          </p:txBody>
        </p:sp>
        <p:sp>
          <p:nvSpPr>
            <p:cNvPr id="149" name="Oval 148"/>
            <p:cNvSpPr>
              <a:spLocks noChangeArrowheads="1"/>
            </p:cNvSpPr>
            <p:nvPr/>
          </p:nvSpPr>
          <p:spPr bwMode="auto">
            <a:xfrm>
              <a:off x="4292385" y="2602267"/>
              <a:ext cx="248400" cy="248400"/>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50" name="Oval 149"/>
            <p:cNvSpPr>
              <a:spLocks noChangeArrowheads="1"/>
            </p:cNvSpPr>
            <p:nvPr/>
          </p:nvSpPr>
          <p:spPr bwMode="auto">
            <a:xfrm>
              <a:off x="4298174" y="2356815"/>
              <a:ext cx="248400" cy="248400"/>
            </a:xfrm>
            <a:prstGeom prst="ellipse">
              <a:avLst/>
            </a:prstGeom>
            <a:solidFill>
              <a:srgbClr val="FFCD00"/>
            </a:solidFill>
            <a:ln w="6350">
              <a:noFill/>
              <a:round/>
              <a:headEnd/>
              <a:tailEnd/>
            </a:ln>
          </p:spPr>
          <p:txBody>
            <a:bodyPr wrap="none" anchor="ctr"/>
            <a:lstStyle/>
            <a:p>
              <a:pPr algn="ctr">
                <a:defRPr/>
              </a:pPr>
              <a:endParaRPr lang="en-US" sz="900" dirty="0"/>
            </a:p>
          </p:txBody>
        </p:sp>
        <p:sp>
          <p:nvSpPr>
            <p:cNvPr id="151" name="Oval 150"/>
            <p:cNvSpPr>
              <a:spLocks noChangeArrowheads="1"/>
            </p:cNvSpPr>
            <p:nvPr/>
          </p:nvSpPr>
          <p:spPr bwMode="auto">
            <a:xfrm>
              <a:off x="4008123" y="2356853"/>
              <a:ext cx="248400" cy="248400"/>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52" name="Oval 151"/>
            <p:cNvSpPr>
              <a:spLocks noChangeArrowheads="1"/>
            </p:cNvSpPr>
            <p:nvPr/>
          </p:nvSpPr>
          <p:spPr bwMode="auto">
            <a:xfrm>
              <a:off x="4887296" y="2622811"/>
              <a:ext cx="248400" cy="248400"/>
            </a:xfrm>
            <a:prstGeom prst="ellipse">
              <a:avLst/>
            </a:prstGeom>
            <a:solidFill>
              <a:srgbClr val="009A44"/>
            </a:solidFill>
            <a:ln w="6350">
              <a:noFill/>
              <a:round/>
              <a:headEnd/>
              <a:tailEnd/>
            </a:ln>
          </p:spPr>
          <p:txBody>
            <a:bodyPr wrap="none" anchor="ctr"/>
            <a:lstStyle/>
            <a:p>
              <a:pPr algn="ctr">
                <a:defRPr/>
              </a:pPr>
              <a:endParaRPr lang="en-US" sz="900" dirty="0"/>
            </a:p>
          </p:txBody>
        </p:sp>
        <p:sp>
          <p:nvSpPr>
            <p:cNvPr id="153" name="Oval 152"/>
            <p:cNvSpPr>
              <a:spLocks noChangeArrowheads="1"/>
            </p:cNvSpPr>
            <p:nvPr/>
          </p:nvSpPr>
          <p:spPr bwMode="auto">
            <a:xfrm>
              <a:off x="5152691" y="2615412"/>
              <a:ext cx="248400" cy="248400"/>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54" name="Oval 153"/>
            <p:cNvSpPr>
              <a:spLocks noChangeArrowheads="1"/>
            </p:cNvSpPr>
            <p:nvPr/>
          </p:nvSpPr>
          <p:spPr bwMode="auto">
            <a:xfrm>
              <a:off x="5158227" y="2356929"/>
              <a:ext cx="248400" cy="248400"/>
            </a:xfrm>
            <a:prstGeom prst="ellipse">
              <a:avLst/>
            </a:prstGeom>
            <a:solidFill>
              <a:srgbClr val="FFCD00"/>
            </a:solidFill>
            <a:ln w="6350">
              <a:noFill/>
              <a:round/>
              <a:headEnd/>
              <a:tailEnd/>
            </a:ln>
          </p:spPr>
          <p:txBody>
            <a:bodyPr wrap="none" anchor="ctr"/>
            <a:lstStyle/>
            <a:p>
              <a:pPr algn="ctr">
                <a:defRPr/>
              </a:pPr>
              <a:endParaRPr lang="en-US" sz="900" dirty="0"/>
            </a:p>
          </p:txBody>
        </p:sp>
        <p:sp>
          <p:nvSpPr>
            <p:cNvPr id="155" name="Oval 154"/>
            <p:cNvSpPr>
              <a:spLocks noChangeArrowheads="1"/>
            </p:cNvSpPr>
            <p:nvPr/>
          </p:nvSpPr>
          <p:spPr bwMode="auto">
            <a:xfrm>
              <a:off x="4882346" y="2356891"/>
              <a:ext cx="248400" cy="248400"/>
            </a:xfrm>
            <a:prstGeom prst="ellipse">
              <a:avLst/>
            </a:prstGeom>
            <a:solidFill>
              <a:schemeClr val="accent1"/>
            </a:solidFill>
            <a:ln w="6350">
              <a:noFill/>
              <a:round/>
              <a:headEnd/>
              <a:tailEnd/>
            </a:ln>
          </p:spPr>
          <p:txBody>
            <a:bodyPr wrap="none" anchor="ctr"/>
            <a:lstStyle/>
            <a:p>
              <a:pPr algn="ctr">
                <a:defRPr/>
              </a:pPr>
              <a:endParaRPr lang="en-US" sz="900" dirty="0"/>
            </a:p>
          </p:txBody>
        </p:sp>
        <p:sp>
          <p:nvSpPr>
            <p:cNvPr id="156" name="Oval 155"/>
            <p:cNvSpPr>
              <a:spLocks noChangeArrowheads="1"/>
            </p:cNvSpPr>
            <p:nvPr/>
          </p:nvSpPr>
          <p:spPr bwMode="auto">
            <a:xfrm>
              <a:off x="8063598" y="2629349"/>
              <a:ext cx="248400" cy="248400"/>
            </a:xfrm>
            <a:prstGeom prst="ellipse">
              <a:avLst/>
            </a:prstGeom>
            <a:solidFill>
              <a:srgbClr val="009A44"/>
            </a:solidFill>
            <a:ln w="6350">
              <a:noFill/>
              <a:round/>
              <a:headEnd/>
              <a:tailEnd/>
            </a:ln>
          </p:spPr>
          <p:txBody>
            <a:bodyPr wrap="none" anchor="ctr"/>
            <a:lstStyle/>
            <a:p>
              <a:pPr algn="ctr">
                <a:defRPr/>
              </a:pPr>
              <a:endParaRPr lang="en-US" sz="900" dirty="0"/>
            </a:p>
          </p:txBody>
        </p:sp>
        <p:sp>
          <p:nvSpPr>
            <p:cNvPr id="157" name="Oval 156"/>
            <p:cNvSpPr>
              <a:spLocks noChangeArrowheads="1"/>
            </p:cNvSpPr>
            <p:nvPr/>
          </p:nvSpPr>
          <p:spPr bwMode="auto">
            <a:xfrm>
              <a:off x="8312168" y="2363296"/>
              <a:ext cx="248400" cy="248400"/>
            </a:xfrm>
            <a:prstGeom prst="ellipse">
              <a:avLst/>
            </a:prstGeom>
            <a:solidFill>
              <a:srgbClr val="ED8B00"/>
            </a:solidFill>
            <a:ln w="6350">
              <a:noFill/>
              <a:round/>
              <a:headEnd/>
              <a:tailEnd/>
            </a:ln>
          </p:spPr>
          <p:txBody>
            <a:bodyPr wrap="none" anchor="ctr"/>
            <a:lstStyle/>
            <a:p>
              <a:pPr algn="ctr">
                <a:defRPr/>
              </a:pPr>
              <a:endParaRPr lang="en-US" sz="900" dirty="0"/>
            </a:p>
          </p:txBody>
        </p:sp>
        <p:sp>
          <p:nvSpPr>
            <p:cNvPr id="158" name="Oval 157"/>
            <p:cNvSpPr>
              <a:spLocks noChangeArrowheads="1"/>
            </p:cNvSpPr>
            <p:nvPr/>
          </p:nvSpPr>
          <p:spPr bwMode="auto">
            <a:xfrm>
              <a:off x="8055275" y="2363496"/>
              <a:ext cx="248400" cy="248400"/>
            </a:xfrm>
            <a:prstGeom prst="ellipse">
              <a:avLst/>
            </a:prstGeom>
            <a:solidFill>
              <a:srgbClr val="FFCD00"/>
            </a:solidFill>
            <a:ln w="6350">
              <a:noFill/>
              <a:round/>
              <a:headEnd/>
              <a:tailEnd/>
            </a:ln>
          </p:spPr>
          <p:txBody>
            <a:bodyPr wrap="none" anchor="ctr"/>
            <a:lstStyle/>
            <a:p>
              <a:pPr algn="ctr">
                <a:defRPr/>
              </a:pPr>
              <a:endParaRPr lang="en-US" sz="900" dirty="0"/>
            </a:p>
          </p:txBody>
        </p:sp>
        <p:sp>
          <p:nvSpPr>
            <p:cNvPr id="159" name="Oval 158"/>
            <p:cNvSpPr>
              <a:spLocks noChangeArrowheads="1"/>
            </p:cNvSpPr>
            <p:nvPr/>
          </p:nvSpPr>
          <p:spPr bwMode="auto">
            <a:xfrm>
              <a:off x="9788969" y="2352262"/>
              <a:ext cx="248400" cy="248400"/>
            </a:xfrm>
            <a:prstGeom prst="ellipse">
              <a:avLst/>
            </a:prstGeom>
            <a:solidFill>
              <a:srgbClr val="FFFF00"/>
            </a:solidFill>
            <a:ln w="6350">
              <a:noFill/>
              <a:round/>
              <a:headEnd/>
              <a:tailEnd/>
            </a:ln>
          </p:spPr>
          <p:txBody>
            <a:bodyPr wrap="none" anchor="ctr"/>
            <a:lstStyle/>
            <a:p>
              <a:pPr algn="ctr">
                <a:defRPr/>
              </a:pPr>
              <a:endParaRPr lang="en-US" sz="900" dirty="0"/>
            </a:p>
          </p:txBody>
        </p:sp>
      </p:grpSp>
      <p:sp>
        <p:nvSpPr>
          <p:cNvPr id="81"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82"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Work Package-II: State Energy Database Preparation- An illustration of framework development of the database for transport sector </a:t>
            </a:r>
          </a:p>
        </p:txBody>
      </p:sp>
    </p:spTree>
    <p:extLst>
      <p:ext uri="{BB962C8B-B14F-4D97-AF65-F5344CB8AC3E}">
        <p14:creationId xmlns:p14="http://schemas.microsoft.com/office/powerpoint/2010/main" val="89360143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460672" y="2047259"/>
            <a:ext cx="1336316" cy="697370"/>
          </a:xfrm>
          <a:prstGeom prst="rect">
            <a:avLst/>
          </a:prstGeom>
        </p:spPr>
        <p:txBody>
          <a:bodyPr wrap="square" lIns="0" tIns="0" rIns="0" bIns="0">
            <a:spAutoFit/>
          </a:bodyPr>
          <a:lstStyle/>
          <a:p>
            <a:pPr defTabSz="647015"/>
            <a:r>
              <a:rPr lang="en-US" sz="1133" b="1" dirty="0">
                <a:solidFill>
                  <a:srgbClr val="012169"/>
                </a:solidFill>
                <a:latin typeface="Verdana"/>
              </a:rPr>
              <a:t>Systemic Review of Existing Policies / Schemes</a:t>
            </a:r>
          </a:p>
        </p:txBody>
      </p:sp>
      <p:sp>
        <p:nvSpPr>
          <p:cNvPr id="8" name="TextBox 7"/>
          <p:cNvSpPr txBox="1"/>
          <p:nvPr/>
        </p:nvSpPr>
        <p:spPr>
          <a:xfrm>
            <a:off x="1693998" y="1576608"/>
            <a:ext cx="273456" cy="487074"/>
          </a:xfrm>
          <a:prstGeom prst="rect">
            <a:avLst/>
          </a:prstGeom>
          <a:noFill/>
        </p:spPr>
        <p:txBody>
          <a:bodyPr wrap="square" lIns="25472" tIns="25472" rIns="25472" bIns="25472" rtlCol="0">
            <a:spAutoFit/>
          </a:bodyPr>
          <a:lstStyle/>
          <a:p>
            <a:pPr defTabSz="647015"/>
            <a:r>
              <a:rPr lang="en-US" sz="2831" b="1" dirty="0">
                <a:solidFill>
                  <a:srgbClr val="012169"/>
                </a:solidFill>
                <a:latin typeface="Verdana"/>
              </a:rPr>
              <a:t>1</a:t>
            </a:r>
          </a:p>
        </p:txBody>
      </p:sp>
      <p:sp>
        <p:nvSpPr>
          <p:cNvPr id="9" name="Rectangle 8"/>
          <p:cNvSpPr/>
          <p:nvPr/>
        </p:nvSpPr>
        <p:spPr>
          <a:xfrm>
            <a:off x="3576616" y="2047258"/>
            <a:ext cx="1326253" cy="523028"/>
          </a:xfrm>
          <a:prstGeom prst="rect">
            <a:avLst/>
          </a:prstGeom>
        </p:spPr>
        <p:txBody>
          <a:bodyPr wrap="square" lIns="0" tIns="0" rIns="0" bIns="0">
            <a:spAutoFit/>
          </a:bodyPr>
          <a:lstStyle/>
          <a:p>
            <a:pPr defTabSz="647015"/>
            <a:r>
              <a:rPr lang="en-US" sz="1133" b="1" dirty="0">
                <a:solidFill>
                  <a:srgbClr val="2C5234"/>
                </a:solidFill>
                <a:latin typeface="Verdana"/>
              </a:rPr>
              <a:t>Preparation of Responsibility Matrix</a:t>
            </a:r>
          </a:p>
        </p:txBody>
      </p:sp>
      <p:sp>
        <p:nvSpPr>
          <p:cNvPr id="10" name="Rectangle 9"/>
          <p:cNvSpPr/>
          <p:nvPr/>
        </p:nvSpPr>
        <p:spPr>
          <a:xfrm>
            <a:off x="5889290" y="2078068"/>
            <a:ext cx="1237114" cy="697370"/>
          </a:xfrm>
          <a:prstGeom prst="rect">
            <a:avLst/>
          </a:prstGeom>
        </p:spPr>
        <p:txBody>
          <a:bodyPr wrap="square" lIns="0" tIns="0" rIns="0" bIns="0">
            <a:spAutoFit/>
          </a:bodyPr>
          <a:lstStyle/>
          <a:p>
            <a:pPr defTabSz="647015"/>
            <a:r>
              <a:rPr lang="en-US" sz="1133" b="1" dirty="0">
                <a:solidFill>
                  <a:srgbClr val="012169"/>
                </a:solidFill>
              </a:rPr>
              <a:t>Energy Profiling of State</a:t>
            </a:r>
          </a:p>
          <a:p>
            <a:pPr defTabSz="647015"/>
            <a:r>
              <a:rPr lang="en-US" sz="1133" b="1" dirty="0">
                <a:solidFill>
                  <a:srgbClr val="0097A9"/>
                </a:solidFill>
                <a:latin typeface="Verdana"/>
              </a:rPr>
              <a:t> </a:t>
            </a:r>
          </a:p>
        </p:txBody>
      </p:sp>
      <p:sp>
        <p:nvSpPr>
          <p:cNvPr id="11" name="TextBox 10"/>
          <p:cNvSpPr txBox="1"/>
          <p:nvPr/>
        </p:nvSpPr>
        <p:spPr>
          <a:xfrm>
            <a:off x="3767351" y="1576608"/>
            <a:ext cx="273456" cy="487074"/>
          </a:xfrm>
          <a:prstGeom prst="rect">
            <a:avLst/>
          </a:prstGeom>
          <a:noFill/>
        </p:spPr>
        <p:txBody>
          <a:bodyPr wrap="square" lIns="25472" tIns="25472" rIns="25472" bIns="25472" rtlCol="0">
            <a:spAutoFit/>
          </a:bodyPr>
          <a:lstStyle/>
          <a:p>
            <a:pPr defTabSz="647015"/>
            <a:r>
              <a:rPr lang="en-US" sz="2831" b="1" dirty="0">
                <a:solidFill>
                  <a:srgbClr val="2C5234"/>
                </a:solidFill>
                <a:latin typeface="Verdana"/>
              </a:rPr>
              <a:t>2</a:t>
            </a:r>
          </a:p>
        </p:txBody>
      </p:sp>
      <p:sp>
        <p:nvSpPr>
          <p:cNvPr id="12" name="TextBox 11"/>
          <p:cNvSpPr txBox="1"/>
          <p:nvPr/>
        </p:nvSpPr>
        <p:spPr>
          <a:xfrm>
            <a:off x="6171747" y="1576608"/>
            <a:ext cx="273456" cy="487074"/>
          </a:xfrm>
          <a:prstGeom prst="rect">
            <a:avLst/>
          </a:prstGeom>
          <a:noFill/>
        </p:spPr>
        <p:txBody>
          <a:bodyPr wrap="square" lIns="25472" tIns="25472" rIns="25472" bIns="25472" rtlCol="0">
            <a:spAutoFit/>
          </a:bodyPr>
          <a:lstStyle/>
          <a:p>
            <a:pPr defTabSz="647015"/>
            <a:r>
              <a:rPr lang="en-US" sz="2831" b="1" dirty="0">
                <a:solidFill>
                  <a:srgbClr val="0097A9"/>
                </a:solidFill>
                <a:latin typeface="Verdana"/>
              </a:rPr>
              <a:t>3</a:t>
            </a:r>
          </a:p>
        </p:txBody>
      </p:sp>
      <p:sp>
        <p:nvSpPr>
          <p:cNvPr id="13" name="Diagonal Stripe 12"/>
          <p:cNvSpPr/>
          <p:nvPr/>
        </p:nvSpPr>
        <p:spPr>
          <a:xfrm>
            <a:off x="894414" y="1917986"/>
            <a:ext cx="601566" cy="551622"/>
          </a:xfrm>
          <a:prstGeom prst="diagStripe">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4699" tIns="64699" rIns="64699" bIns="64699" rtlCol="0" anchor="ctr">
            <a:noAutofit/>
          </a:bodyPr>
          <a:lstStyle/>
          <a:p>
            <a:pPr algn="ctr" defTabSz="647015"/>
            <a:endParaRPr lang="en-US" sz="990" err="1">
              <a:solidFill>
                <a:srgbClr val="44546A"/>
              </a:solidFill>
              <a:latin typeface="Verdana"/>
            </a:endParaRPr>
          </a:p>
        </p:txBody>
      </p:sp>
      <p:sp>
        <p:nvSpPr>
          <p:cNvPr id="14" name="Diagonal Stripe 13"/>
          <p:cNvSpPr/>
          <p:nvPr/>
        </p:nvSpPr>
        <p:spPr>
          <a:xfrm flipV="1">
            <a:off x="894414" y="1329889"/>
            <a:ext cx="601566" cy="551622"/>
          </a:xfrm>
          <a:prstGeom prst="diagStripe">
            <a:avLst/>
          </a:pr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4699" tIns="64699" rIns="64699" bIns="64699" rtlCol="0" anchor="ctr">
            <a:noAutofit/>
          </a:bodyPr>
          <a:lstStyle/>
          <a:p>
            <a:pPr algn="ctr" defTabSz="647015"/>
            <a:endParaRPr lang="en-US" sz="990" err="1">
              <a:solidFill>
                <a:srgbClr val="44546A"/>
              </a:solidFill>
              <a:latin typeface="Verdana"/>
            </a:endParaRPr>
          </a:p>
        </p:txBody>
      </p:sp>
      <p:sp>
        <p:nvSpPr>
          <p:cNvPr id="15" name="Diagonal Stripe 14"/>
          <p:cNvSpPr/>
          <p:nvPr/>
        </p:nvSpPr>
        <p:spPr>
          <a:xfrm>
            <a:off x="5334624" y="1917986"/>
            <a:ext cx="601566" cy="551622"/>
          </a:xfrm>
          <a:prstGeom prst="diagStripe">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4699" tIns="64699" rIns="64699" bIns="64699" rtlCol="0" anchor="ctr">
            <a:noAutofit/>
          </a:bodyPr>
          <a:lstStyle/>
          <a:p>
            <a:pPr algn="ctr" defTabSz="647015"/>
            <a:endParaRPr lang="en-US" sz="990" err="1">
              <a:solidFill>
                <a:srgbClr val="44546A"/>
              </a:solidFill>
              <a:latin typeface="Verdana"/>
            </a:endParaRPr>
          </a:p>
        </p:txBody>
      </p:sp>
      <p:sp>
        <p:nvSpPr>
          <p:cNvPr id="16" name="Diagonal Stripe 15"/>
          <p:cNvSpPr/>
          <p:nvPr/>
        </p:nvSpPr>
        <p:spPr>
          <a:xfrm flipV="1">
            <a:off x="5334624" y="1329889"/>
            <a:ext cx="601566" cy="551622"/>
          </a:xfrm>
          <a:prstGeom prst="diagStripe">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4699" tIns="64699" rIns="64699" bIns="64699" rtlCol="0" anchor="ctr">
            <a:noAutofit/>
          </a:bodyPr>
          <a:lstStyle/>
          <a:p>
            <a:pPr algn="ctr" defTabSz="647015"/>
            <a:endParaRPr lang="en-US" sz="990" err="1">
              <a:solidFill>
                <a:srgbClr val="44546A"/>
              </a:solidFill>
              <a:latin typeface="Verdana"/>
            </a:endParaRPr>
          </a:p>
        </p:txBody>
      </p:sp>
      <p:sp>
        <p:nvSpPr>
          <p:cNvPr id="17" name="Diagonal Stripe 16"/>
          <p:cNvSpPr/>
          <p:nvPr/>
        </p:nvSpPr>
        <p:spPr>
          <a:xfrm>
            <a:off x="3001825" y="1917986"/>
            <a:ext cx="601566" cy="551622"/>
          </a:xfrm>
          <a:prstGeom prst="diagStripe">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4699" tIns="64699" rIns="64699" bIns="64699" rtlCol="0" anchor="ctr">
            <a:noAutofit/>
          </a:bodyPr>
          <a:lstStyle/>
          <a:p>
            <a:pPr algn="ctr" defTabSz="647015"/>
            <a:endParaRPr lang="en-US" sz="990" err="1">
              <a:solidFill>
                <a:srgbClr val="44546A"/>
              </a:solidFill>
              <a:latin typeface="Verdana"/>
            </a:endParaRPr>
          </a:p>
        </p:txBody>
      </p:sp>
      <p:sp>
        <p:nvSpPr>
          <p:cNvPr id="18" name="Diagonal Stripe 17"/>
          <p:cNvSpPr/>
          <p:nvPr/>
        </p:nvSpPr>
        <p:spPr>
          <a:xfrm flipV="1">
            <a:off x="3001823" y="1329889"/>
            <a:ext cx="601566" cy="551622"/>
          </a:xfrm>
          <a:prstGeom prst="diagStrip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4699" tIns="64699" rIns="64699" bIns="64699" rtlCol="0" anchor="ctr">
            <a:noAutofit/>
          </a:bodyPr>
          <a:lstStyle/>
          <a:p>
            <a:pPr algn="ctr" defTabSz="647015"/>
            <a:endParaRPr lang="en-US" sz="990" err="1">
              <a:solidFill>
                <a:srgbClr val="44546A"/>
              </a:solidFill>
              <a:latin typeface="Verdana"/>
            </a:endParaRPr>
          </a:p>
        </p:txBody>
      </p:sp>
      <p:sp>
        <p:nvSpPr>
          <p:cNvPr id="19" name="Rectangle 18"/>
          <p:cNvSpPr/>
          <p:nvPr/>
        </p:nvSpPr>
        <p:spPr>
          <a:xfrm>
            <a:off x="8112823" y="2078069"/>
            <a:ext cx="1848285" cy="697370"/>
          </a:xfrm>
          <a:prstGeom prst="rect">
            <a:avLst/>
          </a:prstGeom>
        </p:spPr>
        <p:txBody>
          <a:bodyPr wrap="square" lIns="0" tIns="0" rIns="0" bIns="0">
            <a:spAutoFit/>
          </a:bodyPr>
          <a:lstStyle/>
          <a:p>
            <a:pPr defTabSz="647015"/>
            <a:r>
              <a:rPr lang="en-US" sz="1133" b="1" dirty="0">
                <a:latin typeface="Verdana"/>
              </a:rPr>
              <a:t>Baseline Assessment – Preparation of Base Year Energy Balance Sheet</a:t>
            </a:r>
          </a:p>
        </p:txBody>
      </p:sp>
      <p:sp>
        <p:nvSpPr>
          <p:cNvPr id="20" name="TextBox 19"/>
          <p:cNvSpPr txBox="1"/>
          <p:nvPr/>
        </p:nvSpPr>
        <p:spPr>
          <a:xfrm>
            <a:off x="8407830" y="1576608"/>
            <a:ext cx="273456" cy="487074"/>
          </a:xfrm>
          <a:prstGeom prst="rect">
            <a:avLst/>
          </a:prstGeom>
          <a:noFill/>
        </p:spPr>
        <p:txBody>
          <a:bodyPr wrap="square" lIns="25472" tIns="25472" rIns="25472" bIns="25472" rtlCol="0">
            <a:spAutoFit/>
          </a:bodyPr>
          <a:lstStyle/>
          <a:p>
            <a:pPr defTabSz="647015"/>
            <a:r>
              <a:rPr lang="en-US" sz="2831" b="1" dirty="0">
                <a:latin typeface="Verdana"/>
              </a:rPr>
              <a:t>4</a:t>
            </a:r>
          </a:p>
        </p:txBody>
      </p:sp>
      <p:sp>
        <p:nvSpPr>
          <p:cNvPr id="21" name="Diagonal Stripe 20"/>
          <p:cNvSpPr/>
          <p:nvPr/>
        </p:nvSpPr>
        <p:spPr>
          <a:xfrm>
            <a:off x="7600975" y="1917986"/>
            <a:ext cx="601566" cy="551622"/>
          </a:xfrm>
          <a:prstGeom prst="diagStrip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4699" tIns="64699" rIns="64699" bIns="64699" rtlCol="0" anchor="ctr">
            <a:noAutofit/>
          </a:bodyPr>
          <a:lstStyle/>
          <a:p>
            <a:pPr algn="ctr" defTabSz="647015"/>
            <a:endParaRPr lang="en-US" sz="990" err="1">
              <a:solidFill>
                <a:srgbClr val="44546A"/>
              </a:solidFill>
              <a:latin typeface="Verdana"/>
            </a:endParaRPr>
          </a:p>
        </p:txBody>
      </p:sp>
      <p:sp>
        <p:nvSpPr>
          <p:cNvPr id="22" name="Diagonal Stripe 21"/>
          <p:cNvSpPr/>
          <p:nvPr/>
        </p:nvSpPr>
        <p:spPr>
          <a:xfrm flipV="1">
            <a:off x="7600975" y="1329887"/>
            <a:ext cx="601566" cy="551622"/>
          </a:xfrm>
          <a:prstGeom prst="diagStripe">
            <a:avLst/>
          </a:prstGeom>
          <a:solidFill>
            <a:schemeClr val="bg1">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4699" tIns="64699" rIns="64699" bIns="64699" rtlCol="0" anchor="ctr">
            <a:noAutofit/>
          </a:bodyPr>
          <a:lstStyle/>
          <a:p>
            <a:pPr algn="ctr" defTabSz="647015"/>
            <a:endParaRPr lang="en-US" sz="990" err="1">
              <a:solidFill>
                <a:srgbClr val="44546A"/>
              </a:solidFill>
              <a:latin typeface="Verdana"/>
            </a:endParaRPr>
          </a:p>
        </p:txBody>
      </p:sp>
      <p:cxnSp>
        <p:nvCxnSpPr>
          <p:cNvPr id="24" name="Straight Connector 23"/>
          <p:cNvCxnSpPr/>
          <p:nvPr/>
        </p:nvCxnSpPr>
        <p:spPr>
          <a:xfrm>
            <a:off x="2797963" y="1264395"/>
            <a:ext cx="28049" cy="3022695"/>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7431624" y="1264395"/>
            <a:ext cx="28049" cy="3022695"/>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26592" y="2878434"/>
            <a:ext cx="1971371" cy="1220399"/>
          </a:xfrm>
          <a:prstGeom prst="rect">
            <a:avLst/>
          </a:prstGeom>
          <a:noFill/>
        </p:spPr>
        <p:txBody>
          <a:bodyPr wrap="square" lIns="0" tIns="0" rIns="0" bIns="0" rtlCol="0">
            <a:spAutoFit/>
          </a:bodyPr>
          <a:lstStyle/>
          <a:p>
            <a:pPr marL="161753" indent="-161753">
              <a:spcBef>
                <a:spcPts val="566"/>
              </a:spcBef>
              <a:buSzPct val="100000"/>
              <a:buFont typeface="Arial" panose="020B0604020202020204" pitchFamily="34" charset="0"/>
              <a:buChar char="•"/>
            </a:pPr>
            <a:r>
              <a:rPr lang="en-US" sz="1133" dirty="0">
                <a:solidFill>
                  <a:srgbClr val="313131"/>
                </a:solidFill>
              </a:rPr>
              <a:t>Mapping of Global goals (SDGs &amp; INDCs), National-level policies and their interconnectedness with State Policies, Schemes and Action Plans</a:t>
            </a:r>
            <a:r>
              <a:rPr lang="en-US" sz="1133" baseline="30000" dirty="0">
                <a:solidFill>
                  <a:srgbClr val="313131"/>
                </a:solidFill>
              </a:rPr>
              <a:t>1</a:t>
            </a:r>
            <a:endParaRPr lang="en-IN" sz="1133" baseline="30000" dirty="0">
              <a:solidFill>
                <a:srgbClr val="313131"/>
              </a:solidFill>
            </a:endParaRPr>
          </a:p>
        </p:txBody>
      </p:sp>
      <p:sp>
        <p:nvSpPr>
          <p:cNvPr id="29" name="TextBox 28"/>
          <p:cNvSpPr txBox="1"/>
          <p:nvPr/>
        </p:nvSpPr>
        <p:spPr>
          <a:xfrm>
            <a:off x="2920659" y="2878434"/>
            <a:ext cx="2106460" cy="1471685"/>
          </a:xfrm>
          <a:prstGeom prst="rect">
            <a:avLst/>
          </a:prstGeom>
          <a:noFill/>
        </p:spPr>
        <p:txBody>
          <a:bodyPr wrap="square" lIns="0" tIns="0" rIns="0" bIns="0" rtlCol="0">
            <a:spAutoFit/>
          </a:bodyPr>
          <a:lstStyle/>
          <a:p>
            <a:pPr marL="161753" indent="-161753">
              <a:spcBef>
                <a:spcPts val="566"/>
              </a:spcBef>
              <a:buSzPct val="100000"/>
              <a:buFont typeface="Arial" panose="020B0604020202020204" pitchFamily="34" charset="0"/>
              <a:buChar char="•"/>
            </a:pPr>
            <a:r>
              <a:rPr lang="en-US" sz="1133" dirty="0">
                <a:solidFill>
                  <a:srgbClr val="313131"/>
                </a:solidFill>
              </a:rPr>
              <a:t>Consultation with nodal departments responsible for implementing flagship schemes /interventions of </a:t>
            </a:r>
            <a:r>
              <a:rPr lang="en-US" sz="1133" dirty="0" err="1">
                <a:solidFill>
                  <a:srgbClr val="313131"/>
                </a:solidFill>
              </a:rPr>
              <a:t>GoWB</a:t>
            </a:r>
            <a:r>
              <a:rPr lang="en-US" sz="1133" dirty="0">
                <a:solidFill>
                  <a:srgbClr val="313131"/>
                </a:solidFill>
              </a:rPr>
              <a:t> </a:t>
            </a:r>
          </a:p>
          <a:p>
            <a:pPr marL="161753" indent="-161753">
              <a:spcBef>
                <a:spcPts val="566"/>
              </a:spcBef>
              <a:buSzPct val="100000"/>
              <a:buFont typeface="Arial" panose="020B0604020202020204" pitchFamily="34" charset="0"/>
              <a:buChar char="•"/>
            </a:pPr>
            <a:r>
              <a:rPr lang="en-US" sz="1133" dirty="0">
                <a:solidFill>
                  <a:srgbClr val="313131"/>
                </a:solidFill>
              </a:rPr>
              <a:t>Identifying departmental linkages and defining roles &amp; responsibilities</a:t>
            </a:r>
            <a:endParaRPr lang="en-IN" sz="1133" dirty="0">
              <a:solidFill>
                <a:srgbClr val="313131"/>
              </a:solidFill>
            </a:endParaRPr>
          </a:p>
        </p:txBody>
      </p:sp>
      <p:sp>
        <p:nvSpPr>
          <p:cNvPr id="30" name="TextBox 29"/>
          <p:cNvSpPr txBox="1"/>
          <p:nvPr/>
        </p:nvSpPr>
        <p:spPr>
          <a:xfrm>
            <a:off x="5292669" y="2878434"/>
            <a:ext cx="2076858" cy="1297343"/>
          </a:xfrm>
          <a:prstGeom prst="rect">
            <a:avLst/>
          </a:prstGeom>
          <a:noFill/>
        </p:spPr>
        <p:txBody>
          <a:bodyPr wrap="square" lIns="0" tIns="0" rIns="0" bIns="0" rtlCol="0">
            <a:spAutoFit/>
          </a:bodyPr>
          <a:lstStyle/>
          <a:p>
            <a:pPr marL="161753" indent="-161753">
              <a:spcBef>
                <a:spcPts val="566"/>
              </a:spcBef>
              <a:buSzPct val="100000"/>
              <a:buFont typeface="Arial" panose="020B0604020202020204" pitchFamily="34" charset="0"/>
              <a:buChar char="•"/>
            </a:pPr>
            <a:r>
              <a:rPr lang="en-US" sz="1133" dirty="0">
                <a:solidFill>
                  <a:srgbClr val="313131"/>
                </a:solidFill>
              </a:rPr>
              <a:t>Preparing the energy flow diagram for the State</a:t>
            </a:r>
          </a:p>
          <a:p>
            <a:pPr marL="161753" indent="-161753">
              <a:spcBef>
                <a:spcPts val="566"/>
              </a:spcBef>
              <a:buSzPct val="100000"/>
              <a:buFont typeface="Arial" panose="020B0604020202020204" pitchFamily="34" charset="0"/>
              <a:buChar char="•"/>
            </a:pPr>
            <a:r>
              <a:rPr lang="en-US" sz="1133" dirty="0">
                <a:solidFill>
                  <a:srgbClr val="313131"/>
                </a:solidFill>
              </a:rPr>
              <a:t>Energy supply, demand and consumption pattern disaggregated across sectors using tree diagrams</a:t>
            </a:r>
            <a:endParaRPr lang="en-IN" sz="1133" dirty="0">
              <a:solidFill>
                <a:srgbClr val="313131"/>
              </a:solidFill>
            </a:endParaRPr>
          </a:p>
        </p:txBody>
      </p:sp>
      <p:sp>
        <p:nvSpPr>
          <p:cNvPr id="31" name="TextBox 30"/>
          <p:cNvSpPr txBox="1"/>
          <p:nvPr/>
        </p:nvSpPr>
        <p:spPr>
          <a:xfrm>
            <a:off x="7538875" y="2878433"/>
            <a:ext cx="2422232" cy="1123000"/>
          </a:xfrm>
          <a:prstGeom prst="rect">
            <a:avLst/>
          </a:prstGeom>
          <a:noFill/>
        </p:spPr>
        <p:txBody>
          <a:bodyPr wrap="square" lIns="0" tIns="0" rIns="0" bIns="0" rtlCol="0">
            <a:spAutoFit/>
          </a:bodyPr>
          <a:lstStyle/>
          <a:p>
            <a:pPr marL="161753" indent="-161753">
              <a:spcBef>
                <a:spcPts val="566"/>
              </a:spcBef>
              <a:buSzPct val="100000"/>
              <a:buFont typeface="Arial" panose="020B0604020202020204" pitchFamily="34" charset="0"/>
              <a:buChar char="•"/>
            </a:pPr>
            <a:r>
              <a:rPr lang="en-US" sz="1133" dirty="0">
                <a:solidFill>
                  <a:srgbClr val="313131"/>
                </a:solidFill>
              </a:rPr>
              <a:t>Setting benchmarks for measuring progress on the energy modelling tool</a:t>
            </a:r>
          </a:p>
          <a:p>
            <a:pPr marL="161753" indent="-161753">
              <a:spcBef>
                <a:spcPts val="566"/>
              </a:spcBef>
              <a:buSzPct val="100000"/>
              <a:buFont typeface="Arial" panose="020B0604020202020204" pitchFamily="34" charset="0"/>
              <a:buChar char="•"/>
            </a:pPr>
            <a:r>
              <a:rPr lang="en-US" sz="1133" dirty="0">
                <a:solidFill>
                  <a:srgbClr val="313131"/>
                </a:solidFill>
              </a:rPr>
              <a:t>Preparing Energy Balance Sheet in the form of a Sankey Diagram</a:t>
            </a:r>
            <a:endParaRPr lang="en-IN" sz="1133" dirty="0">
              <a:solidFill>
                <a:srgbClr val="313131"/>
              </a:solidFill>
            </a:endParaRPr>
          </a:p>
        </p:txBody>
      </p:sp>
      <p:sp>
        <p:nvSpPr>
          <p:cNvPr id="41" name="TextBox 40"/>
          <p:cNvSpPr txBox="1"/>
          <p:nvPr/>
        </p:nvSpPr>
        <p:spPr>
          <a:xfrm>
            <a:off x="826593" y="6544573"/>
            <a:ext cx="9144722" cy="340439"/>
          </a:xfrm>
          <a:prstGeom prst="rect">
            <a:avLst/>
          </a:prstGeom>
          <a:solidFill>
            <a:schemeClr val="accent6">
              <a:lumMod val="75000"/>
            </a:schemeClr>
          </a:solidFill>
        </p:spPr>
        <p:txBody>
          <a:bodyPr wrap="square" lIns="0" tIns="67926" rIns="0" bIns="67926" rtlCol="0">
            <a:spAutoFit/>
          </a:bodyPr>
          <a:lstStyle/>
          <a:p>
            <a:pPr algn="ctr">
              <a:spcBef>
                <a:spcPts val="566"/>
              </a:spcBef>
              <a:spcAft>
                <a:spcPts val="566"/>
              </a:spcAft>
              <a:buSzPct val="100000"/>
            </a:pPr>
            <a:r>
              <a:rPr lang="en-US" sz="1321" b="1" dirty="0">
                <a:solidFill>
                  <a:schemeClr val="bg1"/>
                </a:solidFill>
              </a:rPr>
              <a:t>Deliverable D3: Base Year (2017) Energy Balance Sheet</a:t>
            </a:r>
            <a:endParaRPr lang="en-IN" sz="1321" b="1" dirty="0">
              <a:solidFill>
                <a:schemeClr val="bg1"/>
              </a:solidFill>
            </a:endParaRPr>
          </a:p>
        </p:txBody>
      </p:sp>
      <p:pic>
        <p:nvPicPr>
          <p:cNvPr id="44" name="Picture 43"/>
          <p:cNvPicPr>
            <a:picLocks noChangeAspect="1"/>
          </p:cNvPicPr>
          <p:nvPr/>
        </p:nvPicPr>
        <p:blipFill>
          <a:blip r:embed="rId3"/>
          <a:stretch>
            <a:fillRect/>
          </a:stretch>
        </p:blipFill>
        <p:spPr>
          <a:xfrm>
            <a:off x="5309075" y="4904305"/>
            <a:ext cx="508521" cy="1574976"/>
          </a:xfrm>
          <a:prstGeom prst="rect">
            <a:avLst/>
          </a:prstGeom>
          <a:ln>
            <a:solidFill>
              <a:schemeClr val="accent6"/>
            </a:solidFill>
          </a:ln>
        </p:spPr>
      </p:pic>
      <p:pic>
        <p:nvPicPr>
          <p:cNvPr id="47" name="Picture 46"/>
          <p:cNvPicPr>
            <a:picLocks noChangeAspect="1"/>
          </p:cNvPicPr>
          <p:nvPr/>
        </p:nvPicPr>
        <p:blipFill>
          <a:blip r:embed="rId4"/>
          <a:stretch>
            <a:fillRect/>
          </a:stretch>
        </p:blipFill>
        <p:spPr>
          <a:xfrm>
            <a:off x="7538875" y="4905624"/>
            <a:ext cx="2407490" cy="1588793"/>
          </a:xfrm>
          <a:prstGeom prst="rect">
            <a:avLst/>
          </a:prstGeom>
          <a:ln>
            <a:solidFill>
              <a:schemeClr val="accent6"/>
            </a:solidFill>
          </a:ln>
        </p:spPr>
      </p:pic>
      <p:sp>
        <p:nvSpPr>
          <p:cNvPr id="48" name="Rectangle 47"/>
          <p:cNvSpPr/>
          <p:nvPr/>
        </p:nvSpPr>
        <p:spPr bwMode="gray">
          <a:xfrm rot="5400000">
            <a:off x="2594194" y="3859299"/>
            <a:ext cx="5230282" cy="67321"/>
          </a:xfrm>
          <a:prstGeom prst="rect">
            <a:avLst/>
          </a:prstGeom>
          <a:solidFill>
            <a:schemeClr val="accent6"/>
          </a:solidFill>
          <a:ln w="19050" algn="ctr">
            <a:noFill/>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buFont typeface="Wingdings 2" pitchFamily="18" charset="2"/>
              <a:buNone/>
            </a:pPr>
            <a:endParaRPr lang="en-IN" sz="1133" b="1" dirty="0">
              <a:solidFill>
                <a:schemeClr val="bg1"/>
              </a:solidFill>
            </a:endParaRPr>
          </a:p>
        </p:txBody>
      </p:sp>
      <p:sp>
        <p:nvSpPr>
          <p:cNvPr id="49" name="Rectangle 48"/>
          <p:cNvSpPr/>
          <p:nvPr/>
        </p:nvSpPr>
        <p:spPr bwMode="gray">
          <a:xfrm>
            <a:off x="5296749" y="4557533"/>
            <a:ext cx="4674566" cy="272418"/>
          </a:xfrm>
          <a:prstGeom prst="rect">
            <a:avLst/>
          </a:prstGeom>
          <a:solidFill>
            <a:schemeClr val="tx1"/>
          </a:solidFill>
          <a:ln w="19050" algn="ctr">
            <a:noFill/>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510" b="1" dirty="0">
              <a:solidFill>
                <a:schemeClr val="bg1"/>
              </a:solidFill>
            </a:endParaRPr>
          </a:p>
        </p:txBody>
      </p:sp>
      <p:sp>
        <p:nvSpPr>
          <p:cNvPr id="51" name="TextBox 50"/>
          <p:cNvSpPr txBox="1"/>
          <p:nvPr/>
        </p:nvSpPr>
        <p:spPr>
          <a:xfrm>
            <a:off x="5359454" y="4618070"/>
            <a:ext cx="2025206" cy="130677"/>
          </a:xfrm>
          <a:prstGeom prst="rect">
            <a:avLst/>
          </a:prstGeom>
          <a:noFill/>
        </p:spPr>
        <p:txBody>
          <a:bodyPr wrap="square" lIns="0" tIns="0" rIns="0" bIns="0" rtlCol="0">
            <a:spAutoFit/>
          </a:bodyPr>
          <a:lstStyle/>
          <a:p>
            <a:pPr>
              <a:spcBef>
                <a:spcPts val="566"/>
              </a:spcBef>
              <a:buSzPct val="100000"/>
            </a:pPr>
            <a:r>
              <a:rPr lang="en-US" sz="849" b="1" dirty="0">
                <a:solidFill>
                  <a:schemeClr val="bg1"/>
                </a:solidFill>
              </a:rPr>
              <a:t>Tree Diagram </a:t>
            </a:r>
            <a:endParaRPr lang="en-IN" sz="849" b="1" dirty="0">
              <a:solidFill>
                <a:schemeClr val="bg1"/>
              </a:solidFill>
            </a:endParaRPr>
          </a:p>
        </p:txBody>
      </p:sp>
      <p:sp>
        <p:nvSpPr>
          <p:cNvPr id="52" name="TextBox 51"/>
          <p:cNvSpPr txBox="1"/>
          <p:nvPr/>
        </p:nvSpPr>
        <p:spPr>
          <a:xfrm>
            <a:off x="7592655" y="4628411"/>
            <a:ext cx="2025206" cy="130677"/>
          </a:xfrm>
          <a:prstGeom prst="rect">
            <a:avLst/>
          </a:prstGeom>
          <a:noFill/>
        </p:spPr>
        <p:txBody>
          <a:bodyPr wrap="square" lIns="0" tIns="0" rIns="0" bIns="0" rtlCol="0">
            <a:spAutoFit/>
          </a:bodyPr>
          <a:lstStyle/>
          <a:p>
            <a:pPr>
              <a:spcBef>
                <a:spcPts val="566"/>
              </a:spcBef>
              <a:buSzPct val="100000"/>
            </a:pPr>
            <a:r>
              <a:rPr lang="en-US" sz="849" b="1" dirty="0">
                <a:solidFill>
                  <a:schemeClr val="bg1"/>
                </a:solidFill>
              </a:rPr>
              <a:t>Sankey Diagram</a:t>
            </a:r>
            <a:endParaRPr lang="en-IN" sz="849" b="1" dirty="0">
              <a:solidFill>
                <a:schemeClr val="bg1"/>
              </a:solidFill>
            </a:endParaRPr>
          </a:p>
        </p:txBody>
      </p:sp>
      <p:pic>
        <p:nvPicPr>
          <p:cNvPr id="53" name="Picture 52"/>
          <p:cNvPicPr>
            <a:picLocks noChangeAspect="1"/>
          </p:cNvPicPr>
          <p:nvPr/>
        </p:nvPicPr>
        <p:blipFill>
          <a:blip r:embed="rId5"/>
          <a:stretch>
            <a:fillRect/>
          </a:stretch>
        </p:blipFill>
        <p:spPr>
          <a:xfrm>
            <a:off x="5821577" y="4904305"/>
            <a:ext cx="1622962" cy="1574976"/>
          </a:xfrm>
          <a:prstGeom prst="rect">
            <a:avLst/>
          </a:prstGeom>
          <a:ln>
            <a:solidFill>
              <a:schemeClr val="accent6"/>
            </a:solidFill>
          </a:ln>
        </p:spPr>
      </p:pic>
      <p:sp>
        <p:nvSpPr>
          <p:cNvPr id="54" name="Text Box 2"/>
          <p:cNvSpPr txBox="1">
            <a:spLocks noChangeArrowheads="1"/>
          </p:cNvSpPr>
          <p:nvPr/>
        </p:nvSpPr>
        <p:spPr bwMode="auto">
          <a:xfrm rot="20712708">
            <a:off x="6540403" y="5504515"/>
            <a:ext cx="1394329" cy="374559"/>
          </a:xfrm>
          <a:prstGeom prst="rect">
            <a:avLst/>
          </a:prstGeom>
          <a:noFill/>
          <a:ln w="9525">
            <a:solidFill>
              <a:srgbClr val="ED8B00"/>
            </a:solidFill>
            <a:miter lim="800000"/>
            <a:headEnd/>
            <a:tailEnd/>
          </a:ln>
        </p:spPr>
        <p:txBody>
          <a:bodyPr rot="0" vert="horz" wrap="square" lIns="86266" tIns="43133" rIns="86266" bIns="43133" anchor="t" anchorCtr="0">
            <a:spAutoFit/>
          </a:bodyPr>
          <a:lstStyle/>
          <a:p>
            <a:pPr>
              <a:lnSpc>
                <a:spcPct val="110000"/>
              </a:lnSpc>
              <a:spcAft>
                <a:spcPts val="566"/>
              </a:spcAft>
            </a:pPr>
            <a:r>
              <a:rPr lang="en-IN" sz="1698" dirty="0">
                <a:solidFill>
                  <a:srgbClr val="ED8B00"/>
                </a:solidFill>
                <a:latin typeface="Verdana" panose="020B0604030504040204" pitchFamily="34" charset="0"/>
                <a:ea typeface="Times New Roman" panose="02020603050405020304" pitchFamily="18" charset="0"/>
              </a:rPr>
              <a:t>Illustrative</a:t>
            </a:r>
            <a:endParaRPr lang="en-IN" sz="1698" dirty="0">
              <a:latin typeface="Times New Roman" panose="02020603050405020304" pitchFamily="18" charset="0"/>
              <a:ea typeface="Times New Roman" panose="02020603050405020304" pitchFamily="18" charset="0"/>
            </a:endParaRPr>
          </a:p>
        </p:txBody>
      </p:sp>
      <p:pic>
        <p:nvPicPr>
          <p:cNvPr id="55" name="Picture 54"/>
          <p:cNvPicPr>
            <a:picLocks noChangeAspect="1"/>
          </p:cNvPicPr>
          <p:nvPr/>
        </p:nvPicPr>
        <p:blipFill>
          <a:blip r:embed="rId6"/>
          <a:stretch>
            <a:fillRect/>
          </a:stretch>
        </p:blipFill>
        <p:spPr>
          <a:xfrm>
            <a:off x="826593" y="4557532"/>
            <a:ext cx="4283001" cy="1937196"/>
          </a:xfrm>
          <a:prstGeom prst="rect">
            <a:avLst/>
          </a:prstGeom>
        </p:spPr>
      </p:pic>
      <p:sp>
        <p:nvSpPr>
          <p:cNvPr id="56" name="Text Box 2"/>
          <p:cNvSpPr txBox="1">
            <a:spLocks noChangeArrowheads="1"/>
          </p:cNvSpPr>
          <p:nvPr/>
        </p:nvSpPr>
        <p:spPr bwMode="auto">
          <a:xfrm rot="20712708">
            <a:off x="2557654" y="5771514"/>
            <a:ext cx="1394329" cy="374559"/>
          </a:xfrm>
          <a:prstGeom prst="rect">
            <a:avLst/>
          </a:prstGeom>
          <a:noFill/>
          <a:ln w="9525">
            <a:solidFill>
              <a:srgbClr val="ED8B00"/>
            </a:solidFill>
            <a:miter lim="800000"/>
            <a:headEnd/>
            <a:tailEnd/>
          </a:ln>
        </p:spPr>
        <p:txBody>
          <a:bodyPr rot="0" vert="horz" wrap="square" lIns="86266" tIns="43133" rIns="86266" bIns="43133" anchor="t" anchorCtr="0">
            <a:spAutoFit/>
          </a:bodyPr>
          <a:lstStyle/>
          <a:p>
            <a:pPr>
              <a:lnSpc>
                <a:spcPct val="110000"/>
              </a:lnSpc>
              <a:spcAft>
                <a:spcPts val="566"/>
              </a:spcAft>
            </a:pPr>
            <a:r>
              <a:rPr lang="en-IN" sz="1698" dirty="0">
                <a:solidFill>
                  <a:srgbClr val="ED8B00"/>
                </a:solidFill>
                <a:latin typeface="Verdana" panose="020B0604030504040204" pitchFamily="34" charset="0"/>
                <a:ea typeface="Times New Roman" panose="02020603050405020304" pitchFamily="18" charset="0"/>
              </a:rPr>
              <a:t>Illustrative</a:t>
            </a:r>
            <a:endParaRPr lang="en-IN" sz="1698" dirty="0">
              <a:latin typeface="Times New Roman" panose="02020603050405020304" pitchFamily="18" charset="0"/>
              <a:ea typeface="Times New Roman" panose="02020603050405020304" pitchFamily="18" charset="0"/>
            </a:endParaRPr>
          </a:p>
        </p:txBody>
      </p:sp>
      <p:sp>
        <p:nvSpPr>
          <p:cNvPr id="38"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39"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Work Package-III: Baseline Assessment</a:t>
            </a:r>
          </a:p>
        </p:txBody>
      </p:sp>
    </p:spTree>
    <p:extLst>
      <p:ext uri="{BB962C8B-B14F-4D97-AF65-F5344CB8AC3E}">
        <p14:creationId xmlns:p14="http://schemas.microsoft.com/office/powerpoint/2010/main" val="22087467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79209" y="1672279"/>
            <a:ext cx="1757140" cy="1529714"/>
          </a:xfrm>
          <a:prstGeom prst="rect">
            <a:avLst/>
          </a:prstGeom>
          <a:noFill/>
        </p:spPr>
        <p:txBody>
          <a:bodyPr wrap="square" lIns="0" tIns="0" rIns="0" bIns="0" rtlCol="0">
            <a:spAutoFit/>
          </a:bodyPr>
          <a:lstStyle/>
          <a:p>
            <a:pPr>
              <a:spcBef>
                <a:spcPts val="566"/>
              </a:spcBef>
              <a:buSzPct val="100000"/>
            </a:pPr>
            <a:r>
              <a:rPr lang="en-US" sz="1510" b="1" dirty="0">
                <a:solidFill>
                  <a:schemeClr val="accent1"/>
                </a:solidFill>
              </a:rPr>
              <a:t>Gap Analysis</a:t>
            </a:r>
          </a:p>
          <a:p>
            <a:pPr>
              <a:spcBef>
                <a:spcPts val="566"/>
              </a:spcBef>
              <a:buSzPct val="100000"/>
            </a:pPr>
            <a:r>
              <a:rPr lang="en-US" sz="1133" dirty="0">
                <a:solidFill>
                  <a:srgbClr val="313131"/>
                </a:solidFill>
              </a:rPr>
              <a:t>A gap analysis shall be conducted to quantify the difference between the vision set after consultation with the team and the baseline established </a:t>
            </a:r>
            <a:endParaRPr lang="en-IN" sz="1133" dirty="0">
              <a:solidFill>
                <a:srgbClr val="313131"/>
              </a:solidFill>
            </a:endParaRPr>
          </a:p>
        </p:txBody>
      </p:sp>
      <p:sp>
        <p:nvSpPr>
          <p:cNvPr id="6" name="TextBox 5"/>
          <p:cNvSpPr txBox="1"/>
          <p:nvPr/>
        </p:nvSpPr>
        <p:spPr>
          <a:xfrm>
            <a:off x="3013637" y="1672279"/>
            <a:ext cx="2231087" cy="1413400"/>
          </a:xfrm>
          <a:prstGeom prst="rect">
            <a:avLst/>
          </a:prstGeom>
          <a:noFill/>
        </p:spPr>
        <p:txBody>
          <a:bodyPr wrap="square" lIns="0" tIns="0" rIns="0" bIns="0" rtlCol="0">
            <a:spAutoFit/>
          </a:bodyPr>
          <a:lstStyle/>
          <a:p>
            <a:pPr>
              <a:spcBef>
                <a:spcPts val="566"/>
              </a:spcBef>
              <a:buSzPct val="100000"/>
            </a:pPr>
            <a:r>
              <a:rPr lang="en-US" sz="1510" b="1" dirty="0">
                <a:solidFill>
                  <a:schemeClr val="accent4"/>
                </a:solidFill>
              </a:rPr>
              <a:t>Constructing Long-Term Scenarios</a:t>
            </a:r>
          </a:p>
          <a:p>
            <a:pPr>
              <a:spcBef>
                <a:spcPts val="566"/>
              </a:spcBef>
              <a:buSzPct val="100000"/>
            </a:pPr>
            <a:r>
              <a:rPr lang="en-US" sz="1133" dirty="0">
                <a:solidFill>
                  <a:srgbClr val="313131"/>
                </a:solidFill>
              </a:rPr>
              <a:t>Our team proposes to construct 5-7 scenarios after consultation with beneficiary departments of </a:t>
            </a:r>
            <a:r>
              <a:rPr lang="en-US" sz="1133" dirty="0" err="1">
                <a:solidFill>
                  <a:srgbClr val="313131"/>
                </a:solidFill>
              </a:rPr>
              <a:t>GoWB</a:t>
            </a:r>
            <a:r>
              <a:rPr lang="en-US" sz="1133" dirty="0">
                <a:solidFill>
                  <a:srgbClr val="313131"/>
                </a:solidFill>
              </a:rPr>
              <a:t> and PMU members</a:t>
            </a:r>
            <a:endParaRPr lang="en-IN" sz="1133" dirty="0">
              <a:solidFill>
                <a:srgbClr val="313131"/>
              </a:solidFill>
            </a:endParaRPr>
          </a:p>
        </p:txBody>
      </p:sp>
      <p:sp>
        <p:nvSpPr>
          <p:cNvPr id="7" name="TextBox 6"/>
          <p:cNvSpPr txBox="1"/>
          <p:nvPr/>
        </p:nvSpPr>
        <p:spPr>
          <a:xfrm>
            <a:off x="5379785" y="1672279"/>
            <a:ext cx="2075497" cy="1529714"/>
          </a:xfrm>
          <a:prstGeom prst="rect">
            <a:avLst/>
          </a:prstGeom>
          <a:noFill/>
        </p:spPr>
        <p:txBody>
          <a:bodyPr wrap="square" lIns="0" tIns="0" rIns="0" bIns="0" rtlCol="0">
            <a:spAutoFit/>
          </a:bodyPr>
          <a:lstStyle/>
          <a:p>
            <a:pPr>
              <a:spcBef>
                <a:spcPts val="566"/>
              </a:spcBef>
              <a:buSzPct val="100000"/>
            </a:pPr>
            <a:r>
              <a:rPr lang="en-US" sz="1510" b="1" dirty="0">
                <a:solidFill>
                  <a:schemeClr val="accent1"/>
                </a:solidFill>
              </a:rPr>
              <a:t>Scenario Analysis</a:t>
            </a:r>
          </a:p>
          <a:p>
            <a:pPr>
              <a:spcBef>
                <a:spcPts val="566"/>
              </a:spcBef>
              <a:buSzPct val="100000"/>
            </a:pPr>
            <a:r>
              <a:rPr lang="en-US" sz="1133" dirty="0">
                <a:solidFill>
                  <a:srgbClr val="313131"/>
                </a:solidFill>
              </a:rPr>
              <a:t>Forecasting the outcomes of each scenario independently (direct inheritance from baseline scenario) and in combination with each other (multiple scenario inheritance)</a:t>
            </a:r>
          </a:p>
        </p:txBody>
      </p:sp>
      <p:sp>
        <p:nvSpPr>
          <p:cNvPr id="8" name="TextBox 7"/>
          <p:cNvSpPr txBox="1"/>
          <p:nvPr/>
        </p:nvSpPr>
        <p:spPr>
          <a:xfrm>
            <a:off x="7684121" y="1677044"/>
            <a:ext cx="2169142" cy="1181029"/>
          </a:xfrm>
          <a:prstGeom prst="rect">
            <a:avLst/>
          </a:prstGeom>
          <a:noFill/>
        </p:spPr>
        <p:txBody>
          <a:bodyPr wrap="square" lIns="0" tIns="0" rIns="0" bIns="0" rtlCol="0">
            <a:spAutoFit/>
          </a:bodyPr>
          <a:lstStyle/>
          <a:p>
            <a:pPr>
              <a:spcBef>
                <a:spcPts val="566"/>
              </a:spcBef>
              <a:buSzPct val="100000"/>
            </a:pPr>
            <a:r>
              <a:rPr lang="en-US" sz="1510" b="1" dirty="0">
                <a:solidFill>
                  <a:schemeClr val="accent4"/>
                </a:solidFill>
              </a:rPr>
              <a:t>Policy Outcomes</a:t>
            </a:r>
          </a:p>
          <a:p>
            <a:pPr>
              <a:spcBef>
                <a:spcPts val="566"/>
              </a:spcBef>
              <a:buSzPct val="100000"/>
            </a:pPr>
            <a:r>
              <a:rPr lang="en-US" sz="1133" dirty="0"/>
              <a:t>Constructing least-cost optimization models and conducting cost-effectiveness analysis to determine future strategies </a:t>
            </a:r>
          </a:p>
        </p:txBody>
      </p:sp>
      <p:sp>
        <p:nvSpPr>
          <p:cNvPr id="42" name="TextBox 41"/>
          <p:cNvSpPr txBox="1"/>
          <p:nvPr/>
        </p:nvSpPr>
        <p:spPr>
          <a:xfrm>
            <a:off x="717328" y="6544575"/>
            <a:ext cx="9253987" cy="543700"/>
          </a:xfrm>
          <a:prstGeom prst="rect">
            <a:avLst/>
          </a:prstGeom>
          <a:solidFill>
            <a:schemeClr val="accent6">
              <a:lumMod val="75000"/>
            </a:schemeClr>
          </a:solidFill>
        </p:spPr>
        <p:txBody>
          <a:bodyPr wrap="square" lIns="0" tIns="67926" rIns="0" bIns="67926" rtlCol="0">
            <a:spAutoFit/>
          </a:bodyPr>
          <a:lstStyle/>
          <a:p>
            <a:pPr algn="ctr">
              <a:spcBef>
                <a:spcPts val="566"/>
              </a:spcBef>
              <a:spcAft>
                <a:spcPts val="566"/>
              </a:spcAft>
              <a:buSzPct val="100000"/>
            </a:pPr>
            <a:r>
              <a:rPr lang="en-US" sz="1321" b="1" dirty="0">
                <a:solidFill>
                  <a:schemeClr val="bg1"/>
                </a:solidFill>
              </a:rPr>
              <a:t>Deliverables: Detailed Report on Baseline Generation, Outcomes of Scenario Building, Training / capacity building activities, software model(s) along with scenarios, users’ manual </a:t>
            </a:r>
            <a:endParaRPr lang="en-IN" sz="1321" b="1" dirty="0">
              <a:solidFill>
                <a:schemeClr val="bg1"/>
              </a:solidFill>
            </a:endParaRPr>
          </a:p>
        </p:txBody>
      </p:sp>
      <p:sp>
        <p:nvSpPr>
          <p:cNvPr id="44" name="Oval 43"/>
          <p:cNvSpPr/>
          <p:nvPr/>
        </p:nvSpPr>
        <p:spPr bwMode="gray">
          <a:xfrm>
            <a:off x="1444423" y="1252156"/>
            <a:ext cx="413356" cy="413356"/>
          </a:xfrm>
          <a:prstGeom prst="ellipse">
            <a:avLst/>
          </a:prstGeom>
          <a:solidFill>
            <a:schemeClr val="accent6"/>
          </a:solidFill>
          <a:ln w="19050" algn="ctr">
            <a:noFill/>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510" b="1" dirty="0">
                <a:solidFill>
                  <a:schemeClr val="bg1"/>
                </a:solidFill>
              </a:rPr>
              <a:t>1</a:t>
            </a:r>
            <a:endParaRPr lang="en-IN" sz="1510" b="1" dirty="0">
              <a:solidFill>
                <a:schemeClr val="bg1"/>
              </a:solidFill>
            </a:endParaRPr>
          </a:p>
        </p:txBody>
      </p:sp>
      <p:sp>
        <p:nvSpPr>
          <p:cNvPr id="45" name="Oval 44"/>
          <p:cNvSpPr/>
          <p:nvPr/>
        </p:nvSpPr>
        <p:spPr bwMode="gray">
          <a:xfrm>
            <a:off x="3715824" y="1247363"/>
            <a:ext cx="413356" cy="413356"/>
          </a:xfrm>
          <a:prstGeom prst="ellipse">
            <a:avLst/>
          </a:prstGeom>
          <a:solidFill>
            <a:schemeClr val="accent6"/>
          </a:solidFill>
          <a:ln w="19050" algn="ctr">
            <a:noFill/>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510" b="1" dirty="0">
                <a:solidFill>
                  <a:schemeClr val="bg1"/>
                </a:solidFill>
              </a:rPr>
              <a:t>2</a:t>
            </a:r>
            <a:endParaRPr lang="en-IN" sz="1510" b="1" dirty="0">
              <a:solidFill>
                <a:schemeClr val="bg1"/>
              </a:solidFill>
            </a:endParaRPr>
          </a:p>
        </p:txBody>
      </p:sp>
      <p:sp>
        <p:nvSpPr>
          <p:cNvPr id="46" name="Oval 45"/>
          <p:cNvSpPr/>
          <p:nvPr/>
        </p:nvSpPr>
        <p:spPr bwMode="gray">
          <a:xfrm>
            <a:off x="6147953" y="1242571"/>
            <a:ext cx="413356" cy="413356"/>
          </a:xfrm>
          <a:prstGeom prst="ellipse">
            <a:avLst/>
          </a:prstGeom>
          <a:solidFill>
            <a:schemeClr val="accent6"/>
          </a:solidFill>
          <a:ln w="19050" algn="ctr">
            <a:noFill/>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510" b="1" dirty="0">
                <a:solidFill>
                  <a:schemeClr val="bg1"/>
                </a:solidFill>
              </a:rPr>
              <a:t>3</a:t>
            </a:r>
            <a:endParaRPr lang="en-IN" sz="1510" b="1" dirty="0">
              <a:solidFill>
                <a:schemeClr val="bg1"/>
              </a:solidFill>
            </a:endParaRPr>
          </a:p>
        </p:txBody>
      </p:sp>
      <p:sp>
        <p:nvSpPr>
          <p:cNvPr id="47" name="Oval 46"/>
          <p:cNvSpPr/>
          <p:nvPr/>
        </p:nvSpPr>
        <p:spPr bwMode="gray">
          <a:xfrm>
            <a:off x="8355335" y="1258922"/>
            <a:ext cx="413356" cy="413356"/>
          </a:xfrm>
          <a:prstGeom prst="ellipse">
            <a:avLst/>
          </a:prstGeom>
          <a:solidFill>
            <a:schemeClr val="accent6"/>
          </a:solidFill>
          <a:ln w="19050" algn="ctr">
            <a:noFill/>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510" b="1" dirty="0">
                <a:solidFill>
                  <a:schemeClr val="bg1"/>
                </a:solidFill>
              </a:rPr>
              <a:t>4</a:t>
            </a:r>
            <a:endParaRPr lang="en-IN" sz="1510" b="1" dirty="0">
              <a:solidFill>
                <a:schemeClr val="bg1"/>
              </a:solidFill>
            </a:endParaRPr>
          </a:p>
        </p:txBody>
      </p:sp>
      <p:sp>
        <p:nvSpPr>
          <p:cNvPr id="48" name="Rounded Rectangle 47"/>
          <p:cNvSpPr/>
          <p:nvPr/>
        </p:nvSpPr>
        <p:spPr bwMode="gray">
          <a:xfrm>
            <a:off x="771959" y="1112581"/>
            <a:ext cx="9144722" cy="2258307"/>
          </a:xfrm>
          <a:prstGeom prst="roundRect">
            <a:avLst/>
          </a:prstGeom>
          <a:noFill/>
          <a:ln w="19050" algn="ctr">
            <a:solidFill>
              <a:schemeClr val="tx1"/>
            </a:solidFill>
            <a:prstDash val="dash"/>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510" b="1" dirty="0">
              <a:solidFill>
                <a:schemeClr val="bg1"/>
              </a:solidFill>
            </a:endParaRPr>
          </a:p>
        </p:txBody>
      </p:sp>
      <p:sp>
        <p:nvSpPr>
          <p:cNvPr id="49" name="Pentagon 48"/>
          <p:cNvSpPr/>
          <p:nvPr/>
        </p:nvSpPr>
        <p:spPr bwMode="gray">
          <a:xfrm>
            <a:off x="7745745" y="3936369"/>
            <a:ext cx="2187784" cy="266198"/>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35851" tIns="83870" rIns="83870" bIns="83870" rtlCol="0" anchor="ctr"/>
          <a:lstStyle/>
          <a:p>
            <a:r>
              <a:rPr lang="en-US" sz="1133" b="1" dirty="0">
                <a:solidFill>
                  <a:schemeClr val="bg1"/>
                </a:solidFill>
              </a:rPr>
              <a:t>Scale up &amp; Deploy</a:t>
            </a:r>
          </a:p>
        </p:txBody>
      </p:sp>
      <p:sp>
        <p:nvSpPr>
          <p:cNvPr id="50" name="Pentagon 49"/>
          <p:cNvSpPr/>
          <p:nvPr/>
        </p:nvSpPr>
        <p:spPr bwMode="gray">
          <a:xfrm>
            <a:off x="7727773" y="5483189"/>
            <a:ext cx="2205756" cy="266173"/>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35851" tIns="83870" rIns="83870" bIns="83870" rtlCol="0" anchor="ctr"/>
          <a:lstStyle/>
          <a:p>
            <a:r>
              <a:rPr lang="en-US" sz="1133" b="1" dirty="0">
                <a:solidFill>
                  <a:schemeClr val="bg1"/>
                </a:solidFill>
              </a:rPr>
              <a:t>“Reach” Technologies</a:t>
            </a:r>
          </a:p>
        </p:txBody>
      </p:sp>
      <p:sp>
        <p:nvSpPr>
          <p:cNvPr id="51" name="Pentagon 50"/>
          <p:cNvSpPr/>
          <p:nvPr/>
        </p:nvSpPr>
        <p:spPr bwMode="gray">
          <a:xfrm>
            <a:off x="7745745" y="4706598"/>
            <a:ext cx="2187784" cy="266198"/>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35851" tIns="83870" rIns="83870" bIns="83870" rtlCol="0" anchor="ctr"/>
          <a:lstStyle/>
          <a:p>
            <a:r>
              <a:rPr lang="en-US" sz="1133" b="1" dirty="0">
                <a:solidFill>
                  <a:schemeClr val="bg1"/>
                </a:solidFill>
              </a:rPr>
              <a:t>Market Transformation</a:t>
            </a:r>
          </a:p>
        </p:txBody>
      </p:sp>
      <p:graphicFrame>
        <p:nvGraphicFramePr>
          <p:cNvPr id="53" name="Table 52"/>
          <p:cNvGraphicFramePr>
            <a:graphicFrameLocks noGrp="1"/>
          </p:cNvGraphicFramePr>
          <p:nvPr/>
        </p:nvGraphicFramePr>
        <p:xfrm>
          <a:off x="7745745" y="4206858"/>
          <a:ext cx="1986338" cy="629732"/>
        </p:xfrm>
        <a:graphic>
          <a:graphicData uri="http://schemas.openxmlformats.org/drawingml/2006/table">
            <a:tbl>
              <a:tblPr firstRow="1" bandRow="1">
                <a:tableStyleId>{073A0DAA-6AF3-43AB-8588-CEC1D06C72B9}</a:tableStyleId>
              </a:tblPr>
              <a:tblGrid>
                <a:gridCol w="1986338">
                  <a:extLst>
                    <a:ext uri="{9D8B030D-6E8A-4147-A177-3AD203B41FA5}">
                      <a16:colId xmlns:a16="http://schemas.microsoft.com/office/drawing/2014/main" val="2244688111"/>
                    </a:ext>
                  </a:extLst>
                </a:gridCol>
              </a:tblGrid>
              <a:tr h="237523">
                <a:tc>
                  <a:txBody>
                    <a:bodyPr/>
                    <a:lstStyle/>
                    <a:p>
                      <a:r>
                        <a:rPr lang="en-US" sz="1000" b="0" dirty="0">
                          <a:solidFill>
                            <a:schemeClr val="tx1"/>
                          </a:solidFill>
                        </a:rPr>
                        <a:t>Energy Efficiency in industry</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3023173560"/>
                  </a:ext>
                </a:extLst>
              </a:tr>
              <a:tr h="237523">
                <a:tc>
                  <a:txBody>
                    <a:bodyPr/>
                    <a:lstStyle/>
                    <a:p>
                      <a:r>
                        <a:rPr lang="en-US" sz="1000" b="0" dirty="0">
                          <a:solidFill>
                            <a:schemeClr val="tx1"/>
                          </a:solidFill>
                        </a:rPr>
                        <a:t>Renewable electricity</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584713095"/>
                  </a:ext>
                </a:extLst>
              </a:tr>
            </a:tbl>
          </a:graphicData>
        </a:graphic>
      </p:graphicFrame>
      <p:graphicFrame>
        <p:nvGraphicFramePr>
          <p:cNvPr id="54" name="Table 53"/>
          <p:cNvGraphicFramePr>
            <a:graphicFrameLocks noGrp="1"/>
          </p:cNvGraphicFramePr>
          <p:nvPr/>
        </p:nvGraphicFramePr>
        <p:xfrm>
          <a:off x="7730593" y="4970835"/>
          <a:ext cx="1986338" cy="477332"/>
        </p:xfrm>
        <a:graphic>
          <a:graphicData uri="http://schemas.openxmlformats.org/drawingml/2006/table">
            <a:tbl>
              <a:tblPr firstRow="1" bandRow="1">
                <a:tableStyleId>{073A0DAA-6AF3-43AB-8588-CEC1D06C72B9}</a:tableStyleId>
              </a:tblPr>
              <a:tblGrid>
                <a:gridCol w="1986338">
                  <a:extLst>
                    <a:ext uri="{9D8B030D-6E8A-4147-A177-3AD203B41FA5}">
                      <a16:colId xmlns:a16="http://schemas.microsoft.com/office/drawing/2014/main" val="2244688111"/>
                    </a:ext>
                  </a:extLst>
                </a:gridCol>
              </a:tblGrid>
              <a:tr h="237523">
                <a:tc>
                  <a:txBody>
                    <a:bodyPr/>
                    <a:lstStyle/>
                    <a:p>
                      <a:r>
                        <a:rPr lang="en-US" sz="1000" b="0" dirty="0">
                          <a:solidFill>
                            <a:schemeClr val="tx1"/>
                          </a:solidFill>
                        </a:rPr>
                        <a:t>Zero-emission</a:t>
                      </a:r>
                      <a:r>
                        <a:rPr lang="en-US" sz="1000" b="0" baseline="0" dirty="0">
                          <a:solidFill>
                            <a:schemeClr val="tx1"/>
                          </a:solidFill>
                        </a:rPr>
                        <a:t> LCVs</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3023173560"/>
                  </a:ext>
                </a:extLst>
              </a:tr>
              <a:tr h="237523">
                <a:tc>
                  <a:txBody>
                    <a:bodyPr/>
                    <a:lstStyle/>
                    <a:p>
                      <a:r>
                        <a:rPr lang="en-US" sz="1000" b="0" dirty="0">
                          <a:solidFill>
                            <a:schemeClr val="tx1"/>
                          </a:solidFill>
                        </a:rPr>
                        <a:t>Methane</a:t>
                      </a:r>
                      <a:r>
                        <a:rPr lang="en-US" sz="1000" b="0" baseline="0" dirty="0">
                          <a:solidFill>
                            <a:schemeClr val="tx1"/>
                          </a:solidFill>
                        </a:rPr>
                        <a:t> capture</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584713095"/>
                  </a:ext>
                </a:extLst>
              </a:tr>
            </a:tbl>
          </a:graphicData>
        </a:graphic>
      </p:graphicFrame>
      <p:graphicFrame>
        <p:nvGraphicFramePr>
          <p:cNvPr id="55" name="Table 54"/>
          <p:cNvGraphicFramePr>
            <a:graphicFrameLocks noGrp="1"/>
          </p:cNvGraphicFramePr>
          <p:nvPr/>
        </p:nvGraphicFramePr>
        <p:xfrm>
          <a:off x="7727773" y="5785292"/>
          <a:ext cx="1986338" cy="477332"/>
        </p:xfrm>
        <a:graphic>
          <a:graphicData uri="http://schemas.openxmlformats.org/drawingml/2006/table">
            <a:tbl>
              <a:tblPr firstRow="1" bandRow="1">
                <a:tableStyleId>{073A0DAA-6AF3-43AB-8588-CEC1D06C72B9}</a:tableStyleId>
              </a:tblPr>
              <a:tblGrid>
                <a:gridCol w="1986338">
                  <a:extLst>
                    <a:ext uri="{9D8B030D-6E8A-4147-A177-3AD203B41FA5}">
                      <a16:colId xmlns:a16="http://schemas.microsoft.com/office/drawing/2014/main" val="2244688111"/>
                    </a:ext>
                  </a:extLst>
                </a:gridCol>
              </a:tblGrid>
              <a:tr h="237523">
                <a:tc>
                  <a:txBody>
                    <a:bodyPr/>
                    <a:lstStyle/>
                    <a:p>
                      <a:r>
                        <a:rPr lang="en-US" sz="1000" b="0" dirty="0">
                          <a:solidFill>
                            <a:schemeClr val="tx1"/>
                          </a:solidFill>
                        </a:rPr>
                        <a:t>Advanced</a:t>
                      </a:r>
                      <a:r>
                        <a:rPr lang="en-US" sz="1000" b="0" baseline="0" dirty="0">
                          <a:solidFill>
                            <a:schemeClr val="tx1"/>
                          </a:solidFill>
                        </a:rPr>
                        <a:t> biofuels</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3023173560"/>
                  </a:ext>
                </a:extLst>
              </a:tr>
              <a:tr h="237523">
                <a:tc>
                  <a:txBody>
                    <a:bodyPr/>
                    <a:lstStyle/>
                    <a:p>
                      <a:r>
                        <a:rPr lang="en-US" sz="1000" b="0" dirty="0">
                          <a:solidFill>
                            <a:schemeClr val="tx1"/>
                          </a:solidFill>
                        </a:rPr>
                        <a:t>Zero-emission</a:t>
                      </a:r>
                      <a:r>
                        <a:rPr lang="en-US" sz="1000" b="0" baseline="0" dirty="0">
                          <a:solidFill>
                            <a:schemeClr val="tx1"/>
                          </a:solidFill>
                        </a:rPr>
                        <a:t> HCVs</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584713095"/>
                  </a:ext>
                </a:extLst>
              </a:tr>
            </a:tbl>
          </a:graphicData>
        </a:graphic>
      </p:graphicFrame>
      <p:grpSp>
        <p:nvGrpSpPr>
          <p:cNvPr id="56" name="Group 55"/>
          <p:cNvGrpSpPr/>
          <p:nvPr/>
        </p:nvGrpSpPr>
        <p:grpSpPr>
          <a:xfrm>
            <a:off x="5415730" y="4909586"/>
            <a:ext cx="2100047" cy="1472900"/>
            <a:chOff x="3519520" y="2563237"/>
            <a:chExt cx="5022481" cy="3400835"/>
          </a:xfrm>
        </p:grpSpPr>
        <p:pic>
          <p:nvPicPr>
            <p:cNvPr id="57" name="Picture 56"/>
            <p:cNvPicPr>
              <a:picLocks noChangeAspect="1"/>
            </p:cNvPicPr>
            <p:nvPr/>
          </p:nvPicPr>
          <p:blipFill rotWithShape="1">
            <a:blip r:embed="rId3"/>
            <a:srcRect l="46019"/>
            <a:stretch/>
          </p:blipFill>
          <p:spPr>
            <a:xfrm>
              <a:off x="4707113" y="2563237"/>
              <a:ext cx="3834888" cy="3400835"/>
            </a:xfrm>
            <a:prstGeom prst="rect">
              <a:avLst/>
            </a:prstGeom>
            <a:ln>
              <a:solidFill>
                <a:schemeClr val="accent6"/>
              </a:solidFill>
            </a:ln>
          </p:spPr>
        </p:pic>
        <p:pic>
          <p:nvPicPr>
            <p:cNvPr id="58" name="Picture 57"/>
            <p:cNvPicPr>
              <a:picLocks noChangeAspect="1"/>
            </p:cNvPicPr>
            <p:nvPr/>
          </p:nvPicPr>
          <p:blipFill>
            <a:blip r:embed="rId4"/>
            <a:stretch>
              <a:fillRect/>
            </a:stretch>
          </p:blipFill>
          <p:spPr>
            <a:xfrm>
              <a:off x="3519520" y="2563237"/>
              <a:ext cx="1187593" cy="3400835"/>
            </a:xfrm>
            <a:prstGeom prst="rect">
              <a:avLst/>
            </a:prstGeom>
            <a:ln>
              <a:solidFill>
                <a:schemeClr val="accent6"/>
              </a:solidFill>
            </a:ln>
          </p:spPr>
        </p:pic>
      </p:grpSp>
      <p:sp>
        <p:nvSpPr>
          <p:cNvPr id="60" name="Left-Right Arrow 59"/>
          <p:cNvSpPr/>
          <p:nvPr/>
        </p:nvSpPr>
        <p:spPr bwMode="gray">
          <a:xfrm>
            <a:off x="771957" y="3379237"/>
            <a:ext cx="9144722" cy="506016"/>
          </a:xfrm>
          <a:prstGeom prst="leftRightArrow">
            <a:avLst/>
          </a:prstGeom>
          <a:solidFill>
            <a:schemeClr val="accent1"/>
          </a:solidFill>
          <a:ln w="19050" algn="ctr">
            <a:noFill/>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133" b="1" dirty="0">
                <a:solidFill>
                  <a:schemeClr val="bg1"/>
                </a:solidFill>
              </a:rPr>
              <a:t>Training / Capacity Building of PMU members using detailed manuals</a:t>
            </a:r>
            <a:endParaRPr lang="en-IN" sz="1133" b="1" dirty="0">
              <a:solidFill>
                <a:schemeClr val="bg1"/>
              </a:solidFill>
            </a:endParaRPr>
          </a:p>
        </p:txBody>
      </p:sp>
      <p:pic>
        <p:nvPicPr>
          <p:cNvPr id="61" name="Picture 60"/>
          <p:cNvPicPr>
            <a:picLocks noChangeAspect="1"/>
          </p:cNvPicPr>
          <p:nvPr/>
        </p:nvPicPr>
        <p:blipFill>
          <a:blip r:embed="rId5"/>
          <a:stretch>
            <a:fillRect/>
          </a:stretch>
        </p:blipFill>
        <p:spPr>
          <a:xfrm>
            <a:off x="5415730" y="3873184"/>
            <a:ext cx="2100047" cy="1036402"/>
          </a:xfrm>
          <a:prstGeom prst="rect">
            <a:avLst/>
          </a:prstGeom>
          <a:ln>
            <a:solidFill>
              <a:schemeClr val="accent6"/>
            </a:solidFill>
          </a:ln>
        </p:spPr>
      </p:pic>
      <p:sp>
        <p:nvSpPr>
          <p:cNvPr id="62" name="Text Box 2"/>
          <p:cNvSpPr txBox="1">
            <a:spLocks noChangeArrowheads="1"/>
          </p:cNvSpPr>
          <p:nvPr/>
        </p:nvSpPr>
        <p:spPr bwMode="auto">
          <a:xfrm rot="20712708">
            <a:off x="6016874" y="4837879"/>
            <a:ext cx="1394329" cy="374559"/>
          </a:xfrm>
          <a:prstGeom prst="rect">
            <a:avLst/>
          </a:prstGeom>
          <a:noFill/>
          <a:ln w="9525">
            <a:solidFill>
              <a:srgbClr val="ED8B00"/>
            </a:solidFill>
            <a:miter lim="800000"/>
            <a:headEnd/>
            <a:tailEnd/>
          </a:ln>
        </p:spPr>
        <p:txBody>
          <a:bodyPr rot="0" vert="horz" wrap="square" lIns="86266" tIns="43133" rIns="86266" bIns="43133" anchor="t" anchorCtr="0">
            <a:spAutoFit/>
          </a:bodyPr>
          <a:lstStyle/>
          <a:p>
            <a:pPr>
              <a:lnSpc>
                <a:spcPct val="110000"/>
              </a:lnSpc>
              <a:spcAft>
                <a:spcPts val="566"/>
              </a:spcAft>
            </a:pPr>
            <a:r>
              <a:rPr lang="en-IN" sz="1698" dirty="0">
                <a:solidFill>
                  <a:srgbClr val="ED8B00"/>
                </a:solidFill>
                <a:latin typeface="Verdana" panose="020B0604030504040204" pitchFamily="34" charset="0"/>
                <a:ea typeface="Times New Roman" panose="02020603050405020304" pitchFamily="18" charset="0"/>
              </a:rPr>
              <a:t>Illustrative</a:t>
            </a:r>
            <a:endParaRPr lang="en-IN" sz="1698" dirty="0">
              <a:latin typeface="Times New Roman" panose="02020603050405020304" pitchFamily="18" charset="0"/>
              <a:ea typeface="Times New Roman" panose="02020603050405020304" pitchFamily="18" charset="0"/>
            </a:endParaRPr>
          </a:p>
        </p:txBody>
      </p:sp>
      <p:pic>
        <p:nvPicPr>
          <p:cNvPr id="77" name="Picture 76"/>
          <p:cNvPicPr>
            <a:picLocks noChangeAspect="1"/>
          </p:cNvPicPr>
          <p:nvPr/>
        </p:nvPicPr>
        <p:blipFill rotWithShape="1">
          <a:blip r:embed="rId6"/>
          <a:srcRect l="4771" r="46351"/>
          <a:stretch/>
        </p:blipFill>
        <p:spPr>
          <a:xfrm>
            <a:off x="818899" y="4565891"/>
            <a:ext cx="1811839" cy="1816594"/>
          </a:xfrm>
          <a:prstGeom prst="rect">
            <a:avLst/>
          </a:prstGeom>
          <a:ln>
            <a:solidFill>
              <a:schemeClr val="accent6"/>
            </a:solidFill>
          </a:ln>
        </p:spPr>
      </p:pic>
      <p:pic>
        <p:nvPicPr>
          <p:cNvPr id="78" name="Picture 77"/>
          <p:cNvPicPr>
            <a:picLocks noChangeAspect="1"/>
          </p:cNvPicPr>
          <p:nvPr/>
        </p:nvPicPr>
        <p:blipFill rotWithShape="1">
          <a:blip r:embed="rId6"/>
          <a:srcRect l="70850" b="56562"/>
          <a:stretch/>
        </p:blipFill>
        <p:spPr>
          <a:xfrm>
            <a:off x="1014866" y="4705268"/>
            <a:ext cx="896883" cy="553347"/>
          </a:xfrm>
          <a:prstGeom prst="rect">
            <a:avLst/>
          </a:prstGeom>
        </p:spPr>
      </p:pic>
      <p:sp>
        <p:nvSpPr>
          <p:cNvPr id="79" name="TextBox 78"/>
          <p:cNvSpPr txBox="1"/>
          <p:nvPr/>
        </p:nvSpPr>
        <p:spPr>
          <a:xfrm>
            <a:off x="818899" y="3959519"/>
            <a:ext cx="1826638" cy="591618"/>
          </a:xfrm>
          <a:prstGeom prst="rect">
            <a:avLst/>
          </a:prstGeom>
          <a:solidFill>
            <a:schemeClr val="bg1">
              <a:lumMod val="95000"/>
            </a:schemeClr>
          </a:solidFill>
          <a:ln>
            <a:solidFill>
              <a:schemeClr val="accent6"/>
            </a:solidFill>
          </a:ln>
        </p:spPr>
        <p:txBody>
          <a:bodyPr wrap="square" lIns="33963" tIns="33963" rIns="33963" bIns="33963" rtlCol="0">
            <a:spAutoFit/>
          </a:bodyPr>
          <a:lstStyle/>
          <a:p>
            <a:pPr algn="ctr">
              <a:spcBef>
                <a:spcPts val="566"/>
              </a:spcBef>
              <a:buSzPct val="100000"/>
            </a:pPr>
            <a:r>
              <a:rPr lang="en-US" sz="1133" dirty="0"/>
              <a:t>Quantifying Gap between Targets and Baseline</a:t>
            </a:r>
            <a:endParaRPr lang="en-IN" sz="1133" dirty="0"/>
          </a:p>
        </p:txBody>
      </p:sp>
      <p:sp>
        <p:nvSpPr>
          <p:cNvPr id="80" name="Pentagon 79"/>
          <p:cNvSpPr/>
          <p:nvPr/>
        </p:nvSpPr>
        <p:spPr bwMode="gray">
          <a:xfrm>
            <a:off x="2929342" y="3959520"/>
            <a:ext cx="2187784" cy="203777"/>
          </a:xfrm>
          <a:prstGeom prst="homePlate">
            <a:avLst/>
          </a:prstGeom>
          <a:solidFill>
            <a:srgbClr val="6FC2B4"/>
          </a:solidFill>
          <a:ln>
            <a:noFill/>
          </a:ln>
        </p:spPr>
        <p:style>
          <a:lnRef idx="2">
            <a:schemeClr val="accent1">
              <a:shade val="50000"/>
            </a:schemeClr>
          </a:lnRef>
          <a:fillRef idx="1">
            <a:schemeClr val="accent1"/>
          </a:fillRef>
          <a:effectRef idx="0">
            <a:schemeClr val="accent1"/>
          </a:effectRef>
          <a:fontRef idx="minor">
            <a:schemeClr val="lt1"/>
          </a:fontRef>
        </p:style>
        <p:txBody>
          <a:bodyPr lIns="135851" tIns="83870" rIns="83870" bIns="83870" rtlCol="0" anchor="ctr"/>
          <a:lstStyle/>
          <a:p>
            <a:r>
              <a:rPr lang="en-US" sz="1133" b="1" dirty="0">
                <a:solidFill>
                  <a:schemeClr val="bg1"/>
                </a:solidFill>
              </a:rPr>
              <a:t>Least Effort</a:t>
            </a:r>
          </a:p>
        </p:txBody>
      </p:sp>
      <p:sp>
        <p:nvSpPr>
          <p:cNvPr id="81" name="Pentagon 80"/>
          <p:cNvSpPr/>
          <p:nvPr/>
        </p:nvSpPr>
        <p:spPr bwMode="gray">
          <a:xfrm>
            <a:off x="2911370" y="4923669"/>
            <a:ext cx="2205756" cy="203777"/>
          </a:xfrm>
          <a:prstGeom prst="homePlate">
            <a:avLst/>
          </a:prstGeom>
          <a:solidFill>
            <a:srgbClr val="0097A9"/>
          </a:solidFill>
          <a:ln>
            <a:noFill/>
          </a:ln>
        </p:spPr>
        <p:style>
          <a:lnRef idx="2">
            <a:schemeClr val="accent1">
              <a:shade val="50000"/>
            </a:schemeClr>
          </a:lnRef>
          <a:fillRef idx="1">
            <a:schemeClr val="accent1"/>
          </a:fillRef>
          <a:effectRef idx="0">
            <a:schemeClr val="accent1"/>
          </a:effectRef>
          <a:fontRef idx="minor">
            <a:schemeClr val="lt1"/>
          </a:fontRef>
        </p:style>
        <p:txBody>
          <a:bodyPr lIns="135851" tIns="83870" rIns="83870" bIns="83870" rtlCol="0" anchor="ctr"/>
          <a:lstStyle/>
          <a:p>
            <a:r>
              <a:rPr lang="en-US" sz="1133" b="1" dirty="0">
                <a:solidFill>
                  <a:schemeClr val="bg1"/>
                </a:solidFill>
              </a:rPr>
              <a:t>Aggressive Effort</a:t>
            </a:r>
          </a:p>
        </p:txBody>
      </p:sp>
      <p:sp>
        <p:nvSpPr>
          <p:cNvPr id="82" name="Pentagon 81"/>
          <p:cNvSpPr/>
          <p:nvPr/>
        </p:nvSpPr>
        <p:spPr bwMode="gray">
          <a:xfrm>
            <a:off x="2929342" y="4487600"/>
            <a:ext cx="2187784" cy="203777"/>
          </a:xfrm>
          <a:prstGeom prst="homePlat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135851" tIns="83870" rIns="83870" bIns="83870" rtlCol="0" anchor="ctr"/>
          <a:lstStyle/>
          <a:p>
            <a:r>
              <a:rPr lang="en-US" sz="1133" b="1" dirty="0">
                <a:solidFill>
                  <a:schemeClr val="bg1"/>
                </a:solidFill>
              </a:rPr>
              <a:t>Determined Effort</a:t>
            </a:r>
          </a:p>
        </p:txBody>
      </p:sp>
      <p:graphicFrame>
        <p:nvGraphicFramePr>
          <p:cNvPr id="83" name="Table 82"/>
          <p:cNvGraphicFramePr>
            <a:graphicFrameLocks noGrp="1"/>
          </p:cNvGraphicFramePr>
          <p:nvPr/>
        </p:nvGraphicFramePr>
        <p:xfrm>
          <a:off x="2929342" y="4169469"/>
          <a:ext cx="2187784" cy="238666"/>
        </p:xfrm>
        <a:graphic>
          <a:graphicData uri="http://schemas.openxmlformats.org/drawingml/2006/table">
            <a:tbl>
              <a:tblPr firstRow="1" bandRow="1">
                <a:tableStyleId>{073A0DAA-6AF3-43AB-8588-CEC1D06C72B9}</a:tableStyleId>
              </a:tblPr>
              <a:tblGrid>
                <a:gridCol w="2187784">
                  <a:extLst>
                    <a:ext uri="{9D8B030D-6E8A-4147-A177-3AD203B41FA5}">
                      <a16:colId xmlns:a16="http://schemas.microsoft.com/office/drawing/2014/main" val="2244688111"/>
                    </a:ext>
                  </a:extLst>
                </a:gridCol>
              </a:tblGrid>
              <a:tr h="237523">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1000" b="0" dirty="0">
                          <a:solidFill>
                            <a:schemeClr val="tx1"/>
                          </a:solidFill>
                        </a:rPr>
                        <a:t>Short of existing policy targets</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3023173560"/>
                  </a:ext>
                </a:extLst>
              </a:tr>
            </a:tbl>
          </a:graphicData>
        </a:graphic>
      </p:graphicFrame>
      <p:graphicFrame>
        <p:nvGraphicFramePr>
          <p:cNvPr id="84" name="Table 83"/>
          <p:cNvGraphicFramePr>
            <a:graphicFrameLocks noGrp="1"/>
          </p:cNvGraphicFramePr>
          <p:nvPr/>
        </p:nvGraphicFramePr>
        <p:xfrm>
          <a:off x="2914189" y="4687513"/>
          <a:ext cx="2202936" cy="238666"/>
        </p:xfrm>
        <a:graphic>
          <a:graphicData uri="http://schemas.openxmlformats.org/drawingml/2006/table">
            <a:tbl>
              <a:tblPr firstRow="1" bandRow="1">
                <a:tableStyleId>{073A0DAA-6AF3-43AB-8588-CEC1D06C72B9}</a:tableStyleId>
              </a:tblPr>
              <a:tblGrid>
                <a:gridCol w="2202936">
                  <a:extLst>
                    <a:ext uri="{9D8B030D-6E8A-4147-A177-3AD203B41FA5}">
                      <a16:colId xmlns:a16="http://schemas.microsoft.com/office/drawing/2014/main" val="2244688111"/>
                    </a:ext>
                  </a:extLst>
                </a:gridCol>
              </a:tblGrid>
              <a:tr h="237523">
                <a:tc>
                  <a:txBody>
                    <a:bodyPr/>
                    <a:lstStyle/>
                    <a:p>
                      <a:r>
                        <a:rPr lang="en-US" sz="1000" b="0" dirty="0">
                          <a:solidFill>
                            <a:schemeClr val="tx1"/>
                          </a:solidFill>
                        </a:rPr>
                        <a:t>Business-as-usual</a:t>
                      </a:r>
                      <a:r>
                        <a:rPr lang="en-US" sz="1000" b="0" baseline="0" dirty="0">
                          <a:solidFill>
                            <a:schemeClr val="tx1"/>
                          </a:solidFill>
                        </a:rPr>
                        <a:t> Scenario</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3023173560"/>
                  </a:ext>
                </a:extLst>
              </a:tr>
            </a:tbl>
          </a:graphicData>
        </a:graphic>
      </p:graphicFrame>
      <p:graphicFrame>
        <p:nvGraphicFramePr>
          <p:cNvPr id="85" name="Table 84"/>
          <p:cNvGraphicFramePr>
            <a:graphicFrameLocks noGrp="1"/>
          </p:cNvGraphicFramePr>
          <p:nvPr/>
        </p:nvGraphicFramePr>
        <p:xfrm>
          <a:off x="2911369" y="5127395"/>
          <a:ext cx="2205755" cy="391066"/>
        </p:xfrm>
        <a:graphic>
          <a:graphicData uri="http://schemas.openxmlformats.org/drawingml/2006/table">
            <a:tbl>
              <a:tblPr firstRow="1" bandRow="1">
                <a:tableStyleId>{073A0DAA-6AF3-43AB-8588-CEC1D06C72B9}</a:tableStyleId>
              </a:tblPr>
              <a:tblGrid>
                <a:gridCol w="2205755">
                  <a:extLst>
                    <a:ext uri="{9D8B030D-6E8A-4147-A177-3AD203B41FA5}">
                      <a16:colId xmlns:a16="http://schemas.microsoft.com/office/drawing/2014/main" val="2244688111"/>
                    </a:ext>
                  </a:extLst>
                </a:gridCol>
              </a:tblGrid>
              <a:tr h="388780">
                <a:tc>
                  <a:txBody>
                    <a:bodyPr/>
                    <a:lstStyle/>
                    <a:p>
                      <a:r>
                        <a:rPr lang="en-US" sz="1000" b="0" dirty="0">
                          <a:solidFill>
                            <a:schemeClr val="tx1"/>
                          </a:solidFill>
                        </a:rPr>
                        <a:t>Exploring</a:t>
                      </a:r>
                      <a:r>
                        <a:rPr lang="en-US" sz="1000" b="0" baseline="0" dirty="0">
                          <a:solidFill>
                            <a:schemeClr val="tx1"/>
                          </a:solidFill>
                        </a:rPr>
                        <a:t> inter-departmental synergies</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3023173560"/>
                  </a:ext>
                </a:extLst>
              </a:tr>
            </a:tbl>
          </a:graphicData>
        </a:graphic>
      </p:graphicFrame>
      <p:sp>
        <p:nvSpPr>
          <p:cNvPr id="86" name="Pentagon 85"/>
          <p:cNvSpPr/>
          <p:nvPr/>
        </p:nvSpPr>
        <p:spPr bwMode="gray">
          <a:xfrm>
            <a:off x="2920355" y="5488874"/>
            <a:ext cx="2205756" cy="203777"/>
          </a:xfrm>
          <a:prstGeom prst="homePlate">
            <a:avLst/>
          </a:prstGeom>
          <a:solidFill>
            <a:srgbClr val="007680"/>
          </a:solidFill>
          <a:ln>
            <a:noFill/>
          </a:ln>
        </p:spPr>
        <p:style>
          <a:lnRef idx="2">
            <a:schemeClr val="accent1">
              <a:shade val="50000"/>
            </a:schemeClr>
          </a:lnRef>
          <a:fillRef idx="1">
            <a:schemeClr val="accent1"/>
          </a:fillRef>
          <a:effectRef idx="0">
            <a:schemeClr val="accent1"/>
          </a:effectRef>
          <a:fontRef idx="minor">
            <a:schemeClr val="lt1"/>
          </a:fontRef>
        </p:style>
        <p:txBody>
          <a:bodyPr lIns="135851" tIns="83870" rIns="83870" bIns="83870" rtlCol="0" anchor="ctr"/>
          <a:lstStyle/>
          <a:p>
            <a:r>
              <a:rPr lang="en-US" sz="1133" b="1" dirty="0">
                <a:solidFill>
                  <a:schemeClr val="bg1"/>
                </a:solidFill>
              </a:rPr>
              <a:t>Heroic Effort</a:t>
            </a:r>
          </a:p>
        </p:txBody>
      </p:sp>
      <p:graphicFrame>
        <p:nvGraphicFramePr>
          <p:cNvPr id="87" name="Table 86"/>
          <p:cNvGraphicFramePr>
            <a:graphicFrameLocks noGrp="1"/>
          </p:cNvGraphicFramePr>
          <p:nvPr/>
        </p:nvGraphicFramePr>
        <p:xfrm>
          <a:off x="2911368" y="5690685"/>
          <a:ext cx="2205755" cy="391066"/>
        </p:xfrm>
        <a:graphic>
          <a:graphicData uri="http://schemas.openxmlformats.org/drawingml/2006/table">
            <a:tbl>
              <a:tblPr firstRow="1" bandRow="1">
                <a:tableStyleId>{073A0DAA-6AF3-43AB-8588-CEC1D06C72B9}</a:tableStyleId>
              </a:tblPr>
              <a:tblGrid>
                <a:gridCol w="2205755">
                  <a:extLst>
                    <a:ext uri="{9D8B030D-6E8A-4147-A177-3AD203B41FA5}">
                      <a16:colId xmlns:a16="http://schemas.microsoft.com/office/drawing/2014/main" val="2244688111"/>
                    </a:ext>
                  </a:extLst>
                </a:gridCol>
              </a:tblGrid>
              <a:tr h="388780">
                <a:tc>
                  <a:txBody>
                    <a:bodyPr/>
                    <a:lstStyle/>
                    <a:p>
                      <a:r>
                        <a:rPr lang="en-US" sz="1000" b="0" dirty="0">
                          <a:solidFill>
                            <a:schemeClr val="tx1"/>
                          </a:solidFill>
                        </a:rPr>
                        <a:t>Exploring</a:t>
                      </a:r>
                      <a:r>
                        <a:rPr lang="en-US" sz="1000" b="0" baseline="0" dirty="0">
                          <a:solidFill>
                            <a:schemeClr val="tx1"/>
                          </a:solidFill>
                        </a:rPr>
                        <a:t> inter-departmental synergies</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3023173560"/>
                  </a:ext>
                </a:extLst>
              </a:tr>
            </a:tbl>
          </a:graphicData>
        </a:graphic>
      </p:graphicFrame>
      <p:sp>
        <p:nvSpPr>
          <p:cNvPr id="88" name="Pentagon 87"/>
          <p:cNvSpPr/>
          <p:nvPr/>
        </p:nvSpPr>
        <p:spPr bwMode="gray">
          <a:xfrm>
            <a:off x="2920355" y="6060740"/>
            <a:ext cx="2205756" cy="203777"/>
          </a:xfrm>
          <a:prstGeom prst="homePlate">
            <a:avLst/>
          </a:prstGeom>
          <a:solidFill>
            <a:srgbClr val="004F59"/>
          </a:solidFill>
          <a:ln>
            <a:noFill/>
          </a:ln>
        </p:spPr>
        <p:style>
          <a:lnRef idx="2">
            <a:schemeClr val="accent1">
              <a:shade val="50000"/>
            </a:schemeClr>
          </a:lnRef>
          <a:fillRef idx="1">
            <a:schemeClr val="accent1"/>
          </a:fillRef>
          <a:effectRef idx="0">
            <a:schemeClr val="accent1"/>
          </a:effectRef>
          <a:fontRef idx="minor">
            <a:schemeClr val="lt1"/>
          </a:fontRef>
        </p:style>
        <p:txBody>
          <a:bodyPr lIns="135851" tIns="83870" rIns="83870" bIns="83870" rtlCol="0" anchor="ctr"/>
          <a:lstStyle/>
          <a:p>
            <a:r>
              <a:rPr lang="en-US" sz="1133" b="1" dirty="0">
                <a:solidFill>
                  <a:schemeClr val="bg1"/>
                </a:solidFill>
              </a:rPr>
              <a:t>Optimal Effort</a:t>
            </a:r>
          </a:p>
        </p:txBody>
      </p:sp>
      <p:graphicFrame>
        <p:nvGraphicFramePr>
          <p:cNvPr id="89" name="Table 88"/>
          <p:cNvGraphicFramePr>
            <a:graphicFrameLocks noGrp="1"/>
          </p:cNvGraphicFramePr>
          <p:nvPr/>
        </p:nvGraphicFramePr>
        <p:xfrm>
          <a:off x="2911367" y="6278871"/>
          <a:ext cx="2205755" cy="238666"/>
        </p:xfrm>
        <a:graphic>
          <a:graphicData uri="http://schemas.openxmlformats.org/drawingml/2006/table">
            <a:tbl>
              <a:tblPr firstRow="1" bandRow="1">
                <a:tableStyleId>{073A0DAA-6AF3-43AB-8588-CEC1D06C72B9}</a:tableStyleId>
              </a:tblPr>
              <a:tblGrid>
                <a:gridCol w="2205755">
                  <a:extLst>
                    <a:ext uri="{9D8B030D-6E8A-4147-A177-3AD203B41FA5}">
                      <a16:colId xmlns:a16="http://schemas.microsoft.com/office/drawing/2014/main" val="2244688111"/>
                    </a:ext>
                  </a:extLst>
                </a:gridCol>
              </a:tblGrid>
              <a:tr h="237523">
                <a:tc>
                  <a:txBody>
                    <a:bodyPr/>
                    <a:lstStyle/>
                    <a:p>
                      <a:r>
                        <a:rPr lang="en-US" sz="1000" b="0" dirty="0">
                          <a:solidFill>
                            <a:schemeClr val="tx1"/>
                          </a:solidFill>
                        </a:rPr>
                        <a:t>Likely</a:t>
                      </a:r>
                      <a:r>
                        <a:rPr lang="en-US" sz="1000" b="0" baseline="0" dirty="0">
                          <a:solidFill>
                            <a:schemeClr val="tx1"/>
                          </a:solidFill>
                        </a:rPr>
                        <a:t> to be achieved</a:t>
                      </a:r>
                      <a:endParaRPr lang="en-IN" sz="1000" b="0" dirty="0">
                        <a:solidFill>
                          <a:schemeClr val="tx1"/>
                        </a:solidFill>
                      </a:endParaRPr>
                    </a:p>
                  </a:txBody>
                  <a:tcPr marL="86266" marR="86266" marT="43133" marB="43133">
                    <a:noFill/>
                  </a:tcPr>
                </a:tc>
                <a:extLst>
                  <a:ext uri="{0D108BD9-81ED-4DB2-BD59-A6C34878D82A}">
                    <a16:rowId xmlns:a16="http://schemas.microsoft.com/office/drawing/2014/main" val="3023173560"/>
                  </a:ext>
                </a:extLst>
              </a:tr>
            </a:tbl>
          </a:graphicData>
        </a:graphic>
      </p:graphicFrame>
      <p:sp>
        <p:nvSpPr>
          <p:cNvPr id="40"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41"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Work Package-IV: Long-term Scenario Assessment</a:t>
            </a:r>
          </a:p>
        </p:txBody>
      </p:sp>
    </p:spTree>
    <p:extLst>
      <p:ext uri="{BB962C8B-B14F-4D97-AF65-F5344CB8AC3E}">
        <p14:creationId xmlns:p14="http://schemas.microsoft.com/office/powerpoint/2010/main" val="119403237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bwMode="gray">
          <a:xfrm>
            <a:off x="7869585" y="2110966"/>
            <a:ext cx="2101730" cy="3064997"/>
          </a:xfrm>
          <a:prstGeom prst="roundRect">
            <a:avLst/>
          </a:prstGeom>
          <a:solidFill>
            <a:schemeClr val="bg1">
              <a:lumMod val="65000"/>
            </a:schemeClr>
          </a:solidFill>
          <a:ln w="19050" algn="ctr">
            <a:noFill/>
            <a:miter lim="800000"/>
            <a:headEnd/>
            <a:tailEnd/>
          </a:ln>
        </p:spPr>
        <p:txBody>
          <a:bodyPr rot="0" spcFirstLastPara="0" vertOverflow="overflow" horzOverflow="overflow" vert="horz" wrap="square" lIns="83870" tIns="83870" rIns="83870" bIns="8387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510" b="1" dirty="0">
              <a:solidFill>
                <a:schemeClr val="bg1"/>
              </a:solidFill>
            </a:endParaRPr>
          </a:p>
        </p:txBody>
      </p:sp>
      <p:sp>
        <p:nvSpPr>
          <p:cNvPr id="4" name="TextBox 3"/>
          <p:cNvSpPr txBox="1"/>
          <p:nvPr/>
        </p:nvSpPr>
        <p:spPr>
          <a:xfrm>
            <a:off x="1007359" y="1217009"/>
            <a:ext cx="8821466" cy="784638"/>
          </a:xfrm>
          <a:prstGeom prst="rect">
            <a:avLst/>
          </a:prstGeom>
          <a:noFill/>
        </p:spPr>
        <p:txBody>
          <a:bodyPr wrap="square" lIns="0" tIns="0" rIns="0" bIns="0" rtlCol="0">
            <a:spAutoFit/>
          </a:bodyPr>
          <a:lstStyle/>
          <a:p>
            <a:pPr>
              <a:lnSpc>
                <a:spcPct val="150000"/>
              </a:lnSpc>
              <a:spcBef>
                <a:spcPts val="566"/>
              </a:spcBef>
              <a:buSzPct val="100000"/>
            </a:pPr>
            <a:r>
              <a:rPr lang="en-US" sz="1133" i="1" dirty="0">
                <a:solidFill>
                  <a:srgbClr val="313131"/>
                </a:solidFill>
              </a:rPr>
              <a:t>Our proposed team has extensive experience in using different energy policy modelling tools and from our preliminary analysis we recommend the use of Long-Term Energy Alternatives Planning System (LEAP) for preparation of West Bengal State Energy Plan and Energy Action Plan.</a:t>
            </a:r>
          </a:p>
        </p:txBody>
      </p:sp>
      <p:sp>
        <p:nvSpPr>
          <p:cNvPr id="6" name="TextBox 5"/>
          <p:cNvSpPr txBox="1"/>
          <p:nvPr/>
        </p:nvSpPr>
        <p:spPr>
          <a:xfrm>
            <a:off x="7869585" y="2110967"/>
            <a:ext cx="2101730" cy="268776"/>
          </a:xfrm>
          <a:prstGeom prst="roundRect">
            <a:avLst/>
          </a:prstGeom>
          <a:solidFill>
            <a:schemeClr val="tx1"/>
          </a:solidFill>
        </p:spPr>
        <p:txBody>
          <a:bodyPr wrap="square" lIns="33963" tIns="33963" rIns="33963" bIns="33963" rtlCol="0">
            <a:spAutoFit/>
          </a:bodyPr>
          <a:lstStyle/>
          <a:p>
            <a:pPr algn="ctr">
              <a:spcBef>
                <a:spcPts val="566"/>
              </a:spcBef>
              <a:buSzPct val="100000"/>
            </a:pPr>
            <a:r>
              <a:rPr lang="en-US" sz="1133" b="1" dirty="0">
                <a:solidFill>
                  <a:schemeClr val="bg1"/>
                </a:solidFill>
              </a:rPr>
              <a:t>Advantages of LEAP</a:t>
            </a:r>
            <a:endParaRPr lang="en-IN" sz="1133" b="1" dirty="0">
              <a:solidFill>
                <a:schemeClr val="bg1"/>
              </a:solidFill>
            </a:endParaRPr>
          </a:p>
        </p:txBody>
      </p:sp>
      <p:pic>
        <p:nvPicPr>
          <p:cNvPr id="13" name="Picture 12"/>
          <p:cNvPicPr>
            <a:picLocks noChangeAspect="1"/>
          </p:cNvPicPr>
          <p:nvPr/>
        </p:nvPicPr>
        <p:blipFill>
          <a:blip r:embed="rId3"/>
          <a:stretch>
            <a:fillRect/>
          </a:stretch>
        </p:blipFill>
        <p:spPr>
          <a:xfrm>
            <a:off x="808131" y="2130409"/>
            <a:ext cx="6943830" cy="3045552"/>
          </a:xfrm>
          <a:prstGeom prst="rect">
            <a:avLst/>
          </a:prstGeom>
        </p:spPr>
      </p:pic>
      <p:sp>
        <p:nvSpPr>
          <p:cNvPr id="15" name="TextBox 14"/>
          <p:cNvSpPr txBox="1"/>
          <p:nvPr/>
        </p:nvSpPr>
        <p:spPr>
          <a:xfrm>
            <a:off x="8020928" y="2588964"/>
            <a:ext cx="1950386" cy="2148602"/>
          </a:xfrm>
          <a:prstGeom prst="rect">
            <a:avLst/>
          </a:prstGeom>
          <a:noFill/>
        </p:spPr>
        <p:txBody>
          <a:bodyPr wrap="square" lIns="0" tIns="0" rIns="0" bIns="0" rtlCol="0">
            <a:spAutoFit/>
          </a:bodyPr>
          <a:lstStyle/>
          <a:p>
            <a:pPr marL="166247" indent="-166247">
              <a:spcBef>
                <a:spcPts val="566"/>
              </a:spcBef>
              <a:buSzPct val="100000"/>
              <a:buFont typeface="+mj-lt"/>
              <a:buAutoNum type="arabicPeriod"/>
            </a:pPr>
            <a:r>
              <a:rPr lang="en-US" sz="1133" b="1" dirty="0">
                <a:solidFill>
                  <a:schemeClr val="bg1"/>
                </a:solidFill>
              </a:rPr>
              <a:t>Interconnectedness of State policies /targets with national targets</a:t>
            </a:r>
          </a:p>
          <a:p>
            <a:pPr marL="166247" indent="-166247">
              <a:spcBef>
                <a:spcPts val="566"/>
              </a:spcBef>
              <a:buSzPct val="100000"/>
              <a:buFont typeface="+mj-lt"/>
              <a:buAutoNum type="arabicPeriod"/>
            </a:pPr>
            <a:r>
              <a:rPr lang="en-US" sz="1133" b="1" dirty="0">
                <a:solidFill>
                  <a:schemeClr val="bg1"/>
                </a:solidFill>
              </a:rPr>
              <a:t>Disaggregation of demand possible</a:t>
            </a:r>
          </a:p>
          <a:p>
            <a:pPr marL="166247" indent="-166247">
              <a:spcBef>
                <a:spcPts val="566"/>
              </a:spcBef>
              <a:buSzPct val="100000"/>
              <a:buFont typeface="+mj-lt"/>
              <a:buAutoNum type="arabicPeriod"/>
            </a:pPr>
            <a:r>
              <a:rPr lang="en-US" sz="1133" b="1" dirty="0">
                <a:solidFill>
                  <a:schemeClr val="bg1"/>
                </a:solidFill>
              </a:rPr>
              <a:t>User-friendly with in-built dashboards</a:t>
            </a:r>
            <a:endParaRPr lang="en-IN" sz="1133" b="1" dirty="0">
              <a:solidFill>
                <a:schemeClr val="bg1"/>
              </a:solidFill>
            </a:endParaRPr>
          </a:p>
          <a:p>
            <a:pPr marL="166247" indent="-166247">
              <a:spcBef>
                <a:spcPts val="566"/>
              </a:spcBef>
              <a:buSzPct val="100000"/>
              <a:buFont typeface="+mj-lt"/>
              <a:buAutoNum type="arabicPeriod"/>
            </a:pPr>
            <a:r>
              <a:rPr lang="en-US" sz="1133" b="1" dirty="0">
                <a:solidFill>
                  <a:schemeClr val="bg1"/>
                </a:solidFill>
              </a:rPr>
              <a:t>Scenario building &amp; scenario analysis possible</a:t>
            </a:r>
            <a:endParaRPr lang="en-IN" sz="1133" b="1" dirty="0">
              <a:solidFill>
                <a:schemeClr val="bg1"/>
              </a:solidFill>
            </a:endParaRPr>
          </a:p>
        </p:txBody>
      </p:sp>
      <p:sp>
        <p:nvSpPr>
          <p:cNvPr id="16" name="TextBox 15"/>
          <p:cNvSpPr txBox="1"/>
          <p:nvPr/>
        </p:nvSpPr>
        <p:spPr>
          <a:xfrm>
            <a:off x="717326" y="1013757"/>
            <a:ext cx="1034096" cy="726033"/>
          </a:xfrm>
          <a:prstGeom prst="rect">
            <a:avLst/>
          </a:prstGeom>
          <a:noFill/>
        </p:spPr>
        <p:txBody>
          <a:bodyPr wrap="square" lIns="0" tIns="0" rIns="0" bIns="0" rtlCol="0">
            <a:spAutoFit/>
          </a:bodyPr>
          <a:lstStyle/>
          <a:p>
            <a:pPr>
              <a:spcBef>
                <a:spcPts val="566"/>
              </a:spcBef>
              <a:buSzPct val="100000"/>
            </a:pPr>
            <a:r>
              <a:rPr lang="en-US" sz="4718" b="1" dirty="0">
                <a:solidFill>
                  <a:schemeClr val="accent6"/>
                </a:solidFill>
                <a:latin typeface="Times New Roman" panose="02020603050405020304" pitchFamily="18" charset="0"/>
                <a:cs typeface="Times New Roman" panose="02020603050405020304" pitchFamily="18" charset="0"/>
              </a:rPr>
              <a:t>“</a:t>
            </a:r>
            <a:endParaRPr lang="en-IN" sz="4718" b="1" dirty="0">
              <a:solidFill>
                <a:schemeClr val="accent6"/>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4645661" y="1580722"/>
            <a:ext cx="1034096" cy="726033"/>
          </a:xfrm>
          <a:prstGeom prst="rect">
            <a:avLst/>
          </a:prstGeom>
          <a:noFill/>
        </p:spPr>
        <p:txBody>
          <a:bodyPr wrap="square" lIns="0" tIns="0" rIns="0" bIns="0" rtlCol="0">
            <a:spAutoFit/>
          </a:bodyPr>
          <a:lstStyle/>
          <a:p>
            <a:pPr>
              <a:spcBef>
                <a:spcPts val="566"/>
              </a:spcBef>
              <a:buSzPct val="100000"/>
            </a:pPr>
            <a:r>
              <a:rPr lang="en-US" sz="4718" b="1" dirty="0">
                <a:solidFill>
                  <a:schemeClr val="accent6"/>
                </a:solidFill>
                <a:latin typeface="Times New Roman" panose="02020603050405020304" pitchFamily="18" charset="0"/>
                <a:cs typeface="Times New Roman" panose="02020603050405020304" pitchFamily="18" charset="0"/>
              </a:rPr>
              <a:t>”</a:t>
            </a:r>
            <a:endParaRPr lang="en-IN" sz="4718" b="1" dirty="0">
              <a:solidFill>
                <a:schemeClr val="accent6"/>
              </a:solidFill>
              <a:latin typeface="Times New Roman" panose="02020603050405020304" pitchFamily="18" charset="0"/>
              <a:cs typeface="Times New Roman" panose="02020603050405020304" pitchFamily="18" charset="0"/>
            </a:endParaRPr>
          </a:p>
        </p:txBody>
      </p:sp>
      <p:graphicFrame>
        <p:nvGraphicFramePr>
          <p:cNvPr id="18" name="Diagram 17"/>
          <p:cNvGraphicFramePr/>
          <p:nvPr/>
        </p:nvGraphicFramePr>
        <p:xfrm>
          <a:off x="752567" y="5259460"/>
          <a:ext cx="9218747" cy="31207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9" name="TextBox 18"/>
          <p:cNvSpPr txBox="1"/>
          <p:nvPr/>
        </p:nvSpPr>
        <p:spPr>
          <a:xfrm>
            <a:off x="808132" y="5571533"/>
            <a:ext cx="3062553" cy="1138389"/>
          </a:xfrm>
          <a:prstGeom prst="rect">
            <a:avLst/>
          </a:prstGeom>
          <a:noFill/>
        </p:spPr>
        <p:txBody>
          <a:bodyPr wrap="square" rtlCol="0">
            <a:spAutoFit/>
          </a:bodyPr>
          <a:lstStyle/>
          <a:p>
            <a:r>
              <a:rPr lang="en-US" sz="1133" dirty="0">
                <a:latin typeface="Verdana" panose="020B0604030504040204" pitchFamily="34" charset="0"/>
                <a:ea typeface="Verdana" panose="020B0604030504040204" pitchFamily="34" charset="0"/>
                <a:cs typeface="Verdana" panose="020B0604030504040204" pitchFamily="34" charset="0"/>
              </a:rPr>
              <a:t>LEAP can be used in the backend by other windows programs using API (Application Programming Interface). JavaScript can be used to design a web interface - a user friendly interface for  the collection of inputs from the user.</a:t>
            </a:r>
            <a:endParaRPr lang="en-IN" sz="1133" dirty="0">
              <a:latin typeface="Verdana" panose="020B0604030504040204" pitchFamily="34" charset="0"/>
              <a:ea typeface="Verdana" panose="020B0604030504040204" pitchFamily="34" charset="0"/>
              <a:cs typeface="Verdana" panose="020B0604030504040204" pitchFamily="34" charset="0"/>
            </a:endParaRPr>
          </a:p>
        </p:txBody>
      </p:sp>
      <p:sp>
        <p:nvSpPr>
          <p:cNvPr id="20" name="TextBox 19"/>
          <p:cNvSpPr txBox="1"/>
          <p:nvPr/>
        </p:nvSpPr>
        <p:spPr>
          <a:xfrm>
            <a:off x="6759193" y="5611476"/>
            <a:ext cx="3069632" cy="964046"/>
          </a:xfrm>
          <a:prstGeom prst="rect">
            <a:avLst/>
          </a:prstGeom>
          <a:noFill/>
        </p:spPr>
        <p:txBody>
          <a:bodyPr wrap="square" rtlCol="0">
            <a:spAutoFit/>
          </a:bodyPr>
          <a:lstStyle/>
          <a:p>
            <a:r>
              <a:rPr lang="en-US" sz="1133" dirty="0">
                <a:latin typeface="Verdana" panose="020B0604030504040204" pitchFamily="34" charset="0"/>
                <a:ea typeface="Verdana" panose="020B0604030504040204" pitchFamily="34" charset="0"/>
                <a:cs typeface="Verdana" panose="020B0604030504040204" pitchFamily="34" charset="0"/>
              </a:rPr>
              <a:t>The results that are stored in excel files can then be exported directly or could be represented using graphs/charts in the form of energy calculator. </a:t>
            </a:r>
          </a:p>
          <a:p>
            <a:pPr lvl="1"/>
            <a:r>
              <a:rPr lang="en-US" sz="1133" dirty="0">
                <a:latin typeface="Verdana" panose="020B0604030504040204" pitchFamily="34" charset="0"/>
                <a:ea typeface="Verdana" panose="020B0604030504040204" pitchFamily="34" charset="0"/>
                <a:cs typeface="Verdana" panose="020B0604030504040204" pitchFamily="34" charset="0"/>
              </a:rPr>
              <a:t> </a:t>
            </a:r>
            <a:endParaRPr lang="en-IN" sz="1133" dirty="0">
              <a:latin typeface="Verdana" panose="020B0604030504040204" pitchFamily="34" charset="0"/>
              <a:ea typeface="Verdana" panose="020B0604030504040204" pitchFamily="34" charset="0"/>
              <a:cs typeface="Verdana" panose="020B0604030504040204" pitchFamily="34" charset="0"/>
            </a:endParaRPr>
          </a:p>
        </p:txBody>
      </p:sp>
      <p:sp>
        <p:nvSpPr>
          <p:cNvPr id="21" name="TextBox 20"/>
          <p:cNvSpPr txBox="1"/>
          <p:nvPr/>
        </p:nvSpPr>
        <p:spPr>
          <a:xfrm>
            <a:off x="3829169" y="5655032"/>
            <a:ext cx="2848691" cy="615361"/>
          </a:xfrm>
          <a:prstGeom prst="rect">
            <a:avLst/>
          </a:prstGeom>
          <a:noFill/>
        </p:spPr>
        <p:txBody>
          <a:bodyPr wrap="square" rtlCol="0">
            <a:spAutoFit/>
          </a:bodyPr>
          <a:lstStyle/>
          <a:p>
            <a:r>
              <a:rPr lang="en-US" sz="1133" dirty="0">
                <a:latin typeface="Verdana" panose="020B0604030504040204" pitchFamily="34" charset="0"/>
                <a:ea typeface="Verdana" panose="020B0604030504040204" pitchFamily="34" charset="0"/>
                <a:cs typeface="Verdana" panose="020B0604030504040204" pitchFamily="34" charset="0"/>
              </a:rPr>
              <a:t>Microsoft’s script editor can be used to access LEAP API. These results can be exported to excel. </a:t>
            </a:r>
            <a:endParaRPr lang="en-IN" sz="1133" dirty="0">
              <a:latin typeface="Verdana" panose="020B0604030504040204" pitchFamily="34" charset="0"/>
              <a:ea typeface="Verdana" panose="020B0604030504040204" pitchFamily="34" charset="0"/>
              <a:cs typeface="Verdana" panose="020B0604030504040204" pitchFamily="34" charset="0"/>
            </a:endParaRPr>
          </a:p>
        </p:txBody>
      </p:sp>
      <p:sp>
        <p:nvSpPr>
          <p:cNvPr id="23"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24"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Work Package-V: Decision Support Tool and Energy Calculator</a:t>
            </a:r>
          </a:p>
        </p:txBody>
      </p:sp>
    </p:spTree>
    <p:extLst>
      <p:ext uri="{BB962C8B-B14F-4D97-AF65-F5344CB8AC3E}">
        <p14:creationId xmlns:p14="http://schemas.microsoft.com/office/powerpoint/2010/main" val="300322951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Box 93"/>
          <p:cNvSpPr txBox="1"/>
          <p:nvPr/>
        </p:nvSpPr>
        <p:spPr>
          <a:xfrm>
            <a:off x="475491" y="4873307"/>
            <a:ext cx="9675376" cy="783193"/>
          </a:xfrm>
          <a:prstGeom prst="roundRect">
            <a:avLst/>
          </a:prstGeom>
          <a:noFill/>
          <a:ln>
            <a:solidFill>
              <a:schemeClr val="accent6"/>
            </a:solidFill>
          </a:ln>
        </p:spPr>
        <p:txBody>
          <a:bodyPr wrap="square" lIns="0" tIns="0" rIns="0" bIns="0" rtlCol="0">
            <a:spAutoFit/>
          </a:bodyPr>
          <a:lstStyle/>
          <a:p>
            <a:pPr marL="203200" indent="-203200">
              <a:spcBef>
                <a:spcPts val="600"/>
              </a:spcBef>
              <a:buSzPct val="100000"/>
              <a:buFont typeface="Arial"/>
              <a:buChar char="•"/>
            </a:pPr>
            <a:r>
              <a:rPr lang="en-US" sz="1200" dirty="0">
                <a:solidFill>
                  <a:srgbClr val="313131"/>
                </a:solidFill>
              </a:rPr>
              <a:t>The Draft Plan shall be discussed with all relevant stakeholders</a:t>
            </a:r>
          </a:p>
          <a:p>
            <a:pPr marL="203200" indent="-203200">
              <a:spcBef>
                <a:spcPts val="600"/>
              </a:spcBef>
              <a:buSzPct val="100000"/>
              <a:buFont typeface="Arial"/>
              <a:buChar char="•"/>
            </a:pPr>
            <a:r>
              <a:rPr lang="en-US" sz="1200" dirty="0">
                <a:solidFill>
                  <a:srgbClr val="313131"/>
                </a:solidFill>
              </a:rPr>
              <a:t>Stakeholder consultation workshop to be organized on the theme: </a:t>
            </a:r>
            <a:r>
              <a:rPr lang="en-US" sz="1200" b="1" dirty="0">
                <a:solidFill>
                  <a:srgbClr val="313131"/>
                </a:solidFill>
              </a:rPr>
              <a:t>Final workshop and Way Ahead</a:t>
            </a:r>
          </a:p>
          <a:p>
            <a:pPr marL="203200" indent="-203200">
              <a:spcBef>
                <a:spcPts val="600"/>
              </a:spcBef>
              <a:buSzPct val="100000"/>
              <a:buFont typeface="Arial"/>
              <a:buChar char="•"/>
            </a:pPr>
            <a:r>
              <a:rPr lang="en-US" sz="1200" dirty="0">
                <a:solidFill>
                  <a:srgbClr val="313131"/>
                </a:solidFill>
              </a:rPr>
              <a:t>Our team shall respond to queries of different stakeholders and defend the plan</a:t>
            </a:r>
          </a:p>
        </p:txBody>
      </p:sp>
      <p:sp>
        <p:nvSpPr>
          <p:cNvPr id="95" name="Rectangle 94"/>
          <p:cNvSpPr/>
          <p:nvPr/>
        </p:nvSpPr>
        <p:spPr>
          <a:xfrm>
            <a:off x="475492" y="5909790"/>
            <a:ext cx="9564098" cy="1066959"/>
          </a:xfrm>
          <a:prstGeom prst="rect">
            <a:avLst/>
          </a:prstGeom>
          <a:solidFill>
            <a:schemeClr val="bg1">
              <a:lumMod val="95000"/>
            </a:schemeClr>
          </a:solidFill>
          <a:ln>
            <a:solidFill>
              <a:schemeClr val="accent6"/>
            </a:solidFill>
          </a:ln>
        </p:spPr>
        <p:txBody>
          <a:bodyPr wrap="square">
            <a:spAutoFit/>
          </a:bodyPr>
          <a:lstStyle/>
          <a:p>
            <a:pPr marL="285750" indent="-285750">
              <a:lnSpc>
                <a:spcPts val="1600"/>
              </a:lnSpc>
              <a:spcBef>
                <a:spcPts val="600"/>
              </a:spcBef>
              <a:spcAft>
                <a:spcPts val="600"/>
              </a:spcAft>
              <a:buFont typeface="Arial" panose="020B0604020202020204" pitchFamily="34" charset="0"/>
              <a:buChar char="•"/>
            </a:pPr>
            <a:r>
              <a:rPr lang="en-IN" sz="1400" dirty="0"/>
              <a:t>Ad-hoc support as per the requests received by GIZ from the state partners for meeting the objectives of EP and EAP</a:t>
            </a:r>
          </a:p>
          <a:p>
            <a:pPr marL="285750" indent="-285750">
              <a:lnSpc>
                <a:spcPts val="1600"/>
              </a:lnSpc>
              <a:spcBef>
                <a:spcPts val="600"/>
              </a:spcBef>
              <a:spcAft>
                <a:spcPts val="600"/>
              </a:spcAft>
              <a:buFont typeface="Arial" panose="020B0604020202020204" pitchFamily="34" charset="0"/>
              <a:buChar char="•"/>
            </a:pPr>
            <a:r>
              <a:rPr lang="en-IN" sz="1400" dirty="0"/>
              <a:t>A dedicated pool of resources have been proposed to support the execution of this assignment and ensure successful delivery</a:t>
            </a:r>
          </a:p>
        </p:txBody>
      </p:sp>
      <p:sp>
        <p:nvSpPr>
          <p:cNvPr id="96" name="Pentagon 95"/>
          <p:cNvSpPr/>
          <p:nvPr/>
        </p:nvSpPr>
        <p:spPr bwMode="gray">
          <a:xfrm>
            <a:off x="475492" y="5729507"/>
            <a:ext cx="9564098" cy="191612"/>
          </a:xfrm>
          <a:prstGeom prst="homePlate">
            <a:avLst/>
          </a:prstGeom>
          <a:solidFill>
            <a:schemeClr val="accent6"/>
          </a:solidFill>
          <a:ln w="19050" algn="ctr">
            <a:noFill/>
            <a:miter lim="800000"/>
            <a:headEnd/>
            <a:tailEnd/>
          </a:ln>
        </p:spPr>
        <p:txBody>
          <a:bodyPr wrap="square" lIns="108000" tIns="108000" rIns="108000" bIns="108000" rtlCol="0" anchor="ctr"/>
          <a:lstStyle/>
          <a:p>
            <a:pPr algn="ctr">
              <a:lnSpc>
                <a:spcPct val="106000"/>
              </a:lnSpc>
              <a:buFont typeface="Wingdings 2" pitchFamily="18" charset="2"/>
              <a:buNone/>
            </a:pPr>
            <a:r>
              <a:rPr lang="en-US" sz="1200" b="1" dirty="0">
                <a:solidFill>
                  <a:schemeClr val="bg1"/>
                </a:solidFill>
              </a:rPr>
              <a:t>AD-HOC SUPPORT</a:t>
            </a:r>
            <a:endParaRPr lang="en-IN" sz="1200" b="1" dirty="0">
              <a:solidFill>
                <a:schemeClr val="bg1"/>
              </a:solidFill>
            </a:endParaRPr>
          </a:p>
        </p:txBody>
      </p:sp>
      <p:graphicFrame>
        <p:nvGraphicFramePr>
          <p:cNvPr id="97" name="Table 96"/>
          <p:cNvGraphicFramePr>
            <a:graphicFrameLocks noGrp="1"/>
          </p:cNvGraphicFramePr>
          <p:nvPr>
            <p:extLst>
              <p:ext uri="{D42A27DB-BD31-4B8C-83A1-F6EECF244321}">
                <p14:modId xmlns:p14="http://schemas.microsoft.com/office/powerpoint/2010/main" val="4271855760"/>
              </p:ext>
            </p:extLst>
          </p:nvPr>
        </p:nvGraphicFramePr>
        <p:xfrm>
          <a:off x="475493" y="1776530"/>
          <a:ext cx="9675374" cy="2801336"/>
        </p:xfrm>
        <a:graphic>
          <a:graphicData uri="http://schemas.openxmlformats.org/drawingml/2006/table">
            <a:tbl>
              <a:tblPr firstRow="1" bandRow="1">
                <a:tableStyleId>{7E9639D4-E3E2-4D34-9284-5A2195B3D0D7}</a:tableStyleId>
              </a:tblPr>
              <a:tblGrid>
                <a:gridCol w="2997172">
                  <a:extLst>
                    <a:ext uri="{9D8B030D-6E8A-4147-A177-3AD203B41FA5}">
                      <a16:colId xmlns:a16="http://schemas.microsoft.com/office/drawing/2014/main" val="1499189407"/>
                    </a:ext>
                  </a:extLst>
                </a:gridCol>
                <a:gridCol w="3308279">
                  <a:extLst>
                    <a:ext uri="{9D8B030D-6E8A-4147-A177-3AD203B41FA5}">
                      <a16:colId xmlns:a16="http://schemas.microsoft.com/office/drawing/2014/main" val="3387710300"/>
                    </a:ext>
                  </a:extLst>
                </a:gridCol>
                <a:gridCol w="827680">
                  <a:extLst>
                    <a:ext uri="{9D8B030D-6E8A-4147-A177-3AD203B41FA5}">
                      <a16:colId xmlns:a16="http://schemas.microsoft.com/office/drawing/2014/main" val="1534388000"/>
                    </a:ext>
                  </a:extLst>
                </a:gridCol>
                <a:gridCol w="1306630">
                  <a:extLst>
                    <a:ext uri="{9D8B030D-6E8A-4147-A177-3AD203B41FA5}">
                      <a16:colId xmlns:a16="http://schemas.microsoft.com/office/drawing/2014/main" val="3233829168"/>
                    </a:ext>
                  </a:extLst>
                </a:gridCol>
                <a:gridCol w="1235613">
                  <a:extLst>
                    <a:ext uri="{9D8B030D-6E8A-4147-A177-3AD203B41FA5}">
                      <a16:colId xmlns:a16="http://schemas.microsoft.com/office/drawing/2014/main" val="949864447"/>
                    </a:ext>
                  </a:extLst>
                </a:gridCol>
              </a:tblGrid>
              <a:tr h="265429">
                <a:tc>
                  <a:txBody>
                    <a:bodyPr/>
                    <a:lstStyle/>
                    <a:p>
                      <a:r>
                        <a:rPr lang="en-IN" sz="1050" b="0" dirty="0">
                          <a:latin typeface="+mn-lt"/>
                        </a:rPr>
                        <a:t>Scale Up &amp; Deploy</a:t>
                      </a:r>
                    </a:p>
                  </a:txBody>
                  <a:tcPr/>
                </a:tc>
                <a:tc>
                  <a:txBody>
                    <a:bodyPr/>
                    <a:lstStyle/>
                    <a:p>
                      <a:r>
                        <a:rPr lang="en-US" sz="1050" b="0" dirty="0">
                          <a:latin typeface="+mn-lt"/>
                        </a:rPr>
                        <a:t>2030 Indicative Metrics</a:t>
                      </a:r>
                      <a:endParaRPr lang="en-IN" sz="1050" b="0" dirty="0">
                        <a:latin typeface="+mn-lt"/>
                      </a:endParaRPr>
                    </a:p>
                  </a:txBody>
                  <a:tcPr/>
                </a:tc>
                <a:tc>
                  <a:txBody>
                    <a:bodyPr/>
                    <a:lstStyle/>
                    <a:p>
                      <a:r>
                        <a:rPr lang="en-US" sz="1050" b="0" dirty="0">
                          <a:latin typeface="+mn-lt"/>
                        </a:rPr>
                        <a:t>2030</a:t>
                      </a:r>
                      <a:endParaRPr lang="en-IN" sz="1050" b="0" dirty="0">
                        <a:latin typeface="+mn-lt"/>
                      </a:endParaRPr>
                    </a:p>
                  </a:txBody>
                  <a:tcPr/>
                </a:tc>
                <a:tc>
                  <a:txBody>
                    <a:bodyPr/>
                    <a:lstStyle/>
                    <a:p>
                      <a:r>
                        <a:rPr lang="en-US" sz="1050" b="0" dirty="0">
                          <a:latin typeface="+mn-lt"/>
                        </a:rPr>
                        <a:t>2040</a:t>
                      </a:r>
                      <a:endParaRPr lang="en-IN" sz="1050" b="0" dirty="0">
                        <a:latin typeface="+mn-lt"/>
                      </a:endParaRPr>
                    </a:p>
                  </a:txBody>
                  <a:tcPr/>
                </a:tc>
                <a:tc>
                  <a:txBody>
                    <a:bodyPr/>
                    <a:lstStyle/>
                    <a:p>
                      <a:r>
                        <a:rPr lang="en-US" sz="1050" b="0" dirty="0">
                          <a:latin typeface="+mn-lt"/>
                        </a:rPr>
                        <a:t>2050</a:t>
                      </a:r>
                      <a:endParaRPr lang="en-IN" sz="1050" b="0" dirty="0">
                        <a:latin typeface="+mn-lt"/>
                      </a:endParaRPr>
                    </a:p>
                  </a:txBody>
                  <a:tcPr/>
                </a:tc>
                <a:extLst>
                  <a:ext uri="{0D108BD9-81ED-4DB2-BD59-A6C34878D82A}">
                    <a16:rowId xmlns:a16="http://schemas.microsoft.com/office/drawing/2014/main" val="145607686"/>
                  </a:ext>
                </a:extLst>
              </a:tr>
              <a:tr h="269114">
                <a:tc>
                  <a:txBody>
                    <a:bodyPr/>
                    <a:lstStyle/>
                    <a:p>
                      <a:r>
                        <a:rPr lang="en-US" sz="1050" dirty="0">
                          <a:latin typeface="+mn-lt"/>
                        </a:rPr>
                        <a:t>Energy efficiency in buildings &amp; industry</a:t>
                      </a:r>
                      <a:endParaRPr lang="en-IN" sz="1050" dirty="0">
                        <a:latin typeface="+mn-lt"/>
                      </a:endParaRPr>
                    </a:p>
                  </a:txBody>
                  <a:tcPr/>
                </a:tc>
                <a:tc>
                  <a:txBody>
                    <a:bodyPr/>
                    <a:lstStyle/>
                    <a:p>
                      <a:pPr marL="0" indent="0">
                        <a:buNone/>
                      </a:pPr>
                      <a:r>
                        <a:rPr lang="en-US" sz="1050" dirty="0">
                          <a:latin typeface="+mn-lt"/>
                        </a:rPr>
                        <a:t>Deployment of LED lighting </a:t>
                      </a:r>
                    </a:p>
                  </a:txBody>
                  <a:tcPr/>
                </a:tc>
                <a:tc>
                  <a:txBody>
                    <a:bodyPr/>
                    <a:lstStyle/>
                    <a:p>
                      <a:r>
                        <a:rPr lang="en-US" sz="1050" dirty="0">
                          <a:latin typeface="+mn-lt"/>
                        </a:rPr>
                        <a:t>3 </a:t>
                      </a:r>
                      <a:r>
                        <a:rPr lang="en-US" sz="1050" dirty="0" err="1">
                          <a:latin typeface="+mn-lt"/>
                        </a:rPr>
                        <a:t>milllion</a:t>
                      </a:r>
                      <a:endParaRPr lang="en-IN" sz="1050" dirty="0">
                        <a:latin typeface="+mn-lt"/>
                      </a:endParaRPr>
                    </a:p>
                  </a:txBody>
                  <a:tcPr/>
                </a:tc>
                <a:tc>
                  <a:txBody>
                    <a:bodyPr/>
                    <a:lstStyle/>
                    <a:p>
                      <a:r>
                        <a:rPr lang="en-US" sz="1050" dirty="0">
                          <a:latin typeface="+mn-lt"/>
                        </a:rPr>
                        <a:t>5 million</a:t>
                      </a:r>
                      <a:endParaRPr lang="en-IN" sz="1050" dirty="0">
                        <a:latin typeface="+mn-lt"/>
                      </a:endParaRPr>
                    </a:p>
                  </a:txBody>
                  <a:tcPr/>
                </a:tc>
                <a:tc>
                  <a:txBody>
                    <a:bodyPr/>
                    <a:lstStyle/>
                    <a:p>
                      <a:r>
                        <a:rPr lang="en-US" sz="1050" dirty="0">
                          <a:latin typeface="+mn-lt"/>
                        </a:rPr>
                        <a:t>7 million</a:t>
                      </a:r>
                      <a:endParaRPr lang="en-IN" sz="1050" dirty="0">
                        <a:latin typeface="+mn-lt"/>
                      </a:endParaRPr>
                    </a:p>
                  </a:txBody>
                  <a:tcPr/>
                </a:tc>
                <a:extLst>
                  <a:ext uri="{0D108BD9-81ED-4DB2-BD59-A6C34878D82A}">
                    <a16:rowId xmlns:a16="http://schemas.microsoft.com/office/drawing/2014/main" val="900436516"/>
                  </a:ext>
                </a:extLst>
              </a:tr>
              <a:tr h="335267">
                <a:tc>
                  <a:txBody>
                    <a:bodyPr/>
                    <a:lstStyle/>
                    <a:p>
                      <a:r>
                        <a:rPr lang="en-IN" sz="1050" dirty="0">
                          <a:latin typeface="+mn-lt"/>
                        </a:rPr>
                        <a:t>Renewable electricity </a:t>
                      </a:r>
                    </a:p>
                  </a:txBody>
                  <a:tcPr/>
                </a:tc>
                <a:tc>
                  <a:txBody>
                    <a:bodyPr/>
                    <a:lstStyle/>
                    <a:p>
                      <a:r>
                        <a:rPr lang="en-US" sz="1050" dirty="0">
                          <a:latin typeface="+mn-lt"/>
                        </a:rPr>
                        <a:t>Solar generation</a:t>
                      </a:r>
                      <a:r>
                        <a:rPr lang="en-US" sz="1050" baseline="0" dirty="0">
                          <a:latin typeface="+mn-lt"/>
                        </a:rPr>
                        <a:t> as % of overall generation</a:t>
                      </a:r>
                      <a:endParaRPr lang="en-IN" sz="1050" dirty="0">
                        <a:latin typeface="+mn-lt"/>
                      </a:endParaRPr>
                    </a:p>
                  </a:txBody>
                  <a:tcPr/>
                </a:tc>
                <a:tc>
                  <a:txBody>
                    <a:bodyPr/>
                    <a:lstStyle/>
                    <a:p>
                      <a:r>
                        <a:rPr lang="en-US" sz="1050" dirty="0">
                          <a:latin typeface="+mn-lt"/>
                        </a:rPr>
                        <a:t>20%</a:t>
                      </a:r>
                      <a:endParaRPr lang="en-IN" sz="1050" dirty="0">
                        <a:latin typeface="+mn-lt"/>
                      </a:endParaRPr>
                    </a:p>
                  </a:txBody>
                  <a:tcPr/>
                </a:tc>
                <a:tc>
                  <a:txBody>
                    <a:bodyPr/>
                    <a:lstStyle/>
                    <a:p>
                      <a:r>
                        <a:rPr lang="en-US" sz="1050" dirty="0">
                          <a:latin typeface="+mn-lt"/>
                        </a:rPr>
                        <a:t>30%</a:t>
                      </a:r>
                      <a:endParaRPr lang="en-IN" sz="1050" dirty="0">
                        <a:latin typeface="+mn-lt"/>
                      </a:endParaRPr>
                    </a:p>
                  </a:txBody>
                  <a:tcPr/>
                </a:tc>
                <a:tc>
                  <a:txBody>
                    <a:bodyPr/>
                    <a:lstStyle/>
                    <a:p>
                      <a:r>
                        <a:rPr lang="en-US" sz="1050" dirty="0">
                          <a:latin typeface="+mn-lt"/>
                        </a:rPr>
                        <a:t>40%</a:t>
                      </a:r>
                      <a:endParaRPr lang="en-IN" sz="1050" dirty="0">
                        <a:latin typeface="+mn-lt"/>
                      </a:endParaRPr>
                    </a:p>
                  </a:txBody>
                  <a:tcPr/>
                </a:tc>
                <a:extLst>
                  <a:ext uri="{0D108BD9-81ED-4DB2-BD59-A6C34878D82A}">
                    <a16:rowId xmlns:a16="http://schemas.microsoft.com/office/drawing/2014/main" val="328887356"/>
                  </a:ext>
                </a:extLst>
              </a:tr>
              <a:tr h="265429">
                <a:tc>
                  <a:txBody>
                    <a:bodyPr/>
                    <a:lstStyle/>
                    <a:p>
                      <a:r>
                        <a:rPr lang="en-IN" sz="1050" dirty="0">
                          <a:latin typeface="+mn-lt"/>
                        </a:rPr>
                        <a:t>Smart growth</a:t>
                      </a:r>
                    </a:p>
                  </a:txBody>
                  <a:tcPr/>
                </a:tc>
                <a:tc>
                  <a:txBody>
                    <a:bodyPr/>
                    <a:lstStyle/>
                    <a:p>
                      <a:r>
                        <a:rPr lang="en-US" sz="1050" dirty="0">
                          <a:latin typeface="+mn-lt"/>
                        </a:rPr>
                        <a:t>Average Vehicle Miles travelled</a:t>
                      </a:r>
                      <a:endParaRPr lang="en-IN" sz="1050" dirty="0">
                        <a:latin typeface="+mn-lt"/>
                      </a:endParaRPr>
                    </a:p>
                  </a:txBody>
                  <a:tcPr/>
                </a:tc>
                <a:tc>
                  <a:txBody>
                    <a:bodyPr/>
                    <a:lstStyle/>
                    <a:p>
                      <a:r>
                        <a:rPr lang="en-US" sz="1050" dirty="0">
                          <a:latin typeface="+mn-lt"/>
                        </a:rPr>
                        <a:t>2300</a:t>
                      </a:r>
                      <a:endParaRPr lang="en-IN" sz="1050" dirty="0">
                        <a:latin typeface="+mn-lt"/>
                      </a:endParaRPr>
                    </a:p>
                  </a:txBody>
                  <a:tcPr/>
                </a:tc>
                <a:tc>
                  <a:txBody>
                    <a:bodyPr/>
                    <a:lstStyle/>
                    <a:p>
                      <a:r>
                        <a:rPr lang="en-US" sz="1050" dirty="0">
                          <a:latin typeface="+mn-lt"/>
                        </a:rPr>
                        <a:t>2000</a:t>
                      </a:r>
                      <a:endParaRPr lang="en-IN" sz="1050" dirty="0">
                        <a:latin typeface="+mn-lt"/>
                      </a:endParaRPr>
                    </a:p>
                  </a:txBody>
                  <a:tcPr/>
                </a:tc>
                <a:tc>
                  <a:txBody>
                    <a:bodyPr/>
                    <a:lstStyle/>
                    <a:p>
                      <a:r>
                        <a:rPr lang="en-US" sz="1050" dirty="0">
                          <a:latin typeface="+mn-lt"/>
                        </a:rPr>
                        <a:t>1800</a:t>
                      </a:r>
                      <a:endParaRPr lang="en-IN" sz="1050" dirty="0">
                        <a:latin typeface="+mn-lt"/>
                      </a:endParaRPr>
                    </a:p>
                  </a:txBody>
                  <a:tcPr/>
                </a:tc>
                <a:extLst>
                  <a:ext uri="{0D108BD9-81ED-4DB2-BD59-A6C34878D82A}">
                    <a16:rowId xmlns:a16="http://schemas.microsoft.com/office/drawing/2014/main" val="2935040797"/>
                  </a:ext>
                </a:extLst>
              </a:tr>
              <a:tr h="265429">
                <a:tc>
                  <a:txBody>
                    <a:bodyPr/>
                    <a:lstStyle/>
                    <a:p>
                      <a:r>
                        <a:rPr lang="en-IN" sz="1050" b="0" dirty="0">
                          <a:solidFill>
                            <a:schemeClr val="bg1"/>
                          </a:solidFill>
                          <a:latin typeface="+mn-lt"/>
                        </a:rPr>
                        <a:t>Market Transformation</a:t>
                      </a:r>
                    </a:p>
                  </a:txBody>
                  <a:tcPr>
                    <a:solidFill>
                      <a:schemeClr val="tx1"/>
                    </a:solidFill>
                  </a:tcPr>
                </a:tc>
                <a:tc>
                  <a:txBody>
                    <a:bodyPr/>
                    <a:lstStyle/>
                    <a:p>
                      <a:r>
                        <a:rPr lang="en-US" sz="1050" b="0" dirty="0">
                          <a:solidFill>
                            <a:schemeClr val="bg1"/>
                          </a:solidFill>
                          <a:latin typeface="+mn-lt"/>
                        </a:rPr>
                        <a:t>2030 Indicative Metrics</a:t>
                      </a:r>
                      <a:endParaRPr lang="en-IN" sz="1050" b="0" dirty="0">
                        <a:solidFill>
                          <a:schemeClr val="bg1"/>
                        </a:solidFill>
                        <a:latin typeface="+mn-lt"/>
                      </a:endParaRPr>
                    </a:p>
                  </a:txBody>
                  <a:tcPr>
                    <a:solidFill>
                      <a:schemeClr val="tx1"/>
                    </a:solidFill>
                  </a:tcPr>
                </a:tc>
                <a:tc>
                  <a:txBody>
                    <a:bodyPr/>
                    <a:lstStyle/>
                    <a:p>
                      <a:r>
                        <a:rPr lang="en-US" sz="1050" b="0" dirty="0">
                          <a:solidFill>
                            <a:schemeClr val="bg1"/>
                          </a:solidFill>
                          <a:latin typeface="+mn-lt"/>
                        </a:rPr>
                        <a:t>2030</a:t>
                      </a:r>
                      <a:endParaRPr lang="en-IN" sz="1050" b="0" dirty="0">
                        <a:solidFill>
                          <a:schemeClr val="bg1"/>
                        </a:solidFill>
                        <a:latin typeface="+mn-lt"/>
                      </a:endParaRPr>
                    </a:p>
                  </a:txBody>
                  <a:tcPr>
                    <a:solidFill>
                      <a:schemeClr val="tx1"/>
                    </a:solidFill>
                  </a:tcPr>
                </a:tc>
                <a:tc>
                  <a:txBody>
                    <a:bodyPr/>
                    <a:lstStyle/>
                    <a:p>
                      <a:r>
                        <a:rPr lang="en-US" sz="1050" b="0" dirty="0">
                          <a:solidFill>
                            <a:schemeClr val="bg1"/>
                          </a:solidFill>
                          <a:latin typeface="+mn-lt"/>
                        </a:rPr>
                        <a:t>2040</a:t>
                      </a:r>
                      <a:endParaRPr lang="en-IN" sz="1050" b="0" dirty="0">
                        <a:solidFill>
                          <a:schemeClr val="bg1"/>
                        </a:solidFill>
                        <a:latin typeface="+mn-lt"/>
                      </a:endParaRPr>
                    </a:p>
                  </a:txBody>
                  <a:tcPr>
                    <a:solidFill>
                      <a:schemeClr val="tx1"/>
                    </a:solidFill>
                  </a:tcPr>
                </a:tc>
                <a:tc>
                  <a:txBody>
                    <a:bodyPr/>
                    <a:lstStyle/>
                    <a:p>
                      <a:r>
                        <a:rPr lang="en-US" sz="1050" b="0" dirty="0">
                          <a:solidFill>
                            <a:schemeClr val="bg1"/>
                          </a:solidFill>
                          <a:latin typeface="+mn-lt"/>
                        </a:rPr>
                        <a:t>2050</a:t>
                      </a:r>
                      <a:endParaRPr lang="en-IN" sz="1050" b="0" dirty="0">
                        <a:solidFill>
                          <a:schemeClr val="bg1"/>
                        </a:solidFill>
                        <a:latin typeface="+mn-lt"/>
                      </a:endParaRPr>
                    </a:p>
                  </a:txBody>
                  <a:tcPr>
                    <a:solidFill>
                      <a:schemeClr val="tx1"/>
                    </a:solidFill>
                  </a:tcPr>
                </a:tc>
                <a:extLst>
                  <a:ext uri="{0D108BD9-81ED-4DB2-BD59-A6C34878D82A}">
                    <a16:rowId xmlns:a16="http://schemas.microsoft.com/office/drawing/2014/main" val="618314133"/>
                  </a:ext>
                </a:extLst>
              </a:tr>
              <a:tr h="269114">
                <a:tc>
                  <a:txBody>
                    <a:bodyPr/>
                    <a:lstStyle/>
                    <a:p>
                      <a:r>
                        <a:rPr lang="en-IN" sz="1050" dirty="0">
                          <a:latin typeface="+mn-lt"/>
                        </a:rPr>
                        <a:t>Zero-emission light duty vehicles (ZEV)</a:t>
                      </a:r>
                    </a:p>
                  </a:txBody>
                  <a:tcPr/>
                </a:tc>
                <a:tc>
                  <a:txBody>
                    <a:bodyPr/>
                    <a:lstStyle/>
                    <a:p>
                      <a:r>
                        <a:rPr lang="en-US" sz="1050" dirty="0">
                          <a:latin typeface="+mn-lt"/>
                        </a:rPr>
                        <a:t>Sale of Electric Vehicles</a:t>
                      </a:r>
                      <a:endParaRPr lang="en-IN" sz="1050" dirty="0">
                        <a:latin typeface="+mn-lt"/>
                      </a:endParaRPr>
                    </a:p>
                  </a:txBody>
                  <a:tcPr/>
                </a:tc>
                <a:tc>
                  <a:txBody>
                    <a:bodyPr/>
                    <a:lstStyle/>
                    <a:p>
                      <a:r>
                        <a:rPr lang="en-US" sz="1050" dirty="0">
                          <a:latin typeface="+mn-lt"/>
                        </a:rPr>
                        <a:t>2 million</a:t>
                      </a:r>
                      <a:endParaRPr lang="en-IN" sz="1050" dirty="0">
                        <a:latin typeface="+mn-lt"/>
                      </a:endParaRPr>
                    </a:p>
                  </a:txBody>
                  <a:tcPr/>
                </a:tc>
                <a:tc>
                  <a:txBody>
                    <a:bodyPr/>
                    <a:lstStyle/>
                    <a:p>
                      <a:r>
                        <a:rPr lang="en-US" sz="1050" dirty="0">
                          <a:latin typeface="+mn-lt"/>
                        </a:rPr>
                        <a:t>6 million</a:t>
                      </a:r>
                      <a:endParaRPr lang="en-IN" sz="1050" dirty="0">
                        <a:latin typeface="+mn-lt"/>
                      </a:endParaRPr>
                    </a:p>
                  </a:txBody>
                  <a:tcPr/>
                </a:tc>
                <a:tc>
                  <a:txBody>
                    <a:bodyPr/>
                    <a:lstStyle/>
                    <a:p>
                      <a:r>
                        <a:rPr lang="en-US" sz="1050" dirty="0">
                          <a:latin typeface="+mn-lt"/>
                        </a:rPr>
                        <a:t>8 million</a:t>
                      </a:r>
                      <a:endParaRPr lang="en-IN" sz="1050" dirty="0">
                        <a:latin typeface="+mn-lt"/>
                      </a:endParaRPr>
                    </a:p>
                  </a:txBody>
                  <a:tcPr/>
                </a:tc>
                <a:extLst>
                  <a:ext uri="{0D108BD9-81ED-4DB2-BD59-A6C34878D82A}">
                    <a16:rowId xmlns:a16="http://schemas.microsoft.com/office/drawing/2014/main" val="70816019"/>
                  </a:ext>
                </a:extLst>
              </a:tr>
              <a:tr h="335267">
                <a:tc>
                  <a:txBody>
                    <a:bodyPr/>
                    <a:lstStyle/>
                    <a:p>
                      <a:r>
                        <a:rPr lang="en-IN" sz="1050" dirty="0">
                          <a:latin typeface="+mn-lt"/>
                        </a:rPr>
                        <a:t>Fluorinated (F)-gas replacement </a:t>
                      </a:r>
                    </a:p>
                  </a:txBody>
                  <a:tcPr/>
                </a:tc>
                <a:tc>
                  <a:txBody>
                    <a:bodyPr/>
                    <a:lstStyle/>
                    <a:p>
                      <a:r>
                        <a:rPr lang="en-US" sz="1050" dirty="0">
                          <a:latin typeface="+mn-lt"/>
                        </a:rPr>
                        <a:t>Replacement of</a:t>
                      </a:r>
                      <a:r>
                        <a:rPr lang="en-US" sz="1050" baseline="0" dirty="0">
                          <a:latin typeface="+mn-lt"/>
                        </a:rPr>
                        <a:t> F-gases used as refrigerants</a:t>
                      </a:r>
                      <a:endParaRPr lang="en-IN" sz="1050" dirty="0">
                        <a:latin typeface="+mn-lt"/>
                      </a:endParaRPr>
                    </a:p>
                  </a:txBody>
                  <a:tcPr/>
                </a:tc>
                <a:tc>
                  <a:txBody>
                    <a:bodyPr/>
                    <a:lstStyle/>
                    <a:p>
                      <a:r>
                        <a:rPr lang="en-US" sz="1050" dirty="0">
                          <a:latin typeface="+mn-lt"/>
                        </a:rPr>
                        <a:t>10%</a:t>
                      </a:r>
                      <a:endParaRPr lang="en-IN" sz="1050" dirty="0">
                        <a:latin typeface="+mn-lt"/>
                      </a:endParaRPr>
                    </a:p>
                  </a:txBody>
                  <a:tcPr/>
                </a:tc>
                <a:tc>
                  <a:txBody>
                    <a:bodyPr/>
                    <a:lstStyle/>
                    <a:p>
                      <a:r>
                        <a:rPr lang="en-US" sz="1050" dirty="0">
                          <a:latin typeface="+mn-lt"/>
                        </a:rPr>
                        <a:t>20%</a:t>
                      </a:r>
                      <a:endParaRPr lang="en-IN" sz="1050" dirty="0">
                        <a:latin typeface="+mn-lt"/>
                      </a:endParaRPr>
                    </a:p>
                  </a:txBody>
                  <a:tcPr/>
                </a:tc>
                <a:tc>
                  <a:txBody>
                    <a:bodyPr/>
                    <a:lstStyle/>
                    <a:p>
                      <a:r>
                        <a:rPr lang="en-US" sz="1050" dirty="0">
                          <a:latin typeface="+mn-lt"/>
                        </a:rPr>
                        <a:t>30%</a:t>
                      </a:r>
                      <a:endParaRPr lang="en-IN" sz="1050" dirty="0">
                        <a:latin typeface="+mn-lt"/>
                      </a:endParaRPr>
                    </a:p>
                  </a:txBody>
                  <a:tcPr/>
                </a:tc>
                <a:extLst>
                  <a:ext uri="{0D108BD9-81ED-4DB2-BD59-A6C34878D82A}">
                    <a16:rowId xmlns:a16="http://schemas.microsoft.com/office/drawing/2014/main" val="906974111"/>
                  </a:ext>
                </a:extLst>
              </a:tr>
              <a:tr h="265429">
                <a:tc>
                  <a:txBody>
                    <a:bodyPr/>
                    <a:lstStyle/>
                    <a:p>
                      <a:r>
                        <a:rPr lang="en-US" sz="1050" b="0" dirty="0">
                          <a:solidFill>
                            <a:schemeClr val="bg1"/>
                          </a:solidFill>
                          <a:latin typeface="+mn-lt"/>
                        </a:rPr>
                        <a:t>“Reach” Technologies</a:t>
                      </a:r>
                      <a:endParaRPr lang="en-IN" sz="1050" b="0" dirty="0">
                        <a:solidFill>
                          <a:schemeClr val="bg1"/>
                        </a:solidFill>
                        <a:latin typeface="+mn-lt"/>
                      </a:endParaRPr>
                    </a:p>
                  </a:txBody>
                  <a:tcPr>
                    <a:solidFill>
                      <a:schemeClr val="tx1"/>
                    </a:solidFill>
                  </a:tcPr>
                </a:tc>
                <a:tc>
                  <a:txBody>
                    <a:bodyPr/>
                    <a:lstStyle/>
                    <a:p>
                      <a:r>
                        <a:rPr lang="en-US" sz="1050" b="0" dirty="0">
                          <a:solidFill>
                            <a:schemeClr val="bg1"/>
                          </a:solidFill>
                          <a:latin typeface="+mn-lt"/>
                        </a:rPr>
                        <a:t>2030 Indicative Metrics</a:t>
                      </a:r>
                      <a:endParaRPr lang="en-IN" sz="1050" b="0" dirty="0">
                        <a:solidFill>
                          <a:schemeClr val="bg1"/>
                        </a:solidFill>
                        <a:latin typeface="+mn-lt"/>
                      </a:endParaRPr>
                    </a:p>
                  </a:txBody>
                  <a:tcPr>
                    <a:solidFill>
                      <a:schemeClr val="tx1"/>
                    </a:solidFill>
                  </a:tcPr>
                </a:tc>
                <a:tc>
                  <a:txBody>
                    <a:bodyPr/>
                    <a:lstStyle/>
                    <a:p>
                      <a:r>
                        <a:rPr lang="en-US" sz="1050" b="0" dirty="0">
                          <a:solidFill>
                            <a:schemeClr val="bg1"/>
                          </a:solidFill>
                          <a:latin typeface="+mn-lt"/>
                        </a:rPr>
                        <a:t>2030</a:t>
                      </a:r>
                      <a:endParaRPr lang="en-IN" sz="1050" b="0" dirty="0">
                        <a:solidFill>
                          <a:schemeClr val="bg1"/>
                        </a:solidFill>
                        <a:latin typeface="+mn-lt"/>
                      </a:endParaRPr>
                    </a:p>
                  </a:txBody>
                  <a:tcPr>
                    <a:solidFill>
                      <a:schemeClr val="tx1"/>
                    </a:solidFill>
                  </a:tcPr>
                </a:tc>
                <a:tc>
                  <a:txBody>
                    <a:bodyPr/>
                    <a:lstStyle/>
                    <a:p>
                      <a:r>
                        <a:rPr lang="en-US" sz="1050" b="0" dirty="0">
                          <a:solidFill>
                            <a:schemeClr val="bg1"/>
                          </a:solidFill>
                          <a:latin typeface="+mn-lt"/>
                        </a:rPr>
                        <a:t>2040</a:t>
                      </a:r>
                      <a:endParaRPr lang="en-IN" sz="1050" b="0" dirty="0">
                        <a:solidFill>
                          <a:schemeClr val="bg1"/>
                        </a:solidFill>
                        <a:latin typeface="+mn-lt"/>
                      </a:endParaRPr>
                    </a:p>
                  </a:txBody>
                  <a:tcPr>
                    <a:solidFill>
                      <a:schemeClr val="tx1"/>
                    </a:solidFill>
                  </a:tcPr>
                </a:tc>
                <a:tc>
                  <a:txBody>
                    <a:bodyPr/>
                    <a:lstStyle/>
                    <a:p>
                      <a:r>
                        <a:rPr lang="en-US" sz="1050" b="0" dirty="0">
                          <a:solidFill>
                            <a:schemeClr val="bg1"/>
                          </a:solidFill>
                          <a:latin typeface="+mn-lt"/>
                        </a:rPr>
                        <a:t>2050</a:t>
                      </a:r>
                      <a:endParaRPr lang="en-IN" sz="1050" b="0" dirty="0">
                        <a:solidFill>
                          <a:schemeClr val="bg1"/>
                        </a:solidFill>
                        <a:latin typeface="+mn-lt"/>
                      </a:endParaRPr>
                    </a:p>
                  </a:txBody>
                  <a:tcPr>
                    <a:solidFill>
                      <a:schemeClr val="tx1"/>
                    </a:solidFill>
                  </a:tcPr>
                </a:tc>
                <a:extLst>
                  <a:ext uri="{0D108BD9-81ED-4DB2-BD59-A6C34878D82A}">
                    <a16:rowId xmlns:a16="http://schemas.microsoft.com/office/drawing/2014/main" val="3298774826"/>
                  </a:ext>
                </a:extLst>
              </a:tr>
              <a:tr h="265429">
                <a:tc>
                  <a:txBody>
                    <a:bodyPr/>
                    <a:lstStyle/>
                    <a:p>
                      <a:r>
                        <a:rPr lang="en-IN" sz="1050" dirty="0">
                          <a:latin typeface="+mn-lt"/>
                        </a:rPr>
                        <a:t>Advanced sustainable biofuels </a:t>
                      </a:r>
                      <a:endParaRPr lang="en-IN" sz="1050" b="1" dirty="0">
                        <a:solidFill>
                          <a:schemeClr val="bg1"/>
                        </a:solidFill>
                        <a:latin typeface="+mn-lt"/>
                      </a:endParaRPr>
                    </a:p>
                  </a:txBody>
                  <a:tcPr>
                    <a:noFill/>
                  </a:tcPr>
                </a:tc>
                <a:tc>
                  <a:txBody>
                    <a:bodyPr/>
                    <a:lstStyle/>
                    <a:p>
                      <a:r>
                        <a:rPr lang="en-US" sz="1050" dirty="0">
                          <a:solidFill>
                            <a:schemeClr val="tx1"/>
                          </a:solidFill>
                          <a:latin typeface="+mn-lt"/>
                        </a:rPr>
                        <a:t>Commercial-sale biofuels</a:t>
                      </a:r>
                      <a:endParaRPr lang="en-IN" sz="1050" dirty="0">
                        <a:solidFill>
                          <a:schemeClr val="tx1"/>
                        </a:solidFill>
                        <a:latin typeface="+mn-lt"/>
                      </a:endParaRPr>
                    </a:p>
                  </a:txBody>
                  <a:tcPr>
                    <a:noFill/>
                  </a:tcPr>
                </a:tc>
                <a:tc>
                  <a:txBody>
                    <a:bodyPr/>
                    <a:lstStyle/>
                    <a:p>
                      <a:r>
                        <a:rPr lang="en-US" sz="1050" dirty="0">
                          <a:solidFill>
                            <a:schemeClr val="tx1"/>
                          </a:solidFill>
                          <a:latin typeface="+mn-lt"/>
                        </a:rPr>
                        <a:t>10%</a:t>
                      </a:r>
                      <a:endParaRPr lang="en-IN" sz="1050" dirty="0">
                        <a:solidFill>
                          <a:schemeClr val="tx1"/>
                        </a:solidFill>
                        <a:latin typeface="+mn-lt"/>
                      </a:endParaRPr>
                    </a:p>
                  </a:txBody>
                  <a:tcPr>
                    <a:noFill/>
                  </a:tcPr>
                </a:tc>
                <a:tc>
                  <a:txBody>
                    <a:bodyPr/>
                    <a:lstStyle/>
                    <a:p>
                      <a:r>
                        <a:rPr lang="en-US" sz="1050" dirty="0">
                          <a:solidFill>
                            <a:schemeClr val="tx1"/>
                          </a:solidFill>
                          <a:latin typeface="+mn-lt"/>
                        </a:rPr>
                        <a:t>20%</a:t>
                      </a:r>
                      <a:endParaRPr lang="en-IN" sz="1050" dirty="0">
                        <a:solidFill>
                          <a:schemeClr val="tx1"/>
                        </a:solidFill>
                        <a:latin typeface="+mn-lt"/>
                      </a:endParaRPr>
                    </a:p>
                  </a:txBody>
                  <a:tcPr>
                    <a:noFill/>
                  </a:tcPr>
                </a:tc>
                <a:tc>
                  <a:txBody>
                    <a:bodyPr/>
                    <a:lstStyle/>
                    <a:p>
                      <a:r>
                        <a:rPr lang="en-US" sz="1050" dirty="0">
                          <a:solidFill>
                            <a:schemeClr val="tx1"/>
                          </a:solidFill>
                          <a:latin typeface="+mn-lt"/>
                        </a:rPr>
                        <a:t>30%</a:t>
                      </a:r>
                      <a:endParaRPr lang="en-IN" sz="1050" dirty="0">
                        <a:solidFill>
                          <a:schemeClr val="tx1"/>
                        </a:solidFill>
                        <a:latin typeface="+mn-lt"/>
                      </a:endParaRPr>
                    </a:p>
                  </a:txBody>
                  <a:tcPr>
                    <a:noFill/>
                  </a:tcPr>
                </a:tc>
                <a:extLst>
                  <a:ext uri="{0D108BD9-81ED-4DB2-BD59-A6C34878D82A}">
                    <a16:rowId xmlns:a16="http://schemas.microsoft.com/office/drawing/2014/main" val="1687652168"/>
                  </a:ext>
                </a:extLst>
              </a:tr>
              <a:tr h="265429">
                <a:tc>
                  <a:txBody>
                    <a:bodyPr/>
                    <a:lstStyle/>
                    <a:p>
                      <a:r>
                        <a:rPr lang="en-IN" sz="1050" dirty="0">
                          <a:solidFill>
                            <a:schemeClr val="tx1"/>
                          </a:solidFill>
                          <a:latin typeface="+mn-lt"/>
                        </a:rPr>
                        <a:t>Zero-emissions HCVs</a:t>
                      </a:r>
                      <a:endParaRPr lang="en-IN" sz="1050" b="1" dirty="0">
                        <a:solidFill>
                          <a:schemeClr val="tx1"/>
                        </a:solidFill>
                        <a:latin typeface="+mn-lt"/>
                      </a:endParaRPr>
                    </a:p>
                  </a:txBody>
                  <a:tcPr>
                    <a:noFill/>
                  </a:tcPr>
                </a:tc>
                <a:tc>
                  <a:txBody>
                    <a:bodyPr/>
                    <a:lstStyle/>
                    <a:p>
                      <a:r>
                        <a:rPr lang="en-US" sz="1050" dirty="0">
                          <a:solidFill>
                            <a:schemeClr val="tx1"/>
                          </a:solidFill>
                          <a:latin typeface="+mn-lt"/>
                        </a:rPr>
                        <a:t>% of Electric</a:t>
                      </a:r>
                      <a:r>
                        <a:rPr lang="en-US" sz="1050" baseline="0" dirty="0">
                          <a:solidFill>
                            <a:schemeClr val="tx1"/>
                          </a:solidFill>
                          <a:latin typeface="+mn-lt"/>
                        </a:rPr>
                        <a:t> buses</a:t>
                      </a:r>
                      <a:endParaRPr lang="en-IN" sz="1050" dirty="0">
                        <a:solidFill>
                          <a:schemeClr val="tx1"/>
                        </a:solidFill>
                        <a:latin typeface="+mn-lt"/>
                      </a:endParaRPr>
                    </a:p>
                  </a:txBody>
                  <a:tcPr>
                    <a:noFill/>
                  </a:tcPr>
                </a:tc>
                <a:tc>
                  <a:txBody>
                    <a:bodyPr/>
                    <a:lstStyle/>
                    <a:p>
                      <a:r>
                        <a:rPr lang="en-US" sz="1050" dirty="0">
                          <a:solidFill>
                            <a:schemeClr val="tx1"/>
                          </a:solidFill>
                          <a:latin typeface="+mn-lt"/>
                        </a:rPr>
                        <a:t>10%</a:t>
                      </a:r>
                      <a:endParaRPr lang="en-IN" sz="1050" dirty="0">
                        <a:solidFill>
                          <a:schemeClr val="tx1"/>
                        </a:solidFill>
                        <a:latin typeface="+mn-lt"/>
                      </a:endParaRPr>
                    </a:p>
                  </a:txBody>
                  <a:tcPr>
                    <a:noFill/>
                  </a:tcPr>
                </a:tc>
                <a:tc>
                  <a:txBody>
                    <a:bodyPr/>
                    <a:lstStyle/>
                    <a:p>
                      <a:r>
                        <a:rPr lang="en-US" sz="1050" dirty="0">
                          <a:solidFill>
                            <a:schemeClr val="tx1"/>
                          </a:solidFill>
                          <a:latin typeface="+mn-lt"/>
                        </a:rPr>
                        <a:t>20%</a:t>
                      </a:r>
                      <a:endParaRPr lang="en-IN" sz="1050" dirty="0">
                        <a:solidFill>
                          <a:schemeClr val="tx1"/>
                        </a:solidFill>
                        <a:latin typeface="+mn-lt"/>
                      </a:endParaRPr>
                    </a:p>
                  </a:txBody>
                  <a:tcPr>
                    <a:noFill/>
                  </a:tcPr>
                </a:tc>
                <a:tc>
                  <a:txBody>
                    <a:bodyPr/>
                    <a:lstStyle/>
                    <a:p>
                      <a:r>
                        <a:rPr lang="en-US" sz="1050" dirty="0">
                          <a:solidFill>
                            <a:schemeClr val="tx1"/>
                          </a:solidFill>
                          <a:latin typeface="+mn-lt"/>
                        </a:rPr>
                        <a:t>30%</a:t>
                      </a:r>
                      <a:endParaRPr lang="en-IN" sz="1050" dirty="0">
                        <a:solidFill>
                          <a:schemeClr val="tx1"/>
                        </a:solidFill>
                        <a:latin typeface="+mn-lt"/>
                      </a:endParaRPr>
                    </a:p>
                  </a:txBody>
                  <a:tcPr>
                    <a:noFill/>
                  </a:tcPr>
                </a:tc>
                <a:extLst>
                  <a:ext uri="{0D108BD9-81ED-4DB2-BD59-A6C34878D82A}">
                    <a16:rowId xmlns:a16="http://schemas.microsoft.com/office/drawing/2014/main" val="4288178151"/>
                  </a:ext>
                </a:extLst>
              </a:tr>
            </a:tbl>
          </a:graphicData>
        </a:graphic>
      </p:graphicFrame>
      <p:sp>
        <p:nvSpPr>
          <p:cNvPr id="4" name="Pentagon 3"/>
          <p:cNvSpPr/>
          <p:nvPr/>
        </p:nvSpPr>
        <p:spPr bwMode="gray">
          <a:xfrm>
            <a:off x="475492" y="1571050"/>
            <a:ext cx="9750252" cy="208044"/>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Development of Draft Plan</a:t>
            </a:r>
            <a:endParaRPr lang="en-IN" sz="1400" b="1" dirty="0">
              <a:solidFill>
                <a:schemeClr val="bg1"/>
              </a:solidFill>
            </a:endParaRPr>
          </a:p>
        </p:txBody>
      </p:sp>
      <p:sp>
        <p:nvSpPr>
          <p:cNvPr id="98" name="Pentagon 97"/>
          <p:cNvSpPr/>
          <p:nvPr/>
        </p:nvSpPr>
        <p:spPr bwMode="gray">
          <a:xfrm>
            <a:off x="475492" y="4650873"/>
            <a:ext cx="9750252" cy="208044"/>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Finalization and Adoption of Energy Action Plan</a:t>
            </a:r>
            <a:endParaRPr lang="en-IN" sz="1400" b="1" dirty="0">
              <a:solidFill>
                <a:schemeClr val="bg1"/>
              </a:solidFill>
            </a:endParaRPr>
          </a:p>
        </p:txBody>
      </p:sp>
      <p:sp>
        <p:nvSpPr>
          <p:cNvPr id="99" name="Text Box 2"/>
          <p:cNvSpPr txBox="1">
            <a:spLocks noChangeArrowheads="1"/>
          </p:cNvSpPr>
          <p:nvPr/>
        </p:nvSpPr>
        <p:spPr bwMode="auto">
          <a:xfrm rot="20712708">
            <a:off x="5407460" y="2793592"/>
            <a:ext cx="2854826" cy="374559"/>
          </a:xfrm>
          <a:prstGeom prst="rect">
            <a:avLst/>
          </a:prstGeom>
          <a:noFill/>
          <a:ln w="9525">
            <a:solidFill>
              <a:srgbClr val="ED8B00"/>
            </a:solidFill>
            <a:miter lim="800000"/>
            <a:headEnd/>
            <a:tailEnd/>
          </a:ln>
        </p:spPr>
        <p:txBody>
          <a:bodyPr rot="0" vert="horz" wrap="square" lIns="86266" tIns="43133" rIns="86266" bIns="43133" anchor="t" anchorCtr="0">
            <a:spAutoFit/>
          </a:bodyPr>
          <a:lstStyle/>
          <a:p>
            <a:pPr>
              <a:lnSpc>
                <a:spcPct val="110000"/>
              </a:lnSpc>
              <a:spcAft>
                <a:spcPts val="566"/>
              </a:spcAft>
            </a:pPr>
            <a:r>
              <a:rPr lang="en-IN" sz="1698" dirty="0">
                <a:solidFill>
                  <a:srgbClr val="ED8B00"/>
                </a:solidFill>
                <a:latin typeface="Verdana" panose="020B0604030504040204" pitchFamily="34" charset="0"/>
                <a:ea typeface="Times New Roman" panose="02020603050405020304" pitchFamily="18" charset="0"/>
              </a:rPr>
              <a:t>Illustrative</a:t>
            </a:r>
            <a:endParaRPr lang="en-IN" sz="1698" dirty="0">
              <a:latin typeface="Times New Roman" panose="02020603050405020304" pitchFamily="18" charset="0"/>
              <a:ea typeface="Times New Roman" panose="02020603050405020304" pitchFamily="18" charset="0"/>
            </a:endParaRPr>
          </a:p>
        </p:txBody>
      </p:sp>
      <p:sp>
        <p:nvSpPr>
          <p:cNvPr id="11"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Action Plan for West Bengal</a:t>
            </a:r>
          </a:p>
        </p:txBody>
      </p:sp>
      <p:sp>
        <p:nvSpPr>
          <p:cNvPr id="12"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Work Package-VI, VII and VIII: Development, Finalization and Adoption of Energy Action Plan and Ad-hoc Support</a:t>
            </a:r>
          </a:p>
        </p:txBody>
      </p:sp>
    </p:spTree>
    <p:extLst>
      <p:ext uri="{BB962C8B-B14F-4D97-AF65-F5344CB8AC3E}">
        <p14:creationId xmlns:p14="http://schemas.microsoft.com/office/powerpoint/2010/main" val="371809188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533258" y="1333348"/>
            <a:ext cx="9599019" cy="5774076"/>
          </a:xfrm>
          <a:prstGeom prst="rect">
            <a:avLst/>
          </a:prstGeom>
          <a:noFill/>
          <a:ln>
            <a:solidFill>
              <a:schemeClr val="tx1"/>
            </a:solidFill>
          </a:ln>
        </p:spPr>
      </p:pic>
      <p:sp>
        <p:nvSpPr>
          <p:cNvPr id="5"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Detailed Work Plan</a:t>
            </a:r>
          </a:p>
        </p:txBody>
      </p:sp>
      <p:sp>
        <p:nvSpPr>
          <p:cNvPr id="6"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solidFill>
                  <a:srgbClr val="575757"/>
                </a:solidFill>
              </a:rPr>
              <a:t>An estimated timelines for each key activities under various work packages, key deliverable, major workshops have been identified</a:t>
            </a:r>
          </a:p>
          <a:p>
            <a:endParaRPr lang="en-US" sz="1600" dirty="0">
              <a:solidFill>
                <a:srgbClr val="575757"/>
              </a:solidFill>
            </a:endParaRPr>
          </a:p>
        </p:txBody>
      </p:sp>
    </p:spTree>
    <p:extLst>
      <p:ext uri="{BB962C8B-B14F-4D97-AF65-F5344CB8AC3E}">
        <p14:creationId xmlns:p14="http://schemas.microsoft.com/office/powerpoint/2010/main" val="3987579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7152"/>
            <a:ext cx="7380133" cy="7570002"/>
          </a:xfrm>
          <a:prstGeom prst="rect">
            <a:avLst/>
          </a:prstGeom>
        </p:spPr>
      </p:pic>
      <p:cxnSp>
        <p:nvCxnSpPr>
          <p:cNvPr id="6" name="Straight Connector 5"/>
          <p:cNvCxnSpPr/>
          <p:nvPr/>
        </p:nvCxnSpPr>
        <p:spPr>
          <a:xfrm flipH="1">
            <a:off x="7555040" y="6517178"/>
            <a:ext cx="3133600" cy="1662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555040" y="5411237"/>
            <a:ext cx="3308505" cy="892937"/>
          </a:xfrm>
          <a:prstGeom prst="rect">
            <a:avLst/>
          </a:prstGeom>
        </p:spPr>
        <p:txBody>
          <a:bodyPr wrap="square" anchor="ctr">
            <a:spAutoFit/>
          </a:bodyPr>
          <a:lstStyle/>
          <a:p>
            <a:pPr>
              <a:lnSpc>
                <a:spcPct val="114000"/>
              </a:lnSpc>
              <a:spcAft>
                <a:spcPts val="3000"/>
              </a:spcAft>
            </a:pPr>
            <a:r>
              <a:rPr lang="en-US" sz="2400" b="1" dirty="0">
                <a:solidFill>
                  <a:schemeClr val="accent1"/>
                </a:solidFill>
                <a:latin typeface="Verdana" panose="020B0604030504040204" pitchFamily="34" charset="0"/>
                <a:ea typeface="Verdana" panose="020B0604030504040204" pitchFamily="34" charset="0"/>
                <a:cs typeface="Verdana" panose="020B0604030504040204" pitchFamily="34" charset="0"/>
              </a:rPr>
              <a:t>Resource Plan Strategy</a:t>
            </a:r>
          </a:p>
        </p:txBody>
      </p:sp>
      <p:sp>
        <p:nvSpPr>
          <p:cNvPr id="8" name="TextBox 7"/>
          <p:cNvSpPr txBox="1"/>
          <p:nvPr/>
        </p:nvSpPr>
        <p:spPr>
          <a:xfrm>
            <a:off x="7797299" y="3965917"/>
            <a:ext cx="1551067" cy="1323439"/>
          </a:xfrm>
          <a:prstGeom prst="rect">
            <a:avLst/>
          </a:prstGeom>
          <a:noFill/>
        </p:spPr>
        <p:txBody>
          <a:bodyPr wrap="none" lIns="45720" rIns="45720" rtlCol="0">
            <a:spAutoFit/>
          </a:bodyPr>
          <a:lstStyle/>
          <a:p>
            <a:pPr algn="ctr">
              <a:spcBef>
                <a:spcPts val="400"/>
              </a:spcBef>
            </a:pPr>
            <a:r>
              <a:rPr lang="en-US" sz="8000" b="1" dirty="0">
                <a:solidFill>
                  <a:schemeClr val="accent1"/>
                </a:solidFill>
                <a:latin typeface="Verdana" panose="020B0604030504040204" pitchFamily="34" charset="0"/>
                <a:ea typeface="Verdana" panose="020B0604030504040204" pitchFamily="34" charset="0"/>
                <a:cs typeface="Verdana" panose="020B0604030504040204" pitchFamily="34" charset="0"/>
              </a:rPr>
              <a:t>04</a:t>
            </a:r>
            <a:endParaRPr lang="en-IN" sz="8000" b="1"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3" name="Straight Connector 12"/>
          <p:cNvCxnSpPr/>
          <p:nvPr/>
        </p:nvCxnSpPr>
        <p:spPr>
          <a:xfrm flipH="1">
            <a:off x="7555040" y="5372313"/>
            <a:ext cx="3133598" cy="2323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911031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393866" y="3541338"/>
            <a:ext cx="2606215" cy="1649898"/>
            <a:chOff x="421922" y="4041868"/>
            <a:chExt cx="1869780" cy="1649898"/>
          </a:xfrm>
        </p:grpSpPr>
        <p:sp>
          <p:nvSpPr>
            <p:cNvPr id="28" name="Rectangle 27"/>
            <p:cNvSpPr/>
            <p:nvPr/>
          </p:nvSpPr>
          <p:spPr bwMode="gray">
            <a:xfrm>
              <a:off x="526928" y="4161276"/>
              <a:ext cx="1672752" cy="391714"/>
            </a:xfrm>
            <a:prstGeom prst="rect">
              <a:avLst/>
            </a:prstGeom>
            <a:solidFill>
              <a:srgbClr val="046A38"/>
            </a:solidFill>
            <a:ln w="12700" cap="rnd" algn="ctr">
              <a:noFill/>
              <a:miter lim="800000"/>
              <a:headEnd/>
              <a:tailEnd/>
            </a:ln>
          </p:spPr>
          <p:txBody>
            <a:bodyPr lIns="160330" rtlCol="0" anchor="ctr" anchorCtr="1"/>
            <a:lstStyle/>
            <a:p>
              <a:pPr eaLnBrk="0" hangingPunct="0">
                <a:lnSpc>
                  <a:spcPct val="106000"/>
                </a:lnSpc>
              </a:pPr>
              <a:r>
                <a:rPr lang="en-IN" sz="1200" dirty="0">
                  <a:solidFill>
                    <a:schemeClr val="bg1"/>
                  </a:solidFill>
                </a:rPr>
                <a:t>PMU Team</a:t>
              </a:r>
              <a:endParaRPr lang="en-US" sz="1200" dirty="0">
                <a:solidFill>
                  <a:schemeClr val="bg1"/>
                </a:solidFill>
              </a:endParaRPr>
            </a:p>
          </p:txBody>
        </p:sp>
        <p:sp>
          <p:nvSpPr>
            <p:cNvPr id="29" name="Rectangle 28"/>
            <p:cNvSpPr/>
            <p:nvPr/>
          </p:nvSpPr>
          <p:spPr bwMode="gray">
            <a:xfrm>
              <a:off x="526928" y="4646649"/>
              <a:ext cx="1681259" cy="427281"/>
            </a:xfrm>
            <a:prstGeom prst="rect">
              <a:avLst/>
            </a:prstGeom>
            <a:solidFill>
              <a:srgbClr val="046A38"/>
            </a:solidFill>
            <a:ln w="12700" cap="rnd" algn="ctr">
              <a:noFill/>
              <a:miter lim="800000"/>
              <a:headEnd/>
              <a:tailEnd/>
            </a:ln>
          </p:spPr>
          <p:txBody>
            <a:bodyPr lIns="160330" rtlCol="0" anchor="ctr" anchorCtr="1"/>
            <a:lstStyle/>
            <a:p>
              <a:pPr algn="ctr" eaLnBrk="0" hangingPunct="0">
                <a:lnSpc>
                  <a:spcPct val="106000"/>
                </a:lnSpc>
              </a:pPr>
              <a:r>
                <a:rPr lang="en-US" sz="1200" dirty="0">
                  <a:solidFill>
                    <a:schemeClr val="bg1"/>
                  </a:solidFill>
                </a:rPr>
                <a:t>Department of Power and NES</a:t>
              </a:r>
            </a:p>
          </p:txBody>
        </p:sp>
        <p:sp>
          <p:nvSpPr>
            <p:cNvPr id="30" name="Rectangle 29"/>
            <p:cNvSpPr/>
            <p:nvPr/>
          </p:nvSpPr>
          <p:spPr bwMode="gray">
            <a:xfrm>
              <a:off x="535435" y="5149915"/>
              <a:ext cx="1672752" cy="404498"/>
            </a:xfrm>
            <a:prstGeom prst="rect">
              <a:avLst/>
            </a:prstGeom>
            <a:solidFill>
              <a:srgbClr val="046A38"/>
            </a:solidFill>
            <a:ln w="12700" cap="rnd" algn="ctr">
              <a:noFill/>
              <a:miter lim="800000"/>
              <a:headEnd/>
              <a:tailEnd/>
            </a:ln>
          </p:spPr>
          <p:txBody>
            <a:bodyPr lIns="160330" rtlCol="0" anchor="ctr" anchorCtr="1"/>
            <a:lstStyle/>
            <a:p>
              <a:pPr algn="ctr" eaLnBrk="0" hangingPunct="0">
                <a:lnSpc>
                  <a:spcPct val="106000"/>
                </a:lnSpc>
              </a:pPr>
              <a:r>
                <a:rPr lang="en-US" sz="1200" dirty="0">
                  <a:solidFill>
                    <a:schemeClr val="bg1"/>
                  </a:solidFill>
                </a:rPr>
                <a:t>Other Govt. Departments</a:t>
              </a:r>
            </a:p>
          </p:txBody>
        </p:sp>
        <p:sp>
          <p:nvSpPr>
            <p:cNvPr id="32" name="Rectangle 31"/>
            <p:cNvSpPr/>
            <p:nvPr/>
          </p:nvSpPr>
          <p:spPr bwMode="gray">
            <a:xfrm>
              <a:off x="421922" y="4041868"/>
              <a:ext cx="1869780" cy="1649898"/>
            </a:xfrm>
            <a:prstGeom prst="rect">
              <a:avLst/>
            </a:prstGeom>
            <a:noFill/>
            <a:ln w="19050" algn="ctr">
              <a:solidFill>
                <a:schemeClr val="bg1">
                  <a:lumMod val="65000"/>
                </a:schemeClr>
              </a:solidFill>
              <a:prstDash val="dash"/>
              <a:miter lim="800000"/>
              <a:headEnd/>
              <a:tailEnd/>
            </a:ln>
          </p:spPr>
          <p:txBody>
            <a:bodyPr wrap="square" lIns="98037" tIns="98037" rIns="98037" bIns="98037" rtlCol="0" anchor="ctr"/>
            <a:lstStyle/>
            <a:p>
              <a:pPr algn="ctr">
                <a:lnSpc>
                  <a:spcPct val="106000"/>
                </a:lnSpc>
                <a:buFont typeface="Wingdings 2" pitchFamily="18" charset="2"/>
                <a:buNone/>
              </a:pPr>
              <a:endParaRPr lang="en-US" sz="1764" b="1" dirty="0">
                <a:solidFill>
                  <a:schemeClr val="bg1"/>
                </a:solidFill>
              </a:endParaRPr>
            </a:p>
          </p:txBody>
        </p:sp>
      </p:grpSp>
      <p:grpSp>
        <p:nvGrpSpPr>
          <p:cNvPr id="18" name="Group 17"/>
          <p:cNvGrpSpPr/>
          <p:nvPr/>
        </p:nvGrpSpPr>
        <p:grpSpPr>
          <a:xfrm>
            <a:off x="3586038" y="2139194"/>
            <a:ext cx="6822041" cy="4018298"/>
            <a:chOff x="3595954" y="2301412"/>
            <a:chExt cx="6822041" cy="4018298"/>
          </a:xfrm>
        </p:grpSpPr>
        <p:grpSp>
          <p:nvGrpSpPr>
            <p:cNvPr id="5" name="Group 4"/>
            <p:cNvGrpSpPr/>
            <p:nvPr/>
          </p:nvGrpSpPr>
          <p:grpSpPr>
            <a:xfrm>
              <a:off x="3703916" y="2421310"/>
              <a:ext cx="6562092" cy="3787779"/>
              <a:chOff x="2481202" y="2989711"/>
              <a:chExt cx="6449166" cy="2972876"/>
            </a:xfrm>
          </p:grpSpPr>
          <p:sp>
            <p:nvSpPr>
              <p:cNvPr id="33" name="Rounded Rectangle 32"/>
              <p:cNvSpPr/>
              <p:nvPr/>
            </p:nvSpPr>
            <p:spPr bwMode="auto">
              <a:xfrm>
                <a:off x="6993237" y="2989711"/>
                <a:ext cx="1920124" cy="153578"/>
              </a:xfrm>
              <a:prstGeom prst="roundRect">
                <a:avLst/>
              </a:prstGeom>
              <a:noFill/>
              <a:ln w="12700" cap="flat" cmpd="sng" algn="ctr">
                <a:solidFill>
                  <a:schemeClr val="accent6"/>
                </a:solidFill>
                <a:prstDash val="sysDot"/>
                <a:round/>
                <a:headEnd type="none" w="med" len="med"/>
                <a:tailEnd type="none" w="med" len="med"/>
              </a:ln>
              <a:effectLst/>
            </p:spPr>
            <p:txBody>
              <a:bodyPr vert="horz" wrap="square" lIns="63122" tIns="63122" rIns="63122" bIns="63122" numCol="1" rtlCol="0" anchor="ctr" anchorCtr="1" compatLnSpc="1">
                <a:prstTxWarp prst="textNoShape">
                  <a:avLst/>
                </a:prstTxWarp>
              </a:bodyPr>
              <a:lstStyle/>
              <a:p>
                <a:pPr algn="ctr" fontAlgn="base">
                  <a:lnSpc>
                    <a:spcPct val="90000"/>
                  </a:lnSpc>
                  <a:spcBef>
                    <a:spcPct val="0"/>
                  </a:spcBef>
                  <a:spcAft>
                    <a:spcPct val="0"/>
                  </a:spcAft>
                </a:pPr>
                <a:r>
                  <a:rPr lang="en-US" sz="1100" b="1" dirty="0">
                    <a:cs typeface="Arial" pitchFamily="34" charset="0"/>
                  </a:rPr>
                  <a:t>Pool of Experts</a:t>
                </a:r>
              </a:p>
            </p:txBody>
          </p:sp>
          <p:cxnSp>
            <p:nvCxnSpPr>
              <p:cNvPr id="34" name="Straight Connector 33"/>
              <p:cNvCxnSpPr/>
              <p:nvPr/>
            </p:nvCxnSpPr>
            <p:spPr>
              <a:xfrm>
                <a:off x="6787642" y="2989711"/>
                <a:ext cx="20188" cy="1864298"/>
              </a:xfrm>
              <a:prstGeom prst="line">
                <a:avLst/>
              </a:prstGeom>
              <a:ln>
                <a:solidFill>
                  <a:srgbClr val="002060"/>
                </a:solidFill>
                <a:prstDash val="lgDashDotDot"/>
              </a:ln>
            </p:spPr>
            <p:style>
              <a:lnRef idx="1">
                <a:schemeClr val="accent1"/>
              </a:lnRef>
              <a:fillRef idx="0">
                <a:schemeClr val="accent1"/>
              </a:fillRef>
              <a:effectRef idx="0">
                <a:schemeClr val="accent1"/>
              </a:effectRef>
              <a:fontRef idx="minor">
                <a:schemeClr val="tx1"/>
              </a:fontRef>
            </p:style>
          </p:cxnSp>
          <p:sp>
            <p:nvSpPr>
              <p:cNvPr id="36" name="Rounded Rectangle 35"/>
              <p:cNvSpPr/>
              <p:nvPr/>
            </p:nvSpPr>
            <p:spPr bwMode="auto">
              <a:xfrm>
                <a:off x="2481202" y="2989711"/>
                <a:ext cx="4140485" cy="155403"/>
              </a:xfrm>
              <a:prstGeom prst="roundRect">
                <a:avLst/>
              </a:prstGeom>
              <a:noFill/>
              <a:ln w="12700" cap="flat" cmpd="sng" algn="ctr">
                <a:solidFill>
                  <a:schemeClr val="accent6"/>
                </a:solidFill>
                <a:prstDash val="sysDot"/>
                <a:round/>
                <a:headEnd type="none" w="med" len="med"/>
                <a:tailEnd type="none" w="med" len="med"/>
              </a:ln>
              <a:effectLst/>
            </p:spPr>
            <p:txBody>
              <a:bodyPr vert="horz" wrap="square" lIns="63122" tIns="63122" rIns="63122" bIns="63122" numCol="1" rtlCol="0" anchor="ctr" anchorCtr="1" compatLnSpc="1">
                <a:prstTxWarp prst="textNoShape">
                  <a:avLst/>
                </a:prstTxWarp>
              </a:bodyPr>
              <a:lstStyle/>
              <a:p>
                <a:pPr algn="ctr" fontAlgn="base">
                  <a:lnSpc>
                    <a:spcPct val="90000"/>
                  </a:lnSpc>
                  <a:spcBef>
                    <a:spcPct val="0"/>
                  </a:spcBef>
                  <a:spcAft>
                    <a:spcPct val="0"/>
                  </a:spcAft>
                </a:pPr>
                <a:r>
                  <a:rPr lang="en-US" sz="1100" b="1" dirty="0">
                    <a:cs typeface="Arial" pitchFamily="34" charset="0"/>
                  </a:rPr>
                  <a:t>Key Experts</a:t>
                </a:r>
              </a:p>
            </p:txBody>
          </p:sp>
          <p:sp>
            <p:nvSpPr>
              <p:cNvPr id="37" name="Rectangle 43"/>
              <p:cNvSpPr>
                <a:spLocks noChangeArrowheads="1"/>
              </p:cNvSpPr>
              <p:nvPr/>
            </p:nvSpPr>
            <p:spPr bwMode="auto">
              <a:xfrm>
                <a:off x="2532241" y="3659495"/>
                <a:ext cx="1925928" cy="309130"/>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a:solidFill>
                      <a:srgbClr val="000000"/>
                    </a:solidFill>
                    <a:cs typeface="Arial" pitchFamily="34" charset="0"/>
                  </a:rPr>
                  <a:t>Shubhranshu Patnaik, Deloitte</a:t>
                </a:r>
              </a:p>
            </p:txBody>
          </p:sp>
          <p:sp>
            <p:nvSpPr>
              <p:cNvPr id="38" name="Rectangle 44"/>
              <p:cNvSpPr>
                <a:spLocks noChangeArrowheads="1"/>
              </p:cNvSpPr>
              <p:nvPr/>
            </p:nvSpPr>
            <p:spPr bwMode="auto">
              <a:xfrm>
                <a:off x="2533338" y="3225718"/>
                <a:ext cx="1930433" cy="428720"/>
              </a:xfrm>
              <a:prstGeom prst="rect">
                <a:avLst/>
              </a:prstGeom>
              <a:solidFill>
                <a:schemeClr val="accent5"/>
              </a:solidFill>
              <a:ln w="12700" algn="ctr">
                <a:solidFill>
                  <a:srgbClr val="007680"/>
                </a:solidFill>
                <a:miter lim="800000"/>
                <a:headEnd/>
                <a:tailEnd/>
              </a:ln>
            </p:spPr>
            <p:txBody>
              <a:bodyPr wrap="squar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Team Leader – Expert 1 (integrated energy planning and modelling)</a:t>
                </a:r>
              </a:p>
            </p:txBody>
          </p:sp>
          <p:sp>
            <p:nvSpPr>
              <p:cNvPr id="39" name="Rectangle 43"/>
              <p:cNvSpPr>
                <a:spLocks noChangeArrowheads="1"/>
              </p:cNvSpPr>
              <p:nvPr/>
            </p:nvSpPr>
            <p:spPr bwMode="auto">
              <a:xfrm>
                <a:off x="4646509" y="3659495"/>
                <a:ext cx="1925928" cy="309130"/>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a:solidFill>
                      <a:srgbClr val="000000"/>
                    </a:solidFill>
                    <a:cs typeface="Arial" pitchFamily="34" charset="0"/>
                  </a:rPr>
                  <a:t>Lakshmi </a:t>
                </a:r>
                <a:r>
                  <a:rPr lang="en-US" sz="1100" dirty="0" err="1">
                    <a:solidFill>
                      <a:srgbClr val="000000"/>
                    </a:solidFill>
                    <a:cs typeface="Arial" pitchFamily="34" charset="0"/>
                  </a:rPr>
                  <a:t>Alagappan</a:t>
                </a:r>
                <a:r>
                  <a:rPr lang="en-US" sz="1100" dirty="0">
                    <a:solidFill>
                      <a:srgbClr val="000000"/>
                    </a:solidFill>
                    <a:cs typeface="Arial" pitchFamily="34" charset="0"/>
                  </a:rPr>
                  <a:t>, E3</a:t>
                </a:r>
              </a:p>
            </p:txBody>
          </p:sp>
          <p:sp>
            <p:nvSpPr>
              <p:cNvPr id="40" name="Rectangle 44"/>
              <p:cNvSpPr>
                <a:spLocks noChangeArrowheads="1"/>
              </p:cNvSpPr>
              <p:nvPr/>
            </p:nvSpPr>
            <p:spPr bwMode="auto">
              <a:xfrm>
                <a:off x="4647606" y="3225718"/>
                <a:ext cx="1930433" cy="428720"/>
              </a:xfrm>
              <a:prstGeom prst="rect">
                <a:avLst/>
              </a:prstGeom>
              <a:solidFill>
                <a:schemeClr val="accent5"/>
              </a:solidFill>
              <a:ln w="12700" algn="ctr">
                <a:solidFill>
                  <a:srgbClr val="007680"/>
                </a:solidFill>
                <a:miter lim="800000"/>
                <a:headEnd/>
                <a:tailEnd/>
              </a:ln>
            </p:spPr>
            <p:txBody>
              <a:bodyPr wrap="squar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Expert 2 (energy planning, modelling and economics) &amp; Co-leader)</a:t>
                </a:r>
              </a:p>
            </p:txBody>
          </p:sp>
          <p:sp>
            <p:nvSpPr>
              <p:cNvPr id="41" name="Rectangle 43"/>
              <p:cNvSpPr>
                <a:spLocks noChangeArrowheads="1"/>
              </p:cNvSpPr>
              <p:nvPr/>
            </p:nvSpPr>
            <p:spPr bwMode="auto">
              <a:xfrm>
                <a:off x="2526639" y="4547222"/>
                <a:ext cx="1925928" cy="309130"/>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a:solidFill>
                      <a:srgbClr val="000000"/>
                    </a:solidFill>
                    <a:cs typeface="Arial" pitchFamily="34" charset="0"/>
                  </a:rPr>
                  <a:t>Anish Mandal, Deloitte</a:t>
                </a:r>
              </a:p>
            </p:txBody>
          </p:sp>
          <p:sp>
            <p:nvSpPr>
              <p:cNvPr id="42" name="Rectangle 44"/>
              <p:cNvSpPr>
                <a:spLocks noChangeArrowheads="1"/>
              </p:cNvSpPr>
              <p:nvPr/>
            </p:nvSpPr>
            <p:spPr bwMode="auto">
              <a:xfrm>
                <a:off x="2527736" y="4113445"/>
                <a:ext cx="1930433" cy="428720"/>
              </a:xfrm>
              <a:prstGeom prst="rect">
                <a:avLst/>
              </a:prstGeom>
              <a:solidFill>
                <a:schemeClr val="accent5"/>
              </a:solidFill>
              <a:ln w="12700" algn="ctr">
                <a:solidFill>
                  <a:srgbClr val="007680"/>
                </a:solidFill>
                <a:miter lim="800000"/>
                <a:headEnd/>
                <a:tailEnd/>
              </a:ln>
            </p:spPr>
            <p:txBody>
              <a:bodyPr wrap="squar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Expert 3 (Energy Policy/Plan)</a:t>
                </a:r>
              </a:p>
            </p:txBody>
          </p:sp>
          <p:sp>
            <p:nvSpPr>
              <p:cNvPr id="43" name="Rectangle 43"/>
              <p:cNvSpPr>
                <a:spLocks noChangeArrowheads="1"/>
              </p:cNvSpPr>
              <p:nvPr/>
            </p:nvSpPr>
            <p:spPr bwMode="auto">
              <a:xfrm>
                <a:off x="4640907" y="4544879"/>
                <a:ext cx="1925928" cy="309130"/>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a:solidFill>
                      <a:srgbClr val="000000"/>
                    </a:solidFill>
                    <a:cs typeface="Arial" pitchFamily="34" charset="0"/>
                  </a:rPr>
                  <a:t>Dr. </a:t>
                </a:r>
                <a:r>
                  <a:rPr lang="en-US" sz="1100" dirty="0" err="1">
                    <a:solidFill>
                      <a:srgbClr val="000000"/>
                    </a:solidFill>
                    <a:cs typeface="Arial" pitchFamily="34" charset="0"/>
                  </a:rPr>
                  <a:t>Indrajeet</a:t>
                </a:r>
                <a:r>
                  <a:rPr lang="en-US" sz="1100" dirty="0">
                    <a:solidFill>
                      <a:srgbClr val="000000"/>
                    </a:solidFill>
                    <a:cs typeface="Arial" pitchFamily="34" charset="0"/>
                  </a:rPr>
                  <a:t> Singh, Deloitte</a:t>
                </a:r>
              </a:p>
            </p:txBody>
          </p:sp>
          <p:sp>
            <p:nvSpPr>
              <p:cNvPr id="44" name="Rectangle 44"/>
              <p:cNvSpPr>
                <a:spLocks noChangeArrowheads="1"/>
              </p:cNvSpPr>
              <p:nvPr/>
            </p:nvSpPr>
            <p:spPr bwMode="auto">
              <a:xfrm>
                <a:off x="4642004" y="4111102"/>
                <a:ext cx="1930433" cy="428720"/>
              </a:xfrm>
              <a:prstGeom prst="rect">
                <a:avLst/>
              </a:prstGeom>
              <a:solidFill>
                <a:schemeClr val="accent5"/>
              </a:solidFill>
              <a:ln w="12700" algn="ctr">
                <a:solidFill>
                  <a:srgbClr val="007680"/>
                </a:solidFill>
                <a:miter lim="800000"/>
                <a:headEnd/>
                <a:tailEnd/>
              </a:ln>
            </p:spPr>
            <p:txBody>
              <a:bodyPr wrap="squar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Expert 4 (Expert on renewable energy and climate change)</a:t>
                </a:r>
              </a:p>
            </p:txBody>
          </p:sp>
          <p:sp>
            <p:nvSpPr>
              <p:cNvPr id="45" name="Rounded Rectangle 44"/>
              <p:cNvSpPr/>
              <p:nvPr/>
            </p:nvSpPr>
            <p:spPr bwMode="auto">
              <a:xfrm>
                <a:off x="2533338" y="4948527"/>
                <a:ext cx="6393898" cy="167550"/>
              </a:xfrm>
              <a:prstGeom prst="roundRect">
                <a:avLst/>
              </a:prstGeom>
              <a:noFill/>
              <a:ln w="12700" cap="flat" cmpd="sng" algn="ctr">
                <a:solidFill>
                  <a:schemeClr val="accent6"/>
                </a:solidFill>
                <a:prstDash val="sysDot"/>
                <a:round/>
                <a:headEnd type="none" w="med" len="med"/>
                <a:tailEnd type="none" w="med" len="med"/>
              </a:ln>
              <a:effectLst/>
            </p:spPr>
            <p:txBody>
              <a:bodyPr vert="horz" wrap="square" lIns="63122" tIns="63122" rIns="63122" bIns="63122" numCol="1" rtlCol="0" anchor="ctr" anchorCtr="1" compatLnSpc="1">
                <a:prstTxWarp prst="textNoShape">
                  <a:avLst/>
                </a:prstTxWarp>
              </a:bodyPr>
              <a:lstStyle/>
              <a:p>
                <a:pPr algn="ctr" fontAlgn="base">
                  <a:lnSpc>
                    <a:spcPct val="90000"/>
                  </a:lnSpc>
                  <a:spcBef>
                    <a:spcPct val="0"/>
                  </a:spcBef>
                  <a:spcAft>
                    <a:spcPct val="0"/>
                  </a:spcAft>
                </a:pPr>
                <a:r>
                  <a:rPr lang="en-US" sz="1100" b="1" dirty="0">
                    <a:cs typeface="Arial" pitchFamily="34" charset="0"/>
                  </a:rPr>
                  <a:t>Back stoppers</a:t>
                </a:r>
                <a:endParaRPr lang="en-US" sz="1100" dirty="0">
                  <a:cs typeface="Arial" pitchFamily="34" charset="0"/>
                </a:endParaRPr>
              </a:p>
            </p:txBody>
          </p:sp>
          <p:sp>
            <p:nvSpPr>
              <p:cNvPr id="46" name="Rectangle 43"/>
              <p:cNvSpPr>
                <a:spLocks noChangeArrowheads="1"/>
              </p:cNvSpPr>
              <p:nvPr/>
            </p:nvSpPr>
            <p:spPr bwMode="auto">
              <a:xfrm>
                <a:off x="6998838" y="3666058"/>
                <a:ext cx="1925928" cy="309130"/>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err="1">
                    <a:solidFill>
                      <a:srgbClr val="000000"/>
                    </a:solidFill>
                    <a:cs typeface="Arial" pitchFamily="34" charset="0"/>
                  </a:rPr>
                  <a:t>Sayantan</a:t>
                </a:r>
                <a:r>
                  <a:rPr lang="en-US" sz="1100" dirty="0">
                    <a:solidFill>
                      <a:srgbClr val="000000"/>
                    </a:solidFill>
                    <a:cs typeface="Arial" pitchFamily="34" charset="0"/>
                  </a:rPr>
                  <a:t> Banerjee, Deloitte</a:t>
                </a:r>
              </a:p>
            </p:txBody>
          </p:sp>
          <p:sp>
            <p:nvSpPr>
              <p:cNvPr id="51" name="Rectangle 44"/>
              <p:cNvSpPr>
                <a:spLocks noChangeArrowheads="1"/>
              </p:cNvSpPr>
              <p:nvPr/>
            </p:nvSpPr>
            <p:spPr bwMode="auto">
              <a:xfrm>
                <a:off x="6999935" y="3232281"/>
                <a:ext cx="1930433" cy="428720"/>
              </a:xfrm>
              <a:prstGeom prst="rect">
                <a:avLst/>
              </a:prstGeom>
              <a:solidFill>
                <a:schemeClr val="accent5"/>
              </a:solidFill>
              <a:ln w="12700" algn="ctr">
                <a:solidFill>
                  <a:srgbClr val="007680"/>
                </a:solidFill>
                <a:miter lim="800000"/>
                <a:headEnd/>
                <a:tailEnd/>
              </a:ln>
            </p:spPr>
            <p:txBody>
              <a:bodyPr wrap="squar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Local </a:t>
                </a:r>
                <a:r>
                  <a:rPr lang="en-US" sz="964" b="1" dirty="0" err="1">
                    <a:solidFill>
                      <a:srgbClr val="FFFFFF"/>
                    </a:solidFill>
                    <a:cs typeface="Arial" pitchFamily="34" charset="0"/>
                  </a:rPr>
                  <a:t>co-ordinator</a:t>
                </a:r>
                <a:r>
                  <a:rPr lang="en-US" sz="964" b="1" dirty="0">
                    <a:solidFill>
                      <a:srgbClr val="FFFFFF"/>
                    </a:solidFill>
                    <a:cs typeface="Arial" pitchFamily="34" charset="0"/>
                  </a:rPr>
                  <a:t> cum liaison expert</a:t>
                </a:r>
              </a:p>
            </p:txBody>
          </p:sp>
          <p:sp>
            <p:nvSpPr>
              <p:cNvPr id="52" name="Rectangle 43"/>
              <p:cNvSpPr>
                <a:spLocks noChangeArrowheads="1"/>
              </p:cNvSpPr>
              <p:nvPr/>
            </p:nvSpPr>
            <p:spPr bwMode="auto">
              <a:xfrm>
                <a:off x="6993236" y="4551442"/>
                <a:ext cx="1925928" cy="309130"/>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a:solidFill>
                      <a:srgbClr val="000000"/>
                    </a:solidFill>
                    <a:cs typeface="Arial" pitchFamily="34" charset="0"/>
                  </a:rPr>
                  <a:t>Tory Clark, E3</a:t>
                </a:r>
              </a:p>
            </p:txBody>
          </p:sp>
          <p:sp>
            <p:nvSpPr>
              <p:cNvPr id="53" name="Rectangle 44"/>
              <p:cNvSpPr>
                <a:spLocks noChangeArrowheads="1"/>
              </p:cNvSpPr>
              <p:nvPr/>
            </p:nvSpPr>
            <p:spPr bwMode="auto">
              <a:xfrm>
                <a:off x="6994333" y="4117665"/>
                <a:ext cx="1930433" cy="428720"/>
              </a:xfrm>
              <a:prstGeom prst="rect">
                <a:avLst/>
              </a:prstGeom>
              <a:solidFill>
                <a:schemeClr val="accent5"/>
              </a:solidFill>
              <a:ln w="12700" algn="ctr">
                <a:solidFill>
                  <a:srgbClr val="007680"/>
                </a:solidFill>
                <a:miter lim="800000"/>
                <a:headEnd/>
                <a:tailEnd/>
              </a:ln>
            </p:spPr>
            <p:txBody>
              <a:bodyPr wrap="non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Technical Expert</a:t>
                </a:r>
              </a:p>
            </p:txBody>
          </p:sp>
          <p:sp>
            <p:nvSpPr>
              <p:cNvPr id="54" name="Rectangle 43"/>
              <p:cNvSpPr>
                <a:spLocks noChangeArrowheads="1"/>
              </p:cNvSpPr>
              <p:nvPr/>
            </p:nvSpPr>
            <p:spPr bwMode="auto">
              <a:xfrm>
                <a:off x="2533339" y="5637818"/>
                <a:ext cx="1989437" cy="324768"/>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a:solidFill>
                      <a:srgbClr val="000000"/>
                    </a:solidFill>
                    <a:cs typeface="Arial" pitchFamily="34" charset="0"/>
                  </a:rPr>
                  <a:t>Amit Goenka, Deloitte</a:t>
                </a:r>
              </a:p>
            </p:txBody>
          </p:sp>
          <p:sp>
            <p:nvSpPr>
              <p:cNvPr id="55" name="Rectangle 44"/>
              <p:cNvSpPr>
                <a:spLocks noChangeArrowheads="1"/>
              </p:cNvSpPr>
              <p:nvPr/>
            </p:nvSpPr>
            <p:spPr bwMode="auto">
              <a:xfrm>
                <a:off x="2533339" y="5204034"/>
                <a:ext cx="1995039" cy="428720"/>
              </a:xfrm>
              <a:prstGeom prst="rect">
                <a:avLst/>
              </a:prstGeom>
              <a:solidFill>
                <a:schemeClr val="accent5"/>
              </a:solidFill>
              <a:ln w="12700" algn="ctr">
                <a:solidFill>
                  <a:srgbClr val="007680"/>
                </a:solidFill>
                <a:miter lim="800000"/>
                <a:headEnd/>
                <a:tailEnd/>
              </a:ln>
            </p:spPr>
            <p:txBody>
              <a:bodyPr wrap="non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Pool of Technical Expert</a:t>
                </a:r>
              </a:p>
            </p:txBody>
          </p:sp>
          <p:sp>
            <p:nvSpPr>
              <p:cNvPr id="56" name="Rectangle 43"/>
              <p:cNvSpPr>
                <a:spLocks noChangeArrowheads="1"/>
              </p:cNvSpPr>
              <p:nvPr/>
            </p:nvSpPr>
            <p:spPr bwMode="auto">
              <a:xfrm>
                <a:off x="4750830" y="5653457"/>
                <a:ext cx="1925928" cy="309130"/>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a:solidFill>
                      <a:srgbClr val="000000"/>
                    </a:solidFill>
                    <a:cs typeface="Arial" pitchFamily="34" charset="0"/>
                  </a:rPr>
                  <a:t>Dr. </a:t>
                </a:r>
                <a:r>
                  <a:rPr lang="en-US" sz="1100" dirty="0" err="1">
                    <a:solidFill>
                      <a:srgbClr val="000000"/>
                    </a:solidFill>
                    <a:cs typeface="Arial" pitchFamily="34" charset="0"/>
                  </a:rPr>
                  <a:t>Fredrich</a:t>
                </a:r>
                <a:r>
                  <a:rPr lang="en-US" sz="1100" dirty="0">
                    <a:solidFill>
                      <a:srgbClr val="000000"/>
                    </a:solidFill>
                    <a:cs typeface="Arial" pitchFamily="34" charset="0"/>
                  </a:rPr>
                  <a:t> </a:t>
                </a:r>
                <a:r>
                  <a:rPr lang="en-US" sz="1100" dirty="0" err="1">
                    <a:solidFill>
                      <a:srgbClr val="000000"/>
                    </a:solidFill>
                    <a:cs typeface="Arial" pitchFamily="34" charset="0"/>
                  </a:rPr>
                  <a:t>Kahrl</a:t>
                </a:r>
                <a:r>
                  <a:rPr lang="en-US" sz="1100" dirty="0">
                    <a:solidFill>
                      <a:srgbClr val="000000"/>
                    </a:solidFill>
                    <a:cs typeface="Arial" pitchFamily="34" charset="0"/>
                  </a:rPr>
                  <a:t>, E3</a:t>
                </a:r>
              </a:p>
            </p:txBody>
          </p:sp>
          <p:sp>
            <p:nvSpPr>
              <p:cNvPr id="57" name="Rectangle 44"/>
              <p:cNvSpPr>
                <a:spLocks noChangeArrowheads="1"/>
              </p:cNvSpPr>
              <p:nvPr/>
            </p:nvSpPr>
            <p:spPr bwMode="auto">
              <a:xfrm>
                <a:off x="4746325" y="5217357"/>
                <a:ext cx="1930433" cy="428720"/>
              </a:xfrm>
              <a:prstGeom prst="rect">
                <a:avLst/>
              </a:prstGeom>
              <a:solidFill>
                <a:schemeClr val="accent5"/>
              </a:solidFill>
              <a:ln w="12700" algn="ctr">
                <a:solidFill>
                  <a:srgbClr val="007680"/>
                </a:solidFill>
                <a:miter lim="800000"/>
                <a:headEnd/>
                <a:tailEnd/>
              </a:ln>
            </p:spPr>
            <p:txBody>
              <a:bodyPr wrap="squar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Back Stopper – Technical Expert &amp; Policy</a:t>
                </a:r>
              </a:p>
            </p:txBody>
          </p:sp>
          <p:sp>
            <p:nvSpPr>
              <p:cNvPr id="58" name="Rectangle 43"/>
              <p:cNvSpPr>
                <a:spLocks noChangeArrowheads="1"/>
              </p:cNvSpPr>
              <p:nvPr/>
            </p:nvSpPr>
            <p:spPr bwMode="auto">
              <a:xfrm>
                <a:off x="6888615" y="5658433"/>
                <a:ext cx="2024947" cy="288515"/>
              </a:xfrm>
              <a:prstGeom prst="rect">
                <a:avLst/>
              </a:prstGeom>
              <a:solidFill>
                <a:schemeClr val="bg1"/>
              </a:solidFill>
              <a:ln w="12700">
                <a:solidFill>
                  <a:srgbClr val="007680"/>
                </a:solidFill>
                <a:miter lim="800000"/>
                <a:headEnd/>
                <a:tailEnd/>
              </a:ln>
            </p:spPr>
            <p:txBody>
              <a:bodyPr lIns="120247" tIns="40082" rIns="160330" bIns="16033" anchor="ctr" anchorCtr="0"/>
              <a:lstStyle/>
              <a:p>
                <a:pPr algn="ctr" eaLnBrk="0" hangingPunct="0">
                  <a:lnSpc>
                    <a:spcPct val="106000"/>
                  </a:lnSpc>
                  <a:defRPr/>
                </a:pPr>
                <a:r>
                  <a:rPr lang="en-US" sz="1100" dirty="0" err="1">
                    <a:solidFill>
                      <a:srgbClr val="000000"/>
                    </a:solidFill>
                    <a:cs typeface="Arial" pitchFamily="34" charset="0"/>
                  </a:rPr>
                  <a:t>Anirban</a:t>
                </a:r>
                <a:r>
                  <a:rPr lang="en-US" sz="1100" dirty="0">
                    <a:solidFill>
                      <a:srgbClr val="000000"/>
                    </a:solidFill>
                    <a:cs typeface="Arial" pitchFamily="34" charset="0"/>
                  </a:rPr>
                  <a:t> </a:t>
                </a:r>
                <a:r>
                  <a:rPr lang="en-US" sz="1100" dirty="0" err="1">
                    <a:solidFill>
                      <a:srgbClr val="000000"/>
                    </a:solidFill>
                    <a:cs typeface="Arial" pitchFamily="34" charset="0"/>
                  </a:rPr>
                  <a:t>Bandyopadhyay</a:t>
                </a:r>
                <a:r>
                  <a:rPr lang="en-US" sz="1100" dirty="0">
                    <a:solidFill>
                      <a:srgbClr val="000000"/>
                    </a:solidFill>
                    <a:cs typeface="Arial" pitchFamily="34" charset="0"/>
                  </a:rPr>
                  <a:t>, Deloitte</a:t>
                </a:r>
              </a:p>
            </p:txBody>
          </p:sp>
          <p:sp>
            <p:nvSpPr>
              <p:cNvPr id="59" name="Rectangle 44"/>
              <p:cNvSpPr>
                <a:spLocks noChangeArrowheads="1"/>
              </p:cNvSpPr>
              <p:nvPr/>
            </p:nvSpPr>
            <p:spPr bwMode="auto">
              <a:xfrm>
                <a:off x="6888616" y="5224647"/>
                <a:ext cx="2030549" cy="428720"/>
              </a:xfrm>
              <a:prstGeom prst="rect">
                <a:avLst/>
              </a:prstGeom>
              <a:solidFill>
                <a:schemeClr val="accent5"/>
              </a:solidFill>
              <a:ln w="12700" algn="ctr">
                <a:solidFill>
                  <a:srgbClr val="007680"/>
                </a:solidFill>
                <a:miter lim="800000"/>
                <a:headEnd/>
                <a:tailEnd/>
              </a:ln>
            </p:spPr>
            <p:txBody>
              <a:bodyPr wrap="none" anchor="ctr"/>
              <a:lstStyle/>
              <a:p>
                <a:pPr algn="ctr" eaLnBrk="0" fontAlgn="base" hangingPunct="0">
                  <a:lnSpc>
                    <a:spcPct val="106000"/>
                  </a:lnSpc>
                  <a:spcBef>
                    <a:spcPct val="0"/>
                  </a:spcBef>
                  <a:spcAft>
                    <a:spcPct val="0"/>
                  </a:spcAft>
                </a:pPr>
                <a:r>
                  <a:rPr lang="en-US" sz="964" b="1" dirty="0">
                    <a:solidFill>
                      <a:srgbClr val="FFFFFF"/>
                    </a:solidFill>
                    <a:cs typeface="Arial" pitchFamily="34" charset="0"/>
                  </a:rPr>
                  <a:t>Pool of Technical Expert</a:t>
                </a:r>
              </a:p>
            </p:txBody>
          </p:sp>
        </p:grpSp>
        <p:sp>
          <p:nvSpPr>
            <p:cNvPr id="61" name="Rectangle 60"/>
            <p:cNvSpPr/>
            <p:nvPr/>
          </p:nvSpPr>
          <p:spPr bwMode="gray">
            <a:xfrm>
              <a:off x="3595954" y="2301412"/>
              <a:ext cx="6822041" cy="4018298"/>
            </a:xfrm>
            <a:prstGeom prst="rect">
              <a:avLst/>
            </a:prstGeom>
            <a:noFill/>
            <a:ln w="19050" algn="ctr">
              <a:solidFill>
                <a:schemeClr val="bg1">
                  <a:lumMod val="65000"/>
                </a:schemeClr>
              </a:solidFill>
              <a:prstDash val="dash"/>
              <a:miter lim="800000"/>
              <a:headEnd/>
              <a:tailEnd/>
            </a:ln>
          </p:spPr>
          <p:txBody>
            <a:bodyPr wrap="square" lIns="98037" tIns="98037" rIns="98037" bIns="98037" rtlCol="0" anchor="ctr"/>
            <a:lstStyle/>
            <a:p>
              <a:pPr algn="ctr">
                <a:lnSpc>
                  <a:spcPct val="106000"/>
                </a:lnSpc>
                <a:buFont typeface="Wingdings 2" pitchFamily="18" charset="2"/>
                <a:buNone/>
              </a:pPr>
              <a:endParaRPr lang="en-US" sz="1764" b="1" dirty="0">
                <a:solidFill>
                  <a:schemeClr val="bg1"/>
                </a:solidFill>
              </a:endParaRPr>
            </a:p>
          </p:txBody>
        </p:sp>
      </p:grpSp>
      <p:sp>
        <p:nvSpPr>
          <p:cNvPr id="65" name="Rounded Rectangle 64"/>
          <p:cNvSpPr/>
          <p:nvPr/>
        </p:nvSpPr>
        <p:spPr bwMode="auto">
          <a:xfrm>
            <a:off x="5598051" y="1713498"/>
            <a:ext cx="3122923" cy="369250"/>
          </a:xfrm>
          <a:prstGeom prst="roundRect">
            <a:avLst/>
          </a:prstGeom>
          <a:solidFill>
            <a:schemeClr val="accent6">
              <a:lumMod val="60000"/>
              <a:lumOff val="40000"/>
            </a:schemeClr>
          </a:solidFill>
          <a:ln w="12700" cap="flat" cmpd="sng" algn="ctr">
            <a:solidFill>
              <a:schemeClr val="accent6"/>
            </a:solidFill>
            <a:prstDash val="sysDot"/>
            <a:round/>
            <a:headEnd type="none" w="med" len="med"/>
            <a:tailEnd type="none" w="med" len="med"/>
          </a:ln>
          <a:effectLst/>
        </p:spPr>
        <p:txBody>
          <a:bodyPr vert="horz" wrap="square" lIns="63122" tIns="63122" rIns="63122" bIns="63122" numCol="1" rtlCol="0" anchor="ctr" anchorCtr="1" compatLnSpc="1">
            <a:prstTxWarp prst="textNoShape">
              <a:avLst/>
            </a:prstTxWarp>
          </a:bodyPr>
          <a:lstStyle/>
          <a:p>
            <a:pPr algn="ctr" fontAlgn="base">
              <a:lnSpc>
                <a:spcPct val="90000"/>
              </a:lnSpc>
              <a:spcBef>
                <a:spcPct val="0"/>
              </a:spcBef>
              <a:spcAft>
                <a:spcPct val="0"/>
              </a:spcAft>
            </a:pPr>
            <a:r>
              <a:rPr lang="en-US" sz="1200" dirty="0">
                <a:solidFill>
                  <a:schemeClr val="bg1"/>
                </a:solidFill>
                <a:cs typeface="Arial" pitchFamily="34" charset="0"/>
              </a:rPr>
              <a:t>Resource Pool of Consultants </a:t>
            </a:r>
          </a:p>
        </p:txBody>
      </p:sp>
      <p:sp>
        <p:nvSpPr>
          <p:cNvPr id="66" name="Rounded Rectangle 65"/>
          <p:cNvSpPr/>
          <p:nvPr/>
        </p:nvSpPr>
        <p:spPr bwMode="auto">
          <a:xfrm>
            <a:off x="404112" y="1719884"/>
            <a:ext cx="2585725" cy="384642"/>
          </a:xfrm>
          <a:prstGeom prst="roundRect">
            <a:avLst/>
          </a:prstGeom>
          <a:solidFill>
            <a:schemeClr val="accent6">
              <a:lumMod val="60000"/>
              <a:lumOff val="40000"/>
            </a:schemeClr>
          </a:solidFill>
          <a:ln w="12700" cap="flat" cmpd="sng" algn="ctr">
            <a:solidFill>
              <a:schemeClr val="accent6"/>
            </a:solidFill>
            <a:prstDash val="sysDot"/>
            <a:round/>
            <a:headEnd type="none" w="med" len="med"/>
            <a:tailEnd type="none" w="med" len="med"/>
          </a:ln>
          <a:effectLst/>
        </p:spPr>
        <p:txBody>
          <a:bodyPr vert="horz" wrap="square" lIns="63122" tIns="63122" rIns="63122" bIns="63122" numCol="1" rtlCol="0" anchor="ctr" anchorCtr="1" compatLnSpc="1">
            <a:prstTxWarp prst="textNoShape">
              <a:avLst/>
            </a:prstTxWarp>
          </a:bodyPr>
          <a:lstStyle/>
          <a:p>
            <a:pPr algn="ctr" fontAlgn="base">
              <a:lnSpc>
                <a:spcPct val="90000"/>
              </a:lnSpc>
              <a:spcBef>
                <a:spcPct val="0"/>
              </a:spcBef>
              <a:spcAft>
                <a:spcPct val="0"/>
              </a:spcAft>
            </a:pPr>
            <a:r>
              <a:rPr lang="en-US" sz="1200" dirty="0">
                <a:solidFill>
                  <a:schemeClr val="bg1"/>
                </a:solidFill>
                <a:cs typeface="Arial" pitchFamily="34" charset="0"/>
              </a:rPr>
              <a:t>Technical Expert from the GIZ- IGEN- Access </a:t>
            </a:r>
            <a:r>
              <a:rPr lang="en-US" sz="1200" dirty="0" err="1">
                <a:solidFill>
                  <a:schemeClr val="bg1"/>
                </a:solidFill>
                <a:cs typeface="Arial" pitchFamily="34" charset="0"/>
              </a:rPr>
              <a:t>Programme</a:t>
            </a:r>
            <a:r>
              <a:rPr lang="en-US" sz="1200" dirty="0">
                <a:solidFill>
                  <a:schemeClr val="bg1"/>
                </a:solidFill>
                <a:cs typeface="Arial" pitchFamily="34" charset="0"/>
              </a:rPr>
              <a:t> </a:t>
            </a:r>
          </a:p>
        </p:txBody>
      </p:sp>
      <p:sp>
        <p:nvSpPr>
          <p:cNvPr id="22" name="Rectangle 21"/>
          <p:cNvSpPr/>
          <p:nvPr/>
        </p:nvSpPr>
        <p:spPr>
          <a:xfrm>
            <a:off x="373909" y="2139194"/>
            <a:ext cx="2655916" cy="1025602"/>
          </a:xfrm>
          <a:prstGeom prst="rect">
            <a:avLst/>
          </a:prstGeom>
        </p:spPr>
        <p:txBody>
          <a:bodyPr wrap="square">
            <a:spAutoFit/>
          </a:bodyPr>
          <a:lstStyle/>
          <a:p>
            <a:pPr lvl="0"/>
            <a:r>
              <a:rPr lang="en-US" sz="1213" i="1" dirty="0">
                <a:solidFill>
                  <a:prstClr val="black">
                    <a:lumMod val="50000"/>
                    <a:lumOff val="50000"/>
                  </a:prstClr>
                </a:solidFill>
              </a:rPr>
              <a:t>Set overall direction</a:t>
            </a:r>
          </a:p>
          <a:p>
            <a:pPr lvl="0"/>
            <a:r>
              <a:rPr lang="en-US" sz="1213" i="1" dirty="0">
                <a:solidFill>
                  <a:prstClr val="black">
                    <a:lumMod val="50000"/>
                    <a:lumOff val="50000"/>
                  </a:prstClr>
                </a:solidFill>
              </a:rPr>
              <a:t>Review outputs and provide inputs / feedback</a:t>
            </a:r>
          </a:p>
          <a:p>
            <a:pPr lvl="0"/>
            <a:r>
              <a:rPr lang="en-US" sz="1213" i="1" dirty="0">
                <a:solidFill>
                  <a:prstClr val="black">
                    <a:lumMod val="50000"/>
                    <a:lumOff val="50000"/>
                  </a:prstClr>
                </a:solidFill>
              </a:rPr>
              <a:t>Make key decisions and approve recommendations</a:t>
            </a:r>
          </a:p>
        </p:txBody>
      </p:sp>
      <p:cxnSp>
        <p:nvCxnSpPr>
          <p:cNvPr id="70" name="Elbow Connector 69"/>
          <p:cNvCxnSpPr>
            <a:stCxn id="65" idx="1"/>
            <a:endCxn id="66" idx="3"/>
          </p:cNvCxnSpPr>
          <p:nvPr/>
        </p:nvCxnSpPr>
        <p:spPr>
          <a:xfrm rot="10800000" flipV="1">
            <a:off x="2989837" y="1898123"/>
            <a:ext cx="2608214" cy="14082"/>
          </a:xfrm>
          <a:prstGeom prst="bentConnector3">
            <a:avLst>
              <a:gd name="adj1" fmla="val -549"/>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6" name="Rectangle 56"/>
          <p:cNvSpPr>
            <a:spLocks noChangeArrowheads="1"/>
          </p:cNvSpPr>
          <p:nvPr/>
        </p:nvSpPr>
        <p:spPr bwMode="gray">
          <a:xfrm>
            <a:off x="3740233" y="1676858"/>
            <a:ext cx="1771266" cy="274458"/>
          </a:xfrm>
          <a:prstGeom prst="rect">
            <a:avLst/>
          </a:prstGeom>
          <a:noFill/>
          <a:ln w="12700">
            <a:noFill/>
            <a:miter lim="800000"/>
            <a:headEnd/>
            <a:tailEnd/>
          </a:ln>
        </p:spPr>
        <p:txBody>
          <a:bodyPr wrap="square" lIns="79330" tIns="38969" rIns="79330" bIns="38969">
            <a:spAutoFit/>
          </a:bodyPr>
          <a:lstStyle/>
          <a:p>
            <a:pPr eaLnBrk="0" hangingPunct="0">
              <a:lnSpc>
                <a:spcPct val="106000"/>
              </a:lnSpc>
              <a:buClr>
                <a:srgbClr val="000000"/>
              </a:buClr>
            </a:pPr>
            <a:r>
              <a:rPr lang="en-US" sz="1200" b="1" dirty="0">
                <a:solidFill>
                  <a:schemeClr val="accent1"/>
                </a:solidFill>
                <a:cs typeface="Arial" pitchFamily="34" charset="0"/>
              </a:rPr>
              <a:t>Reporting</a:t>
            </a:r>
          </a:p>
        </p:txBody>
      </p:sp>
      <p:cxnSp>
        <p:nvCxnSpPr>
          <p:cNvPr id="68" name="Elbow Connector 67"/>
          <p:cNvCxnSpPr>
            <a:stCxn id="32" idx="3"/>
            <a:endCxn id="61" idx="2"/>
          </p:cNvCxnSpPr>
          <p:nvPr/>
        </p:nvCxnSpPr>
        <p:spPr>
          <a:xfrm>
            <a:off x="3000081" y="4366287"/>
            <a:ext cx="3996978" cy="1791205"/>
          </a:xfrm>
          <a:prstGeom prst="bentConnector4">
            <a:avLst>
              <a:gd name="adj1" fmla="val 7330"/>
              <a:gd name="adj2" fmla="val 112762"/>
            </a:avLst>
          </a:prstGeom>
          <a:ln>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6" name="Rectangle 85"/>
          <p:cNvSpPr/>
          <p:nvPr/>
        </p:nvSpPr>
        <p:spPr>
          <a:xfrm>
            <a:off x="3747049" y="6497411"/>
            <a:ext cx="6321664" cy="652294"/>
          </a:xfrm>
          <a:prstGeom prst="rect">
            <a:avLst/>
          </a:prstGeom>
        </p:spPr>
        <p:txBody>
          <a:bodyPr wrap="square">
            <a:spAutoFit/>
          </a:bodyPr>
          <a:lstStyle/>
          <a:p>
            <a:pPr lvl="0"/>
            <a:r>
              <a:rPr lang="en-US" sz="1213" i="1" dirty="0">
                <a:solidFill>
                  <a:prstClr val="black">
                    <a:lumMod val="50000"/>
                    <a:lumOff val="50000"/>
                  </a:prstClr>
                </a:solidFill>
              </a:rPr>
              <a:t>Develop the EAP of the State and Perform the tasks underlined in the various work packages, conduct trainings and workshops, accord approvals along with support in Ad-hoc tasks</a:t>
            </a:r>
          </a:p>
        </p:txBody>
      </p:sp>
      <p:sp>
        <p:nvSpPr>
          <p:cNvPr id="87" name="Rectangle 86"/>
          <p:cNvSpPr/>
          <p:nvPr/>
        </p:nvSpPr>
        <p:spPr>
          <a:xfrm>
            <a:off x="373909" y="5433349"/>
            <a:ext cx="2655916" cy="1025602"/>
          </a:xfrm>
          <a:prstGeom prst="rect">
            <a:avLst/>
          </a:prstGeom>
        </p:spPr>
        <p:txBody>
          <a:bodyPr wrap="square">
            <a:spAutoFit/>
          </a:bodyPr>
          <a:lstStyle/>
          <a:p>
            <a:pPr lvl="0"/>
            <a:r>
              <a:rPr lang="en-US" sz="1213" i="1" dirty="0">
                <a:solidFill>
                  <a:prstClr val="black">
                    <a:lumMod val="50000"/>
                    <a:lumOff val="50000"/>
                  </a:prstClr>
                </a:solidFill>
              </a:rPr>
              <a:t>Provide support to the consultant in developing work plan, policy review, baseline assessment and other inputs required for developing EAP</a:t>
            </a:r>
          </a:p>
        </p:txBody>
      </p:sp>
      <p:sp>
        <p:nvSpPr>
          <p:cNvPr id="47"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b="1" dirty="0"/>
              <a:t>Resource Engagement Framework</a:t>
            </a:r>
          </a:p>
        </p:txBody>
      </p:sp>
      <p:sp>
        <p:nvSpPr>
          <p:cNvPr id="48"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t>To cater to the integrated requirements for Development of EAP, we will employ a robust team with expertise of diversified dimensions</a:t>
            </a:r>
          </a:p>
          <a:p>
            <a:endParaRPr lang="en-US" sz="1600" dirty="0">
              <a:solidFill>
                <a:srgbClr val="575757"/>
              </a:solidFill>
            </a:endParaRPr>
          </a:p>
        </p:txBody>
      </p:sp>
    </p:spTree>
    <p:extLst>
      <p:ext uri="{BB962C8B-B14F-4D97-AF65-F5344CB8AC3E}">
        <p14:creationId xmlns:p14="http://schemas.microsoft.com/office/powerpoint/2010/main" val="223146916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637953" y="1553656"/>
            <a:ext cx="9452345" cy="5381401"/>
          </a:xfrm>
          <a:prstGeom prst="rect">
            <a:avLst/>
          </a:prstGeom>
          <a:noFill/>
        </p:spPr>
      </p:pic>
      <p:sp>
        <p:nvSpPr>
          <p:cNvPr id="8"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Resource Engagement Framework</a:t>
            </a:r>
          </a:p>
        </p:txBody>
      </p:sp>
      <p:sp>
        <p:nvSpPr>
          <p:cNvPr id="9" name="Text Placeholder 5"/>
          <p:cNvSpPr txBox="1">
            <a:spLocks/>
          </p:cNvSpPr>
          <p:nvPr/>
        </p:nvSpPr>
        <p:spPr>
          <a:xfrm>
            <a:off x="439795" y="718571"/>
            <a:ext cx="9809051" cy="615554"/>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r>
              <a:rPr lang="en-US" sz="1600" dirty="0"/>
              <a:t>Mapping the proposed human resources against Work Packages based on the estimated efforts</a:t>
            </a:r>
          </a:p>
          <a:p>
            <a:endParaRPr lang="en-US" sz="1600" dirty="0">
              <a:solidFill>
                <a:srgbClr val="575757"/>
              </a:solidFill>
            </a:endParaRPr>
          </a:p>
        </p:txBody>
      </p:sp>
    </p:spTree>
    <p:extLst>
      <p:ext uri="{BB962C8B-B14F-4D97-AF65-F5344CB8AC3E}">
        <p14:creationId xmlns:p14="http://schemas.microsoft.com/office/powerpoint/2010/main" val="327101378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39793" y="1160688"/>
            <a:ext cx="8133385" cy="5241475"/>
          </a:xfrm>
        </p:spPr>
        <p:txBody>
          <a:bodyPr anchor="ctr"/>
          <a:lstStyle/>
          <a:p>
            <a:r>
              <a:rPr lang="en-US" b="1" dirty="0"/>
              <a:t>Thank You!</a:t>
            </a:r>
          </a:p>
        </p:txBody>
      </p:sp>
    </p:spTree>
    <p:extLst>
      <p:ext uri="{BB962C8B-B14F-4D97-AF65-F5344CB8AC3E}">
        <p14:creationId xmlns:p14="http://schemas.microsoft.com/office/powerpoint/2010/main" val="105303016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39663" y="280213"/>
            <a:ext cx="2535801" cy="3457662"/>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Implementation of pilots to assist Central /State govt. in planning for large-scale integration of Renewable Energy</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Preparation of Road Map for providing 24X7 Power For All in 10 States in India</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Design the Framework for Implementation of Rooftop Solar PV Projects in MP</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Developing a White Paper and Draft Solar Rooftop Policy in Gujarat for IFC</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Evaluating Institutional Framework for Renewable Energy deployment in India</a:t>
            </a:r>
          </a:p>
        </p:txBody>
      </p:sp>
      <p:sp>
        <p:nvSpPr>
          <p:cNvPr id="7" name="TextBox 6"/>
          <p:cNvSpPr txBox="1"/>
          <p:nvPr/>
        </p:nvSpPr>
        <p:spPr>
          <a:xfrm>
            <a:off x="4756097" y="833915"/>
            <a:ext cx="4277300" cy="905678"/>
          </a:xfrm>
          <a:prstGeom prst="rect">
            <a:avLst/>
          </a:prstGeom>
          <a:noFill/>
        </p:spPr>
        <p:txBody>
          <a:bodyPr wrap="square" lIns="90342" tIns="45171" rIns="90342" bIns="45171" rtlCol="0">
            <a:spAutoFit/>
          </a:bodyPr>
          <a:lstStyle/>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Shubhranshu Patnaik</a:t>
            </a: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Partner, Deloitte India</a:t>
            </a: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22 years of experience</a:t>
            </a:r>
          </a:p>
        </p:txBody>
      </p:sp>
      <p:sp>
        <p:nvSpPr>
          <p:cNvPr id="8" name="Rectangle 7"/>
          <p:cNvSpPr/>
          <p:nvPr/>
        </p:nvSpPr>
        <p:spPr>
          <a:xfrm>
            <a:off x="4756097" y="280210"/>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defTabSz="504200"/>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Team Leader – Expert 1</a:t>
            </a:r>
          </a:p>
        </p:txBody>
      </p:sp>
      <p:sp>
        <p:nvSpPr>
          <p:cNvPr id="9" name="TextBox 8"/>
          <p:cNvSpPr txBox="1"/>
          <p:nvPr/>
        </p:nvSpPr>
        <p:spPr>
          <a:xfrm>
            <a:off x="3103869" y="1779901"/>
            <a:ext cx="7012606" cy="1957761"/>
          </a:xfrm>
          <a:prstGeom prst="rect">
            <a:avLst/>
          </a:prstGeom>
          <a:noFill/>
        </p:spPr>
        <p:txBody>
          <a:bodyPr wrap="square" lIns="90342" tIns="45171" rIns="90342" bIns="45171" rtlCol="0">
            <a:spAutoFit/>
          </a:bodyPr>
          <a:lstStyle/>
          <a:p>
            <a:pPr defTabSz="504200"/>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Shubhranshu</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is a Partner with Deloitte, India and has led several assignments in energy sector with focus on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sector planning</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energy modelling</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market development</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regulatory framework and privatization, public private partnerships (PPP) and project finance</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in India and abroad. He also brings in extensive experience of working with Central Govt. &amp; agencies on key initiatives such as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24X7 PFA Program, Case-1, Phase 1 of NSM</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etc. He has also been deeply involved in some of the contemporary issues with the State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Discoms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including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UDAY, IPDS &amp; DDUGJY monitoring, smart grid, load flow simulation based planning,</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etc.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Shubhranshu</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has worked on power sector assignments in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UK, Sri Lanka, Nigeria, Bangladesh, Myanmar, Bhutan, Nepal, Turkey, Jordan</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etc.</a:t>
            </a:r>
          </a:p>
        </p:txBody>
      </p:sp>
      <p:pic>
        <p:nvPicPr>
          <p:cNvPr id="10" name="Picture 2" descr="Description: Description: S Patnaik"/>
          <p:cNvPicPr>
            <a:picLocks noChangeAspect="1" noChangeArrowheads="1"/>
          </p:cNvPicPr>
          <p:nvPr/>
        </p:nvPicPr>
        <p:blipFill>
          <a:blip r:embed="rId2" cstate="print">
            <a:extLst>
              <a:ext uri="{28A0092B-C50C-407E-A947-70E740481C1C}">
                <a14:useLocalDpi xmlns:a14="http://schemas.microsoft.com/office/drawing/2010/main" val="0"/>
              </a:ext>
            </a:extLst>
          </a:blip>
          <a:srcRect b="10365"/>
          <a:stretch>
            <a:fillRect/>
          </a:stretch>
        </p:blipFill>
        <p:spPr bwMode="auto">
          <a:xfrm>
            <a:off x="3187506" y="280210"/>
            <a:ext cx="1350109" cy="149969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2"/>
          <p:cNvSpPr>
            <a:spLocks noChangeArrowheads="1"/>
          </p:cNvSpPr>
          <p:nvPr/>
        </p:nvSpPr>
        <p:spPr bwMode="auto">
          <a:xfrm>
            <a:off x="7580675" y="3867056"/>
            <a:ext cx="2535801" cy="3541749"/>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Co-led consultancy for the National Association of Regulatory Utility Commissioners’ (NARUC) partnership with India’s CERC on renewable energy</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Conducted a regulatory assessment of India’s and Delhi’s policies and developed a regulatory framework to promote distributed energy resources (DER)</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Co-authored a study on the needs for planning tools and policies to meet the renewable energy goals in India’s National Action Plan</a:t>
            </a:r>
          </a:p>
        </p:txBody>
      </p:sp>
      <p:sp>
        <p:nvSpPr>
          <p:cNvPr id="14" name="Rectangle 13"/>
          <p:cNvSpPr/>
          <p:nvPr/>
        </p:nvSpPr>
        <p:spPr>
          <a:xfrm>
            <a:off x="539663" y="3873468"/>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algn="r" defTabSz="504200"/>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Expert 2 &amp; Co-leader</a:t>
            </a:r>
          </a:p>
        </p:txBody>
      </p:sp>
      <p:pic>
        <p:nvPicPr>
          <p:cNvPr id="16" name="Picture 15" descr="https://www.ethree.com/wp-content/uploads/2017/01/people-alagappen-n.png"/>
          <p:cNvPicPr/>
          <p:nvPr/>
        </p:nvPicPr>
        <p:blipFill rotWithShape="1">
          <a:blip r:embed="rId3">
            <a:extLst>
              <a:ext uri="{28A0092B-C50C-407E-A947-70E740481C1C}">
                <a14:useLocalDpi xmlns:a14="http://schemas.microsoft.com/office/drawing/2010/main" val="0"/>
              </a:ext>
            </a:extLst>
          </a:blip>
          <a:srcRect l="21713" r="14745" b="15606"/>
          <a:stretch/>
        </p:blipFill>
        <p:spPr bwMode="auto">
          <a:xfrm>
            <a:off x="6012083" y="3867056"/>
            <a:ext cx="1456549" cy="1546875"/>
          </a:xfrm>
          <a:prstGeom prst="rect">
            <a:avLst/>
          </a:prstGeom>
          <a:noFill/>
          <a:ln>
            <a:noFill/>
          </a:ln>
          <a:extLst>
            <a:ext uri="{53640926-AAD7-44D8-BBD7-CCE9431645EC}">
              <a14:shadowObscured xmlns:a14="http://schemas.microsoft.com/office/drawing/2010/main"/>
            </a:ext>
          </a:extLst>
        </p:spPr>
      </p:pic>
      <p:sp>
        <p:nvSpPr>
          <p:cNvPr id="17" name="TextBox 16"/>
          <p:cNvSpPr txBox="1"/>
          <p:nvPr/>
        </p:nvSpPr>
        <p:spPr>
          <a:xfrm>
            <a:off x="1622741" y="4447804"/>
            <a:ext cx="4277300" cy="905678"/>
          </a:xfrm>
          <a:prstGeom prst="rect">
            <a:avLst/>
          </a:prstGeom>
          <a:noFill/>
        </p:spPr>
        <p:txBody>
          <a:bodyPr wrap="square" lIns="90342" tIns="45171" rIns="90342" bIns="45171" rtlCol="0">
            <a:spAutoFit/>
          </a:bodyPr>
          <a:lstStyle/>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Lakshmi Alagappan</a:t>
            </a:r>
          </a:p>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Director, E3 U.S.A.</a:t>
            </a:r>
          </a:p>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10 years of experience</a:t>
            </a:r>
          </a:p>
        </p:txBody>
      </p:sp>
      <p:sp>
        <p:nvSpPr>
          <p:cNvPr id="20" name="Rectangle 19"/>
          <p:cNvSpPr/>
          <p:nvPr/>
        </p:nvSpPr>
        <p:spPr>
          <a:xfrm>
            <a:off x="427622" y="5440232"/>
            <a:ext cx="7041010" cy="1958870"/>
          </a:xfrm>
          <a:prstGeom prst="rect">
            <a:avLst/>
          </a:prstGeom>
        </p:spPr>
        <p:txBody>
          <a:bodyPr wrap="square">
            <a:spAutoFit/>
          </a:bodyPr>
          <a:lstStyle/>
          <a:p>
            <a:pPr defTabSz="504200"/>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Ms.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Alagappan</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is a Director in E3 and leads the firm’s work in India. She works across the firm’s long-term resource and transmission planning and asset valuation practice areas. Her expertise include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regulatory, energy planning, policy, business modelling,</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etc. She has supported developers and system operators in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evaluating the reliability, economic, and policy benefits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of high-voltage transmission projects, developed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business models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for utilities to transition towards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integrating higher penetrations of distributed energy resources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In India, Lakshmi has led the development of a regulatory framework to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promote distributed energy resources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for TPDDL, and co-led a technical and regulatory consultancy to assist CERC with understanding international market designs to facilitate renewable integration. </a:t>
            </a:r>
          </a:p>
        </p:txBody>
      </p:sp>
    </p:spTree>
    <p:extLst>
      <p:ext uri="{BB962C8B-B14F-4D97-AF65-F5344CB8AC3E}">
        <p14:creationId xmlns:p14="http://schemas.microsoft.com/office/powerpoint/2010/main" val="40221439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23426" y="304643"/>
            <a:ext cx="2535801" cy="3596591"/>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p>
          <a:p>
            <a:pPr marL="120946" indent="-120946" defTabSz="504200">
              <a:spcAft>
                <a:spcPts val="331"/>
              </a:spcAft>
              <a:buFont typeface="Arial" pitchFamily="34" charset="0"/>
              <a:buChar char="•"/>
            </a:pPr>
            <a:r>
              <a:rPr lang="en-GB" sz="1103" dirty="0">
                <a:solidFill>
                  <a:srgbClr val="FFFFFF"/>
                </a:solidFill>
                <a:latin typeface="Verdana" panose="020B0604030504040204" pitchFamily="34" charset="0"/>
                <a:ea typeface="Verdana" panose="020B0604030504040204" pitchFamily="34" charset="0"/>
                <a:cs typeface="Verdana" panose="020B0604030504040204" pitchFamily="34" charset="0"/>
              </a:rPr>
              <a:t>Developing the Least Cost Power Generation Plan for Myanmar</a:t>
            </a:r>
          </a:p>
          <a:p>
            <a:pPr marL="120946" indent="-120946" defTabSz="504200">
              <a:spcAft>
                <a:spcPts val="331"/>
              </a:spcAft>
              <a:buFont typeface="Arial" pitchFamily="34" charset="0"/>
              <a:buChar char="•"/>
            </a:pPr>
            <a:r>
              <a:rPr lang="en-GB" sz="1103" dirty="0">
                <a:solidFill>
                  <a:srgbClr val="FFFFFF"/>
                </a:solidFill>
                <a:latin typeface="Verdana" panose="020B0604030504040204" pitchFamily="34" charset="0"/>
                <a:ea typeface="Verdana" panose="020B0604030504040204" pitchFamily="34" charset="0"/>
                <a:cs typeface="Verdana" panose="020B0604030504040204" pitchFamily="34" charset="0"/>
              </a:rPr>
              <a:t>Assisted the World Bank Group and Nepal Electricity Authority in development of a Power Sector Viability Action Plan</a:t>
            </a:r>
          </a:p>
          <a:p>
            <a:pPr marL="120946" indent="-120946" defTabSz="504200">
              <a:spcAft>
                <a:spcPts val="331"/>
              </a:spcAft>
              <a:buFont typeface="Arial" pitchFamily="34" charset="0"/>
              <a:buChar char="•"/>
            </a:pPr>
            <a:r>
              <a:rPr lang="en-GB" sz="1103" dirty="0">
                <a:solidFill>
                  <a:srgbClr val="FFFFFF"/>
                </a:solidFill>
                <a:latin typeface="Verdana" panose="020B0604030504040204" pitchFamily="34" charset="0"/>
                <a:ea typeface="Verdana" panose="020B0604030504040204" pitchFamily="34" charset="0"/>
                <a:cs typeface="Verdana" panose="020B0604030504040204" pitchFamily="34" charset="0"/>
              </a:rPr>
              <a:t>Assisting CERC in benefits demonstration of a national </a:t>
            </a:r>
            <a:r>
              <a:rPr lang="en-GB" sz="1103" dirty="0" err="1">
                <a:solidFill>
                  <a:srgbClr val="FFFFFF"/>
                </a:solidFill>
                <a:latin typeface="Verdana" panose="020B0604030504040204" pitchFamily="34" charset="0"/>
                <a:ea typeface="Verdana" panose="020B0604030504040204" pitchFamily="34" charset="0"/>
                <a:cs typeface="Verdana" panose="020B0604030504040204" pitchFamily="34" charset="0"/>
              </a:rPr>
              <a:t>Px</a:t>
            </a:r>
            <a:r>
              <a:rPr lang="en-GB" sz="1103" dirty="0">
                <a:solidFill>
                  <a:srgbClr val="FFFFFF"/>
                </a:solidFill>
                <a:latin typeface="Verdana" panose="020B0604030504040204" pitchFamily="34" charset="0"/>
                <a:ea typeface="Verdana" panose="020B0604030504040204" pitchFamily="34" charset="0"/>
                <a:cs typeface="Verdana" panose="020B0604030504040204" pitchFamily="34" charset="0"/>
              </a:rPr>
              <a:t> based intra-day market</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USAID RISE: Assist the Government of India (</a:t>
            </a:r>
            <a:r>
              <a:rPr lang="en-US" sz="1103" dirty="0" err="1">
                <a:solidFill>
                  <a:srgbClr val="FFFFFF"/>
                </a:solidFill>
                <a:latin typeface="Verdana" panose="020B0604030504040204" pitchFamily="34" charset="0"/>
                <a:ea typeface="Verdana" panose="020B0604030504040204" pitchFamily="34" charset="0"/>
                <a:cs typeface="Verdana" panose="020B0604030504040204" pitchFamily="34" charset="0"/>
              </a:rPr>
              <a:t>GoI</a:t>
            </a: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 to pilot innovative solutions for enhanced transmission grid capacity to support high penetration rates of RE generation</a:t>
            </a:r>
          </a:p>
        </p:txBody>
      </p:sp>
      <p:sp>
        <p:nvSpPr>
          <p:cNvPr id="7" name="TextBox 6"/>
          <p:cNvSpPr txBox="1"/>
          <p:nvPr/>
        </p:nvSpPr>
        <p:spPr>
          <a:xfrm>
            <a:off x="4756097" y="915411"/>
            <a:ext cx="4277300" cy="905678"/>
          </a:xfrm>
          <a:prstGeom prst="rect">
            <a:avLst/>
          </a:prstGeom>
          <a:noFill/>
        </p:spPr>
        <p:txBody>
          <a:bodyPr wrap="square" lIns="90342" tIns="45171" rIns="90342" bIns="45171" rtlCol="0">
            <a:spAutoFit/>
          </a:bodyPr>
          <a:lstStyle/>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Anish Mandal</a:t>
            </a: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Director</a:t>
            </a: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13 years of experience</a:t>
            </a:r>
          </a:p>
        </p:txBody>
      </p:sp>
      <p:sp>
        <p:nvSpPr>
          <p:cNvPr id="8" name="Rectangle 7"/>
          <p:cNvSpPr/>
          <p:nvPr/>
        </p:nvSpPr>
        <p:spPr>
          <a:xfrm>
            <a:off x="4756097" y="304108"/>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defTabSz="504200"/>
            <a:r>
              <a:rPr lang="en-GB" sz="1764" dirty="0">
                <a:solidFill>
                  <a:srgbClr val="FFFFFF"/>
                </a:solidFill>
                <a:latin typeface="Verdana" panose="020B0604030504040204" pitchFamily="34" charset="0"/>
                <a:ea typeface="Verdana" panose="020B0604030504040204" pitchFamily="34" charset="0"/>
                <a:cs typeface="Verdana" panose="020B0604030504040204" pitchFamily="34" charset="0"/>
              </a:rPr>
              <a:t>Expert 3 (Energy Policy/Plan</a:t>
            </a:r>
            <a:r>
              <a:rPr lang="en-GB" sz="1985" dirty="0">
                <a:solidFill>
                  <a:prstClr val="white"/>
                </a:solidFill>
                <a:latin typeface="Calibri" panose="020F0502020204030204"/>
              </a:rPr>
              <a:t>)</a:t>
            </a:r>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 </a:t>
            </a:r>
          </a:p>
        </p:txBody>
      </p:sp>
      <p:sp>
        <p:nvSpPr>
          <p:cNvPr id="9" name="TextBox 8"/>
          <p:cNvSpPr txBox="1"/>
          <p:nvPr/>
        </p:nvSpPr>
        <p:spPr>
          <a:xfrm>
            <a:off x="3103869" y="1943261"/>
            <a:ext cx="7012606" cy="1957761"/>
          </a:xfrm>
          <a:prstGeom prst="rect">
            <a:avLst/>
          </a:prstGeom>
          <a:noFill/>
        </p:spPr>
        <p:txBody>
          <a:bodyPr wrap="square" lIns="90342" tIns="45171" rIns="90342" bIns="45171" rtlCol="0">
            <a:spAutoFit/>
          </a:bodyPr>
          <a:lstStyle/>
          <a:p>
            <a:pPr defTabSz="504200"/>
            <a:r>
              <a:rPr lang="en-US" sz="1213" dirty="0">
                <a:solidFill>
                  <a:prstClr val="black"/>
                </a:solidFill>
                <a:latin typeface="Verdana" panose="020B0604030504040204" pitchFamily="34" charset="0"/>
                <a:ea typeface="Verdana" panose="020B0604030504040204" pitchFamily="34" charset="0"/>
                <a:cs typeface="Verdana" panose="020B0604030504040204" pitchFamily="34" charset="0"/>
              </a:rPr>
              <a:t>Anish is a Director with Deloitte India. He is an Engineer from IIT Kharagpur and MBA from IIM Bangalore and has over 13 years of experience in the Consulting industry with Energy &amp; Resources sector. He has advised clients in areas like </a:t>
            </a:r>
            <a:r>
              <a:rPr lang="en-US" sz="1213" b="1" dirty="0">
                <a:solidFill>
                  <a:prstClr val="black"/>
                </a:solidFill>
                <a:latin typeface="Verdana" panose="020B0604030504040204" pitchFamily="34" charset="0"/>
                <a:ea typeface="Verdana" panose="020B0604030504040204" pitchFamily="34" charset="0"/>
                <a:cs typeface="Verdana" panose="020B0604030504040204" pitchFamily="34" charset="0"/>
              </a:rPr>
              <a:t>Energy Sector Planning, Sector Strategy, Corporate Strategy, Project Appraisals, Energy Policy &amp; Regulatory, Commercial Due Diligence, Energy modelling, Analytics, Valuations, investment structuring, and sector reforms.</a:t>
            </a:r>
            <a:endPar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endParaRPr>
          </a:p>
          <a:p>
            <a:pPr defTabSz="504200"/>
            <a:r>
              <a:rPr lang="en-US" sz="1213" dirty="0">
                <a:solidFill>
                  <a:prstClr val="black"/>
                </a:solidFill>
                <a:latin typeface="Verdana" panose="020B0604030504040204" pitchFamily="34" charset="0"/>
                <a:ea typeface="Verdana" panose="020B0604030504040204" pitchFamily="34" charset="0"/>
                <a:cs typeface="Verdana" panose="020B0604030504040204" pitchFamily="34" charset="0"/>
              </a:rPr>
              <a:t>Anish has cross country experiences in India, Myanmar, Indonesia, Vietnam, Nepal, Sri Lanka, Bangladesh, and Saudi Arabia working with the </a:t>
            </a:r>
            <a:r>
              <a:rPr lang="en-US" sz="1213" b="1" dirty="0">
                <a:solidFill>
                  <a:prstClr val="black"/>
                </a:solidFill>
                <a:latin typeface="Verdana" panose="020B0604030504040204" pitchFamily="34" charset="0"/>
                <a:ea typeface="Verdana" panose="020B0604030504040204" pitchFamily="34" charset="0"/>
                <a:cs typeface="Verdana" panose="020B0604030504040204" pitchFamily="34" charset="0"/>
              </a:rPr>
              <a:t>Public Sector Utilities, Ministry of Power, Ministry of Coal,</a:t>
            </a:r>
            <a:r>
              <a:rPr lang="en-US" sz="1213" dirty="0">
                <a:solidFill>
                  <a:prstClr val="black"/>
                </a:solidFill>
                <a:latin typeface="Verdana" panose="020B0604030504040204" pitchFamily="34" charset="0"/>
                <a:ea typeface="Verdana" panose="020B0604030504040204" pitchFamily="34" charset="0"/>
                <a:cs typeface="Verdana" panose="020B0604030504040204" pitchFamily="34" charset="0"/>
              </a:rPr>
              <a:t> Multilateral Banks, Donor Agencies, private investors. PE firms, etc. </a:t>
            </a:r>
          </a:p>
        </p:txBody>
      </p:sp>
      <p:pic>
        <p:nvPicPr>
          <p:cNvPr id="11" name="Picture 10" descr="cid:image001.jpg@01D1CC9E.7AADBAC0"/>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164748" y="304644"/>
            <a:ext cx="1350109" cy="1507849"/>
          </a:xfrm>
          <a:prstGeom prst="rect">
            <a:avLst/>
          </a:prstGeom>
          <a:noFill/>
          <a:ln>
            <a:noFill/>
          </a:ln>
        </p:spPr>
      </p:pic>
      <p:sp>
        <p:nvSpPr>
          <p:cNvPr id="12" name="Rectangle 2"/>
          <p:cNvSpPr>
            <a:spLocks noChangeArrowheads="1"/>
          </p:cNvSpPr>
          <p:nvPr/>
        </p:nvSpPr>
        <p:spPr bwMode="auto">
          <a:xfrm>
            <a:off x="7580675" y="4098917"/>
            <a:ext cx="2535801" cy="3193086"/>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p>
          <a:p>
            <a:pPr marL="120946" indent="-120946" defTabSz="504200">
              <a:spcAft>
                <a:spcPts val="331"/>
              </a:spcAft>
              <a:buFont typeface="Arial" pitchFamily="34" charset="0"/>
              <a:buChar char="•"/>
            </a:pPr>
            <a:r>
              <a:rPr lang="en-IN" sz="1103" dirty="0">
                <a:solidFill>
                  <a:srgbClr val="FFFFFF"/>
                </a:solidFill>
                <a:latin typeface="Verdana" panose="020B0604030504040204" pitchFamily="34" charset="0"/>
                <a:ea typeface="Verdana" panose="020B0604030504040204" pitchFamily="34" charset="0"/>
                <a:cs typeface="Verdana" panose="020B0604030504040204" pitchFamily="34" charset="0"/>
              </a:rPr>
              <a:t>Prepared ‘Carbon Market Roadmap for India: Strategy for next Decade’ for GIZ</a:t>
            </a:r>
          </a:p>
          <a:p>
            <a:pPr marL="120946" indent="-120946" defTabSz="504200">
              <a:spcAft>
                <a:spcPts val="331"/>
              </a:spcAft>
              <a:buFont typeface="Arial" pitchFamily="34" charset="0"/>
              <a:buChar char="•"/>
            </a:pPr>
            <a:r>
              <a:rPr lang="en-IN" sz="1103" dirty="0">
                <a:solidFill>
                  <a:srgbClr val="FFFFFF"/>
                </a:solidFill>
                <a:latin typeface="Verdana" panose="020B0604030504040204" pitchFamily="34" charset="0"/>
                <a:ea typeface="Verdana" panose="020B0604030504040204" pitchFamily="34" charset="0"/>
                <a:cs typeface="Verdana" panose="020B0604030504040204" pitchFamily="34" charset="0"/>
              </a:rPr>
              <a:t>Assessed GHG mitigation potential of nitric acid in India for GIZ.</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Developed comprehensive economic cost benefit 'Framework for Strengthening Investment Climate for Renewable Energy in India’</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As Climate Change Modelling Analysis Specialist, carried out Climate risk analysis of Hydropower Project in Nepal</a:t>
            </a:r>
            <a:endParaRPr lang="en-GB" sz="1103"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TextBox 12"/>
          <p:cNvSpPr txBox="1"/>
          <p:nvPr/>
        </p:nvSpPr>
        <p:spPr>
          <a:xfrm>
            <a:off x="1622741" y="4615906"/>
            <a:ext cx="4277300" cy="905678"/>
          </a:xfrm>
          <a:prstGeom prst="rect">
            <a:avLst/>
          </a:prstGeom>
          <a:noFill/>
        </p:spPr>
        <p:txBody>
          <a:bodyPr wrap="square" lIns="90342" tIns="45171" rIns="90342" bIns="45171" rtlCol="0">
            <a:spAutoFit/>
          </a:bodyPr>
          <a:lstStyle/>
          <a:p>
            <a:pPr algn="r" defTabSz="504200"/>
            <a:r>
              <a:rPr lang="en-IN" sz="1764" dirty="0" err="1">
                <a:solidFill>
                  <a:srgbClr val="92D400"/>
                </a:solidFill>
                <a:latin typeface="Verdana" panose="020B0604030504040204" pitchFamily="34" charset="0"/>
                <a:ea typeface="Verdana" panose="020B0604030504040204" pitchFamily="34" charset="0"/>
                <a:cs typeface="Verdana" panose="020B0604030504040204" pitchFamily="34" charset="0"/>
              </a:rPr>
              <a:t>Dr.</a:t>
            </a:r>
            <a:r>
              <a:rPr lang="en-IN" sz="1764" dirty="0">
                <a:solidFill>
                  <a:srgbClr val="92D400"/>
                </a:solidFill>
                <a:latin typeface="Verdana" panose="020B0604030504040204" pitchFamily="34" charset="0"/>
                <a:ea typeface="Verdana" panose="020B0604030504040204" pitchFamily="34" charset="0"/>
                <a:cs typeface="Verdana" panose="020B0604030504040204" pitchFamily="34" charset="0"/>
              </a:rPr>
              <a:t> </a:t>
            </a:r>
            <a:r>
              <a:rPr lang="en-IN" sz="1764" dirty="0" err="1">
                <a:solidFill>
                  <a:srgbClr val="92D400"/>
                </a:solidFill>
                <a:latin typeface="Verdana" panose="020B0604030504040204" pitchFamily="34" charset="0"/>
                <a:ea typeface="Verdana" panose="020B0604030504040204" pitchFamily="34" charset="0"/>
                <a:cs typeface="Verdana" panose="020B0604030504040204" pitchFamily="34" charset="0"/>
              </a:rPr>
              <a:t>Inderjeet</a:t>
            </a:r>
            <a:r>
              <a:rPr lang="en-IN" sz="1764" dirty="0">
                <a:solidFill>
                  <a:srgbClr val="92D400"/>
                </a:solidFill>
                <a:latin typeface="Verdana" panose="020B0604030504040204" pitchFamily="34" charset="0"/>
                <a:ea typeface="Verdana" panose="020B0604030504040204" pitchFamily="34" charset="0"/>
                <a:cs typeface="Verdana" panose="020B0604030504040204" pitchFamily="34" charset="0"/>
              </a:rPr>
              <a:t> Singh</a:t>
            </a:r>
          </a:p>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Director</a:t>
            </a:r>
          </a:p>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18 years of experience</a:t>
            </a:r>
          </a:p>
        </p:txBody>
      </p:sp>
      <p:sp>
        <p:nvSpPr>
          <p:cNvPr id="14" name="Rectangle 13"/>
          <p:cNvSpPr/>
          <p:nvPr/>
        </p:nvSpPr>
        <p:spPr>
          <a:xfrm>
            <a:off x="539663" y="4100774"/>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algn="r" defTabSz="504200"/>
            <a:r>
              <a:rPr lang="en-GB" sz="1764" dirty="0">
                <a:solidFill>
                  <a:srgbClr val="FFFFFF"/>
                </a:solidFill>
                <a:latin typeface="Verdana" panose="020B0604030504040204" pitchFamily="34" charset="0"/>
                <a:ea typeface="Verdana" panose="020B0604030504040204" pitchFamily="34" charset="0"/>
                <a:cs typeface="Verdana" panose="020B0604030504040204" pitchFamily="34" charset="0"/>
              </a:rPr>
              <a:t>Expert 4 (RE &amp; Climate Change) </a:t>
            </a:r>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 </a:t>
            </a:r>
          </a:p>
        </p:txBody>
      </p:sp>
      <p:sp>
        <p:nvSpPr>
          <p:cNvPr id="15" name="TextBox 14"/>
          <p:cNvSpPr txBox="1"/>
          <p:nvPr/>
        </p:nvSpPr>
        <p:spPr>
          <a:xfrm>
            <a:off x="508005" y="5707379"/>
            <a:ext cx="7012606" cy="1584454"/>
          </a:xfrm>
          <a:prstGeom prst="rect">
            <a:avLst/>
          </a:prstGeom>
          <a:noFill/>
        </p:spPr>
        <p:txBody>
          <a:bodyPr wrap="square" lIns="90342" tIns="45171" rIns="90342" bIns="45171" rtlCol="0">
            <a:spAutoFit/>
          </a:bodyPr>
          <a:lstStyle/>
          <a:p>
            <a:pPr defTabSz="504200"/>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Dr.</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Inderjeet</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is a Director with Deloitte based in Delhi. Post completing his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Ph.D</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in Energy Efficiency from IIT Delhi, he undertook his Post Doctoral Research in Climate Change from Germany. He has over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18 years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of experience and specializes in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policy and regulatory work around market mechanisms, climate change modelling, capacity building, energy simulations, energy efficiency, sustainable development</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He leads the Sustainability advisory team in Deloitte. He has extensively worked with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bilateral and multilaterals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including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World Bank, GIZ, ADB, </a:t>
            </a:r>
            <a:r>
              <a:rPr lang="en-IN" sz="1213" b="1" dirty="0" err="1">
                <a:solidFill>
                  <a:prstClr val="black"/>
                </a:solidFill>
                <a:latin typeface="Verdana" panose="020B0604030504040204" pitchFamily="34" charset="0"/>
                <a:ea typeface="Verdana" panose="020B0604030504040204" pitchFamily="34" charset="0"/>
                <a:cs typeface="Verdana" panose="020B0604030504040204" pitchFamily="34" charset="0"/>
              </a:rPr>
              <a:t>KfW</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 IGES,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etc.</a:t>
            </a:r>
            <a:endParaRPr lang="en-IN" sz="882"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pic>
        <p:nvPicPr>
          <p:cNvPr id="17" name="Picture 16"/>
          <p:cNvPicPr/>
          <p:nvPr/>
        </p:nvPicPr>
        <p:blipFill>
          <a:blip r:embed="rId4" cstate="email">
            <a:extLst>
              <a:ext uri="{28A0092B-C50C-407E-A947-70E740481C1C}">
                <a14:useLocalDpi xmlns:a14="http://schemas.microsoft.com/office/drawing/2010/main"/>
              </a:ext>
            </a:extLst>
          </a:blip>
          <a:srcRect/>
          <a:stretch>
            <a:fillRect/>
          </a:stretch>
        </p:blipFill>
        <p:spPr bwMode="auto">
          <a:xfrm>
            <a:off x="6073572" y="4131725"/>
            <a:ext cx="1362714" cy="1621811"/>
          </a:xfrm>
          <a:prstGeom prst="rect">
            <a:avLst/>
          </a:prstGeom>
          <a:noFill/>
        </p:spPr>
      </p:pic>
    </p:spTree>
    <p:extLst>
      <p:ext uri="{BB962C8B-B14F-4D97-AF65-F5344CB8AC3E}">
        <p14:creationId xmlns:p14="http://schemas.microsoft.com/office/powerpoint/2010/main" val="1125740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39663" y="280213"/>
            <a:ext cx="2535801" cy="3494010"/>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Assisted the West Bengal State Electricity Distribution Company Ltd (WBSEDCL) on demand projection through econometric modelling and tariff incentivisation for industrial consumers for each consumer category</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Assisted DFID and Power Department Govt. of West Bengal in Preparation of West Bengal Renewable Energy Policy and Implementation Framework</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Conducted study for optimally restructuring the power utilities of State Government in West Bengal</a:t>
            </a:r>
          </a:p>
        </p:txBody>
      </p:sp>
      <p:sp>
        <p:nvSpPr>
          <p:cNvPr id="7" name="TextBox 6"/>
          <p:cNvSpPr txBox="1"/>
          <p:nvPr/>
        </p:nvSpPr>
        <p:spPr>
          <a:xfrm>
            <a:off x="4756097" y="833915"/>
            <a:ext cx="4277300" cy="905678"/>
          </a:xfrm>
          <a:prstGeom prst="rect">
            <a:avLst/>
          </a:prstGeom>
          <a:noFill/>
        </p:spPr>
        <p:txBody>
          <a:bodyPr wrap="square" lIns="90342" tIns="45171" rIns="90342" bIns="45171" rtlCol="0">
            <a:spAutoFit/>
          </a:bodyPr>
          <a:lstStyle/>
          <a:p>
            <a:pPr defTabSz="504200"/>
            <a:r>
              <a:rPr lang="en-US" sz="1764" dirty="0" err="1">
                <a:solidFill>
                  <a:srgbClr val="92D400"/>
                </a:solidFill>
                <a:latin typeface="Verdana" panose="020B0604030504040204" pitchFamily="34" charset="0"/>
                <a:ea typeface="Verdana" panose="020B0604030504040204" pitchFamily="34" charset="0"/>
                <a:cs typeface="Verdana" panose="020B0604030504040204" pitchFamily="34" charset="0"/>
              </a:rPr>
              <a:t>Sayantan</a:t>
            </a:r>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 Banerjee</a:t>
            </a: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Director, Deloitte India</a:t>
            </a: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19 years of experience</a:t>
            </a:r>
          </a:p>
        </p:txBody>
      </p:sp>
      <p:sp>
        <p:nvSpPr>
          <p:cNvPr id="8" name="Rectangle 7"/>
          <p:cNvSpPr/>
          <p:nvPr/>
        </p:nvSpPr>
        <p:spPr>
          <a:xfrm>
            <a:off x="4756097" y="280210"/>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defTabSz="504200"/>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Local </a:t>
            </a:r>
            <a:r>
              <a:rPr lang="en-US" sz="1764" dirty="0" err="1">
                <a:solidFill>
                  <a:srgbClr val="FFFFFF"/>
                </a:solidFill>
                <a:latin typeface="Verdana" panose="020B0604030504040204" pitchFamily="34" charset="0"/>
                <a:ea typeface="Verdana" panose="020B0604030504040204" pitchFamily="34" charset="0"/>
                <a:cs typeface="Verdana" panose="020B0604030504040204" pitchFamily="34" charset="0"/>
              </a:rPr>
              <a:t>co-ordinator</a:t>
            </a:r>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 cum liaison expert</a:t>
            </a:r>
          </a:p>
        </p:txBody>
      </p:sp>
      <p:sp>
        <p:nvSpPr>
          <p:cNvPr id="9" name="TextBox 8"/>
          <p:cNvSpPr txBox="1"/>
          <p:nvPr/>
        </p:nvSpPr>
        <p:spPr>
          <a:xfrm>
            <a:off x="3103869" y="1976155"/>
            <a:ext cx="7012606" cy="1584454"/>
          </a:xfrm>
          <a:prstGeom prst="rect">
            <a:avLst/>
          </a:prstGeom>
          <a:noFill/>
        </p:spPr>
        <p:txBody>
          <a:bodyPr wrap="square" lIns="90342" tIns="45171" rIns="90342" bIns="45171" rtlCol="0">
            <a:spAutoFit/>
          </a:bodyPr>
          <a:lstStyle/>
          <a:p>
            <a:pPr defTabSz="504200"/>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Sayantan</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is a Director in the Energy and Resources practice of Deloitte India and has over 19 years of experience in the sector. He brings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extensive experience of working in the Eastern and North-Eastern part of India</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as well as neighbouring countries like Bangladesh, Bhutan, Nepal, etc. With his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effective project management capabilities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Sayantan</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has successfully delivered on a number of large energy projects in varied areas including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reforms, policy review and drafting, market development, renewable energy, institutional strengthening, financial modelling</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etc.</a:t>
            </a:r>
            <a:endParaRPr lang="en-IN" sz="882"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Rectangle 2"/>
          <p:cNvSpPr>
            <a:spLocks noChangeArrowheads="1"/>
          </p:cNvSpPr>
          <p:nvPr/>
        </p:nvSpPr>
        <p:spPr bwMode="auto">
          <a:xfrm>
            <a:off x="7580675" y="3967895"/>
            <a:ext cx="2535801" cy="3457664"/>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Interpreting and representing state and federal regulations in the PATHWAYS mode for evaluating exiting GHG reduction policies for Maryland Department of Environment</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Developing LEAP model to create scenarios of energy end-use demands over time and the RESOLVE model to develop optimal electricity capacity portfolios</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Managed the team exploring the feasibility, cost etc. of achieving 100% renewable energy in New York</a:t>
            </a:r>
          </a:p>
        </p:txBody>
      </p:sp>
      <p:sp>
        <p:nvSpPr>
          <p:cNvPr id="14" name="Rectangle 13"/>
          <p:cNvSpPr/>
          <p:nvPr/>
        </p:nvSpPr>
        <p:spPr>
          <a:xfrm>
            <a:off x="539663" y="3974307"/>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algn="r" defTabSz="504200"/>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Technical Expert</a:t>
            </a:r>
          </a:p>
        </p:txBody>
      </p:sp>
      <p:sp>
        <p:nvSpPr>
          <p:cNvPr id="17" name="TextBox 16"/>
          <p:cNvSpPr txBox="1"/>
          <p:nvPr/>
        </p:nvSpPr>
        <p:spPr>
          <a:xfrm>
            <a:off x="1622741" y="4548643"/>
            <a:ext cx="4277300" cy="905678"/>
          </a:xfrm>
          <a:prstGeom prst="rect">
            <a:avLst/>
          </a:prstGeom>
          <a:noFill/>
        </p:spPr>
        <p:txBody>
          <a:bodyPr wrap="square" lIns="90342" tIns="45171" rIns="90342" bIns="45171" rtlCol="0">
            <a:spAutoFit/>
          </a:bodyPr>
          <a:lstStyle/>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Tory Clark</a:t>
            </a:r>
          </a:p>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Managing Consultant, E3 U.S.A.</a:t>
            </a:r>
          </a:p>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10 years of experience</a:t>
            </a:r>
          </a:p>
        </p:txBody>
      </p:sp>
      <p:sp>
        <p:nvSpPr>
          <p:cNvPr id="20" name="Rectangle 19"/>
          <p:cNvSpPr/>
          <p:nvPr/>
        </p:nvSpPr>
        <p:spPr>
          <a:xfrm>
            <a:off x="427622" y="5541071"/>
            <a:ext cx="7041010" cy="1958870"/>
          </a:xfrm>
          <a:prstGeom prst="rect">
            <a:avLst/>
          </a:prstGeom>
        </p:spPr>
        <p:txBody>
          <a:bodyPr wrap="square">
            <a:spAutoFit/>
          </a:bodyPr>
          <a:lstStyle/>
          <a:p>
            <a:pPr defTabSz="504200"/>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Tory Clark is a Managing Consultant with Energy</a:t>
            </a:r>
            <a:r>
              <a:rPr lang="fr-FR" sz="1213" dirty="0">
                <a:solidFill>
                  <a:prstClr val="black"/>
                </a:solidFill>
                <a:latin typeface="Verdana" panose="020B0604030504040204" pitchFamily="34" charset="0"/>
                <a:ea typeface="Verdana" panose="020B0604030504040204" pitchFamily="34" charset="0"/>
                <a:cs typeface="Verdana" panose="020B0604030504040204" pitchFamily="34" charset="0"/>
              </a:rPr>
              <a:t> and </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Environmental Economics with over 10 years of working experience. She joined E3 in 2015 and is a project manager focusing on U.S. state-level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climate policy, energy infrastructure planning, and low carbon technologies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She is working on long-term deep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decarbonization</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of US States with an emphasis on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accessible and policy-relevant modelling</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She has extensive experience in building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scenario-based models of energy and climate policies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for countries and US States. Several of her projects have focused on helping states chart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policy pathways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to reach their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long-term greenhouse gas reduction goals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She is currently leading projects in New York (NYSERDA) and Maryland (MDE) to evaluate options for reaching renewable energy and climate goals by 2030.</a:t>
            </a:r>
            <a:endParaRPr lang="en-IN" sz="882"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p:cNvPicPr/>
          <p:nvPr/>
        </p:nvPicPr>
        <p:blipFill>
          <a:blip r:embed="rId2"/>
          <a:stretch>
            <a:fillRect/>
          </a:stretch>
        </p:blipFill>
        <p:spPr>
          <a:xfrm>
            <a:off x="3185055" y="276820"/>
            <a:ext cx="1461451" cy="1503081"/>
          </a:xfrm>
          <a:prstGeom prst="rect">
            <a:avLst/>
          </a:prstGeom>
        </p:spPr>
      </p:pic>
      <p:pic>
        <p:nvPicPr>
          <p:cNvPr id="15" name="Picture 14" descr="https://www.ethree.com/wp-content/uploads/2017/10/Clark-5D3_8660.jpg"/>
          <p:cNvPicPr/>
          <p:nvPr/>
        </p:nvPicPr>
        <p:blipFill rotWithShape="1">
          <a:blip r:embed="rId3">
            <a:extLst>
              <a:ext uri="{28A0092B-C50C-407E-A947-70E740481C1C}">
                <a14:useLocalDpi xmlns:a14="http://schemas.microsoft.com/office/drawing/2010/main" val="0"/>
              </a:ext>
            </a:extLst>
          </a:blip>
          <a:srcRect l="21910" r="11552" b="21577"/>
          <a:stretch/>
        </p:blipFill>
        <p:spPr bwMode="auto">
          <a:xfrm>
            <a:off x="5984473" y="3978827"/>
            <a:ext cx="1511769" cy="156224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92124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671713" y="323426"/>
            <a:ext cx="2535801" cy="3560646"/>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endPar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endParaRPr>
          </a:p>
          <a:p>
            <a:pPr marL="189075" indent="-189075" defTabSz="504200">
              <a:buFont typeface="Arial" panose="020B0604020202020204"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Co-led project on strategies for improving renewable energy forecasting, scheduling, and balancing in India</a:t>
            </a:r>
            <a:endParaRPr lang="en-GB" sz="1103" dirty="0">
              <a:solidFill>
                <a:srgbClr val="FFFFFF"/>
              </a:solidFill>
              <a:latin typeface="Verdana" panose="020B0604030504040204" pitchFamily="34" charset="0"/>
              <a:ea typeface="Verdana" panose="020B0604030504040204" pitchFamily="34" charset="0"/>
              <a:cs typeface="Verdana" panose="020B0604030504040204" pitchFamily="34" charset="0"/>
            </a:endParaRPr>
          </a:p>
          <a:p>
            <a:pPr marL="189075" indent="-189075" defTabSz="504200">
              <a:buFont typeface="Arial" panose="020B0604020202020204"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Led study on the future of electricity resource planning in the U.S., as part of Department of Energy-funded Future Electric Utility Regulation Series</a:t>
            </a:r>
          </a:p>
          <a:p>
            <a:pPr marL="189075" indent="-189075" defTabSz="504200">
              <a:buFont typeface="Arial" panose="020B0604020202020204"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Advised SERC research team on modelling strategies for electricity sector GHG policies, wind integration policy, and electricity rate design, funded by RAP</a:t>
            </a:r>
          </a:p>
        </p:txBody>
      </p:sp>
      <p:sp>
        <p:nvSpPr>
          <p:cNvPr id="5" name="Rectangle 4"/>
          <p:cNvSpPr/>
          <p:nvPr/>
        </p:nvSpPr>
        <p:spPr>
          <a:xfrm>
            <a:off x="4756097" y="323427"/>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defTabSz="504200"/>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Back Stopper - Technical Expert &amp; Policy </a:t>
            </a:r>
          </a:p>
        </p:txBody>
      </p:sp>
      <p:pic>
        <p:nvPicPr>
          <p:cNvPr id="7" name="Picture 6"/>
          <p:cNvPicPr/>
          <p:nvPr/>
        </p:nvPicPr>
        <p:blipFill>
          <a:blip r:embed="rId2" cstate="print">
            <a:extLst>
              <a:ext uri="{28A0092B-C50C-407E-A947-70E740481C1C}">
                <a14:useLocalDpi xmlns:a14="http://schemas.microsoft.com/office/drawing/2010/main" val="0"/>
              </a:ext>
            </a:extLst>
          </a:blip>
          <a:srcRect t="5894" b="14799"/>
          <a:stretch>
            <a:fillRect/>
          </a:stretch>
        </p:blipFill>
        <p:spPr bwMode="auto">
          <a:xfrm>
            <a:off x="6092113" y="4085750"/>
            <a:ext cx="1428538" cy="1721449"/>
          </a:xfrm>
          <a:prstGeom prst="rect">
            <a:avLst/>
          </a:prstGeom>
          <a:noFill/>
          <a:ln>
            <a:noFill/>
          </a:ln>
        </p:spPr>
      </p:pic>
      <p:sp>
        <p:nvSpPr>
          <p:cNvPr id="9" name="Rectangle 2"/>
          <p:cNvSpPr>
            <a:spLocks noChangeArrowheads="1"/>
          </p:cNvSpPr>
          <p:nvPr/>
        </p:nvSpPr>
        <p:spPr bwMode="auto">
          <a:xfrm>
            <a:off x="7580675" y="4085750"/>
            <a:ext cx="2535801" cy="3254369"/>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p>
          <a:p>
            <a:pPr marL="189075" indent="-189075" defTabSz="504200">
              <a:buFont typeface="Arial" panose="020B0604020202020204"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Preparation of Roadmap for developing 24*7 Power for All in Himachal Pradesh</a:t>
            </a:r>
          </a:p>
          <a:p>
            <a:pPr marL="189075" indent="-189075" defTabSz="504200">
              <a:buFont typeface="Arial" panose="020B0604020202020204"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Study on Impact of Transmission &amp; Distribution projects on Electricity Access for World Bank </a:t>
            </a:r>
          </a:p>
          <a:p>
            <a:pPr marL="189075" indent="-189075" defTabSz="504200">
              <a:buFont typeface="Arial" panose="020B0604020202020204"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Technical and Financial Feasibility Study for setting up manufacturing of 1000 MW Ingot Growing and </a:t>
            </a:r>
            <a:r>
              <a:rPr lang="en-US" sz="1103" dirty="0" err="1">
                <a:solidFill>
                  <a:srgbClr val="FFFFFF"/>
                </a:solidFill>
                <a:latin typeface="Verdana" panose="020B0604030504040204" pitchFamily="34" charset="0"/>
                <a:ea typeface="Verdana" panose="020B0604030504040204" pitchFamily="34" charset="0"/>
                <a:cs typeface="Verdana" panose="020B0604030504040204" pitchFamily="34" charset="0"/>
              </a:rPr>
              <a:t>Wafering</a:t>
            </a: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 facility to Central Electronics Limited</a:t>
            </a:r>
          </a:p>
          <a:p>
            <a:pPr marL="189075" indent="-189075" defTabSz="504200">
              <a:buFont typeface="Arial" panose="020B0604020202020204"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Review of Lessons Learnt from DFID India support for Power Sector Reforms over 20 years</a:t>
            </a:r>
            <a:endParaRPr lang="en-GB" sz="1103"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TextBox 9"/>
          <p:cNvSpPr txBox="1"/>
          <p:nvPr/>
        </p:nvSpPr>
        <p:spPr>
          <a:xfrm>
            <a:off x="1784802" y="4642436"/>
            <a:ext cx="4277300" cy="905678"/>
          </a:xfrm>
          <a:prstGeom prst="rect">
            <a:avLst/>
          </a:prstGeom>
          <a:noFill/>
        </p:spPr>
        <p:txBody>
          <a:bodyPr wrap="square" lIns="90342" tIns="45171" rIns="90342" bIns="45171" rtlCol="0">
            <a:spAutoFit/>
          </a:bodyPr>
          <a:lstStyle/>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Amit </a:t>
            </a:r>
            <a:r>
              <a:rPr lang="en-US" sz="1764" dirty="0" err="1">
                <a:solidFill>
                  <a:srgbClr val="92D400"/>
                </a:solidFill>
                <a:latin typeface="Verdana" panose="020B0604030504040204" pitchFamily="34" charset="0"/>
                <a:ea typeface="Verdana" panose="020B0604030504040204" pitchFamily="34" charset="0"/>
                <a:cs typeface="Verdana" panose="020B0604030504040204" pitchFamily="34" charset="0"/>
              </a:rPr>
              <a:t>Goenka</a:t>
            </a:r>
            <a:endPar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endParaRPr>
          </a:p>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Sr. Manager, Deloitte India</a:t>
            </a:r>
          </a:p>
          <a:p>
            <a:pPr algn="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13 years of Experience </a:t>
            </a:r>
          </a:p>
        </p:txBody>
      </p:sp>
      <p:sp>
        <p:nvSpPr>
          <p:cNvPr id="11" name="Rectangle 10"/>
          <p:cNvSpPr/>
          <p:nvPr/>
        </p:nvSpPr>
        <p:spPr>
          <a:xfrm>
            <a:off x="701724" y="4116818"/>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algn="r" defTabSz="504200"/>
            <a:r>
              <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rPr>
              <a:t>Technical Expert </a:t>
            </a:r>
          </a:p>
        </p:txBody>
      </p:sp>
      <p:pic>
        <p:nvPicPr>
          <p:cNvPr id="12" name="Picture 11" descr="C:\Users\rishisingh\AppData\Local\Microsoft\Windows\INetCache\Content.Word\people-kahrl.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9440" y="323428"/>
            <a:ext cx="1476657" cy="1434032"/>
          </a:xfrm>
          <a:prstGeom prst="rect">
            <a:avLst/>
          </a:prstGeom>
          <a:noFill/>
          <a:ln>
            <a:noFill/>
          </a:ln>
        </p:spPr>
      </p:pic>
      <p:sp>
        <p:nvSpPr>
          <p:cNvPr id="13" name="TextBox 12"/>
          <p:cNvSpPr txBox="1"/>
          <p:nvPr/>
        </p:nvSpPr>
        <p:spPr>
          <a:xfrm>
            <a:off x="4828023" y="867012"/>
            <a:ext cx="5131572" cy="905678"/>
          </a:xfrm>
          <a:prstGeom prst="rect">
            <a:avLst/>
          </a:prstGeom>
          <a:noFill/>
        </p:spPr>
        <p:txBody>
          <a:bodyPr wrap="square" lIns="90342" tIns="45171" rIns="90342" bIns="45171" rtlCol="0">
            <a:spAutoFit/>
          </a:bodyPr>
          <a:lstStyle/>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Dr. </a:t>
            </a:r>
            <a:r>
              <a:rPr lang="en-US" sz="1764" dirty="0" err="1">
                <a:solidFill>
                  <a:srgbClr val="92D400"/>
                </a:solidFill>
                <a:latin typeface="Verdana" panose="020B0604030504040204" pitchFamily="34" charset="0"/>
                <a:ea typeface="Verdana" panose="020B0604030504040204" pitchFamily="34" charset="0"/>
                <a:cs typeface="Verdana" panose="020B0604030504040204" pitchFamily="34" charset="0"/>
              </a:rPr>
              <a:t>Fredrich</a:t>
            </a:r>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 </a:t>
            </a:r>
            <a:r>
              <a:rPr lang="en-US" sz="1764" dirty="0" err="1">
                <a:solidFill>
                  <a:srgbClr val="92D400"/>
                </a:solidFill>
                <a:latin typeface="Verdana" panose="020B0604030504040204" pitchFamily="34" charset="0"/>
                <a:ea typeface="Verdana" panose="020B0604030504040204" pitchFamily="34" charset="0"/>
                <a:cs typeface="Verdana" panose="020B0604030504040204" pitchFamily="34" charset="0"/>
              </a:rPr>
              <a:t>Kahrl</a:t>
            </a:r>
            <a:endPar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endParaRP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Energy and Environmental Economics, Inc.</a:t>
            </a: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10 years of experience</a:t>
            </a:r>
          </a:p>
        </p:txBody>
      </p:sp>
      <p:sp>
        <p:nvSpPr>
          <p:cNvPr id="14" name="TextBox 13"/>
          <p:cNvSpPr txBox="1"/>
          <p:nvPr/>
        </p:nvSpPr>
        <p:spPr>
          <a:xfrm>
            <a:off x="922961" y="5841295"/>
            <a:ext cx="6597690" cy="1585562"/>
          </a:xfrm>
          <a:prstGeom prst="rect">
            <a:avLst/>
          </a:prstGeom>
          <a:noFill/>
        </p:spPr>
        <p:txBody>
          <a:bodyPr wrap="square" rtlCol="0">
            <a:spAutoFit/>
          </a:bodyPr>
          <a:lstStyle/>
          <a:p>
            <a:pPr defTabSz="504200"/>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Amit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Goenka</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 Senior Manager at Deloitte has over 13 years of professional experience. He has worked with the several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power sector utilities and regulatory commissions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in the country and has a rich experience across various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policy and regulatory assignments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He has also worked across number of other areas within power sector including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bid process management, financial feasibility study, renewable energy and reforms</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Amit has also worked on impact assessment of electricity access and led several projects in business planning and tariff design for power sector utilities in the country. </a:t>
            </a:r>
          </a:p>
        </p:txBody>
      </p:sp>
      <p:sp>
        <p:nvSpPr>
          <p:cNvPr id="15" name="TextBox 14"/>
          <p:cNvSpPr txBox="1"/>
          <p:nvPr/>
        </p:nvSpPr>
        <p:spPr>
          <a:xfrm>
            <a:off x="3279440" y="1894643"/>
            <a:ext cx="6597690" cy="1398909"/>
          </a:xfrm>
          <a:prstGeom prst="rect">
            <a:avLst/>
          </a:prstGeom>
          <a:noFill/>
        </p:spPr>
        <p:txBody>
          <a:bodyPr wrap="square" rtlCol="0">
            <a:spAutoFit/>
          </a:bodyPr>
          <a:lstStyle/>
          <a:p>
            <a:pPr defTabSz="504200"/>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Dr.</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a:t>
            </a:r>
            <a:r>
              <a:rPr lang="en-IN"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Kahrl</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leads E3’s research and international work. He has more than 10 years of experience in the energy sector, providing </a:t>
            </a:r>
            <a:r>
              <a:rPr lang="en-IN" sz="1213" b="1" dirty="0">
                <a:solidFill>
                  <a:prstClr val="black"/>
                </a:solidFill>
                <a:latin typeface="Verdana" panose="020B0604030504040204" pitchFamily="34" charset="0"/>
                <a:ea typeface="Verdana" panose="020B0604030504040204" pitchFamily="34" charset="0"/>
                <a:cs typeface="Verdana" panose="020B0604030504040204" pitchFamily="34" charset="0"/>
              </a:rPr>
              <a:t>strategy and analytical support</a:t>
            </a:r>
            <a:r>
              <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rPr>
              <a:t> to government agencies, energy regulators, research organizations, foundations, system operators, utilities, and energy producers.</a:t>
            </a:r>
          </a:p>
          <a:p>
            <a:pPr defTabSz="504200"/>
            <a:r>
              <a:rPr lang="en-US" sz="1213" dirty="0">
                <a:solidFill>
                  <a:prstClr val="black"/>
                </a:solidFill>
                <a:latin typeface="Verdana" panose="020B0604030504040204" pitchFamily="34" charset="0"/>
                <a:ea typeface="Verdana" panose="020B0604030504040204" pitchFamily="34" charset="0"/>
                <a:cs typeface="Verdana" panose="020B0604030504040204" pitchFamily="34" charset="0"/>
              </a:rPr>
              <a:t>Dr. </a:t>
            </a:r>
            <a:r>
              <a:rPr lang="en-US" sz="1213" dirty="0" err="1">
                <a:solidFill>
                  <a:prstClr val="black"/>
                </a:solidFill>
                <a:latin typeface="Verdana" panose="020B0604030504040204" pitchFamily="34" charset="0"/>
                <a:ea typeface="Verdana" panose="020B0604030504040204" pitchFamily="34" charset="0"/>
                <a:cs typeface="Verdana" panose="020B0604030504040204" pitchFamily="34" charset="0"/>
              </a:rPr>
              <a:t>Kahrl</a:t>
            </a:r>
            <a:r>
              <a:rPr lang="en-US" sz="1213" dirty="0">
                <a:solidFill>
                  <a:prstClr val="black"/>
                </a:solidFill>
                <a:latin typeface="Verdana" panose="020B0604030504040204" pitchFamily="34" charset="0"/>
                <a:ea typeface="Verdana" panose="020B0604030504040204" pitchFamily="34" charset="0"/>
                <a:cs typeface="Verdana" panose="020B0604030504040204" pitchFamily="34" charset="0"/>
              </a:rPr>
              <a:t> has worked extensively with different levels of governmental agencies in U.S.A. and China on</a:t>
            </a:r>
            <a:r>
              <a:rPr lang="en-IN" sz="1213" b="1" dirty="0">
                <a:solidFill>
                  <a:prstClr val="black"/>
                </a:solidFill>
                <a:latin typeface="Verdana" panose="020B0604030504040204" pitchFamily="34" charset="0"/>
              </a:rPr>
              <a:t> Renewable Energy Integration, Resource Planning, Energy Modelling, GHG Accounting.</a:t>
            </a:r>
            <a:endParaRPr lang="en-IN" sz="1213"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31906727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39663" y="280213"/>
            <a:ext cx="2535801" cy="3653916"/>
          </a:xfrm>
          <a:prstGeom prst="rect">
            <a:avLst/>
          </a:prstGeom>
          <a:solidFill>
            <a:schemeClr val="bg1">
              <a:lumMod val="65000"/>
            </a:schemeClr>
          </a:solidFill>
          <a:ln w="9525" algn="ctr">
            <a:noFill/>
            <a:miter lim="800000"/>
            <a:headEnd/>
            <a:tailEnd/>
          </a:ln>
          <a:effectLst/>
        </p:spPr>
        <p:txBody>
          <a:bodyPr wrap="square" lIns="180686" tIns="180686" rIns="180686" bIns="180686" anchor="t"/>
          <a:lstStyle/>
          <a:p>
            <a:pPr algn="ctr" defTabSz="504200"/>
            <a:r>
              <a:rPr lang="en-GB" sz="1103" b="1" i="1" dirty="0">
                <a:solidFill>
                  <a:srgbClr val="FFFFFF"/>
                </a:solidFill>
                <a:latin typeface="Verdana" panose="020B0604030504040204" pitchFamily="34" charset="0"/>
                <a:ea typeface="Verdana" panose="020B0604030504040204" pitchFamily="34" charset="0"/>
                <a:cs typeface="Verdana" panose="020B0604030504040204" pitchFamily="34" charset="0"/>
              </a:rPr>
              <a:t>Key Projects:</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Assisting the West Bengal State Electricity Distribution Company Ltd (WBSEDCL) on </a:t>
            </a:r>
            <a:r>
              <a:rPr lang="en-US" sz="1103" dirty="0" err="1">
                <a:solidFill>
                  <a:srgbClr val="FFFFFF"/>
                </a:solidFill>
                <a:latin typeface="Verdana" panose="020B0604030504040204" pitchFamily="34" charset="0"/>
                <a:ea typeface="Verdana" panose="020B0604030504040204" pitchFamily="34" charset="0"/>
                <a:cs typeface="Verdana" panose="020B0604030504040204" pitchFamily="34" charset="0"/>
              </a:rPr>
              <a:t>retainership</a:t>
            </a: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 basis for past 3 years in filing of MYT Petition, FPPCA Petitions and APR Petitions</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Support to USAID and Government of Nepal in hydropower development and power sector reform in Nepal</a:t>
            </a:r>
          </a:p>
          <a:p>
            <a:pPr marL="120946" indent="-120946" defTabSz="504200">
              <a:spcAft>
                <a:spcPts val="331"/>
              </a:spcAft>
              <a:buFont typeface="Arial" pitchFamily="34" charset="0"/>
              <a:buChar char="•"/>
            </a:pPr>
            <a:r>
              <a:rPr lang="en-US" sz="1103" dirty="0">
                <a:solidFill>
                  <a:srgbClr val="FFFFFF"/>
                </a:solidFill>
                <a:latin typeface="Verdana" panose="020B0604030504040204" pitchFamily="34" charset="0"/>
                <a:ea typeface="Verdana" panose="020B0604030504040204" pitchFamily="34" charset="0"/>
                <a:cs typeface="Verdana" panose="020B0604030504040204" pitchFamily="34" charset="0"/>
              </a:rPr>
              <a:t>Support to Asian Development Bank for development of institutional strategy for setting up cross border power trading entities in Bangladesh and Nepal</a:t>
            </a:r>
          </a:p>
        </p:txBody>
      </p:sp>
      <p:sp>
        <p:nvSpPr>
          <p:cNvPr id="7" name="TextBox 6"/>
          <p:cNvSpPr txBox="1"/>
          <p:nvPr/>
        </p:nvSpPr>
        <p:spPr>
          <a:xfrm>
            <a:off x="4756097" y="833915"/>
            <a:ext cx="4277300" cy="905678"/>
          </a:xfrm>
          <a:prstGeom prst="rect">
            <a:avLst/>
          </a:prstGeom>
          <a:noFill/>
        </p:spPr>
        <p:txBody>
          <a:bodyPr wrap="square" lIns="90342" tIns="45171" rIns="90342" bIns="45171" rtlCol="0">
            <a:spAutoFit/>
          </a:bodyPr>
          <a:lstStyle/>
          <a:p>
            <a:pPr defTabSz="504200"/>
            <a:r>
              <a:rPr lang="en-US" sz="1764" dirty="0" err="1">
                <a:solidFill>
                  <a:srgbClr val="92D400"/>
                </a:solidFill>
                <a:latin typeface="Verdana" panose="020B0604030504040204" pitchFamily="34" charset="0"/>
                <a:ea typeface="Verdana" panose="020B0604030504040204" pitchFamily="34" charset="0"/>
                <a:cs typeface="Verdana" panose="020B0604030504040204" pitchFamily="34" charset="0"/>
              </a:rPr>
              <a:t>Anirban</a:t>
            </a:r>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 </a:t>
            </a:r>
            <a:r>
              <a:rPr lang="en-US" sz="1764" dirty="0" err="1">
                <a:solidFill>
                  <a:srgbClr val="92D400"/>
                </a:solidFill>
                <a:latin typeface="Verdana" panose="020B0604030504040204" pitchFamily="34" charset="0"/>
                <a:ea typeface="Verdana" panose="020B0604030504040204" pitchFamily="34" charset="0"/>
                <a:cs typeface="Verdana" panose="020B0604030504040204" pitchFamily="34" charset="0"/>
              </a:rPr>
              <a:t>Bandyopadhyay</a:t>
            </a:r>
            <a:endPar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endParaRP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Sr. Consultant, Deloitte India</a:t>
            </a:r>
          </a:p>
          <a:p>
            <a:pPr defTabSz="504200"/>
            <a:r>
              <a:rPr lang="en-US" sz="1764" dirty="0">
                <a:solidFill>
                  <a:srgbClr val="92D400"/>
                </a:solidFill>
                <a:latin typeface="Verdana" panose="020B0604030504040204" pitchFamily="34" charset="0"/>
                <a:ea typeface="Verdana" panose="020B0604030504040204" pitchFamily="34" charset="0"/>
                <a:cs typeface="Verdana" panose="020B0604030504040204" pitchFamily="34" charset="0"/>
              </a:rPr>
              <a:t>10 years of experience</a:t>
            </a:r>
          </a:p>
        </p:txBody>
      </p:sp>
      <p:sp>
        <p:nvSpPr>
          <p:cNvPr id="8" name="Rectangle 7"/>
          <p:cNvSpPr/>
          <p:nvPr/>
        </p:nvSpPr>
        <p:spPr>
          <a:xfrm>
            <a:off x="4756097" y="280210"/>
            <a:ext cx="5360378" cy="489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342" tIns="45171" rIns="90342" bIns="45171" rtlCol="0" anchor="ctr"/>
          <a:lstStyle/>
          <a:p>
            <a:pPr defTabSz="504200"/>
            <a:r>
              <a:rPr lang="en-GB" sz="1985" dirty="0">
                <a:solidFill>
                  <a:prstClr val="white"/>
                </a:solidFill>
                <a:latin typeface="Calibri" panose="020F0502020204030204"/>
              </a:rPr>
              <a:t>Technical Expert</a:t>
            </a:r>
            <a:endParaRPr lang="en-US" sz="1764"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p:cNvSpPr txBox="1"/>
          <p:nvPr/>
        </p:nvSpPr>
        <p:spPr>
          <a:xfrm>
            <a:off x="3103869" y="1976155"/>
            <a:ext cx="7012606" cy="1957761"/>
          </a:xfrm>
          <a:prstGeom prst="rect">
            <a:avLst/>
          </a:prstGeom>
          <a:noFill/>
        </p:spPr>
        <p:txBody>
          <a:bodyPr wrap="square" lIns="90342" tIns="45171" rIns="90342" bIns="45171" rtlCol="0">
            <a:spAutoFit/>
          </a:bodyPr>
          <a:lstStyle/>
          <a:p>
            <a:pPr defTabSz="504200"/>
            <a:r>
              <a:rPr lang="en-IN" sz="1213" dirty="0" err="1">
                <a:solidFill>
                  <a:prstClr val="black"/>
                </a:solidFill>
                <a:latin typeface="Verdana" panose="020B0604030504040204" pitchFamily="34" charset="0"/>
              </a:rPr>
              <a:t>Anirban</a:t>
            </a:r>
            <a:r>
              <a:rPr lang="en-IN" sz="1213" dirty="0">
                <a:solidFill>
                  <a:prstClr val="black"/>
                </a:solidFill>
                <a:latin typeface="Verdana" panose="020B0604030504040204" pitchFamily="34" charset="0"/>
              </a:rPr>
              <a:t>, a Senior Consultant with Deloitte Consulting’s Energy and Resources practice has around 10 years of professional experience. He has worked on several areas in power sector with multilateral organization, regulatory bodies, public sector power utilities, industry bodies and private sector organization. His experience in the power sector spans across wide range of services including </a:t>
            </a:r>
            <a:r>
              <a:rPr lang="en-IN" sz="1213" b="1" dirty="0">
                <a:solidFill>
                  <a:prstClr val="black"/>
                </a:solidFill>
                <a:latin typeface="Verdana" panose="020B0604030504040204" pitchFamily="34" charset="0"/>
              </a:rPr>
              <a:t>regulatory filing, financial </a:t>
            </a:r>
            <a:r>
              <a:rPr lang="en-IN" sz="1213" b="1" dirty="0" err="1">
                <a:solidFill>
                  <a:prstClr val="black"/>
                </a:solidFill>
                <a:latin typeface="Verdana" panose="020B0604030504040204" pitchFamily="34" charset="0"/>
              </a:rPr>
              <a:t>modeling</a:t>
            </a:r>
            <a:r>
              <a:rPr lang="en-IN" sz="1213" b="1" dirty="0">
                <a:solidFill>
                  <a:prstClr val="black"/>
                </a:solidFill>
                <a:latin typeface="Verdana" panose="020B0604030504040204" pitchFamily="34" charset="0"/>
              </a:rPr>
              <a:t>, power sector policy review, power demand-supply forecast, business plan, capacity building and institutional strengthening</a:t>
            </a:r>
            <a:r>
              <a:rPr lang="en-IN" sz="1213" dirty="0">
                <a:solidFill>
                  <a:prstClr val="black"/>
                </a:solidFill>
                <a:latin typeface="Verdana" panose="020B0604030504040204" pitchFamily="34" charset="0"/>
              </a:rPr>
              <a:t>. He has worked on several assignments with </a:t>
            </a:r>
            <a:r>
              <a:rPr lang="en-IN" sz="1213" b="1" dirty="0">
                <a:solidFill>
                  <a:prstClr val="black"/>
                </a:solidFill>
                <a:latin typeface="Verdana" panose="020B0604030504040204" pitchFamily="34" charset="0"/>
              </a:rPr>
              <a:t>distribution and transmission utilities in</a:t>
            </a:r>
            <a:r>
              <a:rPr lang="en-IN" sz="1213" dirty="0">
                <a:solidFill>
                  <a:prstClr val="black"/>
                </a:solidFill>
                <a:latin typeface="Verdana" panose="020B0604030504040204" pitchFamily="34" charset="0"/>
              </a:rPr>
              <a:t> </a:t>
            </a:r>
            <a:r>
              <a:rPr lang="en-IN" sz="1213" b="1" dirty="0">
                <a:solidFill>
                  <a:prstClr val="black"/>
                </a:solidFill>
                <a:latin typeface="Verdana" panose="020B0604030504040204" pitchFamily="34" charset="0"/>
              </a:rPr>
              <a:t>West Bengal</a:t>
            </a:r>
            <a:r>
              <a:rPr lang="en-IN" sz="1213" dirty="0">
                <a:solidFill>
                  <a:prstClr val="black"/>
                </a:solidFill>
                <a:latin typeface="Verdana" panose="020B0604030504040204" pitchFamily="34" charset="0"/>
              </a:rPr>
              <a:t>. </a:t>
            </a:r>
            <a:r>
              <a:rPr lang="en-IN" sz="1213" dirty="0" err="1">
                <a:solidFill>
                  <a:prstClr val="black"/>
                </a:solidFill>
                <a:latin typeface="Verdana" panose="020B0604030504040204" pitchFamily="34" charset="0"/>
              </a:rPr>
              <a:t>Anirban</a:t>
            </a:r>
            <a:r>
              <a:rPr lang="en-IN" sz="1213" dirty="0">
                <a:solidFill>
                  <a:prstClr val="black"/>
                </a:solidFill>
                <a:latin typeface="Verdana" panose="020B0604030504040204" pitchFamily="34" charset="0"/>
              </a:rPr>
              <a:t> has also been involved in a multitude of projects outside India including Bhutan, Nepal, Bangladesh, Sri Lanka and Maldives.</a:t>
            </a:r>
            <a:endParaRPr lang="en-US" sz="882"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pic>
        <p:nvPicPr>
          <p:cNvPr id="16" name="Picture 15" descr="C:\Anirban\Personal\Photo anirban.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26721" y="276818"/>
            <a:ext cx="1419786" cy="1581483"/>
          </a:xfrm>
          <a:prstGeom prst="rect">
            <a:avLst/>
          </a:prstGeom>
          <a:noFill/>
          <a:ln>
            <a:noFill/>
          </a:ln>
        </p:spPr>
      </p:pic>
    </p:spTree>
    <p:extLst>
      <p:ext uri="{BB962C8B-B14F-4D97-AF65-F5344CB8AC3E}">
        <p14:creationId xmlns:p14="http://schemas.microsoft.com/office/powerpoint/2010/main" val="32343027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58119" y="1122363"/>
            <a:ext cx="7772400" cy="2387600"/>
          </a:xfrm>
          <a:prstGeom prst="rect">
            <a:avLst/>
          </a:prstGeom>
        </p:spPr>
        <p:txBody>
          <a:bodyPr anchor="b"/>
          <a:lstStyle>
            <a:lvl1pPr algn="l" defTabSz="1008400" rtl="0" eaLnBrk="1" latinLnBrk="0" hangingPunct="1">
              <a:lnSpc>
                <a:spcPct val="90000"/>
              </a:lnSpc>
              <a:spcBef>
                <a:spcPct val="0"/>
              </a:spcBef>
              <a:buNone/>
              <a:defRPr sz="4852" kern="1200">
                <a:solidFill>
                  <a:schemeClr val="tx1"/>
                </a:solidFill>
                <a:latin typeface="+mj-lt"/>
                <a:ea typeface="+mj-ea"/>
                <a:cs typeface="+mj-cs"/>
              </a:defRPr>
            </a:lvl1pPr>
          </a:lstStyle>
          <a:p>
            <a:pPr algn="ctr"/>
            <a:r>
              <a:rPr lang="en-US" sz="3000" b="1" dirty="0">
                <a:solidFill>
                  <a:schemeClr val="bg1"/>
                </a:solidFill>
              </a:rPr>
              <a:t>Use Case in LEAP</a:t>
            </a:r>
            <a:endParaRPr lang="en-IN" sz="3000" b="1" dirty="0">
              <a:solidFill>
                <a:schemeClr val="bg1"/>
              </a:solidFill>
            </a:endParaRPr>
          </a:p>
        </p:txBody>
      </p:sp>
      <p:sp>
        <p:nvSpPr>
          <p:cNvPr id="5" name="Subtitle 2"/>
          <p:cNvSpPr txBox="1">
            <a:spLocks/>
          </p:cNvSpPr>
          <p:nvPr/>
        </p:nvSpPr>
        <p:spPr>
          <a:xfrm>
            <a:off x="1915319" y="3602038"/>
            <a:ext cx="6858000" cy="1655762"/>
          </a:xfrm>
          <a:prstGeom prst="rect">
            <a:avLst/>
          </a:prstGeom>
        </p:spPr>
        <p:txBody>
          <a:bodyPr anchor="ctr"/>
          <a:lstStyle>
            <a:lvl1pPr marL="252100" indent="-252100" algn="l" defTabSz="1008400" rtl="0" eaLnBrk="1" latinLnBrk="0" hangingPunct="1">
              <a:lnSpc>
                <a:spcPct val="90000"/>
              </a:lnSpc>
              <a:spcBef>
                <a:spcPts val="1103"/>
              </a:spcBef>
              <a:buFont typeface="Arial" panose="020B0604020202020204" pitchFamily="34" charset="0"/>
              <a:buChar char="•"/>
              <a:defRPr sz="3088" kern="1200">
                <a:solidFill>
                  <a:schemeClr val="tx1"/>
                </a:solidFill>
                <a:latin typeface="+mn-lt"/>
                <a:ea typeface="+mn-ea"/>
                <a:cs typeface="+mn-cs"/>
              </a:defRPr>
            </a:lvl1pPr>
            <a:lvl2pPr marL="756300" indent="-252100" algn="l" defTabSz="1008400" rtl="0" eaLnBrk="1" latinLnBrk="0" hangingPunct="1">
              <a:lnSpc>
                <a:spcPct val="90000"/>
              </a:lnSpc>
              <a:spcBef>
                <a:spcPts val="551"/>
              </a:spcBef>
              <a:buFont typeface="Arial" panose="020B0604020202020204" pitchFamily="34" charset="0"/>
              <a:buChar char="•"/>
              <a:defRPr sz="2647" kern="1200">
                <a:solidFill>
                  <a:schemeClr val="tx1"/>
                </a:solidFill>
                <a:latin typeface="+mn-lt"/>
                <a:ea typeface="+mn-ea"/>
                <a:cs typeface="+mn-cs"/>
              </a:defRPr>
            </a:lvl2pPr>
            <a:lvl3pPr marL="1260500" indent="-252100" algn="l" defTabSz="1008400" rtl="0" eaLnBrk="1" latinLnBrk="0" hangingPunct="1">
              <a:lnSpc>
                <a:spcPct val="90000"/>
              </a:lnSpc>
              <a:spcBef>
                <a:spcPts val="551"/>
              </a:spcBef>
              <a:buFont typeface="Arial" panose="020B0604020202020204" pitchFamily="34" charset="0"/>
              <a:buChar char="•"/>
              <a:defRPr sz="2206" kern="1200">
                <a:solidFill>
                  <a:schemeClr val="tx1"/>
                </a:solidFill>
                <a:latin typeface="+mn-lt"/>
                <a:ea typeface="+mn-ea"/>
                <a:cs typeface="+mn-cs"/>
              </a:defRPr>
            </a:lvl3pPr>
            <a:lvl4pPr marL="17647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4pPr>
            <a:lvl5pPr marL="22689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5pPr>
            <a:lvl6pPr marL="27731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6pPr>
            <a:lvl7pPr marL="32773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7pPr>
            <a:lvl8pPr marL="37815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8pPr>
            <a:lvl9pPr marL="42857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9pPr>
          </a:lstStyle>
          <a:p>
            <a:pPr marL="0" indent="0" algn="ctr">
              <a:buNone/>
            </a:pPr>
            <a:r>
              <a:rPr lang="en-US" dirty="0">
                <a:solidFill>
                  <a:schemeClr val="bg1"/>
                </a:solidFill>
              </a:rPr>
              <a:t>West Bengal Long-Term Energy Planning Model</a:t>
            </a:r>
            <a:endParaRPr lang="en-IN" dirty="0">
              <a:solidFill>
                <a:schemeClr val="bg1"/>
              </a:solidFill>
            </a:endParaRPr>
          </a:p>
        </p:txBody>
      </p:sp>
    </p:spTree>
    <p:extLst>
      <p:ext uri="{BB962C8B-B14F-4D97-AF65-F5344CB8AC3E}">
        <p14:creationId xmlns:p14="http://schemas.microsoft.com/office/powerpoint/2010/main" val="36072435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Rectangle 195"/>
          <p:cNvSpPr/>
          <p:nvPr/>
        </p:nvSpPr>
        <p:spPr bwMode="gray">
          <a:xfrm>
            <a:off x="3194197" y="1070141"/>
            <a:ext cx="3749689" cy="2568583"/>
          </a:xfrm>
          <a:prstGeom prst="rect">
            <a:avLst/>
          </a:prstGeom>
          <a:solidFill>
            <a:schemeClr val="bg1">
              <a:lumMod val="95000"/>
            </a:schemeClr>
          </a:solidFill>
          <a:ln w="19050" algn="ctr">
            <a:solidFill>
              <a:schemeClr val="bg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93" name="Rectangle 192"/>
          <p:cNvSpPr/>
          <p:nvPr/>
        </p:nvSpPr>
        <p:spPr bwMode="gray">
          <a:xfrm>
            <a:off x="717326" y="1070140"/>
            <a:ext cx="2435281" cy="2568583"/>
          </a:xfrm>
          <a:prstGeom prst="rect">
            <a:avLst/>
          </a:prstGeom>
          <a:solidFill>
            <a:schemeClr val="bg1">
              <a:lumMod val="95000"/>
            </a:schemeClr>
          </a:solidFill>
          <a:ln w="19050" algn="ctr">
            <a:solidFill>
              <a:schemeClr val="bg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4" name="Rectangle 13"/>
          <p:cNvSpPr/>
          <p:nvPr/>
        </p:nvSpPr>
        <p:spPr bwMode="gray">
          <a:xfrm>
            <a:off x="667295" y="4345341"/>
            <a:ext cx="6226483" cy="2773524"/>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4" name="Pentagon 3"/>
          <p:cNvSpPr/>
          <p:nvPr/>
        </p:nvSpPr>
        <p:spPr bwMode="gray">
          <a:xfrm>
            <a:off x="1229045" y="4556006"/>
            <a:ext cx="1885939" cy="376465"/>
          </a:xfrm>
          <a:prstGeom prst="homePlate">
            <a:avLst/>
          </a:prstGeom>
          <a:solidFill>
            <a:schemeClr val="accent6"/>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1323" b="1" dirty="0">
                <a:solidFill>
                  <a:schemeClr val="bg1"/>
                </a:solidFill>
              </a:rPr>
              <a:t>Key Variables</a:t>
            </a:r>
          </a:p>
        </p:txBody>
      </p:sp>
      <p:sp>
        <p:nvSpPr>
          <p:cNvPr id="5" name="Text Placeholder 3"/>
          <p:cNvSpPr txBox="1">
            <a:spLocks/>
          </p:cNvSpPr>
          <p:nvPr/>
        </p:nvSpPr>
        <p:spPr bwMode="gray">
          <a:xfrm>
            <a:off x="3160134" y="5824348"/>
            <a:ext cx="3709027" cy="629634"/>
          </a:xfrm>
          <a:prstGeom prst="rect">
            <a:avLst/>
          </a:prstGeom>
        </p:spPr>
        <p:txBody>
          <a:bodyPr vert="horz" lIns="0" tIns="0" rIns="0" bIns="0" rtlCol="0">
            <a:noAutofit/>
          </a:bodyPr>
          <a:lstStyle/>
          <a:p>
            <a:pPr marL="126050" lvl="1" indent="-126050" defTabSz="1008400">
              <a:spcBef>
                <a:spcPts val="662"/>
              </a:spcBef>
              <a:buSzPct val="100000"/>
              <a:buFont typeface="Arial"/>
              <a:buChar char="•"/>
              <a:defRPr/>
            </a:pPr>
            <a:r>
              <a:rPr lang="en-US" sz="1103" dirty="0"/>
              <a:t>Data structure of </a:t>
            </a:r>
            <a:r>
              <a:rPr lang="en-US" sz="1323" b="1" dirty="0">
                <a:solidFill>
                  <a:schemeClr val="accent5"/>
                </a:solidFill>
              </a:rPr>
              <a:t>conversion and transportation </a:t>
            </a:r>
            <a:r>
              <a:rPr lang="en-US" sz="1103" dirty="0"/>
              <a:t>of energy forms </a:t>
            </a:r>
          </a:p>
          <a:p>
            <a:pPr marL="126050" lvl="1" indent="-126050" defTabSz="1008400">
              <a:spcBef>
                <a:spcPts val="662"/>
              </a:spcBef>
              <a:buSzPct val="100000"/>
              <a:buFont typeface="Arial"/>
              <a:buChar char="•"/>
              <a:defRPr/>
            </a:pPr>
            <a:r>
              <a:rPr lang="en-US" sz="1103" i="1" dirty="0"/>
              <a:t>Module</a:t>
            </a:r>
            <a:r>
              <a:rPr lang="en-US" sz="1103" dirty="0"/>
              <a:t> level and </a:t>
            </a:r>
            <a:r>
              <a:rPr lang="en-US" sz="1103" i="1" dirty="0"/>
              <a:t>process</a:t>
            </a:r>
            <a:r>
              <a:rPr lang="en-US" sz="1103" dirty="0"/>
              <a:t> level</a:t>
            </a:r>
          </a:p>
        </p:txBody>
      </p:sp>
      <p:sp>
        <p:nvSpPr>
          <p:cNvPr id="6" name="Pentagon 5"/>
          <p:cNvSpPr/>
          <p:nvPr/>
        </p:nvSpPr>
        <p:spPr bwMode="gray">
          <a:xfrm>
            <a:off x="1229045" y="5974756"/>
            <a:ext cx="1885939" cy="376465"/>
          </a:xfrm>
          <a:prstGeom prst="homePlate">
            <a:avLst/>
          </a:prstGeom>
          <a:solidFill>
            <a:schemeClr val="accent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1323" b="1" dirty="0">
                <a:solidFill>
                  <a:schemeClr val="bg1"/>
                </a:solidFill>
              </a:rPr>
              <a:t>Transformation</a:t>
            </a:r>
          </a:p>
        </p:txBody>
      </p:sp>
      <p:sp>
        <p:nvSpPr>
          <p:cNvPr id="7" name="Text Placeholder 3"/>
          <p:cNvSpPr txBox="1">
            <a:spLocks/>
          </p:cNvSpPr>
          <p:nvPr/>
        </p:nvSpPr>
        <p:spPr bwMode="gray">
          <a:xfrm>
            <a:off x="3160138" y="6683930"/>
            <a:ext cx="3631030" cy="434934"/>
          </a:xfrm>
          <a:prstGeom prst="rect">
            <a:avLst/>
          </a:prstGeom>
        </p:spPr>
        <p:txBody>
          <a:bodyPr vert="horz" lIns="0" tIns="0" rIns="0" bIns="0" rtlCol="0">
            <a:noAutofit/>
          </a:bodyPr>
          <a:lstStyle/>
          <a:p>
            <a:pPr marL="126050" lvl="1" indent="-126050" defTabSz="1008400">
              <a:spcBef>
                <a:spcPts val="662"/>
              </a:spcBef>
              <a:buSzPct val="100000"/>
              <a:buFont typeface="Arial"/>
              <a:buChar char="•"/>
              <a:defRPr/>
            </a:pPr>
            <a:r>
              <a:rPr lang="en-US" sz="1103" dirty="0"/>
              <a:t>Data structure for </a:t>
            </a:r>
            <a:r>
              <a:rPr lang="en-US" sz="1323" b="1" dirty="0"/>
              <a:t>indigenous production and import/export</a:t>
            </a:r>
            <a:r>
              <a:rPr lang="en-US" sz="1103" dirty="0"/>
              <a:t> of secondary fuels</a:t>
            </a:r>
          </a:p>
        </p:txBody>
      </p:sp>
      <p:sp>
        <p:nvSpPr>
          <p:cNvPr id="8" name="Pentagon 7"/>
          <p:cNvSpPr/>
          <p:nvPr/>
        </p:nvSpPr>
        <p:spPr bwMode="gray">
          <a:xfrm>
            <a:off x="1229045" y="6683930"/>
            <a:ext cx="1885939" cy="376465"/>
          </a:xfrm>
          <a:prstGeom prst="homePlate">
            <a:avLst/>
          </a:prstGeom>
          <a:solidFill>
            <a:schemeClr val="accent6"/>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1323" b="1" dirty="0">
                <a:solidFill>
                  <a:schemeClr val="bg1"/>
                </a:solidFill>
              </a:rPr>
              <a:t>Resources</a:t>
            </a:r>
          </a:p>
        </p:txBody>
      </p:sp>
      <p:sp>
        <p:nvSpPr>
          <p:cNvPr id="9" name="Text Placeholder 3"/>
          <p:cNvSpPr txBox="1">
            <a:spLocks/>
          </p:cNvSpPr>
          <p:nvPr/>
        </p:nvSpPr>
        <p:spPr bwMode="gray">
          <a:xfrm>
            <a:off x="3160136" y="4375395"/>
            <a:ext cx="3523678" cy="709375"/>
          </a:xfrm>
          <a:prstGeom prst="rect">
            <a:avLst/>
          </a:prstGeom>
        </p:spPr>
        <p:txBody>
          <a:bodyPr vert="horz" lIns="0" tIns="0" rIns="0" bIns="0" rtlCol="0">
            <a:noAutofit/>
          </a:bodyPr>
          <a:lstStyle/>
          <a:p>
            <a:pPr marL="126050" lvl="1" indent="-126050">
              <a:spcBef>
                <a:spcPts val="662"/>
              </a:spcBef>
              <a:buSzPct val="100000"/>
              <a:buFont typeface="Arial"/>
              <a:buChar char="•"/>
              <a:defRPr/>
            </a:pPr>
            <a:r>
              <a:rPr lang="en-US" sz="1323" b="1" dirty="0"/>
              <a:t>Independent Variables </a:t>
            </a:r>
            <a:r>
              <a:rPr lang="en-US" sz="1103" dirty="0"/>
              <a:t>that drive Demand, Transformation &amp; Resource Analyses</a:t>
            </a:r>
          </a:p>
          <a:p>
            <a:pPr marL="126050" lvl="1" indent="-126050">
              <a:spcBef>
                <a:spcPts val="662"/>
              </a:spcBef>
              <a:buSzPct val="100000"/>
              <a:buFont typeface="Arial"/>
              <a:buChar char="•"/>
              <a:defRPr/>
            </a:pPr>
            <a:r>
              <a:rPr lang="en-US" sz="1103" dirty="0"/>
              <a:t>Can be created and organized as required</a:t>
            </a:r>
          </a:p>
        </p:txBody>
      </p:sp>
      <p:sp>
        <p:nvSpPr>
          <p:cNvPr id="10" name="Pentagon 9"/>
          <p:cNvSpPr/>
          <p:nvPr/>
        </p:nvSpPr>
        <p:spPr bwMode="gray">
          <a:xfrm>
            <a:off x="1229045" y="5265381"/>
            <a:ext cx="1885939" cy="376465"/>
          </a:xfrm>
          <a:prstGeom prst="homePlate">
            <a:avLst/>
          </a:prstGeom>
          <a:solidFill>
            <a:schemeClr val="accent4"/>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1323" b="1" dirty="0">
                <a:solidFill>
                  <a:schemeClr val="bg1"/>
                </a:solidFill>
              </a:rPr>
              <a:t>Demand</a:t>
            </a:r>
          </a:p>
        </p:txBody>
      </p:sp>
      <p:sp>
        <p:nvSpPr>
          <p:cNvPr id="11" name="Text Placeholder 3"/>
          <p:cNvSpPr txBox="1">
            <a:spLocks/>
          </p:cNvSpPr>
          <p:nvPr/>
        </p:nvSpPr>
        <p:spPr bwMode="gray">
          <a:xfrm>
            <a:off x="3160137" y="5265381"/>
            <a:ext cx="3363931" cy="510188"/>
          </a:xfrm>
          <a:prstGeom prst="rect">
            <a:avLst/>
          </a:prstGeom>
        </p:spPr>
        <p:txBody>
          <a:bodyPr vert="horz" lIns="0" tIns="0" rIns="0" bIns="0" rtlCol="0">
            <a:noAutofit/>
          </a:bodyPr>
          <a:lstStyle/>
          <a:p>
            <a:pPr marL="126050" lvl="1" indent="-126050" defTabSz="1008400">
              <a:spcBef>
                <a:spcPts val="662"/>
              </a:spcBef>
              <a:buSzPct val="100000"/>
              <a:buFont typeface="Arial"/>
              <a:buChar char="•"/>
              <a:defRPr/>
            </a:pPr>
            <a:r>
              <a:rPr lang="en-US" sz="1323" b="1" dirty="0">
                <a:solidFill>
                  <a:schemeClr val="accent4"/>
                </a:solidFill>
              </a:rPr>
              <a:t>Disaggregated</a:t>
            </a:r>
            <a:r>
              <a:rPr lang="en-US" sz="1103" dirty="0"/>
              <a:t> data structure of energy </a:t>
            </a:r>
            <a:r>
              <a:rPr lang="en-US" sz="1323" b="1" dirty="0">
                <a:solidFill>
                  <a:schemeClr val="accent4"/>
                </a:solidFill>
              </a:rPr>
              <a:t>demand </a:t>
            </a:r>
            <a:r>
              <a:rPr lang="en-US" sz="1103" dirty="0"/>
              <a:t>analysis</a:t>
            </a:r>
          </a:p>
        </p:txBody>
      </p:sp>
      <p:cxnSp>
        <p:nvCxnSpPr>
          <p:cNvPr id="16" name="Straight Connector 15"/>
          <p:cNvCxnSpPr/>
          <p:nvPr/>
        </p:nvCxnSpPr>
        <p:spPr>
          <a:xfrm>
            <a:off x="1229045" y="5084770"/>
            <a:ext cx="54547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229045" y="5775568"/>
            <a:ext cx="54547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231553" y="6500499"/>
            <a:ext cx="54547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22682" y="4615549"/>
            <a:ext cx="277900" cy="286275"/>
          </a:xfrm>
          <a:prstGeom prst="ellipse">
            <a:avLst/>
          </a:prstGeom>
          <a:solidFill>
            <a:schemeClr val="accent6"/>
          </a:solidFill>
        </p:spPr>
        <p:txBody>
          <a:bodyPr wrap="square" lIns="0" tIns="0" rIns="0" bIns="0" rtlCol="0" anchor="ctr">
            <a:spAutoFit/>
          </a:bodyPr>
          <a:lstStyle/>
          <a:p>
            <a:pPr algn="ctr">
              <a:spcBef>
                <a:spcPts val="662"/>
              </a:spcBef>
              <a:buSzPct val="100000"/>
            </a:pPr>
            <a:r>
              <a:rPr lang="en-US" sz="1323" b="1" dirty="0">
                <a:solidFill>
                  <a:schemeClr val="bg1"/>
                </a:solidFill>
              </a:rPr>
              <a:t>1</a:t>
            </a:r>
            <a:endParaRPr lang="en-IN" sz="1323" b="1" dirty="0">
              <a:solidFill>
                <a:schemeClr val="bg1"/>
              </a:solidFill>
            </a:endParaRPr>
          </a:p>
        </p:txBody>
      </p:sp>
      <p:sp>
        <p:nvSpPr>
          <p:cNvPr id="27" name="TextBox 26"/>
          <p:cNvSpPr txBox="1"/>
          <p:nvPr/>
        </p:nvSpPr>
        <p:spPr>
          <a:xfrm>
            <a:off x="805918" y="5326492"/>
            <a:ext cx="277900" cy="286275"/>
          </a:xfrm>
          <a:prstGeom prst="ellipse">
            <a:avLst/>
          </a:prstGeom>
          <a:solidFill>
            <a:schemeClr val="accent4"/>
          </a:solidFill>
        </p:spPr>
        <p:txBody>
          <a:bodyPr wrap="square" lIns="0" tIns="0" rIns="0" bIns="0" rtlCol="0" anchor="ctr">
            <a:spAutoFit/>
          </a:bodyPr>
          <a:lstStyle/>
          <a:p>
            <a:pPr algn="ctr">
              <a:spcBef>
                <a:spcPts val="662"/>
              </a:spcBef>
              <a:buSzPct val="100000"/>
            </a:pPr>
            <a:r>
              <a:rPr lang="en-US" sz="1323" b="1" dirty="0">
                <a:solidFill>
                  <a:schemeClr val="bg1"/>
                </a:solidFill>
              </a:rPr>
              <a:t>2</a:t>
            </a:r>
            <a:endParaRPr lang="en-IN" sz="1323" b="1" dirty="0">
              <a:solidFill>
                <a:schemeClr val="bg1"/>
              </a:solidFill>
            </a:endParaRPr>
          </a:p>
        </p:txBody>
      </p:sp>
      <p:sp>
        <p:nvSpPr>
          <p:cNvPr id="28" name="TextBox 27"/>
          <p:cNvSpPr txBox="1"/>
          <p:nvPr/>
        </p:nvSpPr>
        <p:spPr>
          <a:xfrm>
            <a:off x="822682" y="6022212"/>
            <a:ext cx="277900" cy="286275"/>
          </a:xfrm>
          <a:prstGeom prst="ellipse">
            <a:avLst/>
          </a:prstGeom>
          <a:solidFill>
            <a:schemeClr val="accent5"/>
          </a:solidFill>
        </p:spPr>
        <p:txBody>
          <a:bodyPr wrap="square" lIns="0" tIns="0" rIns="0" bIns="0" rtlCol="0" anchor="ctr">
            <a:spAutoFit/>
          </a:bodyPr>
          <a:lstStyle/>
          <a:p>
            <a:pPr algn="ctr">
              <a:spcBef>
                <a:spcPts val="662"/>
              </a:spcBef>
              <a:buSzPct val="100000"/>
            </a:pPr>
            <a:r>
              <a:rPr lang="en-US" sz="1323" b="1" dirty="0">
                <a:solidFill>
                  <a:schemeClr val="bg1"/>
                </a:solidFill>
              </a:rPr>
              <a:t>3</a:t>
            </a:r>
            <a:endParaRPr lang="en-IN" sz="1323" b="1" dirty="0">
              <a:solidFill>
                <a:schemeClr val="bg1"/>
              </a:solidFill>
            </a:endParaRPr>
          </a:p>
        </p:txBody>
      </p:sp>
      <p:sp>
        <p:nvSpPr>
          <p:cNvPr id="29" name="TextBox 28"/>
          <p:cNvSpPr txBox="1"/>
          <p:nvPr/>
        </p:nvSpPr>
        <p:spPr>
          <a:xfrm>
            <a:off x="822682" y="6748206"/>
            <a:ext cx="277900" cy="286275"/>
          </a:xfrm>
          <a:prstGeom prst="ellipse">
            <a:avLst/>
          </a:prstGeom>
          <a:solidFill>
            <a:schemeClr val="accent6"/>
          </a:solidFill>
        </p:spPr>
        <p:txBody>
          <a:bodyPr wrap="square" lIns="0" tIns="0" rIns="0" bIns="0" rtlCol="0" anchor="ctr">
            <a:spAutoFit/>
          </a:bodyPr>
          <a:lstStyle/>
          <a:p>
            <a:pPr algn="ctr">
              <a:spcBef>
                <a:spcPts val="662"/>
              </a:spcBef>
              <a:buSzPct val="100000"/>
            </a:pPr>
            <a:r>
              <a:rPr lang="en-US" sz="1323" b="1" dirty="0">
                <a:solidFill>
                  <a:schemeClr val="bg1"/>
                </a:solidFill>
              </a:rPr>
              <a:t>4</a:t>
            </a:r>
            <a:endParaRPr lang="en-IN" sz="1323" b="1" dirty="0">
              <a:solidFill>
                <a:schemeClr val="bg1"/>
              </a:solidFill>
            </a:endParaRPr>
          </a:p>
        </p:txBody>
      </p:sp>
      <p:sp>
        <p:nvSpPr>
          <p:cNvPr id="35" name="TextBox 34"/>
          <p:cNvSpPr txBox="1"/>
          <p:nvPr/>
        </p:nvSpPr>
        <p:spPr>
          <a:xfrm>
            <a:off x="7006616" y="1512674"/>
            <a:ext cx="277900" cy="286275"/>
          </a:xfrm>
          <a:prstGeom prst="ellipse">
            <a:avLst/>
          </a:prstGeom>
          <a:solidFill>
            <a:schemeClr val="accent6"/>
          </a:solidFill>
        </p:spPr>
        <p:txBody>
          <a:bodyPr wrap="square" lIns="0" tIns="0" rIns="0" bIns="0" rtlCol="0" anchor="ctr">
            <a:spAutoFit/>
          </a:bodyPr>
          <a:lstStyle/>
          <a:p>
            <a:pPr algn="ctr">
              <a:spcBef>
                <a:spcPts val="662"/>
              </a:spcBef>
              <a:buSzPct val="100000"/>
            </a:pPr>
            <a:r>
              <a:rPr lang="en-US" sz="1323" b="1" dirty="0">
                <a:solidFill>
                  <a:schemeClr val="bg1"/>
                </a:solidFill>
              </a:rPr>
              <a:t>1</a:t>
            </a:r>
            <a:endParaRPr lang="en-IN" sz="1323" b="1" dirty="0">
              <a:solidFill>
                <a:schemeClr val="bg1"/>
              </a:solidFill>
            </a:endParaRPr>
          </a:p>
        </p:txBody>
      </p:sp>
      <p:sp>
        <p:nvSpPr>
          <p:cNvPr id="36" name="TextBox 35"/>
          <p:cNvSpPr txBox="1"/>
          <p:nvPr/>
        </p:nvSpPr>
        <p:spPr>
          <a:xfrm>
            <a:off x="6989852" y="3277154"/>
            <a:ext cx="277900" cy="286275"/>
          </a:xfrm>
          <a:prstGeom prst="ellipse">
            <a:avLst/>
          </a:prstGeom>
          <a:solidFill>
            <a:schemeClr val="accent4"/>
          </a:solidFill>
        </p:spPr>
        <p:txBody>
          <a:bodyPr wrap="square" lIns="0" tIns="0" rIns="0" bIns="0" rtlCol="0" anchor="ctr">
            <a:spAutoFit/>
          </a:bodyPr>
          <a:lstStyle/>
          <a:p>
            <a:pPr algn="ctr">
              <a:spcBef>
                <a:spcPts val="662"/>
              </a:spcBef>
              <a:buSzPct val="100000"/>
            </a:pPr>
            <a:r>
              <a:rPr lang="en-US" sz="1323" b="1" dirty="0">
                <a:solidFill>
                  <a:schemeClr val="bg1"/>
                </a:solidFill>
              </a:rPr>
              <a:t>2</a:t>
            </a:r>
            <a:endParaRPr lang="en-IN" sz="1323" b="1" dirty="0">
              <a:solidFill>
                <a:schemeClr val="bg1"/>
              </a:solidFill>
            </a:endParaRPr>
          </a:p>
        </p:txBody>
      </p:sp>
      <p:sp>
        <p:nvSpPr>
          <p:cNvPr id="37" name="TextBox 36"/>
          <p:cNvSpPr txBox="1"/>
          <p:nvPr/>
        </p:nvSpPr>
        <p:spPr>
          <a:xfrm>
            <a:off x="7006616" y="5538119"/>
            <a:ext cx="277900" cy="286275"/>
          </a:xfrm>
          <a:prstGeom prst="ellipse">
            <a:avLst/>
          </a:prstGeom>
          <a:solidFill>
            <a:schemeClr val="accent5"/>
          </a:solidFill>
        </p:spPr>
        <p:txBody>
          <a:bodyPr wrap="square" lIns="0" tIns="0" rIns="0" bIns="0" rtlCol="0" anchor="ctr">
            <a:spAutoFit/>
          </a:bodyPr>
          <a:lstStyle/>
          <a:p>
            <a:pPr algn="ctr">
              <a:spcBef>
                <a:spcPts val="662"/>
              </a:spcBef>
              <a:buSzPct val="100000"/>
            </a:pPr>
            <a:r>
              <a:rPr lang="en-US" sz="1323" b="1" dirty="0">
                <a:solidFill>
                  <a:schemeClr val="bg1"/>
                </a:solidFill>
              </a:rPr>
              <a:t>3</a:t>
            </a:r>
            <a:endParaRPr lang="en-IN" sz="1323" b="1" dirty="0">
              <a:solidFill>
                <a:schemeClr val="bg1"/>
              </a:solidFill>
            </a:endParaRPr>
          </a:p>
        </p:txBody>
      </p:sp>
      <p:sp>
        <p:nvSpPr>
          <p:cNvPr id="38" name="TextBox 37"/>
          <p:cNvSpPr txBox="1"/>
          <p:nvPr/>
        </p:nvSpPr>
        <p:spPr>
          <a:xfrm>
            <a:off x="7006616" y="6595229"/>
            <a:ext cx="277900" cy="286275"/>
          </a:xfrm>
          <a:prstGeom prst="ellipse">
            <a:avLst/>
          </a:prstGeom>
          <a:solidFill>
            <a:schemeClr val="accent6"/>
          </a:solidFill>
        </p:spPr>
        <p:txBody>
          <a:bodyPr wrap="square" lIns="0" tIns="0" rIns="0" bIns="0" rtlCol="0" anchor="ctr">
            <a:spAutoFit/>
          </a:bodyPr>
          <a:lstStyle/>
          <a:p>
            <a:pPr algn="ctr">
              <a:spcBef>
                <a:spcPts val="662"/>
              </a:spcBef>
              <a:buSzPct val="100000"/>
            </a:pPr>
            <a:r>
              <a:rPr lang="en-US" sz="1323" b="1" dirty="0">
                <a:solidFill>
                  <a:schemeClr val="bg1"/>
                </a:solidFill>
              </a:rPr>
              <a:t>4</a:t>
            </a:r>
            <a:endParaRPr lang="en-IN" sz="1323" b="1" dirty="0">
              <a:solidFill>
                <a:schemeClr val="bg1"/>
              </a:solidFill>
            </a:endParaRPr>
          </a:p>
        </p:txBody>
      </p:sp>
      <p:sp>
        <p:nvSpPr>
          <p:cNvPr id="39" name="TextBox 38"/>
          <p:cNvSpPr txBox="1"/>
          <p:nvPr/>
        </p:nvSpPr>
        <p:spPr>
          <a:xfrm>
            <a:off x="664067" y="4098773"/>
            <a:ext cx="6205095" cy="249902"/>
          </a:xfrm>
          <a:prstGeom prst="rect">
            <a:avLst/>
          </a:prstGeom>
          <a:solidFill>
            <a:schemeClr val="tx1"/>
          </a:solidFill>
        </p:spPr>
        <p:txBody>
          <a:bodyPr wrap="square" lIns="39700" tIns="39700" rIns="39700" bIns="39700" rtlCol="0">
            <a:spAutoFit/>
          </a:bodyPr>
          <a:lstStyle/>
          <a:p>
            <a:pPr algn="ctr">
              <a:spcBef>
                <a:spcPts val="662"/>
              </a:spcBef>
              <a:buSzPct val="100000"/>
            </a:pPr>
            <a:r>
              <a:rPr lang="en-US" sz="1103" b="1" dirty="0">
                <a:solidFill>
                  <a:schemeClr val="bg1"/>
                </a:solidFill>
              </a:rPr>
              <a:t>Key Components of Data Tree in LEAP</a:t>
            </a:r>
            <a:endParaRPr lang="en-IN" sz="1103" b="1" dirty="0">
              <a:solidFill>
                <a:schemeClr val="bg1"/>
              </a:solidFill>
            </a:endParaRPr>
          </a:p>
        </p:txBody>
      </p:sp>
      <p:sp>
        <p:nvSpPr>
          <p:cNvPr id="40" name="TextBox 39"/>
          <p:cNvSpPr txBox="1"/>
          <p:nvPr/>
        </p:nvSpPr>
        <p:spPr>
          <a:xfrm>
            <a:off x="7358749" y="1070642"/>
            <a:ext cx="2659900" cy="249902"/>
          </a:xfrm>
          <a:prstGeom prst="rect">
            <a:avLst/>
          </a:prstGeom>
          <a:solidFill>
            <a:schemeClr val="tx1"/>
          </a:solidFill>
        </p:spPr>
        <p:txBody>
          <a:bodyPr wrap="square" lIns="39700" tIns="39700" rIns="39700" bIns="39700" rtlCol="0">
            <a:spAutoFit/>
          </a:bodyPr>
          <a:lstStyle/>
          <a:p>
            <a:pPr algn="ctr">
              <a:spcBef>
                <a:spcPts val="662"/>
              </a:spcBef>
              <a:buSzPct val="100000"/>
            </a:pPr>
            <a:r>
              <a:rPr lang="en-US" sz="1103" b="1" dirty="0">
                <a:solidFill>
                  <a:schemeClr val="bg1"/>
                </a:solidFill>
              </a:rPr>
              <a:t>Illustration in LEAP</a:t>
            </a:r>
            <a:endParaRPr lang="en-IN" sz="1103" b="1" dirty="0">
              <a:solidFill>
                <a:schemeClr val="bg1"/>
              </a:solidFill>
            </a:endParaRPr>
          </a:p>
        </p:txBody>
      </p:sp>
      <p:grpSp>
        <p:nvGrpSpPr>
          <p:cNvPr id="45" name="Group 44"/>
          <p:cNvGrpSpPr/>
          <p:nvPr/>
        </p:nvGrpSpPr>
        <p:grpSpPr>
          <a:xfrm>
            <a:off x="7437676" y="1319234"/>
            <a:ext cx="2400860" cy="5808329"/>
            <a:chOff x="3467739" y="1196282"/>
            <a:chExt cx="2177102" cy="5266999"/>
          </a:xfrm>
        </p:grpSpPr>
        <p:pic>
          <p:nvPicPr>
            <p:cNvPr id="43" name="Picture 42"/>
            <p:cNvPicPr>
              <a:picLocks noChangeAspect="1"/>
            </p:cNvPicPr>
            <p:nvPr/>
          </p:nvPicPr>
          <p:blipFill>
            <a:blip r:embed="rId2"/>
            <a:stretch>
              <a:fillRect/>
            </a:stretch>
          </p:blipFill>
          <p:spPr>
            <a:xfrm>
              <a:off x="3481387" y="1196282"/>
              <a:ext cx="2106569" cy="5013450"/>
            </a:xfrm>
            <a:prstGeom prst="rect">
              <a:avLst/>
            </a:prstGeom>
          </p:spPr>
        </p:pic>
        <p:pic>
          <p:nvPicPr>
            <p:cNvPr id="44" name="Picture 43"/>
            <p:cNvPicPr>
              <a:picLocks noChangeAspect="1"/>
            </p:cNvPicPr>
            <p:nvPr/>
          </p:nvPicPr>
          <p:blipFill rotWithShape="1">
            <a:blip r:embed="rId3"/>
            <a:srcRect t="95151"/>
            <a:stretch/>
          </p:blipFill>
          <p:spPr>
            <a:xfrm>
              <a:off x="3467739" y="6211311"/>
              <a:ext cx="2177102" cy="251970"/>
            </a:xfrm>
            <a:prstGeom prst="rect">
              <a:avLst/>
            </a:prstGeom>
          </p:spPr>
        </p:pic>
      </p:grpSp>
      <p:sp>
        <p:nvSpPr>
          <p:cNvPr id="32" name="Rounded Rectangle 31"/>
          <p:cNvSpPr/>
          <p:nvPr/>
        </p:nvSpPr>
        <p:spPr bwMode="gray">
          <a:xfrm>
            <a:off x="7361082" y="1524128"/>
            <a:ext cx="2642380" cy="205919"/>
          </a:xfrm>
          <a:prstGeom prst="roundRect">
            <a:avLst/>
          </a:prstGeom>
          <a:noFill/>
          <a:ln w="19050" algn="ctr">
            <a:solidFill>
              <a:schemeClr val="accent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31" name="Rounded Rectangle 30"/>
          <p:cNvSpPr/>
          <p:nvPr/>
        </p:nvSpPr>
        <p:spPr bwMode="gray">
          <a:xfrm>
            <a:off x="7361082" y="1865065"/>
            <a:ext cx="2642380" cy="3123425"/>
          </a:xfrm>
          <a:prstGeom prst="roundRect">
            <a:avLst/>
          </a:prstGeom>
          <a:noFill/>
          <a:ln w="19050" algn="ctr">
            <a:solidFill>
              <a:schemeClr val="accent4"/>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33" name="Rounded Rectangle 32"/>
          <p:cNvSpPr/>
          <p:nvPr/>
        </p:nvSpPr>
        <p:spPr bwMode="gray">
          <a:xfrm>
            <a:off x="7358749" y="4988490"/>
            <a:ext cx="2642380" cy="1496515"/>
          </a:xfrm>
          <a:prstGeom prst="roundRect">
            <a:avLst/>
          </a:prstGeom>
          <a:noFill/>
          <a:ln w="19050" algn="ctr">
            <a:solidFill>
              <a:schemeClr val="accent5"/>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34" name="Rounded Rectangle 33"/>
          <p:cNvSpPr/>
          <p:nvPr/>
        </p:nvSpPr>
        <p:spPr bwMode="gray">
          <a:xfrm>
            <a:off x="7358751" y="6486745"/>
            <a:ext cx="2642380" cy="556865"/>
          </a:xfrm>
          <a:prstGeom prst="roundRect">
            <a:avLst/>
          </a:prstGeom>
          <a:noFill/>
          <a:ln w="19050" algn="ctr">
            <a:solidFill>
              <a:schemeClr val="accent6"/>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48" name="Rectangle 147"/>
          <p:cNvSpPr/>
          <p:nvPr/>
        </p:nvSpPr>
        <p:spPr bwMode="gray">
          <a:xfrm>
            <a:off x="3288895" y="1191223"/>
            <a:ext cx="1813628" cy="2372250"/>
          </a:xfrm>
          <a:prstGeom prst="rect">
            <a:avLst/>
          </a:prstGeom>
          <a:solidFill>
            <a:schemeClr val="accent6"/>
          </a:solidFill>
          <a:ln w="19050" algn="ctr">
            <a:noFill/>
            <a:miter lim="800000"/>
            <a:headEnd/>
            <a:tailEnd/>
          </a:ln>
        </p:spPr>
        <p:txBody>
          <a:bodyPr rot="0" spcFirstLastPara="0" vertOverflow="overflow" horzOverflow="overflow" vert="horz" wrap="square" lIns="98037" tIns="98037" rIns="98037" bIns="98037" numCol="1" spcCol="0" rtlCol="0" fromWordArt="0" anchor="b" anchorCtr="0" forceAA="0" compatLnSpc="1">
            <a:prstTxWarp prst="textNoShape">
              <a:avLst/>
            </a:prstTxWarp>
            <a:noAutofit/>
          </a:bodyPr>
          <a:lstStyle/>
          <a:p>
            <a:pPr algn="ctr">
              <a:lnSpc>
                <a:spcPct val="106000"/>
              </a:lnSpc>
              <a:buFont typeface="Wingdings 2" pitchFamily="18" charset="2"/>
              <a:buNone/>
            </a:pPr>
            <a:r>
              <a:rPr lang="en-US" sz="1103" b="1" dirty="0">
                <a:solidFill>
                  <a:schemeClr val="bg1"/>
                </a:solidFill>
              </a:rPr>
              <a:t>RESOURCE – Total Primary &amp; Secondary Energy Supplies</a:t>
            </a:r>
            <a:endParaRPr lang="en-IN" sz="1103" b="1" dirty="0">
              <a:solidFill>
                <a:schemeClr val="bg1"/>
              </a:solidFill>
            </a:endParaRPr>
          </a:p>
        </p:txBody>
      </p:sp>
      <p:sp>
        <p:nvSpPr>
          <p:cNvPr id="149" name="Rectangle 148"/>
          <p:cNvSpPr/>
          <p:nvPr/>
        </p:nvSpPr>
        <p:spPr bwMode="gray">
          <a:xfrm>
            <a:off x="5153991" y="1187660"/>
            <a:ext cx="1709433" cy="754587"/>
          </a:xfrm>
          <a:prstGeom prst="rect">
            <a:avLst/>
          </a:prstGeom>
          <a:solidFill>
            <a:schemeClr val="accent5"/>
          </a:solidFill>
          <a:ln w="19050" algn="ctr">
            <a:noFill/>
            <a:miter lim="800000"/>
            <a:headEnd/>
            <a:tailEnd/>
          </a:ln>
        </p:spPr>
        <p:txBody>
          <a:bodyPr rot="0" spcFirstLastPara="0" vertOverflow="overflow" horzOverflow="overflow" vert="horz" wrap="square" lIns="98037" tIns="98037" rIns="98037" bIns="98037" numCol="1" spcCol="0" rtlCol="0" fromWordArt="0" anchor="b" anchorCtr="0" forceAA="0" compatLnSpc="1">
            <a:prstTxWarp prst="textNoShape">
              <a:avLst/>
            </a:prstTxWarp>
            <a:noAutofit/>
          </a:bodyPr>
          <a:lstStyle/>
          <a:p>
            <a:pPr algn="ctr">
              <a:lnSpc>
                <a:spcPct val="106000"/>
              </a:lnSpc>
              <a:buFont typeface="Wingdings 2" pitchFamily="18" charset="2"/>
              <a:buNone/>
            </a:pPr>
            <a:r>
              <a:rPr lang="en-US" sz="1103" b="1" dirty="0">
                <a:solidFill>
                  <a:schemeClr val="bg1"/>
                </a:solidFill>
              </a:rPr>
              <a:t>TRANSFORMATION </a:t>
            </a:r>
            <a:endParaRPr lang="en-IN" sz="1103" b="1" dirty="0">
              <a:solidFill>
                <a:schemeClr val="bg1"/>
              </a:solidFill>
            </a:endParaRPr>
          </a:p>
        </p:txBody>
      </p:sp>
      <p:grpSp>
        <p:nvGrpSpPr>
          <p:cNvPr id="150" name="Group 149"/>
          <p:cNvGrpSpPr/>
          <p:nvPr/>
        </p:nvGrpSpPr>
        <p:grpSpPr>
          <a:xfrm>
            <a:off x="4469160" y="1747898"/>
            <a:ext cx="319517" cy="465819"/>
            <a:chOff x="9068785" y="3190353"/>
            <a:chExt cx="378428" cy="590577"/>
          </a:xfrm>
          <a:solidFill>
            <a:schemeClr val="bg1"/>
          </a:solidFill>
        </p:grpSpPr>
        <p:sp>
          <p:nvSpPr>
            <p:cNvPr id="151" name="Freeform 639"/>
            <p:cNvSpPr>
              <a:spLocks/>
            </p:cNvSpPr>
            <p:nvPr/>
          </p:nvSpPr>
          <p:spPr bwMode="auto">
            <a:xfrm>
              <a:off x="9235064" y="3497109"/>
              <a:ext cx="40136" cy="283821"/>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52" name="Freeform 640"/>
            <p:cNvSpPr>
              <a:spLocks noEditPoints="1"/>
            </p:cNvSpPr>
            <p:nvPr/>
          </p:nvSpPr>
          <p:spPr bwMode="auto">
            <a:xfrm>
              <a:off x="9068785" y="3190353"/>
              <a:ext cx="378428" cy="306756"/>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153" name="Group 152"/>
          <p:cNvGrpSpPr/>
          <p:nvPr/>
        </p:nvGrpSpPr>
        <p:grpSpPr>
          <a:xfrm>
            <a:off x="3596980" y="1716161"/>
            <a:ext cx="575260" cy="537395"/>
            <a:chOff x="3629832" y="6412796"/>
            <a:chExt cx="230504" cy="230504"/>
          </a:xfrm>
          <a:solidFill>
            <a:schemeClr val="bg1"/>
          </a:solidFill>
        </p:grpSpPr>
        <p:sp>
          <p:nvSpPr>
            <p:cNvPr id="154" name="Freeform 153"/>
            <p:cNvSpPr>
              <a:spLocks noEditPoints="1"/>
            </p:cNvSpPr>
            <p:nvPr/>
          </p:nvSpPr>
          <p:spPr bwMode="auto">
            <a:xfrm>
              <a:off x="3675498" y="6458462"/>
              <a:ext cx="139172" cy="139172"/>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55" name="Freeform 154"/>
            <p:cNvSpPr>
              <a:spLocks/>
            </p:cNvSpPr>
            <p:nvPr/>
          </p:nvSpPr>
          <p:spPr bwMode="auto">
            <a:xfrm>
              <a:off x="3829892" y="6520437"/>
              <a:ext cx="30444" cy="15222"/>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56" name="Freeform 155"/>
            <p:cNvSpPr>
              <a:spLocks/>
            </p:cNvSpPr>
            <p:nvPr/>
          </p:nvSpPr>
          <p:spPr bwMode="auto">
            <a:xfrm>
              <a:off x="3629832" y="6520437"/>
              <a:ext cx="30444" cy="15222"/>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57" name="Freeform 156"/>
            <p:cNvSpPr>
              <a:spLocks/>
            </p:cNvSpPr>
            <p:nvPr/>
          </p:nvSpPr>
          <p:spPr bwMode="auto">
            <a:xfrm>
              <a:off x="3737473" y="6412796"/>
              <a:ext cx="15222" cy="30444"/>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58" name="Freeform 157"/>
            <p:cNvSpPr>
              <a:spLocks/>
            </p:cNvSpPr>
            <p:nvPr/>
          </p:nvSpPr>
          <p:spPr bwMode="auto">
            <a:xfrm>
              <a:off x="3737473" y="6612856"/>
              <a:ext cx="15222" cy="30444"/>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59" name="Freeform 158"/>
            <p:cNvSpPr>
              <a:spLocks/>
            </p:cNvSpPr>
            <p:nvPr/>
          </p:nvSpPr>
          <p:spPr bwMode="auto">
            <a:xfrm>
              <a:off x="3801623" y="6443240"/>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60" name="Freeform 159"/>
            <p:cNvSpPr>
              <a:spLocks/>
            </p:cNvSpPr>
            <p:nvPr/>
          </p:nvSpPr>
          <p:spPr bwMode="auto">
            <a:xfrm>
              <a:off x="3660276" y="6584587"/>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61" name="Freeform 160"/>
            <p:cNvSpPr>
              <a:spLocks/>
            </p:cNvSpPr>
            <p:nvPr/>
          </p:nvSpPr>
          <p:spPr bwMode="auto">
            <a:xfrm>
              <a:off x="3660276" y="6443240"/>
              <a:ext cx="28269" cy="27182"/>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62" name="Freeform 161"/>
            <p:cNvSpPr>
              <a:spLocks/>
            </p:cNvSpPr>
            <p:nvPr/>
          </p:nvSpPr>
          <p:spPr bwMode="auto">
            <a:xfrm>
              <a:off x="3801623" y="6584587"/>
              <a:ext cx="28269" cy="27182"/>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sp>
        <p:nvSpPr>
          <p:cNvPr id="163" name="Freeform 88"/>
          <p:cNvSpPr>
            <a:spLocks noEditPoints="1"/>
          </p:cNvSpPr>
          <p:nvPr/>
        </p:nvSpPr>
        <p:spPr bwMode="auto">
          <a:xfrm>
            <a:off x="5348549" y="1247065"/>
            <a:ext cx="245913" cy="314058"/>
          </a:xfrm>
          <a:custGeom>
            <a:avLst/>
            <a:gdLst>
              <a:gd name="T0" fmla="*/ 214 w 251"/>
              <a:gd name="T1" fmla="*/ 117 h 320"/>
              <a:gd name="T2" fmla="*/ 203 w 251"/>
              <a:gd name="T3" fmla="*/ 117 h 320"/>
              <a:gd name="T4" fmla="*/ 192 w 251"/>
              <a:gd name="T5" fmla="*/ 106 h 320"/>
              <a:gd name="T6" fmla="*/ 203 w 251"/>
              <a:gd name="T7" fmla="*/ 96 h 320"/>
              <a:gd name="T8" fmla="*/ 214 w 251"/>
              <a:gd name="T9" fmla="*/ 96 h 320"/>
              <a:gd name="T10" fmla="*/ 230 w 251"/>
              <a:gd name="T11" fmla="*/ 80 h 320"/>
              <a:gd name="T12" fmla="*/ 214 w 251"/>
              <a:gd name="T13" fmla="*/ 64 h 320"/>
              <a:gd name="T14" fmla="*/ 203 w 251"/>
              <a:gd name="T15" fmla="*/ 53 h 320"/>
              <a:gd name="T16" fmla="*/ 171 w 251"/>
              <a:gd name="T17" fmla="*/ 21 h 320"/>
              <a:gd name="T18" fmla="*/ 140 w 251"/>
              <a:gd name="T19" fmla="*/ 47 h 320"/>
              <a:gd name="T20" fmla="*/ 134 w 251"/>
              <a:gd name="T21" fmla="*/ 54 h 320"/>
              <a:gd name="T22" fmla="*/ 125 w 251"/>
              <a:gd name="T23" fmla="*/ 54 h 320"/>
              <a:gd name="T24" fmla="*/ 96 w 251"/>
              <a:gd name="T25" fmla="*/ 74 h 320"/>
              <a:gd name="T26" fmla="*/ 86 w 251"/>
              <a:gd name="T27" fmla="*/ 85 h 320"/>
              <a:gd name="T28" fmla="*/ 75 w 251"/>
              <a:gd name="T29" fmla="*/ 74 h 320"/>
              <a:gd name="T30" fmla="*/ 122 w 251"/>
              <a:gd name="T31" fmla="*/ 32 h 320"/>
              <a:gd name="T32" fmla="*/ 171 w 251"/>
              <a:gd name="T33" fmla="*/ 0 h 320"/>
              <a:gd name="T34" fmla="*/ 224 w 251"/>
              <a:gd name="T35" fmla="*/ 44 h 320"/>
              <a:gd name="T36" fmla="*/ 251 w 251"/>
              <a:gd name="T37" fmla="*/ 80 h 320"/>
              <a:gd name="T38" fmla="*/ 214 w 251"/>
              <a:gd name="T39" fmla="*/ 117 h 320"/>
              <a:gd name="T40" fmla="*/ 192 w 251"/>
              <a:gd name="T41" fmla="*/ 316 h 320"/>
              <a:gd name="T42" fmla="*/ 194 w 251"/>
              <a:gd name="T43" fmla="*/ 307 h 320"/>
              <a:gd name="T44" fmla="*/ 171 w 251"/>
              <a:gd name="T45" fmla="*/ 191 h 320"/>
              <a:gd name="T46" fmla="*/ 171 w 251"/>
              <a:gd name="T47" fmla="*/ 128 h 320"/>
              <a:gd name="T48" fmla="*/ 164 w 251"/>
              <a:gd name="T49" fmla="*/ 118 h 320"/>
              <a:gd name="T50" fmla="*/ 96 w 251"/>
              <a:gd name="T51" fmla="*/ 106 h 320"/>
              <a:gd name="T52" fmla="*/ 29 w 251"/>
              <a:gd name="T53" fmla="*/ 118 h 320"/>
              <a:gd name="T54" fmla="*/ 22 w 251"/>
              <a:gd name="T55" fmla="*/ 128 h 320"/>
              <a:gd name="T56" fmla="*/ 22 w 251"/>
              <a:gd name="T57" fmla="*/ 191 h 320"/>
              <a:gd name="T58" fmla="*/ 1 w 251"/>
              <a:gd name="T59" fmla="*/ 307 h 320"/>
              <a:gd name="T60" fmla="*/ 3 w 251"/>
              <a:gd name="T61" fmla="*/ 316 h 320"/>
              <a:gd name="T62" fmla="*/ 11 w 251"/>
              <a:gd name="T63" fmla="*/ 320 h 320"/>
              <a:gd name="T64" fmla="*/ 183 w 251"/>
              <a:gd name="T65" fmla="*/ 320 h 320"/>
              <a:gd name="T66" fmla="*/ 192 w 251"/>
              <a:gd name="T67" fmla="*/ 316 h 320"/>
              <a:gd name="T68" fmla="*/ 43 w 251"/>
              <a:gd name="T69" fmla="*/ 194 h 320"/>
              <a:gd name="T70" fmla="*/ 43 w 251"/>
              <a:gd name="T71" fmla="*/ 192 h 320"/>
              <a:gd name="T72" fmla="*/ 43 w 251"/>
              <a:gd name="T73" fmla="*/ 136 h 320"/>
              <a:gd name="T74" fmla="*/ 96 w 251"/>
              <a:gd name="T75" fmla="*/ 128 h 320"/>
              <a:gd name="T76" fmla="*/ 150 w 251"/>
              <a:gd name="T77" fmla="*/ 136 h 320"/>
              <a:gd name="T78" fmla="*/ 150 w 251"/>
              <a:gd name="T79" fmla="*/ 192 h 320"/>
              <a:gd name="T80" fmla="*/ 150 w 251"/>
              <a:gd name="T81" fmla="*/ 194 h 320"/>
              <a:gd name="T82" fmla="*/ 170 w 251"/>
              <a:gd name="T83" fmla="*/ 298 h 320"/>
              <a:gd name="T84" fmla="*/ 24 w 251"/>
              <a:gd name="T85" fmla="*/ 298 h 320"/>
              <a:gd name="T86" fmla="*/ 43 w 251"/>
              <a:gd name="T87" fmla="*/ 19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1" h="320">
                <a:moveTo>
                  <a:pt x="214" y="117"/>
                </a:moveTo>
                <a:cubicBezTo>
                  <a:pt x="203" y="117"/>
                  <a:pt x="203" y="117"/>
                  <a:pt x="203" y="117"/>
                </a:cubicBezTo>
                <a:cubicBezTo>
                  <a:pt x="197" y="117"/>
                  <a:pt x="192" y="112"/>
                  <a:pt x="192" y="106"/>
                </a:cubicBezTo>
                <a:cubicBezTo>
                  <a:pt x="192" y="100"/>
                  <a:pt x="197" y="96"/>
                  <a:pt x="203" y="96"/>
                </a:cubicBezTo>
                <a:cubicBezTo>
                  <a:pt x="214" y="96"/>
                  <a:pt x="214" y="96"/>
                  <a:pt x="214" y="96"/>
                </a:cubicBezTo>
                <a:cubicBezTo>
                  <a:pt x="222" y="96"/>
                  <a:pt x="230" y="88"/>
                  <a:pt x="230" y="80"/>
                </a:cubicBezTo>
                <a:cubicBezTo>
                  <a:pt x="230" y="71"/>
                  <a:pt x="222" y="64"/>
                  <a:pt x="214" y="64"/>
                </a:cubicBezTo>
                <a:cubicBezTo>
                  <a:pt x="208" y="64"/>
                  <a:pt x="203" y="59"/>
                  <a:pt x="203" y="53"/>
                </a:cubicBezTo>
                <a:cubicBezTo>
                  <a:pt x="203" y="35"/>
                  <a:pt x="189" y="21"/>
                  <a:pt x="171" y="21"/>
                </a:cubicBezTo>
                <a:cubicBezTo>
                  <a:pt x="156" y="21"/>
                  <a:pt x="143" y="32"/>
                  <a:pt x="140" y="47"/>
                </a:cubicBezTo>
                <a:cubicBezTo>
                  <a:pt x="139" y="50"/>
                  <a:pt x="137" y="52"/>
                  <a:pt x="134" y="54"/>
                </a:cubicBezTo>
                <a:cubicBezTo>
                  <a:pt x="132" y="55"/>
                  <a:pt x="128" y="56"/>
                  <a:pt x="125" y="54"/>
                </a:cubicBezTo>
                <a:cubicBezTo>
                  <a:pt x="111" y="49"/>
                  <a:pt x="96" y="60"/>
                  <a:pt x="96" y="74"/>
                </a:cubicBezTo>
                <a:cubicBezTo>
                  <a:pt x="96" y="80"/>
                  <a:pt x="92" y="85"/>
                  <a:pt x="86" y="85"/>
                </a:cubicBezTo>
                <a:cubicBezTo>
                  <a:pt x="80" y="85"/>
                  <a:pt x="75" y="80"/>
                  <a:pt x="75" y="74"/>
                </a:cubicBezTo>
                <a:cubicBezTo>
                  <a:pt x="75" y="49"/>
                  <a:pt x="97" y="29"/>
                  <a:pt x="122" y="32"/>
                </a:cubicBezTo>
                <a:cubicBezTo>
                  <a:pt x="130" y="13"/>
                  <a:pt x="149" y="0"/>
                  <a:pt x="171" y="0"/>
                </a:cubicBezTo>
                <a:cubicBezTo>
                  <a:pt x="197" y="0"/>
                  <a:pt x="219" y="19"/>
                  <a:pt x="224" y="44"/>
                </a:cubicBezTo>
                <a:cubicBezTo>
                  <a:pt x="239" y="48"/>
                  <a:pt x="251" y="62"/>
                  <a:pt x="251" y="80"/>
                </a:cubicBezTo>
                <a:cubicBezTo>
                  <a:pt x="251" y="100"/>
                  <a:pt x="234" y="117"/>
                  <a:pt x="214" y="117"/>
                </a:cubicBezTo>
                <a:close/>
                <a:moveTo>
                  <a:pt x="192" y="316"/>
                </a:moveTo>
                <a:cubicBezTo>
                  <a:pt x="194" y="313"/>
                  <a:pt x="195" y="310"/>
                  <a:pt x="194" y="307"/>
                </a:cubicBezTo>
                <a:cubicBezTo>
                  <a:pt x="171" y="191"/>
                  <a:pt x="171" y="191"/>
                  <a:pt x="171" y="191"/>
                </a:cubicBezTo>
                <a:cubicBezTo>
                  <a:pt x="171" y="128"/>
                  <a:pt x="171" y="128"/>
                  <a:pt x="171" y="128"/>
                </a:cubicBezTo>
                <a:cubicBezTo>
                  <a:pt x="171" y="123"/>
                  <a:pt x="168" y="119"/>
                  <a:pt x="164" y="118"/>
                </a:cubicBezTo>
                <a:cubicBezTo>
                  <a:pt x="162" y="117"/>
                  <a:pt x="129" y="106"/>
                  <a:pt x="96" y="106"/>
                </a:cubicBezTo>
                <a:cubicBezTo>
                  <a:pt x="63" y="106"/>
                  <a:pt x="30" y="117"/>
                  <a:pt x="29" y="118"/>
                </a:cubicBezTo>
                <a:cubicBezTo>
                  <a:pt x="25" y="119"/>
                  <a:pt x="22" y="123"/>
                  <a:pt x="22" y="128"/>
                </a:cubicBezTo>
                <a:cubicBezTo>
                  <a:pt x="22" y="191"/>
                  <a:pt x="22" y="191"/>
                  <a:pt x="22" y="191"/>
                </a:cubicBezTo>
                <a:cubicBezTo>
                  <a:pt x="1" y="307"/>
                  <a:pt x="1" y="307"/>
                  <a:pt x="1" y="307"/>
                </a:cubicBezTo>
                <a:cubicBezTo>
                  <a:pt x="0" y="310"/>
                  <a:pt x="1" y="313"/>
                  <a:pt x="3" y="316"/>
                </a:cubicBezTo>
                <a:cubicBezTo>
                  <a:pt x="5" y="318"/>
                  <a:pt x="8" y="320"/>
                  <a:pt x="11" y="320"/>
                </a:cubicBezTo>
                <a:cubicBezTo>
                  <a:pt x="183" y="320"/>
                  <a:pt x="183" y="320"/>
                  <a:pt x="183" y="320"/>
                </a:cubicBezTo>
                <a:cubicBezTo>
                  <a:pt x="187" y="320"/>
                  <a:pt x="190" y="318"/>
                  <a:pt x="192" y="316"/>
                </a:cubicBezTo>
                <a:close/>
                <a:moveTo>
                  <a:pt x="43" y="194"/>
                </a:moveTo>
                <a:cubicBezTo>
                  <a:pt x="43" y="193"/>
                  <a:pt x="43" y="192"/>
                  <a:pt x="43" y="192"/>
                </a:cubicBezTo>
                <a:cubicBezTo>
                  <a:pt x="43" y="136"/>
                  <a:pt x="43" y="136"/>
                  <a:pt x="43" y="136"/>
                </a:cubicBezTo>
                <a:cubicBezTo>
                  <a:pt x="54" y="133"/>
                  <a:pt x="75" y="128"/>
                  <a:pt x="96" y="128"/>
                </a:cubicBezTo>
                <a:cubicBezTo>
                  <a:pt x="117" y="128"/>
                  <a:pt x="139" y="133"/>
                  <a:pt x="150" y="136"/>
                </a:cubicBezTo>
                <a:cubicBezTo>
                  <a:pt x="150" y="192"/>
                  <a:pt x="150" y="192"/>
                  <a:pt x="150" y="192"/>
                </a:cubicBezTo>
                <a:cubicBezTo>
                  <a:pt x="150" y="192"/>
                  <a:pt x="150" y="193"/>
                  <a:pt x="150" y="194"/>
                </a:cubicBezTo>
                <a:cubicBezTo>
                  <a:pt x="170" y="298"/>
                  <a:pt x="170" y="298"/>
                  <a:pt x="170" y="298"/>
                </a:cubicBezTo>
                <a:cubicBezTo>
                  <a:pt x="24" y="298"/>
                  <a:pt x="24" y="298"/>
                  <a:pt x="24" y="298"/>
                </a:cubicBezTo>
                <a:lnTo>
                  <a:pt x="43" y="194"/>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64" name="Rectangle 163"/>
          <p:cNvSpPr/>
          <p:nvPr/>
        </p:nvSpPr>
        <p:spPr bwMode="gray">
          <a:xfrm>
            <a:off x="5141159" y="2004083"/>
            <a:ext cx="1709433" cy="1545648"/>
          </a:xfrm>
          <a:prstGeom prst="rect">
            <a:avLst/>
          </a:prstGeom>
          <a:solidFill>
            <a:schemeClr val="accent4"/>
          </a:solidFill>
          <a:ln w="19050" algn="ctr">
            <a:noFill/>
            <a:miter lim="800000"/>
            <a:headEnd/>
            <a:tailEnd/>
          </a:ln>
        </p:spPr>
        <p:txBody>
          <a:bodyPr rot="0" spcFirstLastPara="0" vertOverflow="overflow" horzOverflow="overflow" vert="horz" wrap="square" lIns="98037" tIns="98037" rIns="98037" bIns="98037" numCol="1" spcCol="0" rtlCol="0" fromWordArt="0" anchor="b" anchorCtr="0" forceAA="0" compatLnSpc="1">
            <a:prstTxWarp prst="textNoShape">
              <a:avLst/>
            </a:prstTxWarp>
            <a:noAutofit/>
          </a:bodyPr>
          <a:lstStyle/>
          <a:p>
            <a:pPr algn="ctr">
              <a:lnSpc>
                <a:spcPct val="106000"/>
              </a:lnSpc>
              <a:buFont typeface="Wingdings 2" pitchFamily="18" charset="2"/>
              <a:buNone/>
            </a:pPr>
            <a:r>
              <a:rPr lang="en-US" sz="1103" b="1" dirty="0">
                <a:solidFill>
                  <a:schemeClr val="bg1"/>
                </a:solidFill>
              </a:rPr>
              <a:t>DEMAND – Final Energy Consumption</a:t>
            </a:r>
            <a:endParaRPr lang="en-IN" sz="1103" b="1" dirty="0">
              <a:solidFill>
                <a:schemeClr val="bg1"/>
              </a:solidFill>
            </a:endParaRPr>
          </a:p>
        </p:txBody>
      </p:sp>
      <p:sp>
        <p:nvSpPr>
          <p:cNvPr id="165" name="Freeform 108"/>
          <p:cNvSpPr>
            <a:spLocks noChangeAspect="1" noEditPoints="1"/>
          </p:cNvSpPr>
          <p:nvPr/>
        </p:nvSpPr>
        <p:spPr bwMode="auto">
          <a:xfrm>
            <a:off x="5358791" y="2386645"/>
            <a:ext cx="185184" cy="441002"/>
          </a:xfrm>
          <a:custGeom>
            <a:avLst/>
            <a:gdLst>
              <a:gd name="T0" fmla="*/ 186 w 201"/>
              <a:gd name="T1" fmla="*/ 28 h 487"/>
              <a:gd name="T2" fmla="*/ 127 w 201"/>
              <a:gd name="T3" fmla="*/ 0 h 487"/>
              <a:gd name="T4" fmla="*/ 14 w 201"/>
              <a:gd name="T5" fmla="*/ 14 h 487"/>
              <a:gd name="T6" fmla="*/ 19 w 201"/>
              <a:gd name="T7" fmla="*/ 456 h 487"/>
              <a:gd name="T8" fmla="*/ 201 w 201"/>
              <a:gd name="T9" fmla="*/ 487 h 487"/>
              <a:gd name="T10" fmla="*/ 71 w 201"/>
              <a:gd name="T11" fmla="*/ 456 h 487"/>
              <a:gd name="T12" fmla="*/ 71 w 201"/>
              <a:gd name="T13" fmla="*/ 425 h 487"/>
              <a:gd name="T14" fmla="*/ 45 w 201"/>
              <a:gd name="T15" fmla="*/ 409 h 487"/>
              <a:gd name="T16" fmla="*/ 71 w 201"/>
              <a:gd name="T17" fmla="*/ 409 h 487"/>
              <a:gd name="T18" fmla="*/ 45 w 201"/>
              <a:gd name="T19" fmla="*/ 331 h 487"/>
              <a:gd name="T20" fmla="*/ 71 w 201"/>
              <a:gd name="T21" fmla="*/ 314 h 487"/>
              <a:gd name="T22" fmla="*/ 71 w 201"/>
              <a:gd name="T23" fmla="*/ 283 h 487"/>
              <a:gd name="T24" fmla="*/ 45 w 201"/>
              <a:gd name="T25" fmla="*/ 267 h 487"/>
              <a:gd name="T26" fmla="*/ 71 w 201"/>
              <a:gd name="T27" fmla="*/ 267 h 487"/>
              <a:gd name="T28" fmla="*/ 45 w 201"/>
              <a:gd name="T29" fmla="*/ 189 h 487"/>
              <a:gd name="T30" fmla="*/ 71 w 201"/>
              <a:gd name="T31" fmla="*/ 170 h 487"/>
              <a:gd name="T32" fmla="*/ 71 w 201"/>
              <a:gd name="T33" fmla="*/ 142 h 487"/>
              <a:gd name="T34" fmla="*/ 45 w 201"/>
              <a:gd name="T35" fmla="*/ 123 h 487"/>
              <a:gd name="T36" fmla="*/ 71 w 201"/>
              <a:gd name="T37" fmla="*/ 123 h 487"/>
              <a:gd name="T38" fmla="*/ 45 w 201"/>
              <a:gd name="T39" fmla="*/ 45 h 487"/>
              <a:gd name="T40" fmla="*/ 113 w 201"/>
              <a:gd name="T41" fmla="*/ 456 h 487"/>
              <a:gd name="T42" fmla="*/ 113 w 201"/>
              <a:gd name="T43" fmla="*/ 425 h 487"/>
              <a:gd name="T44" fmla="*/ 87 w 201"/>
              <a:gd name="T45" fmla="*/ 409 h 487"/>
              <a:gd name="T46" fmla="*/ 113 w 201"/>
              <a:gd name="T47" fmla="*/ 409 h 487"/>
              <a:gd name="T48" fmla="*/ 87 w 201"/>
              <a:gd name="T49" fmla="*/ 331 h 487"/>
              <a:gd name="T50" fmla="*/ 113 w 201"/>
              <a:gd name="T51" fmla="*/ 314 h 487"/>
              <a:gd name="T52" fmla="*/ 113 w 201"/>
              <a:gd name="T53" fmla="*/ 283 h 487"/>
              <a:gd name="T54" fmla="*/ 87 w 201"/>
              <a:gd name="T55" fmla="*/ 267 h 487"/>
              <a:gd name="T56" fmla="*/ 113 w 201"/>
              <a:gd name="T57" fmla="*/ 267 h 487"/>
              <a:gd name="T58" fmla="*/ 87 w 201"/>
              <a:gd name="T59" fmla="*/ 189 h 487"/>
              <a:gd name="T60" fmla="*/ 113 w 201"/>
              <a:gd name="T61" fmla="*/ 170 h 487"/>
              <a:gd name="T62" fmla="*/ 113 w 201"/>
              <a:gd name="T63" fmla="*/ 142 h 487"/>
              <a:gd name="T64" fmla="*/ 87 w 201"/>
              <a:gd name="T65" fmla="*/ 123 h 487"/>
              <a:gd name="T66" fmla="*/ 113 w 201"/>
              <a:gd name="T67" fmla="*/ 123 h 487"/>
              <a:gd name="T68" fmla="*/ 87 w 201"/>
              <a:gd name="T69" fmla="*/ 45 h 487"/>
              <a:gd name="T70" fmla="*/ 156 w 201"/>
              <a:gd name="T71" fmla="*/ 456 h 487"/>
              <a:gd name="T72" fmla="*/ 156 w 201"/>
              <a:gd name="T73" fmla="*/ 425 h 487"/>
              <a:gd name="T74" fmla="*/ 130 w 201"/>
              <a:gd name="T75" fmla="*/ 409 h 487"/>
              <a:gd name="T76" fmla="*/ 156 w 201"/>
              <a:gd name="T77" fmla="*/ 409 h 487"/>
              <a:gd name="T78" fmla="*/ 130 w 201"/>
              <a:gd name="T79" fmla="*/ 331 h 487"/>
              <a:gd name="T80" fmla="*/ 156 w 201"/>
              <a:gd name="T81" fmla="*/ 314 h 487"/>
              <a:gd name="T82" fmla="*/ 156 w 201"/>
              <a:gd name="T83" fmla="*/ 283 h 487"/>
              <a:gd name="T84" fmla="*/ 130 w 201"/>
              <a:gd name="T85" fmla="*/ 267 h 487"/>
              <a:gd name="T86" fmla="*/ 156 w 201"/>
              <a:gd name="T87" fmla="*/ 267 h 487"/>
              <a:gd name="T88" fmla="*/ 130 w 201"/>
              <a:gd name="T89" fmla="*/ 189 h 487"/>
              <a:gd name="T90" fmla="*/ 156 w 201"/>
              <a:gd name="T91" fmla="*/ 170 h 487"/>
              <a:gd name="T92" fmla="*/ 156 w 201"/>
              <a:gd name="T93" fmla="*/ 142 h 487"/>
              <a:gd name="T94" fmla="*/ 130 w 201"/>
              <a:gd name="T95" fmla="*/ 123 h 487"/>
              <a:gd name="T96" fmla="*/ 156 w 201"/>
              <a:gd name="T97" fmla="*/ 123 h 487"/>
              <a:gd name="T98" fmla="*/ 130 w 201"/>
              <a:gd name="T99" fmla="*/ 4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 h="487">
                <a:moveTo>
                  <a:pt x="182" y="456"/>
                </a:moveTo>
                <a:lnTo>
                  <a:pt x="182" y="28"/>
                </a:lnTo>
                <a:lnTo>
                  <a:pt x="186" y="28"/>
                </a:lnTo>
                <a:lnTo>
                  <a:pt x="186" y="14"/>
                </a:lnTo>
                <a:lnTo>
                  <a:pt x="127" y="14"/>
                </a:lnTo>
                <a:lnTo>
                  <a:pt x="127" y="0"/>
                </a:lnTo>
                <a:lnTo>
                  <a:pt x="40" y="0"/>
                </a:lnTo>
                <a:lnTo>
                  <a:pt x="40" y="14"/>
                </a:lnTo>
                <a:lnTo>
                  <a:pt x="14" y="14"/>
                </a:lnTo>
                <a:lnTo>
                  <a:pt x="14" y="28"/>
                </a:lnTo>
                <a:lnTo>
                  <a:pt x="19" y="28"/>
                </a:lnTo>
                <a:lnTo>
                  <a:pt x="19" y="456"/>
                </a:lnTo>
                <a:lnTo>
                  <a:pt x="0" y="456"/>
                </a:lnTo>
                <a:lnTo>
                  <a:pt x="0" y="487"/>
                </a:lnTo>
                <a:lnTo>
                  <a:pt x="201" y="487"/>
                </a:lnTo>
                <a:lnTo>
                  <a:pt x="201" y="456"/>
                </a:lnTo>
                <a:lnTo>
                  <a:pt x="182" y="456"/>
                </a:lnTo>
                <a:close/>
                <a:moveTo>
                  <a:pt x="71" y="456"/>
                </a:moveTo>
                <a:lnTo>
                  <a:pt x="45" y="456"/>
                </a:lnTo>
                <a:lnTo>
                  <a:pt x="45" y="425"/>
                </a:lnTo>
                <a:lnTo>
                  <a:pt x="71" y="425"/>
                </a:lnTo>
                <a:lnTo>
                  <a:pt x="71" y="456"/>
                </a:lnTo>
                <a:close/>
                <a:moveTo>
                  <a:pt x="71" y="409"/>
                </a:moveTo>
                <a:lnTo>
                  <a:pt x="45" y="409"/>
                </a:lnTo>
                <a:lnTo>
                  <a:pt x="45" y="378"/>
                </a:lnTo>
                <a:lnTo>
                  <a:pt x="71" y="378"/>
                </a:lnTo>
                <a:lnTo>
                  <a:pt x="71" y="409"/>
                </a:lnTo>
                <a:close/>
                <a:moveTo>
                  <a:pt x="71" y="361"/>
                </a:moveTo>
                <a:lnTo>
                  <a:pt x="45" y="361"/>
                </a:lnTo>
                <a:lnTo>
                  <a:pt x="45" y="331"/>
                </a:lnTo>
                <a:lnTo>
                  <a:pt x="71" y="331"/>
                </a:lnTo>
                <a:lnTo>
                  <a:pt x="71" y="361"/>
                </a:lnTo>
                <a:close/>
                <a:moveTo>
                  <a:pt x="71" y="314"/>
                </a:moveTo>
                <a:lnTo>
                  <a:pt x="45" y="314"/>
                </a:lnTo>
                <a:lnTo>
                  <a:pt x="45" y="283"/>
                </a:lnTo>
                <a:lnTo>
                  <a:pt x="71" y="283"/>
                </a:lnTo>
                <a:lnTo>
                  <a:pt x="71" y="314"/>
                </a:lnTo>
                <a:close/>
                <a:moveTo>
                  <a:pt x="71" y="267"/>
                </a:moveTo>
                <a:lnTo>
                  <a:pt x="45" y="267"/>
                </a:lnTo>
                <a:lnTo>
                  <a:pt x="45" y="236"/>
                </a:lnTo>
                <a:lnTo>
                  <a:pt x="71" y="236"/>
                </a:lnTo>
                <a:lnTo>
                  <a:pt x="71" y="267"/>
                </a:lnTo>
                <a:close/>
                <a:moveTo>
                  <a:pt x="71" y="220"/>
                </a:moveTo>
                <a:lnTo>
                  <a:pt x="45" y="220"/>
                </a:lnTo>
                <a:lnTo>
                  <a:pt x="45" y="189"/>
                </a:lnTo>
                <a:lnTo>
                  <a:pt x="71" y="189"/>
                </a:lnTo>
                <a:lnTo>
                  <a:pt x="71" y="220"/>
                </a:lnTo>
                <a:close/>
                <a:moveTo>
                  <a:pt x="71" y="170"/>
                </a:moveTo>
                <a:lnTo>
                  <a:pt x="45" y="170"/>
                </a:lnTo>
                <a:lnTo>
                  <a:pt x="45" y="142"/>
                </a:lnTo>
                <a:lnTo>
                  <a:pt x="71" y="142"/>
                </a:lnTo>
                <a:lnTo>
                  <a:pt x="71" y="170"/>
                </a:lnTo>
                <a:close/>
                <a:moveTo>
                  <a:pt x="71" y="123"/>
                </a:moveTo>
                <a:lnTo>
                  <a:pt x="45" y="123"/>
                </a:lnTo>
                <a:lnTo>
                  <a:pt x="45" y="92"/>
                </a:lnTo>
                <a:lnTo>
                  <a:pt x="71" y="92"/>
                </a:lnTo>
                <a:lnTo>
                  <a:pt x="71" y="123"/>
                </a:lnTo>
                <a:close/>
                <a:moveTo>
                  <a:pt x="71" y="76"/>
                </a:moveTo>
                <a:lnTo>
                  <a:pt x="45" y="76"/>
                </a:lnTo>
                <a:lnTo>
                  <a:pt x="45" y="45"/>
                </a:lnTo>
                <a:lnTo>
                  <a:pt x="71" y="45"/>
                </a:lnTo>
                <a:lnTo>
                  <a:pt x="71" y="76"/>
                </a:lnTo>
                <a:close/>
                <a:moveTo>
                  <a:pt x="113" y="456"/>
                </a:moveTo>
                <a:lnTo>
                  <a:pt x="87" y="456"/>
                </a:lnTo>
                <a:lnTo>
                  <a:pt x="87" y="425"/>
                </a:lnTo>
                <a:lnTo>
                  <a:pt x="113" y="425"/>
                </a:lnTo>
                <a:lnTo>
                  <a:pt x="113" y="456"/>
                </a:lnTo>
                <a:close/>
                <a:moveTo>
                  <a:pt x="113" y="409"/>
                </a:moveTo>
                <a:lnTo>
                  <a:pt x="87" y="409"/>
                </a:lnTo>
                <a:lnTo>
                  <a:pt x="87" y="378"/>
                </a:lnTo>
                <a:lnTo>
                  <a:pt x="113" y="378"/>
                </a:lnTo>
                <a:lnTo>
                  <a:pt x="113" y="409"/>
                </a:lnTo>
                <a:close/>
                <a:moveTo>
                  <a:pt x="113" y="361"/>
                </a:moveTo>
                <a:lnTo>
                  <a:pt x="87" y="361"/>
                </a:lnTo>
                <a:lnTo>
                  <a:pt x="87" y="331"/>
                </a:lnTo>
                <a:lnTo>
                  <a:pt x="113" y="331"/>
                </a:lnTo>
                <a:lnTo>
                  <a:pt x="113" y="361"/>
                </a:lnTo>
                <a:close/>
                <a:moveTo>
                  <a:pt x="113" y="314"/>
                </a:moveTo>
                <a:lnTo>
                  <a:pt x="87" y="314"/>
                </a:lnTo>
                <a:lnTo>
                  <a:pt x="87" y="283"/>
                </a:lnTo>
                <a:lnTo>
                  <a:pt x="113" y="283"/>
                </a:lnTo>
                <a:lnTo>
                  <a:pt x="113" y="314"/>
                </a:lnTo>
                <a:close/>
                <a:moveTo>
                  <a:pt x="113" y="267"/>
                </a:moveTo>
                <a:lnTo>
                  <a:pt x="87" y="267"/>
                </a:lnTo>
                <a:lnTo>
                  <a:pt x="87" y="236"/>
                </a:lnTo>
                <a:lnTo>
                  <a:pt x="113" y="236"/>
                </a:lnTo>
                <a:lnTo>
                  <a:pt x="113" y="267"/>
                </a:lnTo>
                <a:close/>
                <a:moveTo>
                  <a:pt x="113" y="220"/>
                </a:moveTo>
                <a:lnTo>
                  <a:pt x="87" y="220"/>
                </a:lnTo>
                <a:lnTo>
                  <a:pt x="87" y="189"/>
                </a:lnTo>
                <a:lnTo>
                  <a:pt x="113" y="189"/>
                </a:lnTo>
                <a:lnTo>
                  <a:pt x="113" y="220"/>
                </a:lnTo>
                <a:close/>
                <a:moveTo>
                  <a:pt x="113" y="170"/>
                </a:moveTo>
                <a:lnTo>
                  <a:pt x="87" y="170"/>
                </a:lnTo>
                <a:lnTo>
                  <a:pt x="87" y="142"/>
                </a:lnTo>
                <a:lnTo>
                  <a:pt x="113" y="142"/>
                </a:lnTo>
                <a:lnTo>
                  <a:pt x="113" y="170"/>
                </a:lnTo>
                <a:close/>
                <a:moveTo>
                  <a:pt x="113" y="123"/>
                </a:moveTo>
                <a:lnTo>
                  <a:pt x="87" y="123"/>
                </a:lnTo>
                <a:lnTo>
                  <a:pt x="87" y="92"/>
                </a:lnTo>
                <a:lnTo>
                  <a:pt x="113" y="92"/>
                </a:lnTo>
                <a:lnTo>
                  <a:pt x="113" y="123"/>
                </a:lnTo>
                <a:close/>
                <a:moveTo>
                  <a:pt x="113" y="76"/>
                </a:moveTo>
                <a:lnTo>
                  <a:pt x="87" y="76"/>
                </a:lnTo>
                <a:lnTo>
                  <a:pt x="87" y="45"/>
                </a:lnTo>
                <a:lnTo>
                  <a:pt x="113" y="45"/>
                </a:lnTo>
                <a:lnTo>
                  <a:pt x="113" y="76"/>
                </a:lnTo>
                <a:close/>
                <a:moveTo>
                  <a:pt x="156" y="456"/>
                </a:moveTo>
                <a:lnTo>
                  <a:pt x="130" y="456"/>
                </a:lnTo>
                <a:lnTo>
                  <a:pt x="130" y="425"/>
                </a:lnTo>
                <a:lnTo>
                  <a:pt x="156" y="425"/>
                </a:lnTo>
                <a:lnTo>
                  <a:pt x="156" y="456"/>
                </a:lnTo>
                <a:close/>
                <a:moveTo>
                  <a:pt x="156" y="409"/>
                </a:moveTo>
                <a:lnTo>
                  <a:pt x="130" y="409"/>
                </a:lnTo>
                <a:lnTo>
                  <a:pt x="130" y="378"/>
                </a:lnTo>
                <a:lnTo>
                  <a:pt x="156" y="378"/>
                </a:lnTo>
                <a:lnTo>
                  <a:pt x="156" y="409"/>
                </a:lnTo>
                <a:close/>
                <a:moveTo>
                  <a:pt x="156" y="361"/>
                </a:moveTo>
                <a:lnTo>
                  <a:pt x="130" y="361"/>
                </a:lnTo>
                <a:lnTo>
                  <a:pt x="130" y="331"/>
                </a:lnTo>
                <a:lnTo>
                  <a:pt x="156" y="331"/>
                </a:lnTo>
                <a:lnTo>
                  <a:pt x="156" y="361"/>
                </a:lnTo>
                <a:close/>
                <a:moveTo>
                  <a:pt x="156" y="314"/>
                </a:moveTo>
                <a:lnTo>
                  <a:pt x="130" y="314"/>
                </a:lnTo>
                <a:lnTo>
                  <a:pt x="130" y="283"/>
                </a:lnTo>
                <a:lnTo>
                  <a:pt x="156" y="283"/>
                </a:lnTo>
                <a:lnTo>
                  <a:pt x="156" y="314"/>
                </a:lnTo>
                <a:close/>
                <a:moveTo>
                  <a:pt x="156" y="267"/>
                </a:moveTo>
                <a:lnTo>
                  <a:pt x="130" y="267"/>
                </a:lnTo>
                <a:lnTo>
                  <a:pt x="130" y="236"/>
                </a:lnTo>
                <a:lnTo>
                  <a:pt x="156" y="236"/>
                </a:lnTo>
                <a:lnTo>
                  <a:pt x="156" y="267"/>
                </a:lnTo>
                <a:close/>
                <a:moveTo>
                  <a:pt x="156" y="220"/>
                </a:moveTo>
                <a:lnTo>
                  <a:pt x="130" y="220"/>
                </a:lnTo>
                <a:lnTo>
                  <a:pt x="130" y="189"/>
                </a:lnTo>
                <a:lnTo>
                  <a:pt x="156" y="189"/>
                </a:lnTo>
                <a:lnTo>
                  <a:pt x="156" y="220"/>
                </a:lnTo>
                <a:close/>
                <a:moveTo>
                  <a:pt x="156" y="170"/>
                </a:moveTo>
                <a:lnTo>
                  <a:pt x="130" y="170"/>
                </a:lnTo>
                <a:lnTo>
                  <a:pt x="130" y="142"/>
                </a:lnTo>
                <a:lnTo>
                  <a:pt x="156" y="142"/>
                </a:lnTo>
                <a:lnTo>
                  <a:pt x="156" y="170"/>
                </a:lnTo>
                <a:close/>
                <a:moveTo>
                  <a:pt x="156" y="123"/>
                </a:moveTo>
                <a:lnTo>
                  <a:pt x="130" y="123"/>
                </a:lnTo>
                <a:lnTo>
                  <a:pt x="130" y="92"/>
                </a:lnTo>
                <a:lnTo>
                  <a:pt x="156" y="92"/>
                </a:lnTo>
                <a:lnTo>
                  <a:pt x="156" y="123"/>
                </a:lnTo>
                <a:close/>
                <a:moveTo>
                  <a:pt x="156" y="76"/>
                </a:moveTo>
                <a:lnTo>
                  <a:pt x="130" y="76"/>
                </a:lnTo>
                <a:lnTo>
                  <a:pt x="130" y="45"/>
                </a:lnTo>
                <a:lnTo>
                  <a:pt x="156" y="45"/>
                </a:lnTo>
                <a:lnTo>
                  <a:pt x="156" y="76"/>
                </a:lnTo>
                <a:close/>
              </a:path>
            </a:pathLst>
          </a:custGeom>
          <a:solidFill>
            <a:schemeClr val="bg1"/>
          </a:solidFill>
          <a:ln>
            <a:noFill/>
          </a:ln>
        </p:spPr>
        <p:txBody>
          <a:bodyPr vert="horz" wrap="square" lIns="100838" tIns="50419" rIns="100838" bIns="50419" numCol="1" anchor="t" anchorCtr="0" compatLnSpc="1">
            <a:prstTxWarp prst="textNoShape">
              <a:avLst/>
            </a:prstTxWarp>
          </a:bodyPr>
          <a:lstStyle/>
          <a:p>
            <a:endParaRPr lang="en-US" sz="2647" dirty="0">
              <a:solidFill>
                <a:schemeClr val="bg1"/>
              </a:solidFill>
              <a:latin typeface="Calibri"/>
              <a:sym typeface="Calibri"/>
            </a:endParaRPr>
          </a:p>
        </p:txBody>
      </p:sp>
      <p:sp>
        <p:nvSpPr>
          <p:cNvPr id="166" name="Freeform 558"/>
          <p:cNvSpPr>
            <a:spLocks noEditPoints="1"/>
          </p:cNvSpPr>
          <p:nvPr/>
        </p:nvSpPr>
        <p:spPr bwMode="auto">
          <a:xfrm>
            <a:off x="5668545" y="2589875"/>
            <a:ext cx="337006" cy="255208"/>
          </a:xfrm>
          <a:custGeom>
            <a:avLst/>
            <a:gdLst>
              <a:gd name="T0" fmla="*/ 288 w 309"/>
              <a:gd name="T1" fmla="*/ 164 h 235"/>
              <a:gd name="T2" fmla="*/ 288 w 309"/>
              <a:gd name="T3" fmla="*/ 107 h 235"/>
              <a:gd name="T4" fmla="*/ 266 w 309"/>
              <a:gd name="T5" fmla="*/ 86 h 235"/>
              <a:gd name="T6" fmla="*/ 245 w 309"/>
              <a:gd name="T7" fmla="*/ 86 h 235"/>
              <a:gd name="T8" fmla="*/ 245 w 309"/>
              <a:gd name="T9" fmla="*/ 32 h 235"/>
              <a:gd name="T10" fmla="*/ 224 w 309"/>
              <a:gd name="T11" fmla="*/ 11 h 235"/>
              <a:gd name="T12" fmla="*/ 213 w 309"/>
              <a:gd name="T13" fmla="*/ 22 h 235"/>
              <a:gd name="T14" fmla="*/ 224 w 309"/>
              <a:gd name="T15" fmla="*/ 32 h 235"/>
              <a:gd name="T16" fmla="*/ 224 w 309"/>
              <a:gd name="T17" fmla="*/ 86 h 235"/>
              <a:gd name="T18" fmla="*/ 168 w 309"/>
              <a:gd name="T19" fmla="*/ 86 h 235"/>
              <a:gd name="T20" fmla="*/ 149 w 309"/>
              <a:gd name="T21" fmla="*/ 20 h 235"/>
              <a:gd name="T22" fmla="*/ 128 w 309"/>
              <a:gd name="T23" fmla="*/ 0 h 235"/>
              <a:gd name="T24" fmla="*/ 64 w 309"/>
              <a:gd name="T25" fmla="*/ 0 h 235"/>
              <a:gd name="T26" fmla="*/ 53 w 309"/>
              <a:gd name="T27" fmla="*/ 10 h 235"/>
              <a:gd name="T28" fmla="*/ 43 w 309"/>
              <a:gd name="T29" fmla="*/ 93 h 235"/>
              <a:gd name="T30" fmla="*/ 0 w 309"/>
              <a:gd name="T31" fmla="*/ 160 h 235"/>
              <a:gd name="T32" fmla="*/ 74 w 309"/>
              <a:gd name="T33" fmla="*/ 235 h 235"/>
              <a:gd name="T34" fmla="*/ 127 w 309"/>
              <a:gd name="T35" fmla="*/ 213 h 235"/>
              <a:gd name="T36" fmla="*/ 128 w 309"/>
              <a:gd name="T37" fmla="*/ 214 h 235"/>
              <a:gd name="T38" fmla="*/ 238 w 309"/>
              <a:gd name="T39" fmla="*/ 214 h 235"/>
              <a:gd name="T40" fmla="*/ 272 w 309"/>
              <a:gd name="T41" fmla="*/ 235 h 235"/>
              <a:gd name="T42" fmla="*/ 309 w 309"/>
              <a:gd name="T43" fmla="*/ 198 h 235"/>
              <a:gd name="T44" fmla="*/ 288 w 309"/>
              <a:gd name="T45" fmla="*/ 164 h 235"/>
              <a:gd name="T46" fmla="*/ 266 w 309"/>
              <a:gd name="T47" fmla="*/ 161 h 235"/>
              <a:gd name="T48" fmla="*/ 235 w 309"/>
              <a:gd name="T49" fmla="*/ 192 h 235"/>
              <a:gd name="T50" fmla="*/ 142 w 309"/>
              <a:gd name="T51" fmla="*/ 192 h 235"/>
              <a:gd name="T52" fmla="*/ 149 w 309"/>
              <a:gd name="T53" fmla="*/ 160 h 235"/>
              <a:gd name="T54" fmla="*/ 126 w 309"/>
              <a:gd name="T55" fmla="*/ 107 h 235"/>
              <a:gd name="T56" fmla="*/ 266 w 309"/>
              <a:gd name="T57" fmla="*/ 107 h 235"/>
              <a:gd name="T58" fmla="*/ 266 w 309"/>
              <a:gd name="T59" fmla="*/ 161 h 235"/>
              <a:gd name="T60" fmla="*/ 73 w 309"/>
              <a:gd name="T61" fmla="*/ 22 h 235"/>
              <a:gd name="T62" fmla="*/ 128 w 309"/>
              <a:gd name="T63" fmla="*/ 22 h 235"/>
              <a:gd name="T64" fmla="*/ 128 w 309"/>
              <a:gd name="T65" fmla="*/ 25 h 235"/>
              <a:gd name="T66" fmla="*/ 146 w 309"/>
              <a:gd name="T67" fmla="*/ 86 h 235"/>
              <a:gd name="T68" fmla="*/ 85 w 309"/>
              <a:gd name="T69" fmla="*/ 86 h 235"/>
              <a:gd name="T70" fmla="*/ 83 w 309"/>
              <a:gd name="T71" fmla="*/ 86 h 235"/>
              <a:gd name="T72" fmla="*/ 74 w 309"/>
              <a:gd name="T73" fmla="*/ 86 h 235"/>
              <a:gd name="T74" fmla="*/ 65 w 309"/>
              <a:gd name="T75" fmla="*/ 86 h 235"/>
              <a:gd name="T76" fmla="*/ 73 w 309"/>
              <a:gd name="T77" fmla="*/ 22 h 235"/>
              <a:gd name="T78" fmla="*/ 74 w 309"/>
              <a:gd name="T79" fmla="*/ 214 h 235"/>
              <a:gd name="T80" fmla="*/ 21 w 309"/>
              <a:gd name="T81" fmla="*/ 160 h 235"/>
              <a:gd name="T82" fmla="*/ 74 w 309"/>
              <a:gd name="T83" fmla="*/ 107 h 235"/>
              <a:gd name="T84" fmla="*/ 128 w 309"/>
              <a:gd name="T85" fmla="*/ 160 h 235"/>
              <a:gd name="T86" fmla="*/ 74 w 309"/>
              <a:gd name="T87" fmla="*/ 214 h 235"/>
              <a:gd name="T88" fmla="*/ 272 w 309"/>
              <a:gd name="T89" fmla="*/ 214 h 235"/>
              <a:gd name="T90" fmla="*/ 256 w 309"/>
              <a:gd name="T91" fmla="*/ 198 h 235"/>
              <a:gd name="T92" fmla="*/ 272 w 309"/>
              <a:gd name="T93" fmla="*/ 182 h 235"/>
              <a:gd name="T94" fmla="*/ 288 w 309"/>
              <a:gd name="T95" fmla="*/ 198 h 235"/>
              <a:gd name="T96" fmla="*/ 272 w 309"/>
              <a:gd name="T97" fmla="*/ 214 h 235"/>
              <a:gd name="T98" fmla="*/ 234 w 309"/>
              <a:gd name="T99" fmla="*/ 128 h 235"/>
              <a:gd name="T100" fmla="*/ 245 w 309"/>
              <a:gd name="T101" fmla="*/ 139 h 235"/>
              <a:gd name="T102" fmla="*/ 234 w 309"/>
              <a:gd name="T103" fmla="*/ 150 h 235"/>
              <a:gd name="T104" fmla="*/ 213 w 309"/>
              <a:gd name="T105" fmla="*/ 150 h 235"/>
              <a:gd name="T106" fmla="*/ 202 w 309"/>
              <a:gd name="T107" fmla="*/ 139 h 235"/>
              <a:gd name="T108" fmla="*/ 213 w 309"/>
              <a:gd name="T109" fmla="*/ 128 h 235"/>
              <a:gd name="T110" fmla="*/ 234 w 309"/>
              <a:gd name="T111" fmla="*/ 12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9" h="235">
                <a:moveTo>
                  <a:pt x="288" y="164"/>
                </a:moveTo>
                <a:cubicBezTo>
                  <a:pt x="288" y="107"/>
                  <a:pt x="288" y="107"/>
                  <a:pt x="288" y="107"/>
                </a:cubicBezTo>
                <a:cubicBezTo>
                  <a:pt x="288" y="95"/>
                  <a:pt x="278" y="86"/>
                  <a:pt x="266" y="86"/>
                </a:cubicBezTo>
                <a:cubicBezTo>
                  <a:pt x="245" y="86"/>
                  <a:pt x="245" y="86"/>
                  <a:pt x="245" y="86"/>
                </a:cubicBezTo>
                <a:cubicBezTo>
                  <a:pt x="245" y="32"/>
                  <a:pt x="245" y="32"/>
                  <a:pt x="245" y="32"/>
                </a:cubicBezTo>
                <a:cubicBezTo>
                  <a:pt x="245" y="21"/>
                  <a:pt x="235" y="11"/>
                  <a:pt x="224" y="11"/>
                </a:cubicBezTo>
                <a:cubicBezTo>
                  <a:pt x="218" y="11"/>
                  <a:pt x="213" y="16"/>
                  <a:pt x="213" y="22"/>
                </a:cubicBezTo>
                <a:cubicBezTo>
                  <a:pt x="213" y="28"/>
                  <a:pt x="218" y="32"/>
                  <a:pt x="224" y="32"/>
                </a:cubicBezTo>
                <a:cubicBezTo>
                  <a:pt x="224" y="86"/>
                  <a:pt x="224" y="86"/>
                  <a:pt x="224" y="86"/>
                </a:cubicBezTo>
                <a:cubicBezTo>
                  <a:pt x="168" y="86"/>
                  <a:pt x="168" y="86"/>
                  <a:pt x="168" y="86"/>
                </a:cubicBezTo>
                <a:cubicBezTo>
                  <a:pt x="149" y="20"/>
                  <a:pt x="149" y="20"/>
                  <a:pt x="149" y="20"/>
                </a:cubicBezTo>
                <a:cubicBezTo>
                  <a:pt x="148" y="9"/>
                  <a:pt x="139" y="0"/>
                  <a:pt x="128" y="0"/>
                </a:cubicBezTo>
                <a:cubicBezTo>
                  <a:pt x="64" y="0"/>
                  <a:pt x="64" y="0"/>
                  <a:pt x="64" y="0"/>
                </a:cubicBezTo>
                <a:cubicBezTo>
                  <a:pt x="58" y="0"/>
                  <a:pt x="54" y="4"/>
                  <a:pt x="53" y="10"/>
                </a:cubicBezTo>
                <a:cubicBezTo>
                  <a:pt x="43" y="93"/>
                  <a:pt x="43" y="93"/>
                  <a:pt x="43" y="93"/>
                </a:cubicBezTo>
                <a:cubicBezTo>
                  <a:pt x="17" y="105"/>
                  <a:pt x="0" y="130"/>
                  <a:pt x="0" y="160"/>
                </a:cubicBezTo>
                <a:cubicBezTo>
                  <a:pt x="0" y="202"/>
                  <a:pt x="33" y="235"/>
                  <a:pt x="74" y="235"/>
                </a:cubicBezTo>
                <a:cubicBezTo>
                  <a:pt x="95" y="235"/>
                  <a:pt x="113" y="227"/>
                  <a:pt x="127" y="213"/>
                </a:cubicBezTo>
                <a:cubicBezTo>
                  <a:pt x="127" y="214"/>
                  <a:pt x="127" y="214"/>
                  <a:pt x="128" y="214"/>
                </a:cubicBezTo>
                <a:cubicBezTo>
                  <a:pt x="238" y="214"/>
                  <a:pt x="238" y="214"/>
                  <a:pt x="238" y="214"/>
                </a:cubicBezTo>
                <a:cubicBezTo>
                  <a:pt x="244" y="226"/>
                  <a:pt x="257" y="235"/>
                  <a:pt x="272" y="235"/>
                </a:cubicBezTo>
                <a:cubicBezTo>
                  <a:pt x="292" y="235"/>
                  <a:pt x="309" y="218"/>
                  <a:pt x="309" y="198"/>
                </a:cubicBezTo>
                <a:cubicBezTo>
                  <a:pt x="309" y="183"/>
                  <a:pt x="300" y="170"/>
                  <a:pt x="288" y="164"/>
                </a:cubicBezTo>
                <a:close/>
                <a:moveTo>
                  <a:pt x="266" y="161"/>
                </a:moveTo>
                <a:cubicBezTo>
                  <a:pt x="250" y="163"/>
                  <a:pt x="237" y="176"/>
                  <a:pt x="235" y="192"/>
                </a:cubicBezTo>
                <a:cubicBezTo>
                  <a:pt x="142" y="192"/>
                  <a:pt x="142" y="192"/>
                  <a:pt x="142" y="192"/>
                </a:cubicBezTo>
                <a:cubicBezTo>
                  <a:pt x="146" y="183"/>
                  <a:pt x="149" y="172"/>
                  <a:pt x="149" y="160"/>
                </a:cubicBezTo>
                <a:cubicBezTo>
                  <a:pt x="149" y="139"/>
                  <a:pt x="140" y="121"/>
                  <a:pt x="126" y="107"/>
                </a:cubicBezTo>
                <a:cubicBezTo>
                  <a:pt x="266" y="107"/>
                  <a:pt x="266" y="107"/>
                  <a:pt x="266" y="107"/>
                </a:cubicBezTo>
                <a:lnTo>
                  <a:pt x="266" y="161"/>
                </a:lnTo>
                <a:close/>
                <a:moveTo>
                  <a:pt x="73" y="22"/>
                </a:moveTo>
                <a:cubicBezTo>
                  <a:pt x="128" y="22"/>
                  <a:pt x="128" y="22"/>
                  <a:pt x="128" y="22"/>
                </a:cubicBezTo>
                <a:cubicBezTo>
                  <a:pt x="128" y="23"/>
                  <a:pt x="128" y="24"/>
                  <a:pt x="128" y="25"/>
                </a:cubicBezTo>
                <a:cubicBezTo>
                  <a:pt x="146" y="86"/>
                  <a:pt x="146" y="86"/>
                  <a:pt x="146" y="86"/>
                </a:cubicBezTo>
                <a:cubicBezTo>
                  <a:pt x="85" y="86"/>
                  <a:pt x="85" y="86"/>
                  <a:pt x="85" y="86"/>
                </a:cubicBezTo>
                <a:cubicBezTo>
                  <a:pt x="84" y="86"/>
                  <a:pt x="83" y="86"/>
                  <a:pt x="83" y="86"/>
                </a:cubicBezTo>
                <a:cubicBezTo>
                  <a:pt x="80" y="86"/>
                  <a:pt x="77" y="86"/>
                  <a:pt x="74" y="86"/>
                </a:cubicBezTo>
                <a:cubicBezTo>
                  <a:pt x="71" y="86"/>
                  <a:pt x="68" y="86"/>
                  <a:pt x="65" y="86"/>
                </a:cubicBezTo>
                <a:lnTo>
                  <a:pt x="73" y="22"/>
                </a:lnTo>
                <a:close/>
                <a:moveTo>
                  <a:pt x="74" y="214"/>
                </a:moveTo>
                <a:cubicBezTo>
                  <a:pt x="45" y="214"/>
                  <a:pt x="21" y="190"/>
                  <a:pt x="21" y="160"/>
                </a:cubicBezTo>
                <a:cubicBezTo>
                  <a:pt x="21" y="131"/>
                  <a:pt x="45" y="107"/>
                  <a:pt x="74" y="107"/>
                </a:cubicBezTo>
                <a:cubicBezTo>
                  <a:pt x="104" y="107"/>
                  <a:pt x="128" y="131"/>
                  <a:pt x="128" y="160"/>
                </a:cubicBezTo>
                <a:cubicBezTo>
                  <a:pt x="128" y="190"/>
                  <a:pt x="104" y="214"/>
                  <a:pt x="74" y="214"/>
                </a:cubicBezTo>
                <a:close/>
                <a:moveTo>
                  <a:pt x="272" y="214"/>
                </a:moveTo>
                <a:cubicBezTo>
                  <a:pt x="263" y="214"/>
                  <a:pt x="256" y="206"/>
                  <a:pt x="256" y="198"/>
                </a:cubicBezTo>
                <a:cubicBezTo>
                  <a:pt x="256" y="189"/>
                  <a:pt x="263" y="182"/>
                  <a:pt x="272" y="182"/>
                </a:cubicBezTo>
                <a:cubicBezTo>
                  <a:pt x="280" y="182"/>
                  <a:pt x="288" y="189"/>
                  <a:pt x="288" y="198"/>
                </a:cubicBezTo>
                <a:cubicBezTo>
                  <a:pt x="288" y="206"/>
                  <a:pt x="280" y="214"/>
                  <a:pt x="272" y="214"/>
                </a:cubicBezTo>
                <a:close/>
                <a:moveTo>
                  <a:pt x="234" y="128"/>
                </a:moveTo>
                <a:cubicBezTo>
                  <a:pt x="240" y="128"/>
                  <a:pt x="245" y="133"/>
                  <a:pt x="245" y="139"/>
                </a:cubicBezTo>
                <a:cubicBezTo>
                  <a:pt x="245" y="145"/>
                  <a:pt x="240" y="150"/>
                  <a:pt x="234" y="150"/>
                </a:cubicBezTo>
                <a:cubicBezTo>
                  <a:pt x="213" y="150"/>
                  <a:pt x="213" y="150"/>
                  <a:pt x="213" y="150"/>
                </a:cubicBezTo>
                <a:cubicBezTo>
                  <a:pt x="207" y="150"/>
                  <a:pt x="202" y="145"/>
                  <a:pt x="202" y="139"/>
                </a:cubicBezTo>
                <a:cubicBezTo>
                  <a:pt x="202" y="133"/>
                  <a:pt x="207" y="128"/>
                  <a:pt x="213" y="128"/>
                </a:cubicBezTo>
                <a:lnTo>
                  <a:pt x="234" y="128"/>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nvGrpSpPr>
          <p:cNvPr id="167" name="Group 166"/>
          <p:cNvGrpSpPr/>
          <p:nvPr/>
        </p:nvGrpSpPr>
        <p:grpSpPr>
          <a:xfrm>
            <a:off x="5926550" y="2244606"/>
            <a:ext cx="240807" cy="284002"/>
            <a:chOff x="1856096" y="2413358"/>
            <a:chExt cx="218364" cy="257533"/>
          </a:xfrm>
          <a:solidFill>
            <a:schemeClr val="bg1"/>
          </a:solidFill>
        </p:grpSpPr>
        <p:sp>
          <p:nvSpPr>
            <p:cNvPr id="168" name="Trapezoid 167"/>
            <p:cNvSpPr/>
            <p:nvPr/>
          </p:nvSpPr>
          <p:spPr bwMode="gray">
            <a:xfrm>
              <a:off x="1856096" y="2413358"/>
              <a:ext cx="218364" cy="257533"/>
            </a:xfrm>
            <a:prstGeom prst="trapezoid">
              <a:avLst/>
            </a:prstGeom>
            <a:grp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cxnSp>
          <p:nvCxnSpPr>
            <p:cNvPr id="169" name="Straight Connector 168"/>
            <p:cNvCxnSpPr/>
            <p:nvPr/>
          </p:nvCxnSpPr>
          <p:spPr>
            <a:xfrm>
              <a:off x="1970217" y="2413358"/>
              <a:ext cx="0" cy="257533"/>
            </a:xfrm>
            <a:prstGeom prst="line">
              <a:avLst/>
            </a:prstGeom>
            <a:grpFill/>
            <a:ln w="28575">
              <a:solidFill>
                <a:schemeClr val="accent6"/>
              </a:solidFill>
              <a:prstDash val="sysDash"/>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p:nvGrpSpPr>
        <p:grpSpPr>
          <a:xfrm>
            <a:off x="6085014" y="2517360"/>
            <a:ext cx="355343" cy="310087"/>
            <a:chOff x="4792591" y="5144110"/>
            <a:chExt cx="823039" cy="718219"/>
          </a:xfrm>
          <a:solidFill>
            <a:schemeClr val="bg1"/>
          </a:solidFill>
        </p:grpSpPr>
        <p:sp>
          <p:nvSpPr>
            <p:cNvPr id="171" name="Freeform 579"/>
            <p:cNvSpPr>
              <a:spLocks noEditPoints="1"/>
            </p:cNvSpPr>
            <p:nvPr/>
          </p:nvSpPr>
          <p:spPr bwMode="auto">
            <a:xfrm>
              <a:off x="4792591" y="5369282"/>
              <a:ext cx="823039" cy="493047"/>
            </a:xfrm>
            <a:custGeom>
              <a:avLst/>
              <a:gdLst>
                <a:gd name="T0" fmla="*/ 287 w 320"/>
                <a:gd name="T1" fmla="*/ 9 h 192"/>
                <a:gd name="T2" fmla="*/ 277 w 320"/>
                <a:gd name="T3" fmla="*/ 0 h 192"/>
                <a:gd name="T4" fmla="*/ 213 w 320"/>
                <a:gd name="T5" fmla="*/ 0 h 192"/>
                <a:gd name="T6" fmla="*/ 202 w 320"/>
                <a:gd name="T7" fmla="*/ 9 h 192"/>
                <a:gd name="T8" fmla="*/ 190 w 320"/>
                <a:gd name="T9" fmla="*/ 107 h 192"/>
                <a:gd name="T10" fmla="*/ 112 w 320"/>
                <a:gd name="T11" fmla="*/ 55 h 192"/>
                <a:gd name="T12" fmla="*/ 101 w 320"/>
                <a:gd name="T13" fmla="*/ 55 h 192"/>
                <a:gd name="T14" fmla="*/ 96 w 320"/>
                <a:gd name="T15" fmla="*/ 64 h 192"/>
                <a:gd name="T16" fmla="*/ 96 w 320"/>
                <a:gd name="T17" fmla="*/ 108 h 192"/>
                <a:gd name="T18" fmla="*/ 16 w 320"/>
                <a:gd name="T19" fmla="*/ 55 h 192"/>
                <a:gd name="T20" fmla="*/ 5 w 320"/>
                <a:gd name="T21" fmla="*/ 55 h 192"/>
                <a:gd name="T22" fmla="*/ 0 w 320"/>
                <a:gd name="T23" fmla="*/ 64 h 192"/>
                <a:gd name="T24" fmla="*/ 0 w 320"/>
                <a:gd name="T25" fmla="*/ 181 h 192"/>
                <a:gd name="T26" fmla="*/ 10 w 320"/>
                <a:gd name="T27" fmla="*/ 192 h 192"/>
                <a:gd name="T28" fmla="*/ 309 w 320"/>
                <a:gd name="T29" fmla="*/ 192 h 192"/>
                <a:gd name="T30" fmla="*/ 317 w 320"/>
                <a:gd name="T31" fmla="*/ 188 h 192"/>
                <a:gd name="T32" fmla="*/ 319 w 320"/>
                <a:gd name="T33" fmla="*/ 179 h 192"/>
                <a:gd name="T34" fmla="*/ 287 w 320"/>
                <a:gd name="T35" fmla="*/ 9 h 192"/>
                <a:gd name="T36" fmla="*/ 187 w 320"/>
                <a:gd name="T37" fmla="*/ 131 h 192"/>
                <a:gd name="T38" fmla="*/ 182 w 320"/>
                <a:gd name="T39" fmla="*/ 171 h 192"/>
                <a:gd name="T40" fmla="*/ 117 w 320"/>
                <a:gd name="T41" fmla="*/ 171 h 192"/>
                <a:gd name="T42" fmla="*/ 117 w 320"/>
                <a:gd name="T43" fmla="*/ 84 h 192"/>
                <a:gd name="T44" fmla="*/ 187 w 320"/>
                <a:gd name="T45" fmla="*/ 131 h 192"/>
                <a:gd name="T46" fmla="*/ 96 w 320"/>
                <a:gd name="T47" fmla="*/ 134 h 192"/>
                <a:gd name="T48" fmla="*/ 96 w 320"/>
                <a:gd name="T49" fmla="*/ 171 h 192"/>
                <a:gd name="T50" fmla="*/ 21 w 320"/>
                <a:gd name="T51" fmla="*/ 171 h 192"/>
                <a:gd name="T52" fmla="*/ 21 w 320"/>
                <a:gd name="T53" fmla="*/ 84 h 192"/>
                <a:gd name="T54" fmla="*/ 96 w 320"/>
                <a:gd name="T55" fmla="*/ 134 h 192"/>
                <a:gd name="T56" fmla="*/ 204 w 320"/>
                <a:gd name="T57" fmla="*/ 171 h 192"/>
                <a:gd name="T58" fmla="*/ 222 w 320"/>
                <a:gd name="T59" fmla="*/ 21 h 192"/>
                <a:gd name="T60" fmla="*/ 268 w 320"/>
                <a:gd name="T61" fmla="*/ 21 h 192"/>
                <a:gd name="T62" fmla="*/ 296 w 320"/>
                <a:gd name="T63" fmla="*/ 171 h 192"/>
                <a:gd name="T64" fmla="*/ 204 w 320"/>
                <a:gd name="T65" fmla="*/ 17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0" h="192">
                  <a:moveTo>
                    <a:pt x="287" y="9"/>
                  </a:moveTo>
                  <a:cubicBezTo>
                    <a:pt x="287" y="4"/>
                    <a:pt x="282" y="0"/>
                    <a:pt x="277" y="0"/>
                  </a:cubicBezTo>
                  <a:cubicBezTo>
                    <a:pt x="213" y="0"/>
                    <a:pt x="213" y="0"/>
                    <a:pt x="213" y="0"/>
                  </a:cubicBezTo>
                  <a:cubicBezTo>
                    <a:pt x="208" y="0"/>
                    <a:pt x="203" y="4"/>
                    <a:pt x="202" y="9"/>
                  </a:cubicBezTo>
                  <a:cubicBezTo>
                    <a:pt x="190" y="107"/>
                    <a:pt x="190" y="107"/>
                    <a:pt x="190" y="107"/>
                  </a:cubicBezTo>
                  <a:cubicBezTo>
                    <a:pt x="112" y="55"/>
                    <a:pt x="112" y="55"/>
                    <a:pt x="112" y="55"/>
                  </a:cubicBezTo>
                  <a:cubicBezTo>
                    <a:pt x="109" y="53"/>
                    <a:pt x="105" y="53"/>
                    <a:pt x="101" y="55"/>
                  </a:cubicBezTo>
                  <a:cubicBezTo>
                    <a:pt x="98" y="56"/>
                    <a:pt x="96" y="60"/>
                    <a:pt x="96" y="64"/>
                  </a:cubicBezTo>
                  <a:cubicBezTo>
                    <a:pt x="96" y="108"/>
                    <a:pt x="96" y="108"/>
                    <a:pt x="96" y="108"/>
                  </a:cubicBezTo>
                  <a:cubicBezTo>
                    <a:pt x="16" y="55"/>
                    <a:pt x="16" y="55"/>
                    <a:pt x="16" y="55"/>
                  </a:cubicBezTo>
                  <a:cubicBezTo>
                    <a:pt x="13" y="53"/>
                    <a:pt x="9" y="53"/>
                    <a:pt x="5" y="55"/>
                  </a:cubicBezTo>
                  <a:cubicBezTo>
                    <a:pt x="2" y="56"/>
                    <a:pt x="0" y="60"/>
                    <a:pt x="0" y="64"/>
                  </a:cubicBezTo>
                  <a:cubicBezTo>
                    <a:pt x="0" y="181"/>
                    <a:pt x="0" y="181"/>
                    <a:pt x="0" y="181"/>
                  </a:cubicBezTo>
                  <a:cubicBezTo>
                    <a:pt x="0" y="187"/>
                    <a:pt x="4" y="192"/>
                    <a:pt x="10" y="192"/>
                  </a:cubicBezTo>
                  <a:cubicBezTo>
                    <a:pt x="309" y="192"/>
                    <a:pt x="309" y="192"/>
                    <a:pt x="309" y="192"/>
                  </a:cubicBezTo>
                  <a:cubicBezTo>
                    <a:pt x="312" y="192"/>
                    <a:pt x="315" y="191"/>
                    <a:pt x="317" y="188"/>
                  </a:cubicBezTo>
                  <a:cubicBezTo>
                    <a:pt x="319" y="186"/>
                    <a:pt x="320" y="182"/>
                    <a:pt x="319" y="179"/>
                  </a:cubicBezTo>
                  <a:lnTo>
                    <a:pt x="287" y="9"/>
                  </a:lnTo>
                  <a:close/>
                  <a:moveTo>
                    <a:pt x="187" y="131"/>
                  </a:moveTo>
                  <a:cubicBezTo>
                    <a:pt x="182" y="171"/>
                    <a:pt x="182" y="171"/>
                    <a:pt x="182" y="171"/>
                  </a:cubicBezTo>
                  <a:cubicBezTo>
                    <a:pt x="117" y="171"/>
                    <a:pt x="117" y="171"/>
                    <a:pt x="117" y="171"/>
                  </a:cubicBezTo>
                  <a:cubicBezTo>
                    <a:pt x="117" y="84"/>
                    <a:pt x="117" y="84"/>
                    <a:pt x="117" y="84"/>
                  </a:cubicBezTo>
                  <a:lnTo>
                    <a:pt x="187" y="131"/>
                  </a:lnTo>
                  <a:close/>
                  <a:moveTo>
                    <a:pt x="96" y="134"/>
                  </a:moveTo>
                  <a:cubicBezTo>
                    <a:pt x="96" y="171"/>
                    <a:pt x="96" y="171"/>
                    <a:pt x="96" y="171"/>
                  </a:cubicBezTo>
                  <a:cubicBezTo>
                    <a:pt x="21" y="171"/>
                    <a:pt x="21" y="171"/>
                    <a:pt x="21" y="171"/>
                  </a:cubicBezTo>
                  <a:cubicBezTo>
                    <a:pt x="21" y="84"/>
                    <a:pt x="21" y="84"/>
                    <a:pt x="21" y="84"/>
                  </a:cubicBezTo>
                  <a:lnTo>
                    <a:pt x="96" y="134"/>
                  </a:lnTo>
                  <a:close/>
                  <a:moveTo>
                    <a:pt x="204" y="171"/>
                  </a:moveTo>
                  <a:cubicBezTo>
                    <a:pt x="222" y="21"/>
                    <a:pt x="222" y="21"/>
                    <a:pt x="222" y="21"/>
                  </a:cubicBezTo>
                  <a:cubicBezTo>
                    <a:pt x="268" y="21"/>
                    <a:pt x="268" y="21"/>
                    <a:pt x="268" y="21"/>
                  </a:cubicBezTo>
                  <a:cubicBezTo>
                    <a:pt x="296" y="171"/>
                    <a:pt x="296" y="171"/>
                    <a:pt x="296" y="171"/>
                  </a:cubicBezTo>
                  <a:lnTo>
                    <a:pt x="204" y="17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72" name="Freeform 580"/>
            <p:cNvSpPr>
              <a:spLocks/>
            </p:cNvSpPr>
            <p:nvPr/>
          </p:nvSpPr>
          <p:spPr bwMode="auto">
            <a:xfrm>
              <a:off x="5328342" y="5144110"/>
              <a:ext cx="77644" cy="170820"/>
            </a:xfrm>
            <a:custGeom>
              <a:avLst/>
              <a:gdLst>
                <a:gd name="T0" fmla="*/ 8 w 31"/>
                <a:gd name="T1" fmla="*/ 46 h 65"/>
                <a:gd name="T2" fmla="*/ 8 w 31"/>
                <a:gd name="T3" fmla="*/ 61 h 65"/>
                <a:gd name="T4" fmla="*/ 16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6"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2" y="34"/>
                    <a:pt x="8" y="40"/>
                  </a:cubicBezTo>
                  <a:cubicBezTo>
                    <a:pt x="9" y="41"/>
                    <a:pt x="11" y="43"/>
                    <a:pt x="8" y="4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73" name="Freeform 581"/>
            <p:cNvSpPr>
              <a:spLocks/>
            </p:cNvSpPr>
            <p:nvPr/>
          </p:nvSpPr>
          <p:spPr bwMode="auto">
            <a:xfrm>
              <a:off x="5437047" y="5144110"/>
              <a:ext cx="81529" cy="170820"/>
            </a:xfrm>
            <a:custGeom>
              <a:avLst/>
              <a:gdLst>
                <a:gd name="T0" fmla="*/ 8 w 31"/>
                <a:gd name="T1" fmla="*/ 46 h 65"/>
                <a:gd name="T2" fmla="*/ 8 w 31"/>
                <a:gd name="T3" fmla="*/ 61 h 65"/>
                <a:gd name="T4" fmla="*/ 15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5"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1" y="34"/>
                    <a:pt x="8" y="40"/>
                  </a:cubicBezTo>
                  <a:cubicBezTo>
                    <a:pt x="9" y="41"/>
                    <a:pt x="11" y="43"/>
                    <a:pt x="8" y="4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sp>
        <p:nvSpPr>
          <p:cNvPr id="174" name="Freeform 57"/>
          <p:cNvSpPr>
            <a:spLocks noEditPoints="1"/>
          </p:cNvSpPr>
          <p:nvPr/>
        </p:nvSpPr>
        <p:spPr bwMode="auto">
          <a:xfrm>
            <a:off x="5659042" y="1216939"/>
            <a:ext cx="333231" cy="340322"/>
          </a:xfrm>
          <a:custGeom>
            <a:avLst/>
            <a:gdLst>
              <a:gd name="T0" fmla="*/ 267 w 283"/>
              <a:gd name="T1" fmla="*/ 268 h 289"/>
              <a:gd name="T2" fmla="*/ 267 w 283"/>
              <a:gd name="T3" fmla="*/ 135 h 289"/>
              <a:gd name="T4" fmla="*/ 264 w 283"/>
              <a:gd name="T5" fmla="*/ 63 h 289"/>
              <a:gd name="T6" fmla="*/ 264 w 283"/>
              <a:gd name="T7" fmla="*/ 63 h 289"/>
              <a:gd name="T8" fmla="*/ 243 w 283"/>
              <a:gd name="T9" fmla="*/ 20 h 289"/>
              <a:gd name="T10" fmla="*/ 196 w 283"/>
              <a:gd name="T11" fmla="*/ 9 h 289"/>
              <a:gd name="T12" fmla="*/ 176 w 283"/>
              <a:gd name="T13" fmla="*/ 53 h 289"/>
              <a:gd name="T14" fmla="*/ 189 w 283"/>
              <a:gd name="T15" fmla="*/ 82 h 289"/>
              <a:gd name="T16" fmla="*/ 27 w 283"/>
              <a:gd name="T17" fmla="*/ 173 h 289"/>
              <a:gd name="T18" fmla="*/ 21 w 283"/>
              <a:gd name="T19" fmla="*/ 183 h 289"/>
              <a:gd name="T20" fmla="*/ 21 w 283"/>
              <a:gd name="T21" fmla="*/ 215 h 289"/>
              <a:gd name="T22" fmla="*/ 11 w 283"/>
              <a:gd name="T23" fmla="*/ 215 h 289"/>
              <a:gd name="T24" fmla="*/ 0 w 283"/>
              <a:gd name="T25" fmla="*/ 225 h 289"/>
              <a:gd name="T26" fmla="*/ 0 w 283"/>
              <a:gd name="T27" fmla="*/ 279 h 289"/>
              <a:gd name="T28" fmla="*/ 11 w 283"/>
              <a:gd name="T29" fmla="*/ 289 h 289"/>
              <a:gd name="T30" fmla="*/ 53 w 283"/>
              <a:gd name="T31" fmla="*/ 289 h 289"/>
              <a:gd name="T32" fmla="*/ 267 w 283"/>
              <a:gd name="T33" fmla="*/ 289 h 289"/>
              <a:gd name="T34" fmla="*/ 277 w 283"/>
              <a:gd name="T35" fmla="*/ 279 h 289"/>
              <a:gd name="T36" fmla="*/ 267 w 283"/>
              <a:gd name="T37" fmla="*/ 268 h 289"/>
              <a:gd name="T38" fmla="*/ 179 w 283"/>
              <a:gd name="T39" fmla="*/ 268 h 289"/>
              <a:gd name="T40" fmla="*/ 149 w 283"/>
              <a:gd name="T41" fmla="*/ 129 h 289"/>
              <a:gd name="T42" fmla="*/ 200 w 283"/>
              <a:gd name="T43" fmla="*/ 100 h 289"/>
              <a:gd name="T44" fmla="*/ 245 w 283"/>
              <a:gd name="T45" fmla="*/ 141 h 289"/>
              <a:gd name="T46" fmla="*/ 245 w 283"/>
              <a:gd name="T47" fmla="*/ 268 h 289"/>
              <a:gd name="T48" fmla="*/ 179 w 283"/>
              <a:gd name="T49" fmla="*/ 268 h 289"/>
              <a:gd name="T50" fmla="*/ 157 w 283"/>
              <a:gd name="T51" fmla="*/ 268 h 289"/>
              <a:gd name="T52" fmla="*/ 120 w 283"/>
              <a:gd name="T53" fmla="*/ 268 h 289"/>
              <a:gd name="T54" fmla="*/ 139 w 283"/>
              <a:gd name="T55" fmla="*/ 180 h 289"/>
              <a:gd name="T56" fmla="*/ 157 w 283"/>
              <a:gd name="T57" fmla="*/ 268 h 289"/>
              <a:gd name="T58" fmla="*/ 205 w 283"/>
              <a:gd name="T59" fmla="*/ 28 h 289"/>
              <a:gd name="T60" fmla="*/ 214 w 283"/>
              <a:gd name="T61" fmla="*/ 26 h 289"/>
              <a:gd name="T62" fmla="*/ 226 w 283"/>
              <a:gd name="T63" fmla="*/ 34 h 289"/>
              <a:gd name="T64" fmla="*/ 244 w 283"/>
              <a:gd name="T65" fmla="*/ 70 h 289"/>
              <a:gd name="T66" fmla="*/ 251 w 283"/>
              <a:gd name="T67" fmla="*/ 120 h 289"/>
              <a:gd name="T68" fmla="*/ 216 w 283"/>
              <a:gd name="T69" fmla="*/ 85 h 289"/>
              <a:gd name="T70" fmla="*/ 197 w 283"/>
              <a:gd name="T71" fmla="*/ 48 h 289"/>
              <a:gd name="T72" fmla="*/ 205 w 283"/>
              <a:gd name="T73" fmla="*/ 28 h 289"/>
              <a:gd name="T74" fmla="*/ 43 w 283"/>
              <a:gd name="T75" fmla="*/ 189 h 289"/>
              <a:gd name="T76" fmla="*/ 125 w 283"/>
              <a:gd name="T77" fmla="*/ 143 h 289"/>
              <a:gd name="T78" fmla="*/ 98 w 283"/>
              <a:gd name="T79" fmla="*/ 268 h 289"/>
              <a:gd name="T80" fmla="*/ 64 w 283"/>
              <a:gd name="T81" fmla="*/ 268 h 289"/>
              <a:gd name="T82" fmla="*/ 64 w 283"/>
              <a:gd name="T83" fmla="*/ 225 h 289"/>
              <a:gd name="T84" fmla="*/ 53 w 283"/>
              <a:gd name="T85" fmla="*/ 215 h 289"/>
              <a:gd name="T86" fmla="*/ 43 w 283"/>
              <a:gd name="T87" fmla="*/ 215 h 289"/>
              <a:gd name="T88" fmla="*/ 43 w 283"/>
              <a:gd name="T89" fmla="*/ 189 h 289"/>
              <a:gd name="T90" fmla="*/ 21 w 283"/>
              <a:gd name="T91" fmla="*/ 236 h 289"/>
              <a:gd name="T92" fmla="*/ 43 w 283"/>
              <a:gd name="T93" fmla="*/ 236 h 289"/>
              <a:gd name="T94" fmla="*/ 43 w 283"/>
              <a:gd name="T95" fmla="*/ 268 h 289"/>
              <a:gd name="T96" fmla="*/ 21 w 283"/>
              <a:gd name="T97" fmla="*/ 268 h 289"/>
              <a:gd name="T98" fmla="*/ 21 w 283"/>
              <a:gd name="T99" fmla="*/ 236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3" h="289">
                <a:moveTo>
                  <a:pt x="267" y="268"/>
                </a:moveTo>
                <a:cubicBezTo>
                  <a:pt x="267" y="135"/>
                  <a:pt x="267" y="135"/>
                  <a:pt x="267" y="135"/>
                </a:cubicBezTo>
                <a:cubicBezTo>
                  <a:pt x="283" y="121"/>
                  <a:pt x="275" y="92"/>
                  <a:pt x="264" y="63"/>
                </a:cubicBezTo>
                <a:cubicBezTo>
                  <a:pt x="264" y="63"/>
                  <a:pt x="264" y="63"/>
                  <a:pt x="264" y="63"/>
                </a:cubicBezTo>
                <a:cubicBezTo>
                  <a:pt x="261" y="53"/>
                  <a:pt x="251" y="30"/>
                  <a:pt x="243" y="20"/>
                </a:cubicBezTo>
                <a:cubicBezTo>
                  <a:pt x="229" y="4"/>
                  <a:pt x="214" y="0"/>
                  <a:pt x="196" y="9"/>
                </a:cubicBezTo>
                <a:cubicBezTo>
                  <a:pt x="178" y="18"/>
                  <a:pt x="171" y="33"/>
                  <a:pt x="176" y="53"/>
                </a:cubicBezTo>
                <a:cubicBezTo>
                  <a:pt x="178" y="59"/>
                  <a:pt x="182" y="69"/>
                  <a:pt x="189" y="82"/>
                </a:cubicBezTo>
                <a:cubicBezTo>
                  <a:pt x="27" y="173"/>
                  <a:pt x="27" y="173"/>
                  <a:pt x="27" y="173"/>
                </a:cubicBezTo>
                <a:cubicBezTo>
                  <a:pt x="23" y="175"/>
                  <a:pt x="21" y="179"/>
                  <a:pt x="21" y="183"/>
                </a:cubicBezTo>
                <a:cubicBezTo>
                  <a:pt x="21" y="215"/>
                  <a:pt x="21" y="215"/>
                  <a:pt x="21" y="215"/>
                </a:cubicBezTo>
                <a:cubicBezTo>
                  <a:pt x="11" y="215"/>
                  <a:pt x="11" y="215"/>
                  <a:pt x="11" y="215"/>
                </a:cubicBezTo>
                <a:cubicBezTo>
                  <a:pt x="5" y="215"/>
                  <a:pt x="0" y="219"/>
                  <a:pt x="0" y="225"/>
                </a:cubicBezTo>
                <a:cubicBezTo>
                  <a:pt x="0" y="279"/>
                  <a:pt x="0" y="279"/>
                  <a:pt x="0" y="279"/>
                </a:cubicBezTo>
                <a:cubicBezTo>
                  <a:pt x="0" y="285"/>
                  <a:pt x="5" y="289"/>
                  <a:pt x="11" y="289"/>
                </a:cubicBezTo>
                <a:cubicBezTo>
                  <a:pt x="53" y="289"/>
                  <a:pt x="53" y="289"/>
                  <a:pt x="53" y="289"/>
                </a:cubicBezTo>
                <a:cubicBezTo>
                  <a:pt x="267" y="289"/>
                  <a:pt x="267" y="289"/>
                  <a:pt x="267" y="289"/>
                </a:cubicBezTo>
                <a:cubicBezTo>
                  <a:pt x="273" y="289"/>
                  <a:pt x="277" y="285"/>
                  <a:pt x="277" y="279"/>
                </a:cubicBezTo>
                <a:cubicBezTo>
                  <a:pt x="277" y="273"/>
                  <a:pt x="273" y="268"/>
                  <a:pt x="267" y="268"/>
                </a:cubicBezTo>
                <a:close/>
                <a:moveTo>
                  <a:pt x="179" y="268"/>
                </a:moveTo>
                <a:cubicBezTo>
                  <a:pt x="149" y="129"/>
                  <a:pt x="149" y="129"/>
                  <a:pt x="149" y="129"/>
                </a:cubicBezTo>
                <a:cubicBezTo>
                  <a:pt x="200" y="100"/>
                  <a:pt x="200" y="100"/>
                  <a:pt x="200" y="100"/>
                </a:cubicBezTo>
                <a:cubicBezTo>
                  <a:pt x="216" y="125"/>
                  <a:pt x="231" y="139"/>
                  <a:pt x="245" y="141"/>
                </a:cubicBezTo>
                <a:cubicBezTo>
                  <a:pt x="245" y="268"/>
                  <a:pt x="245" y="268"/>
                  <a:pt x="245" y="268"/>
                </a:cubicBezTo>
                <a:lnTo>
                  <a:pt x="179" y="268"/>
                </a:lnTo>
                <a:close/>
                <a:moveTo>
                  <a:pt x="157" y="268"/>
                </a:moveTo>
                <a:cubicBezTo>
                  <a:pt x="120" y="268"/>
                  <a:pt x="120" y="268"/>
                  <a:pt x="120" y="268"/>
                </a:cubicBezTo>
                <a:cubicBezTo>
                  <a:pt x="139" y="180"/>
                  <a:pt x="139" y="180"/>
                  <a:pt x="139" y="180"/>
                </a:cubicBezTo>
                <a:lnTo>
                  <a:pt x="157" y="268"/>
                </a:lnTo>
                <a:close/>
                <a:moveTo>
                  <a:pt x="205" y="28"/>
                </a:moveTo>
                <a:cubicBezTo>
                  <a:pt x="208" y="27"/>
                  <a:pt x="211" y="26"/>
                  <a:pt x="214" y="26"/>
                </a:cubicBezTo>
                <a:cubicBezTo>
                  <a:pt x="217" y="26"/>
                  <a:pt x="221" y="28"/>
                  <a:pt x="226" y="34"/>
                </a:cubicBezTo>
                <a:cubicBezTo>
                  <a:pt x="231" y="39"/>
                  <a:pt x="240" y="58"/>
                  <a:pt x="244" y="70"/>
                </a:cubicBezTo>
                <a:cubicBezTo>
                  <a:pt x="259" y="110"/>
                  <a:pt x="255" y="118"/>
                  <a:pt x="251" y="120"/>
                </a:cubicBezTo>
                <a:cubicBezTo>
                  <a:pt x="247" y="122"/>
                  <a:pt x="235" y="117"/>
                  <a:pt x="216" y="85"/>
                </a:cubicBezTo>
                <a:cubicBezTo>
                  <a:pt x="201" y="61"/>
                  <a:pt x="198" y="52"/>
                  <a:pt x="197" y="48"/>
                </a:cubicBezTo>
                <a:cubicBezTo>
                  <a:pt x="194" y="35"/>
                  <a:pt x="199" y="32"/>
                  <a:pt x="205" y="28"/>
                </a:cubicBezTo>
                <a:close/>
                <a:moveTo>
                  <a:pt x="43" y="189"/>
                </a:moveTo>
                <a:cubicBezTo>
                  <a:pt x="125" y="143"/>
                  <a:pt x="125" y="143"/>
                  <a:pt x="125" y="143"/>
                </a:cubicBezTo>
                <a:cubicBezTo>
                  <a:pt x="98" y="268"/>
                  <a:pt x="98" y="268"/>
                  <a:pt x="98" y="268"/>
                </a:cubicBezTo>
                <a:cubicBezTo>
                  <a:pt x="64" y="268"/>
                  <a:pt x="64" y="268"/>
                  <a:pt x="64" y="268"/>
                </a:cubicBezTo>
                <a:cubicBezTo>
                  <a:pt x="64" y="225"/>
                  <a:pt x="64" y="225"/>
                  <a:pt x="64" y="225"/>
                </a:cubicBezTo>
                <a:cubicBezTo>
                  <a:pt x="64" y="219"/>
                  <a:pt x="59" y="215"/>
                  <a:pt x="53" y="215"/>
                </a:cubicBezTo>
                <a:cubicBezTo>
                  <a:pt x="43" y="215"/>
                  <a:pt x="43" y="215"/>
                  <a:pt x="43" y="215"/>
                </a:cubicBezTo>
                <a:lnTo>
                  <a:pt x="43" y="189"/>
                </a:lnTo>
                <a:close/>
                <a:moveTo>
                  <a:pt x="21" y="236"/>
                </a:moveTo>
                <a:cubicBezTo>
                  <a:pt x="43" y="236"/>
                  <a:pt x="43" y="236"/>
                  <a:pt x="43" y="236"/>
                </a:cubicBezTo>
                <a:cubicBezTo>
                  <a:pt x="43" y="268"/>
                  <a:pt x="43" y="268"/>
                  <a:pt x="43" y="268"/>
                </a:cubicBezTo>
                <a:cubicBezTo>
                  <a:pt x="21" y="268"/>
                  <a:pt x="21" y="268"/>
                  <a:pt x="21" y="268"/>
                </a:cubicBezTo>
                <a:lnTo>
                  <a:pt x="21" y="23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75" name="Freeform 297"/>
          <p:cNvSpPr>
            <a:spLocks noEditPoints="1"/>
          </p:cNvSpPr>
          <p:nvPr/>
        </p:nvSpPr>
        <p:spPr bwMode="auto">
          <a:xfrm>
            <a:off x="6142136" y="1272708"/>
            <a:ext cx="348372" cy="281260"/>
          </a:xfrm>
          <a:custGeom>
            <a:avLst/>
            <a:gdLst>
              <a:gd name="T0" fmla="*/ 54 w 280"/>
              <a:gd name="T1" fmla="*/ 117 h 320"/>
              <a:gd name="T2" fmla="*/ 139 w 280"/>
              <a:gd name="T3" fmla="*/ 117 h 320"/>
              <a:gd name="T4" fmla="*/ 150 w 280"/>
              <a:gd name="T5" fmla="*/ 106 h 320"/>
              <a:gd name="T6" fmla="*/ 150 w 280"/>
              <a:gd name="T7" fmla="*/ 53 h 320"/>
              <a:gd name="T8" fmla="*/ 139 w 280"/>
              <a:gd name="T9" fmla="*/ 42 h 320"/>
              <a:gd name="T10" fmla="*/ 54 w 280"/>
              <a:gd name="T11" fmla="*/ 42 h 320"/>
              <a:gd name="T12" fmla="*/ 43 w 280"/>
              <a:gd name="T13" fmla="*/ 53 h 320"/>
              <a:gd name="T14" fmla="*/ 43 w 280"/>
              <a:gd name="T15" fmla="*/ 106 h 320"/>
              <a:gd name="T16" fmla="*/ 54 w 280"/>
              <a:gd name="T17" fmla="*/ 117 h 320"/>
              <a:gd name="T18" fmla="*/ 64 w 280"/>
              <a:gd name="T19" fmla="*/ 64 h 320"/>
              <a:gd name="T20" fmla="*/ 128 w 280"/>
              <a:gd name="T21" fmla="*/ 64 h 320"/>
              <a:gd name="T22" fmla="*/ 128 w 280"/>
              <a:gd name="T23" fmla="*/ 96 h 320"/>
              <a:gd name="T24" fmla="*/ 64 w 280"/>
              <a:gd name="T25" fmla="*/ 96 h 320"/>
              <a:gd name="T26" fmla="*/ 64 w 280"/>
              <a:gd name="T27" fmla="*/ 64 h 320"/>
              <a:gd name="T28" fmla="*/ 256 w 280"/>
              <a:gd name="T29" fmla="*/ 135 h 320"/>
              <a:gd name="T30" fmla="*/ 267 w 280"/>
              <a:gd name="T31" fmla="*/ 117 h 320"/>
              <a:gd name="T32" fmla="*/ 267 w 280"/>
              <a:gd name="T33" fmla="*/ 117 h 320"/>
              <a:gd name="T34" fmla="*/ 267 w 280"/>
              <a:gd name="T35" fmla="*/ 116 h 320"/>
              <a:gd name="T36" fmla="*/ 261 w 280"/>
              <a:gd name="T37" fmla="*/ 102 h 320"/>
              <a:gd name="T38" fmla="*/ 234 w 280"/>
              <a:gd name="T39" fmla="*/ 48 h 320"/>
              <a:gd name="T40" fmla="*/ 220 w 280"/>
              <a:gd name="T41" fmla="*/ 43 h 320"/>
              <a:gd name="T42" fmla="*/ 215 w 280"/>
              <a:gd name="T43" fmla="*/ 58 h 320"/>
              <a:gd name="T44" fmla="*/ 235 w 280"/>
              <a:gd name="T45" fmla="*/ 99 h 320"/>
              <a:gd name="T46" fmla="*/ 224 w 280"/>
              <a:gd name="T47" fmla="*/ 117 h 320"/>
              <a:gd name="T48" fmla="*/ 227 w 280"/>
              <a:gd name="T49" fmla="*/ 126 h 320"/>
              <a:gd name="T50" fmla="*/ 227 w 280"/>
              <a:gd name="T51" fmla="*/ 127 h 320"/>
              <a:gd name="T52" fmla="*/ 228 w 280"/>
              <a:gd name="T53" fmla="*/ 128 h 320"/>
              <a:gd name="T54" fmla="*/ 228 w 280"/>
              <a:gd name="T55" fmla="*/ 129 h 320"/>
              <a:gd name="T56" fmla="*/ 237 w 280"/>
              <a:gd name="T57" fmla="*/ 144 h 320"/>
              <a:gd name="T58" fmla="*/ 246 w 280"/>
              <a:gd name="T59" fmla="*/ 209 h 320"/>
              <a:gd name="T60" fmla="*/ 192 w 280"/>
              <a:gd name="T61" fmla="*/ 252 h 320"/>
              <a:gd name="T62" fmla="*/ 192 w 280"/>
              <a:gd name="T63" fmla="*/ 10 h 320"/>
              <a:gd name="T64" fmla="*/ 182 w 280"/>
              <a:gd name="T65" fmla="*/ 0 h 320"/>
              <a:gd name="T66" fmla="*/ 11 w 280"/>
              <a:gd name="T67" fmla="*/ 0 h 320"/>
              <a:gd name="T68" fmla="*/ 0 w 280"/>
              <a:gd name="T69" fmla="*/ 10 h 320"/>
              <a:gd name="T70" fmla="*/ 0 w 280"/>
              <a:gd name="T71" fmla="*/ 309 h 320"/>
              <a:gd name="T72" fmla="*/ 11 w 280"/>
              <a:gd name="T73" fmla="*/ 320 h 320"/>
              <a:gd name="T74" fmla="*/ 182 w 280"/>
              <a:gd name="T75" fmla="*/ 320 h 320"/>
              <a:gd name="T76" fmla="*/ 192 w 280"/>
              <a:gd name="T77" fmla="*/ 309 h 320"/>
              <a:gd name="T78" fmla="*/ 192 w 280"/>
              <a:gd name="T79" fmla="*/ 274 h 320"/>
              <a:gd name="T80" fmla="*/ 266 w 280"/>
              <a:gd name="T81" fmla="*/ 216 h 320"/>
              <a:gd name="T82" fmla="*/ 256 w 280"/>
              <a:gd name="T83" fmla="*/ 135 h 320"/>
              <a:gd name="T84" fmla="*/ 171 w 280"/>
              <a:gd name="T85" fmla="*/ 298 h 320"/>
              <a:gd name="T86" fmla="*/ 22 w 280"/>
              <a:gd name="T87" fmla="*/ 298 h 320"/>
              <a:gd name="T88" fmla="*/ 22 w 280"/>
              <a:gd name="T89" fmla="*/ 21 h 320"/>
              <a:gd name="T90" fmla="*/ 171 w 280"/>
              <a:gd name="T91" fmla="*/ 21 h 320"/>
              <a:gd name="T92" fmla="*/ 171 w 280"/>
              <a:gd name="T93"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0" h="320">
                <a:moveTo>
                  <a:pt x="54" y="117"/>
                </a:moveTo>
                <a:cubicBezTo>
                  <a:pt x="139" y="117"/>
                  <a:pt x="139" y="117"/>
                  <a:pt x="139" y="117"/>
                </a:cubicBezTo>
                <a:cubicBezTo>
                  <a:pt x="145" y="117"/>
                  <a:pt x="150" y="112"/>
                  <a:pt x="150" y="106"/>
                </a:cubicBezTo>
                <a:cubicBezTo>
                  <a:pt x="150" y="53"/>
                  <a:pt x="150" y="53"/>
                  <a:pt x="150" y="53"/>
                </a:cubicBezTo>
                <a:cubicBezTo>
                  <a:pt x="150" y="47"/>
                  <a:pt x="145" y="42"/>
                  <a:pt x="139" y="42"/>
                </a:cubicBezTo>
                <a:cubicBezTo>
                  <a:pt x="54" y="42"/>
                  <a:pt x="54" y="42"/>
                  <a:pt x="54" y="42"/>
                </a:cubicBezTo>
                <a:cubicBezTo>
                  <a:pt x="48" y="42"/>
                  <a:pt x="43" y="47"/>
                  <a:pt x="43" y="53"/>
                </a:cubicBezTo>
                <a:cubicBezTo>
                  <a:pt x="43" y="106"/>
                  <a:pt x="43" y="106"/>
                  <a:pt x="43" y="106"/>
                </a:cubicBezTo>
                <a:cubicBezTo>
                  <a:pt x="43" y="112"/>
                  <a:pt x="48" y="117"/>
                  <a:pt x="54" y="117"/>
                </a:cubicBezTo>
                <a:close/>
                <a:moveTo>
                  <a:pt x="64" y="64"/>
                </a:moveTo>
                <a:cubicBezTo>
                  <a:pt x="128" y="64"/>
                  <a:pt x="128" y="64"/>
                  <a:pt x="128" y="64"/>
                </a:cubicBezTo>
                <a:cubicBezTo>
                  <a:pt x="128" y="96"/>
                  <a:pt x="128" y="96"/>
                  <a:pt x="128" y="96"/>
                </a:cubicBezTo>
                <a:cubicBezTo>
                  <a:pt x="64" y="96"/>
                  <a:pt x="64" y="96"/>
                  <a:pt x="64" y="96"/>
                </a:cubicBezTo>
                <a:lnTo>
                  <a:pt x="64" y="64"/>
                </a:lnTo>
                <a:close/>
                <a:moveTo>
                  <a:pt x="256" y="135"/>
                </a:moveTo>
                <a:cubicBezTo>
                  <a:pt x="263" y="132"/>
                  <a:pt x="267" y="125"/>
                  <a:pt x="267" y="117"/>
                </a:cubicBezTo>
                <a:cubicBezTo>
                  <a:pt x="267" y="117"/>
                  <a:pt x="267" y="117"/>
                  <a:pt x="267" y="117"/>
                </a:cubicBezTo>
                <a:cubicBezTo>
                  <a:pt x="267" y="116"/>
                  <a:pt x="267" y="116"/>
                  <a:pt x="267" y="116"/>
                </a:cubicBezTo>
                <a:cubicBezTo>
                  <a:pt x="267" y="111"/>
                  <a:pt x="264" y="106"/>
                  <a:pt x="261" y="102"/>
                </a:cubicBezTo>
                <a:cubicBezTo>
                  <a:pt x="234" y="48"/>
                  <a:pt x="234" y="48"/>
                  <a:pt x="234" y="48"/>
                </a:cubicBezTo>
                <a:cubicBezTo>
                  <a:pt x="231" y="43"/>
                  <a:pt x="225" y="41"/>
                  <a:pt x="220" y="43"/>
                </a:cubicBezTo>
                <a:cubicBezTo>
                  <a:pt x="214" y="46"/>
                  <a:pt x="212" y="52"/>
                  <a:pt x="215" y="58"/>
                </a:cubicBezTo>
                <a:cubicBezTo>
                  <a:pt x="235" y="99"/>
                  <a:pt x="235" y="99"/>
                  <a:pt x="235" y="99"/>
                </a:cubicBezTo>
                <a:cubicBezTo>
                  <a:pt x="229" y="102"/>
                  <a:pt x="224" y="109"/>
                  <a:pt x="224" y="117"/>
                </a:cubicBezTo>
                <a:cubicBezTo>
                  <a:pt x="224" y="120"/>
                  <a:pt x="225" y="123"/>
                  <a:pt x="227" y="126"/>
                </a:cubicBezTo>
                <a:cubicBezTo>
                  <a:pt x="227" y="126"/>
                  <a:pt x="227" y="126"/>
                  <a:pt x="227" y="127"/>
                </a:cubicBezTo>
                <a:cubicBezTo>
                  <a:pt x="228" y="128"/>
                  <a:pt x="228" y="128"/>
                  <a:pt x="228" y="128"/>
                </a:cubicBezTo>
                <a:cubicBezTo>
                  <a:pt x="228" y="129"/>
                  <a:pt x="228" y="129"/>
                  <a:pt x="228" y="129"/>
                </a:cubicBezTo>
                <a:cubicBezTo>
                  <a:pt x="237" y="144"/>
                  <a:pt x="237" y="144"/>
                  <a:pt x="237" y="144"/>
                </a:cubicBezTo>
                <a:cubicBezTo>
                  <a:pt x="237" y="144"/>
                  <a:pt x="258" y="178"/>
                  <a:pt x="246" y="209"/>
                </a:cubicBezTo>
                <a:cubicBezTo>
                  <a:pt x="239" y="228"/>
                  <a:pt x="221" y="242"/>
                  <a:pt x="192" y="252"/>
                </a:cubicBezTo>
                <a:cubicBezTo>
                  <a:pt x="192" y="10"/>
                  <a:pt x="192" y="10"/>
                  <a:pt x="192" y="10"/>
                </a:cubicBezTo>
                <a:cubicBezTo>
                  <a:pt x="192" y="4"/>
                  <a:pt x="188" y="0"/>
                  <a:pt x="182" y="0"/>
                </a:cubicBezTo>
                <a:cubicBezTo>
                  <a:pt x="11" y="0"/>
                  <a:pt x="11" y="0"/>
                  <a:pt x="11" y="0"/>
                </a:cubicBezTo>
                <a:cubicBezTo>
                  <a:pt x="5" y="0"/>
                  <a:pt x="0" y="4"/>
                  <a:pt x="0" y="10"/>
                </a:cubicBezTo>
                <a:cubicBezTo>
                  <a:pt x="0" y="309"/>
                  <a:pt x="0" y="309"/>
                  <a:pt x="0" y="309"/>
                </a:cubicBezTo>
                <a:cubicBezTo>
                  <a:pt x="0" y="315"/>
                  <a:pt x="5" y="320"/>
                  <a:pt x="11" y="320"/>
                </a:cubicBezTo>
                <a:cubicBezTo>
                  <a:pt x="182" y="320"/>
                  <a:pt x="182" y="320"/>
                  <a:pt x="182" y="320"/>
                </a:cubicBezTo>
                <a:cubicBezTo>
                  <a:pt x="188" y="320"/>
                  <a:pt x="192" y="315"/>
                  <a:pt x="192" y="309"/>
                </a:cubicBezTo>
                <a:cubicBezTo>
                  <a:pt x="192" y="274"/>
                  <a:pt x="192" y="274"/>
                  <a:pt x="192" y="274"/>
                </a:cubicBezTo>
                <a:cubicBezTo>
                  <a:pt x="231" y="262"/>
                  <a:pt x="256" y="243"/>
                  <a:pt x="266" y="216"/>
                </a:cubicBezTo>
                <a:cubicBezTo>
                  <a:pt x="280" y="181"/>
                  <a:pt x="262" y="145"/>
                  <a:pt x="256" y="135"/>
                </a:cubicBezTo>
                <a:close/>
                <a:moveTo>
                  <a:pt x="171" y="298"/>
                </a:moveTo>
                <a:cubicBezTo>
                  <a:pt x="22" y="298"/>
                  <a:pt x="22" y="298"/>
                  <a:pt x="22" y="298"/>
                </a:cubicBezTo>
                <a:cubicBezTo>
                  <a:pt x="22" y="21"/>
                  <a:pt x="22" y="21"/>
                  <a:pt x="22" y="21"/>
                </a:cubicBezTo>
                <a:cubicBezTo>
                  <a:pt x="171" y="21"/>
                  <a:pt x="171" y="21"/>
                  <a:pt x="171" y="21"/>
                </a:cubicBezTo>
                <a:lnTo>
                  <a:pt x="171" y="298"/>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76" name="Freeform 277"/>
          <p:cNvSpPr>
            <a:spLocks noChangeAspect="1"/>
          </p:cNvSpPr>
          <p:nvPr/>
        </p:nvSpPr>
        <p:spPr bwMode="auto">
          <a:xfrm>
            <a:off x="4211847" y="2108773"/>
            <a:ext cx="231870" cy="340088"/>
          </a:xfrm>
          <a:custGeom>
            <a:avLst/>
            <a:gdLst>
              <a:gd name="T0" fmla="*/ 11 w 22"/>
              <a:gd name="T1" fmla="*/ 0 h 32"/>
              <a:gd name="T2" fmla="*/ 1 w 22"/>
              <a:gd name="T3" fmla="*/ 17 h 32"/>
              <a:gd name="T4" fmla="*/ 0 w 22"/>
              <a:gd name="T5" fmla="*/ 21 h 32"/>
              <a:gd name="T6" fmla="*/ 11 w 22"/>
              <a:gd name="T7" fmla="*/ 32 h 32"/>
              <a:gd name="T8" fmla="*/ 22 w 22"/>
              <a:gd name="T9" fmla="*/ 21 h 32"/>
              <a:gd name="T10" fmla="*/ 21 w 22"/>
              <a:gd name="T11" fmla="*/ 17 h 32"/>
              <a:gd name="T12" fmla="*/ 11 w 2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2" h="32">
                <a:moveTo>
                  <a:pt x="11" y="0"/>
                </a:moveTo>
                <a:cubicBezTo>
                  <a:pt x="1" y="17"/>
                  <a:pt x="1" y="17"/>
                  <a:pt x="1" y="17"/>
                </a:cubicBezTo>
                <a:cubicBezTo>
                  <a:pt x="1" y="19"/>
                  <a:pt x="0" y="20"/>
                  <a:pt x="0" y="21"/>
                </a:cubicBezTo>
                <a:cubicBezTo>
                  <a:pt x="0" y="27"/>
                  <a:pt x="5" y="32"/>
                  <a:pt x="11" y="32"/>
                </a:cubicBezTo>
                <a:cubicBezTo>
                  <a:pt x="17" y="32"/>
                  <a:pt x="22" y="27"/>
                  <a:pt x="22" y="21"/>
                </a:cubicBezTo>
                <a:cubicBezTo>
                  <a:pt x="22" y="20"/>
                  <a:pt x="21" y="19"/>
                  <a:pt x="21" y="17"/>
                </a:cubicBezTo>
                <a:lnTo>
                  <a:pt x="11"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77" name="Freeform 708"/>
          <p:cNvSpPr>
            <a:spLocks noEditPoints="1"/>
          </p:cNvSpPr>
          <p:nvPr/>
        </p:nvSpPr>
        <p:spPr bwMode="auto">
          <a:xfrm>
            <a:off x="4456175" y="2403621"/>
            <a:ext cx="438761" cy="324931"/>
          </a:xfrm>
          <a:custGeom>
            <a:avLst/>
            <a:gdLst>
              <a:gd name="T0" fmla="*/ 128 w 320"/>
              <a:gd name="T1" fmla="*/ 44 h 236"/>
              <a:gd name="T2" fmla="*/ 125 w 320"/>
              <a:gd name="T3" fmla="*/ 201 h 236"/>
              <a:gd name="T4" fmla="*/ 85 w 320"/>
              <a:gd name="T5" fmla="*/ 236 h 236"/>
              <a:gd name="T6" fmla="*/ 77 w 320"/>
              <a:gd name="T7" fmla="*/ 218 h 236"/>
              <a:gd name="T8" fmla="*/ 106 w 320"/>
              <a:gd name="T9" fmla="*/ 181 h 236"/>
              <a:gd name="T10" fmla="*/ 81 w 320"/>
              <a:gd name="T11" fmla="*/ 161 h 236"/>
              <a:gd name="T12" fmla="*/ 46 w 320"/>
              <a:gd name="T13" fmla="*/ 183 h 236"/>
              <a:gd name="T14" fmla="*/ 10 w 320"/>
              <a:gd name="T15" fmla="*/ 161 h 236"/>
              <a:gd name="T16" fmla="*/ 10 w 320"/>
              <a:gd name="T17" fmla="*/ 140 h 236"/>
              <a:gd name="T18" fmla="*/ 46 w 320"/>
              <a:gd name="T19" fmla="*/ 161 h 236"/>
              <a:gd name="T20" fmla="*/ 81 w 320"/>
              <a:gd name="T21" fmla="*/ 140 h 236"/>
              <a:gd name="T22" fmla="*/ 106 w 320"/>
              <a:gd name="T23" fmla="*/ 138 h 236"/>
              <a:gd name="T24" fmla="*/ 81 w 320"/>
              <a:gd name="T25" fmla="*/ 119 h 236"/>
              <a:gd name="T26" fmla="*/ 46 w 320"/>
              <a:gd name="T27" fmla="*/ 140 h 236"/>
              <a:gd name="T28" fmla="*/ 10 w 320"/>
              <a:gd name="T29" fmla="*/ 119 h 236"/>
              <a:gd name="T30" fmla="*/ 10 w 320"/>
              <a:gd name="T31" fmla="*/ 97 h 236"/>
              <a:gd name="T32" fmla="*/ 46 w 320"/>
              <a:gd name="T33" fmla="*/ 119 h 236"/>
              <a:gd name="T34" fmla="*/ 81 w 320"/>
              <a:gd name="T35" fmla="*/ 97 h 236"/>
              <a:gd name="T36" fmla="*/ 106 w 320"/>
              <a:gd name="T37" fmla="*/ 95 h 236"/>
              <a:gd name="T38" fmla="*/ 81 w 320"/>
              <a:gd name="T39" fmla="*/ 76 h 236"/>
              <a:gd name="T40" fmla="*/ 46 w 320"/>
              <a:gd name="T41" fmla="*/ 97 h 236"/>
              <a:gd name="T42" fmla="*/ 10 w 320"/>
              <a:gd name="T43" fmla="*/ 76 h 236"/>
              <a:gd name="T44" fmla="*/ 10 w 320"/>
              <a:gd name="T45" fmla="*/ 55 h 236"/>
              <a:gd name="T46" fmla="*/ 46 w 320"/>
              <a:gd name="T47" fmla="*/ 76 h 236"/>
              <a:gd name="T48" fmla="*/ 81 w 320"/>
              <a:gd name="T49" fmla="*/ 55 h 236"/>
              <a:gd name="T50" fmla="*/ 106 w 320"/>
              <a:gd name="T51" fmla="*/ 48 h 236"/>
              <a:gd name="T52" fmla="*/ 77 w 320"/>
              <a:gd name="T53" fmla="*/ 4 h 236"/>
              <a:gd name="T54" fmla="*/ 125 w 320"/>
              <a:gd name="T55" fmla="*/ 36 h 236"/>
              <a:gd name="T56" fmla="*/ 264 w 320"/>
              <a:gd name="T57" fmla="*/ 126 h 236"/>
              <a:gd name="T58" fmla="*/ 283 w 320"/>
              <a:gd name="T59" fmla="*/ 125 h 236"/>
              <a:gd name="T60" fmla="*/ 320 w 320"/>
              <a:gd name="T61" fmla="*/ 129 h 236"/>
              <a:gd name="T62" fmla="*/ 299 w 320"/>
              <a:gd name="T63" fmla="*/ 112 h 236"/>
              <a:gd name="T64" fmla="*/ 248 w 320"/>
              <a:gd name="T65" fmla="*/ 112 h 236"/>
              <a:gd name="T66" fmla="*/ 228 w 320"/>
              <a:gd name="T67" fmla="*/ 112 h 236"/>
              <a:gd name="T68" fmla="*/ 213 w 320"/>
              <a:gd name="T69" fmla="*/ 84 h 236"/>
              <a:gd name="T70" fmla="*/ 264 w 320"/>
              <a:gd name="T71" fmla="*/ 83 h 236"/>
              <a:gd name="T72" fmla="*/ 283 w 320"/>
              <a:gd name="T73" fmla="*/ 83 h 236"/>
              <a:gd name="T74" fmla="*/ 320 w 320"/>
              <a:gd name="T75" fmla="*/ 87 h 236"/>
              <a:gd name="T76" fmla="*/ 299 w 320"/>
              <a:gd name="T77" fmla="*/ 69 h 236"/>
              <a:gd name="T78" fmla="*/ 248 w 320"/>
              <a:gd name="T79" fmla="*/ 69 h 236"/>
              <a:gd name="T80" fmla="*/ 228 w 320"/>
              <a:gd name="T81" fmla="*/ 69 h 236"/>
              <a:gd name="T82" fmla="*/ 213 w 320"/>
              <a:gd name="T83" fmla="*/ 48 h 236"/>
              <a:gd name="T84" fmla="*/ 242 w 320"/>
              <a:gd name="T85" fmla="*/ 4 h 236"/>
              <a:gd name="T86" fmla="*/ 195 w 320"/>
              <a:gd name="T87" fmla="*/ 36 h 236"/>
              <a:gd name="T88" fmla="*/ 192 w 320"/>
              <a:gd name="T89" fmla="*/ 193 h 236"/>
              <a:gd name="T90" fmla="*/ 227 w 320"/>
              <a:gd name="T91" fmla="*/ 233 h 236"/>
              <a:gd name="T92" fmla="*/ 242 w 320"/>
              <a:gd name="T93" fmla="*/ 233 h 236"/>
              <a:gd name="T94" fmla="*/ 213 w 320"/>
              <a:gd name="T95" fmla="*/ 189 h 236"/>
              <a:gd name="T96" fmla="*/ 238 w 320"/>
              <a:gd name="T97" fmla="*/ 183 h 236"/>
              <a:gd name="T98" fmla="*/ 273 w 320"/>
              <a:gd name="T99" fmla="*/ 161 h 236"/>
              <a:gd name="T100" fmla="*/ 309 w 320"/>
              <a:gd name="T101" fmla="*/ 183 h 236"/>
              <a:gd name="T102" fmla="*/ 309 w 320"/>
              <a:gd name="T103" fmla="*/ 161 h 236"/>
              <a:gd name="T104" fmla="*/ 273 w 320"/>
              <a:gd name="T105" fmla="*/ 140 h 236"/>
              <a:gd name="T106" fmla="*/ 238 w 320"/>
              <a:gd name="T107" fmla="*/ 161 h 236"/>
              <a:gd name="T108" fmla="*/ 213 w 320"/>
              <a:gd name="T109" fmla="*/ 142 h 236"/>
              <a:gd name="T110" fmla="*/ 238 w 320"/>
              <a:gd name="T111" fmla="*/ 14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36">
                <a:moveTo>
                  <a:pt x="125" y="36"/>
                </a:moveTo>
                <a:cubicBezTo>
                  <a:pt x="127" y="38"/>
                  <a:pt x="128" y="41"/>
                  <a:pt x="128" y="44"/>
                </a:cubicBezTo>
                <a:cubicBezTo>
                  <a:pt x="128" y="193"/>
                  <a:pt x="128" y="193"/>
                  <a:pt x="128" y="193"/>
                </a:cubicBezTo>
                <a:cubicBezTo>
                  <a:pt x="128" y="196"/>
                  <a:pt x="127" y="199"/>
                  <a:pt x="125" y="201"/>
                </a:cubicBezTo>
                <a:cubicBezTo>
                  <a:pt x="93" y="233"/>
                  <a:pt x="93" y="233"/>
                  <a:pt x="93" y="233"/>
                </a:cubicBezTo>
                <a:cubicBezTo>
                  <a:pt x="90" y="235"/>
                  <a:pt x="88" y="236"/>
                  <a:pt x="85" y="236"/>
                </a:cubicBezTo>
                <a:cubicBezTo>
                  <a:pt x="82" y="236"/>
                  <a:pt x="80" y="235"/>
                  <a:pt x="77" y="233"/>
                </a:cubicBezTo>
                <a:cubicBezTo>
                  <a:pt x="73" y="229"/>
                  <a:pt x="73" y="222"/>
                  <a:pt x="77" y="218"/>
                </a:cubicBezTo>
                <a:cubicBezTo>
                  <a:pt x="106" y="189"/>
                  <a:pt x="106" y="189"/>
                  <a:pt x="106" y="189"/>
                </a:cubicBezTo>
                <a:cubicBezTo>
                  <a:pt x="106" y="181"/>
                  <a:pt x="106" y="181"/>
                  <a:pt x="106" y="181"/>
                </a:cubicBezTo>
                <a:cubicBezTo>
                  <a:pt x="99" y="178"/>
                  <a:pt x="94" y="172"/>
                  <a:pt x="91" y="168"/>
                </a:cubicBezTo>
                <a:cubicBezTo>
                  <a:pt x="87" y="163"/>
                  <a:pt x="85" y="161"/>
                  <a:pt x="81" y="161"/>
                </a:cubicBezTo>
                <a:cubicBezTo>
                  <a:pt x="78" y="161"/>
                  <a:pt x="76" y="163"/>
                  <a:pt x="72" y="168"/>
                </a:cubicBezTo>
                <a:cubicBezTo>
                  <a:pt x="67" y="174"/>
                  <a:pt x="60" y="183"/>
                  <a:pt x="46" y="183"/>
                </a:cubicBezTo>
                <a:cubicBezTo>
                  <a:pt x="32" y="183"/>
                  <a:pt x="25" y="174"/>
                  <a:pt x="20" y="168"/>
                </a:cubicBezTo>
                <a:cubicBezTo>
                  <a:pt x="16" y="163"/>
                  <a:pt x="14" y="161"/>
                  <a:pt x="10" y="161"/>
                </a:cubicBezTo>
                <a:cubicBezTo>
                  <a:pt x="4" y="161"/>
                  <a:pt x="0" y="157"/>
                  <a:pt x="0" y="151"/>
                </a:cubicBezTo>
                <a:cubicBezTo>
                  <a:pt x="0" y="145"/>
                  <a:pt x="4" y="140"/>
                  <a:pt x="10" y="140"/>
                </a:cubicBezTo>
                <a:cubicBezTo>
                  <a:pt x="24" y="140"/>
                  <a:pt x="31" y="149"/>
                  <a:pt x="36" y="155"/>
                </a:cubicBezTo>
                <a:cubicBezTo>
                  <a:pt x="41" y="160"/>
                  <a:pt x="42" y="161"/>
                  <a:pt x="46" y="161"/>
                </a:cubicBezTo>
                <a:cubicBezTo>
                  <a:pt x="49" y="161"/>
                  <a:pt x="51" y="160"/>
                  <a:pt x="55" y="155"/>
                </a:cubicBezTo>
                <a:cubicBezTo>
                  <a:pt x="60" y="149"/>
                  <a:pt x="68" y="140"/>
                  <a:pt x="81" y="140"/>
                </a:cubicBezTo>
                <a:cubicBezTo>
                  <a:pt x="94" y="140"/>
                  <a:pt x="102" y="147"/>
                  <a:pt x="106" y="153"/>
                </a:cubicBezTo>
                <a:cubicBezTo>
                  <a:pt x="106" y="138"/>
                  <a:pt x="106" y="138"/>
                  <a:pt x="106" y="138"/>
                </a:cubicBezTo>
                <a:cubicBezTo>
                  <a:pt x="99" y="135"/>
                  <a:pt x="94" y="130"/>
                  <a:pt x="91" y="125"/>
                </a:cubicBezTo>
                <a:cubicBezTo>
                  <a:pt x="87" y="120"/>
                  <a:pt x="85" y="119"/>
                  <a:pt x="81" y="119"/>
                </a:cubicBezTo>
                <a:cubicBezTo>
                  <a:pt x="78" y="119"/>
                  <a:pt x="76" y="120"/>
                  <a:pt x="72" y="126"/>
                </a:cubicBezTo>
                <a:cubicBezTo>
                  <a:pt x="67" y="131"/>
                  <a:pt x="60" y="140"/>
                  <a:pt x="46" y="140"/>
                </a:cubicBezTo>
                <a:cubicBezTo>
                  <a:pt x="32" y="140"/>
                  <a:pt x="25" y="131"/>
                  <a:pt x="20" y="126"/>
                </a:cubicBezTo>
                <a:cubicBezTo>
                  <a:pt x="16" y="120"/>
                  <a:pt x="14" y="119"/>
                  <a:pt x="10" y="119"/>
                </a:cubicBezTo>
                <a:cubicBezTo>
                  <a:pt x="4" y="119"/>
                  <a:pt x="0" y="114"/>
                  <a:pt x="0" y="108"/>
                </a:cubicBezTo>
                <a:cubicBezTo>
                  <a:pt x="0" y="102"/>
                  <a:pt x="4" y="97"/>
                  <a:pt x="10" y="97"/>
                </a:cubicBezTo>
                <a:cubicBezTo>
                  <a:pt x="24" y="97"/>
                  <a:pt x="31" y="106"/>
                  <a:pt x="36" y="112"/>
                </a:cubicBezTo>
                <a:cubicBezTo>
                  <a:pt x="41" y="117"/>
                  <a:pt x="42" y="119"/>
                  <a:pt x="46" y="119"/>
                </a:cubicBezTo>
                <a:cubicBezTo>
                  <a:pt x="49" y="119"/>
                  <a:pt x="51" y="117"/>
                  <a:pt x="55" y="112"/>
                </a:cubicBezTo>
                <a:cubicBezTo>
                  <a:pt x="60" y="106"/>
                  <a:pt x="68" y="97"/>
                  <a:pt x="81" y="97"/>
                </a:cubicBezTo>
                <a:cubicBezTo>
                  <a:pt x="94" y="97"/>
                  <a:pt x="102" y="105"/>
                  <a:pt x="106" y="111"/>
                </a:cubicBezTo>
                <a:cubicBezTo>
                  <a:pt x="106" y="95"/>
                  <a:pt x="106" y="95"/>
                  <a:pt x="106" y="95"/>
                </a:cubicBezTo>
                <a:cubicBezTo>
                  <a:pt x="99" y="92"/>
                  <a:pt x="94" y="87"/>
                  <a:pt x="91" y="83"/>
                </a:cubicBezTo>
                <a:cubicBezTo>
                  <a:pt x="87" y="77"/>
                  <a:pt x="85" y="76"/>
                  <a:pt x="81" y="76"/>
                </a:cubicBezTo>
                <a:cubicBezTo>
                  <a:pt x="78" y="76"/>
                  <a:pt x="76" y="78"/>
                  <a:pt x="72" y="83"/>
                </a:cubicBezTo>
                <a:cubicBezTo>
                  <a:pt x="67" y="89"/>
                  <a:pt x="60" y="97"/>
                  <a:pt x="46" y="97"/>
                </a:cubicBezTo>
                <a:cubicBezTo>
                  <a:pt x="32" y="97"/>
                  <a:pt x="25" y="89"/>
                  <a:pt x="20" y="83"/>
                </a:cubicBezTo>
                <a:cubicBezTo>
                  <a:pt x="16" y="78"/>
                  <a:pt x="14" y="76"/>
                  <a:pt x="10" y="76"/>
                </a:cubicBezTo>
                <a:cubicBezTo>
                  <a:pt x="4" y="76"/>
                  <a:pt x="0" y="71"/>
                  <a:pt x="0" y="65"/>
                </a:cubicBezTo>
                <a:cubicBezTo>
                  <a:pt x="0" y="59"/>
                  <a:pt x="4" y="55"/>
                  <a:pt x="10" y="55"/>
                </a:cubicBezTo>
                <a:cubicBezTo>
                  <a:pt x="24" y="55"/>
                  <a:pt x="31" y="63"/>
                  <a:pt x="36" y="69"/>
                </a:cubicBezTo>
                <a:cubicBezTo>
                  <a:pt x="41" y="74"/>
                  <a:pt x="42" y="76"/>
                  <a:pt x="46" y="76"/>
                </a:cubicBezTo>
                <a:cubicBezTo>
                  <a:pt x="49" y="76"/>
                  <a:pt x="51" y="74"/>
                  <a:pt x="55" y="69"/>
                </a:cubicBezTo>
                <a:cubicBezTo>
                  <a:pt x="60" y="63"/>
                  <a:pt x="68" y="55"/>
                  <a:pt x="81" y="55"/>
                </a:cubicBezTo>
                <a:cubicBezTo>
                  <a:pt x="94" y="55"/>
                  <a:pt x="102" y="62"/>
                  <a:pt x="106" y="68"/>
                </a:cubicBezTo>
                <a:cubicBezTo>
                  <a:pt x="106" y="48"/>
                  <a:pt x="106" y="48"/>
                  <a:pt x="106" y="48"/>
                </a:cubicBezTo>
                <a:cubicBezTo>
                  <a:pt x="77" y="20"/>
                  <a:pt x="77" y="20"/>
                  <a:pt x="77" y="20"/>
                </a:cubicBezTo>
                <a:cubicBezTo>
                  <a:pt x="73" y="15"/>
                  <a:pt x="73" y="9"/>
                  <a:pt x="77" y="4"/>
                </a:cubicBezTo>
                <a:cubicBezTo>
                  <a:pt x="82" y="0"/>
                  <a:pt x="88" y="0"/>
                  <a:pt x="93" y="4"/>
                </a:cubicBezTo>
                <a:lnTo>
                  <a:pt x="125" y="36"/>
                </a:lnTo>
                <a:close/>
                <a:moveTo>
                  <a:pt x="238" y="140"/>
                </a:moveTo>
                <a:cubicBezTo>
                  <a:pt x="252" y="140"/>
                  <a:pt x="259" y="131"/>
                  <a:pt x="264" y="126"/>
                </a:cubicBezTo>
                <a:cubicBezTo>
                  <a:pt x="268" y="120"/>
                  <a:pt x="270" y="119"/>
                  <a:pt x="273" y="119"/>
                </a:cubicBezTo>
                <a:cubicBezTo>
                  <a:pt x="277" y="119"/>
                  <a:pt x="279" y="120"/>
                  <a:pt x="283" y="125"/>
                </a:cubicBezTo>
                <a:cubicBezTo>
                  <a:pt x="288" y="131"/>
                  <a:pt x="295" y="140"/>
                  <a:pt x="309" y="140"/>
                </a:cubicBezTo>
                <a:cubicBezTo>
                  <a:pt x="315" y="140"/>
                  <a:pt x="320" y="135"/>
                  <a:pt x="320" y="129"/>
                </a:cubicBezTo>
                <a:cubicBezTo>
                  <a:pt x="320" y="123"/>
                  <a:pt x="315" y="119"/>
                  <a:pt x="309" y="119"/>
                </a:cubicBezTo>
                <a:cubicBezTo>
                  <a:pt x="306" y="119"/>
                  <a:pt x="304" y="117"/>
                  <a:pt x="299" y="112"/>
                </a:cubicBezTo>
                <a:cubicBezTo>
                  <a:pt x="295" y="106"/>
                  <a:pt x="287" y="97"/>
                  <a:pt x="273" y="97"/>
                </a:cubicBezTo>
                <a:cubicBezTo>
                  <a:pt x="260" y="97"/>
                  <a:pt x="252" y="106"/>
                  <a:pt x="248" y="112"/>
                </a:cubicBezTo>
                <a:cubicBezTo>
                  <a:pt x="243" y="117"/>
                  <a:pt x="242" y="119"/>
                  <a:pt x="238" y="119"/>
                </a:cubicBezTo>
                <a:cubicBezTo>
                  <a:pt x="234" y="119"/>
                  <a:pt x="233" y="117"/>
                  <a:pt x="228" y="112"/>
                </a:cubicBezTo>
                <a:cubicBezTo>
                  <a:pt x="225" y="108"/>
                  <a:pt x="220" y="102"/>
                  <a:pt x="213" y="99"/>
                </a:cubicBezTo>
                <a:cubicBezTo>
                  <a:pt x="213" y="84"/>
                  <a:pt x="213" y="84"/>
                  <a:pt x="213" y="84"/>
                </a:cubicBezTo>
                <a:cubicBezTo>
                  <a:pt x="218" y="90"/>
                  <a:pt x="225" y="97"/>
                  <a:pt x="238" y="97"/>
                </a:cubicBezTo>
                <a:cubicBezTo>
                  <a:pt x="252" y="97"/>
                  <a:pt x="259" y="89"/>
                  <a:pt x="264" y="83"/>
                </a:cubicBezTo>
                <a:cubicBezTo>
                  <a:pt x="268" y="78"/>
                  <a:pt x="270" y="76"/>
                  <a:pt x="273" y="76"/>
                </a:cubicBezTo>
                <a:cubicBezTo>
                  <a:pt x="277" y="76"/>
                  <a:pt x="279" y="77"/>
                  <a:pt x="283" y="83"/>
                </a:cubicBezTo>
                <a:cubicBezTo>
                  <a:pt x="288" y="89"/>
                  <a:pt x="295" y="97"/>
                  <a:pt x="309" y="97"/>
                </a:cubicBezTo>
                <a:cubicBezTo>
                  <a:pt x="315" y="97"/>
                  <a:pt x="320" y="93"/>
                  <a:pt x="320" y="87"/>
                </a:cubicBezTo>
                <a:cubicBezTo>
                  <a:pt x="320" y="81"/>
                  <a:pt x="315" y="76"/>
                  <a:pt x="309" y="76"/>
                </a:cubicBezTo>
                <a:cubicBezTo>
                  <a:pt x="306" y="76"/>
                  <a:pt x="304" y="75"/>
                  <a:pt x="299" y="69"/>
                </a:cubicBezTo>
                <a:cubicBezTo>
                  <a:pt x="295" y="63"/>
                  <a:pt x="287" y="55"/>
                  <a:pt x="273" y="55"/>
                </a:cubicBezTo>
                <a:cubicBezTo>
                  <a:pt x="260" y="55"/>
                  <a:pt x="252" y="63"/>
                  <a:pt x="248" y="69"/>
                </a:cubicBezTo>
                <a:cubicBezTo>
                  <a:pt x="243" y="74"/>
                  <a:pt x="242" y="76"/>
                  <a:pt x="238" y="76"/>
                </a:cubicBezTo>
                <a:cubicBezTo>
                  <a:pt x="234" y="76"/>
                  <a:pt x="233" y="74"/>
                  <a:pt x="228" y="69"/>
                </a:cubicBezTo>
                <a:cubicBezTo>
                  <a:pt x="225" y="65"/>
                  <a:pt x="220" y="60"/>
                  <a:pt x="213" y="57"/>
                </a:cubicBezTo>
                <a:cubicBezTo>
                  <a:pt x="213" y="48"/>
                  <a:pt x="213" y="48"/>
                  <a:pt x="213" y="48"/>
                </a:cubicBezTo>
                <a:cubicBezTo>
                  <a:pt x="242" y="20"/>
                  <a:pt x="242" y="20"/>
                  <a:pt x="242" y="20"/>
                </a:cubicBezTo>
                <a:cubicBezTo>
                  <a:pt x="246" y="15"/>
                  <a:pt x="246" y="9"/>
                  <a:pt x="242" y="4"/>
                </a:cubicBezTo>
                <a:cubicBezTo>
                  <a:pt x="238" y="0"/>
                  <a:pt x="231" y="0"/>
                  <a:pt x="227" y="4"/>
                </a:cubicBezTo>
                <a:cubicBezTo>
                  <a:pt x="195" y="36"/>
                  <a:pt x="195" y="36"/>
                  <a:pt x="195" y="36"/>
                </a:cubicBezTo>
                <a:cubicBezTo>
                  <a:pt x="193" y="38"/>
                  <a:pt x="192" y="41"/>
                  <a:pt x="192" y="44"/>
                </a:cubicBezTo>
                <a:cubicBezTo>
                  <a:pt x="192" y="193"/>
                  <a:pt x="192" y="193"/>
                  <a:pt x="192" y="193"/>
                </a:cubicBezTo>
                <a:cubicBezTo>
                  <a:pt x="192" y="196"/>
                  <a:pt x="193" y="199"/>
                  <a:pt x="195" y="201"/>
                </a:cubicBezTo>
                <a:cubicBezTo>
                  <a:pt x="227" y="233"/>
                  <a:pt x="227" y="233"/>
                  <a:pt x="227" y="233"/>
                </a:cubicBezTo>
                <a:cubicBezTo>
                  <a:pt x="229" y="235"/>
                  <a:pt x="232" y="236"/>
                  <a:pt x="234" y="236"/>
                </a:cubicBezTo>
                <a:cubicBezTo>
                  <a:pt x="237" y="236"/>
                  <a:pt x="240" y="235"/>
                  <a:pt x="242" y="233"/>
                </a:cubicBezTo>
                <a:cubicBezTo>
                  <a:pt x="246" y="229"/>
                  <a:pt x="246" y="222"/>
                  <a:pt x="242" y="218"/>
                </a:cubicBezTo>
                <a:cubicBezTo>
                  <a:pt x="213" y="189"/>
                  <a:pt x="213" y="189"/>
                  <a:pt x="213" y="189"/>
                </a:cubicBezTo>
                <a:cubicBezTo>
                  <a:pt x="213" y="169"/>
                  <a:pt x="213" y="169"/>
                  <a:pt x="213" y="169"/>
                </a:cubicBezTo>
                <a:cubicBezTo>
                  <a:pt x="218" y="175"/>
                  <a:pt x="225" y="183"/>
                  <a:pt x="238" y="183"/>
                </a:cubicBezTo>
                <a:cubicBezTo>
                  <a:pt x="252" y="183"/>
                  <a:pt x="259" y="174"/>
                  <a:pt x="264" y="168"/>
                </a:cubicBezTo>
                <a:cubicBezTo>
                  <a:pt x="268" y="163"/>
                  <a:pt x="270" y="161"/>
                  <a:pt x="273" y="161"/>
                </a:cubicBezTo>
                <a:cubicBezTo>
                  <a:pt x="277" y="161"/>
                  <a:pt x="279" y="163"/>
                  <a:pt x="283" y="168"/>
                </a:cubicBezTo>
                <a:cubicBezTo>
                  <a:pt x="288" y="174"/>
                  <a:pt x="295" y="183"/>
                  <a:pt x="309" y="183"/>
                </a:cubicBezTo>
                <a:cubicBezTo>
                  <a:pt x="315" y="183"/>
                  <a:pt x="320" y="178"/>
                  <a:pt x="320" y="172"/>
                </a:cubicBezTo>
                <a:cubicBezTo>
                  <a:pt x="320" y="166"/>
                  <a:pt x="315" y="161"/>
                  <a:pt x="309" y="161"/>
                </a:cubicBezTo>
                <a:cubicBezTo>
                  <a:pt x="306" y="161"/>
                  <a:pt x="304" y="160"/>
                  <a:pt x="299" y="155"/>
                </a:cubicBezTo>
                <a:cubicBezTo>
                  <a:pt x="295" y="149"/>
                  <a:pt x="287" y="140"/>
                  <a:pt x="273" y="140"/>
                </a:cubicBezTo>
                <a:cubicBezTo>
                  <a:pt x="260" y="140"/>
                  <a:pt x="252" y="149"/>
                  <a:pt x="248" y="155"/>
                </a:cubicBezTo>
                <a:cubicBezTo>
                  <a:pt x="243" y="160"/>
                  <a:pt x="242" y="161"/>
                  <a:pt x="238" y="161"/>
                </a:cubicBezTo>
                <a:cubicBezTo>
                  <a:pt x="234" y="161"/>
                  <a:pt x="233" y="160"/>
                  <a:pt x="228" y="155"/>
                </a:cubicBezTo>
                <a:cubicBezTo>
                  <a:pt x="225" y="150"/>
                  <a:pt x="220" y="145"/>
                  <a:pt x="213" y="142"/>
                </a:cubicBezTo>
                <a:cubicBezTo>
                  <a:pt x="213" y="127"/>
                  <a:pt x="213" y="127"/>
                  <a:pt x="213" y="127"/>
                </a:cubicBezTo>
                <a:cubicBezTo>
                  <a:pt x="218" y="132"/>
                  <a:pt x="225" y="140"/>
                  <a:pt x="238" y="140"/>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nvGrpSpPr>
          <p:cNvPr id="178" name="Group 177"/>
          <p:cNvGrpSpPr/>
          <p:nvPr/>
        </p:nvGrpSpPr>
        <p:grpSpPr>
          <a:xfrm>
            <a:off x="3573476" y="2312929"/>
            <a:ext cx="582232" cy="359262"/>
            <a:chOff x="790632" y="5047447"/>
            <a:chExt cx="656383" cy="487435"/>
          </a:xfrm>
        </p:grpSpPr>
        <p:sp>
          <p:nvSpPr>
            <p:cNvPr id="179" name="Donut 178"/>
            <p:cNvSpPr/>
            <p:nvPr/>
          </p:nvSpPr>
          <p:spPr bwMode="gray">
            <a:xfrm>
              <a:off x="922562" y="5165469"/>
              <a:ext cx="208640" cy="208640"/>
            </a:xfrm>
            <a:prstGeom prst="donut">
              <a:avLst/>
            </a:prstGeom>
            <a:solidFill>
              <a:schemeClr val="accent6"/>
            </a:solidFill>
            <a:ln w="19050" algn="ctr">
              <a:solidFill>
                <a:schemeClr val="bg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80" name="Donut 179"/>
            <p:cNvSpPr/>
            <p:nvPr/>
          </p:nvSpPr>
          <p:spPr bwMode="gray">
            <a:xfrm>
              <a:off x="1074962" y="5317869"/>
              <a:ext cx="208640" cy="208640"/>
            </a:xfrm>
            <a:prstGeom prst="donut">
              <a:avLst/>
            </a:prstGeom>
            <a:solidFill>
              <a:schemeClr val="accent6"/>
            </a:solidFill>
            <a:ln w="19050" algn="ctr">
              <a:solidFill>
                <a:schemeClr val="bg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81" name="Donut 180"/>
            <p:cNvSpPr/>
            <p:nvPr/>
          </p:nvSpPr>
          <p:spPr bwMode="gray">
            <a:xfrm>
              <a:off x="790632" y="5320142"/>
              <a:ext cx="208640" cy="208640"/>
            </a:xfrm>
            <a:prstGeom prst="donut">
              <a:avLst/>
            </a:prstGeom>
            <a:solidFill>
              <a:schemeClr val="accent6"/>
            </a:solidFill>
            <a:ln w="19050" algn="ctr">
              <a:solidFill>
                <a:schemeClr val="bg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cxnSp>
          <p:nvCxnSpPr>
            <p:cNvPr id="182" name="Straight Connector 181"/>
            <p:cNvCxnSpPr/>
            <p:nvPr/>
          </p:nvCxnSpPr>
          <p:spPr>
            <a:xfrm flipV="1">
              <a:off x="1026882" y="5047447"/>
              <a:ext cx="301289" cy="1084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V="1">
              <a:off x="1036407" y="5232129"/>
              <a:ext cx="360000" cy="1419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a:stCxn id="181" idx="4"/>
              <a:endCxn id="180" idx="2"/>
            </p:cNvCxnSpPr>
            <p:nvPr/>
          </p:nvCxnSpPr>
          <p:spPr>
            <a:xfrm flipV="1">
              <a:off x="894952" y="5422189"/>
              <a:ext cx="180010" cy="1065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endCxn id="188" idx="2"/>
            </p:cNvCxnSpPr>
            <p:nvPr/>
          </p:nvCxnSpPr>
          <p:spPr>
            <a:xfrm flipV="1">
              <a:off x="1238430" y="5419444"/>
              <a:ext cx="202481" cy="8344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a:stCxn id="181" idx="0"/>
              <a:endCxn id="179" idx="2"/>
            </p:cNvCxnSpPr>
            <p:nvPr/>
          </p:nvCxnSpPr>
          <p:spPr>
            <a:xfrm flipV="1">
              <a:off x="894952" y="5269789"/>
              <a:ext cx="27610" cy="5035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7" name="Arc 186"/>
            <p:cNvSpPr/>
            <p:nvPr/>
          </p:nvSpPr>
          <p:spPr>
            <a:xfrm rot="1100968">
              <a:off x="1149772" y="5047447"/>
              <a:ext cx="240093" cy="306460"/>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00838" tIns="50419" rIns="100838" bIns="50419" numCol="1" spcCol="0" rtlCol="0" fromWordArt="0" anchor="ctr" anchorCtr="0" forceAA="0" compatLnSpc="1">
              <a:prstTxWarp prst="textNoShape">
                <a:avLst/>
              </a:prstTxWarp>
              <a:noAutofit/>
            </a:bodyPr>
            <a:lstStyle/>
            <a:p>
              <a:pPr algn="ctr"/>
              <a:endParaRPr lang="en-IN" sz="2264"/>
            </a:p>
          </p:txBody>
        </p:sp>
        <p:sp>
          <p:nvSpPr>
            <p:cNvPr id="188" name="Arc 187"/>
            <p:cNvSpPr/>
            <p:nvPr/>
          </p:nvSpPr>
          <p:spPr>
            <a:xfrm rot="1100968">
              <a:off x="1206922" y="5228422"/>
              <a:ext cx="240093" cy="306460"/>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00838" tIns="50419" rIns="100838" bIns="50419" numCol="1" spcCol="0" rtlCol="0" fromWordArt="0" anchor="ctr" anchorCtr="0" forceAA="0" compatLnSpc="1">
              <a:prstTxWarp prst="textNoShape">
                <a:avLst/>
              </a:prstTxWarp>
              <a:noAutofit/>
            </a:bodyPr>
            <a:lstStyle/>
            <a:p>
              <a:pPr algn="ctr"/>
              <a:endParaRPr lang="en-IN" sz="2264"/>
            </a:p>
          </p:txBody>
        </p:sp>
        <p:sp>
          <p:nvSpPr>
            <p:cNvPr id="189" name="Oval 188"/>
            <p:cNvSpPr>
              <a:spLocks noChangeAspect="1"/>
            </p:cNvSpPr>
            <p:nvPr/>
          </p:nvSpPr>
          <p:spPr bwMode="gray">
            <a:xfrm>
              <a:off x="999272" y="5238699"/>
              <a:ext cx="61918" cy="61918"/>
            </a:xfrm>
            <a:prstGeom prst="ellipse">
              <a:avLst/>
            </a:prstGeom>
            <a:solidFill>
              <a:schemeClr val="accent6"/>
            </a:solidFill>
            <a:ln w="19050" algn="ctr">
              <a:solidFill>
                <a:schemeClr val="bg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90" name="Oval 189"/>
            <p:cNvSpPr>
              <a:spLocks noChangeAspect="1"/>
            </p:cNvSpPr>
            <p:nvPr/>
          </p:nvSpPr>
          <p:spPr bwMode="gray">
            <a:xfrm>
              <a:off x="1151672" y="5391099"/>
              <a:ext cx="61918" cy="61918"/>
            </a:xfrm>
            <a:prstGeom prst="ellipse">
              <a:avLst/>
            </a:prstGeom>
            <a:solidFill>
              <a:schemeClr val="accent6"/>
            </a:solidFill>
            <a:ln w="19050" algn="ctr">
              <a:solidFill>
                <a:schemeClr val="bg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91" name="Oval 190"/>
            <p:cNvSpPr>
              <a:spLocks noChangeAspect="1"/>
            </p:cNvSpPr>
            <p:nvPr/>
          </p:nvSpPr>
          <p:spPr bwMode="gray">
            <a:xfrm>
              <a:off x="865922" y="5400624"/>
              <a:ext cx="61918" cy="61918"/>
            </a:xfrm>
            <a:prstGeom prst="ellipse">
              <a:avLst/>
            </a:prstGeom>
            <a:solidFill>
              <a:schemeClr val="accent6"/>
            </a:solidFill>
            <a:ln w="19050" algn="ctr">
              <a:solidFill>
                <a:schemeClr val="bg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grpSp>
      <p:sp>
        <p:nvSpPr>
          <p:cNvPr id="192" name="TextBox 191"/>
          <p:cNvSpPr txBox="1"/>
          <p:nvPr/>
        </p:nvSpPr>
        <p:spPr>
          <a:xfrm>
            <a:off x="758915" y="1178402"/>
            <a:ext cx="2395337" cy="2329164"/>
          </a:xfrm>
          <a:prstGeom prst="rect">
            <a:avLst/>
          </a:prstGeom>
          <a:noFill/>
        </p:spPr>
        <p:txBody>
          <a:bodyPr wrap="square" lIns="0" tIns="0" rIns="0" bIns="0" rtlCol="0">
            <a:spAutoFit/>
          </a:bodyPr>
          <a:lstStyle/>
          <a:p>
            <a:pPr marL="224089" indent="-224089">
              <a:spcBef>
                <a:spcPts val="662"/>
              </a:spcBef>
              <a:buSzPct val="100000"/>
              <a:buFont typeface="Arial"/>
              <a:buChar char="•"/>
            </a:pPr>
            <a:r>
              <a:rPr lang="en-US" sz="1323" dirty="0">
                <a:solidFill>
                  <a:srgbClr val="313131"/>
                </a:solidFill>
              </a:rPr>
              <a:t>LEAP is a scenario-based energy-environment modelling tool</a:t>
            </a:r>
          </a:p>
          <a:p>
            <a:pPr marL="224089" indent="-224089">
              <a:spcBef>
                <a:spcPts val="662"/>
              </a:spcBef>
              <a:buSzPct val="100000"/>
              <a:buFont typeface="Arial"/>
              <a:buChar char="•"/>
            </a:pPr>
            <a:r>
              <a:rPr lang="en-US" sz="1323" dirty="0">
                <a:solidFill>
                  <a:srgbClr val="313131"/>
                </a:solidFill>
              </a:rPr>
              <a:t>LEAP performs comprehensive accounting of how energy is produced, converted and consumed in a given economy under a range of alternative scenarios</a:t>
            </a:r>
            <a:endParaRPr lang="en-IN" sz="1323" dirty="0">
              <a:solidFill>
                <a:srgbClr val="313131"/>
              </a:solidFill>
            </a:endParaRPr>
          </a:p>
        </p:txBody>
      </p:sp>
      <p:sp>
        <p:nvSpPr>
          <p:cNvPr id="194" name="Isosceles Triangle 193"/>
          <p:cNvSpPr/>
          <p:nvPr/>
        </p:nvSpPr>
        <p:spPr bwMode="gray">
          <a:xfrm rot="10800000">
            <a:off x="1507701" y="3733160"/>
            <a:ext cx="4408535" cy="182183"/>
          </a:xfrm>
          <a:prstGeom prst="triangle">
            <a:avLst/>
          </a:prstGeom>
          <a:solidFill>
            <a:schemeClr val="accent6">
              <a:alpha val="61000"/>
            </a:schemeClr>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80"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LEAP Framework – The Data Tree</a:t>
            </a:r>
          </a:p>
        </p:txBody>
      </p:sp>
    </p:spTree>
    <p:extLst>
      <p:ext uri="{BB962C8B-B14F-4D97-AF65-F5344CB8AC3E}">
        <p14:creationId xmlns:p14="http://schemas.microsoft.com/office/powerpoint/2010/main" val="56700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 name="Group 85"/>
          <p:cNvGrpSpPr/>
          <p:nvPr/>
        </p:nvGrpSpPr>
        <p:grpSpPr>
          <a:xfrm>
            <a:off x="2351052" y="5889859"/>
            <a:ext cx="316201" cy="314839"/>
            <a:chOff x="5246406" y="3923189"/>
            <a:chExt cx="2209800" cy="2200275"/>
          </a:xfrm>
        </p:grpSpPr>
        <p:pic>
          <p:nvPicPr>
            <p:cNvPr id="87" name="Picture 86"/>
            <p:cNvPicPr>
              <a:picLocks noChangeAspect="1"/>
            </p:cNvPicPr>
            <p:nvPr/>
          </p:nvPicPr>
          <p:blipFill>
            <a:blip r:embed="rId2"/>
            <a:stretch>
              <a:fillRect/>
            </a:stretch>
          </p:blipFill>
          <p:spPr>
            <a:xfrm>
              <a:off x="5246406" y="3923189"/>
              <a:ext cx="2209800" cy="2200275"/>
            </a:xfrm>
            <a:prstGeom prst="rect">
              <a:avLst/>
            </a:prstGeom>
          </p:spPr>
        </p:pic>
        <p:pic>
          <p:nvPicPr>
            <p:cNvPr id="88" name="Picture 8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10691" y="4309654"/>
              <a:ext cx="1355388" cy="1355388"/>
            </a:xfrm>
            <a:prstGeom prst="rect">
              <a:avLst/>
            </a:prstGeom>
          </p:spPr>
        </p:pic>
      </p:grpSp>
      <p:sp>
        <p:nvSpPr>
          <p:cNvPr id="65" name="Rounded Rectangle 64"/>
          <p:cNvSpPr/>
          <p:nvPr/>
        </p:nvSpPr>
        <p:spPr bwMode="gray">
          <a:xfrm>
            <a:off x="2200434" y="2261261"/>
            <a:ext cx="1445298" cy="373971"/>
          </a:xfrm>
          <a:prstGeom prst="roundRect">
            <a:avLst/>
          </a:prstGeom>
          <a:noFill/>
          <a:ln w="19050" algn="ctr">
            <a:solidFill>
              <a:schemeClr val="accent6"/>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pic>
        <p:nvPicPr>
          <p:cNvPr id="26" name="Picture 25"/>
          <p:cNvPicPr>
            <a:picLocks noChangeAspect="1"/>
          </p:cNvPicPr>
          <p:nvPr/>
        </p:nvPicPr>
        <p:blipFill>
          <a:blip r:embed="rId4"/>
          <a:stretch>
            <a:fillRect/>
          </a:stretch>
        </p:blipFill>
        <p:spPr>
          <a:xfrm>
            <a:off x="2257335" y="1010945"/>
            <a:ext cx="472678" cy="419296"/>
          </a:xfrm>
          <a:prstGeom prst="rect">
            <a:avLst/>
          </a:prstGeom>
        </p:spPr>
      </p:pic>
      <p:graphicFrame>
        <p:nvGraphicFramePr>
          <p:cNvPr id="20" name="Table 19"/>
          <p:cNvGraphicFramePr>
            <a:graphicFrameLocks noGrp="1"/>
          </p:cNvGraphicFramePr>
          <p:nvPr/>
        </p:nvGraphicFramePr>
        <p:xfrm>
          <a:off x="713628" y="1508005"/>
          <a:ext cx="9257686" cy="5122713"/>
        </p:xfrm>
        <a:graphic>
          <a:graphicData uri="http://schemas.openxmlformats.org/drawingml/2006/table">
            <a:tbl>
              <a:tblPr>
                <a:tableStyleId>{5C22544A-7EE6-4342-B048-85BDC9FD1C3A}</a:tableStyleId>
              </a:tblPr>
              <a:tblGrid>
                <a:gridCol w="1449766">
                  <a:extLst>
                    <a:ext uri="{9D8B030D-6E8A-4147-A177-3AD203B41FA5}">
                      <a16:colId xmlns:a16="http://schemas.microsoft.com/office/drawing/2014/main" val="20000"/>
                    </a:ext>
                  </a:extLst>
                </a:gridCol>
                <a:gridCol w="1761046">
                  <a:extLst>
                    <a:ext uri="{9D8B030D-6E8A-4147-A177-3AD203B41FA5}">
                      <a16:colId xmlns:a16="http://schemas.microsoft.com/office/drawing/2014/main" val="20001"/>
                    </a:ext>
                  </a:extLst>
                </a:gridCol>
                <a:gridCol w="1841292">
                  <a:extLst>
                    <a:ext uri="{9D8B030D-6E8A-4147-A177-3AD203B41FA5}">
                      <a16:colId xmlns:a16="http://schemas.microsoft.com/office/drawing/2014/main" val="20002"/>
                    </a:ext>
                  </a:extLst>
                </a:gridCol>
                <a:gridCol w="2016760">
                  <a:extLst>
                    <a:ext uri="{9D8B030D-6E8A-4147-A177-3AD203B41FA5}">
                      <a16:colId xmlns:a16="http://schemas.microsoft.com/office/drawing/2014/main" val="20003"/>
                    </a:ext>
                  </a:extLst>
                </a:gridCol>
                <a:gridCol w="2188822">
                  <a:extLst>
                    <a:ext uri="{9D8B030D-6E8A-4147-A177-3AD203B41FA5}">
                      <a16:colId xmlns:a16="http://schemas.microsoft.com/office/drawing/2014/main" val="20004"/>
                    </a:ext>
                  </a:extLst>
                </a:gridCol>
              </a:tblGrid>
              <a:tr h="705866">
                <a:tc rowSpan="3">
                  <a:txBody>
                    <a:bodyPr/>
                    <a:lstStyle/>
                    <a:p>
                      <a:pPr marL="0" indent="0">
                        <a:spcBef>
                          <a:spcPts val="300"/>
                        </a:spcBef>
                        <a:buFont typeface="Arial" panose="020B0604020202020204" pitchFamily="34" charset="0"/>
                        <a:buNone/>
                      </a:pPr>
                      <a:r>
                        <a:rPr lang="en-US" sz="1100" b="1" dirty="0">
                          <a:solidFill>
                            <a:schemeClr val="bg1"/>
                          </a:solidFill>
                          <a:latin typeface="+mn-lt"/>
                        </a:rPr>
                        <a:t>Demand</a:t>
                      </a:r>
                      <a:r>
                        <a:rPr lang="en-US" sz="1100" b="1" baseline="0" dirty="0">
                          <a:solidFill>
                            <a:schemeClr val="bg1"/>
                          </a:solidFill>
                          <a:latin typeface="+mn-lt"/>
                        </a:rPr>
                        <a:t> Analysis</a:t>
                      </a:r>
                      <a:endParaRPr lang="en-US" sz="1100" b="1" dirty="0">
                        <a:solidFill>
                          <a:schemeClr val="bg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solidFill>
                      <a:schemeClr val="accent4"/>
                    </a:solidFill>
                  </a:tcPr>
                </a:tc>
                <a:tc>
                  <a:txBody>
                    <a:bodyPr/>
                    <a:lstStyle/>
                    <a:p>
                      <a:pPr marL="0" indent="0">
                        <a:spcBef>
                          <a:spcPts val="300"/>
                        </a:spcBef>
                        <a:buFont typeface="Arial" panose="020B0604020202020204" pitchFamily="34" charset="0"/>
                        <a:buNone/>
                      </a:pPr>
                      <a:r>
                        <a:rPr kumimoji="0" lang="en-US" sz="1100" b="0" i="0" u="none" strike="noStrike" kern="1200" cap="none" spc="0" normalizeH="0" baseline="0" noProof="0" dirty="0">
                          <a:ln>
                            <a:noFill/>
                          </a:ln>
                          <a:effectLst/>
                          <a:uLnTx/>
                          <a:uFillTx/>
                          <a:ea typeface="+mn-ea"/>
                          <a:cs typeface="+mn-cs"/>
                        </a:rPr>
                        <a:t>Used for organizing sectors, sub-sectors and end-uses</a:t>
                      </a: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lvl="1" indent="0" defTabSz="914400" rtl="0" eaLnBrk="1" fontAlgn="auto" latinLnBrk="0" hangingPunct="1">
                        <a:lnSpc>
                          <a:spcPct val="100000"/>
                        </a:lnSpc>
                        <a:spcBef>
                          <a:spcPts val="600"/>
                        </a:spcBef>
                        <a:spcAft>
                          <a:spcPts val="0"/>
                        </a:spcAft>
                        <a:buSzPct val="100000"/>
                        <a:buFont typeface="Arial"/>
                        <a:buNone/>
                        <a:tabLst/>
                        <a:defRPr/>
                      </a:pPr>
                      <a:r>
                        <a:rPr kumimoji="0" lang="en-US" sz="1100" b="0" i="0" u="none" strike="noStrike" kern="1200" cap="none" spc="0" normalizeH="0" baseline="0" noProof="0" dirty="0">
                          <a:ln>
                            <a:noFill/>
                          </a:ln>
                          <a:effectLst/>
                          <a:uLnTx/>
                          <a:uFillTx/>
                          <a:ea typeface="+mn-ea"/>
                          <a:cs typeface="+mn-cs"/>
                        </a:rPr>
                        <a:t>Used to represent final energy consuming devices</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801688"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100" b="0" dirty="0">
                          <a:solidFill>
                            <a:schemeClr val="tx1"/>
                          </a:solidFill>
                          <a:latin typeface="+mn-lt"/>
                        </a:rPr>
                        <a:t>-</a:t>
                      </a:r>
                    </a:p>
                    <a:p>
                      <a:pPr marL="0" indent="0">
                        <a:spcBef>
                          <a:spcPts val="300"/>
                        </a:spcBef>
                        <a:buFont typeface="Arial" panose="020B0604020202020204" pitchFamily="34" charset="0"/>
                        <a:buNone/>
                      </a:pP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dirty="0">
                          <a:solidFill>
                            <a:schemeClr val="tx1"/>
                          </a:solidFill>
                          <a:latin typeface="+mn-lt"/>
                        </a:rPr>
                        <a:t>Represent</a:t>
                      </a:r>
                      <a:r>
                        <a:rPr lang="en-US" sz="1100" b="0" baseline="0" dirty="0">
                          <a:solidFill>
                            <a:schemeClr val="tx1"/>
                          </a:solidFill>
                          <a:latin typeface="+mn-lt"/>
                        </a:rPr>
                        <a:t> the emissions of a particular technology combined with its fuel type</a:t>
                      </a: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0000"/>
                  </a:ext>
                </a:extLst>
              </a:tr>
              <a:tr h="480153">
                <a:tc vMerge="1">
                  <a:txBody>
                    <a:bodyPr/>
                    <a:lstStyle/>
                    <a:p>
                      <a:pPr marL="0" indent="0">
                        <a:spcBef>
                          <a:spcPts val="300"/>
                        </a:spcBef>
                        <a:buFont typeface="Arial" panose="020B0604020202020204" pitchFamily="34" charset="0"/>
                        <a:buNone/>
                      </a:pPr>
                      <a:endParaRPr lang="en-US" sz="1000" b="0" i="1"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solidFill>
                      <a:schemeClr val="accent4"/>
                    </a:solidFill>
                  </a:tcPr>
                </a:tc>
                <a:tc>
                  <a:txBody>
                    <a:bodyPr/>
                    <a:lstStyle/>
                    <a:p>
                      <a:pPr marL="0" indent="0">
                        <a:spcBef>
                          <a:spcPts val="300"/>
                        </a:spcBef>
                        <a:buFont typeface="Arial" panose="020B0604020202020204" pitchFamily="34" charset="0"/>
                        <a:buNone/>
                      </a:pPr>
                      <a:endParaRPr lang="en-US" sz="1100" b="0" i="1"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lvl="1" indent="0" defTabSz="914400" rtl="0" eaLnBrk="1" fontAlgn="auto" latinLnBrk="0" hangingPunct="1">
                        <a:lnSpc>
                          <a:spcPct val="100000"/>
                        </a:lnSpc>
                        <a:spcBef>
                          <a:spcPts val="600"/>
                        </a:spcBef>
                        <a:spcAft>
                          <a:spcPts val="0"/>
                        </a:spcAft>
                        <a:buSzPct val="100000"/>
                        <a:buFont typeface="Arial"/>
                        <a:buNone/>
                        <a:tabLst/>
                        <a:defRPr/>
                      </a:pPr>
                      <a:endParaRPr kumimoji="0" lang="en-US" sz="1100" b="0" i="1" u="none" strike="noStrike" kern="1200" cap="none" spc="0" normalizeH="0" baseline="0" noProof="0" dirty="0">
                        <a:ln>
                          <a:noFill/>
                        </a:ln>
                        <a:effectLst/>
                        <a:uLnTx/>
                        <a:uFillTx/>
                        <a:ea typeface="+mn-ea"/>
                        <a:cs typeface="+mn-cs"/>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801688"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100" b="0" dirty="0">
                          <a:solidFill>
                            <a:schemeClr val="tx1"/>
                          </a:solidFill>
                          <a:latin typeface="+mn-lt"/>
                        </a:rPr>
                        <a:t>-</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endParaRPr lang="en-US" sz="1100" b="0" i="1"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3026815037"/>
                  </a:ext>
                </a:extLst>
              </a:tr>
              <a:tr h="369739">
                <a:tc vMerge="1">
                  <a:txBody>
                    <a:bodyPr/>
                    <a:lstStyle/>
                    <a:p>
                      <a:pPr marL="0" indent="0">
                        <a:spcBef>
                          <a:spcPts val="300"/>
                        </a:spcBef>
                        <a:buFont typeface="Arial" panose="020B0604020202020204" pitchFamily="34" charset="0"/>
                        <a:buNone/>
                      </a:pPr>
                      <a:endParaRPr lang="en-US" sz="1000" b="0" i="1"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solidFill>
                      <a:schemeClr val="accent4"/>
                    </a:solidFill>
                  </a:tcPr>
                </a:tc>
                <a:tc>
                  <a:txBody>
                    <a:bodyPr/>
                    <a:lstStyle/>
                    <a:p>
                      <a:pPr marL="0" indent="0">
                        <a:spcBef>
                          <a:spcPts val="300"/>
                        </a:spcBef>
                        <a:buFont typeface="Arial" panose="020B0604020202020204" pitchFamily="34" charset="0"/>
                        <a:buNone/>
                      </a:pPr>
                      <a:r>
                        <a:rPr lang="en-US" sz="1100" b="0" i="1" dirty="0">
                          <a:solidFill>
                            <a:schemeClr val="tx1"/>
                          </a:solidFill>
                          <a:latin typeface="+mn-lt"/>
                        </a:rPr>
                        <a:t>Flexible</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lvl="1" indent="0" defTabSz="914400" rtl="0" eaLnBrk="1" fontAlgn="auto" latinLnBrk="0" hangingPunct="1">
                        <a:lnSpc>
                          <a:spcPct val="100000"/>
                        </a:lnSpc>
                        <a:spcBef>
                          <a:spcPts val="600"/>
                        </a:spcBef>
                        <a:spcAft>
                          <a:spcPts val="0"/>
                        </a:spcAft>
                        <a:buSzPct val="100000"/>
                        <a:buFont typeface="Arial"/>
                        <a:buNone/>
                        <a:tabLst/>
                        <a:defRPr/>
                      </a:pPr>
                      <a:r>
                        <a:rPr kumimoji="0" lang="en-US" sz="1100" b="0" i="1" u="none" strike="noStrike" kern="1200" cap="none" spc="0" normalizeH="0" baseline="0" noProof="0" dirty="0">
                          <a:ln>
                            <a:noFill/>
                          </a:ln>
                          <a:effectLst/>
                          <a:uLnTx/>
                          <a:uFillTx/>
                          <a:ea typeface="+mn-ea"/>
                          <a:cs typeface="+mn-cs"/>
                        </a:rPr>
                        <a:t>Flexible</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801688"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100" b="0" dirty="0">
                          <a:solidFill>
                            <a:schemeClr val="tx1"/>
                          </a:solidFill>
                          <a:latin typeface="+mn-lt"/>
                        </a:rPr>
                        <a:t>-</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i="1" dirty="0">
                          <a:solidFill>
                            <a:schemeClr val="tx1"/>
                          </a:solidFill>
                          <a:latin typeface="+mn-lt"/>
                        </a:rPr>
                        <a:t>Flexible</a:t>
                      </a: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2819217010"/>
                  </a:ext>
                </a:extLst>
              </a:tr>
              <a:tr h="1086653">
                <a:tc rowSpan="3">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100" b="1" dirty="0">
                          <a:solidFill>
                            <a:schemeClr val="bg1"/>
                          </a:solidFill>
                          <a:latin typeface="+mn-lt"/>
                        </a:rPr>
                        <a:t>Transformation</a:t>
                      </a:r>
                      <a:r>
                        <a:rPr lang="en-US" sz="1100" b="1" baseline="0" dirty="0">
                          <a:solidFill>
                            <a:schemeClr val="bg1"/>
                          </a:solidFill>
                          <a:latin typeface="+mn-lt"/>
                        </a:rPr>
                        <a:t> Analysis</a:t>
                      </a:r>
                      <a:endParaRPr lang="en-US" sz="1100" b="1" dirty="0">
                        <a:solidFill>
                          <a:schemeClr val="bg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solidFill>
                      <a:schemeClr val="accent5"/>
                    </a:solid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100" dirty="0"/>
                        <a:t>Used for energy conversion modules and organize various processes and output fuels </a:t>
                      </a: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lvl="1" indent="0" defTabSz="914400" rtl="0" eaLnBrk="1" fontAlgn="auto" latinLnBrk="0" hangingPunct="1">
                        <a:lnSpc>
                          <a:spcPct val="100000"/>
                        </a:lnSpc>
                        <a:spcBef>
                          <a:spcPts val="600"/>
                        </a:spcBef>
                        <a:spcAft>
                          <a:spcPts val="0"/>
                        </a:spcAft>
                        <a:buSzPct val="100000"/>
                        <a:buFont typeface="Arial"/>
                        <a:buNone/>
                        <a:tabLst/>
                        <a:defRPr/>
                      </a:pPr>
                      <a:r>
                        <a:rPr lang="en-US" sz="1100" dirty="0"/>
                        <a:t>Used to indicate processes</a:t>
                      </a:r>
                      <a:endParaRPr kumimoji="0" lang="en-US" sz="1100" b="0" i="0" u="none" strike="noStrike" kern="1200" cap="none" spc="0" normalizeH="0" baseline="0" noProof="0" dirty="0">
                        <a:ln>
                          <a:noFill/>
                        </a:ln>
                        <a:effectLst/>
                        <a:uLnTx/>
                        <a:uFillTx/>
                        <a:ea typeface="+mn-ea"/>
                        <a:cs typeface="+mn-cs"/>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100" b="0" dirty="0">
                          <a:solidFill>
                            <a:schemeClr val="tx1"/>
                          </a:solidFill>
                          <a:latin typeface="+mn-lt"/>
                        </a:rPr>
                        <a:t>Represents</a:t>
                      </a:r>
                      <a:r>
                        <a:rPr lang="en-US" sz="1100" b="0" baseline="0" dirty="0">
                          <a:solidFill>
                            <a:schemeClr val="tx1"/>
                          </a:solidFill>
                          <a:latin typeface="+mn-lt"/>
                        </a:rPr>
                        <a:t> the various output fuels produced by each transformation module</a:t>
                      </a: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dirty="0">
                          <a:solidFill>
                            <a:schemeClr val="tx1"/>
                          </a:solidFill>
                          <a:latin typeface="+mn-lt"/>
                        </a:rPr>
                        <a:t>Represent</a:t>
                      </a:r>
                      <a:r>
                        <a:rPr lang="en-US" sz="1100" b="0" baseline="0" dirty="0">
                          <a:solidFill>
                            <a:schemeClr val="tx1"/>
                          </a:solidFill>
                          <a:latin typeface="+mn-lt"/>
                        </a:rPr>
                        <a:t> the emissions of a particular transformation process based on feedstock fuel type</a:t>
                      </a: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0001"/>
                  </a:ext>
                </a:extLst>
              </a:tr>
              <a:tr h="424914">
                <a:tc vMerge="1">
                  <a:txBody>
                    <a:bodyPr/>
                    <a:lstStyle/>
                    <a:p>
                      <a:pPr marL="0" indent="0">
                        <a:spcBef>
                          <a:spcPts val="300"/>
                        </a:spcBef>
                        <a:buFont typeface="Arial" panose="020B0604020202020204" pitchFamily="34" charset="0"/>
                        <a:buNone/>
                      </a:pPr>
                      <a:endParaRPr lang="en-US" sz="1000" b="0" i="1"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endParaRPr lang="en-US" sz="1100" b="0" i="1"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lvl="1" indent="0" defTabSz="914400" rtl="0" eaLnBrk="1" fontAlgn="auto" latinLnBrk="0" hangingPunct="1">
                        <a:lnSpc>
                          <a:spcPct val="100000"/>
                        </a:lnSpc>
                        <a:spcBef>
                          <a:spcPts val="600"/>
                        </a:spcBef>
                        <a:spcAft>
                          <a:spcPts val="0"/>
                        </a:spcAft>
                        <a:buSzPct val="100000"/>
                        <a:buFont typeface="Arial"/>
                        <a:buNone/>
                        <a:tabLst/>
                        <a:defRPr/>
                      </a:pPr>
                      <a:endParaRPr kumimoji="0" lang="en-US" sz="1100" b="0" i="1" u="none" strike="noStrike" kern="1200" cap="none" spc="0" normalizeH="0" baseline="0" noProof="0" dirty="0">
                        <a:ln>
                          <a:noFill/>
                        </a:ln>
                        <a:effectLst/>
                        <a:uLnTx/>
                        <a:uFillTx/>
                        <a:ea typeface="+mn-ea"/>
                        <a:cs typeface="+mn-cs"/>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endParaRPr lang="en-US" sz="1100" b="0" i="1"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endParaRPr lang="en-US" sz="1100" b="0" i="1"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929567319"/>
                  </a:ext>
                </a:extLst>
              </a:tr>
              <a:tr h="369739">
                <a:tc vMerge="1">
                  <a:txBody>
                    <a:bodyPr/>
                    <a:lstStyle/>
                    <a:p>
                      <a:pPr marL="0" indent="0">
                        <a:spcBef>
                          <a:spcPts val="300"/>
                        </a:spcBef>
                        <a:buFont typeface="Arial" panose="020B0604020202020204" pitchFamily="34" charset="0"/>
                        <a:buNone/>
                      </a:pPr>
                      <a:endParaRPr lang="en-US" sz="1000" b="0" i="1"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i="1" dirty="0">
                          <a:solidFill>
                            <a:schemeClr val="tx1"/>
                          </a:solidFill>
                          <a:latin typeface="+mn-lt"/>
                        </a:rPr>
                        <a:t>Not Flexible</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lvl="1" indent="0" defTabSz="914400" rtl="0" eaLnBrk="1" fontAlgn="auto" latinLnBrk="0" hangingPunct="1">
                        <a:lnSpc>
                          <a:spcPct val="100000"/>
                        </a:lnSpc>
                        <a:spcBef>
                          <a:spcPts val="600"/>
                        </a:spcBef>
                        <a:spcAft>
                          <a:spcPts val="0"/>
                        </a:spcAft>
                        <a:buSzPct val="100000"/>
                        <a:buFont typeface="Arial"/>
                        <a:buNone/>
                        <a:tabLst/>
                        <a:defRPr/>
                      </a:pPr>
                      <a:r>
                        <a:rPr kumimoji="0" lang="en-US" sz="1100" b="0" i="1" u="none" strike="noStrike" kern="1200" cap="none" spc="0" normalizeH="0" baseline="0" noProof="0" dirty="0">
                          <a:ln>
                            <a:noFill/>
                          </a:ln>
                          <a:effectLst/>
                          <a:uLnTx/>
                          <a:uFillTx/>
                          <a:ea typeface="+mn-ea"/>
                          <a:cs typeface="+mn-cs"/>
                        </a:rPr>
                        <a:t>Not flexible</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i="1" dirty="0">
                          <a:solidFill>
                            <a:schemeClr val="tx1"/>
                          </a:solidFill>
                          <a:latin typeface="+mn-lt"/>
                        </a:rPr>
                        <a:t>Not flexible</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i="1" dirty="0">
                          <a:solidFill>
                            <a:schemeClr val="tx1"/>
                          </a:solidFill>
                          <a:latin typeface="+mn-lt"/>
                        </a:rPr>
                        <a:t>Flexible</a:t>
                      </a: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4204990270"/>
                  </a:ext>
                </a:extLst>
              </a:tr>
              <a:tr h="873929">
                <a:tc rowSpan="3">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100" b="1" dirty="0">
                          <a:solidFill>
                            <a:schemeClr val="bg1"/>
                          </a:solidFill>
                          <a:latin typeface="+mn-lt"/>
                        </a:rPr>
                        <a:t>Resources</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solidFill>
                      <a:schemeClr val="accent6"/>
                    </a:solidFill>
                  </a:tcPr>
                </a:tc>
                <a:tc>
                  <a:txBody>
                    <a:bodyPr/>
                    <a:lstStyle/>
                    <a:p>
                      <a:pPr marL="0" indent="0">
                        <a:spcBef>
                          <a:spcPts val="300"/>
                        </a:spcBef>
                        <a:buFont typeface="Arial" panose="020B0604020202020204" pitchFamily="34" charset="0"/>
                        <a:buNone/>
                      </a:pPr>
                      <a:r>
                        <a:rPr kumimoji="0" lang="en-US" sz="1100" b="0" i="0" u="none" strike="noStrike" kern="1200" cap="none" spc="0" normalizeH="0" noProof="0" dirty="0">
                          <a:ln>
                            <a:noFill/>
                          </a:ln>
                          <a:effectLst/>
                          <a:uLnTx/>
                          <a:uFillTx/>
                          <a:ea typeface="+mn-ea"/>
                          <a:cs typeface="+mn-cs"/>
                        </a:rPr>
                        <a:t>Used for organizing </a:t>
                      </a:r>
                      <a:r>
                        <a:rPr kumimoji="0" lang="en-US" sz="1100" b="0" i="0" u="none" strike="noStrike" kern="1200" cap="none" spc="0" normalizeH="0" noProof="0" dirty="0" err="1">
                          <a:ln>
                            <a:noFill/>
                          </a:ln>
                          <a:effectLst/>
                          <a:uLnTx/>
                          <a:uFillTx/>
                          <a:ea typeface="+mn-ea"/>
                          <a:cs typeface="+mn-cs"/>
                        </a:rPr>
                        <a:t>primar</a:t>
                      </a:r>
                      <a:r>
                        <a:rPr lang="en-US" sz="1100" dirty="0"/>
                        <a:t>y resources</a:t>
                      </a:r>
                      <a:r>
                        <a:rPr kumimoji="0" lang="en-US" sz="1100" b="0" i="0" u="none" strike="noStrike" kern="1200" cap="none" spc="0" normalizeH="0" noProof="0" dirty="0">
                          <a:ln>
                            <a:noFill/>
                          </a:ln>
                          <a:effectLst/>
                          <a:uLnTx/>
                          <a:uFillTx/>
                          <a:ea typeface="+mn-ea"/>
                          <a:cs typeface="+mn-cs"/>
                        </a:rPr>
                        <a:t> and secondary fuels</a:t>
                      </a: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450850" algn="l">
                        <a:spcBef>
                          <a:spcPts val="300"/>
                        </a:spcBef>
                        <a:buFont typeface="Arial" panose="020B0604020202020204" pitchFamily="34" charset="0"/>
                        <a:buNone/>
                      </a:pPr>
                      <a:r>
                        <a:rPr lang="en-US" sz="1100" b="0" dirty="0">
                          <a:solidFill>
                            <a:schemeClr val="tx1"/>
                          </a:solidFill>
                          <a:latin typeface="+mn-lt"/>
                        </a:rPr>
                        <a:t>-</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dirty="0">
                          <a:solidFill>
                            <a:schemeClr val="tx1"/>
                          </a:solidFill>
                          <a:latin typeface="+mn-lt"/>
                        </a:rPr>
                        <a:t>Represent primary and secondary fuels produced, imported or exported in the area</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450850" indent="0" algn="l">
                        <a:spcBef>
                          <a:spcPts val="300"/>
                        </a:spcBef>
                        <a:buFont typeface="Arial" panose="020B0604020202020204" pitchFamily="34" charset="0"/>
                        <a:buNone/>
                      </a:pPr>
                      <a:r>
                        <a:rPr lang="en-US" sz="1100" b="0" dirty="0">
                          <a:solidFill>
                            <a:schemeClr val="tx1"/>
                          </a:solidFill>
                          <a:latin typeface="+mn-lt"/>
                        </a:rPr>
                        <a:t>-</a:t>
                      </a: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0002"/>
                  </a:ext>
                </a:extLst>
              </a:tr>
              <a:tr h="441981">
                <a:tc vMerge="1">
                  <a:txBody>
                    <a:bodyPr/>
                    <a:lstStyle/>
                    <a:p>
                      <a:pPr marL="0" indent="0">
                        <a:spcBef>
                          <a:spcPts val="300"/>
                        </a:spcBef>
                        <a:buFont typeface="Arial" panose="020B0604020202020204" pitchFamily="34" charset="0"/>
                        <a:buNone/>
                      </a:pPr>
                      <a:endParaRPr lang="en-US" sz="1000" b="0" i="1"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endParaRPr lang="en-US" sz="1100" b="0" i="1"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450850" indent="0" algn="l">
                        <a:spcBef>
                          <a:spcPts val="300"/>
                        </a:spcBef>
                        <a:buFont typeface="Arial" panose="020B0604020202020204" pitchFamily="34" charset="0"/>
                        <a:buNone/>
                      </a:pP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endParaRPr lang="en-US" sz="1100" b="0" i="1"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450850" indent="0" algn="l">
                        <a:spcBef>
                          <a:spcPts val="300"/>
                        </a:spcBef>
                        <a:buFont typeface="Arial" panose="020B0604020202020204" pitchFamily="34" charset="0"/>
                        <a:buNone/>
                      </a:pPr>
                      <a:endParaRPr lang="en-US" sz="1100" b="0" dirty="0">
                        <a:solidFill>
                          <a:schemeClr val="tx1"/>
                        </a:solidFill>
                        <a:latin typeface="+mn-lt"/>
                      </a:endParaRP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3028837307"/>
                  </a:ext>
                </a:extLst>
              </a:tr>
              <a:tr h="369739">
                <a:tc vMerge="1">
                  <a:txBody>
                    <a:bodyPr/>
                    <a:lstStyle/>
                    <a:p>
                      <a:pPr marL="0" indent="0">
                        <a:spcBef>
                          <a:spcPts val="300"/>
                        </a:spcBef>
                        <a:buFont typeface="Arial" panose="020B0604020202020204" pitchFamily="34" charset="0"/>
                        <a:buNone/>
                      </a:pPr>
                      <a:endParaRPr lang="en-US" sz="1000" b="0" i="1"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i="1" dirty="0">
                          <a:solidFill>
                            <a:schemeClr val="tx1"/>
                          </a:solidFill>
                          <a:latin typeface="+mn-lt"/>
                        </a:rPr>
                        <a:t>Not Flexible</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450850" indent="0" algn="l">
                        <a:spcBef>
                          <a:spcPts val="300"/>
                        </a:spcBef>
                        <a:buFont typeface="Arial" panose="020B0604020202020204" pitchFamily="34" charset="0"/>
                        <a:buNone/>
                      </a:pPr>
                      <a:r>
                        <a:rPr lang="en-US" sz="1100" b="0" dirty="0">
                          <a:solidFill>
                            <a:schemeClr val="tx1"/>
                          </a:solidFill>
                          <a:latin typeface="+mn-lt"/>
                        </a:rPr>
                        <a:t>-</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100" b="0" i="1" dirty="0">
                          <a:solidFill>
                            <a:schemeClr val="tx1"/>
                          </a:solidFill>
                          <a:latin typeface="+mn-lt"/>
                        </a:rPr>
                        <a:t>Not flexible</a:t>
                      </a:r>
                    </a:p>
                  </a:txBody>
                  <a:tcPr marL="100838" marR="100838" marT="100838" marB="10083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450850" indent="0" algn="l">
                        <a:spcBef>
                          <a:spcPts val="300"/>
                        </a:spcBef>
                        <a:buFont typeface="Arial" panose="020B0604020202020204" pitchFamily="34" charset="0"/>
                        <a:buNone/>
                      </a:pPr>
                      <a:r>
                        <a:rPr lang="en-US" sz="1100" b="0" dirty="0">
                          <a:solidFill>
                            <a:schemeClr val="tx1"/>
                          </a:solidFill>
                          <a:latin typeface="+mn-lt"/>
                        </a:rPr>
                        <a:t>-</a:t>
                      </a:r>
                    </a:p>
                  </a:txBody>
                  <a:tcPr marL="100838" marR="100838" marT="100838" marB="100838"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4046664226"/>
                  </a:ext>
                </a:extLst>
              </a:tr>
            </a:tbl>
          </a:graphicData>
        </a:graphic>
      </p:graphicFrame>
      <p:sp>
        <p:nvSpPr>
          <p:cNvPr id="21" name="Pentagon 20"/>
          <p:cNvSpPr/>
          <p:nvPr/>
        </p:nvSpPr>
        <p:spPr>
          <a:xfrm>
            <a:off x="2191714" y="993387"/>
            <a:ext cx="1858267" cy="467350"/>
          </a:xfrm>
          <a:prstGeom prst="homePlat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98037" tIns="98037" rIns="98037" bIns="98037" rtlCol="0" anchor="ctr"/>
          <a:lstStyle/>
          <a:p>
            <a:pPr marL="497197"/>
            <a:r>
              <a:rPr lang="en-US" sz="1323" b="1" dirty="0">
                <a:solidFill>
                  <a:schemeClr val="tx1"/>
                </a:solidFill>
              </a:rPr>
              <a:t>Category</a:t>
            </a:r>
          </a:p>
        </p:txBody>
      </p:sp>
      <p:grpSp>
        <p:nvGrpSpPr>
          <p:cNvPr id="31" name="Group 30"/>
          <p:cNvGrpSpPr/>
          <p:nvPr/>
        </p:nvGrpSpPr>
        <p:grpSpPr>
          <a:xfrm>
            <a:off x="3905727" y="966023"/>
            <a:ext cx="2124298" cy="494714"/>
            <a:chOff x="3758808" y="480221"/>
            <a:chExt cx="2124000" cy="448607"/>
          </a:xfrm>
        </p:grpSpPr>
        <p:pic>
          <p:nvPicPr>
            <p:cNvPr id="27" name="Picture 26"/>
            <p:cNvPicPr>
              <a:picLocks noChangeAspect="1"/>
            </p:cNvPicPr>
            <p:nvPr/>
          </p:nvPicPr>
          <p:blipFill>
            <a:blip r:embed="rId5"/>
            <a:stretch>
              <a:fillRect/>
            </a:stretch>
          </p:blipFill>
          <p:spPr>
            <a:xfrm>
              <a:off x="3986864" y="480221"/>
              <a:ext cx="443064" cy="414479"/>
            </a:xfrm>
            <a:prstGeom prst="rect">
              <a:avLst/>
            </a:prstGeom>
          </p:spPr>
        </p:pic>
        <p:sp>
          <p:nvSpPr>
            <p:cNvPr id="22" name="Chevron 21"/>
            <p:cNvSpPr/>
            <p:nvPr/>
          </p:nvSpPr>
          <p:spPr>
            <a:xfrm>
              <a:off x="3758808" y="505035"/>
              <a:ext cx="2124000" cy="423793"/>
            </a:xfrm>
            <a:prstGeom prst="chevron">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98037" tIns="98037" rIns="0" bIns="98037" rtlCol="0" anchor="ctr"/>
            <a:lstStyle/>
            <a:p>
              <a:pPr marL="301120"/>
              <a:r>
                <a:rPr lang="en-US" sz="1323" b="1" dirty="0">
                  <a:solidFill>
                    <a:schemeClr val="tx1"/>
                  </a:solidFill>
                </a:rPr>
                <a:t>Technology</a:t>
              </a:r>
            </a:p>
          </p:txBody>
        </p:sp>
      </p:grpSp>
      <p:sp>
        <p:nvSpPr>
          <p:cNvPr id="23" name="Chevron 22"/>
          <p:cNvSpPr/>
          <p:nvPr/>
        </p:nvSpPr>
        <p:spPr>
          <a:xfrm>
            <a:off x="5901188" y="993386"/>
            <a:ext cx="1941506" cy="467350"/>
          </a:xfrm>
          <a:prstGeom prst="chevron">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98037" tIns="98037" rIns="0" bIns="98037" rtlCol="0" anchor="ctr"/>
          <a:lstStyle/>
          <a:p>
            <a:pPr marL="392156"/>
            <a:r>
              <a:rPr lang="en-US" sz="1323" b="1" dirty="0">
                <a:solidFill>
                  <a:schemeClr val="tx1"/>
                </a:solidFill>
              </a:rPr>
              <a:t>Fuel</a:t>
            </a:r>
          </a:p>
        </p:txBody>
      </p:sp>
      <p:grpSp>
        <p:nvGrpSpPr>
          <p:cNvPr id="33" name="Group 32"/>
          <p:cNvGrpSpPr/>
          <p:nvPr/>
        </p:nvGrpSpPr>
        <p:grpSpPr>
          <a:xfrm>
            <a:off x="7710031" y="993387"/>
            <a:ext cx="2342300" cy="467350"/>
            <a:chOff x="8013769" y="505035"/>
            <a:chExt cx="2124000" cy="423793"/>
          </a:xfrm>
        </p:grpSpPr>
        <p:sp>
          <p:nvSpPr>
            <p:cNvPr id="24" name="Chevron 23"/>
            <p:cNvSpPr/>
            <p:nvPr/>
          </p:nvSpPr>
          <p:spPr>
            <a:xfrm>
              <a:off x="8013769" y="505035"/>
              <a:ext cx="2124000" cy="423793"/>
            </a:xfrm>
            <a:prstGeom prst="chevron">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98037" tIns="98037" rIns="0" bIns="98037" rtlCol="0" anchor="ctr"/>
            <a:lstStyle/>
            <a:p>
              <a:pPr marL="392156"/>
              <a:r>
                <a:rPr lang="en-US" sz="1323" b="1" dirty="0">
                  <a:solidFill>
                    <a:schemeClr val="tx1"/>
                  </a:solidFill>
                </a:rPr>
                <a:t>Environmental Loading</a:t>
              </a:r>
            </a:p>
          </p:txBody>
        </p:sp>
        <p:pic>
          <p:nvPicPr>
            <p:cNvPr id="29" name="Picture 28"/>
            <p:cNvPicPr>
              <a:picLocks noChangeAspect="1"/>
            </p:cNvPicPr>
            <p:nvPr/>
          </p:nvPicPr>
          <p:blipFill>
            <a:blip r:embed="rId6"/>
            <a:stretch>
              <a:fillRect/>
            </a:stretch>
          </p:blipFill>
          <p:spPr>
            <a:xfrm>
              <a:off x="8281510" y="569333"/>
              <a:ext cx="332828" cy="292889"/>
            </a:xfrm>
            <a:prstGeom prst="rect">
              <a:avLst/>
            </a:prstGeom>
          </p:spPr>
        </p:pic>
      </p:grpSp>
      <p:sp>
        <p:nvSpPr>
          <p:cNvPr id="47" name="Freeform 277"/>
          <p:cNvSpPr>
            <a:spLocks/>
          </p:cNvSpPr>
          <p:nvPr/>
        </p:nvSpPr>
        <p:spPr bwMode="auto">
          <a:xfrm>
            <a:off x="4743527" y="3007222"/>
            <a:ext cx="17953" cy="26332"/>
          </a:xfrm>
          <a:custGeom>
            <a:avLst/>
            <a:gdLst>
              <a:gd name="T0" fmla="*/ 11 w 22"/>
              <a:gd name="T1" fmla="*/ 0 h 32"/>
              <a:gd name="T2" fmla="*/ 1 w 22"/>
              <a:gd name="T3" fmla="*/ 17 h 32"/>
              <a:gd name="T4" fmla="*/ 0 w 22"/>
              <a:gd name="T5" fmla="*/ 21 h 32"/>
              <a:gd name="T6" fmla="*/ 11 w 22"/>
              <a:gd name="T7" fmla="*/ 32 h 32"/>
              <a:gd name="T8" fmla="*/ 22 w 22"/>
              <a:gd name="T9" fmla="*/ 21 h 32"/>
              <a:gd name="T10" fmla="*/ 21 w 22"/>
              <a:gd name="T11" fmla="*/ 17 h 32"/>
              <a:gd name="T12" fmla="*/ 11 w 2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2" h="32">
                <a:moveTo>
                  <a:pt x="11" y="0"/>
                </a:moveTo>
                <a:cubicBezTo>
                  <a:pt x="1" y="17"/>
                  <a:pt x="1" y="17"/>
                  <a:pt x="1" y="17"/>
                </a:cubicBezTo>
                <a:cubicBezTo>
                  <a:pt x="1" y="19"/>
                  <a:pt x="0" y="20"/>
                  <a:pt x="0" y="21"/>
                </a:cubicBezTo>
                <a:cubicBezTo>
                  <a:pt x="0" y="27"/>
                  <a:pt x="5" y="32"/>
                  <a:pt x="11" y="32"/>
                </a:cubicBezTo>
                <a:cubicBezTo>
                  <a:pt x="17" y="32"/>
                  <a:pt x="22" y="27"/>
                  <a:pt x="22" y="21"/>
                </a:cubicBezTo>
                <a:cubicBezTo>
                  <a:pt x="22" y="20"/>
                  <a:pt x="21" y="19"/>
                  <a:pt x="21" y="17"/>
                </a:cubicBezTo>
                <a:lnTo>
                  <a:pt x="11" y="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51" name="Freeform 277"/>
          <p:cNvSpPr>
            <a:spLocks/>
          </p:cNvSpPr>
          <p:nvPr/>
        </p:nvSpPr>
        <p:spPr bwMode="auto">
          <a:xfrm>
            <a:off x="6284999" y="4341658"/>
            <a:ext cx="127899" cy="187587"/>
          </a:xfrm>
          <a:custGeom>
            <a:avLst/>
            <a:gdLst>
              <a:gd name="T0" fmla="*/ 11 w 22"/>
              <a:gd name="T1" fmla="*/ 0 h 32"/>
              <a:gd name="T2" fmla="*/ 1 w 22"/>
              <a:gd name="T3" fmla="*/ 17 h 32"/>
              <a:gd name="T4" fmla="*/ 0 w 22"/>
              <a:gd name="T5" fmla="*/ 21 h 32"/>
              <a:gd name="T6" fmla="*/ 11 w 22"/>
              <a:gd name="T7" fmla="*/ 32 h 32"/>
              <a:gd name="T8" fmla="*/ 22 w 22"/>
              <a:gd name="T9" fmla="*/ 21 h 32"/>
              <a:gd name="T10" fmla="*/ 21 w 22"/>
              <a:gd name="T11" fmla="*/ 17 h 32"/>
              <a:gd name="T12" fmla="*/ 11 w 2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2" h="32">
                <a:moveTo>
                  <a:pt x="11" y="0"/>
                </a:moveTo>
                <a:cubicBezTo>
                  <a:pt x="1" y="17"/>
                  <a:pt x="1" y="17"/>
                  <a:pt x="1" y="17"/>
                </a:cubicBezTo>
                <a:cubicBezTo>
                  <a:pt x="1" y="19"/>
                  <a:pt x="0" y="20"/>
                  <a:pt x="0" y="21"/>
                </a:cubicBezTo>
                <a:cubicBezTo>
                  <a:pt x="0" y="27"/>
                  <a:pt x="5" y="32"/>
                  <a:pt x="11" y="32"/>
                </a:cubicBezTo>
                <a:cubicBezTo>
                  <a:pt x="17" y="32"/>
                  <a:pt x="22" y="27"/>
                  <a:pt x="22" y="21"/>
                </a:cubicBezTo>
                <a:cubicBezTo>
                  <a:pt x="22" y="20"/>
                  <a:pt x="21" y="19"/>
                  <a:pt x="21" y="17"/>
                </a:cubicBezTo>
                <a:lnTo>
                  <a:pt x="11" y="0"/>
                </a:lnTo>
                <a:close/>
              </a:path>
            </a:pathLst>
          </a:custGeom>
          <a:solidFill>
            <a:srgbClr val="FFCD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52" name="Freeform 278"/>
          <p:cNvSpPr>
            <a:spLocks noEditPoints="1"/>
          </p:cNvSpPr>
          <p:nvPr/>
        </p:nvSpPr>
        <p:spPr bwMode="auto">
          <a:xfrm>
            <a:off x="6044011" y="4216080"/>
            <a:ext cx="248480" cy="308717"/>
          </a:xfrm>
          <a:custGeom>
            <a:avLst/>
            <a:gdLst>
              <a:gd name="T0" fmla="*/ 0 w 199"/>
              <a:gd name="T1" fmla="*/ 135 h 247"/>
              <a:gd name="T2" fmla="*/ 113 w 199"/>
              <a:gd name="T3" fmla="*/ 247 h 247"/>
              <a:gd name="T4" fmla="*/ 199 w 199"/>
              <a:gd name="T5" fmla="*/ 161 h 247"/>
              <a:gd name="T6" fmla="*/ 199 w 199"/>
              <a:gd name="T7" fmla="*/ 63 h 247"/>
              <a:gd name="T8" fmla="*/ 135 w 199"/>
              <a:gd name="T9" fmla="*/ 0 h 247"/>
              <a:gd name="T10" fmla="*/ 0 w 199"/>
              <a:gd name="T11" fmla="*/ 135 h 247"/>
              <a:gd name="T12" fmla="*/ 167 w 199"/>
              <a:gd name="T13" fmla="*/ 134 h 247"/>
              <a:gd name="T14" fmla="*/ 156 w 199"/>
              <a:gd name="T15" fmla="*/ 144 h 247"/>
              <a:gd name="T16" fmla="*/ 124 w 199"/>
              <a:gd name="T17" fmla="*/ 144 h 247"/>
              <a:gd name="T18" fmla="*/ 124 w 199"/>
              <a:gd name="T19" fmla="*/ 176 h 247"/>
              <a:gd name="T20" fmla="*/ 113 w 199"/>
              <a:gd name="T21" fmla="*/ 187 h 247"/>
              <a:gd name="T22" fmla="*/ 103 w 199"/>
              <a:gd name="T23" fmla="*/ 176 h 247"/>
              <a:gd name="T24" fmla="*/ 103 w 199"/>
              <a:gd name="T25" fmla="*/ 144 h 247"/>
              <a:gd name="T26" fmla="*/ 71 w 199"/>
              <a:gd name="T27" fmla="*/ 144 h 247"/>
              <a:gd name="T28" fmla="*/ 60 w 199"/>
              <a:gd name="T29" fmla="*/ 134 h 247"/>
              <a:gd name="T30" fmla="*/ 71 w 199"/>
              <a:gd name="T31" fmla="*/ 123 h 247"/>
              <a:gd name="T32" fmla="*/ 103 w 199"/>
              <a:gd name="T33" fmla="*/ 123 h 247"/>
              <a:gd name="T34" fmla="*/ 103 w 199"/>
              <a:gd name="T35" fmla="*/ 91 h 247"/>
              <a:gd name="T36" fmla="*/ 113 w 199"/>
              <a:gd name="T37" fmla="*/ 80 h 247"/>
              <a:gd name="T38" fmla="*/ 124 w 199"/>
              <a:gd name="T39" fmla="*/ 91 h 247"/>
              <a:gd name="T40" fmla="*/ 124 w 199"/>
              <a:gd name="T41" fmla="*/ 123 h 247"/>
              <a:gd name="T42" fmla="*/ 156 w 199"/>
              <a:gd name="T43" fmla="*/ 123 h 247"/>
              <a:gd name="T44" fmla="*/ 167 w 199"/>
              <a:gd name="T45" fmla="*/ 134 h 247"/>
              <a:gd name="T46" fmla="*/ 143 w 199"/>
              <a:gd name="T47" fmla="*/ 38 h 247"/>
              <a:gd name="T48" fmla="*/ 158 w 199"/>
              <a:gd name="T49" fmla="*/ 53 h 247"/>
              <a:gd name="T50" fmla="*/ 158 w 199"/>
              <a:gd name="T51" fmla="*/ 68 h 247"/>
              <a:gd name="T52" fmla="*/ 150 w 199"/>
              <a:gd name="T53" fmla="*/ 72 h 247"/>
              <a:gd name="T54" fmla="*/ 143 w 199"/>
              <a:gd name="T55" fmla="*/ 68 h 247"/>
              <a:gd name="T56" fmla="*/ 128 w 199"/>
              <a:gd name="T57" fmla="*/ 53 h 247"/>
              <a:gd name="T58" fmla="*/ 128 w 199"/>
              <a:gd name="T59" fmla="*/ 38 h 247"/>
              <a:gd name="T60" fmla="*/ 143 w 199"/>
              <a:gd name="T61" fmla="*/ 38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9" h="247">
                <a:moveTo>
                  <a:pt x="0" y="135"/>
                </a:moveTo>
                <a:cubicBezTo>
                  <a:pt x="113" y="247"/>
                  <a:pt x="113" y="247"/>
                  <a:pt x="113" y="247"/>
                </a:cubicBezTo>
                <a:cubicBezTo>
                  <a:pt x="199" y="161"/>
                  <a:pt x="199" y="161"/>
                  <a:pt x="199" y="161"/>
                </a:cubicBezTo>
                <a:cubicBezTo>
                  <a:pt x="199" y="63"/>
                  <a:pt x="199" y="63"/>
                  <a:pt x="199" y="63"/>
                </a:cubicBezTo>
                <a:cubicBezTo>
                  <a:pt x="135" y="0"/>
                  <a:pt x="135" y="0"/>
                  <a:pt x="135" y="0"/>
                </a:cubicBezTo>
                <a:lnTo>
                  <a:pt x="0" y="135"/>
                </a:lnTo>
                <a:close/>
                <a:moveTo>
                  <a:pt x="167" y="134"/>
                </a:moveTo>
                <a:cubicBezTo>
                  <a:pt x="167" y="140"/>
                  <a:pt x="162" y="144"/>
                  <a:pt x="156" y="144"/>
                </a:cubicBezTo>
                <a:cubicBezTo>
                  <a:pt x="124" y="144"/>
                  <a:pt x="124" y="144"/>
                  <a:pt x="124" y="144"/>
                </a:cubicBezTo>
                <a:cubicBezTo>
                  <a:pt x="124" y="176"/>
                  <a:pt x="124" y="176"/>
                  <a:pt x="124" y="176"/>
                </a:cubicBezTo>
                <a:cubicBezTo>
                  <a:pt x="124" y="182"/>
                  <a:pt x="119" y="187"/>
                  <a:pt x="113" y="187"/>
                </a:cubicBezTo>
                <a:cubicBezTo>
                  <a:pt x="107" y="187"/>
                  <a:pt x="103" y="182"/>
                  <a:pt x="103" y="176"/>
                </a:cubicBezTo>
                <a:cubicBezTo>
                  <a:pt x="103" y="144"/>
                  <a:pt x="103" y="144"/>
                  <a:pt x="103" y="144"/>
                </a:cubicBezTo>
                <a:cubicBezTo>
                  <a:pt x="71" y="144"/>
                  <a:pt x="71" y="144"/>
                  <a:pt x="71" y="144"/>
                </a:cubicBezTo>
                <a:cubicBezTo>
                  <a:pt x="65" y="144"/>
                  <a:pt x="60" y="140"/>
                  <a:pt x="60" y="134"/>
                </a:cubicBezTo>
                <a:cubicBezTo>
                  <a:pt x="60" y="128"/>
                  <a:pt x="65" y="123"/>
                  <a:pt x="71" y="123"/>
                </a:cubicBezTo>
                <a:cubicBezTo>
                  <a:pt x="103" y="123"/>
                  <a:pt x="103" y="123"/>
                  <a:pt x="103" y="123"/>
                </a:cubicBezTo>
                <a:cubicBezTo>
                  <a:pt x="103" y="91"/>
                  <a:pt x="103" y="91"/>
                  <a:pt x="103" y="91"/>
                </a:cubicBezTo>
                <a:cubicBezTo>
                  <a:pt x="103" y="85"/>
                  <a:pt x="107" y="80"/>
                  <a:pt x="113" y="80"/>
                </a:cubicBezTo>
                <a:cubicBezTo>
                  <a:pt x="119" y="80"/>
                  <a:pt x="124" y="85"/>
                  <a:pt x="124" y="91"/>
                </a:cubicBezTo>
                <a:cubicBezTo>
                  <a:pt x="124" y="123"/>
                  <a:pt x="124" y="123"/>
                  <a:pt x="124" y="123"/>
                </a:cubicBezTo>
                <a:cubicBezTo>
                  <a:pt x="156" y="123"/>
                  <a:pt x="156" y="123"/>
                  <a:pt x="156" y="123"/>
                </a:cubicBezTo>
                <a:cubicBezTo>
                  <a:pt x="162" y="123"/>
                  <a:pt x="167" y="128"/>
                  <a:pt x="167" y="134"/>
                </a:cubicBezTo>
                <a:close/>
                <a:moveTo>
                  <a:pt x="143" y="38"/>
                </a:moveTo>
                <a:cubicBezTo>
                  <a:pt x="158" y="53"/>
                  <a:pt x="158" y="53"/>
                  <a:pt x="158" y="53"/>
                </a:cubicBezTo>
                <a:cubicBezTo>
                  <a:pt x="162" y="58"/>
                  <a:pt x="162" y="64"/>
                  <a:pt x="158" y="68"/>
                </a:cubicBezTo>
                <a:cubicBezTo>
                  <a:pt x="156" y="71"/>
                  <a:pt x="153" y="72"/>
                  <a:pt x="150" y="72"/>
                </a:cubicBezTo>
                <a:cubicBezTo>
                  <a:pt x="148" y="72"/>
                  <a:pt x="145" y="71"/>
                  <a:pt x="143" y="68"/>
                </a:cubicBezTo>
                <a:cubicBezTo>
                  <a:pt x="128" y="53"/>
                  <a:pt x="128" y="53"/>
                  <a:pt x="128" y="53"/>
                </a:cubicBezTo>
                <a:cubicBezTo>
                  <a:pt x="124" y="49"/>
                  <a:pt x="124" y="42"/>
                  <a:pt x="128" y="38"/>
                </a:cubicBezTo>
                <a:cubicBezTo>
                  <a:pt x="132" y="34"/>
                  <a:pt x="139" y="34"/>
                  <a:pt x="143" y="38"/>
                </a:cubicBezTo>
                <a:close/>
              </a:path>
            </a:pathLst>
          </a:custGeom>
          <a:solidFill>
            <a:srgbClr val="FFCD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nvGrpSpPr>
          <p:cNvPr id="57" name="Group 56"/>
          <p:cNvGrpSpPr/>
          <p:nvPr/>
        </p:nvGrpSpPr>
        <p:grpSpPr>
          <a:xfrm>
            <a:off x="3300039" y="2317873"/>
            <a:ext cx="240807" cy="284002"/>
            <a:chOff x="1856096" y="2413358"/>
            <a:chExt cx="218364" cy="257533"/>
          </a:xfrm>
        </p:grpSpPr>
        <p:sp>
          <p:nvSpPr>
            <p:cNvPr id="54" name="Trapezoid 53"/>
            <p:cNvSpPr/>
            <p:nvPr/>
          </p:nvSpPr>
          <p:spPr bwMode="gray">
            <a:xfrm>
              <a:off x="1856096" y="2413358"/>
              <a:ext cx="218364" cy="257533"/>
            </a:xfrm>
            <a:prstGeom prst="trapezoid">
              <a:avLst/>
            </a:prstGeom>
            <a:solidFill>
              <a:schemeClr val="accent6"/>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cxnSp>
          <p:nvCxnSpPr>
            <p:cNvPr id="56" name="Straight Connector 55"/>
            <p:cNvCxnSpPr/>
            <p:nvPr/>
          </p:nvCxnSpPr>
          <p:spPr>
            <a:xfrm>
              <a:off x="1956569" y="2413358"/>
              <a:ext cx="0" cy="257533"/>
            </a:xfrm>
            <a:prstGeom prst="line">
              <a:avLst/>
            </a:prstGeom>
            <a:ln w="28575">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sp>
        <p:nvSpPr>
          <p:cNvPr id="58" name="Freeform 108"/>
          <p:cNvSpPr>
            <a:spLocks noChangeAspect="1" noEditPoints="1"/>
          </p:cNvSpPr>
          <p:nvPr/>
        </p:nvSpPr>
        <p:spPr bwMode="auto">
          <a:xfrm>
            <a:off x="2291333" y="2290390"/>
            <a:ext cx="176666" cy="318634"/>
          </a:xfrm>
          <a:custGeom>
            <a:avLst/>
            <a:gdLst>
              <a:gd name="T0" fmla="*/ 186 w 201"/>
              <a:gd name="T1" fmla="*/ 28 h 487"/>
              <a:gd name="T2" fmla="*/ 127 w 201"/>
              <a:gd name="T3" fmla="*/ 0 h 487"/>
              <a:gd name="T4" fmla="*/ 14 w 201"/>
              <a:gd name="T5" fmla="*/ 14 h 487"/>
              <a:gd name="T6" fmla="*/ 19 w 201"/>
              <a:gd name="T7" fmla="*/ 456 h 487"/>
              <a:gd name="T8" fmla="*/ 201 w 201"/>
              <a:gd name="T9" fmla="*/ 487 h 487"/>
              <a:gd name="T10" fmla="*/ 71 w 201"/>
              <a:gd name="T11" fmla="*/ 456 h 487"/>
              <a:gd name="T12" fmla="*/ 71 w 201"/>
              <a:gd name="T13" fmla="*/ 425 h 487"/>
              <a:gd name="T14" fmla="*/ 45 w 201"/>
              <a:gd name="T15" fmla="*/ 409 h 487"/>
              <a:gd name="T16" fmla="*/ 71 w 201"/>
              <a:gd name="T17" fmla="*/ 409 h 487"/>
              <a:gd name="T18" fmla="*/ 45 w 201"/>
              <a:gd name="T19" fmla="*/ 331 h 487"/>
              <a:gd name="T20" fmla="*/ 71 w 201"/>
              <a:gd name="T21" fmla="*/ 314 h 487"/>
              <a:gd name="T22" fmla="*/ 71 w 201"/>
              <a:gd name="T23" fmla="*/ 283 h 487"/>
              <a:gd name="T24" fmla="*/ 45 w 201"/>
              <a:gd name="T25" fmla="*/ 267 h 487"/>
              <a:gd name="T26" fmla="*/ 71 w 201"/>
              <a:gd name="T27" fmla="*/ 267 h 487"/>
              <a:gd name="T28" fmla="*/ 45 w 201"/>
              <a:gd name="T29" fmla="*/ 189 h 487"/>
              <a:gd name="T30" fmla="*/ 71 w 201"/>
              <a:gd name="T31" fmla="*/ 170 h 487"/>
              <a:gd name="T32" fmla="*/ 71 w 201"/>
              <a:gd name="T33" fmla="*/ 142 h 487"/>
              <a:gd name="T34" fmla="*/ 45 w 201"/>
              <a:gd name="T35" fmla="*/ 123 h 487"/>
              <a:gd name="T36" fmla="*/ 71 w 201"/>
              <a:gd name="T37" fmla="*/ 123 h 487"/>
              <a:gd name="T38" fmla="*/ 45 w 201"/>
              <a:gd name="T39" fmla="*/ 45 h 487"/>
              <a:gd name="T40" fmla="*/ 113 w 201"/>
              <a:gd name="T41" fmla="*/ 456 h 487"/>
              <a:gd name="T42" fmla="*/ 113 w 201"/>
              <a:gd name="T43" fmla="*/ 425 h 487"/>
              <a:gd name="T44" fmla="*/ 87 w 201"/>
              <a:gd name="T45" fmla="*/ 409 h 487"/>
              <a:gd name="T46" fmla="*/ 113 w 201"/>
              <a:gd name="T47" fmla="*/ 409 h 487"/>
              <a:gd name="T48" fmla="*/ 87 w 201"/>
              <a:gd name="T49" fmla="*/ 331 h 487"/>
              <a:gd name="T50" fmla="*/ 113 w 201"/>
              <a:gd name="T51" fmla="*/ 314 h 487"/>
              <a:gd name="T52" fmla="*/ 113 w 201"/>
              <a:gd name="T53" fmla="*/ 283 h 487"/>
              <a:gd name="T54" fmla="*/ 87 w 201"/>
              <a:gd name="T55" fmla="*/ 267 h 487"/>
              <a:gd name="T56" fmla="*/ 113 w 201"/>
              <a:gd name="T57" fmla="*/ 267 h 487"/>
              <a:gd name="T58" fmla="*/ 87 w 201"/>
              <a:gd name="T59" fmla="*/ 189 h 487"/>
              <a:gd name="T60" fmla="*/ 113 w 201"/>
              <a:gd name="T61" fmla="*/ 170 h 487"/>
              <a:gd name="T62" fmla="*/ 113 w 201"/>
              <a:gd name="T63" fmla="*/ 142 h 487"/>
              <a:gd name="T64" fmla="*/ 87 w 201"/>
              <a:gd name="T65" fmla="*/ 123 h 487"/>
              <a:gd name="T66" fmla="*/ 113 w 201"/>
              <a:gd name="T67" fmla="*/ 123 h 487"/>
              <a:gd name="T68" fmla="*/ 87 w 201"/>
              <a:gd name="T69" fmla="*/ 45 h 487"/>
              <a:gd name="T70" fmla="*/ 156 w 201"/>
              <a:gd name="T71" fmla="*/ 456 h 487"/>
              <a:gd name="T72" fmla="*/ 156 w 201"/>
              <a:gd name="T73" fmla="*/ 425 h 487"/>
              <a:gd name="T74" fmla="*/ 130 w 201"/>
              <a:gd name="T75" fmla="*/ 409 h 487"/>
              <a:gd name="T76" fmla="*/ 156 w 201"/>
              <a:gd name="T77" fmla="*/ 409 h 487"/>
              <a:gd name="T78" fmla="*/ 130 w 201"/>
              <a:gd name="T79" fmla="*/ 331 h 487"/>
              <a:gd name="T80" fmla="*/ 156 w 201"/>
              <a:gd name="T81" fmla="*/ 314 h 487"/>
              <a:gd name="T82" fmla="*/ 156 w 201"/>
              <a:gd name="T83" fmla="*/ 283 h 487"/>
              <a:gd name="T84" fmla="*/ 130 w 201"/>
              <a:gd name="T85" fmla="*/ 267 h 487"/>
              <a:gd name="T86" fmla="*/ 156 w 201"/>
              <a:gd name="T87" fmla="*/ 267 h 487"/>
              <a:gd name="T88" fmla="*/ 130 w 201"/>
              <a:gd name="T89" fmla="*/ 189 h 487"/>
              <a:gd name="T90" fmla="*/ 156 w 201"/>
              <a:gd name="T91" fmla="*/ 170 h 487"/>
              <a:gd name="T92" fmla="*/ 156 w 201"/>
              <a:gd name="T93" fmla="*/ 142 h 487"/>
              <a:gd name="T94" fmla="*/ 130 w 201"/>
              <a:gd name="T95" fmla="*/ 123 h 487"/>
              <a:gd name="T96" fmla="*/ 156 w 201"/>
              <a:gd name="T97" fmla="*/ 123 h 487"/>
              <a:gd name="T98" fmla="*/ 130 w 201"/>
              <a:gd name="T99" fmla="*/ 4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 h="487">
                <a:moveTo>
                  <a:pt x="182" y="456"/>
                </a:moveTo>
                <a:lnTo>
                  <a:pt x="182" y="28"/>
                </a:lnTo>
                <a:lnTo>
                  <a:pt x="186" y="28"/>
                </a:lnTo>
                <a:lnTo>
                  <a:pt x="186" y="14"/>
                </a:lnTo>
                <a:lnTo>
                  <a:pt x="127" y="14"/>
                </a:lnTo>
                <a:lnTo>
                  <a:pt x="127" y="0"/>
                </a:lnTo>
                <a:lnTo>
                  <a:pt x="40" y="0"/>
                </a:lnTo>
                <a:lnTo>
                  <a:pt x="40" y="14"/>
                </a:lnTo>
                <a:lnTo>
                  <a:pt x="14" y="14"/>
                </a:lnTo>
                <a:lnTo>
                  <a:pt x="14" y="28"/>
                </a:lnTo>
                <a:lnTo>
                  <a:pt x="19" y="28"/>
                </a:lnTo>
                <a:lnTo>
                  <a:pt x="19" y="456"/>
                </a:lnTo>
                <a:lnTo>
                  <a:pt x="0" y="456"/>
                </a:lnTo>
                <a:lnTo>
                  <a:pt x="0" y="487"/>
                </a:lnTo>
                <a:lnTo>
                  <a:pt x="201" y="487"/>
                </a:lnTo>
                <a:lnTo>
                  <a:pt x="201" y="456"/>
                </a:lnTo>
                <a:lnTo>
                  <a:pt x="182" y="456"/>
                </a:lnTo>
                <a:close/>
                <a:moveTo>
                  <a:pt x="71" y="456"/>
                </a:moveTo>
                <a:lnTo>
                  <a:pt x="45" y="456"/>
                </a:lnTo>
                <a:lnTo>
                  <a:pt x="45" y="425"/>
                </a:lnTo>
                <a:lnTo>
                  <a:pt x="71" y="425"/>
                </a:lnTo>
                <a:lnTo>
                  <a:pt x="71" y="456"/>
                </a:lnTo>
                <a:close/>
                <a:moveTo>
                  <a:pt x="71" y="409"/>
                </a:moveTo>
                <a:lnTo>
                  <a:pt x="45" y="409"/>
                </a:lnTo>
                <a:lnTo>
                  <a:pt x="45" y="378"/>
                </a:lnTo>
                <a:lnTo>
                  <a:pt x="71" y="378"/>
                </a:lnTo>
                <a:lnTo>
                  <a:pt x="71" y="409"/>
                </a:lnTo>
                <a:close/>
                <a:moveTo>
                  <a:pt x="71" y="361"/>
                </a:moveTo>
                <a:lnTo>
                  <a:pt x="45" y="361"/>
                </a:lnTo>
                <a:lnTo>
                  <a:pt x="45" y="331"/>
                </a:lnTo>
                <a:lnTo>
                  <a:pt x="71" y="331"/>
                </a:lnTo>
                <a:lnTo>
                  <a:pt x="71" y="361"/>
                </a:lnTo>
                <a:close/>
                <a:moveTo>
                  <a:pt x="71" y="314"/>
                </a:moveTo>
                <a:lnTo>
                  <a:pt x="45" y="314"/>
                </a:lnTo>
                <a:lnTo>
                  <a:pt x="45" y="283"/>
                </a:lnTo>
                <a:lnTo>
                  <a:pt x="71" y="283"/>
                </a:lnTo>
                <a:lnTo>
                  <a:pt x="71" y="314"/>
                </a:lnTo>
                <a:close/>
                <a:moveTo>
                  <a:pt x="71" y="267"/>
                </a:moveTo>
                <a:lnTo>
                  <a:pt x="45" y="267"/>
                </a:lnTo>
                <a:lnTo>
                  <a:pt x="45" y="236"/>
                </a:lnTo>
                <a:lnTo>
                  <a:pt x="71" y="236"/>
                </a:lnTo>
                <a:lnTo>
                  <a:pt x="71" y="267"/>
                </a:lnTo>
                <a:close/>
                <a:moveTo>
                  <a:pt x="71" y="220"/>
                </a:moveTo>
                <a:lnTo>
                  <a:pt x="45" y="220"/>
                </a:lnTo>
                <a:lnTo>
                  <a:pt x="45" y="189"/>
                </a:lnTo>
                <a:lnTo>
                  <a:pt x="71" y="189"/>
                </a:lnTo>
                <a:lnTo>
                  <a:pt x="71" y="220"/>
                </a:lnTo>
                <a:close/>
                <a:moveTo>
                  <a:pt x="71" y="170"/>
                </a:moveTo>
                <a:lnTo>
                  <a:pt x="45" y="170"/>
                </a:lnTo>
                <a:lnTo>
                  <a:pt x="45" y="142"/>
                </a:lnTo>
                <a:lnTo>
                  <a:pt x="71" y="142"/>
                </a:lnTo>
                <a:lnTo>
                  <a:pt x="71" y="170"/>
                </a:lnTo>
                <a:close/>
                <a:moveTo>
                  <a:pt x="71" y="123"/>
                </a:moveTo>
                <a:lnTo>
                  <a:pt x="45" y="123"/>
                </a:lnTo>
                <a:lnTo>
                  <a:pt x="45" y="92"/>
                </a:lnTo>
                <a:lnTo>
                  <a:pt x="71" y="92"/>
                </a:lnTo>
                <a:lnTo>
                  <a:pt x="71" y="123"/>
                </a:lnTo>
                <a:close/>
                <a:moveTo>
                  <a:pt x="71" y="76"/>
                </a:moveTo>
                <a:lnTo>
                  <a:pt x="45" y="76"/>
                </a:lnTo>
                <a:lnTo>
                  <a:pt x="45" y="45"/>
                </a:lnTo>
                <a:lnTo>
                  <a:pt x="71" y="45"/>
                </a:lnTo>
                <a:lnTo>
                  <a:pt x="71" y="76"/>
                </a:lnTo>
                <a:close/>
                <a:moveTo>
                  <a:pt x="113" y="456"/>
                </a:moveTo>
                <a:lnTo>
                  <a:pt x="87" y="456"/>
                </a:lnTo>
                <a:lnTo>
                  <a:pt x="87" y="425"/>
                </a:lnTo>
                <a:lnTo>
                  <a:pt x="113" y="425"/>
                </a:lnTo>
                <a:lnTo>
                  <a:pt x="113" y="456"/>
                </a:lnTo>
                <a:close/>
                <a:moveTo>
                  <a:pt x="113" y="409"/>
                </a:moveTo>
                <a:lnTo>
                  <a:pt x="87" y="409"/>
                </a:lnTo>
                <a:lnTo>
                  <a:pt x="87" y="378"/>
                </a:lnTo>
                <a:lnTo>
                  <a:pt x="113" y="378"/>
                </a:lnTo>
                <a:lnTo>
                  <a:pt x="113" y="409"/>
                </a:lnTo>
                <a:close/>
                <a:moveTo>
                  <a:pt x="113" y="361"/>
                </a:moveTo>
                <a:lnTo>
                  <a:pt x="87" y="361"/>
                </a:lnTo>
                <a:lnTo>
                  <a:pt x="87" y="331"/>
                </a:lnTo>
                <a:lnTo>
                  <a:pt x="113" y="331"/>
                </a:lnTo>
                <a:lnTo>
                  <a:pt x="113" y="361"/>
                </a:lnTo>
                <a:close/>
                <a:moveTo>
                  <a:pt x="113" y="314"/>
                </a:moveTo>
                <a:lnTo>
                  <a:pt x="87" y="314"/>
                </a:lnTo>
                <a:lnTo>
                  <a:pt x="87" y="283"/>
                </a:lnTo>
                <a:lnTo>
                  <a:pt x="113" y="283"/>
                </a:lnTo>
                <a:lnTo>
                  <a:pt x="113" y="314"/>
                </a:lnTo>
                <a:close/>
                <a:moveTo>
                  <a:pt x="113" y="267"/>
                </a:moveTo>
                <a:lnTo>
                  <a:pt x="87" y="267"/>
                </a:lnTo>
                <a:lnTo>
                  <a:pt x="87" y="236"/>
                </a:lnTo>
                <a:lnTo>
                  <a:pt x="113" y="236"/>
                </a:lnTo>
                <a:lnTo>
                  <a:pt x="113" y="267"/>
                </a:lnTo>
                <a:close/>
                <a:moveTo>
                  <a:pt x="113" y="220"/>
                </a:moveTo>
                <a:lnTo>
                  <a:pt x="87" y="220"/>
                </a:lnTo>
                <a:lnTo>
                  <a:pt x="87" y="189"/>
                </a:lnTo>
                <a:lnTo>
                  <a:pt x="113" y="189"/>
                </a:lnTo>
                <a:lnTo>
                  <a:pt x="113" y="220"/>
                </a:lnTo>
                <a:close/>
                <a:moveTo>
                  <a:pt x="113" y="170"/>
                </a:moveTo>
                <a:lnTo>
                  <a:pt x="87" y="170"/>
                </a:lnTo>
                <a:lnTo>
                  <a:pt x="87" y="142"/>
                </a:lnTo>
                <a:lnTo>
                  <a:pt x="113" y="142"/>
                </a:lnTo>
                <a:lnTo>
                  <a:pt x="113" y="170"/>
                </a:lnTo>
                <a:close/>
                <a:moveTo>
                  <a:pt x="113" y="123"/>
                </a:moveTo>
                <a:lnTo>
                  <a:pt x="87" y="123"/>
                </a:lnTo>
                <a:lnTo>
                  <a:pt x="87" y="92"/>
                </a:lnTo>
                <a:lnTo>
                  <a:pt x="113" y="92"/>
                </a:lnTo>
                <a:lnTo>
                  <a:pt x="113" y="123"/>
                </a:lnTo>
                <a:close/>
                <a:moveTo>
                  <a:pt x="113" y="76"/>
                </a:moveTo>
                <a:lnTo>
                  <a:pt x="87" y="76"/>
                </a:lnTo>
                <a:lnTo>
                  <a:pt x="87" y="45"/>
                </a:lnTo>
                <a:lnTo>
                  <a:pt x="113" y="45"/>
                </a:lnTo>
                <a:lnTo>
                  <a:pt x="113" y="76"/>
                </a:lnTo>
                <a:close/>
                <a:moveTo>
                  <a:pt x="156" y="456"/>
                </a:moveTo>
                <a:lnTo>
                  <a:pt x="130" y="456"/>
                </a:lnTo>
                <a:lnTo>
                  <a:pt x="130" y="425"/>
                </a:lnTo>
                <a:lnTo>
                  <a:pt x="156" y="425"/>
                </a:lnTo>
                <a:lnTo>
                  <a:pt x="156" y="456"/>
                </a:lnTo>
                <a:close/>
                <a:moveTo>
                  <a:pt x="156" y="409"/>
                </a:moveTo>
                <a:lnTo>
                  <a:pt x="130" y="409"/>
                </a:lnTo>
                <a:lnTo>
                  <a:pt x="130" y="378"/>
                </a:lnTo>
                <a:lnTo>
                  <a:pt x="156" y="378"/>
                </a:lnTo>
                <a:lnTo>
                  <a:pt x="156" y="409"/>
                </a:lnTo>
                <a:close/>
                <a:moveTo>
                  <a:pt x="156" y="361"/>
                </a:moveTo>
                <a:lnTo>
                  <a:pt x="130" y="361"/>
                </a:lnTo>
                <a:lnTo>
                  <a:pt x="130" y="331"/>
                </a:lnTo>
                <a:lnTo>
                  <a:pt x="156" y="331"/>
                </a:lnTo>
                <a:lnTo>
                  <a:pt x="156" y="361"/>
                </a:lnTo>
                <a:close/>
                <a:moveTo>
                  <a:pt x="156" y="314"/>
                </a:moveTo>
                <a:lnTo>
                  <a:pt x="130" y="314"/>
                </a:lnTo>
                <a:lnTo>
                  <a:pt x="130" y="283"/>
                </a:lnTo>
                <a:lnTo>
                  <a:pt x="156" y="283"/>
                </a:lnTo>
                <a:lnTo>
                  <a:pt x="156" y="314"/>
                </a:lnTo>
                <a:close/>
                <a:moveTo>
                  <a:pt x="156" y="267"/>
                </a:moveTo>
                <a:lnTo>
                  <a:pt x="130" y="267"/>
                </a:lnTo>
                <a:lnTo>
                  <a:pt x="130" y="236"/>
                </a:lnTo>
                <a:lnTo>
                  <a:pt x="156" y="236"/>
                </a:lnTo>
                <a:lnTo>
                  <a:pt x="156" y="267"/>
                </a:lnTo>
                <a:close/>
                <a:moveTo>
                  <a:pt x="156" y="220"/>
                </a:moveTo>
                <a:lnTo>
                  <a:pt x="130" y="220"/>
                </a:lnTo>
                <a:lnTo>
                  <a:pt x="130" y="189"/>
                </a:lnTo>
                <a:lnTo>
                  <a:pt x="156" y="189"/>
                </a:lnTo>
                <a:lnTo>
                  <a:pt x="156" y="220"/>
                </a:lnTo>
                <a:close/>
                <a:moveTo>
                  <a:pt x="156" y="170"/>
                </a:moveTo>
                <a:lnTo>
                  <a:pt x="130" y="170"/>
                </a:lnTo>
                <a:lnTo>
                  <a:pt x="130" y="142"/>
                </a:lnTo>
                <a:lnTo>
                  <a:pt x="156" y="142"/>
                </a:lnTo>
                <a:lnTo>
                  <a:pt x="156" y="170"/>
                </a:lnTo>
                <a:close/>
                <a:moveTo>
                  <a:pt x="156" y="123"/>
                </a:moveTo>
                <a:lnTo>
                  <a:pt x="130" y="123"/>
                </a:lnTo>
                <a:lnTo>
                  <a:pt x="130" y="92"/>
                </a:lnTo>
                <a:lnTo>
                  <a:pt x="156" y="92"/>
                </a:lnTo>
                <a:lnTo>
                  <a:pt x="156" y="123"/>
                </a:lnTo>
                <a:close/>
                <a:moveTo>
                  <a:pt x="156" y="76"/>
                </a:moveTo>
                <a:lnTo>
                  <a:pt x="130" y="76"/>
                </a:lnTo>
                <a:lnTo>
                  <a:pt x="130" y="45"/>
                </a:lnTo>
                <a:lnTo>
                  <a:pt x="156" y="45"/>
                </a:lnTo>
                <a:lnTo>
                  <a:pt x="156" y="76"/>
                </a:lnTo>
                <a:close/>
              </a:path>
            </a:pathLst>
          </a:custGeom>
          <a:solidFill>
            <a:schemeClr val="accent6"/>
          </a:solidFill>
          <a:ln>
            <a:noFill/>
          </a:ln>
        </p:spPr>
        <p:txBody>
          <a:bodyPr vert="horz" wrap="square" lIns="100838" tIns="50419" rIns="100838" bIns="50419" numCol="1" anchor="t" anchorCtr="0" compatLnSpc="1">
            <a:prstTxWarp prst="textNoShape">
              <a:avLst/>
            </a:prstTxWarp>
          </a:bodyPr>
          <a:lstStyle/>
          <a:p>
            <a:endParaRPr lang="en-US" sz="2647" dirty="0">
              <a:solidFill>
                <a:schemeClr val="bg1"/>
              </a:solidFill>
              <a:latin typeface="Calibri"/>
              <a:sym typeface="Calibri"/>
            </a:endParaRPr>
          </a:p>
        </p:txBody>
      </p:sp>
      <p:grpSp>
        <p:nvGrpSpPr>
          <p:cNvPr id="61" name="Group 60"/>
          <p:cNvGrpSpPr/>
          <p:nvPr/>
        </p:nvGrpSpPr>
        <p:grpSpPr>
          <a:xfrm>
            <a:off x="2690927" y="2289615"/>
            <a:ext cx="355343" cy="310087"/>
            <a:chOff x="4792591" y="5144110"/>
            <a:chExt cx="823039" cy="718219"/>
          </a:xfrm>
          <a:solidFill>
            <a:schemeClr val="accent6"/>
          </a:solidFill>
        </p:grpSpPr>
        <p:sp>
          <p:nvSpPr>
            <p:cNvPr id="62" name="Freeform 579"/>
            <p:cNvSpPr>
              <a:spLocks noEditPoints="1"/>
            </p:cNvSpPr>
            <p:nvPr/>
          </p:nvSpPr>
          <p:spPr bwMode="auto">
            <a:xfrm>
              <a:off x="4792591" y="5369282"/>
              <a:ext cx="823039" cy="493047"/>
            </a:xfrm>
            <a:custGeom>
              <a:avLst/>
              <a:gdLst>
                <a:gd name="T0" fmla="*/ 287 w 320"/>
                <a:gd name="T1" fmla="*/ 9 h 192"/>
                <a:gd name="T2" fmla="*/ 277 w 320"/>
                <a:gd name="T3" fmla="*/ 0 h 192"/>
                <a:gd name="T4" fmla="*/ 213 w 320"/>
                <a:gd name="T5" fmla="*/ 0 h 192"/>
                <a:gd name="T6" fmla="*/ 202 w 320"/>
                <a:gd name="T7" fmla="*/ 9 h 192"/>
                <a:gd name="T8" fmla="*/ 190 w 320"/>
                <a:gd name="T9" fmla="*/ 107 h 192"/>
                <a:gd name="T10" fmla="*/ 112 w 320"/>
                <a:gd name="T11" fmla="*/ 55 h 192"/>
                <a:gd name="T12" fmla="*/ 101 w 320"/>
                <a:gd name="T13" fmla="*/ 55 h 192"/>
                <a:gd name="T14" fmla="*/ 96 w 320"/>
                <a:gd name="T15" fmla="*/ 64 h 192"/>
                <a:gd name="T16" fmla="*/ 96 w 320"/>
                <a:gd name="T17" fmla="*/ 108 h 192"/>
                <a:gd name="T18" fmla="*/ 16 w 320"/>
                <a:gd name="T19" fmla="*/ 55 h 192"/>
                <a:gd name="T20" fmla="*/ 5 w 320"/>
                <a:gd name="T21" fmla="*/ 55 h 192"/>
                <a:gd name="T22" fmla="*/ 0 w 320"/>
                <a:gd name="T23" fmla="*/ 64 h 192"/>
                <a:gd name="T24" fmla="*/ 0 w 320"/>
                <a:gd name="T25" fmla="*/ 181 h 192"/>
                <a:gd name="T26" fmla="*/ 10 w 320"/>
                <a:gd name="T27" fmla="*/ 192 h 192"/>
                <a:gd name="T28" fmla="*/ 309 w 320"/>
                <a:gd name="T29" fmla="*/ 192 h 192"/>
                <a:gd name="T30" fmla="*/ 317 w 320"/>
                <a:gd name="T31" fmla="*/ 188 h 192"/>
                <a:gd name="T32" fmla="*/ 319 w 320"/>
                <a:gd name="T33" fmla="*/ 179 h 192"/>
                <a:gd name="T34" fmla="*/ 287 w 320"/>
                <a:gd name="T35" fmla="*/ 9 h 192"/>
                <a:gd name="T36" fmla="*/ 187 w 320"/>
                <a:gd name="T37" fmla="*/ 131 h 192"/>
                <a:gd name="T38" fmla="*/ 182 w 320"/>
                <a:gd name="T39" fmla="*/ 171 h 192"/>
                <a:gd name="T40" fmla="*/ 117 w 320"/>
                <a:gd name="T41" fmla="*/ 171 h 192"/>
                <a:gd name="T42" fmla="*/ 117 w 320"/>
                <a:gd name="T43" fmla="*/ 84 h 192"/>
                <a:gd name="T44" fmla="*/ 187 w 320"/>
                <a:gd name="T45" fmla="*/ 131 h 192"/>
                <a:gd name="T46" fmla="*/ 96 w 320"/>
                <a:gd name="T47" fmla="*/ 134 h 192"/>
                <a:gd name="T48" fmla="*/ 96 w 320"/>
                <a:gd name="T49" fmla="*/ 171 h 192"/>
                <a:gd name="T50" fmla="*/ 21 w 320"/>
                <a:gd name="T51" fmla="*/ 171 h 192"/>
                <a:gd name="T52" fmla="*/ 21 w 320"/>
                <a:gd name="T53" fmla="*/ 84 h 192"/>
                <a:gd name="T54" fmla="*/ 96 w 320"/>
                <a:gd name="T55" fmla="*/ 134 h 192"/>
                <a:gd name="T56" fmla="*/ 204 w 320"/>
                <a:gd name="T57" fmla="*/ 171 h 192"/>
                <a:gd name="T58" fmla="*/ 222 w 320"/>
                <a:gd name="T59" fmla="*/ 21 h 192"/>
                <a:gd name="T60" fmla="*/ 268 w 320"/>
                <a:gd name="T61" fmla="*/ 21 h 192"/>
                <a:gd name="T62" fmla="*/ 296 w 320"/>
                <a:gd name="T63" fmla="*/ 171 h 192"/>
                <a:gd name="T64" fmla="*/ 204 w 320"/>
                <a:gd name="T65" fmla="*/ 17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0" h="192">
                  <a:moveTo>
                    <a:pt x="287" y="9"/>
                  </a:moveTo>
                  <a:cubicBezTo>
                    <a:pt x="287" y="4"/>
                    <a:pt x="282" y="0"/>
                    <a:pt x="277" y="0"/>
                  </a:cubicBezTo>
                  <a:cubicBezTo>
                    <a:pt x="213" y="0"/>
                    <a:pt x="213" y="0"/>
                    <a:pt x="213" y="0"/>
                  </a:cubicBezTo>
                  <a:cubicBezTo>
                    <a:pt x="208" y="0"/>
                    <a:pt x="203" y="4"/>
                    <a:pt x="202" y="9"/>
                  </a:cubicBezTo>
                  <a:cubicBezTo>
                    <a:pt x="190" y="107"/>
                    <a:pt x="190" y="107"/>
                    <a:pt x="190" y="107"/>
                  </a:cubicBezTo>
                  <a:cubicBezTo>
                    <a:pt x="112" y="55"/>
                    <a:pt x="112" y="55"/>
                    <a:pt x="112" y="55"/>
                  </a:cubicBezTo>
                  <a:cubicBezTo>
                    <a:pt x="109" y="53"/>
                    <a:pt x="105" y="53"/>
                    <a:pt x="101" y="55"/>
                  </a:cubicBezTo>
                  <a:cubicBezTo>
                    <a:pt x="98" y="56"/>
                    <a:pt x="96" y="60"/>
                    <a:pt x="96" y="64"/>
                  </a:cubicBezTo>
                  <a:cubicBezTo>
                    <a:pt x="96" y="108"/>
                    <a:pt x="96" y="108"/>
                    <a:pt x="96" y="108"/>
                  </a:cubicBezTo>
                  <a:cubicBezTo>
                    <a:pt x="16" y="55"/>
                    <a:pt x="16" y="55"/>
                    <a:pt x="16" y="55"/>
                  </a:cubicBezTo>
                  <a:cubicBezTo>
                    <a:pt x="13" y="53"/>
                    <a:pt x="9" y="53"/>
                    <a:pt x="5" y="55"/>
                  </a:cubicBezTo>
                  <a:cubicBezTo>
                    <a:pt x="2" y="56"/>
                    <a:pt x="0" y="60"/>
                    <a:pt x="0" y="64"/>
                  </a:cubicBezTo>
                  <a:cubicBezTo>
                    <a:pt x="0" y="181"/>
                    <a:pt x="0" y="181"/>
                    <a:pt x="0" y="181"/>
                  </a:cubicBezTo>
                  <a:cubicBezTo>
                    <a:pt x="0" y="187"/>
                    <a:pt x="4" y="192"/>
                    <a:pt x="10" y="192"/>
                  </a:cubicBezTo>
                  <a:cubicBezTo>
                    <a:pt x="309" y="192"/>
                    <a:pt x="309" y="192"/>
                    <a:pt x="309" y="192"/>
                  </a:cubicBezTo>
                  <a:cubicBezTo>
                    <a:pt x="312" y="192"/>
                    <a:pt x="315" y="191"/>
                    <a:pt x="317" y="188"/>
                  </a:cubicBezTo>
                  <a:cubicBezTo>
                    <a:pt x="319" y="186"/>
                    <a:pt x="320" y="182"/>
                    <a:pt x="319" y="179"/>
                  </a:cubicBezTo>
                  <a:lnTo>
                    <a:pt x="287" y="9"/>
                  </a:lnTo>
                  <a:close/>
                  <a:moveTo>
                    <a:pt x="187" y="131"/>
                  </a:moveTo>
                  <a:cubicBezTo>
                    <a:pt x="182" y="171"/>
                    <a:pt x="182" y="171"/>
                    <a:pt x="182" y="171"/>
                  </a:cubicBezTo>
                  <a:cubicBezTo>
                    <a:pt x="117" y="171"/>
                    <a:pt x="117" y="171"/>
                    <a:pt x="117" y="171"/>
                  </a:cubicBezTo>
                  <a:cubicBezTo>
                    <a:pt x="117" y="84"/>
                    <a:pt x="117" y="84"/>
                    <a:pt x="117" y="84"/>
                  </a:cubicBezTo>
                  <a:lnTo>
                    <a:pt x="187" y="131"/>
                  </a:lnTo>
                  <a:close/>
                  <a:moveTo>
                    <a:pt x="96" y="134"/>
                  </a:moveTo>
                  <a:cubicBezTo>
                    <a:pt x="96" y="171"/>
                    <a:pt x="96" y="171"/>
                    <a:pt x="96" y="171"/>
                  </a:cubicBezTo>
                  <a:cubicBezTo>
                    <a:pt x="21" y="171"/>
                    <a:pt x="21" y="171"/>
                    <a:pt x="21" y="171"/>
                  </a:cubicBezTo>
                  <a:cubicBezTo>
                    <a:pt x="21" y="84"/>
                    <a:pt x="21" y="84"/>
                    <a:pt x="21" y="84"/>
                  </a:cubicBezTo>
                  <a:lnTo>
                    <a:pt x="96" y="134"/>
                  </a:lnTo>
                  <a:close/>
                  <a:moveTo>
                    <a:pt x="204" y="171"/>
                  </a:moveTo>
                  <a:cubicBezTo>
                    <a:pt x="222" y="21"/>
                    <a:pt x="222" y="21"/>
                    <a:pt x="222" y="21"/>
                  </a:cubicBezTo>
                  <a:cubicBezTo>
                    <a:pt x="268" y="21"/>
                    <a:pt x="268" y="21"/>
                    <a:pt x="268" y="21"/>
                  </a:cubicBezTo>
                  <a:cubicBezTo>
                    <a:pt x="296" y="171"/>
                    <a:pt x="296" y="171"/>
                    <a:pt x="296" y="171"/>
                  </a:cubicBezTo>
                  <a:lnTo>
                    <a:pt x="204" y="17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63" name="Freeform 580"/>
            <p:cNvSpPr>
              <a:spLocks/>
            </p:cNvSpPr>
            <p:nvPr/>
          </p:nvSpPr>
          <p:spPr bwMode="auto">
            <a:xfrm>
              <a:off x="5328342" y="5144110"/>
              <a:ext cx="77644" cy="170820"/>
            </a:xfrm>
            <a:custGeom>
              <a:avLst/>
              <a:gdLst>
                <a:gd name="T0" fmla="*/ 8 w 31"/>
                <a:gd name="T1" fmla="*/ 46 h 65"/>
                <a:gd name="T2" fmla="*/ 8 w 31"/>
                <a:gd name="T3" fmla="*/ 61 h 65"/>
                <a:gd name="T4" fmla="*/ 16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6"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2" y="34"/>
                    <a:pt x="8" y="40"/>
                  </a:cubicBezTo>
                  <a:cubicBezTo>
                    <a:pt x="9" y="41"/>
                    <a:pt x="11" y="43"/>
                    <a:pt x="8" y="4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64" name="Freeform 581"/>
            <p:cNvSpPr>
              <a:spLocks/>
            </p:cNvSpPr>
            <p:nvPr/>
          </p:nvSpPr>
          <p:spPr bwMode="auto">
            <a:xfrm>
              <a:off x="5437047" y="5144110"/>
              <a:ext cx="81529" cy="170820"/>
            </a:xfrm>
            <a:custGeom>
              <a:avLst/>
              <a:gdLst>
                <a:gd name="T0" fmla="*/ 8 w 31"/>
                <a:gd name="T1" fmla="*/ 46 h 65"/>
                <a:gd name="T2" fmla="*/ 8 w 31"/>
                <a:gd name="T3" fmla="*/ 61 h 65"/>
                <a:gd name="T4" fmla="*/ 15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5"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1" y="34"/>
                    <a:pt x="8" y="40"/>
                  </a:cubicBezTo>
                  <a:cubicBezTo>
                    <a:pt x="9" y="41"/>
                    <a:pt x="11" y="43"/>
                    <a:pt x="8" y="4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91" name="Group 90"/>
          <p:cNvGrpSpPr/>
          <p:nvPr/>
        </p:nvGrpSpPr>
        <p:grpSpPr>
          <a:xfrm>
            <a:off x="4100698" y="2261261"/>
            <a:ext cx="1629188" cy="373971"/>
            <a:chOff x="3444283" y="2378064"/>
            <a:chExt cx="1477349" cy="339117"/>
          </a:xfrm>
        </p:grpSpPr>
        <p:sp>
          <p:nvSpPr>
            <p:cNvPr id="37" name="Freeform 261"/>
            <p:cNvSpPr>
              <a:spLocks noChangeAspect="1" noEditPoints="1"/>
            </p:cNvSpPr>
            <p:nvPr/>
          </p:nvSpPr>
          <p:spPr bwMode="auto">
            <a:xfrm>
              <a:off x="4060000" y="2422897"/>
              <a:ext cx="293301" cy="247994"/>
            </a:xfrm>
            <a:custGeom>
              <a:avLst/>
              <a:gdLst>
                <a:gd name="T0" fmla="*/ 104 w 104"/>
                <a:gd name="T1" fmla="*/ 28 h 88"/>
                <a:gd name="T2" fmla="*/ 94 w 104"/>
                <a:gd name="T3" fmla="*/ 28 h 88"/>
                <a:gd name="T4" fmla="*/ 90 w 104"/>
                <a:gd name="T5" fmla="*/ 8 h 88"/>
                <a:gd name="T6" fmla="*/ 80 w 104"/>
                <a:gd name="T7" fmla="*/ 0 h 88"/>
                <a:gd name="T8" fmla="*/ 24 w 104"/>
                <a:gd name="T9" fmla="*/ 0 h 88"/>
                <a:gd name="T10" fmla="*/ 14 w 104"/>
                <a:gd name="T11" fmla="*/ 8 h 88"/>
                <a:gd name="T12" fmla="*/ 10 w 104"/>
                <a:gd name="T13" fmla="*/ 28 h 88"/>
                <a:gd name="T14" fmla="*/ 0 w 104"/>
                <a:gd name="T15" fmla="*/ 28 h 88"/>
                <a:gd name="T16" fmla="*/ 0 w 104"/>
                <a:gd name="T17" fmla="*/ 36 h 88"/>
                <a:gd name="T18" fmla="*/ 6 w 104"/>
                <a:gd name="T19" fmla="*/ 36 h 88"/>
                <a:gd name="T20" fmla="*/ 4 w 104"/>
                <a:gd name="T21" fmla="*/ 40 h 88"/>
                <a:gd name="T22" fmla="*/ 4 w 104"/>
                <a:gd name="T23" fmla="*/ 48 h 88"/>
                <a:gd name="T24" fmla="*/ 4 w 104"/>
                <a:gd name="T25" fmla="*/ 54 h 88"/>
                <a:gd name="T26" fmla="*/ 4 w 104"/>
                <a:gd name="T27" fmla="*/ 68 h 88"/>
                <a:gd name="T28" fmla="*/ 4 w 104"/>
                <a:gd name="T29" fmla="*/ 72 h 88"/>
                <a:gd name="T30" fmla="*/ 4 w 104"/>
                <a:gd name="T31" fmla="*/ 88 h 88"/>
                <a:gd name="T32" fmla="*/ 16 w 104"/>
                <a:gd name="T33" fmla="*/ 88 h 88"/>
                <a:gd name="T34" fmla="*/ 16 w 104"/>
                <a:gd name="T35" fmla="*/ 80 h 88"/>
                <a:gd name="T36" fmla="*/ 88 w 104"/>
                <a:gd name="T37" fmla="*/ 80 h 88"/>
                <a:gd name="T38" fmla="*/ 88 w 104"/>
                <a:gd name="T39" fmla="*/ 88 h 88"/>
                <a:gd name="T40" fmla="*/ 100 w 104"/>
                <a:gd name="T41" fmla="*/ 88 h 88"/>
                <a:gd name="T42" fmla="*/ 100 w 104"/>
                <a:gd name="T43" fmla="*/ 72 h 88"/>
                <a:gd name="T44" fmla="*/ 100 w 104"/>
                <a:gd name="T45" fmla="*/ 68 h 88"/>
                <a:gd name="T46" fmla="*/ 100 w 104"/>
                <a:gd name="T47" fmla="*/ 60 h 88"/>
                <a:gd name="T48" fmla="*/ 100 w 104"/>
                <a:gd name="T49" fmla="*/ 54 h 88"/>
                <a:gd name="T50" fmla="*/ 100 w 104"/>
                <a:gd name="T51" fmla="*/ 48 h 88"/>
                <a:gd name="T52" fmla="*/ 100 w 104"/>
                <a:gd name="T53" fmla="*/ 40 h 88"/>
                <a:gd name="T54" fmla="*/ 98 w 104"/>
                <a:gd name="T55" fmla="*/ 36 h 88"/>
                <a:gd name="T56" fmla="*/ 104 w 104"/>
                <a:gd name="T57" fmla="*/ 36 h 88"/>
                <a:gd name="T58" fmla="*/ 104 w 104"/>
                <a:gd name="T59" fmla="*/ 28 h 88"/>
                <a:gd name="T60" fmla="*/ 22 w 104"/>
                <a:gd name="T61" fmla="*/ 9 h 88"/>
                <a:gd name="T62" fmla="*/ 24 w 104"/>
                <a:gd name="T63" fmla="*/ 8 h 88"/>
                <a:gd name="T64" fmla="*/ 80 w 104"/>
                <a:gd name="T65" fmla="*/ 8 h 88"/>
                <a:gd name="T66" fmla="*/ 82 w 104"/>
                <a:gd name="T67" fmla="*/ 9 h 88"/>
                <a:gd name="T68" fmla="*/ 86 w 104"/>
                <a:gd name="T69" fmla="*/ 28 h 88"/>
                <a:gd name="T70" fmla="*/ 18 w 104"/>
                <a:gd name="T71" fmla="*/ 28 h 88"/>
                <a:gd name="T72" fmla="*/ 22 w 104"/>
                <a:gd name="T73" fmla="*/ 9 h 88"/>
                <a:gd name="T74" fmla="*/ 24 w 104"/>
                <a:gd name="T75" fmla="*/ 56 h 88"/>
                <a:gd name="T76" fmla="*/ 12 w 104"/>
                <a:gd name="T77" fmla="*/ 56 h 88"/>
                <a:gd name="T78" fmla="*/ 8 w 104"/>
                <a:gd name="T79" fmla="*/ 52 h 88"/>
                <a:gd name="T80" fmla="*/ 8 w 104"/>
                <a:gd name="T81" fmla="*/ 44 h 88"/>
                <a:gd name="T82" fmla="*/ 24 w 104"/>
                <a:gd name="T83" fmla="*/ 48 h 88"/>
                <a:gd name="T84" fmla="*/ 24 w 104"/>
                <a:gd name="T85" fmla="*/ 56 h 88"/>
                <a:gd name="T86" fmla="*/ 68 w 104"/>
                <a:gd name="T87" fmla="*/ 72 h 88"/>
                <a:gd name="T88" fmla="*/ 36 w 104"/>
                <a:gd name="T89" fmla="*/ 72 h 88"/>
                <a:gd name="T90" fmla="*/ 36 w 104"/>
                <a:gd name="T91" fmla="*/ 64 h 88"/>
                <a:gd name="T92" fmla="*/ 68 w 104"/>
                <a:gd name="T93" fmla="*/ 64 h 88"/>
                <a:gd name="T94" fmla="*/ 68 w 104"/>
                <a:gd name="T95" fmla="*/ 72 h 88"/>
                <a:gd name="T96" fmla="*/ 96 w 104"/>
                <a:gd name="T97" fmla="*/ 52 h 88"/>
                <a:gd name="T98" fmla="*/ 92 w 104"/>
                <a:gd name="T99" fmla="*/ 56 h 88"/>
                <a:gd name="T100" fmla="*/ 80 w 104"/>
                <a:gd name="T101" fmla="*/ 56 h 88"/>
                <a:gd name="T102" fmla="*/ 80 w 104"/>
                <a:gd name="T103" fmla="*/ 48 h 88"/>
                <a:gd name="T104" fmla="*/ 96 w 104"/>
                <a:gd name="T105" fmla="*/ 44 h 88"/>
                <a:gd name="T106" fmla="*/ 96 w 104"/>
                <a:gd name="T107" fmla="*/ 5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4" h="88">
                  <a:moveTo>
                    <a:pt x="104" y="28"/>
                  </a:moveTo>
                  <a:cubicBezTo>
                    <a:pt x="94" y="28"/>
                    <a:pt x="94" y="28"/>
                    <a:pt x="94" y="28"/>
                  </a:cubicBezTo>
                  <a:cubicBezTo>
                    <a:pt x="90" y="8"/>
                    <a:pt x="90" y="8"/>
                    <a:pt x="90" y="8"/>
                  </a:cubicBezTo>
                  <a:cubicBezTo>
                    <a:pt x="89" y="4"/>
                    <a:pt x="84" y="0"/>
                    <a:pt x="80" y="0"/>
                  </a:cubicBezTo>
                  <a:cubicBezTo>
                    <a:pt x="24" y="0"/>
                    <a:pt x="24" y="0"/>
                    <a:pt x="24" y="0"/>
                  </a:cubicBezTo>
                  <a:cubicBezTo>
                    <a:pt x="20" y="0"/>
                    <a:pt x="15" y="4"/>
                    <a:pt x="14" y="8"/>
                  </a:cubicBezTo>
                  <a:cubicBezTo>
                    <a:pt x="10" y="28"/>
                    <a:pt x="10" y="28"/>
                    <a:pt x="10" y="28"/>
                  </a:cubicBezTo>
                  <a:cubicBezTo>
                    <a:pt x="0" y="28"/>
                    <a:pt x="0" y="28"/>
                    <a:pt x="0" y="28"/>
                  </a:cubicBezTo>
                  <a:cubicBezTo>
                    <a:pt x="0" y="36"/>
                    <a:pt x="0" y="36"/>
                    <a:pt x="0" y="36"/>
                  </a:cubicBezTo>
                  <a:cubicBezTo>
                    <a:pt x="6" y="36"/>
                    <a:pt x="6" y="36"/>
                    <a:pt x="6" y="36"/>
                  </a:cubicBezTo>
                  <a:cubicBezTo>
                    <a:pt x="4" y="40"/>
                    <a:pt x="4" y="40"/>
                    <a:pt x="4" y="40"/>
                  </a:cubicBezTo>
                  <a:cubicBezTo>
                    <a:pt x="4" y="48"/>
                    <a:pt x="4" y="48"/>
                    <a:pt x="4" y="48"/>
                  </a:cubicBezTo>
                  <a:cubicBezTo>
                    <a:pt x="4" y="54"/>
                    <a:pt x="4" y="54"/>
                    <a:pt x="4" y="54"/>
                  </a:cubicBezTo>
                  <a:cubicBezTo>
                    <a:pt x="4" y="68"/>
                    <a:pt x="4" y="68"/>
                    <a:pt x="4" y="68"/>
                  </a:cubicBezTo>
                  <a:cubicBezTo>
                    <a:pt x="4" y="72"/>
                    <a:pt x="4" y="72"/>
                    <a:pt x="4" y="72"/>
                  </a:cubicBezTo>
                  <a:cubicBezTo>
                    <a:pt x="4" y="88"/>
                    <a:pt x="4" y="88"/>
                    <a:pt x="4" y="88"/>
                  </a:cubicBezTo>
                  <a:cubicBezTo>
                    <a:pt x="16" y="88"/>
                    <a:pt x="16" y="88"/>
                    <a:pt x="16" y="88"/>
                  </a:cubicBezTo>
                  <a:cubicBezTo>
                    <a:pt x="16" y="80"/>
                    <a:pt x="16" y="80"/>
                    <a:pt x="16" y="80"/>
                  </a:cubicBezTo>
                  <a:cubicBezTo>
                    <a:pt x="88" y="80"/>
                    <a:pt x="88" y="80"/>
                    <a:pt x="88" y="80"/>
                  </a:cubicBezTo>
                  <a:cubicBezTo>
                    <a:pt x="88" y="88"/>
                    <a:pt x="88" y="88"/>
                    <a:pt x="88" y="88"/>
                  </a:cubicBezTo>
                  <a:cubicBezTo>
                    <a:pt x="100" y="88"/>
                    <a:pt x="100" y="88"/>
                    <a:pt x="100" y="88"/>
                  </a:cubicBezTo>
                  <a:cubicBezTo>
                    <a:pt x="100" y="72"/>
                    <a:pt x="100" y="72"/>
                    <a:pt x="100" y="72"/>
                  </a:cubicBezTo>
                  <a:cubicBezTo>
                    <a:pt x="100" y="68"/>
                    <a:pt x="100" y="68"/>
                    <a:pt x="100" y="68"/>
                  </a:cubicBezTo>
                  <a:cubicBezTo>
                    <a:pt x="100" y="60"/>
                    <a:pt x="100" y="60"/>
                    <a:pt x="100" y="60"/>
                  </a:cubicBezTo>
                  <a:cubicBezTo>
                    <a:pt x="100" y="54"/>
                    <a:pt x="100" y="54"/>
                    <a:pt x="100" y="54"/>
                  </a:cubicBezTo>
                  <a:cubicBezTo>
                    <a:pt x="100" y="48"/>
                    <a:pt x="100" y="48"/>
                    <a:pt x="100" y="48"/>
                  </a:cubicBezTo>
                  <a:cubicBezTo>
                    <a:pt x="100" y="40"/>
                    <a:pt x="100" y="40"/>
                    <a:pt x="100" y="40"/>
                  </a:cubicBezTo>
                  <a:cubicBezTo>
                    <a:pt x="98" y="36"/>
                    <a:pt x="98" y="36"/>
                    <a:pt x="98" y="36"/>
                  </a:cubicBezTo>
                  <a:cubicBezTo>
                    <a:pt x="104" y="36"/>
                    <a:pt x="104" y="36"/>
                    <a:pt x="104" y="36"/>
                  </a:cubicBezTo>
                  <a:cubicBezTo>
                    <a:pt x="104" y="28"/>
                    <a:pt x="104" y="28"/>
                    <a:pt x="104" y="28"/>
                  </a:cubicBezTo>
                  <a:moveTo>
                    <a:pt x="22" y="9"/>
                  </a:moveTo>
                  <a:cubicBezTo>
                    <a:pt x="22" y="9"/>
                    <a:pt x="23" y="8"/>
                    <a:pt x="24" y="8"/>
                  </a:cubicBezTo>
                  <a:cubicBezTo>
                    <a:pt x="80" y="8"/>
                    <a:pt x="80" y="8"/>
                    <a:pt x="80" y="8"/>
                  </a:cubicBezTo>
                  <a:cubicBezTo>
                    <a:pt x="81" y="8"/>
                    <a:pt x="82" y="9"/>
                    <a:pt x="82" y="9"/>
                  </a:cubicBezTo>
                  <a:cubicBezTo>
                    <a:pt x="86" y="28"/>
                    <a:pt x="86" y="28"/>
                    <a:pt x="86" y="28"/>
                  </a:cubicBezTo>
                  <a:cubicBezTo>
                    <a:pt x="18" y="28"/>
                    <a:pt x="18" y="28"/>
                    <a:pt x="18" y="28"/>
                  </a:cubicBezTo>
                  <a:cubicBezTo>
                    <a:pt x="22" y="9"/>
                    <a:pt x="22" y="9"/>
                    <a:pt x="22" y="9"/>
                  </a:cubicBezTo>
                  <a:moveTo>
                    <a:pt x="24" y="56"/>
                  </a:moveTo>
                  <a:cubicBezTo>
                    <a:pt x="12" y="56"/>
                    <a:pt x="12" y="56"/>
                    <a:pt x="12" y="56"/>
                  </a:cubicBezTo>
                  <a:cubicBezTo>
                    <a:pt x="8" y="52"/>
                    <a:pt x="8" y="52"/>
                    <a:pt x="8" y="52"/>
                  </a:cubicBezTo>
                  <a:cubicBezTo>
                    <a:pt x="8" y="44"/>
                    <a:pt x="8" y="44"/>
                    <a:pt x="8" y="44"/>
                  </a:cubicBezTo>
                  <a:cubicBezTo>
                    <a:pt x="24" y="48"/>
                    <a:pt x="24" y="48"/>
                    <a:pt x="24" y="48"/>
                  </a:cubicBezTo>
                  <a:cubicBezTo>
                    <a:pt x="24" y="56"/>
                    <a:pt x="24" y="56"/>
                    <a:pt x="24" y="56"/>
                  </a:cubicBezTo>
                  <a:moveTo>
                    <a:pt x="68" y="72"/>
                  </a:moveTo>
                  <a:cubicBezTo>
                    <a:pt x="36" y="72"/>
                    <a:pt x="36" y="72"/>
                    <a:pt x="36" y="72"/>
                  </a:cubicBezTo>
                  <a:cubicBezTo>
                    <a:pt x="36" y="64"/>
                    <a:pt x="36" y="64"/>
                    <a:pt x="36" y="64"/>
                  </a:cubicBezTo>
                  <a:cubicBezTo>
                    <a:pt x="68" y="64"/>
                    <a:pt x="68" y="64"/>
                    <a:pt x="68" y="64"/>
                  </a:cubicBezTo>
                  <a:cubicBezTo>
                    <a:pt x="68" y="72"/>
                    <a:pt x="68" y="72"/>
                    <a:pt x="68" y="72"/>
                  </a:cubicBezTo>
                  <a:moveTo>
                    <a:pt x="96" y="52"/>
                  </a:moveTo>
                  <a:cubicBezTo>
                    <a:pt x="92" y="56"/>
                    <a:pt x="92" y="56"/>
                    <a:pt x="92" y="56"/>
                  </a:cubicBezTo>
                  <a:cubicBezTo>
                    <a:pt x="80" y="56"/>
                    <a:pt x="80" y="56"/>
                    <a:pt x="80" y="56"/>
                  </a:cubicBezTo>
                  <a:cubicBezTo>
                    <a:pt x="80" y="48"/>
                    <a:pt x="80" y="48"/>
                    <a:pt x="80" y="48"/>
                  </a:cubicBezTo>
                  <a:cubicBezTo>
                    <a:pt x="96" y="44"/>
                    <a:pt x="96" y="44"/>
                    <a:pt x="96" y="44"/>
                  </a:cubicBezTo>
                  <a:cubicBezTo>
                    <a:pt x="96" y="52"/>
                    <a:pt x="96" y="52"/>
                    <a:pt x="96" y="52"/>
                  </a:cubicBezTo>
                </a:path>
              </a:pathLst>
            </a:custGeom>
            <a:solidFill>
              <a:schemeClr val="accent1"/>
            </a:solidFill>
            <a:ln>
              <a:noFill/>
            </a:ln>
          </p:spPr>
          <p:txBody>
            <a:bodyPr vert="horz" wrap="square" lIns="100838" tIns="50419" rIns="100838" bIns="50419" numCol="1" anchor="t" anchorCtr="0" compatLnSpc="1">
              <a:prstTxWarp prst="textNoShape">
                <a:avLst/>
              </a:prstTxWarp>
            </a:bodyPr>
            <a:lstStyle/>
            <a:p>
              <a:endParaRPr lang="en-US" sz="2647" dirty="0">
                <a:solidFill>
                  <a:schemeClr val="bg1"/>
                </a:solidFill>
                <a:latin typeface="Calibri"/>
                <a:sym typeface="Calibri"/>
              </a:endParaRPr>
            </a:p>
          </p:txBody>
        </p:sp>
        <p:sp>
          <p:nvSpPr>
            <p:cNvPr id="45" name="Freeform 506"/>
            <p:cNvSpPr>
              <a:spLocks noEditPoints="1"/>
            </p:cNvSpPr>
            <p:nvPr/>
          </p:nvSpPr>
          <p:spPr bwMode="auto">
            <a:xfrm>
              <a:off x="3615934" y="2413358"/>
              <a:ext cx="213947" cy="271181"/>
            </a:xfrm>
            <a:custGeom>
              <a:avLst/>
              <a:gdLst>
                <a:gd name="T0" fmla="*/ 76 w 237"/>
                <a:gd name="T1" fmla="*/ 117 h 299"/>
                <a:gd name="T2" fmla="*/ 161 w 237"/>
                <a:gd name="T3" fmla="*/ 117 h 299"/>
                <a:gd name="T4" fmla="*/ 183 w 237"/>
                <a:gd name="T5" fmla="*/ 96 h 299"/>
                <a:gd name="T6" fmla="*/ 183 w 237"/>
                <a:gd name="T7" fmla="*/ 64 h 299"/>
                <a:gd name="T8" fmla="*/ 161 w 237"/>
                <a:gd name="T9" fmla="*/ 43 h 299"/>
                <a:gd name="T10" fmla="*/ 76 w 237"/>
                <a:gd name="T11" fmla="*/ 43 h 299"/>
                <a:gd name="T12" fmla="*/ 55 w 237"/>
                <a:gd name="T13" fmla="*/ 64 h 299"/>
                <a:gd name="T14" fmla="*/ 55 w 237"/>
                <a:gd name="T15" fmla="*/ 96 h 299"/>
                <a:gd name="T16" fmla="*/ 76 w 237"/>
                <a:gd name="T17" fmla="*/ 117 h 299"/>
                <a:gd name="T18" fmla="*/ 76 w 237"/>
                <a:gd name="T19" fmla="*/ 64 h 299"/>
                <a:gd name="T20" fmla="*/ 161 w 237"/>
                <a:gd name="T21" fmla="*/ 64 h 299"/>
                <a:gd name="T22" fmla="*/ 161 w 237"/>
                <a:gd name="T23" fmla="*/ 96 h 299"/>
                <a:gd name="T24" fmla="*/ 76 w 237"/>
                <a:gd name="T25" fmla="*/ 96 h 299"/>
                <a:gd name="T26" fmla="*/ 76 w 237"/>
                <a:gd name="T27" fmla="*/ 64 h 299"/>
                <a:gd name="T28" fmla="*/ 76 w 237"/>
                <a:gd name="T29" fmla="*/ 192 h 299"/>
                <a:gd name="T30" fmla="*/ 55 w 237"/>
                <a:gd name="T31" fmla="*/ 171 h 299"/>
                <a:gd name="T32" fmla="*/ 76 w 237"/>
                <a:gd name="T33" fmla="*/ 149 h 299"/>
                <a:gd name="T34" fmla="*/ 97 w 237"/>
                <a:gd name="T35" fmla="*/ 171 h 299"/>
                <a:gd name="T36" fmla="*/ 76 w 237"/>
                <a:gd name="T37" fmla="*/ 192 h 299"/>
                <a:gd name="T38" fmla="*/ 183 w 237"/>
                <a:gd name="T39" fmla="*/ 171 h 299"/>
                <a:gd name="T40" fmla="*/ 161 w 237"/>
                <a:gd name="T41" fmla="*/ 192 h 299"/>
                <a:gd name="T42" fmla="*/ 140 w 237"/>
                <a:gd name="T43" fmla="*/ 171 h 299"/>
                <a:gd name="T44" fmla="*/ 161 w 237"/>
                <a:gd name="T45" fmla="*/ 149 h 299"/>
                <a:gd name="T46" fmla="*/ 183 w 237"/>
                <a:gd name="T47" fmla="*/ 171 h 299"/>
                <a:gd name="T48" fmla="*/ 233 w 237"/>
                <a:gd name="T49" fmla="*/ 280 h 299"/>
                <a:gd name="T50" fmla="*/ 183 w 237"/>
                <a:gd name="T51" fmla="*/ 231 h 299"/>
                <a:gd name="T52" fmla="*/ 225 w 237"/>
                <a:gd name="T53" fmla="*/ 181 h 299"/>
                <a:gd name="T54" fmla="*/ 225 w 237"/>
                <a:gd name="T55" fmla="*/ 53 h 299"/>
                <a:gd name="T56" fmla="*/ 172 w 237"/>
                <a:gd name="T57" fmla="*/ 0 h 299"/>
                <a:gd name="T58" fmla="*/ 65 w 237"/>
                <a:gd name="T59" fmla="*/ 0 h 299"/>
                <a:gd name="T60" fmla="*/ 12 w 237"/>
                <a:gd name="T61" fmla="*/ 53 h 299"/>
                <a:gd name="T62" fmla="*/ 12 w 237"/>
                <a:gd name="T63" fmla="*/ 181 h 299"/>
                <a:gd name="T64" fmla="*/ 52 w 237"/>
                <a:gd name="T65" fmla="*/ 233 h 299"/>
                <a:gd name="T66" fmla="*/ 4 w 237"/>
                <a:gd name="T67" fmla="*/ 280 h 299"/>
                <a:gd name="T68" fmla="*/ 4 w 237"/>
                <a:gd name="T69" fmla="*/ 296 h 299"/>
                <a:gd name="T70" fmla="*/ 12 w 237"/>
                <a:gd name="T71" fmla="*/ 299 h 299"/>
                <a:gd name="T72" fmla="*/ 20 w 237"/>
                <a:gd name="T73" fmla="*/ 296 h 299"/>
                <a:gd name="T74" fmla="*/ 38 w 237"/>
                <a:gd name="T75" fmla="*/ 277 h 299"/>
                <a:gd name="T76" fmla="*/ 200 w 237"/>
                <a:gd name="T77" fmla="*/ 277 h 299"/>
                <a:gd name="T78" fmla="*/ 218 w 237"/>
                <a:gd name="T79" fmla="*/ 296 h 299"/>
                <a:gd name="T80" fmla="*/ 225 w 237"/>
                <a:gd name="T81" fmla="*/ 299 h 299"/>
                <a:gd name="T82" fmla="*/ 233 w 237"/>
                <a:gd name="T83" fmla="*/ 296 h 299"/>
                <a:gd name="T84" fmla="*/ 233 w 237"/>
                <a:gd name="T85" fmla="*/ 280 h 299"/>
                <a:gd name="T86" fmla="*/ 33 w 237"/>
                <a:gd name="T87" fmla="*/ 181 h 299"/>
                <a:gd name="T88" fmla="*/ 33 w 237"/>
                <a:gd name="T89" fmla="*/ 53 h 299"/>
                <a:gd name="T90" fmla="*/ 65 w 237"/>
                <a:gd name="T91" fmla="*/ 21 h 299"/>
                <a:gd name="T92" fmla="*/ 172 w 237"/>
                <a:gd name="T93" fmla="*/ 21 h 299"/>
                <a:gd name="T94" fmla="*/ 204 w 237"/>
                <a:gd name="T95" fmla="*/ 53 h 299"/>
                <a:gd name="T96" fmla="*/ 204 w 237"/>
                <a:gd name="T97" fmla="*/ 181 h 299"/>
                <a:gd name="T98" fmla="*/ 161 w 237"/>
                <a:gd name="T99" fmla="*/ 213 h 299"/>
                <a:gd name="T100" fmla="*/ 65 w 237"/>
                <a:gd name="T101" fmla="*/ 213 h 299"/>
                <a:gd name="T102" fmla="*/ 33 w 237"/>
                <a:gd name="T103" fmla="*/ 181 h 299"/>
                <a:gd name="T104" fmla="*/ 59 w 237"/>
                <a:gd name="T105" fmla="*/ 256 h 299"/>
                <a:gd name="T106" fmla="*/ 80 w 237"/>
                <a:gd name="T107" fmla="*/ 235 h 299"/>
                <a:gd name="T108" fmla="*/ 157 w 237"/>
                <a:gd name="T109" fmla="*/ 235 h 299"/>
                <a:gd name="T110" fmla="*/ 178 w 237"/>
                <a:gd name="T111" fmla="*/ 256 h 299"/>
                <a:gd name="T112" fmla="*/ 59 w 237"/>
                <a:gd name="T113" fmla="*/ 25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7" h="299">
                  <a:moveTo>
                    <a:pt x="76" y="117"/>
                  </a:moveTo>
                  <a:cubicBezTo>
                    <a:pt x="161" y="117"/>
                    <a:pt x="161" y="117"/>
                    <a:pt x="161" y="117"/>
                  </a:cubicBezTo>
                  <a:cubicBezTo>
                    <a:pt x="173" y="117"/>
                    <a:pt x="183" y="108"/>
                    <a:pt x="183" y="96"/>
                  </a:cubicBezTo>
                  <a:cubicBezTo>
                    <a:pt x="183" y="64"/>
                    <a:pt x="183" y="64"/>
                    <a:pt x="183" y="64"/>
                  </a:cubicBezTo>
                  <a:cubicBezTo>
                    <a:pt x="183" y="52"/>
                    <a:pt x="173" y="43"/>
                    <a:pt x="161" y="43"/>
                  </a:cubicBezTo>
                  <a:cubicBezTo>
                    <a:pt x="76" y="43"/>
                    <a:pt x="76" y="43"/>
                    <a:pt x="76" y="43"/>
                  </a:cubicBezTo>
                  <a:cubicBezTo>
                    <a:pt x="64" y="43"/>
                    <a:pt x="55" y="52"/>
                    <a:pt x="55" y="64"/>
                  </a:cubicBezTo>
                  <a:cubicBezTo>
                    <a:pt x="55" y="96"/>
                    <a:pt x="55" y="96"/>
                    <a:pt x="55" y="96"/>
                  </a:cubicBezTo>
                  <a:cubicBezTo>
                    <a:pt x="55" y="108"/>
                    <a:pt x="64" y="117"/>
                    <a:pt x="76" y="117"/>
                  </a:cubicBezTo>
                  <a:close/>
                  <a:moveTo>
                    <a:pt x="76" y="64"/>
                  </a:moveTo>
                  <a:cubicBezTo>
                    <a:pt x="161" y="64"/>
                    <a:pt x="161" y="64"/>
                    <a:pt x="161" y="64"/>
                  </a:cubicBezTo>
                  <a:cubicBezTo>
                    <a:pt x="161" y="96"/>
                    <a:pt x="161" y="96"/>
                    <a:pt x="161" y="96"/>
                  </a:cubicBezTo>
                  <a:cubicBezTo>
                    <a:pt x="76" y="96"/>
                    <a:pt x="76" y="96"/>
                    <a:pt x="76" y="96"/>
                  </a:cubicBezTo>
                  <a:lnTo>
                    <a:pt x="76" y="64"/>
                  </a:lnTo>
                  <a:close/>
                  <a:moveTo>
                    <a:pt x="76" y="192"/>
                  </a:moveTo>
                  <a:cubicBezTo>
                    <a:pt x="64" y="192"/>
                    <a:pt x="55" y="182"/>
                    <a:pt x="55" y="171"/>
                  </a:cubicBezTo>
                  <a:cubicBezTo>
                    <a:pt x="55" y="159"/>
                    <a:pt x="64" y="149"/>
                    <a:pt x="76" y="149"/>
                  </a:cubicBezTo>
                  <a:cubicBezTo>
                    <a:pt x="88" y="149"/>
                    <a:pt x="97" y="159"/>
                    <a:pt x="97" y="171"/>
                  </a:cubicBezTo>
                  <a:cubicBezTo>
                    <a:pt x="97" y="182"/>
                    <a:pt x="88" y="192"/>
                    <a:pt x="76" y="192"/>
                  </a:cubicBezTo>
                  <a:close/>
                  <a:moveTo>
                    <a:pt x="183" y="171"/>
                  </a:moveTo>
                  <a:cubicBezTo>
                    <a:pt x="183" y="182"/>
                    <a:pt x="173" y="192"/>
                    <a:pt x="161" y="192"/>
                  </a:cubicBezTo>
                  <a:cubicBezTo>
                    <a:pt x="150" y="192"/>
                    <a:pt x="140" y="182"/>
                    <a:pt x="140" y="171"/>
                  </a:cubicBezTo>
                  <a:cubicBezTo>
                    <a:pt x="140" y="159"/>
                    <a:pt x="150" y="149"/>
                    <a:pt x="161" y="149"/>
                  </a:cubicBezTo>
                  <a:cubicBezTo>
                    <a:pt x="173" y="149"/>
                    <a:pt x="183" y="159"/>
                    <a:pt x="183" y="171"/>
                  </a:cubicBezTo>
                  <a:close/>
                  <a:moveTo>
                    <a:pt x="233" y="280"/>
                  </a:moveTo>
                  <a:cubicBezTo>
                    <a:pt x="183" y="231"/>
                    <a:pt x="183" y="231"/>
                    <a:pt x="183" y="231"/>
                  </a:cubicBezTo>
                  <a:cubicBezTo>
                    <a:pt x="205" y="223"/>
                    <a:pt x="225" y="204"/>
                    <a:pt x="225" y="181"/>
                  </a:cubicBezTo>
                  <a:cubicBezTo>
                    <a:pt x="225" y="53"/>
                    <a:pt x="225" y="53"/>
                    <a:pt x="225" y="53"/>
                  </a:cubicBezTo>
                  <a:cubicBezTo>
                    <a:pt x="225" y="24"/>
                    <a:pt x="201" y="0"/>
                    <a:pt x="172" y="0"/>
                  </a:cubicBezTo>
                  <a:cubicBezTo>
                    <a:pt x="65" y="0"/>
                    <a:pt x="65" y="0"/>
                    <a:pt x="65" y="0"/>
                  </a:cubicBezTo>
                  <a:cubicBezTo>
                    <a:pt x="36" y="0"/>
                    <a:pt x="12" y="24"/>
                    <a:pt x="12" y="53"/>
                  </a:cubicBezTo>
                  <a:cubicBezTo>
                    <a:pt x="12" y="181"/>
                    <a:pt x="12" y="181"/>
                    <a:pt x="12" y="181"/>
                  </a:cubicBezTo>
                  <a:cubicBezTo>
                    <a:pt x="12" y="206"/>
                    <a:pt x="29" y="227"/>
                    <a:pt x="52" y="233"/>
                  </a:cubicBezTo>
                  <a:cubicBezTo>
                    <a:pt x="4" y="280"/>
                    <a:pt x="4" y="280"/>
                    <a:pt x="4" y="280"/>
                  </a:cubicBezTo>
                  <a:cubicBezTo>
                    <a:pt x="0" y="285"/>
                    <a:pt x="0" y="291"/>
                    <a:pt x="4" y="296"/>
                  </a:cubicBezTo>
                  <a:cubicBezTo>
                    <a:pt x="7" y="298"/>
                    <a:pt x="9" y="299"/>
                    <a:pt x="12" y="299"/>
                  </a:cubicBezTo>
                  <a:cubicBezTo>
                    <a:pt x="15" y="299"/>
                    <a:pt x="17" y="298"/>
                    <a:pt x="20" y="296"/>
                  </a:cubicBezTo>
                  <a:cubicBezTo>
                    <a:pt x="38" y="277"/>
                    <a:pt x="38" y="277"/>
                    <a:pt x="38" y="277"/>
                  </a:cubicBezTo>
                  <a:cubicBezTo>
                    <a:pt x="200" y="277"/>
                    <a:pt x="200" y="277"/>
                    <a:pt x="200" y="277"/>
                  </a:cubicBezTo>
                  <a:cubicBezTo>
                    <a:pt x="218" y="296"/>
                    <a:pt x="218" y="296"/>
                    <a:pt x="218" y="296"/>
                  </a:cubicBezTo>
                  <a:cubicBezTo>
                    <a:pt x="220" y="298"/>
                    <a:pt x="223" y="299"/>
                    <a:pt x="225" y="299"/>
                  </a:cubicBezTo>
                  <a:cubicBezTo>
                    <a:pt x="228" y="299"/>
                    <a:pt x="231" y="298"/>
                    <a:pt x="233" y="296"/>
                  </a:cubicBezTo>
                  <a:cubicBezTo>
                    <a:pt x="237" y="291"/>
                    <a:pt x="237" y="285"/>
                    <a:pt x="233" y="280"/>
                  </a:cubicBezTo>
                  <a:close/>
                  <a:moveTo>
                    <a:pt x="33" y="181"/>
                  </a:moveTo>
                  <a:cubicBezTo>
                    <a:pt x="33" y="53"/>
                    <a:pt x="33" y="53"/>
                    <a:pt x="33" y="53"/>
                  </a:cubicBezTo>
                  <a:cubicBezTo>
                    <a:pt x="33" y="36"/>
                    <a:pt x="48" y="21"/>
                    <a:pt x="65" y="21"/>
                  </a:cubicBezTo>
                  <a:cubicBezTo>
                    <a:pt x="172" y="21"/>
                    <a:pt x="172" y="21"/>
                    <a:pt x="172" y="21"/>
                  </a:cubicBezTo>
                  <a:cubicBezTo>
                    <a:pt x="190" y="21"/>
                    <a:pt x="204" y="36"/>
                    <a:pt x="204" y="53"/>
                  </a:cubicBezTo>
                  <a:cubicBezTo>
                    <a:pt x="204" y="181"/>
                    <a:pt x="204" y="181"/>
                    <a:pt x="204" y="181"/>
                  </a:cubicBezTo>
                  <a:cubicBezTo>
                    <a:pt x="204" y="198"/>
                    <a:pt x="180" y="213"/>
                    <a:pt x="161" y="213"/>
                  </a:cubicBezTo>
                  <a:cubicBezTo>
                    <a:pt x="65" y="213"/>
                    <a:pt x="65" y="213"/>
                    <a:pt x="65" y="213"/>
                  </a:cubicBezTo>
                  <a:cubicBezTo>
                    <a:pt x="48" y="213"/>
                    <a:pt x="33" y="199"/>
                    <a:pt x="33" y="181"/>
                  </a:cubicBezTo>
                  <a:close/>
                  <a:moveTo>
                    <a:pt x="59" y="256"/>
                  </a:moveTo>
                  <a:cubicBezTo>
                    <a:pt x="80" y="235"/>
                    <a:pt x="80" y="235"/>
                    <a:pt x="80" y="235"/>
                  </a:cubicBezTo>
                  <a:cubicBezTo>
                    <a:pt x="157" y="235"/>
                    <a:pt x="157" y="235"/>
                    <a:pt x="157" y="235"/>
                  </a:cubicBezTo>
                  <a:cubicBezTo>
                    <a:pt x="178" y="256"/>
                    <a:pt x="178" y="256"/>
                    <a:pt x="178" y="256"/>
                  </a:cubicBezTo>
                  <a:lnTo>
                    <a:pt x="59" y="25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66" name="Freeform 1040"/>
            <p:cNvSpPr>
              <a:spLocks noEditPoints="1"/>
            </p:cNvSpPr>
            <p:nvPr/>
          </p:nvSpPr>
          <p:spPr bwMode="auto">
            <a:xfrm>
              <a:off x="4545126" y="2428240"/>
              <a:ext cx="235144" cy="255481"/>
            </a:xfrm>
            <a:custGeom>
              <a:avLst/>
              <a:gdLst>
                <a:gd name="T0" fmla="*/ 265 w 279"/>
                <a:gd name="T1" fmla="*/ 301 h 303"/>
                <a:gd name="T2" fmla="*/ 225 w 279"/>
                <a:gd name="T3" fmla="*/ 302 h 303"/>
                <a:gd name="T4" fmla="*/ 172 w 279"/>
                <a:gd name="T5" fmla="*/ 302 h 303"/>
                <a:gd name="T6" fmla="*/ 140 w 279"/>
                <a:gd name="T7" fmla="*/ 292 h 303"/>
                <a:gd name="T8" fmla="*/ 87 w 279"/>
                <a:gd name="T9" fmla="*/ 292 h 303"/>
                <a:gd name="T10" fmla="*/ 34 w 279"/>
                <a:gd name="T11" fmla="*/ 292 h 303"/>
                <a:gd name="T12" fmla="*/ 1 w 279"/>
                <a:gd name="T13" fmla="*/ 293 h 303"/>
                <a:gd name="T14" fmla="*/ 24 w 279"/>
                <a:gd name="T15" fmla="*/ 271 h 303"/>
                <a:gd name="T16" fmla="*/ 41 w 279"/>
                <a:gd name="T17" fmla="*/ 269 h 303"/>
                <a:gd name="T18" fmla="*/ 77 w 279"/>
                <a:gd name="T19" fmla="*/ 271 h 303"/>
                <a:gd name="T20" fmla="*/ 94 w 279"/>
                <a:gd name="T21" fmla="*/ 269 h 303"/>
                <a:gd name="T22" fmla="*/ 131 w 279"/>
                <a:gd name="T23" fmla="*/ 271 h 303"/>
                <a:gd name="T24" fmla="*/ 147 w 279"/>
                <a:gd name="T25" fmla="*/ 269 h 303"/>
                <a:gd name="T26" fmla="*/ 184 w 279"/>
                <a:gd name="T27" fmla="*/ 271 h 303"/>
                <a:gd name="T28" fmla="*/ 201 w 279"/>
                <a:gd name="T29" fmla="*/ 269 h 303"/>
                <a:gd name="T30" fmla="*/ 238 w 279"/>
                <a:gd name="T31" fmla="*/ 271 h 303"/>
                <a:gd name="T32" fmla="*/ 254 w 279"/>
                <a:gd name="T33" fmla="*/ 269 h 303"/>
                <a:gd name="T34" fmla="*/ 278 w 279"/>
                <a:gd name="T35" fmla="*/ 293 h 303"/>
                <a:gd name="T36" fmla="*/ 20 w 279"/>
                <a:gd name="T37" fmla="*/ 149 h 303"/>
                <a:gd name="T38" fmla="*/ 65 w 279"/>
                <a:gd name="T39" fmla="*/ 51 h 303"/>
                <a:gd name="T40" fmla="*/ 97 w 279"/>
                <a:gd name="T41" fmla="*/ 42 h 303"/>
                <a:gd name="T42" fmla="*/ 108 w 279"/>
                <a:gd name="T43" fmla="*/ 0 h 303"/>
                <a:gd name="T44" fmla="*/ 182 w 279"/>
                <a:gd name="T45" fmla="*/ 10 h 303"/>
                <a:gd name="T46" fmla="*/ 204 w 279"/>
                <a:gd name="T47" fmla="*/ 42 h 303"/>
                <a:gd name="T48" fmla="*/ 234 w 279"/>
                <a:gd name="T49" fmla="*/ 142 h 303"/>
                <a:gd name="T50" fmla="*/ 267 w 279"/>
                <a:gd name="T51" fmla="*/ 162 h 303"/>
                <a:gd name="T52" fmla="*/ 236 w 279"/>
                <a:gd name="T53" fmla="*/ 256 h 303"/>
                <a:gd name="T54" fmla="*/ 225 w 279"/>
                <a:gd name="T55" fmla="*/ 242 h 303"/>
                <a:gd name="T56" fmla="*/ 150 w 279"/>
                <a:gd name="T57" fmla="*/ 142 h 303"/>
                <a:gd name="T58" fmla="*/ 140 w 279"/>
                <a:gd name="T59" fmla="*/ 245 h 303"/>
                <a:gd name="T60" fmla="*/ 129 w 279"/>
                <a:gd name="T61" fmla="*/ 142 h 303"/>
                <a:gd name="T62" fmla="*/ 54 w 279"/>
                <a:gd name="T63" fmla="*/ 242 h 303"/>
                <a:gd name="T64" fmla="*/ 33 w 279"/>
                <a:gd name="T65" fmla="*/ 248 h 303"/>
                <a:gd name="T66" fmla="*/ 118 w 279"/>
                <a:gd name="T67" fmla="*/ 42 h 303"/>
                <a:gd name="T68" fmla="*/ 161 w 279"/>
                <a:gd name="T69" fmla="*/ 21 h 303"/>
                <a:gd name="T70" fmla="*/ 118 w 279"/>
                <a:gd name="T71" fmla="*/ 42 h 303"/>
                <a:gd name="T72" fmla="*/ 137 w 279"/>
                <a:gd name="T73" fmla="*/ 117 h 303"/>
                <a:gd name="T74" fmla="*/ 211 w 279"/>
                <a:gd name="T75" fmla="*/ 136 h 303"/>
                <a:gd name="T76" fmla="*/ 84 w 279"/>
                <a:gd name="T77" fmla="*/ 6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9" h="303">
                  <a:moveTo>
                    <a:pt x="278" y="293"/>
                  </a:moveTo>
                  <a:cubicBezTo>
                    <a:pt x="277" y="299"/>
                    <a:pt x="271" y="302"/>
                    <a:pt x="265" y="301"/>
                  </a:cubicBezTo>
                  <a:cubicBezTo>
                    <a:pt x="259" y="299"/>
                    <a:pt x="253" y="296"/>
                    <a:pt x="247" y="292"/>
                  </a:cubicBezTo>
                  <a:cubicBezTo>
                    <a:pt x="242" y="296"/>
                    <a:pt x="234" y="301"/>
                    <a:pt x="225" y="302"/>
                  </a:cubicBezTo>
                  <a:cubicBezTo>
                    <a:pt x="214" y="303"/>
                    <a:pt x="204" y="299"/>
                    <a:pt x="194" y="292"/>
                  </a:cubicBezTo>
                  <a:cubicBezTo>
                    <a:pt x="189" y="296"/>
                    <a:pt x="181" y="301"/>
                    <a:pt x="172" y="302"/>
                  </a:cubicBezTo>
                  <a:cubicBezTo>
                    <a:pt x="170" y="302"/>
                    <a:pt x="169" y="302"/>
                    <a:pt x="168" y="302"/>
                  </a:cubicBezTo>
                  <a:cubicBezTo>
                    <a:pt x="159" y="302"/>
                    <a:pt x="149" y="299"/>
                    <a:pt x="140" y="292"/>
                  </a:cubicBezTo>
                  <a:cubicBezTo>
                    <a:pt x="135" y="296"/>
                    <a:pt x="128" y="301"/>
                    <a:pt x="118" y="302"/>
                  </a:cubicBezTo>
                  <a:cubicBezTo>
                    <a:pt x="108" y="303"/>
                    <a:pt x="97" y="299"/>
                    <a:pt x="87" y="292"/>
                  </a:cubicBezTo>
                  <a:cubicBezTo>
                    <a:pt x="82" y="296"/>
                    <a:pt x="75" y="301"/>
                    <a:pt x="65" y="302"/>
                  </a:cubicBezTo>
                  <a:cubicBezTo>
                    <a:pt x="54" y="303"/>
                    <a:pt x="44" y="300"/>
                    <a:pt x="34" y="292"/>
                  </a:cubicBezTo>
                  <a:cubicBezTo>
                    <a:pt x="29" y="296"/>
                    <a:pt x="22" y="300"/>
                    <a:pt x="13" y="302"/>
                  </a:cubicBezTo>
                  <a:cubicBezTo>
                    <a:pt x="7" y="302"/>
                    <a:pt x="2" y="298"/>
                    <a:pt x="1" y="293"/>
                  </a:cubicBezTo>
                  <a:cubicBezTo>
                    <a:pt x="0" y="287"/>
                    <a:pt x="4" y="281"/>
                    <a:pt x="10" y="280"/>
                  </a:cubicBezTo>
                  <a:cubicBezTo>
                    <a:pt x="18" y="279"/>
                    <a:pt x="24" y="271"/>
                    <a:pt x="24" y="271"/>
                  </a:cubicBezTo>
                  <a:cubicBezTo>
                    <a:pt x="26" y="268"/>
                    <a:pt x="29" y="267"/>
                    <a:pt x="32" y="266"/>
                  </a:cubicBezTo>
                  <a:cubicBezTo>
                    <a:pt x="35" y="266"/>
                    <a:pt x="38" y="267"/>
                    <a:pt x="41" y="269"/>
                  </a:cubicBezTo>
                  <a:cubicBezTo>
                    <a:pt x="49" y="277"/>
                    <a:pt x="56" y="281"/>
                    <a:pt x="63" y="281"/>
                  </a:cubicBezTo>
                  <a:cubicBezTo>
                    <a:pt x="71" y="280"/>
                    <a:pt x="77" y="271"/>
                    <a:pt x="77" y="271"/>
                  </a:cubicBezTo>
                  <a:cubicBezTo>
                    <a:pt x="79" y="268"/>
                    <a:pt x="82" y="267"/>
                    <a:pt x="85" y="266"/>
                  </a:cubicBezTo>
                  <a:cubicBezTo>
                    <a:pt x="89" y="266"/>
                    <a:pt x="92" y="267"/>
                    <a:pt x="94" y="269"/>
                  </a:cubicBezTo>
                  <a:cubicBezTo>
                    <a:pt x="102" y="277"/>
                    <a:pt x="109" y="281"/>
                    <a:pt x="116" y="281"/>
                  </a:cubicBezTo>
                  <a:cubicBezTo>
                    <a:pt x="125" y="280"/>
                    <a:pt x="131" y="271"/>
                    <a:pt x="131" y="271"/>
                  </a:cubicBezTo>
                  <a:cubicBezTo>
                    <a:pt x="133" y="268"/>
                    <a:pt x="136" y="267"/>
                    <a:pt x="139" y="266"/>
                  </a:cubicBezTo>
                  <a:cubicBezTo>
                    <a:pt x="142" y="266"/>
                    <a:pt x="145" y="267"/>
                    <a:pt x="147" y="269"/>
                  </a:cubicBezTo>
                  <a:cubicBezTo>
                    <a:pt x="155" y="277"/>
                    <a:pt x="163" y="281"/>
                    <a:pt x="169" y="281"/>
                  </a:cubicBezTo>
                  <a:cubicBezTo>
                    <a:pt x="178" y="280"/>
                    <a:pt x="184" y="271"/>
                    <a:pt x="184" y="271"/>
                  </a:cubicBezTo>
                  <a:cubicBezTo>
                    <a:pt x="186" y="268"/>
                    <a:pt x="189" y="267"/>
                    <a:pt x="192" y="266"/>
                  </a:cubicBezTo>
                  <a:cubicBezTo>
                    <a:pt x="195" y="266"/>
                    <a:pt x="198" y="267"/>
                    <a:pt x="201" y="269"/>
                  </a:cubicBezTo>
                  <a:cubicBezTo>
                    <a:pt x="208" y="277"/>
                    <a:pt x="216" y="281"/>
                    <a:pt x="222" y="280"/>
                  </a:cubicBezTo>
                  <a:cubicBezTo>
                    <a:pt x="231" y="280"/>
                    <a:pt x="237" y="271"/>
                    <a:pt x="238" y="271"/>
                  </a:cubicBezTo>
                  <a:cubicBezTo>
                    <a:pt x="239" y="268"/>
                    <a:pt x="242" y="267"/>
                    <a:pt x="245" y="266"/>
                  </a:cubicBezTo>
                  <a:cubicBezTo>
                    <a:pt x="248" y="266"/>
                    <a:pt x="252" y="267"/>
                    <a:pt x="254" y="269"/>
                  </a:cubicBezTo>
                  <a:cubicBezTo>
                    <a:pt x="260" y="275"/>
                    <a:pt x="265" y="279"/>
                    <a:pt x="270" y="280"/>
                  </a:cubicBezTo>
                  <a:cubicBezTo>
                    <a:pt x="276" y="281"/>
                    <a:pt x="279" y="287"/>
                    <a:pt x="278" y="293"/>
                  </a:cubicBezTo>
                  <a:close/>
                  <a:moveTo>
                    <a:pt x="12" y="162"/>
                  </a:moveTo>
                  <a:cubicBezTo>
                    <a:pt x="11" y="157"/>
                    <a:pt x="14" y="151"/>
                    <a:pt x="20" y="149"/>
                  </a:cubicBezTo>
                  <a:cubicBezTo>
                    <a:pt x="45" y="142"/>
                    <a:pt x="45" y="142"/>
                    <a:pt x="45" y="142"/>
                  </a:cubicBezTo>
                  <a:cubicBezTo>
                    <a:pt x="65" y="51"/>
                    <a:pt x="65" y="51"/>
                    <a:pt x="65" y="51"/>
                  </a:cubicBezTo>
                  <a:cubicBezTo>
                    <a:pt x="66" y="46"/>
                    <a:pt x="71" y="42"/>
                    <a:pt x="76" y="42"/>
                  </a:cubicBezTo>
                  <a:cubicBezTo>
                    <a:pt x="97" y="42"/>
                    <a:pt x="97" y="42"/>
                    <a:pt x="97" y="42"/>
                  </a:cubicBezTo>
                  <a:cubicBezTo>
                    <a:pt x="97" y="10"/>
                    <a:pt x="97" y="10"/>
                    <a:pt x="97" y="10"/>
                  </a:cubicBezTo>
                  <a:cubicBezTo>
                    <a:pt x="97" y="4"/>
                    <a:pt x="102" y="0"/>
                    <a:pt x="108" y="0"/>
                  </a:cubicBezTo>
                  <a:cubicBezTo>
                    <a:pt x="172" y="0"/>
                    <a:pt x="172" y="0"/>
                    <a:pt x="172" y="0"/>
                  </a:cubicBezTo>
                  <a:cubicBezTo>
                    <a:pt x="178" y="0"/>
                    <a:pt x="182" y="4"/>
                    <a:pt x="182" y="10"/>
                  </a:cubicBezTo>
                  <a:cubicBezTo>
                    <a:pt x="182" y="42"/>
                    <a:pt x="182" y="42"/>
                    <a:pt x="182" y="42"/>
                  </a:cubicBezTo>
                  <a:cubicBezTo>
                    <a:pt x="204" y="42"/>
                    <a:pt x="204" y="42"/>
                    <a:pt x="204" y="42"/>
                  </a:cubicBezTo>
                  <a:cubicBezTo>
                    <a:pt x="209" y="42"/>
                    <a:pt x="213" y="46"/>
                    <a:pt x="214" y="51"/>
                  </a:cubicBezTo>
                  <a:cubicBezTo>
                    <a:pt x="234" y="142"/>
                    <a:pt x="234" y="142"/>
                    <a:pt x="234" y="142"/>
                  </a:cubicBezTo>
                  <a:cubicBezTo>
                    <a:pt x="260" y="149"/>
                    <a:pt x="260" y="149"/>
                    <a:pt x="260" y="149"/>
                  </a:cubicBezTo>
                  <a:cubicBezTo>
                    <a:pt x="265" y="151"/>
                    <a:pt x="269" y="157"/>
                    <a:pt x="267" y="162"/>
                  </a:cubicBezTo>
                  <a:cubicBezTo>
                    <a:pt x="246" y="248"/>
                    <a:pt x="246" y="248"/>
                    <a:pt x="246" y="248"/>
                  </a:cubicBezTo>
                  <a:cubicBezTo>
                    <a:pt x="245" y="252"/>
                    <a:pt x="240" y="256"/>
                    <a:pt x="236" y="256"/>
                  </a:cubicBezTo>
                  <a:cubicBezTo>
                    <a:pt x="235" y="256"/>
                    <a:pt x="234" y="256"/>
                    <a:pt x="233" y="255"/>
                  </a:cubicBezTo>
                  <a:cubicBezTo>
                    <a:pt x="227" y="254"/>
                    <a:pt x="224" y="248"/>
                    <a:pt x="225" y="242"/>
                  </a:cubicBezTo>
                  <a:cubicBezTo>
                    <a:pt x="244" y="167"/>
                    <a:pt x="244" y="167"/>
                    <a:pt x="244" y="167"/>
                  </a:cubicBezTo>
                  <a:cubicBezTo>
                    <a:pt x="150" y="142"/>
                    <a:pt x="150" y="142"/>
                    <a:pt x="150" y="142"/>
                  </a:cubicBezTo>
                  <a:cubicBezTo>
                    <a:pt x="150" y="234"/>
                    <a:pt x="150" y="234"/>
                    <a:pt x="150" y="234"/>
                  </a:cubicBezTo>
                  <a:cubicBezTo>
                    <a:pt x="150" y="240"/>
                    <a:pt x="146" y="245"/>
                    <a:pt x="140" y="245"/>
                  </a:cubicBezTo>
                  <a:cubicBezTo>
                    <a:pt x="134" y="245"/>
                    <a:pt x="129" y="240"/>
                    <a:pt x="129" y="234"/>
                  </a:cubicBezTo>
                  <a:cubicBezTo>
                    <a:pt x="129" y="142"/>
                    <a:pt x="129" y="142"/>
                    <a:pt x="129" y="142"/>
                  </a:cubicBezTo>
                  <a:cubicBezTo>
                    <a:pt x="35" y="167"/>
                    <a:pt x="35" y="167"/>
                    <a:pt x="35" y="167"/>
                  </a:cubicBezTo>
                  <a:cubicBezTo>
                    <a:pt x="54" y="242"/>
                    <a:pt x="54" y="242"/>
                    <a:pt x="54" y="242"/>
                  </a:cubicBezTo>
                  <a:cubicBezTo>
                    <a:pt x="55" y="248"/>
                    <a:pt x="52" y="254"/>
                    <a:pt x="46" y="255"/>
                  </a:cubicBezTo>
                  <a:cubicBezTo>
                    <a:pt x="41" y="257"/>
                    <a:pt x="35" y="253"/>
                    <a:pt x="33" y="248"/>
                  </a:cubicBezTo>
                  <a:lnTo>
                    <a:pt x="12" y="162"/>
                  </a:lnTo>
                  <a:close/>
                  <a:moveTo>
                    <a:pt x="118" y="42"/>
                  </a:moveTo>
                  <a:cubicBezTo>
                    <a:pt x="161" y="42"/>
                    <a:pt x="161" y="42"/>
                    <a:pt x="161" y="42"/>
                  </a:cubicBezTo>
                  <a:cubicBezTo>
                    <a:pt x="161" y="21"/>
                    <a:pt x="161" y="21"/>
                    <a:pt x="161" y="21"/>
                  </a:cubicBezTo>
                  <a:cubicBezTo>
                    <a:pt x="118" y="21"/>
                    <a:pt x="118" y="21"/>
                    <a:pt x="118" y="21"/>
                  </a:cubicBezTo>
                  <a:lnTo>
                    <a:pt x="118" y="42"/>
                  </a:lnTo>
                  <a:close/>
                  <a:moveTo>
                    <a:pt x="69" y="136"/>
                  </a:moveTo>
                  <a:cubicBezTo>
                    <a:pt x="137" y="117"/>
                    <a:pt x="137" y="117"/>
                    <a:pt x="137" y="117"/>
                  </a:cubicBezTo>
                  <a:cubicBezTo>
                    <a:pt x="139" y="117"/>
                    <a:pt x="141" y="117"/>
                    <a:pt x="142" y="117"/>
                  </a:cubicBezTo>
                  <a:cubicBezTo>
                    <a:pt x="211" y="136"/>
                    <a:pt x="211" y="136"/>
                    <a:pt x="211" y="136"/>
                  </a:cubicBezTo>
                  <a:cubicBezTo>
                    <a:pt x="195" y="64"/>
                    <a:pt x="195" y="64"/>
                    <a:pt x="195" y="64"/>
                  </a:cubicBezTo>
                  <a:cubicBezTo>
                    <a:pt x="84" y="64"/>
                    <a:pt x="84" y="64"/>
                    <a:pt x="84" y="64"/>
                  </a:cubicBezTo>
                  <a:lnTo>
                    <a:pt x="69" y="136"/>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67" name="Rounded Rectangle 66"/>
            <p:cNvSpPr/>
            <p:nvPr/>
          </p:nvSpPr>
          <p:spPr bwMode="gray">
            <a:xfrm>
              <a:off x="3444283" y="2378064"/>
              <a:ext cx="1477349" cy="339117"/>
            </a:xfrm>
            <a:prstGeom prst="roundRect">
              <a:avLst/>
            </a:prstGeom>
            <a:noFill/>
            <a:ln w="19050" algn="ctr">
              <a:solidFill>
                <a:schemeClr val="accent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grpSp>
      <p:sp>
        <p:nvSpPr>
          <p:cNvPr id="68" name="Freeform 297"/>
          <p:cNvSpPr>
            <a:spLocks noEditPoints="1"/>
          </p:cNvSpPr>
          <p:nvPr/>
        </p:nvSpPr>
        <p:spPr bwMode="auto">
          <a:xfrm>
            <a:off x="6520030" y="4233325"/>
            <a:ext cx="348372" cy="281260"/>
          </a:xfrm>
          <a:custGeom>
            <a:avLst/>
            <a:gdLst>
              <a:gd name="T0" fmla="*/ 54 w 280"/>
              <a:gd name="T1" fmla="*/ 117 h 320"/>
              <a:gd name="T2" fmla="*/ 139 w 280"/>
              <a:gd name="T3" fmla="*/ 117 h 320"/>
              <a:gd name="T4" fmla="*/ 150 w 280"/>
              <a:gd name="T5" fmla="*/ 106 h 320"/>
              <a:gd name="T6" fmla="*/ 150 w 280"/>
              <a:gd name="T7" fmla="*/ 53 h 320"/>
              <a:gd name="T8" fmla="*/ 139 w 280"/>
              <a:gd name="T9" fmla="*/ 42 h 320"/>
              <a:gd name="T10" fmla="*/ 54 w 280"/>
              <a:gd name="T11" fmla="*/ 42 h 320"/>
              <a:gd name="T12" fmla="*/ 43 w 280"/>
              <a:gd name="T13" fmla="*/ 53 h 320"/>
              <a:gd name="T14" fmla="*/ 43 w 280"/>
              <a:gd name="T15" fmla="*/ 106 h 320"/>
              <a:gd name="T16" fmla="*/ 54 w 280"/>
              <a:gd name="T17" fmla="*/ 117 h 320"/>
              <a:gd name="T18" fmla="*/ 64 w 280"/>
              <a:gd name="T19" fmla="*/ 64 h 320"/>
              <a:gd name="T20" fmla="*/ 128 w 280"/>
              <a:gd name="T21" fmla="*/ 64 h 320"/>
              <a:gd name="T22" fmla="*/ 128 w 280"/>
              <a:gd name="T23" fmla="*/ 96 h 320"/>
              <a:gd name="T24" fmla="*/ 64 w 280"/>
              <a:gd name="T25" fmla="*/ 96 h 320"/>
              <a:gd name="T26" fmla="*/ 64 w 280"/>
              <a:gd name="T27" fmla="*/ 64 h 320"/>
              <a:gd name="T28" fmla="*/ 256 w 280"/>
              <a:gd name="T29" fmla="*/ 135 h 320"/>
              <a:gd name="T30" fmla="*/ 267 w 280"/>
              <a:gd name="T31" fmla="*/ 117 h 320"/>
              <a:gd name="T32" fmla="*/ 267 w 280"/>
              <a:gd name="T33" fmla="*/ 117 h 320"/>
              <a:gd name="T34" fmla="*/ 267 w 280"/>
              <a:gd name="T35" fmla="*/ 116 h 320"/>
              <a:gd name="T36" fmla="*/ 261 w 280"/>
              <a:gd name="T37" fmla="*/ 102 h 320"/>
              <a:gd name="T38" fmla="*/ 234 w 280"/>
              <a:gd name="T39" fmla="*/ 48 h 320"/>
              <a:gd name="T40" fmla="*/ 220 w 280"/>
              <a:gd name="T41" fmla="*/ 43 h 320"/>
              <a:gd name="T42" fmla="*/ 215 w 280"/>
              <a:gd name="T43" fmla="*/ 58 h 320"/>
              <a:gd name="T44" fmla="*/ 235 w 280"/>
              <a:gd name="T45" fmla="*/ 99 h 320"/>
              <a:gd name="T46" fmla="*/ 224 w 280"/>
              <a:gd name="T47" fmla="*/ 117 h 320"/>
              <a:gd name="T48" fmla="*/ 227 w 280"/>
              <a:gd name="T49" fmla="*/ 126 h 320"/>
              <a:gd name="T50" fmla="*/ 227 w 280"/>
              <a:gd name="T51" fmla="*/ 127 h 320"/>
              <a:gd name="T52" fmla="*/ 228 w 280"/>
              <a:gd name="T53" fmla="*/ 128 h 320"/>
              <a:gd name="T54" fmla="*/ 228 w 280"/>
              <a:gd name="T55" fmla="*/ 129 h 320"/>
              <a:gd name="T56" fmla="*/ 237 w 280"/>
              <a:gd name="T57" fmla="*/ 144 h 320"/>
              <a:gd name="T58" fmla="*/ 246 w 280"/>
              <a:gd name="T59" fmla="*/ 209 h 320"/>
              <a:gd name="T60" fmla="*/ 192 w 280"/>
              <a:gd name="T61" fmla="*/ 252 h 320"/>
              <a:gd name="T62" fmla="*/ 192 w 280"/>
              <a:gd name="T63" fmla="*/ 10 h 320"/>
              <a:gd name="T64" fmla="*/ 182 w 280"/>
              <a:gd name="T65" fmla="*/ 0 h 320"/>
              <a:gd name="T66" fmla="*/ 11 w 280"/>
              <a:gd name="T67" fmla="*/ 0 h 320"/>
              <a:gd name="T68" fmla="*/ 0 w 280"/>
              <a:gd name="T69" fmla="*/ 10 h 320"/>
              <a:gd name="T70" fmla="*/ 0 w 280"/>
              <a:gd name="T71" fmla="*/ 309 h 320"/>
              <a:gd name="T72" fmla="*/ 11 w 280"/>
              <a:gd name="T73" fmla="*/ 320 h 320"/>
              <a:gd name="T74" fmla="*/ 182 w 280"/>
              <a:gd name="T75" fmla="*/ 320 h 320"/>
              <a:gd name="T76" fmla="*/ 192 w 280"/>
              <a:gd name="T77" fmla="*/ 309 h 320"/>
              <a:gd name="T78" fmla="*/ 192 w 280"/>
              <a:gd name="T79" fmla="*/ 274 h 320"/>
              <a:gd name="T80" fmla="*/ 266 w 280"/>
              <a:gd name="T81" fmla="*/ 216 h 320"/>
              <a:gd name="T82" fmla="*/ 256 w 280"/>
              <a:gd name="T83" fmla="*/ 135 h 320"/>
              <a:gd name="T84" fmla="*/ 171 w 280"/>
              <a:gd name="T85" fmla="*/ 298 h 320"/>
              <a:gd name="T86" fmla="*/ 22 w 280"/>
              <a:gd name="T87" fmla="*/ 298 h 320"/>
              <a:gd name="T88" fmla="*/ 22 w 280"/>
              <a:gd name="T89" fmla="*/ 21 h 320"/>
              <a:gd name="T90" fmla="*/ 171 w 280"/>
              <a:gd name="T91" fmla="*/ 21 h 320"/>
              <a:gd name="T92" fmla="*/ 171 w 280"/>
              <a:gd name="T93"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0" h="320">
                <a:moveTo>
                  <a:pt x="54" y="117"/>
                </a:moveTo>
                <a:cubicBezTo>
                  <a:pt x="139" y="117"/>
                  <a:pt x="139" y="117"/>
                  <a:pt x="139" y="117"/>
                </a:cubicBezTo>
                <a:cubicBezTo>
                  <a:pt x="145" y="117"/>
                  <a:pt x="150" y="112"/>
                  <a:pt x="150" y="106"/>
                </a:cubicBezTo>
                <a:cubicBezTo>
                  <a:pt x="150" y="53"/>
                  <a:pt x="150" y="53"/>
                  <a:pt x="150" y="53"/>
                </a:cubicBezTo>
                <a:cubicBezTo>
                  <a:pt x="150" y="47"/>
                  <a:pt x="145" y="42"/>
                  <a:pt x="139" y="42"/>
                </a:cubicBezTo>
                <a:cubicBezTo>
                  <a:pt x="54" y="42"/>
                  <a:pt x="54" y="42"/>
                  <a:pt x="54" y="42"/>
                </a:cubicBezTo>
                <a:cubicBezTo>
                  <a:pt x="48" y="42"/>
                  <a:pt x="43" y="47"/>
                  <a:pt x="43" y="53"/>
                </a:cubicBezTo>
                <a:cubicBezTo>
                  <a:pt x="43" y="106"/>
                  <a:pt x="43" y="106"/>
                  <a:pt x="43" y="106"/>
                </a:cubicBezTo>
                <a:cubicBezTo>
                  <a:pt x="43" y="112"/>
                  <a:pt x="48" y="117"/>
                  <a:pt x="54" y="117"/>
                </a:cubicBezTo>
                <a:close/>
                <a:moveTo>
                  <a:pt x="64" y="64"/>
                </a:moveTo>
                <a:cubicBezTo>
                  <a:pt x="128" y="64"/>
                  <a:pt x="128" y="64"/>
                  <a:pt x="128" y="64"/>
                </a:cubicBezTo>
                <a:cubicBezTo>
                  <a:pt x="128" y="96"/>
                  <a:pt x="128" y="96"/>
                  <a:pt x="128" y="96"/>
                </a:cubicBezTo>
                <a:cubicBezTo>
                  <a:pt x="64" y="96"/>
                  <a:pt x="64" y="96"/>
                  <a:pt x="64" y="96"/>
                </a:cubicBezTo>
                <a:lnTo>
                  <a:pt x="64" y="64"/>
                </a:lnTo>
                <a:close/>
                <a:moveTo>
                  <a:pt x="256" y="135"/>
                </a:moveTo>
                <a:cubicBezTo>
                  <a:pt x="263" y="132"/>
                  <a:pt x="267" y="125"/>
                  <a:pt x="267" y="117"/>
                </a:cubicBezTo>
                <a:cubicBezTo>
                  <a:pt x="267" y="117"/>
                  <a:pt x="267" y="117"/>
                  <a:pt x="267" y="117"/>
                </a:cubicBezTo>
                <a:cubicBezTo>
                  <a:pt x="267" y="116"/>
                  <a:pt x="267" y="116"/>
                  <a:pt x="267" y="116"/>
                </a:cubicBezTo>
                <a:cubicBezTo>
                  <a:pt x="267" y="111"/>
                  <a:pt x="264" y="106"/>
                  <a:pt x="261" y="102"/>
                </a:cubicBezTo>
                <a:cubicBezTo>
                  <a:pt x="234" y="48"/>
                  <a:pt x="234" y="48"/>
                  <a:pt x="234" y="48"/>
                </a:cubicBezTo>
                <a:cubicBezTo>
                  <a:pt x="231" y="43"/>
                  <a:pt x="225" y="41"/>
                  <a:pt x="220" y="43"/>
                </a:cubicBezTo>
                <a:cubicBezTo>
                  <a:pt x="214" y="46"/>
                  <a:pt x="212" y="52"/>
                  <a:pt x="215" y="58"/>
                </a:cubicBezTo>
                <a:cubicBezTo>
                  <a:pt x="235" y="99"/>
                  <a:pt x="235" y="99"/>
                  <a:pt x="235" y="99"/>
                </a:cubicBezTo>
                <a:cubicBezTo>
                  <a:pt x="229" y="102"/>
                  <a:pt x="224" y="109"/>
                  <a:pt x="224" y="117"/>
                </a:cubicBezTo>
                <a:cubicBezTo>
                  <a:pt x="224" y="120"/>
                  <a:pt x="225" y="123"/>
                  <a:pt x="227" y="126"/>
                </a:cubicBezTo>
                <a:cubicBezTo>
                  <a:pt x="227" y="126"/>
                  <a:pt x="227" y="126"/>
                  <a:pt x="227" y="127"/>
                </a:cubicBezTo>
                <a:cubicBezTo>
                  <a:pt x="228" y="128"/>
                  <a:pt x="228" y="128"/>
                  <a:pt x="228" y="128"/>
                </a:cubicBezTo>
                <a:cubicBezTo>
                  <a:pt x="228" y="129"/>
                  <a:pt x="228" y="129"/>
                  <a:pt x="228" y="129"/>
                </a:cubicBezTo>
                <a:cubicBezTo>
                  <a:pt x="237" y="144"/>
                  <a:pt x="237" y="144"/>
                  <a:pt x="237" y="144"/>
                </a:cubicBezTo>
                <a:cubicBezTo>
                  <a:pt x="237" y="144"/>
                  <a:pt x="258" y="178"/>
                  <a:pt x="246" y="209"/>
                </a:cubicBezTo>
                <a:cubicBezTo>
                  <a:pt x="239" y="228"/>
                  <a:pt x="221" y="242"/>
                  <a:pt x="192" y="252"/>
                </a:cubicBezTo>
                <a:cubicBezTo>
                  <a:pt x="192" y="10"/>
                  <a:pt x="192" y="10"/>
                  <a:pt x="192" y="10"/>
                </a:cubicBezTo>
                <a:cubicBezTo>
                  <a:pt x="192" y="4"/>
                  <a:pt x="188" y="0"/>
                  <a:pt x="182" y="0"/>
                </a:cubicBezTo>
                <a:cubicBezTo>
                  <a:pt x="11" y="0"/>
                  <a:pt x="11" y="0"/>
                  <a:pt x="11" y="0"/>
                </a:cubicBezTo>
                <a:cubicBezTo>
                  <a:pt x="5" y="0"/>
                  <a:pt x="0" y="4"/>
                  <a:pt x="0" y="10"/>
                </a:cubicBezTo>
                <a:cubicBezTo>
                  <a:pt x="0" y="309"/>
                  <a:pt x="0" y="309"/>
                  <a:pt x="0" y="309"/>
                </a:cubicBezTo>
                <a:cubicBezTo>
                  <a:pt x="0" y="315"/>
                  <a:pt x="5" y="320"/>
                  <a:pt x="11" y="320"/>
                </a:cubicBezTo>
                <a:cubicBezTo>
                  <a:pt x="182" y="320"/>
                  <a:pt x="182" y="320"/>
                  <a:pt x="182" y="320"/>
                </a:cubicBezTo>
                <a:cubicBezTo>
                  <a:pt x="188" y="320"/>
                  <a:pt x="192" y="315"/>
                  <a:pt x="192" y="309"/>
                </a:cubicBezTo>
                <a:cubicBezTo>
                  <a:pt x="192" y="274"/>
                  <a:pt x="192" y="274"/>
                  <a:pt x="192" y="274"/>
                </a:cubicBezTo>
                <a:cubicBezTo>
                  <a:pt x="231" y="262"/>
                  <a:pt x="256" y="243"/>
                  <a:pt x="266" y="216"/>
                </a:cubicBezTo>
                <a:cubicBezTo>
                  <a:pt x="280" y="181"/>
                  <a:pt x="262" y="145"/>
                  <a:pt x="256" y="135"/>
                </a:cubicBezTo>
                <a:close/>
                <a:moveTo>
                  <a:pt x="171" y="298"/>
                </a:moveTo>
                <a:cubicBezTo>
                  <a:pt x="22" y="298"/>
                  <a:pt x="22" y="298"/>
                  <a:pt x="22" y="298"/>
                </a:cubicBezTo>
                <a:cubicBezTo>
                  <a:pt x="22" y="21"/>
                  <a:pt x="22" y="21"/>
                  <a:pt x="22" y="21"/>
                </a:cubicBezTo>
                <a:cubicBezTo>
                  <a:pt x="171" y="21"/>
                  <a:pt x="171" y="21"/>
                  <a:pt x="171" y="21"/>
                </a:cubicBezTo>
                <a:lnTo>
                  <a:pt x="171" y="298"/>
                </a:lnTo>
                <a:close/>
              </a:path>
            </a:pathLst>
          </a:custGeom>
          <a:solidFill>
            <a:srgbClr val="FFCD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69" name="Freeform 439"/>
          <p:cNvSpPr>
            <a:spLocks noEditPoints="1"/>
          </p:cNvSpPr>
          <p:nvPr/>
        </p:nvSpPr>
        <p:spPr bwMode="auto">
          <a:xfrm>
            <a:off x="6966705" y="4248925"/>
            <a:ext cx="517566" cy="275872"/>
          </a:xfrm>
          <a:custGeom>
            <a:avLst/>
            <a:gdLst>
              <a:gd name="T0" fmla="*/ 309 w 320"/>
              <a:gd name="T1" fmla="*/ 43 h 171"/>
              <a:gd name="T2" fmla="*/ 277 w 320"/>
              <a:gd name="T3" fmla="*/ 43 h 171"/>
              <a:gd name="T4" fmla="*/ 277 w 320"/>
              <a:gd name="T5" fmla="*/ 11 h 171"/>
              <a:gd name="T6" fmla="*/ 266 w 320"/>
              <a:gd name="T7" fmla="*/ 0 h 171"/>
              <a:gd name="T8" fmla="*/ 10 w 320"/>
              <a:gd name="T9" fmla="*/ 0 h 171"/>
              <a:gd name="T10" fmla="*/ 0 w 320"/>
              <a:gd name="T11" fmla="*/ 11 h 171"/>
              <a:gd name="T12" fmla="*/ 0 w 320"/>
              <a:gd name="T13" fmla="*/ 160 h 171"/>
              <a:gd name="T14" fmla="*/ 10 w 320"/>
              <a:gd name="T15" fmla="*/ 171 h 171"/>
              <a:gd name="T16" fmla="*/ 266 w 320"/>
              <a:gd name="T17" fmla="*/ 171 h 171"/>
              <a:gd name="T18" fmla="*/ 277 w 320"/>
              <a:gd name="T19" fmla="*/ 160 h 171"/>
              <a:gd name="T20" fmla="*/ 277 w 320"/>
              <a:gd name="T21" fmla="*/ 128 h 171"/>
              <a:gd name="T22" fmla="*/ 309 w 320"/>
              <a:gd name="T23" fmla="*/ 128 h 171"/>
              <a:gd name="T24" fmla="*/ 320 w 320"/>
              <a:gd name="T25" fmla="*/ 118 h 171"/>
              <a:gd name="T26" fmla="*/ 320 w 320"/>
              <a:gd name="T27" fmla="*/ 54 h 171"/>
              <a:gd name="T28" fmla="*/ 309 w 320"/>
              <a:gd name="T29" fmla="*/ 43 h 171"/>
              <a:gd name="T30" fmla="*/ 256 w 320"/>
              <a:gd name="T31" fmla="*/ 150 h 171"/>
              <a:gd name="T32" fmla="*/ 21 w 320"/>
              <a:gd name="T33" fmla="*/ 150 h 171"/>
              <a:gd name="T34" fmla="*/ 21 w 320"/>
              <a:gd name="T35" fmla="*/ 22 h 171"/>
              <a:gd name="T36" fmla="*/ 256 w 320"/>
              <a:gd name="T37" fmla="*/ 22 h 171"/>
              <a:gd name="T38" fmla="*/ 256 w 320"/>
              <a:gd name="T39" fmla="*/ 150 h 171"/>
              <a:gd name="T40" fmla="*/ 298 w 320"/>
              <a:gd name="T41" fmla="*/ 107 h 171"/>
              <a:gd name="T42" fmla="*/ 277 w 320"/>
              <a:gd name="T43" fmla="*/ 107 h 171"/>
              <a:gd name="T44" fmla="*/ 277 w 320"/>
              <a:gd name="T45" fmla="*/ 64 h 171"/>
              <a:gd name="T46" fmla="*/ 298 w 320"/>
              <a:gd name="T47" fmla="*/ 64 h 171"/>
              <a:gd name="T48" fmla="*/ 298 w 320"/>
              <a:gd name="T49" fmla="*/ 107 h 171"/>
              <a:gd name="T50" fmla="*/ 42 w 320"/>
              <a:gd name="T51" fmla="*/ 118 h 171"/>
              <a:gd name="T52" fmla="*/ 42 w 320"/>
              <a:gd name="T53" fmla="*/ 54 h 171"/>
              <a:gd name="T54" fmla="*/ 53 w 320"/>
              <a:gd name="T55" fmla="*/ 43 h 171"/>
              <a:gd name="T56" fmla="*/ 64 w 320"/>
              <a:gd name="T57" fmla="*/ 54 h 171"/>
              <a:gd name="T58" fmla="*/ 64 w 320"/>
              <a:gd name="T59" fmla="*/ 118 h 171"/>
              <a:gd name="T60" fmla="*/ 53 w 320"/>
              <a:gd name="T61" fmla="*/ 128 h 171"/>
              <a:gd name="T62" fmla="*/ 42 w 320"/>
              <a:gd name="T63" fmla="*/ 118 h 171"/>
              <a:gd name="T64" fmla="*/ 85 w 320"/>
              <a:gd name="T65" fmla="*/ 118 h 171"/>
              <a:gd name="T66" fmla="*/ 85 w 320"/>
              <a:gd name="T67" fmla="*/ 54 h 171"/>
              <a:gd name="T68" fmla="*/ 96 w 320"/>
              <a:gd name="T69" fmla="*/ 43 h 171"/>
              <a:gd name="T70" fmla="*/ 106 w 320"/>
              <a:gd name="T71" fmla="*/ 54 h 171"/>
              <a:gd name="T72" fmla="*/ 106 w 320"/>
              <a:gd name="T73" fmla="*/ 118 h 171"/>
              <a:gd name="T74" fmla="*/ 96 w 320"/>
              <a:gd name="T75" fmla="*/ 128 h 171"/>
              <a:gd name="T76" fmla="*/ 85 w 320"/>
              <a:gd name="T77" fmla="*/ 118 h 171"/>
              <a:gd name="T78" fmla="*/ 128 w 320"/>
              <a:gd name="T79" fmla="*/ 118 h 171"/>
              <a:gd name="T80" fmla="*/ 128 w 320"/>
              <a:gd name="T81" fmla="*/ 54 h 171"/>
              <a:gd name="T82" fmla="*/ 138 w 320"/>
              <a:gd name="T83" fmla="*/ 43 h 171"/>
              <a:gd name="T84" fmla="*/ 149 w 320"/>
              <a:gd name="T85" fmla="*/ 54 h 171"/>
              <a:gd name="T86" fmla="*/ 149 w 320"/>
              <a:gd name="T87" fmla="*/ 118 h 171"/>
              <a:gd name="T88" fmla="*/ 138 w 320"/>
              <a:gd name="T89" fmla="*/ 128 h 171"/>
              <a:gd name="T90" fmla="*/ 128 w 320"/>
              <a:gd name="T91" fmla="*/ 118 h 171"/>
              <a:gd name="T92" fmla="*/ 170 w 320"/>
              <a:gd name="T93" fmla="*/ 118 h 171"/>
              <a:gd name="T94" fmla="*/ 170 w 320"/>
              <a:gd name="T95" fmla="*/ 54 h 171"/>
              <a:gd name="T96" fmla="*/ 181 w 320"/>
              <a:gd name="T97" fmla="*/ 43 h 171"/>
              <a:gd name="T98" fmla="*/ 192 w 320"/>
              <a:gd name="T99" fmla="*/ 54 h 171"/>
              <a:gd name="T100" fmla="*/ 192 w 320"/>
              <a:gd name="T101" fmla="*/ 118 h 171"/>
              <a:gd name="T102" fmla="*/ 181 w 320"/>
              <a:gd name="T103" fmla="*/ 128 h 171"/>
              <a:gd name="T104" fmla="*/ 170 w 320"/>
              <a:gd name="T105" fmla="*/ 118 h 171"/>
              <a:gd name="T106" fmla="*/ 213 w 320"/>
              <a:gd name="T107" fmla="*/ 118 h 171"/>
              <a:gd name="T108" fmla="*/ 213 w 320"/>
              <a:gd name="T109" fmla="*/ 54 h 171"/>
              <a:gd name="T110" fmla="*/ 224 w 320"/>
              <a:gd name="T111" fmla="*/ 43 h 171"/>
              <a:gd name="T112" fmla="*/ 234 w 320"/>
              <a:gd name="T113" fmla="*/ 54 h 171"/>
              <a:gd name="T114" fmla="*/ 234 w 320"/>
              <a:gd name="T115" fmla="*/ 118 h 171"/>
              <a:gd name="T116" fmla="*/ 224 w 320"/>
              <a:gd name="T117" fmla="*/ 128 h 171"/>
              <a:gd name="T118" fmla="*/ 213 w 320"/>
              <a:gd name="T119" fmla="*/ 11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171">
                <a:moveTo>
                  <a:pt x="309" y="43"/>
                </a:moveTo>
                <a:cubicBezTo>
                  <a:pt x="277" y="43"/>
                  <a:pt x="277" y="43"/>
                  <a:pt x="277" y="43"/>
                </a:cubicBezTo>
                <a:cubicBezTo>
                  <a:pt x="277" y="11"/>
                  <a:pt x="277" y="11"/>
                  <a:pt x="277" y="11"/>
                </a:cubicBezTo>
                <a:cubicBezTo>
                  <a:pt x="277" y="5"/>
                  <a:pt x="272" y="0"/>
                  <a:pt x="266" y="0"/>
                </a:cubicBezTo>
                <a:cubicBezTo>
                  <a:pt x="10" y="0"/>
                  <a:pt x="10" y="0"/>
                  <a:pt x="10" y="0"/>
                </a:cubicBezTo>
                <a:cubicBezTo>
                  <a:pt x="4" y="0"/>
                  <a:pt x="0" y="5"/>
                  <a:pt x="0" y="11"/>
                </a:cubicBezTo>
                <a:cubicBezTo>
                  <a:pt x="0" y="160"/>
                  <a:pt x="0" y="160"/>
                  <a:pt x="0" y="160"/>
                </a:cubicBezTo>
                <a:cubicBezTo>
                  <a:pt x="0" y="166"/>
                  <a:pt x="4" y="171"/>
                  <a:pt x="10" y="171"/>
                </a:cubicBezTo>
                <a:cubicBezTo>
                  <a:pt x="266" y="171"/>
                  <a:pt x="266" y="171"/>
                  <a:pt x="266" y="171"/>
                </a:cubicBezTo>
                <a:cubicBezTo>
                  <a:pt x="272" y="171"/>
                  <a:pt x="277" y="166"/>
                  <a:pt x="277" y="160"/>
                </a:cubicBezTo>
                <a:cubicBezTo>
                  <a:pt x="277" y="128"/>
                  <a:pt x="277" y="128"/>
                  <a:pt x="277"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256" y="150"/>
                </a:moveTo>
                <a:cubicBezTo>
                  <a:pt x="21" y="150"/>
                  <a:pt x="21" y="150"/>
                  <a:pt x="21" y="150"/>
                </a:cubicBezTo>
                <a:cubicBezTo>
                  <a:pt x="21" y="22"/>
                  <a:pt x="21" y="22"/>
                  <a:pt x="21" y="22"/>
                </a:cubicBezTo>
                <a:cubicBezTo>
                  <a:pt x="256" y="22"/>
                  <a:pt x="256" y="22"/>
                  <a:pt x="256" y="22"/>
                </a:cubicBezTo>
                <a:lnTo>
                  <a:pt x="256" y="150"/>
                </a:lnTo>
                <a:close/>
                <a:moveTo>
                  <a:pt x="298" y="107"/>
                </a:moveTo>
                <a:cubicBezTo>
                  <a:pt x="277" y="107"/>
                  <a:pt x="277" y="107"/>
                  <a:pt x="277" y="107"/>
                </a:cubicBezTo>
                <a:cubicBezTo>
                  <a:pt x="277" y="64"/>
                  <a:pt x="277" y="64"/>
                  <a:pt x="277" y="64"/>
                </a:cubicBezTo>
                <a:cubicBezTo>
                  <a:pt x="298" y="64"/>
                  <a:pt x="298" y="64"/>
                  <a:pt x="298" y="64"/>
                </a:cubicBezTo>
                <a:lnTo>
                  <a:pt x="298" y="107"/>
                </a:lnTo>
                <a:close/>
                <a:moveTo>
                  <a:pt x="42" y="118"/>
                </a:moveTo>
                <a:cubicBezTo>
                  <a:pt x="42" y="54"/>
                  <a:pt x="42" y="54"/>
                  <a:pt x="42" y="54"/>
                </a:cubicBezTo>
                <a:cubicBezTo>
                  <a:pt x="42" y="48"/>
                  <a:pt x="47" y="43"/>
                  <a:pt x="53" y="43"/>
                </a:cubicBezTo>
                <a:cubicBezTo>
                  <a:pt x="59" y="43"/>
                  <a:pt x="64" y="48"/>
                  <a:pt x="64" y="54"/>
                </a:cubicBezTo>
                <a:cubicBezTo>
                  <a:pt x="64" y="118"/>
                  <a:pt x="64" y="118"/>
                  <a:pt x="64" y="118"/>
                </a:cubicBezTo>
                <a:cubicBezTo>
                  <a:pt x="64" y="124"/>
                  <a:pt x="59" y="128"/>
                  <a:pt x="53" y="128"/>
                </a:cubicBezTo>
                <a:cubicBezTo>
                  <a:pt x="47" y="128"/>
                  <a:pt x="42" y="124"/>
                  <a:pt x="42" y="118"/>
                </a:cubicBezTo>
                <a:close/>
                <a:moveTo>
                  <a:pt x="85" y="118"/>
                </a:moveTo>
                <a:cubicBezTo>
                  <a:pt x="85" y="54"/>
                  <a:pt x="85" y="54"/>
                  <a:pt x="85" y="54"/>
                </a:cubicBezTo>
                <a:cubicBezTo>
                  <a:pt x="85" y="48"/>
                  <a:pt x="90" y="43"/>
                  <a:pt x="96" y="43"/>
                </a:cubicBezTo>
                <a:cubicBezTo>
                  <a:pt x="102" y="43"/>
                  <a:pt x="106" y="48"/>
                  <a:pt x="106" y="54"/>
                </a:cubicBezTo>
                <a:cubicBezTo>
                  <a:pt x="106" y="118"/>
                  <a:pt x="106" y="118"/>
                  <a:pt x="106" y="118"/>
                </a:cubicBezTo>
                <a:cubicBezTo>
                  <a:pt x="106" y="124"/>
                  <a:pt x="102" y="128"/>
                  <a:pt x="96" y="128"/>
                </a:cubicBezTo>
                <a:cubicBezTo>
                  <a:pt x="90" y="128"/>
                  <a:pt x="85" y="124"/>
                  <a:pt x="85" y="118"/>
                </a:cubicBezTo>
                <a:close/>
                <a:moveTo>
                  <a:pt x="128" y="118"/>
                </a:moveTo>
                <a:cubicBezTo>
                  <a:pt x="128" y="54"/>
                  <a:pt x="128" y="54"/>
                  <a:pt x="128" y="54"/>
                </a:cubicBezTo>
                <a:cubicBezTo>
                  <a:pt x="128" y="48"/>
                  <a:pt x="132" y="43"/>
                  <a:pt x="138" y="43"/>
                </a:cubicBezTo>
                <a:cubicBezTo>
                  <a:pt x="144" y="43"/>
                  <a:pt x="149" y="48"/>
                  <a:pt x="149" y="54"/>
                </a:cubicBezTo>
                <a:cubicBezTo>
                  <a:pt x="149" y="118"/>
                  <a:pt x="149" y="118"/>
                  <a:pt x="149" y="118"/>
                </a:cubicBezTo>
                <a:cubicBezTo>
                  <a:pt x="149" y="124"/>
                  <a:pt x="144" y="128"/>
                  <a:pt x="138" y="128"/>
                </a:cubicBezTo>
                <a:cubicBezTo>
                  <a:pt x="132" y="128"/>
                  <a:pt x="128" y="124"/>
                  <a:pt x="128" y="118"/>
                </a:cubicBezTo>
                <a:close/>
                <a:moveTo>
                  <a:pt x="170" y="118"/>
                </a:moveTo>
                <a:cubicBezTo>
                  <a:pt x="170" y="54"/>
                  <a:pt x="170" y="54"/>
                  <a:pt x="170" y="54"/>
                </a:cubicBezTo>
                <a:cubicBezTo>
                  <a:pt x="170" y="48"/>
                  <a:pt x="175" y="43"/>
                  <a:pt x="181" y="43"/>
                </a:cubicBezTo>
                <a:cubicBezTo>
                  <a:pt x="187" y="43"/>
                  <a:pt x="192" y="48"/>
                  <a:pt x="192" y="54"/>
                </a:cubicBezTo>
                <a:cubicBezTo>
                  <a:pt x="192" y="118"/>
                  <a:pt x="192" y="118"/>
                  <a:pt x="192" y="118"/>
                </a:cubicBezTo>
                <a:cubicBezTo>
                  <a:pt x="192" y="124"/>
                  <a:pt x="187" y="128"/>
                  <a:pt x="181" y="128"/>
                </a:cubicBezTo>
                <a:cubicBezTo>
                  <a:pt x="175" y="128"/>
                  <a:pt x="170" y="124"/>
                  <a:pt x="170" y="118"/>
                </a:cubicBezTo>
                <a:close/>
                <a:moveTo>
                  <a:pt x="213" y="118"/>
                </a:moveTo>
                <a:cubicBezTo>
                  <a:pt x="213" y="54"/>
                  <a:pt x="213" y="54"/>
                  <a:pt x="213" y="54"/>
                </a:cubicBezTo>
                <a:cubicBezTo>
                  <a:pt x="213" y="48"/>
                  <a:pt x="218" y="43"/>
                  <a:pt x="224" y="43"/>
                </a:cubicBezTo>
                <a:cubicBezTo>
                  <a:pt x="230" y="43"/>
                  <a:pt x="234" y="48"/>
                  <a:pt x="234" y="54"/>
                </a:cubicBezTo>
                <a:cubicBezTo>
                  <a:pt x="234" y="118"/>
                  <a:pt x="234" y="118"/>
                  <a:pt x="234" y="118"/>
                </a:cubicBezTo>
                <a:cubicBezTo>
                  <a:pt x="234" y="124"/>
                  <a:pt x="230" y="128"/>
                  <a:pt x="224" y="128"/>
                </a:cubicBezTo>
                <a:cubicBezTo>
                  <a:pt x="218" y="128"/>
                  <a:pt x="213" y="124"/>
                  <a:pt x="213" y="118"/>
                </a:cubicBezTo>
                <a:close/>
              </a:path>
            </a:pathLst>
          </a:custGeom>
          <a:solidFill>
            <a:srgbClr val="FFCD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70" name="Rounded Rectangle 69"/>
          <p:cNvSpPr/>
          <p:nvPr/>
        </p:nvSpPr>
        <p:spPr bwMode="gray">
          <a:xfrm>
            <a:off x="5875602" y="4187725"/>
            <a:ext cx="1741331" cy="373971"/>
          </a:xfrm>
          <a:prstGeom prst="roundRect">
            <a:avLst/>
          </a:prstGeom>
          <a:noFill/>
          <a:ln w="19050" algn="ctr">
            <a:solidFill>
              <a:srgbClr val="FFCD00"/>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grpSp>
        <p:nvGrpSpPr>
          <p:cNvPr id="75" name="Group 74"/>
          <p:cNvGrpSpPr/>
          <p:nvPr/>
        </p:nvGrpSpPr>
        <p:grpSpPr>
          <a:xfrm>
            <a:off x="7872743" y="2261261"/>
            <a:ext cx="1741957" cy="373971"/>
            <a:chOff x="7124089" y="2378064"/>
            <a:chExt cx="1579608" cy="339117"/>
          </a:xfrm>
        </p:grpSpPr>
        <p:sp>
          <p:nvSpPr>
            <p:cNvPr id="71" name="TextBox 70"/>
            <p:cNvSpPr txBox="1"/>
            <p:nvPr/>
          </p:nvSpPr>
          <p:spPr>
            <a:xfrm>
              <a:off x="7290502" y="2470653"/>
              <a:ext cx="570129" cy="184608"/>
            </a:xfrm>
            <a:prstGeom prst="rect">
              <a:avLst/>
            </a:prstGeom>
            <a:noFill/>
          </p:spPr>
          <p:txBody>
            <a:bodyPr wrap="square" lIns="0" tIns="0" rIns="0" bIns="0" rtlCol="0">
              <a:spAutoFit/>
            </a:bodyPr>
            <a:lstStyle/>
            <a:p>
              <a:pPr>
                <a:spcBef>
                  <a:spcPts val="662"/>
                </a:spcBef>
                <a:buSzPct val="100000"/>
              </a:pPr>
              <a:r>
                <a:rPr lang="en-US" sz="1323" b="1" dirty="0"/>
                <a:t>NO</a:t>
              </a:r>
              <a:r>
                <a:rPr lang="en-US" sz="1323" b="1" baseline="-25000" dirty="0"/>
                <a:t>x</a:t>
              </a:r>
              <a:endParaRPr lang="en-IN" sz="1323" b="1" baseline="-25000" dirty="0"/>
            </a:p>
          </p:txBody>
        </p:sp>
        <p:sp>
          <p:nvSpPr>
            <p:cNvPr id="72" name="TextBox 71"/>
            <p:cNvSpPr txBox="1"/>
            <p:nvPr/>
          </p:nvSpPr>
          <p:spPr>
            <a:xfrm>
              <a:off x="7744067" y="2463647"/>
              <a:ext cx="570129" cy="184608"/>
            </a:xfrm>
            <a:prstGeom prst="rect">
              <a:avLst/>
            </a:prstGeom>
            <a:noFill/>
          </p:spPr>
          <p:txBody>
            <a:bodyPr wrap="square" lIns="0" tIns="0" rIns="0" bIns="0" rtlCol="0">
              <a:spAutoFit/>
            </a:bodyPr>
            <a:lstStyle/>
            <a:p>
              <a:pPr>
                <a:spcBef>
                  <a:spcPts val="662"/>
                </a:spcBef>
                <a:buSzPct val="100000"/>
              </a:pPr>
              <a:r>
                <a:rPr lang="en-US" sz="1323" b="1" dirty="0"/>
                <a:t>CO</a:t>
              </a:r>
              <a:r>
                <a:rPr lang="en-US" sz="1323" b="1" baseline="-25000" dirty="0"/>
                <a:t>2</a:t>
              </a:r>
              <a:endParaRPr lang="en-IN" sz="1323" b="1" baseline="-25000" dirty="0"/>
            </a:p>
          </p:txBody>
        </p:sp>
        <p:sp>
          <p:nvSpPr>
            <p:cNvPr id="73" name="TextBox 72"/>
            <p:cNvSpPr txBox="1"/>
            <p:nvPr/>
          </p:nvSpPr>
          <p:spPr>
            <a:xfrm>
              <a:off x="8133568" y="2472657"/>
              <a:ext cx="570129" cy="184608"/>
            </a:xfrm>
            <a:prstGeom prst="rect">
              <a:avLst/>
            </a:prstGeom>
            <a:noFill/>
          </p:spPr>
          <p:txBody>
            <a:bodyPr wrap="square" lIns="0" tIns="0" rIns="0" bIns="0" rtlCol="0">
              <a:spAutoFit/>
            </a:bodyPr>
            <a:lstStyle/>
            <a:p>
              <a:pPr>
                <a:spcBef>
                  <a:spcPts val="662"/>
                </a:spcBef>
                <a:buSzPct val="100000"/>
              </a:pPr>
              <a:r>
                <a:rPr lang="en-US" sz="1323" b="1" dirty="0"/>
                <a:t>CO</a:t>
              </a:r>
              <a:endParaRPr lang="en-IN" sz="1323" b="1" baseline="-25000" dirty="0"/>
            </a:p>
          </p:txBody>
        </p:sp>
        <p:sp>
          <p:nvSpPr>
            <p:cNvPr id="74" name="Rounded Rectangle 73"/>
            <p:cNvSpPr/>
            <p:nvPr/>
          </p:nvSpPr>
          <p:spPr bwMode="gray">
            <a:xfrm>
              <a:off x="7124089" y="2378064"/>
              <a:ext cx="1426353" cy="339117"/>
            </a:xfrm>
            <a:prstGeom prst="roundRect">
              <a:avLst/>
            </a:prstGeom>
            <a:noFill/>
            <a:ln w="19050" algn="ctr">
              <a:solidFill>
                <a:schemeClr val="tx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grpSp>
      <p:grpSp>
        <p:nvGrpSpPr>
          <p:cNvPr id="76" name="Group 75"/>
          <p:cNvGrpSpPr/>
          <p:nvPr/>
        </p:nvGrpSpPr>
        <p:grpSpPr>
          <a:xfrm>
            <a:off x="7889262" y="4177276"/>
            <a:ext cx="1741957" cy="373971"/>
            <a:chOff x="7124089" y="2378064"/>
            <a:chExt cx="1579608" cy="339117"/>
          </a:xfrm>
        </p:grpSpPr>
        <p:sp>
          <p:nvSpPr>
            <p:cNvPr id="77" name="TextBox 76"/>
            <p:cNvSpPr txBox="1"/>
            <p:nvPr/>
          </p:nvSpPr>
          <p:spPr>
            <a:xfrm>
              <a:off x="7290502" y="2470653"/>
              <a:ext cx="570129" cy="184608"/>
            </a:xfrm>
            <a:prstGeom prst="rect">
              <a:avLst/>
            </a:prstGeom>
            <a:noFill/>
          </p:spPr>
          <p:txBody>
            <a:bodyPr wrap="square" lIns="0" tIns="0" rIns="0" bIns="0" rtlCol="0">
              <a:spAutoFit/>
            </a:bodyPr>
            <a:lstStyle/>
            <a:p>
              <a:pPr>
                <a:spcBef>
                  <a:spcPts val="662"/>
                </a:spcBef>
                <a:buSzPct val="100000"/>
              </a:pPr>
              <a:r>
                <a:rPr lang="en-US" sz="1323" b="1" dirty="0"/>
                <a:t>NO</a:t>
              </a:r>
              <a:r>
                <a:rPr lang="en-US" sz="1323" b="1" baseline="-25000" dirty="0"/>
                <a:t>x</a:t>
              </a:r>
              <a:endParaRPr lang="en-IN" sz="1323" b="1" baseline="-25000" dirty="0"/>
            </a:p>
          </p:txBody>
        </p:sp>
        <p:sp>
          <p:nvSpPr>
            <p:cNvPr id="78" name="TextBox 77"/>
            <p:cNvSpPr txBox="1"/>
            <p:nvPr/>
          </p:nvSpPr>
          <p:spPr>
            <a:xfrm>
              <a:off x="7744067" y="2463647"/>
              <a:ext cx="570129" cy="184608"/>
            </a:xfrm>
            <a:prstGeom prst="rect">
              <a:avLst/>
            </a:prstGeom>
            <a:noFill/>
          </p:spPr>
          <p:txBody>
            <a:bodyPr wrap="square" lIns="0" tIns="0" rIns="0" bIns="0" rtlCol="0">
              <a:spAutoFit/>
            </a:bodyPr>
            <a:lstStyle/>
            <a:p>
              <a:pPr>
                <a:spcBef>
                  <a:spcPts val="662"/>
                </a:spcBef>
                <a:buSzPct val="100000"/>
              </a:pPr>
              <a:r>
                <a:rPr lang="en-US" sz="1323" b="1" dirty="0"/>
                <a:t>CO</a:t>
              </a:r>
              <a:r>
                <a:rPr lang="en-US" sz="1323" b="1" baseline="-25000" dirty="0"/>
                <a:t>2</a:t>
              </a:r>
              <a:endParaRPr lang="en-IN" sz="1323" b="1" baseline="-25000" dirty="0"/>
            </a:p>
          </p:txBody>
        </p:sp>
        <p:sp>
          <p:nvSpPr>
            <p:cNvPr id="79" name="TextBox 78"/>
            <p:cNvSpPr txBox="1"/>
            <p:nvPr/>
          </p:nvSpPr>
          <p:spPr>
            <a:xfrm>
              <a:off x="8133568" y="2472657"/>
              <a:ext cx="570129" cy="184608"/>
            </a:xfrm>
            <a:prstGeom prst="rect">
              <a:avLst/>
            </a:prstGeom>
            <a:noFill/>
          </p:spPr>
          <p:txBody>
            <a:bodyPr wrap="square" lIns="0" tIns="0" rIns="0" bIns="0" rtlCol="0">
              <a:spAutoFit/>
            </a:bodyPr>
            <a:lstStyle/>
            <a:p>
              <a:pPr>
                <a:spcBef>
                  <a:spcPts val="662"/>
                </a:spcBef>
                <a:buSzPct val="100000"/>
              </a:pPr>
              <a:r>
                <a:rPr lang="en-US" sz="1323" b="1" dirty="0"/>
                <a:t>CO</a:t>
              </a:r>
              <a:endParaRPr lang="en-IN" sz="1323" b="1" baseline="-25000" dirty="0"/>
            </a:p>
          </p:txBody>
        </p:sp>
        <p:sp>
          <p:nvSpPr>
            <p:cNvPr id="80" name="Rounded Rectangle 79"/>
            <p:cNvSpPr/>
            <p:nvPr/>
          </p:nvSpPr>
          <p:spPr bwMode="gray">
            <a:xfrm>
              <a:off x="7124089" y="2378064"/>
              <a:ext cx="1426353" cy="339117"/>
            </a:xfrm>
            <a:prstGeom prst="roundRect">
              <a:avLst/>
            </a:prstGeom>
            <a:noFill/>
            <a:ln w="19050" algn="ctr">
              <a:solidFill>
                <a:schemeClr val="tx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grpSp>
      <p:sp>
        <p:nvSpPr>
          <p:cNvPr id="81" name="Freeform 88"/>
          <p:cNvSpPr>
            <a:spLocks noEditPoints="1"/>
          </p:cNvSpPr>
          <p:nvPr/>
        </p:nvSpPr>
        <p:spPr bwMode="auto">
          <a:xfrm>
            <a:off x="3317730" y="4226309"/>
            <a:ext cx="245913" cy="314058"/>
          </a:xfrm>
          <a:custGeom>
            <a:avLst/>
            <a:gdLst>
              <a:gd name="T0" fmla="*/ 214 w 251"/>
              <a:gd name="T1" fmla="*/ 117 h 320"/>
              <a:gd name="T2" fmla="*/ 203 w 251"/>
              <a:gd name="T3" fmla="*/ 117 h 320"/>
              <a:gd name="T4" fmla="*/ 192 w 251"/>
              <a:gd name="T5" fmla="*/ 106 h 320"/>
              <a:gd name="T6" fmla="*/ 203 w 251"/>
              <a:gd name="T7" fmla="*/ 96 h 320"/>
              <a:gd name="T8" fmla="*/ 214 w 251"/>
              <a:gd name="T9" fmla="*/ 96 h 320"/>
              <a:gd name="T10" fmla="*/ 230 w 251"/>
              <a:gd name="T11" fmla="*/ 80 h 320"/>
              <a:gd name="T12" fmla="*/ 214 w 251"/>
              <a:gd name="T13" fmla="*/ 64 h 320"/>
              <a:gd name="T14" fmla="*/ 203 w 251"/>
              <a:gd name="T15" fmla="*/ 53 h 320"/>
              <a:gd name="T16" fmla="*/ 171 w 251"/>
              <a:gd name="T17" fmla="*/ 21 h 320"/>
              <a:gd name="T18" fmla="*/ 140 w 251"/>
              <a:gd name="T19" fmla="*/ 47 h 320"/>
              <a:gd name="T20" fmla="*/ 134 w 251"/>
              <a:gd name="T21" fmla="*/ 54 h 320"/>
              <a:gd name="T22" fmla="*/ 125 w 251"/>
              <a:gd name="T23" fmla="*/ 54 h 320"/>
              <a:gd name="T24" fmla="*/ 96 w 251"/>
              <a:gd name="T25" fmla="*/ 74 h 320"/>
              <a:gd name="T26" fmla="*/ 86 w 251"/>
              <a:gd name="T27" fmla="*/ 85 h 320"/>
              <a:gd name="T28" fmla="*/ 75 w 251"/>
              <a:gd name="T29" fmla="*/ 74 h 320"/>
              <a:gd name="T30" fmla="*/ 122 w 251"/>
              <a:gd name="T31" fmla="*/ 32 h 320"/>
              <a:gd name="T32" fmla="*/ 171 w 251"/>
              <a:gd name="T33" fmla="*/ 0 h 320"/>
              <a:gd name="T34" fmla="*/ 224 w 251"/>
              <a:gd name="T35" fmla="*/ 44 h 320"/>
              <a:gd name="T36" fmla="*/ 251 w 251"/>
              <a:gd name="T37" fmla="*/ 80 h 320"/>
              <a:gd name="T38" fmla="*/ 214 w 251"/>
              <a:gd name="T39" fmla="*/ 117 h 320"/>
              <a:gd name="T40" fmla="*/ 192 w 251"/>
              <a:gd name="T41" fmla="*/ 316 h 320"/>
              <a:gd name="T42" fmla="*/ 194 w 251"/>
              <a:gd name="T43" fmla="*/ 307 h 320"/>
              <a:gd name="T44" fmla="*/ 171 w 251"/>
              <a:gd name="T45" fmla="*/ 191 h 320"/>
              <a:gd name="T46" fmla="*/ 171 w 251"/>
              <a:gd name="T47" fmla="*/ 128 h 320"/>
              <a:gd name="T48" fmla="*/ 164 w 251"/>
              <a:gd name="T49" fmla="*/ 118 h 320"/>
              <a:gd name="T50" fmla="*/ 96 w 251"/>
              <a:gd name="T51" fmla="*/ 106 h 320"/>
              <a:gd name="T52" fmla="*/ 29 w 251"/>
              <a:gd name="T53" fmla="*/ 118 h 320"/>
              <a:gd name="T54" fmla="*/ 22 w 251"/>
              <a:gd name="T55" fmla="*/ 128 h 320"/>
              <a:gd name="T56" fmla="*/ 22 w 251"/>
              <a:gd name="T57" fmla="*/ 191 h 320"/>
              <a:gd name="T58" fmla="*/ 1 w 251"/>
              <a:gd name="T59" fmla="*/ 307 h 320"/>
              <a:gd name="T60" fmla="*/ 3 w 251"/>
              <a:gd name="T61" fmla="*/ 316 h 320"/>
              <a:gd name="T62" fmla="*/ 11 w 251"/>
              <a:gd name="T63" fmla="*/ 320 h 320"/>
              <a:gd name="T64" fmla="*/ 183 w 251"/>
              <a:gd name="T65" fmla="*/ 320 h 320"/>
              <a:gd name="T66" fmla="*/ 192 w 251"/>
              <a:gd name="T67" fmla="*/ 316 h 320"/>
              <a:gd name="T68" fmla="*/ 43 w 251"/>
              <a:gd name="T69" fmla="*/ 194 h 320"/>
              <a:gd name="T70" fmla="*/ 43 w 251"/>
              <a:gd name="T71" fmla="*/ 192 h 320"/>
              <a:gd name="T72" fmla="*/ 43 w 251"/>
              <a:gd name="T73" fmla="*/ 136 h 320"/>
              <a:gd name="T74" fmla="*/ 96 w 251"/>
              <a:gd name="T75" fmla="*/ 128 h 320"/>
              <a:gd name="T76" fmla="*/ 150 w 251"/>
              <a:gd name="T77" fmla="*/ 136 h 320"/>
              <a:gd name="T78" fmla="*/ 150 w 251"/>
              <a:gd name="T79" fmla="*/ 192 h 320"/>
              <a:gd name="T80" fmla="*/ 150 w 251"/>
              <a:gd name="T81" fmla="*/ 194 h 320"/>
              <a:gd name="T82" fmla="*/ 170 w 251"/>
              <a:gd name="T83" fmla="*/ 298 h 320"/>
              <a:gd name="T84" fmla="*/ 24 w 251"/>
              <a:gd name="T85" fmla="*/ 298 h 320"/>
              <a:gd name="T86" fmla="*/ 43 w 251"/>
              <a:gd name="T87" fmla="*/ 19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1" h="320">
                <a:moveTo>
                  <a:pt x="214" y="117"/>
                </a:moveTo>
                <a:cubicBezTo>
                  <a:pt x="203" y="117"/>
                  <a:pt x="203" y="117"/>
                  <a:pt x="203" y="117"/>
                </a:cubicBezTo>
                <a:cubicBezTo>
                  <a:pt x="197" y="117"/>
                  <a:pt x="192" y="112"/>
                  <a:pt x="192" y="106"/>
                </a:cubicBezTo>
                <a:cubicBezTo>
                  <a:pt x="192" y="100"/>
                  <a:pt x="197" y="96"/>
                  <a:pt x="203" y="96"/>
                </a:cubicBezTo>
                <a:cubicBezTo>
                  <a:pt x="214" y="96"/>
                  <a:pt x="214" y="96"/>
                  <a:pt x="214" y="96"/>
                </a:cubicBezTo>
                <a:cubicBezTo>
                  <a:pt x="222" y="96"/>
                  <a:pt x="230" y="88"/>
                  <a:pt x="230" y="80"/>
                </a:cubicBezTo>
                <a:cubicBezTo>
                  <a:pt x="230" y="71"/>
                  <a:pt x="222" y="64"/>
                  <a:pt x="214" y="64"/>
                </a:cubicBezTo>
                <a:cubicBezTo>
                  <a:pt x="208" y="64"/>
                  <a:pt x="203" y="59"/>
                  <a:pt x="203" y="53"/>
                </a:cubicBezTo>
                <a:cubicBezTo>
                  <a:pt x="203" y="35"/>
                  <a:pt x="189" y="21"/>
                  <a:pt x="171" y="21"/>
                </a:cubicBezTo>
                <a:cubicBezTo>
                  <a:pt x="156" y="21"/>
                  <a:pt x="143" y="32"/>
                  <a:pt x="140" y="47"/>
                </a:cubicBezTo>
                <a:cubicBezTo>
                  <a:pt x="139" y="50"/>
                  <a:pt x="137" y="52"/>
                  <a:pt x="134" y="54"/>
                </a:cubicBezTo>
                <a:cubicBezTo>
                  <a:pt x="132" y="55"/>
                  <a:pt x="128" y="56"/>
                  <a:pt x="125" y="54"/>
                </a:cubicBezTo>
                <a:cubicBezTo>
                  <a:pt x="111" y="49"/>
                  <a:pt x="96" y="60"/>
                  <a:pt x="96" y="74"/>
                </a:cubicBezTo>
                <a:cubicBezTo>
                  <a:pt x="96" y="80"/>
                  <a:pt x="92" y="85"/>
                  <a:pt x="86" y="85"/>
                </a:cubicBezTo>
                <a:cubicBezTo>
                  <a:pt x="80" y="85"/>
                  <a:pt x="75" y="80"/>
                  <a:pt x="75" y="74"/>
                </a:cubicBezTo>
                <a:cubicBezTo>
                  <a:pt x="75" y="49"/>
                  <a:pt x="97" y="29"/>
                  <a:pt x="122" y="32"/>
                </a:cubicBezTo>
                <a:cubicBezTo>
                  <a:pt x="130" y="13"/>
                  <a:pt x="149" y="0"/>
                  <a:pt x="171" y="0"/>
                </a:cubicBezTo>
                <a:cubicBezTo>
                  <a:pt x="197" y="0"/>
                  <a:pt x="219" y="19"/>
                  <a:pt x="224" y="44"/>
                </a:cubicBezTo>
                <a:cubicBezTo>
                  <a:pt x="239" y="48"/>
                  <a:pt x="251" y="62"/>
                  <a:pt x="251" y="80"/>
                </a:cubicBezTo>
                <a:cubicBezTo>
                  <a:pt x="251" y="100"/>
                  <a:pt x="234" y="117"/>
                  <a:pt x="214" y="117"/>
                </a:cubicBezTo>
                <a:close/>
                <a:moveTo>
                  <a:pt x="192" y="316"/>
                </a:moveTo>
                <a:cubicBezTo>
                  <a:pt x="194" y="313"/>
                  <a:pt x="195" y="310"/>
                  <a:pt x="194" y="307"/>
                </a:cubicBezTo>
                <a:cubicBezTo>
                  <a:pt x="171" y="191"/>
                  <a:pt x="171" y="191"/>
                  <a:pt x="171" y="191"/>
                </a:cubicBezTo>
                <a:cubicBezTo>
                  <a:pt x="171" y="128"/>
                  <a:pt x="171" y="128"/>
                  <a:pt x="171" y="128"/>
                </a:cubicBezTo>
                <a:cubicBezTo>
                  <a:pt x="171" y="123"/>
                  <a:pt x="168" y="119"/>
                  <a:pt x="164" y="118"/>
                </a:cubicBezTo>
                <a:cubicBezTo>
                  <a:pt x="162" y="117"/>
                  <a:pt x="129" y="106"/>
                  <a:pt x="96" y="106"/>
                </a:cubicBezTo>
                <a:cubicBezTo>
                  <a:pt x="63" y="106"/>
                  <a:pt x="30" y="117"/>
                  <a:pt x="29" y="118"/>
                </a:cubicBezTo>
                <a:cubicBezTo>
                  <a:pt x="25" y="119"/>
                  <a:pt x="22" y="123"/>
                  <a:pt x="22" y="128"/>
                </a:cubicBezTo>
                <a:cubicBezTo>
                  <a:pt x="22" y="191"/>
                  <a:pt x="22" y="191"/>
                  <a:pt x="22" y="191"/>
                </a:cubicBezTo>
                <a:cubicBezTo>
                  <a:pt x="1" y="307"/>
                  <a:pt x="1" y="307"/>
                  <a:pt x="1" y="307"/>
                </a:cubicBezTo>
                <a:cubicBezTo>
                  <a:pt x="0" y="310"/>
                  <a:pt x="1" y="313"/>
                  <a:pt x="3" y="316"/>
                </a:cubicBezTo>
                <a:cubicBezTo>
                  <a:pt x="5" y="318"/>
                  <a:pt x="8" y="320"/>
                  <a:pt x="11" y="320"/>
                </a:cubicBezTo>
                <a:cubicBezTo>
                  <a:pt x="183" y="320"/>
                  <a:pt x="183" y="320"/>
                  <a:pt x="183" y="320"/>
                </a:cubicBezTo>
                <a:cubicBezTo>
                  <a:pt x="187" y="320"/>
                  <a:pt x="190" y="318"/>
                  <a:pt x="192" y="316"/>
                </a:cubicBezTo>
                <a:close/>
                <a:moveTo>
                  <a:pt x="43" y="194"/>
                </a:moveTo>
                <a:cubicBezTo>
                  <a:pt x="43" y="193"/>
                  <a:pt x="43" y="192"/>
                  <a:pt x="43" y="192"/>
                </a:cubicBezTo>
                <a:cubicBezTo>
                  <a:pt x="43" y="136"/>
                  <a:pt x="43" y="136"/>
                  <a:pt x="43" y="136"/>
                </a:cubicBezTo>
                <a:cubicBezTo>
                  <a:pt x="54" y="133"/>
                  <a:pt x="75" y="128"/>
                  <a:pt x="96" y="128"/>
                </a:cubicBezTo>
                <a:cubicBezTo>
                  <a:pt x="117" y="128"/>
                  <a:pt x="139" y="133"/>
                  <a:pt x="150" y="136"/>
                </a:cubicBezTo>
                <a:cubicBezTo>
                  <a:pt x="150" y="192"/>
                  <a:pt x="150" y="192"/>
                  <a:pt x="150" y="192"/>
                </a:cubicBezTo>
                <a:cubicBezTo>
                  <a:pt x="150" y="192"/>
                  <a:pt x="150" y="193"/>
                  <a:pt x="150" y="194"/>
                </a:cubicBezTo>
                <a:cubicBezTo>
                  <a:pt x="170" y="298"/>
                  <a:pt x="170" y="298"/>
                  <a:pt x="170" y="298"/>
                </a:cubicBezTo>
                <a:cubicBezTo>
                  <a:pt x="24" y="298"/>
                  <a:pt x="24" y="298"/>
                  <a:pt x="24" y="298"/>
                </a:cubicBezTo>
                <a:lnTo>
                  <a:pt x="43" y="194"/>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82" name="Freeform 57"/>
          <p:cNvSpPr>
            <a:spLocks noEditPoints="1"/>
          </p:cNvSpPr>
          <p:nvPr/>
        </p:nvSpPr>
        <p:spPr bwMode="auto">
          <a:xfrm>
            <a:off x="2815494" y="4196185"/>
            <a:ext cx="333231" cy="340322"/>
          </a:xfrm>
          <a:custGeom>
            <a:avLst/>
            <a:gdLst>
              <a:gd name="T0" fmla="*/ 267 w 283"/>
              <a:gd name="T1" fmla="*/ 268 h 289"/>
              <a:gd name="T2" fmla="*/ 267 w 283"/>
              <a:gd name="T3" fmla="*/ 135 h 289"/>
              <a:gd name="T4" fmla="*/ 264 w 283"/>
              <a:gd name="T5" fmla="*/ 63 h 289"/>
              <a:gd name="T6" fmla="*/ 264 w 283"/>
              <a:gd name="T7" fmla="*/ 63 h 289"/>
              <a:gd name="T8" fmla="*/ 243 w 283"/>
              <a:gd name="T9" fmla="*/ 20 h 289"/>
              <a:gd name="T10" fmla="*/ 196 w 283"/>
              <a:gd name="T11" fmla="*/ 9 h 289"/>
              <a:gd name="T12" fmla="*/ 176 w 283"/>
              <a:gd name="T13" fmla="*/ 53 h 289"/>
              <a:gd name="T14" fmla="*/ 189 w 283"/>
              <a:gd name="T15" fmla="*/ 82 h 289"/>
              <a:gd name="T16" fmla="*/ 27 w 283"/>
              <a:gd name="T17" fmla="*/ 173 h 289"/>
              <a:gd name="T18" fmla="*/ 21 w 283"/>
              <a:gd name="T19" fmla="*/ 183 h 289"/>
              <a:gd name="T20" fmla="*/ 21 w 283"/>
              <a:gd name="T21" fmla="*/ 215 h 289"/>
              <a:gd name="T22" fmla="*/ 11 w 283"/>
              <a:gd name="T23" fmla="*/ 215 h 289"/>
              <a:gd name="T24" fmla="*/ 0 w 283"/>
              <a:gd name="T25" fmla="*/ 225 h 289"/>
              <a:gd name="T26" fmla="*/ 0 w 283"/>
              <a:gd name="T27" fmla="*/ 279 h 289"/>
              <a:gd name="T28" fmla="*/ 11 w 283"/>
              <a:gd name="T29" fmla="*/ 289 h 289"/>
              <a:gd name="T30" fmla="*/ 53 w 283"/>
              <a:gd name="T31" fmla="*/ 289 h 289"/>
              <a:gd name="T32" fmla="*/ 267 w 283"/>
              <a:gd name="T33" fmla="*/ 289 h 289"/>
              <a:gd name="T34" fmla="*/ 277 w 283"/>
              <a:gd name="T35" fmla="*/ 279 h 289"/>
              <a:gd name="T36" fmla="*/ 267 w 283"/>
              <a:gd name="T37" fmla="*/ 268 h 289"/>
              <a:gd name="T38" fmla="*/ 179 w 283"/>
              <a:gd name="T39" fmla="*/ 268 h 289"/>
              <a:gd name="T40" fmla="*/ 149 w 283"/>
              <a:gd name="T41" fmla="*/ 129 h 289"/>
              <a:gd name="T42" fmla="*/ 200 w 283"/>
              <a:gd name="T43" fmla="*/ 100 h 289"/>
              <a:gd name="T44" fmla="*/ 245 w 283"/>
              <a:gd name="T45" fmla="*/ 141 h 289"/>
              <a:gd name="T46" fmla="*/ 245 w 283"/>
              <a:gd name="T47" fmla="*/ 268 h 289"/>
              <a:gd name="T48" fmla="*/ 179 w 283"/>
              <a:gd name="T49" fmla="*/ 268 h 289"/>
              <a:gd name="T50" fmla="*/ 157 w 283"/>
              <a:gd name="T51" fmla="*/ 268 h 289"/>
              <a:gd name="T52" fmla="*/ 120 w 283"/>
              <a:gd name="T53" fmla="*/ 268 h 289"/>
              <a:gd name="T54" fmla="*/ 139 w 283"/>
              <a:gd name="T55" fmla="*/ 180 h 289"/>
              <a:gd name="T56" fmla="*/ 157 w 283"/>
              <a:gd name="T57" fmla="*/ 268 h 289"/>
              <a:gd name="T58" fmla="*/ 205 w 283"/>
              <a:gd name="T59" fmla="*/ 28 h 289"/>
              <a:gd name="T60" fmla="*/ 214 w 283"/>
              <a:gd name="T61" fmla="*/ 26 h 289"/>
              <a:gd name="T62" fmla="*/ 226 w 283"/>
              <a:gd name="T63" fmla="*/ 34 h 289"/>
              <a:gd name="T64" fmla="*/ 244 w 283"/>
              <a:gd name="T65" fmla="*/ 70 h 289"/>
              <a:gd name="T66" fmla="*/ 251 w 283"/>
              <a:gd name="T67" fmla="*/ 120 h 289"/>
              <a:gd name="T68" fmla="*/ 216 w 283"/>
              <a:gd name="T69" fmla="*/ 85 h 289"/>
              <a:gd name="T70" fmla="*/ 197 w 283"/>
              <a:gd name="T71" fmla="*/ 48 h 289"/>
              <a:gd name="T72" fmla="*/ 205 w 283"/>
              <a:gd name="T73" fmla="*/ 28 h 289"/>
              <a:gd name="T74" fmla="*/ 43 w 283"/>
              <a:gd name="T75" fmla="*/ 189 h 289"/>
              <a:gd name="T76" fmla="*/ 125 w 283"/>
              <a:gd name="T77" fmla="*/ 143 h 289"/>
              <a:gd name="T78" fmla="*/ 98 w 283"/>
              <a:gd name="T79" fmla="*/ 268 h 289"/>
              <a:gd name="T80" fmla="*/ 64 w 283"/>
              <a:gd name="T81" fmla="*/ 268 h 289"/>
              <a:gd name="T82" fmla="*/ 64 w 283"/>
              <a:gd name="T83" fmla="*/ 225 h 289"/>
              <a:gd name="T84" fmla="*/ 53 w 283"/>
              <a:gd name="T85" fmla="*/ 215 h 289"/>
              <a:gd name="T86" fmla="*/ 43 w 283"/>
              <a:gd name="T87" fmla="*/ 215 h 289"/>
              <a:gd name="T88" fmla="*/ 43 w 283"/>
              <a:gd name="T89" fmla="*/ 189 h 289"/>
              <a:gd name="T90" fmla="*/ 21 w 283"/>
              <a:gd name="T91" fmla="*/ 236 h 289"/>
              <a:gd name="T92" fmla="*/ 43 w 283"/>
              <a:gd name="T93" fmla="*/ 236 h 289"/>
              <a:gd name="T94" fmla="*/ 43 w 283"/>
              <a:gd name="T95" fmla="*/ 268 h 289"/>
              <a:gd name="T96" fmla="*/ 21 w 283"/>
              <a:gd name="T97" fmla="*/ 268 h 289"/>
              <a:gd name="T98" fmla="*/ 21 w 283"/>
              <a:gd name="T99" fmla="*/ 236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3" h="289">
                <a:moveTo>
                  <a:pt x="267" y="268"/>
                </a:moveTo>
                <a:cubicBezTo>
                  <a:pt x="267" y="135"/>
                  <a:pt x="267" y="135"/>
                  <a:pt x="267" y="135"/>
                </a:cubicBezTo>
                <a:cubicBezTo>
                  <a:pt x="283" y="121"/>
                  <a:pt x="275" y="92"/>
                  <a:pt x="264" y="63"/>
                </a:cubicBezTo>
                <a:cubicBezTo>
                  <a:pt x="264" y="63"/>
                  <a:pt x="264" y="63"/>
                  <a:pt x="264" y="63"/>
                </a:cubicBezTo>
                <a:cubicBezTo>
                  <a:pt x="261" y="53"/>
                  <a:pt x="251" y="30"/>
                  <a:pt x="243" y="20"/>
                </a:cubicBezTo>
                <a:cubicBezTo>
                  <a:pt x="229" y="4"/>
                  <a:pt x="214" y="0"/>
                  <a:pt x="196" y="9"/>
                </a:cubicBezTo>
                <a:cubicBezTo>
                  <a:pt x="178" y="18"/>
                  <a:pt x="171" y="33"/>
                  <a:pt x="176" y="53"/>
                </a:cubicBezTo>
                <a:cubicBezTo>
                  <a:pt x="178" y="59"/>
                  <a:pt x="182" y="69"/>
                  <a:pt x="189" y="82"/>
                </a:cubicBezTo>
                <a:cubicBezTo>
                  <a:pt x="27" y="173"/>
                  <a:pt x="27" y="173"/>
                  <a:pt x="27" y="173"/>
                </a:cubicBezTo>
                <a:cubicBezTo>
                  <a:pt x="23" y="175"/>
                  <a:pt x="21" y="179"/>
                  <a:pt x="21" y="183"/>
                </a:cubicBezTo>
                <a:cubicBezTo>
                  <a:pt x="21" y="215"/>
                  <a:pt x="21" y="215"/>
                  <a:pt x="21" y="215"/>
                </a:cubicBezTo>
                <a:cubicBezTo>
                  <a:pt x="11" y="215"/>
                  <a:pt x="11" y="215"/>
                  <a:pt x="11" y="215"/>
                </a:cubicBezTo>
                <a:cubicBezTo>
                  <a:pt x="5" y="215"/>
                  <a:pt x="0" y="219"/>
                  <a:pt x="0" y="225"/>
                </a:cubicBezTo>
                <a:cubicBezTo>
                  <a:pt x="0" y="279"/>
                  <a:pt x="0" y="279"/>
                  <a:pt x="0" y="279"/>
                </a:cubicBezTo>
                <a:cubicBezTo>
                  <a:pt x="0" y="285"/>
                  <a:pt x="5" y="289"/>
                  <a:pt x="11" y="289"/>
                </a:cubicBezTo>
                <a:cubicBezTo>
                  <a:pt x="53" y="289"/>
                  <a:pt x="53" y="289"/>
                  <a:pt x="53" y="289"/>
                </a:cubicBezTo>
                <a:cubicBezTo>
                  <a:pt x="267" y="289"/>
                  <a:pt x="267" y="289"/>
                  <a:pt x="267" y="289"/>
                </a:cubicBezTo>
                <a:cubicBezTo>
                  <a:pt x="273" y="289"/>
                  <a:pt x="277" y="285"/>
                  <a:pt x="277" y="279"/>
                </a:cubicBezTo>
                <a:cubicBezTo>
                  <a:pt x="277" y="273"/>
                  <a:pt x="273" y="268"/>
                  <a:pt x="267" y="268"/>
                </a:cubicBezTo>
                <a:close/>
                <a:moveTo>
                  <a:pt x="179" y="268"/>
                </a:moveTo>
                <a:cubicBezTo>
                  <a:pt x="149" y="129"/>
                  <a:pt x="149" y="129"/>
                  <a:pt x="149" y="129"/>
                </a:cubicBezTo>
                <a:cubicBezTo>
                  <a:pt x="200" y="100"/>
                  <a:pt x="200" y="100"/>
                  <a:pt x="200" y="100"/>
                </a:cubicBezTo>
                <a:cubicBezTo>
                  <a:pt x="216" y="125"/>
                  <a:pt x="231" y="139"/>
                  <a:pt x="245" y="141"/>
                </a:cubicBezTo>
                <a:cubicBezTo>
                  <a:pt x="245" y="268"/>
                  <a:pt x="245" y="268"/>
                  <a:pt x="245" y="268"/>
                </a:cubicBezTo>
                <a:lnTo>
                  <a:pt x="179" y="268"/>
                </a:lnTo>
                <a:close/>
                <a:moveTo>
                  <a:pt x="157" y="268"/>
                </a:moveTo>
                <a:cubicBezTo>
                  <a:pt x="120" y="268"/>
                  <a:pt x="120" y="268"/>
                  <a:pt x="120" y="268"/>
                </a:cubicBezTo>
                <a:cubicBezTo>
                  <a:pt x="139" y="180"/>
                  <a:pt x="139" y="180"/>
                  <a:pt x="139" y="180"/>
                </a:cubicBezTo>
                <a:lnTo>
                  <a:pt x="157" y="268"/>
                </a:lnTo>
                <a:close/>
                <a:moveTo>
                  <a:pt x="205" y="28"/>
                </a:moveTo>
                <a:cubicBezTo>
                  <a:pt x="208" y="27"/>
                  <a:pt x="211" y="26"/>
                  <a:pt x="214" y="26"/>
                </a:cubicBezTo>
                <a:cubicBezTo>
                  <a:pt x="217" y="26"/>
                  <a:pt x="221" y="28"/>
                  <a:pt x="226" y="34"/>
                </a:cubicBezTo>
                <a:cubicBezTo>
                  <a:pt x="231" y="39"/>
                  <a:pt x="240" y="58"/>
                  <a:pt x="244" y="70"/>
                </a:cubicBezTo>
                <a:cubicBezTo>
                  <a:pt x="259" y="110"/>
                  <a:pt x="255" y="118"/>
                  <a:pt x="251" y="120"/>
                </a:cubicBezTo>
                <a:cubicBezTo>
                  <a:pt x="247" y="122"/>
                  <a:pt x="235" y="117"/>
                  <a:pt x="216" y="85"/>
                </a:cubicBezTo>
                <a:cubicBezTo>
                  <a:pt x="201" y="61"/>
                  <a:pt x="198" y="52"/>
                  <a:pt x="197" y="48"/>
                </a:cubicBezTo>
                <a:cubicBezTo>
                  <a:pt x="194" y="35"/>
                  <a:pt x="199" y="32"/>
                  <a:pt x="205" y="28"/>
                </a:cubicBezTo>
                <a:close/>
                <a:moveTo>
                  <a:pt x="43" y="189"/>
                </a:moveTo>
                <a:cubicBezTo>
                  <a:pt x="125" y="143"/>
                  <a:pt x="125" y="143"/>
                  <a:pt x="125" y="143"/>
                </a:cubicBezTo>
                <a:cubicBezTo>
                  <a:pt x="98" y="268"/>
                  <a:pt x="98" y="268"/>
                  <a:pt x="98" y="268"/>
                </a:cubicBezTo>
                <a:cubicBezTo>
                  <a:pt x="64" y="268"/>
                  <a:pt x="64" y="268"/>
                  <a:pt x="64" y="268"/>
                </a:cubicBezTo>
                <a:cubicBezTo>
                  <a:pt x="64" y="225"/>
                  <a:pt x="64" y="225"/>
                  <a:pt x="64" y="225"/>
                </a:cubicBezTo>
                <a:cubicBezTo>
                  <a:pt x="64" y="219"/>
                  <a:pt x="59" y="215"/>
                  <a:pt x="53" y="215"/>
                </a:cubicBezTo>
                <a:cubicBezTo>
                  <a:pt x="43" y="215"/>
                  <a:pt x="43" y="215"/>
                  <a:pt x="43" y="215"/>
                </a:cubicBezTo>
                <a:lnTo>
                  <a:pt x="43" y="189"/>
                </a:lnTo>
                <a:close/>
                <a:moveTo>
                  <a:pt x="21" y="236"/>
                </a:moveTo>
                <a:cubicBezTo>
                  <a:pt x="43" y="236"/>
                  <a:pt x="43" y="236"/>
                  <a:pt x="43" y="236"/>
                </a:cubicBezTo>
                <a:cubicBezTo>
                  <a:pt x="43" y="268"/>
                  <a:pt x="43" y="268"/>
                  <a:pt x="43" y="268"/>
                </a:cubicBezTo>
                <a:cubicBezTo>
                  <a:pt x="21" y="268"/>
                  <a:pt x="21" y="268"/>
                  <a:pt x="21" y="268"/>
                </a:cubicBezTo>
                <a:lnTo>
                  <a:pt x="21" y="236"/>
                </a:ln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pic>
        <p:nvPicPr>
          <p:cNvPr id="83" name="Picture 8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86600" y="4194969"/>
            <a:ext cx="341130" cy="341130"/>
          </a:xfrm>
          <a:prstGeom prst="rect">
            <a:avLst/>
          </a:prstGeom>
        </p:spPr>
      </p:pic>
      <p:sp>
        <p:nvSpPr>
          <p:cNvPr id="84" name="Rounded Rectangle 83"/>
          <p:cNvSpPr/>
          <p:nvPr/>
        </p:nvSpPr>
        <p:spPr bwMode="gray">
          <a:xfrm>
            <a:off x="2200434" y="4177277"/>
            <a:ext cx="1445298" cy="385697"/>
          </a:xfrm>
          <a:prstGeom prst="roundRect">
            <a:avLst/>
          </a:prstGeom>
          <a:noFill/>
          <a:ln w="19050" algn="ctr">
            <a:solidFill>
              <a:schemeClr val="accent6"/>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pic>
        <p:nvPicPr>
          <p:cNvPr id="89" name="Picture 8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16879" y="5931787"/>
            <a:ext cx="257859" cy="257859"/>
          </a:xfrm>
          <a:prstGeom prst="rect">
            <a:avLst/>
          </a:prstGeom>
        </p:spPr>
      </p:pic>
      <p:sp>
        <p:nvSpPr>
          <p:cNvPr id="90" name="Rounded Rectangle 89"/>
          <p:cNvSpPr/>
          <p:nvPr/>
        </p:nvSpPr>
        <p:spPr bwMode="gray">
          <a:xfrm>
            <a:off x="2200434" y="5874807"/>
            <a:ext cx="1445298" cy="325024"/>
          </a:xfrm>
          <a:prstGeom prst="roundRect">
            <a:avLst/>
          </a:prstGeom>
          <a:noFill/>
          <a:ln w="19050" algn="ctr">
            <a:solidFill>
              <a:schemeClr val="accent6"/>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grpSp>
        <p:nvGrpSpPr>
          <p:cNvPr id="96" name="Group 95"/>
          <p:cNvGrpSpPr/>
          <p:nvPr/>
        </p:nvGrpSpPr>
        <p:grpSpPr>
          <a:xfrm>
            <a:off x="5312985" y="4226308"/>
            <a:ext cx="166140" cy="259280"/>
            <a:chOff x="9068785" y="3190353"/>
            <a:chExt cx="378428" cy="590577"/>
          </a:xfrm>
        </p:grpSpPr>
        <p:sp>
          <p:nvSpPr>
            <p:cNvPr id="93" name="Freeform 639"/>
            <p:cNvSpPr>
              <a:spLocks/>
            </p:cNvSpPr>
            <p:nvPr/>
          </p:nvSpPr>
          <p:spPr bwMode="auto">
            <a:xfrm>
              <a:off x="9235064" y="3497109"/>
              <a:ext cx="40136" cy="283821"/>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94" name="Freeform 640"/>
            <p:cNvSpPr>
              <a:spLocks noEditPoints="1"/>
            </p:cNvSpPr>
            <p:nvPr/>
          </p:nvSpPr>
          <p:spPr bwMode="auto">
            <a:xfrm>
              <a:off x="9068785" y="3190353"/>
              <a:ext cx="378428" cy="306756"/>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108" name="Group 107"/>
          <p:cNvGrpSpPr/>
          <p:nvPr/>
        </p:nvGrpSpPr>
        <p:grpSpPr>
          <a:xfrm>
            <a:off x="4245145" y="4226307"/>
            <a:ext cx="299120" cy="299120"/>
            <a:chOff x="3629832" y="6412796"/>
            <a:chExt cx="230504" cy="230504"/>
          </a:xfrm>
          <a:solidFill>
            <a:schemeClr val="accent1"/>
          </a:solidFill>
        </p:grpSpPr>
        <p:sp>
          <p:nvSpPr>
            <p:cNvPr id="99" name="Freeform 98"/>
            <p:cNvSpPr>
              <a:spLocks noEditPoints="1"/>
            </p:cNvSpPr>
            <p:nvPr/>
          </p:nvSpPr>
          <p:spPr bwMode="auto">
            <a:xfrm>
              <a:off x="3675498" y="6458462"/>
              <a:ext cx="139172" cy="139172"/>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00" name="Freeform 99"/>
            <p:cNvSpPr>
              <a:spLocks/>
            </p:cNvSpPr>
            <p:nvPr/>
          </p:nvSpPr>
          <p:spPr bwMode="auto">
            <a:xfrm>
              <a:off x="3829892" y="6520437"/>
              <a:ext cx="30444" cy="15222"/>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01" name="Freeform 100"/>
            <p:cNvSpPr>
              <a:spLocks/>
            </p:cNvSpPr>
            <p:nvPr/>
          </p:nvSpPr>
          <p:spPr bwMode="auto">
            <a:xfrm>
              <a:off x="3629832" y="6520437"/>
              <a:ext cx="30444" cy="15222"/>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02" name="Freeform 101"/>
            <p:cNvSpPr>
              <a:spLocks/>
            </p:cNvSpPr>
            <p:nvPr/>
          </p:nvSpPr>
          <p:spPr bwMode="auto">
            <a:xfrm>
              <a:off x="3737473" y="6412796"/>
              <a:ext cx="15222" cy="30444"/>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03" name="Freeform 102"/>
            <p:cNvSpPr>
              <a:spLocks/>
            </p:cNvSpPr>
            <p:nvPr/>
          </p:nvSpPr>
          <p:spPr bwMode="auto">
            <a:xfrm>
              <a:off x="3737473" y="6612856"/>
              <a:ext cx="15222" cy="30444"/>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04" name="Freeform 103"/>
            <p:cNvSpPr>
              <a:spLocks/>
            </p:cNvSpPr>
            <p:nvPr/>
          </p:nvSpPr>
          <p:spPr bwMode="auto">
            <a:xfrm>
              <a:off x="3801623" y="6443240"/>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05" name="Freeform 104"/>
            <p:cNvSpPr>
              <a:spLocks/>
            </p:cNvSpPr>
            <p:nvPr/>
          </p:nvSpPr>
          <p:spPr bwMode="auto">
            <a:xfrm>
              <a:off x="3660276" y="6584587"/>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06" name="Freeform 105"/>
            <p:cNvSpPr>
              <a:spLocks/>
            </p:cNvSpPr>
            <p:nvPr/>
          </p:nvSpPr>
          <p:spPr bwMode="auto">
            <a:xfrm>
              <a:off x="3660276" y="6443240"/>
              <a:ext cx="28269" cy="27182"/>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07" name="Freeform 106"/>
            <p:cNvSpPr>
              <a:spLocks/>
            </p:cNvSpPr>
            <p:nvPr/>
          </p:nvSpPr>
          <p:spPr bwMode="auto">
            <a:xfrm>
              <a:off x="3801623" y="6584587"/>
              <a:ext cx="28269" cy="27182"/>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pic>
        <p:nvPicPr>
          <p:cNvPr id="109" name="Picture 108"/>
          <p:cNvPicPr>
            <a:picLocks noChangeAspect="1"/>
          </p:cNvPicPr>
          <p:nvPr/>
        </p:nvPicPr>
        <p:blipFill rotWithShape="1">
          <a:blip r:embed="rId9" cstate="print">
            <a:extLst>
              <a:ext uri="{28A0092B-C50C-407E-A947-70E740481C1C}">
                <a14:useLocalDpi xmlns:a14="http://schemas.microsoft.com/office/drawing/2010/main" val="0"/>
              </a:ext>
            </a:extLst>
          </a:blip>
          <a:srcRect b="7442"/>
          <a:stretch/>
        </p:blipFill>
        <p:spPr>
          <a:xfrm>
            <a:off x="4798211" y="4218181"/>
            <a:ext cx="295144" cy="295033"/>
          </a:xfrm>
          <a:prstGeom prst="rect">
            <a:avLst/>
          </a:prstGeom>
        </p:spPr>
      </p:pic>
      <p:sp>
        <p:nvSpPr>
          <p:cNvPr id="110" name="Rounded Rectangle 109"/>
          <p:cNvSpPr/>
          <p:nvPr/>
        </p:nvSpPr>
        <p:spPr bwMode="gray">
          <a:xfrm>
            <a:off x="4115395" y="4189002"/>
            <a:ext cx="1602765" cy="373971"/>
          </a:xfrm>
          <a:prstGeom prst="roundRect">
            <a:avLst/>
          </a:prstGeom>
          <a:noFill/>
          <a:ln w="19050" algn="ctr">
            <a:solidFill>
              <a:schemeClr val="accent1"/>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20" name="Freeform 277"/>
          <p:cNvSpPr>
            <a:spLocks noChangeAspect="1"/>
          </p:cNvSpPr>
          <p:nvPr/>
        </p:nvSpPr>
        <p:spPr bwMode="auto">
          <a:xfrm>
            <a:off x="6184649" y="5911917"/>
            <a:ext cx="158285" cy="232156"/>
          </a:xfrm>
          <a:custGeom>
            <a:avLst/>
            <a:gdLst>
              <a:gd name="T0" fmla="*/ 11 w 22"/>
              <a:gd name="T1" fmla="*/ 0 h 32"/>
              <a:gd name="T2" fmla="*/ 1 w 22"/>
              <a:gd name="T3" fmla="*/ 17 h 32"/>
              <a:gd name="T4" fmla="*/ 0 w 22"/>
              <a:gd name="T5" fmla="*/ 21 h 32"/>
              <a:gd name="T6" fmla="*/ 11 w 22"/>
              <a:gd name="T7" fmla="*/ 32 h 32"/>
              <a:gd name="T8" fmla="*/ 22 w 22"/>
              <a:gd name="T9" fmla="*/ 21 h 32"/>
              <a:gd name="T10" fmla="*/ 21 w 22"/>
              <a:gd name="T11" fmla="*/ 17 h 32"/>
              <a:gd name="T12" fmla="*/ 11 w 2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2" h="32">
                <a:moveTo>
                  <a:pt x="11" y="0"/>
                </a:moveTo>
                <a:cubicBezTo>
                  <a:pt x="1" y="17"/>
                  <a:pt x="1" y="17"/>
                  <a:pt x="1" y="17"/>
                </a:cubicBezTo>
                <a:cubicBezTo>
                  <a:pt x="1" y="19"/>
                  <a:pt x="0" y="20"/>
                  <a:pt x="0" y="21"/>
                </a:cubicBezTo>
                <a:cubicBezTo>
                  <a:pt x="0" y="27"/>
                  <a:pt x="5" y="32"/>
                  <a:pt x="11" y="32"/>
                </a:cubicBezTo>
                <a:cubicBezTo>
                  <a:pt x="17" y="32"/>
                  <a:pt x="22" y="27"/>
                  <a:pt x="22" y="21"/>
                </a:cubicBezTo>
                <a:cubicBezTo>
                  <a:pt x="22" y="20"/>
                  <a:pt x="21" y="19"/>
                  <a:pt x="21" y="17"/>
                </a:cubicBezTo>
                <a:lnTo>
                  <a:pt x="11" y="0"/>
                </a:lnTo>
                <a:close/>
              </a:path>
            </a:pathLst>
          </a:custGeom>
          <a:solidFill>
            <a:srgbClr val="FFCD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21" name="Freeform 560"/>
          <p:cNvSpPr>
            <a:spLocks noEditPoints="1"/>
          </p:cNvSpPr>
          <p:nvPr/>
        </p:nvSpPr>
        <p:spPr bwMode="auto">
          <a:xfrm>
            <a:off x="6667404" y="5878257"/>
            <a:ext cx="229818" cy="326990"/>
          </a:xfrm>
          <a:custGeom>
            <a:avLst/>
            <a:gdLst>
              <a:gd name="T0" fmla="*/ 33 w 225"/>
              <a:gd name="T1" fmla="*/ 320 h 320"/>
              <a:gd name="T2" fmla="*/ 28 w 225"/>
              <a:gd name="T3" fmla="*/ 318 h 320"/>
              <a:gd name="T4" fmla="*/ 22 w 225"/>
              <a:gd name="T5" fmla="*/ 306 h 320"/>
              <a:gd name="T6" fmla="*/ 61 w 225"/>
              <a:gd name="T7" fmla="*/ 170 h 320"/>
              <a:gd name="T8" fmla="*/ 11 w 225"/>
              <a:gd name="T9" fmla="*/ 170 h 320"/>
              <a:gd name="T10" fmla="*/ 2 w 225"/>
              <a:gd name="T11" fmla="*/ 166 h 320"/>
              <a:gd name="T12" fmla="*/ 2 w 225"/>
              <a:gd name="T13" fmla="*/ 155 h 320"/>
              <a:gd name="T14" fmla="*/ 66 w 225"/>
              <a:gd name="T15" fmla="*/ 6 h 320"/>
              <a:gd name="T16" fmla="*/ 75 w 225"/>
              <a:gd name="T17" fmla="*/ 0 h 320"/>
              <a:gd name="T18" fmla="*/ 182 w 225"/>
              <a:gd name="T19" fmla="*/ 0 h 320"/>
              <a:gd name="T20" fmla="*/ 191 w 225"/>
              <a:gd name="T21" fmla="*/ 5 h 320"/>
              <a:gd name="T22" fmla="*/ 192 w 225"/>
              <a:gd name="T23" fmla="*/ 15 h 320"/>
              <a:gd name="T24" fmla="*/ 156 w 225"/>
              <a:gd name="T25" fmla="*/ 96 h 320"/>
              <a:gd name="T26" fmla="*/ 214 w 225"/>
              <a:gd name="T27" fmla="*/ 96 h 320"/>
              <a:gd name="T28" fmla="*/ 224 w 225"/>
              <a:gd name="T29" fmla="*/ 102 h 320"/>
              <a:gd name="T30" fmla="*/ 222 w 225"/>
              <a:gd name="T31" fmla="*/ 113 h 320"/>
              <a:gd name="T32" fmla="*/ 41 w 225"/>
              <a:gd name="T33" fmla="*/ 316 h 320"/>
              <a:gd name="T34" fmla="*/ 33 w 225"/>
              <a:gd name="T35" fmla="*/ 320 h 320"/>
              <a:gd name="T36" fmla="*/ 28 w 225"/>
              <a:gd name="T37" fmla="*/ 149 h 320"/>
              <a:gd name="T38" fmla="*/ 75 w 225"/>
              <a:gd name="T39" fmla="*/ 149 h 320"/>
              <a:gd name="T40" fmla="*/ 84 w 225"/>
              <a:gd name="T41" fmla="*/ 153 h 320"/>
              <a:gd name="T42" fmla="*/ 86 w 225"/>
              <a:gd name="T43" fmla="*/ 163 h 320"/>
              <a:gd name="T44" fmla="*/ 56 w 225"/>
              <a:gd name="T45" fmla="*/ 267 h 320"/>
              <a:gd name="T46" fmla="*/ 190 w 225"/>
              <a:gd name="T47" fmla="*/ 117 h 320"/>
              <a:gd name="T48" fmla="*/ 139 w 225"/>
              <a:gd name="T49" fmla="*/ 117 h 320"/>
              <a:gd name="T50" fmla="*/ 130 w 225"/>
              <a:gd name="T51" fmla="*/ 112 h 320"/>
              <a:gd name="T52" fmla="*/ 130 w 225"/>
              <a:gd name="T53" fmla="*/ 102 h 320"/>
              <a:gd name="T54" fmla="*/ 166 w 225"/>
              <a:gd name="T55" fmla="*/ 21 h 320"/>
              <a:gd name="T56" fmla="*/ 82 w 225"/>
              <a:gd name="T57" fmla="*/ 21 h 320"/>
              <a:gd name="T58" fmla="*/ 28 w 225"/>
              <a:gd name="T59" fmla="*/ 14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5" h="320">
                <a:moveTo>
                  <a:pt x="33" y="320"/>
                </a:moveTo>
                <a:cubicBezTo>
                  <a:pt x="31" y="320"/>
                  <a:pt x="29" y="319"/>
                  <a:pt x="28" y="318"/>
                </a:cubicBezTo>
                <a:cubicBezTo>
                  <a:pt x="23" y="316"/>
                  <a:pt x="21" y="311"/>
                  <a:pt x="22" y="306"/>
                </a:cubicBezTo>
                <a:cubicBezTo>
                  <a:pt x="61" y="170"/>
                  <a:pt x="61" y="170"/>
                  <a:pt x="61" y="170"/>
                </a:cubicBezTo>
                <a:cubicBezTo>
                  <a:pt x="11" y="170"/>
                  <a:pt x="11" y="170"/>
                  <a:pt x="11" y="170"/>
                </a:cubicBezTo>
                <a:cubicBezTo>
                  <a:pt x="8" y="170"/>
                  <a:pt x="4" y="169"/>
                  <a:pt x="2" y="166"/>
                </a:cubicBezTo>
                <a:cubicBezTo>
                  <a:pt x="0" y="163"/>
                  <a:pt x="0" y="159"/>
                  <a:pt x="2" y="155"/>
                </a:cubicBezTo>
                <a:cubicBezTo>
                  <a:pt x="66" y="6"/>
                  <a:pt x="66" y="6"/>
                  <a:pt x="66" y="6"/>
                </a:cubicBezTo>
                <a:cubicBezTo>
                  <a:pt x="67" y="2"/>
                  <a:pt x="71" y="0"/>
                  <a:pt x="75" y="0"/>
                </a:cubicBezTo>
                <a:cubicBezTo>
                  <a:pt x="182" y="0"/>
                  <a:pt x="182" y="0"/>
                  <a:pt x="182" y="0"/>
                </a:cubicBezTo>
                <a:cubicBezTo>
                  <a:pt x="186" y="0"/>
                  <a:pt x="189" y="1"/>
                  <a:pt x="191" y="5"/>
                </a:cubicBezTo>
                <a:cubicBezTo>
                  <a:pt x="193" y="8"/>
                  <a:pt x="193" y="11"/>
                  <a:pt x="192" y="15"/>
                </a:cubicBezTo>
                <a:cubicBezTo>
                  <a:pt x="156" y="96"/>
                  <a:pt x="156" y="96"/>
                  <a:pt x="156" y="96"/>
                </a:cubicBezTo>
                <a:cubicBezTo>
                  <a:pt x="214" y="96"/>
                  <a:pt x="214" y="96"/>
                  <a:pt x="214" y="96"/>
                </a:cubicBezTo>
                <a:cubicBezTo>
                  <a:pt x="218" y="96"/>
                  <a:pt x="222" y="98"/>
                  <a:pt x="224" y="102"/>
                </a:cubicBezTo>
                <a:cubicBezTo>
                  <a:pt x="225" y="106"/>
                  <a:pt x="225" y="110"/>
                  <a:pt x="222" y="113"/>
                </a:cubicBezTo>
                <a:cubicBezTo>
                  <a:pt x="41" y="316"/>
                  <a:pt x="41" y="316"/>
                  <a:pt x="41" y="316"/>
                </a:cubicBezTo>
                <a:cubicBezTo>
                  <a:pt x="39" y="318"/>
                  <a:pt x="36" y="320"/>
                  <a:pt x="33" y="320"/>
                </a:cubicBezTo>
                <a:close/>
                <a:moveTo>
                  <a:pt x="28" y="149"/>
                </a:moveTo>
                <a:cubicBezTo>
                  <a:pt x="75" y="149"/>
                  <a:pt x="75" y="149"/>
                  <a:pt x="75" y="149"/>
                </a:cubicBezTo>
                <a:cubicBezTo>
                  <a:pt x="79" y="149"/>
                  <a:pt x="82" y="151"/>
                  <a:pt x="84" y="153"/>
                </a:cubicBezTo>
                <a:cubicBezTo>
                  <a:pt x="86" y="156"/>
                  <a:pt x="87" y="159"/>
                  <a:pt x="86" y="163"/>
                </a:cubicBezTo>
                <a:cubicBezTo>
                  <a:pt x="56" y="267"/>
                  <a:pt x="56" y="267"/>
                  <a:pt x="56" y="267"/>
                </a:cubicBezTo>
                <a:cubicBezTo>
                  <a:pt x="190" y="117"/>
                  <a:pt x="190" y="117"/>
                  <a:pt x="190" y="117"/>
                </a:cubicBezTo>
                <a:cubicBezTo>
                  <a:pt x="139" y="117"/>
                  <a:pt x="139" y="117"/>
                  <a:pt x="139" y="117"/>
                </a:cubicBezTo>
                <a:cubicBezTo>
                  <a:pt x="136" y="117"/>
                  <a:pt x="132" y="115"/>
                  <a:pt x="130" y="112"/>
                </a:cubicBezTo>
                <a:cubicBezTo>
                  <a:pt x="128" y="109"/>
                  <a:pt x="128" y="105"/>
                  <a:pt x="130" y="102"/>
                </a:cubicBezTo>
                <a:cubicBezTo>
                  <a:pt x="166" y="21"/>
                  <a:pt x="166" y="21"/>
                  <a:pt x="166" y="21"/>
                </a:cubicBezTo>
                <a:cubicBezTo>
                  <a:pt x="82" y="21"/>
                  <a:pt x="82" y="21"/>
                  <a:pt x="82" y="21"/>
                </a:cubicBezTo>
                <a:lnTo>
                  <a:pt x="28" y="149"/>
                </a:lnTo>
                <a:close/>
              </a:path>
            </a:pathLst>
          </a:custGeom>
          <a:solidFill>
            <a:srgbClr val="FFCD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pic>
        <p:nvPicPr>
          <p:cNvPr id="122" name="Picture 1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125096" y="5857035"/>
            <a:ext cx="344263" cy="344263"/>
          </a:xfrm>
          <a:prstGeom prst="rect">
            <a:avLst/>
          </a:prstGeom>
        </p:spPr>
      </p:pic>
      <p:sp>
        <p:nvSpPr>
          <p:cNvPr id="123" name="Rounded Rectangle 122"/>
          <p:cNvSpPr/>
          <p:nvPr/>
        </p:nvSpPr>
        <p:spPr bwMode="gray">
          <a:xfrm>
            <a:off x="5908209" y="5854253"/>
            <a:ext cx="1727721" cy="366787"/>
          </a:xfrm>
          <a:prstGeom prst="roundRect">
            <a:avLst/>
          </a:prstGeom>
          <a:noFill/>
          <a:ln w="19050" algn="ctr">
            <a:solidFill>
              <a:srgbClr val="FFCD00"/>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pic>
        <p:nvPicPr>
          <p:cNvPr id="28" name="Picture 27"/>
          <p:cNvPicPr>
            <a:picLocks noChangeAspect="1"/>
          </p:cNvPicPr>
          <p:nvPr/>
        </p:nvPicPr>
        <p:blipFill>
          <a:blip r:embed="rId11"/>
          <a:stretch>
            <a:fillRect/>
          </a:stretch>
        </p:blipFill>
        <p:spPr>
          <a:xfrm>
            <a:off x="6170857" y="1000989"/>
            <a:ext cx="399150" cy="399150"/>
          </a:xfrm>
          <a:prstGeom prst="rect">
            <a:avLst/>
          </a:prstGeom>
        </p:spPr>
      </p:pic>
      <p:grpSp>
        <p:nvGrpSpPr>
          <p:cNvPr id="124" name="Group 123"/>
          <p:cNvGrpSpPr/>
          <p:nvPr/>
        </p:nvGrpSpPr>
        <p:grpSpPr>
          <a:xfrm>
            <a:off x="707784" y="6692562"/>
            <a:ext cx="9210401" cy="425939"/>
            <a:chOff x="372885" y="770034"/>
            <a:chExt cx="8352001" cy="386242"/>
          </a:xfrm>
        </p:grpSpPr>
        <p:pic>
          <p:nvPicPr>
            <p:cNvPr id="30" name="Picture 29"/>
            <p:cNvPicPr>
              <a:picLocks noChangeAspect="1"/>
            </p:cNvPicPr>
            <p:nvPr/>
          </p:nvPicPr>
          <p:blipFill>
            <a:blip r:embed="rId12"/>
            <a:stretch>
              <a:fillRect/>
            </a:stretch>
          </p:blipFill>
          <p:spPr>
            <a:xfrm>
              <a:off x="407935" y="770034"/>
              <a:ext cx="396141" cy="378917"/>
            </a:xfrm>
            <a:prstGeom prst="rect">
              <a:avLst/>
            </a:prstGeom>
          </p:spPr>
        </p:pic>
        <p:sp>
          <p:nvSpPr>
            <p:cNvPr id="25" name="Text Placeholder 14"/>
            <p:cNvSpPr txBox="1">
              <a:spLocks/>
            </p:cNvSpPr>
            <p:nvPr/>
          </p:nvSpPr>
          <p:spPr>
            <a:xfrm>
              <a:off x="372885" y="799089"/>
              <a:ext cx="8352001" cy="357187"/>
            </a:xfrm>
            <a:prstGeom prst="roundRect">
              <a:avLst/>
            </a:prstGeom>
            <a:ln>
              <a:solidFill>
                <a:schemeClr val="accent6"/>
              </a:solidFill>
            </a:ln>
          </p:spPr>
          <p:txBody>
            <a:bodyPr lIns="0" tIns="0" rIns="0" bIns="0"/>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586483"/>
              <a:r>
                <a:rPr lang="en-US" sz="1103" dirty="0"/>
                <a:t>Key Variables are used as independent time-series variables that can be referenced in the model (e.g. GDP, population, industrial output, population etc.)</a:t>
              </a:r>
            </a:p>
          </p:txBody>
        </p:sp>
      </p:grpSp>
      <p:sp>
        <p:nvSpPr>
          <p:cNvPr id="85"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LEAP Vocabulary – </a:t>
            </a:r>
            <a:r>
              <a:rPr lang="en-US" sz="2200" dirty="0"/>
              <a:t>Key Concepts for Building Data Structure</a:t>
            </a:r>
            <a:endParaRPr lang="en-US" sz="2200" b="1" dirty="0"/>
          </a:p>
        </p:txBody>
      </p:sp>
    </p:spTree>
    <p:extLst>
      <p:ext uri="{BB962C8B-B14F-4D97-AF65-F5344CB8AC3E}">
        <p14:creationId xmlns:p14="http://schemas.microsoft.com/office/powerpoint/2010/main" val="39319254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Rectangle 490"/>
          <p:cNvSpPr/>
          <p:nvPr/>
        </p:nvSpPr>
        <p:spPr bwMode="gray">
          <a:xfrm>
            <a:off x="3100801" y="3621959"/>
            <a:ext cx="6913908" cy="3472083"/>
          </a:xfrm>
          <a:prstGeom prst="rect">
            <a:avLst/>
          </a:prstGeom>
          <a:noFill/>
          <a:ln w="19050" algn="ctr">
            <a:solidFill>
              <a:schemeClr val="accent3"/>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419" name="Rectangle 418"/>
          <p:cNvSpPr/>
          <p:nvPr/>
        </p:nvSpPr>
        <p:spPr bwMode="gray">
          <a:xfrm>
            <a:off x="4960431" y="4119540"/>
            <a:ext cx="1477642" cy="462936"/>
          </a:xfrm>
          <a:prstGeom prst="rect">
            <a:avLst/>
          </a:prstGeom>
          <a:solidFill>
            <a:schemeClr val="accent6"/>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43" name="TextBox 142"/>
          <p:cNvSpPr txBox="1"/>
          <p:nvPr/>
        </p:nvSpPr>
        <p:spPr>
          <a:xfrm>
            <a:off x="673084" y="962098"/>
            <a:ext cx="9413216" cy="989661"/>
          </a:xfrm>
          <a:prstGeom prst="roundRect">
            <a:avLst/>
          </a:prstGeom>
          <a:solidFill>
            <a:schemeClr val="bg1">
              <a:lumMod val="95000"/>
            </a:schemeClr>
          </a:solidFill>
        </p:spPr>
        <p:txBody>
          <a:bodyPr wrap="square" lIns="39700" tIns="39700" rIns="39700" bIns="39700" rtlCol="0">
            <a:spAutoFit/>
          </a:bodyPr>
          <a:lstStyle/>
          <a:p>
            <a:pPr marL="315125" indent="-315125">
              <a:buFont typeface="Arial" panose="020B0604020202020204" pitchFamily="34" charset="0"/>
              <a:buChar char="•"/>
            </a:pPr>
            <a:r>
              <a:rPr lang="en-US" sz="1323" dirty="0">
                <a:solidFill>
                  <a:srgbClr val="313131"/>
                </a:solidFill>
              </a:rPr>
              <a:t>Starting </a:t>
            </a:r>
            <a:r>
              <a:rPr lang="en-US" sz="1323" dirty="0"/>
              <a:t>point of integrated energy analysis</a:t>
            </a:r>
          </a:p>
          <a:p>
            <a:pPr marL="315125" indent="-315125">
              <a:buFont typeface="Arial" panose="020B0604020202020204" pitchFamily="34" charset="0"/>
              <a:buChar char="•"/>
            </a:pPr>
            <a:r>
              <a:rPr lang="en-US" sz="1323" dirty="0"/>
              <a:t>Demand analysis is a disaggregated, end-use based approach for modeling the requirements for final energy consumption in an area</a:t>
            </a:r>
          </a:p>
          <a:p>
            <a:pPr marL="315125" indent="-315125">
              <a:buFont typeface="Arial" panose="020B0604020202020204" pitchFamily="34" charset="0"/>
              <a:buChar char="•"/>
            </a:pPr>
            <a:r>
              <a:rPr lang="en-US" sz="1323" dirty="0"/>
              <a:t>Demand data structure to be disaggregated into four levels: sectors, subsectors, end-uses and devices </a:t>
            </a:r>
          </a:p>
        </p:txBody>
      </p:sp>
      <p:sp>
        <p:nvSpPr>
          <p:cNvPr id="414" name="Rectangle 413"/>
          <p:cNvSpPr/>
          <p:nvPr/>
        </p:nvSpPr>
        <p:spPr bwMode="gray">
          <a:xfrm>
            <a:off x="3271928" y="6540611"/>
            <a:ext cx="1528031" cy="462936"/>
          </a:xfrm>
          <a:prstGeom prst="rect">
            <a:avLst/>
          </a:prstGeom>
          <a:solidFill>
            <a:schemeClr val="accent6"/>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grpSp>
        <p:nvGrpSpPr>
          <p:cNvPr id="328" name="Group 327"/>
          <p:cNvGrpSpPr/>
          <p:nvPr/>
        </p:nvGrpSpPr>
        <p:grpSpPr>
          <a:xfrm>
            <a:off x="3322013" y="6582365"/>
            <a:ext cx="1379209" cy="352329"/>
            <a:chOff x="2406018" y="5084899"/>
            <a:chExt cx="1250668" cy="319492"/>
          </a:xfrm>
        </p:grpSpPr>
        <p:sp>
          <p:nvSpPr>
            <p:cNvPr id="98" name="Rectangle 97"/>
            <p:cNvSpPr/>
            <p:nvPr/>
          </p:nvSpPr>
          <p:spPr bwMode="gray">
            <a:xfrm>
              <a:off x="2406018" y="5084899"/>
              <a:ext cx="1240422" cy="319492"/>
            </a:xfrm>
            <a:prstGeom prst="rect">
              <a:avLst/>
            </a:prstGeom>
            <a:solidFill>
              <a:schemeClr val="accent4"/>
            </a:solidFill>
            <a:ln w="38100" algn="ctr">
              <a:solidFill>
                <a:schemeClr val="bg1"/>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05" name="Freeform 261"/>
            <p:cNvSpPr>
              <a:spLocks noChangeAspect="1" noEditPoints="1"/>
            </p:cNvSpPr>
            <p:nvPr/>
          </p:nvSpPr>
          <p:spPr bwMode="auto">
            <a:xfrm>
              <a:off x="2483928" y="5147178"/>
              <a:ext cx="240410" cy="203273"/>
            </a:xfrm>
            <a:custGeom>
              <a:avLst/>
              <a:gdLst>
                <a:gd name="T0" fmla="*/ 104 w 104"/>
                <a:gd name="T1" fmla="*/ 28 h 88"/>
                <a:gd name="T2" fmla="*/ 94 w 104"/>
                <a:gd name="T3" fmla="*/ 28 h 88"/>
                <a:gd name="T4" fmla="*/ 90 w 104"/>
                <a:gd name="T5" fmla="*/ 8 h 88"/>
                <a:gd name="T6" fmla="*/ 80 w 104"/>
                <a:gd name="T7" fmla="*/ 0 h 88"/>
                <a:gd name="T8" fmla="*/ 24 w 104"/>
                <a:gd name="T9" fmla="*/ 0 h 88"/>
                <a:gd name="T10" fmla="*/ 14 w 104"/>
                <a:gd name="T11" fmla="*/ 8 h 88"/>
                <a:gd name="T12" fmla="*/ 10 w 104"/>
                <a:gd name="T13" fmla="*/ 28 h 88"/>
                <a:gd name="T14" fmla="*/ 0 w 104"/>
                <a:gd name="T15" fmla="*/ 28 h 88"/>
                <a:gd name="T16" fmla="*/ 0 w 104"/>
                <a:gd name="T17" fmla="*/ 36 h 88"/>
                <a:gd name="T18" fmla="*/ 6 w 104"/>
                <a:gd name="T19" fmla="*/ 36 h 88"/>
                <a:gd name="T20" fmla="*/ 4 w 104"/>
                <a:gd name="T21" fmla="*/ 40 h 88"/>
                <a:gd name="T22" fmla="*/ 4 w 104"/>
                <a:gd name="T23" fmla="*/ 48 h 88"/>
                <a:gd name="T24" fmla="*/ 4 w 104"/>
                <a:gd name="T25" fmla="*/ 54 h 88"/>
                <a:gd name="T26" fmla="*/ 4 w 104"/>
                <a:gd name="T27" fmla="*/ 68 h 88"/>
                <a:gd name="T28" fmla="*/ 4 w 104"/>
                <a:gd name="T29" fmla="*/ 72 h 88"/>
                <a:gd name="T30" fmla="*/ 4 w 104"/>
                <a:gd name="T31" fmla="*/ 88 h 88"/>
                <a:gd name="T32" fmla="*/ 16 w 104"/>
                <a:gd name="T33" fmla="*/ 88 h 88"/>
                <a:gd name="T34" fmla="*/ 16 w 104"/>
                <a:gd name="T35" fmla="*/ 80 h 88"/>
                <a:gd name="T36" fmla="*/ 88 w 104"/>
                <a:gd name="T37" fmla="*/ 80 h 88"/>
                <a:gd name="T38" fmla="*/ 88 w 104"/>
                <a:gd name="T39" fmla="*/ 88 h 88"/>
                <a:gd name="T40" fmla="*/ 100 w 104"/>
                <a:gd name="T41" fmla="*/ 88 h 88"/>
                <a:gd name="T42" fmla="*/ 100 w 104"/>
                <a:gd name="T43" fmla="*/ 72 h 88"/>
                <a:gd name="T44" fmla="*/ 100 w 104"/>
                <a:gd name="T45" fmla="*/ 68 h 88"/>
                <a:gd name="T46" fmla="*/ 100 w 104"/>
                <a:gd name="T47" fmla="*/ 60 h 88"/>
                <a:gd name="T48" fmla="*/ 100 w 104"/>
                <a:gd name="T49" fmla="*/ 54 h 88"/>
                <a:gd name="T50" fmla="*/ 100 w 104"/>
                <a:gd name="T51" fmla="*/ 48 h 88"/>
                <a:gd name="T52" fmla="*/ 100 w 104"/>
                <a:gd name="T53" fmla="*/ 40 h 88"/>
                <a:gd name="T54" fmla="*/ 98 w 104"/>
                <a:gd name="T55" fmla="*/ 36 h 88"/>
                <a:gd name="T56" fmla="*/ 104 w 104"/>
                <a:gd name="T57" fmla="*/ 36 h 88"/>
                <a:gd name="T58" fmla="*/ 104 w 104"/>
                <a:gd name="T59" fmla="*/ 28 h 88"/>
                <a:gd name="T60" fmla="*/ 22 w 104"/>
                <a:gd name="T61" fmla="*/ 9 h 88"/>
                <a:gd name="T62" fmla="*/ 24 w 104"/>
                <a:gd name="T63" fmla="*/ 8 h 88"/>
                <a:gd name="T64" fmla="*/ 80 w 104"/>
                <a:gd name="T65" fmla="*/ 8 h 88"/>
                <a:gd name="T66" fmla="*/ 82 w 104"/>
                <a:gd name="T67" fmla="*/ 9 h 88"/>
                <a:gd name="T68" fmla="*/ 86 w 104"/>
                <a:gd name="T69" fmla="*/ 28 h 88"/>
                <a:gd name="T70" fmla="*/ 18 w 104"/>
                <a:gd name="T71" fmla="*/ 28 h 88"/>
                <a:gd name="T72" fmla="*/ 22 w 104"/>
                <a:gd name="T73" fmla="*/ 9 h 88"/>
                <a:gd name="T74" fmla="*/ 24 w 104"/>
                <a:gd name="T75" fmla="*/ 56 h 88"/>
                <a:gd name="T76" fmla="*/ 12 w 104"/>
                <a:gd name="T77" fmla="*/ 56 h 88"/>
                <a:gd name="T78" fmla="*/ 8 w 104"/>
                <a:gd name="T79" fmla="*/ 52 h 88"/>
                <a:gd name="T80" fmla="*/ 8 w 104"/>
                <a:gd name="T81" fmla="*/ 44 h 88"/>
                <a:gd name="T82" fmla="*/ 24 w 104"/>
                <a:gd name="T83" fmla="*/ 48 h 88"/>
                <a:gd name="T84" fmla="*/ 24 w 104"/>
                <a:gd name="T85" fmla="*/ 56 h 88"/>
                <a:gd name="T86" fmla="*/ 68 w 104"/>
                <a:gd name="T87" fmla="*/ 72 h 88"/>
                <a:gd name="T88" fmla="*/ 36 w 104"/>
                <a:gd name="T89" fmla="*/ 72 h 88"/>
                <a:gd name="T90" fmla="*/ 36 w 104"/>
                <a:gd name="T91" fmla="*/ 64 h 88"/>
                <a:gd name="T92" fmla="*/ 68 w 104"/>
                <a:gd name="T93" fmla="*/ 64 h 88"/>
                <a:gd name="T94" fmla="*/ 68 w 104"/>
                <a:gd name="T95" fmla="*/ 72 h 88"/>
                <a:gd name="T96" fmla="*/ 96 w 104"/>
                <a:gd name="T97" fmla="*/ 52 h 88"/>
                <a:gd name="T98" fmla="*/ 92 w 104"/>
                <a:gd name="T99" fmla="*/ 56 h 88"/>
                <a:gd name="T100" fmla="*/ 80 w 104"/>
                <a:gd name="T101" fmla="*/ 56 h 88"/>
                <a:gd name="T102" fmla="*/ 80 w 104"/>
                <a:gd name="T103" fmla="*/ 48 h 88"/>
                <a:gd name="T104" fmla="*/ 96 w 104"/>
                <a:gd name="T105" fmla="*/ 44 h 88"/>
                <a:gd name="T106" fmla="*/ 96 w 104"/>
                <a:gd name="T107" fmla="*/ 5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4" h="88">
                  <a:moveTo>
                    <a:pt x="104" y="28"/>
                  </a:moveTo>
                  <a:cubicBezTo>
                    <a:pt x="94" y="28"/>
                    <a:pt x="94" y="28"/>
                    <a:pt x="94" y="28"/>
                  </a:cubicBezTo>
                  <a:cubicBezTo>
                    <a:pt x="90" y="8"/>
                    <a:pt x="90" y="8"/>
                    <a:pt x="90" y="8"/>
                  </a:cubicBezTo>
                  <a:cubicBezTo>
                    <a:pt x="89" y="4"/>
                    <a:pt x="84" y="0"/>
                    <a:pt x="80" y="0"/>
                  </a:cubicBezTo>
                  <a:cubicBezTo>
                    <a:pt x="24" y="0"/>
                    <a:pt x="24" y="0"/>
                    <a:pt x="24" y="0"/>
                  </a:cubicBezTo>
                  <a:cubicBezTo>
                    <a:pt x="20" y="0"/>
                    <a:pt x="15" y="4"/>
                    <a:pt x="14" y="8"/>
                  </a:cubicBezTo>
                  <a:cubicBezTo>
                    <a:pt x="10" y="28"/>
                    <a:pt x="10" y="28"/>
                    <a:pt x="10" y="28"/>
                  </a:cubicBezTo>
                  <a:cubicBezTo>
                    <a:pt x="0" y="28"/>
                    <a:pt x="0" y="28"/>
                    <a:pt x="0" y="28"/>
                  </a:cubicBezTo>
                  <a:cubicBezTo>
                    <a:pt x="0" y="36"/>
                    <a:pt x="0" y="36"/>
                    <a:pt x="0" y="36"/>
                  </a:cubicBezTo>
                  <a:cubicBezTo>
                    <a:pt x="6" y="36"/>
                    <a:pt x="6" y="36"/>
                    <a:pt x="6" y="36"/>
                  </a:cubicBezTo>
                  <a:cubicBezTo>
                    <a:pt x="4" y="40"/>
                    <a:pt x="4" y="40"/>
                    <a:pt x="4" y="40"/>
                  </a:cubicBezTo>
                  <a:cubicBezTo>
                    <a:pt x="4" y="48"/>
                    <a:pt x="4" y="48"/>
                    <a:pt x="4" y="48"/>
                  </a:cubicBezTo>
                  <a:cubicBezTo>
                    <a:pt x="4" y="54"/>
                    <a:pt x="4" y="54"/>
                    <a:pt x="4" y="54"/>
                  </a:cubicBezTo>
                  <a:cubicBezTo>
                    <a:pt x="4" y="68"/>
                    <a:pt x="4" y="68"/>
                    <a:pt x="4" y="68"/>
                  </a:cubicBezTo>
                  <a:cubicBezTo>
                    <a:pt x="4" y="72"/>
                    <a:pt x="4" y="72"/>
                    <a:pt x="4" y="72"/>
                  </a:cubicBezTo>
                  <a:cubicBezTo>
                    <a:pt x="4" y="88"/>
                    <a:pt x="4" y="88"/>
                    <a:pt x="4" y="88"/>
                  </a:cubicBezTo>
                  <a:cubicBezTo>
                    <a:pt x="16" y="88"/>
                    <a:pt x="16" y="88"/>
                    <a:pt x="16" y="88"/>
                  </a:cubicBezTo>
                  <a:cubicBezTo>
                    <a:pt x="16" y="80"/>
                    <a:pt x="16" y="80"/>
                    <a:pt x="16" y="80"/>
                  </a:cubicBezTo>
                  <a:cubicBezTo>
                    <a:pt x="88" y="80"/>
                    <a:pt x="88" y="80"/>
                    <a:pt x="88" y="80"/>
                  </a:cubicBezTo>
                  <a:cubicBezTo>
                    <a:pt x="88" y="88"/>
                    <a:pt x="88" y="88"/>
                    <a:pt x="88" y="88"/>
                  </a:cubicBezTo>
                  <a:cubicBezTo>
                    <a:pt x="100" y="88"/>
                    <a:pt x="100" y="88"/>
                    <a:pt x="100" y="88"/>
                  </a:cubicBezTo>
                  <a:cubicBezTo>
                    <a:pt x="100" y="72"/>
                    <a:pt x="100" y="72"/>
                    <a:pt x="100" y="72"/>
                  </a:cubicBezTo>
                  <a:cubicBezTo>
                    <a:pt x="100" y="68"/>
                    <a:pt x="100" y="68"/>
                    <a:pt x="100" y="68"/>
                  </a:cubicBezTo>
                  <a:cubicBezTo>
                    <a:pt x="100" y="60"/>
                    <a:pt x="100" y="60"/>
                    <a:pt x="100" y="60"/>
                  </a:cubicBezTo>
                  <a:cubicBezTo>
                    <a:pt x="100" y="54"/>
                    <a:pt x="100" y="54"/>
                    <a:pt x="100" y="54"/>
                  </a:cubicBezTo>
                  <a:cubicBezTo>
                    <a:pt x="100" y="48"/>
                    <a:pt x="100" y="48"/>
                    <a:pt x="100" y="48"/>
                  </a:cubicBezTo>
                  <a:cubicBezTo>
                    <a:pt x="100" y="40"/>
                    <a:pt x="100" y="40"/>
                    <a:pt x="100" y="40"/>
                  </a:cubicBezTo>
                  <a:cubicBezTo>
                    <a:pt x="98" y="36"/>
                    <a:pt x="98" y="36"/>
                    <a:pt x="98" y="36"/>
                  </a:cubicBezTo>
                  <a:cubicBezTo>
                    <a:pt x="104" y="36"/>
                    <a:pt x="104" y="36"/>
                    <a:pt x="104" y="36"/>
                  </a:cubicBezTo>
                  <a:cubicBezTo>
                    <a:pt x="104" y="28"/>
                    <a:pt x="104" y="28"/>
                    <a:pt x="104" y="28"/>
                  </a:cubicBezTo>
                  <a:moveTo>
                    <a:pt x="22" y="9"/>
                  </a:moveTo>
                  <a:cubicBezTo>
                    <a:pt x="22" y="9"/>
                    <a:pt x="23" y="8"/>
                    <a:pt x="24" y="8"/>
                  </a:cubicBezTo>
                  <a:cubicBezTo>
                    <a:pt x="80" y="8"/>
                    <a:pt x="80" y="8"/>
                    <a:pt x="80" y="8"/>
                  </a:cubicBezTo>
                  <a:cubicBezTo>
                    <a:pt x="81" y="8"/>
                    <a:pt x="82" y="9"/>
                    <a:pt x="82" y="9"/>
                  </a:cubicBezTo>
                  <a:cubicBezTo>
                    <a:pt x="86" y="28"/>
                    <a:pt x="86" y="28"/>
                    <a:pt x="86" y="28"/>
                  </a:cubicBezTo>
                  <a:cubicBezTo>
                    <a:pt x="18" y="28"/>
                    <a:pt x="18" y="28"/>
                    <a:pt x="18" y="28"/>
                  </a:cubicBezTo>
                  <a:cubicBezTo>
                    <a:pt x="22" y="9"/>
                    <a:pt x="22" y="9"/>
                    <a:pt x="22" y="9"/>
                  </a:cubicBezTo>
                  <a:moveTo>
                    <a:pt x="24" y="56"/>
                  </a:moveTo>
                  <a:cubicBezTo>
                    <a:pt x="12" y="56"/>
                    <a:pt x="12" y="56"/>
                    <a:pt x="12" y="56"/>
                  </a:cubicBezTo>
                  <a:cubicBezTo>
                    <a:pt x="8" y="52"/>
                    <a:pt x="8" y="52"/>
                    <a:pt x="8" y="52"/>
                  </a:cubicBezTo>
                  <a:cubicBezTo>
                    <a:pt x="8" y="44"/>
                    <a:pt x="8" y="44"/>
                    <a:pt x="8" y="44"/>
                  </a:cubicBezTo>
                  <a:cubicBezTo>
                    <a:pt x="24" y="48"/>
                    <a:pt x="24" y="48"/>
                    <a:pt x="24" y="48"/>
                  </a:cubicBezTo>
                  <a:cubicBezTo>
                    <a:pt x="24" y="56"/>
                    <a:pt x="24" y="56"/>
                    <a:pt x="24" y="56"/>
                  </a:cubicBezTo>
                  <a:moveTo>
                    <a:pt x="68" y="72"/>
                  </a:moveTo>
                  <a:cubicBezTo>
                    <a:pt x="36" y="72"/>
                    <a:pt x="36" y="72"/>
                    <a:pt x="36" y="72"/>
                  </a:cubicBezTo>
                  <a:cubicBezTo>
                    <a:pt x="36" y="64"/>
                    <a:pt x="36" y="64"/>
                    <a:pt x="36" y="64"/>
                  </a:cubicBezTo>
                  <a:cubicBezTo>
                    <a:pt x="68" y="64"/>
                    <a:pt x="68" y="64"/>
                    <a:pt x="68" y="64"/>
                  </a:cubicBezTo>
                  <a:cubicBezTo>
                    <a:pt x="68" y="72"/>
                    <a:pt x="68" y="72"/>
                    <a:pt x="68" y="72"/>
                  </a:cubicBezTo>
                  <a:moveTo>
                    <a:pt x="96" y="52"/>
                  </a:moveTo>
                  <a:cubicBezTo>
                    <a:pt x="92" y="56"/>
                    <a:pt x="92" y="56"/>
                    <a:pt x="92" y="56"/>
                  </a:cubicBezTo>
                  <a:cubicBezTo>
                    <a:pt x="80" y="56"/>
                    <a:pt x="80" y="56"/>
                    <a:pt x="80" y="56"/>
                  </a:cubicBezTo>
                  <a:cubicBezTo>
                    <a:pt x="80" y="48"/>
                    <a:pt x="80" y="48"/>
                    <a:pt x="80" y="48"/>
                  </a:cubicBezTo>
                  <a:cubicBezTo>
                    <a:pt x="96" y="44"/>
                    <a:pt x="96" y="44"/>
                    <a:pt x="96" y="44"/>
                  </a:cubicBezTo>
                  <a:cubicBezTo>
                    <a:pt x="96" y="52"/>
                    <a:pt x="96" y="52"/>
                    <a:pt x="96" y="52"/>
                  </a:cubicBezTo>
                </a:path>
              </a:pathLst>
            </a:custGeom>
            <a:solidFill>
              <a:schemeClr val="bg1"/>
            </a:solidFill>
            <a:ln>
              <a:noFill/>
            </a:ln>
          </p:spPr>
          <p:txBody>
            <a:bodyPr vert="horz" wrap="square" lIns="100838" tIns="50419" rIns="100838" bIns="50419" numCol="1" anchor="t" anchorCtr="0" compatLnSpc="1">
              <a:prstTxWarp prst="textNoShape">
                <a:avLst/>
              </a:prstTxWarp>
            </a:bodyPr>
            <a:lstStyle/>
            <a:p>
              <a:endParaRPr lang="en-US" sz="1103" dirty="0">
                <a:solidFill>
                  <a:schemeClr val="bg1"/>
                </a:solidFill>
                <a:latin typeface="Calibri"/>
                <a:sym typeface="Calibri"/>
              </a:endParaRPr>
            </a:p>
          </p:txBody>
        </p:sp>
        <p:sp>
          <p:nvSpPr>
            <p:cNvPr id="106" name="Rectangle 105"/>
            <p:cNvSpPr/>
            <p:nvPr/>
          </p:nvSpPr>
          <p:spPr bwMode="gray">
            <a:xfrm>
              <a:off x="2713214" y="5125694"/>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Transport</a:t>
              </a:r>
            </a:p>
          </p:txBody>
        </p:sp>
      </p:grpSp>
      <p:grpSp>
        <p:nvGrpSpPr>
          <p:cNvPr id="329" name="Group 328"/>
          <p:cNvGrpSpPr/>
          <p:nvPr/>
        </p:nvGrpSpPr>
        <p:grpSpPr>
          <a:xfrm>
            <a:off x="3322014" y="6177505"/>
            <a:ext cx="1368270" cy="352329"/>
            <a:chOff x="2406018" y="4710949"/>
            <a:chExt cx="1240749" cy="319492"/>
          </a:xfrm>
        </p:grpSpPr>
        <p:sp>
          <p:nvSpPr>
            <p:cNvPr id="99" name="Rectangle 98"/>
            <p:cNvSpPr/>
            <p:nvPr/>
          </p:nvSpPr>
          <p:spPr bwMode="gray">
            <a:xfrm>
              <a:off x="2406018" y="4710949"/>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07" name="Freeform 108"/>
            <p:cNvSpPr>
              <a:spLocks noChangeAspect="1" noEditPoints="1"/>
            </p:cNvSpPr>
            <p:nvPr/>
          </p:nvSpPr>
          <p:spPr bwMode="auto">
            <a:xfrm>
              <a:off x="2527210" y="4769091"/>
              <a:ext cx="134380" cy="186641"/>
            </a:xfrm>
            <a:custGeom>
              <a:avLst/>
              <a:gdLst>
                <a:gd name="T0" fmla="*/ 186 w 201"/>
                <a:gd name="T1" fmla="*/ 28 h 487"/>
                <a:gd name="T2" fmla="*/ 127 w 201"/>
                <a:gd name="T3" fmla="*/ 0 h 487"/>
                <a:gd name="T4" fmla="*/ 14 w 201"/>
                <a:gd name="T5" fmla="*/ 14 h 487"/>
                <a:gd name="T6" fmla="*/ 19 w 201"/>
                <a:gd name="T7" fmla="*/ 456 h 487"/>
                <a:gd name="T8" fmla="*/ 201 w 201"/>
                <a:gd name="T9" fmla="*/ 487 h 487"/>
                <a:gd name="T10" fmla="*/ 71 w 201"/>
                <a:gd name="T11" fmla="*/ 456 h 487"/>
                <a:gd name="T12" fmla="*/ 71 w 201"/>
                <a:gd name="T13" fmla="*/ 425 h 487"/>
                <a:gd name="T14" fmla="*/ 45 w 201"/>
                <a:gd name="T15" fmla="*/ 409 h 487"/>
                <a:gd name="T16" fmla="*/ 71 w 201"/>
                <a:gd name="T17" fmla="*/ 409 h 487"/>
                <a:gd name="T18" fmla="*/ 45 w 201"/>
                <a:gd name="T19" fmla="*/ 331 h 487"/>
                <a:gd name="T20" fmla="*/ 71 w 201"/>
                <a:gd name="T21" fmla="*/ 314 h 487"/>
                <a:gd name="T22" fmla="*/ 71 w 201"/>
                <a:gd name="T23" fmla="*/ 283 h 487"/>
                <a:gd name="T24" fmla="*/ 45 w 201"/>
                <a:gd name="T25" fmla="*/ 267 h 487"/>
                <a:gd name="T26" fmla="*/ 71 w 201"/>
                <a:gd name="T27" fmla="*/ 267 h 487"/>
                <a:gd name="T28" fmla="*/ 45 w 201"/>
                <a:gd name="T29" fmla="*/ 189 h 487"/>
                <a:gd name="T30" fmla="*/ 71 w 201"/>
                <a:gd name="T31" fmla="*/ 170 h 487"/>
                <a:gd name="T32" fmla="*/ 71 w 201"/>
                <a:gd name="T33" fmla="*/ 142 h 487"/>
                <a:gd name="T34" fmla="*/ 45 w 201"/>
                <a:gd name="T35" fmla="*/ 123 h 487"/>
                <a:gd name="T36" fmla="*/ 71 w 201"/>
                <a:gd name="T37" fmla="*/ 123 h 487"/>
                <a:gd name="T38" fmla="*/ 45 w 201"/>
                <a:gd name="T39" fmla="*/ 45 h 487"/>
                <a:gd name="T40" fmla="*/ 113 w 201"/>
                <a:gd name="T41" fmla="*/ 456 h 487"/>
                <a:gd name="T42" fmla="*/ 113 w 201"/>
                <a:gd name="T43" fmla="*/ 425 h 487"/>
                <a:gd name="T44" fmla="*/ 87 w 201"/>
                <a:gd name="T45" fmla="*/ 409 h 487"/>
                <a:gd name="T46" fmla="*/ 113 w 201"/>
                <a:gd name="T47" fmla="*/ 409 h 487"/>
                <a:gd name="T48" fmla="*/ 87 w 201"/>
                <a:gd name="T49" fmla="*/ 331 h 487"/>
                <a:gd name="T50" fmla="*/ 113 w 201"/>
                <a:gd name="T51" fmla="*/ 314 h 487"/>
                <a:gd name="T52" fmla="*/ 113 w 201"/>
                <a:gd name="T53" fmla="*/ 283 h 487"/>
                <a:gd name="T54" fmla="*/ 87 w 201"/>
                <a:gd name="T55" fmla="*/ 267 h 487"/>
                <a:gd name="T56" fmla="*/ 113 w 201"/>
                <a:gd name="T57" fmla="*/ 267 h 487"/>
                <a:gd name="T58" fmla="*/ 87 w 201"/>
                <a:gd name="T59" fmla="*/ 189 h 487"/>
                <a:gd name="T60" fmla="*/ 113 w 201"/>
                <a:gd name="T61" fmla="*/ 170 h 487"/>
                <a:gd name="T62" fmla="*/ 113 w 201"/>
                <a:gd name="T63" fmla="*/ 142 h 487"/>
                <a:gd name="T64" fmla="*/ 87 w 201"/>
                <a:gd name="T65" fmla="*/ 123 h 487"/>
                <a:gd name="T66" fmla="*/ 113 w 201"/>
                <a:gd name="T67" fmla="*/ 123 h 487"/>
                <a:gd name="T68" fmla="*/ 87 w 201"/>
                <a:gd name="T69" fmla="*/ 45 h 487"/>
                <a:gd name="T70" fmla="*/ 156 w 201"/>
                <a:gd name="T71" fmla="*/ 456 h 487"/>
                <a:gd name="T72" fmla="*/ 156 w 201"/>
                <a:gd name="T73" fmla="*/ 425 h 487"/>
                <a:gd name="T74" fmla="*/ 130 w 201"/>
                <a:gd name="T75" fmla="*/ 409 h 487"/>
                <a:gd name="T76" fmla="*/ 156 w 201"/>
                <a:gd name="T77" fmla="*/ 409 h 487"/>
                <a:gd name="T78" fmla="*/ 130 w 201"/>
                <a:gd name="T79" fmla="*/ 331 h 487"/>
                <a:gd name="T80" fmla="*/ 156 w 201"/>
                <a:gd name="T81" fmla="*/ 314 h 487"/>
                <a:gd name="T82" fmla="*/ 156 w 201"/>
                <a:gd name="T83" fmla="*/ 283 h 487"/>
                <a:gd name="T84" fmla="*/ 130 w 201"/>
                <a:gd name="T85" fmla="*/ 267 h 487"/>
                <a:gd name="T86" fmla="*/ 156 w 201"/>
                <a:gd name="T87" fmla="*/ 267 h 487"/>
                <a:gd name="T88" fmla="*/ 130 w 201"/>
                <a:gd name="T89" fmla="*/ 189 h 487"/>
                <a:gd name="T90" fmla="*/ 156 w 201"/>
                <a:gd name="T91" fmla="*/ 170 h 487"/>
                <a:gd name="T92" fmla="*/ 156 w 201"/>
                <a:gd name="T93" fmla="*/ 142 h 487"/>
                <a:gd name="T94" fmla="*/ 130 w 201"/>
                <a:gd name="T95" fmla="*/ 123 h 487"/>
                <a:gd name="T96" fmla="*/ 156 w 201"/>
                <a:gd name="T97" fmla="*/ 123 h 487"/>
                <a:gd name="T98" fmla="*/ 130 w 201"/>
                <a:gd name="T99" fmla="*/ 4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 h="487">
                  <a:moveTo>
                    <a:pt x="182" y="456"/>
                  </a:moveTo>
                  <a:lnTo>
                    <a:pt x="182" y="28"/>
                  </a:lnTo>
                  <a:lnTo>
                    <a:pt x="186" y="28"/>
                  </a:lnTo>
                  <a:lnTo>
                    <a:pt x="186" y="14"/>
                  </a:lnTo>
                  <a:lnTo>
                    <a:pt x="127" y="14"/>
                  </a:lnTo>
                  <a:lnTo>
                    <a:pt x="127" y="0"/>
                  </a:lnTo>
                  <a:lnTo>
                    <a:pt x="40" y="0"/>
                  </a:lnTo>
                  <a:lnTo>
                    <a:pt x="40" y="14"/>
                  </a:lnTo>
                  <a:lnTo>
                    <a:pt x="14" y="14"/>
                  </a:lnTo>
                  <a:lnTo>
                    <a:pt x="14" y="28"/>
                  </a:lnTo>
                  <a:lnTo>
                    <a:pt x="19" y="28"/>
                  </a:lnTo>
                  <a:lnTo>
                    <a:pt x="19" y="456"/>
                  </a:lnTo>
                  <a:lnTo>
                    <a:pt x="0" y="456"/>
                  </a:lnTo>
                  <a:lnTo>
                    <a:pt x="0" y="487"/>
                  </a:lnTo>
                  <a:lnTo>
                    <a:pt x="201" y="487"/>
                  </a:lnTo>
                  <a:lnTo>
                    <a:pt x="201" y="456"/>
                  </a:lnTo>
                  <a:lnTo>
                    <a:pt x="182" y="456"/>
                  </a:lnTo>
                  <a:close/>
                  <a:moveTo>
                    <a:pt x="71" y="456"/>
                  </a:moveTo>
                  <a:lnTo>
                    <a:pt x="45" y="456"/>
                  </a:lnTo>
                  <a:lnTo>
                    <a:pt x="45" y="425"/>
                  </a:lnTo>
                  <a:lnTo>
                    <a:pt x="71" y="425"/>
                  </a:lnTo>
                  <a:lnTo>
                    <a:pt x="71" y="456"/>
                  </a:lnTo>
                  <a:close/>
                  <a:moveTo>
                    <a:pt x="71" y="409"/>
                  </a:moveTo>
                  <a:lnTo>
                    <a:pt x="45" y="409"/>
                  </a:lnTo>
                  <a:lnTo>
                    <a:pt x="45" y="378"/>
                  </a:lnTo>
                  <a:lnTo>
                    <a:pt x="71" y="378"/>
                  </a:lnTo>
                  <a:lnTo>
                    <a:pt x="71" y="409"/>
                  </a:lnTo>
                  <a:close/>
                  <a:moveTo>
                    <a:pt x="71" y="361"/>
                  </a:moveTo>
                  <a:lnTo>
                    <a:pt x="45" y="361"/>
                  </a:lnTo>
                  <a:lnTo>
                    <a:pt x="45" y="331"/>
                  </a:lnTo>
                  <a:lnTo>
                    <a:pt x="71" y="331"/>
                  </a:lnTo>
                  <a:lnTo>
                    <a:pt x="71" y="361"/>
                  </a:lnTo>
                  <a:close/>
                  <a:moveTo>
                    <a:pt x="71" y="314"/>
                  </a:moveTo>
                  <a:lnTo>
                    <a:pt x="45" y="314"/>
                  </a:lnTo>
                  <a:lnTo>
                    <a:pt x="45" y="283"/>
                  </a:lnTo>
                  <a:lnTo>
                    <a:pt x="71" y="283"/>
                  </a:lnTo>
                  <a:lnTo>
                    <a:pt x="71" y="314"/>
                  </a:lnTo>
                  <a:close/>
                  <a:moveTo>
                    <a:pt x="71" y="267"/>
                  </a:moveTo>
                  <a:lnTo>
                    <a:pt x="45" y="267"/>
                  </a:lnTo>
                  <a:lnTo>
                    <a:pt x="45" y="236"/>
                  </a:lnTo>
                  <a:lnTo>
                    <a:pt x="71" y="236"/>
                  </a:lnTo>
                  <a:lnTo>
                    <a:pt x="71" y="267"/>
                  </a:lnTo>
                  <a:close/>
                  <a:moveTo>
                    <a:pt x="71" y="220"/>
                  </a:moveTo>
                  <a:lnTo>
                    <a:pt x="45" y="220"/>
                  </a:lnTo>
                  <a:lnTo>
                    <a:pt x="45" y="189"/>
                  </a:lnTo>
                  <a:lnTo>
                    <a:pt x="71" y="189"/>
                  </a:lnTo>
                  <a:lnTo>
                    <a:pt x="71" y="220"/>
                  </a:lnTo>
                  <a:close/>
                  <a:moveTo>
                    <a:pt x="71" y="170"/>
                  </a:moveTo>
                  <a:lnTo>
                    <a:pt x="45" y="170"/>
                  </a:lnTo>
                  <a:lnTo>
                    <a:pt x="45" y="142"/>
                  </a:lnTo>
                  <a:lnTo>
                    <a:pt x="71" y="142"/>
                  </a:lnTo>
                  <a:lnTo>
                    <a:pt x="71" y="170"/>
                  </a:lnTo>
                  <a:close/>
                  <a:moveTo>
                    <a:pt x="71" y="123"/>
                  </a:moveTo>
                  <a:lnTo>
                    <a:pt x="45" y="123"/>
                  </a:lnTo>
                  <a:lnTo>
                    <a:pt x="45" y="92"/>
                  </a:lnTo>
                  <a:lnTo>
                    <a:pt x="71" y="92"/>
                  </a:lnTo>
                  <a:lnTo>
                    <a:pt x="71" y="123"/>
                  </a:lnTo>
                  <a:close/>
                  <a:moveTo>
                    <a:pt x="71" y="76"/>
                  </a:moveTo>
                  <a:lnTo>
                    <a:pt x="45" y="76"/>
                  </a:lnTo>
                  <a:lnTo>
                    <a:pt x="45" y="45"/>
                  </a:lnTo>
                  <a:lnTo>
                    <a:pt x="71" y="45"/>
                  </a:lnTo>
                  <a:lnTo>
                    <a:pt x="71" y="76"/>
                  </a:lnTo>
                  <a:close/>
                  <a:moveTo>
                    <a:pt x="113" y="456"/>
                  </a:moveTo>
                  <a:lnTo>
                    <a:pt x="87" y="456"/>
                  </a:lnTo>
                  <a:lnTo>
                    <a:pt x="87" y="425"/>
                  </a:lnTo>
                  <a:lnTo>
                    <a:pt x="113" y="425"/>
                  </a:lnTo>
                  <a:lnTo>
                    <a:pt x="113" y="456"/>
                  </a:lnTo>
                  <a:close/>
                  <a:moveTo>
                    <a:pt x="113" y="409"/>
                  </a:moveTo>
                  <a:lnTo>
                    <a:pt x="87" y="409"/>
                  </a:lnTo>
                  <a:lnTo>
                    <a:pt x="87" y="378"/>
                  </a:lnTo>
                  <a:lnTo>
                    <a:pt x="113" y="378"/>
                  </a:lnTo>
                  <a:lnTo>
                    <a:pt x="113" y="409"/>
                  </a:lnTo>
                  <a:close/>
                  <a:moveTo>
                    <a:pt x="113" y="361"/>
                  </a:moveTo>
                  <a:lnTo>
                    <a:pt x="87" y="361"/>
                  </a:lnTo>
                  <a:lnTo>
                    <a:pt x="87" y="331"/>
                  </a:lnTo>
                  <a:lnTo>
                    <a:pt x="113" y="331"/>
                  </a:lnTo>
                  <a:lnTo>
                    <a:pt x="113" y="361"/>
                  </a:lnTo>
                  <a:close/>
                  <a:moveTo>
                    <a:pt x="113" y="314"/>
                  </a:moveTo>
                  <a:lnTo>
                    <a:pt x="87" y="314"/>
                  </a:lnTo>
                  <a:lnTo>
                    <a:pt x="87" y="283"/>
                  </a:lnTo>
                  <a:lnTo>
                    <a:pt x="113" y="283"/>
                  </a:lnTo>
                  <a:lnTo>
                    <a:pt x="113" y="314"/>
                  </a:lnTo>
                  <a:close/>
                  <a:moveTo>
                    <a:pt x="113" y="267"/>
                  </a:moveTo>
                  <a:lnTo>
                    <a:pt x="87" y="267"/>
                  </a:lnTo>
                  <a:lnTo>
                    <a:pt x="87" y="236"/>
                  </a:lnTo>
                  <a:lnTo>
                    <a:pt x="113" y="236"/>
                  </a:lnTo>
                  <a:lnTo>
                    <a:pt x="113" y="267"/>
                  </a:lnTo>
                  <a:close/>
                  <a:moveTo>
                    <a:pt x="113" y="220"/>
                  </a:moveTo>
                  <a:lnTo>
                    <a:pt x="87" y="220"/>
                  </a:lnTo>
                  <a:lnTo>
                    <a:pt x="87" y="189"/>
                  </a:lnTo>
                  <a:lnTo>
                    <a:pt x="113" y="189"/>
                  </a:lnTo>
                  <a:lnTo>
                    <a:pt x="113" y="220"/>
                  </a:lnTo>
                  <a:close/>
                  <a:moveTo>
                    <a:pt x="113" y="170"/>
                  </a:moveTo>
                  <a:lnTo>
                    <a:pt x="87" y="170"/>
                  </a:lnTo>
                  <a:lnTo>
                    <a:pt x="87" y="142"/>
                  </a:lnTo>
                  <a:lnTo>
                    <a:pt x="113" y="142"/>
                  </a:lnTo>
                  <a:lnTo>
                    <a:pt x="113" y="170"/>
                  </a:lnTo>
                  <a:close/>
                  <a:moveTo>
                    <a:pt x="113" y="123"/>
                  </a:moveTo>
                  <a:lnTo>
                    <a:pt x="87" y="123"/>
                  </a:lnTo>
                  <a:lnTo>
                    <a:pt x="87" y="92"/>
                  </a:lnTo>
                  <a:lnTo>
                    <a:pt x="113" y="92"/>
                  </a:lnTo>
                  <a:lnTo>
                    <a:pt x="113" y="123"/>
                  </a:lnTo>
                  <a:close/>
                  <a:moveTo>
                    <a:pt x="113" y="76"/>
                  </a:moveTo>
                  <a:lnTo>
                    <a:pt x="87" y="76"/>
                  </a:lnTo>
                  <a:lnTo>
                    <a:pt x="87" y="45"/>
                  </a:lnTo>
                  <a:lnTo>
                    <a:pt x="113" y="45"/>
                  </a:lnTo>
                  <a:lnTo>
                    <a:pt x="113" y="76"/>
                  </a:lnTo>
                  <a:close/>
                  <a:moveTo>
                    <a:pt x="156" y="456"/>
                  </a:moveTo>
                  <a:lnTo>
                    <a:pt x="130" y="456"/>
                  </a:lnTo>
                  <a:lnTo>
                    <a:pt x="130" y="425"/>
                  </a:lnTo>
                  <a:lnTo>
                    <a:pt x="156" y="425"/>
                  </a:lnTo>
                  <a:lnTo>
                    <a:pt x="156" y="456"/>
                  </a:lnTo>
                  <a:close/>
                  <a:moveTo>
                    <a:pt x="156" y="409"/>
                  </a:moveTo>
                  <a:lnTo>
                    <a:pt x="130" y="409"/>
                  </a:lnTo>
                  <a:lnTo>
                    <a:pt x="130" y="378"/>
                  </a:lnTo>
                  <a:lnTo>
                    <a:pt x="156" y="378"/>
                  </a:lnTo>
                  <a:lnTo>
                    <a:pt x="156" y="409"/>
                  </a:lnTo>
                  <a:close/>
                  <a:moveTo>
                    <a:pt x="156" y="361"/>
                  </a:moveTo>
                  <a:lnTo>
                    <a:pt x="130" y="361"/>
                  </a:lnTo>
                  <a:lnTo>
                    <a:pt x="130" y="331"/>
                  </a:lnTo>
                  <a:lnTo>
                    <a:pt x="156" y="331"/>
                  </a:lnTo>
                  <a:lnTo>
                    <a:pt x="156" y="361"/>
                  </a:lnTo>
                  <a:close/>
                  <a:moveTo>
                    <a:pt x="156" y="314"/>
                  </a:moveTo>
                  <a:lnTo>
                    <a:pt x="130" y="314"/>
                  </a:lnTo>
                  <a:lnTo>
                    <a:pt x="130" y="283"/>
                  </a:lnTo>
                  <a:lnTo>
                    <a:pt x="156" y="283"/>
                  </a:lnTo>
                  <a:lnTo>
                    <a:pt x="156" y="314"/>
                  </a:lnTo>
                  <a:close/>
                  <a:moveTo>
                    <a:pt x="156" y="267"/>
                  </a:moveTo>
                  <a:lnTo>
                    <a:pt x="130" y="267"/>
                  </a:lnTo>
                  <a:lnTo>
                    <a:pt x="130" y="236"/>
                  </a:lnTo>
                  <a:lnTo>
                    <a:pt x="156" y="236"/>
                  </a:lnTo>
                  <a:lnTo>
                    <a:pt x="156" y="267"/>
                  </a:lnTo>
                  <a:close/>
                  <a:moveTo>
                    <a:pt x="156" y="220"/>
                  </a:moveTo>
                  <a:lnTo>
                    <a:pt x="130" y="220"/>
                  </a:lnTo>
                  <a:lnTo>
                    <a:pt x="130" y="189"/>
                  </a:lnTo>
                  <a:lnTo>
                    <a:pt x="156" y="189"/>
                  </a:lnTo>
                  <a:lnTo>
                    <a:pt x="156" y="220"/>
                  </a:lnTo>
                  <a:close/>
                  <a:moveTo>
                    <a:pt x="156" y="170"/>
                  </a:moveTo>
                  <a:lnTo>
                    <a:pt x="130" y="170"/>
                  </a:lnTo>
                  <a:lnTo>
                    <a:pt x="130" y="142"/>
                  </a:lnTo>
                  <a:lnTo>
                    <a:pt x="156" y="142"/>
                  </a:lnTo>
                  <a:lnTo>
                    <a:pt x="156" y="170"/>
                  </a:lnTo>
                  <a:close/>
                  <a:moveTo>
                    <a:pt x="156" y="123"/>
                  </a:moveTo>
                  <a:lnTo>
                    <a:pt x="130" y="123"/>
                  </a:lnTo>
                  <a:lnTo>
                    <a:pt x="130" y="92"/>
                  </a:lnTo>
                  <a:lnTo>
                    <a:pt x="156" y="92"/>
                  </a:lnTo>
                  <a:lnTo>
                    <a:pt x="156" y="123"/>
                  </a:lnTo>
                  <a:close/>
                  <a:moveTo>
                    <a:pt x="156" y="76"/>
                  </a:moveTo>
                  <a:lnTo>
                    <a:pt x="130" y="76"/>
                  </a:lnTo>
                  <a:lnTo>
                    <a:pt x="130" y="45"/>
                  </a:lnTo>
                  <a:lnTo>
                    <a:pt x="156" y="45"/>
                  </a:lnTo>
                  <a:lnTo>
                    <a:pt x="156" y="76"/>
                  </a:lnTo>
                  <a:close/>
                </a:path>
              </a:pathLst>
            </a:custGeom>
            <a:solidFill>
              <a:schemeClr val="bg1"/>
            </a:solidFill>
            <a:ln>
              <a:noFill/>
            </a:ln>
          </p:spPr>
          <p:txBody>
            <a:bodyPr vert="horz" wrap="square" lIns="100838" tIns="50419" rIns="100838" bIns="50419" numCol="1" anchor="t" anchorCtr="0" compatLnSpc="1">
              <a:prstTxWarp prst="textNoShape">
                <a:avLst/>
              </a:prstTxWarp>
            </a:bodyPr>
            <a:lstStyle/>
            <a:p>
              <a:endParaRPr lang="en-US" sz="1103" dirty="0">
                <a:solidFill>
                  <a:schemeClr val="bg1"/>
                </a:solidFill>
                <a:latin typeface="Calibri"/>
                <a:sym typeface="Calibri"/>
              </a:endParaRPr>
            </a:p>
          </p:txBody>
        </p:sp>
        <p:sp>
          <p:nvSpPr>
            <p:cNvPr id="108" name="Rectangle 107"/>
            <p:cNvSpPr/>
            <p:nvPr/>
          </p:nvSpPr>
          <p:spPr bwMode="gray">
            <a:xfrm>
              <a:off x="2703295" y="4747397"/>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Buildings</a:t>
              </a:r>
            </a:p>
          </p:txBody>
        </p:sp>
      </p:grpSp>
      <p:sp>
        <p:nvSpPr>
          <p:cNvPr id="114" name="TextBox 113"/>
          <p:cNvSpPr txBox="1"/>
          <p:nvPr/>
        </p:nvSpPr>
        <p:spPr>
          <a:xfrm>
            <a:off x="3222041" y="3744136"/>
            <a:ext cx="1577918" cy="375564"/>
          </a:xfrm>
          <a:prstGeom prst="roundRect">
            <a:avLst/>
          </a:prstGeom>
          <a:solidFill>
            <a:schemeClr val="accent6">
              <a:lumMod val="50000"/>
            </a:schemeClr>
          </a:solidFill>
        </p:spPr>
        <p:txBody>
          <a:bodyPr wrap="square" lIns="0" tIns="0" rIns="0" bIns="0" rtlCol="0">
            <a:spAutoFit/>
          </a:bodyPr>
          <a:lstStyle/>
          <a:p>
            <a:pPr algn="ctr">
              <a:spcBef>
                <a:spcPts val="662"/>
              </a:spcBef>
              <a:buSzPct val="100000"/>
            </a:pPr>
            <a:r>
              <a:rPr lang="en-US" sz="1103" b="1" dirty="0">
                <a:solidFill>
                  <a:schemeClr val="bg1"/>
                </a:solidFill>
              </a:rPr>
              <a:t>Energy Consuming Sectors</a:t>
            </a:r>
          </a:p>
        </p:txBody>
      </p:sp>
      <p:grpSp>
        <p:nvGrpSpPr>
          <p:cNvPr id="334" name="Group 333"/>
          <p:cNvGrpSpPr/>
          <p:nvPr/>
        </p:nvGrpSpPr>
        <p:grpSpPr>
          <a:xfrm>
            <a:off x="3322013" y="4149431"/>
            <a:ext cx="1367910" cy="356117"/>
            <a:chOff x="2406018" y="2878712"/>
            <a:chExt cx="1240422" cy="322927"/>
          </a:xfrm>
        </p:grpSpPr>
        <p:sp>
          <p:nvSpPr>
            <p:cNvPr id="102" name="Rectangle 101"/>
            <p:cNvSpPr/>
            <p:nvPr/>
          </p:nvSpPr>
          <p:spPr bwMode="gray">
            <a:xfrm>
              <a:off x="2406018" y="2878712"/>
              <a:ext cx="1240422" cy="322927"/>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11" name="Rectangle 110"/>
            <p:cNvSpPr/>
            <p:nvPr/>
          </p:nvSpPr>
          <p:spPr bwMode="gray">
            <a:xfrm>
              <a:off x="2702968" y="2911492"/>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Industry</a:t>
              </a:r>
            </a:p>
          </p:txBody>
        </p:sp>
      </p:grpSp>
      <p:grpSp>
        <p:nvGrpSpPr>
          <p:cNvPr id="333" name="Group 332"/>
          <p:cNvGrpSpPr/>
          <p:nvPr/>
        </p:nvGrpSpPr>
        <p:grpSpPr>
          <a:xfrm>
            <a:off x="3322013" y="4558076"/>
            <a:ext cx="1383309" cy="352329"/>
            <a:chOff x="2406018" y="3247059"/>
            <a:chExt cx="1254386" cy="319492"/>
          </a:xfrm>
        </p:grpSpPr>
        <p:sp>
          <p:nvSpPr>
            <p:cNvPr id="101" name="Rectangle 100"/>
            <p:cNvSpPr/>
            <p:nvPr/>
          </p:nvSpPr>
          <p:spPr bwMode="gray">
            <a:xfrm>
              <a:off x="2406018" y="3247059"/>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10" name="Rectangle 109"/>
            <p:cNvSpPr/>
            <p:nvPr/>
          </p:nvSpPr>
          <p:spPr bwMode="gray">
            <a:xfrm>
              <a:off x="2716932" y="3290239"/>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Cooking</a:t>
              </a:r>
            </a:p>
          </p:txBody>
        </p:sp>
      </p:grpSp>
      <p:grpSp>
        <p:nvGrpSpPr>
          <p:cNvPr id="331" name="Group 330"/>
          <p:cNvGrpSpPr/>
          <p:nvPr/>
        </p:nvGrpSpPr>
        <p:grpSpPr>
          <a:xfrm>
            <a:off x="3322013" y="5367791"/>
            <a:ext cx="1383309" cy="352329"/>
            <a:chOff x="2406018" y="3984320"/>
            <a:chExt cx="1254386" cy="319492"/>
          </a:xfrm>
        </p:grpSpPr>
        <p:sp>
          <p:nvSpPr>
            <p:cNvPr id="103" name="Rectangle 102"/>
            <p:cNvSpPr/>
            <p:nvPr/>
          </p:nvSpPr>
          <p:spPr bwMode="gray">
            <a:xfrm>
              <a:off x="2406018" y="3984320"/>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12" name="Rectangle 111"/>
            <p:cNvSpPr/>
            <p:nvPr/>
          </p:nvSpPr>
          <p:spPr bwMode="gray">
            <a:xfrm>
              <a:off x="2716932" y="4019695"/>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Municipal</a:t>
              </a:r>
            </a:p>
          </p:txBody>
        </p:sp>
      </p:grpSp>
      <p:grpSp>
        <p:nvGrpSpPr>
          <p:cNvPr id="330" name="Group 329"/>
          <p:cNvGrpSpPr/>
          <p:nvPr/>
        </p:nvGrpSpPr>
        <p:grpSpPr>
          <a:xfrm>
            <a:off x="3322014" y="5772652"/>
            <a:ext cx="1372412" cy="352329"/>
            <a:chOff x="2406018" y="4347634"/>
            <a:chExt cx="1244505" cy="319492"/>
          </a:xfrm>
        </p:grpSpPr>
        <p:sp>
          <p:nvSpPr>
            <p:cNvPr id="100" name="Rectangle 99"/>
            <p:cNvSpPr/>
            <p:nvPr/>
          </p:nvSpPr>
          <p:spPr bwMode="gray">
            <a:xfrm>
              <a:off x="2406018" y="4347634"/>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09" name="Rectangle 108"/>
            <p:cNvSpPr/>
            <p:nvPr/>
          </p:nvSpPr>
          <p:spPr bwMode="gray">
            <a:xfrm>
              <a:off x="2707051" y="4372145"/>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Agriculture</a:t>
              </a:r>
              <a:endParaRPr lang="en-US" sz="1103" b="1" baseline="30000" dirty="0">
                <a:solidFill>
                  <a:schemeClr val="bg1"/>
                </a:solidFill>
                <a:latin typeface="+mj-lt"/>
              </a:endParaRPr>
            </a:p>
          </p:txBody>
        </p:sp>
      </p:grpSp>
      <p:grpSp>
        <p:nvGrpSpPr>
          <p:cNvPr id="332" name="Group 331"/>
          <p:cNvGrpSpPr/>
          <p:nvPr/>
        </p:nvGrpSpPr>
        <p:grpSpPr>
          <a:xfrm>
            <a:off x="3322013" y="4962933"/>
            <a:ext cx="1383309" cy="352329"/>
            <a:chOff x="2406018" y="3610373"/>
            <a:chExt cx="1254386" cy="319492"/>
          </a:xfrm>
        </p:grpSpPr>
        <p:sp>
          <p:nvSpPr>
            <p:cNvPr id="104" name="Rectangle 103"/>
            <p:cNvSpPr/>
            <p:nvPr/>
          </p:nvSpPr>
          <p:spPr bwMode="gray">
            <a:xfrm>
              <a:off x="2406018" y="3610373"/>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13" name="Rectangle 112"/>
            <p:cNvSpPr/>
            <p:nvPr/>
          </p:nvSpPr>
          <p:spPr bwMode="gray">
            <a:xfrm>
              <a:off x="2716932" y="3648825"/>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Telecom</a:t>
              </a:r>
            </a:p>
          </p:txBody>
        </p:sp>
      </p:grpSp>
      <p:sp>
        <p:nvSpPr>
          <p:cNvPr id="144" name="TextBox 143"/>
          <p:cNvSpPr txBox="1"/>
          <p:nvPr/>
        </p:nvSpPr>
        <p:spPr>
          <a:xfrm>
            <a:off x="4939979" y="3827264"/>
            <a:ext cx="1577918" cy="187782"/>
          </a:xfrm>
          <a:prstGeom prst="roundRect">
            <a:avLst/>
          </a:prstGeom>
          <a:solidFill>
            <a:schemeClr val="accent6">
              <a:lumMod val="50000"/>
            </a:schemeClr>
          </a:solidFill>
        </p:spPr>
        <p:txBody>
          <a:bodyPr wrap="square" lIns="0" tIns="0" rIns="0" bIns="0" rtlCol="0" anchor="ctr">
            <a:spAutoFit/>
          </a:bodyPr>
          <a:lstStyle/>
          <a:p>
            <a:pPr algn="ctr">
              <a:spcBef>
                <a:spcPts val="662"/>
              </a:spcBef>
              <a:buSzPct val="100000"/>
            </a:pPr>
            <a:r>
              <a:rPr lang="en-US" sz="1103" b="1" dirty="0">
                <a:solidFill>
                  <a:schemeClr val="bg1"/>
                </a:solidFill>
              </a:rPr>
              <a:t>Sub-Sectors</a:t>
            </a:r>
          </a:p>
        </p:txBody>
      </p:sp>
      <p:sp>
        <p:nvSpPr>
          <p:cNvPr id="154" name="Rectangle 153"/>
          <p:cNvSpPr/>
          <p:nvPr/>
        </p:nvSpPr>
        <p:spPr bwMode="gray">
          <a:xfrm>
            <a:off x="5008621" y="4164481"/>
            <a:ext cx="1370760" cy="358264"/>
          </a:xfrm>
          <a:prstGeom prst="rect">
            <a:avLst/>
          </a:prstGeom>
          <a:solidFill>
            <a:srgbClr val="2C5234"/>
          </a:solidFill>
          <a:ln w="38100" algn="ctr">
            <a:solidFill>
              <a:schemeClr val="bg1"/>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55" name="Freeform 261"/>
          <p:cNvSpPr>
            <a:spLocks noChangeAspect="1" noEditPoints="1"/>
          </p:cNvSpPr>
          <p:nvPr/>
        </p:nvSpPr>
        <p:spPr bwMode="auto">
          <a:xfrm>
            <a:off x="5109588" y="4207422"/>
            <a:ext cx="265119" cy="224165"/>
          </a:xfrm>
          <a:custGeom>
            <a:avLst/>
            <a:gdLst>
              <a:gd name="T0" fmla="*/ 104 w 104"/>
              <a:gd name="T1" fmla="*/ 28 h 88"/>
              <a:gd name="T2" fmla="*/ 94 w 104"/>
              <a:gd name="T3" fmla="*/ 28 h 88"/>
              <a:gd name="T4" fmla="*/ 90 w 104"/>
              <a:gd name="T5" fmla="*/ 8 h 88"/>
              <a:gd name="T6" fmla="*/ 80 w 104"/>
              <a:gd name="T7" fmla="*/ 0 h 88"/>
              <a:gd name="T8" fmla="*/ 24 w 104"/>
              <a:gd name="T9" fmla="*/ 0 h 88"/>
              <a:gd name="T10" fmla="*/ 14 w 104"/>
              <a:gd name="T11" fmla="*/ 8 h 88"/>
              <a:gd name="T12" fmla="*/ 10 w 104"/>
              <a:gd name="T13" fmla="*/ 28 h 88"/>
              <a:gd name="T14" fmla="*/ 0 w 104"/>
              <a:gd name="T15" fmla="*/ 28 h 88"/>
              <a:gd name="T16" fmla="*/ 0 w 104"/>
              <a:gd name="T17" fmla="*/ 36 h 88"/>
              <a:gd name="T18" fmla="*/ 6 w 104"/>
              <a:gd name="T19" fmla="*/ 36 h 88"/>
              <a:gd name="T20" fmla="*/ 4 w 104"/>
              <a:gd name="T21" fmla="*/ 40 h 88"/>
              <a:gd name="T22" fmla="*/ 4 w 104"/>
              <a:gd name="T23" fmla="*/ 48 h 88"/>
              <a:gd name="T24" fmla="*/ 4 w 104"/>
              <a:gd name="T25" fmla="*/ 54 h 88"/>
              <a:gd name="T26" fmla="*/ 4 w 104"/>
              <a:gd name="T27" fmla="*/ 68 h 88"/>
              <a:gd name="T28" fmla="*/ 4 w 104"/>
              <a:gd name="T29" fmla="*/ 72 h 88"/>
              <a:gd name="T30" fmla="*/ 4 w 104"/>
              <a:gd name="T31" fmla="*/ 88 h 88"/>
              <a:gd name="T32" fmla="*/ 16 w 104"/>
              <a:gd name="T33" fmla="*/ 88 h 88"/>
              <a:gd name="T34" fmla="*/ 16 w 104"/>
              <a:gd name="T35" fmla="*/ 80 h 88"/>
              <a:gd name="T36" fmla="*/ 88 w 104"/>
              <a:gd name="T37" fmla="*/ 80 h 88"/>
              <a:gd name="T38" fmla="*/ 88 w 104"/>
              <a:gd name="T39" fmla="*/ 88 h 88"/>
              <a:gd name="T40" fmla="*/ 100 w 104"/>
              <a:gd name="T41" fmla="*/ 88 h 88"/>
              <a:gd name="T42" fmla="*/ 100 w 104"/>
              <a:gd name="T43" fmla="*/ 72 h 88"/>
              <a:gd name="T44" fmla="*/ 100 w 104"/>
              <a:gd name="T45" fmla="*/ 68 h 88"/>
              <a:gd name="T46" fmla="*/ 100 w 104"/>
              <a:gd name="T47" fmla="*/ 60 h 88"/>
              <a:gd name="T48" fmla="*/ 100 w 104"/>
              <a:gd name="T49" fmla="*/ 54 h 88"/>
              <a:gd name="T50" fmla="*/ 100 w 104"/>
              <a:gd name="T51" fmla="*/ 48 h 88"/>
              <a:gd name="T52" fmla="*/ 100 w 104"/>
              <a:gd name="T53" fmla="*/ 40 h 88"/>
              <a:gd name="T54" fmla="*/ 98 w 104"/>
              <a:gd name="T55" fmla="*/ 36 h 88"/>
              <a:gd name="T56" fmla="*/ 104 w 104"/>
              <a:gd name="T57" fmla="*/ 36 h 88"/>
              <a:gd name="T58" fmla="*/ 104 w 104"/>
              <a:gd name="T59" fmla="*/ 28 h 88"/>
              <a:gd name="T60" fmla="*/ 22 w 104"/>
              <a:gd name="T61" fmla="*/ 9 h 88"/>
              <a:gd name="T62" fmla="*/ 24 w 104"/>
              <a:gd name="T63" fmla="*/ 8 h 88"/>
              <a:gd name="T64" fmla="*/ 80 w 104"/>
              <a:gd name="T65" fmla="*/ 8 h 88"/>
              <a:gd name="T66" fmla="*/ 82 w 104"/>
              <a:gd name="T67" fmla="*/ 9 h 88"/>
              <a:gd name="T68" fmla="*/ 86 w 104"/>
              <a:gd name="T69" fmla="*/ 28 h 88"/>
              <a:gd name="T70" fmla="*/ 18 w 104"/>
              <a:gd name="T71" fmla="*/ 28 h 88"/>
              <a:gd name="T72" fmla="*/ 22 w 104"/>
              <a:gd name="T73" fmla="*/ 9 h 88"/>
              <a:gd name="T74" fmla="*/ 24 w 104"/>
              <a:gd name="T75" fmla="*/ 56 h 88"/>
              <a:gd name="T76" fmla="*/ 12 w 104"/>
              <a:gd name="T77" fmla="*/ 56 h 88"/>
              <a:gd name="T78" fmla="*/ 8 w 104"/>
              <a:gd name="T79" fmla="*/ 52 h 88"/>
              <a:gd name="T80" fmla="*/ 8 w 104"/>
              <a:gd name="T81" fmla="*/ 44 h 88"/>
              <a:gd name="T82" fmla="*/ 24 w 104"/>
              <a:gd name="T83" fmla="*/ 48 h 88"/>
              <a:gd name="T84" fmla="*/ 24 w 104"/>
              <a:gd name="T85" fmla="*/ 56 h 88"/>
              <a:gd name="T86" fmla="*/ 68 w 104"/>
              <a:gd name="T87" fmla="*/ 72 h 88"/>
              <a:gd name="T88" fmla="*/ 36 w 104"/>
              <a:gd name="T89" fmla="*/ 72 h 88"/>
              <a:gd name="T90" fmla="*/ 36 w 104"/>
              <a:gd name="T91" fmla="*/ 64 h 88"/>
              <a:gd name="T92" fmla="*/ 68 w 104"/>
              <a:gd name="T93" fmla="*/ 64 h 88"/>
              <a:gd name="T94" fmla="*/ 68 w 104"/>
              <a:gd name="T95" fmla="*/ 72 h 88"/>
              <a:gd name="T96" fmla="*/ 96 w 104"/>
              <a:gd name="T97" fmla="*/ 52 h 88"/>
              <a:gd name="T98" fmla="*/ 92 w 104"/>
              <a:gd name="T99" fmla="*/ 56 h 88"/>
              <a:gd name="T100" fmla="*/ 80 w 104"/>
              <a:gd name="T101" fmla="*/ 56 h 88"/>
              <a:gd name="T102" fmla="*/ 80 w 104"/>
              <a:gd name="T103" fmla="*/ 48 h 88"/>
              <a:gd name="T104" fmla="*/ 96 w 104"/>
              <a:gd name="T105" fmla="*/ 44 h 88"/>
              <a:gd name="T106" fmla="*/ 96 w 104"/>
              <a:gd name="T107" fmla="*/ 5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4" h="88">
                <a:moveTo>
                  <a:pt x="104" y="28"/>
                </a:moveTo>
                <a:cubicBezTo>
                  <a:pt x="94" y="28"/>
                  <a:pt x="94" y="28"/>
                  <a:pt x="94" y="28"/>
                </a:cubicBezTo>
                <a:cubicBezTo>
                  <a:pt x="90" y="8"/>
                  <a:pt x="90" y="8"/>
                  <a:pt x="90" y="8"/>
                </a:cubicBezTo>
                <a:cubicBezTo>
                  <a:pt x="89" y="4"/>
                  <a:pt x="84" y="0"/>
                  <a:pt x="80" y="0"/>
                </a:cubicBezTo>
                <a:cubicBezTo>
                  <a:pt x="24" y="0"/>
                  <a:pt x="24" y="0"/>
                  <a:pt x="24" y="0"/>
                </a:cubicBezTo>
                <a:cubicBezTo>
                  <a:pt x="20" y="0"/>
                  <a:pt x="15" y="4"/>
                  <a:pt x="14" y="8"/>
                </a:cubicBezTo>
                <a:cubicBezTo>
                  <a:pt x="10" y="28"/>
                  <a:pt x="10" y="28"/>
                  <a:pt x="10" y="28"/>
                </a:cubicBezTo>
                <a:cubicBezTo>
                  <a:pt x="0" y="28"/>
                  <a:pt x="0" y="28"/>
                  <a:pt x="0" y="28"/>
                </a:cubicBezTo>
                <a:cubicBezTo>
                  <a:pt x="0" y="36"/>
                  <a:pt x="0" y="36"/>
                  <a:pt x="0" y="36"/>
                </a:cubicBezTo>
                <a:cubicBezTo>
                  <a:pt x="6" y="36"/>
                  <a:pt x="6" y="36"/>
                  <a:pt x="6" y="36"/>
                </a:cubicBezTo>
                <a:cubicBezTo>
                  <a:pt x="4" y="40"/>
                  <a:pt x="4" y="40"/>
                  <a:pt x="4" y="40"/>
                </a:cubicBezTo>
                <a:cubicBezTo>
                  <a:pt x="4" y="48"/>
                  <a:pt x="4" y="48"/>
                  <a:pt x="4" y="48"/>
                </a:cubicBezTo>
                <a:cubicBezTo>
                  <a:pt x="4" y="54"/>
                  <a:pt x="4" y="54"/>
                  <a:pt x="4" y="54"/>
                </a:cubicBezTo>
                <a:cubicBezTo>
                  <a:pt x="4" y="68"/>
                  <a:pt x="4" y="68"/>
                  <a:pt x="4" y="68"/>
                </a:cubicBezTo>
                <a:cubicBezTo>
                  <a:pt x="4" y="72"/>
                  <a:pt x="4" y="72"/>
                  <a:pt x="4" y="72"/>
                </a:cubicBezTo>
                <a:cubicBezTo>
                  <a:pt x="4" y="88"/>
                  <a:pt x="4" y="88"/>
                  <a:pt x="4" y="88"/>
                </a:cubicBezTo>
                <a:cubicBezTo>
                  <a:pt x="16" y="88"/>
                  <a:pt x="16" y="88"/>
                  <a:pt x="16" y="88"/>
                </a:cubicBezTo>
                <a:cubicBezTo>
                  <a:pt x="16" y="80"/>
                  <a:pt x="16" y="80"/>
                  <a:pt x="16" y="80"/>
                </a:cubicBezTo>
                <a:cubicBezTo>
                  <a:pt x="88" y="80"/>
                  <a:pt x="88" y="80"/>
                  <a:pt x="88" y="80"/>
                </a:cubicBezTo>
                <a:cubicBezTo>
                  <a:pt x="88" y="88"/>
                  <a:pt x="88" y="88"/>
                  <a:pt x="88" y="88"/>
                </a:cubicBezTo>
                <a:cubicBezTo>
                  <a:pt x="100" y="88"/>
                  <a:pt x="100" y="88"/>
                  <a:pt x="100" y="88"/>
                </a:cubicBezTo>
                <a:cubicBezTo>
                  <a:pt x="100" y="72"/>
                  <a:pt x="100" y="72"/>
                  <a:pt x="100" y="72"/>
                </a:cubicBezTo>
                <a:cubicBezTo>
                  <a:pt x="100" y="68"/>
                  <a:pt x="100" y="68"/>
                  <a:pt x="100" y="68"/>
                </a:cubicBezTo>
                <a:cubicBezTo>
                  <a:pt x="100" y="60"/>
                  <a:pt x="100" y="60"/>
                  <a:pt x="100" y="60"/>
                </a:cubicBezTo>
                <a:cubicBezTo>
                  <a:pt x="100" y="54"/>
                  <a:pt x="100" y="54"/>
                  <a:pt x="100" y="54"/>
                </a:cubicBezTo>
                <a:cubicBezTo>
                  <a:pt x="100" y="48"/>
                  <a:pt x="100" y="48"/>
                  <a:pt x="100" y="48"/>
                </a:cubicBezTo>
                <a:cubicBezTo>
                  <a:pt x="100" y="40"/>
                  <a:pt x="100" y="40"/>
                  <a:pt x="100" y="40"/>
                </a:cubicBezTo>
                <a:cubicBezTo>
                  <a:pt x="98" y="36"/>
                  <a:pt x="98" y="36"/>
                  <a:pt x="98" y="36"/>
                </a:cubicBezTo>
                <a:cubicBezTo>
                  <a:pt x="104" y="36"/>
                  <a:pt x="104" y="36"/>
                  <a:pt x="104" y="36"/>
                </a:cubicBezTo>
                <a:cubicBezTo>
                  <a:pt x="104" y="28"/>
                  <a:pt x="104" y="28"/>
                  <a:pt x="104" y="28"/>
                </a:cubicBezTo>
                <a:moveTo>
                  <a:pt x="22" y="9"/>
                </a:moveTo>
                <a:cubicBezTo>
                  <a:pt x="22" y="9"/>
                  <a:pt x="23" y="8"/>
                  <a:pt x="24" y="8"/>
                </a:cubicBezTo>
                <a:cubicBezTo>
                  <a:pt x="80" y="8"/>
                  <a:pt x="80" y="8"/>
                  <a:pt x="80" y="8"/>
                </a:cubicBezTo>
                <a:cubicBezTo>
                  <a:pt x="81" y="8"/>
                  <a:pt x="82" y="9"/>
                  <a:pt x="82" y="9"/>
                </a:cubicBezTo>
                <a:cubicBezTo>
                  <a:pt x="86" y="28"/>
                  <a:pt x="86" y="28"/>
                  <a:pt x="86" y="28"/>
                </a:cubicBezTo>
                <a:cubicBezTo>
                  <a:pt x="18" y="28"/>
                  <a:pt x="18" y="28"/>
                  <a:pt x="18" y="28"/>
                </a:cubicBezTo>
                <a:cubicBezTo>
                  <a:pt x="22" y="9"/>
                  <a:pt x="22" y="9"/>
                  <a:pt x="22" y="9"/>
                </a:cubicBezTo>
                <a:moveTo>
                  <a:pt x="24" y="56"/>
                </a:moveTo>
                <a:cubicBezTo>
                  <a:pt x="12" y="56"/>
                  <a:pt x="12" y="56"/>
                  <a:pt x="12" y="56"/>
                </a:cubicBezTo>
                <a:cubicBezTo>
                  <a:pt x="8" y="52"/>
                  <a:pt x="8" y="52"/>
                  <a:pt x="8" y="52"/>
                </a:cubicBezTo>
                <a:cubicBezTo>
                  <a:pt x="8" y="44"/>
                  <a:pt x="8" y="44"/>
                  <a:pt x="8" y="44"/>
                </a:cubicBezTo>
                <a:cubicBezTo>
                  <a:pt x="24" y="48"/>
                  <a:pt x="24" y="48"/>
                  <a:pt x="24" y="48"/>
                </a:cubicBezTo>
                <a:cubicBezTo>
                  <a:pt x="24" y="56"/>
                  <a:pt x="24" y="56"/>
                  <a:pt x="24" y="56"/>
                </a:cubicBezTo>
                <a:moveTo>
                  <a:pt x="68" y="72"/>
                </a:moveTo>
                <a:cubicBezTo>
                  <a:pt x="36" y="72"/>
                  <a:pt x="36" y="72"/>
                  <a:pt x="36" y="72"/>
                </a:cubicBezTo>
                <a:cubicBezTo>
                  <a:pt x="36" y="64"/>
                  <a:pt x="36" y="64"/>
                  <a:pt x="36" y="64"/>
                </a:cubicBezTo>
                <a:cubicBezTo>
                  <a:pt x="68" y="64"/>
                  <a:pt x="68" y="64"/>
                  <a:pt x="68" y="64"/>
                </a:cubicBezTo>
                <a:cubicBezTo>
                  <a:pt x="68" y="72"/>
                  <a:pt x="68" y="72"/>
                  <a:pt x="68" y="72"/>
                </a:cubicBezTo>
                <a:moveTo>
                  <a:pt x="96" y="52"/>
                </a:moveTo>
                <a:cubicBezTo>
                  <a:pt x="92" y="56"/>
                  <a:pt x="92" y="56"/>
                  <a:pt x="92" y="56"/>
                </a:cubicBezTo>
                <a:cubicBezTo>
                  <a:pt x="80" y="56"/>
                  <a:pt x="80" y="56"/>
                  <a:pt x="80" y="56"/>
                </a:cubicBezTo>
                <a:cubicBezTo>
                  <a:pt x="80" y="48"/>
                  <a:pt x="80" y="48"/>
                  <a:pt x="80" y="48"/>
                </a:cubicBezTo>
                <a:cubicBezTo>
                  <a:pt x="96" y="44"/>
                  <a:pt x="96" y="44"/>
                  <a:pt x="96" y="44"/>
                </a:cubicBezTo>
                <a:cubicBezTo>
                  <a:pt x="96" y="52"/>
                  <a:pt x="96" y="52"/>
                  <a:pt x="96" y="52"/>
                </a:cubicBezTo>
              </a:path>
            </a:pathLst>
          </a:custGeom>
          <a:solidFill>
            <a:schemeClr val="bg1"/>
          </a:solidFill>
          <a:ln>
            <a:noFill/>
          </a:ln>
        </p:spPr>
        <p:txBody>
          <a:bodyPr vert="horz" wrap="square" lIns="100838" tIns="50419" rIns="100838" bIns="50419" numCol="1" anchor="t" anchorCtr="0" compatLnSpc="1">
            <a:prstTxWarp prst="textNoShape">
              <a:avLst/>
            </a:prstTxWarp>
          </a:bodyPr>
          <a:lstStyle/>
          <a:p>
            <a:endParaRPr lang="en-US" sz="1103" dirty="0">
              <a:solidFill>
                <a:schemeClr val="bg1"/>
              </a:solidFill>
              <a:latin typeface="Calibri"/>
              <a:sym typeface="Calibri"/>
            </a:endParaRPr>
          </a:p>
        </p:txBody>
      </p:sp>
      <p:sp>
        <p:nvSpPr>
          <p:cNvPr id="156" name="Rectangle 155"/>
          <p:cNvSpPr/>
          <p:nvPr/>
        </p:nvSpPr>
        <p:spPr bwMode="gray">
          <a:xfrm>
            <a:off x="5412942" y="4184673"/>
            <a:ext cx="1040440" cy="2715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Passenger</a:t>
            </a:r>
          </a:p>
        </p:txBody>
      </p:sp>
      <p:sp>
        <p:nvSpPr>
          <p:cNvPr id="162" name="Rectangle 161"/>
          <p:cNvSpPr/>
          <p:nvPr/>
        </p:nvSpPr>
        <p:spPr bwMode="gray">
          <a:xfrm>
            <a:off x="6732940" y="4175507"/>
            <a:ext cx="1444503" cy="308939"/>
          </a:xfrm>
          <a:prstGeom prst="rect">
            <a:avLst/>
          </a:prstGeom>
          <a:solidFill>
            <a:srgbClr val="004F59"/>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64" name="Rectangle 163"/>
          <p:cNvSpPr/>
          <p:nvPr/>
        </p:nvSpPr>
        <p:spPr bwMode="gray">
          <a:xfrm>
            <a:off x="7137002" y="4194819"/>
            <a:ext cx="1040440" cy="2715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Road</a:t>
            </a:r>
          </a:p>
        </p:txBody>
      </p:sp>
      <p:sp>
        <p:nvSpPr>
          <p:cNvPr id="170" name="Rectangle 169"/>
          <p:cNvSpPr/>
          <p:nvPr/>
        </p:nvSpPr>
        <p:spPr bwMode="gray">
          <a:xfrm>
            <a:off x="6732940" y="6245835"/>
            <a:ext cx="1444503" cy="308939"/>
          </a:xfrm>
          <a:prstGeom prst="rect">
            <a:avLst/>
          </a:prstGeom>
          <a:solidFill>
            <a:srgbClr val="2C5234"/>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72" name="Rectangle 171"/>
          <p:cNvSpPr/>
          <p:nvPr/>
        </p:nvSpPr>
        <p:spPr bwMode="gray">
          <a:xfrm>
            <a:off x="7190866" y="6273881"/>
            <a:ext cx="1040440" cy="2715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Water</a:t>
            </a:r>
          </a:p>
        </p:txBody>
      </p:sp>
      <p:sp>
        <p:nvSpPr>
          <p:cNvPr id="177" name="TextBox 176"/>
          <p:cNvSpPr txBox="1"/>
          <p:nvPr/>
        </p:nvSpPr>
        <p:spPr>
          <a:xfrm>
            <a:off x="6634062" y="3824491"/>
            <a:ext cx="1577918" cy="187782"/>
          </a:xfrm>
          <a:prstGeom prst="roundRect">
            <a:avLst/>
          </a:prstGeom>
          <a:solidFill>
            <a:schemeClr val="accent6">
              <a:lumMod val="50000"/>
            </a:schemeClr>
          </a:solidFill>
        </p:spPr>
        <p:txBody>
          <a:bodyPr wrap="square" lIns="0" tIns="0" rIns="0" bIns="0" rtlCol="0" anchor="ctr">
            <a:spAutoFit/>
          </a:bodyPr>
          <a:lstStyle/>
          <a:p>
            <a:pPr algn="ctr">
              <a:spcBef>
                <a:spcPts val="662"/>
              </a:spcBef>
              <a:buSzPct val="100000"/>
            </a:pPr>
            <a:r>
              <a:rPr lang="en-US" sz="1103" b="1" dirty="0">
                <a:solidFill>
                  <a:schemeClr val="bg1"/>
                </a:solidFill>
              </a:rPr>
              <a:t>End-Uses</a:t>
            </a:r>
          </a:p>
        </p:txBody>
      </p:sp>
      <p:sp>
        <p:nvSpPr>
          <p:cNvPr id="178" name="TextBox 177"/>
          <p:cNvSpPr txBox="1"/>
          <p:nvPr/>
        </p:nvSpPr>
        <p:spPr>
          <a:xfrm>
            <a:off x="8336005" y="3824491"/>
            <a:ext cx="1548300" cy="187782"/>
          </a:xfrm>
          <a:prstGeom prst="roundRect">
            <a:avLst/>
          </a:prstGeom>
          <a:solidFill>
            <a:schemeClr val="accent6">
              <a:lumMod val="50000"/>
            </a:schemeClr>
          </a:solidFill>
        </p:spPr>
        <p:txBody>
          <a:bodyPr wrap="square" lIns="0" tIns="0" rIns="0" bIns="0" rtlCol="0" anchor="ctr">
            <a:spAutoFit/>
          </a:bodyPr>
          <a:lstStyle/>
          <a:p>
            <a:pPr algn="ctr">
              <a:spcBef>
                <a:spcPts val="662"/>
              </a:spcBef>
              <a:buSzPct val="100000"/>
            </a:pPr>
            <a:r>
              <a:rPr lang="en-US" sz="1103" b="1" dirty="0">
                <a:solidFill>
                  <a:schemeClr val="bg1"/>
                </a:solidFill>
              </a:rPr>
              <a:t>Devices</a:t>
            </a:r>
          </a:p>
        </p:txBody>
      </p:sp>
      <p:grpSp>
        <p:nvGrpSpPr>
          <p:cNvPr id="411" name="Group 410"/>
          <p:cNvGrpSpPr/>
          <p:nvPr/>
        </p:nvGrpSpPr>
        <p:grpSpPr>
          <a:xfrm>
            <a:off x="8434579" y="4104357"/>
            <a:ext cx="1405505" cy="407419"/>
            <a:chOff x="7183181" y="2837837"/>
            <a:chExt cx="1274513" cy="369448"/>
          </a:xfrm>
        </p:grpSpPr>
        <p:sp>
          <p:nvSpPr>
            <p:cNvPr id="180" name="Rectangle 179"/>
            <p:cNvSpPr/>
            <p:nvPr/>
          </p:nvSpPr>
          <p:spPr bwMode="gray">
            <a:xfrm>
              <a:off x="7183181" y="2891625"/>
              <a:ext cx="1274513" cy="290879"/>
            </a:xfrm>
            <a:prstGeom prst="rect">
              <a:avLst/>
            </a:prstGeom>
            <a:solidFill>
              <a:srgbClr val="9DD4CF"/>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82" name="Rectangle 181"/>
            <p:cNvSpPr/>
            <p:nvPr/>
          </p:nvSpPr>
          <p:spPr bwMode="gray">
            <a:xfrm>
              <a:off x="7608245" y="2837837"/>
              <a:ext cx="839721" cy="369448"/>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993" b="1" dirty="0">
                  <a:solidFill>
                    <a:schemeClr val="bg1"/>
                  </a:solidFill>
                  <a:latin typeface="+mj-lt"/>
                </a:rPr>
                <a:t>Two Wheeler</a:t>
              </a:r>
            </a:p>
          </p:txBody>
        </p:sp>
      </p:grpSp>
      <p:grpSp>
        <p:nvGrpSpPr>
          <p:cNvPr id="410" name="Group 409"/>
          <p:cNvGrpSpPr/>
          <p:nvPr/>
        </p:nvGrpSpPr>
        <p:grpSpPr>
          <a:xfrm>
            <a:off x="8434579" y="4475787"/>
            <a:ext cx="1519919" cy="407419"/>
            <a:chOff x="7183181" y="3174650"/>
            <a:chExt cx="1378264" cy="369448"/>
          </a:xfrm>
        </p:grpSpPr>
        <p:sp>
          <p:nvSpPr>
            <p:cNvPr id="184" name="Rectangle 183"/>
            <p:cNvSpPr/>
            <p:nvPr/>
          </p:nvSpPr>
          <p:spPr bwMode="gray">
            <a:xfrm>
              <a:off x="7183181" y="3205446"/>
              <a:ext cx="1274513" cy="290879"/>
            </a:xfrm>
            <a:prstGeom prst="rect">
              <a:avLst/>
            </a:prstGeom>
            <a:solidFill>
              <a:srgbClr val="00ABAB"/>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86" name="Rectangle 185"/>
            <p:cNvSpPr/>
            <p:nvPr/>
          </p:nvSpPr>
          <p:spPr bwMode="gray">
            <a:xfrm>
              <a:off x="7617973" y="3174650"/>
              <a:ext cx="943472" cy="369448"/>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993" b="1" dirty="0">
                  <a:solidFill>
                    <a:schemeClr val="bg1"/>
                  </a:solidFill>
                  <a:latin typeface="+mj-lt"/>
                </a:rPr>
                <a:t>Three Wheeler</a:t>
              </a:r>
            </a:p>
          </p:txBody>
        </p:sp>
      </p:grpSp>
      <p:grpSp>
        <p:nvGrpSpPr>
          <p:cNvPr id="409" name="Group 408"/>
          <p:cNvGrpSpPr/>
          <p:nvPr/>
        </p:nvGrpSpPr>
        <p:grpSpPr>
          <a:xfrm>
            <a:off x="8434579" y="4813809"/>
            <a:ext cx="1519919" cy="407419"/>
            <a:chOff x="7183181" y="3494817"/>
            <a:chExt cx="1378264" cy="369448"/>
          </a:xfrm>
        </p:grpSpPr>
        <p:sp>
          <p:nvSpPr>
            <p:cNvPr id="188" name="Rectangle 187"/>
            <p:cNvSpPr/>
            <p:nvPr/>
          </p:nvSpPr>
          <p:spPr bwMode="gray">
            <a:xfrm>
              <a:off x="7183181" y="3529902"/>
              <a:ext cx="1274513" cy="290879"/>
            </a:xfrm>
            <a:prstGeom prst="rect">
              <a:avLst/>
            </a:prstGeom>
            <a:solidFill>
              <a:srgbClr val="0097A9"/>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89" name="Freeform 261"/>
            <p:cNvSpPr>
              <a:spLocks noChangeAspect="1" noEditPoints="1"/>
            </p:cNvSpPr>
            <p:nvPr/>
          </p:nvSpPr>
          <p:spPr bwMode="auto">
            <a:xfrm>
              <a:off x="7274739" y="3577905"/>
              <a:ext cx="240410" cy="203273"/>
            </a:xfrm>
            <a:custGeom>
              <a:avLst/>
              <a:gdLst>
                <a:gd name="T0" fmla="*/ 104 w 104"/>
                <a:gd name="T1" fmla="*/ 28 h 88"/>
                <a:gd name="T2" fmla="*/ 94 w 104"/>
                <a:gd name="T3" fmla="*/ 28 h 88"/>
                <a:gd name="T4" fmla="*/ 90 w 104"/>
                <a:gd name="T5" fmla="*/ 8 h 88"/>
                <a:gd name="T6" fmla="*/ 80 w 104"/>
                <a:gd name="T7" fmla="*/ 0 h 88"/>
                <a:gd name="T8" fmla="*/ 24 w 104"/>
                <a:gd name="T9" fmla="*/ 0 h 88"/>
                <a:gd name="T10" fmla="*/ 14 w 104"/>
                <a:gd name="T11" fmla="*/ 8 h 88"/>
                <a:gd name="T12" fmla="*/ 10 w 104"/>
                <a:gd name="T13" fmla="*/ 28 h 88"/>
                <a:gd name="T14" fmla="*/ 0 w 104"/>
                <a:gd name="T15" fmla="*/ 28 h 88"/>
                <a:gd name="T16" fmla="*/ 0 w 104"/>
                <a:gd name="T17" fmla="*/ 36 h 88"/>
                <a:gd name="T18" fmla="*/ 6 w 104"/>
                <a:gd name="T19" fmla="*/ 36 h 88"/>
                <a:gd name="T20" fmla="*/ 4 w 104"/>
                <a:gd name="T21" fmla="*/ 40 h 88"/>
                <a:gd name="T22" fmla="*/ 4 w 104"/>
                <a:gd name="T23" fmla="*/ 48 h 88"/>
                <a:gd name="T24" fmla="*/ 4 w 104"/>
                <a:gd name="T25" fmla="*/ 54 h 88"/>
                <a:gd name="T26" fmla="*/ 4 w 104"/>
                <a:gd name="T27" fmla="*/ 68 h 88"/>
                <a:gd name="T28" fmla="*/ 4 w 104"/>
                <a:gd name="T29" fmla="*/ 72 h 88"/>
                <a:gd name="T30" fmla="*/ 4 w 104"/>
                <a:gd name="T31" fmla="*/ 88 h 88"/>
                <a:gd name="T32" fmla="*/ 16 w 104"/>
                <a:gd name="T33" fmla="*/ 88 h 88"/>
                <a:gd name="T34" fmla="*/ 16 w 104"/>
                <a:gd name="T35" fmla="*/ 80 h 88"/>
                <a:gd name="T36" fmla="*/ 88 w 104"/>
                <a:gd name="T37" fmla="*/ 80 h 88"/>
                <a:gd name="T38" fmla="*/ 88 w 104"/>
                <a:gd name="T39" fmla="*/ 88 h 88"/>
                <a:gd name="T40" fmla="*/ 100 w 104"/>
                <a:gd name="T41" fmla="*/ 88 h 88"/>
                <a:gd name="T42" fmla="*/ 100 w 104"/>
                <a:gd name="T43" fmla="*/ 72 h 88"/>
                <a:gd name="T44" fmla="*/ 100 w 104"/>
                <a:gd name="T45" fmla="*/ 68 h 88"/>
                <a:gd name="T46" fmla="*/ 100 w 104"/>
                <a:gd name="T47" fmla="*/ 60 h 88"/>
                <a:gd name="T48" fmla="*/ 100 w 104"/>
                <a:gd name="T49" fmla="*/ 54 h 88"/>
                <a:gd name="T50" fmla="*/ 100 w 104"/>
                <a:gd name="T51" fmla="*/ 48 h 88"/>
                <a:gd name="T52" fmla="*/ 100 w 104"/>
                <a:gd name="T53" fmla="*/ 40 h 88"/>
                <a:gd name="T54" fmla="*/ 98 w 104"/>
                <a:gd name="T55" fmla="*/ 36 h 88"/>
                <a:gd name="T56" fmla="*/ 104 w 104"/>
                <a:gd name="T57" fmla="*/ 36 h 88"/>
                <a:gd name="T58" fmla="*/ 104 w 104"/>
                <a:gd name="T59" fmla="*/ 28 h 88"/>
                <a:gd name="T60" fmla="*/ 22 w 104"/>
                <a:gd name="T61" fmla="*/ 9 h 88"/>
                <a:gd name="T62" fmla="*/ 24 w 104"/>
                <a:gd name="T63" fmla="*/ 8 h 88"/>
                <a:gd name="T64" fmla="*/ 80 w 104"/>
                <a:gd name="T65" fmla="*/ 8 h 88"/>
                <a:gd name="T66" fmla="*/ 82 w 104"/>
                <a:gd name="T67" fmla="*/ 9 h 88"/>
                <a:gd name="T68" fmla="*/ 86 w 104"/>
                <a:gd name="T69" fmla="*/ 28 h 88"/>
                <a:gd name="T70" fmla="*/ 18 w 104"/>
                <a:gd name="T71" fmla="*/ 28 h 88"/>
                <a:gd name="T72" fmla="*/ 22 w 104"/>
                <a:gd name="T73" fmla="*/ 9 h 88"/>
                <a:gd name="T74" fmla="*/ 24 w 104"/>
                <a:gd name="T75" fmla="*/ 56 h 88"/>
                <a:gd name="T76" fmla="*/ 12 w 104"/>
                <a:gd name="T77" fmla="*/ 56 h 88"/>
                <a:gd name="T78" fmla="*/ 8 w 104"/>
                <a:gd name="T79" fmla="*/ 52 h 88"/>
                <a:gd name="T80" fmla="*/ 8 w 104"/>
                <a:gd name="T81" fmla="*/ 44 h 88"/>
                <a:gd name="T82" fmla="*/ 24 w 104"/>
                <a:gd name="T83" fmla="*/ 48 h 88"/>
                <a:gd name="T84" fmla="*/ 24 w 104"/>
                <a:gd name="T85" fmla="*/ 56 h 88"/>
                <a:gd name="T86" fmla="*/ 68 w 104"/>
                <a:gd name="T87" fmla="*/ 72 h 88"/>
                <a:gd name="T88" fmla="*/ 36 w 104"/>
                <a:gd name="T89" fmla="*/ 72 h 88"/>
                <a:gd name="T90" fmla="*/ 36 w 104"/>
                <a:gd name="T91" fmla="*/ 64 h 88"/>
                <a:gd name="T92" fmla="*/ 68 w 104"/>
                <a:gd name="T93" fmla="*/ 64 h 88"/>
                <a:gd name="T94" fmla="*/ 68 w 104"/>
                <a:gd name="T95" fmla="*/ 72 h 88"/>
                <a:gd name="T96" fmla="*/ 96 w 104"/>
                <a:gd name="T97" fmla="*/ 52 h 88"/>
                <a:gd name="T98" fmla="*/ 92 w 104"/>
                <a:gd name="T99" fmla="*/ 56 h 88"/>
                <a:gd name="T100" fmla="*/ 80 w 104"/>
                <a:gd name="T101" fmla="*/ 56 h 88"/>
                <a:gd name="T102" fmla="*/ 80 w 104"/>
                <a:gd name="T103" fmla="*/ 48 h 88"/>
                <a:gd name="T104" fmla="*/ 96 w 104"/>
                <a:gd name="T105" fmla="*/ 44 h 88"/>
                <a:gd name="T106" fmla="*/ 96 w 104"/>
                <a:gd name="T107" fmla="*/ 5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4" h="88">
                  <a:moveTo>
                    <a:pt x="104" y="28"/>
                  </a:moveTo>
                  <a:cubicBezTo>
                    <a:pt x="94" y="28"/>
                    <a:pt x="94" y="28"/>
                    <a:pt x="94" y="28"/>
                  </a:cubicBezTo>
                  <a:cubicBezTo>
                    <a:pt x="90" y="8"/>
                    <a:pt x="90" y="8"/>
                    <a:pt x="90" y="8"/>
                  </a:cubicBezTo>
                  <a:cubicBezTo>
                    <a:pt x="89" y="4"/>
                    <a:pt x="84" y="0"/>
                    <a:pt x="80" y="0"/>
                  </a:cubicBezTo>
                  <a:cubicBezTo>
                    <a:pt x="24" y="0"/>
                    <a:pt x="24" y="0"/>
                    <a:pt x="24" y="0"/>
                  </a:cubicBezTo>
                  <a:cubicBezTo>
                    <a:pt x="20" y="0"/>
                    <a:pt x="15" y="4"/>
                    <a:pt x="14" y="8"/>
                  </a:cubicBezTo>
                  <a:cubicBezTo>
                    <a:pt x="10" y="28"/>
                    <a:pt x="10" y="28"/>
                    <a:pt x="10" y="28"/>
                  </a:cubicBezTo>
                  <a:cubicBezTo>
                    <a:pt x="0" y="28"/>
                    <a:pt x="0" y="28"/>
                    <a:pt x="0" y="28"/>
                  </a:cubicBezTo>
                  <a:cubicBezTo>
                    <a:pt x="0" y="36"/>
                    <a:pt x="0" y="36"/>
                    <a:pt x="0" y="36"/>
                  </a:cubicBezTo>
                  <a:cubicBezTo>
                    <a:pt x="6" y="36"/>
                    <a:pt x="6" y="36"/>
                    <a:pt x="6" y="36"/>
                  </a:cubicBezTo>
                  <a:cubicBezTo>
                    <a:pt x="4" y="40"/>
                    <a:pt x="4" y="40"/>
                    <a:pt x="4" y="40"/>
                  </a:cubicBezTo>
                  <a:cubicBezTo>
                    <a:pt x="4" y="48"/>
                    <a:pt x="4" y="48"/>
                    <a:pt x="4" y="48"/>
                  </a:cubicBezTo>
                  <a:cubicBezTo>
                    <a:pt x="4" y="54"/>
                    <a:pt x="4" y="54"/>
                    <a:pt x="4" y="54"/>
                  </a:cubicBezTo>
                  <a:cubicBezTo>
                    <a:pt x="4" y="68"/>
                    <a:pt x="4" y="68"/>
                    <a:pt x="4" y="68"/>
                  </a:cubicBezTo>
                  <a:cubicBezTo>
                    <a:pt x="4" y="72"/>
                    <a:pt x="4" y="72"/>
                    <a:pt x="4" y="72"/>
                  </a:cubicBezTo>
                  <a:cubicBezTo>
                    <a:pt x="4" y="88"/>
                    <a:pt x="4" y="88"/>
                    <a:pt x="4" y="88"/>
                  </a:cubicBezTo>
                  <a:cubicBezTo>
                    <a:pt x="16" y="88"/>
                    <a:pt x="16" y="88"/>
                    <a:pt x="16" y="88"/>
                  </a:cubicBezTo>
                  <a:cubicBezTo>
                    <a:pt x="16" y="80"/>
                    <a:pt x="16" y="80"/>
                    <a:pt x="16" y="80"/>
                  </a:cubicBezTo>
                  <a:cubicBezTo>
                    <a:pt x="88" y="80"/>
                    <a:pt x="88" y="80"/>
                    <a:pt x="88" y="80"/>
                  </a:cubicBezTo>
                  <a:cubicBezTo>
                    <a:pt x="88" y="88"/>
                    <a:pt x="88" y="88"/>
                    <a:pt x="88" y="88"/>
                  </a:cubicBezTo>
                  <a:cubicBezTo>
                    <a:pt x="100" y="88"/>
                    <a:pt x="100" y="88"/>
                    <a:pt x="100" y="88"/>
                  </a:cubicBezTo>
                  <a:cubicBezTo>
                    <a:pt x="100" y="72"/>
                    <a:pt x="100" y="72"/>
                    <a:pt x="100" y="72"/>
                  </a:cubicBezTo>
                  <a:cubicBezTo>
                    <a:pt x="100" y="68"/>
                    <a:pt x="100" y="68"/>
                    <a:pt x="100" y="68"/>
                  </a:cubicBezTo>
                  <a:cubicBezTo>
                    <a:pt x="100" y="60"/>
                    <a:pt x="100" y="60"/>
                    <a:pt x="100" y="60"/>
                  </a:cubicBezTo>
                  <a:cubicBezTo>
                    <a:pt x="100" y="54"/>
                    <a:pt x="100" y="54"/>
                    <a:pt x="100" y="54"/>
                  </a:cubicBezTo>
                  <a:cubicBezTo>
                    <a:pt x="100" y="48"/>
                    <a:pt x="100" y="48"/>
                    <a:pt x="100" y="48"/>
                  </a:cubicBezTo>
                  <a:cubicBezTo>
                    <a:pt x="100" y="40"/>
                    <a:pt x="100" y="40"/>
                    <a:pt x="100" y="40"/>
                  </a:cubicBezTo>
                  <a:cubicBezTo>
                    <a:pt x="98" y="36"/>
                    <a:pt x="98" y="36"/>
                    <a:pt x="98" y="36"/>
                  </a:cubicBezTo>
                  <a:cubicBezTo>
                    <a:pt x="104" y="36"/>
                    <a:pt x="104" y="36"/>
                    <a:pt x="104" y="36"/>
                  </a:cubicBezTo>
                  <a:cubicBezTo>
                    <a:pt x="104" y="28"/>
                    <a:pt x="104" y="28"/>
                    <a:pt x="104" y="28"/>
                  </a:cubicBezTo>
                  <a:moveTo>
                    <a:pt x="22" y="9"/>
                  </a:moveTo>
                  <a:cubicBezTo>
                    <a:pt x="22" y="9"/>
                    <a:pt x="23" y="8"/>
                    <a:pt x="24" y="8"/>
                  </a:cubicBezTo>
                  <a:cubicBezTo>
                    <a:pt x="80" y="8"/>
                    <a:pt x="80" y="8"/>
                    <a:pt x="80" y="8"/>
                  </a:cubicBezTo>
                  <a:cubicBezTo>
                    <a:pt x="81" y="8"/>
                    <a:pt x="82" y="9"/>
                    <a:pt x="82" y="9"/>
                  </a:cubicBezTo>
                  <a:cubicBezTo>
                    <a:pt x="86" y="28"/>
                    <a:pt x="86" y="28"/>
                    <a:pt x="86" y="28"/>
                  </a:cubicBezTo>
                  <a:cubicBezTo>
                    <a:pt x="18" y="28"/>
                    <a:pt x="18" y="28"/>
                    <a:pt x="18" y="28"/>
                  </a:cubicBezTo>
                  <a:cubicBezTo>
                    <a:pt x="22" y="9"/>
                    <a:pt x="22" y="9"/>
                    <a:pt x="22" y="9"/>
                  </a:cubicBezTo>
                  <a:moveTo>
                    <a:pt x="24" y="56"/>
                  </a:moveTo>
                  <a:cubicBezTo>
                    <a:pt x="12" y="56"/>
                    <a:pt x="12" y="56"/>
                    <a:pt x="12" y="56"/>
                  </a:cubicBezTo>
                  <a:cubicBezTo>
                    <a:pt x="8" y="52"/>
                    <a:pt x="8" y="52"/>
                    <a:pt x="8" y="52"/>
                  </a:cubicBezTo>
                  <a:cubicBezTo>
                    <a:pt x="8" y="44"/>
                    <a:pt x="8" y="44"/>
                    <a:pt x="8" y="44"/>
                  </a:cubicBezTo>
                  <a:cubicBezTo>
                    <a:pt x="24" y="48"/>
                    <a:pt x="24" y="48"/>
                    <a:pt x="24" y="48"/>
                  </a:cubicBezTo>
                  <a:cubicBezTo>
                    <a:pt x="24" y="56"/>
                    <a:pt x="24" y="56"/>
                    <a:pt x="24" y="56"/>
                  </a:cubicBezTo>
                  <a:moveTo>
                    <a:pt x="68" y="72"/>
                  </a:moveTo>
                  <a:cubicBezTo>
                    <a:pt x="36" y="72"/>
                    <a:pt x="36" y="72"/>
                    <a:pt x="36" y="72"/>
                  </a:cubicBezTo>
                  <a:cubicBezTo>
                    <a:pt x="36" y="64"/>
                    <a:pt x="36" y="64"/>
                    <a:pt x="36" y="64"/>
                  </a:cubicBezTo>
                  <a:cubicBezTo>
                    <a:pt x="68" y="64"/>
                    <a:pt x="68" y="64"/>
                    <a:pt x="68" y="64"/>
                  </a:cubicBezTo>
                  <a:cubicBezTo>
                    <a:pt x="68" y="72"/>
                    <a:pt x="68" y="72"/>
                    <a:pt x="68" y="72"/>
                  </a:cubicBezTo>
                  <a:moveTo>
                    <a:pt x="96" y="52"/>
                  </a:moveTo>
                  <a:cubicBezTo>
                    <a:pt x="92" y="56"/>
                    <a:pt x="92" y="56"/>
                    <a:pt x="92" y="56"/>
                  </a:cubicBezTo>
                  <a:cubicBezTo>
                    <a:pt x="80" y="56"/>
                    <a:pt x="80" y="56"/>
                    <a:pt x="80" y="56"/>
                  </a:cubicBezTo>
                  <a:cubicBezTo>
                    <a:pt x="80" y="48"/>
                    <a:pt x="80" y="48"/>
                    <a:pt x="80" y="48"/>
                  </a:cubicBezTo>
                  <a:cubicBezTo>
                    <a:pt x="96" y="44"/>
                    <a:pt x="96" y="44"/>
                    <a:pt x="96" y="44"/>
                  </a:cubicBezTo>
                  <a:cubicBezTo>
                    <a:pt x="96" y="52"/>
                    <a:pt x="96" y="52"/>
                    <a:pt x="96" y="52"/>
                  </a:cubicBezTo>
                </a:path>
              </a:pathLst>
            </a:custGeom>
            <a:solidFill>
              <a:schemeClr val="bg1"/>
            </a:solidFill>
            <a:ln>
              <a:noFill/>
            </a:ln>
          </p:spPr>
          <p:txBody>
            <a:bodyPr vert="horz" wrap="square" lIns="100838" tIns="50419" rIns="100838" bIns="50419" numCol="1" anchor="t" anchorCtr="0" compatLnSpc="1">
              <a:prstTxWarp prst="textNoShape">
                <a:avLst/>
              </a:prstTxWarp>
            </a:bodyPr>
            <a:lstStyle/>
            <a:p>
              <a:endParaRPr lang="en-US" sz="1103" dirty="0">
                <a:solidFill>
                  <a:schemeClr val="bg1"/>
                </a:solidFill>
                <a:latin typeface="Calibri"/>
                <a:sym typeface="Calibri"/>
              </a:endParaRPr>
            </a:p>
          </p:txBody>
        </p:sp>
        <p:sp>
          <p:nvSpPr>
            <p:cNvPr id="190" name="Rectangle 189"/>
            <p:cNvSpPr/>
            <p:nvPr/>
          </p:nvSpPr>
          <p:spPr bwMode="gray">
            <a:xfrm>
              <a:off x="7617973" y="3494817"/>
              <a:ext cx="943472" cy="369448"/>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993" b="1" dirty="0">
                  <a:solidFill>
                    <a:schemeClr val="bg1"/>
                  </a:solidFill>
                  <a:latin typeface="+mj-lt"/>
                </a:rPr>
                <a:t>Four Wheeler</a:t>
              </a:r>
            </a:p>
          </p:txBody>
        </p:sp>
      </p:grpSp>
      <p:grpSp>
        <p:nvGrpSpPr>
          <p:cNvPr id="408" name="Group 407"/>
          <p:cNvGrpSpPr/>
          <p:nvPr/>
        </p:nvGrpSpPr>
        <p:grpSpPr>
          <a:xfrm>
            <a:off x="8427750" y="5201902"/>
            <a:ext cx="1405505" cy="320775"/>
            <a:chOff x="7176988" y="3846738"/>
            <a:chExt cx="1274513" cy="290879"/>
          </a:xfrm>
        </p:grpSpPr>
        <p:sp>
          <p:nvSpPr>
            <p:cNvPr id="192" name="Rectangle 191"/>
            <p:cNvSpPr/>
            <p:nvPr/>
          </p:nvSpPr>
          <p:spPr bwMode="gray">
            <a:xfrm>
              <a:off x="7176988" y="3846738"/>
              <a:ext cx="1274513" cy="290879"/>
            </a:xfrm>
            <a:prstGeom prst="rect">
              <a:avLst/>
            </a:prstGeom>
            <a:solidFill>
              <a:srgbClr val="007680"/>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94" name="Rectangle 193"/>
            <p:cNvSpPr/>
            <p:nvPr/>
          </p:nvSpPr>
          <p:spPr bwMode="gray">
            <a:xfrm>
              <a:off x="7611780" y="3881151"/>
              <a:ext cx="508680" cy="23089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993" b="1" dirty="0">
                  <a:solidFill>
                    <a:schemeClr val="bg1"/>
                  </a:solidFill>
                  <a:latin typeface="+mj-lt"/>
                </a:rPr>
                <a:t>Buses</a:t>
              </a:r>
            </a:p>
          </p:txBody>
        </p:sp>
      </p:grpSp>
      <p:grpSp>
        <p:nvGrpSpPr>
          <p:cNvPr id="406" name="Group 405"/>
          <p:cNvGrpSpPr/>
          <p:nvPr/>
        </p:nvGrpSpPr>
        <p:grpSpPr>
          <a:xfrm>
            <a:off x="8446051" y="5894048"/>
            <a:ext cx="1405505" cy="320775"/>
            <a:chOff x="7193583" y="4501676"/>
            <a:chExt cx="1274513" cy="290879"/>
          </a:xfrm>
        </p:grpSpPr>
        <p:sp>
          <p:nvSpPr>
            <p:cNvPr id="204" name="Rectangle 203"/>
            <p:cNvSpPr/>
            <p:nvPr/>
          </p:nvSpPr>
          <p:spPr bwMode="gray">
            <a:xfrm>
              <a:off x="7193583" y="4501676"/>
              <a:ext cx="1274513" cy="290879"/>
            </a:xfrm>
            <a:prstGeom prst="rect">
              <a:avLst/>
            </a:prstGeom>
            <a:solidFill>
              <a:srgbClr val="43B02A"/>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06" name="Rectangle 205"/>
            <p:cNvSpPr/>
            <p:nvPr/>
          </p:nvSpPr>
          <p:spPr bwMode="gray">
            <a:xfrm>
              <a:off x="7614727" y="4509121"/>
              <a:ext cx="522327" cy="23089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993" b="1" dirty="0">
                  <a:solidFill>
                    <a:schemeClr val="bg1"/>
                  </a:solidFill>
                  <a:latin typeface="+mj-lt"/>
                </a:rPr>
                <a:t>Tram</a:t>
              </a:r>
            </a:p>
          </p:txBody>
        </p:sp>
      </p:grpSp>
      <p:grpSp>
        <p:nvGrpSpPr>
          <p:cNvPr id="404" name="Group 403"/>
          <p:cNvGrpSpPr/>
          <p:nvPr/>
        </p:nvGrpSpPr>
        <p:grpSpPr>
          <a:xfrm>
            <a:off x="8423851" y="6587774"/>
            <a:ext cx="1519919" cy="320775"/>
            <a:chOff x="7173453" y="5158044"/>
            <a:chExt cx="1378264" cy="290879"/>
          </a:xfrm>
        </p:grpSpPr>
        <p:sp>
          <p:nvSpPr>
            <p:cNvPr id="228" name="Rectangle 227"/>
            <p:cNvSpPr/>
            <p:nvPr/>
          </p:nvSpPr>
          <p:spPr bwMode="gray">
            <a:xfrm>
              <a:off x="7173453" y="5158044"/>
              <a:ext cx="1274513" cy="290879"/>
            </a:xfrm>
            <a:prstGeom prst="rect">
              <a:avLst/>
            </a:prstGeom>
            <a:solidFill>
              <a:schemeClr val="accent4">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30" name="Rectangle 229"/>
            <p:cNvSpPr/>
            <p:nvPr/>
          </p:nvSpPr>
          <p:spPr bwMode="gray">
            <a:xfrm>
              <a:off x="7608245" y="5170352"/>
              <a:ext cx="943472" cy="23089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993" b="1" dirty="0">
                  <a:solidFill>
                    <a:schemeClr val="bg1"/>
                  </a:solidFill>
                  <a:latin typeface="+mj-lt"/>
                </a:rPr>
                <a:t>Air services</a:t>
              </a:r>
            </a:p>
          </p:txBody>
        </p:sp>
        <p:sp>
          <p:nvSpPr>
            <p:cNvPr id="232" name="Freeform 310"/>
            <p:cNvSpPr>
              <a:spLocks noEditPoints="1"/>
            </p:cNvSpPr>
            <p:nvPr/>
          </p:nvSpPr>
          <p:spPr bwMode="auto">
            <a:xfrm>
              <a:off x="7260289" y="5204700"/>
              <a:ext cx="206966" cy="205962"/>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405" name="Group 404"/>
          <p:cNvGrpSpPr/>
          <p:nvPr/>
        </p:nvGrpSpPr>
        <p:grpSpPr>
          <a:xfrm>
            <a:off x="8436213" y="6214281"/>
            <a:ext cx="1519919" cy="407419"/>
            <a:chOff x="7184663" y="4805709"/>
            <a:chExt cx="1378264" cy="369448"/>
          </a:xfrm>
        </p:grpSpPr>
        <p:sp>
          <p:nvSpPr>
            <p:cNvPr id="208" name="Rectangle 207"/>
            <p:cNvSpPr/>
            <p:nvPr/>
          </p:nvSpPr>
          <p:spPr bwMode="gray">
            <a:xfrm>
              <a:off x="7184663" y="4829145"/>
              <a:ext cx="1274513" cy="290879"/>
            </a:xfrm>
            <a:prstGeom prst="rect">
              <a:avLst/>
            </a:prstGeom>
            <a:solidFill>
              <a:schemeClr val="accent2"/>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10" name="Rectangle 209"/>
            <p:cNvSpPr/>
            <p:nvPr/>
          </p:nvSpPr>
          <p:spPr bwMode="gray">
            <a:xfrm>
              <a:off x="7619455" y="4805709"/>
              <a:ext cx="943472" cy="369448"/>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993" b="1" dirty="0">
                  <a:solidFill>
                    <a:schemeClr val="bg1"/>
                  </a:solidFill>
                  <a:latin typeface="+mj-lt"/>
                </a:rPr>
                <a:t>Ferry Services</a:t>
              </a:r>
            </a:p>
          </p:txBody>
        </p:sp>
        <p:sp>
          <p:nvSpPr>
            <p:cNvPr id="236" name="Freeform 788"/>
            <p:cNvSpPr>
              <a:spLocks noEditPoints="1"/>
            </p:cNvSpPr>
            <p:nvPr/>
          </p:nvSpPr>
          <p:spPr bwMode="auto">
            <a:xfrm>
              <a:off x="7252270" y="4863557"/>
              <a:ext cx="264614" cy="229829"/>
            </a:xfrm>
            <a:custGeom>
              <a:avLst/>
              <a:gdLst>
                <a:gd name="T0" fmla="*/ 319 w 321"/>
                <a:gd name="T1" fmla="*/ 198 h 278"/>
                <a:gd name="T2" fmla="*/ 310 w 321"/>
                <a:gd name="T3" fmla="*/ 193 h 278"/>
                <a:gd name="T4" fmla="*/ 274 w 321"/>
                <a:gd name="T5" fmla="*/ 193 h 278"/>
                <a:gd name="T6" fmla="*/ 170 w 321"/>
                <a:gd name="T7" fmla="*/ 6 h 278"/>
                <a:gd name="T8" fmla="*/ 158 w 321"/>
                <a:gd name="T9" fmla="*/ 1 h 278"/>
                <a:gd name="T10" fmla="*/ 150 w 321"/>
                <a:gd name="T11" fmla="*/ 11 h 278"/>
                <a:gd name="T12" fmla="*/ 150 w 321"/>
                <a:gd name="T13" fmla="*/ 51 h 278"/>
                <a:gd name="T14" fmla="*/ 49 w 321"/>
                <a:gd name="T15" fmla="*/ 193 h 278"/>
                <a:gd name="T16" fmla="*/ 11 w 321"/>
                <a:gd name="T17" fmla="*/ 193 h 278"/>
                <a:gd name="T18" fmla="*/ 2 w 321"/>
                <a:gd name="T19" fmla="*/ 198 h 278"/>
                <a:gd name="T20" fmla="*/ 2 w 321"/>
                <a:gd name="T21" fmla="*/ 209 h 278"/>
                <a:gd name="T22" fmla="*/ 45 w 321"/>
                <a:gd name="T23" fmla="*/ 273 h 278"/>
                <a:gd name="T24" fmla="*/ 54 w 321"/>
                <a:gd name="T25" fmla="*/ 278 h 278"/>
                <a:gd name="T26" fmla="*/ 267 w 321"/>
                <a:gd name="T27" fmla="*/ 278 h 278"/>
                <a:gd name="T28" fmla="*/ 276 w 321"/>
                <a:gd name="T29" fmla="*/ 273 h 278"/>
                <a:gd name="T30" fmla="*/ 319 w 321"/>
                <a:gd name="T31" fmla="*/ 209 h 278"/>
                <a:gd name="T32" fmla="*/ 319 w 321"/>
                <a:gd name="T33" fmla="*/ 198 h 278"/>
                <a:gd name="T34" fmla="*/ 171 w 321"/>
                <a:gd name="T35" fmla="*/ 52 h 278"/>
                <a:gd name="T36" fmla="*/ 249 w 321"/>
                <a:gd name="T37" fmla="*/ 193 h 278"/>
                <a:gd name="T38" fmla="*/ 171 w 321"/>
                <a:gd name="T39" fmla="*/ 193 h 278"/>
                <a:gd name="T40" fmla="*/ 171 w 321"/>
                <a:gd name="T41" fmla="*/ 54 h 278"/>
                <a:gd name="T42" fmla="*/ 171 w 321"/>
                <a:gd name="T43" fmla="*/ 52 h 278"/>
                <a:gd name="T44" fmla="*/ 150 w 321"/>
                <a:gd name="T45" fmla="*/ 87 h 278"/>
                <a:gd name="T46" fmla="*/ 150 w 321"/>
                <a:gd name="T47" fmla="*/ 193 h 278"/>
                <a:gd name="T48" fmla="*/ 75 w 321"/>
                <a:gd name="T49" fmla="*/ 193 h 278"/>
                <a:gd name="T50" fmla="*/ 150 w 321"/>
                <a:gd name="T51" fmla="*/ 87 h 278"/>
                <a:gd name="T52" fmla="*/ 262 w 321"/>
                <a:gd name="T53" fmla="*/ 257 h 278"/>
                <a:gd name="T54" fmla="*/ 60 w 321"/>
                <a:gd name="T55" fmla="*/ 257 h 278"/>
                <a:gd name="T56" fmla="*/ 31 w 321"/>
                <a:gd name="T57" fmla="*/ 214 h 278"/>
                <a:gd name="T58" fmla="*/ 54 w 321"/>
                <a:gd name="T59" fmla="*/ 214 h 278"/>
                <a:gd name="T60" fmla="*/ 161 w 321"/>
                <a:gd name="T61" fmla="*/ 214 h 278"/>
                <a:gd name="T62" fmla="*/ 267 w 321"/>
                <a:gd name="T63" fmla="*/ 214 h 278"/>
                <a:gd name="T64" fmla="*/ 290 w 321"/>
                <a:gd name="T65" fmla="*/ 214 h 278"/>
                <a:gd name="T66" fmla="*/ 262 w 321"/>
                <a:gd name="T67" fmla="*/ 257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1" h="278">
                  <a:moveTo>
                    <a:pt x="319" y="198"/>
                  </a:moveTo>
                  <a:cubicBezTo>
                    <a:pt x="318" y="195"/>
                    <a:pt x="314" y="193"/>
                    <a:pt x="310" y="193"/>
                  </a:cubicBezTo>
                  <a:cubicBezTo>
                    <a:pt x="274" y="193"/>
                    <a:pt x="274" y="193"/>
                    <a:pt x="274" y="193"/>
                  </a:cubicBezTo>
                  <a:cubicBezTo>
                    <a:pt x="170" y="6"/>
                    <a:pt x="170" y="6"/>
                    <a:pt x="170" y="6"/>
                  </a:cubicBezTo>
                  <a:cubicBezTo>
                    <a:pt x="168" y="2"/>
                    <a:pt x="163" y="0"/>
                    <a:pt x="158" y="1"/>
                  </a:cubicBezTo>
                  <a:cubicBezTo>
                    <a:pt x="153" y="2"/>
                    <a:pt x="150" y="6"/>
                    <a:pt x="150" y="11"/>
                  </a:cubicBezTo>
                  <a:cubicBezTo>
                    <a:pt x="150" y="51"/>
                    <a:pt x="150" y="51"/>
                    <a:pt x="150" y="51"/>
                  </a:cubicBezTo>
                  <a:cubicBezTo>
                    <a:pt x="49" y="193"/>
                    <a:pt x="49" y="193"/>
                    <a:pt x="49" y="193"/>
                  </a:cubicBezTo>
                  <a:cubicBezTo>
                    <a:pt x="11" y="193"/>
                    <a:pt x="11" y="193"/>
                    <a:pt x="11" y="193"/>
                  </a:cubicBezTo>
                  <a:cubicBezTo>
                    <a:pt x="7" y="193"/>
                    <a:pt x="4" y="195"/>
                    <a:pt x="2" y="198"/>
                  </a:cubicBezTo>
                  <a:cubicBezTo>
                    <a:pt x="0" y="202"/>
                    <a:pt x="0" y="206"/>
                    <a:pt x="2" y="209"/>
                  </a:cubicBezTo>
                  <a:cubicBezTo>
                    <a:pt x="45" y="273"/>
                    <a:pt x="45" y="273"/>
                    <a:pt x="45" y="273"/>
                  </a:cubicBezTo>
                  <a:cubicBezTo>
                    <a:pt x="47" y="276"/>
                    <a:pt x="50" y="278"/>
                    <a:pt x="54" y="278"/>
                  </a:cubicBezTo>
                  <a:cubicBezTo>
                    <a:pt x="267" y="278"/>
                    <a:pt x="267" y="278"/>
                    <a:pt x="267" y="278"/>
                  </a:cubicBezTo>
                  <a:cubicBezTo>
                    <a:pt x="271" y="278"/>
                    <a:pt x="274" y="276"/>
                    <a:pt x="276" y="273"/>
                  </a:cubicBezTo>
                  <a:cubicBezTo>
                    <a:pt x="319" y="209"/>
                    <a:pt x="319" y="209"/>
                    <a:pt x="319" y="209"/>
                  </a:cubicBezTo>
                  <a:cubicBezTo>
                    <a:pt x="321" y="206"/>
                    <a:pt x="321" y="202"/>
                    <a:pt x="319" y="198"/>
                  </a:cubicBezTo>
                  <a:close/>
                  <a:moveTo>
                    <a:pt x="171" y="52"/>
                  </a:moveTo>
                  <a:cubicBezTo>
                    <a:pt x="249" y="193"/>
                    <a:pt x="249" y="193"/>
                    <a:pt x="249" y="193"/>
                  </a:cubicBezTo>
                  <a:cubicBezTo>
                    <a:pt x="171" y="193"/>
                    <a:pt x="171" y="193"/>
                    <a:pt x="171" y="193"/>
                  </a:cubicBezTo>
                  <a:cubicBezTo>
                    <a:pt x="171" y="54"/>
                    <a:pt x="171" y="54"/>
                    <a:pt x="171" y="54"/>
                  </a:cubicBezTo>
                  <a:lnTo>
                    <a:pt x="171" y="52"/>
                  </a:lnTo>
                  <a:close/>
                  <a:moveTo>
                    <a:pt x="150" y="87"/>
                  </a:moveTo>
                  <a:cubicBezTo>
                    <a:pt x="150" y="193"/>
                    <a:pt x="150" y="193"/>
                    <a:pt x="150" y="193"/>
                  </a:cubicBezTo>
                  <a:cubicBezTo>
                    <a:pt x="75" y="193"/>
                    <a:pt x="75" y="193"/>
                    <a:pt x="75" y="193"/>
                  </a:cubicBezTo>
                  <a:lnTo>
                    <a:pt x="150" y="87"/>
                  </a:lnTo>
                  <a:close/>
                  <a:moveTo>
                    <a:pt x="262" y="257"/>
                  </a:moveTo>
                  <a:cubicBezTo>
                    <a:pt x="60" y="257"/>
                    <a:pt x="60" y="257"/>
                    <a:pt x="60" y="257"/>
                  </a:cubicBezTo>
                  <a:cubicBezTo>
                    <a:pt x="31" y="214"/>
                    <a:pt x="31" y="214"/>
                    <a:pt x="31" y="214"/>
                  </a:cubicBezTo>
                  <a:cubicBezTo>
                    <a:pt x="54" y="214"/>
                    <a:pt x="54" y="214"/>
                    <a:pt x="54" y="214"/>
                  </a:cubicBezTo>
                  <a:cubicBezTo>
                    <a:pt x="161" y="214"/>
                    <a:pt x="161" y="214"/>
                    <a:pt x="161" y="214"/>
                  </a:cubicBezTo>
                  <a:cubicBezTo>
                    <a:pt x="267" y="214"/>
                    <a:pt x="267" y="214"/>
                    <a:pt x="267" y="214"/>
                  </a:cubicBezTo>
                  <a:cubicBezTo>
                    <a:pt x="290" y="214"/>
                    <a:pt x="290" y="214"/>
                    <a:pt x="290" y="214"/>
                  </a:cubicBezTo>
                  <a:lnTo>
                    <a:pt x="262" y="257"/>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407" name="Group 406"/>
          <p:cNvGrpSpPr/>
          <p:nvPr/>
        </p:nvGrpSpPr>
        <p:grpSpPr>
          <a:xfrm>
            <a:off x="8437829" y="5551298"/>
            <a:ext cx="1405505" cy="320775"/>
            <a:chOff x="7186128" y="4163574"/>
            <a:chExt cx="1274513" cy="290879"/>
          </a:xfrm>
        </p:grpSpPr>
        <p:sp>
          <p:nvSpPr>
            <p:cNvPr id="200" name="Rectangle 199"/>
            <p:cNvSpPr/>
            <p:nvPr/>
          </p:nvSpPr>
          <p:spPr bwMode="gray">
            <a:xfrm>
              <a:off x="7186128" y="4163574"/>
              <a:ext cx="1274513" cy="290879"/>
            </a:xfrm>
            <a:prstGeom prst="rect">
              <a:avLst/>
            </a:prstGeom>
            <a:solidFill>
              <a:srgbClr val="86BC25"/>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02" name="Rectangle 201"/>
            <p:cNvSpPr/>
            <p:nvPr/>
          </p:nvSpPr>
          <p:spPr bwMode="gray">
            <a:xfrm>
              <a:off x="7620920" y="4184403"/>
              <a:ext cx="620712" cy="23089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993" b="1" dirty="0">
                  <a:solidFill>
                    <a:schemeClr val="bg1"/>
                  </a:solidFill>
                  <a:latin typeface="+mj-lt"/>
                </a:rPr>
                <a:t>Metro</a:t>
              </a:r>
            </a:p>
          </p:txBody>
        </p:sp>
        <p:sp>
          <p:nvSpPr>
            <p:cNvPr id="239" name="Freeform 506"/>
            <p:cNvSpPr>
              <a:spLocks noEditPoints="1"/>
            </p:cNvSpPr>
            <p:nvPr/>
          </p:nvSpPr>
          <p:spPr bwMode="auto">
            <a:xfrm>
              <a:off x="7257084" y="4204705"/>
              <a:ext cx="210171" cy="230955"/>
            </a:xfrm>
            <a:custGeom>
              <a:avLst/>
              <a:gdLst>
                <a:gd name="T0" fmla="*/ 76 w 237"/>
                <a:gd name="T1" fmla="*/ 117 h 299"/>
                <a:gd name="T2" fmla="*/ 161 w 237"/>
                <a:gd name="T3" fmla="*/ 117 h 299"/>
                <a:gd name="T4" fmla="*/ 183 w 237"/>
                <a:gd name="T5" fmla="*/ 96 h 299"/>
                <a:gd name="T6" fmla="*/ 183 w 237"/>
                <a:gd name="T7" fmla="*/ 64 h 299"/>
                <a:gd name="T8" fmla="*/ 161 w 237"/>
                <a:gd name="T9" fmla="*/ 43 h 299"/>
                <a:gd name="T10" fmla="*/ 76 w 237"/>
                <a:gd name="T11" fmla="*/ 43 h 299"/>
                <a:gd name="T12" fmla="*/ 55 w 237"/>
                <a:gd name="T13" fmla="*/ 64 h 299"/>
                <a:gd name="T14" fmla="*/ 55 w 237"/>
                <a:gd name="T15" fmla="*/ 96 h 299"/>
                <a:gd name="T16" fmla="*/ 76 w 237"/>
                <a:gd name="T17" fmla="*/ 117 h 299"/>
                <a:gd name="T18" fmla="*/ 76 w 237"/>
                <a:gd name="T19" fmla="*/ 64 h 299"/>
                <a:gd name="T20" fmla="*/ 161 w 237"/>
                <a:gd name="T21" fmla="*/ 64 h 299"/>
                <a:gd name="T22" fmla="*/ 161 w 237"/>
                <a:gd name="T23" fmla="*/ 96 h 299"/>
                <a:gd name="T24" fmla="*/ 76 w 237"/>
                <a:gd name="T25" fmla="*/ 96 h 299"/>
                <a:gd name="T26" fmla="*/ 76 w 237"/>
                <a:gd name="T27" fmla="*/ 64 h 299"/>
                <a:gd name="T28" fmla="*/ 76 w 237"/>
                <a:gd name="T29" fmla="*/ 192 h 299"/>
                <a:gd name="T30" fmla="*/ 55 w 237"/>
                <a:gd name="T31" fmla="*/ 171 h 299"/>
                <a:gd name="T32" fmla="*/ 76 w 237"/>
                <a:gd name="T33" fmla="*/ 149 h 299"/>
                <a:gd name="T34" fmla="*/ 97 w 237"/>
                <a:gd name="T35" fmla="*/ 171 h 299"/>
                <a:gd name="T36" fmla="*/ 76 w 237"/>
                <a:gd name="T37" fmla="*/ 192 h 299"/>
                <a:gd name="T38" fmla="*/ 183 w 237"/>
                <a:gd name="T39" fmla="*/ 171 h 299"/>
                <a:gd name="T40" fmla="*/ 161 w 237"/>
                <a:gd name="T41" fmla="*/ 192 h 299"/>
                <a:gd name="T42" fmla="*/ 140 w 237"/>
                <a:gd name="T43" fmla="*/ 171 h 299"/>
                <a:gd name="T44" fmla="*/ 161 w 237"/>
                <a:gd name="T45" fmla="*/ 149 h 299"/>
                <a:gd name="T46" fmla="*/ 183 w 237"/>
                <a:gd name="T47" fmla="*/ 171 h 299"/>
                <a:gd name="T48" fmla="*/ 233 w 237"/>
                <a:gd name="T49" fmla="*/ 280 h 299"/>
                <a:gd name="T50" fmla="*/ 183 w 237"/>
                <a:gd name="T51" fmla="*/ 231 h 299"/>
                <a:gd name="T52" fmla="*/ 225 w 237"/>
                <a:gd name="T53" fmla="*/ 181 h 299"/>
                <a:gd name="T54" fmla="*/ 225 w 237"/>
                <a:gd name="T55" fmla="*/ 53 h 299"/>
                <a:gd name="T56" fmla="*/ 172 w 237"/>
                <a:gd name="T57" fmla="*/ 0 h 299"/>
                <a:gd name="T58" fmla="*/ 65 w 237"/>
                <a:gd name="T59" fmla="*/ 0 h 299"/>
                <a:gd name="T60" fmla="*/ 12 w 237"/>
                <a:gd name="T61" fmla="*/ 53 h 299"/>
                <a:gd name="T62" fmla="*/ 12 w 237"/>
                <a:gd name="T63" fmla="*/ 181 h 299"/>
                <a:gd name="T64" fmla="*/ 52 w 237"/>
                <a:gd name="T65" fmla="*/ 233 h 299"/>
                <a:gd name="T66" fmla="*/ 4 w 237"/>
                <a:gd name="T67" fmla="*/ 280 h 299"/>
                <a:gd name="T68" fmla="*/ 4 w 237"/>
                <a:gd name="T69" fmla="*/ 296 h 299"/>
                <a:gd name="T70" fmla="*/ 12 w 237"/>
                <a:gd name="T71" fmla="*/ 299 h 299"/>
                <a:gd name="T72" fmla="*/ 20 w 237"/>
                <a:gd name="T73" fmla="*/ 296 h 299"/>
                <a:gd name="T74" fmla="*/ 38 w 237"/>
                <a:gd name="T75" fmla="*/ 277 h 299"/>
                <a:gd name="T76" fmla="*/ 200 w 237"/>
                <a:gd name="T77" fmla="*/ 277 h 299"/>
                <a:gd name="T78" fmla="*/ 218 w 237"/>
                <a:gd name="T79" fmla="*/ 296 h 299"/>
                <a:gd name="T80" fmla="*/ 225 w 237"/>
                <a:gd name="T81" fmla="*/ 299 h 299"/>
                <a:gd name="T82" fmla="*/ 233 w 237"/>
                <a:gd name="T83" fmla="*/ 296 h 299"/>
                <a:gd name="T84" fmla="*/ 233 w 237"/>
                <a:gd name="T85" fmla="*/ 280 h 299"/>
                <a:gd name="T86" fmla="*/ 33 w 237"/>
                <a:gd name="T87" fmla="*/ 181 h 299"/>
                <a:gd name="T88" fmla="*/ 33 w 237"/>
                <a:gd name="T89" fmla="*/ 53 h 299"/>
                <a:gd name="T90" fmla="*/ 65 w 237"/>
                <a:gd name="T91" fmla="*/ 21 h 299"/>
                <a:gd name="T92" fmla="*/ 172 w 237"/>
                <a:gd name="T93" fmla="*/ 21 h 299"/>
                <a:gd name="T94" fmla="*/ 204 w 237"/>
                <a:gd name="T95" fmla="*/ 53 h 299"/>
                <a:gd name="T96" fmla="*/ 204 w 237"/>
                <a:gd name="T97" fmla="*/ 181 h 299"/>
                <a:gd name="T98" fmla="*/ 161 w 237"/>
                <a:gd name="T99" fmla="*/ 213 h 299"/>
                <a:gd name="T100" fmla="*/ 65 w 237"/>
                <a:gd name="T101" fmla="*/ 213 h 299"/>
                <a:gd name="T102" fmla="*/ 33 w 237"/>
                <a:gd name="T103" fmla="*/ 181 h 299"/>
                <a:gd name="T104" fmla="*/ 59 w 237"/>
                <a:gd name="T105" fmla="*/ 256 h 299"/>
                <a:gd name="T106" fmla="*/ 80 w 237"/>
                <a:gd name="T107" fmla="*/ 235 h 299"/>
                <a:gd name="T108" fmla="*/ 157 w 237"/>
                <a:gd name="T109" fmla="*/ 235 h 299"/>
                <a:gd name="T110" fmla="*/ 178 w 237"/>
                <a:gd name="T111" fmla="*/ 256 h 299"/>
                <a:gd name="T112" fmla="*/ 59 w 237"/>
                <a:gd name="T113" fmla="*/ 25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7" h="299">
                  <a:moveTo>
                    <a:pt x="76" y="117"/>
                  </a:moveTo>
                  <a:cubicBezTo>
                    <a:pt x="161" y="117"/>
                    <a:pt x="161" y="117"/>
                    <a:pt x="161" y="117"/>
                  </a:cubicBezTo>
                  <a:cubicBezTo>
                    <a:pt x="173" y="117"/>
                    <a:pt x="183" y="108"/>
                    <a:pt x="183" y="96"/>
                  </a:cubicBezTo>
                  <a:cubicBezTo>
                    <a:pt x="183" y="64"/>
                    <a:pt x="183" y="64"/>
                    <a:pt x="183" y="64"/>
                  </a:cubicBezTo>
                  <a:cubicBezTo>
                    <a:pt x="183" y="52"/>
                    <a:pt x="173" y="43"/>
                    <a:pt x="161" y="43"/>
                  </a:cubicBezTo>
                  <a:cubicBezTo>
                    <a:pt x="76" y="43"/>
                    <a:pt x="76" y="43"/>
                    <a:pt x="76" y="43"/>
                  </a:cubicBezTo>
                  <a:cubicBezTo>
                    <a:pt x="64" y="43"/>
                    <a:pt x="55" y="52"/>
                    <a:pt x="55" y="64"/>
                  </a:cubicBezTo>
                  <a:cubicBezTo>
                    <a:pt x="55" y="96"/>
                    <a:pt x="55" y="96"/>
                    <a:pt x="55" y="96"/>
                  </a:cubicBezTo>
                  <a:cubicBezTo>
                    <a:pt x="55" y="108"/>
                    <a:pt x="64" y="117"/>
                    <a:pt x="76" y="117"/>
                  </a:cubicBezTo>
                  <a:close/>
                  <a:moveTo>
                    <a:pt x="76" y="64"/>
                  </a:moveTo>
                  <a:cubicBezTo>
                    <a:pt x="161" y="64"/>
                    <a:pt x="161" y="64"/>
                    <a:pt x="161" y="64"/>
                  </a:cubicBezTo>
                  <a:cubicBezTo>
                    <a:pt x="161" y="96"/>
                    <a:pt x="161" y="96"/>
                    <a:pt x="161" y="96"/>
                  </a:cubicBezTo>
                  <a:cubicBezTo>
                    <a:pt x="76" y="96"/>
                    <a:pt x="76" y="96"/>
                    <a:pt x="76" y="96"/>
                  </a:cubicBezTo>
                  <a:lnTo>
                    <a:pt x="76" y="64"/>
                  </a:lnTo>
                  <a:close/>
                  <a:moveTo>
                    <a:pt x="76" y="192"/>
                  </a:moveTo>
                  <a:cubicBezTo>
                    <a:pt x="64" y="192"/>
                    <a:pt x="55" y="182"/>
                    <a:pt x="55" y="171"/>
                  </a:cubicBezTo>
                  <a:cubicBezTo>
                    <a:pt x="55" y="159"/>
                    <a:pt x="64" y="149"/>
                    <a:pt x="76" y="149"/>
                  </a:cubicBezTo>
                  <a:cubicBezTo>
                    <a:pt x="88" y="149"/>
                    <a:pt x="97" y="159"/>
                    <a:pt x="97" y="171"/>
                  </a:cubicBezTo>
                  <a:cubicBezTo>
                    <a:pt x="97" y="182"/>
                    <a:pt x="88" y="192"/>
                    <a:pt x="76" y="192"/>
                  </a:cubicBezTo>
                  <a:close/>
                  <a:moveTo>
                    <a:pt x="183" y="171"/>
                  </a:moveTo>
                  <a:cubicBezTo>
                    <a:pt x="183" y="182"/>
                    <a:pt x="173" y="192"/>
                    <a:pt x="161" y="192"/>
                  </a:cubicBezTo>
                  <a:cubicBezTo>
                    <a:pt x="150" y="192"/>
                    <a:pt x="140" y="182"/>
                    <a:pt x="140" y="171"/>
                  </a:cubicBezTo>
                  <a:cubicBezTo>
                    <a:pt x="140" y="159"/>
                    <a:pt x="150" y="149"/>
                    <a:pt x="161" y="149"/>
                  </a:cubicBezTo>
                  <a:cubicBezTo>
                    <a:pt x="173" y="149"/>
                    <a:pt x="183" y="159"/>
                    <a:pt x="183" y="171"/>
                  </a:cubicBezTo>
                  <a:close/>
                  <a:moveTo>
                    <a:pt x="233" y="280"/>
                  </a:moveTo>
                  <a:cubicBezTo>
                    <a:pt x="183" y="231"/>
                    <a:pt x="183" y="231"/>
                    <a:pt x="183" y="231"/>
                  </a:cubicBezTo>
                  <a:cubicBezTo>
                    <a:pt x="205" y="223"/>
                    <a:pt x="225" y="204"/>
                    <a:pt x="225" y="181"/>
                  </a:cubicBezTo>
                  <a:cubicBezTo>
                    <a:pt x="225" y="53"/>
                    <a:pt x="225" y="53"/>
                    <a:pt x="225" y="53"/>
                  </a:cubicBezTo>
                  <a:cubicBezTo>
                    <a:pt x="225" y="24"/>
                    <a:pt x="201" y="0"/>
                    <a:pt x="172" y="0"/>
                  </a:cubicBezTo>
                  <a:cubicBezTo>
                    <a:pt x="65" y="0"/>
                    <a:pt x="65" y="0"/>
                    <a:pt x="65" y="0"/>
                  </a:cubicBezTo>
                  <a:cubicBezTo>
                    <a:pt x="36" y="0"/>
                    <a:pt x="12" y="24"/>
                    <a:pt x="12" y="53"/>
                  </a:cubicBezTo>
                  <a:cubicBezTo>
                    <a:pt x="12" y="181"/>
                    <a:pt x="12" y="181"/>
                    <a:pt x="12" y="181"/>
                  </a:cubicBezTo>
                  <a:cubicBezTo>
                    <a:pt x="12" y="206"/>
                    <a:pt x="29" y="227"/>
                    <a:pt x="52" y="233"/>
                  </a:cubicBezTo>
                  <a:cubicBezTo>
                    <a:pt x="4" y="280"/>
                    <a:pt x="4" y="280"/>
                    <a:pt x="4" y="280"/>
                  </a:cubicBezTo>
                  <a:cubicBezTo>
                    <a:pt x="0" y="285"/>
                    <a:pt x="0" y="291"/>
                    <a:pt x="4" y="296"/>
                  </a:cubicBezTo>
                  <a:cubicBezTo>
                    <a:pt x="7" y="298"/>
                    <a:pt x="9" y="299"/>
                    <a:pt x="12" y="299"/>
                  </a:cubicBezTo>
                  <a:cubicBezTo>
                    <a:pt x="15" y="299"/>
                    <a:pt x="17" y="298"/>
                    <a:pt x="20" y="296"/>
                  </a:cubicBezTo>
                  <a:cubicBezTo>
                    <a:pt x="38" y="277"/>
                    <a:pt x="38" y="277"/>
                    <a:pt x="38" y="277"/>
                  </a:cubicBezTo>
                  <a:cubicBezTo>
                    <a:pt x="200" y="277"/>
                    <a:pt x="200" y="277"/>
                    <a:pt x="200" y="277"/>
                  </a:cubicBezTo>
                  <a:cubicBezTo>
                    <a:pt x="218" y="296"/>
                    <a:pt x="218" y="296"/>
                    <a:pt x="218" y="296"/>
                  </a:cubicBezTo>
                  <a:cubicBezTo>
                    <a:pt x="220" y="298"/>
                    <a:pt x="223" y="299"/>
                    <a:pt x="225" y="299"/>
                  </a:cubicBezTo>
                  <a:cubicBezTo>
                    <a:pt x="228" y="299"/>
                    <a:pt x="231" y="298"/>
                    <a:pt x="233" y="296"/>
                  </a:cubicBezTo>
                  <a:cubicBezTo>
                    <a:pt x="237" y="291"/>
                    <a:pt x="237" y="285"/>
                    <a:pt x="233" y="280"/>
                  </a:cubicBezTo>
                  <a:close/>
                  <a:moveTo>
                    <a:pt x="33" y="181"/>
                  </a:moveTo>
                  <a:cubicBezTo>
                    <a:pt x="33" y="53"/>
                    <a:pt x="33" y="53"/>
                    <a:pt x="33" y="53"/>
                  </a:cubicBezTo>
                  <a:cubicBezTo>
                    <a:pt x="33" y="36"/>
                    <a:pt x="48" y="21"/>
                    <a:pt x="65" y="21"/>
                  </a:cubicBezTo>
                  <a:cubicBezTo>
                    <a:pt x="172" y="21"/>
                    <a:pt x="172" y="21"/>
                    <a:pt x="172" y="21"/>
                  </a:cubicBezTo>
                  <a:cubicBezTo>
                    <a:pt x="190" y="21"/>
                    <a:pt x="204" y="36"/>
                    <a:pt x="204" y="53"/>
                  </a:cubicBezTo>
                  <a:cubicBezTo>
                    <a:pt x="204" y="181"/>
                    <a:pt x="204" y="181"/>
                    <a:pt x="204" y="181"/>
                  </a:cubicBezTo>
                  <a:cubicBezTo>
                    <a:pt x="204" y="198"/>
                    <a:pt x="180" y="213"/>
                    <a:pt x="161" y="213"/>
                  </a:cubicBezTo>
                  <a:cubicBezTo>
                    <a:pt x="65" y="213"/>
                    <a:pt x="65" y="213"/>
                    <a:pt x="65" y="213"/>
                  </a:cubicBezTo>
                  <a:cubicBezTo>
                    <a:pt x="48" y="213"/>
                    <a:pt x="33" y="199"/>
                    <a:pt x="33" y="181"/>
                  </a:cubicBezTo>
                  <a:close/>
                  <a:moveTo>
                    <a:pt x="59" y="256"/>
                  </a:moveTo>
                  <a:cubicBezTo>
                    <a:pt x="80" y="235"/>
                    <a:pt x="80" y="235"/>
                    <a:pt x="80" y="235"/>
                  </a:cubicBezTo>
                  <a:cubicBezTo>
                    <a:pt x="157" y="235"/>
                    <a:pt x="157" y="235"/>
                    <a:pt x="157" y="235"/>
                  </a:cubicBezTo>
                  <a:cubicBezTo>
                    <a:pt x="178" y="256"/>
                    <a:pt x="178" y="256"/>
                    <a:pt x="178" y="256"/>
                  </a:cubicBezTo>
                  <a:lnTo>
                    <a:pt x="59" y="25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375" name="Group 374"/>
          <p:cNvGrpSpPr/>
          <p:nvPr/>
        </p:nvGrpSpPr>
        <p:grpSpPr>
          <a:xfrm>
            <a:off x="6815466" y="4185999"/>
            <a:ext cx="199441" cy="248714"/>
            <a:chOff x="5592135" y="2933322"/>
            <a:chExt cx="265575" cy="331187"/>
          </a:xfrm>
        </p:grpSpPr>
        <p:sp>
          <p:nvSpPr>
            <p:cNvPr id="242" name="Freeform 518"/>
            <p:cNvSpPr>
              <a:spLocks noEditPoints="1"/>
            </p:cNvSpPr>
            <p:nvPr/>
          </p:nvSpPr>
          <p:spPr bwMode="auto">
            <a:xfrm>
              <a:off x="5692116" y="2977063"/>
              <a:ext cx="65612" cy="65612"/>
            </a:xfrm>
            <a:custGeom>
              <a:avLst/>
              <a:gdLst>
                <a:gd name="T0" fmla="*/ 32 w 64"/>
                <a:gd name="T1" fmla="*/ 0 h 64"/>
                <a:gd name="T2" fmla="*/ 0 w 64"/>
                <a:gd name="T3" fmla="*/ 32 h 64"/>
                <a:gd name="T4" fmla="*/ 32 w 64"/>
                <a:gd name="T5" fmla="*/ 64 h 64"/>
                <a:gd name="T6" fmla="*/ 64 w 64"/>
                <a:gd name="T7" fmla="*/ 32 h 64"/>
                <a:gd name="T8" fmla="*/ 32 w 64"/>
                <a:gd name="T9" fmla="*/ 0 h 64"/>
                <a:gd name="T10" fmla="*/ 32 w 64"/>
                <a:gd name="T11" fmla="*/ 43 h 64"/>
                <a:gd name="T12" fmla="*/ 21 w 64"/>
                <a:gd name="T13" fmla="*/ 32 h 64"/>
                <a:gd name="T14" fmla="*/ 32 w 64"/>
                <a:gd name="T15" fmla="*/ 22 h 64"/>
                <a:gd name="T16" fmla="*/ 42 w 64"/>
                <a:gd name="T17" fmla="*/ 32 h 64"/>
                <a:gd name="T18" fmla="*/ 32 w 64"/>
                <a:gd name="T19"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4" y="0"/>
                    <a:pt x="0" y="15"/>
                    <a:pt x="0" y="32"/>
                  </a:cubicBezTo>
                  <a:cubicBezTo>
                    <a:pt x="0" y="50"/>
                    <a:pt x="14" y="64"/>
                    <a:pt x="32" y="64"/>
                  </a:cubicBezTo>
                  <a:cubicBezTo>
                    <a:pt x="49" y="64"/>
                    <a:pt x="64" y="50"/>
                    <a:pt x="64" y="32"/>
                  </a:cubicBezTo>
                  <a:cubicBezTo>
                    <a:pt x="64" y="15"/>
                    <a:pt x="49" y="0"/>
                    <a:pt x="32" y="0"/>
                  </a:cubicBezTo>
                  <a:close/>
                  <a:moveTo>
                    <a:pt x="32" y="43"/>
                  </a:moveTo>
                  <a:cubicBezTo>
                    <a:pt x="26" y="43"/>
                    <a:pt x="21" y="38"/>
                    <a:pt x="21" y="32"/>
                  </a:cubicBezTo>
                  <a:cubicBezTo>
                    <a:pt x="21" y="26"/>
                    <a:pt x="26" y="22"/>
                    <a:pt x="32" y="22"/>
                  </a:cubicBezTo>
                  <a:cubicBezTo>
                    <a:pt x="38" y="22"/>
                    <a:pt x="42" y="26"/>
                    <a:pt x="42" y="32"/>
                  </a:cubicBezTo>
                  <a:cubicBezTo>
                    <a:pt x="42" y="38"/>
                    <a:pt x="38" y="43"/>
                    <a:pt x="32" y="43"/>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243" name="Freeform 519"/>
            <p:cNvSpPr>
              <a:spLocks noEditPoints="1"/>
            </p:cNvSpPr>
            <p:nvPr/>
          </p:nvSpPr>
          <p:spPr bwMode="auto">
            <a:xfrm>
              <a:off x="5692116" y="3066109"/>
              <a:ext cx="65612" cy="65612"/>
            </a:xfrm>
            <a:custGeom>
              <a:avLst/>
              <a:gdLst>
                <a:gd name="T0" fmla="*/ 32 w 64"/>
                <a:gd name="T1" fmla="*/ 0 h 64"/>
                <a:gd name="T2" fmla="*/ 0 w 64"/>
                <a:gd name="T3" fmla="*/ 32 h 64"/>
                <a:gd name="T4" fmla="*/ 32 w 64"/>
                <a:gd name="T5" fmla="*/ 64 h 64"/>
                <a:gd name="T6" fmla="*/ 64 w 64"/>
                <a:gd name="T7" fmla="*/ 32 h 64"/>
                <a:gd name="T8" fmla="*/ 32 w 64"/>
                <a:gd name="T9" fmla="*/ 0 h 64"/>
                <a:gd name="T10" fmla="*/ 32 w 64"/>
                <a:gd name="T11" fmla="*/ 42 h 64"/>
                <a:gd name="T12" fmla="*/ 21 w 64"/>
                <a:gd name="T13" fmla="*/ 32 h 64"/>
                <a:gd name="T14" fmla="*/ 32 w 64"/>
                <a:gd name="T15" fmla="*/ 21 h 64"/>
                <a:gd name="T16" fmla="*/ 42 w 64"/>
                <a:gd name="T17" fmla="*/ 32 h 64"/>
                <a:gd name="T18" fmla="*/ 32 w 64"/>
                <a:gd name="T19"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4" y="0"/>
                    <a:pt x="0" y="14"/>
                    <a:pt x="0" y="32"/>
                  </a:cubicBezTo>
                  <a:cubicBezTo>
                    <a:pt x="0" y="49"/>
                    <a:pt x="14" y="64"/>
                    <a:pt x="32" y="64"/>
                  </a:cubicBezTo>
                  <a:cubicBezTo>
                    <a:pt x="49" y="64"/>
                    <a:pt x="64" y="49"/>
                    <a:pt x="64" y="32"/>
                  </a:cubicBezTo>
                  <a:cubicBezTo>
                    <a:pt x="64" y="14"/>
                    <a:pt x="49" y="0"/>
                    <a:pt x="32" y="0"/>
                  </a:cubicBezTo>
                  <a:close/>
                  <a:moveTo>
                    <a:pt x="32" y="42"/>
                  </a:moveTo>
                  <a:cubicBezTo>
                    <a:pt x="26" y="42"/>
                    <a:pt x="21" y="38"/>
                    <a:pt x="21" y="32"/>
                  </a:cubicBezTo>
                  <a:cubicBezTo>
                    <a:pt x="21" y="26"/>
                    <a:pt x="26" y="21"/>
                    <a:pt x="32" y="21"/>
                  </a:cubicBezTo>
                  <a:cubicBezTo>
                    <a:pt x="38" y="21"/>
                    <a:pt x="42" y="26"/>
                    <a:pt x="42" y="32"/>
                  </a:cubicBezTo>
                  <a:cubicBezTo>
                    <a:pt x="42" y="38"/>
                    <a:pt x="38" y="42"/>
                    <a:pt x="32" y="42"/>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244" name="Freeform 520"/>
            <p:cNvSpPr>
              <a:spLocks noEditPoints="1"/>
            </p:cNvSpPr>
            <p:nvPr/>
          </p:nvSpPr>
          <p:spPr bwMode="auto">
            <a:xfrm>
              <a:off x="5692116" y="3153592"/>
              <a:ext cx="65612" cy="67175"/>
            </a:xfrm>
            <a:custGeom>
              <a:avLst/>
              <a:gdLst>
                <a:gd name="T0" fmla="*/ 32 w 64"/>
                <a:gd name="T1" fmla="*/ 0 h 64"/>
                <a:gd name="T2" fmla="*/ 0 w 64"/>
                <a:gd name="T3" fmla="*/ 32 h 64"/>
                <a:gd name="T4" fmla="*/ 32 w 64"/>
                <a:gd name="T5" fmla="*/ 64 h 64"/>
                <a:gd name="T6" fmla="*/ 64 w 64"/>
                <a:gd name="T7" fmla="*/ 32 h 64"/>
                <a:gd name="T8" fmla="*/ 32 w 64"/>
                <a:gd name="T9" fmla="*/ 0 h 64"/>
                <a:gd name="T10" fmla="*/ 32 w 64"/>
                <a:gd name="T11" fmla="*/ 43 h 64"/>
                <a:gd name="T12" fmla="*/ 21 w 64"/>
                <a:gd name="T13" fmla="*/ 32 h 64"/>
                <a:gd name="T14" fmla="*/ 32 w 64"/>
                <a:gd name="T15" fmla="*/ 21 h 64"/>
                <a:gd name="T16" fmla="*/ 42 w 64"/>
                <a:gd name="T17" fmla="*/ 32 h 64"/>
                <a:gd name="T18" fmla="*/ 32 w 64"/>
                <a:gd name="T19"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4" y="0"/>
                    <a:pt x="0" y="14"/>
                    <a:pt x="0" y="32"/>
                  </a:cubicBezTo>
                  <a:cubicBezTo>
                    <a:pt x="0" y="50"/>
                    <a:pt x="14" y="64"/>
                    <a:pt x="32" y="64"/>
                  </a:cubicBezTo>
                  <a:cubicBezTo>
                    <a:pt x="49" y="64"/>
                    <a:pt x="64" y="50"/>
                    <a:pt x="64" y="32"/>
                  </a:cubicBezTo>
                  <a:cubicBezTo>
                    <a:pt x="64" y="14"/>
                    <a:pt x="49" y="0"/>
                    <a:pt x="32" y="0"/>
                  </a:cubicBezTo>
                  <a:close/>
                  <a:moveTo>
                    <a:pt x="32" y="43"/>
                  </a:moveTo>
                  <a:cubicBezTo>
                    <a:pt x="26" y="43"/>
                    <a:pt x="21" y="38"/>
                    <a:pt x="21" y="32"/>
                  </a:cubicBezTo>
                  <a:cubicBezTo>
                    <a:pt x="21" y="26"/>
                    <a:pt x="26" y="21"/>
                    <a:pt x="32" y="21"/>
                  </a:cubicBezTo>
                  <a:cubicBezTo>
                    <a:pt x="38" y="21"/>
                    <a:pt x="42" y="26"/>
                    <a:pt x="42" y="32"/>
                  </a:cubicBezTo>
                  <a:cubicBezTo>
                    <a:pt x="42" y="38"/>
                    <a:pt x="38" y="43"/>
                    <a:pt x="32" y="43"/>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245" name="Freeform 521"/>
            <p:cNvSpPr>
              <a:spLocks noEditPoints="1"/>
            </p:cNvSpPr>
            <p:nvPr/>
          </p:nvSpPr>
          <p:spPr bwMode="auto">
            <a:xfrm>
              <a:off x="5592135" y="2933322"/>
              <a:ext cx="265575" cy="331187"/>
            </a:xfrm>
            <a:custGeom>
              <a:avLst/>
              <a:gdLst>
                <a:gd name="T0" fmla="*/ 256 w 256"/>
                <a:gd name="T1" fmla="*/ 128 h 320"/>
                <a:gd name="T2" fmla="*/ 245 w 256"/>
                <a:gd name="T3" fmla="*/ 117 h 320"/>
                <a:gd name="T4" fmla="*/ 202 w 256"/>
                <a:gd name="T5" fmla="*/ 117 h 320"/>
                <a:gd name="T6" fmla="*/ 202 w 256"/>
                <a:gd name="T7" fmla="*/ 95 h 320"/>
                <a:gd name="T8" fmla="*/ 256 w 256"/>
                <a:gd name="T9" fmla="*/ 32 h 320"/>
                <a:gd name="T10" fmla="*/ 245 w 256"/>
                <a:gd name="T11" fmla="*/ 21 h 320"/>
                <a:gd name="T12" fmla="*/ 196 w 256"/>
                <a:gd name="T13" fmla="*/ 21 h 320"/>
                <a:gd name="T14" fmla="*/ 160 w 256"/>
                <a:gd name="T15" fmla="*/ 0 h 320"/>
                <a:gd name="T16" fmla="*/ 96 w 256"/>
                <a:gd name="T17" fmla="*/ 0 h 320"/>
                <a:gd name="T18" fmla="*/ 59 w 256"/>
                <a:gd name="T19" fmla="*/ 21 h 320"/>
                <a:gd name="T20" fmla="*/ 10 w 256"/>
                <a:gd name="T21" fmla="*/ 21 h 320"/>
                <a:gd name="T22" fmla="*/ 0 w 256"/>
                <a:gd name="T23" fmla="*/ 32 h 320"/>
                <a:gd name="T24" fmla="*/ 53 w 256"/>
                <a:gd name="T25" fmla="*/ 95 h 320"/>
                <a:gd name="T26" fmla="*/ 53 w 256"/>
                <a:gd name="T27" fmla="*/ 117 h 320"/>
                <a:gd name="T28" fmla="*/ 10 w 256"/>
                <a:gd name="T29" fmla="*/ 117 h 320"/>
                <a:gd name="T30" fmla="*/ 0 w 256"/>
                <a:gd name="T31" fmla="*/ 128 h 320"/>
                <a:gd name="T32" fmla="*/ 53 w 256"/>
                <a:gd name="T33" fmla="*/ 191 h 320"/>
                <a:gd name="T34" fmla="*/ 53 w 256"/>
                <a:gd name="T35" fmla="*/ 213 h 320"/>
                <a:gd name="T36" fmla="*/ 10 w 256"/>
                <a:gd name="T37" fmla="*/ 213 h 320"/>
                <a:gd name="T38" fmla="*/ 0 w 256"/>
                <a:gd name="T39" fmla="*/ 224 h 320"/>
                <a:gd name="T40" fmla="*/ 54 w 256"/>
                <a:gd name="T41" fmla="*/ 287 h 320"/>
                <a:gd name="T42" fmla="*/ 96 w 256"/>
                <a:gd name="T43" fmla="*/ 320 h 320"/>
                <a:gd name="T44" fmla="*/ 160 w 256"/>
                <a:gd name="T45" fmla="*/ 320 h 320"/>
                <a:gd name="T46" fmla="*/ 201 w 256"/>
                <a:gd name="T47" fmla="*/ 287 h 320"/>
                <a:gd name="T48" fmla="*/ 256 w 256"/>
                <a:gd name="T49" fmla="*/ 224 h 320"/>
                <a:gd name="T50" fmla="*/ 245 w 256"/>
                <a:gd name="T51" fmla="*/ 213 h 320"/>
                <a:gd name="T52" fmla="*/ 202 w 256"/>
                <a:gd name="T53" fmla="*/ 213 h 320"/>
                <a:gd name="T54" fmla="*/ 202 w 256"/>
                <a:gd name="T55" fmla="*/ 191 h 320"/>
                <a:gd name="T56" fmla="*/ 256 w 256"/>
                <a:gd name="T57" fmla="*/ 128 h 320"/>
                <a:gd name="T58" fmla="*/ 233 w 256"/>
                <a:gd name="T59" fmla="*/ 138 h 320"/>
                <a:gd name="T60" fmla="*/ 202 w 256"/>
                <a:gd name="T61" fmla="*/ 169 h 320"/>
                <a:gd name="T62" fmla="*/ 202 w 256"/>
                <a:gd name="T63" fmla="*/ 138 h 320"/>
                <a:gd name="T64" fmla="*/ 233 w 256"/>
                <a:gd name="T65" fmla="*/ 138 h 320"/>
                <a:gd name="T66" fmla="*/ 233 w 256"/>
                <a:gd name="T67" fmla="*/ 42 h 320"/>
                <a:gd name="T68" fmla="*/ 202 w 256"/>
                <a:gd name="T69" fmla="*/ 73 h 320"/>
                <a:gd name="T70" fmla="*/ 202 w 256"/>
                <a:gd name="T71" fmla="*/ 42 h 320"/>
                <a:gd name="T72" fmla="*/ 233 w 256"/>
                <a:gd name="T73" fmla="*/ 42 h 320"/>
                <a:gd name="T74" fmla="*/ 22 w 256"/>
                <a:gd name="T75" fmla="*/ 42 h 320"/>
                <a:gd name="T76" fmla="*/ 53 w 256"/>
                <a:gd name="T77" fmla="*/ 42 h 320"/>
                <a:gd name="T78" fmla="*/ 53 w 256"/>
                <a:gd name="T79" fmla="*/ 73 h 320"/>
                <a:gd name="T80" fmla="*/ 22 w 256"/>
                <a:gd name="T81" fmla="*/ 42 h 320"/>
                <a:gd name="T82" fmla="*/ 22 w 256"/>
                <a:gd name="T83" fmla="*/ 138 h 320"/>
                <a:gd name="T84" fmla="*/ 53 w 256"/>
                <a:gd name="T85" fmla="*/ 138 h 320"/>
                <a:gd name="T86" fmla="*/ 53 w 256"/>
                <a:gd name="T87" fmla="*/ 169 h 320"/>
                <a:gd name="T88" fmla="*/ 22 w 256"/>
                <a:gd name="T89" fmla="*/ 138 h 320"/>
                <a:gd name="T90" fmla="*/ 22 w 256"/>
                <a:gd name="T91" fmla="*/ 234 h 320"/>
                <a:gd name="T92" fmla="*/ 53 w 256"/>
                <a:gd name="T93" fmla="*/ 234 h 320"/>
                <a:gd name="T94" fmla="*/ 53 w 256"/>
                <a:gd name="T95" fmla="*/ 265 h 320"/>
                <a:gd name="T96" fmla="*/ 22 w 256"/>
                <a:gd name="T97" fmla="*/ 234 h 320"/>
                <a:gd name="T98" fmla="*/ 181 w 256"/>
                <a:gd name="T99" fmla="*/ 277 h 320"/>
                <a:gd name="T100" fmla="*/ 160 w 256"/>
                <a:gd name="T101" fmla="*/ 298 h 320"/>
                <a:gd name="T102" fmla="*/ 96 w 256"/>
                <a:gd name="T103" fmla="*/ 298 h 320"/>
                <a:gd name="T104" fmla="*/ 74 w 256"/>
                <a:gd name="T105" fmla="*/ 277 h 320"/>
                <a:gd name="T106" fmla="*/ 74 w 256"/>
                <a:gd name="T107" fmla="*/ 42 h 320"/>
                <a:gd name="T108" fmla="*/ 96 w 256"/>
                <a:gd name="T109" fmla="*/ 21 h 320"/>
                <a:gd name="T110" fmla="*/ 160 w 256"/>
                <a:gd name="T111" fmla="*/ 21 h 320"/>
                <a:gd name="T112" fmla="*/ 181 w 256"/>
                <a:gd name="T113" fmla="*/ 42 h 320"/>
                <a:gd name="T114" fmla="*/ 181 w 256"/>
                <a:gd name="T115" fmla="*/ 277 h 320"/>
                <a:gd name="T116" fmla="*/ 233 w 256"/>
                <a:gd name="T117" fmla="*/ 234 h 320"/>
                <a:gd name="T118" fmla="*/ 202 w 256"/>
                <a:gd name="T119" fmla="*/ 265 h 320"/>
                <a:gd name="T120" fmla="*/ 202 w 256"/>
                <a:gd name="T121" fmla="*/ 234 h 320"/>
                <a:gd name="T122" fmla="*/ 233 w 256"/>
                <a:gd name="T123" fmla="*/ 23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256" y="128"/>
                  </a:moveTo>
                  <a:cubicBezTo>
                    <a:pt x="256" y="122"/>
                    <a:pt x="251" y="117"/>
                    <a:pt x="245" y="117"/>
                  </a:cubicBezTo>
                  <a:cubicBezTo>
                    <a:pt x="202" y="117"/>
                    <a:pt x="202" y="117"/>
                    <a:pt x="202" y="117"/>
                  </a:cubicBezTo>
                  <a:cubicBezTo>
                    <a:pt x="202" y="95"/>
                    <a:pt x="202" y="95"/>
                    <a:pt x="202" y="95"/>
                  </a:cubicBezTo>
                  <a:cubicBezTo>
                    <a:pt x="244" y="89"/>
                    <a:pt x="256" y="52"/>
                    <a:pt x="256" y="32"/>
                  </a:cubicBezTo>
                  <a:cubicBezTo>
                    <a:pt x="256" y="26"/>
                    <a:pt x="251" y="21"/>
                    <a:pt x="245" y="21"/>
                  </a:cubicBezTo>
                  <a:cubicBezTo>
                    <a:pt x="196" y="21"/>
                    <a:pt x="196" y="21"/>
                    <a:pt x="196" y="21"/>
                  </a:cubicBezTo>
                  <a:cubicBezTo>
                    <a:pt x="189" y="8"/>
                    <a:pt x="175" y="0"/>
                    <a:pt x="160" y="0"/>
                  </a:cubicBezTo>
                  <a:cubicBezTo>
                    <a:pt x="96" y="0"/>
                    <a:pt x="96" y="0"/>
                    <a:pt x="96" y="0"/>
                  </a:cubicBezTo>
                  <a:cubicBezTo>
                    <a:pt x="80" y="0"/>
                    <a:pt x="66" y="8"/>
                    <a:pt x="59" y="21"/>
                  </a:cubicBezTo>
                  <a:cubicBezTo>
                    <a:pt x="10" y="21"/>
                    <a:pt x="10" y="21"/>
                    <a:pt x="10" y="21"/>
                  </a:cubicBezTo>
                  <a:cubicBezTo>
                    <a:pt x="4" y="21"/>
                    <a:pt x="0" y="26"/>
                    <a:pt x="0" y="32"/>
                  </a:cubicBezTo>
                  <a:cubicBezTo>
                    <a:pt x="0" y="52"/>
                    <a:pt x="11" y="89"/>
                    <a:pt x="53" y="95"/>
                  </a:cubicBezTo>
                  <a:cubicBezTo>
                    <a:pt x="53" y="117"/>
                    <a:pt x="53" y="117"/>
                    <a:pt x="53" y="117"/>
                  </a:cubicBezTo>
                  <a:cubicBezTo>
                    <a:pt x="10" y="117"/>
                    <a:pt x="10" y="117"/>
                    <a:pt x="10" y="117"/>
                  </a:cubicBezTo>
                  <a:cubicBezTo>
                    <a:pt x="4" y="117"/>
                    <a:pt x="0" y="122"/>
                    <a:pt x="0" y="128"/>
                  </a:cubicBezTo>
                  <a:cubicBezTo>
                    <a:pt x="0" y="148"/>
                    <a:pt x="11" y="185"/>
                    <a:pt x="53" y="191"/>
                  </a:cubicBezTo>
                  <a:cubicBezTo>
                    <a:pt x="53" y="213"/>
                    <a:pt x="53" y="213"/>
                    <a:pt x="53" y="213"/>
                  </a:cubicBezTo>
                  <a:cubicBezTo>
                    <a:pt x="10" y="213"/>
                    <a:pt x="10" y="213"/>
                    <a:pt x="10" y="213"/>
                  </a:cubicBezTo>
                  <a:cubicBezTo>
                    <a:pt x="4" y="213"/>
                    <a:pt x="0" y="218"/>
                    <a:pt x="0" y="224"/>
                  </a:cubicBezTo>
                  <a:cubicBezTo>
                    <a:pt x="0" y="244"/>
                    <a:pt x="11" y="282"/>
                    <a:pt x="54" y="287"/>
                  </a:cubicBezTo>
                  <a:cubicBezTo>
                    <a:pt x="59" y="306"/>
                    <a:pt x="76" y="320"/>
                    <a:pt x="96" y="320"/>
                  </a:cubicBezTo>
                  <a:cubicBezTo>
                    <a:pt x="160" y="320"/>
                    <a:pt x="160" y="320"/>
                    <a:pt x="160" y="320"/>
                  </a:cubicBezTo>
                  <a:cubicBezTo>
                    <a:pt x="180" y="320"/>
                    <a:pt x="196" y="306"/>
                    <a:pt x="201" y="287"/>
                  </a:cubicBezTo>
                  <a:cubicBezTo>
                    <a:pt x="244" y="282"/>
                    <a:pt x="256" y="244"/>
                    <a:pt x="256" y="224"/>
                  </a:cubicBezTo>
                  <a:cubicBezTo>
                    <a:pt x="256" y="218"/>
                    <a:pt x="251" y="213"/>
                    <a:pt x="245" y="213"/>
                  </a:cubicBezTo>
                  <a:cubicBezTo>
                    <a:pt x="202" y="213"/>
                    <a:pt x="202" y="213"/>
                    <a:pt x="202" y="213"/>
                  </a:cubicBezTo>
                  <a:cubicBezTo>
                    <a:pt x="202" y="191"/>
                    <a:pt x="202" y="191"/>
                    <a:pt x="202" y="191"/>
                  </a:cubicBezTo>
                  <a:cubicBezTo>
                    <a:pt x="244" y="185"/>
                    <a:pt x="256" y="148"/>
                    <a:pt x="256" y="128"/>
                  </a:cubicBezTo>
                  <a:close/>
                  <a:moveTo>
                    <a:pt x="233" y="138"/>
                  </a:moveTo>
                  <a:cubicBezTo>
                    <a:pt x="230" y="149"/>
                    <a:pt x="223" y="165"/>
                    <a:pt x="202" y="169"/>
                  </a:cubicBezTo>
                  <a:cubicBezTo>
                    <a:pt x="202" y="138"/>
                    <a:pt x="202" y="138"/>
                    <a:pt x="202" y="138"/>
                  </a:cubicBezTo>
                  <a:lnTo>
                    <a:pt x="233" y="138"/>
                  </a:lnTo>
                  <a:close/>
                  <a:moveTo>
                    <a:pt x="233" y="42"/>
                  </a:moveTo>
                  <a:cubicBezTo>
                    <a:pt x="230" y="53"/>
                    <a:pt x="223" y="69"/>
                    <a:pt x="202" y="73"/>
                  </a:cubicBezTo>
                  <a:cubicBezTo>
                    <a:pt x="202" y="42"/>
                    <a:pt x="202" y="42"/>
                    <a:pt x="202" y="42"/>
                  </a:cubicBezTo>
                  <a:lnTo>
                    <a:pt x="233" y="42"/>
                  </a:lnTo>
                  <a:close/>
                  <a:moveTo>
                    <a:pt x="22" y="42"/>
                  </a:moveTo>
                  <a:cubicBezTo>
                    <a:pt x="53" y="42"/>
                    <a:pt x="53" y="42"/>
                    <a:pt x="53" y="42"/>
                  </a:cubicBezTo>
                  <a:cubicBezTo>
                    <a:pt x="53" y="73"/>
                    <a:pt x="53" y="73"/>
                    <a:pt x="53" y="73"/>
                  </a:cubicBezTo>
                  <a:cubicBezTo>
                    <a:pt x="32" y="69"/>
                    <a:pt x="25" y="53"/>
                    <a:pt x="22" y="42"/>
                  </a:cubicBezTo>
                  <a:close/>
                  <a:moveTo>
                    <a:pt x="22" y="138"/>
                  </a:moveTo>
                  <a:cubicBezTo>
                    <a:pt x="53" y="138"/>
                    <a:pt x="53" y="138"/>
                    <a:pt x="53" y="138"/>
                  </a:cubicBezTo>
                  <a:cubicBezTo>
                    <a:pt x="53" y="169"/>
                    <a:pt x="53" y="169"/>
                    <a:pt x="53" y="169"/>
                  </a:cubicBezTo>
                  <a:cubicBezTo>
                    <a:pt x="32" y="165"/>
                    <a:pt x="25" y="149"/>
                    <a:pt x="22" y="138"/>
                  </a:cubicBezTo>
                  <a:close/>
                  <a:moveTo>
                    <a:pt x="22" y="234"/>
                  </a:moveTo>
                  <a:cubicBezTo>
                    <a:pt x="53" y="234"/>
                    <a:pt x="53" y="234"/>
                    <a:pt x="53" y="234"/>
                  </a:cubicBezTo>
                  <a:cubicBezTo>
                    <a:pt x="53" y="265"/>
                    <a:pt x="53" y="265"/>
                    <a:pt x="53" y="265"/>
                  </a:cubicBezTo>
                  <a:cubicBezTo>
                    <a:pt x="32" y="261"/>
                    <a:pt x="25" y="245"/>
                    <a:pt x="22" y="234"/>
                  </a:cubicBezTo>
                  <a:close/>
                  <a:moveTo>
                    <a:pt x="181" y="277"/>
                  </a:moveTo>
                  <a:cubicBezTo>
                    <a:pt x="181" y="289"/>
                    <a:pt x="171" y="298"/>
                    <a:pt x="160" y="298"/>
                  </a:cubicBezTo>
                  <a:cubicBezTo>
                    <a:pt x="96" y="298"/>
                    <a:pt x="96" y="298"/>
                    <a:pt x="96" y="298"/>
                  </a:cubicBezTo>
                  <a:cubicBezTo>
                    <a:pt x="84" y="298"/>
                    <a:pt x="74" y="289"/>
                    <a:pt x="74" y="277"/>
                  </a:cubicBezTo>
                  <a:cubicBezTo>
                    <a:pt x="74" y="42"/>
                    <a:pt x="74" y="42"/>
                    <a:pt x="74" y="42"/>
                  </a:cubicBezTo>
                  <a:cubicBezTo>
                    <a:pt x="74" y="31"/>
                    <a:pt x="84" y="21"/>
                    <a:pt x="96" y="21"/>
                  </a:cubicBezTo>
                  <a:cubicBezTo>
                    <a:pt x="160" y="21"/>
                    <a:pt x="160" y="21"/>
                    <a:pt x="160" y="21"/>
                  </a:cubicBezTo>
                  <a:cubicBezTo>
                    <a:pt x="171" y="21"/>
                    <a:pt x="181" y="31"/>
                    <a:pt x="181" y="42"/>
                  </a:cubicBezTo>
                  <a:lnTo>
                    <a:pt x="181" y="277"/>
                  </a:lnTo>
                  <a:close/>
                  <a:moveTo>
                    <a:pt x="233" y="234"/>
                  </a:moveTo>
                  <a:cubicBezTo>
                    <a:pt x="230" y="245"/>
                    <a:pt x="223" y="261"/>
                    <a:pt x="202" y="265"/>
                  </a:cubicBezTo>
                  <a:cubicBezTo>
                    <a:pt x="202" y="234"/>
                    <a:pt x="202" y="234"/>
                    <a:pt x="202" y="234"/>
                  </a:cubicBezTo>
                  <a:lnTo>
                    <a:pt x="233" y="234"/>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342" name="Group 341"/>
          <p:cNvGrpSpPr/>
          <p:nvPr/>
        </p:nvGrpSpPr>
        <p:grpSpPr>
          <a:xfrm>
            <a:off x="5001791" y="6580650"/>
            <a:ext cx="1377590" cy="352329"/>
            <a:chOff x="3961141" y="5956803"/>
            <a:chExt cx="1249200" cy="319492"/>
          </a:xfrm>
        </p:grpSpPr>
        <p:sp>
          <p:nvSpPr>
            <p:cNvPr id="158" name="Rectangle 157"/>
            <p:cNvSpPr/>
            <p:nvPr/>
          </p:nvSpPr>
          <p:spPr bwMode="gray">
            <a:xfrm>
              <a:off x="3961141" y="5956803"/>
              <a:ext cx="1249200"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60" name="Rectangle 159"/>
            <p:cNvSpPr/>
            <p:nvPr/>
          </p:nvSpPr>
          <p:spPr bwMode="gray">
            <a:xfrm>
              <a:off x="4382348" y="5993428"/>
              <a:ext cx="765261"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Freight*</a:t>
              </a:r>
            </a:p>
          </p:txBody>
        </p:sp>
        <p:sp>
          <p:nvSpPr>
            <p:cNvPr id="263" name="Freeform 293"/>
            <p:cNvSpPr>
              <a:spLocks noEditPoints="1"/>
            </p:cNvSpPr>
            <p:nvPr/>
          </p:nvSpPr>
          <p:spPr bwMode="auto">
            <a:xfrm>
              <a:off x="4043344" y="6048639"/>
              <a:ext cx="256801" cy="167501"/>
            </a:xfrm>
            <a:custGeom>
              <a:avLst/>
              <a:gdLst>
                <a:gd name="T0" fmla="*/ 317 w 320"/>
                <a:gd name="T1" fmla="*/ 45 h 170"/>
                <a:gd name="T2" fmla="*/ 295 w 320"/>
                <a:gd name="T3" fmla="*/ 24 h 170"/>
                <a:gd name="T4" fmla="*/ 288 w 320"/>
                <a:gd name="T5" fmla="*/ 21 h 170"/>
                <a:gd name="T6" fmla="*/ 245 w 320"/>
                <a:gd name="T7" fmla="*/ 21 h 170"/>
                <a:gd name="T8" fmla="*/ 245 w 320"/>
                <a:gd name="T9" fmla="*/ 10 h 170"/>
                <a:gd name="T10" fmla="*/ 234 w 320"/>
                <a:gd name="T11" fmla="*/ 0 h 170"/>
                <a:gd name="T12" fmla="*/ 10 w 320"/>
                <a:gd name="T13" fmla="*/ 0 h 170"/>
                <a:gd name="T14" fmla="*/ 0 w 320"/>
                <a:gd name="T15" fmla="*/ 10 h 170"/>
                <a:gd name="T16" fmla="*/ 0 w 320"/>
                <a:gd name="T17" fmla="*/ 117 h 170"/>
                <a:gd name="T18" fmla="*/ 10 w 320"/>
                <a:gd name="T19" fmla="*/ 128 h 170"/>
                <a:gd name="T20" fmla="*/ 23 w 320"/>
                <a:gd name="T21" fmla="*/ 128 h 170"/>
                <a:gd name="T22" fmla="*/ 21 w 320"/>
                <a:gd name="T23" fmla="*/ 138 h 170"/>
                <a:gd name="T24" fmla="*/ 53 w 320"/>
                <a:gd name="T25" fmla="*/ 170 h 170"/>
                <a:gd name="T26" fmla="*/ 80 w 320"/>
                <a:gd name="T27" fmla="*/ 156 h 170"/>
                <a:gd name="T28" fmla="*/ 106 w 320"/>
                <a:gd name="T29" fmla="*/ 170 h 170"/>
                <a:gd name="T30" fmla="*/ 138 w 320"/>
                <a:gd name="T31" fmla="*/ 138 h 170"/>
                <a:gd name="T32" fmla="*/ 136 w 320"/>
                <a:gd name="T33" fmla="*/ 128 h 170"/>
                <a:gd name="T34" fmla="*/ 234 w 320"/>
                <a:gd name="T35" fmla="*/ 128 h 170"/>
                <a:gd name="T36" fmla="*/ 236 w 320"/>
                <a:gd name="T37" fmla="*/ 128 h 170"/>
                <a:gd name="T38" fmla="*/ 234 w 320"/>
                <a:gd name="T39" fmla="*/ 138 h 170"/>
                <a:gd name="T40" fmla="*/ 266 w 320"/>
                <a:gd name="T41" fmla="*/ 170 h 170"/>
                <a:gd name="T42" fmla="*/ 298 w 320"/>
                <a:gd name="T43" fmla="*/ 138 h 170"/>
                <a:gd name="T44" fmla="*/ 296 w 320"/>
                <a:gd name="T45" fmla="*/ 128 h 170"/>
                <a:gd name="T46" fmla="*/ 309 w 320"/>
                <a:gd name="T47" fmla="*/ 128 h 170"/>
                <a:gd name="T48" fmla="*/ 320 w 320"/>
                <a:gd name="T49" fmla="*/ 117 h 170"/>
                <a:gd name="T50" fmla="*/ 320 w 320"/>
                <a:gd name="T51" fmla="*/ 53 h 170"/>
                <a:gd name="T52" fmla="*/ 317 w 320"/>
                <a:gd name="T53" fmla="*/ 45 h 170"/>
                <a:gd name="T54" fmla="*/ 21 w 320"/>
                <a:gd name="T55" fmla="*/ 21 h 170"/>
                <a:gd name="T56" fmla="*/ 224 w 320"/>
                <a:gd name="T57" fmla="*/ 21 h 170"/>
                <a:gd name="T58" fmla="*/ 224 w 320"/>
                <a:gd name="T59" fmla="*/ 32 h 170"/>
                <a:gd name="T60" fmla="*/ 224 w 320"/>
                <a:gd name="T61" fmla="*/ 106 h 170"/>
                <a:gd name="T62" fmla="*/ 21 w 320"/>
                <a:gd name="T63" fmla="*/ 106 h 170"/>
                <a:gd name="T64" fmla="*/ 21 w 320"/>
                <a:gd name="T65" fmla="*/ 21 h 170"/>
                <a:gd name="T66" fmla="*/ 53 w 320"/>
                <a:gd name="T67" fmla="*/ 149 h 170"/>
                <a:gd name="T68" fmla="*/ 42 w 320"/>
                <a:gd name="T69" fmla="*/ 138 h 170"/>
                <a:gd name="T70" fmla="*/ 53 w 320"/>
                <a:gd name="T71" fmla="*/ 128 h 170"/>
                <a:gd name="T72" fmla="*/ 64 w 320"/>
                <a:gd name="T73" fmla="*/ 138 h 170"/>
                <a:gd name="T74" fmla="*/ 53 w 320"/>
                <a:gd name="T75" fmla="*/ 149 h 170"/>
                <a:gd name="T76" fmla="*/ 117 w 320"/>
                <a:gd name="T77" fmla="*/ 138 h 170"/>
                <a:gd name="T78" fmla="*/ 106 w 320"/>
                <a:gd name="T79" fmla="*/ 149 h 170"/>
                <a:gd name="T80" fmla="*/ 96 w 320"/>
                <a:gd name="T81" fmla="*/ 138 h 170"/>
                <a:gd name="T82" fmla="*/ 106 w 320"/>
                <a:gd name="T83" fmla="*/ 128 h 170"/>
                <a:gd name="T84" fmla="*/ 117 w 320"/>
                <a:gd name="T85" fmla="*/ 138 h 170"/>
                <a:gd name="T86" fmla="*/ 277 w 320"/>
                <a:gd name="T87" fmla="*/ 138 h 170"/>
                <a:gd name="T88" fmla="*/ 266 w 320"/>
                <a:gd name="T89" fmla="*/ 149 h 170"/>
                <a:gd name="T90" fmla="*/ 256 w 320"/>
                <a:gd name="T91" fmla="*/ 138 h 170"/>
                <a:gd name="T92" fmla="*/ 266 w 320"/>
                <a:gd name="T93" fmla="*/ 128 h 170"/>
                <a:gd name="T94" fmla="*/ 277 w 320"/>
                <a:gd name="T95" fmla="*/ 138 h 170"/>
                <a:gd name="T96" fmla="*/ 298 w 320"/>
                <a:gd name="T97" fmla="*/ 106 h 170"/>
                <a:gd name="T98" fmla="*/ 245 w 320"/>
                <a:gd name="T99" fmla="*/ 106 h 170"/>
                <a:gd name="T100" fmla="*/ 245 w 320"/>
                <a:gd name="T101" fmla="*/ 42 h 170"/>
                <a:gd name="T102" fmla="*/ 283 w 320"/>
                <a:gd name="T103" fmla="*/ 42 h 170"/>
                <a:gd name="T104" fmla="*/ 298 w 320"/>
                <a:gd name="T105" fmla="*/ 57 h 170"/>
                <a:gd name="T106" fmla="*/ 298 w 320"/>
                <a:gd name="T107"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0" h="170">
                  <a:moveTo>
                    <a:pt x="317" y="45"/>
                  </a:moveTo>
                  <a:cubicBezTo>
                    <a:pt x="295" y="24"/>
                    <a:pt x="295" y="24"/>
                    <a:pt x="295" y="24"/>
                  </a:cubicBezTo>
                  <a:cubicBezTo>
                    <a:pt x="293" y="22"/>
                    <a:pt x="290" y="21"/>
                    <a:pt x="288" y="21"/>
                  </a:cubicBezTo>
                  <a:cubicBezTo>
                    <a:pt x="245" y="21"/>
                    <a:pt x="245" y="21"/>
                    <a:pt x="245" y="21"/>
                  </a:cubicBezTo>
                  <a:cubicBezTo>
                    <a:pt x="245" y="10"/>
                    <a:pt x="245" y="10"/>
                    <a:pt x="245" y="10"/>
                  </a:cubicBezTo>
                  <a:cubicBezTo>
                    <a:pt x="245" y="4"/>
                    <a:pt x="240" y="0"/>
                    <a:pt x="234" y="0"/>
                  </a:cubicBezTo>
                  <a:cubicBezTo>
                    <a:pt x="10" y="0"/>
                    <a:pt x="10" y="0"/>
                    <a:pt x="10" y="0"/>
                  </a:cubicBezTo>
                  <a:cubicBezTo>
                    <a:pt x="4" y="0"/>
                    <a:pt x="0" y="4"/>
                    <a:pt x="0" y="10"/>
                  </a:cubicBezTo>
                  <a:cubicBezTo>
                    <a:pt x="0" y="117"/>
                    <a:pt x="0" y="117"/>
                    <a:pt x="0" y="117"/>
                  </a:cubicBezTo>
                  <a:cubicBezTo>
                    <a:pt x="0" y="123"/>
                    <a:pt x="4" y="128"/>
                    <a:pt x="10" y="128"/>
                  </a:cubicBezTo>
                  <a:cubicBezTo>
                    <a:pt x="23" y="128"/>
                    <a:pt x="23" y="128"/>
                    <a:pt x="23" y="128"/>
                  </a:cubicBezTo>
                  <a:cubicBezTo>
                    <a:pt x="22" y="131"/>
                    <a:pt x="21" y="135"/>
                    <a:pt x="21" y="138"/>
                  </a:cubicBezTo>
                  <a:cubicBezTo>
                    <a:pt x="21" y="156"/>
                    <a:pt x="35" y="170"/>
                    <a:pt x="53" y="170"/>
                  </a:cubicBezTo>
                  <a:cubicBezTo>
                    <a:pt x="64" y="170"/>
                    <a:pt x="74" y="165"/>
                    <a:pt x="80" y="156"/>
                  </a:cubicBezTo>
                  <a:cubicBezTo>
                    <a:pt x="85" y="165"/>
                    <a:pt x="95" y="170"/>
                    <a:pt x="106" y="170"/>
                  </a:cubicBezTo>
                  <a:cubicBezTo>
                    <a:pt x="124" y="170"/>
                    <a:pt x="138" y="156"/>
                    <a:pt x="138" y="138"/>
                  </a:cubicBezTo>
                  <a:cubicBezTo>
                    <a:pt x="138" y="135"/>
                    <a:pt x="138" y="131"/>
                    <a:pt x="136" y="128"/>
                  </a:cubicBezTo>
                  <a:cubicBezTo>
                    <a:pt x="234" y="128"/>
                    <a:pt x="234" y="128"/>
                    <a:pt x="234" y="128"/>
                  </a:cubicBezTo>
                  <a:cubicBezTo>
                    <a:pt x="236" y="128"/>
                    <a:pt x="236" y="128"/>
                    <a:pt x="236" y="128"/>
                  </a:cubicBezTo>
                  <a:cubicBezTo>
                    <a:pt x="235" y="131"/>
                    <a:pt x="234" y="135"/>
                    <a:pt x="234" y="138"/>
                  </a:cubicBezTo>
                  <a:cubicBezTo>
                    <a:pt x="234" y="156"/>
                    <a:pt x="249" y="170"/>
                    <a:pt x="266" y="170"/>
                  </a:cubicBezTo>
                  <a:cubicBezTo>
                    <a:pt x="284" y="170"/>
                    <a:pt x="298" y="156"/>
                    <a:pt x="298" y="138"/>
                  </a:cubicBezTo>
                  <a:cubicBezTo>
                    <a:pt x="298" y="135"/>
                    <a:pt x="298" y="131"/>
                    <a:pt x="296" y="128"/>
                  </a:cubicBezTo>
                  <a:cubicBezTo>
                    <a:pt x="309" y="128"/>
                    <a:pt x="309" y="128"/>
                    <a:pt x="309" y="128"/>
                  </a:cubicBezTo>
                  <a:cubicBezTo>
                    <a:pt x="315" y="128"/>
                    <a:pt x="320" y="123"/>
                    <a:pt x="320" y="117"/>
                  </a:cubicBezTo>
                  <a:cubicBezTo>
                    <a:pt x="320" y="53"/>
                    <a:pt x="320" y="53"/>
                    <a:pt x="320" y="53"/>
                  </a:cubicBezTo>
                  <a:cubicBezTo>
                    <a:pt x="320" y="50"/>
                    <a:pt x="319" y="47"/>
                    <a:pt x="317" y="45"/>
                  </a:cubicBezTo>
                  <a:close/>
                  <a:moveTo>
                    <a:pt x="21" y="21"/>
                  </a:moveTo>
                  <a:cubicBezTo>
                    <a:pt x="224" y="21"/>
                    <a:pt x="224" y="21"/>
                    <a:pt x="224" y="21"/>
                  </a:cubicBezTo>
                  <a:cubicBezTo>
                    <a:pt x="224" y="32"/>
                    <a:pt x="224" y="32"/>
                    <a:pt x="224" y="32"/>
                  </a:cubicBezTo>
                  <a:cubicBezTo>
                    <a:pt x="224" y="106"/>
                    <a:pt x="224" y="106"/>
                    <a:pt x="224" y="106"/>
                  </a:cubicBezTo>
                  <a:cubicBezTo>
                    <a:pt x="21" y="106"/>
                    <a:pt x="21" y="106"/>
                    <a:pt x="21" y="106"/>
                  </a:cubicBezTo>
                  <a:lnTo>
                    <a:pt x="21" y="21"/>
                  </a:lnTo>
                  <a:close/>
                  <a:moveTo>
                    <a:pt x="53" y="149"/>
                  </a:moveTo>
                  <a:cubicBezTo>
                    <a:pt x="47" y="149"/>
                    <a:pt x="42" y="144"/>
                    <a:pt x="42" y="138"/>
                  </a:cubicBezTo>
                  <a:cubicBezTo>
                    <a:pt x="42" y="132"/>
                    <a:pt x="47" y="128"/>
                    <a:pt x="53" y="128"/>
                  </a:cubicBezTo>
                  <a:cubicBezTo>
                    <a:pt x="59" y="128"/>
                    <a:pt x="64" y="132"/>
                    <a:pt x="64" y="138"/>
                  </a:cubicBezTo>
                  <a:cubicBezTo>
                    <a:pt x="64" y="144"/>
                    <a:pt x="59" y="149"/>
                    <a:pt x="53" y="149"/>
                  </a:cubicBezTo>
                  <a:close/>
                  <a:moveTo>
                    <a:pt x="117" y="138"/>
                  </a:moveTo>
                  <a:cubicBezTo>
                    <a:pt x="117" y="144"/>
                    <a:pt x="112" y="149"/>
                    <a:pt x="106" y="149"/>
                  </a:cubicBezTo>
                  <a:cubicBezTo>
                    <a:pt x="100" y="149"/>
                    <a:pt x="96" y="144"/>
                    <a:pt x="96" y="138"/>
                  </a:cubicBezTo>
                  <a:cubicBezTo>
                    <a:pt x="96" y="132"/>
                    <a:pt x="100" y="128"/>
                    <a:pt x="106" y="128"/>
                  </a:cubicBezTo>
                  <a:cubicBezTo>
                    <a:pt x="112" y="128"/>
                    <a:pt x="117" y="132"/>
                    <a:pt x="117" y="138"/>
                  </a:cubicBezTo>
                  <a:close/>
                  <a:moveTo>
                    <a:pt x="277" y="138"/>
                  </a:moveTo>
                  <a:cubicBezTo>
                    <a:pt x="277" y="144"/>
                    <a:pt x="272" y="149"/>
                    <a:pt x="266" y="149"/>
                  </a:cubicBezTo>
                  <a:cubicBezTo>
                    <a:pt x="260" y="149"/>
                    <a:pt x="256" y="144"/>
                    <a:pt x="256" y="138"/>
                  </a:cubicBezTo>
                  <a:cubicBezTo>
                    <a:pt x="256" y="132"/>
                    <a:pt x="260" y="128"/>
                    <a:pt x="266" y="128"/>
                  </a:cubicBezTo>
                  <a:cubicBezTo>
                    <a:pt x="272" y="128"/>
                    <a:pt x="277" y="132"/>
                    <a:pt x="277" y="138"/>
                  </a:cubicBezTo>
                  <a:close/>
                  <a:moveTo>
                    <a:pt x="298" y="106"/>
                  </a:moveTo>
                  <a:cubicBezTo>
                    <a:pt x="245" y="106"/>
                    <a:pt x="245" y="106"/>
                    <a:pt x="245" y="106"/>
                  </a:cubicBezTo>
                  <a:cubicBezTo>
                    <a:pt x="245" y="42"/>
                    <a:pt x="245" y="42"/>
                    <a:pt x="245" y="42"/>
                  </a:cubicBezTo>
                  <a:cubicBezTo>
                    <a:pt x="283" y="42"/>
                    <a:pt x="283" y="42"/>
                    <a:pt x="283" y="42"/>
                  </a:cubicBezTo>
                  <a:cubicBezTo>
                    <a:pt x="298" y="57"/>
                    <a:pt x="298" y="57"/>
                    <a:pt x="298" y="57"/>
                  </a:cubicBezTo>
                  <a:lnTo>
                    <a:pt x="298" y="10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sp>
        <p:nvSpPr>
          <p:cNvPr id="266" name="Freeform 1040"/>
          <p:cNvSpPr>
            <a:spLocks noEditPoints="1"/>
          </p:cNvSpPr>
          <p:nvPr/>
        </p:nvSpPr>
        <p:spPr bwMode="auto">
          <a:xfrm>
            <a:off x="6823909" y="6294955"/>
            <a:ext cx="226100" cy="245656"/>
          </a:xfrm>
          <a:custGeom>
            <a:avLst/>
            <a:gdLst>
              <a:gd name="T0" fmla="*/ 265 w 279"/>
              <a:gd name="T1" fmla="*/ 301 h 303"/>
              <a:gd name="T2" fmla="*/ 225 w 279"/>
              <a:gd name="T3" fmla="*/ 302 h 303"/>
              <a:gd name="T4" fmla="*/ 172 w 279"/>
              <a:gd name="T5" fmla="*/ 302 h 303"/>
              <a:gd name="T6" fmla="*/ 140 w 279"/>
              <a:gd name="T7" fmla="*/ 292 h 303"/>
              <a:gd name="T8" fmla="*/ 87 w 279"/>
              <a:gd name="T9" fmla="*/ 292 h 303"/>
              <a:gd name="T10" fmla="*/ 34 w 279"/>
              <a:gd name="T11" fmla="*/ 292 h 303"/>
              <a:gd name="T12" fmla="*/ 1 w 279"/>
              <a:gd name="T13" fmla="*/ 293 h 303"/>
              <a:gd name="T14" fmla="*/ 24 w 279"/>
              <a:gd name="T15" fmla="*/ 271 h 303"/>
              <a:gd name="T16" fmla="*/ 41 w 279"/>
              <a:gd name="T17" fmla="*/ 269 h 303"/>
              <a:gd name="T18" fmla="*/ 77 w 279"/>
              <a:gd name="T19" fmla="*/ 271 h 303"/>
              <a:gd name="T20" fmla="*/ 94 w 279"/>
              <a:gd name="T21" fmla="*/ 269 h 303"/>
              <a:gd name="T22" fmla="*/ 131 w 279"/>
              <a:gd name="T23" fmla="*/ 271 h 303"/>
              <a:gd name="T24" fmla="*/ 147 w 279"/>
              <a:gd name="T25" fmla="*/ 269 h 303"/>
              <a:gd name="T26" fmla="*/ 184 w 279"/>
              <a:gd name="T27" fmla="*/ 271 h 303"/>
              <a:gd name="T28" fmla="*/ 201 w 279"/>
              <a:gd name="T29" fmla="*/ 269 h 303"/>
              <a:gd name="T30" fmla="*/ 238 w 279"/>
              <a:gd name="T31" fmla="*/ 271 h 303"/>
              <a:gd name="T32" fmla="*/ 254 w 279"/>
              <a:gd name="T33" fmla="*/ 269 h 303"/>
              <a:gd name="T34" fmla="*/ 278 w 279"/>
              <a:gd name="T35" fmla="*/ 293 h 303"/>
              <a:gd name="T36" fmla="*/ 20 w 279"/>
              <a:gd name="T37" fmla="*/ 149 h 303"/>
              <a:gd name="T38" fmla="*/ 65 w 279"/>
              <a:gd name="T39" fmla="*/ 51 h 303"/>
              <a:gd name="T40" fmla="*/ 97 w 279"/>
              <a:gd name="T41" fmla="*/ 42 h 303"/>
              <a:gd name="T42" fmla="*/ 108 w 279"/>
              <a:gd name="T43" fmla="*/ 0 h 303"/>
              <a:gd name="T44" fmla="*/ 182 w 279"/>
              <a:gd name="T45" fmla="*/ 10 h 303"/>
              <a:gd name="T46" fmla="*/ 204 w 279"/>
              <a:gd name="T47" fmla="*/ 42 h 303"/>
              <a:gd name="T48" fmla="*/ 234 w 279"/>
              <a:gd name="T49" fmla="*/ 142 h 303"/>
              <a:gd name="T50" fmla="*/ 267 w 279"/>
              <a:gd name="T51" fmla="*/ 162 h 303"/>
              <a:gd name="T52" fmla="*/ 236 w 279"/>
              <a:gd name="T53" fmla="*/ 256 h 303"/>
              <a:gd name="T54" fmla="*/ 225 w 279"/>
              <a:gd name="T55" fmla="*/ 242 h 303"/>
              <a:gd name="T56" fmla="*/ 150 w 279"/>
              <a:gd name="T57" fmla="*/ 142 h 303"/>
              <a:gd name="T58" fmla="*/ 140 w 279"/>
              <a:gd name="T59" fmla="*/ 245 h 303"/>
              <a:gd name="T60" fmla="*/ 129 w 279"/>
              <a:gd name="T61" fmla="*/ 142 h 303"/>
              <a:gd name="T62" fmla="*/ 54 w 279"/>
              <a:gd name="T63" fmla="*/ 242 h 303"/>
              <a:gd name="T64" fmla="*/ 33 w 279"/>
              <a:gd name="T65" fmla="*/ 248 h 303"/>
              <a:gd name="T66" fmla="*/ 118 w 279"/>
              <a:gd name="T67" fmla="*/ 42 h 303"/>
              <a:gd name="T68" fmla="*/ 161 w 279"/>
              <a:gd name="T69" fmla="*/ 21 h 303"/>
              <a:gd name="T70" fmla="*/ 118 w 279"/>
              <a:gd name="T71" fmla="*/ 42 h 303"/>
              <a:gd name="T72" fmla="*/ 137 w 279"/>
              <a:gd name="T73" fmla="*/ 117 h 303"/>
              <a:gd name="T74" fmla="*/ 211 w 279"/>
              <a:gd name="T75" fmla="*/ 136 h 303"/>
              <a:gd name="T76" fmla="*/ 84 w 279"/>
              <a:gd name="T77" fmla="*/ 6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9" h="303">
                <a:moveTo>
                  <a:pt x="278" y="293"/>
                </a:moveTo>
                <a:cubicBezTo>
                  <a:pt x="277" y="299"/>
                  <a:pt x="271" y="302"/>
                  <a:pt x="265" y="301"/>
                </a:cubicBezTo>
                <a:cubicBezTo>
                  <a:pt x="259" y="299"/>
                  <a:pt x="253" y="296"/>
                  <a:pt x="247" y="292"/>
                </a:cubicBezTo>
                <a:cubicBezTo>
                  <a:pt x="242" y="296"/>
                  <a:pt x="234" y="301"/>
                  <a:pt x="225" y="302"/>
                </a:cubicBezTo>
                <a:cubicBezTo>
                  <a:pt x="214" y="303"/>
                  <a:pt x="204" y="299"/>
                  <a:pt x="194" y="292"/>
                </a:cubicBezTo>
                <a:cubicBezTo>
                  <a:pt x="189" y="296"/>
                  <a:pt x="181" y="301"/>
                  <a:pt x="172" y="302"/>
                </a:cubicBezTo>
                <a:cubicBezTo>
                  <a:pt x="170" y="302"/>
                  <a:pt x="169" y="302"/>
                  <a:pt x="168" y="302"/>
                </a:cubicBezTo>
                <a:cubicBezTo>
                  <a:pt x="159" y="302"/>
                  <a:pt x="149" y="299"/>
                  <a:pt x="140" y="292"/>
                </a:cubicBezTo>
                <a:cubicBezTo>
                  <a:pt x="135" y="296"/>
                  <a:pt x="128" y="301"/>
                  <a:pt x="118" y="302"/>
                </a:cubicBezTo>
                <a:cubicBezTo>
                  <a:pt x="108" y="303"/>
                  <a:pt x="97" y="299"/>
                  <a:pt x="87" y="292"/>
                </a:cubicBezTo>
                <a:cubicBezTo>
                  <a:pt x="82" y="296"/>
                  <a:pt x="75" y="301"/>
                  <a:pt x="65" y="302"/>
                </a:cubicBezTo>
                <a:cubicBezTo>
                  <a:pt x="54" y="303"/>
                  <a:pt x="44" y="300"/>
                  <a:pt x="34" y="292"/>
                </a:cubicBezTo>
                <a:cubicBezTo>
                  <a:pt x="29" y="296"/>
                  <a:pt x="22" y="300"/>
                  <a:pt x="13" y="302"/>
                </a:cubicBezTo>
                <a:cubicBezTo>
                  <a:pt x="7" y="302"/>
                  <a:pt x="2" y="298"/>
                  <a:pt x="1" y="293"/>
                </a:cubicBezTo>
                <a:cubicBezTo>
                  <a:pt x="0" y="287"/>
                  <a:pt x="4" y="281"/>
                  <a:pt x="10" y="280"/>
                </a:cubicBezTo>
                <a:cubicBezTo>
                  <a:pt x="18" y="279"/>
                  <a:pt x="24" y="271"/>
                  <a:pt x="24" y="271"/>
                </a:cubicBezTo>
                <a:cubicBezTo>
                  <a:pt x="26" y="268"/>
                  <a:pt x="29" y="267"/>
                  <a:pt x="32" y="266"/>
                </a:cubicBezTo>
                <a:cubicBezTo>
                  <a:pt x="35" y="266"/>
                  <a:pt x="38" y="267"/>
                  <a:pt x="41" y="269"/>
                </a:cubicBezTo>
                <a:cubicBezTo>
                  <a:pt x="49" y="277"/>
                  <a:pt x="56" y="281"/>
                  <a:pt x="63" y="281"/>
                </a:cubicBezTo>
                <a:cubicBezTo>
                  <a:pt x="71" y="280"/>
                  <a:pt x="77" y="271"/>
                  <a:pt x="77" y="271"/>
                </a:cubicBezTo>
                <a:cubicBezTo>
                  <a:pt x="79" y="268"/>
                  <a:pt x="82" y="267"/>
                  <a:pt x="85" y="266"/>
                </a:cubicBezTo>
                <a:cubicBezTo>
                  <a:pt x="89" y="266"/>
                  <a:pt x="92" y="267"/>
                  <a:pt x="94" y="269"/>
                </a:cubicBezTo>
                <a:cubicBezTo>
                  <a:pt x="102" y="277"/>
                  <a:pt x="109" y="281"/>
                  <a:pt x="116" y="281"/>
                </a:cubicBezTo>
                <a:cubicBezTo>
                  <a:pt x="125" y="280"/>
                  <a:pt x="131" y="271"/>
                  <a:pt x="131" y="271"/>
                </a:cubicBezTo>
                <a:cubicBezTo>
                  <a:pt x="133" y="268"/>
                  <a:pt x="136" y="267"/>
                  <a:pt x="139" y="266"/>
                </a:cubicBezTo>
                <a:cubicBezTo>
                  <a:pt x="142" y="266"/>
                  <a:pt x="145" y="267"/>
                  <a:pt x="147" y="269"/>
                </a:cubicBezTo>
                <a:cubicBezTo>
                  <a:pt x="155" y="277"/>
                  <a:pt x="163" y="281"/>
                  <a:pt x="169" y="281"/>
                </a:cubicBezTo>
                <a:cubicBezTo>
                  <a:pt x="178" y="280"/>
                  <a:pt x="184" y="271"/>
                  <a:pt x="184" y="271"/>
                </a:cubicBezTo>
                <a:cubicBezTo>
                  <a:pt x="186" y="268"/>
                  <a:pt x="189" y="267"/>
                  <a:pt x="192" y="266"/>
                </a:cubicBezTo>
                <a:cubicBezTo>
                  <a:pt x="195" y="266"/>
                  <a:pt x="198" y="267"/>
                  <a:pt x="201" y="269"/>
                </a:cubicBezTo>
                <a:cubicBezTo>
                  <a:pt x="208" y="277"/>
                  <a:pt x="216" y="281"/>
                  <a:pt x="222" y="280"/>
                </a:cubicBezTo>
                <a:cubicBezTo>
                  <a:pt x="231" y="280"/>
                  <a:pt x="237" y="271"/>
                  <a:pt x="238" y="271"/>
                </a:cubicBezTo>
                <a:cubicBezTo>
                  <a:pt x="239" y="268"/>
                  <a:pt x="242" y="267"/>
                  <a:pt x="245" y="266"/>
                </a:cubicBezTo>
                <a:cubicBezTo>
                  <a:pt x="248" y="266"/>
                  <a:pt x="252" y="267"/>
                  <a:pt x="254" y="269"/>
                </a:cubicBezTo>
                <a:cubicBezTo>
                  <a:pt x="260" y="275"/>
                  <a:pt x="265" y="279"/>
                  <a:pt x="270" y="280"/>
                </a:cubicBezTo>
                <a:cubicBezTo>
                  <a:pt x="276" y="281"/>
                  <a:pt x="279" y="287"/>
                  <a:pt x="278" y="293"/>
                </a:cubicBezTo>
                <a:close/>
                <a:moveTo>
                  <a:pt x="12" y="162"/>
                </a:moveTo>
                <a:cubicBezTo>
                  <a:pt x="11" y="157"/>
                  <a:pt x="14" y="151"/>
                  <a:pt x="20" y="149"/>
                </a:cubicBezTo>
                <a:cubicBezTo>
                  <a:pt x="45" y="142"/>
                  <a:pt x="45" y="142"/>
                  <a:pt x="45" y="142"/>
                </a:cubicBezTo>
                <a:cubicBezTo>
                  <a:pt x="65" y="51"/>
                  <a:pt x="65" y="51"/>
                  <a:pt x="65" y="51"/>
                </a:cubicBezTo>
                <a:cubicBezTo>
                  <a:pt x="66" y="46"/>
                  <a:pt x="71" y="42"/>
                  <a:pt x="76" y="42"/>
                </a:cubicBezTo>
                <a:cubicBezTo>
                  <a:pt x="97" y="42"/>
                  <a:pt x="97" y="42"/>
                  <a:pt x="97" y="42"/>
                </a:cubicBezTo>
                <a:cubicBezTo>
                  <a:pt x="97" y="10"/>
                  <a:pt x="97" y="10"/>
                  <a:pt x="97" y="10"/>
                </a:cubicBezTo>
                <a:cubicBezTo>
                  <a:pt x="97" y="4"/>
                  <a:pt x="102" y="0"/>
                  <a:pt x="108" y="0"/>
                </a:cubicBezTo>
                <a:cubicBezTo>
                  <a:pt x="172" y="0"/>
                  <a:pt x="172" y="0"/>
                  <a:pt x="172" y="0"/>
                </a:cubicBezTo>
                <a:cubicBezTo>
                  <a:pt x="178" y="0"/>
                  <a:pt x="182" y="4"/>
                  <a:pt x="182" y="10"/>
                </a:cubicBezTo>
                <a:cubicBezTo>
                  <a:pt x="182" y="42"/>
                  <a:pt x="182" y="42"/>
                  <a:pt x="182" y="42"/>
                </a:cubicBezTo>
                <a:cubicBezTo>
                  <a:pt x="204" y="42"/>
                  <a:pt x="204" y="42"/>
                  <a:pt x="204" y="42"/>
                </a:cubicBezTo>
                <a:cubicBezTo>
                  <a:pt x="209" y="42"/>
                  <a:pt x="213" y="46"/>
                  <a:pt x="214" y="51"/>
                </a:cubicBezTo>
                <a:cubicBezTo>
                  <a:pt x="234" y="142"/>
                  <a:pt x="234" y="142"/>
                  <a:pt x="234" y="142"/>
                </a:cubicBezTo>
                <a:cubicBezTo>
                  <a:pt x="260" y="149"/>
                  <a:pt x="260" y="149"/>
                  <a:pt x="260" y="149"/>
                </a:cubicBezTo>
                <a:cubicBezTo>
                  <a:pt x="265" y="151"/>
                  <a:pt x="269" y="157"/>
                  <a:pt x="267" y="162"/>
                </a:cubicBezTo>
                <a:cubicBezTo>
                  <a:pt x="246" y="248"/>
                  <a:pt x="246" y="248"/>
                  <a:pt x="246" y="248"/>
                </a:cubicBezTo>
                <a:cubicBezTo>
                  <a:pt x="245" y="252"/>
                  <a:pt x="240" y="256"/>
                  <a:pt x="236" y="256"/>
                </a:cubicBezTo>
                <a:cubicBezTo>
                  <a:pt x="235" y="256"/>
                  <a:pt x="234" y="256"/>
                  <a:pt x="233" y="255"/>
                </a:cubicBezTo>
                <a:cubicBezTo>
                  <a:pt x="227" y="254"/>
                  <a:pt x="224" y="248"/>
                  <a:pt x="225" y="242"/>
                </a:cubicBezTo>
                <a:cubicBezTo>
                  <a:pt x="244" y="167"/>
                  <a:pt x="244" y="167"/>
                  <a:pt x="244" y="167"/>
                </a:cubicBezTo>
                <a:cubicBezTo>
                  <a:pt x="150" y="142"/>
                  <a:pt x="150" y="142"/>
                  <a:pt x="150" y="142"/>
                </a:cubicBezTo>
                <a:cubicBezTo>
                  <a:pt x="150" y="234"/>
                  <a:pt x="150" y="234"/>
                  <a:pt x="150" y="234"/>
                </a:cubicBezTo>
                <a:cubicBezTo>
                  <a:pt x="150" y="240"/>
                  <a:pt x="146" y="245"/>
                  <a:pt x="140" y="245"/>
                </a:cubicBezTo>
                <a:cubicBezTo>
                  <a:pt x="134" y="245"/>
                  <a:pt x="129" y="240"/>
                  <a:pt x="129" y="234"/>
                </a:cubicBezTo>
                <a:cubicBezTo>
                  <a:pt x="129" y="142"/>
                  <a:pt x="129" y="142"/>
                  <a:pt x="129" y="142"/>
                </a:cubicBezTo>
                <a:cubicBezTo>
                  <a:pt x="35" y="167"/>
                  <a:pt x="35" y="167"/>
                  <a:pt x="35" y="167"/>
                </a:cubicBezTo>
                <a:cubicBezTo>
                  <a:pt x="54" y="242"/>
                  <a:pt x="54" y="242"/>
                  <a:pt x="54" y="242"/>
                </a:cubicBezTo>
                <a:cubicBezTo>
                  <a:pt x="55" y="248"/>
                  <a:pt x="52" y="254"/>
                  <a:pt x="46" y="255"/>
                </a:cubicBezTo>
                <a:cubicBezTo>
                  <a:pt x="41" y="257"/>
                  <a:pt x="35" y="253"/>
                  <a:pt x="33" y="248"/>
                </a:cubicBezTo>
                <a:lnTo>
                  <a:pt x="12" y="162"/>
                </a:lnTo>
                <a:close/>
                <a:moveTo>
                  <a:pt x="118" y="42"/>
                </a:moveTo>
                <a:cubicBezTo>
                  <a:pt x="161" y="42"/>
                  <a:pt x="161" y="42"/>
                  <a:pt x="161" y="42"/>
                </a:cubicBezTo>
                <a:cubicBezTo>
                  <a:pt x="161" y="21"/>
                  <a:pt x="161" y="21"/>
                  <a:pt x="161" y="21"/>
                </a:cubicBezTo>
                <a:cubicBezTo>
                  <a:pt x="118" y="21"/>
                  <a:pt x="118" y="21"/>
                  <a:pt x="118" y="21"/>
                </a:cubicBezTo>
                <a:lnTo>
                  <a:pt x="118" y="42"/>
                </a:lnTo>
                <a:close/>
                <a:moveTo>
                  <a:pt x="69" y="136"/>
                </a:moveTo>
                <a:cubicBezTo>
                  <a:pt x="137" y="117"/>
                  <a:pt x="137" y="117"/>
                  <a:pt x="137" y="117"/>
                </a:cubicBezTo>
                <a:cubicBezTo>
                  <a:pt x="139" y="117"/>
                  <a:pt x="141" y="117"/>
                  <a:pt x="142" y="117"/>
                </a:cubicBezTo>
                <a:cubicBezTo>
                  <a:pt x="211" y="136"/>
                  <a:pt x="211" y="136"/>
                  <a:pt x="211" y="136"/>
                </a:cubicBezTo>
                <a:cubicBezTo>
                  <a:pt x="195" y="64"/>
                  <a:pt x="195" y="64"/>
                  <a:pt x="195" y="64"/>
                </a:cubicBezTo>
                <a:cubicBezTo>
                  <a:pt x="84" y="64"/>
                  <a:pt x="84" y="64"/>
                  <a:pt x="84" y="64"/>
                </a:cubicBezTo>
                <a:lnTo>
                  <a:pt x="69" y="13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74" name="Rectangle 173"/>
          <p:cNvSpPr/>
          <p:nvPr/>
        </p:nvSpPr>
        <p:spPr bwMode="gray">
          <a:xfrm>
            <a:off x="6726109" y="6590477"/>
            <a:ext cx="1451333" cy="308939"/>
          </a:xfrm>
          <a:prstGeom prst="rect">
            <a:avLst/>
          </a:prstGeom>
          <a:solidFill>
            <a:srgbClr val="041E42"/>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76" name="Rectangle 175"/>
          <p:cNvSpPr/>
          <p:nvPr/>
        </p:nvSpPr>
        <p:spPr bwMode="gray">
          <a:xfrm>
            <a:off x="7205589" y="6607032"/>
            <a:ext cx="427795" cy="271549"/>
          </a:xfrm>
          <a:prstGeom prst="rect">
            <a:avLst/>
          </a:prstGeom>
          <a:solidFill>
            <a:srgbClr val="041E42"/>
          </a:solid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Air</a:t>
            </a:r>
          </a:p>
        </p:txBody>
      </p:sp>
      <p:sp>
        <p:nvSpPr>
          <p:cNvPr id="271" name="Freeform 1001"/>
          <p:cNvSpPr>
            <a:spLocks noEditPoints="1"/>
          </p:cNvSpPr>
          <p:nvPr/>
        </p:nvSpPr>
        <p:spPr bwMode="auto">
          <a:xfrm>
            <a:off x="6846376" y="6675061"/>
            <a:ext cx="242029" cy="144989"/>
          </a:xfrm>
          <a:custGeom>
            <a:avLst/>
            <a:gdLst>
              <a:gd name="T0" fmla="*/ 269 w 320"/>
              <a:gd name="T1" fmla="*/ 192 h 192"/>
              <a:gd name="T2" fmla="*/ 71 w 320"/>
              <a:gd name="T3" fmla="*/ 192 h 192"/>
              <a:gd name="T4" fmla="*/ 0 w 320"/>
              <a:gd name="T5" fmla="*/ 121 h 192"/>
              <a:gd name="T6" fmla="*/ 71 w 320"/>
              <a:gd name="T7" fmla="*/ 51 h 192"/>
              <a:gd name="T8" fmla="*/ 96 w 320"/>
              <a:gd name="T9" fmla="*/ 56 h 192"/>
              <a:gd name="T10" fmla="*/ 181 w 320"/>
              <a:gd name="T11" fmla="*/ 0 h 192"/>
              <a:gd name="T12" fmla="*/ 273 w 320"/>
              <a:gd name="T13" fmla="*/ 91 h 192"/>
              <a:gd name="T14" fmla="*/ 320 w 320"/>
              <a:gd name="T15" fmla="*/ 142 h 192"/>
              <a:gd name="T16" fmla="*/ 269 w 320"/>
              <a:gd name="T17" fmla="*/ 192 h 192"/>
              <a:gd name="T18" fmla="*/ 71 w 320"/>
              <a:gd name="T19" fmla="*/ 72 h 192"/>
              <a:gd name="T20" fmla="*/ 21 w 320"/>
              <a:gd name="T21" fmla="*/ 121 h 192"/>
              <a:gd name="T22" fmla="*/ 71 w 320"/>
              <a:gd name="T23" fmla="*/ 171 h 192"/>
              <a:gd name="T24" fmla="*/ 269 w 320"/>
              <a:gd name="T25" fmla="*/ 171 h 192"/>
              <a:gd name="T26" fmla="*/ 298 w 320"/>
              <a:gd name="T27" fmla="*/ 142 h 192"/>
              <a:gd name="T28" fmla="*/ 269 w 320"/>
              <a:gd name="T29" fmla="*/ 112 h 192"/>
              <a:gd name="T30" fmla="*/ 267 w 320"/>
              <a:gd name="T31" fmla="*/ 112 h 192"/>
              <a:gd name="T32" fmla="*/ 265 w 320"/>
              <a:gd name="T33" fmla="*/ 113 h 192"/>
              <a:gd name="T34" fmla="*/ 254 w 320"/>
              <a:gd name="T35" fmla="*/ 111 h 192"/>
              <a:gd name="T36" fmla="*/ 251 w 320"/>
              <a:gd name="T37" fmla="*/ 101 h 192"/>
              <a:gd name="T38" fmla="*/ 251 w 320"/>
              <a:gd name="T39" fmla="*/ 96 h 192"/>
              <a:gd name="T40" fmla="*/ 251 w 320"/>
              <a:gd name="T41" fmla="*/ 92 h 192"/>
              <a:gd name="T42" fmla="*/ 181 w 320"/>
              <a:gd name="T43" fmla="*/ 22 h 192"/>
              <a:gd name="T44" fmla="*/ 114 w 320"/>
              <a:gd name="T45" fmla="*/ 68 h 192"/>
              <a:gd name="T46" fmla="*/ 112 w 320"/>
              <a:gd name="T47" fmla="*/ 73 h 192"/>
              <a:gd name="T48" fmla="*/ 112 w 320"/>
              <a:gd name="T49" fmla="*/ 75 h 192"/>
              <a:gd name="T50" fmla="*/ 103 w 320"/>
              <a:gd name="T51" fmla="*/ 83 h 192"/>
              <a:gd name="T52" fmla="*/ 93 w 320"/>
              <a:gd name="T53" fmla="*/ 79 h 192"/>
              <a:gd name="T54" fmla="*/ 71 w 320"/>
              <a:gd name="T55" fmla="*/ 7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0" h="192">
                <a:moveTo>
                  <a:pt x="269" y="192"/>
                </a:moveTo>
                <a:cubicBezTo>
                  <a:pt x="71" y="192"/>
                  <a:pt x="71" y="192"/>
                  <a:pt x="71" y="192"/>
                </a:cubicBezTo>
                <a:cubicBezTo>
                  <a:pt x="31" y="192"/>
                  <a:pt x="0" y="161"/>
                  <a:pt x="0" y="121"/>
                </a:cubicBezTo>
                <a:cubicBezTo>
                  <a:pt x="0" y="82"/>
                  <a:pt x="31" y="51"/>
                  <a:pt x="71" y="51"/>
                </a:cubicBezTo>
                <a:cubicBezTo>
                  <a:pt x="80" y="51"/>
                  <a:pt x="88" y="52"/>
                  <a:pt x="96" y="56"/>
                </a:cubicBezTo>
                <a:cubicBezTo>
                  <a:pt x="110" y="23"/>
                  <a:pt x="144" y="0"/>
                  <a:pt x="181" y="0"/>
                </a:cubicBezTo>
                <a:cubicBezTo>
                  <a:pt x="231" y="0"/>
                  <a:pt x="272" y="41"/>
                  <a:pt x="273" y="91"/>
                </a:cubicBezTo>
                <a:cubicBezTo>
                  <a:pt x="299" y="93"/>
                  <a:pt x="320" y="115"/>
                  <a:pt x="320" y="142"/>
                </a:cubicBezTo>
                <a:cubicBezTo>
                  <a:pt x="320" y="170"/>
                  <a:pt x="297" y="192"/>
                  <a:pt x="269" y="192"/>
                </a:cubicBezTo>
                <a:close/>
                <a:moveTo>
                  <a:pt x="71" y="72"/>
                </a:moveTo>
                <a:cubicBezTo>
                  <a:pt x="43" y="72"/>
                  <a:pt x="21" y="94"/>
                  <a:pt x="21" y="121"/>
                </a:cubicBezTo>
                <a:cubicBezTo>
                  <a:pt x="21" y="149"/>
                  <a:pt x="43" y="171"/>
                  <a:pt x="71" y="171"/>
                </a:cubicBezTo>
                <a:cubicBezTo>
                  <a:pt x="269" y="171"/>
                  <a:pt x="269" y="171"/>
                  <a:pt x="269" y="171"/>
                </a:cubicBezTo>
                <a:cubicBezTo>
                  <a:pt x="285" y="171"/>
                  <a:pt x="298" y="158"/>
                  <a:pt x="298" y="142"/>
                </a:cubicBezTo>
                <a:cubicBezTo>
                  <a:pt x="298" y="125"/>
                  <a:pt x="285" y="112"/>
                  <a:pt x="269" y="112"/>
                </a:cubicBezTo>
                <a:cubicBezTo>
                  <a:pt x="268" y="112"/>
                  <a:pt x="268" y="112"/>
                  <a:pt x="267" y="112"/>
                </a:cubicBezTo>
                <a:cubicBezTo>
                  <a:pt x="267" y="112"/>
                  <a:pt x="266" y="112"/>
                  <a:pt x="265" y="113"/>
                </a:cubicBezTo>
                <a:cubicBezTo>
                  <a:pt x="261" y="114"/>
                  <a:pt x="257" y="113"/>
                  <a:pt x="254" y="111"/>
                </a:cubicBezTo>
                <a:cubicBezTo>
                  <a:pt x="252" y="109"/>
                  <a:pt x="250" y="105"/>
                  <a:pt x="251" y="101"/>
                </a:cubicBezTo>
                <a:cubicBezTo>
                  <a:pt x="251" y="99"/>
                  <a:pt x="251" y="98"/>
                  <a:pt x="251" y="96"/>
                </a:cubicBezTo>
                <a:cubicBezTo>
                  <a:pt x="251" y="94"/>
                  <a:pt x="251" y="93"/>
                  <a:pt x="251" y="92"/>
                </a:cubicBezTo>
                <a:cubicBezTo>
                  <a:pt x="251" y="53"/>
                  <a:pt x="220" y="22"/>
                  <a:pt x="181" y="22"/>
                </a:cubicBezTo>
                <a:cubicBezTo>
                  <a:pt x="152" y="22"/>
                  <a:pt x="124" y="41"/>
                  <a:pt x="114" y="68"/>
                </a:cubicBezTo>
                <a:cubicBezTo>
                  <a:pt x="113" y="70"/>
                  <a:pt x="113" y="71"/>
                  <a:pt x="112" y="73"/>
                </a:cubicBezTo>
                <a:cubicBezTo>
                  <a:pt x="112" y="75"/>
                  <a:pt x="112" y="75"/>
                  <a:pt x="112" y="75"/>
                </a:cubicBezTo>
                <a:cubicBezTo>
                  <a:pt x="111" y="79"/>
                  <a:pt x="108" y="82"/>
                  <a:pt x="103" y="83"/>
                </a:cubicBezTo>
                <a:cubicBezTo>
                  <a:pt x="99" y="84"/>
                  <a:pt x="95" y="82"/>
                  <a:pt x="93" y="79"/>
                </a:cubicBezTo>
                <a:cubicBezTo>
                  <a:pt x="86" y="74"/>
                  <a:pt x="79" y="72"/>
                  <a:pt x="71" y="72"/>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66" name="Rectangle 165"/>
          <p:cNvSpPr/>
          <p:nvPr/>
        </p:nvSpPr>
        <p:spPr bwMode="gray">
          <a:xfrm>
            <a:off x="6732940" y="5751079"/>
            <a:ext cx="1444503" cy="308939"/>
          </a:xfrm>
          <a:prstGeom prst="rect">
            <a:avLst/>
          </a:prstGeom>
          <a:solidFill>
            <a:srgbClr val="009A44"/>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68" name="Rectangle 167"/>
          <p:cNvSpPr/>
          <p:nvPr/>
        </p:nvSpPr>
        <p:spPr bwMode="gray">
          <a:xfrm>
            <a:off x="7179450" y="5770463"/>
            <a:ext cx="513099" cy="2715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Rail</a:t>
            </a:r>
          </a:p>
        </p:txBody>
      </p:sp>
      <p:grpSp>
        <p:nvGrpSpPr>
          <p:cNvPr id="367" name="Group 366"/>
          <p:cNvGrpSpPr/>
          <p:nvPr/>
        </p:nvGrpSpPr>
        <p:grpSpPr>
          <a:xfrm>
            <a:off x="6809823" y="5754324"/>
            <a:ext cx="170068" cy="302052"/>
            <a:chOff x="5614313" y="4520806"/>
            <a:chExt cx="229284" cy="394404"/>
          </a:xfrm>
        </p:grpSpPr>
        <p:cxnSp>
          <p:nvCxnSpPr>
            <p:cNvPr id="254" name="Straight Connector 253"/>
            <p:cNvCxnSpPr/>
            <p:nvPr/>
          </p:nvCxnSpPr>
          <p:spPr>
            <a:xfrm>
              <a:off x="5620094" y="4910360"/>
              <a:ext cx="218737" cy="48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14313" y="4837344"/>
              <a:ext cx="218737" cy="48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5616133" y="4701186"/>
              <a:ext cx="218737" cy="48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5617997" y="4633875"/>
              <a:ext cx="218737" cy="48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5624860" y="4582537"/>
              <a:ext cx="218737" cy="48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a:off x="5676168" y="4527892"/>
              <a:ext cx="0" cy="3672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p:nvCxnSpPr>
          <p:spPr>
            <a:xfrm>
              <a:off x="5770088" y="4520806"/>
              <a:ext cx="0" cy="3672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a:off x="5619910" y="4762794"/>
              <a:ext cx="218737" cy="48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a:off x="5614313" y="4828753"/>
              <a:ext cx="218737" cy="48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78" name="Elbow Connector 277"/>
          <p:cNvCxnSpPr>
            <a:stCxn id="98" idx="3"/>
            <a:endCxn id="154" idx="1"/>
          </p:cNvCxnSpPr>
          <p:nvPr/>
        </p:nvCxnSpPr>
        <p:spPr>
          <a:xfrm flipV="1">
            <a:off x="4689924" y="4343613"/>
            <a:ext cx="318697" cy="2414916"/>
          </a:xfrm>
          <a:prstGeom prst="bentConnector3">
            <a:avLst>
              <a:gd name="adj1"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2" name="Elbow Connector 281"/>
          <p:cNvCxnSpPr>
            <a:stCxn id="106" idx="3"/>
            <a:endCxn id="158" idx="1"/>
          </p:cNvCxnSpPr>
          <p:nvPr/>
        </p:nvCxnSpPr>
        <p:spPr>
          <a:xfrm flipV="1">
            <a:off x="4701222" y="6756815"/>
            <a:ext cx="300569" cy="6313"/>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5" name="Elbow Connector 284"/>
          <p:cNvCxnSpPr>
            <a:stCxn id="154" idx="3"/>
            <a:endCxn id="166" idx="1"/>
          </p:cNvCxnSpPr>
          <p:nvPr/>
        </p:nvCxnSpPr>
        <p:spPr>
          <a:xfrm>
            <a:off x="6379381" y="4343613"/>
            <a:ext cx="353558" cy="1561935"/>
          </a:xfrm>
          <a:prstGeom prst="bentConnector3">
            <a:avLst>
              <a:gd name="adj1"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7" name="Elbow Connector 286"/>
          <p:cNvCxnSpPr>
            <a:stCxn id="154" idx="3"/>
            <a:endCxn id="162" idx="1"/>
          </p:cNvCxnSpPr>
          <p:nvPr/>
        </p:nvCxnSpPr>
        <p:spPr>
          <a:xfrm flipV="1">
            <a:off x="6379381" y="4329976"/>
            <a:ext cx="353558" cy="13637"/>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9" name="Elbow Connector 288"/>
          <p:cNvCxnSpPr>
            <a:stCxn id="154" idx="3"/>
            <a:endCxn id="170" idx="1"/>
          </p:cNvCxnSpPr>
          <p:nvPr/>
        </p:nvCxnSpPr>
        <p:spPr>
          <a:xfrm>
            <a:off x="6379381" y="4343613"/>
            <a:ext cx="353558" cy="2056692"/>
          </a:xfrm>
          <a:prstGeom prst="bentConnector3">
            <a:avLst>
              <a:gd name="adj1"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1" name="Elbow Connector 290"/>
          <p:cNvCxnSpPr>
            <a:stCxn id="154" idx="3"/>
            <a:endCxn id="174" idx="1"/>
          </p:cNvCxnSpPr>
          <p:nvPr/>
        </p:nvCxnSpPr>
        <p:spPr>
          <a:xfrm>
            <a:off x="6379381" y="4343614"/>
            <a:ext cx="346729" cy="2401333"/>
          </a:xfrm>
          <a:prstGeom prst="bentConnector3">
            <a:avLst>
              <a:gd name="adj1"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5" name="Elbow Connector 294"/>
          <p:cNvCxnSpPr>
            <a:stCxn id="164" idx="3"/>
            <a:endCxn id="180" idx="1"/>
          </p:cNvCxnSpPr>
          <p:nvPr/>
        </p:nvCxnSpPr>
        <p:spPr>
          <a:xfrm flipV="1">
            <a:off x="8177442" y="4324059"/>
            <a:ext cx="257137" cy="6535"/>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7" name="Elbow Connector 296"/>
          <p:cNvCxnSpPr>
            <a:stCxn id="164" idx="3"/>
            <a:endCxn id="184" idx="1"/>
          </p:cNvCxnSpPr>
          <p:nvPr/>
        </p:nvCxnSpPr>
        <p:spPr>
          <a:xfrm>
            <a:off x="8177442" y="4330594"/>
            <a:ext cx="257137" cy="339540"/>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9" name="Elbow Connector 298"/>
          <p:cNvCxnSpPr>
            <a:stCxn id="164" idx="3"/>
            <a:endCxn id="188" idx="1"/>
          </p:cNvCxnSpPr>
          <p:nvPr/>
        </p:nvCxnSpPr>
        <p:spPr>
          <a:xfrm>
            <a:off x="8177442" y="4330595"/>
            <a:ext cx="257137" cy="682292"/>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1" name="Elbow Connector 300"/>
          <p:cNvCxnSpPr>
            <a:stCxn id="162" idx="3"/>
            <a:endCxn id="192" idx="1"/>
          </p:cNvCxnSpPr>
          <p:nvPr/>
        </p:nvCxnSpPr>
        <p:spPr>
          <a:xfrm>
            <a:off x="8177443" y="4329977"/>
            <a:ext cx="250307" cy="1032309"/>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3" name="Elbow Connector 302"/>
          <p:cNvCxnSpPr>
            <a:stCxn id="166" idx="3"/>
            <a:endCxn id="200" idx="1"/>
          </p:cNvCxnSpPr>
          <p:nvPr/>
        </p:nvCxnSpPr>
        <p:spPr>
          <a:xfrm flipV="1">
            <a:off x="8177443" y="5711686"/>
            <a:ext cx="260387" cy="193863"/>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5" name="Elbow Connector 304"/>
          <p:cNvCxnSpPr>
            <a:stCxn id="166" idx="3"/>
            <a:endCxn id="204" idx="1"/>
          </p:cNvCxnSpPr>
          <p:nvPr/>
        </p:nvCxnSpPr>
        <p:spPr>
          <a:xfrm>
            <a:off x="8177442" y="5905549"/>
            <a:ext cx="268608" cy="148887"/>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7" name="Elbow Connector 306"/>
          <p:cNvCxnSpPr>
            <a:stCxn id="170" idx="3"/>
            <a:endCxn id="208" idx="1"/>
          </p:cNvCxnSpPr>
          <p:nvPr/>
        </p:nvCxnSpPr>
        <p:spPr>
          <a:xfrm>
            <a:off x="8177442" y="6400305"/>
            <a:ext cx="258771" cy="205"/>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9" name="Elbow Connector 308"/>
          <p:cNvCxnSpPr>
            <a:stCxn id="174" idx="3"/>
            <a:endCxn id="228" idx="1"/>
          </p:cNvCxnSpPr>
          <p:nvPr/>
        </p:nvCxnSpPr>
        <p:spPr>
          <a:xfrm>
            <a:off x="8177442" y="6744946"/>
            <a:ext cx="246409" cy="3216"/>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11" name="Rounded Rectangle 310"/>
          <p:cNvSpPr/>
          <p:nvPr/>
        </p:nvSpPr>
        <p:spPr bwMode="gray">
          <a:xfrm>
            <a:off x="717326" y="2597649"/>
            <a:ext cx="2832703" cy="316536"/>
          </a:xfrm>
          <a:prstGeom prst="roundRect">
            <a:avLst/>
          </a:prstGeom>
          <a:solidFill>
            <a:schemeClr val="accent3"/>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Activity Analysis</a:t>
            </a:r>
            <a:endParaRPr lang="en-IN" sz="1323" b="1" dirty="0">
              <a:solidFill>
                <a:schemeClr val="bg1"/>
              </a:solidFill>
            </a:endParaRPr>
          </a:p>
        </p:txBody>
      </p:sp>
      <p:sp>
        <p:nvSpPr>
          <p:cNvPr id="312" name="Rounded Rectangle 311"/>
          <p:cNvSpPr/>
          <p:nvPr/>
        </p:nvSpPr>
        <p:spPr bwMode="gray">
          <a:xfrm>
            <a:off x="3935636" y="2621259"/>
            <a:ext cx="2832703" cy="316536"/>
          </a:xfrm>
          <a:prstGeom prst="roundRect">
            <a:avLst/>
          </a:prstGeom>
          <a:solidFill>
            <a:schemeClr val="accent3"/>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Stock Analysis</a:t>
            </a:r>
            <a:endParaRPr lang="en-IN" sz="1323" b="1" dirty="0">
              <a:solidFill>
                <a:schemeClr val="bg1"/>
              </a:solidFill>
            </a:endParaRPr>
          </a:p>
        </p:txBody>
      </p:sp>
      <p:sp>
        <p:nvSpPr>
          <p:cNvPr id="314" name="TextBox 313"/>
          <p:cNvSpPr txBox="1"/>
          <p:nvPr/>
        </p:nvSpPr>
        <p:spPr>
          <a:xfrm>
            <a:off x="717326" y="2928451"/>
            <a:ext cx="2832703" cy="419627"/>
          </a:xfrm>
          <a:prstGeom prst="rect">
            <a:avLst/>
          </a:prstGeom>
          <a:solidFill>
            <a:schemeClr val="bg2"/>
          </a:solidFill>
        </p:spPr>
        <p:txBody>
          <a:bodyPr wrap="square" lIns="39700" tIns="39700" rIns="39700" bIns="39700" rtlCol="0">
            <a:spAutoFit/>
          </a:bodyPr>
          <a:lstStyle/>
          <a:p>
            <a:pPr>
              <a:spcBef>
                <a:spcPts val="662"/>
              </a:spcBef>
              <a:buSzPct val="100000"/>
            </a:pPr>
            <a:r>
              <a:rPr lang="en-US" sz="1103" i="1" dirty="0">
                <a:solidFill>
                  <a:srgbClr val="313131"/>
                </a:solidFill>
              </a:rPr>
              <a:t>Energy consumption = Activity Level * Energy Intensity</a:t>
            </a:r>
            <a:endParaRPr lang="en-IN" sz="1103" i="1" dirty="0">
              <a:solidFill>
                <a:srgbClr val="313131"/>
              </a:solidFill>
            </a:endParaRPr>
          </a:p>
        </p:txBody>
      </p:sp>
      <p:sp>
        <p:nvSpPr>
          <p:cNvPr id="413" name="TextBox 412"/>
          <p:cNvSpPr txBox="1"/>
          <p:nvPr/>
        </p:nvSpPr>
        <p:spPr>
          <a:xfrm>
            <a:off x="3935636" y="2947231"/>
            <a:ext cx="2832703" cy="419627"/>
          </a:xfrm>
          <a:prstGeom prst="rect">
            <a:avLst/>
          </a:prstGeom>
          <a:solidFill>
            <a:schemeClr val="bg2"/>
          </a:solidFill>
        </p:spPr>
        <p:txBody>
          <a:bodyPr wrap="square" lIns="39700" tIns="39700" rIns="39700" bIns="39700" rtlCol="0">
            <a:spAutoFit/>
          </a:bodyPr>
          <a:lstStyle/>
          <a:p>
            <a:pPr>
              <a:spcBef>
                <a:spcPts val="662"/>
              </a:spcBef>
              <a:buSzPct val="100000"/>
            </a:pPr>
            <a:r>
              <a:rPr lang="en-US" sz="1103" i="1" dirty="0">
                <a:solidFill>
                  <a:srgbClr val="313131"/>
                </a:solidFill>
              </a:rPr>
              <a:t>Energy consumption = Stock of Devices * Energy Intensity per Device</a:t>
            </a:r>
            <a:endParaRPr lang="en-IN" sz="1103" i="1" dirty="0">
              <a:solidFill>
                <a:srgbClr val="313131"/>
              </a:solidFill>
            </a:endParaRPr>
          </a:p>
        </p:txBody>
      </p:sp>
      <p:sp>
        <p:nvSpPr>
          <p:cNvPr id="416" name="TextBox 415"/>
          <p:cNvSpPr txBox="1"/>
          <p:nvPr/>
        </p:nvSpPr>
        <p:spPr>
          <a:xfrm>
            <a:off x="7200678" y="2948450"/>
            <a:ext cx="2832703" cy="589354"/>
          </a:xfrm>
          <a:prstGeom prst="rect">
            <a:avLst/>
          </a:prstGeom>
          <a:solidFill>
            <a:schemeClr val="bg2"/>
          </a:solidFill>
        </p:spPr>
        <p:txBody>
          <a:bodyPr wrap="square" lIns="39700" tIns="39700" rIns="39700" bIns="39700" rtlCol="0">
            <a:spAutoFit/>
          </a:bodyPr>
          <a:lstStyle/>
          <a:p>
            <a:pPr>
              <a:spcBef>
                <a:spcPts val="662"/>
              </a:spcBef>
              <a:buSzPct val="100000"/>
            </a:pPr>
            <a:r>
              <a:rPr lang="en-US" sz="1103" i="1" dirty="0">
                <a:solidFill>
                  <a:srgbClr val="313131"/>
                </a:solidFill>
              </a:rPr>
              <a:t>Energy consumption = Stock of Vehicles * Annual Vehicle Mileage * Fuel Economy</a:t>
            </a:r>
            <a:endParaRPr lang="en-IN" sz="1103" i="1" dirty="0">
              <a:solidFill>
                <a:srgbClr val="313131"/>
              </a:solidFill>
            </a:endParaRPr>
          </a:p>
        </p:txBody>
      </p:sp>
      <p:sp>
        <p:nvSpPr>
          <p:cNvPr id="418" name="Trapezoid 417"/>
          <p:cNvSpPr/>
          <p:nvPr/>
        </p:nvSpPr>
        <p:spPr bwMode="gray">
          <a:xfrm rot="16200000">
            <a:off x="800547" y="4798777"/>
            <a:ext cx="3472080" cy="1118446"/>
          </a:xfrm>
          <a:prstGeom prst="trapezoid">
            <a:avLst/>
          </a:prstGeom>
          <a:solidFill>
            <a:schemeClr val="accent3">
              <a:alpha val="60000"/>
            </a:schemeClr>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417" name="TextBox 416"/>
          <p:cNvSpPr txBox="1"/>
          <p:nvPr/>
        </p:nvSpPr>
        <p:spPr>
          <a:xfrm>
            <a:off x="717326" y="5015593"/>
            <a:ext cx="1786500" cy="853127"/>
          </a:xfrm>
          <a:prstGeom prst="roundRect">
            <a:avLst/>
          </a:prstGeom>
          <a:solidFill>
            <a:schemeClr val="accent6"/>
          </a:solidFill>
          <a:ln>
            <a:solidFill>
              <a:schemeClr val="bg1"/>
            </a:solidFill>
          </a:ln>
        </p:spPr>
        <p:txBody>
          <a:bodyPr wrap="square" lIns="79400" tIns="79400" rIns="79400" bIns="79400" rtlCol="0" anchor="ctr">
            <a:spAutoFit/>
          </a:bodyPr>
          <a:lstStyle/>
          <a:p>
            <a:pPr>
              <a:spcBef>
                <a:spcPts val="662"/>
              </a:spcBef>
              <a:buSzPct val="100000"/>
            </a:pPr>
            <a:r>
              <a:rPr lang="en-US" sz="1323" b="1" dirty="0">
                <a:solidFill>
                  <a:schemeClr val="bg1"/>
                </a:solidFill>
              </a:rPr>
              <a:t>Demand Tree for Transport Sector</a:t>
            </a:r>
            <a:endParaRPr lang="en-IN" sz="1323" b="1" dirty="0">
              <a:solidFill>
                <a:schemeClr val="bg1"/>
              </a:solidFill>
            </a:endParaRPr>
          </a:p>
        </p:txBody>
      </p:sp>
      <p:cxnSp>
        <p:nvCxnSpPr>
          <p:cNvPr id="421" name="Elbow Connector 420"/>
          <p:cNvCxnSpPr>
            <a:stCxn id="437" idx="2"/>
            <a:endCxn id="311" idx="0"/>
          </p:cNvCxnSpPr>
          <p:nvPr/>
        </p:nvCxnSpPr>
        <p:spPr>
          <a:xfrm rot="5400000">
            <a:off x="3601944" y="855274"/>
            <a:ext cx="274109" cy="3210642"/>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23" name="Elbow Connector 422"/>
          <p:cNvCxnSpPr>
            <a:stCxn id="437" idx="2"/>
            <a:endCxn id="312" idx="0"/>
          </p:cNvCxnSpPr>
          <p:nvPr/>
        </p:nvCxnSpPr>
        <p:spPr>
          <a:xfrm rot="16200000" flipH="1">
            <a:off x="5199294" y="2468565"/>
            <a:ext cx="297719" cy="7669"/>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25" name="Elbow Connector 424"/>
          <p:cNvCxnSpPr>
            <a:stCxn id="437" idx="2"/>
            <a:endCxn id="313" idx="0"/>
          </p:cNvCxnSpPr>
          <p:nvPr/>
        </p:nvCxnSpPr>
        <p:spPr>
          <a:xfrm rot="16200000" flipH="1">
            <a:off x="6824341" y="843518"/>
            <a:ext cx="312667" cy="3272710"/>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9" name="TextBox 428"/>
          <p:cNvSpPr txBox="1"/>
          <p:nvPr/>
        </p:nvSpPr>
        <p:spPr>
          <a:xfrm>
            <a:off x="721191" y="4240186"/>
            <a:ext cx="1756293" cy="276487"/>
          </a:xfrm>
          <a:prstGeom prst="roundRect">
            <a:avLst/>
          </a:prstGeom>
          <a:solidFill>
            <a:schemeClr val="tx1"/>
          </a:solidFill>
          <a:ln>
            <a:solidFill>
              <a:schemeClr val="bg1"/>
            </a:solidFill>
          </a:ln>
        </p:spPr>
        <p:txBody>
          <a:bodyPr wrap="square" lIns="39700" tIns="39700" rIns="39700" bIns="39700" rtlCol="0">
            <a:spAutoFit/>
          </a:bodyPr>
          <a:lstStyle/>
          <a:p>
            <a:pPr algn="ctr">
              <a:spcBef>
                <a:spcPts val="662"/>
              </a:spcBef>
              <a:buSzPct val="100000"/>
            </a:pPr>
            <a:r>
              <a:rPr lang="en-US" sz="1103" b="1" dirty="0">
                <a:solidFill>
                  <a:schemeClr val="bg1"/>
                </a:solidFill>
              </a:rPr>
              <a:t>Illustration</a:t>
            </a:r>
            <a:endParaRPr lang="en-IN" sz="1103" b="1" dirty="0">
              <a:solidFill>
                <a:schemeClr val="bg1"/>
              </a:solidFill>
            </a:endParaRPr>
          </a:p>
        </p:txBody>
      </p:sp>
      <p:sp>
        <p:nvSpPr>
          <p:cNvPr id="313" name="Rounded Rectangle 312"/>
          <p:cNvSpPr/>
          <p:nvPr/>
        </p:nvSpPr>
        <p:spPr bwMode="gray">
          <a:xfrm>
            <a:off x="7200678" y="2636207"/>
            <a:ext cx="2832703" cy="316536"/>
          </a:xfrm>
          <a:prstGeom prst="roundRect">
            <a:avLst/>
          </a:prstGeom>
          <a:solidFill>
            <a:schemeClr val="accent3"/>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Transport Analysis</a:t>
            </a:r>
            <a:endParaRPr lang="en-IN" sz="1323" b="1" dirty="0">
              <a:solidFill>
                <a:schemeClr val="bg1"/>
              </a:solidFill>
            </a:endParaRPr>
          </a:p>
        </p:txBody>
      </p:sp>
      <p:sp>
        <p:nvSpPr>
          <p:cNvPr id="437" name="Rounded Rectangle 436"/>
          <p:cNvSpPr/>
          <p:nvPr/>
        </p:nvSpPr>
        <p:spPr bwMode="gray">
          <a:xfrm>
            <a:off x="3773970" y="2030518"/>
            <a:ext cx="3140698" cy="293022"/>
          </a:xfrm>
          <a:prstGeom prst="roundRect">
            <a:avLst/>
          </a:prstGeom>
          <a:solidFill>
            <a:schemeClr val="accent4"/>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Methods of Demand Analysis</a:t>
            </a:r>
            <a:endParaRPr lang="en-IN" sz="1323" b="1" dirty="0">
              <a:solidFill>
                <a:schemeClr val="bg1"/>
              </a:solidFill>
            </a:endParaRPr>
          </a:p>
        </p:txBody>
      </p:sp>
      <p:sp>
        <p:nvSpPr>
          <p:cNvPr id="445" name="Freeform 503"/>
          <p:cNvSpPr>
            <a:spLocks noEditPoints="1"/>
          </p:cNvSpPr>
          <p:nvPr/>
        </p:nvSpPr>
        <p:spPr bwMode="auto">
          <a:xfrm>
            <a:off x="8476347" y="4213657"/>
            <a:ext cx="318568" cy="211878"/>
          </a:xfrm>
          <a:custGeom>
            <a:avLst/>
            <a:gdLst>
              <a:gd name="T0" fmla="*/ 234 w 320"/>
              <a:gd name="T1" fmla="*/ 89 h 213"/>
              <a:gd name="T2" fmla="*/ 220 w 320"/>
              <a:gd name="T3" fmla="*/ 32 h 213"/>
              <a:gd name="T4" fmla="*/ 245 w 320"/>
              <a:gd name="T5" fmla="*/ 21 h 213"/>
              <a:gd name="T6" fmla="*/ 192 w 320"/>
              <a:gd name="T7" fmla="*/ 11 h 213"/>
              <a:gd name="T8" fmla="*/ 192 w 320"/>
              <a:gd name="T9" fmla="*/ 32 h 213"/>
              <a:gd name="T10" fmla="*/ 193 w 320"/>
              <a:gd name="T11" fmla="*/ 43 h 213"/>
              <a:gd name="T12" fmla="*/ 114 w 320"/>
              <a:gd name="T13" fmla="*/ 21 h 213"/>
              <a:gd name="T14" fmla="*/ 138 w 320"/>
              <a:gd name="T15" fmla="*/ 11 h 213"/>
              <a:gd name="T16" fmla="*/ 106 w 320"/>
              <a:gd name="T17" fmla="*/ 0 h 213"/>
              <a:gd name="T18" fmla="*/ 72 w 320"/>
              <a:gd name="T19" fmla="*/ 86 h 213"/>
              <a:gd name="T20" fmla="*/ 0 w 320"/>
              <a:gd name="T21" fmla="*/ 149 h 213"/>
              <a:gd name="T22" fmla="*/ 128 w 320"/>
              <a:gd name="T23" fmla="*/ 149 h 213"/>
              <a:gd name="T24" fmla="*/ 98 w 320"/>
              <a:gd name="T25" fmla="*/ 75 h 213"/>
              <a:gd name="T26" fmla="*/ 160 w 320"/>
              <a:gd name="T27" fmla="*/ 160 h 213"/>
              <a:gd name="T28" fmla="*/ 193 w 320"/>
              <a:gd name="T29" fmla="*/ 160 h 213"/>
              <a:gd name="T30" fmla="*/ 320 w 320"/>
              <a:gd name="T31" fmla="*/ 149 h 213"/>
              <a:gd name="T32" fmla="*/ 106 w 320"/>
              <a:gd name="T33" fmla="*/ 149 h 213"/>
              <a:gd name="T34" fmla="*/ 21 w 320"/>
              <a:gd name="T35" fmla="*/ 149 h 213"/>
              <a:gd name="T36" fmla="*/ 66 w 320"/>
              <a:gd name="T37" fmla="*/ 107 h 213"/>
              <a:gd name="T38" fmla="*/ 61 w 320"/>
              <a:gd name="T39" fmla="*/ 160 h 213"/>
              <a:gd name="T40" fmla="*/ 74 w 320"/>
              <a:gd name="T41" fmla="*/ 152 h 213"/>
              <a:gd name="T42" fmla="*/ 106 w 320"/>
              <a:gd name="T43" fmla="*/ 149 h 213"/>
              <a:gd name="T44" fmla="*/ 193 w 320"/>
              <a:gd name="T45" fmla="*/ 139 h 213"/>
              <a:gd name="T46" fmla="*/ 202 w 320"/>
              <a:gd name="T47" fmla="*/ 75 h 213"/>
              <a:gd name="T48" fmla="*/ 238 w 320"/>
              <a:gd name="T49" fmla="*/ 139 h 213"/>
              <a:gd name="T50" fmla="*/ 226 w 320"/>
              <a:gd name="T51" fmla="*/ 118 h 213"/>
              <a:gd name="T52" fmla="*/ 157 w 320"/>
              <a:gd name="T53" fmla="*/ 127 h 213"/>
              <a:gd name="T54" fmla="*/ 184 w 320"/>
              <a:gd name="T55" fmla="*/ 64 h 213"/>
              <a:gd name="T56" fmla="*/ 256 w 320"/>
              <a:gd name="T57" fmla="*/ 192 h 213"/>
              <a:gd name="T58" fmla="*/ 256 w 320"/>
              <a:gd name="T59" fmla="*/ 160 h 213"/>
              <a:gd name="T60" fmla="*/ 265 w 320"/>
              <a:gd name="T61" fmla="*/ 144 h 213"/>
              <a:gd name="T62" fmla="*/ 256 w 320"/>
              <a:gd name="T63" fmla="*/ 107 h 213"/>
              <a:gd name="T64" fmla="*/ 256 w 320"/>
              <a:gd name="T65" fmla="*/ 19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0" h="213">
                <a:moveTo>
                  <a:pt x="256" y="85"/>
                </a:moveTo>
                <a:cubicBezTo>
                  <a:pt x="248" y="85"/>
                  <a:pt x="241" y="87"/>
                  <a:pt x="234" y="89"/>
                </a:cubicBezTo>
                <a:cubicBezTo>
                  <a:pt x="213" y="50"/>
                  <a:pt x="213" y="50"/>
                  <a:pt x="213" y="50"/>
                </a:cubicBezTo>
                <a:cubicBezTo>
                  <a:pt x="220" y="32"/>
                  <a:pt x="220" y="32"/>
                  <a:pt x="220" y="32"/>
                </a:cubicBezTo>
                <a:cubicBezTo>
                  <a:pt x="234" y="32"/>
                  <a:pt x="234" y="32"/>
                  <a:pt x="234" y="32"/>
                </a:cubicBezTo>
                <a:cubicBezTo>
                  <a:pt x="240" y="32"/>
                  <a:pt x="245" y="27"/>
                  <a:pt x="245" y="21"/>
                </a:cubicBezTo>
                <a:cubicBezTo>
                  <a:pt x="245" y="15"/>
                  <a:pt x="240" y="11"/>
                  <a:pt x="234" y="11"/>
                </a:cubicBezTo>
                <a:cubicBezTo>
                  <a:pt x="192" y="11"/>
                  <a:pt x="192" y="11"/>
                  <a:pt x="192" y="11"/>
                </a:cubicBezTo>
                <a:cubicBezTo>
                  <a:pt x="186" y="11"/>
                  <a:pt x="181" y="15"/>
                  <a:pt x="181" y="21"/>
                </a:cubicBezTo>
                <a:cubicBezTo>
                  <a:pt x="181" y="27"/>
                  <a:pt x="186" y="32"/>
                  <a:pt x="192" y="32"/>
                </a:cubicBezTo>
                <a:cubicBezTo>
                  <a:pt x="197" y="32"/>
                  <a:pt x="197" y="32"/>
                  <a:pt x="197" y="32"/>
                </a:cubicBezTo>
                <a:cubicBezTo>
                  <a:pt x="193" y="43"/>
                  <a:pt x="193" y="43"/>
                  <a:pt x="193" y="43"/>
                </a:cubicBezTo>
                <a:cubicBezTo>
                  <a:pt x="108" y="43"/>
                  <a:pt x="108" y="43"/>
                  <a:pt x="108" y="43"/>
                </a:cubicBezTo>
                <a:cubicBezTo>
                  <a:pt x="114" y="21"/>
                  <a:pt x="114" y="21"/>
                  <a:pt x="114" y="21"/>
                </a:cubicBezTo>
                <a:cubicBezTo>
                  <a:pt x="128" y="21"/>
                  <a:pt x="128" y="21"/>
                  <a:pt x="128" y="21"/>
                </a:cubicBezTo>
                <a:cubicBezTo>
                  <a:pt x="134" y="21"/>
                  <a:pt x="138" y="17"/>
                  <a:pt x="138" y="11"/>
                </a:cubicBezTo>
                <a:cubicBezTo>
                  <a:pt x="138" y="5"/>
                  <a:pt x="134" y="0"/>
                  <a:pt x="128" y="0"/>
                </a:cubicBezTo>
                <a:cubicBezTo>
                  <a:pt x="106" y="0"/>
                  <a:pt x="106" y="0"/>
                  <a:pt x="106" y="0"/>
                </a:cubicBezTo>
                <a:cubicBezTo>
                  <a:pt x="102" y="0"/>
                  <a:pt x="98" y="3"/>
                  <a:pt x="96" y="8"/>
                </a:cubicBezTo>
                <a:cubicBezTo>
                  <a:pt x="72" y="86"/>
                  <a:pt x="72" y="86"/>
                  <a:pt x="72" y="86"/>
                </a:cubicBezTo>
                <a:cubicBezTo>
                  <a:pt x="69" y="86"/>
                  <a:pt x="67" y="85"/>
                  <a:pt x="64" y="85"/>
                </a:cubicBezTo>
                <a:cubicBezTo>
                  <a:pt x="28" y="85"/>
                  <a:pt x="0" y="114"/>
                  <a:pt x="0" y="149"/>
                </a:cubicBezTo>
                <a:cubicBezTo>
                  <a:pt x="0" y="185"/>
                  <a:pt x="28" y="213"/>
                  <a:pt x="64" y="213"/>
                </a:cubicBezTo>
                <a:cubicBezTo>
                  <a:pt x="99" y="213"/>
                  <a:pt x="128" y="185"/>
                  <a:pt x="128" y="149"/>
                </a:cubicBezTo>
                <a:cubicBezTo>
                  <a:pt x="128" y="124"/>
                  <a:pt x="113" y="103"/>
                  <a:pt x="92" y="92"/>
                </a:cubicBezTo>
                <a:cubicBezTo>
                  <a:pt x="98" y="75"/>
                  <a:pt x="98" y="75"/>
                  <a:pt x="98" y="75"/>
                </a:cubicBezTo>
                <a:cubicBezTo>
                  <a:pt x="151" y="155"/>
                  <a:pt x="151" y="155"/>
                  <a:pt x="151" y="155"/>
                </a:cubicBezTo>
                <a:cubicBezTo>
                  <a:pt x="153" y="158"/>
                  <a:pt x="156" y="160"/>
                  <a:pt x="160" y="160"/>
                </a:cubicBezTo>
                <a:cubicBezTo>
                  <a:pt x="160" y="160"/>
                  <a:pt x="160" y="160"/>
                  <a:pt x="160" y="160"/>
                </a:cubicBezTo>
                <a:cubicBezTo>
                  <a:pt x="193" y="160"/>
                  <a:pt x="193" y="160"/>
                  <a:pt x="193" y="160"/>
                </a:cubicBezTo>
                <a:cubicBezTo>
                  <a:pt x="198" y="190"/>
                  <a:pt x="224" y="213"/>
                  <a:pt x="256" y="213"/>
                </a:cubicBezTo>
                <a:cubicBezTo>
                  <a:pt x="291" y="213"/>
                  <a:pt x="320" y="185"/>
                  <a:pt x="320" y="149"/>
                </a:cubicBezTo>
                <a:cubicBezTo>
                  <a:pt x="320" y="114"/>
                  <a:pt x="291" y="85"/>
                  <a:pt x="256" y="85"/>
                </a:cubicBezTo>
                <a:close/>
                <a:moveTo>
                  <a:pt x="106" y="149"/>
                </a:moveTo>
                <a:cubicBezTo>
                  <a:pt x="106" y="173"/>
                  <a:pt x="87" y="192"/>
                  <a:pt x="64" y="192"/>
                </a:cubicBezTo>
                <a:cubicBezTo>
                  <a:pt x="40" y="192"/>
                  <a:pt x="21" y="173"/>
                  <a:pt x="21" y="149"/>
                </a:cubicBezTo>
                <a:cubicBezTo>
                  <a:pt x="21" y="126"/>
                  <a:pt x="40" y="107"/>
                  <a:pt x="64" y="107"/>
                </a:cubicBezTo>
                <a:cubicBezTo>
                  <a:pt x="64" y="107"/>
                  <a:pt x="65" y="107"/>
                  <a:pt x="66" y="107"/>
                </a:cubicBezTo>
                <a:cubicBezTo>
                  <a:pt x="53" y="146"/>
                  <a:pt x="53" y="146"/>
                  <a:pt x="53" y="146"/>
                </a:cubicBezTo>
                <a:cubicBezTo>
                  <a:pt x="52" y="152"/>
                  <a:pt x="55" y="158"/>
                  <a:pt x="61" y="160"/>
                </a:cubicBezTo>
                <a:cubicBezTo>
                  <a:pt x="62" y="160"/>
                  <a:pt x="63" y="160"/>
                  <a:pt x="64" y="160"/>
                </a:cubicBezTo>
                <a:cubicBezTo>
                  <a:pt x="68" y="160"/>
                  <a:pt x="72" y="157"/>
                  <a:pt x="74" y="152"/>
                </a:cubicBezTo>
                <a:cubicBezTo>
                  <a:pt x="86" y="113"/>
                  <a:pt x="86" y="113"/>
                  <a:pt x="86" y="113"/>
                </a:cubicBezTo>
                <a:cubicBezTo>
                  <a:pt x="98" y="121"/>
                  <a:pt x="106" y="134"/>
                  <a:pt x="106" y="149"/>
                </a:cubicBezTo>
                <a:close/>
                <a:moveTo>
                  <a:pt x="216" y="99"/>
                </a:moveTo>
                <a:cubicBezTo>
                  <a:pt x="204" y="109"/>
                  <a:pt x="195" y="123"/>
                  <a:pt x="193" y="139"/>
                </a:cubicBezTo>
                <a:cubicBezTo>
                  <a:pt x="176" y="139"/>
                  <a:pt x="176" y="139"/>
                  <a:pt x="176" y="139"/>
                </a:cubicBezTo>
                <a:cubicBezTo>
                  <a:pt x="202" y="75"/>
                  <a:pt x="202" y="75"/>
                  <a:pt x="202" y="75"/>
                </a:cubicBezTo>
                <a:lnTo>
                  <a:pt x="216" y="99"/>
                </a:lnTo>
                <a:close/>
                <a:moveTo>
                  <a:pt x="238" y="139"/>
                </a:moveTo>
                <a:cubicBezTo>
                  <a:pt x="215" y="139"/>
                  <a:pt x="215" y="139"/>
                  <a:pt x="215" y="139"/>
                </a:cubicBezTo>
                <a:cubicBezTo>
                  <a:pt x="217" y="131"/>
                  <a:pt x="221" y="124"/>
                  <a:pt x="226" y="118"/>
                </a:cubicBezTo>
                <a:lnTo>
                  <a:pt x="238" y="139"/>
                </a:lnTo>
                <a:close/>
                <a:moveTo>
                  <a:pt x="157" y="127"/>
                </a:moveTo>
                <a:cubicBezTo>
                  <a:pt x="116" y="64"/>
                  <a:pt x="116" y="64"/>
                  <a:pt x="116" y="64"/>
                </a:cubicBezTo>
                <a:cubicBezTo>
                  <a:pt x="184" y="64"/>
                  <a:pt x="184" y="64"/>
                  <a:pt x="184" y="64"/>
                </a:cubicBezTo>
                <a:lnTo>
                  <a:pt x="157" y="127"/>
                </a:lnTo>
                <a:close/>
                <a:moveTo>
                  <a:pt x="256" y="192"/>
                </a:moveTo>
                <a:cubicBezTo>
                  <a:pt x="236" y="192"/>
                  <a:pt x="219" y="178"/>
                  <a:pt x="215" y="160"/>
                </a:cubicBezTo>
                <a:cubicBezTo>
                  <a:pt x="256" y="160"/>
                  <a:pt x="256" y="160"/>
                  <a:pt x="256" y="160"/>
                </a:cubicBezTo>
                <a:cubicBezTo>
                  <a:pt x="259" y="160"/>
                  <a:pt x="263" y="158"/>
                  <a:pt x="265" y="155"/>
                </a:cubicBezTo>
                <a:cubicBezTo>
                  <a:pt x="267" y="151"/>
                  <a:pt x="267" y="147"/>
                  <a:pt x="265" y="144"/>
                </a:cubicBezTo>
                <a:cubicBezTo>
                  <a:pt x="245" y="108"/>
                  <a:pt x="245" y="108"/>
                  <a:pt x="245" y="108"/>
                </a:cubicBezTo>
                <a:cubicBezTo>
                  <a:pt x="248" y="107"/>
                  <a:pt x="252" y="107"/>
                  <a:pt x="256" y="107"/>
                </a:cubicBezTo>
                <a:cubicBezTo>
                  <a:pt x="279" y="107"/>
                  <a:pt x="298" y="126"/>
                  <a:pt x="298" y="149"/>
                </a:cubicBezTo>
                <a:cubicBezTo>
                  <a:pt x="298" y="173"/>
                  <a:pt x="279" y="192"/>
                  <a:pt x="256" y="192"/>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47" name="Freeform 506"/>
          <p:cNvSpPr>
            <a:spLocks noEditPoints="1"/>
          </p:cNvSpPr>
          <p:nvPr/>
        </p:nvSpPr>
        <p:spPr bwMode="auto">
          <a:xfrm>
            <a:off x="8533634" y="5930275"/>
            <a:ext cx="231772" cy="254692"/>
          </a:xfrm>
          <a:custGeom>
            <a:avLst/>
            <a:gdLst>
              <a:gd name="T0" fmla="*/ 76 w 237"/>
              <a:gd name="T1" fmla="*/ 117 h 299"/>
              <a:gd name="T2" fmla="*/ 161 w 237"/>
              <a:gd name="T3" fmla="*/ 117 h 299"/>
              <a:gd name="T4" fmla="*/ 183 w 237"/>
              <a:gd name="T5" fmla="*/ 96 h 299"/>
              <a:gd name="T6" fmla="*/ 183 w 237"/>
              <a:gd name="T7" fmla="*/ 64 h 299"/>
              <a:gd name="T8" fmla="*/ 161 w 237"/>
              <a:gd name="T9" fmla="*/ 43 h 299"/>
              <a:gd name="T10" fmla="*/ 76 w 237"/>
              <a:gd name="T11" fmla="*/ 43 h 299"/>
              <a:gd name="T12" fmla="*/ 55 w 237"/>
              <a:gd name="T13" fmla="*/ 64 h 299"/>
              <a:gd name="T14" fmla="*/ 55 w 237"/>
              <a:gd name="T15" fmla="*/ 96 h 299"/>
              <a:gd name="T16" fmla="*/ 76 w 237"/>
              <a:gd name="T17" fmla="*/ 117 h 299"/>
              <a:gd name="T18" fmla="*/ 76 w 237"/>
              <a:gd name="T19" fmla="*/ 64 h 299"/>
              <a:gd name="T20" fmla="*/ 161 w 237"/>
              <a:gd name="T21" fmla="*/ 64 h 299"/>
              <a:gd name="T22" fmla="*/ 161 w 237"/>
              <a:gd name="T23" fmla="*/ 96 h 299"/>
              <a:gd name="T24" fmla="*/ 76 w 237"/>
              <a:gd name="T25" fmla="*/ 96 h 299"/>
              <a:gd name="T26" fmla="*/ 76 w 237"/>
              <a:gd name="T27" fmla="*/ 64 h 299"/>
              <a:gd name="T28" fmla="*/ 76 w 237"/>
              <a:gd name="T29" fmla="*/ 192 h 299"/>
              <a:gd name="T30" fmla="*/ 55 w 237"/>
              <a:gd name="T31" fmla="*/ 171 h 299"/>
              <a:gd name="T32" fmla="*/ 76 w 237"/>
              <a:gd name="T33" fmla="*/ 149 h 299"/>
              <a:gd name="T34" fmla="*/ 97 w 237"/>
              <a:gd name="T35" fmla="*/ 171 h 299"/>
              <a:gd name="T36" fmla="*/ 76 w 237"/>
              <a:gd name="T37" fmla="*/ 192 h 299"/>
              <a:gd name="T38" fmla="*/ 183 w 237"/>
              <a:gd name="T39" fmla="*/ 171 h 299"/>
              <a:gd name="T40" fmla="*/ 161 w 237"/>
              <a:gd name="T41" fmla="*/ 192 h 299"/>
              <a:gd name="T42" fmla="*/ 140 w 237"/>
              <a:gd name="T43" fmla="*/ 171 h 299"/>
              <a:gd name="T44" fmla="*/ 161 w 237"/>
              <a:gd name="T45" fmla="*/ 149 h 299"/>
              <a:gd name="T46" fmla="*/ 183 w 237"/>
              <a:gd name="T47" fmla="*/ 171 h 299"/>
              <a:gd name="T48" fmla="*/ 233 w 237"/>
              <a:gd name="T49" fmla="*/ 280 h 299"/>
              <a:gd name="T50" fmla="*/ 183 w 237"/>
              <a:gd name="T51" fmla="*/ 231 h 299"/>
              <a:gd name="T52" fmla="*/ 225 w 237"/>
              <a:gd name="T53" fmla="*/ 181 h 299"/>
              <a:gd name="T54" fmla="*/ 225 w 237"/>
              <a:gd name="T55" fmla="*/ 53 h 299"/>
              <a:gd name="T56" fmla="*/ 172 w 237"/>
              <a:gd name="T57" fmla="*/ 0 h 299"/>
              <a:gd name="T58" fmla="*/ 65 w 237"/>
              <a:gd name="T59" fmla="*/ 0 h 299"/>
              <a:gd name="T60" fmla="*/ 12 w 237"/>
              <a:gd name="T61" fmla="*/ 53 h 299"/>
              <a:gd name="T62" fmla="*/ 12 w 237"/>
              <a:gd name="T63" fmla="*/ 181 h 299"/>
              <a:gd name="T64" fmla="*/ 52 w 237"/>
              <a:gd name="T65" fmla="*/ 233 h 299"/>
              <a:gd name="T66" fmla="*/ 4 w 237"/>
              <a:gd name="T67" fmla="*/ 280 h 299"/>
              <a:gd name="T68" fmla="*/ 4 w 237"/>
              <a:gd name="T69" fmla="*/ 296 h 299"/>
              <a:gd name="T70" fmla="*/ 12 w 237"/>
              <a:gd name="T71" fmla="*/ 299 h 299"/>
              <a:gd name="T72" fmla="*/ 20 w 237"/>
              <a:gd name="T73" fmla="*/ 296 h 299"/>
              <a:gd name="T74" fmla="*/ 38 w 237"/>
              <a:gd name="T75" fmla="*/ 277 h 299"/>
              <a:gd name="T76" fmla="*/ 200 w 237"/>
              <a:gd name="T77" fmla="*/ 277 h 299"/>
              <a:gd name="T78" fmla="*/ 218 w 237"/>
              <a:gd name="T79" fmla="*/ 296 h 299"/>
              <a:gd name="T80" fmla="*/ 225 w 237"/>
              <a:gd name="T81" fmla="*/ 299 h 299"/>
              <a:gd name="T82" fmla="*/ 233 w 237"/>
              <a:gd name="T83" fmla="*/ 296 h 299"/>
              <a:gd name="T84" fmla="*/ 233 w 237"/>
              <a:gd name="T85" fmla="*/ 280 h 299"/>
              <a:gd name="T86" fmla="*/ 33 w 237"/>
              <a:gd name="T87" fmla="*/ 181 h 299"/>
              <a:gd name="T88" fmla="*/ 33 w 237"/>
              <a:gd name="T89" fmla="*/ 53 h 299"/>
              <a:gd name="T90" fmla="*/ 65 w 237"/>
              <a:gd name="T91" fmla="*/ 21 h 299"/>
              <a:gd name="T92" fmla="*/ 172 w 237"/>
              <a:gd name="T93" fmla="*/ 21 h 299"/>
              <a:gd name="T94" fmla="*/ 204 w 237"/>
              <a:gd name="T95" fmla="*/ 53 h 299"/>
              <a:gd name="T96" fmla="*/ 204 w 237"/>
              <a:gd name="T97" fmla="*/ 181 h 299"/>
              <a:gd name="T98" fmla="*/ 161 w 237"/>
              <a:gd name="T99" fmla="*/ 213 h 299"/>
              <a:gd name="T100" fmla="*/ 65 w 237"/>
              <a:gd name="T101" fmla="*/ 213 h 299"/>
              <a:gd name="T102" fmla="*/ 33 w 237"/>
              <a:gd name="T103" fmla="*/ 181 h 299"/>
              <a:gd name="T104" fmla="*/ 59 w 237"/>
              <a:gd name="T105" fmla="*/ 256 h 299"/>
              <a:gd name="T106" fmla="*/ 80 w 237"/>
              <a:gd name="T107" fmla="*/ 235 h 299"/>
              <a:gd name="T108" fmla="*/ 157 w 237"/>
              <a:gd name="T109" fmla="*/ 235 h 299"/>
              <a:gd name="T110" fmla="*/ 178 w 237"/>
              <a:gd name="T111" fmla="*/ 256 h 299"/>
              <a:gd name="T112" fmla="*/ 59 w 237"/>
              <a:gd name="T113" fmla="*/ 25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7" h="299">
                <a:moveTo>
                  <a:pt x="76" y="117"/>
                </a:moveTo>
                <a:cubicBezTo>
                  <a:pt x="161" y="117"/>
                  <a:pt x="161" y="117"/>
                  <a:pt x="161" y="117"/>
                </a:cubicBezTo>
                <a:cubicBezTo>
                  <a:pt x="173" y="117"/>
                  <a:pt x="183" y="108"/>
                  <a:pt x="183" y="96"/>
                </a:cubicBezTo>
                <a:cubicBezTo>
                  <a:pt x="183" y="64"/>
                  <a:pt x="183" y="64"/>
                  <a:pt x="183" y="64"/>
                </a:cubicBezTo>
                <a:cubicBezTo>
                  <a:pt x="183" y="52"/>
                  <a:pt x="173" y="43"/>
                  <a:pt x="161" y="43"/>
                </a:cubicBezTo>
                <a:cubicBezTo>
                  <a:pt x="76" y="43"/>
                  <a:pt x="76" y="43"/>
                  <a:pt x="76" y="43"/>
                </a:cubicBezTo>
                <a:cubicBezTo>
                  <a:pt x="64" y="43"/>
                  <a:pt x="55" y="52"/>
                  <a:pt x="55" y="64"/>
                </a:cubicBezTo>
                <a:cubicBezTo>
                  <a:pt x="55" y="96"/>
                  <a:pt x="55" y="96"/>
                  <a:pt x="55" y="96"/>
                </a:cubicBezTo>
                <a:cubicBezTo>
                  <a:pt x="55" y="108"/>
                  <a:pt x="64" y="117"/>
                  <a:pt x="76" y="117"/>
                </a:cubicBezTo>
                <a:close/>
                <a:moveTo>
                  <a:pt x="76" y="64"/>
                </a:moveTo>
                <a:cubicBezTo>
                  <a:pt x="161" y="64"/>
                  <a:pt x="161" y="64"/>
                  <a:pt x="161" y="64"/>
                </a:cubicBezTo>
                <a:cubicBezTo>
                  <a:pt x="161" y="96"/>
                  <a:pt x="161" y="96"/>
                  <a:pt x="161" y="96"/>
                </a:cubicBezTo>
                <a:cubicBezTo>
                  <a:pt x="76" y="96"/>
                  <a:pt x="76" y="96"/>
                  <a:pt x="76" y="96"/>
                </a:cubicBezTo>
                <a:lnTo>
                  <a:pt x="76" y="64"/>
                </a:lnTo>
                <a:close/>
                <a:moveTo>
                  <a:pt x="76" y="192"/>
                </a:moveTo>
                <a:cubicBezTo>
                  <a:pt x="64" y="192"/>
                  <a:pt x="55" y="182"/>
                  <a:pt x="55" y="171"/>
                </a:cubicBezTo>
                <a:cubicBezTo>
                  <a:pt x="55" y="159"/>
                  <a:pt x="64" y="149"/>
                  <a:pt x="76" y="149"/>
                </a:cubicBezTo>
                <a:cubicBezTo>
                  <a:pt x="88" y="149"/>
                  <a:pt x="97" y="159"/>
                  <a:pt x="97" y="171"/>
                </a:cubicBezTo>
                <a:cubicBezTo>
                  <a:pt x="97" y="182"/>
                  <a:pt x="88" y="192"/>
                  <a:pt x="76" y="192"/>
                </a:cubicBezTo>
                <a:close/>
                <a:moveTo>
                  <a:pt x="183" y="171"/>
                </a:moveTo>
                <a:cubicBezTo>
                  <a:pt x="183" y="182"/>
                  <a:pt x="173" y="192"/>
                  <a:pt x="161" y="192"/>
                </a:cubicBezTo>
                <a:cubicBezTo>
                  <a:pt x="150" y="192"/>
                  <a:pt x="140" y="182"/>
                  <a:pt x="140" y="171"/>
                </a:cubicBezTo>
                <a:cubicBezTo>
                  <a:pt x="140" y="159"/>
                  <a:pt x="150" y="149"/>
                  <a:pt x="161" y="149"/>
                </a:cubicBezTo>
                <a:cubicBezTo>
                  <a:pt x="173" y="149"/>
                  <a:pt x="183" y="159"/>
                  <a:pt x="183" y="171"/>
                </a:cubicBezTo>
                <a:close/>
                <a:moveTo>
                  <a:pt x="233" y="280"/>
                </a:moveTo>
                <a:cubicBezTo>
                  <a:pt x="183" y="231"/>
                  <a:pt x="183" y="231"/>
                  <a:pt x="183" y="231"/>
                </a:cubicBezTo>
                <a:cubicBezTo>
                  <a:pt x="205" y="223"/>
                  <a:pt x="225" y="204"/>
                  <a:pt x="225" y="181"/>
                </a:cubicBezTo>
                <a:cubicBezTo>
                  <a:pt x="225" y="53"/>
                  <a:pt x="225" y="53"/>
                  <a:pt x="225" y="53"/>
                </a:cubicBezTo>
                <a:cubicBezTo>
                  <a:pt x="225" y="24"/>
                  <a:pt x="201" y="0"/>
                  <a:pt x="172" y="0"/>
                </a:cubicBezTo>
                <a:cubicBezTo>
                  <a:pt x="65" y="0"/>
                  <a:pt x="65" y="0"/>
                  <a:pt x="65" y="0"/>
                </a:cubicBezTo>
                <a:cubicBezTo>
                  <a:pt x="36" y="0"/>
                  <a:pt x="12" y="24"/>
                  <a:pt x="12" y="53"/>
                </a:cubicBezTo>
                <a:cubicBezTo>
                  <a:pt x="12" y="181"/>
                  <a:pt x="12" y="181"/>
                  <a:pt x="12" y="181"/>
                </a:cubicBezTo>
                <a:cubicBezTo>
                  <a:pt x="12" y="206"/>
                  <a:pt x="29" y="227"/>
                  <a:pt x="52" y="233"/>
                </a:cubicBezTo>
                <a:cubicBezTo>
                  <a:pt x="4" y="280"/>
                  <a:pt x="4" y="280"/>
                  <a:pt x="4" y="280"/>
                </a:cubicBezTo>
                <a:cubicBezTo>
                  <a:pt x="0" y="285"/>
                  <a:pt x="0" y="291"/>
                  <a:pt x="4" y="296"/>
                </a:cubicBezTo>
                <a:cubicBezTo>
                  <a:pt x="7" y="298"/>
                  <a:pt x="9" y="299"/>
                  <a:pt x="12" y="299"/>
                </a:cubicBezTo>
                <a:cubicBezTo>
                  <a:pt x="15" y="299"/>
                  <a:pt x="17" y="298"/>
                  <a:pt x="20" y="296"/>
                </a:cubicBezTo>
                <a:cubicBezTo>
                  <a:pt x="38" y="277"/>
                  <a:pt x="38" y="277"/>
                  <a:pt x="38" y="277"/>
                </a:cubicBezTo>
                <a:cubicBezTo>
                  <a:pt x="200" y="277"/>
                  <a:pt x="200" y="277"/>
                  <a:pt x="200" y="277"/>
                </a:cubicBezTo>
                <a:cubicBezTo>
                  <a:pt x="218" y="296"/>
                  <a:pt x="218" y="296"/>
                  <a:pt x="218" y="296"/>
                </a:cubicBezTo>
                <a:cubicBezTo>
                  <a:pt x="220" y="298"/>
                  <a:pt x="223" y="299"/>
                  <a:pt x="225" y="299"/>
                </a:cubicBezTo>
                <a:cubicBezTo>
                  <a:pt x="228" y="299"/>
                  <a:pt x="231" y="298"/>
                  <a:pt x="233" y="296"/>
                </a:cubicBezTo>
                <a:cubicBezTo>
                  <a:pt x="237" y="291"/>
                  <a:pt x="237" y="285"/>
                  <a:pt x="233" y="280"/>
                </a:cubicBezTo>
                <a:close/>
                <a:moveTo>
                  <a:pt x="33" y="181"/>
                </a:moveTo>
                <a:cubicBezTo>
                  <a:pt x="33" y="53"/>
                  <a:pt x="33" y="53"/>
                  <a:pt x="33" y="53"/>
                </a:cubicBezTo>
                <a:cubicBezTo>
                  <a:pt x="33" y="36"/>
                  <a:pt x="48" y="21"/>
                  <a:pt x="65" y="21"/>
                </a:cubicBezTo>
                <a:cubicBezTo>
                  <a:pt x="172" y="21"/>
                  <a:pt x="172" y="21"/>
                  <a:pt x="172" y="21"/>
                </a:cubicBezTo>
                <a:cubicBezTo>
                  <a:pt x="190" y="21"/>
                  <a:pt x="204" y="36"/>
                  <a:pt x="204" y="53"/>
                </a:cubicBezTo>
                <a:cubicBezTo>
                  <a:pt x="204" y="181"/>
                  <a:pt x="204" y="181"/>
                  <a:pt x="204" y="181"/>
                </a:cubicBezTo>
                <a:cubicBezTo>
                  <a:pt x="204" y="198"/>
                  <a:pt x="180" y="213"/>
                  <a:pt x="161" y="213"/>
                </a:cubicBezTo>
                <a:cubicBezTo>
                  <a:pt x="65" y="213"/>
                  <a:pt x="65" y="213"/>
                  <a:pt x="65" y="213"/>
                </a:cubicBezTo>
                <a:cubicBezTo>
                  <a:pt x="48" y="213"/>
                  <a:pt x="33" y="199"/>
                  <a:pt x="33" y="181"/>
                </a:cubicBezTo>
                <a:close/>
                <a:moveTo>
                  <a:pt x="59" y="256"/>
                </a:moveTo>
                <a:cubicBezTo>
                  <a:pt x="80" y="235"/>
                  <a:pt x="80" y="235"/>
                  <a:pt x="80" y="235"/>
                </a:cubicBezTo>
                <a:cubicBezTo>
                  <a:pt x="157" y="235"/>
                  <a:pt x="157" y="235"/>
                  <a:pt x="157" y="235"/>
                </a:cubicBezTo>
                <a:cubicBezTo>
                  <a:pt x="178" y="256"/>
                  <a:pt x="178" y="256"/>
                  <a:pt x="178" y="256"/>
                </a:cubicBezTo>
                <a:lnTo>
                  <a:pt x="59" y="25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nvGrpSpPr>
          <p:cNvPr id="448" name="Group 447"/>
          <p:cNvGrpSpPr/>
          <p:nvPr/>
        </p:nvGrpSpPr>
        <p:grpSpPr>
          <a:xfrm>
            <a:off x="3383252" y="4197592"/>
            <a:ext cx="261980" cy="228615"/>
            <a:chOff x="4792591" y="5144110"/>
            <a:chExt cx="823039" cy="718219"/>
          </a:xfrm>
          <a:solidFill>
            <a:schemeClr val="bg1"/>
          </a:solidFill>
        </p:grpSpPr>
        <p:sp>
          <p:nvSpPr>
            <p:cNvPr id="449" name="Freeform 579"/>
            <p:cNvSpPr>
              <a:spLocks noEditPoints="1"/>
            </p:cNvSpPr>
            <p:nvPr/>
          </p:nvSpPr>
          <p:spPr bwMode="auto">
            <a:xfrm>
              <a:off x="4792591" y="5369282"/>
              <a:ext cx="823039" cy="493047"/>
            </a:xfrm>
            <a:custGeom>
              <a:avLst/>
              <a:gdLst>
                <a:gd name="T0" fmla="*/ 287 w 320"/>
                <a:gd name="T1" fmla="*/ 9 h 192"/>
                <a:gd name="T2" fmla="*/ 277 w 320"/>
                <a:gd name="T3" fmla="*/ 0 h 192"/>
                <a:gd name="T4" fmla="*/ 213 w 320"/>
                <a:gd name="T5" fmla="*/ 0 h 192"/>
                <a:gd name="T6" fmla="*/ 202 w 320"/>
                <a:gd name="T7" fmla="*/ 9 h 192"/>
                <a:gd name="T8" fmla="*/ 190 w 320"/>
                <a:gd name="T9" fmla="*/ 107 h 192"/>
                <a:gd name="T10" fmla="*/ 112 w 320"/>
                <a:gd name="T11" fmla="*/ 55 h 192"/>
                <a:gd name="T12" fmla="*/ 101 w 320"/>
                <a:gd name="T13" fmla="*/ 55 h 192"/>
                <a:gd name="T14" fmla="*/ 96 w 320"/>
                <a:gd name="T15" fmla="*/ 64 h 192"/>
                <a:gd name="T16" fmla="*/ 96 w 320"/>
                <a:gd name="T17" fmla="*/ 108 h 192"/>
                <a:gd name="T18" fmla="*/ 16 w 320"/>
                <a:gd name="T19" fmla="*/ 55 h 192"/>
                <a:gd name="T20" fmla="*/ 5 w 320"/>
                <a:gd name="T21" fmla="*/ 55 h 192"/>
                <a:gd name="T22" fmla="*/ 0 w 320"/>
                <a:gd name="T23" fmla="*/ 64 h 192"/>
                <a:gd name="T24" fmla="*/ 0 w 320"/>
                <a:gd name="T25" fmla="*/ 181 h 192"/>
                <a:gd name="T26" fmla="*/ 10 w 320"/>
                <a:gd name="T27" fmla="*/ 192 h 192"/>
                <a:gd name="T28" fmla="*/ 309 w 320"/>
                <a:gd name="T29" fmla="*/ 192 h 192"/>
                <a:gd name="T30" fmla="*/ 317 w 320"/>
                <a:gd name="T31" fmla="*/ 188 h 192"/>
                <a:gd name="T32" fmla="*/ 319 w 320"/>
                <a:gd name="T33" fmla="*/ 179 h 192"/>
                <a:gd name="T34" fmla="*/ 287 w 320"/>
                <a:gd name="T35" fmla="*/ 9 h 192"/>
                <a:gd name="T36" fmla="*/ 187 w 320"/>
                <a:gd name="T37" fmla="*/ 131 h 192"/>
                <a:gd name="T38" fmla="*/ 182 w 320"/>
                <a:gd name="T39" fmla="*/ 171 h 192"/>
                <a:gd name="T40" fmla="*/ 117 w 320"/>
                <a:gd name="T41" fmla="*/ 171 h 192"/>
                <a:gd name="T42" fmla="*/ 117 w 320"/>
                <a:gd name="T43" fmla="*/ 84 h 192"/>
                <a:gd name="T44" fmla="*/ 187 w 320"/>
                <a:gd name="T45" fmla="*/ 131 h 192"/>
                <a:gd name="T46" fmla="*/ 96 w 320"/>
                <a:gd name="T47" fmla="*/ 134 h 192"/>
                <a:gd name="T48" fmla="*/ 96 w 320"/>
                <a:gd name="T49" fmla="*/ 171 h 192"/>
                <a:gd name="T50" fmla="*/ 21 w 320"/>
                <a:gd name="T51" fmla="*/ 171 h 192"/>
                <a:gd name="T52" fmla="*/ 21 w 320"/>
                <a:gd name="T53" fmla="*/ 84 h 192"/>
                <a:gd name="T54" fmla="*/ 96 w 320"/>
                <a:gd name="T55" fmla="*/ 134 h 192"/>
                <a:gd name="T56" fmla="*/ 204 w 320"/>
                <a:gd name="T57" fmla="*/ 171 h 192"/>
                <a:gd name="T58" fmla="*/ 222 w 320"/>
                <a:gd name="T59" fmla="*/ 21 h 192"/>
                <a:gd name="T60" fmla="*/ 268 w 320"/>
                <a:gd name="T61" fmla="*/ 21 h 192"/>
                <a:gd name="T62" fmla="*/ 296 w 320"/>
                <a:gd name="T63" fmla="*/ 171 h 192"/>
                <a:gd name="T64" fmla="*/ 204 w 320"/>
                <a:gd name="T65" fmla="*/ 17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0" h="192">
                  <a:moveTo>
                    <a:pt x="287" y="9"/>
                  </a:moveTo>
                  <a:cubicBezTo>
                    <a:pt x="287" y="4"/>
                    <a:pt x="282" y="0"/>
                    <a:pt x="277" y="0"/>
                  </a:cubicBezTo>
                  <a:cubicBezTo>
                    <a:pt x="213" y="0"/>
                    <a:pt x="213" y="0"/>
                    <a:pt x="213" y="0"/>
                  </a:cubicBezTo>
                  <a:cubicBezTo>
                    <a:pt x="208" y="0"/>
                    <a:pt x="203" y="4"/>
                    <a:pt x="202" y="9"/>
                  </a:cubicBezTo>
                  <a:cubicBezTo>
                    <a:pt x="190" y="107"/>
                    <a:pt x="190" y="107"/>
                    <a:pt x="190" y="107"/>
                  </a:cubicBezTo>
                  <a:cubicBezTo>
                    <a:pt x="112" y="55"/>
                    <a:pt x="112" y="55"/>
                    <a:pt x="112" y="55"/>
                  </a:cubicBezTo>
                  <a:cubicBezTo>
                    <a:pt x="109" y="53"/>
                    <a:pt x="105" y="53"/>
                    <a:pt x="101" y="55"/>
                  </a:cubicBezTo>
                  <a:cubicBezTo>
                    <a:pt x="98" y="56"/>
                    <a:pt x="96" y="60"/>
                    <a:pt x="96" y="64"/>
                  </a:cubicBezTo>
                  <a:cubicBezTo>
                    <a:pt x="96" y="108"/>
                    <a:pt x="96" y="108"/>
                    <a:pt x="96" y="108"/>
                  </a:cubicBezTo>
                  <a:cubicBezTo>
                    <a:pt x="16" y="55"/>
                    <a:pt x="16" y="55"/>
                    <a:pt x="16" y="55"/>
                  </a:cubicBezTo>
                  <a:cubicBezTo>
                    <a:pt x="13" y="53"/>
                    <a:pt x="9" y="53"/>
                    <a:pt x="5" y="55"/>
                  </a:cubicBezTo>
                  <a:cubicBezTo>
                    <a:pt x="2" y="56"/>
                    <a:pt x="0" y="60"/>
                    <a:pt x="0" y="64"/>
                  </a:cubicBezTo>
                  <a:cubicBezTo>
                    <a:pt x="0" y="181"/>
                    <a:pt x="0" y="181"/>
                    <a:pt x="0" y="181"/>
                  </a:cubicBezTo>
                  <a:cubicBezTo>
                    <a:pt x="0" y="187"/>
                    <a:pt x="4" y="192"/>
                    <a:pt x="10" y="192"/>
                  </a:cubicBezTo>
                  <a:cubicBezTo>
                    <a:pt x="309" y="192"/>
                    <a:pt x="309" y="192"/>
                    <a:pt x="309" y="192"/>
                  </a:cubicBezTo>
                  <a:cubicBezTo>
                    <a:pt x="312" y="192"/>
                    <a:pt x="315" y="191"/>
                    <a:pt x="317" y="188"/>
                  </a:cubicBezTo>
                  <a:cubicBezTo>
                    <a:pt x="319" y="186"/>
                    <a:pt x="320" y="182"/>
                    <a:pt x="319" y="179"/>
                  </a:cubicBezTo>
                  <a:lnTo>
                    <a:pt x="287" y="9"/>
                  </a:lnTo>
                  <a:close/>
                  <a:moveTo>
                    <a:pt x="187" y="131"/>
                  </a:moveTo>
                  <a:cubicBezTo>
                    <a:pt x="182" y="171"/>
                    <a:pt x="182" y="171"/>
                    <a:pt x="182" y="171"/>
                  </a:cubicBezTo>
                  <a:cubicBezTo>
                    <a:pt x="117" y="171"/>
                    <a:pt x="117" y="171"/>
                    <a:pt x="117" y="171"/>
                  </a:cubicBezTo>
                  <a:cubicBezTo>
                    <a:pt x="117" y="84"/>
                    <a:pt x="117" y="84"/>
                    <a:pt x="117" y="84"/>
                  </a:cubicBezTo>
                  <a:lnTo>
                    <a:pt x="187" y="131"/>
                  </a:lnTo>
                  <a:close/>
                  <a:moveTo>
                    <a:pt x="96" y="134"/>
                  </a:moveTo>
                  <a:cubicBezTo>
                    <a:pt x="96" y="171"/>
                    <a:pt x="96" y="171"/>
                    <a:pt x="96" y="171"/>
                  </a:cubicBezTo>
                  <a:cubicBezTo>
                    <a:pt x="21" y="171"/>
                    <a:pt x="21" y="171"/>
                    <a:pt x="21" y="171"/>
                  </a:cubicBezTo>
                  <a:cubicBezTo>
                    <a:pt x="21" y="84"/>
                    <a:pt x="21" y="84"/>
                    <a:pt x="21" y="84"/>
                  </a:cubicBezTo>
                  <a:lnTo>
                    <a:pt x="96" y="134"/>
                  </a:lnTo>
                  <a:close/>
                  <a:moveTo>
                    <a:pt x="204" y="171"/>
                  </a:moveTo>
                  <a:cubicBezTo>
                    <a:pt x="222" y="21"/>
                    <a:pt x="222" y="21"/>
                    <a:pt x="222" y="21"/>
                  </a:cubicBezTo>
                  <a:cubicBezTo>
                    <a:pt x="268" y="21"/>
                    <a:pt x="268" y="21"/>
                    <a:pt x="268" y="21"/>
                  </a:cubicBezTo>
                  <a:cubicBezTo>
                    <a:pt x="296" y="171"/>
                    <a:pt x="296" y="171"/>
                    <a:pt x="296" y="171"/>
                  </a:cubicBezTo>
                  <a:lnTo>
                    <a:pt x="204" y="17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50" name="Freeform 580"/>
            <p:cNvSpPr>
              <a:spLocks/>
            </p:cNvSpPr>
            <p:nvPr/>
          </p:nvSpPr>
          <p:spPr bwMode="auto">
            <a:xfrm>
              <a:off x="5328342" y="5144110"/>
              <a:ext cx="77644" cy="170820"/>
            </a:xfrm>
            <a:custGeom>
              <a:avLst/>
              <a:gdLst>
                <a:gd name="T0" fmla="*/ 8 w 31"/>
                <a:gd name="T1" fmla="*/ 46 h 65"/>
                <a:gd name="T2" fmla="*/ 8 w 31"/>
                <a:gd name="T3" fmla="*/ 61 h 65"/>
                <a:gd name="T4" fmla="*/ 16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6"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2" y="34"/>
                    <a:pt x="8" y="40"/>
                  </a:cubicBezTo>
                  <a:cubicBezTo>
                    <a:pt x="9" y="41"/>
                    <a:pt x="11" y="43"/>
                    <a:pt x="8" y="4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51" name="Freeform 581"/>
            <p:cNvSpPr>
              <a:spLocks/>
            </p:cNvSpPr>
            <p:nvPr/>
          </p:nvSpPr>
          <p:spPr bwMode="auto">
            <a:xfrm>
              <a:off x="5437047" y="5144110"/>
              <a:ext cx="81529" cy="170820"/>
            </a:xfrm>
            <a:custGeom>
              <a:avLst/>
              <a:gdLst>
                <a:gd name="T0" fmla="*/ 8 w 31"/>
                <a:gd name="T1" fmla="*/ 46 h 65"/>
                <a:gd name="T2" fmla="*/ 8 w 31"/>
                <a:gd name="T3" fmla="*/ 61 h 65"/>
                <a:gd name="T4" fmla="*/ 15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5"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1" y="34"/>
                    <a:pt x="8" y="40"/>
                  </a:cubicBezTo>
                  <a:cubicBezTo>
                    <a:pt x="9" y="41"/>
                    <a:pt x="11" y="43"/>
                    <a:pt x="8" y="4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sp>
        <p:nvSpPr>
          <p:cNvPr id="454" name="Freeform 824"/>
          <p:cNvSpPr>
            <a:spLocks noEditPoints="1"/>
          </p:cNvSpPr>
          <p:nvPr/>
        </p:nvSpPr>
        <p:spPr bwMode="auto">
          <a:xfrm>
            <a:off x="8520301" y="5232580"/>
            <a:ext cx="347444" cy="249487"/>
          </a:xfrm>
          <a:custGeom>
            <a:avLst/>
            <a:gdLst>
              <a:gd name="T0" fmla="*/ 256 w 342"/>
              <a:gd name="T1" fmla="*/ 96 h 245"/>
              <a:gd name="T2" fmla="*/ 246 w 342"/>
              <a:gd name="T3" fmla="*/ 32 h 245"/>
              <a:gd name="T4" fmla="*/ 203 w 342"/>
              <a:gd name="T5" fmla="*/ 0 h 245"/>
              <a:gd name="T6" fmla="*/ 32 w 342"/>
              <a:gd name="T7" fmla="*/ 32 h 245"/>
              <a:gd name="T8" fmla="*/ 22 w 342"/>
              <a:gd name="T9" fmla="*/ 74 h 245"/>
              <a:gd name="T10" fmla="*/ 0 w 342"/>
              <a:gd name="T11" fmla="*/ 85 h 245"/>
              <a:gd name="T12" fmla="*/ 22 w 342"/>
              <a:gd name="T13" fmla="*/ 96 h 245"/>
              <a:gd name="T14" fmla="*/ 11 w 342"/>
              <a:gd name="T15" fmla="*/ 117 h 245"/>
              <a:gd name="T16" fmla="*/ 11 w 342"/>
              <a:gd name="T17" fmla="*/ 138 h 245"/>
              <a:gd name="T18" fmla="*/ 22 w 342"/>
              <a:gd name="T19" fmla="*/ 213 h 245"/>
              <a:gd name="T20" fmla="*/ 56 w 342"/>
              <a:gd name="T21" fmla="*/ 224 h 245"/>
              <a:gd name="T22" fmla="*/ 116 w 342"/>
              <a:gd name="T23" fmla="*/ 224 h 245"/>
              <a:gd name="T24" fmla="*/ 267 w 342"/>
              <a:gd name="T25" fmla="*/ 245 h 245"/>
              <a:gd name="T26" fmla="*/ 331 w 342"/>
              <a:gd name="T27" fmla="*/ 224 h 245"/>
              <a:gd name="T28" fmla="*/ 342 w 342"/>
              <a:gd name="T29" fmla="*/ 128 h 245"/>
              <a:gd name="T30" fmla="*/ 203 w 342"/>
              <a:gd name="T31" fmla="*/ 21 h 245"/>
              <a:gd name="T32" fmla="*/ 192 w 342"/>
              <a:gd name="T33" fmla="*/ 32 h 245"/>
              <a:gd name="T34" fmla="*/ 43 w 342"/>
              <a:gd name="T35" fmla="*/ 96 h 245"/>
              <a:gd name="T36" fmla="*/ 64 w 342"/>
              <a:gd name="T37" fmla="*/ 117 h 245"/>
              <a:gd name="T38" fmla="*/ 43 w 342"/>
              <a:gd name="T39" fmla="*/ 96 h 245"/>
              <a:gd name="T40" fmla="*/ 107 w 342"/>
              <a:gd name="T41" fmla="*/ 117 h 245"/>
              <a:gd name="T42" fmla="*/ 86 w 342"/>
              <a:gd name="T43" fmla="*/ 96 h 245"/>
              <a:gd name="T44" fmla="*/ 150 w 342"/>
              <a:gd name="T45" fmla="*/ 96 h 245"/>
              <a:gd name="T46" fmla="*/ 128 w 342"/>
              <a:gd name="T47" fmla="*/ 117 h 245"/>
              <a:gd name="T48" fmla="*/ 150 w 342"/>
              <a:gd name="T49" fmla="*/ 96 h 245"/>
              <a:gd name="T50" fmla="*/ 192 w 342"/>
              <a:gd name="T51" fmla="*/ 117 h 245"/>
              <a:gd name="T52" fmla="*/ 171 w 342"/>
              <a:gd name="T53" fmla="*/ 96 h 245"/>
              <a:gd name="T54" fmla="*/ 43 w 342"/>
              <a:gd name="T55" fmla="*/ 138 h 245"/>
              <a:gd name="T56" fmla="*/ 224 w 342"/>
              <a:gd name="T57" fmla="*/ 128 h 245"/>
              <a:gd name="T58" fmla="*/ 214 w 342"/>
              <a:gd name="T59" fmla="*/ 96 h 245"/>
              <a:gd name="T60" fmla="*/ 214 w 342"/>
              <a:gd name="T61" fmla="*/ 74 h 245"/>
              <a:gd name="T62" fmla="*/ 43 w 342"/>
              <a:gd name="T63" fmla="*/ 53 h 245"/>
              <a:gd name="T64" fmla="*/ 235 w 342"/>
              <a:gd name="T65" fmla="*/ 202 h 245"/>
              <a:gd name="T66" fmla="*/ 86 w 342"/>
              <a:gd name="T67" fmla="*/ 181 h 245"/>
              <a:gd name="T68" fmla="*/ 43 w 342"/>
              <a:gd name="T69" fmla="*/ 202 h 245"/>
              <a:gd name="T70" fmla="*/ 86 w 342"/>
              <a:gd name="T71" fmla="*/ 224 h 245"/>
              <a:gd name="T72" fmla="*/ 86 w 342"/>
              <a:gd name="T73" fmla="*/ 202 h 245"/>
              <a:gd name="T74" fmla="*/ 86 w 342"/>
              <a:gd name="T75" fmla="*/ 224 h 245"/>
              <a:gd name="T76" fmla="*/ 256 w 342"/>
              <a:gd name="T77" fmla="*/ 213 h 245"/>
              <a:gd name="T78" fmla="*/ 278 w 342"/>
              <a:gd name="T79" fmla="*/ 213 h 245"/>
              <a:gd name="T80" fmla="*/ 320 w 342"/>
              <a:gd name="T81" fmla="*/ 202 h 245"/>
              <a:gd name="T82" fmla="*/ 267 w 342"/>
              <a:gd name="T83" fmla="*/ 181 h 245"/>
              <a:gd name="T84" fmla="*/ 256 w 342"/>
              <a:gd name="T85" fmla="*/ 117 h 245"/>
              <a:gd name="T86" fmla="*/ 320 w 342"/>
              <a:gd name="T87" fmla="*/ 12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2" h="245">
                <a:moveTo>
                  <a:pt x="310" y="96"/>
                </a:moveTo>
                <a:cubicBezTo>
                  <a:pt x="256" y="96"/>
                  <a:pt x="256" y="96"/>
                  <a:pt x="256" y="96"/>
                </a:cubicBezTo>
                <a:cubicBezTo>
                  <a:pt x="256" y="42"/>
                  <a:pt x="256" y="42"/>
                  <a:pt x="256" y="42"/>
                </a:cubicBezTo>
                <a:cubicBezTo>
                  <a:pt x="256" y="36"/>
                  <a:pt x="252" y="32"/>
                  <a:pt x="246" y="32"/>
                </a:cubicBezTo>
                <a:cubicBezTo>
                  <a:pt x="235" y="32"/>
                  <a:pt x="235" y="32"/>
                  <a:pt x="235" y="32"/>
                </a:cubicBezTo>
                <a:cubicBezTo>
                  <a:pt x="235" y="14"/>
                  <a:pt x="221" y="0"/>
                  <a:pt x="203" y="0"/>
                </a:cubicBezTo>
                <a:cubicBezTo>
                  <a:pt x="185" y="0"/>
                  <a:pt x="171" y="14"/>
                  <a:pt x="171" y="32"/>
                </a:cubicBezTo>
                <a:cubicBezTo>
                  <a:pt x="32" y="32"/>
                  <a:pt x="32" y="32"/>
                  <a:pt x="32" y="32"/>
                </a:cubicBezTo>
                <a:cubicBezTo>
                  <a:pt x="26" y="32"/>
                  <a:pt x="22" y="36"/>
                  <a:pt x="22" y="42"/>
                </a:cubicBezTo>
                <a:cubicBezTo>
                  <a:pt x="22" y="74"/>
                  <a:pt x="22" y="74"/>
                  <a:pt x="22" y="74"/>
                </a:cubicBezTo>
                <a:cubicBezTo>
                  <a:pt x="11" y="74"/>
                  <a:pt x="11" y="74"/>
                  <a:pt x="11" y="74"/>
                </a:cubicBezTo>
                <a:cubicBezTo>
                  <a:pt x="5" y="74"/>
                  <a:pt x="0" y="79"/>
                  <a:pt x="0" y="85"/>
                </a:cubicBezTo>
                <a:cubicBezTo>
                  <a:pt x="0" y="91"/>
                  <a:pt x="5" y="96"/>
                  <a:pt x="11" y="96"/>
                </a:cubicBezTo>
                <a:cubicBezTo>
                  <a:pt x="22" y="96"/>
                  <a:pt x="22" y="96"/>
                  <a:pt x="22" y="96"/>
                </a:cubicBezTo>
                <a:cubicBezTo>
                  <a:pt x="22" y="117"/>
                  <a:pt x="22" y="117"/>
                  <a:pt x="22" y="117"/>
                </a:cubicBezTo>
                <a:cubicBezTo>
                  <a:pt x="11" y="117"/>
                  <a:pt x="11" y="117"/>
                  <a:pt x="11" y="117"/>
                </a:cubicBezTo>
                <a:cubicBezTo>
                  <a:pt x="5" y="117"/>
                  <a:pt x="0" y="122"/>
                  <a:pt x="0" y="128"/>
                </a:cubicBezTo>
                <a:cubicBezTo>
                  <a:pt x="0" y="134"/>
                  <a:pt x="5" y="138"/>
                  <a:pt x="11" y="138"/>
                </a:cubicBezTo>
                <a:cubicBezTo>
                  <a:pt x="22" y="138"/>
                  <a:pt x="22" y="138"/>
                  <a:pt x="22" y="138"/>
                </a:cubicBezTo>
                <a:cubicBezTo>
                  <a:pt x="22" y="213"/>
                  <a:pt x="22" y="213"/>
                  <a:pt x="22" y="213"/>
                </a:cubicBezTo>
                <a:cubicBezTo>
                  <a:pt x="22" y="219"/>
                  <a:pt x="26" y="224"/>
                  <a:pt x="32" y="224"/>
                </a:cubicBezTo>
                <a:cubicBezTo>
                  <a:pt x="56" y="224"/>
                  <a:pt x="56" y="224"/>
                  <a:pt x="56" y="224"/>
                </a:cubicBezTo>
                <a:cubicBezTo>
                  <a:pt x="60" y="236"/>
                  <a:pt x="72" y="245"/>
                  <a:pt x="86" y="245"/>
                </a:cubicBezTo>
                <a:cubicBezTo>
                  <a:pt x="100" y="245"/>
                  <a:pt x="111" y="236"/>
                  <a:pt x="116" y="224"/>
                </a:cubicBezTo>
                <a:cubicBezTo>
                  <a:pt x="237" y="224"/>
                  <a:pt x="237" y="224"/>
                  <a:pt x="237" y="224"/>
                </a:cubicBezTo>
                <a:cubicBezTo>
                  <a:pt x="241" y="236"/>
                  <a:pt x="253" y="245"/>
                  <a:pt x="267" y="245"/>
                </a:cubicBezTo>
                <a:cubicBezTo>
                  <a:pt x="281" y="245"/>
                  <a:pt x="293" y="236"/>
                  <a:pt x="297" y="224"/>
                </a:cubicBezTo>
                <a:cubicBezTo>
                  <a:pt x="331" y="224"/>
                  <a:pt x="331" y="224"/>
                  <a:pt x="331" y="224"/>
                </a:cubicBezTo>
                <a:cubicBezTo>
                  <a:pt x="337" y="224"/>
                  <a:pt x="342" y="219"/>
                  <a:pt x="342" y="213"/>
                </a:cubicBezTo>
                <a:cubicBezTo>
                  <a:pt x="342" y="128"/>
                  <a:pt x="342" y="128"/>
                  <a:pt x="342" y="128"/>
                </a:cubicBezTo>
                <a:cubicBezTo>
                  <a:pt x="342" y="110"/>
                  <a:pt x="327" y="96"/>
                  <a:pt x="310" y="96"/>
                </a:cubicBezTo>
                <a:close/>
                <a:moveTo>
                  <a:pt x="203" y="21"/>
                </a:moveTo>
                <a:cubicBezTo>
                  <a:pt x="209" y="21"/>
                  <a:pt x="214" y="26"/>
                  <a:pt x="214" y="32"/>
                </a:cubicBezTo>
                <a:cubicBezTo>
                  <a:pt x="192" y="32"/>
                  <a:pt x="192" y="32"/>
                  <a:pt x="192" y="32"/>
                </a:cubicBezTo>
                <a:cubicBezTo>
                  <a:pt x="192" y="26"/>
                  <a:pt x="197" y="21"/>
                  <a:pt x="203" y="21"/>
                </a:cubicBezTo>
                <a:close/>
                <a:moveTo>
                  <a:pt x="43" y="96"/>
                </a:moveTo>
                <a:cubicBezTo>
                  <a:pt x="64" y="96"/>
                  <a:pt x="64" y="96"/>
                  <a:pt x="64" y="96"/>
                </a:cubicBezTo>
                <a:cubicBezTo>
                  <a:pt x="64" y="117"/>
                  <a:pt x="64" y="117"/>
                  <a:pt x="64" y="117"/>
                </a:cubicBezTo>
                <a:cubicBezTo>
                  <a:pt x="43" y="117"/>
                  <a:pt x="43" y="117"/>
                  <a:pt x="43" y="117"/>
                </a:cubicBezTo>
                <a:lnTo>
                  <a:pt x="43" y="96"/>
                </a:lnTo>
                <a:close/>
                <a:moveTo>
                  <a:pt x="107" y="96"/>
                </a:moveTo>
                <a:cubicBezTo>
                  <a:pt x="107" y="117"/>
                  <a:pt x="107" y="117"/>
                  <a:pt x="107" y="117"/>
                </a:cubicBezTo>
                <a:cubicBezTo>
                  <a:pt x="86" y="117"/>
                  <a:pt x="86" y="117"/>
                  <a:pt x="86" y="117"/>
                </a:cubicBezTo>
                <a:cubicBezTo>
                  <a:pt x="86" y="96"/>
                  <a:pt x="86" y="96"/>
                  <a:pt x="86" y="96"/>
                </a:cubicBezTo>
                <a:lnTo>
                  <a:pt x="107" y="96"/>
                </a:lnTo>
                <a:close/>
                <a:moveTo>
                  <a:pt x="150" y="96"/>
                </a:moveTo>
                <a:cubicBezTo>
                  <a:pt x="150" y="117"/>
                  <a:pt x="150" y="117"/>
                  <a:pt x="150" y="117"/>
                </a:cubicBezTo>
                <a:cubicBezTo>
                  <a:pt x="128" y="117"/>
                  <a:pt x="128" y="117"/>
                  <a:pt x="128" y="117"/>
                </a:cubicBezTo>
                <a:cubicBezTo>
                  <a:pt x="128" y="96"/>
                  <a:pt x="128" y="96"/>
                  <a:pt x="128" y="96"/>
                </a:cubicBezTo>
                <a:lnTo>
                  <a:pt x="150" y="96"/>
                </a:lnTo>
                <a:close/>
                <a:moveTo>
                  <a:pt x="192" y="96"/>
                </a:moveTo>
                <a:cubicBezTo>
                  <a:pt x="192" y="117"/>
                  <a:pt x="192" y="117"/>
                  <a:pt x="192" y="117"/>
                </a:cubicBezTo>
                <a:cubicBezTo>
                  <a:pt x="171" y="117"/>
                  <a:pt x="171" y="117"/>
                  <a:pt x="171" y="117"/>
                </a:cubicBezTo>
                <a:cubicBezTo>
                  <a:pt x="171" y="96"/>
                  <a:pt x="171" y="96"/>
                  <a:pt x="171" y="96"/>
                </a:cubicBezTo>
                <a:lnTo>
                  <a:pt x="192" y="96"/>
                </a:lnTo>
                <a:close/>
                <a:moveTo>
                  <a:pt x="43" y="138"/>
                </a:moveTo>
                <a:cubicBezTo>
                  <a:pt x="214" y="138"/>
                  <a:pt x="214" y="138"/>
                  <a:pt x="214" y="138"/>
                </a:cubicBezTo>
                <a:cubicBezTo>
                  <a:pt x="220" y="138"/>
                  <a:pt x="224" y="134"/>
                  <a:pt x="224" y="128"/>
                </a:cubicBezTo>
                <a:cubicBezTo>
                  <a:pt x="224" y="122"/>
                  <a:pt x="219" y="117"/>
                  <a:pt x="214" y="117"/>
                </a:cubicBezTo>
                <a:cubicBezTo>
                  <a:pt x="214" y="96"/>
                  <a:pt x="214" y="96"/>
                  <a:pt x="214" y="96"/>
                </a:cubicBezTo>
                <a:cubicBezTo>
                  <a:pt x="219" y="96"/>
                  <a:pt x="224" y="91"/>
                  <a:pt x="224" y="85"/>
                </a:cubicBezTo>
                <a:cubicBezTo>
                  <a:pt x="224" y="79"/>
                  <a:pt x="220" y="74"/>
                  <a:pt x="214" y="74"/>
                </a:cubicBezTo>
                <a:cubicBezTo>
                  <a:pt x="43" y="74"/>
                  <a:pt x="43" y="74"/>
                  <a:pt x="43" y="74"/>
                </a:cubicBezTo>
                <a:cubicBezTo>
                  <a:pt x="43" y="53"/>
                  <a:pt x="43" y="53"/>
                  <a:pt x="43" y="53"/>
                </a:cubicBezTo>
                <a:cubicBezTo>
                  <a:pt x="235" y="53"/>
                  <a:pt x="235" y="53"/>
                  <a:pt x="235" y="53"/>
                </a:cubicBezTo>
                <a:cubicBezTo>
                  <a:pt x="235" y="202"/>
                  <a:pt x="235" y="202"/>
                  <a:pt x="235" y="202"/>
                </a:cubicBezTo>
                <a:cubicBezTo>
                  <a:pt x="116" y="202"/>
                  <a:pt x="116" y="202"/>
                  <a:pt x="116" y="202"/>
                </a:cubicBezTo>
                <a:cubicBezTo>
                  <a:pt x="111" y="190"/>
                  <a:pt x="100" y="181"/>
                  <a:pt x="86" y="181"/>
                </a:cubicBezTo>
                <a:cubicBezTo>
                  <a:pt x="72" y="181"/>
                  <a:pt x="60" y="190"/>
                  <a:pt x="56" y="202"/>
                </a:cubicBezTo>
                <a:cubicBezTo>
                  <a:pt x="43" y="202"/>
                  <a:pt x="43" y="202"/>
                  <a:pt x="43" y="202"/>
                </a:cubicBezTo>
                <a:lnTo>
                  <a:pt x="43" y="138"/>
                </a:lnTo>
                <a:close/>
                <a:moveTo>
                  <a:pt x="86" y="224"/>
                </a:moveTo>
                <a:cubicBezTo>
                  <a:pt x="80" y="224"/>
                  <a:pt x="75" y="219"/>
                  <a:pt x="75" y="213"/>
                </a:cubicBezTo>
                <a:cubicBezTo>
                  <a:pt x="75" y="207"/>
                  <a:pt x="80" y="202"/>
                  <a:pt x="86" y="202"/>
                </a:cubicBezTo>
                <a:cubicBezTo>
                  <a:pt x="92" y="202"/>
                  <a:pt x="96" y="207"/>
                  <a:pt x="96" y="213"/>
                </a:cubicBezTo>
                <a:cubicBezTo>
                  <a:pt x="96" y="219"/>
                  <a:pt x="92" y="224"/>
                  <a:pt x="86" y="224"/>
                </a:cubicBezTo>
                <a:close/>
                <a:moveTo>
                  <a:pt x="267" y="224"/>
                </a:moveTo>
                <a:cubicBezTo>
                  <a:pt x="261" y="224"/>
                  <a:pt x="256" y="219"/>
                  <a:pt x="256" y="213"/>
                </a:cubicBezTo>
                <a:cubicBezTo>
                  <a:pt x="256" y="207"/>
                  <a:pt x="261" y="202"/>
                  <a:pt x="267" y="202"/>
                </a:cubicBezTo>
                <a:cubicBezTo>
                  <a:pt x="273" y="202"/>
                  <a:pt x="278" y="207"/>
                  <a:pt x="278" y="213"/>
                </a:cubicBezTo>
                <a:cubicBezTo>
                  <a:pt x="278" y="219"/>
                  <a:pt x="273" y="224"/>
                  <a:pt x="267" y="224"/>
                </a:cubicBezTo>
                <a:close/>
                <a:moveTo>
                  <a:pt x="320" y="202"/>
                </a:moveTo>
                <a:cubicBezTo>
                  <a:pt x="297" y="202"/>
                  <a:pt x="297" y="202"/>
                  <a:pt x="297" y="202"/>
                </a:cubicBezTo>
                <a:cubicBezTo>
                  <a:pt x="293" y="190"/>
                  <a:pt x="281" y="181"/>
                  <a:pt x="267" y="181"/>
                </a:cubicBezTo>
                <a:cubicBezTo>
                  <a:pt x="263" y="181"/>
                  <a:pt x="260" y="182"/>
                  <a:pt x="256" y="183"/>
                </a:cubicBezTo>
                <a:cubicBezTo>
                  <a:pt x="256" y="117"/>
                  <a:pt x="256" y="117"/>
                  <a:pt x="256" y="117"/>
                </a:cubicBezTo>
                <a:cubicBezTo>
                  <a:pt x="310" y="117"/>
                  <a:pt x="310" y="117"/>
                  <a:pt x="310" y="117"/>
                </a:cubicBezTo>
                <a:cubicBezTo>
                  <a:pt x="316" y="117"/>
                  <a:pt x="320" y="122"/>
                  <a:pt x="320" y="128"/>
                </a:cubicBezTo>
                <a:lnTo>
                  <a:pt x="320" y="2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56" name="Freeform 558"/>
          <p:cNvSpPr>
            <a:spLocks noEditPoints="1"/>
          </p:cNvSpPr>
          <p:nvPr/>
        </p:nvSpPr>
        <p:spPr bwMode="auto">
          <a:xfrm>
            <a:off x="3371260" y="5822640"/>
            <a:ext cx="289669" cy="219361"/>
          </a:xfrm>
          <a:custGeom>
            <a:avLst/>
            <a:gdLst>
              <a:gd name="T0" fmla="*/ 288 w 309"/>
              <a:gd name="T1" fmla="*/ 164 h 235"/>
              <a:gd name="T2" fmla="*/ 288 w 309"/>
              <a:gd name="T3" fmla="*/ 107 h 235"/>
              <a:gd name="T4" fmla="*/ 266 w 309"/>
              <a:gd name="T5" fmla="*/ 86 h 235"/>
              <a:gd name="T6" fmla="*/ 245 w 309"/>
              <a:gd name="T7" fmla="*/ 86 h 235"/>
              <a:gd name="T8" fmla="*/ 245 w 309"/>
              <a:gd name="T9" fmla="*/ 32 h 235"/>
              <a:gd name="T10" fmla="*/ 224 w 309"/>
              <a:gd name="T11" fmla="*/ 11 h 235"/>
              <a:gd name="T12" fmla="*/ 213 w 309"/>
              <a:gd name="T13" fmla="*/ 22 h 235"/>
              <a:gd name="T14" fmla="*/ 224 w 309"/>
              <a:gd name="T15" fmla="*/ 32 h 235"/>
              <a:gd name="T16" fmla="*/ 224 w 309"/>
              <a:gd name="T17" fmla="*/ 86 h 235"/>
              <a:gd name="T18" fmla="*/ 168 w 309"/>
              <a:gd name="T19" fmla="*/ 86 h 235"/>
              <a:gd name="T20" fmla="*/ 149 w 309"/>
              <a:gd name="T21" fmla="*/ 20 h 235"/>
              <a:gd name="T22" fmla="*/ 128 w 309"/>
              <a:gd name="T23" fmla="*/ 0 h 235"/>
              <a:gd name="T24" fmla="*/ 64 w 309"/>
              <a:gd name="T25" fmla="*/ 0 h 235"/>
              <a:gd name="T26" fmla="*/ 53 w 309"/>
              <a:gd name="T27" fmla="*/ 10 h 235"/>
              <a:gd name="T28" fmla="*/ 43 w 309"/>
              <a:gd name="T29" fmla="*/ 93 h 235"/>
              <a:gd name="T30" fmla="*/ 0 w 309"/>
              <a:gd name="T31" fmla="*/ 160 h 235"/>
              <a:gd name="T32" fmla="*/ 74 w 309"/>
              <a:gd name="T33" fmla="*/ 235 h 235"/>
              <a:gd name="T34" fmla="*/ 127 w 309"/>
              <a:gd name="T35" fmla="*/ 213 h 235"/>
              <a:gd name="T36" fmla="*/ 128 w 309"/>
              <a:gd name="T37" fmla="*/ 214 h 235"/>
              <a:gd name="T38" fmla="*/ 238 w 309"/>
              <a:gd name="T39" fmla="*/ 214 h 235"/>
              <a:gd name="T40" fmla="*/ 272 w 309"/>
              <a:gd name="T41" fmla="*/ 235 h 235"/>
              <a:gd name="T42" fmla="*/ 309 w 309"/>
              <a:gd name="T43" fmla="*/ 198 h 235"/>
              <a:gd name="T44" fmla="*/ 288 w 309"/>
              <a:gd name="T45" fmla="*/ 164 h 235"/>
              <a:gd name="T46" fmla="*/ 266 w 309"/>
              <a:gd name="T47" fmla="*/ 161 h 235"/>
              <a:gd name="T48" fmla="*/ 235 w 309"/>
              <a:gd name="T49" fmla="*/ 192 h 235"/>
              <a:gd name="T50" fmla="*/ 142 w 309"/>
              <a:gd name="T51" fmla="*/ 192 h 235"/>
              <a:gd name="T52" fmla="*/ 149 w 309"/>
              <a:gd name="T53" fmla="*/ 160 h 235"/>
              <a:gd name="T54" fmla="*/ 126 w 309"/>
              <a:gd name="T55" fmla="*/ 107 h 235"/>
              <a:gd name="T56" fmla="*/ 266 w 309"/>
              <a:gd name="T57" fmla="*/ 107 h 235"/>
              <a:gd name="T58" fmla="*/ 266 w 309"/>
              <a:gd name="T59" fmla="*/ 161 h 235"/>
              <a:gd name="T60" fmla="*/ 73 w 309"/>
              <a:gd name="T61" fmla="*/ 22 h 235"/>
              <a:gd name="T62" fmla="*/ 128 w 309"/>
              <a:gd name="T63" fmla="*/ 22 h 235"/>
              <a:gd name="T64" fmla="*/ 128 w 309"/>
              <a:gd name="T65" fmla="*/ 25 h 235"/>
              <a:gd name="T66" fmla="*/ 146 w 309"/>
              <a:gd name="T67" fmla="*/ 86 h 235"/>
              <a:gd name="T68" fmla="*/ 85 w 309"/>
              <a:gd name="T69" fmla="*/ 86 h 235"/>
              <a:gd name="T70" fmla="*/ 83 w 309"/>
              <a:gd name="T71" fmla="*/ 86 h 235"/>
              <a:gd name="T72" fmla="*/ 74 w 309"/>
              <a:gd name="T73" fmla="*/ 86 h 235"/>
              <a:gd name="T74" fmla="*/ 65 w 309"/>
              <a:gd name="T75" fmla="*/ 86 h 235"/>
              <a:gd name="T76" fmla="*/ 73 w 309"/>
              <a:gd name="T77" fmla="*/ 22 h 235"/>
              <a:gd name="T78" fmla="*/ 74 w 309"/>
              <a:gd name="T79" fmla="*/ 214 h 235"/>
              <a:gd name="T80" fmla="*/ 21 w 309"/>
              <a:gd name="T81" fmla="*/ 160 h 235"/>
              <a:gd name="T82" fmla="*/ 74 w 309"/>
              <a:gd name="T83" fmla="*/ 107 h 235"/>
              <a:gd name="T84" fmla="*/ 128 w 309"/>
              <a:gd name="T85" fmla="*/ 160 h 235"/>
              <a:gd name="T86" fmla="*/ 74 w 309"/>
              <a:gd name="T87" fmla="*/ 214 h 235"/>
              <a:gd name="T88" fmla="*/ 272 w 309"/>
              <a:gd name="T89" fmla="*/ 214 h 235"/>
              <a:gd name="T90" fmla="*/ 256 w 309"/>
              <a:gd name="T91" fmla="*/ 198 h 235"/>
              <a:gd name="T92" fmla="*/ 272 w 309"/>
              <a:gd name="T93" fmla="*/ 182 h 235"/>
              <a:gd name="T94" fmla="*/ 288 w 309"/>
              <a:gd name="T95" fmla="*/ 198 h 235"/>
              <a:gd name="T96" fmla="*/ 272 w 309"/>
              <a:gd name="T97" fmla="*/ 214 h 235"/>
              <a:gd name="T98" fmla="*/ 234 w 309"/>
              <a:gd name="T99" fmla="*/ 128 h 235"/>
              <a:gd name="T100" fmla="*/ 245 w 309"/>
              <a:gd name="T101" fmla="*/ 139 h 235"/>
              <a:gd name="T102" fmla="*/ 234 w 309"/>
              <a:gd name="T103" fmla="*/ 150 h 235"/>
              <a:gd name="T104" fmla="*/ 213 w 309"/>
              <a:gd name="T105" fmla="*/ 150 h 235"/>
              <a:gd name="T106" fmla="*/ 202 w 309"/>
              <a:gd name="T107" fmla="*/ 139 h 235"/>
              <a:gd name="T108" fmla="*/ 213 w 309"/>
              <a:gd name="T109" fmla="*/ 128 h 235"/>
              <a:gd name="T110" fmla="*/ 234 w 309"/>
              <a:gd name="T111" fmla="*/ 12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9" h="235">
                <a:moveTo>
                  <a:pt x="288" y="164"/>
                </a:moveTo>
                <a:cubicBezTo>
                  <a:pt x="288" y="107"/>
                  <a:pt x="288" y="107"/>
                  <a:pt x="288" y="107"/>
                </a:cubicBezTo>
                <a:cubicBezTo>
                  <a:pt x="288" y="95"/>
                  <a:pt x="278" y="86"/>
                  <a:pt x="266" y="86"/>
                </a:cubicBezTo>
                <a:cubicBezTo>
                  <a:pt x="245" y="86"/>
                  <a:pt x="245" y="86"/>
                  <a:pt x="245" y="86"/>
                </a:cubicBezTo>
                <a:cubicBezTo>
                  <a:pt x="245" y="32"/>
                  <a:pt x="245" y="32"/>
                  <a:pt x="245" y="32"/>
                </a:cubicBezTo>
                <a:cubicBezTo>
                  <a:pt x="245" y="21"/>
                  <a:pt x="235" y="11"/>
                  <a:pt x="224" y="11"/>
                </a:cubicBezTo>
                <a:cubicBezTo>
                  <a:pt x="218" y="11"/>
                  <a:pt x="213" y="16"/>
                  <a:pt x="213" y="22"/>
                </a:cubicBezTo>
                <a:cubicBezTo>
                  <a:pt x="213" y="28"/>
                  <a:pt x="218" y="32"/>
                  <a:pt x="224" y="32"/>
                </a:cubicBezTo>
                <a:cubicBezTo>
                  <a:pt x="224" y="86"/>
                  <a:pt x="224" y="86"/>
                  <a:pt x="224" y="86"/>
                </a:cubicBezTo>
                <a:cubicBezTo>
                  <a:pt x="168" y="86"/>
                  <a:pt x="168" y="86"/>
                  <a:pt x="168" y="86"/>
                </a:cubicBezTo>
                <a:cubicBezTo>
                  <a:pt x="149" y="20"/>
                  <a:pt x="149" y="20"/>
                  <a:pt x="149" y="20"/>
                </a:cubicBezTo>
                <a:cubicBezTo>
                  <a:pt x="148" y="9"/>
                  <a:pt x="139" y="0"/>
                  <a:pt x="128" y="0"/>
                </a:cubicBezTo>
                <a:cubicBezTo>
                  <a:pt x="64" y="0"/>
                  <a:pt x="64" y="0"/>
                  <a:pt x="64" y="0"/>
                </a:cubicBezTo>
                <a:cubicBezTo>
                  <a:pt x="58" y="0"/>
                  <a:pt x="54" y="4"/>
                  <a:pt x="53" y="10"/>
                </a:cubicBezTo>
                <a:cubicBezTo>
                  <a:pt x="43" y="93"/>
                  <a:pt x="43" y="93"/>
                  <a:pt x="43" y="93"/>
                </a:cubicBezTo>
                <a:cubicBezTo>
                  <a:pt x="17" y="105"/>
                  <a:pt x="0" y="130"/>
                  <a:pt x="0" y="160"/>
                </a:cubicBezTo>
                <a:cubicBezTo>
                  <a:pt x="0" y="202"/>
                  <a:pt x="33" y="235"/>
                  <a:pt x="74" y="235"/>
                </a:cubicBezTo>
                <a:cubicBezTo>
                  <a:pt x="95" y="235"/>
                  <a:pt x="113" y="227"/>
                  <a:pt x="127" y="213"/>
                </a:cubicBezTo>
                <a:cubicBezTo>
                  <a:pt x="127" y="214"/>
                  <a:pt x="127" y="214"/>
                  <a:pt x="128" y="214"/>
                </a:cubicBezTo>
                <a:cubicBezTo>
                  <a:pt x="238" y="214"/>
                  <a:pt x="238" y="214"/>
                  <a:pt x="238" y="214"/>
                </a:cubicBezTo>
                <a:cubicBezTo>
                  <a:pt x="244" y="226"/>
                  <a:pt x="257" y="235"/>
                  <a:pt x="272" y="235"/>
                </a:cubicBezTo>
                <a:cubicBezTo>
                  <a:pt x="292" y="235"/>
                  <a:pt x="309" y="218"/>
                  <a:pt x="309" y="198"/>
                </a:cubicBezTo>
                <a:cubicBezTo>
                  <a:pt x="309" y="183"/>
                  <a:pt x="300" y="170"/>
                  <a:pt x="288" y="164"/>
                </a:cubicBezTo>
                <a:close/>
                <a:moveTo>
                  <a:pt x="266" y="161"/>
                </a:moveTo>
                <a:cubicBezTo>
                  <a:pt x="250" y="163"/>
                  <a:pt x="237" y="176"/>
                  <a:pt x="235" y="192"/>
                </a:cubicBezTo>
                <a:cubicBezTo>
                  <a:pt x="142" y="192"/>
                  <a:pt x="142" y="192"/>
                  <a:pt x="142" y="192"/>
                </a:cubicBezTo>
                <a:cubicBezTo>
                  <a:pt x="146" y="183"/>
                  <a:pt x="149" y="172"/>
                  <a:pt x="149" y="160"/>
                </a:cubicBezTo>
                <a:cubicBezTo>
                  <a:pt x="149" y="139"/>
                  <a:pt x="140" y="121"/>
                  <a:pt x="126" y="107"/>
                </a:cubicBezTo>
                <a:cubicBezTo>
                  <a:pt x="266" y="107"/>
                  <a:pt x="266" y="107"/>
                  <a:pt x="266" y="107"/>
                </a:cubicBezTo>
                <a:lnTo>
                  <a:pt x="266" y="161"/>
                </a:lnTo>
                <a:close/>
                <a:moveTo>
                  <a:pt x="73" y="22"/>
                </a:moveTo>
                <a:cubicBezTo>
                  <a:pt x="128" y="22"/>
                  <a:pt x="128" y="22"/>
                  <a:pt x="128" y="22"/>
                </a:cubicBezTo>
                <a:cubicBezTo>
                  <a:pt x="128" y="23"/>
                  <a:pt x="128" y="24"/>
                  <a:pt x="128" y="25"/>
                </a:cubicBezTo>
                <a:cubicBezTo>
                  <a:pt x="146" y="86"/>
                  <a:pt x="146" y="86"/>
                  <a:pt x="146" y="86"/>
                </a:cubicBezTo>
                <a:cubicBezTo>
                  <a:pt x="85" y="86"/>
                  <a:pt x="85" y="86"/>
                  <a:pt x="85" y="86"/>
                </a:cubicBezTo>
                <a:cubicBezTo>
                  <a:pt x="84" y="86"/>
                  <a:pt x="83" y="86"/>
                  <a:pt x="83" y="86"/>
                </a:cubicBezTo>
                <a:cubicBezTo>
                  <a:pt x="80" y="86"/>
                  <a:pt x="77" y="86"/>
                  <a:pt x="74" y="86"/>
                </a:cubicBezTo>
                <a:cubicBezTo>
                  <a:pt x="71" y="86"/>
                  <a:pt x="68" y="86"/>
                  <a:pt x="65" y="86"/>
                </a:cubicBezTo>
                <a:lnTo>
                  <a:pt x="73" y="22"/>
                </a:lnTo>
                <a:close/>
                <a:moveTo>
                  <a:pt x="74" y="214"/>
                </a:moveTo>
                <a:cubicBezTo>
                  <a:pt x="45" y="214"/>
                  <a:pt x="21" y="190"/>
                  <a:pt x="21" y="160"/>
                </a:cubicBezTo>
                <a:cubicBezTo>
                  <a:pt x="21" y="131"/>
                  <a:pt x="45" y="107"/>
                  <a:pt x="74" y="107"/>
                </a:cubicBezTo>
                <a:cubicBezTo>
                  <a:pt x="104" y="107"/>
                  <a:pt x="128" y="131"/>
                  <a:pt x="128" y="160"/>
                </a:cubicBezTo>
                <a:cubicBezTo>
                  <a:pt x="128" y="190"/>
                  <a:pt x="104" y="214"/>
                  <a:pt x="74" y="214"/>
                </a:cubicBezTo>
                <a:close/>
                <a:moveTo>
                  <a:pt x="272" y="214"/>
                </a:moveTo>
                <a:cubicBezTo>
                  <a:pt x="263" y="214"/>
                  <a:pt x="256" y="206"/>
                  <a:pt x="256" y="198"/>
                </a:cubicBezTo>
                <a:cubicBezTo>
                  <a:pt x="256" y="189"/>
                  <a:pt x="263" y="182"/>
                  <a:pt x="272" y="182"/>
                </a:cubicBezTo>
                <a:cubicBezTo>
                  <a:pt x="280" y="182"/>
                  <a:pt x="288" y="189"/>
                  <a:pt x="288" y="198"/>
                </a:cubicBezTo>
                <a:cubicBezTo>
                  <a:pt x="288" y="206"/>
                  <a:pt x="280" y="214"/>
                  <a:pt x="272" y="214"/>
                </a:cubicBezTo>
                <a:close/>
                <a:moveTo>
                  <a:pt x="234" y="128"/>
                </a:moveTo>
                <a:cubicBezTo>
                  <a:pt x="240" y="128"/>
                  <a:pt x="245" y="133"/>
                  <a:pt x="245" y="139"/>
                </a:cubicBezTo>
                <a:cubicBezTo>
                  <a:pt x="245" y="145"/>
                  <a:pt x="240" y="150"/>
                  <a:pt x="234" y="150"/>
                </a:cubicBezTo>
                <a:cubicBezTo>
                  <a:pt x="213" y="150"/>
                  <a:pt x="213" y="150"/>
                  <a:pt x="213" y="150"/>
                </a:cubicBezTo>
                <a:cubicBezTo>
                  <a:pt x="207" y="150"/>
                  <a:pt x="202" y="145"/>
                  <a:pt x="202" y="139"/>
                </a:cubicBezTo>
                <a:cubicBezTo>
                  <a:pt x="202" y="133"/>
                  <a:pt x="207" y="128"/>
                  <a:pt x="213" y="128"/>
                </a:cubicBezTo>
                <a:lnTo>
                  <a:pt x="234" y="128"/>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57" name="Freeform 558"/>
          <p:cNvSpPr>
            <a:spLocks noEditPoints="1"/>
          </p:cNvSpPr>
          <p:nvPr/>
        </p:nvSpPr>
        <p:spPr bwMode="auto">
          <a:xfrm>
            <a:off x="8521030" y="4545856"/>
            <a:ext cx="289669" cy="219361"/>
          </a:xfrm>
          <a:custGeom>
            <a:avLst/>
            <a:gdLst>
              <a:gd name="T0" fmla="*/ 288 w 309"/>
              <a:gd name="T1" fmla="*/ 164 h 235"/>
              <a:gd name="T2" fmla="*/ 288 w 309"/>
              <a:gd name="T3" fmla="*/ 107 h 235"/>
              <a:gd name="T4" fmla="*/ 266 w 309"/>
              <a:gd name="T5" fmla="*/ 86 h 235"/>
              <a:gd name="T6" fmla="*/ 245 w 309"/>
              <a:gd name="T7" fmla="*/ 86 h 235"/>
              <a:gd name="T8" fmla="*/ 245 w 309"/>
              <a:gd name="T9" fmla="*/ 32 h 235"/>
              <a:gd name="T10" fmla="*/ 224 w 309"/>
              <a:gd name="T11" fmla="*/ 11 h 235"/>
              <a:gd name="T12" fmla="*/ 213 w 309"/>
              <a:gd name="T13" fmla="*/ 22 h 235"/>
              <a:gd name="T14" fmla="*/ 224 w 309"/>
              <a:gd name="T15" fmla="*/ 32 h 235"/>
              <a:gd name="T16" fmla="*/ 224 w 309"/>
              <a:gd name="T17" fmla="*/ 86 h 235"/>
              <a:gd name="T18" fmla="*/ 168 w 309"/>
              <a:gd name="T19" fmla="*/ 86 h 235"/>
              <a:gd name="T20" fmla="*/ 149 w 309"/>
              <a:gd name="T21" fmla="*/ 20 h 235"/>
              <a:gd name="T22" fmla="*/ 128 w 309"/>
              <a:gd name="T23" fmla="*/ 0 h 235"/>
              <a:gd name="T24" fmla="*/ 64 w 309"/>
              <a:gd name="T25" fmla="*/ 0 h 235"/>
              <a:gd name="T26" fmla="*/ 53 w 309"/>
              <a:gd name="T27" fmla="*/ 10 h 235"/>
              <a:gd name="T28" fmla="*/ 43 w 309"/>
              <a:gd name="T29" fmla="*/ 93 h 235"/>
              <a:gd name="T30" fmla="*/ 0 w 309"/>
              <a:gd name="T31" fmla="*/ 160 h 235"/>
              <a:gd name="T32" fmla="*/ 74 w 309"/>
              <a:gd name="T33" fmla="*/ 235 h 235"/>
              <a:gd name="T34" fmla="*/ 127 w 309"/>
              <a:gd name="T35" fmla="*/ 213 h 235"/>
              <a:gd name="T36" fmla="*/ 128 w 309"/>
              <a:gd name="T37" fmla="*/ 214 h 235"/>
              <a:gd name="T38" fmla="*/ 238 w 309"/>
              <a:gd name="T39" fmla="*/ 214 h 235"/>
              <a:gd name="T40" fmla="*/ 272 w 309"/>
              <a:gd name="T41" fmla="*/ 235 h 235"/>
              <a:gd name="T42" fmla="*/ 309 w 309"/>
              <a:gd name="T43" fmla="*/ 198 h 235"/>
              <a:gd name="T44" fmla="*/ 288 w 309"/>
              <a:gd name="T45" fmla="*/ 164 h 235"/>
              <a:gd name="T46" fmla="*/ 266 w 309"/>
              <a:gd name="T47" fmla="*/ 161 h 235"/>
              <a:gd name="T48" fmla="*/ 235 w 309"/>
              <a:gd name="T49" fmla="*/ 192 h 235"/>
              <a:gd name="T50" fmla="*/ 142 w 309"/>
              <a:gd name="T51" fmla="*/ 192 h 235"/>
              <a:gd name="T52" fmla="*/ 149 w 309"/>
              <a:gd name="T53" fmla="*/ 160 h 235"/>
              <a:gd name="T54" fmla="*/ 126 w 309"/>
              <a:gd name="T55" fmla="*/ 107 h 235"/>
              <a:gd name="T56" fmla="*/ 266 w 309"/>
              <a:gd name="T57" fmla="*/ 107 h 235"/>
              <a:gd name="T58" fmla="*/ 266 w 309"/>
              <a:gd name="T59" fmla="*/ 161 h 235"/>
              <a:gd name="T60" fmla="*/ 73 w 309"/>
              <a:gd name="T61" fmla="*/ 22 h 235"/>
              <a:gd name="T62" fmla="*/ 128 w 309"/>
              <a:gd name="T63" fmla="*/ 22 h 235"/>
              <a:gd name="T64" fmla="*/ 128 w 309"/>
              <a:gd name="T65" fmla="*/ 25 h 235"/>
              <a:gd name="T66" fmla="*/ 146 w 309"/>
              <a:gd name="T67" fmla="*/ 86 h 235"/>
              <a:gd name="T68" fmla="*/ 85 w 309"/>
              <a:gd name="T69" fmla="*/ 86 h 235"/>
              <a:gd name="T70" fmla="*/ 83 w 309"/>
              <a:gd name="T71" fmla="*/ 86 h 235"/>
              <a:gd name="T72" fmla="*/ 74 w 309"/>
              <a:gd name="T73" fmla="*/ 86 h 235"/>
              <a:gd name="T74" fmla="*/ 65 w 309"/>
              <a:gd name="T75" fmla="*/ 86 h 235"/>
              <a:gd name="T76" fmla="*/ 73 w 309"/>
              <a:gd name="T77" fmla="*/ 22 h 235"/>
              <a:gd name="T78" fmla="*/ 74 w 309"/>
              <a:gd name="T79" fmla="*/ 214 h 235"/>
              <a:gd name="T80" fmla="*/ 21 w 309"/>
              <a:gd name="T81" fmla="*/ 160 h 235"/>
              <a:gd name="T82" fmla="*/ 74 w 309"/>
              <a:gd name="T83" fmla="*/ 107 h 235"/>
              <a:gd name="T84" fmla="*/ 128 w 309"/>
              <a:gd name="T85" fmla="*/ 160 h 235"/>
              <a:gd name="T86" fmla="*/ 74 w 309"/>
              <a:gd name="T87" fmla="*/ 214 h 235"/>
              <a:gd name="T88" fmla="*/ 272 w 309"/>
              <a:gd name="T89" fmla="*/ 214 h 235"/>
              <a:gd name="T90" fmla="*/ 256 w 309"/>
              <a:gd name="T91" fmla="*/ 198 h 235"/>
              <a:gd name="T92" fmla="*/ 272 w 309"/>
              <a:gd name="T93" fmla="*/ 182 h 235"/>
              <a:gd name="T94" fmla="*/ 288 w 309"/>
              <a:gd name="T95" fmla="*/ 198 h 235"/>
              <a:gd name="T96" fmla="*/ 272 w 309"/>
              <a:gd name="T97" fmla="*/ 214 h 235"/>
              <a:gd name="T98" fmla="*/ 234 w 309"/>
              <a:gd name="T99" fmla="*/ 128 h 235"/>
              <a:gd name="T100" fmla="*/ 245 w 309"/>
              <a:gd name="T101" fmla="*/ 139 h 235"/>
              <a:gd name="T102" fmla="*/ 234 w 309"/>
              <a:gd name="T103" fmla="*/ 150 h 235"/>
              <a:gd name="T104" fmla="*/ 213 w 309"/>
              <a:gd name="T105" fmla="*/ 150 h 235"/>
              <a:gd name="T106" fmla="*/ 202 w 309"/>
              <a:gd name="T107" fmla="*/ 139 h 235"/>
              <a:gd name="T108" fmla="*/ 213 w 309"/>
              <a:gd name="T109" fmla="*/ 128 h 235"/>
              <a:gd name="T110" fmla="*/ 234 w 309"/>
              <a:gd name="T111" fmla="*/ 12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9" h="235">
                <a:moveTo>
                  <a:pt x="288" y="164"/>
                </a:moveTo>
                <a:cubicBezTo>
                  <a:pt x="288" y="107"/>
                  <a:pt x="288" y="107"/>
                  <a:pt x="288" y="107"/>
                </a:cubicBezTo>
                <a:cubicBezTo>
                  <a:pt x="288" y="95"/>
                  <a:pt x="278" y="86"/>
                  <a:pt x="266" y="86"/>
                </a:cubicBezTo>
                <a:cubicBezTo>
                  <a:pt x="245" y="86"/>
                  <a:pt x="245" y="86"/>
                  <a:pt x="245" y="86"/>
                </a:cubicBezTo>
                <a:cubicBezTo>
                  <a:pt x="245" y="32"/>
                  <a:pt x="245" y="32"/>
                  <a:pt x="245" y="32"/>
                </a:cubicBezTo>
                <a:cubicBezTo>
                  <a:pt x="245" y="21"/>
                  <a:pt x="235" y="11"/>
                  <a:pt x="224" y="11"/>
                </a:cubicBezTo>
                <a:cubicBezTo>
                  <a:pt x="218" y="11"/>
                  <a:pt x="213" y="16"/>
                  <a:pt x="213" y="22"/>
                </a:cubicBezTo>
                <a:cubicBezTo>
                  <a:pt x="213" y="28"/>
                  <a:pt x="218" y="32"/>
                  <a:pt x="224" y="32"/>
                </a:cubicBezTo>
                <a:cubicBezTo>
                  <a:pt x="224" y="86"/>
                  <a:pt x="224" y="86"/>
                  <a:pt x="224" y="86"/>
                </a:cubicBezTo>
                <a:cubicBezTo>
                  <a:pt x="168" y="86"/>
                  <a:pt x="168" y="86"/>
                  <a:pt x="168" y="86"/>
                </a:cubicBezTo>
                <a:cubicBezTo>
                  <a:pt x="149" y="20"/>
                  <a:pt x="149" y="20"/>
                  <a:pt x="149" y="20"/>
                </a:cubicBezTo>
                <a:cubicBezTo>
                  <a:pt x="148" y="9"/>
                  <a:pt x="139" y="0"/>
                  <a:pt x="128" y="0"/>
                </a:cubicBezTo>
                <a:cubicBezTo>
                  <a:pt x="64" y="0"/>
                  <a:pt x="64" y="0"/>
                  <a:pt x="64" y="0"/>
                </a:cubicBezTo>
                <a:cubicBezTo>
                  <a:pt x="58" y="0"/>
                  <a:pt x="54" y="4"/>
                  <a:pt x="53" y="10"/>
                </a:cubicBezTo>
                <a:cubicBezTo>
                  <a:pt x="43" y="93"/>
                  <a:pt x="43" y="93"/>
                  <a:pt x="43" y="93"/>
                </a:cubicBezTo>
                <a:cubicBezTo>
                  <a:pt x="17" y="105"/>
                  <a:pt x="0" y="130"/>
                  <a:pt x="0" y="160"/>
                </a:cubicBezTo>
                <a:cubicBezTo>
                  <a:pt x="0" y="202"/>
                  <a:pt x="33" y="235"/>
                  <a:pt x="74" y="235"/>
                </a:cubicBezTo>
                <a:cubicBezTo>
                  <a:pt x="95" y="235"/>
                  <a:pt x="113" y="227"/>
                  <a:pt x="127" y="213"/>
                </a:cubicBezTo>
                <a:cubicBezTo>
                  <a:pt x="127" y="214"/>
                  <a:pt x="127" y="214"/>
                  <a:pt x="128" y="214"/>
                </a:cubicBezTo>
                <a:cubicBezTo>
                  <a:pt x="238" y="214"/>
                  <a:pt x="238" y="214"/>
                  <a:pt x="238" y="214"/>
                </a:cubicBezTo>
                <a:cubicBezTo>
                  <a:pt x="244" y="226"/>
                  <a:pt x="257" y="235"/>
                  <a:pt x="272" y="235"/>
                </a:cubicBezTo>
                <a:cubicBezTo>
                  <a:pt x="292" y="235"/>
                  <a:pt x="309" y="218"/>
                  <a:pt x="309" y="198"/>
                </a:cubicBezTo>
                <a:cubicBezTo>
                  <a:pt x="309" y="183"/>
                  <a:pt x="300" y="170"/>
                  <a:pt x="288" y="164"/>
                </a:cubicBezTo>
                <a:close/>
                <a:moveTo>
                  <a:pt x="266" y="161"/>
                </a:moveTo>
                <a:cubicBezTo>
                  <a:pt x="250" y="163"/>
                  <a:pt x="237" y="176"/>
                  <a:pt x="235" y="192"/>
                </a:cubicBezTo>
                <a:cubicBezTo>
                  <a:pt x="142" y="192"/>
                  <a:pt x="142" y="192"/>
                  <a:pt x="142" y="192"/>
                </a:cubicBezTo>
                <a:cubicBezTo>
                  <a:pt x="146" y="183"/>
                  <a:pt x="149" y="172"/>
                  <a:pt x="149" y="160"/>
                </a:cubicBezTo>
                <a:cubicBezTo>
                  <a:pt x="149" y="139"/>
                  <a:pt x="140" y="121"/>
                  <a:pt x="126" y="107"/>
                </a:cubicBezTo>
                <a:cubicBezTo>
                  <a:pt x="266" y="107"/>
                  <a:pt x="266" y="107"/>
                  <a:pt x="266" y="107"/>
                </a:cubicBezTo>
                <a:lnTo>
                  <a:pt x="266" y="161"/>
                </a:lnTo>
                <a:close/>
                <a:moveTo>
                  <a:pt x="73" y="22"/>
                </a:moveTo>
                <a:cubicBezTo>
                  <a:pt x="128" y="22"/>
                  <a:pt x="128" y="22"/>
                  <a:pt x="128" y="22"/>
                </a:cubicBezTo>
                <a:cubicBezTo>
                  <a:pt x="128" y="23"/>
                  <a:pt x="128" y="24"/>
                  <a:pt x="128" y="25"/>
                </a:cubicBezTo>
                <a:cubicBezTo>
                  <a:pt x="146" y="86"/>
                  <a:pt x="146" y="86"/>
                  <a:pt x="146" y="86"/>
                </a:cubicBezTo>
                <a:cubicBezTo>
                  <a:pt x="85" y="86"/>
                  <a:pt x="85" y="86"/>
                  <a:pt x="85" y="86"/>
                </a:cubicBezTo>
                <a:cubicBezTo>
                  <a:pt x="84" y="86"/>
                  <a:pt x="83" y="86"/>
                  <a:pt x="83" y="86"/>
                </a:cubicBezTo>
                <a:cubicBezTo>
                  <a:pt x="80" y="86"/>
                  <a:pt x="77" y="86"/>
                  <a:pt x="74" y="86"/>
                </a:cubicBezTo>
                <a:cubicBezTo>
                  <a:pt x="71" y="86"/>
                  <a:pt x="68" y="86"/>
                  <a:pt x="65" y="86"/>
                </a:cubicBezTo>
                <a:lnTo>
                  <a:pt x="73" y="22"/>
                </a:lnTo>
                <a:close/>
                <a:moveTo>
                  <a:pt x="74" y="214"/>
                </a:moveTo>
                <a:cubicBezTo>
                  <a:pt x="45" y="214"/>
                  <a:pt x="21" y="190"/>
                  <a:pt x="21" y="160"/>
                </a:cubicBezTo>
                <a:cubicBezTo>
                  <a:pt x="21" y="131"/>
                  <a:pt x="45" y="107"/>
                  <a:pt x="74" y="107"/>
                </a:cubicBezTo>
                <a:cubicBezTo>
                  <a:pt x="104" y="107"/>
                  <a:pt x="128" y="131"/>
                  <a:pt x="128" y="160"/>
                </a:cubicBezTo>
                <a:cubicBezTo>
                  <a:pt x="128" y="190"/>
                  <a:pt x="104" y="214"/>
                  <a:pt x="74" y="214"/>
                </a:cubicBezTo>
                <a:close/>
                <a:moveTo>
                  <a:pt x="272" y="214"/>
                </a:moveTo>
                <a:cubicBezTo>
                  <a:pt x="263" y="214"/>
                  <a:pt x="256" y="206"/>
                  <a:pt x="256" y="198"/>
                </a:cubicBezTo>
                <a:cubicBezTo>
                  <a:pt x="256" y="189"/>
                  <a:pt x="263" y="182"/>
                  <a:pt x="272" y="182"/>
                </a:cubicBezTo>
                <a:cubicBezTo>
                  <a:pt x="280" y="182"/>
                  <a:pt x="288" y="189"/>
                  <a:pt x="288" y="198"/>
                </a:cubicBezTo>
                <a:cubicBezTo>
                  <a:pt x="288" y="206"/>
                  <a:pt x="280" y="214"/>
                  <a:pt x="272" y="214"/>
                </a:cubicBezTo>
                <a:close/>
                <a:moveTo>
                  <a:pt x="234" y="128"/>
                </a:moveTo>
                <a:cubicBezTo>
                  <a:pt x="240" y="128"/>
                  <a:pt x="245" y="133"/>
                  <a:pt x="245" y="139"/>
                </a:cubicBezTo>
                <a:cubicBezTo>
                  <a:pt x="245" y="145"/>
                  <a:pt x="240" y="150"/>
                  <a:pt x="234" y="150"/>
                </a:cubicBezTo>
                <a:cubicBezTo>
                  <a:pt x="213" y="150"/>
                  <a:pt x="213" y="150"/>
                  <a:pt x="213" y="150"/>
                </a:cubicBezTo>
                <a:cubicBezTo>
                  <a:pt x="207" y="150"/>
                  <a:pt x="202" y="145"/>
                  <a:pt x="202" y="139"/>
                </a:cubicBezTo>
                <a:cubicBezTo>
                  <a:pt x="202" y="133"/>
                  <a:pt x="207" y="128"/>
                  <a:pt x="213" y="128"/>
                </a:cubicBezTo>
                <a:lnTo>
                  <a:pt x="234" y="128"/>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nvGrpSpPr>
          <p:cNvPr id="462" name="Group 461"/>
          <p:cNvGrpSpPr/>
          <p:nvPr/>
        </p:nvGrpSpPr>
        <p:grpSpPr>
          <a:xfrm>
            <a:off x="3386485" y="4583184"/>
            <a:ext cx="286565" cy="277881"/>
            <a:chOff x="981519" y="5033853"/>
            <a:chExt cx="572068" cy="554733"/>
          </a:xfrm>
        </p:grpSpPr>
        <p:sp>
          <p:nvSpPr>
            <p:cNvPr id="458" name="Freeform 18"/>
            <p:cNvSpPr>
              <a:spLocks/>
            </p:cNvSpPr>
            <p:nvPr/>
          </p:nvSpPr>
          <p:spPr bwMode="auto">
            <a:xfrm>
              <a:off x="1021968" y="5033853"/>
              <a:ext cx="101123" cy="187800"/>
            </a:xfrm>
            <a:custGeom>
              <a:avLst/>
              <a:gdLst>
                <a:gd name="T0" fmla="*/ 18 w 53"/>
                <a:gd name="T1" fmla="*/ 81 h 98"/>
                <a:gd name="T2" fmla="*/ 20 w 53"/>
                <a:gd name="T3" fmla="*/ 96 h 98"/>
                <a:gd name="T4" fmla="*/ 26 w 53"/>
                <a:gd name="T5" fmla="*/ 98 h 98"/>
                <a:gd name="T6" fmla="*/ 35 w 53"/>
                <a:gd name="T7" fmla="*/ 94 h 98"/>
                <a:gd name="T8" fmla="*/ 35 w 53"/>
                <a:gd name="T9" fmla="*/ 43 h 98"/>
                <a:gd name="T10" fmla="*/ 34 w 53"/>
                <a:gd name="T11" fmla="*/ 19 h 98"/>
                <a:gd name="T12" fmla="*/ 33 w 53"/>
                <a:gd name="T13" fmla="*/ 4 h 98"/>
                <a:gd name="T14" fmla="*/ 18 w 53"/>
                <a:gd name="T15" fmla="*/ 5 h 98"/>
                <a:gd name="T16" fmla="*/ 17 w 53"/>
                <a:gd name="T17" fmla="*/ 55 h 98"/>
                <a:gd name="T18" fmla="*/ 18 w 53"/>
                <a:gd name="T19" fmla="*/ 8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 h="98">
                  <a:moveTo>
                    <a:pt x="18" y="81"/>
                  </a:moveTo>
                  <a:cubicBezTo>
                    <a:pt x="14" y="85"/>
                    <a:pt x="15" y="92"/>
                    <a:pt x="20" y="96"/>
                  </a:cubicBezTo>
                  <a:cubicBezTo>
                    <a:pt x="22" y="97"/>
                    <a:pt x="24" y="98"/>
                    <a:pt x="26" y="98"/>
                  </a:cubicBezTo>
                  <a:cubicBezTo>
                    <a:pt x="29" y="98"/>
                    <a:pt x="33" y="97"/>
                    <a:pt x="35" y="94"/>
                  </a:cubicBezTo>
                  <a:cubicBezTo>
                    <a:pt x="35" y="93"/>
                    <a:pt x="53" y="71"/>
                    <a:pt x="35" y="43"/>
                  </a:cubicBezTo>
                  <a:cubicBezTo>
                    <a:pt x="27" y="29"/>
                    <a:pt x="34" y="20"/>
                    <a:pt x="34" y="19"/>
                  </a:cubicBezTo>
                  <a:cubicBezTo>
                    <a:pt x="38" y="14"/>
                    <a:pt x="38" y="8"/>
                    <a:pt x="33" y="4"/>
                  </a:cubicBezTo>
                  <a:cubicBezTo>
                    <a:pt x="29" y="0"/>
                    <a:pt x="22" y="1"/>
                    <a:pt x="18" y="5"/>
                  </a:cubicBezTo>
                  <a:cubicBezTo>
                    <a:pt x="18" y="6"/>
                    <a:pt x="0" y="27"/>
                    <a:pt x="17" y="55"/>
                  </a:cubicBezTo>
                  <a:cubicBezTo>
                    <a:pt x="26" y="69"/>
                    <a:pt x="19" y="80"/>
                    <a:pt x="18" y="81"/>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59" name="Freeform 19"/>
            <p:cNvSpPr>
              <a:spLocks/>
            </p:cNvSpPr>
            <p:nvPr/>
          </p:nvSpPr>
          <p:spPr bwMode="auto">
            <a:xfrm>
              <a:off x="1163541" y="5033853"/>
              <a:ext cx="101123" cy="187800"/>
            </a:xfrm>
            <a:custGeom>
              <a:avLst/>
              <a:gdLst>
                <a:gd name="T0" fmla="*/ 19 w 53"/>
                <a:gd name="T1" fmla="*/ 81 h 98"/>
                <a:gd name="T2" fmla="*/ 20 w 53"/>
                <a:gd name="T3" fmla="*/ 96 h 98"/>
                <a:gd name="T4" fmla="*/ 27 w 53"/>
                <a:gd name="T5" fmla="*/ 98 h 98"/>
                <a:gd name="T6" fmla="*/ 35 w 53"/>
                <a:gd name="T7" fmla="*/ 94 h 98"/>
                <a:gd name="T8" fmla="*/ 36 w 53"/>
                <a:gd name="T9" fmla="*/ 43 h 98"/>
                <a:gd name="T10" fmla="*/ 35 w 53"/>
                <a:gd name="T11" fmla="*/ 19 h 98"/>
                <a:gd name="T12" fmla="*/ 34 w 53"/>
                <a:gd name="T13" fmla="*/ 4 h 98"/>
                <a:gd name="T14" fmla="*/ 19 w 53"/>
                <a:gd name="T15" fmla="*/ 5 h 98"/>
                <a:gd name="T16" fmla="*/ 18 w 53"/>
                <a:gd name="T17" fmla="*/ 55 h 98"/>
                <a:gd name="T18" fmla="*/ 19 w 53"/>
                <a:gd name="T19" fmla="*/ 8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 h="98">
                  <a:moveTo>
                    <a:pt x="19" y="81"/>
                  </a:moveTo>
                  <a:cubicBezTo>
                    <a:pt x="15" y="85"/>
                    <a:pt x="16" y="92"/>
                    <a:pt x="20" y="96"/>
                  </a:cubicBezTo>
                  <a:cubicBezTo>
                    <a:pt x="22" y="97"/>
                    <a:pt x="25" y="98"/>
                    <a:pt x="27" y="98"/>
                  </a:cubicBezTo>
                  <a:cubicBezTo>
                    <a:pt x="30" y="98"/>
                    <a:pt x="33" y="97"/>
                    <a:pt x="35" y="94"/>
                  </a:cubicBezTo>
                  <a:cubicBezTo>
                    <a:pt x="36" y="93"/>
                    <a:pt x="53" y="71"/>
                    <a:pt x="36" y="43"/>
                  </a:cubicBezTo>
                  <a:cubicBezTo>
                    <a:pt x="27" y="29"/>
                    <a:pt x="34" y="20"/>
                    <a:pt x="35" y="19"/>
                  </a:cubicBezTo>
                  <a:cubicBezTo>
                    <a:pt x="39" y="14"/>
                    <a:pt x="38" y="8"/>
                    <a:pt x="34" y="4"/>
                  </a:cubicBezTo>
                  <a:cubicBezTo>
                    <a:pt x="30" y="0"/>
                    <a:pt x="23" y="1"/>
                    <a:pt x="19" y="5"/>
                  </a:cubicBezTo>
                  <a:cubicBezTo>
                    <a:pt x="18" y="6"/>
                    <a:pt x="0" y="27"/>
                    <a:pt x="18" y="55"/>
                  </a:cubicBezTo>
                  <a:cubicBezTo>
                    <a:pt x="27" y="69"/>
                    <a:pt x="19" y="80"/>
                    <a:pt x="19" y="81"/>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60" name="Freeform 20"/>
            <p:cNvSpPr>
              <a:spLocks/>
            </p:cNvSpPr>
            <p:nvPr/>
          </p:nvSpPr>
          <p:spPr bwMode="auto">
            <a:xfrm>
              <a:off x="1308002" y="5033853"/>
              <a:ext cx="101123" cy="187800"/>
            </a:xfrm>
            <a:custGeom>
              <a:avLst/>
              <a:gdLst>
                <a:gd name="T0" fmla="*/ 18 w 53"/>
                <a:gd name="T1" fmla="*/ 81 h 98"/>
                <a:gd name="T2" fmla="*/ 20 w 53"/>
                <a:gd name="T3" fmla="*/ 96 h 98"/>
                <a:gd name="T4" fmla="*/ 27 w 53"/>
                <a:gd name="T5" fmla="*/ 98 h 98"/>
                <a:gd name="T6" fmla="*/ 35 w 53"/>
                <a:gd name="T7" fmla="*/ 94 h 98"/>
                <a:gd name="T8" fmla="*/ 36 w 53"/>
                <a:gd name="T9" fmla="*/ 43 h 98"/>
                <a:gd name="T10" fmla="*/ 35 w 53"/>
                <a:gd name="T11" fmla="*/ 19 h 98"/>
                <a:gd name="T12" fmla="*/ 34 w 53"/>
                <a:gd name="T13" fmla="*/ 4 h 98"/>
                <a:gd name="T14" fmla="*/ 19 w 53"/>
                <a:gd name="T15" fmla="*/ 5 h 98"/>
                <a:gd name="T16" fmla="*/ 18 w 53"/>
                <a:gd name="T17" fmla="*/ 55 h 98"/>
                <a:gd name="T18" fmla="*/ 18 w 53"/>
                <a:gd name="T19" fmla="*/ 8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 h="98">
                  <a:moveTo>
                    <a:pt x="18" y="81"/>
                  </a:moveTo>
                  <a:cubicBezTo>
                    <a:pt x="15" y="85"/>
                    <a:pt x="15" y="92"/>
                    <a:pt x="20" y="96"/>
                  </a:cubicBezTo>
                  <a:cubicBezTo>
                    <a:pt x="22" y="97"/>
                    <a:pt x="24" y="98"/>
                    <a:pt x="27" y="98"/>
                  </a:cubicBezTo>
                  <a:cubicBezTo>
                    <a:pt x="30" y="98"/>
                    <a:pt x="33" y="97"/>
                    <a:pt x="35" y="94"/>
                  </a:cubicBezTo>
                  <a:cubicBezTo>
                    <a:pt x="36" y="93"/>
                    <a:pt x="53" y="71"/>
                    <a:pt x="36" y="43"/>
                  </a:cubicBezTo>
                  <a:cubicBezTo>
                    <a:pt x="27" y="29"/>
                    <a:pt x="34" y="20"/>
                    <a:pt x="35" y="19"/>
                  </a:cubicBezTo>
                  <a:cubicBezTo>
                    <a:pt x="39" y="14"/>
                    <a:pt x="38" y="8"/>
                    <a:pt x="34" y="4"/>
                  </a:cubicBezTo>
                  <a:cubicBezTo>
                    <a:pt x="29" y="0"/>
                    <a:pt x="23" y="1"/>
                    <a:pt x="19" y="5"/>
                  </a:cubicBezTo>
                  <a:cubicBezTo>
                    <a:pt x="18" y="6"/>
                    <a:pt x="0" y="27"/>
                    <a:pt x="18" y="55"/>
                  </a:cubicBezTo>
                  <a:cubicBezTo>
                    <a:pt x="27" y="69"/>
                    <a:pt x="19" y="80"/>
                    <a:pt x="18" y="81"/>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61" name="Freeform 21"/>
            <p:cNvSpPr>
              <a:spLocks noEditPoints="1"/>
            </p:cNvSpPr>
            <p:nvPr/>
          </p:nvSpPr>
          <p:spPr bwMode="auto">
            <a:xfrm>
              <a:off x="981519" y="5262103"/>
              <a:ext cx="572068" cy="326483"/>
            </a:xfrm>
            <a:custGeom>
              <a:avLst/>
              <a:gdLst>
                <a:gd name="T0" fmla="*/ 238 w 299"/>
                <a:gd name="T1" fmla="*/ 79 h 170"/>
                <a:gd name="T2" fmla="*/ 263 w 299"/>
                <a:gd name="T3" fmla="*/ 90 h 170"/>
                <a:gd name="T4" fmla="*/ 299 w 299"/>
                <a:gd name="T5" fmla="*/ 55 h 170"/>
                <a:gd name="T6" fmla="*/ 263 w 299"/>
                <a:gd name="T7" fmla="*/ 19 h 170"/>
                <a:gd name="T8" fmla="*/ 245 w 299"/>
                <a:gd name="T9" fmla="*/ 24 h 170"/>
                <a:gd name="T10" fmla="*/ 245 w 299"/>
                <a:gd name="T11" fmla="*/ 10 h 170"/>
                <a:gd name="T12" fmla="*/ 235 w 299"/>
                <a:gd name="T13" fmla="*/ 0 h 170"/>
                <a:gd name="T14" fmla="*/ 11 w 299"/>
                <a:gd name="T15" fmla="*/ 0 h 170"/>
                <a:gd name="T16" fmla="*/ 0 w 299"/>
                <a:gd name="T17" fmla="*/ 10 h 170"/>
                <a:gd name="T18" fmla="*/ 0 w 299"/>
                <a:gd name="T19" fmla="*/ 35 h 170"/>
                <a:gd name="T20" fmla="*/ 73 w 299"/>
                <a:gd name="T21" fmla="*/ 149 h 170"/>
                <a:gd name="T22" fmla="*/ 11 w 299"/>
                <a:gd name="T23" fmla="*/ 149 h 170"/>
                <a:gd name="T24" fmla="*/ 0 w 299"/>
                <a:gd name="T25" fmla="*/ 160 h 170"/>
                <a:gd name="T26" fmla="*/ 11 w 299"/>
                <a:gd name="T27" fmla="*/ 170 h 170"/>
                <a:gd name="T28" fmla="*/ 267 w 299"/>
                <a:gd name="T29" fmla="*/ 170 h 170"/>
                <a:gd name="T30" fmla="*/ 277 w 299"/>
                <a:gd name="T31" fmla="*/ 160 h 170"/>
                <a:gd name="T32" fmla="*/ 267 w 299"/>
                <a:gd name="T33" fmla="*/ 149 h 170"/>
                <a:gd name="T34" fmla="*/ 173 w 299"/>
                <a:gd name="T35" fmla="*/ 149 h 170"/>
                <a:gd name="T36" fmla="*/ 238 w 299"/>
                <a:gd name="T37" fmla="*/ 79 h 170"/>
                <a:gd name="T38" fmla="*/ 263 w 299"/>
                <a:gd name="T39" fmla="*/ 41 h 170"/>
                <a:gd name="T40" fmla="*/ 277 w 299"/>
                <a:gd name="T41" fmla="*/ 55 h 170"/>
                <a:gd name="T42" fmla="*/ 263 w 299"/>
                <a:gd name="T43" fmla="*/ 69 h 170"/>
                <a:gd name="T44" fmla="*/ 249 w 299"/>
                <a:gd name="T45" fmla="*/ 55 h 170"/>
                <a:gd name="T46" fmla="*/ 263 w 299"/>
                <a:gd name="T47" fmla="*/ 41 h 170"/>
                <a:gd name="T48" fmla="*/ 123 w 299"/>
                <a:gd name="T49" fmla="*/ 138 h 170"/>
                <a:gd name="T50" fmla="*/ 21 w 299"/>
                <a:gd name="T51" fmla="*/ 35 h 170"/>
                <a:gd name="T52" fmla="*/ 21 w 299"/>
                <a:gd name="T53" fmla="*/ 21 h 170"/>
                <a:gd name="T54" fmla="*/ 224 w 299"/>
                <a:gd name="T55" fmla="*/ 21 h 170"/>
                <a:gd name="T56" fmla="*/ 224 w 299"/>
                <a:gd name="T57" fmla="*/ 35 h 170"/>
                <a:gd name="T58" fmla="*/ 123 w 299"/>
                <a:gd name="T59" fmla="*/ 138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99" h="170">
                  <a:moveTo>
                    <a:pt x="238" y="79"/>
                  </a:moveTo>
                  <a:cubicBezTo>
                    <a:pt x="244" y="86"/>
                    <a:pt x="253" y="90"/>
                    <a:pt x="263" y="90"/>
                  </a:cubicBezTo>
                  <a:cubicBezTo>
                    <a:pt x="283" y="90"/>
                    <a:pt x="299" y="74"/>
                    <a:pt x="299" y="55"/>
                  </a:cubicBezTo>
                  <a:cubicBezTo>
                    <a:pt x="299" y="35"/>
                    <a:pt x="283" y="19"/>
                    <a:pt x="263" y="19"/>
                  </a:cubicBezTo>
                  <a:cubicBezTo>
                    <a:pt x="257" y="19"/>
                    <a:pt x="251" y="21"/>
                    <a:pt x="245" y="24"/>
                  </a:cubicBezTo>
                  <a:cubicBezTo>
                    <a:pt x="245" y="10"/>
                    <a:pt x="245" y="10"/>
                    <a:pt x="245" y="10"/>
                  </a:cubicBezTo>
                  <a:cubicBezTo>
                    <a:pt x="245" y="4"/>
                    <a:pt x="241" y="0"/>
                    <a:pt x="235" y="0"/>
                  </a:cubicBezTo>
                  <a:cubicBezTo>
                    <a:pt x="11" y="0"/>
                    <a:pt x="11" y="0"/>
                    <a:pt x="11" y="0"/>
                  </a:cubicBezTo>
                  <a:cubicBezTo>
                    <a:pt x="5" y="0"/>
                    <a:pt x="0" y="4"/>
                    <a:pt x="0" y="10"/>
                  </a:cubicBezTo>
                  <a:cubicBezTo>
                    <a:pt x="0" y="35"/>
                    <a:pt x="0" y="35"/>
                    <a:pt x="0" y="35"/>
                  </a:cubicBezTo>
                  <a:cubicBezTo>
                    <a:pt x="0" y="87"/>
                    <a:pt x="30" y="130"/>
                    <a:pt x="73" y="149"/>
                  </a:cubicBezTo>
                  <a:cubicBezTo>
                    <a:pt x="11" y="149"/>
                    <a:pt x="11" y="149"/>
                    <a:pt x="11" y="149"/>
                  </a:cubicBezTo>
                  <a:cubicBezTo>
                    <a:pt x="5" y="149"/>
                    <a:pt x="0" y="154"/>
                    <a:pt x="0" y="160"/>
                  </a:cubicBezTo>
                  <a:cubicBezTo>
                    <a:pt x="0" y="166"/>
                    <a:pt x="5" y="170"/>
                    <a:pt x="11" y="170"/>
                  </a:cubicBezTo>
                  <a:cubicBezTo>
                    <a:pt x="267" y="170"/>
                    <a:pt x="267" y="170"/>
                    <a:pt x="267" y="170"/>
                  </a:cubicBezTo>
                  <a:cubicBezTo>
                    <a:pt x="273" y="170"/>
                    <a:pt x="277" y="166"/>
                    <a:pt x="277" y="160"/>
                  </a:cubicBezTo>
                  <a:cubicBezTo>
                    <a:pt x="277" y="154"/>
                    <a:pt x="273" y="149"/>
                    <a:pt x="267" y="149"/>
                  </a:cubicBezTo>
                  <a:cubicBezTo>
                    <a:pt x="173" y="149"/>
                    <a:pt x="173" y="149"/>
                    <a:pt x="173" y="149"/>
                  </a:cubicBezTo>
                  <a:cubicBezTo>
                    <a:pt x="203" y="136"/>
                    <a:pt x="226" y="111"/>
                    <a:pt x="238" y="79"/>
                  </a:cubicBezTo>
                  <a:close/>
                  <a:moveTo>
                    <a:pt x="263" y="41"/>
                  </a:moveTo>
                  <a:cubicBezTo>
                    <a:pt x="271" y="41"/>
                    <a:pt x="277" y="47"/>
                    <a:pt x="277" y="55"/>
                  </a:cubicBezTo>
                  <a:cubicBezTo>
                    <a:pt x="277" y="62"/>
                    <a:pt x="271" y="69"/>
                    <a:pt x="263" y="69"/>
                  </a:cubicBezTo>
                  <a:cubicBezTo>
                    <a:pt x="255" y="69"/>
                    <a:pt x="249" y="62"/>
                    <a:pt x="249" y="55"/>
                  </a:cubicBezTo>
                  <a:cubicBezTo>
                    <a:pt x="249" y="47"/>
                    <a:pt x="255" y="41"/>
                    <a:pt x="263" y="41"/>
                  </a:cubicBezTo>
                  <a:close/>
                  <a:moveTo>
                    <a:pt x="123" y="138"/>
                  </a:moveTo>
                  <a:cubicBezTo>
                    <a:pt x="66" y="138"/>
                    <a:pt x="21" y="93"/>
                    <a:pt x="21" y="35"/>
                  </a:cubicBezTo>
                  <a:cubicBezTo>
                    <a:pt x="21" y="21"/>
                    <a:pt x="21" y="21"/>
                    <a:pt x="21" y="21"/>
                  </a:cubicBezTo>
                  <a:cubicBezTo>
                    <a:pt x="224" y="21"/>
                    <a:pt x="224" y="21"/>
                    <a:pt x="224" y="21"/>
                  </a:cubicBezTo>
                  <a:cubicBezTo>
                    <a:pt x="224" y="35"/>
                    <a:pt x="224" y="35"/>
                    <a:pt x="224" y="35"/>
                  </a:cubicBezTo>
                  <a:cubicBezTo>
                    <a:pt x="224" y="93"/>
                    <a:pt x="179" y="138"/>
                    <a:pt x="123" y="138"/>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sp>
        <p:nvSpPr>
          <p:cNvPr id="464" name="Freeform 383"/>
          <p:cNvSpPr>
            <a:spLocks noEditPoints="1"/>
          </p:cNvSpPr>
          <p:nvPr/>
        </p:nvSpPr>
        <p:spPr bwMode="auto">
          <a:xfrm>
            <a:off x="3396277" y="4997113"/>
            <a:ext cx="263614" cy="259557"/>
          </a:xfrm>
          <a:custGeom>
            <a:avLst/>
            <a:gdLst>
              <a:gd name="T0" fmla="*/ 238 w 293"/>
              <a:gd name="T1" fmla="*/ 288 h 288"/>
              <a:gd name="T2" fmla="*/ 225 w 293"/>
              <a:gd name="T3" fmla="*/ 287 h 288"/>
              <a:gd name="T4" fmla="*/ 82 w 293"/>
              <a:gd name="T5" fmla="*/ 210 h 288"/>
              <a:gd name="T6" fmla="*/ 6 w 293"/>
              <a:gd name="T7" fmla="*/ 67 h 288"/>
              <a:gd name="T8" fmla="*/ 18 w 293"/>
              <a:gd name="T9" fmla="*/ 26 h 288"/>
              <a:gd name="T10" fmla="*/ 20 w 293"/>
              <a:gd name="T11" fmla="*/ 23 h 288"/>
              <a:gd name="T12" fmla="*/ 47 w 293"/>
              <a:gd name="T13" fmla="*/ 1 h 288"/>
              <a:gd name="T14" fmla="*/ 47 w 293"/>
              <a:gd name="T15" fmla="*/ 1 h 288"/>
              <a:gd name="T16" fmla="*/ 76 w 293"/>
              <a:gd name="T17" fmla="*/ 9 h 288"/>
              <a:gd name="T18" fmla="*/ 125 w 293"/>
              <a:gd name="T19" fmla="*/ 71 h 288"/>
              <a:gd name="T20" fmla="*/ 123 w 293"/>
              <a:gd name="T21" fmla="*/ 80 h 288"/>
              <a:gd name="T22" fmla="*/ 99 w 293"/>
              <a:gd name="T23" fmla="*/ 104 h 288"/>
              <a:gd name="T24" fmla="*/ 106 w 293"/>
              <a:gd name="T25" fmla="*/ 116 h 288"/>
              <a:gd name="T26" fmla="*/ 138 w 293"/>
              <a:gd name="T27" fmla="*/ 155 h 288"/>
              <a:gd name="T28" fmla="*/ 177 w 293"/>
              <a:gd name="T29" fmla="*/ 186 h 288"/>
              <a:gd name="T30" fmla="*/ 189 w 293"/>
              <a:gd name="T31" fmla="*/ 193 h 288"/>
              <a:gd name="T32" fmla="*/ 213 w 293"/>
              <a:gd name="T33" fmla="*/ 170 h 288"/>
              <a:gd name="T34" fmla="*/ 222 w 293"/>
              <a:gd name="T35" fmla="*/ 167 h 288"/>
              <a:gd name="T36" fmla="*/ 284 w 293"/>
              <a:gd name="T37" fmla="*/ 216 h 288"/>
              <a:gd name="T38" fmla="*/ 291 w 293"/>
              <a:gd name="T39" fmla="*/ 244 h 288"/>
              <a:gd name="T40" fmla="*/ 291 w 293"/>
              <a:gd name="T41" fmla="*/ 244 h 288"/>
              <a:gd name="T42" fmla="*/ 269 w 293"/>
              <a:gd name="T43" fmla="*/ 272 h 288"/>
              <a:gd name="T44" fmla="*/ 266 w 293"/>
              <a:gd name="T45" fmla="*/ 275 h 288"/>
              <a:gd name="T46" fmla="*/ 238 w 293"/>
              <a:gd name="T47" fmla="*/ 288 h 288"/>
              <a:gd name="T48" fmla="*/ 53 w 293"/>
              <a:gd name="T49" fmla="*/ 22 h 288"/>
              <a:gd name="T50" fmla="*/ 36 w 293"/>
              <a:gd name="T51" fmla="*/ 38 h 288"/>
              <a:gd name="T52" fmla="*/ 33 w 293"/>
              <a:gd name="T53" fmla="*/ 41 h 288"/>
              <a:gd name="T54" fmla="*/ 27 w 293"/>
              <a:gd name="T55" fmla="*/ 63 h 288"/>
              <a:gd name="T56" fmla="*/ 27 w 293"/>
              <a:gd name="T57" fmla="*/ 65 h 288"/>
              <a:gd name="T58" fmla="*/ 97 w 293"/>
              <a:gd name="T59" fmla="*/ 195 h 288"/>
              <a:gd name="T60" fmla="*/ 228 w 293"/>
              <a:gd name="T61" fmla="*/ 266 h 288"/>
              <a:gd name="T62" fmla="*/ 229 w 293"/>
              <a:gd name="T63" fmla="*/ 266 h 288"/>
              <a:gd name="T64" fmla="*/ 251 w 293"/>
              <a:gd name="T65" fmla="*/ 259 h 288"/>
              <a:gd name="T66" fmla="*/ 255 w 293"/>
              <a:gd name="T67" fmla="*/ 256 h 288"/>
              <a:gd name="T68" fmla="*/ 270 w 293"/>
              <a:gd name="T69" fmla="*/ 240 h 288"/>
              <a:gd name="T70" fmla="*/ 224 w 293"/>
              <a:gd name="T71" fmla="*/ 189 h 288"/>
              <a:gd name="T72" fmla="*/ 198 w 293"/>
              <a:gd name="T73" fmla="*/ 215 h 288"/>
              <a:gd name="T74" fmla="*/ 184 w 293"/>
              <a:gd name="T75" fmla="*/ 216 h 288"/>
              <a:gd name="T76" fmla="*/ 166 w 293"/>
              <a:gd name="T77" fmla="*/ 204 h 288"/>
              <a:gd name="T78" fmla="*/ 122 w 293"/>
              <a:gd name="T79" fmla="*/ 170 h 288"/>
              <a:gd name="T80" fmla="*/ 88 w 293"/>
              <a:gd name="T81" fmla="*/ 127 h 288"/>
              <a:gd name="T82" fmla="*/ 76 w 293"/>
              <a:gd name="T83" fmla="*/ 108 h 288"/>
              <a:gd name="T84" fmla="*/ 78 w 293"/>
              <a:gd name="T85" fmla="*/ 95 h 288"/>
              <a:gd name="T86" fmla="*/ 104 w 293"/>
              <a:gd name="T87" fmla="*/ 69 h 288"/>
              <a:gd name="T88" fmla="*/ 53 w 293"/>
              <a:gd name="T89" fmla="*/ 2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 h="288">
                <a:moveTo>
                  <a:pt x="238" y="288"/>
                </a:moveTo>
                <a:cubicBezTo>
                  <a:pt x="234" y="288"/>
                  <a:pt x="230" y="288"/>
                  <a:pt x="225" y="287"/>
                </a:cubicBezTo>
                <a:cubicBezTo>
                  <a:pt x="216" y="286"/>
                  <a:pt x="144" y="275"/>
                  <a:pt x="82" y="210"/>
                </a:cubicBezTo>
                <a:cubicBezTo>
                  <a:pt x="17" y="148"/>
                  <a:pt x="7" y="76"/>
                  <a:pt x="6" y="67"/>
                </a:cubicBezTo>
                <a:cubicBezTo>
                  <a:pt x="0" y="44"/>
                  <a:pt x="9" y="35"/>
                  <a:pt x="18" y="26"/>
                </a:cubicBezTo>
                <a:cubicBezTo>
                  <a:pt x="20" y="23"/>
                  <a:pt x="20" y="23"/>
                  <a:pt x="20" y="23"/>
                </a:cubicBezTo>
                <a:cubicBezTo>
                  <a:pt x="30" y="13"/>
                  <a:pt x="36" y="4"/>
                  <a:pt x="47" y="1"/>
                </a:cubicBezTo>
                <a:cubicBezTo>
                  <a:pt x="47" y="1"/>
                  <a:pt x="47" y="1"/>
                  <a:pt x="47" y="1"/>
                </a:cubicBezTo>
                <a:cubicBezTo>
                  <a:pt x="47" y="0"/>
                  <a:pt x="58" y="0"/>
                  <a:pt x="76" y="9"/>
                </a:cubicBezTo>
                <a:cubicBezTo>
                  <a:pt x="103" y="23"/>
                  <a:pt x="121" y="45"/>
                  <a:pt x="125" y="71"/>
                </a:cubicBezTo>
                <a:cubicBezTo>
                  <a:pt x="126" y="74"/>
                  <a:pt x="125" y="77"/>
                  <a:pt x="123" y="80"/>
                </a:cubicBezTo>
                <a:cubicBezTo>
                  <a:pt x="99" y="104"/>
                  <a:pt x="99" y="104"/>
                  <a:pt x="99" y="104"/>
                </a:cubicBezTo>
                <a:cubicBezTo>
                  <a:pt x="102" y="108"/>
                  <a:pt x="104" y="112"/>
                  <a:pt x="106" y="116"/>
                </a:cubicBezTo>
                <a:cubicBezTo>
                  <a:pt x="114" y="127"/>
                  <a:pt x="119" y="136"/>
                  <a:pt x="138" y="155"/>
                </a:cubicBezTo>
                <a:cubicBezTo>
                  <a:pt x="156" y="174"/>
                  <a:pt x="165" y="179"/>
                  <a:pt x="177" y="186"/>
                </a:cubicBezTo>
                <a:cubicBezTo>
                  <a:pt x="180" y="188"/>
                  <a:pt x="184" y="191"/>
                  <a:pt x="189" y="193"/>
                </a:cubicBezTo>
                <a:cubicBezTo>
                  <a:pt x="213" y="170"/>
                  <a:pt x="213" y="170"/>
                  <a:pt x="213" y="170"/>
                </a:cubicBezTo>
                <a:cubicBezTo>
                  <a:pt x="215" y="167"/>
                  <a:pt x="218" y="166"/>
                  <a:pt x="222" y="167"/>
                </a:cubicBezTo>
                <a:cubicBezTo>
                  <a:pt x="248" y="170"/>
                  <a:pt x="270" y="188"/>
                  <a:pt x="284" y="216"/>
                </a:cubicBezTo>
                <a:cubicBezTo>
                  <a:pt x="290" y="229"/>
                  <a:pt x="293" y="239"/>
                  <a:pt x="291" y="244"/>
                </a:cubicBezTo>
                <a:cubicBezTo>
                  <a:pt x="291" y="244"/>
                  <a:pt x="291" y="244"/>
                  <a:pt x="291" y="244"/>
                </a:cubicBezTo>
                <a:cubicBezTo>
                  <a:pt x="289" y="253"/>
                  <a:pt x="280" y="262"/>
                  <a:pt x="269" y="272"/>
                </a:cubicBezTo>
                <a:cubicBezTo>
                  <a:pt x="266" y="275"/>
                  <a:pt x="266" y="275"/>
                  <a:pt x="266" y="275"/>
                </a:cubicBezTo>
                <a:cubicBezTo>
                  <a:pt x="259" y="281"/>
                  <a:pt x="252" y="288"/>
                  <a:pt x="238" y="288"/>
                </a:cubicBezTo>
                <a:close/>
                <a:moveTo>
                  <a:pt x="53" y="22"/>
                </a:moveTo>
                <a:cubicBezTo>
                  <a:pt x="48" y="25"/>
                  <a:pt x="40" y="34"/>
                  <a:pt x="36" y="38"/>
                </a:cubicBezTo>
                <a:cubicBezTo>
                  <a:pt x="33" y="41"/>
                  <a:pt x="33" y="41"/>
                  <a:pt x="33" y="41"/>
                </a:cubicBezTo>
                <a:cubicBezTo>
                  <a:pt x="26" y="49"/>
                  <a:pt x="24" y="51"/>
                  <a:pt x="27" y="63"/>
                </a:cubicBezTo>
                <a:cubicBezTo>
                  <a:pt x="27" y="64"/>
                  <a:pt x="27" y="64"/>
                  <a:pt x="27" y="65"/>
                </a:cubicBezTo>
                <a:cubicBezTo>
                  <a:pt x="27" y="65"/>
                  <a:pt x="35" y="136"/>
                  <a:pt x="97" y="195"/>
                </a:cubicBezTo>
                <a:cubicBezTo>
                  <a:pt x="157" y="258"/>
                  <a:pt x="227" y="265"/>
                  <a:pt x="228" y="266"/>
                </a:cubicBezTo>
                <a:cubicBezTo>
                  <a:pt x="228" y="266"/>
                  <a:pt x="229" y="266"/>
                  <a:pt x="229" y="266"/>
                </a:cubicBezTo>
                <a:cubicBezTo>
                  <a:pt x="242" y="269"/>
                  <a:pt x="244" y="267"/>
                  <a:pt x="251" y="259"/>
                </a:cubicBezTo>
                <a:cubicBezTo>
                  <a:pt x="255" y="256"/>
                  <a:pt x="255" y="256"/>
                  <a:pt x="255" y="256"/>
                </a:cubicBezTo>
                <a:cubicBezTo>
                  <a:pt x="258" y="253"/>
                  <a:pt x="267" y="244"/>
                  <a:pt x="270" y="240"/>
                </a:cubicBezTo>
                <a:cubicBezTo>
                  <a:pt x="267" y="230"/>
                  <a:pt x="255" y="197"/>
                  <a:pt x="224" y="189"/>
                </a:cubicBezTo>
                <a:cubicBezTo>
                  <a:pt x="198" y="215"/>
                  <a:pt x="198" y="215"/>
                  <a:pt x="198" y="215"/>
                </a:cubicBezTo>
                <a:cubicBezTo>
                  <a:pt x="194" y="218"/>
                  <a:pt x="188" y="219"/>
                  <a:pt x="184" y="216"/>
                </a:cubicBezTo>
                <a:cubicBezTo>
                  <a:pt x="177" y="211"/>
                  <a:pt x="171" y="207"/>
                  <a:pt x="166" y="204"/>
                </a:cubicBezTo>
                <a:cubicBezTo>
                  <a:pt x="154" y="197"/>
                  <a:pt x="143" y="190"/>
                  <a:pt x="122" y="170"/>
                </a:cubicBezTo>
                <a:cubicBezTo>
                  <a:pt x="102" y="149"/>
                  <a:pt x="96" y="139"/>
                  <a:pt x="88" y="127"/>
                </a:cubicBezTo>
                <a:cubicBezTo>
                  <a:pt x="85" y="121"/>
                  <a:pt x="81" y="116"/>
                  <a:pt x="76" y="108"/>
                </a:cubicBezTo>
                <a:cubicBezTo>
                  <a:pt x="73" y="104"/>
                  <a:pt x="74" y="98"/>
                  <a:pt x="78" y="95"/>
                </a:cubicBezTo>
                <a:cubicBezTo>
                  <a:pt x="104" y="69"/>
                  <a:pt x="104" y="69"/>
                  <a:pt x="104" y="69"/>
                </a:cubicBezTo>
                <a:cubicBezTo>
                  <a:pt x="96" y="38"/>
                  <a:pt x="62" y="25"/>
                  <a:pt x="53" y="22"/>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67" name="Freeform 539"/>
          <p:cNvSpPr>
            <a:spLocks noEditPoints="1"/>
          </p:cNvSpPr>
          <p:nvPr/>
        </p:nvSpPr>
        <p:spPr bwMode="auto">
          <a:xfrm>
            <a:off x="3451121" y="5412511"/>
            <a:ext cx="129939" cy="279566"/>
          </a:xfrm>
          <a:custGeom>
            <a:avLst/>
            <a:gdLst>
              <a:gd name="T0" fmla="*/ 107 w 149"/>
              <a:gd name="T1" fmla="*/ 320 h 320"/>
              <a:gd name="T2" fmla="*/ 43 w 149"/>
              <a:gd name="T3" fmla="*/ 320 h 320"/>
              <a:gd name="T4" fmla="*/ 0 w 149"/>
              <a:gd name="T5" fmla="*/ 277 h 320"/>
              <a:gd name="T6" fmla="*/ 0 w 149"/>
              <a:gd name="T7" fmla="*/ 42 h 320"/>
              <a:gd name="T8" fmla="*/ 43 w 149"/>
              <a:gd name="T9" fmla="*/ 0 h 320"/>
              <a:gd name="T10" fmla="*/ 107 w 149"/>
              <a:gd name="T11" fmla="*/ 0 h 320"/>
              <a:gd name="T12" fmla="*/ 149 w 149"/>
              <a:gd name="T13" fmla="*/ 42 h 320"/>
              <a:gd name="T14" fmla="*/ 149 w 149"/>
              <a:gd name="T15" fmla="*/ 277 h 320"/>
              <a:gd name="T16" fmla="*/ 107 w 149"/>
              <a:gd name="T17" fmla="*/ 320 h 320"/>
              <a:gd name="T18" fmla="*/ 43 w 149"/>
              <a:gd name="T19" fmla="*/ 21 h 320"/>
              <a:gd name="T20" fmla="*/ 21 w 149"/>
              <a:gd name="T21" fmla="*/ 42 h 320"/>
              <a:gd name="T22" fmla="*/ 21 w 149"/>
              <a:gd name="T23" fmla="*/ 277 h 320"/>
              <a:gd name="T24" fmla="*/ 43 w 149"/>
              <a:gd name="T25" fmla="*/ 298 h 320"/>
              <a:gd name="T26" fmla="*/ 107 w 149"/>
              <a:gd name="T27" fmla="*/ 298 h 320"/>
              <a:gd name="T28" fmla="*/ 128 w 149"/>
              <a:gd name="T29" fmla="*/ 277 h 320"/>
              <a:gd name="T30" fmla="*/ 128 w 149"/>
              <a:gd name="T31" fmla="*/ 42 h 320"/>
              <a:gd name="T32" fmla="*/ 107 w 149"/>
              <a:gd name="T33" fmla="*/ 21 h 320"/>
              <a:gd name="T34" fmla="*/ 43 w 149"/>
              <a:gd name="T35" fmla="*/ 21 h 320"/>
              <a:gd name="T36" fmla="*/ 75 w 149"/>
              <a:gd name="T37" fmla="*/ 106 h 320"/>
              <a:gd name="T38" fmla="*/ 43 w 149"/>
              <a:gd name="T39" fmla="*/ 74 h 320"/>
              <a:gd name="T40" fmla="*/ 75 w 149"/>
              <a:gd name="T41" fmla="*/ 42 h 320"/>
              <a:gd name="T42" fmla="*/ 107 w 149"/>
              <a:gd name="T43" fmla="*/ 74 h 320"/>
              <a:gd name="T44" fmla="*/ 75 w 149"/>
              <a:gd name="T45" fmla="*/ 106 h 320"/>
              <a:gd name="T46" fmla="*/ 75 w 149"/>
              <a:gd name="T47" fmla="*/ 64 h 320"/>
              <a:gd name="T48" fmla="*/ 64 w 149"/>
              <a:gd name="T49" fmla="*/ 74 h 320"/>
              <a:gd name="T50" fmla="*/ 75 w 149"/>
              <a:gd name="T51" fmla="*/ 85 h 320"/>
              <a:gd name="T52" fmla="*/ 85 w 149"/>
              <a:gd name="T53" fmla="*/ 74 h 320"/>
              <a:gd name="T54" fmla="*/ 75 w 149"/>
              <a:gd name="T55" fmla="*/ 64 h 320"/>
              <a:gd name="T56" fmla="*/ 75 w 149"/>
              <a:gd name="T57" fmla="*/ 192 h 320"/>
              <a:gd name="T58" fmla="*/ 43 w 149"/>
              <a:gd name="T59" fmla="*/ 160 h 320"/>
              <a:gd name="T60" fmla="*/ 75 w 149"/>
              <a:gd name="T61" fmla="*/ 128 h 320"/>
              <a:gd name="T62" fmla="*/ 107 w 149"/>
              <a:gd name="T63" fmla="*/ 160 h 320"/>
              <a:gd name="T64" fmla="*/ 75 w 149"/>
              <a:gd name="T65" fmla="*/ 192 h 320"/>
              <a:gd name="T66" fmla="*/ 75 w 149"/>
              <a:gd name="T67" fmla="*/ 149 h 320"/>
              <a:gd name="T68" fmla="*/ 64 w 149"/>
              <a:gd name="T69" fmla="*/ 160 h 320"/>
              <a:gd name="T70" fmla="*/ 75 w 149"/>
              <a:gd name="T71" fmla="*/ 170 h 320"/>
              <a:gd name="T72" fmla="*/ 85 w 149"/>
              <a:gd name="T73" fmla="*/ 160 h 320"/>
              <a:gd name="T74" fmla="*/ 75 w 149"/>
              <a:gd name="T75" fmla="*/ 149 h 320"/>
              <a:gd name="T76" fmla="*/ 75 w 149"/>
              <a:gd name="T77" fmla="*/ 277 h 320"/>
              <a:gd name="T78" fmla="*/ 43 w 149"/>
              <a:gd name="T79" fmla="*/ 245 h 320"/>
              <a:gd name="T80" fmla="*/ 75 w 149"/>
              <a:gd name="T81" fmla="*/ 213 h 320"/>
              <a:gd name="T82" fmla="*/ 107 w 149"/>
              <a:gd name="T83" fmla="*/ 245 h 320"/>
              <a:gd name="T84" fmla="*/ 75 w 149"/>
              <a:gd name="T85" fmla="*/ 277 h 320"/>
              <a:gd name="T86" fmla="*/ 75 w 149"/>
              <a:gd name="T87" fmla="*/ 234 h 320"/>
              <a:gd name="T88" fmla="*/ 64 w 149"/>
              <a:gd name="T89" fmla="*/ 245 h 320"/>
              <a:gd name="T90" fmla="*/ 75 w 149"/>
              <a:gd name="T91" fmla="*/ 256 h 320"/>
              <a:gd name="T92" fmla="*/ 85 w 149"/>
              <a:gd name="T93" fmla="*/ 245 h 320"/>
              <a:gd name="T94" fmla="*/ 75 w 149"/>
              <a:gd name="T95" fmla="*/ 23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9" h="320">
                <a:moveTo>
                  <a:pt x="107" y="320"/>
                </a:moveTo>
                <a:cubicBezTo>
                  <a:pt x="43" y="320"/>
                  <a:pt x="43" y="320"/>
                  <a:pt x="43" y="320"/>
                </a:cubicBezTo>
                <a:cubicBezTo>
                  <a:pt x="19" y="320"/>
                  <a:pt x="0" y="301"/>
                  <a:pt x="0" y="277"/>
                </a:cubicBezTo>
                <a:cubicBezTo>
                  <a:pt x="0" y="42"/>
                  <a:pt x="0" y="42"/>
                  <a:pt x="0" y="42"/>
                </a:cubicBezTo>
                <a:cubicBezTo>
                  <a:pt x="0" y="19"/>
                  <a:pt x="19" y="0"/>
                  <a:pt x="43" y="0"/>
                </a:cubicBezTo>
                <a:cubicBezTo>
                  <a:pt x="107" y="0"/>
                  <a:pt x="107" y="0"/>
                  <a:pt x="107" y="0"/>
                </a:cubicBezTo>
                <a:cubicBezTo>
                  <a:pt x="130" y="0"/>
                  <a:pt x="149" y="19"/>
                  <a:pt x="149" y="42"/>
                </a:cubicBezTo>
                <a:cubicBezTo>
                  <a:pt x="149" y="277"/>
                  <a:pt x="149" y="277"/>
                  <a:pt x="149" y="277"/>
                </a:cubicBezTo>
                <a:cubicBezTo>
                  <a:pt x="149" y="301"/>
                  <a:pt x="130" y="320"/>
                  <a:pt x="107" y="320"/>
                </a:cubicBezTo>
                <a:close/>
                <a:moveTo>
                  <a:pt x="43" y="21"/>
                </a:moveTo>
                <a:cubicBezTo>
                  <a:pt x="31" y="21"/>
                  <a:pt x="21" y="31"/>
                  <a:pt x="21" y="42"/>
                </a:cubicBezTo>
                <a:cubicBezTo>
                  <a:pt x="21" y="277"/>
                  <a:pt x="21" y="277"/>
                  <a:pt x="21" y="277"/>
                </a:cubicBezTo>
                <a:cubicBezTo>
                  <a:pt x="21" y="289"/>
                  <a:pt x="31" y="298"/>
                  <a:pt x="43" y="298"/>
                </a:cubicBezTo>
                <a:cubicBezTo>
                  <a:pt x="107" y="298"/>
                  <a:pt x="107" y="298"/>
                  <a:pt x="107" y="298"/>
                </a:cubicBezTo>
                <a:cubicBezTo>
                  <a:pt x="118" y="298"/>
                  <a:pt x="128" y="289"/>
                  <a:pt x="128" y="277"/>
                </a:cubicBezTo>
                <a:cubicBezTo>
                  <a:pt x="128" y="42"/>
                  <a:pt x="128" y="42"/>
                  <a:pt x="128" y="42"/>
                </a:cubicBezTo>
                <a:cubicBezTo>
                  <a:pt x="128" y="31"/>
                  <a:pt x="118" y="21"/>
                  <a:pt x="107" y="21"/>
                </a:cubicBezTo>
                <a:lnTo>
                  <a:pt x="43" y="21"/>
                </a:lnTo>
                <a:close/>
                <a:moveTo>
                  <a:pt x="75" y="106"/>
                </a:moveTo>
                <a:cubicBezTo>
                  <a:pt x="57" y="106"/>
                  <a:pt x="43" y="92"/>
                  <a:pt x="43" y="74"/>
                </a:cubicBezTo>
                <a:cubicBezTo>
                  <a:pt x="43" y="57"/>
                  <a:pt x="57" y="42"/>
                  <a:pt x="75" y="42"/>
                </a:cubicBezTo>
                <a:cubicBezTo>
                  <a:pt x="92" y="42"/>
                  <a:pt x="107" y="57"/>
                  <a:pt x="107" y="74"/>
                </a:cubicBezTo>
                <a:cubicBezTo>
                  <a:pt x="107" y="92"/>
                  <a:pt x="92" y="106"/>
                  <a:pt x="75" y="106"/>
                </a:cubicBezTo>
                <a:close/>
                <a:moveTo>
                  <a:pt x="75" y="64"/>
                </a:moveTo>
                <a:cubicBezTo>
                  <a:pt x="69" y="64"/>
                  <a:pt x="64" y="68"/>
                  <a:pt x="64" y="74"/>
                </a:cubicBezTo>
                <a:cubicBezTo>
                  <a:pt x="64" y="80"/>
                  <a:pt x="69" y="85"/>
                  <a:pt x="75" y="85"/>
                </a:cubicBezTo>
                <a:cubicBezTo>
                  <a:pt x="81" y="85"/>
                  <a:pt x="85" y="80"/>
                  <a:pt x="85" y="74"/>
                </a:cubicBezTo>
                <a:cubicBezTo>
                  <a:pt x="85" y="68"/>
                  <a:pt x="81" y="64"/>
                  <a:pt x="75" y="64"/>
                </a:cubicBezTo>
                <a:close/>
                <a:moveTo>
                  <a:pt x="75" y="192"/>
                </a:moveTo>
                <a:cubicBezTo>
                  <a:pt x="57" y="192"/>
                  <a:pt x="43" y="177"/>
                  <a:pt x="43" y="160"/>
                </a:cubicBezTo>
                <a:cubicBezTo>
                  <a:pt x="43" y="142"/>
                  <a:pt x="57" y="128"/>
                  <a:pt x="75" y="128"/>
                </a:cubicBezTo>
                <a:cubicBezTo>
                  <a:pt x="92" y="128"/>
                  <a:pt x="107" y="142"/>
                  <a:pt x="107" y="160"/>
                </a:cubicBezTo>
                <a:cubicBezTo>
                  <a:pt x="107" y="177"/>
                  <a:pt x="92" y="192"/>
                  <a:pt x="75" y="192"/>
                </a:cubicBezTo>
                <a:close/>
                <a:moveTo>
                  <a:pt x="75" y="149"/>
                </a:moveTo>
                <a:cubicBezTo>
                  <a:pt x="69" y="149"/>
                  <a:pt x="64" y="154"/>
                  <a:pt x="64" y="160"/>
                </a:cubicBezTo>
                <a:cubicBezTo>
                  <a:pt x="64" y="166"/>
                  <a:pt x="69" y="170"/>
                  <a:pt x="75" y="170"/>
                </a:cubicBezTo>
                <a:cubicBezTo>
                  <a:pt x="81" y="170"/>
                  <a:pt x="85" y="166"/>
                  <a:pt x="85" y="160"/>
                </a:cubicBezTo>
                <a:cubicBezTo>
                  <a:pt x="85" y="154"/>
                  <a:pt x="81" y="149"/>
                  <a:pt x="75" y="149"/>
                </a:cubicBezTo>
                <a:close/>
                <a:moveTo>
                  <a:pt x="75" y="277"/>
                </a:moveTo>
                <a:cubicBezTo>
                  <a:pt x="57" y="277"/>
                  <a:pt x="43" y="263"/>
                  <a:pt x="43" y="245"/>
                </a:cubicBezTo>
                <a:cubicBezTo>
                  <a:pt x="43" y="227"/>
                  <a:pt x="57" y="213"/>
                  <a:pt x="75" y="213"/>
                </a:cubicBezTo>
                <a:cubicBezTo>
                  <a:pt x="92" y="213"/>
                  <a:pt x="107" y="227"/>
                  <a:pt x="107" y="245"/>
                </a:cubicBezTo>
                <a:cubicBezTo>
                  <a:pt x="107" y="263"/>
                  <a:pt x="92" y="277"/>
                  <a:pt x="75" y="277"/>
                </a:cubicBezTo>
                <a:close/>
                <a:moveTo>
                  <a:pt x="75" y="234"/>
                </a:moveTo>
                <a:cubicBezTo>
                  <a:pt x="69" y="234"/>
                  <a:pt x="64" y="239"/>
                  <a:pt x="64" y="245"/>
                </a:cubicBezTo>
                <a:cubicBezTo>
                  <a:pt x="64" y="251"/>
                  <a:pt x="69" y="256"/>
                  <a:pt x="75" y="256"/>
                </a:cubicBezTo>
                <a:cubicBezTo>
                  <a:pt x="81" y="256"/>
                  <a:pt x="85" y="251"/>
                  <a:pt x="85" y="245"/>
                </a:cubicBezTo>
                <a:cubicBezTo>
                  <a:pt x="85" y="239"/>
                  <a:pt x="81" y="234"/>
                  <a:pt x="75" y="234"/>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83" name="Pentagon 482"/>
          <p:cNvSpPr/>
          <p:nvPr/>
        </p:nvSpPr>
        <p:spPr bwMode="gray">
          <a:xfrm>
            <a:off x="8906992" y="380178"/>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Transformation</a:t>
            </a:r>
          </a:p>
        </p:txBody>
      </p:sp>
      <p:sp>
        <p:nvSpPr>
          <p:cNvPr id="484" name="Pentagon 483"/>
          <p:cNvSpPr/>
          <p:nvPr/>
        </p:nvSpPr>
        <p:spPr bwMode="gray">
          <a:xfrm>
            <a:off x="8906992" y="629393"/>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Resource</a:t>
            </a:r>
          </a:p>
        </p:txBody>
      </p:sp>
      <p:sp>
        <p:nvSpPr>
          <p:cNvPr id="485" name="Pentagon 484"/>
          <p:cNvSpPr/>
          <p:nvPr/>
        </p:nvSpPr>
        <p:spPr bwMode="gray">
          <a:xfrm>
            <a:off x="8889301" y="113072"/>
            <a:ext cx="1107717" cy="202002"/>
          </a:xfrm>
          <a:prstGeom prst="homePlate">
            <a:avLst/>
          </a:prstGeom>
          <a:solidFill>
            <a:schemeClr val="accent4"/>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solidFill>
              </a:rPr>
              <a:t>Demand</a:t>
            </a:r>
          </a:p>
        </p:txBody>
      </p:sp>
      <p:sp>
        <p:nvSpPr>
          <p:cNvPr id="141"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Step 1: Demand Analysis</a:t>
            </a:r>
          </a:p>
        </p:txBody>
      </p:sp>
    </p:spTree>
    <p:extLst>
      <p:ext uri="{BB962C8B-B14F-4D97-AF65-F5344CB8AC3E}">
        <p14:creationId xmlns:p14="http://schemas.microsoft.com/office/powerpoint/2010/main" val="440164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p:cNvPicPr>
            <a:picLocks noChangeAspect="1"/>
          </p:cNvPicPr>
          <p:nvPr/>
        </p:nvPicPr>
        <p:blipFill>
          <a:blip r:embed="rId3"/>
          <a:stretch>
            <a:fillRect/>
          </a:stretch>
        </p:blipFill>
        <p:spPr>
          <a:xfrm>
            <a:off x="4871844" y="2298635"/>
            <a:ext cx="5087557" cy="1864818"/>
          </a:xfrm>
          <a:prstGeom prst="rect">
            <a:avLst/>
          </a:prstGeom>
        </p:spPr>
      </p:pic>
      <p:sp>
        <p:nvSpPr>
          <p:cNvPr id="26" name="TextBox 25"/>
          <p:cNvSpPr txBox="1"/>
          <p:nvPr/>
        </p:nvSpPr>
        <p:spPr>
          <a:xfrm>
            <a:off x="589736" y="2055806"/>
            <a:ext cx="9381576" cy="249902"/>
          </a:xfrm>
          <a:prstGeom prst="rect">
            <a:avLst/>
          </a:prstGeom>
          <a:solidFill>
            <a:schemeClr val="tx1"/>
          </a:solidFill>
        </p:spPr>
        <p:txBody>
          <a:bodyPr wrap="square" lIns="39700" tIns="39700" rIns="39700" bIns="39700" rtlCol="0" anchor="ctr">
            <a:spAutoFit/>
          </a:bodyPr>
          <a:lstStyle/>
          <a:p>
            <a:pPr algn="ctr">
              <a:spcBef>
                <a:spcPts val="662"/>
              </a:spcBef>
              <a:buSzPct val="100000"/>
            </a:pPr>
            <a:r>
              <a:rPr lang="en-US" sz="1103" b="1" dirty="0">
                <a:solidFill>
                  <a:schemeClr val="bg1"/>
                </a:solidFill>
              </a:rPr>
              <a:t>Illustration in LEAP</a:t>
            </a:r>
            <a:endParaRPr lang="en-IN" sz="1103" b="1" dirty="0">
              <a:solidFill>
                <a:schemeClr val="bg1"/>
              </a:solidFill>
            </a:endParaRPr>
          </a:p>
        </p:txBody>
      </p:sp>
      <p:sp>
        <p:nvSpPr>
          <p:cNvPr id="27" name="TextBox 26"/>
          <p:cNvSpPr txBox="1"/>
          <p:nvPr/>
        </p:nvSpPr>
        <p:spPr>
          <a:xfrm>
            <a:off x="664254" y="1318386"/>
            <a:ext cx="9272837" cy="700513"/>
          </a:xfrm>
          <a:prstGeom prst="rect">
            <a:avLst/>
          </a:prstGeom>
          <a:noFill/>
        </p:spPr>
        <p:txBody>
          <a:bodyPr wrap="square" lIns="0" tIns="0" rIns="0" bIns="0" rtlCol="0">
            <a:spAutoFit/>
          </a:bodyPr>
          <a:lstStyle/>
          <a:p>
            <a:pPr marL="224089" indent="-224089">
              <a:spcBef>
                <a:spcPts val="662"/>
              </a:spcBef>
              <a:buSzPct val="100000"/>
              <a:buFont typeface="Arial"/>
              <a:buChar char="•"/>
            </a:pPr>
            <a:r>
              <a:rPr lang="en-US" sz="1323" dirty="0">
                <a:solidFill>
                  <a:srgbClr val="313131"/>
                </a:solidFill>
              </a:rPr>
              <a:t>The overall energy consumption by the transport sector is calculated by LEAP by accounting for the activity levels of each device and its final energy intensity</a:t>
            </a:r>
          </a:p>
          <a:p>
            <a:pPr marL="224089" indent="-224089">
              <a:spcBef>
                <a:spcPts val="662"/>
              </a:spcBef>
              <a:buSzPct val="100000"/>
              <a:buFont typeface="Arial"/>
              <a:buChar char="•"/>
            </a:pPr>
            <a:r>
              <a:rPr lang="en-US" sz="1323" dirty="0">
                <a:solidFill>
                  <a:srgbClr val="313131"/>
                </a:solidFill>
              </a:rPr>
              <a:t>Besides energy consumption, LEAP can also examine costs and environmental implications using TED</a:t>
            </a:r>
            <a:endParaRPr lang="en-IN" sz="1323" dirty="0">
              <a:solidFill>
                <a:srgbClr val="313131"/>
              </a:solidFill>
            </a:endParaRPr>
          </a:p>
        </p:txBody>
      </p:sp>
      <p:pic>
        <p:nvPicPr>
          <p:cNvPr id="23" name="Picture 22"/>
          <p:cNvPicPr>
            <a:picLocks noChangeAspect="1"/>
          </p:cNvPicPr>
          <p:nvPr/>
        </p:nvPicPr>
        <p:blipFill>
          <a:blip r:embed="rId4"/>
          <a:stretch>
            <a:fillRect/>
          </a:stretch>
        </p:blipFill>
        <p:spPr>
          <a:xfrm>
            <a:off x="2721627" y="2374275"/>
            <a:ext cx="2173510" cy="3975073"/>
          </a:xfrm>
          <a:prstGeom prst="rect">
            <a:avLst/>
          </a:prstGeom>
        </p:spPr>
      </p:pic>
      <p:pic>
        <p:nvPicPr>
          <p:cNvPr id="25" name="Picture 24"/>
          <p:cNvPicPr>
            <a:picLocks noChangeAspect="1"/>
          </p:cNvPicPr>
          <p:nvPr/>
        </p:nvPicPr>
        <p:blipFill rotWithShape="1">
          <a:blip r:embed="rId5"/>
          <a:srcRect t="43965"/>
          <a:stretch/>
        </p:blipFill>
        <p:spPr>
          <a:xfrm>
            <a:off x="4871843" y="4139665"/>
            <a:ext cx="5089791" cy="2211359"/>
          </a:xfrm>
          <a:prstGeom prst="rect">
            <a:avLst/>
          </a:prstGeom>
        </p:spPr>
      </p:pic>
      <p:sp>
        <p:nvSpPr>
          <p:cNvPr id="28" name="Oval 27"/>
          <p:cNvSpPr/>
          <p:nvPr/>
        </p:nvSpPr>
        <p:spPr bwMode="gray">
          <a:xfrm>
            <a:off x="4863022" y="2511664"/>
            <a:ext cx="881654" cy="234827"/>
          </a:xfrm>
          <a:prstGeom prst="ellipse">
            <a:avLst/>
          </a:prstGeom>
          <a:noFill/>
          <a:ln w="19050" algn="ctr">
            <a:solidFill>
              <a:srgbClr val="ED8B00"/>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29" name="Oval 28"/>
          <p:cNvSpPr/>
          <p:nvPr/>
        </p:nvSpPr>
        <p:spPr bwMode="gray">
          <a:xfrm>
            <a:off x="5517978" y="2511663"/>
            <a:ext cx="1177522" cy="247693"/>
          </a:xfrm>
          <a:prstGeom prst="ellipse">
            <a:avLst/>
          </a:prstGeom>
          <a:noFill/>
          <a:ln w="19050" algn="ctr">
            <a:solidFill>
              <a:srgbClr val="ED8B00"/>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30" name="Oval 29"/>
          <p:cNvSpPr/>
          <p:nvPr/>
        </p:nvSpPr>
        <p:spPr bwMode="gray">
          <a:xfrm>
            <a:off x="6562116" y="2499278"/>
            <a:ext cx="764671" cy="270207"/>
          </a:xfrm>
          <a:prstGeom prst="ellipse">
            <a:avLst/>
          </a:prstGeom>
          <a:noFill/>
          <a:ln w="19050" algn="ctr">
            <a:solidFill>
              <a:srgbClr val="ED8B00"/>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31" name="Oval 30"/>
          <p:cNvSpPr/>
          <p:nvPr/>
        </p:nvSpPr>
        <p:spPr bwMode="gray">
          <a:xfrm>
            <a:off x="7747782" y="2285821"/>
            <a:ext cx="1159338" cy="247179"/>
          </a:xfrm>
          <a:prstGeom prst="ellipse">
            <a:avLst/>
          </a:prstGeom>
          <a:noFill/>
          <a:ln w="19050" algn="ctr">
            <a:solidFill>
              <a:srgbClr val="ED8B00"/>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32" name="Pentagon 31"/>
          <p:cNvSpPr/>
          <p:nvPr/>
        </p:nvSpPr>
        <p:spPr bwMode="gray">
          <a:xfrm>
            <a:off x="8906992" y="380178"/>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Transformation</a:t>
            </a:r>
          </a:p>
        </p:txBody>
      </p:sp>
      <p:sp>
        <p:nvSpPr>
          <p:cNvPr id="33" name="Pentagon 32"/>
          <p:cNvSpPr/>
          <p:nvPr/>
        </p:nvSpPr>
        <p:spPr bwMode="gray">
          <a:xfrm>
            <a:off x="8906992" y="629393"/>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Resource</a:t>
            </a:r>
          </a:p>
        </p:txBody>
      </p:sp>
      <p:sp>
        <p:nvSpPr>
          <p:cNvPr id="34" name="Pentagon 33"/>
          <p:cNvSpPr/>
          <p:nvPr/>
        </p:nvSpPr>
        <p:spPr bwMode="gray">
          <a:xfrm>
            <a:off x="8889301" y="113072"/>
            <a:ext cx="1107717" cy="202002"/>
          </a:xfrm>
          <a:prstGeom prst="homePlate">
            <a:avLst/>
          </a:prstGeom>
          <a:solidFill>
            <a:schemeClr val="accent4"/>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solidFill>
              </a:rPr>
              <a:t>Demand</a:t>
            </a:r>
          </a:p>
        </p:txBody>
      </p:sp>
      <p:sp>
        <p:nvSpPr>
          <p:cNvPr id="36" name="TextBox 35"/>
          <p:cNvSpPr txBox="1"/>
          <p:nvPr/>
        </p:nvSpPr>
        <p:spPr>
          <a:xfrm>
            <a:off x="596543" y="6498920"/>
            <a:ext cx="9381576" cy="589354"/>
          </a:xfrm>
          <a:prstGeom prst="rect">
            <a:avLst/>
          </a:prstGeom>
          <a:solidFill>
            <a:schemeClr val="accent5"/>
          </a:solidFill>
        </p:spPr>
        <p:txBody>
          <a:bodyPr wrap="square" lIns="39700" tIns="39700" rIns="39700" bIns="39700" rtlCol="0" anchor="ctr">
            <a:spAutoFit/>
          </a:bodyPr>
          <a:lstStyle/>
          <a:p>
            <a:pPr algn="ctr">
              <a:spcBef>
                <a:spcPts val="662"/>
              </a:spcBef>
              <a:buSzPct val="100000"/>
            </a:pPr>
            <a:r>
              <a:rPr lang="en-US" sz="1103" b="1" dirty="0">
                <a:solidFill>
                  <a:schemeClr val="bg1"/>
                </a:solidFill>
              </a:rPr>
              <a:t>Energy demand using these methods is calculated for the Current Account Year (Base Year) and for each future year in each scenario. Each scenario represents different future demand reflecting alternative assumptions about policies and technologies</a:t>
            </a:r>
            <a:endParaRPr lang="en-IN" sz="1103" b="1" dirty="0">
              <a:solidFill>
                <a:schemeClr val="bg1"/>
              </a:solidFill>
            </a:endParaRPr>
          </a:p>
        </p:txBody>
      </p:sp>
      <p:sp>
        <p:nvSpPr>
          <p:cNvPr id="38" name="Oval 37"/>
          <p:cNvSpPr/>
          <p:nvPr/>
        </p:nvSpPr>
        <p:spPr bwMode="gray">
          <a:xfrm>
            <a:off x="5202792" y="2341079"/>
            <a:ext cx="223658" cy="223658"/>
          </a:xfrm>
          <a:prstGeom prst="ellipse">
            <a:avLst/>
          </a:prstGeom>
          <a:solidFill>
            <a:srgbClr val="ED8B00"/>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1</a:t>
            </a:r>
            <a:endParaRPr lang="en-IN" sz="1323" b="1" dirty="0">
              <a:solidFill>
                <a:schemeClr val="bg1"/>
              </a:solidFill>
            </a:endParaRPr>
          </a:p>
        </p:txBody>
      </p:sp>
      <p:sp>
        <p:nvSpPr>
          <p:cNvPr id="39" name="Oval 38"/>
          <p:cNvSpPr/>
          <p:nvPr/>
        </p:nvSpPr>
        <p:spPr bwMode="gray">
          <a:xfrm>
            <a:off x="5990032" y="2318902"/>
            <a:ext cx="238972" cy="219299"/>
          </a:xfrm>
          <a:prstGeom prst="ellipse">
            <a:avLst/>
          </a:prstGeom>
          <a:solidFill>
            <a:srgbClr val="ED8B00"/>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2</a:t>
            </a:r>
            <a:endParaRPr lang="en-IN" sz="1323" b="1" dirty="0">
              <a:solidFill>
                <a:schemeClr val="bg1"/>
              </a:solidFill>
            </a:endParaRPr>
          </a:p>
        </p:txBody>
      </p:sp>
      <p:sp>
        <p:nvSpPr>
          <p:cNvPr id="40" name="Oval 39"/>
          <p:cNvSpPr/>
          <p:nvPr/>
        </p:nvSpPr>
        <p:spPr bwMode="gray">
          <a:xfrm>
            <a:off x="6901110" y="2323390"/>
            <a:ext cx="223658" cy="223658"/>
          </a:xfrm>
          <a:prstGeom prst="ellipse">
            <a:avLst/>
          </a:prstGeom>
          <a:solidFill>
            <a:srgbClr val="ED8B00"/>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3</a:t>
            </a:r>
            <a:endParaRPr lang="en-IN" sz="1323" b="1" dirty="0">
              <a:solidFill>
                <a:schemeClr val="bg1"/>
              </a:solidFill>
            </a:endParaRPr>
          </a:p>
        </p:txBody>
      </p:sp>
      <p:sp>
        <p:nvSpPr>
          <p:cNvPr id="41" name="Oval 40"/>
          <p:cNvSpPr/>
          <p:nvPr/>
        </p:nvSpPr>
        <p:spPr bwMode="gray">
          <a:xfrm>
            <a:off x="9015170" y="2332235"/>
            <a:ext cx="223658" cy="223658"/>
          </a:xfrm>
          <a:prstGeom prst="ellipse">
            <a:avLst/>
          </a:prstGeom>
          <a:solidFill>
            <a:srgbClr val="ED8B00"/>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5</a:t>
            </a:r>
            <a:endParaRPr lang="en-IN" sz="1323" b="1" dirty="0">
              <a:solidFill>
                <a:schemeClr val="bg1"/>
              </a:solidFill>
            </a:endParaRPr>
          </a:p>
        </p:txBody>
      </p:sp>
      <p:graphicFrame>
        <p:nvGraphicFramePr>
          <p:cNvPr id="42" name="Table 41"/>
          <p:cNvGraphicFramePr>
            <a:graphicFrameLocks noGrp="1"/>
          </p:cNvGraphicFramePr>
          <p:nvPr/>
        </p:nvGraphicFramePr>
        <p:xfrm>
          <a:off x="611172" y="2377146"/>
          <a:ext cx="2309497" cy="3993636"/>
        </p:xfrm>
        <a:graphic>
          <a:graphicData uri="http://schemas.openxmlformats.org/drawingml/2006/table">
            <a:tbl>
              <a:tblPr bandRow="1">
                <a:tableStyleId>{073A0DAA-6AF3-43AB-8588-CEC1D06C72B9}</a:tableStyleId>
              </a:tblPr>
              <a:tblGrid>
                <a:gridCol w="2309497">
                  <a:extLst>
                    <a:ext uri="{9D8B030D-6E8A-4147-A177-3AD203B41FA5}">
                      <a16:colId xmlns:a16="http://schemas.microsoft.com/office/drawing/2014/main" val="3894078062"/>
                    </a:ext>
                  </a:extLst>
                </a:gridCol>
              </a:tblGrid>
              <a:tr h="268901">
                <a:tc>
                  <a:txBody>
                    <a:bodyPr/>
                    <a:lstStyle/>
                    <a:p>
                      <a:r>
                        <a:rPr lang="en-US" sz="1100" b="1" dirty="0"/>
                        <a:t>1. Activity Level</a:t>
                      </a:r>
                      <a:endParaRPr lang="en-IN" sz="1100" b="1" dirty="0"/>
                    </a:p>
                  </a:txBody>
                  <a:tcPr marL="100838" marR="100838" marT="50419" marB="50419"/>
                </a:tc>
                <a:extLst>
                  <a:ext uri="{0D108BD9-81ED-4DB2-BD59-A6C34878D82A}">
                    <a16:rowId xmlns:a16="http://schemas.microsoft.com/office/drawing/2014/main" val="1743519723"/>
                  </a:ext>
                </a:extLst>
              </a:tr>
              <a:tr h="605028">
                <a:tc>
                  <a:txBody>
                    <a:bodyPr/>
                    <a:lstStyle/>
                    <a:p>
                      <a:pPr marL="96838" indent="-96838"/>
                      <a:r>
                        <a:rPr lang="en-US" sz="1100" dirty="0"/>
                        <a:t>-</a:t>
                      </a:r>
                      <a:r>
                        <a:rPr lang="en-US" sz="1100" baseline="0" dirty="0"/>
                        <a:t> Measure of social or economic activity (e.g. vehicle-</a:t>
                      </a:r>
                      <a:r>
                        <a:rPr lang="en-US" sz="1100" baseline="0" dirty="0" err="1"/>
                        <a:t>kms</a:t>
                      </a:r>
                      <a:r>
                        <a:rPr lang="en-US" sz="1100" baseline="0" dirty="0"/>
                        <a:t> for transport)</a:t>
                      </a:r>
                      <a:endParaRPr lang="en-IN" sz="1100" dirty="0"/>
                    </a:p>
                  </a:txBody>
                  <a:tcPr marL="100838" marR="100838" marT="50419" marB="50419"/>
                </a:tc>
                <a:extLst>
                  <a:ext uri="{0D108BD9-81ED-4DB2-BD59-A6C34878D82A}">
                    <a16:rowId xmlns:a16="http://schemas.microsoft.com/office/drawing/2014/main" val="1532329200"/>
                  </a:ext>
                </a:extLst>
              </a:tr>
              <a:tr h="268901">
                <a:tc>
                  <a:txBody>
                    <a:bodyPr/>
                    <a:lstStyle/>
                    <a:p>
                      <a:r>
                        <a:rPr lang="en-US" sz="1100" b="1" dirty="0"/>
                        <a:t>2. Final Energy Intensity</a:t>
                      </a:r>
                      <a:endParaRPr lang="en-IN" sz="1100" b="1" dirty="0"/>
                    </a:p>
                  </a:txBody>
                  <a:tcPr marL="100838" marR="100838" marT="50419" marB="50419"/>
                </a:tc>
                <a:extLst>
                  <a:ext uri="{0D108BD9-81ED-4DB2-BD59-A6C34878D82A}">
                    <a16:rowId xmlns:a16="http://schemas.microsoft.com/office/drawing/2014/main" val="723934058"/>
                  </a:ext>
                </a:extLst>
              </a:tr>
              <a:tr h="773091">
                <a:tc>
                  <a:txBody>
                    <a:bodyPr/>
                    <a:lstStyle/>
                    <a:p>
                      <a:pPr marL="96838" indent="-96838"/>
                      <a:r>
                        <a:rPr lang="en-US" sz="1100" dirty="0"/>
                        <a:t>- Annual</a:t>
                      </a:r>
                      <a:r>
                        <a:rPr lang="en-US" sz="1100" baseline="0" dirty="0"/>
                        <a:t> final consumption of energy per unit of activity level (e.g. </a:t>
                      </a:r>
                      <a:r>
                        <a:rPr lang="en-US" sz="1100" baseline="0" dirty="0" err="1"/>
                        <a:t>lt</a:t>
                      </a:r>
                      <a:r>
                        <a:rPr lang="en-US" sz="1100" baseline="0" dirty="0"/>
                        <a:t> of petrol consumed per vehicle-km)</a:t>
                      </a:r>
                      <a:endParaRPr lang="en-IN" sz="1100" dirty="0"/>
                    </a:p>
                  </a:txBody>
                  <a:tcPr marL="100838" marR="100838" marT="50419" marB="50419"/>
                </a:tc>
                <a:extLst>
                  <a:ext uri="{0D108BD9-81ED-4DB2-BD59-A6C34878D82A}">
                    <a16:rowId xmlns:a16="http://schemas.microsoft.com/office/drawing/2014/main" val="1223158628"/>
                  </a:ext>
                </a:extLst>
              </a:tr>
              <a:tr h="268901">
                <a:tc>
                  <a:txBody>
                    <a:bodyPr/>
                    <a:lstStyle/>
                    <a:p>
                      <a:r>
                        <a:rPr lang="en-US" sz="1100" b="1" dirty="0"/>
                        <a:t>3.</a:t>
                      </a:r>
                      <a:r>
                        <a:rPr lang="en-US" sz="1100" b="1" baseline="0" dirty="0"/>
                        <a:t> Demand Cost</a:t>
                      </a:r>
                      <a:endParaRPr lang="en-IN" sz="1100" b="1" dirty="0"/>
                    </a:p>
                  </a:txBody>
                  <a:tcPr marL="100838" marR="100838" marT="50419" marB="50419"/>
                </a:tc>
                <a:extLst>
                  <a:ext uri="{0D108BD9-81ED-4DB2-BD59-A6C34878D82A}">
                    <a16:rowId xmlns:a16="http://schemas.microsoft.com/office/drawing/2014/main" val="3746918019"/>
                  </a:ext>
                </a:extLst>
              </a:tr>
              <a:tr h="773091">
                <a:tc>
                  <a:txBody>
                    <a:bodyPr/>
                    <a:lstStyle/>
                    <a:p>
                      <a:pPr marL="96838" indent="-96838"/>
                      <a:r>
                        <a:rPr lang="en-US" sz="1100" dirty="0"/>
                        <a:t>- Costs of energy consuming devices or costs of saving energy (e.g. </a:t>
                      </a:r>
                      <a:r>
                        <a:rPr lang="en-US" sz="1100" dirty="0" err="1"/>
                        <a:t>Rs</a:t>
                      </a:r>
                      <a:r>
                        <a:rPr lang="en-US" sz="1100" dirty="0"/>
                        <a:t>./vehicle-km)</a:t>
                      </a:r>
                      <a:endParaRPr lang="en-IN" sz="1100" dirty="0"/>
                    </a:p>
                  </a:txBody>
                  <a:tcPr marL="100838" marR="100838" marT="50419" marB="50419"/>
                </a:tc>
                <a:extLst>
                  <a:ext uri="{0D108BD9-81ED-4DB2-BD59-A6C34878D82A}">
                    <a16:rowId xmlns:a16="http://schemas.microsoft.com/office/drawing/2014/main" val="4087782882"/>
                  </a:ext>
                </a:extLst>
              </a:tr>
              <a:tr h="436965">
                <a:tc>
                  <a:txBody>
                    <a:bodyPr/>
                    <a:lstStyle/>
                    <a:p>
                      <a:r>
                        <a:rPr lang="en-US" sz="1100" b="1" dirty="0"/>
                        <a:t>4. Average Environmental Loading</a:t>
                      </a:r>
                      <a:endParaRPr lang="en-IN" sz="1100" b="1" dirty="0"/>
                    </a:p>
                  </a:txBody>
                  <a:tcPr marL="100838" marR="100838" marT="50419" marB="50419"/>
                </a:tc>
                <a:extLst>
                  <a:ext uri="{0D108BD9-81ED-4DB2-BD59-A6C34878D82A}">
                    <a16:rowId xmlns:a16="http://schemas.microsoft.com/office/drawing/2014/main" val="527392208"/>
                  </a:ext>
                </a:extLst>
              </a:tr>
              <a:tr h="268901">
                <a:tc>
                  <a:txBody>
                    <a:bodyPr/>
                    <a:lstStyle/>
                    <a:p>
                      <a:r>
                        <a:rPr lang="en-US" sz="1100" b="1" dirty="0"/>
                        <a:t>5.</a:t>
                      </a:r>
                      <a:r>
                        <a:rPr lang="en-US" sz="1100" b="1" baseline="0" dirty="0"/>
                        <a:t> Scenario</a:t>
                      </a:r>
                      <a:endParaRPr lang="en-IN" sz="1100" b="1" dirty="0"/>
                    </a:p>
                  </a:txBody>
                  <a:tcPr marL="100838" marR="100838" marT="50419" marB="50419"/>
                </a:tc>
                <a:extLst>
                  <a:ext uri="{0D108BD9-81ED-4DB2-BD59-A6C34878D82A}">
                    <a16:rowId xmlns:a16="http://schemas.microsoft.com/office/drawing/2014/main" val="342682830"/>
                  </a:ext>
                </a:extLst>
              </a:tr>
              <a:tr h="329857">
                <a:tc>
                  <a:txBody>
                    <a:bodyPr/>
                    <a:lstStyle/>
                    <a:p>
                      <a:r>
                        <a:rPr lang="en-US" sz="1100" b="1" dirty="0"/>
                        <a:t>- </a:t>
                      </a:r>
                      <a:r>
                        <a:rPr lang="en-US" sz="1100" b="0" dirty="0"/>
                        <a:t>Current</a:t>
                      </a:r>
                      <a:r>
                        <a:rPr lang="en-US" sz="1100" b="0" baseline="0" dirty="0"/>
                        <a:t> Account: Base Year</a:t>
                      </a:r>
                      <a:endParaRPr lang="en-IN" sz="1100" b="0" dirty="0"/>
                    </a:p>
                  </a:txBody>
                  <a:tcPr marL="100838" marR="100838" marT="50419" marB="50419"/>
                </a:tc>
                <a:extLst>
                  <a:ext uri="{0D108BD9-81ED-4DB2-BD59-A6C34878D82A}">
                    <a16:rowId xmlns:a16="http://schemas.microsoft.com/office/drawing/2014/main" val="3658481170"/>
                  </a:ext>
                </a:extLst>
              </a:tr>
            </a:tbl>
          </a:graphicData>
        </a:graphic>
      </p:graphicFrame>
      <p:sp>
        <p:nvSpPr>
          <p:cNvPr id="45" name="Oval 44"/>
          <p:cNvSpPr/>
          <p:nvPr/>
        </p:nvSpPr>
        <p:spPr bwMode="gray">
          <a:xfrm>
            <a:off x="7222138" y="2453624"/>
            <a:ext cx="1536521" cy="280134"/>
          </a:xfrm>
          <a:prstGeom prst="ellipse">
            <a:avLst/>
          </a:prstGeom>
          <a:noFill/>
          <a:ln w="19050" algn="ctr">
            <a:solidFill>
              <a:srgbClr val="ED8B00"/>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46" name="Oval 45"/>
          <p:cNvSpPr/>
          <p:nvPr/>
        </p:nvSpPr>
        <p:spPr bwMode="gray">
          <a:xfrm>
            <a:off x="8767499" y="2544526"/>
            <a:ext cx="223658" cy="223658"/>
          </a:xfrm>
          <a:prstGeom prst="ellipse">
            <a:avLst/>
          </a:prstGeom>
          <a:solidFill>
            <a:srgbClr val="ED8B00"/>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4</a:t>
            </a:r>
            <a:endParaRPr lang="en-IN" sz="1323" b="1" dirty="0">
              <a:solidFill>
                <a:schemeClr val="bg1"/>
              </a:solidFill>
            </a:endParaRPr>
          </a:p>
        </p:txBody>
      </p:sp>
      <p:sp>
        <p:nvSpPr>
          <p:cNvPr id="24" name="Title 2"/>
          <p:cNvSpPr txBox="1">
            <a:spLocks/>
          </p:cNvSpPr>
          <p:nvPr/>
        </p:nvSpPr>
        <p:spPr>
          <a:xfrm>
            <a:off x="439794" y="350132"/>
            <a:ext cx="8327705" cy="740962"/>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Illustration: </a:t>
            </a:r>
            <a:r>
              <a:rPr lang="en-US" sz="2200" dirty="0"/>
              <a:t>Demand Analysis of Transport Sector in West Bengal using Activity Analysis in LEAP</a:t>
            </a:r>
          </a:p>
        </p:txBody>
      </p:sp>
    </p:spTree>
    <p:extLst>
      <p:ext uri="{BB962C8B-B14F-4D97-AF65-F5344CB8AC3E}">
        <p14:creationId xmlns:p14="http://schemas.microsoft.com/office/powerpoint/2010/main" val="4199111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673084" y="962098"/>
            <a:ext cx="9413216" cy="1665378"/>
          </a:xfrm>
          <a:prstGeom prst="roundRect">
            <a:avLst/>
          </a:prstGeom>
          <a:solidFill>
            <a:schemeClr val="bg1">
              <a:lumMod val="95000"/>
            </a:schemeClr>
          </a:solidFill>
        </p:spPr>
        <p:txBody>
          <a:bodyPr wrap="square" lIns="39700" tIns="39700" rIns="39700" bIns="39700" rtlCol="0">
            <a:spAutoFit/>
          </a:bodyPr>
          <a:lstStyle/>
          <a:p>
            <a:pPr marL="315125" indent="-315125">
              <a:buFont typeface="Arial" panose="020B0604020202020204" pitchFamily="34" charset="0"/>
              <a:buChar char="•"/>
            </a:pPr>
            <a:r>
              <a:rPr lang="en-US" sz="1323" dirty="0">
                <a:solidFill>
                  <a:srgbClr val="313131"/>
                </a:solidFill>
              </a:rPr>
              <a:t>Transformation Analysis simulates the conversion and transportation of energy forms from point of extraction of primary resources and imported fuels all the way to the point of final fuel consumption</a:t>
            </a:r>
          </a:p>
          <a:p>
            <a:pPr marL="315125" indent="-315125">
              <a:buFont typeface="Arial" panose="020B0604020202020204" pitchFamily="34" charset="0"/>
              <a:buChar char="•"/>
            </a:pPr>
            <a:r>
              <a:rPr lang="en-US" sz="1323" dirty="0">
                <a:solidFill>
                  <a:srgbClr val="313131"/>
                </a:solidFill>
              </a:rPr>
              <a:t>Since transformation calculations are driven by the results of Demand Analysis, ordering of modules will affect the results</a:t>
            </a:r>
          </a:p>
          <a:p>
            <a:pPr marL="315125" indent="-315125">
              <a:buFont typeface="Arial" panose="020B0604020202020204" pitchFamily="34" charset="0"/>
              <a:buChar char="•"/>
            </a:pPr>
            <a:r>
              <a:rPr lang="en-US" sz="1323" dirty="0"/>
              <a:t>Transformation data tree comprises of modules, output fuels, processes (including feedstock fuel and auxiliary fuel)</a:t>
            </a:r>
          </a:p>
          <a:p>
            <a:pPr marL="315125" indent="-315125">
              <a:buFont typeface="Arial" panose="020B0604020202020204" pitchFamily="34" charset="0"/>
              <a:buChar char="•"/>
            </a:pPr>
            <a:r>
              <a:rPr lang="en-US" sz="1323" dirty="0"/>
              <a:t>For each module, capacities, costs and dispatch rule can be specified</a:t>
            </a:r>
          </a:p>
        </p:txBody>
      </p:sp>
      <p:sp>
        <p:nvSpPr>
          <p:cNvPr id="145" name="Pentagon 144"/>
          <p:cNvSpPr/>
          <p:nvPr/>
        </p:nvSpPr>
        <p:spPr bwMode="gray">
          <a:xfrm>
            <a:off x="8906992" y="380178"/>
            <a:ext cx="1107717" cy="202002"/>
          </a:xfrm>
          <a:prstGeom prst="homePlate">
            <a:avLst/>
          </a:prstGeom>
          <a:solidFill>
            <a:schemeClr val="accent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solidFill>
              </a:rPr>
              <a:t>Transformation</a:t>
            </a:r>
          </a:p>
        </p:txBody>
      </p:sp>
      <p:sp>
        <p:nvSpPr>
          <p:cNvPr id="146" name="Pentagon 145"/>
          <p:cNvSpPr/>
          <p:nvPr/>
        </p:nvSpPr>
        <p:spPr bwMode="gray">
          <a:xfrm>
            <a:off x="8906992" y="629393"/>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Resource</a:t>
            </a:r>
          </a:p>
        </p:txBody>
      </p:sp>
      <p:sp>
        <p:nvSpPr>
          <p:cNvPr id="147" name="Pentagon 146"/>
          <p:cNvSpPr/>
          <p:nvPr/>
        </p:nvSpPr>
        <p:spPr bwMode="gray">
          <a:xfrm>
            <a:off x="8889301" y="113072"/>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Demand</a:t>
            </a:r>
          </a:p>
        </p:txBody>
      </p:sp>
      <p:sp>
        <p:nvSpPr>
          <p:cNvPr id="148" name="Rectangle 147"/>
          <p:cNvSpPr/>
          <p:nvPr/>
        </p:nvSpPr>
        <p:spPr bwMode="gray">
          <a:xfrm>
            <a:off x="3100801" y="3621959"/>
            <a:ext cx="6913908" cy="3472083"/>
          </a:xfrm>
          <a:prstGeom prst="rect">
            <a:avLst/>
          </a:prstGeom>
          <a:noFill/>
          <a:ln w="19050" algn="ctr">
            <a:solidFill>
              <a:schemeClr val="accent3"/>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50" name="Rectangle 149"/>
          <p:cNvSpPr/>
          <p:nvPr/>
        </p:nvSpPr>
        <p:spPr bwMode="gray">
          <a:xfrm>
            <a:off x="3236547" y="4276176"/>
            <a:ext cx="1528031" cy="462936"/>
          </a:xfrm>
          <a:prstGeom prst="rect">
            <a:avLst/>
          </a:prstGeom>
          <a:solidFill>
            <a:schemeClr val="accent6"/>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59" name="TextBox 158"/>
          <p:cNvSpPr txBox="1"/>
          <p:nvPr/>
        </p:nvSpPr>
        <p:spPr>
          <a:xfrm>
            <a:off x="3222041" y="3744135"/>
            <a:ext cx="1577918" cy="375564"/>
          </a:xfrm>
          <a:prstGeom prst="roundRect">
            <a:avLst/>
          </a:prstGeom>
          <a:solidFill>
            <a:schemeClr val="accent6">
              <a:lumMod val="50000"/>
            </a:schemeClr>
          </a:solidFill>
        </p:spPr>
        <p:txBody>
          <a:bodyPr wrap="square" lIns="0" tIns="0" rIns="0" bIns="0" rtlCol="0">
            <a:spAutoFit/>
          </a:bodyPr>
          <a:lstStyle/>
          <a:p>
            <a:pPr algn="ctr">
              <a:spcBef>
                <a:spcPts val="662"/>
              </a:spcBef>
              <a:buSzPct val="100000"/>
            </a:pPr>
            <a:r>
              <a:rPr lang="en-US" sz="1103" b="1" dirty="0">
                <a:solidFill>
                  <a:schemeClr val="bg1"/>
                </a:solidFill>
              </a:rPr>
              <a:t>Transformation Modules</a:t>
            </a:r>
          </a:p>
        </p:txBody>
      </p:sp>
      <p:grpSp>
        <p:nvGrpSpPr>
          <p:cNvPr id="160" name="Group 159"/>
          <p:cNvGrpSpPr/>
          <p:nvPr/>
        </p:nvGrpSpPr>
        <p:grpSpPr>
          <a:xfrm>
            <a:off x="3322013" y="4282045"/>
            <a:ext cx="1367910" cy="441275"/>
            <a:chOff x="2406018" y="2822507"/>
            <a:chExt cx="1240422" cy="400149"/>
          </a:xfrm>
        </p:grpSpPr>
        <p:sp>
          <p:nvSpPr>
            <p:cNvPr id="161" name="Rectangle 160"/>
            <p:cNvSpPr/>
            <p:nvPr/>
          </p:nvSpPr>
          <p:spPr bwMode="gray">
            <a:xfrm>
              <a:off x="2406018" y="2866680"/>
              <a:ext cx="1240422" cy="322927"/>
            </a:xfrm>
            <a:prstGeom prst="rect">
              <a:avLst/>
            </a:prstGeom>
            <a:solidFill>
              <a:schemeClr val="accent5"/>
            </a:solidFill>
            <a:ln w="28575" algn="ctr">
              <a:solidFill>
                <a:schemeClr val="bg1"/>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62" name="Rectangle 161"/>
            <p:cNvSpPr/>
            <p:nvPr/>
          </p:nvSpPr>
          <p:spPr bwMode="gray">
            <a:xfrm>
              <a:off x="2702968" y="2822507"/>
              <a:ext cx="943472" cy="4001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Electricity Generation</a:t>
              </a:r>
            </a:p>
          </p:txBody>
        </p:sp>
      </p:grpSp>
      <p:grpSp>
        <p:nvGrpSpPr>
          <p:cNvPr id="163" name="Group 162"/>
          <p:cNvGrpSpPr/>
          <p:nvPr/>
        </p:nvGrpSpPr>
        <p:grpSpPr>
          <a:xfrm>
            <a:off x="3322013" y="4841128"/>
            <a:ext cx="1383309" cy="352329"/>
            <a:chOff x="2406018" y="3247059"/>
            <a:chExt cx="1254386" cy="319492"/>
          </a:xfrm>
        </p:grpSpPr>
        <p:sp>
          <p:nvSpPr>
            <p:cNvPr id="164" name="Rectangle 163"/>
            <p:cNvSpPr/>
            <p:nvPr/>
          </p:nvSpPr>
          <p:spPr bwMode="gray">
            <a:xfrm>
              <a:off x="2406018" y="3247059"/>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65" name="Rectangle 164"/>
            <p:cNvSpPr/>
            <p:nvPr/>
          </p:nvSpPr>
          <p:spPr bwMode="gray">
            <a:xfrm>
              <a:off x="2716932" y="3290239"/>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T &amp; D</a:t>
              </a:r>
            </a:p>
          </p:txBody>
        </p:sp>
      </p:grpSp>
      <p:grpSp>
        <p:nvGrpSpPr>
          <p:cNvPr id="166" name="Group 165"/>
          <p:cNvGrpSpPr/>
          <p:nvPr/>
        </p:nvGrpSpPr>
        <p:grpSpPr>
          <a:xfrm>
            <a:off x="3322013" y="5810063"/>
            <a:ext cx="1383309" cy="352329"/>
            <a:chOff x="2406018" y="3984320"/>
            <a:chExt cx="1254386" cy="319492"/>
          </a:xfrm>
        </p:grpSpPr>
        <p:sp>
          <p:nvSpPr>
            <p:cNvPr id="167" name="Rectangle 166"/>
            <p:cNvSpPr/>
            <p:nvPr/>
          </p:nvSpPr>
          <p:spPr bwMode="gray">
            <a:xfrm>
              <a:off x="2406018" y="3984320"/>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68" name="Rectangle 167"/>
            <p:cNvSpPr/>
            <p:nvPr/>
          </p:nvSpPr>
          <p:spPr bwMode="gray">
            <a:xfrm>
              <a:off x="2716932" y="4019695"/>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Oil Refining</a:t>
              </a:r>
            </a:p>
          </p:txBody>
        </p:sp>
      </p:grpSp>
      <p:grpSp>
        <p:nvGrpSpPr>
          <p:cNvPr id="169" name="Group 168"/>
          <p:cNvGrpSpPr/>
          <p:nvPr/>
        </p:nvGrpSpPr>
        <p:grpSpPr>
          <a:xfrm>
            <a:off x="3322014" y="6303375"/>
            <a:ext cx="1372412" cy="352329"/>
            <a:chOff x="2406018" y="4347634"/>
            <a:chExt cx="1244505" cy="319492"/>
          </a:xfrm>
        </p:grpSpPr>
        <p:sp>
          <p:nvSpPr>
            <p:cNvPr id="170" name="Rectangle 169"/>
            <p:cNvSpPr/>
            <p:nvPr/>
          </p:nvSpPr>
          <p:spPr bwMode="gray">
            <a:xfrm>
              <a:off x="2406018" y="4347634"/>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71" name="Rectangle 170"/>
            <p:cNvSpPr/>
            <p:nvPr/>
          </p:nvSpPr>
          <p:spPr bwMode="gray">
            <a:xfrm>
              <a:off x="2707051" y="4372145"/>
              <a:ext cx="94347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Coal Mining</a:t>
              </a:r>
              <a:endParaRPr lang="en-US" sz="1103" b="1" baseline="30000" dirty="0">
                <a:solidFill>
                  <a:schemeClr val="bg1"/>
                </a:solidFill>
                <a:latin typeface="+mj-lt"/>
              </a:endParaRPr>
            </a:p>
          </p:txBody>
        </p:sp>
      </p:grpSp>
      <p:grpSp>
        <p:nvGrpSpPr>
          <p:cNvPr id="172" name="Group 171"/>
          <p:cNvGrpSpPr/>
          <p:nvPr/>
        </p:nvGrpSpPr>
        <p:grpSpPr>
          <a:xfrm>
            <a:off x="3322013" y="5291978"/>
            <a:ext cx="1383309" cy="441275"/>
            <a:chOff x="2406018" y="3571872"/>
            <a:chExt cx="1254386" cy="400149"/>
          </a:xfrm>
        </p:grpSpPr>
        <p:sp>
          <p:nvSpPr>
            <p:cNvPr id="173" name="Rectangle 172"/>
            <p:cNvSpPr/>
            <p:nvPr/>
          </p:nvSpPr>
          <p:spPr bwMode="gray">
            <a:xfrm>
              <a:off x="2406018" y="3610373"/>
              <a:ext cx="1240422"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74" name="Rectangle 173"/>
            <p:cNvSpPr/>
            <p:nvPr/>
          </p:nvSpPr>
          <p:spPr bwMode="gray">
            <a:xfrm>
              <a:off x="2716932" y="3571872"/>
              <a:ext cx="943472" cy="4001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Charcoal Production</a:t>
              </a:r>
            </a:p>
          </p:txBody>
        </p:sp>
      </p:grpSp>
      <p:sp>
        <p:nvSpPr>
          <p:cNvPr id="175" name="TextBox 174"/>
          <p:cNvSpPr txBox="1"/>
          <p:nvPr/>
        </p:nvSpPr>
        <p:spPr>
          <a:xfrm>
            <a:off x="4921581" y="3715850"/>
            <a:ext cx="1577918" cy="396000"/>
          </a:xfrm>
          <a:prstGeom prst="roundRect">
            <a:avLst/>
          </a:prstGeom>
          <a:solidFill>
            <a:schemeClr val="accent6">
              <a:lumMod val="50000"/>
            </a:schemeClr>
          </a:solidFill>
        </p:spPr>
        <p:txBody>
          <a:bodyPr wrap="square" lIns="0" tIns="0" rIns="0" bIns="0" rtlCol="0" anchor="ctr">
            <a:spAutoFit/>
          </a:bodyPr>
          <a:lstStyle/>
          <a:p>
            <a:pPr algn="ctr">
              <a:spcBef>
                <a:spcPts val="662"/>
              </a:spcBef>
              <a:buSzPct val="100000"/>
            </a:pPr>
            <a:r>
              <a:rPr lang="en-US" sz="1103" b="1" dirty="0">
                <a:solidFill>
                  <a:schemeClr val="bg1"/>
                </a:solidFill>
              </a:rPr>
              <a:t>Sub-Modules</a:t>
            </a:r>
          </a:p>
        </p:txBody>
      </p:sp>
      <p:sp>
        <p:nvSpPr>
          <p:cNvPr id="176" name="Rectangle 175"/>
          <p:cNvSpPr/>
          <p:nvPr/>
        </p:nvSpPr>
        <p:spPr bwMode="gray">
          <a:xfrm>
            <a:off x="5008621" y="4323698"/>
            <a:ext cx="1370760" cy="358264"/>
          </a:xfrm>
          <a:prstGeom prst="rect">
            <a:avLst/>
          </a:prstGeom>
          <a:solidFill>
            <a:srgbClr val="2C5234"/>
          </a:solidFill>
          <a:ln w="38100" algn="ctr">
            <a:solidFill>
              <a:schemeClr val="bg1"/>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78" name="Rectangle 177"/>
          <p:cNvSpPr/>
          <p:nvPr/>
        </p:nvSpPr>
        <p:spPr bwMode="gray">
          <a:xfrm>
            <a:off x="5253724" y="4285564"/>
            <a:ext cx="1104956" cy="441275"/>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Output Fuels</a:t>
            </a:r>
          </a:p>
        </p:txBody>
      </p:sp>
      <p:sp>
        <p:nvSpPr>
          <p:cNvPr id="179" name="Rectangle 178"/>
          <p:cNvSpPr/>
          <p:nvPr/>
        </p:nvSpPr>
        <p:spPr bwMode="gray">
          <a:xfrm>
            <a:off x="6732940" y="4175507"/>
            <a:ext cx="1444503" cy="308939"/>
          </a:xfrm>
          <a:prstGeom prst="rect">
            <a:avLst/>
          </a:prstGeom>
          <a:solidFill>
            <a:srgbClr val="004F59"/>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80" name="Rectangle 179"/>
          <p:cNvSpPr/>
          <p:nvPr/>
        </p:nvSpPr>
        <p:spPr bwMode="gray">
          <a:xfrm>
            <a:off x="7030858" y="4183094"/>
            <a:ext cx="1040440" cy="2715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Electricity</a:t>
            </a:r>
          </a:p>
        </p:txBody>
      </p:sp>
      <p:grpSp>
        <p:nvGrpSpPr>
          <p:cNvPr id="302" name="Group 301"/>
          <p:cNvGrpSpPr/>
          <p:nvPr/>
        </p:nvGrpSpPr>
        <p:grpSpPr>
          <a:xfrm>
            <a:off x="6732940" y="6295605"/>
            <a:ext cx="1499044" cy="308939"/>
            <a:chOff x="5831202" y="5808108"/>
            <a:chExt cx="1359335" cy="280146"/>
          </a:xfrm>
        </p:grpSpPr>
        <p:sp>
          <p:nvSpPr>
            <p:cNvPr id="181" name="Rectangle 180"/>
            <p:cNvSpPr/>
            <p:nvPr/>
          </p:nvSpPr>
          <p:spPr bwMode="gray">
            <a:xfrm>
              <a:off x="5831202" y="5808108"/>
              <a:ext cx="1309877" cy="280146"/>
            </a:xfrm>
            <a:prstGeom prst="rect">
              <a:avLst/>
            </a:prstGeom>
            <a:solidFill>
              <a:srgbClr val="86BC25"/>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82" name="Rectangle 181"/>
            <p:cNvSpPr/>
            <p:nvPr/>
          </p:nvSpPr>
          <p:spPr bwMode="gray">
            <a:xfrm>
              <a:off x="6094882" y="5833539"/>
              <a:ext cx="1095655"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Existing Solar</a:t>
              </a:r>
            </a:p>
          </p:txBody>
        </p:sp>
      </p:grpSp>
      <p:sp>
        <p:nvSpPr>
          <p:cNvPr id="183" name="TextBox 182"/>
          <p:cNvSpPr txBox="1"/>
          <p:nvPr/>
        </p:nvSpPr>
        <p:spPr>
          <a:xfrm>
            <a:off x="6634062" y="3726915"/>
            <a:ext cx="1577918" cy="375564"/>
          </a:xfrm>
          <a:prstGeom prst="roundRect">
            <a:avLst/>
          </a:prstGeom>
          <a:solidFill>
            <a:schemeClr val="accent6">
              <a:lumMod val="50000"/>
            </a:schemeClr>
          </a:solidFill>
        </p:spPr>
        <p:txBody>
          <a:bodyPr wrap="square" lIns="0" tIns="0" rIns="0" bIns="0" rtlCol="0" anchor="ctr">
            <a:spAutoFit/>
          </a:bodyPr>
          <a:lstStyle/>
          <a:p>
            <a:pPr algn="ctr">
              <a:spcBef>
                <a:spcPts val="662"/>
              </a:spcBef>
              <a:buSzPct val="100000"/>
            </a:pPr>
            <a:r>
              <a:rPr lang="en-US" sz="1103" b="1" dirty="0">
                <a:solidFill>
                  <a:schemeClr val="bg1"/>
                </a:solidFill>
              </a:rPr>
              <a:t>Fuel / Conversion Technology</a:t>
            </a:r>
          </a:p>
        </p:txBody>
      </p:sp>
      <p:sp>
        <p:nvSpPr>
          <p:cNvPr id="184" name="TextBox 183"/>
          <p:cNvSpPr txBox="1"/>
          <p:nvPr/>
        </p:nvSpPr>
        <p:spPr>
          <a:xfrm>
            <a:off x="8336005" y="3730600"/>
            <a:ext cx="1548300" cy="375564"/>
          </a:xfrm>
          <a:prstGeom prst="roundRect">
            <a:avLst/>
          </a:prstGeom>
          <a:solidFill>
            <a:schemeClr val="accent6">
              <a:lumMod val="50000"/>
            </a:schemeClr>
          </a:solidFill>
        </p:spPr>
        <p:txBody>
          <a:bodyPr wrap="square" lIns="0" tIns="0" rIns="0" bIns="0" rtlCol="0" anchor="ctr">
            <a:spAutoFit/>
          </a:bodyPr>
          <a:lstStyle/>
          <a:p>
            <a:pPr algn="ctr">
              <a:spcBef>
                <a:spcPts val="662"/>
              </a:spcBef>
              <a:buSzPct val="100000"/>
            </a:pPr>
            <a:r>
              <a:rPr lang="en-US" sz="1103" b="1" dirty="0">
                <a:solidFill>
                  <a:schemeClr val="bg1"/>
                </a:solidFill>
              </a:rPr>
              <a:t>Feedstock / Auxiliary Fuel</a:t>
            </a:r>
          </a:p>
        </p:txBody>
      </p:sp>
      <p:grpSp>
        <p:nvGrpSpPr>
          <p:cNvPr id="218" name="Group 217"/>
          <p:cNvGrpSpPr/>
          <p:nvPr/>
        </p:nvGrpSpPr>
        <p:grpSpPr>
          <a:xfrm>
            <a:off x="5001791" y="4846954"/>
            <a:ext cx="1377590" cy="352329"/>
            <a:chOff x="3961141" y="4384682"/>
            <a:chExt cx="1249200" cy="319492"/>
          </a:xfrm>
        </p:grpSpPr>
        <p:sp>
          <p:nvSpPr>
            <p:cNvPr id="219" name="Rectangle 218"/>
            <p:cNvSpPr/>
            <p:nvPr/>
          </p:nvSpPr>
          <p:spPr bwMode="gray">
            <a:xfrm>
              <a:off x="3961141" y="4384682"/>
              <a:ext cx="1249200" cy="319492"/>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20" name="Rectangle 219"/>
            <p:cNvSpPr/>
            <p:nvPr/>
          </p:nvSpPr>
          <p:spPr bwMode="gray">
            <a:xfrm>
              <a:off x="4276392" y="4421307"/>
              <a:ext cx="827993"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Processes</a:t>
              </a:r>
            </a:p>
          </p:txBody>
        </p:sp>
      </p:grpSp>
      <p:grpSp>
        <p:nvGrpSpPr>
          <p:cNvPr id="301" name="Group 300"/>
          <p:cNvGrpSpPr/>
          <p:nvPr/>
        </p:nvGrpSpPr>
        <p:grpSpPr>
          <a:xfrm>
            <a:off x="6726109" y="6651972"/>
            <a:ext cx="1451333" cy="308939"/>
            <a:chOff x="5825009" y="6120629"/>
            <a:chExt cx="1316070" cy="280146"/>
          </a:xfrm>
        </p:grpSpPr>
        <p:sp>
          <p:nvSpPr>
            <p:cNvPr id="223" name="Rectangle 222"/>
            <p:cNvSpPr/>
            <p:nvPr/>
          </p:nvSpPr>
          <p:spPr bwMode="gray">
            <a:xfrm>
              <a:off x="5825009" y="6120629"/>
              <a:ext cx="1316070" cy="280146"/>
            </a:xfrm>
            <a:prstGeom prst="rect">
              <a:avLst/>
            </a:prstGeom>
            <a:solidFill>
              <a:srgbClr val="43B02A"/>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24" name="Rectangle 223"/>
            <p:cNvSpPr/>
            <p:nvPr/>
          </p:nvSpPr>
          <p:spPr bwMode="gray">
            <a:xfrm>
              <a:off x="6137428" y="6135641"/>
              <a:ext cx="846461"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New Solar</a:t>
              </a:r>
            </a:p>
          </p:txBody>
        </p:sp>
      </p:grpSp>
      <p:grpSp>
        <p:nvGrpSpPr>
          <p:cNvPr id="305" name="Group 304"/>
          <p:cNvGrpSpPr/>
          <p:nvPr/>
        </p:nvGrpSpPr>
        <p:grpSpPr>
          <a:xfrm>
            <a:off x="6732940" y="5146021"/>
            <a:ext cx="1475553" cy="441276"/>
            <a:chOff x="5831202" y="4818826"/>
            <a:chExt cx="1338035" cy="400149"/>
          </a:xfrm>
        </p:grpSpPr>
        <p:sp>
          <p:nvSpPr>
            <p:cNvPr id="226" name="Rectangle 225"/>
            <p:cNvSpPr/>
            <p:nvPr/>
          </p:nvSpPr>
          <p:spPr bwMode="gray">
            <a:xfrm>
              <a:off x="5831202" y="4878202"/>
              <a:ext cx="1303295" cy="280146"/>
            </a:xfrm>
            <a:prstGeom prst="rect">
              <a:avLst/>
            </a:prstGeom>
            <a:solidFill>
              <a:schemeClr val="accent6">
                <a:lumMod val="75000"/>
              </a:schemeClr>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27" name="Rectangle 226"/>
            <p:cNvSpPr/>
            <p:nvPr/>
          </p:nvSpPr>
          <p:spPr bwMode="gray">
            <a:xfrm>
              <a:off x="6093704" y="4818826"/>
              <a:ext cx="1075533" cy="4001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Existing Coal Steam</a:t>
              </a:r>
            </a:p>
          </p:txBody>
        </p:sp>
      </p:grpSp>
      <p:cxnSp>
        <p:nvCxnSpPr>
          <p:cNvPr id="238" name="Elbow Connector 237"/>
          <p:cNvCxnSpPr>
            <a:stCxn id="162" idx="3"/>
            <a:endCxn id="176" idx="1"/>
          </p:cNvCxnSpPr>
          <p:nvPr/>
        </p:nvCxnSpPr>
        <p:spPr>
          <a:xfrm>
            <a:off x="4689924" y="4502684"/>
            <a:ext cx="318697" cy="146"/>
          </a:xfrm>
          <a:prstGeom prst="bentConnector3">
            <a:avLst>
              <a:gd name="adj1"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0" name="Elbow Connector 239"/>
          <p:cNvCxnSpPr>
            <a:stCxn id="219" idx="3"/>
            <a:endCxn id="226" idx="1"/>
          </p:cNvCxnSpPr>
          <p:nvPr/>
        </p:nvCxnSpPr>
        <p:spPr>
          <a:xfrm>
            <a:off x="6379381" y="5023115"/>
            <a:ext cx="353558" cy="342848"/>
          </a:xfrm>
          <a:prstGeom prst="bentConnector3">
            <a:avLst>
              <a:gd name="adj1"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57" name="Trapezoid 256"/>
          <p:cNvSpPr/>
          <p:nvPr/>
        </p:nvSpPr>
        <p:spPr bwMode="gray">
          <a:xfrm rot="16200000">
            <a:off x="800547" y="4798777"/>
            <a:ext cx="3472080" cy="1118446"/>
          </a:xfrm>
          <a:prstGeom prst="trapezoid">
            <a:avLst/>
          </a:prstGeom>
          <a:solidFill>
            <a:schemeClr val="accent3">
              <a:alpha val="60000"/>
            </a:schemeClr>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258" name="TextBox 257"/>
          <p:cNvSpPr txBox="1"/>
          <p:nvPr/>
        </p:nvSpPr>
        <p:spPr>
          <a:xfrm>
            <a:off x="717326" y="4929523"/>
            <a:ext cx="1897166" cy="1078365"/>
          </a:xfrm>
          <a:prstGeom prst="roundRect">
            <a:avLst/>
          </a:prstGeom>
          <a:solidFill>
            <a:schemeClr val="accent6"/>
          </a:solidFill>
          <a:ln>
            <a:solidFill>
              <a:schemeClr val="bg1"/>
            </a:solidFill>
          </a:ln>
        </p:spPr>
        <p:txBody>
          <a:bodyPr wrap="square" lIns="79400" tIns="79400" rIns="79400" bIns="79400" rtlCol="0" anchor="ctr">
            <a:spAutoFit/>
          </a:bodyPr>
          <a:lstStyle/>
          <a:p>
            <a:pPr>
              <a:spcBef>
                <a:spcPts val="662"/>
              </a:spcBef>
              <a:buSzPct val="100000"/>
            </a:pPr>
            <a:r>
              <a:rPr lang="en-US" sz="1323" b="1" dirty="0">
                <a:solidFill>
                  <a:schemeClr val="bg1"/>
                </a:solidFill>
              </a:rPr>
              <a:t>Transformation Tree for Electricity Generation</a:t>
            </a:r>
            <a:endParaRPr lang="en-IN" sz="1323" b="1" dirty="0">
              <a:solidFill>
                <a:schemeClr val="bg1"/>
              </a:solidFill>
            </a:endParaRPr>
          </a:p>
        </p:txBody>
      </p:sp>
      <p:sp>
        <p:nvSpPr>
          <p:cNvPr id="262" name="TextBox 261"/>
          <p:cNvSpPr txBox="1"/>
          <p:nvPr/>
        </p:nvSpPr>
        <p:spPr>
          <a:xfrm>
            <a:off x="721191" y="4240186"/>
            <a:ext cx="1905600" cy="276487"/>
          </a:xfrm>
          <a:prstGeom prst="roundRect">
            <a:avLst/>
          </a:prstGeom>
          <a:solidFill>
            <a:schemeClr val="tx1"/>
          </a:solidFill>
          <a:ln>
            <a:solidFill>
              <a:schemeClr val="bg1"/>
            </a:solidFill>
          </a:ln>
        </p:spPr>
        <p:txBody>
          <a:bodyPr wrap="square" lIns="39700" tIns="39700" rIns="39700" bIns="39700" rtlCol="0">
            <a:spAutoFit/>
          </a:bodyPr>
          <a:lstStyle/>
          <a:p>
            <a:pPr algn="ctr">
              <a:spcBef>
                <a:spcPts val="662"/>
              </a:spcBef>
              <a:buSzPct val="100000"/>
            </a:pPr>
            <a:r>
              <a:rPr lang="en-US" sz="1103" b="1" dirty="0">
                <a:solidFill>
                  <a:schemeClr val="bg1"/>
                </a:solidFill>
              </a:rPr>
              <a:t>Illustration</a:t>
            </a:r>
            <a:endParaRPr lang="en-IN" sz="1103" b="1" dirty="0">
              <a:solidFill>
                <a:schemeClr val="bg1"/>
              </a:solidFill>
            </a:endParaRPr>
          </a:p>
        </p:txBody>
      </p:sp>
      <p:sp>
        <p:nvSpPr>
          <p:cNvPr id="281" name="Freeform 88"/>
          <p:cNvSpPr>
            <a:spLocks noEditPoints="1"/>
          </p:cNvSpPr>
          <p:nvPr/>
        </p:nvSpPr>
        <p:spPr bwMode="auto">
          <a:xfrm>
            <a:off x="3384073" y="4345726"/>
            <a:ext cx="245913" cy="314058"/>
          </a:xfrm>
          <a:custGeom>
            <a:avLst/>
            <a:gdLst>
              <a:gd name="T0" fmla="*/ 214 w 251"/>
              <a:gd name="T1" fmla="*/ 117 h 320"/>
              <a:gd name="T2" fmla="*/ 203 w 251"/>
              <a:gd name="T3" fmla="*/ 117 h 320"/>
              <a:gd name="T4" fmla="*/ 192 w 251"/>
              <a:gd name="T5" fmla="*/ 106 h 320"/>
              <a:gd name="T6" fmla="*/ 203 w 251"/>
              <a:gd name="T7" fmla="*/ 96 h 320"/>
              <a:gd name="T8" fmla="*/ 214 w 251"/>
              <a:gd name="T9" fmla="*/ 96 h 320"/>
              <a:gd name="T10" fmla="*/ 230 w 251"/>
              <a:gd name="T11" fmla="*/ 80 h 320"/>
              <a:gd name="T12" fmla="*/ 214 w 251"/>
              <a:gd name="T13" fmla="*/ 64 h 320"/>
              <a:gd name="T14" fmla="*/ 203 w 251"/>
              <a:gd name="T15" fmla="*/ 53 h 320"/>
              <a:gd name="T16" fmla="*/ 171 w 251"/>
              <a:gd name="T17" fmla="*/ 21 h 320"/>
              <a:gd name="T18" fmla="*/ 140 w 251"/>
              <a:gd name="T19" fmla="*/ 47 h 320"/>
              <a:gd name="T20" fmla="*/ 134 w 251"/>
              <a:gd name="T21" fmla="*/ 54 h 320"/>
              <a:gd name="T22" fmla="*/ 125 w 251"/>
              <a:gd name="T23" fmla="*/ 54 h 320"/>
              <a:gd name="T24" fmla="*/ 96 w 251"/>
              <a:gd name="T25" fmla="*/ 74 h 320"/>
              <a:gd name="T26" fmla="*/ 86 w 251"/>
              <a:gd name="T27" fmla="*/ 85 h 320"/>
              <a:gd name="T28" fmla="*/ 75 w 251"/>
              <a:gd name="T29" fmla="*/ 74 h 320"/>
              <a:gd name="T30" fmla="*/ 122 w 251"/>
              <a:gd name="T31" fmla="*/ 32 h 320"/>
              <a:gd name="T32" fmla="*/ 171 w 251"/>
              <a:gd name="T33" fmla="*/ 0 h 320"/>
              <a:gd name="T34" fmla="*/ 224 w 251"/>
              <a:gd name="T35" fmla="*/ 44 h 320"/>
              <a:gd name="T36" fmla="*/ 251 w 251"/>
              <a:gd name="T37" fmla="*/ 80 h 320"/>
              <a:gd name="T38" fmla="*/ 214 w 251"/>
              <a:gd name="T39" fmla="*/ 117 h 320"/>
              <a:gd name="T40" fmla="*/ 192 w 251"/>
              <a:gd name="T41" fmla="*/ 316 h 320"/>
              <a:gd name="T42" fmla="*/ 194 w 251"/>
              <a:gd name="T43" fmla="*/ 307 h 320"/>
              <a:gd name="T44" fmla="*/ 171 w 251"/>
              <a:gd name="T45" fmla="*/ 191 h 320"/>
              <a:gd name="T46" fmla="*/ 171 w 251"/>
              <a:gd name="T47" fmla="*/ 128 h 320"/>
              <a:gd name="T48" fmla="*/ 164 w 251"/>
              <a:gd name="T49" fmla="*/ 118 h 320"/>
              <a:gd name="T50" fmla="*/ 96 w 251"/>
              <a:gd name="T51" fmla="*/ 106 h 320"/>
              <a:gd name="T52" fmla="*/ 29 w 251"/>
              <a:gd name="T53" fmla="*/ 118 h 320"/>
              <a:gd name="T54" fmla="*/ 22 w 251"/>
              <a:gd name="T55" fmla="*/ 128 h 320"/>
              <a:gd name="T56" fmla="*/ 22 w 251"/>
              <a:gd name="T57" fmla="*/ 191 h 320"/>
              <a:gd name="T58" fmla="*/ 1 w 251"/>
              <a:gd name="T59" fmla="*/ 307 h 320"/>
              <a:gd name="T60" fmla="*/ 3 w 251"/>
              <a:gd name="T61" fmla="*/ 316 h 320"/>
              <a:gd name="T62" fmla="*/ 11 w 251"/>
              <a:gd name="T63" fmla="*/ 320 h 320"/>
              <a:gd name="T64" fmla="*/ 183 w 251"/>
              <a:gd name="T65" fmla="*/ 320 h 320"/>
              <a:gd name="T66" fmla="*/ 192 w 251"/>
              <a:gd name="T67" fmla="*/ 316 h 320"/>
              <a:gd name="T68" fmla="*/ 43 w 251"/>
              <a:gd name="T69" fmla="*/ 194 h 320"/>
              <a:gd name="T70" fmla="*/ 43 w 251"/>
              <a:gd name="T71" fmla="*/ 192 h 320"/>
              <a:gd name="T72" fmla="*/ 43 w 251"/>
              <a:gd name="T73" fmla="*/ 136 h 320"/>
              <a:gd name="T74" fmla="*/ 96 w 251"/>
              <a:gd name="T75" fmla="*/ 128 h 320"/>
              <a:gd name="T76" fmla="*/ 150 w 251"/>
              <a:gd name="T77" fmla="*/ 136 h 320"/>
              <a:gd name="T78" fmla="*/ 150 w 251"/>
              <a:gd name="T79" fmla="*/ 192 h 320"/>
              <a:gd name="T80" fmla="*/ 150 w 251"/>
              <a:gd name="T81" fmla="*/ 194 h 320"/>
              <a:gd name="T82" fmla="*/ 170 w 251"/>
              <a:gd name="T83" fmla="*/ 298 h 320"/>
              <a:gd name="T84" fmla="*/ 24 w 251"/>
              <a:gd name="T85" fmla="*/ 298 h 320"/>
              <a:gd name="T86" fmla="*/ 43 w 251"/>
              <a:gd name="T87" fmla="*/ 19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1" h="320">
                <a:moveTo>
                  <a:pt x="214" y="117"/>
                </a:moveTo>
                <a:cubicBezTo>
                  <a:pt x="203" y="117"/>
                  <a:pt x="203" y="117"/>
                  <a:pt x="203" y="117"/>
                </a:cubicBezTo>
                <a:cubicBezTo>
                  <a:pt x="197" y="117"/>
                  <a:pt x="192" y="112"/>
                  <a:pt x="192" y="106"/>
                </a:cubicBezTo>
                <a:cubicBezTo>
                  <a:pt x="192" y="100"/>
                  <a:pt x="197" y="96"/>
                  <a:pt x="203" y="96"/>
                </a:cubicBezTo>
                <a:cubicBezTo>
                  <a:pt x="214" y="96"/>
                  <a:pt x="214" y="96"/>
                  <a:pt x="214" y="96"/>
                </a:cubicBezTo>
                <a:cubicBezTo>
                  <a:pt x="222" y="96"/>
                  <a:pt x="230" y="88"/>
                  <a:pt x="230" y="80"/>
                </a:cubicBezTo>
                <a:cubicBezTo>
                  <a:pt x="230" y="71"/>
                  <a:pt x="222" y="64"/>
                  <a:pt x="214" y="64"/>
                </a:cubicBezTo>
                <a:cubicBezTo>
                  <a:pt x="208" y="64"/>
                  <a:pt x="203" y="59"/>
                  <a:pt x="203" y="53"/>
                </a:cubicBezTo>
                <a:cubicBezTo>
                  <a:pt x="203" y="35"/>
                  <a:pt x="189" y="21"/>
                  <a:pt x="171" y="21"/>
                </a:cubicBezTo>
                <a:cubicBezTo>
                  <a:pt x="156" y="21"/>
                  <a:pt x="143" y="32"/>
                  <a:pt x="140" y="47"/>
                </a:cubicBezTo>
                <a:cubicBezTo>
                  <a:pt x="139" y="50"/>
                  <a:pt x="137" y="52"/>
                  <a:pt x="134" y="54"/>
                </a:cubicBezTo>
                <a:cubicBezTo>
                  <a:pt x="132" y="55"/>
                  <a:pt x="128" y="56"/>
                  <a:pt x="125" y="54"/>
                </a:cubicBezTo>
                <a:cubicBezTo>
                  <a:pt x="111" y="49"/>
                  <a:pt x="96" y="60"/>
                  <a:pt x="96" y="74"/>
                </a:cubicBezTo>
                <a:cubicBezTo>
                  <a:pt x="96" y="80"/>
                  <a:pt x="92" y="85"/>
                  <a:pt x="86" y="85"/>
                </a:cubicBezTo>
                <a:cubicBezTo>
                  <a:pt x="80" y="85"/>
                  <a:pt x="75" y="80"/>
                  <a:pt x="75" y="74"/>
                </a:cubicBezTo>
                <a:cubicBezTo>
                  <a:pt x="75" y="49"/>
                  <a:pt x="97" y="29"/>
                  <a:pt x="122" y="32"/>
                </a:cubicBezTo>
                <a:cubicBezTo>
                  <a:pt x="130" y="13"/>
                  <a:pt x="149" y="0"/>
                  <a:pt x="171" y="0"/>
                </a:cubicBezTo>
                <a:cubicBezTo>
                  <a:pt x="197" y="0"/>
                  <a:pt x="219" y="19"/>
                  <a:pt x="224" y="44"/>
                </a:cubicBezTo>
                <a:cubicBezTo>
                  <a:pt x="239" y="48"/>
                  <a:pt x="251" y="62"/>
                  <a:pt x="251" y="80"/>
                </a:cubicBezTo>
                <a:cubicBezTo>
                  <a:pt x="251" y="100"/>
                  <a:pt x="234" y="117"/>
                  <a:pt x="214" y="117"/>
                </a:cubicBezTo>
                <a:close/>
                <a:moveTo>
                  <a:pt x="192" y="316"/>
                </a:moveTo>
                <a:cubicBezTo>
                  <a:pt x="194" y="313"/>
                  <a:pt x="195" y="310"/>
                  <a:pt x="194" y="307"/>
                </a:cubicBezTo>
                <a:cubicBezTo>
                  <a:pt x="171" y="191"/>
                  <a:pt x="171" y="191"/>
                  <a:pt x="171" y="191"/>
                </a:cubicBezTo>
                <a:cubicBezTo>
                  <a:pt x="171" y="128"/>
                  <a:pt x="171" y="128"/>
                  <a:pt x="171" y="128"/>
                </a:cubicBezTo>
                <a:cubicBezTo>
                  <a:pt x="171" y="123"/>
                  <a:pt x="168" y="119"/>
                  <a:pt x="164" y="118"/>
                </a:cubicBezTo>
                <a:cubicBezTo>
                  <a:pt x="162" y="117"/>
                  <a:pt x="129" y="106"/>
                  <a:pt x="96" y="106"/>
                </a:cubicBezTo>
                <a:cubicBezTo>
                  <a:pt x="63" y="106"/>
                  <a:pt x="30" y="117"/>
                  <a:pt x="29" y="118"/>
                </a:cubicBezTo>
                <a:cubicBezTo>
                  <a:pt x="25" y="119"/>
                  <a:pt x="22" y="123"/>
                  <a:pt x="22" y="128"/>
                </a:cubicBezTo>
                <a:cubicBezTo>
                  <a:pt x="22" y="191"/>
                  <a:pt x="22" y="191"/>
                  <a:pt x="22" y="191"/>
                </a:cubicBezTo>
                <a:cubicBezTo>
                  <a:pt x="1" y="307"/>
                  <a:pt x="1" y="307"/>
                  <a:pt x="1" y="307"/>
                </a:cubicBezTo>
                <a:cubicBezTo>
                  <a:pt x="0" y="310"/>
                  <a:pt x="1" y="313"/>
                  <a:pt x="3" y="316"/>
                </a:cubicBezTo>
                <a:cubicBezTo>
                  <a:pt x="5" y="318"/>
                  <a:pt x="8" y="320"/>
                  <a:pt x="11" y="320"/>
                </a:cubicBezTo>
                <a:cubicBezTo>
                  <a:pt x="183" y="320"/>
                  <a:pt x="183" y="320"/>
                  <a:pt x="183" y="320"/>
                </a:cubicBezTo>
                <a:cubicBezTo>
                  <a:pt x="187" y="320"/>
                  <a:pt x="190" y="318"/>
                  <a:pt x="192" y="316"/>
                </a:cubicBezTo>
                <a:close/>
                <a:moveTo>
                  <a:pt x="43" y="194"/>
                </a:moveTo>
                <a:cubicBezTo>
                  <a:pt x="43" y="193"/>
                  <a:pt x="43" y="192"/>
                  <a:pt x="43" y="192"/>
                </a:cubicBezTo>
                <a:cubicBezTo>
                  <a:pt x="43" y="136"/>
                  <a:pt x="43" y="136"/>
                  <a:pt x="43" y="136"/>
                </a:cubicBezTo>
                <a:cubicBezTo>
                  <a:pt x="54" y="133"/>
                  <a:pt x="75" y="128"/>
                  <a:pt x="96" y="128"/>
                </a:cubicBezTo>
                <a:cubicBezTo>
                  <a:pt x="117" y="128"/>
                  <a:pt x="139" y="133"/>
                  <a:pt x="150" y="136"/>
                </a:cubicBezTo>
                <a:cubicBezTo>
                  <a:pt x="150" y="192"/>
                  <a:pt x="150" y="192"/>
                  <a:pt x="150" y="192"/>
                </a:cubicBezTo>
                <a:cubicBezTo>
                  <a:pt x="150" y="192"/>
                  <a:pt x="150" y="193"/>
                  <a:pt x="150" y="194"/>
                </a:cubicBezTo>
                <a:cubicBezTo>
                  <a:pt x="170" y="298"/>
                  <a:pt x="170" y="298"/>
                  <a:pt x="170" y="298"/>
                </a:cubicBezTo>
                <a:cubicBezTo>
                  <a:pt x="24" y="298"/>
                  <a:pt x="24" y="298"/>
                  <a:pt x="24" y="298"/>
                </a:cubicBezTo>
                <a:lnTo>
                  <a:pt x="43" y="194"/>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282" name="Freeform 57"/>
          <p:cNvSpPr>
            <a:spLocks noEditPoints="1"/>
          </p:cNvSpPr>
          <p:nvPr/>
        </p:nvSpPr>
        <p:spPr bwMode="auto">
          <a:xfrm>
            <a:off x="3386029" y="5832266"/>
            <a:ext cx="265585" cy="256615"/>
          </a:xfrm>
          <a:custGeom>
            <a:avLst/>
            <a:gdLst>
              <a:gd name="T0" fmla="*/ 267 w 283"/>
              <a:gd name="T1" fmla="*/ 268 h 289"/>
              <a:gd name="T2" fmla="*/ 267 w 283"/>
              <a:gd name="T3" fmla="*/ 135 h 289"/>
              <a:gd name="T4" fmla="*/ 264 w 283"/>
              <a:gd name="T5" fmla="*/ 63 h 289"/>
              <a:gd name="T6" fmla="*/ 264 w 283"/>
              <a:gd name="T7" fmla="*/ 63 h 289"/>
              <a:gd name="T8" fmla="*/ 243 w 283"/>
              <a:gd name="T9" fmla="*/ 20 h 289"/>
              <a:gd name="T10" fmla="*/ 196 w 283"/>
              <a:gd name="T11" fmla="*/ 9 h 289"/>
              <a:gd name="T12" fmla="*/ 176 w 283"/>
              <a:gd name="T13" fmla="*/ 53 h 289"/>
              <a:gd name="T14" fmla="*/ 189 w 283"/>
              <a:gd name="T15" fmla="*/ 82 h 289"/>
              <a:gd name="T16" fmla="*/ 27 w 283"/>
              <a:gd name="T17" fmla="*/ 173 h 289"/>
              <a:gd name="T18" fmla="*/ 21 w 283"/>
              <a:gd name="T19" fmla="*/ 183 h 289"/>
              <a:gd name="T20" fmla="*/ 21 w 283"/>
              <a:gd name="T21" fmla="*/ 215 h 289"/>
              <a:gd name="T22" fmla="*/ 11 w 283"/>
              <a:gd name="T23" fmla="*/ 215 h 289"/>
              <a:gd name="T24" fmla="*/ 0 w 283"/>
              <a:gd name="T25" fmla="*/ 225 h 289"/>
              <a:gd name="T26" fmla="*/ 0 w 283"/>
              <a:gd name="T27" fmla="*/ 279 h 289"/>
              <a:gd name="T28" fmla="*/ 11 w 283"/>
              <a:gd name="T29" fmla="*/ 289 h 289"/>
              <a:gd name="T30" fmla="*/ 53 w 283"/>
              <a:gd name="T31" fmla="*/ 289 h 289"/>
              <a:gd name="T32" fmla="*/ 267 w 283"/>
              <a:gd name="T33" fmla="*/ 289 h 289"/>
              <a:gd name="T34" fmla="*/ 277 w 283"/>
              <a:gd name="T35" fmla="*/ 279 h 289"/>
              <a:gd name="T36" fmla="*/ 267 w 283"/>
              <a:gd name="T37" fmla="*/ 268 h 289"/>
              <a:gd name="T38" fmla="*/ 179 w 283"/>
              <a:gd name="T39" fmla="*/ 268 h 289"/>
              <a:gd name="T40" fmla="*/ 149 w 283"/>
              <a:gd name="T41" fmla="*/ 129 h 289"/>
              <a:gd name="T42" fmla="*/ 200 w 283"/>
              <a:gd name="T43" fmla="*/ 100 h 289"/>
              <a:gd name="T44" fmla="*/ 245 w 283"/>
              <a:gd name="T45" fmla="*/ 141 h 289"/>
              <a:gd name="T46" fmla="*/ 245 w 283"/>
              <a:gd name="T47" fmla="*/ 268 h 289"/>
              <a:gd name="T48" fmla="*/ 179 w 283"/>
              <a:gd name="T49" fmla="*/ 268 h 289"/>
              <a:gd name="T50" fmla="*/ 157 w 283"/>
              <a:gd name="T51" fmla="*/ 268 h 289"/>
              <a:gd name="T52" fmla="*/ 120 w 283"/>
              <a:gd name="T53" fmla="*/ 268 h 289"/>
              <a:gd name="T54" fmla="*/ 139 w 283"/>
              <a:gd name="T55" fmla="*/ 180 h 289"/>
              <a:gd name="T56" fmla="*/ 157 w 283"/>
              <a:gd name="T57" fmla="*/ 268 h 289"/>
              <a:gd name="T58" fmla="*/ 205 w 283"/>
              <a:gd name="T59" fmla="*/ 28 h 289"/>
              <a:gd name="T60" fmla="*/ 214 w 283"/>
              <a:gd name="T61" fmla="*/ 26 h 289"/>
              <a:gd name="T62" fmla="*/ 226 w 283"/>
              <a:gd name="T63" fmla="*/ 34 h 289"/>
              <a:gd name="T64" fmla="*/ 244 w 283"/>
              <a:gd name="T65" fmla="*/ 70 h 289"/>
              <a:gd name="T66" fmla="*/ 251 w 283"/>
              <a:gd name="T67" fmla="*/ 120 h 289"/>
              <a:gd name="T68" fmla="*/ 216 w 283"/>
              <a:gd name="T69" fmla="*/ 85 h 289"/>
              <a:gd name="T70" fmla="*/ 197 w 283"/>
              <a:gd name="T71" fmla="*/ 48 h 289"/>
              <a:gd name="T72" fmla="*/ 205 w 283"/>
              <a:gd name="T73" fmla="*/ 28 h 289"/>
              <a:gd name="T74" fmla="*/ 43 w 283"/>
              <a:gd name="T75" fmla="*/ 189 h 289"/>
              <a:gd name="T76" fmla="*/ 125 w 283"/>
              <a:gd name="T77" fmla="*/ 143 h 289"/>
              <a:gd name="T78" fmla="*/ 98 w 283"/>
              <a:gd name="T79" fmla="*/ 268 h 289"/>
              <a:gd name="T80" fmla="*/ 64 w 283"/>
              <a:gd name="T81" fmla="*/ 268 h 289"/>
              <a:gd name="T82" fmla="*/ 64 w 283"/>
              <a:gd name="T83" fmla="*/ 225 h 289"/>
              <a:gd name="T84" fmla="*/ 53 w 283"/>
              <a:gd name="T85" fmla="*/ 215 h 289"/>
              <a:gd name="T86" fmla="*/ 43 w 283"/>
              <a:gd name="T87" fmla="*/ 215 h 289"/>
              <a:gd name="T88" fmla="*/ 43 w 283"/>
              <a:gd name="T89" fmla="*/ 189 h 289"/>
              <a:gd name="T90" fmla="*/ 21 w 283"/>
              <a:gd name="T91" fmla="*/ 236 h 289"/>
              <a:gd name="T92" fmla="*/ 43 w 283"/>
              <a:gd name="T93" fmla="*/ 236 h 289"/>
              <a:gd name="T94" fmla="*/ 43 w 283"/>
              <a:gd name="T95" fmla="*/ 268 h 289"/>
              <a:gd name="T96" fmla="*/ 21 w 283"/>
              <a:gd name="T97" fmla="*/ 268 h 289"/>
              <a:gd name="T98" fmla="*/ 21 w 283"/>
              <a:gd name="T99" fmla="*/ 236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3" h="289">
                <a:moveTo>
                  <a:pt x="267" y="268"/>
                </a:moveTo>
                <a:cubicBezTo>
                  <a:pt x="267" y="135"/>
                  <a:pt x="267" y="135"/>
                  <a:pt x="267" y="135"/>
                </a:cubicBezTo>
                <a:cubicBezTo>
                  <a:pt x="283" y="121"/>
                  <a:pt x="275" y="92"/>
                  <a:pt x="264" y="63"/>
                </a:cubicBezTo>
                <a:cubicBezTo>
                  <a:pt x="264" y="63"/>
                  <a:pt x="264" y="63"/>
                  <a:pt x="264" y="63"/>
                </a:cubicBezTo>
                <a:cubicBezTo>
                  <a:pt x="261" y="53"/>
                  <a:pt x="251" y="30"/>
                  <a:pt x="243" y="20"/>
                </a:cubicBezTo>
                <a:cubicBezTo>
                  <a:pt x="229" y="4"/>
                  <a:pt x="214" y="0"/>
                  <a:pt x="196" y="9"/>
                </a:cubicBezTo>
                <a:cubicBezTo>
                  <a:pt x="178" y="18"/>
                  <a:pt x="171" y="33"/>
                  <a:pt x="176" y="53"/>
                </a:cubicBezTo>
                <a:cubicBezTo>
                  <a:pt x="178" y="59"/>
                  <a:pt x="182" y="69"/>
                  <a:pt x="189" y="82"/>
                </a:cubicBezTo>
                <a:cubicBezTo>
                  <a:pt x="27" y="173"/>
                  <a:pt x="27" y="173"/>
                  <a:pt x="27" y="173"/>
                </a:cubicBezTo>
                <a:cubicBezTo>
                  <a:pt x="23" y="175"/>
                  <a:pt x="21" y="179"/>
                  <a:pt x="21" y="183"/>
                </a:cubicBezTo>
                <a:cubicBezTo>
                  <a:pt x="21" y="215"/>
                  <a:pt x="21" y="215"/>
                  <a:pt x="21" y="215"/>
                </a:cubicBezTo>
                <a:cubicBezTo>
                  <a:pt x="11" y="215"/>
                  <a:pt x="11" y="215"/>
                  <a:pt x="11" y="215"/>
                </a:cubicBezTo>
                <a:cubicBezTo>
                  <a:pt x="5" y="215"/>
                  <a:pt x="0" y="219"/>
                  <a:pt x="0" y="225"/>
                </a:cubicBezTo>
                <a:cubicBezTo>
                  <a:pt x="0" y="279"/>
                  <a:pt x="0" y="279"/>
                  <a:pt x="0" y="279"/>
                </a:cubicBezTo>
                <a:cubicBezTo>
                  <a:pt x="0" y="285"/>
                  <a:pt x="5" y="289"/>
                  <a:pt x="11" y="289"/>
                </a:cubicBezTo>
                <a:cubicBezTo>
                  <a:pt x="53" y="289"/>
                  <a:pt x="53" y="289"/>
                  <a:pt x="53" y="289"/>
                </a:cubicBezTo>
                <a:cubicBezTo>
                  <a:pt x="267" y="289"/>
                  <a:pt x="267" y="289"/>
                  <a:pt x="267" y="289"/>
                </a:cubicBezTo>
                <a:cubicBezTo>
                  <a:pt x="273" y="289"/>
                  <a:pt x="277" y="285"/>
                  <a:pt x="277" y="279"/>
                </a:cubicBezTo>
                <a:cubicBezTo>
                  <a:pt x="277" y="273"/>
                  <a:pt x="273" y="268"/>
                  <a:pt x="267" y="268"/>
                </a:cubicBezTo>
                <a:close/>
                <a:moveTo>
                  <a:pt x="179" y="268"/>
                </a:moveTo>
                <a:cubicBezTo>
                  <a:pt x="149" y="129"/>
                  <a:pt x="149" y="129"/>
                  <a:pt x="149" y="129"/>
                </a:cubicBezTo>
                <a:cubicBezTo>
                  <a:pt x="200" y="100"/>
                  <a:pt x="200" y="100"/>
                  <a:pt x="200" y="100"/>
                </a:cubicBezTo>
                <a:cubicBezTo>
                  <a:pt x="216" y="125"/>
                  <a:pt x="231" y="139"/>
                  <a:pt x="245" y="141"/>
                </a:cubicBezTo>
                <a:cubicBezTo>
                  <a:pt x="245" y="268"/>
                  <a:pt x="245" y="268"/>
                  <a:pt x="245" y="268"/>
                </a:cubicBezTo>
                <a:lnTo>
                  <a:pt x="179" y="268"/>
                </a:lnTo>
                <a:close/>
                <a:moveTo>
                  <a:pt x="157" y="268"/>
                </a:moveTo>
                <a:cubicBezTo>
                  <a:pt x="120" y="268"/>
                  <a:pt x="120" y="268"/>
                  <a:pt x="120" y="268"/>
                </a:cubicBezTo>
                <a:cubicBezTo>
                  <a:pt x="139" y="180"/>
                  <a:pt x="139" y="180"/>
                  <a:pt x="139" y="180"/>
                </a:cubicBezTo>
                <a:lnTo>
                  <a:pt x="157" y="268"/>
                </a:lnTo>
                <a:close/>
                <a:moveTo>
                  <a:pt x="205" y="28"/>
                </a:moveTo>
                <a:cubicBezTo>
                  <a:pt x="208" y="27"/>
                  <a:pt x="211" y="26"/>
                  <a:pt x="214" y="26"/>
                </a:cubicBezTo>
                <a:cubicBezTo>
                  <a:pt x="217" y="26"/>
                  <a:pt x="221" y="28"/>
                  <a:pt x="226" y="34"/>
                </a:cubicBezTo>
                <a:cubicBezTo>
                  <a:pt x="231" y="39"/>
                  <a:pt x="240" y="58"/>
                  <a:pt x="244" y="70"/>
                </a:cubicBezTo>
                <a:cubicBezTo>
                  <a:pt x="259" y="110"/>
                  <a:pt x="255" y="118"/>
                  <a:pt x="251" y="120"/>
                </a:cubicBezTo>
                <a:cubicBezTo>
                  <a:pt x="247" y="122"/>
                  <a:pt x="235" y="117"/>
                  <a:pt x="216" y="85"/>
                </a:cubicBezTo>
                <a:cubicBezTo>
                  <a:pt x="201" y="61"/>
                  <a:pt x="198" y="52"/>
                  <a:pt x="197" y="48"/>
                </a:cubicBezTo>
                <a:cubicBezTo>
                  <a:pt x="194" y="35"/>
                  <a:pt x="199" y="32"/>
                  <a:pt x="205" y="28"/>
                </a:cubicBezTo>
                <a:close/>
                <a:moveTo>
                  <a:pt x="43" y="189"/>
                </a:moveTo>
                <a:cubicBezTo>
                  <a:pt x="125" y="143"/>
                  <a:pt x="125" y="143"/>
                  <a:pt x="125" y="143"/>
                </a:cubicBezTo>
                <a:cubicBezTo>
                  <a:pt x="98" y="268"/>
                  <a:pt x="98" y="268"/>
                  <a:pt x="98" y="268"/>
                </a:cubicBezTo>
                <a:cubicBezTo>
                  <a:pt x="64" y="268"/>
                  <a:pt x="64" y="268"/>
                  <a:pt x="64" y="268"/>
                </a:cubicBezTo>
                <a:cubicBezTo>
                  <a:pt x="64" y="225"/>
                  <a:pt x="64" y="225"/>
                  <a:pt x="64" y="225"/>
                </a:cubicBezTo>
                <a:cubicBezTo>
                  <a:pt x="64" y="219"/>
                  <a:pt x="59" y="215"/>
                  <a:pt x="53" y="215"/>
                </a:cubicBezTo>
                <a:cubicBezTo>
                  <a:pt x="43" y="215"/>
                  <a:pt x="43" y="215"/>
                  <a:pt x="43" y="215"/>
                </a:cubicBezTo>
                <a:lnTo>
                  <a:pt x="43" y="189"/>
                </a:lnTo>
                <a:close/>
                <a:moveTo>
                  <a:pt x="21" y="236"/>
                </a:moveTo>
                <a:cubicBezTo>
                  <a:pt x="43" y="236"/>
                  <a:pt x="43" y="236"/>
                  <a:pt x="43" y="236"/>
                </a:cubicBezTo>
                <a:cubicBezTo>
                  <a:pt x="43" y="268"/>
                  <a:pt x="43" y="268"/>
                  <a:pt x="43" y="268"/>
                </a:cubicBezTo>
                <a:cubicBezTo>
                  <a:pt x="21" y="268"/>
                  <a:pt x="21" y="268"/>
                  <a:pt x="21" y="268"/>
                </a:cubicBezTo>
                <a:lnTo>
                  <a:pt x="21" y="23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nvGrpSpPr>
          <p:cNvPr id="306" name="Group 305"/>
          <p:cNvGrpSpPr/>
          <p:nvPr/>
        </p:nvGrpSpPr>
        <p:grpSpPr>
          <a:xfrm>
            <a:off x="6726110" y="4866901"/>
            <a:ext cx="1474161" cy="308939"/>
            <a:chOff x="5825009" y="4533827"/>
            <a:chExt cx="1336771" cy="280146"/>
          </a:xfrm>
        </p:grpSpPr>
        <p:sp>
          <p:nvSpPr>
            <p:cNvPr id="290" name="Rectangle 289"/>
            <p:cNvSpPr/>
            <p:nvPr/>
          </p:nvSpPr>
          <p:spPr bwMode="gray">
            <a:xfrm>
              <a:off x="5825009" y="4533827"/>
              <a:ext cx="1309877" cy="280146"/>
            </a:xfrm>
            <a:prstGeom prst="rect">
              <a:avLst/>
            </a:prstGeom>
            <a:solidFill>
              <a:schemeClr val="accent6"/>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91" name="Rectangle 290"/>
            <p:cNvSpPr/>
            <p:nvPr/>
          </p:nvSpPr>
          <p:spPr bwMode="gray">
            <a:xfrm>
              <a:off x="6086824" y="4551649"/>
              <a:ext cx="1074956"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Existing Oil</a:t>
              </a:r>
            </a:p>
          </p:txBody>
        </p:sp>
      </p:grpSp>
      <p:grpSp>
        <p:nvGrpSpPr>
          <p:cNvPr id="304" name="Group 303"/>
          <p:cNvGrpSpPr/>
          <p:nvPr/>
        </p:nvGrpSpPr>
        <p:grpSpPr>
          <a:xfrm>
            <a:off x="6731137" y="5568098"/>
            <a:ext cx="1444503" cy="308939"/>
            <a:chOff x="5829567" y="5201571"/>
            <a:chExt cx="1309877" cy="280146"/>
          </a:xfrm>
        </p:grpSpPr>
        <p:sp>
          <p:nvSpPr>
            <p:cNvPr id="292" name="Rectangle 291"/>
            <p:cNvSpPr/>
            <p:nvPr/>
          </p:nvSpPr>
          <p:spPr bwMode="gray">
            <a:xfrm>
              <a:off x="5829567" y="5201571"/>
              <a:ext cx="1309877" cy="280146"/>
            </a:xfrm>
            <a:prstGeom prst="rect">
              <a:avLst/>
            </a:prstGeom>
            <a:solidFill>
              <a:srgbClr val="00ABAB"/>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93" name="Rectangle 292"/>
            <p:cNvSpPr/>
            <p:nvPr/>
          </p:nvSpPr>
          <p:spPr bwMode="gray">
            <a:xfrm>
              <a:off x="6094043" y="5209168"/>
              <a:ext cx="965035"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New Wind</a:t>
              </a:r>
            </a:p>
          </p:txBody>
        </p:sp>
      </p:grpSp>
      <p:grpSp>
        <p:nvGrpSpPr>
          <p:cNvPr id="303" name="Group 302"/>
          <p:cNvGrpSpPr/>
          <p:nvPr/>
        </p:nvGrpSpPr>
        <p:grpSpPr>
          <a:xfrm>
            <a:off x="6725679" y="5867349"/>
            <a:ext cx="1509338" cy="441276"/>
            <a:chOff x="5824618" y="5451661"/>
            <a:chExt cx="1368669" cy="400149"/>
          </a:xfrm>
        </p:grpSpPr>
        <p:sp>
          <p:nvSpPr>
            <p:cNvPr id="297" name="Rectangle 296"/>
            <p:cNvSpPr/>
            <p:nvPr/>
          </p:nvSpPr>
          <p:spPr bwMode="gray">
            <a:xfrm>
              <a:off x="5824618" y="5510792"/>
              <a:ext cx="1309877" cy="280146"/>
            </a:xfrm>
            <a:prstGeom prst="rect">
              <a:avLst/>
            </a:prstGeom>
            <a:solidFill>
              <a:schemeClr val="accent5"/>
            </a:solidFill>
            <a:ln w="19050" algn="ctr">
              <a:no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298" name="Rectangle 297"/>
            <p:cNvSpPr/>
            <p:nvPr/>
          </p:nvSpPr>
          <p:spPr bwMode="gray">
            <a:xfrm>
              <a:off x="6125786" y="5451661"/>
              <a:ext cx="1067501" cy="4001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Existing Hydro</a:t>
              </a:r>
            </a:p>
          </p:txBody>
        </p:sp>
      </p:grpSp>
      <p:cxnSp>
        <p:nvCxnSpPr>
          <p:cNvPr id="300" name="Elbow Connector 299"/>
          <p:cNvCxnSpPr>
            <a:stCxn id="162" idx="3"/>
            <a:endCxn id="219" idx="1"/>
          </p:cNvCxnSpPr>
          <p:nvPr/>
        </p:nvCxnSpPr>
        <p:spPr>
          <a:xfrm>
            <a:off x="4689923" y="4502684"/>
            <a:ext cx="311868" cy="520430"/>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1" name="Elbow Connector 310"/>
          <p:cNvCxnSpPr>
            <a:stCxn id="219" idx="3"/>
            <a:endCxn id="292" idx="1"/>
          </p:cNvCxnSpPr>
          <p:nvPr/>
        </p:nvCxnSpPr>
        <p:spPr>
          <a:xfrm>
            <a:off x="6379381" y="5023114"/>
            <a:ext cx="351755" cy="699452"/>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3" name="Elbow Connector 312"/>
          <p:cNvCxnSpPr>
            <a:stCxn id="219" idx="3"/>
            <a:endCxn id="297" idx="1"/>
          </p:cNvCxnSpPr>
          <p:nvPr/>
        </p:nvCxnSpPr>
        <p:spPr>
          <a:xfrm>
            <a:off x="6379381" y="5023115"/>
            <a:ext cx="346298" cy="1063906"/>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5" name="Elbow Connector 314"/>
          <p:cNvCxnSpPr>
            <a:stCxn id="219" idx="3"/>
            <a:endCxn id="181" idx="1"/>
          </p:cNvCxnSpPr>
          <p:nvPr/>
        </p:nvCxnSpPr>
        <p:spPr>
          <a:xfrm>
            <a:off x="6379381" y="5023114"/>
            <a:ext cx="353558" cy="1426957"/>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7" name="Elbow Connector 316"/>
          <p:cNvCxnSpPr>
            <a:stCxn id="219" idx="3"/>
            <a:endCxn id="223" idx="1"/>
          </p:cNvCxnSpPr>
          <p:nvPr/>
        </p:nvCxnSpPr>
        <p:spPr>
          <a:xfrm>
            <a:off x="6379381" y="5023114"/>
            <a:ext cx="346729" cy="1783324"/>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9" name="Elbow Connector 318"/>
          <p:cNvCxnSpPr>
            <a:stCxn id="219" idx="3"/>
            <a:endCxn id="290" idx="1"/>
          </p:cNvCxnSpPr>
          <p:nvPr/>
        </p:nvCxnSpPr>
        <p:spPr>
          <a:xfrm flipV="1">
            <a:off x="6379381" y="5021371"/>
            <a:ext cx="346729" cy="1743"/>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323" name="Picture 3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9371" y="5241166"/>
            <a:ext cx="232189" cy="232189"/>
          </a:xfrm>
          <a:prstGeom prst="rect">
            <a:avLst/>
          </a:prstGeom>
          <a:solidFill>
            <a:schemeClr val="bg1"/>
          </a:solidFill>
        </p:spPr>
      </p:pic>
      <p:sp>
        <p:nvSpPr>
          <p:cNvPr id="326" name="Freeform 407"/>
          <p:cNvSpPr>
            <a:spLocks noEditPoints="1"/>
          </p:cNvSpPr>
          <p:nvPr/>
        </p:nvSpPr>
        <p:spPr bwMode="auto">
          <a:xfrm>
            <a:off x="6766169" y="4185585"/>
            <a:ext cx="262209" cy="262209"/>
          </a:xfrm>
          <a:custGeom>
            <a:avLst/>
            <a:gdLst>
              <a:gd name="T0" fmla="*/ 256 w 277"/>
              <a:gd name="T1" fmla="*/ 0 h 277"/>
              <a:gd name="T2" fmla="*/ 21 w 277"/>
              <a:gd name="T3" fmla="*/ 0 h 277"/>
              <a:gd name="T4" fmla="*/ 0 w 277"/>
              <a:gd name="T5" fmla="*/ 21 h 277"/>
              <a:gd name="T6" fmla="*/ 0 w 277"/>
              <a:gd name="T7" fmla="*/ 256 h 277"/>
              <a:gd name="T8" fmla="*/ 21 w 277"/>
              <a:gd name="T9" fmla="*/ 277 h 277"/>
              <a:gd name="T10" fmla="*/ 256 w 277"/>
              <a:gd name="T11" fmla="*/ 277 h 277"/>
              <a:gd name="T12" fmla="*/ 277 w 277"/>
              <a:gd name="T13" fmla="*/ 256 h 277"/>
              <a:gd name="T14" fmla="*/ 277 w 277"/>
              <a:gd name="T15" fmla="*/ 21 h 277"/>
              <a:gd name="T16" fmla="*/ 256 w 277"/>
              <a:gd name="T17" fmla="*/ 0 h 277"/>
              <a:gd name="T18" fmla="*/ 256 w 277"/>
              <a:gd name="T19" fmla="*/ 256 h 277"/>
              <a:gd name="T20" fmla="*/ 21 w 277"/>
              <a:gd name="T21" fmla="*/ 256 h 277"/>
              <a:gd name="T22" fmla="*/ 21 w 277"/>
              <a:gd name="T23" fmla="*/ 21 h 277"/>
              <a:gd name="T24" fmla="*/ 256 w 277"/>
              <a:gd name="T25" fmla="*/ 21 h 277"/>
              <a:gd name="T26" fmla="*/ 256 w 277"/>
              <a:gd name="T27" fmla="*/ 256 h 277"/>
              <a:gd name="T28" fmla="*/ 139 w 277"/>
              <a:gd name="T29" fmla="*/ 235 h 277"/>
              <a:gd name="T30" fmla="*/ 235 w 277"/>
              <a:gd name="T31" fmla="*/ 139 h 277"/>
              <a:gd name="T32" fmla="*/ 139 w 277"/>
              <a:gd name="T33" fmla="*/ 43 h 277"/>
              <a:gd name="T34" fmla="*/ 43 w 277"/>
              <a:gd name="T35" fmla="*/ 139 h 277"/>
              <a:gd name="T36" fmla="*/ 139 w 277"/>
              <a:gd name="T37" fmla="*/ 235 h 277"/>
              <a:gd name="T38" fmla="*/ 139 w 277"/>
              <a:gd name="T39" fmla="*/ 64 h 277"/>
              <a:gd name="T40" fmla="*/ 213 w 277"/>
              <a:gd name="T41" fmla="*/ 139 h 277"/>
              <a:gd name="T42" fmla="*/ 139 w 277"/>
              <a:gd name="T43" fmla="*/ 213 h 277"/>
              <a:gd name="T44" fmla="*/ 64 w 277"/>
              <a:gd name="T45" fmla="*/ 139 h 277"/>
              <a:gd name="T46" fmla="*/ 139 w 277"/>
              <a:gd name="T47" fmla="*/ 64 h 277"/>
              <a:gd name="T48" fmla="*/ 128 w 277"/>
              <a:gd name="T49" fmla="*/ 117 h 277"/>
              <a:gd name="T50" fmla="*/ 128 w 277"/>
              <a:gd name="T51" fmla="*/ 96 h 277"/>
              <a:gd name="T52" fmla="*/ 139 w 277"/>
              <a:gd name="T53" fmla="*/ 85 h 277"/>
              <a:gd name="T54" fmla="*/ 149 w 277"/>
              <a:gd name="T55" fmla="*/ 96 h 277"/>
              <a:gd name="T56" fmla="*/ 149 w 277"/>
              <a:gd name="T57" fmla="*/ 117 h 277"/>
              <a:gd name="T58" fmla="*/ 139 w 277"/>
              <a:gd name="T59" fmla="*/ 128 h 277"/>
              <a:gd name="T60" fmla="*/ 128 w 277"/>
              <a:gd name="T61" fmla="*/ 117 h 277"/>
              <a:gd name="T62" fmla="*/ 85 w 277"/>
              <a:gd name="T63" fmla="*/ 160 h 277"/>
              <a:gd name="T64" fmla="*/ 96 w 277"/>
              <a:gd name="T65" fmla="*/ 149 h 277"/>
              <a:gd name="T66" fmla="*/ 117 w 277"/>
              <a:gd name="T67" fmla="*/ 149 h 277"/>
              <a:gd name="T68" fmla="*/ 128 w 277"/>
              <a:gd name="T69" fmla="*/ 160 h 277"/>
              <a:gd name="T70" fmla="*/ 117 w 277"/>
              <a:gd name="T71" fmla="*/ 171 h 277"/>
              <a:gd name="T72" fmla="*/ 96 w 277"/>
              <a:gd name="T73" fmla="*/ 171 h 277"/>
              <a:gd name="T74" fmla="*/ 85 w 277"/>
              <a:gd name="T75" fmla="*/ 160 h 277"/>
              <a:gd name="T76" fmla="*/ 149 w 277"/>
              <a:gd name="T77" fmla="*/ 160 h 277"/>
              <a:gd name="T78" fmla="*/ 160 w 277"/>
              <a:gd name="T79" fmla="*/ 149 h 277"/>
              <a:gd name="T80" fmla="*/ 181 w 277"/>
              <a:gd name="T81" fmla="*/ 149 h 277"/>
              <a:gd name="T82" fmla="*/ 192 w 277"/>
              <a:gd name="T83" fmla="*/ 160 h 277"/>
              <a:gd name="T84" fmla="*/ 181 w 277"/>
              <a:gd name="T85" fmla="*/ 171 h 277"/>
              <a:gd name="T86" fmla="*/ 160 w 277"/>
              <a:gd name="T87" fmla="*/ 171 h 277"/>
              <a:gd name="T88" fmla="*/ 149 w 277"/>
              <a:gd name="T89" fmla="*/ 16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7" h="277">
                <a:moveTo>
                  <a:pt x="256" y="0"/>
                </a:moveTo>
                <a:cubicBezTo>
                  <a:pt x="21" y="0"/>
                  <a:pt x="21" y="0"/>
                  <a:pt x="21" y="0"/>
                </a:cubicBezTo>
                <a:cubicBezTo>
                  <a:pt x="10" y="0"/>
                  <a:pt x="0" y="10"/>
                  <a:pt x="0" y="21"/>
                </a:cubicBezTo>
                <a:cubicBezTo>
                  <a:pt x="0" y="256"/>
                  <a:pt x="0" y="256"/>
                  <a:pt x="0" y="256"/>
                </a:cubicBezTo>
                <a:cubicBezTo>
                  <a:pt x="0" y="268"/>
                  <a:pt x="10" y="277"/>
                  <a:pt x="21" y="277"/>
                </a:cubicBezTo>
                <a:cubicBezTo>
                  <a:pt x="256" y="277"/>
                  <a:pt x="256" y="277"/>
                  <a:pt x="256" y="277"/>
                </a:cubicBezTo>
                <a:cubicBezTo>
                  <a:pt x="268" y="277"/>
                  <a:pt x="277" y="268"/>
                  <a:pt x="277" y="256"/>
                </a:cubicBezTo>
                <a:cubicBezTo>
                  <a:pt x="277" y="21"/>
                  <a:pt x="277" y="21"/>
                  <a:pt x="277" y="21"/>
                </a:cubicBezTo>
                <a:cubicBezTo>
                  <a:pt x="277" y="10"/>
                  <a:pt x="268" y="0"/>
                  <a:pt x="256" y="0"/>
                </a:cubicBezTo>
                <a:close/>
                <a:moveTo>
                  <a:pt x="256" y="256"/>
                </a:moveTo>
                <a:cubicBezTo>
                  <a:pt x="21" y="256"/>
                  <a:pt x="21" y="256"/>
                  <a:pt x="21" y="256"/>
                </a:cubicBezTo>
                <a:cubicBezTo>
                  <a:pt x="21" y="21"/>
                  <a:pt x="21" y="21"/>
                  <a:pt x="21" y="21"/>
                </a:cubicBezTo>
                <a:cubicBezTo>
                  <a:pt x="256" y="21"/>
                  <a:pt x="256" y="21"/>
                  <a:pt x="256" y="21"/>
                </a:cubicBezTo>
                <a:lnTo>
                  <a:pt x="256" y="256"/>
                </a:lnTo>
                <a:close/>
                <a:moveTo>
                  <a:pt x="139" y="235"/>
                </a:moveTo>
                <a:cubicBezTo>
                  <a:pt x="192" y="235"/>
                  <a:pt x="235" y="192"/>
                  <a:pt x="235" y="139"/>
                </a:cubicBezTo>
                <a:cubicBezTo>
                  <a:pt x="235" y="86"/>
                  <a:pt x="192" y="43"/>
                  <a:pt x="139" y="43"/>
                </a:cubicBezTo>
                <a:cubicBezTo>
                  <a:pt x="86" y="43"/>
                  <a:pt x="43" y="86"/>
                  <a:pt x="43" y="139"/>
                </a:cubicBezTo>
                <a:cubicBezTo>
                  <a:pt x="43" y="192"/>
                  <a:pt x="86" y="235"/>
                  <a:pt x="139" y="235"/>
                </a:cubicBezTo>
                <a:close/>
                <a:moveTo>
                  <a:pt x="139" y="64"/>
                </a:moveTo>
                <a:cubicBezTo>
                  <a:pt x="180" y="64"/>
                  <a:pt x="213" y="97"/>
                  <a:pt x="213" y="139"/>
                </a:cubicBezTo>
                <a:cubicBezTo>
                  <a:pt x="213" y="180"/>
                  <a:pt x="180" y="213"/>
                  <a:pt x="139" y="213"/>
                </a:cubicBezTo>
                <a:cubicBezTo>
                  <a:pt x="97" y="213"/>
                  <a:pt x="64" y="180"/>
                  <a:pt x="64" y="139"/>
                </a:cubicBezTo>
                <a:cubicBezTo>
                  <a:pt x="64" y="97"/>
                  <a:pt x="97" y="64"/>
                  <a:pt x="139" y="64"/>
                </a:cubicBezTo>
                <a:close/>
                <a:moveTo>
                  <a:pt x="128" y="117"/>
                </a:moveTo>
                <a:cubicBezTo>
                  <a:pt x="128" y="96"/>
                  <a:pt x="128" y="96"/>
                  <a:pt x="128" y="96"/>
                </a:cubicBezTo>
                <a:cubicBezTo>
                  <a:pt x="128" y="90"/>
                  <a:pt x="133" y="85"/>
                  <a:pt x="139" y="85"/>
                </a:cubicBezTo>
                <a:cubicBezTo>
                  <a:pt x="145" y="85"/>
                  <a:pt x="149" y="90"/>
                  <a:pt x="149" y="96"/>
                </a:cubicBezTo>
                <a:cubicBezTo>
                  <a:pt x="149" y="117"/>
                  <a:pt x="149" y="117"/>
                  <a:pt x="149" y="117"/>
                </a:cubicBezTo>
                <a:cubicBezTo>
                  <a:pt x="149" y="123"/>
                  <a:pt x="145" y="128"/>
                  <a:pt x="139" y="128"/>
                </a:cubicBezTo>
                <a:cubicBezTo>
                  <a:pt x="133" y="128"/>
                  <a:pt x="128" y="123"/>
                  <a:pt x="128" y="117"/>
                </a:cubicBezTo>
                <a:close/>
                <a:moveTo>
                  <a:pt x="85" y="160"/>
                </a:moveTo>
                <a:cubicBezTo>
                  <a:pt x="85" y="154"/>
                  <a:pt x="90" y="149"/>
                  <a:pt x="96" y="149"/>
                </a:cubicBezTo>
                <a:cubicBezTo>
                  <a:pt x="117" y="149"/>
                  <a:pt x="117" y="149"/>
                  <a:pt x="117" y="149"/>
                </a:cubicBezTo>
                <a:cubicBezTo>
                  <a:pt x="123" y="149"/>
                  <a:pt x="128" y="154"/>
                  <a:pt x="128" y="160"/>
                </a:cubicBezTo>
                <a:cubicBezTo>
                  <a:pt x="128" y="166"/>
                  <a:pt x="123" y="171"/>
                  <a:pt x="117" y="171"/>
                </a:cubicBezTo>
                <a:cubicBezTo>
                  <a:pt x="96" y="171"/>
                  <a:pt x="96" y="171"/>
                  <a:pt x="96" y="171"/>
                </a:cubicBezTo>
                <a:cubicBezTo>
                  <a:pt x="90" y="171"/>
                  <a:pt x="85" y="166"/>
                  <a:pt x="85" y="160"/>
                </a:cubicBezTo>
                <a:close/>
                <a:moveTo>
                  <a:pt x="149" y="160"/>
                </a:moveTo>
                <a:cubicBezTo>
                  <a:pt x="149" y="154"/>
                  <a:pt x="154" y="149"/>
                  <a:pt x="160" y="149"/>
                </a:cubicBezTo>
                <a:cubicBezTo>
                  <a:pt x="181" y="149"/>
                  <a:pt x="181" y="149"/>
                  <a:pt x="181" y="149"/>
                </a:cubicBezTo>
                <a:cubicBezTo>
                  <a:pt x="187" y="149"/>
                  <a:pt x="192" y="154"/>
                  <a:pt x="192" y="160"/>
                </a:cubicBezTo>
                <a:cubicBezTo>
                  <a:pt x="192" y="166"/>
                  <a:pt x="187" y="171"/>
                  <a:pt x="181" y="171"/>
                </a:cubicBezTo>
                <a:cubicBezTo>
                  <a:pt x="160" y="171"/>
                  <a:pt x="160" y="171"/>
                  <a:pt x="160" y="171"/>
                </a:cubicBezTo>
                <a:cubicBezTo>
                  <a:pt x="154" y="171"/>
                  <a:pt x="149" y="166"/>
                  <a:pt x="149" y="160"/>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cxnSp>
        <p:nvCxnSpPr>
          <p:cNvPr id="328" name="Elbow Connector 327"/>
          <p:cNvCxnSpPr>
            <a:stCxn id="176" idx="3"/>
            <a:endCxn id="179" idx="1"/>
          </p:cNvCxnSpPr>
          <p:nvPr/>
        </p:nvCxnSpPr>
        <p:spPr>
          <a:xfrm flipV="1">
            <a:off x="6379381" y="4329976"/>
            <a:ext cx="353558" cy="172854"/>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33" name="Rectangle 332"/>
          <p:cNvSpPr/>
          <p:nvPr/>
        </p:nvSpPr>
        <p:spPr bwMode="gray">
          <a:xfrm>
            <a:off x="8326554" y="5085549"/>
            <a:ext cx="1442963" cy="391079"/>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34" name="Rectangle 333"/>
          <p:cNvSpPr/>
          <p:nvPr/>
        </p:nvSpPr>
        <p:spPr bwMode="gray">
          <a:xfrm>
            <a:off x="8728835" y="5083078"/>
            <a:ext cx="1171030" cy="441275"/>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Coal Bituminous</a:t>
            </a:r>
          </a:p>
        </p:txBody>
      </p:sp>
      <p:sp>
        <p:nvSpPr>
          <p:cNvPr id="330" name="Rectangle 329"/>
          <p:cNvSpPr/>
          <p:nvPr/>
        </p:nvSpPr>
        <p:spPr bwMode="gray">
          <a:xfrm>
            <a:off x="8334570" y="4616553"/>
            <a:ext cx="1442963" cy="391080"/>
          </a:xfrm>
          <a:prstGeom prst="rect">
            <a:avLst/>
          </a:prstGeom>
          <a:solidFill>
            <a:schemeClr val="accent6"/>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31" name="Rectangle 330"/>
          <p:cNvSpPr/>
          <p:nvPr/>
        </p:nvSpPr>
        <p:spPr bwMode="gray">
          <a:xfrm>
            <a:off x="8706006" y="4578702"/>
            <a:ext cx="1006155" cy="441275"/>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Residual Fuel Oil</a:t>
            </a:r>
          </a:p>
        </p:txBody>
      </p:sp>
      <p:sp>
        <p:nvSpPr>
          <p:cNvPr id="322" name="Freeform 277"/>
          <p:cNvSpPr>
            <a:spLocks noChangeAspect="1"/>
          </p:cNvSpPr>
          <p:nvPr/>
        </p:nvSpPr>
        <p:spPr bwMode="auto">
          <a:xfrm>
            <a:off x="8431390" y="4708938"/>
            <a:ext cx="158285" cy="232156"/>
          </a:xfrm>
          <a:custGeom>
            <a:avLst/>
            <a:gdLst>
              <a:gd name="T0" fmla="*/ 11 w 22"/>
              <a:gd name="T1" fmla="*/ 0 h 32"/>
              <a:gd name="T2" fmla="*/ 1 w 22"/>
              <a:gd name="T3" fmla="*/ 17 h 32"/>
              <a:gd name="T4" fmla="*/ 0 w 22"/>
              <a:gd name="T5" fmla="*/ 21 h 32"/>
              <a:gd name="T6" fmla="*/ 11 w 22"/>
              <a:gd name="T7" fmla="*/ 32 h 32"/>
              <a:gd name="T8" fmla="*/ 22 w 22"/>
              <a:gd name="T9" fmla="*/ 21 h 32"/>
              <a:gd name="T10" fmla="*/ 21 w 22"/>
              <a:gd name="T11" fmla="*/ 17 h 32"/>
              <a:gd name="T12" fmla="*/ 11 w 2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2" h="32">
                <a:moveTo>
                  <a:pt x="11" y="0"/>
                </a:moveTo>
                <a:cubicBezTo>
                  <a:pt x="1" y="17"/>
                  <a:pt x="1" y="17"/>
                  <a:pt x="1" y="17"/>
                </a:cubicBezTo>
                <a:cubicBezTo>
                  <a:pt x="1" y="19"/>
                  <a:pt x="0" y="20"/>
                  <a:pt x="0" y="21"/>
                </a:cubicBezTo>
                <a:cubicBezTo>
                  <a:pt x="0" y="27"/>
                  <a:pt x="5" y="32"/>
                  <a:pt x="11" y="32"/>
                </a:cubicBezTo>
                <a:cubicBezTo>
                  <a:pt x="17" y="32"/>
                  <a:pt x="22" y="27"/>
                  <a:pt x="22" y="21"/>
                </a:cubicBezTo>
                <a:cubicBezTo>
                  <a:pt x="22" y="20"/>
                  <a:pt x="21" y="19"/>
                  <a:pt x="21" y="17"/>
                </a:cubicBezTo>
                <a:lnTo>
                  <a:pt x="11"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35" name="Freeform 277"/>
          <p:cNvSpPr>
            <a:spLocks noChangeAspect="1"/>
          </p:cNvSpPr>
          <p:nvPr/>
        </p:nvSpPr>
        <p:spPr bwMode="auto">
          <a:xfrm>
            <a:off x="6812674" y="4894691"/>
            <a:ext cx="158285" cy="232156"/>
          </a:xfrm>
          <a:custGeom>
            <a:avLst/>
            <a:gdLst>
              <a:gd name="T0" fmla="*/ 11 w 22"/>
              <a:gd name="T1" fmla="*/ 0 h 32"/>
              <a:gd name="T2" fmla="*/ 1 w 22"/>
              <a:gd name="T3" fmla="*/ 17 h 32"/>
              <a:gd name="T4" fmla="*/ 0 w 22"/>
              <a:gd name="T5" fmla="*/ 21 h 32"/>
              <a:gd name="T6" fmla="*/ 11 w 22"/>
              <a:gd name="T7" fmla="*/ 32 h 32"/>
              <a:gd name="T8" fmla="*/ 22 w 22"/>
              <a:gd name="T9" fmla="*/ 21 h 32"/>
              <a:gd name="T10" fmla="*/ 21 w 22"/>
              <a:gd name="T11" fmla="*/ 17 h 32"/>
              <a:gd name="T12" fmla="*/ 11 w 2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2" h="32">
                <a:moveTo>
                  <a:pt x="11" y="0"/>
                </a:moveTo>
                <a:cubicBezTo>
                  <a:pt x="1" y="17"/>
                  <a:pt x="1" y="17"/>
                  <a:pt x="1" y="17"/>
                </a:cubicBezTo>
                <a:cubicBezTo>
                  <a:pt x="1" y="19"/>
                  <a:pt x="0" y="20"/>
                  <a:pt x="0" y="21"/>
                </a:cubicBezTo>
                <a:cubicBezTo>
                  <a:pt x="0" y="27"/>
                  <a:pt x="5" y="32"/>
                  <a:pt x="11" y="32"/>
                </a:cubicBezTo>
                <a:cubicBezTo>
                  <a:pt x="17" y="32"/>
                  <a:pt x="22" y="27"/>
                  <a:pt x="22" y="21"/>
                </a:cubicBezTo>
                <a:cubicBezTo>
                  <a:pt x="22" y="20"/>
                  <a:pt x="21" y="19"/>
                  <a:pt x="21" y="17"/>
                </a:cubicBezTo>
                <a:lnTo>
                  <a:pt x="11"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nvGrpSpPr>
          <p:cNvPr id="336" name="Group 335"/>
          <p:cNvGrpSpPr/>
          <p:nvPr/>
        </p:nvGrpSpPr>
        <p:grpSpPr>
          <a:xfrm>
            <a:off x="6816709" y="5588501"/>
            <a:ext cx="166140" cy="259280"/>
            <a:chOff x="9068785" y="3190353"/>
            <a:chExt cx="378428" cy="590577"/>
          </a:xfrm>
          <a:solidFill>
            <a:schemeClr val="bg1"/>
          </a:solidFill>
        </p:grpSpPr>
        <p:sp>
          <p:nvSpPr>
            <p:cNvPr id="337" name="Freeform 639"/>
            <p:cNvSpPr>
              <a:spLocks/>
            </p:cNvSpPr>
            <p:nvPr/>
          </p:nvSpPr>
          <p:spPr bwMode="auto">
            <a:xfrm>
              <a:off x="9235064" y="3497109"/>
              <a:ext cx="40136" cy="283821"/>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38" name="Freeform 640"/>
            <p:cNvSpPr>
              <a:spLocks noEditPoints="1"/>
            </p:cNvSpPr>
            <p:nvPr/>
          </p:nvSpPr>
          <p:spPr bwMode="auto">
            <a:xfrm>
              <a:off x="9068785" y="3190353"/>
              <a:ext cx="378428" cy="306756"/>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342" name="Group 341"/>
          <p:cNvGrpSpPr/>
          <p:nvPr/>
        </p:nvGrpSpPr>
        <p:grpSpPr>
          <a:xfrm>
            <a:off x="6757250" y="6296138"/>
            <a:ext cx="299120" cy="299120"/>
            <a:chOff x="3629832" y="6412796"/>
            <a:chExt cx="230504" cy="230504"/>
          </a:xfrm>
          <a:solidFill>
            <a:schemeClr val="bg1"/>
          </a:solidFill>
        </p:grpSpPr>
        <p:sp>
          <p:nvSpPr>
            <p:cNvPr id="343" name="Freeform 342"/>
            <p:cNvSpPr>
              <a:spLocks noEditPoints="1"/>
            </p:cNvSpPr>
            <p:nvPr/>
          </p:nvSpPr>
          <p:spPr bwMode="auto">
            <a:xfrm>
              <a:off x="3675498" y="6458462"/>
              <a:ext cx="139172" cy="139172"/>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44" name="Freeform 343"/>
            <p:cNvSpPr>
              <a:spLocks/>
            </p:cNvSpPr>
            <p:nvPr/>
          </p:nvSpPr>
          <p:spPr bwMode="auto">
            <a:xfrm>
              <a:off x="3829892" y="6520437"/>
              <a:ext cx="30444" cy="15222"/>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45" name="Freeform 344"/>
            <p:cNvSpPr>
              <a:spLocks/>
            </p:cNvSpPr>
            <p:nvPr/>
          </p:nvSpPr>
          <p:spPr bwMode="auto">
            <a:xfrm>
              <a:off x="3629832" y="6520437"/>
              <a:ext cx="30444" cy="15222"/>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46" name="Freeform 345"/>
            <p:cNvSpPr>
              <a:spLocks/>
            </p:cNvSpPr>
            <p:nvPr/>
          </p:nvSpPr>
          <p:spPr bwMode="auto">
            <a:xfrm>
              <a:off x="3737473" y="6412796"/>
              <a:ext cx="15222" cy="30444"/>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47" name="Freeform 346"/>
            <p:cNvSpPr>
              <a:spLocks/>
            </p:cNvSpPr>
            <p:nvPr/>
          </p:nvSpPr>
          <p:spPr bwMode="auto">
            <a:xfrm>
              <a:off x="3737473" y="6612856"/>
              <a:ext cx="15222" cy="30444"/>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48" name="Freeform 347"/>
            <p:cNvSpPr>
              <a:spLocks/>
            </p:cNvSpPr>
            <p:nvPr/>
          </p:nvSpPr>
          <p:spPr bwMode="auto">
            <a:xfrm>
              <a:off x="3801623" y="6443240"/>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49" name="Freeform 348"/>
            <p:cNvSpPr>
              <a:spLocks/>
            </p:cNvSpPr>
            <p:nvPr/>
          </p:nvSpPr>
          <p:spPr bwMode="auto">
            <a:xfrm>
              <a:off x="3660276" y="6584587"/>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50" name="Freeform 349"/>
            <p:cNvSpPr>
              <a:spLocks/>
            </p:cNvSpPr>
            <p:nvPr/>
          </p:nvSpPr>
          <p:spPr bwMode="auto">
            <a:xfrm>
              <a:off x="3660276" y="6443240"/>
              <a:ext cx="28269" cy="27182"/>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51" name="Freeform 350"/>
            <p:cNvSpPr>
              <a:spLocks/>
            </p:cNvSpPr>
            <p:nvPr/>
          </p:nvSpPr>
          <p:spPr bwMode="auto">
            <a:xfrm>
              <a:off x="3801623" y="6584587"/>
              <a:ext cx="28269" cy="27182"/>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352" name="Group 351"/>
          <p:cNvGrpSpPr/>
          <p:nvPr/>
        </p:nvGrpSpPr>
        <p:grpSpPr>
          <a:xfrm>
            <a:off x="6748405" y="6641108"/>
            <a:ext cx="299120" cy="299120"/>
            <a:chOff x="3629832" y="6412796"/>
            <a:chExt cx="230504" cy="230504"/>
          </a:xfrm>
          <a:solidFill>
            <a:schemeClr val="bg1"/>
          </a:solidFill>
        </p:grpSpPr>
        <p:sp>
          <p:nvSpPr>
            <p:cNvPr id="353" name="Freeform 352"/>
            <p:cNvSpPr>
              <a:spLocks noEditPoints="1"/>
            </p:cNvSpPr>
            <p:nvPr/>
          </p:nvSpPr>
          <p:spPr bwMode="auto">
            <a:xfrm>
              <a:off x="3675498" y="6458462"/>
              <a:ext cx="139172" cy="139172"/>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54" name="Freeform 353"/>
            <p:cNvSpPr>
              <a:spLocks/>
            </p:cNvSpPr>
            <p:nvPr/>
          </p:nvSpPr>
          <p:spPr bwMode="auto">
            <a:xfrm>
              <a:off x="3829892" y="6520437"/>
              <a:ext cx="30444" cy="15222"/>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55" name="Freeform 354"/>
            <p:cNvSpPr>
              <a:spLocks/>
            </p:cNvSpPr>
            <p:nvPr/>
          </p:nvSpPr>
          <p:spPr bwMode="auto">
            <a:xfrm>
              <a:off x="3629832" y="6520437"/>
              <a:ext cx="30444" cy="15222"/>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56" name="Freeform 355"/>
            <p:cNvSpPr>
              <a:spLocks/>
            </p:cNvSpPr>
            <p:nvPr/>
          </p:nvSpPr>
          <p:spPr bwMode="auto">
            <a:xfrm>
              <a:off x="3737473" y="6412796"/>
              <a:ext cx="15222" cy="30444"/>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57" name="Freeform 356"/>
            <p:cNvSpPr>
              <a:spLocks/>
            </p:cNvSpPr>
            <p:nvPr/>
          </p:nvSpPr>
          <p:spPr bwMode="auto">
            <a:xfrm>
              <a:off x="3737473" y="6612856"/>
              <a:ext cx="15222" cy="30444"/>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58" name="Freeform 357"/>
            <p:cNvSpPr>
              <a:spLocks/>
            </p:cNvSpPr>
            <p:nvPr/>
          </p:nvSpPr>
          <p:spPr bwMode="auto">
            <a:xfrm>
              <a:off x="3801623" y="6443240"/>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59" name="Freeform 358"/>
            <p:cNvSpPr>
              <a:spLocks/>
            </p:cNvSpPr>
            <p:nvPr/>
          </p:nvSpPr>
          <p:spPr bwMode="auto">
            <a:xfrm>
              <a:off x="3660276" y="6584587"/>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60" name="Freeform 359"/>
            <p:cNvSpPr>
              <a:spLocks/>
            </p:cNvSpPr>
            <p:nvPr/>
          </p:nvSpPr>
          <p:spPr bwMode="auto">
            <a:xfrm>
              <a:off x="3660276" y="6443240"/>
              <a:ext cx="28269" cy="27182"/>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61" name="Freeform 360"/>
            <p:cNvSpPr>
              <a:spLocks/>
            </p:cNvSpPr>
            <p:nvPr/>
          </p:nvSpPr>
          <p:spPr bwMode="auto">
            <a:xfrm>
              <a:off x="3801623" y="6584587"/>
              <a:ext cx="28269" cy="27182"/>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pic>
        <p:nvPicPr>
          <p:cNvPr id="362" name="Picture 3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98089" y="5161557"/>
            <a:ext cx="232189" cy="232189"/>
          </a:xfrm>
          <a:prstGeom prst="rect">
            <a:avLst/>
          </a:prstGeom>
          <a:solidFill>
            <a:schemeClr val="bg1"/>
          </a:solidFill>
        </p:spPr>
      </p:pic>
      <p:sp>
        <p:nvSpPr>
          <p:cNvPr id="364" name="Rectangle 363"/>
          <p:cNvSpPr/>
          <p:nvPr/>
        </p:nvSpPr>
        <p:spPr bwMode="gray">
          <a:xfrm>
            <a:off x="8334570" y="5554456"/>
            <a:ext cx="1442963" cy="391080"/>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65" name="Rectangle 364"/>
          <p:cNvSpPr/>
          <p:nvPr/>
        </p:nvSpPr>
        <p:spPr bwMode="gray">
          <a:xfrm>
            <a:off x="8763379" y="5601467"/>
            <a:ext cx="898044" cy="271549"/>
          </a:xfrm>
          <a:prstGeom prst="rect">
            <a:avLst/>
          </a:prstGeom>
          <a:solidFill>
            <a:schemeClr val="accent6">
              <a:lumMod val="75000"/>
            </a:schemeClr>
          </a:solid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Wind</a:t>
            </a:r>
          </a:p>
        </p:txBody>
      </p:sp>
      <p:sp>
        <p:nvSpPr>
          <p:cNvPr id="369" name="Freeform 110"/>
          <p:cNvSpPr>
            <a:spLocks noEditPoints="1"/>
          </p:cNvSpPr>
          <p:nvPr/>
        </p:nvSpPr>
        <p:spPr bwMode="auto">
          <a:xfrm>
            <a:off x="5036914" y="4859518"/>
            <a:ext cx="330839" cy="287347"/>
          </a:xfrm>
          <a:custGeom>
            <a:avLst/>
            <a:gdLst>
              <a:gd name="T0" fmla="*/ 318 w 321"/>
              <a:gd name="T1" fmla="*/ 79 h 278"/>
              <a:gd name="T2" fmla="*/ 254 w 321"/>
              <a:gd name="T3" fmla="*/ 4 h 278"/>
              <a:gd name="T4" fmla="*/ 243 w 321"/>
              <a:gd name="T5" fmla="*/ 1 h 278"/>
              <a:gd name="T6" fmla="*/ 8 w 321"/>
              <a:gd name="T7" fmla="*/ 76 h 278"/>
              <a:gd name="T8" fmla="*/ 1 w 321"/>
              <a:gd name="T9" fmla="*/ 88 h 278"/>
              <a:gd name="T10" fmla="*/ 11 w 321"/>
              <a:gd name="T11" fmla="*/ 97 h 278"/>
              <a:gd name="T12" fmla="*/ 43 w 321"/>
              <a:gd name="T13" fmla="*/ 97 h 278"/>
              <a:gd name="T14" fmla="*/ 43 w 321"/>
              <a:gd name="T15" fmla="*/ 139 h 278"/>
              <a:gd name="T16" fmla="*/ 11 w 321"/>
              <a:gd name="T17" fmla="*/ 139 h 278"/>
              <a:gd name="T18" fmla="*/ 1 w 321"/>
              <a:gd name="T19" fmla="*/ 150 h 278"/>
              <a:gd name="T20" fmla="*/ 1 w 321"/>
              <a:gd name="T21" fmla="*/ 203 h 278"/>
              <a:gd name="T22" fmla="*/ 11 w 321"/>
              <a:gd name="T23" fmla="*/ 214 h 278"/>
              <a:gd name="T24" fmla="*/ 97 w 321"/>
              <a:gd name="T25" fmla="*/ 214 h 278"/>
              <a:gd name="T26" fmla="*/ 107 w 321"/>
              <a:gd name="T27" fmla="*/ 203 h 278"/>
              <a:gd name="T28" fmla="*/ 107 w 321"/>
              <a:gd name="T29" fmla="*/ 150 h 278"/>
              <a:gd name="T30" fmla="*/ 97 w 321"/>
              <a:gd name="T31" fmla="*/ 139 h 278"/>
              <a:gd name="T32" fmla="*/ 65 w 321"/>
              <a:gd name="T33" fmla="*/ 139 h 278"/>
              <a:gd name="T34" fmla="*/ 65 w 321"/>
              <a:gd name="T35" fmla="*/ 97 h 278"/>
              <a:gd name="T36" fmla="*/ 214 w 321"/>
              <a:gd name="T37" fmla="*/ 97 h 278"/>
              <a:gd name="T38" fmla="*/ 214 w 321"/>
              <a:gd name="T39" fmla="*/ 257 h 278"/>
              <a:gd name="T40" fmla="*/ 33 w 321"/>
              <a:gd name="T41" fmla="*/ 257 h 278"/>
              <a:gd name="T42" fmla="*/ 22 w 321"/>
              <a:gd name="T43" fmla="*/ 267 h 278"/>
              <a:gd name="T44" fmla="*/ 33 w 321"/>
              <a:gd name="T45" fmla="*/ 278 h 278"/>
              <a:gd name="T46" fmla="*/ 289 w 321"/>
              <a:gd name="T47" fmla="*/ 278 h 278"/>
              <a:gd name="T48" fmla="*/ 299 w 321"/>
              <a:gd name="T49" fmla="*/ 267 h 278"/>
              <a:gd name="T50" fmla="*/ 289 w 321"/>
              <a:gd name="T51" fmla="*/ 257 h 278"/>
              <a:gd name="T52" fmla="*/ 289 w 321"/>
              <a:gd name="T53" fmla="*/ 97 h 278"/>
              <a:gd name="T54" fmla="*/ 310 w 321"/>
              <a:gd name="T55" fmla="*/ 97 h 278"/>
              <a:gd name="T56" fmla="*/ 320 w 321"/>
              <a:gd name="T57" fmla="*/ 90 h 278"/>
              <a:gd name="T58" fmla="*/ 318 w 321"/>
              <a:gd name="T59" fmla="*/ 79 h 278"/>
              <a:gd name="T60" fmla="*/ 86 w 321"/>
              <a:gd name="T61" fmla="*/ 161 h 278"/>
              <a:gd name="T62" fmla="*/ 86 w 321"/>
              <a:gd name="T63" fmla="*/ 193 h 278"/>
              <a:gd name="T64" fmla="*/ 22 w 321"/>
              <a:gd name="T65" fmla="*/ 193 h 278"/>
              <a:gd name="T66" fmla="*/ 22 w 321"/>
              <a:gd name="T67" fmla="*/ 161 h 278"/>
              <a:gd name="T68" fmla="*/ 86 w 321"/>
              <a:gd name="T69" fmla="*/ 161 h 278"/>
              <a:gd name="T70" fmla="*/ 257 w 321"/>
              <a:gd name="T71" fmla="*/ 75 h 278"/>
              <a:gd name="T72" fmla="*/ 257 w 321"/>
              <a:gd name="T73" fmla="*/ 40 h 278"/>
              <a:gd name="T74" fmla="*/ 287 w 321"/>
              <a:gd name="T75" fmla="*/ 75 h 278"/>
              <a:gd name="T76" fmla="*/ 257 w 321"/>
              <a:gd name="T77" fmla="*/ 75 h 278"/>
              <a:gd name="T78" fmla="*/ 235 w 321"/>
              <a:gd name="T79" fmla="*/ 26 h 278"/>
              <a:gd name="T80" fmla="*/ 235 w 321"/>
              <a:gd name="T81" fmla="*/ 75 h 278"/>
              <a:gd name="T82" fmla="*/ 80 w 321"/>
              <a:gd name="T83" fmla="*/ 75 h 278"/>
              <a:gd name="T84" fmla="*/ 235 w 321"/>
              <a:gd name="T85" fmla="*/ 26 h 278"/>
              <a:gd name="T86" fmla="*/ 267 w 321"/>
              <a:gd name="T87" fmla="*/ 178 h 278"/>
              <a:gd name="T88" fmla="*/ 235 w 321"/>
              <a:gd name="T89" fmla="*/ 217 h 278"/>
              <a:gd name="T90" fmla="*/ 235 w 321"/>
              <a:gd name="T91" fmla="*/ 175 h 278"/>
              <a:gd name="T92" fmla="*/ 267 w 321"/>
              <a:gd name="T93" fmla="*/ 137 h 278"/>
              <a:gd name="T94" fmla="*/ 267 w 321"/>
              <a:gd name="T95" fmla="*/ 178 h 278"/>
              <a:gd name="T96" fmla="*/ 235 w 321"/>
              <a:gd name="T97" fmla="*/ 257 h 278"/>
              <a:gd name="T98" fmla="*/ 235 w 321"/>
              <a:gd name="T99" fmla="*/ 250 h 278"/>
              <a:gd name="T100" fmla="*/ 267 w 321"/>
              <a:gd name="T101" fmla="*/ 211 h 278"/>
              <a:gd name="T102" fmla="*/ 267 w 321"/>
              <a:gd name="T103" fmla="*/ 257 h 278"/>
              <a:gd name="T104" fmla="*/ 235 w 321"/>
              <a:gd name="T105" fmla="*/ 257 h 278"/>
              <a:gd name="T106" fmla="*/ 267 w 321"/>
              <a:gd name="T107" fmla="*/ 103 h 278"/>
              <a:gd name="T108" fmla="*/ 235 w 321"/>
              <a:gd name="T109" fmla="*/ 142 h 278"/>
              <a:gd name="T110" fmla="*/ 235 w 321"/>
              <a:gd name="T111" fmla="*/ 97 h 278"/>
              <a:gd name="T112" fmla="*/ 267 w 321"/>
              <a:gd name="T113" fmla="*/ 97 h 278"/>
              <a:gd name="T114" fmla="*/ 267 w 321"/>
              <a:gd name="T115" fmla="*/ 103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1" h="278">
                <a:moveTo>
                  <a:pt x="318" y="79"/>
                </a:moveTo>
                <a:cubicBezTo>
                  <a:pt x="254" y="4"/>
                  <a:pt x="254" y="4"/>
                  <a:pt x="254" y="4"/>
                </a:cubicBezTo>
                <a:cubicBezTo>
                  <a:pt x="251" y="1"/>
                  <a:pt x="247" y="0"/>
                  <a:pt x="243" y="1"/>
                </a:cubicBezTo>
                <a:cubicBezTo>
                  <a:pt x="8" y="76"/>
                  <a:pt x="8" y="76"/>
                  <a:pt x="8" y="76"/>
                </a:cubicBezTo>
                <a:cubicBezTo>
                  <a:pt x="3" y="77"/>
                  <a:pt x="0" y="82"/>
                  <a:pt x="1" y="88"/>
                </a:cubicBezTo>
                <a:cubicBezTo>
                  <a:pt x="2" y="93"/>
                  <a:pt x="6" y="97"/>
                  <a:pt x="11" y="97"/>
                </a:cubicBezTo>
                <a:cubicBezTo>
                  <a:pt x="43" y="97"/>
                  <a:pt x="43" y="97"/>
                  <a:pt x="43" y="97"/>
                </a:cubicBezTo>
                <a:cubicBezTo>
                  <a:pt x="43" y="139"/>
                  <a:pt x="43" y="139"/>
                  <a:pt x="43" y="139"/>
                </a:cubicBezTo>
                <a:cubicBezTo>
                  <a:pt x="11" y="139"/>
                  <a:pt x="11" y="139"/>
                  <a:pt x="11" y="139"/>
                </a:cubicBezTo>
                <a:cubicBezTo>
                  <a:pt x="5" y="139"/>
                  <a:pt x="1" y="144"/>
                  <a:pt x="1" y="150"/>
                </a:cubicBezTo>
                <a:cubicBezTo>
                  <a:pt x="1" y="203"/>
                  <a:pt x="1" y="203"/>
                  <a:pt x="1" y="203"/>
                </a:cubicBezTo>
                <a:cubicBezTo>
                  <a:pt x="1" y="209"/>
                  <a:pt x="5" y="214"/>
                  <a:pt x="11" y="214"/>
                </a:cubicBezTo>
                <a:cubicBezTo>
                  <a:pt x="97" y="214"/>
                  <a:pt x="97" y="214"/>
                  <a:pt x="97" y="214"/>
                </a:cubicBezTo>
                <a:cubicBezTo>
                  <a:pt x="103" y="214"/>
                  <a:pt x="107" y="209"/>
                  <a:pt x="107" y="203"/>
                </a:cubicBezTo>
                <a:cubicBezTo>
                  <a:pt x="107" y="150"/>
                  <a:pt x="107" y="150"/>
                  <a:pt x="107" y="150"/>
                </a:cubicBezTo>
                <a:cubicBezTo>
                  <a:pt x="107" y="144"/>
                  <a:pt x="103" y="139"/>
                  <a:pt x="97" y="139"/>
                </a:cubicBezTo>
                <a:cubicBezTo>
                  <a:pt x="65" y="139"/>
                  <a:pt x="65" y="139"/>
                  <a:pt x="65" y="139"/>
                </a:cubicBezTo>
                <a:cubicBezTo>
                  <a:pt x="65" y="97"/>
                  <a:pt x="65" y="97"/>
                  <a:pt x="65" y="97"/>
                </a:cubicBezTo>
                <a:cubicBezTo>
                  <a:pt x="214" y="97"/>
                  <a:pt x="214" y="97"/>
                  <a:pt x="214" y="97"/>
                </a:cubicBezTo>
                <a:cubicBezTo>
                  <a:pt x="214" y="257"/>
                  <a:pt x="214" y="257"/>
                  <a:pt x="214" y="257"/>
                </a:cubicBezTo>
                <a:cubicBezTo>
                  <a:pt x="33" y="257"/>
                  <a:pt x="33" y="257"/>
                  <a:pt x="33" y="257"/>
                </a:cubicBezTo>
                <a:cubicBezTo>
                  <a:pt x="27" y="257"/>
                  <a:pt x="22" y="261"/>
                  <a:pt x="22" y="267"/>
                </a:cubicBezTo>
                <a:cubicBezTo>
                  <a:pt x="22" y="273"/>
                  <a:pt x="27" y="278"/>
                  <a:pt x="33" y="278"/>
                </a:cubicBezTo>
                <a:cubicBezTo>
                  <a:pt x="289" y="278"/>
                  <a:pt x="289" y="278"/>
                  <a:pt x="289" y="278"/>
                </a:cubicBezTo>
                <a:cubicBezTo>
                  <a:pt x="295" y="278"/>
                  <a:pt x="299" y="273"/>
                  <a:pt x="299" y="267"/>
                </a:cubicBezTo>
                <a:cubicBezTo>
                  <a:pt x="299" y="261"/>
                  <a:pt x="295" y="257"/>
                  <a:pt x="289" y="257"/>
                </a:cubicBezTo>
                <a:cubicBezTo>
                  <a:pt x="289" y="97"/>
                  <a:pt x="289" y="97"/>
                  <a:pt x="289" y="97"/>
                </a:cubicBezTo>
                <a:cubicBezTo>
                  <a:pt x="310" y="97"/>
                  <a:pt x="310" y="97"/>
                  <a:pt x="310" y="97"/>
                </a:cubicBezTo>
                <a:cubicBezTo>
                  <a:pt x="314" y="97"/>
                  <a:pt x="318" y="94"/>
                  <a:pt x="320" y="90"/>
                </a:cubicBezTo>
                <a:cubicBezTo>
                  <a:pt x="321" y="87"/>
                  <a:pt x="321" y="82"/>
                  <a:pt x="318" y="79"/>
                </a:cubicBezTo>
                <a:close/>
                <a:moveTo>
                  <a:pt x="86" y="161"/>
                </a:moveTo>
                <a:cubicBezTo>
                  <a:pt x="86" y="193"/>
                  <a:pt x="86" y="193"/>
                  <a:pt x="86" y="193"/>
                </a:cubicBezTo>
                <a:cubicBezTo>
                  <a:pt x="22" y="193"/>
                  <a:pt x="22" y="193"/>
                  <a:pt x="22" y="193"/>
                </a:cubicBezTo>
                <a:cubicBezTo>
                  <a:pt x="22" y="161"/>
                  <a:pt x="22" y="161"/>
                  <a:pt x="22" y="161"/>
                </a:cubicBezTo>
                <a:lnTo>
                  <a:pt x="86" y="161"/>
                </a:lnTo>
                <a:close/>
                <a:moveTo>
                  <a:pt x="257" y="75"/>
                </a:moveTo>
                <a:cubicBezTo>
                  <a:pt x="257" y="40"/>
                  <a:pt x="257" y="40"/>
                  <a:pt x="257" y="40"/>
                </a:cubicBezTo>
                <a:cubicBezTo>
                  <a:pt x="287" y="75"/>
                  <a:pt x="287" y="75"/>
                  <a:pt x="287" y="75"/>
                </a:cubicBezTo>
                <a:lnTo>
                  <a:pt x="257" y="75"/>
                </a:lnTo>
                <a:close/>
                <a:moveTo>
                  <a:pt x="235" y="26"/>
                </a:moveTo>
                <a:cubicBezTo>
                  <a:pt x="235" y="75"/>
                  <a:pt x="235" y="75"/>
                  <a:pt x="235" y="75"/>
                </a:cubicBezTo>
                <a:cubicBezTo>
                  <a:pt x="80" y="75"/>
                  <a:pt x="80" y="75"/>
                  <a:pt x="80" y="75"/>
                </a:cubicBezTo>
                <a:lnTo>
                  <a:pt x="235" y="26"/>
                </a:lnTo>
                <a:close/>
                <a:moveTo>
                  <a:pt x="267" y="178"/>
                </a:moveTo>
                <a:cubicBezTo>
                  <a:pt x="235" y="217"/>
                  <a:pt x="235" y="217"/>
                  <a:pt x="235" y="217"/>
                </a:cubicBezTo>
                <a:cubicBezTo>
                  <a:pt x="235" y="175"/>
                  <a:pt x="235" y="175"/>
                  <a:pt x="235" y="175"/>
                </a:cubicBezTo>
                <a:cubicBezTo>
                  <a:pt x="267" y="137"/>
                  <a:pt x="267" y="137"/>
                  <a:pt x="267" y="137"/>
                </a:cubicBezTo>
                <a:lnTo>
                  <a:pt x="267" y="178"/>
                </a:lnTo>
                <a:close/>
                <a:moveTo>
                  <a:pt x="235" y="257"/>
                </a:moveTo>
                <a:cubicBezTo>
                  <a:pt x="235" y="250"/>
                  <a:pt x="235" y="250"/>
                  <a:pt x="235" y="250"/>
                </a:cubicBezTo>
                <a:cubicBezTo>
                  <a:pt x="267" y="211"/>
                  <a:pt x="267" y="211"/>
                  <a:pt x="267" y="211"/>
                </a:cubicBezTo>
                <a:cubicBezTo>
                  <a:pt x="267" y="257"/>
                  <a:pt x="267" y="257"/>
                  <a:pt x="267" y="257"/>
                </a:cubicBezTo>
                <a:lnTo>
                  <a:pt x="235" y="257"/>
                </a:lnTo>
                <a:close/>
                <a:moveTo>
                  <a:pt x="267" y="103"/>
                </a:moveTo>
                <a:cubicBezTo>
                  <a:pt x="235" y="142"/>
                  <a:pt x="235" y="142"/>
                  <a:pt x="235" y="142"/>
                </a:cubicBezTo>
                <a:cubicBezTo>
                  <a:pt x="235" y="97"/>
                  <a:pt x="235" y="97"/>
                  <a:pt x="235" y="97"/>
                </a:cubicBezTo>
                <a:cubicBezTo>
                  <a:pt x="267" y="97"/>
                  <a:pt x="267" y="97"/>
                  <a:pt x="267" y="97"/>
                </a:cubicBezTo>
                <a:lnTo>
                  <a:pt x="267" y="103"/>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71" name="Freeform 155"/>
          <p:cNvSpPr>
            <a:spLocks/>
          </p:cNvSpPr>
          <p:nvPr/>
        </p:nvSpPr>
        <p:spPr bwMode="auto">
          <a:xfrm>
            <a:off x="3348697" y="4906536"/>
            <a:ext cx="261915" cy="263157"/>
          </a:xfrm>
          <a:custGeom>
            <a:avLst/>
            <a:gdLst>
              <a:gd name="T0" fmla="*/ 234 w 317"/>
              <a:gd name="T1" fmla="*/ 191 h 320"/>
              <a:gd name="T2" fmla="*/ 234 w 317"/>
              <a:gd name="T3" fmla="*/ 128 h 320"/>
              <a:gd name="T4" fmla="*/ 305 w 317"/>
              <a:gd name="T5" fmla="*/ 147 h 320"/>
              <a:gd name="T6" fmla="*/ 308 w 317"/>
              <a:gd name="T7" fmla="*/ 126 h 320"/>
              <a:gd name="T8" fmla="*/ 293 w 317"/>
              <a:gd name="T9" fmla="*/ 94 h 320"/>
              <a:gd name="T10" fmla="*/ 283 w 317"/>
              <a:gd name="T11" fmla="*/ 76 h 320"/>
              <a:gd name="T12" fmla="*/ 262 w 317"/>
              <a:gd name="T13" fmla="*/ 47 h 320"/>
              <a:gd name="T14" fmla="*/ 242 w 317"/>
              <a:gd name="T15" fmla="*/ 41 h 320"/>
              <a:gd name="T16" fmla="*/ 169 w 317"/>
              <a:gd name="T17" fmla="*/ 141 h 320"/>
              <a:gd name="T18" fmla="*/ 220 w 317"/>
              <a:gd name="T19" fmla="*/ 29 h 320"/>
              <a:gd name="T20" fmla="*/ 204 w 317"/>
              <a:gd name="T21" fmla="*/ 13 h 320"/>
              <a:gd name="T22" fmla="*/ 169 w 317"/>
              <a:gd name="T23" fmla="*/ 10 h 320"/>
              <a:gd name="T24" fmla="*/ 148 w 317"/>
              <a:gd name="T25" fmla="*/ 10 h 320"/>
              <a:gd name="T26" fmla="*/ 113 w 317"/>
              <a:gd name="T27" fmla="*/ 13 h 320"/>
              <a:gd name="T28" fmla="*/ 98 w 317"/>
              <a:gd name="T29" fmla="*/ 29 h 320"/>
              <a:gd name="T30" fmla="*/ 148 w 317"/>
              <a:gd name="T31" fmla="*/ 141 h 320"/>
              <a:gd name="T32" fmla="*/ 75 w 317"/>
              <a:gd name="T33" fmla="*/ 41 h 320"/>
              <a:gd name="T34" fmla="*/ 55 w 317"/>
              <a:gd name="T35" fmla="*/ 47 h 320"/>
              <a:gd name="T36" fmla="*/ 35 w 317"/>
              <a:gd name="T37" fmla="*/ 76 h 320"/>
              <a:gd name="T38" fmla="*/ 24 w 317"/>
              <a:gd name="T39" fmla="*/ 94 h 320"/>
              <a:gd name="T40" fmla="*/ 9 w 317"/>
              <a:gd name="T41" fmla="*/ 126 h 320"/>
              <a:gd name="T42" fmla="*/ 12 w 317"/>
              <a:gd name="T43" fmla="*/ 147 h 320"/>
              <a:gd name="T44" fmla="*/ 83 w 317"/>
              <a:gd name="T45" fmla="*/ 128 h 320"/>
              <a:gd name="T46" fmla="*/ 83 w 317"/>
              <a:gd name="T47" fmla="*/ 191 h 320"/>
              <a:gd name="T48" fmla="*/ 2 w 317"/>
              <a:gd name="T49" fmla="*/ 180 h 320"/>
              <a:gd name="T50" fmla="*/ 57 w 317"/>
              <a:gd name="T51" fmla="*/ 206 h 320"/>
              <a:gd name="T52" fmla="*/ 20 w 317"/>
              <a:gd name="T53" fmla="*/ 240 h 320"/>
              <a:gd name="T54" fmla="*/ 35 w 317"/>
              <a:gd name="T55" fmla="*/ 244 h 320"/>
              <a:gd name="T56" fmla="*/ 55 w 317"/>
              <a:gd name="T57" fmla="*/ 272 h 320"/>
              <a:gd name="T58" fmla="*/ 65 w 317"/>
              <a:gd name="T59" fmla="*/ 286 h 320"/>
              <a:gd name="T60" fmla="*/ 94 w 317"/>
              <a:gd name="T61" fmla="*/ 209 h 320"/>
              <a:gd name="T62" fmla="*/ 148 w 317"/>
              <a:gd name="T63" fmla="*/ 241 h 320"/>
              <a:gd name="T64" fmla="*/ 98 w 317"/>
              <a:gd name="T65" fmla="*/ 306 h 320"/>
              <a:gd name="T66" fmla="*/ 113 w 317"/>
              <a:gd name="T67" fmla="*/ 306 h 320"/>
              <a:gd name="T68" fmla="*/ 148 w 317"/>
              <a:gd name="T69" fmla="*/ 309 h 320"/>
              <a:gd name="T70" fmla="*/ 169 w 317"/>
              <a:gd name="T71" fmla="*/ 309 h 320"/>
              <a:gd name="T72" fmla="*/ 204 w 317"/>
              <a:gd name="T73" fmla="*/ 306 h 320"/>
              <a:gd name="T74" fmla="*/ 220 w 317"/>
              <a:gd name="T75" fmla="*/ 306 h 320"/>
              <a:gd name="T76" fmla="*/ 169 w 317"/>
              <a:gd name="T77" fmla="*/ 241 h 320"/>
              <a:gd name="T78" fmla="*/ 223 w 317"/>
              <a:gd name="T79" fmla="*/ 209 h 320"/>
              <a:gd name="T80" fmla="*/ 252 w 317"/>
              <a:gd name="T81" fmla="*/ 286 h 320"/>
              <a:gd name="T82" fmla="*/ 262 w 317"/>
              <a:gd name="T83" fmla="*/ 272 h 320"/>
              <a:gd name="T84" fmla="*/ 283 w 317"/>
              <a:gd name="T85" fmla="*/ 244 h 320"/>
              <a:gd name="T86" fmla="*/ 297 w 317"/>
              <a:gd name="T87" fmla="*/ 240 h 320"/>
              <a:gd name="T88" fmla="*/ 260 w 317"/>
              <a:gd name="T89" fmla="*/ 206 h 320"/>
              <a:gd name="T90" fmla="*/ 316 w 317"/>
              <a:gd name="T91" fmla="*/ 18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7" h="320">
                <a:moveTo>
                  <a:pt x="303" y="172"/>
                </a:moveTo>
                <a:cubicBezTo>
                  <a:pt x="234" y="191"/>
                  <a:pt x="234" y="191"/>
                  <a:pt x="234" y="191"/>
                </a:cubicBezTo>
                <a:cubicBezTo>
                  <a:pt x="180" y="160"/>
                  <a:pt x="180" y="160"/>
                  <a:pt x="180" y="160"/>
                </a:cubicBezTo>
                <a:cubicBezTo>
                  <a:pt x="234" y="128"/>
                  <a:pt x="234" y="128"/>
                  <a:pt x="234" y="128"/>
                </a:cubicBezTo>
                <a:cubicBezTo>
                  <a:pt x="303" y="147"/>
                  <a:pt x="303" y="147"/>
                  <a:pt x="303" y="147"/>
                </a:cubicBezTo>
                <a:cubicBezTo>
                  <a:pt x="304" y="147"/>
                  <a:pt x="305" y="147"/>
                  <a:pt x="305" y="147"/>
                </a:cubicBezTo>
                <a:cubicBezTo>
                  <a:pt x="310" y="147"/>
                  <a:pt x="314" y="144"/>
                  <a:pt x="316" y="139"/>
                </a:cubicBezTo>
                <a:cubicBezTo>
                  <a:pt x="317" y="134"/>
                  <a:pt x="314" y="128"/>
                  <a:pt x="308" y="126"/>
                </a:cubicBezTo>
                <a:cubicBezTo>
                  <a:pt x="260" y="113"/>
                  <a:pt x="260" y="113"/>
                  <a:pt x="260" y="113"/>
                </a:cubicBezTo>
                <a:cubicBezTo>
                  <a:pt x="293" y="94"/>
                  <a:pt x="293" y="94"/>
                  <a:pt x="293" y="94"/>
                </a:cubicBezTo>
                <a:cubicBezTo>
                  <a:pt x="298" y="91"/>
                  <a:pt x="300" y="85"/>
                  <a:pt x="297" y="80"/>
                </a:cubicBezTo>
                <a:cubicBezTo>
                  <a:pt x="294" y="75"/>
                  <a:pt x="288" y="73"/>
                  <a:pt x="283" y="76"/>
                </a:cubicBezTo>
                <a:cubicBezTo>
                  <a:pt x="250" y="95"/>
                  <a:pt x="250" y="95"/>
                  <a:pt x="250" y="95"/>
                </a:cubicBezTo>
                <a:cubicBezTo>
                  <a:pt x="262" y="47"/>
                  <a:pt x="262" y="47"/>
                  <a:pt x="262" y="47"/>
                </a:cubicBezTo>
                <a:cubicBezTo>
                  <a:pt x="264" y="41"/>
                  <a:pt x="261" y="35"/>
                  <a:pt x="255" y="34"/>
                </a:cubicBezTo>
                <a:cubicBezTo>
                  <a:pt x="249" y="32"/>
                  <a:pt x="243" y="36"/>
                  <a:pt x="242" y="41"/>
                </a:cubicBezTo>
                <a:cubicBezTo>
                  <a:pt x="223" y="110"/>
                  <a:pt x="223" y="110"/>
                  <a:pt x="223" y="110"/>
                </a:cubicBezTo>
                <a:cubicBezTo>
                  <a:pt x="169" y="141"/>
                  <a:pt x="169" y="141"/>
                  <a:pt x="169" y="141"/>
                </a:cubicBezTo>
                <a:cubicBezTo>
                  <a:pt x="169" y="79"/>
                  <a:pt x="169" y="79"/>
                  <a:pt x="169" y="79"/>
                </a:cubicBezTo>
                <a:cubicBezTo>
                  <a:pt x="220" y="29"/>
                  <a:pt x="220" y="29"/>
                  <a:pt x="220" y="29"/>
                </a:cubicBezTo>
                <a:cubicBezTo>
                  <a:pt x="224" y="24"/>
                  <a:pt x="224" y="18"/>
                  <a:pt x="220" y="13"/>
                </a:cubicBezTo>
                <a:cubicBezTo>
                  <a:pt x="215" y="9"/>
                  <a:pt x="209" y="9"/>
                  <a:pt x="204" y="13"/>
                </a:cubicBezTo>
                <a:cubicBezTo>
                  <a:pt x="169" y="49"/>
                  <a:pt x="169" y="49"/>
                  <a:pt x="169" y="49"/>
                </a:cubicBezTo>
                <a:cubicBezTo>
                  <a:pt x="169" y="10"/>
                  <a:pt x="169" y="10"/>
                  <a:pt x="169" y="10"/>
                </a:cubicBezTo>
                <a:cubicBezTo>
                  <a:pt x="169" y="4"/>
                  <a:pt x="165" y="0"/>
                  <a:pt x="159" y="0"/>
                </a:cubicBezTo>
                <a:cubicBezTo>
                  <a:pt x="153" y="0"/>
                  <a:pt x="148" y="4"/>
                  <a:pt x="148" y="10"/>
                </a:cubicBezTo>
                <a:cubicBezTo>
                  <a:pt x="148" y="49"/>
                  <a:pt x="148" y="49"/>
                  <a:pt x="148" y="49"/>
                </a:cubicBezTo>
                <a:cubicBezTo>
                  <a:pt x="113" y="13"/>
                  <a:pt x="113" y="13"/>
                  <a:pt x="113" y="13"/>
                </a:cubicBezTo>
                <a:cubicBezTo>
                  <a:pt x="109" y="9"/>
                  <a:pt x="102" y="9"/>
                  <a:pt x="98" y="13"/>
                </a:cubicBezTo>
                <a:cubicBezTo>
                  <a:pt x="94" y="18"/>
                  <a:pt x="94" y="24"/>
                  <a:pt x="98" y="29"/>
                </a:cubicBezTo>
                <a:cubicBezTo>
                  <a:pt x="148" y="79"/>
                  <a:pt x="148" y="79"/>
                  <a:pt x="148" y="79"/>
                </a:cubicBezTo>
                <a:cubicBezTo>
                  <a:pt x="148" y="141"/>
                  <a:pt x="148" y="141"/>
                  <a:pt x="148" y="141"/>
                </a:cubicBezTo>
                <a:cubicBezTo>
                  <a:pt x="94" y="110"/>
                  <a:pt x="94" y="110"/>
                  <a:pt x="94" y="110"/>
                </a:cubicBezTo>
                <a:cubicBezTo>
                  <a:pt x="75" y="41"/>
                  <a:pt x="75" y="41"/>
                  <a:pt x="75" y="41"/>
                </a:cubicBezTo>
                <a:cubicBezTo>
                  <a:pt x="74" y="36"/>
                  <a:pt x="68" y="32"/>
                  <a:pt x="62" y="34"/>
                </a:cubicBezTo>
                <a:cubicBezTo>
                  <a:pt x="57" y="35"/>
                  <a:pt x="53" y="41"/>
                  <a:pt x="55" y="47"/>
                </a:cubicBezTo>
                <a:cubicBezTo>
                  <a:pt x="68" y="95"/>
                  <a:pt x="68" y="95"/>
                  <a:pt x="68" y="95"/>
                </a:cubicBezTo>
                <a:cubicBezTo>
                  <a:pt x="35" y="76"/>
                  <a:pt x="35" y="76"/>
                  <a:pt x="35" y="76"/>
                </a:cubicBezTo>
                <a:cubicBezTo>
                  <a:pt x="30" y="73"/>
                  <a:pt x="23" y="75"/>
                  <a:pt x="20" y="80"/>
                </a:cubicBezTo>
                <a:cubicBezTo>
                  <a:pt x="17" y="85"/>
                  <a:pt x="19" y="91"/>
                  <a:pt x="24" y="94"/>
                </a:cubicBezTo>
                <a:cubicBezTo>
                  <a:pt x="57" y="113"/>
                  <a:pt x="57" y="113"/>
                  <a:pt x="57" y="113"/>
                </a:cubicBezTo>
                <a:cubicBezTo>
                  <a:pt x="9" y="126"/>
                  <a:pt x="9" y="126"/>
                  <a:pt x="9" y="126"/>
                </a:cubicBezTo>
                <a:cubicBezTo>
                  <a:pt x="3" y="128"/>
                  <a:pt x="0" y="134"/>
                  <a:pt x="2" y="139"/>
                </a:cubicBezTo>
                <a:cubicBezTo>
                  <a:pt x="3" y="144"/>
                  <a:pt x="7" y="147"/>
                  <a:pt x="12" y="147"/>
                </a:cubicBezTo>
                <a:cubicBezTo>
                  <a:pt x="13" y="147"/>
                  <a:pt x="14" y="147"/>
                  <a:pt x="15" y="147"/>
                </a:cubicBezTo>
                <a:cubicBezTo>
                  <a:pt x="83" y="128"/>
                  <a:pt x="83" y="128"/>
                  <a:pt x="83" y="128"/>
                </a:cubicBezTo>
                <a:cubicBezTo>
                  <a:pt x="137" y="160"/>
                  <a:pt x="137" y="160"/>
                  <a:pt x="137" y="160"/>
                </a:cubicBezTo>
                <a:cubicBezTo>
                  <a:pt x="83" y="191"/>
                  <a:pt x="83" y="191"/>
                  <a:pt x="83" y="191"/>
                </a:cubicBezTo>
                <a:cubicBezTo>
                  <a:pt x="15" y="172"/>
                  <a:pt x="15" y="172"/>
                  <a:pt x="15" y="172"/>
                </a:cubicBezTo>
                <a:cubicBezTo>
                  <a:pt x="9" y="171"/>
                  <a:pt x="3" y="174"/>
                  <a:pt x="2" y="180"/>
                </a:cubicBezTo>
                <a:cubicBezTo>
                  <a:pt x="0" y="186"/>
                  <a:pt x="3" y="192"/>
                  <a:pt x="9" y="193"/>
                </a:cubicBezTo>
                <a:cubicBezTo>
                  <a:pt x="57" y="206"/>
                  <a:pt x="57" y="206"/>
                  <a:pt x="57" y="206"/>
                </a:cubicBezTo>
                <a:cubicBezTo>
                  <a:pt x="24" y="225"/>
                  <a:pt x="24" y="225"/>
                  <a:pt x="24" y="225"/>
                </a:cubicBezTo>
                <a:cubicBezTo>
                  <a:pt x="19" y="228"/>
                  <a:pt x="17" y="234"/>
                  <a:pt x="20" y="240"/>
                </a:cubicBezTo>
                <a:cubicBezTo>
                  <a:pt x="22" y="243"/>
                  <a:pt x="26" y="245"/>
                  <a:pt x="29" y="245"/>
                </a:cubicBezTo>
                <a:cubicBezTo>
                  <a:pt x="31" y="245"/>
                  <a:pt x="33" y="244"/>
                  <a:pt x="35" y="244"/>
                </a:cubicBezTo>
                <a:cubicBezTo>
                  <a:pt x="68" y="224"/>
                  <a:pt x="68" y="224"/>
                  <a:pt x="68" y="224"/>
                </a:cubicBezTo>
                <a:cubicBezTo>
                  <a:pt x="55" y="272"/>
                  <a:pt x="55" y="272"/>
                  <a:pt x="55" y="272"/>
                </a:cubicBezTo>
                <a:cubicBezTo>
                  <a:pt x="53" y="278"/>
                  <a:pt x="57" y="284"/>
                  <a:pt x="62" y="285"/>
                </a:cubicBezTo>
                <a:cubicBezTo>
                  <a:pt x="63" y="286"/>
                  <a:pt x="64" y="286"/>
                  <a:pt x="65" y="286"/>
                </a:cubicBezTo>
                <a:cubicBezTo>
                  <a:pt x="70" y="286"/>
                  <a:pt x="74" y="283"/>
                  <a:pt x="75" y="278"/>
                </a:cubicBezTo>
                <a:cubicBezTo>
                  <a:pt x="94" y="209"/>
                  <a:pt x="94" y="209"/>
                  <a:pt x="94" y="209"/>
                </a:cubicBezTo>
                <a:cubicBezTo>
                  <a:pt x="148" y="178"/>
                  <a:pt x="148" y="178"/>
                  <a:pt x="148" y="178"/>
                </a:cubicBezTo>
                <a:cubicBezTo>
                  <a:pt x="148" y="241"/>
                  <a:pt x="148" y="241"/>
                  <a:pt x="148" y="241"/>
                </a:cubicBezTo>
                <a:cubicBezTo>
                  <a:pt x="98" y="291"/>
                  <a:pt x="98" y="291"/>
                  <a:pt x="98" y="291"/>
                </a:cubicBezTo>
                <a:cubicBezTo>
                  <a:pt x="94" y="295"/>
                  <a:pt x="94" y="302"/>
                  <a:pt x="98" y="306"/>
                </a:cubicBezTo>
                <a:cubicBezTo>
                  <a:pt x="100" y="308"/>
                  <a:pt x="103" y="309"/>
                  <a:pt x="105" y="309"/>
                </a:cubicBezTo>
                <a:cubicBezTo>
                  <a:pt x="108" y="309"/>
                  <a:pt x="111" y="308"/>
                  <a:pt x="113" y="306"/>
                </a:cubicBezTo>
                <a:cubicBezTo>
                  <a:pt x="148" y="271"/>
                  <a:pt x="148" y="271"/>
                  <a:pt x="148" y="271"/>
                </a:cubicBezTo>
                <a:cubicBezTo>
                  <a:pt x="148" y="309"/>
                  <a:pt x="148" y="309"/>
                  <a:pt x="148" y="309"/>
                </a:cubicBezTo>
                <a:cubicBezTo>
                  <a:pt x="148" y="315"/>
                  <a:pt x="153" y="320"/>
                  <a:pt x="159" y="320"/>
                </a:cubicBezTo>
                <a:cubicBezTo>
                  <a:pt x="165" y="320"/>
                  <a:pt x="169" y="315"/>
                  <a:pt x="169" y="309"/>
                </a:cubicBezTo>
                <a:cubicBezTo>
                  <a:pt x="169" y="271"/>
                  <a:pt x="169" y="271"/>
                  <a:pt x="169" y="271"/>
                </a:cubicBezTo>
                <a:cubicBezTo>
                  <a:pt x="204" y="306"/>
                  <a:pt x="204" y="306"/>
                  <a:pt x="204" y="306"/>
                </a:cubicBezTo>
                <a:cubicBezTo>
                  <a:pt x="207" y="308"/>
                  <a:pt x="209" y="309"/>
                  <a:pt x="212" y="309"/>
                </a:cubicBezTo>
                <a:cubicBezTo>
                  <a:pt x="215" y="309"/>
                  <a:pt x="217" y="308"/>
                  <a:pt x="220" y="306"/>
                </a:cubicBezTo>
                <a:cubicBezTo>
                  <a:pt x="224" y="302"/>
                  <a:pt x="224" y="295"/>
                  <a:pt x="220" y="291"/>
                </a:cubicBezTo>
                <a:cubicBezTo>
                  <a:pt x="169" y="241"/>
                  <a:pt x="169" y="241"/>
                  <a:pt x="169" y="241"/>
                </a:cubicBezTo>
                <a:cubicBezTo>
                  <a:pt x="169" y="178"/>
                  <a:pt x="169" y="178"/>
                  <a:pt x="169" y="178"/>
                </a:cubicBezTo>
                <a:cubicBezTo>
                  <a:pt x="223" y="209"/>
                  <a:pt x="223" y="209"/>
                  <a:pt x="223" y="209"/>
                </a:cubicBezTo>
                <a:cubicBezTo>
                  <a:pt x="242" y="278"/>
                  <a:pt x="242" y="278"/>
                  <a:pt x="242" y="278"/>
                </a:cubicBezTo>
                <a:cubicBezTo>
                  <a:pt x="243" y="283"/>
                  <a:pt x="247" y="286"/>
                  <a:pt x="252" y="286"/>
                </a:cubicBezTo>
                <a:cubicBezTo>
                  <a:pt x="253" y="286"/>
                  <a:pt x="254" y="286"/>
                  <a:pt x="255" y="285"/>
                </a:cubicBezTo>
                <a:cubicBezTo>
                  <a:pt x="261" y="284"/>
                  <a:pt x="264" y="278"/>
                  <a:pt x="262" y="272"/>
                </a:cubicBezTo>
                <a:cubicBezTo>
                  <a:pt x="250" y="224"/>
                  <a:pt x="250" y="224"/>
                  <a:pt x="250" y="224"/>
                </a:cubicBezTo>
                <a:cubicBezTo>
                  <a:pt x="283" y="244"/>
                  <a:pt x="283" y="244"/>
                  <a:pt x="283" y="244"/>
                </a:cubicBezTo>
                <a:cubicBezTo>
                  <a:pt x="284" y="244"/>
                  <a:pt x="286" y="245"/>
                  <a:pt x="288" y="245"/>
                </a:cubicBezTo>
                <a:cubicBezTo>
                  <a:pt x="292" y="245"/>
                  <a:pt x="295" y="243"/>
                  <a:pt x="297" y="240"/>
                </a:cubicBezTo>
                <a:cubicBezTo>
                  <a:pt x="300" y="234"/>
                  <a:pt x="298" y="228"/>
                  <a:pt x="293" y="225"/>
                </a:cubicBezTo>
                <a:cubicBezTo>
                  <a:pt x="260" y="206"/>
                  <a:pt x="260" y="206"/>
                  <a:pt x="260" y="206"/>
                </a:cubicBezTo>
                <a:cubicBezTo>
                  <a:pt x="308" y="193"/>
                  <a:pt x="308" y="193"/>
                  <a:pt x="308" y="193"/>
                </a:cubicBezTo>
                <a:cubicBezTo>
                  <a:pt x="314" y="192"/>
                  <a:pt x="317" y="186"/>
                  <a:pt x="316" y="180"/>
                </a:cubicBezTo>
                <a:cubicBezTo>
                  <a:pt x="314" y="174"/>
                  <a:pt x="308" y="171"/>
                  <a:pt x="303" y="172"/>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75" name="Freeform 684"/>
          <p:cNvSpPr>
            <a:spLocks noEditPoints="1"/>
          </p:cNvSpPr>
          <p:nvPr/>
        </p:nvSpPr>
        <p:spPr bwMode="auto">
          <a:xfrm>
            <a:off x="3384685" y="6348320"/>
            <a:ext cx="309709" cy="247478"/>
          </a:xfrm>
          <a:custGeom>
            <a:avLst/>
            <a:gdLst>
              <a:gd name="T0" fmla="*/ 313 w 322"/>
              <a:gd name="T1" fmla="*/ 22 h 257"/>
              <a:gd name="T2" fmla="*/ 276 w 322"/>
              <a:gd name="T3" fmla="*/ 31 h 257"/>
              <a:gd name="T4" fmla="*/ 246 w 322"/>
              <a:gd name="T5" fmla="*/ 185 h 257"/>
              <a:gd name="T6" fmla="*/ 235 w 322"/>
              <a:gd name="T7" fmla="*/ 193 h 257"/>
              <a:gd name="T8" fmla="*/ 235 w 322"/>
              <a:gd name="T9" fmla="*/ 193 h 257"/>
              <a:gd name="T10" fmla="*/ 235 w 322"/>
              <a:gd name="T11" fmla="*/ 193 h 257"/>
              <a:gd name="T12" fmla="*/ 54 w 322"/>
              <a:gd name="T13" fmla="*/ 193 h 257"/>
              <a:gd name="T14" fmla="*/ 43 w 322"/>
              <a:gd name="T15" fmla="*/ 183 h 257"/>
              <a:gd name="T16" fmla="*/ 54 w 322"/>
              <a:gd name="T17" fmla="*/ 172 h 257"/>
              <a:gd name="T18" fmla="*/ 227 w 322"/>
              <a:gd name="T19" fmla="*/ 172 h 257"/>
              <a:gd name="T20" fmla="*/ 257 w 322"/>
              <a:gd name="T21" fmla="*/ 21 h 257"/>
              <a:gd name="T22" fmla="*/ 265 w 322"/>
              <a:gd name="T23" fmla="*/ 12 h 257"/>
              <a:gd name="T24" fmla="*/ 307 w 322"/>
              <a:gd name="T25" fmla="*/ 2 h 257"/>
              <a:gd name="T26" fmla="*/ 320 w 322"/>
              <a:gd name="T27" fmla="*/ 9 h 257"/>
              <a:gd name="T28" fmla="*/ 313 w 322"/>
              <a:gd name="T29" fmla="*/ 22 h 257"/>
              <a:gd name="T30" fmla="*/ 203 w 322"/>
              <a:gd name="T31" fmla="*/ 140 h 257"/>
              <a:gd name="T32" fmla="*/ 193 w 322"/>
              <a:gd name="T33" fmla="*/ 129 h 257"/>
              <a:gd name="T34" fmla="*/ 41 w 322"/>
              <a:gd name="T35" fmla="*/ 129 h 257"/>
              <a:gd name="T36" fmla="*/ 25 w 322"/>
              <a:gd name="T37" fmla="*/ 65 h 257"/>
              <a:gd name="T38" fmla="*/ 214 w 322"/>
              <a:gd name="T39" fmla="*/ 65 h 257"/>
              <a:gd name="T40" fmla="*/ 225 w 322"/>
              <a:gd name="T41" fmla="*/ 55 h 257"/>
              <a:gd name="T42" fmla="*/ 214 w 322"/>
              <a:gd name="T43" fmla="*/ 44 h 257"/>
              <a:gd name="T44" fmla="*/ 11 w 322"/>
              <a:gd name="T45" fmla="*/ 44 h 257"/>
              <a:gd name="T46" fmla="*/ 3 w 322"/>
              <a:gd name="T47" fmla="*/ 48 h 257"/>
              <a:gd name="T48" fmla="*/ 1 w 322"/>
              <a:gd name="T49" fmla="*/ 57 h 257"/>
              <a:gd name="T50" fmla="*/ 22 w 322"/>
              <a:gd name="T51" fmla="*/ 143 h 257"/>
              <a:gd name="T52" fmla="*/ 33 w 322"/>
              <a:gd name="T53" fmla="*/ 151 h 257"/>
              <a:gd name="T54" fmla="*/ 193 w 322"/>
              <a:gd name="T55" fmla="*/ 151 h 257"/>
              <a:gd name="T56" fmla="*/ 203 w 322"/>
              <a:gd name="T57" fmla="*/ 140 h 257"/>
              <a:gd name="T58" fmla="*/ 65 w 322"/>
              <a:gd name="T59" fmla="*/ 87 h 257"/>
              <a:gd name="T60" fmla="*/ 54 w 322"/>
              <a:gd name="T61" fmla="*/ 97 h 257"/>
              <a:gd name="T62" fmla="*/ 65 w 322"/>
              <a:gd name="T63" fmla="*/ 108 h 257"/>
              <a:gd name="T64" fmla="*/ 203 w 322"/>
              <a:gd name="T65" fmla="*/ 108 h 257"/>
              <a:gd name="T66" fmla="*/ 214 w 322"/>
              <a:gd name="T67" fmla="*/ 97 h 257"/>
              <a:gd name="T68" fmla="*/ 203 w 322"/>
              <a:gd name="T69" fmla="*/ 87 h 257"/>
              <a:gd name="T70" fmla="*/ 65 w 322"/>
              <a:gd name="T71" fmla="*/ 87 h 257"/>
              <a:gd name="T72" fmla="*/ 75 w 322"/>
              <a:gd name="T73" fmla="*/ 215 h 257"/>
              <a:gd name="T74" fmla="*/ 54 w 322"/>
              <a:gd name="T75" fmla="*/ 236 h 257"/>
              <a:gd name="T76" fmla="*/ 75 w 322"/>
              <a:gd name="T77" fmla="*/ 257 h 257"/>
              <a:gd name="T78" fmla="*/ 97 w 322"/>
              <a:gd name="T79" fmla="*/ 236 h 257"/>
              <a:gd name="T80" fmla="*/ 75 w 322"/>
              <a:gd name="T81" fmla="*/ 215 h 257"/>
              <a:gd name="T82" fmla="*/ 214 w 322"/>
              <a:gd name="T83" fmla="*/ 215 h 257"/>
              <a:gd name="T84" fmla="*/ 193 w 322"/>
              <a:gd name="T85" fmla="*/ 236 h 257"/>
              <a:gd name="T86" fmla="*/ 214 w 322"/>
              <a:gd name="T87" fmla="*/ 257 h 257"/>
              <a:gd name="T88" fmla="*/ 235 w 322"/>
              <a:gd name="T89" fmla="*/ 236 h 257"/>
              <a:gd name="T90" fmla="*/ 214 w 322"/>
              <a:gd name="T91" fmla="*/ 215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2" h="257">
                <a:moveTo>
                  <a:pt x="313" y="22"/>
                </a:moveTo>
                <a:cubicBezTo>
                  <a:pt x="276" y="31"/>
                  <a:pt x="276" y="31"/>
                  <a:pt x="276" y="31"/>
                </a:cubicBezTo>
                <a:cubicBezTo>
                  <a:pt x="246" y="185"/>
                  <a:pt x="246" y="185"/>
                  <a:pt x="246" y="185"/>
                </a:cubicBezTo>
                <a:cubicBezTo>
                  <a:pt x="245" y="190"/>
                  <a:pt x="240" y="193"/>
                  <a:pt x="235" y="193"/>
                </a:cubicBezTo>
                <a:cubicBezTo>
                  <a:pt x="235" y="193"/>
                  <a:pt x="235" y="193"/>
                  <a:pt x="235" y="193"/>
                </a:cubicBezTo>
                <a:cubicBezTo>
                  <a:pt x="235" y="193"/>
                  <a:pt x="235" y="193"/>
                  <a:pt x="235" y="193"/>
                </a:cubicBezTo>
                <a:cubicBezTo>
                  <a:pt x="54" y="193"/>
                  <a:pt x="54" y="193"/>
                  <a:pt x="54" y="193"/>
                </a:cubicBezTo>
                <a:cubicBezTo>
                  <a:pt x="48" y="193"/>
                  <a:pt x="43" y="189"/>
                  <a:pt x="43" y="183"/>
                </a:cubicBezTo>
                <a:cubicBezTo>
                  <a:pt x="43" y="177"/>
                  <a:pt x="48" y="172"/>
                  <a:pt x="54" y="172"/>
                </a:cubicBezTo>
                <a:cubicBezTo>
                  <a:pt x="227" y="172"/>
                  <a:pt x="227" y="172"/>
                  <a:pt x="227" y="172"/>
                </a:cubicBezTo>
                <a:cubicBezTo>
                  <a:pt x="257" y="21"/>
                  <a:pt x="257" y="21"/>
                  <a:pt x="257" y="21"/>
                </a:cubicBezTo>
                <a:cubicBezTo>
                  <a:pt x="258" y="17"/>
                  <a:pt x="261" y="13"/>
                  <a:pt x="265" y="12"/>
                </a:cubicBezTo>
                <a:cubicBezTo>
                  <a:pt x="307" y="2"/>
                  <a:pt x="307" y="2"/>
                  <a:pt x="307" y="2"/>
                </a:cubicBezTo>
                <a:cubicBezTo>
                  <a:pt x="313" y="0"/>
                  <a:pt x="319" y="4"/>
                  <a:pt x="320" y="9"/>
                </a:cubicBezTo>
                <a:cubicBezTo>
                  <a:pt x="322" y="15"/>
                  <a:pt x="318" y="21"/>
                  <a:pt x="313" y="22"/>
                </a:cubicBezTo>
                <a:close/>
                <a:moveTo>
                  <a:pt x="203" y="140"/>
                </a:moveTo>
                <a:cubicBezTo>
                  <a:pt x="203" y="134"/>
                  <a:pt x="199" y="129"/>
                  <a:pt x="193" y="129"/>
                </a:cubicBezTo>
                <a:cubicBezTo>
                  <a:pt x="41" y="129"/>
                  <a:pt x="41" y="129"/>
                  <a:pt x="41" y="129"/>
                </a:cubicBezTo>
                <a:cubicBezTo>
                  <a:pt x="25" y="65"/>
                  <a:pt x="25" y="65"/>
                  <a:pt x="25" y="65"/>
                </a:cubicBezTo>
                <a:cubicBezTo>
                  <a:pt x="214" y="65"/>
                  <a:pt x="214" y="65"/>
                  <a:pt x="214" y="65"/>
                </a:cubicBezTo>
                <a:cubicBezTo>
                  <a:pt x="220" y="65"/>
                  <a:pt x="225" y="61"/>
                  <a:pt x="225" y="55"/>
                </a:cubicBezTo>
                <a:cubicBezTo>
                  <a:pt x="225" y="49"/>
                  <a:pt x="220" y="44"/>
                  <a:pt x="214" y="44"/>
                </a:cubicBezTo>
                <a:cubicBezTo>
                  <a:pt x="11" y="44"/>
                  <a:pt x="11" y="44"/>
                  <a:pt x="11" y="44"/>
                </a:cubicBezTo>
                <a:cubicBezTo>
                  <a:pt x="8" y="44"/>
                  <a:pt x="5" y="46"/>
                  <a:pt x="3" y="48"/>
                </a:cubicBezTo>
                <a:cubicBezTo>
                  <a:pt x="1" y="51"/>
                  <a:pt x="0" y="54"/>
                  <a:pt x="1" y="57"/>
                </a:cubicBezTo>
                <a:cubicBezTo>
                  <a:pt x="22" y="143"/>
                  <a:pt x="22" y="143"/>
                  <a:pt x="22" y="143"/>
                </a:cubicBezTo>
                <a:cubicBezTo>
                  <a:pt x="24" y="147"/>
                  <a:pt x="28" y="151"/>
                  <a:pt x="33" y="151"/>
                </a:cubicBezTo>
                <a:cubicBezTo>
                  <a:pt x="193" y="151"/>
                  <a:pt x="193" y="151"/>
                  <a:pt x="193" y="151"/>
                </a:cubicBezTo>
                <a:cubicBezTo>
                  <a:pt x="199" y="151"/>
                  <a:pt x="203" y="146"/>
                  <a:pt x="203" y="140"/>
                </a:cubicBezTo>
                <a:close/>
                <a:moveTo>
                  <a:pt x="65" y="87"/>
                </a:moveTo>
                <a:cubicBezTo>
                  <a:pt x="59" y="87"/>
                  <a:pt x="54" y="91"/>
                  <a:pt x="54" y="97"/>
                </a:cubicBezTo>
                <a:cubicBezTo>
                  <a:pt x="54" y="103"/>
                  <a:pt x="59" y="108"/>
                  <a:pt x="65" y="108"/>
                </a:cubicBezTo>
                <a:cubicBezTo>
                  <a:pt x="203" y="108"/>
                  <a:pt x="203" y="108"/>
                  <a:pt x="203" y="108"/>
                </a:cubicBezTo>
                <a:cubicBezTo>
                  <a:pt x="209" y="108"/>
                  <a:pt x="214" y="103"/>
                  <a:pt x="214" y="97"/>
                </a:cubicBezTo>
                <a:cubicBezTo>
                  <a:pt x="214" y="91"/>
                  <a:pt x="209" y="87"/>
                  <a:pt x="203" y="87"/>
                </a:cubicBezTo>
                <a:lnTo>
                  <a:pt x="65" y="87"/>
                </a:lnTo>
                <a:close/>
                <a:moveTo>
                  <a:pt x="75" y="215"/>
                </a:moveTo>
                <a:cubicBezTo>
                  <a:pt x="64" y="215"/>
                  <a:pt x="54" y="224"/>
                  <a:pt x="54" y="236"/>
                </a:cubicBezTo>
                <a:cubicBezTo>
                  <a:pt x="54" y="248"/>
                  <a:pt x="64" y="257"/>
                  <a:pt x="75" y="257"/>
                </a:cubicBezTo>
                <a:cubicBezTo>
                  <a:pt x="87" y="257"/>
                  <a:pt x="97" y="248"/>
                  <a:pt x="97" y="236"/>
                </a:cubicBezTo>
                <a:cubicBezTo>
                  <a:pt x="97" y="224"/>
                  <a:pt x="87" y="215"/>
                  <a:pt x="75" y="215"/>
                </a:cubicBezTo>
                <a:close/>
                <a:moveTo>
                  <a:pt x="214" y="215"/>
                </a:moveTo>
                <a:cubicBezTo>
                  <a:pt x="202" y="215"/>
                  <a:pt x="193" y="224"/>
                  <a:pt x="193" y="236"/>
                </a:cubicBezTo>
                <a:cubicBezTo>
                  <a:pt x="193" y="248"/>
                  <a:pt x="202" y="257"/>
                  <a:pt x="214" y="257"/>
                </a:cubicBezTo>
                <a:cubicBezTo>
                  <a:pt x="226" y="257"/>
                  <a:pt x="235" y="248"/>
                  <a:pt x="235" y="236"/>
                </a:cubicBezTo>
                <a:cubicBezTo>
                  <a:pt x="235" y="224"/>
                  <a:pt x="226" y="215"/>
                  <a:pt x="214" y="215"/>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78" name="Freeform 377"/>
          <p:cNvSpPr>
            <a:spLocks noEditPoints="1"/>
          </p:cNvSpPr>
          <p:nvPr/>
        </p:nvSpPr>
        <p:spPr bwMode="auto">
          <a:xfrm>
            <a:off x="6752295" y="5990568"/>
            <a:ext cx="323607" cy="207710"/>
          </a:xfrm>
          <a:custGeom>
            <a:avLst/>
            <a:gdLst>
              <a:gd name="T0" fmla="*/ 268 w 323"/>
              <a:gd name="T1" fmla="*/ 138 h 208"/>
              <a:gd name="T2" fmla="*/ 322 w 323"/>
              <a:gd name="T3" fmla="*/ 128 h 208"/>
              <a:gd name="T4" fmla="*/ 268 w 323"/>
              <a:gd name="T5" fmla="*/ 117 h 208"/>
              <a:gd name="T6" fmla="*/ 307 w 323"/>
              <a:gd name="T7" fmla="*/ 82 h 208"/>
              <a:gd name="T8" fmla="*/ 321 w 323"/>
              <a:gd name="T9" fmla="*/ 76 h 208"/>
              <a:gd name="T10" fmla="*/ 268 w 323"/>
              <a:gd name="T11" fmla="*/ 28 h 208"/>
              <a:gd name="T12" fmla="*/ 258 w 323"/>
              <a:gd name="T13" fmla="*/ 0 h 208"/>
              <a:gd name="T14" fmla="*/ 247 w 323"/>
              <a:gd name="T15" fmla="*/ 28 h 208"/>
              <a:gd name="T16" fmla="*/ 76 w 323"/>
              <a:gd name="T17" fmla="*/ 28 h 208"/>
              <a:gd name="T18" fmla="*/ 66 w 323"/>
              <a:gd name="T19" fmla="*/ 0 h 208"/>
              <a:gd name="T20" fmla="*/ 55 w 323"/>
              <a:gd name="T21" fmla="*/ 28 h 208"/>
              <a:gd name="T22" fmla="*/ 2 w 323"/>
              <a:gd name="T23" fmla="*/ 76 h 208"/>
              <a:gd name="T24" fmla="*/ 16 w 323"/>
              <a:gd name="T25" fmla="*/ 82 h 208"/>
              <a:gd name="T26" fmla="*/ 55 w 323"/>
              <a:gd name="T27" fmla="*/ 117 h 208"/>
              <a:gd name="T28" fmla="*/ 2 w 323"/>
              <a:gd name="T29" fmla="*/ 128 h 208"/>
              <a:gd name="T30" fmla="*/ 55 w 323"/>
              <a:gd name="T31" fmla="*/ 138 h 208"/>
              <a:gd name="T32" fmla="*/ 55 w 323"/>
              <a:gd name="T33" fmla="*/ 181 h 208"/>
              <a:gd name="T34" fmla="*/ 42 w 323"/>
              <a:gd name="T35" fmla="*/ 174 h 208"/>
              <a:gd name="T36" fmla="*/ 26 w 323"/>
              <a:gd name="T37" fmla="*/ 173 h 208"/>
              <a:gd name="T38" fmla="*/ 2 w 323"/>
              <a:gd name="T39" fmla="*/ 198 h 208"/>
              <a:gd name="T40" fmla="*/ 33 w 323"/>
              <a:gd name="T41" fmla="*/ 195 h 208"/>
              <a:gd name="T42" fmla="*/ 97 w 323"/>
              <a:gd name="T43" fmla="*/ 196 h 208"/>
              <a:gd name="T44" fmla="*/ 161 w 323"/>
              <a:gd name="T45" fmla="*/ 196 h 208"/>
              <a:gd name="T46" fmla="*/ 225 w 323"/>
              <a:gd name="T47" fmla="*/ 196 h 208"/>
              <a:gd name="T48" fmla="*/ 257 w 323"/>
              <a:gd name="T49" fmla="*/ 208 h 208"/>
              <a:gd name="T50" fmla="*/ 308 w 323"/>
              <a:gd name="T51" fmla="*/ 206 h 208"/>
              <a:gd name="T52" fmla="*/ 314 w 323"/>
              <a:gd name="T53" fmla="*/ 185 h 208"/>
              <a:gd name="T54" fmla="*/ 290 w 323"/>
              <a:gd name="T55" fmla="*/ 170 h 208"/>
              <a:gd name="T56" fmla="*/ 268 w 323"/>
              <a:gd name="T57" fmla="*/ 183 h 208"/>
              <a:gd name="T58" fmla="*/ 268 w 323"/>
              <a:gd name="T59" fmla="*/ 170 h 208"/>
              <a:gd name="T60" fmla="*/ 162 w 323"/>
              <a:gd name="T61" fmla="*/ 90 h 208"/>
              <a:gd name="T62" fmla="*/ 247 w 323"/>
              <a:gd name="T63" fmla="*/ 117 h 208"/>
              <a:gd name="T64" fmla="*/ 76 w 323"/>
              <a:gd name="T65" fmla="*/ 59 h 208"/>
              <a:gd name="T66" fmla="*/ 226 w 323"/>
              <a:gd name="T67" fmla="*/ 170 h 208"/>
              <a:gd name="T68" fmla="*/ 192 w 323"/>
              <a:gd name="T69" fmla="*/ 186 h 208"/>
              <a:gd name="T70" fmla="*/ 162 w 323"/>
              <a:gd name="T71" fmla="*/ 170 h 208"/>
              <a:gd name="T72" fmla="*/ 128 w 323"/>
              <a:gd name="T73" fmla="*/ 186 h 208"/>
              <a:gd name="T74" fmla="*/ 98 w 323"/>
              <a:gd name="T75" fmla="*/ 170 h 208"/>
              <a:gd name="T76" fmla="*/ 76 w 323"/>
              <a:gd name="T77" fmla="*/ 183 h 208"/>
              <a:gd name="T78" fmla="*/ 76 w 323"/>
              <a:gd name="T79" fmla="*/ 170 h 208"/>
              <a:gd name="T80" fmla="*/ 247 w 323"/>
              <a:gd name="T81" fmla="*/ 138 h 208"/>
              <a:gd name="T82" fmla="*/ 247 w 323"/>
              <a:gd name="T83" fmla="*/ 181 h 208"/>
              <a:gd name="T84" fmla="*/ 234 w 323"/>
              <a:gd name="T85" fmla="*/ 17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3" h="208">
                <a:moveTo>
                  <a:pt x="268" y="170"/>
                </a:moveTo>
                <a:cubicBezTo>
                  <a:pt x="268" y="138"/>
                  <a:pt x="268" y="138"/>
                  <a:pt x="268" y="138"/>
                </a:cubicBezTo>
                <a:cubicBezTo>
                  <a:pt x="311" y="138"/>
                  <a:pt x="311" y="138"/>
                  <a:pt x="311" y="138"/>
                </a:cubicBezTo>
                <a:cubicBezTo>
                  <a:pt x="317" y="138"/>
                  <a:pt x="322" y="134"/>
                  <a:pt x="322" y="128"/>
                </a:cubicBezTo>
                <a:cubicBezTo>
                  <a:pt x="322" y="122"/>
                  <a:pt x="317" y="117"/>
                  <a:pt x="311" y="117"/>
                </a:cubicBezTo>
                <a:cubicBezTo>
                  <a:pt x="268" y="117"/>
                  <a:pt x="268" y="117"/>
                  <a:pt x="268" y="117"/>
                </a:cubicBezTo>
                <a:cubicBezTo>
                  <a:pt x="268" y="59"/>
                  <a:pt x="268" y="59"/>
                  <a:pt x="268" y="59"/>
                </a:cubicBezTo>
                <a:cubicBezTo>
                  <a:pt x="279" y="68"/>
                  <a:pt x="292" y="76"/>
                  <a:pt x="307" y="82"/>
                </a:cubicBezTo>
                <a:cubicBezTo>
                  <a:pt x="308" y="82"/>
                  <a:pt x="310" y="82"/>
                  <a:pt x="311" y="82"/>
                </a:cubicBezTo>
                <a:cubicBezTo>
                  <a:pt x="315" y="82"/>
                  <a:pt x="319" y="80"/>
                  <a:pt x="321" y="76"/>
                </a:cubicBezTo>
                <a:cubicBezTo>
                  <a:pt x="323" y="70"/>
                  <a:pt x="320" y="64"/>
                  <a:pt x="315" y="62"/>
                </a:cubicBezTo>
                <a:cubicBezTo>
                  <a:pt x="295" y="54"/>
                  <a:pt x="279" y="42"/>
                  <a:pt x="268" y="28"/>
                </a:cubicBezTo>
                <a:cubicBezTo>
                  <a:pt x="268" y="10"/>
                  <a:pt x="268" y="10"/>
                  <a:pt x="268" y="10"/>
                </a:cubicBezTo>
                <a:cubicBezTo>
                  <a:pt x="268" y="4"/>
                  <a:pt x="264" y="0"/>
                  <a:pt x="258" y="0"/>
                </a:cubicBezTo>
                <a:cubicBezTo>
                  <a:pt x="252" y="0"/>
                  <a:pt x="247" y="4"/>
                  <a:pt x="247" y="10"/>
                </a:cubicBezTo>
                <a:cubicBezTo>
                  <a:pt x="247" y="28"/>
                  <a:pt x="247" y="28"/>
                  <a:pt x="247" y="28"/>
                </a:cubicBezTo>
                <a:cubicBezTo>
                  <a:pt x="227" y="54"/>
                  <a:pt x="195" y="69"/>
                  <a:pt x="162" y="69"/>
                </a:cubicBezTo>
                <a:cubicBezTo>
                  <a:pt x="127" y="69"/>
                  <a:pt x="96" y="54"/>
                  <a:pt x="76" y="28"/>
                </a:cubicBezTo>
                <a:cubicBezTo>
                  <a:pt x="76" y="10"/>
                  <a:pt x="76" y="10"/>
                  <a:pt x="76" y="10"/>
                </a:cubicBezTo>
                <a:cubicBezTo>
                  <a:pt x="76" y="4"/>
                  <a:pt x="72" y="0"/>
                  <a:pt x="66" y="0"/>
                </a:cubicBezTo>
                <a:cubicBezTo>
                  <a:pt x="60" y="0"/>
                  <a:pt x="55" y="4"/>
                  <a:pt x="55" y="10"/>
                </a:cubicBezTo>
                <a:cubicBezTo>
                  <a:pt x="55" y="28"/>
                  <a:pt x="55" y="28"/>
                  <a:pt x="55" y="28"/>
                </a:cubicBezTo>
                <a:cubicBezTo>
                  <a:pt x="44" y="42"/>
                  <a:pt x="27" y="54"/>
                  <a:pt x="8" y="62"/>
                </a:cubicBezTo>
                <a:cubicBezTo>
                  <a:pt x="3" y="64"/>
                  <a:pt x="0" y="70"/>
                  <a:pt x="2" y="76"/>
                </a:cubicBezTo>
                <a:cubicBezTo>
                  <a:pt x="4" y="80"/>
                  <a:pt x="8" y="82"/>
                  <a:pt x="12" y="82"/>
                </a:cubicBezTo>
                <a:cubicBezTo>
                  <a:pt x="14" y="82"/>
                  <a:pt x="15" y="82"/>
                  <a:pt x="16" y="82"/>
                </a:cubicBezTo>
                <a:cubicBezTo>
                  <a:pt x="31" y="76"/>
                  <a:pt x="44" y="68"/>
                  <a:pt x="55" y="58"/>
                </a:cubicBezTo>
                <a:cubicBezTo>
                  <a:pt x="55" y="117"/>
                  <a:pt x="55" y="117"/>
                  <a:pt x="55" y="117"/>
                </a:cubicBezTo>
                <a:cubicBezTo>
                  <a:pt x="12" y="117"/>
                  <a:pt x="12" y="117"/>
                  <a:pt x="12" y="117"/>
                </a:cubicBezTo>
                <a:cubicBezTo>
                  <a:pt x="6" y="117"/>
                  <a:pt x="2" y="122"/>
                  <a:pt x="2" y="128"/>
                </a:cubicBezTo>
                <a:cubicBezTo>
                  <a:pt x="2" y="134"/>
                  <a:pt x="6" y="138"/>
                  <a:pt x="12" y="138"/>
                </a:cubicBezTo>
                <a:cubicBezTo>
                  <a:pt x="55" y="138"/>
                  <a:pt x="55" y="138"/>
                  <a:pt x="55" y="138"/>
                </a:cubicBezTo>
                <a:cubicBezTo>
                  <a:pt x="55" y="170"/>
                  <a:pt x="55" y="170"/>
                  <a:pt x="55" y="170"/>
                </a:cubicBezTo>
                <a:cubicBezTo>
                  <a:pt x="55" y="181"/>
                  <a:pt x="55" y="181"/>
                  <a:pt x="55" y="181"/>
                </a:cubicBezTo>
                <a:cubicBezTo>
                  <a:pt x="55" y="184"/>
                  <a:pt x="55" y="184"/>
                  <a:pt x="55" y="184"/>
                </a:cubicBezTo>
                <a:cubicBezTo>
                  <a:pt x="47" y="181"/>
                  <a:pt x="42" y="174"/>
                  <a:pt x="42" y="174"/>
                </a:cubicBezTo>
                <a:cubicBezTo>
                  <a:pt x="40" y="172"/>
                  <a:pt x="37" y="171"/>
                  <a:pt x="34" y="170"/>
                </a:cubicBezTo>
                <a:cubicBezTo>
                  <a:pt x="31" y="170"/>
                  <a:pt x="28" y="171"/>
                  <a:pt x="26" y="173"/>
                </a:cubicBezTo>
                <a:cubicBezTo>
                  <a:pt x="20" y="179"/>
                  <a:pt x="15" y="183"/>
                  <a:pt x="9" y="185"/>
                </a:cubicBezTo>
                <a:cubicBezTo>
                  <a:pt x="3" y="187"/>
                  <a:pt x="0" y="193"/>
                  <a:pt x="2" y="198"/>
                </a:cubicBezTo>
                <a:cubicBezTo>
                  <a:pt x="4" y="204"/>
                  <a:pt x="10" y="207"/>
                  <a:pt x="16" y="205"/>
                </a:cubicBezTo>
                <a:cubicBezTo>
                  <a:pt x="22" y="203"/>
                  <a:pt x="28" y="200"/>
                  <a:pt x="33" y="195"/>
                </a:cubicBezTo>
                <a:cubicBezTo>
                  <a:pt x="40" y="201"/>
                  <a:pt x="50" y="207"/>
                  <a:pt x="62" y="208"/>
                </a:cubicBezTo>
                <a:cubicBezTo>
                  <a:pt x="74" y="208"/>
                  <a:pt x="86" y="204"/>
                  <a:pt x="97" y="196"/>
                </a:cubicBezTo>
                <a:cubicBezTo>
                  <a:pt x="104" y="201"/>
                  <a:pt x="114" y="207"/>
                  <a:pt x="126" y="208"/>
                </a:cubicBezTo>
                <a:cubicBezTo>
                  <a:pt x="138" y="208"/>
                  <a:pt x="150" y="204"/>
                  <a:pt x="161" y="196"/>
                </a:cubicBezTo>
                <a:cubicBezTo>
                  <a:pt x="168" y="201"/>
                  <a:pt x="178" y="207"/>
                  <a:pt x="190" y="208"/>
                </a:cubicBezTo>
                <a:cubicBezTo>
                  <a:pt x="202" y="208"/>
                  <a:pt x="214" y="204"/>
                  <a:pt x="225" y="196"/>
                </a:cubicBezTo>
                <a:cubicBezTo>
                  <a:pt x="232" y="201"/>
                  <a:pt x="242" y="207"/>
                  <a:pt x="254" y="208"/>
                </a:cubicBezTo>
                <a:cubicBezTo>
                  <a:pt x="255" y="208"/>
                  <a:pt x="256" y="208"/>
                  <a:pt x="257" y="208"/>
                </a:cubicBezTo>
                <a:cubicBezTo>
                  <a:pt x="268" y="208"/>
                  <a:pt x="279" y="204"/>
                  <a:pt x="289" y="196"/>
                </a:cubicBezTo>
                <a:cubicBezTo>
                  <a:pt x="294" y="199"/>
                  <a:pt x="300" y="203"/>
                  <a:pt x="308" y="206"/>
                </a:cubicBezTo>
                <a:cubicBezTo>
                  <a:pt x="314" y="207"/>
                  <a:pt x="319" y="204"/>
                  <a:pt x="321" y="198"/>
                </a:cubicBezTo>
                <a:cubicBezTo>
                  <a:pt x="323" y="193"/>
                  <a:pt x="320" y="187"/>
                  <a:pt x="314" y="185"/>
                </a:cubicBezTo>
                <a:cubicBezTo>
                  <a:pt x="304" y="182"/>
                  <a:pt x="298" y="174"/>
                  <a:pt x="298" y="174"/>
                </a:cubicBezTo>
                <a:cubicBezTo>
                  <a:pt x="296" y="172"/>
                  <a:pt x="293" y="171"/>
                  <a:pt x="290" y="170"/>
                </a:cubicBezTo>
                <a:cubicBezTo>
                  <a:pt x="287" y="170"/>
                  <a:pt x="284" y="171"/>
                  <a:pt x="282" y="173"/>
                </a:cubicBezTo>
                <a:cubicBezTo>
                  <a:pt x="277" y="178"/>
                  <a:pt x="273" y="181"/>
                  <a:pt x="268" y="183"/>
                </a:cubicBezTo>
                <a:cubicBezTo>
                  <a:pt x="268" y="181"/>
                  <a:pt x="268" y="181"/>
                  <a:pt x="268" y="181"/>
                </a:cubicBezTo>
                <a:lnTo>
                  <a:pt x="268" y="170"/>
                </a:lnTo>
                <a:close/>
                <a:moveTo>
                  <a:pt x="76" y="59"/>
                </a:moveTo>
                <a:cubicBezTo>
                  <a:pt x="99" y="79"/>
                  <a:pt x="129" y="90"/>
                  <a:pt x="162" y="90"/>
                </a:cubicBezTo>
                <a:cubicBezTo>
                  <a:pt x="193" y="90"/>
                  <a:pt x="224" y="79"/>
                  <a:pt x="247" y="59"/>
                </a:cubicBezTo>
                <a:cubicBezTo>
                  <a:pt x="247" y="117"/>
                  <a:pt x="247" y="117"/>
                  <a:pt x="247" y="117"/>
                </a:cubicBezTo>
                <a:cubicBezTo>
                  <a:pt x="76" y="117"/>
                  <a:pt x="76" y="117"/>
                  <a:pt x="76" y="117"/>
                </a:cubicBezTo>
                <a:lnTo>
                  <a:pt x="76" y="59"/>
                </a:lnTo>
                <a:close/>
                <a:moveTo>
                  <a:pt x="234" y="174"/>
                </a:moveTo>
                <a:cubicBezTo>
                  <a:pt x="232" y="172"/>
                  <a:pt x="229" y="171"/>
                  <a:pt x="226" y="170"/>
                </a:cubicBezTo>
                <a:cubicBezTo>
                  <a:pt x="223" y="170"/>
                  <a:pt x="220" y="171"/>
                  <a:pt x="218" y="173"/>
                </a:cubicBezTo>
                <a:cubicBezTo>
                  <a:pt x="209" y="182"/>
                  <a:pt x="200" y="187"/>
                  <a:pt x="192" y="186"/>
                </a:cubicBezTo>
                <a:cubicBezTo>
                  <a:pt x="179" y="186"/>
                  <a:pt x="170" y="174"/>
                  <a:pt x="170" y="174"/>
                </a:cubicBezTo>
                <a:cubicBezTo>
                  <a:pt x="168" y="172"/>
                  <a:pt x="165" y="171"/>
                  <a:pt x="162" y="170"/>
                </a:cubicBezTo>
                <a:cubicBezTo>
                  <a:pt x="159" y="170"/>
                  <a:pt x="156" y="171"/>
                  <a:pt x="154" y="173"/>
                </a:cubicBezTo>
                <a:cubicBezTo>
                  <a:pt x="145" y="182"/>
                  <a:pt x="136" y="187"/>
                  <a:pt x="128" y="186"/>
                </a:cubicBezTo>
                <a:cubicBezTo>
                  <a:pt x="115" y="186"/>
                  <a:pt x="106" y="174"/>
                  <a:pt x="106" y="174"/>
                </a:cubicBezTo>
                <a:cubicBezTo>
                  <a:pt x="104" y="172"/>
                  <a:pt x="101" y="171"/>
                  <a:pt x="98" y="170"/>
                </a:cubicBezTo>
                <a:cubicBezTo>
                  <a:pt x="95" y="170"/>
                  <a:pt x="92" y="171"/>
                  <a:pt x="90" y="173"/>
                </a:cubicBezTo>
                <a:cubicBezTo>
                  <a:pt x="85" y="178"/>
                  <a:pt x="81" y="181"/>
                  <a:pt x="76" y="183"/>
                </a:cubicBezTo>
                <a:cubicBezTo>
                  <a:pt x="76" y="181"/>
                  <a:pt x="76" y="181"/>
                  <a:pt x="76" y="181"/>
                </a:cubicBezTo>
                <a:cubicBezTo>
                  <a:pt x="76" y="170"/>
                  <a:pt x="76" y="170"/>
                  <a:pt x="76" y="170"/>
                </a:cubicBezTo>
                <a:cubicBezTo>
                  <a:pt x="76" y="138"/>
                  <a:pt x="76" y="138"/>
                  <a:pt x="76" y="138"/>
                </a:cubicBezTo>
                <a:cubicBezTo>
                  <a:pt x="247" y="138"/>
                  <a:pt x="247" y="138"/>
                  <a:pt x="247" y="138"/>
                </a:cubicBezTo>
                <a:cubicBezTo>
                  <a:pt x="247" y="170"/>
                  <a:pt x="247" y="170"/>
                  <a:pt x="247" y="170"/>
                </a:cubicBezTo>
                <a:cubicBezTo>
                  <a:pt x="247" y="181"/>
                  <a:pt x="247" y="181"/>
                  <a:pt x="247" y="181"/>
                </a:cubicBezTo>
                <a:cubicBezTo>
                  <a:pt x="247" y="184"/>
                  <a:pt x="247" y="184"/>
                  <a:pt x="247" y="184"/>
                </a:cubicBezTo>
                <a:cubicBezTo>
                  <a:pt x="239" y="181"/>
                  <a:pt x="234" y="174"/>
                  <a:pt x="234" y="174"/>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80" name="Rectangle 379"/>
          <p:cNvSpPr/>
          <p:nvPr/>
        </p:nvSpPr>
        <p:spPr bwMode="gray">
          <a:xfrm>
            <a:off x="8326555" y="6022318"/>
            <a:ext cx="1442963" cy="391080"/>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81" name="Rectangle 380"/>
          <p:cNvSpPr/>
          <p:nvPr/>
        </p:nvSpPr>
        <p:spPr bwMode="gray">
          <a:xfrm>
            <a:off x="8755364" y="6087020"/>
            <a:ext cx="898044" cy="271549"/>
          </a:xfrm>
          <a:prstGeom prst="rect">
            <a:avLst/>
          </a:prstGeom>
          <a:solidFill>
            <a:schemeClr val="accent6">
              <a:lumMod val="75000"/>
            </a:schemeClr>
          </a:solid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Hydro</a:t>
            </a:r>
          </a:p>
        </p:txBody>
      </p:sp>
      <p:grpSp>
        <p:nvGrpSpPr>
          <p:cNvPr id="382" name="Group 381"/>
          <p:cNvGrpSpPr/>
          <p:nvPr/>
        </p:nvGrpSpPr>
        <p:grpSpPr>
          <a:xfrm>
            <a:off x="8334570" y="6492089"/>
            <a:ext cx="1442963" cy="391080"/>
            <a:chOff x="5825010" y="4526741"/>
            <a:chExt cx="1052376" cy="271189"/>
          </a:xfrm>
          <a:solidFill>
            <a:schemeClr val="accent6">
              <a:lumMod val="75000"/>
            </a:schemeClr>
          </a:solidFill>
        </p:grpSpPr>
        <p:sp>
          <p:nvSpPr>
            <p:cNvPr id="383" name="Rectangle 382"/>
            <p:cNvSpPr/>
            <p:nvPr/>
          </p:nvSpPr>
          <p:spPr bwMode="gray">
            <a:xfrm>
              <a:off x="5825010" y="4526741"/>
              <a:ext cx="1052376" cy="271189"/>
            </a:xfrm>
            <a:prstGeom prst="rect">
              <a:avLst/>
            </a:prstGeom>
            <a:grp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84" name="Rectangle 383"/>
            <p:cNvSpPr/>
            <p:nvPr/>
          </p:nvSpPr>
          <p:spPr bwMode="gray">
            <a:xfrm>
              <a:off x="6144962" y="4583874"/>
              <a:ext cx="654958" cy="188302"/>
            </a:xfrm>
            <a:prstGeom prst="rect">
              <a:avLst/>
            </a:prstGeom>
            <a:grp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Solar</a:t>
              </a:r>
            </a:p>
          </p:txBody>
        </p:sp>
      </p:grpSp>
      <p:grpSp>
        <p:nvGrpSpPr>
          <p:cNvPr id="385" name="Group 384"/>
          <p:cNvGrpSpPr/>
          <p:nvPr/>
        </p:nvGrpSpPr>
        <p:grpSpPr>
          <a:xfrm>
            <a:off x="8381468" y="6539500"/>
            <a:ext cx="299120" cy="299120"/>
            <a:chOff x="3629832" y="6412796"/>
            <a:chExt cx="230504" cy="230504"/>
          </a:xfrm>
          <a:solidFill>
            <a:schemeClr val="bg1"/>
          </a:solidFill>
        </p:grpSpPr>
        <p:sp>
          <p:nvSpPr>
            <p:cNvPr id="386" name="Freeform 385"/>
            <p:cNvSpPr>
              <a:spLocks noEditPoints="1"/>
            </p:cNvSpPr>
            <p:nvPr/>
          </p:nvSpPr>
          <p:spPr bwMode="auto">
            <a:xfrm>
              <a:off x="3675498" y="6458462"/>
              <a:ext cx="139172" cy="139172"/>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87" name="Freeform 386"/>
            <p:cNvSpPr>
              <a:spLocks/>
            </p:cNvSpPr>
            <p:nvPr/>
          </p:nvSpPr>
          <p:spPr bwMode="auto">
            <a:xfrm>
              <a:off x="3829892" y="6520437"/>
              <a:ext cx="30444" cy="15222"/>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88" name="Freeform 387"/>
            <p:cNvSpPr>
              <a:spLocks/>
            </p:cNvSpPr>
            <p:nvPr/>
          </p:nvSpPr>
          <p:spPr bwMode="auto">
            <a:xfrm>
              <a:off x="3629832" y="6520437"/>
              <a:ext cx="30444" cy="15222"/>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89" name="Freeform 388"/>
            <p:cNvSpPr>
              <a:spLocks/>
            </p:cNvSpPr>
            <p:nvPr/>
          </p:nvSpPr>
          <p:spPr bwMode="auto">
            <a:xfrm>
              <a:off x="3737473" y="6412796"/>
              <a:ext cx="15222" cy="30444"/>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0" name="Freeform 389"/>
            <p:cNvSpPr>
              <a:spLocks/>
            </p:cNvSpPr>
            <p:nvPr/>
          </p:nvSpPr>
          <p:spPr bwMode="auto">
            <a:xfrm>
              <a:off x="3737473" y="6612856"/>
              <a:ext cx="15222" cy="30444"/>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1" name="Freeform 390"/>
            <p:cNvSpPr>
              <a:spLocks/>
            </p:cNvSpPr>
            <p:nvPr/>
          </p:nvSpPr>
          <p:spPr bwMode="auto">
            <a:xfrm>
              <a:off x="3801623" y="6443240"/>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2" name="Freeform 391"/>
            <p:cNvSpPr>
              <a:spLocks/>
            </p:cNvSpPr>
            <p:nvPr/>
          </p:nvSpPr>
          <p:spPr bwMode="auto">
            <a:xfrm>
              <a:off x="3660276" y="6584587"/>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3" name="Freeform 392"/>
            <p:cNvSpPr>
              <a:spLocks/>
            </p:cNvSpPr>
            <p:nvPr/>
          </p:nvSpPr>
          <p:spPr bwMode="auto">
            <a:xfrm>
              <a:off x="3660276" y="6443240"/>
              <a:ext cx="28269" cy="27182"/>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4" name="Freeform 393"/>
            <p:cNvSpPr>
              <a:spLocks/>
            </p:cNvSpPr>
            <p:nvPr/>
          </p:nvSpPr>
          <p:spPr bwMode="auto">
            <a:xfrm>
              <a:off x="3801623" y="6584587"/>
              <a:ext cx="28269" cy="27182"/>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400" name="Group 399"/>
          <p:cNvGrpSpPr/>
          <p:nvPr/>
        </p:nvGrpSpPr>
        <p:grpSpPr>
          <a:xfrm>
            <a:off x="8436610" y="5645533"/>
            <a:ext cx="166140" cy="259280"/>
            <a:chOff x="7519397" y="5059637"/>
            <a:chExt cx="150656" cy="235115"/>
          </a:xfrm>
        </p:grpSpPr>
        <p:sp>
          <p:nvSpPr>
            <p:cNvPr id="396" name="Freeform 639"/>
            <p:cNvSpPr>
              <a:spLocks/>
            </p:cNvSpPr>
            <p:nvPr/>
          </p:nvSpPr>
          <p:spPr bwMode="auto">
            <a:xfrm>
              <a:off x="7585594" y="5181760"/>
              <a:ext cx="15979" cy="112992"/>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7" name="Freeform 640"/>
            <p:cNvSpPr>
              <a:spLocks noEditPoints="1"/>
            </p:cNvSpPr>
            <p:nvPr/>
          </p:nvSpPr>
          <p:spPr bwMode="auto">
            <a:xfrm>
              <a:off x="7519397" y="5059637"/>
              <a:ext cx="150656" cy="122123"/>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sp>
        <p:nvSpPr>
          <p:cNvPr id="398" name="Freeform 397"/>
          <p:cNvSpPr>
            <a:spLocks noEditPoints="1"/>
          </p:cNvSpPr>
          <p:nvPr/>
        </p:nvSpPr>
        <p:spPr bwMode="auto">
          <a:xfrm>
            <a:off x="8406394" y="6123249"/>
            <a:ext cx="323607" cy="207710"/>
          </a:xfrm>
          <a:custGeom>
            <a:avLst/>
            <a:gdLst>
              <a:gd name="T0" fmla="*/ 268 w 323"/>
              <a:gd name="T1" fmla="*/ 138 h 208"/>
              <a:gd name="T2" fmla="*/ 322 w 323"/>
              <a:gd name="T3" fmla="*/ 128 h 208"/>
              <a:gd name="T4" fmla="*/ 268 w 323"/>
              <a:gd name="T5" fmla="*/ 117 h 208"/>
              <a:gd name="T6" fmla="*/ 307 w 323"/>
              <a:gd name="T7" fmla="*/ 82 h 208"/>
              <a:gd name="T8" fmla="*/ 321 w 323"/>
              <a:gd name="T9" fmla="*/ 76 h 208"/>
              <a:gd name="T10" fmla="*/ 268 w 323"/>
              <a:gd name="T11" fmla="*/ 28 h 208"/>
              <a:gd name="T12" fmla="*/ 258 w 323"/>
              <a:gd name="T13" fmla="*/ 0 h 208"/>
              <a:gd name="T14" fmla="*/ 247 w 323"/>
              <a:gd name="T15" fmla="*/ 28 h 208"/>
              <a:gd name="T16" fmla="*/ 76 w 323"/>
              <a:gd name="T17" fmla="*/ 28 h 208"/>
              <a:gd name="T18" fmla="*/ 66 w 323"/>
              <a:gd name="T19" fmla="*/ 0 h 208"/>
              <a:gd name="T20" fmla="*/ 55 w 323"/>
              <a:gd name="T21" fmla="*/ 28 h 208"/>
              <a:gd name="T22" fmla="*/ 2 w 323"/>
              <a:gd name="T23" fmla="*/ 76 h 208"/>
              <a:gd name="T24" fmla="*/ 16 w 323"/>
              <a:gd name="T25" fmla="*/ 82 h 208"/>
              <a:gd name="T26" fmla="*/ 55 w 323"/>
              <a:gd name="T27" fmla="*/ 117 h 208"/>
              <a:gd name="T28" fmla="*/ 2 w 323"/>
              <a:gd name="T29" fmla="*/ 128 h 208"/>
              <a:gd name="T30" fmla="*/ 55 w 323"/>
              <a:gd name="T31" fmla="*/ 138 h 208"/>
              <a:gd name="T32" fmla="*/ 55 w 323"/>
              <a:gd name="T33" fmla="*/ 181 h 208"/>
              <a:gd name="T34" fmla="*/ 42 w 323"/>
              <a:gd name="T35" fmla="*/ 174 h 208"/>
              <a:gd name="T36" fmla="*/ 26 w 323"/>
              <a:gd name="T37" fmla="*/ 173 h 208"/>
              <a:gd name="T38" fmla="*/ 2 w 323"/>
              <a:gd name="T39" fmla="*/ 198 h 208"/>
              <a:gd name="T40" fmla="*/ 33 w 323"/>
              <a:gd name="T41" fmla="*/ 195 h 208"/>
              <a:gd name="T42" fmla="*/ 97 w 323"/>
              <a:gd name="T43" fmla="*/ 196 h 208"/>
              <a:gd name="T44" fmla="*/ 161 w 323"/>
              <a:gd name="T45" fmla="*/ 196 h 208"/>
              <a:gd name="T46" fmla="*/ 225 w 323"/>
              <a:gd name="T47" fmla="*/ 196 h 208"/>
              <a:gd name="T48" fmla="*/ 257 w 323"/>
              <a:gd name="T49" fmla="*/ 208 h 208"/>
              <a:gd name="T50" fmla="*/ 308 w 323"/>
              <a:gd name="T51" fmla="*/ 206 h 208"/>
              <a:gd name="T52" fmla="*/ 314 w 323"/>
              <a:gd name="T53" fmla="*/ 185 h 208"/>
              <a:gd name="T54" fmla="*/ 290 w 323"/>
              <a:gd name="T55" fmla="*/ 170 h 208"/>
              <a:gd name="T56" fmla="*/ 268 w 323"/>
              <a:gd name="T57" fmla="*/ 183 h 208"/>
              <a:gd name="T58" fmla="*/ 268 w 323"/>
              <a:gd name="T59" fmla="*/ 170 h 208"/>
              <a:gd name="T60" fmla="*/ 162 w 323"/>
              <a:gd name="T61" fmla="*/ 90 h 208"/>
              <a:gd name="T62" fmla="*/ 247 w 323"/>
              <a:gd name="T63" fmla="*/ 117 h 208"/>
              <a:gd name="T64" fmla="*/ 76 w 323"/>
              <a:gd name="T65" fmla="*/ 59 h 208"/>
              <a:gd name="T66" fmla="*/ 226 w 323"/>
              <a:gd name="T67" fmla="*/ 170 h 208"/>
              <a:gd name="T68" fmla="*/ 192 w 323"/>
              <a:gd name="T69" fmla="*/ 186 h 208"/>
              <a:gd name="T70" fmla="*/ 162 w 323"/>
              <a:gd name="T71" fmla="*/ 170 h 208"/>
              <a:gd name="T72" fmla="*/ 128 w 323"/>
              <a:gd name="T73" fmla="*/ 186 h 208"/>
              <a:gd name="T74" fmla="*/ 98 w 323"/>
              <a:gd name="T75" fmla="*/ 170 h 208"/>
              <a:gd name="T76" fmla="*/ 76 w 323"/>
              <a:gd name="T77" fmla="*/ 183 h 208"/>
              <a:gd name="T78" fmla="*/ 76 w 323"/>
              <a:gd name="T79" fmla="*/ 170 h 208"/>
              <a:gd name="T80" fmla="*/ 247 w 323"/>
              <a:gd name="T81" fmla="*/ 138 h 208"/>
              <a:gd name="T82" fmla="*/ 247 w 323"/>
              <a:gd name="T83" fmla="*/ 181 h 208"/>
              <a:gd name="T84" fmla="*/ 234 w 323"/>
              <a:gd name="T85" fmla="*/ 17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3" h="208">
                <a:moveTo>
                  <a:pt x="268" y="170"/>
                </a:moveTo>
                <a:cubicBezTo>
                  <a:pt x="268" y="138"/>
                  <a:pt x="268" y="138"/>
                  <a:pt x="268" y="138"/>
                </a:cubicBezTo>
                <a:cubicBezTo>
                  <a:pt x="311" y="138"/>
                  <a:pt x="311" y="138"/>
                  <a:pt x="311" y="138"/>
                </a:cubicBezTo>
                <a:cubicBezTo>
                  <a:pt x="317" y="138"/>
                  <a:pt x="322" y="134"/>
                  <a:pt x="322" y="128"/>
                </a:cubicBezTo>
                <a:cubicBezTo>
                  <a:pt x="322" y="122"/>
                  <a:pt x="317" y="117"/>
                  <a:pt x="311" y="117"/>
                </a:cubicBezTo>
                <a:cubicBezTo>
                  <a:pt x="268" y="117"/>
                  <a:pt x="268" y="117"/>
                  <a:pt x="268" y="117"/>
                </a:cubicBezTo>
                <a:cubicBezTo>
                  <a:pt x="268" y="59"/>
                  <a:pt x="268" y="59"/>
                  <a:pt x="268" y="59"/>
                </a:cubicBezTo>
                <a:cubicBezTo>
                  <a:pt x="279" y="68"/>
                  <a:pt x="292" y="76"/>
                  <a:pt x="307" y="82"/>
                </a:cubicBezTo>
                <a:cubicBezTo>
                  <a:pt x="308" y="82"/>
                  <a:pt x="310" y="82"/>
                  <a:pt x="311" y="82"/>
                </a:cubicBezTo>
                <a:cubicBezTo>
                  <a:pt x="315" y="82"/>
                  <a:pt x="319" y="80"/>
                  <a:pt x="321" y="76"/>
                </a:cubicBezTo>
                <a:cubicBezTo>
                  <a:pt x="323" y="70"/>
                  <a:pt x="320" y="64"/>
                  <a:pt x="315" y="62"/>
                </a:cubicBezTo>
                <a:cubicBezTo>
                  <a:pt x="295" y="54"/>
                  <a:pt x="279" y="42"/>
                  <a:pt x="268" y="28"/>
                </a:cubicBezTo>
                <a:cubicBezTo>
                  <a:pt x="268" y="10"/>
                  <a:pt x="268" y="10"/>
                  <a:pt x="268" y="10"/>
                </a:cubicBezTo>
                <a:cubicBezTo>
                  <a:pt x="268" y="4"/>
                  <a:pt x="264" y="0"/>
                  <a:pt x="258" y="0"/>
                </a:cubicBezTo>
                <a:cubicBezTo>
                  <a:pt x="252" y="0"/>
                  <a:pt x="247" y="4"/>
                  <a:pt x="247" y="10"/>
                </a:cubicBezTo>
                <a:cubicBezTo>
                  <a:pt x="247" y="28"/>
                  <a:pt x="247" y="28"/>
                  <a:pt x="247" y="28"/>
                </a:cubicBezTo>
                <a:cubicBezTo>
                  <a:pt x="227" y="54"/>
                  <a:pt x="195" y="69"/>
                  <a:pt x="162" y="69"/>
                </a:cubicBezTo>
                <a:cubicBezTo>
                  <a:pt x="127" y="69"/>
                  <a:pt x="96" y="54"/>
                  <a:pt x="76" y="28"/>
                </a:cubicBezTo>
                <a:cubicBezTo>
                  <a:pt x="76" y="10"/>
                  <a:pt x="76" y="10"/>
                  <a:pt x="76" y="10"/>
                </a:cubicBezTo>
                <a:cubicBezTo>
                  <a:pt x="76" y="4"/>
                  <a:pt x="72" y="0"/>
                  <a:pt x="66" y="0"/>
                </a:cubicBezTo>
                <a:cubicBezTo>
                  <a:pt x="60" y="0"/>
                  <a:pt x="55" y="4"/>
                  <a:pt x="55" y="10"/>
                </a:cubicBezTo>
                <a:cubicBezTo>
                  <a:pt x="55" y="28"/>
                  <a:pt x="55" y="28"/>
                  <a:pt x="55" y="28"/>
                </a:cubicBezTo>
                <a:cubicBezTo>
                  <a:pt x="44" y="42"/>
                  <a:pt x="27" y="54"/>
                  <a:pt x="8" y="62"/>
                </a:cubicBezTo>
                <a:cubicBezTo>
                  <a:pt x="3" y="64"/>
                  <a:pt x="0" y="70"/>
                  <a:pt x="2" y="76"/>
                </a:cubicBezTo>
                <a:cubicBezTo>
                  <a:pt x="4" y="80"/>
                  <a:pt x="8" y="82"/>
                  <a:pt x="12" y="82"/>
                </a:cubicBezTo>
                <a:cubicBezTo>
                  <a:pt x="14" y="82"/>
                  <a:pt x="15" y="82"/>
                  <a:pt x="16" y="82"/>
                </a:cubicBezTo>
                <a:cubicBezTo>
                  <a:pt x="31" y="76"/>
                  <a:pt x="44" y="68"/>
                  <a:pt x="55" y="58"/>
                </a:cubicBezTo>
                <a:cubicBezTo>
                  <a:pt x="55" y="117"/>
                  <a:pt x="55" y="117"/>
                  <a:pt x="55" y="117"/>
                </a:cubicBezTo>
                <a:cubicBezTo>
                  <a:pt x="12" y="117"/>
                  <a:pt x="12" y="117"/>
                  <a:pt x="12" y="117"/>
                </a:cubicBezTo>
                <a:cubicBezTo>
                  <a:pt x="6" y="117"/>
                  <a:pt x="2" y="122"/>
                  <a:pt x="2" y="128"/>
                </a:cubicBezTo>
                <a:cubicBezTo>
                  <a:pt x="2" y="134"/>
                  <a:pt x="6" y="138"/>
                  <a:pt x="12" y="138"/>
                </a:cubicBezTo>
                <a:cubicBezTo>
                  <a:pt x="55" y="138"/>
                  <a:pt x="55" y="138"/>
                  <a:pt x="55" y="138"/>
                </a:cubicBezTo>
                <a:cubicBezTo>
                  <a:pt x="55" y="170"/>
                  <a:pt x="55" y="170"/>
                  <a:pt x="55" y="170"/>
                </a:cubicBezTo>
                <a:cubicBezTo>
                  <a:pt x="55" y="181"/>
                  <a:pt x="55" y="181"/>
                  <a:pt x="55" y="181"/>
                </a:cubicBezTo>
                <a:cubicBezTo>
                  <a:pt x="55" y="184"/>
                  <a:pt x="55" y="184"/>
                  <a:pt x="55" y="184"/>
                </a:cubicBezTo>
                <a:cubicBezTo>
                  <a:pt x="47" y="181"/>
                  <a:pt x="42" y="174"/>
                  <a:pt x="42" y="174"/>
                </a:cubicBezTo>
                <a:cubicBezTo>
                  <a:pt x="40" y="172"/>
                  <a:pt x="37" y="171"/>
                  <a:pt x="34" y="170"/>
                </a:cubicBezTo>
                <a:cubicBezTo>
                  <a:pt x="31" y="170"/>
                  <a:pt x="28" y="171"/>
                  <a:pt x="26" y="173"/>
                </a:cubicBezTo>
                <a:cubicBezTo>
                  <a:pt x="20" y="179"/>
                  <a:pt x="15" y="183"/>
                  <a:pt x="9" y="185"/>
                </a:cubicBezTo>
                <a:cubicBezTo>
                  <a:pt x="3" y="187"/>
                  <a:pt x="0" y="193"/>
                  <a:pt x="2" y="198"/>
                </a:cubicBezTo>
                <a:cubicBezTo>
                  <a:pt x="4" y="204"/>
                  <a:pt x="10" y="207"/>
                  <a:pt x="16" y="205"/>
                </a:cubicBezTo>
                <a:cubicBezTo>
                  <a:pt x="22" y="203"/>
                  <a:pt x="28" y="200"/>
                  <a:pt x="33" y="195"/>
                </a:cubicBezTo>
                <a:cubicBezTo>
                  <a:pt x="40" y="201"/>
                  <a:pt x="50" y="207"/>
                  <a:pt x="62" y="208"/>
                </a:cubicBezTo>
                <a:cubicBezTo>
                  <a:pt x="74" y="208"/>
                  <a:pt x="86" y="204"/>
                  <a:pt x="97" y="196"/>
                </a:cubicBezTo>
                <a:cubicBezTo>
                  <a:pt x="104" y="201"/>
                  <a:pt x="114" y="207"/>
                  <a:pt x="126" y="208"/>
                </a:cubicBezTo>
                <a:cubicBezTo>
                  <a:pt x="138" y="208"/>
                  <a:pt x="150" y="204"/>
                  <a:pt x="161" y="196"/>
                </a:cubicBezTo>
                <a:cubicBezTo>
                  <a:pt x="168" y="201"/>
                  <a:pt x="178" y="207"/>
                  <a:pt x="190" y="208"/>
                </a:cubicBezTo>
                <a:cubicBezTo>
                  <a:pt x="202" y="208"/>
                  <a:pt x="214" y="204"/>
                  <a:pt x="225" y="196"/>
                </a:cubicBezTo>
                <a:cubicBezTo>
                  <a:pt x="232" y="201"/>
                  <a:pt x="242" y="207"/>
                  <a:pt x="254" y="208"/>
                </a:cubicBezTo>
                <a:cubicBezTo>
                  <a:pt x="255" y="208"/>
                  <a:pt x="256" y="208"/>
                  <a:pt x="257" y="208"/>
                </a:cubicBezTo>
                <a:cubicBezTo>
                  <a:pt x="268" y="208"/>
                  <a:pt x="279" y="204"/>
                  <a:pt x="289" y="196"/>
                </a:cubicBezTo>
                <a:cubicBezTo>
                  <a:pt x="294" y="199"/>
                  <a:pt x="300" y="203"/>
                  <a:pt x="308" y="206"/>
                </a:cubicBezTo>
                <a:cubicBezTo>
                  <a:pt x="314" y="207"/>
                  <a:pt x="319" y="204"/>
                  <a:pt x="321" y="198"/>
                </a:cubicBezTo>
                <a:cubicBezTo>
                  <a:pt x="323" y="193"/>
                  <a:pt x="320" y="187"/>
                  <a:pt x="314" y="185"/>
                </a:cubicBezTo>
                <a:cubicBezTo>
                  <a:pt x="304" y="182"/>
                  <a:pt x="298" y="174"/>
                  <a:pt x="298" y="174"/>
                </a:cubicBezTo>
                <a:cubicBezTo>
                  <a:pt x="296" y="172"/>
                  <a:pt x="293" y="171"/>
                  <a:pt x="290" y="170"/>
                </a:cubicBezTo>
                <a:cubicBezTo>
                  <a:pt x="287" y="170"/>
                  <a:pt x="284" y="171"/>
                  <a:pt x="282" y="173"/>
                </a:cubicBezTo>
                <a:cubicBezTo>
                  <a:pt x="277" y="178"/>
                  <a:pt x="273" y="181"/>
                  <a:pt x="268" y="183"/>
                </a:cubicBezTo>
                <a:cubicBezTo>
                  <a:pt x="268" y="181"/>
                  <a:pt x="268" y="181"/>
                  <a:pt x="268" y="181"/>
                </a:cubicBezTo>
                <a:lnTo>
                  <a:pt x="268" y="170"/>
                </a:lnTo>
                <a:close/>
                <a:moveTo>
                  <a:pt x="76" y="59"/>
                </a:moveTo>
                <a:cubicBezTo>
                  <a:pt x="99" y="79"/>
                  <a:pt x="129" y="90"/>
                  <a:pt x="162" y="90"/>
                </a:cubicBezTo>
                <a:cubicBezTo>
                  <a:pt x="193" y="90"/>
                  <a:pt x="224" y="79"/>
                  <a:pt x="247" y="59"/>
                </a:cubicBezTo>
                <a:cubicBezTo>
                  <a:pt x="247" y="117"/>
                  <a:pt x="247" y="117"/>
                  <a:pt x="247" y="117"/>
                </a:cubicBezTo>
                <a:cubicBezTo>
                  <a:pt x="76" y="117"/>
                  <a:pt x="76" y="117"/>
                  <a:pt x="76" y="117"/>
                </a:cubicBezTo>
                <a:lnTo>
                  <a:pt x="76" y="59"/>
                </a:lnTo>
                <a:close/>
                <a:moveTo>
                  <a:pt x="234" y="174"/>
                </a:moveTo>
                <a:cubicBezTo>
                  <a:pt x="232" y="172"/>
                  <a:pt x="229" y="171"/>
                  <a:pt x="226" y="170"/>
                </a:cubicBezTo>
                <a:cubicBezTo>
                  <a:pt x="223" y="170"/>
                  <a:pt x="220" y="171"/>
                  <a:pt x="218" y="173"/>
                </a:cubicBezTo>
                <a:cubicBezTo>
                  <a:pt x="209" y="182"/>
                  <a:pt x="200" y="187"/>
                  <a:pt x="192" y="186"/>
                </a:cubicBezTo>
                <a:cubicBezTo>
                  <a:pt x="179" y="186"/>
                  <a:pt x="170" y="174"/>
                  <a:pt x="170" y="174"/>
                </a:cubicBezTo>
                <a:cubicBezTo>
                  <a:pt x="168" y="172"/>
                  <a:pt x="165" y="171"/>
                  <a:pt x="162" y="170"/>
                </a:cubicBezTo>
                <a:cubicBezTo>
                  <a:pt x="159" y="170"/>
                  <a:pt x="156" y="171"/>
                  <a:pt x="154" y="173"/>
                </a:cubicBezTo>
                <a:cubicBezTo>
                  <a:pt x="145" y="182"/>
                  <a:pt x="136" y="187"/>
                  <a:pt x="128" y="186"/>
                </a:cubicBezTo>
                <a:cubicBezTo>
                  <a:pt x="115" y="186"/>
                  <a:pt x="106" y="174"/>
                  <a:pt x="106" y="174"/>
                </a:cubicBezTo>
                <a:cubicBezTo>
                  <a:pt x="104" y="172"/>
                  <a:pt x="101" y="171"/>
                  <a:pt x="98" y="170"/>
                </a:cubicBezTo>
                <a:cubicBezTo>
                  <a:pt x="95" y="170"/>
                  <a:pt x="92" y="171"/>
                  <a:pt x="90" y="173"/>
                </a:cubicBezTo>
                <a:cubicBezTo>
                  <a:pt x="85" y="178"/>
                  <a:pt x="81" y="181"/>
                  <a:pt x="76" y="183"/>
                </a:cubicBezTo>
                <a:cubicBezTo>
                  <a:pt x="76" y="181"/>
                  <a:pt x="76" y="181"/>
                  <a:pt x="76" y="181"/>
                </a:cubicBezTo>
                <a:cubicBezTo>
                  <a:pt x="76" y="170"/>
                  <a:pt x="76" y="170"/>
                  <a:pt x="76" y="170"/>
                </a:cubicBezTo>
                <a:cubicBezTo>
                  <a:pt x="76" y="138"/>
                  <a:pt x="76" y="138"/>
                  <a:pt x="76" y="138"/>
                </a:cubicBezTo>
                <a:cubicBezTo>
                  <a:pt x="247" y="138"/>
                  <a:pt x="247" y="138"/>
                  <a:pt x="247" y="138"/>
                </a:cubicBezTo>
                <a:cubicBezTo>
                  <a:pt x="247" y="170"/>
                  <a:pt x="247" y="170"/>
                  <a:pt x="247" y="170"/>
                </a:cubicBezTo>
                <a:cubicBezTo>
                  <a:pt x="247" y="181"/>
                  <a:pt x="247" y="181"/>
                  <a:pt x="247" y="181"/>
                </a:cubicBezTo>
                <a:cubicBezTo>
                  <a:pt x="247" y="184"/>
                  <a:pt x="247" y="184"/>
                  <a:pt x="247" y="184"/>
                </a:cubicBezTo>
                <a:cubicBezTo>
                  <a:pt x="239" y="181"/>
                  <a:pt x="234" y="174"/>
                  <a:pt x="234" y="174"/>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cxnSp>
        <p:nvCxnSpPr>
          <p:cNvPr id="402" name="Elbow Connector 401"/>
          <p:cNvCxnSpPr>
            <a:stCxn id="290" idx="3"/>
            <a:endCxn id="330" idx="1"/>
          </p:cNvCxnSpPr>
          <p:nvPr/>
        </p:nvCxnSpPr>
        <p:spPr>
          <a:xfrm flipV="1">
            <a:off x="8170613" y="4812094"/>
            <a:ext cx="163958" cy="209277"/>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4" name="Elbow Connector 403"/>
          <p:cNvCxnSpPr>
            <a:stCxn id="226" idx="3"/>
            <a:endCxn id="333" idx="1"/>
          </p:cNvCxnSpPr>
          <p:nvPr/>
        </p:nvCxnSpPr>
        <p:spPr>
          <a:xfrm flipV="1">
            <a:off x="8170182" y="5281088"/>
            <a:ext cx="156373" cy="84874"/>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0" name="Elbow Connector 409"/>
          <p:cNvCxnSpPr>
            <a:stCxn id="292" idx="3"/>
            <a:endCxn id="364" idx="1"/>
          </p:cNvCxnSpPr>
          <p:nvPr/>
        </p:nvCxnSpPr>
        <p:spPr>
          <a:xfrm>
            <a:off x="8175640" y="5722567"/>
            <a:ext cx="158931" cy="27429"/>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2" name="Elbow Connector 411"/>
          <p:cNvCxnSpPr>
            <a:stCxn id="297" idx="3"/>
            <a:endCxn id="380" idx="1"/>
          </p:cNvCxnSpPr>
          <p:nvPr/>
        </p:nvCxnSpPr>
        <p:spPr>
          <a:xfrm>
            <a:off x="8170181" y="6087020"/>
            <a:ext cx="156374" cy="130838"/>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5" name="Elbow Connector 414"/>
          <p:cNvCxnSpPr>
            <a:stCxn id="181" idx="3"/>
            <a:endCxn id="383" idx="1"/>
          </p:cNvCxnSpPr>
          <p:nvPr/>
        </p:nvCxnSpPr>
        <p:spPr>
          <a:xfrm>
            <a:off x="8177442" y="6450071"/>
            <a:ext cx="157128" cy="237549"/>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9" name="Elbow Connector 418"/>
          <p:cNvCxnSpPr>
            <a:stCxn id="223" idx="3"/>
            <a:endCxn id="383" idx="1"/>
          </p:cNvCxnSpPr>
          <p:nvPr/>
        </p:nvCxnSpPr>
        <p:spPr>
          <a:xfrm flipV="1">
            <a:off x="8177442" y="6687620"/>
            <a:ext cx="157128" cy="118818"/>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20" name="Freeform 560"/>
          <p:cNvSpPr>
            <a:spLocks noEditPoints="1"/>
          </p:cNvSpPr>
          <p:nvPr/>
        </p:nvSpPr>
        <p:spPr bwMode="auto">
          <a:xfrm>
            <a:off x="5075226" y="4374531"/>
            <a:ext cx="212827" cy="302815"/>
          </a:xfrm>
          <a:custGeom>
            <a:avLst/>
            <a:gdLst>
              <a:gd name="T0" fmla="*/ 33 w 225"/>
              <a:gd name="T1" fmla="*/ 320 h 320"/>
              <a:gd name="T2" fmla="*/ 28 w 225"/>
              <a:gd name="T3" fmla="*/ 318 h 320"/>
              <a:gd name="T4" fmla="*/ 22 w 225"/>
              <a:gd name="T5" fmla="*/ 306 h 320"/>
              <a:gd name="T6" fmla="*/ 61 w 225"/>
              <a:gd name="T7" fmla="*/ 170 h 320"/>
              <a:gd name="T8" fmla="*/ 11 w 225"/>
              <a:gd name="T9" fmla="*/ 170 h 320"/>
              <a:gd name="T10" fmla="*/ 2 w 225"/>
              <a:gd name="T11" fmla="*/ 166 h 320"/>
              <a:gd name="T12" fmla="*/ 2 w 225"/>
              <a:gd name="T13" fmla="*/ 155 h 320"/>
              <a:gd name="T14" fmla="*/ 66 w 225"/>
              <a:gd name="T15" fmla="*/ 6 h 320"/>
              <a:gd name="T16" fmla="*/ 75 w 225"/>
              <a:gd name="T17" fmla="*/ 0 h 320"/>
              <a:gd name="T18" fmla="*/ 182 w 225"/>
              <a:gd name="T19" fmla="*/ 0 h 320"/>
              <a:gd name="T20" fmla="*/ 191 w 225"/>
              <a:gd name="T21" fmla="*/ 5 h 320"/>
              <a:gd name="T22" fmla="*/ 192 w 225"/>
              <a:gd name="T23" fmla="*/ 15 h 320"/>
              <a:gd name="T24" fmla="*/ 156 w 225"/>
              <a:gd name="T25" fmla="*/ 96 h 320"/>
              <a:gd name="T26" fmla="*/ 214 w 225"/>
              <a:gd name="T27" fmla="*/ 96 h 320"/>
              <a:gd name="T28" fmla="*/ 224 w 225"/>
              <a:gd name="T29" fmla="*/ 102 h 320"/>
              <a:gd name="T30" fmla="*/ 222 w 225"/>
              <a:gd name="T31" fmla="*/ 113 h 320"/>
              <a:gd name="T32" fmla="*/ 41 w 225"/>
              <a:gd name="T33" fmla="*/ 316 h 320"/>
              <a:gd name="T34" fmla="*/ 33 w 225"/>
              <a:gd name="T35" fmla="*/ 320 h 320"/>
              <a:gd name="T36" fmla="*/ 28 w 225"/>
              <a:gd name="T37" fmla="*/ 149 h 320"/>
              <a:gd name="T38" fmla="*/ 75 w 225"/>
              <a:gd name="T39" fmla="*/ 149 h 320"/>
              <a:gd name="T40" fmla="*/ 84 w 225"/>
              <a:gd name="T41" fmla="*/ 153 h 320"/>
              <a:gd name="T42" fmla="*/ 86 w 225"/>
              <a:gd name="T43" fmla="*/ 163 h 320"/>
              <a:gd name="T44" fmla="*/ 56 w 225"/>
              <a:gd name="T45" fmla="*/ 267 h 320"/>
              <a:gd name="T46" fmla="*/ 190 w 225"/>
              <a:gd name="T47" fmla="*/ 117 h 320"/>
              <a:gd name="T48" fmla="*/ 139 w 225"/>
              <a:gd name="T49" fmla="*/ 117 h 320"/>
              <a:gd name="T50" fmla="*/ 130 w 225"/>
              <a:gd name="T51" fmla="*/ 112 h 320"/>
              <a:gd name="T52" fmla="*/ 130 w 225"/>
              <a:gd name="T53" fmla="*/ 102 h 320"/>
              <a:gd name="T54" fmla="*/ 166 w 225"/>
              <a:gd name="T55" fmla="*/ 21 h 320"/>
              <a:gd name="T56" fmla="*/ 82 w 225"/>
              <a:gd name="T57" fmla="*/ 21 h 320"/>
              <a:gd name="T58" fmla="*/ 28 w 225"/>
              <a:gd name="T59" fmla="*/ 14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5" h="320">
                <a:moveTo>
                  <a:pt x="33" y="320"/>
                </a:moveTo>
                <a:cubicBezTo>
                  <a:pt x="31" y="320"/>
                  <a:pt x="29" y="319"/>
                  <a:pt x="28" y="318"/>
                </a:cubicBezTo>
                <a:cubicBezTo>
                  <a:pt x="23" y="316"/>
                  <a:pt x="21" y="311"/>
                  <a:pt x="22" y="306"/>
                </a:cubicBezTo>
                <a:cubicBezTo>
                  <a:pt x="61" y="170"/>
                  <a:pt x="61" y="170"/>
                  <a:pt x="61" y="170"/>
                </a:cubicBezTo>
                <a:cubicBezTo>
                  <a:pt x="11" y="170"/>
                  <a:pt x="11" y="170"/>
                  <a:pt x="11" y="170"/>
                </a:cubicBezTo>
                <a:cubicBezTo>
                  <a:pt x="8" y="170"/>
                  <a:pt x="4" y="169"/>
                  <a:pt x="2" y="166"/>
                </a:cubicBezTo>
                <a:cubicBezTo>
                  <a:pt x="0" y="163"/>
                  <a:pt x="0" y="159"/>
                  <a:pt x="2" y="155"/>
                </a:cubicBezTo>
                <a:cubicBezTo>
                  <a:pt x="66" y="6"/>
                  <a:pt x="66" y="6"/>
                  <a:pt x="66" y="6"/>
                </a:cubicBezTo>
                <a:cubicBezTo>
                  <a:pt x="67" y="2"/>
                  <a:pt x="71" y="0"/>
                  <a:pt x="75" y="0"/>
                </a:cubicBezTo>
                <a:cubicBezTo>
                  <a:pt x="182" y="0"/>
                  <a:pt x="182" y="0"/>
                  <a:pt x="182" y="0"/>
                </a:cubicBezTo>
                <a:cubicBezTo>
                  <a:pt x="186" y="0"/>
                  <a:pt x="189" y="1"/>
                  <a:pt x="191" y="5"/>
                </a:cubicBezTo>
                <a:cubicBezTo>
                  <a:pt x="193" y="8"/>
                  <a:pt x="193" y="11"/>
                  <a:pt x="192" y="15"/>
                </a:cubicBezTo>
                <a:cubicBezTo>
                  <a:pt x="156" y="96"/>
                  <a:pt x="156" y="96"/>
                  <a:pt x="156" y="96"/>
                </a:cubicBezTo>
                <a:cubicBezTo>
                  <a:pt x="214" y="96"/>
                  <a:pt x="214" y="96"/>
                  <a:pt x="214" y="96"/>
                </a:cubicBezTo>
                <a:cubicBezTo>
                  <a:pt x="218" y="96"/>
                  <a:pt x="222" y="98"/>
                  <a:pt x="224" y="102"/>
                </a:cubicBezTo>
                <a:cubicBezTo>
                  <a:pt x="225" y="106"/>
                  <a:pt x="225" y="110"/>
                  <a:pt x="222" y="113"/>
                </a:cubicBezTo>
                <a:cubicBezTo>
                  <a:pt x="41" y="316"/>
                  <a:pt x="41" y="316"/>
                  <a:pt x="41" y="316"/>
                </a:cubicBezTo>
                <a:cubicBezTo>
                  <a:pt x="39" y="318"/>
                  <a:pt x="36" y="320"/>
                  <a:pt x="33" y="320"/>
                </a:cubicBezTo>
                <a:close/>
                <a:moveTo>
                  <a:pt x="28" y="149"/>
                </a:moveTo>
                <a:cubicBezTo>
                  <a:pt x="75" y="149"/>
                  <a:pt x="75" y="149"/>
                  <a:pt x="75" y="149"/>
                </a:cubicBezTo>
                <a:cubicBezTo>
                  <a:pt x="79" y="149"/>
                  <a:pt x="82" y="151"/>
                  <a:pt x="84" y="153"/>
                </a:cubicBezTo>
                <a:cubicBezTo>
                  <a:pt x="86" y="156"/>
                  <a:pt x="87" y="159"/>
                  <a:pt x="86" y="163"/>
                </a:cubicBezTo>
                <a:cubicBezTo>
                  <a:pt x="56" y="267"/>
                  <a:pt x="56" y="267"/>
                  <a:pt x="56" y="267"/>
                </a:cubicBezTo>
                <a:cubicBezTo>
                  <a:pt x="190" y="117"/>
                  <a:pt x="190" y="117"/>
                  <a:pt x="190" y="117"/>
                </a:cubicBezTo>
                <a:cubicBezTo>
                  <a:pt x="139" y="117"/>
                  <a:pt x="139" y="117"/>
                  <a:pt x="139" y="117"/>
                </a:cubicBezTo>
                <a:cubicBezTo>
                  <a:pt x="136" y="117"/>
                  <a:pt x="132" y="115"/>
                  <a:pt x="130" y="112"/>
                </a:cubicBezTo>
                <a:cubicBezTo>
                  <a:pt x="128" y="109"/>
                  <a:pt x="128" y="105"/>
                  <a:pt x="130" y="102"/>
                </a:cubicBezTo>
                <a:cubicBezTo>
                  <a:pt x="166" y="21"/>
                  <a:pt x="166" y="21"/>
                  <a:pt x="166" y="21"/>
                </a:cubicBezTo>
                <a:cubicBezTo>
                  <a:pt x="82" y="21"/>
                  <a:pt x="82" y="21"/>
                  <a:pt x="82" y="21"/>
                </a:cubicBezTo>
                <a:lnTo>
                  <a:pt x="28" y="149"/>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423" name="Freeform 422"/>
          <p:cNvSpPr>
            <a:spLocks noEditPoints="1"/>
          </p:cNvSpPr>
          <p:nvPr/>
        </p:nvSpPr>
        <p:spPr bwMode="auto">
          <a:xfrm>
            <a:off x="3366342" y="5396379"/>
            <a:ext cx="257145" cy="220239"/>
          </a:xfrm>
          <a:custGeom>
            <a:avLst/>
            <a:gdLst>
              <a:gd name="T0" fmla="*/ 313 w 325"/>
              <a:gd name="T1" fmla="*/ 175 h 278"/>
              <a:gd name="T2" fmla="*/ 290 w 325"/>
              <a:gd name="T3" fmla="*/ 154 h 278"/>
              <a:gd name="T4" fmla="*/ 247 w 325"/>
              <a:gd name="T5" fmla="*/ 44 h 278"/>
              <a:gd name="T6" fmla="*/ 230 w 325"/>
              <a:gd name="T7" fmla="*/ 29 h 278"/>
              <a:gd name="T8" fmla="*/ 194 w 325"/>
              <a:gd name="T9" fmla="*/ 11 h 278"/>
              <a:gd name="T10" fmla="*/ 140 w 325"/>
              <a:gd name="T11" fmla="*/ 0 h 278"/>
              <a:gd name="T12" fmla="*/ 130 w 325"/>
              <a:gd name="T13" fmla="*/ 14 h 278"/>
              <a:gd name="T14" fmla="*/ 82 w 325"/>
              <a:gd name="T15" fmla="*/ 35 h 278"/>
              <a:gd name="T16" fmla="*/ 76 w 325"/>
              <a:gd name="T17" fmla="*/ 50 h 278"/>
              <a:gd name="T18" fmla="*/ 34 w 325"/>
              <a:gd name="T19" fmla="*/ 168 h 278"/>
              <a:gd name="T20" fmla="*/ 4 w 325"/>
              <a:gd name="T21" fmla="*/ 183 h 278"/>
              <a:gd name="T22" fmla="*/ 24 w 325"/>
              <a:gd name="T23" fmla="*/ 262 h 278"/>
              <a:gd name="T24" fmla="*/ 162 w 325"/>
              <a:gd name="T25" fmla="*/ 278 h 278"/>
              <a:gd name="T26" fmla="*/ 163 w 325"/>
              <a:gd name="T27" fmla="*/ 278 h 278"/>
              <a:gd name="T28" fmla="*/ 300 w 325"/>
              <a:gd name="T29" fmla="*/ 262 h 278"/>
              <a:gd name="T30" fmla="*/ 320 w 325"/>
              <a:gd name="T31" fmla="*/ 183 h 278"/>
              <a:gd name="T32" fmla="*/ 76 w 325"/>
              <a:gd name="T33" fmla="*/ 86 h 278"/>
              <a:gd name="T34" fmla="*/ 87 w 325"/>
              <a:gd name="T35" fmla="*/ 155 h 278"/>
              <a:gd name="T36" fmla="*/ 98 w 325"/>
              <a:gd name="T37" fmla="*/ 51 h 278"/>
              <a:gd name="T38" fmla="*/ 130 w 325"/>
              <a:gd name="T39" fmla="*/ 36 h 278"/>
              <a:gd name="T40" fmla="*/ 123 w 325"/>
              <a:gd name="T41" fmla="*/ 91 h 278"/>
              <a:gd name="T42" fmla="*/ 141 w 325"/>
              <a:gd name="T43" fmla="*/ 102 h 278"/>
              <a:gd name="T44" fmla="*/ 151 w 325"/>
              <a:gd name="T45" fmla="*/ 83 h 278"/>
              <a:gd name="T46" fmla="*/ 151 w 325"/>
              <a:gd name="T47" fmla="*/ 22 h 278"/>
              <a:gd name="T48" fmla="*/ 172 w 325"/>
              <a:gd name="T49" fmla="*/ 23 h 278"/>
              <a:gd name="T50" fmla="*/ 174 w 325"/>
              <a:gd name="T51" fmla="*/ 88 h 278"/>
              <a:gd name="T52" fmla="*/ 185 w 325"/>
              <a:gd name="T53" fmla="*/ 105 h 278"/>
              <a:gd name="T54" fmla="*/ 189 w 325"/>
              <a:gd name="T55" fmla="*/ 107 h 278"/>
              <a:gd name="T56" fmla="*/ 191 w 325"/>
              <a:gd name="T57" fmla="*/ 107 h 278"/>
              <a:gd name="T58" fmla="*/ 193 w 325"/>
              <a:gd name="T59" fmla="*/ 107 h 278"/>
              <a:gd name="T60" fmla="*/ 200 w 325"/>
              <a:gd name="T61" fmla="*/ 91 h 278"/>
              <a:gd name="T62" fmla="*/ 194 w 325"/>
              <a:gd name="T63" fmla="*/ 36 h 278"/>
              <a:gd name="T64" fmla="*/ 226 w 325"/>
              <a:gd name="T65" fmla="*/ 51 h 278"/>
              <a:gd name="T66" fmla="*/ 236 w 325"/>
              <a:gd name="T67" fmla="*/ 155 h 278"/>
              <a:gd name="T68" fmla="*/ 247 w 325"/>
              <a:gd name="T69" fmla="*/ 86 h 278"/>
              <a:gd name="T70" fmla="*/ 268 w 325"/>
              <a:gd name="T71" fmla="*/ 187 h 278"/>
              <a:gd name="T72" fmla="*/ 55 w 325"/>
              <a:gd name="T73" fmla="*/ 188 h 278"/>
              <a:gd name="T74" fmla="*/ 300 w 325"/>
              <a:gd name="T75" fmla="*/ 213 h 278"/>
              <a:gd name="T76" fmla="*/ 163 w 325"/>
              <a:gd name="T77" fmla="*/ 256 h 278"/>
              <a:gd name="T78" fmla="*/ 162 w 325"/>
              <a:gd name="T79" fmla="*/ 256 h 278"/>
              <a:gd name="T80" fmla="*/ 24 w 325"/>
              <a:gd name="T81" fmla="*/ 213 h 278"/>
              <a:gd name="T82" fmla="*/ 34 w 325"/>
              <a:gd name="T83" fmla="*/ 191 h 278"/>
              <a:gd name="T84" fmla="*/ 36 w 325"/>
              <a:gd name="T85" fmla="*/ 199 h 278"/>
              <a:gd name="T86" fmla="*/ 285 w 325"/>
              <a:gd name="T87" fmla="*/ 201 h 278"/>
              <a:gd name="T88" fmla="*/ 290 w 325"/>
              <a:gd name="T89" fmla="*/ 191 h 278"/>
              <a:gd name="T90" fmla="*/ 300 w 325"/>
              <a:gd name="T91" fmla="*/ 213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5" h="278">
                <a:moveTo>
                  <a:pt x="320" y="183"/>
                </a:moveTo>
                <a:cubicBezTo>
                  <a:pt x="320" y="180"/>
                  <a:pt x="317" y="176"/>
                  <a:pt x="313" y="175"/>
                </a:cubicBezTo>
                <a:cubicBezTo>
                  <a:pt x="290" y="168"/>
                  <a:pt x="290" y="168"/>
                  <a:pt x="290" y="168"/>
                </a:cubicBezTo>
                <a:cubicBezTo>
                  <a:pt x="290" y="154"/>
                  <a:pt x="290" y="154"/>
                  <a:pt x="290" y="154"/>
                </a:cubicBezTo>
                <a:cubicBezTo>
                  <a:pt x="290" y="119"/>
                  <a:pt x="279" y="80"/>
                  <a:pt x="247" y="50"/>
                </a:cubicBezTo>
                <a:cubicBezTo>
                  <a:pt x="247" y="44"/>
                  <a:pt x="247" y="44"/>
                  <a:pt x="247" y="44"/>
                </a:cubicBezTo>
                <a:cubicBezTo>
                  <a:pt x="247" y="40"/>
                  <a:pt x="245" y="37"/>
                  <a:pt x="241" y="35"/>
                </a:cubicBezTo>
                <a:cubicBezTo>
                  <a:pt x="237" y="33"/>
                  <a:pt x="233" y="31"/>
                  <a:pt x="230" y="29"/>
                </a:cubicBezTo>
                <a:cubicBezTo>
                  <a:pt x="218" y="23"/>
                  <a:pt x="207" y="17"/>
                  <a:pt x="194" y="14"/>
                </a:cubicBezTo>
                <a:cubicBezTo>
                  <a:pt x="194" y="11"/>
                  <a:pt x="194" y="11"/>
                  <a:pt x="194" y="11"/>
                </a:cubicBezTo>
                <a:cubicBezTo>
                  <a:pt x="194" y="5"/>
                  <a:pt x="189" y="0"/>
                  <a:pt x="183" y="0"/>
                </a:cubicBezTo>
                <a:cubicBezTo>
                  <a:pt x="140" y="0"/>
                  <a:pt x="140" y="0"/>
                  <a:pt x="140" y="0"/>
                </a:cubicBezTo>
                <a:cubicBezTo>
                  <a:pt x="134" y="0"/>
                  <a:pt x="130" y="5"/>
                  <a:pt x="130" y="11"/>
                </a:cubicBezTo>
                <a:cubicBezTo>
                  <a:pt x="130" y="14"/>
                  <a:pt x="130" y="14"/>
                  <a:pt x="130" y="14"/>
                </a:cubicBezTo>
                <a:cubicBezTo>
                  <a:pt x="116" y="17"/>
                  <a:pt x="106" y="23"/>
                  <a:pt x="93" y="29"/>
                </a:cubicBezTo>
                <a:cubicBezTo>
                  <a:pt x="90" y="31"/>
                  <a:pt x="86" y="33"/>
                  <a:pt x="82" y="35"/>
                </a:cubicBezTo>
                <a:cubicBezTo>
                  <a:pt x="79" y="37"/>
                  <a:pt x="76" y="40"/>
                  <a:pt x="76" y="44"/>
                </a:cubicBezTo>
                <a:cubicBezTo>
                  <a:pt x="76" y="50"/>
                  <a:pt x="76" y="50"/>
                  <a:pt x="76" y="50"/>
                </a:cubicBezTo>
                <a:cubicBezTo>
                  <a:pt x="44" y="80"/>
                  <a:pt x="34" y="119"/>
                  <a:pt x="34" y="154"/>
                </a:cubicBezTo>
                <a:cubicBezTo>
                  <a:pt x="34" y="168"/>
                  <a:pt x="34" y="168"/>
                  <a:pt x="34" y="168"/>
                </a:cubicBezTo>
                <a:cubicBezTo>
                  <a:pt x="11" y="175"/>
                  <a:pt x="11" y="175"/>
                  <a:pt x="11" y="175"/>
                </a:cubicBezTo>
                <a:cubicBezTo>
                  <a:pt x="7" y="177"/>
                  <a:pt x="5" y="180"/>
                  <a:pt x="4" y="183"/>
                </a:cubicBezTo>
                <a:cubicBezTo>
                  <a:pt x="3" y="185"/>
                  <a:pt x="0" y="204"/>
                  <a:pt x="3" y="219"/>
                </a:cubicBezTo>
                <a:cubicBezTo>
                  <a:pt x="7" y="233"/>
                  <a:pt x="22" y="259"/>
                  <a:pt x="24" y="262"/>
                </a:cubicBezTo>
                <a:cubicBezTo>
                  <a:pt x="24" y="263"/>
                  <a:pt x="25" y="264"/>
                  <a:pt x="25" y="264"/>
                </a:cubicBezTo>
                <a:cubicBezTo>
                  <a:pt x="34" y="273"/>
                  <a:pt x="80" y="278"/>
                  <a:pt x="162" y="278"/>
                </a:cubicBezTo>
                <a:cubicBezTo>
                  <a:pt x="162" y="278"/>
                  <a:pt x="162" y="278"/>
                  <a:pt x="162" y="278"/>
                </a:cubicBezTo>
                <a:cubicBezTo>
                  <a:pt x="162" y="278"/>
                  <a:pt x="162" y="278"/>
                  <a:pt x="163" y="278"/>
                </a:cubicBezTo>
                <a:cubicBezTo>
                  <a:pt x="244" y="278"/>
                  <a:pt x="290" y="273"/>
                  <a:pt x="299" y="264"/>
                </a:cubicBezTo>
                <a:cubicBezTo>
                  <a:pt x="299" y="264"/>
                  <a:pt x="300" y="263"/>
                  <a:pt x="300" y="262"/>
                </a:cubicBezTo>
                <a:cubicBezTo>
                  <a:pt x="302" y="259"/>
                  <a:pt x="317" y="233"/>
                  <a:pt x="321" y="219"/>
                </a:cubicBezTo>
                <a:cubicBezTo>
                  <a:pt x="325" y="204"/>
                  <a:pt x="321" y="185"/>
                  <a:pt x="320" y="183"/>
                </a:cubicBezTo>
                <a:close/>
                <a:moveTo>
                  <a:pt x="55" y="154"/>
                </a:moveTo>
                <a:cubicBezTo>
                  <a:pt x="55" y="126"/>
                  <a:pt x="66" y="103"/>
                  <a:pt x="76" y="86"/>
                </a:cubicBezTo>
                <a:cubicBezTo>
                  <a:pt x="76" y="144"/>
                  <a:pt x="76" y="144"/>
                  <a:pt x="76" y="144"/>
                </a:cubicBezTo>
                <a:cubicBezTo>
                  <a:pt x="76" y="150"/>
                  <a:pt x="81" y="155"/>
                  <a:pt x="87" y="155"/>
                </a:cubicBezTo>
                <a:cubicBezTo>
                  <a:pt x="93" y="155"/>
                  <a:pt x="98" y="150"/>
                  <a:pt x="98" y="144"/>
                </a:cubicBezTo>
                <a:cubicBezTo>
                  <a:pt x="98" y="51"/>
                  <a:pt x="98" y="51"/>
                  <a:pt x="98" y="51"/>
                </a:cubicBezTo>
                <a:cubicBezTo>
                  <a:pt x="98" y="50"/>
                  <a:pt x="101" y="49"/>
                  <a:pt x="103" y="48"/>
                </a:cubicBezTo>
                <a:cubicBezTo>
                  <a:pt x="113" y="43"/>
                  <a:pt x="119" y="39"/>
                  <a:pt x="130" y="36"/>
                </a:cubicBezTo>
                <a:cubicBezTo>
                  <a:pt x="130" y="80"/>
                  <a:pt x="130" y="80"/>
                  <a:pt x="130" y="80"/>
                </a:cubicBezTo>
                <a:cubicBezTo>
                  <a:pt x="123" y="91"/>
                  <a:pt x="123" y="91"/>
                  <a:pt x="123" y="91"/>
                </a:cubicBezTo>
                <a:cubicBezTo>
                  <a:pt x="120" y="96"/>
                  <a:pt x="121" y="102"/>
                  <a:pt x="126" y="105"/>
                </a:cubicBezTo>
                <a:cubicBezTo>
                  <a:pt x="131" y="108"/>
                  <a:pt x="138" y="107"/>
                  <a:pt x="141" y="102"/>
                </a:cubicBezTo>
                <a:cubicBezTo>
                  <a:pt x="149" y="88"/>
                  <a:pt x="149" y="88"/>
                  <a:pt x="149" y="88"/>
                </a:cubicBezTo>
                <a:cubicBezTo>
                  <a:pt x="150" y="87"/>
                  <a:pt x="151" y="85"/>
                  <a:pt x="151" y="83"/>
                </a:cubicBezTo>
                <a:cubicBezTo>
                  <a:pt x="151" y="23"/>
                  <a:pt x="151" y="23"/>
                  <a:pt x="151" y="23"/>
                </a:cubicBezTo>
                <a:cubicBezTo>
                  <a:pt x="151" y="22"/>
                  <a:pt x="151" y="22"/>
                  <a:pt x="151" y="22"/>
                </a:cubicBezTo>
                <a:cubicBezTo>
                  <a:pt x="172" y="22"/>
                  <a:pt x="172" y="22"/>
                  <a:pt x="172" y="22"/>
                </a:cubicBezTo>
                <a:cubicBezTo>
                  <a:pt x="172" y="23"/>
                  <a:pt x="172" y="23"/>
                  <a:pt x="172" y="23"/>
                </a:cubicBezTo>
                <a:cubicBezTo>
                  <a:pt x="172" y="83"/>
                  <a:pt x="172" y="83"/>
                  <a:pt x="172" y="83"/>
                </a:cubicBezTo>
                <a:cubicBezTo>
                  <a:pt x="172" y="85"/>
                  <a:pt x="173" y="87"/>
                  <a:pt x="174" y="88"/>
                </a:cubicBezTo>
                <a:cubicBezTo>
                  <a:pt x="182" y="102"/>
                  <a:pt x="182" y="102"/>
                  <a:pt x="182" y="102"/>
                </a:cubicBezTo>
                <a:cubicBezTo>
                  <a:pt x="183" y="103"/>
                  <a:pt x="184" y="104"/>
                  <a:pt x="185" y="105"/>
                </a:cubicBezTo>
                <a:cubicBezTo>
                  <a:pt x="185" y="105"/>
                  <a:pt x="185" y="105"/>
                  <a:pt x="185" y="105"/>
                </a:cubicBezTo>
                <a:cubicBezTo>
                  <a:pt x="186" y="106"/>
                  <a:pt x="187" y="106"/>
                  <a:pt x="189" y="107"/>
                </a:cubicBezTo>
                <a:cubicBezTo>
                  <a:pt x="189" y="107"/>
                  <a:pt x="189" y="107"/>
                  <a:pt x="189" y="107"/>
                </a:cubicBezTo>
                <a:cubicBezTo>
                  <a:pt x="190" y="107"/>
                  <a:pt x="190" y="107"/>
                  <a:pt x="191" y="107"/>
                </a:cubicBezTo>
                <a:cubicBezTo>
                  <a:pt x="192" y="107"/>
                  <a:pt x="192" y="107"/>
                  <a:pt x="192" y="107"/>
                </a:cubicBezTo>
                <a:cubicBezTo>
                  <a:pt x="193" y="107"/>
                  <a:pt x="193" y="107"/>
                  <a:pt x="193" y="107"/>
                </a:cubicBezTo>
                <a:cubicBezTo>
                  <a:pt x="194" y="107"/>
                  <a:pt x="196" y="106"/>
                  <a:pt x="197" y="105"/>
                </a:cubicBezTo>
                <a:cubicBezTo>
                  <a:pt x="202" y="102"/>
                  <a:pt x="203" y="96"/>
                  <a:pt x="200" y="91"/>
                </a:cubicBezTo>
                <a:cubicBezTo>
                  <a:pt x="194" y="80"/>
                  <a:pt x="194" y="80"/>
                  <a:pt x="194" y="80"/>
                </a:cubicBezTo>
                <a:cubicBezTo>
                  <a:pt x="194" y="36"/>
                  <a:pt x="194" y="36"/>
                  <a:pt x="194" y="36"/>
                </a:cubicBezTo>
                <a:cubicBezTo>
                  <a:pt x="204" y="39"/>
                  <a:pt x="210" y="43"/>
                  <a:pt x="220" y="48"/>
                </a:cubicBezTo>
                <a:cubicBezTo>
                  <a:pt x="222" y="49"/>
                  <a:pt x="226" y="50"/>
                  <a:pt x="226" y="51"/>
                </a:cubicBezTo>
                <a:cubicBezTo>
                  <a:pt x="226" y="144"/>
                  <a:pt x="226" y="144"/>
                  <a:pt x="226" y="144"/>
                </a:cubicBezTo>
                <a:cubicBezTo>
                  <a:pt x="226" y="150"/>
                  <a:pt x="230" y="155"/>
                  <a:pt x="236" y="155"/>
                </a:cubicBezTo>
                <a:cubicBezTo>
                  <a:pt x="242" y="155"/>
                  <a:pt x="247" y="150"/>
                  <a:pt x="247" y="144"/>
                </a:cubicBezTo>
                <a:cubicBezTo>
                  <a:pt x="247" y="86"/>
                  <a:pt x="247" y="86"/>
                  <a:pt x="247" y="86"/>
                </a:cubicBezTo>
                <a:cubicBezTo>
                  <a:pt x="258" y="103"/>
                  <a:pt x="268" y="126"/>
                  <a:pt x="268" y="154"/>
                </a:cubicBezTo>
                <a:cubicBezTo>
                  <a:pt x="268" y="187"/>
                  <a:pt x="268" y="187"/>
                  <a:pt x="268" y="187"/>
                </a:cubicBezTo>
                <a:cubicBezTo>
                  <a:pt x="258" y="192"/>
                  <a:pt x="235" y="205"/>
                  <a:pt x="162" y="205"/>
                </a:cubicBezTo>
                <a:cubicBezTo>
                  <a:pt x="88" y="205"/>
                  <a:pt x="66" y="192"/>
                  <a:pt x="55" y="188"/>
                </a:cubicBezTo>
                <a:lnTo>
                  <a:pt x="55" y="154"/>
                </a:lnTo>
                <a:close/>
                <a:moveTo>
                  <a:pt x="300" y="213"/>
                </a:moveTo>
                <a:cubicBezTo>
                  <a:pt x="298" y="222"/>
                  <a:pt x="289" y="240"/>
                  <a:pt x="283" y="249"/>
                </a:cubicBezTo>
                <a:cubicBezTo>
                  <a:pt x="277" y="251"/>
                  <a:pt x="251" y="256"/>
                  <a:pt x="163" y="256"/>
                </a:cubicBezTo>
                <a:cubicBezTo>
                  <a:pt x="162" y="256"/>
                  <a:pt x="162" y="256"/>
                  <a:pt x="162" y="256"/>
                </a:cubicBezTo>
                <a:cubicBezTo>
                  <a:pt x="162" y="256"/>
                  <a:pt x="162" y="256"/>
                  <a:pt x="162" y="256"/>
                </a:cubicBezTo>
                <a:cubicBezTo>
                  <a:pt x="73" y="256"/>
                  <a:pt x="47" y="251"/>
                  <a:pt x="41" y="249"/>
                </a:cubicBezTo>
                <a:cubicBezTo>
                  <a:pt x="36" y="240"/>
                  <a:pt x="26" y="222"/>
                  <a:pt x="24" y="213"/>
                </a:cubicBezTo>
                <a:cubicBezTo>
                  <a:pt x="22" y="208"/>
                  <a:pt x="23" y="200"/>
                  <a:pt x="24" y="194"/>
                </a:cubicBezTo>
                <a:cubicBezTo>
                  <a:pt x="34" y="191"/>
                  <a:pt x="34" y="191"/>
                  <a:pt x="34" y="191"/>
                </a:cubicBezTo>
                <a:cubicBezTo>
                  <a:pt x="34" y="192"/>
                  <a:pt x="34" y="192"/>
                  <a:pt x="34" y="192"/>
                </a:cubicBezTo>
                <a:cubicBezTo>
                  <a:pt x="34" y="195"/>
                  <a:pt x="34" y="197"/>
                  <a:pt x="36" y="199"/>
                </a:cubicBezTo>
                <a:cubicBezTo>
                  <a:pt x="39" y="203"/>
                  <a:pt x="61" y="226"/>
                  <a:pt x="162" y="226"/>
                </a:cubicBezTo>
                <a:cubicBezTo>
                  <a:pt x="249" y="226"/>
                  <a:pt x="277" y="208"/>
                  <a:pt x="285" y="201"/>
                </a:cubicBezTo>
                <a:cubicBezTo>
                  <a:pt x="288" y="199"/>
                  <a:pt x="290" y="196"/>
                  <a:pt x="290" y="192"/>
                </a:cubicBezTo>
                <a:cubicBezTo>
                  <a:pt x="290" y="191"/>
                  <a:pt x="290" y="191"/>
                  <a:pt x="290" y="191"/>
                </a:cubicBezTo>
                <a:cubicBezTo>
                  <a:pt x="301" y="194"/>
                  <a:pt x="301" y="194"/>
                  <a:pt x="301" y="194"/>
                </a:cubicBezTo>
                <a:cubicBezTo>
                  <a:pt x="301" y="200"/>
                  <a:pt x="302" y="208"/>
                  <a:pt x="300" y="213"/>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33"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Step 2: Transformation Analysis</a:t>
            </a:r>
          </a:p>
        </p:txBody>
      </p:sp>
    </p:spTree>
    <p:extLst>
      <p:ext uri="{BB962C8B-B14F-4D97-AF65-F5344CB8AC3E}">
        <p14:creationId xmlns:p14="http://schemas.microsoft.com/office/powerpoint/2010/main" val="1119493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entagon 4"/>
          <p:cNvSpPr/>
          <p:nvPr/>
        </p:nvSpPr>
        <p:spPr bwMode="gray">
          <a:xfrm>
            <a:off x="8906992" y="380178"/>
            <a:ext cx="1107717" cy="202002"/>
          </a:xfrm>
          <a:prstGeom prst="homePlate">
            <a:avLst/>
          </a:prstGeom>
          <a:solidFill>
            <a:schemeClr val="accent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solidFill>
              </a:rPr>
              <a:t>Transformation</a:t>
            </a:r>
          </a:p>
        </p:txBody>
      </p:sp>
      <p:sp>
        <p:nvSpPr>
          <p:cNvPr id="6" name="Pentagon 5"/>
          <p:cNvSpPr/>
          <p:nvPr/>
        </p:nvSpPr>
        <p:spPr bwMode="gray">
          <a:xfrm>
            <a:off x="8906992" y="629393"/>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Resource</a:t>
            </a:r>
          </a:p>
        </p:txBody>
      </p:sp>
      <p:sp>
        <p:nvSpPr>
          <p:cNvPr id="7" name="Pentagon 6"/>
          <p:cNvSpPr/>
          <p:nvPr/>
        </p:nvSpPr>
        <p:spPr bwMode="gray">
          <a:xfrm>
            <a:off x="8889301" y="113072"/>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Demand</a:t>
            </a:r>
          </a:p>
        </p:txBody>
      </p:sp>
      <p:sp>
        <p:nvSpPr>
          <p:cNvPr id="9" name="TextBox 8"/>
          <p:cNvSpPr txBox="1"/>
          <p:nvPr/>
        </p:nvSpPr>
        <p:spPr>
          <a:xfrm>
            <a:off x="589736" y="2055806"/>
            <a:ext cx="9381576" cy="249902"/>
          </a:xfrm>
          <a:prstGeom prst="rect">
            <a:avLst/>
          </a:prstGeom>
          <a:solidFill>
            <a:schemeClr val="tx1"/>
          </a:solidFill>
        </p:spPr>
        <p:txBody>
          <a:bodyPr wrap="square" lIns="39700" tIns="39700" rIns="39700" bIns="39700" rtlCol="0" anchor="ctr">
            <a:spAutoFit/>
          </a:bodyPr>
          <a:lstStyle/>
          <a:p>
            <a:pPr algn="ctr">
              <a:spcBef>
                <a:spcPts val="662"/>
              </a:spcBef>
              <a:buSzPct val="100000"/>
            </a:pPr>
            <a:r>
              <a:rPr lang="en-US" sz="1103" b="1" dirty="0">
                <a:solidFill>
                  <a:schemeClr val="bg1"/>
                </a:solidFill>
              </a:rPr>
              <a:t>Illustration in LEAP</a:t>
            </a:r>
            <a:endParaRPr lang="en-IN" sz="1103" b="1" dirty="0">
              <a:solidFill>
                <a:schemeClr val="bg1"/>
              </a:solidFill>
            </a:endParaRPr>
          </a:p>
        </p:txBody>
      </p:sp>
      <p:sp>
        <p:nvSpPr>
          <p:cNvPr id="17" name="TextBox 16"/>
          <p:cNvSpPr txBox="1"/>
          <p:nvPr/>
        </p:nvSpPr>
        <p:spPr>
          <a:xfrm>
            <a:off x="596543" y="6498920"/>
            <a:ext cx="9381576" cy="589354"/>
          </a:xfrm>
          <a:prstGeom prst="rect">
            <a:avLst/>
          </a:prstGeom>
          <a:solidFill>
            <a:schemeClr val="accent5"/>
          </a:solidFill>
        </p:spPr>
        <p:txBody>
          <a:bodyPr wrap="square" lIns="39700" tIns="39700" rIns="39700" bIns="39700" rtlCol="0" anchor="ctr">
            <a:spAutoFit/>
          </a:bodyPr>
          <a:lstStyle/>
          <a:p>
            <a:pPr algn="ctr">
              <a:spcBef>
                <a:spcPts val="662"/>
              </a:spcBef>
              <a:buSzPct val="100000"/>
            </a:pPr>
            <a:r>
              <a:rPr lang="en-US" sz="1103" b="1" dirty="0">
                <a:solidFill>
                  <a:schemeClr val="bg1"/>
                </a:solidFill>
              </a:rPr>
              <a:t>Transformation calculations are demand-driven. Each module is operated to meet the demands arising from domestic requirement and export demands, if any. The calculation yields the requirement for primary resources, which can be compared to amounts specified in resource branch.</a:t>
            </a:r>
            <a:endParaRPr lang="en-IN" sz="1103" b="1" dirty="0">
              <a:solidFill>
                <a:schemeClr val="bg1"/>
              </a:solidFill>
            </a:endParaRPr>
          </a:p>
        </p:txBody>
      </p:sp>
      <p:pic>
        <p:nvPicPr>
          <p:cNvPr id="25" name="Picture 24"/>
          <p:cNvPicPr>
            <a:picLocks noChangeAspect="1"/>
          </p:cNvPicPr>
          <p:nvPr/>
        </p:nvPicPr>
        <p:blipFill>
          <a:blip r:embed="rId2"/>
          <a:stretch>
            <a:fillRect/>
          </a:stretch>
        </p:blipFill>
        <p:spPr>
          <a:xfrm>
            <a:off x="547487" y="2377146"/>
            <a:ext cx="2914863" cy="3993638"/>
          </a:xfrm>
          <a:prstGeom prst="rect">
            <a:avLst/>
          </a:prstGeom>
        </p:spPr>
      </p:pic>
      <p:pic>
        <p:nvPicPr>
          <p:cNvPr id="26" name="Picture 25"/>
          <p:cNvPicPr>
            <a:picLocks noChangeAspect="1"/>
          </p:cNvPicPr>
          <p:nvPr/>
        </p:nvPicPr>
        <p:blipFill>
          <a:blip r:embed="rId3"/>
          <a:stretch>
            <a:fillRect/>
          </a:stretch>
        </p:blipFill>
        <p:spPr>
          <a:xfrm>
            <a:off x="3398202" y="2337843"/>
            <a:ext cx="6538889" cy="2101272"/>
          </a:xfrm>
          <a:prstGeom prst="rect">
            <a:avLst/>
          </a:prstGeom>
        </p:spPr>
      </p:pic>
      <p:pic>
        <p:nvPicPr>
          <p:cNvPr id="27" name="Picture 26"/>
          <p:cNvPicPr>
            <a:picLocks noChangeAspect="1"/>
          </p:cNvPicPr>
          <p:nvPr/>
        </p:nvPicPr>
        <p:blipFill rotWithShape="1">
          <a:blip r:embed="rId4"/>
          <a:srcRect b="9578"/>
          <a:stretch/>
        </p:blipFill>
        <p:spPr>
          <a:xfrm>
            <a:off x="3398201" y="4439115"/>
            <a:ext cx="6574138" cy="2044488"/>
          </a:xfrm>
          <a:prstGeom prst="rect">
            <a:avLst/>
          </a:prstGeom>
        </p:spPr>
      </p:pic>
      <p:sp>
        <p:nvSpPr>
          <p:cNvPr id="11" name="Title 2"/>
          <p:cNvSpPr txBox="1">
            <a:spLocks/>
          </p:cNvSpPr>
          <p:nvPr/>
        </p:nvSpPr>
        <p:spPr>
          <a:xfrm>
            <a:off x="439794" y="350132"/>
            <a:ext cx="8327705" cy="740962"/>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Illustration: </a:t>
            </a:r>
            <a:r>
              <a:rPr lang="en-US" sz="2200" dirty="0"/>
              <a:t>Transformation Analysis of Electricity Generation Module in West Bengal in LEAP</a:t>
            </a:r>
          </a:p>
        </p:txBody>
      </p:sp>
    </p:spTree>
    <p:extLst>
      <p:ext uri="{BB962C8B-B14F-4D97-AF65-F5344CB8AC3E}">
        <p14:creationId xmlns:p14="http://schemas.microsoft.com/office/powerpoint/2010/main" val="31109014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673084" y="962098"/>
            <a:ext cx="9413216" cy="1440138"/>
          </a:xfrm>
          <a:prstGeom prst="roundRect">
            <a:avLst/>
          </a:prstGeom>
          <a:solidFill>
            <a:schemeClr val="bg1">
              <a:lumMod val="95000"/>
            </a:schemeClr>
          </a:solidFill>
        </p:spPr>
        <p:txBody>
          <a:bodyPr wrap="square" lIns="39700" tIns="39700" rIns="39700" bIns="39700" rtlCol="0">
            <a:spAutoFit/>
          </a:bodyPr>
          <a:lstStyle/>
          <a:p>
            <a:pPr marL="315125" indent="-315125">
              <a:buFont typeface="Arial" panose="020B0604020202020204" pitchFamily="34" charset="0"/>
              <a:buChar char="•"/>
            </a:pPr>
            <a:r>
              <a:rPr lang="en-US" sz="1323" dirty="0">
                <a:solidFill>
                  <a:srgbClr val="313131"/>
                </a:solidFill>
              </a:rPr>
              <a:t>Resource Analysis is used to enter data on availability of primary resources, including both fossil fuels and renewable sources as well as information on costs of indigenous production, imports and exports, if any of primary and secondary fuels</a:t>
            </a:r>
          </a:p>
          <a:p>
            <a:pPr marL="315125" indent="-315125">
              <a:buFont typeface="Arial" panose="020B0604020202020204" pitchFamily="34" charset="0"/>
              <a:buChar char="•"/>
            </a:pPr>
            <a:r>
              <a:rPr lang="en-US" sz="1323" dirty="0">
                <a:solidFill>
                  <a:srgbClr val="313131"/>
                </a:solidFill>
              </a:rPr>
              <a:t>List of fuels is automatically updated based on consumption and production patterns in previous two analysis</a:t>
            </a:r>
          </a:p>
          <a:p>
            <a:pPr marL="315125" indent="-315125">
              <a:buFont typeface="Arial" panose="020B0604020202020204" pitchFamily="34" charset="0"/>
              <a:buChar char="•"/>
            </a:pPr>
            <a:r>
              <a:rPr lang="en-US" sz="1323" dirty="0">
                <a:solidFill>
                  <a:srgbClr val="313131"/>
                </a:solidFill>
              </a:rPr>
              <a:t>Costing boundary can be defined for cost-benefit analysis</a:t>
            </a:r>
            <a:endParaRPr lang="en-US" sz="1323" dirty="0"/>
          </a:p>
        </p:txBody>
      </p:sp>
      <p:sp>
        <p:nvSpPr>
          <p:cNvPr id="145" name="Pentagon 144"/>
          <p:cNvSpPr/>
          <p:nvPr/>
        </p:nvSpPr>
        <p:spPr bwMode="gray">
          <a:xfrm>
            <a:off x="8906992" y="380178"/>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accent6">
                    <a:lumMod val="60000"/>
                    <a:lumOff val="40000"/>
                  </a:schemeClr>
                </a:solidFill>
              </a:rPr>
              <a:t>Transformation</a:t>
            </a:r>
          </a:p>
        </p:txBody>
      </p:sp>
      <p:sp>
        <p:nvSpPr>
          <p:cNvPr id="146" name="Pentagon 145"/>
          <p:cNvSpPr/>
          <p:nvPr/>
        </p:nvSpPr>
        <p:spPr bwMode="gray">
          <a:xfrm>
            <a:off x="8906992" y="629393"/>
            <a:ext cx="1107717" cy="202002"/>
          </a:xfrm>
          <a:prstGeom prst="homePlate">
            <a:avLst/>
          </a:prstGeom>
          <a:solidFill>
            <a:schemeClr val="accent6"/>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solidFill>
              </a:rPr>
              <a:t>Resource</a:t>
            </a:r>
          </a:p>
        </p:txBody>
      </p:sp>
      <p:sp>
        <p:nvSpPr>
          <p:cNvPr id="147" name="Pentagon 146"/>
          <p:cNvSpPr/>
          <p:nvPr/>
        </p:nvSpPr>
        <p:spPr bwMode="gray">
          <a:xfrm>
            <a:off x="8889301" y="113072"/>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Demand</a:t>
            </a:r>
          </a:p>
        </p:txBody>
      </p:sp>
      <p:grpSp>
        <p:nvGrpSpPr>
          <p:cNvPr id="5" name="Group 4"/>
          <p:cNvGrpSpPr/>
          <p:nvPr/>
        </p:nvGrpSpPr>
        <p:grpSpPr>
          <a:xfrm>
            <a:off x="2376260" y="3621959"/>
            <a:ext cx="5936118" cy="3472083"/>
            <a:chOff x="376238" y="3284396"/>
            <a:chExt cx="5382878" cy="3148488"/>
          </a:xfrm>
        </p:grpSpPr>
        <p:sp>
          <p:nvSpPr>
            <p:cNvPr id="148" name="Rectangle 147"/>
            <p:cNvSpPr/>
            <p:nvPr/>
          </p:nvSpPr>
          <p:spPr bwMode="gray">
            <a:xfrm>
              <a:off x="2537575" y="3284396"/>
              <a:ext cx="3221541" cy="3148488"/>
            </a:xfrm>
            <a:prstGeom prst="rect">
              <a:avLst/>
            </a:prstGeom>
            <a:noFill/>
            <a:ln w="19050" algn="ctr">
              <a:solidFill>
                <a:schemeClr val="accent3"/>
              </a:solid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59" name="TextBox 158"/>
            <p:cNvSpPr txBox="1"/>
            <p:nvPr/>
          </p:nvSpPr>
          <p:spPr>
            <a:xfrm>
              <a:off x="2647516" y="3427509"/>
              <a:ext cx="1430858" cy="293803"/>
            </a:xfrm>
            <a:prstGeom prst="roundRect">
              <a:avLst/>
            </a:prstGeom>
            <a:solidFill>
              <a:schemeClr val="accent6">
                <a:lumMod val="50000"/>
              </a:schemeClr>
            </a:solidFill>
          </p:spPr>
          <p:txBody>
            <a:bodyPr wrap="square" lIns="0" tIns="0" rIns="0" bIns="0" rtlCol="0" anchor="ctr">
              <a:spAutoFit/>
            </a:bodyPr>
            <a:lstStyle/>
            <a:p>
              <a:pPr algn="ctr">
                <a:spcBef>
                  <a:spcPts val="662"/>
                </a:spcBef>
                <a:buSzPct val="100000"/>
              </a:pPr>
              <a:r>
                <a:rPr lang="en-US" sz="1103" b="1" dirty="0">
                  <a:solidFill>
                    <a:schemeClr val="bg1"/>
                  </a:solidFill>
                </a:rPr>
                <a:t>Primary</a:t>
              </a:r>
            </a:p>
          </p:txBody>
        </p:sp>
        <p:sp>
          <p:nvSpPr>
            <p:cNvPr id="175" name="TextBox 174"/>
            <p:cNvSpPr txBox="1"/>
            <p:nvPr/>
          </p:nvSpPr>
          <p:spPr>
            <a:xfrm>
              <a:off x="4205344" y="3426031"/>
              <a:ext cx="1430858" cy="293803"/>
            </a:xfrm>
            <a:prstGeom prst="roundRect">
              <a:avLst/>
            </a:prstGeom>
            <a:solidFill>
              <a:schemeClr val="accent6">
                <a:lumMod val="50000"/>
              </a:schemeClr>
            </a:solidFill>
          </p:spPr>
          <p:txBody>
            <a:bodyPr wrap="square" lIns="0" tIns="0" rIns="0" bIns="0" rtlCol="0" anchor="ctr">
              <a:spAutoFit/>
            </a:bodyPr>
            <a:lstStyle/>
            <a:p>
              <a:pPr algn="ctr">
                <a:spcBef>
                  <a:spcPts val="662"/>
                </a:spcBef>
                <a:buSzPct val="100000"/>
              </a:pPr>
              <a:r>
                <a:rPr lang="en-US" sz="1103" b="1" dirty="0">
                  <a:solidFill>
                    <a:schemeClr val="bg1"/>
                  </a:solidFill>
                </a:rPr>
                <a:t>Secondary</a:t>
              </a:r>
            </a:p>
          </p:txBody>
        </p:sp>
        <p:sp>
          <p:nvSpPr>
            <p:cNvPr id="257" name="Trapezoid 256"/>
            <p:cNvSpPr/>
            <p:nvPr/>
          </p:nvSpPr>
          <p:spPr bwMode="gray">
            <a:xfrm rot="16200000">
              <a:off x="451703" y="4351536"/>
              <a:ext cx="3148486" cy="1014208"/>
            </a:xfrm>
            <a:prstGeom prst="trapezoid">
              <a:avLst/>
            </a:prstGeom>
            <a:solidFill>
              <a:schemeClr val="accent3">
                <a:alpha val="60000"/>
              </a:schemeClr>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258" name="TextBox 257"/>
            <p:cNvSpPr txBox="1"/>
            <p:nvPr/>
          </p:nvSpPr>
          <p:spPr>
            <a:xfrm>
              <a:off x="376238" y="4729890"/>
              <a:ext cx="1720352" cy="365122"/>
            </a:xfrm>
            <a:prstGeom prst="roundRect">
              <a:avLst/>
            </a:prstGeom>
            <a:solidFill>
              <a:schemeClr val="accent6"/>
            </a:solidFill>
            <a:ln>
              <a:solidFill>
                <a:schemeClr val="bg1"/>
              </a:solidFill>
            </a:ln>
          </p:spPr>
          <p:txBody>
            <a:bodyPr wrap="square" lIns="79400" tIns="79400" rIns="79400" bIns="79400" rtlCol="0" anchor="ctr">
              <a:spAutoFit/>
            </a:bodyPr>
            <a:lstStyle/>
            <a:p>
              <a:pPr>
                <a:spcBef>
                  <a:spcPts val="662"/>
                </a:spcBef>
                <a:buSzPct val="100000"/>
              </a:pPr>
              <a:r>
                <a:rPr lang="en-US" sz="1323" b="1" dirty="0">
                  <a:solidFill>
                    <a:schemeClr val="bg1"/>
                  </a:solidFill>
                </a:rPr>
                <a:t>Resource Tree</a:t>
              </a:r>
              <a:endParaRPr lang="en-IN" sz="1323" b="1" dirty="0">
                <a:solidFill>
                  <a:schemeClr val="bg1"/>
                </a:solidFill>
              </a:endParaRPr>
            </a:p>
          </p:txBody>
        </p:sp>
        <p:sp>
          <p:nvSpPr>
            <p:cNvPr id="262" name="TextBox 261"/>
            <p:cNvSpPr txBox="1"/>
            <p:nvPr/>
          </p:nvSpPr>
          <p:spPr>
            <a:xfrm>
              <a:off x="379743" y="3845005"/>
              <a:ext cx="1728000" cy="250719"/>
            </a:xfrm>
            <a:prstGeom prst="roundRect">
              <a:avLst/>
            </a:prstGeom>
            <a:solidFill>
              <a:schemeClr val="tx1"/>
            </a:solidFill>
            <a:ln>
              <a:solidFill>
                <a:schemeClr val="bg1"/>
              </a:solidFill>
            </a:ln>
          </p:spPr>
          <p:txBody>
            <a:bodyPr wrap="square" lIns="39700" tIns="39700" rIns="39700" bIns="39700" rtlCol="0">
              <a:spAutoFit/>
            </a:bodyPr>
            <a:lstStyle/>
            <a:p>
              <a:pPr algn="ctr">
                <a:spcBef>
                  <a:spcPts val="662"/>
                </a:spcBef>
                <a:buSzPct val="100000"/>
              </a:pPr>
              <a:r>
                <a:rPr lang="en-US" sz="1103" b="1" dirty="0">
                  <a:solidFill>
                    <a:schemeClr val="bg1"/>
                  </a:solidFill>
                </a:rPr>
                <a:t>Illustration</a:t>
              </a:r>
              <a:endParaRPr lang="en-IN" sz="1103" b="1" dirty="0">
                <a:solidFill>
                  <a:schemeClr val="bg1"/>
                </a:solidFill>
              </a:endParaRPr>
            </a:p>
          </p:txBody>
        </p:sp>
        <p:sp>
          <p:nvSpPr>
            <p:cNvPr id="333" name="Rectangle 332"/>
            <p:cNvSpPr/>
            <p:nvPr/>
          </p:nvSpPr>
          <p:spPr bwMode="gray">
            <a:xfrm>
              <a:off x="2704297" y="3793437"/>
              <a:ext cx="1308480" cy="354631"/>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34" name="Rectangle 333"/>
            <p:cNvSpPr/>
            <p:nvPr/>
          </p:nvSpPr>
          <p:spPr bwMode="gray">
            <a:xfrm>
              <a:off x="3069085" y="3791197"/>
              <a:ext cx="1061891" cy="4001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Coal Bituminous</a:t>
              </a:r>
            </a:p>
          </p:txBody>
        </p:sp>
        <p:sp>
          <p:nvSpPr>
            <p:cNvPr id="330" name="Rectangle 329"/>
            <p:cNvSpPr/>
            <p:nvPr/>
          </p:nvSpPr>
          <p:spPr bwMode="gray">
            <a:xfrm>
              <a:off x="4267651" y="3801285"/>
              <a:ext cx="1308480" cy="354632"/>
            </a:xfrm>
            <a:prstGeom prst="rect">
              <a:avLst/>
            </a:prstGeom>
            <a:solidFill>
              <a:schemeClr val="accent6"/>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31" name="Rectangle 330"/>
            <p:cNvSpPr/>
            <p:nvPr/>
          </p:nvSpPr>
          <p:spPr bwMode="gray">
            <a:xfrm>
              <a:off x="4604469" y="3766961"/>
              <a:ext cx="912382" cy="4001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Residual Fuel Oil</a:t>
              </a:r>
            </a:p>
          </p:txBody>
        </p:sp>
        <p:sp>
          <p:nvSpPr>
            <p:cNvPr id="322" name="Freeform 277"/>
            <p:cNvSpPr>
              <a:spLocks noChangeAspect="1"/>
            </p:cNvSpPr>
            <p:nvPr/>
          </p:nvSpPr>
          <p:spPr bwMode="auto">
            <a:xfrm>
              <a:off x="4355447" y="3885059"/>
              <a:ext cx="143533" cy="210519"/>
            </a:xfrm>
            <a:custGeom>
              <a:avLst/>
              <a:gdLst>
                <a:gd name="T0" fmla="*/ 11 w 22"/>
                <a:gd name="T1" fmla="*/ 0 h 32"/>
                <a:gd name="T2" fmla="*/ 1 w 22"/>
                <a:gd name="T3" fmla="*/ 17 h 32"/>
                <a:gd name="T4" fmla="*/ 0 w 22"/>
                <a:gd name="T5" fmla="*/ 21 h 32"/>
                <a:gd name="T6" fmla="*/ 11 w 22"/>
                <a:gd name="T7" fmla="*/ 32 h 32"/>
                <a:gd name="T8" fmla="*/ 22 w 22"/>
                <a:gd name="T9" fmla="*/ 21 h 32"/>
                <a:gd name="T10" fmla="*/ 21 w 22"/>
                <a:gd name="T11" fmla="*/ 17 h 32"/>
                <a:gd name="T12" fmla="*/ 11 w 2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2" h="32">
                  <a:moveTo>
                    <a:pt x="11" y="0"/>
                  </a:moveTo>
                  <a:cubicBezTo>
                    <a:pt x="1" y="17"/>
                    <a:pt x="1" y="17"/>
                    <a:pt x="1" y="17"/>
                  </a:cubicBezTo>
                  <a:cubicBezTo>
                    <a:pt x="1" y="19"/>
                    <a:pt x="0" y="20"/>
                    <a:pt x="0" y="21"/>
                  </a:cubicBezTo>
                  <a:cubicBezTo>
                    <a:pt x="0" y="27"/>
                    <a:pt x="5" y="32"/>
                    <a:pt x="11" y="32"/>
                  </a:cubicBezTo>
                  <a:cubicBezTo>
                    <a:pt x="17" y="32"/>
                    <a:pt x="22" y="27"/>
                    <a:pt x="22" y="21"/>
                  </a:cubicBezTo>
                  <a:cubicBezTo>
                    <a:pt x="22" y="20"/>
                    <a:pt x="21" y="19"/>
                    <a:pt x="21" y="17"/>
                  </a:cubicBezTo>
                  <a:lnTo>
                    <a:pt x="11"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pic>
          <p:nvPicPr>
            <p:cNvPr id="362" name="Picture 3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9164" y="3862362"/>
              <a:ext cx="210549" cy="210549"/>
            </a:xfrm>
            <a:prstGeom prst="rect">
              <a:avLst/>
            </a:prstGeom>
            <a:solidFill>
              <a:schemeClr val="bg1"/>
            </a:solidFill>
          </p:spPr>
        </p:pic>
        <p:sp>
          <p:nvSpPr>
            <p:cNvPr id="364" name="Rectangle 363"/>
            <p:cNvSpPr/>
            <p:nvPr/>
          </p:nvSpPr>
          <p:spPr bwMode="gray">
            <a:xfrm>
              <a:off x="2711566" y="5084911"/>
              <a:ext cx="1308480" cy="354632"/>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65" name="Rectangle 364"/>
            <p:cNvSpPr/>
            <p:nvPr/>
          </p:nvSpPr>
          <p:spPr bwMode="gray">
            <a:xfrm>
              <a:off x="3100410" y="5127540"/>
              <a:ext cx="814347" cy="246241"/>
            </a:xfrm>
            <a:prstGeom prst="rect">
              <a:avLst/>
            </a:prstGeom>
            <a:solidFill>
              <a:schemeClr val="accent6">
                <a:lumMod val="75000"/>
              </a:schemeClr>
            </a:solid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Wind</a:t>
              </a:r>
            </a:p>
          </p:txBody>
        </p:sp>
        <p:sp>
          <p:nvSpPr>
            <p:cNvPr id="380" name="Rectangle 379"/>
            <p:cNvSpPr/>
            <p:nvPr/>
          </p:nvSpPr>
          <p:spPr bwMode="gray">
            <a:xfrm>
              <a:off x="2704298" y="5509169"/>
              <a:ext cx="1308480" cy="354632"/>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81" name="Rectangle 380"/>
            <p:cNvSpPr/>
            <p:nvPr/>
          </p:nvSpPr>
          <p:spPr bwMode="gray">
            <a:xfrm>
              <a:off x="3093142" y="5567840"/>
              <a:ext cx="814347" cy="246241"/>
            </a:xfrm>
            <a:prstGeom prst="rect">
              <a:avLst/>
            </a:prstGeom>
            <a:solidFill>
              <a:schemeClr val="accent6">
                <a:lumMod val="75000"/>
              </a:schemeClr>
            </a:solid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Hydro</a:t>
              </a:r>
            </a:p>
          </p:txBody>
        </p:sp>
        <p:grpSp>
          <p:nvGrpSpPr>
            <p:cNvPr id="382" name="Group 381"/>
            <p:cNvGrpSpPr/>
            <p:nvPr/>
          </p:nvGrpSpPr>
          <p:grpSpPr>
            <a:xfrm>
              <a:off x="2711566" y="5935158"/>
              <a:ext cx="1308480" cy="354632"/>
              <a:chOff x="5825010" y="4526741"/>
              <a:chExt cx="1052376" cy="271189"/>
            </a:xfrm>
            <a:solidFill>
              <a:schemeClr val="accent6">
                <a:lumMod val="75000"/>
              </a:schemeClr>
            </a:solidFill>
          </p:grpSpPr>
          <p:sp>
            <p:nvSpPr>
              <p:cNvPr id="383" name="Rectangle 382"/>
              <p:cNvSpPr/>
              <p:nvPr/>
            </p:nvSpPr>
            <p:spPr bwMode="gray">
              <a:xfrm>
                <a:off x="5825010" y="4526741"/>
                <a:ext cx="1052376" cy="271189"/>
              </a:xfrm>
              <a:prstGeom prst="rect">
                <a:avLst/>
              </a:prstGeom>
              <a:grp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384" name="Rectangle 383"/>
              <p:cNvSpPr/>
              <p:nvPr/>
            </p:nvSpPr>
            <p:spPr bwMode="gray">
              <a:xfrm>
                <a:off x="6150648" y="4571607"/>
                <a:ext cx="654958" cy="188302"/>
              </a:xfrm>
              <a:prstGeom prst="rect">
                <a:avLst/>
              </a:prstGeom>
              <a:grp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Solar</a:t>
                </a:r>
              </a:p>
            </p:txBody>
          </p:sp>
        </p:grpSp>
        <p:grpSp>
          <p:nvGrpSpPr>
            <p:cNvPr id="385" name="Group 384"/>
            <p:cNvGrpSpPr/>
            <p:nvPr/>
          </p:nvGrpSpPr>
          <p:grpSpPr>
            <a:xfrm>
              <a:off x="2754093" y="5978150"/>
              <a:ext cx="271242" cy="271242"/>
              <a:chOff x="3629832" y="6412796"/>
              <a:chExt cx="230504" cy="230504"/>
            </a:xfrm>
            <a:solidFill>
              <a:schemeClr val="bg1"/>
            </a:solidFill>
          </p:grpSpPr>
          <p:sp>
            <p:nvSpPr>
              <p:cNvPr id="386" name="Freeform 385"/>
              <p:cNvSpPr>
                <a:spLocks noEditPoints="1"/>
              </p:cNvSpPr>
              <p:nvPr/>
            </p:nvSpPr>
            <p:spPr bwMode="auto">
              <a:xfrm>
                <a:off x="3675498" y="6458462"/>
                <a:ext cx="139172" cy="139172"/>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87" name="Freeform 386"/>
              <p:cNvSpPr>
                <a:spLocks/>
              </p:cNvSpPr>
              <p:nvPr/>
            </p:nvSpPr>
            <p:spPr bwMode="auto">
              <a:xfrm>
                <a:off x="3829892" y="6520437"/>
                <a:ext cx="30444" cy="15222"/>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88" name="Freeform 387"/>
              <p:cNvSpPr>
                <a:spLocks/>
              </p:cNvSpPr>
              <p:nvPr/>
            </p:nvSpPr>
            <p:spPr bwMode="auto">
              <a:xfrm>
                <a:off x="3629832" y="6520437"/>
                <a:ext cx="30444" cy="15222"/>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89" name="Freeform 388"/>
              <p:cNvSpPr>
                <a:spLocks/>
              </p:cNvSpPr>
              <p:nvPr/>
            </p:nvSpPr>
            <p:spPr bwMode="auto">
              <a:xfrm>
                <a:off x="3737473" y="6412796"/>
                <a:ext cx="15222" cy="30444"/>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0" name="Freeform 389"/>
              <p:cNvSpPr>
                <a:spLocks/>
              </p:cNvSpPr>
              <p:nvPr/>
            </p:nvSpPr>
            <p:spPr bwMode="auto">
              <a:xfrm>
                <a:off x="3737473" y="6612856"/>
                <a:ext cx="15222" cy="30444"/>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1" name="Freeform 390"/>
              <p:cNvSpPr>
                <a:spLocks/>
              </p:cNvSpPr>
              <p:nvPr/>
            </p:nvSpPr>
            <p:spPr bwMode="auto">
              <a:xfrm>
                <a:off x="3801623" y="6443240"/>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2" name="Freeform 391"/>
              <p:cNvSpPr>
                <a:spLocks/>
              </p:cNvSpPr>
              <p:nvPr/>
            </p:nvSpPr>
            <p:spPr bwMode="auto">
              <a:xfrm>
                <a:off x="3660276" y="6584587"/>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3" name="Freeform 392"/>
              <p:cNvSpPr>
                <a:spLocks/>
              </p:cNvSpPr>
              <p:nvPr/>
            </p:nvSpPr>
            <p:spPr bwMode="auto">
              <a:xfrm>
                <a:off x="3660276" y="6443240"/>
                <a:ext cx="28269" cy="27182"/>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4" name="Freeform 393"/>
              <p:cNvSpPr>
                <a:spLocks/>
              </p:cNvSpPr>
              <p:nvPr/>
            </p:nvSpPr>
            <p:spPr bwMode="auto">
              <a:xfrm>
                <a:off x="3801623" y="6584587"/>
                <a:ext cx="28269" cy="27182"/>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grpSp>
          <p:nvGrpSpPr>
            <p:cNvPr id="400" name="Group 399"/>
            <p:cNvGrpSpPr/>
            <p:nvPr/>
          </p:nvGrpSpPr>
          <p:grpSpPr>
            <a:xfrm>
              <a:off x="2804096" y="5167500"/>
              <a:ext cx="150656" cy="235115"/>
              <a:chOff x="7519397" y="5059637"/>
              <a:chExt cx="150656" cy="235115"/>
            </a:xfrm>
          </p:grpSpPr>
          <p:sp>
            <p:nvSpPr>
              <p:cNvPr id="396" name="Freeform 639"/>
              <p:cNvSpPr>
                <a:spLocks/>
              </p:cNvSpPr>
              <p:nvPr/>
            </p:nvSpPr>
            <p:spPr bwMode="auto">
              <a:xfrm>
                <a:off x="7585594" y="5181760"/>
                <a:ext cx="15979" cy="112992"/>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397" name="Freeform 640"/>
              <p:cNvSpPr>
                <a:spLocks noEditPoints="1"/>
              </p:cNvSpPr>
              <p:nvPr/>
            </p:nvSpPr>
            <p:spPr bwMode="auto">
              <a:xfrm>
                <a:off x="7519397" y="5059637"/>
                <a:ext cx="150656" cy="122123"/>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sp>
          <p:nvSpPr>
            <p:cNvPr id="398" name="Freeform 397"/>
            <p:cNvSpPr>
              <a:spLocks noEditPoints="1"/>
            </p:cNvSpPr>
            <p:nvPr/>
          </p:nvSpPr>
          <p:spPr bwMode="auto">
            <a:xfrm>
              <a:off x="2776695" y="5600693"/>
              <a:ext cx="293447" cy="188352"/>
            </a:xfrm>
            <a:custGeom>
              <a:avLst/>
              <a:gdLst>
                <a:gd name="T0" fmla="*/ 268 w 323"/>
                <a:gd name="T1" fmla="*/ 138 h 208"/>
                <a:gd name="T2" fmla="*/ 322 w 323"/>
                <a:gd name="T3" fmla="*/ 128 h 208"/>
                <a:gd name="T4" fmla="*/ 268 w 323"/>
                <a:gd name="T5" fmla="*/ 117 h 208"/>
                <a:gd name="T6" fmla="*/ 307 w 323"/>
                <a:gd name="T7" fmla="*/ 82 h 208"/>
                <a:gd name="T8" fmla="*/ 321 w 323"/>
                <a:gd name="T9" fmla="*/ 76 h 208"/>
                <a:gd name="T10" fmla="*/ 268 w 323"/>
                <a:gd name="T11" fmla="*/ 28 h 208"/>
                <a:gd name="T12" fmla="*/ 258 w 323"/>
                <a:gd name="T13" fmla="*/ 0 h 208"/>
                <a:gd name="T14" fmla="*/ 247 w 323"/>
                <a:gd name="T15" fmla="*/ 28 h 208"/>
                <a:gd name="T16" fmla="*/ 76 w 323"/>
                <a:gd name="T17" fmla="*/ 28 h 208"/>
                <a:gd name="T18" fmla="*/ 66 w 323"/>
                <a:gd name="T19" fmla="*/ 0 h 208"/>
                <a:gd name="T20" fmla="*/ 55 w 323"/>
                <a:gd name="T21" fmla="*/ 28 h 208"/>
                <a:gd name="T22" fmla="*/ 2 w 323"/>
                <a:gd name="T23" fmla="*/ 76 h 208"/>
                <a:gd name="T24" fmla="*/ 16 w 323"/>
                <a:gd name="T25" fmla="*/ 82 h 208"/>
                <a:gd name="T26" fmla="*/ 55 w 323"/>
                <a:gd name="T27" fmla="*/ 117 h 208"/>
                <a:gd name="T28" fmla="*/ 2 w 323"/>
                <a:gd name="T29" fmla="*/ 128 h 208"/>
                <a:gd name="T30" fmla="*/ 55 w 323"/>
                <a:gd name="T31" fmla="*/ 138 h 208"/>
                <a:gd name="T32" fmla="*/ 55 w 323"/>
                <a:gd name="T33" fmla="*/ 181 h 208"/>
                <a:gd name="T34" fmla="*/ 42 w 323"/>
                <a:gd name="T35" fmla="*/ 174 h 208"/>
                <a:gd name="T36" fmla="*/ 26 w 323"/>
                <a:gd name="T37" fmla="*/ 173 h 208"/>
                <a:gd name="T38" fmla="*/ 2 w 323"/>
                <a:gd name="T39" fmla="*/ 198 h 208"/>
                <a:gd name="T40" fmla="*/ 33 w 323"/>
                <a:gd name="T41" fmla="*/ 195 h 208"/>
                <a:gd name="T42" fmla="*/ 97 w 323"/>
                <a:gd name="T43" fmla="*/ 196 h 208"/>
                <a:gd name="T44" fmla="*/ 161 w 323"/>
                <a:gd name="T45" fmla="*/ 196 h 208"/>
                <a:gd name="T46" fmla="*/ 225 w 323"/>
                <a:gd name="T47" fmla="*/ 196 h 208"/>
                <a:gd name="T48" fmla="*/ 257 w 323"/>
                <a:gd name="T49" fmla="*/ 208 h 208"/>
                <a:gd name="T50" fmla="*/ 308 w 323"/>
                <a:gd name="T51" fmla="*/ 206 h 208"/>
                <a:gd name="T52" fmla="*/ 314 w 323"/>
                <a:gd name="T53" fmla="*/ 185 h 208"/>
                <a:gd name="T54" fmla="*/ 290 w 323"/>
                <a:gd name="T55" fmla="*/ 170 h 208"/>
                <a:gd name="T56" fmla="*/ 268 w 323"/>
                <a:gd name="T57" fmla="*/ 183 h 208"/>
                <a:gd name="T58" fmla="*/ 268 w 323"/>
                <a:gd name="T59" fmla="*/ 170 h 208"/>
                <a:gd name="T60" fmla="*/ 162 w 323"/>
                <a:gd name="T61" fmla="*/ 90 h 208"/>
                <a:gd name="T62" fmla="*/ 247 w 323"/>
                <a:gd name="T63" fmla="*/ 117 h 208"/>
                <a:gd name="T64" fmla="*/ 76 w 323"/>
                <a:gd name="T65" fmla="*/ 59 h 208"/>
                <a:gd name="T66" fmla="*/ 226 w 323"/>
                <a:gd name="T67" fmla="*/ 170 h 208"/>
                <a:gd name="T68" fmla="*/ 192 w 323"/>
                <a:gd name="T69" fmla="*/ 186 h 208"/>
                <a:gd name="T70" fmla="*/ 162 w 323"/>
                <a:gd name="T71" fmla="*/ 170 h 208"/>
                <a:gd name="T72" fmla="*/ 128 w 323"/>
                <a:gd name="T73" fmla="*/ 186 h 208"/>
                <a:gd name="T74" fmla="*/ 98 w 323"/>
                <a:gd name="T75" fmla="*/ 170 h 208"/>
                <a:gd name="T76" fmla="*/ 76 w 323"/>
                <a:gd name="T77" fmla="*/ 183 h 208"/>
                <a:gd name="T78" fmla="*/ 76 w 323"/>
                <a:gd name="T79" fmla="*/ 170 h 208"/>
                <a:gd name="T80" fmla="*/ 247 w 323"/>
                <a:gd name="T81" fmla="*/ 138 h 208"/>
                <a:gd name="T82" fmla="*/ 247 w 323"/>
                <a:gd name="T83" fmla="*/ 181 h 208"/>
                <a:gd name="T84" fmla="*/ 234 w 323"/>
                <a:gd name="T85" fmla="*/ 17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3" h="208">
                  <a:moveTo>
                    <a:pt x="268" y="170"/>
                  </a:moveTo>
                  <a:cubicBezTo>
                    <a:pt x="268" y="138"/>
                    <a:pt x="268" y="138"/>
                    <a:pt x="268" y="138"/>
                  </a:cubicBezTo>
                  <a:cubicBezTo>
                    <a:pt x="311" y="138"/>
                    <a:pt x="311" y="138"/>
                    <a:pt x="311" y="138"/>
                  </a:cubicBezTo>
                  <a:cubicBezTo>
                    <a:pt x="317" y="138"/>
                    <a:pt x="322" y="134"/>
                    <a:pt x="322" y="128"/>
                  </a:cubicBezTo>
                  <a:cubicBezTo>
                    <a:pt x="322" y="122"/>
                    <a:pt x="317" y="117"/>
                    <a:pt x="311" y="117"/>
                  </a:cubicBezTo>
                  <a:cubicBezTo>
                    <a:pt x="268" y="117"/>
                    <a:pt x="268" y="117"/>
                    <a:pt x="268" y="117"/>
                  </a:cubicBezTo>
                  <a:cubicBezTo>
                    <a:pt x="268" y="59"/>
                    <a:pt x="268" y="59"/>
                    <a:pt x="268" y="59"/>
                  </a:cubicBezTo>
                  <a:cubicBezTo>
                    <a:pt x="279" y="68"/>
                    <a:pt x="292" y="76"/>
                    <a:pt x="307" y="82"/>
                  </a:cubicBezTo>
                  <a:cubicBezTo>
                    <a:pt x="308" y="82"/>
                    <a:pt x="310" y="82"/>
                    <a:pt x="311" y="82"/>
                  </a:cubicBezTo>
                  <a:cubicBezTo>
                    <a:pt x="315" y="82"/>
                    <a:pt x="319" y="80"/>
                    <a:pt x="321" y="76"/>
                  </a:cubicBezTo>
                  <a:cubicBezTo>
                    <a:pt x="323" y="70"/>
                    <a:pt x="320" y="64"/>
                    <a:pt x="315" y="62"/>
                  </a:cubicBezTo>
                  <a:cubicBezTo>
                    <a:pt x="295" y="54"/>
                    <a:pt x="279" y="42"/>
                    <a:pt x="268" y="28"/>
                  </a:cubicBezTo>
                  <a:cubicBezTo>
                    <a:pt x="268" y="10"/>
                    <a:pt x="268" y="10"/>
                    <a:pt x="268" y="10"/>
                  </a:cubicBezTo>
                  <a:cubicBezTo>
                    <a:pt x="268" y="4"/>
                    <a:pt x="264" y="0"/>
                    <a:pt x="258" y="0"/>
                  </a:cubicBezTo>
                  <a:cubicBezTo>
                    <a:pt x="252" y="0"/>
                    <a:pt x="247" y="4"/>
                    <a:pt x="247" y="10"/>
                  </a:cubicBezTo>
                  <a:cubicBezTo>
                    <a:pt x="247" y="28"/>
                    <a:pt x="247" y="28"/>
                    <a:pt x="247" y="28"/>
                  </a:cubicBezTo>
                  <a:cubicBezTo>
                    <a:pt x="227" y="54"/>
                    <a:pt x="195" y="69"/>
                    <a:pt x="162" y="69"/>
                  </a:cubicBezTo>
                  <a:cubicBezTo>
                    <a:pt x="127" y="69"/>
                    <a:pt x="96" y="54"/>
                    <a:pt x="76" y="28"/>
                  </a:cubicBezTo>
                  <a:cubicBezTo>
                    <a:pt x="76" y="10"/>
                    <a:pt x="76" y="10"/>
                    <a:pt x="76" y="10"/>
                  </a:cubicBezTo>
                  <a:cubicBezTo>
                    <a:pt x="76" y="4"/>
                    <a:pt x="72" y="0"/>
                    <a:pt x="66" y="0"/>
                  </a:cubicBezTo>
                  <a:cubicBezTo>
                    <a:pt x="60" y="0"/>
                    <a:pt x="55" y="4"/>
                    <a:pt x="55" y="10"/>
                  </a:cubicBezTo>
                  <a:cubicBezTo>
                    <a:pt x="55" y="28"/>
                    <a:pt x="55" y="28"/>
                    <a:pt x="55" y="28"/>
                  </a:cubicBezTo>
                  <a:cubicBezTo>
                    <a:pt x="44" y="42"/>
                    <a:pt x="27" y="54"/>
                    <a:pt x="8" y="62"/>
                  </a:cubicBezTo>
                  <a:cubicBezTo>
                    <a:pt x="3" y="64"/>
                    <a:pt x="0" y="70"/>
                    <a:pt x="2" y="76"/>
                  </a:cubicBezTo>
                  <a:cubicBezTo>
                    <a:pt x="4" y="80"/>
                    <a:pt x="8" y="82"/>
                    <a:pt x="12" y="82"/>
                  </a:cubicBezTo>
                  <a:cubicBezTo>
                    <a:pt x="14" y="82"/>
                    <a:pt x="15" y="82"/>
                    <a:pt x="16" y="82"/>
                  </a:cubicBezTo>
                  <a:cubicBezTo>
                    <a:pt x="31" y="76"/>
                    <a:pt x="44" y="68"/>
                    <a:pt x="55" y="58"/>
                  </a:cubicBezTo>
                  <a:cubicBezTo>
                    <a:pt x="55" y="117"/>
                    <a:pt x="55" y="117"/>
                    <a:pt x="55" y="117"/>
                  </a:cubicBezTo>
                  <a:cubicBezTo>
                    <a:pt x="12" y="117"/>
                    <a:pt x="12" y="117"/>
                    <a:pt x="12" y="117"/>
                  </a:cubicBezTo>
                  <a:cubicBezTo>
                    <a:pt x="6" y="117"/>
                    <a:pt x="2" y="122"/>
                    <a:pt x="2" y="128"/>
                  </a:cubicBezTo>
                  <a:cubicBezTo>
                    <a:pt x="2" y="134"/>
                    <a:pt x="6" y="138"/>
                    <a:pt x="12" y="138"/>
                  </a:cubicBezTo>
                  <a:cubicBezTo>
                    <a:pt x="55" y="138"/>
                    <a:pt x="55" y="138"/>
                    <a:pt x="55" y="138"/>
                  </a:cubicBezTo>
                  <a:cubicBezTo>
                    <a:pt x="55" y="170"/>
                    <a:pt x="55" y="170"/>
                    <a:pt x="55" y="170"/>
                  </a:cubicBezTo>
                  <a:cubicBezTo>
                    <a:pt x="55" y="181"/>
                    <a:pt x="55" y="181"/>
                    <a:pt x="55" y="181"/>
                  </a:cubicBezTo>
                  <a:cubicBezTo>
                    <a:pt x="55" y="184"/>
                    <a:pt x="55" y="184"/>
                    <a:pt x="55" y="184"/>
                  </a:cubicBezTo>
                  <a:cubicBezTo>
                    <a:pt x="47" y="181"/>
                    <a:pt x="42" y="174"/>
                    <a:pt x="42" y="174"/>
                  </a:cubicBezTo>
                  <a:cubicBezTo>
                    <a:pt x="40" y="172"/>
                    <a:pt x="37" y="171"/>
                    <a:pt x="34" y="170"/>
                  </a:cubicBezTo>
                  <a:cubicBezTo>
                    <a:pt x="31" y="170"/>
                    <a:pt x="28" y="171"/>
                    <a:pt x="26" y="173"/>
                  </a:cubicBezTo>
                  <a:cubicBezTo>
                    <a:pt x="20" y="179"/>
                    <a:pt x="15" y="183"/>
                    <a:pt x="9" y="185"/>
                  </a:cubicBezTo>
                  <a:cubicBezTo>
                    <a:pt x="3" y="187"/>
                    <a:pt x="0" y="193"/>
                    <a:pt x="2" y="198"/>
                  </a:cubicBezTo>
                  <a:cubicBezTo>
                    <a:pt x="4" y="204"/>
                    <a:pt x="10" y="207"/>
                    <a:pt x="16" y="205"/>
                  </a:cubicBezTo>
                  <a:cubicBezTo>
                    <a:pt x="22" y="203"/>
                    <a:pt x="28" y="200"/>
                    <a:pt x="33" y="195"/>
                  </a:cubicBezTo>
                  <a:cubicBezTo>
                    <a:pt x="40" y="201"/>
                    <a:pt x="50" y="207"/>
                    <a:pt x="62" y="208"/>
                  </a:cubicBezTo>
                  <a:cubicBezTo>
                    <a:pt x="74" y="208"/>
                    <a:pt x="86" y="204"/>
                    <a:pt x="97" y="196"/>
                  </a:cubicBezTo>
                  <a:cubicBezTo>
                    <a:pt x="104" y="201"/>
                    <a:pt x="114" y="207"/>
                    <a:pt x="126" y="208"/>
                  </a:cubicBezTo>
                  <a:cubicBezTo>
                    <a:pt x="138" y="208"/>
                    <a:pt x="150" y="204"/>
                    <a:pt x="161" y="196"/>
                  </a:cubicBezTo>
                  <a:cubicBezTo>
                    <a:pt x="168" y="201"/>
                    <a:pt x="178" y="207"/>
                    <a:pt x="190" y="208"/>
                  </a:cubicBezTo>
                  <a:cubicBezTo>
                    <a:pt x="202" y="208"/>
                    <a:pt x="214" y="204"/>
                    <a:pt x="225" y="196"/>
                  </a:cubicBezTo>
                  <a:cubicBezTo>
                    <a:pt x="232" y="201"/>
                    <a:pt x="242" y="207"/>
                    <a:pt x="254" y="208"/>
                  </a:cubicBezTo>
                  <a:cubicBezTo>
                    <a:pt x="255" y="208"/>
                    <a:pt x="256" y="208"/>
                    <a:pt x="257" y="208"/>
                  </a:cubicBezTo>
                  <a:cubicBezTo>
                    <a:pt x="268" y="208"/>
                    <a:pt x="279" y="204"/>
                    <a:pt x="289" y="196"/>
                  </a:cubicBezTo>
                  <a:cubicBezTo>
                    <a:pt x="294" y="199"/>
                    <a:pt x="300" y="203"/>
                    <a:pt x="308" y="206"/>
                  </a:cubicBezTo>
                  <a:cubicBezTo>
                    <a:pt x="314" y="207"/>
                    <a:pt x="319" y="204"/>
                    <a:pt x="321" y="198"/>
                  </a:cubicBezTo>
                  <a:cubicBezTo>
                    <a:pt x="323" y="193"/>
                    <a:pt x="320" y="187"/>
                    <a:pt x="314" y="185"/>
                  </a:cubicBezTo>
                  <a:cubicBezTo>
                    <a:pt x="304" y="182"/>
                    <a:pt x="298" y="174"/>
                    <a:pt x="298" y="174"/>
                  </a:cubicBezTo>
                  <a:cubicBezTo>
                    <a:pt x="296" y="172"/>
                    <a:pt x="293" y="171"/>
                    <a:pt x="290" y="170"/>
                  </a:cubicBezTo>
                  <a:cubicBezTo>
                    <a:pt x="287" y="170"/>
                    <a:pt x="284" y="171"/>
                    <a:pt x="282" y="173"/>
                  </a:cubicBezTo>
                  <a:cubicBezTo>
                    <a:pt x="277" y="178"/>
                    <a:pt x="273" y="181"/>
                    <a:pt x="268" y="183"/>
                  </a:cubicBezTo>
                  <a:cubicBezTo>
                    <a:pt x="268" y="181"/>
                    <a:pt x="268" y="181"/>
                    <a:pt x="268" y="181"/>
                  </a:cubicBezTo>
                  <a:lnTo>
                    <a:pt x="268" y="170"/>
                  </a:lnTo>
                  <a:close/>
                  <a:moveTo>
                    <a:pt x="76" y="59"/>
                  </a:moveTo>
                  <a:cubicBezTo>
                    <a:pt x="99" y="79"/>
                    <a:pt x="129" y="90"/>
                    <a:pt x="162" y="90"/>
                  </a:cubicBezTo>
                  <a:cubicBezTo>
                    <a:pt x="193" y="90"/>
                    <a:pt x="224" y="79"/>
                    <a:pt x="247" y="59"/>
                  </a:cubicBezTo>
                  <a:cubicBezTo>
                    <a:pt x="247" y="117"/>
                    <a:pt x="247" y="117"/>
                    <a:pt x="247" y="117"/>
                  </a:cubicBezTo>
                  <a:cubicBezTo>
                    <a:pt x="76" y="117"/>
                    <a:pt x="76" y="117"/>
                    <a:pt x="76" y="117"/>
                  </a:cubicBezTo>
                  <a:lnTo>
                    <a:pt x="76" y="59"/>
                  </a:lnTo>
                  <a:close/>
                  <a:moveTo>
                    <a:pt x="234" y="174"/>
                  </a:moveTo>
                  <a:cubicBezTo>
                    <a:pt x="232" y="172"/>
                    <a:pt x="229" y="171"/>
                    <a:pt x="226" y="170"/>
                  </a:cubicBezTo>
                  <a:cubicBezTo>
                    <a:pt x="223" y="170"/>
                    <a:pt x="220" y="171"/>
                    <a:pt x="218" y="173"/>
                  </a:cubicBezTo>
                  <a:cubicBezTo>
                    <a:pt x="209" y="182"/>
                    <a:pt x="200" y="187"/>
                    <a:pt x="192" y="186"/>
                  </a:cubicBezTo>
                  <a:cubicBezTo>
                    <a:pt x="179" y="186"/>
                    <a:pt x="170" y="174"/>
                    <a:pt x="170" y="174"/>
                  </a:cubicBezTo>
                  <a:cubicBezTo>
                    <a:pt x="168" y="172"/>
                    <a:pt x="165" y="171"/>
                    <a:pt x="162" y="170"/>
                  </a:cubicBezTo>
                  <a:cubicBezTo>
                    <a:pt x="159" y="170"/>
                    <a:pt x="156" y="171"/>
                    <a:pt x="154" y="173"/>
                  </a:cubicBezTo>
                  <a:cubicBezTo>
                    <a:pt x="145" y="182"/>
                    <a:pt x="136" y="187"/>
                    <a:pt x="128" y="186"/>
                  </a:cubicBezTo>
                  <a:cubicBezTo>
                    <a:pt x="115" y="186"/>
                    <a:pt x="106" y="174"/>
                    <a:pt x="106" y="174"/>
                  </a:cubicBezTo>
                  <a:cubicBezTo>
                    <a:pt x="104" y="172"/>
                    <a:pt x="101" y="171"/>
                    <a:pt x="98" y="170"/>
                  </a:cubicBezTo>
                  <a:cubicBezTo>
                    <a:pt x="95" y="170"/>
                    <a:pt x="92" y="171"/>
                    <a:pt x="90" y="173"/>
                  </a:cubicBezTo>
                  <a:cubicBezTo>
                    <a:pt x="85" y="178"/>
                    <a:pt x="81" y="181"/>
                    <a:pt x="76" y="183"/>
                  </a:cubicBezTo>
                  <a:cubicBezTo>
                    <a:pt x="76" y="181"/>
                    <a:pt x="76" y="181"/>
                    <a:pt x="76" y="181"/>
                  </a:cubicBezTo>
                  <a:cubicBezTo>
                    <a:pt x="76" y="170"/>
                    <a:pt x="76" y="170"/>
                    <a:pt x="76" y="170"/>
                  </a:cubicBezTo>
                  <a:cubicBezTo>
                    <a:pt x="76" y="138"/>
                    <a:pt x="76" y="138"/>
                    <a:pt x="76" y="138"/>
                  </a:cubicBezTo>
                  <a:cubicBezTo>
                    <a:pt x="247" y="138"/>
                    <a:pt x="247" y="138"/>
                    <a:pt x="247" y="138"/>
                  </a:cubicBezTo>
                  <a:cubicBezTo>
                    <a:pt x="247" y="170"/>
                    <a:pt x="247" y="170"/>
                    <a:pt x="247" y="170"/>
                  </a:cubicBezTo>
                  <a:cubicBezTo>
                    <a:pt x="247" y="181"/>
                    <a:pt x="247" y="181"/>
                    <a:pt x="247" y="181"/>
                  </a:cubicBezTo>
                  <a:cubicBezTo>
                    <a:pt x="247" y="184"/>
                    <a:pt x="247" y="184"/>
                    <a:pt x="247" y="184"/>
                  </a:cubicBezTo>
                  <a:cubicBezTo>
                    <a:pt x="239" y="181"/>
                    <a:pt x="234" y="174"/>
                    <a:pt x="234" y="174"/>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32" name="Rectangle 131"/>
            <p:cNvSpPr/>
            <p:nvPr/>
          </p:nvSpPr>
          <p:spPr bwMode="gray">
            <a:xfrm>
              <a:off x="4249446" y="4246752"/>
              <a:ext cx="1308480" cy="354632"/>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33" name="Rectangle 132"/>
            <p:cNvSpPr/>
            <p:nvPr/>
          </p:nvSpPr>
          <p:spPr bwMode="gray">
            <a:xfrm>
              <a:off x="4604076" y="4323686"/>
              <a:ext cx="91238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CNG</a:t>
              </a:r>
            </a:p>
          </p:txBody>
        </p:sp>
        <p:sp>
          <p:nvSpPr>
            <p:cNvPr id="134" name="Rectangle 133"/>
            <p:cNvSpPr/>
            <p:nvPr/>
          </p:nvSpPr>
          <p:spPr bwMode="gray">
            <a:xfrm>
              <a:off x="4276634" y="4683603"/>
              <a:ext cx="1308480" cy="354632"/>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35" name="Rectangle 134"/>
            <p:cNvSpPr/>
            <p:nvPr/>
          </p:nvSpPr>
          <p:spPr bwMode="gray">
            <a:xfrm>
              <a:off x="4644046" y="4730121"/>
              <a:ext cx="91238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Avgas</a:t>
              </a:r>
            </a:p>
          </p:txBody>
        </p:sp>
        <p:sp>
          <p:nvSpPr>
            <p:cNvPr id="136" name="Rectangle 135"/>
            <p:cNvSpPr/>
            <p:nvPr/>
          </p:nvSpPr>
          <p:spPr bwMode="gray">
            <a:xfrm>
              <a:off x="2723229" y="4222978"/>
              <a:ext cx="1308480" cy="354632"/>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37" name="Rectangle 136"/>
            <p:cNvSpPr/>
            <p:nvPr/>
          </p:nvSpPr>
          <p:spPr bwMode="gray">
            <a:xfrm>
              <a:off x="2704297" y="4652186"/>
              <a:ext cx="1308480" cy="354632"/>
            </a:xfrm>
            <a:prstGeom prst="rect">
              <a:avLst/>
            </a:prstGeom>
            <a:solidFill>
              <a:schemeClr val="accent6">
                <a:lumMod val="75000"/>
              </a:schemeClr>
            </a:solidFill>
            <a:ln w="19050" algn="ctr">
              <a:solidFill>
                <a:schemeClr val="accent6"/>
              </a:solidFill>
              <a:miter lim="800000"/>
              <a:headEnd/>
              <a:tailEnd/>
            </a:ln>
          </p:spPr>
          <p:txBody>
            <a:bodyPr wrap="square" lIns="98037" tIns="98037" rIns="98037" bIns="98037" rtlCol="0" anchor="ctr"/>
            <a:lstStyle/>
            <a:p>
              <a:pPr algn="ctr">
                <a:lnSpc>
                  <a:spcPct val="106000"/>
                </a:lnSpc>
                <a:buFont typeface="Wingdings 2" pitchFamily="18" charset="2"/>
                <a:buNone/>
              </a:pPr>
              <a:endParaRPr lang="en-US" sz="1103" b="1" dirty="0">
                <a:solidFill>
                  <a:schemeClr val="bg1"/>
                </a:solidFill>
              </a:endParaRPr>
            </a:p>
          </p:txBody>
        </p:sp>
        <p:sp>
          <p:nvSpPr>
            <p:cNvPr id="139" name="Rectangle 138"/>
            <p:cNvSpPr/>
            <p:nvPr/>
          </p:nvSpPr>
          <p:spPr bwMode="gray">
            <a:xfrm>
              <a:off x="3072204" y="4206306"/>
              <a:ext cx="912382" cy="400149"/>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Natural Gas</a:t>
              </a:r>
            </a:p>
          </p:txBody>
        </p:sp>
        <p:sp>
          <p:nvSpPr>
            <p:cNvPr id="140" name="Rectangle 139"/>
            <p:cNvSpPr/>
            <p:nvPr/>
          </p:nvSpPr>
          <p:spPr bwMode="gray">
            <a:xfrm>
              <a:off x="3077166" y="4708128"/>
              <a:ext cx="912382" cy="246241"/>
            </a:xfrm>
            <a:prstGeom prst="rect">
              <a:avLst/>
            </a:prstGeom>
            <a:noFill/>
            <a:ln w="19050" algn="ctr">
              <a:noFill/>
              <a:miter lim="800000"/>
              <a:headEnd/>
              <a:tailEnd/>
            </a:ln>
          </p:spPr>
          <p:txBody>
            <a:bodyPr wrap="square" lIns="50419" tIns="50419" rIns="50419" bIns="50419" rtlCol="0" anchor="ctr">
              <a:spAutoFit/>
            </a:bodyPr>
            <a:lstStyle/>
            <a:p>
              <a:pPr>
                <a:buFont typeface="Wingdings 2" pitchFamily="18" charset="2"/>
                <a:buNone/>
              </a:pPr>
              <a:r>
                <a:rPr lang="en-US" sz="1103" b="1" dirty="0">
                  <a:solidFill>
                    <a:schemeClr val="bg1"/>
                  </a:solidFill>
                  <a:latin typeface="+mj-lt"/>
                </a:rPr>
                <a:t>Crude Oil</a:t>
              </a:r>
            </a:p>
          </p:txBody>
        </p:sp>
        <p:sp>
          <p:nvSpPr>
            <p:cNvPr id="141" name="Freeform 48"/>
            <p:cNvSpPr>
              <a:spLocks noEditPoints="1"/>
            </p:cNvSpPr>
            <p:nvPr/>
          </p:nvSpPr>
          <p:spPr bwMode="auto">
            <a:xfrm>
              <a:off x="2782276" y="4692435"/>
              <a:ext cx="211968" cy="288058"/>
            </a:xfrm>
            <a:custGeom>
              <a:avLst/>
              <a:gdLst>
                <a:gd name="T0" fmla="*/ 234 w 234"/>
                <a:gd name="T1" fmla="*/ 107 h 320"/>
                <a:gd name="T2" fmla="*/ 224 w 234"/>
                <a:gd name="T3" fmla="*/ 96 h 320"/>
                <a:gd name="T4" fmla="*/ 224 w 234"/>
                <a:gd name="T5" fmla="*/ 22 h 320"/>
                <a:gd name="T6" fmla="*/ 234 w 234"/>
                <a:gd name="T7" fmla="*/ 11 h 320"/>
                <a:gd name="T8" fmla="*/ 224 w 234"/>
                <a:gd name="T9" fmla="*/ 0 h 320"/>
                <a:gd name="T10" fmla="*/ 10 w 234"/>
                <a:gd name="T11" fmla="*/ 0 h 320"/>
                <a:gd name="T12" fmla="*/ 0 w 234"/>
                <a:gd name="T13" fmla="*/ 11 h 320"/>
                <a:gd name="T14" fmla="*/ 10 w 234"/>
                <a:gd name="T15" fmla="*/ 22 h 320"/>
                <a:gd name="T16" fmla="*/ 10 w 234"/>
                <a:gd name="T17" fmla="*/ 96 h 320"/>
                <a:gd name="T18" fmla="*/ 0 w 234"/>
                <a:gd name="T19" fmla="*/ 107 h 320"/>
                <a:gd name="T20" fmla="*/ 10 w 234"/>
                <a:gd name="T21" fmla="*/ 118 h 320"/>
                <a:gd name="T22" fmla="*/ 10 w 234"/>
                <a:gd name="T23" fmla="*/ 192 h 320"/>
                <a:gd name="T24" fmla="*/ 0 w 234"/>
                <a:gd name="T25" fmla="*/ 203 h 320"/>
                <a:gd name="T26" fmla="*/ 10 w 234"/>
                <a:gd name="T27" fmla="*/ 214 h 320"/>
                <a:gd name="T28" fmla="*/ 10 w 234"/>
                <a:gd name="T29" fmla="*/ 299 h 320"/>
                <a:gd name="T30" fmla="*/ 0 w 234"/>
                <a:gd name="T31" fmla="*/ 310 h 320"/>
                <a:gd name="T32" fmla="*/ 10 w 234"/>
                <a:gd name="T33" fmla="*/ 320 h 320"/>
                <a:gd name="T34" fmla="*/ 224 w 234"/>
                <a:gd name="T35" fmla="*/ 320 h 320"/>
                <a:gd name="T36" fmla="*/ 234 w 234"/>
                <a:gd name="T37" fmla="*/ 310 h 320"/>
                <a:gd name="T38" fmla="*/ 224 w 234"/>
                <a:gd name="T39" fmla="*/ 299 h 320"/>
                <a:gd name="T40" fmla="*/ 224 w 234"/>
                <a:gd name="T41" fmla="*/ 214 h 320"/>
                <a:gd name="T42" fmla="*/ 234 w 234"/>
                <a:gd name="T43" fmla="*/ 203 h 320"/>
                <a:gd name="T44" fmla="*/ 224 w 234"/>
                <a:gd name="T45" fmla="*/ 192 h 320"/>
                <a:gd name="T46" fmla="*/ 224 w 234"/>
                <a:gd name="T47" fmla="*/ 118 h 320"/>
                <a:gd name="T48" fmla="*/ 234 w 234"/>
                <a:gd name="T49" fmla="*/ 107 h 320"/>
                <a:gd name="T50" fmla="*/ 32 w 234"/>
                <a:gd name="T51" fmla="*/ 22 h 320"/>
                <a:gd name="T52" fmla="*/ 202 w 234"/>
                <a:gd name="T53" fmla="*/ 22 h 320"/>
                <a:gd name="T54" fmla="*/ 202 w 234"/>
                <a:gd name="T55" fmla="*/ 96 h 320"/>
                <a:gd name="T56" fmla="*/ 32 w 234"/>
                <a:gd name="T57" fmla="*/ 96 h 320"/>
                <a:gd name="T58" fmla="*/ 32 w 234"/>
                <a:gd name="T59" fmla="*/ 22 h 320"/>
                <a:gd name="T60" fmla="*/ 202 w 234"/>
                <a:gd name="T61" fmla="*/ 299 h 320"/>
                <a:gd name="T62" fmla="*/ 32 w 234"/>
                <a:gd name="T63" fmla="*/ 299 h 320"/>
                <a:gd name="T64" fmla="*/ 32 w 234"/>
                <a:gd name="T65" fmla="*/ 214 h 320"/>
                <a:gd name="T66" fmla="*/ 202 w 234"/>
                <a:gd name="T67" fmla="*/ 214 h 320"/>
                <a:gd name="T68" fmla="*/ 202 w 234"/>
                <a:gd name="T69" fmla="*/ 299 h 320"/>
                <a:gd name="T70" fmla="*/ 202 w 234"/>
                <a:gd name="T71" fmla="*/ 192 h 320"/>
                <a:gd name="T72" fmla="*/ 32 w 234"/>
                <a:gd name="T73" fmla="*/ 192 h 320"/>
                <a:gd name="T74" fmla="*/ 32 w 234"/>
                <a:gd name="T75" fmla="*/ 118 h 320"/>
                <a:gd name="T76" fmla="*/ 202 w 234"/>
                <a:gd name="T77" fmla="*/ 118 h 320"/>
                <a:gd name="T78" fmla="*/ 202 w 234"/>
                <a:gd name="T79" fmla="*/ 1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4" h="320">
                  <a:moveTo>
                    <a:pt x="234" y="107"/>
                  </a:moveTo>
                  <a:cubicBezTo>
                    <a:pt x="234" y="101"/>
                    <a:pt x="230" y="96"/>
                    <a:pt x="224" y="96"/>
                  </a:cubicBezTo>
                  <a:cubicBezTo>
                    <a:pt x="224" y="22"/>
                    <a:pt x="224" y="22"/>
                    <a:pt x="224" y="22"/>
                  </a:cubicBezTo>
                  <a:cubicBezTo>
                    <a:pt x="230" y="22"/>
                    <a:pt x="234" y="17"/>
                    <a:pt x="234" y="11"/>
                  </a:cubicBezTo>
                  <a:cubicBezTo>
                    <a:pt x="234" y="5"/>
                    <a:pt x="230" y="0"/>
                    <a:pt x="224" y="0"/>
                  </a:cubicBezTo>
                  <a:cubicBezTo>
                    <a:pt x="10" y="0"/>
                    <a:pt x="10" y="0"/>
                    <a:pt x="10" y="0"/>
                  </a:cubicBezTo>
                  <a:cubicBezTo>
                    <a:pt x="4" y="0"/>
                    <a:pt x="0" y="5"/>
                    <a:pt x="0" y="11"/>
                  </a:cubicBezTo>
                  <a:cubicBezTo>
                    <a:pt x="0" y="17"/>
                    <a:pt x="4" y="22"/>
                    <a:pt x="10" y="22"/>
                  </a:cubicBezTo>
                  <a:cubicBezTo>
                    <a:pt x="10" y="96"/>
                    <a:pt x="10" y="96"/>
                    <a:pt x="10" y="96"/>
                  </a:cubicBezTo>
                  <a:cubicBezTo>
                    <a:pt x="4" y="96"/>
                    <a:pt x="0" y="101"/>
                    <a:pt x="0" y="107"/>
                  </a:cubicBezTo>
                  <a:cubicBezTo>
                    <a:pt x="0" y="113"/>
                    <a:pt x="4" y="118"/>
                    <a:pt x="10" y="118"/>
                  </a:cubicBezTo>
                  <a:cubicBezTo>
                    <a:pt x="10" y="192"/>
                    <a:pt x="10" y="192"/>
                    <a:pt x="10" y="192"/>
                  </a:cubicBezTo>
                  <a:cubicBezTo>
                    <a:pt x="4" y="192"/>
                    <a:pt x="0" y="197"/>
                    <a:pt x="0" y="203"/>
                  </a:cubicBezTo>
                  <a:cubicBezTo>
                    <a:pt x="0" y="209"/>
                    <a:pt x="4" y="214"/>
                    <a:pt x="10" y="214"/>
                  </a:cubicBezTo>
                  <a:cubicBezTo>
                    <a:pt x="10" y="299"/>
                    <a:pt x="10" y="299"/>
                    <a:pt x="10" y="299"/>
                  </a:cubicBezTo>
                  <a:cubicBezTo>
                    <a:pt x="4" y="299"/>
                    <a:pt x="0" y="304"/>
                    <a:pt x="0" y="310"/>
                  </a:cubicBezTo>
                  <a:cubicBezTo>
                    <a:pt x="0" y="316"/>
                    <a:pt x="4" y="320"/>
                    <a:pt x="10" y="320"/>
                  </a:cubicBezTo>
                  <a:cubicBezTo>
                    <a:pt x="224" y="320"/>
                    <a:pt x="224" y="320"/>
                    <a:pt x="224" y="320"/>
                  </a:cubicBezTo>
                  <a:cubicBezTo>
                    <a:pt x="230" y="320"/>
                    <a:pt x="234" y="316"/>
                    <a:pt x="234" y="310"/>
                  </a:cubicBezTo>
                  <a:cubicBezTo>
                    <a:pt x="234" y="304"/>
                    <a:pt x="230" y="299"/>
                    <a:pt x="224" y="299"/>
                  </a:cubicBezTo>
                  <a:cubicBezTo>
                    <a:pt x="224" y="214"/>
                    <a:pt x="224" y="214"/>
                    <a:pt x="224" y="214"/>
                  </a:cubicBezTo>
                  <a:cubicBezTo>
                    <a:pt x="230" y="214"/>
                    <a:pt x="234" y="209"/>
                    <a:pt x="234" y="203"/>
                  </a:cubicBezTo>
                  <a:cubicBezTo>
                    <a:pt x="234" y="197"/>
                    <a:pt x="230" y="192"/>
                    <a:pt x="224" y="192"/>
                  </a:cubicBezTo>
                  <a:cubicBezTo>
                    <a:pt x="224" y="118"/>
                    <a:pt x="224" y="118"/>
                    <a:pt x="224" y="118"/>
                  </a:cubicBezTo>
                  <a:cubicBezTo>
                    <a:pt x="230" y="118"/>
                    <a:pt x="234" y="113"/>
                    <a:pt x="234" y="107"/>
                  </a:cubicBezTo>
                  <a:close/>
                  <a:moveTo>
                    <a:pt x="32" y="22"/>
                  </a:moveTo>
                  <a:cubicBezTo>
                    <a:pt x="202" y="22"/>
                    <a:pt x="202" y="22"/>
                    <a:pt x="202" y="22"/>
                  </a:cubicBezTo>
                  <a:cubicBezTo>
                    <a:pt x="202" y="96"/>
                    <a:pt x="202" y="96"/>
                    <a:pt x="202" y="96"/>
                  </a:cubicBezTo>
                  <a:cubicBezTo>
                    <a:pt x="32" y="96"/>
                    <a:pt x="32" y="96"/>
                    <a:pt x="32" y="96"/>
                  </a:cubicBezTo>
                  <a:lnTo>
                    <a:pt x="32" y="22"/>
                  </a:lnTo>
                  <a:close/>
                  <a:moveTo>
                    <a:pt x="202" y="299"/>
                  </a:moveTo>
                  <a:cubicBezTo>
                    <a:pt x="32" y="299"/>
                    <a:pt x="32" y="299"/>
                    <a:pt x="32" y="299"/>
                  </a:cubicBezTo>
                  <a:cubicBezTo>
                    <a:pt x="32" y="214"/>
                    <a:pt x="32" y="214"/>
                    <a:pt x="32" y="214"/>
                  </a:cubicBezTo>
                  <a:cubicBezTo>
                    <a:pt x="202" y="214"/>
                    <a:pt x="202" y="214"/>
                    <a:pt x="202" y="214"/>
                  </a:cubicBezTo>
                  <a:lnTo>
                    <a:pt x="202" y="299"/>
                  </a:lnTo>
                  <a:close/>
                  <a:moveTo>
                    <a:pt x="202" y="192"/>
                  </a:moveTo>
                  <a:cubicBezTo>
                    <a:pt x="32" y="192"/>
                    <a:pt x="32" y="192"/>
                    <a:pt x="32" y="192"/>
                  </a:cubicBezTo>
                  <a:cubicBezTo>
                    <a:pt x="32" y="118"/>
                    <a:pt x="32" y="118"/>
                    <a:pt x="32" y="118"/>
                  </a:cubicBezTo>
                  <a:cubicBezTo>
                    <a:pt x="202" y="118"/>
                    <a:pt x="202" y="118"/>
                    <a:pt x="202" y="118"/>
                  </a:cubicBezTo>
                  <a:lnTo>
                    <a:pt x="202" y="192"/>
                  </a:lnTo>
                  <a:close/>
                </a:path>
              </a:pathLst>
            </a:custGeom>
            <a:solidFill>
              <a:schemeClr val="bg1"/>
            </a:solidFill>
            <a:ln>
              <a:noFill/>
            </a:ln>
          </p:spPr>
          <p:txBody>
            <a:bodyPr vert="horz" wrap="square" lIns="100838" tIns="50419" rIns="100838" bIns="50419" numCol="1" anchor="t" anchorCtr="0" compatLnSpc="1">
              <a:prstTxWarp prst="textNoShape">
                <a:avLst/>
              </a:prstTxWarp>
            </a:bodyPr>
            <a:lstStyle/>
            <a:p>
              <a:endParaRPr lang="en-GB" sz="2264"/>
            </a:p>
          </p:txBody>
        </p:sp>
        <p:sp>
          <p:nvSpPr>
            <p:cNvPr id="142" name="Freeform 297"/>
            <p:cNvSpPr>
              <a:spLocks noEditPoints="1"/>
            </p:cNvSpPr>
            <p:nvPr/>
          </p:nvSpPr>
          <p:spPr bwMode="auto">
            <a:xfrm>
              <a:off x="4338726" y="4737140"/>
              <a:ext cx="315904" cy="255047"/>
            </a:xfrm>
            <a:custGeom>
              <a:avLst/>
              <a:gdLst>
                <a:gd name="T0" fmla="*/ 54 w 280"/>
                <a:gd name="T1" fmla="*/ 117 h 320"/>
                <a:gd name="T2" fmla="*/ 139 w 280"/>
                <a:gd name="T3" fmla="*/ 117 h 320"/>
                <a:gd name="T4" fmla="*/ 150 w 280"/>
                <a:gd name="T5" fmla="*/ 106 h 320"/>
                <a:gd name="T6" fmla="*/ 150 w 280"/>
                <a:gd name="T7" fmla="*/ 53 h 320"/>
                <a:gd name="T8" fmla="*/ 139 w 280"/>
                <a:gd name="T9" fmla="*/ 42 h 320"/>
                <a:gd name="T10" fmla="*/ 54 w 280"/>
                <a:gd name="T11" fmla="*/ 42 h 320"/>
                <a:gd name="T12" fmla="*/ 43 w 280"/>
                <a:gd name="T13" fmla="*/ 53 h 320"/>
                <a:gd name="T14" fmla="*/ 43 w 280"/>
                <a:gd name="T15" fmla="*/ 106 h 320"/>
                <a:gd name="T16" fmla="*/ 54 w 280"/>
                <a:gd name="T17" fmla="*/ 117 h 320"/>
                <a:gd name="T18" fmla="*/ 64 w 280"/>
                <a:gd name="T19" fmla="*/ 64 h 320"/>
                <a:gd name="T20" fmla="*/ 128 w 280"/>
                <a:gd name="T21" fmla="*/ 64 h 320"/>
                <a:gd name="T22" fmla="*/ 128 w 280"/>
                <a:gd name="T23" fmla="*/ 96 h 320"/>
                <a:gd name="T24" fmla="*/ 64 w 280"/>
                <a:gd name="T25" fmla="*/ 96 h 320"/>
                <a:gd name="T26" fmla="*/ 64 w 280"/>
                <a:gd name="T27" fmla="*/ 64 h 320"/>
                <a:gd name="T28" fmla="*/ 256 w 280"/>
                <a:gd name="T29" fmla="*/ 135 h 320"/>
                <a:gd name="T30" fmla="*/ 267 w 280"/>
                <a:gd name="T31" fmla="*/ 117 h 320"/>
                <a:gd name="T32" fmla="*/ 267 w 280"/>
                <a:gd name="T33" fmla="*/ 117 h 320"/>
                <a:gd name="T34" fmla="*/ 267 w 280"/>
                <a:gd name="T35" fmla="*/ 116 h 320"/>
                <a:gd name="T36" fmla="*/ 261 w 280"/>
                <a:gd name="T37" fmla="*/ 102 h 320"/>
                <a:gd name="T38" fmla="*/ 234 w 280"/>
                <a:gd name="T39" fmla="*/ 48 h 320"/>
                <a:gd name="T40" fmla="*/ 220 w 280"/>
                <a:gd name="T41" fmla="*/ 43 h 320"/>
                <a:gd name="T42" fmla="*/ 215 w 280"/>
                <a:gd name="T43" fmla="*/ 58 h 320"/>
                <a:gd name="T44" fmla="*/ 235 w 280"/>
                <a:gd name="T45" fmla="*/ 99 h 320"/>
                <a:gd name="T46" fmla="*/ 224 w 280"/>
                <a:gd name="T47" fmla="*/ 117 h 320"/>
                <a:gd name="T48" fmla="*/ 227 w 280"/>
                <a:gd name="T49" fmla="*/ 126 h 320"/>
                <a:gd name="T50" fmla="*/ 227 w 280"/>
                <a:gd name="T51" fmla="*/ 127 h 320"/>
                <a:gd name="T52" fmla="*/ 228 w 280"/>
                <a:gd name="T53" fmla="*/ 128 h 320"/>
                <a:gd name="T54" fmla="*/ 228 w 280"/>
                <a:gd name="T55" fmla="*/ 129 h 320"/>
                <a:gd name="T56" fmla="*/ 237 w 280"/>
                <a:gd name="T57" fmla="*/ 144 h 320"/>
                <a:gd name="T58" fmla="*/ 246 w 280"/>
                <a:gd name="T59" fmla="*/ 209 h 320"/>
                <a:gd name="T60" fmla="*/ 192 w 280"/>
                <a:gd name="T61" fmla="*/ 252 h 320"/>
                <a:gd name="T62" fmla="*/ 192 w 280"/>
                <a:gd name="T63" fmla="*/ 10 h 320"/>
                <a:gd name="T64" fmla="*/ 182 w 280"/>
                <a:gd name="T65" fmla="*/ 0 h 320"/>
                <a:gd name="T66" fmla="*/ 11 w 280"/>
                <a:gd name="T67" fmla="*/ 0 h 320"/>
                <a:gd name="T68" fmla="*/ 0 w 280"/>
                <a:gd name="T69" fmla="*/ 10 h 320"/>
                <a:gd name="T70" fmla="*/ 0 w 280"/>
                <a:gd name="T71" fmla="*/ 309 h 320"/>
                <a:gd name="T72" fmla="*/ 11 w 280"/>
                <a:gd name="T73" fmla="*/ 320 h 320"/>
                <a:gd name="T74" fmla="*/ 182 w 280"/>
                <a:gd name="T75" fmla="*/ 320 h 320"/>
                <a:gd name="T76" fmla="*/ 192 w 280"/>
                <a:gd name="T77" fmla="*/ 309 h 320"/>
                <a:gd name="T78" fmla="*/ 192 w 280"/>
                <a:gd name="T79" fmla="*/ 274 h 320"/>
                <a:gd name="T80" fmla="*/ 266 w 280"/>
                <a:gd name="T81" fmla="*/ 216 h 320"/>
                <a:gd name="T82" fmla="*/ 256 w 280"/>
                <a:gd name="T83" fmla="*/ 135 h 320"/>
                <a:gd name="T84" fmla="*/ 171 w 280"/>
                <a:gd name="T85" fmla="*/ 298 h 320"/>
                <a:gd name="T86" fmla="*/ 22 w 280"/>
                <a:gd name="T87" fmla="*/ 298 h 320"/>
                <a:gd name="T88" fmla="*/ 22 w 280"/>
                <a:gd name="T89" fmla="*/ 21 h 320"/>
                <a:gd name="T90" fmla="*/ 171 w 280"/>
                <a:gd name="T91" fmla="*/ 21 h 320"/>
                <a:gd name="T92" fmla="*/ 171 w 280"/>
                <a:gd name="T93"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0" h="320">
                  <a:moveTo>
                    <a:pt x="54" y="117"/>
                  </a:moveTo>
                  <a:cubicBezTo>
                    <a:pt x="139" y="117"/>
                    <a:pt x="139" y="117"/>
                    <a:pt x="139" y="117"/>
                  </a:cubicBezTo>
                  <a:cubicBezTo>
                    <a:pt x="145" y="117"/>
                    <a:pt x="150" y="112"/>
                    <a:pt x="150" y="106"/>
                  </a:cubicBezTo>
                  <a:cubicBezTo>
                    <a:pt x="150" y="53"/>
                    <a:pt x="150" y="53"/>
                    <a:pt x="150" y="53"/>
                  </a:cubicBezTo>
                  <a:cubicBezTo>
                    <a:pt x="150" y="47"/>
                    <a:pt x="145" y="42"/>
                    <a:pt x="139" y="42"/>
                  </a:cubicBezTo>
                  <a:cubicBezTo>
                    <a:pt x="54" y="42"/>
                    <a:pt x="54" y="42"/>
                    <a:pt x="54" y="42"/>
                  </a:cubicBezTo>
                  <a:cubicBezTo>
                    <a:pt x="48" y="42"/>
                    <a:pt x="43" y="47"/>
                    <a:pt x="43" y="53"/>
                  </a:cubicBezTo>
                  <a:cubicBezTo>
                    <a:pt x="43" y="106"/>
                    <a:pt x="43" y="106"/>
                    <a:pt x="43" y="106"/>
                  </a:cubicBezTo>
                  <a:cubicBezTo>
                    <a:pt x="43" y="112"/>
                    <a:pt x="48" y="117"/>
                    <a:pt x="54" y="117"/>
                  </a:cubicBezTo>
                  <a:close/>
                  <a:moveTo>
                    <a:pt x="64" y="64"/>
                  </a:moveTo>
                  <a:cubicBezTo>
                    <a:pt x="128" y="64"/>
                    <a:pt x="128" y="64"/>
                    <a:pt x="128" y="64"/>
                  </a:cubicBezTo>
                  <a:cubicBezTo>
                    <a:pt x="128" y="96"/>
                    <a:pt x="128" y="96"/>
                    <a:pt x="128" y="96"/>
                  </a:cubicBezTo>
                  <a:cubicBezTo>
                    <a:pt x="64" y="96"/>
                    <a:pt x="64" y="96"/>
                    <a:pt x="64" y="96"/>
                  </a:cubicBezTo>
                  <a:lnTo>
                    <a:pt x="64" y="64"/>
                  </a:lnTo>
                  <a:close/>
                  <a:moveTo>
                    <a:pt x="256" y="135"/>
                  </a:moveTo>
                  <a:cubicBezTo>
                    <a:pt x="263" y="132"/>
                    <a:pt x="267" y="125"/>
                    <a:pt x="267" y="117"/>
                  </a:cubicBezTo>
                  <a:cubicBezTo>
                    <a:pt x="267" y="117"/>
                    <a:pt x="267" y="117"/>
                    <a:pt x="267" y="117"/>
                  </a:cubicBezTo>
                  <a:cubicBezTo>
                    <a:pt x="267" y="116"/>
                    <a:pt x="267" y="116"/>
                    <a:pt x="267" y="116"/>
                  </a:cubicBezTo>
                  <a:cubicBezTo>
                    <a:pt x="267" y="111"/>
                    <a:pt x="264" y="106"/>
                    <a:pt x="261" y="102"/>
                  </a:cubicBezTo>
                  <a:cubicBezTo>
                    <a:pt x="234" y="48"/>
                    <a:pt x="234" y="48"/>
                    <a:pt x="234" y="48"/>
                  </a:cubicBezTo>
                  <a:cubicBezTo>
                    <a:pt x="231" y="43"/>
                    <a:pt x="225" y="41"/>
                    <a:pt x="220" y="43"/>
                  </a:cubicBezTo>
                  <a:cubicBezTo>
                    <a:pt x="214" y="46"/>
                    <a:pt x="212" y="52"/>
                    <a:pt x="215" y="58"/>
                  </a:cubicBezTo>
                  <a:cubicBezTo>
                    <a:pt x="235" y="99"/>
                    <a:pt x="235" y="99"/>
                    <a:pt x="235" y="99"/>
                  </a:cubicBezTo>
                  <a:cubicBezTo>
                    <a:pt x="229" y="102"/>
                    <a:pt x="224" y="109"/>
                    <a:pt x="224" y="117"/>
                  </a:cubicBezTo>
                  <a:cubicBezTo>
                    <a:pt x="224" y="120"/>
                    <a:pt x="225" y="123"/>
                    <a:pt x="227" y="126"/>
                  </a:cubicBezTo>
                  <a:cubicBezTo>
                    <a:pt x="227" y="126"/>
                    <a:pt x="227" y="126"/>
                    <a:pt x="227" y="127"/>
                  </a:cubicBezTo>
                  <a:cubicBezTo>
                    <a:pt x="228" y="128"/>
                    <a:pt x="228" y="128"/>
                    <a:pt x="228" y="128"/>
                  </a:cubicBezTo>
                  <a:cubicBezTo>
                    <a:pt x="228" y="129"/>
                    <a:pt x="228" y="129"/>
                    <a:pt x="228" y="129"/>
                  </a:cubicBezTo>
                  <a:cubicBezTo>
                    <a:pt x="237" y="144"/>
                    <a:pt x="237" y="144"/>
                    <a:pt x="237" y="144"/>
                  </a:cubicBezTo>
                  <a:cubicBezTo>
                    <a:pt x="237" y="144"/>
                    <a:pt x="258" y="178"/>
                    <a:pt x="246" y="209"/>
                  </a:cubicBezTo>
                  <a:cubicBezTo>
                    <a:pt x="239" y="228"/>
                    <a:pt x="221" y="242"/>
                    <a:pt x="192" y="252"/>
                  </a:cubicBezTo>
                  <a:cubicBezTo>
                    <a:pt x="192" y="10"/>
                    <a:pt x="192" y="10"/>
                    <a:pt x="192" y="10"/>
                  </a:cubicBezTo>
                  <a:cubicBezTo>
                    <a:pt x="192" y="4"/>
                    <a:pt x="188" y="0"/>
                    <a:pt x="182" y="0"/>
                  </a:cubicBezTo>
                  <a:cubicBezTo>
                    <a:pt x="11" y="0"/>
                    <a:pt x="11" y="0"/>
                    <a:pt x="11" y="0"/>
                  </a:cubicBezTo>
                  <a:cubicBezTo>
                    <a:pt x="5" y="0"/>
                    <a:pt x="0" y="4"/>
                    <a:pt x="0" y="10"/>
                  </a:cubicBezTo>
                  <a:cubicBezTo>
                    <a:pt x="0" y="309"/>
                    <a:pt x="0" y="309"/>
                    <a:pt x="0" y="309"/>
                  </a:cubicBezTo>
                  <a:cubicBezTo>
                    <a:pt x="0" y="315"/>
                    <a:pt x="5" y="320"/>
                    <a:pt x="11" y="320"/>
                  </a:cubicBezTo>
                  <a:cubicBezTo>
                    <a:pt x="182" y="320"/>
                    <a:pt x="182" y="320"/>
                    <a:pt x="182" y="320"/>
                  </a:cubicBezTo>
                  <a:cubicBezTo>
                    <a:pt x="188" y="320"/>
                    <a:pt x="192" y="315"/>
                    <a:pt x="192" y="309"/>
                  </a:cubicBezTo>
                  <a:cubicBezTo>
                    <a:pt x="192" y="274"/>
                    <a:pt x="192" y="274"/>
                    <a:pt x="192" y="274"/>
                  </a:cubicBezTo>
                  <a:cubicBezTo>
                    <a:pt x="231" y="262"/>
                    <a:pt x="256" y="243"/>
                    <a:pt x="266" y="216"/>
                  </a:cubicBezTo>
                  <a:cubicBezTo>
                    <a:pt x="280" y="181"/>
                    <a:pt x="262" y="145"/>
                    <a:pt x="256" y="135"/>
                  </a:cubicBezTo>
                  <a:close/>
                  <a:moveTo>
                    <a:pt x="171" y="298"/>
                  </a:moveTo>
                  <a:cubicBezTo>
                    <a:pt x="22" y="298"/>
                    <a:pt x="22" y="298"/>
                    <a:pt x="22" y="298"/>
                  </a:cubicBezTo>
                  <a:cubicBezTo>
                    <a:pt x="22" y="21"/>
                    <a:pt x="22" y="21"/>
                    <a:pt x="22" y="21"/>
                  </a:cubicBezTo>
                  <a:cubicBezTo>
                    <a:pt x="171" y="21"/>
                    <a:pt x="171" y="21"/>
                    <a:pt x="171" y="21"/>
                  </a:cubicBezTo>
                  <a:lnTo>
                    <a:pt x="171" y="298"/>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44" name="Freeform 814"/>
            <p:cNvSpPr>
              <a:spLocks noEditPoints="1"/>
            </p:cNvSpPr>
            <p:nvPr/>
          </p:nvSpPr>
          <p:spPr bwMode="auto">
            <a:xfrm>
              <a:off x="2792425" y="4256097"/>
              <a:ext cx="215172" cy="229229"/>
            </a:xfrm>
            <a:custGeom>
              <a:avLst/>
              <a:gdLst>
                <a:gd name="T0" fmla="*/ 152 w 299"/>
                <a:gd name="T1" fmla="*/ 320 h 320"/>
                <a:gd name="T2" fmla="*/ 147 w 299"/>
                <a:gd name="T3" fmla="*/ 320 h 320"/>
                <a:gd name="T4" fmla="*/ 34 w 299"/>
                <a:gd name="T5" fmla="*/ 235 h 320"/>
                <a:gd name="T6" fmla="*/ 50 w 299"/>
                <a:gd name="T7" fmla="*/ 97 h 320"/>
                <a:gd name="T8" fmla="*/ 61 w 299"/>
                <a:gd name="T9" fmla="*/ 92 h 320"/>
                <a:gd name="T10" fmla="*/ 69 w 299"/>
                <a:gd name="T11" fmla="*/ 101 h 320"/>
                <a:gd name="T12" fmla="*/ 96 w 299"/>
                <a:gd name="T13" fmla="*/ 157 h 320"/>
                <a:gd name="T14" fmla="*/ 177 w 299"/>
                <a:gd name="T15" fmla="*/ 1 h 320"/>
                <a:gd name="T16" fmla="*/ 187 w 299"/>
                <a:gd name="T17" fmla="*/ 3 h 320"/>
                <a:gd name="T18" fmla="*/ 191 w 299"/>
                <a:gd name="T19" fmla="*/ 13 h 320"/>
                <a:gd name="T20" fmla="*/ 211 w 299"/>
                <a:gd name="T21" fmla="*/ 137 h 320"/>
                <a:gd name="T22" fmla="*/ 245 w 299"/>
                <a:gd name="T23" fmla="*/ 70 h 320"/>
                <a:gd name="T24" fmla="*/ 256 w 299"/>
                <a:gd name="T25" fmla="*/ 68 h 320"/>
                <a:gd name="T26" fmla="*/ 263 w 299"/>
                <a:gd name="T27" fmla="*/ 77 h 320"/>
                <a:gd name="T28" fmla="*/ 280 w 299"/>
                <a:gd name="T29" fmla="*/ 137 h 320"/>
                <a:gd name="T30" fmla="*/ 252 w 299"/>
                <a:gd name="T31" fmla="*/ 278 h 320"/>
                <a:gd name="T32" fmla="*/ 152 w 299"/>
                <a:gd name="T33" fmla="*/ 320 h 320"/>
                <a:gd name="T34" fmla="*/ 55 w 299"/>
                <a:gd name="T35" fmla="*/ 130 h 320"/>
                <a:gd name="T36" fmla="*/ 53 w 299"/>
                <a:gd name="T37" fmla="*/ 225 h 320"/>
                <a:gd name="T38" fmla="*/ 148 w 299"/>
                <a:gd name="T39" fmla="*/ 298 h 320"/>
                <a:gd name="T40" fmla="*/ 237 w 299"/>
                <a:gd name="T41" fmla="*/ 262 h 320"/>
                <a:gd name="T42" fmla="*/ 262 w 299"/>
                <a:gd name="T43" fmla="*/ 148 h 320"/>
                <a:gd name="T44" fmla="*/ 246 w 299"/>
                <a:gd name="T45" fmla="*/ 105 h 320"/>
                <a:gd name="T46" fmla="*/ 227 w 299"/>
                <a:gd name="T47" fmla="*/ 164 h 320"/>
                <a:gd name="T48" fmla="*/ 219 w 299"/>
                <a:gd name="T49" fmla="*/ 172 h 320"/>
                <a:gd name="T50" fmla="*/ 209 w 299"/>
                <a:gd name="T51" fmla="*/ 169 h 320"/>
                <a:gd name="T52" fmla="*/ 168 w 299"/>
                <a:gd name="T53" fmla="*/ 28 h 320"/>
                <a:gd name="T54" fmla="*/ 120 w 299"/>
                <a:gd name="T55" fmla="*/ 177 h 320"/>
                <a:gd name="T56" fmla="*/ 116 w 299"/>
                <a:gd name="T57" fmla="*/ 187 h 320"/>
                <a:gd name="T58" fmla="*/ 105 w 299"/>
                <a:gd name="T59" fmla="*/ 189 h 320"/>
                <a:gd name="T60" fmla="*/ 55 w 299"/>
                <a:gd name="T61" fmla="*/ 13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9" h="320">
                  <a:moveTo>
                    <a:pt x="152" y="320"/>
                  </a:moveTo>
                  <a:cubicBezTo>
                    <a:pt x="150" y="320"/>
                    <a:pt x="148" y="320"/>
                    <a:pt x="147" y="320"/>
                  </a:cubicBezTo>
                  <a:cubicBezTo>
                    <a:pt x="111" y="318"/>
                    <a:pt x="62" y="291"/>
                    <a:pt x="34" y="235"/>
                  </a:cubicBezTo>
                  <a:cubicBezTo>
                    <a:pt x="0" y="169"/>
                    <a:pt x="38" y="115"/>
                    <a:pt x="50" y="97"/>
                  </a:cubicBezTo>
                  <a:cubicBezTo>
                    <a:pt x="52" y="93"/>
                    <a:pt x="57" y="91"/>
                    <a:pt x="61" y="92"/>
                  </a:cubicBezTo>
                  <a:cubicBezTo>
                    <a:pt x="65" y="93"/>
                    <a:pt x="69" y="97"/>
                    <a:pt x="69" y="101"/>
                  </a:cubicBezTo>
                  <a:cubicBezTo>
                    <a:pt x="69" y="102"/>
                    <a:pt x="75" y="136"/>
                    <a:pt x="96" y="157"/>
                  </a:cubicBezTo>
                  <a:cubicBezTo>
                    <a:pt x="93" y="115"/>
                    <a:pt x="97" y="30"/>
                    <a:pt x="177" y="1"/>
                  </a:cubicBezTo>
                  <a:cubicBezTo>
                    <a:pt x="180" y="0"/>
                    <a:pt x="184" y="0"/>
                    <a:pt x="187" y="3"/>
                  </a:cubicBezTo>
                  <a:cubicBezTo>
                    <a:pt x="190" y="5"/>
                    <a:pt x="191" y="9"/>
                    <a:pt x="191" y="13"/>
                  </a:cubicBezTo>
                  <a:cubicBezTo>
                    <a:pt x="191" y="13"/>
                    <a:pt x="180" y="84"/>
                    <a:pt x="211" y="137"/>
                  </a:cubicBezTo>
                  <a:cubicBezTo>
                    <a:pt x="217" y="116"/>
                    <a:pt x="228" y="87"/>
                    <a:pt x="245" y="70"/>
                  </a:cubicBezTo>
                  <a:cubicBezTo>
                    <a:pt x="248" y="67"/>
                    <a:pt x="252" y="66"/>
                    <a:pt x="256" y="68"/>
                  </a:cubicBezTo>
                  <a:cubicBezTo>
                    <a:pt x="260" y="69"/>
                    <a:pt x="263" y="73"/>
                    <a:pt x="263" y="77"/>
                  </a:cubicBezTo>
                  <a:cubicBezTo>
                    <a:pt x="263" y="77"/>
                    <a:pt x="266" y="111"/>
                    <a:pt x="280" y="137"/>
                  </a:cubicBezTo>
                  <a:cubicBezTo>
                    <a:pt x="299" y="170"/>
                    <a:pt x="289" y="243"/>
                    <a:pt x="252" y="278"/>
                  </a:cubicBezTo>
                  <a:cubicBezTo>
                    <a:pt x="214" y="313"/>
                    <a:pt x="175" y="320"/>
                    <a:pt x="152" y="320"/>
                  </a:cubicBezTo>
                  <a:close/>
                  <a:moveTo>
                    <a:pt x="55" y="130"/>
                  </a:moveTo>
                  <a:cubicBezTo>
                    <a:pt x="42" y="155"/>
                    <a:pt x="34" y="188"/>
                    <a:pt x="53" y="225"/>
                  </a:cubicBezTo>
                  <a:cubicBezTo>
                    <a:pt x="81" y="281"/>
                    <a:pt x="125" y="297"/>
                    <a:pt x="148" y="298"/>
                  </a:cubicBezTo>
                  <a:cubicBezTo>
                    <a:pt x="166" y="299"/>
                    <a:pt x="202" y="295"/>
                    <a:pt x="237" y="262"/>
                  </a:cubicBezTo>
                  <a:cubicBezTo>
                    <a:pt x="266" y="235"/>
                    <a:pt x="276" y="173"/>
                    <a:pt x="262" y="148"/>
                  </a:cubicBezTo>
                  <a:cubicBezTo>
                    <a:pt x="254" y="134"/>
                    <a:pt x="249" y="118"/>
                    <a:pt x="246" y="105"/>
                  </a:cubicBezTo>
                  <a:cubicBezTo>
                    <a:pt x="235" y="126"/>
                    <a:pt x="229" y="152"/>
                    <a:pt x="227" y="164"/>
                  </a:cubicBezTo>
                  <a:cubicBezTo>
                    <a:pt x="226" y="168"/>
                    <a:pt x="223" y="171"/>
                    <a:pt x="219" y="172"/>
                  </a:cubicBezTo>
                  <a:cubicBezTo>
                    <a:pt x="216" y="173"/>
                    <a:pt x="211" y="172"/>
                    <a:pt x="209" y="169"/>
                  </a:cubicBezTo>
                  <a:cubicBezTo>
                    <a:pt x="169" y="124"/>
                    <a:pt x="166" y="60"/>
                    <a:pt x="168" y="28"/>
                  </a:cubicBezTo>
                  <a:cubicBezTo>
                    <a:pt x="98" y="69"/>
                    <a:pt x="119" y="176"/>
                    <a:pt x="120" y="177"/>
                  </a:cubicBezTo>
                  <a:cubicBezTo>
                    <a:pt x="120" y="181"/>
                    <a:pt x="119" y="185"/>
                    <a:pt x="116" y="187"/>
                  </a:cubicBezTo>
                  <a:cubicBezTo>
                    <a:pt x="113" y="190"/>
                    <a:pt x="109" y="190"/>
                    <a:pt x="105" y="189"/>
                  </a:cubicBezTo>
                  <a:cubicBezTo>
                    <a:pt x="77" y="177"/>
                    <a:pt x="62" y="150"/>
                    <a:pt x="55" y="130"/>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sp>
          <p:nvSpPr>
            <p:cNvPr id="151" name="Freeform 814"/>
            <p:cNvSpPr>
              <a:spLocks noEditPoints="1"/>
            </p:cNvSpPr>
            <p:nvPr/>
          </p:nvSpPr>
          <p:spPr bwMode="auto">
            <a:xfrm>
              <a:off x="4308403" y="4296202"/>
              <a:ext cx="215172" cy="229229"/>
            </a:xfrm>
            <a:custGeom>
              <a:avLst/>
              <a:gdLst>
                <a:gd name="T0" fmla="*/ 152 w 299"/>
                <a:gd name="T1" fmla="*/ 320 h 320"/>
                <a:gd name="T2" fmla="*/ 147 w 299"/>
                <a:gd name="T3" fmla="*/ 320 h 320"/>
                <a:gd name="T4" fmla="*/ 34 w 299"/>
                <a:gd name="T5" fmla="*/ 235 h 320"/>
                <a:gd name="T6" fmla="*/ 50 w 299"/>
                <a:gd name="T7" fmla="*/ 97 h 320"/>
                <a:gd name="T8" fmla="*/ 61 w 299"/>
                <a:gd name="T9" fmla="*/ 92 h 320"/>
                <a:gd name="T10" fmla="*/ 69 w 299"/>
                <a:gd name="T11" fmla="*/ 101 h 320"/>
                <a:gd name="T12" fmla="*/ 96 w 299"/>
                <a:gd name="T13" fmla="*/ 157 h 320"/>
                <a:gd name="T14" fmla="*/ 177 w 299"/>
                <a:gd name="T15" fmla="*/ 1 h 320"/>
                <a:gd name="T16" fmla="*/ 187 w 299"/>
                <a:gd name="T17" fmla="*/ 3 h 320"/>
                <a:gd name="T18" fmla="*/ 191 w 299"/>
                <a:gd name="T19" fmla="*/ 13 h 320"/>
                <a:gd name="T20" fmla="*/ 211 w 299"/>
                <a:gd name="T21" fmla="*/ 137 h 320"/>
                <a:gd name="T22" fmla="*/ 245 w 299"/>
                <a:gd name="T23" fmla="*/ 70 h 320"/>
                <a:gd name="T24" fmla="*/ 256 w 299"/>
                <a:gd name="T25" fmla="*/ 68 h 320"/>
                <a:gd name="T26" fmla="*/ 263 w 299"/>
                <a:gd name="T27" fmla="*/ 77 h 320"/>
                <a:gd name="T28" fmla="*/ 280 w 299"/>
                <a:gd name="T29" fmla="*/ 137 h 320"/>
                <a:gd name="T30" fmla="*/ 252 w 299"/>
                <a:gd name="T31" fmla="*/ 278 h 320"/>
                <a:gd name="T32" fmla="*/ 152 w 299"/>
                <a:gd name="T33" fmla="*/ 320 h 320"/>
                <a:gd name="T34" fmla="*/ 55 w 299"/>
                <a:gd name="T35" fmla="*/ 130 h 320"/>
                <a:gd name="T36" fmla="*/ 53 w 299"/>
                <a:gd name="T37" fmla="*/ 225 h 320"/>
                <a:gd name="T38" fmla="*/ 148 w 299"/>
                <a:gd name="T39" fmla="*/ 298 h 320"/>
                <a:gd name="T40" fmla="*/ 237 w 299"/>
                <a:gd name="T41" fmla="*/ 262 h 320"/>
                <a:gd name="T42" fmla="*/ 262 w 299"/>
                <a:gd name="T43" fmla="*/ 148 h 320"/>
                <a:gd name="T44" fmla="*/ 246 w 299"/>
                <a:gd name="T45" fmla="*/ 105 h 320"/>
                <a:gd name="T46" fmla="*/ 227 w 299"/>
                <a:gd name="T47" fmla="*/ 164 h 320"/>
                <a:gd name="T48" fmla="*/ 219 w 299"/>
                <a:gd name="T49" fmla="*/ 172 h 320"/>
                <a:gd name="T50" fmla="*/ 209 w 299"/>
                <a:gd name="T51" fmla="*/ 169 h 320"/>
                <a:gd name="T52" fmla="*/ 168 w 299"/>
                <a:gd name="T53" fmla="*/ 28 h 320"/>
                <a:gd name="T54" fmla="*/ 120 w 299"/>
                <a:gd name="T55" fmla="*/ 177 h 320"/>
                <a:gd name="T56" fmla="*/ 116 w 299"/>
                <a:gd name="T57" fmla="*/ 187 h 320"/>
                <a:gd name="T58" fmla="*/ 105 w 299"/>
                <a:gd name="T59" fmla="*/ 189 h 320"/>
                <a:gd name="T60" fmla="*/ 55 w 299"/>
                <a:gd name="T61" fmla="*/ 13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9" h="320">
                  <a:moveTo>
                    <a:pt x="152" y="320"/>
                  </a:moveTo>
                  <a:cubicBezTo>
                    <a:pt x="150" y="320"/>
                    <a:pt x="148" y="320"/>
                    <a:pt x="147" y="320"/>
                  </a:cubicBezTo>
                  <a:cubicBezTo>
                    <a:pt x="111" y="318"/>
                    <a:pt x="62" y="291"/>
                    <a:pt x="34" y="235"/>
                  </a:cubicBezTo>
                  <a:cubicBezTo>
                    <a:pt x="0" y="169"/>
                    <a:pt x="38" y="115"/>
                    <a:pt x="50" y="97"/>
                  </a:cubicBezTo>
                  <a:cubicBezTo>
                    <a:pt x="52" y="93"/>
                    <a:pt x="57" y="91"/>
                    <a:pt x="61" y="92"/>
                  </a:cubicBezTo>
                  <a:cubicBezTo>
                    <a:pt x="65" y="93"/>
                    <a:pt x="69" y="97"/>
                    <a:pt x="69" y="101"/>
                  </a:cubicBezTo>
                  <a:cubicBezTo>
                    <a:pt x="69" y="102"/>
                    <a:pt x="75" y="136"/>
                    <a:pt x="96" y="157"/>
                  </a:cubicBezTo>
                  <a:cubicBezTo>
                    <a:pt x="93" y="115"/>
                    <a:pt x="97" y="30"/>
                    <a:pt x="177" y="1"/>
                  </a:cubicBezTo>
                  <a:cubicBezTo>
                    <a:pt x="180" y="0"/>
                    <a:pt x="184" y="0"/>
                    <a:pt x="187" y="3"/>
                  </a:cubicBezTo>
                  <a:cubicBezTo>
                    <a:pt x="190" y="5"/>
                    <a:pt x="191" y="9"/>
                    <a:pt x="191" y="13"/>
                  </a:cubicBezTo>
                  <a:cubicBezTo>
                    <a:pt x="191" y="13"/>
                    <a:pt x="180" y="84"/>
                    <a:pt x="211" y="137"/>
                  </a:cubicBezTo>
                  <a:cubicBezTo>
                    <a:pt x="217" y="116"/>
                    <a:pt x="228" y="87"/>
                    <a:pt x="245" y="70"/>
                  </a:cubicBezTo>
                  <a:cubicBezTo>
                    <a:pt x="248" y="67"/>
                    <a:pt x="252" y="66"/>
                    <a:pt x="256" y="68"/>
                  </a:cubicBezTo>
                  <a:cubicBezTo>
                    <a:pt x="260" y="69"/>
                    <a:pt x="263" y="73"/>
                    <a:pt x="263" y="77"/>
                  </a:cubicBezTo>
                  <a:cubicBezTo>
                    <a:pt x="263" y="77"/>
                    <a:pt x="266" y="111"/>
                    <a:pt x="280" y="137"/>
                  </a:cubicBezTo>
                  <a:cubicBezTo>
                    <a:pt x="299" y="170"/>
                    <a:pt x="289" y="243"/>
                    <a:pt x="252" y="278"/>
                  </a:cubicBezTo>
                  <a:cubicBezTo>
                    <a:pt x="214" y="313"/>
                    <a:pt x="175" y="320"/>
                    <a:pt x="152" y="320"/>
                  </a:cubicBezTo>
                  <a:close/>
                  <a:moveTo>
                    <a:pt x="55" y="130"/>
                  </a:moveTo>
                  <a:cubicBezTo>
                    <a:pt x="42" y="155"/>
                    <a:pt x="34" y="188"/>
                    <a:pt x="53" y="225"/>
                  </a:cubicBezTo>
                  <a:cubicBezTo>
                    <a:pt x="81" y="281"/>
                    <a:pt x="125" y="297"/>
                    <a:pt x="148" y="298"/>
                  </a:cubicBezTo>
                  <a:cubicBezTo>
                    <a:pt x="166" y="299"/>
                    <a:pt x="202" y="295"/>
                    <a:pt x="237" y="262"/>
                  </a:cubicBezTo>
                  <a:cubicBezTo>
                    <a:pt x="266" y="235"/>
                    <a:pt x="276" y="173"/>
                    <a:pt x="262" y="148"/>
                  </a:cubicBezTo>
                  <a:cubicBezTo>
                    <a:pt x="254" y="134"/>
                    <a:pt x="249" y="118"/>
                    <a:pt x="246" y="105"/>
                  </a:cubicBezTo>
                  <a:cubicBezTo>
                    <a:pt x="235" y="126"/>
                    <a:pt x="229" y="152"/>
                    <a:pt x="227" y="164"/>
                  </a:cubicBezTo>
                  <a:cubicBezTo>
                    <a:pt x="226" y="168"/>
                    <a:pt x="223" y="171"/>
                    <a:pt x="219" y="172"/>
                  </a:cubicBezTo>
                  <a:cubicBezTo>
                    <a:pt x="216" y="173"/>
                    <a:pt x="211" y="172"/>
                    <a:pt x="209" y="169"/>
                  </a:cubicBezTo>
                  <a:cubicBezTo>
                    <a:pt x="169" y="124"/>
                    <a:pt x="166" y="60"/>
                    <a:pt x="168" y="28"/>
                  </a:cubicBezTo>
                  <a:cubicBezTo>
                    <a:pt x="98" y="69"/>
                    <a:pt x="119" y="176"/>
                    <a:pt x="120" y="177"/>
                  </a:cubicBezTo>
                  <a:cubicBezTo>
                    <a:pt x="120" y="181"/>
                    <a:pt x="119" y="185"/>
                    <a:pt x="116" y="187"/>
                  </a:cubicBezTo>
                  <a:cubicBezTo>
                    <a:pt x="113" y="190"/>
                    <a:pt x="109" y="190"/>
                    <a:pt x="105" y="189"/>
                  </a:cubicBezTo>
                  <a:cubicBezTo>
                    <a:pt x="77" y="177"/>
                    <a:pt x="62" y="150"/>
                    <a:pt x="55" y="130"/>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endParaRPr lang="en-GB" sz="2264"/>
            </a:p>
          </p:txBody>
        </p:sp>
      </p:grpSp>
      <p:sp>
        <p:nvSpPr>
          <p:cNvPr id="152" name="Rounded Rectangle 151"/>
          <p:cNvSpPr/>
          <p:nvPr/>
        </p:nvSpPr>
        <p:spPr bwMode="gray">
          <a:xfrm>
            <a:off x="717326" y="3092990"/>
            <a:ext cx="2832703" cy="316536"/>
          </a:xfrm>
          <a:prstGeom prst="roundRect">
            <a:avLst/>
          </a:prstGeom>
          <a:solidFill>
            <a:schemeClr val="accent3"/>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Primary Resources</a:t>
            </a:r>
            <a:endParaRPr lang="en-IN" sz="1323" b="1" dirty="0">
              <a:solidFill>
                <a:schemeClr val="bg1"/>
              </a:solidFill>
            </a:endParaRPr>
          </a:p>
        </p:txBody>
      </p:sp>
      <p:sp>
        <p:nvSpPr>
          <p:cNvPr id="153" name="Rounded Rectangle 152"/>
          <p:cNvSpPr/>
          <p:nvPr/>
        </p:nvSpPr>
        <p:spPr bwMode="gray">
          <a:xfrm>
            <a:off x="7200679" y="3118354"/>
            <a:ext cx="2832703" cy="316536"/>
          </a:xfrm>
          <a:prstGeom prst="roundRect">
            <a:avLst/>
          </a:prstGeom>
          <a:solidFill>
            <a:schemeClr val="accent3"/>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Secondary Resources</a:t>
            </a:r>
            <a:endParaRPr lang="en-IN" sz="1323" b="1" dirty="0">
              <a:solidFill>
                <a:schemeClr val="bg1"/>
              </a:solidFill>
            </a:endParaRPr>
          </a:p>
        </p:txBody>
      </p:sp>
      <p:cxnSp>
        <p:nvCxnSpPr>
          <p:cNvPr id="157" name="Elbow Connector 156"/>
          <p:cNvCxnSpPr>
            <a:stCxn id="186" idx="2"/>
            <a:endCxn id="152" idx="0"/>
          </p:cNvCxnSpPr>
          <p:nvPr/>
        </p:nvCxnSpPr>
        <p:spPr>
          <a:xfrm rot="5400000">
            <a:off x="3601944" y="1350615"/>
            <a:ext cx="274109" cy="3210642"/>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Elbow Connector 157"/>
          <p:cNvCxnSpPr>
            <a:stCxn id="186" idx="2"/>
            <a:endCxn id="153" idx="0"/>
          </p:cNvCxnSpPr>
          <p:nvPr/>
        </p:nvCxnSpPr>
        <p:spPr>
          <a:xfrm rot="16200000" flipH="1">
            <a:off x="6830938" y="1332262"/>
            <a:ext cx="299473" cy="3272711"/>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Elbow Connector 176"/>
          <p:cNvCxnSpPr>
            <a:stCxn id="186" idx="2"/>
          </p:cNvCxnSpPr>
          <p:nvPr/>
        </p:nvCxnSpPr>
        <p:spPr>
          <a:xfrm rot="16200000" flipH="1">
            <a:off x="6824341" y="1338859"/>
            <a:ext cx="312667" cy="3272710"/>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86" name="Rounded Rectangle 185"/>
          <p:cNvSpPr/>
          <p:nvPr/>
        </p:nvSpPr>
        <p:spPr bwMode="gray">
          <a:xfrm>
            <a:off x="3773970" y="2525859"/>
            <a:ext cx="3140698" cy="293022"/>
          </a:xfrm>
          <a:prstGeom prst="roundRect">
            <a:avLst/>
          </a:prstGeom>
          <a:solidFill>
            <a:schemeClr val="accent4"/>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Resource Analysis</a:t>
            </a:r>
            <a:endParaRPr lang="en-IN" sz="1323" b="1" dirty="0">
              <a:solidFill>
                <a:schemeClr val="bg1"/>
              </a:solidFill>
            </a:endParaRPr>
          </a:p>
        </p:txBody>
      </p:sp>
      <p:sp>
        <p:nvSpPr>
          <p:cNvPr id="60" name="Title 2"/>
          <p:cNvSpPr txBox="1">
            <a:spLocks/>
          </p:cNvSpPr>
          <p:nvPr/>
        </p:nvSpPr>
        <p:spPr>
          <a:xfrm>
            <a:off x="439794" y="350132"/>
            <a:ext cx="9809052" cy="368438"/>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Step 3: Resource Analysis</a:t>
            </a:r>
          </a:p>
        </p:txBody>
      </p:sp>
    </p:spTree>
    <p:extLst>
      <p:ext uri="{BB962C8B-B14F-4D97-AF65-F5344CB8AC3E}">
        <p14:creationId xmlns:p14="http://schemas.microsoft.com/office/powerpoint/2010/main" val="2742817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entagon 4"/>
          <p:cNvSpPr/>
          <p:nvPr/>
        </p:nvSpPr>
        <p:spPr bwMode="gray">
          <a:xfrm>
            <a:off x="8906992" y="380178"/>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accent6">
                    <a:lumMod val="60000"/>
                    <a:lumOff val="40000"/>
                  </a:schemeClr>
                </a:solidFill>
              </a:rPr>
              <a:t>Transformation</a:t>
            </a:r>
          </a:p>
        </p:txBody>
      </p:sp>
      <p:sp>
        <p:nvSpPr>
          <p:cNvPr id="6" name="Pentagon 5"/>
          <p:cNvSpPr/>
          <p:nvPr/>
        </p:nvSpPr>
        <p:spPr bwMode="gray">
          <a:xfrm>
            <a:off x="8906992" y="629393"/>
            <a:ext cx="1107717" cy="202002"/>
          </a:xfrm>
          <a:prstGeom prst="homePlate">
            <a:avLst/>
          </a:prstGeom>
          <a:solidFill>
            <a:schemeClr val="accent6"/>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solidFill>
              </a:rPr>
              <a:t>Resource</a:t>
            </a:r>
          </a:p>
        </p:txBody>
      </p:sp>
      <p:sp>
        <p:nvSpPr>
          <p:cNvPr id="7" name="Pentagon 6"/>
          <p:cNvSpPr/>
          <p:nvPr/>
        </p:nvSpPr>
        <p:spPr bwMode="gray">
          <a:xfrm>
            <a:off x="8889301" y="113072"/>
            <a:ext cx="1107717" cy="202002"/>
          </a:xfrm>
          <a:prstGeom prst="homePlat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58800" tIns="98037" rIns="98037" bIns="98037" rtlCol="0" anchor="ctr"/>
          <a:lstStyle/>
          <a:p>
            <a:r>
              <a:rPr lang="en-US" sz="662" b="1" dirty="0">
                <a:solidFill>
                  <a:schemeClr val="bg1">
                    <a:lumMod val="65000"/>
                  </a:schemeClr>
                </a:solidFill>
              </a:rPr>
              <a:t>Demand</a:t>
            </a:r>
          </a:p>
        </p:txBody>
      </p:sp>
      <p:pic>
        <p:nvPicPr>
          <p:cNvPr id="8" name="Picture 7"/>
          <p:cNvPicPr>
            <a:picLocks noChangeAspect="1"/>
          </p:cNvPicPr>
          <p:nvPr/>
        </p:nvPicPr>
        <p:blipFill>
          <a:blip r:embed="rId2"/>
          <a:stretch>
            <a:fillRect/>
          </a:stretch>
        </p:blipFill>
        <p:spPr>
          <a:xfrm>
            <a:off x="562131" y="2337842"/>
            <a:ext cx="2144359" cy="4145761"/>
          </a:xfrm>
          <a:prstGeom prst="rect">
            <a:avLst/>
          </a:prstGeom>
        </p:spPr>
      </p:pic>
      <p:sp>
        <p:nvSpPr>
          <p:cNvPr id="9" name="TextBox 8"/>
          <p:cNvSpPr txBox="1"/>
          <p:nvPr/>
        </p:nvSpPr>
        <p:spPr>
          <a:xfrm>
            <a:off x="589736" y="2055806"/>
            <a:ext cx="9381576" cy="249902"/>
          </a:xfrm>
          <a:prstGeom prst="rect">
            <a:avLst/>
          </a:prstGeom>
          <a:solidFill>
            <a:schemeClr val="tx1"/>
          </a:solidFill>
        </p:spPr>
        <p:txBody>
          <a:bodyPr wrap="square" lIns="39700" tIns="39700" rIns="39700" bIns="39700" rtlCol="0" anchor="ctr">
            <a:spAutoFit/>
          </a:bodyPr>
          <a:lstStyle/>
          <a:p>
            <a:pPr algn="ctr">
              <a:spcBef>
                <a:spcPts val="662"/>
              </a:spcBef>
              <a:buSzPct val="100000"/>
            </a:pPr>
            <a:r>
              <a:rPr lang="en-US" sz="1103" b="1" dirty="0">
                <a:solidFill>
                  <a:schemeClr val="bg1"/>
                </a:solidFill>
              </a:rPr>
              <a:t>Illustration in LEAP</a:t>
            </a:r>
            <a:endParaRPr lang="en-IN" sz="1103" b="1" dirty="0">
              <a:solidFill>
                <a:schemeClr val="bg1"/>
              </a:solidFill>
            </a:endParaRPr>
          </a:p>
        </p:txBody>
      </p:sp>
      <p:sp>
        <p:nvSpPr>
          <p:cNvPr id="10" name="TextBox 9"/>
          <p:cNvSpPr txBox="1"/>
          <p:nvPr/>
        </p:nvSpPr>
        <p:spPr>
          <a:xfrm>
            <a:off x="596543" y="6668645"/>
            <a:ext cx="9381576" cy="249902"/>
          </a:xfrm>
          <a:prstGeom prst="rect">
            <a:avLst/>
          </a:prstGeom>
          <a:solidFill>
            <a:schemeClr val="accent5"/>
          </a:solidFill>
        </p:spPr>
        <p:txBody>
          <a:bodyPr wrap="square" lIns="39700" tIns="39700" rIns="39700" bIns="39700" rtlCol="0" anchor="ctr">
            <a:spAutoFit/>
          </a:bodyPr>
          <a:lstStyle/>
          <a:p>
            <a:pPr algn="ctr">
              <a:spcBef>
                <a:spcPts val="662"/>
              </a:spcBef>
              <a:buSzPct val="100000"/>
            </a:pPr>
            <a:endParaRPr lang="en-IN" sz="1103" b="1" dirty="0">
              <a:solidFill>
                <a:schemeClr val="bg1"/>
              </a:solidFill>
            </a:endParaRPr>
          </a:p>
        </p:txBody>
      </p:sp>
      <p:pic>
        <p:nvPicPr>
          <p:cNvPr id="14" name="Picture 13"/>
          <p:cNvPicPr>
            <a:picLocks noChangeAspect="1"/>
          </p:cNvPicPr>
          <p:nvPr/>
        </p:nvPicPr>
        <p:blipFill>
          <a:blip r:embed="rId3"/>
          <a:stretch>
            <a:fillRect/>
          </a:stretch>
        </p:blipFill>
        <p:spPr>
          <a:xfrm>
            <a:off x="2882246" y="2337843"/>
            <a:ext cx="7089067" cy="1860259"/>
          </a:xfrm>
          <a:prstGeom prst="rect">
            <a:avLst/>
          </a:prstGeom>
        </p:spPr>
      </p:pic>
      <p:pic>
        <p:nvPicPr>
          <p:cNvPr id="15" name="Picture 14"/>
          <p:cNvPicPr>
            <a:picLocks noChangeAspect="1"/>
          </p:cNvPicPr>
          <p:nvPr/>
        </p:nvPicPr>
        <p:blipFill>
          <a:blip r:embed="rId4"/>
          <a:stretch>
            <a:fillRect/>
          </a:stretch>
        </p:blipFill>
        <p:spPr>
          <a:xfrm>
            <a:off x="2882245" y="4213450"/>
            <a:ext cx="6106394" cy="2245628"/>
          </a:xfrm>
          <a:prstGeom prst="rect">
            <a:avLst/>
          </a:prstGeom>
        </p:spPr>
      </p:pic>
      <p:sp>
        <p:nvSpPr>
          <p:cNvPr id="12" name="Title 2"/>
          <p:cNvSpPr txBox="1">
            <a:spLocks/>
          </p:cNvSpPr>
          <p:nvPr/>
        </p:nvSpPr>
        <p:spPr>
          <a:xfrm>
            <a:off x="439794" y="350132"/>
            <a:ext cx="8327705" cy="740962"/>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Illustration: </a:t>
            </a:r>
            <a:r>
              <a:rPr lang="en-US" sz="2200" dirty="0"/>
              <a:t>Resource Analysis for West Bengal in LEAP</a:t>
            </a:r>
          </a:p>
        </p:txBody>
      </p:sp>
    </p:spTree>
    <p:extLst>
      <p:ext uri="{BB962C8B-B14F-4D97-AF65-F5344CB8AC3E}">
        <p14:creationId xmlns:p14="http://schemas.microsoft.com/office/powerpoint/2010/main" val="24095259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671699" y="1817480"/>
            <a:ext cx="6396084" cy="3030836"/>
          </a:xfrm>
          <a:prstGeom prst="rect">
            <a:avLst/>
          </a:prstGeom>
        </p:spPr>
      </p:pic>
      <p:pic>
        <p:nvPicPr>
          <p:cNvPr id="5" name="Picture 4"/>
          <p:cNvPicPr>
            <a:picLocks noChangeAspect="1"/>
          </p:cNvPicPr>
          <p:nvPr/>
        </p:nvPicPr>
        <p:blipFill>
          <a:blip r:embed="rId3"/>
          <a:stretch>
            <a:fillRect/>
          </a:stretch>
        </p:blipFill>
        <p:spPr>
          <a:xfrm>
            <a:off x="3671698" y="4971634"/>
            <a:ext cx="6396085" cy="2104718"/>
          </a:xfrm>
          <a:prstGeom prst="rect">
            <a:avLst/>
          </a:prstGeom>
        </p:spPr>
      </p:pic>
      <p:sp>
        <p:nvSpPr>
          <p:cNvPr id="6" name="TextBox 5"/>
          <p:cNvSpPr txBox="1"/>
          <p:nvPr/>
        </p:nvSpPr>
        <p:spPr>
          <a:xfrm>
            <a:off x="717324" y="962098"/>
            <a:ext cx="9368976" cy="539183"/>
          </a:xfrm>
          <a:prstGeom prst="roundRect">
            <a:avLst/>
          </a:prstGeom>
          <a:solidFill>
            <a:schemeClr val="bg1">
              <a:lumMod val="95000"/>
            </a:schemeClr>
          </a:solidFill>
        </p:spPr>
        <p:txBody>
          <a:bodyPr wrap="square" lIns="39700" tIns="39700" rIns="39700" bIns="39700" rtlCol="0">
            <a:spAutoFit/>
          </a:bodyPr>
          <a:lstStyle/>
          <a:p>
            <a:r>
              <a:rPr lang="en-US" sz="1323" dirty="0">
                <a:solidFill>
                  <a:srgbClr val="313131"/>
                </a:solidFill>
              </a:rPr>
              <a:t>Based on the LEAP framework defined earlier, LEAP calculates the Energy Balance Sheet of the State using the following matrix:</a:t>
            </a:r>
            <a:endParaRPr lang="en-US" sz="1323" dirty="0"/>
          </a:p>
        </p:txBody>
      </p:sp>
      <p:graphicFrame>
        <p:nvGraphicFramePr>
          <p:cNvPr id="7" name="Table 6"/>
          <p:cNvGraphicFramePr>
            <a:graphicFrameLocks noGrp="1"/>
          </p:cNvGraphicFramePr>
          <p:nvPr>
            <p:extLst>
              <p:ext uri="{D42A27DB-BD31-4B8C-83A1-F6EECF244321}">
                <p14:modId xmlns:p14="http://schemas.microsoft.com/office/powerpoint/2010/main" val="1902702676"/>
              </p:ext>
            </p:extLst>
          </p:nvPr>
        </p:nvGraphicFramePr>
        <p:xfrm>
          <a:off x="692447" y="3157219"/>
          <a:ext cx="2795159" cy="1949534"/>
        </p:xfrm>
        <a:graphic>
          <a:graphicData uri="http://schemas.openxmlformats.org/drawingml/2006/table">
            <a:tbl>
              <a:tblPr bandRow="1">
                <a:tableStyleId>{073A0DAA-6AF3-43AB-8588-CEC1D06C72B9}</a:tableStyleId>
              </a:tblPr>
              <a:tblGrid>
                <a:gridCol w="1786779">
                  <a:extLst>
                    <a:ext uri="{9D8B030D-6E8A-4147-A177-3AD203B41FA5}">
                      <a16:colId xmlns:a16="http://schemas.microsoft.com/office/drawing/2014/main" val="337913118"/>
                    </a:ext>
                  </a:extLst>
                </a:gridCol>
                <a:gridCol w="1008380">
                  <a:extLst>
                    <a:ext uri="{9D8B030D-6E8A-4147-A177-3AD203B41FA5}">
                      <a16:colId xmlns:a16="http://schemas.microsoft.com/office/drawing/2014/main" val="1162205375"/>
                    </a:ext>
                  </a:extLst>
                </a:gridCol>
              </a:tblGrid>
              <a:tr h="436965">
                <a:tc>
                  <a:txBody>
                    <a:bodyPr/>
                    <a:lstStyle/>
                    <a:p>
                      <a:r>
                        <a:rPr lang="en-US" sz="1100" dirty="0"/>
                        <a:t>Indigenous Production (+)</a:t>
                      </a:r>
                      <a:endParaRPr lang="en-IN" sz="1100" dirty="0"/>
                    </a:p>
                  </a:txBody>
                  <a:tcPr marL="100838" marR="100838" marT="50419" marB="50419"/>
                </a:tc>
                <a:tc>
                  <a:txBody>
                    <a:bodyPr/>
                    <a:lstStyle/>
                    <a:p>
                      <a:r>
                        <a:rPr lang="en-US" sz="1100" dirty="0"/>
                        <a:t>A</a:t>
                      </a:r>
                      <a:endParaRPr lang="en-IN" sz="1100" dirty="0"/>
                    </a:p>
                  </a:txBody>
                  <a:tcPr marL="100838" marR="100838" marT="50419" marB="50419"/>
                </a:tc>
                <a:extLst>
                  <a:ext uri="{0D108BD9-81ED-4DB2-BD59-A6C34878D82A}">
                    <a16:rowId xmlns:a16="http://schemas.microsoft.com/office/drawing/2014/main" val="1552359451"/>
                  </a:ext>
                </a:extLst>
              </a:tr>
              <a:tr h="268901">
                <a:tc>
                  <a:txBody>
                    <a:bodyPr/>
                    <a:lstStyle/>
                    <a:p>
                      <a:r>
                        <a:rPr lang="en-US" sz="1100" dirty="0"/>
                        <a:t>Imports (+)</a:t>
                      </a:r>
                      <a:endParaRPr lang="en-IN" sz="1100" dirty="0"/>
                    </a:p>
                  </a:txBody>
                  <a:tcPr marL="100838" marR="100838" marT="50419" marB="50419"/>
                </a:tc>
                <a:tc>
                  <a:txBody>
                    <a:bodyPr/>
                    <a:lstStyle/>
                    <a:p>
                      <a:r>
                        <a:rPr lang="en-US" sz="1100" dirty="0"/>
                        <a:t>B</a:t>
                      </a:r>
                      <a:endParaRPr lang="en-IN" sz="1100" dirty="0"/>
                    </a:p>
                  </a:txBody>
                  <a:tcPr marL="100838" marR="100838" marT="50419" marB="50419"/>
                </a:tc>
                <a:extLst>
                  <a:ext uri="{0D108BD9-81ED-4DB2-BD59-A6C34878D82A}">
                    <a16:rowId xmlns:a16="http://schemas.microsoft.com/office/drawing/2014/main" val="857381292"/>
                  </a:ext>
                </a:extLst>
              </a:tr>
              <a:tr h="268901">
                <a:tc>
                  <a:txBody>
                    <a:bodyPr/>
                    <a:lstStyle/>
                    <a:p>
                      <a:r>
                        <a:rPr lang="en-US" sz="1100" dirty="0"/>
                        <a:t>Exports (-)</a:t>
                      </a:r>
                      <a:endParaRPr lang="en-IN" sz="1100" dirty="0"/>
                    </a:p>
                  </a:txBody>
                  <a:tcPr marL="100838" marR="100838" marT="50419" marB="50419"/>
                </a:tc>
                <a:tc>
                  <a:txBody>
                    <a:bodyPr/>
                    <a:lstStyle/>
                    <a:p>
                      <a:r>
                        <a:rPr lang="en-US" sz="1100" dirty="0"/>
                        <a:t>C</a:t>
                      </a:r>
                      <a:endParaRPr lang="en-IN" sz="1100" dirty="0"/>
                    </a:p>
                  </a:txBody>
                  <a:tcPr marL="100838" marR="100838" marT="50419" marB="50419"/>
                </a:tc>
                <a:extLst>
                  <a:ext uri="{0D108BD9-81ED-4DB2-BD59-A6C34878D82A}">
                    <a16:rowId xmlns:a16="http://schemas.microsoft.com/office/drawing/2014/main" val="1706439693"/>
                  </a:ext>
                </a:extLst>
              </a:tr>
              <a:tr h="268901">
                <a:tc>
                  <a:txBody>
                    <a:bodyPr/>
                    <a:lstStyle/>
                    <a:p>
                      <a:r>
                        <a:rPr lang="en-US" sz="1100" dirty="0"/>
                        <a:t>Resources</a:t>
                      </a:r>
                      <a:endParaRPr lang="en-IN" sz="1100" dirty="0"/>
                    </a:p>
                  </a:txBody>
                  <a:tcPr marL="100838" marR="100838" marT="50419" marB="50419"/>
                </a:tc>
                <a:tc>
                  <a:txBody>
                    <a:bodyPr/>
                    <a:lstStyle/>
                    <a:p>
                      <a:r>
                        <a:rPr lang="en-US" sz="1100" dirty="0"/>
                        <a:t>D= A+B+C</a:t>
                      </a:r>
                      <a:endParaRPr lang="en-IN" sz="1100" dirty="0"/>
                    </a:p>
                  </a:txBody>
                  <a:tcPr marL="100838" marR="100838" marT="50419" marB="50419"/>
                </a:tc>
                <a:extLst>
                  <a:ext uri="{0D108BD9-81ED-4DB2-BD59-A6C34878D82A}">
                    <a16:rowId xmlns:a16="http://schemas.microsoft.com/office/drawing/2014/main" val="2642450840"/>
                  </a:ext>
                </a:extLst>
              </a:tr>
              <a:tr h="436965">
                <a:tc>
                  <a:txBody>
                    <a:bodyPr/>
                    <a:lstStyle/>
                    <a:p>
                      <a:r>
                        <a:rPr lang="en-US" sz="1100" dirty="0"/>
                        <a:t>Transformation (outputs – inputs)</a:t>
                      </a:r>
                      <a:endParaRPr lang="en-IN" sz="1100" dirty="0"/>
                    </a:p>
                  </a:txBody>
                  <a:tcPr marL="100838" marR="100838" marT="50419" marB="50419"/>
                </a:tc>
                <a:tc>
                  <a:txBody>
                    <a:bodyPr/>
                    <a:lstStyle/>
                    <a:p>
                      <a:r>
                        <a:rPr lang="en-US" sz="1100" dirty="0"/>
                        <a:t>E</a:t>
                      </a:r>
                      <a:endParaRPr lang="en-IN" sz="1100" dirty="0"/>
                    </a:p>
                  </a:txBody>
                  <a:tcPr marL="100838" marR="100838" marT="50419" marB="50419"/>
                </a:tc>
                <a:extLst>
                  <a:ext uri="{0D108BD9-81ED-4DB2-BD59-A6C34878D82A}">
                    <a16:rowId xmlns:a16="http://schemas.microsoft.com/office/drawing/2014/main" val="270493520"/>
                  </a:ext>
                </a:extLst>
              </a:tr>
              <a:tr h="268901">
                <a:tc>
                  <a:txBody>
                    <a:bodyPr/>
                    <a:lstStyle/>
                    <a:p>
                      <a:r>
                        <a:rPr lang="en-US" sz="1100" dirty="0"/>
                        <a:t>Demand</a:t>
                      </a:r>
                      <a:endParaRPr lang="en-IN" sz="1100" dirty="0"/>
                    </a:p>
                  </a:txBody>
                  <a:tcPr marL="100838" marR="100838" marT="50419" marB="50419"/>
                </a:tc>
                <a:tc>
                  <a:txBody>
                    <a:bodyPr/>
                    <a:lstStyle/>
                    <a:p>
                      <a:r>
                        <a:rPr lang="en-US" sz="1100" dirty="0"/>
                        <a:t>F=D+E</a:t>
                      </a:r>
                      <a:endParaRPr lang="en-IN" sz="1100" dirty="0"/>
                    </a:p>
                  </a:txBody>
                  <a:tcPr marL="100838" marR="100838" marT="50419" marB="50419"/>
                </a:tc>
                <a:extLst>
                  <a:ext uri="{0D108BD9-81ED-4DB2-BD59-A6C34878D82A}">
                    <a16:rowId xmlns:a16="http://schemas.microsoft.com/office/drawing/2014/main" val="2550260087"/>
                  </a:ext>
                </a:extLst>
              </a:tr>
            </a:tbl>
          </a:graphicData>
        </a:graphic>
      </p:graphicFrame>
      <p:sp>
        <p:nvSpPr>
          <p:cNvPr id="8" name="TextBox 7"/>
          <p:cNvSpPr txBox="1"/>
          <p:nvPr/>
        </p:nvSpPr>
        <p:spPr>
          <a:xfrm>
            <a:off x="3671698" y="1561761"/>
            <a:ext cx="6391700" cy="249902"/>
          </a:xfrm>
          <a:prstGeom prst="rect">
            <a:avLst/>
          </a:prstGeom>
          <a:solidFill>
            <a:schemeClr val="tx1"/>
          </a:solidFill>
        </p:spPr>
        <p:txBody>
          <a:bodyPr wrap="square" lIns="39700" tIns="39700" rIns="39700" bIns="39700" rtlCol="0" anchor="ctr">
            <a:spAutoFit/>
          </a:bodyPr>
          <a:lstStyle/>
          <a:p>
            <a:pPr algn="ctr">
              <a:spcBef>
                <a:spcPts val="662"/>
              </a:spcBef>
              <a:buSzPct val="100000"/>
            </a:pPr>
            <a:r>
              <a:rPr lang="en-US" sz="1103" b="1" dirty="0">
                <a:solidFill>
                  <a:schemeClr val="bg1"/>
                </a:solidFill>
              </a:rPr>
              <a:t>Illustration in LEAP</a:t>
            </a:r>
            <a:endParaRPr lang="en-IN" sz="1103" b="1" dirty="0">
              <a:solidFill>
                <a:schemeClr val="bg1"/>
              </a:solidFill>
            </a:endParaRPr>
          </a:p>
        </p:txBody>
      </p:sp>
      <p:sp>
        <p:nvSpPr>
          <p:cNvPr id="9" name="Rectangle 8"/>
          <p:cNvSpPr/>
          <p:nvPr/>
        </p:nvSpPr>
        <p:spPr bwMode="gray">
          <a:xfrm>
            <a:off x="710966" y="5292466"/>
            <a:ext cx="2085871" cy="601489"/>
          </a:xfrm>
          <a:prstGeom prst="rect">
            <a:avLst/>
          </a:prstGeom>
          <a:solidFill>
            <a:schemeClr val="accent6"/>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Energy Balance Sheet</a:t>
            </a:r>
            <a:endParaRPr lang="en-IN" sz="1323" b="1" dirty="0">
              <a:solidFill>
                <a:schemeClr val="bg1"/>
              </a:solidFill>
            </a:endParaRPr>
          </a:p>
        </p:txBody>
      </p:sp>
      <p:sp>
        <p:nvSpPr>
          <p:cNvPr id="10" name="Rectangle 9"/>
          <p:cNvSpPr/>
          <p:nvPr/>
        </p:nvSpPr>
        <p:spPr bwMode="gray">
          <a:xfrm>
            <a:off x="710965" y="6053675"/>
            <a:ext cx="2085871" cy="892889"/>
          </a:xfrm>
          <a:prstGeom prst="rect">
            <a:avLst/>
          </a:prstGeom>
          <a:solidFill>
            <a:schemeClr val="accent6"/>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323" b="1" dirty="0">
                <a:solidFill>
                  <a:schemeClr val="bg1"/>
                </a:solidFill>
              </a:rPr>
              <a:t>Energy Flow Diagram (Sankey Diagram)</a:t>
            </a:r>
            <a:endParaRPr lang="en-IN" sz="1323" b="1" dirty="0">
              <a:solidFill>
                <a:schemeClr val="bg1"/>
              </a:solidFill>
            </a:endParaRPr>
          </a:p>
        </p:txBody>
      </p:sp>
      <p:sp>
        <p:nvSpPr>
          <p:cNvPr id="11" name="Isosceles Triangle 10"/>
          <p:cNvSpPr/>
          <p:nvPr/>
        </p:nvSpPr>
        <p:spPr bwMode="gray">
          <a:xfrm rot="5400000">
            <a:off x="2801847" y="5415420"/>
            <a:ext cx="553132" cy="403940"/>
          </a:xfrm>
          <a:prstGeom prst="triangle">
            <a:avLst/>
          </a:prstGeom>
          <a:solidFill>
            <a:schemeClr val="accent3"/>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sp>
        <p:nvSpPr>
          <p:cNvPr id="12" name="Isosceles Triangle 11"/>
          <p:cNvSpPr/>
          <p:nvPr/>
        </p:nvSpPr>
        <p:spPr bwMode="gray">
          <a:xfrm rot="5400000">
            <a:off x="2830742" y="6355396"/>
            <a:ext cx="539570" cy="359713"/>
          </a:xfrm>
          <a:prstGeom prst="triangle">
            <a:avLst/>
          </a:prstGeom>
          <a:solidFill>
            <a:schemeClr val="accent3"/>
          </a:solidFill>
          <a:ln w="19050" algn="ctr">
            <a:noFill/>
            <a:miter lim="800000"/>
            <a:headEnd/>
            <a:tailEnd/>
          </a:ln>
        </p:spPr>
        <p:txBody>
          <a:bodyPr rot="0" spcFirstLastPara="0" vertOverflow="overflow" horzOverflow="overflow" vert="horz" wrap="square" lIns="98037" tIns="98037" rIns="98037" bIns="98037"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IN" sz="1764" b="1" dirty="0">
              <a:solidFill>
                <a:schemeClr val="bg1"/>
              </a:solidFill>
            </a:endParaRPr>
          </a:p>
        </p:txBody>
      </p:sp>
      <p:pic>
        <p:nvPicPr>
          <p:cNvPr id="3" name="Picture 2"/>
          <p:cNvPicPr>
            <a:picLocks noChangeAspect="1"/>
          </p:cNvPicPr>
          <p:nvPr/>
        </p:nvPicPr>
        <p:blipFill>
          <a:blip r:embed="rId4"/>
          <a:stretch>
            <a:fillRect/>
          </a:stretch>
        </p:blipFill>
        <p:spPr>
          <a:xfrm>
            <a:off x="688062" y="1583619"/>
            <a:ext cx="2563060" cy="1762622"/>
          </a:xfrm>
          <a:prstGeom prst="rect">
            <a:avLst/>
          </a:prstGeom>
        </p:spPr>
      </p:pic>
      <p:sp>
        <p:nvSpPr>
          <p:cNvPr id="103" name="Title 2"/>
          <p:cNvSpPr txBox="1">
            <a:spLocks/>
          </p:cNvSpPr>
          <p:nvPr/>
        </p:nvSpPr>
        <p:spPr>
          <a:xfrm>
            <a:off x="439793" y="350132"/>
            <a:ext cx="10035702" cy="740962"/>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Energy Balance Sheet &amp; Energy Flow Diagram for West Bengal </a:t>
            </a:r>
          </a:p>
        </p:txBody>
      </p:sp>
    </p:spTree>
    <p:extLst>
      <p:ext uri="{BB962C8B-B14F-4D97-AF65-F5344CB8AC3E}">
        <p14:creationId xmlns:p14="http://schemas.microsoft.com/office/powerpoint/2010/main" val="19001216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17326" y="2441341"/>
            <a:ext cx="9448302" cy="4654082"/>
          </a:xfrm>
          <a:prstGeom prst="rect">
            <a:avLst/>
          </a:prstGeom>
        </p:spPr>
      </p:pic>
      <p:sp>
        <p:nvSpPr>
          <p:cNvPr id="5" name="TextBox 4"/>
          <p:cNvSpPr txBox="1"/>
          <p:nvPr/>
        </p:nvSpPr>
        <p:spPr>
          <a:xfrm>
            <a:off x="717326" y="962098"/>
            <a:ext cx="9368974" cy="989661"/>
          </a:xfrm>
          <a:prstGeom prst="roundRect">
            <a:avLst/>
          </a:prstGeom>
          <a:solidFill>
            <a:schemeClr val="bg1">
              <a:lumMod val="95000"/>
            </a:schemeClr>
          </a:solidFill>
        </p:spPr>
        <p:txBody>
          <a:bodyPr wrap="square" lIns="39700" tIns="39700" rIns="39700" bIns="39700" rtlCol="0">
            <a:spAutoFit/>
          </a:bodyPr>
          <a:lstStyle/>
          <a:p>
            <a:pPr marL="315125" indent="-315125">
              <a:buFont typeface="Arial" panose="020B0604020202020204" pitchFamily="34" charset="0"/>
              <a:buChar char="•"/>
            </a:pPr>
            <a:r>
              <a:rPr lang="en-US" sz="1323" dirty="0">
                <a:solidFill>
                  <a:srgbClr val="313131"/>
                </a:solidFill>
              </a:rPr>
              <a:t>The Overview window of LEAP comes with an embedded decision support tool in the form of a dashboard</a:t>
            </a:r>
          </a:p>
          <a:p>
            <a:pPr marL="315125" indent="-315125">
              <a:buFont typeface="Arial" panose="020B0604020202020204" pitchFamily="34" charset="0"/>
              <a:buChar char="•"/>
            </a:pPr>
            <a:r>
              <a:rPr lang="en-US" sz="1323" dirty="0">
                <a:solidFill>
                  <a:srgbClr val="313131"/>
                </a:solidFill>
              </a:rPr>
              <a:t>The user can customize (add/delete) the graphs/charts/tables added to the dashboard and view the results for different scenarios by moving the scroll bar for various policy levers </a:t>
            </a:r>
            <a:endParaRPr lang="en-US" sz="1323" dirty="0"/>
          </a:p>
        </p:txBody>
      </p:sp>
      <p:sp>
        <p:nvSpPr>
          <p:cNvPr id="6" name="Title 2"/>
          <p:cNvSpPr txBox="1">
            <a:spLocks/>
          </p:cNvSpPr>
          <p:nvPr/>
        </p:nvSpPr>
        <p:spPr>
          <a:xfrm>
            <a:off x="439793" y="350132"/>
            <a:ext cx="10035702" cy="740962"/>
          </a:xfrm>
          <a:prstGeom prst="rect">
            <a:avLst/>
          </a:prstGeom>
        </p:spPr>
        <p:txBody>
          <a:bodyPr/>
          <a:lstStyle>
            <a:lvl1pPr algn="l" defTabSz="1008400" rtl="0" eaLnBrk="1" latinLnBrk="0" hangingPunct="1">
              <a:spcBef>
                <a:spcPct val="0"/>
              </a:spcBef>
              <a:buNone/>
              <a:defRPr sz="2206" kern="1200">
                <a:solidFill>
                  <a:schemeClr val="tx1"/>
                </a:solidFill>
                <a:latin typeface="+mj-lt"/>
                <a:ea typeface="+mj-ea"/>
                <a:cs typeface="+mj-cs"/>
              </a:defRPr>
            </a:lvl1pPr>
          </a:lstStyle>
          <a:p>
            <a:r>
              <a:rPr lang="en-US" sz="2200" b="1" dirty="0"/>
              <a:t>Decision Support Tool </a:t>
            </a:r>
          </a:p>
        </p:txBody>
      </p:sp>
    </p:spTree>
    <p:extLst>
      <p:ext uri="{BB962C8B-B14F-4D97-AF65-F5344CB8AC3E}">
        <p14:creationId xmlns:p14="http://schemas.microsoft.com/office/powerpoint/2010/main" val="6497903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685314" y="3289301"/>
            <a:ext cx="7054141" cy="3908414"/>
          </a:xfrm>
        </p:spPr>
        <p:txBody>
          <a:bodyPr>
            <a:noAutofit/>
          </a:bodyPr>
          <a:lstStyle/>
          <a:p>
            <a:pPr algn="just"/>
            <a:r>
              <a:rPr lang="en-IN" sz="772"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r>
              <a:rPr lang="en-IN" sz="772" dirty="0"/>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r>
              <a:rPr lang="en-IN" sz="772"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r>
              <a:rPr lang="en-IN" sz="772" dirty="0"/>
              <a:t>©2017 Deloitte Touche Tohmatsu India LLP. Member of Deloitte Touche Tohmatsu Limited</a:t>
            </a:r>
          </a:p>
          <a:p>
            <a:r>
              <a:rPr lang="en-IN" sz="772" dirty="0"/>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4207116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91197A-C497-49D3-B3D8-D05A7B854326}">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6fb8bfa5-8fea-4f93-ae50-985cd647ba13"/>
    <ds:schemaRef ds:uri="http://www.w3.org/XML/1998/namespace"/>
    <ds:schemaRef ds:uri="http://purl.org/dc/dcmitype/"/>
  </ds:schemaRefs>
</ds:datastoreItem>
</file>

<file path=customXml/itemProps2.xml><?xml version="1.0" encoding="utf-8"?>
<ds:datastoreItem xmlns:ds="http://schemas.openxmlformats.org/officeDocument/2006/customXml" ds:itemID="{0AEE8B15-7425-4271-AD29-81707E857AE4}"/>
</file>

<file path=customXml/itemProps3.xml><?xml version="1.0" encoding="utf-8"?>
<ds:datastoreItem xmlns:ds="http://schemas.openxmlformats.org/officeDocument/2006/customXml" ds:itemID="{D18C49ED-E6FD-4C45-874D-C4F9DC585C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Deloitte Brand Theme</Template>
  <TotalTime>28139</TotalTime>
  <Words>6460</Words>
  <Application>Microsoft Office PowerPoint</Application>
  <PresentationFormat>Custom</PresentationFormat>
  <Paragraphs>825</Paragraphs>
  <Slides>42</Slides>
  <Notes>16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42</vt:i4>
      </vt:variant>
    </vt:vector>
  </HeadingPairs>
  <TitlesOfParts>
    <vt:vector size="52" baseType="lpstr">
      <vt:lpstr>Arial</vt:lpstr>
      <vt:lpstr>Calibri</vt:lpstr>
      <vt:lpstr>Calibri Light</vt:lpstr>
      <vt:lpstr>Times New Roman</vt:lpstr>
      <vt:lpstr>Verdana</vt:lpstr>
      <vt:lpstr>Wingdings</vt:lpstr>
      <vt:lpstr>Wingdings 2</vt:lpstr>
      <vt:lpstr>Deloitte_US_Letter_Print Theme</vt:lpstr>
      <vt:lpstr>Custom Design</vt:lpstr>
      <vt:lpstr>think-cell Slide</vt:lpstr>
      <vt:lpstr>PowerPoint Presentation</vt:lpstr>
      <vt:lpstr>Our Team Today</vt:lpstr>
      <vt:lpstr>Agenda</vt:lpstr>
      <vt:lpstr>PowerPoint Presentation</vt:lpstr>
      <vt:lpstr>About Deloitte</vt:lpstr>
      <vt:lpstr>About E3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creator>pgoinka@DELOITTE.com</dc:creator>
  <cp:lastModifiedBy>Mukherjee, Shouvik</cp:lastModifiedBy>
  <cp:revision>1671</cp:revision>
  <cp:lastPrinted>2017-10-13T14:41:54Z</cp:lastPrinted>
  <dcterms:created xsi:type="dcterms:W3CDTF">2016-06-13T07:02:02Z</dcterms:created>
  <dcterms:modified xsi:type="dcterms:W3CDTF">2023-08-08T12:12:46Z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_dlc_DocIdItemGuid">
    <vt:lpwstr>73ce62c5-adbc-4afc-a3f1-538a33d267a3</vt:lpwstr>
  </property>
  <property fmtid="{D5CDD505-2E9C-101B-9397-08002B2CF9AE}" pid="4" name="MSIP_Label_ea60d57e-af5b-4752-ac57-3e4f28ca11dc_Enabled">
    <vt:lpwstr>true</vt:lpwstr>
  </property>
  <property fmtid="{D5CDD505-2E9C-101B-9397-08002B2CF9AE}" pid="5" name="MSIP_Label_ea60d57e-af5b-4752-ac57-3e4f28ca11dc_SetDate">
    <vt:lpwstr>2023-08-08T08:16:35Z</vt:lpwstr>
  </property>
  <property fmtid="{D5CDD505-2E9C-101B-9397-08002B2CF9AE}" pid="6" name="MSIP_Label_ea60d57e-af5b-4752-ac57-3e4f28ca11dc_Method">
    <vt:lpwstr>Standard</vt:lpwstr>
  </property>
  <property fmtid="{D5CDD505-2E9C-101B-9397-08002B2CF9AE}" pid="7" name="MSIP_Label_ea60d57e-af5b-4752-ac57-3e4f28ca11dc_Name">
    <vt:lpwstr>ea60d57e-af5b-4752-ac57-3e4f28ca11dc</vt:lpwstr>
  </property>
  <property fmtid="{D5CDD505-2E9C-101B-9397-08002B2CF9AE}" pid="8" name="MSIP_Label_ea60d57e-af5b-4752-ac57-3e4f28ca11dc_SiteId">
    <vt:lpwstr>36da45f1-dd2c-4d1f-af13-5abe46b99921</vt:lpwstr>
  </property>
  <property fmtid="{D5CDD505-2E9C-101B-9397-08002B2CF9AE}" pid="9" name="MSIP_Label_ea60d57e-af5b-4752-ac57-3e4f28ca11dc_ActionId">
    <vt:lpwstr>18abfe15-4fe6-4da7-84c6-6ab0b8c7a0b9</vt:lpwstr>
  </property>
  <property fmtid="{D5CDD505-2E9C-101B-9397-08002B2CF9AE}" pid="10" name="MSIP_Label_ea60d57e-af5b-4752-ac57-3e4f28ca11dc_ContentBits">
    <vt:lpwstr>0</vt:lpwstr>
  </property>
</Properties>
</file>